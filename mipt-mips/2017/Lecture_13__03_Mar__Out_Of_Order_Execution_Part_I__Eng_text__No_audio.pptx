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2"/>
  </p:notesMasterIdLst>
  <p:handoutMasterIdLst>
    <p:handoutMasterId r:id="rId23"/>
  </p:handoutMasterIdLst>
  <p:sldIdLst>
    <p:sldId id="307" r:id="rId5"/>
    <p:sldId id="308" r:id="rId6"/>
    <p:sldId id="309" r:id="rId7"/>
    <p:sldId id="310" r:id="rId8"/>
    <p:sldId id="311" r:id="rId9"/>
    <p:sldId id="312" r:id="rId10"/>
    <p:sldId id="313" r:id="rId11"/>
    <p:sldId id="314" r:id="rId12"/>
    <p:sldId id="315" r:id="rId13"/>
    <p:sldId id="316" r:id="rId14"/>
    <p:sldId id="317" r:id="rId15"/>
    <p:sldId id="318" r:id="rId16"/>
    <p:sldId id="319" r:id="rId17"/>
    <p:sldId id="320" r:id="rId18"/>
    <p:sldId id="321" r:id="rId19"/>
    <p:sldId id="322" r:id="rId20"/>
    <p:sldId id="323" r:id="rId2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880">
          <p15:clr>
            <a:srgbClr val="A4A3A4"/>
          </p15:clr>
        </p15:guide>
        <p15:guide id="2" pos="288">
          <p15:clr>
            <a:srgbClr val="A4A3A4"/>
          </p15:clr>
        </p15:guide>
        <p15:guide id="3" pos="547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wdeaner" initials="" lastIdx="9" clrIdx="0"/>
  <p:cmAuthor id="1" name="Kister, Merlin D" initials="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4008"/>
    <a:srgbClr val="F37021"/>
    <a:srgbClr val="FFC000"/>
    <a:srgbClr val="061922"/>
    <a:srgbClr val="B4BABD"/>
    <a:srgbClr val="D7DF23"/>
    <a:srgbClr val="8DC63F"/>
    <a:srgbClr val="0071C5"/>
    <a:srgbClr val="DDDDDD"/>
    <a:srgbClr val="F1F6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8" autoAdjust="0"/>
    <p:restoredTop sz="99700" autoAdjust="0"/>
  </p:normalViewPr>
  <p:slideViewPr>
    <p:cSldViewPr snapToGrid="0">
      <p:cViewPr varScale="1">
        <p:scale>
          <a:sx n="116" d="100"/>
          <a:sy n="116" d="100"/>
        </p:scale>
        <p:origin x="3006" y="108"/>
      </p:cViewPr>
      <p:guideLst>
        <p:guide orient="horz" pos="880"/>
        <p:guide pos="288"/>
        <p:guide pos="547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5" d="100"/>
        <a:sy n="105" d="100"/>
      </p:scale>
      <p:origin x="0" y="0"/>
    </p:cViewPr>
  </p:sorterViewPr>
  <p:notesViewPr>
    <p:cSldViewPr>
      <p:cViewPr>
        <p:scale>
          <a:sx n="100" d="100"/>
          <a:sy n="100" d="100"/>
        </p:scale>
        <p:origin x="3552" y="22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335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fld id="{914B7C32-9169-49F6-BD7A-5067B8DB0A44}" type="datetimeFigureOut">
              <a:rPr lang="en-US"/>
              <a:pPr>
                <a:defRPr/>
              </a:pPr>
              <a:t>3/3/2018</a:t>
            </a:fld>
            <a:endParaRPr lang="en-US" dirty="0"/>
          </a:p>
        </p:txBody>
      </p:sp>
      <p:sp>
        <p:nvSpPr>
          <p:cNvPr id="8335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335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fld id="{8375B05B-E607-4D82-B97C-98BFBC66126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5467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b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b="0">
                <a:latin typeface="+mn-lt"/>
                <a:cs typeface="+mn-cs"/>
              </a:defRPr>
            </a:lvl1pPr>
          </a:lstStyle>
          <a:p>
            <a:pPr>
              <a:defRPr/>
            </a:pPr>
            <a:fld id="{991E29C4-32EF-49E6-A487-83605AD0B038}" type="datetimeFigureOut">
              <a:rPr lang="en-US"/>
              <a:pPr>
                <a:defRPr/>
              </a:pPr>
              <a:t>3/3/2018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b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b="0">
                <a:latin typeface="+mn-lt"/>
                <a:cs typeface="+mn-cs"/>
              </a:defRPr>
            </a:lvl1pPr>
          </a:lstStyle>
          <a:p>
            <a:pPr>
              <a:defRPr/>
            </a:pPr>
            <a:fld id="{C6B57032-B76D-4852-ACCF-DA5A3151FAE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97906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67969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2574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PTCovers-01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8707"/>
            <a:ext cx="8269500" cy="3822320"/>
          </a:xfrm>
          <a:prstGeom prst="rect">
            <a:avLst/>
          </a:prstGeom>
        </p:spPr>
      </p:pic>
      <p:sp>
        <p:nvSpPr>
          <p:cNvPr id="4813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57201" y="2624998"/>
            <a:ext cx="6020027" cy="584775"/>
          </a:xfrm>
        </p:spPr>
        <p:txBody>
          <a:bodyPr wrap="none" anchor="ctr" anchorCtr="0">
            <a:spAutoFit/>
          </a:bodyPr>
          <a:lstStyle>
            <a:lvl1pPr algn="l">
              <a:lnSpc>
                <a:spcPct val="100000"/>
              </a:lnSpc>
              <a:defRPr sz="38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altLang="ja-JP" smtClean="0"/>
              <a:t>Click to edit Master title style</a:t>
            </a:r>
            <a:endParaRPr lang="en-US" altLang="ja-JP" dirty="0"/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2378240" y="4353385"/>
            <a:ext cx="4466738" cy="933589"/>
          </a:xfrm>
        </p:spPr>
        <p:txBody>
          <a:bodyPr wrap="square">
            <a:spAutoFit/>
          </a:bodyPr>
          <a:lstStyle>
            <a:lvl1pPr marL="0" indent="0" algn="l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defRPr sz="2000" b="0" i="0">
                <a:solidFill>
                  <a:schemeClr val="bg1"/>
                </a:solidFill>
                <a:latin typeface="Neo Sans Intel Medium"/>
                <a:cs typeface="Neo Sans Intel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dirty="0" smtClean="0">
                <a:latin typeface="Verdana" charset="0"/>
              </a:rPr>
              <a:t>Subtitle</a:t>
            </a: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600" dirty="0" smtClean="0">
                <a:latin typeface="Verdana" charset="0"/>
              </a:rPr>
              <a:t>Additional Info</a:t>
            </a:r>
            <a:endParaRPr lang="en-US" dirty="0" smtClean="0">
              <a:latin typeface="Verdana" charset="0"/>
            </a:endParaRPr>
          </a:p>
          <a:p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6596390"/>
            <a:ext cx="3609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800" smtClean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en-US" sz="800" dirty="0">
              <a:solidFill>
                <a:schemeClr val="bg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PTCovers-02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5600"/>
            <a:ext cx="8257308" cy="4102745"/>
          </a:xfrm>
          <a:prstGeom prst="rect">
            <a:avLst/>
          </a:prstGeom>
        </p:spPr>
      </p:pic>
      <p:sp>
        <p:nvSpPr>
          <p:cNvPr id="8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57201" y="2363972"/>
            <a:ext cx="6020027" cy="584775"/>
          </a:xfrm>
        </p:spPr>
        <p:txBody>
          <a:bodyPr wrap="none" anchor="ctr" anchorCtr="0">
            <a:spAutoFit/>
          </a:bodyPr>
          <a:lstStyle>
            <a:lvl1pPr algn="l">
              <a:lnSpc>
                <a:spcPct val="100000"/>
              </a:lnSpc>
              <a:defRPr sz="38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altLang="ja-JP" smtClean="0"/>
              <a:t>Click to edit Master title style</a:t>
            </a:r>
            <a:endParaRPr lang="en-US" altLang="ja-JP" dirty="0"/>
          </a:p>
        </p:txBody>
      </p:sp>
      <p:sp>
        <p:nvSpPr>
          <p:cNvPr id="10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60188" y="3264183"/>
            <a:ext cx="4343400" cy="620683"/>
          </a:xfrm>
        </p:spPr>
        <p:txBody>
          <a:bodyPr wrap="square">
            <a:spAutoFit/>
          </a:bodyPr>
          <a:lstStyle>
            <a:lvl1pPr marL="0" indent="0" algn="l">
              <a:lnSpc>
                <a:spcPts val="3000"/>
              </a:lnSpc>
              <a:spcBef>
                <a:spcPts val="0"/>
              </a:spcBef>
              <a:defRPr sz="20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b="0" i="0" dirty="0" smtClean="0">
                <a:latin typeface="Neo Sans Intel"/>
                <a:cs typeface="Neo Sans Intel"/>
              </a:rPr>
              <a:t>Subtitle</a:t>
            </a:r>
            <a:endParaRPr lang="en-US" dirty="0" smtClean="0">
              <a:latin typeface="Verdana" charset="0"/>
            </a:endParaRP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600" b="0" i="0" dirty="0" smtClean="0">
                <a:latin typeface="Neo Sans Intel"/>
                <a:cs typeface="Neo Sans Intel"/>
              </a:rPr>
              <a:t>Additional Info</a:t>
            </a:r>
            <a:endParaRPr lang="en-US" sz="1600" dirty="0" smtClean="0">
              <a:latin typeface="Verdana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0" y="6596390"/>
            <a:ext cx="3609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800" smtClean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en-US" sz="800" dirty="0">
              <a:solidFill>
                <a:schemeClr val="bg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363880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PTCovers-03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69534"/>
            <a:ext cx="8342654" cy="2904841"/>
          </a:xfrm>
          <a:prstGeom prst="rect">
            <a:avLst/>
          </a:prstGeom>
        </p:spPr>
      </p:pic>
      <p:sp>
        <p:nvSpPr>
          <p:cNvPr id="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57201" y="2782553"/>
            <a:ext cx="6754008" cy="584775"/>
          </a:xfrm>
        </p:spPr>
        <p:txBody>
          <a:bodyPr wrap="square" anchor="ctr" anchorCtr="0">
            <a:spAutoFit/>
          </a:bodyPr>
          <a:lstStyle>
            <a:lvl1pPr algn="l">
              <a:lnSpc>
                <a:spcPct val="100000"/>
              </a:lnSpc>
              <a:defRPr sz="3800" b="0" i="0">
                <a:solidFill>
                  <a:schemeClr val="bg1"/>
                </a:solidFill>
                <a:latin typeface="+mj-lt"/>
                <a:cs typeface="Neo Sans Intel"/>
              </a:defRPr>
            </a:lvl1pPr>
          </a:lstStyle>
          <a:p>
            <a:r>
              <a:rPr lang="en-US" altLang="ja-JP" dirty="0" smtClean="0"/>
              <a:t>Click to edit Master title style</a:t>
            </a:r>
            <a:endParaRPr lang="en-US" altLang="ja-JP" dirty="0"/>
          </a:p>
        </p:txBody>
      </p:sp>
      <p:sp>
        <p:nvSpPr>
          <p:cNvPr id="10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59957" y="3750107"/>
            <a:ext cx="4343400" cy="620683"/>
          </a:xfrm>
        </p:spPr>
        <p:txBody>
          <a:bodyPr wrap="square">
            <a:spAutoFit/>
          </a:bodyPr>
          <a:lstStyle>
            <a:lvl1pPr marL="0" indent="0" algn="l">
              <a:lnSpc>
                <a:spcPts val="3000"/>
              </a:lnSpc>
              <a:spcBef>
                <a:spcPts val="0"/>
              </a:spcBef>
              <a:defRPr sz="200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b="0" i="0" dirty="0" smtClean="0">
                <a:latin typeface="Neo Sans Intel"/>
                <a:cs typeface="Neo Sans Intel"/>
              </a:rPr>
              <a:t>Subtitle</a:t>
            </a:r>
            <a:endParaRPr lang="en-US" dirty="0" smtClean="0">
              <a:latin typeface="Verdana" charset="0"/>
            </a:endParaRP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600" b="0" i="0" dirty="0" smtClean="0">
                <a:latin typeface="Neo Sans Intel"/>
                <a:cs typeface="Neo Sans Intel"/>
              </a:rPr>
              <a:t>Additional Info</a:t>
            </a:r>
            <a:endParaRPr lang="en-US" sz="1600" dirty="0" smtClean="0">
              <a:latin typeface="Verdana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0" y="6596390"/>
            <a:ext cx="3609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800" smtClean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en-US" sz="800" dirty="0">
              <a:solidFill>
                <a:schemeClr val="bg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25852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PTCovers-04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2543"/>
            <a:ext cx="8495059" cy="3724780"/>
          </a:xfrm>
          <a:prstGeom prst="rect">
            <a:avLst/>
          </a:prstGeom>
        </p:spPr>
      </p:pic>
      <p:sp>
        <p:nvSpPr>
          <p:cNvPr id="10" name="Rectangle 3"/>
          <p:cNvSpPr>
            <a:spLocks noGrp="1" noChangeArrowheads="1"/>
          </p:cNvSpPr>
          <p:nvPr>
            <p:ph type="ctrTitle"/>
          </p:nvPr>
        </p:nvSpPr>
        <p:spPr>
          <a:xfrm>
            <a:off x="593531" y="2727579"/>
            <a:ext cx="6020027" cy="584775"/>
          </a:xfrm>
        </p:spPr>
        <p:txBody>
          <a:bodyPr wrap="none" anchor="ctr" anchorCtr="0">
            <a:spAutoFit/>
          </a:bodyPr>
          <a:lstStyle>
            <a:lvl1pPr algn="l">
              <a:lnSpc>
                <a:spcPct val="100000"/>
              </a:lnSpc>
              <a:defRPr sz="38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altLang="ja-JP" smtClean="0"/>
              <a:t>Click to edit Master title style</a:t>
            </a:r>
            <a:endParaRPr lang="en-US" altLang="ja-JP" dirty="0"/>
          </a:p>
        </p:txBody>
      </p:sp>
      <p:sp>
        <p:nvSpPr>
          <p:cNvPr id="11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592333" y="3649814"/>
            <a:ext cx="4343400" cy="620683"/>
          </a:xfrm>
        </p:spPr>
        <p:txBody>
          <a:bodyPr wrap="square">
            <a:spAutoFit/>
          </a:bodyPr>
          <a:lstStyle>
            <a:lvl1pPr marL="0" indent="0" algn="l">
              <a:lnSpc>
                <a:spcPts val="3000"/>
              </a:lnSpc>
              <a:spcBef>
                <a:spcPts val="0"/>
              </a:spcBef>
              <a:defRPr sz="2000" b="0" i="0">
                <a:solidFill>
                  <a:schemeClr val="bg1"/>
                </a:solidFill>
                <a:latin typeface="Neo Sans Intel Medium"/>
                <a:cs typeface="Neo Sans Intel Medium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b="0" i="0" dirty="0" smtClean="0">
                <a:latin typeface="Neo Sans Intel"/>
                <a:cs typeface="Neo Sans Intel"/>
              </a:rPr>
              <a:t>Subtitle</a:t>
            </a:r>
            <a:endParaRPr lang="en-US" dirty="0" smtClean="0">
              <a:latin typeface="Verdana" charset="0"/>
            </a:endParaRP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600" b="0" i="0" dirty="0" smtClean="0">
                <a:latin typeface="Neo Sans Intel"/>
                <a:cs typeface="Neo Sans Intel"/>
              </a:rPr>
              <a:t>Additional Info</a:t>
            </a:r>
            <a:endParaRPr lang="en-US" sz="1600" dirty="0" smtClean="0">
              <a:latin typeface="Verdana" charset="0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6596390"/>
            <a:ext cx="3609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800" smtClean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en-US" sz="800" dirty="0">
              <a:solidFill>
                <a:schemeClr val="bg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859863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514601"/>
            <a:ext cx="6477000" cy="1362075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3800" b="0" i="0" cap="none">
                <a:solidFill>
                  <a:srgbClr val="FFFFFF"/>
                </a:solidFill>
                <a:latin typeface="+mj-lt"/>
                <a:cs typeface="Neo Sans Intel"/>
              </a:defRPr>
            </a:lvl1pPr>
          </a:lstStyle>
          <a:p>
            <a:r>
              <a:rPr lang="en-US" dirty="0" smtClean="0"/>
              <a:t>Click To Edit Section Divider title Style</a:t>
            </a:r>
            <a:endParaRPr lang="en-US" dirty="0"/>
          </a:p>
        </p:txBody>
      </p:sp>
      <p:sp>
        <p:nvSpPr>
          <p:cNvPr id="15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2" y="6553200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8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‹#›</a:t>
            </a:fld>
            <a:endParaRPr lang="en-US" altLang="ja-JP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-option 2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514601"/>
            <a:ext cx="4627756" cy="1362075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3800" b="0" i="0" cap="none">
                <a:solidFill>
                  <a:srgbClr val="FFFFFF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dirty="0" smtClean="0"/>
              <a:t>Click To Edit Section Divider title Style</a:t>
            </a:r>
            <a:endParaRPr lang="en-US" dirty="0"/>
          </a:p>
        </p:txBody>
      </p:sp>
      <p:sp>
        <p:nvSpPr>
          <p:cNvPr id="15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2" y="6553200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8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‹#›</a:t>
            </a:fld>
            <a:endParaRPr lang="en-US" altLang="ja-JP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5353050" y="0"/>
            <a:ext cx="3790950" cy="6858000"/>
          </a:xfrm>
        </p:spPr>
        <p:txBody>
          <a:bodyPr/>
          <a:lstStyle/>
          <a:p>
            <a:r>
              <a:rPr lang="en-US" dirty="0" smtClean="0"/>
              <a:t>Click icon to add picture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Divider-option 3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2" y="6553200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8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‹#›</a:t>
            </a:fld>
            <a:endParaRPr lang="en-US" altLang="ja-JP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-7684"/>
            <a:ext cx="9144000" cy="6858000"/>
          </a:xfrm>
        </p:spPr>
        <p:txBody>
          <a:bodyPr/>
          <a:lstStyle/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62466" y="584201"/>
            <a:ext cx="4627756" cy="1362075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3600" b="0" i="0" cap="none">
                <a:solidFill>
                  <a:srgbClr val="FFFFFF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dirty="0" smtClean="0"/>
              <a:t>Click To Edit Section Divider title Style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5613" y="1379539"/>
            <a:ext cx="4037012" cy="4537075"/>
          </a:xfrm>
        </p:spPr>
        <p:txBody>
          <a:bodyPr/>
          <a:lstStyle>
            <a:lvl1pPr marL="0" indent="0"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025" y="1379539"/>
            <a:ext cx="4038600" cy="4537075"/>
          </a:xfrm>
        </p:spPr>
        <p:txBody>
          <a:bodyPr/>
          <a:lstStyle>
            <a:lvl1pPr marL="0" indent="0"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514601"/>
            <a:ext cx="6477000" cy="1362075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4000" b="0" i="0" cap="none">
                <a:solidFill>
                  <a:srgbClr val="FFFFFF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dirty="0" smtClean="0"/>
              <a:t>Thank You</a:t>
            </a:r>
            <a:endParaRPr lang="en-US" dirty="0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2" y="6553200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8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94009940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Slide with White Logo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Slide with Blu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https://mipt.ru/upload/medialibrary/d39/eng_text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912" y="0"/>
            <a:ext cx="7988965" cy="4337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intel_rgb_3000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9070" y="4190460"/>
            <a:ext cx="2898648" cy="191117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4025" y="75690"/>
            <a:ext cx="82296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5613" y="995929"/>
            <a:ext cx="8228012" cy="4920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smtClean="0"/>
              <a:t>Click to edit Master text styles</a:t>
            </a:r>
          </a:p>
          <a:p>
            <a:pPr lvl="1"/>
            <a:r>
              <a:rPr lang="en-US" altLang="ja-JP" dirty="0" smtClean="0"/>
              <a:t>Second level</a:t>
            </a:r>
          </a:p>
          <a:p>
            <a:pPr lvl="2"/>
            <a:r>
              <a:rPr lang="en-US" altLang="ja-JP" dirty="0" smtClean="0"/>
              <a:t>Third level</a:t>
            </a:r>
          </a:p>
          <a:p>
            <a:pPr lvl="3"/>
            <a:r>
              <a:rPr lang="en-US" altLang="ja-JP" dirty="0" smtClean="0"/>
              <a:t>Fourth level</a:t>
            </a:r>
          </a:p>
          <a:p>
            <a:pPr lvl="4"/>
            <a:r>
              <a:rPr lang="en-US" altLang="ja-JP" dirty="0" smtClean="0"/>
              <a:t>Fifth level</a:t>
            </a:r>
          </a:p>
        </p:txBody>
      </p:sp>
      <p:pic>
        <p:nvPicPr>
          <p:cNvPr id="5" name="Picture 4" descr="Intel_footer_121410.png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0" y="6362701"/>
            <a:ext cx="9144000" cy="495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0" y="6596390"/>
            <a:ext cx="34496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1050" b="1" i="0" smtClean="0">
                <a:solidFill>
                  <a:schemeClr val="bg1"/>
                </a:solidFill>
                <a:latin typeface="+mj-lt"/>
                <a:ea typeface="Verdana" pitchFamily="34" charset="0"/>
                <a:cs typeface="Neo Sans Intel"/>
              </a:rPr>
              <a:pPr/>
              <a:t>‹#›</a:t>
            </a:fld>
            <a:endParaRPr lang="en-US" sz="1050" b="1" i="0" dirty="0">
              <a:solidFill>
                <a:schemeClr val="bg1"/>
              </a:solidFill>
              <a:latin typeface="+mj-lt"/>
              <a:ea typeface="Verdana" pitchFamily="34" charset="0"/>
              <a:cs typeface="Neo Sans Intel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360996" y="6488794"/>
            <a:ext cx="45710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b="1" kern="900" spc="120" dirty="0" smtClean="0">
                <a:solidFill>
                  <a:schemeClr val="bg1"/>
                </a:solidFill>
                <a:latin typeface="+mj-lt"/>
              </a:rPr>
              <a:t>MIPT-MIPS</a:t>
            </a:r>
            <a:r>
              <a:rPr lang="en-US" sz="1000" b="1" kern="900" spc="120" baseline="0" dirty="0" smtClean="0">
                <a:solidFill>
                  <a:schemeClr val="bg1"/>
                </a:solidFill>
                <a:latin typeface="+mj-lt"/>
              </a:rPr>
              <a:t> 2017</a:t>
            </a:r>
            <a:endParaRPr lang="ru-RU" sz="1000" b="1" kern="900" spc="120" dirty="0" smtClean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028" name="Picture 4" descr="https://mipt.ru/upload/medialibrary/056/eng_inversion.jpg"/>
          <p:cNvPicPr>
            <a:picLocks noChangeAspect="1" noChangeArrowheads="1"/>
          </p:cNvPicPr>
          <p:nvPr userDrawn="1"/>
        </p:nvPicPr>
        <p:blipFill>
          <a:blip r:embed="rId17" cstate="print">
            <a:clrChange>
              <a:clrFrom>
                <a:srgbClr val="4C79BC"/>
              </a:clrFrom>
              <a:clrTo>
                <a:srgbClr val="4C79B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1143" y="6331463"/>
            <a:ext cx="1077432" cy="550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956" r:id="rId1"/>
    <p:sldLayoutId id="2147485972" r:id="rId2"/>
    <p:sldLayoutId id="2147485973" r:id="rId3"/>
    <p:sldLayoutId id="2147485974" r:id="rId4"/>
    <p:sldLayoutId id="2147485963" r:id="rId5"/>
    <p:sldLayoutId id="2147485976" r:id="rId6"/>
    <p:sldLayoutId id="2147485977" r:id="rId7"/>
    <p:sldLayoutId id="2147485957" r:id="rId8"/>
    <p:sldLayoutId id="2147485959" r:id="rId9"/>
    <p:sldLayoutId id="2147485961" r:id="rId10"/>
    <p:sldLayoutId id="2147485962" r:id="rId11"/>
    <p:sldLayoutId id="2147485975" r:id="rId12"/>
    <p:sldLayoutId id="2147485964" r:id="rId13"/>
    <p:sldLayoutId id="2147485971" r:id="rId14"/>
  </p:sldLayoutIdLst>
  <p:transition>
    <p:fade/>
  </p:transition>
  <p:timing>
    <p:tnLst>
      <p:par>
        <p:cTn id="1" dur="indefinite" restart="never" nodeType="tmRoot"/>
      </p:par>
    </p:tnLst>
  </p:timing>
  <p:hf hdr="0" ftr="0" dt="0"/>
  <p:txStyles>
    <p:titleStyle>
      <a:lvl1pPr algn="ctr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3000" b="0" i="0">
          <a:solidFill>
            <a:schemeClr val="accent1"/>
          </a:solidFill>
          <a:latin typeface="+mj-lt"/>
          <a:ea typeface="+mj-ea"/>
          <a:cs typeface="Neo Sans Intel"/>
        </a:defRPr>
      </a:lvl1pPr>
      <a:lvl2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2pPr>
      <a:lvl3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3pPr>
      <a:lvl4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4pPr>
      <a:lvl5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5pPr>
      <a:lvl6pPr marL="4572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6pPr>
      <a:lvl7pPr marL="9144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7pPr>
      <a:lvl8pPr marL="1371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8pPr>
      <a:lvl9pPr marL="18288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9pPr>
    </p:titleStyle>
    <p:bodyStyle>
      <a:lvl1pPr marL="0" indent="0" algn="l" rtl="0" eaLnBrk="1" fontAlgn="base" hangingPunct="1">
        <a:spcBef>
          <a:spcPct val="75000"/>
        </a:spcBef>
        <a:spcAft>
          <a:spcPct val="0"/>
        </a:spcAft>
        <a:defRPr sz="2400" b="0" i="0">
          <a:solidFill>
            <a:schemeClr val="tx1"/>
          </a:solidFill>
          <a:latin typeface="+mj-lt"/>
          <a:ea typeface="+mn-ea"/>
          <a:cs typeface="Neo Sans Intel"/>
        </a:defRPr>
      </a:lvl1pPr>
      <a:lvl2pPr marL="185738" indent="-184150" algn="l" rtl="0" eaLnBrk="1" fontAlgn="base" hangingPunct="1">
        <a:spcBef>
          <a:spcPct val="40000"/>
        </a:spcBef>
        <a:spcAft>
          <a:spcPct val="0"/>
        </a:spcAft>
        <a:buClr>
          <a:schemeClr val="tx1"/>
        </a:buClr>
        <a:buFont typeface="Times" pitchFamily="18" charset="0"/>
        <a:buChar char="•"/>
        <a:defRPr sz="2200" b="0" i="0">
          <a:solidFill>
            <a:schemeClr val="tx1"/>
          </a:solidFill>
          <a:latin typeface="+mj-lt"/>
          <a:cs typeface="Neo Sans Intel"/>
        </a:defRPr>
      </a:lvl2pPr>
      <a:lvl3pPr marL="414338" indent="-227013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Neo Sans Intel" pitchFamily="34" charset="0"/>
        <a:buChar char="–"/>
        <a:defRPr sz="2000" b="0" i="0">
          <a:solidFill>
            <a:schemeClr val="tx1"/>
          </a:solidFill>
          <a:latin typeface="+mj-lt"/>
          <a:cs typeface="Neo Sans Intel"/>
        </a:defRPr>
      </a:lvl3pPr>
      <a:lvl4pPr marL="568325" indent="-1524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Neo Sans Intel" pitchFamily="34" charset="0"/>
        <a:buChar char="–"/>
        <a:defRPr sz="1800" b="0" i="0">
          <a:solidFill>
            <a:schemeClr val="tx1"/>
          </a:solidFill>
          <a:latin typeface="+mj-lt"/>
          <a:cs typeface="Neo Sans Intel"/>
        </a:defRPr>
      </a:lvl4pPr>
      <a:lvl5pPr marL="7620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800" b="0" i="0">
          <a:solidFill>
            <a:schemeClr val="tx1"/>
          </a:solidFill>
          <a:latin typeface="+mj-lt"/>
          <a:cs typeface="Neo Sans Intel"/>
        </a:defRPr>
      </a:lvl5pPr>
      <a:lvl6pPr marL="12192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600">
          <a:solidFill>
            <a:schemeClr val="tx1"/>
          </a:solidFill>
          <a:latin typeface="+mn-lt"/>
          <a:cs typeface="+mn-cs"/>
        </a:defRPr>
      </a:lvl6pPr>
      <a:lvl7pPr marL="16764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600">
          <a:solidFill>
            <a:schemeClr val="tx1"/>
          </a:solidFill>
          <a:latin typeface="+mn-lt"/>
          <a:cs typeface="+mn-cs"/>
        </a:defRPr>
      </a:lvl7pPr>
      <a:lvl8pPr marL="21336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600">
          <a:solidFill>
            <a:schemeClr val="tx1"/>
          </a:solidFill>
          <a:latin typeface="+mn-lt"/>
          <a:cs typeface="+mn-cs"/>
        </a:defRPr>
      </a:lvl8pPr>
      <a:lvl9pPr marL="25908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6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593531" y="2727579"/>
            <a:ext cx="4876335" cy="584775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en-US" sz="1000" dirty="0" smtClean="0"/>
              <a:t> </a:t>
            </a:r>
            <a:r>
              <a:rPr lang="en-US" dirty="0" smtClean="0"/>
              <a:t>Out-Of-Order Execution</a:t>
            </a:r>
            <a:endParaRPr lang="en-US" sz="2800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592333" y="3649814"/>
            <a:ext cx="4343400" cy="943848"/>
          </a:xfrm>
        </p:spPr>
        <p:txBody>
          <a:bodyPr/>
          <a:lstStyle/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dirty="0" smtClean="0"/>
              <a:t>Igor Smirnov</a:t>
            </a:r>
            <a:endParaRPr lang="en-US" dirty="0" smtClean="0"/>
          </a:p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dirty="0" smtClean="0"/>
              <a:t>03 March 2018</a:t>
            </a:r>
            <a:endParaRPr lang="en-US" dirty="0" smtClean="0"/>
          </a:p>
          <a:p>
            <a:pPr>
              <a:lnSpc>
                <a:spcPct val="80000"/>
              </a:lnSpc>
              <a:spcAft>
                <a:spcPts val="800"/>
              </a:spcAft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78516233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  <p:extLst mod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Refresher: Superscalar</a:t>
            </a:r>
            <a:endParaRPr lang="ru-RU" dirty="0"/>
          </a:p>
        </p:txBody>
      </p:sp>
      <p:sp>
        <p:nvSpPr>
          <p:cNvPr id="6" name="Content Placeholder 19"/>
          <p:cNvSpPr txBox="1">
            <a:spLocks/>
          </p:cNvSpPr>
          <p:nvPr/>
        </p:nvSpPr>
        <p:spPr bwMode="auto">
          <a:xfrm>
            <a:off x="457200" y="1041400"/>
            <a:ext cx="82296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Pipeline exploits instruction level parallelism (ILP)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Can we do it better? 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Need to double HW structures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Max speedup is 2 instruction per cycle 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(IPC = 2)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real speedup is less due to dependencies and in-order execution</a:t>
            </a:r>
            <a:endParaRPr kumimoji="0" lang="ru-RU" sz="2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7" name="Content Placeholder 14"/>
          <p:cNvGraphicFramePr>
            <a:graphicFrameLocks/>
          </p:cNvGraphicFramePr>
          <p:nvPr>
            <p:extLst/>
          </p:nvPr>
        </p:nvGraphicFramePr>
        <p:xfrm>
          <a:off x="1504315" y="3913485"/>
          <a:ext cx="4878340" cy="387990"/>
        </p:xfrm>
        <a:graphic>
          <a:graphicData uri="http://schemas.openxmlformats.org/drawingml/2006/table">
            <a:tbl>
              <a:tblPr bandRow="1"/>
              <a:tblGrid>
                <a:gridCol w="487834"/>
                <a:gridCol w="487834"/>
                <a:gridCol w="487834"/>
                <a:gridCol w="487834"/>
                <a:gridCol w="487834"/>
                <a:gridCol w="487834"/>
                <a:gridCol w="487834"/>
                <a:gridCol w="487834"/>
                <a:gridCol w="487834"/>
                <a:gridCol w="487834"/>
              </a:tblGrid>
              <a:tr h="38799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latin typeface="+mj-lt"/>
                        </a:rPr>
                        <a:t>F</a:t>
                      </a:r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latin typeface="+mj-lt"/>
                        </a:rPr>
                        <a:t>D</a:t>
                      </a:r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3E2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latin typeface="+mj-lt"/>
                        </a:rPr>
                        <a:t>E</a:t>
                      </a:r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latin typeface="+mj-lt"/>
                        </a:rPr>
                        <a:t>M</a:t>
                      </a:r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A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latin typeface="+mj-lt"/>
                        </a:rPr>
                        <a:t>W</a:t>
                      </a:r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BA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1800" dirty="0">
                        <a:solidFill>
                          <a:schemeClr val="bg2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1504950" y="4299570"/>
          <a:ext cx="4878340" cy="775980"/>
        </p:xfrm>
        <a:graphic>
          <a:graphicData uri="http://schemas.openxmlformats.org/drawingml/2006/table">
            <a:tbl>
              <a:tblPr bandRow="1"/>
              <a:tblGrid>
                <a:gridCol w="487834"/>
                <a:gridCol w="487834"/>
                <a:gridCol w="487834"/>
                <a:gridCol w="487834"/>
                <a:gridCol w="487834"/>
                <a:gridCol w="487834"/>
                <a:gridCol w="487834"/>
                <a:gridCol w="487834"/>
                <a:gridCol w="487834"/>
                <a:gridCol w="487834"/>
              </a:tblGrid>
              <a:tr h="38799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mpd="sng">
                      <a:noFill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latin typeface="+mj-lt"/>
                        </a:rPr>
                        <a:t>F</a:t>
                      </a:r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latin typeface="+mj-lt"/>
                        </a:rPr>
                        <a:t>D</a:t>
                      </a:r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3E2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latin typeface="+mj-lt"/>
                        </a:rPr>
                        <a:t>E</a:t>
                      </a:r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latin typeface="+mj-lt"/>
                        </a:rPr>
                        <a:t>M</a:t>
                      </a:r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A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latin typeface="+mj-lt"/>
                        </a:rPr>
                        <a:t>W</a:t>
                      </a:r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BA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ru-RU" dirty="0"/>
                    </a:p>
                  </a:txBody>
                  <a:tcPr marL="94216" marR="94216" marT="47109" marB="471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7990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latin typeface="+mj-lt"/>
                        </a:rPr>
                        <a:t>F</a:t>
                      </a:r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latin typeface="+mj-lt"/>
                        </a:rPr>
                        <a:t>D</a:t>
                      </a:r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3E2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latin typeface="+mj-lt"/>
                        </a:rPr>
                        <a:t>E</a:t>
                      </a:r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latin typeface="+mj-lt"/>
                        </a:rPr>
                        <a:t>M</a:t>
                      </a:r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A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latin typeface="+mj-lt"/>
                        </a:rPr>
                        <a:t>W</a:t>
                      </a:r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BA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/>
          </p:nvPr>
        </p:nvGraphicFramePr>
        <p:xfrm>
          <a:off x="2971800" y="5078755"/>
          <a:ext cx="1951336" cy="1163970"/>
        </p:xfrm>
        <a:graphic>
          <a:graphicData uri="http://schemas.openxmlformats.org/drawingml/2006/table">
            <a:tbl>
              <a:tblPr bandRow="1"/>
              <a:tblGrid>
                <a:gridCol w="487834"/>
                <a:gridCol w="487834"/>
                <a:gridCol w="487834"/>
                <a:gridCol w="487834"/>
              </a:tblGrid>
              <a:tr h="38799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latin typeface="+mj-lt"/>
                        </a:rPr>
                        <a:t>F</a:t>
                      </a:r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99"/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solidFill>
                            <a:schemeClr val="bg1"/>
                          </a:solidFill>
                          <a:latin typeface="+mj-lt"/>
                        </a:rPr>
                        <a:t>Stall</a:t>
                      </a:r>
                      <a:endParaRPr lang="ru-RU" sz="180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1800" dirty="0" smtClean="0">
                        <a:latin typeface="+mj-lt"/>
                      </a:endParaRPr>
                    </a:p>
                  </a:txBody>
                  <a:tcPr marL="94216" marR="94216" marT="47109" marB="47109" anchor="ctr"/>
                </a:tc>
                <a:tc h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1800" dirty="0" smtClean="0">
                        <a:latin typeface="+mj-lt"/>
                      </a:endParaRPr>
                    </a:p>
                  </a:txBody>
                  <a:tcPr marL="94216" marR="94216" marT="47109" marB="47109" anchor="ctr">
                    <a:lnR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99"/>
                    </a:solidFill>
                  </a:tcPr>
                </a:tc>
              </a:tr>
              <a:tr h="38799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mpd="sng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799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4924425" y="5080025"/>
          <a:ext cx="2927004" cy="775980"/>
        </p:xfrm>
        <a:graphic>
          <a:graphicData uri="http://schemas.openxmlformats.org/drawingml/2006/table">
            <a:tbl>
              <a:tblPr bandRow="1"/>
              <a:tblGrid>
                <a:gridCol w="487834"/>
                <a:gridCol w="487834"/>
                <a:gridCol w="487834"/>
                <a:gridCol w="487834"/>
                <a:gridCol w="487834"/>
                <a:gridCol w="487834"/>
              </a:tblGrid>
              <a:tr h="38799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latin typeface="+mj-lt"/>
                        </a:rPr>
                        <a:t>D</a:t>
                      </a:r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3E2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latin typeface="+mj-lt"/>
                        </a:rPr>
                        <a:t>E</a:t>
                      </a:r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latin typeface="+mj-lt"/>
                        </a:rPr>
                        <a:t>M</a:t>
                      </a:r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A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latin typeface="+mj-lt"/>
                        </a:rPr>
                        <a:t>W</a:t>
                      </a:r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BA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799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latin typeface="+mj-lt"/>
                        </a:rPr>
                        <a:t>F</a:t>
                      </a:r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latin typeface="+mj-lt"/>
                        </a:rPr>
                        <a:t>D</a:t>
                      </a:r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3E2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latin typeface="+mj-lt"/>
                        </a:rPr>
                        <a:t>E</a:t>
                      </a:r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latin typeface="+mj-lt"/>
                        </a:rPr>
                        <a:t>M</a:t>
                      </a:r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A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latin typeface="+mj-lt"/>
                        </a:rPr>
                        <a:t>W</a:t>
                      </a:r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BA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11" name="Straight Arrow Connector 10"/>
          <p:cNvCxnSpPr/>
          <p:nvPr/>
        </p:nvCxnSpPr>
        <p:spPr>
          <a:xfrm>
            <a:off x="4724400" y="4885050"/>
            <a:ext cx="457200" cy="381000"/>
          </a:xfrm>
          <a:prstGeom prst="straightConnector1">
            <a:avLst/>
          </a:prstGeom>
          <a:noFill/>
          <a:ln w="38100" cap="flat" cmpd="sng" algn="ctr">
            <a:solidFill>
              <a:srgbClr val="C0504D"/>
            </a:solidFill>
            <a:prstDash val="solid"/>
            <a:headEnd type="oval" w="sm" len="sm"/>
            <a:tailEnd type="arrow" w="med" len="med"/>
          </a:ln>
          <a:effectLst>
            <a:glow rad="88900">
              <a:sysClr val="window" lastClr="FFFFFF">
                <a:alpha val="86000"/>
              </a:sys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graphicFrame>
        <p:nvGraphicFramePr>
          <p:cNvPr id="12" name="Table 11"/>
          <p:cNvGraphicFramePr>
            <a:graphicFrameLocks noGrp="1"/>
          </p:cNvGraphicFramePr>
          <p:nvPr>
            <p:extLst/>
          </p:nvPr>
        </p:nvGraphicFramePr>
        <p:xfrm>
          <a:off x="4924425" y="5855330"/>
          <a:ext cx="2927004" cy="387990"/>
        </p:xfrm>
        <a:graphic>
          <a:graphicData uri="http://schemas.openxmlformats.org/drawingml/2006/table">
            <a:tbl>
              <a:tblPr bandRow="1"/>
              <a:tblGrid>
                <a:gridCol w="487834"/>
                <a:gridCol w="487834"/>
                <a:gridCol w="487834"/>
                <a:gridCol w="487834"/>
                <a:gridCol w="487834"/>
                <a:gridCol w="487834"/>
              </a:tblGrid>
              <a:tr h="38799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latin typeface="+mj-lt"/>
                        </a:rPr>
                        <a:t>F</a:t>
                      </a:r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latin typeface="+mj-lt"/>
                        </a:rPr>
                        <a:t>D</a:t>
                      </a:r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3E2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latin typeface="+mj-lt"/>
                        </a:rPr>
                        <a:t>E</a:t>
                      </a:r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latin typeface="+mj-lt"/>
                        </a:rPr>
                        <a:t>M</a:t>
                      </a:r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A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latin typeface="+mj-lt"/>
                        </a:rPr>
                        <a:t>W</a:t>
                      </a:r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BAB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/>
          </p:nvPr>
        </p:nvGraphicFramePr>
        <p:xfrm>
          <a:off x="1992630" y="5078755"/>
          <a:ext cx="2439170" cy="387990"/>
        </p:xfrm>
        <a:graphic>
          <a:graphicData uri="http://schemas.openxmlformats.org/drawingml/2006/table">
            <a:tbl>
              <a:tblPr bandRow="1"/>
              <a:tblGrid>
                <a:gridCol w="487834"/>
                <a:gridCol w="1951336"/>
              </a:tblGrid>
              <a:tr h="38799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latin typeface="+mj-lt"/>
                        </a:rPr>
                        <a:t>F</a:t>
                      </a:r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latin typeface="Calibri"/>
                          <a:ea typeface="+mn-ea"/>
                          <a:cs typeface="+mn-cs"/>
                        </a:rPr>
                        <a:t>Stall</a:t>
                      </a:r>
                      <a:endParaRPr lang="ru-RU" sz="1800" kern="1200" dirty="0" smtClean="0">
                        <a:solidFill>
                          <a:schemeClr val="bg1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3581400" y="1590040"/>
            <a:ext cx="54102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prstClr val="black"/>
                </a:solidFill>
                <a:latin typeface="Calibri"/>
                <a:cs typeface="+mn-cs"/>
              </a:rPr>
              <a:t>– Yes, execute instructions in parallel</a:t>
            </a:r>
            <a:endParaRPr lang="ru-RU" dirty="0">
              <a:solidFill>
                <a:prstClr val="black"/>
              </a:solidFill>
              <a:latin typeface="Calibri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2798360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33333E-6 L -0.0533 0.00023 " pathEditMode="relative" rAng="0" ptsTypes="AA">
                                      <p:cBhvr>
                                        <p:cTn id="5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74" y="0"/>
                                    </p:animMotion>
                                  </p:childTnLst>
                                </p:cTn>
                              </p:par>
                              <p:par>
                                <p:cTn id="5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1.48148E-6 L -0.0533 0.00023 " pathEditMode="relative" rAng="0" ptsTypes="AA">
                                      <p:cBhvr>
                                        <p:cTn id="5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74" y="0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3.7037E-6 L -0.0533 0.00023 " pathEditMode="relative" rAng="0" ptsTypes="AA">
                                      <p:cBhvr>
                                        <p:cTn id="60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74" y="0"/>
                                    </p:animMotion>
                                  </p:childTnLst>
                                </p:cTn>
                              </p:par>
                              <p:par>
                                <p:cTn id="61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-2.22222E-6 L -0.0533 0.00023 " pathEditMode="relative" rAng="0" ptsTypes="AA">
                                      <p:cBhvr>
                                        <p:cTn id="6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74" y="0"/>
                                    </p:animMotion>
                                  </p:childTnLst>
                                </p:cTn>
                              </p:par>
                              <p:par>
                                <p:cTn id="63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-4.44444E-6 L -0.0533 0.00024 " pathEditMode="relative" rAng="0" ptsTypes="AA">
                                      <p:cBhvr>
                                        <p:cTn id="6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7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33 0.00024 L -0.10694 0.00024 " pathEditMode="relative" rAng="0" ptsTypes="AA">
                                      <p:cBhvr>
                                        <p:cTn id="73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9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  <p:extLst mod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Superscalar Good Enough?</a:t>
            </a:r>
            <a:endParaRPr lang="ru-RU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 bwMode="auto">
          <a:xfrm>
            <a:off x="457200" y="1143000"/>
            <a:ext cx="82296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Theoretically can execute multiple instructions in parallel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Wider pipeline 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→ more performance</a:t>
            </a:r>
            <a:endParaRPr kumimoji="0" lang="en-US" sz="22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But…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Only independent subsequent instructions can be executed in parallel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Whereas subsequent instructions are often dependent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 the utilization of the second pipe is often low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24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Solution: </a:t>
            </a:r>
            <a:r>
              <a:rPr kumimoji="0" lang="en-US" sz="26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out-of-order execution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Execute instructions based on the “data flow” graph,</a:t>
            </a:r>
            <a:b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(rather than program order)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Still need to keep the visibility of in-order execution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4641323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 mod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Flow </a:t>
            </a:r>
            <a:r>
              <a:rPr lang="en-US" dirty="0" smtClean="0"/>
              <a:t>Execution</a:t>
            </a:r>
            <a:endParaRPr lang="ru-RU" dirty="0"/>
          </a:p>
        </p:txBody>
      </p:sp>
      <p:sp>
        <p:nvSpPr>
          <p:cNvPr id="41" name="Content Placeholder 2"/>
          <p:cNvSpPr txBox="1">
            <a:spLocks/>
          </p:cNvSpPr>
          <p:nvPr/>
        </p:nvSpPr>
        <p:spPr bwMode="auto">
          <a:xfrm>
            <a:off x="1028815" y="1605678"/>
            <a:ext cx="3543185" cy="227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(1) 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r1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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r4 / r7 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(2) 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00CC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r8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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r1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+ r2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(3) 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r5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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r5 + 1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(4) 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r6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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r6 – r3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(5) 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9900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r4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 load [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r5 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+ 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r6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]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(6) r7  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00CC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r8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 * 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9900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r4</a:t>
            </a:r>
            <a:endParaRPr kumimoji="0" lang="en-US" sz="2000" b="0" i="0" u="none" strike="noStrike" kern="120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  <a:sym typeface="Symbol" pitchFamily="18" charset="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Rectangle 37"/>
          <p:cNvSpPr>
            <a:spLocks noChangeArrowheads="1"/>
          </p:cNvSpPr>
          <p:nvPr/>
        </p:nvSpPr>
        <p:spPr bwMode="auto">
          <a:xfrm>
            <a:off x="688137" y="4267200"/>
            <a:ext cx="2875467" cy="52322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med" len="lg"/>
          </a:ln>
        </p:spPr>
        <p:txBody>
          <a:bodyPr wrap="none">
            <a:spAutoFit/>
          </a:bodyPr>
          <a:lstStyle/>
          <a:p>
            <a:pPr fontAlgn="auto">
              <a:spcAft>
                <a:spcPts val="0"/>
              </a:spcAft>
            </a:pPr>
            <a:r>
              <a:rPr lang="en-US" sz="2800" dirty="0">
                <a:solidFill>
                  <a:prstClr val="black"/>
                </a:solidFill>
                <a:latin typeface="Calibri"/>
                <a:cs typeface="+mn-cs"/>
              </a:rPr>
              <a:t>In-order execution</a:t>
            </a:r>
          </a:p>
        </p:txBody>
      </p:sp>
      <p:sp>
        <p:nvSpPr>
          <p:cNvPr id="43" name="Rectangle 46"/>
          <p:cNvSpPr>
            <a:spLocks noChangeArrowheads="1"/>
          </p:cNvSpPr>
          <p:nvPr/>
        </p:nvSpPr>
        <p:spPr bwMode="auto">
          <a:xfrm>
            <a:off x="5238407" y="4267200"/>
            <a:ext cx="3551934" cy="52322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med" len="lg"/>
          </a:ln>
        </p:spPr>
        <p:txBody>
          <a:bodyPr wrap="none">
            <a:spAutoFit/>
          </a:bodyPr>
          <a:lstStyle/>
          <a:p>
            <a:pPr fontAlgn="auto">
              <a:spcAft>
                <a:spcPts val="0"/>
              </a:spcAft>
            </a:pPr>
            <a:r>
              <a:rPr lang="en-US" sz="2800" dirty="0">
                <a:solidFill>
                  <a:prstClr val="black"/>
                </a:solidFill>
                <a:latin typeface="Calibri"/>
                <a:cs typeface="+mn-cs"/>
              </a:rPr>
              <a:t>Out-of-order execution</a:t>
            </a:r>
          </a:p>
        </p:txBody>
      </p:sp>
      <p:sp>
        <p:nvSpPr>
          <p:cNvPr id="44" name="Oval 43"/>
          <p:cNvSpPr/>
          <p:nvPr/>
        </p:nvSpPr>
        <p:spPr>
          <a:xfrm>
            <a:off x="5708497" y="1768485"/>
            <a:ext cx="347741" cy="347741"/>
          </a:xfrm>
          <a:prstGeom prst="ellipse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  <a:endParaRPr kumimoji="0" lang="ru-RU" sz="20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6635906" y="1768485"/>
            <a:ext cx="347741" cy="347741"/>
          </a:xfrm>
          <a:prstGeom prst="ellipse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  <a:endParaRPr kumimoji="0" lang="ru-RU" sz="20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Oval 45"/>
          <p:cNvSpPr/>
          <p:nvPr/>
        </p:nvSpPr>
        <p:spPr>
          <a:xfrm>
            <a:off x="7563315" y="1768485"/>
            <a:ext cx="347741" cy="347741"/>
          </a:xfrm>
          <a:prstGeom prst="ellipse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  <a:endParaRPr kumimoji="0" lang="ru-RU" sz="20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6139949" y="2547986"/>
            <a:ext cx="347741" cy="347741"/>
          </a:xfrm>
          <a:prstGeom prst="ellipse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endParaRPr kumimoji="0" lang="ru-RU" sz="20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Oval 47"/>
          <p:cNvSpPr/>
          <p:nvPr/>
        </p:nvSpPr>
        <p:spPr>
          <a:xfrm>
            <a:off x="7131863" y="2547986"/>
            <a:ext cx="347741" cy="347741"/>
          </a:xfrm>
          <a:prstGeom prst="ellipse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</a:t>
            </a:r>
            <a:endParaRPr kumimoji="0" lang="ru-RU" sz="20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Oval 48"/>
          <p:cNvSpPr/>
          <p:nvPr/>
        </p:nvSpPr>
        <p:spPr>
          <a:xfrm>
            <a:off x="6635906" y="3327488"/>
            <a:ext cx="347741" cy="347741"/>
          </a:xfrm>
          <a:prstGeom prst="ellipse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</a:t>
            </a:r>
            <a:endParaRPr kumimoji="0" lang="ru-RU" sz="20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50" name="Group 49"/>
          <p:cNvGrpSpPr/>
          <p:nvPr/>
        </p:nvGrpSpPr>
        <p:grpSpPr>
          <a:xfrm>
            <a:off x="5676529" y="2125986"/>
            <a:ext cx="543299" cy="463871"/>
            <a:chOff x="5676529" y="2125986"/>
            <a:chExt cx="543299" cy="463871"/>
          </a:xfrm>
        </p:grpSpPr>
        <p:cxnSp>
          <p:nvCxnSpPr>
            <p:cNvPr id="51" name="Straight Arrow Connector 50"/>
            <p:cNvCxnSpPr/>
            <p:nvPr/>
          </p:nvCxnSpPr>
          <p:spPr>
            <a:xfrm>
              <a:off x="5972350" y="2125986"/>
              <a:ext cx="247478" cy="439967"/>
            </a:xfrm>
            <a:prstGeom prst="straightConnector1">
              <a:avLst/>
            </a:prstGeom>
            <a:noFill/>
            <a:ln w="12700" cap="flat" cmpd="sng" algn="ctr">
              <a:solidFill>
                <a:srgbClr val="CC0000"/>
              </a:solidFill>
              <a:prstDash val="solid"/>
              <a:tailEnd type="triangle"/>
            </a:ln>
            <a:effectLst/>
          </p:spPr>
        </p:cxnSp>
        <p:sp>
          <p:nvSpPr>
            <p:cNvPr id="52" name="Rectangle 51"/>
            <p:cNvSpPr/>
            <p:nvPr/>
          </p:nvSpPr>
          <p:spPr>
            <a:xfrm>
              <a:off x="5676529" y="2220525"/>
              <a:ext cx="43794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onsolas" panose="020B0609020204030204" pitchFamily="49" charset="0"/>
                  <a:cs typeface="Consolas" panose="020B0609020204030204" pitchFamily="49" charset="0"/>
                </a:rPr>
                <a:t>r1</a:t>
              </a:r>
              <a:endParaRPr kumimoji="0" lang="ru-RU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+mn-cs"/>
              </a:endParaRP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6654890" y="2108019"/>
            <a:ext cx="554561" cy="481838"/>
            <a:chOff x="6654890" y="2108019"/>
            <a:chExt cx="554561" cy="481838"/>
          </a:xfrm>
        </p:grpSpPr>
        <p:cxnSp>
          <p:nvCxnSpPr>
            <p:cNvPr id="54" name="Straight Arrow Connector 53"/>
            <p:cNvCxnSpPr/>
            <p:nvPr/>
          </p:nvCxnSpPr>
          <p:spPr>
            <a:xfrm>
              <a:off x="6961973" y="2108019"/>
              <a:ext cx="247478" cy="439967"/>
            </a:xfrm>
            <a:prstGeom prst="straightConnector1">
              <a:avLst/>
            </a:prstGeom>
            <a:noFill/>
            <a:ln w="12700" cap="flat" cmpd="sng" algn="ctr">
              <a:solidFill>
                <a:srgbClr val="0000FF"/>
              </a:solidFill>
              <a:prstDash val="solid"/>
              <a:tailEnd type="triangle"/>
            </a:ln>
            <a:effectLst/>
          </p:spPr>
        </p:cxnSp>
        <p:sp>
          <p:nvSpPr>
            <p:cNvPr id="55" name="Rectangle 54"/>
            <p:cNvSpPr/>
            <p:nvPr/>
          </p:nvSpPr>
          <p:spPr>
            <a:xfrm>
              <a:off x="6654890" y="2220525"/>
              <a:ext cx="43794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nsolas" panose="020B0609020204030204" pitchFamily="49" charset="0"/>
                  <a:cs typeface="Consolas" panose="020B0609020204030204" pitchFamily="49" charset="0"/>
                </a:rPr>
                <a:t>r5</a:t>
              </a:r>
              <a:endParaRPr kumimoji="0" lang="ru-RU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+mn-cs"/>
              </a:endParaRPr>
            </a:p>
          </p:txBody>
        </p:sp>
      </p:grpSp>
      <p:grpSp>
        <p:nvGrpSpPr>
          <p:cNvPr id="56" name="Group 55"/>
          <p:cNvGrpSpPr/>
          <p:nvPr/>
        </p:nvGrpSpPr>
        <p:grpSpPr>
          <a:xfrm>
            <a:off x="7402580" y="2151994"/>
            <a:ext cx="606214" cy="437863"/>
            <a:chOff x="7402580" y="2151994"/>
            <a:chExt cx="606214" cy="437863"/>
          </a:xfrm>
        </p:grpSpPr>
        <p:cxnSp>
          <p:nvCxnSpPr>
            <p:cNvPr id="57" name="Straight Arrow Connector 56"/>
            <p:cNvCxnSpPr/>
            <p:nvPr/>
          </p:nvCxnSpPr>
          <p:spPr>
            <a:xfrm flipH="1">
              <a:off x="7402580" y="2151994"/>
              <a:ext cx="264841" cy="387949"/>
            </a:xfrm>
            <a:prstGeom prst="straightConnector1">
              <a:avLst/>
            </a:prstGeom>
            <a:noFill/>
            <a:ln w="12700" cap="flat" cmpd="sng" algn="ctr">
              <a:solidFill>
                <a:srgbClr val="FF9900"/>
              </a:solidFill>
              <a:prstDash val="solid"/>
              <a:tailEnd type="triangle"/>
            </a:ln>
            <a:effectLst/>
          </p:spPr>
        </p:cxnSp>
        <p:sp>
          <p:nvSpPr>
            <p:cNvPr id="58" name="Rectangle 57"/>
            <p:cNvSpPr/>
            <p:nvPr/>
          </p:nvSpPr>
          <p:spPr>
            <a:xfrm>
              <a:off x="7570854" y="2220525"/>
              <a:ext cx="43794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9900"/>
                  </a:solidFill>
                  <a:effectLst/>
                  <a:uLnTx/>
                  <a:uFillTx/>
                  <a:latin typeface="Consolas" panose="020B0609020204030204" pitchFamily="49" charset="0"/>
                  <a:cs typeface="Consolas" panose="020B0609020204030204" pitchFamily="49" charset="0"/>
                </a:rPr>
                <a:t>r6</a:t>
              </a:r>
              <a:endParaRPr kumimoji="0" lang="ru-RU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+mn-cs"/>
              </a:endParaRPr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6933996" y="2912302"/>
            <a:ext cx="570785" cy="501745"/>
            <a:chOff x="6933996" y="2912302"/>
            <a:chExt cx="570785" cy="501745"/>
          </a:xfrm>
        </p:grpSpPr>
        <p:cxnSp>
          <p:nvCxnSpPr>
            <p:cNvPr id="60" name="Straight Arrow Connector 59"/>
            <p:cNvCxnSpPr/>
            <p:nvPr/>
          </p:nvCxnSpPr>
          <p:spPr>
            <a:xfrm flipH="1">
              <a:off x="6933996" y="2912302"/>
              <a:ext cx="274090" cy="430308"/>
            </a:xfrm>
            <a:prstGeom prst="straightConnector1">
              <a:avLst/>
            </a:prstGeom>
            <a:noFill/>
            <a:ln w="12700" cap="flat" cmpd="sng" algn="ctr">
              <a:solidFill>
                <a:srgbClr val="9900CC"/>
              </a:solidFill>
              <a:prstDash val="solid"/>
              <a:tailEnd type="triangle"/>
            </a:ln>
            <a:effectLst/>
          </p:spPr>
        </p:cxnSp>
        <p:sp>
          <p:nvSpPr>
            <p:cNvPr id="61" name="Rectangle 60"/>
            <p:cNvSpPr/>
            <p:nvPr/>
          </p:nvSpPr>
          <p:spPr>
            <a:xfrm>
              <a:off x="7066841" y="3044715"/>
              <a:ext cx="43794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9900CC"/>
                  </a:solidFill>
                  <a:effectLst/>
                  <a:uLnTx/>
                  <a:uFillTx/>
                  <a:latin typeface="Consolas" panose="020B0609020204030204" pitchFamily="49" charset="0"/>
                  <a:cs typeface="Consolas" panose="020B0609020204030204" pitchFamily="49" charset="0"/>
                  <a:sym typeface="Symbol" pitchFamily="18" charset="2"/>
                </a:rPr>
                <a:t>r4</a:t>
              </a:r>
              <a:endParaRPr kumimoji="0" lang="ru-RU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+mn-cs"/>
              </a:endParaRPr>
            </a:p>
          </p:txBody>
        </p:sp>
      </p:grpSp>
      <p:grpSp>
        <p:nvGrpSpPr>
          <p:cNvPr id="62" name="Group 61"/>
          <p:cNvGrpSpPr/>
          <p:nvPr/>
        </p:nvGrpSpPr>
        <p:grpSpPr>
          <a:xfrm>
            <a:off x="6069987" y="2894444"/>
            <a:ext cx="615493" cy="519603"/>
            <a:chOff x="6069987" y="2894444"/>
            <a:chExt cx="615493" cy="519603"/>
          </a:xfrm>
        </p:grpSpPr>
        <p:cxnSp>
          <p:nvCxnSpPr>
            <p:cNvPr id="63" name="Straight Arrow Connector 62"/>
            <p:cNvCxnSpPr/>
            <p:nvPr/>
          </p:nvCxnSpPr>
          <p:spPr>
            <a:xfrm>
              <a:off x="6438002" y="2894444"/>
              <a:ext cx="247478" cy="439967"/>
            </a:xfrm>
            <a:prstGeom prst="straightConnector1">
              <a:avLst/>
            </a:prstGeom>
            <a:noFill/>
            <a:ln w="12700" cap="flat" cmpd="sng" algn="ctr">
              <a:solidFill>
                <a:srgbClr val="0CCE0C"/>
              </a:solidFill>
              <a:prstDash val="solid"/>
              <a:tailEnd type="triangle"/>
            </a:ln>
            <a:effectLst/>
          </p:spPr>
        </p:cxnSp>
        <p:sp>
          <p:nvSpPr>
            <p:cNvPr id="64" name="Rectangle 63"/>
            <p:cNvSpPr/>
            <p:nvPr/>
          </p:nvSpPr>
          <p:spPr>
            <a:xfrm>
              <a:off x="6069987" y="3044715"/>
              <a:ext cx="43794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CC00"/>
                  </a:solidFill>
                  <a:effectLst/>
                  <a:uLnTx/>
                  <a:uFillTx/>
                  <a:latin typeface="Consolas" panose="020B0609020204030204" pitchFamily="49" charset="0"/>
                  <a:cs typeface="Consolas" panose="020B0609020204030204" pitchFamily="49" charset="0"/>
                  <a:sym typeface="Symbol" pitchFamily="18" charset="2"/>
                </a:rPr>
                <a:t>r8</a:t>
              </a:r>
              <a:endParaRPr kumimoji="0" lang="ru-RU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+mn-cs"/>
              </a:endParaRPr>
            </a:p>
          </p:txBody>
        </p:sp>
      </p:grpSp>
      <p:sp>
        <p:nvSpPr>
          <p:cNvPr id="65" name="TextBox 64"/>
          <p:cNvSpPr txBox="1"/>
          <p:nvPr/>
        </p:nvSpPr>
        <p:spPr>
          <a:xfrm>
            <a:off x="613982" y="1082458"/>
            <a:ext cx="15118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solidFill>
                  <a:prstClr val="black"/>
                </a:solidFill>
                <a:latin typeface="Calibri"/>
                <a:cs typeface="+mn-cs"/>
              </a:rPr>
              <a:t>Example:</a:t>
            </a:r>
            <a:endParaRPr lang="ru-RU" sz="2800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506720" y="1082458"/>
            <a:ext cx="26095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solidFill>
                  <a:prstClr val="black"/>
                </a:solidFill>
                <a:latin typeface="Calibri"/>
                <a:cs typeface="+mn-cs"/>
              </a:rPr>
              <a:t>Data Flow Graph</a:t>
            </a:r>
            <a:endParaRPr lang="ru-RU" sz="2800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67" name="Text Box 31"/>
          <p:cNvSpPr txBox="1">
            <a:spLocks noChangeArrowheads="1"/>
          </p:cNvSpPr>
          <p:nvPr/>
        </p:nvSpPr>
        <p:spPr bwMode="auto">
          <a:xfrm>
            <a:off x="1111900" y="5027075"/>
            <a:ext cx="1234463" cy="32543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12700">
            <a:solidFill>
              <a:srgbClr val="C0504D">
                <a:lumMod val="50000"/>
              </a:srgbClr>
            </a:solidFill>
            <a:miter lim="800000"/>
            <a:headEnd type="none" w="sm" len="sm"/>
            <a:tailEnd type="none" w="med" len="lg"/>
          </a:ln>
        </p:spPr>
        <p:txBody>
          <a:bodyPr tIns="18288" bIns="18288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+mn-cs"/>
              </a:rPr>
              <a:t>1</a:t>
            </a:r>
            <a:endParaRPr kumimoji="0" lang="en-US" sz="1600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cs typeface="+mn-cs"/>
            </a:endParaRPr>
          </a:p>
        </p:txBody>
      </p:sp>
      <p:sp>
        <p:nvSpPr>
          <p:cNvPr id="68" name="Text Box 32"/>
          <p:cNvSpPr txBox="1">
            <a:spLocks noChangeArrowheads="1"/>
          </p:cNvSpPr>
          <p:nvPr/>
        </p:nvSpPr>
        <p:spPr bwMode="auto">
          <a:xfrm>
            <a:off x="2346363" y="5350802"/>
            <a:ext cx="379722" cy="32543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12700">
            <a:solidFill>
              <a:srgbClr val="C0504D">
                <a:lumMod val="50000"/>
              </a:srgbClr>
            </a:solidFill>
            <a:miter lim="800000"/>
            <a:headEnd type="none" w="sm" len="sm"/>
            <a:tailEnd type="none" w="med" len="lg"/>
          </a:ln>
        </p:spPr>
        <p:txBody>
          <a:bodyPr tIns="18288" bIns="18288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+mn-cs"/>
              </a:rPr>
              <a:t>3</a:t>
            </a:r>
            <a:endParaRPr kumimoji="0" lang="en-US" sz="1600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cs typeface="+mn-cs"/>
            </a:endParaRPr>
          </a:p>
        </p:txBody>
      </p:sp>
      <p:sp>
        <p:nvSpPr>
          <p:cNvPr id="69" name="Text Box 33"/>
          <p:cNvSpPr txBox="1">
            <a:spLocks noChangeArrowheads="1"/>
          </p:cNvSpPr>
          <p:nvPr/>
        </p:nvSpPr>
        <p:spPr bwMode="auto">
          <a:xfrm>
            <a:off x="2346363" y="5677315"/>
            <a:ext cx="379722" cy="32543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12700">
            <a:solidFill>
              <a:srgbClr val="C0504D">
                <a:lumMod val="50000"/>
              </a:srgbClr>
            </a:solidFill>
            <a:miter lim="800000"/>
            <a:headEnd type="none" w="sm" len="sm"/>
            <a:tailEnd type="none" w="med" len="lg"/>
          </a:ln>
        </p:spPr>
        <p:txBody>
          <a:bodyPr tIns="18288" bIns="18288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+mn-cs"/>
              </a:rPr>
              <a:t>4</a:t>
            </a:r>
            <a:endParaRPr kumimoji="0" lang="en-US" sz="1600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cs typeface="+mn-cs"/>
            </a:endParaRPr>
          </a:p>
        </p:txBody>
      </p:sp>
      <p:sp>
        <p:nvSpPr>
          <p:cNvPr id="70" name="Text Box 35"/>
          <p:cNvSpPr txBox="1">
            <a:spLocks noChangeArrowheads="1"/>
          </p:cNvSpPr>
          <p:nvPr/>
        </p:nvSpPr>
        <p:spPr bwMode="auto">
          <a:xfrm>
            <a:off x="2346363" y="5027075"/>
            <a:ext cx="379722" cy="32543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12700">
            <a:solidFill>
              <a:srgbClr val="C0504D">
                <a:lumMod val="50000"/>
              </a:srgbClr>
            </a:solidFill>
            <a:miter lim="800000"/>
            <a:headEnd type="none" w="sm" len="sm"/>
            <a:tailEnd type="none" w="med" len="lg"/>
          </a:ln>
        </p:spPr>
        <p:txBody>
          <a:bodyPr tIns="18288" bIns="18288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+mn-cs"/>
              </a:rPr>
              <a:t>2</a:t>
            </a:r>
            <a:endParaRPr kumimoji="0" lang="en-US" sz="1600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cs typeface="+mn-cs"/>
            </a:endParaRPr>
          </a:p>
        </p:txBody>
      </p:sp>
      <p:sp>
        <p:nvSpPr>
          <p:cNvPr id="71" name="Text Box 36"/>
          <p:cNvSpPr txBox="1">
            <a:spLocks noChangeArrowheads="1"/>
          </p:cNvSpPr>
          <p:nvPr/>
        </p:nvSpPr>
        <p:spPr bwMode="auto">
          <a:xfrm>
            <a:off x="3956357" y="5350802"/>
            <a:ext cx="379722" cy="32543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12700">
            <a:solidFill>
              <a:srgbClr val="C0504D">
                <a:lumMod val="50000"/>
              </a:srgbClr>
            </a:solidFill>
            <a:miter lim="800000"/>
            <a:headEnd type="none" w="sm" len="sm"/>
            <a:tailEnd type="none" w="med" len="lg"/>
          </a:ln>
        </p:spPr>
        <p:txBody>
          <a:bodyPr tIns="18288" bIns="18288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+mn-cs"/>
              </a:rPr>
              <a:t>6</a:t>
            </a:r>
            <a:endParaRPr kumimoji="0" lang="en-US" sz="1600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cs typeface="+mn-cs"/>
            </a:endParaRPr>
          </a:p>
        </p:txBody>
      </p:sp>
      <p:sp>
        <p:nvSpPr>
          <p:cNvPr id="72" name="Text Box 31"/>
          <p:cNvSpPr txBox="1">
            <a:spLocks noChangeArrowheads="1"/>
          </p:cNvSpPr>
          <p:nvPr/>
        </p:nvSpPr>
        <p:spPr bwMode="auto">
          <a:xfrm>
            <a:off x="2726196" y="5350802"/>
            <a:ext cx="1234463" cy="32543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12700">
            <a:solidFill>
              <a:srgbClr val="C0504D">
                <a:lumMod val="50000"/>
              </a:srgbClr>
            </a:solidFill>
            <a:miter lim="800000"/>
            <a:headEnd type="none" w="sm" len="sm"/>
            <a:tailEnd type="none" w="med" len="lg"/>
          </a:ln>
        </p:spPr>
        <p:txBody>
          <a:bodyPr tIns="18288" bIns="18288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+mn-cs"/>
              </a:rPr>
              <a:t>5</a:t>
            </a:r>
            <a:endParaRPr kumimoji="0" lang="en-US" sz="1600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cs typeface="+mn-cs"/>
            </a:endParaRPr>
          </a:p>
        </p:txBody>
      </p:sp>
      <p:sp>
        <p:nvSpPr>
          <p:cNvPr id="73" name="Text Box 32"/>
          <p:cNvSpPr txBox="1">
            <a:spLocks noChangeArrowheads="1"/>
          </p:cNvSpPr>
          <p:nvPr/>
        </p:nvSpPr>
        <p:spPr bwMode="auto">
          <a:xfrm>
            <a:off x="5941870" y="5354417"/>
            <a:ext cx="379722" cy="325437"/>
          </a:xfrm>
          <a:prstGeom prst="rect">
            <a:avLst/>
          </a:prstGeom>
          <a:solidFill>
            <a:srgbClr val="9BBB59">
              <a:lumMod val="20000"/>
              <a:lumOff val="80000"/>
            </a:srgbClr>
          </a:solidFill>
          <a:ln w="12700">
            <a:solidFill>
              <a:srgbClr val="9BBB59">
                <a:lumMod val="50000"/>
              </a:srgbClr>
            </a:solidFill>
            <a:miter lim="800000"/>
            <a:headEnd type="none" w="sm" len="sm"/>
            <a:tailEnd type="none" w="med" len="lg"/>
          </a:ln>
        </p:spPr>
        <p:txBody>
          <a:bodyPr tIns="18288" bIns="18288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+mn-cs"/>
              </a:rPr>
              <a:t>3</a:t>
            </a:r>
            <a:endParaRPr kumimoji="0" lang="en-US" sz="1600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cs typeface="+mn-cs"/>
            </a:endParaRPr>
          </a:p>
        </p:txBody>
      </p:sp>
      <p:sp>
        <p:nvSpPr>
          <p:cNvPr id="74" name="Text Box 33"/>
          <p:cNvSpPr txBox="1">
            <a:spLocks noChangeArrowheads="1"/>
          </p:cNvSpPr>
          <p:nvPr/>
        </p:nvSpPr>
        <p:spPr bwMode="auto">
          <a:xfrm>
            <a:off x="5941870" y="5679220"/>
            <a:ext cx="379722" cy="325437"/>
          </a:xfrm>
          <a:prstGeom prst="rect">
            <a:avLst/>
          </a:prstGeom>
          <a:solidFill>
            <a:srgbClr val="9BBB59">
              <a:lumMod val="20000"/>
              <a:lumOff val="80000"/>
            </a:srgbClr>
          </a:solidFill>
          <a:ln w="12700">
            <a:solidFill>
              <a:srgbClr val="9BBB59">
                <a:lumMod val="50000"/>
              </a:srgbClr>
            </a:solidFill>
            <a:miter lim="800000"/>
            <a:headEnd type="none" w="sm" len="sm"/>
            <a:tailEnd type="none" w="med" len="lg"/>
          </a:ln>
        </p:spPr>
        <p:txBody>
          <a:bodyPr tIns="18288" bIns="18288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+mn-cs"/>
              </a:rPr>
              <a:t>4</a:t>
            </a:r>
            <a:endParaRPr kumimoji="0" lang="en-US" sz="1600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cs typeface="+mn-cs"/>
            </a:endParaRPr>
          </a:p>
        </p:txBody>
      </p:sp>
      <p:sp>
        <p:nvSpPr>
          <p:cNvPr id="75" name="Text Box 36"/>
          <p:cNvSpPr txBox="1">
            <a:spLocks noChangeArrowheads="1"/>
          </p:cNvSpPr>
          <p:nvPr/>
        </p:nvSpPr>
        <p:spPr bwMode="auto">
          <a:xfrm>
            <a:off x="7551864" y="5353783"/>
            <a:ext cx="379722" cy="325437"/>
          </a:xfrm>
          <a:prstGeom prst="rect">
            <a:avLst/>
          </a:prstGeom>
          <a:solidFill>
            <a:srgbClr val="9BBB59">
              <a:lumMod val="20000"/>
              <a:lumOff val="80000"/>
            </a:srgbClr>
          </a:solidFill>
          <a:ln w="12700">
            <a:solidFill>
              <a:srgbClr val="9BBB59">
                <a:lumMod val="50000"/>
              </a:srgbClr>
            </a:solidFill>
            <a:miter lim="800000"/>
            <a:headEnd type="none" w="sm" len="sm"/>
            <a:tailEnd type="none" w="med" len="lg"/>
          </a:ln>
        </p:spPr>
        <p:txBody>
          <a:bodyPr tIns="18288" bIns="18288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+mn-cs"/>
              </a:rPr>
              <a:t>6</a:t>
            </a:r>
            <a:endParaRPr kumimoji="0" lang="en-US" sz="1600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cs typeface="+mn-cs"/>
            </a:endParaRPr>
          </a:p>
        </p:txBody>
      </p:sp>
      <p:sp>
        <p:nvSpPr>
          <p:cNvPr id="76" name="Text Box 31"/>
          <p:cNvSpPr txBox="1">
            <a:spLocks noChangeArrowheads="1"/>
          </p:cNvSpPr>
          <p:nvPr/>
        </p:nvSpPr>
        <p:spPr bwMode="auto">
          <a:xfrm>
            <a:off x="6321703" y="5352707"/>
            <a:ext cx="1234463" cy="325437"/>
          </a:xfrm>
          <a:prstGeom prst="rect">
            <a:avLst/>
          </a:prstGeom>
          <a:solidFill>
            <a:srgbClr val="9BBB59">
              <a:lumMod val="20000"/>
              <a:lumOff val="80000"/>
            </a:srgbClr>
          </a:solidFill>
          <a:ln w="12700">
            <a:solidFill>
              <a:srgbClr val="9BBB59">
                <a:lumMod val="50000"/>
              </a:srgbClr>
            </a:solidFill>
            <a:miter lim="800000"/>
            <a:headEnd type="none" w="sm" len="sm"/>
            <a:tailEnd type="none" w="med" len="lg"/>
          </a:ln>
        </p:spPr>
        <p:txBody>
          <a:bodyPr tIns="18288" bIns="18288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+mn-cs"/>
              </a:rPr>
              <a:t>5</a:t>
            </a:r>
            <a:endParaRPr kumimoji="0" lang="en-US" sz="1600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cs typeface="+mn-cs"/>
            </a:endParaRPr>
          </a:p>
        </p:txBody>
      </p:sp>
      <p:sp>
        <p:nvSpPr>
          <p:cNvPr id="77" name="Text Box 31"/>
          <p:cNvSpPr txBox="1">
            <a:spLocks noChangeArrowheads="1"/>
          </p:cNvSpPr>
          <p:nvPr/>
        </p:nvSpPr>
        <p:spPr bwMode="auto">
          <a:xfrm>
            <a:off x="5941870" y="5027075"/>
            <a:ext cx="1234463" cy="325437"/>
          </a:xfrm>
          <a:prstGeom prst="rect">
            <a:avLst/>
          </a:prstGeom>
          <a:solidFill>
            <a:srgbClr val="9BBB59">
              <a:lumMod val="20000"/>
              <a:lumOff val="80000"/>
            </a:srgbClr>
          </a:solidFill>
          <a:ln w="12700">
            <a:solidFill>
              <a:srgbClr val="9BBB59">
                <a:lumMod val="50000"/>
              </a:srgbClr>
            </a:solidFill>
            <a:miter lim="800000"/>
            <a:headEnd type="none" w="sm" len="sm"/>
            <a:tailEnd type="none" w="med" len="lg"/>
          </a:ln>
        </p:spPr>
        <p:txBody>
          <a:bodyPr tIns="18288" bIns="18288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+mn-cs"/>
              </a:rPr>
              <a:t>1</a:t>
            </a:r>
            <a:endParaRPr kumimoji="0" lang="en-US" sz="1600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cs typeface="+mn-cs"/>
            </a:endParaRPr>
          </a:p>
        </p:txBody>
      </p:sp>
      <p:sp>
        <p:nvSpPr>
          <p:cNvPr id="78" name="Text Box 35"/>
          <p:cNvSpPr txBox="1">
            <a:spLocks noChangeArrowheads="1"/>
          </p:cNvSpPr>
          <p:nvPr/>
        </p:nvSpPr>
        <p:spPr bwMode="auto">
          <a:xfrm>
            <a:off x="7176333" y="5027075"/>
            <a:ext cx="379722" cy="325437"/>
          </a:xfrm>
          <a:prstGeom prst="rect">
            <a:avLst/>
          </a:prstGeom>
          <a:solidFill>
            <a:srgbClr val="9BBB59">
              <a:lumMod val="20000"/>
              <a:lumOff val="80000"/>
            </a:srgbClr>
          </a:solidFill>
          <a:ln w="12700">
            <a:solidFill>
              <a:srgbClr val="9BBB59">
                <a:lumMod val="50000"/>
              </a:srgbClr>
            </a:solidFill>
            <a:miter lim="800000"/>
            <a:headEnd type="none" w="sm" len="sm"/>
            <a:tailEnd type="none" w="med" len="lg"/>
          </a:ln>
        </p:spPr>
        <p:txBody>
          <a:bodyPr tIns="18288" bIns="18288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+mn-cs"/>
              </a:rPr>
              <a:t>2</a:t>
            </a:r>
            <a:endParaRPr kumimoji="0" lang="en-US" sz="1600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2305582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build="p"/>
      <p:bldP spid="42" grpId="0"/>
      <p:bldP spid="43" grpId="0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65" grpId="0"/>
      <p:bldP spid="66" grpId="0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</p:bldLst>
  </p:timing>
  <p:extLst mod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Can SW Help?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292300" y="2078241"/>
            <a:ext cx="15819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rgbClr val="C0504D">
                    <a:lumMod val="75000"/>
                  </a:srgbClr>
                </a:solidFill>
                <a:latin typeface="Calibri"/>
                <a:cs typeface="+mn-cs"/>
              </a:rPr>
              <a:t>Parallel </a:t>
            </a:r>
            <a:r>
              <a:rPr lang="en-US" dirty="0">
                <a:solidFill>
                  <a:srgbClr val="C0504D">
                    <a:lumMod val="75000"/>
                  </a:srgbClr>
                </a:solidFill>
                <a:latin typeface="Calibri"/>
                <a:cs typeface="+mn-cs"/>
              </a:rPr>
              <a:t>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95558" y="2170276"/>
            <a:ext cx="18982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rgbClr val="4F81BD">
                    <a:lumMod val="75000"/>
                  </a:srgbClr>
                </a:solidFill>
                <a:latin typeface="Calibri"/>
                <a:cs typeface="+mn-cs"/>
              </a:rPr>
              <a:t>Sequential</a:t>
            </a:r>
            <a:r>
              <a:rPr lang="en-US" dirty="0">
                <a:solidFill>
                  <a:srgbClr val="4F81BD">
                    <a:lumMod val="75000"/>
                  </a:srgbClr>
                </a:solidFill>
                <a:latin typeface="Calibri"/>
                <a:cs typeface="+mn-cs"/>
              </a:rPr>
              <a:t> hardware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374196" y="952500"/>
            <a:ext cx="1363876" cy="3098800"/>
            <a:chOff x="914400" y="1096512"/>
            <a:chExt cx="1805651" cy="3098800"/>
          </a:xfrm>
          <a:effectLst/>
        </p:grpSpPr>
        <p:cxnSp>
          <p:nvCxnSpPr>
            <p:cNvPr id="6" name="Straight Connector 5"/>
            <p:cNvCxnSpPr/>
            <p:nvPr/>
          </p:nvCxnSpPr>
          <p:spPr>
            <a:xfrm>
              <a:off x="914400" y="1096512"/>
              <a:ext cx="1805651" cy="0"/>
            </a:xfrm>
            <a:prstGeom prst="line">
              <a:avLst/>
            </a:prstGeom>
            <a:noFill/>
            <a:ln w="25400" cap="flat" cmpd="sng" algn="ctr">
              <a:solidFill>
                <a:srgbClr val="C0504D"/>
              </a:solidFill>
              <a:prstDash val="solid"/>
            </a:ln>
            <a:effectLst/>
          </p:spPr>
        </p:cxnSp>
        <p:cxnSp>
          <p:nvCxnSpPr>
            <p:cNvPr id="7" name="Straight Connector 6"/>
            <p:cNvCxnSpPr/>
            <p:nvPr/>
          </p:nvCxnSpPr>
          <p:spPr>
            <a:xfrm>
              <a:off x="914400" y="4195312"/>
              <a:ext cx="1805651" cy="0"/>
            </a:xfrm>
            <a:prstGeom prst="line">
              <a:avLst/>
            </a:prstGeom>
            <a:noFill/>
            <a:ln w="25400" cap="flat" cmpd="sng" algn="ctr">
              <a:solidFill>
                <a:srgbClr val="C0504D"/>
              </a:solidFill>
              <a:prstDash val="solid"/>
            </a:ln>
            <a:effectLst/>
          </p:spPr>
        </p:cxnSp>
      </p:grpSp>
      <p:sp>
        <p:nvSpPr>
          <p:cNvPr id="8" name="TextBox 7"/>
          <p:cNvSpPr txBox="1"/>
          <p:nvPr/>
        </p:nvSpPr>
        <p:spPr>
          <a:xfrm>
            <a:off x="2718493" y="2170276"/>
            <a:ext cx="1559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rgbClr val="4F81BD">
                    <a:lumMod val="75000"/>
                  </a:srgbClr>
                </a:solidFill>
                <a:latin typeface="Calibri"/>
                <a:cs typeface="+mn-cs"/>
              </a:rPr>
              <a:t>Sequential</a:t>
            </a:r>
            <a:r>
              <a:rPr lang="en-US" dirty="0">
                <a:solidFill>
                  <a:srgbClr val="4F81BD">
                    <a:lumMod val="75000"/>
                  </a:srgbClr>
                </a:solidFill>
                <a:latin typeface="Calibri"/>
                <a:cs typeface="+mn-cs"/>
              </a:rPr>
              <a:t> code (ISA)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878821" y="2146300"/>
            <a:ext cx="1699260" cy="0"/>
          </a:xfrm>
          <a:prstGeom prst="line">
            <a:avLst/>
          </a:prstGeom>
          <a:noFill/>
          <a:ln w="25400" cap="flat" cmpd="sng" algn="ctr">
            <a:solidFill>
              <a:srgbClr val="4F81BD"/>
            </a:solidFill>
            <a:prstDash val="solid"/>
          </a:ln>
          <a:effectLst/>
        </p:spPr>
      </p:cxnSp>
      <p:sp>
        <p:nvSpPr>
          <p:cNvPr id="10" name="Freeform 9"/>
          <p:cNvSpPr/>
          <p:nvPr/>
        </p:nvSpPr>
        <p:spPr>
          <a:xfrm>
            <a:off x="1730741" y="952500"/>
            <a:ext cx="1158240" cy="1193238"/>
          </a:xfrm>
          <a:custGeom>
            <a:avLst/>
            <a:gdLst>
              <a:gd name="connsiteX0" fmla="*/ 0 w 1158240"/>
              <a:gd name="connsiteY0" fmla="*/ 0 h 1137920"/>
              <a:gd name="connsiteX1" fmla="*/ 162560 w 1158240"/>
              <a:gd name="connsiteY1" fmla="*/ 20320 h 1137920"/>
              <a:gd name="connsiteX2" fmla="*/ 243840 w 1158240"/>
              <a:gd name="connsiteY2" fmla="*/ 111760 h 1137920"/>
              <a:gd name="connsiteX3" fmla="*/ 365760 w 1158240"/>
              <a:gd name="connsiteY3" fmla="*/ 314960 h 1137920"/>
              <a:gd name="connsiteX4" fmla="*/ 731520 w 1158240"/>
              <a:gd name="connsiteY4" fmla="*/ 934720 h 1137920"/>
              <a:gd name="connsiteX5" fmla="*/ 863600 w 1158240"/>
              <a:gd name="connsiteY5" fmla="*/ 1076960 h 1137920"/>
              <a:gd name="connsiteX6" fmla="*/ 985520 w 1158240"/>
              <a:gd name="connsiteY6" fmla="*/ 1117600 h 1137920"/>
              <a:gd name="connsiteX7" fmla="*/ 1158240 w 1158240"/>
              <a:gd name="connsiteY7" fmla="*/ 1137920 h 1137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8240" h="1137920">
                <a:moveTo>
                  <a:pt x="0" y="0"/>
                </a:moveTo>
                <a:cubicBezTo>
                  <a:pt x="60960" y="846"/>
                  <a:pt x="121920" y="1693"/>
                  <a:pt x="162560" y="20320"/>
                </a:cubicBezTo>
                <a:cubicBezTo>
                  <a:pt x="203200" y="38947"/>
                  <a:pt x="209973" y="62653"/>
                  <a:pt x="243840" y="111760"/>
                </a:cubicBezTo>
                <a:cubicBezTo>
                  <a:pt x="277707" y="160867"/>
                  <a:pt x="365760" y="314960"/>
                  <a:pt x="365760" y="314960"/>
                </a:cubicBezTo>
                <a:cubicBezTo>
                  <a:pt x="447040" y="452120"/>
                  <a:pt x="648547" y="807720"/>
                  <a:pt x="731520" y="934720"/>
                </a:cubicBezTo>
                <a:cubicBezTo>
                  <a:pt x="814493" y="1061720"/>
                  <a:pt x="821267" y="1046480"/>
                  <a:pt x="863600" y="1076960"/>
                </a:cubicBezTo>
                <a:cubicBezTo>
                  <a:pt x="905933" y="1107440"/>
                  <a:pt x="936413" y="1107440"/>
                  <a:pt x="985520" y="1117600"/>
                </a:cubicBezTo>
                <a:cubicBezTo>
                  <a:pt x="1034627" y="1127760"/>
                  <a:pt x="1096433" y="1132840"/>
                  <a:pt x="1158240" y="1137920"/>
                </a:cubicBezTo>
              </a:path>
            </a:pathLst>
          </a:custGeom>
          <a:noFill/>
          <a:ln w="25400" cap="flat" cmpd="sng" algn="ctr">
            <a:gradFill>
              <a:gsLst>
                <a:gs pos="0">
                  <a:srgbClr val="C0504D"/>
                </a:gs>
                <a:gs pos="100000">
                  <a:srgbClr val="4F81BD"/>
                </a:gs>
              </a:gsLst>
              <a:lin ang="5400000" scaled="0"/>
            </a:gra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4550915" y="2146300"/>
            <a:ext cx="1503391" cy="685632"/>
            <a:chOff x="6116320" y="2290312"/>
            <a:chExt cx="1503391" cy="685632"/>
          </a:xfrm>
        </p:grpSpPr>
        <p:cxnSp>
          <p:nvCxnSpPr>
            <p:cNvPr id="12" name="Straight Connector 11"/>
            <p:cNvCxnSpPr/>
            <p:nvPr/>
          </p:nvCxnSpPr>
          <p:spPr>
            <a:xfrm>
              <a:off x="6116320" y="2290312"/>
              <a:ext cx="1480531" cy="0"/>
            </a:xfrm>
            <a:prstGeom prst="line">
              <a:avLst/>
            </a:prstGeom>
            <a:noFill/>
            <a:ln w="25400" cap="flat" cmpd="sng" algn="ctr">
              <a:solidFill>
                <a:srgbClr val="4F81BD"/>
              </a:solidFill>
              <a:prstDash val="solid"/>
            </a:ln>
            <a:effectLst/>
          </p:spPr>
        </p:cxnSp>
        <p:cxnSp>
          <p:nvCxnSpPr>
            <p:cNvPr id="13" name="Straight Connector 12"/>
            <p:cNvCxnSpPr/>
            <p:nvPr/>
          </p:nvCxnSpPr>
          <p:spPr>
            <a:xfrm>
              <a:off x="6139180" y="2975944"/>
              <a:ext cx="1480531" cy="0"/>
            </a:xfrm>
            <a:prstGeom prst="line">
              <a:avLst/>
            </a:prstGeom>
            <a:noFill/>
            <a:ln w="25400" cap="flat" cmpd="sng" algn="ctr">
              <a:solidFill>
                <a:srgbClr val="4F81BD"/>
              </a:solidFill>
              <a:prstDash val="solid"/>
            </a:ln>
            <a:effectLst/>
          </p:spPr>
        </p:cxnSp>
      </p:grpSp>
      <p:cxnSp>
        <p:nvCxnSpPr>
          <p:cNvPr id="14" name="Straight Connector 13"/>
          <p:cNvCxnSpPr>
            <a:stCxn id="15" idx="7"/>
          </p:cNvCxnSpPr>
          <p:nvPr/>
        </p:nvCxnSpPr>
        <p:spPr>
          <a:xfrm>
            <a:off x="2898852" y="2832100"/>
            <a:ext cx="1679229" cy="0"/>
          </a:xfrm>
          <a:prstGeom prst="line">
            <a:avLst/>
          </a:prstGeom>
          <a:noFill/>
          <a:ln w="25400" cap="flat" cmpd="sng" algn="ctr">
            <a:solidFill>
              <a:srgbClr val="4F81BD"/>
            </a:solidFill>
            <a:prstDash val="solid"/>
          </a:ln>
          <a:effectLst/>
        </p:spPr>
      </p:cxnSp>
      <p:sp>
        <p:nvSpPr>
          <p:cNvPr id="15" name="Freeform 14"/>
          <p:cNvSpPr/>
          <p:nvPr/>
        </p:nvSpPr>
        <p:spPr>
          <a:xfrm flipV="1">
            <a:off x="1740612" y="2832100"/>
            <a:ext cx="1158240" cy="1221740"/>
          </a:xfrm>
          <a:custGeom>
            <a:avLst/>
            <a:gdLst>
              <a:gd name="connsiteX0" fmla="*/ 0 w 1158240"/>
              <a:gd name="connsiteY0" fmla="*/ 0 h 1137920"/>
              <a:gd name="connsiteX1" fmla="*/ 162560 w 1158240"/>
              <a:gd name="connsiteY1" fmla="*/ 20320 h 1137920"/>
              <a:gd name="connsiteX2" fmla="*/ 243840 w 1158240"/>
              <a:gd name="connsiteY2" fmla="*/ 111760 h 1137920"/>
              <a:gd name="connsiteX3" fmla="*/ 365760 w 1158240"/>
              <a:gd name="connsiteY3" fmla="*/ 314960 h 1137920"/>
              <a:gd name="connsiteX4" fmla="*/ 731520 w 1158240"/>
              <a:gd name="connsiteY4" fmla="*/ 934720 h 1137920"/>
              <a:gd name="connsiteX5" fmla="*/ 863600 w 1158240"/>
              <a:gd name="connsiteY5" fmla="*/ 1076960 h 1137920"/>
              <a:gd name="connsiteX6" fmla="*/ 985520 w 1158240"/>
              <a:gd name="connsiteY6" fmla="*/ 1117600 h 1137920"/>
              <a:gd name="connsiteX7" fmla="*/ 1158240 w 1158240"/>
              <a:gd name="connsiteY7" fmla="*/ 1137920 h 1137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8240" h="1137920">
                <a:moveTo>
                  <a:pt x="0" y="0"/>
                </a:moveTo>
                <a:cubicBezTo>
                  <a:pt x="60960" y="846"/>
                  <a:pt x="121920" y="1693"/>
                  <a:pt x="162560" y="20320"/>
                </a:cubicBezTo>
                <a:cubicBezTo>
                  <a:pt x="203200" y="38947"/>
                  <a:pt x="209973" y="62653"/>
                  <a:pt x="243840" y="111760"/>
                </a:cubicBezTo>
                <a:cubicBezTo>
                  <a:pt x="277707" y="160867"/>
                  <a:pt x="365760" y="314960"/>
                  <a:pt x="365760" y="314960"/>
                </a:cubicBezTo>
                <a:cubicBezTo>
                  <a:pt x="447040" y="452120"/>
                  <a:pt x="648547" y="807720"/>
                  <a:pt x="731520" y="934720"/>
                </a:cubicBezTo>
                <a:cubicBezTo>
                  <a:pt x="814493" y="1061720"/>
                  <a:pt x="821267" y="1046480"/>
                  <a:pt x="863600" y="1076960"/>
                </a:cubicBezTo>
                <a:cubicBezTo>
                  <a:pt x="905933" y="1107440"/>
                  <a:pt x="936413" y="1107440"/>
                  <a:pt x="985520" y="1117600"/>
                </a:cubicBezTo>
                <a:cubicBezTo>
                  <a:pt x="1034627" y="1127760"/>
                  <a:pt x="1096433" y="1132840"/>
                  <a:pt x="1158240" y="1137920"/>
                </a:cubicBezTo>
              </a:path>
            </a:pathLst>
          </a:custGeom>
          <a:noFill/>
          <a:ln w="25400" cap="flat" cmpd="sng" algn="ctr">
            <a:gradFill>
              <a:gsLst>
                <a:gs pos="0">
                  <a:srgbClr val="C0504D"/>
                </a:gs>
                <a:gs pos="100000">
                  <a:srgbClr val="4F81BD"/>
                </a:gs>
              </a:gsLst>
              <a:lin ang="5400000" scaled="0"/>
            </a:gra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ight Arrow 15"/>
          <p:cNvSpPr/>
          <p:nvPr/>
        </p:nvSpPr>
        <p:spPr>
          <a:xfrm rot="2599015">
            <a:off x="1948487" y="1818903"/>
            <a:ext cx="331865" cy="246589"/>
          </a:xfrm>
          <a:prstGeom prst="rightArrow">
            <a:avLst/>
          </a:prstGeom>
          <a:solidFill>
            <a:srgbClr val="C0504D">
              <a:lumMod val="60000"/>
              <a:lumOff val="4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ight Arrow 16"/>
          <p:cNvSpPr/>
          <p:nvPr/>
        </p:nvSpPr>
        <p:spPr>
          <a:xfrm rot="19000985" flipV="1">
            <a:off x="1948487" y="2895033"/>
            <a:ext cx="331865" cy="246589"/>
          </a:xfrm>
          <a:prstGeom prst="rightArrow">
            <a:avLst/>
          </a:prstGeom>
          <a:solidFill>
            <a:srgbClr val="C0504D">
              <a:lumMod val="60000"/>
              <a:lumOff val="4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ight Arrow 17"/>
          <p:cNvSpPr/>
          <p:nvPr/>
        </p:nvSpPr>
        <p:spPr>
          <a:xfrm rot="20419462" flipV="1">
            <a:off x="1859037" y="2566564"/>
            <a:ext cx="331865" cy="246589"/>
          </a:xfrm>
          <a:prstGeom prst="rightArrow">
            <a:avLst/>
          </a:prstGeom>
          <a:solidFill>
            <a:srgbClr val="C0504D">
              <a:lumMod val="60000"/>
              <a:lumOff val="4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ight Arrow 18"/>
          <p:cNvSpPr/>
          <p:nvPr/>
        </p:nvSpPr>
        <p:spPr>
          <a:xfrm rot="1180538">
            <a:off x="1859037" y="2154280"/>
            <a:ext cx="331865" cy="246589"/>
          </a:xfrm>
          <a:prstGeom prst="rightArrow">
            <a:avLst/>
          </a:prstGeom>
          <a:solidFill>
            <a:srgbClr val="C0504D">
              <a:lumMod val="60000"/>
              <a:lumOff val="4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ight Arrow 19"/>
          <p:cNvSpPr/>
          <p:nvPr/>
        </p:nvSpPr>
        <p:spPr>
          <a:xfrm>
            <a:off x="2411477" y="2394599"/>
            <a:ext cx="331865" cy="246589"/>
          </a:xfrm>
          <a:prstGeom prst="rightArrow">
            <a:avLst/>
          </a:prstGeom>
          <a:solidFill>
            <a:srgbClr val="4F81BD">
              <a:lumMod val="60000"/>
              <a:lumOff val="4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ight Arrow 20"/>
          <p:cNvSpPr/>
          <p:nvPr/>
        </p:nvSpPr>
        <p:spPr>
          <a:xfrm>
            <a:off x="4315153" y="2382902"/>
            <a:ext cx="331865" cy="246589"/>
          </a:xfrm>
          <a:prstGeom prst="rightArrow">
            <a:avLst/>
          </a:prstGeom>
          <a:solidFill>
            <a:srgbClr val="4F81BD">
              <a:lumMod val="60000"/>
              <a:lumOff val="4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Content Placeholder 2"/>
          <p:cNvSpPr txBox="1">
            <a:spLocks/>
          </p:cNvSpPr>
          <p:nvPr/>
        </p:nvSpPr>
        <p:spPr bwMode="auto">
          <a:xfrm>
            <a:off x="457199" y="4233228"/>
            <a:ext cx="8391525" cy="2205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3363" marR="0" lvl="0" indent="-233363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The algorithms</a:t>
            </a:r>
            <a:r>
              <a:rPr kumimoji="0" lang="en-US" sz="2400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 are parallel and SW sees that parallelism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233363" marR="0" lvl="0" indent="-233363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Initially, HW was </a:t>
            </a: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very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 simple: sequential execution, one instruction at a time</a:t>
            </a:r>
          </a:p>
          <a:p>
            <a:pPr marL="233363" marR="0" lvl="0" indent="-233363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2400" dirty="0" smtClean="0">
                <a:solidFill>
                  <a:prstClr val="black"/>
                </a:solidFill>
                <a:latin typeface="Calibri"/>
              </a:rPr>
              <a:t>There were no need to represent parallelism to HW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  <a:p>
            <a:pPr marL="233363" marR="0" lvl="0" indent="-233363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2400" dirty="0">
                <a:solidFill>
                  <a:sysClr val="windowText" lastClr="000000"/>
                </a:solidFill>
                <a:latin typeface="Calibri"/>
              </a:rPr>
              <a:t>S</a:t>
            </a:r>
            <a:r>
              <a:rPr lang="en-US" sz="2400" dirty="0" smtClean="0">
                <a:solidFill>
                  <a:sysClr val="windowText" lastClr="000000"/>
                </a:solidFill>
                <a:latin typeface="Calibri"/>
              </a:rPr>
              <a:t>equential </a:t>
            </a:r>
            <a:r>
              <a:rPr lang="en-US" sz="2400" dirty="0">
                <a:solidFill>
                  <a:sysClr val="windowText" lastClr="000000"/>
                </a:solidFill>
                <a:latin typeface="Calibri"/>
              </a:rPr>
              <a:t>code representation </a:t>
            </a:r>
            <a:r>
              <a:rPr lang="en-US" sz="2400" dirty="0" smtClean="0">
                <a:solidFill>
                  <a:sysClr val="windowText" lastClr="000000"/>
                </a:solidFill>
                <a:latin typeface="Calibri"/>
              </a:rPr>
              <a:t>seemed </a:t>
            </a:r>
            <a:r>
              <a:rPr lang="en-US" sz="2400" dirty="0">
                <a:solidFill>
                  <a:sysClr val="windowText" lastClr="000000"/>
                </a:solidFill>
                <a:latin typeface="Calibri"/>
              </a:rPr>
              <a:t>natural and convenient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541320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6" presetClass="emph" presetSubtype="0" repeatCount="4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6" presetClass="emph" presetSubtype="0" repeatCount="4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7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0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8" grpId="0"/>
      <p:bldP spid="10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  <p:extLst mod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SW Help?</a:t>
            </a:r>
            <a:endParaRPr lang="ru-RU" dirty="0"/>
          </a:p>
        </p:txBody>
      </p:sp>
      <p:grpSp>
        <p:nvGrpSpPr>
          <p:cNvPr id="3" name="Group 2"/>
          <p:cNvGrpSpPr/>
          <p:nvPr/>
        </p:nvGrpSpPr>
        <p:grpSpPr>
          <a:xfrm>
            <a:off x="4550915" y="2146300"/>
            <a:ext cx="1503391" cy="685632"/>
            <a:chOff x="6116320" y="2290312"/>
            <a:chExt cx="1503391" cy="685632"/>
          </a:xfrm>
        </p:grpSpPr>
        <p:cxnSp>
          <p:nvCxnSpPr>
            <p:cNvPr id="4" name="Straight Connector 3"/>
            <p:cNvCxnSpPr/>
            <p:nvPr/>
          </p:nvCxnSpPr>
          <p:spPr>
            <a:xfrm>
              <a:off x="6116320" y="2290312"/>
              <a:ext cx="1480531" cy="0"/>
            </a:xfrm>
            <a:prstGeom prst="line">
              <a:avLst/>
            </a:prstGeom>
            <a:noFill/>
            <a:ln w="25400" cap="flat" cmpd="sng" algn="ctr">
              <a:solidFill>
                <a:srgbClr val="4F81BD"/>
              </a:solidFill>
              <a:prstDash val="solid"/>
            </a:ln>
            <a:effectLst/>
          </p:spPr>
        </p:cxnSp>
        <p:cxnSp>
          <p:nvCxnSpPr>
            <p:cNvPr id="5" name="Straight Connector 4"/>
            <p:cNvCxnSpPr/>
            <p:nvPr/>
          </p:nvCxnSpPr>
          <p:spPr>
            <a:xfrm>
              <a:off x="6139180" y="2975944"/>
              <a:ext cx="1480531" cy="0"/>
            </a:xfrm>
            <a:prstGeom prst="line">
              <a:avLst/>
            </a:prstGeom>
            <a:noFill/>
            <a:ln w="25400" cap="flat" cmpd="sng" algn="ctr">
              <a:solidFill>
                <a:srgbClr val="4F81BD"/>
              </a:solidFill>
              <a:prstDash val="solid"/>
            </a:ln>
            <a:effectLst/>
          </p:spPr>
        </p:cxnSp>
      </p:grpSp>
      <p:sp>
        <p:nvSpPr>
          <p:cNvPr id="6" name="TextBox 5"/>
          <p:cNvSpPr txBox="1"/>
          <p:nvPr/>
        </p:nvSpPr>
        <p:spPr>
          <a:xfrm>
            <a:off x="4395558" y="2170276"/>
            <a:ext cx="18982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rgbClr val="4F81BD">
                    <a:lumMod val="75000"/>
                  </a:srgbClr>
                </a:solidFill>
                <a:latin typeface="Calibri"/>
                <a:cs typeface="+mn-cs"/>
              </a:rPr>
              <a:t>Sequential</a:t>
            </a:r>
            <a:r>
              <a:rPr lang="en-US" dirty="0">
                <a:solidFill>
                  <a:srgbClr val="4F81BD">
                    <a:lumMod val="75000"/>
                  </a:srgbClr>
                </a:solidFill>
                <a:latin typeface="Calibri"/>
                <a:cs typeface="+mn-cs"/>
              </a:rPr>
              <a:t> hardware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0946" y="2099171"/>
            <a:ext cx="1628005" cy="759590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457200" y="4233227"/>
            <a:ext cx="8229600" cy="18398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3363" marR="0" lvl="0" indent="-233363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Then, technology allowed building wide and parallel</a:t>
            </a:r>
            <a:r>
              <a:rPr kumimoji="0" lang="en-US" sz="2400" b="0" i="0" u="none" strike="noStrike" kern="1200" cap="none" spc="0" normalizeH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HW, but the code representation had stayed sequential</a:t>
            </a:r>
          </a:p>
          <a:p>
            <a:pPr marL="233363" marR="0" lvl="0" indent="-233363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Decision: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extract parallelism back by means of HW only</a:t>
            </a:r>
          </a:p>
          <a:p>
            <a:pPr marL="233363" marR="0" lvl="0" indent="-233363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Due to compatibility still need look like sequential HW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2300" y="2078241"/>
            <a:ext cx="15819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rgbClr val="C0504D">
                    <a:lumMod val="75000"/>
                  </a:srgbClr>
                </a:solidFill>
                <a:latin typeface="Calibri"/>
                <a:cs typeface="+mn-cs"/>
              </a:rPr>
              <a:t>Parallel </a:t>
            </a:r>
            <a:r>
              <a:rPr lang="en-US" dirty="0">
                <a:solidFill>
                  <a:srgbClr val="C0504D">
                    <a:lumMod val="75000"/>
                  </a:srgbClr>
                </a:solidFill>
                <a:latin typeface="Calibri"/>
                <a:cs typeface="+mn-cs"/>
              </a:rPr>
              <a:t>algorithms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374196" y="952500"/>
            <a:ext cx="1363876" cy="3098800"/>
            <a:chOff x="914400" y="1096512"/>
            <a:chExt cx="1805651" cy="3098800"/>
          </a:xfrm>
          <a:effectLst/>
        </p:grpSpPr>
        <p:cxnSp>
          <p:nvCxnSpPr>
            <p:cNvPr id="11" name="Straight Connector 10"/>
            <p:cNvCxnSpPr/>
            <p:nvPr/>
          </p:nvCxnSpPr>
          <p:spPr>
            <a:xfrm>
              <a:off x="914400" y="1096512"/>
              <a:ext cx="1805651" cy="0"/>
            </a:xfrm>
            <a:prstGeom prst="line">
              <a:avLst/>
            </a:prstGeom>
            <a:noFill/>
            <a:ln w="25400" cap="flat" cmpd="sng" algn="ctr">
              <a:solidFill>
                <a:srgbClr val="C0504D"/>
              </a:solidFill>
              <a:prstDash val="solid"/>
            </a:ln>
            <a:effectLst/>
          </p:spPr>
        </p:cxnSp>
        <p:cxnSp>
          <p:nvCxnSpPr>
            <p:cNvPr id="12" name="Straight Connector 11"/>
            <p:cNvCxnSpPr/>
            <p:nvPr/>
          </p:nvCxnSpPr>
          <p:spPr>
            <a:xfrm>
              <a:off x="914400" y="4195312"/>
              <a:ext cx="1805651" cy="0"/>
            </a:xfrm>
            <a:prstGeom prst="line">
              <a:avLst/>
            </a:prstGeom>
            <a:noFill/>
            <a:ln w="25400" cap="flat" cmpd="sng" algn="ctr">
              <a:solidFill>
                <a:srgbClr val="C0504D"/>
              </a:solidFill>
              <a:prstDash val="solid"/>
            </a:ln>
            <a:effectLst/>
          </p:spPr>
        </p:cxnSp>
      </p:grpSp>
      <p:sp>
        <p:nvSpPr>
          <p:cNvPr id="13" name="TextBox 12"/>
          <p:cNvSpPr txBox="1"/>
          <p:nvPr/>
        </p:nvSpPr>
        <p:spPr>
          <a:xfrm>
            <a:off x="2718493" y="2170276"/>
            <a:ext cx="1559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rgbClr val="4F81BD">
                    <a:lumMod val="75000"/>
                  </a:srgbClr>
                </a:solidFill>
                <a:latin typeface="Calibri"/>
                <a:cs typeface="+mn-cs"/>
              </a:rPr>
              <a:t>Sequential</a:t>
            </a:r>
            <a:r>
              <a:rPr lang="en-US" dirty="0">
                <a:solidFill>
                  <a:srgbClr val="4F81BD">
                    <a:lumMod val="75000"/>
                  </a:srgbClr>
                </a:solidFill>
                <a:latin typeface="Calibri"/>
                <a:cs typeface="+mn-cs"/>
              </a:rPr>
              <a:t> code (ISA)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2878821" y="2146300"/>
            <a:ext cx="1699260" cy="0"/>
          </a:xfrm>
          <a:prstGeom prst="line">
            <a:avLst/>
          </a:prstGeom>
          <a:noFill/>
          <a:ln w="25400" cap="flat" cmpd="sng" algn="ctr">
            <a:solidFill>
              <a:srgbClr val="4F81BD"/>
            </a:solidFill>
            <a:prstDash val="solid"/>
          </a:ln>
          <a:effectLst/>
        </p:spPr>
      </p:cxnSp>
      <p:sp>
        <p:nvSpPr>
          <p:cNvPr id="15" name="Freeform 14"/>
          <p:cNvSpPr/>
          <p:nvPr/>
        </p:nvSpPr>
        <p:spPr>
          <a:xfrm>
            <a:off x="1730741" y="952500"/>
            <a:ext cx="1158240" cy="1193238"/>
          </a:xfrm>
          <a:custGeom>
            <a:avLst/>
            <a:gdLst>
              <a:gd name="connsiteX0" fmla="*/ 0 w 1158240"/>
              <a:gd name="connsiteY0" fmla="*/ 0 h 1137920"/>
              <a:gd name="connsiteX1" fmla="*/ 162560 w 1158240"/>
              <a:gd name="connsiteY1" fmla="*/ 20320 h 1137920"/>
              <a:gd name="connsiteX2" fmla="*/ 243840 w 1158240"/>
              <a:gd name="connsiteY2" fmla="*/ 111760 h 1137920"/>
              <a:gd name="connsiteX3" fmla="*/ 365760 w 1158240"/>
              <a:gd name="connsiteY3" fmla="*/ 314960 h 1137920"/>
              <a:gd name="connsiteX4" fmla="*/ 731520 w 1158240"/>
              <a:gd name="connsiteY4" fmla="*/ 934720 h 1137920"/>
              <a:gd name="connsiteX5" fmla="*/ 863600 w 1158240"/>
              <a:gd name="connsiteY5" fmla="*/ 1076960 h 1137920"/>
              <a:gd name="connsiteX6" fmla="*/ 985520 w 1158240"/>
              <a:gd name="connsiteY6" fmla="*/ 1117600 h 1137920"/>
              <a:gd name="connsiteX7" fmla="*/ 1158240 w 1158240"/>
              <a:gd name="connsiteY7" fmla="*/ 1137920 h 1137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8240" h="1137920">
                <a:moveTo>
                  <a:pt x="0" y="0"/>
                </a:moveTo>
                <a:cubicBezTo>
                  <a:pt x="60960" y="846"/>
                  <a:pt x="121920" y="1693"/>
                  <a:pt x="162560" y="20320"/>
                </a:cubicBezTo>
                <a:cubicBezTo>
                  <a:pt x="203200" y="38947"/>
                  <a:pt x="209973" y="62653"/>
                  <a:pt x="243840" y="111760"/>
                </a:cubicBezTo>
                <a:cubicBezTo>
                  <a:pt x="277707" y="160867"/>
                  <a:pt x="365760" y="314960"/>
                  <a:pt x="365760" y="314960"/>
                </a:cubicBezTo>
                <a:cubicBezTo>
                  <a:pt x="447040" y="452120"/>
                  <a:pt x="648547" y="807720"/>
                  <a:pt x="731520" y="934720"/>
                </a:cubicBezTo>
                <a:cubicBezTo>
                  <a:pt x="814493" y="1061720"/>
                  <a:pt x="821267" y="1046480"/>
                  <a:pt x="863600" y="1076960"/>
                </a:cubicBezTo>
                <a:cubicBezTo>
                  <a:pt x="905933" y="1107440"/>
                  <a:pt x="936413" y="1107440"/>
                  <a:pt x="985520" y="1117600"/>
                </a:cubicBezTo>
                <a:cubicBezTo>
                  <a:pt x="1034627" y="1127760"/>
                  <a:pt x="1096433" y="1132840"/>
                  <a:pt x="1158240" y="1137920"/>
                </a:cubicBezTo>
              </a:path>
            </a:pathLst>
          </a:custGeom>
          <a:noFill/>
          <a:ln w="25400" cap="flat" cmpd="sng" algn="ctr">
            <a:gradFill>
              <a:gsLst>
                <a:gs pos="0">
                  <a:srgbClr val="C0504D"/>
                </a:gs>
                <a:gs pos="100000">
                  <a:srgbClr val="4F81BD"/>
                </a:gs>
              </a:gsLst>
              <a:lin ang="5400000" scaled="0"/>
            </a:gra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6" name="Straight Connector 15"/>
          <p:cNvCxnSpPr>
            <a:stCxn id="17" idx="7"/>
          </p:cNvCxnSpPr>
          <p:nvPr/>
        </p:nvCxnSpPr>
        <p:spPr>
          <a:xfrm>
            <a:off x="2898852" y="2832100"/>
            <a:ext cx="1679229" cy="0"/>
          </a:xfrm>
          <a:prstGeom prst="line">
            <a:avLst/>
          </a:prstGeom>
          <a:noFill/>
          <a:ln w="25400" cap="flat" cmpd="sng" algn="ctr">
            <a:solidFill>
              <a:srgbClr val="4F81BD"/>
            </a:solidFill>
            <a:prstDash val="solid"/>
          </a:ln>
          <a:effectLst/>
        </p:spPr>
      </p:cxnSp>
      <p:sp>
        <p:nvSpPr>
          <p:cNvPr id="17" name="Freeform 16"/>
          <p:cNvSpPr/>
          <p:nvPr/>
        </p:nvSpPr>
        <p:spPr>
          <a:xfrm flipV="1">
            <a:off x="1740612" y="2832100"/>
            <a:ext cx="1158240" cy="1221740"/>
          </a:xfrm>
          <a:custGeom>
            <a:avLst/>
            <a:gdLst>
              <a:gd name="connsiteX0" fmla="*/ 0 w 1158240"/>
              <a:gd name="connsiteY0" fmla="*/ 0 h 1137920"/>
              <a:gd name="connsiteX1" fmla="*/ 162560 w 1158240"/>
              <a:gd name="connsiteY1" fmla="*/ 20320 h 1137920"/>
              <a:gd name="connsiteX2" fmla="*/ 243840 w 1158240"/>
              <a:gd name="connsiteY2" fmla="*/ 111760 h 1137920"/>
              <a:gd name="connsiteX3" fmla="*/ 365760 w 1158240"/>
              <a:gd name="connsiteY3" fmla="*/ 314960 h 1137920"/>
              <a:gd name="connsiteX4" fmla="*/ 731520 w 1158240"/>
              <a:gd name="connsiteY4" fmla="*/ 934720 h 1137920"/>
              <a:gd name="connsiteX5" fmla="*/ 863600 w 1158240"/>
              <a:gd name="connsiteY5" fmla="*/ 1076960 h 1137920"/>
              <a:gd name="connsiteX6" fmla="*/ 985520 w 1158240"/>
              <a:gd name="connsiteY6" fmla="*/ 1117600 h 1137920"/>
              <a:gd name="connsiteX7" fmla="*/ 1158240 w 1158240"/>
              <a:gd name="connsiteY7" fmla="*/ 1137920 h 1137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8240" h="1137920">
                <a:moveTo>
                  <a:pt x="0" y="0"/>
                </a:moveTo>
                <a:cubicBezTo>
                  <a:pt x="60960" y="846"/>
                  <a:pt x="121920" y="1693"/>
                  <a:pt x="162560" y="20320"/>
                </a:cubicBezTo>
                <a:cubicBezTo>
                  <a:pt x="203200" y="38947"/>
                  <a:pt x="209973" y="62653"/>
                  <a:pt x="243840" y="111760"/>
                </a:cubicBezTo>
                <a:cubicBezTo>
                  <a:pt x="277707" y="160867"/>
                  <a:pt x="365760" y="314960"/>
                  <a:pt x="365760" y="314960"/>
                </a:cubicBezTo>
                <a:cubicBezTo>
                  <a:pt x="447040" y="452120"/>
                  <a:pt x="648547" y="807720"/>
                  <a:pt x="731520" y="934720"/>
                </a:cubicBezTo>
                <a:cubicBezTo>
                  <a:pt x="814493" y="1061720"/>
                  <a:pt x="821267" y="1046480"/>
                  <a:pt x="863600" y="1076960"/>
                </a:cubicBezTo>
                <a:cubicBezTo>
                  <a:pt x="905933" y="1107440"/>
                  <a:pt x="936413" y="1107440"/>
                  <a:pt x="985520" y="1117600"/>
                </a:cubicBezTo>
                <a:cubicBezTo>
                  <a:pt x="1034627" y="1127760"/>
                  <a:pt x="1096433" y="1132840"/>
                  <a:pt x="1158240" y="1137920"/>
                </a:cubicBezTo>
              </a:path>
            </a:pathLst>
          </a:custGeom>
          <a:noFill/>
          <a:ln w="25400" cap="flat" cmpd="sng" algn="ctr">
            <a:gradFill>
              <a:gsLst>
                <a:gs pos="0">
                  <a:srgbClr val="C0504D"/>
                </a:gs>
                <a:gs pos="100000">
                  <a:srgbClr val="4F81BD"/>
                </a:gs>
              </a:gsLst>
              <a:lin ang="5400000" scaled="0"/>
            </a:gra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ight Arrow 17"/>
          <p:cNvSpPr/>
          <p:nvPr/>
        </p:nvSpPr>
        <p:spPr>
          <a:xfrm rot="2599015">
            <a:off x="1948487" y="1818903"/>
            <a:ext cx="331865" cy="246589"/>
          </a:xfrm>
          <a:prstGeom prst="rightArrow">
            <a:avLst/>
          </a:prstGeom>
          <a:solidFill>
            <a:srgbClr val="C0504D">
              <a:lumMod val="60000"/>
              <a:lumOff val="4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ight Arrow 18"/>
          <p:cNvSpPr/>
          <p:nvPr/>
        </p:nvSpPr>
        <p:spPr>
          <a:xfrm rot="19000985" flipV="1">
            <a:off x="1948487" y="2895033"/>
            <a:ext cx="331865" cy="246589"/>
          </a:xfrm>
          <a:prstGeom prst="rightArrow">
            <a:avLst/>
          </a:prstGeom>
          <a:solidFill>
            <a:srgbClr val="C0504D">
              <a:lumMod val="60000"/>
              <a:lumOff val="4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ight Arrow 19"/>
          <p:cNvSpPr/>
          <p:nvPr/>
        </p:nvSpPr>
        <p:spPr>
          <a:xfrm rot="20419462" flipV="1">
            <a:off x="1859037" y="2566564"/>
            <a:ext cx="331865" cy="246589"/>
          </a:xfrm>
          <a:prstGeom prst="rightArrow">
            <a:avLst/>
          </a:prstGeom>
          <a:solidFill>
            <a:srgbClr val="C0504D">
              <a:lumMod val="60000"/>
              <a:lumOff val="4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ight Arrow 20"/>
          <p:cNvSpPr/>
          <p:nvPr/>
        </p:nvSpPr>
        <p:spPr>
          <a:xfrm rot="1180538">
            <a:off x="1859037" y="2154280"/>
            <a:ext cx="331865" cy="246589"/>
          </a:xfrm>
          <a:prstGeom prst="rightArrow">
            <a:avLst/>
          </a:prstGeom>
          <a:solidFill>
            <a:srgbClr val="C0504D">
              <a:lumMod val="60000"/>
              <a:lumOff val="4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ight Arrow 21"/>
          <p:cNvSpPr/>
          <p:nvPr/>
        </p:nvSpPr>
        <p:spPr>
          <a:xfrm>
            <a:off x="2411477" y="2394599"/>
            <a:ext cx="331865" cy="246589"/>
          </a:xfrm>
          <a:prstGeom prst="rightArrow">
            <a:avLst/>
          </a:prstGeom>
          <a:solidFill>
            <a:srgbClr val="4F81BD">
              <a:lumMod val="60000"/>
              <a:lumOff val="4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ight Arrow 22"/>
          <p:cNvSpPr/>
          <p:nvPr/>
        </p:nvSpPr>
        <p:spPr>
          <a:xfrm>
            <a:off x="4315153" y="2382902"/>
            <a:ext cx="331865" cy="246589"/>
          </a:xfrm>
          <a:prstGeom prst="rightArrow">
            <a:avLst/>
          </a:prstGeom>
          <a:solidFill>
            <a:srgbClr val="4F81BD">
              <a:lumMod val="60000"/>
              <a:lumOff val="4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24" name="Group 23"/>
          <p:cNvGrpSpPr/>
          <p:nvPr/>
        </p:nvGrpSpPr>
        <p:grpSpPr>
          <a:xfrm flipH="1" flipV="1">
            <a:off x="4575672" y="2833028"/>
            <a:ext cx="2016020" cy="525780"/>
            <a:chOff x="5675100" y="1656080"/>
            <a:chExt cx="2016020" cy="1051560"/>
          </a:xfrm>
          <a:effectLst/>
        </p:grpSpPr>
        <p:cxnSp>
          <p:nvCxnSpPr>
            <p:cNvPr id="25" name="Straight Connector 24"/>
            <p:cNvCxnSpPr/>
            <p:nvPr/>
          </p:nvCxnSpPr>
          <p:spPr>
            <a:xfrm flipV="1">
              <a:off x="5675100" y="1656080"/>
              <a:ext cx="865110" cy="0"/>
            </a:xfrm>
            <a:prstGeom prst="line">
              <a:avLst/>
            </a:prstGeom>
            <a:noFill/>
            <a:ln w="25400" cap="flat" cmpd="sng" algn="ctr">
              <a:solidFill>
                <a:srgbClr val="C0504D"/>
              </a:solidFill>
              <a:prstDash val="solid"/>
            </a:ln>
            <a:effectLst/>
          </p:spPr>
        </p:cxnSp>
        <p:sp>
          <p:nvSpPr>
            <p:cNvPr id="26" name="Freeform 25"/>
            <p:cNvSpPr/>
            <p:nvPr/>
          </p:nvSpPr>
          <p:spPr>
            <a:xfrm>
              <a:off x="6532880" y="1656080"/>
              <a:ext cx="1158240" cy="1051560"/>
            </a:xfrm>
            <a:custGeom>
              <a:avLst/>
              <a:gdLst>
                <a:gd name="connsiteX0" fmla="*/ 0 w 1158240"/>
                <a:gd name="connsiteY0" fmla="*/ 0 h 1137920"/>
                <a:gd name="connsiteX1" fmla="*/ 162560 w 1158240"/>
                <a:gd name="connsiteY1" fmla="*/ 20320 h 1137920"/>
                <a:gd name="connsiteX2" fmla="*/ 243840 w 1158240"/>
                <a:gd name="connsiteY2" fmla="*/ 111760 h 1137920"/>
                <a:gd name="connsiteX3" fmla="*/ 365760 w 1158240"/>
                <a:gd name="connsiteY3" fmla="*/ 314960 h 1137920"/>
                <a:gd name="connsiteX4" fmla="*/ 731520 w 1158240"/>
                <a:gd name="connsiteY4" fmla="*/ 934720 h 1137920"/>
                <a:gd name="connsiteX5" fmla="*/ 863600 w 1158240"/>
                <a:gd name="connsiteY5" fmla="*/ 1076960 h 1137920"/>
                <a:gd name="connsiteX6" fmla="*/ 985520 w 1158240"/>
                <a:gd name="connsiteY6" fmla="*/ 1117600 h 1137920"/>
                <a:gd name="connsiteX7" fmla="*/ 1158240 w 1158240"/>
                <a:gd name="connsiteY7" fmla="*/ 1137920 h 1137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58240" h="1137920">
                  <a:moveTo>
                    <a:pt x="0" y="0"/>
                  </a:moveTo>
                  <a:cubicBezTo>
                    <a:pt x="60960" y="846"/>
                    <a:pt x="121920" y="1693"/>
                    <a:pt x="162560" y="20320"/>
                  </a:cubicBezTo>
                  <a:cubicBezTo>
                    <a:pt x="203200" y="38947"/>
                    <a:pt x="209973" y="62653"/>
                    <a:pt x="243840" y="111760"/>
                  </a:cubicBezTo>
                  <a:cubicBezTo>
                    <a:pt x="277707" y="160867"/>
                    <a:pt x="365760" y="314960"/>
                    <a:pt x="365760" y="314960"/>
                  </a:cubicBezTo>
                  <a:cubicBezTo>
                    <a:pt x="447040" y="452120"/>
                    <a:pt x="648547" y="807720"/>
                    <a:pt x="731520" y="934720"/>
                  </a:cubicBezTo>
                  <a:cubicBezTo>
                    <a:pt x="814493" y="1061720"/>
                    <a:pt x="821267" y="1046480"/>
                    <a:pt x="863600" y="1076960"/>
                  </a:cubicBezTo>
                  <a:cubicBezTo>
                    <a:pt x="905933" y="1107440"/>
                    <a:pt x="936413" y="1107440"/>
                    <a:pt x="985520" y="1117600"/>
                  </a:cubicBezTo>
                  <a:cubicBezTo>
                    <a:pt x="1034627" y="1127760"/>
                    <a:pt x="1096433" y="1132840"/>
                    <a:pt x="1158240" y="1137920"/>
                  </a:cubicBezTo>
                </a:path>
              </a:pathLst>
            </a:custGeom>
            <a:noFill/>
            <a:ln w="25400" cap="flat" cmpd="sng" algn="ctr">
              <a:gradFill>
                <a:gsLst>
                  <a:gs pos="0">
                    <a:srgbClr val="C0504D"/>
                  </a:gs>
                  <a:gs pos="100000">
                    <a:srgbClr val="4F81BD"/>
                  </a:gs>
                </a:gsLst>
                <a:lin ang="5400000" scaled="0"/>
              </a:gra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 flipH="1">
            <a:off x="4575729" y="1621321"/>
            <a:ext cx="1993103" cy="525780"/>
            <a:chOff x="5698017" y="1656080"/>
            <a:chExt cx="1993103" cy="1051560"/>
          </a:xfrm>
          <a:effectLst/>
        </p:grpSpPr>
        <p:cxnSp>
          <p:nvCxnSpPr>
            <p:cNvPr id="28" name="Straight Connector 27"/>
            <p:cNvCxnSpPr/>
            <p:nvPr/>
          </p:nvCxnSpPr>
          <p:spPr>
            <a:xfrm>
              <a:off x="5698017" y="1656080"/>
              <a:ext cx="842193" cy="0"/>
            </a:xfrm>
            <a:prstGeom prst="line">
              <a:avLst/>
            </a:prstGeom>
            <a:noFill/>
            <a:ln w="25400" cap="flat" cmpd="sng" algn="ctr">
              <a:solidFill>
                <a:srgbClr val="C0504D"/>
              </a:solidFill>
              <a:prstDash val="solid"/>
            </a:ln>
            <a:effectLst/>
          </p:spPr>
        </p:cxnSp>
        <p:sp>
          <p:nvSpPr>
            <p:cNvPr id="29" name="Freeform 28"/>
            <p:cNvSpPr/>
            <p:nvPr/>
          </p:nvSpPr>
          <p:spPr>
            <a:xfrm>
              <a:off x="6532880" y="1656080"/>
              <a:ext cx="1158240" cy="1051560"/>
            </a:xfrm>
            <a:custGeom>
              <a:avLst/>
              <a:gdLst>
                <a:gd name="connsiteX0" fmla="*/ 0 w 1158240"/>
                <a:gd name="connsiteY0" fmla="*/ 0 h 1137920"/>
                <a:gd name="connsiteX1" fmla="*/ 162560 w 1158240"/>
                <a:gd name="connsiteY1" fmla="*/ 20320 h 1137920"/>
                <a:gd name="connsiteX2" fmla="*/ 243840 w 1158240"/>
                <a:gd name="connsiteY2" fmla="*/ 111760 h 1137920"/>
                <a:gd name="connsiteX3" fmla="*/ 365760 w 1158240"/>
                <a:gd name="connsiteY3" fmla="*/ 314960 h 1137920"/>
                <a:gd name="connsiteX4" fmla="*/ 731520 w 1158240"/>
                <a:gd name="connsiteY4" fmla="*/ 934720 h 1137920"/>
                <a:gd name="connsiteX5" fmla="*/ 863600 w 1158240"/>
                <a:gd name="connsiteY5" fmla="*/ 1076960 h 1137920"/>
                <a:gd name="connsiteX6" fmla="*/ 985520 w 1158240"/>
                <a:gd name="connsiteY6" fmla="*/ 1117600 h 1137920"/>
                <a:gd name="connsiteX7" fmla="*/ 1158240 w 1158240"/>
                <a:gd name="connsiteY7" fmla="*/ 1137920 h 1137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58240" h="1137920">
                  <a:moveTo>
                    <a:pt x="0" y="0"/>
                  </a:moveTo>
                  <a:cubicBezTo>
                    <a:pt x="60960" y="846"/>
                    <a:pt x="121920" y="1693"/>
                    <a:pt x="162560" y="20320"/>
                  </a:cubicBezTo>
                  <a:cubicBezTo>
                    <a:pt x="203200" y="38947"/>
                    <a:pt x="209973" y="62653"/>
                    <a:pt x="243840" y="111760"/>
                  </a:cubicBezTo>
                  <a:cubicBezTo>
                    <a:pt x="277707" y="160867"/>
                    <a:pt x="365760" y="314960"/>
                    <a:pt x="365760" y="314960"/>
                  </a:cubicBezTo>
                  <a:cubicBezTo>
                    <a:pt x="447040" y="452120"/>
                    <a:pt x="648547" y="807720"/>
                    <a:pt x="731520" y="934720"/>
                  </a:cubicBezTo>
                  <a:cubicBezTo>
                    <a:pt x="814493" y="1061720"/>
                    <a:pt x="821267" y="1046480"/>
                    <a:pt x="863600" y="1076960"/>
                  </a:cubicBezTo>
                  <a:cubicBezTo>
                    <a:pt x="905933" y="1107440"/>
                    <a:pt x="936413" y="1107440"/>
                    <a:pt x="985520" y="1117600"/>
                  </a:cubicBezTo>
                  <a:cubicBezTo>
                    <a:pt x="1034627" y="1127760"/>
                    <a:pt x="1096433" y="1132840"/>
                    <a:pt x="1158240" y="1137920"/>
                  </a:cubicBezTo>
                </a:path>
              </a:pathLst>
            </a:custGeom>
            <a:noFill/>
            <a:ln w="25400" cap="flat" cmpd="sng" algn="ctr">
              <a:gradFill>
                <a:gsLst>
                  <a:gs pos="0">
                    <a:srgbClr val="C0504D"/>
                  </a:gs>
                  <a:gs pos="100000">
                    <a:srgbClr val="4F81BD"/>
                  </a:gs>
                </a:gsLst>
                <a:lin ang="5400000" scaled="0"/>
              </a:gra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0" name="Right Arrow 29"/>
          <p:cNvSpPr/>
          <p:nvPr/>
        </p:nvSpPr>
        <p:spPr>
          <a:xfrm rot="20419462" flipV="1">
            <a:off x="4891011" y="2187356"/>
            <a:ext cx="331865" cy="246589"/>
          </a:xfrm>
          <a:prstGeom prst="rightArrow">
            <a:avLst/>
          </a:prstGeom>
          <a:solidFill>
            <a:srgbClr val="C0504D">
              <a:lumMod val="60000"/>
              <a:lumOff val="4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ight Arrow 30"/>
          <p:cNvSpPr/>
          <p:nvPr/>
        </p:nvSpPr>
        <p:spPr>
          <a:xfrm rot="1180538">
            <a:off x="4891011" y="2574544"/>
            <a:ext cx="331865" cy="246589"/>
          </a:xfrm>
          <a:prstGeom prst="rightArrow">
            <a:avLst/>
          </a:prstGeom>
          <a:solidFill>
            <a:srgbClr val="C0504D">
              <a:lumMod val="60000"/>
              <a:lumOff val="4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066205" y="1998364"/>
            <a:ext cx="189824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rgbClr val="C0504D">
                    <a:lumMod val="75000"/>
                  </a:srgbClr>
                </a:solidFill>
                <a:latin typeface="Calibri"/>
                <a:cs typeface="+mn-cs"/>
              </a:rPr>
              <a:t>Sophisticated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C0504D">
                    <a:lumMod val="75000"/>
                  </a:srgbClr>
                </a:solidFill>
                <a:latin typeface="Calibri"/>
                <a:cs typeface="+mn-cs"/>
              </a:rPr>
              <a:t>parallel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rgbClr val="C0504D">
                    <a:lumMod val="75000"/>
                  </a:srgbClr>
                </a:solidFill>
                <a:latin typeface="Calibri"/>
                <a:cs typeface="+mn-cs"/>
              </a:rPr>
              <a:t>hardware</a:t>
            </a:r>
          </a:p>
        </p:txBody>
      </p:sp>
      <p:sp>
        <p:nvSpPr>
          <p:cNvPr id="33" name="Freeform 32"/>
          <p:cNvSpPr/>
          <p:nvPr/>
        </p:nvSpPr>
        <p:spPr>
          <a:xfrm>
            <a:off x="6550876" y="1621321"/>
            <a:ext cx="832764" cy="525780"/>
          </a:xfrm>
          <a:custGeom>
            <a:avLst/>
            <a:gdLst>
              <a:gd name="connsiteX0" fmla="*/ 0 w 1158240"/>
              <a:gd name="connsiteY0" fmla="*/ 0 h 1137920"/>
              <a:gd name="connsiteX1" fmla="*/ 162560 w 1158240"/>
              <a:gd name="connsiteY1" fmla="*/ 20320 h 1137920"/>
              <a:gd name="connsiteX2" fmla="*/ 243840 w 1158240"/>
              <a:gd name="connsiteY2" fmla="*/ 111760 h 1137920"/>
              <a:gd name="connsiteX3" fmla="*/ 365760 w 1158240"/>
              <a:gd name="connsiteY3" fmla="*/ 314960 h 1137920"/>
              <a:gd name="connsiteX4" fmla="*/ 731520 w 1158240"/>
              <a:gd name="connsiteY4" fmla="*/ 934720 h 1137920"/>
              <a:gd name="connsiteX5" fmla="*/ 863600 w 1158240"/>
              <a:gd name="connsiteY5" fmla="*/ 1076960 h 1137920"/>
              <a:gd name="connsiteX6" fmla="*/ 985520 w 1158240"/>
              <a:gd name="connsiteY6" fmla="*/ 1117600 h 1137920"/>
              <a:gd name="connsiteX7" fmla="*/ 1158240 w 1158240"/>
              <a:gd name="connsiteY7" fmla="*/ 1137920 h 1137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8240" h="1137920">
                <a:moveTo>
                  <a:pt x="0" y="0"/>
                </a:moveTo>
                <a:cubicBezTo>
                  <a:pt x="60960" y="846"/>
                  <a:pt x="121920" y="1693"/>
                  <a:pt x="162560" y="20320"/>
                </a:cubicBezTo>
                <a:cubicBezTo>
                  <a:pt x="203200" y="38947"/>
                  <a:pt x="209973" y="62653"/>
                  <a:pt x="243840" y="111760"/>
                </a:cubicBezTo>
                <a:cubicBezTo>
                  <a:pt x="277707" y="160867"/>
                  <a:pt x="365760" y="314960"/>
                  <a:pt x="365760" y="314960"/>
                </a:cubicBezTo>
                <a:cubicBezTo>
                  <a:pt x="447040" y="452120"/>
                  <a:pt x="648547" y="807720"/>
                  <a:pt x="731520" y="934720"/>
                </a:cubicBezTo>
                <a:cubicBezTo>
                  <a:pt x="814493" y="1061720"/>
                  <a:pt x="821267" y="1046480"/>
                  <a:pt x="863600" y="1076960"/>
                </a:cubicBezTo>
                <a:cubicBezTo>
                  <a:pt x="905933" y="1107440"/>
                  <a:pt x="936413" y="1107440"/>
                  <a:pt x="985520" y="1117600"/>
                </a:cubicBezTo>
                <a:cubicBezTo>
                  <a:pt x="1034627" y="1127760"/>
                  <a:pt x="1096433" y="1132840"/>
                  <a:pt x="1158240" y="1137920"/>
                </a:cubicBezTo>
              </a:path>
            </a:pathLst>
          </a:custGeom>
          <a:noFill/>
          <a:ln w="25400" cap="flat" cmpd="sng" algn="ctr">
            <a:gradFill>
              <a:gsLst>
                <a:gs pos="0">
                  <a:srgbClr val="C0504D"/>
                </a:gs>
                <a:gs pos="100000">
                  <a:srgbClr val="4F81BD"/>
                </a:gs>
              </a:gsLst>
              <a:lin ang="5400000" scaled="0"/>
            </a:gra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Freeform 33"/>
          <p:cNvSpPr/>
          <p:nvPr/>
        </p:nvSpPr>
        <p:spPr>
          <a:xfrm flipV="1">
            <a:off x="6591692" y="2833028"/>
            <a:ext cx="832764" cy="525780"/>
          </a:xfrm>
          <a:custGeom>
            <a:avLst/>
            <a:gdLst>
              <a:gd name="connsiteX0" fmla="*/ 0 w 1158240"/>
              <a:gd name="connsiteY0" fmla="*/ 0 h 1137920"/>
              <a:gd name="connsiteX1" fmla="*/ 162560 w 1158240"/>
              <a:gd name="connsiteY1" fmla="*/ 20320 h 1137920"/>
              <a:gd name="connsiteX2" fmla="*/ 243840 w 1158240"/>
              <a:gd name="connsiteY2" fmla="*/ 111760 h 1137920"/>
              <a:gd name="connsiteX3" fmla="*/ 365760 w 1158240"/>
              <a:gd name="connsiteY3" fmla="*/ 314960 h 1137920"/>
              <a:gd name="connsiteX4" fmla="*/ 731520 w 1158240"/>
              <a:gd name="connsiteY4" fmla="*/ 934720 h 1137920"/>
              <a:gd name="connsiteX5" fmla="*/ 863600 w 1158240"/>
              <a:gd name="connsiteY5" fmla="*/ 1076960 h 1137920"/>
              <a:gd name="connsiteX6" fmla="*/ 985520 w 1158240"/>
              <a:gd name="connsiteY6" fmla="*/ 1117600 h 1137920"/>
              <a:gd name="connsiteX7" fmla="*/ 1158240 w 1158240"/>
              <a:gd name="connsiteY7" fmla="*/ 1137920 h 1137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8240" h="1137920">
                <a:moveTo>
                  <a:pt x="0" y="0"/>
                </a:moveTo>
                <a:cubicBezTo>
                  <a:pt x="60960" y="846"/>
                  <a:pt x="121920" y="1693"/>
                  <a:pt x="162560" y="20320"/>
                </a:cubicBezTo>
                <a:cubicBezTo>
                  <a:pt x="203200" y="38947"/>
                  <a:pt x="209973" y="62653"/>
                  <a:pt x="243840" y="111760"/>
                </a:cubicBezTo>
                <a:cubicBezTo>
                  <a:pt x="277707" y="160867"/>
                  <a:pt x="365760" y="314960"/>
                  <a:pt x="365760" y="314960"/>
                </a:cubicBezTo>
                <a:cubicBezTo>
                  <a:pt x="447040" y="452120"/>
                  <a:pt x="648547" y="807720"/>
                  <a:pt x="731520" y="934720"/>
                </a:cubicBezTo>
                <a:cubicBezTo>
                  <a:pt x="814493" y="1061720"/>
                  <a:pt x="821267" y="1046480"/>
                  <a:pt x="863600" y="1076960"/>
                </a:cubicBezTo>
                <a:cubicBezTo>
                  <a:pt x="905933" y="1107440"/>
                  <a:pt x="936413" y="1107440"/>
                  <a:pt x="985520" y="1117600"/>
                </a:cubicBezTo>
                <a:cubicBezTo>
                  <a:pt x="1034627" y="1127760"/>
                  <a:pt x="1096433" y="1132840"/>
                  <a:pt x="1158240" y="1137920"/>
                </a:cubicBezTo>
              </a:path>
            </a:pathLst>
          </a:custGeom>
          <a:noFill/>
          <a:ln w="25400" cap="flat" cmpd="sng" algn="ctr">
            <a:gradFill>
              <a:gsLst>
                <a:gs pos="0">
                  <a:srgbClr val="C0504D"/>
                </a:gs>
                <a:gs pos="100000">
                  <a:srgbClr val="4F81BD"/>
                </a:gs>
              </a:gsLst>
              <a:lin ang="5400000" scaled="0"/>
            </a:gra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816078" y="2163978"/>
            <a:ext cx="2292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srgbClr val="4F81BD">
                    <a:lumMod val="75000"/>
                  </a:srgbClr>
                </a:solidFill>
                <a:latin typeface="Calibri"/>
                <a:cs typeface="+mn-cs"/>
              </a:rPr>
              <a:t>Visibility of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rgbClr val="4F81BD">
                    <a:lumMod val="75000"/>
                  </a:srgbClr>
                </a:solidFill>
                <a:latin typeface="Calibri"/>
                <a:cs typeface="+mn-cs"/>
              </a:rPr>
              <a:t>s</a:t>
            </a:r>
            <a:r>
              <a:rPr lang="en-US" b="1" dirty="0" smtClean="0">
                <a:solidFill>
                  <a:srgbClr val="4F81BD">
                    <a:lumMod val="75000"/>
                  </a:srgbClr>
                </a:solidFill>
                <a:latin typeface="Calibri"/>
                <a:cs typeface="+mn-cs"/>
              </a:rPr>
              <a:t>equential</a:t>
            </a:r>
            <a:r>
              <a:rPr lang="en-US" dirty="0" smtClean="0">
                <a:solidFill>
                  <a:srgbClr val="4F81BD">
                    <a:lumMod val="75000"/>
                  </a:srgbClr>
                </a:solidFill>
                <a:latin typeface="Calibri"/>
                <a:cs typeface="+mn-cs"/>
              </a:rPr>
              <a:t> HW</a:t>
            </a:r>
            <a:endParaRPr lang="en-US" dirty="0">
              <a:solidFill>
                <a:srgbClr val="4F81BD">
                  <a:lumMod val="75000"/>
                </a:srgbClr>
              </a:solidFill>
              <a:latin typeface="Calibri"/>
              <a:cs typeface="+mn-cs"/>
            </a:endParaRPr>
          </a:p>
        </p:txBody>
      </p:sp>
      <p:cxnSp>
        <p:nvCxnSpPr>
          <p:cNvPr id="36" name="Straight Connector 35"/>
          <p:cNvCxnSpPr/>
          <p:nvPr/>
        </p:nvCxnSpPr>
        <p:spPr>
          <a:xfrm flipV="1">
            <a:off x="7380754" y="2145738"/>
            <a:ext cx="1344781" cy="2070"/>
          </a:xfrm>
          <a:prstGeom prst="line">
            <a:avLst/>
          </a:prstGeom>
          <a:noFill/>
          <a:ln w="25400" cap="flat" cmpd="sng" algn="ctr">
            <a:solidFill>
              <a:srgbClr val="4F81BD"/>
            </a:solidFill>
            <a:prstDash val="solid"/>
          </a:ln>
          <a:effectLst/>
        </p:spPr>
      </p:cxnSp>
      <p:cxnSp>
        <p:nvCxnSpPr>
          <p:cNvPr id="37" name="Straight Connector 36"/>
          <p:cNvCxnSpPr/>
          <p:nvPr/>
        </p:nvCxnSpPr>
        <p:spPr>
          <a:xfrm>
            <a:off x="7422375" y="2833608"/>
            <a:ext cx="1303160" cy="8359"/>
          </a:xfrm>
          <a:prstGeom prst="line">
            <a:avLst/>
          </a:prstGeom>
          <a:noFill/>
          <a:ln w="25400" cap="flat" cmpd="sng" algn="ctr">
            <a:solidFill>
              <a:srgbClr val="4F81BD"/>
            </a:solidFill>
            <a:prstDash val="solid"/>
          </a:ln>
          <a:effectLst/>
        </p:spPr>
      </p:cxnSp>
      <p:sp>
        <p:nvSpPr>
          <p:cNvPr id="38" name="Right Arrow 37"/>
          <p:cNvSpPr/>
          <p:nvPr/>
        </p:nvSpPr>
        <p:spPr>
          <a:xfrm rot="20419462" flipV="1">
            <a:off x="6796476" y="2576146"/>
            <a:ext cx="331865" cy="246589"/>
          </a:xfrm>
          <a:prstGeom prst="rightArrow">
            <a:avLst/>
          </a:prstGeom>
          <a:solidFill>
            <a:srgbClr val="C0504D">
              <a:lumMod val="60000"/>
              <a:lumOff val="4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Right Arrow 38"/>
          <p:cNvSpPr/>
          <p:nvPr/>
        </p:nvSpPr>
        <p:spPr>
          <a:xfrm rot="1180538">
            <a:off x="6796476" y="2163862"/>
            <a:ext cx="331865" cy="246589"/>
          </a:xfrm>
          <a:prstGeom prst="rightArrow">
            <a:avLst/>
          </a:prstGeom>
          <a:solidFill>
            <a:srgbClr val="C0504D">
              <a:lumMod val="60000"/>
              <a:lumOff val="4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3453284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2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2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0" grpId="0" animBg="1"/>
      <p:bldP spid="31" grpId="0" animBg="1"/>
      <p:bldP spid="32" grpId="0"/>
      <p:bldP spid="33" grpId="0" animBg="1"/>
      <p:bldP spid="34" grpId="0" animBg="1"/>
      <p:bldP spid="35" grpId="0"/>
      <p:bldP spid="38" grpId="0" animBg="1"/>
      <p:bldP spid="39" grpId="0" animBg="1"/>
    </p:bldLst>
  </p:timing>
  <p:extLst mod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Order Important?</a:t>
            </a:r>
            <a:endParaRPr lang="ru-RU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457200" y="857250"/>
            <a:ext cx="8229600" cy="544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kumimoji="0" lang="en-US" sz="2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</a:rPr>
              <a:t>Many mechanisms rely on original program order </a:t>
            </a:r>
            <a:r>
              <a:rPr lang="en-US" sz="2600" dirty="0">
                <a:solidFill>
                  <a:sysClr val="windowText" lastClr="000000"/>
                </a:solidFill>
              </a:rPr>
              <a:t>and unambiguous</a:t>
            </a:r>
            <a:r>
              <a:rPr kumimoji="0" lang="en-US" sz="2600" b="0" i="0" u="none" strike="noStrike" kern="1200" cap="none" spc="0" normalizeH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</a:rPr>
              <a:t> architectural state</a:t>
            </a:r>
            <a:endParaRPr kumimoji="0" lang="en-US" sz="2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2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Precise exceptions: 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nothing after instruction caused an exception can be executed</a:t>
            </a:r>
          </a:p>
          <a:p>
            <a:pPr marL="746125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(1)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r3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 r1 +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r2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746125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(2) r5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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r4 /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r3</a:t>
            </a:r>
          </a:p>
          <a:p>
            <a:pPr marL="746125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(3)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r2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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r7 + r6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24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lang="en-US" sz="2200" b="1" dirty="0" smtClean="0">
                <a:solidFill>
                  <a:sysClr val="windowText" lastClr="000000"/>
                </a:solidFill>
                <a:latin typeface="Calibri"/>
              </a:rPr>
              <a:t>Interrupts</a:t>
            </a:r>
            <a:r>
              <a:rPr kumimoji="0" lang="en-US" sz="22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</a:rPr>
              <a:t>:</a:t>
            </a:r>
            <a:r>
              <a:rPr kumimoji="0" lang="ru-RU" sz="2200" b="1" i="0" u="none" strike="noStrike" kern="1200" cap="none" spc="0" normalizeH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</a:rPr>
              <a:t> </a:t>
            </a:r>
            <a:r>
              <a:rPr lang="en-US" sz="2200" dirty="0" smtClean="0">
                <a:solidFill>
                  <a:sysClr val="windowText" lastClr="000000"/>
                </a:solidFill>
                <a:latin typeface="Calibri"/>
              </a:rPr>
              <a:t>need to save the arch state to be able to correctly restart the program lately</a:t>
            </a:r>
            <a:endParaRPr lang="en-US" sz="2200" dirty="0">
              <a:solidFill>
                <a:sysClr val="windowText" lastClr="000000"/>
              </a:solidFill>
              <a:latin typeface="Calibri"/>
            </a:endParaRPr>
          </a:p>
          <a:p>
            <a:pPr marL="746125" lvl="0" indent="0">
              <a:spcBef>
                <a:spcPts val="600"/>
              </a:spcBef>
              <a:buNone/>
              <a:defRPr/>
            </a:pPr>
            <a:r>
              <a:rPr lang="en-US" sz="2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(1) r5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 </a:t>
            </a:r>
            <a:r>
              <a:rPr lang="en-US" sz="2000" dirty="0" err="1" smtClean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Mem</a:t>
            </a:r>
            <a:r>
              <a:rPr lang="en-US" sz="2000" dirty="0" smtClean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[r4]</a:t>
            </a:r>
            <a:r>
              <a:rPr lang="en-US" sz="2000" dirty="0" smtClean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 </a:t>
            </a:r>
            <a:endParaRPr lang="en-US" sz="2000" dirty="0" smtClean="0">
              <a:solidFill>
                <a:schemeClr val="bg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746125" lvl="0" indent="0">
              <a:spcBef>
                <a:spcPts val="600"/>
              </a:spcBef>
              <a:buNone/>
              <a:defRPr/>
            </a:pPr>
            <a:r>
              <a:rPr lang="en-US" sz="2000" dirty="0" smtClean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(2)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r>
              <a:rPr lang="en-US" sz="2000" dirty="0">
                <a:solidFill>
                  <a:srgbClr val="C0504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 r1 + 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r2</a:t>
            </a:r>
            <a:endParaRPr lang="en-US" sz="20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746125" lvl="0" indent="0">
              <a:buNone/>
              <a:defRPr/>
            </a:pPr>
            <a:r>
              <a:rPr lang="en-US" sz="2000" dirty="0" smtClean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(3) 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sz="2000" dirty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</a:t>
            </a:r>
            <a:r>
              <a:rPr lang="en-US" sz="2000" dirty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r7 + </a:t>
            </a:r>
            <a:r>
              <a:rPr lang="en-US" sz="2000" dirty="0" smtClean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r6</a:t>
            </a:r>
          </a:p>
          <a:p>
            <a:pPr lvl="1">
              <a:spcBef>
                <a:spcPts val="1800"/>
              </a:spcBef>
            </a:pPr>
            <a:r>
              <a:rPr lang="en-US" sz="2200" b="1" dirty="0" smtClean="0">
                <a:solidFill>
                  <a:sysClr val="windowText" lastClr="000000"/>
                </a:solidFill>
                <a:latin typeface="Calibri"/>
              </a:rPr>
              <a:t>And others…</a:t>
            </a:r>
            <a:endParaRPr lang="en-US" sz="2200" b="1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8" name="Rounded Rectangular Callout 7"/>
          <p:cNvSpPr/>
          <p:nvPr/>
        </p:nvSpPr>
        <p:spPr>
          <a:xfrm>
            <a:off x="4171949" y="2576225"/>
            <a:ext cx="4371976" cy="1005175"/>
          </a:xfrm>
          <a:prstGeom prst="wedgeRoundRectCallout">
            <a:avLst>
              <a:gd name="adj1" fmla="val -58960"/>
              <a:gd name="adj2" fmla="val -3885"/>
              <a:gd name="adj3" fmla="val 16667"/>
            </a:avLst>
          </a:prstGeom>
          <a:solidFill>
            <a:sysClr val="window" lastClr="FFFFFF"/>
          </a:solidFill>
          <a:ln w="19050" cap="flat" cmpd="sng" algn="ctr">
            <a:solidFill>
              <a:srgbClr val="4F81BD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Instructions were executed in the following order: 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(1)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onsolas" panose="020B0609020204030204" pitchFamily="49" charset="0"/>
              </a:rPr>
              <a:t> → 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(3)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onsolas" panose="020B0609020204030204" pitchFamily="49" charset="0"/>
              </a:rPr>
              <a:t> → 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(2). </a:t>
            </a:r>
            <a:r>
              <a:rPr lang="en-US" kern="0" dirty="0" smtClean="0">
                <a:solidFill>
                  <a:prstClr val="black"/>
                </a:solidFill>
                <a:latin typeface="Calibri"/>
                <a:cs typeface="+mn-cs"/>
              </a:rPr>
              <a:t>T</a:t>
            </a:r>
            <a:r>
              <a:rPr kumimoji="0" lang="en-US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hen, 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(2)</a:t>
            </a:r>
            <a:r>
              <a:rPr kumimoji="0" lang="en-US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led to exception.</a:t>
            </a:r>
            <a:r>
              <a:rPr kumimoji="0" lang="en-US" b="0" i="0" u="none" strike="noStrike" kern="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endParaRPr kumimoji="0" lang="en-US" b="0" i="1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+mn-cs"/>
            </a:endParaRPr>
          </a:p>
        </p:txBody>
      </p:sp>
      <p:sp>
        <p:nvSpPr>
          <p:cNvPr id="11" name="Rounded Rectangular Callout 10"/>
          <p:cNvSpPr/>
          <p:nvPr/>
        </p:nvSpPr>
        <p:spPr>
          <a:xfrm>
            <a:off x="4162425" y="4699744"/>
            <a:ext cx="4381500" cy="1062882"/>
          </a:xfrm>
          <a:prstGeom prst="wedgeRoundRectCallout">
            <a:avLst>
              <a:gd name="adj1" fmla="val -57458"/>
              <a:gd name="adj2" fmla="val -32704"/>
              <a:gd name="adj3" fmla="val 16667"/>
            </a:avLst>
          </a:prstGeom>
          <a:solidFill>
            <a:sysClr val="window" lastClr="FFFFFF"/>
          </a:solidFill>
          <a:ln w="19050" cap="flat" cmpd="sng" algn="ctr">
            <a:solidFill>
              <a:srgbClr val="4F81BD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kern="0" dirty="0">
                <a:solidFill>
                  <a:prstClr val="black"/>
                </a:solidFill>
                <a:latin typeface="Calibri"/>
                <a:cs typeface="Consolas" panose="020B0609020204030204" pitchFamily="49" charset="0"/>
              </a:rPr>
              <a:t>For example, 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(</a:t>
            </a:r>
            <a:r>
              <a:rPr lang="en-US" sz="1600" kern="0" dirty="0" smtClean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)</a:t>
            </a:r>
            <a:r>
              <a:rPr lang="en-US" kern="0" dirty="0">
                <a:solidFill>
                  <a:prstClr val="black"/>
                </a:solidFill>
                <a:latin typeface="Calibri"/>
                <a:cs typeface="Consolas" panose="020B0609020204030204" pitchFamily="49" charset="0"/>
              </a:rPr>
              <a:t> </a:t>
            </a:r>
            <a:r>
              <a:rPr lang="en-US" kern="0" dirty="0" smtClean="0">
                <a:solidFill>
                  <a:prstClr val="black"/>
                </a:solidFill>
                <a:latin typeface="Calibri"/>
                <a:cs typeface="Consolas" panose="020B0609020204030204" pitchFamily="49" charset="0"/>
              </a:rPr>
              <a:t>and</a:t>
            </a:r>
            <a:r>
              <a:rPr kumimoji="0" lang="en-US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onsolas" panose="020B0609020204030204" pitchFamily="49" charset="0"/>
              </a:rPr>
              <a:t> 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(3)</a:t>
            </a:r>
            <a:r>
              <a:rPr lang="en-US" kern="0" dirty="0">
                <a:solidFill>
                  <a:prstClr val="black"/>
                </a:solidFill>
                <a:latin typeface="Calibri"/>
                <a:cs typeface="Consolas" panose="020B0609020204030204" pitchFamily="49" charset="0"/>
              </a:rPr>
              <a:t> </a:t>
            </a:r>
            <a:r>
              <a:rPr lang="en-US" kern="0" dirty="0" smtClean="0">
                <a:solidFill>
                  <a:prstClr val="black"/>
                </a:solidFill>
                <a:latin typeface="Calibri"/>
                <a:cs typeface="Consolas" panose="020B0609020204030204" pitchFamily="49" charset="0"/>
              </a:rPr>
              <a:t>were executed, but </a:t>
            </a:r>
            <a:r>
              <a:rPr lang="en-US" sz="1600" kern="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(1)</a:t>
            </a:r>
            <a:r>
              <a:rPr lang="en-US" kern="0" dirty="0">
                <a:solidFill>
                  <a:prstClr val="black"/>
                </a:solidFill>
                <a:latin typeface="Calibri"/>
                <a:cs typeface="Consolas" panose="020B0609020204030204" pitchFamily="49" charset="0"/>
              </a:rPr>
              <a:t> was </a:t>
            </a:r>
            <a:r>
              <a:rPr lang="en-US" kern="0" dirty="0" smtClean="0">
                <a:solidFill>
                  <a:prstClr val="black"/>
                </a:solidFill>
                <a:latin typeface="Calibri"/>
                <a:cs typeface="Consolas" panose="020B0609020204030204" pitchFamily="49" charset="0"/>
              </a:rPr>
              <a:t>not. Then, interrupt occurred. </a:t>
            </a:r>
            <a:r>
              <a:rPr lang="en-US" i="1" kern="0" dirty="0" smtClean="0">
                <a:solidFill>
                  <a:schemeClr val="bg1"/>
                </a:solidFill>
                <a:latin typeface="Calibri"/>
                <a:cs typeface="+mn-cs"/>
              </a:rPr>
              <a:t>From what IP</a:t>
            </a:r>
            <a:r>
              <a:rPr lang="ru-RU" i="1" kern="0" dirty="0" smtClean="0">
                <a:solidFill>
                  <a:schemeClr val="bg1"/>
                </a:solidFill>
                <a:latin typeface="Calibri"/>
                <a:cs typeface="+mn-cs"/>
              </a:rPr>
              <a:t> </a:t>
            </a:r>
            <a:r>
              <a:rPr lang="en-US" i="1" kern="0" dirty="0" smtClean="0">
                <a:solidFill>
                  <a:schemeClr val="bg1"/>
                </a:solidFill>
                <a:latin typeface="Calibri"/>
                <a:cs typeface="+mn-cs"/>
              </a:rPr>
              <a:t>to restart? What to save? </a:t>
            </a:r>
            <a:endParaRPr kumimoji="0" lang="en-US" b="0" i="1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1266825" y="4703663"/>
            <a:ext cx="2505075" cy="390525"/>
          </a:xfrm>
          <a:prstGeom prst="rect">
            <a:avLst/>
          </a:prstGeom>
          <a:solidFill>
            <a:srgbClr val="FFFFFF">
              <a:alpha val="60000"/>
            </a:srgbClr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ru-RU" sz="2000" dirty="0" smtClean="0">
              <a:latin typeface="+mj-lt"/>
              <a:cs typeface="Arial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297502" y="3164443"/>
            <a:ext cx="31582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b="1" i="1" kern="0" dirty="0">
                <a:solidFill>
                  <a:prstClr val="black"/>
                </a:solidFill>
                <a:latin typeface="Calibri"/>
              </a:rPr>
              <a:t>Where to take old value or </a:t>
            </a:r>
            <a:r>
              <a:rPr lang="en-US" b="1" i="1" kern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b="1" i="1" kern="0" dirty="0">
                <a:solidFill>
                  <a:prstClr val="black"/>
                </a:solidFill>
                <a:latin typeface="Calibri"/>
              </a:rPr>
              <a:t>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19574" y="5355194"/>
            <a:ext cx="40222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b="1" i="1" kern="0" dirty="0">
                <a:solidFill>
                  <a:prstClr val="black"/>
                </a:solidFill>
                <a:latin typeface="Calibri"/>
              </a:rPr>
              <a:t>From what IP</a:t>
            </a:r>
            <a:r>
              <a:rPr lang="ru-RU" b="1" i="1" kern="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b="1" i="1" kern="0" dirty="0">
                <a:solidFill>
                  <a:prstClr val="black"/>
                </a:solidFill>
                <a:latin typeface="Calibri"/>
              </a:rPr>
              <a:t>to restart? What to save?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3927426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2" grpId="0" animBg="1"/>
      <p:bldP spid="15" grpId="0"/>
      <p:bldP spid="16" grpId="0"/>
    </p:bldLst>
  </p:timing>
  <p:extLst mod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Maintaining Arch State</a:t>
            </a:r>
            <a:endParaRPr lang="ru-RU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 bwMode="auto">
          <a:xfrm>
            <a:off x="457200" y="981538"/>
            <a:ext cx="8229600" cy="3142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5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Solution: </a:t>
            </a:r>
            <a:r>
              <a:rPr kumimoji="0" lang="en-US" sz="25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support two state, speculative and architectural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5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Update arch state in program order using special buffer called ROB (</a:t>
            </a:r>
            <a:r>
              <a:rPr kumimoji="0" lang="en-US" sz="25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5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</a:t>
            </a:r>
            <a:r>
              <a:rPr kumimoji="0" lang="en-US" sz="25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</a:t>
            </a:r>
            <a:r>
              <a:rPr kumimoji="0" lang="en-US" sz="25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rder </a:t>
            </a:r>
            <a:r>
              <a:rPr kumimoji="0" lang="en-US" sz="25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5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uffer) or </a:t>
            </a:r>
            <a:r>
              <a:rPr kumimoji="0" lang="en-US" sz="25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instruction window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1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Instructions written and stored in-order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1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Instruction leaves ROB (retired) and update arch state only if it is the oldest one and has been executed</a:t>
            </a:r>
            <a:endParaRPr kumimoji="0" lang="ru-RU" sz="21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Circular Arrow 3"/>
          <p:cNvSpPr/>
          <p:nvPr/>
        </p:nvSpPr>
        <p:spPr>
          <a:xfrm rot="17318471" flipH="1">
            <a:off x="4229544" y="4554825"/>
            <a:ext cx="681239" cy="756816"/>
          </a:xfrm>
          <a:prstGeom prst="circularArrow">
            <a:avLst>
              <a:gd name="adj1" fmla="val 9805"/>
              <a:gd name="adj2" fmla="val 1142319"/>
              <a:gd name="adj3" fmla="val 18924432"/>
              <a:gd name="adj4" fmla="val 12670191"/>
              <a:gd name="adj5" fmla="val 11166"/>
            </a:avLst>
          </a:prstGeom>
          <a:solidFill>
            <a:srgbClr val="C0504D">
              <a:lumMod val="75000"/>
            </a:srgbClr>
          </a:solidFill>
          <a:ln w="25400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Circular Arrow 4"/>
          <p:cNvSpPr/>
          <p:nvPr/>
        </p:nvSpPr>
        <p:spPr>
          <a:xfrm rot="17571999" flipV="1">
            <a:off x="4150466" y="4602302"/>
            <a:ext cx="681239" cy="756816"/>
          </a:xfrm>
          <a:prstGeom prst="circularArrow">
            <a:avLst>
              <a:gd name="adj1" fmla="val 9805"/>
              <a:gd name="adj2" fmla="val 1142319"/>
              <a:gd name="adj3" fmla="val 18924432"/>
              <a:gd name="adj4" fmla="val 12670191"/>
              <a:gd name="adj5" fmla="val 11166"/>
            </a:avLst>
          </a:prstGeom>
          <a:solidFill>
            <a:srgbClr val="C0504D">
              <a:lumMod val="75000"/>
            </a:srgbClr>
          </a:solidFill>
          <a:ln w="25400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Circular Arrow 5"/>
          <p:cNvSpPr/>
          <p:nvPr/>
        </p:nvSpPr>
        <p:spPr>
          <a:xfrm rot="17318471" flipH="1">
            <a:off x="4228438" y="4550785"/>
            <a:ext cx="681239" cy="756816"/>
          </a:xfrm>
          <a:prstGeom prst="circularArrow">
            <a:avLst>
              <a:gd name="adj1" fmla="val 9805"/>
              <a:gd name="adj2" fmla="val 1142319"/>
              <a:gd name="adj3" fmla="val 18924432"/>
              <a:gd name="adj4" fmla="val 12670191"/>
              <a:gd name="adj5" fmla="val 11166"/>
            </a:avLst>
          </a:prstGeom>
          <a:solidFill>
            <a:srgbClr val="C0504D">
              <a:lumMod val="75000"/>
            </a:srgbClr>
          </a:solidFill>
          <a:ln w="25400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Circular Arrow 6"/>
          <p:cNvSpPr/>
          <p:nvPr/>
        </p:nvSpPr>
        <p:spPr>
          <a:xfrm rot="17571999" flipV="1">
            <a:off x="4155286" y="4605649"/>
            <a:ext cx="681239" cy="756816"/>
          </a:xfrm>
          <a:prstGeom prst="circularArrow">
            <a:avLst>
              <a:gd name="adj1" fmla="val 9805"/>
              <a:gd name="adj2" fmla="val 1142319"/>
              <a:gd name="adj3" fmla="val 18924432"/>
              <a:gd name="adj4" fmla="val 12670191"/>
              <a:gd name="adj5" fmla="val 11166"/>
            </a:avLst>
          </a:prstGeom>
          <a:solidFill>
            <a:srgbClr val="C0504D">
              <a:lumMod val="75000"/>
            </a:srgbClr>
          </a:solidFill>
          <a:ln w="25400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5156341" y="4199633"/>
            <a:ext cx="392050" cy="168022"/>
          </a:xfrm>
          <a:prstGeom prst="rightArrow">
            <a:avLst/>
          </a:prstGeom>
          <a:solidFill>
            <a:srgbClr val="4F81BD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621565" y="3850340"/>
            <a:ext cx="1253102" cy="866608"/>
          </a:xfrm>
          <a:prstGeom prst="rect">
            <a:avLst/>
          </a:prstGeom>
          <a:solidFill>
            <a:srgbClr val="4F81BD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4F81BD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Retirement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11967" y="3842271"/>
            <a:ext cx="1448409" cy="880567"/>
          </a:xfrm>
          <a:prstGeom prst="rect">
            <a:avLst/>
          </a:prstGeom>
          <a:solidFill>
            <a:srgbClr val="C0504D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C0504D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Instruction window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11967" y="5193032"/>
            <a:ext cx="1446583" cy="881167"/>
          </a:xfrm>
          <a:prstGeom prst="rect">
            <a:avLst/>
          </a:prstGeom>
          <a:solidFill>
            <a:srgbClr val="C0504D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C0504D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Out-of-order execution 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355243" y="4199633"/>
            <a:ext cx="392050" cy="168022"/>
          </a:xfrm>
          <a:prstGeom prst="rightArrow">
            <a:avLst/>
          </a:prstGeom>
          <a:solidFill>
            <a:srgbClr val="4F81BD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211663" y="3850340"/>
            <a:ext cx="1253102" cy="866608"/>
          </a:xfrm>
          <a:prstGeom prst="rect">
            <a:avLst/>
          </a:prstGeom>
          <a:solidFill>
            <a:srgbClr val="4F81BD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4F81BD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Fetch 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4F81BD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&amp;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4F81BD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Decode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222" y="3959388"/>
            <a:ext cx="1295386" cy="64633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b="1" dirty="0" smtClean="0">
                <a:solidFill>
                  <a:srgbClr val="4F81BD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+mn-cs"/>
              </a:rPr>
              <a:t>Sequential</a:t>
            </a:r>
            <a:r>
              <a:rPr lang="en-US" dirty="0" smtClean="0">
                <a:solidFill>
                  <a:srgbClr val="4F81BD">
                    <a:lumMod val="75000"/>
                  </a:srgbClr>
                </a:solidFill>
                <a:latin typeface="Calibri"/>
                <a:cs typeface="+mn-cs"/>
              </a:rPr>
              <a:t> code</a:t>
            </a:r>
          </a:p>
        </p:txBody>
      </p:sp>
      <p:sp>
        <p:nvSpPr>
          <p:cNvPr id="15" name="Notched Right Arrow 56"/>
          <p:cNvSpPr/>
          <p:nvPr/>
        </p:nvSpPr>
        <p:spPr>
          <a:xfrm>
            <a:off x="1779608" y="4150402"/>
            <a:ext cx="336526" cy="266483"/>
          </a:xfrm>
          <a:custGeom>
            <a:avLst/>
            <a:gdLst>
              <a:gd name="connsiteX0" fmla="*/ 0 w 469901"/>
              <a:gd name="connsiteY0" fmla="*/ 92319 h 369277"/>
              <a:gd name="connsiteX1" fmla="*/ 285263 w 469901"/>
              <a:gd name="connsiteY1" fmla="*/ 92319 h 369277"/>
              <a:gd name="connsiteX2" fmla="*/ 285263 w 469901"/>
              <a:gd name="connsiteY2" fmla="*/ 0 h 369277"/>
              <a:gd name="connsiteX3" fmla="*/ 469901 w 469901"/>
              <a:gd name="connsiteY3" fmla="*/ 184639 h 369277"/>
              <a:gd name="connsiteX4" fmla="*/ 285263 w 469901"/>
              <a:gd name="connsiteY4" fmla="*/ 369277 h 369277"/>
              <a:gd name="connsiteX5" fmla="*/ 285263 w 469901"/>
              <a:gd name="connsiteY5" fmla="*/ 276958 h 369277"/>
              <a:gd name="connsiteX6" fmla="*/ 0 w 469901"/>
              <a:gd name="connsiteY6" fmla="*/ 276958 h 369277"/>
              <a:gd name="connsiteX7" fmla="*/ 92319 w 469901"/>
              <a:gd name="connsiteY7" fmla="*/ 184639 h 369277"/>
              <a:gd name="connsiteX8" fmla="*/ 0 w 469901"/>
              <a:gd name="connsiteY8" fmla="*/ 92319 h 369277"/>
              <a:gd name="connsiteX0" fmla="*/ 7620 w 469901"/>
              <a:gd name="connsiteY0" fmla="*/ 0 h 381098"/>
              <a:gd name="connsiteX1" fmla="*/ 285263 w 469901"/>
              <a:gd name="connsiteY1" fmla="*/ 104140 h 381098"/>
              <a:gd name="connsiteX2" fmla="*/ 285263 w 469901"/>
              <a:gd name="connsiteY2" fmla="*/ 11821 h 381098"/>
              <a:gd name="connsiteX3" fmla="*/ 469901 w 469901"/>
              <a:gd name="connsiteY3" fmla="*/ 196460 h 381098"/>
              <a:gd name="connsiteX4" fmla="*/ 285263 w 469901"/>
              <a:gd name="connsiteY4" fmla="*/ 381098 h 381098"/>
              <a:gd name="connsiteX5" fmla="*/ 285263 w 469901"/>
              <a:gd name="connsiteY5" fmla="*/ 288779 h 381098"/>
              <a:gd name="connsiteX6" fmla="*/ 0 w 469901"/>
              <a:gd name="connsiteY6" fmla="*/ 288779 h 381098"/>
              <a:gd name="connsiteX7" fmla="*/ 92319 w 469901"/>
              <a:gd name="connsiteY7" fmla="*/ 196460 h 381098"/>
              <a:gd name="connsiteX8" fmla="*/ 7620 w 469901"/>
              <a:gd name="connsiteY8" fmla="*/ 0 h 381098"/>
              <a:gd name="connsiteX0" fmla="*/ 0 w 462281"/>
              <a:gd name="connsiteY0" fmla="*/ 0 h 420859"/>
              <a:gd name="connsiteX1" fmla="*/ 277643 w 462281"/>
              <a:gd name="connsiteY1" fmla="*/ 104140 h 420859"/>
              <a:gd name="connsiteX2" fmla="*/ 277643 w 462281"/>
              <a:gd name="connsiteY2" fmla="*/ 11821 h 420859"/>
              <a:gd name="connsiteX3" fmla="*/ 462281 w 462281"/>
              <a:gd name="connsiteY3" fmla="*/ 196460 h 420859"/>
              <a:gd name="connsiteX4" fmla="*/ 277643 w 462281"/>
              <a:gd name="connsiteY4" fmla="*/ 381098 h 420859"/>
              <a:gd name="connsiteX5" fmla="*/ 277643 w 462281"/>
              <a:gd name="connsiteY5" fmla="*/ 288779 h 420859"/>
              <a:gd name="connsiteX6" fmla="*/ 0 w 462281"/>
              <a:gd name="connsiteY6" fmla="*/ 420859 h 420859"/>
              <a:gd name="connsiteX7" fmla="*/ 84699 w 462281"/>
              <a:gd name="connsiteY7" fmla="*/ 196460 h 420859"/>
              <a:gd name="connsiteX8" fmla="*/ 0 w 462281"/>
              <a:gd name="connsiteY8" fmla="*/ 0 h 420859"/>
              <a:gd name="connsiteX0" fmla="*/ 0 w 462281"/>
              <a:gd name="connsiteY0" fmla="*/ 0 h 420859"/>
              <a:gd name="connsiteX1" fmla="*/ 277643 w 462281"/>
              <a:gd name="connsiteY1" fmla="*/ 104140 h 420859"/>
              <a:gd name="connsiteX2" fmla="*/ 277643 w 462281"/>
              <a:gd name="connsiteY2" fmla="*/ 11821 h 420859"/>
              <a:gd name="connsiteX3" fmla="*/ 462281 w 462281"/>
              <a:gd name="connsiteY3" fmla="*/ 196460 h 420859"/>
              <a:gd name="connsiteX4" fmla="*/ 277643 w 462281"/>
              <a:gd name="connsiteY4" fmla="*/ 381098 h 420859"/>
              <a:gd name="connsiteX5" fmla="*/ 277643 w 462281"/>
              <a:gd name="connsiteY5" fmla="*/ 288779 h 420859"/>
              <a:gd name="connsiteX6" fmla="*/ 0 w 462281"/>
              <a:gd name="connsiteY6" fmla="*/ 420859 h 420859"/>
              <a:gd name="connsiteX7" fmla="*/ 84699 w 462281"/>
              <a:gd name="connsiteY7" fmla="*/ 196460 h 420859"/>
              <a:gd name="connsiteX8" fmla="*/ 0 w 462281"/>
              <a:gd name="connsiteY8" fmla="*/ 0 h 420859"/>
              <a:gd name="connsiteX0" fmla="*/ 0 w 462281"/>
              <a:gd name="connsiteY0" fmla="*/ 0 h 420859"/>
              <a:gd name="connsiteX1" fmla="*/ 277643 w 462281"/>
              <a:gd name="connsiteY1" fmla="*/ 104140 h 420859"/>
              <a:gd name="connsiteX2" fmla="*/ 277643 w 462281"/>
              <a:gd name="connsiteY2" fmla="*/ 11821 h 420859"/>
              <a:gd name="connsiteX3" fmla="*/ 462281 w 462281"/>
              <a:gd name="connsiteY3" fmla="*/ 196460 h 420859"/>
              <a:gd name="connsiteX4" fmla="*/ 277643 w 462281"/>
              <a:gd name="connsiteY4" fmla="*/ 381098 h 420859"/>
              <a:gd name="connsiteX5" fmla="*/ 277643 w 462281"/>
              <a:gd name="connsiteY5" fmla="*/ 288779 h 420859"/>
              <a:gd name="connsiteX6" fmla="*/ 0 w 462281"/>
              <a:gd name="connsiteY6" fmla="*/ 420859 h 420859"/>
              <a:gd name="connsiteX7" fmla="*/ 84699 w 462281"/>
              <a:gd name="connsiteY7" fmla="*/ 196460 h 420859"/>
              <a:gd name="connsiteX8" fmla="*/ 0 w 462281"/>
              <a:gd name="connsiteY8" fmla="*/ 0 h 420859"/>
              <a:gd name="connsiteX0" fmla="*/ 84699 w 462281"/>
              <a:gd name="connsiteY0" fmla="*/ 196460 h 420859"/>
              <a:gd name="connsiteX1" fmla="*/ 0 w 462281"/>
              <a:gd name="connsiteY1" fmla="*/ 0 h 420859"/>
              <a:gd name="connsiteX2" fmla="*/ 277643 w 462281"/>
              <a:gd name="connsiteY2" fmla="*/ 104140 h 420859"/>
              <a:gd name="connsiteX3" fmla="*/ 277643 w 462281"/>
              <a:gd name="connsiteY3" fmla="*/ 11821 h 420859"/>
              <a:gd name="connsiteX4" fmla="*/ 462281 w 462281"/>
              <a:gd name="connsiteY4" fmla="*/ 196460 h 420859"/>
              <a:gd name="connsiteX5" fmla="*/ 277643 w 462281"/>
              <a:gd name="connsiteY5" fmla="*/ 381098 h 420859"/>
              <a:gd name="connsiteX6" fmla="*/ 277643 w 462281"/>
              <a:gd name="connsiteY6" fmla="*/ 288779 h 420859"/>
              <a:gd name="connsiteX7" fmla="*/ 0 w 462281"/>
              <a:gd name="connsiteY7" fmla="*/ 420859 h 420859"/>
              <a:gd name="connsiteX8" fmla="*/ 176139 w 462281"/>
              <a:gd name="connsiteY8" fmla="*/ 287900 h 420859"/>
              <a:gd name="connsiteX0" fmla="*/ 0 w 462281"/>
              <a:gd name="connsiteY0" fmla="*/ 0 h 420859"/>
              <a:gd name="connsiteX1" fmla="*/ 277643 w 462281"/>
              <a:gd name="connsiteY1" fmla="*/ 104140 h 420859"/>
              <a:gd name="connsiteX2" fmla="*/ 277643 w 462281"/>
              <a:gd name="connsiteY2" fmla="*/ 11821 h 420859"/>
              <a:gd name="connsiteX3" fmla="*/ 462281 w 462281"/>
              <a:gd name="connsiteY3" fmla="*/ 196460 h 420859"/>
              <a:gd name="connsiteX4" fmla="*/ 277643 w 462281"/>
              <a:gd name="connsiteY4" fmla="*/ 381098 h 420859"/>
              <a:gd name="connsiteX5" fmla="*/ 277643 w 462281"/>
              <a:gd name="connsiteY5" fmla="*/ 288779 h 420859"/>
              <a:gd name="connsiteX6" fmla="*/ 0 w 462281"/>
              <a:gd name="connsiteY6" fmla="*/ 420859 h 420859"/>
              <a:gd name="connsiteX7" fmla="*/ 176139 w 462281"/>
              <a:gd name="connsiteY7" fmla="*/ 287900 h 420859"/>
              <a:gd name="connsiteX0" fmla="*/ 0 w 462281"/>
              <a:gd name="connsiteY0" fmla="*/ 0 h 420859"/>
              <a:gd name="connsiteX1" fmla="*/ 277643 w 462281"/>
              <a:gd name="connsiteY1" fmla="*/ 104140 h 420859"/>
              <a:gd name="connsiteX2" fmla="*/ 277643 w 462281"/>
              <a:gd name="connsiteY2" fmla="*/ 11821 h 420859"/>
              <a:gd name="connsiteX3" fmla="*/ 462281 w 462281"/>
              <a:gd name="connsiteY3" fmla="*/ 196460 h 420859"/>
              <a:gd name="connsiteX4" fmla="*/ 277643 w 462281"/>
              <a:gd name="connsiteY4" fmla="*/ 381098 h 420859"/>
              <a:gd name="connsiteX5" fmla="*/ 277643 w 462281"/>
              <a:gd name="connsiteY5" fmla="*/ 288779 h 420859"/>
              <a:gd name="connsiteX6" fmla="*/ 0 w 462281"/>
              <a:gd name="connsiteY6" fmla="*/ 420859 h 420859"/>
              <a:gd name="connsiteX0" fmla="*/ 0 w 462281"/>
              <a:gd name="connsiteY0" fmla="*/ 0 h 420859"/>
              <a:gd name="connsiteX1" fmla="*/ 277643 w 462281"/>
              <a:gd name="connsiteY1" fmla="*/ 104140 h 420859"/>
              <a:gd name="connsiteX2" fmla="*/ 277643 w 462281"/>
              <a:gd name="connsiteY2" fmla="*/ 11821 h 420859"/>
              <a:gd name="connsiteX3" fmla="*/ 462281 w 462281"/>
              <a:gd name="connsiteY3" fmla="*/ 196460 h 420859"/>
              <a:gd name="connsiteX4" fmla="*/ 277643 w 462281"/>
              <a:gd name="connsiteY4" fmla="*/ 381098 h 420859"/>
              <a:gd name="connsiteX5" fmla="*/ 277643 w 462281"/>
              <a:gd name="connsiteY5" fmla="*/ 288779 h 420859"/>
              <a:gd name="connsiteX6" fmla="*/ 0 w 462281"/>
              <a:gd name="connsiteY6" fmla="*/ 420859 h 420859"/>
              <a:gd name="connsiteX0" fmla="*/ 0 w 462281"/>
              <a:gd name="connsiteY0" fmla="*/ 0 h 420859"/>
              <a:gd name="connsiteX1" fmla="*/ 277643 w 462281"/>
              <a:gd name="connsiteY1" fmla="*/ 104140 h 420859"/>
              <a:gd name="connsiteX2" fmla="*/ 277643 w 462281"/>
              <a:gd name="connsiteY2" fmla="*/ 11821 h 420859"/>
              <a:gd name="connsiteX3" fmla="*/ 462281 w 462281"/>
              <a:gd name="connsiteY3" fmla="*/ 196460 h 420859"/>
              <a:gd name="connsiteX4" fmla="*/ 277643 w 462281"/>
              <a:gd name="connsiteY4" fmla="*/ 381098 h 420859"/>
              <a:gd name="connsiteX5" fmla="*/ 277643 w 462281"/>
              <a:gd name="connsiteY5" fmla="*/ 288779 h 420859"/>
              <a:gd name="connsiteX6" fmla="*/ 0 w 462281"/>
              <a:gd name="connsiteY6" fmla="*/ 420859 h 420859"/>
              <a:gd name="connsiteX0" fmla="*/ 0 w 462281"/>
              <a:gd name="connsiteY0" fmla="*/ 0 h 420859"/>
              <a:gd name="connsiteX1" fmla="*/ 277643 w 462281"/>
              <a:gd name="connsiteY1" fmla="*/ 104140 h 420859"/>
              <a:gd name="connsiteX2" fmla="*/ 277643 w 462281"/>
              <a:gd name="connsiteY2" fmla="*/ 11821 h 420859"/>
              <a:gd name="connsiteX3" fmla="*/ 462281 w 462281"/>
              <a:gd name="connsiteY3" fmla="*/ 196460 h 420859"/>
              <a:gd name="connsiteX4" fmla="*/ 277643 w 462281"/>
              <a:gd name="connsiteY4" fmla="*/ 381098 h 420859"/>
              <a:gd name="connsiteX5" fmla="*/ 277643 w 462281"/>
              <a:gd name="connsiteY5" fmla="*/ 288779 h 420859"/>
              <a:gd name="connsiteX6" fmla="*/ 0 w 462281"/>
              <a:gd name="connsiteY6" fmla="*/ 420859 h 420859"/>
              <a:gd name="connsiteX0" fmla="*/ 0 w 462281"/>
              <a:gd name="connsiteY0" fmla="*/ 0 h 420859"/>
              <a:gd name="connsiteX1" fmla="*/ 277643 w 462281"/>
              <a:gd name="connsiteY1" fmla="*/ 104140 h 420859"/>
              <a:gd name="connsiteX2" fmla="*/ 277643 w 462281"/>
              <a:gd name="connsiteY2" fmla="*/ 11821 h 420859"/>
              <a:gd name="connsiteX3" fmla="*/ 462281 w 462281"/>
              <a:gd name="connsiteY3" fmla="*/ 196460 h 420859"/>
              <a:gd name="connsiteX4" fmla="*/ 277643 w 462281"/>
              <a:gd name="connsiteY4" fmla="*/ 381098 h 420859"/>
              <a:gd name="connsiteX5" fmla="*/ 277643 w 462281"/>
              <a:gd name="connsiteY5" fmla="*/ 288779 h 420859"/>
              <a:gd name="connsiteX6" fmla="*/ 0 w 462281"/>
              <a:gd name="connsiteY6" fmla="*/ 420859 h 420859"/>
              <a:gd name="connsiteX0" fmla="*/ 0 w 462281"/>
              <a:gd name="connsiteY0" fmla="*/ 0 h 420859"/>
              <a:gd name="connsiteX1" fmla="*/ 277643 w 462281"/>
              <a:gd name="connsiteY1" fmla="*/ 104140 h 420859"/>
              <a:gd name="connsiteX2" fmla="*/ 277643 w 462281"/>
              <a:gd name="connsiteY2" fmla="*/ 11821 h 420859"/>
              <a:gd name="connsiteX3" fmla="*/ 462281 w 462281"/>
              <a:gd name="connsiteY3" fmla="*/ 196460 h 420859"/>
              <a:gd name="connsiteX4" fmla="*/ 277643 w 462281"/>
              <a:gd name="connsiteY4" fmla="*/ 381098 h 420859"/>
              <a:gd name="connsiteX5" fmla="*/ 277643 w 462281"/>
              <a:gd name="connsiteY5" fmla="*/ 288779 h 420859"/>
              <a:gd name="connsiteX6" fmla="*/ 0 w 462281"/>
              <a:gd name="connsiteY6" fmla="*/ 420859 h 420859"/>
              <a:gd name="connsiteX0" fmla="*/ 0 w 421641"/>
              <a:gd name="connsiteY0" fmla="*/ 0 h 420859"/>
              <a:gd name="connsiteX1" fmla="*/ 277643 w 421641"/>
              <a:gd name="connsiteY1" fmla="*/ 104140 h 420859"/>
              <a:gd name="connsiteX2" fmla="*/ 277643 w 421641"/>
              <a:gd name="connsiteY2" fmla="*/ 11821 h 420859"/>
              <a:gd name="connsiteX3" fmla="*/ 421641 w 421641"/>
              <a:gd name="connsiteY3" fmla="*/ 196460 h 420859"/>
              <a:gd name="connsiteX4" fmla="*/ 277643 w 421641"/>
              <a:gd name="connsiteY4" fmla="*/ 381098 h 420859"/>
              <a:gd name="connsiteX5" fmla="*/ 277643 w 421641"/>
              <a:gd name="connsiteY5" fmla="*/ 288779 h 420859"/>
              <a:gd name="connsiteX6" fmla="*/ 0 w 421641"/>
              <a:gd name="connsiteY6" fmla="*/ 420859 h 420859"/>
              <a:gd name="connsiteX0" fmla="*/ 0 w 424181"/>
              <a:gd name="connsiteY0" fmla="*/ 0 h 451339"/>
              <a:gd name="connsiteX1" fmla="*/ 280183 w 424181"/>
              <a:gd name="connsiteY1" fmla="*/ 134620 h 451339"/>
              <a:gd name="connsiteX2" fmla="*/ 280183 w 424181"/>
              <a:gd name="connsiteY2" fmla="*/ 42301 h 451339"/>
              <a:gd name="connsiteX3" fmla="*/ 424181 w 424181"/>
              <a:gd name="connsiteY3" fmla="*/ 226940 h 451339"/>
              <a:gd name="connsiteX4" fmla="*/ 280183 w 424181"/>
              <a:gd name="connsiteY4" fmla="*/ 411578 h 451339"/>
              <a:gd name="connsiteX5" fmla="*/ 280183 w 424181"/>
              <a:gd name="connsiteY5" fmla="*/ 319259 h 451339"/>
              <a:gd name="connsiteX6" fmla="*/ 2540 w 424181"/>
              <a:gd name="connsiteY6" fmla="*/ 451339 h 451339"/>
              <a:gd name="connsiteX0" fmla="*/ 0 w 424181"/>
              <a:gd name="connsiteY0" fmla="*/ 0 h 451339"/>
              <a:gd name="connsiteX1" fmla="*/ 280183 w 424181"/>
              <a:gd name="connsiteY1" fmla="*/ 134620 h 451339"/>
              <a:gd name="connsiteX2" fmla="*/ 280183 w 424181"/>
              <a:gd name="connsiteY2" fmla="*/ 42301 h 451339"/>
              <a:gd name="connsiteX3" fmla="*/ 424181 w 424181"/>
              <a:gd name="connsiteY3" fmla="*/ 226940 h 451339"/>
              <a:gd name="connsiteX4" fmla="*/ 280183 w 424181"/>
              <a:gd name="connsiteY4" fmla="*/ 411578 h 451339"/>
              <a:gd name="connsiteX5" fmla="*/ 280183 w 424181"/>
              <a:gd name="connsiteY5" fmla="*/ 319259 h 451339"/>
              <a:gd name="connsiteX6" fmla="*/ 2540 w 424181"/>
              <a:gd name="connsiteY6" fmla="*/ 451339 h 451339"/>
              <a:gd name="connsiteX0" fmla="*/ 0 w 424181"/>
              <a:gd name="connsiteY0" fmla="*/ 0 h 451339"/>
              <a:gd name="connsiteX1" fmla="*/ 280183 w 424181"/>
              <a:gd name="connsiteY1" fmla="*/ 134620 h 451339"/>
              <a:gd name="connsiteX2" fmla="*/ 280183 w 424181"/>
              <a:gd name="connsiteY2" fmla="*/ 42301 h 451339"/>
              <a:gd name="connsiteX3" fmla="*/ 424181 w 424181"/>
              <a:gd name="connsiteY3" fmla="*/ 226940 h 451339"/>
              <a:gd name="connsiteX4" fmla="*/ 257323 w 424181"/>
              <a:gd name="connsiteY4" fmla="*/ 411578 h 451339"/>
              <a:gd name="connsiteX5" fmla="*/ 280183 w 424181"/>
              <a:gd name="connsiteY5" fmla="*/ 319259 h 451339"/>
              <a:gd name="connsiteX6" fmla="*/ 2540 w 424181"/>
              <a:gd name="connsiteY6" fmla="*/ 451339 h 451339"/>
              <a:gd name="connsiteX0" fmla="*/ 0 w 424181"/>
              <a:gd name="connsiteY0" fmla="*/ 0 h 451339"/>
              <a:gd name="connsiteX1" fmla="*/ 280183 w 424181"/>
              <a:gd name="connsiteY1" fmla="*/ 134620 h 451339"/>
              <a:gd name="connsiteX2" fmla="*/ 262403 w 424181"/>
              <a:gd name="connsiteY2" fmla="*/ 39761 h 451339"/>
              <a:gd name="connsiteX3" fmla="*/ 424181 w 424181"/>
              <a:gd name="connsiteY3" fmla="*/ 226940 h 451339"/>
              <a:gd name="connsiteX4" fmla="*/ 257323 w 424181"/>
              <a:gd name="connsiteY4" fmla="*/ 411578 h 451339"/>
              <a:gd name="connsiteX5" fmla="*/ 280183 w 424181"/>
              <a:gd name="connsiteY5" fmla="*/ 319259 h 451339"/>
              <a:gd name="connsiteX6" fmla="*/ 2540 w 424181"/>
              <a:gd name="connsiteY6" fmla="*/ 451339 h 451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4181" h="451339">
                <a:moveTo>
                  <a:pt x="0" y="0"/>
                </a:moveTo>
                <a:cubicBezTo>
                  <a:pt x="107788" y="98213"/>
                  <a:pt x="182555" y="122767"/>
                  <a:pt x="280183" y="134620"/>
                </a:cubicBezTo>
                <a:lnTo>
                  <a:pt x="262403" y="39761"/>
                </a:lnTo>
                <a:lnTo>
                  <a:pt x="424181" y="226940"/>
                </a:lnTo>
                <a:lnTo>
                  <a:pt x="257323" y="411578"/>
                </a:lnTo>
                <a:lnTo>
                  <a:pt x="280183" y="319259"/>
                </a:lnTo>
                <a:cubicBezTo>
                  <a:pt x="177475" y="330266"/>
                  <a:pt x="117948" y="341272"/>
                  <a:pt x="2540" y="451339"/>
                </a:cubicBezTo>
              </a:path>
            </a:pathLst>
          </a:custGeom>
          <a:noFill/>
          <a:ln w="25400" cap="flat" cmpd="sng" algn="ctr">
            <a:solidFill>
              <a:srgbClr val="4F81BD">
                <a:lumMod val="60000"/>
                <a:lumOff val="40000"/>
              </a:srgb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293458" y="3838575"/>
            <a:ext cx="1393187" cy="92333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srgbClr val="4F81BD">
                    <a:lumMod val="75000"/>
                  </a:srgbClr>
                </a:solidFill>
                <a:latin typeface="Calibri"/>
                <a:cs typeface="+mn-cs"/>
              </a:rPr>
              <a:t>Visibility of 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rgbClr val="4F81BD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+mn-cs"/>
              </a:rPr>
              <a:t>s</a:t>
            </a:r>
            <a:r>
              <a:rPr lang="en-US" b="1" dirty="0" smtClean="0">
                <a:solidFill>
                  <a:srgbClr val="4F81BD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+mn-cs"/>
              </a:rPr>
              <a:t>equential</a:t>
            </a:r>
            <a:r>
              <a:rPr lang="en-US" dirty="0" smtClean="0">
                <a:solidFill>
                  <a:srgbClr val="4F81BD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+mn-cs"/>
              </a:rPr>
              <a:t> </a:t>
            </a:r>
            <a:r>
              <a:rPr lang="en-US" dirty="0" smtClean="0">
                <a:solidFill>
                  <a:srgbClr val="4F81BD">
                    <a:lumMod val="75000"/>
                  </a:srgbClr>
                </a:solidFill>
                <a:latin typeface="Calibri"/>
                <a:cs typeface="+mn-cs"/>
              </a:rPr>
              <a:t>execution</a:t>
            </a:r>
          </a:p>
        </p:txBody>
      </p:sp>
      <p:sp>
        <p:nvSpPr>
          <p:cNvPr id="17" name="Notched Right Arrow 56"/>
          <p:cNvSpPr/>
          <p:nvPr/>
        </p:nvSpPr>
        <p:spPr>
          <a:xfrm>
            <a:off x="6988031" y="4150402"/>
            <a:ext cx="336526" cy="266483"/>
          </a:xfrm>
          <a:custGeom>
            <a:avLst/>
            <a:gdLst>
              <a:gd name="connsiteX0" fmla="*/ 0 w 469901"/>
              <a:gd name="connsiteY0" fmla="*/ 92319 h 369277"/>
              <a:gd name="connsiteX1" fmla="*/ 285263 w 469901"/>
              <a:gd name="connsiteY1" fmla="*/ 92319 h 369277"/>
              <a:gd name="connsiteX2" fmla="*/ 285263 w 469901"/>
              <a:gd name="connsiteY2" fmla="*/ 0 h 369277"/>
              <a:gd name="connsiteX3" fmla="*/ 469901 w 469901"/>
              <a:gd name="connsiteY3" fmla="*/ 184639 h 369277"/>
              <a:gd name="connsiteX4" fmla="*/ 285263 w 469901"/>
              <a:gd name="connsiteY4" fmla="*/ 369277 h 369277"/>
              <a:gd name="connsiteX5" fmla="*/ 285263 w 469901"/>
              <a:gd name="connsiteY5" fmla="*/ 276958 h 369277"/>
              <a:gd name="connsiteX6" fmla="*/ 0 w 469901"/>
              <a:gd name="connsiteY6" fmla="*/ 276958 h 369277"/>
              <a:gd name="connsiteX7" fmla="*/ 92319 w 469901"/>
              <a:gd name="connsiteY7" fmla="*/ 184639 h 369277"/>
              <a:gd name="connsiteX8" fmla="*/ 0 w 469901"/>
              <a:gd name="connsiteY8" fmla="*/ 92319 h 369277"/>
              <a:gd name="connsiteX0" fmla="*/ 7620 w 469901"/>
              <a:gd name="connsiteY0" fmla="*/ 0 h 381098"/>
              <a:gd name="connsiteX1" fmla="*/ 285263 w 469901"/>
              <a:gd name="connsiteY1" fmla="*/ 104140 h 381098"/>
              <a:gd name="connsiteX2" fmla="*/ 285263 w 469901"/>
              <a:gd name="connsiteY2" fmla="*/ 11821 h 381098"/>
              <a:gd name="connsiteX3" fmla="*/ 469901 w 469901"/>
              <a:gd name="connsiteY3" fmla="*/ 196460 h 381098"/>
              <a:gd name="connsiteX4" fmla="*/ 285263 w 469901"/>
              <a:gd name="connsiteY4" fmla="*/ 381098 h 381098"/>
              <a:gd name="connsiteX5" fmla="*/ 285263 w 469901"/>
              <a:gd name="connsiteY5" fmla="*/ 288779 h 381098"/>
              <a:gd name="connsiteX6" fmla="*/ 0 w 469901"/>
              <a:gd name="connsiteY6" fmla="*/ 288779 h 381098"/>
              <a:gd name="connsiteX7" fmla="*/ 92319 w 469901"/>
              <a:gd name="connsiteY7" fmla="*/ 196460 h 381098"/>
              <a:gd name="connsiteX8" fmla="*/ 7620 w 469901"/>
              <a:gd name="connsiteY8" fmla="*/ 0 h 381098"/>
              <a:gd name="connsiteX0" fmla="*/ 0 w 462281"/>
              <a:gd name="connsiteY0" fmla="*/ 0 h 420859"/>
              <a:gd name="connsiteX1" fmla="*/ 277643 w 462281"/>
              <a:gd name="connsiteY1" fmla="*/ 104140 h 420859"/>
              <a:gd name="connsiteX2" fmla="*/ 277643 w 462281"/>
              <a:gd name="connsiteY2" fmla="*/ 11821 h 420859"/>
              <a:gd name="connsiteX3" fmla="*/ 462281 w 462281"/>
              <a:gd name="connsiteY3" fmla="*/ 196460 h 420859"/>
              <a:gd name="connsiteX4" fmla="*/ 277643 w 462281"/>
              <a:gd name="connsiteY4" fmla="*/ 381098 h 420859"/>
              <a:gd name="connsiteX5" fmla="*/ 277643 w 462281"/>
              <a:gd name="connsiteY5" fmla="*/ 288779 h 420859"/>
              <a:gd name="connsiteX6" fmla="*/ 0 w 462281"/>
              <a:gd name="connsiteY6" fmla="*/ 420859 h 420859"/>
              <a:gd name="connsiteX7" fmla="*/ 84699 w 462281"/>
              <a:gd name="connsiteY7" fmla="*/ 196460 h 420859"/>
              <a:gd name="connsiteX8" fmla="*/ 0 w 462281"/>
              <a:gd name="connsiteY8" fmla="*/ 0 h 420859"/>
              <a:gd name="connsiteX0" fmla="*/ 0 w 462281"/>
              <a:gd name="connsiteY0" fmla="*/ 0 h 420859"/>
              <a:gd name="connsiteX1" fmla="*/ 277643 w 462281"/>
              <a:gd name="connsiteY1" fmla="*/ 104140 h 420859"/>
              <a:gd name="connsiteX2" fmla="*/ 277643 w 462281"/>
              <a:gd name="connsiteY2" fmla="*/ 11821 h 420859"/>
              <a:gd name="connsiteX3" fmla="*/ 462281 w 462281"/>
              <a:gd name="connsiteY3" fmla="*/ 196460 h 420859"/>
              <a:gd name="connsiteX4" fmla="*/ 277643 w 462281"/>
              <a:gd name="connsiteY4" fmla="*/ 381098 h 420859"/>
              <a:gd name="connsiteX5" fmla="*/ 277643 w 462281"/>
              <a:gd name="connsiteY5" fmla="*/ 288779 h 420859"/>
              <a:gd name="connsiteX6" fmla="*/ 0 w 462281"/>
              <a:gd name="connsiteY6" fmla="*/ 420859 h 420859"/>
              <a:gd name="connsiteX7" fmla="*/ 84699 w 462281"/>
              <a:gd name="connsiteY7" fmla="*/ 196460 h 420859"/>
              <a:gd name="connsiteX8" fmla="*/ 0 w 462281"/>
              <a:gd name="connsiteY8" fmla="*/ 0 h 420859"/>
              <a:gd name="connsiteX0" fmla="*/ 0 w 462281"/>
              <a:gd name="connsiteY0" fmla="*/ 0 h 420859"/>
              <a:gd name="connsiteX1" fmla="*/ 277643 w 462281"/>
              <a:gd name="connsiteY1" fmla="*/ 104140 h 420859"/>
              <a:gd name="connsiteX2" fmla="*/ 277643 w 462281"/>
              <a:gd name="connsiteY2" fmla="*/ 11821 h 420859"/>
              <a:gd name="connsiteX3" fmla="*/ 462281 w 462281"/>
              <a:gd name="connsiteY3" fmla="*/ 196460 h 420859"/>
              <a:gd name="connsiteX4" fmla="*/ 277643 w 462281"/>
              <a:gd name="connsiteY4" fmla="*/ 381098 h 420859"/>
              <a:gd name="connsiteX5" fmla="*/ 277643 w 462281"/>
              <a:gd name="connsiteY5" fmla="*/ 288779 h 420859"/>
              <a:gd name="connsiteX6" fmla="*/ 0 w 462281"/>
              <a:gd name="connsiteY6" fmla="*/ 420859 h 420859"/>
              <a:gd name="connsiteX7" fmla="*/ 84699 w 462281"/>
              <a:gd name="connsiteY7" fmla="*/ 196460 h 420859"/>
              <a:gd name="connsiteX8" fmla="*/ 0 w 462281"/>
              <a:gd name="connsiteY8" fmla="*/ 0 h 420859"/>
              <a:gd name="connsiteX0" fmla="*/ 84699 w 462281"/>
              <a:gd name="connsiteY0" fmla="*/ 196460 h 420859"/>
              <a:gd name="connsiteX1" fmla="*/ 0 w 462281"/>
              <a:gd name="connsiteY1" fmla="*/ 0 h 420859"/>
              <a:gd name="connsiteX2" fmla="*/ 277643 w 462281"/>
              <a:gd name="connsiteY2" fmla="*/ 104140 h 420859"/>
              <a:gd name="connsiteX3" fmla="*/ 277643 w 462281"/>
              <a:gd name="connsiteY3" fmla="*/ 11821 h 420859"/>
              <a:gd name="connsiteX4" fmla="*/ 462281 w 462281"/>
              <a:gd name="connsiteY4" fmla="*/ 196460 h 420859"/>
              <a:gd name="connsiteX5" fmla="*/ 277643 w 462281"/>
              <a:gd name="connsiteY5" fmla="*/ 381098 h 420859"/>
              <a:gd name="connsiteX6" fmla="*/ 277643 w 462281"/>
              <a:gd name="connsiteY6" fmla="*/ 288779 h 420859"/>
              <a:gd name="connsiteX7" fmla="*/ 0 w 462281"/>
              <a:gd name="connsiteY7" fmla="*/ 420859 h 420859"/>
              <a:gd name="connsiteX8" fmla="*/ 176139 w 462281"/>
              <a:gd name="connsiteY8" fmla="*/ 287900 h 420859"/>
              <a:gd name="connsiteX0" fmla="*/ 0 w 462281"/>
              <a:gd name="connsiteY0" fmla="*/ 0 h 420859"/>
              <a:gd name="connsiteX1" fmla="*/ 277643 w 462281"/>
              <a:gd name="connsiteY1" fmla="*/ 104140 h 420859"/>
              <a:gd name="connsiteX2" fmla="*/ 277643 w 462281"/>
              <a:gd name="connsiteY2" fmla="*/ 11821 h 420859"/>
              <a:gd name="connsiteX3" fmla="*/ 462281 w 462281"/>
              <a:gd name="connsiteY3" fmla="*/ 196460 h 420859"/>
              <a:gd name="connsiteX4" fmla="*/ 277643 w 462281"/>
              <a:gd name="connsiteY4" fmla="*/ 381098 h 420859"/>
              <a:gd name="connsiteX5" fmla="*/ 277643 w 462281"/>
              <a:gd name="connsiteY5" fmla="*/ 288779 h 420859"/>
              <a:gd name="connsiteX6" fmla="*/ 0 w 462281"/>
              <a:gd name="connsiteY6" fmla="*/ 420859 h 420859"/>
              <a:gd name="connsiteX7" fmla="*/ 176139 w 462281"/>
              <a:gd name="connsiteY7" fmla="*/ 287900 h 420859"/>
              <a:gd name="connsiteX0" fmla="*/ 0 w 462281"/>
              <a:gd name="connsiteY0" fmla="*/ 0 h 420859"/>
              <a:gd name="connsiteX1" fmla="*/ 277643 w 462281"/>
              <a:gd name="connsiteY1" fmla="*/ 104140 h 420859"/>
              <a:gd name="connsiteX2" fmla="*/ 277643 w 462281"/>
              <a:gd name="connsiteY2" fmla="*/ 11821 h 420859"/>
              <a:gd name="connsiteX3" fmla="*/ 462281 w 462281"/>
              <a:gd name="connsiteY3" fmla="*/ 196460 h 420859"/>
              <a:gd name="connsiteX4" fmla="*/ 277643 w 462281"/>
              <a:gd name="connsiteY4" fmla="*/ 381098 h 420859"/>
              <a:gd name="connsiteX5" fmla="*/ 277643 w 462281"/>
              <a:gd name="connsiteY5" fmla="*/ 288779 h 420859"/>
              <a:gd name="connsiteX6" fmla="*/ 0 w 462281"/>
              <a:gd name="connsiteY6" fmla="*/ 420859 h 420859"/>
              <a:gd name="connsiteX0" fmla="*/ 0 w 462281"/>
              <a:gd name="connsiteY0" fmla="*/ 0 h 420859"/>
              <a:gd name="connsiteX1" fmla="*/ 277643 w 462281"/>
              <a:gd name="connsiteY1" fmla="*/ 104140 h 420859"/>
              <a:gd name="connsiteX2" fmla="*/ 277643 w 462281"/>
              <a:gd name="connsiteY2" fmla="*/ 11821 h 420859"/>
              <a:gd name="connsiteX3" fmla="*/ 462281 w 462281"/>
              <a:gd name="connsiteY3" fmla="*/ 196460 h 420859"/>
              <a:gd name="connsiteX4" fmla="*/ 277643 w 462281"/>
              <a:gd name="connsiteY4" fmla="*/ 381098 h 420859"/>
              <a:gd name="connsiteX5" fmla="*/ 277643 w 462281"/>
              <a:gd name="connsiteY5" fmla="*/ 288779 h 420859"/>
              <a:gd name="connsiteX6" fmla="*/ 0 w 462281"/>
              <a:gd name="connsiteY6" fmla="*/ 420859 h 420859"/>
              <a:gd name="connsiteX0" fmla="*/ 0 w 462281"/>
              <a:gd name="connsiteY0" fmla="*/ 0 h 420859"/>
              <a:gd name="connsiteX1" fmla="*/ 277643 w 462281"/>
              <a:gd name="connsiteY1" fmla="*/ 104140 h 420859"/>
              <a:gd name="connsiteX2" fmla="*/ 277643 w 462281"/>
              <a:gd name="connsiteY2" fmla="*/ 11821 h 420859"/>
              <a:gd name="connsiteX3" fmla="*/ 462281 w 462281"/>
              <a:gd name="connsiteY3" fmla="*/ 196460 h 420859"/>
              <a:gd name="connsiteX4" fmla="*/ 277643 w 462281"/>
              <a:gd name="connsiteY4" fmla="*/ 381098 h 420859"/>
              <a:gd name="connsiteX5" fmla="*/ 277643 w 462281"/>
              <a:gd name="connsiteY5" fmla="*/ 288779 h 420859"/>
              <a:gd name="connsiteX6" fmla="*/ 0 w 462281"/>
              <a:gd name="connsiteY6" fmla="*/ 420859 h 420859"/>
              <a:gd name="connsiteX0" fmla="*/ 0 w 462281"/>
              <a:gd name="connsiteY0" fmla="*/ 0 h 420859"/>
              <a:gd name="connsiteX1" fmla="*/ 277643 w 462281"/>
              <a:gd name="connsiteY1" fmla="*/ 104140 h 420859"/>
              <a:gd name="connsiteX2" fmla="*/ 277643 w 462281"/>
              <a:gd name="connsiteY2" fmla="*/ 11821 h 420859"/>
              <a:gd name="connsiteX3" fmla="*/ 462281 w 462281"/>
              <a:gd name="connsiteY3" fmla="*/ 196460 h 420859"/>
              <a:gd name="connsiteX4" fmla="*/ 277643 w 462281"/>
              <a:gd name="connsiteY4" fmla="*/ 381098 h 420859"/>
              <a:gd name="connsiteX5" fmla="*/ 277643 w 462281"/>
              <a:gd name="connsiteY5" fmla="*/ 288779 h 420859"/>
              <a:gd name="connsiteX6" fmla="*/ 0 w 462281"/>
              <a:gd name="connsiteY6" fmla="*/ 420859 h 420859"/>
              <a:gd name="connsiteX0" fmla="*/ 0 w 462281"/>
              <a:gd name="connsiteY0" fmla="*/ 0 h 420859"/>
              <a:gd name="connsiteX1" fmla="*/ 277643 w 462281"/>
              <a:gd name="connsiteY1" fmla="*/ 104140 h 420859"/>
              <a:gd name="connsiteX2" fmla="*/ 277643 w 462281"/>
              <a:gd name="connsiteY2" fmla="*/ 11821 h 420859"/>
              <a:gd name="connsiteX3" fmla="*/ 462281 w 462281"/>
              <a:gd name="connsiteY3" fmla="*/ 196460 h 420859"/>
              <a:gd name="connsiteX4" fmla="*/ 277643 w 462281"/>
              <a:gd name="connsiteY4" fmla="*/ 381098 h 420859"/>
              <a:gd name="connsiteX5" fmla="*/ 277643 w 462281"/>
              <a:gd name="connsiteY5" fmla="*/ 288779 h 420859"/>
              <a:gd name="connsiteX6" fmla="*/ 0 w 462281"/>
              <a:gd name="connsiteY6" fmla="*/ 420859 h 420859"/>
              <a:gd name="connsiteX0" fmla="*/ 0 w 462281"/>
              <a:gd name="connsiteY0" fmla="*/ 0 h 420859"/>
              <a:gd name="connsiteX1" fmla="*/ 277643 w 462281"/>
              <a:gd name="connsiteY1" fmla="*/ 104140 h 420859"/>
              <a:gd name="connsiteX2" fmla="*/ 277643 w 462281"/>
              <a:gd name="connsiteY2" fmla="*/ 11821 h 420859"/>
              <a:gd name="connsiteX3" fmla="*/ 462281 w 462281"/>
              <a:gd name="connsiteY3" fmla="*/ 196460 h 420859"/>
              <a:gd name="connsiteX4" fmla="*/ 277643 w 462281"/>
              <a:gd name="connsiteY4" fmla="*/ 381098 h 420859"/>
              <a:gd name="connsiteX5" fmla="*/ 277643 w 462281"/>
              <a:gd name="connsiteY5" fmla="*/ 288779 h 420859"/>
              <a:gd name="connsiteX6" fmla="*/ 0 w 462281"/>
              <a:gd name="connsiteY6" fmla="*/ 420859 h 420859"/>
              <a:gd name="connsiteX0" fmla="*/ 0 w 421641"/>
              <a:gd name="connsiteY0" fmla="*/ 0 h 420859"/>
              <a:gd name="connsiteX1" fmla="*/ 277643 w 421641"/>
              <a:gd name="connsiteY1" fmla="*/ 104140 h 420859"/>
              <a:gd name="connsiteX2" fmla="*/ 277643 w 421641"/>
              <a:gd name="connsiteY2" fmla="*/ 11821 h 420859"/>
              <a:gd name="connsiteX3" fmla="*/ 421641 w 421641"/>
              <a:gd name="connsiteY3" fmla="*/ 196460 h 420859"/>
              <a:gd name="connsiteX4" fmla="*/ 277643 w 421641"/>
              <a:gd name="connsiteY4" fmla="*/ 381098 h 420859"/>
              <a:gd name="connsiteX5" fmla="*/ 277643 w 421641"/>
              <a:gd name="connsiteY5" fmla="*/ 288779 h 420859"/>
              <a:gd name="connsiteX6" fmla="*/ 0 w 421641"/>
              <a:gd name="connsiteY6" fmla="*/ 420859 h 420859"/>
              <a:gd name="connsiteX0" fmla="*/ 0 w 424181"/>
              <a:gd name="connsiteY0" fmla="*/ 0 h 451339"/>
              <a:gd name="connsiteX1" fmla="*/ 280183 w 424181"/>
              <a:gd name="connsiteY1" fmla="*/ 134620 h 451339"/>
              <a:gd name="connsiteX2" fmla="*/ 280183 w 424181"/>
              <a:gd name="connsiteY2" fmla="*/ 42301 h 451339"/>
              <a:gd name="connsiteX3" fmla="*/ 424181 w 424181"/>
              <a:gd name="connsiteY3" fmla="*/ 226940 h 451339"/>
              <a:gd name="connsiteX4" fmla="*/ 280183 w 424181"/>
              <a:gd name="connsiteY4" fmla="*/ 411578 h 451339"/>
              <a:gd name="connsiteX5" fmla="*/ 280183 w 424181"/>
              <a:gd name="connsiteY5" fmla="*/ 319259 h 451339"/>
              <a:gd name="connsiteX6" fmla="*/ 2540 w 424181"/>
              <a:gd name="connsiteY6" fmla="*/ 451339 h 451339"/>
              <a:gd name="connsiteX0" fmla="*/ 0 w 424181"/>
              <a:gd name="connsiteY0" fmla="*/ 0 h 451339"/>
              <a:gd name="connsiteX1" fmla="*/ 280183 w 424181"/>
              <a:gd name="connsiteY1" fmla="*/ 134620 h 451339"/>
              <a:gd name="connsiteX2" fmla="*/ 280183 w 424181"/>
              <a:gd name="connsiteY2" fmla="*/ 42301 h 451339"/>
              <a:gd name="connsiteX3" fmla="*/ 424181 w 424181"/>
              <a:gd name="connsiteY3" fmla="*/ 226940 h 451339"/>
              <a:gd name="connsiteX4" fmla="*/ 280183 w 424181"/>
              <a:gd name="connsiteY4" fmla="*/ 411578 h 451339"/>
              <a:gd name="connsiteX5" fmla="*/ 280183 w 424181"/>
              <a:gd name="connsiteY5" fmla="*/ 319259 h 451339"/>
              <a:gd name="connsiteX6" fmla="*/ 2540 w 424181"/>
              <a:gd name="connsiteY6" fmla="*/ 451339 h 451339"/>
              <a:gd name="connsiteX0" fmla="*/ 0 w 424181"/>
              <a:gd name="connsiteY0" fmla="*/ 0 h 451339"/>
              <a:gd name="connsiteX1" fmla="*/ 280183 w 424181"/>
              <a:gd name="connsiteY1" fmla="*/ 134620 h 451339"/>
              <a:gd name="connsiteX2" fmla="*/ 280183 w 424181"/>
              <a:gd name="connsiteY2" fmla="*/ 42301 h 451339"/>
              <a:gd name="connsiteX3" fmla="*/ 424181 w 424181"/>
              <a:gd name="connsiteY3" fmla="*/ 226940 h 451339"/>
              <a:gd name="connsiteX4" fmla="*/ 257323 w 424181"/>
              <a:gd name="connsiteY4" fmla="*/ 411578 h 451339"/>
              <a:gd name="connsiteX5" fmla="*/ 280183 w 424181"/>
              <a:gd name="connsiteY5" fmla="*/ 319259 h 451339"/>
              <a:gd name="connsiteX6" fmla="*/ 2540 w 424181"/>
              <a:gd name="connsiteY6" fmla="*/ 451339 h 451339"/>
              <a:gd name="connsiteX0" fmla="*/ 0 w 424181"/>
              <a:gd name="connsiteY0" fmla="*/ 0 h 451339"/>
              <a:gd name="connsiteX1" fmla="*/ 280183 w 424181"/>
              <a:gd name="connsiteY1" fmla="*/ 134620 h 451339"/>
              <a:gd name="connsiteX2" fmla="*/ 262403 w 424181"/>
              <a:gd name="connsiteY2" fmla="*/ 39761 h 451339"/>
              <a:gd name="connsiteX3" fmla="*/ 424181 w 424181"/>
              <a:gd name="connsiteY3" fmla="*/ 226940 h 451339"/>
              <a:gd name="connsiteX4" fmla="*/ 257323 w 424181"/>
              <a:gd name="connsiteY4" fmla="*/ 411578 h 451339"/>
              <a:gd name="connsiteX5" fmla="*/ 280183 w 424181"/>
              <a:gd name="connsiteY5" fmla="*/ 319259 h 451339"/>
              <a:gd name="connsiteX6" fmla="*/ 2540 w 424181"/>
              <a:gd name="connsiteY6" fmla="*/ 451339 h 451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4181" h="451339">
                <a:moveTo>
                  <a:pt x="0" y="0"/>
                </a:moveTo>
                <a:cubicBezTo>
                  <a:pt x="107788" y="98213"/>
                  <a:pt x="182555" y="122767"/>
                  <a:pt x="280183" y="134620"/>
                </a:cubicBezTo>
                <a:lnTo>
                  <a:pt x="262403" y="39761"/>
                </a:lnTo>
                <a:lnTo>
                  <a:pt x="424181" y="226940"/>
                </a:lnTo>
                <a:lnTo>
                  <a:pt x="257323" y="411578"/>
                </a:lnTo>
                <a:lnTo>
                  <a:pt x="280183" y="319259"/>
                </a:lnTo>
                <a:cubicBezTo>
                  <a:pt x="177475" y="330266"/>
                  <a:pt x="117948" y="341272"/>
                  <a:pt x="2540" y="451339"/>
                </a:cubicBezTo>
              </a:path>
            </a:pathLst>
          </a:custGeom>
          <a:noFill/>
          <a:ln w="25400" cap="flat" cmpd="sng" algn="ctr">
            <a:solidFill>
              <a:srgbClr val="4F81BD">
                <a:lumMod val="60000"/>
                <a:lumOff val="40000"/>
              </a:srgb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7467600" y="5469148"/>
            <a:ext cx="1507078" cy="869944"/>
            <a:chOff x="7554441" y="5615506"/>
            <a:chExt cx="1507078" cy="869944"/>
          </a:xfrm>
        </p:grpSpPr>
        <p:grpSp>
          <p:nvGrpSpPr>
            <p:cNvPr id="19" name="Group 18"/>
            <p:cNvGrpSpPr/>
            <p:nvPr/>
          </p:nvGrpSpPr>
          <p:grpSpPr>
            <a:xfrm>
              <a:off x="7662433" y="5916633"/>
              <a:ext cx="1399086" cy="568817"/>
              <a:chOff x="1446813" y="5423102"/>
              <a:chExt cx="2369411" cy="963315"/>
            </a:xfrm>
          </p:grpSpPr>
          <p:sp>
            <p:nvSpPr>
              <p:cNvPr id="21" name="Rectangle 20"/>
              <p:cNvSpPr/>
              <p:nvPr/>
            </p:nvSpPr>
            <p:spPr>
              <a:xfrm>
                <a:off x="1446813" y="5453245"/>
                <a:ext cx="629393" cy="367153"/>
              </a:xfrm>
              <a:prstGeom prst="rect">
                <a:avLst/>
              </a:prstGeom>
              <a:solidFill>
                <a:srgbClr val="C0504D">
                  <a:lumMod val="40000"/>
                  <a:lumOff val="60000"/>
                </a:srgbClr>
              </a:solidFill>
              <a:ln w="25400" cap="flat" cmpd="sng" algn="ctr">
                <a:noFill/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2" name="Rectangle 21"/>
              <p:cNvSpPr/>
              <p:nvPr/>
            </p:nvSpPr>
            <p:spPr>
              <a:xfrm>
                <a:off x="1446813" y="5955269"/>
                <a:ext cx="629393" cy="367153"/>
              </a:xfrm>
              <a:prstGeom prst="rect">
                <a:avLst/>
              </a:prstGeom>
              <a:solidFill>
                <a:srgbClr val="4F81BD">
                  <a:lumMod val="40000"/>
                  <a:lumOff val="60000"/>
                </a:srgbClr>
              </a:solidFill>
              <a:ln w="25400" cap="flat" cmpd="sng" algn="ctr">
                <a:noFill/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2152406" y="5423102"/>
                <a:ext cx="1663818" cy="469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Calibri"/>
                    <a:cs typeface="+mn-cs"/>
                  </a:rPr>
                  <a:t>Out-of-order</a:t>
                </a: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2137165" y="5917308"/>
                <a:ext cx="1172448" cy="469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Calibri"/>
                    <a:cs typeface="+mn-cs"/>
                  </a:rPr>
                  <a:t>In-order</a:t>
                </a:r>
              </a:p>
            </p:txBody>
          </p:sp>
        </p:grpSp>
        <p:sp>
          <p:nvSpPr>
            <p:cNvPr id="20" name="TextBox 19"/>
            <p:cNvSpPr txBox="1"/>
            <p:nvPr/>
          </p:nvSpPr>
          <p:spPr>
            <a:xfrm>
              <a:off x="7554441" y="5615506"/>
              <a:ext cx="76027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Calibri"/>
                  <a:cs typeface="+mn-cs"/>
                </a:rPr>
                <a:t>Legend:</a:t>
              </a:r>
            </a:p>
          </p:txBody>
        </p:sp>
      </p:grpSp>
      <p:sp>
        <p:nvSpPr>
          <p:cNvPr id="25" name="Rounded Rectangular Callout 24"/>
          <p:cNvSpPr/>
          <p:nvPr/>
        </p:nvSpPr>
        <p:spPr>
          <a:xfrm>
            <a:off x="2073999" y="5365367"/>
            <a:ext cx="1463681" cy="746936"/>
          </a:xfrm>
          <a:prstGeom prst="wedgeRoundRectCallout">
            <a:avLst>
              <a:gd name="adj1" fmla="val 74425"/>
              <a:gd name="adj2" fmla="val -28397"/>
              <a:gd name="adj3" fmla="val 16667"/>
            </a:avLst>
          </a:prstGeom>
          <a:solidFill>
            <a:sysClr val="window" lastClr="FFFFFF"/>
          </a:solidFill>
          <a:ln w="19050" cap="flat" cmpd="sng" algn="ctr">
            <a:solidFill>
              <a:srgbClr val="4F81BD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Speculative state</a:t>
            </a:r>
            <a:endParaRPr kumimoji="0" lang="ru-RU" sz="18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ounded Rectangular Callout 25"/>
          <p:cNvSpPr/>
          <p:nvPr/>
        </p:nvSpPr>
        <p:spPr>
          <a:xfrm>
            <a:off x="5746730" y="5026878"/>
            <a:ext cx="1463681" cy="746936"/>
          </a:xfrm>
          <a:prstGeom prst="wedgeRoundRectCallout">
            <a:avLst>
              <a:gd name="adj1" fmla="val -28378"/>
              <a:gd name="adj2" fmla="val -110527"/>
              <a:gd name="adj3" fmla="val 16667"/>
            </a:avLst>
          </a:prstGeom>
          <a:solidFill>
            <a:sysClr val="window" lastClr="FFFFFF"/>
          </a:solidFill>
          <a:ln w="19050" cap="flat" cmpd="sng" algn="ctr">
            <a:solidFill>
              <a:srgbClr val="4F81BD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Architectural state</a:t>
            </a:r>
            <a:endParaRPr kumimoji="0" lang="ru-RU" sz="18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8547707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6" presetClass="emph" presetSubtype="0" repeatCount="indefinite" fill="hold" grpId="1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62" dur="10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3" dur="50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26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65" dur="10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6" dur="50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4" grpId="2" animBg="1"/>
      <p:bldP spid="5" grpId="0" animBg="1"/>
      <p:bldP spid="5" grpId="1" animBg="1"/>
      <p:bldP spid="5" grpId="2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/>
      <p:bldP spid="15" grpId="0" animBg="1"/>
      <p:bldP spid="16" grpId="0"/>
      <p:bldP spid="17" grpId="0" animBg="1"/>
      <p:bldP spid="25" grpId="0" animBg="1"/>
      <p:bldP spid="26" grpId="0" animBg="1"/>
    </p:bldLst>
  </p:timing>
  <p:extLst mod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Dependency </a:t>
            </a:r>
            <a:r>
              <a:rPr lang="en-US" dirty="0" smtClean="0"/>
              <a:t>Checking</a:t>
            </a:r>
            <a:endParaRPr lang="ru-RU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 bwMode="auto">
          <a:xfrm>
            <a:off x="304799" y="3591673"/>
            <a:ext cx="6444673" cy="460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For each source check readiness of its producer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03534" y="1510334"/>
            <a:ext cx="7406640" cy="768096"/>
          </a:xfrm>
          <a:prstGeom prst="roundRect">
            <a:avLst>
              <a:gd name="adj" fmla="val 9409"/>
            </a:avLst>
          </a:prstGeom>
          <a:solidFill>
            <a:srgbClr val="4F81BD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ight Arrow 4"/>
          <p:cNvSpPr/>
          <p:nvPr/>
        </p:nvSpPr>
        <p:spPr>
          <a:xfrm>
            <a:off x="352601" y="1779574"/>
            <a:ext cx="413738" cy="236411"/>
          </a:xfrm>
          <a:prstGeom prst="rightArrow">
            <a:avLst/>
          </a:prstGeom>
          <a:solidFill>
            <a:srgbClr val="4F81BD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ight Arrow 5"/>
          <p:cNvSpPr/>
          <p:nvPr/>
        </p:nvSpPr>
        <p:spPr>
          <a:xfrm>
            <a:off x="8397008" y="1783288"/>
            <a:ext cx="413738" cy="236411"/>
          </a:xfrm>
          <a:prstGeom prst="rightArrow">
            <a:avLst/>
          </a:prstGeom>
          <a:solidFill>
            <a:srgbClr val="4F81BD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2185" y="1467908"/>
            <a:ext cx="6949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prstClr val="black"/>
                </a:solidFill>
                <a:latin typeface="Calibri"/>
                <a:cs typeface="+mn-cs"/>
              </a:rPr>
              <a:t>Fetch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03859" y="1433856"/>
            <a:ext cx="7422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prstClr val="black"/>
                </a:solidFill>
                <a:latin typeface="Calibri"/>
                <a:cs typeface="+mn-cs"/>
              </a:rPr>
              <a:t>Retire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8357" y="853525"/>
            <a:ext cx="29938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C0504D">
                    <a:lumMod val="50000"/>
                  </a:srgbClr>
                </a:solidFill>
                <a:latin typeface="Calibri"/>
                <a:cs typeface="+mn-cs"/>
              </a:rPr>
              <a:t>HW instruction </a:t>
            </a:r>
            <a:r>
              <a:rPr lang="en-US" dirty="0" smtClean="0">
                <a:solidFill>
                  <a:srgbClr val="C0504D">
                    <a:lumMod val="50000"/>
                  </a:srgbClr>
                </a:solidFill>
                <a:latin typeface="Calibri"/>
                <a:cs typeface="+mn-cs"/>
              </a:rPr>
              <a:t>window (ROB)</a:t>
            </a:r>
            <a:endParaRPr lang="en-US" dirty="0">
              <a:solidFill>
                <a:srgbClr val="C0504D">
                  <a:lumMod val="50000"/>
                </a:srgbClr>
              </a:solidFill>
              <a:latin typeface="Calibri"/>
              <a:cs typeface="+mn-cs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2416048" y="1570030"/>
            <a:ext cx="5828877" cy="660400"/>
            <a:chOff x="2416048" y="1915890"/>
            <a:chExt cx="5828877" cy="660400"/>
          </a:xfrm>
        </p:grpSpPr>
        <p:sp>
          <p:nvSpPr>
            <p:cNvPr id="11" name="Rectangle 10"/>
            <p:cNvSpPr/>
            <p:nvPr/>
          </p:nvSpPr>
          <p:spPr>
            <a:xfrm>
              <a:off x="6359174" y="1915890"/>
              <a:ext cx="314960" cy="660400"/>
            </a:xfrm>
            <a:prstGeom prst="rect">
              <a:avLst/>
            </a:prstGeom>
            <a:solidFill>
              <a:srgbClr val="F79646">
                <a:lumMod val="75000"/>
              </a:srgbClr>
            </a:solidFill>
            <a:ln w="317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178074" y="1915890"/>
              <a:ext cx="314960" cy="660400"/>
            </a:xfrm>
            <a:prstGeom prst="rect">
              <a:avLst/>
            </a:prstGeom>
            <a:pattFill prst="wdUpDiag">
              <a:fgClr>
                <a:srgbClr val="92D050"/>
              </a:fgClr>
              <a:bgClr>
                <a:sysClr val="window" lastClr="FFFFFF"/>
              </a:bgClr>
            </a:pattFill>
            <a:ln w="317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535194" y="1915890"/>
              <a:ext cx="314960" cy="660400"/>
            </a:xfrm>
            <a:prstGeom prst="rect">
              <a:avLst/>
            </a:prstGeom>
            <a:pattFill prst="wdUpDiag">
              <a:fgClr>
                <a:srgbClr val="92D050"/>
              </a:fgClr>
              <a:bgClr>
                <a:sysClr val="window" lastClr="FFFFFF"/>
              </a:bgClr>
            </a:pattFill>
            <a:ln w="317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747794" y="1915890"/>
              <a:ext cx="314960" cy="660400"/>
            </a:xfrm>
            <a:prstGeom prst="rect">
              <a:avLst/>
            </a:prstGeom>
            <a:solidFill>
              <a:srgbClr val="92D050"/>
            </a:solidFill>
            <a:ln w="317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929965" y="1915890"/>
              <a:ext cx="314960" cy="660400"/>
            </a:xfrm>
            <a:prstGeom prst="rect">
              <a:avLst/>
            </a:prstGeom>
            <a:pattFill prst="wdUpDiag">
              <a:fgClr>
                <a:srgbClr val="92D050"/>
              </a:fgClr>
              <a:bgClr>
                <a:sysClr val="window" lastClr="FFFFFF"/>
              </a:bgClr>
            </a:pattFill>
            <a:ln w="317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5965982" y="1915890"/>
              <a:ext cx="314960" cy="660400"/>
            </a:xfrm>
            <a:prstGeom prst="rect">
              <a:avLst/>
            </a:prstGeom>
            <a:solidFill>
              <a:srgbClr val="F79646">
                <a:lumMod val="75000"/>
              </a:srgbClr>
            </a:solidFill>
            <a:ln w="317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5572282" y="1915890"/>
              <a:ext cx="314960" cy="660400"/>
            </a:xfrm>
            <a:prstGeom prst="rect">
              <a:avLst/>
            </a:prstGeom>
            <a:pattFill prst="wdUpDiag">
              <a:fgClr>
                <a:srgbClr val="92D050"/>
              </a:fgClr>
              <a:bgClr>
                <a:sysClr val="window" lastClr="FFFFFF"/>
              </a:bgClr>
            </a:pattFill>
            <a:ln w="317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7141494" y="1915890"/>
              <a:ext cx="314960" cy="660400"/>
            </a:xfrm>
            <a:prstGeom prst="rect">
              <a:avLst/>
            </a:prstGeom>
            <a:solidFill>
              <a:srgbClr val="F79646">
                <a:lumMod val="75000"/>
              </a:srgbClr>
            </a:solidFill>
            <a:ln w="317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783303" y="1915890"/>
              <a:ext cx="314960" cy="660400"/>
            </a:xfrm>
            <a:prstGeom prst="rect">
              <a:avLst/>
            </a:prstGeom>
            <a:solidFill>
              <a:srgbClr val="92D050"/>
            </a:solidFill>
            <a:ln w="317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3993761" y="1915890"/>
              <a:ext cx="314960" cy="660400"/>
            </a:xfrm>
            <a:prstGeom prst="rect">
              <a:avLst/>
            </a:prstGeom>
            <a:solidFill>
              <a:srgbClr val="92D050"/>
            </a:solidFill>
            <a:ln w="317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388532" y="1915890"/>
              <a:ext cx="314960" cy="660400"/>
            </a:xfrm>
            <a:prstGeom prst="rect">
              <a:avLst/>
            </a:prstGeom>
            <a:solidFill>
              <a:srgbClr val="F79646">
                <a:lumMod val="75000"/>
              </a:srgbClr>
            </a:solidFill>
            <a:ln w="317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598990" y="1915890"/>
              <a:ext cx="314960" cy="660400"/>
            </a:xfrm>
            <a:prstGeom prst="rect">
              <a:avLst/>
            </a:prstGeom>
            <a:solidFill>
              <a:srgbClr val="92D050"/>
            </a:solidFill>
            <a:ln w="317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3204219" y="1915890"/>
              <a:ext cx="314960" cy="660400"/>
            </a:xfrm>
            <a:prstGeom prst="rect">
              <a:avLst/>
            </a:prstGeom>
            <a:pattFill prst="wdUpDiag">
              <a:fgClr>
                <a:srgbClr val="92D050"/>
              </a:fgClr>
              <a:bgClr>
                <a:sysClr val="window" lastClr="FFFFFF"/>
              </a:bgClr>
            </a:pattFill>
            <a:ln w="317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2809240" y="1915890"/>
              <a:ext cx="314960" cy="660400"/>
            </a:xfrm>
            <a:prstGeom prst="rect">
              <a:avLst/>
            </a:prstGeom>
            <a:solidFill>
              <a:srgbClr val="F79646">
                <a:lumMod val="75000"/>
              </a:srgbClr>
            </a:solidFill>
            <a:ln w="317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2416048" y="1915890"/>
              <a:ext cx="314960" cy="660400"/>
            </a:xfrm>
            <a:prstGeom prst="rect">
              <a:avLst/>
            </a:prstGeom>
            <a:solidFill>
              <a:srgbClr val="F79646">
                <a:lumMod val="75000"/>
              </a:srgbClr>
            </a:solidFill>
            <a:ln w="317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6756968" y="2997076"/>
            <a:ext cx="2215285" cy="1184399"/>
            <a:chOff x="6939135" y="2923316"/>
            <a:chExt cx="2215285" cy="1184399"/>
          </a:xfrm>
        </p:grpSpPr>
        <p:sp>
          <p:nvSpPr>
            <p:cNvPr id="27" name="Rectangle 26"/>
            <p:cNvSpPr/>
            <p:nvPr/>
          </p:nvSpPr>
          <p:spPr>
            <a:xfrm>
              <a:off x="7047127" y="3242242"/>
              <a:ext cx="371643" cy="216796"/>
            </a:xfrm>
            <a:prstGeom prst="rect">
              <a:avLst/>
            </a:prstGeom>
            <a:pattFill prst="wdUpDiag">
              <a:fgClr>
                <a:srgbClr val="92D050"/>
              </a:fgClr>
              <a:bgClr>
                <a:sysClr val="window" lastClr="FFFFFF"/>
              </a:bgClr>
            </a:pattFill>
            <a:ln w="317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7047127" y="3538676"/>
              <a:ext cx="371643" cy="216796"/>
            </a:xfrm>
            <a:prstGeom prst="rect">
              <a:avLst/>
            </a:prstGeom>
            <a:solidFill>
              <a:srgbClr val="92D050"/>
            </a:solidFill>
            <a:ln w="317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463764" y="3224443"/>
              <a:ext cx="169065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Calibri"/>
                  <a:cs typeface="+mn-cs"/>
                </a:rPr>
                <a:t>Ready, but not executed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465328" y="3516261"/>
              <a:ext cx="73359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Calibri"/>
                  <a:cs typeface="+mn-cs"/>
                </a:rPr>
                <a:t>Executes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939135" y="2923316"/>
              <a:ext cx="76027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Calibri"/>
                  <a:cs typeface="+mn-cs"/>
                </a:rPr>
                <a:t>Legend: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7047127" y="3863927"/>
              <a:ext cx="371643" cy="216796"/>
            </a:xfrm>
            <a:prstGeom prst="rect">
              <a:avLst/>
            </a:prstGeom>
            <a:solidFill>
              <a:srgbClr val="F79646">
                <a:lumMod val="75000"/>
              </a:srgbClr>
            </a:solidFill>
            <a:ln w="317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467334" y="3830716"/>
              <a:ext cx="12099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Calibri"/>
                  <a:cs typeface="+mn-cs"/>
                </a:rPr>
                <a:t>Not ready</a:t>
              </a:r>
            </a:p>
          </p:txBody>
        </p:sp>
      </p:grpSp>
      <p:sp>
        <p:nvSpPr>
          <p:cNvPr id="34" name="Rectangle 33"/>
          <p:cNvSpPr/>
          <p:nvPr/>
        </p:nvSpPr>
        <p:spPr>
          <a:xfrm>
            <a:off x="2023201" y="1570030"/>
            <a:ext cx="314960" cy="660400"/>
          </a:xfrm>
          <a:prstGeom prst="rect">
            <a:avLst/>
          </a:prstGeom>
          <a:solidFill>
            <a:sysClr val="window" lastClr="FFFFFF"/>
          </a:solidFill>
          <a:ln w="3175" cap="flat" cmpd="sng" algn="ctr">
            <a:solidFill>
              <a:sysClr val="windowText" lastClr="000000"/>
            </a:solidFill>
            <a:prstDash val="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?</a:t>
            </a:r>
          </a:p>
        </p:txBody>
      </p:sp>
      <p:sp>
        <p:nvSpPr>
          <p:cNvPr id="35" name="Rounded Rectangular Callout 34"/>
          <p:cNvSpPr/>
          <p:nvPr/>
        </p:nvSpPr>
        <p:spPr>
          <a:xfrm>
            <a:off x="509543" y="2443966"/>
            <a:ext cx="1709238" cy="1002064"/>
          </a:xfrm>
          <a:prstGeom prst="wedgeRoundRectCallout">
            <a:avLst>
              <a:gd name="adj1" fmla="val 37830"/>
              <a:gd name="adj2" fmla="val -68462"/>
              <a:gd name="adj3" fmla="val 16667"/>
            </a:avLst>
          </a:prstGeom>
          <a:solidFill>
            <a:sysClr val="window" lastClr="FFFFFF"/>
          </a:solidFill>
          <a:ln w="19050" cap="flat" cmpd="sng" algn="ctr">
            <a:solidFill>
              <a:srgbClr val="4F81BD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r3 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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4BACC6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r1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+ 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8064A2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r2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0" u="none" strike="noStrike" kern="0" cap="none" spc="0" normalizeH="0" baseline="0" noProof="0" dirty="0" smtClean="0">
              <a:ln>
                <a:noFill/>
              </a:ln>
              <a:solidFill>
                <a:srgbClr val="4BACC6">
                  <a:lumMod val="75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</p:txBody>
      </p:sp>
      <p:sp>
        <p:nvSpPr>
          <p:cNvPr id="36" name="Rounded Rectangular Callout 35"/>
          <p:cNvSpPr/>
          <p:nvPr/>
        </p:nvSpPr>
        <p:spPr>
          <a:xfrm>
            <a:off x="3045311" y="2432878"/>
            <a:ext cx="1092118" cy="421009"/>
          </a:xfrm>
          <a:prstGeom prst="wedgeRoundRectCallout">
            <a:avLst>
              <a:gd name="adj1" fmla="val 36493"/>
              <a:gd name="adj2" fmla="val -97421"/>
              <a:gd name="adj3" fmla="val 16667"/>
            </a:avLst>
          </a:prstGeom>
          <a:solidFill>
            <a:sysClr val="window" lastClr="FFFFFF"/>
          </a:solidFill>
          <a:ln w="19050" cap="flat" cmpd="sng" algn="ctr">
            <a:solidFill>
              <a:srgbClr val="4F81BD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4BACC6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r1 </a:t>
            </a:r>
            <a: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</a:t>
            </a:r>
            <a: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…</a:t>
            </a:r>
            <a:endParaRPr kumimoji="0" lang="en-US" sz="1500" b="0" i="0" u="none" strike="noStrike" kern="0" cap="none" spc="0" normalizeH="0" baseline="0" noProof="0" dirty="0" smtClean="0">
              <a:ln>
                <a:noFill/>
              </a:ln>
              <a:solidFill>
                <a:srgbClr val="8064A2">
                  <a:lumMod val="75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</p:txBody>
      </p:sp>
      <p:grpSp>
        <p:nvGrpSpPr>
          <p:cNvPr id="37" name="Group 36"/>
          <p:cNvGrpSpPr/>
          <p:nvPr/>
        </p:nvGrpSpPr>
        <p:grpSpPr>
          <a:xfrm>
            <a:off x="2408428" y="1131474"/>
            <a:ext cx="5828877" cy="353768"/>
            <a:chOff x="2408428" y="1477334"/>
            <a:chExt cx="5828877" cy="353768"/>
          </a:xfrm>
        </p:grpSpPr>
        <p:sp>
          <p:nvSpPr>
            <p:cNvPr id="38" name="Rectangle 37"/>
            <p:cNvSpPr/>
            <p:nvPr/>
          </p:nvSpPr>
          <p:spPr>
            <a:xfrm>
              <a:off x="6351554" y="1477334"/>
              <a:ext cx="314960" cy="353768"/>
            </a:xfrm>
            <a:prstGeom prst="rect">
              <a:avLst/>
            </a:prstGeom>
            <a:solidFill>
              <a:sysClr val="window" lastClr="FFFFFF"/>
            </a:solidFill>
            <a:ln w="3175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5170454" y="1477334"/>
              <a:ext cx="314960" cy="353768"/>
            </a:xfrm>
            <a:prstGeom prst="rect">
              <a:avLst/>
            </a:prstGeom>
            <a:solidFill>
              <a:sysClr val="window" lastClr="FFFFFF"/>
            </a:solidFill>
            <a:ln w="3175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7527574" y="1477334"/>
              <a:ext cx="314960" cy="353768"/>
            </a:xfrm>
            <a:prstGeom prst="rect">
              <a:avLst/>
            </a:prstGeom>
            <a:solidFill>
              <a:sysClr val="window" lastClr="FFFFFF"/>
            </a:solidFill>
            <a:ln w="3175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6740174" y="1477334"/>
              <a:ext cx="314960" cy="353768"/>
            </a:xfrm>
            <a:prstGeom prst="rect">
              <a:avLst/>
            </a:prstGeom>
            <a:solidFill>
              <a:sysClr val="window" lastClr="FFFFFF"/>
            </a:solidFill>
            <a:ln w="3175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7922345" y="1477334"/>
              <a:ext cx="314960" cy="353768"/>
            </a:xfrm>
            <a:prstGeom prst="rect">
              <a:avLst/>
            </a:prstGeom>
            <a:solidFill>
              <a:sysClr val="window" lastClr="FFFFFF"/>
            </a:solidFill>
            <a:ln w="3175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5958362" y="1477334"/>
              <a:ext cx="314960" cy="353768"/>
            </a:xfrm>
            <a:prstGeom prst="rect">
              <a:avLst/>
            </a:prstGeom>
            <a:solidFill>
              <a:sysClr val="window" lastClr="FFFFFF"/>
            </a:solidFill>
            <a:ln w="3175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5564662" y="1477334"/>
              <a:ext cx="314960" cy="353768"/>
            </a:xfrm>
            <a:prstGeom prst="rect">
              <a:avLst/>
            </a:prstGeom>
            <a:solidFill>
              <a:sysClr val="window" lastClr="FFFFFF"/>
            </a:solidFill>
            <a:ln w="3175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7133874" y="1477334"/>
              <a:ext cx="314960" cy="353768"/>
            </a:xfrm>
            <a:prstGeom prst="rect">
              <a:avLst/>
            </a:prstGeom>
            <a:solidFill>
              <a:sysClr val="window" lastClr="FFFFFF"/>
            </a:solidFill>
            <a:ln w="3175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4775683" y="1477334"/>
              <a:ext cx="314960" cy="353768"/>
            </a:xfrm>
            <a:prstGeom prst="rect">
              <a:avLst/>
            </a:prstGeom>
            <a:solidFill>
              <a:sysClr val="window" lastClr="FFFFFF"/>
            </a:solidFill>
            <a:ln w="3175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3986141" y="1477334"/>
              <a:ext cx="314960" cy="353768"/>
            </a:xfrm>
            <a:prstGeom prst="rect">
              <a:avLst/>
            </a:prstGeom>
            <a:solidFill>
              <a:sysClr val="window" lastClr="FFFFFF"/>
            </a:solidFill>
            <a:ln w="3175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4380912" y="1477334"/>
              <a:ext cx="314960" cy="353768"/>
            </a:xfrm>
            <a:prstGeom prst="rect">
              <a:avLst/>
            </a:prstGeom>
            <a:solidFill>
              <a:sysClr val="window" lastClr="FFFFFF"/>
            </a:solidFill>
            <a:ln w="3175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3591370" y="1477334"/>
              <a:ext cx="314960" cy="353768"/>
            </a:xfrm>
            <a:prstGeom prst="rect">
              <a:avLst/>
            </a:prstGeom>
            <a:solidFill>
              <a:sysClr val="window" lastClr="FFFFFF"/>
            </a:solidFill>
            <a:ln w="3175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3196599" y="1477334"/>
              <a:ext cx="314960" cy="353768"/>
            </a:xfrm>
            <a:prstGeom prst="rect">
              <a:avLst/>
            </a:prstGeom>
            <a:solidFill>
              <a:sysClr val="window" lastClr="FFFFFF"/>
            </a:solidFill>
            <a:ln w="3175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2801620" y="1477334"/>
              <a:ext cx="314960" cy="353768"/>
            </a:xfrm>
            <a:prstGeom prst="rect">
              <a:avLst/>
            </a:prstGeom>
            <a:solidFill>
              <a:sysClr val="window" lastClr="FFFFFF"/>
            </a:solidFill>
            <a:ln w="3175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2408428" y="1477334"/>
              <a:ext cx="314960" cy="353768"/>
            </a:xfrm>
            <a:prstGeom prst="rect">
              <a:avLst/>
            </a:prstGeom>
            <a:solidFill>
              <a:sysClr val="window" lastClr="FFFFFF"/>
            </a:solidFill>
            <a:ln w="3175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14</a:t>
              </a:r>
            </a:p>
          </p:txBody>
        </p:sp>
      </p:grpSp>
      <p:sp>
        <p:nvSpPr>
          <p:cNvPr id="53" name="Rectangle 52"/>
          <p:cNvSpPr/>
          <p:nvPr/>
        </p:nvSpPr>
        <p:spPr>
          <a:xfrm>
            <a:off x="2015581" y="1131474"/>
            <a:ext cx="314960" cy="353768"/>
          </a:xfrm>
          <a:prstGeom prst="rect">
            <a:avLst/>
          </a:prstGeom>
          <a:solidFill>
            <a:sysClr val="window" lastClr="FFFFFF"/>
          </a:solidFill>
          <a:ln w="3175" cap="flat" cmpd="sng" algn="ctr">
            <a:noFill/>
            <a:prstDash val="dash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15</a:t>
            </a:r>
          </a:p>
        </p:txBody>
      </p:sp>
      <p:sp>
        <p:nvSpPr>
          <p:cNvPr id="54" name="Rounded Rectangular Callout 53"/>
          <p:cNvSpPr/>
          <p:nvPr/>
        </p:nvSpPr>
        <p:spPr>
          <a:xfrm>
            <a:off x="6610642" y="2423778"/>
            <a:ext cx="1406118" cy="421009"/>
          </a:xfrm>
          <a:prstGeom prst="wedgeRoundRectCallout">
            <a:avLst>
              <a:gd name="adj1" fmla="val 26088"/>
              <a:gd name="adj2" fmla="val -95973"/>
              <a:gd name="adj3" fmla="val 16667"/>
            </a:avLst>
          </a:prstGeom>
          <a:solidFill>
            <a:sysClr val="window" lastClr="FFFFFF"/>
          </a:solidFill>
          <a:ln w="19050" cap="flat" cmpd="sng" algn="ctr">
            <a:solidFill>
              <a:srgbClr val="4F81BD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kern="0" dirty="0" smtClean="0">
                <a:latin typeface="Consolas" panose="020B0609020204030204" pitchFamily="49" charset="0"/>
                <a:cs typeface="Consolas" panose="020B0609020204030204" pitchFamily="49" charset="0"/>
              </a:rPr>
              <a:t>…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4BACC6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</a:t>
            </a:r>
            <a:r>
              <a:rPr lang="en-US" sz="1400" kern="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 </a:t>
            </a:r>
            <a:r>
              <a:rPr kumimoji="0" lang="en-US" sz="160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r3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+ …</a:t>
            </a:r>
            <a:endParaRPr kumimoji="0" lang="en-US" b="0" i="0" u="none" strike="noStrike" kern="0" cap="none" spc="0" normalizeH="0" baseline="0" noProof="0" dirty="0" smtClean="0">
              <a:ln>
                <a:noFill/>
              </a:ln>
              <a:solidFill>
                <a:srgbClr val="8064A2">
                  <a:lumMod val="75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</p:txBody>
      </p:sp>
      <p:sp>
        <p:nvSpPr>
          <p:cNvPr id="55" name="Rounded Rectangular Callout 54"/>
          <p:cNvSpPr/>
          <p:nvPr/>
        </p:nvSpPr>
        <p:spPr>
          <a:xfrm>
            <a:off x="4462264" y="2434638"/>
            <a:ext cx="1765410" cy="793934"/>
          </a:xfrm>
          <a:prstGeom prst="wedgeRoundRectCallout">
            <a:avLst>
              <a:gd name="adj1" fmla="val 35672"/>
              <a:gd name="adj2" fmla="val -75180"/>
              <a:gd name="adj3" fmla="val 16667"/>
            </a:avLst>
          </a:prstGeom>
          <a:solidFill>
            <a:sysClr val="window" lastClr="FFFFFF"/>
          </a:solidFill>
          <a:ln w="19050" cap="flat" cmpd="sng" algn="ctr">
            <a:solidFill>
              <a:srgbClr val="4F81BD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8064A2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r2 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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…</a:t>
            </a:r>
            <a:endParaRPr kumimoji="0" lang="en-US" sz="1600" b="0" i="0" u="none" strike="noStrike" kern="0" cap="none" spc="0" normalizeH="0" baseline="0" noProof="0" dirty="0" smtClean="0">
              <a:ln>
                <a:noFill/>
              </a:ln>
              <a:solidFill>
                <a:srgbClr val="8064A2">
                  <a:lumMod val="75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0" u="none" strike="noStrike" kern="0" cap="none" spc="0" normalizeH="0" baseline="0" noProof="0" dirty="0" smtClean="0">
              <a:ln>
                <a:noFill/>
              </a:ln>
              <a:solidFill>
                <a:srgbClr val="4BACC6">
                  <a:lumMod val="75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115864" y="2854540"/>
            <a:ext cx="668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600" b="1" dirty="0" smtClean="0">
                <a:solidFill>
                  <a:srgbClr val="92D050"/>
                </a:solidFill>
                <a:latin typeface="Calibri"/>
                <a:cs typeface="+mn-cs"/>
              </a:rPr>
              <a:t>ready</a:t>
            </a:r>
            <a:endParaRPr lang="ru-RU" sz="1600" b="1" dirty="0">
              <a:solidFill>
                <a:srgbClr val="92D050"/>
              </a:solidFill>
              <a:latin typeface="Calibri"/>
              <a:cs typeface="+mn-cs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115864" y="3085846"/>
            <a:ext cx="10063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600" b="1" dirty="0" smtClean="0">
                <a:solidFill>
                  <a:srgbClr val="E46C0A"/>
                </a:solidFill>
                <a:latin typeface="Calibri"/>
                <a:cs typeface="+mn-cs"/>
              </a:rPr>
              <a:t>not ready</a:t>
            </a:r>
            <a:endParaRPr lang="ru-RU" sz="1600" b="1" dirty="0">
              <a:solidFill>
                <a:srgbClr val="E46C0A"/>
              </a:solidFill>
              <a:latin typeface="Calibri"/>
              <a:cs typeface="+mn-cs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5533722" y="2826101"/>
            <a:ext cx="6960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600" dirty="0" smtClean="0">
                <a:solidFill>
                  <a:prstClr val="black"/>
                </a:solidFill>
                <a:latin typeface="Calibri"/>
                <a:cs typeface="+mn-cs"/>
              </a:rPr>
              <a:t>.., #15</a:t>
            </a:r>
            <a:endParaRPr lang="ru-RU" sz="1600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559953" y="2844418"/>
            <a:ext cx="64307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4BACC6">
                    <a:lumMod val="75000"/>
                  </a:srgbClr>
                </a:solidFill>
                <a:latin typeface="Calibri"/>
                <a:cs typeface="Consolas" panose="020B0609020204030204" pitchFamily="49" charset="0"/>
              </a:rPr>
              <a:t>Src1: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8064A2">
                    <a:lumMod val="75000"/>
                  </a:srgbClr>
                </a:solidFill>
                <a:latin typeface="Calibri"/>
                <a:cs typeface="Consolas" panose="020B0609020204030204" pitchFamily="49" charset="0"/>
              </a:rPr>
              <a:t>Src2: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499832" y="2829995"/>
            <a:ext cx="1149610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500" dirty="0">
                <a:solidFill>
                  <a:srgbClr val="604A7B"/>
                </a:solidFill>
                <a:latin typeface="Calibri"/>
                <a:cs typeface="Consolas" panose="020B0609020204030204" pitchFamily="49" charset="0"/>
              </a:rPr>
              <a:t>Consumers:</a:t>
            </a:r>
            <a:r>
              <a:rPr lang="en-US" sz="1500" dirty="0">
                <a:solidFill>
                  <a:srgbClr val="7030A0"/>
                </a:solidFill>
                <a:latin typeface="Calibri"/>
                <a:cs typeface="Consolas" panose="020B0609020204030204" pitchFamily="49" charset="0"/>
              </a:rPr>
              <a:t> 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04799" y="3975914"/>
            <a:ext cx="8667453" cy="7355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spcBef>
                <a:spcPct val="20000"/>
              </a:spcBef>
              <a:buFont typeface="Arial" charset="0"/>
              <a:buChar char="–"/>
            </a:pPr>
            <a:r>
              <a:rPr lang="en-US" sz="1900" dirty="0">
                <a:solidFill>
                  <a:prstClr val="black"/>
                </a:solidFill>
                <a:latin typeface="Calibri"/>
                <a:cs typeface="+mn-cs"/>
              </a:rPr>
              <a:t>If both sources are ready then instruction is ready</a:t>
            </a:r>
          </a:p>
          <a:p>
            <a:pPr marL="742950" lvl="1" indent="-285750">
              <a:spcBef>
                <a:spcPct val="20000"/>
              </a:spcBef>
              <a:buFont typeface="Arial" charset="0"/>
              <a:buChar char="–"/>
            </a:pPr>
            <a:r>
              <a:rPr lang="en-US" sz="1900" dirty="0">
                <a:solidFill>
                  <a:prstClr val="black"/>
                </a:solidFill>
                <a:latin typeface="Calibri"/>
                <a:cs typeface="+mn-cs"/>
              </a:rPr>
              <a:t>If a source is </a:t>
            </a:r>
            <a:r>
              <a:rPr lang="en-US" sz="1900" dirty="0" smtClean="0">
                <a:solidFill>
                  <a:prstClr val="black"/>
                </a:solidFill>
                <a:latin typeface="Calibri"/>
                <a:cs typeface="+mn-cs"/>
              </a:rPr>
              <a:t>not ready, write the instr# into the consumer list of producer</a:t>
            </a:r>
            <a:endParaRPr lang="ru-RU" sz="1900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62" name="Content Placeholder 2"/>
          <p:cNvSpPr txBox="1">
            <a:spLocks/>
          </p:cNvSpPr>
          <p:nvPr/>
        </p:nvSpPr>
        <p:spPr bwMode="auto">
          <a:xfrm>
            <a:off x="352601" y="4793582"/>
            <a:ext cx="8142507" cy="840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When instruction becomes ready, it says </a:t>
            </a:r>
            <a:r>
              <a:rPr lang="en-US" sz="2200" dirty="0" smtClean="0">
                <a:solidFill>
                  <a:prstClr val="black"/>
                </a:solidFill>
                <a:latin typeface="Calibri"/>
              </a:rPr>
              <a:t>its 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consumers that their sources become ready too</a:t>
            </a:r>
          </a:p>
        </p:txBody>
      </p:sp>
      <p:sp>
        <p:nvSpPr>
          <p:cNvPr id="63" name="Content Placeholder 2"/>
          <p:cNvSpPr txBox="1">
            <a:spLocks/>
          </p:cNvSpPr>
          <p:nvPr/>
        </p:nvSpPr>
        <p:spPr bwMode="auto">
          <a:xfrm>
            <a:off x="356667" y="5652770"/>
            <a:ext cx="8142507" cy="938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200" b="1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Is</a:t>
            </a:r>
            <a:r>
              <a:rPr kumimoji="0" lang="en-US" sz="2200" b="1" i="1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it enough? </a:t>
            </a:r>
            <a:endParaRPr kumimoji="0" lang="en-US" sz="2200" b="1" i="1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680720" y="5652770"/>
            <a:ext cx="781438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1600200">
              <a:spcBef>
                <a:spcPct val="20000"/>
              </a:spcBef>
              <a:defRPr/>
            </a:pPr>
            <a:r>
              <a:rPr lang="en-US" sz="2200" dirty="0">
                <a:solidFill>
                  <a:prstClr val="black"/>
                </a:solidFill>
                <a:latin typeface="Calibri"/>
              </a:rPr>
              <a:t>No, need to wait until the previous value of the destination is read by all consumers. </a:t>
            </a:r>
            <a:endParaRPr lang="en-US" sz="2200" b="1" i="1" dirty="0">
              <a:solidFill>
                <a:srgbClr val="061922"/>
              </a:solidFill>
              <a:latin typeface="Calibri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4896269" y="5991324"/>
            <a:ext cx="340759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20000"/>
              </a:spcBef>
              <a:defRPr/>
            </a:pPr>
            <a:r>
              <a:rPr lang="en-US" sz="2200" b="1" i="1" dirty="0">
                <a:solidFill>
                  <a:srgbClr val="061922"/>
                </a:solidFill>
                <a:latin typeface="Calibri"/>
              </a:rPr>
              <a:t>Is it a real dependency?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58738" y="2542076"/>
            <a:ext cx="409086" cy="246221"/>
          </a:xfrm>
          <a:prstGeom prst="rect">
            <a:avLst/>
          </a:prstGeom>
          <a:solidFill>
            <a:schemeClr val="bg1"/>
          </a:solidFill>
        </p:spPr>
        <p:txBody>
          <a:bodyPr wrap="none" tIns="0" bIns="0">
            <a:spAutoFit/>
          </a:bodyPr>
          <a:lstStyle/>
          <a:p>
            <a:r>
              <a:rPr lang="en-US" sz="1600" kern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endParaRPr lang="ru-RU" sz="1600" dirty="0"/>
          </a:p>
        </p:txBody>
      </p:sp>
      <p:sp>
        <p:nvSpPr>
          <p:cNvPr id="68" name="Rectangle 67"/>
          <p:cNvSpPr/>
          <p:nvPr/>
        </p:nvSpPr>
        <p:spPr>
          <a:xfrm>
            <a:off x="4892544" y="5991324"/>
            <a:ext cx="2892213" cy="43088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0">
              <a:spcBef>
                <a:spcPct val="20000"/>
              </a:spcBef>
              <a:defRPr/>
            </a:pPr>
            <a:r>
              <a:rPr lang="en-US" sz="2200" dirty="0">
                <a:latin typeface="Calibri"/>
              </a:rPr>
              <a:t>I</a:t>
            </a:r>
            <a:r>
              <a:rPr lang="en-US" sz="2200" dirty="0" smtClean="0">
                <a:latin typeface="Calibri"/>
              </a:rPr>
              <a:t>t </a:t>
            </a:r>
            <a:r>
              <a:rPr lang="en-US" sz="2200" dirty="0">
                <a:latin typeface="Calibri"/>
              </a:rPr>
              <a:t>a </a:t>
            </a:r>
            <a:r>
              <a:rPr lang="en-US" sz="2200" b="1" dirty="0" smtClean="0">
                <a:latin typeface="Calibri"/>
              </a:rPr>
              <a:t>false dependency</a:t>
            </a:r>
            <a:r>
              <a:rPr lang="en-US" sz="2200" dirty="0">
                <a:latin typeface="Calibri"/>
              </a:rPr>
              <a:t>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7247191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/>
      <p:bldP spid="8" grpId="0"/>
      <p:bldP spid="9" grpId="0"/>
      <p:bldP spid="34" grpId="0" animBg="1"/>
      <p:bldP spid="35" grpId="0" animBg="1"/>
      <p:bldP spid="36" grpId="0" animBg="1"/>
      <p:bldP spid="53" grpId="0" animBg="1"/>
      <p:bldP spid="54" grpId="0" animBg="1"/>
      <p:bldP spid="55" grpId="0" animBg="1"/>
      <p:bldP spid="56" grpId="0"/>
      <p:bldP spid="57" grpId="0"/>
      <p:bldP spid="58" grpId="0"/>
      <p:bldP spid="59" grpId="0"/>
      <p:bldP spid="60" grpId="0"/>
      <p:bldP spid="63" grpId="0"/>
      <p:bldP spid="65" grpId="0"/>
      <p:bldP spid="66" grpId="0"/>
      <p:bldP spid="67" grpId="0" animBg="1"/>
      <p:bldP spid="68" grpId="0" animBg="1"/>
    </p:bldLst>
  </p:timing>
  <p:extLst mod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Large Is Window Needed?</a:t>
            </a:r>
            <a:endParaRPr lang="ru-RU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 bwMode="auto">
          <a:xfrm>
            <a:off x="457200" y="1047750"/>
            <a:ext cx="7924800" cy="542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 short, the larger window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→ the better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Find more independent instructions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Hide longer latencies (e.g., cache misses, long operations)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Example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modern CPU has a window of 200 instructions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If we want execute 4 instruction per cycle, then we can hide latency of 50 cycles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It is enough to hide L1 and L2 misses, but not L3 miss (≈200 cycles)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24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But, there are limitations to find independent instructions in a large window: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branches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and </a:t>
            </a: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false dependencies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1646393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 mod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Limitation: Branches</a:t>
            </a:r>
            <a:endParaRPr lang="ru-RU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 bwMode="auto">
          <a:xfrm>
            <a:off x="338861" y="914400"/>
            <a:ext cx="8245741" cy="1507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How to fill a large window from a single sequential instruction stream in presence of branches?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0995" y="2497090"/>
            <a:ext cx="7406640" cy="768096"/>
          </a:xfrm>
          <a:prstGeom prst="roundRect">
            <a:avLst>
              <a:gd name="adj" fmla="val 9409"/>
            </a:avLst>
          </a:prstGeom>
          <a:solidFill>
            <a:srgbClr val="4F81BD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916355" y="2543826"/>
            <a:ext cx="314960" cy="660400"/>
          </a:xfrm>
          <a:prstGeom prst="rect">
            <a:avLst/>
          </a:prstGeom>
          <a:pattFill prst="wdUpDiag">
            <a:fgClr>
              <a:srgbClr val="4F81BD"/>
            </a:fgClr>
            <a:bgClr>
              <a:srgbClr val="4F81BD">
                <a:lumMod val="40000"/>
                <a:lumOff val="60000"/>
              </a:srgbClr>
            </a:bgClr>
          </a:pattFill>
          <a:ln w="3175" cap="flat" cmpd="sng" algn="ctr">
            <a:solidFill>
              <a:srgbClr val="4F81B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ight Arrow 5"/>
          <p:cNvSpPr/>
          <p:nvPr/>
        </p:nvSpPr>
        <p:spPr>
          <a:xfrm>
            <a:off x="340062" y="2766330"/>
            <a:ext cx="413738" cy="236411"/>
          </a:xfrm>
          <a:prstGeom prst="rightArrow">
            <a:avLst/>
          </a:prstGeom>
          <a:solidFill>
            <a:srgbClr val="4F81BD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ight Arrow 6"/>
          <p:cNvSpPr/>
          <p:nvPr/>
        </p:nvSpPr>
        <p:spPr>
          <a:xfrm>
            <a:off x="8384469" y="2770044"/>
            <a:ext cx="413738" cy="236411"/>
          </a:xfrm>
          <a:prstGeom prst="rightArrow">
            <a:avLst/>
          </a:prstGeom>
          <a:solidFill>
            <a:srgbClr val="4F81BD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646" y="2454664"/>
            <a:ext cx="6949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prstClr val="black"/>
                </a:solidFill>
                <a:latin typeface="Calibri"/>
                <a:cs typeface="+mn-cs"/>
              </a:rPr>
              <a:t>Fetch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91320" y="2420612"/>
            <a:ext cx="7422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prstClr val="black"/>
                </a:solidFill>
                <a:latin typeface="Calibri"/>
                <a:cs typeface="+mn-cs"/>
              </a:rPr>
              <a:t>Retire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22655" y="2543826"/>
            <a:ext cx="314960" cy="660400"/>
          </a:xfrm>
          <a:prstGeom prst="rect">
            <a:avLst/>
          </a:prstGeom>
          <a:pattFill prst="wdUpDiag">
            <a:fgClr>
              <a:srgbClr val="4F81BD"/>
            </a:fgClr>
            <a:bgClr>
              <a:srgbClr val="4F81BD">
                <a:lumMod val="40000"/>
                <a:lumOff val="60000"/>
              </a:srgbClr>
            </a:bgClr>
          </a:pattFill>
          <a:ln w="3175" cap="flat" cmpd="sng" algn="ctr">
            <a:solidFill>
              <a:srgbClr val="4F81B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128955" y="2543826"/>
            <a:ext cx="314960" cy="660400"/>
          </a:xfrm>
          <a:prstGeom prst="rect">
            <a:avLst/>
          </a:prstGeom>
          <a:pattFill prst="wdUpDiag">
            <a:fgClr>
              <a:srgbClr val="4F81BD"/>
            </a:fgClr>
            <a:bgClr>
              <a:srgbClr val="4F81BD">
                <a:lumMod val="40000"/>
                <a:lumOff val="60000"/>
              </a:srgbClr>
            </a:bgClr>
          </a:pattFill>
          <a:ln w="3175" cap="flat" cmpd="sng" algn="ctr">
            <a:solidFill>
              <a:srgbClr val="4F81B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346635" y="2543826"/>
            <a:ext cx="314960" cy="660400"/>
          </a:xfrm>
          <a:prstGeom prst="rect">
            <a:avLst/>
          </a:prstGeom>
          <a:pattFill prst="wdUpDiag">
            <a:fgClr>
              <a:srgbClr val="4F81BD"/>
            </a:fgClr>
            <a:bgClr>
              <a:srgbClr val="4F81BD">
                <a:lumMod val="40000"/>
                <a:lumOff val="60000"/>
              </a:srgbClr>
            </a:bgClr>
          </a:pattFill>
          <a:ln w="3175" cap="flat" cmpd="sng" algn="ctr">
            <a:solidFill>
              <a:srgbClr val="4F81B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952935" y="2543826"/>
            <a:ext cx="314960" cy="660400"/>
          </a:xfrm>
          <a:prstGeom prst="rect">
            <a:avLst/>
          </a:prstGeom>
          <a:pattFill prst="wdUpDiag">
            <a:fgClr>
              <a:srgbClr val="4F81BD"/>
            </a:fgClr>
            <a:bgClr>
              <a:srgbClr val="4F81BD">
                <a:lumMod val="40000"/>
                <a:lumOff val="60000"/>
              </a:srgbClr>
            </a:bgClr>
          </a:pattFill>
          <a:ln w="3175" cap="flat" cmpd="sng" algn="ctr">
            <a:solidFill>
              <a:srgbClr val="4F81B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559235" y="2543826"/>
            <a:ext cx="314960" cy="660400"/>
          </a:xfrm>
          <a:prstGeom prst="rect">
            <a:avLst/>
          </a:prstGeom>
          <a:pattFill prst="wdUpDiag">
            <a:fgClr>
              <a:srgbClr val="4F81BD"/>
            </a:fgClr>
            <a:bgClr>
              <a:srgbClr val="4F81BD">
                <a:lumMod val="40000"/>
                <a:lumOff val="60000"/>
              </a:srgbClr>
            </a:bgClr>
          </a:pattFill>
          <a:ln w="3175" cap="flat" cmpd="sng" algn="ctr">
            <a:solidFill>
              <a:srgbClr val="4F81B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165535" y="2543826"/>
            <a:ext cx="314960" cy="660400"/>
          </a:xfrm>
          <a:prstGeom prst="rect">
            <a:avLst/>
          </a:prstGeom>
          <a:pattFill prst="wdUpDiag">
            <a:fgClr>
              <a:srgbClr val="4F81BD"/>
            </a:fgClr>
            <a:bgClr>
              <a:srgbClr val="4F81BD">
                <a:lumMod val="40000"/>
                <a:lumOff val="60000"/>
              </a:srgbClr>
            </a:bgClr>
          </a:pattFill>
          <a:ln w="3175" cap="flat" cmpd="sng" algn="ctr">
            <a:solidFill>
              <a:srgbClr val="4F81B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739128" y="2542809"/>
            <a:ext cx="314960" cy="660400"/>
          </a:xfrm>
          <a:prstGeom prst="rect">
            <a:avLst/>
          </a:prstGeom>
          <a:pattFill prst="wdUpDiag">
            <a:fgClr>
              <a:srgbClr val="4F81BD"/>
            </a:fgClr>
            <a:bgClr>
              <a:srgbClr val="4F81BD">
                <a:lumMod val="40000"/>
                <a:lumOff val="60000"/>
              </a:srgbClr>
            </a:bgClr>
          </a:pattFill>
          <a:ln w="3175" cap="flat" cmpd="sng" algn="ctr">
            <a:solidFill>
              <a:srgbClr val="4F81B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739065" y="2543826"/>
            <a:ext cx="314960" cy="660400"/>
          </a:xfrm>
          <a:prstGeom prst="rect">
            <a:avLst/>
          </a:prstGeom>
          <a:pattFill prst="wdUpDiag">
            <a:fgClr>
              <a:srgbClr val="C0504D"/>
            </a:fgClr>
            <a:bgClr>
              <a:srgbClr val="C0504D">
                <a:lumMod val="20000"/>
                <a:lumOff val="80000"/>
              </a:srgbClr>
            </a:bgClr>
          </a:pattFill>
          <a:ln w="3175" cap="flat" cmpd="sng" algn="ctr">
            <a:solidFill>
              <a:srgbClr val="C0504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917426" y="2543922"/>
            <a:ext cx="314960" cy="660400"/>
          </a:xfrm>
          <a:prstGeom prst="rect">
            <a:avLst/>
          </a:prstGeom>
          <a:solidFill>
            <a:srgbClr val="4F81BD"/>
          </a:solidFill>
          <a:ln w="3175" cap="flat" cmpd="sng" algn="ctr">
            <a:solidFill>
              <a:srgbClr val="4F81B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128955" y="2542905"/>
            <a:ext cx="314960" cy="660400"/>
          </a:xfrm>
          <a:prstGeom prst="rect">
            <a:avLst/>
          </a:prstGeom>
          <a:solidFill>
            <a:srgbClr val="4F81BD"/>
          </a:solidFill>
          <a:ln w="3175" cap="flat" cmpd="sng" algn="ctr">
            <a:solidFill>
              <a:srgbClr val="4F81B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522655" y="2542809"/>
            <a:ext cx="314960" cy="660400"/>
          </a:xfrm>
          <a:prstGeom prst="rect">
            <a:avLst/>
          </a:prstGeom>
          <a:solidFill>
            <a:srgbClr val="4F81BD"/>
          </a:solidFill>
          <a:ln w="3175" cap="flat" cmpd="sng" algn="ctr">
            <a:solidFill>
              <a:srgbClr val="4F81B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Line Callout 2 (No Border) 20"/>
          <p:cNvSpPr/>
          <p:nvPr/>
        </p:nvSpPr>
        <p:spPr>
          <a:xfrm>
            <a:off x="5165535" y="1653779"/>
            <a:ext cx="1666994" cy="612648"/>
          </a:xfrm>
          <a:prstGeom prst="callout2">
            <a:avLst>
              <a:gd name="adj1" fmla="val 91554"/>
              <a:gd name="adj2" fmla="val 96171"/>
              <a:gd name="adj3" fmla="val 101836"/>
              <a:gd name="adj4" fmla="val 100380"/>
              <a:gd name="adj5" fmla="val 133975"/>
              <a:gd name="adj6" fmla="val 102167"/>
            </a:avLst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Branch with unknown condition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1066800" y="3850011"/>
            <a:ext cx="5594795" cy="738664"/>
            <a:chOff x="1066800" y="4099110"/>
            <a:chExt cx="5594795" cy="738664"/>
          </a:xfrm>
        </p:grpSpPr>
        <p:cxnSp>
          <p:nvCxnSpPr>
            <p:cNvPr id="23" name="Straight Arrow Connector 22"/>
            <p:cNvCxnSpPr/>
            <p:nvPr/>
          </p:nvCxnSpPr>
          <p:spPr>
            <a:xfrm flipH="1">
              <a:off x="1066800" y="4236720"/>
              <a:ext cx="5594795" cy="0"/>
            </a:xfrm>
            <a:prstGeom prst="straightConnector1">
              <a:avLst/>
            </a:prstGeom>
            <a:noFill/>
            <a:ln w="28575" cap="flat" cmpd="sng" algn="ctr">
              <a:solidFill>
                <a:sysClr val="window" lastClr="FFFFFF">
                  <a:lumMod val="65000"/>
                </a:sysClr>
              </a:solidFill>
              <a:prstDash val="solid"/>
              <a:headEnd type="oval"/>
              <a:tailEnd type="arrow"/>
            </a:ln>
            <a:effectLst/>
          </p:spPr>
        </p:cxnSp>
        <p:sp>
          <p:nvSpPr>
            <p:cNvPr id="24" name="Rectangle 23"/>
            <p:cNvSpPr/>
            <p:nvPr/>
          </p:nvSpPr>
          <p:spPr>
            <a:xfrm>
              <a:off x="2663131" y="4099110"/>
              <a:ext cx="2659884" cy="738664"/>
            </a:xfrm>
            <a:prstGeom prst="rect">
              <a:avLst/>
            </a:prstGeom>
            <a:solidFill>
              <a:sysClr val="window" lastClr="FFFFFF"/>
            </a:solidFill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/>
                  <a:cs typeface="+mn-cs"/>
                </a:rPr>
                <a:t>All subsequent instructions are fetch according to prediction</a:t>
              </a:r>
            </a:p>
          </p:txBody>
        </p:sp>
      </p:grpSp>
      <p:sp>
        <p:nvSpPr>
          <p:cNvPr id="25" name="Rectangle 24"/>
          <p:cNvSpPr/>
          <p:nvPr/>
        </p:nvSpPr>
        <p:spPr>
          <a:xfrm>
            <a:off x="4773517" y="2543826"/>
            <a:ext cx="314960" cy="660400"/>
          </a:xfrm>
          <a:prstGeom prst="rect">
            <a:avLst/>
          </a:prstGeom>
          <a:pattFill prst="wdUpDiag">
            <a:fgClr>
              <a:srgbClr val="4F81BD"/>
            </a:fgClr>
            <a:bgClr>
              <a:srgbClr val="4F81BD">
                <a:lumMod val="40000"/>
                <a:lumOff val="60000"/>
              </a:srgbClr>
            </a:bgClr>
          </a:pattFill>
          <a:ln w="3175" cap="flat" cmpd="sng" algn="ctr">
            <a:solidFill>
              <a:srgbClr val="4F81B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379817" y="2543826"/>
            <a:ext cx="314960" cy="660400"/>
          </a:xfrm>
          <a:prstGeom prst="rect">
            <a:avLst/>
          </a:prstGeom>
          <a:pattFill prst="wdUpDiag">
            <a:fgClr>
              <a:srgbClr val="4F81BD"/>
            </a:fgClr>
            <a:bgClr>
              <a:srgbClr val="4F81BD">
                <a:lumMod val="40000"/>
                <a:lumOff val="60000"/>
              </a:srgbClr>
            </a:bgClr>
          </a:pattFill>
          <a:ln w="3175" cap="flat" cmpd="sng" algn="ctr">
            <a:solidFill>
              <a:srgbClr val="4F81B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986117" y="2543826"/>
            <a:ext cx="314960" cy="660400"/>
          </a:xfrm>
          <a:prstGeom prst="rect">
            <a:avLst/>
          </a:prstGeom>
          <a:pattFill prst="wdUpDiag">
            <a:fgClr>
              <a:srgbClr val="4F81BD"/>
            </a:fgClr>
            <a:bgClr>
              <a:srgbClr val="4F81BD">
                <a:lumMod val="40000"/>
                <a:lumOff val="60000"/>
              </a:srgbClr>
            </a:bgClr>
          </a:pattFill>
          <a:ln w="3175" cap="flat" cmpd="sng" algn="ctr">
            <a:solidFill>
              <a:srgbClr val="4F81B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592417" y="2543826"/>
            <a:ext cx="314960" cy="660400"/>
          </a:xfrm>
          <a:prstGeom prst="rect">
            <a:avLst/>
          </a:prstGeom>
          <a:pattFill prst="wdUpDiag">
            <a:fgClr>
              <a:srgbClr val="4F81BD"/>
            </a:fgClr>
            <a:bgClr>
              <a:srgbClr val="4F81BD">
                <a:lumMod val="40000"/>
                <a:lumOff val="60000"/>
              </a:srgbClr>
            </a:bgClr>
          </a:pattFill>
          <a:ln w="3175" cap="flat" cmpd="sng" algn="ctr">
            <a:solidFill>
              <a:srgbClr val="4F81B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976949" y="2303325"/>
            <a:ext cx="60946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48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cs typeface="+mn-cs"/>
              </a:rPr>
              <a:t>…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3987358" y="2542905"/>
            <a:ext cx="2675478" cy="660400"/>
            <a:chOff x="3942969" y="5488902"/>
            <a:chExt cx="2675478" cy="660400"/>
          </a:xfrm>
        </p:grpSpPr>
        <p:sp>
          <p:nvSpPr>
            <p:cNvPr id="31" name="Rectangle 30"/>
            <p:cNvSpPr/>
            <p:nvPr/>
          </p:nvSpPr>
          <p:spPr>
            <a:xfrm>
              <a:off x="6303487" y="5488902"/>
              <a:ext cx="314960" cy="660400"/>
            </a:xfrm>
            <a:prstGeom prst="rect">
              <a:avLst/>
            </a:prstGeom>
            <a:solidFill>
              <a:srgbClr val="4F81BD"/>
            </a:solidFill>
            <a:ln w="3175" cap="flat" cmpd="sng" algn="ctr">
              <a:solidFill>
                <a:srgbClr val="4F81BD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5516087" y="5488902"/>
              <a:ext cx="314960" cy="660400"/>
            </a:xfrm>
            <a:prstGeom prst="rect">
              <a:avLst/>
            </a:prstGeom>
            <a:solidFill>
              <a:srgbClr val="4F81BD"/>
            </a:solidFill>
            <a:ln w="3175" cap="flat" cmpd="sng" algn="ctr">
              <a:solidFill>
                <a:srgbClr val="4F81BD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5122387" y="5488902"/>
              <a:ext cx="314960" cy="660400"/>
            </a:xfrm>
            <a:prstGeom prst="rect">
              <a:avLst/>
            </a:prstGeom>
            <a:solidFill>
              <a:srgbClr val="4F81BD"/>
            </a:solidFill>
            <a:ln w="3175" cap="flat" cmpd="sng" algn="ctr">
              <a:solidFill>
                <a:srgbClr val="4F81BD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4336669" y="5488902"/>
              <a:ext cx="314960" cy="660400"/>
            </a:xfrm>
            <a:prstGeom prst="rect">
              <a:avLst/>
            </a:prstGeom>
            <a:solidFill>
              <a:srgbClr val="4F81BD"/>
            </a:solidFill>
            <a:ln w="3175" cap="flat" cmpd="sng" algn="ctr">
              <a:solidFill>
                <a:srgbClr val="4F81BD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942969" y="5488902"/>
              <a:ext cx="314960" cy="660400"/>
            </a:xfrm>
            <a:prstGeom prst="rect">
              <a:avLst/>
            </a:prstGeom>
            <a:solidFill>
              <a:srgbClr val="4F81BD"/>
            </a:solidFill>
            <a:ln w="3175" cap="flat" cmpd="sng" algn="ctr">
              <a:solidFill>
                <a:srgbClr val="4F81BD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6" name="Rectangle 35"/>
          <p:cNvSpPr/>
          <p:nvPr/>
        </p:nvSpPr>
        <p:spPr>
          <a:xfrm>
            <a:off x="1056641" y="3765715"/>
            <a:ext cx="5954818" cy="833120"/>
          </a:xfrm>
          <a:prstGeom prst="rect">
            <a:avLst/>
          </a:prstGeom>
          <a:solidFill>
            <a:sysClr val="window" lastClr="FFFFFF"/>
          </a:solidFill>
          <a:ln w="31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Line Callout 2 (No Border) 36"/>
          <p:cNvSpPr/>
          <p:nvPr/>
        </p:nvSpPr>
        <p:spPr>
          <a:xfrm>
            <a:off x="5041939" y="4322483"/>
            <a:ext cx="1666994" cy="612648"/>
          </a:xfrm>
          <a:prstGeom prst="callout2">
            <a:avLst>
              <a:gd name="adj1" fmla="val -7948"/>
              <a:gd name="adj2" fmla="val 50582"/>
              <a:gd name="adj3" fmla="val -30172"/>
              <a:gd name="adj4" fmla="val 49428"/>
              <a:gd name="adj5" fmla="val -60055"/>
              <a:gd name="adj6" fmla="val 44998"/>
            </a:avLst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Speculatively fetched instructions can be executed too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39065" y="2544714"/>
            <a:ext cx="314960" cy="660400"/>
          </a:xfrm>
          <a:prstGeom prst="rect">
            <a:avLst/>
          </a:prstGeom>
          <a:solidFill>
            <a:srgbClr val="C0504D"/>
          </a:solidFill>
          <a:ln w="3175" cap="flat" cmpd="sng" algn="ctr">
            <a:solidFill>
              <a:srgbClr val="C0504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041939" y="3903801"/>
            <a:ext cx="1969520" cy="1031330"/>
          </a:xfrm>
          <a:prstGeom prst="rect">
            <a:avLst/>
          </a:prstGeom>
          <a:solidFill>
            <a:sysClr val="window" lastClr="FFFFFF"/>
          </a:solidFill>
          <a:ln w="31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Line Callout 2 (No Border) 39"/>
          <p:cNvSpPr/>
          <p:nvPr/>
        </p:nvSpPr>
        <p:spPr>
          <a:xfrm>
            <a:off x="6832529" y="4182275"/>
            <a:ext cx="1666994" cy="612648"/>
          </a:xfrm>
          <a:prstGeom prst="callout2">
            <a:avLst>
              <a:gd name="adj1" fmla="val -2973"/>
              <a:gd name="adj2" fmla="val 13556"/>
              <a:gd name="adj3" fmla="val -26440"/>
              <a:gd name="adj4" fmla="val 6916"/>
              <a:gd name="adj5" fmla="val -78712"/>
              <a:gd name="adj6" fmla="val 5687"/>
            </a:avLst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Verify the branch prediction</a:t>
            </a:r>
          </a:p>
        </p:txBody>
      </p:sp>
      <p:sp>
        <p:nvSpPr>
          <p:cNvPr id="41" name="Right Brace 40"/>
          <p:cNvSpPr/>
          <p:nvPr/>
        </p:nvSpPr>
        <p:spPr>
          <a:xfrm rot="5400000">
            <a:off x="3784375" y="970718"/>
            <a:ext cx="185043" cy="5640513"/>
          </a:xfrm>
          <a:prstGeom prst="rightBrace">
            <a:avLst>
              <a:gd name="adj1" fmla="val 35786"/>
              <a:gd name="adj2" fmla="val 50000"/>
            </a:avLst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Line Callout 2 (No Border) 41"/>
          <p:cNvSpPr/>
          <p:nvPr/>
        </p:nvSpPr>
        <p:spPr>
          <a:xfrm>
            <a:off x="2726689" y="4167035"/>
            <a:ext cx="2818576" cy="612648"/>
          </a:xfrm>
          <a:prstGeom prst="callout2">
            <a:avLst>
              <a:gd name="adj1" fmla="val 13507"/>
              <a:gd name="adj2" fmla="val 43362"/>
              <a:gd name="adj3" fmla="val -7784"/>
              <a:gd name="adj4" fmla="val 41251"/>
              <a:gd name="adj5" fmla="val -37668"/>
              <a:gd name="adj6" fmla="val 41013"/>
            </a:avLst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If prediction was wrong, </a:t>
            </a: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all</a:t>
            </a:r>
            <a: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the subsequent instructions are deleted</a:t>
            </a:r>
          </a:p>
        </p:txBody>
      </p:sp>
      <p:grpSp>
        <p:nvGrpSpPr>
          <p:cNvPr id="43" name="Group 42"/>
          <p:cNvGrpSpPr/>
          <p:nvPr/>
        </p:nvGrpSpPr>
        <p:grpSpPr>
          <a:xfrm>
            <a:off x="2987762" y="2518008"/>
            <a:ext cx="3749040" cy="709116"/>
            <a:chOff x="2987762" y="3146604"/>
            <a:chExt cx="3749040" cy="709116"/>
          </a:xfrm>
        </p:grpSpPr>
        <p:sp>
          <p:nvSpPr>
            <p:cNvPr id="44" name="Rectangle 43"/>
            <p:cNvSpPr/>
            <p:nvPr/>
          </p:nvSpPr>
          <p:spPr>
            <a:xfrm>
              <a:off x="3093672" y="3146604"/>
              <a:ext cx="3577113" cy="709116"/>
            </a:xfrm>
            <a:prstGeom prst="rect">
              <a:avLst/>
            </a:prstGeom>
            <a:solidFill>
              <a:srgbClr val="B9CDE5">
                <a:alpha val="74902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5" name="Right Arrow 44"/>
            <p:cNvSpPr/>
            <p:nvPr/>
          </p:nvSpPr>
          <p:spPr>
            <a:xfrm flipH="1">
              <a:off x="2987762" y="3278086"/>
              <a:ext cx="3749040" cy="492862"/>
            </a:xfrm>
            <a:prstGeom prst="rightArrow">
              <a:avLst/>
            </a:prstGeom>
            <a:solidFill>
              <a:srgbClr val="C0504D">
                <a:lumMod val="40000"/>
                <a:lumOff val="6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deleted</a:t>
              </a:r>
            </a:p>
          </p:txBody>
        </p:sp>
      </p:grpSp>
      <p:sp>
        <p:nvSpPr>
          <p:cNvPr id="46" name="Rectangle 45"/>
          <p:cNvSpPr/>
          <p:nvPr/>
        </p:nvSpPr>
        <p:spPr>
          <a:xfrm>
            <a:off x="890995" y="3675555"/>
            <a:ext cx="7493474" cy="1096470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Content Placeholder 2"/>
          <p:cNvSpPr txBox="1">
            <a:spLocks/>
          </p:cNvSpPr>
          <p:nvPr/>
        </p:nvSpPr>
        <p:spPr bwMode="auto">
          <a:xfrm>
            <a:off x="369461" y="3619499"/>
            <a:ext cx="8245741" cy="2712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1" tIns="45716" rIns="91431" bIns="45716" numCol="1" anchor="t" anchorCtr="0" compatLnSpc="1">
            <a:prstTxWarp prst="textNoShape">
              <a:avLst/>
            </a:prstTxWarp>
          </a:bodyPr>
          <a:lstStyle>
            <a:lvl1pPr marL="342866" indent="-342866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876" indent="-285722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886" indent="-228577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40" indent="-228577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194" indent="-228577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48" indent="-228577" algn="l" defTabSz="91430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02" indent="-228577" algn="l" defTabSz="91430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657" indent="-228577" algn="l" defTabSz="91430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12" indent="-228577" algn="l" defTabSz="91430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866" marR="0" lvl="0" indent="-342866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How harmful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branches are?</a:t>
            </a:r>
          </a:p>
          <a:p>
            <a:pPr marL="742950" lvl="1" indent="-285750">
              <a:spcBef>
                <a:spcPts val="600"/>
              </a:spcBef>
            </a:pPr>
            <a:r>
              <a:rPr lang="en-US" sz="2000" dirty="0">
                <a:solidFill>
                  <a:sysClr val="windowText" lastClr="000000"/>
                </a:solidFill>
                <a:latin typeface="Calibri"/>
              </a:rPr>
              <a:t>In average, each 5th instruction is a branch</a:t>
            </a:r>
          </a:p>
          <a:p>
            <a:pPr marL="742950" lvl="1" indent="-285750">
              <a:spcBef>
                <a:spcPts val="600"/>
              </a:spcBef>
            </a:pPr>
            <a:r>
              <a:rPr lang="en-US" sz="2000" dirty="0">
                <a:solidFill>
                  <a:sysClr val="windowText" lastClr="000000"/>
                </a:solidFill>
                <a:latin typeface="Calibri"/>
              </a:rPr>
              <a:t>Assume accuracy of prediction is 90% </a:t>
            </a:r>
            <a:r>
              <a:rPr lang="en-US" sz="200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</a:rPr>
              <a:t>(looks high, isn’t it?)</a:t>
            </a:r>
          </a:p>
          <a:p>
            <a:pPr marL="742950" lvl="1" indent="-285750">
              <a:spcBef>
                <a:spcPts val="600"/>
              </a:spcBef>
            </a:pPr>
            <a:r>
              <a:rPr lang="en-US" sz="2000" dirty="0">
                <a:solidFill>
                  <a:sysClr val="windowText" lastClr="000000"/>
                </a:solidFill>
                <a:latin typeface="Calibri"/>
              </a:rPr>
              <a:t>The probability that 100th instruction in the window will not be removed is (90%)^20 = </a:t>
            </a:r>
            <a:r>
              <a:rPr lang="en-US" sz="2000" dirty="0">
                <a:solidFill>
                  <a:srgbClr val="FF0000"/>
                </a:solidFill>
                <a:latin typeface="Calibri"/>
              </a:rPr>
              <a:t>12%</a:t>
            </a:r>
          </a:p>
          <a:p>
            <a:pPr lvl="0">
              <a:spcBef>
                <a:spcPts val="1200"/>
              </a:spcBef>
              <a:buFont typeface="Arial" pitchFamily="34" charset="0"/>
              <a:buChar char="•"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Accuracy of</a:t>
            </a:r>
            <a:r>
              <a:rPr kumimoji="0" lang="en-US" sz="2400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branch prediction is very important for Out</a:t>
            </a:r>
            <a:r>
              <a:rPr lang="ru-RU" sz="2400" dirty="0"/>
              <a:t>‑</a:t>
            </a:r>
            <a:r>
              <a:rPr kumimoji="0" lang="en-US" sz="2400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Of</a:t>
            </a:r>
            <a:r>
              <a:rPr lang="ru-RU" sz="2400" dirty="0"/>
              <a:t>‑</a:t>
            </a:r>
            <a:r>
              <a:rPr kumimoji="0" lang="en-US" sz="2400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Order Execution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4890857" y="1293235"/>
            <a:ext cx="36513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Calibri" panose="020F0502020204030204" pitchFamily="34" charset="0"/>
              </a:rPr>
              <a:t>→ </a:t>
            </a:r>
            <a:r>
              <a:rPr lang="en-US" sz="2400" dirty="0" smtClean="0">
                <a:latin typeface="+mj-lt"/>
              </a:rPr>
              <a:t>Using </a:t>
            </a:r>
            <a:r>
              <a:rPr lang="en-US" sz="2400" b="1" dirty="0" smtClean="0">
                <a:latin typeface="+mj-lt"/>
              </a:rPr>
              <a:t>branch prediction</a:t>
            </a:r>
            <a:r>
              <a:rPr lang="en-US" sz="2400" dirty="0" smtClean="0">
                <a:latin typeface="+mj-lt"/>
              </a:rPr>
              <a:t>!</a:t>
            </a:r>
            <a:endParaRPr lang="en-US" sz="2400" dirty="0">
              <a:latin typeface="+mj-lt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4076699" y="5077451"/>
            <a:ext cx="275582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spcBef>
                <a:spcPct val="20000"/>
              </a:spcBef>
              <a:defRPr/>
            </a:pPr>
            <a:r>
              <a:rPr lang="en-US" sz="2000" dirty="0" smtClean="0">
                <a:solidFill>
                  <a:srgbClr val="939598">
                    <a:lumMod val="60000"/>
                    <a:lumOff val="40000"/>
                  </a:srgbClr>
                </a:solidFill>
                <a:latin typeface="Calibri"/>
              </a:rPr>
              <a:t>(e.g., (99%)^20 = 82%)</a:t>
            </a:r>
            <a:endParaRPr lang="en-US" sz="2000" dirty="0">
              <a:solidFill>
                <a:srgbClr val="939598">
                  <a:lumMod val="60000"/>
                  <a:lumOff val="40000"/>
                </a:srgbClr>
              </a:solidFill>
              <a:latin typeface="Calibr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4526490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76094 -0.00046 L 3.88889E-6 -1.48148E-6 " pathEditMode="relative" rAng="0" ptsTypes="AA">
                                      <p:cBhvr>
                                        <p:cTn id="19" dur="3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038" y="23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8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-0.71927 -0.00046 L -5.55556E-7 -1.48148E-6 " pathEditMode="relative" rAng="0" ptsTypes="AA">
                                      <p:cBhvr>
                                        <p:cTn id="24" dur="3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955" y="23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8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accel="50000" decel="50000" fill="hold" grpId="1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-0.67605 -0.00046 L 5E-6 -1.48148E-6 " pathEditMode="relative" rAng="0" ptsTypes="AA">
                                      <p:cBhvr>
                                        <p:cTn id="29" dur="3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802" y="23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8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accel="50000" decel="5000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0.63941 -0.00046 L 3.33333E-6 -1.48148E-6 " pathEditMode="relative" rAng="0" ptsTypes="AA">
                                      <p:cBhvr>
                                        <p:cTn id="34" dur="3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962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8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8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901 -0.00046 L -4.72222E-6 -1.48148E-6 " pathEditMode="relative" rAng="0" ptsTypes="AA">
                                      <p:cBhvr>
                                        <p:cTn id="62" dur="3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497" y="23"/>
                                    </p:animMotion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8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42" presetClass="path" presetSubtype="0" accel="50000" decel="5000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-0.55 -0.00046 L 8.33333E-7 -1.48148E-6 " pathEditMode="relative" rAng="0" ptsTypes="AA">
                                      <p:cBhvr>
                                        <p:cTn id="67" dur="3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500" y="23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8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2" presetClass="path" presetSubtype="0" accel="50000" decel="50000" fill="hold" grpId="1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-0.50694 -0.00023 L -3.61111E-6 -1.48148E-6 " pathEditMode="relative" rAng="0" ptsTypes="AA">
                                      <p:cBhvr>
                                        <p:cTn id="72" dur="3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347" y="0"/>
                                    </p:animMotion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8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42" presetClass="path" presetSubtype="0" accel="50000" decel="5000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0.46024 0.00116 L 1.94444E-6 -1.48148E-6 " pathEditMode="relative" rAng="0" ptsTypes="AA">
                                      <p:cBhvr>
                                        <p:cTn id="77" dur="3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003" y="-69"/>
                                    </p:animMotion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1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2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42" presetClass="path" presetSubtype="0" accel="50000" decel="50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animMotion origin="layout" path="M -0.42066 -0.00023 L 3.88889E-6 -1.48148E-6 " pathEditMode="relative" rAng="0" ptsTypes="AA">
                                      <p:cBhvr>
                                        <p:cTn id="82" dur="3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024" y="0"/>
                                    </p:animMotion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42" presetClass="path" presetSubtype="0" accel="50000" decel="50000" fill="hold" grpId="1" nodeType="withEffect">
                                  <p:stCondLst>
                                    <p:cond delay="3300"/>
                                  </p:stCondLst>
                                  <p:childTnLst>
                                    <p:animMotion origin="layout" path="M -0.37778 -0.00023 L -5.55556E-7 -1.48148E-6 " pathEditMode="relative" rAng="0" ptsTypes="AA">
                                      <p:cBhvr>
                                        <p:cTn id="87" dur="3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889" y="0"/>
                                    </p:animMotion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42" presetClass="path" presetSubtype="0" accel="50000" decel="50000" fill="hold" grpId="1" nodeType="withEffect">
                                  <p:stCondLst>
                                    <p:cond delay="4200"/>
                                  </p:stCondLst>
                                  <p:childTnLst>
                                    <p:animMotion origin="layout" path="M -0.33525 -0.00023 L 5E-6 -1.48148E-6 " pathEditMode="relative" rAng="0" ptsTypes="AA">
                                      <p:cBhvr>
                                        <p:cTn id="92" dur="3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753" y="0"/>
                                    </p:animMotion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49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42" presetClass="path" presetSubtype="0" accel="50000" decel="50000" fill="hold" grpId="1" nodeType="withEffect">
                                  <p:stCondLst>
                                    <p:cond delay="5200"/>
                                  </p:stCondLst>
                                  <p:childTnLst>
                                    <p:animMotion origin="layout" path="M -0.29201 0.0007 L 5.55556E-7 -1.48148E-6 " pathEditMode="relative" rAng="0" ptsTypes="AA">
                                      <p:cBhvr>
                                        <p:cTn id="97" dur="3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601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8200"/>
                            </p:stCondLst>
                            <p:childTnLst>
                              <p:par>
                                <p:cTn id="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8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800"/>
                            </p:stCondLst>
                            <p:childTnLst>
                              <p:par>
                                <p:cTn id="10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0" presetClass="exit" presetSubtype="0" fill="hold" grpId="2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" dur="9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-1.48148E-6 L 0.08333 -1.48148E-6 " pathEditMode="relative" rAng="0" ptsTypes="AA">
                                      <p:cBhvr>
                                        <p:cTn id="138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67" y="0"/>
                                    </p:animMotion>
                                  </p:childTnLst>
                                </p:cTn>
                              </p:par>
                              <p:par>
                                <p:cTn id="139" presetID="10" presetClass="exit" presetSubtype="0" fill="hold" grpId="2" nodeType="withEffect">
                                  <p:stCondLst>
                                    <p:cond delay="1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9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63" presetClass="path" presetSubtype="0" accel="5000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5.55556E-7 -1.48148E-6 L 0.12674 -1.48148E-6 " pathEditMode="relative" rAng="0" ptsTypes="AA">
                                      <p:cBhvr>
                                        <p:cTn id="143" dur="1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37" y="0"/>
                                    </p:animMotion>
                                  </p:childTnLst>
                                </p:cTn>
                              </p:par>
                              <p:par>
                                <p:cTn id="144" presetID="10" presetClass="exit" presetSubtype="0" fill="hold" grpId="2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5" dur="8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63" presetClass="path" presetSubtype="0" accel="50000" decel="50000" fill="hold" grpId="1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5E-6 -1.48148E-6 L 0.17084 -1.48148E-6 " pathEditMode="relative" rAng="0" ptsTypes="AA">
                                      <p:cBhvr>
                                        <p:cTn id="148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4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6" dur="7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7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8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3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6" dur="7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7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8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3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5" grpId="2" animBg="1"/>
      <p:bldP spid="10" grpId="0" animBg="1"/>
      <p:bldP spid="10" grpId="1" animBg="1"/>
      <p:bldP spid="10" grpId="2" animBg="1"/>
      <p:bldP spid="11" grpId="0" animBg="1"/>
      <p:bldP spid="11" grpId="1" animBg="1"/>
      <p:bldP spid="11" grpId="2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8" grpId="2" animBg="1"/>
      <p:bldP spid="19" grpId="0" animBg="1"/>
      <p:bldP spid="19" grpId="1" animBg="1"/>
      <p:bldP spid="19" grpId="2" animBg="1"/>
      <p:bldP spid="20" grpId="0" animBg="1"/>
      <p:bldP spid="20" grpId="1" animBg="1"/>
      <p:bldP spid="20" grpId="2" animBg="1"/>
      <p:bldP spid="21" grpId="0" animBg="1"/>
      <p:bldP spid="21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6" grpId="0" animBg="1"/>
      <p:bldP spid="48" grpId="0"/>
      <p:bldP spid="50" grpId="0"/>
    </p:bldLst>
  </p:timing>
  <p:extLst mod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Limitation: False Dependencies</a:t>
            </a:r>
            <a:endParaRPr lang="ru-RU" dirty="0"/>
          </a:p>
        </p:txBody>
      </p:sp>
      <p:sp>
        <p:nvSpPr>
          <p:cNvPr id="3" name="Arc 2"/>
          <p:cNvSpPr/>
          <p:nvPr/>
        </p:nvSpPr>
        <p:spPr>
          <a:xfrm>
            <a:off x="5885534" y="1503597"/>
            <a:ext cx="818807" cy="751778"/>
          </a:xfrm>
          <a:prstGeom prst="arc">
            <a:avLst>
              <a:gd name="adj1" fmla="val 10826372"/>
              <a:gd name="adj2" fmla="val 0"/>
            </a:avLst>
          </a:prstGeom>
          <a:noFill/>
          <a:ln w="57150" cap="flat" cmpd="sng" algn="ctr">
            <a:solidFill>
              <a:srgbClr val="C0504D"/>
            </a:solidFill>
            <a:prstDash val="sysDot"/>
            <a:headEnd type="none" w="med" len="med"/>
            <a:tailEnd type="triangl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1028815" y="1510428"/>
            <a:ext cx="3543185" cy="227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(1) 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r1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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r4 / r7 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(2) 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00CC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r8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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r1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+ r2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(3) 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r5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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r5 + 1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(4) 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r6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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r6 – r3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(5) 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9900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r4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 load [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r5 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+ 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r6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]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(6) r7  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00CC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r8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 * 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9900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r4</a:t>
            </a:r>
            <a:endParaRPr kumimoji="0" lang="en-US" sz="2000" b="0" i="0" u="none" strike="noStrike" kern="120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  <a:sym typeface="Symbol" pitchFamily="18" charset="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6"/>
          <p:cNvSpPr>
            <a:spLocks noChangeArrowheads="1"/>
          </p:cNvSpPr>
          <p:nvPr/>
        </p:nvSpPr>
        <p:spPr bwMode="auto">
          <a:xfrm>
            <a:off x="613401" y="3952060"/>
            <a:ext cx="3551934" cy="52322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med" len="lg"/>
          </a:ln>
        </p:spPr>
        <p:txBody>
          <a:bodyPr wrap="none">
            <a:spAutoFit/>
          </a:bodyPr>
          <a:lstStyle/>
          <a:p>
            <a:pPr fontAlgn="auto">
              <a:spcAft>
                <a:spcPts val="0"/>
              </a:spcAft>
            </a:pPr>
            <a:r>
              <a:rPr lang="en-US" sz="2800" dirty="0">
                <a:solidFill>
                  <a:prstClr val="black"/>
                </a:solidFill>
                <a:latin typeface="Calibri"/>
                <a:cs typeface="+mn-cs"/>
              </a:rPr>
              <a:t>Out-of-order 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3982" y="987208"/>
            <a:ext cx="15118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solidFill>
                  <a:prstClr val="black"/>
                </a:solidFill>
                <a:latin typeface="Calibri"/>
                <a:cs typeface="+mn-cs"/>
              </a:rPr>
              <a:t>Example:</a:t>
            </a:r>
            <a:endParaRPr lang="ru-RU" sz="2800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4959205" y="987208"/>
            <a:ext cx="3049589" cy="2803742"/>
            <a:chOff x="4959205" y="1082458"/>
            <a:chExt cx="3049589" cy="2803742"/>
          </a:xfrm>
        </p:grpSpPr>
        <p:sp>
          <p:nvSpPr>
            <p:cNvPr id="8" name="Oval 7"/>
            <p:cNvSpPr/>
            <p:nvPr/>
          </p:nvSpPr>
          <p:spPr>
            <a:xfrm>
              <a:off x="5708497" y="1979456"/>
              <a:ext cx="347741" cy="347741"/>
            </a:xfrm>
            <a:prstGeom prst="ellipse">
              <a:avLst/>
            </a:prstGeom>
            <a:gradFill rotWithShape="1">
              <a:gsLst>
                <a:gs pos="0">
                  <a:srgbClr val="4F81BD">
                    <a:shade val="51000"/>
                    <a:satMod val="130000"/>
                  </a:srgbClr>
                </a:gs>
                <a:gs pos="80000">
                  <a:srgbClr val="4F81BD">
                    <a:shade val="93000"/>
                    <a:satMod val="130000"/>
                  </a:srgbClr>
                </a:gs>
                <a:gs pos="100000">
                  <a:srgbClr val="4F81BD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1</a:t>
              </a:r>
              <a:endParaRPr kumimoji="0" lang="ru-RU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6635906" y="1979456"/>
              <a:ext cx="347741" cy="347741"/>
            </a:xfrm>
            <a:prstGeom prst="ellipse">
              <a:avLst/>
            </a:prstGeom>
            <a:gradFill rotWithShape="1">
              <a:gsLst>
                <a:gs pos="0">
                  <a:srgbClr val="4F81BD">
                    <a:shade val="51000"/>
                    <a:satMod val="130000"/>
                  </a:srgbClr>
                </a:gs>
                <a:gs pos="80000">
                  <a:srgbClr val="4F81BD">
                    <a:shade val="93000"/>
                    <a:satMod val="130000"/>
                  </a:srgbClr>
                </a:gs>
                <a:gs pos="100000">
                  <a:srgbClr val="4F81BD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3</a:t>
              </a:r>
              <a:endParaRPr kumimoji="0" lang="ru-RU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7563315" y="1979456"/>
              <a:ext cx="347741" cy="347741"/>
            </a:xfrm>
            <a:prstGeom prst="ellipse">
              <a:avLst/>
            </a:prstGeom>
            <a:gradFill rotWithShape="1">
              <a:gsLst>
                <a:gs pos="0">
                  <a:srgbClr val="4F81BD">
                    <a:shade val="51000"/>
                    <a:satMod val="130000"/>
                  </a:srgbClr>
                </a:gs>
                <a:gs pos="80000">
                  <a:srgbClr val="4F81BD">
                    <a:shade val="93000"/>
                    <a:satMod val="130000"/>
                  </a:srgbClr>
                </a:gs>
                <a:gs pos="100000">
                  <a:srgbClr val="4F81BD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4</a:t>
              </a:r>
              <a:endParaRPr kumimoji="0" lang="ru-RU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6139949" y="2758957"/>
              <a:ext cx="347741" cy="347741"/>
            </a:xfrm>
            <a:prstGeom prst="ellipse">
              <a:avLst/>
            </a:prstGeom>
            <a:gradFill rotWithShape="1">
              <a:gsLst>
                <a:gs pos="0">
                  <a:srgbClr val="4F81BD">
                    <a:shade val="51000"/>
                    <a:satMod val="130000"/>
                  </a:srgbClr>
                </a:gs>
                <a:gs pos="80000">
                  <a:srgbClr val="4F81BD">
                    <a:shade val="93000"/>
                    <a:satMod val="130000"/>
                  </a:srgbClr>
                </a:gs>
                <a:gs pos="100000">
                  <a:srgbClr val="4F81BD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  <a:endParaRPr kumimoji="0" lang="ru-RU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7131863" y="2758957"/>
              <a:ext cx="347741" cy="347741"/>
            </a:xfrm>
            <a:prstGeom prst="ellipse">
              <a:avLst/>
            </a:prstGeom>
            <a:gradFill rotWithShape="1">
              <a:gsLst>
                <a:gs pos="0">
                  <a:srgbClr val="4F81BD">
                    <a:shade val="51000"/>
                    <a:satMod val="130000"/>
                  </a:srgbClr>
                </a:gs>
                <a:gs pos="80000">
                  <a:srgbClr val="4F81BD">
                    <a:shade val="93000"/>
                    <a:satMod val="130000"/>
                  </a:srgbClr>
                </a:gs>
                <a:gs pos="100000">
                  <a:srgbClr val="4F81BD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5</a:t>
              </a:r>
              <a:endParaRPr kumimoji="0" lang="ru-RU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Oval 12"/>
            <p:cNvSpPr/>
            <p:nvPr/>
          </p:nvSpPr>
          <p:spPr>
            <a:xfrm>
              <a:off x="6635906" y="3538459"/>
              <a:ext cx="347741" cy="347741"/>
            </a:xfrm>
            <a:prstGeom prst="ellipse">
              <a:avLst/>
            </a:prstGeom>
            <a:gradFill rotWithShape="1">
              <a:gsLst>
                <a:gs pos="0">
                  <a:srgbClr val="4F81BD">
                    <a:shade val="51000"/>
                    <a:satMod val="130000"/>
                  </a:srgbClr>
                </a:gs>
                <a:gs pos="80000">
                  <a:srgbClr val="4F81BD">
                    <a:shade val="93000"/>
                    <a:satMod val="130000"/>
                  </a:srgbClr>
                </a:gs>
                <a:gs pos="100000">
                  <a:srgbClr val="4F81BD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6</a:t>
              </a:r>
              <a:endParaRPr kumimoji="0" lang="ru-RU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14" name="Group 13"/>
            <p:cNvGrpSpPr/>
            <p:nvPr/>
          </p:nvGrpSpPr>
          <p:grpSpPr>
            <a:xfrm>
              <a:off x="5676529" y="2336957"/>
              <a:ext cx="543299" cy="463871"/>
              <a:chOff x="5676529" y="2125986"/>
              <a:chExt cx="543299" cy="463871"/>
            </a:xfrm>
          </p:grpSpPr>
          <p:cxnSp>
            <p:nvCxnSpPr>
              <p:cNvPr id="28" name="Straight Arrow Connector 27"/>
              <p:cNvCxnSpPr/>
              <p:nvPr/>
            </p:nvCxnSpPr>
            <p:spPr>
              <a:xfrm>
                <a:off x="5972350" y="2125986"/>
                <a:ext cx="247478" cy="439967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CC0000"/>
                </a:solidFill>
                <a:prstDash val="solid"/>
                <a:tailEnd type="triangle"/>
              </a:ln>
              <a:effectLst/>
            </p:spPr>
          </p:cxnSp>
          <p:sp>
            <p:nvSpPr>
              <p:cNvPr id="29" name="Rectangle 28"/>
              <p:cNvSpPr/>
              <p:nvPr/>
            </p:nvSpPr>
            <p:spPr>
              <a:xfrm>
                <a:off x="5676529" y="2220525"/>
                <a:ext cx="43794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Consolas" panose="020B0609020204030204" pitchFamily="49" charset="0"/>
                    <a:cs typeface="Consolas" panose="020B0609020204030204" pitchFamily="49" charset="0"/>
                  </a:rPr>
                  <a:t>r1</a:t>
                </a:r>
                <a:endParaRPr kumimoji="0" lang="ru-RU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cs typeface="+mn-cs"/>
                </a:endParaRPr>
              </a:p>
            </p:txBody>
          </p:sp>
        </p:grpSp>
        <p:grpSp>
          <p:nvGrpSpPr>
            <p:cNvPr id="15" name="Group 14"/>
            <p:cNvGrpSpPr/>
            <p:nvPr/>
          </p:nvGrpSpPr>
          <p:grpSpPr>
            <a:xfrm>
              <a:off x="6654890" y="2318990"/>
              <a:ext cx="554561" cy="481838"/>
              <a:chOff x="6654890" y="2108019"/>
              <a:chExt cx="554561" cy="481838"/>
            </a:xfrm>
          </p:grpSpPr>
          <p:cxnSp>
            <p:nvCxnSpPr>
              <p:cNvPr id="26" name="Straight Arrow Connector 25"/>
              <p:cNvCxnSpPr/>
              <p:nvPr/>
            </p:nvCxnSpPr>
            <p:spPr>
              <a:xfrm>
                <a:off x="6961973" y="2108019"/>
                <a:ext cx="247478" cy="439967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0000FF"/>
                </a:solidFill>
                <a:prstDash val="solid"/>
                <a:tailEnd type="triangle"/>
              </a:ln>
              <a:effectLst/>
            </p:spPr>
          </p:cxnSp>
          <p:sp>
            <p:nvSpPr>
              <p:cNvPr id="27" name="Rectangle 26"/>
              <p:cNvSpPr/>
              <p:nvPr/>
            </p:nvSpPr>
            <p:spPr>
              <a:xfrm>
                <a:off x="6654890" y="2220525"/>
                <a:ext cx="43794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onsolas" panose="020B0609020204030204" pitchFamily="49" charset="0"/>
                    <a:cs typeface="Consolas" panose="020B0609020204030204" pitchFamily="49" charset="0"/>
                  </a:rPr>
                  <a:t>r5</a:t>
                </a:r>
                <a:endParaRPr kumimoji="0" lang="ru-RU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cs typeface="+mn-cs"/>
                </a:endParaRPr>
              </a:p>
            </p:txBody>
          </p:sp>
        </p:grpSp>
        <p:grpSp>
          <p:nvGrpSpPr>
            <p:cNvPr id="16" name="Group 15"/>
            <p:cNvGrpSpPr/>
            <p:nvPr/>
          </p:nvGrpSpPr>
          <p:grpSpPr>
            <a:xfrm>
              <a:off x="7402580" y="2362965"/>
              <a:ext cx="606214" cy="437863"/>
              <a:chOff x="7402580" y="2151994"/>
              <a:chExt cx="606214" cy="437863"/>
            </a:xfrm>
          </p:grpSpPr>
          <p:cxnSp>
            <p:nvCxnSpPr>
              <p:cNvPr id="24" name="Straight Arrow Connector 23"/>
              <p:cNvCxnSpPr/>
              <p:nvPr/>
            </p:nvCxnSpPr>
            <p:spPr>
              <a:xfrm flipH="1">
                <a:off x="7402580" y="2151994"/>
                <a:ext cx="264841" cy="387949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9900"/>
                </a:solidFill>
                <a:prstDash val="solid"/>
                <a:tailEnd type="triangle"/>
              </a:ln>
              <a:effectLst/>
            </p:spPr>
          </p:cxnSp>
          <p:sp>
            <p:nvSpPr>
              <p:cNvPr id="25" name="Rectangle 24"/>
              <p:cNvSpPr/>
              <p:nvPr/>
            </p:nvSpPr>
            <p:spPr>
              <a:xfrm>
                <a:off x="7570854" y="2220525"/>
                <a:ext cx="43794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FF9900"/>
                    </a:solidFill>
                    <a:effectLst/>
                    <a:uLnTx/>
                    <a:uFillTx/>
                    <a:latin typeface="Consolas" panose="020B0609020204030204" pitchFamily="49" charset="0"/>
                    <a:cs typeface="Consolas" panose="020B0609020204030204" pitchFamily="49" charset="0"/>
                  </a:rPr>
                  <a:t>r6</a:t>
                </a:r>
                <a:endParaRPr kumimoji="0" lang="ru-RU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cs typeface="+mn-cs"/>
                </a:endParaRPr>
              </a:p>
            </p:txBody>
          </p:sp>
        </p:grpSp>
        <p:grpSp>
          <p:nvGrpSpPr>
            <p:cNvPr id="17" name="Group 16"/>
            <p:cNvGrpSpPr/>
            <p:nvPr/>
          </p:nvGrpSpPr>
          <p:grpSpPr>
            <a:xfrm>
              <a:off x="6933996" y="3123273"/>
              <a:ext cx="570785" cy="501745"/>
              <a:chOff x="6933996" y="2912302"/>
              <a:chExt cx="570785" cy="501745"/>
            </a:xfrm>
          </p:grpSpPr>
          <p:cxnSp>
            <p:nvCxnSpPr>
              <p:cNvPr id="22" name="Straight Arrow Connector 21"/>
              <p:cNvCxnSpPr/>
              <p:nvPr/>
            </p:nvCxnSpPr>
            <p:spPr>
              <a:xfrm flipH="1">
                <a:off x="6933996" y="2912302"/>
                <a:ext cx="274090" cy="430308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9900CC"/>
                </a:solidFill>
                <a:prstDash val="solid"/>
                <a:tailEnd type="triangle"/>
              </a:ln>
              <a:effectLst/>
            </p:spPr>
          </p:cxnSp>
          <p:sp>
            <p:nvSpPr>
              <p:cNvPr id="23" name="Rectangle 22"/>
              <p:cNvSpPr/>
              <p:nvPr/>
            </p:nvSpPr>
            <p:spPr>
              <a:xfrm>
                <a:off x="7066841" y="3044715"/>
                <a:ext cx="43794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9900CC"/>
                    </a:solidFill>
                    <a:effectLst/>
                    <a:uLnTx/>
                    <a:uFillTx/>
                    <a:latin typeface="Consolas" panose="020B0609020204030204" pitchFamily="49" charset="0"/>
                    <a:cs typeface="Consolas" panose="020B0609020204030204" pitchFamily="49" charset="0"/>
                    <a:sym typeface="Symbol" pitchFamily="18" charset="2"/>
                  </a:rPr>
                  <a:t>r4</a:t>
                </a:r>
                <a:endParaRPr kumimoji="0" lang="ru-RU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cs typeface="+mn-cs"/>
                </a:endParaRPr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>
              <a:off x="6069987" y="3105415"/>
              <a:ext cx="615493" cy="519603"/>
              <a:chOff x="6069987" y="2894444"/>
              <a:chExt cx="615493" cy="519603"/>
            </a:xfrm>
          </p:grpSpPr>
          <p:cxnSp>
            <p:nvCxnSpPr>
              <p:cNvPr id="20" name="Straight Arrow Connector 19"/>
              <p:cNvCxnSpPr/>
              <p:nvPr/>
            </p:nvCxnSpPr>
            <p:spPr>
              <a:xfrm>
                <a:off x="6438002" y="2894444"/>
                <a:ext cx="247478" cy="439967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0CCE0C"/>
                </a:solidFill>
                <a:prstDash val="solid"/>
                <a:tailEnd type="triangle"/>
              </a:ln>
              <a:effectLst/>
            </p:spPr>
          </p:cxnSp>
          <p:sp>
            <p:nvSpPr>
              <p:cNvPr id="21" name="Rectangle 20"/>
              <p:cNvSpPr/>
              <p:nvPr/>
            </p:nvSpPr>
            <p:spPr>
              <a:xfrm>
                <a:off x="6069987" y="3044715"/>
                <a:ext cx="43794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CC00"/>
                    </a:solidFill>
                    <a:effectLst/>
                    <a:uLnTx/>
                    <a:uFillTx/>
                    <a:latin typeface="Consolas" panose="020B0609020204030204" pitchFamily="49" charset="0"/>
                    <a:cs typeface="Consolas" panose="020B0609020204030204" pitchFamily="49" charset="0"/>
                    <a:sym typeface="Symbol" pitchFamily="18" charset="2"/>
                  </a:rPr>
                  <a:t>r8</a:t>
                </a:r>
                <a:endParaRPr kumimoji="0" lang="ru-RU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cs typeface="+mn-cs"/>
                </a:endParaRPr>
              </a:p>
            </p:txBody>
          </p:sp>
        </p:grpSp>
        <p:sp>
          <p:nvSpPr>
            <p:cNvPr id="19" name="TextBox 18"/>
            <p:cNvSpPr txBox="1"/>
            <p:nvPr/>
          </p:nvSpPr>
          <p:spPr>
            <a:xfrm>
              <a:off x="4959205" y="1082458"/>
              <a:ext cx="260956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cs typeface="+mn-cs"/>
                </a:rPr>
                <a:t>Data Flow Graph</a:t>
              </a:r>
              <a:endParaRPr kumimoji="0" lang="ru-RU" sz="2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+mn-cs"/>
              </a:endParaRPr>
            </a:p>
          </p:txBody>
        </p:sp>
      </p:grpSp>
      <p:sp>
        <p:nvSpPr>
          <p:cNvPr id="30" name="Text Box 33"/>
          <p:cNvSpPr txBox="1">
            <a:spLocks noChangeArrowheads="1"/>
          </p:cNvSpPr>
          <p:nvPr/>
        </p:nvSpPr>
        <p:spPr bwMode="auto">
          <a:xfrm>
            <a:off x="910830" y="5364080"/>
            <a:ext cx="379722" cy="325437"/>
          </a:xfrm>
          <a:prstGeom prst="rect">
            <a:avLst/>
          </a:prstGeom>
          <a:solidFill>
            <a:srgbClr val="9BBB59">
              <a:lumMod val="20000"/>
              <a:lumOff val="80000"/>
            </a:srgbClr>
          </a:solidFill>
          <a:ln w="12700">
            <a:solidFill>
              <a:srgbClr val="9BBB59">
                <a:lumMod val="50000"/>
              </a:srgbClr>
            </a:solidFill>
            <a:miter lim="800000"/>
            <a:headEnd type="none" w="sm" len="sm"/>
            <a:tailEnd type="none" w="med" len="lg"/>
          </a:ln>
        </p:spPr>
        <p:txBody>
          <a:bodyPr tIns="18288" bIns="18288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+mn-cs"/>
              </a:rPr>
              <a:t>4</a:t>
            </a:r>
            <a:endParaRPr kumimoji="0" lang="en-US" sz="1600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cs typeface="+mn-cs"/>
            </a:endParaRPr>
          </a:p>
        </p:txBody>
      </p:sp>
      <p:grpSp>
        <p:nvGrpSpPr>
          <p:cNvPr id="31" name="Group 30"/>
          <p:cNvGrpSpPr/>
          <p:nvPr/>
        </p:nvGrpSpPr>
        <p:grpSpPr>
          <a:xfrm>
            <a:off x="910830" y="5037567"/>
            <a:ext cx="1989716" cy="327147"/>
            <a:chOff x="910830" y="5278739"/>
            <a:chExt cx="1989716" cy="327147"/>
          </a:xfrm>
        </p:grpSpPr>
        <p:sp>
          <p:nvSpPr>
            <p:cNvPr id="32" name="Text Box 32"/>
            <p:cNvSpPr txBox="1">
              <a:spLocks noChangeArrowheads="1"/>
            </p:cNvSpPr>
            <p:nvPr/>
          </p:nvSpPr>
          <p:spPr bwMode="auto">
            <a:xfrm>
              <a:off x="910830" y="5280449"/>
              <a:ext cx="379722" cy="325437"/>
            </a:xfrm>
            <a:prstGeom prst="rect">
              <a:avLst/>
            </a:prstGeom>
            <a:solidFill>
              <a:srgbClr val="9BBB59">
                <a:lumMod val="20000"/>
                <a:lumOff val="80000"/>
              </a:srgbClr>
            </a:solidFill>
            <a:ln w="12700">
              <a:solidFill>
                <a:srgbClr val="9BBB59">
                  <a:lumMod val="50000"/>
                </a:srgbClr>
              </a:solidFill>
              <a:miter lim="800000"/>
              <a:headEnd type="none" w="sm" len="sm"/>
              <a:tailEnd type="none" w="med" len="lg"/>
            </a:ln>
          </p:spPr>
          <p:txBody>
            <a:bodyPr tIns="18288" bIns="18288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cs typeface="+mn-cs"/>
                </a:rPr>
                <a:t>3</a:t>
              </a:r>
              <a:endParaRPr kumimoji="0" 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+mn-cs"/>
              </a:endParaRPr>
            </a:p>
          </p:txBody>
        </p:sp>
        <p:sp>
          <p:nvSpPr>
            <p:cNvPr id="33" name="Text Box 36"/>
            <p:cNvSpPr txBox="1">
              <a:spLocks noChangeArrowheads="1"/>
            </p:cNvSpPr>
            <p:nvPr/>
          </p:nvSpPr>
          <p:spPr bwMode="auto">
            <a:xfrm>
              <a:off x="2520824" y="5279815"/>
              <a:ext cx="379722" cy="325437"/>
            </a:xfrm>
            <a:prstGeom prst="rect">
              <a:avLst/>
            </a:prstGeom>
            <a:solidFill>
              <a:srgbClr val="9BBB59">
                <a:lumMod val="20000"/>
                <a:lumOff val="80000"/>
              </a:srgbClr>
            </a:solidFill>
            <a:ln w="12700">
              <a:solidFill>
                <a:srgbClr val="9BBB59">
                  <a:lumMod val="50000"/>
                </a:srgbClr>
              </a:solidFill>
              <a:miter lim="800000"/>
              <a:headEnd type="none" w="sm" len="sm"/>
              <a:tailEnd type="none" w="med" len="lg"/>
            </a:ln>
          </p:spPr>
          <p:txBody>
            <a:bodyPr tIns="18288" bIns="18288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cs typeface="+mn-cs"/>
                </a:rPr>
                <a:t>6</a:t>
              </a:r>
              <a:endParaRPr kumimoji="0" 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+mn-cs"/>
              </a:endParaRPr>
            </a:p>
          </p:txBody>
        </p:sp>
        <p:sp>
          <p:nvSpPr>
            <p:cNvPr id="34" name="Text Box 31"/>
            <p:cNvSpPr txBox="1">
              <a:spLocks noChangeArrowheads="1"/>
            </p:cNvSpPr>
            <p:nvPr/>
          </p:nvSpPr>
          <p:spPr bwMode="auto">
            <a:xfrm>
              <a:off x="1290663" y="5278739"/>
              <a:ext cx="1234463" cy="325437"/>
            </a:xfrm>
            <a:prstGeom prst="rect">
              <a:avLst/>
            </a:prstGeom>
            <a:solidFill>
              <a:srgbClr val="9BBB59">
                <a:lumMod val="20000"/>
                <a:lumOff val="80000"/>
              </a:srgbClr>
            </a:solidFill>
            <a:ln w="12700">
              <a:solidFill>
                <a:srgbClr val="9BBB59">
                  <a:lumMod val="50000"/>
                </a:srgbClr>
              </a:solidFill>
              <a:miter lim="800000"/>
              <a:headEnd type="none" w="sm" len="sm"/>
              <a:tailEnd type="none" w="med" len="lg"/>
            </a:ln>
          </p:spPr>
          <p:txBody>
            <a:bodyPr tIns="18288" bIns="18288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cs typeface="+mn-cs"/>
                </a:rPr>
                <a:t>5</a:t>
              </a:r>
              <a:endParaRPr kumimoji="0" 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+mn-cs"/>
              </a:endParaRPr>
            </a:p>
          </p:txBody>
        </p:sp>
      </p:grpSp>
      <p:sp>
        <p:nvSpPr>
          <p:cNvPr id="35" name="Text Box 31"/>
          <p:cNvSpPr txBox="1">
            <a:spLocks noChangeArrowheads="1"/>
          </p:cNvSpPr>
          <p:nvPr/>
        </p:nvSpPr>
        <p:spPr bwMode="auto">
          <a:xfrm>
            <a:off x="910830" y="4711935"/>
            <a:ext cx="1234463" cy="325437"/>
          </a:xfrm>
          <a:prstGeom prst="rect">
            <a:avLst/>
          </a:prstGeom>
          <a:solidFill>
            <a:srgbClr val="9BBB59">
              <a:lumMod val="20000"/>
              <a:lumOff val="80000"/>
            </a:srgbClr>
          </a:solidFill>
          <a:ln w="12700">
            <a:solidFill>
              <a:srgbClr val="9BBB59">
                <a:lumMod val="50000"/>
              </a:srgbClr>
            </a:solidFill>
            <a:miter lim="800000"/>
            <a:headEnd type="none" w="sm" len="sm"/>
            <a:tailEnd type="none" w="med" len="lg"/>
          </a:ln>
        </p:spPr>
        <p:txBody>
          <a:bodyPr tIns="18288" bIns="18288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+mn-cs"/>
              </a:rPr>
              <a:t>1</a:t>
            </a:r>
            <a:endParaRPr kumimoji="0" lang="en-US" sz="1600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cs typeface="+mn-cs"/>
            </a:endParaRPr>
          </a:p>
        </p:txBody>
      </p:sp>
      <p:sp>
        <p:nvSpPr>
          <p:cNvPr id="36" name="Text Box 35"/>
          <p:cNvSpPr txBox="1">
            <a:spLocks noChangeArrowheads="1"/>
          </p:cNvSpPr>
          <p:nvPr/>
        </p:nvSpPr>
        <p:spPr bwMode="auto">
          <a:xfrm>
            <a:off x="2145293" y="4711935"/>
            <a:ext cx="379722" cy="325437"/>
          </a:xfrm>
          <a:prstGeom prst="rect">
            <a:avLst/>
          </a:prstGeom>
          <a:solidFill>
            <a:srgbClr val="9BBB59">
              <a:lumMod val="20000"/>
              <a:lumOff val="80000"/>
            </a:srgbClr>
          </a:solidFill>
          <a:ln w="12700">
            <a:solidFill>
              <a:srgbClr val="9BBB59">
                <a:lumMod val="50000"/>
              </a:srgbClr>
            </a:solidFill>
            <a:miter lim="800000"/>
            <a:headEnd type="none" w="sm" len="sm"/>
            <a:tailEnd type="none" w="med" len="lg"/>
          </a:ln>
        </p:spPr>
        <p:txBody>
          <a:bodyPr tIns="18288" bIns="18288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+mn-cs"/>
              </a:rPr>
              <a:t>2</a:t>
            </a:r>
            <a:endParaRPr kumimoji="0" lang="en-US" sz="1600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cs typeface="+mn-cs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1590606" y="2218680"/>
            <a:ext cx="466794" cy="400110"/>
          </a:xfrm>
          <a:prstGeom prst="rect">
            <a:avLst/>
          </a:prstGeom>
          <a:solidFill>
            <a:srgbClr val="F79646">
              <a:lumMod val="40000"/>
              <a:lumOff val="60000"/>
            </a:srgbClr>
          </a:solidFill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endParaRPr kumimoji="0" lang="ru-RU" sz="2000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+mn-cs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3276600" y="2989620"/>
            <a:ext cx="466794" cy="400110"/>
          </a:xfrm>
          <a:prstGeom prst="rect">
            <a:avLst/>
          </a:prstGeom>
          <a:solidFill>
            <a:srgbClr val="F79646">
              <a:lumMod val="40000"/>
              <a:lumOff val="60000"/>
            </a:srgbClr>
          </a:solidFill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endParaRPr kumimoji="0" lang="ru-RU" sz="2000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+mn-cs"/>
            </a:endParaRPr>
          </a:p>
        </p:txBody>
      </p:sp>
      <p:grpSp>
        <p:nvGrpSpPr>
          <p:cNvPr id="39" name="Group 38"/>
          <p:cNvGrpSpPr/>
          <p:nvPr/>
        </p:nvGrpSpPr>
        <p:grpSpPr>
          <a:xfrm>
            <a:off x="6667139" y="2225161"/>
            <a:ext cx="543299" cy="463871"/>
            <a:chOff x="5676529" y="2125986"/>
            <a:chExt cx="543299" cy="463871"/>
          </a:xfrm>
        </p:grpSpPr>
        <p:sp>
          <p:nvSpPr>
            <p:cNvPr id="40" name="Rectangle 39"/>
            <p:cNvSpPr/>
            <p:nvPr/>
          </p:nvSpPr>
          <p:spPr>
            <a:xfrm>
              <a:off x="5676529" y="2220525"/>
              <a:ext cx="437940" cy="369332"/>
            </a:xfrm>
            <a:prstGeom prst="rect">
              <a:avLst/>
            </a:prstGeom>
            <a:solidFill>
              <a:sysClr val="window" lastClr="FFFFFF"/>
            </a:solidFill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onsolas" panose="020B0609020204030204" pitchFamily="49" charset="0"/>
                  <a:cs typeface="Consolas" panose="020B0609020204030204" pitchFamily="49" charset="0"/>
                </a:rPr>
                <a:t>r1</a:t>
              </a:r>
              <a:endParaRPr kumimoji="0" lang="ru-RU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+mn-cs"/>
              </a:endParaRPr>
            </a:p>
          </p:txBody>
        </p:sp>
        <p:cxnSp>
          <p:nvCxnSpPr>
            <p:cNvPr id="41" name="Straight Arrow Connector 40"/>
            <p:cNvCxnSpPr/>
            <p:nvPr/>
          </p:nvCxnSpPr>
          <p:spPr>
            <a:xfrm>
              <a:off x="5972350" y="2125986"/>
              <a:ext cx="247478" cy="439967"/>
            </a:xfrm>
            <a:prstGeom prst="straightConnector1">
              <a:avLst/>
            </a:prstGeom>
            <a:noFill/>
            <a:ln w="12700" cap="flat" cmpd="sng" algn="ctr">
              <a:solidFill>
                <a:srgbClr val="CC0000"/>
              </a:solidFill>
              <a:prstDash val="solid"/>
              <a:tailEnd type="triangle"/>
            </a:ln>
            <a:effectLst/>
          </p:spPr>
        </p:cxnSp>
      </p:grpSp>
      <p:sp>
        <p:nvSpPr>
          <p:cNvPr id="42" name="Arc 41"/>
          <p:cNvSpPr/>
          <p:nvPr/>
        </p:nvSpPr>
        <p:spPr>
          <a:xfrm rot="17919816">
            <a:off x="6263803" y="2365919"/>
            <a:ext cx="589986" cy="191540"/>
          </a:xfrm>
          <a:prstGeom prst="arc">
            <a:avLst>
              <a:gd name="adj1" fmla="val 11376253"/>
              <a:gd name="adj2" fmla="val 0"/>
            </a:avLst>
          </a:prstGeom>
          <a:noFill/>
          <a:ln w="57150" cap="flat" cmpd="sng" algn="ctr">
            <a:solidFill>
              <a:srgbClr val="C0504D"/>
            </a:solidFill>
            <a:prstDash val="solid"/>
            <a:headEnd type="none" w="med" len="med"/>
            <a:tailEnd type="triangl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959205" y="3943350"/>
            <a:ext cx="31550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solidFill>
                  <a:prstClr val="black"/>
                </a:solidFill>
                <a:latin typeface="Calibri"/>
                <a:cs typeface="+mn-cs"/>
              </a:rPr>
              <a:t>False Dependencies:</a:t>
            </a:r>
            <a:endParaRPr lang="ru-RU" sz="2800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019965" y="4480203"/>
            <a:ext cx="38802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prstClr val="black"/>
                </a:solidFill>
                <a:latin typeface="Calibri" panose="020F0502020204030204" pitchFamily="34" charset="0"/>
                <a:cs typeface="+mn-cs"/>
              </a:rPr>
              <a:t>Write-After-Write:</a:t>
            </a:r>
            <a:r>
              <a:rPr lang="en-US" sz="2000" dirty="0" smtClean="0">
                <a:solidFill>
                  <a:prstClr val="black"/>
                </a:solidFill>
                <a:latin typeface="Calibri" panose="020F0502020204030204" pitchFamily="34" charset="0"/>
                <a:cs typeface="+mn-cs"/>
              </a:rPr>
              <a:t> </a:t>
            </a:r>
            <a:r>
              <a:rPr lang="en-US" dirty="0" smtClean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(1)</a:t>
            </a:r>
            <a:r>
              <a:rPr lang="en-US" dirty="0" smtClean="0">
                <a:solidFill>
                  <a:prstClr val="black"/>
                </a:solidFill>
                <a:latin typeface="Calibri" panose="020F0502020204030204" pitchFamily="34" charset="0"/>
                <a:cs typeface="+mn-cs"/>
              </a:rPr>
              <a:t> → </a:t>
            </a:r>
            <a:r>
              <a:rPr lang="en-US" dirty="0" smtClean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(3)</a:t>
            </a:r>
            <a:endParaRPr lang="ru-RU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043500" y="4920142"/>
            <a:ext cx="38802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prstClr val="black"/>
                </a:solidFill>
                <a:latin typeface="Calibri" panose="020F0502020204030204" pitchFamily="34" charset="0"/>
                <a:cs typeface="+mn-cs"/>
              </a:rPr>
              <a:t>Write-After-Read:</a:t>
            </a:r>
            <a:r>
              <a:rPr lang="en-US" sz="2000" dirty="0" smtClean="0">
                <a:solidFill>
                  <a:prstClr val="black"/>
                </a:solidFill>
                <a:latin typeface="Calibri" panose="020F0502020204030204" pitchFamily="34" charset="0"/>
                <a:cs typeface="+mn-cs"/>
              </a:rPr>
              <a:t> </a:t>
            </a:r>
            <a:r>
              <a:rPr lang="en-US" dirty="0" smtClean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(2)</a:t>
            </a:r>
            <a:r>
              <a:rPr lang="en-US" dirty="0" smtClean="0">
                <a:solidFill>
                  <a:prstClr val="black"/>
                </a:solidFill>
                <a:latin typeface="Calibri" panose="020F0502020204030204" pitchFamily="34" charset="0"/>
                <a:cs typeface="+mn-cs"/>
              </a:rPr>
              <a:t> → </a:t>
            </a:r>
            <a:r>
              <a:rPr lang="en-US" dirty="0" smtClean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(3)</a:t>
            </a:r>
            <a:endParaRPr lang="ru-RU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6" name="Rounded Rectangular Callout 45"/>
          <p:cNvSpPr/>
          <p:nvPr/>
        </p:nvSpPr>
        <p:spPr>
          <a:xfrm>
            <a:off x="4526926" y="5577273"/>
            <a:ext cx="3262898" cy="811642"/>
          </a:xfrm>
          <a:prstGeom prst="wedgeRoundRectCallout">
            <a:avLst>
              <a:gd name="adj1" fmla="val -50808"/>
              <a:gd name="adj2" fmla="val -76432"/>
              <a:gd name="adj3" fmla="val 16667"/>
            </a:avLst>
          </a:prstGeom>
          <a:solidFill>
            <a:sysClr val="window" lastClr="FFFFFF"/>
          </a:solidFill>
          <a:ln w="19050" cap="flat" cmpd="sng" algn="ctr">
            <a:solidFill>
              <a:srgbClr val="C0504D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Significantly decrease performance</a:t>
            </a:r>
            <a:endParaRPr kumimoji="0" lang="ru-RU" sz="24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6835868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33333E-6 L 0.17622 -0.00023 " pathEditMode="relative" rAng="0" ptsTypes="AA">
                                      <p:cBhvr>
                                        <p:cTn id="91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02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build="p"/>
      <p:bldP spid="5" grpId="0"/>
      <p:bldP spid="6" grpId="0"/>
      <p:bldP spid="30" grpId="0" animBg="1"/>
      <p:bldP spid="35" grpId="0" animBg="1"/>
      <p:bldP spid="36" grpId="0" animBg="1"/>
      <p:bldP spid="37" grpId="0" animBg="1"/>
      <p:bldP spid="38" grpId="0" animBg="1"/>
      <p:bldP spid="42" grpId="0" animBg="1"/>
      <p:bldP spid="46" grpId="0" animBg="1"/>
    </p:bldLst>
  </p:timing>
  <p:extLst mod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5770140" y="4701916"/>
            <a:ext cx="2392008" cy="1519479"/>
            <a:chOff x="5770140" y="4701916"/>
            <a:chExt cx="2392008" cy="1519479"/>
          </a:xfrm>
        </p:grpSpPr>
        <p:sp>
          <p:nvSpPr>
            <p:cNvPr id="5" name="Rectangle 4"/>
            <p:cNvSpPr/>
            <p:nvPr/>
          </p:nvSpPr>
          <p:spPr>
            <a:xfrm>
              <a:off x="5770140" y="5090066"/>
              <a:ext cx="23839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kern="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(2)  …</a:t>
              </a:r>
              <a:r>
                <a:rPr lang="en-US" kern="0" dirty="0" smtClean="0">
                  <a:solidFill>
                    <a:srgbClr val="4BACC6">
                      <a:lumMod val="75000"/>
                    </a:srgb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sz="1600" kern="0" dirty="0">
                  <a:solidFill>
                    <a:prstClr val="black"/>
                  </a:solidFill>
                  <a:latin typeface="Consolas" panose="020B0609020204030204" pitchFamily="49" charset="0"/>
                  <a:cs typeface="Consolas" panose="020B0609020204030204" pitchFamily="49" charset="0"/>
                  <a:sym typeface="Symbol" pitchFamily="18" charset="2"/>
                </a:rPr>
                <a:t> </a:t>
              </a:r>
              <a:r>
                <a:rPr lang="en-US" sz="1600" kern="0" dirty="0" smtClean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  <a:sym typeface="Symbol" pitchFamily="18" charset="2"/>
                </a:rPr>
                <a:t>a</a:t>
              </a:r>
              <a:r>
                <a:rPr lang="en-US" kern="0" dirty="0" smtClean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r3</a:t>
              </a:r>
              <a:r>
                <a:rPr lang="en-US" kern="0" dirty="0" smtClean="0">
                  <a:solidFill>
                    <a:prstClr val="black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+ </a:t>
              </a:r>
              <a:r>
                <a:rPr lang="en-US" kern="0" dirty="0">
                  <a:solidFill>
                    <a:prstClr val="black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…</a:t>
              </a:r>
              <a:endParaRPr lang="en-US" kern="0" dirty="0">
                <a:solidFill>
                  <a:srgbClr val="8064A2">
                    <a:lumMod val="75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5770140" y="4701916"/>
              <a:ext cx="176522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kern="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(1)  </a:t>
              </a:r>
              <a:r>
                <a:rPr lang="en-US" kern="0" dirty="0" smtClean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ar3</a:t>
              </a:r>
              <a:r>
                <a:rPr lang="en-US" kern="0" dirty="0" smtClean="0">
                  <a:solidFill>
                    <a:srgbClr val="4BACC6">
                      <a:lumMod val="75000"/>
                    </a:srgb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sz="1600" kern="0" dirty="0">
                  <a:solidFill>
                    <a:prstClr val="black"/>
                  </a:solidFill>
                  <a:latin typeface="Consolas" panose="020B0609020204030204" pitchFamily="49" charset="0"/>
                  <a:cs typeface="Consolas" panose="020B0609020204030204" pitchFamily="49" charset="0"/>
                  <a:sym typeface="Symbol" pitchFamily="18" charset="2"/>
                </a:rPr>
                <a:t> </a:t>
              </a:r>
              <a:r>
                <a:rPr lang="en-US" kern="0" dirty="0" smtClean="0">
                  <a:solidFill>
                    <a:prstClr val="black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…</a:t>
              </a:r>
              <a:endParaRPr lang="en-US" kern="0" dirty="0">
                <a:solidFill>
                  <a:srgbClr val="8064A2">
                    <a:lumMod val="75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778162" y="5852063"/>
              <a:ext cx="23839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kern="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(4)  …</a:t>
              </a:r>
              <a:r>
                <a:rPr lang="en-US" kern="0" dirty="0" smtClean="0">
                  <a:solidFill>
                    <a:srgbClr val="4BACC6">
                      <a:lumMod val="75000"/>
                    </a:srgb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sz="1600" kern="0" dirty="0">
                  <a:solidFill>
                    <a:prstClr val="black"/>
                  </a:solidFill>
                  <a:latin typeface="Consolas" panose="020B0609020204030204" pitchFamily="49" charset="0"/>
                  <a:cs typeface="Consolas" panose="020B0609020204030204" pitchFamily="49" charset="0"/>
                  <a:sym typeface="Symbol" pitchFamily="18" charset="2"/>
                </a:rPr>
                <a:t> </a:t>
              </a:r>
              <a:r>
                <a:rPr lang="en-US" sz="1600" kern="0" dirty="0" smtClean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  <a:sym typeface="Symbol" pitchFamily="18" charset="2"/>
                </a:rPr>
                <a:t>a</a:t>
              </a:r>
              <a:r>
                <a:rPr lang="en-US" kern="0" dirty="0" smtClean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r3</a:t>
              </a:r>
              <a:r>
                <a:rPr lang="en-US" kern="0" dirty="0" smtClean="0">
                  <a:solidFill>
                    <a:prstClr val="black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+ </a:t>
              </a:r>
              <a:r>
                <a:rPr lang="en-US" kern="0" dirty="0">
                  <a:solidFill>
                    <a:prstClr val="black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…</a:t>
              </a:r>
              <a:endParaRPr lang="en-US" kern="0" dirty="0">
                <a:solidFill>
                  <a:srgbClr val="8064A2">
                    <a:lumMod val="75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778162" y="5463913"/>
              <a:ext cx="176522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kern="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(3)  </a:t>
              </a:r>
              <a:r>
                <a:rPr lang="en-US" kern="0" dirty="0" smtClean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ar3</a:t>
              </a:r>
              <a:r>
                <a:rPr lang="en-US" kern="0" dirty="0" smtClean="0">
                  <a:solidFill>
                    <a:srgbClr val="4BACC6">
                      <a:lumMod val="75000"/>
                    </a:srgb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sz="1600" kern="0" dirty="0">
                  <a:solidFill>
                    <a:prstClr val="black"/>
                  </a:solidFill>
                  <a:latin typeface="Consolas" panose="020B0609020204030204" pitchFamily="49" charset="0"/>
                  <a:cs typeface="Consolas" panose="020B0609020204030204" pitchFamily="49" charset="0"/>
                  <a:sym typeface="Symbol" pitchFamily="18" charset="2"/>
                </a:rPr>
                <a:t> </a:t>
              </a:r>
              <a:r>
                <a:rPr lang="en-US" kern="0" dirty="0" smtClean="0">
                  <a:solidFill>
                    <a:prstClr val="black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…</a:t>
              </a:r>
              <a:endParaRPr lang="en-US" kern="0" dirty="0">
                <a:solidFill>
                  <a:srgbClr val="8064A2">
                    <a:lumMod val="75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Eliminating False Dependencies</a:t>
            </a:r>
            <a:endParaRPr lang="ru-R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5613" y="1059931"/>
            <a:ext cx="8228012" cy="3258069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R</a:t>
            </a:r>
            <a:r>
              <a:rPr lang="en-US" dirty="0" smtClean="0">
                <a:latin typeface="+mj-lt"/>
              </a:rPr>
              <a:t>egister name is similar to variable name in a program</a:t>
            </a:r>
          </a:p>
          <a:p>
            <a:pPr marL="742950" lvl="1" indent="-285750">
              <a:spcBef>
                <a:spcPts val="600"/>
              </a:spcBef>
              <a:buFont typeface="Arial" charset="0"/>
              <a:buChar char="–"/>
            </a:pPr>
            <a:r>
              <a:rPr lang="en-US" sz="2000" kern="1200" dirty="0" smtClean="0">
                <a:solidFill>
                  <a:sysClr val="windowText" lastClr="000000"/>
                </a:solidFill>
                <a:latin typeface="Calibri"/>
                <a:ea typeface="+mn-ea"/>
                <a:cs typeface="+mn-cs"/>
              </a:rPr>
              <a:t>It is </a:t>
            </a:r>
            <a:r>
              <a:rPr lang="en-US" sz="2000" kern="1200" dirty="0">
                <a:solidFill>
                  <a:sysClr val="windowText" lastClr="000000"/>
                </a:solidFill>
                <a:latin typeface="Calibri"/>
                <a:ea typeface="+mn-ea"/>
                <a:cs typeface="+mn-cs"/>
              </a:rPr>
              <a:t>just a label to identify dependency among operations</a:t>
            </a:r>
          </a:p>
          <a:p>
            <a:pPr marL="342900" indent="-34290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dirty="0" smtClean="0">
                <a:latin typeface="+mj-lt"/>
              </a:rPr>
              <a:t>Difference: number of register names is limited by ISA</a:t>
            </a:r>
          </a:p>
          <a:p>
            <a:pPr marL="742950" lvl="1" indent="-285750">
              <a:spcBef>
                <a:spcPts val="600"/>
              </a:spcBef>
              <a:buFont typeface="Arial" charset="0"/>
              <a:buChar char="–"/>
            </a:pPr>
            <a:r>
              <a:rPr lang="en-US" sz="2000" kern="1200" dirty="0">
                <a:solidFill>
                  <a:sysClr val="windowText" lastClr="000000"/>
                </a:solidFill>
                <a:latin typeface="Calibri"/>
                <a:ea typeface="+mn-ea"/>
                <a:cs typeface="+mn-cs"/>
              </a:rPr>
              <a:t>It is one of the main reason of false dependencies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latin typeface="+mj-lt"/>
              </a:rPr>
              <a:t>HW can contain more registers in the speculative state (i.e. more names) than ISA and perform dynamic </a:t>
            </a:r>
            <a:r>
              <a:rPr lang="en-US" b="1" dirty="0" smtClean="0">
                <a:latin typeface="+mj-lt"/>
              </a:rPr>
              <a:t>register renaming</a:t>
            </a:r>
          </a:p>
          <a:p>
            <a:pPr marL="742950" lvl="1" indent="-285750">
              <a:spcBef>
                <a:spcPts val="600"/>
              </a:spcBef>
              <a:buFont typeface="Arial" charset="0"/>
              <a:buChar char="–"/>
            </a:pPr>
            <a:r>
              <a:rPr lang="en-US" sz="2000" kern="1200" dirty="0">
                <a:solidFill>
                  <a:sysClr val="windowText" lastClr="000000"/>
                </a:solidFill>
                <a:latin typeface="Calibri"/>
                <a:ea typeface="+mn-ea"/>
                <a:cs typeface="+mn-cs"/>
              </a:rPr>
              <a:t>Number of registers </a:t>
            </a:r>
            <a:r>
              <a:rPr lang="en-US" sz="2000" kern="1200" dirty="0" smtClean="0">
                <a:solidFill>
                  <a:sysClr val="windowText" lastClr="000000"/>
                </a:solidFill>
                <a:latin typeface="Calibri"/>
                <a:ea typeface="+mn-ea"/>
                <a:cs typeface="+mn-cs"/>
              </a:rPr>
              <a:t>in arch state is </a:t>
            </a:r>
            <a:r>
              <a:rPr lang="en-US" sz="2000" kern="1200" dirty="0">
                <a:solidFill>
                  <a:sysClr val="windowText" lastClr="000000"/>
                </a:solidFill>
                <a:latin typeface="Calibri"/>
                <a:ea typeface="+mn-ea"/>
                <a:cs typeface="+mn-cs"/>
              </a:rPr>
              <a:t>not changed </a:t>
            </a:r>
            <a:r>
              <a:rPr lang="en-US" sz="2000" kern="1200" dirty="0" smtClean="0">
                <a:solidFill>
                  <a:sysClr val="windowText" lastClr="000000"/>
                </a:solidFill>
                <a:latin typeface="Calibri"/>
                <a:ea typeface="+mn-ea"/>
                <a:cs typeface="+mn-cs"/>
              </a:rPr>
              <a:t>(= </a:t>
            </a:r>
            <a:r>
              <a:rPr lang="en-US" sz="2000" kern="1200" dirty="0">
                <a:solidFill>
                  <a:sysClr val="windowText" lastClr="000000"/>
                </a:solidFill>
                <a:latin typeface="Calibri"/>
                <a:ea typeface="+mn-ea"/>
                <a:cs typeface="+mn-cs"/>
              </a:rPr>
              <a:t>ISA</a:t>
            </a:r>
            <a:r>
              <a:rPr lang="en-US" sz="2000" kern="1200" dirty="0" smtClean="0">
                <a:solidFill>
                  <a:sysClr val="windowText" lastClr="000000"/>
                </a:solidFill>
                <a:latin typeface="Calibri"/>
                <a:ea typeface="+mn-ea"/>
                <a:cs typeface="+mn-cs"/>
              </a:rPr>
              <a:t>)</a:t>
            </a:r>
            <a:endParaRPr lang="en-US" sz="2000" kern="1200" dirty="0">
              <a:solidFill>
                <a:sysClr val="windowText" lastClr="000000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86292" y="4404550"/>
            <a:ext cx="5252508" cy="22313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2400" kern="0" dirty="0">
                <a:solidFill>
                  <a:srgbClr val="061922"/>
                </a:solidFill>
                <a:latin typeface="Calibri"/>
              </a:rPr>
              <a:t>Requirements</a:t>
            </a:r>
          </a:p>
          <a:p>
            <a:pPr marL="742950" lvl="1" indent="-285750">
              <a:spcBef>
                <a:spcPts val="600"/>
              </a:spcBef>
              <a:buClr>
                <a:schemeClr val="tx1"/>
              </a:buClr>
              <a:buFont typeface="Arial" charset="0"/>
              <a:buChar char="–"/>
            </a:pPr>
            <a:r>
              <a:rPr lang="en-US" sz="2000" dirty="0" smtClean="0">
                <a:solidFill>
                  <a:sysClr val="windowText" lastClr="000000"/>
                </a:solidFill>
                <a:latin typeface="Calibri"/>
                <a:cs typeface="+mn-cs"/>
              </a:rPr>
              <a:t>Producer and all its consumers </a:t>
            </a:r>
            <a:r>
              <a:rPr lang="en-US" sz="2000" dirty="0" smtClean="0">
                <a:solidFill>
                  <a:sysClr val="windowText" lastClr="000000"/>
                </a:solidFill>
                <a:latin typeface="Calibri"/>
                <a:cs typeface="+mn-cs"/>
              </a:rPr>
              <a:t>are </a:t>
            </a:r>
            <a:r>
              <a:rPr lang="en-US" sz="2000" dirty="0" smtClean="0">
                <a:solidFill>
                  <a:sysClr val="windowText" lastClr="000000"/>
                </a:solidFill>
                <a:latin typeface="Calibri"/>
                <a:cs typeface="+mn-cs"/>
              </a:rPr>
              <a:t>renamed to the same speculative register</a:t>
            </a:r>
          </a:p>
          <a:p>
            <a:pPr marL="742950" lvl="1" indent="-285750">
              <a:spcBef>
                <a:spcPts val="600"/>
              </a:spcBef>
              <a:buClr>
                <a:schemeClr val="tx1"/>
              </a:buClr>
              <a:buFont typeface="Arial" charset="0"/>
              <a:buChar char="–"/>
            </a:pPr>
            <a:r>
              <a:rPr lang="en-US" sz="2000" dirty="0" smtClean="0">
                <a:solidFill>
                  <a:sysClr val="windowText" lastClr="000000"/>
                </a:solidFill>
                <a:latin typeface="Calibri"/>
                <a:cs typeface="+mn-cs"/>
              </a:rPr>
              <a:t>Producer writes to the original arch register at retirement</a:t>
            </a:r>
            <a:endParaRPr lang="en-US" sz="2000" dirty="0">
              <a:solidFill>
                <a:sysClr val="windowText" lastClr="000000"/>
              </a:solidFill>
              <a:latin typeface="Calibri"/>
              <a:cs typeface="+mn-cs"/>
            </a:endParaRPr>
          </a:p>
          <a:p>
            <a:pPr marL="742950" lvl="1" indent="-285750">
              <a:spcBef>
                <a:spcPts val="600"/>
              </a:spcBef>
              <a:buClr>
                <a:schemeClr val="tx1"/>
              </a:buClr>
              <a:buFont typeface="Arial" charset="0"/>
              <a:buChar char="–"/>
            </a:pPr>
            <a:endParaRPr lang="ru-RU" sz="2000" dirty="0">
              <a:solidFill>
                <a:sysClr val="windowText" lastClr="000000"/>
              </a:solidFill>
              <a:latin typeface="Calibri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962133" y="5115234"/>
            <a:ext cx="691215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kern="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sr10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264169" y="4727316"/>
            <a:ext cx="691215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kern="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sr10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971426" y="5874687"/>
            <a:ext cx="691215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kern="0" dirty="0" smtClean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sr11</a:t>
            </a:r>
            <a:endParaRPr lang="ru-RU" dirty="0">
              <a:solidFill>
                <a:schemeClr val="accent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273462" y="5486769"/>
            <a:ext cx="691215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kern="0" dirty="0" smtClean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sr11</a:t>
            </a:r>
            <a:endParaRPr lang="ru-RU" dirty="0">
              <a:solidFill>
                <a:schemeClr val="accent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6618677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3" grpId="0" animBg="1"/>
      <p:bldP spid="14" grpId="0" animBg="1"/>
    </p:bldLst>
  </p:timing>
  <p:extLst mod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Register </a:t>
            </a:r>
            <a:r>
              <a:rPr lang="en-US" dirty="0" smtClean="0"/>
              <a:t>Renaming Algorithm</a:t>
            </a:r>
            <a:endParaRPr lang="ru-RU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 bwMode="auto">
          <a:xfrm>
            <a:off x="457200" y="914401"/>
            <a:ext cx="8229600" cy="1091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Redo register allocation that was done by compiler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Eliminate all false dependencies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685800" y="2606438"/>
            <a:ext cx="4127768" cy="227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(1)  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r1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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r4 / r7 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(2)  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CC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r8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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r1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+ r2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(3)  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r1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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r5 + 1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(4)  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r6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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r6 – r3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(5)  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9900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r4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 load [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r1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+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r6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]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(6)   r7 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CC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r8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  * 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9900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r4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  <a:sym typeface="Symbol" pitchFamily="18" charset="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13982" y="2083218"/>
            <a:ext cx="15118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solidFill>
                  <a:prstClr val="black"/>
                </a:solidFill>
                <a:latin typeface="Calibri"/>
                <a:cs typeface="+mn-cs"/>
              </a:rPr>
              <a:t>Example:</a:t>
            </a:r>
            <a:endParaRPr lang="ru-RU" sz="2800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914482" y="2083218"/>
            <a:ext cx="16387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solidFill>
                  <a:prstClr val="black"/>
                </a:solidFill>
                <a:latin typeface="Calibri"/>
                <a:cs typeface="+mn-cs"/>
              </a:rPr>
              <a:t>Renaming</a:t>
            </a:r>
            <a:endParaRPr lang="ru-RU" sz="2800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181600" y="2572683"/>
            <a:ext cx="152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 smtClean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pr10 ≡ </a:t>
            </a:r>
            <a:r>
              <a:rPr lang="en-US" sz="2000" dirty="0" smtClean="0">
                <a:solidFill>
                  <a:srgbClr val="CC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2000" dirty="0" smtClean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endParaRPr lang="en-US" sz="2000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 smtClean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pr11 </a:t>
            </a:r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≡ </a:t>
            </a:r>
            <a:r>
              <a:rPr lang="en-US" sz="2000" dirty="0" smtClean="0">
                <a:solidFill>
                  <a:srgbClr val="00CC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r8</a:t>
            </a:r>
            <a:r>
              <a:rPr lang="en-US" sz="2000" dirty="0" smtClean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endParaRPr lang="en-US" sz="2000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 smtClean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pr12 </a:t>
            </a:r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≡ </a:t>
            </a:r>
            <a:r>
              <a:rPr lang="en-US" sz="2000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2000" dirty="0" smtClean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endParaRPr lang="en-US" sz="2000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 smtClean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pr13 </a:t>
            </a:r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≡ </a:t>
            </a:r>
            <a:r>
              <a:rPr lang="en-US" sz="2000" dirty="0" smtClean="0">
                <a:solidFill>
                  <a:srgbClr val="FF99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r6</a:t>
            </a:r>
            <a:r>
              <a:rPr lang="en-US" sz="2000" dirty="0" smtClean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endParaRPr lang="en-US" sz="2000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 smtClean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pr14 </a:t>
            </a:r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≡ </a:t>
            </a:r>
            <a:r>
              <a:rPr lang="en-US" sz="2000" dirty="0" smtClean="0">
                <a:solidFill>
                  <a:srgbClr val="C46BE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 smtClean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pr15 </a:t>
            </a:r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≡ </a:t>
            </a:r>
            <a:r>
              <a:rPr lang="en-US" sz="2000" dirty="0" smtClean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r7  </a:t>
            </a:r>
            <a:endParaRPr lang="en-US" sz="2000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1196340" y="5532120"/>
          <a:ext cx="6934200" cy="792480"/>
        </p:xfrm>
        <a:graphic>
          <a:graphicData uri="http://schemas.openxmlformats.org/drawingml/2006/table">
            <a:tbl>
              <a:tblPr firstRow="1" bandRow="1"/>
              <a:tblGrid>
                <a:gridCol w="693420"/>
                <a:gridCol w="693420"/>
                <a:gridCol w="693420"/>
                <a:gridCol w="693420"/>
                <a:gridCol w="693420"/>
                <a:gridCol w="693420"/>
                <a:gridCol w="693420"/>
                <a:gridCol w="693420"/>
                <a:gridCol w="693420"/>
                <a:gridCol w="693420"/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20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</a:t>
                      </a:r>
                      <a:endParaRPr lang="ru-RU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20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ru-RU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20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endParaRPr lang="ru-RU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20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endParaRPr lang="ru-RU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20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r4</a:t>
                      </a:r>
                      <a:endParaRPr lang="ru-RU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20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r5</a:t>
                      </a:r>
                      <a:endParaRPr lang="ru-RU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20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r6</a:t>
                      </a:r>
                      <a:endParaRPr lang="ru-RU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20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r7</a:t>
                      </a:r>
                      <a:endParaRPr lang="ru-RU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20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r8</a:t>
                      </a:r>
                      <a:endParaRPr lang="ru-RU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200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200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200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200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200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200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2590800" y="5924788"/>
            <a:ext cx="6912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pr10</a:t>
            </a:r>
            <a:endParaRPr lang="ru-RU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412152" y="5924788"/>
            <a:ext cx="6912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pr11</a:t>
            </a:r>
            <a:endParaRPr lang="ru-RU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720937" y="5921216"/>
            <a:ext cx="6912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pr15</a:t>
            </a:r>
            <a:endParaRPr lang="ru-RU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678680" y="5921216"/>
            <a:ext cx="6912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pr14</a:t>
            </a:r>
            <a:endParaRPr lang="ru-RU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590799" y="5921216"/>
            <a:ext cx="691215" cy="369332"/>
          </a:xfrm>
          <a:prstGeom prst="rect">
            <a:avLst/>
          </a:prstGeom>
          <a:solidFill>
            <a:srgbClr val="D0D8E8"/>
          </a:solidFill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pr12</a:t>
            </a:r>
            <a:endParaRPr lang="ru-RU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045416" y="5937999"/>
            <a:ext cx="6912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pr13</a:t>
            </a:r>
            <a:endParaRPr lang="ru-RU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211580" y="2606438"/>
            <a:ext cx="748923" cy="400110"/>
          </a:xfrm>
          <a:prstGeom prst="rect">
            <a:avLst/>
          </a:prstGeom>
          <a:solidFill>
            <a:srgbClr val="CC0000"/>
          </a:solidFill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prstClr val="whit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pr10</a:t>
            </a:r>
            <a:endParaRPr lang="ru-RU" dirty="0">
              <a:solidFill>
                <a:prstClr val="white"/>
              </a:solidFill>
              <a:latin typeface="Calibri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328844" y="2957056"/>
            <a:ext cx="748923" cy="400110"/>
          </a:xfrm>
          <a:prstGeom prst="rect">
            <a:avLst/>
          </a:prstGeom>
          <a:solidFill>
            <a:srgbClr val="CC0000"/>
          </a:solidFill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prstClr val="whit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pr10</a:t>
            </a:r>
            <a:endParaRPr lang="ru-RU" dirty="0">
              <a:solidFill>
                <a:prstClr val="white"/>
              </a:solidFill>
              <a:latin typeface="Calibri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211580" y="2974768"/>
            <a:ext cx="748923" cy="400110"/>
          </a:xfrm>
          <a:prstGeom prst="rect">
            <a:avLst/>
          </a:prstGeom>
          <a:solidFill>
            <a:srgbClr val="00CC00"/>
          </a:solidFill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 smtClean="0">
                <a:solidFill>
                  <a:prstClr val="whit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pr11</a:t>
            </a:r>
            <a:endParaRPr lang="ru-RU" dirty="0">
              <a:solidFill>
                <a:prstClr val="white"/>
              </a:solidFill>
              <a:latin typeface="Calibri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297719" y="4399012"/>
            <a:ext cx="748923" cy="400110"/>
          </a:xfrm>
          <a:prstGeom prst="rect">
            <a:avLst/>
          </a:prstGeom>
          <a:solidFill>
            <a:srgbClr val="00CC00"/>
          </a:solidFill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 smtClean="0">
                <a:solidFill>
                  <a:prstClr val="whit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pr11</a:t>
            </a:r>
            <a:endParaRPr lang="ru-RU" dirty="0">
              <a:solidFill>
                <a:prstClr val="white"/>
              </a:solidFill>
              <a:latin typeface="Calibri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211580" y="3355907"/>
            <a:ext cx="748923" cy="400110"/>
          </a:xfrm>
          <a:prstGeom prst="rect">
            <a:avLst/>
          </a:prstGeom>
          <a:solidFill>
            <a:srgbClr val="CC0000"/>
          </a:solidFill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 smtClean="0">
                <a:solidFill>
                  <a:prstClr val="whit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pr12</a:t>
            </a:r>
            <a:endParaRPr lang="ru-RU" dirty="0">
              <a:solidFill>
                <a:prstClr val="white"/>
              </a:solidFill>
              <a:latin typeface="Calibri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062598" y="4047081"/>
            <a:ext cx="748923" cy="400110"/>
          </a:xfrm>
          <a:prstGeom prst="rect">
            <a:avLst/>
          </a:prstGeom>
          <a:solidFill>
            <a:srgbClr val="CC0000"/>
          </a:solidFill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 smtClean="0">
                <a:solidFill>
                  <a:prstClr val="whit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pr12</a:t>
            </a:r>
            <a:endParaRPr lang="ru-RU" dirty="0">
              <a:solidFill>
                <a:prstClr val="white"/>
              </a:solidFill>
              <a:latin typeface="Calibri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211580" y="3705266"/>
            <a:ext cx="748923" cy="400110"/>
          </a:xfrm>
          <a:prstGeom prst="rect">
            <a:avLst/>
          </a:prstGeom>
          <a:solidFill>
            <a:srgbClr val="FF9900"/>
          </a:solidFill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 smtClean="0">
                <a:solidFill>
                  <a:prstClr val="whit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pr13</a:t>
            </a:r>
            <a:endParaRPr lang="ru-RU" dirty="0">
              <a:solidFill>
                <a:prstClr val="white"/>
              </a:solidFill>
              <a:latin typeface="Calibri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967984" y="4047081"/>
            <a:ext cx="748923" cy="400110"/>
          </a:xfrm>
          <a:prstGeom prst="rect">
            <a:avLst/>
          </a:prstGeom>
          <a:solidFill>
            <a:srgbClr val="FF9900"/>
          </a:solidFill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 smtClean="0">
                <a:solidFill>
                  <a:prstClr val="whit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pr13</a:t>
            </a:r>
            <a:endParaRPr lang="ru-RU" dirty="0">
              <a:solidFill>
                <a:prstClr val="white"/>
              </a:solidFill>
              <a:latin typeface="Calibri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211580" y="4056097"/>
            <a:ext cx="748923" cy="400110"/>
          </a:xfrm>
          <a:prstGeom prst="rect">
            <a:avLst/>
          </a:prstGeom>
          <a:solidFill>
            <a:srgbClr val="C46BE1"/>
          </a:solidFill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 smtClean="0">
                <a:solidFill>
                  <a:prstClr val="whit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pr14</a:t>
            </a:r>
            <a:endParaRPr lang="ru-RU" dirty="0">
              <a:solidFill>
                <a:prstClr val="white"/>
              </a:solidFill>
              <a:latin typeface="Calibri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329716" y="4415411"/>
            <a:ext cx="748923" cy="400110"/>
          </a:xfrm>
          <a:prstGeom prst="rect">
            <a:avLst/>
          </a:prstGeom>
          <a:solidFill>
            <a:srgbClr val="C46BE1"/>
          </a:solidFill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 smtClean="0">
                <a:solidFill>
                  <a:prstClr val="whit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pr14</a:t>
            </a:r>
            <a:endParaRPr lang="ru-RU" dirty="0">
              <a:solidFill>
                <a:prstClr val="white"/>
              </a:solidFill>
              <a:latin typeface="Calibri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124200" y="5095069"/>
            <a:ext cx="30230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 smtClean="0">
                <a:solidFill>
                  <a:prstClr val="black"/>
                </a:solidFill>
                <a:latin typeface="Calibri"/>
                <a:cs typeface="+mn-cs"/>
              </a:rPr>
              <a:t>Register Aliases Table (RAT)</a:t>
            </a:r>
            <a:endParaRPr lang="ru-RU" sz="2000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211580" y="4421006"/>
            <a:ext cx="748923" cy="400110"/>
          </a:xfrm>
          <a:prstGeom prst="rect">
            <a:avLst/>
          </a:prstGeom>
          <a:solidFill>
            <a:srgbClr val="1F497D">
              <a:lumMod val="60000"/>
              <a:lumOff val="40000"/>
            </a:srgbClr>
          </a:solidFill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pr15</a:t>
            </a:r>
            <a:endParaRPr kumimoji="0" lang="ru-RU" sz="18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7254360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" grpId="0"/>
      <p:bldP spid="10" grpId="0"/>
      <p:bldP spid="11" grpId="0"/>
      <p:bldP spid="12" grpId="0"/>
      <p:bldP spid="13" grpId="0" animBg="1"/>
      <p:bldP spid="14" grpId="0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/>
      <p:bldP spid="26" grpId="0" animBg="1"/>
    </p:bldLst>
  </p:timing>
  <p:extLst mod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RAT Restore</a:t>
            </a:r>
            <a:endParaRPr lang="ru-RU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 bwMode="auto">
          <a:xfrm>
            <a:off x="457200" y="914401"/>
            <a:ext cx="8229600" cy="1091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lang="en-US" sz="2800" dirty="0" smtClean="0">
                <a:solidFill>
                  <a:sysClr val="windowText" lastClr="000000"/>
                </a:solidFill>
                <a:latin typeface="Calibri"/>
              </a:rPr>
              <a:t>Each ROB entry saves previous register alias (history)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On</a:t>
            </a:r>
            <a:r>
              <a:rPr kumimoji="0" lang="en-US" sz="2800" b="0" i="0" u="none" strike="noStrike" kern="1200" cap="none" spc="0" normalizeH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flush, ROB is restores history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685800" y="2606438"/>
            <a:ext cx="4127768" cy="227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(1)  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r1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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r4 / r7 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(2)  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CC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r8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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r1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+ r2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AutoNum type="arabicParenBoth" startAt="3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r1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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r5 + 1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AutoNum type="arabicParenBoth" startAt="3"/>
              <a:tabLst/>
              <a:defRPr/>
            </a:pPr>
            <a:r>
              <a:rPr lang="en-US" sz="2000" dirty="0" smtClean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jump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(5)  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r6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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r6 – r3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(6)  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9900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r4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 load [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r1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+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r6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]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(7)   r7 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CC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r8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  * 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9900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r4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  <a:sym typeface="Symbol" pitchFamily="18" charset="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13982" y="2083218"/>
            <a:ext cx="15118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solidFill>
                  <a:prstClr val="black"/>
                </a:solidFill>
                <a:latin typeface="Calibri"/>
                <a:cs typeface="+mn-cs"/>
              </a:rPr>
              <a:t>Example:</a:t>
            </a:r>
            <a:endParaRPr lang="ru-RU" sz="2800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914482" y="2083218"/>
            <a:ext cx="16387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solidFill>
                  <a:prstClr val="black"/>
                </a:solidFill>
                <a:latin typeface="Calibri"/>
                <a:cs typeface="+mn-cs"/>
              </a:rPr>
              <a:t>Renaming</a:t>
            </a:r>
            <a:endParaRPr lang="ru-RU" sz="2800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181600" y="2572683"/>
            <a:ext cx="1524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 smtClean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pr10 ≡ </a:t>
            </a:r>
            <a:r>
              <a:rPr lang="en-US" sz="2000" dirty="0" smtClean="0">
                <a:solidFill>
                  <a:srgbClr val="CC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2000" dirty="0" smtClean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endParaRPr lang="en-US" sz="2000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 smtClean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pr11 </a:t>
            </a:r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≡ </a:t>
            </a:r>
            <a:r>
              <a:rPr lang="en-US" sz="2000" dirty="0" smtClean="0">
                <a:solidFill>
                  <a:srgbClr val="00CC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r8</a:t>
            </a:r>
            <a:r>
              <a:rPr lang="en-US" sz="2000" dirty="0" smtClean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endParaRPr lang="en-US" sz="2000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 smtClean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pr12 </a:t>
            </a:r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≡ </a:t>
            </a:r>
            <a:r>
              <a:rPr lang="en-US" sz="2000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 smtClean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pr13 </a:t>
            </a:r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≡ </a:t>
            </a:r>
            <a:r>
              <a:rPr lang="en-US" sz="2000" dirty="0" smtClean="0">
                <a:solidFill>
                  <a:srgbClr val="FF99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r6</a:t>
            </a:r>
            <a:r>
              <a:rPr lang="en-US" sz="2000" dirty="0" smtClean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endParaRPr lang="en-US" sz="2000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 smtClean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pr14 </a:t>
            </a:r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≡ </a:t>
            </a:r>
            <a:r>
              <a:rPr lang="en-US" sz="2000" dirty="0" smtClean="0">
                <a:solidFill>
                  <a:srgbClr val="C46BE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 smtClean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pr15 </a:t>
            </a:r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≡ </a:t>
            </a:r>
            <a:r>
              <a:rPr lang="en-US" sz="2000" dirty="0" smtClean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r7  </a:t>
            </a:r>
            <a:endParaRPr lang="en-US" sz="2000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1196340" y="5532120"/>
          <a:ext cx="7234596" cy="792480"/>
        </p:xfrm>
        <a:graphic>
          <a:graphicData uri="http://schemas.openxmlformats.org/drawingml/2006/table">
            <a:tbl>
              <a:tblPr firstRow="1" bandRow="1"/>
              <a:tblGrid>
                <a:gridCol w="693420"/>
                <a:gridCol w="693420"/>
                <a:gridCol w="693420"/>
                <a:gridCol w="693420"/>
                <a:gridCol w="693420"/>
                <a:gridCol w="747459"/>
                <a:gridCol w="639381"/>
                <a:gridCol w="786748"/>
                <a:gridCol w="805343"/>
                <a:gridCol w="788565"/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20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</a:t>
                      </a:r>
                      <a:endParaRPr lang="ru-RU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20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ru-RU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20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endParaRPr lang="ru-RU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20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endParaRPr lang="ru-RU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20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r4</a:t>
                      </a:r>
                      <a:endParaRPr lang="ru-RU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20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r5</a:t>
                      </a:r>
                      <a:endParaRPr lang="ru-RU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20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r6</a:t>
                      </a:r>
                      <a:endParaRPr lang="ru-RU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20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r7</a:t>
                      </a:r>
                      <a:endParaRPr lang="ru-RU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20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r8</a:t>
                      </a:r>
                      <a:endParaRPr lang="ru-RU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20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pr7</a:t>
                      </a:r>
                      <a:endParaRPr lang="ru-RU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2000" dirty="0" err="1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</a:t>
                      </a:r>
                      <a:r>
                        <a:rPr lang="ru-RU" sz="20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21</a:t>
                      </a:r>
                      <a:endParaRPr lang="ru-RU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20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pr20</a:t>
                      </a:r>
                      <a:endParaRPr lang="ru-RU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20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pr3</a:t>
                      </a:r>
                      <a:endParaRPr lang="ru-RU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20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pr8</a:t>
                      </a:r>
                      <a:endParaRPr lang="ru-RU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2590800" y="5924788"/>
            <a:ext cx="691215" cy="369332"/>
          </a:xfrm>
          <a:prstGeom prst="rect">
            <a:avLst/>
          </a:prstGeom>
          <a:solidFill>
            <a:srgbClr val="D0D8E8"/>
          </a:solidFill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pr10</a:t>
            </a:r>
            <a:endParaRPr lang="ru-RU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697378" y="5937999"/>
            <a:ext cx="691215" cy="369332"/>
          </a:xfrm>
          <a:prstGeom prst="rect">
            <a:avLst/>
          </a:prstGeom>
          <a:solidFill>
            <a:srgbClr val="D0D8E8"/>
          </a:solidFill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pr11</a:t>
            </a:r>
            <a:endParaRPr lang="ru-RU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852558" y="5919804"/>
            <a:ext cx="694931" cy="369332"/>
          </a:xfrm>
          <a:prstGeom prst="rect">
            <a:avLst/>
          </a:prstGeom>
          <a:solidFill>
            <a:srgbClr val="D0D8E8"/>
          </a:solidFill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pr15</a:t>
            </a:r>
            <a:endParaRPr lang="ru-RU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678680" y="5921216"/>
            <a:ext cx="691215" cy="369332"/>
          </a:xfrm>
          <a:prstGeom prst="rect">
            <a:avLst/>
          </a:prstGeom>
          <a:solidFill>
            <a:srgbClr val="D0D8E8"/>
          </a:solidFill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pr14</a:t>
            </a:r>
            <a:endParaRPr lang="ru-RU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590799" y="5937999"/>
            <a:ext cx="691215" cy="369332"/>
          </a:xfrm>
          <a:prstGeom prst="rect">
            <a:avLst/>
          </a:prstGeom>
          <a:solidFill>
            <a:srgbClr val="D0D8E8"/>
          </a:solidFill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pr12</a:t>
            </a:r>
            <a:endParaRPr lang="ru-RU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045416" y="5937999"/>
            <a:ext cx="691215" cy="369332"/>
          </a:xfrm>
          <a:prstGeom prst="rect">
            <a:avLst/>
          </a:prstGeom>
          <a:solidFill>
            <a:srgbClr val="D0D8E8"/>
          </a:solidFill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pr13</a:t>
            </a:r>
            <a:endParaRPr lang="ru-RU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211580" y="2606438"/>
            <a:ext cx="748923" cy="400110"/>
          </a:xfrm>
          <a:prstGeom prst="rect">
            <a:avLst/>
          </a:prstGeom>
          <a:solidFill>
            <a:srgbClr val="CC0000"/>
          </a:solidFill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prstClr val="whit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pr10</a:t>
            </a:r>
            <a:endParaRPr lang="ru-RU" dirty="0">
              <a:solidFill>
                <a:prstClr val="white"/>
              </a:solidFill>
              <a:latin typeface="Calibri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328844" y="2957056"/>
            <a:ext cx="748923" cy="400110"/>
          </a:xfrm>
          <a:prstGeom prst="rect">
            <a:avLst/>
          </a:prstGeom>
          <a:solidFill>
            <a:srgbClr val="CC0000"/>
          </a:solidFill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prstClr val="whit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pr10</a:t>
            </a:r>
            <a:endParaRPr lang="ru-RU" dirty="0">
              <a:solidFill>
                <a:prstClr val="white"/>
              </a:solidFill>
              <a:latin typeface="Calibri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211580" y="2974768"/>
            <a:ext cx="748923" cy="400110"/>
          </a:xfrm>
          <a:prstGeom prst="rect">
            <a:avLst/>
          </a:prstGeom>
          <a:solidFill>
            <a:srgbClr val="00CC00"/>
          </a:solidFill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 smtClean="0">
                <a:solidFill>
                  <a:prstClr val="whit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pr11</a:t>
            </a:r>
            <a:endParaRPr lang="ru-RU" dirty="0">
              <a:solidFill>
                <a:prstClr val="white"/>
              </a:solidFill>
              <a:latin typeface="Calibri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297719" y="4828621"/>
            <a:ext cx="748923" cy="400110"/>
          </a:xfrm>
          <a:prstGeom prst="rect">
            <a:avLst/>
          </a:prstGeom>
          <a:solidFill>
            <a:srgbClr val="00CC00"/>
          </a:solidFill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 smtClean="0">
                <a:solidFill>
                  <a:prstClr val="whit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pr11</a:t>
            </a:r>
            <a:endParaRPr lang="ru-RU" dirty="0">
              <a:solidFill>
                <a:prstClr val="white"/>
              </a:solidFill>
              <a:latin typeface="Calibri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211580" y="3355907"/>
            <a:ext cx="748923" cy="400110"/>
          </a:xfrm>
          <a:prstGeom prst="rect">
            <a:avLst/>
          </a:prstGeom>
          <a:solidFill>
            <a:srgbClr val="CC0000"/>
          </a:solidFill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 smtClean="0">
                <a:solidFill>
                  <a:prstClr val="whit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pr12</a:t>
            </a:r>
            <a:endParaRPr lang="ru-RU" dirty="0">
              <a:solidFill>
                <a:prstClr val="white"/>
              </a:solidFill>
              <a:latin typeface="Calibri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062598" y="4476690"/>
            <a:ext cx="748923" cy="400110"/>
          </a:xfrm>
          <a:prstGeom prst="rect">
            <a:avLst/>
          </a:prstGeom>
          <a:solidFill>
            <a:srgbClr val="CC0000"/>
          </a:solidFill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 smtClean="0">
                <a:solidFill>
                  <a:prstClr val="whit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pr12</a:t>
            </a:r>
            <a:endParaRPr lang="ru-RU" dirty="0">
              <a:solidFill>
                <a:prstClr val="white"/>
              </a:solidFill>
              <a:latin typeface="Calibri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211580" y="4134875"/>
            <a:ext cx="748923" cy="400110"/>
          </a:xfrm>
          <a:prstGeom prst="rect">
            <a:avLst/>
          </a:prstGeom>
          <a:solidFill>
            <a:srgbClr val="FF9900"/>
          </a:solidFill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 smtClean="0">
                <a:solidFill>
                  <a:prstClr val="whit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pr13</a:t>
            </a:r>
            <a:endParaRPr lang="ru-RU" dirty="0">
              <a:solidFill>
                <a:prstClr val="white"/>
              </a:solidFill>
              <a:latin typeface="Calibri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967984" y="4476690"/>
            <a:ext cx="748923" cy="400110"/>
          </a:xfrm>
          <a:prstGeom prst="rect">
            <a:avLst/>
          </a:prstGeom>
          <a:solidFill>
            <a:srgbClr val="FF9900"/>
          </a:solidFill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 smtClean="0">
                <a:solidFill>
                  <a:prstClr val="whit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pr13</a:t>
            </a:r>
            <a:endParaRPr lang="ru-RU" dirty="0">
              <a:solidFill>
                <a:prstClr val="white"/>
              </a:solidFill>
              <a:latin typeface="Calibri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211580" y="4485706"/>
            <a:ext cx="748923" cy="400110"/>
          </a:xfrm>
          <a:prstGeom prst="rect">
            <a:avLst/>
          </a:prstGeom>
          <a:solidFill>
            <a:srgbClr val="C46BE1"/>
          </a:solidFill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 smtClean="0">
                <a:solidFill>
                  <a:prstClr val="whit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pr14</a:t>
            </a:r>
            <a:endParaRPr lang="ru-RU" dirty="0">
              <a:solidFill>
                <a:prstClr val="white"/>
              </a:solidFill>
              <a:latin typeface="Calibri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329716" y="4845020"/>
            <a:ext cx="748923" cy="400110"/>
          </a:xfrm>
          <a:prstGeom prst="rect">
            <a:avLst/>
          </a:prstGeom>
          <a:solidFill>
            <a:srgbClr val="C46BE1"/>
          </a:solidFill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 smtClean="0">
                <a:solidFill>
                  <a:prstClr val="whit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pr14</a:t>
            </a:r>
            <a:endParaRPr lang="ru-RU" dirty="0">
              <a:solidFill>
                <a:prstClr val="white"/>
              </a:solidFill>
              <a:latin typeface="Calibri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124200" y="5095069"/>
            <a:ext cx="30230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 smtClean="0">
                <a:solidFill>
                  <a:prstClr val="black"/>
                </a:solidFill>
                <a:latin typeface="Calibri"/>
                <a:cs typeface="+mn-cs"/>
              </a:rPr>
              <a:t>Register Aliases Table (RAT)</a:t>
            </a:r>
            <a:endParaRPr lang="ru-RU" sz="2000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211580" y="4850615"/>
            <a:ext cx="748923" cy="400110"/>
          </a:xfrm>
          <a:prstGeom prst="rect">
            <a:avLst/>
          </a:prstGeom>
          <a:solidFill>
            <a:srgbClr val="1F497D">
              <a:lumMod val="60000"/>
              <a:lumOff val="40000"/>
            </a:srgbClr>
          </a:solidFill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pr15</a:t>
            </a:r>
            <a:endParaRPr kumimoji="0" lang="ru-RU" sz="18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+mn-cs"/>
            </a:endParaRPr>
          </a:p>
        </p:txBody>
      </p:sp>
      <p:sp>
        <p:nvSpPr>
          <p:cNvPr id="27" name="Rectangle 6"/>
          <p:cNvSpPr/>
          <p:nvPr/>
        </p:nvSpPr>
        <p:spPr>
          <a:xfrm>
            <a:off x="6936296" y="2572683"/>
            <a:ext cx="1939255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rgbClr val="CC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en-US" sz="2000" dirty="0" smtClean="0">
                <a:solidFill>
                  <a:srgbClr val="CC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2000" dirty="0" smtClean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was pr7</a:t>
            </a:r>
            <a:endParaRPr lang="en-US" sz="2000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 smtClean="0">
                <a:solidFill>
                  <a:srgbClr val="00CC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r8</a:t>
            </a:r>
            <a:r>
              <a:rPr lang="en-US" sz="2000" dirty="0" smtClean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was pr8</a:t>
            </a:r>
            <a:endParaRPr lang="en-US" sz="2000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 smtClean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was pr10</a:t>
            </a: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 smtClean="0">
                <a:solidFill>
                  <a:srgbClr val="FF99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r6</a:t>
            </a:r>
            <a:r>
              <a:rPr lang="en-US" sz="2000" dirty="0" smtClean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was pr20</a:t>
            </a:r>
            <a:endParaRPr lang="en-US" sz="2000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 smtClean="0">
                <a:solidFill>
                  <a:srgbClr val="C46BE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 </a:t>
            </a:r>
            <a:r>
              <a:rPr lang="en-US" sz="2000" dirty="0" smtClean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was pr21</a:t>
            </a:r>
            <a:endParaRPr lang="en-US" sz="2000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 smtClean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r7 was pr3</a:t>
            </a:r>
            <a:endParaRPr lang="en-US" sz="2000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936296" y="2112531"/>
            <a:ext cx="12223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solidFill>
                  <a:prstClr val="black"/>
                </a:solidFill>
                <a:latin typeface="Calibri"/>
                <a:cs typeface="+mn-cs"/>
              </a:rPr>
              <a:t>History</a:t>
            </a:r>
            <a:endParaRPr lang="ru-RU" sz="2800" dirty="0">
              <a:solidFill>
                <a:prstClr val="black"/>
              </a:solidFill>
              <a:latin typeface="Calibri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8809350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4" dur="500"/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9" dur="500"/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indefinite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4" dur="500"/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" grpId="0" animBg="1"/>
      <p:bldP spid="10" grpId="0" animBg="1"/>
      <p:bldP spid="11" grpId="0" animBg="1"/>
      <p:bldP spid="11" grpId="1" animBg="1"/>
      <p:bldP spid="12" grpId="0" animBg="1"/>
      <p:bldP spid="12" grpId="1" animBg="1"/>
      <p:bldP spid="13" grpId="0" animBg="1"/>
      <p:bldP spid="14" grpId="0" animBg="1"/>
      <p:bldP spid="14" grpId="1" animBg="1"/>
      <p:bldP spid="15" grpId="0" animBg="1"/>
      <p:bldP spid="16" grpId="0" animBg="1"/>
      <p:bldP spid="17" grpId="0" animBg="1"/>
      <p:bldP spid="18" grpId="0" animBg="1"/>
      <p:bldP spid="18" grpId="1" animBg="1"/>
      <p:bldP spid="19" grpId="0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/>
      <p:bldP spid="26" grpId="0" animBg="1"/>
      <p:bldP spid="26" grpId="1" animBg="1"/>
      <p:bldP spid="28" grpId="0"/>
    </p:bldLst>
  </p:timing>
  <p:extLst mod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2727961"/>
            <a:ext cx="6477000" cy="1362075"/>
          </a:xfrm>
        </p:spPr>
        <p:txBody>
          <a:bodyPr/>
          <a:lstStyle/>
          <a:p>
            <a:pPr algn="ctr"/>
            <a:r>
              <a:rPr lang="en-US" dirty="0" smtClean="0"/>
              <a:t>Thank You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16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95345535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522010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1|55.6|30.7|16.8|40.2|31.2|35.7|14|21.2|12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2.9|4.6|25.7|1.1|10.9|31.5|165.5|17|25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7|1|53.3|13.4|3.8|5.2|2.5|7.3|11.5|12|3.9|3.9|2.8|6.9|6.2|3.7|16|8.4|30.5|32|11.8|27.9|3.7|25.5|1.9|5.6|26.4|3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5.4|17.3|6.2|35.2|26.9|36.8|23.6|3.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19.9|11.7|78.6|2.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7|32.2|83.4|29|131.1|13.6|129.7|10.3|23.9|103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8|42.6|117.1|7.6|44.5|2.8|11.2|14.8|15.4|8.3|1.8|9.5|86.8|15.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6.8|8.4|2.6|10.2|6.9|151.5|16.3|18.6|16.8|3.3|21.5|9.9|73|20.9|4.6|17.7|22.2|19.3|69|174.6|17.5|65.9|22.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1|6|68.7|70.1|1|29.7|63.9|130.9|21.8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7|69|41.6|6.8|1.8|7.1|2.1|11.7|22.7|5.4|3.7|6.7|56.1|41.8|1.4|1.3|6.8|8.7|294.2|15.9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1.3|6.9|25.5|1.5|46.7|3.5|1.6|36.1|19.1|41.8|27|22.5|19.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3|9.9|33.3|94.9|14.5|88.7|23.9|118.9|15|8.6|6.9|147.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2|1|1.4|1.5|154.9|0.9|30.9|51.6|8.5|6.3|32.5|26.7|7.3|1.6|6.7|298|309.2|-602.6|2|0.8|0.4|0.2|0.6|1|0.4|1.5|0.6|0.6|0.6|0.4|0.3|0.3|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2|1|1.4|1.5|154.9|0.9|30.9|51.6|8.5|6.3|32.5|26.7|7.3|1.6|6.7|298|309.2|-602.6|2|0.8|0.4|0.2|0.6|1|0.4|1.5|0.6|0.6|0.6|0.4|0.3|0.3|1"/>
</p:tagLst>
</file>

<file path=ppt/theme/theme1.xml><?xml version="1.0" encoding="utf-8"?>
<a:theme xmlns:a="http://schemas.openxmlformats.org/drawingml/2006/main" name="mdsp_2011">
  <a:themeElements>
    <a:clrScheme name="intel2011">
      <a:dk1>
        <a:srgbClr val="061922"/>
      </a:dk1>
      <a:lt1>
        <a:srgbClr val="FFFFFF"/>
      </a:lt1>
      <a:dk2>
        <a:srgbClr val="939598"/>
      </a:dk2>
      <a:lt2>
        <a:srgbClr val="B4BABD"/>
      </a:lt2>
      <a:accent1>
        <a:srgbClr val="0071C5"/>
      </a:accent1>
      <a:accent2>
        <a:srgbClr val="00AEEF"/>
      </a:accent2>
      <a:accent3>
        <a:srgbClr val="004280"/>
      </a:accent3>
      <a:accent4>
        <a:srgbClr val="FFDA00"/>
      </a:accent4>
      <a:accent5>
        <a:srgbClr val="A6CE39"/>
      </a:accent5>
      <a:accent6>
        <a:srgbClr val="FDB813"/>
      </a:accent6>
      <a:hlink>
        <a:srgbClr val="0071C5"/>
      </a:hlink>
      <a:folHlink>
        <a:srgbClr val="00AEE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ln w="3175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eaLnBrk="0" hangingPunct="0">
          <a:defRPr sz="2000" b="1" smtClean="0">
            <a:latin typeface="Neo Sans Intel" pitchFamily="34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Neo Sans Intel" pitchFamily="34" charset="0"/>
            <a:cs typeface="Arial" pitchFamily="34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dirty="0" err="1" smtClean="0">
            <a:latin typeface="+mn-lt"/>
          </a:defRPr>
        </a:defPPr>
      </a:lstStyle>
    </a:txDef>
  </a:objectDefaults>
  <a:extraClrSchemeLst>
    <a:extraClrScheme>
      <a:clrScheme name="2_intel_template_1_111605_BLUE 1">
        <a:dk1>
          <a:srgbClr val="FF5C00"/>
        </a:dk1>
        <a:lt1>
          <a:srgbClr val="FFFFFF"/>
        </a:lt1>
        <a:dk2>
          <a:srgbClr val="0C2E86"/>
        </a:dk2>
        <a:lt2>
          <a:srgbClr val="F5E647"/>
        </a:lt2>
        <a:accent1>
          <a:srgbClr val="A6CAE1"/>
        </a:accent1>
        <a:accent2>
          <a:srgbClr val="567EB9"/>
        </a:accent2>
        <a:accent3>
          <a:srgbClr val="AAADC3"/>
        </a:accent3>
        <a:accent4>
          <a:srgbClr val="DADADA"/>
        </a:accent4>
        <a:accent5>
          <a:srgbClr val="D0E1EE"/>
        </a:accent5>
        <a:accent6>
          <a:srgbClr val="4D72A7"/>
        </a:accent6>
        <a:hlink>
          <a:srgbClr val="0860A8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intel_template_1_111605_BLUE 2">
        <a:dk1>
          <a:srgbClr val="0860A8"/>
        </a:dk1>
        <a:lt1>
          <a:srgbClr val="FFFFFF"/>
        </a:lt1>
        <a:dk2>
          <a:srgbClr val="F5E647"/>
        </a:dk2>
        <a:lt2>
          <a:srgbClr val="FF5C47"/>
        </a:lt2>
        <a:accent1>
          <a:srgbClr val="A6CAE1"/>
        </a:accent1>
        <a:accent2>
          <a:srgbClr val="567EB9"/>
        </a:accent2>
        <a:accent3>
          <a:srgbClr val="FFFFFF"/>
        </a:accent3>
        <a:accent4>
          <a:srgbClr val="06518F"/>
        </a:accent4>
        <a:accent5>
          <a:srgbClr val="D0E1EE"/>
        </a:accent5>
        <a:accent6>
          <a:srgbClr val="4D72A7"/>
        </a:accent6>
        <a:hlink>
          <a:srgbClr val="0C2E86"/>
        </a:hlink>
        <a:folHlink>
          <a:srgbClr val="AA014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intel_template_1_111605_BLUE 3">
        <a:dk1>
          <a:srgbClr val="000000"/>
        </a:dk1>
        <a:lt1>
          <a:srgbClr val="FFFFFF"/>
        </a:lt1>
        <a:dk2>
          <a:srgbClr val="DDDDDD"/>
        </a:dk2>
        <a:lt2>
          <a:srgbClr val="5F5F5F"/>
        </a:lt2>
        <a:accent1>
          <a:srgbClr val="A6CAE1"/>
        </a:accent1>
        <a:accent2>
          <a:srgbClr val="567EB9"/>
        </a:accent2>
        <a:accent3>
          <a:srgbClr val="FFFFFF"/>
        </a:accent3>
        <a:accent4>
          <a:srgbClr val="000000"/>
        </a:accent4>
        <a:accent5>
          <a:srgbClr val="D0E1EE"/>
        </a:accent5>
        <a:accent6>
          <a:srgbClr val="4D72A7"/>
        </a:accent6>
        <a:hlink>
          <a:srgbClr val="0860A8"/>
        </a:hlink>
        <a:folHlink>
          <a:srgbClr val="0C2E8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F401C71F511A342A8CE5D878AC6A5A2" ma:contentTypeVersion="1" ma:contentTypeDescription="Create a new document." ma:contentTypeScope="" ma:versionID="7780538ac0ddf0014d7399d2d91bbce0">
  <xsd:schema xmlns:xsd="http://www.w3.org/2001/XMLSchema" xmlns:p="http://schemas.microsoft.com/office/2006/metadata/properties" xmlns:ns1="http://schemas.microsoft.com/sharepoint/v3" targetNamespace="http://schemas.microsoft.com/office/2006/metadata/properties" ma:root="true" ma:fieldsID="ddb0c952b897a810c8a4e377cff6bff8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dms="http://schemas.microsoft.com/office/2006/documentManagement/types" targetNamespace="http://schemas.microsoft.com/sharepoint/v3" elementFormDefault="qualified">
    <xsd:import namespace="http://schemas.microsoft.com/office/2006/documentManagement/types"/>
    <xsd:element name="PublishingStartDate" ma:index="8" nillable="true" ma:displayName="Scheduling Start Date" ma:description="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" ma:hidden="tru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3.xml><?xml version="1.0" encoding="utf-8"?>
<p:properties xmlns:p="http://schemas.microsoft.com/office/2006/metadata/properties" xmlns:xsi="http://www.w3.org/2001/XMLSchema-instance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C5CC5FB6-44E0-47C0-972B-EBB94824D4B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2E76FF6-93BD-4804-AFC1-4178155785E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3.xml><?xml version="1.0" encoding="utf-8"?>
<ds:datastoreItem xmlns:ds="http://schemas.openxmlformats.org/officeDocument/2006/customXml" ds:itemID="{14A94C8E-3E2B-4AD9-8D67-7815198BE085}">
  <ds:schemaRefs>
    <ds:schemaRef ds:uri="http://schemas.microsoft.com/office/2006/documentManagement/types"/>
    <ds:schemaRef ds:uri="http://schemas.microsoft.com/sharepoint/v3"/>
    <ds:schemaRef ds:uri="http://purl.org/dc/terms/"/>
    <ds:schemaRef ds:uri="http://schemas.openxmlformats.org/package/2006/metadata/core-properties"/>
    <ds:schemaRef ds:uri="http://purl.org/dc/dcmitype/"/>
    <ds:schemaRef ds:uri="http://purl.org/dc/elements/1.1/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mdsp_2011</Template>
  <TotalTime>6916</TotalTime>
  <Words>1487</Words>
  <Application>Microsoft Office PowerPoint</Application>
  <PresentationFormat>On-screen Show (4:3)</PresentationFormat>
  <Paragraphs>370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30" baseType="lpstr">
      <vt:lpstr>ＭＳ Ｐゴシック</vt:lpstr>
      <vt:lpstr>ＭＳ Ｐゴシック</vt:lpstr>
      <vt:lpstr>Arial</vt:lpstr>
      <vt:lpstr>Calibri</vt:lpstr>
      <vt:lpstr>Consolas</vt:lpstr>
      <vt:lpstr>Neo Sans Intel</vt:lpstr>
      <vt:lpstr>Neo Sans Intel Light</vt:lpstr>
      <vt:lpstr>Neo Sans Intel Medium</vt:lpstr>
      <vt:lpstr>Symbol</vt:lpstr>
      <vt:lpstr>Times</vt:lpstr>
      <vt:lpstr>Verdana</vt:lpstr>
      <vt:lpstr>Wingdings</vt:lpstr>
      <vt:lpstr>mdsp_2011</vt:lpstr>
      <vt:lpstr> Out-Of-Order Execution</vt:lpstr>
      <vt:lpstr>Refresher: Superscalar</vt:lpstr>
      <vt:lpstr>Is Superscalar Good Enough?</vt:lpstr>
      <vt:lpstr>Data Flow Execution</vt:lpstr>
      <vt:lpstr>Can SW Help?</vt:lpstr>
      <vt:lpstr>Can SW Help?</vt:lpstr>
      <vt:lpstr>Why Is Order Important?</vt:lpstr>
      <vt:lpstr>Maintaining Arch State</vt:lpstr>
      <vt:lpstr>Dependency Checking</vt:lpstr>
      <vt:lpstr>How Large Is Window Needed?</vt:lpstr>
      <vt:lpstr>Limitation: Branches</vt:lpstr>
      <vt:lpstr>Limitation: False Dependencies</vt:lpstr>
      <vt:lpstr>Eliminating False Dependencies</vt:lpstr>
      <vt:lpstr>Register Renaming Algorithm</vt:lpstr>
      <vt:lpstr>RAT Restore</vt:lpstr>
      <vt:lpstr>Thank You</vt:lpstr>
      <vt:lpstr>PowerPoint Presentation</vt:lpstr>
    </vt:vector>
  </TitlesOfParts>
  <Company>Intel Corporation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MDSP 2011 Intro</dc:title>
  <dc:creator>atitov</dc:creator>
  <cp:keywords>CTPClassification=CTP_PUBLIC:VisualMarkings=, CTPClassification=:VisualMarkings=, CTPClassification=CTP_NWR:VisualMarkings=, CTPClassification=CTP_NT</cp:keywords>
  <cp:lastModifiedBy>Smirnov, Igor</cp:lastModifiedBy>
  <cp:revision>287</cp:revision>
  <dcterms:created xsi:type="dcterms:W3CDTF">2011-10-24T08:13:52Z</dcterms:created>
  <dcterms:modified xsi:type="dcterms:W3CDTF">2018-03-05T08:42:22Z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0x0101006F401C71F511A342A8CE5D878AC6A5A2</vt:lpwstr>
  </property>
  <property fmtid="{D5CDD505-2E9C-101B-9397-08002B2CF9AE}" pid="3" name="TitusGUID">
    <vt:lpwstr>6edd68e8-8c66-4b1f-913b-524aface4a21</vt:lpwstr>
  </property>
  <property fmtid="{D5CDD505-2E9C-101B-9397-08002B2CF9AE}" pid="4" name="CTP_TimeStamp">
    <vt:lpwstr>2018-03-05 08:42:21Z</vt:lpwstr>
  </property>
  <property fmtid="{D5CDD505-2E9C-101B-9397-08002B2CF9AE}" pid="5" name="CTP_BU">
    <vt:lpwstr>NA</vt:lpwstr>
  </property>
  <property fmtid="{D5CDD505-2E9C-101B-9397-08002B2CF9AE}" pid="6" name="CTP_IDSID">
    <vt:lpwstr>NA</vt:lpwstr>
  </property>
  <property fmtid="{D5CDD505-2E9C-101B-9397-08002B2CF9AE}" pid="7" name="CTP_WWID">
    <vt:lpwstr>NA</vt:lpwstr>
  </property>
  <property fmtid="{D5CDD505-2E9C-101B-9397-08002B2CF9AE}" pid="8" name="CTPClassification">
    <vt:lpwstr>CTP_NT</vt:lpwstr>
  </property>
</Properties>
</file>