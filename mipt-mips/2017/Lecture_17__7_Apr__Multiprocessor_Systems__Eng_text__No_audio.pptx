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37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132" d="100"/>
          <a:sy n="132" d="100"/>
        </p:scale>
        <p:origin x="822" y="132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92827215693517"/>
          <c:y val="0.12120915032679738"/>
          <c:w val="0.83153932391616858"/>
          <c:h val="0.78874177756525943"/>
        </c:manualLayout>
      </c:layout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Freq</c:v>
                </c:pt>
              </c:strCache>
            </c:strRef>
          </c:tx>
          <c:spPr>
            <a:ln w="571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57150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1978</c:v>
                </c:pt>
                <c:pt idx="1">
                  <c:v>1982</c:v>
                </c:pt>
                <c:pt idx="2">
                  <c:v>1985</c:v>
                </c:pt>
                <c:pt idx="3">
                  <c:v>1989</c:v>
                </c:pt>
                <c:pt idx="4">
                  <c:v>1993</c:v>
                </c:pt>
                <c:pt idx="5">
                  <c:v>1995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2002</c:v>
                </c:pt>
                <c:pt idx="10">
                  <c:v>2004</c:v>
                </c:pt>
                <c:pt idx="11">
                  <c:v>2006</c:v>
                </c:pt>
                <c:pt idx="12">
                  <c:v>2008</c:v>
                </c:pt>
                <c:pt idx="13">
                  <c:v>2011</c:v>
                </c:pt>
                <c:pt idx="14">
                  <c:v>2013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8</c:v>
                </c:pt>
                <c:pt idx="2">
                  <c:v>16</c:v>
                </c:pt>
                <c:pt idx="3">
                  <c:v>25</c:v>
                </c:pt>
                <c:pt idx="4">
                  <c:v>60</c:v>
                </c:pt>
                <c:pt idx="5">
                  <c:v>150</c:v>
                </c:pt>
                <c:pt idx="6">
                  <c:v>233</c:v>
                </c:pt>
                <c:pt idx="7">
                  <c:v>450</c:v>
                </c:pt>
                <c:pt idx="8">
                  <c:v>1400</c:v>
                </c:pt>
                <c:pt idx="9">
                  <c:v>2000</c:v>
                </c:pt>
                <c:pt idx="10">
                  <c:v>3400</c:v>
                </c:pt>
                <c:pt idx="11">
                  <c:v>3000</c:v>
                </c:pt>
                <c:pt idx="12">
                  <c:v>3000</c:v>
                </c:pt>
                <c:pt idx="13">
                  <c:v>3000</c:v>
                </c:pt>
                <c:pt idx="14">
                  <c:v>3000</c:v>
                </c:pt>
              </c:numCache>
            </c:numRef>
          </c:yVal>
          <c:smooth val="1"/>
        </c:ser>
        <c:ser>
          <c:idx val="2"/>
          <c:order val="1"/>
          <c:tx>
            <c:strRef>
              <c:f>Sheet1!$E$1</c:f>
              <c:strCache>
                <c:ptCount val="1"/>
                <c:pt idx="0">
                  <c:v>Process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1978</c:v>
                </c:pt>
                <c:pt idx="1">
                  <c:v>1982</c:v>
                </c:pt>
                <c:pt idx="2">
                  <c:v>1985</c:v>
                </c:pt>
                <c:pt idx="3">
                  <c:v>1989</c:v>
                </c:pt>
                <c:pt idx="4">
                  <c:v>1993</c:v>
                </c:pt>
                <c:pt idx="5">
                  <c:v>1995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2002</c:v>
                </c:pt>
                <c:pt idx="10">
                  <c:v>2004</c:v>
                </c:pt>
                <c:pt idx="11">
                  <c:v>2006</c:v>
                </c:pt>
                <c:pt idx="12">
                  <c:v>2008</c:v>
                </c:pt>
                <c:pt idx="13">
                  <c:v>2011</c:v>
                </c:pt>
                <c:pt idx="14">
                  <c:v>2013</c:v>
                </c:pt>
              </c:numCache>
            </c:numRef>
          </c:xVal>
          <c:yVal>
            <c:numRef>
              <c:f>Sheet1!$E$2:$E$17</c:f>
              <c:numCache>
                <c:formatCode>General</c:formatCode>
                <c:ptCount val="16"/>
                <c:pt idx="0">
                  <c:v>3000</c:v>
                </c:pt>
                <c:pt idx="1">
                  <c:v>1500</c:v>
                </c:pt>
                <c:pt idx="2">
                  <c:v>1000</c:v>
                </c:pt>
                <c:pt idx="3">
                  <c:v>1000</c:v>
                </c:pt>
                <c:pt idx="4">
                  <c:v>800</c:v>
                </c:pt>
                <c:pt idx="5">
                  <c:v>600</c:v>
                </c:pt>
                <c:pt idx="6">
                  <c:v>350</c:v>
                </c:pt>
                <c:pt idx="7">
                  <c:v>250</c:v>
                </c:pt>
                <c:pt idx="8">
                  <c:v>180</c:v>
                </c:pt>
                <c:pt idx="9">
                  <c:v>130</c:v>
                </c:pt>
                <c:pt idx="10">
                  <c:v>90</c:v>
                </c:pt>
                <c:pt idx="11">
                  <c:v>65</c:v>
                </c:pt>
                <c:pt idx="12">
                  <c:v>45</c:v>
                </c:pt>
                <c:pt idx="13">
                  <c:v>22</c:v>
                </c:pt>
                <c:pt idx="14">
                  <c:v>22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4648240"/>
        <c:axId val="934653728"/>
      </c:scatterChart>
      <c:scatterChart>
        <c:scatterStyle val="smoothMarker"/>
        <c:varyColors val="0"/>
        <c:ser>
          <c:idx val="3"/>
          <c:order val="2"/>
          <c:tx>
            <c:strRef>
              <c:f>Sheet1!$G$1</c:f>
              <c:strCache>
                <c:ptCount val="1"/>
                <c:pt idx="0">
                  <c:v>Pipeline Depth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57150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1978</c:v>
                </c:pt>
                <c:pt idx="1">
                  <c:v>1982</c:v>
                </c:pt>
                <c:pt idx="2">
                  <c:v>1985</c:v>
                </c:pt>
                <c:pt idx="3">
                  <c:v>1989</c:v>
                </c:pt>
                <c:pt idx="4">
                  <c:v>1993</c:v>
                </c:pt>
                <c:pt idx="5">
                  <c:v>1995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2002</c:v>
                </c:pt>
                <c:pt idx="10">
                  <c:v>2004</c:v>
                </c:pt>
                <c:pt idx="11">
                  <c:v>2006</c:v>
                </c:pt>
                <c:pt idx="12">
                  <c:v>2008</c:v>
                </c:pt>
                <c:pt idx="13">
                  <c:v>2011</c:v>
                </c:pt>
                <c:pt idx="14">
                  <c:v>2013</c:v>
                </c:pt>
              </c:numCache>
            </c:numRef>
          </c:xVal>
          <c:yVal>
            <c:numRef>
              <c:f>Sheet1!$G$2:$G$17</c:f>
              <c:numCache>
                <c:formatCode>General</c:formatCode>
                <c:ptCount val="16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20</c:v>
                </c:pt>
                <c:pt idx="9">
                  <c:v>20</c:v>
                </c:pt>
                <c:pt idx="10">
                  <c:v>31</c:v>
                </c:pt>
                <c:pt idx="11">
                  <c:v>12</c:v>
                </c:pt>
                <c:pt idx="12">
                  <c:v>20</c:v>
                </c:pt>
                <c:pt idx="13">
                  <c:v>14</c:v>
                </c:pt>
                <c:pt idx="14">
                  <c:v>14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4656080"/>
        <c:axId val="934654512"/>
      </c:scatterChart>
      <c:valAx>
        <c:axId val="934648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653728"/>
        <c:crosses val="autoZero"/>
        <c:crossBetween val="midCat"/>
      </c:valAx>
      <c:valAx>
        <c:axId val="93465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/>
                  <a:t>nm/MHz</a:t>
                </a:r>
              </a:p>
            </c:rich>
          </c:tx>
          <c:layout>
            <c:manualLayout>
              <c:xMode val="edge"/>
              <c:yMode val="edge"/>
              <c:x val="3.1267448352875489E-2"/>
              <c:y val="2.256780402449693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648240"/>
        <c:crosses val="autoZero"/>
        <c:crossBetween val="midCat"/>
      </c:valAx>
      <c:valAx>
        <c:axId val="934654512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/>
                  <a:t>Stages</a:t>
                </a:r>
              </a:p>
            </c:rich>
          </c:tx>
          <c:layout>
            <c:manualLayout>
              <c:xMode val="edge"/>
              <c:yMode val="edge"/>
              <c:x val="0.92360683557771361"/>
              <c:y val="3.70042715248829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656080"/>
        <c:crosses val="max"/>
        <c:crossBetween val="midCat"/>
      </c:valAx>
      <c:valAx>
        <c:axId val="9346560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346545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387442829279131"/>
          <c:y val="0.1416849377256697"/>
          <c:w val="0.47256897915327273"/>
          <c:h val="6.4603031269948416E-2"/>
        </c:manualLayout>
      </c:layout>
      <c:overlay val="0"/>
      <c:spPr>
        <a:solidFill>
          <a:schemeClr val="bg1"/>
        </a:solidFill>
        <a:ln>
          <a:solidFill>
            <a:schemeClr val="tx1">
              <a:lumMod val="25000"/>
              <a:lumOff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 Perf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2.5</c:v>
                </c:pt>
                <c:pt idx="3">
                  <c:v>2.75</c:v>
                </c:pt>
                <c:pt idx="4">
                  <c:v>2.8749999999999996</c:v>
                </c:pt>
                <c:pt idx="5">
                  <c:v>2.8999999999999995</c:v>
                </c:pt>
                <c:pt idx="6">
                  <c:v>2.8999999999999995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4656864"/>
        <c:axId val="934658824"/>
      </c:scatterChart>
      <c:valAx>
        <c:axId val="934656864"/>
        <c:scaling>
          <c:orientation val="minMax"/>
          <c:max val="7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Area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658824"/>
        <c:crosses val="autoZero"/>
        <c:crossBetween val="midCat"/>
      </c:valAx>
      <c:valAx>
        <c:axId val="934658824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 perf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656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4/7/2018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4/7/2018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588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89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89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331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4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625000"/>
            <a:ext cx="6169959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1" y="4353387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2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363974"/>
            <a:ext cx="6169959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69536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5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2" y="2727581"/>
            <a:ext cx="6169959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3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3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7" y="584203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4" y="1379540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40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3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3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2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4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6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60190" y="2456635"/>
            <a:ext cx="5041445" cy="569387"/>
          </a:xfrm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US" sz="3700" dirty="0"/>
              <a:t>Multiprocessor Systems</a:t>
            </a:r>
            <a:endParaRPr lang="en-US" sz="37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60188" y="3264185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Neo Sans Intel"/>
              </a:rPr>
              <a:t>Igor Smirnov</a:t>
            </a:r>
            <a:endParaRPr lang="en-US" dirty="0" smtClean="0">
              <a:latin typeface="Neo Sans Intel"/>
            </a:endParaRP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Neo Sans Intel"/>
              </a:rPr>
              <a:t>07 </a:t>
            </a:r>
            <a:r>
              <a:rPr lang="en-US" dirty="0" smtClean="0">
                <a:latin typeface="Neo Sans Intel"/>
              </a:rPr>
              <a:t>April </a:t>
            </a:r>
            <a:r>
              <a:rPr lang="en-US" dirty="0" smtClean="0">
                <a:latin typeface="Neo Sans Intel"/>
              </a:rPr>
              <a:t>2018</a:t>
            </a:r>
            <a:endParaRPr lang="en-US" dirty="0" smtClean="0">
              <a:latin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37418851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Intel CPUs timeline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53799" y="789994"/>
          <a:ext cx="8649751" cy="5456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65160" y="5035642"/>
            <a:ext cx="682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j-lt"/>
              </a:rPr>
              <a:t>8086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4" y="5035641"/>
            <a:ext cx="783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j-lt"/>
              </a:rPr>
              <a:t>80286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0325" y="4893314"/>
            <a:ext cx="656820" cy="30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j-lt"/>
              </a:rPr>
              <a:t>80386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8510" y="4808613"/>
            <a:ext cx="656820" cy="30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j-lt"/>
              </a:rPr>
              <a:t>80486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4774" y="5189529"/>
            <a:ext cx="808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Pentium</a:t>
            </a:r>
            <a:endParaRPr lang="ru-RU" sz="14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86391" y="3899495"/>
            <a:ext cx="1096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Pentium Pro</a:t>
            </a:r>
            <a:endParaRPr lang="ru-RU" sz="14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82724" y="3899339"/>
            <a:ext cx="392718" cy="30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PII</a:t>
            </a:r>
            <a:endParaRPr lang="ru-RU" sz="14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19996" y="4233029"/>
            <a:ext cx="425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PIII</a:t>
            </a:r>
            <a:endParaRPr lang="ru-RU" sz="14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47619" y="2884489"/>
            <a:ext cx="425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P4</a:t>
            </a:r>
            <a:endParaRPr lang="ru-RU" sz="14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1238" y="1808913"/>
            <a:ext cx="1203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Prescott P4</a:t>
            </a:r>
            <a:endParaRPr lang="ru-RU" sz="1400" dirty="0">
              <a:latin typeface="+mj-lt"/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3348510" y="2451392"/>
            <a:ext cx="1867436" cy="637879"/>
          </a:xfrm>
          <a:prstGeom prst="wedgeRoundRectCallout">
            <a:avLst>
              <a:gd name="adj1" fmla="val 105230"/>
              <a:gd name="adj2" fmla="val -101040"/>
              <a:gd name="adj3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Power wall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61910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41669" y="967143"/>
            <a:ext cx="8822028" cy="5704115"/>
          </a:xfrm>
        </p:spPr>
        <p:txBody>
          <a:bodyPr/>
          <a:lstStyle/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/>
              <a:t>Increasing </a:t>
            </a:r>
            <a:r>
              <a:rPr lang="en-US" dirty="0" smtClean="0"/>
              <a:t>performance </a:t>
            </a:r>
            <a:r>
              <a:rPr lang="en-US" dirty="0"/>
              <a:t>becomes </a:t>
            </a:r>
            <a:r>
              <a:rPr lang="en-US" dirty="0" smtClean="0"/>
              <a:t>harder and less power efficient</a:t>
            </a: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Area budget can be divided in several ways: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Single core 	— 6x area, 2.9 performance boost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3 smaller cores 	— 2x area, 2.0 performance boost each</a:t>
            </a:r>
            <a:br>
              <a:rPr lang="en-US" dirty="0" smtClean="0"/>
            </a:br>
            <a:r>
              <a:rPr lang="en-US" dirty="0" smtClean="0"/>
              <a:t>			— 6x area, 6.0 performance boost total!</a:t>
            </a: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>
              <a:spcBef>
                <a:spcPts val="1500"/>
              </a:spcBef>
            </a:pPr>
            <a:endParaRPr lang="en-US" dirty="0" smtClean="0">
              <a:latin typeface="+mn-lt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/>
          </p:nvPr>
        </p:nvGraphicFramePr>
        <p:xfrm>
          <a:off x="2109522" y="1546136"/>
          <a:ext cx="4886325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731732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  <p:bldGraphic spid="10" grpId="0">
        <p:bldAsOne/>
      </p:bldGraphic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Thread-level parallelism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 achieve the best performance, workload should be parallelized to several </a:t>
            </a:r>
            <a:r>
              <a:rPr lang="en-US" b="1" dirty="0" smtClean="0"/>
              <a:t>threads</a:t>
            </a: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This is possible due to the </a:t>
            </a:r>
            <a:r>
              <a:rPr lang="en-US" b="1" dirty="0" smtClean="0"/>
              <a:t>thread-level parallelism (TLP)</a:t>
            </a:r>
          </a:p>
          <a:p>
            <a:pPr marL="681038" lvl="2" indent="-342900">
              <a:spcBef>
                <a:spcPts val="1500"/>
              </a:spcBef>
              <a:buClrTx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Unlike ILP, TLP is extracted manually by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programmer</a:t>
            </a: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Threads can be extracted either from:</a:t>
            </a:r>
            <a:endParaRPr lang="en-US" dirty="0"/>
          </a:p>
          <a:p>
            <a:pPr lvl="2"/>
            <a:r>
              <a:rPr lang="en-US" dirty="0"/>
              <a:t>The same application</a:t>
            </a:r>
          </a:p>
          <a:p>
            <a:pPr lvl="2"/>
            <a:r>
              <a:rPr lang="en-US" dirty="0"/>
              <a:t>Different applications running simultaneously</a:t>
            </a:r>
          </a:p>
          <a:p>
            <a:pPr lvl="2"/>
            <a:r>
              <a:rPr lang="en-US" dirty="0"/>
              <a:t>Operating system </a:t>
            </a:r>
            <a:r>
              <a:rPr lang="en-US" dirty="0" smtClean="0"/>
              <a:t>services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Each thread is executed on single CPU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1796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Multiprocessor and Multicore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70" y="1059931"/>
            <a:ext cx="8541957" cy="5101172"/>
          </a:xfrm>
        </p:spPr>
        <p:txBody>
          <a:bodyPr/>
          <a:lstStyle/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Originally, each CPU had its own chip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Works well for independent workloads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Otherwise for cooperative workloads</a:t>
            </a:r>
            <a:br>
              <a:rPr lang="en-US" sz="20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(big latency for data exchange)</a:t>
            </a:r>
          </a:p>
          <a:p>
            <a:pPr>
              <a:spcBef>
                <a:spcPts val="1500"/>
              </a:spcBef>
            </a:pPr>
            <a:endParaRPr lang="en-US" sz="2000" dirty="0"/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Later, multicore CPUs were introduced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Caches and memory bus</a:t>
            </a:r>
            <a:r>
              <a:rPr lang="ru-RU" sz="2000" dirty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ru-RU" sz="20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are shared between CPUs (cores)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Thus, data exchange is made through the cache</a:t>
            </a:r>
            <a:endParaRPr lang="en-US" dirty="0"/>
          </a:p>
          <a:p>
            <a:endParaRPr lang="ru-RU" dirty="0"/>
          </a:p>
        </p:txBody>
      </p:sp>
      <p:grpSp>
        <p:nvGrpSpPr>
          <p:cNvPr id="23" name="Group 22"/>
          <p:cNvGrpSpPr/>
          <p:nvPr/>
        </p:nvGrpSpPr>
        <p:grpSpPr>
          <a:xfrm>
            <a:off x="6220496" y="1061032"/>
            <a:ext cx="2306951" cy="1888538"/>
            <a:chOff x="6220494" y="1217554"/>
            <a:chExt cx="2306951" cy="1888538"/>
          </a:xfrm>
        </p:grpSpPr>
        <p:sp>
          <p:nvSpPr>
            <p:cNvPr id="4" name="Rectangle 3"/>
            <p:cNvSpPr/>
            <p:nvPr/>
          </p:nvSpPr>
          <p:spPr bwMode="auto">
            <a:xfrm>
              <a:off x="6220495" y="1217554"/>
              <a:ext cx="965915" cy="862884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CPU 1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7561530" y="1217554"/>
              <a:ext cx="965915" cy="862884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CPU 2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6220494" y="2674650"/>
              <a:ext cx="2306951" cy="43144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Memory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4" idx="2"/>
            </p:cNvCxnSpPr>
            <p:nvPr/>
          </p:nvCxnSpPr>
          <p:spPr bwMode="auto">
            <a:xfrm flipH="1">
              <a:off x="6703452" y="2080438"/>
              <a:ext cx="1" cy="594212"/>
            </a:xfrm>
            <a:prstGeom prst="straightConnector1">
              <a:avLst/>
            </a:prstGeom>
            <a:ln>
              <a:headEnd type="none" w="sm" len="sm"/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 flipH="1">
              <a:off x="8044486" y="2061620"/>
              <a:ext cx="1" cy="594212"/>
            </a:xfrm>
            <a:prstGeom prst="straightConnector1">
              <a:avLst/>
            </a:prstGeom>
            <a:ln>
              <a:headEnd type="none" w="sm" len="sm"/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6020871" y="3362194"/>
            <a:ext cx="2662754" cy="2907292"/>
            <a:chOff x="6020871" y="3518716"/>
            <a:chExt cx="2662754" cy="2907292"/>
          </a:xfrm>
        </p:grpSpPr>
        <p:sp>
          <p:nvSpPr>
            <p:cNvPr id="17" name="Rectangle 16"/>
            <p:cNvSpPr/>
            <p:nvPr/>
          </p:nvSpPr>
          <p:spPr bwMode="auto">
            <a:xfrm>
              <a:off x="6020871" y="3518716"/>
              <a:ext cx="2662754" cy="212356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CPU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6220495" y="3895563"/>
              <a:ext cx="965915" cy="862884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Core 1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7561530" y="3895563"/>
              <a:ext cx="965915" cy="862884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Core 2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6220495" y="4934888"/>
              <a:ext cx="2306951" cy="43144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Cache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6198772" y="5994566"/>
              <a:ext cx="2306951" cy="43144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+mj-lt"/>
                  <a:cs typeface="Arial" pitchFamily="34" charset="0"/>
                </a:rPr>
                <a:t>Memory</a:t>
              </a:r>
              <a:endParaRPr lang="ru-RU" sz="2000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19" name="Straight Arrow Connector 18"/>
            <p:cNvCxnSpPr>
              <a:stCxn id="17" idx="2"/>
              <a:endCxn id="18" idx="0"/>
            </p:cNvCxnSpPr>
            <p:nvPr/>
          </p:nvCxnSpPr>
          <p:spPr bwMode="auto">
            <a:xfrm>
              <a:off x="7352248" y="5642285"/>
              <a:ext cx="0" cy="352281"/>
            </a:xfrm>
            <a:prstGeom prst="straightConnector1">
              <a:avLst/>
            </a:prstGeom>
            <a:ln>
              <a:headEnd type="none" w="sm" len="sm"/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99486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5965855" y="1837715"/>
            <a:ext cx="2536373" cy="3817580"/>
            <a:chOff x="5965853" y="1837715"/>
            <a:chExt cx="2536373" cy="3817580"/>
          </a:xfrm>
        </p:grpSpPr>
        <p:grpSp>
          <p:nvGrpSpPr>
            <p:cNvPr id="25" name="Group 24"/>
            <p:cNvGrpSpPr/>
            <p:nvPr/>
          </p:nvGrpSpPr>
          <p:grpSpPr>
            <a:xfrm>
              <a:off x="7274463" y="1837715"/>
              <a:ext cx="1227763" cy="1479764"/>
              <a:chOff x="6168130" y="1307789"/>
              <a:chExt cx="1227763" cy="1479764"/>
            </a:xfrm>
          </p:grpSpPr>
          <p:sp>
            <p:nvSpPr>
              <p:cNvPr id="13" name="Rectangle 4"/>
              <p:cNvSpPr>
                <a:spLocks noChangeArrowheads="1"/>
              </p:cNvSpPr>
              <p:nvPr/>
            </p:nvSpPr>
            <p:spPr bwMode="auto">
              <a:xfrm>
                <a:off x="6168130" y="1307789"/>
                <a:ext cx="1227763" cy="1479764"/>
              </a:xfrm>
              <a:prstGeom prst="rect">
                <a:avLst/>
              </a:prstGeom>
              <a:solidFill>
                <a:srgbClr val="CCFFCC"/>
              </a:solidFill>
              <a:ln w="28575" algn="ctr">
                <a:noFill/>
                <a:miter lim="800000"/>
                <a:headEnd/>
                <a:tailEnd type="none" w="sm" len="sm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91440" rIns="0" bIns="0"/>
              <a:lstStyle/>
              <a:p>
                <a:pPr algn="ctr"/>
                <a:endParaRPr lang="en-US" sz="2000" dirty="0">
                  <a:solidFill>
                    <a:schemeClr val="accent5">
                      <a:lumMod val="50000"/>
                    </a:schemeClr>
                  </a:solidFill>
                  <a:latin typeface="+mj-lt"/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6300970" y="1679763"/>
                <a:ext cx="966109" cy="1005459"/>
                <a:chOff x="6300970" y="1809556"/>
                <a:chExt cx="966109" cy="875666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" name="Rectangle 6"/>
                <p:cNvSpPr>
                  <a:spLocks noChangeArrowheads="1"/>
                </p:cNvSpPr>
                <p:nvPr/>
              </p:nvSpPr>
              <p:spPr bwMode="auto">
                <a:xfrm>
                  <a:off x="6300970" y="1812713"/>
                  <a:ext cx="966109" cy="872509"/>
                </a:xfrm>
                <a:prstGeom prst="rect">
                  <a:avLst/>
                </a:prstGeom>
                <a:solidFill>
                  <a:srgbClr val="CCECFF"/>
                </a:solidFill>
                <a:ln w="28575" algn="ctr">
                  <a:noFill/>
                  <a:miter lim="800000"/>
                  <a:headEnd/>
                  <a:tailEnd type="none" w="sm" len="sm"/>
                </a:ln>
              </p:spPr>
              <p:txBody>
                <a:bodyPr wrap="none" lIns="0" tIns="0" rIns="0" bIns="0" anchor="ctr" anchorCtr="1"/>
                <a:lstStyle/>
                <a:p>
                  <a:pPr algn="ctr"/>
                  <a:endParaRPr lang="en-US" sz="2000" dirty="0">
                    <a:latin typeface="+mj-lt"/>
                  </a:endParaRP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6361156" y="1809556"/>
                  <a:ext cx="838200" cy="56289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/>
                    </a:rPr>
                    <a:t>Local</a:t>
                  </a:r>
                </a:p>
                <a:p>
                  <a:pPr lvl="0" algn="ctr"/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/>
                    </a:rPr>
                    <a:t>Cache</a:t>
                  </a:r>
                </a:p>
              </p:txBody>
            </p:sp>
          </p:grpSp>
          <p:sp>
            <p:nvSpPr>
              <p:cNvPr id="23" name="Rectangle 22"/>
              <p:cNvSpPr/>
              <p:nvPr/>
            </p:nvSpPr>
            <p:spPr>
              <a:xfrm>
                <a:off x="6351389" y="1307789"/>
                <a:ext cx="85773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2000" dirty="0">
                    <a:solidFill>
                      <a:srgbClr val="A6CE39">
                        <a:lumMod val="50000"/>
                      </a:srgbClr>
                    </a:solidFill>
                    <a:latin typeface="Calibri"/>
                  </a:rPr>
                  <a:t>Core </a:t>
                </a:r>
                <a:r>
                  <a:rPr lang="en-US" sz="2000" dirty="0">
                    <a:solidFill>
                      <a:srgbClr val="A6CE39">
                        <a:lumMod val="50000"/>
                      </a:srgbClr>
                    </a:solidFill>
                    <a:latin typeface="Calibri"/>
                  </a:rPr>
                  <a:t>1</a:t>
                </a:r>
                <a:endParaRPr lang="en-US" sz="2000" dirty="0">
                  <a:solidFill>
                    <a:srgbClr val="A6CE39">
                      <a:lumMod val="50000"/>
                    </a:srgbClr>
                  </a:solidFill>
                  <a:latin typeface="Calibri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5965853" y="1837715"/>
              <a:ext cx="1227763" cy="1479764"/>
              <a:chOff x="6168130" y="1307789"/>
              <a:chExt cx="1227763" cy="1479764"/>
            </a:xfrm>
          </p:grpSpPr>
          <p:sp>
            <p:nvSpPr>
              <p:cNvPr id="27" name="Rectangle 4"/>
              <p:cNvSpPr>
                <a:spLocks noChangeArrowheads="1"/>
              </p:cNvSpPr>
              <p:nvPr/>
            </p:nvSpPr>
            <p:spPr bwMode="auto">
              <a:xfrm>
                <a:off x="6168130" y="1307789"/>
                <a:ext cx="1227763" cy="1479764"/>
              </a:xfrm>
              <a:prstGeom prst="rect">
                <a:avLst/>
              </a:prstGeom>
              <a:solidFill>
                <a:srgbClr val="CCFFCC"/>
              </a:solidFill>
              <a:ln w="28575" algn="ctr">
                <a:noFill/>
                <a:miter lim="800000"/>
                <a:headEnd/>
                <a:tailEnd type="none" w="sm" len="sm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91440" rIns="0" bIns="0"/>
              <a:lstStyle/>
              <a:p>
                <a:pPr algn="ctr"/>
                <a:endParaRPr lang="en-US" sz="2000" dirty="0">
                  <a:solidFill>
                    <a:schemeClr val="accent5">
                      <a:lumMod val="50000"/>
                    </a:schemeClr>
                  </a:solidFill>
                  <a:latin typeface="+mj-lt"/>
                </a:endParaRPr>
              </a:p>
            </p:txBody>
          </p:sp>
          <p:grpSp>
            <p:nvGrpSpPr>
              <p:cNvPr id="28" name="Group 27"/>
              <p:cNvGrpSpPr/>
              <p:nvPr/>
            </p:nvGrpSpPr>
            <p:grpSpPr>
              <a:xfrm>
                <a:off x="6300970" y="1679763"/>
                <a:ext cx="966109" cy="1005459"/>
                <a:chOff x="6300970" y="1809556"/>
                <a:chExt cx="966109" cy="875666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0" name="Rectangle 6"/>
                <p:cNvSpPr>
                  <a:spLocks noChangeArrowheads="1"/>
                </p:cNvSpPr>
                <p:nvPr/>
              </p:nvSpPr>
              <p:spPr bwMode="auto">
                <a:xfrm>
                  <a:off x="6300970" y="1812713"/>
                  <a:ext cx="966109" cy="872509"/>
                </a:xfrm>
                <a:prstGeom prst="rect">
                  <a:avLst/>
                </a:prstGeom>
                <a:solidFill>
                  <a:srgbClr val="CCECFF"/>
                </a:solidFill>
                <a:ln w="28575" algn="ctr">
                  <a:noFill/>
                  <a:miter lim="800000"/>
                  <a:headEnd/>
                  <a:tailEnd type="none" w="sm" len="sm"/>
                </a:ln>
              </p:spPr>
              <p:txBody>
                <a:bodyPr wrap="none" lIns="0" tIns="0" rIns="0" bIns="0" anchor="ctr" anchorCtr="1"/>
                <a:lstStyle/>
                <a:p>
                  <a:pPr algn="ctr"/>
                  <a:endParaRPr lang="en-US" sz="2000" dirty="0">
                    <a:latin typeface="+mj-lt"/>
                  </a:endParaRP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6361156" y="1809556"/>
                  <a:ext cx="838200" cy="56289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/>
                    </a:rPr>
                    <a:t>Local</a:t>
                  </a:r>
                </a:p>
                <a:p>
                  <a:pPr lvl="0" algn="ctr"/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/>
                    </a:rPr>
                    <a:t>Cache</a:t>
                  </a:r>
                </a:p>
              </p:txBody>
            </p:sp>
          </p:grpSp>
          <p:sp>
            <p:nvSpPr>
              <p:cNvPr id="29" name="Rectangle 28"/>
              <p:cNvSpPr/>
              <p:nvPr/>
            </p:nvSpPr>
            <p:spPr>
              <a:xfrm>
                <a:off x="6351389" y="1307789"/>
                <a:ext cx="8577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2000" dirty="0">
                    <a:solidFill>
                      <a:srgbClr val="A6CE39">
                        <a:lumMod val="50000"/>
                      </a:srgbClr>
                    </a:solidFill>
                    <a:latin typeface="Calibri"/>
                  </a:rPr>
                  <a:t>Core 0</a:t>
                </a:r>
              </a:p>
            </p:txBody>
          </p:sp>
        </p:grpSp>
        <p:sp>
          <p:nvSpPr>
            <p:cNvPr id="8" name="Line 17"/>
            <p:cNvSpPr>
              <a:spLocks noChangeShapeType="1"/>
            </p:cNvSpPr>
            <p:nvPr/>
          </p:nvSpPr>
          <p:spPr bwMode="auto">
            <a:xfrm>
              <a:off x="6594022" y="3362658"/>
              <a:ext cx="0" cy="3231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</p:spPr>
          <p:txBody>
            <a:bodyPr wrap="none" lIns="0" tIns="0" rIns="0" bIns="0" anchor="ctr"/>
            <a:lstStyle/>
            <a:p>
              <a:endParaRPr lang="en-US" sz="2000" dirty="0">
                <a:latin typeface="+mj-lt"/>
              </a:endParaRPr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>
              <a:off x="7884928" y="3362658"/>
              <a:ext cx="0" cy="3231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</p:spPr>
          <p:txBody>
            <a:bodyPr wrap="none" lIns="0" tIns="0" rIns="0" bIns="0" anchor="ctr"/>
            <a:lstStyle/>
            <a:p>
              <a:endParaRPr lang="en-US" sz="2000" dirty="0">
                <a:latin typeface="+mj-lt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7259223" y="4491951"/>
              <a:ext cx="0" cy="3231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</p:spPr>
          <p:txBody>
            <a:bodyPr wrap="none" lIns="0" tIns="0" rIns="0" bIns="0" anchor="ctr"/>
            <a:lstStyle/>
            <a:p>
              <a:endParaRPr lang="en-US" sz="2000" dirty="0">
                <a:latin typeface="+mj-lt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6136698" y="4815102"/>
              <a:ext cx="2245054" cy="840193"/>
              <a:chOff x="6385618" y="4561102"/>
              <a:chExt cx="2245054" cy="840193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Rectangle 16"/>
              <p:cNvSpPr>
                <a:spLocks noChangeArrowheads="1"/>
              </p:cNvSpPr>
              <p:nvPr/>
            </p:nvSpPr>
            <p:spPr bwMode="auto">
              <a:xfrm>
                <a:off x="6385618" y="4561102"/>
                <a:ext cx="2245054" cy="840193"/>
              </a:xfrm>
              <a:prstGeom prst="rect">
                <a:avLst/>
              </a:prstGeom>
              <a:solidFill>
                <a:srgbClr val="99CCFF"/>
              </a:solidFill>
              <a:ln w="28575" algn="ctr">
                <a:noFill/>
                <a:miter lim="800000"/>
                <a:headEnd/>
                <a:tailEnd type="none" w="sm" len="sm"/>
              </a:ln>
            </p:spPr>
            <p:txBody>
              <a:bodyPr wrap="none" lIns="0" tIns="0" rIns="0" bIns="0" anchor="ctr" anchorCtr="1"/>
              <a:lstStyle/>
              <a:p>
                <a:pPr algn="ctr"/>
                <a:endParaRPr lang="en-US" sz="2000" dirty="0">
                  <a:latin typeface="+mj-lt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671377" y="4561102"/>
                <a:ext cx="1673535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2000" dirty="0">
                    <a:solidFill>
                      <a:schemeClr val="accent3"/>
                    </a:solidFill>
                    <a:latin typeface="Calibri"/>
                  </a:rPr>
                  <a:t>Main Memory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6136698" y="3715041"/>
              <a:ext cx="2245054" cy="775563"/>
              <a:chOff x="6385618" y="3115266"/>
              <a:chExt cx="2245054" cy="775563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Rectangle 15"/>
              <p:cNvSpPr>
                <a:spLocks noChangeArrowheads="1"/>
              </p:cNvSpPr>
              <p:nvPr/>
            </p:nvSpPr>
            <p:spPr bwMode="auto">
              <a:xfrm>
                <a:off x="6385618" y="3115266"/>
                <a:ext cx="2245054" cy="775563"/>
              </a:xfrm>
              <a:prstGeom prst="rect">
                <a:avLst/>
              </a:prstGeom>
              <a:solidFill>
                <a:srgbClr val="FFCC99"/>
              </a:solidFill>
              <a:ln w="28575" algn="ctr">
                <a:noFill/>
                <a:miter lim="800000"/>
                <a:headEnd/>
                <a:tailEnd type="none" w="sm" len="sm"/>
              </a:ln>
            </p:spPr>
            <p:txBody>
              <a:bodyPr wrap="none" lIns="0" tIns="0" rIns="0" bIns="0" anchor="t" anchorCtr="1"/>
              <a:lstStyle/>
              <a:p>
                <a:pPr algn="ctr"/>
                <a:endParaRPr lang="en-US" sz="2000" dirty="0">
                  <a:latin typeface="+mj-lt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708181" y="3115266"/>
                <a:ext cx="1599925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  <a:latin typeface="Calibri"/>
                  </a:rPr>
                  <a:t>Shared Cache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113"/>
            <a:ext cx="9144000" cy="889000"/>
          </a:xfrm>
        </p:spPr>
        <p:txBody>
          <a:bodyPr/>
          <a:lstStyle/>
          <a:p>
            <a:r>
              <a:rPr lang="en-US" dirty="0" smtClean="0"/>
              <a:t>Memory Coherence in Multicore/multiprocessor System</a:t>
            </a:r>
            <a:endParaRPr lang="ru-RU" dirty="0"/>
          </a:p>
        </p:txBody>
      </p:sp>
      <p:sp>
        <p:nvSpPr>
          <p:cNvPr id="16" name="Rectangle 24"/>
          <p:cNvSpPr txBox="1">
            <a:spLocks noChangeArrowheads="1"/>
          </p:cNvSpPr>
          <p:nvPr/>
        </p:nvSpPr>
        <p:spPr>
          <a:xfrm>
            <a:off x="302419" y="1950207"/>
            <a:ext cx="5749950" cy="4298194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latin typeface="+mj-lt"/>
                <a:sym typeface="Symbol" pitchFamily="18" charset="2"/>
              </a:rPr>
              <a:t>Example:</a:t>
            </a:r>
          </a:p>
          <a:p>
            <a:pPr marL="341313">
              <a:spcBef>
                <a:spcPts val="0"/>
              </a:spcBef>
            </a:pP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sz="18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kern="0" dirty="0">
              <a:latin typeface="+mj-lt"/>
              <a:sym typeface="Symbol" pitchFamily="18" charset="2"/>
            </a:endParaRPr>
          </a:p>
          <a:p>
            <a:pPr marL="341313">
              <a:spcBef>
                <a:spcPts val="0"/>
              </a:spcBef>
            </a:pPr>
            <a:endParaRPr lang="en-US" kern="0" dirty="0">
              <a:latin typeface="+mj-lt"/>
              <a:sym typeface="Symbol" pitchFamily="18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 dirty="0">
                <a:latin typeface="+mj-lt"/>
                <a:sym typeface="Symbol" pitchFamily="18" charset="2"/>
              </a:rPr>
              <a:t>Memory system must be </a:t>
            </a:r>
            <a:r>
              <a:rPr lang="en-US" b="1" kern="0" dirty="0">
                <a:latin typeface="+mj-lt"/>
                <a:sym typeface="Symbol" pitchFamily="18" charset="2"/>
              </a:rPr>
              <a:t>coherent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  <a:cs typeface="+mn-cs"/>
                <a:sym typeface="Symbol" pitchFamily="18" charset="2"/>
              </a:rPr>
              <a:t>C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  <a:cs typeface="+mn-cs"/>
                <a:sym typeface="Symbol" pitchFamily="18" charset="2"/>
              </a:rPr>
              <a:t>ores should see memory identically</a:t>
            </a:r>
          </a:p>
          <a:p>
            <a:pPr marL="742950" lvl="1" indent="-285750">
              <a:spcBef>
                <a:spcPts val="600"/>
              </a:spcBef>
              <a:buFont typeface="Arial" charset="0"/>
              <a:buChar char="–"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  <a:cs typeface="+mn-cs"/>
                <a:sym typeface="Symbol" pitchFamily="18" charset="2"/>
              </a:rPr>
              <a:t>C</a:t>
            </a:r>
            <a:r>
              <a:rPr lang="en-US" sz="2000" dirty="0">
                <a:solidFill>
                  <a:sysClr val="windowText" lastClr="000000"/>
                </a:solidFill>
                <a:latin typeface="Calibri"/>
                <a:cs typeface="+mn-cs"/>
                <a:sym typeface="Symbol" pitchFamily="18" charset="2"/>
              </a:rPr>
              <a:t>ores should see the latest state of memory</a:t>
            </a:r>
            <a:endParaRPr lang="en-US" sz="2000" dirty="0">
              <a:solidFill>
                <a:sysClr val="windowText" lastClr="000000"/>
              </a:solidFill>
              <a:latin typeface="Calibri"/>
              <a:cs typeface="+mn-cs"/>
              <a:sym typeface="Symbol" pitchFamily="18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kern="0" dirty="0">
              <a:latin typeface="+mj-lt"/>
              <a:sym typeface="Symbol" pitchFamily="18" charset="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39969" y="5233712"/>
            <a:ext cx="11945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≡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10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34" name="Rectangle 33"/>
          <p:cNvSpPr/>
          <p:nvPr/>
        </p:nvSpPr>
        <p:spPr>
          <a:xfrm>
            <a:off x="7343765" y="2821733"/>
            <a:ext cx="11945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≡ </a:t>
            </a:r>
            <a:r>
              <a:rPr lang="en-US" sz="16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20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36" name="Rectangle 35"/>
          <p:cNvSpPr/>
          <p:nvPr/>
        </p:nvSpPr>
        <p:spPr>
          <a:xfrm>
            <a:off x="7406667" y="5233563"/>
            <a:ext cx="409086" cy="338554"/>
          </a:xfrm>
          <a:prstGeom prst="rect">
            <a:avLst/>
          </a:prstGeom>
          <a:solidFill>
            <a:srgbClr val="99CCFF"/>
          </a:solidFill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20</a:t>
            </a:r>
            <a:endParaRPr lang="ru-RU" sz="1600" dirty="0"/>
          </a:p>
        </p:txBody>
      </p:sp>
      <p:sp>
        <p:nvSpPr>
          <p:cNvPr id="37" name="Rectangle 36"/>
          <p:cNvSpPr/>
          <p:nvPr/>
        </p:nvSpPr>
        <p:spPr>
          <a:xfrm>
            <a:off x="593037" y="2458524"/>
            <a:ext cx="4572000" cy="14311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684213" indent="-342900">
              <a:spcBef>
                <a:spcPts val="600"/>
              </a:spcBef>
              <a:buFont typeface="+mj-lt"/>
              <a:buAutoNum type="arabicPeriod"/>
            </a:pP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Memory: </a:t>
            </a:r>
            <a:r>
              <a:rPr lang="en-US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≡ </a:t>
            </a:r>
            <a:r>
              <a:rPr lang="en-US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10</a:t>
            </a: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 </a:t>
            </a:r>
          </a:p>
          <a:p>
            <a:pPr marL="684213" indent="-342900">
              <a:spcBef>
                <a:spcPts val="600"/>
              </a:spcBef>
              <a:buFont typeface="+mj-lt"/>
              <a:buAutoNum type="arabicPeriod"/>
            </a:pP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0: a = </a:t>
            </a:r>
            <a:r>
              <a:rPr lang="en-US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 </a:t>
            </a:r>
            <a:r>
              <a:rPr lang="en-US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# a = 10</a:t>
            </a:r>
          </a:p>
          <a:p>
            <a:pPr marL="684213" indent="-342900">
              <a:spcBef>
                <a:spcPts val="600"/>
              </a:spcBef>
              <a:buFont typeface="+mj-lt"/>
              <a:buAutoNum type="arabicPeriod"/>
            </a:pP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1: </a:t>
            </a:r>
            <a:r>
              <a:rPr lang="en-US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= </a:t>
            </a:r>
            <a:r>
              <a:rPr lang="en-US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20</a:t>
            </a:r>
          </a:p>
          <a:p>
            <a:pPr marL="684213" indent="-342900">
              <a:spcBef>
                <a:spcPts val="600"/>
              </a:spcBef>
              <a:buFont typeface="+mj-lt"/>
              <a:buAutoNum type="arabicPeriod"/>
            </a:pP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0: b = </a:t>
            </a:r>
            <a:r>
              <a:rPr lang="en-US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 </a:t>
            </a:r>
            <a:r>
              <a:rPr lang="en-US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# b = 10</a:t>
            </a:r>
          </a:p>
        </p:txBody>
      </p:sp>
      <p:grpSp>
        <p:nvGrpSpPr>
          <p:cNvPr id="41" name="Group 40"/>
          <p:cNvGrpSpPr/>
          <p:nvPr/>
        </p:nvGrpSpPr>
        <p:grpSpPr>
          <a:xfrm rot="180444">
            <a:off x="6936387" y="3996679"/>
            <a:ext cx="582187" cy="496391"/>
            <a:chOff x="7086600" y="3613666"/>
            <a:chExt cx="533400" cy="533400"/>
          </a:xfrm>
        </p:grpSpPr>
        <p:sp>
          <p:nvSpPr>
            <p:cNvPr id="42" name="Explosion 2 41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400" kern="0" dirty="0">
                <a:solidFill>
                  <a:prstClr val="white"/>
                </a:solidFill>
                <a:latin typeface="Calibri"/>
                <a:cs typeface="+mn-cs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 rot="21236044">
              <a:off x="7099111" y="3690878"/>
              <a:ext cx="467332" cy="330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Calibri"/>
                  <a:cs typeface="+mn-cs"/>
                </a:rPr>
                <a:t>miss</a:t>
              </a:r>
              <a:endParaRPr lang="ru-RU" sz="1400" kern="0" dirty="0">
                <a:solidFill>
                  <a:prstClr val="white"/>
                </a:solidFill>
                <a:latin typeface="Calibri"/>
                <a:cs typeface="+mn-cs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 rot="180444">
            <a:off x="6299979" y="2754792"/>
            <a:ext cx="582187" cy="496391"/>
            <a:chOff x="7086600" y="3613666"/>
            <a:chExt cx="533400" cy="533400"/>
          </a:xfrm>
        </p:grpSpPr>
        <p:sp>
          <p:nvSpPr>
            <p:cNvPr id="45" name="Explosion 2 44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400" kern="0" dirty="0">
                <a:solidFill>
                  <a:prstClr val="white"/>
                </a:solidFill>
                <a:latin typeface="Calibri"/>
                <a:cs typeface="+mn-cs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 rot="21236044">
              <a:off x="7099111" y="3690878"/>
              <a:ext cx="467332" cy="330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Calibri"/>
                  <a:cs typeface="+mn-cs"/>
                </a:rPr>
                <a:t>miss</a:t>
              </a:r>
              <a:endParaRPr lang="ru-RU" sz="1400" kern="0" dirty="0">
                <a:solidFill>
                  <a:prstClr val="white"/>
                </a:solidFill>
                <a:latin typeface="Calibri"/>
                <a:cs typeface="+mn-cs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032920" y="2821733"/>
            <a:ext cx="11945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≡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10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grpSp>
        <p:nvGrpSpPr>
          <p:cNvPr id="38" name="Group 37"/>
          <p:cNvGrpSpPr/>
          <p:nvPr/>
        </p:nvGrpSpPr>
        <p:grpSpPr>
          <a:xfrm rot="922656">
            <a:off x="6349742" y="2783268"/>
            <a:ext cx="454841" cy="417585"/>
            <a:chOff x="7039011" y="3613666"/>
            <a:chExt cx="580989" cy="533400"/>
          </a:xfrm>
        </p:grpSpPr>
        <p:sp>
          <p:nvSpPr>
            <p:cNvPr id="39" name="Explosion 2 38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400" kern="0" dirty="0">
                <a:solidFill>
                  <a:prstClr val="white"/>
                </a:solidFill>
                <a:latin typeface="Calibri"/>
                <a:cs typeface="+mn-cs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 rot="20664369">
              <a:off x="7039011" y="3627327"/>
              <a:ext cx="487736" cy="3931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Calibri"/>
                  <a:cs typeface="+mn-cs"/>
                </a:rPr>
                <a:t>hit</a:t>
              </a:r>
              <a:endParaRPr lang="ru-RU" sz="1400" kern="0" dirty="0">
                <a:solidFill>
                  <a:prstClr val="white"/>
                </a:solidFill>
                <a:latin typeface="Calibri"/>
                <a:cs typeface="+mn-cs"/>
              </a:endParaRPr>
            </a:p>
          </p:txBody>
        </p:sp>
      </p:grpSp>
      <p:sp>
        <p:nvSpPr>
          <p:cNvPr id="51" name="Rounded Rectangular Callout 50"/>
          <p:cNvSpPr/>
          <p:nvPr/>
        </p:nvSpPr>
        <p:spPr>
          <a:xfrm>
            <a:off x="1131884" y="4067654"/>
            <a:ext cx="2598869" cy="717707"/>
          </a:xfrm>
          <a:prstGeom prst="wedgeRoundRectCallout">
            <a:avLst>
              <a:gd name="adj1" fmla="val 33204"/>
              <a:gd name="adj2" fmla="val -75792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FF0000"/>
                </a:solidFill>
                <a:latin typeface="Calibri"/>
                <a:cs typeface="+mn-cs"/>
              </a:rPr>
              <a:t>Error: </a:t>
            </a:r>
            <a:r>
              <a:rPr lang="en-US" kern="0" dirty="0">
                <a:latin typeface="Calibri"/>
                <a:cs typeface="+mn-cs"/>
              </a:rPr>
              <a:t>read the old value from the local cache</a:t>
            </a:r>
            <a:r>
              <a:rPr lang="en-US" kern="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endParaRPr lang="ru-RU" kern="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02420" y="1043037"/>
            <a:ext cx="80272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Problem: </a:t>
            </a:r>
            <a:r>
              <a:rPr lang="en-US" sz="2400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one </a:t>
            </a:r>
            <a:r>
              <a:rPr lang="en-US" sz="2400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core </a:t>
            </a:r>
            <a:r>
              <a:rPr lang="en-US" sz="2400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modifies data that another core has in its local cache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969" y="4058695"/>
            <a:ext cx="11945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≡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10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35" name="Rectangle 34"/>
          <p:cNvSpPr/>
          <p:nvPr/>
        </p:nvSpPr>
        <p:spPr>
          <a:xfrm>
            <a:off x="7405854" y="4058034"/>
            <a:ext cx="409086" cy="338554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20</a:t>
            </a:r>
            <a:endParaRPr lang="ru-RU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955" y="1744846"/>
            <a:ext cx="2694666" cy="3981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1888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1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 animBg="1"/>
      <p:bldP spid="22" grpId="0"/>
      <p:bldP spid="51" grpId="0" animBg="1"/>
      <p:bldP spid="33" grpId="0"/>
      <p:bldP spid="35" grpId="0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843278" y="3046500"/>
          <a:ext cx="7991628" cy="2399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5071"/>
                <a:gridCol w="1700012"/>
                <a:gridCol w="2728638"/>
                <a:gridCol w="1997907"/>
              </a:tblGrid>
              <a:tr h="62203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Is the line valid?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Do</a:t>
                      </a:r>
                      <a:r>
                        <a:rPr lang="en-US" sz="1600" baseline="0" dirty="0" smtClean="0"/>
                        <a:t> we own this line?</a:t>
                      </a:r>
                      <a:br>
                        <a:rPr lang="en-US" sz="1600" baseline="0" dirty="0" smtClean="0"/>
                      </a:br>
                      <a:r>
                        <a:rPr lang="en-US" sz="1600" baseline="0" dirty="0" smtClean="0"/>
                        <a:t>(others do not contain it)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Has</a:t>
                      </a:r>
                      <a:r>
                        <a:rPr lang="en-US" sz="1600" baseline="0" dirty="0" smtClean="0"/>
                        <a:t> it been modified?</a:t>
                      </a:r>
                      <a:endParaRPr lang="ru-RU" sz="1600" dirty="0"/>
                    </a:p>
                  </a:txBody>
                  <a:tcPr/>
                </a:tc>
              </a:tr>
              <a:tr h="44430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</a:t>
                      </a:r>
                      <a:r>
                        <a:rPr lang="en-US" sz="1600" dirty="0" smtClean="0"/>
                        <a:t>nvalid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/>
                          </a:solidFill>
                        </a:rPr>
                        <a:t>NA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/>
                          </a:solidFill>
                        </a:rPr>
                        <a:t>NA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44430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</a:t>
                      </a:r>
                      <a:r>
                        <a:rPr lang="en-US" sz="1600" dirty="0" smtClean="0"/>
                        <a:t>hared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ru-RU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4430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</a:t>
                      </a:r>
                      <a:r>
                        <a:rPr lang="en-US" sz="1600" dirty="0" smtClean="0"/>
                        <a:t>xclusive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ru-RU" sz="18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ru-RU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ru-RU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4430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</a:t>
                      </a:r>
                      <a:r>
                        <a:rPr lang="en-US" sz="1600" dirty="0" smtClean="0"/>
                        <a:t>odified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ru-RU" sz="18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YES</a:t>
                      </a:r>
                      <a:endParaRPr lang="ru-RU" sz="18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ru-RU" sz="18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Coherence protocol: MESI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887212"/>
            <a:ext cx="8228012" cy="1988800"/>
          </a:xfrm>
        </p:spPr>
        <p:txBody>
          <a:bodyPr/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61922"/>
                </a:solidFill>
                <a:latin typeface="Calibri"/>
                <a:cs typeface="Arial" charset="0"/>
                <a:sym typeface="Symbol" pitchFamily="18" charset="2"/>
              </a:rPr>
              <a:t>Coherency protocols describe how to handle </a:t>
            </a:r>
            <a:r>
              <a:rPr lang="en-US" dirty="0" smtClean="0">
                <a:latin typeface="+mj-lt"/>
                <a:cs typeface="Arial" charset="0"/>
                <a:sym typeface="Symbol" pitchFamily="18" charset="2"/>
              </a:rPr>
              <a:t>writes and reads in a multi-core system in order to maintain memory coherence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Arial" charset="0"/>
                <a:sym typeface="Symbol" pitchFamily="18" charset="2"/>
              </a:rPr>
              <a:t>The most </a:t>
            </a:r>
            <a:r>
              <a:rPr lang="en-US" dirty="0" smtClean="0">
                <a:latin typeface="+mj-lt"/>
                <a:cs typeface="Arial" charset="0"/>
                <a:sym typeface="Symbol" pitchFamily="18" charset="2"/>
              </a:rPr>
              <a:t>famous </a:t>
            </a:r>
            <a:r>
              <a:rPr lang="en-US" dirty="0">
                <a:latin typeface="+mj-lt"/>
                <a:cs typeface="Arial" charset="0"/>
                <a:sym typeface="Symbol" pitchFamily="18" charset="2"/>
              </a:rPr>
              <a:t>one is </a:t>
            </a:r>
            <a:r>
              <a:rPr lang="en-US" b="1" dirty="0" smtClean="0">
                <a:latin typeface="+mj-lt"/>
                <a:cs typeface="Arial" charset="0"/>
                <a:sym typeface="Symbol" pitchFamily="18" charset="2"/>
              </a:rPr>
              <a:t>MESI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D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efine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the four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possible state of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a cache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line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  <a:sym typeface="Symbol" pitchFamily="18" charset="2"/>
              </a:rPr>
              <a:t>Describe transactions from one state to another </a:t>
            </a:r>
            <a:r>
              <a:rPr lang="en-US" sz="2000" kern="1200" dirty="0">
                <a:solidFill>
                  <a:schemeClr val="bg2"/>
                </a:solidFill>
                <a:latin typeface="Calibri"/>
                <a:ea typeface="+mn-ea"/>
                <a:cs typeface="+mn-cs"/>
                <a:sym typeface="Symbol" pitchFamily="18" charset="2"/>
              </a:rPr>
              <a:t>(next foils)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+mn-cs"/>
              <a:sym typeface="Symbol" pitchFamily="18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" y="5467966"/>
            <a:ext cx="933718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There is no state when a line is modified and contained by other cores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To write a line, </a:t>
            </a:r>
            <a:r>
              <a:rPr lang="en-US" sz="2400" b="1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ownership </a:t>
            </a:r>
            <a:r>
              <a:rPr lang="en-US" sz="2400" kern="0" dirty="0">
                <a:solidFill>
                  <a:srgbClr val="061922"/>
                </a:solidFill>
                <a:latin typeface="Calibri"/>
                <a:sym typeface="Symbol" pitchFamily="18" charset="2"/>
              </a:rPr>
              <a:t>should be obtained first</a:t>
            </a:r>
            <a:endParaRPr lang="en-US" sz="2400" kern="0" dirty="0">
              <a:solidFill>
                <a:srgbClr val="061922"/>
              </a:solidFill>
              <a:latin typeface="Calibri"/>
              <a:sym typeface="Symbol" pitchFamily="18" charset="2"/>
            </a:endParaRPr>
          </a:p>
        </p:txBody>
      </p:sp>
      <p:sp>
        <p:nvSpPr>
          <p:cNvPr id="61" name="Rectangle 54"/>
          <p:cNvSpPr>
            <a:spLocks noChangeArrowheads="1"/>
          </p:cNvSpPr>
          <p:nvPr/>
        </p:nvSpPr>
        <p:spPr bwMode="auto">
          <a:xfrm>
            <a:off x="880110" y="3699093"/>
            <a:ext cx="1450966" cy="366332"/>
          </a:xfrm>
          <a:prstGeom prst="rect">
            <a:avLst/>
          </a:prstGeom>
          <a:solidFill>
            <a:srgbClr val="0071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4" name="Rectangle 57"/>
          <p:cNvSpPr>
            <a:spLocks noChangeArrowheads="1"/>
          </p:cNvSpPr>
          <p:nvPr/>
        </p:nvSpPr>
        <p:spPr bwMode="auto">
          <a:xfrm>
            <a:off x="6887622" y="3709746"/>
            <a:ext cx="1613313" cy="393954"/>
          </a:xfrm>
          <a:prstGeom prst="rect">
            <a:avLst/>
          </a:prstGeom>
          <a:solidFill>
            <a:srgbClr val="CB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" name="Rectangle 58"/>
          <p:cNvSpPr>
            <a:spLocks noChangeArrowheads="1"/>
          </p:cNvSpPr>
          <p:nvPr/>
        </p:nvSpPr>
        <p:spPr bwMode="auto">
          <a:xfrm>
            <a:off x="880110" y="4133850"/>
            <a:ext cx="1450966" cy="374488"/>
          </a:xfrm>
          <a:prstGeom prst="rect">
            <a:avLst/>
          </a:prstGeom>
          <a:solidFill>
            <a:srgbClr val="0071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8" name="Rectangle 61"/>
          <p:cNvSpPr>
            <a:spLocks noChangeArrowheads="1"/>
          </p:cNvSpPr>
          <p:nvPr/>
        </p:nvSpPr>
        <p:spPr bwMode="auto">
          <a:xfrm>
            <a:off x="6916385" y="4140695"/>
            <a:ext cx="1550671" cy="382645"/>
          </a:xfrm>
          <a:prstGeom prst="rect">
            <a:avLst/>
          </a:prstGeom>
          <a:solidFill>
            <a:srgbClr val="E7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9" name="Rectangle 62"/>
          <p:cNvSpPr>
            <a:spLocks noChangeArrowheads="1"/>
          </p:cNvSpPr>
          <p:nvPr/>
        </p:nvSpPr>
        <p:spPr bwMode="auto">
          <a:xfrm>
            <a:off x="880110" y="4591531"/>
            <a:ext cx="1450966" cy="330990"/>
          </a:xfrm>
          <a:prstGeom prst="rect">
            <a:avLst/>
          </a:prstGeom>
          <a:solidFill>
            <a:srgbClr val="0071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2" name="Rectangle 65"/>
          <p:cNvSpPr>
            <a:spLocks noChangeArrowheads="1"/>
          </p:cNvSpPr>
          <p:nvPr/>
        </p:nvSpPr>
        <p:spPr bwMode="auto">
          <a:xfrm>
            <a:off x="6916383" y="4616943"/>
            <a:ext cx="1584550" cy="352644"/>
          </a:xfrm>
          <a:prstGeom prst="rect">
            <a:avLst/>
          </a:prstGeom>
          <a:solidFill>
            <a:srgbClr val="CB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" name="Rectangle 66"/>
          <p:cNvSpPr>
            <a:spLocks noChangeArrowheads="1"/>
          </p:cNvSpPr>
          <p:nvPr/>
        </p:nvSpPr>
        <p:spPr bwMode="auto">
          <a:xfrm>
            <a:off x="880110" y="5033863"/>
            <a:ext cx="1450966" cy="349494"/>
          </a:xfrm>
          <a:prstGeom prst="rect">
            <a:avLst/>
          </a:prstGeom>
          <a:solidFill>
            <a:srgbClr val="0071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6" name="Rectangle 69"/>
          <p:cNvSpPr>
            <a:spLocks noChangeArrowheads="1"/>
          </p:cNvSpPr>
          <p:nvPr/>
        </p:nvSpPr>
        <p:spPr bwMode="auto">
          <a:xfrm>
            <a:off x="6916385" y="5063192"/>
            <a:ext cx="1550671" cy="330818"/>
          </a:xfrm>
          <a:prstGeom prst="rect">
            <a:avLst/>
          </a:prstGeom>
          <a:solidFill>
            <a:srgbClr val="E7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7" name="Rectangle 57"/>
          <p:cNvSpPr>
            <a:spLocks noChangeArrowheads="1"/>
          </p:cNvSpPr>
          <p:nvPr/>
        </p:nvSpPr>
        <p:spPr bwMode="auto">
          <a:xfrm>
            <a:off x="4152488" y="3700234"/>
            <a:ext cx="1613313" cy="393954"/>
          </a:xfrm>
          <a:prstGeom prst="rect">
            <a:avLst/>
          </a:prstGeom>
          <a:solidFill>
            <a:srgbClr val="CB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8" name="Rectangle 61"/>
          <p:cNvSpPr>
            <a:spLocks noChangeArrowheads="1"/>
          </p:cNvSpPr>
          <p:nvPr/>
        </p:nvSpPr>
        <p:spPr bwMode="auto">
          <a:xfrm>
            <a:off x="4181251" y="4131183"/>
            <a:ext cx="1550671" cy="382645"/>
          </a:xfrm>
          <a:prstGeom prst="rect">
            <a:avLst/>
          </a:prstGeom>
          <a:solidFill>
            <a:srgbClr val="E7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9" name="Rectangle 65"/>
          <p:cNvSpPr>
            <a:spLocks noChangeArrowheads="1"/>
          </p:cNvSpPr>
          <p:nvPr/>
        </p:nvSpPr>
        <p:spPr bwMode="auto">
          <a:xfrm>
            <a:off x="4181249" y="4607431"/>
            <a:ext cx="1584550" cy="352644"/>
          </a:xfrm>
          <a:prstGeom prst="rect">
            <a:avLst/>
          </a:prstGeom>
          <a:solidFill>
            <a:srgbClr val="CB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0" name="Rectangle 69"/>
          <p:cNvSpPr>
            <a:spLocks noChangeArrowheads="1"/>
          </p:cNvSpPr>
          <p:nvPr/>
        </p:nvSpPr>
        <p:spPr bwMode="auto">
          <a:xfrm>
            <a:off x="4181251" y="5053680"/>
            <a:ext cx="1550671" cy="330818"/>
          </a:xfrm>
          <a:prstGeom prst="rect">
            <a:avLst/>
          </a:prstGeom>
          <a:solidFill>
            <a:srgbClr val="E7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1" name="Rectangle 57"/>
          <p:cNvSpPr>
            <a:spLocks noChangeArrowheads="1"/>
          </p:cNvSpPr>
          <p:nvPr/>
        </p:nvSpPr>
        <p:spPr bwMode="auto">
          <a:xfrm>
            <a:off x="2403615" y="3702903"/>
            <a:ext cx="1584550" cy="393954"/>
          </a:xfrm>
          <a:prstGeom prst="rect">
            <a:avLst/>
          </a:prstGeom>
          <a:solidFill>
            <a:srgbClr val="CB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" name="Rectangle 61"/>
          <p:cNvSpPr>
            <a:spLocks noChangeArrowheads="1"/>
          </p:cNvSpPr>
          <p:nvPr/>
        </p:nvSpPr>
        <p:spPr bwMode="auto">
          <a:xfrm>
            <a:off x="2403617" y="4133852"/>
            <a:ext cx="1550671" cy="382645"/>
          </a:xfrm>
          <a:prstGeom prst="rect">
            <a:avLst/>
          </a:prstGeom>
          <a:solidFill>
            <a:srgbClr val="E7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3" name="Rectangle 65"/>
          <p:cNvSpPr>
            <a:spLocks noChangeArrowheads="1"/>
          </p:cNvSpPr>
          <p:nvPr/>
        </p:nvSpPr>
        <p:spPr bwMode="auto">
          <a:xfrm>
            <a:off x="2403615" y="4610100"/>
            <a:ext cx="1584550" cy="352644"/>
          </a:xfrm>
          <a:prstGeom prst="rect">
            <a:avLst/>
          </a:prstGeom>
          <a:solidFill>
            <a:srgbClr val="CB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4" name="Rectangle 69"/>
          <p:cNvSpPr>
            <a:spLocks noChangeArrowheads="1"/>
          </p:cNvSpPr>
          <p:nvPr/>
        </p:nvSpPr>
        <p:spPr bwMode="auto">
          <a:xfrm>
            <a:off x="2403617" y="5056349"/>
            <a:ext cx="1550671" cy="330818"/>
          </a:xfrm>
          <a:prstGeom prst="rect">
            <a:avLst/>
          </a:prstGeom>
          <a:solidFill>
            <a:srgbClr val="E7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88285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1" grpId="1" animBg="1"/>
      <p:bldP spid="64" grpId="0" animBg="1"/>
      <p:bldP spid="64" grpId="1" animBg="1"/>
      <p:bldP spid="65" grpId="0" animBg="1"/>
      <p:bldP spid="65" grpId="1" animBg="1"/>
      <p:bldP spid="68" grpId="0" animBg="1"/>
      <p:bldP spid="68" grpId="1" animBg="1"/>
      <p:bldP spid="69" grpId="0" animBg="1"/>
      <p:bldP spid="69" grpId="1" animBg="1"/>
      <p:bldP spid="72" grpId="0" animBg="1"/>
      <p:bldP spid="72" grpId="1" animBg="1"/>
      <p:bldP spid="73" grpId="0" animBg="1"/>
      <p:bldP spid="73" grpId="1" animBg="1"/>
      <p:bldP spid="76" grpId="0" animBg="1"/>
      <p:bldP spid="7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110507" y="1513516"/>
            <a:ext cx="1439643" cy="1479764"/>
            <a:chOff x="6168130" y="1307789"/>
            <a:chExt cx="1227763" cy="1479764"/>
          </a:xfrm>
        </p:grpSpPr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6168130" y="1307789"/>
              <a:ext cx="1227763" cy="1479764"/>
            </a:xfrm>
            <a:prstGeom prst="rect">
              <a:avLst/>
            </a:prstGeom>
            <a:solidFill>
              <a:srgbClr val="CCFFCC"/>
            </a:solidFill>
            <a:ln w="28575" algn="ctr">
              <a:noFill/>
              <a:miter lim="800000"/>
              <a:headEnd/>
              <a:tailEnd type="none" w="sm" len="sm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91440" rIns="0" bIns="0"/>
            <a:lstStyle/>
            <a:p>
              <a:pPr algn="ctr"/>
              <a:endParaRPr lang="en-US" sz="2000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6286464" y="1679763"/>
              <a:ext cx="995122" cy="1005459"/>
              <a:chOff x="6286464" y="1809556"/>
              <a:chExt cx="995122" cy="875666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Rectangle 6"/>
              <p:cNvSpPr>
                <a:spLocks noChangeArrowheads="1"/>
              </p:cNvSpPr>
              <p:nvPr/>
            </p:nvSpPr>
            <p:spPr bwMode="auto">
              <a:xfrm>
                <a:off x="6286464" y="1812713"/>
                <a:ext cx="995122" cy="872509"/>
              </a:xfrm>
              <a:prstGeom prst="rect">
                <a:avLst/>
              </a:prstGeom>
              <a:solidFill>
                <a:srgbClr val="CCECFF"/>
              </a:solidFill>
              <a:ln w="28575" algn="ctr">
                <a:noFill/>
                <a:miter lim="800000"/>
                <a:headEnd/>
                <a:tailEnd type="none" w="sm" len="sm"/>
              </a:ln>
            </p:spPr>
            <p:txBody>
              <a:bodyPr wrap="none" lIns="0" tIns="0" rIns="0" bIns="0" anchor="ctr" anchorCtr="1"/>
              <a:lstStyle/>
              <a:p>
                <a:pPr algn="ctr"/>
                <a:endParaRPr lang="en-US" sz="2000" dirty="0">
                  <a:latin typeface="+mj-lt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6361156" y="1809556"/>
                <a:ext cx="838200" cy="56289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</a:rPr>
                  <a:t>Local</a:t>
                </a:r>
              </a:p>
              <a:p>
                <a:pPr lvl="0"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</a:rPr>
                  <a:t>Cache</a:t>
                </a:r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6414508" y="1307789"/>
              <a:ext cx="7314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2000" dirty="0">
                  <a:solidFill>
                    <a:srgbClr val="A6CE39">
                      <a:lumMod val="50000"/>
                    </a:srgbClr>
                  </a:solidFill>
                  <a:latin typeface="Calibri"/>
                </a:rPr>
                <a:t>Core </a:t>
              </a:r>
              <a:r>
                <a:rPr lang="en-US" sz="2000" dirty="0">
                  <a:solidFill>
                    <a:srgbClr val="A6CE39">
                      <a:lumMod val="50000"/>
                    </a:srgbClr>
                  </a:solidFill>
                  <a:latin typeface="Calibri"/>
                </a:rPr>
                <a:t>1</a:t>
              </a:r>
              <a:endParaRPr lang="en-US" sz="2000" dirty="0">
                <a:solidFill>
                  <a:srgbClr val="A6CE39">
                    <a:lumMod val="50000"/>
                  </a:srgbClr>
                </a:solidFill>
                <a:latin typeface="Calibri"/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4025" y="193678"/>
            <a:ext cx="8229600" cy="889000"/>
          </a:xfrm>
        </p:spPr>
        <p:txBody>
          <a:bodyPr/>
          <a:lstStyle/>
          <a:p>
            <a:r>
              <a:rPr lang="en-US" dirty="0" smtClean="0"/>
              <a:t>MESI Operating Example</a:t>
            </a:r>
            <a:endParaRPr lang="ru-RU" dirty="0"/>
          </a:p>
        </p:txBody>
      </p:sp>
      <p:grpSp>
        <p:nvGrpSpPr>
          <p:cNvPr id="7" name="Group 6"/>
          <p:cNvGrpSpPr/>
          <p:nvPr/>
        </p:nvGrpSpPr>
        <p:grpSpPr>
          <a:xfrm>
            <a:off x="5521913" y="1513516"/>
            <a:ext cx="1439643" cy="1479764"/>
            <a:chOff x="6168130" y="1307789"/>
            <a:chExt cx="1227763" cy="1479764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6168130" y="1307789"/>
              <a:ext cx="1227763" cy="1479764"/>
            </a:xfrm>
            <a:prstGeom prst="rect">
              <a:avLst/>
            </a:prstGeom>
            <a:solidFill>
              <a:srgbClr val="CCFFCC"/>
            </a:solidFill>
            <a:ln w="28575" algn="ctr">
              <a:noFill/>
              <a:miter lim="800000"/>
              <a:headEnd/>
              <a:tailEnd type="none" w="sm" len="sm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91440" rIns="0" bIns="0"/>
            <a:lstStyle/>
            <a:p>
              <a:pPr algn="ctr"/>
              <a:endParaRPr lang="en-US" sz="2000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6286464" y="1679763"/>
              <a:ext cx="995122" cy="1005459"/>
              <a:chOff x="6286464" y="1809556"/>
              <a:chExt cx="995122" cy="875666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6286464" y="1812713"/>
                <a:ext cx="995122" cy="872509"/>
              </a:xfrm>
              <a:prstGeom prst="rect">
                <a:avLst/>
              </a:prstGeom>
              <a:solidFill>
                <a:srgbClr val="CCECFF"/>
              </a:solidFill>
              <a:ln w="28575" algn="ctr">
                <a:noFill/>
                <a:miter lim="800000"/>
                <a:headEnd/>
                <a:tailEnd type="none" w="sm" len="sm"/>
              </a:ln>
            </p:spPr>
            <p:txBody>
              <a:bodyPr wrap="none" lIns="0" tIns="0" rIns="0" bIns="0" anchor="ctr" anchorCtr="1"/>
              <a:lstStyle/>
              <a:p>
                <a:pPr algn="ctr"/>
                <a:endParaRPr lang="en-US" sz="2000" dirty="0">
                  <a:latin typeface="+mj-lt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361156" y="1809556"/>
                <a:ext cx="838200" cy="56289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</a:rPr>
                  <a:t>Local</a:t>
                </a:r>
              </a:p>
              <a:p>
                <a:pPr lvl="0"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/>
                  </a:rPr>
                  <a:t>Cache</a:t>
                </a:r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6414508" y="1307789"/>
              <a:ext cx="7314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2000" dirty="0">
                  <a:solidFill>
                    <a:srgbClr val="A6CE39">
                      <a:lumMod val="50000"/>
                    </a:srgbClr>
                  </a:solidFill>
                  <a:latin typeface="Calibri"/>
                </a:rPr>
                <a:t>Core 0</a:t>
              </a:r>
            </a:p>
          </p:txBody>
        </p:sp>
      </p:grpSp>
      <p:sp>
        <p:nvSpPr>
          <p:cNvPr id="8" name="Line 17"/>
          <p:cNvSpPr>
            <a:spLocks noChangeShapeType="1"/>
          </p:cNvSpPr>
          <p:nvPr/>
        </p:nvSpPr>
        <p:spPr bwMode="auto">
          <a:xfrm>
            <a:off x="6258486" y="3038461"/>
            <a:ext cx="0" cy="3231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wrap="none" lIns="0" tIns="0" rIns="0" bIns="0" anchor="ctr"/>
          <a:lstStyle/>
          <a:p>
            <a:endParaRPr lang="en-US" sz="2000" dirty="0">
              <a:latin typeface="+mj-lt"/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7772169" y="3038461"/>
            <a:ext cx="0" cy="3231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wrap="none" lIns="0" tIns="0" rIns="0" bIns="0" anchor="ctr"/>
          <a:lstStyle/>
          <a:p>
            <a:endParaRPr lang="en-US" sz="2000" dirty="0">
              <a:latin typeface="+mj-lt"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7038484" y="4167754"/>
            <a:ext cx="0" cy="3231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wrap="none" lIns="0" tIns="0" rIns="0" bIns="0" anchor="ctr"/>
          <a:lstStyle/>
          <a:p>
            <a:endParaRPr lang="en-US" sz="2000" dirty="0">
              <a:latin typeface="+mj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722241" y="4490905"/>
            <a:ext cx="2632493" cy="840193"/>
            <a:chOff x="6385618" y="4561102"/>
            <a:chExt cx="2245054" cy="84019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6385618" y="4561102"/>
              <a:ext cx="2245054" cy="840193"/>
            </a:xfrm>
            <a:prstGeom prst="rect">
              <a:avLst/>
            </a:prstGeom>
            <a:solidFill>
              <a:srgbClr val="99CCFF"/>
            </a:solidFill>
            <a:ln w="28575" algn="ctr">
              <a:noFill/>
              <a:miter lim="800000"/>
              <a:headEnd/>
              <a:tailEnd type="none" w="sm" len="sm"/>
            </a:ln>
          </p:spPr>
          <p:txBody>
            <a:bodyPr wrap="none" lIns="0" tIns="0" rIns="0" bIns="0" anchor="ctr" anchorCtr="1"/>
            <a:lstStyle/>
            <a:p>
              <a:pPr algn="ctr"/>
              <a:endParaRPr lang="en-US" sz="2000" dirty="0">
                <a:latin typeface="+mj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94528" y="4561102"/>
              <a:ext cx="1427231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lvl="0" algn="ctr"/>
              <a:r>
                <a:rPr lang="en-US" sz="2000" dirty="0">
                  <a:solidFill>
                    <a:schemeClr val="accent3"/>
                  </a:solidFill>
                  <a:latin typeface="Calibri"/>
                </a:rPr>
                <a:t>Main Memory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722241" y="3390844"/>
            <a:ext cx="2632493" cy="775563"/>
            <a:chOff x="6385618" y="3115266"/>
            <a:chExt cx="2245054" cy="7755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6385618" y="3115266"/>
              <a:ext cx="2245054" cy="775563"/>
            </a:xfrm>
            <a:prstGeom prst="rect">
              <a:avLst/>
            </a:prstGeom>
            <a:solidFill>
              <a:srgbClr val="FFCC99"/>
            </a:solidFill>
            <a:ln w="28575" algn="ctr">
              <a:noFill/>
              <a:miter lim="800000"/>
              <a:headEnd/>
              <a:tailEnd type="none" w="sm" len="sm"/>
            </a:ln>
          </p:spPr>
          <p:txBody>
            <a:bodyPr wrap="none" lIns="0" tIns="0" rIns="0" bIns="0" anchor="t" anchorCtr="1"/>
            <a:lstStyle/>
            <a:p>
              <a:pPr algn="ctr"/>
              <a:endParaRPr lang="en-US" sz="2000" dirty="0">
                <a:latin typeface="+mj-l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25916" y="3115266"/>
              <a:ext cx="1364455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lvl="0" algn="ctr"/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  <a:latin typeface="Calibri"/>
                </a:rPr>
                <a:t>Shared Cache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6429621" y="4909513"/>
            <a:ext cx="10867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≡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25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28" name="Rectangle 27"/>
          <p:cNvSpPr/>
          <p:nvPr/>
        </p:nvSpPr>
        <p:spPr>
          <a:xfrm>
            <a:off x="7465962" y="2497534"/>
            <a:ext cx="10823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</a:t>
            </a:r>
            <a:r>
              <a:rPr lang="en-US" sz="8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≡</a:t>
            </a:r>
            <a:r>
              <a:rPr lang="en-US" sz="8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lang="en-US" sz="1600" kern="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35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36" name="Rectangle 35"/>
          <p:cNvSpPr/>
          <p:nvPr/>
        </p:nvSpPr>
        <p:spPr>
          <a:xfrm>
            <a:off x="5864925" y="2497534"/>
            <a:ext cx="10823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</a:t>
            </a:r>
            <a:r>
              <a:rPr lang="en-US" sz="8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≡</a:t>
            </a:r>
            <a:r>
              <a:rPr lang="en-US" sz="8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25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40" name="Rectangle 39"/>
          <p:cNvSpPr/>
          <p:nvPr/>
        </p:nvSpPr>
        <p:spPr>
          <a:xfrm>
            <a:off x="6429619" y="3734496"/>
            <a:ext cx="11945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≡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25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50" name="Rectangle 49"/>
          <p:cNvSpPr/>
          <p:nvPr/>
        </p:nvSpPr>
        <p:spPr>
          <a:xfrm>
            <a:off x="396954" y="1379223"/>
            <a:ext cx="4831947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4213" indent="-342900">
              <a:spcBef>
                <a:spcPts val="2400"/>
              </a:spcBef>
              <a:buFont typeface="+mj-lt"/>
              <a:buAutoNum type="arabicPeriod"/>
            </a:pP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Memory: </a:t>
            </a:r>
            <a:r>
              <a:rPr lang="en-US" sz="2000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≡ </a:t>
            </a:r>
            <a:r>
              <a:rPr lang="en-US" sz="20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25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 </a:t>
            </a:r>
            <a:endParaRPr lang="en-US" sz="2000" kern="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684213" indent="-342900">
              <a:spcBef>
                <a:spcPts val="2400"/>
              </a:spcBef>
              <a:buFont typeface="+mj-lt"/>
              <a:buAutoNum type="arabicPeriod"/>
            </a:pP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0: a = </a:t>
            </a:r>
            <a:r>
              <a:rPr lang="en-US" sz="2000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# 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a = 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25</a:t>
            </a:r>
          </a:p>
          <a:p>
            <a:pPr marL="684213" indent="-342900">
              <a:spcBef>
                <a:spcPts val="2400"/>
              </a:spcBef>
              <a:buFont typeface="+mj-lt"/>
              <a:buAutoNum type="arabicPeriod"/>
            </a:pP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0: </a:t>
            </a:r>
            <a:r>
              <a:rPr lang="en-US" sz="2000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≡ </a:t>
            </a:r>
            <a:r>
              <a:rPr lang="en-US" sz="2000" kern="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3</a:t>
            </a:r>
            <a:r>
              <a:rPr lang="en-US" sz="2000" kern="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5</a:t>
            </a:r>
          </a:p>
          <a:p>
            <a:pPr marL="684213" indent="-342900">
              <a:spcBef>
                <a:spcPts val="2400"/>
              </a:spcBef>
              <a:buFont typeface="+mj-lt"/>
              <a:buAutoNum type="arabicPeriod"/>
            </a:pP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1: b 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= </a:t>
            </a:r>
            <a:r>
              <a:rPr lang="en-US" sz="2000" kern="0" dirty="0">
                <a:solidFill>
                  <a:srgbClr val="00428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] 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# 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b 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= 3</a:t>
            </a:r>
            <a:r>
              <a:rPr lang="en-US" sz="2000" kern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5</a:t>
            </a:r>
            <a:endParaRPr lang="en-US" sz="2000" kern="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1143000" lvl="1" indent="-346075">
              <a:spcBef>
                <a:spcPts val="600"/>
              </a:spcBef>
              <a:buFont typeface="+mj-lt"/>
              <a:buAutoNum type="alphaLcPeriod"/>
            </a:pP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Snoop [X]</a:t>
            </a:r>
          </a:p>
          <a:p>
            <a:pPr marL="1600200" lvl="2" indent="-346075">
              <a:spcBef>
                <a:spcPts val="600"/>
              </a:spcBef>
              <a:buFont typeface="+mj-lt"/>
              <a:buAutoNum type="romanLcPeriod"/>
            </a:pP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0 </a:t>
            </a:r>
            <a:r>
              <a:rPr lang="en-US" sz="2000" kern="0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writeback</a:t>
            </a: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[X]</a:t>
            </a:r>
          </a:p>
          <a:p>
            <a:pPr marL="685800" indent="-346075">
              <a:spcBef>
                <a:spcPts val="2400"/>
              </a:spcBef>
              <a:buFont typeface="+mj-lt"/>
              <a:buAutoNum type="arabicPeriod"/>
            </a:pP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1: </a:t>
            </a:r>
            <a:r>
              <a:rPr lang="en-US" sz="2000" kern="0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 </a:t>
            </a:r>
            <a:r>
              <a:rPr lang="en-US" sz="20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≡ </a:t>
            </a:r>
            <a:r>
              <a:rPr lang="en-US" sz="20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4</a:t>
            </a:r>
            <a:r>
              <a:rPr lang="en-US" sz="20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5</a:t>
            </a:r>
            <a:endParaRPr lang="en-US" sz="2000" kern="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1143000" lvl="1" indent="-346075">
              <a:spcBef>
                <a:spcPts val="600"/>
              </a:spcBef>
              <a:buFont typeface="+mj-lt"/>
              <a:buAutoNum type="alphaLcPeriod"/>
            </a:pP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Request ownership for </a:t>
            </a: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</a:t>
            </a:r>
          </a:p>
          <a:p>
            <a:pPr marL="1600200" lvl="2" indent="-346075">
              <a:spcBef>
                <a:spcPts val="600"/>
              </a:spcBef>
              <a:buFont typeface="+mj-lt"/>
              <a:buAutoNum type="romanLcPeriod"/>
            </a:pP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Core 0 </a:t>
            </a: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invalidate </a:t>
            </a: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</a:t>
            </a:r>
            <a:r>
              <a:rPr lang="en-US" sz="20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]</a:t>
            </a:r>
          </a:p>
          <a:p>
            <a:pPr marL="1600200" lvl="2" indent="-344488">
              <a:spcBef>
                <a:spcPts val="600"/>
              </a:spcBef>
              <a:buFont typeface="+mj-lt"/>
              <a:buAutoNum type="romanLcPeriod"/>
            </a:pPr>
            <a:endParaRPr lang="en-US" sz="2000" kern="0" dirty="0"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515072" y="2546218"/>
            <a:ext cx="264238" cy="246221"/>
          </a:xfrm>
          <a:prstGeom prst="rect">
            <a:avLst/>
          </a:prstGeom>
          <a:solidFill>
            <a:srgbClr val="CCECFF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1600" kern="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35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429621" y="4909513"/>
            <a:ext cx="10867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X] ≡ </a:t>
            </a:r>
            <a:r>
              <a:rPr lang="en-US" sz="160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25</a:t>
            </a:r>
            <a:r>
              <a:rPr lang="en-US" sz="1600" kern="0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endParaRPr lang="ru-RU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472441" y="3778625"/>
            <a:ext cx="688628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(1,</a:t>
            </a:r>
            <a:r>
              <a:rPr lang="en-US" sz="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0)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23596" y="2562418"/>
            <a:ext cx="234811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23596" y="2562418"/>
            <a:ext cx="234811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198140" y="3778625"/>
            <a:ext cx="264238" cy="246221"/>
          </a:xfrm>
          <a:prstGeom prst="rect">
            <a:avLst/>
          </a:prstGeom>
          <a:solidFill>
            <a:srgbClr val="FFCC99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1600" kern="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35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515072" y="2553194"/>
            <a:ext cx="26423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kern="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35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472443" y="2497534"/>
            <a:ext cx="5212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7472441" y="3778625"/>
            <a:ext cx="688628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(1,</a:t>
            </a:r>
            <a:r>
              <a:rPr lang="en-US" sz="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330261" y="2567742"/>
            <a:ext cx="234811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20206" y="2562417"/>
            <a:ext cx="234811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472443" y="2497534"/>
            <a:ext cx="5212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5720206" y="2562417"/>
            <a:ext cx="234811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472441" y="3778625"/>
            <a:ext cx="688628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(0,</a:t>
            </a:r>
            <a:r>
              <a:rPr lang="en-US" sz="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869268" y="2498080"/>
            <a:ext cx="5212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600" kern="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[X]</a:t>
            </a:r>
            <a:endParaRPr lang="ru-RU" dirty="0">
              <a:solidFill>
                <a:srgbClr val="061922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30261" y="2567742"/>
            <a:ext cx="234811" cy="246221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118906" y="2543856"/>
            <a:ext cx="264238" cy="246221"/>
          </a:xfrm>
          <a:prstGeom prst="rect">
            <a:avLst/>
          </a:prstGeom>
          <a:solidFill>
            <a:srgbClr val="CCECFF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16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45</a:t>
            </a:r>
            <a:endParaRPr lang="ru-RU" dirty="0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9685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222E-6 L 0.00399 -0.03218 L 0.00538 -0.05972 L 0.00399 -0.16991 L 0.00191 -0.20718 L -0.01407 -0.24283 L -0.0441 -0.26945 L -0.06945 -0.29792 L -0.07136 -0.32454 L -0.06875 -0.35116 " pathEditMode="relative" rAng="0" ptsTypes="AAAAAAAAAA">
                                      <p:cBhvr>
                                        <p:cTn id="26" dur="2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9" y="-1756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5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175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5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175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7" presetClass="emph" presetSubtype="0" repeatCount="2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75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2" dur="175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175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175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0.00121 0.02569 L 0.0033 0.06111 L 0.0026 0.11458 L 0.00399 0.16713 L 0.00399 0.16713 " pathEditMode="relative" ptsTypes="AAAAAA">
                                      <p:cBhvr>
                                        <p:cTn id="91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100"/>
                            </p:stCondLst>
                            <p:childTnLst>
                              <p:par>
                                <p:cTn id="96" presetID="2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5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175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 0.16736 L -0.02482 0.1618 L -0.05868 0.14861 L -0.09062 0.11921 L -0.12204 0.10046 L -0.1493 0.07199 L -0.16336 0.04907 L -0.17204 0.01597 L -0.17257 -0.0007 " pathEditMode="relative" ptsTypes="AAAAAAAAA">
                                      <p:cBhvr>
                                        <p:cTn id="105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4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100"/>
                            </p:stCondLst>
                            <p:childTnLst>
                              <p:par>
                                <p:cTn id="110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35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175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7.40741E-6 L -0.01268 0.01666 L -0.01927 0.03796 L -0.01268 0.06921 L 0.00937 0.09143 L 0.03194 0.11087 L 0.05677 0.12962 L 0.07396 0.14282 L 0.07743 0.16157 L 0.07812 0.17847 " pathEditMode="relative" ptsTypes="AAAAAAAAAA">
                                      <p:cBhvr>
                                        <p:cTn id="12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12 0.17847 L 0.10069 0.16157 L 0.11527 0.1375 L 0.12274 0.10625 L 0.12465 0.06898 L 0.13541 0.05393 L 0.15677 0.04328 L 0.16875 0.03171 L 0.16996 0.01481 L 0.17343 0.00069 L 0.17343 0.00069 " pathEditMode="relative" ptsTypes="AAAAAAAAAAA">
                                      <p:cBhvr>
                                        <p:cTn id="13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5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7" presetClass="emph" presetSubtype="0" repeatCount="2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175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4" dur="175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175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175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7" presetClass="emph" presetSubtype="0" repeatCount="2000" fill="remove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4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7" presetClass="emph" presetSubtype="0" repeatCount="2000" fill="remove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175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2" dur="175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175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175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7" presetClass="emph" presetSubtype="0" repeatCount="200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4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175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111E-6 L 0.00122 0.02569 L 0.0033 0.06111 L 0.0026 0.11458 L 0.00399 0.16713 L 0.00399 0.16736 " pathEditMode="relative" rAng="0" ptsTypes="AAAAAA">
                                      <p:cBhvr>
                                        <p:cTn id="19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8356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100"/>
                            </p:stCondLst>
                            <p:childTnLst>
                              <p:par>
                                <p:cTn id="203" presetID="27" presetClass="emph" presetSubtype="0" repeatCount="200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20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5" dur="20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20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20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0.16736 L -0.02483 0.1618 L -0.05868 0.14861 L -0.09063 0.11921 L -0.12205 0.10046 L -0.14931 0.07199 L -0.16337 0.04907 L -0.17205 0.01597 L -0.17257 -0.0007 " pathEditMode="relative" rAng="0" ptsTypes="AAAAAAAAA">
                                      <p:cBhvr>
                                        <p:cTn id="219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37" y="-8403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4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600"/>
                            </p:stCondLst>
                            <p:childTnLst>
                              <p:par>
                                <p:cTn id="228" presetID="27" presetClass="emph" presetSubtype="0" repeatCount="2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175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0" dur="175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1" dur="175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175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44444E-6 L 0.01163 0.04213 L 0.02604 0.06968 L 0.05313 0.09699 L 0.07986 0.11551 L 0.09809 0.13033 L 0.11875 0.14375 L 0.14584 0.15996 L 0.16042 0.16088 " pathEditMode="relative" ptsTypes="AAAAAAAAA">
                                      <p:cBhvr>
                                        <p:cTn id="23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2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2600"/>
                            </p:stCondLst>
                            <p:childTnLst>
                              <p:par>
                                <p:cTn id="248" presetID="27" presetClass="emph" presetSubtype="0" repeatCount="2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175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0" dur="175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175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175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72 0.15903 L 0.16962 0.1368 L 0.17969 0.10301 L 0.17691 0.05486 L 0.1757 1.11111E-6 " pathEditMode="relative" rAng="0" ptsTypes="AAAAA">
                                      <p:cBhvr>
                                        <p:cTn id="25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-7963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5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00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7" presetClass="emph" presetSubtype="0" repeatCount="2000" fill="remove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175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9" dur="175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0" dur="175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175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200"/>
                            </p:stCondLst>
                            <p:childTnLst>
                              <p:par>
                                <p:cTn id="2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36" grpId="1"/>
      <p:bldP spid="40" grpId="0"/>
      <p:bldP spid="51" grpId="0" animBg="1"/>
      <p:bldP spid="55" grpId="0" build="allAtOnce"/>
      <p:bldP spid="55" grpId="1" build="allAtOnce"/>
      <p:bldP spid="56" grpId="0" animBg="1"/>
      <p:bldP spid="56" grpId="1" animBg="1"/>
      <p:bldP spid="56" grpId="2" animBg="1"/>
      <p:bldP spid="57" grpId="0" animBg="1"/>
      <p:bldP spid="57" grpId="1" animBg="1"/>
      <p:bldP spid="58" grpId="0" animBg="1"/>
      <p:bldP spid="58" grpId="1" animBg="1"/>
      <p:bldP spid="59" grpId="0" animBg="1"/>
      <p:bldP spid="60" grpId="0"/>
      <p:bldP spid="60" grpId="1"/>
      <p:bldP spid="60" grpId="2"/>
      <p:bldP spid="60" grpId="3"/>
      <p:bldP spid="60" grpId="4"/>
      <p:bldP spid="60" grpId="5"/>
      <p:bldP spid="63" grpId="0"/>
      <p:bldP spid="63" grpId="1"/>
      <p:bldP spid="63" grpId="2"/>
      <p:bldP spid="63" grpId="3"/>
      <p:bldP spid="63" grpId="4"/>
      <p:bldP spid="63" grpId="5"/>
      <p:bldP spid="64" grpId="0" animBg="1"/>
      <p:bldP spid="64" grpId="1" animBg="1"/>
      <p:bldP spid="64" grpId="2" animBg="1"/>
      <p:bldP spid="65" grpId="0" animBg="1"/>
      <p:bldP spid="65" grpId="1" animBg="1"/>
      <p:bldP spid="65" grpId="2" animBg="1"/>
      <p:bldP spid="66" grpId="0" animBg="1"/>
      <p:bldP spid="66" grpId="1" animBg="1"/>
      <p:bldP spid="67" grpId="0"/>
      <p:bldP spid="67" grpId="1"/>
      <p:bldP spid="67" grpId="2"/>
      <p:bldP spid="67" grpId="3"/>
      <p:bldP spid="67" grpId="4"/>
      <p:bldP spid="67" grpId="5"/>
      <p:bldP spid="68" grpId="0" animBg="1"/>
      <p:bldP spid="68" grpId="1" animBg="1"/>
      <p:bldP spid="71" grpId="0" animBg="1"/>
      <p:bldP spid="71" grpId="1" animBg="1"/>
      <p:bldP spid="70" grpId="0"/>
      <p:bldP spid="70" grpId="1"/>
      <p:bldP spid="70" grpId="2"/>
      <p:bldP spid="70" grpId="3"/>
      <p:bldP spid="70" grpId="4"/>
      <p:bldP spid="70" grpId="5"/>
      <p:bldP spid="72" grpId="0" animBg="1"/>
      <p:bldP spid="72" grpId="1" animBg="1"/>
      <p:bldP spid="73" grpId="0" animBg="1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MESI State Diagram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492055" y="4523492"/>
            <a:ext cx="2114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R – read</a:t>
            </a:r>
          </a:p>
          <a:p>
            <a:r>
              <a:rPr lang="en-US" dirty="0" smtClean="0">
                <a:latin typeface="+mj-lt"/>
              </a:rPr>
              <a:t>W – write</a:t>
            </a:r>
          </a:p>
          <a:p>
            <a:r>
              <a:rPr lang="en-US" dirty="0" err="1" smtClean="0">
                <a:latin typeface="+mj-lt"/>
              </a:rPr>
              <a:t>Sh</a:t>
            </a:r>
            <a:r>
              <a:rPr lang="en-US" dirty="0" smtClean="0">
                <a:latin typeface="+mj-lt"/>
              </a:rPr>
              <a:t> – line shared</a:t>
            </a:r>
          </a:p>
          <a:p>
            <a:r>
              <a:rPr lang="en-US" dirty="0" smtClean="0">
                <a:latin typeface="+mj-lt"/>
              </a:rPr>
              <a:t>!</a:t>
            </a:r>
            <a:r>
              <a:rPr lang="en-US" dirty="0" err="1" smtClean="0">
                <a:latin typeface="+mj-lt"/>
              </a:rPr>
              <a:t>Sh</a:t>
            </a:r>
            <a:r>
              <a:rPr lang="en-US" dirty="0" smtClean="0">
                <a:latin typeface="+mj-lt"/>
              </a:rPr>
              <a:t> – line not shared</a:t>
            </a:r>
            <a:endParaRPr lang="ru-RU" dirty="0" smtClean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055" y="5723821"/>
            <a:ext cx="2435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SN – snoop</a:t>
            </a:r>
          </a:p>
          <a:p>
            <a:r>
              <a:rPr lang="en-US" dirty="0" smtClean="0">
                <a:latin typeface="+mj-lt"/>
              </a:rPr>
              <a:t>RO –</a:t>
            </a: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request ownership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1531254" y="1871368"/>
            <a:ext cx="975768" cy="88403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ru-RU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1531254" y="4557459"/>
            <a:ext cx="975768" cy="88403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ru-RU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4587282" y="4557459"/>
            <a:ext cx="975768" cy="88403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lang="ru-RU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587282" y="1871368"/>
            <a:ext cx="975768" cy="88403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endParaRPr lang="ru-RU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5075168" y="1229300"/>
            <a:ext cx="961731" cy="1084085"/>
            <a:chOff x="5075166" y="1229298"/>
            <a:chExt cx="961731" cy="1084085"/>
          </a:xfrm>
        </p:grpSpPr>
        <p:cxnSp>
          <p:nvCxnSpPr>
            <p:cNvPr id="2079" name="Curved Connector 2078"/>
            <p:cNvCxnSpPr>
              <a:stCxn id="10" idx="6"/>
              <a:endCxn id="10" idx="0"/>
            </p:cNvCxnSpPr>
            <p:nvPr/>
          </p:nvCxnSpPr>
          <p:spPr bwMode="auto">
            <a:xfrm flipH="1" flipV="1">
              <a:off x="5075166" y="1871368"/>
              <a:ext cx="487884" cy="442015"/>
            </a:xfrm>
            <a:prstGeom prst="curvedConnector4">
              <a:avLst>
                <a:gd name="adj1" fmla="val -52268"/>
                <a:gd name="adj2" fmla="val 157692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49" name="TextBox 48"/>
            <p:cNvSpPr txBox="1"/>
            <p:nvPr/>
          </p:nvSpPr>
          <p:spPr>
            <a:xfrm>
              <a:off x="5089202" y="1229298"/>
              <a:ext cx="9476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 or SN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075167" y="4999473"/>
            <a:ext cx="891591" cy="1084496"/>
            <a:chOff x="5075165" y="4999473"/>
            <a:chExt cx="891591" cy="1084496"/>
          </a:xfrm>
        </p:grpSpPr>
        <p:cxnSp>
          <p:nvCxnSpPr>
            <p:cNvPr id="2077" name="Curved Connector 2076"/>
            <p:cNvCxnSpPr>
              <a:stCxn id="9" idx="4"/>
              <a:endCxn id="9" idx="6"/>
            </p:cNvCxnSpPr>
            <p:nvPr/>
          </p:nvCxnSpPr>
          <p:spPr bwMode="auto">
            <a:xfrm rot="5400000" flipH="1" flipV="1">
              <a:off x="5098100" y="4976539"/>
              <a:ext cx="442015" cy="487884"/>
            </a:xfrm>
            <a:prstGeom prst="curvedConnector4">
              <a:avLst>
                <a:gd name="adj1" fmla="val -57692"/>
                <a:gd name="adj2" fmla="val 152268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84" name="TextBox 83"/>
            <p:cNvSpPr txBox="1"/>
            <p:nvPr/>
          </p:nvSpPr>
          <p:spPr>
            <a:xfrm>
              <a:off x="5075165" y="5683859"/>
              <a:ext cx="8915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 or W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194808" y="4999474"/>
            <a:ext cx="824331" cy="1047510"/>
            <a:chOff x="1194806" y="4999474"/>
            <a:chExt cx="824331" cy="1047510"/>
          </a:xfrm>
        </p:grpSpPr>
        <p:cxnSp>
          <p:nvCxnSpPr>
            <p:cNvPr id="2073" name="Curved Connector 2072"/>
            <p:cNvCxnSpPr>
              <a:stCxn id="8" idx="2"/>
              <a:endCxn id="8" idx="4"/>
            </p:cNvCxnSpPr>
            <p:nvPr/>
          </p:nvCxnSpPr>
          <p:spPr bwMode="auto">
            <a:xfrm rot="10800000" flipH="1" flipV="1">
              <a:off x="1531253" y="4999474"/>
              <a:ext cx="487884" cy="442015"/>
            </a:xfrm>
            <a:prstGeom prst="curvedConnector4">
              <a:avLst>
                <a:gd name="adj1" fmla="val -52268"/>
                <a:gd name="adj2" fmla="val 157692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85" name="TextBox 84"/>
            <p:cNvSpPr txBox="1"/>
            <p:nvPr/>
          </p:nvSpPr>
          <p:spPr>
            <a:xfrm>
              <a:off x="1194806" y="5646874"/>
              <a:ext cx="3241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835840" y="1228581"/>
            <a:ext cx="1183301" cy="1084803"/>
            <a:chOff x="835838" y="1228579"/>
            <a:chExt cx="1183301" cy="1084803"/>
          </a:xfrm>
        </p:grpSpPr>
        <p:cxnSp>
          <p:nvCxnSpPr>
            <p:cNvPr id="2075" name="Curved Connector 2074"/>
            <p:cNvCxnSpPr>
              <a:stCxn id="6" idx="0"/>
              <a:endCxn id="6" idx="2"/>
            </p:cNvCxnSpPr>
            <p:nvPr/>
          </p:nvCxnSpPr>
          <p:spPr bwMode="auto">
            <a:xfrm rot="16200000" flipH="1" flipV="1">
              <a:off x="1554189" y="1848433"/>
              <a:ext cx="442015" cy="487884"/>
            </a:xfrm>
            <a:prstGeom prst="curvedConnector4">
              <a:avLst>
                <a:gd name="adj1" fmla="val -57692"/>
                <a:gd name="adj2" fmla="val 152268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86" name="TextBox 85"/>
            <p:cNvSpPr txBox="1"/>
            <p:nvPr/>
          </p:nvSpPr>
          <p:spPr>
            <a:xfrm>
              <a:off x="835838" y="1228579"/>
              <a:ext cx="11151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SN or RO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507025" y="4999473"/>
            <a:ext cx="2080259" cy="400110"/>
            <a:chOff x="2507023" y="4999473"/>
            <a:chExt cx="2080259" cy="400110"/>
          </a:xfrm>
        </p:grpSpPr>
        <p:cxnSp>
          <p:nvCxnSpPr>
            <p:cNvPr id="27" name="Straight Arrow Connector 26"/>
            <p:cNvCxnSpPr>
              <a:stCxn id="8" idx="6"/>
              <a:endCxn id="9" idx="2"/>
            </p:cNvCxnSpPr>
            <p:nvPr/>
          </p:nvCxnSpPr>
          <p:spPr bwMode="auto">
            <a:xfrm>
              <a:off x="2507023" y="4999474"/>
              <a:ext cx="2080259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87" name="TextBox 86"/>
            <p:cNvSpPr txBox="1"/>
            <p:nvPr/>
          </p:nvSpPr>
          <p:spPr>
            <a:xfrm>
              <a:off x="3341005" y="4999473"/>
              <a:ext cx="412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W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874468" y="2755400"/>
            <a:ext cx="468398" cy="1802061"/>
            <a:chOff x="4874468" y="2755398"/>
            <a:chExt cx="468398" cy="1802061"/>
          </a:xfrm>
        </p:grpSpPr>
        <p:cxnSp>
          <p:nvCxnSpPr>
            <p:cNvPr id="25" name="Straight Arrow Connector 24"/>
            <p:cNvCxnSpPr>
              <a:stCxn id="9" idx="0"/>
              <a:endCxn id="10" idx="4"/>
            </p:cNvCxnSpPr>
            <p:nvPr/>
          </p:nvCxnSpPr>
          <p:spPr bwMode="auto">
            <a:xfrm flipV="1">
              <a:off x="5075166" y="2755398"/>
              <a:ext cx="0" cy="180206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88" name="TextBox 87"/>
            <p:cNvSpPr txBox="1"/>
            <p:nvPr/>
          </p:nvSpPr>
          <p:spPr>
            <a:xfrm>
              <a:off x="4874468" y="3492742"/>
              <a:ext cx="46839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SN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07025" y="1916815"/>
            <a:ext cx="2080259" cy="400110"/>
            <a:chOff x="2507023" y="1916815"/>
            <a:chExt cx="2080259" cy="400110"/>
          </a:xfrm>
        </p:grpSpPr>
        <p:cxnSp>
          <p:nvCxnSpPr>
            <p:cNvPr id="23" name="Straight Arrow Connector 22"/>
            <p:cNvCxnSpPr>
              <a:stCxn id="10" idx="2"/>
              <a:endCxn id="6" idx="6"/>
            </p:cNvCxnSpPr>
            <p:nvPr/>
          </p:nvCxnSpPr>
          <p:spPr bwMode="auto">
            <a:xfrm flipH="1">
              <a:off x="2507023" y="2313383"/>
              <a:ext cx="2080259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89" name="TextBox 88"/>
            <p:cNvSpPr txBox="1"/>
            <p:nvPr/>
          </p:nvSpPr>
          <p:spPr>
            <a:xfrm>
              <a:off x="3282565" y="1916815"/>
              <a:ext cx="491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RO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115705" y="2649661"/>
            <a:ext cx="1450511" cy="1949107"/>
            <a:chOff x="1115703" y="2649659"/>
            <a:chExt cx="1450511" cy="1949107"/>
          </a:xfrm>
        </p:grpSpPr>
        <p:sp>
          <p:nvSpPr>
            <p:cNvPr id="80" name="Arc 79"/>
            <p:cNvSpPr/>
            <p:nvPr/>
          </p:nvSpPr>
          <p:spPr bwMode="auto">
            <a:xfrm rot="5400000" flipV="1">
              <a:off x="1090283" y="3122835"/>
              <a:ext cx="1949107" cy="1002755"/>
            </a:xfrm>
            <a:prstGeom prst="arc">
              <a:avLst>
                <a:gd name="adj1" fmla="val 11587421"/>
                <a:gd name="adj2" fmla="val 2103035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115703" y="3568149"/>
              <a:ext cx="116891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 and !</a:t>
              </a:r>
              <a:r>
                <a:rPr lang="en-US" sz="2000" dirty="0" err="1">
                  <a:latin typeface="+mj-lt"/>
                </a:rPr>
                <a:t>Sh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90065" y="2553864"/>
            <a:ext cx="1805138" cy="2194531"/>
            <a:chOff x="590065" y="2553862"/>
            <a:chExt cx="1805138" cy="2194531"/>
          </a:xfrm>
        </p:grpSpPr>
        <p:sp>
          <p:nvSpPr>
            <p:cNvPr id="47" name="Arc 46"/>
            <p:cNvSpPr/>
            <p:nvPr/>
          </p:nvSpPr>
          <p:spPr bwMode="auto">
            <a:xfrm rot="16200000">
              <a:off x="497204" y="2850395"/>
              <a:ext cx="2194531" cy="1601466"/>
            </a:xfrm>
            <a:prstGeom prst="arc">
              <a:avLst>
                <a:gd name="adj1" fmla="val 10848722"/>
                <a:gd name="adj2" fmla="val 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90065" y="3104781"/>
              <a:ext cx="49154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RO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371209" y="1262126"/>
            <a:ext cx="2366054" cy="745788"/>
            <a:chOff x="2371209" y="1262126"/>
            <a:chExt cx="2366054" cy="745788"/>
          </a:xfrm>
        </p:grpSpPr>
        <p:cxnSp>
          <p:nvCxnSpPr>
            <p:cNvPr id="15" name="Curved Connector 14"/>
            <p:cNvCxnSpPr>
              <a:stCxn id="6" idx="7"/>
              <a:endCxn id="10" idx="1"/>
            </p:cNvCxnSpPr>
            <p:nvPr/>
          </p:nvCxnSpPr>
          <p:spPr bwMode="auto">
            <a:xfrm rot="5400000" flipH="1" flipV="1">
              <a:off x="3547152" y="817804"/>
              <a:ext cx="14167" cy="2366054"/>
            </a:xfrm>
            <a:prstGeom prst="curvedConnector3">
              <a:avLst>
                <a:gd name="adj1" fmla="val 3993827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93" name="TextBox 92"/>
            <p:cNvSpPr txBox="1"/>
            <p:nvPr/>
          </p:nvSpPr>
          <p:spPr>
            <a:xfrm>
              <a:off x="3026435" y="1262126"/>
              <a:ext cx="108555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 and </a:t>
              </a:r>
              <a:r>
                <a:rPr lang="en-US" sz="2000" dirty="0" err="1">
                  <a:latin typeface="+mj-lt"/>
                </a:rPr>
                <a:t>Sh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364127" y="2534393"/>
            <a:ext cx="2223157" cy="2152533"/>
            <a:chOff x="2364125" y="2534391"/>
            <a:chExt cx="2223157" cy="2152533"/>
          </a:xfrm>
        </p:grpSpPr>
        <p:cxnSp>
          <p:nvCxnSpPr>
            <p:cNvPr id="35" name="Curved Connector 34"/>
            <p:cNvCxnSpPr>
              <a:stCxn id="8" idx="7"/>
            </p:cNvCxnSpPr>
            <p:nvPr/>
          </p:nvCxnSpPr>
          <p:spPr bwMode="auto">
            <a:xfrm rot="5400000" flipH="1" flipV="1">
              <a:off x="2399437" y="2499079"/>
              <a:ext cx="2152533" cy="2223157"/>
            </a:xfrm>
            <a:prstGeom prst="curved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95" name="TextBox 94"/>
            <p:cNvSpPr txBox="1"/>
            <p:nvPr/>
          </p:nvSpPr>
          <p:spPr>
            <a:xfrm>
              <a:off x="2795908" y="3050963"/>
              <a:ext cx="46839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SN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439115" y="2534390"/>
            <a:ext cx="2291064" cy="2152532"/>
            <a:chOff x="2439115" y="2534390"/>
            <a:chExt cx="2291064" cy="2152532"/>
          </a:xfrm>
        </p:grpSpPr>
        <p:cxnSp>
          <p:nvCxnSpPr>
            <p:cNvPr id="33" name="Curved Connector 32"/>
            <p:cNvCxnSpPr>
              <a:stCxn id="9" idx="1"/>
            </p:cNvCxnSpPr>
            <p:nvPr/>
          </p:nvCxnSpPr>
          <p:spPr bwMode="auto">
            <a:xfrm rot="16200000" flipV="1">
              <a:off x="2508381" y="2465124"/>
              <a:ext cx="2152532" cy="2291064"/>
            </a:xfrm>
            <a:prstGeom prst="curved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96" name="TextBox 95"/>
            <p:cNvSpPr txBox="1"/>
            <p:nvPr/>
          </p:nvSpPr>
          <p:spPr>
            <a:xfrm>
              <a:off x="3732743" y="3003443"/>
              <a:ext cx="49154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RO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681478" y="2534390"/>
            <a:ext cx="1793026" cy="2194531"/>
            <a:chOff x="4681478" y="2534388"/>
            <a:chExt cx="1793026" cy="2194531"/>
          </a:xfrm>
        </p:grpSpPr>
        <p:sp>
          <p:nvSpPr>
            <p:cNvPr id="97" name="Arc 96"/>
            <p:cNvSpPr/>
            <p:nvPr/>
          </p:nvSpPr>
          <p:spPr bwMode="auto">
            <a:xfrm rot="16200000" flipH="1" flipV="1">
              <a:off x="4384945" y="2830921"/>
              <a:ext cx="2194531" cy="1601466"/>
            </a:xfrm>
            <a:prstGeom prst="arc">
              <a:avLst>
                <a:gd name="adj1" fmla="val 10848722"/>
                <a:gd name="adj2" fmla="val 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062212" y="3451073"/>
              <a:ext cx="41229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W</a:t>
              </a:r>
              <a:endParaRPr lang="ru-RU" sz="2000" dirty="0">
                <a:latin typeface="+mj-lt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019138" y="2755398"/>
            <a:ext cx="2643544" cy="2046792"/>
            <a:chOff x="2019138" y="2755398"/>
            <a:chExt cx="2643544" cy="2046792"/>
          </a:xfrm>
        </p:grpSpPr>
        <p:cxnSp>
          <p:nvCxnSpPr>
            <p:cNvPr id="104" name="Curved Connector 103"/>
            <p:cNvCxnSpPr>
              <a:endCxn id="6" idx="4"/>
            </p:cNvCxnSpPr>
            <p:nvPr/>
          </p:nvCxnSpPr>
          <p:spPr bwMode="auto">
            <a:xfrm rot="10800000">
              <a:off x="2019138" y="2755398"/>
              <a:ext cx="2643544" cy="2046792"/>
            </a:xfrm>
            <a:prstGeom prst="curved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90" name="TextBox 89"/>
            <p:cNvSpPr txBox="1"/>
            <p:nvPr/>
          </p:nvSpPr>
          <p:spPr>
            <a:xfrm>
              <a:off x="2893398" y="4114096"/>
              <a:ext cx="41229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W</a:t>
              </a:r>
              <a:endParaRPr lang="ru-RU" sz="2000" dirty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76323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HPC Alternative Topologies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SMP — Symmetric </a:t>
            </a:r>
            <a:r>
              <a:rPr lang="en-US" dirty="0"/>
              <a:t>Multi </a:t>
            </a:r>
            <a:r>
              <a:rPr lang="en-US" dirty="0" smtClean="0"/>
              <a:t>Processing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Identical processing units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Single shared memory, single bus, mesh interconnections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Low scalability (systems with &gt; 8 units will have performance problems)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NUMA — Non </a:t>
            </a:r>
            <a:r>
              <a:rPr lang="en-US" dirty="0"/>
              <a:t>Uniform Memory </a:t>
            </a:r>
            <a:r>
              <a:rPr lang="en-US" dirty="0" smtClean="0"/>
              <a:t>Access. A CPU can </a:t>
            </a:r>
            <a:r>
              <a:rPr lang="en-US" dirty="0"/>
              <a:t>access its own </a:t>
            </a:r>
            <a:r>
              <a:rPr lang="en-US" dirty="0" smtClean="0"/>
              <a:t>local memory </a:t>
            </a:r>
            <a:r>
              <a:rPr lang="en-US" dirty="0"/>
              <a:t>faster than non-local </a:t>
            </a:r>
            <a:r>
              <a:rPr lang="en-US" dirty="0" smtClean="0"/>
              <a:t>memory. 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Highly scalable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Requires </a:t>
            </a:r>
            <a:r>
              <a:rPr lang="en-US" dirty="0"/>
              <a:t>special coherency </a:t>
            </a:r>
            <a:r>
              <a:rPr lang="en-US" dirty="0" smtClean="0"/>
              <a:t>protocols and  </a:t>
            </a:r>
            <a:r>
              <a:rPr lang="en-US" dirty="0"/>
              <a:t>OS </a:t>
            </a:r>
            <a:r>
              <a:rPr lang="en-US" dirty="0" smtClean="0"/>
              <a:t>support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5137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3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609734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6500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1.2|64.2|1.4|1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30.8|68.6|4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18.8|42.4|6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7|10.2|20.3|2.8|2.9|3|5.1|2.6|1.4|1.2|4.1|5.4|8.5|1.6|2.9|19.2|1.9|46.8|2.7|1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20.2|12.7|2.8|41.2|128.9|3|13.2|2.2|10.7|15.9|3.6|16.1|5.5|4.9|5.4|5.7|11.4|4.6|2.6|2.5|3.9|28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3.6|5.4|5.4|2.4|4.1|32|12.2|11.9|6|7.7|8.9|7.6|27.9|3.1|2|2|3.6|7.2|5.3|5.5|9.5|8.8|1.9|7.9|5.3|8.9|7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6.6|22.1|7.1|1.2|12.3|8.9|11.2|14.4|2.5|8.9|7.9|15|14.6|1.6|5.4|6.7|18.9|1.3|13.7|9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8|47.6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15063</TotalTime>
  <Words>631</Words>
  <Application>Microsoft Office PowerPoint</Application>
  <PresentationFormat>On-screen Show (4:3)</PresentationFormat>
  <Paragraphs>198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ＭＳ Ｐゴシック</vt:lpstr>
      <vt:lpstr>ＭＳ Ｐゴシック</vt:lpstr>
      <vt:lpstr>Arial</vt:lpstr>
      <vt:lpstr>Calibri</vt:lpstr>
      <vt:lpstr>Consolas</vt:lpstr>
      <vt:lpstr>Neo Sans Intel</vt:lpstr>
      <vt:lpstr>Neo Sans Intel Light</vt:lpstr>
      <vt:lpstr>Neo Sans Intel Medium</vt:lpstr>
      <vt:lpstr>Symbol</vt:lpstr>
      <vt:lpstr>Times</vt:lpstr>
      <vt:lpstr>Verdana</vt:lpstr>
      <vt:lpstr>mdsp_2011</vt:lpstr>
      <vt:lpstr>Multiprocessor Systems</vt:lpstr>
      <vt:lpstr>Refresher: Intel CPUs timeline</vt:lpstr>
      <vt:lpstr>Motivation</vt:lpstr>
      <vt:lpstr>Thread-level parallelism</vt:lpstr>
      <vt:lpstr>Multiprocessor and Multicore</vt:lpstr>
      <vt:lpstr>Memory Coherence in Multicore/multiprocessor System</vt:lpstr>
      <vt:lpstr>Coherence protocol: MESI</vt:lpstr>
      <vt:lpstr>MESI Operating Example</vt:lpstr>
      <vt:lpstr>MESI State Diagram</vt:lpstr>
      <vt:lpstr>HPC Alternative Topologies</vt:lpstr>
      <vt:lpstr>The End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312</cp:revision>
  <dcterms:created xsi:type="dcterms:W3CDTF">2011-10-24T08:13:52Z</dcterms:created>
  <dcterms:modified xsi:type="dcterms:W3CDTF">2018-04-10T08:58:48Z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2018-04-10 08:58:48Z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