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116" d="100"/>
          <a:sy n="116" d="100"/>
        </p:scale>
        <p:origin x="3006" y="108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 Perf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2.5</c:v>
                </c:pt>
                <c:pt idx="3">
                  <c:v>2.75</c:v>
                </c:pt>
                <c:pt idx="4">
                  <c:v>2.8749999999999996</c:v>
                </c:pt>
                <c:pt idx="5">
                  <c:v>2.8999999999999995</c:v>
                </c:pt>
                <c:pt idx="6">
                  <c:v>2.8999999999999995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7211248"/>
        <c:axId val="537213992"/>
      </c:scatterChart>
      <c:valAx>
        <c:axId val="537211248"/>
        <c:scaling>
          <c:orientation val="minMax"/>
          <c:max val="7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Area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7213992"/>
        <c:crosses val="autoZero"/>
        <c:crossBetween val="midCat"/>
      </c:valAx>
      <c:valAx>
        <c:axId val="537213992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ST perf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72112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4/14/2018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4/14/2018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Здравствуйте!</a:t>
            </a:r>
            <a:r>
              <a:rPr lang="ru-RU" baseline="0" dirty="0" smtClean="0"/>
              <a:t> Сегодня мы поговорим с вами о такой технологии как одновременная </a:t>
            </a:r>
            <a:r>
              <a:rPr lang="ru-RU" baseline="0" dirty="0" err="1" smtClean="0"/>
              <a:t>многопоточность</a:t>
            </a:r>
            <a:r>
              <a:rPr lang="ru-RU" baseline="0" dirty="0" smtClean="0"/>
              <a:t> или </a:t>
            </a:r>
            <a:r>
              <a:rPr lang="en-US" baseline="0" dirty="0" smtClean="0"/>
              <a:t>SMT (</a:t>
            </a:r>
            <a:r>
              <a:rPr lang="ru-RU" baseline="0" dirty="0" smtClean="0"/>
              <a:t>от английского </a:t>
            </a:r>
            <a:r>
              <a:rPr lang="en-US" baseline="0" dirty="0" smtClean="0"/>
              <a:t>simultaneous multithreading). </a:t>
            </a:r>
            <a:r>
              <a:rPr lang="ru-RU" baseline="0" dirty="0" smtClean="0"/>
              <a:t>Несмотря на то что это техника является самостоятельной и самодостаточной, эта лекция является логическим продолжением темы, рассказанной ранее Павлом, под названием </a:t>
            </a:r>
            <a:r>
              <a:rPr lang="en-US" baseline="0" dirty="0" smtClean="0"/>
              <a:t>“</a:t>
            </a:r>
            <a:r>
              <a:rPr lang="ru-RU" baseline="0" dirty="0" smtClean="0"/>
              <a:t>Многопроцессорные системы</a:t>
            </a:r>
            <a:r>
              <a:rPr lang="en-US" baseline="0" dirty="0" smtClean="0"/>
              <a:t>”.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971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Сразу</a:t>
            </a:r>
            <a:r>
              <a:rPr lang="ru-RU" baseline="0" dirty="0" smtClean="0"/>
              <a:t> обращаясь к прошлой лекции, хочу напомнить вам о том, что увеличение производительности микропроцессора в режиме </a:t>
            </a:r>
            <a:r>
              <a:rPr lang="en-US" baseline="0" dirty="0" smtClean="0"/>
              <a:t>single-thread </a:t>
            </a:r>
            <a:r>
              <a:rPr lang="ru-RU" baseline="0" dirty="0" smtClean="0"/>
              <a:t>(т.е. в режиме исполнения одного потока) становится всё более сложной задачей. </a:t>
            </a:r>
          </a:p>
          <a:p>
            <a:endParaRPr lang="ru-RU" baseline="0" dirty="0" smtClean="0"/>
          </a:p>
          <a:p>
            <a:r>
              <a:rPr lang="ru-RU" baseline="0" dirty="0" smtClean="0"/>
              <a:t>Если мы обратимся к графику зависимости роста производительности от площади кристалла то мы увидим, что с некоторого момента рост производительности перестает быть линейным. В данном случае даже увеличив площадь (и соответственно энергопотребление) кристалла в 6 раз, потенциально мы получим ускорение не более чем в 3 раза.</a:t>
            </a:r>
          </a:p>
          <a:p>
            <a:endParaRPr lang="ru-RU" baseline="0" dirty="0" smtClean="0"/>
          </a:p>
          <a:p>
            <a:r>
              <a:rPr lang="ru-RU" baseline="0" dirty="0" smtClean="0"/>
              <a:t>Одним из методов решения этой проблемы, с которым вы познакомились ранее, является построение многопроцессорных систем. Вы можете разместить на площади 6</a:t>
            </a:r>
            <a:r>
              <a:rPr lang="en-US" baseline="0" dirty="0" smtClean="0"/>
              <a:t>X</a:t>
            </a:r>
            <a:r>
              <a:rPr lang="ru-RU" baseline="0" dirty="0" smtClean="0"/>
              <a:t> три маленьких ядра, каждый площадью 2</a:t>
            </a:r>
            <a:r>
              <a:rPr lang="en-US" baseline="0" dirty="0" smtClean="0"/>
              <a:t>x </a:t>
            </a:r>
            <a:r>
              <a:rPr lang="ru-RU" baseline="0" dirty="0" smtClean="0"/>
              <a:t>и получить прирост производительности 6</a:t>
            </a:r>
            <a:r>
              <a:rPr lang="en-US" baseline="0" dirty="0" smtClean="0"/>
              <a:t>x</a:t>
            </a:r>
            <a:r>
              <a:rPr lang="ru-RU" baseline="0" dirty="0" smtClean="0"/>
              <a:t> в случае, если у вас имеется несколько приложений (или т.н. потоков), которые вы можете исполнить в параллель.</a:t>
            </a:r>
          </a:p>
          <a:p>
            <a:endParaRPr lang="ru-RU" baseline="0" dirty="0" smtClean="0"/>
          </a:p>
          <a:p>
            <a:r>
              <a:rPr lang="ru-RU" baseline="0" dirty="0" smtClean="0"/>
              <a:t>Прежде чем перейти к еще одному методу решения проблемы увеличения производительности, я бы хотел подробнее остановится на причинах плохого роста производительности в </a:t>
            </a:r>
            <a:r>
              <a:rPr lang="en-US" baseline="0" dirty="0" smtClean="0"/>
              <a:t>single-thread </a:t>
            </a:r>
            <a:r>
              <a:rPr lang="ru-RU" baseline="0" dirty="0" smtClean="0"/>
              <a:t>режиме.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28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09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00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625000"/>
            <a:ext cx="6169959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1" y="4353387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2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2" y="2363974"/>
            <a:ext cx="6169959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69536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5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2" y="2727581"/>
            <a:ext cx="6169959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30942"/>
          </a:xfrm>
        </p:spPr>
        <p:txBody>
          <a:bodyPr wrap="square">
            <a:spAutoFit/>
          </a:bodyPr>
          <a:lstStyle>
            <a:lvl1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3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3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7" y="584203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4" y="1379540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40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3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3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3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2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4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6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60188" y="2456633"/>
            <a:ext cx="5631350" cy="569387"/>
          </a:xfrm>
        </p:spPr>
        <p:txBody>
          <a:bodyPr rIns="0" anchor="b"/>
          <a:lstStyle/>
          <a:p>
            <a:pPr>
              <a:spcAft>
                <a:spcPts val="1200"/>
              </a:spcAft>
            </a:pPr>
            <a:r>
              <a:rPr lang="en-US" sz="3700" dirty="0"/>
              <a:t>Simultaneous Multithreading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60188" y="3264183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Igor Smirnov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14</a:t>
            </a:r>
            <a:r>
              <a:rPr lang="en-US" dirty="0" smtClean="0"/>
              <a:t> </a:t>
            </a:r>
            <a:r>
              <a:rPr lang="en-US" dirty="0" smtClean="0"/>
              <a:t>April </a:t>
            </a:r>
            <a:r>
              <a:rPr lang="en-US" dirty="0" smtClean="0"/>
              <a:t>2018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720447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Motivation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41669" y="976285"/>
            <a:ext cx="8822028" cy="570411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/>
              <a:t>Increasing </a:t>
            </a:r>
            <a:r>
              <a:rPr lang="en-US" dirty="0" smtClean="0"/>
              <a:t>ST performance </a:t>
            </a:r>
            <a:r>
              <a:rPr lang="en-US" dirty="0"/>
              <a:t>becomes </a:t>
            </a:r>
            <a:r>
              <a:rPr lang="en-US" dirty="0" smtClean="0"/>
              <a:t>harder and less power efficient</a:t>
            </a: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Area budget can be divided in several ways: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Single core 	— 6x area, 2.9 performance boost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3 smaller cores 	— 2x area, 2.0 performance boost each</a:t>
            </a:r>
            <a:br>
              <a:rPr lang="en-US" dirty="0" smtClean="0"/>
            </a:br>
            <a:r>
              <a:rPr lang="en-US" dirty="0" smtClean="0"/>
              <a:t>			— 6x area, 6.0 performance boost total!</a:t>
            </a: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lang="en-US" dirty="0" smtClean="0">
              <a:latin typeface="+mn-lt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/>
          </p:nvPr>
        </p:nvGraphicFramePr>
        <p:xfrm>
          <a:off x="2109520" y="1546136"/>
          <a:ext cx="4886325" cy="2838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061681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  <p:bldGraphic spid="10" grpId="0">
        <p:bldAsOne/>
      </p:bldGraphic>
    </p:bld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ST performance doesn’t increase?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07" y="1059931"/>
            <a:ext cx="4754055" cy="5101172"/>
          </a:xfrm>
        </p:spPr>
        <p:txBody>
          <a:bodyPr/>
          <a:lstStyle/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Most applications’ sustained throughput &lt;&lt; the </a:t>
            </a:r>
            <a:r>
              <a:rPr lang="en-US" sz="2000" dirty="0" smtClean="0"/>
              <a:t>peak </a:t>
            </a:r>
            <a:r>
              <a:rPr lang="en-US" sz="2000" dirty="0"/>
              <a:t>IPC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No ILP can be extracted </a:t>
            </a:r>
            <a:r>
              <a:rPr lang="en-US" sz="2000" dirty="0" smtClean="0">
                <a:solidFill>
                  <a:schemeClr val="tx2"/>
                </a:solidFill>
                <a:sym typeface="Wingdings" panose="05000000000000000000" pitchFamily="2" charset="2"/>
              </a:rPr>
              <a:t> CPU resources are not used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  <a:sym typeface="Wingdings" panose="05000000000000000000" pitchFamily="2" charset="2"/>
              </a:rPr>
              <a:t>Pipeline stall</a:t>
            </a:r>
            <a:r>
              <a:rPr lang="ru-RU" sz="200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smtClean="0">
                <a:solidFill>
                  <a:schemeClr val="tx2"/>
                </a:solidFill>
                <a:sym typeface="Wingdings" panose="05000000000000000000" pitchFamily="2" charset="2"/>
              </a:rPr>
              <a:t>(e.g. cache miss) prevents forward execution</a:t>
            </a: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What is the solution? </a:t>
            </a:r>
            <a:r>
              <a:rPr lang="en-US" sz="2000" dirty="0" smtClean="0">
                <a:ea typeface="+mn-ea"/>
              </a:rPr>
              <a:t>The solution is to run 2</a:t>
            </a:r>
            <a:r>
              <a:rPr lang="en-US" sz="2000" baseline="30000" dirty="0" smtClean="0">
                <a:ea typeface="+mn-ea"/>
              </a:rPr>
              <a:t>nd</a:t>
            </a:r>
            <a:r>
              <a:rPr lang="en-US" sz="2000" dirty="0" smtClean="0">
                <a:ea typeface="+mn-ea"/>
              </a:rPr>
              <a:t> application on the same resources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  <a:ea typeface="+mn-ea"/>
              </a:rPr>
              <a:t>CPU resources are utilized</a:t>
            </a:r>
          </a:p>
          <a:p>
            <a:pPr marL="688975" lvl="1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2"/>
                </a:solidFill>
                <a:ea typeface="+mn-ea"/>
              </a:rPr>
              <a:t>Stalls are hidden by other thread processing</a:t>
            </a:r>
          </a:p>
          <a:p>
            <a:pPr marL="342900" indent="-34290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Ok, where can one find the 2</a:t>
            </a:r>
            <a:r>
              <a:rPr lang="en-US" sz="1800" baseline="30000" dirty="0" smtClean="0"/>
              <a:t>nd</a:t>
            </a:r>
            <a:r>
              <a:rPr lang="en-US" sz="1800" dirty="0" smtClean="0"/>
              <a:t> application?</a:t>
            </a:r>
            <a:endParaRPr lang="en-US" sz="1800" dirty="0">
              <a:ea typeface="+mn-ea"/>
            </a:endParaRPr>
          </a:p>
        </p:txBody>
      </p:sp>
      <p:grpSp>
        <p:nvGrpSpPr>
          <p:cNvPr id="145" name="Group 144"/>
          <p:cNvGrpSpPr/>
          <p:nvPr/>
        </p:nvGrpSpPr>
        <p:grpSpPr>
          <a:xfrm>
            <a:off x="6071250" y="3266191"/>
            <a:ext cx="2136846" cy="1381876"/>
            <a:chOff x="5893826" y="3266191"/>
            <a:chExt cx="2136846" cy="1381876"/>
          </a:xfrm>
        </p:grpSpPr>
        <p:sp>
          <p:nvSpPr>
            <p:cNvPr id="68" name="Rounded Rectangle 67"/>
            <p:cNvSpPr/>
            <p:nvPr/>
          </p:nvSpPr>
          <p:spPr bwMode="auto">
            <a:xfrm>
              <a:off x="5893826" y="3573968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9" name="Rounded Rectangle 68"/>
            <p:cNvSpPr/>
            <p:nvPr/>
          </p:nvSpPr>
          <p:spPr bwMode="auto">
            <a:xfrm>
              <a:off x="6331219" y="3573968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1" name="Rounded Rectangle 70"/>
            <p:cNvSpPr/>
            <p:nvPr/>
          </p:nvSpPr>
          <p:spPr bwMode="auto">
            <a:xfrm>
              <a:off x="6763093" y="3573968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2" name="Rounded Rectangle 71"/>
            <p:cNvSpPr/>
            <p:nvPr/>
          </p:nvSpPr>
          <p:spPr bwMode="auto">
            <a:xfrm>
              <a:off x="7200486" y="3573968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3" name="Rounded Rectangle 72"/>
            <p:cNvSpPr/>
            <p:nvPr/>
          </p:nvSpPr>
          <p:spPr bwMode="auto">
            <a:xfrm>
              <a:off x="7625628" y="3573968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5" name="Rounded Rectangle 74"/>
            <p:cNvSpPr/>
            <p:nvPr/>
          </p:nvSpPr>
          <p:spPr bwMode="auto">
            <a:xfrm>
              <a:off x="5894058" y="3789965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6" name="Rounded Rectangle 75"/>
            <p:cNvSpPr/>
            <p:nvPr/>
          </p:nvSpPr>
          <p:spPr bwMode="auto">
            <a:xfrm>
              <a:off x="6331451" y="3789965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7" name="Rounded Rectangle 76"/>
            <p:cNvSpPr/>
            <p:nvPr/>
          </p:nvSpPr>
          <p:spPr bwMode="auto">
            <a:xfrm>
              <a:off x="6763325" y="3789965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8" name="Rounded Rectangle 77"/>
            <p:cNvSpPr/>
            <p:nvPr/>
          </p:nvSpPr>
          <p:spPr bwMode="auto">
            <a:xfrm>
              <a:off x="7200718" y="3789965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9" name="Rounded Rectangle 78"/>
            <p:cNvSpPr/>
            <p:nvPr/>
          </p:nvSpPr>
          <p:spPr bwMode="auto">
            <a:xfrm>
              <a:off x="7625860" y="3789965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0" name="Rounded Rectangle 79"/>
            <p:cNvSpPr/>
            <p:nvPr/>
          </p:nvSpPr>
          <p:spPr bwMode="auto">
            <a:xfrm>
              <a:off x="5893826" y="4013386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1" name="Rounded Rectangle 80"/>
            <p:cNvSpPr/>
            <p:nvPr/>
          </p:nvSpPr>
          <p:spPr bwMode="auto">
            <a:xfrm>
              <a:off x="6331219" y="4013386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2" name="Rounded Rectangle 81"/>
            <p:cNvSpPr/>
            <p:nvPr/>
          </p:nvSpPr>
          <p:spPr bwMode="auto">
            <a:xfrm>
              <a:off x="6763093" y="4013386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3" name="Rounded Rectangle 82"/>
            <p:cNvSpPr/>
            <p:nvPr/>
          </p:nvSpPr>
          <p:spPr bwMode="auto">
            <a:xfrm>
              <a:off x="7200486" y="4013386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4" name="Rounded Rectangle 83"/>
            <p:cNvSpPr/>
            <p:nvPr/>
          </p:nvSpPr>
          <p:spPr bwMode="auto">
            <a:xfrm>
              <a:off x="7625628" y="4013386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5" name="Rounded Rectangle 84"/>
            <p:cNvSpPr/>
            <p:nvPr/>
          </p:nvSpPr>
          <p:spPr bwMode="auto">
            <a:xfrm>
              <a:off x="5893826" y="42340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6" name="Rounded Rectangle 85"/>
            <p:cNvSpPr/>
            <p:nvPr/>
          </p:nvSpPr>
          <p:spPr bwMode="auto">
            <a:xfrm>
              <a:off x="6331219" y="42340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7" name="Rounded Rectangle 86"/>
            <p:cNvSpPr/>
            <p:nvPr/>
          </p:nvSpPr>
          <p:spPr bwMode="auto">
            <a:xfrm>
              <a:off x="6763093" y="42340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8" name="Rounded Rectangle 87"/>
            <p:cNvSpPr/>
            <p:nvPr/>
          </p:nvSpPr>
          <p:spPr bwMode="auto">
            <a:xfrm>
              <a:off x="7200486" y="42340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9" name="Rounded Rectangle 88"/>
            <p:cNvSpPr/>
            <p:nvPr/>
          </p:nvSpPr>
          <p:spPr bwMode="auto">
            <a:xfrm>
              <a:off x="7625628" y="42340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0" name="Rounded Rectangle 89"/>
            <p:cNvSpPr/>
            <p:nvPr/>
          </p:nvSpPr>
          <p:spPr bwMode="auto">
            <a:xfrm>
              <a:off x="5893826" y="44528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1" name="Rounded Rectangle 90"/>
            <p:cNvSpPr/>
            <p:nvPr/>
          </p:nvSpPr>
          <p:spPr bwMode="auto">
            <a:xfrm>
              <a:off x="6331219" y="44528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2" name="Rounded Rectangle 91"/>
            <p:cNvSpPr/>
            <p:nvPr/>
          </p:nvSpPr>
          <p:spPr bwMode="auto">
            <a:xfrm>
              <a:off x="6763093" y="44528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3" name="Rounded Rectangle 92"/>
            <p:cNvSpPr/>
            <p:nvPr/>
          </p:nvSpPr>
          <p:spPr bwMode="auto">
            <a:xfrm>
              <a:off x="7200486" y="44528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4" name="Rounded Rectangle 93"/>
            <p:cNvSpPr/>
            <p:nvPr/>
          </p:nvSpPr>
          <p:spPr bwMode="auto">
            <a:xfrm>
              <a:off x="7625628" y="4452804"/>
              <a:ext cx="404812" cy="19526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965451" y="3266191"/>
              <a:ext cx="20649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Neo Sans Intel" panose="020B0504020202020204" pitchFamily="34" charset="0"/>
                </a:rPr>
                <a:t>Schedule queue entries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5414798" y="1041647"/>
            <a:ext cx="1399550" cy="1798537"/>
            <a:chOff x="5414798" y="1041647"/>
            <a:chExt cx="1399550" cy="1798537"/>
          </a:xfrm>
        </p:grpSpPr>
        <p:sp>
          <p:nvSpPr>
            <p:cNvPr id="34" name="Oval 33"/>
            <p:cNvSpPr/>
            <p:nvPr/>
          </p:nvSpPr>
          <p:spPr bwMode="auto">
            <a:xfrm>
              <a:off x="5572580" y="1812180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smtClean="0">
                  <a:latin typeface="+mj-lt"/>
                  <a:cs typeface="Arial" pitchFamily="34" charset="0"/>
                </a:rPr>
                <a:t>1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>
              <a:off x="6082647" y="1812180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>
                  <a:latin typeface="+mj-lt"/>
                  <a:cs typeface="Arial" pitchFamily="34" charset="0"/>
                </a:rPr>
                <a:t>2</a:t>
              </a:r>
              <a:r>
                <a:rPr lang="en-US" sz="1200" dirty="0" smtClean="0">
                  <a:latin typeface="+mj-lt"/>
                  <a:cs typeface="Arial" pitchFamily="34" charset="0"/>
                </a:rPr>
                <a:t>	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6617219" y="1812180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smtClean="0">
                  <a:latin typeface="+mj-lt"/>
                  <a:cs typeface="Arial" pitchFamily="34" charset="0"/>
                </a:rPr>
                <a:t>3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0" name="Oval 49"/>
            <p:cNvSpPr/>
            <p:nvPr/>
          </p:nvSpPr>
          <p:spPr bwMode="auto">
            <a:xfrm>
              <a:off x="5808190" y="2236042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 smtClean="0">
                  <a:latin typeface="+mj-lt"/>
                  <a:cs typeface="Arial" pitchFamily="34" charset="0"/>
                </a:rPr>
                <a:t>4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6344436" y="2236042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>
                  <a:latin typeface="+mj-lt"/>
                  <a:cs typeface="Arial" pitchFamily="34" charset="0"/>
                </a:rPr>
                <a:t>5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6086741" y="2650717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>
                  <a:latin typeface="+mj-lt"/>
                  <a:cs typeface="Arial" pitchFamily="34" charset="0"/>
                </a:rPr>
                <a:t>6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54" name="Straight Arrow Connector 53"/>
            <p:cNvCxnSpPr/>
            <p:nvPr/>
          </p:nvCxnSpPr>
          <p:spPr bwMode="auto">
            <a:xfrm>
              <a:off x="5701718" y="1999266"/>
              <a:ext cx="156936" cy="23677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D21E1E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56" name="Straight Arrow Connector 55"/>
            <p:cNvCxnSpPr/>
            <p:nvPr/>
          </p:nvCxnSpPr>
          <p:spPr bwMode="auto">
            <a:xfrm>
              <a:off x="6241293" y="1994724"/>
              <a:ext cx="156936" cy="23677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D21E1E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57" name="Straight Arrow Connector 56"/>
            <p:cNvCxnSpPr/>
            <p:nvPr/>
          </p:nvCxnSpPr>
          <p:spPr bwMode="auto">
            <a:xfrm>
              <a:off x="5963610" y="2415210"/>
              <a:ext cx="174633" cy="23312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D21E1E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63" name="Straight Arrow Connector 62"/>
            <p:cNvCxnSpPr/>
            <p:nvPr/>
          </p:nvCxnSpPr>
          <p:spPr bwMode="auto">
            <a:xfrm flipH="1">
              <a:off x="6493474" y="1989071"/>
              <a:ext cx="150709" cy="23957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D21E1E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65" name="Straight Arrow Connector 64"/>
            <p:cNvCxnSpPr/>
            <p:nvPr/>
          </p:nvCxnSpPr>
          <p:spPr bwMode="auto">
            <a:xfrm flipH="1">
              <a:off x="6234581" y="2418371"/>
              <a:ext cx="150709" cy="239574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95" name="TextBox 94"/>
            <p:cNvSpPr txBox="1"/>
            <p:nvPr/>
          </p:nvSpPr>
          <p:spPr>
            <a:xfrm>
              <a:off x="5414798" y="1041647"/>
              <a:ext cx="1399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Data Flow Graph</a:t>
              </a:r>
            </a:p>
          </p:txBody>
        </p:sp>
        <p:sp>
          <p:nvSpPr>
            <p:cNvPr id="97" name="Oval 96"/>
            <p:cNvSpPr/>
            <p:nvPr/>
          </p:nvSpPr>
          <p:spPr bwMode="auto">
            <a:xfrm>
              <a:off x="6084545" y="1381440"/>
              <a:ext cx="186834" cy="189467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>
                  <a:latin typeface="+mj-lt"/>
                  <a:cs typeface="Arial" pitchFamily="34" charset="0"/>
                </a:rPr>
                <a:t>0</a:t>
              </a:r>
              <a:r>
                <a:rPr lang="en-US" sz="1200" dirty="0" smtClean="0">
                  <a:latin typeface="+mj-lt"/>
                  <a:cs typeface="Arial" pitchFamily="34" charset="0"/>
                </a:rPr>
                <a:t>	</a:t>
              </a:r>
              <a:endParaRPr lang="en-US" sz="1400" dirty="0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00" name="Straight Arrow Connector 99"/>
            <p:cNvCxnSpPr/>
            <p:nvPr/>
          </p:nvCxnSpPr>
          <p:spPr bwMode="auto">
            <a:xfrm flipH="1">
              <a:off x="5738403" y="1548416"/>
              <a:ext cx="350594" cy="28516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02" name="Straight Arrow Connector 101"/>
            <p:cNvCxnSpPr/>
            <p:nvPr/>
          </p:nvCxnSpPr>
          <p:spPr bwMode="auto">
            <a:xfrm>
              <a:off x="6261855" y="1546934"/>
              <a:ext cx="373201" cy="28585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04" name="Straight Arrow Connector 103"/>
            <p:cNvCxnSpPr/>
            <p:nvPr/>
          </p:nvCxnSpPr>
          <p:spPr bwMode="auto">
            <a:xfrm>
              <a:off x="6172251" y="1593399"/>
              <a:ext cx="3813" cy="20925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136" name="Rounded Rectangle 135"/>
          <p:cNvSpPr/>
          <p:nvPr/>
        </p:nvSpPr>
        <p:spPr bwMode="auto">
          <a:xfrm>
            <a:off x="6071250" y="4452616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0</a:t>
            </a:r>
          </a:p>
        </p:txBody>
      </p:sp>
      <p:sp>
        <p:nvSpPr>
          <p:cNvPr id="139" name="Rounded Rectangle 138"/>
          <p:cNvSpPr/>
          <p:nvPr/>
        </p:nvSpPr>
        <p:spPr bwMode="auto">
          <a:xfrm>
            <a:off x="6067177" y="4231998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</a:p>
        </p:txBody>
      </p:sp>
      <p:sp>
        <p:nvSpPr>
          <p:cNvPr id="140" name="Rounded Rectangle 139"/>
          <p:cNvSpPr/>
          <p:nvPr/>
        </p:nvSpPr>
        <p:spPr bwMode="auto">
          <a:xfrm>
            <a:off x="6509208" y="4233816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</a:p>
        </p:txBody>
      </p:sp>
      <p:sp>
        <p:nvSpPr>
          <p:cNvPr id="141" name="Rounded Rectangle 140"/>
          <p:cNvSpPr/>
          <p:nvPr/>
        </p:nvSpPr>
        <p:spPr bwMode="auto">
          <a:xfrm>
            <a:off x="6935225" y="4233816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  <a:endParaRPr lang="en-US" sz="1600" dirty="0" smtClean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42" name="Rounded Rectangle 141"/>
          <p:cNvSpPr/>
          <p:nvPr/>
        </p:nvSpPr>
        <p:spPr bwMode="auto">
          <a:xfrm>
            <a:off x="6067177" y="4017194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4</a:t>
            </a:r>
          </a:p>
        </p:txBody>
      </p:sp>
      <p:sp>
        <p:nvSpPr>
          <p:cNvPr id="143" name="Rounded Rectangle 142"/>
          <p:cNvSpPr/>
          <p:nvPr/>
        </p:nvSpPr>
        <p:spPr bwMode="auto">
          <a:xfrm>
            <a:off x="6506482" y="4020531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5</a:t>
            </a:r>
          </a:p>
        </p:txBody>
      </p:sp>
      <p:sp>
        <p:nvSpPr>
          <p:cNvPr id="144" name="Rounded Rectangle 143"/>
          <p:cNvSpPr/>
          <p:nvPr/>
        </p:nvSpPr>
        <p:spPr bwMode="auto">
          <a:xfrm>
            <a:off x="6069035" y="3789776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6</a:t>
            </a:r>
          </a:p>
        </p:txBody>
      </p:sp>
      <p:sp>
        <p:nvSpPr>
          <p:cNvPr id="156" name="Flowchart: Manual Operation 155"/>
          <p:cNvSpPr/>
          <p:nvPr/>
        </p:nvSpPr>
        <p:spPr bwMode="auto">
          <a:xfrm>
            <a:off x="5871921" y="5254410"/>
            <a:ext cx="534572" cy="312319"/>
          </a:xfrm>
          <a:prstGeom prst="flowChartManualOperation">
            <a:avLst/>
          </a:prstGeom>
          <a:solidFill>
            <a:schemeClr val="tx2">
              <a:lumMod val="20000"/>
              <a:lumOff val="8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 smtClean="0">
                <a:latin typeface="+mj-lt"/>
                <a:cs typeface="Arial" pitchFamily="34" charset="0"/>
              </a:rPr>
              <a:t>EXE</a:t>
            </a:r>
          </a:p>
        </p:txBody>
      </p:sp>
      <p:sp>
        <p:nvSpPr>
          <p:cNvPr id="160" name="Flowchart: Manual Operation 159"/>
          <p:cNvSpPr/>
          <p:nvPr/>
        </p:nvSpPr>
        <p:spPr bwMode="auto">
          <a:xfrm>
            <a:off x="6506482" y="5254410"/>
            <a:ext cx="534572" cy="312319"/>
          </a:xfrm>
          <a:prstGeom prst="flowChartManualOperation">
            <a:avLst/>
          </a:prstGeom>
          <a:solidFill>
            <a:schemeClr val="tx2">
              <a:lumMod val="20000"/>
              <a:lumOff val="8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 smtClean="0">
                <a:latin typeface="+mj-lt"/>
                <a:cs typeface="Arial" pitchFamily="34" charset="0"/>
              </a:rPr>
              <a:t>EXE</a:t>
            </a:r>
          </a:p>
        </p:txBody>
      </p:sp>
      <p:sp>
        <p:nvSpPr>
          <p:cNvPr id="161" name="Flowchart: Manual Operation 160"/>
          <p:cNvSpPr/>
          <p:nvPr/>
        </p:nvSpPr>
        <p:spPr bwMode="auto">
          <a:xfrm>
            <a:off x="7137631" y="5254410"/>
            <a:ext cx="534572" cy="312319"/>
          </a:xfrm>
          <a:prstGeom prst="flowChartManualOperation">
            <a:avLst/>
          </a:prstGeom>
          <a:solidFill>
            <a:schemeClr val="tx2">
              <a:lumMod val="20000"/>
              <a:lumOff val="8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 smtClean="0">
                <a:latin typeface="+mj-lt"/>
                <a:cs typeface="Arial" pitchFamily="34" charset="0"/>
              </a:rPr>
              <a:t>EXE</a:t>
            </a:r>
          </a:p>
        </p:txBody>
      </p:sp>
      <p:sp>
        <p:nvSpPr>
          <p:cNvPr id="162" name="Flowchart: Manual Operation 161"/>
          <p:cNvSpPr/>
          <p:nvPr/>
        </p:nvSpPr>
        <p:spPr bwMode="auto">
          <a:xfrm>
            <a:off x="7768780" y="5254410"/>
            <a:ext cx="534572" cy="312319"/>
          </a:xfrm>
          <a:prstGeom prst="flowChartManualOperation">
            <a:avLst/>
          </a:prstGeom>
          <a:solidFill>
            <a:schemeClr val="tx2">
              <a:lumMod val="20000"/>
              <a:lumOff val="80000"/>
            </a:schemeClr>
          </a:solidFill>
          <a:ln w="3175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dirty="0" smtClean="0">
                <a:latin typeface="+mj-lt"/>
                <a:cs typeface="Arial" pitchFamily="34" charset="0"/>
              </a:rPr>
              <a:t>EXE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21350" y="1041113"/>
            <a:ext cx="1250727" cy="1806299"/>
            <a:chOff x="7321350" y="1041113"/>
            <a:chExt cx="1250727" cy="1806299"/>
          </a:xfrm>
        </p:grpSpPr>
        <p:grpSp>
          <p:nvGrpSpPr>
            <p:cNvPr id="164" name="Group 163"/>
            <p:cNvGrpSpPr/>
            <p:nvPr/>
          </p:nvGrpSpPr>
          <p:grpSpPr>
            <a:xfrm>
              <a:off x="7838429" y="1379444"/>
              <a:ext cx="188732" cy="1467968"/>
              <a:chOff x="8168629" y="1379444"/>
              <a:chExt cx="188732" cy="1467968"/>
            </a:xfrm>
          </p:grpSpPr>
          <p:sp>
            <p:nvSpPr>
              <p:cNvPr id="113" name="Oval 112"/>
              <p:cNvSpPr/>
              <p:nvPr/>
            </p:nvSpPr>
            <p:spPr bwMode="auto">
              <a:xfrm>
                <a:off x="8168629" y="2657945"/>
                <a:ext cx="186834" cy="189467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>
                    <a:latin typeface="+mj-lt"/>
                    <a:cs typeface="Arial" pitchFamily="34" charset="0"/>
                  </a:rPr>
                  <a:t>3</a:t>
                </a:r>
                <a:endParaRPr lang="en-US" sz="14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4" name="Oval 113"/>
              <p:cNvSpPr/>
              <p:nvPr/>
            </p:nvSpPr>
            <p:spPr bwMode="auto">
              <a:xfrm>
                <a:off x="8168629" y="1809799"/>
                <a:ext cx="186834" cy="189467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>
                    <a:latin typeface="+mj-lt"/>
                    <a:cs typeface="Arial" pitchFamily="34" charset="0"/>
                  </a:rPr>
                  <a:t>1</a:t>
                </a:r>
                <a:r>
                  <a:rPr lang="en-US" sz="1200" dirty="0" smtClean="0">
                    <a:latin typeface="+mj-lt"/>
                    <a:cs typeface="Arial" pitchFamily="34" charset="0"/>
                  </a:rPr>
                  <a:t>	</a:t>
                </a:r>
                <a:endParaRPr lang="en-US" sz="14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6" name="Oval 115"/>
              <p:cNvSpPr/>
              <p:nvPr/>
            </p:nvSpPr>
            <p:spPr bwMode="auto">
              <a:xfrm>
                <a:off x="8168629" y="2236041"/>
                <a:ext cx="186834" cy="189467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>
                    <a:latin typeface="+mj-lt"/>
                    <a:cs typeface="Arial" pitchFamily="34" charset="0"/>
                  </a:rPr>
                  <a:t>2</a:t>
                </a:r>
                <a:endParaRPr lang="en-US" sz="1400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25" name="Oval 124"/>
              <p:cNvSpPr/>
              <p:nvPr/>
            </p:nvSpPr>
            <p:spPr bwMode="auto">
              <a:xfrm>
                <a:off x="8170527" y="1379444"/>
                <a:ext cx="186834" cy="189467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200" dirty="0">
                    <a:latin typeface="+mj-lt"/>
                    <a:cs typeface="Arial" pitchFamily="34" charset="0"/>
                  </a:rPr>
                  <a:t>0</a:t>
                </a:r>
                <a:r>
                  <a:rPr lang="en-US" sz="1200" dirty="0" smtClean="0">
                    <a:latin typeface="+mj-lt"/>
                    <a:cs typeface="Arial" pitchFamily="34" charset="0"/>
                  </a:rPr>
                  <a:t>	</a:t>
                </a:r>
                <a:endParaRPr lang="en-US" sz="1400" dirty="0" smtClean="0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53" name="Straight Arrow Connector 152"/>
              <p:cNvCxnSpPr/>
              <p:nvPr/>
            </p:nvCxnSpPr>
            <p:spPr bwMode="auto">
              <a:xfrm>
                <a:off x="8268257" y="1581637"/>
                <a:ext cx="3813" cy="20925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54" name="Straight Arrow Connector 153"/>
              <p:cNvCxnSpPr/>
              <p:nvPr/>
            </p:nvCxnSpPr>
            <p:spPr bwMode="auto">
              <a:xfrm>
                <a:off x="8273101" y="2013667"/>
                <a:ext cx="3813" cy="20925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55" name="Straight Arrow Connector 154"/>
              <p:cNvCxnSpPr/>
              <p:nvPr/>
            </p:nvCxnSpPr>
            <p:spPr bwMode="auto">
              <a:xfrm>
                <a:off x="8264984" y="2437098"/>
                <a:ext cx="3813" cy="209257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4" name="Rectangle 3"/>
            <p:cNvSpPr/>
            <p:nvPr/>
          </p:nvSpPr>
          <p:spPr>
            <a:xfrm>
              <a:off x="7321350" y="1041113"/>
              <a:ext cx="125072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2</a:t>
              </a:r>
              <a:r>
                <a:rPr lang="en-US" sz="1400" baseline="30000" dirty="0" smtClean="0">
                  <a:latin typeface="+mj-lt"/>
                </a:rPr>
                <a:t>nd</a:t>
              </a:r>
              <a:r>
                <a:rPr lang="en-US" sz="1400" dirty="0" smtClean="0">
                  <a:latin typeface="+mj-lt"/>
                </a:rPr>
                <a:t> application</a:t>
              </a:r>
              <a:endParaRPr lang="en-US" sz="1400" dirty="0">
                <a:latin typeface="+mj-lt"/>
              </a:endParaRPr>
            </a:p>
          </p:txBody>
        </p:sp>
      </p:grpSp>
      <p:sp>
        <p:nvSpPr>
          <p:cNvPr id="108" name="Rounded Rectangle 107"/>
          <p:cNvSpPr/>
          <p:nvPr/>
        </p:nvSpPr>
        <p:spPr bwMode="auto">
          <a:xfrm>
            <a:off x="6510587" y="4448603"/>
            <a:ext cx="404812" cy="195263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0</a:t>
            </a:r>
          </a:p>
        </p:txBody>
      </p:sp>
      <p:sp>
        <p:nvSpPr>
          <p:cNvPr id="109" name="Rounded Rectangle 108"/>
          <p:cNvSpPr/>
          <p:nvPr/>
        </p:nvSpPr>
        <p:spPr bwMode="auto">
          <a:xfrm>
            <a:off x="7378672" y="4227985"/>
            <a:ext cx="404812" cy="195263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</a:p>
        </p:txBody>
      </p:sp>
      <p:sp>
        <p:nvSpPr>
          <p:cNvPr id="112" name="Rounded Rectangle 111"/>
          <p:cNvSpPr/>
          <p:nvPr/>
        </p:nvSpPr>
        <p:spPr bwMode="auto">
          <a:xfrm>
            <a:off x="6080658" y="4448603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0</a:t>
            </a:r>
          </a:p>
        </p:txBody>
      </p:sp>
      <p:sp>
        <p:nvSpPr>
          <p:cNvPr id="115" name="Rounded Rectangle 114"/>
          <p:cNvSpPr/>
          <p:nvPr/>
        </p:nvSpPr>
        <p:spPr bwMode="auto">
          <a:xfrm>
            <a:off x="6076585" y="4227985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</a:p>
        </p:txBody>
      </p:sp>
      <p:sp>
        <p:nvSpPr>
          <p:cNvPr id="117" name="Rounded Rectangle 116"/>
          <p:cNvSpPr/>
          <p:nvPr/>
        </p:nvSpPr>
        <p:spPr bwMode="auto">
          <a:xfrm>
            <a:off x="6518616" y="4229803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</a:p>
        </p:txBody>
      </p:sp>
      <p:sp>
        <p:nvSpPr>
          <p:cNvPr id="118" name="Rounded Rectangle 117"/>
          <p:cNvSpPr/>
          <p:nvPr/>
        </p:nvSpPr>
        <p:spPr bwMode="auto">
          <a:xfrm>
            <a:off x="6944633" y="4229803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  <a:endParaRPr lang="en-US" sz="1600" dirty="0" smtClean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9" name="Rounded Rectangle 118"/>
          <p:cNvSpPr/>
          <p:nvPr/>
        </p:nvSpPr>
        <p:spPr bwMode="auto">
          <a:xfrm>
            <a:off x="6076585" y="4013181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4</a:t>
            </a:r>
          </a:p>
        </p:txBody>
      </p:sp>
      <p:sp>
        <p:nvSpPr>
          <p:cNvPr id="120" name="Rounded Rectangle 119"/>
          <p:cNvSpPr/>
          <p:nvPr/>
        </p:nvSpPr>
        <p:spPr bwMode="auto">
          <a:xfrm>
            <a:off x="6515890" y="4016518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5</a:t>
            </a:r>
          </a:p>
        </p:txBody>
      </p:sp>
      <p:sp>
        <p:nvSpPr>
          <p:cNvPr id="121" name="Rounded Rectangle 120"/>
          <p:cNvSpPr/>
          <p:nvPr/>
        </p:nvSpPr>
        <p:spPr bwMode="auto">
          <a:xfrm>
            <a:off x="6078443" y="3785763"/>
            <a:ext cx="404812" cy="195263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6</a:t>
            </a:r>
          </a:p>
        </p:txBody>
      </p:sp>
      <p:sp>
        <p:nvSpPr>
          <p:cNvPr id="123" name="Rounded Rectangle 122"/>
          <p:cNvSpPr/>
          <p:nvPr/>
        </p:nvSpPr>
        <p:spPr bwMode="auto">
          <a:xfrm>
            <a:off x="6944633" y="4014623"/>
            <a:ext cx="404812" cy="195263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  <a:endParaRPr lang="en-US" sz="1600" dirty="0" smtClean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4" name="Rounded Rectangle 123"/>
          <p:cNvSpPr/>
          <p:nvPr/>
        </p:nvSpPr>
        <p:spPr bwMode="auto">
          <a:xfrm>
            <a:off x="6503356" y="3789880"/>
            <a:ext cx="404812" cy="195263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12069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07407E-6 L -0.01459 0.1173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585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022E-16 L -0.01424 0.1629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" y="8148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00348 0.15371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7685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1.48148E-6 L 0.02673 0.15463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" y="7731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022E-16 L -0.01424 0.18079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" y="9028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96296E-6 L 0.01042 0.18357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9167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000"/>
                            </p:stCondLst>
                            <p:childTnLst>
                              <p:par>
                                <p:cTn id="10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33333E-6 L -0.01441 0.22037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11019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2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000"/>
                            </p:stCondLst>
                            <p:childTnLst>
                              <p:par>
                                <p:cTn id="110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50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50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00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50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01458 0.11736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5856"/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48148E-6 L 0.00607 0.12269 " pathEditMode="relative" rAng="0" ptsTypes="AA">
                                      <p:cBhvr>
                                        <p:cTn id="17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" y="6134"/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44444E-6 L -0.01423 0.16296 " pathEditMode="relative" rAng="0" ptsTypes="AA">
                                      <p:cBhvr>
                                        <p:cTn id="186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" y="8148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0.00347 0.1537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7685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96296E-6 L 0.02673 0.15463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" y="7731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44444E-6 L 0.04861 0.15277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1" y="7639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4000"/>
                            </p:stCondLst>
                            <p:childTnLst>
                              <p:par>
                                <p:cTn id="206" presetID="30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0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09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500"/>
                            </p:stCondLst>
                            <p:childTnLst>
                              <p:par>
                                <p:cTn id="212" presetID="26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4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0"/>
                            </p:stCondLst>
                            <p:childTnLst>
                              <p:par>
                                <p:cTn id="21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44444E-6 L -0.01423 0.18078 " pathEditMode="relative" rAng="0" ptsTypes="AA">
                                      <p:cBhvr>
                                        <p:cTn id="217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" y="9028"/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48148E-6 L 0.01042 0.18356 " pathEditMode="relative" rAng="0" ptsTypes="AA">
                                      <p:cBhvr>
                                        <p:cTn id="219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9167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96296E-6 L 0.02587 0.18171 " pathEditMode="relative" rAng="0" ptsTypes="AA">
                                      <p:cBhvr>
                                        <p:cTn id="221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5" y="9074"/>
                                    </p:animMotion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7000"/>
                            </p:stCondLst>
                            <p:childTnLst>
                              <p:par>
                                <p:cTn id="23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6 L -0.01441 0.22037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11019"/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0.00677 0.21527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0" y="10764"/>
                                    </p:animMotion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6" grpId="0" animBg="1"/>
      <p:bldP spid="136" grpId="1" animBg="1"/>
      <p:bldP spid="136" grpId="2" animBg="1"/>
      <p:bldP spid="139" grpId="0" animBg="1"/>
      <p:bldP spid="139" grpId="1" animBg="1"/>
      <p:bldP spid="139" grpId="2" animBg="1"/>
      <p:bldP spid="140" grpId="0" animBg="1"/>
      <p:bldP spid="140" grpId="1" animBg="1"/>
      <p:bldP spid="140" grpId="2" animBg="1"/>
      <p:bldP spid="141" grpId="0" animBg="1"/>
      <p:bldP spid="141" grpId="1" animBg="1"/>
      <p:bldP spid="141" grpId="2" animBg="1"/>
      <p:bldP spid="142" grpId="0" animBg="1"/>
      <p:bldP spid="142" grpId="1" animBg="1"/>
      <p:bldP spid="142" grpId="2" animBg="1"/>
      <p:bldP spid="143" grpId="0" animBg="1"/>
      <p:bldP spid="143" grpId="1" animBg="1"/>
      <p:bldP spid="143" grpId="2" animBg="1"/>
      <p:bldP spid="144" grpId="0" animBg="1"/>
      <p:bldP spid="144" grpId="1" animBg="1"/>
      <p:bldP spid="144" grpId="2" animBg="1"/>
      <p:bldP spid="156" grpId="0" animBg="1"/>
      <p:bldP spid="160" grpId="0" animBg="1"/>
      <p:bldP spid="161" grpId="0" animBg="1"/>
      <p:bldP spid="162" grpId="0" animBg="1"/>
      <p:bldP spid="162" grpId="1" animBg="1"/>
      <p:bldP spid="162" grpId="2" animBg="1"/>
      <p:bldP spid="162" grpId="3" animBg="1"/>
      <p:bldP spid="162" grpId="4" animBg="1"/>
      <p:bldP spid="108" grpId="0" animBg="1"/>
      <p:bldP spid="108" grpId="1" animBg="1"/>
      <p:bldP spid="108" grpId="2" animBg="1"/>
      <p:bldP spid="109" grpId="0" animBg="1"/>
      <p:bldP spid="109" grpId="1" animBg="1"/>
      <p:bldP spid="109" grpId="2" animBg="1"/>
      <p:bldP spid="112" grpId="0" animBg="1"/>
      <p:bldP spid="112" grpId="1" animBg="1"/>
      <p:bldP spid="112" grpId="2" animBg="1"/>
      <p:bldP spid="115" grpId="0" animBg="1"/>
      <p:bldP spid="115" grpId="1" animBg="1"/>
      <p:bldP spid="115" grpId="2" animBg="1"/>
      <p:bldP spid="117" grpId="0" animBg="1"/>
      <p:bldP spid="117" grpId="1" animBg="1"/>
      <p:bldP spid="117" grpId="2" animBg="1"/>
      <p:bldP spid="118" grpId="0" animBg="1"/>
      <p:bldP spid="118" grpId="1" animBg="1"/>
      <p:bldP spid="118" grpId="2" animBg="1"/>
      <p:bldP spid="119" grpId="0" animBg="1"/>
      <p:bldP spid="119" grpId="1" animBg="1"/>
      <p:bldP spid="119" grpId="2" animBg="1"/>
      <p:bldP spid="120" grpId="0" animBg="1"/>
      <p:bldP spid="120" grpId="1" animBg="1"/>
      <p:bldP spid="120" grpId="2" animBg="1"/>
      <p:bldP spid="121" grpId="0" animBg="1"/>
      <p:bldP spid="121" grpId="1" animBg="1"/>
      <p:bldP spid="121" grpId="2" animBg="1"/>
      <p:bldP spid="123" grpId="0" animBg="1"/>
      <p:bldP spid="123" grpId="1" animBg="1"/>
      <p:bldP spid="123" grpId="2" animBg="1"/>
      <p:bldP spid="124" grpId="0" animBg="1"/>
      <p:bldP spid="124" grpId="1" animBg="1"/>
      <p:bldP spid="124" grpId="2" animBg="1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Thread-level parallelism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540860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 achieve the best performance, workload should be parallelized to several </a:t>
            </a:r>
            <a:r>
              <a:rPr lang="en-US" b="1" dirty="0" smtClean="0"/>
              <a:t>threads</a:t>
            </a: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This is possible due to the </a:t>
            </a:r>
            <a:r>
              <a:rPr lang="en-US" b="1" dirty="0" smtClean="0"/>
              <a:t>thread-level parallelism (TLP)</a:t>
            </a:r>
          </a:p>
          <a:p>
            <a:pPr marL="681038" lvl="2" indent="-342900">
              <a:spcBef>
                <a:spcPts val="1500"/>
              </a:spcBef>
              <a:buClrTx/>
            </a:pPr>
            <a:r>
              <a:rPr lang="en-US" dirty="0">
                <a:solidFill>
                  <a:schemeClr val="tx2"/>
                </a:solidFill>
              </a:rPr>
              <a:t>Unlike ILP, TLP is extracted manually by </a:t>
            </a:r>
            <a:r>
              <a:rPr lang="en-US" dirty="0" smtClean="0">
                <a:solidFill>
                  <a:schemeClr val="tx2"/>
                </a:solidFill>
              </a:rPr>
              <a:t>programmer</a:t>
            </a:r>
          </a:p>
          <a:p>
            <a:pPr marL="3429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Threads can be extracted either from:</a:t>
            </a:r>
            <a:endParaRPr lang="en-US" dirty="0"/>
          </a:p>
          <a:p>
            <a:pPr lvl="2"/>
            <a:r>
              <a:rPr lang="en-US" dirty="0">
                <a:solidFill>
                  <a:schemeClr val="tx2"/>
                </a:solidFill>
              </a:rPr>
              <a:t>The same application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Different applications running simultaneously</a:t>
            </a:r>
          </a:p>
          <a:p>
            <a:pPr lvl="2"/>
            <a:r>
              <a:rPr lang="en-US" dirty="0">
                <a:solidFill>
                  <a:schemeClr val="tx2"/>
                </a:solidFill>
              </a:rPr>
              <a:t>Operating system </a:t>
            </a:r>
            <a:r>
              <a:rPr lang="en-US" dirty="0" smtClean="0">
                <a:solidFill>
                  <a:schemeClr val="tx2"/>
                </a:solidFill>
              </a:rPr>
              <a:t>services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Previously each thread was executed on separate single core</a:t>
            </a:r>
          </a:p>
          <a:p>
            <a:pPr lvl="2"/>
            <a:r>
              <a:rPr lang="en-US" dirty="0" smtClean="0">
                <a:solidFill>
                  <a:schemeClr val="tx2"/>
                </a:solidFill>
              </a:rPr>
              <a:t>Now assume each core could handle more than one thread execution</a:t>
            </a:r>
          </a:p>
          <a:p>
            <a:pPr lvl="2"/>
            <a:r>
              <a:rPr lang="en-US" dirty="0" smtClean="0">
                <a:solidFill>
                  <a:schemeClr val="tx2"/>
                </a:solidFill>
              </a:rPr>
              <a:t>CPU supports ST and MT execution modes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18117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Simultaneous Multithreading</a:t>
            </a:r>
            <a:endParaRPr lang="ru-RU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12426" y="1059930"/>
            <a:ext cx="6290693" cy="57306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Physically we have the same amount of 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Logically there are twice more cores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OS schedules tasks on logical CPUs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logical processor maintains its own arch state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Complete set of architectural registers (General-purpose registers, Control registers, Machine state registers, Debug registers)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Instruction pointers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logical processor has its own interrupt controller</a:t>
            </a:r>
            <a:endParaRPr lang="en-US" sz="2000" dirty="0"/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403119" y="2326998"/>
            <a:ext cx="2662754" cy="2123569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CPU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602743" y="2703845"/>
            <a:ext cx="965915" cy="86288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Core 1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7943778" y="2703845"/>
            <a:ext cx="965915" cy="862884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Core 2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602743" y="3743170"/>
            <a:ext cx="2306951" cy="43144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Cache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581020" y="4802848"/>
            <a:ext cx="2306951" cy="43144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latin typeface="+mj-lt"/>
                <a:cs typeface="Arial" pitchFamily="34" charset="0"/>
              </a:rPr>
              <a:t>Memory</a:t>
            </a:r>
            <a:endParaRPr lang="ru-RU" sz="2000" dirty="0" smtClean="0">
              <a:latin typeface="+mj-lt"/>
              <a:cs typeface="Arial" pitchFamily="34" charset="0"/>
            </a:endParaRPr>
          </a:p>
        </p:txBody>
      </p:sp>
      <p:cxnSp>
        <p:nvCxnSpPr>
          <p:cNvPr id="19" name="Straight Arrow Connector 18"/>
          <p:cNvCxnSpPr>
            <a:stCxn id="17" idx="2"/>
            <a:endCxn id="18" idx="0"/>
          </p:cNvCxnSpPr>
          <p:nvPr/>
        </p:nvCxnSpPr>
        <p:spPr bwMode="auto">
          <a:xfrm>
            <a:off x="7734496" y="4450567"/>
            <a:ext cx="0" cy="35228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Down Arrow 7"/>
          <p:cNvSpPr/>
          <p:nvPr/>
        </p:nvSpPr>
        <p:spPr bwMode="auto">
          <a:xfrm>
            <a:off x="6826221" y="1751651"/>
            <a:ext cx="473988" cy="862545"/>
          </a:xfrm>
          <a:prstGeom prst="downArrow">
            <a:avLst/>
          </a:prstGeom>
          <a:solidFill>
            <a:srgbClr val="0072DA"/>
          </a:solidFill>
          <a:ln>
            <a:solidFill>
              <a:srgbClr val="0072DA"/>
            </a:solidFill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7118701" y="1072201"/>
            <a:ext cx="473988" cy="862545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8214345" y="1751651"/>
            <a:ext cx="473988" cy="862545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/>
            </a:solidFill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8506825" y="1072201"/>
            <a:ext cx="473988" cy="862545"/>
          </a:xfrm>
          <a:prstGeom prst="downArrow">
            <a:avLst/>
          </a:prstGeom>
          <a:solidFill>
            <a:srgbClr val="00B0F0"/>
          </a:solidFill>
          <a:ln>
            <a:solidFill>
              <a:schemeClr val="accent2"/>
            </a:solidFill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cxnSp>
        <p:nvCxnSpPr>
          <p:cNvPr id="6" name="Straight Connector 5"/>
          <p:cNvCxnSpPr>
            <a:stCxn id="12" idx="0"/>
            <a:endCxn id="12" idx="2"/>
          </p:cNvCxnSpPr>
          <p:nvPr/>
        </p:nvCxnSpPr>
        <p:spPr bwMode="auto">
          <a:xfrm>
            <a:off x="7085701" y="2703845"/>
            <a:ext cx="0" cy="86288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ysDot"/>
            <a:round/>
            <a:headEnd type="none" w="sm" len="sm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8426821" y="2703845"/>
            <a:ext cx="0" cy="86288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ysDot"/>
            <a:round/>
            <a:headEnd type="none" w="sm" len="sm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745670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-0.0375 0.00046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23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96296E-6 L -0.0375 0.0004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96296E-6 L 0.00017 0.09931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54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.00017 0.09931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7" grpId="0" animBg="1"/>
      <p:bldP spid="12" grpId="0" animBg="1"/>
      <p:bldP spid="12" grpId="1" animBg="1"/>
      <p:bldP spid="13" grpId="0" animBg="1"/>
      <p:bldP spid="13" grpId="1" animBg="1"/>
      <p:bldP spid="14" grpId="0" animBg="1"/>
      <p:bldP spid="18" grpId="0" animBg="1"/>
      <p:bldP spid="8" grpId="0" animBg="1"/>
      <p:bldP spid="8" grpId="1" animBg="1"/>
      <p:bldP spid="15" grpId="0" animBg="1"/>
      <p:bldP spid="15" grpId="1" animBg="1"/>
      <p:bldP spid="16" grpId="0" animBg="1"/>
      <p:bldP spid="16" grpId="1" animBg="1"/>
      <p:bldP spid="20" grpId="0" animBg="1"/>
      <p:bldP spid="20" grpId="1" animBg="1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Sharing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65200"/>
            <a:ext cx="5143996" cy="519590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Each pipe-stage is occupied by one of the threads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Resources are either </a:t>
            </a:r>
            <a:r>
              <a:rPr lang="en-US" sz="2000" b="1" dirty="0" smtClean="0"/>
              <a:t>replicated</a:t>
            </a:r>
            <a:r>
              <a:rPr lang="en-US" sz="2000" dirty="0" smtClean="0"/>
              <a:t>, </a:t>
            </a:r>
            <a:r>
              <a:rPr lang="en-US" sz="2000" b="1" dirty="0" smtClean="0"/>
              <a:t>partitioned</a:t>
            </a:r>
            <a:r>
              <a:rPr lang="en-US" sz="2000" dirty="0" smtClean="0"/>
              <a:t> or </a:t>
            </a:r>
            <a:r>
              <a:rPr lang="en-US" sz="2000" b="1" dirty="0" smtClean="0"/>
              <a:t>shared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Replicated resources are ones which are vital </a:t>
            </a:r>
            <a:r>
              <a:rPr lang="en-US" sz="2000" dirty="0"/>
              <a:t>to maintain two fully independent contexts on each logical </a:t>
            </a:r>
            <a:r>
              <a:rPr lang="en-US" sz="2000" dirty="0" smtClean="0"/>
              <a:t>processor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Main source of HW size growth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Partitioned resources are mostly queues that </a:t>
            </a:r>
            <a:r>
              <a:rPr lang="en-US" sz="2000" dirty="0" smtClean="0"/>
              <a:t>decouple pipeline stages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Could be unified in ST execution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Shared resources are ones which don’t care about threading at all</a:t>
            </a:r>
            <a:endParaRPr lang="en-US" sz="2000" dirty="0"/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5947289" y="3882094"/>
            <a:ext cx="864281" cy="553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Arch State</a:t>
            </a:r>
          </a:p>
        </p:txBody>
      </p:sp>
      <p:sp>
        <p:nvSpPr>
          <p:cNvPr id="6" name="Text Box 40"/>
          <p:cNvSpPr txBox="1">
            <a:spLocks noChangeArrowheads="1"/>
          </p:cNvSpPr>
          <p:nvPr/>
        </p:nvSpPr>
        <p:spPr bwMode="auto">
          <a:xfrm>
            <a:off x="5768556" y="4515751"/>
            <a:ext cx="1185299" cy="553998"/>
          </a:xfrm>
          <a:prstGeom prst="rect">
            <a:avLst/>
          </a:prstGeom>
          <a:pattFill prst="lgCheck">
            <a:fgClr>
              <a:schemeClr val="accent3">
                <a:lumMod val="40000"/>
                <a:lumOff val="60000"/>
              </a:schemeClr>
            </a:fgClr>
            <a:bgClr>
              <a:srgbClr val="FFC000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>
                <a:latin typeface="+mj-lt"/>
                <a:cs typeface="Arial" panose="020B0604020202020204" pitchFamily="34" charset="0"/>
              </a:rPr>
              <a:t>Physical Registers</a:t>
            </a:r>
          </a:p>
        </p:txBody>
      </p: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5927173" y="5149408"/>
            <a:ext cx="864281" cy="55399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>
                <a:latin typeface="+mj-lt"/>
                <a:cs typeface="Arial" panose="020B0604020202020204" pitchFamily="34" charset="0"/>
              </a:rPr>
              <a:t>Arch State</a:t>
            </a:r>
          </a:p>
        </p:txBody>
      </p:sp>
      <p:sp>
        <p:nvSpPr>
          <p:cNvPr id="9" name="Text Box 42"/>
          <p:cNvSpPr txBox="1">
            <a:spLocks noChangeArrowheads="1"/>
          </p:cNvSpPr>
          <p:nvPr/>
        </p:nvSpPr>
        <p:spPr bwMode="auto">
          <a:xfrm>
            <a:off x="6188498" y="2128582"/>
            <a:ext cx="671376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APIC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7175891" y="1088821"/>
            <a:ext cx="1802134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>
                <a:latin typeface="+mj-lt"/>
                <a:cs typeface="Arial" panose="020B0604020202020204" pitchFamily="34" charset="0"/>
              </a:rPr>
              <a:t>Fetch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7175891" y="2323315"/>
            <a:ext cx="1802134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Decode</a:t>
            </a:r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7173384" y="2940562"/>
            <a:ext cx="901067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>
                <a:latin typeface="+mj-lt"/>
                <a:cs typeface="Arial" panose="020B0604020202020204" pitchFamily="34" charset="0"/>
              </a:rPr>
              <a:t>Queue</a:t>
            </a:r>
          </a:p>
        </p:txBody>
      </p:sp>
      <p:sp>
        <p:nvSpPr>
          <p:cNvPr id="40" name="Text Box 14"/>
          <p:cNvSpPr txBox="1">
            <a:spLocks noChangeArrowheads="1"/>
          </p:cNvSpPr>
          <p:nvPr/>
        </p:nvSpPr>
        <p:spPr bwMode="auto">
          <a:xfrm>
            <a:off x="8076958" y="2940564"/>
            <a:ext cx="901067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Queue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175892" y="3533943"/>
            <a:ext cx="1802133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Rename </a:t>
            </a:r>
            <a:r>
              <a:rPr lang="en-US" altLang="en-US" dirty="0">
                <a:latin typeface="+mj-lt"/>
                <a:cs typeface="Arial" panose="020B0604020202020204" pitchFamily="34" charset="0"/>
              </a:rPr>
              <a:t>&amp;</a:t>
            </a:r>
            <a:r>
              <a:rPr lang="en-US" altLang="en-US" b="0" dirty="0" smtClean="0">
                <a:latin typeface="+mj-lt"/>
                <a:cs typeface="Arial" panose="020B0604020202020204" pitchFamily="34" charset="0"/>
              </a:rPr>
              <a:t> </a:t>
            </a:r>
            <a:r>
              <a:rPr lang="en-US" altLang="en-US" b="0" dirty="0">
                <a:latin typeface="+mj-lt"/>
                <a:cs typeface="Arial" panose="020B0604020202020204" pitchFamily="34" charset="0"/>
              </a:rPr>
              <a:t>Allocate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7175890" y="4755393"/>
            <a:ext cx="1802134" cy="55399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 OOO Scheduler / Execute</a:t>
            </a:r>
          </a:p>
        </p:txBody>
      </p:sp>
      <p:sp>
        <p:nvSpPr>
          <p:cNvPr id="35" name="Text Box 21"/>
          <p:cNvSpPr txBox="1">
            <a:spLocks noChangeArrowheads="1"/>
          </p:cNvSpPr>
          <p:nvPr/>
        </p:nvSpPr>
        <p:spPr bwMode="auto">
          <a:xfrm>
            <a:off x="7173384" y="5638122"/>
            <a:ext cx="901067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 smtClean="0">
                <a:latin typeface="+mj-lt"/>
                <a:cs typeface="Arial" panose="020B0604020202020204" pitchFamily="34" charset="0"/>
              </a:rPr>
              <a:t>ROB</a:t>
            </a:r>
            <a:endParaRPr lang="en-US" altLang="en-US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6" name="Text Box 22"/>
          <p:cNvSpPr txBox="1">
            <a:spLocks noChangeArrowheads="1"/>
          </p:cNvSpPr>
          <p:nvPr/>
        </p:nvSpPr>
        <p:spPr bwMode="auto">
          <a:xfrm>
            <a:off x="8076958" y="5638125"/>
            <a:ext cx="901067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 smtClean="0">
                <a:latin typeface="+mj-lt"/>
                <a:cs typeface="Arial" panose="020B0604020202020204" pitchFamily="34" charset="0"/>
              </a:rPr>
              <a:t>ROB</a:t>
            </a:r>
            <a:endParaRPr lang="en-US" altLang="en-US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7175892" y="6246907"/>
            <a:ext cx="1802134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Retirement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7173384" y="1706068"/>
            <a:ext cx="901067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Queue</a:t>
            </a: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8076958" y="1706069"/>
            <a:ext cx="901067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Queue</a:t>
            </a:r>
          </a:p>
        </p:txBody>
      </p:sp>
      <p:sp>
        <p:nvSpPr>
          <p:cNvPr id="21" name="Line 29"/>
          <p:cNvSpPr>
            <a:spLocks noChangeShapeType="1"/>
          </p:cNvSpPr>
          <p:nvPr/>
        </p:nvSpPr>
        <p:spPr bwMode="auto">
          <a:xfrm>
            <a:off x="8076303" y="1389418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2" name="Line 29"/>
          <p:cNvSpPr>
            <a:spLocks noChangeShapeType="1"/>
          </p:cNvSpPr>
          <p:nvPr/>
        </p:nvSpPr>
        <p:spPr bwMode="auto">
          <a:xfrm>
            <a:off x="8078154" y="2018413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3" name="Line 29"/>
          <p:cNvSpPr>
            <a:spLocks noChangeShapeType="1"/>
          </p:cNvSpPr>
          <p:nvPr/>
        </p:nvSpPr>
        <p:spPr bwMode="auto">
          <a:xfrm>
            <a:off x="8074116" y="2623849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8075967" y="3241065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5" name="Line 29"/>
          <p:cNvSpPr>
            <a:spLocks noChangeShapeType="1"/>
          </p:cNvSpPr>
          <p:nvPr/>
        </p:nvSpPr>
        <p:spPr bwMode="auto">
          <a:xfrm>
            <a:off x="8077818" y="3827729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8079670" y="4450100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8075631" y="5328307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>
            <a:off x="8077484" y="5940372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7127697" y="452634"/>
            <a:ext cx="901067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 smtClean="0">
                <a:latin typeface="+mj-lt"/>
                <a:cs typeface="Arial" panose="020B0604020202020204" pitchFamily="34" charset="0"/>
              </a:rPr>
              <a:t>PC</a:t>
            </a:r>
            <a:endParaRPr lang="en-US" altLang="en-US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8127547" y="452287"/>
            <a:ext cx="901067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 smtClean="0">
                <a:latin typeface="+mj-lt"/>
                <a:cs typeface="Arial" panose="020B0604020202020204" pitchFamily="34" charset="0"/>
              </a:rPr>
              <a:t>PC</a:t>
            </a:r>
            <a:endParaRPr lang="en-US" altLang="en-US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8078155" y="773448"/>
            <a:ext cx="0" cy="300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b="0">
              <a:latin typeface="+mj-lt"/>
            </a:endParaRPr>
          </a:p>
        </p:txBody>
      </p: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6188498" y="2511078"/>
            <a:ext cx="671376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t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>
                <a:latin typeface="+mj-lt"/>
                <a:cs typeface="Arial" panose="020B0604020202020204" pitchFamily="34" charset="0"/>
              </a:rPr>
              <a:t>APIC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173165" y="4129685"/>
            <a:ext cx="1804641" cy="302746"/>
            <a:chOff x="7190099" y="3918010"/>
            <a:chExt cx="1804641" cy="3027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0099" y="3918010"/>
              <a:ext cx="1804641" cy="302746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198456" y="3931054"/>
              <a:ext cx="1787925" cy="276999"/>
            </a:xfrm>
            <a:prstGeom prst="rect">
              <a:avLst/>
            </a:prstGeom>
            <a:solidFill>
              <a:schemeClr val="bg1">
                <a:lumMod val="95000"/>
                <a:alpha val="47000"/>
              </a:schemeClr>
            </a:solidFill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dirty="0" smtClean="0">
                  <a:latin typeface="+mj-lt"/>
                </a:rPr>
                <a:t>SQ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657510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3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2" grpId="0" animBg="1"/>
      <p:bldP spid="13" grpId="0" animBg="1"/>
      <p:bldP spid="39" grpId="0" animBg="1"/>
      <p:bldP spid="39" grpId="1" animBg="1"/>
      <p:bldP spid="40" grpId="0" animBg="1"/>
      <p:bldP spid="40" grpId="1" animBg="1"/>
      <p:bldP spid="15" grpId="0" animBg="1"/>
      <p:bldP spid="17" grpId="0" animBg="1"/>
      <p:bldP spid="35" grpId="0" animBg="1"/>
      <p:bldP spid="36" grpId="0" animBg="1"/>
      <p:bldP spid="19" grpId="0" animBg="1"/>
      <p:bldP spid="33" grpId="0" animBg="1"/>
      <p:bldP spid="33" grpId="1" animBg="1"/>
      <p:bldP spid="34" grpId="0" animBg="1"/>
      <p:bldP spid="34" grpId="1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1" grpId="1" animBg="1"/>
      <p:bldP spid="32" grpId="0" animBg="1"/>
      <p:bldP spid="32" grpId="1" animBg="1"/>
      <p:bldP spid="30" grpId="0" animBg="1"/>
      <p:bldP spid="41" grpId="0" animBg="1"/>
      <p:bldP spid="41" grpId="1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Branch Predictor sharing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78516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BP operates in terms of virtual addresses and has </a:t>
            </a:r>
            <a:r>
              <a:rPr lang="en-US" b="1" dirty="0" smtClean="0"/>
              <a:t>shared</a:t>
            </a:r>
            <a:r>
              <a:rPr lang="en-US" dirty="0" smtClean="0"/>
              <a:t> structure in MT mode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To avoid potential aliasing problems in case of virtual address overlapping BP entries could be marked with thread ID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68" y="3342998"/>
            <a:ext cx="4165917" cy="30786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85014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Schedule queue sharing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55614" y="1059931"/>
            <a:ext cx="5149320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MT mode schedule queue is </a:t>
            </a:r>
            <a:r>
              <a:rPr lang="en-US" b="1" dirty="0" smtClean="0"/>
              <a:t>dynamically partitioned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Each thread has its own small number of SQ entries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This prevents one thread monopolize whole machine resources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Each thread has ability for forward execution</a:t>
            </a: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Remained entries could be allocated by any thread</a:t>
            </a:r>
            <a:endParaRPr lang="en-US" dirty="0"/>
          </a:p>
        </p:txBody>
      </p:sp>
      <p:grpSp>
        <p:nvGrpSpPr>
          <p:cNvPr id="59" name="Group 58"/>
          <p:cNvGrpSpPr/>
          <p:nvPr/>
        </p:nvGrpSpPr>
        <p:grpSpPr>
          <a:xfrm>
            <a:off x="5939546" y="1726038"/>
            <a:ext cx="2945374" cy="2328325"/>
            <a:chOff x="5939546" y="1726038"/>
            <a:chExt cx="2945374" cy="2328325"/>
          </a:xfrm>
        </p:grpSpPr>
        <p:sp>
          <p:nvSpPr>
            <p:cNvPr id="3" name="Rounded Rectangle 2"/>
            <p:cNvSpPr/>
            <p:nvPr/>
          </p:nvSpPr>
          <p:spPr bwMode="auto">
            <a:xfrm>
              <a:off x="5939546" y="2217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43483" y="1726038"/>
              <a:ext cx="23374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Neo Sans Intel" panose="020B0504020202020204" pitchFamily="34" charset="0"/>
                </a:rPr>
                <a:t>Schedule queue entries</a:t>
              </a:r>
            </a:p>
          </p:txBody>
        </p:sp>
        <p:sp>
          <p:nvSpPr>
            <p:cNvPr id="30" name="Rounded Rectangle 29"/>
            <p:cNvSpPr/>
            <p:nvPr/>
          </p:nvSpPr>
          <p:spPr bwMode="auto">
            <a:xfrm>
              <a:off x="5939546" y="2598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1" name="Rounded Rectangle 30"/>
            <p:cNvSpPr/>
            <p:nvPr/>
          </p:nvSpPr>
          <p:spPr bwMode="auto">
            <a:xfrm>
              <a:off x="5939546" y="2979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 bwMode="auto">
            <a:xfrm>
              <a:off x="5939546" y="3360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3" name="Rounded Rectangle 32"/>
            <p:cNvSpPr/>
            <p:nvPr/>
          </p:nvSpPr>
          <p:spPr bwMode="auto">
            <a:xfrm>
              <a:off x="5939546" y="3741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 bwMode="auto">
            <a:xfrm>
              <a:off x="6542796" y="2217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5" name="Rounded Rectangle 34"/>
            <p:cNvSpPr/>
            <p:nvPr/>
          </p:nvSpPr>
          <p:spPr bwMode="auto">
            <a:xfrm>
              <a:off x="6542796" y="2598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 bwMode="auto">
            <a:xfrm>
              <a:off x="6542796" y="2979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 bwMode="auto">
            <a:xfrm>
              <a:off x="6542796" y="3360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 bwMode="auto">
            <a:xfrm>
              <a:off x="6542796" y="3741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 bwMode="auto">
            <a:xfrm>
              <a:off x="7146046" y="2217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7146046" y="2598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1" name="Rounded Rectangle 40"/>
            <p:cNvSpPr/>
            <p:nvPr/>
          </p:nvSpPr>
          <p:spPr bwMode="auto">
            <a:xfrm>
              <a:off x="7146046" y="2979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2" name="Rounded Rectangle 41"/>
            <p:cNvSpPr/>
            <p:nvPr/>
          </p:nvSpPr>
          <p:spPr bwMode="auto">
            <a:xfrm>
              <a:off x="7146046" y="3360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3" name="Rounded Rectangle 42"/>
            <p:cNvSpPr/>
            <p:nvPr/>
          </p:nvSpPr>
          <p:spPr bwMode="auto">
            <a:xfrm>
              <a:off x="7146046" y="3741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4" name="Rounded Rectangle 43"/>
            <p:cNvSpPr/>
            <p:nvPr/>
          </p:nvSpPr>
          <p:spPr bwMode="auto">
            <a:xfrm>
              <a:off x="7749296" y="2217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5" name="Rounded Rectangle 44"/>
            <p:cNvSpPr/>
            <p:nvPr/>
          </p:nvSpPr>
          <p:spPr bwMode="auto">
            <a:xfrm>
              <a:off x="7749296" y="2598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6" name="Rounded Rectangle 45"/>
            <p:cNvSpPr/>
            <p:nvPr/>
          </p:nvSpPr>
          <p:spPr bwMode="auto">
            <a:xfrm>
              <a:off x="7749296" y="2979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 bwMode="auto">
            <a:xfrm>
              <a:off x="7749296" y="3360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8" name="Rounded Rectangle 47"/>
            <p:cNvSpPr/>
            <p:nvPr/>
          </p:nvSpPr>
          <p:spPr bwMode="auto">
            <a:xfrm>
              <a:off x="7749296" y="3741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9" name="Rounded Rectangle 48"/>
            <p:cNvSpPr/>
            <p:nvPr/>
          </p:nvSpPr>
          <p:spPr bwMode="auto">
            <a:xfrm>
              <a:off x="8352546" y="2217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0" name="Rounded Rectangle 49"/>
            <p:cNvSpPr/>
            <p:nvPr/>
          </p:nvSpPr>
          <p:spPr bwMode="auto">
            <a:xfrm>
              <a:off x="8352546" y="2598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1" name="Rounded Rectangle 50"/>
            <p:cNvSpPr/>
            <p:nvPr/>
          </p:nvSpPr>
          <p:spPr bwMode="auto">
            <a:xfrm>
              <a:off x="8352546" y="2979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2" name="Rounded Rectangle 51"/>
            <p:cNvSpPr/>
            <p:nvPr/>
          </p:nvSpPr>
          <p:spPr bwMode="auto">
            <a:xfrm>
              <a:off x="8352546" y="3360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3" name="Rounded Rectangle 52"/>
            <p:cNvSpPr/>
            <p:nvPr/>
          </p:nvSpPr>
          <p:spPr bwMode="auto">
            <a:xfrm>
              <a:off x="8352546" y="3741608"/>
              <a:ext cx="532374" cy="31275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dirty="0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54" name="Rounded Rectangle 53"/>
          <p:cNvSpPr/>
          <p:nvPr/>
        </p:nvSpPr>
        <p:spPr bwMode="auto">
          <a:xfrm>
            <a:off x="5947557" y="2217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55" name="Rounded Rectangle 54"/>
          <p:cNvSpPr/>
          <p:nvPr/>
        </p:nvSpPr>
        <p:spPr bwMode="auto">
          <a:xfrm>
            <a:off x="5947557" y="2598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5947557" y="2979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57" name="Rounded Rectangle 56"/>
          <p:cNvSpPr/>
          <p:nvPr/>
        </p:nvSpPr>
        <p:spPr bwMode="auto">
          <a:xfrm>
            <a:off x="5947557" y="3360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58" name="Rounded Rectangle 57"/>
          <p:cNvSpPr/>
          <p:nvPr/>
        </p:nvSpPr>
        <p:spPr bwMode="auto">
          <a:xfrm>
            <a:off x="5947557" y="3741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0" name="Rounded Rectangle 59"/>
          <p:cNvSpPr/>
          <p:nvPr/>
        </p:nvSpPr>
        <p:spPr bwMode="auto">
          <a:xfrm>
            <a:off x="8352546" y="2217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1" name="Rounded Rectangle 60"/>
          <p:cNvSpPr/>
          <p:nvPr/>
        </p:nvSpPr>
        <p:spPr bwMode="auto">
          <a:xfrm>
            <a:off x="8352546" y="2598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2" name="Rounded Rectangle 61"/>
          <p:cNvSpPr/>
          <p:nvPr/>
        </p:nvSpPr>
        <p:spPr bwMode="auto">
          <a:xfrm>
            <a:off x="8352546" y="2979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3" name="Rounded Rectangle 62"/>
          <p:cNvSpPr/>
          <p:nvPr/>
        </p:nvSpPr>
        <p:spPr bwMode="auto">
          <a:xfrm>
            <a:off x="8352546" y="3360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8352546" y="3741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5" name="Rounded Rectangle 64"/>
          <p:cNvSpPr/>
          <p:nvPr/>
        </p:nvSpPr>
        <p:spPr bwMode="auto">
          <a:xfrm>
            <a:off x="6550807" y="2217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6" name="Rounded Rectangle 65"/>
          <p:cNvSpPr/>
          <p:nvPr/>
        </p:nvSpPr>
        <p:spPr bwMode="auto">
          <a:xfrm>
            <a:off x="6550807" y="2598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7" name="Rounded Rectangle 66"/>
          <p:cNvSpPr/>
          <p:nvPr/>
        </p:nvSpPr>
        <p:spPr bwMode="auto">
          <a:xfrm>
            <a:off x="6550807" y="2979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8" name="Rounded Rectangle 67"/>
          <p:cNvSpPr/>
          <p:nvPr/>
        </p:nvSpPr>
        <p:spPr bwMode="auto">
          <a:xfrm>
            <a:off x="6550807" y="3360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69" name="Rounded Rectangle 68"/>
          <p:cNvSpPr/>
          <p:nvPr/>
        </p:nvSpPr>
        <p:spPr bwMode="auto">
          <a:xfrm>
            <a:off x="6550807" y="3741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0" name="Rounded Rectangle 69"/>
          <p:cNvSpPr/>
          <p:nvPr/>
        </p:nvSpPr>
        <p:spPr bwMode="auto">
          <a:xfrm>
            <a:off x="7154057" y="2217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1" name="Rounded Rectangle 70"/>
          <p:cNvSpPr/>
          <p:nvPr/>
        </p:nvSpPr>
        <p:spPr bwMode="auto">
          <a:xfrm>
            <a:off x="7154057" y="2598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2" name="Rounded Rectangle 71"/>
          <p:cNvSpPr/>
          <p:nvPr/>
        </p:nvSpPr>
        <p:spPr bwMode="auto">
          <a:xfrm>
            <a:off x="7154057" y="2979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3" name="Rounded Rectangle 72"/>
          <p:cNvSpPr/>
          <p:nvPr/>
        </p:nvSpPr>
        <p:spPr bwMode="auto">
          <a:xfrm>
            <a:off x="7154057" y="3360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4" name="Rounded Rectangle 73"/>
          <p:cNvSpPr/>
          <p:nvPr/>
        </p:nvSpPr>
        <p:spPr bwMode="auto">
          <a:xfrm>
            <a:off x="7154057" y="3741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5" name="Rounded Rectangle 74"/>
          <p:cNvSpPr/>
          <p:nvPr/>
        </p:nvSpPr>
        <p:spPr bwMode="auto">
          <a:xfrm>
            <a:off x="7757307" y="2217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6" name="Rounded Rectangle 75"/>
          <p:cNvSpPr/>
          <p:nvPr/>
        </p:nvSpPr>
        <p:spPr bwMode="auto">
          <a:xfrm>
            <a:off x="7757307" y="2598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7" name="Rounded Rectangle 76"/>
          <p:cNvSpPr/>
          <p:nvPr/>
        </p:nvSpPr>
        <p:spPr bwMode="auto">
          <a:xfrm>
            <a:off x="7757307" y="2979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8" name="Rounded Rectangle 77"/>
          <p:cNvSpPr/>
          <p:nvPr/>
        </p:nvSpPr>
        <p:spPr bwMode="auto">
          <a:xfrm>
            <a:off x="7757307" y="336060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79" name="Rounded Rectangle 78"/>
          <p:cNvSpPr/>
          <p:nvPr/>
        </p:nvSpPr>
        <p:spPr bwMode="auto">
          <a:xfrm>
            <a:off x="7757307" y="3741608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3437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75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 bwMode="auto">
          <a:xfrm>
            <a:off x="7951617" y="1554668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7951617" y="1935668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2" name="Rounded Rectangle 31"/>
          <p:cNvSpPr/>
          <p:nvPr/>
        </p:nvSpPr>
        <p:spPr bwMode="auto">
          <a:xfrm>
            <a:off x="7951617" y="2316668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7951617" y="2697668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4" name="Rounded Rectangle 33"/>
          <p:cNvSpPr/>
          <p:nvPr/>
        </p:nvSpPr>
        <p:spPr bwMode="auto">
          <a:xfrm>
            <a:off x="7951617" y="3078668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7951617" y="3466644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7951617" y="3847644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7" name="Rounded Rectangle 36"/>
          <p:cNvSpPr/>
          <p:nvPr/>
        </p:nvSpPr>
        <p:spPr bwMode="auto">
          <a:xfrm>
            <a:off x="7951617" y="4228644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8" name="Rounded Rectangle 37"/>
          <p:cNvSpPr/>
          <p:nvPr/>
        </p:nvSpPr>
        <p:spPr bwMode="auto">
          <a:xfrm>
            <a:off x="7951617" y="4609644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7951617" y="4990644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40" name="Rounded Rectangle 39"/>
          <p:cNvSpPr/>
          <p:nvPr/>
        </p:nvSpPr>
        <p:spPr bwMode="auto">
          <a:xfrm>
            <a:off x="7951617" y="3466644"/>
            <a:ext cx="532374" cy="312755"/>
          </a:xfrm>
          <a:prstGeom prst="roundRect">
            <a:avLst/>
          </a:prstGeom>
          <a:solidFill>
            <a:schemeClr val="bg2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ROB 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026" y="1061441"/>
            <a:ext cx="6268508" cy="52546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MT mode ROB is </a:t>
            </a:r>
            <a:r>
              <a:rPr lang="en-US" b="1" dirty="0" smtClean="0"/>
              <a:t>partitioned</a:t>
            </a:r>
            <a:r>
              <a:rPr lang="en-US" dirty="0" smtClean="0"/>
              <a:t>, each part contains instructions only from one thread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Provide fairness execution of each thread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It’s complicated to make sharing scheme with dynamic repartitioning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Each thread has its own retirement logic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Stall in one thread doesn’t block retirement of another thread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case of mispredictions, only instructions from affected thread are cleared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Rounded Rectangle 18"/>
          <p:cNvSpPr/>
          <p:nvPr/>
        </p:nvSpPr>
        <p:spPr bwMode="auto">
          <a:xfrm>
            <a:off x="7951617" y="155466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 bwMode="auto">
          <a:xfrm>
            <a:off x="7951617" y="193566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1" name="Rounded Rectangle 20"/>
          <p:cNvSpPr/>
          <p:nvPr/>
        </p:nvSpPr>
        <p:spPr bwMode="auto">
          <a:xfrm>
            <a:off x="7951617" y="231666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7951617" y="269766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3" name="Rounded Rectangle 22"/>
          <p:cNvSpPr/>
          <p:nvPr/>
        </p:nvSpPr>
        <p:spPr bwMode="auto">
          <a:xfrm>
            <a:off x="7951617" y="3078668"/>
            <a:ext cx="532374" cy="312755"/>
          </a:xfrm>
          <a:prstGeom prst="roundRect">
            <a:avLst/>
          </a:prstGeom>
          <a:solidFill>
            <a:srgbClr val="0072DA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7951617" y="3466644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7951617" y="3847644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7951617" y="4228644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7951617" y="4609644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7951617" y="4990644"/>
            <a:ext cx="532374" cy="312755"/>
          </a:xfrm>
          <a:prstGeom prst="round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7951617" y="3466643"/>
            <a:ext cx="532374" cy="312755"/>
          </a:xfrm>
          <a:prstGeom prst="roundRect">
            <a:avLst/>
          </a:prstGeom>
          <a:solidFill>
            <a:srgbClr val="FF0000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7766050" y="3407611"/>
            <a:ext cx="1206500" cy="49820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dirty="0" smtClean="0">
              <a:latin typeface="+mj-lt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508975" y="1495601"/>
            <a:ext cx="1442642" cy="430887"/>
            <a:chOff x="6508975" y="1495601"/>
            <a:chExt cx="1442642" cy="430887"/>
          </a:xfrm>
        </p:grpSpPr>
        <p:sp>
          <p:nvSpPr>
            <p:cNvPr id="5" name="TextBox 4"/>
            <p:cNvSpPr txBox="1"/>
            <p:nvPr/>
          </p:nvSpPr>
          <p:spPr>
            <a:xfrm>
              <a:off x="6508975" y="1495601"/>
              <a:ext cx="125707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Retirement point </a:t>
              </a:r>
              <a:br>
                <a:rPr lang="en-US" sz="1100" dirty="0" smtClean="0">
                  <a:latin typeface="Neo Sans Intel" panose="020B0504020202020204" pitchFamily="34" charset="0"/>
                </a:rPr>
              </a:br>
              <a:r>
                <a:rPr lang="en-US" sz="1100" dirty="0" smtClean="0">
                  <a:latin typeface="Neo Sans Intel" panose="020B0504020202020204" pitchFamily="34" charset="0"/>
                </a:rPr>
                <a:t>(thread 1)</a:t>
              </a:r>
            </a:p>
          </p:txBody>
        </p:sp>
        <p:cxnSp>
          <p:nvCxnSpPr>
            <p:cNvPr id="7" name="Straight Arrow Connector 6"/>
            <p:cNvCxnSpPr>
              <a:endCxn id="19" idx="1"/>
            </p:cNvCxnSpPr>
            <p:nvPr/>
          </p:nvCxnSpPr>
          <p:spPr bwMode="auto">
            <a:xfrm>
              <a:off x="7642860" y="1711044"/>
              <a:ext cx="308757" cy="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10" name="Group 9"/>
          <p:cNvGrpSpPr/>
          <p:nvPr/>
        </p:nvGrpSpPr>
        <p:grpSpPr>
          <a:xfrm>
            <a:off x="6508974" y="3407576"/>
            <a:ext cx="1446600" cy="430887"/>
            <a:chOff x="6508974" y="3407576"/>
            <a:chExt cx="1446600" cy="430887"/>
          </a:xfrm>
        </p:grpSpPr>
        <p:sp>
          <p:nvSpPr>
            <p:cNvPr id="41" name="TextBox 40"/>
            <p:cNvSpPr txBox="1"/>
            <p:nvPr/>
          </p:nvSpPr>
          <p:spPr>
            <a:xfrm>
              <a:off x="6508974" y="3407576"/>
              <a:ext cx="125707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Retirement point </a:t>
              </a:r>
              <a:br>
                <a:rPr lang="en-US" sz="1100" dirty="0" smtClean="0">
                  <a:latin typeface="Neo Sans Intel" panose="020B0504020202020204" pitchFamily="34" charset="0"/>
                </a:rPr>
              </a:br>
              <a:r>
                <a:rPr lang="en-US" sz="1100" dirty="0" smtClean="0">
                  <a:latin typeface="Neo Sans Intel" panose="020B0504020202020204" pitchFamily="34" charset="0"/>
                </a:rPr>
                <a:t>(thread 2)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7646817" y="3624490"/>
              <a:ext cx="308757" cy="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3955931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6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50" autoRev="1" fill="remov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500"/>
                            </p:stCondLst>
                            <p:childTnLst>
                              <p:par>
                                <p:cTn id="1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000"/>
                            </p:stCondLst>
                            <p:childTnLst>
                              <p:par>
                                <p:cTn id="1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3" grpId="0" build="p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Data cache sharing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Caches are addressed in </a:t>
            </a:r>
            <a:r>
              <a:rPr lang="en-US" b="1" dirty="0" smtClean="0"/>
              <a:t>physical addresses </a:t>
            </a:r>
            <a:r>
              <a:rPr lang="en-US" dirty="0" smtClean="0"/>
              <a:t>and considered as </a:t>
            </a:r>
            <a:r>
              <a:rPr lang="en-US" b="1" dirty="0" smtClean="0"/>
              <a:t>shared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the data is common (cooperative workload), both threads hit to cache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Otherwise, LRU algorithm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Ambiguity is avoided: physical address is thread-independent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413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sharing: pipeline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3474720"/>
            <a:ext cx="8228012" cy="30127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Overhead on HW size mostly comes from replicated resources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2x ARF, 2x PC, 2x APIC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Additional HW for thread switching between pipeline stages </a:t>
            </a:r>
            <a:br>
              <a:rPr lang="en-US" sz="2000" dirty="0" smtClean="0">
                <a:solidFill>
                  <a:schemeClr val="tx2"/>
                </a:solidFill>
              </a:rPr>
            </a:br>
            <a:r>
              <a:rPr lang="en-US" sz="2000" dirty="0" smtClean="0">
                <a:solidFill>
                  <a:schemeClr val="tx2"/>
                </a:solidFill>
              </a:rPr>
              <a:t>(thread selectors)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Still overhead is much less than 2x core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041112"/>
            <a:ext cx="8768532" cy="231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738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SMT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Pros: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Increases overall system’s throughput by utilizing machine resources more effectively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Shadow pipeline hazards and allocation stalls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Introduce little addition HW (only replicated resources)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Cons: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ST </a:t>
            </a:r>
            <a:r>
              <a:rPr lang="en-US" dirty="0" smtClean="0"/>
              <a:t>performance of each thread is </a:t>
            </a:r>
            <a:r>
              <a:rPr lang="en-US" dirty="0" smtClean="0"/>
              <a:t>smaller</a:t>
            </a:r>
            <a:endParaRPr lang="en-US" dirty="0" smtClean="0"/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Could significantly drop performance due to cache thrashing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Unlikely help traces with enough ILP or high memory bandwidth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79879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59931"/>
            <a:ext cx="8439005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SMT technology been around 1950s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First researched by IBM in ACS-360 project (1968)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Dean M. </a:t>
            </a:r>
            <a:r>
              <a:rPr lang="en-US" sz="2000" dirty="0" err="1" smtClean="0"/>
              <a:t>Tullsen</a:t>
            </a:r>
            <a:r>
              <a:rPr lang="en-US" sz="2000" dirty="0" smtClean="0"/>
              <a:t> et al </a:t>
            </a:r>
            <a:r>
              <a:rPr lang="en-US" sz="2000" dirty="0"/>
              <a:t>–</a:t>
            </a:r>
            <a:r>
              <a:rPr lang="en-US" sz="2000" dirty="0" smtClean="0"/>
              <a:t> Simultaneous </a:t>
            </a:r>
            <a:r>
              <a:rPr lang="en-US" sz="2000" dirty="0"/>
              <a:t>Multithreading: Maximizing On-Chip </a:t>
            </a:r>
            <a:r>
              <a:rPr lang="en-US" sz="2000" dirty="0" smtClean="0"/>
              <a:t>Parallelism – University of Washington (1995)</a:t>
            </a:r>
            <a:endParaRPr lang="en-US" sz="2000" dirty="0"/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Major commercial CPU – DEC Alpha 21464 w/ SMT4 (cancelled 2001)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Intel Pentium 4 / Xeon – SMT2 support in </a:t>
            </a:r>
            <a:r>
              <a:rPr lang="en-US" sz="2000" dirty="0" err="1" smtClean="0"/>
              <a:t>NetBurst</a:t>
            </a:r>
            <a:r>
              <a:rPr lang="en-US" sz="2000" dirty="0" smtClean="0"/>
              <a:t> architecture (2002)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Modern implementations: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2 threads: Intel Atom/Core i7/Xeon (since 2008), AMD Ryzen, </a:t>
            </a:r>
            <a:r>
              <a:rPr lang="en-US" sz="2000" dirty="0"/>
              <a:t>IBM Power 6</a:t>
            </a:r>
            <a:endParaRPr lang="en-US" sz="2000" dirty="0" smtClean="0"/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4 threads: Intel Xeon Phi, IBM Power 7 (8 cores - 32 threads)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8 threads: IBM Power 8/9 (12 cores – 96 threads)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38254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360279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1198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6.3|12.3|1.8|1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9.5|6.7|16.1|32.2|41|27|25.5|11.3|18.7|5.3|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20.5|15.3|1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4.8|10.4|27.3|34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60.3|12.2|11.6|3.9|24.2|23.6|5.7|12.1|6.1|14.9|36.1|4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39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3.9|2.7|4.2|1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9.6|1.8|29.2|53.6|88.7|5.7|26|118.4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16438</TotalTime>
  <Words>1018</Words>
  <Application>Microsoft Office PowerPoint</Application>
  <PresentationFormat>On-screen Show (4:3)</PresentationFormat>
  <Paragraphs>176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MS PGothic</vt:lpstr>
      <vt:lpstr>MS PGothic</vt:lpstr>
      <vt:lpstr>Arial</vt:lpstr>
      <vt:lpstr>Calibri</vt:lpstr>
      <vt:lpstr>Neo Sans Intel</vt:lpstr>
      <vt:lpstr>Neo Sans Intel Light</vt:lpstr>
      <vt:lpstr>Neo Sans Intel Medium</vt:lpstr>
      <vt:lpstr>Times</vt:lpstr>
      <vt:lpstr>Verdana</vt:lpstr>
      <vt:lpstr>Wingdings</vt:lpstr>
      <vt:lpstr>mdsp_2011</vt:lpstr>
      <vt:lpstr>Simultaneous Multithreading</vt:lpstr>
      <vt:lpstr>Refresher: Motivation</vt:lpstr>
      <vt:lpstr>Why ST performance doesn’t increase?</vt:lpstr>
      <vt:lpstr>Refresher: Thread-level parallelism</vt:lpstr>
      <vt:lpstr>Simultaneous Multithreading</vt:lpstr>
      <vt:lpstr>Resource Sharing</vt:lpstr>
      <vt:lpstr>Example: Branch Predictor sharing</vt:lpstr>
      <vt:lpstr>Example: Schedule queue sharing</vt:lpstr>
      <vt:lpstr>Example: ROB replication</vt:lpstr>
      <vt:lpstr>Example: Data cache sharing</vt:lpstr>
      <vt:lpstr>Resource sharing: pipeline overview</vt:lpstr>
      <vt:lpstr>SMT pros and cons</vt:lpstr>
      <vt:lpstr>Implementations</vt:lpstr>
      <vt:lpstr>The End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315</cp:revision>
  <dcterms:created xsi:type="dcterms:W3CDTF">2011-10-24T08:13:52Z</dcterms:created>
  <dcterms:modified xsi:type="dcterms:W3CDTF">2018-04-15T11:55:43Z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2018-04-15 11:55:43Z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