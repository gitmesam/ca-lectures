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9700" autoAdjust="0"/>
  </p:normalViewPr>
  <p:slideViewPr>
    <p:cSldViewPr snapToGrid="0">
      <p:cViewPr varScale="1">
        <p:scale>
          <a:sx n="102" d="100"/>
          <a:sy n="102" d="100"/>
        </p:scale>
        <p:origin x="132" y="408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3/17/2018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3/17/2018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91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61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1000" dirty="0" smtClean="0">
                <a:latin typeface="+mj-lt"/>
              </a:rPr>
              <a:t> </a:t>
            </a:r>
            <a:r>
              <a:rPr lang="en-US" dirty="0" smtClean="0">
                <a:latin typeface="+mj-lt"/>
              </a:rPr>
              <a:t>Out-Of-Order Execution (part II)</a:t>
            </a:r>
            <a:endParaRPr lang="en-US" sz="2800" dirty="0">
              <a:latin typeface="+mj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498598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Igor Smirnov</a:t>
            </a:r>
            <a:r>
              <a:rPr lang="en-US" dirty="0" smtClean="0">
                <a:latin typeface="+mj-lt"/>
              </a:rPr>
              <a:t/>
            </a:r>
            <a:br>
              <a:rPr lang="en-US" dirty="0" smtClean="0">
                <a:latin typeface="+mj-lt"/>
              </a:rPr>
            </a:br>
            <a:r>
              <a:rPr lang="en-US" dirty="0" smtClean="0">
                <a:latin typeface="+mj-lt"/>
              </a:rPr>
              <a:t>17 </a:t>
            </a:r>
            <a:r>
              <a:rPr lang="en-US" dirty="0" smtClean="0">
                <a:latin typeface="+mj-lt"/>
              </a:rPr>
              <a:t>March </a:t>
            </a:r>
            <a:r>
              <a:rPr lang="en-US" dirty="0" smtClean="0">
                <a:latin typeface="+mj-lt"/>
              </a:rPr>
              <a:t>2018</a:t>
            </a:r>
            <a:endParaRPr lang="en-US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79987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OOO Exe</a:t>
            </a:r>
            <a:endParaRPr lang="ru-RU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926865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Superscalar – wide pipeline (4-5 in modern CPU)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Out-of-order – execute according real dependencies (“data flow”) rather than program order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Advantages: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Exploit parallelism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beyond adjacent instructions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Hide long latencies (e.g., cache misses)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Compatibility: need to maintain visibility of in-order execution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Precise exceptions, memory model, etc.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52600" y="2389905"/>
            <a:ext cx="5781472" cy="1561590"/>
            <a:chOff x="643005" y="2667000"/>
            <a:chExt cx="10540739" cy="284707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005" y="2667000"/>
              <a:ext cx="2828789" cy="284707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86200" y="2680475"/>
              <a:ext cx="7297544" cy="1908213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1261893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HW </a:t>
            </a:r>
            <a:r>
              <a:rPr lang="en-US" dirty="0"/>
              <a:t>I</a:t>
            </a:r>
            <a:r>
              <a:rPr lang="en-US" dirty="0" smtClean="0"/>
              <a:t>nstruction Window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44880"/>
            <a:ext cx="8229600" cy="5379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states are supported: speculative and architectural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Instruction window (ROB) keeps all in-flight instructions and allows reconstruction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original order at retirement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en-US" sz="4000" dirty="0">
              <a:solidFill>
                <a:sysClr val="windowText" lastClr="000000"/>
              </a:solidFill>
              <a:latin typeface="Calibri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large window the better performance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Limitations: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False dependencies -&gt; rename registers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Branches -&gt; accurate dynamic prediction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Complex HW </a:t>
            </a:r>
            <a:r>
              <a:rPr lang="en-US" sz="2000" dirty="0" smtClean="0">
                <a:solidFill>
                  <a:schemeClr val="bg2"/>
                </a:solidFill>
                <a:latin typeface="Calibri"/>
              </a:rPr>
              <a:t>(so far we did not talk about that)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97" y="2466797"/>
            <a:ext cx="5487341" cy="15655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6214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 Restore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14401"/>
            <a:ext cx="8229600" cy="1091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800" dirty="0" smtClean="0">
                <a:solidFill>
                  <a:sysClr val="windowText" lastClr="000000"/>
                </a:solidFill>
                <a:latin typeface="Calibri"/>
              </a:rPr>
              <a:t>Each ROB entry saves previous register alias (history)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flush, ROB is restores history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85800" y="2606438"/>
            <a:ext cx="4127768" cy="227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r4 / r7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+ r2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arenBoth" startAt="3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r5 + 1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arenBoth" startAt="3"/>
              <a:tabLst/>
              <a:defRPr/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(5)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r6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r6 – r3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(6)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r4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 load [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r1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+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r6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(7)   r7 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r8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  *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r4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3982" y="2083218"/>
            <a:ext cx="1511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4482" y="2083218"/>
            <a:ext cx="1638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Renaming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81600" y="2572683"/>
            <a:ext cx="152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 ≡ </a:t>
            </a:r>
            <a:r>
              <a:rPr lang="en-US" sz="20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FF99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srgbClr val="C46BE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pr15 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≡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  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196340" y="5532120"/>
          <a:ext cx="7234596" cy="792480"/>
        </p:xfrm>
        <a:graphic>
          <a:graphicData uri="http://schemas.openxmlformats.org/drawingml/2006/table">
            <a:tbl>
              <a:tblPr firstRow="1" bandRow="1"/>
              <a:tblGrid>
                <a:gridCol w="693420"/>
                <a:gridCol w="693420"/>
                <a:gridCol w="693420"/>
                <a:gridCol w="693420"/>
                <a:gridCol w="693420"/>
                <a:gridCol w="747459"/>
                <a:gridCol w="639381"/>
                <a:gridCol w="786748"/>
                <a:gridCol w="805343"/>
                <a:gridCol w="788565"/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pr7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</a:t>
                      </a:r>
                      <a:r>
                        <a:rPr lang="ru-RU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21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pr20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pr3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pr8</a:t>
                      </a:r>
                      <a:endParaRPr lang="ru-RU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590800" y="5924788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97378" y="5937999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2558" y="5919804"/>
            <a:ext cx="694931" cy="369332"/>
          </a:xfrm>
          <a:prstGeom prst="rect">
            <a:avLst/>
          </a:prstGeom>
          <a:solidFill>
            <a:srgbClr val="D0D8E8"/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pr15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78680" y="5921216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90799" y="5937999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45416" y="5937999"/>
            <a:ext cx="691215" cy="369332"/>
          </a:xfrm>
          <a:prstGeom prst="rect">
            <a:avLst/>
          </a:prstGeom>
          <a:solidFill>
            <a:srgbClr val="D0D8E8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1580" y="2606438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28844" y="2957056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pr10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11580" y="2974768"/>
            <a:ext cx="748923" cy="400110"/>
          </a:xfrm>
          <a:prstGeom prst="rect">
            <a:avLst/>
          </a:prstGeom>
          <a:solidFill>
            <a:srgbClr val="00CC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97719" y="4828621"/>
            <a:ext cx="748923" cy="400110"/>
          </a:xfrm>
          <a:prstGeom prst="rect">
            <a:avLst/>
          </a:prstGeom>
          <a:solidFill>
            <a:srgbClr val="00CC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pr11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11580" y="3355907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62598" y="4476690"/>
            <a:ext cx="748923" cy="40011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pr12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11580" y="4134875"/>
            <a:ext cx="748923" cy="400110"/>
          </a:xfrm>
          <a:prstGeom prst="rect">
            <a:avLst/>
          </a:prstGeom>
          <a:solidFill>
            <a:srgbClr val="FF99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67984" y="4476690"/>
            <a:ext cx="748923" cy="400110"/>
          </a:xfrm>
          <a:prstGeom prst="rect">
            <a:avLst/>
          </a:prstGeom>
          <a:solidFill>
            <a:srgbClr val="FF9900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pr13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11580" y="4485706"/>
            <a:ext cx="748923" cy="400110"/>
          </a:xfrm>
          <a:prstGeom prst="rect">
            <a:avLst/>
          </a:prstGeom>
          <a:solidFill>
            <a:srgbClr val="C46BE1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29716" y="4845020"/>
            <a:ext cx="748923" cy="400110"/>
          </a:xfrm>
          <a:prstGeom prst="rect">
            <a:avLst/>
          </a:prstGeom>
          <a:solidFill>
            <a:srgbClr val="C46BE1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pr14</a:t>
            </a:r>
            <a:endParaRPr lang="ru-RU" dirty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24200" y="5095069"/>
            <a:ext cx="3023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Register Aliases Table (RAT)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11580" y="4850615"/>
            <a:ext cx="748923" cy="400110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pr15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27" name="Rectangle 6"/>
          <p:cNvSpPr/>
          <p:nvPr/>
        </p:nvSpPr>
        <p:spPr>
          <a:xfrm>
            <a:off x="6936296" y="2572683"/>
            <a:ext cx="193925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was pr7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was pr8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was pr10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FF99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was pr20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C46BE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 </a:t>
            </a: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was pr21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 was pr3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6296" y="2112531"/>
            <a:ext cx="122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History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2450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/>
      <p:bldP spid="26" grpId="0" animBg="1"/>
      <p:bldP spid="26" grpId="1" animBg="1"/>
      <p:bldP spid="28" grpId="0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Handling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26758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Exception Handling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pipelined machine exceptions handling is complicated: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Speculative code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Simultaneous exceptions on different pipe stages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Cancellation of consequent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solution was to postpone handling until </a:t>
            </a:r>
            <a:r>
              <a:rPr lang="en-US" dirty="0" err="1" smtClean="0"/>
              <a:t>writeback</a:t>
            </a:r>
            <a:endParaRPr lang="en-US" dirty="0" smtClean="0"/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In OOO, we have retirement instead of </a:t>
            </a:r>
            <a:r>
              <a:rPr lang="en-US" b="1" dirty="0" err="1" smtClean="0"/>
              <a:t>writeback</a:t>
            </a:r>
            <a:endParaRPr lang="ru-RU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43"/>
          <a:stretch/>
        </p:blipFill>
        <p:spPr bwMode="auto">
          <a:xfrm>
            <a:off x="118174" y="4022505"/>
            <a:ext cx="8950325" cy="2341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37968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Exceptions</a:t>
            </a:r>
          </a:p>
        </p:txBody>
      </p:sp>
      <p:sp>
        <p:nvSpPr>
          <p:cNvPr id="12288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3530" y="3238150"/>
            <a:ext cx="7993310" cy="2793534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At execution instruction that takes a fault/exception is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marked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Instructions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older than the marked instruction are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retired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When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the marked instruction retires – handle the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fault</a:t>
            </a:r>
          </a:p>
          <a:p>
            <a:pPr lvl="2"/>
            <a:r>
              <a:rPr lang="en-US" sz="18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Flush </a:t>
            </a:r>
            <a:r>
              <a:rPr lang="en-US" sz="18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the </a:t>
            </a:r>
            <a:r>
              <a:rPr lang="en-US" sz="18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ROB</a:t>
            </a:r>
          </a:p>
          <a:p>
            <a:pPr lvl="2"/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Initiate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the handling code according to the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type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+mn-cs"/>
            </a:endParaRPr>
          </a:p>
          <a:p>
            <a:pPr lvl="2"/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+mn-cs"/>
              </a:rPr>
              <a:t>Re-fetch the faulting instruction and the subsequent instructions</a:t>
            </a:r>
          </a:p>
        </p:txBody>
      </p:sp>
      <p:sp>
        <p:nvSpPr>
          <p:cNvPr id="22" name="Rounded Rectangle 3"/>
          <p:cNvSpPr/>
          <p:nvPr/>
        </p:nvSpPr>
        <p:spPr>
          <a:xfrm>
            <a:off x="922864" y="1626861"/>
            <a:ext cx="7406640" cy="768096"/>
          </a:xfrm>
          <a:prstGeom prst="roundRect">
            <a:avLst>
              <a:gd name="adj" fmla="val 9409"/>
            </a:avLst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4"/>
          <p:cNvSpPr/>
          <p:nvPr/>
        </p:nvSpPr>
        <p:spPr>
          <a:xfrm>
            <a:off x="794822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ight Arrow 5"/>
          <p:cNvSpPr/>
          <p:nvPr/>
        </p:nvSpPr>
        <p:spPr>
          <a:xfrm>
            <a:off x="371931" y="1896101"/>
            <a:ext cx="413738" cy="23641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ight Arrow 6"/>
          <p:cNvSpPr/>
          <p:nvPr/>
        </p:nvSpPr>
        <p:spPr>
          <a:xfrm>
            <a:off x="8416338" y="1899815"/>
            <a:ext cx="413738" cy="23641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515" y="1584435"/>
            <a:ext cx="69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Fetch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3189" y="1550383"/>
            <a:ext cx="74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Retire</a:t>
            </a:r>
          </a:p>
        </p:txBody>
      </p:sp>
      <p:sp>
        <p:nvSpPr>
          <p:cNvPr id="28" name="Rectangle 9"/>
          <p:cNvSpPr/>
          <p:nvPr/>
        </p:nvSpPr>
        <p:spPr>
          <a:xfrm>
            <a:off x="755452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10"/>
          <p:cNvSpPr/>
          <p:nvPr/>
        </p:nvSpPr>
        <p:spPr>
          <a:xfrm>
            <a:off x="716082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11"/>
          <p:cNvSpPr/>
          <p:nvPr/>
        </p:nvSpPr>
        <p:spPr>
          <a:xfrm>
            <a:off x="637850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12"/>
          <p:cNvSpPr/>
          <p:nvPr/>
        </p:nvSpPr>
        <p:spPr>
          <a:xfrm>
            <a:off x="598480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13"/>
          <p:cNvSpPr/>
          <p:nvPr/>
        </p:nvSpPr>
        <p:spPr>
          <a:xfrm>
            <a:off x="559110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14"/>
          <p:cNvSpPr/>
          <p:nvPr/>
        </p:nvSpPr>
        <p:spPr>
          <a:xfrm>
            <a:off x="5197404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15"/>
          <p:cNvSpPr/>
          <p:nvPr/>
        </p:nvSpPr>
        <p:spPr>
          <a:xfrm>
            <a:off x="6770997" y="1672580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16"/>
          <p:cNvSpPr/>
          <p:nvPr/>
        </p:nvSpPr>
        <p:spPr>
          <a:xfrm>
            <a:off x="6770934" y="1673597"/>
            <a:ext cx="314960" cy="660400"/>
          </a:xfrm>
          <a:prstGeom prst="rect">
            <a:avLst/>
          </a:prstGeom>
          <a:pattFill prst="wdUpDiag">
            <a:fgClr>
              <a:srgbClr val="C0504D"/>
            </a:fgClr>
            <a:bgClr>
              <a:srgbClr val="C0504D">
                <a:lumMod val="20000"/>
                <a:lumOff val="80000"/>
              </a:srgbClr>
            </a:bgClr>
          </a:pattFill>
          <a:ln w="31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17"/>
          <p:cNvSpPr/>
          <p:nvPr/>
        </p:nvSpPr>
        <p:spPr>
          <a:xfrm>
            <a:off x="7949295" y="1673693"/>
            <a:ext cx="314960" cy="660400"/>
          </a:xfrm>
          <a:prstGeom prst="rect">
            <a:avLst/>
          </a:prstGeom>
          <a:solidFill>
            <a:srgbClr val="4F81BD"/>
          </a:solid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7160824" y="1672676"/>
            <a:ext cx="314960" cy="660400"/>
          </a:xfrm>
          <a:prstGeom prst="rect">
            <a:avLst/>
          </a:prstGeom>
          <a:solidFill>
            <a:srgbClr val="4F81BD"/>
          </a:solid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19"/>
          <p:cNvSpPr/>
          <p:nvPr/>
        </p:nvSpPr>
        <p:spPr>
          <a:xfrm>
            <a:off x="7554524" y="1672580"/>
            <a:ext cx="314960" cy="660400"/>
          </a:xfrm>
          <a:prstGeom prst="rect">
            <a:avLst/>
          </a:prstGeom>
          <a:solidFill>
            <a:srgbClr val="4F81BD"/>
          </a:solid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Line Callout 2 (No Border) 20"/>
          <p:cNvSpPr/>
          <p:nvPr/>
        </p:nvSpPr>
        <p:spPr>
          <a:xfrm>
            <a:off x="5197404" y="783550"/>
            <a:ext cx="1666994" cy="612648"/>
          </a:xfrm>
          <a:prstGeom prst="callout2">
            <a:avLst>
              <a:gd name="adj1" fmla="val 91554"/>
              <a:gd name="adj2" fmla="val 96171"/>
              <a:gd name="adj3" fmla="val 101836"/>
              <a:gd name="adj4" fmla="val 100380"/>
              <a:gd name="adj5" fmla="val 133975"/>
              <a:gd name="adj6" fmla="val 10216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  <a:cs typeface="+mn-cs"/>
              </a:rPr>
              <a:t>Instruction that caused exception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24"/>
          <p:cNvSpPr/>
          <p:nvPr/>
        </p:nvSpPr>
        <p:spPr>
          <a:xfrm>
            <a:off x="4805386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25"/>
          <p:cNvSpPr/>
          <p:nvPr/>
        </p:nvSpPr>
        <p:spPr>
          <a:xfrm>
            <a:off x="4411686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26"/>
          <p:cNvSpPr/>
          <p:nvPr/>
        </p:nvSpPr>
        <p:spPr>
          <a:xfrm>
            <a:off x="4017986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27"/>
          <p:cNvSpPr/>
          <p:nvPr/>
        </p:nvSpPr>
        <p:spPr>
          <a:xfrm>
            <a:off x="3624286" y="1673597"/>
            <a:ext cx="314960" cy="660400"/>
          </a:xfrm>
          <a:prstGeom prst="rect">
            <a:avLst/>
          </a:prstGeom>
          <a:pattFill prst="wdUpDiag">
            <a:fgClr>
              <a:srgbClr val="4F81BD"/>
            </a:fgClr>
            <a:bgClr>
              <a:srgbClr val="4F81BD">
                <a:lumMod val="40000"/>
                <a:lumOff val="60000"/>
              </a:srgbClr>
            </a:bgClr>
          </a:pattFill>
          <a:ln w="31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08818" y="1433096"/>
            <a:ext cx="6094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48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cs typeface="+mn-cs"/>
              </a:rPr>
              <a:t>…</a:t>
            </a:r>
          </a:p>
        </p:txBody>
      </p:sp>
      <p:grpSp>
        <p:nvGrpSpPr>
          <p:cNvPr id="45" name="Group 29"/>
          <p:cNvGrpSpPr/>
          <p:nvPr/>
        </p:nvGrpSpPr>
        <p:grpSpPr>
          <a:xfrm>
            <a:off x="4019227" y="1672676"/>
            <a:ext cx="2675478" cy="660400"/>
            <a:chOff x="3942969" y="5488902"/>
            <a:chExt cx="2675478" cy="660400"/>
          </a:xfrm>
        </p:grpSpPr>
        <p:sp>
          <p:nvSpPr>
            <p:cNvPr id="46" name="Rectangle 30"/>
            <p:cNvSpPr/>
            <p:nvPr/>
          </p:nvSpPr>
          <p:spPr>
            <a:xfrm>
              <a:off x="6303487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Rectangle 31"/>
            <p:cNvSpPr/>
            <p:nvPr/>
          </p:nvSpPr>
          <p:spPr>
            <a:xfrm>
              <a:off x="5516087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Rectangle 32"/>
            <p:cNvSpPr/>
            <p:nvPr/>
          </p:nvSpPr>
          <p:spPr>
            <a:xfrm>
              <a:off x="5122387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Rectangle 33"/>
            <p:cNvSpPr/>
            <p:nvPr/>
          </p:nvSpPr>
          <p:spPr>
            <a:xfrm>
              <a:off x="4336669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34"/>
            <p:cNvSpPr/>
            <p:nvPr/>
          </p:nvSpPr>
          <p:spPr>
            <a:xfrm>
              <a:off x="3942969" y="5488902"/>
              <a:ext cx="314960" cy="660400"/>
            </a:xfrm>
            <a:prstGeom prst="rect">
              <a:avLst/>
            </a:prstGeom>
            <a:solidFill>
              <a:srgbClr val="4F81BD"/>
            </a:solidFill>
            <a:ln w="3175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" name="Rectangle 37"/>
          <p:cNvSpPr/>
          <p:nvPr/>
        </p:nvSpPr>
        <p:spPr>
          <a:xfrm>
            <a:off x="6770934" y="1674485"/>
            <a:ext cx="314960" cy="660400"/>
          </a:xfrm>
          <a:prstGeom prst="rect">
            <a:avLst/>
          </a:prstGeom>
          <a:solidFill>
            <a:srgbClr val="C0504D"/>
          </a:solidFill>
          <a:ln w="31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ight Brace 40"/>
          <p:cNvSpPr/>
          <p:nvPr/>
        </p:nvSpPr>
        <p:spPr>
          <a:xfrm rot="5400000">
            <a:off x="3780686" y="-174728"/>
            <a:ext cx="185043" cy="5640513"/>
          </a:xfrm>
          <a:prstGeom prst="rightBrace">
            <a:avLst>
              <a:gd name="adj1" fmla="val 35786"/>
              <a:gd name="adj2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3" name="Group 42"/>
          <p:cNvGrpSpPr/>
          <p:nvPr/>
        </p:nvGrpSpPr>
        <p:grpSpPr>
          <a:xfrm>
            <a:off x="3019631" y="1647779"/>
            <a:ext cx="3749040" cy="709116"/>
            <a:chOff x="2987762" y="3146604"/>
            <a:chExt cx="3749040" cy="709116"/>
          </a:xfrm>
        </p:grpSpPr>
        <p:sp>
          <p:nvSpPr>
            <p:cNvPr id="54" name="Rectangle 43"/>
            <p:cNvSpPr/>
            <p:nvPr/>
          </p:nvSpPr>
          <p:spPr>
            <a:xfrm>
              <a:off x="3093672" y="3146604"/>
              <a:ext cx="3577113" cy="709116"/>
            </a:xfrm>
            <a:prstGeom prst="rect">
              <a:avLst/>
            </a:prstGeom>
            <a:solidFill>
              <a:srgbClr val="B9CDE5">
                <a:alpha val="7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ight Arrow 44"/>
            <p:cNvSpPr/>
            <p:nvPr/>
          </p:nvSpPr>
          <p:spPr>
            <a:xfrm flipH="1">
              <a:off x="2987762" y="3278086"/>
              <a:ext cx="3749040" cy="492862"/>
            </a:xfrm>
            <a:prstGeom prst="rightArrow">
              <a:avLst/>
            </a:prstGeom>
            <a:solidFill>
              <a:srgbClr val="C0504D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deleted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94835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6094 -0.00046 L 3.88889E-6 -1.48148E-6 " pathEditMode="relative" rAng="0" ptsTypes="AA">
                                      <p:cBhvr>
                                        <p:cTn id="9" dur="3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38" y="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71927 -0.00046 L -5.55556E-7 -1.48148E-6 " pathEditMode="relative" rAng="0" ptsTypes="AA">
                                      <p:cBhvr>
                                        <p:cTn id="14" dur="3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55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67605 -0.00046 L 5E-6 -1.48148E-6 " pathEditMode="relative" rAng="0" ptsTypes="AA">
                                      <p:cBhvr>
                                        <p:cTn id="19" dur="3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2" y="23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63941 -0.00046 L 3.33333E-6 -1.48148E-6 " pathEditMode="relative" rAng="0" ptsTypes="AA">
                                      <p:cBhvr>
                                        <p:cTn id="24" dur="3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6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01 -0.00046 L -4.72222E-6 -1.48148E-6 " pathEditMode="relative" rAng="0" ptsTypes="AA">
                                      <p:cBhvr>
                                        <p:cTn id="47" dur="3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97" y="2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55 -0.00046 L 8.33333E-7 -1.48148E-6 " pathEditMode="relative" rAng="0" ptsTypes="AA">
                                      <p:cBhvr>
                                        <p:cTn id="52" dur="3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00" y="2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50694 -0.00023 L -3.61111E-6 -1.48148E-6 " pathEditMode="relative" rAng="0" ptsTypes="AA">
                                      <p:cBhvr>
                                        <p:cTn id="57" dur="3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47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46024 0.00116 L 1.94444E-6 -1.48148E-6 " pathEditMode="relative" rAng="0" ptsTypes="AA">
                                      <p:cBhvr>
                                        <p:cTn id="62" dur="3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03" y="-6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-0.42066 -0.00023 L 3.88889E-6 -1.48148E-6 " pathEditMode="relative" rAng="0" ptsTypes="AA">
                                      <p:cBhvr>
                                        <p:cTn id="67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24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37778 -0.00023 L -5.55556E-7 -1.48148E-6 " pathEditMode="relative" rAng="0" ptsTypes="AA">
                                      <p:cBhvr>
                                        <p:cTn id="72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9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Motion origin="layout" path="M -0.33525 -0.00023 L 5E-6 -1.48148E-6 " pathEditMode="relative" rAng="0" ptsTypes="AA">
                                      <p:cBhvr>
                                        <p:cTn id="77" dur="3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53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-0.29201 0.0007 L 5.55556E-7 -1.48148E-6 " pathEditMode="relative" rAng="0" ptsTypes="AA">
                                      <p:cBhvr>
                                        <p:cTn id="82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0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2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8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9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48148E-6 L 0.08333 -1.48148E-6 " pathEditMode="relative" rAng="0" ptsTypes="AA">
                                      <p:cBhvr>
                                        <p:cTn id="129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5.55556E-7 -1.48148E-6 L 0.12674 -1.48148E-6 " pathEditMode="relative" rAng="0" ptsTypes="AA">
                                      <p:cBhvr>
                                        <p:cTn id="134" dur="1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37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63" presetClass="path" presetSubtype="0" accel="50000" decel="5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5E-6 -1.48148E-6 L 0.17084 -1.48148E-6 " pathEditMode="relative" rAng="0" ptsTypes="AA">
                                      <p:cBhvr>
                                        <p:cTn id="139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  <p:bldP spid="23" grpId="0" animBg="1"/>
      <p:bldP spid="23" grpId="1" animBg="1"/>
      <p:bldP spid="23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/>
      <p:bldP spid="51" grpId="0" animBg="1"/>
      <p:bldP spid="52" grpId="0" animBg="1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9664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an interrupt occurs, let the oldest instruction retire, flush everything younger and proceed to handling: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2058412" y="3084742"/>
            <a:ext cx="4492900" cy="1407106"/>
            <a:chOff x="2058412" y="3216720"/>
            <a:chExt cx="4492900" cy="1604090"/>
          </a:xfrm>
        </p:grpSpPr>
        <p:sp>
          <p:nvSpPr>
            <p:cNvPr id="31" name="Rectangle 30"/>
            <p:cNvSpPr/>
            <p:nvPr/>
          </p:nvSpPr>
          <p:spPr bwMode="auto">
            <a:xfrm>
              <a:off x="2058412" y="3218675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657741" y="3218675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3264743" y="3218675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4476630" y="3216720"/>
              <a:ext cx="886610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2664221" y="3753589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F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263550" y="3753589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870552" y="3753589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3271072" y="4285896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3870401" y="4285896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4477403" y="4285896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5785381" y="4285896"/>
              <a:ext cx="765931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851061" y="2148847"/>
            <a:ext cx="5700251" cy="938452"/>
            <a:chOff x="851061" y="2148847"/>
            <a:chExt cx="5700251" cy="1069828"/>
          </a:xfrm>
        </p:grpSpPr>
        <p:sp>
          <p:nvSpPr>
            <p:cNvPr id="16" name="Rectangle 15"/>
            <p:cNvSpPr/>
            <p:nvPr/>
          </p:nvSpPr>
          <p:spPr bwMode="auto">
            <a:xfrm>
              <a:off x="851061" y="2148847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450390" y="2148847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057392" y="2148847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147936" y="2148847"/>
              <a:ext cx="1215304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363240" y="2148847"/>
              <a:ext cx="594036" cy="534914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R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1456368" y="2683761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F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2055697" y="2683761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2653437" y="2683761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3867696" y="2682458"/>
              <a:ext cx="1213723" cy="534914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5957276" y="2682458"/>
              <a:ext cx="594036" cy="534914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R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67" name="Straight Connector 66"/>
          <p:cNvCxnSpPr/>
          <p:nvPr/>
        </p:nvCxnSpPr>
        <p:spPr bwMode="auto">
          <a:xfrm>
            <a:off x="5957276" y="1797179"/>
            <a:ext cx="0" cy="3191732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2" name="Group 71"/>
          <p:cNvGrpSpPr/>
          <p:nvPr/>
        </p:nvGrpSpPr>
        <p:grpSpPr>
          <a:xfrm>
            <a:off x="5957276" y="4769163"/>
            <a:ext cx="3021944" cy="1405391"/>
            <a:chOff x="2058412" y="3218675"/>
            <a:chExt cx="3021944" cy="1602135"/>
          </a:xfrm>
        </p:grpSpPr>
        <p:sp>
          <p:nvSpPr>
            <p:cNvPr id="73" name="Rectangle 72"/>
            <p:cNvSpPr/>
            <p:nvPr/>
          </p:nvSpPr>
          <p:spPr bwMode="auto">
            <a:xfrm>
              <a:off x="2058412" y="3218675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2657741" y="3218675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3264743" y="3218675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2664221" y="3753589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F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78" name="Rectangle 77"/>
            <p:cNvSpPr/>
            <p:nvPr/>
          </p:nvSpPr>
          <p:spPr bwMode="auto">
            <a:xfrm>
              <a:off x="3263550" y="3753589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79" name="Rectangle 78"/>
            <p:cNvSpPr/>
            <p:nvPr/>
          </p:nvSpPr>
          <p:spPr bwMode="auto">
            <a:xfrm>
              <a:off x="3870552" y="3753589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80" name="Rectangle 79"/>
            <p:cNvSpPr/>
            <p:nvPr/>
          </p:nvSpPr>
          <p:spPr bwMode="auto">
            <a:xfrm>
              <a:off x="3271072" y="4285896"/>
              <a:ext cx="602953" cy="534914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3870401" y="4285896"/>
              <a:ext cx="606229" cy="5349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4477403" y="4285896"/>
              <a:ext cx="602953" cy="534914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A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34197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41581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ROB Complex?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41" y="3713405"/>
            <a:ext cx="8332184" cy="2779991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The two complex searches though </a:t>
            </a: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all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 ROB entries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At allocation (once per each instruction): to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identify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producers of the instruction sources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At scheduling (every cycle): to identify ready instructions and send them to execution</a:t>
            </a:r>
          </a:p>
          <a:p>
            <a:pPr marL="342900" indent="-342900">
              <a:spcBef>
                <a:spcPts val="1200"/>
              </a:spcBef>
              <a:buClrTx/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The larger ROB the longer search and large HW structures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Prevents from doing ROB really large -&gt; loose potential performance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3949039" y="1496435"/>
          <a:ext cx="2178345" cy="3708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</a:tblGrid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381" y="1497189"/>
            <a:ext cx="587020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4F81BD">
                    <a:lumMod val="50000"/>
                  </a:srgbClr>
                </a:solidFill>
                <a:latin typeface="Calibri"/>
              </a:rPr>
              <a:t>ROB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4599" y="2180761"/>
            <a:ext cx="2525683" cy="1347076"/>
          </a:xfrm>
          <a:prstGeom prst="rect">
            <a:avLst/>
          </a:prstGeom>
          <a:solidFill>
            <a:srgbClr val="F5E3E3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solidFill>
                  <a:srgbClr val="632523"/>
                </a:solidFill>
                <a:latin typeface="Calibri"/>
                <a:cs typeface="+mn-cs"/>
              </a:rPr>
              <a:t>Out-of-order execution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7606" y="2817711"/>
            <a:ext cx="888530" cy="387775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PRF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0887" y="2817711"/>
            <a:ext cx="1124703" cy="387775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EXE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7606" y="2286559"/>
            <a:ext cx="2297985" cy="367159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Scheduler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233" y="1022438"/>
            <a:ext cx="2693327" cy="1072164"/>
          </a:xfrm>
          <a:prstGeom prst="rect">
            <a:avLst/>
          </a:prstGeom>
          <a:solidFill>
            <a:srgbClr val="E3EBF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3450" y="1144866"/>
            <a:ext cx="1666630" cy="866608"/>
          </a:xfrm>
          <a:prstGeom prst="rect">
            <a:avLst/>
          </a:prstGeom>
          <a:solidFill>
            <a:srgbClr val="E3EBF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Retirement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978" y="1497189"/>
            <a:ext cx="578550" cy="384048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ARF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1037" y="1366687"/>
            <a:ext cx="1285797" cy="629273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latin typeface="Calibri"/>
                <a:cs typeface="+mn-cs"/>
              </a:rPr>
              <a:t>Check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latin typeface="Calibri"/>
                <a:cs typeface="+mn-cs"/>
              </a:rPr>
              <a:t>Dependencies</a:t>
            </a:r>
            <a:endParaRPr lang="en-US" sz="1400" kern="0" dirty="0">
              <a:latin typeface="Calibri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72959" y="1366687"/>
            <a:ext cx="987266" cy="629273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latin typeface="Calibri"/>
                <a:cs typeface="+mn-cs"/>
              </a:rPr>
              <a:t>Rename Registers</a:t>
            </a:r>
            <a:endParaRPr lang="en-US" sz="1400" kern="0" dirty="0">
              <a:latin typeface="Calibri"/>
              <a:cs typeface="+mn-cs"/>
            </a:endParaRPr>
          </a:p>
        </p:txBody>
      </p:sp>
      <p:cxnSp>
        <p:nvCxnSpPr>
          <p:cNvPr id="26" name="Straight Arrow Connector 25"/>
          <p:cNvCxnSpPr>
            <a:stCxn id="23" idx="3"/>
            <a:endCxn id="22" idx="1"/>
          </p:cNvCxnSpPr>
          <p:nvPr/>
        </p:nvCxnSpPr>
        <p:spPr bwMode="auto">
          <a:xfrm>
            <a:off x="2060225" y="1681324"/>
            <a:ext cx="190812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5" name="Straight Arrow Connector 34"/>
          <p:cNvCxnSpPr>
            <a:stCxn id="13" idx="0"/>
          </p:cNvCxnSpPr>
          <p:nvPr/>
        </p:nvCxnSpPr>
        <p:spPr bwMode="auto">
          <a:xfrm flipH="1" flipV="1">
            <a:off x="5620327" y="2653718"/>
            <a:ext cx="2912" cy="163993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45" name="Straight Arrow Connector 44"/>
          <p:cNvCxnSpPr>
            <a:stCxn id="13" idx="1"/>
            <a:endCxn id="6" idx="3"/>
          </p:cNvCxnSpPr>
          <p:nvPr/>
        </p:nvCxnSpPr>
        <p:spPr bwMode="auto">
          <a:xfrm flipH="1">
            <a:off x="4776136" y="3011599"/>
            <a:ext cx="284751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78403E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7" name="Straight Arrow Connector 46"/>
          <p:cNvCxnSpPr>
            <a:stCxn id="22" idx="3"/>
            <a:endCxn id="7" idx="1"/>
          </p:cNvCxnSpPr>
          <p:nvPr/>
        </p:nvCxnSpPr>
        <p:spPr bwMode="auto">
          <a:xfrm>
            <a:off x="3536834" y="1681324"/>
            <a:ext cx="412205" cy="53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50" name="Straight Arrow Connector 49"/>
          <p:cNvCxnSpPr>
            <a:stCxn id="13" idx="3"/>
          </p:cNvCxnSpPr>
          <p:nvPr/>
        </p:nvCxnSpPr>
        <p:spPr bwMode="auto">
          <a:xfrm flipV="1">
            <a:off x="6185590" y="3011598"/>
            <a:ext cx="461200" cy="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pSp>
        <p:nvGrpSpPr>
          <p:cNvPr id="4" name="Group 3"/>
          <p:cNvGrpSpPr/>
          <p:nvPr/>
        </p:nvGrpSpPr>
        <p:grpSpPr>
          <a:xfrm>
            <a:off x="6606151" y="2228764"/>
            <a:ext cx="1464088" cy="1299074"/>
            <a:chOff x="6606151" y="2228764"/>
            <a:chExt cx="1464088" cy="1299074"/>
          </a:xfrm>
        </p:grpSpPr>
        <p:sp>
          <p:nvSpPr>
            <p:cNvPr id="21" name="Rectangle 20"/>
            <p:cNvSpPr/>
            <p:nvPr/>
          </p:nvSpPr>
          <p:spPr>
            <a:xfrm>
              <a:off x="6606151" y="2228765"/>
              <a:ext cx="1464088" cy="1299073"/>
            </a:xfrm>
            <a:prstGeom prst="rect">
              <a:avLst/>
            </a:prstGeom>
            <a:solidFill>
              <a:srgbClr val="B9CDE5"/>
            </a:solidFill>
            <a:ln w="25400" cap="flat" cmpd="sng" algn="ctr">
              <a:noFill/>
              <a:prstDash val="solid"/>
            </a:ln>
            <a:effectLst>
              <a:softEdge rad="3175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606151" y="2228764"/>
              <a:ext cx="1464088" cy="1299073"/>
            </a:xfrm>
            <a:custGeom>
              <a:avLst/>
              <a:gdLst>
                <a:gd name="connsiteX0" fmla="*/ 0 w 1464088"/>
                <a:gd name="connsiteY0" fmla="*/ 0 h 1299073"/>
                <a:gd name="connsiteX1" fmla="*/ 1464088 w 1464088"/>
                <a:gd name="connsiteY1" fmla="*/ 0 h 1299073"/>
                <a:gd name="connsiteX2" fmla="*/ 1464088 w 1464088"/>
                <a:gd name="connsiteY2" fmla="*/ 1299073 h 1299073"/>
                <a:gd name="connsiteX3" fmla="*/ 0 w 1464088"/>
                <a:gd name="connsiteY3" fmla="*/ 1299073 h 1299073"/>
                <a:gd name="connsiteX4" fmla="*/ 0 w 1464088"/>
                <a:gd name="connsiteY4" fmla="*/ 0 h 1299073"/>
                <a:gd name="connsiteX0" fmla="*/ 0 w 1464088"/>
                <a:gd name="connsiteY0" fmla="*/ 0 h 1299073"/>
                <a:gd name="connsiteX1" fmla="*/ 1464088 w 1464088"/>
                <a:gd name="connsiteY1" fmla="*/ 1299073 h 1299073"/>
                <a:gd name="connsiteX2" fmla="*/ 0 w 1464088"/>
                <a:gd name="connsiteY2" fmla="*/ 1299073 h 1299073"/>
                <a:gd name="connsiteX3" fmla="*/ 0 w 1464088"/>
                <a:gd name="connsiteY3" fmla="*/ 0 h 129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4088" h="1299073">
                  <a:moveTo>
                    <a:pt x="0" y="0"/>
                  </a:moveTo>
                  <a:lnTo>
                    <a:pt x="1464088" y="1299073"/>
                  </a:lnTo>
                  <a:lnTo>
                    <a:pt x="0" y="12990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B9B8"/>
            </a:solidFill>
            <a:ln w="25400" cap="flat" cmpd="sng" algn="ctr">
              <a:noFill/>
              <a:prstDash val="solid"/>
            </a:ln>
            <a:effectLst>
              <a:softEdge rad="3175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 smtClean="0">
                  <a:solidFill>
                    <a:srgbClr val="632523"/>
                  </a:solidFill>
                  <a:latin typeface="Calibri"/>
                  <a:cs typeface="+mn-cs"/>
                </a:rPr>
                <a:t>Mem</a:t>
              </a:r>
              <a:r>
                <a:rPr lang="en-US" kern="0" dirty="0" smtClean="0">
                  <a:solidFill>
                    <a:srgbClr val="4F81BD">
                      <a:lumMod val="50000"/>
                    </a:srgbClr>
                  </a:solidFill>
                  <a:latin typeface="Calibri"/>
                  <a:cs typeface="+mn-cs"/>
                </a:rPr>
                <a:t>ory</a:t>
              </a: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53" name="Straight Arrow Connector 52"/>
          <p:cNvCxnSpPr>
            <a:stCxn id="14" idx="0"/>
            <a:endCxn id="7" idx="2"/>
          </p:cNvCxnSpPr>
          <p:nvPr/>
        </p:nvCxnSpPr>
        <p:spPr bwMode="auto">
          <a:xfrm flipV="1">
            <a:off x="5036599" y="1867275"/>
            <a:ext cx="1612" cy="41928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57" name="Straight Arrow Connector 56"/>
          <p:cNvCxnSpPr>
            <a:stCxn id="7" idx="3"/>
          </p:cNvCxnSpPr>
          <p:nvPr/>
        </p:nvCxnSpPr>
        <p:spPr bwMode="auto">
          <a:xfrm flipV="1">
            <a:off x="6127384" y="1681323"/>
            <a:ext cx="566594" cy="53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7387606" y="1497189"/>
            <a:ext cx="701976" cy="384048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Write data</a:t>
            </a:r>
            <a:endParaRPr lang="en-US" sz="1400" kern="0" dirty="0">
              <a:solidFill>
                <a:srgbClr val="4F81BD">
                  <a:lumMod val="50000"/>
                </a:srgbClr>
              </a:solidFill>
              <a:latin typeface="Calibri"/>
              <a:cs typeface="+mn-cs"/>
            </a:endParaRPr>
          </a:p>
        </p:txBody>
      </p:sp>
      <p:cxnSp>
        <p:nvCxnSpPr>
          <p:cNvPr id="65" name="Straight Arrow Connector 64"/>
          <p:cNvCxnSpPr>
            <a:stCxn id="63" idx="2"/>
          </p:cNvCxnSpPr>
          <p:nvPr/>
        </p:nvCxnSpPr>
        <p:spPr bwMode="auto">
          <a:xfrm>
            <a:off x="7738594" y="1881237"/>
            <a:ext cx="0" cy="40532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66" name="TextBox 65"/>
          <p:cNvSpPr txBox="1"/>
          <p:nvPr/>
        </p:nvSpPr>
        <p:spPr>
          <a:xfrm rot="16200000">
            <a:off x="29400" y="1419026"/>
            <a:ext cx="982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from decoder</a:t>
            </a:r>
            <a:endParaRPr lang="ru-RU" sz="1400" dirty="0" smtClean="0">
              <a:latin typeface="+mj-lt"/>
            </a:endParaRPr>
          </a:p>
        </p:txBody>
      </p:sp>
      <p:cxnSp>
        <p:nvCxnSpPr>
          <p:cNvPr id="68" name="Straight Arrow Connector 67"/>
          <p:cNvCxnSpPr>
            <a:stCxn id="66" idx="2"/>
            <a:endCxn id="23" idx="1"/>
          </p:cNvCxnSpPr>
          <p:nvPr/>
        </p:nvCxnSpPr>
        <p:spPr bwMode="auto">
          <a:xfrm>
            <a:off x="782508" y="1680636"/>
            <a:ext cx="290451" cy="68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132563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6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63" grpId="0" animBg="1"/>
      <p:bldP spid="66" grpId="0"/>
      <p:bldP spid="66" grpId="1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Scheduler Queue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41" y="3656843"/>
            <a:ext cx="8332184" cy="2779991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It is enough to check only not completed instructions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Their number is usually significantly less than ROB size </a:t>
            </a:r>
            <a:r>
              <a:rPr lang="en-US" sz="2000" kern="1200" dirty="0" smtClean="0">
                <a:solidFill>
                  <a:schemeClr val="tx2"/>
                </a:solidFill>
                <a:latin typeface="Calibri"/>
                <a:ea typeface="+mn-ea"/>
                <a:cs typeface="Arial" charset="0"/>
              </a:rPr>
              <a:t>(20-30%)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Decision: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Create a smaller queue for not completed instructions only </a:t>
            </a:r>
            <a:r>
              <a:rPr lang="en-US" sz="2000" kern="1200" dirty="0">
                <a:solidFill>
                  <a:srgbClr val="939598"/>
                </a:solidFill>
                <a:latin typeface="Calibri"/>
                <a:ea typeface="+mn-ea"/>
                <a:cs typeface="Arial" charset="0"/>
              </a:rPr>
              <a:t>(scheduling queue or reservation stations</a:t>
            </a:r>
            <a:r>
              <a:rPr lang="en-US" sz="2000" kern="1200" dirty="0" smtClean="0">
                <a:solidFill>
                  <a:srgbClr val="939598"/>
                </a:solidFill>
                <a:latin typeface="Calibri"/>
                <a:ea typeface="+mn-ea"/>
                <a:cs typeface="Arial" charset="0"/>
              </a:rPr>
              <a:t>)</a:t>
            </a:r>
            <a:endParaRPr lang="en-US" sz="2000" kern="1200" dirty="0">
              <a:solidFill>
                <a:srgbClr val="939598"/>
              </a:solidFill>
              <a:latin typeface="Calibri"/>
              <a:ea typeface="+mn-ea"/>
              <a:cs typeface="Arial" charset="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3949039" y="1496435"/>
          <a:ext cx="2178345" cy="3708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</a:tblGrid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4724381" y="1497189"/>
            <a:ext cx="587020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4F81BD">
                    <a:lumMod val="50000"/>
                  </a:srgbClr>
                </a:solidFill>
                <a:latin typeface="Calibri"/>
              </a:rPr>
              <a:t>ROB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4599" y="2180761"/>
            <a:ext cx="2525683" cy="1347076"/>
          </a:xfrm>
          <a:prstGeom prst="rect">
            <a:avLst/>
          </a:prstGeom>
          <a:solidFill>
            <a:srgbClr val="F5E3E3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solidFill>
                  <a:srgbClr val="632523"/>
                </a:solidFill>
                <a:latin typeface="Calibri"/>
                <a:cs typeface="+mn-cs"/>
              </a:rPr>
              <a:t>Out-of-order execution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7606" y="2817711"/>
            <a:ext cx="888530" cy="387775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PRF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60887" y="2817711"/>
            <a:ext cx="1124703" cy="387775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EXE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7606" y="2286559"/>
            <a:ext cx="2297985" cy="367159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Scheduler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8233" y="1022438"/>
            <a:ext cx="2693327" cy="1072164"/>
          </a:xfrm>
          <a:prstGeom prst="rect">
            <a:avLst/>
          </a:prstGeom>
          <a:solidFill>
            <a:srgbClr val="E3EBF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Allocation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93450" y="1144866"/>
            <a:ext cx="1666630" cy="866608"/>
          </a:xfrm>
          <a:prstGeom prst="rect">
            <a:avLst/>
          </a:prstGeom>
          <a:solidFill>
            <a:srgbClr val="E3EBF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Retirement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3978" y="1497189"/>
            <a:ext cx="578550" cy="384048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ARF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51037" y="1366687"/>
            <a:ext cx="1285797" cy="629273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latin typeface="Calibri"/>
                <a:cs typeface="+mn-cs"/>
              </a:rPr>
              <a:t>Check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latin typeface="Calibri"/>
                <a:cs typeface="+mn-cs"/>
              </a:rPr>
              <a:t>Dependencies</a:t>
            </a:r>
            <a:endParaRPr lang="en-US" sz="1400" kern="0" dirty="0">
              <a:latin typeface="Calibri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072959" y="1366687"/>
            <a:ext cx="987266" cy="629273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latin typeface="Calibri"/>
                <a:cs typeface="+mn-cs"/>
              </a:rPr>
              <a:t>Rename Registers</a:t>
            </a:r>
            <a:endParaRPr lang="en-US" sz="1400" kern="0" dirty="0">
              <a:latin typeface="Calibri"/>
              <a:cs typeface="+mn-cs"/>
            </a:endParaRPr>
          </a:p>
        </p:txBody>
      </p:sp>
      <p:cxnSp>
        <p:nvCxnSpPr>
          <p:cNvPr id="64" name="Straight Arrow Connector 63"/>
          <p:cNvCxnSpPr>
            <a:stCxn id="63" idx="3"/>
            <a:endCxn id="58" idx="1"/>
          </p:cNvCxnSpPr>
          <p:nvPr/>
        </p:nvCxnSpPr>
        <p:spPr bwMode="auto">
          <a:xfrm>
            <a:off x="2060225" y="1681324"/>
            <a:ext cx="190812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5" name="Straight Arrow Connector 64"/>
          <p:cNvCxnSpPr>
            <a:stCxn id="42" idx="0"/>
          </p:cNvCxnSpPr>
          <p:nvPr/>
        </p:nvCxnSpPr>
        <p:spPr bwMode="auto">
          <a:xfrm flipH="1" flipV="1">
            <a:off x="5620327" y="2653718"/>
            <a:ext cx="2912" cy="163993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66" name="Straight Arrow Connector 65"/>
          <p:cNvCxnSpPr>
            <a:stCxn id="42" idx="1"/>
            <a:endCxn id="41" idx="3"/>
          </p:cNvCxnSpPr>
          <p:nvPr/>
        </p:nvCxnSpPr>
        <p:spPr bwMode="auto">
          <a:xfrm flipH="1">
            <a:off x="4776136" y="3011599"/>
            <a:ext cx="284751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78403E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7" name="Straight Arrow Connector 66"/>
          <p:cNvCxnSpPr>
            <a:stCxn id="58" idx="3"/>
            <a:endCxn id="38" idx="1"/>
          </p:cNvCxnSpPr>
          <p:nvPr/>
        </p:nvCxnSpPr>
        <p:spPr bwMode="auto">
          <a:xfrm>
            <a:off x="3536834" y="1681324"/>
            <a:ext cx="412205" cy="53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/>
          <p:cNvCxnSpPr>
            <a:stCxn id="42" idx="3"/>
          </p:cNvCxnSpPr>
          <p:nvPr/>
        </p:nvCxnSpPr>
        <p:spPr bwMode="auto">
          <a:xfrm flipV="1">
            <a:off x="6185590" y="3011598"/>
            <a:ext cx="461200" cy="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pSp>
        <p:nvGrpSpPr>
          <p:cNvPr id="69" name="Group 68"/>
          <p:cNvGrpSpPr/>
          <p:nvPr/>
        </p:nvGrpSpPr>
        <p:grpSpPr>
          <a:xfrm>
            <a:off x="6606151" y="2228764"/>
            <a:ext cx="1464088" cy="1299074"/>
            <a:chOff x="6606151" y="2228764"/>
            <a:chExt cx="1464088" cy="1299074"/>
          </a:xfrm>
        </p:grpSpPr>
        <p:sp>
          <p:nvSpPr>
            <p:cNvPr id="70" name="Rectangle 69"/>
            <p:cNvSpPr/>
            <p:nvPr/>
          </p:nvSpPr>
          <p:spPr>
            <a:xfrm>
              <a:off x="6606151" y="2228765"/>
              <a:ext cx="1464088" cy="1299073"/>
            </a:xfrm>
            <a:prstGeom prst="rect">
              <a:avLst/>
            </a:prstGeom>
            <a:solidFill>
              <a:srgbClr val="B9CDE5"/>
            </a:solidFill>
            <a:ln w="25400" cap="flat" cmpd="sng" algn="ctr">
              <a:noFill/>
              <a:prstDash val="solid"/>
            </a:ln>
            <a:effectLst>
              <a:softEdge rad="3175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Rectangle 36"/>
            <p:cNvSpPr/>
            <p:nvPr/>
          </p:nvSpPr>
          <p:spPr>
            <a:xfrm>
              <a:off x="6606151" y="2228764"/>
              <a:ext cx="1464088" cy="1299073"/>
            </a:xfrm>
            <a:custGeom>
              <a:avLst/>
              <a:gdLst>
                <a:gd name="connsiteX0" fmla="*/ 0 w 1464088"/>
                <a:gd name="connsiteY0" fmla="*/ 0 h 1299073"/>
                <a:gd name="connsiteX1" fmla="*/ 1464088 w 1464088"/>
                <a:gd name="connsiteY1" fmla="*/ 0 h 1299073"/>
                <a:gd name="connsiteX2" fmla="*/ 1464088 w 1464088"/>
                <a:gd name="connsiteY2" fmla="*/ 1299073 h 1299073"/>
                <a:gd name="connsiteX3" fmla="*/ 0 w 1464088"/>
                <a:gd name="connsiteY3" fmla="*/ 1299073 h 1299073"/>
                <a:gd name="connsiteX4" fmla="*/ 0 w 1464088"/>
                <a:gd name="connsiteY4" fmla="*/ 0 h 1299073"/>
                <a:gd name="connsiteX0" fmla="*/ 0 w 1464088"/>
                <a:gd name="connsiteY0" fmla="*/ 0 h 1299073"/>
                <a:gd name="connsiteX1" fmla="*/ 1464088 w 1464088"/>
                <a:gd name="connsiteY1" fmla="*/ 1299073 h 1299073"/>
                <a:gd name="connsiteX2" fmla="*/ 0 w 1464088"/>
                <a:gd name="connsiteY2" fmla="*/ 1299073 h 1299073"/>
                <a:gd name="connsiteX3" fmla="*/ 0 w 1464088"/>
                <a:gd name="connsiteY3" fmla="*/ 0 h 129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4088" h="1299073">
                  <a:moveTo>
                    <a:pt x="0" y="0"/>
                  </a:moveTo>
                  <a:lnTo>
                    <a:pt x="1464088" y="1299073"/>
                  </a:lnTo>
                  <a:lnTo>
                    <a:pt x="0" y="12990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B9B8"/>
            </a:solidFill>
            <a:ln w="25400" cap="flat" cmpd="sng" algn="ctr">
              <a:noFill/>
              <a:prstDash val="solid"/>
            </a:ln>
            <a:effectLst>
              <a:softEdge rad="3175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 dirty="0" smtClean="0">
                  <a:solidFill>
                    <a:srgbClr val="632523"/>
                  </a:solidFill>
                  <a:latin typeface="Calibri"/>
                  <a:cs typeface="+mn-cs"/>
                </a:rPr>
                <a:t>Mem</a:t>
              </a:r>
              <a:r>
                <a:rPr lang="en-US" kern="0" dirty="0" smtClean="0">
                  <a:solidFill>
                    <a:srgbClr val="4F81BD">
                      <a:lumMod val="50000"/>
                    </a:srgbClr>
                  </a:solidFill>
                  <a:latin typeface="Calibri"/>
                  <a:cs typeface="+mn-cs"/>
                </a:rPr>
                <a:t>ory</a:t>
              </a: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72" name="Straight Arrow Connector 71"/>
          <p:cNvCxnSpPr>
            <a:stCxn id="46" idx="0"/>
            <a:endCxn id="38" idx="2"/>
          </p:cNvCxnSpPr>
          <p:nvPr/>
        </p:nvCxnSpPr>
        <p:spPr bwMode="auto">
          <a:xfrm flipV="1">
            <a:off x="5036599" y="1867275"/>
            <a:ext cx="1612" cy="41928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73" name="Straight Arrow Connector 72"/>
          <p:cNvCxnSpPr>
            <a:stCxn id="38" idx="3"/>
          </p:cNvCxnSpPr>
          <p:nvPr/>
        </p:nvCxnSpPr>
        <p:spPr bwMode="auto">
          <a:xfrm flipV="1">
            <a:off x="6127384" y="1681323"/>
            <a:ext cx="566594" cy="53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7387606" y="1497189"/>
            <a:ext cx="701976" cy="384048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Write data</a:t>
            </a:r>
            <a:endParaRPr lang="en-US" sz="1400" kern="0" dirty="0">
              <a:solidFill>
                <a:srgbClr val="4F81BD">
                  <a:lumMod val="50000"/>
                </a:srgbClr>
              </a:solidFill>
              <a:latin typeface="Calibri"/>
              <a:cs typeface="+mn-cs"/>
            </a:endParaRPr>
          </a:p>
        </p:txBody>
      </p:sp>
      <p:cxnSp>
        <p:nvCxnSpPr>
          <p:cNvPr id="75" name="Straight Arrow Connector 74"/>
          <p:cNvCxnSpPr>
            <a:stCxn id="74" idx="2"/>
          </p:cNvCxnSpPr>
          <p:nvPr/>
        </p:nvCxnSpPr>
        <p:spPr bwMode="auto">
          <a:xfrm>
            <a:off x="7738594" y="1881237"/>
            <a:ext cx="0" cy="40532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76" name="TextBox 75"/>
          <p:cNvSpPr txBox="1"/>
          <p:nvPr/>
        </p:nvSpPr>
        <p:spPr>
          <a:xfrm rot="16200000">
            <a:off x="29400" y="1419026"/>
            <a:ext cx="982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from decoder</a:t>
            </a:r>
            <a:endParaRPr lang="ru-RU" sz="1400" dirty="0" smtClean="0">
              <a:latin typeface="+mj-lt"/>
            </a:endParaRPr>
          </a:p>
        </p:txBody>
      </p:sp>
      <p:cxnSp>
        <p:nvCxnSpPr>
          <p:cNvPr id="77" name="Straight Arrow Connector 76"/>
          <p:cNvCxnSpPr>
            <a:stCxn id="76" idx="2"/>
            <a:endCxn id="63" idx="1"/>
          </p:cNvCxnSpPr>
          <p:nvPr/>
        </p:nvCxnSpPr>
        <p:spPr bwMode="auto">
          <a:xfrm>
            <a:off x="782508" y="1680636"/>
            <a:ext cx="290451" cy="68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282771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784599" y="1549032"/>
            <a:ext cx="2525683" cy="1978805"/>
          </a:xfrm>
          <a:prstGeom prst="rect">
            <a:avLst/>
          </a:prstGeom>
          <a:solidFill>
            <a:srgbClr val="F5E3E3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solidFill>
                  <a:srgbClr val="632523"/>
                </a:solidFill>
                <a:latin typeface="Calibri"/>
                <a:cs typeface="+mn-cs"/>
              </a:rPr>
              <a:t>Out-of-order execution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Scheduler Queue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41" y="3656843"/>
            <a:ext cx="8332184" cy="2779991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It is enough to check only not completed instructions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Their number is usually significantly less than ROB size </a:t>
            </a:r>
            <a:r>
              <a:rPr lang="en-US" sz="2000" kern="1200" dirty="0" smtClean="0">
                <a:solidFill>
                  <a:schemeClr val="tx2"/>
                </a:solidFill>
                <a:latin typeface="Calibri"/>
                <a:ea typeface="+mn-ea"/>
                <a:cs typeface="Arial" charset="0"/>
              </a:rPr>
              <a:t>(20-30%)</a:t>
            </a: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Decision: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Create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smaller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queue for not completed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instructions only </a:t>
            </a:r>
            <a:r>
              <a:rPr lang="en-US" sz="2000" kern="1200" dirty="0" smtClean="0">
                <a:solidFill>
                  <a:schemeClr val="tx2"/>
                </a:solidFill>
                <a:latin typeface="Calibri"/>
                <a:ea typeface="+mn-ea"/>
                <a:cs typeface="Arial" charset="0"/>
              </a:rPr>
              <a:t>(scheduling queue or reservation stations)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All checks (allocation and scheduling) are performed on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it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Use ROB only for order reconstruction at retirement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523027" y="1700274"/>
          <a:ext cx="1023253" cy="3708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46179"/>
                <a:gridCol w="146179"/>
                <a:gridCol w="146179"/>
                <a:gridCol w="146179"/>
                <a:gridCol w="146179"/>
                <a:gridCol w="146179"/>
                <a:gridCol w="146179"/>
              </a:tblGrid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87606" y="2817711"/>
            <a:ext cx="888530" cy="387775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PRF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0887" y="2817711"/>
            <a:ext cx="1124703" cy="387775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EXE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7606" y="2286559"/>
            <a:ext cx="2297985" cy="367159"/>
          </a:xfrm>
          <a:prstGeom prst="rect">
            <a:avLst/>
          </a:prstGeom>
          <a:solidFill>
            <a:srgbClr val="E6B9B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latin typeface="Calibri"/>
                <a:cs typeface="+mn-cs"/>
              </a:rPr>
              <a:t>Scheduler</a:t>
            </a:r>
          </a:p>
        </p:txBody>
      </p:sp>
      <p:cxnSp>
        <p:nvCxnSpPr>
          <p:cNvPr id="35" name="Straight Arrow Connector 34"/>
          <p:cNvCxnSpPr>
            <a:stCxn id="13" idx="0"/>
          </p:cNvCxnSpPr>
          <p:nvPr/>
        </p:nvCxnSpPr>
        <p:spPr bwMode="auto">
          <a:xfrm flipH="1" flipV="1">
            <a:off x="5620327" y="2653718"/>
            <a:ext cx="2912" cy="163993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45" name="Straight Arrow Connector 44"/>
          <p:cNvCxnSpPr>
            <a:stCxn id="13" idx="1"/>
            <a:endCxn id="6" idx="3"/>
          </p:cNvCxnSpPr>
          <p:nvPr/>
        </p:nvCxnSpPr>
        <p:spPr bwMode="auto">
          <a:xfrm flipH="1">
            <a:off x="4776136" y="3011599"/>
            <a:ext cx="284751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78403E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50" name="Straight Arrow Connector 49"/>
          <p:cNvCxnSpPr>
            <a:stCxn id="13" idx="3"/>
          </p:cNvCxnSpPr>
          <p:nvPr/>
        </p:nvCxnSpPr>
        <p:spPr bwMode="auto">
          <a:xfrm flipV="1">
            <a:off x="6185590" y="3011598"/>
            <a:ext cx="461200" cy="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6606151" y="2228765"/>
            <a:ext cx="1464088" cy="1299073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06151" y="2228764"/>
            <a:ext cx="1464088" cy="1299073"/>
          </a:xfrm>
          <a:custGeom>
            <a:avLst/>
            <a:gdLst>
              <a:gd name="connsiteX0" fmla="*/ 0 w 1464088"/>
              <a:gd name="connsiteY0" fmla="*/ 0 h 1299073"/>
              <a:gd name="connsiteX1" fmla="*/ 1464088 w 1464088"/>
              <a:gd name="connsiteY1" fmla="*/ 0 h 1299073"/>
              <a:gd name="connsiteX2" fmla="*/ 1464088 w 1464088"/>
              <a:gd name="connsiteY2" fmla="*/ 1299073 h 1299073"/>
              <a:gd name="connsiteX3" fmla="*/ 0 w 1464088"/>
              <a:gd name="connsiteY3" fmla="*/ 1299073 h 1299073"/>
              <a:gd name="connsiteX4" fmla="*/ 0 w 1464088"/>
              <a:gd name="connsiteY4" fmla="*/ 0 h 1299073"/>
              <a:gd name="connsiteX0" fmla="*/ 0 w 1464088"/>
              <a:gd name="connsiteY0" fmla="*/ 0 h 1299073"/>
              <a:gd name="connsiteX1" fmla="*/ 1464088 w 1464088"/>
              <a:gd name="connsiteY1" fmla="*/ 1299073 h 1299073"/>
              <a:gd name="connsiteX2" fmla="*/ 0 w 1464088"/>
              <a:gd name="connsiteY2" fmla="*/ 1299073 h 1299073"/>
              <a:gd name="connsiteX3" fmla="*/ 0 w 1464088"/>
              <a:gd name="connsiteY3" fmla="*/ 0 h 1299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088" h="1299073">
                <a:moveTo>
                  <a:pt x="0" y="0"/>
                </a:moveTo>
                <a:lnTo>
                  <a:pt x="1464088" y="1299073"/>
                </a:lnTo>
                <a:lnTo>
                  <a:pt x="0" y="1299073"/>
                </a:lnTo>
                <a:lnTo>
                  <a:pt x="0" y="0"/>
                </a:lnTo>
                <a:close/>
              </a:path>
            </a:pathLst>
          </a:custGeom>
          <a:solidFill>
            <a:srgbClr val="E6B9B8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 smtClean="0">
                <a:solidFill>
                  <a:srgbClr val="632523"/>
                </a:solidFill>
                <a:latin typeface="Calibri"/>
                <a:cs typeface="+mn-cs"/>
              </a:rPr>
              <a:t>Mem</a:t>
            </a:r>
            <a:r>
              <a:rPr lang="en-US" kern="0" dirty="0" smtClean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ory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3" name="Straight Arrow Connector 52"/>
          <p:cNvCxnSpPr>
            <a:stCxn id="14" idx="0"/>
            <a:endCxn id="7" idx="2"/>
          </p:cNvCxnSpPr>
          <p:nvPr/>
        </p:nvCxnSpPr>
        <p:spPr bwMode="auto">
          <a:xfrm flipH="1" flipV="1">
            <a:off x="5034653" y="2071114"/>
            <a:ext cx="1946" cy="21544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3941711" y="995847"/>
          <a:ext cx="2178345" cy="3708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  <a:gridCol w="145223"/>
              </a:tblGrid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9C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35784" y="999976"/>
            <a:ext cx="587020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4F81BD">
                    <a:lumMod val="50000"/>
                  </a:srgbClr>
                </a:solidFill>
                <a:latin typeface="Calibri"/>
              </a:rPr>
              <a:t>ROB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7429" y="1698665"/>
            <a:ext cx="445956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 smtClean="0">
                <a:latin typeface="Calibri"/>
              </a:rPr>
              <a:t>S</a:t>
            </a:r>
            <a:r>
              <a:rPr lang="en-US" kern="0" dirty="0">
                <a:latin typeface="Calibri"/>
              </a:rPr>
              <a:t>Q</a:t>
            </a:r>
          </a:p>
        </p:txBody>
      </p:sp>
      <p:cxnSp>
        <p:nvCxnSpPr>
          <p:cNvPr id="17" name="Straight Arrow Connector 16"/>
          <p:cNvCxnSpPr>
            <a:stCxn id="7" idx="0"/>
            <a:endCxn id="33" idx="2"/>
          </p:cNvCxnSpPr>
          <p:nvPr/>
        </p:nvCxnSpPr>
        <p:spPr bwMode="auto">
          <a:xfrm flipH="1" flipV="1">
            <a:off x="5030883" y="1366687"/>
            <a:ext cx="3770" cy="33358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632523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958233" y="1022438"/>
            <a:ext cx="2693327" cy="1072164"/>
          </a:xfrm>
          <a:prstGeom prst="rect">
            <a:avLst/>
          </a:prstGeom>
          <a:solidFill>
            <a:srgbClr val="E3EBF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Allocation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93450" y="1144866"/>
            <a:ext cx="1666630" cy="866608"/>
          </a:xfrm>
          <a:prstGeom prst="rect">
            <a:avLst/>
          </a:prstGeom>
          <a:solidFill>
            <a:srgbClr val="E3EBF5"/>
          </a:solidFill>
          <a:ln w="25400" cap="flat" cmpd="sng" algn="ctr">
            <a:noFill/>
            <a:prstDash val="solid"/>
          </a:ln>
          <a:effectLst>
            <a:softEdge rad="31750"/>
          </a:effectLst>
        </p:spPr>
        <p:txBody>
          <a:bodyPr rtlCol="0" anchor="t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Retirement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93978" y="1497189"/>
            <a:ext cx="578550" cy="384048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kern="0" dirty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ARF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72959" y="1366687"/>
            <a:ext cx="2463875" cy="629273"/>
            <a:chOff x="2396397" y="4189141"/>
            <a:chExt cx="2463875" cy="629273"/>
          </a:xfrm>
        </p:grpSpPr>
        <p:sp>
          <p:nvSpPr>
            <p:cNvPr id="52" name="Rectangle 51"/>
            <p:cNvSpPr/>
            <p:nvPr/>
          </p:nvSpPr>
          <p:spPr>
            <a:xfrm>
              <a:off x="3574475" y="4189141"/>
              <a:ext cx="1285797" cy="629273"/>
            </a:xfrm>
            <a:prstGeom prst="rect">
              <a:avLst/>
            </a:prstGeom>
            <a:solidFill>
              <a:srgbClr val="B9CDE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kern="0" dirty="0" smtClean="0">
                  <a:latin typeface="Calibri"/>
                  <a:cs typeface="+mn-cs"/>
                </a:rPr>
                <a:t>Check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kern="0" dirty="0" smtClean="0">
                  <a:latin typeface="Calibri"/>
                  <a:cs typeface="+mn-cs"/>
                </a:rPr>
                <a:t>Dependencies</a:t>
              </a:r>
              <a:endParaRPr lang="en-US" sz="1400" kern="0" dirty="0">
                <a:latin typeface="Calibri"/>
                <a:cs typeface="+mn-c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396397" y="4189141"/>
              <a:ext cx="987266" cy="629273"/>
            </a:xfrm>
            <a:prstGeom prst="rect">
              <a:avLst/>
            </a:prstGeom>
            <a:solidFill>
              <a:srgbClr val="B9CDE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kern="0" dirty="0" smtClean="0">
                  <a:latin typeface="Calibri"/>
                  <a:cs typeface="+mn-cs"/>
                </a:rPr>
                <a:t>Rename Registers</a:t>
              </a:r>
              <a:endParaRPr lang="en-US" sz="1400" kern="0" dirty="0">
                <a:latin typeface="Calibri"/>
                <a:cs typeface="+mn-cs"/>
              </a:endParaRPr>
            </a:p>
          </p:txBody>
        </p:sp>
        <p:cxnSp>
          <p:nvCxnSpPr>
            <p:cNvPr id="55" name="Straight Arrow Connector 54"/>
            <p:cNvCxnSpPr>
              <a:stCxn id="54" idx="3"/>
              <a:endCxn id="52" idx="1"/>
            </p:cNvCxnSpPr>
            <p:nvPr/>
          </p:nvCxnSpPr>
          <p:spPr bwMode="auto">
            <a:xfrm>
              <a:off x="3383663" y="4503778"/>
              <a:ext cx="19081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25406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59" name="Rectangle 58"/>
          <p:cNvSpPr/>
          <p:nvPr/>
        </p:nvSpPr>
        <p:spPr>
          <a:xfrm>
            <a:off x="7387606" y="1497189"/>
            <a:ext cx="701976" cy="384048"/>
          </a:xfrm>
          <a:prstGeom prst="rect">
            <a:avLst/>
          </a:prstGeom>
          <a:solidFill>
            <a:srgbClr val="B9CDE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dirty="0" smtClean="0">
                <a:solidFill>
                  <a:srgbClr val="4F81BD">
                    <a:lumMod val="50000"/>
                  </a:srgbClr>
                </a:solidFill>
                <a:latin typeface="Calibri"/>
                <a:cs typeface="+mn-cs"/>
              </a:rPr>
              <a:t>Write data</a:t>
            </a:r>
            <a:endParaRPr lang="en-US" sz="1400" kern="0" dirty="0">
              <a:solidFill>
                <a:srgbClr val="4F81BD">
                  <a:lumMod val="50000"/>
                </a:srgbClr>
              </a:solidFill>
              <a:latin typeface="Calibri"/>
              <a:cs typeface="+mn-cs"/>
            </a:endParaRPr>
          </a:p>
        </p:txBody>
      </p:sp>
      <p:cxnSp>
        <p:nvCxnSpPr>
          <p:cNvPr id="60" name="Straight Arrow Connector 59"/>
          <p:cNvCxnSpPr>
            <a:stCxn id="59" idx="2"/>
          </p:cNvCxnSpPr>
          <p:nvPr/>
        </p:nvCxnSpPr>
        <p:spPr bwMode="auto">
          <a:xfrm>
            <a:off x="7738594" y="1881237"/>
            <a:ext cx="0" cy="40532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61" name="TextBox 60"/>
          <p:cNvSpPr txBox="1"/>
          <p:nvPr/>
        </p:nvSpPr>
        <p:spPr>
          <a:xfrm rot="16200000">
            <a:off x="29400" y="1419026"/>
            <a:ext cx="982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from decoder</a:t>
            </a:r>
            <a:endParaRPr lang="ru-RU" sz="1400" dirty="0" smtClean="0">
              <a:latin typeface="+mj-lt"/>
            </a:endParaRPr>
          </a:p>
        </p:txBody>
      </p:sp>
      <p:cxnSp>
        <p:nvCxnSpPr>
          <p:cNvPr id="62" name="Straight Arrow Connector 61"/>
          <p:cNvCxnSpPr>
            <a:stCxn id="61" idx="2"/>
            <a:endCxn id="54" idx="1"/>
          </p:cNvCxnSpPr>
          <p:nvPr/>
        </p:nvCxnSpPr>
        <p:spPr bwMode="auto">
          <a:xfrm>
            <a:off x="782508" y="1680636"/>
            <a:ext cx="290451" cy="68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1" name="Elbow Connector 30"/>
          <p:cNvCxnSpPr>
            <a:stCxn id="52" idx="3"/>
            <a:endCxn id="33" idx="1"/>
          </p:cNvCxnSpPr>
          <p:nvPr/>
        </p:nvCxnSpPr>
        <p:spPr bwMode="auto">
          <a:xfrm flipV="1">
            <a:off x="3536834" y="1181267"/>
            <a:ext cx="404877" cy="500057"/>
          </a:xfrm>
          <a:prstGeom prst="bentConnector3">
            <a:avLst>
              <a:gd name="adj1" fmla="val 44354"/>
            </a:avLst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4" name="Elbow Connector 33"/>
          <p:cNvCxnSpPr>
            <a:stCxn id="52" idx="3"/>
            <a:endCxn id="7" idx="1"/>
          </p:cNvCxnSpPr>
          <p:nvPr/>
        </p:nvCxnSpPr>
        <p:spPr bwMode="auto">
          <a:xfrm>
            <a:off x="3536834" y="1681324"/>
            <a:ext cx="986193" cy="204370"/>
          </a:xfrm>
          <a:prstGeom prst="bentConnector3">
            <a:avLst>
              <a:gd name="adj1" fmla="val 18192"/>
            </a:avLst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3" name="Elbow Connector 42"/>
          <p:cNvCxnSpPr>
            <a:endCxn id="48" idx="1"/>
          </p:cNvCxnSpPr>
          <p:nvPr/>
        </p:nvCxnSpPr>
        <p:spPr bwMode="auto">
          <a:xfrm>
            <a:off x="6126480" y="1181267"/>
            <a:ext cx="466970" cy="396903"/>
          </a:xfrm>
          <a:prstGeom prst="bentConnector3">
            <a:avLst>
              <a:gd name="adj1" fmla="val 61749"/>
            </a:avLst>
          </a:prstGeom>
          <a:solidFill>
            <a:schemeClr val="bg1"/>
          </a:solidFill>
          <a:ln w="19050" cap="flat" cmpd="sng" algn="ctr">
            <a:solidFill>
              <a:srgbClr val="25406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150957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 Operation Example</a:t>
            </a:r>
            <a:endParaRPr lang="ru-RU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3619500" y="3207861"/>
          <a:ext cx="1867804" cy="2429712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466951"/>
                <a:gridCol w="466951"/>
                <a:gridCol w="466951"/>
                <a:gridCol w="466951"/>
              </a:tblGrid>
              <a:tr h="269968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 smtClean="0">
                          <a:latin typeface="+mj-lt"/>
                        </a:rPr>
                        <a:t>Dst</a:t>
                      </a:r>
                      <a:r>
                        <a:rPr lang="en-US" sz="1400" b="0" dirty="0" smtClean="0">
                          <a:latin typeface="+mj-lt"/>
                        </a:rPr>
                        <a:t> 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 smtClean="0">
                          <a:latin typeface="+mj-lt"/>
                        </a:rPr>
                        <a:t>Src</a:t>
                      </a:r>
                      <a:r>
                        <a:rPr lang="en-US" sz="1400" b="0" baseline="0" dirty="0" smtClean="0">
                          <a:latin typeface="+mj-lt"/>
                        </a:rPr>
                        <a:t> 1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 smtClean="0">
                          <a:latin typeface="+mj-lt"/>
                        </a:rPr>
                        <a:t>Src</a:t>
                      </a:r>
                      <a:r>
                        <a:rPr lang="en-US" sz="1400" b="0" baseline="0" dirty="0" smtClean="0">
                          <a:latin typeface="+mj-lt"/>
                        </a:rPr>
                        <a:t> 2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8130156" y="3199235"/>
          <a:ext cx="746425" cy="2429712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746425"/>
              </a:tblGrid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Ready? 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5724049" y="2949219"/>
          <a:ext cx="2181016" cy="2688350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272627"/>
                <a:gridCol w="272627"/>
                <a:gridCol w="272627"/>
                <a:gridCol w="272627"/>
                <a:gridCol w="272627"/>
                <a:gridCol w="272627"/>
                <a:gridCol w="272627"/>
                <a:gridCol w="272627"/>
              </a:tblGrid>
              <a:tr h="268835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Producers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79697" y="2552406"/>
            <a:ext cx="207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Dependency Matrix</a:t>
            </a:r>
            <a:endParaRPr lang="ru-RU" dirty="0" smtClean="0">
              <a:latin typeface="+mj-lt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4080639" y="1161877"/>
          <a:ext cx="976372" cy="1349840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976372"/>
              </a:tblGrid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Free entries 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4025" y="1291204"/>
            <a:ext cx="2113472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…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76115" y="1449336"/>
            <a:ext cx="18542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76115" y="1708416"/>
            <a:ext cx="18542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5</a:t>
            </a:r>
            <a:endParaRPr lang="ru-RU" sz="1600" dirty="0" smtClean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81830" y="1980669"/>
            <a:ext cx="18542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3</a:t>
            </a:r>
            <a:endParaRPr lang="ru-RU" sz="1600" dirty="0" smtClean="0">
              <a:latin typeface="+mj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86532" y="3693519"/>
            <a:ext cx="1308236" cy="369332"/>
            <a:chOff x="4095325" y="3825408"/>
            <a:chExt cx="1308236" cy="369332"/>
          </a:xfrm>
        </p:grpSpPr>
        <p:sp>
          <p:nvSpPr>
            <p:cNvPr id="3" name="Rectangle 2"/>
            <p:cNvSpPr/>
            <p:nvPr/>
          </p:nvSpPr>
          <p:spPr>
            <a:xfrm>
              <a:off x="4095325" y="3825408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CC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lang="ru-RU" sz="16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61981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9225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21702" y="4766181"/>
            <a:ext cx="1308236" cy="369332"/>
            <a:chOff x="4095325" y="3825408"/>
            <a:chExt cx="1308236" cy="369332"/>
          </a:xfrm>
        </p:grpSpPr>
        <p:sp>
          <p:nvSpPr>
            <p:cNvPr id="22" name="Rectangle 21"/>
            <p:cNvSpPr/>
            <p:nvPr/>
          </p:nvSpPr>
          <p:spPr>
            <a:xfrm>
              <a:off x="4095325" y="3825408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endParaRPr lang="ru-RU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61981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09225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166328" y="4220127"/>
            <a:ext cx="1308236" cy="369332"/>
            <a:chOff x="4166328" y="4220127"/>
            <a:chExt cx="1308236" cy="369332"/>
          </a:xfrm>
        </p:grpSpPr>
        <p:sp>
          <p:nvSpPr>
            <p:cNvPr id="26" name="Rectangle 25"/>
            <p:cNvSpPr/>
            <p:nvPr/>
          </p:nvSpPr>
          <p:spPr>
            <a:xfrm>
              <a:off x="5065478" y="4250905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endParaRPr lang="ru-RU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66328" y="4220127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611024" y="4250905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CC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lang="ru-RU" sz="1600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5983088" y="4235516"/>
            <a:ext cx="296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ru-RU" sz="1600" dirty="0"/>
          </a:p>
        </p:txBody>
      </p:sp>
      <p:sp>
        <p:nvSpPr>
          <p:cNvPr id="31" name="Rectangle 30"/>
          <p:cNvSpPr/>
          <p:nvPr/>
        </p:nvSpPr>
        <p:spPr>
          <a:xfrm>
            <a:off x="7076920" y="4254962"/>
            <a:ext cx="296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ru-RU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9014" y="829539"/>
            <a:ext cx="1323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9014" y="2400301"/>
            <a:ext cx="3258994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</a:rPr>
              <a:t>At allocation of 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  <a:r>
              <a:rPr lang="en-US" sz="2400" dirty="0" smtClean="0">
                <a:latin typeface="+mj-lt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 smtClean="0">
                <a:latin typeface="+mj-lt"/>
              </a:rPr>
              <a:t>Search for Src1 producer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lphaLcPeriod"/>
            </a:pPr>
            <a:r>
              <a:rPr lang="en-US" dirty="0" smtClean="0">
                <a:latin typeface="+mj-lt"/>
              </a:rPr>
              <a:t>Found in entry 1</a:t>
            </a:r>
          </a:p>
          <a:p>
            <a:pPr marL="1203325" lvl="2" indent="-288925">
              <a:spcBef>
                <a:spcPts val="0"/>
              </a:spcBef>
              <a:buFont typeface="+mj-lt"/>
              <a:buAutoNum type="romanLcPeriod"/>
            </a:pPr>
            <a:r>
              <a:rPr lang="en-US" dirty="0" smtClean="0">
                <a:latin typeface="+mj-lt"/>
              </a:rPr>
              <a:t>Mark dependency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 smtClean="0">
                <a:latin typeface="+mj-lt"/>
              </a:rPr>
              <a:t>Search for Src2 producer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lphaLcPeriod"/>
            </a:pPr>
            <a:r>
              <a:rPr lang="en-US" dirty="0">
                <a:latin typeface="+mj-lt"/>
              </a:rPr>
              <a:t>Found in entry </a:t>
            </a:r>
            <a:r>
              <a:rPr lang="en-US" dirty="0" smtClean="0">
                <a:latin typeface="+mj-lt"/>
              </a:rPr>
              <a:t>5</a:t>
            </a:r>
          </a:p>
          <a:p>
            <a:pPr marL="1203325" lvl="2" indent="-288925"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latin typeface="+mj-lt"/>
              </a:rPr>
              <a:t>Mark </a:t>
            </a:r>
            <a:r>
              <a:rPr lang="en-US" dirty="0" smtClean="0">
                <a:latin typeface="+mj-lt"/>
              </a:rPr>
              <a:t>dependency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 smtClean="0">
                <a:latin typeface="+mj-lt"/>
              </a:rPr>
              <a:t>At least one is found -&gt; not ready</a:t>
            </a:r>
            <a:endParaRPr lang="en-US" dirty="0">
              <a:latin typeface="+mj-lt"/>
            </a:endParaRPr>
          </a:p>
        </p:txBody>
      </p:sp>
      <p:cxnSp>
        <p:nvCxnSpPr>
          <p:cNvPr id="34" name="Straight Arrow Connector 33"/>
          <p:cNvCxnSpPr/>
          <p:nvPr/>
        </p:nvCxnSpPr>
        <p:spPr bwMode="auto">
          <a:xfrm>
            <a:off x="4277879" y="3030335"/>
            <a:ext cx="0" cy="72113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D83D3D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7" name="Elbow Connector 36"/>
          <p:cNvCxnSpPr>
            <a:endCxn id="30" idx="0"/>
          </p:cNvCxnSpPr>
          <p:nvPr/>
        </p:nvCxnSpPr>
        <p:spPr bwMode="auto">
          <a:xfrm>
            <a:off x="4495618" y="3857105"/>
            <a:ext cx="1635908" cy="378411"/>
          </a:xfrm>
          <a:prstGeom prst="bentConnector2">
            <a:avLst/>
          </a:prstGeom>
          <a:solidFill>
            <a:schemeClr val="bg1"/>
          </a:solidFill>
          <a:ln w="28575" cap="flat" cmpd="sng" algn="ctr">
            <a:solidFill>
              <a:srgbClr val="D83D3D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8" name="Straight Arrow Connector 37"/>
          <p:cNvCxnSpPr>
            <a:endCxn id="22" idx="2"/>
          </p:cNvCxnSpPr>
          <p:nvPr/>
        </p:nvCxnSpPr>
        <p:spPr bwMode="auto">
          <a:xfrm flipH="1" flipV="1">
            <a:off x="4326245" y="5104735"/>
            <a:ext cx="13345" cy="72075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4" name="Elbow Connector 43"/>
          <p:cNvCxnSpPr>
            <a:endCxn id="31" idx="2"/>
          </p:cNvCxnSpPr>
          <p:nvPr/>
        </p:nvCxnSpPr>
        <p:spPr bwMode="auto">
          <a:xfrm flipV="1">
            <a:off x="4530788" y="4593516"/>
            <a:ext cx="2694570" cy="336624"/>
          </a:xfrm>
          <a:prstGeom prst="bentConnector2">
            <a:avLst/>
          </a:prstGeom>
          <a:solidFill>
            <a:schemeClr val="bg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sm" len="sm"/>
            <a:tailEnd type="triangle"/>
          </a:ln>
          <a:effectLst/>
        </p:spPr>
      </p:cxnSp>
      <p:grpSp>
        <p:nvGrpSpPr>
          <p:cNvPr id="49" name="Group 48"/>
          <p:cNvGrpSpPr/>
          <p:nvPr/>
        </p:nvGrpSpPr>
        <p:grpSpPr>
          <a:xfrm>
            <a:off x="5715000" y="4233321"/>
            <a:ext cx="3101528" cy="369332"/>
            <a:chOff x="5715000" y="4233321"/>
            <a:chExt cx="3101528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8197128" y="4233321"/>
              <a:ext cx="6194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C00000"/>
                  </a:solidFill>
                  <a:latin typeface="+mj-lt"/>
                </a:rPr>
                <a:t>false</a:t>
              </a:r>
              <a:endParaRPr lang="ru-RU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5715000" y="4266295"/>
              <a:ext cx="2482128" cy="307776"/>
              <a:chOff x="5715000" y="4266295"/>
              <a:chExt cx="2482128" cy="307776"/>
            </a:xfrm>
          </p:grpSpPr>
          <p:sp>
            <p:nvSpPr>
              <p:cNvPr id="45" name="Rounded Rectangle 44"/>
              <p:cNvSpPr/>
              <p:nvPr/>
            </p:nvSpPr>
            <p:spPr bwMode="auto">
              <a:xfrm>
                <a:off x="5715000" y="4266295"/>
                <a:ext cx="2194560" cy="307776"/>
              </a:xfrm>
              <a:prstGeom prst="roundRect">
                <a:avLst/>
              </a:prstGeom>
              <a:noFill/>
              <a:ln w="28575" cap="flat" cmpd="sng" algn="ctr">
                <a:solidFill>
                  <a:srgbClr val="0071C5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47" name="Straight Arrow Connector 46"/>
              <p:cNvCxnSpPr>
                <a:endCxn id="7" idx="1"/>
              </p:cNvCxnSpPr>
              <p:nvPr/>
            </p:nvCxnSpPr>
            <p:spPr bwMode="auto">
              <a:xfrm flipV="1">
                <a:off x="7909560" y="4417987"/>
                <a:ext cx="287568" cy="1613"/>
              </a:xfrm>
              <a:prstGeom prst="straightConnector1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0071C5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41873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4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"/>
                            </p:stCondLst>
                            <p:childTnLst>
                              <p:par>
                                <p:cTn id="40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83 0 L -0.06632 0.00115 L -0.08906 0.02523 L -0.10452 0.05324 L -0.11997 0.09328 L -0.12448 0.1331 L -0.12899 0.18287 L -0.12813 0.23125 L -0.11997 0.28958 L -0.10452 0.31736 L -0.0809 0.33564 L -0.0809 0.33564 L -0.0809 0.33564 " pathEditMode="relative" ptsTypes="AAAAAAAAAAAAAA"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8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4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"/>
                            </p:stCondLst>
                            <p:childTnLst>
                              <p:par>
                                <p:cTn id="60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85185E-6 L -0.02934 1.85185E-6 L -0.06736 1.85185E-6 L -0.09027 0.02338 L -0.10573 0.05278 L -0.12066 0.09305 C -0.12257 0.10579 -0.12378 0.11967 -0.12569 0.13217 C -0.12708 0.1493 -0.12864 0.1662 -0.13021 0.18217 C -0.13107 0.20671 -0.13489 0.24051 -0.13698 0.2794 C -0.1368 0.31389 -0.1309 0.36157 -0.1276 0.38727 C -0.1276 0.3875 -0.11128 0.43495 -0.11128 0.43518 C -0.11128 0.43518 -0.07951 0.45555 -0.07951 0.45579 " pathEditMode="relative" rAng="0" ptsTypes="AAAAAAAAAAAA">
                                      <p:cBhvr>
                                        <p:cTn id="6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58" y="22778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4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00"/>
                            </p:stCondLst>
                            <p:childTnLst>
                              <p:par>
                                <p:cTn id="80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83 0 L -0.06632 0.00115 L -0.08906 0.02523 L -0.10452 0.05324 L -0.11997 0.09328 L -0.12448 0.1331 L -0.12899 0.18287 L -0.12813 0.23125 L -0.11997 0.28958 L -0.10452 0.31736 L -0.0809 0.33564 L -0.0809 0.33564 L -0.0809 0.33564 " pathEditMode="relative" ptsTypes="AAAAAAAAAAAAAA">
                                      <p:cBhvr>
                                        <p:cTn id="8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8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4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2" grpId="1"/>
      <p:bldP spid="2" grpId="2"/>
      <p:bldP spid="2" grpId="3"/>
      <p:bldP spid="10" grpId="0"/>
      <p:bldP spid="10" grpId="1"/>
      <p:bldP spid="10" grpId="2"/>
      <p:bldP spid="10" grpId="3"/>
      <p:bldP spid="11" grpId="0"/>
      <p:bldP spid="11" grpId="1"/>
      <p:bldP spid="11" grpId="2"/>
      <p:bldP spid="11" grpId="3"/>
      <p:bldP spid="30" grpId="0"/>
      <p:bldP spid="31" grpId="0"/>
      <p:bldP spid="32" grpId="0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 Operation Example</a:t>
            </a:r>
            <a:endParaRPr lang="ru-RU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3619500" y="3207861"/>
          <a:ext cx="1867804" cy="2429712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466951"/>
                <a:gridCol w="466951"/>
                <a:gridCol w="466951"/>
                <a:gridCol w="466951"/>
              </a:tblGrid>
              <a:tr h="269968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 smtClean="0">
                          <a:latin typeface="+mj-lt"/>
                        </a:rPr>
                        <a:t>Dst</a:t>
                      </a:r>
                      <a:r>
                        <a:rPr lang="en-US" sz="1400" b="0" dirty="0" smtClean="0">
                          <a:latin typeface="+mj-lt"/>
                        </a:rPr>
                        <a:t> 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 smtClean="0">
                          <a:latin typeface="+mj-lt"/>
                        </a:rPr>
                        <a:t>Src</a:t>
                      </a:r>
                      <a:r>
                        <a:rPr lang="en-US" sz="1400" b="0" baseline="0" dirty="0" smtClean="0">
                          <a:latin typeface="+mj-lt"/>
                        </a:rPr>
                        <a:t> 1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 smtClean="0">
                          <a:latin typeface="+mj-lt"/>
                        </a:rPr>
                        <a:t>Src</a:t>
                      </a:r>
                      <a:r>
                        <a:rPr lang="en-US" sz="1400" b="0" baseline="0" dirty="0" smtClean="0">
                          <a:latin typeface="+mj-lt"/>
                        </a:rPr>
                        <a:t> 2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8130156" y="3199235"/>
          <a:ext cx="746425" cy="2429712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746425"/>
              </a:tblGrid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Ready? 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5724049" y="2949219"/>
          <a:ext cx="2181016" cy="2688350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272627"/>
                <a:gridCol w="272627"/>
                <a:gridCol w="272627"/>
                <a:gridCol w="272627"/>
                <a:gridCol w="272627"/>
                <a:gridCol w="272627"/>
                <a:gridCol w="272627"/>
                <a:gridCol w="272627"/>
              </a:tblGrid>
              <a:tr h="268835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Producers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8835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79697" y="2552406"/>
            <a:ext cx="207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Dependency Matrix</a:t>
            </a:r>
            <a:endParaRPr lang="ru-RU" dirty="0" smtClean="0">
              <a:latin typeface="+mj-lt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4080639" y="1161877"/>
          <a:ext cx="976372" cy="1349840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976372"/>
              </a:tblGrid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Free entries </a:t>
                      </a:r>
                      <a:endParaRPr lang="ru-RU" sz="1400" b="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4025" y="1291204"/>
            <a:ext cx="2113472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…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86532" y="3693519"/>
            <a:ext cx="1308236" cy="369332"/>
            <a:chOff x="4095325" y="3825408"/>
            <a:chExt cx="1308236" cy="369332"/>
          </a:xfrm>
        </p:grpSpPr>
        <p:sp>
          <p:nvSpPr>
            <p:cNvPr id="3" name="Rectangle 2"/>
            <p:cNvSpPr/>
            <p:nvPr/>
          </p:nvSpPr>
          <p:spPr>
            <a:xfrm>
              <a:off x="4095325" y="3825408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CC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lang="ru-RU" sz="16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61981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9225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21702" y="4766181"/>
            <a:ext cx="1308236" cy="369332"/>
            <a:chOff x="4095325" y="3825408"/>
            <a:chExt cx="1308236" cy="369332"/>
          </a:xfrm>
        </p:grpSpPr>
        <p:sp>
          <p:nvSpPr>
            <p:cNvPr id="22" name="Rectangle 21"/>
            <p:cNvSpPr/>
            <p:nvPr/>
          </p:nvSpPr>
          <p:spPr>
            <a:xfrm>
              <a:off x="4095325" y="3825408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endParaRPr lang="ru-RU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61981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092257" y="3825408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166328" y="4220127"/>
            <a:ext cx="1308236" cy="369332"/>
            <a:chOff x="4166328" y="4220127"/>
            <a:chExt cx="1308236" cy="369332"/>
          </a:xfrm>
        </p:grpSpPr>
        <p:sp>
          <p:nvSpPr>
            <p:cNvPr id="26" name="Rectangle 25"/>
            <p:cNvSpPr/>
            <p:nvPr/>
          </p:nvSpPr>
          <p:spPr>
            <a:xfrm>
              <a:off x="5065478" y="4250905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16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endParaRPr lang="ru-RU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66328" y="4220127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ru-RU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611024" y="4250905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CC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lang="ru-RU" sz="1600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5983088" y="4235516"/>
            <a:ext cx="296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ru-RU" sz="1600" dirty="0"/>
          </a:p>
        </p:txBody>
      </p:sp>
      <p:sp>
        <p:nvSpPr>
          <p:cNvPr id="31" name="Rectangle 30"/>
          <p:cNvSpPr/>
          <p:nvPr/>
        </p:nvSpPr>
        <p:spPr>
          <a:xfrm>
            <a:off x="7076920" y="4254962"/>
            <a:ext cx="296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ru-RU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9014" y="829539"/>
            <a:ext cx="1323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9014" y="2331721"/>
            <a:ext cx="325899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</a:rPr>
              <a:t>At completion of </a:t>
            </a:r>
            <a:r>
              <a:rPr 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(1,2)</a:t>
            </a:r>
            <a:r>
              <a:rPr lang="en-US" sz="2400" dirty="0" smtClean="0">
                <a:latin typeface="+mj-lt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 smtClean="0">
                <a:latin typeface="+mj-lt"/>
              </a:rPr>
              <a:t>Reset dependency to all consumers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 smtClean="0">
                <a:latin typeface="+mj-lt"/>
              </a:rPr>
              <a:t>For each entry check its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7128" y="4233321"/>
            <a:ext cx="6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j-lt"/>
              </a:rPr>
              <a:t>false</a:t>
            </a:r>
            <a:endParaRPr lang="ru-RU" dirty="0" smtClean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 rot="16200000">
            <a:off x="5034246" y="4420331"/>
            <a:ext cx="2194560" cy="307776"/>
          </a:xfrm>
          <a:prstGeom prst="roundRect">
            <a:avLst/>
          </a:prstGeom>
          <a:noFill/>
          <a:ln w="28575" cap="flat" cmpd="sng" algn="ctr">
            <a:solidFill>
              <a:srgbClr val="D21E1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 rot="16200000">
            <a:off x="6130248" y="4420331"/>
            <a:ext cx="2194560" cy="307776"/>
          </a:xfrm>
          <a:prstGeom prst="roundRect">
            <a:avLst/>
          </a:prstGeom>
          <a:noFill/>
          <a:ln w="28575" cap="flat" cmpd="sng" algn="ctr">
            <a:solidFill>
              <a:srgbClr val="5757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5719498" y="4281683"/>
            <a:ext cx="3076373" cy="307776"/>
            <a:chOff x="5715000" y="4266295"/>
            <a:chExt cx="3076373" cy="307776"/>
          </a:xfrm>
        </p:grpSpPr>
        <p:sp>
          <p:nvSpPr>
            <p:cNvPr id="50" name="TextBox 49"/>
            <p:cNvSpPr txBox="1"/>
            <p:nvPr/>
          </p:nvSpPr>
          <p:spPr>
            <a:xfrm>
              <a:off x="8212368" y="4279487"/>
              <a:ext cx="579005" cy="276999"/>
            </a:xfrm>
            <a:prstGeom prst="rect">
              <a:avLst/>
            </a:prstGeom>
            <a:solidFill>
              <a:srgbClr val="E7EBF5"/>
            </a:solidFill>
          </p:spPr>
          <p:txBody>
            <a:bodyPr wrap="none" lIns="91440" tIns="0" rIns="91440" bIns="0" rtlCol="0" anchor="ctr">
              <a:spAutoFit/>
            </a:bodyPr>
            <a:lstStyle/>
            <a:p>
              <a:r>
                <a:rPr lang="en-US" dirty="0" smtClean="0">
                  <a:solidFill>
                    <a:srgbClr val="C00000"/>
                  </a:solidFill>
                  <a:latin typeface="+mj-lt"/>
                </a:rPr>
                <a:t>true</a:t>
              </a:r>
              <a:endParaRPr lang="ru-RU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5715000" y="4266295"/>
              <a:ext cx="2497368" cy="307776"/>
              <a:chOff x="5715000" y="4266295"/>
              <a:chExt cx="2497368" cy="307776"/>
            </a:xfrm>
          </p:grpSpPr>
          <p:sp>
            <p:nvSpPr>
              <p:cNvPr id="52" name="Rounded Rectangle 51"/>
              <p:cNvSpPr/>
              <p:nvPr/>
            </p:nvSpPr>
            <p:spPr bwMode="auto">
              <a:xfrm>
                <a:off x="5715000" y="4266295"/>
                <a:ext cx="2194560" cy="307776"/>
              </a:xfrm>
              <a:prstGeom prst="roundRect">
                <a:avLst/>
              </a:prstGeom>
              <a:noFill/>
              <a:ln w="28575" cap="flat" cmpd="sng" algn="ctr">
                <a:solidFill>
                  <a:srgbClr val="0071C5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dirty="0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53" name="Straight Arrow Connector 52"/>
              <p:cNvCxnSpPr>
                <a:endCxn id="50" idx="1"/>
              </p:cNvCxnSpPr>
              <p:nvPr/>
            </p:nvCxnSpPr>
            <p:spPr bwMode="auto">
              <a:xfrm flipV="1">
                <a:off x="7924800" y="4417987"/>
                <a:ext cx="287568" cy="1614"/>
              </a:xfrm>
              <a:prstGeom prst="straightConnector1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0071C5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876171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7" grpId="0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258224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6191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14.5|13.5|15.7|2.6|11.6|14|28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0|22.1|47.7|11.6|4.2|21.5|2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48.6|0.5|0.7|5.8|2.2|4.2|0.6|5.1|8.8|1.1|0.7|2.7|0.5|0.4|6.8|0.4|0.4|0.4|0.4|3.7|0.8|0.5|0.4|0.3|0.6|7.2|2.5|0.7|6.4|0.6|0.5|4.3|1.9|0.9|0.6|1|0.4|0.4|0.6|6.2|14.8|1.6|10.2|12.1|1.5|2.7|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7.7|16|10.7|10.5|2.5|34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5.1|0.8|8.3|3.4|1.7|11.7|6.8|5.5|0.9|3.6|2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|26.1|23.6|9.4|5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2.8|13.8|8.9|11.6|1.8|4.7|3.4|9.9|9.4|1.4|10.9|4.3|20|11.1|8|7.3|14.5|14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7.1|17.3|0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|12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1|1.2|9|7|9.5|10.4|6.3|3.3|6.4|4.3|2.2|14.5|1.7|38|2.3|14.7|2.2|2.1|1.3|5|1.2|16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1|12.9|4.2|7.5|6.3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7003</TotalTime>
  <Words>834</Words>
  <Application>Microsoft Office PowerPoint</Application>
  <PresentationFormat>On-screen Show (4:3)</PresentationFormat>
  <Paragraphs>297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MS PGothic</vt:lpstr>
      <vt:lpstr>MS PGothic</vt:lpstr>
      <vt:lpstr>Arial</vt:lpstr>
      <vt:lpstr>Calibri</vt:lpstr>
      <vt:lpstr>Consolas</vt:lpstr>
      <vt:lpstr>Neo Sans Intel</vt:lpstr>
      <vt:lpstr>Neo Sans Intel Light</vt:lpstr>
      <vt:lpstr>Neo Sans Intel Medium</vt:lpstr>
      <vt:lpstr>Symbol</vt:lpstr>
      <vt:lpstr>Times</vt:lpstr>
      <vt:lpstr>Verdana</vt:lpstr>
      <vt:lpstr>Wingdings</vt:lpstr>
      <vt:lpstr>mdsp_2011</vt:lpstr>
      <vt:lpstr> Out-Of-Order Execution (part II)</vt:lpstr>
      <vt:lpstr>Refresher: OOO Exe</vt:lpstr>
      <vt:lpstr>Refresher: HW Instruction Window</vt:lpstr>
      <vt:lpstr>RAT Restore</vt:lpstr>
      <vt:lpstr>Exception Handling</vt:lpstr>
      <vt:lpstr>Refresher: Exception Handling</vt:lpstr>
      <vt:lpstr>Exceptions</vt:lpstr>
      <vt:lpstr>Interrupts</vt:lpstr>
      <vt:lpstr>Scheduling</vt:lpstr>
      <vt:lpstr>Why Is ROB Complex?</vt:lpstr>
      <vt:lpstr>Scheduler Queue</vt:lpstr>
      <vt:lpstr>Scheduler Queue</vt:lpstr>
      <vt:lpstr>SQ Operation Example</vt:lpstr>
      <vt:lpstr>SQ Operation Example</vt:lpstr>
      <vt:lpstr>The End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291</cp:revision>
  <dcterms:created xsi:type="dcterms:W3CDTF">2011-10-24T08:13:52Z</dcterms:created>
  <dcterms:modified xsi:type="dcterms:W3CDTF">2018-03-17T13:27:59Z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2018-03-17 13:27:59Z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