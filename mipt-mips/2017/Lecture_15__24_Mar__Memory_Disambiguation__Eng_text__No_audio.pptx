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3"/>
  </p:notesMasterIdLst>
  <p:handoutMasterIdLst>
    <p:handoutMasterId r:id="rId24"/>
  </p:handoutMasterIdLst>
  <p:sldIdLst>
    <p:sldId id="340" r:id="rId5"/>
    <p:sldId id="341" r:id="rId6"/>
    <p:sldId id="342" r:id="rId7"/>
    <p:sldId id="343" r:id="rId8"/>
    <p:sldId id="344" r:id="rId9"/>
    <p:sldId id="345" r:id="rId10"/>
    <p:sldId id="346" r:id="rId11"/>
    <p:sldId id="347" r:id="rId12"/>
    <p:sldId id="348" r:id="rId13"/>
    <p:sldId id="349" r:id="rId14"/>
    <p:sldId id="350" r:id="rId15"/>
    <p:sldId id="351" r:id="rId16"/>
    <p:sldId id="352" r:id="rId17"/>
    <p:sldId id="353" r:id="rId18"/>
    <p:sldId id="354" r:id="rId19"/>
    <p:sldId id="355" r:id="rId20"/>
    <p:sldId id="356" r:id="rId21"/>
    <p:sldId id="357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880">
          <p15:clr>
            <a:srgbClr val="A4A3A4"/>
          </p15:clr>
        </p15:guide>
        <p15:guide id="2" pos="288">
          <p15:clr>
            <a:srgbClr val="A4A3A4"/>
          </p15:clr>
        </p15:guide>
        <p15:guide id="3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wdeaner" initials="" lastIdx="9" clrIdx="0"/>
  <p:cmAuthor id="1" name="Kister, Merlin D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4008"/>
    <a:srgbClr val="F37021"/>
    <a:srgbClr val="FFC000"/>
    <a:srgbClr val="061922"/>
    <a:srgbClr val="B4BABD"/>
    <a:srgbClr val="D7DF23"/>
    <a:srgbClr val="8DC63F"/>
    <a:srgbClr val="0071C5"/>
    <a:srgbClr val="DDDDDD"/>
    <a:srgbClr val="F1F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99700" autoAdjust="0"/>
  </p:normalViewPr>
  <p:slideViewPr>
    <p:cSldViewPr snapToGrid="0">
      <p:cViewPr varScale="1">
        <p:scale>
          <a:sx n="116" d="100"/>
          <a:sy n="116" d="100"/>
        </p:scale>
        <p:origin x="3006" y="108"/>
      </p:cViewPr>
      <p:guideLst>
        <p:guide orient="horz" pos="880"/>
        <p:guide pos="288"/>
        <p:guide pos="547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5" d="100"/>
        <a:sy n="105" d="100"/>
      </p:scale>
      <p:origin x="0" y="0"/>
    </p:cViewPr>
  </p:sorterViewPr>
  <p:notesViewPr>
    <p:cSldViewPr>
      <p:cViewPr>
        <p:scale>
          <a:sx n="100" d="100"/>
          <a:sy n="100" d="100"/>
        </p:scale>
        <p:origin x="3552" y="22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914B7C32-9169-49F6-BD7A-5067B8DB0A44}" type="datetimeFigureOut">
              <a:rPr lang="en-US"/>
              <a:pPr>
                <a:defRPr/>
              </a:pPr>
              <a:t>3/24/2018</a:t>
            </a:fld>
            <a:endParaRPr lang="en-US" dirty="0"/>
          </a:p>
        </p:txBody>
      </p:sp>
      <p:sp>
        <p:nvSpPr>
          <p:cNvPr id="8335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8375B05B-E607-4D82-B97C-98BFBC66126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5467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991E29C4-32EF-49E6-A487-83605AD0B038}" type="datetimeFigureOut">
              <a:rPr lang="en-US"/>
              <a:pPr>
                <a:defRPr/>
              </a:pPr>
              <a:t>3/24/2018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C6B57032-B76D-4852-ACCF-DA5A3151FA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7906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2048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881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381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1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8707"/>
            <a:ext cx="8269500" cy="3822320"/>
          </a:xfrm>
          <a:prstGeom prst="rect">
            <a:avLst/>
          </a:prstGeom>
        </p:spPr>
      </p:pic>
      <p:sp>
        <p:nvSpPr>
          <p:cNvPr id="4813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624998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378240" y="4353385"/>
            <a:ext cx="4466738" cy="933589"/>
          </a:xfrm>
        </p:spPr>
        <p:txBody>
          <a:bodyPr wrap="square">
            <a:sp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defRPr sz="2000" b="0" i="0">
                <a:solidFill>
                  <a:schemeClr val="bg1"/>
                </a:solidFill>
                <a:latin typeface="Neo Sans Intel Medium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Verdana" charset="0"/>
              </a:rPr>
              <a:t>Subtitle</a:t>
            </a: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dirty="0" smtClean="0">
                <a:latin typeface="Verdana" charset="0"/>
              </a:rPr>
              <a:t>Additional Info</a:t>
            </a:r>
            <a:endParaRPr lang="en-US" dirty="0" smtClean="0">
              <a:latin typeface="Verdana" charset="0"/>
            </a:endParaRPr>
          </a:p>
          <a:p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PTCovers-0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5600"/>
            <a:ext cx="8257308" cy="4102745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363972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60188" y="3264183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6388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PTCovers-03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9534"/>
            <a:ext cx="8342654" cy="2904841"/>
          </a:xfrm>
          <a:prstGeom prst="rect">
            <a:avLst/>
          </a:prstGeom>
        </p:spPr>
      </p:pic>
      <p:sp>
        <p:nvSpPr>
          <p:cNvPr id="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782553"/>
            <a:ext cx="6754008" cy="584775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+mj-lt"/>
                <a:cs typeface="Neo Sans Intel"/>
              </a:defRPr>
            </a:lvl1pPr>
          </a:lstStyle>
          <a:p>
            <a:r>
              <a:rPr lang="en-US" altLang="ja-JP" dirty="0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59957" y="3750107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2585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4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2543"/>
            <a:ext cx="8495059" cy="3724780"/>
          </a:xfrm>
          <a:prstGeom prst="rect">
            <a:avLst/>
          </a:prstGeom>
        </p:spPr>
      </p:pic>
      <p:sp>
        <p:nvSpPr>
          <p:cNvPr id="10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93531" y="2727579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1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92333" y="3649814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 b="0" i="0">
                <a:solidFill>
                  <a:schemeClr val="bg1"/>
                </a:solidFill>
                <a:latin typeface="Neo Sans Intel Medium"/>
                <a:cs typeface="Neo Sans Intel Medium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5986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+mj-lt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-option 2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5353050" y="0"/>
            <a:ext cx="379095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-option 3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-7684"/>
            <a:ext cx="914400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2466" y="584201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6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379539"/>
            <a:ext cx="4037012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379539"/>
            <a:ext cx="4038600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40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400994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White Logo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Blu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tps://mipt.ru/upload/medialibrary/d39/eng_text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12" y="0"/>
            <a:ext cx="7988965" cy="4337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ntel_rgb_3000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070" y="4190460"/>
            <a:ext cx="2898648" cy="19111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4025" y="75690"/>
            <a:ext cx="82296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995929"/>
            <a:ext cx="8228012" cy="4920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text styles</a:t>
            </a:r>
          </a:p>
          <a:p>
            <a:pPr lvl="1"/>
            <a:r>
              <a:rPr lang="en-US" altLang="ja-JP" dirty="0" smtClean="0"/>
              <a:t>Second level</a:t>
            </a:r>
          </a:p>
          <a:p>
            <a:pPr lvl="2"/>
            <a:r>
              <a:rPr lang="en-US" altLang="ja-JP" dirty="0" smtClean="0"/>
              <a:t>Third level</a:t>
            </a:r>
          </a:p>
          <a:p>
            <a:pPr lvl="3"/>
            <a:r>
              <a:rPr lang="en-US" altLang="ja-JP" dirty="0" smtClean="0"/>
              <a:t>Fourth level</a:t>
            </a:r>
          </a:p>
          <a:p>
            <a:pPr lvl="4"/>
            <a:r>
              <a:rPr lang="en-US" altLang="ja-JP" dirty="0" smtClean="0"/>
              <a:t>Fifth level</a:t>
            </a:r>
          </a:p>
        </p:txBody>
      </p:sp>
      <p:pic>
        <p:nvPicPr>
          <p:cNvPr id="5" name="Picture 4" descr="Intel_footer_121410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0" y="6362701"/>
            <a:ext cx="91440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6596390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1050" b="1" i="0" smtClean="0">
                <a:solidFill>
                  <a:schemeClr val="bg1"/>
                </a:solidFill>
                <a:latin typeface="+mj-lt"/>
                <a:ea typeface="Verdana" pitchFamily="34" charset="0"/>
                <a:cs typeface="Neo Sans Intel"/>
              </a:rPr>
              <a:pPr/>
              <a:t>‹#›</a:t>
            </a:fld>
            <a:endParaRPr lang="en-US" sz="1050" b="1" i="0" dirty="0">
              <a:solidFill>
                <a:schemeClr val="bg1"/>
              </a:solidFill>
              <a:latin typeface="+mj-lt"/>
              <a:ea typeface="Verdana" pitchFamily="34" charset="0"/>
              <a:cs typeface="Neo Sans Intel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360996" y="6488794"/>
            <a:ext cx="45710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b="1" kern="900" spc="120" dirty="0" smtClean="0">
                <a:solidFill>
                  <a:schemeClr val="bg1"/>
                </a:solidFill>
                <a:latin typeface="+mj-lt"/>
              </a:rPr>
              <a:t>MIPT-MIPS</a:t>
            </a:r>
            <a:r>
              <a:rPr lang="en-US" sz="1000" b="1" kern="900" spc="120" baseline="0" dirty="0" smtClean="0">
                <a:solidFill>
                  <a:schemeClr val="bg1"/>
                </a:solidFill>
                <a:latin typeface="+mj-lt"/>
              </a:rPr>
              <a:t> 2017</a:t>
            </a:r>
            <a:endParaRPr lang="ru-RU" sz="1000" b="1" kern="900" spc="120" dirty="0" smtClean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28" name="Picture 4" descr="https://mipt.ru/upload/medialibrary/056/eng_inversion.jpg"/>
          <p:cNvPicPr>
            <a:picLocks noChangeAspect="1" noChangeArrowheads="1"/>
          </p:cNvPicPr>
          <p:nvPr userDrawn="1"/>
        </p:nvPicPr>
        <p:blipFill>
          <a:blip r:embed="rId17" cstate="print">
            <a:clrChange>
              <a:clrFrom>
                <a:srgbClr val="4C79BC"/>
              </a:clrFrom>
              <a:clrTo>
                <a:srgbClr val="4C79B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1143" y="6331463"/>
            <a:ext cx="1077432" cy="550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956" r:id="rId1"/>
    <p:sldLayoutId id="2147485972" r:id="rId2"/>
    <p:sldLayoutId id="2147485973" r:id="rId3"/>
    <p:sldLayoutId id="2147485974" r:id="rId4"/>
    <p:sldLayoutId id="2147485963" r:id="rId5"/>
    <p:sldLayoutId id="2147485976" r:id="rId6"/>
    <p:sldLayoutId id="2147485977" r:id="rId7"/>
    <p:sldLayoutId id="2147485957" r:id="rId8"/>
    <p:sldLayoutId id="2147485959" r:id="rId9"/>
    <p:sldLayoutId id="2147485961" r:id="rId10"/>
    <p:sldLayoutId id="2147485962" r:id="rId11"/>
    <p:sldLayoutId id="2147485975" r:id="rId12"/>
    <p:sldLayoutId id="2147485964" r:id="rId13"/>
    <p:sldLayoutId id="2147485971" r:id="rId14"/>
  </p:sldLayoutIdLst>
  <p:transition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3000" b="0" i="0">
          <a:solidFill>
            <a:schemeClr val="accent1"/>
          </a:solidFill>
          <a:latin typeface="+mj-lt"/>
          <a:ea typeface="+mj-ea"/>
          <a:cs typeface="Neo Sans Intel"/>
        </a:defRPr>
      </a:lvl1pPr>
      <a:lvl2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2pPr>
      <a:lvl3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3pPr>
      <a:lvl4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4pPr>
      <a:lvl5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9pPr>
    </p:titleStyle>
    <p:bodyStyle>
      <a:lvl1pPr marL="0" indent="0" algn="l" rtl="0" eaLnBrk="1" fontAlgn="base" hangingPunct="1">
        <a:spcBef>
          <a:spcPct val="75000"/>
        </a:spcBef>
        <a:spcAft>
          <a:spcPct val="0"/>
        </a:spcAft>
        <a:defRPr sz="2400" b="0" i="0">
          <a:solidFill>
            <a:schemeClr val="tx1"/>
          </a:solidFill>
          <a:latin typeface="+mj-lt"/>
          <a:ea typeface="+mn-ea"/>
          <a:cs typeface="Neo Sans Intel"/>
        </a:defRPr>
      </a:lvl1pPr>
      <a:lvl2pPr marL="185738" indent="-184150" algn="l" rtl="0" eaLnBrk="1" fontAlgn="base" hangingPunct="1">
        <a:spcBef>
          <a:spcPct val="40000"/>
        </a:spcBef>
        <a:spcAft>
          <a:spcPct val="0"/>
        </a:spcAft>
        <a:buClr>
          <a:schemeClr val="tx1"/>
        </a:buClr>
        <a:buFont typeface="Times" pitchFamily="18" charset="0"/>
        <a:buChar char="•"/>
        <a:defRPr sz="2200" b="0" i="0">
          <a:solidFill>
            <a:schemeClr val="tx1"/>
          </a:solidFill>
          <a:latin typeface="+mj-lt"/>
          <a:cs typeface="Neo Sans Intel"/>
        </a:defRPr>
      </a:lvl2pPr>
      <a:lvl3pPr marL="414338" indent="-227013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2000" b="0" i="0">
          <a:solidFill>
            <a:schemeClr val="tx1"/>
          </a:solidFill>
          <a:latin typeface="+mj-lt"/>
          <a:cs typeface="Neo Sans Intel"/>
        </a:defRPr>
      </a:lvl3pPr>
      <a:lvl4pPr marL="568325" indent="-1524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1800" b="0" i="0">
          <a:solidFill>
            <a:schemeClr val="tx1"/>
          </a:solidFill>
          <a:latin typeface="+mj-lt"/>
          <a:cs typeface="Neo Sans Intel"/>
        </a:defRPr>
      </a:lvl4pPr>
      <a:lvl5pPr marL="7620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800" b="0" i="0">
          <a:solidFill>
            <a:schemeClr val="tx1"/>
          </a:solidFill>
          <a:latin typeface="+mj-lt"/>
          <a:cs typeface="Neo Sans Intel"/>
        </a:defRPr>
      </a:lvl5pPr>
      <a:lvl6pPr marL="12192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6pPr>
      <a:lvl7pPr marL="16764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7pPr>
      <a:lvl8pPr marL="21336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8pPr>
      <a:lvl9pPr marL="25908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593531" y="2742967"/>
            <a:ext cx="4776949" cy="569387"/>
          </a:xfrm>
        </p:spPr>
        <p:txBody>
          <a:bodyPr rIns="0" anchor="b"/>
          <a:lstStyle/>
          <a:p>
            <a:pPr>
              <a:spcAft>
                <a:spcPts val="1200"/>
              </a:spcAft>
            </a:pPr>
            <a:r>
              <a:rPr lang="en-US" sz="3700" dirty="0" smtClean="0">
                <a:latin typeface="+mj-lt"/>
              </a:rPr>
              <a:t>Memory Disambiguation</a:t>
            </a:r>
            <a:endParaRPr lang="en-US" sz="3700" dirty="0">
              <a:latin typeface="+mj-lt"/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592333" y="3649814"/>
            <a:ext cx="4343400" cy="595035"/>
          </a:xfrm>
        </p:spPr>
        <p:txBody>
          <a:bodyPr/>
          <a:lstStyle/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+mj-lt"/>
              </a:rPr>
              <a:t>Igor Smirnov</a:t>
            </a:r>
            <a:endParaRPr lang="en-US" dirty="0" smtClean="0">
              <a:latin typeface="+mj-lt"/>
            </a:endParaRPr>
          </a:p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+mj-lt"/>
              </a:rPr>
              <a:t>24 March 2018</a:t>
            </a:r>
            <a:endParaRPr lang="en-US" dirty="0" smtClean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146510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Refresher: Write Handling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880861"/>
            <a:ext cx="8228012" cy="2289059"/>
          </a:xfrm>
          <a:solidFill>
            <a:schemeClr val="bg1"/>
          </a:solidFill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+mj-lt"/>
              </a:rPr>
              <a:t>Memory writes (store instructions) also need to update a cache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</a:pPr>
            <a:r>
              <a:rPr lang="en-US" sz="2000" kern="1200" dirty="0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If update only memory, the old data can be read from the cache later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+mj-lt"/>
              </a:rPr>
              <a:t>There </a:t>
            </a:r>
            <a:r>
              <a:rPr lang="en-US" dirty="0">
                <a:latin typeface="+mj-lt"/>
              </a:rPr>
              <a:t>two main approached of write </a:t>
            </a:r>
            <a:r>
              <a:rPr lang="en-US" dirty="0" smtClean="0">
                <a:latin typeface="+mj-lt"/>
              </a:rPr>
              <a:t>handling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</a:pPr>
            <a:r>
              <a:rPr lang="en-US" sz="2000" b="1" kern="1200" dirty="0" err="1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WriteThrough</a:t>
            </a:r>
            <a:r>
              <a:rPr lang="en-US" sz="2000" kern="1200" dirty="0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: always update both memory and cache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</a:pPr>
            <a:r>
              <a:rPr lang="en-US" sz="2000" b="1" kern="1200" dirty="0" err="1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WriteBack</a:t>
            </a:r>
            <a:r>
              <a:rPr lang="en-US" sz="2000" kern="1200" dirty="0" smtClean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: update only cache, update memory at line eviction</a:t>
            </a:r>
            <a:endParaRPr lang="en-US" sz="20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Table with text"/>
          <p:cNvGraphicFramePr>
            <a:graphicFrameLocks noGrp="1"/>
          </p:cNvGraphicFramePr>
          <p:nvPr>
            <p:extLst/>
          </p:nvPr>
        </p:nvGraphicFramePr>
        <p:xfrm>
          <a:off x="640079" y="3222831"/>
          <a:ext cx="8043546" cy="3005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1"/>
                <a:gridCol w="3657600"/>
                <a:gridCol w="3105785"/>
              </a:tblGrid>
              <a:tr h="408117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Event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WriteThrough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 smtClean="0"/>
                        <a:t>WriteBack</a:t>
                      </a:r>
                      <a:endParaRPr lang="ru-RU" sz="2000" dirty="0"/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lang="en-US" dirty="0" smtClean="0"/>
                        <a:t>Write</a:t>
                      </a:r>
                      <a:r>
                        <a:rPr lang="en-US" baseline="0" dirty="0" smtClean="0"/>
                        <a:t> hits cache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Update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memory and cache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Update only cache (make line “dirty”)</a:t>
                      </a:r>
                    </a:p>
                  </a:txBody>
                  <a:tcPr/>
                </a:tc>
              </a:tr>
              <a:tr h="1100643">
                <a:tc>
                  <a:txBody>
                    <a:bodyPr/>
                    <a:lstStyle/>
                    <a:p>
                      <a:r>
                        <a:rPr lang="en-US" dirty="0" smtClean="0"/>
                        <a:t>Write misses cache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prstClr val="black"/>
                          </a:solidFill>
                          <a:latin typeface="+mn-lt"/>
                          <a:cs typeface="+mn-cs"/>
                        </a:rPr>
                        <a:t>Option 1: Upload missing line into cache, update</a:t>
                      </a:r>
                      <a:r>
                        <a:rPr lang="en-US" sz="1800" baseline="0" dirty="0" smtClean="0">
                          <a:solidFill>
                            <a:prstClr val="black"/>
                          </a:solidFill>
                          <a:latin typeface="+mn-lt"/>
                          <a:cs typeface="+mn-cs"/>
                        </a:rPr>
                        <a:t> </a:t>
                      </a:r>
                      <a:r>
                        <a:rPr lang="en-US" dirty="0" smtClean="0"/>
                        <a:t>memory and cache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dirty="0" smtClean="0">
                          <a:solidFill>
                            <a:schemeClr val="bg2"/>
                          </a:solidFill>
                        </a:rPr>
                        <a:t>Option</a:t>
                      </a:r>
                      <a:r>
                        <a:rPr lang="en-US" baseline="0" dirty="0" smtClean="0">
                          <a:solidFill>
                            <a:schemeClr val="bg2"/>
                          </a:solidFill>
                        </a:rPr>
                        <a:t> 2: Update only memory</a:t>
                      </a:r>
                      <a:endParaRPr lang="ru-RU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Upload missing line into cache, update only cache (make the line “dirty”)</a:t>
                      </a:r>
                    </a:p>
                  </a:txBody>
                  <a:tcPr/>
                </a:tc>
              </a:tr>
              <a:tr h="719249">
                <a:tc>
                  <a:txBody>
                    <a:bodyPr/>
                    <a:lstStyle/>
                    <a:p>
                      <a:r>
                        <a:rPr lang="en-US" dirty="0" smtClean="0"/>
                        <a:t>A line is evicted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Do nothing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If the line is “dirty”</a:t>
                      </a:r>
                      <a:r>
                        <a:rPr lang="en-US" baseline="0" dirty="0" smtClean="0"/>
                        <a:t> write it back into memory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6163649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Store Execution 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55613" y="1059931"/>
            <a:ext cx="7010589" cy="510117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Stores are never performed speculatively</a:t>
            </a:r>
          </a:p>
          <a:p>
            <a:pPr marL="688975" lvl="1" indent="-342900">
              <a:buFont typeface="Calibri" panose="020F0502020204030204" pitchFamily="34" charset="0"/>
              <a:buChar char="—"/>
            </a:pPr>
            <a:r>
              <a:rPr lang="en-US" sz="2000" b="1" dirty="0"/>
              <a:t>There is no transparent way to undo </a:t>
            </a:r>
            <a:r>
              <a:rPr lang="en-US" sz="2000" b="1" dirty="0" smtClean="0"/>
              <a:t>them</a:t>
            </a: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Stores </a:t>
            </a:r>
            <a:r>
              <a:rPr lang="en-US" sz="2000" dirty="0"/>
              <a:t>are also never re-ordered among themselves</a:t>
            </a:r>
          </a:p>
          <a:p>
            <a:pPr marL="688975" lvl="1" indent="-342900">
              <a:buFont typeface="Calibri" panose="020F0502020204030204" pitchFamily="34" charset="0"/>
              <a:buChar char="—"/>
            </a:pPr>
            <a:r>
              <a:rPr lang="en-US" sz="2000" dirty="0" smtClean="0"/>
              <a:t>The store is dispatched only </a:t>
            </a:r>
            <a:r>
              <a:rPr lang="en-US" sz="2000" dirty="0"/>
              <a:t>when </a:t>
            </a:r>
          </a:p>
          <a:p>
            <a:pPr marL="1027113" lvl="2" indent="-342900"/>
            <a:r>
              <a:rPr lang="en-US" sz="2000" dirty="0"/>
              <a:t>The store has both its address and its </a:t>
            </a:r>
            <a:r>
              <a:rPr lang="en-US" sz="2000" dirty="0" smtClean="0"/>
              <a:t>data</a:t>
            </a:r>
            <a:endParaRPr lang="en-US" sz="2000" dirty="0"/>
          </a:p>
          <a:p>
            <a:pPr marL="1027113" lvl="2" indent="-342900"/>
            <a:r>
              <a:rPr lang="en-US" sz="2000" dirty="0"/>
              <a:t>There are no older stores awaiting dispatch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Store commits its value to </a:t>
            </a:r>
            <a:r>
              <a:rPr lang="en-US" sz="2000" b="1" dirty="0" smtClean="0"/>
              <a:t>cache post </a:t>
            </a:r>
            <a:r>
              <a:rPr lang="en-US" sz="2000" b="1" dirty="0"/>
              <a:t>retirement</a:t>
            </a:r>
          </a:p>
        </p:txBody>
      </p:sp>
    </p:spTree>
    <p:extLst>
      <p:ext uri="{BB962C8B-B14F-4D97-AF65-F5344CB8AC3E}">
        <p14:creationId xmlns:p14="http://schemas.microsoft.com/office/powerpoint/2010/main" val="40869525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Load Execution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The target is to perform loads and their consumers speculatively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The only thing is check </a:t>
            </a:r>
            <a:r>
              <a:rPr lang="en-US" sz="2000" dirty="0"/>
              <a:t>that load takes correct data</a:t>
            </a:r>
          </a:p>
          <a:p>
            <a:pPr marL="741363" lvl="2" indent="0">
              <a:spcBef>
                <a:spcPts val="1200"/>
              </a:spcBef>
              <a:buNone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(1) </a:t>
            </a:r>
            <a:r>
              <a:rPr lang="en-US" sz="2000" dirty="0">
                <a:solidFill>
                  <a:srgbClr val="CC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Mem[r1]</a:t>
            </a:r>
            <a:r>
              <a:rPr lang="en-US" sz="20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 …</a:t>
            </a:r>
            <a:endParaRPr lang="en-US" sz="2000" dirty="0">
              <a:solidFill>
                <a:sysClr val="windowText" lastClr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741363" lvl="2" indent="0">
              <a:buNone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…</a:t>
            </a:r>
          </a:p>
          <a:p>
            <a:pPr marL="741363" lvl="2" indent="0">
              <a:buNone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(6)  … </a:t>
            </a:r>
            <a:r>
              <a:rPr lang="en-US" sz="20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20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CC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Mem[r1]</a:t>
            </a:r>
            <a:r>
              <a:rPr lang="en-US" sz="20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Refresher: </a:t>
            </a:r>
            <a:r>
              <a:rPr lang="en-US" dirty="0" smtClean="0"/>
              <a:t>execution order is defined by data dependencies, which are detected at allocation</a:t>
            </a:r>
            <a:endParaRPr lang="ru-RU" b="1" dirty="0"/>
          </a:p>
        </p:txBody>
      </p:sp>
      <p:sp>
        <p:nvSpPr>
          <p:cNvPr id="5" name="Rounded Rectangular Callout 4"/>
          <p:cNvSpPr/>
          <p:nvPr/>
        </p:nvSpPr>
        <p:spPr>
          <a:xfrm>
            <a:off x="4001706" y="2176515"/>
            <a:ext cx="4371976" cy="705455"/>
          </a:xfrm>
          <a:prstGeom prst="wedgeRoundRectCallout">
            <a:avLst>
              <a:gd name="adj1" fmla="val -60354"/>
              <a:gd name="adj2" fmla="val 43642"/>
              <a:gd name="adj3" fmla="val 16667"/>
            </a:avLst>
          </a:prstGeom>
          <a:solidFill>
            <a:sysClr val="window" lastClr="FFFFFF"/>
          </a:solidFill>
          <a:ln w="19050" cap="flat" cmpd="sng" algn="ctr">
            <a:solidFill>
              <a:srgbClr val="4F81B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instruction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(6)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rPr>
              <a:t> </a:t>
            </a:r>
            <a:r>
              <a:rPr lang="en-US" kern="0" noProof="0" dirty="0" smtClean="0">
                <a:solidFill>
                  <a:prstClr val="black"/>
                </a:solidFill>
                <a:latin typeface="Calibri"/>
                <a:cs typeface="+mn-cs"/>
              </a:rPr>
              <a:t>executes before</a:t>
            </a: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(1)</a:t>
            </a:r>
            <a:r>
              <a:rPr lang="en-US" kern="0" noProof="0" dirty="0" smtClean="0">
                <a:solidFill>
                  <a:prstClr val="black"/>
                </a:solidFill>
                <a:latin typeface="Calibri"/>
                <a:cs typeface="+mn-cs"/>
              </a:rPr>
              <a:t>,</a:t>
            </a:r>
            <a:br>
              <a:rPr lang="en-US" kern="0" noProof="0" dirty="0" smtClean="0">
                <a:solidFill>
                  <a:prstClr val="black"/>
                </a:solidFill>
                <a:latin typeface="Calibri"/>
                <a:cs typeface="+mn-cs"/>
              </a:rPr>
            </a:b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it</a:t>
            </a:r>
            <a:r>
              <a:rPr kumimoji="0" lang="en-US" b="0" i="0" u="none" strike="noStrike" kern="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will read a wrong value from memory</a:t>
            </a:r>
            <a:endParaRPr kumimoji="0" lang="en-US" b="0" i="1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85511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Dependencies</a:t>
            </a:r>
            <a:endParaRPr lang="ru-R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5613" y="978651"/>
            <a:ext cx="8228012" cy="5101172"/>
          </a:xfrm>
        </p:spPr>
        <p:txBody>
          <a:bodyPr/>
          <a:lstStyle/>
          <a:p>
            <a:pPr marL="342900" lvl="0" indent="-342900"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OOO engine can track dependency through registers, but not through memory</a:t>
            </a:r>
          </a:p>
          <a:p>
            <a:pPr marL="741363" lvl="2" indent="0">
              <a:spcBef>
                <a:spcPts val="1200"/>
              </a:spcBef>
              <a:buNone/>
              <a:tabLst>
                <a:tab pos="1255713" algn="l"/>
              </a:tabLst>
              <a:defRPr/>
            </a:pPr>
            <a:r>
              <a:rPr lang="en-US" sz="2000" kern="12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(1) </a:t>
            </a:r>
            <a:r>
              <a:rPr lang="en-US" sz="2000" kern="1200" dirty="0" err="1" smtClean="0">
                <a:solidFill>
                  <a:srgbClr val="CC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2000" kern="1200" dirty="0" smtClean="0">
                <a:solidFill>
                  <a:srgbClr val="CC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[r1]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kern="12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 …</a:t>
            </a:r>
            <a:endParaRPr lang="en-US" sz="2000" kern="1200" dirty="0">
              <a:solidFill>
                <a:sysClr val="windowText" lastClr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741363" lvl="2" indent="0">
              <a:buNone/>
              <a:defRPr/>
            </a:pPr>
            <a:r>
              <a:rPr lang="en-US" sz="2000" kern="12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…</a:t>
            </a:r>
            <a:endParaRPr lang="en-US" sz="2000" kern="1200" dirty="0">
              <a:solidFill>
                <a:sysClr val="windowText" lastClr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741363" lvl="2" indent="0">
              <a:buNone/>
              <a:defRPr/>
            </a:pPr>
            <a:r>
              <a:rPr lang="en-US" sz="2000" kern="12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(6)  </a:t>
            </a:r>
            <a:r>
              <a:rPr lang="en-US" sz="2000" kern="12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 </a:t>
            </a:r>
            <a:r>
              <a:rPr lang="en-US" sz="2000" kern="12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2000" kern="12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kern="1200" dirty="0" err="1" smtClean="0">
                <a:solidFill>
                  <a:srgbClr val="CC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2000" kern="1200" dirty="0" smtClean="0">
                <a:solidFill>
                  <a:srgbClr val="CC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[r1]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kern="1200" dirty="0">
              <a:solidFill>
                <a:sysClr val="windowText" lastClr="000000"/>
              </a:solidFill>
              <a:latin typeface="Calibri"/>
              <a:cs typeface="Arial" charset="0"/>
            </a:endParaRPr>
          </a:p>
          <a:p>
            <a:pPr marL="342900" indent="-342900">
              <a:spcBef>
                <a:spcPts val="1200"/>
              </a:spcBef>
              <a:buClrTx/>
              <a:buFont typeface="Arial" charset="0"/>
              <a:buChar char="•"/>
              <a:defRPr/>
            </a:pP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Unlike register dependencies, memory dependency cannot be known at allocation</a:t>
            </a:r>
          </a:p>
          <a:p>
            <a:pPr marL="741363" lvl="2" indent="0">
              <a:spcBef>
                <a:spcPts val="1200"/>
              </a:spcBef>
              <a:buClr>
                <a:srgbClr val="061922"/>
              </a:buClr>
              <a:buNone/>
              <a:defRPr/>
            </a:pPr>
            <a:r>
              <a:rPr lang="en-US" sz="2000" kern="12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(1) </a:t>
            </a:r>
            <a:r>
              <a:rPr lang="en-US" sz="2000" kern="1200" dirty="0" err="1" smtClean="0">
                <a:solidFill>
                  <a:srgbClr val="CC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2000" kern="1200" dirty="0" smtClean="0">
                <a:solidFill>
                  <a:srgbClr val="CC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000" kern="12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2000" kern="1200" dirty="0" smtClean="0">
                <a:solidFill>
                  <a:srgbClr val="CC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kern="12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 …</a:t>
            </a:r>
            <a:endParaRPr lang="en-US" sz="2000" kern="1200" dirty="0">
              <a:solidFill>
                <a:sysClr val="windowText" lastClr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741363" lvl="2" indent="0">
              <a:buClr>
                <a:srgbClr val="061922"/>
              </a:buClr>
              <a:buNone/>
              <a:defRPr/>
            </a:pPr>
            <a:r>
              <a:rPr lang="en-US" sz="2000" kern="12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…</a:t>
            </a:r>
          </a:p>
          <a:p>
            <a:pPr marL="741363" lvl="2" indent="0">
              <a:buClr>
                <a:srgbClr val="061922"/>
              </a:buClr>
              <a:buNone/>
              <a:defRPr/>
            </a:pPr>
            <a:r>
              <a:rPr lang="en-US" sz="2000" kern="12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(6)  … </a:t>
            </a:r>
            <a:r>
              <a:rPr lang="en-US" sz="2000" kern="12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2000" kern="12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kern="1200" dirty="0" err="1" smtClean="0">
                <a:solidFill>
                  <a:srgbClr val="CC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2000" kern="1200" dirty="0" smtClean="0">
                <a:solidFill>
                  <a:srgbClr val="CC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000" kern="1200" dirty="0" smtClean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2000" kern="1200" dirty="0" smtClean="0">
                <a:solidFill>
                  <a:srgbClr val="CC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kern="1200" dirty="0">
              <a:solidFill>
                <a:sysClr val="windowText" lastClr="000000"/>
              </a:solidFill>
              <a:latin typeface="Calibri"/>
              <a:cs typeface="Arial" charset="0"/>
            </a:endParaRPr>
          </a:p>
          <a:p>
            <a:pPr marL="342900" lvl="0" indent="-342900"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b="1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Decision: </a:t>
            </a: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load should wait until all the previous stores write into the memory </a:t>
            </a:r>
            <a:r>
              <a:rPr lang="en-US" kern="1200" dirty="0" smtClean="0">
                <a:solidFill>
                  <a:schemeClr val="tx2"/>
                </a:solidFill>
                <a:latin typeface="Calibri"/>
                <a:cs typeface="Arial" charset="0"/>
              </a:rPr>
              <a:t>(cache)</a:t>
            </a:r>
          </a:p>
          <a:p>
            <a:pPr marL="342900" lvl="0" indent="-342900"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It works, but it is still </a:t>
            </a:r>
            <a:r>
              <a:rPr lang="en-US" b="1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too slow </a:t>
            </a: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(stores write after retirement)</a:t>
            </a:r>
          </a:p>
          <a:p>
            <a:pPr>
              <a:spcBef>
                <a:spcPts val="1200"/>
              </a:spcBef>
              <a:buClrTx/>
              <a:defRPr/>
            </a:pPr>
            <a:endParaRPr lang="ru-RU" dirty="0"/>
          </a:p>
        </p:txBody>
      </p:sp>
      <p:sp>
        <p:nvSpPr>
          <p:cNvPr id="5" name="Rounded Rectangular Callout 4"/>
          <p:cNvSpPr/>
          <p:nvPr/>
        </p:nvSpPr>
        <p:spPr>
          <a:xfrm>
            <a:off x="3897629" y="1956465"/>
            <a:ext cx="4371976" cy="705455"/>
          </a:xfrm>
          <a:prstGeom prst="wedgeRoundRectCallout">
            <a:avLst>
              <a:gd name="adj1" fmla="val -60354"/>
              <a:gd name="adj2" fmla="val 43642"/>
              <a:gd name="adj3" fmla="val 16667"/>
            </a:avLst>
          </a:prstGeom>
          <a:solidFill>
            <a:sysClr val="window" lastClr="FFFFFF"/>
          </a:solidFill>
          <a:ln w="19050" cap="flat" cmpd="sng" algn="ctr">
            <a:solidFill>
              <a:srgbClr val="4F81B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instruction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(6)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onsolas" panose="020B0609020204030204" pitchFamily="49" charset="0"/>
              </a:rPr>
              <a:t> </a:t>
            </a:r>
            <a:r>
              <a:rPr lang="en-US" kern="0" noProof="0" dirty="0" smtClean="0">
                <a:solidFill>
                  <a:prstClr val="black"/>
                </a:solidFill>
                <a:latin typeface="Calibri"/>
                <a:cs typeface="+mn-cs"/>
              </a:rPr>
              <a:t>will executes before</a:t>
            </a: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(1)</a:t>
            </a:r>
            <a:r>
              <a:rPr lang="en-US" kern="0" dirty="0" smtClean="0">
                <a:solidFill>
                  <a:prstClr val="black"/>
                </a:solidFill>
                <a:latin typeface="Calibri"/>
                <a:cs typeface="+mn-cs"/>
              </a:rPr>
              <a:t>,</a:t>
            </a:r>
            <a:br>
              <a:rPr lang="en-US" kern="0" dirty="0" smtClean="0">
                <a:solidFill>
                  <a:prstClr val="black"/>
                </a:solidFill>
                <a:latin typeface="Calibri"/>
                <a:cs typeface="+mn-cs"/>
              </a:rPr>
            </a:b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it</a:t>
            </a:r>
            <a:r>
              <a:rPr kumimoji="0" lang="en-US" b="0" i="0" u="none" strike="noStrike" kern="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will read a wrong value from memory</a:t>
            </a:r>
            <a:endParaRPr kumimoji="0" lang="en-US" b="0" i="1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sp>
        <p:nvSpPr>
          <p:cNvPr id="6" name="Rounded Rectangular Callout 5"/>
          <p:cNvSpPr/>
          <p:nvPr/>
        </p:nvSpPr>
        <p:spPr>
          <a:xfrm>
            <a:off x="3999229" y="4018144"/>
            <a:ext cx="2676634" cy="705455"/>
          </a:xfrm>
          <a:prstGeom prst="wedgeRoundRectCallout">
            <a:avLst>
              <a:gd name="adj1" fmla="val -65785"/>
              <a:gd name="adj2" fmla="val 43642"/>
              <a:gd name="adj3" fmla="val 16667"/>
            </a:avLst>
          </a:prstGeom>
          <a:solidFill>
            <a:sysClr val="window" lastClr="FFFFFF"/>
          </a:solidFill>
          <a:ln w="19050" cap="flat" cmpd="sng" algn="ctr">
            <a:solidFill>
              <a:srgbClr val="4F81B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Registers</a:t>
            </a:r>
            <a:r>
              <a:rPr kumimoji="0" lang="en-US" b="0" i="0" u="none" strike="noStrike" kern="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600" b="0" i="0" u="none" strike="noStrike" kern="0" cap="none" spc="0" normalizeH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kumimoji="0" lang="en-US" b="0" i="0" u="none" strike="noStrike" kern="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US" sz="1600" b="0" i="0" u="none" strike="noStrike" kern="0" cap="none" spc="0" normalizeH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kumimoji="0" lang="en-US" b="0" i="0" u="none" strike="noStrike" kern="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lang="en-US" kern="0" dirty="0" smtClean="0">
                <a:solidFill>
                  <a:prstClr val="black"/>
                </a:solidFill>
                <a:latin typeface="Calibri"/>
                <a:cs typeface="+mn-cs"/>
              </a:rPr>
              <a:t>may</a:t>
            </a:r>
            <a:r>
              <a:rPr kumimoji="0" lang="en-US" b="0" i="0" u="none" strike="noStrike" kern="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have the same values</a:t>
            </a:r>
            <a:endParaRPr kumimoji="0" lang="en-US" b="0" i="1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12342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  <p:extLst mod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Store Forwarding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b="1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Faster </a:t>
            </a:r>
            <a:r>
              <a:rPr lang="en-US" b="1" kern="1200" dirty="0">
                <a:solidFill>
                  <a:sysClr val="windowText" lastClr="000000"/>
                </a:solidFill>
                <a:latin typeface="Calibri"/>
                <a:cs typeface="Arial" charset="0"/>
              </a:rPr>
              <a:t>d</a:t>
            </a:r>
            <a:r>
              <a:rPr lang="en-US" b="1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ecision: </a:t>
            </a: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load waits only if there is some </a:t>
            </a:r>
            <a:r>
              <a:rPr lang="en-US" b="1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older </a:t>
            </a: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store with not calculated address</a:t>
            </a:r>
          </a:p>
          <a:p>
            <a:pPr marL="342900" lvl="0" indent="-342900"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If addresses of all the previous stores are known and there is no intersection with them, then load can be executed</a:t>
            </a:r>
          </a:p>
          <a:p>
            <a:pPr marL="342900" lvl="0" indent="-342900"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In case of intersection, the load is waiting until the data of the store is ready</a:t>
            </a:r>
          </a:p>
          <a:p>
            <a:pPr marL="342900" lvl="0" indent="-342900"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b="1" kern="1200" dirty="0">
                <a:solidFill>
                  <a:sysClr val="windowText" lastClr="000000"/>
                </a:solidFill>
                <a:cs typeface="Arial" charset="0"/>
              </a:rPr>
              <a:t>Improvement: </a:t>
            </a:r>
            <a:r>
              <a:rPr lang="en-US" kern="1200" dirty="0">
                <a:solidFill>
                  <a:sysClr val="windowText" lastClr="000000"/>
                </a:solidFill>
                <a:cs typeface="Arial" charset="0"/>
              </a:rPr>
              <a:t>load can take data of the </a:t>
            </a:r>
            <a:r>
              <a:rPr lang="en-US" kern="1200" dirty="0" smtClean="0">
                <a:solidFill>
                  <a:sysClr val="windowText" lastClr="000000"/>
                </a:solidFill>
                <a:cs typeface="Arial" charset="0"/>
              </a:rPr>
              <a:t>producing store bypassing cache, it </a:t>
            </a:r>
            <a:r>
              <a:rPr lang="en-US" kern="1200" dirty="0">
                <a:solidFill>
                  <a:sysClr val="windowText" lastClr="000000"/>
                </a:solidFill>
                <a:cs typeface="Arial" charset="0"/>
              </a:rPr>
              <a:t>is called </a:t>
            </a:r>
            <a:r>
              <a:rPr lang="en-US" b="1" kern="1200" dirty="0">
                <a:solidFill>
                  <a:sysClr val="windowText" lastClr="000000"/>
                </a:solidFill>
                <a:cs typeface="Arial" charset="0"/>
              </a:rPr>
              <a:t>Store Forwarding</a:t>
            </a:r>
          </a:p>
          <a:p>
            <a:pPr marL="342900" lvl="0" indent="-342900">
              <a:spcBef>
                <a:spcPts val="1200"/>
              </a:spcBef>
              <a:buFont typeface="Arial" charset="0"/>
              <a:buChar char="•"/>
              <a:defRPr/>
            </a:pPr>
            <a:endParaRPr lang="en-US" kern="1200" dirty="0" smtClean="0">
              <a:solidFill>
                <a:sysClr val="windowText" lastClr="000000"/>
              </a:solidFill>
              <a:latin typeface="Calibri"/>
              <a:cs typeface="Arial" charset="0"/>
            </a:endParaRPr>
          </a:p>
          <a:p>
            <a:pPr marL="342900" lvl="0" indent="-342900">
              <a:spcBef>
                <a:spcPts val="1200"/>
              </a:spcBef>
              <a:buFont typeface="Arial" charset="0"/>
              <a:buChar char="•"/>
              <a:defRPr/>
            </a:pPr>
            <a:endParaRPr lang="en-US" kern="1200" dirty="0">
              <a:solidFill>
                <a:sysClr val="windowText" lastClr="000000"/>
              </a:solidFill>
              <a:latin typeface="Calibri"/>
              <a:cs typeface="Arial" charset="0"/>
            </a:endParaRPr>
          </a:p>
          <a:p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72590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Intersection ≠ Forwarding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Forwarding condition is stronger than simple intersection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Example:</a:t>
            </a:r>
          </a:p>
          <a:p>
            <a:pPr marL="803275" lvl="1" indent="-457200">
              <a:buFont typeface="+mj-lt"/>
              <a:buAutoNum type="arabicPeriod"/>
            </a:pPr>
            <a:r>
              <a:rPr lang="en-US" dirty="0" err="1" smtClean="0">
                <a:latin typeface="Courier" pitchFamily="49" charset="0"/>
              </a:rPr>
              <a:t>sb</a:t>
            </a:r>
            <a:r>
              <a:rPr lang="en-US" dirty="0" smtClean="0">
                <a:latin typeface="Courier" pitchFamily="49" charset="0"/>
              </a:rPr>
              <a:t> $r1, 0x0($r3) // store byte </a:t>
            </a:r>
          </a:p>
          <a:p>
            <a:pPr marL="803275" lvl="1" indent="-457200">
              <a:buFont typeface="+mj-lt"/>
              <a:buAutoNum type="arabicPeriod"/>
            </a:pPr>
            <a:r>
              <a:rPr lang="en-US" dirty="0" err="1" smtClean="0">
                <a:latin typeface="Courier" pitchFamily="49" charset="0"/>
              </a:rPr>
              <a:t>sb</a:t>
            </a:r>
            <a:r>
              <a:rPr lang="en-US" dirty="0" smtClean="0">
                <a:latin typeface="Courier" pitchFamily="49" charset="0"/>
              </a:rPr>
              <a:t> $r2, 0x2($r3) // store byte</a:t>
            </a:r>
          </a:p>
          <a:p>
            <a:pPr marL="803275" lvl="1" indent="-457200">
              <a:buFont typeface="+mj-lt"/>
              <a:buAutoNum type="arabicPeriod"/>
            </a:pPr>
            <a:r>
              <a:rPr lang="en-US" dirty="0" err="1" smtClean="0">
                <a:latin typeface="Courier" pitchFamily="49" charset="0"/>
              </a:rPr>
              <a:t>lw</a:t>
            </a:r>
            <a:r>
              <a:rPr lang="en-US" dirty="0" smtClean="0">
                <a:latin typeface="Courier" pitchFamily="49" charset="0"/>
              </a:rPr>
              <a:t> $r4, 0x0($r3) // load FOUR bytes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smtClean="0"/>
              <a:t>Forwards (1)→(3) and (2)→(3) are not possible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smtClean="0"/>
              <a:t>However, (3) must wait for retirement of (2)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i="1" dirty="0" smtClean="0"/>
              <a:t>Can we forward from two stores?</a:t>
            </a:r>
            <a:br>
              <a:rPr lang="en-US" sz="2000" i="1" dirty="0" smtClean="0"/>
            </a:br>
            <a:r>
              <a:rPr lang="en-US" sz="2000" i="1" dirty="0" smtClean="0"/>
              <a:t>Theoretically, yes, but such programs are too rare to justify complexity</a:t>
            </a:r>
            <a:endParaRPr lang="en-US" sz="2000" i="1" dirty="0"/>
          </a:p>
          <a:p>
            <a:pPr marL="457200" indent="-457200"/>
            <a:endParaRPr lang="en-US" dirty="0" smtClean="0">
              <a:latin typeface="Courier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9708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Load  and Store Buffer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b="1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Improvement: </a:t>
            </a: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load does not wait if there is no intersection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Need to wait until all previous stores calculate their address</a:t>
            </a:r>
            <a:endParaRPr lang="en-US" sz="2000" kern="1200" dirty="0">
              <a:solidFill>
                <a:sysClr val="windowText" lastClr="000000"/>
              </a:solidFill>
              <a:latin typeface="Calibri"/>
              <a:ea typeface="+mn-ea"/>
              <a:cs typeface="Arial" charset="0"/>
            </a:endParaRP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Then, check for intersection</a:t>
            </a:r>
          </a:p>
          <a:p>
            <a:pPr marL="1147763" lvl="1" indent="0">
              <a:spcBef>
                <a:spcPts val="600"/>
              </a:spcBef>
              <a:buClrTx/>
              <a:buNone/>
              <a:defRPr/>
            </a:pPr>
            <a:r>
              <a:rPr lang="en-US" sz="2000" kern="1200" dirty="0" smtClean="0">
                <a:solidFill>
                  <a:srgbClr val="00B050"/>
                </a:solidFill>
                <a:latin typeface="Calibri"/>
                <a:ea typeface="+mn-ea"/>
                <a:cs typeface="Arial" charset="0"/>
              </a:rPr>
              <a:t>n</a:t>
            </a:r>
            <a:r>
              <a:rPr lang="en-US" sz="2000" kern="1200" dirty="0" smtClean="0">
                <a:solidFill>
                  <a:srgbClr val="00B050"/>
                </a:solidFill>
                <a:latin typeface="Calibri"/>
                <a:cs typeface="Arial" charset="0"/>
              </a:rPr>
              <a:t>o intersection </a:t>
            </a:r>
            <a:r>
              <a:rPr lang="en-US" sz="2000" kern="1200" dirty="0">
                <a:solidFill>
                  <a:sysClr val="windowText" lastClr="000000"/>
                </a:solidFill>
                <a:latin typeface="Calibri" panose="020F0502020204030204" pitchFamily="34" charset="0"/>
                <a:cs typeface="Arial" charset="0"/>
              </a:rPr>
              <a:t>→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load waits nothing</a:t>
            </a:r>
          </a:p>
          <a:p>
            <a:pPr marL="1147763" lvl="1" indent="0">
              <a:spcBef>
                <a:spcPts val="600"/>
              </a:spcBef>
              <a:buClrTx/>
              <a:buNone/>
              <a:defRPr/>
            </a:pPr>
            <a:r>
              <a:rPr lang="en-US" sz="2000" kern="1200" dirty="0" err="1" smtClean="0">
                <a:solidFill>
                  <a:srgbClr val="00B050"/>
                </a:solidFill>
                <a:latin typeface="Calibri"/>
                <a:ea typeface="+mn-ea"/>
                <a:cs typeface="Arial" charset="0"/>
              </a:rPr>
              <a:t>forwardable</a:t>
            </a:r>
            <a:r>
              <a:rPr lang="en-US" sz="2000" kern="1200" dirty="0" smtClean="0">
                <a:solidFill>
                  <a:srgbClr val="00B050"/>
                </a:solidFill>
                <a:latin typeface="Calibri"/>
                <a:ea typeface="+mn-ea"/>
                <a:cs typeface="Arial" charset="0"/>
              </a:rPr>
              <a:t> intersection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→ load takes data from store</a:t>
            </a:r>
          </a:p>
          <a:p>
            <a:pPr marL="2286000" lvl="1" indent="-1138238">
              <a:spcBef>
                <a:spcPts val="600"/>
              </a:spcBef>
              <a:buClrTx/>
              <a:buNone/>
              <a:defRPr/>
            </a:pPr>
            <a:r>
              <a:rPr lang="en-US" sz="2000" kern="1200" dirty="0" smtClean="0">
                <a:solidFill>
                  <a:srgbClr val="FF0000"/>
                </a:solidFill>
                <a:latin typeface="Calibri"/>
                <a:ea typeface="+mn-ea"/>
                <a:cs typeface="Arial" charset="0"/>
              </a:rPr>
              <a:t>intersection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 </a:t>
            </a:r>
            <a:r>
              <a:rPr lang="en-US" sz="2000" kern="1200" dirty="0">
                <a:solidFill>
                  <a:sysClr val="windowText" lastClr="000000"/>
                </a:solidFill>
                <a:latin typeface="Calibri" panose="020F0502020204030204" pitchFamily="34" charset="0"/>
                <a:cs typeface="Arial" charset="0"/>
              </a:rPr>
              <a:t>→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load waits until the </a:t>
            </a:r>
            <a:r>
              <a:rPr lang="en-US" sz="2000" b="1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closest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 intersecting store writes data to cache/memory</a:t>
            </a:r>
            <a:endParaRPr lang="en-US" sz="2000" kern="1200" dirty="0">
              <a:solidFill>
                <a:sysClr val="windowText" lastClr="000000"/>
              </a:solidFill>
              <a:latin typeface="Calibri"/>
              <a:ea typeface="+mn-ea"/>
              <a:cs typeface="Arial" charset="0"/>
            </a:endParaRPr>
          </a:p>
          <a:p>
            <a:pPr marL="342900" indent="-342900"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Store can be at any ROB entry </a:t>
            </a:r>
            <a:r>
              <a:rPr lang="en-US" kern="1200" dirty="0" smtClean="0">
                <a:solidFill>
                  <a:sysClr val="windowText" lastClr="000000"/>
                </a:solidFill>
                <a:latin typeface="Calibri" panose="020F0502020204030204" pitchFamily="34" charset="0"/>
                <a:cs typeface="Arial" charset="0"/>
              </a:rPr>
              <a:t>→ any entry should be checkable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Too </a:t>
            </a: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large and slow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HW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On the other hand, not every instruction is load or store</a:t>
            </a:r>
            <a:endParaRPr lang="en-US" sz="2000" kern="1200" dirty="0">
              <a:solidFill>
                <a:sysClr val="windowText" lastClr="000000"/>
              </a:solidFill>
              <a:latin typeface="Calibri"/>
              <a:ea typeface="+mn-ea"/>
              <a:cs typeface="Arial" charset="0"/>
            </a:endParaRPr>
          </a:p>
          <a:p>
            <a:pPr marL="342900" lvl="1" indent="-342900"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Like SQ, we can </a:t>
            </a: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use smaller buffers </a:t>
            </a:r>
            <a:r>
              <a:rPr lang="en-US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for </a:t>
            </a: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stores and loads </a:t>
            </a:r>
            <a:r>
              <a:rPr lang="en-US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only </a:t>
            </a:r>
            <a:r>
              <a:rPr lang="en-US" kern="1200" dirty="0" smtClean="0">
                <a:solidFill>
                  <a:schemeClr val="bg1">
                    <a:lumMod val="65000"/>
                  </a:schemeClr>
                </a:solidFill>
                <a:latin typeface="Calibri"/>
                <a:ea typeface="+mn-ea"/>
                <a:cs typeface="Arial" charset="0"/>
              </a:rPr>
              <a:t>(store buffer or SB and load buffer or LB)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All complex check of the address are done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in LB and SB</a:t>
            </a:r>
            <a:endParaRPr lang="en-US" sz="2000" kern="1200" dirty="0">
              <a:solidFill>
                <a:sysClr val="windowText" lastClr="000000"/>
              </a:solidFill>
              <a:latin typeface="Calibri"/>
              <a:ea typeface="+mn-ea"/>
              <a:cs typeface="Arial" charset="0"/>
            </a:endParaRP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ROB just keeps the order of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instructions</a:t>
            </a:r>
            <a:endParaRPr lang="en-US" sz="2000" kern="1200" dirty="0">
              <a:solidFill>
                <a:sysClr val="windowText" lastClr="000000"/>
              </a:solidFill>
              <a:latin typeface="Calibri"/>
              <a:ea typeface="+mn-ea"/>
              <a:cs typeface="Arial" charset="0"/>
            </a:endParaRPr>
          </a:p>
          <a:p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53262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/>
          <p:cNvSpPr/>
          <p:nvPr/>
        </p:nvSpPr>
        <p:spPr>
          <a:xfrm>
            <a:off x="454025" y="2608118"/>
            <a:ext cx="2069797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rgbClr val="78403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(5)  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 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[r5]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4025" y="2327886"/>
            <a:ext cx="1957587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rgbClr val="D21E1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(4) </a:t>
            </a:r>
            <a:r>
              <a:rPr lang="en-US" sz="1600" dirty="0" err="1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[r4] 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…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5368925" y="3505200"/>
          <a:ext cx="3264536" cy="2695525"/>
        </p:xfrm>
        <a:graphic>
          <a:graphicData uri="http://schemas.openxmlformats.org/drawingml/2006/table">
            <a:tbl>
              <a:tblPr firstRow="1">
                <a:effectLst/>
                <a:tableStyleId>{5C22544A-7EE6-4342-B048-85BDC9FD1C3A}</a:tableStyleId>
              </a:tblPr>
              <a:tblGrid>
                <a:gridCol w="249958"/>
                <a:gridCol w="664296"/>
                <a:gridCol w="833901"/>
                <a:gridCol w="787083"/>
                <a:gridCol w="729298"/>
              </a:tblGrid>
              <a:tr h="535781">
                <a:tc>
                  <a:txBody>
                    <a:bodyPr/>
                    <a:lstStyle/>
                    <a:p>
                      <a:pPr algn="ctr"/>
                      <a:endParaRPr lang="ru-RU" sz="1600" b="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smtClean="0">
                          <a:latin typeface="+mj-lt"/>
                        </a:rPr>
                        <a:t>Address</a:t>
                      </a:r>
                      <a:endParaRPr lang="ru-RU" sz="1400" b="0" dirty="0" smtClean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smtClean="0">
                          <a:latin typeface="+mj-lt"/>
                        </a:rPr>
                        <a:t>Previous</a:t>
                      </a:r>
                      <a:r>
                        <a:rPr lang="en-US" sz="1400" b="0" baseline="0" dirty="0" smtClean="0">
                          <a:latin typeface="+mj-lt"/>
                        </a:rPr>
                        <a:t> store</a:t>
                      </a:r>
                      <a:endParaRPr lang="ru-RU" sz="1400" b="0" dirty="0" smtClean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smtClean="0">
                          <a:latin typeface="+mj-lt"/>
                        </a:rPr>
                        <a:t>Waiting</a:t>
                      </a:r>
                      <a:r>
                        <a:rPr lang="en-US" sz="1400" b="0" baseline="0" dirty="0" smtClean="0">
                          <a:latin typeface="+mj-lt"/>
                        </a:rPr>
                        <a:t> store</a:t>
                      </a:r>
                      <a:endParaRPr lang="ru-RU" sz="1400" b="0" dirty="0" smtClean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smtClean="0">
                          <a:latin typeface="+mj-lt"/>
                        </a:rPr>
                        <a:t>Ready?</a:t>
                      </a:r>
                      <a:endParaRPr lang="ru-RU" sz="1400" b="0" dirty="0" smtClean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0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1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2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3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4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5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…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M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43" name="Rectangle 42"/>
          <p:cNvSpPr/>
          <p:nvPr/>
        </p:nvSpPr>
        <p:spPr>
          <a:xfrm>
            <a:off x="454025" y="2047654"/>
            <a:ext cx="2069797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(3)  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 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[r3]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4025" y="1767422"/>
            <a:ext cx="1957587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(2) </a:t>
            </a:r>
            <a:r>
              <a:rPr lang="en-US" sz="1600" dirty="0" err="1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[r2] 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4025" y="1487190"/>
            <a:ext cx="1957587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(1) </a:t>
            </a:r>
            <a:r>
              <a:rPr lang="en-US" sz="1600" dirty="0" err="1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[r1] 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 …</a:t>
            </a:r>
            <a:endParaRPr lang="en-US" sz="1600" dirty="0">
              <a:solidFill>
                <a:srgbClr val="06192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3181985" y="3756501"/>
          <a:ext cx="1127351" cy="1889776"/>
        </p:xfrm>
        <a:graphic>
          <a:graphicData uri="http://schemas.openxmlformats.org/drawingml/2006/table">
            <a:tbl>
              <a:tblPr firstRow="1">
                <a:effectLst/>
                <a:tableStyleId>{5C22544A-7EE6-4342-B048-85BDC9FD1C3A}</a:tableStyleId>
              </a:tblPr>
              <a:tblGrid>
                <a:gridCol w="466951"/>
                <a:gridCol w="660400"/>
              </a:tblGrid>
              <a:tr h="269968">
                <a:tc>
                  <a:txBody>
                    <a:bodyPr/>
                    <a:lstStyle/>
                    <a:p>
                      <a:pPr algn="ctr"/>
                      <a:endParaRPr lang="ru-RU" sz="1600" b="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smtClean="0">
                          <a:latin typeface="+mj-lt"/>
                        </a:rPr>
                        <a:t>Address</a:t>
                      </a:r>
                      <a:endParaRPr lang="ru-RU" sz="1400" b="0" dirty="0" smtClean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0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1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2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3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…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N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3324739" y="3357177"/>
            <a:ext cx="1307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Store Buffer</a:t>
            </a:r>
            <a:endParaRPr lang="ru-RU" dirty="0" smtClean="0">
              <a:latin typeface="+mj-lt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54025" y="2888350"/>
            <a:ext cx="40908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4025" y="1206958"/>
            <a:ext cx="5209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…</a:t>
            </a:r>
            <a:endParaRPr lang="en-US" sz="1600" dirty="0">
              <a:solidFill>
                <a:sysClr val="windowText" lastClr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54025" y="1487190"/>
            <a:ext cx="195758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(1) </a:t>
            </a:r>
            <a:r>
              <a:rPr lang="en-US" sz="1600" dirty="0" err="1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[r1] 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 …</a:t>
            </a:r>
            <a:endParaRPr lang="en-US" sz="1600" dirty="0">
              <a:solidFill>
                <a:srgbClr val="06192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54025" y="1767422"/>
            <a:ext cx="195758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(2) </a:t>
            </a:r>
            <a:r>
              <a:rPr lang="en-US" sz="1600" dirty="0" err="1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[r2] 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4025" y="2047654"/>
            <a:ext cx="206979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(3)  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 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[r3]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4025" y="2327886"/>
            <a:ext cx="195758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rgbClr val="D21E1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(4) </a:t>
            </a:r>
            <a:r>
              <a:rPr lang="en-US" sz="1600" dirty="0" err="1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[r4] 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…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4025" y="2608118"/>
            <a:ext cx="206979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rgbClr val="78403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(5)  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 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[r5]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SB and LB Operation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297379" y="867001"/>
            <a:ext cx="13236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+mj-lt"/>
              </a:rPr>
              <a:t>Example:</a:t>
            </a:r>
            <a:endParaRPr lang="ru-RU" sz="2400" dirty="0" smtClean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68432" y="3968140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(1) </a:t>
            </a:r>
            <a:endParaRPr lang="ru-RU" dirty="0"/>
          </a:p>
        </p:txBody>
      </p:sp>
      <p:sp>
        <p:nvSpPr>
          <p:cNvPr id="9" name="Rectangle 8"/>
          <p:cNvSpPr/>
          <p:nvPr/>
        </p:nvSpPr>
        <p:spPr>
          <a:xfrm>
            <a:off x="2778592" y="4243399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(2) </a:t>
            </a:r>
            <a:endParaRPr lang="ru-RU" dirty="0"/>
          </a:p>
        </p:txBody>
      </p:sp>
      <p:sp>
        <p:nvSpPr>
          <p:cNvPr id="11" name="Rectangle 10"/>
          <p:cNvSpPr/>
          <p:nvPr/>
        </p:nvSpPr>
        <p:spPr>
          <a:xfrm>
            <a:off x="2778592" y="4518658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D21E1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(4) </a:t>
            </a:r>
            <a:endParaRPr lang="ru-RU" dirty="0"/>
          </a:p>
        </p:txBody>
      </p:sp>
      <p:sp>
        <p:nvSpPr>
          <p:cNvPr id="12" name="Rectangle 11"/>
          <p:cNvSpPr/>
          <p:nvPr/>
        </p:nvSpPr>
        <p:spPr>
          <a:xfrm>
            <a:off x="4912192" y="3982241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(3) </a:t>
            </a:r>
            <a:endParaRPr lang="ru-RU" dirty="0"/>
          </a:p>
        </p:txBody>
      </p:sp>
      <p:sp>
        <p:nvSpPr>
          <p:cNvPr id="13" name="Rectangle 12"/>
          <p:cNvSpPr/>
          <p:nvPr/>
        </p:nvSpPr>
        <p:spPr>
          <a:xfrm>
            <a:off x="4912192" y="4243399"/>
            <a:ext cx="5645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78403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(5)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3776561" y="400718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2"/>
                </a:solidFill>
                <a:latin typeface="+mj-lt"/>
              </a:rPr>
              <a:t>NA</a:t>
            </a:r>
            <a:endParaRPr lang="ru-RU" sz="1400" dirty="0" smtClean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76561" y="4274176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2"/>
                </a:solidFill>
                <a:latin typeface="+mj-lt"/>
              </a:rPr>
              <a:t>NA</a:t>
            </a:r>
            <a:endParaRPr lang="ru-RU" sz="1400" dirty="0" smtClean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76561" y="4549435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2"/>
                </a:solidFill>
                <a:latin typeface="+mj-lt"/>
              </a:rPr>
              <a:t>NA</a:t>
            </a:r>
            <a:endParaRPr lang="ru-RU" sz="1400" dirty="0" smtClean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61544" y="4029695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2"/>
                </a:solidFill>
                <a:latin typeface="+mj-lt"/>
              </a:rPr>
              <a:t>NA</a:t>
            </a:r>
            <a:endParaRPr lang="ru-RU" sz="1400" dirty="0" smtClean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50772" y="399891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+mj-lt"/>
              </a:rPr>
              <a:t>1</a:t>
            </a:r>
            <a:endParaRPr lang="ru-RU" sz="1600" dirty="0" smtClean="0">
              <a:latin typeface="+mj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62784" y="4007179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  <a:latin typeface="+mj-lt"/>
              </a:rPr>
              <a:t>no</a:t>
            </a:r>
            <a:endParaRPr lang="ru-RU" sz="1400" dirty="0" smtClean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761544" y="4294903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2"/>
                </a:solidFill>
                <a:latin typeface="+mj-lt"/>
              </a:rPr>
              <a:t>NA</a:t>
            </a:r>
            <a:endParaRPr lang="ru-RU" sz="1400" dirty="0" smtClean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64277" y="3119027"/>
            <a:ext cx="1265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+mj-lt"/>
              </a:rPr>
              <a:t>Load Buffer</a:t>
            </a:r>
            <a:endParaRPr lang="ru-RU" dirty="0" smtClean="0">
              <a:latin typeface="+mj-lt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404212" y="399891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+mj-lt"/>
              </a:rPr>
              <a:t>1</a:t>
            </a:r>
            <a:endParaRPr lang="ru-RU" sz="1600" dirty="0" smtClean="0">
              <a:latin typeface="+mj-lt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550772" y="4273879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+mj-lt"/>
              </a:rPr>
              <a:t>2</a:t>
            </a:r>
            <a:endParaRPr lang="ru-RU" sz="1600" dirty="0" smtClean="0">
              <a:latin typeface="+mj-lt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062784" y="4282140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  <a:latin typeface="+mj-lt"/>
              </a:rPr>
              <a:t>no</a:t>
            </a:r>
            <a:endParaRPr lang="ru-RU" sz="1400" dirty="0" smtClean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404212" y="4273879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+mj-lt"/>
              </a:rPr>
              <a:t>2</a:t>
            </a:r>
            <a:endParaRPr lang="ru-RU" sz="1600" dirty="0" smtClean="0">
              <a:latin typeface="+mj-lt"/>
            </a:endParaRPr>
          </a:p>
        </p:txBody>
      </p:sp>
      <p:sp>
        <p:nvSpPr>
          <p:cNvPr id="59" name="Right Arrow 58"/>
          <p:cNvSpPr/>
          <p:nvPr/>
        </p:nvSpPr>
        <p:spPr bwMode="auto">
          <a:xfrm>
            <a:off x="1168961" y="3937530"/>
            <a:ext cx="1613590" cy="422562"/>
          </a:xfrm>
          <a:prstGeom prst="rightArrow">
            <a:avLst/>
          </a:prstGeom>
          <a:solidFill>
            <a:srgbClr val="E7EBF5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63500" sx="101000" sy="101000" algn="ctr" rotWithShape="0">
              <a:prstClr val="black">
                <a:alpha val="29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>
                <a:latin typeface="+mj-lt"/>
                <a:cs typeface="Arial" pitchFamily="34" charset="0"/>
              </a:rPr>
              <a:t>o</a:t>
            </a:r>
            <a:r>
              <a:rPr lang="en-US" sz="1600" dirty="0" smtClean="0">
                <a:latin typeface="+mj-lt"/>
                <a:cs typeface="Arial" pitchFamily="34" charset="0"/>
              </a:rPr>
              <a:t>ldest unknown</a:t>
            </a:r>
            <a:endParaRPr lang="ru-RU" sz="1600" dirty="0" smtClean="0">
              <a:latin typeface="+mj-lt"/>
              <a:cs typeface="Arial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626214" y="1487190"/>
            <a:ext cx="1786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address: 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[0x35]</a:t>
            </a:r>
            <a:endParaRPr lang="ru-RU" dirty="0" smtClean="0">
              <a:solidFill>
                <a:schemeClr val="accent4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2626214" y="1770520"/>
            <a:ext cx="1786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address: </a:t>
            </a:r>
            <a:r>
              <a:rPr lang="en-US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[0x01]</a:t>
            </a:r>
            <a:endParaRPr lang="ru-RU" dirty="0" smtClean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2626214" y="2053850"/>
            <a:ext cx="1786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address: </a:t>
            </a:r>
            <a:r>
              <a:rPr lang="en-US" dirty="0" smtClean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[0x25]</a:t>
            </a:r>
            <a:endParaRPr lang="ru-RU" dirty="0" smtClean="0">
              <a:solidFill>
                <a:schemeClr val="accent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626214" y="2337180"/>
            <a:ext cx="1786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address: </a:t>
            </a:r>
            <a:r>
              <a:rPr lang="en-US" dirty="0" smtClean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[0x25]</a:t>
            </a:r>
            <a:endParaRPr lang="ru-RU" dirty="0" smtClean="0">
              <a:solidFill>
                <a:schemeClr val="accent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626214" y="2620511"/>
            <a:ext cx="1786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address: 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[0x35]</a:t>
            </a:r>
            <a:endParaRPr lang="ru-RU" dirty="0" smtClean="0">
              <a:solidFill>
                <a:schemeClr val="accent4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5633694" y="4068167"/>
            <a:ext cx="634790" cy="230832"/>
          </a:xfrm>
          <a:prstGeom prst="rect">
            <a:avLst/>
          </a:prstGeom>
          <a:solidFill>
            <a:srgbClr val="E7EBF5"/>
          </a:solidFill>
        </p:spPr>
        <p:txBody>
          <a:bodyPr wrap="none" lIns="0" tIns="0" rIns="0" bIns="0" anchor="ctr">
            <a:spAutoFit/>
          </a:bodyPr>
          <a:lstStyle/>
          <a:p>
            <a:pPr lvl="0" algn="ctr"/>
            <a:r>
              <a:rPr lang="en-US" sz="15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500" dirty="0" smtClean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0x25</a:t>
            </a:r>
            <a:r>
              <a:rPr lang="en-US" sz="15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lang="ru-RU" sz="1500" dirty="0">
              <a:solidFill>
                <a:srgbClr val="00B0F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3663210" y="4313936"/>
            <a:ext cx="634789" cy="230832"/>
          </a:xfrm>
          <a:prstGeom prst="rect">
            <a:avLst/>
          </a:prstGeom>
          <a:solidFill>
            <a:srgbClr val="E7EBF5"/>
          </a:solidFill>
        </p:spPr>
        <p:txBody>
          <a:bodyPr wrap="none" lIns="0" tIns="0" rIns="0" bIns="0" anchor="ctr">
            <a:spAutoFit/>
          </a:bodyPr>
          <a:lstStyle/>
          <a:p>
            <a:pPr lvl="0" algn="ctr"/>
            <a:r>
              <a:rPr lang="en-US" sz="15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50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0x01]</a:t>
            </a:r>
            <a:endParaRPr lang="ru-RU" sz="15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3663210" y="4586620"/>
            <a:ext cx="634790" cy="230832"/>
          </a:xfrm>
          <a:prstGeom prst="rect">
            <a:avLst/>
          </a:prstGeom>
          <a:solidFill>
            <a:srgbClr val="E7EBF5"/>
          </a:solidFill>
        </p:spPr>
        <p:txBody>
          <a:bodyPr wrap="none" lIns="0" tIns="0" rIns="0" bIns="0" anchor="ctr">
            <a:spAutoFit/>
          </a:bodyPr>
          <a:lstStyle/>
          <a:p>
            <a:pPr lvl="0" algn="ctr"/>
            <a:r>
              <a:rPr lang="en-US" sz="15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500" dirty="0" smtClean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0x25</a:t>
            </a:r>
            <a:r>
              <a:rPr lang="en-US" sz="15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lang="ru-RU" sz="1500" dirty="0">
              <a:solidFill>
                <a:srgbClr val="00B0F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5633384" y="4328605"/>
            <a:ext cx="634789" cy="230832"/>
          </a:xfrm>
          <a:prstGeom prst="rect">
            <a:avLst/>
          </a:prstGeom>
          <a:solidFill>
            <a:srgbClr val="E7EBF5"/>
          </a:solidFill>
        </p:spPr>
        <p:txBody>
          <a:bodyPr wrap="none" lIns="0" tIns="0" rIns="0" bIns="0" anchor="ctr">
            <a:spAutoFit/>
          </a:bodyPr>
          <a:lstStyle/>
          <a:p>
            <a:pPr lvl="0" algn="ctr"/>
            <a:r>
              <a:rPr lang="en-US" sz="1500" dirty="0">
                <a:solidFill>
                  <a:srgbClr val="FFDA00">
                    <a:lumMod val="75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[0x35]</a:t>
            </a:r>
            <a:endParaRPr lang="ru-RU" sz="1500" dirty="0">
              <a:solidFill>
                <a:srgbClr val="FFDA00">
                  <a:lumMod val="75000"/>
                </a:srgb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3665862" y="4054534"/>
            <a:ext cx="634789" cy="230832"/>
          </a:xfrm>
          <a:prstGeom prst="rect">
            <a:avLst/>
          </a:prstGeom>
          <a:solidFill>
            <a:srgbClr val="E7EBF5"/>
          </a:solidFill>
        </p:spPr>
        <p:txBody>
          <a:bodyPr wrap="none" lIns="0" tIns="0" rIns="0" bIns="0" anchor="ctr">
            <a:spAutoFit/>
          </a:bodyPr>
          <a:lstStyle/>
          <a:p>
            <a:pPr lvl="0" algn="ctr"/>
            <a:r>
              <a:rPr lang="en-US" sz="1500" dirty="0">
                <a:solidFill>
                  <a:srgbClr val="FFDA00">
                    <a:lumMod val="75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[0x35]</a:t>
            </a:r>
            <a:endParaRPr lang="ru-RU" sz="1500" dirty="0">
              <a:solidFill>
                <a:srgbClr val="FFDA00">
                  <a:lumMod val="75000"/>
                </a:srgb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2" name="Freeform 81"/>
          <p:cNvSpPr/>
          <p:nvPr/>
        </p:nvSpPr>
        <p:spPr bwMode="auto">
          <a:xfrm>
            <a:off x="5524500" y="1417320"/>
            <a:ext cx="1584960" cy="1447800"/>
          </a:xfrm>
          <a:custGeom>
            <a:avLst/>
            <a:gdLst>
              <a:gd name="connsiteX0" fmla="*/ 0 w 1584960"/>
              <a:gd name="connsiteY0" fmla="*/ 0 h 1447800"/>
              <a:gd name="connsiteX1" fmla="*/ 0 w 1584960"/>
              <a:gd name="connsiteY1" fmla="*/ 1447800 h 1447800"/>
              <a:gd name="connsiteX2" fmla="*/ 1584960 w 1584960"/>
              <a:gd name="connsiteY2" fmla="*/ 1447800 h 1447800"/>
              <a:gd name="connsiteX3" fmla="*/ 1584960 w 1584960"/>
              <a:gd name="connsiteY3" fmla="*/ 434340 h 1447800"/>
              <a:gd name="connsiteX4" fmla="*/ 1043940 w 1584960"/>
              <a:gd name="connsiteY4" fmla="*/ 434340 h 1447800"/>
              <a:gd name="connsiteX5" fmla="*/ 1043940 w 1584960"/>
              <a:gd name="connsiteY5" fmla="*/ 777240 h 1447800"/>
              <a:gd name="connsiteX6" fmla="*/ 388620 w 1584960"/>
              <a:gd name="connsiteY6" fmla="*/ 777240 h 144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4960" h="1447800">
                <a:moveTo>
                  <a:pt x="0" y="0"/>
                </a:moveTo>
                <a:lnTo>
                  <a:pt x="0" y="1447800"/>
                </a:lnTo>
                <a:lnTo>
                  <a:pt x="1584960" y="1447800"/>
                </a:lnTo>
                <a:lnTo>
                  <a:pt x="1584960" y="434340"/>
                </a:lnTo>
                <a:lnTo>
                  <a:pt x="1043940" y="434340"/>
                </a:lnTo>
                <a:lnTo>
                  <a:pt x="1043940" y="777240"/>
                </a:lnTo>
                <a:lnTo>
                  <a:pt x="388620" y="777240"/>
                </a:lnTo>
              </a:path>
            </a:pathLst>
          </a:custGeom>
          <a:noFill/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Freeform 82"/>
          <p:cNvSpPr/>
          <p:nvPr/>
        </p:nvSpPr>
        <p:spPr bwMode="auto">
          <a:xfrm>
            <a:off x="2865120" y="3985260"/>
            <a:ext cx="1661160" cy="7620"/>
          </a:xfrm>
          <a:custGeom>
            <a:avLst/>
            <a:gdLst>
              <a:gd name="connsiteX0" fmla="*/ 0 w 1661160"/>
              <a:gd name="connsiteY0" fmla="*/ 7620 h 7620"/>
              <a:gd name="connsiteX1" fmla="*/ 1661160 w 1661160"/>
              <a:gd name="connsiteY1" fmla="*/ 0 h 7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1160" h="7620">
                <a:moveTo>
                  <a:pt x="0" y="7620"/>
                </a:moveTo>
                <a:lnTo>
                  <a:pt x="1661160" y="0"/>
                </a:lnTo>
              </a:path>
            </a:pathLst>
          </a:custGeom>
          <a:noFill/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" name="Rectangle 83"/>
          <p:cNvSpPr/>
          <p:nvPr/>
        </p:nvSpPr>
        <p:spPr bwMode="auto">
          <a:xfrm>
            <a:off x="2848134" y="4557114"/>
            <a:ext cx="1694348" cy="1231763"/>
          </a:xfrm>
          <a:prstGeom prst="rect">
            <a:avLst/>
          </a:prstGeom>
          <a:solidFill>
            <a:srgbClr val="FFFFFF">
              <a:alpha val="85098"/>
            </a:srgbClr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dirty="0" smtClean="0">
              <a:latin typeface="+mj-lt"/>
              <a:cs typeface="Arial" pitchFamily="34" charset="0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5633384" y="4066119"/>
            <a:ext cx="634790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lvl="0" algn="ctr"/>
            <a:r>
              <a:rPr lang="en-US" sz="15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500" dirty="0" smtClean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0x25</a:t>
            </a:r>
            <a:r>
              <a:rPr lang="en-US" sz="15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lang="ru-RU" sz="1500" dirty="0">
              <a:solidFill>
                <a:srgbClr val="00B0F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384683" y="4377174"/>
            <a:ext cx="6040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00B050"/>
                </a:solidFill>
                <a:latin typeface="+mj-lt"/>
              </a:rPr>
              <a:t>OK</a:t>
            </a:r>
            <a:endParaRPr lang="ru-RU" sz="1600" dirty="0" smtClean="0">
              <a:solidFill>
                <a:srgbClr val="00B050"/>
              </a:solidFill>
              <a:latin typeface="+mj-lt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8129796" y="4066548"/>
            <a:ext cx="255711" cy="230832"/>
          </a:xfrm>
          <a:prstGeom prst="rect">
            <a:avLst/>
          </a:prstGeom>
          <a:solidFill>
            <a:srgbClr val="E7EBF5"/>
          </a:solidFill>
        </p:spPr>
        <p:txBody>
          <a:bodyPr wrap="none" lIns="0" tIns="0" rIns="0" bIns="0" anchor="ctr">
            <a:spAutoFit/>
          </a:bodyPr>
          <a:lstStyle/>
          <a:p>
            <a:pPr lvl="0" algn="ctr"/>
            <a:r>
              <a:rPr lang="en-US" sz="1500" dirty="0" smtClean="0">
                <a:solidFill>
                  <a:srgbClr val="00B050"/>
                </a:solidFill>
                <a:latin typeface="+mj-lt"/>
                <a:cs typeface="Consolas" panose="020B0609020204030204" pitchFamily="49" charset="0"/>
              </a:rPr>
              <a:t>yes</a:t>
            </a:r>
            <a:endParaRPr lang="ru-RU" sz="1500" dirty="0">
              <a:solidFill>
                <a:srgbClr val="00B050"/>
              </a:solidFill>
              <a:latin typeface="+mj-lt"/>
              <a:cs typeface="Consolas" panose="020B0609020204030204" pitchFamily="49" charset="0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5633383" y="4329645"/>
            <a:ext cx="634789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lvl="0" algn="ctr"/>
            <a:r>
              <a:rPr lang="en-US" sz="1500" dirty="0">
                <a:solidFill>
                  <a:srgbClr val="FFDA00">
                    <a:lumMod val="75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[0x35]</a:t>
            </a:r>
            <a:endParaRPr lang="ru-RU" sz="1500" dirty="0">
              <a:solidFill>
                <a:srgbClr val="FFDA00">
                  <a:lumMod val="75000"/>
                </a:srgb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4343748" y="4623394"/>
            <a:ext cx="75911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FF0000"/>
                </a:solidFill>
                <a:latin typeface="+mj-lt"/>
              </a:rPr>
              <a:t>NO: </a:t>
            </a:r>
            <a:r>
              <a:rPr lang="en-US" sz="1600" dirty="0" smtClean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(1)</a:t>
            </a:r>
            <a:endParaRPr lang="ru-RU" sz="1600" dirty="0" smtClean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7499750" y="4328605"/>
            <a:ext cx="97784" cy="230832"/>
          </a:xfrm>
          <a:prstGeom prst="rect">
            <a:avLst/>
          </a:prstGeom>
          <a:solidFill>
            <a:srgbClr val="E7EBF5"/>
          </a:solidFill>
        </p:spPr>
        <p:txBody>
          <a:bodyPr wrap="none" lIns="0" tIns="0" rIns="0" bIns="0" anchor="ctr">
            <a:spAutoFit/>
          </a:bodyPr>
          <a:lstStyle/>
          <a:p>
            <a:pPr lvl="0" algn="ctr"/>
            <a:r>
              <a:rPr lang="en-US" sz="1500" b="1" dirty="0" smtClean="0">
                <a:latin typeface="+mj-lt"/>
                <a:cs typeface="Consolas" panose="020B0609020204030204" pitchFamily="49" charset="0"/>
              </a:rPr>
              <a:t>0</a:t>
            </a:r>
            <a:endParaRPr lang="ru-RU" sz="1500" b="1" dirty="0">
              <a:latin typeface="+mj-lt"/>
              <a:cs typeface="Consolas" panose="020B06090202040302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99469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993 0.00231 L 0.07534 0.01319 L 0.1118 0.02407 L 0.15086 0.05069 L 0.18437 0.08842 L 0.20538 0.12708 L 0.22361 0.15509 L 0.24079 0.19629 L 0.25347 0.23009 L 0.25538 0.26412 L 0.26076 0.29676 L 0.26076 0.32592 L 0.2618 0.34282 L 0.2618 0.34907 " pathEditMode="relative" ptsTypes="AAAAAAAAAAAAAAA">
                                      <p:cBhvr>
                                        <p:cTn id="40" dur="2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2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993 0.00231 L 0.07534 0.01319 L 0.1118 0.02407 L 0.15086 0.05069 L 0.18437 0.08842 L 0.20538 0.12708 L 0.22361 0.15509 L 0.24079 0.19629 L 0.25347 0.23009 L 0.25538 0.26412 L 0.26076 0.29676 L 0.26076 0.32592 L 0.2618 0.34282 L 0.2618 0.34907 " pathEditMode="relative" ptsTypes="AAAAAAAAAAAAAAA">
                                      <p:cBhvr>
                                        <p:cTn id="66" dur="2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2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1.85185E-6 L 0.07587 0.00162 L 0.14323 0.00972 L 0.21267 0.01782 L 0.28698 0.03773 L 0.35069 0.06574 L 0.39062 0.09444 L 0.42534 0.11528 L 0.45798 0.14606 L 0.48212 0.17129 L 0.48576 0.19653 L 0.496 0.22083 L 0.496 0.24259 L 0.49809 0.25509 L 0.49809 0.25995 " pathEditMode="relative" rAng="0" ptsTypes="AAAAAAAAAAAAAAA">
                                      <p:cBhvr>
                                        <p:cTn id="87" dur="2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896" y="12986"/>
                                    </p:animMotion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2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6" presetClass="emph" presetSubtype="0" repeatCount="3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3.7037E-7 L 0.03906 0.00185 L 0.07378 0.01134 L 0.10937 0.02083 L 0.14774 0.04375 L 0.18038 0.07662 L 0.20104 0.10995 L 0.21892 0.13426 L 0.23576 0.16991 L 0.24809 0.19931 L 0.25 0.2287 L 0.25538 0.25718 L 0.25538 0.28241 L 0.25642 0.29699 L 0.25642 0.30255 " pathEditMode="relative" rAng="0" ptsTypes="AAAAAAAAAAAAAAA">
                                      <p:cBhvr>
                                        <p:cTn id="130" dur="2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12" y="15116"/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grpId="2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1.11111E-6 L 0.07448 0.00116 L 0.1408 0.0081 L 0.20903 0.01505 L 0.28212 0.03218 L 0.34479 0.05602 L 0.3842 0.08056 L 0.41823 0.09815 L 0.45034 0.12454 L 0.47413 0.14607 L 0.47778 0.16759 L 0.48784 0.1882 L 0.48784 0.20695 L 0.48993 0.21759 L 0.48993 0.22176 " pathEditMode="relative" rAng="0" ptsTypes="AAAAAAAAAAAAAAA">
                                      <p:cBhvr>
                                        <p:cTn id="151" dur="2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497" y="11088"/>
                                    </p:animMotion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grpId="2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6" presetClass="emph" presetSubtype="0" repeatCount="3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500"/>
                            </p:stCondLst>
                            <p:childTnLst>
                              <p:par>
                                <p:cTn id="194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 tmFilter="0, 0; .2, .5; .8, .5; 1, 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6" dur="250" autoRev="1" fill="hold"/>
                                        <p:tgtEl>
                                          <p:spTgt spid="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500"/>
                            </p:stCondLst>
                            <p:childTnLst>
                              <p:par>
                                <p:cTn id="206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7" dur="500" tmFilter="0, 0; .2, .5; .8, .5; 1, 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8" dur="250" autoRev="1" fill="hold"/>
                                        <p:tgtEl>
                                          <p:spTgt spid="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500"/>
                            </p:stCondLst>
                            <p:childTnLst>
                              <p:par>
                                <p:cTn id="215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6" dur="500" tmFilter="0, 0; .2, .5; .8, .5; 1, 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7" dur="250" autoRev="1" fill="hold"/>
                                        <p:tgtEl>
                                          <p:spTgt spid="7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500"/>
                            </p:stCondLst>
                            <p:childTnLst>
                              <p:par>
                                <p:cTn id="227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500" tmFilter="0, 0; .2, .5; .8, .5; 1, 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9" dur="250" autoRev="1" fill="hold"/>
                                        <p:tgtEl>
                                          <p:spTgt spid="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500"/>
                            </p:stCondLst>
                            <p:childTnLst>
                              <p:par>
                                <p:cTn id="236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7" dur="500" tmFilter="0, 0; .2, .5; .8, .5; 1, 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8" dur="250" autoRev="1" fill="hold"/>
                                        <p:tgtEl>
                                          <p:spTgt spid="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500"/>
                            </p:stCondLst>
                            <p:childTnLst>
                              <p:par>
                                <p:cTn id="248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9" dur="500" tmFilter="0, 0; .2, .5; .8, .5; 1, 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0" dur="250" autoRev="1" fill="hold"/>
                                        <p:tgtEl>
                                          <p:spTgt spid="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500"/>
                            </p:stCondLst>
                            <p:childTnLst>
                              <p:par>
                                <p:cTn id="257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8" dur="500" tmFilter="0, 0; .2, .5; .8, .5; 1, 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9" dur="250" autoRev="1" fill="hold"/>
                                        <p:tgtEl>
                                          <p:spTgt spid="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 tmFilter="0, 0; .2, .5; .8, .5; 1, 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1" dur="250" autoRev="1" fill="hold"/>
                                        <p:tgtEl>
                                          <p:spTgt spid="8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26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500" tmFilter="0, 0; .2, .5; .8, .5; 1, 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6" dur="250" autoRev="1" fill="hold"/>
                                        <p:tgtEl>
                                          <p:spTgt spid="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1.11111E-6 L 0.00018 0.1162 " pathEditMode="relative" rAng="0" ptsTypes="AA">
                                      <p:cBhvr>
                                        <p:cTn id="280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8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6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4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5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26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9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0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>
                            <p:stCondLst>
                              <p:cond delay="500"/>
                            </p:stCondLst>
                            <p:childTnLst>
                              <p:par>
                                <p:cTn id="302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3" dur="500" tmFilter="0, 0; .2, .5; .8, .5; 1, 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4" dur="250" autoRev="1" fill="hold"/>
                                        <p:tgtEl>
                                          <p:spTgt spid="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1500"/>
                            </p:stCondLst>
                            <p:childTnLst>
                              <p:par>
                                <p:cTn id="306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3.7037E-6 L -0.03004 -0.05533 L -0.06476 -0.075 L -0.10452 -0.08635 L -0.15035 -0.09051 L -0.18247 -0.0875 L -0.20261 -0.06991 C -0.20486 -0.06227 -0.20712 -0.05394 -0.2092 -0.04584 C -0.20955 -0.03449 -0.2099 -0.02361 -0.21025 -0.01366 C -0.20903 -0.00602 -0.21094 0.00347 -0.21007 0.01111 C -0.20747 0.02291 -0.20035 0.03564 -0.19306 0.03889 L -0.14445 0.05092 " pathEditMode="relative" rAng="0" ptsTypes="AAAAAAAAAAAA">
                                      <p:cBhvr>
                                        <p:cTn id="307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521" y="-1991"/>
                                    </p:animMotion>
                                  </p:childTnLst>
                                </p:cTn>
                              </p:par>
                              <p:par>
                                <p:cTn id="308" presetID="10" presetClass="exit" presetSubtype="0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483 0.01644 L 0.05052 0.02894 L 0.11771 0.04514 L 0.17552 0.04607 L 0.24149 0.03866 L 0.28819 0.02454 L 0.32205 0.00301 L 0.34653 -0.01759 L 0.38437 -0.05162 " pathEditMode="relative" ptsTypes="AAAAAAAAAA">
                                      <p:cBhvr>
                                        <p:cTn id="317" dur="2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8" presetID="10" presetClass="exit" presetSubtype="0" fill="hold" grpId="2" nodeType="withEffect">
                                  <p:stCondLst>
                                    <p:cond delay="2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1" presetClass="exit" presetSubtype="0" fill="hold" grpId="1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" presetID="10" presetClass="exit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500"/>
                            </p:stCondLst>
                            <p:childTnLst>
                              <p:par>
                                <p:cTn id="335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6" dur="500" tmFilter="0, 0; .2, .5; .8, .5; 1, 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7" dur="250" autoRev="1" fill="hold"/>
                                        <p:tgtEl>
                                          <p:spTgt spid="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 tmFilter="0, 0; .2, .5; .8, .5; 1, 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9" dur="250" autoRev="1" fill="hold"/>
                                        <p:tgtEl>
                                          <p:spTgt spid="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>
                      <p:stCondLst>
                        <p:cond delay="indefinite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500"/>
                            </p:stCondLst>
                            <p:childTnLst>
                              <p:par>
                                <p:cTn id="356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7" dur="500" tmFilter="0, 0; .2, .5; .8, .5; 1, 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8" dur="250" autoRev="1" fill="hold"/>
                                        <p:tgtEl>
                                          <p:spTgt spid="8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1500"/>
                            </p:stCondLst>
                            <p:childTnLst>
                              <p:par>
                                <p:cTn id="360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3.7037E-6 L -0.03004 -0.05533 L -0.06476 -0.075 L -0.10452 -0.08635 L -0.15035 -0.09051 L -0.18247 -0.0875 L -0.20261 -0.06991 C -0.20486 -0.06227 -0.20712 -0.05394 -0.2092 -0.04584 C -0.20955 -0.03449 -0.2099 -0.02361 -0.21025 -0.01366 C -0.20903 -0.00602 -0.21094 0.00347 -0.21007 0.01111 C -0.20747 0.02291 -0.20035 0.03564 -0.19306 0.03889 L -0.14445 0.05092 " pathEditMode="relative" rAng="0" ptsTypes="AAAAAAAAAAAA">
                                      <p:cBhvr>
                                        <p:cTn id="361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521" y="-1991"/>
                                    </p:animMotion>
                                  </p:childTnLst>
                                </p:cTn>
                              </p:par>
                              <p:par>
                                <p:cTn id="362" presetID="10" presetClass="exit" presetSubtype="0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indefinite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4.07407E-6 L 0.01858 0.01366 L 0.03906 0.02408 L 0.0915 0.03727 L 0.13663 0.03889 L 0.18802 0.03218 L 0.22465 0.02014 L 0.25087 0.00232 L 0.26997 -0.01481 L 0.30018 -0.04282 " pathEditMode="relative" rAng="0" ptsTypes="AAAAAAAAAA">
                                      <p:cBhvr>
                                        <p:cTn id="371" dur="2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000" y="-208"/>
                                    </p:animMotion>
                                  </p:childTnLst>
                                </p:cTn>
                              </p:par>
                              <p:par>
                                <p:cTn id="372" presetID="10" presetClass="exit" presetSubtype="0" fill="hold" grpId="2" nodeType="withEffect">
                                  <p:stCondLst>
                                    <p:cond delay="2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1" presetClass="exit" presetSubtype="0" fill="hold" grpId="1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4" grpId="0" animBg="1"/>
      <p:bldP spid="43" grpId="0" animBg="1"/>
      <p:bldP spid="42" grpId="0" animBg="1"/>
      <p:bldP spid="41" grpId="0" animBg="1"/>
      <p:bldP spid="32" grpId="0"/>
      <p:bldP spid="47" grpId="0"/>
      <p:bldP spid="48" grpId="0"/>
      <p:bldP spid="49" grpId="0"/>
      <p:bldP spid="49" grpId="1"/>
      <p:bldP spid="49" grpId="2"/>
      <p:bldP spid="50" grpId="0"/>
      <p:bldP spid="50" grpId="1"/>
      <p:bldP spid="50" grpId="2"/>
      <p:bldP spid="51" grpId="0"/>
      <p:bldP spid="51" grpId="1"/>
      <p:bldP spid="51" grpId="2"/>
      <p:bldP spid="52" grpId="0"/>
      <p:bldP spid="52" grpId="1"/>
      <p:bldP spid="52" grpId="2"/>
      <p:bldP spid="53" grpId="0"/>
      <p:bldP spid="53" grpId="1"/>
      <p:bldP spid="53" grpId="2"/>
      <p:bldP spid="7" grpId="0"/>
      <p:bldP spid="8" grpId="0"/>
      <p:bldP spid="9" grpId="0"/>
      <p:bldP spid="9" grpId="1"/>
      <p:bldP spid="11" grpId="0"/>
      <p:bldP spid="11" grpId="1"/>
      <p:bldP spid="12" grpId="0"/>
      <p:bldP spid="12" grpId="1"/>
      <p:bldP spid="13" grpId="0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20" grpId="0"/>
      <p:bldP spid="20" grpId="1"/>
      <p:bldP spid="28" grpId="0"/>
      <p:bldP spid="28" grpId="1"/>
      <p:bldP spid="33" grpId="0"/>
      <p:bldP spid="54" grpId="0"/>
      <p:bldP spid="56" grpId="0"/>
      <p:bldP spid="57" grpId="0"/>
      <p:bldP spid="58" grpId="0"/>
      <p:bldP spid="58" grpId="1"/>
      <p:bldP spid="59" grpId="0" animBg="1"/>
      <p:bldP spid="59" grpId="1" animBg="1"/>
      <p:bldP spid="59" grpId="2" animBg="1"/>
      <p:bldP spid="65" grpId="0"/>
      <p:bldP spid="65" grpId="1"/>
      <p:bldP spid="70" grpId="0"/>
      <p:bldP spid="70" grpId="1"/>
      <p:bldP spid="71" grpId="0"/>
      <p:bldP spid="71" grpId="1"/>
      <p:bldP spid="72" grpId="0"/>
      <p:bldP spid="72" grpId="1"/>
      <p:bldP spid="73" grpId="0"/>
      <p:bldP spid="73" grpId="1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9" grpId="0" animBg="1"/>
      <p:bldP spid="79" grpId="1" animBg="1"/>
      <p:bldP spid="80" grpId="0" animBg="1"/>
      <p:bldP spid="80" grpId="1" animBg="1"/>
      <p:bldP spid="84" grpId="0" animBg="1"/>
      <p:bldP spid="84" grpId="1" animBg="1"/>
      <p:bldP spid="85" grpId="0"/>
      <p:bldP spid="85" grpId="1"/>
      <p:bldP spid="85" grpId="2"/>
      <p:bldP spid="85" grpId="3"/>
      <p:bldP spid="86" grpId="0"/>
      <p:bldP spid="86" grpId="1"/>
      <p:bldP spid="86" grpId="2"/>
      <p:bldP spid="87" grpId="0" animBg="1"/>
      <p:bldP spid="88" grpId="0"/>
      <p:bldP spid="88" grpId="1"/>
      <p:bldP spid="88" grpId="2"/>
      <p:bldP spid="88" grpId="3"/>
      <p:bldP spid="89" grpId="0"/>
      <p:bldP spid="89" grpId="1"/>
      <p:bldP spid="89" grpId="2"/>
      <p:bldP spid="9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False Dependency from Store Data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979763"/>
            <a:ext cx="8228012" cy="2911444"/>
          </a:xfrm>
        </p:spPr>
        <p:txBody>
          <a:bodyPr/>
          <a:lstStyle/>
          <a:p>
            <a:pPr marL="342900" indent="-342900"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kern="1200" dirty="0">
                <a:solidFill>
                  <a:sysClr val="windowText" lastClr="000000"/>
                </a:solidFill>
                <a:latin typeface="Calibri"/>
                <a:cs typeface="Arial" charset="0"/>
              </a:rPr>
              <a:t>If there is no overlapping load does </a:t>
            </a: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not depend on store data</a:t>
            </a:r>
          </a:p>
          <a:p>
            <a:pPr marL="342900" indent="-342900"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It depends only on store address</a:t>
            </a:r>
            <a:endParaRPr lang="en-US" kern="1200" dirty="0">
              <a:solidFill>
                <a:sysClr val="windowText" lastClr="000000"/>
              </a:solidFill>
              <a:latin typeface="Calibri"/>
              <a:cs typeface="Arial" charset="0"/>
            </a:endParaRP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To know that there is no overlapping load wait until all store addresses are </a:t>
            </a:r>
            <a:r>
              <a:rPr lang="en-US" sz="2000" kern="1200" dirty="0" smtClean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calculated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Address is calculated when store is executed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But, store is sent to execution only all its sources (including data) are ready </a:t>
            </a:r>
            <a:r>
              <a:rPr lang="en-US" kern="1200" dirty="0" smtClean="0">
                <a:solidFill>
                  <a:sysClr val="windowText" lastClr="000000"/>
                </a:solidFill>
                <a:latin typeface="Calibri" panose="020F0502020204030204" pitchFamily="34" charset="0"/>
                <a:cs typeface="Arial" charset="0"/>
              </a:rPr>
              <a:t>→ there is a false dependency from data</a:t>
            </a:r>
            <a:endParaRPr lang="en-US" kern="1200" dirty="0">
              <a:solidFill>
                <a:sysClr val="windowText" lastClr="000000"/>
              </a:solidFill>
              <a:latin typeface="Calibri"/>
              <a:cs typeface="Arial" charset="0"/>
            </a:endParaRPr>
          </a:p>
          <a:p>
            <a:endParaRPr lang="ru-RU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792041" y="4391192"/>
            <a:ext cx="2423117" cy="1552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(1)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r1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(2)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r2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(3) </a:t>
            </a:r>
            <a:r>
              <a:rPr lang="en-US" sz="16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600" dirty="0" smtClean="0">
                <a:solidFill>
                  <a:srgbClr val="00CC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]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  <a:sym typeface="Symbol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(N) …  </a:t>
            </a:r>
            <a:r>
              <a:rPr lang="en-US" sz="1600" dirty="0" err="1" smtClean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Mem</a:t>
            </a:r>
            <a:r>
              <a:rPr lang="en-US" sz="1600" dirty="0" smtClean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[r3]</a:t>
            </a: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  <a:sym typeface="Symbol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5040274" y="4491174"/>
            <a:ext cx="1446729" cy="1601695"/>
            <a:chOff x="5040274" y="4491174"/>
            <a:chExt cx="1446729" cy="1601695"/>
          </a:xfrm>
        </p:grpSpPr>
        <p:sp>
          <p:nvSpPr>
            <p:cNvPr id="5" name="Oval 4"/>
            <p:cNvSpPr/>
            <p:nvPr/>
          </p:nvSpPr>
          <p:spPr>
            <a:xfrm>
              <a:off x="5458600" y="4491174"/>
              <a:ext cx="280452" cy="280452"/>
            </a:xfrm>
            <a:prstGeom prst="ellipse">
              <a:avLst/>
            </a:prstGeom>
            <a:gradFill rotWithShape="1">
              <a:gsLst>
                <a:gs pos="0">
                  <a:srgbClr val="4F81BD">
                    <a:shade val="51000"/>
                    <a:satMod val="130000"/>
                  </a:srgbClr>
                </a:gs>
                <a:gs pos="80000">
                  <a:srgbClr val="4F81BD">
                    <a:shade val="93000"/>
                    <a:satMod val="130000"/>
                  </a:srgbClr>
                </a:gs>
                <a:gs pos="100000">
                  <a:srgbClr val="4F81B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</a:t>
              </a:r>
              <a:endParaRPr kumimoji="0" lang="ru-RU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6206551" y="4491174"/>
              <a:ext cx="280452" cy="280452"/>
            </a:xfrm>
            <a:prstGeom prst="ellipse">
              <a:avLst/>
            </a:prstGeom>
            <a:gradFill rotWithShape="1">
              <a:gsLst>
                <a:gs pos="0">
                  <a:srgbClr val="4F81BD">
                    <a:shade val="51000"/>
                    <a:satMod val="130000"/>
                  </a:srgbClr>
                </a:gs>
                <a:gs pos="80000">
                  <a:srgbClr val="4F81BD">
                    <a:shade val="93000"/>
                    <a:satMod val="130000"/>
                  </a:srgbClr>
                </a:gs>
                <a:gs pos="100000">
                  <a:srgbClr val="4F81B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>
                  <a:solidFill>
                    <a:prstClr val="white"/>
                  </a:solidFill>
                  <a:latin typeface="Calibri"/>
                  <a:cs typeface="+mn-cs"/>
                </a:rPr>
                <a:t>2</a:t>
              </a:r>
              <a:endParaRPr kumimoji="0" lang="ru-RU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5806564" y="5119838"/>
              <a:ext cx="280452" cy="280452"/>
            </a:xfrm>
            <a:prstGeom prst="ellipse">
              <a:avLst/>
            </a:prstGeom>
            <a:gradFill rotWithShape="1">
              <a:gsLst>
                <a:gs pos="0">
                  <a:srgbClr val="4F81BD">
                    <a:shade val="51000"/>
                    <a:satMod val="130000"/>
                  </a:srgbClr>
                </a:gs>
                <a:gs pos="80000">
                  <a:srgbClr val="4F81BD">
                    <a:shade val="93000"/>
                    <a:satMod val="130000"/>
                  </a:srgbClr>
                </a:gs>
                <a:gs pos="100000">
                  <a:srgbClr val="4F81B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>
                  <a:solidFill>
                    <a:prstClr val="white"/>
                  </a:solidFill>
                  <a:latin typeface="Calibri"/>
                  <a:cs typeface="+mn-cs"/>
                </a:rPr>
                <a:t>3</a:t>
              </a:r>
              <a:endParaRPr kumimoji="0" lang="ru-RU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5830436" y="5812417"/>
              <a:ext cx="280452" cy="280452"/>
            </a:xfrm>
            <a:prstGeom prst="ellipse">
              <a:avLst/>
            </a:prstGeom>
            <a:gradFill rotWithShape="1">
              <a:gsLst>
                <a:gs pos="0">
                  <a:srgbClr val="4F81BD">
                    <a:shade val="51000"/>
                    <a:satMod val="130000"/>
                  </a:srgbClr>
                </a:gs>
                <a:gs pos="80000">
                  <a:srgbClr val="4F81BD">
                    <a:shade val="93000"/>
                    <a:satMod val="130000"/>
                  </a:srgbClr>
                </a:gs>
                <a:gs pos="100000">
                  <a:srgbClr val="4F81B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>
                  <a:solidFill>
                    <a:prstClr val="white"/>
                  </a:solidFill>
                  <a:latin typeface="Calibri"/>
                  <a:cs typeface="+mn-cs"/>
                </a:rPr>
                <a:t>N</a:t>
              </a:r>
              <a:endParaRPr kumimoji="0" lang="ru-RU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5432818" y="4766043"/>
              <a:ext cx="439398" cy="397477"/>
              <a:chOff x="5676529" y="2109303"/>
              <a:chExt cx="544824" cy="492845"/>
            </a:xfrm>
          </p:grpSpPr>
          <p:cxnSp>
            <p:nvCxnSpPr>
              <p:cNvPr id="12" name="Straight Arrow Connector 11"/>
              <p:cNvCxnSpPr/>
              <p:nvPr/>
            </p:nvCxnSpPr>
            <p:spPr>
              <a:xfrm>
                <a:off x="5973874" y="2109303"/>
                <a:ext cx="247479" cy="439967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00B050"/>
                </a:solidFill>
                <a:prstDash val="solid"/>
                <a:tailEnd type="triangle"/>
              </a:ln>
              <a:effectLst/>
            </p:spPr>
          </p:cxnSp>
          <p:sp>
            <p:nvSpPr>
              <p:cNvPr id="13" name="Rectangle 12"/>
              <p:cNvSpPr/>
              <p:nvPr/>
            </p:nvSpPr>
            <p:spPr>
              <a:xfrm>
                <a:off x="5676529" y="2220525"/>
                <a:ext cx="475437" cy="3816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Consolas" panose="020B0609020204030204" pitchFamily="49" charset="0"/>
                    <a:cs typeface="Consolas" panose="020B0609020204030204" pitchFamily="49" charset="0"/>
                  </a:rPr>
                  <a:t>r1</a:t>
                </a:r>
                <a:endParaRPr kumimoji="0" lang="ru-RU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/>
                  <a:cs typeface="+mn-cs"/>
                </a:endParaRPr>
              </a:p>
            </p:txBody>
          </p:sp>
        </p:grpSp>
        <p:sp>
          <p:nvSpPr>
            <p:cNvPr id="16" name="Rectangle 15"/>
            <p:cNvSpPr/>
            <p:nvPr/>
          </p:nvSpPr>
          <p:spPr>
            <a:xfrm>
              <a:off x="6086241" y="4854241"/>
              <a:ext cx="38343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b="1" kern="0" dirty="0" smtClean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r2</a:t>
              </a:r>
              <a:endParaRPr kumimoji="0" lang="ru-RU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 flipH="1">
              <a:off x="6015226" y="4766042"/>
              <a:ext cx="191325" cy="347308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ysDot"/>
              <a:tailEnd type="triangle"/>
            </a:ln>
            <a:effectLst/>
          </p:spPr>
        </p:cxnSp>
        <p:cxnSp>
          <p:nvCxnSpPr>
            <p:cNvPr id="24" name="Straight Arrow Connector 23"/>
            <p:cNvCxnSpPr>
              <a:stCxn id="8" idx="4"/>
            </p:cNvCxnSpPr>
            <p:nvPr/>
          </p:nvCxnSpPr>
          <p:spPr>
            <a:xfrm>
              <a:off x="5946790" y="5400290"/>
              <a:ext cx="0" cy="40382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tailEnd type="triangle"/>
            </a:ln>
            <a:effectLst/>
          </p:spPr>
        </p:cxnSp>
        <p:sp>
          <p:nvSpPr>
            <p:cNvPr id="25" name="Rectangle 24"/>
            <p:cNvSpPr/>
            <p:nvPr/>
          </p:nvSpPr>
          <p:spPr>
            <a:xfrm>
              <a:off x="5040274" y="5449460"/>
              <a:ext cx="88036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  <a:sym typeface="Symbol" pitchFamily="18" charset="2"/>
                </a:rPr>
                <a:t>address</a:t>
              </a:r>
              <a:endParaRPr kumimoji="0" lang="ru-RU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1473074" y="3950351"/>
            <a:ext cx="776505" cy="273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black"/>
                </a:solidFill>
                <a:latin typeface="Calibri"/>
                <a:cs typeface="+mn-cs"/>
              </a:rPr>
              <a:t>Example:</a:t>
            </a:r>
            <a:endParaRPr lang="ru-RU" sz="20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961373" y="3908282"/>
            <a:ext cx="1918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black"/>
                </a:solidFill>
                <a:latin typeface="Calibri"/>
                <a:cs typeface="+mn-cs"/>
              </a:rPr>
              <a:t>Data Flow Graph</a:t>
            </a:r>
            <a:endParaRPr lang="ru-RU" sz="20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37" name="Rounded Rectangular Callout 36"/>
          <p:cNvSpPr/>
          <p:nvPr/>
        </p:nvSpPr>
        <p:spPr>
          <a:xfrm>
            <a:off x="2320693" y="6092869"/>
            <a:ext cx="2447986" cy="665019"/>
          </a:xfrm>
          <a:prstGeom prst="wedgeRoundRectCallout">
            <a:avLst>
              <a:gd name="adj1" fmla="val -8141"/>
              <a:gd name="adj2" fmla="val -83319"/>
              <a:gd name="adj3" fmla="val 16667"/>
            </a:avLst>
          </a:prstGeom>
          <a:solidFill>
            <a:sysClr val="window" lastClr="FFFFFF"/>
          </a:solidFill>
          <a:ln w="19050" cap="flat" cmpd="sng" algn="ctr">
            <a:solidFill>
              <a:srgbClr val="4F81B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 != r1 </a:t>
            </a:r>
            <a:r>
              <a:rPr lang="en-US" sz="1600" kern="0" dirty="0" smtClean="0">
                <a:solidFill>
                  <a:prstClr val="black"/>
                </a:solidFill>
                <a:latin typeface="Calibri" panose="020F0502020204030204" pitchFamily="34" charset="0"/>
                <a:cs typeface="Consolas" panose="020B0609020204030204" pitchFamily="49" charset="0"/>
              </a:rPr>
              <a:t>→  </a:t>
            </a:r>
            <a:r>
              <a:rPr lang="en-US" sz="1600" kern="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(3)</a:t>
            </a:r>
            <a:r>
              <a:rPr lang="en-US" sz="1600" kern="0" dirty="0" smtClean="0">
                <a:solidFill>
                  <a:prstClr val="black"/>
                </a:solidFill>
                <a:latin typeface="Calibri" panose="020F0502020204030204" pitchFamily="34" charset="0"/>
                <a:cs typeface="Consolas" panose="020B0609020204030204" pitchFamily="49" charset="0"/>
              </a:rPr>
              <a:t> and </a:t>
            </a:r>
            <a:r>
              <a:rPr lang="en-US" sz="1600" kern="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(N)</a:t>
            </a:r>
            <a:r>
              <a:rPr lang="en-US" sz="1600" kern="0" dirty="0" smtClean="0">
                <a:solidFill>
                  <a:prstClr val="black"/>
                </a:solidFill>
                <a:latin typeface="Calibri" panose="020F0502020204030204" pitchFamily="34" charset="0"/>
                <a:cs typeface="Consolas" panose="020B0609020204030204" pitchFamily="49" charset="0"/>
              </a:rPr>
              <a:t> are not overlapped</a:t>
            </a:r>
            <a:endParaRPr kumimoji="0" lang="en-US" sz="1600" b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8" name="Rounded Rectangular Callout 37"/>
          <p:cNvSpPr/>
          <p:nvPr/>
        </p:nvSpPr>
        <p:spPr>
          <a:xfrm>
            <a:off x="6738457" y="4766042"/>
            <a:ext cx="2005325" cy="873649"/>
          </a:xfrm>
          <a:prstGeom prst="wedgeRoundRectCallout">
            <a:avLst>
              <a:gd name="adj1" fmla="val -62701"/>
              <a:gd name="adj2" fmla="val -21169"/>
              <a:gd name="adj3" fmla="val 16667"/>
            </a:avLst>
          </a:prstGeom>
          <a:solidFill>
            <a:sysClr val="window" lastClr="FFFFFF"/>
          </a:solidFill>
          <a:ln w="19050" cap="flat" cmpd="sng" algn="ctr">
            <a:solidFill>
              <a:srgbClr val="4F81B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prstClr val="black"/>
                </a:solidFill>
                <a:latin typeface="+mj-lt"/>
                <a:cs typeface="Consolas" panose="020B0609020204030204" pitchFamily="49" charset="0"/>
              </a:rPr>
              <a:t>False dependency:</a:t>
            </a: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0" dirty="0" smtClean="0">
                <a:solidFill>
                  <a:prstClr val="black"/>
                </a:solidFill>
                <a:latin typeface="+mj-lt"/>
                <a:cs typeface="Consolas" panose="020B0609020204030204" pitchFamily="49" charset="0"/>
              </a:rPr>
              <a:t>in fact, </a:t>
            </a:r>
            <a:r>
              <a:rPr lang="en-US" sz="1600" kern="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(N)</a:t>
            </a:r>
            <a:r>
              <a:rPr lang="en-US" sz="1600" kern="0" dirty="0">
                <a:solidFill>
                  <a:prstClr val="black"/>
                </a:solidFill>
                <a:latin typeface="+mj-lt"/>
                <a:cs typeface="Consolas" panose="020B0609020204030204" pitchFamily="49" charset="0"/>
              </a:rPr>
              <a:t> does not need to wait </a:t>
            </a:r>
            <a:r>
              <a:rPr lang="en-US" sz="1600" kern="0" dirty="0" smtClean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(2)</a:t>
            </a:r>
            <a:r>
              <a:rPr lang="en-US" sz="1600" kern="0" dirty="0" smtClean="0">
                <a:solidFill>
                  <a:prstClr val="black"/>
                </a:solidFill>
                <a:latin typeface="+mj-lt"/>
                <a:cs typeface="Consolas" panose="020B0609020204030204" pitchFamily="49" charset="0"/>
              </a:rPr>
              <a:t> </a:t>
            </a:r>
            <a:endParaRPr lang="en-US" sz="1600" kern="0" dirty="0">
              <a:solidFill>
                <a:prstClr val="black"/>
              </a:solidFill>
              <a:latin typeface="+mj-lt"/>
              <a:cs typeface="Consolas" panose="020B06090202040302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66753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37" grpId="0" animBg="1"/>
      <p:bldP spid="3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 and STD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1059931"/>
            <a:ext cx="8228012" cy="2144474"/>
          </a:xfrm>
        </p:spPr>
        <p:txBody>
          <a:bodyPr/>
          <a:lstStyle/>
          <a:p>
            <a:pPr marL="342900" lvl="0" indent="-342900"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To remove false dependency in case of absence of overlapping store instruction is executed in two steps: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Store address calculation (STA)</a:t>
            </a:r>
          </a:p>
          <a:p>
            <a:pPr marL="742950" lvl="1" indent="-285750">
              <a:spcBef>
                <a:spcPts val="600"/>
              </a:spcBef>
              <a:buClrTx/>
              <a:buFont typeface="Arial" charset="0"/>
              <a:buChar char="–"/>
              <a:defRPr/>
            </a:pPr>
            <a:r>
              <a:rPr lang="en-US" sz="2000" kern="1200" dirty="0">
                <a:solidFill>
                  <a:sysClr val="windowText" lastClr="000000"/>
                </a:solidFill>
                <a:latin typeface="Calibri"/>
                <a:ea typeface="+mn-ea"/>
                <a:cs typeface="Arial" charset="0"/>
              </a:rPr>
              <a:t>Store data calculation (STD)</a:t>
            </a:r>
          </a:p>
          <a:p>
            <a:pPr marL="342900" lvl="0" indent="-342900">
              <a:spcBef>
                <a:spcPts val="1200"/>
              </a:spcBef>
              <a:buFont typeface="Arial" charset="0"/>
              <a:buChar char="•"/>
              <a:defRPr/>
            </a:pPr>
            <a:r>
              <a:rPr lang="en-US" kern="1200" dirty="0" smtClean="0">
                <a:solidFill>
                  <a:sysClr val="windowText" lastClr="000000"/>
                </a:solidFill>
                <a:latin typeface="Calibri"/>
                <a:cs typeface="Arial" charset="0"/>
              </a:rPr>
              <a:t>Load is waiting for STD only if it overlapped with STA</a:t>
            </a:r>
            <a:endParaRPr lang="en-US" kern="1200" dirty="0">
              <a:solidFill>
                <a:sysClr val="windowText" lastClr="000000"/>
              </a:solidFill>
              <a:latin typeface="Calibri"/>
              <a:cs typeface="Arial" charset="0"/>
            </a:endParaRPr>
          </a:p>
          <a:p>
            <a:endParaRPr lang="ru-RU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609161" y="3771432"/>
            <a:ext cx="2716327" cy="1552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(1)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r1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(2)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r2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>
              <a:buNone/>
              <a:defRPr/>
            </a:pPr>
            <a:r>
              <a:rPr kumimoji="0" lang="en-US" sz="1600" b="0" i="1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(3)  </a:t>
            </a:r>
            <a:r>
              <a:rPr kumimoji="0" lang="en-US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addr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 </a:t>
            </a:r>
            <a:r>
              <a:rPr lang="en-US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600" dirty="0" smtClean="0">
                <a:solidFill>
                  <a:srgbClr val="00CC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dirty="0" smtClean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 marL="0" indent="0">
              <a:buNone/>
              <a:defRPr/>
            </a:pPr>
            <a:r>
              <a:rPr kumimoji="0" lang="en-US" sz="1600" b="0" i="1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(3’)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Mem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[</a:t>
            </a:r>
            <a:r>
              <a:rPr kumimoji="0" lang="en-US" sz="1600" b="0" i="1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addr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] </a:t>
            </a:r>
            <a:r>
              <a:rPr lang="en-US" sz="16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6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  <a:sym typeface="Symbol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  <a:sym typeface="Symbol" pitchFamily="18" charset="2"/>
              </a:rPr>
              <a:t>(N) …  </a:t>
            </a:r>
            <a:r>
              <a:rPr lang="en-US" sz="1600" dirty="0" err="1" smtClean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Mem</a:t>
            </a:r>
            <a:r>
              <a:rPr lang="en-US" sz="1600" dirty="0" smtClean="0"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[r3]</a:t>
            </a: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  <a:sym typeface="Symbol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970920" y="3871414"/>
            <a:ext cx="280452" cy="280452"/>
          </a:xfrm>
          <a:prstGeom prst="ellipse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endParaRPr kumimoji="0" lang="ru-RU" sz="16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5318884" y="4500078"/>
            <a:ext cx="280452" cy="280452"/>
          </a:xfrm>
          <a:prstGeom prst="ellipse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0" dirty="0">
                <a:solidFill>
                  <a:prstClr val="white"/>
                </a:solidFill>
                <a:latin typeface="Calibri"/>
                <a:cs typeface="+mn-cs"/>
              </a:rPr>
              <a:t>3</a:t>
            </a:r>
            <a:endParaRPr kumimoji="0" lang="ru-RU" sz="16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720614" y="5188944"/>
            <a:ext cx="280452" cy="280452"/>
          </a:xfrm>
          <a:prstGeom prst="ellipse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0" dirty="0">
                <a:solidFill>
                  <a:prstClr val="white"/>
                </a:solidFill>
                <a:latin typeface="Calibri"/>
                <a:cs typeface="+mn-cs"/>
              </a:rPr>
              <a:t>N</a:t>
            </a:r>
            <a:endParaRPr kumimoji="0" lang="ru-RU" sz="16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945138" y="4146283"/>
            <a:ext cx="439398" cy="397477"/>
            <a:chOff x="5676529" y="2109303"/>
            <a:chExt cx="544824" cy="492845"/>
          </a:xfrm>
        </p:grpSpPr>
        <p:cxnSp>
          <p:nvCxnSpPr>
            <p:cNvPr id="10" name="Straight Arrow Connector 9"/>
            <p:cNvCxnSpPr/>
            <p:nvPr/>
          </p:nvCxnSpPr>
          <p:spPr>
            <a:xfrm>
              <a:off x="5973874" y="2109303"/>
              <a:ext cx="247479" cy="439967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tailEnd type="triangle"/>
            </a:ln>
            <a:effectLst/>
          </p:spPr>
        </p:cxnSp>
        <p:sp>
          <p:nvSpPr>
            <p:cNvPr id="11" name="Rectangle 10"/>
            <p:cNvSpPr/>
            <p:nvPr/>
          </p:nvSpPr>
          <p:spPr>
            <a:xfrm>
              <a:off x="5676529" y="2220525"/>
              <a:ext cx="475437" cy="38162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onsolas" panose="020B0609020204030204" pitchFamily="49" charset="0"/>
                  <a:cs typeface="Consolas" panose="020B0609020204030204" pitchFamily="49" charset="0"/>
                </a:rPr>
                <a:t>r1</a:t>
              </a:r>
              <a:endParaRPr kumimoji="0" lang="ru-RU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  <p:cxnSp>
        <p:nvCxnSpPr>
          <p:cNvPr id="14" name="Straight Arrow Connector 13"/>
          <p:cNvCxnSpPr>
            <a:endCxn id="8" idx="1"/>
          </p:cNvCxnSpPr>
          <p:nvPr/>
        </p:nvCxnSpPr>
        <p:spPr>
          <a:xfrm>
            <a:off x="5521960" y="4775200"/>
            <a:ext cx="239725" cy="454815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tailEnd type="triangle"/>
          </a:ln>
          <a:effectLst/>
        </p:spPr>
      </p:cxnSp>
      <p:sp>
        <p:nvSpPr>
          <p:cNvPr id="15" name="Rectangle 14"/>
          <p:cNvSpPr/>
          <p:nvPr/>
        </p:nvSpPr>
        <p:spPr>
          <a:xfrm>
            <a:off x="5037470" y="4859898"/>
            <a:ext cx="5822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addr</a:t>
            </a:r>
            <a:endParaRPr kumimoji="0" lang="ru-RU" sz="1400" b="0" i="1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Calibri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90194" y="3330591"/>
            <a:ext cx="776505" cy="273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black"/>
                </a:solidFill>
                <a:latin typeface="Calibri"/>
                <a:cs typeface="+mn-cs"/>
              </a:rPr>
              <a:t>Example:</a:t>
            </a:r>
            <a:endParaRPr lang="ru-RU" sz="20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73693" y="3288522"/>
            <a:ext cx="1918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>
                <a:solidFill>
                  <a:prstClr val="black"/>
                </a:solidFill>
                <a:latin typeface="Calibri"/>
                <a:cs typeface="+mn-cs"/>
              </a:rPr>
              <a:t>Data Flow Graph</a:t>
            </a:r>
            <a:endParaRPr lang="ru-RU" sz="2000" dirty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19" name="Rounded Rectangular Callout 18"/>
          <p:cNvSpPr/>
          <p:nvPr/>
        </p:nvSpPr>
        <p:spPr>
          <a:xfrm>
            <a:off x="6913455" y="5167675"/>
            <a:ext cx="1536693" cy="873649"/>
          </a:xfrm>
          <a:prstGeom prst="wedgeRoundRectCallout">
            <a:avLst>
              <a:gd name="adj1" fmla="val -70635"/>
              <a:gd name="adj2" fmla="val -52568"/>
              <a:gd name="adj3" fmla="val 16667"/>
            </a:avLst>
          </a:prstGeom>
          <a:solidFill>
            <a:sysClr val="window" lastClr="FFFFFF"/>
          </a:solidFill>
          <a:ln w="19050" cap="flat" cmpd="sng" algn="ctr">
            <a:solidFill>
              <a:srgbClr val="4F81BD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0" dirty="0" smtClean="0">
                <a:solidFill>
                  <a:prstClr val="black"/>
                </a:solidFill>
                <a:latin typeface="+mj-lt"/>
                <a:cs typeface="Consolas" panose="020B0609020204030204" pitchFamily="49" charset="0"/>
              </a:rPr>
              <a:t>Exist only if overlapping is detected</a:t>
            </a:r>
            <a:endParaRPr lang="en-US" sz="1600" kern="0" dirty="0">
              <a:solidFill>
                <a:prstClr val="black"/>
              </a:solidFill>
              <a:latin typeface="+mj-lt"/>
              <a:cs typeface="Consolas" panose="020B0609020204030204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1769" y="4377458"/>
            <a:ext cx="777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STA →</a:t>
            </a:r>
            <a:endParaRPr lang="ru-RU" dirty="0" smtClean="0">
              <a:latin typeface="+mj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8875" y="4639688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STD →</a:t>
            </a:r>
            <a:endParaRPr lang="ru-RU" dirty="0" smtClean="0">
              <a:latin typeface="+mj-lt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486546" y="3865831"/>
            <a:ext cx="280452" cy="280452"/>
          </a:xfrm>
          <a:prstGeom prst="ellipse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0" dirty="0">
                <a:solidFill>
                  <a:prstClr val="white"/>
                </a:solidFill>
                <a:latin typeface="Calibri"/>
                <a:cs typeface="+mn-cs"/>
              </a:rPr>
              <a:t>2</a:t>
            </a:r>
            <a:endParaRPr kumimoji="0" lang="ru-RU" sz="16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389466" y="4188335"/>
            <a:ext cx="3834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endParaRPr kumimoji="0" lang="ru-RU" sz="140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6310767" y="4137157"/>
            <a:ext cx="214493" cy="354612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sp>
        <p:nvSpPr>
          <p:cNvPr id="25" name="Oval 24"/>
          <p:cNvSpPr/>
          <p:nvPr/>
        </p:nvSpPr>
        <p:spPr>
          <a:xfrm>
            <a:off x="6095713" y="4494495"/>
            <a:ext cx="283464" cy="283464"/>
          </a:xfrm>
          <a:prstGeom prst="ellipse">
            <a:avLst/>
          </a:prstGeom>
          <a:gradFill rotWithShape="1"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0" dirty="0" smtClean="0">
                <a:solidFill>
                  <a:prstClr val="white"/>
                </a:solidFill>
                <a:latin typeface="Calibri"/>
                <a:cs typeface="+mn-cs"/>
              </a:rPr>
              <a:t>3’</a:t>
            </a:r>
            <a:endParaRPr kumimoji="0" lang="ru-RU" sz="16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0" name="Straight Arrow Connector 29"/>
          <p:cNvCxnSpPr>
            <a:endCxn id="8" idx="7"/>
          </p:cNvCxnSpPr>
          <p:nvPr/>
        </p:nvCxnSpPr>
        <p:spPr>
          <a:xfrm flipH="1">
            <a:off x="5959995" y="4783455"/>
            <a:ext cx="221730" cy="44656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ysDot"/>
            <a:tailEnd type="triangle"/>
          </a:ln>
          <a:effectLst/>
        </p:spPr>
      </p:cxnSp>
      <p:sp>
        <p:nvSpPr>
          <p:cNvPr id="33" name="Rectangle 32"/>
          <p:cNvSpPr/>
          <p:nvPr/>
        </p:nvSpPr>
        <p:spPr>
          <a:xfrm>
            <a:off x="6108281" y="4859898"/>
            <a:ext cx="5822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data</a:t>
            </a:r>
            <a:endParaRPr kumimoji="0" lang="ru-RU" sz="1400" b="0" i="1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Calibri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61650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5" grpId="0"/>
      <p:bldP spid="16" grpId="0"/>
      <p:bldP spid="17" grpId="0"/>
      <p:bldP spid="19" grpId="0" animBg="1"/>
      <p:bldP spid="20" grpId="0"/>
      <p:bldP spid="21" grpId="0"/>
      <p:bldP spid="22" grpId="0" animBg="1"/>
      <p:bldP spid="23" grpId="0"/>
      <p:bldP spid="25" grpId="0" animBg="1"/>
      <p:bldP spid="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/>
          <p:cNvSpPr/>
          <p:nvPr/>
        </p:nvSpPr>
        <p:spPr>
          <a:xfrm>
            <a:off x="454025" y="2608118"/>
            <a:ext cx="2069797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rgbClr val="78403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(5)  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 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[r5]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4025" y="2327886"/>
            <a:ext cx="1957587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rgbClr val="D21E1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(4) </a:t>
            </a:r>
            <a:r>
              <a:rPr lang="en-US" sz="1600" dirty="0" err="1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[r4] 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…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5368925" y="3505200"/>
          <a:ext cx="3264536" cy="2695525"/>
        </p:xfrm>
        <a:graphic>
          <a:graphicData uri="http://schemas.openxmlformats.org/drawingml/2006/table">
            <a:tbl>
              <a:tblPr firstRow="1">
                <a:effectLst/>
                <a:tableStyleId>{5C22544A-7EE6-4342-B048-85BDC9FD1C3A}</a:tableStyleId>
              </a:tblPr>
              <a:tblGrid>
                <a:gridCol w="249958"/>
                <a:gridCol w="664296"/>
                <a:gridCol w="833901"/>
                <a:gridCol w="787083"/>
                <a:gridCol w="729298"/>
              </a:tblGrid>
              <a:tr h="535781">
                <a:tc>
                  <a:txBody>
                    <a:bodyPr/>
                    <a:lstStyle/>
                    <a:p>
                      <a:pPr algn="ctr"/>
                      <a:endParaRPr lang="ru-RU" sz="1600" b="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smtClean="0">
                          <a:latin typeface="+mj-lt"/>
                        </a:rPr>
                        <a:t>Address</a:t>
                      </a:r>
                      <a:endParaRPr lang="ru-RU" sz="1400" b="0" dirty="0" smtClean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smtClean="0">
                          <a:latin typeface="+mj-lt"/>
                        </a:rPr>
                        <a:t>Previous</a:t>
                      </a:r>
                      <a:r>
                        <a:rPr lang="en-US" sz="1400" b="0" baseline="0" dirty="0" smtClean="0">
                          <a:latin typeface="+mj-lt"/>
                        </a:rPr>
                        <a:t> store</a:t>
                      </a:r>
                      <a:endParaRPr lang="ru-RU" sz="1400" b="0" dirty="0" smtClean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smtClean="0">
                          <a:latin typeface="+mj-lt"/>
                        </a:rPr>
                        <a:t>Waiting</a:t>
                      </a:r>
                      <a:r>
                        <a:rPr lang="en-US" sz="1400" b="0" baseline="0" dirty="0" smtClean="0">
                          <a:latin typeface="+mj-lt"/>
                        </a:rPr>
                        <a:t> store</a:t>
                      </a:r>
                      <a:endParaRPr lang="ru-RU" sz="1400" b="0" dirty="0" smtClean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smtClean="0">
                          <a:latin typeface="+mj-lt"/>
                        </a:rPr>
                        <a:t>Ready?</a:t>
                      </a:r>
                      <a:endParaRPr lang="ru-RU" sz="1400" b="0" dirty="0" smtClean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0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1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2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3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4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5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…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M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43" name="Rectangle 42"/>
          <p:cNvSpPr/>
          <p:nvPr/>
        </p:nvSpPr>
        <p:spPr>
          <a:xfrm>
            <a:off x="454025" y="2047654"/>
            <a:ext cx="2069797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(3)  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 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[r3]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4025" y="1767422"/>
            <a:ext cx="1957587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(2) </a:t>
            </a:r>
            <a:r>
              <a:rPr lang="en-US" sz="1600" dirty="0" err="1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[r2] 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4025" y="1487190"/>
            <a:ext cx="1957587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(1) </a:t>
            </a:r>
            <a:r>
              <a:rPr lang="en-US" sz="1600" dirty="0" err="1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[r1] 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 …</a:t>
            </a:r>
            <a:endParaRPr lang="en-US" sz="1600" dirty="0">
              <a:solidFill>
                <a:srgbClr val="06192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234335" y="3756501"/>
          <a:ext cx="1127351" cy="1889776"/>
        </p:xfrm>
        <a:graphic>
          <a:graphicData uri="http://schemas.openxmlformats.org/drawingml/2006/table">
            <a:tbl>
              <a:tblPr firstRow="1">
                <a:effectLst/>
                <a:tableStyleId>{5C22544A-7EE6-4342-B048-85BDC9FD1C3A}</a:tableStyleId>
              </a:tblPr>
              <a:tblGrid>
                <a:gridCol w="466951"/>
                <a:gridCol w="660400"/>
              </a:tblGrid>
              <a:tr h="269968">
                <a:tc>
                  <a:txBody>
                    <a:bodyPr/>
                    <a:lstStyle/>
                    <a:p>
                      <a:pPr algn="ctr"/>
                      <a:endParaRPr lang="ru-RU" sz="1600" b="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smtClean="0">
                          <a:latin typeface="+mj-lt"/>
                        </a:rPr>
                        <a:t>Address</a:t>
                      </a:r>
                      <a:endParaRPr lang="ru-RU" sz="1400" b="0" dirty="0" smtClean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0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1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2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3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…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N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377089" y="3357177"/>
            <a:ext cx="1307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Store Buffer</a:t>
            </a:r>
            <a:endParaRPr lang="ru-RU" dirty="0" smtClean="0">
              <a:latin typeface="+mj-lt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54025" y="2888350"/>
            <a:ext cx="40908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4025" y="1206958"/>
            <a:ext cx="5209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…</a:t>
            </a:r>
            <a:endParaRPr lang="en-US" sz="1600" dirty="0">
              <a:solidFill>
                <a:sysClr val="windowText" lastClr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54025" y="1487190"/>
            <a:ext cx="195758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(1) </a:t>
            </a:r>
            <a:r>
              <a:rPr lang="en-US" sz="1600" dirty="0" err="1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[r1] 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 …</a:t>
            </a:r>
            <a:endParaRPr lang="en-US" sz="1600" dirty="0">
              <a:solidFill>
                <a:srgbClr val="06192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54025" y="1767422"/>
            <a:ext cx="195758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(2) </a:t>
            </a:r>
            <a:r>
              <a:rPr lang="en-US" sz="1600" dirty="0" err="1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[r2] 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4025" y="2047654"/>
            <a:ext cx="206979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(3)  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 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[r3]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4025" y="2327886"/>
            <a:ext cx="195758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rgbClr val="D21E1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(4) </a:t>
            </a:r>
            <a:r>
              <a:rPr lang="en-US" sz="1600" dirty="0" err="1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[r4] 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…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4025" y="2608118"/>
            <a:ext cx="206979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rgbClr val="78403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(5)  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 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[r5]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SB and LB </a:t>
            </a:r>
            <a:r>
              <a:rPr lang="en-US" dirty="0" smtClean="0"/>
              <a:t>Operation: STA and STD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297379" y="867001"/>
            <a:ext cx="13236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+mj-lt"/>
              </a:rPr>
              <a:t>Example:</a:t>
            </a:r>
            <a:endParaRPr lang="ru-RU" sz="2400" dirty="0" smtClean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20782" y="3968140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(1) </a:t>
            </a:r>
            <a:endParaRPr lang="ru-RU" dirty="0"/>
          </a:p>
        </p:txBody>
      </p:sp>
      <p:sp>
        <p:nvSpPr>
          <p:cNvPr id="9" name="Rectangle 8"/>
          <p:cNvSpPr/>
          <p:nvPr/>
        </p:nvSpPr>
        <p:spPr>
          <a:xfrm>
            <a:off x="1830942" y="4243399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(2) </a:t>
            </a:r>
            <a:endParaRPr lang="ru-RU" dirty="0"/>
          </a:p>
        </p:txBody>
      </p:sp>
      <p:sp>
        <p:nvSpPr>
          <p:cNvPr id="11" name="Rectangle 10"/>
          <p:cNvSpPr/>
          <p:nvPr/>
        </p:nvSpPr>
        <p:spPr>
          <a:xfrm>
            <a:off x="1830942" y="4518658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D21E1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(4) </a:t>
            </a:r>
            <a:endParaRPr lang="ru-RU" dirty="0"/>
          </a:p>
        </p:txBody>
      </p:sp>
      <p:sp>
        <p:nvSpPr>
          <p:cNvPr id="12" name="Rectangle 11"/>
          <p:cNvSpPr/>
          <p:nvPr/>
        </p:nvSpPr>
        <p:spPr>
          <a:xfrm>
            <a:off x="4912192" y="3982241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(3) </a:t>
            </a:r>
            <a:endParaRPr lang="ru-RU" dirty="0"/>
          </a:p>
        </p:txBody>
      </p:sp>
      <p:sp>
        <p:nvSpPr>
          <p:cNvPr id="13" name="Rectangle 12"/>
          <p:cNvSpPr/>
          <p:nvPr/>
        </p:nvSpPr>
        <p:spPr>
          <a:xfrm>
            <a:off x="4912192" y="4243399"/>
            <a:ext cx="5645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78403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(5)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2828911" y="400718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2"/>
                </a:solidFill>
                <a:latin typeface="+mj-lt"/>
              </a:rPr>
              <a:t>NA</a:t>
            </a:r>
            <a:endParaRPr lang="ru-RU" sz="1400" dirty="0" smtClean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28911" y="4274176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2"/>
                </a:solidFill>
                <a:latin typeface="+mj-lt"/>
              </a:rPr>
              <a:t>NA</a:t>
            </a:r>
            <a:endParaRPr lang="ru-RU" sz="1400" dirty="0" smtClean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28911" y="4549435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2"/>
                </a:solidFill>
                <a:latin typeface="+mj-lt"/>
              </a:rPr>
              <a:t>NA</a:t>
            </a:r>
            <a:endParaRPr lang="ru-RU" sz="1400" dirty="0" smtClean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61544" y="4029695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2"/>
                </a:solidFill>
                <a:latin typeface="+mj-lt"/>
              </a:rPr>
              <a:t>NA</a:t>
            </a:r>
            <a:endParaRPr lang="ru-RU" sz="1400" dirty="0" smtClean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50772" y="399891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+mj-lt"/>
              </a:rPr>
              <a:t>1</a:t>
            </a:r>
            <a:endParaRPr lang="ru-RU" sz="1600" dirty="0" smtClean="0">
              <a:latin typeface="+mj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62784" y="4007179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  <a:latin typeface="+mj-lt"/>
              </a:rPr>
              <a:t>no</a:t>
            </a:r>
            <a:endParaRPr lang="ru-RU" sz="1400" dirty="0" smtClean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761544" y="4294903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2"/>
                </a:solidFill>
                <a:latin typeface="+mj-lt"/>
              </a:rPr>
              <a:t>NA</a:t>
            </a:r>
            <a:endParaRPr lang="ru-RU" sz="1400" dirty="0" smtClean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64277" y="3119027"/>
            <a:ext cx="1265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+mj-lt"/>
              </a:rPr>
              <a:t>Load Buffer</a:t>
            </a:r>
            <a:endParaRPr lang="ru-RU" dirty="0" smtClean="0">
              <a:latin typeface="+mj-lt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404212" y="399891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+mj-lt"/>
              </a:rPr>
              <a:t>1</a:t>
            </a:r>
            <a:endParaRPr lang="ru-RU" sz="1600" dirty="0" smtClean="0">
              <a:latin typeface="+mj-lt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550772" y="4273879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+mj-lt"/>
              </a:rPr>
              <a:t>2</a:t>
            </a:r>
            <a:endParaRPr lang="ru-RU" sz="1600" dirty="0" smtClean="0">
              <a:latin typeface="+mj-lt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062784" y="4282140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  <a:latin typeface="+mj-lt"/>
              </a:rPr>
              <a:t>no</a:t>
            </a:r>
            <a:endParaRPr lang="ru-RU" sz="1400" dirty="0" smtClean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404212" y="4273879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+mj-lt"/>
              </a:rPr>
              <a:t>2</a:t>
            </a:r>
            <a:endParaRPr lang="ru-RU" sz="1600" dirty="0" smtClean="0">
              <a:latin typeface="+mj-lt"/>
            </a:endParaRPr>
          </a:p>
        </p:txBody>
      </p:sp>
      <p:sp>
        <p:nvSpPr>
          <p:cNvPr id="59" name="Right Arrow 58"/>
          <p:cNvSpPr/>
          <p:nvPr/>
        </p:nvSpPr>
        <p:spPr bwMode="auto">
          <a:xfrm>
            <a:off x="217352" y="4729943"/>
            <a:ext cx="1613590" cy="422562"/>
          </a:xfrm>
          <a:prstGeom prst="rightArrow">
            <a:avLst/>
          </a:prstGeom>
          <a:solidFill>
            <a:srgbClr val="E7EBF5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>
            <a:outerShdw blurRad="63500" sx="101000" sy="101000" algn="ctr" rotWithShape="0">
              <a:prstClr val="black">
                <a:alpha val="29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600" dirty="0">
                <a:latin typeface="+mj-lt"/>
                <a:cs typeface="Arial" pitchFamily="34" charset="0"/>
              </a:rPr>
              <a:t>o</a:t>
            </a:r>
            <a:r>
              <a:rPr lang="en-US" sz="1600" dirty="0" smtClean="0">
                <a:latin typeface="+mj-lt"/>
                <a:cs typeface="Arial" pitchFamily="34" charset="0"/>
              </a:rPr>
              <a:t>ldest unknown</a:t>
            </a:r>
            <a:endParaRPr lang="ru-RU" sz="1600" dirty="0" smtClean="0">
              <a:latin typeface="+mj-lt"/>
              <a:cs typeface="Arial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626214" y="1487190"/>
            <a:ext cx="1786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address: 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[0x35]</a:t>
            </a:r>
            <a:endParaRPr lang="ru-RU" dirty="0" smtClean="0">
              <a:solidFill>
                <a:schemeClr val="accent4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2626214" y="1770520"/>
            <a:ext cx="1786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address: </a:t>
            </a:r>
            <a:r>
              <a:rPr lang="en-US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[0x01]</a:t>
            </a:r>
            <a:endParaRPr lang="ru-RU" dirty="0" smtClean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2626214" y="2053850"/>
            <a:ext cx="1786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address: </a:t>
            </a:r>
            <a:r>
              <a:rPr lang="en-US" dirty="0" smtClean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[0x25]</a:t>
            </a:r>
            <a:endParaRPr lang="ru-RU" dirty="0" smtClean="0">
              <a:solidFill>
                <a:schemeClr val="accent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626214" y="2337180"/>
            <a:ext cx="1786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address: </a:t>
            </a:r>
            <a:r>
              <a:rPr lang="en-US" dirty="0" smtClean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[0x25]</a:t>
            </a:r>
            <a:endParaRPr lang="ru-RU" dirty="0" smtClean="0">
              <a:solidFill>
                <a:schemeClr val="accent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626214" y="2620511"/>
            <a:ext cx="1786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address: 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[0x35]</a:t>
            </a:r>
            <a:endParaRPr lang="ru-RU" dirty="0" smtClean="0">
              <a:solidFill>
                <a:schemeClr val="accent4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5633694" y="4068167"/>
            <a:ext cx="634790" cy="230832"/>
          </a:xfrm>
          <a:prstGeom prst="rect">
            <a:avLst/>
          </a:prstGeom>
          <a:solidFill>
            <a:srgbClr val="E7EBF5"/>
          </a:solidFill>
        </p:spPr>
        <p:txBody>
          <a:bodyPr wrap="none" lIns="0" tIns="0" rIns="0" bIns="0" anchor="ctr">
            <a:spAutoFit/>
          </a:bodyPr>
          <a:lstStyle/>
          <a:p>
            <a:pPr lvl="0" algn="ctr"/>
            <a:r>
              <a:rPr lang="en-US" sz="15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500" dirty="0" smtClean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0x25</a:t>
            </a:r>
            <a:r>
              <a:rPr lang="en-US" sz="15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lang="ru-RU" sz="1500" dirty="0">
              <a:solidFill>
                <a:srgbClr val="00B0F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2715560" y="4313936"/>
            <a:ext cx="634789" cy="230832"/>
          </a:xfrm>
          <a:prstGeom prst="rect">
            <a:avLst/>
          </a:prstGeom>
          <a:solidFill>
            <a:srgbClr val="E7EBF5"/>
          </a:solidFill>
        </p:spPr>
        <p:txBody>
          <a:bodyPr wrap="none" lIns="0" tIns="0" rIns="0" bIns="0" anchor="ctr">
            <a:spAutoFit/>
          </a:bodyPr>
          <a:lstStyle/>
          <a:p>
            <a:pPr lvl="0" algn="ctr"/>
            <a:r>
              <a:rPr lang="en-US" sz="15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50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0x01]</a:t>
            </a:r>
            <a:endParaRPr lang="ru-RU" sz="15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2715560" y="4586620"/>
            <a:ext cx="634790" cy="230832"/>
          </a:xfrm>
          <a:prstGeom prst="rect">
            <a:avLst/>
          </a:prstGeom>
          <a:solidFill>
            <a:srgbClr val="E7EBF5"/>
          </a:solidFill>
        </p:spPr>
        <p:txBody>
          <a:bodyPr wrap="none" lIns="0" tIns="0" rIns="0" bIns="0" anchor="ctr">
            <a:spAutoFit/>
          </a:bodyPr>
          <a:lstStyle/>
          <a:p>
            <a:pPr lvl="0" algn="ctr"/>
            <a:r>
              <a:rPr lang="en-US" sz="15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500" dirty="0" smtClean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0x25</a:t>
            </a:r>
            <a:r>
              <a:rPr lang="en-US" sz="15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lang="ru-RU" sz="1500" dirty="0">
              <a:solidFill>
                <a:srgbClr val="00B0F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5633384" y="4328605"/>
            <a:ext cx="634789" cy="230832"/>
          </a:xfrm>
          <a:prstGeom prst="rect">
            <a:avLst/>
          </a:prstGeom>
          <a:solidFill>
            <a:srgbClr val="E7EBF5"/>
          </a:solidFill>
        </p:spPr>
        <p:txBody>
          <a:bodyPr wrap="none" lIns="0" tIns="0" rIns="0" bIns="0" anchor="ctr">
            <a:spAutoFit/>
          </a:bodyPr>
          <a:lstStyle/>
          <a:p>
            <a:pPr lvl="0" algn="ctr"/>
            <a:r>
              <a:rPr lang="en-US" sz="1500" dirty="0">
                <a:solidFill>
                  <a:srgbClr val="FFDA00">
                    <a:lumMod val="75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[0x35]</a:t>
            </a:r>
            <a:endParaRPr lang="ru-RU" sz="1500" dirty="0">
              <a:solidFill>
                <a:srgbClr val="FFDA00">
                  <a:lumMod val="75000"/>
                </a:srgb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2718212" y="4054534"/>
            <a:ext cx="634789" cy="230832"/>
          </a:xfrm>
          <a:prstGeom prst="rect">
            <a:avLst/>
          </a:prstGeom>
          <a:solidFill>
            <a:srgbClr val="E7EBF5"/>
          </a:solidFill>
        </p:spPr>
        <p:txBody>
          <a:bodyPr wrap="none" lIns="0" tIns="0" rIns="0" bIns="0" anchor="ctr">
            <a:spAutoFit/>
          </a:bodyPr>
          <a:lstStyle/>
          <a:p>
            <a:pPr lvl="0" algn="ctr"/>
            <a:r>
              <a:rPr lang="en-US" sz="1500" dirty="0">
                <a:solidFill>
                  <a:srgbClr val="FFDA00">
                    <a:lumMod val="75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[0x35]</a:t>
            </a:r>
            <a:endParaRPr lang="ru-RU" sz="1500" dirty="0">
              <a:solidFill>
                <a:srgbClr val="FFDA00">
                  <a:lumMod val="75000"/>
                </a:srgb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2" name="Freeform 81"/>
          <p:cNvSpPr/>
          <p:nvPr/>
        </p:nvSpPr>
        <p:spPr bwMode="auto">
          <a:xfrm>
            <a:off x="5524500" y="1417320"/>
            <a:ext cx="1584960" cy="1447800"/>
          </a:xfrm>
          <a:custGeom>
            <a:avLst/>
            <a:gdLst>
              <a:gd name="connsiteX0" fmla="*/ 0 w 1584960"/>
              <a:gd name="connsiteY0" fmla="*/ 0 h 1447800"/>
              <a:gd name="connsiteX1" fmla="*/ 0 w 1584960"/>
              <a:gd name="connsiteY1" fmla="*/ 1447800 h 1447800"/>
              <a:gd name="connsiteX2" fmla="*/ 1584960 w 1584960"/>
              <a:gd name="connsiteY2" fmla="*/ 1447800 h 1447800"/>
              <a:gd name="connsiteX3" fmla="*/ 1584960 w 1584960"/>
              <a:gd name="connsiteY3" fmla="*/ 434340 h 1447800"/>
              <a:gd name="connsiteX4" fmla="*/ 1043940 w 1584960"/>
              <a:gd name="connsiteY4" fmla="*/ 434340 h 1447800"/>
              <a:gd name="connsiteX5" fmla="*/ 1043940 w 1584960"/>
              <a:gd name="connsiteY5" fmla="*/ 777240 h 1447800"/>
              <a:gd name="connsiteX6" fmla="*/ 388620 w 1584960"/>
              <a:gd name="connsiteY6" fmla="*/ 777240 h 144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4960" h="1447800">
                <a:moveTo>
                  <a:pt x="0" y="0"/>
                </a:moveTo>
                <a:lnTo>
                  <a:pt x="0" y="1447800"/>
                </a:lnTo>
                <a:lnTo>
                  <a:pt x="1584960" y="1447800"/>
                </a:lnTo>
                <a:lnTo>
                  <a:pt x="1584960" y="434340"/>
                </a:lnTo>
                <a:lnTo>
                  <a:pt x="1043940" y="434340"/>
                </a:lnTo>
                <a:lnTo>
                  <a:pt x="1043940" y="777240"/>
                </a:lnTo>
                <a:lnTo>
                  <a:pt x="388620" y="777240"/>
                </a:lnTo>
              </a:path>
            </a:pathLst>
          </a:custGeom>
          <a:noFill/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Freeform 82"/>
          <p:cNvSpPr/>
          <p:nvPr/>
        </p:nvSpPr>
        <p:spPr bwMode="auto">
          <a:xfrm>
            <a:off x="1917470" y="3985260"/>
            <a:ext cx="1661160" cy="7620"/>
          </a:xfrm>
          <a:custGeom>
            <a:avLst/>
            <a:gdLst>
              <a:gd name="connsiteX0" fmla="*/ 0 w 1661160"/>
              <a:gd name="connsiteY0" fmla="*/ 7620 h 7620"/>
              <a:gd name="connsiteX1" fmla="*/ 1661160 w 1661160"/>
              <a:gd name="connsiteY1" fmla="*/ 0 h 7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1160" h="7620">
                <a:moveTo>
                  <a:pt x="0" y="7620"/>
                </a:moveTo>
                <a:lnTo>
                  <a:pt x="1661160" y="0"/>
                </a:lnTo>
              </a:path>
            </a:pathLst>
          </a:custGeom>
          <a:noFill/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5" name="Rectangle 84"/>
          <p:cNvSpPr/>
          <p:nvPr/>
        </p:nvSpPr>
        <p:spPr>
          <a:xfrm>
            <a:off x="5633384" y="4066119"/>
            <a:ext cx="634790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lvl="0" algn="ctr"/>
            <a:r>
              <a:rPr lang="en-US" sz="15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500" dirty="0" smtClean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0x25</a:t>
            </a:r>
            <a:r>
              <a:rPr lang="en-US" sz="15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lang="ru-RU" sz="1500" dirty="0">
              <a:solidFill>
                <a:srgbClr val="00B0F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8129796" y="4066548"/>
            <a:ext cx="255711" cy="230832"/>
          </a:xfrm>
          <a:prstGeom prst="rect">
            <a:avLst/>
          </a:prstGeom>
          <a:solidFill>
            <a:srgbClr val="E7EBF5"/>
          </a:solidFill>
        </p:spPr>
        <p:txBody>
          <a:bodyPr wrap="none" lIns="0" tIns="0" rIns="0" bIns="0" anchor="ctr">
            <a:spAutoFit/>
          </a:bodyPr>
          <a:lstStyle/>
          <a:p>
            <a:pPr lvl="0" algn="ctr"/>
            <a:r>
              <a:rPr lang="en-US" sz="1500" dirty="0" smtClean="0">
                <a:solidFill>
                  <a:srgbClr val="00B050"/>
                </a:solidFill>
                <a:latin typeface="+mj-lt"/>
                <a:cs typeface="Consolas" panose="020B0609020204030204" pitchFamily="49" charset="0"/>
              </a:rPr>
              <a:t>yes</a:t>
            </a:r>
            <a:endParaRPr lang="ru-RU" sz="1500" dirty="0">
              <a:solidFill>
                <a:srgbClr val="00B050"/>
              </a:solidFill>
              <a:latin typeface="+mj-lt"/>
              <a:cs typeface="Consolas" panose="020B0609020204030204" pitchFamily="49" charset="0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5633383" y="4329645"/>
            <a:ext cx="634789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lvl="0" algn="ctr"/>
            <a:r>
              <a:rPr lang="en-US" sz="1500" dirty="0">
                <a:solidFill>
                  <a:srgbClr val="FFDA00">
                    <a:lumMod val="75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[0x35]</a:t>
            </a:r>
            <a:endParaRPr lang="ru-RU" sz="1500" dirty="0">
              <a:solidFill>
                <a:srgbClr val="FFDA00">
                  <a:lumMod val="75000"/>
                </a:srgb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7499749" y="4328605"/>
            <a:ext cx="97784" cy="230832"/>
          </a:xfrm>
          <a:prstGeom prst="rect">
            <a:avLst/>
          </a:prstGeom>
          <a:solidFill>
            <a:srgbClr val="E7EBF5"/>
          </a:solidFill>
        </p:spPr>
        <p:txBody>
          <a:bodyPr wrap="none" lIns="0" tIns="0" rIns="0" bIns="0" anchor="ctr">
            <a:spAutoFit/>
          </a:bodyPr>
          <a:lstStyle/>
          <a:p>
            <a:pPr lvl="0" algn="ctr"/>
            <a:r>
              <a:rPr lang="en-US" sz="1500" b="1" dirty="0" smtClean="0">
                <a:latin typeface="+mj-lt"/>
                <a:cs typeface="Consolas" panose="020B0609020204030204" pitchFamily="49" charset="0"/>
              </a:rPr>
              <a:t>0</a:t>
            </a:r>
            <a:endParaRPr lang="ru-RU" sz="1500" b="1" dirty="0">
              <a:latin typeface="+mj-lt"/>
              <a:cs typeface="Consolas" panose="020B0609020204030204" pitchFamily="49" charset="0"/>
            </a:endParaRPr>
          </a:p>
        </p:txBody>
      </p:sp>
      <p:graphicFrame>
        <p:nvGraphicFramePr>
          <p:cNvPr id="60" name="Table 59"/>
          <p:cNvGraphicFramePr>
            <a:graphicFrameLocks noGrp="1"/>
          </p:cNvGraphicFramePr>
          <p:nvPr>
            <p:extLst/>
          </p:nvPr>
        </p:nvGraphicFramePr>
        <p:xfrm>
          <a:off x="3375855" y="3752590"/>
          <a:ext cx="660400" cy="1889776"/>
        </p:xfrm>
        <a:graphic>
          <a:graphicData uri="http://schemas.openxmlformats.org/drawingml/2006/table">
            <a:tbl>
              <a:tblPr firstRow="1">
                <a:effectLst/>
                <a:tableStyleId>{5C22544A-7EE6-4342-B048-85BDC9FD1C3A}</a:tableStyleId>
              </a:tblPr>
              <a:tblGrid>
                <a:gridCol w="660400"/>
              </a:tblGrid>
              <a:tr h="26996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smtClean="0">
                          <a:latin typeface="+mj-lt"/>
                        </a:rPr>
                        <a:t>Data</a:t>
                      </a:r>
                      <a:endParaRPr lang="ru-RU" sz="1400" b="0" dirty="0" smtClean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62" name="TextBox 61"/>
          <p:cNvSpPr txBox="1"/>
          <p:nvPr/>
        </p:nvSpPr>
        <p:spPr>
          <a:xfrm>
            <a:off x="4364670" y="1487190"/>
            <a:ext cx="1282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data: </a:t>
            </a:r>
            <a:r>
              <a:rPr lang="en-US" dirty="0" smtClean="0">
                <a:solidFill>
                  <a:srgbClr val="FF0000"/>
                </a:solidFill>
                <a:latin typeface="+mj-lt"/>
              </a:rPr>
              <a:t>0x100</a:t>
            </a:r>
            <a:endParaRPr lang="ru-RU" dirty="0" smtClean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442376" y="4046201"/>
            <a:ext cx="528991" cy="230832"/>
          </a:xfrm>
          <a:prstGeom prst="rect">
            <a:avLst/>
          </a:prstGeom>
          <a:solidFill>
            <a:srgbClr val="E7EBF5"/>
          </a:solidFill>
        </p:spPr>
        <p:txBody>
          <a:bodyPr wrap="none" lIns="0" tIns="0" rIns="0" bIns="0" anchor="ctr">
            <a:spAutoFit/>
          </a:bodyPr>
          <a:lstStyle/>
          <a:p>
            <a:pPr lvl="0" algn="ctr"/>
            <a:r>
              <a:rPr lang="en-US" sz="15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0x100</a:t>
            </a:r>
            <a:endParaRPr lang="ru-RU" sz="15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72888" y="3989070"/>
            <a:ext cx="49167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(1) </a:t>
            </a:r>
            <a:endParaRPr lang="ru-RU" sz="1400" dirty="0"/>
          </a:p>
        </p:txBody>
      </p:sp>
      <p:sp>
        <p:nvSpPr>
          <p:cNvPr id="68" name="Rectangle 67"/>
          <p:cNvSpPr/>
          <p:nvPr/>
        </p:nvSpPr>
        <p:spPr>
          <a:xfrm>
            <a:off x="8129796" y="4314082"/>
            <a:ext cx="255711" cy="230832"/>
          </a:xfrm>
          <a:prstGeom prst="rect">
            <a:avLst/>
          </a:prstGeom>
          <a:solidFill>
            <a:srgbClr val="E7EBF5"/>
          </a:solidFill>
        </p:spPr>
        <p:txBody>
          <a:bodyPr wrap="none" lIns="0" tIns="0" rIns="0" bIns="0" anchor="ctr">
            <a:spAutoFit/>
          </a:bodyPr>
          <a:lstStyle/>
          <a:p>
            <a:pPr lvl="0" algn="ctr"/>
            <a:r>
              <a:rPr lang="en-US" sz="1500" dirty="0" smtClean="0">
                <a:solidFill>
                  <a:srgbClr val="00B050"/>
                </a:solidFill>
                <a:latin typeface="+mj-lt"/>
                <a:cs typeface="Consolas" panose="020B0609020204030204" pitchFamily="49" charset="0"/>
              </a:rPr>
              <a:t>yes</a:t>
            </a:r>
            <a:endParaRPr lang="ru-RU" sz="1500" dirty="0">
              <a:solidFill>
                <a:srgbClr val="00B050"/>
              </a:solidFill>
              <a:latin typeface="+mj-lt"/>
              <a:cs typeface="Consolas" panose="020B0609020204030204" pitchFamily="49" charset="0"/>
            </a:endParaRPr>
          </a:p>
        </p:txBody>
      </p:sp>
      <p:grpSp>
        <p:nvGrpSpPr>
          <p:cNvPr id="64" name="Group 63"/>
          <p:cNvGrpSpPr/>
          <p:nvPr/>
        </p:nvGrpSpPr>
        <p:grpSpPr>
          <a:xfrm rot="922656">
            <a:off x="7356325" y="4243466"/>
            <a:ext cx="417585" cy="417585"/>
            <a:chOff x="7086600" y="3613666"/>
            <a:chExt cx="533400" cy="533400"/>
          </a:xfrm>
        </p:grpSpPr>
        <p:sp>
          <p:nvSpPr>
            <p:cNvPr id="66" name="Explosion 2 65"/>
            <p:cNvSpPr/>
            <p:nvPr/>
          </p:nvSpPr>
          <p:spPr>
            <a:xfrm rot="1911934">
              <a:off x="7086600" y="3613666"/>
              <a:ext cx="533400" cy="533400"/>
            </a:xfrm>
            <a:prstGeom prst="irregularSeal2">
              <a:avLst/>
            </a:prstGeom>
            <a:gradFill rotWithShape="1">
              <a:gsLst>
                <a:gs pos="0">
                  <a:srgbClr val="9BBB59">
                    <a:shade val="51000"/>
                    <a:satMod val="130000"/>
                  </a:srgbClr>
                </a:gs>
                <a:gs pos="80000">
                  <a:srgbClr val="9BBB59">
                    <a:shade val="93000"/>
                    <a:satMod val="130000"/>
                  </a:srgbClr>
                </a:gs>
                <a:gs pos="100000">
                  <a:srgbClr val="9BBB59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 rot="20664369">
              <a:off x="7091961" y="3670007"/>
              <a:ext cx="3818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+mn-cs"/>
                </a:rPr>
                <a:t>hit</a:t>
              </a:r>
              <a:endParaRPr kumimoji="0" lang="ru-RU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7591828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6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709 -0.01551 L 0.05035 -0.05973 L 0.08056 -0.10487 L 0.12604 -0.14375 L 0.19115 -0.16459 L 0.2533 -0.17084 L 0.30469 -0.15926 L 0.34445 -0.12963 L 0.35816 -0.09723 L 0.36094 -0.05579 L 0.36493 -0.01829 L 0.36788 0.0206 L 0.3658 0.04791 " pathEditMode="relative" ptsTypes="AAAAAAAAAAAAAA">
                                      <p:cBhvr>
                                        <p:cTn id="27" dur="2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2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4.07407E-6 L 0.07934 0.00324 " pathEditMode="relative" rAng="0" ptsTypes="AA">
                                      <p:cBhvr>
                                        <p:cTn id="38" dur="11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58" y="162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62" grpId="0"/>
      <p:bldP spid="62" grpId="1"/>
      <p:bldP spid="63" grpId="0" animBg="1"/>
      <p:bldP spid="63" grpId="1" animBg="1"/>
      <p:bldP spid="3" grpId="0"/>
      <p:bldP spid="3" grpId="1"/>
      <p:bldP spid="3" grpId="2"/>
      <p:bldP spid="6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MD speculation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kern="1200" dirty="0" smtClean="0">
                <a:solidFill>
                  <a:sysClr val="windowText" lastClr="000000"/>
                </a:solidFill>
                <a:cs typeface="Arial" charset="0"/>
              </a:rPr>
              <a:t>Load waits if </a:t>
            </a:r>
            <a:r>
              <a:rPr lang="en-US" kern="1200" dirty="0">
                <a:solidFill>
                  <a:sysClr val="windowText" lastClr="000000"/>
                </a:solidFill>
                <a:cs typeface="Arial" charset="0"/>
              </a:rPr>
              <a:t>there is some </a:t>
            </a:r>
            <a:r>
              <a:rPr lang="en-US" b="1" kern="1200" dirty="0">
                <a:solidFill>
                  <a:sysClr val="windowText" lastClr="000000"/>
                </a:solidFill>
                <a:cs typeface="Arial" charset="0"/>
              </a:rPr>
              <a:t>older </a:t>
            </a:r>
            <a:r>
              <a:rPr lang="en-US" b="1" kern="1200" dirty="0" smtClean="0">
                <a:solidFill>
                  <a:sysClr val="windowText" lastClr="000000"/>
                </a:solidFill>
                <a:cs typeface="Arial" charset="0"/>
              </a:rPr>
              <a:t>STA</a:t>
            </a:r>
            <a:r>
              <a:rPr lang="en-US" kern="1200" dirty="0" smtClean="0">
                <a:solidFill>
                  <a:sysClr val="windowText" lastClr="000000"/>
                </a:solidFill>
                <a:cs typeface="Arial" charset="0"/>
              </a:rPr>
              <a:t> </a:t>
            </a:r>
            <a:r>
              <a:rPr lang="en-US" kern="1200" dirty="0">
                <a:solidFill>
                  <a:sysClr val="windowText" lastClr="000000"/>
                </a:solidFill>
                <a:cs typeface="Arial" charset="0"/>
              </a:rPr>
              <a:t>with not calculated </a:t>
            </a:r>
            <a:r>
              <a:rPr lang="en-US" kern="1200" dirty="0" smtClean="0">
                <a:solidFill>
                  <a:sysClr val="windowText" lastClr="000000"/>
                </a:solidFill>
                <a:cs typeface="Arial" charset="0"/>
              </a:rPr>
              <a:t>address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kern="1200" dirty="0" smtClean="0">
                <a:solidFill>
                  <a:sysClr val="windowText" lastClr="000000"/>
                </a:solidFill>
                <a:cs typeface="Arial" charset="0"/>
              </a:rPr>
              <a:t>Can we make it faster? Yes, if load was dispatched speculatively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kern="1200" dirty="0" smtClean="0">
                <a:solidFill>
                  <a:sysClr val="windowText" lastClr="000000"/>
                </a:solidFill>
                <a:cs typeface="Arial" charset="0"/>
              </a:rPr>
              <a:t>When STA is ready, perform check of all ‘skipped’ loads</a:t>
            </a:r>
            <a:endParaRPr lang="en-US" kern="1200" dirty="0">
              <a:solidFill>
                <a:sysClr val="windowText" lastClr="000000"/>
              </a:solidFill>
              <a:cs typeface="Arial" charset="0"/>
            </a:endParaRPr>
          </a:p>
          <a:p>
            <a:endParaRPr lang="ru-RU" dirty="0"/>
          </a:p>
        </p:txBody>
      </p:sp>
      <p:sp>
        <p:nvSpPr>
          <p:cNvPr id="4" name="Rectangle 3"/>
          <p:cNvSpPr/>
          <p:nvPr/>
        </p:nvSpPr>
        <p:spPr bwMode="auto">
          <a:xfrm>
            <a:off x="3620429" y="1992352"/>
            <a:ext cx="5063196" cy="661639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dirty="0" smtClean="0"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8333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/>
          <p:cNvSpPr/>
          <p:nvPr/>
        </p:nvSpPr>
        <p:spPr>
          <a:xfrm>
            <a:off x="454025" y="2608118"/>
            <a:ext cx="2069797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rgbClr val="78403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(5) </a:t>
            </a:r>
            <a:r>
              <a:rPr lang="en-US" sz="1600" b="1" dirty="0" smtClean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 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Mem[r5]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4025" y="2327886"/>
            <a:ext cx="1957587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rgbClr val="D21E1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(4) </a:t>
            </a:r>
            <a:r>
              <a:rPr lang="en-US" sz="1600" dirty="0" err="1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[r4] 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…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5368925" y="3505200"/>
          <a:ext cx="3603625" cy="2695525"/>
        </p:xfrm>
        <a:graphic>
          <a:graphicData uri="http://schemas.openxmlformats.org/drawingml/2006/table">
            <a:tbl>
              <a:tblPr firstRow="1">
                <a:effectLst/>
                <a:tableStyleId>{5C22544A-7EE6-4342-B048-85BDC9FD1C3A}</a:tableStyleId>
              </a:tblPr>
              <a:tblGrid>
                <a:gridCol w="225536"/>
                <a:gridCol w="682514"/>
                <a:gridCol w="762000"/>
                <a:gridCol w="733425"/>
                <a:gridCol w="609600"/>
                <a:gridCol w="590550"/>
              </a:tblGrid>
              <a:tr h="535781">
                <a:tc>
                  <a:txBody>
                    <a:bodyPr/>
                    <a:lstStyle/>
                    <a:p>
                      <a:pPr algn="ctr"/>
                      <a:endParaRPr lang="ru-RU" sz="1600" b="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smtClean="0">
                          <a:latin typeface="+mj-lt"/>
                        </a:rPr>
                        <a:t>Address</a:t>
                      </a:r>
                      <a:endParaRPr lang="ru-RU" sz="1400" b="0" dirty="0" smtClean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smtClean="0">
                          <a:latin typeface="+mj-lt"/>
                        </a:rPr>
                        <a:t>Previous</a:t>
                      </a:r>
                      <a:r>
                        <a:rPr lang="en-US" sz="1400" b="0" baseline="0" dirty="0" smtClean="0">
                          <a:latin typeface="+mj-lt"/>
                        </a:rPr>
                        <a:t> store</a:t>
                      </a:r>
                      <a:endParaRPr lang="ru-RU" sz="1400" b="0" dirty="0" smtClean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smtClean="0">
                          <a:latin typeface="+mj-lt"/>
                        </a:rPr>
                        <a:t>Waiting</a:t>
                      </a:r>
                      <a:r>
                        <a:rPr lang="en-US" sz="1400" b="0" baseline="0" dirty="0" smtClean="0">
                          <a:latin typeface="+mj-lt"/>
                        </a:rPr>
                        <a:t> store</a:t>
                      </a:r>
                      <a:endParaRPr lang="ru-RU" sz="1400" b="0" dirty="0" smtClean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smtClean="0">
                          <a:latin typeface="+mj-lt"/>
                        </a:rPr>
                        <a:t>Ready?</a:t>
                      </a:r>
                      <a:endParaRPr lang="ru-RU" sz="1400" b="0" dirty="0" smtClean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smtClean="0">
                          <a:latin typeface="+mj-lt"/>
                        </a:rPr>
                        <a:t>OK?</a:t>
                      </a:r>
                      <a:endParaRPr lang="ru-RU" sz="1400" b="0" dirty="0" smtClean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0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1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2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3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4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5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…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M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43" name="Rectangle 42"/>
          <p:cNvSpPr/>
          <p:nvPr/>
        </p:nvSpPr>
        <p:spPr>
          <a:xfrm>
            <a:off x="454025" y="2047654"/>
            <a:ext cx="2069797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(3)  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 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[r3]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4025" y="1767422"/>
            <a:ext cx="1957587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(2) </a:t>
            </a:r>
            <a:r>
              <a:rPr lang="en-US" sz="1600" dirty="0" err="1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[r2] 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4025" y="1487190"/>
            <a:ext cx="1957587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(1) </a:t>
            </a:r>
            <a:r>
              <a:rPr lang="en-US" sz="1600" dirty="0" err="1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[r1] 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 …</a:t>
            </a:r>
            <a:endParaRPr lang="en-US" sz="1600" dirty="0">
              <a:solidFill>
                <a:srgbClr val="06192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234335" y="3756501"/>
          <a:ext cx="1127351" cy="1889776"/>
        </p:xfrm>
        <a:graphic>
          <a:graphicData uri="http://schemas.openxmlformats.org/drawingml/2006/table">
            <a:tbl>
              <a:tblPr firstRow="1">
                <a:effectLst/>
                <a:tableStyleId>{5C22544A-7EE6-4342-B048-85BDC9FD1C3A}</a:tableStyleId>
              </a:tblPr>
              <a:tblGrid>
                <a:gridCol w="466951"/>
                <a:gridCol w="660400"/>
              </a:tblGrid>
              <a:tr h="269968">
                <a:tc>
                  <a:txBody>
                    <a:bodyPr/>
                    <a:lstStyle/>
                    <a:p>
                      <a:pPr algn="ctr"/>
                      <a:endParaRPr lang="ru-RU" sz="1600" b="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smtClean="0">
                          <a:latin typeface="+mj-lt"/>
                        </a:rPr>
                        <a:t>Address</a:t>
                      </a:r>
                      <a:endParaRPr lang="ru-RU" sz="1400" b="0" dirty="0" smtClean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0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1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2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3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…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+mj-lt"/>
                        </a:rPr>
                        <a:t>N</a:t>
                      </a:r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377089" y="3357177"/>
            <a:ext cx="1307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Store Buffer</a:t>
            </a:r>
            <a:endParaRPr lang="ru-RU" dirty="0" smtClean="0">
              <a:latin typeface="+mj-lt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54025" y="2888350"/>
            <a:ext cx="40908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4025" y="1206958"/>
            <a:ext cx="5209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 smtClean="0">
                <a:solidFill>
                  <a:sysClr val="windowText" lastClr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…</a:t>
            </a:r>
            <a:endParaRPr lang="en-US" sz="1600" dirty="0">
              <a:solidFill>
                <a:sysClr val="windowText" lastClr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54025" y="1487190"/>
            <a:ext cx="195758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(1) </a:t>
            </a:r>
            <a:r>
              <a:rPr lang="en-US" sz="1600" dirty="0" err="1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[r1] 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 …</a:t>
            </a:r>
            <a:endParaRPr lang="en-US" sz="1600" dirty="0">
              <a:solidFill>
                <a:srgbClr val="06192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54025" y="1767422"/>
            <a:ext cx="195758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(2) </a:t>
            </a:r>
            <a:r>
              <a:rPr lang="en-US" sz="1600" dirty="0" err="1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[r2] 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4025" y="2047654"/>
            <a:ext cx="206979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(3)  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 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[r3]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4025" y="2327886"/>
            <a:ext cx="195758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>
                <a:solidFill>
                  <a:srgbClr val="D21E1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(4) </a:t>
            </a:r>
            <a:r>
              <a:rPr lang="en-US" sz="1600" dirty="0" err="1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[r4] 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600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…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SB and LB </a:t>
            </a:r>
            <a:r>
              <a:rPr lang="en-US" dirty="0" smtClean="0"/>
              <a:t>Operation: speculation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297379" y="867001"/>
            <a:ext cx="13236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+mj-lt"/>
              </a:rPr>
              <a:t>Example:</a:t>
            </a:r>
            <a:endParaRPr lang="ru-RU" sz="2400" dirty="0" smtClean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20782" y="3968140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(1) </a:t>
            </a:r>
            <a:endParaRPr lang="ru-RU" dirty="0"/>
          </a:p>
        </p:txBody>
      </p:sp>
      <p:sp>
        <p:nvSpPr>
          <p:cNvPr id="9" name="Rectangle 8"/>
          <p:cNvSpPr/>
          <p:nvPr/>
        </p:nvSpPr>
        <p:spPr>
          <a:xfrm>
            <a:off x="1830942" y="4243399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(2) </a:t>
            </a:r>
            <a:endParaRPr lang="ru-RU" dirty="0"/>
          </a:p>
        </p:txBody>
      </p:sp>
      <p:sp>
        <p:nvSpPr>
          <p:cNvPr id="11" name="Rectangle 10"/>
          <p:cNvSpPr/>
          <p:nvPr/>
        </p:nvSpPr>
        <p:spPr>
          <a:xfrm>
            <a:off x="1830942" y="4518658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D21E1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(4) </a:t>
            </a:r>
            <a:endParaRPr lang="ru-RU" dirty="0"/>
          </a:p>
        </p:txBody>
      </p:sp>
      <p:sp>
        <p:nvSpPr>
          <p:cNvPr id="12" name="Rectangle 11"/>
          <p:cNvSpPr/>
          <p:nvPr/>
        </p:nvSpPr>
        <p:spPr>
          <a:xfrm>
            <a:off x="4912192" y="3982241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(3) </a:t>
            </a:r>
            <a:endParaRPr lang="ru-RU" dirty="0"/>
          </a:p>
        </p:txBody>
      </p:sp>
      <p:sp>
        <p:nvSpPr>
          <p:cNvPr id="13" name="Rectangle 12"/>
          <p:cNvSpPr/>
          <p:nvPr/>
        </p:nvSpPr>
        <p:spPr>
          <a:xfrm>
            <a:off x="4912192" y="4243399"/>
            <a:ext cx="5645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78403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(5)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2828911" y="400718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2"/>
                </a:solidFill>
                <a:latin typeface="+mj-lt"/>
              </a:rPr>
              <a:t>NA</a:t>
            </a:r>
            <a:endParaRPr lang="ru-RU" sz="1400" dirty="0" smtClean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28911" y="4274176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2"/>
                </a:solidFill>
                <a:latin typeface="+mj-lt"/>
              </a:rPr>
              <a:t>NA</a:t>
            </a:r>
            <a:endParaRPr lang="ru-RU" sz="1400" dirty="0" smtClean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28911" y="4549435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2"/>
                </a:solidFill>
                <a:latin typeface="+mj-lt"/>
              </a:rPr>
              <a:t>NA</a:t>
            </a:r>
            <a:endParaRPr lang="ru-RU" sz="1400" dirty="0" smtClean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61544" y="4029695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2"/>
                </a:solidFill>
                <a:latin typeface="+mj-lt"/>
              </a:rPr>
              <a:t>NA</a:t>
            </a:r>
            <a:endParaRPr lang="ru-RU" sz="1400" dirty="0" smtClean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50772" y="399891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+mj-lt"/>
              </a:rPr>
              <a:t>1</a:t>
            </a:r>
            <a:endParaRPr lang="ru-RU" sz="1600" dirty="0" smtClean="0">
              <a:latin typeface="+mj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98484" y="3999215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  <a:latin typeface="+mj-lt"/>
              </a:rPr>
              <a:t>no</a:t>
            </a:r>
            <a:endParaRPr lang="ru-RU" sz="1400" dirty="0" smtClean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761544" y="4294903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2"/>
                </a:solidFill>
                <a:latin typeface="+mj-lt"/>
              </a:rPr>
              <a:t>NA</a:t>
            </a:r>
            <a:endParaRPr lang="ru-RU" sz="1400" dirty="0" smtClean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64277" y="3119027"/>
            <a:ext cx="1265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+mj-lt"/>
              </a:rPr>
              <a:t>Load Buffer</a:t>
            </a:r>
            <a:endParaRPr lang="ru-RU" dirty="0" smtClean="0">
              <a:latin typeface="+mj-lt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192693" y="3998918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+mj-lt"/>
              </a:rPr>
              <a:t>1</a:t>
            </a:r>
            <a:endParaRPr lang="ru-RU" sz="1600" dirty="0" smtClean="0">
              <a:latin typeface="+mj-lt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550772" y="4273879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+mj-lt"/>
              </a:rPr>
              <a:t>2</a:t>
            </a:r>
            <a:endParaRPr lang="ru-RU" sz="1600" dirty="0" smtClean="0">
              <a:latin typeface="+mj-lt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798484" y="4274176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  <a:latin typeface="+mj-lt"/>
              </a:rPr>
              <a:t>no</a:t>
            </a:r>
            <a:endParaRPr lang="ru-RU" sz="1400" dirty="0" smtClean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203837" y="426412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+mj-lt"/>
              </a:rPr>
              <a:t>2</a:t>
            </a:r>
            <a:endParaRPr lang="ru-RU" sz="1600" dirty="0" smtClean="0">
              <a:latin typeface="+mj-lt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626214" y="1487190"/>
            <a:ext cx="1786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address: 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[0x35]</a:t>
            </a:r>
            <a:endParaRPr lang="ru-RU" dirty="0" smtClean="0">
              <a:solidFill>
                <a:schemeClr val="accent4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2626214" y="1770520"/>
            <a:ext cx="1786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address: </a:t>
            </a:r>
            <a:r>
              <a:rPr lang="en-US" dirty="0" smtClean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[0x01]</a:t>
            </a:r>
            <a:endParaRPr lang="ru-RU" dirty="0" smtClean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2626214" y="2053850"/>
            <a:ext cx="1786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address: </a:t>
            </a:r>
            <a:r>
              <a:rPr lang="en-US" dirty="0" smtClean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[0x25]</a:t>
            </a:r>
            <a:endParaRPr lang="ru-RU" dirty="0" smtClean="0">
              <a:solidFill>
                <a:schemeClr val="accent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626214" y="2337180"/>
            <a:ext cx="1786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address: </a:t>
            </a:r>
            <a:r>
              <a:rPr lang="en-US" dirty="0" smtClean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[0x25]</a:t>
            </a:r>
            <a:endParaRPr lang="ru-RU" dirty="0" smtClean="0">
              <a:solidFill>
                <a:schemeClr val="accent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626214" y="2620511"/>
            <a:ext cx="1786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address: </a:t>
            </a:r>
            <a:r>
              <a:rPr lang="en-US" dirty="0" smtClean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[0x35]</a:t>
            </a:r>
            <a:endParaRPr lang="ru-RU" dirty="0" smtClean="0">
              <a:solidFill>
                <a:schemeClr val="accent4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2715560" y="4313936"/>
            <a:ext cx="634789" cy="230832"/>
          </a:xfrm>
          <a:prstGeom prst="rect">
            <a:avLst/>
          </a:prstGeom>
          <a:solidFill>
            <a:srgbClr val="E7EBF5"/>
          </a:solidFill>
        </p:spPr>
        <p:txBody>
          <a:bodyPr wrap="none" lIns="0" tIns="0" rIns="0" bIns="0" anchor="ctr">
            <a:spAutoFit/>
          </a:bodyPr>
          <a:lstStyle/>
          <a:p>
            <a:pPr lvl="0" algn="ctr"/>
            <a:r>
              <a:rPr lang="en-US" sz="15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50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0x01]</a:t>
            </a:r>
            <a:endParaRPr lang="ru-RU" sz="15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2715560" y="4586620"/>
            <a:ext cx="634790" cy="230832"/>
          </a:xfrm>
          <a:prstGeom prst="rect">
            <a:avLst/>
          </a:prstGeom>
          <a:solidFill>
            <a:srgbClr val="E7EBF5"/>
          </a:solidFill>
        </p:spPr>
        <p:txBody>
          <a:bodyPr wrap="none" lIns="0" tIns="0" rIns="0" bIns="0" anchor="ctr">
            <a:spAutoFit/>
          </a:bodyPr>
          <a:lstStyle/>
          <a:p>
            <a:pPr lvl="0" algn="ctr"/>
            <a:r>
              <a:rPr lang="en-US" sz="15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500" dirty="0" smtClean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0x25</a:t>
            </a:r>
            <a:r>
              <a:rPr lang="en-US" sz="15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lang="ru-RU" sz="1500" dirty="0">
              <a:solidFill>
                <a:srgbClr val="00B0F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2718212" y="4054534"/>
            <a:ext cx="634789" cy="230832"/>
          </a:xfrm>
          <a:prstGeom prst="rect">
            <a:avLst/>
          </a:prstGeom>
          <a:solidFill>
            <a:srgbClr val="E7EBF5"/>
          </a:solidFill>
        </p:spPr>
        <p:txBody>
          <a:bodyPr wrap="none" lIns="0" tIns="0" rIns="0" bIns="0" anchor="ctr">
            <a:spAutoFit/>
          </a:bodyPr>
          <a:lstStyle/>
          <a:p>
            <a:pPr lvl="0" algn="ctr"/>
            <a:r>
              <a:rPr lang="en-US" sz="1500" dirty="0">
                <a:solidFill>
                  <a:srgbClr val="FFDA00">
                    <a:lumMod val="75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[0x35]</a:t>
            </a:r>
            <a:endParaRPr lang="ru-RU" sz="1500" dirty="0">
              <a:solidFill>
                <a:srgbClr val="FFDA00">
                  <a:lumMod val="75000"/>
                </a:srgb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3" name="Freeform 82"/>
          <p:cNvSpPr/>
          <p:nvPr/>
        </p:nvSpPr>
        <p:spPr bwMode="auto">
          <a:xfrm>
            <a:off x="1917470" y="3985260"/>
            <a:ext cx="1661160" cy="7620"/>
          </a:xfrm>
          <a:custGeom>
            <a:avLst/>
            <a:gdLst>
              <a:gd name="connsiteX0" fmla="*/ 0 w 1661160"/>
              <a:gd name="connsiteY0" fmla="*/ 7620 h 7620"/>
              <a:gd name="connsiteX1" fmla="*/ 1661160 w 1661160"/>
              <a:gd name="connsiteY1" fmla="*/ 0 h 7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1160" h="7620">
                <a:moveTo>
                  <a:pt x="0" y="7620"/>
                </a:moveTo>
                <a:lnTo>
                  <a:pt x="1661160" y="0"/>
                </a:lnTo>
              </a:path>
            </a:pathLst>
          </a:custGeom>
          <a:noFill/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5" name="Rectangle 84"/>
          <p:cNvSpPr/>
          <p:nvPr/>
        </p:nvSpPr>
        <p:spPr>
          <a:xfrm>
            <a:off x="5633693" y="4039055"/>
            <a:ext cx="634790" cy="2308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lIns="0" tIns="0" rIns="0" bIns="0" anchor="ctr">
            <a:spAutoFit/>
          </a:bodyPr>
          <a:lstStyle/>
          <a:p>
            <a:pPr lvl="0" algn="ctr"/>
            <a:r>
              <a:rPr lang="en-US" sz="15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500" dirty="0" smtClean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0x25</a:t>
            </a:r>
            <a:r>
              <a:rPr lang="en-US" sz="1500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lang="ru-RU" sz="1500" dirty="0">
              <a:solidFill>
                <a:srgbClr val="00B0F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7865496" y="4058584"/>
            <a:ext cx="255711" cy="230832"/>
          </a:xfrm>
          <a:prstGeom prst="rect">
            <a:avLst/>
          </a:prstGeom>
          <a:solidFill>
            <a:srgbClr val="E7EBF5"/>
          </a:solidFill>
        </p:spPr>
        <p:txBody>
          <a:bodyPr wrap="none" lIns="0" tIns="0" rIns="0" bIns="0" anchor="ctr">
            <a:spAutoFit/>
          </a:bodyPr>
          <a:lstStyle/>
          <a:p>
            <a:pPr lvl="0" algn="ctr"/>
            <a:r>
              <a:rPr lang="en-US" sz="1500" dirty="0" smtClean="0">
                <a:solidFill>
                  <a:srgbClr val="00B050"/>
                </a:solidFill>
                <a:latin typeface="+mj-lt"/>
                <a:cs typeface="Consolas" panose="020B0609020204030204" pitchFamily="49" charset="0"/>
              </a:rPr>
              <a:t>yes</a:t>
            </a:r>
            <a:endParaRPr lang="ru-RU" sz="1500" dirty="0">
              <a:solidFill>
                <a:srgbClr val="00B050"/>
              </a:solidFill>
              <a:latin typeface="+mj-lt"/>
              <a:cs typeface="Consolas" panose="020B0609020204030204" pitchFamily="49" charset="0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5616108" y="4327740"/>
            <a:ext cx="634789" cy="2308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lIns="0" tIns="0" rIns="0" bIns="0" anchor="ctr">
            <a:spAutoFit/>
          </a:bodyPr>
          <a:lstStyle/>
          <a:p>
            <a:pPr lvl="0" algn="ctr"/>
            <a:r>
              <a:rPr lang="en-US" sz="1500" dirty="0">
                <a:solidFill>
                  <a:srgbClr val="FFDA00">
                    <a:lumMod val="75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[0x35]</a:t>
            </a:r>
            <a:endParaRPr lang="ru-RU" sz="1500" dirty="0">
              <a:solidFill>
                <a:srgbClr val="FFDA00">
                  <a:lumMod val="75000"/>
                </a:srgb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60" name="Table 59"/>
          <p:cNvGraphicFramePr>
            <a:graphicFrameLocks noGrp="1"/>
          </p:cNvGraphicFramePr>
          <p:nvPr>
            <p:extLst/>
          </p:nvPr>
        </p:nvGraphicFramePr>
        <p:xfrm>
          <a:off x="3375855" y="3752590"/>
          <a:ext cx="660400" cy="1889776"/>
        </p:xfrm>
        <a:graphic>
          <a:graphicData uri="http://schemas.openxmlformats.org/drawingml/2006/table">
            <a:tbl>
              <a:tblPr firstRow="1">
                <a:effectLst/>
                <a:tableStyleId>{5C22544A-7EE6-4342-B048-85BDC9FD1C3A}</a:tableStyleId>
              </a:tblPr>
              <a:tblGrid>
                <a:gridCol w="660400"/>
              </a:tblGrid>
              <a:tr h="26996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smtClean="0">
                          <a:latin typeface="+mj-lt"/>
                        </a:rPr>
                        <a:t>Data</a:t>
                      </a:r>
                      <a:endParaRPr lang="ru-RU" sz="1400" b="0" dirty="0" smtClean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269968">
                <a:tc>
                  <a:txBody>
                    <a:bodyPr/>
                    <a:lstStyle/>
                    <a:p>
                      <a:pPr algn="ctr"/>
                      <a:endParaRPr lang="ru-RU" sz="16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68" name="Rectangle 67"/>
          <p:cNvSpPr/>
          <p:nvPr/>
        </p:nvSpPr>
        <p:spPr>
          <a:xfrm>
            <a:off x="7865496" y="4306118"/>
            <a:ext cx="255711" cy="230832"/>
          </a:xfrm>
          <a:prstGeom prst="rect">
            <a:avLst/>
          </a:prstGeom>
          <a:solidFill>
            <a:srgbClr val="E7EBF5"/>
          </a:solidFill>
        </p:spPr>
        <p:txBody>
          <a:bodyPr wrap="none" lIns="0" tIns="0" rIns="0" bIns="0" anchor="ctr">
            <a:spAutoFit/>
          </a:bodyPr>
          <a:lstStyle/>
          <a:p>
            <a:pPr lvl="0" algn="ctr"/>
            <a:r>
              <a:rPr lang="en-US" sz="1500" dirty="0" smtClean="0">
                <a:solidFill>
                  <a:srgbClr val="00B050"/>
                </a:solidFill>
                <a:latin typeface="+mj-lt"/>
                <a:cs typeface="Consolas" panose="020B0609020204030204" pitchFamily="49" charset="0"/>
              </a:rPr>
              <a:t>yes</a:t>
            </a:r>
            <a:endParaRPr lang="ru-RU" sz="1500" dirty="0">
              <a:solidFill>
                <a:srgbClr val="00B050"/>
              </a:solidFill>
              <a:latin typeface="+mj-lt"/>
              <a:cs typeface="Consolas" panose="020B0609020204030204" pitchFamily="49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454025" y="2909822"/>
            <a:ext cx="2069797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(6) </a:t>
            </a:r>
            <a:r>
              <a:rPr lang="en-US" sz="1600" b="1" dirty="0" smtClean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r7 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 pitchFamily="18" charset="2"/>
              </a:rPr>
              <a:t></a:t>
            </a:r>
            <a:r>
              <a:rPr lang="en-US" sz="1600" b="1" dirty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smtClean="0">
                <a:solidFill>
                  <a:srgbClr val="0619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 + r8</a:t>
            </a:r>
            <a:endParaRPr lang="en-US" sz="1600" b="1" dirty="0">
              <a:solidFill>
                <a:srgbClr val="06192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8523548" y="4059040"/>
            <a:ext cx="255711" cy="230832"/>
          </a:xfrm>
          <a:prstGeom prst="rect">
            <a:avLst/>
          </a:prstGeom>
          <a:solidFill>
            <a:srgbClr val="E7EBF5"/>
          </a:solidFill>
        </p:spPr>
        <p:txBody>
          <a:bodyPr wrap="none" lIns="0" tIns="0" rIns="0" bIns="0" anchor="ctr">
            <a:spAutoFit/>
          </a:bodyPr>
          <a:lstStyle/>
          <a:p>
            <a:pPr lvl="0" algn="ctr"/>
            <a:r>
              <a:rPr lang="en-US" sz="1500" dirty="0" smtClean="0">
                <a:solidFill>
                  <a:srgbClr val="00B050"/>
                </a:solidFill>
                <a:latin typeface="+mj-lt"/>
                <a:cs typeface="Consolas" panose="020B0609020204030204" pitchFamily="49" charset="0"/>
              </a:rPr>
              <a:t>yes</a:t>
            </a:r>
            <a:endParaRPr lang="ru-RU" sz="1500" dirty="0">
              <a:solidFill>
                <a:srgbClr val="00B050"/>
              </a:solidFill>
              <a:latin typeface="+mj-lt"/>
              <a:cs typeface="Consolas" panose="020B0609020204030204" pitchFamily="49" charset="0"/>
            </a:endParaRPr>
          </a:p>
        </p:txBody>
      </p:sp>
      <p:grpSp>
        <p:nvGrpSpPr>
          <p:cNvPr id="81" name="Group 80"/>
          <p:cNvGrpSpPr/>
          <p:nvPr/>
        </p:nvGrpSpPr>
        <p:grpSpPr>
          <a:xfrm rot="922656">
            <a:off x="8459178" y="4234364"/>
            <a:ext cx="417585" cy="417585"/>
            <a:chOff x="7086600" y="3613666"/>
            <a:chExt cx="533400" cy="533400"/>
          </a:xfrm>
        </p:grpSpPr>
        <p:sp>
          <p:nvSpPr>
            <p:cNvPr id="84" name="Explosion 2 83"/>
            <p:cNvSpPr/>
            <p:nvPr/>
          </p:nvSpPr>
          <p:spPr>
            <a:xfrm rot="1911934">
              <a:off x="7086600" y="3613666"/>
              <a:ext cx="533400" cy="533400"/>
            </a:xfrm>
            <a:prstGeom prst="irregularSeal2">
              <a:avLst/>
            </a:prstGeom>
            <a:gradFill rotWithShape="1">
              <a:gsLst>
                <a:gs pos="0">
                  <a:srgbClr val="FF0000"/>
                </a:gs>
                <a:gs pos="80000">
                  <a:srgbClr val="D21E1E"/>
                </a:gs>
                <a:gs pos="100000">
                  <a:schemeClr val="accent6">
                    <a:lumMod val="40000"/>
                    <a:lumOff val="60000"/>
                  </a:schemeClr>
                </a:gs>
              </a:gsLst>
              <a:lin ang="16200000" scaled="0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 rot="20664369">
              <a:off x="7091961" y="3670007"/>
              <a:ext cx="3818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cs typeface="+mn-cs"/>
                </a:rPr>
                <a:t>hit</a:t>
              </a:r>
              <a:endParaRPr kumimoji="0" lang="ru-RU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6056249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250" autoRev="1" fill="remove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7" dur="250" autoRev="1" fill="remove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" dur="250" autoRev="1" fill="remove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250" autoRev="1" fill="remove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7" presetClass="emph" presetSubtype="0" fill="remove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250" autoRev="1" fill="remove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2" dur="250" autoRev="1" fill="remove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250" autoRev="1" fill="remove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50" autoRev="1" fill="remove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7" presetClass="emph" presetSubtype="0" fill="remove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250" autoRev="1" fill="remove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7" dur="250" autoRev="1" fill="remove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" dur="250" autoRev="1" fill="remove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250" autoRev="1" fill="remove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7" presetClass="emph" presetSubtype="0" fill="remove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250" autoRev="1" fill="remove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2" dur="250" autoRev="1" fill="remove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250" autoRev="1" fill="remove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250" autoRev="1" fill="remove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250" autoRev="1" fill="remove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2" dur="250" autoRev="1" fill="remove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3" dur="250" autoRev="1" fill="remove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250" autoRev="1" fill="remove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13" grpId="0"/>
      <p:bldP spid="28" grpId="0"/>
      <p:bldP spid="56" grpId="0"/>
      <p:bldP spid="57" grpId="0"/>
      <p:bldP spid="58" grpId="0"/>
      <p:bldP spid="65" grpId="0"/>
      <p:bldP spid="70" grpId="0"/>
      <p:bldP spid="71" grpId="0"/>
      <p:bldP spid="72" grpId="0"/>
      <p:bldP spid="73" grpId="0"/>
      <p:bldP spid="73" grpId="1"/>
      <p:bldP spid="76" grpId="0" animBg="1"/>
      <p:bldP spid="77" grpId="0" animBg="1"/>
      <p:bldP spid="80" grpId="0" animBg="1"/>
      <p:bldP spid="85" grpId="0" animBg="1"/>
      <p:bldP spid="85" grpId="1" animBg="1"/>
      <p:bldP spid="85" grpId="2" animBg="1"/>
      <p:bldP spid="87" grpId="0" animBg="1"/>
      <p:bldP spid="88" grpId="0" animBg="1"/>
      <p:bldP spid="88" grpId="1" animBg="1"/>
      <p:bldP spid="88" grpId="2" animBg="1"/>
      <p:bldP spid="88" grpId="3" animBg="1"/>
      <p:bldP spid="88" grpId="4" animBg="1"/>
      <p:bldP spid="68" grpId="0" animBg="1"/>
      <p:bldP spid="68" grpId="1" animBg="1"/>
      <p:bldP spid="61" grpId="0" animBg="1"/>
      <p:bldP spid="7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MD speculation prediction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MD speculation requires decision making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The idea is to track history similar to branch 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Approach 1</a:t>
            </a:r>
            <a:r>
              <a:rPr lang="en-US" dirty="0" smtClean="0"/>
              <a:t>: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assume “unknown” loads as speculative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if the assumption is wrong, add PC of load to “blacklist”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sz="2000" i="1" dirty="0" smtClean="0"/>
              <a:t>big overhead on rollbacks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Approach 2: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assume “unknown” loads as non-speculative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if there were no STAs to wait, add PC of load to “whitelist”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sz="2000" i="1" dirty="0" smtClean="0"/>
              <a:t>moderate overhead as loads wait STAs in the beginning</a:t>
            </a:r>
          </a:p>
        </p:txBody>
      </p:sp>
    </p:spTree>
    <p:extLst>
      <p:ext uri="{BB962C8B-B14F-4D97-AF65-F5344CB8AC3E}">
        <p14:creationId xmlns:p14="http://schemas.microsoft.com/office/powerpoint/2010/main" val="19499289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Stores write data in-order after retirement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Loads read data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i="1" dirty="0" smtClean="0"/>
              <a:t>from cache, if they do not depend on non-retired stores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i="1" dirty="0" smtClean="0"/>
              <a:t>from SB, if store forwarding is possible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i="1" dirty="0" smtClean="0"/>
              <a:t>speculatively from cache/SB with mandatory checks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LB and SB track dependencies between loads and stores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LB and SB are responsible for performing 3 actions: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i="1" dirty="0" smtClean="0"/>
              <a:t>Blocking loads dependent on stores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i="1" dirty="0" smtClean="0"/>
              <a:t>Forwarding data from stores to loads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r>
              <a:rPr lang="en-US" i="1" dirty="0" smtClean="0"/>
              <a:t>Checking correction of load speculation</a:t>
            </a:r>
          </a:p>
          <a:p>
            <a:pPr marL="688975" lvl="1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688975" lvl="1" indent="-342900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764888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2727961"/>
            <a:ext cx="6477000" cy="1362075"/>
          </a:xfrm>
        </p:spPr>
        <p:txBody>
          <a:bodyPr/>
          <a:lstStyle/>
          <a:p>
            <a:pPr algn="ctr"/>
            <a:r>
              <a:rPr lang="en-US" dirty="0" smtClean="0"/>
              <a:t>The End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17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3086723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511145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4|32.3|60.4|3.9|53.1|86.3|17.4|26.5|10.9|16.6|305.2|3.6|67.1|41.1|27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20.6|17.8|74.5|82.8|17.4|11.2|23.3|56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|58.7|27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|40.8|59.3|18.6|8.8|64.1|79.7|23|13.4|191.2|7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73.7|84.7|0.9|3.5|10.3|68|32.4|3.3|9|2.8|4.3|40.4|4.5|11.9|13|13.7|30|5.2|4|7|4.9|2.8|0.9|0.6|3.9|10.1|29.9|23.7|4.6|5.4|8.9|14.1|7.9|2.9|2.9|76.3|3.2|48.4|4|16.9|23.6|6.6|216.1|34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9.3|74.9|17.3|3.4|6.8|38.9|3|8.9|2.3|16.6|2|4|15.8|4|40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|8|5.8|26.6|15.8|0.9|0.8|0.7|20.8|39.6|1.1|2.9|2.1|30.2|19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6.7|5.2|17|7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6.7|5.2|17|7.5"/>
</p:tagLst>
</file>

<file path=ppt/theme/theme1.xml><?xml version="1.0" encoding="utf-8"?>
<a:theme xmlns:a="http://schemas.openxmlformats.org/drawingml/2006/main" name="mdsp_2011">
  <a:themeElements>
    <a:clrScheme name="intel2011">
      <a:dk1>
        <a:srgbClr val="061922"/>
      </a:dk1>
      <a:lt1>
        <a:srgbClr val="FFFFFF"/>
      </a:lt1>
      <a:dk2>
        <a:srgbClr val="939598"/>
      </a:dk2>
      <a:lt2>
        <a:srgbClr val="B4BABD"/>
      </a:lt2>
      <a:accent1>
        <a:srgbClr val="0071C5"/>
      </a:accent1>
      <a:accent2>
        <a:srgbClr val="00AEEF"/>
      </a:accent2>
      <a:accent3>
        <a:srgbClr val="004280"/>
      </a:accent3>
      <a:accent4>
        <a:srgbClr val="FFDA00"/>
      </a:accent4>
      <a:accent5>
        <a:srgbClr val="A6CE39"/>
      </a:accent5>
      <a:accent6>
        <a:srgbClr val="FDB813"/>
      </a:accent6>
      <a:hlink>
        <a:srgbClr val="0071C5"/>
      </a:hlink>
      <a:folHlink>
        <a:srgbClr val="00AEE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ln w="317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eaLnBrk="0" hangingPunct="0">
          <a:defRPr sz="2000" b="1" smtClean="0">
            <a:latin typeface="Neo Sans Inte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Neo Sans Intel" pitchFamily="34" charset="0"/>
            <a:cs typeface="Arial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>
    <a:extraClrScheme>
      <a:clrScheme name="2_intel_template_1_111605_BLUE 1">
        <a:dk1>
          <a:srgbClr val="FF5C00"/>
        </a:dk1>
        <a:lt1>
          <a:srgbClr val="FFFFFF"/>
        </a:lt1>
        <a:dk2>
          <a:srgbClr val="0C2E86"/>
        </a:dk2>
        <a:lt2>
          <a:srgbClr val="F5E647"/>
        </a:lt2>
        <a:accent1>
          <a:srgbClr val="A6CAE1"/>
        </a:accent1>
        <a:accent2>
          <a:srgbClr val="567EB9"/>
        </a:accent2>
        <a:accent3>
          <a:srgbClr val="AAADC3"/>
        </a:accent3>
        <a:accent4>
          <a:srgbClr val="DADADA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intel_template_1_111605_BLUE 2">
        <a:dk1>
          <a:srgbClr val="0860A8"/>
        </a:dk1>
        <a:lt1>
          <a:srgbClr val="FFFFFF"/>
        </a:lt1>
        <a:dk2>
          <a:srgbClr val="F5E647"/>
        </a:dk2>
        <a:lt2>
          <a:srgbClr val="FF5C47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6518F"/>
        </a:accent4>
        <a:accent5>
          <a:srgbClr val="D0E1EE"/>
        </a:accent5>
        <a:accent6>
          <a:srgbClr val="4D72A7"/>
        </a:accent6>
        <a:hlink>
          <a:srgbClr val="0C2E86"/>
        </a:hlink>
        <a:folHlink>
          <a:srgbClr val="AA014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intel_template_1_111605_BLUE 3">
        <a:dk1>
          <a:srgbClr val="000000"/>
        </a:dk1>
        <a:lt1>
          <a:srgbClr val="FFFFFF"/>
        </a:lt1>
        <a:dk2>
          <a:srgbClr val="DDDDDD"/>
        </a:dk2>
        <a:lt2>
          <a:srgbClr val="5F5F5F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00000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0C2E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401C71F511A342A8CE5D878AC6A5A2" ma:contentTypeVersion="1" ma:contentTypeDescription="Create a new document." ma:contentTypeScope="" ma:versionID="7780538ac0ddf0014d7399d2d91bbce0">
  <xsd:schema xmlns:xsd="http://www.w3.org/2001/XMLSchema" xmlns:p="http://schemas.microsoft.com/office/2006/metadata/properties" xmlns:ns1="http://schemas.microsoft.com/sharepoint/v3" targetNamespace="http://schemas.microsoft.com/office/2006/metadata/properties" ma:root="true" ma:fieldsID="ddb0c952b897a810c8a4e377cff6bff8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http://schemas.microsoft.com/sharepoint/v3" elementFormDefault="qualified">
    <xsd:import namespace="http://schemas.microsoft.com/office/2006/documentManagement/type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p:properties xmlns:p="http://schemas.microsoft.com/office/2006/metadata/properties" xmlns:xsi="http://www.w3.org/2001/XMLSchema-instance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C5CC5FB6-44E0-47C0-972B-EBB94824D4B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E76FF6-93BD-4804-AFC1-4178155785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14A94C8E-3E2B-4AD9-8D67-7815198BE085}">
  <ds:schemaRefs>
    <ds:schemaRef ds:uri="http://schemas.microsoft.com/office/2006/documentManagement/types"/>
    <ds:schemaRef ds:uri="http://schemas.microsoft.com/sharepoint/v3"/>
    <ds:schemaRef ds:uri="http://purl.org/dc/terms/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mdsp_2011</Template>
  <TotalTime>8172</TotalTime>
  <Words>1656</Words>
  <Application>Microsoft Office PowerPoint</Application>
  <PresentationFormat>On-screen Show (4:3)</PresentationFormat>
  <Paragraphs>365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1" baseType="lpstr">
      <vt:lpstr>ＭＳ Ｐゴシック</vt:lpstr>
      <vt:lpstr>ＭＳ Ｐゴシック</vt:lpstr>
      <vt:lpstr>Arial</vt:lpstr>
      <vt:lpstr>Calibri</vt:lpstr>
      <vt:lpstr>Consolas</vt:lpstr>
      <vt:lpstr>Courier</vt:lpstr>
      <vt:lpstr>Neo Sans Intel</vt:lpstr>
      <vt:lpstr>Neo Sans Intel Light</vt:lpstr>
      <vt:lpstr>Neo Sans Intel Medium</vt:lpstr>
      <vt:lpstr>Symbol</vt:lpstr>
      <vt:lpstr>Times</vt:lpstr>
      <vt:lpstr>Verdana</vt:lpstr>
      <vt:lpstr>mdsp_2011</vt:lpstr>
      <vt:lpstr>Memory Disambiguation</vt:lpstr>
      <vt:lpstr>Refresher: Write Handling</vt:lpstr>
      <vt:lpstr>Store Execution </vt:lpstr>
      <vt:lpstr>Load Execution</vt:lpstr>
      <vt:lpstr>Memory Dependencies</vt:lpstr>
      <vt:lpstr>Store Forwarding</vt:lpstr>
      <vt:lpstr>Intersection ≠ Forwarding</vt:lpstr>
      <vt:lpstr>Load  and Store Buffer</vt:lpstr>
      <vt:lpstr>SB and LB Operation</vt:lpstr>
      <vt:lpstr>False Dependency from Store Data</vt:lpstr>
      <vt:lpstr>STA and STD</vt:lpstr>
      <vt:lpstr>SB and LB Operation: STA and STD</vt:lpstr>
      <vt:lpstr>MD speculation</vt:lpstr>
      <vt:lpstr>SB and LB Operation: speculation</vt:lpstr>
      <vt:lpstr>MD speculation prediction</vt:lpstr>
      <vt:lpstr>Summary</vt:lpstr>
      <vt:lpstr>The End</vt:lpstr>
      <vt:lpstr>PowerPoint Presentation</vt:lpstr>
    </vt:vector>
  </TitlesOfParts>
  <Company>Intel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MDSP 2011 Intro</dc:title>
  <dc:creator>atitov</dc:creator>
  <cp:keywords>CTPClassification=CTP_PUBLIC:VisualMarkings=, CTPClassification=:VisualMarkings=, CTPClassification=CTP_NWR:VisualMarkings=, CTPClassification=CTP_NT</cp:keywords>
  <cp:lastModifiedBy>Smirnov, Igor</cp:lastModifiedBy>
  <cp:revision>300</cp:revision>
  <dcterms:created xsi:type="dcterms:W3CDTF">2011-10-24T08:13:52Z</dcterms:created>
  <dcterms:modified xsi:type="dcterms:W3CDTF">2018-03-25T09:00:46Z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0x0101006F401C71F511A342A8CE5D878AC6A5A2</vt:lpwstr>
  </property>
  <property fmtid="{D5CDD505-2E9C-101B-9397-08002B2CF9AE}" pid="3" name="TitusGUID">
    <vt:lpwstr>6edd68e8-8c66-4b1f-913b-524aface4a21</vt:lpwstr>
  </property>
  <property fmtid="{D5CDD505-2E9C-101B-9397-08002B2CF9AE}" pid="4" name="CTP_TimeStamp">
    <vt:lpwstr>2018-03-25 09:00:45Z</vt:lpwstr>
  </property>
  <property fmtid="{D5CDD505-2E9C-101B-9397-08002B2CF9AE}" pid="5" name="CTP_BU">
    <vt:lpwstr>NA</vt:lpwstr>
  </property>
  <property fmtid="{D5CDD505-2E9C-101B-9397-08002B2CF9AE}" pid="6" name="CTP_IDSID">
    <vt:lpwstr>NA</vt:lpwstr>
  </property>
  <property fmtid="{D5CDD505-2E9C-101B-9397-08002B2CF9AE}" pid="7" name="CTP_WWID">
    <vt:lpwstr>NA</vt:lpwstr>
  </property>
  <property fmtid="{D5CDD505-2E9C-101B-9397-08002B2CF9AE}" pid="8" name="CTPClassification">
    <vt:lpwstr>CTP_NT</vt:lpwstr>
  </property>
</Properties>
</file>