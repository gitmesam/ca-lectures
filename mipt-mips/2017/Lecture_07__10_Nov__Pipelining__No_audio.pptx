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5.xml" ContentType="application/vnd.openxmlformats-officedocument.presentationml.notesSlide+xml"/>
  <Override PartName="/ppt/tags/tag9.xml" ContentType="application/vnd.openxmlformats-officedocument.presentationml.tags+xml"/>
  <Override PartName="/ppt/notesSlides/notesSlide6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7.xml" ContentType="application/vnd.openxmlformats-officedocument.presentationml.notesSlide+xml"/>
  <Override PartName="/ppt/tags/tag12.xml" ContentType="application/vnd.openxmlformats-officedocument.presentationml.tags+xml"/>
  <Override PartName="/ppt/notesSlides/notesSlide8.xml" ContentType="application/vnd.openxmlformats-officedocument.presentationml.notesSlid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notesSlides/notesSlide9.xml" ContentType="application/vnd.openxmlformats-officedocument.presentationml.notesSlide+xml"/>
  <Override PartName="/ppt/tags/tag16.xml" ContentType="application/vnd.openxmlformats-officedocument.presentationml.tag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44"/>
  </p:notesMasterIdLst>
  <p:handoutMasterIdLst>
    <p:handoutMasterId r:id="rId45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880">
          <p15:clr>
            <a:srgbClr val="A4A3A4"/>
          </p15:clr>
        </p15:guide>
        <p15:guide id="2" pos="288">
          <p15:clr>
            <a:srgbClr val="A4A3A4"/>
          </p15:clr>
        </p15:guide>
        <p15:guide id="3" pos="547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bwdeaner" initials="" lastIdx="9" clrIdx="0"/>
  <p:cmAuthor id="1" name="Kister, Merlin D" initials="" lastIdx="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A4008"/>
    <a:srgbClr val="F37021"/>
    <a:srgbClr val="FFC000"/>
    <a:srgbClr val="061922"/>
    <a:srgbClr val="B4BABD"/>
    <a:srgbClr val="D7DF23"/>
    <a:srgbClr val="8DC63F"/>
    <a:srgbClr val="0071C5"/>
    <a:srgbClr val="DDDDDD"/>
    <a:srgbClr val="F1F6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207" autoAdjust="0"/>
    <p:restoredTop sz="99700" autoAdjust="0"/>
  </p:normalViewPr>
  <p:slideViewPr>
    <p:cSldViewPr snapToGrid="0">
      <p:cViewPr varScale="1">
        <p:scale>
          <a:sx n="91" d="100"/>
          <a:sy n="91" d="100"/>
        </p:scale>
        <p:origin x="1219" y="53"/>
      </p:cViewPr>
      <p:guideLst>
        <p:guide orient="horz" pos="880"/>
        <p:guide pos="288"/>
        <p:guide pos="5472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5" d="100"/>
        <a:sy n="105" d="100"/>
      </p:scale>
      <p:origin x="0" y="0"/>
    </p:cViewPr>
  </p:sorterViewPr>
  <p:notesViewPr>
    <p:cSldViewPr>
      <p:cViewPr>
        <p:scale>
          <a:sx n="100" d="100"/>
          <a:sy n="100" d="100"/>
        </p:scale>
        <p:origin x="3552" y="22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335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pPr>
              <a:defRPr/>
            </a:pPr>
            <a:fld id="{914B7C32-9169-49F6-BD7A-5067B8DB0A44}" type="datetimeFigureOut">
              <a:rPr lang="en-US"/>
              <a:pPr>
                <a:defRPr/>
              </a:pPr>
              <a:t>11/10/2017</a:t>
            </a:fld>
            <a:endParaRPr lang="en-US" dirty="0"/>
          </a:p>
        </p:txBody>
      </p:sp>
      <p:sp>
        <p:nvSpPr>
          <p:cNvPr id="8335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335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pPr>
              <a:defRPr/>
            </a:pPr>
            <a:fld id="{8375B05B-E607-4D82-B97C-98BFBC66126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45467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b="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b="0">
                <a:latin typeface="+mn-lt"/>
                <a:cs typeface="+mn-cs"/>
              </a:defRPr>
            </a:lvl1pPr>
          </a:lstStyle>
          <a:p>
            <a:pPr>
              <a:defRPr/>
            </a:pPr>
            <a:fld id="{991E29C4-32EF-49E6-A487-83605AD0B038}" type="datetimeFigureOut">
              <a:rPr lang="en-US"/>
              <a:pPr>
                <a:defRPr/>
              </a:pPr>
              <a:t>11/10/2017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b="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b="0">
                <a:latin typeface="+mn-lt"/>
                <a:cs typeface="+mn-cs"/>
              </a:defRPr>
            </a:lvl1pPr>
          </a:lstStyle>
          <a:p>
            <a:pPr>
              <a:defRPr/>
            </a:pPr>
            <a:fld id="{C6B57032-B76D-4852-ACCF-DA5A3151FAE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979065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6B57032-B76D-4852-ACCF-DA5A3151FAE3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7796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6B57032-B76D-4852-ACCF-DA5A3151FAE3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9618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6B57032-B76D-4852-ACCF-DA5A3151FAE3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77636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6B57032-B76D-4852-ACCF-DA5A3151FAE3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54847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6B57032-B76D-4852-ACCF-DA5A3151FAE3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80396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6B57032-B76D-4852-ACCF-DA5A3151FAE3}" type="slidenum">
              <a:rPr lang="en-US" smtClean="0"/>
              <a:pPr>
                <a:defRPr/>
              </a:pPr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07569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6B57032-B76D-4852-ACCF-DA5A3151FAE3}" type="slidenum">
              <a:rPr lang="en-US" smtClean="0"/>
              <a:pPr>
                <a:defRPr/>
              </a:pPr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43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6B57032-B76D-4852-ACCF-DA5A3151FAE3}" type="slidenum">
              <a:rPr lang="en-US" smtClean="0"/>
              <a:pPr>
                <a:defRPr/>
              </a:pPr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19454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6B57032-B76D-4852-ACCF-DA5A3151FAE3}" type="slidenum">
              <a:rPr lang="en-US" smtClean="0"/>
              <a:pPr>
                <a:defRPr/>
              </a:pPr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25565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6B57032-B76D-4852-ACCF-DA5A3151FAE3}" type="slidenum">
              <a:rPr lang="en-US" smtClean="0"/>
              <a:pPr>
                <a:defRPr/>
              </a:pPr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1527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6B57032-B76D-4852-ACCF-DA5A3151FAE3}" type="slidenum">
              <a:rPr lang="en-US" smtClean="0"/>
              <a:pPr>
                <a:defRPr/>
              </a:pPr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4461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PPTCovers-01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8707"/>
            <a:ext cx="8269500" cy="3822320"/>
          </a:xfrm>
          <a:prstGeom prst="rect">
            <a:avLst/>
          </a:prstGeom>
        </p:spPr>
      </p:pic>
      <p:sp>
        <p:nvSpPr>
          <p:cNvPr id="4813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457201" y="2624998"/>
            <a:ext cx="6020027" cy="584775"/>
          </a:xfrm>
        </p:spPr>
        <p:txBody>
          <a:bodyPr wrap="none" anchor="ctr" anchorCtr="0">
            <a:spAutoFit/>
          </a:bodyPr>
          <a:lstStyle>
            <a:lvl1pPr algn="l">
              <a:lnSpc>
                <a:spcPct val="100000"/>
              </a:lnSpc>
              <a:defRPr sz="3800" b="0" i="0">
                <a:solidFill>
                  <a:schemeClr val="bg1"/>
                </a:solidFill>
                <a:latin typeface="Neo Sans Intel"/>
                <a:cs typeface="Neo Sans Intel"/>
              </a:defRPr>
            </a:lvl1pPr>
          </a:lstStyle>
          <a:p>
            <a:r>
              <a:rPr lang="en-US" altLang="ja-JP" smtClean="0"/>
              <a:t>Click to edit Master title style</a:t>
            </a:r>
            <a:endParaRPr lang="en-US" altLang="ja-JP" dirty="0"/>
          </a:p>
        </p:txBody>
      </p:sp>
      <p:sp>
        <p:nvSpPr>
          <p:cNvPr id="48132" name="Rectangle 4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2378240" y="4353385"/>
            <a:ext cx="4466738" cy="933589"/>
          </a:xfrm>
        </p:spPr>
        <p:txBody>
          <a:bodyPr wrap="square">
            <a:spAutoFit/>
          </a:bodyPr>
          <a:lstStyle>
            <a:lvl1pPr marL="0" indent="0" algn="l">
              <a:lnSpc>
                <a:spcPts val="2400"/>
              </a:lnSpc>
              <a:spcBef>
                <a:spcPts val="0"/>
              </a:spcBef>
              <a:spcAft>
                <a:spcPts val="1200"/>
              </a:spcAft>
              <a:defRPr sz="2000" b="0" i="0">
                <a:solidFill>
                  <a:schemeClr val="bg1"/>
                </a:solidFill>
                <a:latin typeface="Neo Sans Intel Medium"/>
                <a:cs typeface="Neo Sans Intel"/>
              </a:defRPr>
            </a:lvl1pPr>
          </a:lstStyle>
          <a:p>
            <a:pPr>
              <a:lnSpc>
                <a:spcPct val="80000"/>
              </a:lnSpc>
              <a:spcAft>
                <a:spcPts val="800"/>
              </a:spcAft>
            </a:pPr>
            <a:r>
              <a:rPr lang="en-US" dirty="0" smtClean="0">
                <a:latin typeface="Verdana" charset="0"/>
              </a:rPr>
              <a:t>Subtitle</a:t>
            </a:r>
          </a:p>
          <a:p>
            <a:pPr>
              <a:lnSpc>
                <a:spcPts val="2160"/>
              </a:lnSpc>
              <a:spcAft>
                <a:spcPts val="0"/>
              </a:spcAft>
            </a:pPr>
            <a:r>
              <a:rPr lang="en-US" sz="1600" dirty="0" smtClean="0">
                <a:latin typeface="Verdana" charset="0"/>
              </a:rPr>
              <a:t>Additional Info</a:t>
            </a:r>
            <a:endParaRPr lang="en-US" dirty="0" smtClean="0">
              <a:latin typeface="Verdana" charset="0"/>
            </a:endParaRPr>
          </a:p>
          <a:p>
            <a:endParaRPr lang="en-US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0" y="6596390"/>
            <a:ext cx="36099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435EC5FB-0C8E-4818-A81D-78796ABB4840}" type="slidenum">
              <a:rPr lang="en-US" sz="800" smtClean="0">
                <a:solidFill>
                  <a:schemeClr val="bg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pPr/>
              <a:t>‹#›</a:t>
            </a:fld>
            <a:endParaRPr lang="en-US" sz="800" dirty="0">
              <a:solidFill>
                <a:schemeClr val="bg2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PPTCovers-02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25600"/>
            <a:ext cx="8257308" cy="4102745"/>
          </a:xfrm>
          <a:prstGeom prst="rect">
            <a:avLst/>
          </a:prstGeom>
        </p:spPr>
      </p:pic>
      <p:sp>
        <p:nvSpPr>
          <p:cNvPr id="8" name="Rectangle 3"/>
          <p:cNvSpPr>
            <a:spLocks noGrp="1" noChangeArrowheads="1"/>
          </p:cNvSpPr>
          <p:nvPr>
            <p:ph type="ctrTitle"/>
          </p:nvPr>
        </p:nvSpPr>
        <p:spPr>
          <a:xfrm>
            <a:off x="457201" y="2363972"/>
            <a:ext cx="6020027" cy="584775"/>
          </a:xfrm>
        </p:spPr>
        <p:txBody>
          <a:bodyPr wrap="none" anchor="ctr" anchorCtr="0">
            <a:spAutoFit/>
          </a:bodyPr>
          <a:lstStyle>
            <a:lvl1pPr algn="l">
              <a:lnSpc>
                <a:spcPct val="100000"/>
              </a:lnSpc>
              <a:defRPr sz="3800" b="0" i="0">
                <a:solidFill>
                  <a:schemeClr val="bg1"/>
                </a:solidFill>
                <a:latin typeface="Neo Sans Intel"/>
                <a:cs typeface="Neo Sans Intel"/>
              </a:defRPr>
            </a:lvl1pPr>
          </a:lstStyle>
          <a:p>
            <a:r>
              <a:rPr lang="en-US" altLang="ja-JP" smtClean="0"/>
              <a:t>Click to edit Master title style</a:t>
            </a:r>
            <a:endParaRPr lang="en-US" altLang="ja-JP" dirty="0"/>
          </a:p>
        </p:txBody>
      </p:sp>
      <p:sp>
        <p:nvSpPr>
          <p:cNvPr id="10" name="Rectangle 4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460188" y="3264183"/>
            <a:ext cx="4343400" cy="620683"/>
          </a:xfrm>
        </p:spPr>
        <p:txBody>
          <a:bodyPr wrap="square">
            <a:spAutoFit/>
          </a:bodyPr>
          <a:lstStyle>
            <a:lvl1pPr marL="0" indent="0" algn="l">
              <a:lnSpc>
                <a:spcPts val="3000"/>
              </a:lnSpc>
              <a:spcBef>
                <a:spcPts val="0"/>
              </a:spcBef>
              <a:defRPr sz="2000" b="0" i="0">
                <a:solidFill>
                  <a:schemeClr val="bg1"/>
                </a:solidFill>
                <a:latin typeface="Neo Sans Intel"/>
                <a:cs typeface="Neo Sans Intel"/>
              </a:defRPr>
            </a:lvl1pPr>
          </a:lstStyle>
          <a:p>
            <a:pPr>
              <a:lnSpc>
                <a:spcPct val="80000"/>
              </a:lnSpc>
              <a:spcAft>
                <a:spcPts val="800"/>
              </a:spcAft>
            </a:pPr>
            <a:r>
              <a:rPr lang="en-US" b="0" i="0" dirty="0" smtClean="0">
                <a:latin typeface="Neo Sans Intel"/>
                <a:cs typeface="Neo Sans Intel"/>
              </a:rPr>
              <a:t>Subtitle</a:t>
            </a:r>
            <a:endParaRPr lang="en-US" dirty="0" smtClean="0">
              <a:latin typeface="Verdana" charset="0"/>
            </a:endParaRPr>
          </a:p>
          <a:p>
            <a:pPr>
              <a:lnSpc>
                <a:spcPts val="2160"/>
              </a:lnSpc>
              <a:spcAft>
                <a:spcPts val="0"/>
              </a:spcAft>
            </a:pPr>
            <a:r>
              <a:rPr lang="en-US" sz="1600" b="0" i="0" dirty="0" smtClean="0">
                <a:latin typeface="Neo Sans Intel"/>
                <a:cs typeface="Neo Sans Intel"/>
              </a:rPr>
              <a:t>Additional Info</a:t>
            </a:r>
            <a:endParaRPr lang="en-US" sz="1600" dirty="0" smtClean="0">
              <a:latin typeface="Verdana" charset="0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0" y="6596390"/>
            <a:ext cx="36099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435EC5FB-0C8E-4818-A81D-78796ABB4840}" type="slidenum">
              <a:rPr lang="en-US" sz="800" smtClean="0">
                <a:solidFill>
                  <a:schemeClr val="bg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pPr/>
              <a:t>‹#›</a:t>
            </a:fld>
            <a:endParaRPr lang="en-US" sz="800" dirty="0">
              <a:solidFill>
                <a:schemeClr val="bg2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363880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Op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PTCovers-03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69534"/>
            <a:ext cx="8342654" cy="2904841"/>
          </a:xfrm>
          <a:prstGeom prst="rect">
            <a:avLst/>
          </a:prstGeom>
        </p:spPr>
      </p:pic>
      <p:sp>
        <p:nvSpPr>
          <p:cNvPr id="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457201" y="2782553"/>
            <a:ext cx="6754008" cy="584775"/>
          </a:xfrm>
        </p:spPr>
        <p:txBody>
          <a:bodyPr wrap="square" anchor="ctr" anchorCtr="0">
            <a:spAutoFit/>
          </a:bodyPr>
          <a:lstStyle>
            <a:lvl1pPr algn="l">
              <a:lnSpc>
                <a:spcPct val="100000"/>
              </a:lnSpc>
              <a:defRPr sz="3800" b="0" i="0">
                <a:solidFill>
                  <a:schemeClr val="bg1"/>
                </a:solidFill>
                <a:latin typeface="+mj-lt"/>
                <a:cs typeface="Neo Sans Intel"/>
              </a:defRPr>
            </a:lvl1pPr>
          </a:lstStyle>
          <a:p>
            <a:r>
              <a:rPr lang="en-US" altLang="ja-JP" dirty="0" smtClean="0"/>
              <a:t>Click to edit Master title style</a:t>
            </a:r>
            <a:endParaRPr lang="en-US" altLang="ja-JP" dirty="0"/>
          </a:p>
        </p:txBody>
      </p:sp>
      <p:sp>
        <p:nvSpPr>
          <p:cNvPr id="10" name="Rectangle 4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459957" y="3750107"/>
            <a:ext cx="4343400" cy="620683"/>
          </a:xfrm>
        </p:spPr>
        <p:txBody>
          <a:bodyPr wrap="square">
            <a:spAutoFit/>
          </a:bodyPr>
          <a:lstStyle>
            <a:lvl1pPr marL="0" indent="0" algn="l">
              <a:lnSpc>
                <a:spcPts val="3000"/>
              </a:lnSpc>
              <a:spcBef>
                <a:spcPts val="0"/>
              </a:spcBef>
              <a:defRPr sz="200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>
              <a:lnSpc>
                <a:spcPct val="80000"/>
              </a:lnSpc>
              <a:spcAft>
                <a:spcPts val="800"/>
              </a:spcAft>
            </a:pPr>
            <a:r>
              <a:rPr lang="en-US" b="0" i="0" dirty="0" smtClean="0">
                <a:latin typeface="Neo Sans Intel"/>
                <a:cs typeface="Neo Sans Intel"/>
              </a:rPr>
              <a:t>Subtitle</a:t>
            </a:r>
            <a:endParaRPr lang="en-US" dirty="0" smtClean="0">
              <a:latin typeface="Verdana" charset="0"/>
            </a:endParaRPr>
          </a:p>
          <a:p>
            <a:pPr>
              <a:lnSpc>
                <a:spcPts val="2160"/>
              </a:lnSpc>
              <a:spcAft>
                <a:spcPts val="0"/>
              </a:spcAft>
            </a:pPr>
            <a:r>
              <a:rPr lang="en-US" sz="1600" b="0" i="0" dirty="0" smtClean="0">
                <a:latin typeface="Neo Sans Intel"/>
                <a:cs typeface="Neo Sans Intel"/>
              </a:rPr>
              <a:t>Additional Info</a:t>
            </a:r>
            <a:endParaRPr lang="en-US" sz="1600" dirty="0" smtClean="0">
              <a:latin typeface="Verdana" charset="0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0" y="6596390"/>
            <a:ext cx="36099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435EC5FB-0C8E-4818-A81D-78796ABB4840}" type="slidenum">
              <a:rPr lang="en-US" sz="800" smtClean="0">
                <a:solidFill>
                  <a:schemeClr val="bg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pPr/>
              <a:t>‹#›</a:t>
            </a:fld>
            <a:endParaRPr lang="en-US" sz="800" dirty="0">
              <a:solidFill>
                <a:schemeClr val="bg2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325852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Opti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PPTCovers-04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02543"/>
            <a:ext cx="8495059" cy="3724780"/>
          </a:xfrm>
          <a:prstGeom prst="rect">
            <a:avLst/>
          </a:prstGeom>
        </p:spPr>
      </p:pic>
      <p:sp>
        <p:nvSpPr>
          <p:cNvPr id="10" name="Rectangle 3"/>
          <p:cNvSpPr>
            <a:spLocks noGrp="1" noChangeArrowheads="1"/>
          </p:cNvSpPr>
          <p:nvPr>
            <p:ph type="ctrTitle"/>
          </p:nvPr>
        </p:nvSpPr>
        <p:spPr>
          <a:xfrm>
            <a:off x="593531" y="2727579"/>
            <a:ext cx="6020027" cy="584775"/>
          </a:xfrm>
        </p:spPr>
        <p:txBody>
          <a:bodyPr wrap="none" anchor="ctr" anchorCtr="0">
            <a:spAutoFit/>
          </a:bodyPr>
          <a:lstStyle>
            <a:lvl1pPr algn="l">
              <a:lnSpc>
                <a:spcPct val="100000"/>
              </a:lnSpc>
              <a:defRPr sz="3800" b="0" i="0">
                <a:solidFill>
                  <a:schemeClr val="bg1"/>
                </a:solidFill>
                <a:latin typeface="Neo Sans Intel"/>
                <a:cs typeface="Neo Sans Intel"/>
              </a:defRPr>
            </a:lvl1pPr>
          </a:lstStyle>
          <a:p>
            <a:r>
              <a:rPr lang="en-US" altLang="ja-JP" smtClean="0"/>
              <a:t>Click to edit Master title style</a:t>
            </a:r>
            <a:endParaRPr lang="en-US" altLang="ja-JP" dirty="0"/>
          </a:p>
        </p:txBody>
      </p:sp>
      <p:sp>
        <p:nvSpPr>
          <p:cNvPr id="11" name="Rectangle 4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592333" y="3649814"/>
            <a:ext cx="4343400" cy="620683"/>
          </a:xfrm>
        </p:spPr>
        <p:txBody>
          <a:bodyPr wrap="square">
            <a:spAutoFit/>
          </a:bodyPr>
          <a:lstStyle>
            <a:lvl1pPr marL="0" indent="0" algn="l">
              <a:lnSpc>
                <a:spcPts val="3000"/>
              </a:lnSpc>
              <a:spcBef>
                <a:spcPts val="0"/>
              </a:spcBef>
              <a:defRPr sz="2000" b="0" i="0">
                <a:solidFill>
                  <a:schemeClr val="bg1"/>
                </a:solidFill>
                <a:latin typeface="Neo Sans Intel Medium"/>
                <a:cs typeface="Neo Sans Intel Medium"/>
              </a:defRPr>
            </a:lvl1pPr>
          </a:lstStyle>
          <a:p>
            <a:pPr>
              <a:lnSpc>
                <a:spcPct val="80000"/>
              </a:lnSpc>
              <a:spcAft>
                <a:spcPts val="800"/>
              </a:spcAft>
            </a:pPr>
            <a:r>
              <a:rPr lang="en-US" b="0" i="0" dirty="0" smtClean="0">
                <a:latin typeface="Neo Sans Intel"/>
                <a:cs typeface="Neo Sans Intel"/>
              </a:rPr>
              <a:t>Subtitle</a:t>
            </a:r>
            <a:endParaRPr lang="en-US" dirty="0" smtClean="0">
              <a:latin typeface="Verdana" charset="0"/>
            </a:endParaRPr>
          </a:p>
          <a:p>
            <a:pPr>
              <a:lnSpc>
                <a:spcPts val="2160"/>
              </a:lnSpc>
              <a:spcAft>
                <a:spcPts val="0"/>
              </a:spcAft>
            </a:pPr>
            <a:r>
              <a:rPr lang="en-US" sz="1600" b="0" i="0" dirty="0" smtClean="0">
                <a:latin typeface="Neo Sans Intel"/>
                <a:cs typeface="Neo Sans Intel"/>
              </a:rPr>
              <a:t>Additional Info</a:t>
            </a:r>
            <a:endParaRPr lang="en-US" sz="1600" dirty="0" smtClean="0">
              <a:latin typeface="Verdana" charset="0"/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0" y="6596390"/>
            <a:ext cx="36099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435EC5FB-0C8E-4818-A81D-78796ABB4840}" type="slidenum">
              <a:rPr lang="en-US" sz="800" smtClean="0">
                <a:solidFill>
                  <a:schemeClr val="bg2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pPr/>
              <a:t>‹#›</a:t>
            </a:fld>
            <a:endParaRPr lang="en-US" sz="800" dirty="0">
              <a:solidFill>
                <a:schemeClr val="bg2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859863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">
    <p:bg>
      <p:bgPr>
        <a:gradFill flip="none" rotWithShape="1">
          <a:gsLst>
            <a:gs pos="5000">
              <a:schemeClr val="accent2"/>
            </a:gs>
            <a:gs pos="95000">
              <a:schemeClr val="accent1"/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514601"/>
            <a:ext cx="6477000" cy="1362075"/>
          </a:xfrm>
        </p:spPr>
        <p:txBody>
          <a:bodyPr anchor="ctr" anchorCtr="0"/>
          <a:lstStyle>
            <a:lvl1pPr algn="l">
              <a:lnSpc>
                <a:spcPct val="100000"/>
              </a:lnSpc>
              <a:defRPr sz="3800" b="0" i="0" cap="none">
                <a:solidFill>
                  <a:srgbClr val="FFFFFF"/>
                </a:solidFill>
                <a:latin typeface="+mj-lt"/>
                <a:cs typeface="Neo Sans Intel"/>
              </a:defRPr>
            </a:lvl1pPr>
          </a:lstStyle>
          <a:p>
            <a:r>
              <a:rPr lang="en-US" dirty="0" smtClean="0"/>
              <a:t>Click To Edit Section Divider title Style</a:t>
            </a:r>
            <a:endParaRPr lang="en-US" dirty="0"/>
          </a:p>
        </p:txBody>
      </p:sp>
      <p:sp>
        <p:nvSpPr>
          <p:cNvPr id="15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02" y="6553200"/>
            <a:ext cx="4159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defRPr sz="800" b="0">
                <a:solidFill>
                  <a:schemeClr val="bg1"/>
                </a:solidFill>
                <a:latin typeface="Neo Sans Intel Light" pitchFamily="34" charset="0"/>
                <a:ea typeface="MS PGothic" pitchFamily="34" charset="-128"/>
                <a:cs typeface="Arial" pitchFamily="34" charset="0"/>
              </a:defRPr>
            </a:lvl1pPr>
          </a:lstStyle>
          <a:p>
            <a:pPr>
              <a:defRPr/>
            </a:pPr>
            <a:fld id="{B44C7BE5-B578-44C2-B697-AD60B2F34A37}" type="slidenum">
              <a:rPr lang="ja-JP" altLang="en-US" smtClean="0"/>
              <a:pPr>
                <a:defRPr/>
              </a:pPr>
              <a:t>‹#›</a:t>
            </a:fld>
            <a:endParaRPr lang="en-US" altLang="ja-JP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Divider-option 2">
    <p:bg>
      <p:bgPr>
        <a:gradFill flip="none" rotWithShape="1">
          <a:gsLst>
            <a:gs pos="5000">
              <a:schemeClr val="accent2"/>
            </a:gs>
            <a:gs pos="95000">
              <a:schemeClr val="accent1"/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514601"/>
            <a:ext cx="4627756" cy="1362075"/>
          </a:xfrm>
        </p:spPr>
        <p:txBody>
          <a:bodyPr anchor="ctr" anchorCtr="0"/>
          <a:lstStyle>
            <a:lvl1pPr algn="l">
              <a:lnSpc>
                <a:spcPct val="100000"/>
              </a:lnSpc>
              <a:defRPr sz="3800" b="0" i="0" cap="none">
                <a:solidFill>
                  <a:srgbClr val="FFFFFF"/>
                </a:solidFill>
                <a:latin typeface="Neo Sans Intel"/>
                <a:cs typeface="Neo Sans Intel"/>
              </a:defRPr>
            </a:lvl1pPr>
          </a:lstStyle>
          <a:p>
            <a:r>
              <a:rPr lang="en-US" dirty="0" smtClean="0"/>
              <a:t>Click To Edit Section Divider title Style</a:t>
            </a:r>
            <a:endParaRPr lang="en-US" dirty="0"/>
          </a:p>
        </p:txBody>
      </p:sp>
      <p:sp>
        <p:nvSpPr>
          <p:cNvPr id="15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02" y="6553200"/>
            <a:ext cx="4159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defRPr sz="800" b="0">
                <a:solidFill>
                  <a:schemeClr val="bg1"/>
                </a:solidFill>
                <a:latin typeface="Neo Sans Intel Light" pitchFamily="34" charset="0"/>
                <a:ea typeface="MS PGothic" pitchFamily="34" charset="-128"/>
                <a:cs typeface="Arial" pitchFamily="34" charset="0"/>
              </a:defRPr>
            </a:lvl1pPr>
          </a:lstStyle>
          <a:p>
            <a:pPr>
              <a:defRPr/>
            </a:pPr>
            <a:fld id="{B44C7BE5-B578-44C2-B697-AD60B2F34A37}" type="slidenum">
              <a:rPr lang="ja-JP" altLang="en-US" smtClean="0"/>
              <a:pPr>
                <a:defRPr/>
              </a:pPr>
              <a:t>‹#›</a:t>
            </a:fld>
            <a:endParaRPr lang="en-US" altLang="ja-JP" dirty="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5353050" y="0"/>
            <a:ext cx="3790950" cy="6858000"/>
          </a:xfrm>
        </p:spPr>
        <p:txBody>
          <a:bodyPr/>
          <a:lstStyle/>
          <a:p>
            <a:r>
              <a:rPr lang="en-US" dirty="0" smtClean="0"/>
              <a:t>Click icon to add picture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Divider-option 3">
    <p:bg>
      <p:bgPr>
        <a:gradFill flip="none" rotWithShape="1">
          <a:gsLst>
            <a:gs pos="5000">
              <a:schemeClr val="accent2"/>
            </a:gs>
            <a:gs pos="95000">
              <a:schemeClr val="accent1"/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02" y="6553200"/>
            <a:ext cx="4159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defRPr sz="800" b="0">
                <a:solidFill>
                  <a:schemeClr val="bg1"/>
                </a:solidFill>
                <a:latin typeface="Neo Sans Intel Light" pitchFamily="34" charset="0"/>
                <a:ea typeface="MS PGothic" pitchFamily="34" charset="-128"/>
                <a:cs typeface="Arial" pitchFamily="34" charset="0"/>
              </a:defRPr>
            </a:lvl1pPr>
          </a:lstStyle>
          <a:p>
            <a:pPr>
              <a:defRPr/>
            </a:pPr>
            <a:fld id="{B44C7BE5-B578-44C2-B697-AD60B2F34A37}" type="slidenum">
              <a:rPr lang="ja-JP" altLang="en-US" smtClean="0"/>
              <a:pPr>
                <a:defRPr/>
              </a:pPr>
              <a:t>‹#›</a:t>
            </a:fld>
            <a:endParaRPr lang="en-US" altLang="ja-JP" dirty="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0" y="-7684"/>
            <a:ext cx="9144000" cy="6858000"/>
          </a:xfrm>
        </p:spPr>
        <p:txBody>
          <a:bodyPr/>
          <a:lstStyle/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262466" y="584201"/>
            <a:ext cx="4627756" cy="1362075"/>
          </a:xfrm>
        </p:spPr>
        <p:txBody>
          <a:bodyPr anchor="ctr" anchorCtr="0"/>
          <a:lstStyle>
            <a:lvl1pPr algn="l">
              <a:lnSpc>
                <a:spcPct val="100000"/>
              </a:lnSpc>
              <a:defRPr sz="3600" b="0" i="0" cap="none">
                <a:solidFill>
                  <a:srgbClr val="FFFFFF"/>
                </a:solidFill>
                <a:latin typeface="Neo Sans Intel"/>
                <a:cs typeface="Neo Sans Intel"/>
              </a:defRPr>
            </a:lvl1pPr>
          </a:lstStyle>
          <a:p>
            <a:r>
              <a:rPr lang="en-US" dirty="0" smtClean="0"/>
              <a:t>Click To Edit Section Divider title Style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5613" y="1379539"/>
            <a:ext cx="4037012" cy="4537075"/>
          </a:xfrm>
        </p:spPr>
        <p:txBody>
          <a:bodyPr/>
          <a:lstStyle>
            <a:lvl1pPr marL="0" indent="0"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025" y="1379539"/>
            <a:ext cx="4038600" cy="4537075"/>
          </a:xfrm>
        </p:spPr>
        <p:txBody>
          <a:bodyPr/>
          <a:lstStyle>
            <a:lvl1pPr marL="0" indent="0"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gradFill flip="none" rotWithShape="1">
          <a:gsLst>
            <a:gs pos="5000">
              <a:schemeClr val="accent2"/>
            </a:gs>
            <a:gs pos="95000">
              <a:schemeClr val="accent1"/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514601"/>
            <a:ext cx="6477000" cy="1362075"/>
          </a:xfrm>
        </p:spPr>
        <p:txBody>
          <a:bodyPr anchor="ctr" anchorCtr="0"/>
          <a:lstStyle>
            <a:lvl1pPr algn="l">
              <a:lnSpc>
                <a:spcPct val="100000"/>
              </a:lnSpc>
              <a:defRPr sz="4000" b="0" i="0" cap="none">
                <a:solidFill>
                  <a:srgbClr val="FFFFFF"/>
                </a:solidFill>
                <a:latin typeface="Neo Sans Intel"/>
                <a:cs typeface="Neo Sans Intel"/>
              </a:defRPr>
            </a:lvl1pPr>
          </a:lstStyle>
          <a:p>
            <a:r>
              <a:rPr lang="en-US" dirty="0" smtClean="0"/>
              <a:t>Thank You</a:t>
            </a:r>
            <a:endParaRPr lang="en-US" dirty="0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02" y="6553200"/>
            <a:ext cx="4159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defRPr sz="800" b="0">
                <a:solidFill>
                  <a:schemeClr val="bg1"/>
                </a:solidFill>
                <a:latin typeface="Neo Sans Intel Light" pitchFamily="34" charset="0"/>
                <a:ea typeface="MS PGothic" pitchFamily="34" charset="-128"/>
                <a:cs typeface="Arial" pitchFamily="34" charset="0"/>
              </a:defRPr>
            </a:lvl1pPr>
          </a:lstStyle>
          <a:p>
            <a:pPr>
              <a:defRPr/>
            </a:pPr>
            <a:fld id="{B44C7BE5-B578-44C2-B697-AD60B2F34A37}" type="slidenum">
              <a:rPr lang="ja-JP" altLang="en-US" smtClean="0"/>
              <a:pPr>
                <a:defRPr/>
              </a:pPr>
              <a:t>‹#›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94009940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nal Slide with White Logo">
    <p:bg>
      <p:bgPr>
        <a:gradFill flip="none" rotWithShape="1">
          <a:gsLst>
            <a:gs pos="5000">
              <a:schemeClr val="accent2"/>
            </a:gs>
            <a:gs pos="95000">
              <a:schemeClr val="accent1"/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nal Slide with Blu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https://mipt.ru/upload/medialibrary/d39/eng_text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912" y="0"/>
            <a:ext cx="7988965" cy="4337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intel_rgb_3000.png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9070" y="4190460"/>
            <a:ext cx="2898648" cy="1911175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4025" y="75690"/>
            <a:ext cx="8229600" cy="88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ja-JP" dirty="0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5613" y="995929"/>
            <a:ext cx="8228012" cy="49206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ja-JP" dirty="0" smtClean="0"/>
              <a:t>Click to edit Master text styles</a:t>
            </a:r>
          </a:p>
          <a:p>
            <a:pPr lvl="1"/>
            <a:r>
              <a:rPr lang="en-US" altLang="ja-JP" dirty="0" smtClean="0"/>
              <a:t>Second level</a:t>
            </a:r>
          </a:p>
          <a:p>
            <a:pPr lvl="2"/>
            <a:r>
              <a:rPr lang="en-US" altLang="ja-JP" dirty="0" smtClean="0"/>
              <a:t>Third level</a:t>
            </a:r>
          </a:p>
          <a:p>
            <a:pPr lvl="3"/>
            <a:r>
              <a:rPr lang="en-US" altLang="ja-JP" dirty="0" smtClean="0"/>
              <a:t>Fourth level</a:t>
            </a:r>
          </a:p>
          <a:p>
            <a:pPr lvl="4"/>
            <a:r>
              <a:rPr lang="en-US" altLang="ja-JP" dirty="0" smtClean="0"/>
              <a:t>Fifth level</a:t>
            </a:r>
          </a:p>
        </p:txBody>
      </p:sp>
      <p:pic>
        <p:nvPicPr>
          <p:cNvPr id="5" name="Picture 4" descr="Intel_footer_121410.png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0" y="6362701"/>
            <a:ext cx="9144000" cy="4953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0" y="6596390"/>
            <a:ext cx="34496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435EC5FB-0C8E-4818-A81D-78796ABB4840}" type="slidenum">
              <a:rPr lang="en-US" sz="1050" b="1" i="0" smtClean="0">
                <a:solidFill>
                  <a:schemeClr val="bg1"/>
                </a:solidFill>
                <a:latin typeface="+mj-lt"/>
                <a:ea typeface="Verdana" pitchFamily="34" charset="0"/>
                <a:cs typeface="Neo Sans Intel"/>
              </a:rPr>
              <a:pPr/>
              <a:t>‹#›</a:t>
            </a:fld>
            <a:endParaRPr lang="en-US" sz="1050" b="1" i="0" dirty="0">
              <a:solidFill>
                <a:schemeClr val="bg1"/>
              </a:solidFill>
              <a:latin typeface="+mj-lt"/>
              <a:ea typeface="Verdana" pitchFamily="34" charset="0"/>
              <a:cs typeface="Neo Sans Intel"/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360996" y="6488794"/>
            <a:ext cx="45710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00" b="1" kern="900" spc="120" dirty="0" smtClean="0">
                <a:solidFill>
                  <a:schemeClr val="bg1"/>
                </a:solidFill>
                <a:latin typeface="+mj-lt"/>
              </a:rPr>
              <a:t>MIPT-MIPS</a:t>
            </a:r>
            <a:r>
              <a:rPr lang="en-US" sz="1000" b="1" kern="900" spc="120" baseline="0" dirty="0" smtClean="0">
                <a:solidFill>
                  <a:schemeClr val="bg1"/>
                </a:solidFill>
                <a:latin typeface="+mj-lt"/>
              </a:rPr>
              <a:t> 2017</a:t>
            </a:r>
            <a:endParaRPr lang="ru-RU" sz="1000" b="1" kern="900" spc="120" dirty="0" smtClean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1028" name="Picture 4" descr="https://mipt.ru/upload/medialibrary/056/eng_inversion.jpg"/>
          <p:cNvPicPr>
            <a:picLocks noChangeAspect="1" noChangeArrowheads="1"/>
          </p:cNvPicPr>
          <p:nvPr userDrawn="1"/>
        </p:nvPicPr>
        <p:blipFill>
          <a:blip r:embed="rId17" cstate="print">
            <a:clrChange>
              <a:clrFrom>
                <a:srgbClr val="4C79BC"/>
              </a:clrFrom>
              <a:clrTo>
                <a:srgbClr val="4C79BC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1143" y="6331463"/>
            <a:ext cx="1077432" cy="5502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956" r:id="rId1"/>
    <p:sldLayoutId id="2147485972" r:id="rId2"/>
    <p:sldLayoutId id="2147485973" r:id="rId3"/>
    <p:sldLayoutId id="2147485974" r:id="rId4"/>
    <p:sldLayoutId id="2147485963" r:id="rId5"/>
    <p:sldLayoutId id="2147485976" r:id="rId6"/>
    <p:sldLayoutId id="2147485977" r:id="rId7"/>
    <p:sldLayoutId id="2147485957" r:id="rId8"/>
    <p:sldLayoutId id="2147485959" r:id="rId9"/>
    <p:sldLayoutId id="2147485961" r:id="rId10"/>
    <p:sldLayoutId id="2147485962" r:id="rId11"/>
    <p:sldLayoutId id="2147485975" r:id="rId12"/>
    <p:sldLayoutId id="2147485964" r:id="rId13"/>
    <p:sldLayoutId id="2147485971" r:id="rId14"/>
  </p:sldLayoutIdLst>
  <p:transition>
    <p:fade/>
  </p:transition>
  <p:timing>
    <p:tnLst>
      <p:par>
        <p:cTn id="1" dur="indefinite" restart="never" nodeType="tmRoot"/>
      </p:par>
    </p:tnLst>
  </p:timing>
  <p:hf hdr="0" ftr="0" dt="0"/>
  <p:txStyles>
    <p:titleStyle>
      <a:lvl1pPr algn="ctr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3000" b="0" i="0">
          <a:solidFill>
            <a:schemeClr val="accent1"/>
          </a:solidFill>
          <a:latin typeface="+mj-lt"/>
          <a:ea typeface="+mj-ea"/>
          <a:cs typeface="Neo Sans Intel"/>
        </a:defRPr>
      </a:lvl1pPr>
      <a:lvl2pPr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400">
          <a:solidFill>
            <a:schemeClr val="hlink"/>
          </a:solidFill>
          <a:latin typeface="Neo Sans Intel Medium" pitchFamily="34" charset="0"/>
          <a:cs typeface="Arial" pitchFamily="34" charset="0"/>
        </a:defRPr>
      </a:lvl2pPr>
      <a:lvl3pPr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400">
          <a:solidFill>
            <a:schemeClr val="hlink"/>
          </a:solidFill>
          <a:latin typeface="Neo Sans Intel Medium" pitchFamily="34" charset="0"/>
          <a:cs typeface="Arial" pitchFamily="34" charset="0"/>
        </a:defRPr>
      </a:lvl3pPr>
      <a:lvl4pPr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400">
          <a:solidFill>
            <a:schemeClr val="hlink"/>
          </a:solidFill>
          <a:latin typeface="Neo Sans Intel Medium" pitchFamily="34" charset="0"/>
          <a:cs typeface="Arial" pitchFamily="34" charset="0"/>
        </a:defRPr>
      </a:lvl4pPr>
      <a:lvl5pPr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400">
          <a:solidFill>
            <a:schemeClr val="hlink"/>
          </a:solidFill>
          <a:latin typeface="Neo Sans Intel Medium" pitchFamily="34" charset="0"/>
          <a:cs typeface="Arial" pitchFamily="34" charset="0"/>
        </a:defRPr>
      </a:lvl5pPr>
      <a:lvl6pPr marL="4572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400">
          <a:solidFill>
            <a:schemeClr val="hlink"/>
          </a:solidFill>
          <a:latin typeface="Neo Sans Intel Medium" pitchFamily="34" charset="0"/>
          <a:cs typeface="Arial" pitchFamily="34" charset="0"/>
        </a:defRPr>
      </a:lvl6pPr>
      <a:lvl7pPr marL="9144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400">
          <a:solidFill>
            <a:schemeClr val="hlink"/>
          </a:solidFill>
          <a:latin typeface="Neo Sans Intel Medium" pitchFamily="34" charset="0"/>
          <a:cs typeface="Arial" pitchFamily="34" charset="0"/>
        </a:defRPr>
      </a:lvl7pPr>
      <a:lvl8pPr marL="13716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400">
          <a:solidFill>
            <a:schemeClr val="hlink"/>
          </a:solidFill>
          <a:latin typeface="Neo Sans Intel Medium" pitchFamily="34" charset="0"/>
          <a:cs typeface="Arial" pitchFamily="34" charset="0"/>
        </a:defRPr>
      </a:lvl8pPr>
      <a:lvl9pPr marL="1828800" algn="l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400">
          <a:solidFill>
            <a:schemeClr val="hlink"/>
          </a:solidFill>
          <a:latin typeface="Neo Sans Intel Medium" pitchFamily="34" charset="0"/>
          <a:cs typeface="Arial" pitchFamily="34" charset="0"/>
        </a:defRPr>
      </a:lvl9pPr>
    </p:titleStyle>
    <p:bodyStyle>
      <a:lvl1pPr marL="0" indent="0" algn="l" rtl="0" eaLnBrk="1" fontAlgn="base" hangingPunct="1">
        <a:spcBef>
          <a:spcPct val="75000"/>
        </a:spcBef>
        <a:spcAft>
          <a:spcPct val="0"/>
        </a:spcAft>
        <a:defRPr sz="2400" b="0" i="0">
          <a:solidFill>
            <a:schemeClr val="tx1"/>
          </a:solidFill>
          <a:latin typeface="+mj-lt"/>
          <a:ea typeface="+mn-ea"/>
          <a:cs typeface="Neo Sans Intel"/>
        </a:defRPr>
      </a:lvl1pPr>
      <a:lvl2pPr marL="185738" indent="-184150" algn="l" rtl="0" eaLnBrk="1" fontAlgn="base" hangingPunct="1">
        <a:spcBef>
          <a:spcPct val="40000"/>
        </a:spcBef>
        <a:spcAft>
          <a:spcPct val="0"/>
        </a:spcAft>
        <a:buClr>
          <a:schemeClr val="tx1"/>
        </a:buClr>
        <a:buFont typeface="Times" pitchFamily="18" charset="0"/>
        <a:buChar char="•"/>
        <a:defRPr sz="2200" b="0" i="0">
          <a:solidFill>
            <a:schemeClr val="tx1"/>
          </a:solidFill>
          <a:latin typeface="+mj-lt"/>
          <a:cs typeface="Neo Sans Intel"/>
        </a:defRPr>
      </a:lvl2pPr>
      <a:lvl3pPr marL="414338" indent="-227013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Neo Sans Intel" pitchFamily="34" charset="0"/>
        <a:buChar char="–"/>
        <a:defRPr sz="2000" b="0" i="0">
          <a:solidFill>
            <a:schemeClr val="tx1"/>
          </a:solidFill>
          <a:latin typeface="+mj-lt"/>
          <a:cs typeface="Neo Sans Intel"/>
        </a:defRPr>
      </a:lvl3pPr>
      <a:lvl4pPr marL="568325" indent="-1524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Neo Sans Intel" pitchFamily="34" charset="0"/>
        <a:buChar char="–"/>
        <a:defRPr sz="1800" b="0" i="0">
          <a:solidFill>
            <a:schemeClr val="tx1"/>
          </a:solidFill>
          <a:latin typeface="+mj-lt"/>
          <a:cs typeface="Neo Sans Intel"/>
        </a:defRPr>
      </a:lvl4pPr>
      <a:lvl5pPr marL="762000" indent="-192088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Char char="–"/>
        <a:defRPr sz="1800" b="0" i="0">
          <a:solidFill>
            <a:schemeClr val="tx1"/>
          </a:solidFill>
          <a:latin typeface="+mj-lt"/>
          <a:cs typeface="Neo Sans Intel"/>
        </a:defRPr>
      </a:lvl5pPr>
      <a:lvl6pPr marL="1219200" indent="-192088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Char char="–"/>
        <a:defRPr sz="1600">
          <a:solidFill>
            <a:schemeClr val="tx1"/>
          </a:solidFill>
          <a:latin typeface="+mn-lt"/>
          <a:cs typeface="+mn-cs"/>
        </a:defRPr>
      </a:lvl6pPr>
      <a:lvl7pPr marL="1676400" indent="-192088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Char char="–"/>
        <a:defRPr sz="1600">
          <a:solidFill>
            <a:schemeClr val="tx1"/>
          </a:solidFill>
          <a:latin typeface="+mn-lt"/>
          <a:cs typeface="+mn-cs"/>
        </a:defRPr>
      </a:lvl7pPr>
      <a:lvl8pPr marL="2133600" indent="-192088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Char char="–"/>
        <a:defRPr sz="1600">
          <a:solidFill>
            <a:schemeClr val="tx1"/>
          </a:solidFill>
          <a:latin typeface="+mn-lt"/>
          <a:cs typeface="+mn-cs"/>
        </a:defRPr>
      </a:lvl8pPr>
      <a:lvl9pPr marL="2590800" indent="-192088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Char char="–"/>
        <a:defRPr sz="16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://courses.cs.washington.edu/courses/cse378/10sp/lectures/lec12.pdf" TargetMode="External"/><Relationship Id="rId3" Type="http://schemas.openxmlformats.org/officeDocument/2006/relationships/hyperlink" Target="http://webcourse.cs.technion.ac.il/234267/Winter2012-2013/ho/WCFiles/L2_pipeline_2012.pptx" TargetMode="External"/><Relationship Id="rId7" Type="http://schemas.openxmlformats.org/officeDocument/2006/relationships/hyperlink" Target="http://courses.cs.washington.edu/courses/cse378/10sp/lectures/lec11.pdf" TargetMode="External"/><Relationship Id="rId2" Type="http://schemas.openxmlformats.org/officeDocument/2006/relationships/hyperlink" Target="http://webcourse.cs.technion.ac.il/234267/Winter2012-2013/en/ho_Lectures.html" TargetMode="External"/><Relationship Id="rId1" Type="http://schemas.openxmlformats.org/officeDocument/2006/relationships/slideLayout" Target="../slideLayouts/slideLayout8.xml"/><Relationship Id="rId6" Type="http://schemas.openxmlformats.org/officeDocument/2006/relationships/hyperlink" Target="http://courses.cs.washington.edu/courses/cse378/10sp/lectures/lec10.pdf" TargetMode="External"/><Relationship Id="rId5" Type="http://schemas.openxmlformats.org/officeDocument/2006/relationships/hyperlink" Target="http://courses.cs.washington.edu/courses/cse378/09wi/lectures.html" TargetMode="External"/><Relationship Id="rId4" Type="http://schemas.openxmlformats.org/officeDocument/2006/relationships/hyperlink" Target="http://www.cs.washington.edu/people/faculty/luisceze/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5.xml"/><Relationship Id="rId4" Type="http://schemas.openxmlformats.org/officeDocument/2006/relationships/image" Target="NUL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1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18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19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20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IPT-ILab/mipt-mips/wiki/Communication-between-modules-through-ports" TargetMode="External"/><Relationship Id="rId2" Type="http://schemas.openxmlformats.org/officeDocument/2006/relationships/hyperlink" Target="http://www.ckluk.org/ck/papers/asim_ieeecomputer.pdf" TargetMode="Externa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457201" y="2835103"/>
            <a:ext cx="6754008" cy="584775"/>
          </a:xfrm>
        </p:spPr>
        <p:txBody>
          <a:bodyPr/>
          <a:lstStyle/>
          <a:p>
            <a:r>
              <a:rPr lang="en-US" dirty="0" smtClean="0"/>
              <a:t>Pipelining</a:t>
            </a:r>
            <a:endParaRPr lang="en-US" sz="3400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459957" y="3750107"/>
            <a:ext cx="4343400" cy="601190"/>
          </a:xfrm>
        </p:spPr>
        <p:txBody>
          <a:bodyPr/>
          <a:lstStyle/>
          <a:p>
            <a:pPr>
              <a:lnSpc>
                <a:spcPct val="80000"/>
              </a:lnSpc>
              <a:spcAft>
                <a:spcPts val="800"/>
              </a:spcAft>
            </a:pPr>
            <a:r>
              <a:rPr lang="en-US" dirty="0" smtClean="0">
                <a:latin typeface="+mj-lt"/>
              </a:rPr>
              <a:t>Pavel Kryukov</a:t>
            </a:r>
          </a:p>
          <a:p>
            <a:pPr>
              <a:lnSpc>
                <a:spcPct val="80000"/>
              </a:lnSpc>
              <a:spcAft>
                <a:spcPts val="800"/>
              </a:spcAft>
            </a:pPr>
            <a:r>
              <a:rPr lang="en-US" dirty="0" smtClean="0">
                <a:latin typeface="+mj-lt"/>
              </a:rPr>
              <a:t>10/11/2017</a:t>
            </a:r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33017116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Acknowledgments</a:t>
            </a:r>
            <a:endParaRPr lang="ru-RU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55613" y="1056443"/>
            <a:ext cx="822801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 smtClean="0"/>
              <a:t>These </a:t>
            </a:r>
            <a:r>
              <a:rPr lang="en-US" dirty="0"/>
              <a:t>slides contain material developed and copyright by</a:t>
            </a:r>
            <a:r>
              <a:rPr lang="en-US" dirty="0" smtClean="0"/>
              <a:t>:</a:t>
            </a:r>
            <a:endParaRPr lang="en-US" dirty="0" smtClean="0">
              <a:solidFill>
                <a:schemeClr val="tx2"/>
              </a:solidFill>
            </a:endParaRPr>
          </a:p>
          <a:p>
            <a:pPr marL="342900" indent="-342900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US" dirty="0" smtClean="0"/>
              <a:t>Lihu Rappoport (MAMAS/Intel), </a:t>
            </a:r>
            <a:r>
              <a:rPr lang="en-US" dirty="0" smtClean="0">
                <a:solidFill>
                  <a:schemeClr val="tx2"/>
                </a:solidFill>
                <a:hlinkClick r:id="rId2"/>
              </a:rPr>
              <a:t>234267</a:t>
            </a:r>
            <a:r>
              <a:rPr lang="en-US" dirty="0"/>
              <a:t>,</a:t>
            </a:r>
            <a:r>
              <a:rPr lang="en-US" dirty="0" smtClean="0">
                <a:solidFill>
                  <a:schemeClr val="tx2"/>
                </a:solidFill>
              </a:rPr>
              <a:t> </a:t>
            </a:r>
            <a:r>
              <a:rPr lang="en-US" dirty="0" smtClean="0">
                <a:solidFill>
                  <a:schemeClr val="tx2"/>
                </a:solidFill>
                <a:hlinkClick r:id="rId3"/>
              </a:rPr>
              <a:t>L2</a:t>
            </a:r>
            <a:endParaRPr lang="en-US" dirty="0" smtClean="0">
              <a:solidFill>
                <a:schemeClr val="tx2"/>
              </a:solidFill>
            </a:endParaRPr>
          </a:p>
          <a:p>
            <a:pPr marL="342900" indent="-342900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US" dirty="0">
                <a:hlinkClick r:id="rId4"/>
              </a:rPr>
              <a:t>Luis </a:t>
            </a:r>
            <a:r>
              <a:rPr lang="en-US" dirty="0" err="1">
                <a:hlinkClick r:id="rId4"/>
              </a:rPr>
              <a:t>Ceze</a:t>
            </a:r>
            <a:r>
              <a:rPr lang="en-US" dirty="0"/>
              <a:t> (UW), </a:t>
            </a:r>
            <a:r>
              <a:rPr lang="en-US" dirty="0">
                <a:hlinkClick r:id="rId5"/>
              </a:rPr>
              <a:t>CS378</a:t>
            </a:r>
            <a:r>
              <a:rPr lang="en-US" dirty="0" smtClean="0"/>
              <a:t>, </a:t>
            </a:r>
            <a:r>
              <a:rPr lang="en-US" dirty="0" smtClean="0">
                <a:hlinkClick r:id="rId6"/>
              </a:rPr>
              <a:t>L10</a:t>
            </a:r>
            <a:r>
              <a:rPr lang="en-US" dirty="0" smtClean="0"/>
              <a:t>, </a:t>
            </a:r>
            <a:r>
              <a:rPr lang="en-US" dirty="0" smtClean="0">
                <a:hlinkClick r:id="rId7"/>
              </a:rPr>
              <a:t>L11</a:t>
            </a:r>
            <a:r>
              <a:rPr lang="en-US" dirty="0" smtClean="0"/>
              <a:t>, </a:t>
            </a:r>
            <a:r>
              <a:rPr lang="en-US" dirty="0" smtClean="0">
                <a:hlinkClick r:id="rId8"/>
              </a:rPr>
              <a:t>L12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459065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Refresher: MIPS Single-Cycle Implementation</a:t>
            </a:r>
            <a:endParaRPr lang="en-US" dirty="0"/>
          </a:p>
        </p:txBody>
      </p:sp>
      <p:grpSp>
        <p:nvGrpSpPr>
          <p:cNvPr id="4" name="Group 3"/>
          <p:cNvGrpSpPr/>
          <p:nvPr/>
        </p:nvGrpSpPr>
        <p:grpSpPr>
          <a:xfrm>
            <a:off x="154671" y="1066800"/>
            <a:ext cx="8911382" cy="3731808"/>
            <a:chOff x="154671" y="1620197"/>
            <a:chExt cx="8911382" cy="3731808"/>
          </a:xfrm>
        </p:grpSpPr>
        <p:grpSp>
          <p:nvGrpSpPr>
            <p:cNvPr id="5" name="Group 4"/>
            <p:cNvGrpSpPr/>
            <p:nvPr/>
          </p:nvGrpSpPr>
          <p:grpSpPr>
            <a:xfrm>
              <a:off x="154671" y="2994625"/>
              <a:ext cx="1622694" cy="1386326"/>
              <a:chOff x="1738845" y="3229513"/>
              <a:chExt cx="1622694" cy="1386326"/>
            </a:xfrm>
          </p:grpSpPr>
          <p:grpSp>
            <p:nvGrpSpPr>
              <p:cNvPr id="130" name="Group 129"/>
              <p:cNvGrpSpPr/>
              <p:nvPr/>
            </p:nvGrpSpPr>
            <p:grpSpPr>
              <a:xfrm>
                <a:off x="1738845" y="3229513"/>
                <a:ext cx="1447262" cy="1386326"/>
                <a:chOff x="3124738" y="3598050"/>
                <a:chExt cx="1447262" cy="1386326"/>
              </a:xfrm>
            </p:grpSpPr>
            <p:sp>
              <p:nvSpPr>
                <p:cNvPr id="132" name="Rectangle 131"/>
                <p:cNvSpPr/>
                <p:nvPr/>
              </p:nvSpPr>
              <p:spPr bwMode="auto">
                <a:xfrm>
                  <a:off x="3126744" y="3598050"/>
                  <a:ext cx="1445256" cy="1386326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en-US" sz="2000" b="1" smtClean="0">
                    <a:latin typeface="Neo Sans Inte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133" name="TextBox 132"/>
                <p:cNvSpPr txBox="1"/>
                <p:nvPr/>
              </p:nvSpPr>
              <p:spPr>
                <a:xfrm>
                  <a:off x="3124738" y="3598050"/>
                  <a:ext cx="652743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100" dirty="0" smtClean="0">
                      <a:latin typeface="Neo Sans Intel" panose="020B0504020202020204" pitchFamily="34" charset="0"/>
                    </a:rPr>
                    <a:t>Read</a:t>
                  </a:r>
                </a:p>
                <a:p>
                  <a:r>
                    <a:rPr lang="en-US" sz="1100" dirty="0" smtClean="0">
                      <a:latin typeface="Neo Sans Intel" panose="020B0504020202020204" pitchFamily="34" charset="0"/>
                    </a:rPr>
                    <a:t>address</a:t>
                  </a:r>
                </a:p>
              </p:txBody>
            </p:sp>
            <p:sp>
              <p:nvSpPr>
                <p:cNvPr id="134" name="TextBox 133"/>
                <p:cNvSpPr txBox="1"/>
                <p:nvPr/>
              </p:nvSpPr>
              <p:spPr>
                <a:xfrm>
                  <a:off x="3673849" y="3601253"/>
                  <a:ext cx="898151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en-US" sz="1100" dirty="0" smtClean="0">
                      <a:latin typeface="Neo Sans Intel" panose="020B0504020202020204" pitchFamily="34" charset="0"/>
                    </a:rPr>
                    <a:t>Instruction [31-0]</a:t>
                  </a:r>
                </a:p>
              </p:txBody>
            </p:sp>
            <p:sp>
              <p:nvSpPr>
                <p:cNvPr id="135" name="TextBox 134"/>
                <p:cNvSpPr txBox="1"/>
                <p:nvPr/>
              </p:nvSpPr>
              <p:spPr>
                <a:xfrm>
                  <a:off x="3430026" y="4147773"/>
                  <a:ext cx="83869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400" dirty="0" smtClean="0">
                      <a:latin typeface="Neo Sans Intel Medium" panose="020B0604020202020204" pitchFamily="34" charset="0"/>
                    </a:rPr>
                    <a:t>Memory</a:t>
                  </a:r>
                </a:p>
              </p:txBody>
            </p:sp>
          </p:grpSp>
          <p:cxnSp>
            <p:nvCxnSpPr>
              <p:cNvPr id="131" name="Straight Arrow Connector 130"/>
              <p:cNvCxnSpPr>
                <a:stCxn id="134" idx="3"/>
              </p:cNvCxnSpPr>
              <p:nvPr/>
            </p:nvCxnSpPr>
            <p:spPr bwMode="auto">
              <a:xfrm>
                <a:off x="3186107" y="3448160"/>
                <a:ext cx="175432" cy="0"/>
              </a:xfrm>
              <a:prstGeom prst="straightConnector1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triangle" w="med" len="med"/>
              </a:ln>
              <a:effectLst/>
            </p:spPr>
          </p:cxnSp>
        </p:grpSp>
        <p:grpSp>
          <p:nvGrpSpPr>
            <p:cNvPr id="6" name="Group 5"/>
            <p:cNvGrpSpPr/>
            <p:nvPr/>
          </p:nvGrpSpPr>
          <p:grpSpPr>
            <a:xfrm>
              <a:off x="2546317" y="3911755"/>
              <a:ext cx="180391" cy="643543"/>
              <a:chOff x="3390790" y="3616963"/>
              <a:chExt cx="180391" cy="643543"/>
            </a:xfrm>
          </p:grpSpPr>
          <p:sp>
            <p:nvSpPr>
              <p:cNvPr id="126" name="Trapezoid 125"/>
              <p:cNvSpPr/>
              <p:nvPr/>
            </p:nvSpPr>
            <p:spPr bwMode="auto">
              <a:xfrm rot="5400000">
                <a:off x="3159214" y="3848539"/>
                <a:ext cx="643543" cy="180391"/>
              </a:xfrm>
              <a:prstGeom prst="trapezoid">
                <a:avLst>
                  <a:gd name="adj" fmla="val 53513"/>
                </a:avLst>
              </a:prstGeom>
              <a:solidFill>
                <a:schemeClr val="bg2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>
                  <a:latin typeface="Neo Sans Intel Medium" panose="020B0604020202020204" pitchFamily="34" charset="0"/>
                </a:endParaRPr>
              </a:p>
            </p:txBody>
          </p:sp>
          <p:sp>
            <p:nvSpPr>
              <p:cNvPr id="127" name="Rectangle 158"/>
              <p:cNvSpPr>
                <a:spLocks noChangeArrowheads="1"/>
              </p:cNvSpPr>
              <p:nvPr/>
            </p:nvSpPr>
            <p:spPr bwMode="auto">
              <a:xfrm flipH="1">
                <a:off x="3395878" y="3678301"/>
                <a:ext cx="85107" cy="107722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square" lIns="0" tIns="0" rIns="0" bIns="0">
                <a:spAutoFit/>
              </a:bodyPr>
              <a:lstStyle/>
              <a:p>
                <a:pPr algn="ctr"/>
                <a:r>
                  <a:rPr lang="en-US" sz="700" b="1" dirty="0">
                    <a:solidFill>
                      <a:srgbClr val="000000"/>
                    </a:solidFill>
                    <a:latin typeface="Neo Sans Intel" panose="020B0504020202020204" pitchFamily="34" charset="0"/>
                  </a:rPr>
                  <a:t>0</a:t>
                </a:r>
                <a:endParaRPr lang="en-US" sz="700" dirty="0">
                  <a:solidFill>
                    <a:srgbClr val="000000"/>
                  </a:solidFill>
                  <a:latin typeface="Neo Sans Intel" panose="020B0504020202020204" pitchFamily="34" charset="0"/>
                </a:endParaRPr>
              </a:p>
            </p:txBody>
          </p:sp>
          <p:sp>
            <p:nvSpPr>
              <p:cNvPr id="128" name="Rectangle 159"/>
              <p:cNvSpPr>
                <a:spLocks noChangeArrowheads="1"/>
              </p:cNvSpPr>
              <p:nvPr/>
            </p:nvSpPr>
            <p:spPr bwMode="auto">
              <a:xfrm flipH="1">
                <a:off x="3395879" y="4095679"/>
                <a:ext cx="85106" cy="107722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square" lIns="0" tIns="0" rIns="0" bIns="0">
                <a:spAutoFit/>
              </a:bodyPr>
              <a:lstStyle/>
              <a:p>
                <a:pPr algn="ctr"/>
                <a:r>
                  <a:rPr lang="en-US" sz="700" b="1" dirty="0">
                    <a:solidFill>
                      <a:srgbClr val="000000"/>
                    </a:solidFill>
                    <a:latin typeface="Neo Sans Intel" panose="020B0504020202020204" pitchFamily="34" charset="0"/>
                  </a:rPr>
                  <a:t>1</a:t>
                </a:r>
              </a:p>
            </p:txBody>
          </p:sp>
          <p:sp>
            <p:nvSpPr>
              <p:cNvPr id="129" name="Rectangle 160"/>
              <p:cNvSpPr>
                <a:spLocks noChangeArrowheads="1"/>
              </p:cNvSpPr>
              <p:nvPr/>
            </p:nvSpPr>
            <p:spPr bwMode="auto">
              <a:xfrm flipH="1">
                <a:off x="3450365" y="3821794"/>
                <a:ext cx="84960" cy="258532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>
                  <a:lnSpc>
                    <a:spcPct val="70000"/>
                  </a:lnSpc>
                </a:pPr>
                <a:r>
                  <a:rPr lang="en-US" sz="800" b="1" dirty="0">
                    <a:solidFill>
                      <a:srgbClr val="000000"/>
                    </a:solidFill>
                    <a:latin typeface="Neo Sans Intel Medium" panose="020B0604020202020204" pitchFamily="34" charset="0"/>
                  </a:rPr>
                  <a:t>m</a:t>
                </a:r>
              </a:p>
              <a:p>
                <a:pPr algn="ctr">
                  <a:lnSpc>
                    <a:spcPct val="70000"/>
                  </a:lnSpc>
                </a:pPr>
                <a:r>
                  <a:rPr lang="en-US" sz="800" b="1" dirty="0">
                    <a:solidFill>
                      <a:srgbClr val="000000"/>
                    </a:solidFill>
                    <a:latin typeface="Neo Sans Intel Medium" panose="020B0604020202020204" pitchFamily="34" charset="0"/>
                  </a:rPr>
                  <a:t>u</a:t>
                </a:r>
              </a:p>
              <a:p>
                <a:pPr algn="ctr">
                  <a:lnSpc>
                    <a:spcPct val="70000"/>
                  </a:lnSpc>
                </a:pPr>
                <a:r>
                  <a:rPr lang="en-US" sz="800" b="1" dirty="0">
                    <a:solidFill>
                      <a:srgbClr val="000000"/>
                    </a:solidFill>
                    <a:latin typeface="Neo Sans Intel Medium" panose="020B0604020202020204" pitchFamily="34" charset="0"/>
                  </a:rPr>
                  <a:t>x</a:t>
                </a:r>
                <a:endParaRPr lang="en-US" sz="500" dirty="0">
                  <a:solidFill>
                    <a:srgbClr val="000000"/>
                  </a:solidFill>
                  <a:latin typeface="Neo Sans Intel Medium" panose="020B0604020202020204" pitchFamily="34" charset="0"/>
                </a:endParaRPr>
              </a:p>
            </p:txBody>
          </p:sp>
        </p:grpSp>
        <p:grpSp>
          <p:nvGrpSpPr>
            <p:cNvPr id="7" name="Group 6"/>
            <p:cNvGrpSpPr/>
            <p:nvPr/>
          </p:nvGrpSpPr>
          <p:grpSpPr>
            <a:xfrm>
              <a:off x="3107902" y="3005501"/>
              <a:ext cx="1552498" cy="1873251"/>
              <a:chOff x="4488424" y="3657632"/>
              <a:chExt cx="1552498" cy="1873251"/>
            </a:xfrm>
          </p:grpSpPr>
          <p:sp>
            <p:nvSpPr>
              <p:cNvPr id="117" name="Rectangle 116"/>
              <p:cNvSpPr/>
              <p:nvPr/>
            </p:nvSpPr>
            <p:spPr bwMode="auto">
              <a:xfrm>
                <a:off x="4490028" y="3657632"/>
                <a:ext cx="1550894" cy="1870677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en-US" sz="2000" b="1" smtClean="0">
                  <a:latin typeface="Neo Sans Intel" pitchFamily="34" charset="0"/>
                  <a:cs typeface="Arial" pitchFamily="34" charset="0"/>
                </a:endParaRPr>
              </a:p>
            </p:txBody>
          </p:sp>
          <p:sp>
            <p:nvSpPr>
              <p:cNvPr id="118" name="TextBox 117"/>
              <p:cNvSpPr txBox="1"/>
              <p:nvPr/>
            </p:nvSpPr>
            <p:spPr>
              <a:xfrm>
                <a:off x="4490028" y="3657633"/>
                <a:ext cx="771365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dirty="0" smtClean="0">
                    <a:latin typeface="Neo Sans Intel" panose="020B0504020202020204" pitchFamily="34" charset="0"/>
                  </a:rPr>
                  <a:t>Read</a:t>
                </a:r>
              </a:p>
              <a:p>
                <a:r>
                  <a:rPr lang="en-US" sz="1100" dirty="0">
                    <a:latin typeface="Neo Sans Intel" panose="020B0504020202020204" pitchFamily="34" charset="0"/>
                  </a:rPr>
                  <a:t>r</a:t>
                </a:r>
                <a:r>
                  <a:rPr lang="en-US" sz="1100" dirty="0" smtClean="0">
                    <a:latin typeface="Neo Sans Intel" panose="020B0504020202020204" pitchFamily="34" charset="0"/>
                  </a:rPr>
                  <a:t>egister </a:t>
                </a:r>
                <a:r>
                  <a:rPr lang="en-US" sz="1100" b="1" dirty="0" smtClean="0">
                    <a:latin typeface="Neo Sans Intel" panose="020B0504020202020204" pitchFamily="34" charset="0"/>
                  </a:rPr>
                  <a:t>1</a:t>
                </a:r>
              </a:p>
            </p:txBody>
          </p:sp>
          <p:sp>
            <p:nvSpPr>
              <p:cNvPr id="119" name="TextBox 118"/>
              <p:cNvSpPr txBox="1"/>
              <p:nvPr/>
            </p:nvSpPr>
            <p:spPr>
              <a:xfrm>
                <a:off x="5142771" y="3660836"/>
                <a:ext cx="898151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sz="1100" dirty="0" smtClean="0">
                    <a:latin typeface="Neo Sans Intel" panose="020B0504020202020204" pitchFamily="34" charset="0"/>
                  </a:rPr>
                  <a:t>Read</a:t>
                </a:r>
              </a:p>
              <a:p>
                <a:pPr algn="r"/>
                <a:r>
                  <a:rPr lang="en-US" sz="1100" dirty="0">
                    <a:latin typeface="Neo Sans Intel" panose="020B0504020202020204" pitchFamily="34" charset="0"/>
                  </a:rPr>
                  <a:t>d</a:t>
                </a:r>
                <a:r>
                  <a:rPr lang="en-US" sz="1100" dirty="0" smtClean="0">
                    <a:latin typeface="Neo Sans Intel" panose="020B0504020202020204" pitchFamily="34" charset="0"/>
                  </a:rPr>
                  <a:t>ata </a:t>
                </a:r>
                <a:r>
                  <a:rPr lang="en-US" sz="1100" b="1" dirty="0" smtClean="0">
                    <a:latin typeface="Neo Sans Intel" panose="020B0504020202020204" pitchFamily="34" charset="0"/>
                  </a:rPr>
                  <a:t>1</a:t>
                </a:r>
              </a:p>
            </p:txBody>
          </p:sp>
          <p:sp>
            <p:nvSpPr>
              <p:cNvPr id="120" name="TextBox 119"/>
              <p:cNvSpPr txBox="1"/>
              <p:nvPr/>
            </p:nvSpPr>
            <p:spPr>
              <a:xfrm>
                <a:off x="5088107" y="5220532"/>
                <a:ext cx="94910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400" dirty="0" smtClean="0">
                    <a:latin typeface="Neo Sans Intel Medium" panose="020B0604020202020204" pitchFamily="34" charset="0"/>
                  </a:rPr>
                  <a:t>Registers</a:t>
                </a:r>
              </a:p>
            </p:txBody>
          </p:sp>
          <p:sp>
            <p:nvSpPr>
              <p:cNvPr id="121" name="TextBox 120"/>
              <p:cNvSpPr txBox="1"/>
              <p:nvPr/>
            </p:nvSpPr>
            <p:spPr>
              <a:xfrm>
                <a:off x="4490028" y="4132149"/>
                <a:ext cx="772969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dirty="0" smtClean="0">
                    <a:latin typeface="Neo Sans Intel" panose="020B0504020202020204" pitchFamily="34" charset="0"/>
                  </a:rPr>
                  <a:t>Read</a:t>
                </a:r>
              </a:p>
              <a:p>
                <a:r>
                  <a:rPr lang="en-US" sz="1100" dirty="0">
                    <a:latin typeface="Neo Sans Intel" panose="020B0504020202020204" pitchFamily="34" charset="0"/>
                  </a:rPr>
                  <a:t>r</a:t>
                </a:r>
                <a:r>
                  <a:rPr lang="en-US" sz="1100" dirty="0" smtClean="0">
                    <a:latin typeface="Neo Sans Intel" panose="020B0504020202020204" pitchFamily="34" charset="0"/>
                  </a:rPr>
                  <a:t>egister </a:t>
                </a:r>
                <a:r>
                  <a:rPr lang="en-US" sz="1100" b="1" dirty="0" smtClean="0">
                    <a:latin typeface="Neo Sans Intel" panose="020B0504020202020204" pitchFamily="34" charset="0"/>
                  </a:rPr>
                  <a:t>2</a:t>
                </a:r>
              </a:p>
            </p:txBody>
          </p:sp>
          <p:sp>
            <p:nvSpPr>
              <p:cNvPr id="122" name="TextBox 121"/>
              <p:cNvSpPr txBox="1"/>
              <p:nvPr/>
            </p:nvSpPr>
            <p:spPr>
              <a:xfrm>
                <a:off x="5142771" y="4285847"/>
                <a:ext cx="898151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sz="1100" dirty="0" smtClean="0">
                    <a:latin typeface="Neo Sans Intel" panose="020B0504020202020204" pitchFamily="34" charset="0"/>
                  </a:rPr>
                  <a:t>Read</a:t>
                </a:r>
              </a:p>
              <a:p>
                <a:pPr algn="r"/>
                <a:r>
                  <a:rPr lang="en-US" sz="1100" dirty="0">
                    <a:latin typeface="Neo Sans Intel" panose="020B0504020202020204" pitchFamily="34" charset="0"/>
                  </a:rPr>
                  <a:t>d</a:t>
                </a:r>
                <a:r>
                  <a:rPr lang="en-US" sz="1100" dirty="0" smtClean="0">
                    <a:latin typeface="Neo Sans Intel" panose="020B0504020202020204" pitchFamily="34" charset="0"/>
                  </a:rPr>
                  <a:t>ata </a:t>
                </a:r>
                <a:r>
                  <a:rPr lang="en-US" sz="1100" b="1" dirty="0">
                    <a:latin typeface="Neo Sans Intel" panose="020B0504020202020204" pitchFamily="34" charset="0"/>
                  </a:rPr>
                  <a:t>2</a:t>
                </a:r>
                <a:endParaRPr lang="en-US" sz="1100" b="1" dirty="0" smtClean="0">
                  <a:latin typeface="Neo Sans Intel" panose="020B0504020202020204" pitchFamily="34" charset="0"/>
                </a:endParaRPr>
              </a:p>
            </p:txBody>
          </p:sp>
          <p:sp>
            <p:nvSpPr>
              <p:cNvPr id="123" name="TextBox 122"/>
              <p:cNvSpPr txBox="1"/>
              <p:nvPr/>
            </p:nvSpPr>
            <p:spPr>
              <a:xfrm>
                <a:off x="4488424" y="4669109"/>
                <a:ext cx="654346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dirty="0" smtClean="0">
                    <a:latin typeface="Neo Sans Intel" panose="020B0504020202020204" pitchFamily="34" charset="0"/>
                  </a:rPr>
                  <a:t>Write</a:t>
                </a:r>
              </a:p>
              <a:p>
                <a:r>
                  <a:rPr lang="en-US" sz="1100" dirty="0" smtClean="0">
                    <a:latin typeface="Neo Sans Intel" panose="020B0504020202020204" pitchFamily="34" charset="0"/>
                  </a:rPr>
                  <a:t>register</a:t>
                </a:r>
                <a:endParaRPr lang="en-US" sz="1100" b="1" dirty="0" smtClean="0">
                  <a:latin typeface="Neo Sans Intel" panose="020B0504020202020204" pitchFamily="34" charset="0"/>
                </a:endParaRPr>
              </a:p>
            </p:txBody>
          </p:sp>
          <p:sp>
            <p:nvSpPr>
              <p:cNvPr id="124" name="TextBox 123"/>
              <p:cNvSpPr txBox="1"/>
              <p:nvPr/>
            </p:nvSpPr>
            <p:spPr>
              <a:xfrm>
                <a:off x="4490028" y="5099996"/>
                <a:ext cx="506870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dirty="0" smtClean="0">
                    <a:latin typeface="Neo Sans Intel" panose="020B0504020202020204" pitchFamily="34" charset="0"/>
                  </a:rPr>
                  <a:t>Write</a:t>
                </a:r>
              </a:p>
              <a:p>
                <a:r>
                  <a:rPr lang="en-US" sz="1100" dirty="0" smtClean="0">
                    <a:latin typeface="Neo Sans Intel" panose="020B0504020202020204" pitchFamily="34" charset="0"/>
                  </a:rPr>
                  <a:t>data</a:t>
                </a:r>
                <a:endParaRPr lang="en-US" sz="1100" b="1" dirty="0" smtClean="0">
                  <a:latin typeface="Neo Sans Intel" panose="020B0504020202020204" pitchFamily="34" charset="0"/>
                </a:endParaRPr>
              </a:p>
            </p:txBody>
          </p:sp>
          <p:sp>
            <p:nvSpPr>
              <p:cNvPr id="125" name="Rectangle 124"/>
              <p:cNvSpPr/>
              <p:nvPr/>
            </p:nvSpPr>
            <p:spPr bwMode="auto">
              <a:xfrm>
                <a:off x="5194990" y="3666551"/>
                <a:ext cx="133350" cy="13335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3175" cap="flat" cmpd="sng" algn="ctr">
                <a:noFill/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en-US" sz="2000" b="1" smtClean="0">
                  <a:latin typeface="Neo Sans Intel" pitchFamily="34" charset="0"/>
                  <a:cs typeface="Arial" pitchFamily="34" charset="0"/>
                </a:endParaRPr>
              </a:p>
            </p:txBody>
          </p:sp>
        </p:grpSp>
        <p:grpSp>
          <p:nvGrpSpPr>
            <p:cNvPr id="8" name="Group 7"/>
            <p:cNvGrpSpPr/>
            <p:nvPr/>
          </p:nvGrpSpPr>
          <p:grpSpPr>
            <a:xfrm>
              <a:off x="3513352" y="2631170"/>
              <a:ext cx="739305" cy="393410"/>
              <a:chOff x="4262754" y="2858356"/>
              <a:chExt cx="739305" cy="393410"/>
            </a:xfrm>
          </p:grpSpPr>
          <p:sp>
            <p:nvSpPr>
              <p:cNvPr id="115" name="TextBox 114"/>
              <p:cNvSpPr txBox="1"/>
              <p:nvPr/>
            </p:nvSpPr>
            <p:spPr>
              <a:xfrm>
                <a:off x="4262754" y="2858356"/>
                <a:ext cx="739305" cy="261610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ctr"/>
                <a:r>
                  <a:rPr lang="en-US" sz="1100" dirty="0" err="1" smtClean="0">
                    <a:solidFill>
                      <a:schemeClr val="accent1"/>
                    </a:solidFill>
                    <a:latin typeface="Neo Sans Intel" panose="020B0504020202020204" pitchFamily="34" charset="0"/>
                  </a:rPr>
                  <a:t>RegWrite</a:t>
                </a:r>
                <a:endParaRPr lang="en-US" sz="1100" dirty="0" smtClean="0">
                  <a:solidFill>
                    <a:schemeClr val="accent1"/>
                  </a:solidFill>
                  <a:latin typeface="Neo Sans Intel" panose="020B0504020202020204" pitchFamily="34" charset="0"/>
                </a:endParaRPr>
              </a:p>
            </p:txBody>
          </p:sp>
          <p:cxnSp>
            <p:nvCxnSpPr>
              <p:cNvPr id="116" name="Straight Connector 115"/>
              <p:cNvCxnSpPr>
                <a:stCxn id="115" idx="2"/>
                <a:endCxn id="125" idx="0"/>
              </p:cNvCxnSpPr>
              <p:nvPr/>
            </p:nvCxnSpPr>
            <p:spPr bwMode="auto">
              <a:xfrm flipH="1">
                <a:off x="4630545" y="3119966"/>
                <a:ext cx="1862" cy="131800"/>
              </a:xfrm>
              <a:prstGeom prst="line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cxnSp>
          <p:nvCxnSpPr>
            <p:cNvPr id="9" name="Straight Arrow Connector 8"/>
            <p:cNvCxnSpPr>
              <a:stCxn id="119" idx="3"/>
              <a:endCxn id="111" idx="1"/>
            </p:cNvCxnSpPr>
            <p:nvPr/>
          </p:nvCxnSpPr>
          <p:spPr bwMode="auto">
            <a:xfrm flipV="1">
              <a:off x="4660400" y="3223789"/>
              <a:ext cx="794482" cy="360"/>
            </a:xfrm>
            <a:prstGeom prst="straightConnector1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</p:cxnSp>
        <p:grpSp>
          <p:nvGrpSpPr>
            <p:cNvPr id="10" name="Group 9"/>
            <p:cNvGrpSpPr/>
            <p:nvPr/>
          </p:nvGrpSpPr>
          <p:grpSpPr>
            <a:xfrm>
              <a:off x="5454882" y="2909792"/>
              <a:ext cx="727535" cy="1439797"/>
              <a:chOff x="6728724" y="3121968"/>
              <a:chExt cx="727535" cy="1439797"/>
            </a:xfrm>
          </p:grpSpPr>
          <p:sp>
            <p:nvSpPr>
              <p:cNvPr id="109" name="Freeform 127"/>
              <p:cNvSpPr>
                <a:spLocks/>
              </p:cNvSpPr>
              <p:nvPr/>
            </p:nvSpPr>
            <p:spPr bwMode="auto">
              <a:xfrm>
                <a:off x="6728724" y="3121968"/>
                <a:ext cx="727535" cy="1439797"/>
              </a:xfrm>
              <a:custGeom>
                <a:avLst/>
                <a:gdLst>
                  <a:gd name="T0" fmla="*/ 0 w 210"/>
                  <a:gd name="T1" fmla="*/ 0 h 413"/>
                  <a:gd name="T2" fmla="*/ 0 w 210"/>
                  <a:gd name="T3" fmla="*/ 167 h 413"/>
                  <a:gd name="T4" fmla="*/ 91 w 210"/>
                  <a:gd name="T5" fmla="*/ 207 h 413"/>
                  <a:gd name="T6" fmla="*/ 0 w 210"/>
                  <a:gd name="T7" fmla="*/ 245 h 413"/>
                  <a:gd name="T8" fmla="*/ 0 w 210"/>
                  <a:gd name="T9" fmla="*/ 412 h 413"/>
                  <a:gd name="T10" fmla="*/ 284 w 210"/>
                  <a:gd name="T11" fmla="*/ 286 h 413"/>
                  <a:gd name="T12" fmla="*/ 284 w 210"/>
                  <a:gd name="T13" fmla="*/ 127 h 413"/>
                  <a:gd name="T14" fmla="*/ 0 w 210"/>
                  <a:gd name="T15" fmla="*/ 0 h 413"/>
                  <a:gd name="T16" fmla="*/ 0 w 210"/>
                  <a:gd name="T17" fmla="*/ 0 h 413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210"/>
                  <a:gd name="T28" fmla="*/ 0 h 413"/>
                  <a:gd name="T29" fmla="*/ 210 w 210"/>
                  <a:gd name="T30" fmla="*/ 413 h 413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210" h="413">
                    <a:moveTo>
                      <a:pt x="0" y="0"/>
                    </a:moveTo>
                    <a:lnTo>
                      <a:pt x="0" y="167"/>
                    </a:lnTo>
                    <a:lnTo>
                      <a:pt x="67" y="207"/>
                    </a:lnTo>
                    <a:lnTo>
                      <a:pt x="0" y="245"/>
                    </a:lnTo>
                    <a:lnTo>
                      <a:pt x="0" y="412"/>
                    </a:lnTo>
                    <a:lnTo>
                      <a:pt x="209" y="286"/>
                    </a:lnTo>
                    <a:lnTo>
                      <a:pt x="209" y="127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accent5">
                  <a:lumMod val="60000"/>
                  <a:lumOff val="4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eaLnBrk="0" hangingPunct="0"/>
                <a:endParaRPr lang="en-US" sz="2000" b="1">
                  <a:latin typeface="Neo Sans Intel" pitchFamily="34" charset="0"/>
                  <a:cs typeface="Arial" pitchFamily="34" charset="0"/>
                </a:endParaRPr>
              </a:p>
            </p:txBody>
          </p:sp>
          <p:sp>
            <p:nvSpPr>
              <p:cNvPr id="110" name="TextBox 109"/>
              <p:cNvSpPr txBox="1"/>
              <p:nvPr/>
            </p:nvSpPr>
            <p:spPr>
              <a:xfrm>
                <a:off x="6728724" y="3392722"/>
                <a:ext cx="363767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1200" dirty="0" smtClean="0">
                    <a:latin typeface="Neo Sans Intel Medium" panose="020B0604020202020204" pitchFamily="34" charset="0"/>
                  </a:rPr>
                  <a:t>ALU</a:t>
                </a:r>
              </a:p>
            </p:txBody>
          </p:sp>
          <p:sp>
            <p:nvSpPr>
              <p:cNvPr id="111" name="TextBox 110"/>
              <p:cNvSpPr txBox="1"/>
              <p:nvPr/>
            </p:nvSpPr>
            <p:spPr>
              <a:xfrm>
                <a:off x="6728724" y="3319972"/>
                <a:ext cx="155484" cy="2319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500" dirty="0" smtClean="0">
                    <a:latin typeface="Neo Sans Intel" panose="020B0504020202020204" pitchFamily="34" charset="0"/>
                  </a:rPr>
                  <a:t> </a:t>
                </a:r>
              </a:p>
            </p:txBody>
          </p:sp>
          <p:sp>
            <p:nvSpPr>
              <p:cNvPr id="112" name="TextBox 111"/>
              <p:cNvSpPr txBox="1"/>
              <p:nvPr/>
            </p:nvSpPr>
            <p:spPr>
              <a:xfrm>
                <a:off x="6728724" y="4152246"/>
                <a:ext cx="155484" cy="2319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500" dirty="0" smtClean="0">
                    <a:latin typeface="Neo Sans Intel" panose="020B0504020202020204" pitchFamily="34" charset="0"/>
                  </a:rPr>
                  <a:t> </a:t>
                </a:r>
              </a:p>
            </p:txBody>
          </p:sp>
          <p:sp>
            <p:nvSpPr>
              <p:cNvPr id="113" name="TextBox 112"/>
              <p:cNvSpPr txBox="1"/>
              <p:nvPr/>
            </p:nvSpPr>
            <p:spPr>
              <a:xfrm>
                <a:off x="6969760" y="3801019"/>
                <a:ext cx="481419" cy="261610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 algn="ctr"/>
                <a:r>
                  <a:rPr lang="en-US" sz="1100" dirty="0" smtClean="0">
                    <a:latin typeface="Neo Sans Intel" panose="020B0504020202020204" pitchFamily="34" charset="0"/>
                  </a:rPr>
                  <a:t>Result</a:t>
                </a:r>
                <a:endParaRPr lang="en-US" sz="1100" b="1" dirty="0" smtClean="0">
                  <a:latin typeface="Neo Sans Intel" panose="020B0504020202020204" pitchFamily="34" charset="0"/>
                </a:endParaRPr>
              </a:p>
            </p:txBody>
          </p:sp>
          <p:sp>
            <p:nvSpPr>
              <p:cNvPr id="114" name="TextBox 113"/>
              <p:cNvSpPr txBox="1"/>
              <p:nvPr/>
            </p:nvSpPr>
            <p:spPr>
              <a:xfrm>
                <a:off x="6904108" y="3557248"/>
                <a:ext cx="547071" cy="230832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 algn="ctr"/>
                <a:r>
                  <a:rPr lang="en-US" sz="900" dirty="0" err="1" smtClean="0">
                    <a:latin typeface="Neo Sans Intel" panose="020B0504020202020204" pitchFamily="34" charset="0"/>
                  </a:rPr>
                  <a:t>CondCode</a:t>
                </a:r>
                <a:endParaRPr lang="en-US" sz="900" b="1" dirty="0" smtClean="0">
                  <a:latin typeface="Neo Sans Intel" panose="020B0504020202020204" pitchFamily="34" charset="0"/>
                </a:endParaRPr>
              </a:p>
            </p:txBody>
          </p:sp>
        </p:grpSp>
        <p:cxnSp>
          <p:nvCxnSpPr>
            <p:cNvPr id="11" name="Elbow Connector 10"/>
            <p:cNvCxnSpPr>
              <a:stCxn id="122" idx="3"/>
              <a:endCxn id="104" idx="3"/>
            </p:cNvCxnSpPr>
            <p:nvPr/>
          </p:nvCxnSpPr>
          <p:spPr bwMode="auto">
            <a:xfrm flipV="1">
              <a:off x="4660400" y="3848031"/>
              <a:ext cx="454431" cy="1129"/>
            </a:xfrm>
            <a:prstGeom prst="bentConnector3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</p:cxnSp>
        <p:cxnSp>
          <p:nvCxnSpPr>
            <p:cNvPr id="12" name="Elbow Connector 11"/>
            <p:cNvCxnSpPr>
              <a:stCxn id="93" idx="0"/>
              <a:endCxn id="124" idx="1"/>
            </p:cNvCxnSpPr>
            <p:nvPr/>
          </p:nvCxnSpPr>
          <p:spPr bwMode="auto">
            <a:xfrm flipH="1">
              <a:off x="3109506" y="3453128"/>
              <a:ext cx="5615445" cy="1210181"/>
            </a:xfrm>
            <a:prstGeom prst="bentConnector5">
              <a:avLst>
                <a:gd name="adj1" fmla="val -4071"/>
                <a:gd name="adj2" fmla="val 172985"/>
                <a:gd name="adj3" fmla="val 104071"/>
              </a:avLst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</p:cxnSp>
        <p:sp>
          <p:nvSpPr>
            <p:cNvPr id="13" name="Oval 12"/>
            <p:cNvSpPr/>
            <p:nvPr/>
          </p:nvSpPr>
          <p:spPr bwMode="auto">
            <a:xfrm>
              <a:off x="1743407" y="3183822"/>
              <a:ext cx="72472" cy="72472"/>
            </a:xfrm>
            <a:prstGeom prst="ellipse">
              <a:avLst/>
            </a:prstGeom>
            <a:solidFill>
              <a:schemeClr val="tx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b="1" smtClean="0">
                <a:latin typeface="Neo Sans Intel" pitchFamily="34" charset="0"/>
                <a:cs typeface="Arial" pitchFamily="34" charset="0"/>
              </a:endParaRPr>
            </a:p>
          </p:txBody>
        </p:sp>
        <p:cxnSp>
          <p:nvCxnSpPr>
            <p:cNvPr id="14" name="Straight Arrow Connector 13"/>
            <p:cNvCxnSpPr>
              <a:stCxn id="13" idx="6"/>
              <a:endCxn id="118" idx="1"/>
            </p:cNvCxnSpPr>
            <p:nvPr/>
          </p:nvCxnSpPr>
          <p:spPr bwMode="auto">
            <a:xfrm>
              <a:off x="1815879" y="3220058"/>
              <a:ext cx="1293627" cy="888"/>
            </a:xfrm>
            <a:prstGeom prst="straightConnector1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</p:cxnSp>
        <p:cxnSp>
          <p:nvCxnSpPr>
            <p:cNvPr id="15" name="Elbow Connector 14"/>
            <p:cNvCxnSpPr>
              <a:stCxn id="13" idx="4"/>
              <a:endCxn id="121" idx="1"/>
            </p:cNvCxnSpPr>
            <p:nvPr/>
          </p:nvCxnSpPr>
          <p:spPr bwMode="auto">
            <a:xfrm rot="16200000" flipH="1">
              <a:off x="2224990" y="2810946"/>
              <a:ext cx="439168" cy="1329863"/>
            </a:xfrm>
            <a:prstGeom prst="bentConnector2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</p:cxnSp>
        <p:cxnSp>
          <p:nvCxnSpPr>
            <p:cNvPr id="16" name="Elbow Connector 15"/>
            <p:cNvCxnSpPr>
              <a:stCxn id="13" idx="4"/>
              <a:endCxn id="128" idx="3"/>
            </p:cNvCxnSpPr>
            <p:nvPr/>
          </p:nvCxnSpPr>
          <p:spPr bwMode="auto">
            <a:xfrm rot="16200000" flipH="1">
              <a:off x="1571505" y="3464431"/>
              <a:ext cx="1188038" cy="771763"/>
            </a:xfrm>
            <a:prstGeom prst="bentConnector2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</p:cxnSp>
        <p:sp>
          <p:nvSpPr>
            <p:cNvPr id="17" name="TextBox 16"/>
            <p:cNvSpPr txBox="1"/>
            <p:nvPr/>
          </p:nvSpPr>
          <p:spPr>
            <a:xfrm>
              <a:off x="1790302" y="2940272"/>
              <a:ext cx="75854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smtClean="0">
                  <a:latin typeface="Neo Sans Intel" panose="020B0504020202020204" pitchFamily="34" charset="0"/>
                </a:rPr>
                <a:t>I [25-21]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782438" y="3413550"/>
              <a:ext cx="75854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smtClean="0">
                  <a:latin typeface="Neo Sans Intel" panose="020B0504020202020204" pitchFamily="34" charset="0"/>
                </a:rPr>
                <a:t>I [20-16]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759821" y="4157483"/>
              <a:ext cx="75854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smtClean="0">
                  <a:latin typeface="Neo Sans Intel" panose="020B0504020202020204" pitchFamily="34" charset="0"/>
                </a:rPr>
                <a:t>I [15-11]</a:t>
              </a:r>
            </a:p>
          </p:txBody>
        </p:sp>
        <p:grpSp>
          <p:nvGrpSpPr>
            <p:cNvPr id="20" name="Group 19"/>
            <p:cNvGrpSpPr/>
            <p:nvPr/>
          </p:nvGrpSpPr>
          <p:grpSpPr>
            <a:xfrm>
              <a:off x="5542593" y="4068255"/>
              <a:ext cx="580608" cy="532039"/>
              <a:chOff x="6598319" y="4283249"/>
              <a:chExt cx="580608" cy="532039"/>
            </a:xfrm>
          </p:grpSpPr>
          <p:sp>
            <p:nvSpPr>
              <p:cNvPr id="107" name="TextBox 106"/>
              <p:cNvSpPr txBox="1"/>
              <p:nvPr/>
            </p:nvSpPr>
            <p:spPr>
              <a:xfrm>
                <a:off x="6598319" y="4553678"/>
                <a:ext cx="580608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dirty="0" err="1" smtClean="0">
                    <a:solidFill>
                      <a:schemeClr val="accent1"/>
                    </a:solidFill>
                    <a:latin typeface="Neo Sans Intel" panose="020B0504020202020204" pitchFamily="34" charset="0"/>
                  </a:rPr>
                  <a:t>ALUop</a:t>
                </a:r>
                <a:endParaRPr lang="en-US" sz="1100" dirty="0" smtClean="0">
                  <a:solidFill>
                    <a:schemeClr val="accent1"/>
                  </a:solidFill>
                  <a:latin typeface="Neo Sans Intel" panose="020B0504020202020204" pitchFamily="34" charset="0"/>
                </a:endParaRPr>
              </a:p>
            </p:txBody>
          </p:sp>
          <p:cxnSp>
            <p:nvCxnSpPr>
              <p:cNvPr id="108" name="Straight Connector 107"/>
              <p:cNvCxnSpPr/>
              <p:nvPr/>
            </p:nvCxnSpPr>
            <p:spPr bwMode="auto">
              <a:xfrm flipH="1">
                <a:off x="6967969" y="4283249"/>
                <a:ext cx="32" cy="272672"/>
              </a:xfrm>
              <a:prstGeom prst="line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21" name="Oval 20"/>
            <p:cNvSpPr/>
            <p:nvPr/>
          </p:nvSpPr>
          <p:spPr bwMode="auto">
            <a:xfrm>
              <a:off x="2289085" y="3662429"/>
              <a:ext cx="72472" cy="72472"/>
            </a:xfrm>
            <a:prstGeom prst="ellipse">
              <a:avLst/>
            </a:prstGeom>
            <a:solidFill>
              <a:schemeClr val="tx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b="1" smtClean="0">
                <a:latin typeface="Neo Sans Intel" pitchFamily="34" charset="0"/>
                <a:cs typeface="Arial" pitchFamily="34" charset="0"/>
              </a:endParaRPr>
            </a:p>
          </p:txBody>
        </p:sp>
        <p:cxnSp>
          <p:nvCxnSpPr>
            <p:cNvPr id="22" name="Elbow Connector 21"/>
            <p:cNvCxnSpPr>
              <a:stCxn id="21" idx="4"/>
              <a:endCxn id="127" idx="3"/>
            </p:cNvCxnSpPr>
            <p:nvPr/>
          </p:nvCxnSpPr>
          <p:spPr bwMode="auto">
            <a:xfrm rot="16200000" flipH="1">
              <a:off x="2292337" y="3767885"/>
              <a:ext cx="292053" cy="226084"/>
            </a:xfrm>
            <a:prstGeom prst="bentConnector2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</p:cxnSp>
        <p:cxnSp>
          <p:nvCxnSpPr>
            <p:cNvPr id="23" name="Straight Arrow Connector 22"/>
            <p:cNvCxnSpPr>
              <a:stCxn id="126" idx="0"/>
              <a:endCxn id="123" idx="1"/>
            </p:cNvCxnSpPr>
            <p:nvPr/>
          </p:nvCxnSpPr>
          <p:spPr bwMode="auto">
            <a:xfrm flipV="1">
              <a:off x="2726708" y="4232422"/>
              <a:ext cx="381194" cy="1105"/>
            </a:xfrm>
            <a:prstGeom prst="straightConnector1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</p:cxnSp>
        <p:sp>
          <p:nvSpPr>
            <p:cNvPr id="24" name="Rounded Rectangle 23"/>
            <p:cNvSpPr/>
            <p:nvPr/>
          </p:nvSpPr>
          <p:spPr bwMode="auto">
            <a:xfrm>
              <a:off x="3435075" y="5078121"/>
              <a:ext cx="953678" cy="273884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1100" dirty="0" smtClean="0">
                  <a:latin typeface="Neo Sans Intel Medium" panose="020B0604020202020204" pitchFamily="34" charset="0"/>
                  <a:cs typeface="Arial" pitchFamily="34" charset="0"/>
                </a:rPr>
                <a:t>Sign extend</a:t>
              </a:r>
              <a:endParaRPr lang="en-US" sz="1100" dirty="0">
                <a:latin typeface="Neo Sans Intel Medium" panose="020B0604020202020204" pitchFamily="34" charset="0"/>
                <a:cs typeface="Arial" pitchFamily="34" charset="0"/>
              </a:endParaRPr>
            </a:p>
          </p:txBody>
        </p:sp>
        <p:cxnSp>
          <p:nvCxnSpPr>
            <p:cNvPr id="25" name="Elbow Connector 24"/>
            <p:cNvCxnSpPr>
              <a:stCxn id="13" idx="4"/>
              <a:endCxn id="24" idx="1"/>
            </p:cNvCxnSpPr>
            <p:nvPr/>
          </p:nvCxnSpPr>
          <p:spPr bwMode="auto">
            <a:xfrm rot="16200000" flipH="1">
              <a:off x="1627975" y="3407962"/>
              <a:ext cx="1958769" cy="1655432"/>
            </a:xfrm>
            <a:prstGeom prst="bentConnector2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</p:cxnSp>
        <p:sp>
          <p:nvSpPr>
            <p:cNvPr id="26" name="TextBox 25"/>
            <p:cNvSpPr txBox="1"/>
            <p:nvPr/>
          </p:nvSpPr>
          <p:spPr>
            <a:xfrm>
              <a:off x="1782438" y="4940107"/>
              <a:ext cx="66877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smtClean="0">
                  <a:latin typeface="Neo Sans Intel" panose="020B0504020202020204" pitchFamily="34" charset="0"/>
                </a:rPr>
                <a:t>I [15-0]</a:t>
              </a:r>
            </a:p>
          </p:txBody>
        </p:sp>
        <p:grpSp>
          <p:nvGrpSpPr>
            <p:cNvPr id="27" name="Group 26"/>
            <p:cNvGrpSpPr/>
            <p:nvPr/>
          </p:nvGrpSpPr>
          <p:grpSpPr>
            <a:xfrm>
              <a:off x="5109743" y="3732832"/>
              <a:ext cx="180391" cy="643543"/>
              <a:chOff x="3390790" y="3616963"/>
              <a:chExt cx="180391" cy="643543"/>
            </a:xfrm>
          </p:grpSpPr>
          <p:sp>
            <p:nvSpPr>
              <p:cNvPr id="103" name="Trapezoid 102"/>
              <p:cNvSpPr/>
              <p:nvPr/>
            </p:nvSpPr>
            <p:spPr bwMode="auto">
              <a:xfrm rot="5400000">
                <a:off x="3159214" y="3848539"/>
                <a:ext cx="643543" cy="180391"/>
              </a:xfrm>
              <a:prstGeom prst="trapezoid">
                <a:avLst>
                  <a:gd name="adj" fmla="val 53513"/>
                </a:avLst>
              </a:prstGeom>
              <a:solidFill>
                <a:schemeClr val="bg2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>
                  <a:latin typeface="Neo Sans Intel Medium" panose="020B0604020202020204" pitchFamily="34" charset="0"/>
                </a:endParaRPr>
              </a:p>
            </p:txBody>
          </p:sp>
          <p:sp>
            <p:nvSpPr>
              <p:cNvPr id="104" name="Rectangle 158"/>
              <p:cNvSpPr>
                <a:spLocks noChangeArrowheads="1"/>
              </p:cNvSpPr>
              <p:nvPr/>
            </p:nvSpPr>
            <p:spPr bwMode="auto">
              <a:xfrm flipH="1">
                <a:off x="3395878" y="3678301"/>
                <a:ext cx="85107" cy="107722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square" lIns="0" tIns="0" rIns="0" bIns="0">
                <a:spAutoFit/>
              </a:bodyPr>
              <a:lstStyle/>
              <a:p>
                <a:pPr algn="ctr"/>
                <a:r>
                  <a:rPr lang="en-US" sz="700" b="1" dirty="0">
                    <a:solidFill>
                      <a:srgbClr val="000000"/>
                    </a:solidFill>
                    <a:latin typeface="Neo Sans Intel" panose="020B0504020202020204" pitchFamily="34" charset="0"/>
                  </a:rPr>
                  <a:t>0</a:t>
                </a:r>
                <a:endParaRPr lang="en-US" sz="700" dirty="0">
                  <a:solidFill>
                    <a:srgbClr val="000000"/>
                  </a:solidFill>
                  <a:latin typeface="Neo Sans Intel" panose="020B0504020202020204" pitchFamily="34" charset="0"/>
                </a:endParaRPr>
              </a:p>
            </p:txBody>
          </p:sp>
          <p:sp>
            <p:nvSpPr>
              <p:cNvPr id="105" name="Rectangle 159"/>
              <p:cNvSpPr>
                <a:spLocks noChangeArrowheads="1"/>
              </p:cNvSpPr>
              <p:nvPr/>
            </p:nvSpPr>
            <p:spPr bwMode="auto">
              <a:xfrm flipH="1">
                <a:off x="3395879" y="4095679"/>
                <a:ext cx="85106" cy="107722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square" lIns="0" tIns="0" rIns="0" bIns="0">
                <a:spAutoFit/>
              </a:bodyPr>
              <a:lstStyle/>
              <a:p>
                <a:pPr algn="ctr"/>
                <a:r>
                  <a:rPr lang="en-US" sz="700" b="1" dirty="0">
                    <a:solidFill>
                      <a:srgbClr val="000000"/>
                    </a:solidFill>
                    <a:latin typeface="Neo Sans Intel" panose="020B0504020202020204" pitchFamily="34" charset="0"/>
                  </a:rPr>
                  <a:t>1</a:t>
                </a:r>
              </a:p>
            </p:txBody>
          </p:sp>
          <p:sp>
            <p:nvSpPr>
              <p:cNvPr id="106" name="Rectangle 160"/>
              <p:cNvSpPr>
                <a:spLocks noChangeArrowheads="1"/>
              </p:cNvSpPr>
              <p:nvPr/>
            </p:nvSpPr>
            <p:spPr bwMode="auto">
              <a:xfrm flipH="1">
                <a:off x="3450365" y="3821794"/>
                <a:ext cx="84960" cy="258532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>
                  <a:lnSpc>
                    <a:spcPct val="70000"/>
                  </a:lnSpc>
                </a:pPr>
                <a:r>
                  <a:rPr lang="en-US" sz="800" b="1" dirty="0">
                    <a:solidFill>
                      <a:srgbClr val="000000"/>
                    </a:solidFill>
                    <a:latin typeface="Neo Sans Intel Medium" panose="020B0604020202020204" pitchFamily="34" charset="0"/>
                  </a:rPr>
                  <a:t>m</a:t>
                </a:r>
              </a:p>
              <a:p>
                <a:pPr algn="ctr">
                  <a:lnSpc>
                    <a:spcPct val="70000"/>
                  </a:lnSpc>
                </a:pPr>
                <a:r>
                  <a:rPr lang="en-US" sz="800" b="1" dirty="0">
                    <a:solidFill>
                      <a:srgbClr val="000000"/>
                    </a:solidFill>
                    <a:latin typeface="Neo Sans Intel Medium" panose="020B0604020202020204" pitchFamily="34" charset="0"/>
                  </a:rPr>
                  <a:t>u</a:t>
                </a:r>
              </a:p>
              <a:p>
                <a:pPr algn="ctr">
                  <a:lnSpc>
                    <a:spcPct val="70000"/>
                  </a:lnSpc>
                </a:pPr>
                <a:r>
                  <a:rPr lang="en-US" sz="800" b="1" dirty="0">
                    <a:solidFill>
                      <a:srgbClr val="000000"/>
                    </a:solidFill>
                    <a:latin typeface="Neo Sans Intel Medium" panose="020B0604020202020204" pitchFamily="34" charset="0"/>
                  </a:rPr>
                  <a:t>x</a:t>
                </a:r>
                <a:endParaRPr lang="en-US" sz="500" dirty="0">
                  <a:solidFill>
                    <a:srgbClr val="000000"/>
                  </a:solidFill>
                  <a:latin typeface="Neo Sans Intel Medium" panose="020B0604020202020204" pitchFamily="34" charset="0"/>
                </a:endParaRPr>
              </a:p>
            </p:txBody>
          </p:sp>
        </p:grpSp>
        <p:cxnSp>
          <p:nvCxnSpPr>
            <p:cNvPr id="28" name="Straight Arrow Connector 27"/>
            <p:cNvCxnSpPr>
              <a:stCxn id="103" idx="0"/>
              <a:endCxn id="112" idx="1"/>
            </p:cNvCxnSpPr>
            <p:nvPr/>
          </p:nvCxnSpPr>
          <p:spPr bwMode="auto">
            <a:xfrm>
              <a:off x="5290134" y="4054604"/>
              <a:ext cx="164748" cy="1459"/>
            </a:xfrm>
            <a:prstGeom prst="straightConnector1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</p:cxnSp>
        <p:cxnSp>
          <p:nvCxnSpPr>
            <p:cNvPr id="29" name="Elbow Connector 28"/>
            <p:cNvCxnSpPr>
              <a:stCxn id="24" idx="3"/>
              <a:endCxn id="41" idx="4"/>
            </p:cNvCxnSpPr>
            <p:nvPr/>
          </p:nvCxnSpPr>
          <p:spPr bwMode="auto">
            <a:xfrm flipV="1">
              <a:off x="4388753" y="4300834"/>
              <a:ext cx="557649" cy="914229"/>
            </a:xfrm>
            <a:prstGeom prst="bentConnector2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grpSp>
          <p:nvGrpSpPr>
            <p:cNvPr id="30" name="Group 29"/>
            <p:cNvGrpSpPr/>
            <p:nvPr/>
          </p:nvGrpSpPr>
          <p:grpSpPr>
            <a:xfrm>
              <a:off x="6753863" y="3028047"/>
              <a:ext cx="1447263" cy="1386443"/>
              <a:chOff x="3124737" y="3598050"/>
              <a:chExt cx="1447263" cy="1386443"/>
            </a:xfrm>
          </p:grpSpPr>
          <p:sp>
            <p:nvSpPr>
              <p:cNvPr id="97" name="Rectangle 96"/>
              <p:cNvSpPr/>
              <p:nvPr/>
            </p:nvSpPr>
            <p:spPr bwMode="auto">
              <a:xfrm>
                <a:off x="3126744" y="3598050"/>
                <a:ext cx="1445256" cy="1386326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en-US" sz="2000" b="1" smtClean="0">
                  <a:latin typeface="Neo Sans Intel" pitchFamily="34" charset="0"/>
                  <a:cs typeface="Arial" pitchFamily="34" charset="0"/>
                </a:endParaRPr>
              </a:p>
            </p:txBody>
          </p:sp>
          <p:sp>
            <p:nvSpPr>
              <p:cNvPr id="98" name="TextBox 97"/>
              <p:cNvSpPr txBox="1"/>
              <p:nvPr/>
            </p:nvSpPr>
            <p:spPr>
              <a:xfrm>
                <a:off x="3124738" y="3598050"/>
                <a:ext cx="652743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dirty="0" smtClean="0">
                    <a:latin typeface="Neo Sans Intel" panose="020B0504020202020204" pitchFamily="34" charset="0"/>
                  </a:rPr>
                  <a:t>Read</a:t>
                </a:r>
              </a:p>
              <a:p>
                <a:r>
                  <a:rPr lang="en-US" sz="1100" dirty="0" smtClean="0">
                    <a:latin typeface="Neo Sans Intel" panose="020B0504020202020204" pitchFamily="34" charset="0"/>
                  </a:rPr>
                  <a:t>address</a:t>
                </a:r>
              </a:p>
            </p:txBody>
          </p:sp>
          <p:sp>
            <p:nvSpPr>
              <p:cNvPr id="99" name="TextBox 98"/>
              <p:cNvSpPr txBox="1"/>
              <p:nvPr/>
            </p:nvSpPr>
            <p:spPr>
              <a:xfrm>
                <a:off x="3673849" y="3601253"/>
                <a:ext cx="898151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sz="1100" dirty="0" smtClean="0">
                    <a:latin typeface="Neo Sans Intel" panose="020B0504020202020204" pitchFamily="34" charset="0"/>
                  </a:rPr>
                  <a:t>Read</a:t>
                </a:r>
              </a:p>
              <a:p>
                <a:pPr algn="r"/>
                <a:r>
                  <a:rPr lang="en-US" sz="1100" dirty="0" smtClean="0">
                    <a:latin typeface="Neo Sans Intel" panose="020B0504020202020204" pitchFamily="34" charset="0"/>
                  </a:rPr>
                  <a:t>data</a:t>
                </a:r>
              </a:p>
            </p:txBody>
          </p:sp>
          <p:sp>
            <p:nvSpPr>
              <p:cNvPr id="100" name="TextBox 99"/>
              <p:cNvSpPr txBox="1"/>
              <p:nvPr/>
            </p:nvSpPr>
            <p:spPr>
              <a:xfrm>
                <a:off x="3733308" y="4674175"/>
                <a:ext cx="83869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400" dirty="0" smtClean="0">
                    <a:latin typeface="Neo Sans Intel Medium" panose="020B0604020202020204" pitchFamily="34" charset="0"/>
                  </a:rPr>
                  <a:t>Memory</a:t>
                </a:r>
              </a:p>
            </p:txBody>
          </p:sp>
          <p:sp>
            <p:nvSpPr>
              <p:cNvPr id="101" name="TextBox 100"/>
              <p:cNvSpPr txBox="1"/>
              <p:nvPr/>
            </p:nvSpPr>
            <p:spPr>
              <a:xfrm>
                <a:off x="3126744" y="4073403"/>
                <a:ext cx="652743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dirty="0" smtClean="0">
                    <a:latin typeface="Neo Sans Intel" panose="020B0504020202020204" pitchFamily="34" charset="0"/>
                  </a:rPr>
                  <a:t>Write</a:t>
                </a:r>
              </a:p>
              <a:p>
                <a:r>
                  <a:rPr lang="en-US" sz="1100" dirty="0" smtClean="0">
                    <a:latin typeface="Neo Sans Intel" panose="020B0504020202020204" pitchFamily="34" charset="0"/>
                  </a:rPr>
                  <a:t>address</a:t>
                </a:r>
              </a:p>
            </p:txBody>
          </p:sp>
          <p:sp>
            <p:nvSpPr>
              <p:cNvPr id="102" name="TextBox 101"/>
              <p:cNvSpPr txBox="1"/>
              <p:nvPr/>
            </p:nvSpPr>
            <p:spPr>
              <a:xfrm>
                <a:off x="3124737" y="4553606"/>
                <a:ext cx="506870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dirty="0" smtClean="0">
                    <a:latin typeface="Neo Sans Intel" panose="020B0504020202020204" pitchFamily="34" charset="0"/>
                  </a:rPr>
                  <a:t>Write</a:t>
                </a:r>
              </a:p>
              <a:p>
                <a:r>
                  <a:rPr lang="en-US" sz="1100" dirty="0" smtClean="0">
                    <a:latin typeface="Neo Sans Intel" panose="020B0504020202020204" pitchFamily="34" charset="0"/>
                  </a:rPr>
                  <a:t>data</a:t>
                </a:r>
              </a:p>
            </p:txBody>
          </p:sp>
        </p:grpSp>
        <p:cxnSp>
          <p:nvCxnSpPr>
            <p:cNvPr id="31" name="Straight Arrow Connector 30"/>
            <p:cNvCxnSpPr>
              <a:stCxn id="99" idx="3"/>
              <a:endCxn id="94" idx="3"/>
            </p:cNvCxnSpPr>
            <p:nvPr/>
          </p:nvCxnSpPr>
          <p:spPr bwMode="auto">
            <a:xfrm flipV="1">
              <a:off x="8201126" y="3246555"/>
              <a:ext cx="348522" cy="139"/>
            </a:xfrm>
            <a:prstGeom prst="straightConnector1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</p:cxnSp>
        <p:grpSp>
          <p:nvGrpSpPr>
            <p:cNvPr id="32" name="Group 31"/>
            <p:cNvGrpSpPr/>
            <p:nvPr/>
          </p:nvGrpSpPr>
          <p:grpSpPr>
            <a:xfrm>
              <a:off x="8544560" y="3131356"/>
              <a:ext cx="180391" cy="643543"/>
              <a:chOff x="3390790" y="3616963"/>
              <a:chExt cx="180391" cy="643543"/>
            </a:xfrm>
          </p:grpSpPr>
          <p:sp>
            <p:nvSpPr>
              <p:cNvPr id="93" name="Trapezoid 92"/>
              <p:cNvSpPr/>
              <p:nvPr/>
            </p:nvSpPr>
            <p:spPr bwMode="auto">
              <a:xfrm rot="5400000">
                <a:off x="3159214" y="3848539"/>
                <a:ext cx="643543" cy="180391"/>
              </a:xfrm>
              <a:prstGeom prst="trapezoid">
                <a:avLst>
                  <a:gd name="adj" fmla="val 53513"/>
                </a:avLst>
              </a:prstGeom>
              <a:solidFill>
                <a:schemeClr val="bg2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>
                  <a:latin typeface="Neo Sans Intel Medium" panose="020B0604020202020204" pitchFamily="34" charset="0"/>
                </a:endParaRPr>
              </a:p>
            </p:txBody>
          </p:sp>
          <p:sp>
            <p:nvSpPr>
              <p:cNvPr id="94" name="Rectangle 158"/>
              <p:cNvSpPr>
                <a:spLocks noChangeArrowheads="1"/>
              </p:cNvSpPr>
              <p:nvPr/>
            </p:nvSpPr>
            <p:spPr bwMode="auto">
              <a:xfrm flipH="1">
                <a:off x="3395878" y="3678301"/>
                <a:ext cx="85107" cy="107722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square" lIns="0" tIns="0" rIns="0" bIns="0">
                <a:spAutoFit/>
              </a:bodyPr>
              <a:lstStyle/>
              <a:p>
                <a:pPr algn="ctr"/>
                <a:r>
                  <a:rPr lang="en-US" sz="700" dirty="0" smtClean="0">
                    <a:solidFill>
                      <a:srgbClr val="000000"/>
                    </a:solidFill>
                    <a:latin typeface="Neo Sans Intel" panose="020B0504020202020204" pitchFamily="34" charset="0"/>
                  </a:rPr>
                  <a:t>1</a:t>
                </a:r>
                <a:endParaRPr lang="en-US" sz="700" dirty="0">
                  <a:solidFill>
                    <a:srgbClr val="000000"/>
                  </a:solidFill>
                  <a:latin typeface="Neo Sans Intel" panose="020B0504020202020204" pitchFamily="34" charset="0"/>
                </a:endParaRPr>
              </a:p>
            </p:txBody>
          </p:sp>
          <p:sp>
            <p:nvSpPr>
              <p:cNvPr id="95" name="Rectangle 159"/>
              <p:cNvSpPr>
                <a:spLocks noChangeArrowheads="1"/>
              </p:cNvSpPr>
              <p:nvPr/>
            </p:nvSpPr>
            <p:spPr bwMode="auto">
              <a:xfrm flipH="1">
                <a:off x="3395879" y="4095679"/>
                <a:ext cx="85106" cy="107722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square" lIns="0" tIns="0" rIns="0" bIns="0">
                <a:spAutoFit/>
              </a:bodyPr>
              <a:lstStyle/>
              <a:p>
                <a:pPr algn="ctr"/>
                <a:r>
                  <a:rPr lang="en-US" sz="700" b="1" dirty="0">
                    <a:solidFill>
                      <a:srgbClr val="000000"/>
                    </a:solidFill>
                    <a:latin typeface="Neo Sans Intel" panose="020B0504020202020204" pitchFamily="34" charset="0"/>
                  </a:rPr>
                  <a:t>0</a:t>
                </a:r>
              </a:p>
            </p:txBody>
          </p:sp>
          <p:sp>
            <p:nvSpPr>
              <p:cNvPr id="96" name="Rectangle 160"/>
              <p:cNvSpPr>
                <a:spLocks noChangeArrowheads="1"/>
              </p:cNvSpPr>
              <p:nvPr/>
            </p:nvSpPr>
            <p:spPr bwMode="auto">
              <a:xfrm flipH="1">
                <a:off x="3450365" y="3821794"/>
                <a:ext cx="84960" cy="258532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>
                  <a:lnSpc>
                    <a:spcPct val="70000"/>
                  </a:lnSpc>
                </a:pPr>
                <a:r>
                  <a:rPr lang="en-US" sz="800" b="1" dirty="0">
                    <a:solidFill>
                      <a:srgbClr val="000000"/>
                    </a:solidFill>
                    <a:latin typeface="Neo Sans Intel Medium" panose="020B0604020202020204" pitchFamily="34" charset="0"/>
                  </a:rPr>
                  <a:t>m</a:t>
                </a:r>
              </a:p>
              <a:p>
                <a:pPr algn="ctr">
                  <a:lnSpc>
                    <a:spcPct val="70000"/>
                  </a:lnSpc>
                </a:pPr>
                <a:r>
                  <a:rPr lang="en-US" sz="800" b="1" dirty="0">
                    <a:solidFill>
                      <a:srgbClr val="000000"/>
                    </a:solidFill>
                    <a:latin typeface="Neo Sans Intel Medium" panose="020B0604020202020204" pitchFamily="34" charset="0"/>
                  </a:rPr>
                  <a:t>u</a:t>
                </a:r>
              </a:p>
              <a:p>
                <a:pPr algn="ctr">
                  <a:lnSpc>
                    <a:spcPct val="70000"/>
                  </a:lnSpc>
                </a:pPr>
                <a:r>
                  <a:rPr lang="en-US" sz="800" b="1" dirty="0">
                    <a:solidFill>
                      <a:srgbClr val="000000"/>
                    </a:solidFill>
                    <a:latin typeface="Neo Sans Intel Medium" panose="020B0604020202020204" pitchFamily="34" charset="0"/>
                  </a:rPr>
                  <a:t>x</a:t>
                </a:r>
                <a:endParaRPr lang="en-US" sz="500" dirty="0">
                  <a:solidFill>
                    <a:srgbClr val="000000"/>
                  </a:solidFill>
                  <a:latin typeface="Neo Sans Intel Medium" panose="020B0604020202020204" pitchFamily="34" charset="0"/>
                </a:endParaRPr>
              </a:p>
            </p:txBody>
          </p:sp>
        </p:grpSp>
        <p:cxnSp>
          <p:nvCxnSpPr>
            <p:cNvPr id="33" name="Straight Arrow Connector 32"/>
            <p:cNvCxnSpPr>
              <a:stCxn id="113" idx="3"/>
              <a:endCxn id="101" idx="1"/>
            </p:cNvCxnSpPr>
            <p:nvPr/>
          </p:nvCxnSpPr>
          <p:spPr bwMode="auto">
            <a:xfrm flipV="1">
              <a:off x="6177337" y="3718844"/>
              <a:ext cx="578533" cy="804"/>
            </a:xfrm>
            <a:prstGeom prst="straightConnector1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</p:cxnSp>
        <p:sp>
          <p:nvSpPr>
            <p:cNvPr id="34" name="Oval 33"/>
            <p:cNvSpPr/>
            <p:nvPr/>
          </p:nvSpPr>
          <p:spPr bwMode="auto">
            <a:xfrm>
              <a:off x="4762970" y="3815889"/>
              <a:ext cx="72472" cy="72472"/>
            </a:xfrm>
            <a:prstGeom prst="ellipse">
              <a:avLst/>
            </a:prstGeom>
            <a:solidFill>
              <a:schemeClr val="tx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b="1" smtClean="0">
                <a:latin typeface="Neo Sans Intel" pitchFamily="34" charset="0"/>
                <a:cs typeface="Arial" pitchFamily="34" charset="0"/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5893636" y="4885769"/>
              <a:ext cx="95539" cy="1231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" dirty="0" smtClean="0">
                  <a:latin typeface="Neo Sans Intel" panose="020B0504020202020204" pitchFamily="34" charset="0"/>
                </a:rPr>
                <a:t> </a:t>
              </a:r>
            </a:p>
          </p:txBody>
        </p:sp>
        <p:cxnSp>
          <p:nvCxnSpPr>
            <p:cNvPr id="36" name="Elbow Connector 35"/>
            <p:cNvCxnSpPr>
              <a:stCxn id="34" idx="4"/>
              <a:endCxn id="35" idx="1"/>
            </p:cNvCxnSpPr>
            <p:nvPr/>
          </p:nvCxnSpPr>
          <p:spPr bwMode="auto">
            <a:xfrm rot="16200000" flipH="1">
              <a:off x="4816939" y="3870628"/>
              <a:ext cx="1058964" cy="1094430"/>
            </a:xfrm>
            <a:prstGeom prst="bentConnector2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</p:cxnSp>
        <p:cxnSp>
          <p:nvCxnSpPr>
            <p:cNvPr id="37" name="Elbow Connector 36"/>
            <p:cNvCxnSpPr>
              <a:stCxn id="35" idx="1"/>
              <a:endCxn id="102" idx="1"/>
            </p:cNvCxnSpPr>
            <p:nvPr/>
          </p:nvCxnSpPr>
          <p:spPr bwMode="auto">
            <a:xfrm rot="10800000" flipH="1">
              <a:off x="5893635" y="4199047"/>
              <a:ext cx="860227" cy="748278"/>
            </a:xfrm>
            <a:prstGeom prst="bentConnector3">
              <a:avLst>
                <a:gd name="adj1" fmla="val 33661"/>
              </a:avLst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</p:cxnSp>
        <p:sp>
          <p:nvSpPr>
            <p:cNvPr id="38" name="Oval 37"/>
            <p:cNvSpPr/>
            <p:nvPr/>
          </p:nvSpPr>
          <p:spPr bwMode="auto">
            <a:xfrm>
              <a:off x="6377497" y="3686159"/>
              <a:ext cx="72472" cy="72472"/>
            </a:xfrm>
            <a:prstGeom prst="ellipse">
              <a:avLst/>
            </a:prstGeom>
            <a:solidFill>
              <a:schemeClr val="tx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b="1" smtClean="0">
                <a:latin typeface="Neo Sans Intel" pitchFamily="34" charset="0"/>
                <a:cs typeface="Arial" pitchFamily="34" charset="0"/>
              </a:endParaRPr>
            </a:p>
          </p:txBody>
        </p:sp>
        <p:cxnSp>
          <p:nvCxnSpPr>
            <p:cNvPr id="39" name="Elbow Connector 38"/>
            <p:cNvCxnSpPr>
              <a:stCxn id="38" idx="4"/>
              <a:endCxn id="95" idx="3"/>
            </p:cNvCxnSpPr>
            <p:nvPr/>
          </p:nvCxnSpPr>
          <p:spPr bwMode="auto">
            <a:xfrm rot="5400000" flipH="1" flipV="1">
              <a:off x="7434342" y="2643324"/>
              <a:ext cx="94698" cy="2135916"/>
            </a:xfrm>
            <a:prstGeom prst="bentConnector4">
              <a:avLst>
                <a:gd name="adj1" fmla="val -1239181"/>
                <a:gd name="adj2" fmla="val 91518"/>
              </a:avLst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</p:cxnSp>
        <p:sp>
          <p:nvSpPr>
            <p:cNvPr id="40" name="Rounded Rectangle 39"/>
            <p:cNvSpPr/>
            <p:nvPr/>
          </p:nvSpPr>
          <p:spPr bwMode="auto">
            <a:xfrm>
              <a:off x="5139129" y="2334921"/>
              <a:ext cx="476839" cy="273884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1100" dirty="0" smtClean="0">
                  <a:latin typeface="Neo Sans Intel Medium" panose="020B0604020202020204" pitchFamily="34" charset="0"/>
                  <a:cs typeface="Arial" pitchFamily="34" charset="0"/>
                </a:rPr>
                <a:t>&lt;&lt; 2</a:t>
              </a:r>
              <a:endParaRPr lang="en-US" sz="1100" dirty="0">
                <a:latin typeface="Neo Sans Intel Medium" panose="020B0604020202020204" pitchFamily="34" charset="0"/>
                <a:cs typeface="Arial" pitchFamily="34" charset="0"/>
              </a:endParaRPr>
            </a:p>
          </p:txBody>
        </p:sp>
        <p:sp>
          <p:nvSpPr>
            <p:cNvPr id="41" name="Oval 40"/>
            <p:cNvSpPr/>
            <p:nvPr/>
          </p:nvSpPr>
          <p:spPr bwMode="auto">
            <a:xfrm>
              <a:off x="4910166" y="4228362"/>
              <a:ext cx="72472" cy="72472"/>
            </a:xfrm>
            <a:prstGeom prst="ellipse">
              <a:avLst/>
            </a:prstGeom>
            <a:solidFill>
              <a:schemeClr val="tx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b="1" smtClean="0">
                <a:latin typeface="Neo Sans Intel" pitchFamily="34" charset="0"/>
                <a:cs typeface="Arial" pitchFamily="34" charset="0"/>
              </a:endParaRPr>
            </a:p>
          </p:txBody>
        </p:sp>
        <p:cxnSp>
          <p:nvCxnSpPr>
            <p:cNvPr id="42" name="Straight Arrow Connector 41"/>
            <p:cNvCxnSpPr>
              <a:stCxn id="41" idx="6"/>
              <a:endCxn id="105" idx="3"/>
            </p:cNvCxnSpPr>
            <p:nvPr/>
          </p:nvCxnSpPr>
          <p:spPr bwMode="auto">
            <a:xfrm>
              <a:off x="4982638" y="4264598"/>
              <a:ext cx="132194" cy="811"/>
            </a:xfrm>
            <a:prstGeom prst="straightConnector1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</p:cxnSp>
        <p:cxnSp>
          <p:nvCxnSpPr>
            <p:cNvPr id="43" name="Elbow Connector 42"/>
            <p:cNvCxnSpPr>
              <a:stCxn id="41" idx="0"/>
              <a:endCxn id="40" idx="1"/>
            </p:cNvCxnSpPr>
            <p:nvPr/>
          </p:nvCxnSpPr>
          <p:spPr bwMode="auto">
            <a:xfrm rot="5400000" flipH="1" flipV="1">
              <a:off x="4164516" y="3253750"/>
              <a:ext cx="1756499" cy="192727"/>
            </a:xfrm>
            <a:prstGeom prst="bentConnector2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</p:cxnSp>
        <p:grpSp>
          <p:nvGrpSpPr>
            <p:cNvPr id="44" name="Group 43"/>
            <p:cNvGrpSpPr/>
            <p:nvPr/>
          </p:nvGrpSpPr>
          <p:grpSpPr>
            <a:xfrm>
              <a:off x="5857281" y="1838637"/>
              <a:ext cx="401408" cy="794389"/>
              <a:chOff x="6728724" y="3121968"/>
              <a:chExt cx="727535" cy="1439797"/>
            </a:xfrm>
          </p:grpSpPr>
          <p:sp>
            <p:nvSpPr>
              <p:cNvPr id="89" name="Freeform 127"/>
              <p:cNvSpPr>
                <a:spLocks/>
              </p:cNvSpPr>
              <p:nvPr/>
            </p:nvSpPr>
            <p:spPr bwMode="auto">
              <a:xfrm>
                <a:off x="6728724" y="3121968"/>
                <a:ext cx="727535" cy="1439797"/>
              </a:xfrm>
              <a:custGeom>
                <a:avLst/>
                <a:gdLst>
                  <a:gd name="T0" fmla="*/ 0 w 210"/>
                  <a:gd name="T1" fmla="*/ 0 h 413"/>
                  <a:gd name="T2" fmla="*/ 0 w 210"/>
                  <a:gd name="T3" fmla="*/ 167 h 413"/>
                  <a:gd name="T4" fmla="*/ 91 w 210"/>
                  <a:gd name="T5" fmla="*/ 207 h 413"/>
                  <a:gd name="T6" fmla="*/ 0 w 210"/>
                  <a:gd name="T7" fmla="*/ 245 h 413"/>
                  <a:gd name="T8" fmla="*/ 0 w 210"/>
                  <a:gd name="T9" fmla="*/ 412 h 413"/>
                  <a:gd name="T10" fmla="*/ 284 w 210"/>
                  <a:gd name="T11" fmla="*/ 286 h 413"/>
                  <a:gd name="T12" fmla="*/ 284 w 210"/>
                  <a:gd name="T13" fmla="*/ 127 h 413"/>
                  <a:gd name="T14" fmla="*/ 0 w 210"/>
                  <a:gd name="T15" fmla="*/ 0 h 413"/>
                  <a:gd name="T16" fmla="*/ 0 w 210"/>
                  <a:gd name="T17" fmla="*/ 0 h 413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210"/>
                  <a:gd name="T28" fmla="*/ 0 h 413"/>
                  <a:gd name="T29" fmla="*/ 210 w 210"/>
                  <a:gd name="T30" fmla="*/ 413 h 413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210" h="413">
                    <a:moveTo>
                      <a:pt x="0" y="0"/>
                    </a:moveTo>
                    <a:lnTo>
                      <a:pt x="0" y="167"/>
                    </a:lnTo>
                    <a:lnTo>
                      <a:pt x="67" y="207"/>
                    </a:lnTo>
                    <a:lnTo>
                      <a:pt x="0" y="245"/>
                    </a:lnTo>
                    <a:lnTo>
                      <a:pt x="0" y="412"/>
                    </a:lnTo>
                    <a:lnTo>
                      <a:pt x="209" y="286"/>
                    </a:lnTo>
                    <a:lnTo>
                      <a:pt x="209" y="127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accent5">
                  <a:lumMod val="60000"/>
                  <a:lumOff val="4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eaLnBrk="0" hangingPunct="0"/>
                <a:endParaRPr lang="en-US" sz="2000" b="1">
                  <a:latin typeface="Neo Sans Intel" pitchFamily="34" charset="0"/>
                  <a:cs typeface="Arial" pitchFamily="34" charset="0"/>
                </a:endParaRPr>
              </a:p>
            </p:txBody>
          </p:sp>
          <p:sp>
            <p:nvSpPr>
              <p:cNvPr id="90" name="TextBox 89"/>
              <p:cNvSpPr txBox="1"/>
              <p:nvPr/>
            </p:nvSpPr>
            <p:spPr>
              <a:xfrm>
                <a:off x="6955934" y="3710216"/>
                <a:ext cx="496610" cy="24135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1100" dirty="0" smtClean="0">
                    <a:latin typeface="Neo Sans Intel Medium" panose="020B0604020202020204" pitchFamily="34" charset="0"/>
                  </a:rPr>
                  <a:t>Add</a:t>
                </a:r>
              </a:p>
            </p:txBody>
          </p:sp>
          <p:sp>
            <p:nvSpPr>
              <p:cNvPr id="91" name="TextBox 90"/>
              <p:cNvSpPr txBox="1"/>
              <p:nvPr/>
            </p:nvSpPr>
            <p:spPr>
              <a:xfrm>
                <a:off x="6728724" y="3319972"/>
                <a:ext cx="155483" cy="2319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500" dirty="0" smtClean="0">
                    <a:latin typeface="Neo Sans Intel" panose="020B0504020202020204" pitchFamily="34" charset="0"/>
                  </a:rPr>
                  <a:t> </a:t>
                </a:r>
              </a:p>
            </p:txBody>
          </p:sp>
          <p:sp>
            <p:nvSpPr>
              <p:cNvPr id="92" name="TextBox 91"/>
              <p:cNvSpPr txBox="1"/>
              <p:nvPr/>
            </p:nvSpPr>
            <p:spPr>
              <a:xfrm>
                <a:off x="6728724" y="4152245"/>
                <a:ext cx="155483" cy="2319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500" dirty="0" smtClean="0">
                    <a:latin typeface="Neo Sans Intel" panose="020B0504020202020204" pitchFamily="34" charset="0"/>
                  </a:rPr>
                  <a:t> </a:t>
                </a:r>
              </a:p>
            </p:txBody>
          </p:sp>
        </p:grpSp>
        <p:cxnSp>
          <p:nvCxnSpPr>
            <p:cNvPr id="45" name="Straight Arrow Connector 44"/>
            <p:cNvCxnSpPr>
              <a:stCxn id="40" idx="3"/>
              <a:endCxn id="92" idx="1"/>
            </p:cNvCxnSpPr>
            <p:nvPr/>
          </p:nvCxnSpPr>
          <p:spPr bwMode="auto">
            <a:xfrm flipV="1">
              <a:off x="5615968" y="2471077"/>
              <a:ext cx="241313" cy="786"/>
            </a:xfrm>
            <a:prstGeom prst="straightConnector1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</p:cxnSp>
        <p:grpSp>
          <p:nvGrpSpPr>
            <p:cNvPr id="46" name="Group 45"/>
            <p:cNvGrpSpPr/>
            <p:nvPr/>
          </p:nvGrpSpPr>
          <p:grpSpPr>
            <a:xfrm>
              <a:off x="2267241" y="1620197"/>
              <a:ext cx="401408" cy="794389"/>
              <a:chOff x="6728724" y="3121968"/>
              <a:chExt cx="727535" cy="1439797"/>
            </a:xfrm>
          </p:grpSpPr>
          <p:sp>
            <p:nvSpPr>
              <p:cNvPr id="85" name="Freeform 127"/>
              <p:cNvSpPr>
                <a:spLocks/>
              </p:cNvSpPr>
              <p:nvPr/>
            </p:nvSpPr>
            <p:spPr bwMode="auto">
              <a:xfrm>
                <a:off x="6728724" y="3121968"/>
                <a:ext cx="727535" cy="1439797"/>
              </a:xfrm>
              <a:custGeom>
                <a:avLst/>
                <a:gdLst>
                  <a:gd name="T0" fmla="*/ 0 w 210"/>
                  <a:gd name="T1" fmla="*/ 0 h 413"/>
                  <a:gd name="T2" fmla="*/ 0 w 210"/>
                  <a:gd name="T3" fmla="*/ 167 h 413"/>
                  <a:gd name="T4" fmla="*/ 91 w 210"/>
                  <a:gd name="T5" fmla="*/ 207 h 413"/>
                  <a:gd name="T6" fmla="*/ 0 w 210"/>
                  <a:gd name="T7" fmla="*/ 245 h 413"/>
                  <a:gd name="T8" fmla="*/ 0 w 210"/>
                  <a:gd name="T9" fmla="*/ 412 h 413"/>
                  <a:gd name="T10" fmla="*/ 284 w 210"/>
                  <a:gd name="T11" fmla="*/ 286 h 413"/>
                  <a:gd name="T12" fmla="*/ 284 w 210"/>
                  <a:gd name="T13" fmla="*/ 127 h 413"/>
                  <a:gd name="T14" fmla="*/ 0 w 210"/>
                  <a:gd name="T15" fmla="*/ 0 h 413"/>
                  <a:gd name="T16" fmla="*/ 0 w 210"/>
                  <a:gd name="T17" fmla="*/ 0 h 413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210"/>
                  <a:gd name="T28" fmla="*/ 0 h 413"/>
                  <a:gd name="T29" fmla="*/ 210 w 210"/>
                  <a:gd name="T30" fmla="*/ 413 h 413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210" h="413">
                    <a:moveTo>
                      <a:pt x="0" y="0"/>
                    </a:moveTo>
                    <a:lnTo>
                      <a:pt x="0" y="167"/>
                    </a:lnTo>
                    <a:lnTo>
                      <a:pt x="67" y="207"/>
                    </a:lnTo>
                    <a:lnTo>
                      <a:pt x="0" y="245"/>
                    </a:lnTo>
                    <a:lnTo>
                      <a:pt x="0" y="412"/>
                    </a:lnTo>
                    <a:lnTo>
                      <a:pt x="209" y="286"/>
                    </a:lnTo>
                    <a:lnTo>
                      <a:pt x="209" y="127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accent5">
                  <a:lumMod val="60000"/>
                  <a:lumOff val="4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eaLnBrk="0" hangingPunct="0"/>
                <a:endParaRPr lang="en-US" sz="2000" b="1">
                  <a:latin typeface="Neo Sans Intel" pitchFamily="34" charset="0"/>
                  <a:cs typeface="Arial" pitchFamily="34" charset="0"/>
                </a:endParaRPr>
              </a:p>
            </p:txBody>
          </p:sp>
          <p:sp>
            <p:nvSpPr>
              <p:cNvPr id="86" name="TextBox 85"/>
              <p:cNvSpPr txBox="1"/>
              <p:nvPr/>
            </p:nvSpPr>
            <p:spPr>
              <a:xfrm>
                <a:off x="6955934" y="3710216"/>
                <a:ext cx="496610" cy="24135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1100" dirty="0" smtClean="0">
                    <a:latin typeface="Neo Sans Intel Medium" panose="020B0604020202020204" pitchFamily="34" charset="0"/>
                  </a:rPr>
                  <a:t>Add</a:t>
                </a:r>
              </a:p>
            </p:txBody>
          </p:sp>
          <p:sp>
            <p:nvSpPr>
              <p:cNvPr id="87" name="TextBox 86"/>
              <p:cNvSpPr txBox="1"/>
              <p:nvPr/>
            </p:nvSpPr>
            <p:spPr>
              <a:xfrm>
                <a:off x="6728724" y="3319972"/>
                <a:ext cx="155483" cy="2319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500" dirty="0" smtClean="0">
                    <a:latin typeface="Neo Sans Intel" panose="020B0504020202020204" pitchFamily="34" charset="0"/>
                  </a:rPr>
                  <a:t> </a:t>
                </a:r>
              </a:p>
            </p:txBody>
          </p:sp>
          <p:sp>
            <p:nvSpPr>
              <p:cNvPr id="88" name="TextBox 87"/>
              <p:cNvSpPr txBox="1"/>
              <p:nvPr/>
            </p:nvSpPr>
            <p:spPr>
              <a:xfrm>
                <a:off x="6728724" y="4152245"/>
                <a:ext cx="155483" cy="2319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500" dirty="0" smtClean="0">
                    <a:latin typeface="Neo Sans Intel" panose="020B0504020202020204" pitchFamily="34" charset="0"/>
                  </a:rPr>
                  <a:t> </a:t>
                </a:r>
              </a:p>
            </p:txBody>
          </p:sp>
        </p:grpSp>
        <p:grpSp>
          <p:nvGrpSpPr>
            <p:cNvPr id="47" name="Group 46"/>
            <p:cNvGrpSpPr/>
            <p:nvPr/>
          </p:nvGrpSpPr>
          <p:grpSpPr>
            <a:xfrm>
              <a:off x="281570" y="1892964"/>
              <a:ext cx="379637" cy="625620"/>
              <a:chOff x="155044" y="1514471"/>
              <a:chExt cx="379637" cy="625620"/>
            </a:xfrm>
          </p:grpSpPr>
          <p:grpSp>
            <p:nvGrpSpPr>
              <p:cNvPr id="81" name="Group 80"/>
              <p:cNvGrpSpPr/>
              <p:nvPr/>
            </p:nvGrpSpPr>
            <p:grpSpPr>
              <a:xfrm>
                <a:off x="178582" y="1514471"/>
                <a:ext cx="356099" cy="625620"/>
                <a:chOff x="2991378" y="2694759"/>
                <a:chExt cx="468998" cy="823968"/>
              </a:xfrm>
            </p:grpSpPr>
            <p:sp>
              <p:nvSpPr>
                <p:cNvPr id="83" name="Rectangle 82"/>
                <p:cNvSpPr/>
                <p:nvPr/>
              </p:nvSpPr>
              <p:spPr bwMode="auto">
                <a:xfrm>
                  <a:off x="2991378" y="2694759"/>
                  <a:ext cx="468998" cy="823968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en-US" sz="2000" b="1" smtClean="0">
                    <a:latin typeface="Neo Sans Inte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84" name="TextBox 83"/>
                <p:cNvSpPr txBox="1"/>
                <p:nvPr/>
              </p:nvSpPr>
              <p:spPr>
                <a:xfrm>
                  <a:off x="3030153" y="2872568"/>
                  <a:ext cx="391453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400" dirty="0" smtClean="0">
                      <a:latin typeface="Neo Sans Intel Medium" panose="020B0604020202020204" pitchFamily="34" charset="0"/>
                    </a:rPr>
                    <a:t>PC</a:t>
                  </a:r>
                </a:p>
              </p:txBody>
            </p:sp>
          </p:grpSp>
          <p:sp>
            <p:nvSpPr>
              <p:cNvPr id="82" name="Isosceles Triangle 81"/>
              <p:cNvSpPr/>
              <p:nvPr/>
            </p:nvSpPr>
            <p:spPr bwMode="auto">
              <a:xfrm rot="19800000">
                <a:off x="155044" y="1973506"/>
                <a:ext cx="89552" cy="77200"/>
              </a:xfrm>
              <a:prstGeom prst="triangl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en-US" sz="2000" b="1">
                  <a:latin typeface="Neo Sans Intel" pitchFamily="34" charset="0"/>
                  <a:cs typeface="Arial" pitchFamily="34" charset="0"/>
                </a:endParaRPr>
              </a:p>
            </p:txBody>
          </p:sp>
        </p:grpSp>
        <p:cxnSp>
          <p:nvCxnSpPr>
            <p:cNvPr id="48" name="Straight Arrow Connector 47"/>
            <p:cNvCxnSpPr>
              <a:stCxn id="83" idx="2"/>
              <a:endCxn id="49" idx="0"/>
            </p:cNvCxnSpPr>
            <p:nvPr/>
          </p:nvCxnSpPr>
          <p:spPr bwMode="auto">
            <a:xfrm flipH="1">
              <a:off x="482818" y="2518584"/>
              <a:ext cx="340" cy="180451"/>
            </a:xfrm>
            <a:prstGeom prst="straightConnector1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49" name="Oval 48"/>
            <p:cNvSpPr/>
            <p:nvPr/>
          </p:nvSpPr>
          <p:spPr bwMode="auto">
            <a:xfrm>
              <a:off x="446582" y="2699035"/>
              <a:ext cx="72472" cy="72472"/>
            </a:xfrm>
            <a:prstGeom prst="ellipse">
              <a:avLst/>
            </a:prstGeom>
            <a:solidFill>
              <a:schemeClr val="tx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b="1" smtClean="0">
                <a:latin typeface="Neo Sans Intel" pitchFamily="34" charset="0"/>
                <a:cs typeface="Arial" pitchFamily="34" charset="0"/>
              </a:endParaRPr>
            </a:p>
          </p:txBody>
        </p:sp>
        <p:cxnSp>
          <p:nvCxnSpPr>
            <p:cNvPr id="50" name="Elbow Connector 49"/>
            <p:cNvCxnSpPr>
              <a:stCxn id="49" idx="6"/>
              <a:endCxn id="88" idx="1"/>
            </p:cNvCxnSpPr>
            <p:nvPr/>
          </p:nvCxnSpPr>
          <p:spPr bwMode="auto">
            <a:xfrm flipV="1">
              <a:off x="519054" y="2252637"/>
              <a:ext cx="1748187" cy="482634"/>
            </a:xfrm>
            <a:prstGeom prst="bentConnector3">
              <a:avLst>
                <a:gd name="adj1" fmla="val 50000"/>
              </a:avLst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</p:cxnSp>
        <p:cxnSp>
          <p:nvCxnSpPr>
            <p:cNvPr id="51" name="Straight Arrow Connector 50"/>
            <p:cNvCxnSpPr>
              <a:stCxn id="49" idx="4"/>
              <a:endCxn id="133" idx="0"/>
            </p:cNvCxnSpPr>
            <p:nvPr/>
          </p:nvCxnSpPr>
          <p:spPr bwMode="auto">
            <a:xfrm flipH="1">
              <a:off x="481043" y="2771507"/>
              <a:ext cx="1775" cy="223118"/>
            </a:xfrm>
            <a:prstGeom prst="straightConnector1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</p:cxnSp>
        <p:sp>
          <p:nvSpPr>
            <p:cNvPr id="52" name="TextBox 51"/>
            <p:cNvSpPr txBox="1"/>
            <p:nvPr/>
          </p:nvSpPr>
          <p:spPr>
            <a:xfrm>
              <a:off x="1743845" y="1640639"/>
              <a:ext cx="290464" cy="307777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400" b="1" dirty="0" smtClean="0">
                  <a:latin typeface="Neo Sans Intel" panose="020B0504020202020204" pitchFamily="34" charset="0"/>
                </a:rPr>
                <a:t>4</a:t>
              </a:r>
            </a:p>
          </p:txBody>
        </p:sp>
        <p:cxnSp>
          <p:nvCxnSpPr>
            <p:cNvPr id="53" name="Straight Arrow Connector 52"/>
            <p:cNvCxnSpPr>
              <a:stCxn id="52" idx="3"/>
              <a:endCxn id="87" idx="1"/>
            </p:cNvCxnSpPr>
            <p:nvPr/>
          </p:nvCxnSpPr>
          <p:spPr bwMode="auto">
            <a:xfrm flipV="1">
              <a:off x="2034309" y="1793441"/>
              <a:ext cx="232932" cy="1087"/>
            </a:xfrm>
            <a:prstGeom prst="straightConnector1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</p:cxnSp>
        <p:cxnSp>
          <p:nvCxnSpPr>
            <p:cNvPr id="54" name="Straight Arrow Connector 53"/>
            <p:cNvCxnSpPr>
              <a:stCxn id="86" idx="3"/>
              <a:endCxn id="57" idx="2"/>
            </p:cNvCxnSpPr>
            <p:nvPr/>
          </p:nvCxnSpPr>
          <p:spPr bwMode="auto">
            <a:xfrm>
              <a:off x="2666599" y="2011338"/>
              <a:ext cx="2669673" cy="543"/>
            </a:xfrm>
            <a:prstGeom prst="straightConnector1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grpSp>
          <p:nvGrpSpPr>
            <p:cNvPr id="55" name="Group 54"/>
            <p:cNvGrpSpPr/>
            <p:nvPr/>
          </p:nvGrpSpPr>
          <p:grpSpPr>
            <a:xfrm>
              <a:off x="6570982" y="1632897"/>
              <a:ext cx="180391" cy="721202"/>
              <a:chOff x="3390790" y="3616963"/>
              <a:chExt cx="180391" cy="643543"/>
            </a:xfrm>
          </p:grpSpPr>
          <p:sp>
            <p:nvSpPr>
              <p:cNvPr id="77" name="Trapezoid 76"/>
              <p:cNvSpPr/>
              <p:nvPr/>
            </p:nvSpPr>
            <p:spPr bwMode="auto">
              <a:xfrm rot="5400000">
                <a:off x="3159214" y="3848539"/>
                <a:ext cx="643543" cy="180391"/>
              </a:xfrm>
              <a:prstGeom prst="trapezoid">
                <a:avLst>
                  <a:gd name="adj" fmla="val 53513"/>
                </a:avLst>
              </a:prstGeom>
              <a:solidFill>
                <a:schemeClr val="bg2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>
                  <a:latin typeface="Neo Sans Intel Medium" panose="020B0604020202020204" pitchFamily="34" charset="0"/>
                </a:endParaRPr>
              </a:p>
            </p:txBody>
          </p:sp>
          <p:sp>
            <p:nvSpPr>
              <p:cNvPr id="78" name="Rectangle 158"/>
              <p:cNvSpPr>
                <a:spLocks noChangeArrowheads="1"/>
              </p:cNvSpPr>
              <p:nvPr/>
            </p:nvSpPr>
            <p:spPr bwMode="auto">
              <a:xfrm flipH="1">
                <a:off x="3395878" y="3678301"/>
                <a:ext cx="85107" cy="107722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square" lIns="0" tIns="0" rIns="0" bIns="0">
                <a:spAutoFit/>
              </a:bodyPr>
              <a:lstStyle/>
              <a:p>
                <a:pPr algn="ctr"/>
                <a:r>
                  <a:rPr lang="en-US" sz="700" b="1" dirty="0">
                    <a:solidFill>
                      <a:srgbClr val="000000"/>
                    </a:solidFill>
                    <a:latin typeface="Neo Sans Intel" panose="020B0504020202020204" pitchFamily="34" charset="0"/>
                  </a:rPr>
                  <a:t>0</a:t>
                </a:r>
                <a:endParaRPr lang="en-US" sz="700" dirty="0">
                  <a:solidFill>
                    <a:srgbClr val="000000"/>
                  </a:solidFill>
                  <a:latin typeface="Neo Sans Intel" panose="020B0504020202020204" pitchFamily="34" charset="0"/>
                </a:endParaRPr>
              </a:p>
            </p:txBody>
          </p:sp>
          <p:sp>
            <p:nvSpPr>
              <p:cNvPr id="79" name="Rectangle 159"/>
              <p:cNvSpPr>
                <a:spLocks noChangeArrowheads="1"/>
              </p:cNvSpPr>
              <p:nvPr/>
            </p:nvSpPr>
            <p:spPr bwMode="auto">
              <a:xfrm flipH="1">
                <a:off x="3395879" y="4095679"/>
                <a:ext cx="85106" cy="107722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square" lIns="0" tIns="0" rIns="0" bIns="0">
                <a:spAutoFit/>
              </a:bodyPr>
              <a:lstStyle/>
              <a:p>
                <a:pPr algn="ctr"/>
                <a:r>
                  <a:rPr lang="en-US" sz="700" b="1" dirty="0">
                    <a:solidFill>
                      <a:srgbClr val="000000"/>
                    </a:solidFill>
                    <a:latin typeface="Neo Sans Intel" panose="020B0504020202020204" pitchFamily="34" charset="0"/>
                  </a:rPr>
                  <a:t>1</a:t>
                </a:r>
              </a:p>
            </p:txBody>
          </p:sp>
          <p:sp>
            <p:nvSpPr>
              <p:cNvPr id="80" name="Rectangle 160"/>
              <p:cNvSpPr>
                <a:spLocks noChangeArrowheads="1"/>
              </p:cNvSpPr>
              <p:nvPr/>
            </p:nvSpPr>
            <p:spPr bwMode="auto">
              <a:xfrm flipH="1">
                <a:off x="3450365" y="3821794"/>
                <a:ext cx="84960" cy="258532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>
                  <a:lnSpc>
                    <a:spcPct val="70000"/>
                  </a:lnSpc>
                </a:pPr>
                <a:r>
                  <a:rPr lang="en-US" sz="800" b="1" dirty="0">
                    <a:solidFill>
                      <a:srgbClr val="000000"/>
                    </a:solidFill>
                    <a:latin typeface="Neo Sans Intel Medium" panose="020B0604020202020204" pitchFamily="34" charset="0"/>
                  </a:rPr>
                  <a:t>m</a:t>
                </a:r>
              </a:p>
              <a:p>
                <a:pPr algn="ctr">
                  <a:lnSpc>
                    <a:spcPct val="70000"/>
                  </a:lnSpc>
                </a:pPr>
                <a:r>
                  <a:rPr lang="en-US" sz="800" b="1" dirty="0">
                    <a:solidFill>
                      <a:srgbClr val="000000"/>
                    </a:solidFill>
                    <a:latin typeface="Neo Sans Intel Medium" panose="020B0604020202020204" pitchFamily="34" charset="0"/>
                  </a:rPr>
                  <a:t>u</a:t>
                </a:r>
              </a:p>
              <a:p>
                <a:pPr algn="ctr">
                  <a:lnSpc>
                    <a:spcPct val="70000"/>
                  </a:lnSpc>
                </a:pPr>
                <a:r>
                  <a:rPr lang="en-US" sz="800" b="1" dirty="0">
                    <a:solidFill>
                      <a:srgbClr val="000000"/>
                    </a:solidFill>
                    <a:latin typeface="Neo Sans Intel Medium" panose="020B0604020202020204" pitchFamily="34" charset="0"/>
                  </a:rPr>
                  <a:t>x</a:t>
                </a:r>
                <a:endParaRPr lang="en-US" sz="500" dirty="0">
                  <a:solidFill>
                    <a:srgbClr val="000000"/>
                  </a:solidFill>
                  <a:latin typeface="Neo Sans Intel Medium" panose="020B0604020202020204" pitchFamily="34" charset="0"/>
                </a:endParaRPr>
              </a:p>
            </p:txBody>
          </p:sp>
        </p:grpSp>
        <p:cxnSp>
          <p:nvCxnSpPr>
            <p:cNvPr id="56" name="Straight Arrow Connector 55"/>
            <p:cNvCxnSpPr>
              <a:stCxn id="90" idx="3"/>
              <a:endCxn id="79" idx="3"/>
            </p:cNvCxnSpPr>
            <p:nvPr/>
          </p:nvCxnSpPr>
          <p:spPr bwMode="auto">
            <a:xfrm flipV="1">
              <a:off x="6256639" y="2229743"/>
              <a:ext cx="319432" cy="35"/>
            </a:xfrm>
            <a:prstGeom prst="straightConnector1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</p:cxnSp>
        <p:sp>
          <p:nvSpPr>
            <p:cNvPr id="57" name="Oval 56"/>
            <p:cNvSpPr/>
            <p:nvPr/>
          </p:nvSpPr>
          <p:spPr bwMode="auto">
            <a:xfrm>
              <a:off x="5336272" y="1975645"/>
              <a:ext cx="72472" cy="72472"/>
            </a:xfrm>
            <a:prstGeom prst="ellipse">
              <a:avLst/>
            </a:prstGeom>
            <a:solidFill>
              <a:schemeClr val="tx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b="1" smtClean="0">
                <a:latin typeface="Neo Sans Intel" pitchFamily="34" charset="0"/>
                <a:cs typeface="Arial" pitchFamily="34" charset="0"/>
              </a:endParaRPr>
            </a:p>
          </p:txBody>
        </p:sp>
        <p:cxnSp>
          <p:nvCxnSpPr>
            <p:cNvPr id="58" name="Straight Arrow Connector 57"/>
            <p:cNvCxnSpPr>
              <a:stCxn id="57" idx="6"/>
              <a:endCxn id="91" idx="1"/>
            </p:cNvCxnSpPr>
            <p:nvPr/>
          </p:nvCxnSpPr>
          <p:spPr bwMode="auto">
            <a:xfrm>
              <a:off x="5408744" y="2011881"/>
              <a:ext cx="448537" cy="0"/>
            </a:xfrm>
            <a:prstGeom prst="straightConnector1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</p:cxnSp>
        <p:cxnSp>
          <p:nvCxnSpPr>
            <p:cNvPr id="59" name="Elbow Connector 58"/>
            <p:cNvCxnSpPr>
              <a:stCxn id="57" idx="0"/>
              <a:endCxn id="78" idx="3"/>
            </p:cNvCxnSpPr>
            <p:nvPr/>
          </p:nvCxnSpPr>
          <p:spPr bwMode="auto">
            <a:xfrm rot="5400000" flipH="1" flipV="1">
              <a:off x="5867466" y="1267041"/>
              <a:ext cx="213647" cy="1203562"/>
            </a:xfrm>
            <a:prstGeom prst="bentConnector2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</p:cxnSp>
        <p:cxnSp>
          <p:nvCxnSpPr>
            <p:cNvPr id="60" name="Elbow Connector 59"/>
            <p:cNvCxnSpPr>
              <a:stCxn id="77" idx="0"/>
              <a:endCxn id="83" idx="0"/>
            </p:cNvCxnSpPr>
            <p:nvPr/>
          </p:nvCxnSpPr>
          <p:spPr bwMode="auto">
            <a:xfrm flipH="1" flipV="1">
              <a:off x="483158" y="1892964"/>
              <a:ext cx="6268216" cy="100535"/>
            </a:xfrm>
            <a:prstGeom prst="bentConnector4">
              <a:avLst>
                <a:gd name="adj1" fmla="val -4395"/>
                <a:gd name="adj2" fmla="val 463619"/>
              </a:avLst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</p:cxnSp>
        <p:cxnSp>
          <p:nvCxnSpPr>
            <p:cNvPr id="61" name="Elbow Connector 60"/>
            <p:cNvCxnSpPr>
              <a:stCxn id="38" idx="0"/>
              <a:endCxn id="98" idx="1"/>
            </p:cNvCxnSpPr>
            <p:nvPr/>
          </p:nvCxnSpPr>
          <p:spPr bwMode="auto">
            <a:xfrm rot="5400000" flipH="1" flipV="1">
              <a:off x="6362464" y="3294760"/>
              <a:ext cx="442668" cy="340131"/>
            </a:xfrm>
            <a:prstGeom prst="bentConnector2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</p:cxnSp>
        <p:grpSp>
          <p:nvGrpSpPr>
            <p:cNvPr id="62" name="Group 61"/>
            <p:cNvGrpSpPr/>
            <p:nvPr/>
          </p:nvGrpSpPr>
          <p:grpSpPr>
            <a:xfrm>
              <a:off x="4981746" y="4328109"/>
              <a:ext cx="620683" cy="523200"/>
              <a:chOff x="6744623" y="4292088"/>
              <a:chExt cx="620683" cy="523200"/>
            </a:xfrm>
          </p:grpSpPr>
          <p:sp>
            <p:nvSpPr>
              <p:cNvPr id="75" name="TextBox 74"/>
              <p:cNvSpPr txBox="1"/>
              <p:nvPr/>
            </p:nvSpPr>
            <p:spPr>
              <a:xfrm>
                <a:off x="6744623" y="4553678"/>
                <a:ext cx="620683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dirty="0" err="1" smtClean="0">
                    <a:solidFill>
                      <a:schemeClr val="accent1"/>
                    </a:solidFill>
                    <a:latin typeface="Neo Sans Intel" panose="020B0504020202020204" pitchFamily="34" charset="0"/>
                  </a:rPr>
                  <a:t>ALUSrc</a:t>
                </a:r>
                <a:endParaRPr lang="en-US" sz="1100" dirty="0" smtClean="0">
                  <a:solidFill>
                    <a:schemeClr val="accent1"/>
                  </a:solidFill>
                  <a:latin typeface="Neo Sans Intel" panose="020B0504020202020204" pitchFamily="34" charset="0"/>
                </a:endParaRPr>
              </a:p>
            </p:txBody>
          </p:sp>
          <p:cxnSp>
            <p:nvCxnSpPr>
              <p:cNvPr id="76" name="Straight Connector 75"/>
              <p:cNvCxnSpPr>
                <a:stCxn id="103" idx="3"/>
              </p:cNvCxnSpPr>
              <p:nvPr/>
            </p:nvCxnSpPr>
            <p:spPr bwMode="auto">
              <a:xfrm>
                <a:off x="6962815" y="4292088"/>
                <a:ext cx="0" cy="261590"/>
              </a:xfrm>
              <a:prstGeom prst="line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63" name="Group 62"/>
            <p:cNvGrpSpPr/>
            <p:nvPr/>
          </p:nvGrpSpPr>
          <p:grpSpPr>
            <a:xfrm>
              <a:off x="7083302" y="2631170"/>
              <a:ext cx="792205" cy="407037"/>
              <a:chOff x="4234018" y="2858356"/>
              <a:chExt cx="792205" cy="407037"/>
            </a:xfrm>
          </p:grpSpPr>
          <p:sp>
            <p:nvSpPr>
              <p:cNvPr id="73" name="TextBox 72"/>
              <p:cNvSpPr txBox="1"/>
              <p:nvPr/>
            </p:nvSpPr>
            <p:spPr>
              <a:xfrm>
                <a:off x="4234018" y="2858356"/>
                <a:ext cx="792205" cy="261610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ctr"/>
                <a:r>
                  <a:rPr lang="en-US" sz="1100" dirty="0" err="1" smtClean="0">
                    <a:solidFill>
                      <a:schemeClr val="accent1"/>
                    </a:solidFill>
                    <a:latin typeface="Neo Sans Intel" panose="020B0504020202020204" pitchFamily="34" charset="0"/>
                  </a:rPr>
                  <a:t>MemWrite</a:t>
                </a:r>
                <a:endParaRPr lang="en-US" sz="1100" dirty="0" smtClean="0">
                  <a:solidFill>
                    <a:schemeClr val="accent1"/>
                  </a:solidFill>
                  <a:latin typeface="Neo Sans Intel" panose="020B0504020202020204" pitchFamily="34" charset="0"/>
                </a:endParaRPr>
              </a:p>
            </p:txBody>
          </p:sp>
          <p:cxnSp>
            <p:nvCxnSpPr>
              <p:cNvPr id="74" name="Straight Connector 73"/>
              <p:cNvCxnSpPr>
                <a:stCxn id="73" idx="2"/>
                <a:endCxn id="97" idx="0"/>
              </p:cNvCxnSpPr>
              <p:nvPr/>
            </p:nvCxnSpPr>
            <p:spPr bwMode="auto">
              <a:xfrm flipH="1">
                <a:off x="4629214" y="3119966"/>
                <a:ext cx="907" cy="145427"/>
              </a:xfrm>
              <a:prstGeom prst="line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64" name="Group 63"/>
            <p:cNvGrpSpPr/>
            <p:nvPr/>
          </p:nvGrpSpPr>
          <p:grpSpPr>
            <a:xfrm>
              <a:off x="6420905" y="2291615"/>
              <a:ext cx="526106" cy="443656"/>
              <a:chOff x="6705081" y="4283249"/>
              <a:chExt cx="526106" cy="443656"/>
            </a:xfrm>
          </p:grpSpPr>
          <p:sp>
            <p:nvSpPr>
              <p:cNvPr id="71" name="TextBox 70"/>
              <p:cNvSpPr txBox="1"/>
              <p:nvPr/>
            </p:nvSpPr>
            <p:spPr>
              <a:xfrm>
                <a:off x="6705081" y="4465295"/>
                <a:ext cx="526106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dirty="0" err="1" smtClean="0">
                    <a:solidFill>
                      <a:schemeClr val="accent1"/>
                    </a:solidFill>
                    <a:latin typeface="Neo Sans Intel" panose="020B0504020202020204" pitchFamily="34" charset="0"/>
                  </a:rPr>
                  <a:t>PCSrc</a:t>
                </a:r>
                <a:endParaRPr lang="en-US" sz="1100" dirty="0" smtClean="0">
                  <a:solidFill>
                    <a:schemeClr val="accent1"/>
                  </a:solidFill>
                  <a:latin typeface="Neo Sans Intel" panose="020B0504020202020204" pitchFamily="34" charset="0"/>
                </a:endParaRPr>
              </a:p>
            </p:txBody>
          </p:sp>
          <p:cxnSp>
            <p:nvCxnSpPr>
              <p:cNvPr id="72" name="Straight Connector 71"/>
              <p:cNvCxnSpPr/>
              <p:nvPr/>
            </p:nvCxnSpPr>
            <p:spPr bwMode="auto">
              <a:xfrm>
                <a:off x="6968001" y="4283249"/>
                <a:ext cx="0" cy="179461"/>
              </a:xfrm>
              <a:prstGeom prst="line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65" name="Group 64"/>
            <p:cNvGrpSpPr/>
            <p:nvPr/>
          </p:nvGrpSpPr>
          <p:grpSpPr>
            <a:xfrm>
              <a:off x="2230176" y="4507032"/>
              <a:ext cx="619080" cy="424806"/>
              <a:chOff x="6561743" y="4287612"/>
              <a:chExt cx="619080" cy="424806"/>
            </a:xfrm>
          </p:grpSpPr>
          <p:sp>
            <p:nvSpPr>
              <p:cNvPr id="69" name="TextBox 68"/>
              <p:cNvSpPr txBox="1"/>
              <p:nvPr/>
            </p:nvSpPr>
            <p:spPr>
              <a:xfrm>
                <a:off x="6561743" y="4450808"/>
                <a:ext cx="619080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dirty="0" err="1" smtClean="0">
                    <a:solidFill>
                      <a:schemeClr val="accent1"/>
                    </a:solidFill>
                    <a:latin typeface="Neo Sans Intel" panose="020B0504020202020204" pitchFamily="34" charset="0"/>
                  </a:rPr>
                  <a:t>RegDst</a:t>
                </a:r>
                <a:endParaRPr lang="en-US" sz="1100" dirty="0" smtClean="0">
                  <a:solidFill>
                    <a:schemeClr val="accent1"/>
                  </a:solidFill>
                  <a:latin typeface="Neo Sans Intel" panose="020B0504020202020204" pitchFamily="34" charset="0"/>
                </a:endParaRPr>
              </a:p>
            </p:txBody>
          </p:sp>
          <p:cxnSp>
            <p:nvCxnSpPr>
              <p:cNvPr id="70" name="Straight Connector 69"/>
              <p:cNvCxnSpPr>
                <a:stCxn id="126" idx="3"/>
              </p:cNvCxnSpPr>
              <p:nvPr/>
            </p:nvCxnSpPr>
            <p:spPr bwMode="auto">
              <a:xfrm>
                <a:off x="6968079" y="4287612"/>
                <a:ext cx="0" cy="215257"/>
              </a:xfrm>
              <a:prstGeom prst="line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66" name="Group 65"/>
            <p:cNvGrpSpPr/>
            <p:nvPr/>
          </p:nvGrpSpPr>
          <p:grpSpPr>
            <a:xfrm>
              <a:off x="8208125" y="2621744"/>
              <a:ext cx="857928" cy="568038"/>
              <a:chOff x="4191631" y="2696431"/>
              <a:chExt cx="857928" cy="568038"/>
            </a:xfrm>
          </p:grpSpPr>
          <p:sp>
            <p:nvSpPr>
              <p:cNvPr id="67" name="TextBox 66"/>
              <p:cNvSpPr txBox="1"/>
              <p:nvPr/>
            </p:nvSpPr>
            <p:spPr>
              <a:xfrm>
                <a:off x="4191631" y="2696431"/>
                <a:ext cx="857928" cy="261610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ctr"/>
                <a:r>
                  <a:rPr lang="en-US" sz="1100" dirty="0" err="1" smtClean="0">
                    <a:solidFill>
                      <a:schemeClr val="accent1"/>
                    </a:solidFill>
                    <a:latin typeface="Neo Sans Intel" panose="020B0504020202020204" pitchFamily="34" charset="0"/>
                  </a:rPr>
                  <a:t>MemToReg</a:t>
                </a:r>
                <a:endParaRPr lang="en-US" sz="1100" dirty="0" smtClean="0">
                  <a:solidFill>
                    <a:schemeClr val="accent1"/>
                  </a:solidFill>
                  <a:latin typeface="Neo Sans Intel" panose="020B0504020202020204" pitchFamily="34" charset="0"/>
                </a:endParaRPr>
              </a:p>
            </p:txBody>
          </p:sp>
          <p:cxnSp>
            <p:nvCxnSpPr>
              <p:cNvPr id="68" name="Straight Connector 67"/>
              <p:cNvCxnSpPr>
                <a:stCxn id="67" idx="2"/>
                <a:endCxn id="93" idx="1"/>
              </p:cNvCxnSpPr>
              <p:nvPr/>
            </p:nvCxnSpPr>
            <p:spPr bwMode="auto">
              <a:xfrm flipH="1">
                <a:off x="4618261" y="2958041"/>
                <a:ext cx="2334" cy="306428"/>
              </a:xfrm>
              <a:prstGeom prst="line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</p:grpSp>
      <p:grpSp>
        <p:nvGrpSpPr>
          <p:cNvPr id="153" name="Group 152"/>
          <p:cNvGrpSpPr/>
          <p:nvPr/>
        </p:nvGrpSpPr>
        <p:grpSpPr>
          <a:xfrm>
            <a:off x="1066801" y="5103408"/>
            <a:ext cx="2333342" cy="1065100"/>
            <a:chOff x="-1219306" y="4734983"/>
            <a:chExt cx="4082203" cy="2123376"/>
          </a:xfrm>
        </p:grpSpPr>
        <p:sp>
          <p:nvSpPr>
            <p:cNvPr id="136" name="TextBox 135"/>
            <p:cNvSpPr txBox="1"/>
            <p:nvPr/>
          </p:nvSpPr>
          <p:spPr>
            <a:xfrm>
              <a:off x="1758339" y="4734983"/>
              <a:ext cx="955412" cy="37622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en-US" sz="1000" dirty="0" err="1" smtClean="0">
                  <a:solidFill>
                    <a:schemeClr val="accent1"/>
                  </a:solidFill>
                  <a:latin typeface="Neo Sans Intel" panose="020B0504020202020204" pitchFamily="34" charset="0"/>
                </a:rPr>
                <a:t>RegWrite</a:t>
              </a:r>
              <a:endParaRPr lang="en-US" sz="1000" dirty="0" smtClean="0">
                <a:solidFill>
                  <a:schemeClr val="accent1"/>
                </a:solidFill>
                <a:latin typeface="Neo Sans Intel" panose="020B0504020202020204" pitchFamily="34" charset="0"/>
              </a:endParaRPr>
            </a:p>
          </p:txBody>
        </p:sp>
        <p:sp>
          <p:nvSpPr>
            <p:cNvPr id="137" name="TextBox 136"/>
            <p:cNvSpPr txBox="1"/>
            <p:nvPr/>
          </p:nvSpPr>
          <p:spPr>
            <a:xfrm>
              <a:off x="1758339" y="5608561"/>
              <a:ext cx="755071" cy="37622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en-US" sz="1000" dirty="0" err="1" smtClean="0">
                  <a:solidFill>
                    <a:schemeClr val="accent1"/>
                  </a:solidFill>
                  <a:latin typeface="Neo Sans Intel" panose="020B0504020202020204" pitchFamily="34" charset="0"/>
                </a:rPr>
                <a:t>ALUop</a:t>
              </a:r>
              <a:endParaRPr lang="en-US" sz="1000" dirty="0" smtClean="0">
                <a:solidFill>
                  <a:schemeClr val="accent1"/>
                </a:solidFill>
                <a:latin typeface="Neo Sans Intel" panose="020B0504020202020204" pitchFamily="34" charset="0"/>
              </a:endParaRPr>
            </a:p>
          </p:txBody>
        </p:sp>
        <p:sp>
          <p:nvSpPr>
            <p:cNvPr id="138" name="TextBox 137"/>
            <p:cNvSpPr txBox="1"/>
            <p:nvPr/>
          </p:nvSpPr>
          <p:spPr>
            <a:xfrm>
              <a:off x="1758339" y="5026175"/>
              <a:ext cx="806268" cy="37622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en-US" sz="1000" dirty="0" err="1" smtClean="0">
                  <a:solidFill>
                    <a:schemeClr val="accent1"/>
                  </a:solidFill>
                  <a:latin typeface="Neo Sans Intel" panose="020B0504020202020204" pitchFamily="34" charset="0"/>
                </a:rPr>
                <a:t>ALUSrc</a:t>
              </a:r>
              <a:endParaRPr lang="en-US" sz="1000" dirty="0" smtClean="0">
                <a:solidFill>
                  <a:schemeClr val="accent1"/>
                </a:solidFill>
                <a:latin typeface="Neo Sans Intel" panose="020B0504020202020204" pitchFamily="34" charset="0"/>
              </a:endParaRPr>
            </a:p>
          </p:txBody>
        </p:sp>
        <p:sp>
          <p:nvSpPr>
            <p:cNvPr id="139" name="TextBox 138"/>
            <p:cNvSpPr txBox="1"/>
            <p:nvPr/>
          </p:nvSpPr>
          <p:spPr>
            <a:xfrm>
              <a:off x="1758339" y="6190948"/>
              <a:ext cx="1024420" cy="37622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en-US" sz="1000" dirty="0" err="1" smtClean="0">
                  <a:solidFill>
                    <a:schemeClr val="accent1"/>
                  </a:solidFill>
                  <a:latin typeface="Neo Sans Intel" panose="020B0504020202020204" pitchFamily="34" charset="0"/>
                </a:rPr>
                <a:t>MemWrite</a:t>
              </a:r>
              <a:endParaRPr lang="en-US" sz="1000" dirty="0" smtClean="0">
                <a:solidFill>
                  <a:schemeClr val="accent1"/>
                </a:solidFill>
                <a:latin typeface="Neo Sans Intel" panose="020B0504020202020204" pitchFamily="34" charset="0"/>
              </a:endParaRPr>
            </a:p>
          </p:txBody>
        </p:sp>
        <p:sp>
          <p:nvSpPr>
            <p:cNvPr id="140" name="TextBox 139"/>
            <p:cNvSpPr txBox="1"/>
            <p:nvPr/>
          </p:nvSpPr>
          <p:spPr>
            <a:xfrm>
              <a:off x="1758339" y="5899754"/>
              <a:ext cx="688290" cy="37622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en-US" sz="1000" dirty="0" err="1" smtClean="0">
                  <a:solidFill>
                    <a:schemeClr val="accent1"/>
                  </a:solidFill>
                  <a:latin typeface="Neo Sans Intel" panose="020B0504020202020204" pitchFamily="34" charset="0"/>
                </a:rPr>
                <a:t>PCSrc</a:t>
              </a:r>
              <a:endParaRPr lang="en-US" sz="1000" dirty="0" smtClean="0">
                <a:solidFill>
                  <a:schemeClr val="accent1"/>
                </a:solidFill>
                <a:latin typeface="Neo Sans Intel" panose="020B0504020202020204" pitchFamily="34" charset="0"/>
              </a:endParaRPr>
            </a:p>
          </p:txBody>
        </p:sp>
        <p:sp>
          <p:nvSpPr>
            <p:cNvPr id="141" name="TextBox 140"/>
            <p:cNvSpPr txBox="1"/>
            <p:nvPr/>
          </p:nvSpPr>
          <p:spPr>
            <a:xfrm>
              <a:off x="1758339" y="5317369"/>
              <a:ext cx="804043" cy="37622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en-US" sz="1000" dirty="0" err="1" smtClean="0">
                  <a:solidFill>
                    <a:schemeClr val="accent1"/>
                  </a:solidFill>
                  <a:latin typeface="Neo Sans Intel" panose="020B0504020202020204" pitchFamily="34" charset="0"/>
                </a:rPr>
                <a:t>RegDst</a:t>
              </a:r>
              <a:endParaRPr lang="en-US" sz="1000" dirty="0" smtClean="0">
                <a:solidFill>
                  <a:schemeClr val="accent1"/>
                </a:solidFill>
                <a:latin typeface="Neo Sans Intel" panose="020B0504020202020204" pitchFamily="34" charset="0"/>
              </a:endParaRPr>
            </a:p>
          </p:txBody>
        </p:sp>
        <p:sp>
          <p:nvSpPr>
            <p:cNvPr id="142" name="TextBox 141"/>
            <p:cNvSpPr txBox="1"/>
            <p:nvPr/>
          </p:nvSpPr>
          <p:spPr>
            <a:xfrm>
              <a:off x="1758339" y="6482138"/>
              <a:ext cx="1104558" cy="37622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en-US" sz="1000" dirty="0" err="1" smtClean="0">
                  <a:solidFill>
                    <a:schemeClr val="accent1"/>
                  </a:solidFill>
                  <a:latin typeface="Neo Sans Intel" panose="020B0504020202020204" pitchFamily="34" charset="0"/>
                </a:rPr>
                <a:t>MemToReg</a:t>
              </a:r>
              <a:endParaRPr lang="en-US" sz="1000" dirty="0" smtClean="0">
                <a:solidFill>
                  <a:schemeClr val="accent1"/>
                </a:solidFill>
                <a:latin typeface="Neo Sans Intel" panose="020B0504020202020204" pitchFamily="34" charset="0"/>
              </a:endParaRPr>
            </a:p>
          </p:txBody>
        </p:sp>
        <p:cxnSp>
          <p:nvCxnSpPr>
            <p:cNvPr id="143" name="Straight Connector 142"/>
            <p:cNvCxnSpPr/>
            <p:nvPr/>
          </p:nvCxnSpPr>
          <p:spPr bwMode="auto">
            <a:xfrm flipH="1">
              <a:off x="1285093" y="4923093"/>
              <a:ext cx="473246" cy="0"/>
            </a:xfrm>
            <a:prstGeom prst="line">
              <a:avLst/>
            </a:prstGeom>
            <a:solidFill>
              <a:schemeClr val="bg1"/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4" name="Straight Connector 143"/>
            <p:cNvCxnSpPr>
              <a:stCxn id="138" idx="1"/>
            </p:cNvCxnSpPr>
            <p:nvPr/>
          </p:nvCxnSpPr>
          <p:spPr bwMode="auto">
            <a:xfrm flipH="1" flipV="1">
              <a:off x="1285093" y="5214137"/>
              <a:ext cx="473245" cy="150"/>
            </a:xfrm>
            <a:prstGeom prst="line">
              <a:avLst/>
            </a:prstGeom>
            <a:solidFill>
              <a:schemeClr val="bg1"/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5" name="Straight Connector 144"/>
            <p:cNvCxnSpPr>
              <a:stCxn id="141" idx="1"/>
            </p:cNvCxnSpPr>
            <p:nvPr/>
          </p:nvCxnSpPr>
          <p:spPr bwMode="auto">
            <a:xfrm flipH="1">
              <a:off x="1285093" y="5505480"/>
              <a:ext cx="473245" cy="0"/>
            </a:xfrm>
            <a:prstGeom prst="line">
              <a:avLst/>
            </a:prstGeom>
            <a:solidFill>
              <a:schemeClr val="bg1"/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6" name="Straight Connector 145"/>
            <p:cNvCxnSpPr>
              <a:stCxn id="137" idx="1"/>
            </p:cNvCxnSpPr>
            <p:nvPr/>
          </p:nvCxnSpPr>
          <p:spPr bwMode="auto">
            <a:xfrm flipH="1">
              <a:off x="1285093" y="5796672"/>
              <a:ext cx="473245" cy="0"/>
            </a:xfrm>
            <a:prstGeom prst="line">
              <a:avLst/>
            </a:prstGeom>
            <a:solidFill>
              <a:schemeClr val="bg1"/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7" name="Straight Connector 146"/>
            <p:cNvCxnSpPr>
              <a:stCxn id="140" idx="1"/>
            </p:cNvCxnSpPr>
            <p:nvPr/>
          </p:nvCxnSpPr>
          <p:spPr bwMode="auto">
            <a:xfrm flipH="1">
              <a:off x="1285093" y="6087865"/>
              <a:ext cx="473245" cy="0"/>
            </a:xfrm>
            <a:prstGeom prst="line">
              <a:avLst/>
            </a:prstGeom>
            <a:solidFill>
              <a:schemeClr val="bg1"/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8" name="Straight Connector 147"/>
            <p:cNvCxnSpPr>
              <a:stCxn id="139" idx="1"/>
            </p:cNvCxnSpPr>
            <p:nvPr/>
          </p:nvCxnSpPr>
          <p:spPr bwMode="auto">
            <a:xfrm flipH="1">
              <a:off x="1285093" y="6379059"/>
              <a:ext cx="473245" cy="0"/>
            </a:xfrm>
            <a:prstGeom prst="line">
              <a:avLst/>
            </a:prstGeom>
            <a:solidFill>
              <a:schemeClr val="bg1"/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9" name="Straight Connector 148"/>
            <p:cNvCxnSpPr>
              <a:stCxn id="142" idx="1"/>
            </p:cNvCxnSpPr>
            <p:nvPr/>
          </p:nvCxnSpPr>
          <p:spPr bwMode="auto">
            <a:xfrm flipH="1">
              <a:off x="1285093" y="6670249"/>
              <a:ext cx="473245" cy="0"/>
            </a:xfrm>
            <a:prstGeom prst="line">
              <a:avLst/>
            </a:prstGeom>
            <a:solidFill>
              <a:schemeClr val="bg1"/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50" name="Oval 149"/>
            <p:cNvSpPr/>
            <p:nvPr/>
          </p:nvSpPr>
          <p:spPr bwMode="auto">
            <a:xfrm>
              <a:off x="519054" y="4811152"/>
              <a:ext cx="1046480" cy="1971040"/>
            </a:xfrm>
            <a:prstGeom prst="ellipse">
              <a:avLst/>
            </a:prstGeom>
            <a:solidFill>
              <a:schemeClr val="accent3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1200" dirty="0">
                  <a:latin typeface="Neo Sans Intel Medium" panose="020B0604020202020204" pitchFamily="34" charset="0"/>
                  <a:cs typeface="Arial" pitchFamily="34" charset="0"/>
                </a:rPr>
                <a:t>Control</a:t>
              </a:r>
            </a:p>
          </p:txBody>
        </p:sp>
        <p:sp>
          <p:nvSpPr>
            <p:cNvPr id="151" name="TextBox 150"/>
            <p:cNvSpPr txBox="1"/>
            <p:nvPr/>
          </p:nvSpPr>
          <p:spPr>
            <a:xfrm>
              <a:off x="-1219306" y="6254906"/>
              <a:ext cx="1304696" cy="50620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sz="1050" dirty="0" err="1" smtClean="0">
                  <a:latin typeface="Neo Sans Intel" panose="020B0504020202020204" pitchFamily="34" charset="0"/>
                </a:rPr>
                <a:t>CondCode</a:t>
              </a:r>
              <a:endParaRPr lang="en-US" sz="1050" dirty="0" smtClean="0">
                <a:latin typeface="Neo Sans Intel" panose="020B0504020202020204" pitchFamily="34" charset="0"/>
              </a:endParaRPr>
            </a:p>
          </p:txBody>
        </p:sp>
        <p:cxnSp>
          <p:nvCxnSpPr>
            <p:cNvPr id="152" name="Straight Arrow Connector 151"/>
            <p:cNvCxnSpPr>
              <a:stCxn id="151" idx="3"/>
              <a:endCxn id="150" idx="3"/>
            </p:cNvCxnSpPr>
            <p:nvPr/>
          </p:nvCxnSpPr>
          <p:spPr bwMode="auto">
            <a:xfrm flipV="1">
              <a:off x="85390" y="6493539"/>
              <a:ext cx="586917" cy="14469"/>
            </a:xfrm>
            <a:prstGeom prst="straightConnector1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</p:cxnSp>
      </p:grpSp>
      <p:cxnSp>
        <p:nvCxnSpPr>
          <p:cNvPr id="161" name="Elbow Connector 160"/>
          <p:cNvCxnSpPr>
            <a:stCxn id="13" idx="4"/>
            <a:endCxn id="150" idx="2"/>
          </p:cNvCxnSpPr>
          <p:nvPr/>
        </p:nvCxnSpPr>
        <p:spPr bwMode="auto">
          <a:xfrm rot="16200000" flipH="1">
            <a:off x="453504" y="4029035"/>
            <a:ext cx="2933062" cy="280785"/>
          </a:xfrm>
          <a:prstGeom prst="bentConnector2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170108521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  <p:extLst mod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Refresher: MIPS Single-Cycle Implementation</a:t>
            </a:r>
            <a:endParaRPr lang="en-US" dirty="0"/>
          </a:p>
        </p:txBody>
      </p:sp>
      <p:grpSp>
        <p:nvGrpSpPr>
          <p:cNvPr id="5" name="Group 4"/>
          <p:cNvGrpSpPr/>
          <p:nvPr/>
        </p:nvGrpSpPr>
        <p:grpSpPr>
          <a:xfrm>
            <a:off x="154671" y="2441228"/>
            <a:ext cx="1622694" cy="1386326"/>
            <a:chOff x="1738845" y="3229513"/>
            <a:chExt cx="1622694" cy="1386326"/>
          </a:xfrm>
        </p:grpSpPr>
        <p:grpSp>
          <p:nvGrpSpPr>
            <p:cNvPr id="130" name="Group 129"/>
            <p:cNvGrpSpPr/>
            <p:nvPr/>
          </p:nvGrpSpPr>
          <p:grpSpPr>
            <a:xfrm>
              <a:off x="1738845" y="3229513"/>
              <a:ext cx="1447262" cy="1386326"/>
              <a:chOff x="3124738" y="3598050"/>
              <a:chExt cx="1447262" cy="1386326"/>
            </a:xfrm>
          </p:grpSpPr>
          <p:sp>
            <p:nvSpPr>
              <p:cNvPr id="132" name="Rectangle 131"/>
              <p:cNvSpPr/>
              <p:nvPr/>
            </p:nvSpPr>
            <p:spPr bwMode="auto">
              <a:xfrm>
                <a:off x="3126744" y="3598050"/>
                <a:ext cx="1445256" cy="1386326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en-US" sz="2000" b="1" smtClean="0">
                  <a:latin typeface="Neo Sans Intel" pitchFamily="34" charset="0"/>
                  <a:cs typeface="Arial" pitchFamily="34" charset="0"/>
                </a:endParaRPr>
              </a:p>
            </p:txBody>
          </p:sp>
          <p:sp>
            <p:nvSpPr>
              <p:cNvPr id="133" name="TextBox 132"/>
              <p:cNvSpPr txBox="1"/>
              <p:nvPr/>
            </p:nvSpPr>
            <p:spPr>
              <a:xfrm>
                <a:off x="3124738" y="3598050"/>
                <a:ext cx="652743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dirty="0" smtClean="0">
                    <a:latin typeface="Neo Sans Intel" panose="020B0504020202020204" pitchFamily="34" charset="0"/>
                  </a:rPr>
                  <a:t>Read</a:t>
                </a:r>
              </a:p>
              <a:p>
                <a:r>
                  <a:rPr lang="en-US" sz="1100" dirty="0" smtClean="0">
                    <a:latin typeface="Neo Sans Intel" panose="020B0504020202020204" pitchFamily="34" charset="0"/>
                  </a:rPr>
                  <a:t>address</a:t>
                </a:r>
              </a:p>
            </p:txBody>
          </p:sp>
          <p:sp>
            <p:nvSpPr>
              <p:cNvPr id="134" name="TextBox 133"/>
              <p:cNvSpPr txBox="1"/>
              <p:nvPr/>
            </p:nvSpPr>
            <p:spPr>
              <a:xfrm>
                <a:off x="3673849" y="3601253"/>
                <a:ext cx="898151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sz="1100" dirty="0" smtClean="0">
                    <a:latin typeface="Neo Sans Intel" panose="020B0504020202020204" pitchFamily="34" charset="0"/>
                  </a:rPr>
                  <a:t>Instruction [31-0]</a:t>
                </a:r>
              </a:p>
            </p:txBody>
          </p:sp>
          <p:sp>
            <p:nvSpPr>
              <p:cNvPr id="135" name="TextBox 134"/>
              <p:cNvSpPr txBox="1"/>
              <p:nvPr/>
            </p:nvSpPr>
            <p:spPr>
              <a:xfrm>
                <a:off x="3430026" y="4147773"/>
                <a:ext cx="83869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400" dirty="0" smtClean="0">
                    <a:latin typeface="Neo Sans Intel Medium" panose="020B0604020202020204" pitchFamily="34" charset="0"/>
                  </a:rPr>
                  <a:t>Memory</a:t>
                </a:r>
              </a:p>
            </p:txBody>
          </p:sp>
        </p:grpSp>
        <p:cxnSp>
          <p:nvCxnSpPr>
            <p:cNvPr id="131" name="Straight Arrow Connector 130"/>
            <p:cNvCxnSpPr>
              <a:stCxn id="134" idx="3"/>
            </p:cNvCxnSpPr>
            <p:nvPr/>
          </p:nvCxnSpPr>
          <p:spPr bwMode="auto">
            <a:xfrm>
              <a:off x="3186107" y="3448160"/>
              <a:ext cx="175432" cy="0"/>
            </a:xfrm>
            <a:prstGeom prst="straightConnector1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</p:cxnSp>
      </p:grpSp>
      <p:grpSp>
        <p:nvGrpSpPr>
          <p:cNvPr id="6" name="Group 5"/>
          <p:cNvGrpSpPr/>
          <p:nvPr/>
        </p:nvGrpSpPr>
        <p:grpSpPr>
          <a:xfrm>
            <a:off x="2546317" y="3358358"/>
            <a:ext cx="180391" cy="643543"/>
            <a:chOff x="3390790" y="3616963"/>
            <a:chExt cx="180391" cy="643543"/>
          </a:xfrm>
        </p:grpSpPr>
        <p:sp>
          <p:nvSpPr>
            <p:cNvPr id="126" name="Trapezoid 125"/>
            <p:cNvSpPr/>
            <p:nvPr/>
          </p:nvSpPr>
          <p:spPr bwMode="auto">
            <a:xfrm rot="5400000">
              <a:off x="3159214" y="3848539"/>
              <a:ext cx="643543" cy="180391"/>
            </a:xfrm>
            <a:prstGeom prst="trapezoid">
              <a:avLst>
                <a:gd name="adj" fmla="val 53513"/>
              </a:avLst>
            </a:prstGeom>
            <a:solidFill>
              <a:schemeClr val="bg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Neo Sans Intel Medium" panose="020B0604020202020204" pitchFamily="34" charset="0"/>
              </a:endParaRPr>
            </a:p>
          </p:txBody>
        </p:sp>
        <p:sp>
          <p:nvSpPr>
            <p:cNvPr id="127" name="Rectangle 158"/>
            <p:cNvSpPr>
              <a:spLocks noChangeArrowheads="1"/>
            </p:cNvSpPr>
            <p:nvPr/>
          </p:nvSpPr>
          <p:spPr bwMode="auto">
            <a:xfrm flipH="1">
              <a:off x="3395878" y="3678301"/>
              <a:ext cx="85107" cy="107722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sz="700" b="1" dirty="0">
                  <a:solidFill>
                    <a:srgbClr val="000000"/>
                  </a:solidFill>
                  <a:latin typeface="Neo Sans Intel" panose="020B0504020202020204" pitchFamily="34" charset="0"/>
                </a:rPr>
                <a:t>0</a:t>
              </a:r>
              <a:endParaRPr lang="en-US" sz="700" dirty="0">
                <a:solidFill>
                  <a:srgbClr val="000000"/>
                </a:solidFill>
                <a:latin typeface="Neo Sans Intel" panose="020B0504020202020204" pitchFamily="34" charset="0"/>
              </a:endParaRPr>
            </a:p>
          </p:txBody>
        </p:sp>
        <p:sp>
          <p:nvSpPr>
            <p:cNvPr id="128" name="Rectangle 159"/>
            <p:cNvSpPr>
              <a:spLocks noChangeArrowheads="1"/>
            </p:cNvSpPr>
            <p:nvPr/>
          </p:nvSpPr>
          <p:spPr bwMode="auto">
            <a:xfrm flipH="1">
              <a:off x="3395879" y="4095679"/>
              <a:ext cx="85106" cy="107722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sz="700" b="1" dirty="0">
                  <a:solidFill>
                    <a:srgbClr val="000000"/>
                  </a:solidFill>
                  <a:latin typeface="Neo Sans Intel" panose="020B0504020202020204" pitchFamily="34" charset="0"/>
                </a:rPr>
                <a:t>1</a:t>
              </a:r>
            </a:p>
          </p:txBody>
        </p:sp>
        <p:sp>
          <p:nvSpPr>
            <p:cNvPr id="129" name="Rectangle 160"/>
            <p:cNvSpPr>
              <a:spLocks noChangeArrowheads="1"/>
            </p:cNvSpPr>
            <p:nvPr/>
          </p:nvSpPr>
          <p:spPr bwMode="auto">
            <a:xfrm flipH="1">
              <a:off x="3450365" y="3821794"/>
              <a:ext cx="84960" cy="258532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>
                <a:lnSpc>
                  <a:spcPct val="70000"/>
                </a:lnSpc>
              </a:pPr>
              <a:r>
                <a:rPr lang="en-US" sz="800" b="1" dirty="0">
                  <a:solidFill>
                    <a:srgbClr val="000000"/>
                  </a:solidFill>
                  <a:latin typeface="Neo Sans Intel Medium" panose="020B0604020202020204" pitchFamily="34" charset="0"/>
                </a:rPr>
                <a:t>m</a:t>
              </a:r>
            </a:p>
            <a:p>
              <a:pPr algn="ctr">
                <a:lnSpc>
                  <a:spcPct val="70000"/>
                </a:lnSpc>
              </a:pPr>
              <a:r>
                <a:rPr lang="en-US" sz="800" b="1" dirty="0">
                  <a:solidFill>
                    <a:srgbClr val="000000"/>
                  </a:solidFill>
                  <a:latin typeface="Neo Sans Intel Medium" panose="020B0604020202020204" pitchFamily="34" charset="0"/>
                </a:rPr>
                <a:t>u</a:t>
              </a:r>
            </a:p>
            <a:p>
              <a:pPr algn="ctr">
                <a:lnSpc>
                  <a:spcPct val="70000"/>
                </a:lnSpc>
              </a:pPr>
              <a:r>
                <a:rPr lang="en-US" sz="800" b="1" dirty="0">
                  <a:solidFill>
                    <a:srgbClr val="000000"/>
                  </a:solidFill>
                  <a:latin typeface="Neo Sans Intel Medium" panose="020B0604020202020204" pitchFamily="34" charset="0"/>
                </a:rPr>
                <a:t>x</a:t>
              </a:r>
              <a:endParaRPr lang="en-US" sz="500" dirty="0">
                <a:solidFill>
                  <a:srgbClr val="000000"/>
                </a:solidFill>
                <a:latin typeface="Neo Sans Intel Medium" panose="020B0604020202020204" pitchFamily="34" charset="0"/>
              </a:endParaRPr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3107902" y="2452104"/>
            <a:ext cx="1552498" cy="1873251"/>
            <a:chOff x="4488424" y="3657632"/>
            <a:chExt cx="1552498" cy="1873251"/>
          </a:xfrm>
        </p:grpSpPr>
        <p:sp>
          <p:nvSpPr>
            <p:cNvPr id="117" name="Rectangle 116"/>
            <p:cNvSpPr/>
            <p:nvPr/>
          </p:nvSpPr>
          <p:spPr bwMode="auto">
            <a:xfrm>
              <a:off x="4490028" y="3657632"/>
              <a:ext cx="1550894" cy="187067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b="1" smtClean="0">
                <a:latin typeface="Neo Sans Intel" pitchFamily="34" charset="0"/>
                <a:cs typeface="Arial" pitchFamily="34" charset="0"/>
              </a:endParaRPr>
            </a:p>
          </p:txBody>
        </p:sp>
        <p:sp>
          <p:nvSpPr>
            <p:cNvPr id="118" name="TextBox 117"/>
            <p:cNvSpPr txBox="1"/>
            <p:nvPr/>
          </p:nvSpPr>
          <p:spPr>
            <a:xfrm>
              <a:off x="4490028" y="3657633"/>
              <a:ext cx="771365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 smtClean="0">
                  <a:latin typeface="Neo Sans Intel" panose="020B0504020202020204" pitchFamily="34" charset="0"/>
                </a:rPr>
                <a:t>Read</a:t>
              </a:r>
            </a:p>
            <a:p>
              <a:r>
                <a:rPr lang="en-US" sz="1100" dirty="0">
                  <a:latin typeface="Neo Sans Intel" panose="020B0504020202020204" pitchFamily="34" charset="0"/>
                </a:rPr>
                <a:t>r</a:t>
              </a:r>
              <a:r>
                <a:rPr lang="en-US" sz="1100" dirty="0" smtClean="0">
                  <a:latin typeface="Neo Sans Intel" panose="020B0504020202020204" pitchFamily="34" charset="0"/>
                </a:rPr>
                <a:t>egister </a:t>
              </a:r>
              <a:r>
                <a:rPr lang="en-US" sz="1100" b="1" dirty="0" smtClean="0">
                  <a:latin typeface="Neo Sans Intel" panose="020B0504020202020204" pitchFamily="34" charset="0"/>
                </a:rPr>
                <a:t>1</a:t>
              </a:r>
            </a:p>
          </p:txBody>
        </p:sp>
        <p:sp>
          <p:nvSpPr>
            <p:cNvPr id="119" name="TextBox 118"/>
            <p:cNvSpPr txBox="1"/>
            <p:nvPr/>
          </p:nvSpPr>
          <p:spPr>
            <a:xfrm>
              <a:off x="5142771" y="3660836"/>
              <a:ext cx="898151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100" dirty="0" smtClean="0">
                  <a:latin typeface="Neo Sans Intel" panose="020B0504020202020204" pitchFamily="34" charset="0"/>
                </a:rPr>
                <a:t>Read</a:t>
              </a:r>
            </a:p>
            <a:p>
              <a:pPr algn="r"/>
              <a:r>
                <a:rPr lang="en-US" sz="1100" dirty="0">
                  <a:latin typeface="Neo Sans Intel" panose="020B0504020202020204" pitchFamily="34" charset="0"/>
                </a:rPr>
                <a:t>d</a:t>
              </a:r>
              <a:r>
                <a:rPr lang="en-US" sz="1100" dirty="0" smtClean="0">
                  <a:latin typeface="Neo Sans Intel" panose="020B0504020202020204" pitchFamily="34" charset="0"/>
                </a:rPr>
                <a:t>ata </a:t>
              </a:r>
              <a:r>
                <a:rPr lang="en-US" sz="1100" b="1" dirty="0" smtClean="0">
                  <a:latin typeface="Neo Sans Intel" panose="020B0504020202020204" pitchFamily="34" charset="0"/>
                </a:rPr>
                <a:t>1</a:t>
              </a:r>
            </a:p>
          </p:txBody>
        </p:sp>
        <p:sp>
          <p:nvSpPr>
            <p:cNvPr id="120" name="TextBox 119"/>
            <p:cNvSpPr txBox="1"/>
            <p:nvPr/>
          </p:nvSpPr>
          <p:spPr>
            <a:xfrm>
              <a:off x="5088107" y="5220532"/>
              <a:ext cx="94910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 smtClean="0">
                  <a:latin typeface="Neo Sans Intel Medium" panose="020B0604020202020204" pitchFamily="34" charset="0"/>
                </a:rPr>
                <a:t>Registers</a:t>
              </a:r>
            </a:p>
          </p:txBody>
        </p:sp>
        <p:sp>
          <p:nvSpPr>
            <p:cNvPr id="121" name="TextBox 120"/>
            <p:cNvSpPr txBox="1"/>
            <p:nvPr/>
          </p:nvSpPr>
          <p:spPr>
            <a:xfrm>
              <a:off x="4490028" y="4132149"/>
              <a:ext cx="772969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 smtClean="0">
                  <a:latin typeface="Neo Sans Intel" panose="020B0504020202020204" pitchFamily="34" charset="0"/>
                </a:rPr>
                <a:t>Read</a:t>
              </a:r>
            </a:p>
            <a:p>
              <a:r>
                <a:rPr lang="en-US" sz="1100" dirty="0">
                  <a:latin typeface="Neo Sans Intel" panose="020B0504020202020204" pitchFamily="34" charset="0"/>
                </a:rPr>
                <a:t>r</a:t>
              </a:r>
              <a:r>
                <a:rPr lang="en-US" sz="1100" dirty="0" smtClean="0">
                  <a:latin typeface="Neo Sans Intel" panose="020B0504020202020204" pitchFamily="34" charset="0"/>
                </a:rPr>
                <a:t>egister </a:t>
              </a:r>
              <a:r>
                <a:rPr lang="en-US" sz="1100" b="1" dirty="0" smtClean="0">
                  <a:latin typeface="Neo Sans Intel" panose="020B0504020202020204" pitchFamily="34" charset="0"/>
                </a:rPr>
                <a:t>2</a:t>
              </a:r>
            </a:p>
          </p:txBody>
        </p:sp>
        <p:sp>
          <p:nvSpPr>
            <p:cNvPr id="122" name="TextBox 121"/>
            <p:cNvSpPr txBox="1"/>
            <p:nvPr/>
          </p:nvSpPr>
          <p:spPr>
            <a:xfrm>
              <a:off x="5142771" y="4285847"/>
              <a:ext cx="898151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100" dirty="0" smtClean="0">
                  <a:latin typeface="Neo Sans Intel" panose="020B0504020202020204" pitchFamily="34" charset="0"/>
                </a:rPr>
                <a:t>Read</a:t>
              </a:r>
            </a:p>
            <a:p>
              <a:pPr algn="r"/>
              <a:r>
                <a:rPr lang="en-US" sz="1100" dirty="0">
                  <a:latin typeface="Neo Sans Intel" panose="020B0504020202020204" pitchFamily="34" charset="0"/>
                </a:rPr>
                <a:t>d</a:t>
              </a:r>
              <a:r>
                <a:rPr lang="en-US" sz="1100" dirty="0" smtClean="0">
                  <a:latin typeface="Neo Sans Intel" panose="020B0504020202020204" pitchFamily="34" charset="0"/>
                </a:rPr>
                <a:t>ata </a:t>
              </a:r>
              <a:r>
                <a:rPr lang="en-US" sz="1100" b="1" dirty="0">
                  <a:latin typeface="Neo Sans Intel" panose="020B0504020202020204" pitchFamily="34" charset="0"/>
                </a:rPr>
                <a:t>2</a:t>
              </a:r>
              <a:endParaRPr lang="en-US" sz="1100" b="1" dirty="0" smtClean="0">
                <a:latin typeface="Neo Sans Intel" panose="020B0504020202020204" pitchFamily="34" charset="0"/>
              </a:endParaRPr>
            </a:p>
          </p:txBody>
        </p:sp>
        <p:sp>
          <p:nvSpPr>
            <p:cNvPr id="123" name="TextBox 122"/>
            <p:cNvSpPr txBox="1"/>
            <p:nvPr/>
          </p:nvSpPr>
          <p:spPr>
            <a:xfrm>
              <a:off x="4488424" y="4669109"/>
              <a:ext cx="654346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 smtClean="0">
                  <a:latin typeface="Neo Sans Intel" panose="020B0504020202020204" pitchFamily="34" charset="0"/>
                </a:rPr>
                <a:t>Write</a:t>
              </a:r>
            </a:p>
            <a:p>
              <a:r>
                <a:rPr lang="en-US" sz="1100" dirty="0" smtClean="0">
                  <a:latin typeface="Neo Sans Intel" panose="020B0504020202020204" pitchFamily="34" charset="0"/>
                </a:rPr>
                <a:t>register</a:t>
              </a:r>
              <a:endParaRPr lang="en-US" sz="1100" b="1" dirty="0" smtClean="0">
                <a:latin typeface="Neo Sans Intel" panose="020B0504020202020204" pitchFamily="34" charset="0"/>
              </a:endParaRPr>
            </a:p>
          </p:txBody>
        </p:sp>
        <p:sp>
          <p:nvSpPr>
            <p:cNvPr id="124" name="TextBox 123"/>
            <p:cNvSpPr txBox="1"/>
            <p:nvPr/>
          </p:nvSpPr>
          <p:spPr>
            <a:xfrm>
              <a:off x="4490028" y="5099996"/>
              <a:ext cx="50687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 smtClean="0">
                  <a:latin typeface="Neo Sans Intel" panose="020B0504020202020204" pitchFamily="34" charset="0"/>
                </a:rPr>
                <a:t>Write</a:t>
              </a:r>
            </a:p>
            <a:p>
              <a:r>
                <a:rPr lang="en-US" sz="1100" dirty="0" smtClean="0">
                  <a:latin typeface="Neo Sans Intel" panose="020B0504020202020204" pitchFamily="34" charset="0"/>
                </a:rPr>
                <a:t>data</a:t>
              </a:r>
              <a:endParaRPr lang="en-US" sz="1100" b="1" dirty="0" smtClean="0">
                <a:latin typeface="Neo Sans Intel" panose="020B0504020202020204" pitchFamily="34" charset="0"/>
              </a:endParaRPr>
            </a:p>
          </p:txBody>
        </p:sp>
        <p:sp>
          <p:nvSpPr>
            <p:cNvPr id="125" name="Rectangle 124"/>
            <p:cNvSpPr/>
            <p:nvPr/>
          </p:nvSpPr>
          <p:spPr bwMode="auto">
            <a:xfrm>
              <a:off x="5194990" y="3666551"/>
              <a:ext cx="133350" cy="13335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3175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b="1" smtClean="0">
                <a:latin typeface="Neo Sans Intel" pitchFamily="34" charset="0"/>
                <a:cs typeface="Arial" pitchFamily="34" charset="0"/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3513352" y="2077773"/>
            <a:ext cx="739305" cy="393410"/>
            <a:chOff x="4262754" y="2858356"/>
            <a:chExt cx="739305" cy="393410"/>
          </a:xfrm>
        </p:grpSpPr>
        <p:sp>
          <p:nvSpPr>
            <p:cNvPr id="115" name="TextBox 114"/>
            <p:cNvSpPr txBox="1"/>
            <p:nvPr/>
          </p:nvSpPr>
          <p:spPr>
            <a:xfrm>
              <a:off x="4262754" y="2858356"/>
              <a:ext cx="739305" cy="26161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100" dirty="0" err="1" smtClean="0">
                  <a:solidFill>
                    <a:schemeClr val="accent1"/>
                  </a:solidFill>
                  <a:latin typeface="Neo Sans Intel" panose="020B0504020202020204" pitchFamily="34" charset="0"/>
                </a:rPr>
                <a:t>RegWrite</a:t>
              </a:r>
              <a:endParaRPr lang="en-US" sz="1100" dirty="0" smtClean="0">
                <a:solidFill>
                  <a:schemeClr val="accent1"/>
                </a:solidFill>
                <a:latin typeface="Neo Sans Intel" panose="020B0504020202020204" pitchFamily="34" charset="0"/>
              </a:endParaRPr>
            </a:p>
          </p:txBody>
        </p:sp>
        <p:cxnSp>
          <p:nvCxnSpPr>
            <p:cNvPr id="116" name="Straight Connector 115"/>
            <p:cNvCxnSpPr>
              <a:stCxn id="115" idx="2"/>
              <a:endCxn id="125" idx="0"/>
            </p:cNvCxnSpPr>
            <p:nvPr/>
          </p:nvCxnSpPr>
          <p:spPr bwMode="auto">
            <a:xfrm flipH="1">
              <a:off x="4630545" y="3119966"/>
              <a:ext cx="1862" cy="131800"/>
            </a:xfrm>
            <a:prstGeom prst="line">
              <a:avLst/>
            </a:prstGeom>
            <a:solidFill>
              <a:schemeClr val="bg1"/>
            </a:solidFill>
            <a:ln w="635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cxnSp>
        <p:nvCxnSpPr>
          <p:cNvPr id="9" name="Straight Arrow Connector 8"/>
          <p:cNvCxnSpPr>
            <a:stCxn id="119" idx="3"/>
            <a:endCxn id="111" idx="1"/>
          </p:cNvCxnSpPr>
          <p:nvPr/>
        </p:nvCxnSpPr>
        <p:spPr bwMode="auto">
          <a:xfrm flipV="1">
            <a:off x="4660400" y="2670392"/>
            <a:ext cx="794482" cy="360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  <a:effectLst/>
        </p:spPr>
      </p:cxnSp>
      <p:grpSp>
        <p:nvGrpSpPr>
          <p:cNvPr id="10" name="Group 9"/>
          <p:cNvGrpSpPr/>
          <p:nvPr/>
        </p:nvGrpSpPr>
        <p:grpSpPr>
          <a:xfrm>
            <a:off x="5454882" y="2356395"/>
            <a:ext cx="727535" cy="1439797"/>
            <a:chOff x="6728724" y="3121968"/>
            <a:chExt cx="727535" cy="1439797"/>
          </a:xfrm>
        </p:grpSpPr>
        <p:sp>
          <p:nvSpPr>
            <p:cNvPr id="109" name="Freeform 127"/>
            <p:cNvSpPr>
              <a:spLocks/>
            </p:cNvSpPr>
            <p:nvPr/>
          </p:nvSpPr>
          <p:spPr bwMode="auto">
            <a:xfrm>
              <a:off x="6728724" y="3121968"/>
              <a:ext cx="727535" cy="1439797"/>
            </a:xfrm>
            <a:custGeom>
              <a:avLst/>
              <a:gdLst>
                <a:gd name="T0" fmla="*/ 0 w 210"/>
                <a:gd name="T1" fmla="*/ 0 h 413"/>
                <a:gd name="T2" fmla="*/ 0 w 210"/>
                <a:gd name="T3" fmla="*/ 167 h 413"/>
                <a:gd name="T4" fmla="*/ 91 w 210"/>
                <a:gd name="T5" fmla="*/ 207 h 413"/>
                <a:gd name="T6" fmla="*/ 0 w 210"/>
                <a:gd name="T7" fmla="*/ 245 h 413"/>
                <a:gd name="T8" fmla="*/ 0 w 210"/>
                <a:gd name="T9" fmla="*/ 412 h 413"/>
                <a:gd name="T10" fmla="*/ 284 w 210"/>
                <a:gd name="T11" fmla="*/ 286 h 413"/>
                <a:gd name="T12" fmla="*/ 284 w 210"/>
                <a:gd name="T13" fmla="*/ 127 h 413"/>
                <a:gd name="T14" fmla="*/ 0 w 210"/>
                <a:gd name="T15" fmla="*/ 0 h 413"/>
                <a:gd name="T16" fmla="*/ 0 w 210"/>
                <a:gd name="T17" fmla="*/ 0 h 41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10"/>
                <a:gd name="T28" fmla="*/ 0 h 413"/>
                <a:gd name="T29" fmla="*/ 210 w 210"/>
                <a:gd name="T30" fmla="*/ 413 h 413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10" h="413">
                  <a:moveTo>
                    <a:pt x="0" y="0"/>
                  </a:moveTo>
                  <a:lnTo>
                    <a:pt x="0" y="167"/>
                  </a:lnTo>
                  <a:lnTo>
                    <a:pt x="67" y="207"/>
                  </a:lnTo>
                  <a:lnTo>
                    <a:pt x="0" y="245"/>
                  </a:lnTo>
                  <a:lnTo>
                    <a:pt x="0" y="412"/>
                  </a:lnTo>
                  <a:lnTo>
                    <a:pt x="209" y="286"/>
                  </a:lnTo>
                  <a:lnTo>
                    <a:pt x="209" y="127"/>
                  </a:lnTo>
                  <a:lnTo>
                    <a:pt x="0" y="0"/>
                  </a:lnTo>
                </a:path>
              </a:pathLst>
            </a:custGeom>
            <a:solidFill>
              <a:schemeClr val="accent5">
                <a:lumMod val="60000"/>
                <a:lumOff val="4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eaLnBrk="0" hangingPunct="0"/>
              <a:endParaRPr lang="en-US" sz="2000" b="1">
                <a:latin typeface="Neo Sans Intel" pitchFamily="34" charset="0"/>
                <a:cs typeface="Arial" pitchFamily="34" charset="0"/>
              </a:endParaRPr>
            </a:p>
          </p:txBody>
        </p:sp>
        <p:sp>
          <p:nvSpPr>
            <p:cNvPr id="110" name="TextBox 109"/>
            <p:cNvSpPr txBox="1"/>
            <p:nvPr/>
          </p:nvSpPr>
          <p:spPr>
            <a:xfrm>
              <a:off x="6728724" y="3392722"/>
              <a:ext cx="363767" cy="18466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200" dirty="0" smtClean="0">
                  <a:latin typeface="Neo Sans Intel Medium" panose="020B0604020202020204" pitchFamily="34" charset="0"/>
                </a:rPr>
                <a:t>ALU</a:t>
              </a:r>
            </a:p>
          </p:txBody>
        </p:sp>
        <p:sp>
          <p:nvSpPr>
            <p:cNvPr id="111" name="TextBox 110"/>
            <p:cNvSpPr txBox="1"/>
            <p:nvPr/>
          </p:nvSpPr>
          <p:spPr>
            <a:xfrm>
              <a:off x="6728724" y="3319972"/>
              <a:ext cx="155484" cy="2319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500" dirty="0" smtClean="0">
                  <a:latin typeface="Neo Sans Intel" panose="020B0504020202020204" pitchFamily="34" charset="0"/>
                </a:rPr>
                <a:t> </a:t>
              </a:r>
            </a:p>
          </p:txBody>
        </p:sp>
        <p:sp>
          <p:nvSpPr>
            <p:cNvPr id="112" name="TextBox 111"/>
            <p:cNvSpPr txBox="1"/>
            <p:nvPr/>
          </p:nvSpPr>
          <p:spPr>
            <a:xfrm>
              <a:off x="6728724" y="4152246"/>
              <a:ext cx="155484" cy="2319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500" dirty="0" smtClean="0">
                  <a:latin typeface="Neo Sans Intel" panose="020B0504020202020204" pitchFamily="34" charset="0"/>
                </a:rPr>
                <a:t> </a:t>
              </a:r>
            </a:p>
          </p:txBody>
        </p:sp>
        <p:sp>
          <p:nvSpPr>
            <p:cNvPr id="113" name="TextBox 112"/>
            <p:cNvSpPr txBox="1"/>
            <p:nvPr/>
          </p:nvSpPr>
          <p:spPr>
            <a:xfrm>
              <a:off x="6969760" y="3801019"/>
              <a:ext cx="481419" cy="261610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US" sz="1100" dirty="0" smtClean="0">
                  <a:latin typeface="Neo Sans Intel" panose="020B0504020202020204" pitchFamily="34" charset="0"/>
                </a:rPr>
                <a:t>Result</a:t>
              </a:r>
              <a:endParaRPr lang="en-US" sz="1100" b="1" dirty="0" smtClean="0">
                <a:latin typeface="Neo Sans Intel" panose="020B0504020202020204" pitchFamily="34" charset="0"/>
              </a:endParaRPr>
            </a:p>
          </p:txBody>
        </p:sp>
        <p:sp>
          <p:nvSpPr>
            <p:cNvPr id="114" name="TextBox 113"/>
            <p:cNvSpPr txBox="1"/>
            <p:nvPr/>
          </p:nvSpPr>
          <p:spPr>
            <a:xfrm>
              <a:off x="6904108" y="3557248"/>
              <a:ext cx="547071" cy="230832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US" sz="900" dirty="0" err="1" smtClean="0">
                  <a:latin typeface="Neo Sans Intel" panose="020B0504020202020204" pitchFamily="34" charset="0"/>
                </a:rPr>
                <a:t>CondCode</a:t>
              </a:r>
              <a:endParaRPr lang="en-US" sz="900" b="1" dirty="0" smtClean="0">
                <a:latin typeface="Neo Sans Intel" panose="020B0504020202020204" pitchFamily="34" charset="0"/>
              </a:endParaRPr>
            </a:p>
          </p:txBody>
        </p:sp>
      </p:grpSp>
      <p:cxnSp>
        <p:nvCxnSpPr>
          <p:cNvPr id="11" name="Elbow Connector 10"/>
          <p:cNvCxnSpPr>
            <a:stCxn id="122" idx="3"/>
            <a:endCxn id="104" idx="3"/>
          </p:cNvCxnSpPr>
          <p:nvPr/>
        </p:nvCxnSpPr>
        <p:spPr bwMode="auto">
          <a:xfrm flipV="1">
            <a:off x="4660400" y="3294634"/>
            <a:ext cx="454431" cy="1129"/>
          </a:xfrm>
          <a:prstGeom prst="bentConnector3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  <a:effectLst/>
        </p:spPr>
      </p:cxnSp>
      <p:cxnSp>
        <p:nvCxnSpPr>
          <p:cNvPr id="12" name="Elbow Connector 11"/>
          <p:cNvCxnSpPr>
            <a:stCxn id="93" idx="0"/>
            <a:endCxn id="124" idx="1"/>
          </p:cNvCxnSpPr>
          <p:nvPr/>
        </p:nvCxnSpPr>
        <p:spPr bwMode="auto">
          <a:xfrm flipH="1">
            <a:off x="3109506" y="2899731"/>
            <a:ext cx="5615445" cy="1210181"/>
          </a:xfrm>
          <a:prstGeom prst="bentConnector5">
            <a:avLst>
              <a:gd name="adj1" fmla="val -4071"/>
              <a:gd name="adj2" fmla="val 172985"/>
              <a:gd name="adj3" fmla="val 104071"/>
            </a:avLst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  <a:effectLst/>
        </p:spPr>
      </p:cxnSp>
      <p:sp>
        <p:nvSpPr>
          <p:cNvPr id="13" name="Oval 12"/>
          <p:cNvSpPr/>
          <p:nvPr/>
        </p:nvSpPr>
        <p:spPr bwMode="auto">
          <a:xfrm>
            <a:off x="1743407" y="2630425"/>
            <a:ext cx="72472" cy="72472"/>
          </a:xfrm>
          <a:prstGeom prst="ellipse">
            <a:avLst/>
          </a:prstGeom>
          <a:solidFill>
            <a:schemeClr val="tx1"/>
          </a:solidFill>
          <a:ln w="31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b="1" smtClean="0">
              <a:latin typeface="Neo Sans Intel" pitchFamily="34" charset="0"/>
              <a:cs typeface="Arial" pitchFamily="34" charset="0"/>
            </a:endParaRPr>
          </a:p>
        </p:txBody>
      </p:sp>
      <p:cxnSp>
        <p:nvCxnSpPr>
          <p:cNvPr id="14" name="Straight Arrow Connector 13"/>
          <p:cNvCxnSpPr>
            <a:stCxn id="13" idx="6"/>
            <a:endCxn id="118" idx="1"/>
          </p:cNvCxnSpPr>
          <p:nvPr/>
        </p:nvCxnSpPr>
        <p:spPr bwMode="auto">
          <a:xfrm>
            <a:off x="1815879" y="2666661"/>
            <a:ext cx="1293627" cy="888"/>
          </a:xfrm>
          <a:prstGeom prst="straightConnector1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  <a:effectLst/>
        </p:spPr>
      </p:cxnSp>
      <p:cxnSp>
        <p:nvCxnSpPr>
          <p:cNvPr id="15" name="Elbow Connector 14"/>
          <p:cNvCxnSpPr>
            <a:stCxn id="13" idx="4"/>
            <a:endCxn id="121" idx="1"/>
          </p:cNvCxnSpPr>
          <p:nvPr/>
        </p:nvCxnSpPr>
        <p:spPr bwMode="auto">
          <a:xfrm rot="16200000" flipH="1">
            <a:off x="2224990" y="2257549"/>
            <a:ext cx="439168" cy="1329863"/>
          </a:xfrm>
          <a:prstGeom prst="bentConnector2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  <a:effectLst/>
        </p:spPr>
      </p:cxnSp>
      <p:cxnSp>
        <p:nvCxnSpPr>
          <p:cNvPr id="16" name="Elbow Connector 15"/>
          <p:cNvCxnSpPr>
            <a:stCxn id="13" idx="4"/>
            <a:endCxn id="128" idx="3"/>
          </p:cNvCxnSpPr>
          <p:nvPr/>
        </p:nvCxnSpPr>
        <p:spPr bwMode="auto">
          <a:xfrm rot="16200000" flipH="1">
            <a:off x="1571505" y="2911034"/>
            <a:ext cx="1188038" cy="771763"/>
          </a:xfrm>
          <a:prstGeom prst="bentConnector2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  <a:effectLst/>
        </p:spPr>
      </p:cxnSp>
      <p:sp>
        <p:nvSpPr>
          <p:cNvPr id="17" name="TextBox 16"/>
          <p:cNvSpPr txBox="1"/>
          <p:nvPr/>
        </p:nvSpPr>
        <p:spPr>
          <a:xfrm>
            <a:off x="1790302" y="2386875"/>
            <a:ext cx="7585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Neo Sans Intel" panose="020B0504020202020204" pitchFamily="34" charset="0"/>
              </a:rPr>
              <a:t>I [25-21]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2438" y="2860153"/>
            <a:ext cx="7585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Neo Sans Intel" panose="020B0504020202020204" pitchFamily="34" charset="0"/>
              </a:rPr>
              <a:t>I [20-16]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59821" y="3604086"/>
            <a:ext cx="7585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Neo Sans Intel" panose="020B0504020202020204" pitchFamily="34" charset="0"/>
              </a:rPr>
              <a:t>I [15-11]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5542593" y="3514858"/>
            <a:ext cx="580608" cy="532039"/>
            <a:chOff x="6598319" y="4283249"/>
            <a:chExt cx="580608" cy="532039"/>
          </a:xfrm>
        </p:grpSpPr>
        <p:sp>
          <p:nvSpPr>
            <p:cNvPr id="107" name="TextBox 106"/>
            <p:cNvSpPr txBox="1"/>
            <p:nvPr/>
          </p:nvSpPr>
          <p:spPr>
            <a:xfrm>
              <a:off x="6598319" y="4553678"/>
              <a:ext cx="58060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 err="1" smtClean="0">
                  <a:solidFill>
                    <a:schemeClr val="accent1"/>
                  </a:solidFill>
                  <a:latin typeface="Neo Sans Intel" panose="020B0504020202020204" pitchFamily="34" charset="0"/>
                </a:rPr>
                <a:t>ALUop</a:t>
              </a:r>
              <a:endParaRPr lang="en-US" sz="1100" dirty="0" smtClean="0">
                <a:solidFill>
                  <a:schemeClr val="accent1"/>
                </a:solidFill>
                <a:latin typeface="Neo Sans Intel" panose="020B0504020202020204" pitchFamily="34" charset="0"/>
              </a:endParaRPr>
            </a:p>
          </p:txBody>
        </p:sp>
        <p:cxnSp>
          <p:nvCxnSpPr>
            <p:cNvPr id="108" name="Straight Connector 107"/>
            <p:cNvCxnSpPr/>
            <p:nvPr/>
          </p:nvCxnSpPr>
          <p:spPr bwMode="auto">
            <a:xfrm flipH="1">
              <a:off x="6967969" y="4283249"/>
              <a:ext cx="32" cy="272672"/>
            </a:xfrm>
            <a:prstGeom prst="line">
              <a:avLst/>
            </a:prstGeom>
            <a:solidFill>
              <a:schemeClr val="bg1"/>
            </a:solidFill>
            <a:ln w="635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21" name="Oval 20"/>
          <p:cNvSpPr/>
          <p:nvPr/>
        </p:nvSpPr>
        <p:spPr bwMode="auto">
          <a:xfrm>
            <a:off x="2289085" y="3109032"/>
            <a:ext cx="72472" cy="72472"/>
          </a:xfrm>
          <a:prstGeom prst="ellipse">
            <a:avLst/>
          </a:prstGeom>
          <a:solidFill>
            <a:schemeClr val="tx1"/>
          </a:solidFill>
          <a:ln w="31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b="1" smtClean="0">
              <a:latin typeface="Neo Sans Intel" pitchFamily="34" charset="0"/>
              <a:cs typeface="Arial" pitchFamily="34" charset="0"/>
            </a:endParaRPr>
          </a:p>
        </p:txBody>
      </p:sp>
      <p:cxnSp>
        <p:nvCxnSpPr>
          <p:cNvPr id="22" name="Elbow Connector 21"/>
          <p:cNvCxnSpPr>
            <a:stCxn id="21" idx="4"/>
            <a:endCxn id="127" idx="3"/>
          </p:cNvCxnSpPr>
          <p:nvPr/>
        </p:nvCxnSpPr>
        <p:spPr bwMode="auto">
          <a:xfrm rot="16200000" flipH="1">
            <a:off x="2292337" y="3214488"/>
            <a:ext cx="292053" cy="226084"/>
          </a:xfrm>
          <a:prstGeom prst="bentConnector2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  <a:effectLst/>
        </p:spPr>
      </p:cxnSp>
      <p:cxnSp>
        <p:nvCxnSpPr>
          <p:cNvPr id="23" name="Straight Arrow Connector 22"/>
          <p:cNvCxnSpPr>
            <a:stCxn id="126" idx="0"/>
            <a:endCxn id="123" idx="1"/>
          </p:cNvCxnSpPr>
          <p:nvPr/>
        </p:nvCxnSpPr>
        <p:spPr bwMode="auto">
          <a:xfrm flipV="1">
            <a:off x="2726708" y="3679025"/>
            <a:ext cx="381194" cy="1105"/>
          </a:xfrm>
          <a:prstGeom prst="straightConnector1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  <a:effectLst/>
        </p:spPr>
      </p:cxnSp>
      <p:sp>
        <p:nvSpPr>
          <p:cNvPr id="24" name="Rounded Rectangle 23"/>
          <p:cNvSpPr/>
          <p:nvPr/>
        </p:nvSpPr>
        <p:spPr bwMode="auto">
          <a:xfrm>
            <a:off x="3435075" y="4524724"/>
            <a:ext cx="953678" cy="273884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1100" dirty="0" smtClean="0">
                <a:latin typeface="Neo Sans Intel Medium" panose="020B0604020202020204" pitchFamily="34" charset="0"/>
                <a:cs typeface="Arial" pitchFamily="34" charset="0"/>
              </a:rPr>
              <a:t>Sign extend</a:t>
            </a:r>
            <a:endParaRPr lang="en-US" sz="1100" dirty="0">
              <a:latin typeface="Neo Sans Intel Medium" panose="020B0604020202020204" pitchFamily="34" charset="0"/>
              <a:cs typeface="Arial" pitchFamily="34" charset="0"/>
            </a:endParaRPr>
          </a:p>
        </p:txBody>
      </p:sp>
      <p:cxnSp>
        <p:nvCxnSpPr>
          <p:cNvPr id="25" name="Elbow Connector 24"/>
          <p:cNvCxnSpPr>
            <a:stCxn id="13" idx="4"/>
            <a:endCxn id="24" idx="1"/>
          </p:cNvCxnSpPr>
          <p:nvPr/>
        </p:nvCxnSpPr>
        <p:spPr bwMode="auto">
          <a:xfrm rot="16200000" flipH="1">
            <a:off x="1627975" y="2854565"/>
            <a:ext cx="1958769" cy="1655432"/>
          </a:xfrm>
          <a:prstGeom prst="bentConnector2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  <a:effectLst/>
        </p:spPr>
      </p:cxnSp>
      <p:sp>
        <p:nvSpPr>
          <p:cNvPr id="26" name="TextBox 25"/>
          <p:cNvSpPr txBox="1"/>
          <p:nvPr/>
        </p:nvSpPr>
        <p:spPr>
          <a:xfrm>
            <a:off x="1782438" y="4386710"/>
            <a:ext cx="6687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Neo Sans Intel" panose="020B0504020202020204" pitchFamily="34" charset="0"/>
              </a:rPr>
              <a:t>I [15-0]</a:t>
            </a:r>
          </a:p>
        </p:txBody>
      </p:sp>
      <p:grpSp>
        <p:nvGrpSpPr>
          <p:cNvPr id="27" name="Group 26"/>
          <p:cNvGrpSpPr/>
          <p:nvPr/>
        </p:nvGrpSpPr>
        <p:grpSpPr>
          <a:xfrm>
            <a:off x="5109743" y="3179435"/>
            <a:ext cx="180391" cy="643543"/>
            <a:chOff x="3390790" y="3616963"/>
            <a:chExt cx="180391" cy="643543"/>
          </a:xfrm>
        </p:grpSpPr>
        <p:sp>
          <p:nvSpPr>
            <p:cNvPr id="103" name="Trapezoid 102"/>
            <p:cNvSpPr/>
            <p:nvPr/>
          </p:nvSpPr>
          <p:spPr bwMode="auto">
            <a:xfrm rot="5400000">
              <a:off x="3159214" y="3848539"/>
              <a:ext cx="643543" cy="180391"/>
            </a:xfrm>
            <a:prstGeom prst="trapezoid">
              <a:avLst>
                <a:gd name="adj" fmla="val 53513"/>
              </a:avLst>
            </a:prstGeom>
            <a:solidFill>
              <a:schemeClr val="bg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Neo Sans Intel Medium" panose="020B0604020202020204" pitchFamily="34" charset="0"/>
              </a:endParaRPr>
            </a:p>
          </p:txBody>
        </p:sp>
        <p:sp>
          <p:nvSpPr>
            <p:cNvPr id="104" name="Rectangle 158"/>
            <p:cNvSpPr>
              <a:spLocks noChangeArrowheads="1"/>
            </p:cNvSpPr>
            <p:nvPr/>
          </p:nvSpPr>
          <p:spPr bwMode="auto">
            <a:xfrm flipH="1">
              <a:off x="3395878" y="3678301"/>
              <a:ext cx="85107" cy="107722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sz="700" b="1" dirty="0">
                  <a:solidFill>
                    <a:srgbClr val="000000"/>
                  </a:solidFill>
                  <a:latin typeface="Neo Sans Intel" panose="020B0504020202020204" pitchFamily="34" charset="0"/>
                </a:rPr>
                <a:t>0</a:t>
              </a:r>
              <a:endParaRPr lang="en-US" sz="700" dirty="0">
                <a:solidFill>
                  <a:srgbClr val="000000"/>
                </a:solidFill>
                <a:latin typeface="Neo Sans Intel" panose="020B0504020202020204" pitchFamily="34" charset="0"/>
              </a:endParaRPr>
            </a:p>
          </p:txBody>
        </p:sp>
        <p:sp>
          <p:nvSpPr>
            <p:cNvPr id="105" name="Rectangle 159"/>
            <p:cNvSpPr>
              <a:spLocks noChangeArrowheads="1"/>
            </p:cNvSpPr>
            <p:nvPr/>
          </p:nvSpPr>
          <p:spPr bwMode="auto">
            <a:xfrm flipH="1">
              <a:off x="3395879" y="4095679"/>
              <a:ext cx="85106" cy="107722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sz="700" b="1" dirty="0">
                  <a:solidFill>
                    <a:srgbClr val="000000"/>
                  </a:solidFill>
                  <a:latin typeface="Neo Sans Intel" panose="020B0504020202020204" pitchFamily="34" charset="0"/>
                </a:rPr>
                <a:t>1</a:t>
              </a:r>
            </a:p>
          </p:txBody>
        </p:sp>
        <p:sp>
          <p:nvSpPr>
            <p:cNvPr id="106" name="Rectangle 160"/>
            <p:cNvSpPr>
              <a:spLocks noChangeArrowheads="1"/>
            </p:cNvSpPr>
            <p:nvPr/>
          </p:nvSpPr>
          <p:spPr bwMode="auto">
            <a:xfrm flipH="1">
              <a:off x="3450365" y="3821794"/>
              <a:ext cx="84960" cy="258532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>
                <a:lnSpc>
                  <a:spcPct val="70000"/>
                </a:lnSpc>
              </a:pPr>
              <a:r>
                <a:rPr lang="en-US" sz="800" b="1" dirty="0">
                  <a:solidFill>
                    <a:srgbClr val="000000"/>
                  </a:solidFill>
                  <a:latin typeface="Neo Sans Intel Medium" panose="020B0604020202020204" pitchFamily="34" charset="0"/>
                </a:rPr>
                <a:t>m</a:t>
              </a:r>
            </a:p>
            <a:p>
              <a:pPr algn="ctr">
                <a:lnSpc>
                  <a:spcPct val="70000"/>
                </a:lnSpc>
              </a:pPr>
              <a:r>
                <a:rPr lang="en-US" sz="800" b="1" dirty="0">
                  <a:solidFill>
                    <a:srgbClr val="000000"/>
                  </a:solidFill>
                  <a:latin typeface="Neo Sans Intel Medium" panose="020B0604020202020204" pitchFamily="34" charset="0"/>
                </a:rPr>
                <a:t>u</a:t>
              </a:r>
            </a:p>
            <a:p>
              <a:pPr algn="ctr">
                <a:lnSpc>
                  <a:spcPct val="70000"/>
                </a:lnSpc>
              </a:pPr>
              <a:r>
                <a:rPr lang="en-US" sz="800" b="1" dirty="0">
                  <a:solidFill>
                    <a:srgbClr val="000000"/>
                  </a:solidFill>
                  <a:latin typeface="Neo Sans Intel Medium" panose="020B0604020202020204" pitchFamily="34" charset="0"/>
                </a:rPr>
                <a:t>x</a:t>
              </a:r>
              <a:endParaRPr lang="en-US" sz="500" dirty="0">
                <a:solidFill>
                  <a:srgbClr val="000000"/>
                </a:solidFill>
                <a:latin typeface="Neo Sans Intel Medium" panose="020B0604020202020204" pitchFamily="34" charset="0"/>
              </a:endParaRPr>
            </a:p>
          </p:txBody>
        </p:sp>
      </p:grpSp>
      <p:cxnSp>
        <p:nvCxnSpPr>
          <p:cNvPr id="28" name="Straight Arrow Connector 27"/>
          <p:cNvCxnSpPr>
            <a:stCxn id="103" idx="0"/>
            <a:endCxn id="112" idx="1"/>
          </p:cNvCxnSpPr>
          <p:nvPr/>
        </p:nvCxnSpPr>
        <p:spPr bwMode="auto">
          <a:xfrm>
            <a:off x="5290134" y="3501207"/>
            <a:ext cx="164748" cy="1459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  <a:effectLst/>
        </p:spPr>
      </p:cxnSp>
      <p:cxnSp>
        <p:nvCxnSpPr>
          <p:cNvPr id="29" name="Elbow Connector 28"/>
          <p:cNvCxnSpPr>
            <a:stCxn id="24" idx="3"/>
            <a:endCxn id="41" idx="4"/>
          </p:cNvCxnSpPr>
          <p:nvPr/>
        </p:nvCxnSpPr>
        <p:spPr bwMode="auto">
          <a:xfrm flipV="1">
            <a:off x="4388753" y="3747437"/>
            <a:ext cx="557649" cy="914229"/>
          </a:xfrm>
          <a:prstGeom prst="bentConnector2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30" name="Group 29"/>
          <p:cNvGrpSpPr/>
          <p:nvPr/>
        </p:nvGrpSpPr>
        <p:grpSpPr>
          <a:xfrm>
            <a:off x="6753863" y="2474650"/>
            <a:ext cx="1447263" cy="1386443"/>
            <a:chOff x="3124737" y="3598050"/>
            <a:chExt cx="1447263" cy="1386443"/>
          </a:xfrm>
        </p:grpSpPr>
        <p:sp>
          <p:nvSpPr>
            <p:cNvPr id="97" name="Rectangle 96"/>
            <p:cNvSpPr/>
            <p:nvPr/>
          </p:nvSpPr>
          <p:spPr bwMode="auto">
            <a:xfrm>
              <a:off x="3126744" y="3598050"/>
              <a:ext cx="1445256" cy="138632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b="1" smtClean="0">
                <a:latin typeface="Neo Sans Intel" pitchFamily="34" charset="0"/>
                <a:cs typeface="Arial" pitchFamily="34" charset="0"/>
              </a:endParaRPr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3124738" y="3598050"/>
              <a:ext cx="652743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 smtClean="0">
                  <a:latin typeface="Neo Sans Intel" panose="020B0504020202020204" pitchFamily="34" charset="0"/>
                </a:rPr>
                <a:t>Read</a:t>
              </a:r>
            </a:p>
            <a:p>
              <a:r>
                <a:rPr lang="en-US" sz="1100" dirty="0" smtClean="0">
                  <a:latin typeface="Neo Sans Intel" panose="020B0504020202020204" pitchFamily="34" charset="0"/>
                </a:rPr>
                <a:t>address</a:t>
              </a:r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3673849" y="3601253"/>
              <a:ext cx="898151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100" dirty="0" smtClean="0">
                  <a:latin typeface="Neo Sans Intel" panose="020B0504020202020204" pitchFamily="34" charset="0"/>
                </a:rPr>
                <a:t>Read</a:t>
              </a:r>
            </a:p>
            <a:p>
              <a:pPr algn="r"/>
              <a:r>
                <a:rPr lang="en-US" sz="1100" dirty="0" smtClean="0">
                  <a:latin typeface="Neo Sans Intel" panose="020B0504020202020204" pitchFamily="34" charset="0"/>
                </a:rPr>
                <a:t>data</a:t>
              </a:r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3733308" y="4674175"/>
              <a:ext cx="83869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 smtClean="0">
                  <a:latin typeface="Neo Sans Intel Medium" panose="020B0604020202020204" pitchFamily="34" charset="0"/>
                </a:rPr>
                <a:t>Memory</a:t>
              </a:r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3126744" y="4073403"/>
              <a:ext cx="652743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 smtClean="0">
                  <a:latin typeface="Neo Sans Intel" panose="020B0504020202020204" pitchFamily="34" charset="0"/>
                </a:rPr>
                <a:t>Write</a:t>
              </a:r>
            </a:p>
            <a:p>
              <a:r>
                <a:rPr lang="en-US" sz="1100" dirty="0" smtClean="0">
                  <a:latin typeface="Neo Sans Intel" panose="020B0504020202020204" pitchFamily="34" charset="0"/>
                </a:rPr>
                <a:t>address</a:t>
              </a:r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3124737" y="4553606"/>
              <a:ext cx="50687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 smtClean="0">
                  <a:latin typeface="Neo Sans Intel" panose="020B0504020202020204" pitchFamily="34" charset="0"/>
                </a:rPr>
                <a:t>Write</a:t>
              </a:r>
            </a:p>
            <a:p>
              <a:r>
                <a:rPr lang="en-US" sz="1100" dirty="0" smtClean="0">
                  <a:latin typeface="Neo Sans Intel" panose="020B0504020202020204" pitchFamily="34" charset="0"/>
                </a:rPr>
                <a:t>data</a:t>
              </a:r>
            </a:p>
          </p:txBody>
        </p:sp>
      </p:grpSp>
      <p:cxnSp>
        <p:nvCxnSpPr>
          <p:cNvPr id="31" name="Straight Arrow Connector 30"/>
          <p:cNvCxnSpPr>
            <a:stCxn id="99" idx="3"/>
            <a:endCxn id="94" idx="3"/>
          </p:cNvCxnSpPr>
          <p:nvPr/>
        </p:nvCxnSpPr>
        <p:spPr bwMode="auto">
          <a:xfrm flipV="1">
            <a:off x="8201126" y="2693158"/>
            <a:ext cx="348522" cy="139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  <a:effectLst/>
        </p:spPr>
      </p:cxnSp>
      <p:grpSp>
        <p:nvGrpSpPr>
          <p:cNvPr id="32" name="Group 31"/>
          <p:cNvGrpSpPr/>
          <p:nvPr/>
        </p:nvGrpSpPr>
        <p:grpSpPr>
          <a:xfrm>
            <a:off x="8544560" y="2577959"/>
            <a:ext cx="180391" cy="643543"/>
            <a:chOff x="3390790" y="3616963"/>
            <a:chExt cx="180391" cy="643543"/>
          </a:xfrm>
        </p:grpSpPr>
        <p:sp>
          <p:nvSpPr>
            <p:cNvPr id="93" name="Trapezoid 92"/>
            <p:cNvSpPr/>
            <p:nvPr/>
          </p:nvSpPr>
          <p:spPr bwMode="auto">
            <a:xfrm rot="5400000">
              <a:off x="3159214" y="3848539"/>
              <a:ext cx="643543" cy="180391"/>
            </a:xfrm>
            <a:prstGeom prst="trapezoid">
              <a:avLst>
                <a:gd name="adj" fmla="val 53513"/>
              </a:avLst>
            </a:prstGeom>
            <a:solidFill>
              <a:schemeClr val="bg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Neo Sans Intel Medium" panose="020B0604020202020204" pitchFamily="34" charset="0"/>
              </a:endParaRPr>
            </a:p>
          </p:txBody>
        </p:sp>
        <p:sp>
          <p:nvSpPr>
            <p:cNvPr id="94" name="Rectangle 158"/>
            <p:cNvSpPr>
              <a:spLocks noChangeArrowheads="1"/>
            </p:cNvSpPr>
            <p:nvPr/>
          </p:nvSpPr>
          <p:spPr bwMode="auto">
            <a:xfrm flipH="1">
              <a:off x="3395878" y="3678301"/>
              <a:ext cx="85107" cy="107722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sz="700" dirty="0" smtClean="0">
                  <a:solidFill>
                    <a:srgbClr val="000000"/>
                  </a:solidFill>
                  <a:latin typeface="Neo Sans Intel" panose="020B0504020202020204" pitchFamily="34" charset="0"/>
                </a:rPr>
                <a:t>1</a:t>
              </a:r>
              <a:endParaRPr lang="en-US" sz="700" dirty="0">
                <a:solidFill>
                  <a:srgbClr val="000000"/>
                </a:solidFill>
                <a:latin typeface="Neo Sans Intel" panose="020B0504020202020204" pitchFamily="34" charset="0"/>
              </a:endParaRPr>
            </a:p>
          </p:txBody>
        </p:sp>
        <p:sp>
          <p:nvSpPr>
            <p:cNvPr id="95" name="Rectangle 159"/>
            <p:cNvSpPr>
              <a:spLocks noChangeArrowheads="1"/>
            </p:cNvSpPr>
            <p:nvPr/>
          </p:nvSpPr>
          <p:spPr bwMode="auto">
            <a:xfrm flipH="1">
              <a:off x="3395879" y="4095679"/>
              <a:ext cx="85106" cy="107722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sz="700" b="1" dirty="0">
                  <a:solidFill>
                    <a:srgbClr val="000000"/>
                  </a:solidFill>
                  <a:latin typeface="Neo Sans Intel" panose="020B0504020202020204" pitchFamily="34" charset="0"/>
                </a:rPr>
                <a:t>0</a:t>
              </a:r>
            </a:p>
          </p:txBody>
        </p:sp>
        <p:sp>
          <p:nvSpPr>
            <p:cNvPr id="96" name="Rectangle 160"/>
            <p:cNvSpPr>
              <a:spLocks noChangeArrowheads="1"/>
            </p:cNvSpPr>
            <p:nvPr/>
          </p:nvSpPr>
          <p:spPr bwMode="auto">
            <a:xfrm flipH="1">
              <a:off x="3450365" y="3821794"/>
              <a:ext cx="84960" cy="258532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>
                <a:lnSpc>
                  <a:spcPct val="70000"/>
                </a:lnSpc>
              </a:pPr>
              <a:r>
                <a:rPr lang="en-US" sz="800" b="1" dirty="0">
                  <a:solidFill>
                    <a:srgbClr val="000000"/>
                  </a:solidFill>
                  <a:latin typeface="Neo Sans Intel Medium" panose="020B0604020202020204" pitchFamily="34" charset="0"/>
                </a:rPr>
                <a:t>m</a:t>
              </a:r>
            </a:p>
            <a:p>
              <a:pPr algn="ctr">
                <a:lnSpc>
                  <a:spcPct val="70000"/>
                </a:lnSpc>
              </a:pPr>
              <a:r>
                <a:rPr lang="en-US" sz="800" b="1" dirty="0">
                  <a:solidFill>
                    <a:srgbClr val="000000"/>
                  </a:solidFill>
                  <a:latin typeface="Neo Sans Intel Medium" panose="020B0604020202020204" pitchFamily="34" charset="0"/>
                </a:rPr>
                <a:t>u</a:t>
              </a:r>
            </a:p>
            <a:p>
              <a:pPr algn="ctr">
                <a:lnSpc>
                  <a:spcPct val="70000"/>
                </a:lnSpc>
              </a:pPr>
              <a:r>
                <a:rPr lang="en-US" sz="800" b="1" dirty="0">
                  <a:solidFill>
                    <a:srgbClr val="000000"/>
                  </a:solidFill>
                  <a:latin typeface="Neo Sans Intel Medium" panose="020B0604020202020204" pitchFamily="34" charset="0"/>
                </a:rPr>
                <a:t>x</a:t>
              </a:r>
              <a:endParaRPr lang="en-US" sz="500" dirty="0">
                <a:solidFill>
                  <a:srgbClr val="000000"/>
                </a:solidFill>
                <a:latin typeface="Neo Sans Intel Medium" panose="020B0604020202020204" pitchFamily="34" charset="0"/>
              </a:endParaRPr>
            </a:p>
          </p:txBody>
        </p:sp>
      </p:grpSp>
      <p:cxnSp>
        <p:nvCxnSpPr>
          <p:cNvPr id="33" name="Straight Arrow Connector 32"/>
          <p:cNvCxnSpPr>
            <a:stCxn id="113" idx="3"/>
            <a:endCxn id="101" idx="1"/>
          </p:cNvCxnSpPr>
          <p:nvPr/>
        </p:nvCxnSpPr>
        <p:spPr bwMode="auto">
          <a:xfrm flipV="1">
            <a:off x="6177337" y="3165447"/>
            <a:ext cx="578533" cy="804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  <a:effectLst/>
        </p:spPr>
      </p:cxnSp>
      <p:sp>
        <p:nvSpPr>
          <p:cNvPr id="34" name="Oval 33"/>
          <p:cNvSpPr/>
          <p:nvPr/>
        </p:nvSpPr>
        <p:spPr bwMode="auto">
          <a:xfrm>
            <a:off x="4762970" y="3262492"/>
            <a:ext cx="72472" cy="72472"/>
          </a:xfrm>
          <a:prstGeom prst="ellipse">
            <a:avLst/>
          </a:prstGeom>
          <a:solidFill>
            <a:schemeClr val="tx1"/>
          </a:solidFill>
          <a:ln w="31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b="1" smtClean="0">
              <a:latin typeface="Neo Sans Intel" pitchFamily="34" charset="0"/>
              <a:cs typeface="Arial" pitchFamily="34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893636" y="4332372"/>
            <a:ext cx="95539" cy="123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" dirty="0" smtClean="0">
                <a:latin typeface="Neo Sans Intel" panose="020B0504020202020204" pitchFamily="34" charset="0"/>
              </a:rPr>
              <a:t> </a:t>
            </a:r>
          </a:p>
        </p:txBody>
      </p:sp>
      <p:cxnSp>
        <p:nvCxnSpPr>
          <p:cNvPr id="36" name="Elbow Connector 35"/>
          <p:cNvCxnSpPr>
            <a:stCxn id="34" idx="4"/>
            <a:endCxn id="35" idx="1"/>
          </p:cNvCxnSpPr>
          <p:nvPr/>
        </p:nvCxnSpPr>
        <p:spPr bwMode="auto">
          <a:xfrm rot="16200000" flipH="1">
            <a:off x="4816939" y="3317231"/>
            <a:ext cx="1058964" cy="1094430"/>
          </a:xfrm>
          <a:prstGeom prst="bentConnector2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med" len="med"/>
          </a:ln>
          <a:effectLst/>
        </p:spPr>
      </p:cxnSp>
      <p:cxnSp>
        <p:nvCxnSpPr>
          <p:cNvPr id="37" name="Elbow Connector 36"/>
          <p:cNvCxnSpPr>
            <a:stCxn id="35" idx="1"/>
            <a:endCxn id="102" idx="1"/>
          </p:cNvCxnSpPr>
          <p:nvPr/>
        </p:nvCxnSpPr>
        <p:spPr bwMode="auto">
          <a:xfrm rot="10800000" flipH="1">
            <a:off x="5893635" y="3645650"/>
            <a:ext cx="860227" cy="748278"/>
          </a:xfrm>
          <a:prstGeom prst="bentConnector3">
            <a:avLst>
              <a:gd name="adj1" fmla="val 33661"/>
            </a:avLst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  <a:effectLst/>
        </p:spPr>
      </p:cxnSp>
      <p:sp>
        <p:nvSpPr>
          <p:cNvPr id="38" name="Oval 37"/>
          <p:cNvSpPr/>
          <p:nvPr/>
        </p:nvSpPr>
        <p:spPr bwMode="auto">
          <a:xfrm>
            <a:off x="6377497" y="3132762"/>
            <a:ext cx="72472" cy="72472"/>
          </a:xfrm>
          <a:prstGeom prst="ellipse">
            <a:avLst/>
          </a:prstGeom>
          <a:solidFill>
            <a:schemeClr val="tx1"/>
          </a:solidFill>
          <a:ln w="31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b="1" smtClean="0">
              <a:latin typeface="Neo Sans Intel" pitchFamily="34" charset="0"/>
              <a:cs typeface="Arial" pitchFamily="34" charset="0"/>
            </a:endParaRPr>
          </a:p>
        </p:txBody>
      </p:sp>
      <p:cxnSp>
        <p:nvCxnSpPr>
          <p:cNvPr id="39" name="Elbow Connector 38"/>
          <p:cNvCxnSpPr>
            <a:stCxn id="38" idx="4"/>
            <a:endCxn id="95" idx="3"/>
          </p:cNvCxnSpPr>
          <p:nvPr/>
        </p:nvCxnSpPr>
        <p:spPr bwMode="auto">
          <a:xfrm rot="5400000" flipH="1" flipV="1">
            <a:off x="7434342" y="2089927"/>
            <a:ext cx="94698" cy="2135916"/>
          </a:xfrm>
          <a:prstGeom prst="bentConnector4">
            <a:avLst>
              <a:gd name="adj1" fmla="val -1239181"/>
              <a:gd name="adj2" fmla="val 91518"/>
            </a:avLst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  <a:effectLst/>
        </p:spPr>
      </p:cxnSp>
      <p:sp>
        <p:nvSpPr>
          <p:cNvPr id="40" name="Rounded Rectangle 39"/>
          <p:cNvSpPr/>
          <p:nvPr/>
        </p:nvSpPr>
        <p:spPr bwMode="auto">
          <a:xfrm>
            <a:off x="5139129" y="1781524"/>
            <a:ext cx="476839" cy="273884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1100" dirty="0" smtClean="0">
                <a:latin typeface="Neo Sans Intel Medium" panose="020B0604020202020204" pitchFamily="34" charset="0"/>
                <a:cs typeface="Arial" pitchFamily="34" charset="0"/>
              </a:rPr>
              <a:t>&lt;&lt; 2</a:t>
            </a:r>
            <a:endParaRPr lang="en-US" sz="1100" dirty="0">
              <a:latin typeface="Neo Sans Intel Medium" panose="020B0604020202020204" pitchFamily="34" charset="0"/>
              <a:cs typeface="Arial" pitchFamily="34" charset="0"/>
            </a:endParaRPr>
          </a:p>
        </p:txBody>
      </p:sp>
      <p:sp>
        <p:nvSpPr>
          <p:cNvPr id="41" name="Oval 40"/>
          <p:cNvSpPr/>
          <p:nvPr/>
        </p:nvSpPr>
        <p:spPr bwMode="auto">
          <a:xfrm>
            <a:off x="4910166" y="3674965"/>
            <a:ext cx="72472" cy="72472"/>
          </a:xfrm>
          <a:prstGeom prst="ellipse">
            <a:avLst/>
          </a:prstGeom>
          <a:solidFill>
            <a:schemeClr val="tx1"/>
          </a:solidFill>
          <a:ln w="31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b="1" smtClean="0">
              <a:latin typeface="Neo Sans Intel" pitchFamily="34" charset="0"/>
              <a:cs typeface="Arial" pitchFamily="34" charset="0"/>
            </a:endParaRPr>
          </a:p>
        </p:txBody>
      </p:sp>
      <p:cxnSp>
        <p:nvCxnSpPr>
          <p:cNvPr id="42" name="Straight Arrow Connector 41"/>
          <p:cNvCxnSpPr>
            <a:stCxn id="41" idx="6"/>
            <a:endCxn id="105" idx="3"/>
          </p:cNvCxnSpPr>
          <p:nvPr/>
        </p:nvCxnSpPr>
        <p:spPr bwMode="auto">
          <a:xfrm>
            <a:off x="4982638" y="3711201"/>
            <a:ext cx="132194" cy="811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  <a:effectLst/>
        </p:spPr>
      </p:cxnSp>
      <p:cxnSp>
        <p:nvCxnSpPr>
          <p:cNvPr id="43" name="Elbow Connector 42"/>
          <p:cNvCxnSpPr>
            <a:stCxn id="41" idx="0"/>
            <a:endCxn id="40" idx="1"/>
          </p:cNvCxnSpPr>
          <p:nvPr/>
        </p:nvCxnSpPr>
        <p:spPr bwMode="auto">
          <a:xfrm rot="5400000" flipH="1" flipV="1">
            <a:off x="4164516" y="2700353"/>
            <a:ext cx="1756499" cy="192727"/>
          </a:xfrm>
          <a:prstGeom prst="bentConnector2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  <a:effectLst/>
        </p:spPr>
      </p:cxnSp>
      <p:grpSp>
        <p:nvGrpSpPr>
          <p:cNvPr id="44" name="Group 43"/>
          <p:cNvGrpSpPr/>
          <p:nvPr/>
        </p:nvGrpSpPr>
        <p:grpSpPr>
          <a:xfrm>
            <a:off x="5857281" y="1285240"/>
            <a:ext cx="401408" cy="794389"/>
            <a:chOff x="6728724" y="3121968"/>
            <a:chExt cx="727535" cy="1439797"/>
          </a:xfrm>
        </p:grpSpPr>
        <p:sp>
          <p:nvSpPr>
            <p:cNvPr id="89" name="Freeform 127"/>
            <p:cNvSpPr>
              <a:spLocks/>
            </p:cNvSpPr>
            <p:nvPr/>
          </p:nvSpPr>
          <p:spPr bwMode="auto">
            <a:xfrm>
              <a:off x="6728724" y="3121968"/>
              <a:ext cx="727535" cy="1439797"/>
            </a:xfrm>
            <a:custGeom>
              <a:avLst/>
              <a:gdLst>
                <a:gd name="T0" fmla="*/ 0 w 210"/>
                <a:gd name="T1" fmla="*/ 0 h 413"/>
                <a:gd name="T2" fmla="*/ 0 w 210"/>
                <a:gd name="T3" fmla="*/ 167 h 413"/>
                <a:gd name="T4" fmla="*/ 91 w 210"/>
                <a:gd name="T5" fmla="*/ 207 h 413"/>
                <a:gd name="T6" fmla="*/ 0 w 210"/>
                <a:gd name="T7" fmla="*/ 245 h 413"/>
                <a:gd name="T8" fmla="*/ 0 w 210"/>
                <a:gd name="T9" fmla="*/ 412 h 413"/>
                <a:gd name="T10" fmla="*/ 284 w 210"/>
                <a:gd name="T11" fmla="*/ 286 h 413"/>
                <a:gd name="T12" fmla="*/ 284 w 210"/>
                <a:gd name="T13" fmla="*/ 127 h 413"/>
                <a:gd name="T14" fmla="*/ 0 w 210"/>
                <a:gd name="T15" fmla="*/ 0 h 413"/>
                <a:gd name="T16" fmla="*/ 0 w 210"/>
                <a:gd name="T17" fmla="*/ 0 h 41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10"/>
                <a:gd name="T28" fmla="*/ 0 h 413"/>
                <a:gd name="T29" fmla="*/ 210 w 210"/>
                <a:gd name="T30" fmla="*/ 413 h 413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10" h="413">
                  <a:moveTo>
                    <a:pt x="0" y="0"/>
                  </a:moveTo>
                  <a:lnTo>
                    <a:pt x="0" y="167"/>
                  </a:lnTo>
                  <a:lnTo>
                    <a:pt x="67" y="207"/>
                  </a:lnTo>
                  <a:lnTo>
                    <a:pt x="0" y="245"/>
                  </a:lnTo>
                  <a:lnTo>
                    <a:pt x="0" y="412"/>
                  </a:lnTo>
                  <a:lnTo>
                    <a:pt x="209" y="286"/>
                  </a:lnTo>
                  <a:lnTo>
                    <a:pt x="209" y="127"/>
                  </a:lnTo>
                  <a:lnTo>
                    <a:pt x="0" y="0"/>
                  </a:lnTo>
                </a:path>
              </a:pathLst>
            </a:custGeom>
            <a:solidFill>
              <a:schemeClr val="accent5">
                <a:lumMod val="60000"/>
                <a:lumOff val="4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eaLnBrk="0" hangingPunct="0"/>
              <a:endParaRPr lang="en-US" sz="2000" b="1">
                <a:latin typeface="Neo Sans Intel" pitchFamily="34" charset="0"/>
                <a:cs typeface="Arial" pitchFamily="34" charset="0"/>
              </a:endParaRPr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6955933" y="3710216"/>
              <a:ext cx="496610" cy="24135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100" dirty="0" smtClean="0">
                  <a:latin typeface="Neo Sans Intel Medium" panose="020B0604020202020204" pitchFamily="34" charset="0"/>
                </a:rPr>
                <a:t>Add</a:t>
              </a:r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6728724" y="3319972"/>
              <a:ext cx="155484" cy="2319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500" dirty="0" smtClean="0">
                  <a:latin typeface="Neo Sans Intel" panose="020B0504020202020204" pitchFamily="34" charset="0"/>
                </a:rPr>
                <a:t> </a:t>
              </a:r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6728724" y="4152246"/>
              <a:ext cx="155484" cy="2319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500" dirty="0" smtClean="0">
                  <a:latin typeface="Neo Sans Intel" panose="020B0504020202020204" pitchFamily="34" charset="0"/>
                </a:rPr>
                <a:t> </a:t>
              </a:r>
            </a:p>
          </p:txBody>
        </p:sp>
      </p:grpSp>
      <p:cxnSp>
        <p:nvCxnSpPr>
          <p:cNvPr id="45" name="Straight Arrow Connector 44"/>
          <p:cNvCxnSpPr>
            <a:stCxn id="40" idx="3"/>
            <a:endCxn id="92" idx="1"/>
          </p:cNvCxnSpPr>
          <p:nvPr/>
        </p:nvCxnSpPr>
        <p:spPr bwMode="auto">
          <a:xfrm flipV="1">
            <a:off x="5615968" y="1917680"/>
            <a:ext cx="241313" cy="786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  <a:effectLst/>
        </p:spPr>
      </p:cxnSp>
      <p:grpSp>
        <p:nvGrpSpPr>
          <p:cNvPr id="46" name="Group 45"/>
          <p:cNvGrpSpPr/>
          <p:nvPr/>
        </p:nvGrpSpPr>
        <p:grpSpPr>
          <a:xfrm>
            <a:off x="2267241" y="1066800"/>
            <a:ext cx="401408" cy="794389"/>
            <a:chOff x="6728724" y="3121968"/>
            <a:chExt cx="727535" cy="1439797"/>
          </a:xfrm>
        </p:grpSpPr>
        <p:sp>
          <p:nvSpPr>
            <p:cNvPr id="85" name="Freeform 127"/>
            <p:cNvSpPr>
              <a:spLocks/>
            </p:cNvSpPr>
            <p:nvPr/>
          </p:nvSpPr>
          <p:spPr bwMode="auto">
            <a:xfrm>
              <a:off x="6728724" y="3121968"/>
              <a:ext cx="727535" cy="1439797"/>
            </a:xfrm>
            <a:custGeom>
              <a:avLst/>
              <a:gdLst>
                <a:gd name="T0" fmla="*/ 0 w 210"/>
                <a:gd name="T1" fmla="*/ 0 h 413"/>
                <a:gd name="T2" fmla="*/ 0 w 210"/>
                <a:gd name="T3" fmla="*/ 167 h 413"/>
                <a:gd name="T4" fmla="*/ 91 w 210"/>
                <a:gd name="T5" fmla="*/ 207 h 413"/>
                <a:gd name="T6" fmla="*/ 0 w 210"/>
                <a:gd name="T7" fmla="*/ 245 h 413"/>
                <a:gd name="T8" fmla="*/ 0 w 210"/>
                <a:gd name="T9" fmla="*/ 412 h 413"/>
                <a:gd name="T10" fmla="*/ 284 w 210"/>
                <a:gd name="T11" fmla="*/ 286 h 413"/>
                <a:gd name="T12" fmla="*/ 284 w 210"/>
                <a:gd name="T13" fmla="*/ 127 h 413"/>
                <a:gd name="T14" fmla="*/ 0 w 210"/>
                <a:gd name="T15" fmla="*/ 0 h 413"/>
                <a:gd name="T16" fmla="*/ 0 w 210"/>
                <a:gd name="T17" fmla="*/ 0 h 41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10"/>
                <a:gd name="T28" fmla="*/ 0 h 413"/>
                <a:gd name="T29" fmla="*/ 210 w 210"/>
                <a:gd name="T30" fmla="*/ 413 h 413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10" h="413">
                  <a:moveTo>
                    <a:pt x="0" y="0"/>
                  </a:moveTo>
                  <a:lnTo>
                    <a:pt x="0" y="167"/>
                  </a:lnTo>
                  <a:lnTo>
                    <a:pt x="67" y="207"/>
                  </a:lnTo>
                  <a:lnTo>
                    <a:pt x="0" y="245"/>
                  </a:lnTo>
                  <a:lnTo>
                    <a:pt x="0" y="412"/>
                  </a:lnTo>
                  <a:lnTo>
                    <a:pt x="209" y="286"/>
                  </a:lnTo>
                  <a:lnTo>
                    <a:pt x="209" y="127"/>
                  </a:lnTo>
                  <a:lnTo>
                    <a:pt x="0" y="0"/>
                  </a:lnTo>
                </a:path>
              </a:pathLst>
            </a:custGeom>
            <a:solidFill>
              <a:schemeClr val="accent5">
                <a:lumMod val="60000"/>
                <a:lumOff val="4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eaLnBrk="0" hangingPunct="0"/>
              <a:endParaRPr lang="en-US" sz="2000" b="1">
                <a:latin typeface="Neo Sans Intel" pitchFamily="34" charset="0"/>
                <a:cs typeface="Arial" pitchFamily="34" charset="0"/>
              </a:endParaRPr>
            </a:p>
          </p:txBody>
        </p:sp>
        <p:sp>
          <p:nvSpPr>
            <p:cNvPr id="86" name="TextBox 85"/>
            <p:cNvSpPr txBox="1"/>
            <p:nvPr/>
          </p:nvSpPr>
          <p:spPr>
            <a:xfrm>
              <a:off x="6955933" y="3710216"/>
              <a:ext cx="496610" cy="24135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100" dirty="0" smtClean="0">
                  <a:latin typeface="Neo Sans Intel Medium" panose="020B0604020202020204" pitchFamily="34" charset="0"/>
                </a:rPr>
                <a:t>Add</a:t>
              </a: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6728724" y="3319972"/>
              <a:ext cx="155484" cy="2319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500" dirty="0" smtClean="0">
                  <a:latin typeface="Neo Sans Intel" panose="020B0504020202020204" pitchFamily="34" charset="0"/>
                </a:rPr>
                <a:t> </a:t>
              </a:r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6728724" y="4152246"/>
              <a:ext cx="155484" cy="2319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500" dirty="0" smtClean="0">
                  <a:latin typeface="Neo Sans Intel" panose="020B0504020202020204" pitchFamily="34" charset="0"/>
                </a:rPr>
                <a:t> </a:t>
              </a:r>
            </a:p>
          </p:txBody>
        </p:sp>
      </p:grpSp>
      <p:grpSp>
        <p:nvGrpSpPr>
          <p:cNvPr id="47" name="Group 46"/>
          <p:cNvGrpSpPr/>
          <p:nvPr/>
        </p:nvGrpSpPr>
        <p:grpSpPr>
          <a:xfrm>
            <a:off x="281570" y="1339567"/>
            <a:ext cx="379637" cy="625620"/>
            <a:chOff x="155044" y="1514471"/>
            <a:chExt cx="379637" cy="625620"/>
          </a:xfrm>
        </p:grpSpPr>
        <p:grpSp>
          <p:nvGrpSpPr>
            <p:cNvPr id="81" name="Group 80"/>
            <p:cNvGrpSpPr/>
            <p:nvPr/>
          </p:nvGrpSpPr>
          <p:grpSpPr>
            <a:xfrm>
              <a:off x="178582" y="1514471"/>
              <a:ext cx="356099" cy="625620"/>
              <a:chOff x="2991378" y="2694759"/>
              <a:chExt cx="468998" cy="823968"/>
            </a:xfrm>
          </p:grpSpPr>
          <p:sp>
            <p:nvSpPr>
              <p:cNvPr id="83" name="Rectangle 82"/>
              <p:cNvSpPr/>
              <p:nvPr/>
            </p:nvSpPr>
            <p:spPr bwMode="auto">
              <a:xfrm>
                <a:off x="2991378" y="2694759"/>
                <a:ext cx="468998" cy="823968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en-US" sz="2000" b="1" smtClean="0">
                  <a:latin typeface="Neo Sans Intel" pitchFamily="34" charset="0"/>
                  <a:cs typeface="Arial" pitchFamily="34" charset="0"/>
                </a:endParaRPr>
              </a:p>
            </p:txBody>
          </p:sp>
          <p:sp>
            <p:nvSpPr>
              <p:cNvPr id="84" name="TextBox 83"/>
              <p:cNvSpPr txBox="1"/>
              <p:nvPr/>
            </p:nvSpPr>
            <p:spPr>
              <a:xfrm>
                <a:off x="3030150" y="2872568"/>
                <a:ext cx="39145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400" dirty="0" smtClean="0">
                    <a:latin typeface="Neo Sans Intel Medium" panose="020B0604020202020204" pitchFamily="34" charset="0"/>
                  </a:rPr>
                  <a:t>PC</a:t>
                </a:r>
              </a:p>
            </p:txBody>
          </p:sp>
        </p:grpSp>
        <p:sp>
          <p:nvSpPr>
            <p:cNvPr id="82" name="Isosceles Triangle 81"/>
            <p:cNvSpPr/>
            <p:nvPr/>
          </p:nvSpPr>
          <p:spPr bwMode="auto">
            <a:xfrm rot="19800000">
              <a:off x="155044" y="1973506"/>
              <a:ext cx="89552" cy="77200"/>
            </a:xfrm>
            <a:prstGeom prst="triangle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b="1">
                <a:latin typeface="Neo Sans Intel" pitchFamily="34" charset="0"/>
                <a:cs typeface="Arial" pitchFamily="34" charset="0"/>
              </a:endParaRPr>
            </a:p>
          </p:txBody>
        </p:sp>
      </p:grpSp>
      <p:cxnSp>
        <p:nvCxnSpPr>
          <p:cNvPr id="48" name="Straight Arrow Connector 47"/>
          <p:cNvCxnSpPr>
            <a:stCxn id="83" idx="2"/>
            <a:endCxn id="49" idx="0"/>
          </p:cNvCxnSpPr>
          <p:nvPr/>
        </p:nvCxnSpPr>
        <p:spPr bwMode="auto">
          <a:xfrm flipH="1">
            <a:off x="482818" y="1965187"/>
            <a:ext cx="340" cy="180451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9" name="Oval 48"/>
          <p:cNvSpPr/>
          <p:nvPr/>
        </p:nvSpPr>
        <p:spPr bwMode="auto">
          <a:xfrm>
            <a:off x="446582" y="2145638"/>
            <a:ext cx="72472" cy="72472"/>
          </a:xfrm>
          <a:prstGeom prst="ellipse">
            <a:avLst/>
          </a:prstGeom>
          <a:solidFill>
            <a:schemeClr val="tx1"/>
          </a:solidFill>
          <a:ln w="31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b="1" smtClean="0">
              <a:latin typeface="Neo Sans Intel" pitchFamily="34" charset="0"/>
              <a:cs typeface="Arial" pitchFamily="34" charset="0"/>
            </a:endParaRPr>
          </a:p>
        </p:txBody>
      </p:sp>
      <p:cxnSp>
        <p:nvCxnSpPr>
          <p:cNvPr id="50" name="Elbow Connector 49"/>
          <p:cNvCxnSpPr>
            <a:stCxn id="49" idx="6"/>
            <a:endCxn id="88" idx="1"/>
          </p:cNvCxnSpPr>
          <p:nvPr/>
        </p:nvCxnSpPr>
        <p:spPr bwMode="auto">
          <a:xfrm flipV="1">
            <a:off x="519054" y="1699240"/>
            <a:ext cx="1748187" cy="482634"/>
          </a:xfrm>
          <a:prstGeom prst="bentConnector3">
            <a:avLst>
              <a:gd name="adj1" fmla="val 50000"/>
            </a:avLst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  <a:effectLst/>
        </p:spPr>
      </p:cxnSp>
      <p:cxnSp>
        <p:nvCxnSpPr>
          <p:cNvPr id="51" name="Straight Arrow Connector 50"/>
          <p:cNvCxnSpPr>
            <a:stCxn id="49" idx="4"/>
            <a:endCxn id="133" idx="0"/>
          </p:cNvCxnSpPr>
          <p:nvPr/>
        </p:nvCxnSpPr>
        <p:spPr bwMode="auto">
          <a:xfrm flipH="1">
            <a:off x="481043" y="2218110"/>
            <a:ext cx="1775" cy="223118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  <a:effectLst/>
        </p:spPr>
      </p:cxnSp>
      <p:sp>
        <p:nvSpPr>
          <p:cNvPr id="52" name="TextBox 51"/>
          <p:cNvSpPr txBox="1"/>
          <p:nvPr/>
        </p:nvSpPr>
        <p:spPr>
          <a:xfrm>
            <a:off x="1743845" y="1087242"/>
            <a:ext cx="290464" cy="30777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400" b="1" dirty="0" smtClean="0">
                <a:latin typeface="Neo Sans Intel" panose="020B0504020202020204" pitchFamily="34" charset="0"/>
              </a:rPr>
              <a:t>4</a:t>
            </a:r>
          </a:p>
        </p:txBody>
      </p:sp>
      <p:cxnSp>
        <p:nvCxnSpPr>
          <p:cNvPr id="53" name="Straight Arrow Connector 52"/>
          <p:cNvCxnSpPr>
            <a:stCxn id="52" idx="3"/>
            <a:endCxn id="87" idx="1"/>
          </p:cNvCxnSpPr>
          <p:nvPr/>
        </p:nvCxnSpPr>
        <p:spPr bwMode="auto">
          <a:xfrm flipV="1">
            <a:off x="2034309" y="1240044"/>
            <a:ext cx="232932" cy="1087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  <a:effectLst/>
        </p:spPr>
      </p:cxnSp>
      <p:cxnSp>
        <p:nvCxnSpPr>
          <p:cNvPr id="54" name="Straight Arrow Connector 53"/>
          <p:cNvCxnSpPr>
            <a:stCxn id="86" idx="3"/>
            <a:endCxn id="57" idx="2"/>
          </p:cNvCxnSpPr>
          <p:nvPr/>
        </p:nvCxnSpPr>
        <p:spPr bwMode="auto">
          <a:xfrm>
            <a:off x="2666599" y="1457941"/>
            <a:ext cx="2669673" cy="543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55" name="Group 54"/>
          <p:cNvGrpSpPr/>
          <p:nvPr/>
        </p:nvGrpSpPr>
        <p:grpSpPr>
          <a:xfrm>
            <a:off x="6570982" y="1079500"/>
            <a:ext cx="180391" cy="721202"/>
            <a:chOff x="3390790" y="3616963"/>
            <a:chExt cx="180391" cy="643543"/>
          </a:xfrm>
        </p:grpSpPr>
        <p:sp>
          <p:nvSpPr>
            <p:cNvPr id="77" name="Trapezoid 76"/>
            <p:cNvSpPr/>
            <p:nvPr/>
          </p:nvSpPr>
          <p:spPr bwMode="auto">
            <a:xfrm rot="5400000">
              <a:off x="3159214" y="3848539"/>
              <a:ext cx="643543" cy="180391"/>
            </a:xfrm>
            <a:prstGeom prst="trapezoid">
              <a:avLst>
                <a:gd name="adj" fmla="val 53513"/>
              </a:avLst>
            </a:prstGeom>
            <a:solidFill>
              <a:schemeClr val="bg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Neo Sans Intel Medium" panose="020B0604020202020204" pitchFamily="34" charset="0"/>
              </a:endParaRPr>
            </a:p>
          </p:txBody>
        </p:sp>
        <p:sp>
          <p:nvSpPr>
            <p:cNvPr id="78" name="Rectangle 158"/>
            <p:cNvSpPr>
              <a:spLocks noChangeArrowheads="1"/>
            </p:cNvSpPr>
            <p:nvPr/>
          </p:nvSpPr>
          <p:spPr bwMode="auto">
            <a:xfrm flipH="1">
              <a:off x="3395878" y="3678301"/>
              <a:ext cx="85107" cy="107722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sz="700" b="1" dirty="0">
                  <a:solidFill>
                    <a:srgbClr val="000000"/>
                  </a:solidFill>
                  <a:latin typeface="Neo Sans Intel" panose="020B0504020202020204" pitchFamily="34" charset="0"/>
                </a:rPr>
                <a:t>0</a:t>
              </a:r>
              <a:endParaRPr lang="en-US" sz="700" dirty="0">
                <a:solidFill>
                  <a:srgbClr val="000000"/>
                </a:solidFill>
                <a:latin typeface="Neo Sans Intel" panose="020B0504020202020204" pitchFamily="34" charset="0"/>
              </a:endParaRPr>
            </a:p>
          </p:txBody>
        </p:sp>
        <p:sp>
          <p:nvSpPr>
            <p:cNvPr id="79" name="Rectangle 159"/>
            <p:cNvSpPr>
              <a:spLocks noChangeArrowheads="1"/>
            </p:cNvSpPr>
            <p:nvPr/>
          </p:nvSpPr>
          <p:spPr bwMode="auto">
            <a:xfrm flipH="1">
              <a:off x="3395879" y="4095679"/>
              <a:ext cx="85106" cy="107722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sz="700" b="1" dirty="0">
                  <a:solidFill>
                    <a:srgbClr val="000000"/>
                  </a:solidFill>
                  <a:latin typeface="Neo Sans Intel" panose="020B0504020202020204" pitchFamily="34" charset="0"/>
                </a:rPr>
                <a:t>1</a:t>
              </a:r>
            </a:p>
          </p:txBody>
        </p:sp>
        <p:sp>
          <p:nvSpPr>
            <p:cNvPr id="80" name="Rectangle 160"/>
            <p:cNvSpPr>
              <a:spLocks noChangeArrowheads="1"/>
            </p:cNvSpPr>
            <p:nvPr/>
          </p:nvSpPr>
          <p:spPr bwMode="auto">
            <a:xfrm flipH="1">
              <a:off x="3450365" y="3821794"/>
              <a:ext cx="84960" cy="258532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>
                <a:lnSpc>
                  <a:spcPct val="70000"/>
                </a:lnSpc>
              </a:pPr>
              <a:r>
                <a:rPr lang="en-US" sz="800" b="1" dirty="0">
                  <a:solidFill>
                    <a:srgbClr val="000000"/>
                  </a:solidFill>
                  <a:latin typeface="Neo Sans Intel Medium" panose="020B0604020202020204" pitchFamily="34" charset="0"/>
                </a:rPr>
                <a:t>m</a:t>
              </a:r>
            </a:p>
            <a:p>
              <a:pPr algn="ctr">
                <a:lnSpc>
                  <a:spcPct val="70000"/>
                </a:lnSpc>
              </a:pPr>
              <a:r>
                <a:rPr lang="en-US" sz="800" b="1" dirty="0">
                  <a:solidFill>
                    <a:srgbClr val="000000"/>
                  </a:solidFill>
                  <a:latin typeface="Neo Sans Intel Medium" panose="020B0604020202020204" pitchFamily="34" charset="0"/>
                </a:rPr>
                <a:t>u</a:t>
              </a:r>
            </a:p>
            <a:p>
              <a:pPr algn="ctr">
                <a:lnSpc>
                  <a:spcPct val="70000"/>
                </a:lnSpc>
              </a:pPr>
              <a:r>
                <a:rPr lang="en-US" sz="800" b="1" dirty="0">
                  <a:solidFill>
                    <a:srgbClr val="000000"/>
                  </a:solidFill>
                  <a:latin typeface="Neo Sans Intel Medium" panose="020B0604020202020204" pitchFamily="34" charset="0"/>
                </a:rPr>
                <a:t>x</a:t>
              </a:r>
              <a:endParaRPr lang="en-US" sz="500" dirty="0">
                <a:solidFill>
                  <a:srgbClr val="000000"/>
                </a:solidFill>
                <a:latin typeface="Neo Sans Intel Medium" panose="020B0604020202020204" pitchFamily="34" charset="0"/>
              </a:endParaRPr>
            </a:p>
          </p:txBody>
        </p:sp>
      </p:grpSp>
      <p:cxnSp>
        <p:nvCxnSpPr>
          <p:cNvPr id="56" name="Straight Arrow Connector 55"/>
          <p:cNvCxnSpPr>
            <a:stCxn id="90" idx="3"/>
            <a:endCxn id="79" idx="3"/>
          </p:cNvCxnSpPr>
          <p:nvPr/>
        </p:nvCxnSpPr>
        <p:spPr bwMode="auto">
          <a:xfrm flipV="1">
            <a:off x="6256639" y="1676346"/>
            <a:ext cx="319432" cy="35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  <a:effectLst/>
        </p:spPr>
      </p:cxnSp>
      <p:sp>
        <p:nvSpPr>
          <p:cNvPr id="57" name="Oval 56"/>
          <p:cNvSpPr/>
          <p:nvPr/>
        </p:nvSpPr>
        <p:spPr bwMode="auto">
          <a:xfrm>
            <a:off x="5336272" y="1422248"/>
            <a:ext cx="72472" cy="72472"/>
          </a:xfrm>
          <a:prstGeom prst="ellipse">
            <a:avLst/>
          </a:prstGeom>
          <a:solidFill>
            <a:schemeClr val="tx1"/>
          </a:solidFill>
          <a:ln w="31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b="1" smtClean="0">
              <a:latin typeface="Neo Sans Intel" pitchFamily="34" charset="0"/>
              <a:cs typeface="Arial" pitchFamily="34" charset="0"/>
            </a:endParaRPr>
          </a:p>
        </p:txBody>
      </p:sp>
      <p:cxnSp>
        <p:nvCxnSpPr>
          <p:cNvPr id="58" name="Straight Arrow Connector 57"/>
          <p:cNvCxnSpPr>
            <a:stCxn id="57" idx="6"/>
            <a:endCxn id="91" idx="1"/>
          </p:cNvCxnSpPr>
          <p:nvPr/>
        </p:nvCxnSpPr>
        <p:spPr bwMode="auto">
          <a:xfrm>
            <a:off x="5408744" y="1458484"/>
            <a:ext cx="448537" cy="0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  <a:effectLst/>
        </p:spPr>
      </p:cxnSp>
      <p:cxnSp>
        <p:nvCxnSpPr>
          <p:cNvPr id="59" name="Elbow Connector 58"/>
          <p:cNvCxnSpPr>
            <a:stCxn id="57" idx="0"/>
            <a:endCxn id="78" idx="3"/>
          </p:cNvCxnSpPr>
          <p:nvPr/>
        </p:nvCxnSpPr>
        <p:spPr bwMode="auto">
          <a:xfrm rot="5400000" flipH="1" flipV="1">
            <a:off x="5867466" y="713644"/>
            <a:ext cx="213647" cy="1203562"/>
          </a:xfrm>
          <a:prstGeom prst="bentConnector2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  <a:effectLst/>
        </p:spPr>
      </p:cxnSp>
      <p:cxnSp>
        <p:nvCxnSpPr>
          <p:cNvPr id="60" name="Elbow Connector 59"/>
          <p:cNvCxnSpPr>
            <a:stCxn id="77" idx="0"/>
            <a:endCxn id="83" idx="0"/>
          </p:cNvCxnSpPr>
          <p:nvPr/>
        </p:nvCxnSpPr>
        <p:spPr bwMode="auto">
          <a:xfrm flipH="1" flipV="1">
            <a:off x="483158" y="1339567"/>
            <a:ext cx="6268216" cy="100535"/>
          </a:xfrm>
          <a:prstGeom prst="bentConnector4">
            <a:avLst>
              <a:gd name="adj1" fmla="val -4395"/>
              <a:gd name="adj2" fmla="val 463619"/>
            </a:avLst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  <a:effectLst/>
        </p:spPr>
      </p:cxnSp>
      <p:cxnSp>
        <p:nvCxnSpPr>
          <p:cNvPr id="61" name="Elbow Connector 60"/>
          <p:cNvCxnSpPr>
            <a:stCxn id="38" idx="0"/>
            <a:endCxn id="98" idx="1"/>
          </p:cNvCxnSpPr>
          <p:nvPr/>
        </p:nvCxnSpPr>
        <p:spPr bwMode="auto">
          <a:xfrm rot="5400000" flipH="1" flipV="1">
            <a:off x="6362464" y="2741363"/>
            <a:ext cx="442668" cy="340131"/>
          </a:xfrm>
          <a:prstGeom prst="bentConnector2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  <a:effectLst/>
        </p:spPr>
      </p:cxnSp>
      <p:grpSp>
        <p:nvGrpSpPr>
          <p:cNvPr id="62" name="Group 61"/>
          <p:cNvGrpSpPr/>
          <p:nvPr/>
        </p:nvGrpSpPr>
        <p:grpSpPr>
          <a:xfrm>
            <a:off x="4981746" y="3774712"/>
            <a:ext cx="620683" cy="523200"/>
            <a:chOff x="6744623" y="4292088"/>
            <a:chExt cx="620683" cy="523200"/>
          </a:xfrm>
        </p:grpSpPr>
        <p:sp>
          <p:nvSpPr>
            <p:cNvPr id="75" name="TextBox 74"/>
            <p:cNvSpPr txBox="1"/>
            <p:nvPr/>
          </p:nvSpPr>
          <p:spPr>
            <a:xfrm>
              <a:off x="6744623" y="4553678"/>
              <a:ext cx="62068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 err="1" smtClean="0">
                  <a:solidFill>
                    <a:schemeClr val="accent1"/>
                  </a:solidFill>
                  <a:latin typeface="Neo Sans Intel" panose="020B0504020202020204" pitchFamily="34" charset="0"/>
                </a:rPr>
                <a:t>ALUSrc</a:t>
              </a:r>
              <a:endParaRPr lang="en-US" sz="1100" dirty="0" smtClean="0">
                <a:solidFill>
                  <a:schemeClr val="accent1"/>
                </a:solidFill>
                <a:latin typeface="Neo Sans Intel" panose="020B0504020202020204" pitchFamily="34" charset="0"/>
              </a:endParaRPr>
            </a:p>
          </p:txBody>
        </p:sp>
        <p:cxnSp>
          <p:nvCxnSpPr>
            <p:cNvPr id="76" name="Straight Connector 75"/>
            <p:cNvCxnSpPr>
              <a:stCxn id="103" idx="3"/>
            </p:cNvCxnSpPr>
            <p:nvPr/>
          </p:nvCxnSpPr>
          <p:spPr bwMode="auto">
            <a:xfrm>
              <a:off x="6962815" y="4292088"/>
              <a:ext cx="0" cy="261590"/>
            </a:xfrm>
            <a:prstGeom prst="line">
              <a:avLst/>
            </a:prstGeom>
            <a:solidFill>
              <a:schemeClr val="bg1"/>
            </a:solidFill>
            <a:ln w="635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63" name="Group 62"/>
          <p:cNvGrpSpPr/>
          <p:nvPr/>
        </p:nvGrpSpPr>
        <p:grpSpPr>
          <a:xfrm>
            <a:off x="7083302" y="2077773"/>
            <a:ext cx="792205" cy="407037"/>
            <a:chOff x="4234018" y="2858356"/>
            <a:chExt cx="792205" cy="407037"/>
          </a:xfrm>
        </p:grpSpPr>
        <p:sp>
          <p:nvSpPr>
            <p:cNvPr id="73" name="TextBox 72"/>
            <p:cNvSpPr txBox="1"/>
            <p:nvPr/>
          </p:nvSpPr>
          <p:spPr>
            <a:xfrm>
              <a:off x="4234018" y="2858356"/>
              <a:ext cx="792205" cy="26161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100" dirty="0" err="1" smtClean="0">
                  <a:solidFill>
                    <a:schemeClr val="accent1"/>
                  </a:solidFill>
                  <a:latin typeface="Neo Sans Intel" panose="020B0504020202020204" pitchFamily="34" charset="0"/>
                </a:rPr>
                <a:t>MemWrite</a:t>
              </a:r>
              <a:endParaRPr lang="en-US" sz="1100" dirty="0" smtClean="0">
                <a:solidFill>
                  <a:schemeClr val="accent1"/>
                </a:solidFill>
                <a:latin typeface="Neo Sans Intel" panose="020B0504020202020204" pitchFamily="34" charset="0"/>
              </a:endParaRPr>
            </a:p>
          </p:txBody>
        </p:sp>
        <p:cxnSp>
          <p:nvCxnSpPr>
            <p:cNvPr id="74" name="Straight Connector 73"/>
            <p:cNvCxnSpPr>
              <a:stCxn id="73" idx="2"/>
              <a:endCxn id="97" idx="0"/>
            </p:cNvCxnSpPr>
            <p:nvPr/>
          </p:nvCxnSpPr>
          <p:spPr bwMode="auto">
            <a:xfrm flipH="1">
              <a:off x="4629214" y="3119966"/>
              <a:ext cx="907" cy="145427"/>
            </a:xfrm>
            <a:prstGeom prst="line">
              <a:avLst/>
            </a:prstGeom>
            <a:solidFill>
              <a:schemeClr val="bg1"/>
            </a:solidFill>
            <a:ln w="635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64" name="Group 63"/>
          <p:cNvGrpSpPr/>
          <p:nvPr/>
        </p:nvGrpSpPr>
        <p:grpSpPr>
          <a:xfrm>
            <a:off x="6420905" y="1738218"/>
            <a:ext cx="526106" cy="443656"/>
            <a:chOff x="6705081" y="4283249"/>
            <a:chExt cx="526106" cy="443656"/>
          </a:xfrm>
        </p:grpSpPr>
        <p:sp>
          <p:nvSpPr>
            <p:cNvPr id="71" name="TextBox 70"/>
            <p:cNvSpPr txBox="1"/>
            <p:nvPr/>
          </p:nvSpPr>
          <p:spPr>
            <a:xfrm>
              <a:off x="6705081" y="4465295"/>
              <a:ext cx="52610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 err="1" smtClean="0">
                  <a:solidFill>
                    <a:schemeClr val="accent1"/>
                  </a:solidFill>
                  <a:latin typeface="Neo Sans Intel" panose="020B0504020202020204" pitchFamily="34" charset="0"/>
                </a:rPr>
                <a:t>PCSrc</a:t>
              </a:r>
              <a:endParaRPr lang="en-US" sz="1100" dirty="0" smtClean="0">
                <a:solidFill>
                  <a:schemeClr val="accent1"/>
                </a:solidFill>
                <a:latin typeface="Neo Sans Intel" panose="020B0504020202020204" pitchFamily="34" charset="0"/>
              </a:endParaRPr>
            </a:p>
          </p:txBody>
        </p:sp>
        <p:cxnSp>
          <p:nvCxnSpPr>
            <p:cNvPr id="72" name="Straight Connector 71"/>
            <p:cNvCxnSpPr/>
            <p:nvPr/>
          </p:nvCxnSpPr>
          <p:spPr bwMode="auto">
            <a:xfrm>
              <a:off x="6968001" y="4283249"/>
              <a:ext cx="0" cy="179461"/>
            </a:xfrm>
            <a:prstGeom prst="line">
              <a:avLst/>
            </a:prstGeom>
            <a:solidFill>
              <a:schemeClr val="bg1"/>
            </a:solidFill>
            <a:ln w="635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65" name="Group 64"/>
          <p:cNvGrpSpPr/>
          <p:nvPr/>
        </p:nvGrpSpPr>
        <p:grpSpPr>
          <a:xfrm>
            <a:off x="2230176" y="3953635"/>
            <a:ext cx="619080" cy="424806"/>
            <a:chOff x="6561743" y="4287612"/>
            <a:chExt cx="619080" cy="424806"/>
          </a:xfrm>
        </p:grpSpPr>
        <p:sp>
          <p:nvSpPr>
            <p:cNvPr id="69" name="TextBox 68"/>
            <p:cNvSpPr txBox="1"/>
            <p:nvPr/>
          </p:nvSpPr>
          <p:spPr>
            <a:xfrm>
              <a:off x="6561743" y="4450808"/>
              <a:ext cx="61908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 err="1" smtClean="0">
                  <a:solidFill>
                    <a:schemeClr val="accent1"/>
                  </a:solidFill>
                  <a:latin typeface="Neo Sans Intel" panose="020B0504020202020204" pitchFamily="34" charset="0"/>
                </a:rPr>
                <a:t>RegDst</a:t>
              </a:r>
              <a:endParaRPr lang="en-US" sz="1100" dirty="0" smtClean="0">
                <a:solidFill>
                  <a:schemeClr val="accent1"/>
                </a:solidFill>
                <a:latin typeface="Neo Sans Intel" panose="020B0504020202020204" pitchFamily="34" charset="0"/>
              </a:endParaRPr>
            </a:p>
          </p:txBody>
        </p:sp>
        <p:cxnSp>
          <p:nvCxnSpPr>
            <p:cNvPr id="70" name="Straight Connector 69"/>
            <p:cNvCxnSpPr>
              <a:stCxn id="126" idx="3"/>
            </p:cNvCxnSpPr>
            <p:nvPr/>
          </p:nvCxnSpPr>
          <p:spPr bwMode="auto">
            <a:xfrm>
              <a:off x="6968079" y="4287612"/>
              <a:ext cx="0" cy="215257"/>
            </a:xfrm>
            <a:prstGeom prst="line">
              <a:avLst/>
            </a:prstGeom>
            <a:solidFill>
              <a:schemeClr val="bg1"/>
            </a:solidFill>
            <a:ln w="635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66" name="Group 65"/>
          <p:cNvGrpSpPr/>
          <p:nvPr/>
        </p:nvGrpSpPr>
        <p:grpSpPr>
          <a:xfrm>
            <a:off x="8208125" y="2068347"/>
            <a:ext cx="857928" cy="568038"/>
            <a:chOff x="4191631" y="2696431"/>
            <a:chExt cx="857928" cy="568038"/>
          </a:xfrm>
        </p:grpSpPr>
        <p:sp>
          <p:nvSpPr>
            <p:cNvPr id="67" name="TextBox 66"/>
            <p:cNvSpPr txBox="1"/>
            <p:nvPr/>
          </p:nvSpPr>
          <p:spPr>
            <a:xfrm>
              <a:off x="4191631" y="2696431"/>
              <a:ext cx="857928" cy="26161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100" dirty="0" err="1" smtClean="0">
                  <a:solidFill>
                    <a:schemeClr val="accent1"/>
                  </a:solidFill>
                  <a:latin typeface="Neo Sans Intel" panose="020B0504020202020204" pitchFamily="34" charset="0"/>
                </a:rPr>
                <a:t>MemToReg</a:t>
              </a:r>
              <a:endParaRPr lang="en-US" sz="1100" dirty="0" smtClean="0">
                <a:solidFill>
                  <a:schemeClr val="accent1"/>
                </a:solidFill>
                <a:latin typeface="Neo Sans Intel" panose="020B0504020202020204" pitchFamily="34" charset="0"/>
              </a:endParaRPr>
            </a:p>
          </p:txBody>
        </p:sp>
        <p:cxnSp>
          <p:nvCxnSpPr>
            <p:cNvPr id="68" name="Straight Connector 67"/>
            <p:cNvCxnSpPr>
              <a:stCxn id="67" idx="2"/>
              <a:endCxn id="93" idx="1"/>
            </p:cNvCxnSpPr>
            <p:nvPr/>
          </p:nvCxnSpPr>
          <p:spPr bwMode="auto">
            <a:xfrm flipH="1">
              <a:off x="4618261" y="2958041"/>
              <a:ext cx="2334" cy="306428"/>
            </a:xfrm>
            <a:prstGeom prst="line">
              <a:avLst/>
            </a:prstGeom>
            <a:solidFill>
              <a:schemeClr val="bg1"/>
            </a:solidFill>
            <a:ln w="635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153" name="Group 152"/>
          <p:cNvGrpSpPr/>
          <p:nvPr/>
        </p:nvGrpSpPr>
        <p:grpSpPr>
          <a:xfrm>
            <a:off x="1066801" y="5103408"/>
            <a:ext cx="2333342" cy="1065100"/>
            <a:chOff x="-1219306" y="4734983"/>
            <a:chExt cx="4082203" cy="2123376"/>
          </a:xfrm>
        </p:grpSpPr>
        <p:sp>
          <p:nvSpPr>
            <p:cNvPr id="136" name="TextBox 135"/>
            <p:cNvSpPr txBox="1"/>
            <p:nvPr/>
          </p:nvSpPr>
          <p:spPr>
            <a:xfrm>
              <a:off x="1758339" y="4734983"/>
              <a:ext cx="955413" cy="37622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en-US" sz="1000" dirty="0" err="1" smtClean="0">
                  <a:solidFill>
                    <a:schemeClr val="accent1"/>
                  </a:solidFill>
                  <a:latin typeface="Neo Sans Intel" panose="020B0504020202020204" pitchFamily="34" charset="0"/>
                </a:rPr>
                <a:t>RegWrite</a:t>
              </a:r>
              <a:endParaRPr lang="en-US" sz="1000" dirty="0" smtClean="0">
                <a:solidFill>
                  <a:schemeClr val="accent1"/>
                </a:solidFill>
                <a:latin typeface="Neo Sans Intel" panose="020B0504020202020204" pitchFamily="34" charset="0"/>
              </a:endParaRPr>
            </a:p>
          </p:txBody>
        </p:sp>
        <p:sp>
          <p:nvSpPr>
            <p:cNvPr id="137" name="TextBox 136"/>
            <p:cNvSpPr txBox="1"/>
            <p:nvPr/>
          </p:nvSpPr>
          <p:spPr>
            <a:xfrm>
              <a:off x="1758339" y="5608561"/>
              <a:ext cx="755071" cy="37622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en-US" sz="1000" dirty="0" err="1" smtClean="0">
                  <a:solidFill>
                    <a:schemeClr val="accent1"/>
                  </a:solidFill>
                  <a:latin typeface="Neo Sans Intel" panose="020B0504020202020204" pitchFamily="34" charset="0"/>
                </a:rPr>
                <a:t>ALUop</a:t>
              </a:r>
              <a:endParaRPr lang="en-US" sz="1000" dirty="0" smtClean="0">
                <a:solidFill>
                  <a:schemeClr val="accent1"/>
                </a:solidFill>
                <a:latin typeface="Neo Sans Intel" panose="020B0504020202020204" pitchFamily="34" charset="0"/>
              </a:endParaRPr>
            </a:p>
          </p:txBody>
        </p:sp>
        <p:sp>
          <p:nvSpPr>
            <p:cNvPr id="138" name="TextBox 137"/>
            <p:cNvSpPr txBox="1"/>
            <p:nvPr/>
          </p:nvSpPr>
          <p:spPr>
            <a:xfrm>
              <a:off x="1758339" y="5026175"/>
              <a:ext cx="806269" cy="37622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en-US" sz="1000" dirty="0" err="1" smtClean="0">
                  <a:solidFill>
                    <a:schemeClr val="accent1"/>
                  </a:solidFill>
                  <a:latin typeface="Neo Sans Intel" panose="020B0504020202020204" pitchFamily="34" charset="0"/>
                </a:rPr>
                <a:t>ALUSrc</a:t>
              </a:r>
              <a:endParaRPr lang="en-US" sz="1000" dirty="0" smtClean="0">
                <a:solidFill>
                  <a:schemeClr val="accent1"/>
                </a:solidFill>
                <a:latin typeface="Neo Sans Intel" panose="020B0504020202020204" pitchFamily="34" charset="0"/>
              </a:endParaRPr>
            </a:p>
          </p:txBody>
        </p:sp>
        <p:sp>
          <p:nvSpPr>
            <p:cNvPr id="139" name="TextBox 138"/>
            <p:cNvSpPr txBox="1"/>
            <p:nvPr/>
          </p:nvSpPr>
          <p:spPr>
            <a:xfrm>
              <a:off x="1758339" y="6190948"/>
              <a:ext cx="1024420" cy="37622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en-US" sz="1000" dirty="0" err="1" smtClean="0">
                  <a:solidFill>
                    <a:schemeClr val="accent1"/>
                  </a:solidFill>
                  <a:latin typeface="Neo Sans Intel" panose="020B0504020202020204" pitchFamily="34" charset="0"/>
                </a:rPr>
                <a:t>MemWrite</a:t>
              </a:r>
              <a:endParaRPr lang="en-US" sz="1000" dirty="0" smtClean="0">
                <a:solidFill>
                  <a:schemeClr val="accent1"/>
                </a:solidFill>
                <a:latin typeface="Neo Sans Intel" panose="020B0504020202020204" pitchFamily="34" charset="0"/>
              </a:endParaRPr>
            </a:p>
          </p:txBody>
        </p:sp>
        <p:sp>
          <p:nvSpPr>
            <p:cNvPr id="140" name="TextBox 139"/>
            <p:cNvSpPr txBox="1"/>
            <p:nvPr/>
          </p:nvSpPr>
          <p:spPr>
            <a:xfrm>
              <a:off x="1758339" y="5899754"/>
              <a:ext cx="688290" cy="37622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en-US" sz="1000" dirty="0" err="1" smtClean="0">
                  <a:solidFill>
                    <a:schemeClr val="accent1"/>
                  </a:solidFill>
                  <a:latin typeface="Neo Sans Intel" panose="020B0504020202020204" pitchFamily="34" charset="0"/>
                </a:rPr>
                <a:t>PCSrc</a:t>
              </a:r>
              <a:endParaRPr lang="en-US" sz="1000" dirty="0" smtClean="0">
                <a:solidFill>
                  <a:schemeClr val="accent1"/>
                </a:solidFill>
                <a:latin typeface="Neo Sans Intel" panose="020B0504020202020204" pitchFamily="34" charset="0"/>
              </a:endParaRPr>
            </a:p>
          </p:txBody>
        </p:sp>
        <p:sp>
          <p:nvSpPr>
            <p:cNvPr id="141" name="TextBox 140"/>
            <p:cNvSpPr txBox="1"/>
            <p:nvPr/>
          </p:nvSpPr>
          <p:spPr>
            <a:xfrm>
              <a:off x="1758339" y="5317369"/>
              <a:ext cx="804043" cy="37622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en-US" sz="1000" dirty="0" err="1" smtClean="0">
                  <a:solidFill>
                    <a:schemeClr val="accent1"/>
                  </a:solidFill>
                  <a:latin typeface="Neo Sans Intel" panose="020B0504020202020204" pitchFamily="34" charset="0"/>
                </a:rPr>
                <a:t>RegDst</a:t>
              </a:r>
              <a:endParaRPr lang="en-US" sz="1000" dirty="0" smtClean="0">
                <a:solidFill>
                  <a:schemeClr val="accent1"/>
                </a:solidFill>
                <a:latin typeface="Neo Sans Intel" panose="020B0504020202020204" pitchFamily="34" charset="0"/>
              </a:endParaRPr>
            </a:p>
          </p:txBody>
        </p:sp>
        <p:sp>
          <p:nvSpPr>
            <p:cNvPr id="142" name="TextBox 141"/>
            <p:cNvSpPr txBox="1"/>
            <p:nvPr/>
          </p:nvSpPr>
          <p:spPr>
            <a:xfrm>
              <a:off x="1758339" y="6482138"/>
              <a:ext cx="1104558" cy="37622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r>
                <a:rPr lang="en-US" sz="1000" dirty="0" err="1" smtClean="0">
                  <a:solidFill>
                    <a:schemeClr val="accent1"/>
                  </a:solidFill>
                  <a:latin typeface="Neo Sans Intel" panose="020B0504020202020204" pitchFamily="34" charset="0"/>
                </a:rPr>
                <a:t>MemToReg</a:t>
              </a:r>
              <a:endParaRPr lang="en-US" sz="1000" dirty="0" smtClean="0">
                <a:solidFill>
                  <a:schemeClr val="accent1"/>
                </a:solidFill>
                <a:latin typeface="Neo Sans Intel" panose="020B0504020202020204" pitchFamily="34" charset="0"/>
              </a:endParaRPr>
            </a:p>
          </p:txBody>
        </p:sp>
        <p:cxnSp>
          <p:nvCxnSpPr>
            <p:cNvPr id="143" name="Straight Connector 142"/>
            <p:cNvCxnSpPr/>
            <p:nvPr/>
          </p:nvCxnSpPr>
          <p:spPr bwMode="auto">
            <a:xfrm flipH="1">
              <a:off x="1285093" y="4923093"/>
              <a:ext cx="473246" cy="0"/>
            </a:xfrm>
            <a:prstGeom prst="line">
              <a:avLst/>
            </a:prstGeom>
            <a:solidFill>
              <a:schemeClr val="bg1"/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4" name="Straight Connector 143"/>
            <p:cNvCxnSpPr>
              <a:stCxn id="138" idx="1"/>
            </p:cNvCxnSpPr>
            <p:nvPr/>
          </p:nvCxnSpPr>
          <p:spPr bwMode="auto">
            <a:xfrm flipH="1" flipV="1">
              <a:off x="1285093" y="5214137"/>
              <a:ext cx="473245" cy="150"/>
            </a:xfrm>
            <a:prstGeom prst="line">
              <a:avLst/>
            </a:prstGeom>
            <a:solidFill>
              <a:schemeClr val="bg1"/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5" name="Straight Connector 144"/>
            <p:cNvCxnSpPr>
              <a:stCxn id="141" idx="1"/>
            </p:cNvCxnSpPr>
            <p:nvPr/>
          </p:nvCxnSpPr>
          <p:spPr bwMode="auto">
            <a:xfrm flipH="1">
              <a:off x="1285093" y="5505480"/>
              <a:ext cx="473245" cy="0"/>
            </a:xfrm>
            <a:prstGeom prst="line">
              <a:avLst/>
            </a:prstGeom>
            <a:solidFill>
              <a:schemeClr val="bg1"/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6" name="Straight Connector 145"/>
            <p:cNvCxnSpPr>
              <a:stCxn id="137" idx="1"/>
            </p:cNvCxnSpPr>
            <p:nvPr/>
          </p:nvCxnSpPr>
          <p:spPr bwMode="auto">
            <a:xfrm flipH="1">
              <a:off x="1285093" y="5796672"/>
              <a:ext cx="473245" cy="0"/>
            </a:xfrm>
            <a:prstGeom prst="line">
              <a:avLst/>
            </a:prstGeom>
            <a:solidFill>
              <a:schemeClr val="bg1"/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7" name="Straight Connector 146"/>
            <p:cNvCxnSpPr>
              <a:stCxn id="140" idx="1"/>
            </p:cNvCxnSpPr>
            <p:nvPr/>
          </p:nvCxnSpPr>
          <p:spPr bwMode="auto">
            <a:xfrm flipH="1">
              <a:off x="1285093" y="6087865"/>
              <a:ext cx="473245" cy="0"/>
            </a:xfrm>
            <a:prstGeom prst="line">
              <a:avLst/>
            </a:prstGeom>
            <a:solidFill>
              <a:schemeClr val="bg1"/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8" name="Straight Connector 147"/>
            <p:cNvCxnSpPr>
              <a:stCxn id="139" idx="1"/>
            </p:cNvCxnSpPr>
            <p:nvPr/>
          </p:nvCxnSpPr>
          <p:spPr bwMode="auto">
            <a:xfrm flipH="1">
              <a:off x="1285093" y="6379059"/>
              <a:ext cx="473245" cy="0"/>
            </a:xfrm>
            <a:prstGeom prst="line">
              <a:avLst/>
            </a:prstGeom>
            <a:solidFill>
              <a:schemeClr val="bg1"/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9" name="Straight Connector 148"/>
            <p:cNvCxnSpPr>
              <a:stCxn id="142" idx="1"/>
            </p:cNvCxnSpPr>
            <p:nvPr/>
          </p:nvCxnSpPr>
          <p:spPr bwMode="auto">
            <a:xfrm flipH="1">
              <a:off x="1285093" y="6670249"/>
              <a:ext cx="473245" cy="0"/>
            </a:xfrm>
            <a:prstGeom prst="line">
              <a:avLst/>
            </a:prstGeom>
            <a:solidFill>
              <a:schemeClr val="bg1"/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50" name="Oval 149"/>
            <p:cNvSpPr/>
            <p:nvPr/>
          </p:nvSpPr>
          <p:spPr bwMode="auto">
            <a:xfrm>
              <a:off x="519054" y="4811152"/>
              <a:ext cx="1046480" cy="1971040"/>
            </a:xfrm>
            <a:prstGeom prst="ellipse">
              <a:avLst/>
            </a:prstGeom>
            <a:solidFill>
              <a:schemeClr val="accent3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1200" dirty="0">
                  <a:latin typeface="Neo Sans Intel Medium" panose="020B0604020202020204" pitchFamily="34" charset="0"/>
                  <a:cs typeface="Arial" pitchFamily="34" charset="0"/>
                </a:rPr>
                <a:t>Control</a:t>
              </a:r>
            </a:p>
          </p:txBody>
        </p:sp>
        <p:sp>
          <p:nvSpPr>
            <p:cNvPr id="151" name="TextBox 150"/>
            <p:cNvSpPr txBox="1"/>
            <p:nvPr/>
          </p:nvSpPr>
          <p:spPr>
            <a:xfrm>
              <a:off x="-1219306" y="6254906"/>
              <a:ext cx="1304696" cy="50620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sz="1050" dirty="0" err="1" smtClean="0">
                  <a:latin typeface="Neo Sans Intel" panose="020B0504020202020204" pitchFamily="34" charset="0"/>
                </a:rPr>
                <a:t>CondCode</a:t>
              </a:r>
              <a:endParaRPr lang="en-US" sz="1050" dirty="0" smtClean="0">
                <a:latin typeface="Neo Sans Intel" panose="020B0504020202020204" pitchFamily="34" charset="0"/>
              </a:endParaRPr>
            </a:p>
          </p:txBody>
        </p:sp>
        <p:cxnSp>
          <p:nvCxnSpPr>
            <p:cNvPr id="152" name="Straight Arrow Connector 151"/>
            <p:cNvCxnSpPr>
              <a:stCxn id="151" idx="3"/>
              <a:endCxn id="150" idx="3"/>
            </p:cNvCxnSpPr>
            <p:nvPr/>
          </p:nvCxnSpPr>
          <p:spPr bwMode="auto">
            <a:xfrm flipV="1">
              <a:off x="85390" y="6493539"/>
              <a:ext cx="586917" cy="14469"/>
            </a:xfrm>
            <a:prstGeom prst="straightConnector1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</p:cxnSp>
      </p:grpSp>
      <p:cxnSp>
        <p:nvCxnSpPr>
          <p:cNvPr id="161" name="Elbow Connector 160"/>
          <p:cNvCxnSpPr>
            <a:stCxn id="13" idx="4"/>
            <a:endCxn id="150" idx="2"/>
          </p:cNvCxnSpPr>
          <p:nvPr/>
        </p:nvCxnSpPr>
        <p:spPr bwMode="auto">
          <a:xfrm rot="16200000" flipH="1">
            <a:off x="453504" y="4029035"/>
            <a:ext cx="2933062" cy="280785"/>
          </a:xfrm>
          <a:prstGeom prst="bentConnector2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</p:spPr>
      </p:cxnSp>
      <p:grpSp>
        <p:nvGrpSpPr>
          <p:cNvPr id="178" name="Group 177"/>
          <p:cNvGrpSpPr/>
          <p:nvPr/>
        </p:nvGrpSpPr>
        <p:grpSpPr>
          <a:xfrm>
            <a:off x="63062" y="1271752"/>
            <a:ext cx="1618593" cy="2743200"/>
            <a:chOff x="63062" y="1271752"/>
            <a:chExt cx="1618593" cy="2743200"/>
          </a:xfrm>
        </p:grpSpPr>
        <p:sp>
          <p:nvSpPr>
            <p:cNvPr id="154" name="Freeform 153"/>
            <p:cNvSpPr/>
            <p:nvPr/>
          </p:nvSpPr>
          <p:spPr bwMode="auto">
            <a:xfrm>
              <a:off x="63062" y="1271752"/>
              <a:ext cx="1618593" cy="2743200"/>
            </a:xfrm>
            <a:custGeom>
              <a:avLst/>
              <a:gdLst>
                <a:gd name="connsiteX0" fmla="*/ 0 w 1618593"/>
                <a:gd name="connsiteY0" fmla="*/ 52551 h 2743200"/>
                <a:gd name="connsiteX1" fmla="*/ 0 w 1618593"/>
                <a:gd name="connsiteY1" fmla="*/ 2743200 h 2743200"/>
                <a:gd name="connsiteX2" fmla="*/ 1618593 w 1618593"/>
                <a:gd name="connsiteY2" fmla="*/ 2743200 h 2743200"/>
                <a:gd name="connsiteX3" fmla="*/ 1618593 w 1618593"/>
                <a:gd name="connsiteY3" fmla="*/ 21020 h 2743200"/>
                <a:gd name="connsiteX4" fmla="*/ 0 w 1618593"/>
                <a:gd name="connsiteY4" fmla="*/ 21020 h 2743200"/>
                <a:gd name="connsiteX5" fmla="*/ 0 w 1618593"/>
                <a:gd name="connsiteY5" fmla="*/ 0 h 2743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18593" h="2743200">
                  <a:moveTo>
                    <a:pt x="0" y="52551"/>
                  </a:moveTo>
                  <a:lnTo>
                    <a:pt x="0" y="2743200"/>
                  </a:lnTo>
                  <a:lnTo>
                    <a:pt x="1618593" y="2743200"/>
                  </a:lnTo>
                  <a:lnTo>
                    <a:pt x="1618593" y="21020"/>
                  </a:lnTo>
                  <a:lnTo>
                    <a:pt x="0" y="21020"/>
                  </a:lnTo>
                  <a:lnTo>
                    <a:pt x="0" y="0"/>
                  </a:lnTo>
                </a:path>
              </a:pathLst>
            </a:custGeom>
            <a:solidFill>
              <a:srgbClr val="F37021">
                <a:alpha val="50000"/>
              </a:srgbClr>
            </a:solidFill>
            <a:ln w="3175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5" name="TextBox 154"/>
            <p:cNvSpPr txBox="1"/>
            <p:nvPr/>
          </p:nvSpPr>
          <p:spPr>
            <a:xfrm>
              <a:off x="223231" y="2543153"/>
              <a:ext cx="109158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 smtClean="0">
                  <a:effectLst>
                    <a:glow rad="152400">
                      <a:srgbClr val="F37021">
                        <a:alpha val="30000"/>
                      </a:srgbClr>
                    </a:glow>
                  </a:effectLst>
                  <a:latin typeface="+mj-lt"/>
                </a:rPr>
                <a:t>Fetch</a:t>
              </a:r>
              <a:endParaRPr lang="ru-RU" sz="3200" dirty="0" smtClean="0">
                <a:effectLst>
                  <a:glow rad="152400">
                    <a:srgbClr val="F37021">
                      <a:alpha val="30000"/>
                    </a:srgbClr>
                  </a:glow>
                </a:effectLst>
                <a:latin typeface="+mj-lt"/>
              </a:endParaRPr>
            </a:p>
          </p:txBody>
        </p:sp>
      </p:grpSp>
      <p:grpSp>
        <p:nvGrpSpPr>
          <p:cNvPr id="179" name="Group 178"/>
          <p:cNvGrpSpPr/>
          <p:nvPr/>
        </p:nvGrpSpPr>
        <p:grpSpPr>
          <a:xfrm>
            <a:off x="1072055" y="1954924"/>
            <a:ext cx="3626069" cy="4288221"/>
            <a:chOff x="1072055" y="1954924"/>
            <a:chExt cx="3626069" cy="4288221"/>
          </a:xfrm>
        </p:grpSpPr>
        <p:sp>
          <p:nvSpPr>
            <p:cNvPr id="156" name="Freeform 155"/>
            <p:cNvSpPr/>
            <p:nvPr/>
          </p:nvSpPr>
          <p:spPr bwMode="auto">
            <a:xfrm>
              <a:off x="1072055" y="1954924"/>
              <a:ext cx="3626069" cy="4288221"/>
            </a:xfrm>
            <a:custGeom>
              <a:avLst/>
              <a:gdLst>
                <a:gd name="connsiteX0" fmla="*/ 641131 w 3626069"/>
                <a:gd name="connsiteY0" fmla="*/ 0 h 4288221"/>
                <a:gd name="connsiteX1" fmla="*/ 3626069 w 3626069"/>
                <a:gd name="connsiteY1" fmla="*/ 0 h 4288221"/>
                <a:gd name="connsiteX2" fmla="*/ 3626069 w 3626069"/>
                <a:gd name="connsiteY2" fmla="*/ 1534510 h 4288221"/>
                <a:gd name="connsiteX3" fmla="*/ 1713186 w 3626069"/>
                <a:gd name="connsiteY3" fmla="*/ 1534510 h 4288221"/>
                <a:gd name="connsiteX4" fmla="*/ 1713186 w 3626069"/>
                <a:gd name="connsiteY4" fmla="*/ 3163614 h 4288221"/>
                <a:gd name="connsiteX5" fmla="*/ 2459421 w 3626069"/>
                <a:gd name="connsiteY5" fmla="*/ 3163614 h 4288221"/>
                <a:gd name="connsiteX6" fmla="*/ 2459421 w 3626069"/>
                <a:gd name="connsiteY6" fmla="*/ 4288221 h 4288221"/>
                <a:gd name="connsiteX7" fmla="*/ 0 w 3626069"/>
                <a:gd name="connsiteY7" fmla="*/ 4288221 h 4288221"/>
                <a:gd name="connsiteX8" fmla="*/ 0 w 3626069"/>
                <a:gd name="connsiteY8" fmla="*/ 2112579 h 4288221"/>
                <a:gd name="connsiteX9" fmla="*/ 651642 w 3626069"/>
                <a:gd name="connsiteY9" fmla="*/ 2112579 h 4288221"/>
                <a:gd name="connsiteX10" fmla="*/ 641131 w 3626069"/>
                <a:gd name="connsiteY10" fmla="*/ 0 h 4288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626069" h="4288221">
                  <a:moveTo>
                    <a:pt x="641131" y="0"/>
                  </a:moveTo>
                  <a:lnTo>
                    <a:pt x="3626069" y="0"/>
                  </a:lnTo>
                  <a:lnTo>
                    <a:pt x="3626069" y="1534510"/>
                  </a:lnTo>
                  <a:lnTo>
                    <a:pt x="1713186" y="1534510"/>
                  </a:lnTo>
                  <a:lnTo>
                    <a:pt x="1713186" y="3163614"/>
                  </a:lnTo>
                  <a:lnTo>
                    <a:pt x="2459421" y="3163614"/>
                  </a:lnTo>
                  <a:lnTo>
                    <a:pt x="2459421" y="4288221"/>
                  </a:lnTo>
                  <a:lnTo>
                    <a:pt x="0" y="4288221"/>
                  </a:lnTo>
                  <a:lnTo>
                    <a:pt x="0" y="2112579"/>
                  </a:lnTo>
                  <a:lnTo>
                    <a:pt x="651642" y="2112579"/>
                  </a:lnTo>
                  <a:cubicBezTo>
                    <a:pt x="648138" y="1408386"/>
                    <a:pt x="644635" y="704193"/>
                    <a:pt x="641131" y="0"/>
                  </a:cubicBezTo>
                  <a:close/>
                </a:path>
              </a:pathLst>
            </a:custGeom>
            <a:solidFill>
              <a:srgbClr val="5CD3FF">
                <a:alpha val="50196"/>
              </a:srgbClr>
            </a:solidFill>
            <a:ln w="3175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ru-RU" sz="2000" b="1" smtClean="0">
                <a:latin typeface="Neo Sans Intel" pitchFamily="34" charset="0"/>
                <a:cs typeface="Arial" pitchFamily="34" charset="0"/>
              </a:endParaRPr>
            </a:p>
          </p:txBody>
        </p:sp>
        <p:sp>
          <p:nvSpPr>
            <p:cNvPr id="158" name="TextBox 157"/>
            <p:cNvSpPr txBox="1"/>
            <p:nvPr/>
          </p:nvSpPr>
          <p:spPr>
            <a:xfrm>
              <a:off x="2334334" y="2543153"/>
              <a:ext cx="144764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 smtClean="0">
                  <a:effectLst>
                    <a:glow rad="152400">
                      <a:schemeClr val="accent2">
                        <a:lumMod val="40000"/>
                        <a:lumOff val="60000"/>
                        <a:alpha val="30000"/>
                      </a:schemeClr>
                    </a:glow>
                  </a:effectLst>
                  <a:latin typeface="+mj-lt"/>
                </a:rPr>
                <a:t>Decode</a:t>
              </a:r>
              <a:endParaRPr lang="ru-RU" sz="3200" dirty="0" smtClean="0">
                <a:effectLst>
                  <a:glow rad="152400">
                    <a:schemeClr val="accent2">
                      <a:lumMod val="40000"/>
                      <a:lumOff val="60000"/>
                      <a:alpha val="30000"/>
                    </a:schemeClr>
                  </a:glow>
                </a:effectLst>
                <a:latin typeface="+mj-lt"/>
              </a:endParaRPr>
            </a:p>
          </p:txBody>
        </p:sp>
      </p:grpSp>
      <p:grpSp>
        <p:nvGrpSpPr>
          <p:cNvPr id="180" name="Group 179"/>
          <p:cNvGrpSpPr/>
          <p:nvPr/>
        </p:nvGrpSpPr>
        <p:grpSpPr>
          <a:xfrm>
            <a:off x="4675390" y="2238703"/>
            <a:ext cx="1809493" cy="2238704"/>
            <a:chOff x="4675390" y="2238703"/>
            <a:chExt cx="1809493" cy="2238704"/>
          </a:xfrm>
        </p:grpSpPr>
        <p:sp>
          <p:nvSpPr>
            <p:cNvPr id="157" name="Freeform 156"/>
            <p:cNvSpPr/>
            <p:nvPr/>
          </p:nvSpPr>
          <p:spPr bwMode="auto">
            <a:xfrm>
              <a:off x="4729655" y="2238703"/>
              <a:ext cx="1755228" cy="2238704"/>
            </a:xfrm>
            <a:custGeom>
              <a:avLst/>
              <a:gdLst>
                <a:gd name="connsiteX0" fmla="*/ 84083 w 1755228"/>
                <a:gd name="connsiteY0" fmla="*/ 0 h 2238704"/>
                <a:gd name="connsiteX1" fmla="*/ 1755228 w 1755228"/>
                <a:gd name="connsiteY1" fmla="*/ 0 h 2238704"/>
                <a:gd name="connsiteX2" fmla="*/ 1755228 w 1755228"/>
                <a:gd name="connsiteY2" fmla="*/ 2238704 h 2238704"/>
                <a:gd name="connsiteX3" fmla="*/ 0 w 1755228"/>
                <a:gd name="connsiteY3" fmla="*/ 2238704 h 2238704"/>
                <a:gd name="connsiteX4" fmla="*/ 0 w 1755228"/>
                <a:gd name="connsiteY4" fmla="*/ 0 h 2238704"/>
                <a:gd name="connsiteX5" fmla="*/ 84083 w 1755228"/>
                <a:gd name="connsiteY5" fmla="*/ 0 h 2238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55228" h="2238704">
                  <a:moveTo>
                    <a:pt x="84083" y="0"/>
                  </a:moveTo>
                  <a:lnTo>
                    <a:pt x="1755228" y="0"/>
                  </a:lnTo>
                  <a:lnTo>
                    <a:pt x="1755228" y="2238704"/>
                  </a:lnTo>
                  <a:lnTo>
                    <a:pt x="0" y="2238704"/>
                  </a:lnTo>
                  <a:lnTo>
                    <a:pt x="0" y="0"/>
                  </a:lnTo>
                  <a:lnTo>
                    <a:pt x="84083" y="0"/>
                  </a:lnTo>
                  <a:close/>
                </a:path>
              </a:pathLst>
            </a:custGeom>
            <a:solidFill>
              <a:srgbClr val="92D050">
                <a:alpha val="50000"/>
              </a:srgbClr>
            </a:solidFill>
            <a:ln w="3175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ru-RU" sz="2000" b="1">
                <a:latin typeface="Neo Sans Intel" pitchFamily="34" charset="0"/>
                <a:cs typeface="Arial" pitchFamily="34" charset="0"/>
              </a:endParaRPr>
            </a:p>
          </p:txBody>
        </p:sp>
        <p:sp>
          <p:nvSpPr>
            <p:cNvPr id="160" name="TextBox 159"/>
            <p:cNvSpPr txBox="1"/>
            <p:nvPr/>
          </p:nvSpPr>
          <p:spPr>
            <a:xfrm>
              <a:off x="4675390" y="2543153"/>
              <a:ext cx="1482265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 smtClean="0">
                  <a:effectLst>
                    <a:glow rad="152400">
                      <a:srgbClr val="92D050">
                        <a:alpha val="30000"/>
                      </a:srgbClr>
                    </a:glow>
                  </a:effectLst>
                  <a:latin typeface="+mj-lt"/>
                </a:rPr>
                <a:t>Execute</a:t>
              </a:r>
              <a:endParaRPr lang="ru-RU" sz="3200" dirty="0" smtClean="0">
                <a:effectLst>
                  <a:glow rad="152400">
                    <a:srgbClr val="92D050">
                      <a:alpha val="30000"/>
                    </a:srgbClr>
                  </a:glow>
                </a:effectLst>
                <a:latin typeface="+mj-lt"/>
              </a:endParaRPr>
            </a:p>
          </p:txBody>
        </p:sp>
      </p:grpSp>
      <p:grpSp>
        <p:nvGrpSpPr>
          <p:cNvPr id="181" name="Group 180"/>
          <p:cNvGrpSpPr/>
          <p:nvPr/>
        </p:nvGrpSpPr>
        <p:grpSpPr>
          <a:xfrm>
            <a:off x="6540164" y="2229143"/>
            <a:ext cx="1734645" cy="2238704"/>
            <a:chOff x="6540164" y="2229143"/>
            <a:chExt cx="1734645" cy="2238704"/>
          </a:xfrm>
        </p:grpSpPr>
        <p:sp>
          <p:nvSpPr>
            <p:cNvPr id="162" name="Freeform 161"/>
            <p:cNvSpPr/>
            <p:nvPr/>
          </p:nvSpPr>
          <p:spPr bwMode="auto">
            <a:xfrm>
              <a:off x="6540164" y="2229143"/>
              <a:ext cx="1731478" cy="2238704"/>
            </a:xfrm>
            <a:custGeom>
              <a:avLst/>
              <a:gdLst>
                <a:gd name="connsiteX0" fmla="*/ 84083 w 1755228"/>
                <a:gd name="connsiteY0" fmla="*/ 0 h 2238704"/>
                <a:gd name="connsiteX1" fmla="*/ 1755228 w 1755228"/>
                <a:gd name="connsiteY1" fmla="*/ 0 h 2238704"/>
                <a:gd name="connsiteX2" fmla="*/ 1755228 w 1755228"/>
                <a:gd name="connsiteY2" fmla="*/ 2238704 h 2238704"/>
                <a:gd name="connsiteX3" fmla="*/ 0 w 1755228"/>
                <a:gd name="connsiteY3" fmla="*/ 2238704 h 2238704"/>
                <a:gd name="connsiteX4" fmla="*/ 0 w 1755228"/>
                <a:gd name="connsiteY4" fmla="*/ 0 h 2238704"/>
                <a:gd name="connsiteX5" fmla="*/ 84083 w 1755228"/>
                <a:gd name="connsiteY5" fmla="*/ 0 h 2238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55228" h="2238704">
                  <a:moveTo>
                    <a:pt x="84083" y="0"/>
                  </a:moveTo>
                  <a:lnTo>
                    <a:pt x="1755228" y="0"/>
                  </a:lnTo>
                  <a:lnTo>
                    <a:pt x="1755228" y="2238704"/>
                  </a:lnTo>
                  <a:lnTo>
                    <a:pt x="0" y="2238704"/>
                  </a:lnTo>
                  <a:lnTo>
                    <a:pt x="0" y="0"/>
                  </a:lnTo>
                  <a:lnTo>
                    <a:pt x="84083" y="0"/>
                  </a:lnTo>
                  <a:close/>
                </a:path>
              </a:pathLst>
            </a:custGeom>
            <a:solidFill>
              <a:srgbClr val="FFFF00">
                <a:alpha val="50000"/>
              </a:srgbClr>
            </a:solidFill>
            <a:ln w="3175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ru-RU" sz="2000" b="1">
                <a:latin typeface="Neo Sans Intel" pitchFamily="34" charset="0"/>
                <a:cs typeface="Arial" pitchFamily="34" charset="0"/>
              </a:endParaRPr>
            </a:p>
          </p:txBody>
        </p:sp>
        <p:sp>
          <p:nvSpPr>
            <p:cNvPr id="163" name="TextBox 162"/>
            <p:cNvSpPr txBox="1"/>
            <p:nvPr/>
          </p:nvSpPr>
          <p:spPr>
            <a:xfrm>
              <a:off x="6597747" y="2543153"/>
              <a:ext cx="1677062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 smtClean="0">
                  <a:effectLst>
                    <a:glow rad="152400">
                      <a:srgbClr val="92D050">
                        <a:alpha val="30000"/>
                      </a:srgbClr>
                    </a:glow>
                  </a:effectLst>
                  <a:latin typeface="+mj-lt"/>
                </a:rPr>
                <a:t>Memory</a:t>
              </a:r>
              <a:endParaRPr lang="ru-RU" sz="3200" dirty="0" smtClean="0">
                <a:effectLst>
                  <a:glow rad="152400">
                    <a:srgbClr val="92D050">
                      <a:alpha val="30000"/>
                    </a:srgbClr>
                  </a:glow>
                </a:effectLst>
                <a:latin typeface="+mj-lt"/>
              </a:endParaRPr>
            </a:p>
          </p:txBody>
        </p:sp>
      </p:grpSp>
      <p:grpSp>
        <p:nvGrpSpPr>
          <p:cNvPr id="182" name="Group 181"/>
          <p:cNvGrpSpPr/>
          <p:nvPr/>
        </p:nvGrpSpPr>
        <p:grpSpPr>
          <a:xfrm>
            <a:off x="73572" y="840828"/>
            <a:ext cx="8954814" cy="4193627"/>
            <a:chOff x="73572" y="840828"/>
            <a:chExt cx="8954814" cy="4193627"/>
          </a:xfrm>
        </p:grpSpPr>
        <p:sp>
          <p:nvSpPr>
            <p:cNvPr id="159" name="Freeform 158"/>
            <p:cNvSpPr/>
            <p:nvPr/>
          </p:nvSpPr>
          <p:spPr bwMode="auto">
            <a:xfrm>
              <a:off x="73572" y="840828"/>
              <a:ext cx="8954814" cy="4193627"/>
            </a:xfrm>
            <a:custGeom>
              <a:avLst/>
              <a:gdLst>
                <a:gd name="connsiteX0" fmla="*/ 0 w 8954814"/>
                <a:gd name="connsiteY0" fmla="*/ 399393 h 4193627"/>
                <a:gd name="connsiteX1" fmla="*/ 0 w 8954814"/>
                <a:gd name="connsiteY1" fmla="*/ 0 h 4193627"/>
                <a:gd name="connsiteX2" fmla="*/ 8954814 w 8954814"/>
                <a:gd name="connsiteY2" fmla="*/ 0 h 4193627"/>
                <a:gd name="connsiteX3" fmla="*/ 8954814 w 8954814"/>
                <a:gd name="connsiteY3" fmla="*/ 4193627 h 4193627"/>
                <a:gd name="connsiteX4" fmla="*/ 2764221 w 8954814"/>
                <a:gd name="connsiteY4" fmla="*/ 4193627 h 4193627"/>
                <a:gd name="connsiteX5" fmla="*/ 2764221 w 8954814"/>
                <a:gd name="connsiteY5" fmla="*/ 2701158 h 4193627"/>
                <a:gd name="connsiteX6" fmla="*/ 4614042 w 8954814"/>
                <a:gd name="connsiteY6" fmla="*/ 2701158 h 4193627"/>
                <a:gd name="connsiteX7" fmla="*/ 4614042 w 8954814"/>
                <a:gd name="connsiteY7" fmla="*/ 3657600 h 4193627"/>
                <a:gd name="connsiteX8" fmla="*/ 8240111 w 8954814"/>
                <a:gd name="connsiteY8" fmla="*/ 3657600 h 4193627"/>
                <a:gd name="connsiteX9" fmla="*/ 8240111 w 8954814"/>
                <a:gd name="connsiteY9" fmla="*/ 1313793 h 4193627"/>
                <a:gd name="connsiteX10" fmla="*/ 4656083 w 8954814"/>
                <a:gd name="connsiteY10" fmla="*/ 1313793 h 4193627"/>
                <a:gd name="connsiteX11" fmla="*/ 4656083 w 8954814"/>
                <a:gd name="connsiteY11" fmla="*/ 1051034 h 4193627"/>
                <a:gd name="connsiteX12" fmla="*/ 1650125 w 8954814"/>
                <a:gd name="connsiteY12" fmla="*/ 1051034 h 4193627"/>
                <a:gd name="connsiteX13" fmla="*/ 1650125 w 8954814"/>
                <a:gd name="connsiteY13" fmla="*/ 388882 h 4193627"/>
                <a:gd name="connsiteX14" fmla="*/ 0 w 8954814"/>
                <a:gd name="connsiteY14" fmla="*/ 388882 h 4193627"/>
                <a:gd name="connsiteX15" fmla="*/ 0 w 8954814"/>
                <a:gd name="connsiteY15" fmla="*/ 504496 h 4193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954814" h="4193627">
                  <a:moveTo>
                    <a:pt x="0" y="399393"/>
                  </a:moveTo>
                  <a:lnTo>
                    <a:pt x="0" y="0"/>
                  </a:lnTo>
                  <a:lnTo>
                    <a:pt x="8954814" y="0"/>
                  </a:lnTo>
                  <a:lnTo>
                    <a:pt x="8954814" y="4193627"/>
                  </a:lnTo>
                  <a:lnTo>
                    <a:pt x="2764221" y="4193627"/>
                  </a:lnTo>
                  <a:lnTo>
                    <a:pt x="2764221" y="2701158"/>
                  </a:lnTo>
                  <a:lnTo>
                    <a:pt x="4614042" y="2701158"/>
                  </a:lnTo>
                  <a:lnTo>
                    <a:pt x="4614042" y="3657600"/>
                  </a:lnTo>
                  <a:lnTo>
                    <a:pt x="8240111" y="3657600"/>
                  </a:lnTo>
                  <a:lnTo>
                    <a:pt x="8240111" y="1313793"/>
                  </a:lnTo>
                  <a:lnTo>
                    <a:pt x="4656083" y="1313793"/>
                  </a:lnTo>
                  <a:lnTo>
                    <a:pt x="4656083" y="1051034"/>
                  </a:lnTo>
                  <a:lnTo>
                    <a:pt x="1650125" y="1051034"/>
                  </a:lnTo>
                  <a:lnTo>
                    <a:pt x="1650125" y="388882"/>
                  </a:lnTo>
                  <a:lnTo>
                    <a:pt x="0" y="388882"/>
                  </a:lnTo>
                  <a:lnTo>
                    <a:pt x="0" y="504496"/>
                  </a:lnTo>
                </a:path>
              </a:pathLst>
            </a:custGeom>
            <a:solidFill>
              <a:schemeClr val="bg2">
                <a:alpha val="50000"/>
              </a:schemeClr>
            </a:solidFill>
            <a:ln w="3175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eaLnBrk="0" hangingPunct="0"/>
              <a:endParaRPr lang="ru-RU" sz="2000" b="1">
                <a:latin typeface="Neo Sans Intel" pitchFamily="34" charset="0"/>
                <a:cs typeface="Arial" pitchFamily="34" charset="0"/>
              </a:endParaRPr>
            </a:p>
          </p:txBody>
        </p:sp>
        <p:sp>
          <p:nvSpPr>
            <p:cNvPr id="164" name="TextBox 163"/>
            <p:cNvSpPr txBox="1"/>
            <p:nvPr/>
          </p:nvSpPr>
          <p:spPr>
            <a:xfrm>
              <a:off x="6969187" y="1440101"/>
              <a:ext cx="1891415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 err="1" smtClean="0">
                  <a:effectLst>
                    <a:glow rad="152400">
                      <a:schemeClr val="bg2">
                        <a:alpha val="30000"/>
                      </a:schemeClr>
                    </a:glow>
                  </a:effectLst>
                  <a:latin typeface="+mj-lt"/>
                </a:rPr>
                <a:t>WriteBack</a:t>
              </a:r>
              <a:endParaRPr lang="ru-RU" sz="3200" dirty="0" smtClean="0">
                <a:effectLst>
                  <a:glow rad="152400">
                    <a:schemeClr val="bg2">
                      <a:alpha val="30000"/>
                    </a:schemeClr>
                  </a:glow>
                </a:effectLst>
                <a:latin typeface="+mj-lt"/>
              </a:endParaRPr>
            </a:p>
          </p:txBody>
        </p:sp>
      </p:grpSp>
      <p:grpSp>
        <p:nvGrpSpPr>
          <p:cNvPr id="183" name="Group 182"/>
          <p:cNvGrpSpPr/>
          <p:nvPr/>
        </p:nvGrpSpPr>
        <p:grpSpPr>
          <a:xfrm>
            <a:off x="4575595" y="5226107"/>
            <a:ext cx="4464408" cy="940554"/>
            <a:chOff x="4575595" y="5226107"/>
            <a:chExt cx="4464408" cy="940554"/>
          </a:xfrm>
        </p:grpSpPr>
        <p:sp>
          <p:nvSpPr>
            <p:cNvPr id="166" name="Rectangle 165"/>
            <p:cNvSpPr/>
            <p:nvPr/>
          </p:nvSpPr>
          <p:spPr bwMode="auto">
            <a:xfrm>
              <a:off x="6132758" y="5539298"/>
              <a:ext cx="707161" cy="627363"/>
            </a:xfrm>
            <a:prstGeom prst="rect">
              <a:avLst/>
            </a:prstGeom>
            <a:solidFill>
              <a:srgbClr val="FFCC99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2000" b="1" dirty="0" smtClean="0">
                  <a:latin typeface="+mj-lt"/>
                  <a:cs typeface="Arial" pitchFamily="34" charset="0"/>
                </a:rPr>
                <a:t>F</a:t>
              </a:r>
              <a:endParaRPr lang="ru-RU" sz="2000" b="1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167" name="Rectangle 166"/>
            <p:cNvSpPr/>
            <p:nvPr/>
          </p:nvSpPr>
          <p:spPr bwMode="auto">
            <a:xfrm>
              <a:off x="6835669" y="5539298"/>
              <a:ext cx="381872" cy="62736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2000" b="1" dirty="0">
                  <a:latin typeface="+mj-lt"/>
                  <a:cs typeface="Arial" pitchFamily="34" charset="0"/>
                </a:rPr>
                <a:t>D</a:t>
              </a:r>
              <a:endParaRPr lang="ru-RU" sz="2000" b="1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168" name="Rectangle 167"/>
            <p:cNvSpPr/>
            <p:nvPr/>
          </p:nvSpPr>
          <p:spPr bwMode="auto">
            <a:xfrm>
              <a:off x="7213291" y="5539298"/>
              <a:ext cx="707161" cy="627363"/>
            </a:xfrm>
            <a:prstGeom prst="rect">
              <a:avLst/>
            </a:prstGeom>
            <a:solidFill>
              <a:srgbClr val="92D050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2000" b="1" dirty="0">
                  <a:latin typeface="+mj-lt"/>
                  <a:cs typeface="Arial" pitchFamily="34" charset="0"/>
                </a:rPr>
                <a:t>E</a:t>
              </a:r>
              <a:endParaRPr lang="ru-RU" sz="2000" b="1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169" name="Rectangle 168"/>
            <p:cNvSpPr/>
            <p:nvPr/>
          </p:nvSpPr>
          <p:spPr bwMode="auto">
            <a:xfrm>
              <a:off x="7916202" y="5539298"/>
              <a:ext cx="707161" cy="627363"/>
            </a:xfrm>
            <a:prstGeom prst="rect">
              <a:avLst/>
            </a:prstGeom>
            <a:solidFill>
              <a:schemeClr val="accent4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2000" b="1" dirty="0" smtClean="0">
                  <a:latin typeface="+mj-lt"/>
                  <a:cs typeface="Arial" pitchFamily="34" charset="0"/>
                </a:rPr>
                <a:t>M</a:t>
              </a:r>
              <a:endParaRPr lang="ru-RU" sz="2000" b="1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170" name="Rectangle 169"/>
            <p:cNvSpPr/>
            <p:nvPr/>
          </p:nvSpPr>
          <p:spPr bwMode="auto">
            <a:xfrm>
              <a:off x="8619114" y="5539298"/>
              <a:ext cx="379435" cy="627363"/>
            </a:xfrm>
            <a:prstGeom prst="rect">
              <a:avLst/>
            </a:prstGeom>
            <a:solidFill>
              <a:schemeClr val="bg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2000" b="1" dirty="0">
                  <a:latin typeface="+mj-lt"/>
                  <a:cs typeface="Arial" pitchFamily="34" charset="0"/>
                </a:rPr>
                <a:t>W</a:t>
              </a:r>
              <a:endParaRPr lang="ru-RU" sz="2000" b="1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172" name="TextBox 171"/>
            <p:cNvSpPr txBox="1"/>
            <p:nvPr/>
          </p:nvSpPr>
          <p:spPr>
            <a:xfrm>
              <a:off x="6271853" y="5226107"/>
              <a:ext cx="44114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>
                  <a:latin typeface="+mj-lt"/>
                </a:rPr>
                <a:t>2</a:t>
              </a:r>
              <a:r>
                <a:rPr lang="en-US" sz="1400" dirty="0" smtClean="0">
                  <a:latin typeface="+mj-lt"/>
                </a:rPr>
                <a:t>ns</a:t>
              </a:r>
              <a:endParaRPr lang="ru-RU" sz="1400" dirty="0" smtClean="0">
                <a:latin typeface="+mj-lt"/>
              </a:endParaRPr>
            </a:p>
          </p:txBody>
        </p:sp>
        <p:sp>
          <p:nvSpPr>
            <p:cNvPr id="173" name="TextBox 172"/>
            <p:cNvSpPr txBox="1"/>
            <p:nvPr/>
          </p:nvSpPr>
          <p:spPr>
            <a:xfrm>
              <a:off x="6853604" y="5226107"/>
              <a:ext cx="44114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 smtClean="0">
                  <a:latin typeface="+mj-lt"/>
                </a:rPr>
                <a:t>1ns</a:t>
              </a:r>
              <a:endParaRPr lang="ru-RU" sz="1400" dirty="0" smtClean="0">
                <a:latin typeface="+mj-lt"/>
              </a:endParaRPr>
            </a:p>
          </p:txBody>
        </p:sp>
        <p:sp>
          <p:nvSpPr>
            <p:cNvPr id="174" name="TextBox 173"/>
            <p:cNvSpPr txBox="1"/>
            <p:nvPr/>
          </p:nvSpPr>
          <p:spPr>
            <a:xfrm>
              <a:off x="7435355" y="5226107"/>
              <a:ext cx="44114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>
                  <a:latin typeface="+mj-lt"/>
                </a:rPr>
                <a:t>2</a:t>
              </a:r>
              <a:r>
                <a:rPr lang="en-US" sz="1400" dirty="0" smtClean="0">
                  <a:latin typeface="+mj-lt"/>
                </a:rPr>
                <a:t>ns</a:t>
              </a:r>
              <a:endParaRPr lang="ru-RU" sz="1400" dirty="0" smtClean="0">
                <a:latin typeface="+mj-lt"/>
              </a:endParaRPr>
            </a:p>
          </p:txBody>
        </p:sp>
        <p:sp>
          <p:nvSpPr>
            <p:cNvPr id="175" name="TextBox 174"/>
            <p:cNvSpPr txBox="1"/>
            <p:nvPr/>
          </p:nvSpPr>
          <p:spPr>
            <a:xfrm>
              <a:off x="8017106" y="5226107"/>
              <a:ext cx="44114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>
                  <a:latin typeface="+mj-lt"/>
                </a:rPr>
                <a:t>2</a:t>
              </a:r>
              <a:r>
                <a:rPr lang="en-US" sz="1400" dirty="0" smtClean="0">
                  <a:latin typeface="+mj-lt"/>
                </a:rPr>
                <a:t>ns</a:t>
              </a:r>
              <a:endParaRPr lang="ru-RU" sz="1400" dirty="0" smtClean="0">
                <a:latin typeface="+mj-lt"/>
              </a:endParaRPr>
            </a:p>
          </p:txBody>
        </p:sp>
        <p:sp>
          <p:nvSpPr>
            <p:cNvPr id="176" name="TextBox 175"/>
            <p:cNvSpPr txBox="1"/>
            <p:nvPr/>
          </p:nvSpPr>
          <p:spPr>
            <a:xfrm>
              <a:off x="8598857" y="5226107"/>
              <a:ext cx="44114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 smtClean="0">
                  <a:latin typeface="+mj-lt"/>
                </a:rPr>
                <a:t>1ns</a:t>
              </a:r>
              <a:endParaRPr lang="ru-RU" sz="1400" dirty="0" smtClean="0">
                <a:latin typeface="+mj-lt"/>
              </a:endParaRPr>
            </a:p>
          </p:txBody>
        </p:sp>
        <p:sp>
          <p:nvSpPr>
            <p:cNvPr id="177" name="TextBox 176"/>
            <p:cNvSpPr txBox="1"/>
            <p:nvPr/>
          </p:nvSpPr>
          <p:spPr>
            <a:xfrm>
              <a:off x="4575595" y="5552377"/>
              <a:ext cx="138457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600" dirty="0" smtClean="0">
                  <a:latin typeface="+mj-lt"/>
                </a:rPr>
                <a:t>Fig.: </a:t>
              </a:r>
              <a:r>
                <a:rPr lang="en-US" sz="1600" dirty="0">
                  <a:latin typeface="+mj-lt"/>
                </a:rPr>
                <a:t>the</a:t>
              </a:r>
              <a:r>
                <a:rPr lang="en-US" sz="1600" dirty="0" smtClean="0">
                  <a:latin typeface="+mj-lt"/>
                </a:rPr>
                <a:t> MIPS main stages</a:t>
              </a:r>
              <a:endParaRPr lang="ru-RU" sz="1600" dirty="0" smtClean="0">
                <a:latin typeface="+mj-lt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193374146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 mod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itle 5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Drawback of Single-Cycle Implementation</a:t>
            </a:r>
            <a:endParaRPr lang="ru-RU" dirty="0"/>
          </a:p>
        </p:txBody>
      </p:sp>
      <p:sp>
        <p:nvSpPr>
          <p:cNvPr id="60" name="Content Placeholder 59"/>
          <p:cNvSpPr>
            <a:spLocks noGrp="1"/>
          </p:cNvSpPr>
          <p:nvPr>
            <p:ph idx="1"/>
          </p:nvPr>
        </p:nvSpPr>
        <p:spPr>
          <a:xfrm>
            <a:off x="494846" y="4097141"/>
            <a:ext cx="8228012" cy="1798766"/>
          </a:xfrm>
        </p:spPr>
        <p:txBody>
          <a:bodyPr/>
          <a:lstStyle/>
          <a:p>
            <a:pPr marL="342900" indent="-342900">
              <a:spcBef>
                <a:spcPts val="1200"/>
              </a:spcBef>
              <a:buFont typeface="Courier New" panose="02070309020205020404" pitchFamily="49" charset="0"/>
              <a:buChar char="o"/>
            </a:pPr>
            <a:r>
              <a:rPr lang="en-US" sz="2200" dirty="0" smtClean="0"/>
              <a:t>Throughput is 1 instruction per clock (8ns)</a:t>
            </a:r>
          </a:p>
          <a:p>
            <a:pPr marL="342900" indent="-342900">
              <a:spcBef>
                <a:spcPts val="1200"/>
              </a:spcBef>
              <a:buFont typeface="Courier New" panose="02070309020205020404" pitchFamily="49" charset="0"/>
              <a:buChar char="o"/>
            </a:pPr>
            <a:r>
              <a:rPr lang="en-US" sz="2200" dirty="0" smtClean="0"/>
              <a:t>Is it efficient?</a:t>
            </a:r>
          </a:p>
          <a:p>
            <a:pPr marL="688975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800" dirty="0" smtClean="0"/>
              <a:t>Most of the time stages do nothing and just wait until the other stages complete their job</a:t>
            </a:r>
          </a:p>
          <a:p>
            <a:pPr marL="342900" indent="-342900">
              <a:spcBef>
                <a:spcPts val="1200"/>
              </a:spcBef>
              <a:buFont typeface="Courier New" panose="02070309020205020404" pitchFamily="49" charset="0"/>
              <a:buChar char="o"/>
            </a:pPr>
            <a:r>
              <a:rPr lang="en-US" sz="2200" dirty="0" smtClean="0"/>
              <a:t>Can we make it faster? </a:t>
            </a:r>
            <a:endParaRPr lang="ru-RU" sz="2200" dirty="0">
              <a:solidFill>
                <a:schemeClr val="accent1"/>
              </a:solidFill>
            </a:endParaRPr>
          </a:p>
        </p:txBody>
      </p:sp>
      <p:grpSp>
        <p:nvGrpSpPr>
          <p:cNvPr id="66" name="Group 65"/>
          <p:cNvGrpSpPr/>
          <p:nvPr/>
        </p:nvGrpSpPr>
        <p:grpSpPr>
          <a:xfrm>
            <a:off x="1557163" y="1836495"/>
            <a:ext cx="2865791" cy="627363"/>
            <a:chOff x="1557163" y="1836495"/>
            <a:chExt cx="2865791" cy="627363"/>
          </a:xfrm>
        </p:grpSpPr>
        <p:sp>
          <p:nvSpPr>
            <p:cNvPr id="6" name="Rectangle 5"/>
            <p:cNvSpPr/>
            <p:nvPr/>
          </p:nvSpPr>
          <p:spPr bwMode="auto">
            <a:xfrm>
              <a:off x="1557163" y="1836495"/>
              <a:ext cx="707161" cy="627363"/>
            </a:xfrm>
            <a:prstGeom prst="rect">
              <a:avLst/>
            </a:prstGeom>
            <a:solidFill>
              <a:srgbClr val="FFCC99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2000" b="1" dirty="0" smtClean="0">
                  <a:latin typeface="+mj-lt"/>
                  <a:cs typeface="Arial" pitchFamily="34" charset="0"/>
                </a:rPr>
                <a:t>F</a:t>
              </a:r>
              <a:endParaRPr lang="ru-RU" sz="2000" b="1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7" name="Rectangle 6"/>
            <p:cNvSpPr/>
            <p:nvPr/>
          </p:nvSpPr>
          <p:spPr bwMode="auto">
            <a:xfrm>
              <a:off x="2260074" y="1836495"/>
              <a:ext cx="381872" cy="62736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2000" b="1" dirty="0">
                  <a:latin typeface="+mj-lt"/>
                  <a:cs typeface="Arial" pitchFamily="34" charset="0"/>
                </a:rPr>
                <a:t>D</a:t>
              </a:r>
              <a:endParaRPr lang="ru-RU" sz="2000" b="1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8" name="Rectangle 7"/>
            <p:cNvSpPr/>
            <p:nvPr/>
          </p:nvSpPr>
          <p:spPr bwMode="auto">
            <a:xfrm>
              <a:off x="2637696" y="1836495"/>
              <a:ext cx="707161" cy="627363"/>
            </a:xfrm>
            <a:prstGeom prst="rect">
              <a:avLst/>
            </a:prstGeom>
            <a:solidFill>
              <a:srgbClr val="92D050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2000" b="1" dirty="0">
                  <a:latin typeface="+mj-lt"/>
                  <a:cs typeface="Arial" pitchFamily="34" charset="0"/>
                </a:rPr>
                <a:t>E</a:t>
              </a:r>
              <a:endParaRPr lang="ru-RU" sz="2000" b="1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9" name="Rectangle 8"/>
            <p:cNvSpPr/>
            <p:nvPr/>
          </p:nvSpPr>
          <p:spPr bwMode="auto">
            <a:xfrm>
              <a:off x="3340607" y="1836495"/>
              <a:ext cx="707161" cy="627363"/>
            </a:xfrm>
            <a:prstGeom prst="rect">
              <a:avLst/>
            </a:prstGeom>
            <a:solidFill>
              <a:schemeClr val="accent4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2000" b="1" dirty="0" smtClean="0">
                  <a:latin typeface="+mj-lt"/>
                  <a:cs typeface="Arial" pitchFamily="34" charset="0"/>
                </a:rPr>
                <a:t>M</a:t>
              </a:r>
              <a:endParaRPr lang="ru-RU" sz="2000" b="1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10" name="Rectangle 9"/>
            <p:cNvSpPr/>
            <p:nvPr/>
          </p:nvSpPr>
          <p:spPr bwMode="auto">
            <a:xfrm>
              <a:off x="4043519" y="1836495"/>
              <a:ext cx="379435" cy="627363"/>
            </a:xfrm>
            <a:prstGeom prst="rect">
              <a:avLst/>
            </a:prstGeom>
            <a:solidFill>
              <a:schemeClr val="bg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2000" b="1" dirty="0">
                  <a:latin typeface="+mj-lt"/>
                  <a:cs typeface="Arial" pitchFamily="34" charset="0"/>
                </a:rPr>
                <a:t>W</a:t>
              </a:r>
              <a:endParaRPr lang="ru-RU" sz="2000" b="1" dirty="0" smtClean="0">
                <a:latin typeface="+mj-lt"/>
                <a:cs typeface="Arial" pitchFamily="34" charset="0"/>
              </a:endParaRPr>
            </a:p>
          </p:txBody>
        </p:sp>
      </p:grpSp>
      <p:sp>
        <p:nvSpPr>
          <p:cNvPr id="16" name="TextBox 15"/>
          <p:cNvSpPr txBox="1"/>
          <p:nvPr/>
        </p:nvSpPr>
        <p:spPr>
          <a:xfrm>
            <a:off x="714702" y="1950121"/>
            <a:ext cx="689972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sz="2000" dirty="0" smtClean="0">
                <a:latin typeface="+mj-lt"/>
              </a:rPr>
              <a:t>PC</a:t>
            </a:r>
            <a:endParaRPr lang="ru-RU" sz="2000" dirty="0" smtClean="0">
              <a:latin typeface="+mj-lt"/>
            </a:endParaRPr>
          </a:p>
        </p:txBody>
      </p:sp>
      <p:grpSp>
        <p:nvGrpSpPr>
          <p:cNvPr id="29" name="Group 28"/>
          <p:cNvGrpSpPr/>
          <p:nvPr/>
        </p:nvGrpSpPr>
        <p:grpSpPr>
          <a:xfrm>
            <a:off x="4422954" y="2467115"/>
            <a:ext cx="2865791" cy="627363"/>
            <a:chOff x="1557162" y="2070884"/>
            <a:chExt cx="2865791" cy="627363"/>
          </a:xfrm>
        </p:grpSpPr>
        <p:sp>
          <p:nvSpPr>
            <p:cNvPr id="18" name="Rectangle 17"/>
            <p:cNvSpPr/>
            <p:nvPr/>
          </p:nvSpPr>
          <p:spPr bwMode="auto">
            <a:xfrm>
              <a:off x="1557162" y="2070884"/>
              <a:ext cx="707161" cy="627363"/>
            </a:xfrm>
            <a:prstGeom prst="rect">
              <a:avLst/>
            </a:prstGeom>
            <a:solidFill>
              <a:srgbClr val="FFCC99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2000" b="1" dirty="0" smtClean="0">
                  <a:latin typeface="+mj-lt"/>
                  <a:cs typeface="Arial" pitchFamily="34" charset="0"/>
                </a:rPr>
                <a:t>F</a:t>
              </a:r>
              <a:endParaRPr lang="ru-RU" sz="2000" b="1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19" name="Rectangle 18"/>
            <p:cNvSpPr/>
            <p:nvPr/>
          </p:nvSpPr>
          <p:spPr bwMode="auto">
            <a:xfrm>
              <a:off x="2260073" y="2070884"/>
              <a:ext cx="381872" cy="62736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2000" b="1" dirty="0">
                  <a:latin typeface="+mj-lt"/>
                  <a:cs typeface="Arial" pitchFamily="34" charset="0"/>
                </a:rPr>
                <a:t>D</a:t>
              </a:r>
              <a:endParaRPr lang="ru-RU" sz="2000" b="1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20" name="Rectangle 19"/>
            <p:cNvSpPr/>
            <p:nvPr/>
          </p:nvSpPr>
          <p:spPr bwMode="auto">
            <a:xfrm>
              <a:off x="2637695" y="2070884"/>
              <a:ext cx="707161" cy="627363"/>
            </a:xfrm>
            <a:prstGeom prst="rect">
              <a:avLst/>
            </a:prstGeom>
            <a:solidFill>
              <a:srgbClr val="92D050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2000" b="1" dirty="0">
                  <a:latin typeface="+mj-lt"/>
                  <a:cs typeface="Arial" pitchFamily="34" charset="0"/>
                </a:rPr>
                <a:t>E</a:t>
              </a:r>
              <a:endParaRPr lang="ru-RU" sz="2000" b="1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21" name="Rectangle 20"/>
            <p:cNvSpPr/>
            <p:nvPr/>
          </p:nvSpPr>
          <p:spPr bwMode="auto">
            <a:xfrm>
              <a:off x="3340606" y="2070884"/>
              <a:ext cx="707161" cy="627363"/>
            </a:xfrm>
            <a:prstGeom prst="rect">
              <a:avLst/>
            </a:prstGeom>
            <a:solidFill>
              <a:schemeClr val="accent4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2000" b="1" dirty="0" smtClean="0">
                  <a:latin typeface="+mj-lt"/>
                  <a:cs typeface="Arial" pitchFamily="34" charset="0"/>
                </a:rPr>
                <a:t>M</a:t>
              </a:r>
              <a:endParaRPr lang="ru-RU" sz="2000" b="1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22" name="Rectangle 21"/>
            <p:cNvSpPr/>
            <p:nvPr/>
          </p:nvSpPr>
          <p:spPr bwMode="auto">
            <a:xfrm>
              <a:off x="4043518" y="2070884"/>
              <a:ext cx="379435" cy="627363"/>
            </a:xfrm>
            <a:prstGeom prst="rect">
              <a:avLst/>
            </a:prstGeom>
            <a:solidFill>
              <a:schemeClr val="bg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2000" b="1" dirty="0">
                  <a:latin typeface="+mj-lt"/>
                  <a:cs typeface="Arial" pitchFamily="34" charset="0"/>
                </a:rPr>
                <a:t>W</a:t>
              </a:r>
              <a:endParaRPr lang="ru-RU" sz="2000" b="1" dirty="0" smtClean="0">
                <a:latin typeface="+mj-lt"/>
                <a:cs typeface="Arial" pitchFamily="34" charset="0"/>
              </a:endParaRPr>
            </a:p>
          </p:txBody>
        </p:sp>
      </p:grpSp>
      <p:sp>
        <p:nvSpPr>
          <p:cNvPr id="28" name="TextBox 27"/>
          <p:cNvSpPr txBox="1"/>
          <p:nvPr/>
        </p:nvSpPr>
        <p:spPr>
          <a:xfrm>
            <a:off x="372277" y="2580741"/>
            <a:ext cx="1032397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sz="2000" dirty="0" smtClean="0">
                <a:latin typeface="+mj-lt"/>
              </a:rPr>
              <a:t>PC + 4</a:t>
            </a:r>
            <a:endParaRPr lang="ru-RU" sz="2000" dirty="0" smtClean="0">
              <a:latin typeface="+mj-lt"/>
            </a:endParaRPr>
          </a:p>
        </p:txBody>
      </p:sp>
      <p:grpSp>
        <p:nvGrpSpPr>
          <p:cNvPr id="67" name="Group 66"/>
          <p:cNvGrpSpPr/>
          <p:nvPr/>
        </p:nvGrpSpPr>
        <p:grpSpPr>
          <a:xfrm>
            <a:off x="7288745" y="2980852"/>
            <a:ext cx="2676073" cy="915325"/>
            <a:chOff x="7288745" y="2980852"/>
            <a:chExt cx="2676073" cy="915325"/>
          </a:xfrm>
        </p:grpSpPr>
        <p:grpSp>
          <p:nvGrpSpPr>
            <p:cNvPr id="30" name="Group 29"/>
            <p:cNvGrpSpPr/>
            <p:nvPr/>
          </p:nvGrpSpPr>
          <p:grpSpPr>
            <a:xfrm>
              <a:off x="7288745" y="3094478"/>
              <a:ext cx="2490605" cy="627363"/>
              <a:chOff x="1557162" y="2070884"/>
              <a:chExt cx="2490605" cy="627363"/>
            </a:xfrm>
          </p:grpSpPr>
          <p:sp>
            <p:nvSpPr>
              <p:cNvPr id="31" name="Rectangle 30"/>
              <p:cNvSpPr/>
              <p:nvPr/>
            </p:nvSpPr>
            <p:spPr bwMode="auto">
              <a:xfrm>
                <a:off x="1557162" y="2070884"/>
                <a:ext cx="707161" cy="627363"/>
              </a:xfrm>
              <a:prstGeom prst="rect">
                <a:avLst/>
              </a:prstGeom>
              <a:solidFill>
                <a:srgbClr val="FFCC99"/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sz="2000" b="1" dirty="0" smtClean="0">
                    <a:latin typeface="+mj-lt"/>
                    <a:cs typeface="Arial" pitchFamily="34" charset="0"/>
                  </a:rPr>
                  <a:t>F</a:t>
                </a:r>
                <a:endParaRPr lang="ru-RU" sz="2000" b="1" dirty="0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32" name="Rectangle 31"/>
              <p:cNvSpPr/>
              <p:nvPr/>
            </p:nvSpPr>
            <p:spPr bwMode="auto">
              <a:xfrm>
                <a:off x="2260073" y="2070884"/>
                <a:ext cx="381872" cy="627363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sz="2000" b="1" dirty="0">
                    <a:latin typeface="+mj-lt"/>
                    <a:cs typeface="Arial" pitchFamily="34" charset="0"/>
                  </a:rPr>
                  <a:t>D</a:t>
                </a:r>
                <a:endParaRPr lang="ru-RU" sz="2000" b="1" dirty="0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33" name="Rectangle 32"/>
              <p:cNvSpPr/>
              <p:nvPr/>
            </p:nvSpPr>
            <p:spPr bwMode="auto">
              <a:xfrm>
                <a:off x="2637695" y="2070884"/>
                <a:ext cx="707161" cy="627363"/>
              </a:xfrm>
              <a:prstGeom prst="rect">
                <a:avLst/>
              </a:prstGeom>
              <a:solidFill>
                <a:srgbClr val="92D050"/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sz="2000" b="1" dirty="0">
                    <a:latin typeface="+mj-lt"/>
                    <a:cs typeface="Arial" pitchFamily="34" charset="0"/>
                  </a:rPr>
                  <a:t>E</a:t>
                </a:r>
                <a:endParaRPr lang="ru-RU" sz="2000" b="1" dirty="0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34" name="Rectangle 33"/>
              <p:cNvSpPr/>
              <p:nvPr/>
            </p:nvSpPr>
            <p:spPr bwMode="auto">
              <a:xfrm>
                <a:off x="3340606" y="2070884"/>
                <a:ext cx="707161" cy="627363"/>
              </a:xfrm>
              <a:prstGeom prst="rect">
                <a:avLst/>
              </a:prstGeom>
              <a:solidFill>
                <a:schemeClr val="accent4"/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sz="2000" b="1" dirty="0" smtClean="0">
                    <a:latin typeface="+mj-lt"/>
                    <a:cs typeface="Arial" pitchFamily="34" charset="0"/>
                  </a:rPr>
                  <a:t>M</a:t>
                </a:r>
                <a:endParaRPr lang="ru-RU" sz="2000" b="1" dirty="0" smtClean="0">
                  <a:latin typeface="+mj-lt"/>
                  <a:cs typeface="Arial" pitchFamily="34" charset="0"/>
                </a:endParaRPr>
              </a:p>
            </p:txBody>
          </p:sp>
        </p:grpSp>
        <p:sp>
          <p:nvSpPr>
            <p:cNvPr id="36" name="Rectangle 35"/>
            <p:cNvSpPr/>
            <p:nvPr/>
          </p:nvSpPr>
          <p:spPr bwMode="auto">
            <a:xfrm>
              <a:off x="8482859" y="2980852"/>
              <a:ext cx="1481959" cy="915325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alpha val="0"/>
                  </a:schemeClr>
                </a:gs>
                <a:gs pos="43000">
                  <a:srgbClr val="FFFFFF"/>
                </a:gs>
                <a:gs pos="17000">
                  <a:schemeClr val="bg1">
                    <a:alpha val="55000"/>
                  </a:schemeClr>
                </a:gs>
              </a:gsLst>
              <a:lin ang="0" scaled="1"/>
              <a:tileRect/>
            </a:gradFill>
            <a:ln w="3175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ru-RU" sz="2000" b="1" smtClean="0">
                <a:latin typeface="+mj-lt"/>
                <a:cs typeface="Arial" pitchFamily="34" charset="0"/>
              </a:endParaRPr>
            </a:p>
          </p:txBody>
        </p:sp>
      </p:grpSp>
      <p:sp>
        <p:nvSpPr>
          <p:cNvPr id="37" name="TextBox 36"/>
          <p:cNvSpPr txBox="1"/>
          <p:nvPr/>
        </p:nvSpPr>
        <p:spPr>
          <a:xfrm>
            <a:off x="372277" y="3238459"/>
            <a:ext cx="1032397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sz="2000" dirty="0" smtClean="0">
                <a:latin typeface="+mj-lt"/>
              </a:rPr>
              <a:t>PC + 8</a:t>
            </a:r>
            <a:endParaRPr lang="ru-RU" sz="2000" dirty="0" smtClean="0">
              <a:latin typeface="+mj-lt"/>
            </a:endParaRPr>
          </a:p>
        </p:txBody>
      </p:sp>
      <p:grpSp>
        <p:nvGrpSpPr>
          <p:cNvPr id="65" name="Group 64"/>
          <p:cNvGrpSpPr/>
          <p:nvPr/>
        </p:nvGrpSpPr>
        <p:grpSpPr>
          <a:xfrm>
            <a:off x="403439" y="856762"/>
            <a:ext cx="7731568" cy="646331"/>
            <a:chOff x="403439" y="856762"/>
            <a:chExt cx="7731568" cy="646331"/>
          </a:xfrm>
        </p:grpSpPr>
        <p:sp>
          <p:nvSpPr>
            <p:cNvPr id="44" name="Freeform 43"/>
            <p:cNvSpPr/>
            <p:nvPr/>
          </p:nvSpPr>
          <p:spPr bwMode="auto">
            <a:xfrm flipV="1">
              <a:off x="1555531" y="1017949"/>
              <a:ext cx="6579476" cy="459266"/>
            </a:xfrm>
            <a:custGeom>
              <a:avLst/>
              <a:gdLst>
                <a:gd name="connsiteX0" fmla="*/ 0 w 6579476"/>
                <a:gd name="connsiteY0" fmla="*/ 536028 h 557048"/>
                <a:gd name="connsiteX1" fmla="*/ 1418897 w 6579476"/>
                <a:gd name="connsiteY1" fmla="*/ 536028 h 557048"/>
                <a:gd name="connsiteX2" fmla="*/ 1418897 w 6579476"/>
                <a:gd name="connsiteY2" fmla="*/ 0 h 557048"/>
                <a:gd name="connsiteX3" fmla="*/ 2858814 w 6579476"/>
                <a:gd name="connsiteY3" fmla="*/ 0 h 557048"/>
                <a:gd name="connsiteX4" fmla="*/ 2858814 w 6579476"/>
                <a:gd name="connsiteY4" fmla="*/ 557048 h 557048"/>
                <a:gd name="connsiteX5" fmla="*/ 4309241 w 6579476"/>
                <a:gd name="connsiteY5" fmla="*/ 557048 h 557048"/>
                <a:gd name="connsiteX6" fmla="*/ 4309241 w 6579476"/>
                <a:gd name="connsiteY6" fmla="*/ 10510 h 557048"/>
                <a:gd name="connsiteX7" fmla="*/ 5759669 w 6579476"/>
                <a:gd name="connsiteY7" fmla="*/ 10510 h 557048"/>
                <a:gd name="connsiteX8" fmla="*/ 5759669 w 6579476"/>
                <a:gd name="connsiteY8" fmla="*/ 557048 h 557048"/>
                <a:gd name="connsiteX9" fmla="*/ 6568966 w 6579476"/>
                <a:gd name="connsiteY9" fmla="*/ 557048 h 557048"/>
                <a:gd name="connsiteX10" fmla="*/ 6568966 w 6579476"/>
                <a:gd name="connsiteY10" fmla="*/ 546538 h 557048"/>
                <a:gd name="connsiteX11" fmla="*/ 6579476 w 6579476"/>
                <a:gd name="connsiteY11" fmla="*/ 546538 h 557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579476" h="557048">
                  <a:moveTo>
                    <a:pt x="0" y="536028"/>
                  </a:moveTo>
                  <a:lnTo>
                    <a:pt x="1418897" y="536028"/>
                  </a:lnTo>
                  <a:lnTo>
                    <a:pt x="1418897" y="0"/>
                  </a:lnTo>
                  <a:lnTo>
                    <a:pt x="2858814" y="0"/>
                  </a:lnTo>
                  <a:lnTo>
                    <a:pt x="2858814" y="557048"/>
                  </a:lnTo>
                  <a:lnTo>
                    <a:pt x="4309241" y="557048"/>
                  </a:lnTo>
                  <a:lnTo>
                    <a:pt x="4309241" y="10510"/>
                  </a:lnTo>
                  <a:lnTo>
                    <a:pt x="5759669" y="10510"/>
                  </a:lnTo>
                  <a:lnTo>
                    <a:pt x="5759669" y="557048"/>
                  </a:lnTo>
                  <a:lnTo>
                    <a:pt x="6568966" y="557048"/>
                  </a:lnTo>
                  <a:lnTo>
                    <a:pt x="6568966" y="546538"/>
                  </a:lnTo>
                  <a:lnTo>
                    <a:pt x="6579476" y="546538"/>
                  </a:lnTo>
                </a:path>
              </a:pathLst>
            </a:custGeom>
            <a:noFill/>
            <a:ln w="19050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403439" y="856762"/>
              <a:ext cx="120135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 smtClean="0">
                  <a:solidFill>
                    <a:srgbClr val="C00000"/>
                  </a:solidFill>
                  <a:latin typeface="+mj-lt"/>
                </a:rPr>
                <a:t>Sync signal</a:t>
              </a:r>
            </a:p>
            <a:p>
              <a:pPr algn="ctr"/>
              <a:r>
                <a:rPr lang="en-US" dirty="0" smtClean="0">
                  <a:solidFill>
                    <a:srgbClr val="C00000"/>
                  </a:solidFill>
                  <a:latin typeface="+mj-lt"/>
                </a:rPr>
                <a:t>(clocks) </a:t>
              </a:r>
              <a:endParaRPr lang="ru-RU" dirty="0" smtClean="0">
                <a:solidFill>
                  <a:srgbClr val="C00000"/>
                </a:solidFill>
                <a:latin typeface="+mj-lt"/>
              </a:endParaRPr>
            </a:p>
          </p:txBody>
        </p:sp>
      </p:grpSp>
      <p:grpSp>
        <p:nvGrpSpPr>
          <p:cNvPr id="64" name="Group 63"/>
          <p:cNvGrpSpPr/>
          <p:nvPr/>
        </p:nvGrpSpPr>
        <p:grpSpPr>
          <a:xfrm>
            <a:off x="1557163" y="1458566"/>
            <a:ext cx="7315110" cy="2442600"/>
            <a:chOff x="1557163" y="1458566"/>
            <a:chExt cx="7315110" cy="2442600"/>
          </a:xfrm>
        </p:grpSpPr>
        <p:cxnSp>
          <p:nvCxnSpPr>
            <p:cNvPr id="39" name="Straight Arrow Connector 38"/>
            <p:cNvCxnSpPr/>
            <p:nvPr/>
          </p:nvCxnSpPr>
          <p:spPr bwMode="auto">
            <a:xfrm>
              <a:off x="1557163" y="1836495"/>
              <a:ext cx="0" cy="2059682"/>
            </a:xfrm>
            <a:prstGeom prst="straightConnector1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stealth" w="lg" len="lg"/>
            </a:ln>
            <a:effectLst/>
          </p:spPr>
        </p:cxnSp>
        <p:cxnSp>
          <p:nvCxnSpPr>
            <p:cNvPr id="41" name="Straight Arrow Connector 40"/>
            <p:cNvCxnSpPr/>
            <p:nvPr/>
          </p:nvCxnSpPr>
          <p:spPr bwMode="auto">
            <a:xfrm>
              <a:off x="1557163" y="1848218"/>
              <a:ext cx="7292547" cy="0"/>
            </a:xfrm>
            <a:prstGeom prst="straightConnector1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stealth" w="lg" len="lg"/>
            </a:ln>
            <a:effectLst/>
          </p:spPr>
        </p:cxnSp>
        <p:sp>
          <p:nvSpPr>
            <p:cNvPr id="42" name="TextBox 41"/>
            <p:cNvSpPr txBox="1"/>
            <p:nvPr/>
          </p:nvSpPr>
          <p:spPr>
            <a:xfrm rot="16200000">
              <a:off x="1094546" y="3050773"/>
              <a:ext cx="133145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latin typeface="+mj-lt"/>
                </a:rPr>
                <a:t>instructions</a:t>
              </a:r>
              <a:endParaRPr lang="ru-RU" dirty="0" smtClean="0">
                <a:latin typeface="+mj-lt"/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8253193" y="1458566"/>
              <a:ext cx="6190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latin typeface="+mj-lt"/>
                </a:rPr>
                <a:t>time</a:t>
              </a:r>
              <a:endParaRPr lang="ru-RU" dirty="0" smtClean="0">
                <a:latin typeface="+mj-lt"/>
              </a:endParaRPr>
            </a:p>
          </p:txBody>
        </p:sp>
        <p:grpSp>
          <p:nvGrpSpPr>
            <p:cNvPr id="48" name="Group 47"/>
            <p:cNvGrpSpPr/>
            <p:nvPr/>
          </p:nvGrpSpPr>
          <p:grpSpPr>
            <a:xfrm>
              <a:off x="2734635" y="1493779"/>
              <a:ext cx="513281" cy="394155"/>
              <a:chOff x="5288675" y="3647495"/>
              <a:chExt cx="513281" cy="394155"/>
            </a:xfrm>
          </p:grpSpPr>
          <p:sp>
            <p:nvSpPr>
              <p:cNvPr id="46" name="Oval 45"/>
              <p:cNvSpPr/>
              <p:nvPr/>
            </p:nvSpPr>
            <p:spPr bwMode="auto">
              <a:xfrm>
                <a:off x="5503487" y="3967297"/>
                <a:ext cx="74353" cy="74353"/>
              </a:xfrm>
              <a:prstGeom prst="ellipse">
                <a:avLst/>
              </a:prstGeom>
              <a:solidFill>
                <a:schemeClr val="tx1"/>
              </a:solidFill>
              <a:ln w="3175" cap="flat" cmpd="sng" algn="ctr">
                <a:noFill/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ru-RU" sz="2000" b="1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47" name="TextBox 46"/>
              <p:cNvSpPr txBox="1"/>
              <p:nvPr/>
            </p:nvSpPr>
            <p:spPr>
              <a:xfrm>
                <a:off x="5288675" y="3647495"/>
                <a:ext cx="51328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 smtClean="0">
                    <a:latin typeface="+mj-lt"/>
                  </a:rPr>
                  <a:t>4ns</a:t>
                </a:r>
                <a:endParaRPr lang="ru-RU" dirty="0" smtClean="0">
                  <a:latin typeface="+mj-lt"/>
                </a:endParaRPr>
              </a:p>
            </p:txBody>
          </p:sp>
        </p:grpSp>
        <p:grpSp>
          <p:nvGrpSpPr>
            <p:cNvPr id="49" name="Group 48"/>
            <p:cNvGrpSpPr/>
            <p:nvPr/>
          </p:nvGrpSpPr>
          <p:grpSpPr>
            <a:xfrm>
              <a:off x="4171891" y="1496119"/>
              <a:ext cx="513281" cy="394155"/>
              <a:chOff x="5288674" y="3647495"/>
              <a:chExt cx="513281" cy="394155"/>
            </a:xfrm>
          </p:grpSpPr>
          <p:sp>
            <p:nvSpPr>
              <p:cNvPr id="50" name="Oval 49"/>
              <p:cNvSpPr/>
              <p:nvPr/>
            </p:nvSpPr>
            <p:spPr bwMode="auto">
              <a:xfrm>
                <a:off x="5503487" y="3967297"/>
                <a:ext cx="74353" cy="74353"/>
              </a:xfrm>
              <a:prstGeom prst="ellipse">
                <a:avLst/>
              </a:prstGeom>
              <a:solidFill>
                <a:schemeClr val="tx1"/>
              </a:solidFill>
              <a:ln w="3175" cap="flat" cmpd="sng" algn="ctr">
                <a:noFill/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ru-RU" sz="2000" b="1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51" name="TextBox 50"/>
              <p:cNvSpPr txBox="1"/>
              <p:nvPr/>
            </p:nvSpPr>
            <p:spPr>
              <a:xfrm>
                <a:off x="5288674" y="3647495"/>
                <a:ext cx="51328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>
                    <a:latin typeface="+mj-lt"/>
                  </a:rPr>
                  <a:t>8</a:t>
                </a:r>
                <a:r>
                  <a:rPr lang="en-US" dirty="0" smtClean="0">
                    <a:latin typeface="+mj-lt"/>
                  </a:rPr>
                  <a:t>ns</a:t>
                </a:r>
                <a:endParaRPr lang="ru-RU" dirty="0" smtClean="0">
                  <a:latin typeface="+mj-lt"/>
                </a:endParaRPr>
              </a:p>
            </p:txBody>
          </p:sp>
        </p:grpSp>
        <p:grpSp>
          <p:nvGrpSpPr>
            <p:cNvPr id="52" name="Group 51"/>
            <p:cNvGrpSpPr/>
            <p:nvPr/>
          </p:nvGrpSpPr>
          <p:grpSpPr>
            <a:xfrm>
              <a:off x="5551119" y="1483009"/>
              <a:ext cx="630301" cy="394155"/>
              <a:chOff x="5230165" y="3647495"/>
              <a:chExt cx="630301" cy="394155"/>
            </a:xfrm>
          </p:grpSpPr>
          <p:sp>
            <p:nvSpPr>
              <p:cNvPr id="53" name="Oval 52"/>
              <p:cNvSpPr/>
              <p:nvPr/>
            </p:nvSpPr>
            <p:spPr bwMode="auto">
              <a:xfrm>
                <a:off x="5503487" y="3967297"/>
                <a:ext cx="74353" cy="74353"/>
              </a:xfrm>
              <a:prstGeom prst="ellipse">
                <a:avLst/>
              </a:prstGeom>
              <a:solidFill>
                <a:schemeClr val="tx1"/>
              </a:solidFill>
              <a:ln w="3175" cap="flat" cmpd="sng" algn="ctr">
                <a:noFill/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ru-RU" sz="2000" b="1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54" name="TextBox 53"/>
              <p:cNvSpPr txBox="1"/>
              <p:nvPr/>
            </p:nvSpPr>
            <p:spPr>
              <a:xfrm>
                <a:off x="5230165" y="3647495"/>
                <a:ext cx="63030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 smtClean="0">
                    <a:latin typeface="+mj-lt"/>
                  </a:rPr>
                  <a:t>12ns</a:t>
                </a:r>
                <a:endParaRPr lang="ru-RU" dirty="0" smtClean="0">
                  <a:latin typeface="+mj-lt"/>
                </a:endParaRPr>
              </a:p>
            </p:txBody>
          </p:sp>
        </p:grpSp>
        <p:grpSp>
          <p:nvGrpSpPr>
            <p:cNvPr id="55" name="Group 54"/>
            <p:cNvGrpSpPr/>
            <p:nvPr/>
          </p:nvGrpSpPr>
          <p:grpSpPr>
            <a:xfrm>
              <a:off x="7000171" y="1487463"/>
              <a:ext cx="630301" cy="394155"/>
              <a:chOff x="5230165" y="3647495"/>
              <a:chExt cx="630301" cy="394155"/>
            </a:xfrm>
          </p:grpSpPr>
          <p:sp>
            <p:nvSpPr>
              <p:cNvPr id="56" name="Oval 55"/>
              <p:cNvSpPr/>
              <p:nvPr/>
            </p:nvSpPr>
            <p:spPr bwMode="auto">
              <a:xfrm>
                <a:off x="5503487" y="3967297"/>
                <a:ext cx="74353" cy="74353"/>
              </a:xfrm>
              <a:prstGeom prst="ellipse">
                <a:avLst/>
              </a:prstGeom>
              <a:solidFill>
                <a:schemeClr val="tx1"/>
              </a:solidFill>
              <a:ln w="3175" cap="flat" cmpd="sng" algn="ctr">
                <a:noFill/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ru-RU" sz="2000" b="1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57" name="TextBox 56"/>
              <p:cNvSpPr txBox="1"/>
              <p:nvPr/>
            </p:nvSpPr>
            <p:spPr>
              <a:xfrm>
                <a:off x="5230165" y="3647495"/>
                <a:ext cx="63030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 smtClean="0">
                    <a:latin typeface="+mj-lt"/>
                  </a:rPr>
                  <a:t>16ns</a:t>
                </a:r>
                <a:endParaRPr lang="ru-RU" dirty="0" smtClean="0">
                  <a:latin typeface="+mj-lt"/>
                </a:endParaRPr>
              </a:p>
            </p:txBody>
          </p:sp>
        </p:grpSp>
      </p:grpSp>
      <p:sp>
        <p:nvSpPr>
          <p:cNvPr id="61" name="TextBox 60"/>
          <p:cNvSpPr txBox="1"/>
          <p:nvPr/>
        </p:nvSpPr>
        <p:spPr>
          <a:xfrm>
            <a:off x="2451010" y="4524699"/>
            <a:ext cx="85151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 smtClean="0">
                <a:latin typeface="+mj-lt"/>
              </a:rPr>
              <a:t>– </a:t>
            </a:r>
            <a:r>
              <a:rPr lang="en-US" sz="2200" dirty="0" smtClean="0">
                <a:solidFill>
                  <a:srgbClr val="FF0000"/>
                </a:solidFill>
                <a:latin typeface="+mj-lt"/>
              </a:rPr>
              <a:t>NO!</a:t>
            </a:r>
            <a:endParaRPr lang="ru-RU" sz="2200" dirty="0" smtClean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3525765" y="5668316"/>
            <a:ext cx="3945311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kern="0" dirty="0">
                <a:solidFill>
                  <a:srgbClr val="061922"/>
                </a:solidFill>
                <a:latin typeface="+mj-lt"/>
              </a:rPr>
              <a:t>– </a:t>
            </a:r>
            <a:r>
              <a:rPr lang="en-US" sz="2200" kern="0" dirty="0">
                <a:solidFill>
                  <a:srgbClr val="00B050"/>
                </a:solidFill>
                <a:latin typeface="+mj-lt"/>
              </a:rPr>
              <a:t>YES</a:t>
            </a:r>
            <a:r>
              <a:rPr lang="en-US" sz="2200" kern="0" dirty="0">
                <a:solidFill>
                  <a:srgbClr val="061922"/>
                </a:solidFill>
                <a:latin typeface="+mj-lt"/>
              </a:rPr>
              <a:t>, with </a:t>
            </a:r>
            <a:r>
              <a:rPr lang="en-US" sz="2200" kern="0" dirty="0">
                <a:solidFill>
                  <a:srgbClr val="0071C5"/>
                </a:solidFill>
                <a:latin typeface="+mj-lt"/>
              </a:rPr>
              <a:t>pipelined execution </a:t>
            </a:r>
            <a:endParaRPr lang="ru-RU" sz="2200" dirty="0">
              <a:latin typeface="+mj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6006986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6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6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6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8" grpId="0"/>
      <p:bldP spid="37" grpId="0"/>
      <p:bldP spid="61" grpId="0"/>
      <p:bldP spid="62" grpId="0"/>
    </p:bldLst>
  </p:timing>
  <p:extLst mod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pipelining?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5613" y="1028700"/>
            <a:ext cx="8228012" cy="5101172"/>
          </a:xfrm>
        </p:spPr>
        <p:txBody>
          <a:bodyPr/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i="1" dirty="0" smtClean="0">
                <a:solidFill>
                  <a:schemeClr val="accent1"/>
                </a:solidFill>
              </a:rPr>
              <a:t>The main idea: </a:t>
            </a:r>
            <a:r>
              <a:rPr lang="en-US" dirty="0" smtClean="0"/>
              <a:t>try to keep everyone busy with useful work</a:t>
            </a:r>
          </a:p>
          <a:p>
            <a:pPr marL="688975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 smtClean="0"/>
              <a:t>Pipelining is a general-purpose technique of increasing efficiency: it is not specific for processors only</a:t>
            </a:r>
          </a:p>
          <a:p>
            <a:pPr marL="342900" indent="-342900">
              <a:spcBef>
                <a:spcPts val="1800"/>
              </a:spcBef>
              <a:buFont typeface="Courier New" panose="02070309020205020404" pitchFamily="49" charset="0"/>
              <a:buChar char="o"/>
            </a:pPr>
            <a:r>
              <a:rPr lang="en-US" dirty="0" smtClean="0"/>
              <a:t>How to organize the pipeline?</a:t>
            </a:r>
          </a:p>
          <a:p>
            <a:pPr marL="688975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 smtClean="0"/>
              <a:t>Split the process into independent parts (</a:t>
            </a:r>
            <a:r>
              <a:rPr lang="en-US" sz="2000" dirty="0" smtClean="0">
                <a:solidFill>
                  <a:schemeClr val="accent1"/>
                </a:solidFill>
              </a:rPr>
              <a:t>stages</a:t>
            </a:r>
            <a:r>
              <a:rPr lang="en-US" sz="2000" dirty="0" smtClean="0"/>
              <a:t>)</a:t>
            </a:r>
          </a:p>
          <a:p>
            <a:pPr marL="688975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 smtClean="0"/>
              <a:t>Allow a stage starts execute the next workload event if the following stages are still processing the previous ones</a:t>
            </a:r>
          </a:p>
          <a:p>
            <a:pPr marL="342900" indent="-342900">
              <a:spcBef>
                <a:spcPts val="1800"/>
              </a:spcBef>
              <a:buFont typeface="Courier New" panose="02070309020205020404" pitchFamily="49" charset="0"/>
              <a:buChar char="o"/>
            </a:pPr>
            <a:r>
              <a:rPr lang="en-US" dirty="0" smtClean="0"/>
              <a:t>There are many examples of pipelines in the real life</a:t>
            </a:r>
          </a:p>
          <a:p>
            <a:pPr marL="688975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 smtClean="0"/>
              <a:t>Assembly line (car, electronics, etc.)</a:t>
            </a:r>
          </a:p>
          <a:p>
            <a:pPr marL="688975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 smtClean="0"/>
              <a:t>Security control in an airport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3245473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 mod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4025" y="-287"/>
            <a:ext cx="8229600" cy="889000"/>
          </a:xfrm>
        </p:spPr>
        <p:txBody>
          <a:bodyPr/>
          <a:lstStyle/>
          <a:p>
            <a:r>
              <a:rPr lang="en-US" dirty="0" smtClean="0"/>
              <a:t>Processor Pipeline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55613" y="704332"/>
            <a:ext cx="8228012" cy="1338528"/>
          </a:xfrm>
        </p:spPr>
        <p:txBody>
          <a:bodyPr/>
          <a:lstStyle/>
          <a:p>
            <a:pPr marL="342900" indent="-342900"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en-US" sz="2000" dirty="0" smtClean="0"/>
              <a:t>It is hard to build HW that identifies whether the next stage is busy and stop the pipeline if it is</a:t>
            </a:r>
          </a:p>
          <a:p>
            <a:pPr marL="342900" indent="-342900"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en-US" sz="2000" dirty="0" smtClean="0"/>
              <a:t>The alternative is making all stages the same length as the longest one</a:t>
            </a:r>
          </a:p>
          <a:p>
            <a:pPr marL="688975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800" dirty="0"/>
              <a:t>It makes the pipeline control easier </a:t>
            </a:r>
            <a:r>
              <a:rPr lang="en-US" sz="1800" dirty="0" smtClean="0"/>
              <a:t>as the </a:t>
            </a:r>
            <a:r>
              <a:rPr lang="en-US" sz="1800" dirty="0"/>
              <a:t>next stage is always </a:t>
            </a:r>
            <a:r>
              <a:rPr lang="en-US" sz="1800" dirty="0" smtClean="0"/>
              <a:t>ready</a:t>
            </a:r>
            <a:endParaRPr lang="ru-RU" sz="1800" dirty="0"/>
          </a:p>
        </p:txBody>
      </p:sp>
      <p:sp>
        <p:nvSpPr>
          <p:cNvPr id="191" name="Content Placeholder 3"/>
          <p:cNvSpPr txBox="1">
            <a:spLocks/>
          </p:cNvSpPr>
          <p:nvPr/>
        </p:nvSpPr>
        <p:spPr bwMode="auto">
          <a:xfrm>
            <a:off x="562950" y="5565021"/>
            <a:ext cx="8228012" cy="689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spcBef>
                <a:spcPct val="75000"/>
              </a:spcBef>
              <a:spcAft>
                <a:spcPct val="0"/>
              </a:spcAft>
              <a:defRPr sz="2400" b="0" i="0">
                <a:solidFill>
                  <a:schemeClr val="tx1"/>
                </a:solidFill>
                <a:latin typeface="Neo Sans Intel"/>
                <a:ea typeface="+mn-ea"/>
                <a:cs typeface="Neo Sans Intel"/>
              </a:defRPr>
            </a:lvl1pPr>
            <a:lvl2pPr marL="346075" indent="-344488" algn="l" rtl="0" eaLnBrk="1" fontAlgn="base" hangingPunct="1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Font typeface="Courier New" panose="02070309020205020404" pitchFamily="49" charset="0"/>
              <a:buChar char="o"/>
              <a:defRPr sz="2400" b="0" i="0">
                <a:solidFill>
                  <a:schemeClr val="tx1"/>
                </a:solidFill>
                <a:latin typeface="Neo Sans Intel"/>
                <a:cs typeface="Neo Sans Intel"/>
              </a:defRPr>
            </a:lvl2pPr>
            <a:lvl3pPr marL="684213" indent="-2921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200" b="0" i="0">
                <a:solidFill>
                  <a:schemeClr val="tx1"/>
                </a:solidFill>
                <a:latin typeface="Neo Sans Intel"/>
                <a:cs typeface="Neo Sans Intel"/>
              </a:defRPr>
            </a:lvl3pPr>
            <a:lvl4pPr marL="1030288" indent="-2841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1800" b="0" i="0">
                <a:solidFill>
                  <a:schemeClr val="tx1"/>
                </a:solidFill>
                <a:latin typeface="Neo Sans Intel"/>
                <a:cs typeface="Neo Sans Intel"/>
              </a:defRPr>
            </a:lvl4pPr>
            <a:lvl5pPr marL="1314450" indent="-23018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–"/>
              <a:defRPr sz="1600" b="0" i="0">
                <a:solidFill>
                  <a:schemeClr val="tx1"/>
                </a:solidFill>
                <a:latin typeface="Neo Sans Intel"/>
                <a:cs typeface="Neo Sans Intel"/>
              </a:defRPr>
            </a:lvl5pPr>
            <a:lvl6pPr marL="1219200" indent="-19208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+mn-lt"/>
                <a:cs typeface="+mn-cs"/>
              </a:defRPr>
            </a:lvl6pPr>
            <a:lvl7pPr marL="1676400" indent="-19208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+mn-lt"/>
                <a:cs typeface="+mn-cs"/>
              </a:defRPr>
            </a:lvl7pPr>
            <a:lvl8pPr marL="2133600" indent="-19208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+mn-lt"/>
                <a:cs typeface="+mn-cs"/>
              </a:defRPr>
            </a:lvl8pPr>
            <a:lvl9pPr marL="2590800" indent="-19208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342900" indent="-342900"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en-US" sz="2000" kern="0" dirty="0" smtClean="0">
                <a:latin typeface="+mj-lt"/>
              </a:rPr>
              <a:t>Throughput is still 1 instruction per clock, but the clock cycle is 4 times less (2ns vs. 8 ns)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1552942" y="3337158"/>
            <a:ext cx="3538383" cy="627363"/>
            <a:chOff x="1552942" y="2224644"/>
            <a:chExt cx="3538383" cy="627363"/>
          </a:xfrm>
        </p:grpSpPr>
        <p:sp>
          <p:nvSpPr>
            <p:cNvPr id="130" name="TextBox 129"/>
            <p:cNvSpPr txBox="1"/>
            <p:nvPr/>
          </p:nvSpPr>
          <p:spPr>
            <a:xfrm rot="16200000">
              <a:off x="2545885" y="2387677"/>
              <a:ext cx="51809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>
                  <a:solidFill>
                    <a:schemeClr val="tx2"/>
                  </a:solidFill>
                  <a:latin typeface="+mj-lt"/>
                </a:rPr>
                <a:t>wait</a:t>
              </a:r>
              <a:endParaRPr lang="ru-RU" sz="1400" dirty="0" smtClean="0">
                <a:solidFill>
                  <a:schemeClr val="tx2"/>
                </a:solidFill>
                <a:latin typeface="+mj-lt"/>
              </a:endParaRPr>
            </a:p>
          </p:txBody>
        </p:sp>
        <p:sp>
          <p:nvSpPr>
            <p:cNvPr id="83" name="Rectangle 82"/>
            <p:cNvSpPr/>
            <p:nvPr/>
          </p:nvSpPr>
          <p:spPr bwMode="auto">
            <a:xfrm>
              <a:off x="1552942" y="2224644"/>
              <a:ext cx="707161" cy="627363"/>
            </a:xfrm>
            <a:prstGeom prst="rect">
              <a:avLst/>
            </a:prstGeom>
            <a:solidFill>
              <a:srgbClr val="FFCC99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2000" b="1" dirty="0" smtClean="0">
                  <a:latin typeface="+mj-lt"/>
                  <a:cs typeface="Arial" pitchFamily="34" charset="0"/>
                </a:rPr>
                <a:t>F</a:t>
              </a:r>
              <a:endParaRPr lang="ru-RU" sz="2000" b="1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84" name="Rectangle 83"/>
            <p:cNvSpPr/>
            <p:nvPr/>
          </p:nvSpPr>
          <p:spPr bwMode="auto">
            <a:xfrm>
              <a:off x="2255853" y="2224644"/>
              <a:ext cx="381872" cy="62736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2000" b="1" dirty="0">
                  <a:latin typeface="+mj-lt"/>
                  <a:cs typeface="Arial" pitchFamily="34" charset="0"/>
                </a:rPr>
                <a:t>D</a:t>
              </a:r>
              <a:endParaRPr lang="ru-RU" sz="2000" b="1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85" name="Rectangle 84"/>
            <p:cNvSpPr/>
            <p:nvPr/>
          </p:nvSpPr>
          <p:spPr bwMode="auto">
            <a:xfrm>
              <a:off x="2967763" y="2224644"/>
              <a:ext cx="707161" cy="627363"/>
            </a:xfrm>
            <a:prstGeom prst="rect">
              <a:avLst/>
            </a:prstGeom>
            <a:solidFill>
              <a:srgbClr val="92D050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2000" b="1" dirty="0">
                  <a:latin typeface="+mj-lt"/>
                  <a:cs typeface="Arial" pitchFamily="34" charset="0"/>
                </a:rPr>
                <a:t>E</a:t>
              </a:r>
              <a:endParaRPr lang="ru-RU" sz="2000" b="1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86" name="Rectangle 85"/>
            <p:cNvSpPr/>
            <p:nvPr/>
          </p:nvSpPr>
          <p:spPr bwMode="auto">
            <a:xfrm>
              <a:off x="3677870" y="2224644"/>
              <a:ext cx="707161" cy="627363"/>
            </a:xfrm>
            <a:prstGeom prst="rect">
              <a:avLst/>
            </a:prstGeom>
            <a:solidFill>
              <a:schemeClr val="accent4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2000" b="1" dirty="0" smtClean="0">
                  <a:latin typeface="+mj-lt"/>
                  <a:cs typeface="Arial" pitchFamily="34" charset="0"/>
                </a:rPr>
                <a:t>M</a:t>
              </a:r>
              <a:endParaRPr lang="ru-RU" sz="2000" b="1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87" name="Rectangle 86"/>
            <p:cNvSpPr/>
            <p:nvPr/>
          </p:nvSpPr>
          <p:spPr bwMode="auto">
            <a:xfrm>
              <a:off x="4386534" y="2224644"/>
              <a:ext cx="379435" cy="627363"/>
            </a:xfrm>
            <a:prstGeom prst="rect">
              <a:avLst/>
            </a:prstGeom>
            <a:solidFill>
              <a:schemeClr val="bg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2000" b="1" dirty="0">
                  <a:latin typeface="+mj-lt"/>
                  <a:cs typeface="Arial" pitchFamily="34" charset="0"/>
                </a:rPr>
                <a:t>W</a:t>
              </a:r>
              <a:endParaRPr lang="ru-RU" sz="2000" b="1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94" name="TextBox 93"/>
            <p:cNvSpPr txBox="1"/>
            <p:nvPr/>
          </p:nvSpPr>
          <p:spPr>
            <a:xfrm rot="16200000">
              <a:off x="4678391" y="2387417"/>
              <a:ext cx="51809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>
                  <a:solidFill>
                    <a:schemeClr val="tx2"/>
                  </a:solidFill>
                  <a:latin typeface="+mj-lt"/>
                </a:rPr>
                <a:t>wait</a:t>
              </a:r>
              <a:endParaRPr lang="ru-RU" sz="1400" dirty="0" smtClean="0">
                <a:solidFill>
                  <a:schemeClr val="tx2"/>
                </a:solidFill>
                <a:latin typeface="+mj-lt"/>
              </a:endParaRPr>
            </a:p>
          </p:txBody>
        </p:sp>
      </p:grpSp>
      <p:grpSp>
        <p:nvGrpSpPr>
          <p:cNvPr id="99" name="Group 98"/>
          <p:cNvGrpSpPr/>
          <p:nvPr/>
        </p:nvGrpSpPr>
        <p:grpSpPr>
          <a:xfrm>
            <a:off x="2260925" y="3964120"/>
            <a:ext cx="3538383" cy="627363"/>
            <a:chOff x="1552942" y="2224644"/>
            <a:chExt cx="3538383" cy="627363"/>
          </a:xfrm>
        </p:grpSpPr>
        <p:sp>
          <p:nvSpPr>
            <p:cNvPr id="100" name="TextBox 99"/>
            <p:cNvSpPr txBox="1"/>
            <p:nvPr/>
          </p:nvSpPr>
          <p:spPr>
            <a:xfrm rot="16200000">
              <a:off x="2545885" y="2387677"/>
              <a:ext cx="51809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>
                  <a:solidFill>
                    <a:schemeClr val="tx2"/>
                  </a:solidFill>
                  <a:latin typeface="+mj-lt"/>
                </a:rPr>
                <a:t>wait</a:t>
              </a:r>
              <a:endParaRPr lang="ru-RU" sz="1400" dirty="0" smtClean="0">
                <a:solidFill>
                  <a:schemeClr val="tx2"/>
                </a:solidFill>
                <a:latin typeface="+mj-lt"/>
              </a:endParaRPr>
            </a:p>
          </p:txBody>
        </p:sp>
        <p:sp>
          <p:nvSpPr>
            <p:cNvPr id="101" name="Rectangle 100"/>
            <p:cNvSpPr/>
            <p:nvPr/>
          </p:nvSpPr>
          <p:spPr bwMode="auto">
            <a:xfrm>
              <a:off x="1552942" y="2224644"/>
              <a:ext cx="707161" cy="627363"/>
            </a:xfrm>
            <a:prstGeom prst="rect">
              <a:avLst/>
            </a:prstGeom>
            <a:solidFill>
              <a:srgbClr val="FFCC99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2000" b="1" dirty="0" smtClean="0">
                  <a:latin typeface="+mj-lt"/>
                  <a:cs typeface="Arial" pitchFamily="34" charset="0"/>
                </a:rPr>
                <a:t>F</a:t>
              </a:r>
              <a:endParaRPr lang="ru-RU" sz="2000" b="1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102" name="Rectangle 101"/>
            <p:cNvSpPr/>
            <p:nvPr/>
          </p:nvSpPr>
          <p:spPr bwMode="auto">
            <a:xfrm>
              <a:off x="2261604" y="2224644"/>
              <a:ext cx="381872" cy="62736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2000" b="1" dirty="0">
                  <a:latin typeface="+mj-lt"/>
                  <a:cs typeface="Arial" pitchFamily="34" charset="0"/>
                </a:rPr>
                <a:t>D</a:t>
              </a:r>
              <a:endParaRPr lang="ru-RU" sz="2000" b="1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103" name="Rectangle 102"/>
            <p:cNvSpPr/>
            <p:nvPr/>
          </p:nvSpPr>
          <p:spPr bwMode="auto">
            <a:xfrm>
              <a:off x="2967763" y="2224644"/>
              <a:ext cx="707161" cy="627363"/>
            </a:xfrm>
            <a:prstGeom prst="rect">
              <a:avLst/>
            </a:prstGeom>
            <a:solidFill>
              <a:srgbClr val="92D050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2000" b="1" dirty="0">
                  <a:latin typeface="+mj-lt"/>
                  <a:cs typeface="Arial" pitchFamily="34" charset="0"/>
                </a:rPr>
                <a:t>E</a:t>
              </a:r>
              <a:endParaRPr lang="ru-RU" sz="2000" b="1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104" name="Rectangle 103"/>
            <p:cNvSpPr/>
            <p:nvPr/>
          </p:nvSpPr>
          <p:spPr bwMode="auto">
            <a:xfrm>
              <a:off x="3677870" y="2224644"/>
              <a:ext cx="707161" cy="627363"/>
            </a:xfrm>
            <a:prstGeom prst="rect">
              <a:avLst/>
            </a:prstGeom>
            <a:solidFill>
              <a:schemeClr val="accent4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2000" b="1" dirty="0" smtClean="0">
                  <a:latin typeface="+mj-lt"/>
                  <a:cs typeface="Arial" pitchFamily="34" charset="0"/>
                </a:rPr>
                <a:t>M</a:t>
              </a:r>
              <a:endParaRPr lang="ru-RU" sz="2000" b="1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105" name="Rectangle 104"/>
            <p:cNvSpPr/>
            <p:nvPr/>
          </p:nvSpPr>
          <p:spPr bwMode="auto">
            <a:xfrm>
              <a:off x="4386534" y="2224644"/>
              <a:ext cx="379435" cy="627363"/>
            </a:xfrm>
            <a:prstGeom prst="rect">
              <a:avLst/>
            </a:prstGeom>
            <a:solidFill>
              <a:schemeClr val="bg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2000" b="1" dirty="0">
                  <a:latin typeface="+mj-lt"/>
                  <a:cs typeface="Arial" pitchFamily="34" charset="0"/>
                </a:rPr>
                <a:t>W</a:t>
              </a:r>
              <a:endParaRPr lang="ru-RU" sz="2000" b="1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106" name="TextBox 105"/>
            <p:cNvSpPr txBox="1"/>
            <p:nvPr/>
          </p:nvSpPr>
          <p:spPr>
            <a:xfrm rot="16200000">
              <a:off x="4678391" y="2387417"/>
              <a:ext cx="51809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>
                  <a:solidFill>
                    <a:schemeClr val="tx2"/>
                  </a:solidFill>
                  <a:latin typeface="+mj-lt"/>
                </a:rPr>
                <a:t>wait</a:t>
              </a:r>
              <a:endParaRPr lang="ru-RU" sz="1400" dirty="0" smtClean="0">
                <a:solidFill>
                  <a:schemeClr val="tx2"/>
                </a:solidFill>
                <a:latin typeface="+mj-lt"/>
              </a:endParaRPr>
            </a:p>
          </p:txBody>
        </p:sp>
      </p:grpSp>
      <p:grpSp>
        <p:nvGrpSpPr>
          <p:cNvPr id="111" name="Group 110"/>
          <p:cNvGrpSpPr/>
          <p:nvPr/>
        </p:nvGrpSpPr>
        <p:grpSpPr>
          <a:xfrm>
            <a:off x="2970241" y="4594365"/>
            <a:ext cx="3538383" cy="627363"/>
            <a:chOff x="1552942" y="2224644"/>
            <a:chExt cx="3538383" cy="627363"/>
          </a:xfrm>
        </p:grpSpPr>
        <p:sp>
          <p:nvSpPr>
            <p:cNvPr id="112" name="TextBox 111"/>
            <p:cNvSpPr txBox="1"/>
            <p:nvPr/>
          </p:nvSpPr>
          <p:spPr>
            <a:xfrm rot="16200000">
              <a:off x="2545885" y="2387677"/>
              <a:ext cx="51809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>
                  <a:solidFill>
                    <a:schemeClr val="tx2"/>
                  </a:solidFill>
                  <a:latin typeface="+mj-lt"/>
                </a:rPr>
                <a:t>wait</a:t>
              </a:r>
              <a:endParaRPr lang="ru-RU" sz="1400" dirty="0" smtClean="0">
                <a:solidFill>
                  <a:schemeClr val="tx2"/>
                </a:solidFill>
                <a:latin typeface="+mj-lt"/>
              </a:endParaRPr>
            </a:p>
          </p:txBody>
        </p:sp>
        <p:sp>
          <p:nvSpPr>
            <p:cNvPr id="113" name="Rectangle 112"/>
            <p:cNvSpPr/>
            <p:nvPr/>
          </p:nvSpPr>
          <p:spPr bwMode="auto">
            <a:xfrm>
              <a:off x="1552942" y="2224644"/>
              <a:ext cx="707161" cy="627363"/>
            </a:xfrm>
            <a:prstGeom prst="rect">
              <a:avLst/>
            </a:prstGeom>
            <a:solidFill>
              <a:srgbClr val="FFCC99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2000" b="1" dirty="0" smtClean="0">
                  <a:latin typeface="+mj-lt"/>
                  <a:cs typeface="Arial" pitchFamily="34" charset="0"/>
                </a:rPr>
                <a:t>F</a:t>
              </a:r>
              <a:endParaRPr lang="ru-RU" sz="2000" b="1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114" name="Rectangle 113"/>
            <p:cNvSpPr/>
            <p:nvPr/>
          </p:nvSpPr>
          <p:spPr bwMode="auto">
            <a:xfrm>
              <a:off x="2261604" y="2224644"/>
              <a:ext cx="381872" cy="62736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2000" b="1" dirty="0">
                  <a:latin typeface="+mj-lt"/>
                  <a:cs typeface="Arial" pitchFamily="34" charset="0"/>
                </a:rPr>
                <a:t>D</a:t>
              </a:r>
              <a:endParaRPr lang="ru-RU" sz="2000" b="1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115" name="Rectangle 114"/>
            <p:cNvSpPr/>
            <p:nvPr/>
          </p:nvSpPr>
          <p:spPr bwMode="auto">
            <a:xfrm>
              <a:off x="2967763" y="2224644"/>
              <a:ext cx="707161" cy="627363"/>
            </a:xfrm>
            <a:prstGeom prst="rect">
              <a:avLst/>
            </a:prstGeom>
            <a:solidFill>
              <a:srgbClr val="92D050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2000" b="1" dirty="0">
                  <a:latin typeface="+mj-lt"/>
                  <a:cs typeface="Arial" pitchFamily="34" charset="0"/>
                </a:rPr>
                <a:t>E</a:t>
              </a:r>
              <a:endParaRPr lang="ru-RU" sz="2000" b="1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116" name="Rectangle 115"/>
            <p:cNvSpPr/>
            <p:nvPr/>
          </p:nvSpPr>
          <p:spPr bwMode="auto">
            <a:xfrm>
              <a:off x="3677870" y="2224644"/>
              <a:ext cx="707161" cy="627363"/>
            </a:xfrm>
            <a:prstGeom prst="rect">
              <a:avLst/>
            </a:prstGeom>
            <a:solidFill>
              <a:schemeClr val="accent4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2000" b="1" dirty="0" smtClean="0">
                  <a:latin typeface="+mj-lt"/>
                  <a:cs typeface="Arial" pitchFamily="34" charset="0"/>
                </a:rPr>
                <a:t>M</a:t>
              </a:r>
              <a:endParaRPr lang="ru-RU" sz="2000" b="1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117" name="Rectangle 116"/>
            <p:cNvSpPr/>
            <p:nvPr/>
          </p:nvSpPr>
          <p:spPr bwMode="auto">
            <a:xfrm>
              <a:off x="4386534" y="2224644"/>
              <a:ext cx="379435" cy="627363"/>
            </a:xfrm>
            <a:prstGeom prst="rect">
              <a:avLst/>
            </a:prstGeom>
            <a:solidFill>
              <a:schemeClr val="bg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2000" b="1" dirty="0">
                  <a:latin typeface="+mj-lt"/>
                  <a:cs typeface="Arial" pitchFamily="34" charset="0"/>
                </a:rPr>
                <a:t>W</a:t>
              </a:r>
              <a:endParaRPr lang="ru-RU" sz="2000" b="1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118" name="TextBox 117"/>
            <p:cNvSpPr txBox="1"/>
            <p:nvPr/>
          </p:nvSpPr>
          <p:spPr>
            <a:xfrm rot="16200000">
              <a:off x="4678391" y="2387417"/>
              <a:ext cx="51809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>
                  <a:solidFill>
                    <a:schemeClr val="tx2"/>
                  </a:solidFill>
                  <a:latin typeface="+mj-lt"/>
                </a:rPr>
                <a:t>wait</a:t>
              </a:r>
              <a:endParaRPr lang="ru-RU" sz="1400" dirty="0" smtClean="0">
                <a:solidFill>
                  <a:schemeClr val="tx2"/>
                </a:solidFill>
                <a:latin typeface="+mj-lt"/>
              </a:endParaRP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372277" y="2770371"/>
            <a:ext cx="8488273" cy="2351107"/>
            <a:chOff x="372277" y="2770371"/>
            <a:chExt cx="8488273" cy="2351107"/>
          </a:xfrm>
        </p:grpSpPr>
        <p:sp>
          <p:nvSpPr>
            <p:cNvPr id="95" name="TextBox 94"/>
            <p:cNvSpPr txBox="1"/>
            <p:nvPr/>
          </p:nvSpPr>
          <p:spPr>
            <a:xfrm>
              <a:off x="714702" y="3433030"/>
              <a:ext cx="689972" cy="4001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r>
                <a:rPr lang="en-US" sz="2000" dirty="0" smtClean="0">
                  <a:latin typeface="+mj-lt"/>
                </a:rPr>
                <a:t>PC</a:t>
              </a:r>
              <a:endParaRPr lang="ru-RU" sz="2000" dirty="0" smtClean="0">
                <a:latin typeface="+mj-lt"/>
              </a:endParaRPr>
            </a:p>
          </p:txBody>
        </p:sp>
        <p:sp>
          <p:nvSpPr>
            <p:cNvPr id="96" name="TextBox 95"/>
            <p:cNvSpPr txBox="1"/>
            <p:nvPr/>
          </p:nvSpPr>
          <p:spPr>
            <a:xfrm>
              <a:off x="372277" y="4063650"/>
              <a:ext cx="1032397" cy="4001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r>
                <a:rPr lang="en-US" sz="2000" dirty="0" smtClean="0">
                  <a:latin typeface="+mj-lt"/>
                </a:rPr>
                <a:t>PC + 4</a:t>
              </a:r>
              <a:endParaRPr lang="ru-RU" sz="2000" dirty="0" smtClean="0">
                <a:latin typeface="+mj-lt"/>
              </a:endParaRPr>
            </a:p>
          </p:txBody>
        </p:sp>
        <p:sp>
          <p:nvSpPr>
            <p:cNvPr id="97" name="TextBox 96"/>
            <p:cNvSpPr txBox="1"/>
            <p:nvPr/>
          </p:nvSpPr>
          <p:spPr>
            <a:xfrm>
              <a:off x="372277" y="4721368"/>
              <a:ext cx="1032397" cy="4001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r>
                <a:rPr lang="en-US" sz="2000" dirty="0" smtClean="0">
                  <a:latin typeface="+mj-lt"/>
                </a:rPr>
                <a:t>PC + 8</a:t>
              </a:r>
              <a:endParaRPr lang="ru-RU" sz="2000" dirty="0" smtClean="0">
                <a:latin typeface="+mj-lt"/>
              </a:endParaRPr>
            </a:p>
          </p:txBody>
        </p:sp>
        <p:grpSp>
          <p:nvGrpSpPr>
            <p:cNvPr id="11" name="Group 10"/>
            <p:cNvGrpSpPr/>
            <p:nvPr/>
          </p:nvGrpSpPr>
          <p:grpSpPr>
            <a:xfrm>
              <a:off x="1545440" y="2770371"/>
              <a:ext cx="7315110" cy="431708"/>
              <a:chOff x="1545440" y="2770371"/>
              <a:chExt cx="7315110" cy="431708"/>
            </a:xfrm>
          </p:grpSpPr>
          <p:cxnSp>
            <p:nvCxnSpPr>
              <p:cNvPr id="119" name="Straight Arrow Connector 118"/>
              <p:cNvCxnSpPr/>
              <p:nvPr/>
            </p:nvCxnSpPr>
            <p:spPr bwMode="auto">
              <a:xfrm>
                <a:off x="1545440" y="3160023"/>
                <a:ext cx="7292547" cy="0"/>
              </a:xfrm>
              <a:prstGeom prst="straightConnector1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stealth" w="lg" len="lg"/>
              </a:ln>
              <a:effectLst/>
            </p:spPr>
          </p:cxnSp>
          <p:sp>
            <p:nvSpPr>
              <p:cNvPr id="120" name="TextBox 119"/>
              <p:cNvSpPr txBox="1"/>
              <p:nvPr/>
            </p:nvSpPr>
            <p:spPr>
              <a:xfrm>
                <a:off x="8241470" y="2770371"/>
                <a:ext cx="61908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>
                    <a:latin typeface="+mj-lt"/>
                  </a:rPr>
                  <a:t>time</a:t>
                </a:r>
                <a:endParaRPr lang="ru-RU" dirty="0" smtClean="0">
                  <a:latin typeface="+mj-lt"/>
                </a:endParaRPr>
              </a:p>
            </p:txBody>
          </p:sp>
          <p:grpSp>
            <p:nvGrpSpPr>
              <p:cNvPr id="123" name="Group 122"/>
              <p:cNvGrpSpPr/>
              <p:nvPr/>
            </p:nvGrpSpPr>
            <p:grpSpPr>
              <a:xfrm>
                <a:off x="2722912" y="2805584"/>
                <a:ext cx="513281" cy="394155"/>
                <a:chOff x="5288675" y="3647495"/>
                <a:chExt cx="513281" cy="394155"/>
              </a:xfrm>
            </p:grpSpPr>
            <p:sp>
              <p:nvSpPr>
                <p:cNvPr id="124" name="Oval 123"/>
                <p:cNvSpPr/>
                <p:nvPr/>
              </p:nvSpPr>
              <p:spPr bwMode="auto">
                <a:xfrm>
                  <a:off x="5503487" y="3967297"/>
                  <a:ext cx="74353" cy="74353"/>
                </a:xfrm>
                <a:prstGeom prst="ellipse">
                  <a:avLst/>
                </a:prstGeom>
                <a:solidFill>
                  <a:schemeClr val="tx1"/>
                </a:solidFill>
                <a:ln w="3175" cap="flat" cmpd="sng" algn="ctr">
                  <a:noFill/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ru-RU" sz="2000" b="1" smtClean="0">
                    <a:latin typeface="+mj-lt"/>
                    <a:cs typeface="Arial" pitchFamily="34" charset="0"/>
                  </a:endParaRPr>
                </a:p>
              </p:txBody>
            </p:sp>
            <p:sp>
              <p:nvSpPr>
                <p:cNvPr id="126" name="TextBox 125"/>
                <p:cNvSpPr txBox="1"/>
                <p:nvPr/>
              </p:nvSpPr>
              <p:spPr>
                <a:xfrm>
                  <a:off x="5288675" y="3647495"/>
                  <a:ext cx="51328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dirty="0" smtClean="0">
                      <a:latin typeface="+mj-lt"/>
                    </a:rPr>
                    <a:t>4ns</a:t>
                  </a:r>
                  <a:endParaRPr lang="ru-RU" dirty="0" smtClean="0">
                    <a:latin typeface="+mj-lt"/>
                  </a:endParaRPr>
                </a:p>
              </p:txBody>
            </p:sp>
          </p:grpSp>
          <p:grpSp>
            <p:nvGrpSpPr>
              <p:cNvPr id="127" name="Group 126"/>
              <p:cNvGrpSpPr/>
              <p:nvPr/>
            </p:nvGrpSpPr>
            <p:grpSpPr>
              <a:xfrm>
                <a:off x="4148445" y="2807924"/>
                <a:ext cx="513281" cy="394155"/>
                <a:chOff x="5288674" y="3647495"/>
                <a:chExt cx="513281" cy="394155"/>
              </a:xfrm>
            </p:grpSpPr>
            <p:sp>
              <p:nvSpPr>
                <p:cNvPr id="128" name="Oval 127"/>
                <p:cNvSpPr/>
                <p:nvPr/>
              </p:nvSpPr>
              <p:spPr bwMode="auto">
                <a:xfrm>
                  <a:off x="5503487" y="3967297"/>
                  <a:ext cx="74353" cy="74353"/>
                </a:xfrm>
                <a:prstGeom prst="ellipse">
                  <a:avLst/>
                </a:prstGeom>
                <a:solidFill>
                  <a:schemeClr val="tx1"/>
                </a:solidFill>
                <a:ln w="3175" cap="flat" cmpd="sng" algn="ctr">
                  <a:noFill/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ru-RU" sz="2000" b="1" smtClean="0">
                    <a:latin typeface="+mj-lt"/>
                    <a:cs typeface="Arial" pitchFamily="34" charset="0"/>
                  </a:endParaRPr>
                </a:p>
              </p:txBody>
            </p:sp>
            <p:sp>
              <p:nvSpPr>
                <p:cNvPr id="131" name="TextBox 130"/>
                <p:cNvSpPr txBox="1"/>
                <p:nvPr/>
              </p:nvSpPr>
              <p:spPr>
                <a:xfrm>
                  <a:off x="5288674" y="3647495"/>
                  <a:ext cx="51328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dirty="0">
                      <a:latin typeface="+mj-lt"/>
                    </a:rPr>
                    <a:t>8</a:t>
                  </a:r>
                  <a:r>
                    <a:rPr lang="en-US" dirty="0" smtClean="0">
                      <a:latin typeface="+mj-lt"/>
                    </a:rPr>
                    <a:t>ns</a:t>
                  </a:r>
                  <a:endParaRPr lang="ru-RU" dirty="0" smtClean="0">
                    <a:latin typeface="+mj-lt"/>
                  </a:endParaRPr>
                </a:p>
              </p:txBody>
            </p:sp>
          </p:grpSp>
          <p:grpSp>
            <p:nvGrpSpPr>
              <p:cNvPr id="132" name="Group 131"/>
              <p:cNvGrpSpPr/>
              <p:nvPr/>
            </p:nvGrpSpPr>
            <p:grpSpPr>
              <a:xfrm>
                <a:off x="5515950" y="2794814"/>
                <a:ext cx="630301" cy="394155"/>
                <a:chOff x="5230165" y="3647495"/>
                <a:chExt cx="630301" cy="394155"/>
              </a:xfrm>
            </p:grpSpPr>
            <p:sp>
              <p:nvSpPr>
                <p:cNvPr id="133" name="Oval 132"/>
                <p:cNvSpPr/>
                <p:nvPr/>
              </p:nvSpPr>
              <p:spPr bwMode="auto">
                <a:xfrm>
                  <a:off x="5503487" y="3967297"/>
                  <a:ext cx="74353" cy="74353"/>
                </a:xfrm>
                <a:prstGeom prst="ellipse">
                  <a:avLst/>
                </a:prstGeom>
                <a:solidFill>
                  <a:schemeClr val="tx1"/>
                </a:solidFill>
                <a:ln w="3175" cap="flat" cmpd="sng" algn="ctr">
                  <a:noFill/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ru-RU" sz="2000" b="1" smtClean="0">
                    <a:latin typeface="+mj-lt"/>
                    <a:cs typeface="Arial" pitchFamily="34" charset="0"/>
                  </a:endParaRPr>
                </a:p>
              </p:txBody>
            </p:sp>
            <p:sp>
              <p:nvSpPr>
                <p:cNvPr id="134" name="TextBox 133"/>
                <p:cNvSpPr txBox="1"/>
                <p:nvPr/>
              </p:nvSpPr>
              <p:spPr>
                <a:xfrm>
                  <a:off x="5230165" y="3647495"/>
                  <a:ext cx="63030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dirty="0" smtClean="0">
                      <a:latin typeface="+mj-lt"/>
                    </a:rPr>
                    <a:t>12ns</a:t>
                  </a:r>
                  <a:endParaRPr lang="ru-RU" dirty="0" smtClean="0">
                    <a:latin typeface="+mj-lt"/>
                  </a:endParaRPr>
                </a:p>
              </p:txBody>
            </p:sp>
          </p:grpSp>
          <p:grpSp>
            <p:nvGrpSpPr>
              <p:cNvPr id="135" name="Group 134"/>
              <p:cNvGrpSpPr/>
              <p:nvPr/>
            </p:nvGrpSpPr>
            <p:grpSpPr>
              <a:xfrm>
                <a:off x="6953279" y="2799268"/>
                <a:ext cx="630301" cy="394155"/>
                <a:chOff x="5230165" y="3647495"/>
                <a:chExt cx="630301" cy="394155"/>
              </a:xfrm>
            </p:grpSpPr>
            <p:sp>
              <p:nvSpPr>
                <p:cNvPr id="136" name="Oval 135"/>
                <p:cNvSpPr/>
                <p:nvPr/>
              </p:nvSpPr>
              <p:spPr bwMode="auto">
                <a:xfrm>
                  <a:off x="5503487" y="3967297"/>
                  <a:ext cx="74353" cy="74353"/>
                </a:xfrm>
                <a:prstGeom prst="ellipse">
                  <a:avLst/>
                </a:prstGeom>
                <a:solidFill>
                  <a:schemeClr val="tx1"/>
                </a:solidFill>
                <a:ln w="3175" cap="flat" cmpd="sng" algn="ctr">
                  <a:noFill/>
                  <a:prstDash val="solid"/>
                  <a:round/>
                  <a:headEnd type="none" w="sm" len="sm"/>
                  <a:tailEnd type="none" w="sm" len="sm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eaLnBrk="0" hangingPunct="0"/>
                  <a:endParaRPr lang="ru-RU" sz="2000" b="1" smtClean="0">
                    <a:latin typeface="+mj-lt"/>
                    <a:cs typeface="Arial" pitchFamily="34" charset="0"/>
                  </a:endParaRPr>
                </a:p>
              </p:txBody>
            </p:sp>
            <p:sp>
              <p:nvSpPr>
                <p:cNvPr id="137" name="TextBox 136"/>
                <p:cNvSpPr txBox="1"/>
                <p:nvPr/>
              </p:nvSpPr>
              <p:spPr>
                <a:xfrm>
                  <a:off x="5230165" y="3647495"/>
                  <a:ext cx="63030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dirty="0" smtClean="0">
                      <a:latin typeface="+mj-lt"/>
                    </a:rPr>
                    <a:t>16ns</a:t>
                  </a:r>
                  <a:endParaRPr lang="ru-RU" dirty="0" smtClean="0">
                    <a:latin typeface="+mj-lt"/>
                  </a:endParaRPr>
                </a:p>
              </p:txBody>
            </p:sp>
          </p:grpSp>
        </p:grpSp>
      </p:grpSp>
      <p:grpSp>
        <p:nvGrpSpPr>
          <p:cNvPr id="10" name="Group 9"/>
          <p:cNvGrpSpPr/>
          <p:nvPr/>
        </p:nvGrpSpPr>
        <p:grpSpPr>
          <a:xfrm>
            <a:off x="1546014" y="3210554"/>
            <a:ext cx="5696578" cy="2176981"/>
            <a:chOff x="1546014" y="3210554"/>
            <a:chExt cx="5696578" cy="2387577"/>
          </a:xfrm>
        </p:grpSpPr>
        <p:cxnSp>
          <p:nvCxnSpPr>
            <p:cNvPr id="7" name="Straight Connector 6"/>
            <p:cNvCxnSpPr/>
            <p:nvPr/>
          </p:nvCxnSpPr>
          <p:spPr bwMode="auto">
            <a:xfrm>
              <a:off x="2260610" y="3210554"/>
              <a:ext cx="0" cy="2362200"/>
            </a:xfrm>
            <a:prstGeom prst="line">
              <a:avLst/>
            </a:prstGeom>
            <a:solidFill>
              <a:schemeClr val="bg1"/>
            </a:solidFill>
            <a:ln w="9525" cap="flat" cmpd="sng" algn="ctr">
              <a:solidFill>
                <a:schemeClr val="tx2">
                  <a:lumMod val="50000"/>
                </a:schemeClr>
              </a:solidFill>
              <a:prstDash val="lgDash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7" name="Straight Connector 106"/>
            <p:cNvCxnSpPr/>
            <p:nvPr/>
          </p:nvCxnSpPr>
          <p:spPr bwMode="auto">
            <a:xfrm>
              <a:off x="2972335" y="3210554"/>
              <a:ext cx="0" cy="2362200"/>
            </a:xfrm>
            <a:prstGeom prst="line">
              <a:avLst/>
            </a:prstGeom>
            <a:solidFill>
              <a:schemeClr val="bg1"/>
            </a:solidFill>
            <a:ln w="9525" cap="flat" cmpd="sng" algn="ctr">
              <a:solidFill>
                <a:schemeClr val="tx2">
                  <a:lumMod val="50000"/>
                </a:schemeClr>
              </a:solidFill>
              <a:prstDash val="lgDash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8" name="Straight Connector 107"/>
            <p:cNvCxnSpPr/>
            <p:nvPr/>
          </p:nvCxnSpPr>
          <p:spPr bwMode="auto">
            <a:xfrm>
              <a:off x="3678034" y="3210554"/>
              <a:ext cx="0" cy="2362200"/>
            </a:xfrm>
            <a:prstGeom prst="line">
              <a:avLst/>
            </a:prstGeom>
            <a:solidFill>
              <a:schemeClr val="bg1"/>
            </a:solidFill>
            <a:ln w="9525" cap="flat" cmpd="sng" algn="ctr">
              <a:solidFill>
                <a:schemeClr val="tx2">
                  <a:lumMod val="50000"/>
                </a:schemeClr>
              </a:solidFill>
              <a:prstDash val="lgDash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9" name="Straight Connector 108"/>
            <p:cNvCxnSpPr/>
            <p:nvPr/>
          </p:nvCxnSpPr>
          <p:spPr bwMode="auto">
            <a:xfrm>
              <a:off x="4385626" y="3210554"/>
              <a:ext cx="0" cy="2362200"/>
            </a:xfrm>
            <a:prstGeom prst="line">
              <a:avLst/>
            </a:prstGeom>
            <a:solidFill>
              <a:schemeClr val="bg1"/>
            </a:solidFill>
            <a:ln w="9525" cap="flat" cmpd="sng" algn="ctr">
              <a:solidFill>
                <a:schemeClr val="tx2">
                  <a:lumMod val="50000"/>
                </a:schemeClr>
              </a:solidFill>
              <a:prstDash val="lgDash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9" name="Straight Connector 128"/>
            <p:cNvCxnSpPr/>
            <p:nvPr/>
          </p:nvCxnSpPr>
          <p:spPr bwMode="auto">
            <a:xfrm>
              <a:off x="1546014" y="3210554"/>
              <a:ext cx="0" cy="2362200"/>
            </a:xfrm>
            <a:prstGeom prst="line">
              <a:avLst/>
            </a:prstGeom>
            <a:solidFill>
              <a:schemeClr val="bg1"/>
            </a:solidFill>
            <a:ln w="9525" cap="flat" cmpd="sng" algn="ctr">
              <a:solidFill>
                <a:schemeClr val="tx2">
                  <a:lumMod val="50000"/>
                </a:schemeClr>
              </a:solidFill>
              <a:prstDash val="lgDashDot"/>
              <a:round/>
              <a:headEnd type="none" w="med" len="med"/>
              <a:tailEnd type="none" w="med" len="med"/>
            </a:ln>
            <a:effectLst/>
          </p:spPr>
        </p:cxnSp>
        <p:grpSp>
          <p:nvGrpSpPr>
            <p:cNvPr id="3" name="Group 2"/>
            <p:cNvGrpSpPr/>
            <p:nvPr/>
          </p:nvGrpSpPr>
          <p:grpSpPr>
            <a:xfrm>
              <a:off x="5098340" y="3212484"/>
              <a:ext cx="1417424" cy="2362200"/>
              <a:chOff x="2413010" y="2250440"/>
              <a:chExt cx="1417424" cy="2362200"/>
            </a:xfrm>
          </p:grpSpPr>
          <p:cxnSp>
            <p:nvCxnSpPr>
              <p:cNvPr id="88" name="Straight Connector 87"/>
              <p:cNvCxnSpPr/>
              <p:nvPr/>
            </p:nvCxnSpPr>
            <p:spPr bwMode="auto">
              <a:xfrm>
                <a:off x="2413010" y="2250440"/>
                <a:ext cx="0" cy="2362200"/>
              </a:xfrm>
              <a:prstGeom prst="lin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2">
                    <a:lumMod val="50000"/>
                  </a:schemeClr>
                </a:solidFill>
                <a:prstDash val="lgDashDot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89" name="Straight Connector 88"/>
              <p:cNvCxnSpPr/>
              <p:nvPr/>
            </p:nvCxnSpPr>
            <p:spPr bwMode="auto">
              <a:xfrm>
                <a:off x="3124735" y="2250440"/>
                <a:ext cx="0" cy="2362200"/>
              </a:xfrm>
              <a:prstGeom prst="lin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2">
                    <a:lumMod val="50000"/>
                  </a:schemeClr>
                </a:solidFill>
                <a:prstDash val="lgDashDot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90" name="Straight Connector 89"/>
              <p:cNvCxnSpPr/>
              <p:nvPr/>
            </p:nvCxnSpPr>
            <p:spPr bwMode="auto">
              <a:xfrm>
                <a:off x="3830434" y="2250440"/>
                <a:ext cx="0" cy="2362200"/>
              </a:xfrm>
              <a:prstGeom prst="lin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2">
                    <a:lumMod val="50000"/>
                  </a:schemeClr>
                </a:solidFill>
                <a:prstDash val="lgDashDot"/>
                <a:round/>
                <a:headEnd type="none" w="med" len="med"/>
                <a:tailEnd type="none" w="med" len="med"/>
              </a:ln>
              <a:effectLst/>
            </p:spPr>
          </p:cxnSp>
        </p:grpSp>
        <p:cxnSp>
          <p:nvCxnSpPr>
            <p:cNvPr id="138" name="Straight Connector 137"/>
            <p:cNvCxnSpPr/>
            <p:nvPr/>
          </p:nvCxnSpPr>
          <p:spPr bwMode="auto">
            <a:xfrm>
              <a:off x="7242592" y="3235931"/>
              <a:ext cx="0" cy="2362200"/>
            </a:xfrm>
            <a:prstGeom prst="line">
              <a:avLst/>
            </a:prstGeom>
            <a:solidFill>
              <a:schemeClr val="bg1"/>
            </a:solidFill>
            <a:ln w="9525" cap="flat" cmpd="sng" algn="ctr">
              <a:solidFill>
                <a:schemeClr val="tx2">
                  <a:lumMod val="50000"/>
                </a:schemeClr>
              </a:solidFill>
              <a:prstDash val="lgDashDot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18" name="Group 17"/>
          <p:cNvGrpSpPr/>
          <p:nvPr/>
        </p:nvGrpSpPr>
        <p:grpSpPr>
          <a:xfrm>
            <a:off x="391716" y="2229527"/>
            <a:ext cx="6841418" cy="646331"/>
            <a:chOff x="391716" y="2229527"/>
            <a:chExt cx="6841418" cy="646331"/>
          </a:xfrm>
        </p:grpSpPr>
        <p:sp>
          <p:nvSpPr>
            <p:cNvPr id="122" name="TextBox 121"/>
            <p:cNvSpPr txBox="1"/>
            <p:nvPr/>
          </p:nvSpPr>
          <p:spPr>
            <a:xfrm>
              <a:off x="391716" y="2229527"/>
              <a:ext cx="120135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 smtClean="0">
                  <a:solidFill>
                    <a:srgbClr val="C00000"/>
                  </a:solidFill>
                  <a:latin typeface="+mj-lt"/>
                </a:rPr>
                <a:t>Sync signal</a:t>
              </a:r>
            </a:p>
            <a:p>
              <a:pPr algn="ctr"/>
              <a:r>
                <a:rPr lang="en-US" dirty="0" smtClean="0">
                  <a:solidFill>
                    <a:srgbClr val="C00000"/>
                  </a:solidFill>
                  <a:latin typeface="+mj-lt"/>
                </a:rPr>
                <a:t>(clocks) </a:t>
              </a:r>
              <a:endParaRPr lang="ru-RU" dirty="0" smtClean="0">
                <a:solidFill>
                  <a:srgbClr val="C00000"/>
                </a:solidFill>
                <a:latin typeface="+mj-lt"/>
              </a:endParaRPr>
            </a:p>
          </p:txBody>
        </p:sp>
        <p:grpSp>
          <p:nvGrpSpPr>
            <p:cNvPr id="9" name="Group 8"/>
            <p:cNvGrpSpPr/>
            <p:nvPr/>
          </p:nvGrpSpPr>
          <p:grpSpPr>
            <a:xfrm>
              <a:off x="1547446" y="2392679"/>
              <a:ext cx="5685688" cy="433754"/>
              <a:chOff x="1547446" y="4818185"/>
              <a:chExt cx="5685688" cy="433754"/>
            </a:xfrm>
          </p:grpSpPr>
          <p:sp>
            <p:nvSpPr>
              <p:cNvPr id="6" name="Freeform 5"/>
              <p:cNvSpPr/>
              <p:nvPr/>
            </p:nvSpPr>
            <p:spPr bwMode="auto">
              <a:xfrm flipV="1">
                <a:off x="1547446" y="4818185"/>
                <a:ext cx="703385" cy="410307"/>
              </a:xfrm>
              <a:custGeom>
                <a:avLst/>
                <a:gdLst>
                  <a:gd name="connsiteX0" fmla="*/ 0 w 703385"/>
                  <a:gd name="connsiteY0" fmla="*/ 410307 h 410307"/>
                  <a:gd name="connsiteX1" fmla="*/ 351692 w 703385"/>
                  <a:gd name="connsiteY1" fmla="*/ 410307 h 410307"/>
                  <a:gd name="connsiteX2" fmla="*/ 351692 w 703385"/>
                  <a:gd name="connsiteY2" fmla="*/ 0 h 410307"/>
                  <a:gd name="connsiteX3" fmla="*/ 703385 w 703385"/>
                  <a:gd name="connsiteY3" fmla="*/ 0 h 410307"/>
                  <a:gd name="connsiteX4" fmla="*/ 703385 w 703385"/>
                  <a:gd name="connsiteY4" fmla="*/ 398584 h 410307"/>
                  <a:gd name="connsiteX5" fmla="*/ 691662 w 703385"/>
                  <a:gd name="connsiteY5" fmla="*/ 410307 h 4103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03385" h="410307">
                    <a:moveTo>
                      <a:pt x="0" y="410307"/>
                    </a:moveTo>
                    <a:lnTo>
                      <a:pt x="351692" y="410307"/>
                    </a:lnTo>
                    <a:lnTo>
                      <a:pt x="351692" y="0"/>
                    </a:lnTo>
                    <a:lnTo>
                      <a:pt x="703385" y="0"/>
                    </a:lnTo>
                    <a:lnTo>
                      <a:pt x="703385" y="398584"/>
                    </a:lnTo>
                    <a:lnTo>
                      <a:pt x="691662" y="410307"/>
                    </a:lnTo>
                  </a:path>
                </a:pathLst>
              </a:custGeom>
              <a:noFill/>
              <a:ln w="19050" cap="flat" cmpd="sng" algn="ctr">
                <a:solidFill>
                  <a:srgbClr val="C00000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rtlCol="0" anchor="ctr"/>
              <a:lstStyle/>
              <a:p>
                <a:pPr algn="ctr"/>
                <a:endParaRPr lang="ru-RU">
                  <a:latin typeface="+mj-lt"/>
                </a:endParaRPr>
              </a:p>
            </p:txBody>
          </p:sp>
          <p:sp>
            <p:nvSpPr>
              <p:cNvPr id="139" name="Freeform 138"/>
              <p:cNvSpPr/>
              <p:nvPr/>
            </p:nvSpPr>
            <p:spPr bwMode="auto">
              <a:xfrm flipV="1">
                <a:off x="2262550" y="4818185"/>
                <a:ext cx="703385" cy="410307"/>
              </a:xfrm>
              <a:custGeom>
                <a:avLst/>
                <a:gdLst>
                  <a:gd name="connsiteX0" fmla="*/ 0 w 703385"/>
                  <a:gd name="connsiteY0" fmla="*/ 410307 h 410307"/>
                  <a:gd name="connsiteX1" fmla="*/ 351692 w 703385"/>
                  <a:gd name="connsiteY1" fmla="*/ 410307 h 410307"/>
                  <a:gd name="connsiteX2" fmla="*/ 351692 w 703385"/>
                  <a:gd name="connsiteY2" fmla="*/ 0 h 410307"/>
                  <a:gd name="connsiteX3" fmla="*/ 703385 w 703385"/>
                  <a:gd name="connsiteY3" fmla="*/ 0 h 410307"/>
                  <a:gd name="connsiteX4" fmla="*/ 703385 w 703385"/>
                  <a:gd name="connsiteY4" fmla="*/ 398584 h 410307"/>
                  <a:gd name="connsiteX5" fmla="*/ 691662 w 703385"/>
                  <a:gd name="connsiteY5" fmla="*/ 410307 h 4103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03385" h="410307">
                    <a:moveTo>
                      <a:pt x="0" y="410307"/>
                    </a:moveTo>
                    <a:lnTo>
                      <a:pt x="351692" y="410307"/>
                    </a:lnTo>
                    <a:lnTo>
                      <a:pt x="351692" y="0"/>
                    </a:lnTo>
                    <a:lnTo>
                      <a:pt x="703385" y="0"/>
                    </a:lnTo>
                    <a:lnTo>
                      <a:pt x="703385" y="398584"/>
                    </a:lnTo>
                    <a:lnTo>
                      <a:pt x="691662" y="410307"/>
                    </a:lnTo>
                  </a:path>
                </a:pathLst>
              </a:custGeom>
              <a:noFill/>
              <a:ln w="19050" cap="flat" cmpd="sng" algn="ctr">
                <a:solidFill>
                  <a:srgbClr val="C00000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rtlCol="0" anchor="ctr"/>
              <a:lstStyle/>
              <a:p>
                <a:pPr algn="ctr"/>
                <a:endParaRPr lang="ru-RU">
                  <a:latin typeface="+mj-lt"/>
                </a:endParaRPr>
              </a:p>
            </p:txBody>
          </p:sp>
          <p:sp>
            <p:nvSpPr>
              <p:cNvPr id="141" name="Freeform 140"/>
              <p:cNvSpPr/>
              <p:nvPr/>
            </p:nvSpPr>
            <p:spPr bwMode="auto">
              <a:xfrm flipV="1">
                <a:off x="2965938" y="4818185"/>
                <a:ext cx="703385" cy="410307"/>
              </a:xfrm>
              <a:custGeom>
                <a:avLst/>
                <a:gdLst>
                  <a:gd name="connsiteX0" fmla="*/ 0 w 703385"/>
                  <a:gd name="connsiteY0" fmla="*/ 410307 h 410307"/>
                  <a:gd name="connsiteX1" fmla="*/ 351692 w 703385"/>
                  <a:gd name="connsiteY1" fmla="*/ 410307 h 410307"/>
                  <a:gd name="connsiteX2" fmla="*/ 351692 w 703385"/>
                  <a:gd name="connsiteY2" fmla="*/ 0 h 410307"/>
                  <a:gd name="connsiteX3" fmla="*/ 703385 w 703385"/>
                  <a:gd name="connsiteY3" fmla="*/ 0 h 410307"/>
                  <a:gd name="connsiteX4" fmla="*/ 703385 w 703385"/>
                  <a:gd name="connsiteY4" fmla="*/ 398584 h 410307"/>
                  <a:gd name="connsiteX5" fmla="*/ 691662 w 703385"/>
                  <a:gd name="connsiteY5" fmla="*/ 410307 h 4103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03385" h="410307">
                    <a:moveTo>
                      <a:pt x="0" y="410307"/>
                    </a:moveTo>
                    <a:lnTo>
                      <a:pt x="351692" y="410307"/>
                    </a:lnTo>
                    <a:lnTo>
                      <a:pt x="351692" y="0"/>
                    </a:lnTo>
                    <a:lnTo>
                      <a:pt x="703385" y="0"/>
                    </a:lnTo>
                    <a:lnTo>
                      <a:pt x="703385" y="398584"/>
                    </a:lnTo>
                    <a:lnTo>
                      <a:pt x="691662" y="410307"/>
                    </a:lnTo>
                  </a:path>
                </a:pathLst>
              </a:custGeom>
              <a:noFill/>
              <a:ln w="19050" cap="flat" cmpd="sng" algn="ctr">
                <a:solidFill>
                  <a:srgbClr val="C00000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rtlCol="0" anchor="ctr"/>
              <a:lstStyle/>
              <a:p>
                <a:pPr algn="ctr"/>
                <a:endParaRPr lang="ru-RU">
                  <a:latin typeface="+mj-lt"/>
                </a:endParaRPr>
              </a:p>
            </p:txBody>
          </p:sp>
          <p:sp>
            <p:nvSpPr>
              <p:cNvPr id="155" name="Freeform 154"/>
              <p:cNvSpPr/>
              <p:nvPr/>
            </p:nvSpPr>
            <p:spPr bwMode="auto">
              <a:xfrm flipV="1">
                <a:off x="3681042" y="4818185"/>
                <a:ext cx="703385" cy="410307"/>
              </a:xfrm>
              <a:custGeom>
                <a:avLst/>
                <a:gdLst>
                  <a:gd name="connsiteX0" fmla="*/ 0 w 703385"/>
                  <a:gd name="connsiteY0" fmla="*/ 410307 h 410307"/>
                  <a:gd name="connsiteX1" fmla="*/ 351692 w 703385"/>
                  <a:gd name="connsiteY1" fmla="*/ 410307 h 410307"/>
                  <a:gd name="connsiteX2" fmla="*/ 351692 w 703385"/>
                  <a:gd name="connsiteY2" fmla="*/ 0 h 410307"/>
                  <a:gd name="connsiteX3" fmla="*/ 703385 w 703385"/>
                  <a:gd name="connsiteY3" fmla="*/ 0 h 410307"/>
                  <a:gd name="connsiteX4" fmla="*/ 703385 w 703385"/>
                  <a:gd name="connsiteY4" fmla="*/ 398584 h 410307"/>
                  <a:gd name="connsiteX5" fmla="*/ 691662 w 703385"/>
                  <a:gd name="connsiteY5" fmla="*/ 410307 h 4103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03385" h="410307">
                    <a:moveTo>
                      <a:pt x="0" y="410307"/>
                    </a:moveTo>
                    <a:lnTo>
                      <a:pt x="351692" y="410307"/>
                    </a:lnTo>
                    <a:lnTo>
                      <a:pt x="351692" y="0"/>
                    </a:lnTo>
                    <a:lnTo>
                      <a:pt x="703385" y="0"/>
                    </a:lnTo>
                    <a:lnTo>
                      <a:pt x="703385" y="398584"/>
                    </a:lnTo>
                    <a:lnTo>
                      <a:pt x="691662" y="410307"/>
                    </a:lnTo>
                  </a:path>
                </a:pathLst>
              </a:custGeom>
              <a:noFill/>
              <a:ln w="19050" cap="flat" cmpd="sng" algn="ctr">
                <a:solidFill>
                  <a:srgbClr val="C00000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rtlCol="0" anchor="ctr"/>
              <a:lstStyle/>
              <a:p>
                <a:pPr algn="ctr"/>
                <a:endParaRPr lang="ru-RU">
                  <a:latin typeface="+mj-lt"/>
                </a:endParaRPr>
              </a:p>
            </p:txBody>
          </p:sp>
          <p:sp>
            <p:nvSpPr>
              <p:cNvPr id="156" name="Freeform 155"/>
              <p:cNvSpPr/>
              <p:nvPr/>
            </p:nvSpPr>
            <p:spPr bwMode="auto">
              <a:xfrm flipV="1">
                <a:off x="4396153" y="4841632"/>
                <a:ext cx="703385" cy="410307"/>
              </a:xfrm>
              <a:custGeom>
                <a:avLst/>
                <a:gdLst>
                  <a:gd name="connsiteX0" fmla="*/ 0 w 703385"/>
                  <a:gd name="connsiteY0" fmla="*/ 410307 h 410307"/>
                  <a:gd name="connsiteX1" fmla="*/ 351692 w 703385"/>
                  <a:gd name="connsiteY1" fmla="*/ 410307 h 410307"/>
                  <a:gd name="connsiteX2" fmla="*/ 351692 w 703385"/>
                  <a:gd name="connsiteY2" fmla="*/ 0 h 410307"/>
                  <a:gd name="connsiteX3" fmla="*/ 703385 w 703385"/>
                  <a:gd name="connsiteY3" fmla="*/ 0 h 410307"/>
                  <a:gd name="connsiteX4" fmla="*/ 703385 w 703385"/>
                  <a:gd name="connsiteY4" fmla="*/ 398584 h 410307"/>
                  <a:gd name="connsiteX5" fmla="*/ 691662 w 703385"/>
                  <a:gd name="connsiteY5" fmla="*/ 410307 h 4103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03385" h="410307">
                    <a:moveTo>
                      <a:pt x="0" y="410307"/>
                    </a:moveTo>
                    <a:lnTo>
                      <a:pt x="351692" y="410307"/>
                    </a:lnTo>
                    <a:lnTo>
                      <a:pt x="351692" y="0"/>
                    </a:lnTo>
                    <a:lnTo>
                      <a:pt x="703385" y="0"/>
                    </a:lnTo>
                    <a:lnTo>
                      <a:pt x="703385" y="398584"/>
                    </a:lnTo>
                    <a:lnTo>
                      <a:pt x="691662" y="410307"/>
                    </a:lnTo>
                  </a:path>
                </a:pathLst>
              </a:custGeom>
              <a:noFill/>
              <a:ln w="19050" cap="flat" cmpd="sng" algn="ctr">
                <a:solidFill>
                  <a:srgbClr val="C00000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rtlCol="0" anchor="ctr"/>
              <a:lstStyle/>
              <a:p>
                <a:pPr algn="ctr"/>
                <a:endParaRPr lang="ru-RU">
                  <a:latin typeface="+mj-lt"/>
                </a:endParaRPr>
              </a:p>
            </p:txBody>
          </p:sp>
          <p:sp>
            <p:nvSpPr>
              <p:cNvPr id="157" name="Freeform 156"/>
              <p:cNvSpPr/>
              <p:nvPr/>
            </p:nvSpPr>
            <p:spPr bwMode="auto">
              <a:xfrm flipV="1">
                <a:off x="5111257" y="4841632"/>
                <a:ext cx="703385" cy="410307"/>
              </a:xfrm>
              <a:custGeom>
                <a:avLst/>
                <a:gdLst>
                  <a:gd name="connsiteX0" fmla="*/ 0 w 703385"/>
                  <a:gd name="connsiteY0" fmla="*/ 410307 h 410307"/>
                  <a:gd name="connsiteX1" fmla="*/ 351692 w 703385"/>
                  <a:gd name="connsiteY1" fmla="*/ 410307 h 410307"/>
                  <a:gd name="connsiteX2" fmla="*/ 351692 w 703385"/>
                  <a:gd name="connsiteY2" fmla="*/ 0 h 410307"/>
                  <a:gd name="connsiteX3" fmla="*/ 703385 w 703385"/>
                  <a:gd name="connsiteY3" fmla="*/ 0 h 410307"/>
                  <a:gd name="connsiteX4" fmla="*/ 703385 w 703385"/>
                  <a:gd name="connsiteY4" fmla="*/ 398584 h 410307"/>
                  <a:gd name="connsiteX5" fmla="*/ 691662 w 703385"/>
                  <a:gd name="connsiteY5" fmla="*/ 410307 h 4103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03385" h="410307">
                    <a:moveTo>
                      <a:pt x="0" y="410307"/>
                    </a:moveTo>
                    <a:lnTo>
                      <a:pt x="351692" y="410307"/>
                    </a:lnTo>
                    <a:lnTo>
                      <a:pt x="351692" y="0"/>
                    </a:lnTo>
                    <a:lnTo>
                      <a:pt x="703385" y="0"/>
                    </a:lnTo>
                    <a:lnTo>
                      <a:pt x="703385" y="398584"/>
                    </a:lnTo>
                    <a:lnTo>
                      <a:pt x="691662" y="410307"/>
                    </a:lnTo>
                  </a:path>
                </a:pathLst>
              </a:custGeom>
              <a:noFill/>
              <a:ln w="19050" cap="flat" cmpd="sng" algn="ctr">
                <a:solidFill>
                  <a:srgbClr val="C00000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rtlCol="0" anchor="ctr"/>
              <a:lstStyle/>
              <a:p>
                <a:pPr algn="ctr"/>
                <a:endParaRPr lang="ru-RU">
                  <a:latin typeface="+mj-lt"/>
                </a:endParaRPr>
              </a:p>
            </p:txBody>
          </p:sp>
          <p:sp>
            <p:nvSpPr>
              <p:cNvPr id="158" name="Freeform 157"/>
              <p:cNvSpPr/>
              <p:nvPr/>
            </p:nvSpPr>
            <p:spPr bwMode="auto">
              <a:xfrm flipV="1">
                <a:off x="5814645" y="4841632"/>
                <a:ext cx="703385" cy="410307"/>
              </a:xfrm>
              <a:custGeom>
                <a:avLst/>
                <a:gdLst>
                  <a:gd name="connsiteX0" fmla="*/ 0 w 703385"/>
                  <a:gd name="connsiteY0" fmla="*/ 410307 h 410307"/>
                  <a:gd name="connsiteX1" fmla="*/ 351692 w 703385"/>
                  <a:gd name="connsiteY1" fmla="*/ 410307 h 410307"/>
                  <a:gd name="connsiteX2" fmla="*/ 351692 w 703385"/>
                  <a:gd name="connsiteY2" fmla="*/ 0 h 410307"/>
                  <a:gd name="connsiteX3" fmla="*/ 703385 w 703385"/>
                  <a:gd name="connsiteY3" fmla="*/ 0 h 410307"/>
                  <a:gd name="connsiteX4" fmla="*/ 703385 w 703385"/>
                  <a:gd name="connsiteY4" fmla="*/ 398584 h 410307"/>
                  <a:gd name="connsiteX5" fmla="*/ 691662 w 703385"/>
                  <a:gd name="connsiteY5" fmla="*/ 410307 h 4103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03385" h="410307">
                    <a:moveTo>
                      <a:pt x="0" y="410307"/>
                    </a:moveTo>
                    <a:lnTo>
                      <a:pt x="351692" y="410307"/>
                    </a:lnTo>
                    <a:lnTo>
                      <a:pt x="351692" y="0"/>
                    </a:lnTo>
                    <a:lnTo>
                      <a:pt x="703385" y="0"/>
                    </a:lnTo>
                    <a:lnTo>
                      <a:pt x="703385" y="398584"/>
                    </a:lnTo>
                    <a:lnTo>
                      <a:pt x="691662" y="410307"/>
                    </a:lnTo>
                  </a:path>
                </a:pathLst>
              </a:custGeom>
              <a:noFill/>
              <a:ln w="19050" cap="flat" cmpd="sng" algn="ctr">
                <a:solidFill>
                  <a:srgbClr val="C00000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rtlCol="0" anchor="ctr"/>
              <a:lstStyle/>
              <a:p>
                <a:pPr algn="ctr"/>
                <a:endParaRPr lang="ru-RU">
                  <a:latin typeface="+mj-lt"/>
                </a:endParaRPr>
              </a:p>
            </p:txBody>
          </p:sp>
          <p:sp>
            <p:nvSpPr>
              <p:cNvPr id="159" name="Freeform 158"/>
              <p:cNvSpPr/>
              <p:nvPr/>
            </p:nvSpPr>
            <p:spPr bwMode="auto">
              <a:xfrm flipV="1">
                <a:off x="6529749" y="4841632"/>
                <a:ext cx="703385" cy="410307"/>
              </a:xfrm>
              <a:custGeom>
                <a:avLst/>
                <a:gdLst>
                  <a:gd name="connsiteX0" fmla="*/ 0 w 703385"/>
                  <a:gd name="connsiteY0" fmla="*/ 410307 h 410307"/>
                  <a:gd name="connsiteX1" fmla="*/ 351692 w 703385"/>
                  <a:gd name="connsiteY1" fmla="*/ 410307 h 410307"/>
                  <a:gd name="connsiteX2" fmla="*/ 351692 w 703385"/>
                  <a:gd name="connsiteY2" fmla="*/ 0 h 410307"/>
                  <a:gd name="connsiteX3" fmla="*/ 703385 w 703385"/>
                  <a:gd name="connsiteY3" fmla="*/ 0 h 410307"/>
                  <a:gd name="connsiteX4" fmla="*/ 703385 w 703385"/>
                  <a:gd name="connsiteY4" fmla="*/ 398584 h 410307"/>
                  <a:gd name="connsiteX5" fmla="*/ 691662 w 703385"/>
                  <a:gd name="connsiteY5" fmla="*/ 410307 h 4103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03385" h="410307">
                    <a:moveTo>
                      <a:pt x="0" y="410307"/>
                    </a:moveTo>
                    <a:lnTo>
                      <a:pt x="351692" y="410307"/>
                    </a:lnTo>
                    <a:lnTo>
                      <a:pt x="351692" y="0"/>
                    </a:lnTo>
                    <a:lnTo>
                      <a:pt x="703385" y="0"/>
                    </a:lnTo>
                    <a:lnTo>
                      <a:pt x="703385" y="398584"/>
                    </a:lnTo>
                    <a:lnTo>
                      <a:pt x="691662" y="410307"/>
                    </a:lnTo>
                  </a:path>
                </a:pathLst>
              </a:custGeom>
              <a:noFill/>
              <a:ln w="19050" cap="flat" cmpd="sng" algn="ctr">
                <a:solidFill>
                  <a:srgbClr val="C00000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rtlCol="0" anchor="ctr"/>
              <a:lstStyle/>
              <a:p>
                <a:pPr algn="ctr"/>
                <a:endParaRPr lang="ru-RU">
                  <a:latin typeface="+mj-lt"/>
                </a:endParaRPr>
              </a:p>
            </p:txBody>
          </p:sp>
        </p:grpSp>
      </p:grpSp>
    </p:spTree>
    <p:custDataLst>
      <p:tags r:id="rId1"/>
    </p:custDataLst>
    <p:extLst>
      <p:ext uri="{BB962C8B-B14F-4D97-AF65-F5344CB8AC3E}">
        <p14:creationId xmlns:p14="http://schemas.microsoft.com/office/powerpoint/2010/main" val="199533430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6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6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 mod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>
                <a:solidFill>
                  <a:srgbClr val="0070C0"/>
                </a:solidFill>
              </a:rPr>
              <a:t>Pipelined vs. Non-Pipelined MIPS</a:t>
            </a:r>
            <a:endParaRPr lang="en-US" sz="3200" dirty="0">
              <a:solidFill>
                <a:srgbClr val="0070C0"/>
              </a:solidFill>
            </a:endParaRPr>
          </a:p>
        </p:txBody>
      </p:sp>
      <p:sp>
        <p:nvSpPr>
          <p:cNvPr id="25" name="Rectangle 2"/>
          <p:cNvSpPr>
            <a:spLocks noChangeArrowheads="1"/>
          </p:cNvSpPr>
          <p:nvPr/>
        </p:nvSpPr>
        <p:spPr bwMode="auto">
          <a:xfrm>
            <a:off x="1055688" y="152400"/>
            <a:ext cx="70358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488" tIns="44450" rIns="90488" bIns="44450" anchor="ctr"/>
          <a:lstStyle/>
          <a:p>
            <a:pPr algn="ctr"/>
            <a:endParaRPr lang="en-US" sz="3600" b="1" dirty="0">
              <a:solidFill>
                <a:srgbClr val="114FFB"/>
              </a:solidFill>
              <a:latin typeface="+mj-lt"/>
            </a:endParaRPr>
          </a:p>
        </p:txBody>
      </p:sp>
      <p:grpSp>
        <p:nvGrpSpPr>
          <p:cNvPr id="26" name="Group 25"/>
          <p:cNvGrpSpPr/>
          <p:nvPr/>
        </p:nvGrpSpPr>
        <p:grpSpPr>
          <a:xfrm>
            <a:off x="1156710" y="876300"/>
            <a:ext cx="8192562" cy="5406173"/>
            <a:chOff x="356334" y="856762"/>
            <a:chExt cx="9608484" cy="6340523"/>
          </a:xfrm>
        </p:grpSpPr>
        <p:sp>
          <p:nvSpPr>
            <p:cNvPr id="217" name="Rectangle 216"/>
            <p:cNvSpPr/>
            <p:nvPr/>
          </p:nvSpPr>
          <p:spPr bwMode="auto">
            <a:xfrm>
              <a:off x="1557163" y="1836495"/>
              <a:ext cx="707161" cy="627363"/>
            </a:xfrm>
            <a:prstGeom prst="rect">
              <a:avLst/>
            </a:prstGeom>
            <a:solidFill>
              <a:srgbClr val="FFCC99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b="1" dirty="0" smtClean="0">
                  <a:latin typeface="+mj-lt"/>
                  <a:cs typeface="Arial" pitchFamily="34" charset="0"/>
                </a:rPr>
                <a:t>F</a:t>
              </a:r>
              <a:endParaRPr lang="ru-RU" b="1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218" name="Rectangle 217"/>
            <p:cNvSpPr/>
            <p:nvPr/>
          </p:nvSpPr>
          <p:spPr bwMode="auto">
            <a:xfrm>
              <a:off x="2260074" y="1836495"/>
              <a:ext cx="381872" cy="62736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b="1" dirty="0">
                  <a:latin typeface="+mj-lt"/>
                  <a:cs typeface="Arial" pitchFamily="34" charset="0"/>
                </a:rPr>
                <a:t>D</a:t>
              </a:r>
              <a:endParaRPr lang="ru-RU" b="1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219" name="Rectangle 218"/>
            <p:cNvSpPr/>
            <p:nvPr/>
          </p:nvSpPr>
          <p:spPr bwMode="auto">
            <a:xfrm>
              <a:off x="2637696" y="1836495"/>
              <a:ext cx="707161" cy="627363"/>
            </a:xfrm>
            <a:prstGeom prst="rect">
              <a:avLst/>
            </a:prstGeom>
            <a:solidFill>
              <a:srgbClr val="92D050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b="1" dirty="0">
                  <a:latin typeface="+mj-lt"/>
                  <a:cs typeface="Arial" pitchFamily="34" charset="0"/>
                </a:rPr>
                <a:t>E</a:t>
              </a:r>
              <a:endParaRPr lang="ru-RU" b="1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220" name="Rectangle 219"/>
            <p:cNvSpPr/>
            <p:nvPr/>
          </p:nvSpPr>
          <p:spPr bwMode="auto">
            <a:xfrm>
              <a:off x="3340607" y="1836495"/>
              <a:ext cx="707161" cy="627363"/>
            </a:xfrm>
            <a:prstGeom prst="rect">
              <a:avLst/>
            </a:prstGeom>
            <a:solidFill>
              <a:schemeClr val="accent4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b="1" dirty="0" smtClean="0">
                  <a:latin typeface="+mj-lt"/>
                  <a:cs typeface="Arial" pitchFamily="34" charset="0"/>
                </a:rPr>
                <a:t>M</a:t>
              </a:r>
              <a:endParaRPr lang="ru-RU" b="1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221" name="Rectangle 220"/>
            <p:cNvSpPr/>
            <p:nvPr/>
          </p:nvSpPr>
          <p:spPr bwMode="auto">
            <a:xfrm>
              <a:off x="4043519" y="1836495"/>
              <a:ext cx="379435" cy="627363"/>
            </a:xfrm>
            <a:prstGeom prst="rect">
              <a:avLst/>
            </a:prstGeom>
            <a:solidFill>
              <a:schemeClr val="bg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b="1" dirty="0">
                  <a:latin typeface="+mj-lt"/>
                  <a:cs typeface="Arial" pitchFamily="34" charset="0"/>
                </a:rPr>
                <a:t>W</a:t>
              </a:r>
              <a:endParaRPr lang="ru-RU" b="1" dirty="0" smtClean="0">
                <a:latin typeface="+mj-lt"/>
                <a:cs typeface="Arial" pitchFamily="34" charset="0"/>
              </a:endParaRPr>
            </a:p>
          </p:txBody>
        </p:sp>
        <p:sp>
          <p:nvSpPr>
            <p:cNvPr id="222" name="TextBox 221"/>
            <p:cNvSpPr txBox="1"/>
            <p:nvPr/>
          </p:nvSpPr>
          <p:spPr>
            <a:xfrm>
              <a:off x="714701" y="1933596"/>
              <a:ext cx="689972" cy="43316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r>
                <a:rPr lang="en-US" dirty="0" smtClean="0">
                  <a:latin typeface="+mj-lt"/>
                </a:rPr>
                <a:t>PC</a:t>
              </a:r>
              <a:endParaRPr lang="ru-RU" dirty="0" smtClean="0">
                <a:latin typeface="+mj-lt"/>
              </a:endParaRPr>
            </a:p>
          </p:txBody>
        </p:sp>
        <p:grpSp>
          <p:nvGrpSpPr>
            <p:cNvPr id="223" name="Group 222"/>
            <p:cNvGrpSpPr/>
            <p:nvPr/>
          </p:nvGrpSpPr>
          <p:grpSpPr>
            <a:xfrm>
              <a:off x="4422954" y="2467115"/>
              <a:ext cx="2865791" cy="627363"/>
              <a:chOff x="1557162" y="2070884"/>
              <a:chExt cx="2865791" cy="627363"/>
            </a:xfrm>
          </p:grpSpPr>
          <p:sp>
            <p:nvSpPr>
              <p:cNvPr id="224" name="Rectangle 223"/>
              <p:cNvSpPr/>
              <p:nvPr/>
            </p:nvSpPr>
            <p:spPr bwMode="auto">
              <a:xfrm>
                <a:off x="1557162" y="2070884"/>
                <a:ext cx="707161" cy="627363"/>
              </a:xfrm>
              <a:prstGeom prst="rect">
                <a:avLst/>
              </a:prstGeom>
              <a:solidFill>
                <a:srgbClr val="FFCC99"/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b="1" dirty="0" smtClean="0">
                    <a:latin typeface="+mj-lt"/>
                    <a:cs typeface="Arial" pitchFamily="34" charset="0"/>
                  </a:rPr>
                  <a:t>F</a:t>
                </a:r>
                <a:endParaRPr lang="ru-RU" b="1" dirty="0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225" name="Rectangle 224"/>
              <p:cNvSpPr/>
              <p:nvPr/>
            </p:nvSpPr>
            <p:spPr bwMode="auto">
              <a:xfrm>
                <a:off x="2260073" y="2070884"/>
                <a:ext cx="381872" cy="627363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b="1" dirty="0">
                    <a:latin typeface="+mj-lt"/>
                    <a:cs typeface="Arial" pitchFamily="34" charset="0"/>
                  </a:rPr>
                  <a:t>D</a:t>
                </a:r>
                <a:endParaRPr lang="ru-RU" b="1" dirty="0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226" name="Rectangle 225"/>
              <p:cNvSpPr/>
              <p:nvPr/>
            </p:nvSpPr>
            <p:spPr bwMode="auto">
              <a:xfrm>
                <a:off x="2637695" y="2070884"/>
                <a:ext cx="707161" cy="627363"/>
              </a:xfrm>
              <a:prstGeom prst="rect">
                <a:avLst/>
              </a:prstGeom>
              <a:solidFill>
                <a:srgbClr val="92D050"/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b="1" dirty="0">
                    <a:latin typeface="+mj-lt"/>
                    <a:cs typeface="Arial" pitchFamily="34" charset="0"/>
                  </a:rPr>
                  <a:t>E</a:t>
                </a:r>
                <a:endParaRPr lang="ru-RU" b="1" dirty="0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227" name="Rectangle 226"/>
              <p:cNvSpPr/>
              <p:nvPr/>
            </p:nvSpPr>
            <p:spPr bwMode="auto">
              <a:xfrm>
                <a:off x="3340606" y="2070884"/>
                <a:ext cx="707161" cy="627363"/>
              </a:xfrm>
              <a:prstGeom prst="rect">
                <a:avLst/>
              </a:prstGeom>
              <a:solidFill>
                <a:schemeClr val="accent4"/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b="1" dirty="0" smtClean="0">
                    <a:latin typeface="+mj-lt"/>
                    <a:cs typeface="Arial" pitchFamily="34" charset="0"/>
                  </a:rPr>
                  <a:t>M</a:t>
                </a:r>
                <a:endParaRPr lang="ru-RU" b="1" dirty="0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228" name="Rectangle 227"/>
              <p:cNvSpPr/>
              <p:nvPr/>
            </p:nvSpPr>
            <p:spPr bwMode="auto">
              <a:xfrm>
                <a:off x="4043518" y="2070884"/>
                <a:ext cx="379435" cy="627363"/>
              </a:xfrm>
              <a:prstGeom prst="rect">
                <a:avLst/>
              </a:prstGeom>
              <a:solidFill>
                <a:schemeClr val="bg2"/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b="1" dirty="0">
                    <a:latin typeface="+mj-lt"/>
                    <a:cs typeface="Arial" pitchFamily="34" charset="0"/>
                  </a:rPr>
                  <a:t>W</a:t>
                </a:r>
                <a:endParaRPr lang="ru-RU" b="1" dirty="0" smtClean="0">
                  <a:latin typeface="+mj-lt"/>
                  <a:cs typeface="Arial" pitchFamily="34" charset="0"/>
                </a:endParaRPr>
              </a:p>
            </p:txBody>
          </p:sp>
        </p:grpSp>
        <p:sp>
          <p:nvSpPr>
            <p:cNvPr id="229" name="TextBox 228"/>
            <p:cNvSpPr txBox="1"/>
            <p:nvPr/>
          </p:nvSpPr>
          <p:spPr>
            <a:xfrm>
              <a:off x="372277" y="2564214"/>
              <a:ext cx="1032397" cy="43316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r>
                <a:rPr lang="en-US" dirty="0" smtClean="0">
                  <a:latin typeface="+mj-lt"/>
                </a:rPr>
                <a:t>PC + 4</a:t>
              </a:r>
              <a:endParaRPr lang="ru-RU" dirty="0" smtClean="0">
                <a:latin typeface="+mj-lt"/>
              </a:endParaRPr>
            </a:p>
          </p:txBody>
        </p:sp>
        <p:grpSp>
          <p:nvGrpSpPr>
            <p:cNvPr id="230" name="Group 229"/>
            <p:cNvGrpSpPr/>
            <p:nvPr/>
          </p:nvGrpSpPr>
          <p:grpSpPr>
            <a:xfrm>
              <a:off x="7288745" y="3094478"/>
              <a:ext cx="2490605" cy="627363"/>
              <a:chOff x="1557162" y="2070884"/>
              <a:chExt cx="2490605" cy="627363"/>
            </a:xfrm>
          </p:grpSpPr>
          <p:sp>
            <p:nvSpPr>
              <p:cNvPr id="231" name="Rectangle 230"/>
              <p:cNvSpPr/>
              <p:nvPr/>
            </p:nvSpPr>
            <p:spPr bwMode="auto">
              <a:xfrm>
                <a:off x="1557162" y="2070884"/>
                <a:ext cx="707161" cy="627363"/>
              </a:xfrm>
              <a:prstGeom prst="rect">
                <a:avLst/>
              </a:prstGeom>
              <a:solidFill>
                <a:srgbClr val="FFCC99"/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b="1" dirty="0" smtClean="0">
                    <a:latin typeface="+mj-lt"/>
                    <a:cs typeface="Arial" pitchFamily="34" charset="0"/>
                  </a:rPr>
                  <a:t>F</a:t>
                </a:r>
                <a:endParaRPr lang="ru-RU" b="1" dirty="0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232" name="Rectangle 231"/>
              <p:cNvSpPr/>
              <p:nvPr/>
            </p:nvSpPr>
            <p:spPr bwMode="auto">
              <a:xfrm>
                <a:off x="2260073" y="2070884"/>
                <a:ext cx="381872" cy="627363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b="1" dirty="0">
                    <a:latin typeface="+mj-lt"/>
                    <a:cs typeface="Arial" pitchFamily="34" charset="0"/>
                  </a:rPr>
                  <a:t>D</a:t>
                </a:r>
                <a:endParaRPr lang="ru-RU" b="1" dirty="0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233" name="Rectangle 232"/>
              <p:cNvSpPr/>
              <p:nvPr/>
            </p:nvSpPr>
            <p:spPr bwMode="auto">
              <a:xfrm>
                <a:off x="2637695" y="2070884"/>
                <a:ext cx="707161" cy="627363"/>
              </a:xfrm>
              <a:prstGeom prst="rect">
                <a:avLst/>
              </a:prstGeom>
              <a:solidFill>
                <a:srgbClr val="92D050"/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b="1" dirty="0">
                    <a:latin typeface="+mj-lt"/>
                    <a:cs typeface="Arial" pitchFamily="34" charset="0"/>
                  </a:rPr>
                  <a:t>E</a:t>
                </a:r>
                <a:endParaRPr lang="ru-RU" b="1" dirty="0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234" name="Rectangle 233"/>
              <p:cNvSpPr/>
              <p:nvPr/>
            </p:nvSpPr>
            <p:spPr bwMode="auto">
              <a:xfrm>
                <a:off x="3340606" y="2070884"/>
                <a:ext cx="707161" cy="627363"/>
              </a:xfrm>
              <a:prstGeom prst="rect">
                <a:avLst/>
              </a:prstGeom>
              <a:solidFill>
                <a:schemeClr val="accent4"/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b="1" dirty="0" smtClean="0">
                    <a:latin typeface="+mj-lt"/>
                    <a:cs typeface="Arial" pitchFamily="34" charset="0"/>
                  </a:rPr>
                  <a:t>M</a:t>
                </a:r>
                <a:endParaRPr lang="ru-RU" b="1" dirty="0" smtClean="0">
                  <a:latin typeface="+mj-lt"/>
                  <a:cs typeface="Arial" pitchFamily="34" charset="0"/>
                </a:endParaRPr>
              </a:p>
            </p:txBody>
          </p:sp>
        </p:grpSp>
        <p:sp>
          <p:nvSpPr>
            <p:cNvPr id="235" name="Rectangle 234"/>
            <p:cNvSpPr/>
            <p:nvPr/>
          </p:nvSpPr>
          <p:spPr bwMode="auto">
            <a:xfrm>
              <a:off x="8482859" y="2980852"/>
              <a:ext cx="1481959" cy="915325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alpha val="0"/>
                  </a:schemeClr>
                </a:gs>
                <a:gs pos="43000">
                  <a:srgbClr val="FFFFFF"/>
                </a:gs>
                <a:gs pos="17000">
                  <a:schemeClr val="bg1">
                    <a:alpha val="55000"/>
                  </a:schemeClr>
                </a:gs>
              </a:gsLst>
              <a:lin ang="0" scaled="1"/>
              <a:tileRect/>
            </a:gradFill>
            <a:ln w="3175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ru-RU" b="1" smtClean="0">
                <a:latin typeface="+mj-lt"/>
                <a:cs typeface="Arial" pitchFamily="34" charset="0"/>
              </a:endParaRPr>
            </a:p>
          </p:txBody>
        </p:sp>
        <p:sp>
          <p:nvSpPr>
            <p:cNvPr id="236" name="TextBox 235"/>
            <p:cNvSpPr txBox="1"/>
            <p:nvPr/>
          </p:nvSpPr>
          <p:spPr>
            <a:xfrm>
              <a:off x="372277" y="3221932"/>
              <a:ext cx="1032397" cy="43316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r>
                <a:rPr lang="en-US" dirty="0" smtClean="0">
                  <a:latin typeface="+mj-lt"/>
                </a:rPr>
                <a:t>PC + 8</a:t>
              </a:r>
              <a:endParaRPr lang="ru-RU" dirty="0" smtClean="0">
                <a:latin typeface="+mj-lt"/>
              </a:endParaRPr>
            </a:p>
          </p:txBody>
        </p:sp>
        <p:cxnSp>
          <p:nvCxnSpPr>
            <p:cNvPr id="237" name="Straight Arrow Connector 236"/>
            <p:cNvCxnSpPr/>
            <p:nvPr/>
          </p:nvCxnSpPr>
          <p:spPr bwMode="auto">
            <a:xfrm>
              <a:off x="1557163" y="1836495"/>
              <a:ext cx="0" cy="2059682"/>
            </a:xfrm>
            <a:prstGeom prst="straightConnector1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stealth" w="lg" len="lg"/>
            </a:ln>
            <a:effectLst/>
          </p:spPr>
        </p:cxnSp>
        <p:cxnSp>
          <p:nvCxnSpPr>
            <p:cNvPr id="238" name="Straight Arrow Connector 237"/>
            <p:cNvCxnSpPr/>
            <p:nvPr/>
          </p:nvCxnSpPr>
          <p:spPr bwMode="auto">
            <a:xfrm>
              <a:off x="1557163" y="1848218"/>
              <a:ext cx="7292547" cy="0"/>
            </a:xfrm>
            <a:prstGeom prst="straightConnector1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stealth" w="lg" len="lg"/>
            </a:ln>
            <a:effectLst/>
          </p:spPr>
        </p:cxnSp>
        <p:sp>
          <p:nvSpPr>
            <p:cNvPr id="239" name="TextBox 238"/>
            <p:cNvSpPr txBox="1"/>
            <p:nvPr/>
          </p:nvSpPr>
          <p:spPr>
            <a:xfrm rot="16200000">
              <a:off x="1078042" y="3036907"/>
              <a:ext cx="1364465" cy="3970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smtClean="0">
                  <a:latin typeface="+mj-lt"/>
                </a:rPr>
                <a:t>instructions</a:t>
              </a:r>
              <a:endParaRPr lang="ru-RU" sz="1600" dirty="0" smtClean="0">
                <a:latin typeface="+mj-lt"/>
              </a:endParaRPr>
            </a:p>
          </p:txBody>
        </p:sp>
        <p:sp>
          <p:nvSpPr>
            <p:cNvPr id="240" name="TextBox 239"/>
            <p:cNvSpPr txBox="1"/>
            <p:nvPr/>
          </p:nvSpPr>
          <p:spPr>
            <a:xfrm>
              <a:off x="8253193" y="1458566"/>
              <a:ext cx="664034" cy="3970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smtClean="0">
                  <a:latin typeface="+mj-lt"/>
                </a:rPr>
                <a:t>time</a:t>
              </a:r>
              <a:endParaRPr lang="ru-RU" sz="1600" dirty="0" smtClean="0">
                <a:latin typeface="+mj-lt"/>
              </a:endParaRPr>
            </a:p>
          </p:txBody>
        </p:sp>
        <p:sp>
          <p:nvSpPr>
            <p:cNvPr id="241" name="Freeform 240"/>
            <p:cNvSpPr/>
            <p:nvPr/>
          </p:nvSpPr>
          <p:spPr bwMode="auto">
            <a:xfrm flipV="1">
              <a:off x="1555531" y="1017949"/>
              <a:ext cx="6579476" cy="459266"/>
            </a:xfrm>
            <a:custGeom>
              <a:avLst/>
              <a:gdLst>
                <a:gd name="connsiteX0" fmla="*/ 0 w 6579476"/>
                <a:gd name="connsiteY0" fmla="*/ 536028 h 557048"/>
                <a:gd name="connsiteX1" fmla="*/ 1418897 w 6579476"/>
                <a:gd name="connsiteY1" fmla="*/ 536028 h 557048"/>
                <a:gd name="connsiteX2" fmla="*/ 1418897 w 6579476"/>
                <a:gd name="connsiteY2" fmla="*/ 0 h 557048"/>
                <a:gd name="connsiteX3" fmla="*/ 2858814 w 6579476"/>
                <a:gd name="connsiteY3" fmla="*/ 0 h 557048"/>
                <a:gd name="connsiteX4" fmla="*/ 2858814 w 6579476"/>
                <a:gd name="connsiteY4" fmla="*/ 557048 h 557048"/>
                <a:gd name="connsiteX5" fmla="*/ 4309241 w 6579476"/>
                <a:gd name="connsiteY5" fmla="*/ 557048 h 557048"/>
                <a:gd name="connsiteX6" fmla="*/ 4309241 w 6579476"/>
                <a:gd name="connsiteY6" fmla="*/ 10510 h 557048"/>
                <a:gd name="connsiteX7" fmla="*/ 5759669 w 6579476"/>
                <a:gd name="connsiteY7" fmla="*/ 10510 h 557048"/>
                <a:gd name="connsiteX8" fmla="*/ 5759669 w 6579476"/>
                <a:gd name="connsiteY8" fmla="*/ 557048 h 557048"/>
                <a:gd name="connsiteX9" fmla="*/ 6568966 w 6579476"/>
                <a:gd name="connsiteY9" fmla="*/ 557048 h 557048"/>
                <a:gd name="connsiteX10" fmla="*/ 6568966 w 6579476"/>
                <a:gd name="connsiteY10" fmla="*/ 546538 h 557048"/>
                <a:gd name="connsiteX11" fmla="*/ 6579476 w 6579476"/>
                <a:gd name="connsiteY11" fmla="*/ 546538 h 557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579476" h="557048">
                  <a:moveTo>
                    <a:pt x="0" y="536028"/>
                  </a:moveTo>
                  <a:lnTo>
                    <a:pt x="1418897" y="536028"/>
                  </a:lnTo>
                  <a:lnTo>
                    <a:pt x="1418897" y="0"/>
                  </a:lnTo>
                  <a:lnTo>
                    <a:pt x="2858814" y="0"/>
                  </a:lnTo>
                  <a:lnTo>
                    <a:pt x="2858814" y="557048"/>
                  </a:lnTo>
                  <a:lnTo>
                    <a:pt x="4309241" y="557048"/>
                  </a:lnTo>
                  <a:lnTo>
                    <a:pt x="4309241" y="10510"/>
                  </a:lnTo>
                  <a:lnTo>
                    <a:pt x="5759669" y="10510"/>
                  </a:lnTo>
                  <a:lnTo>
                    <a:pt x="5759669" y="557048"/>
                  </a:lnTo>
                  <a:lnTo>
                    <a:pt x="6568966" y="557048"/>
                  </a:lnTo>
                  <a:lnTo>
                    <a:pt x="6568966" y="546538"/>
                  </a:lnTo>
                  <a:lnTo>
                    <a:pt x="6579476" y="546538"/>
                  </a:lnTo>
                </a:path>
              </a:pathLst>
            </a:custGeom>
            <a:noFill/>
            <a:ln w="19050" cap="flat" cmpd="sng" algn="ctr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rtlCol="0" anchor="ctr"/>
            <a:lstStyle/>
            <a:p>
              <a:pPr algn="ctr"/>
              <a:endParaRPr lang="ru-RU" sz="1600">
                <a:latin typeface="+mj-lt"/>
              </a:endParaRPr>
            </a:p>
          </p:txBody>
        </p:sp>
        <p:sp>
          <p:nvSpPr>
            <p:cNvPr id="242" name="TextBox 241"/>
            <p:cNvSpPr txBox="1"/>
            <p:nvPr/>
          </p:nvSpPr>
          <p:spPr>
            <a:xfrm>
              <a:off x="368057" y="856762"/>
              <a:ext cx="1272117" cy="6858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 smtClean="0">
                  <a:solidFill>
                    <a:srgbClr val="C00000"/>
                  </a:solidFill>
                  <a:latin typeface="+mj-lt"/>
                </a:rPr>
                <a:t>Sync signal</a:t>
              </a:r>
            </a:p>
            <a:p>
              <a:pPr algn="ctr"/>
              <a:r>
                <a:rPr lang="en-US" sz="1600" dirty="0" smtClean="0">
                  <a:solidFill>
                    <a:srgbClr val="C00000"/>
                  </a:solidFill>
                  <a:latin typeface="+mj-lt"/>
                </a:rPr>
                <a:t>(clocks) </a:t>
              </a:r>
              <a:endParaRPr lang="ru-RU" sz="1600" dirty="0" smtClean="0">
                <a:solidFill>
                  <a:srgbClr val="C00000"/>
                </a:solidFill>
                <a:latin typeface="+mj-lt"/>
              </a:endParaRPr>
            </a:p>
          </p:txBody>
        </p:sp>
        <p:grpSp>
          <p:nvGrpSpPr>
            <p:cNvPr id="243" name="Group 242"/>
            <p:cNvGrpSpPr/>
            <p:nvPr/>
          </p:nvGrpSpPr>
          <p:grpSpPr>
            <a:xfrm>
              <a:off x="2711901" y="1493779"/>
              <a:ext cx="558750" cy="397066"/>
              <a:chOff x="5265941" y="3647495"/>
              <a:chExt cx="558750" cy="397066"/>
            </a:xfrm>
          </p:grpSpPr>
          <p:sp>
            <p:nvSpPr>
              <p:cNvPr id="244" name="Oval 243"/>
              <p:cNvSpPr/>
              <p:nvPr/>
            </p:nvSpPr>
            <p:spPr bwMode="auto">
              <a:xfrm>
                <a:off x="5503487" y="3967297"/>
                <a:ext cx="74353" cy="74353"/>
              </a:xfrm>
              <a:prstGeom prst="ellipse">
                <a:avLst/>
              </a:prstGeom>
              <a:solidFill>
                <a:schemeClr val="tx1"/>
              </a:solidFill>
              <a:ln w="3175" cap="flat" cmpd="sng" algn="ctr">
                <a:noFill/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ru-RU" b="1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245" name="TextBox 244"/>
              <p:cNvSpPr txBox="1"/>
              <p:nvPr/>
            </p:nvSpPr>
            <p:spPr>
              <a:xfrm>
                <a:off x="5265941" y="3647495"/>
                <a:ext cx="558750" cy="3970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600" dirty="0" smtClean="0">
                    <a:latin typeface="+mj-lt"/>
                  </a:rPr>
                  <a:t>4ns</a:t>
                </a:r>
                <a:endParaRPr lang="ru-RU" sz="1600" dirty="0" smtClean="0">
                  <a:latin typeface="+mj-lt"/>
                </a:endParaRPr>
              </a:p>
            </p:txBody>
          </p:sp>
        </p:grpSp>
        <p:grpSp>
          <p:nvGrpSpPr>
            <p:cNvPr id="246" name="Group 245"/>
            <p:cNvGrpSpPr/>
            <p:nvPr/>
          </p:nvGrpSpPr>
          <p:grpSpPr>
            <a:xfrm>
              <a:off x="4149157" y="1496119"/>
              <a:ext cx="558751" cy="397066"/>
              <a:chOff x="5265940" y="3647495"/>
              <a:chExt cx="558751" cy="397066"/>
            </a:xfrm>
          </p:grpSpPr>
          <p:sp>
            <p:nvSpPr>
              <p:cNvPr id="247" name="Oval 246"/>
              <p:cNvSpPr/>
              <p:nvPr/>
            </p:nvSpPr>
            <p:spPr bwMode="auto">
              <a:xfrm>
                <a:off x="5503487" y="3967297"/>
                <a:ext cx="74353" cy="74353"/>
              </a:xfrm>
              <a:prstGeom prst="ellipse">
                <a:avLst/>
              </a:prstGeom>
              <a:solidFill>
                <a:schemeClr val="tx1"/>
              </a:solidFill>
              <a:ln w="3175" cap="flat" cmpd="sng" algn="ctr">
                <a:noFill/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ru-RU" b="1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248" name="TextBox 247"/>
              <p:cNvSpPr txBox="1"/>
              <p:nvPr/>
            </p:nvSpPr>
            <p:spPr>
              <a:xfrm>
                <a:off x="5265940" y="3647495"/>
                <a:ext cx="558751" cy="3970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600" dirty="0">
                    <a:latin typeface="+mj-lt"/>
                  </a:rPr>
                  <a:t>8</a:t>
                </a:r>
                <a:r>
                  <a:rPr lang="en-US" sz="1600" dirty="0" smtClean="0">
                    <a:latin typeface="+mj-lt"/>
                  </a:rPr>
                  <a:t>ns</a:t>
                </a:r>
                <a:endParaRPr lang="ru-RU" sz="1600" dirty="0" smtClean="0">
                  <a:latin typeface="+mj-lt"/>
                </a:endParaRPr>
              </a:p>
            </p:txBody>
          </p:sp>
        </p:grpSp>
        <p:grpSp>
          <p:nvGrpSpPr>
            <p:cNvPr id="249" name="Group 248"/>
            <p:cNvGrpSpPr/>
            <p:nvPr/>
          </p:nvGrpSpPr>
          <p:grpSpPr>
            <a:xfrm>
              <a:off x="5525791" y="1483009"/>
              <a:ext cx="680955" cy="397066"/>
              <a:chOff x="5204837" y="3647495"/>
              <a:chExt cx="680955" cy="397066"/>
            </a:xfrm>
          </p:grpSpPr>
          <p:sp>
            <p:nvSpPr>
              <p:cNvPr id="250" name="Oval 249"/>
              <p:cNvSpPr/>
              <p:nvPr/>
            </p:nvSpPr>
            <p:spPr bwMode="auto">
              <a:xfrm>
                <a:off x="5503487" y="3967297"/>
                <a:ext cx="74353" cy="74353"/>
              </a:xfrm>
              <a:prstGeom prst="ellipse">
                <a:avLst/>
              </a:prstGeom>
              <a:solidFill>
                <a:schemeClr val="tx1"/>
              </a:solidFill>
              <a:ln w="3175" cap="flat" cmpd="sng" algn="ctr">
                <a:noFill/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ru-RU" b="1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251" name="TextBox 250"/>
              <p:cNvSpPr txBox="1"/>
              <p:nvPr/>
            </p:nvSpPr>
            <p:spPr>
              <a:xfrm>
                <a:off x="5204837" y="3647495"/>
                <a:ext cx="680955" cy="3970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600" dirty="0" smtClean="0">
                    <a:latin typeface="+mj-lt"/>
                  </a:rPr>
                  <a:t>12ns</a:t>
                </a:r>
                <a:endParaRPr lang="ru-RU" sz="1600" dirty="0" smtClean="0">
                  <a:latin typeface="+mj-lt"/>
                </a:endParaRPr>
              </a:p>
            </p:txBody>
          </p:sp>
        </p:grpSp>
        <p:grpSp>
          <p:nvGrpSpPr>
            <p:cNvPr id="252" name="Group 251"/>
            <p:cNvGrpSpPr/>
            <p:nvPr/>
          </p:nvGrpSpPr>
          <p:grpSpPr>
            <a:xfrm>
              <a:off x="6974843" y="1487463"/>
              <a:ext cx="680955" cy="397066"/>
              <a:chOff x="5204837" y="3647495"/>
              <a:chExt cx="680955" cy="397066"/>
            </a:xfrm>
          </p:grpSpPr>
          <p:sp>
            <p:nvSpPr>
              <p:cNvPr id="253" name="Oval 252"/>
              <p:cNvSpPr/>
              <p:nvPr/>
            </p:nvSpPr>
            <p:spPr bwMode="auto">
              <a:xfrm>
                <a:off x="5503487" y="3967297"/>
                <a:ext cx="74353" cy="74353"/>
              </a:xfrm>
              <a:prstGeom prst="ellipse">
                <a:avLst/>
              </a:prstGeom>
              <a:solidFill>
                <a:schemeClr val="tx1"/>
              </a:solidFill>
              <a:ln w="3175" cap="flat" cmpd="sng" algn="ctr">
                <a:noFill/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ru-RU" b="1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254" name="TextBox 253"/>
              <p:cNvSpPr txBox="1"/>
              <p:nvPr/>
            </p:nvSpPr>
            <p:spPr>
              <a:xfrm>
                <a:off x="5204837" y="3647495"/>
                <a:ext cx="680955" cy="3970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600" dirty="0" smtClean="0">
                    <a:latin typeface="+mj-lt"/>
                  </a:rPr>
                  <a:t>16ns</a:t>
                </a:r>
                <a:endParaRPr lang="ru-RU" sz="1600" dirty="0" smtClean="0">
                  <a:latin typeface="+mj-lt"/>
                </a:endParaRPr>
              </a:p>
            </p:txBody>
          </p:sp>
        </p:grpSp>
        <p:grpSp>
          <p:nvGrpSpPr>
            <p:cNvPr id="255" name="Group 254"/>
            <p:cNvGrpSpPr/>
            <p:nvPr/>
          </p:nvGrpSpPr>
          <p:grpSpPr>
            <a:xfrm>
              <a:off x="1552942" y="5146908"/>
              <a:ext cx="3546932" cy="627363"/>
              <a:chOff x="1552942" y="2224644"/>
              <a:chExt cx="3546932" cy="627363"/>
            </a:xfrm>
          </p:grpSpPr>
          <p:sp>
            <p:nvSpPr>
              <p:cNvPr id="256" name="TextBox 255"/>
              <p:cNvSpPr txBox="1"/>
              <p:nvPr/>
            </p:nvSpPr>
            <p:spPr>
              <a:xfrm rot="16200000">
                <a:off x="2538791" y="2379130"/>
                <a:ext cx="532279" cy="32487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 smtClean="0">
                    <a:solidFill>
                      <a:schemeClr val="tx2"/>
                    </a:solidFill>
                    <a:latin typeface="+mj-lt"/>
                  </a:rPr>
                  <a:t>wait</a:t>
                </a:r>
                <a:endParaRPr lang="ru-RU" sz="1200" dirty="0" smtClean="0">
                  <a:solidFill>
                    <a:schemeClr val="tx2"/>
                  </a:solidFill>
                  <a:latin typeface="+mj-lt"/>
                </a:endParaRPr>
              </a:p>
            </p:txBody>
          </p:sp>
          <p:sp>
            <p:nvSpPr>
              <p:cNvPr id="257" name="Rectangle 256"/>
              <p:cNvSpPr/>
              <p:nvPr/>
            </p:nvSpPr>
            <p:spPr bwMode="auto">
              <a:xfrm>
                <a:off x="1552942" y="2224644"/>
                <a:ext cx="707161" cy="627363"/>
              </a:xfrm>
              <a:prstGeom prst="rect">
                <a:avLst/>
              </a:prstGeom>
              <a:solidFill>
                <a:srgbClr val="FFCC99"/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b="1" dirty="0" smtClean="0">
                    <a:latin typeface="+mj-lt"/>
                    <a:cs typeface="Arial" pitchFamily="34" charset="0"/>
                  </a:rPr>
                  <a:t>F</a:t>
                </a:r>
                <a:endParaRPr lang="ru-RU" b="1" dirty="0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258" name="Rectangle 257"/>
              <p:cNvSpPr/>
              <p:nvPr/>
            </p:nvSpPr>
            <p:spPr bwMode="auto">
              <a:xfrm>
                <a:off x="2255853" y="2224644"/>
                <a:ext cx="381872" cy="627363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b="1" dirty="0">
                    <a:latin typeface="+mj-lt"/>
                    <a:cs typeface="Arial" pitchFamily="34" charset="0"/>
                  </a:rPr>
                  <a:t>D</a:t>
                </a:r>
                <a:endParaRPr lang="ru-RU" b="1" dirty="0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259" name="Rectangle 258"/>
              <p:cNvSpPr/>
              <p:nvPr/>
            </p:nvSpPr>
            <p:spPr bwMode="auto">
              <a:xfrm>
                <a:off x="2967763" y="2224644"/>
                <a:ext cx="707161" cy="627363"/>
              </a:xfrm>
              <a:prstGeom prst="rect">
                <a:avLst/>
              </a:prstGeom>
              <a:solidFill>
                <a:srgbClr val="92D050"/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b="1" dirty="0">
                    <a:latin typeface="+mj-lt"/>
                    <a:cs typeface="Arial" pitchFamily="34" charset="0"/>
                  </a:rPr>
                  <a:t>E</a:t>
                </a:r>
                <a:endParaRPr lang="ru-RU" b="1" dirty="0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260" name="Rectangle 259"/>
              <p:cNvSpPr/>
              <p:nvPr/>
            </p:nvSpPr>
            <p:spPr bwMode="auto">
              <a:xfrm>
                <a:off x="3677870" y="2224644"/>
                <a:ext cx="707161" cy="627363"/>
              </a:xfrm>
              <a:prstGeom prst="rect">
                <a:avLst/>
              </a:prstGeom>
              <a:solidFill>
                <a:schemeClr val="accent4"/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b="1" dirty="0" smtClean="0">
                    <a:latin typeface="+mj-lt"/>
                    <a:cs typeface="Arial" pitchFamily="34" charset="0"/>
                  </a:rPr>
                  <a:t>M</a:t>
                </a:r>
                <a:endParaRPr lang="ru-RU" b="1" dirty="0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261" name="Rectangle 260"/>
              <p:cNvSpPr/>
              <p:nvPr/>
            </p:nvSpPr>
            <p:spPr bwMode="auto">
              <a:xfrm>
                <a:off x="4386534" y="2224644"/>
                <a:ext cx="379435" cy="627363"/>
              </a:xfrm>
              <a:prstGeom prst="rect">
                <a:avLst/>
              </a:prstGeom>
              <a:solidFill>
                <a:schemeClr val="bg2"/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b="1" dirty="0">
                    <a:latin typeface="+mj-lt"/>
                    <a:cs typeface="Arial" pitchFamily="34" charset="0"/>
                  </a:rPr>
                  <a:t>W</a:t>
                </a:r>
                <a:endParaRPr lang="ru-RU" b="1" dirty="0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262" name="TextBox 261"/>
              <p:cNvSpPr txBox="1"/>
              <p:nvPr/>
            </p:nvSpPr>
            <p:spPr>
              <a:xfrm rot="16200000">
                <a:off x="4671298" y="2378870"/>
                <a:ext cx="532279" cy="32487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 smtClean="0">
                    <a:solidFill>
                      <a:schemeClr val="tx2"/>
                    </a:solidFill>
                    <a:latin typeface="+mj-lt"/>
                  </a:rPr>
                  <a:t>wait</a:t>
                </a:r>
                <a:endParaRPr lang="ru-RU" sz="1200" dirty="0" smtClean="0">
                  <a:solidFill>
                    <a:schemeClr val="tx2"/>
                  </a:solidFill>
                  <a:latin typeface="+mj-lt"/>
                </a:endParaRPr>
              </a:p>
            </p:txBody>
          </p:sp>
        </p:grpSp>
        <p:sp>
          <p:nvSpPr>
            <p:cNvPr id="263" name="TextBox 262"/>
            <p:cNvSpPr txBox="1"/>
            <p:nvPr/>
          </p:nvSpPr>
          <p:spPr>
            <a:xfrm>
              <a:off x="714701" y="5226254"/>
              <a:ext cx="689972" cy="43316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r>
                <a:rPr lang="en-US" dirty="0" smtClean="0">
                  <a:latin typeface="+mj-lt"/>
                </a:rPr>
                <a:t>PC</a:t>
              </a:r>
              <a:endParaRPr lang="ru-RU" dirty="0" smtClean="0">
                <a:latin typeface="+mj-lt"/>
              </a:endParaRPr>
            </a:p>
          </p:txBody>
        </p:sp>
        <p:sp>
          <p:nvSpPr>
            <p:cNvPr id="264" name="TextBox 263"/>
            <p:cNvSpPr txBox="1"/>
            <p:nvPr/>
          </p:nvSpPr>
          <p:spPr>
            <a:xfrm>
              <a:off x="372277" y="5856874"/>
              <a:ext cx="1032397" cy="43316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r>
                <a:rPr lang="en-US" dirty="0" smtClean="0">
                  <a:latin typeface="+mj-lt"/>
                </a:rPr>
                <a:t>PC + 4</a:t>
              </a:r>
              <a:endParaRPr lang="ru-RU" dirty="0" smtClean="0">
                <a:latin typeface="+mj-lt"/>
              </a:endParaRPr>
            </a:p>
          </p:txBody>
        </p:sp>
        <p:sp>
          <p:nvSpPr>
            <p:cNvPr id="265" name="TextBox 264"/>
            <p:cNvSpPr txBox="1"/>
            <p:nvPr/>
          </p:nvSpPr>
          <p:spPr>
            <a:xfrm>
              <a:off x="372277" y="6514591"/>
              <a:ext cx="1032397" cy="43316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r>
                <a:rPr lang="en-US" dirty="0" smtClean="0">
                  <a:latin typeface="+mj-lt"/>
                </a:rPr>
                <a:t>PC + 8</a:t>
              </a:r>
              <a:endParaRPr lang="ru-RU" dirty="0" smtClean="0">
                <a:latin typeface="+mj-lt"/>
              </a:endParaRPr>
            </a:p>
          </p:txBody>
        </p:sp>
        <p:grpSp>
          <p:nvGrpSpPr>
            <p:cNvPr id="266" name="Group 265"/>
            <p:cNvGrpSpPr/>
            <p:nvPr/>
          </p:nvGrpSpPr>
          <p:grpSpPr>
            <a:xfrm>
              <a:off x="2260925" y="5773870"/>
              <a:ext cx="3546932" cy="627363"/>
              <a:chOff x="1552942" y="2224644"/>
              <a:chExt cx="3546932" cy="627363"/>
            </a:xfrm>
          </p:grpSpPr>
          <p:sp>
            <p:nvSpPr>
              <p:cNvPr id="267" name="TextBox 266"/>
              <p:cNvSpPr txBox="1"/>
              <p:nvPr/>
            </p:nvSpPr>
            <p:spPr>
              <a:xfrm rot="16200000">
                <a:off x="2538791" y="2379130"/>
                <a:ext cx="532279" cy="32487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 smtClean="0">
                    <a:solidFill>
                      <a:schemeClr val="tx2"/>
                    </a:solidFill>
                    <a:latin typeface="+mj-lt"/>
                  </a:rPr>
                  <a:t>wait</a:t>
                </a:r>
                <a:endParaRPr lang="ru-RU" sz="1200" dirty="0" smtClean="0">
                  <a:solidFill>
                    <a:schemeClr val="tx2"/>
                  </a:solidFill>
                  <a:latin typeface="+mj-lt"/>
                </a:endParaRPr>
              </a:p>
            </p:txBody>
          </p:sp>
          <p:sp>
            <p:nvSpPr>
              <p:cNvPr id="268" name="Rectangle 267"/>
              <p:cNvSpPr/>
              <p:nvPr/>
            </p:nvSpPr>
            <p:spPr bwMode="auto">
              <a:xfrm>
                <a:off x="1552942" y="2224644"/>
                <a:ext cx="707161" cy="627363"/>
              </a:xfrm>
              <a:prstGeom prst="rect">
                <a:avLst/>
              </a:prstGeom>
              <a:solidFill>
                <a:srgbClr val="FFCC99"/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b="1" dirty="0" smtClean="0">
                    <a:latin typeface="+mj-lt"/>
                    <a:cs typeface="Arial" pitchFamily="34" charset="0"/>
                  </a:rPr>
                  <a:t>F</a:t>
                </a:r>
                <a:endParaRPr lang="ru-RU" b="1" dirty="0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269" name="Rectangle 268"/>
              <p:cNvSpPr/>
              <p:nvPr/>
            </p:nvSpPr>
            <p:spPr bwMode="auto">
              <a:xfrm>
                <a:off x="2261604" y="2224644"/>
                <a:ext cx="381872" cy="627363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b="1" dirty="0">
                    <a:latin typeface="+mj-lt"/>
                    <a:cs typeface="Arial" pitchFamily="34" charset="0"/>
                  </a:rPr>
                  <a:t>D</a:t>
                </a:r>
                <a:endParaRPr lang="ru-RU" b="1" dirty="0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270" name="Rectangle 269"/>
              <p:cNvSpPr/>
              <p:nvPr/>
            </p:nvSpPr>
            <p:spPr bwMode="auto">
              <a:xfrm>
                <a:off x="2967763" y="2224644"/>
                <a:ext cx="707161" cy="627363"/>
              </a:xfrm>
              <a:prstGeom prst="rect">
                <a:avLst/>
              </a:prstGeom>
              <a:solidFill>
                <a:srgbClr val="92D050"/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b="1" dirty="0">
                    <a:latin typeface="+mj-lt"/>
                    <a:cs typeface="Arial" pitchFamily="34" charset="0"/>
                  </a:rPr>
                  <a:t>E</a:t>
                </a:r>
                <a:endParaRPr lang="ru-RU" b="1" dirty="0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271" name="Rectangle 270"/>
              <p:cNvSpPr/>
              <p:nvPr/>
            </p:nvSpPr>
            <p:spPr bwMode="auto">
              <a:xfrm>
                <a:off x="3677870" y="2224644"/>
                <a:ext cx="707161" cy="627363"/>
              </a:xfrm>
              <a:prstGeom prst="rect">
                <a:avLst/>
              </a:prstGeom>
              <a:solidFill>
                <a:schemeClr val="accent4"/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b="1" dirty="0" smtClean="0">
                    <a:latin typeface="+mj-lt"/>
                    <a:cs typeface="Arial" pitchFamily="34" charset="0"/>
                  </a:rPr>
                  <a:t>M</a:t>
                </a:r>
                <a:endParaRPr lang="ru-RU" b="1" dirty="0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272" name="Rectangle 271"/>
              <p:cNvSpPr/>
              <p:nvPr/>
            </p:nvSpPr>
            <p:spPr bwMode="auto">
              <a:xfrm>
                <a:off x="4386534" y="2224644"/>
                <a:ext cx="379435" cy="627363"/>
              </a:xfrm>
              <a:prstGeom prst="rect">
                <a:avLst/>
              </a:prstGeom>
              <a:solidFill>
                <a:schemeClr val="bg2"/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b="1" dirty="0">
                    <a:latin typeface="+mj-lt"/>
                    <a:cs typeface="Arial" pitchFamily="34" charset="0"/>
                  </a:rPr>
                  <a:t>W</a:t>
                </a:r>
                <a:endParaRPr lang="ru-RU" b="1" dirty="0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273" name="TextBox 272"/>
              <p:cNvSpPr txBox="1"/>
              <p:nvPr/>
            </p:nvSpPr>
            <p:spPr>
              <a:xfrm rot="16200000">
                <a:off x="4671298" y="2378870"/>
                <a:ext cx="532279" cy="32487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 smtClean="0">
                    <a:solidFill>
                      <a:schemeClr val="tx2"/>
                    </a:solidFill>
                    <a:latin typeface="+mj-lt"/>
                  </a:rPr>
                  <a:t>wait</a:t>
                </a:r>
                <a:endParaRPr lang="ru-RU" sz="1200" dirty="0" smtClean="0">
                  <a:solidFill>
                    <a:schemeClr val="tx2"/>
                  </a:solidFill>
                  <a:latin typeface="+mj-lt"/>
                </a:endParaRPr>
              </a:p>
            </p:txBody>
          </p:sp>
        </p:grpSp>
        <p:grpSp>
          <p:nvGrpSpPr>
            <p:cNvPr id="274" name="Group 273"/>
            <p:cNvGrpSpPr/>
            <p:nvPr/>
          </p:nvGrpSpPr>
          <p:grpSpPr>
            <a:xfrm>
              <a:off x="2970241" y="6404115"/>
              <a:ext cx="3546932" cy="627363"/>
              <a:chOff x="1552942" y="2224644"/>
              <a:chExt cx="3546932" cy="627363"/>
            </a:xfrm>
          </p:grpSpPr>
          <p:sp>
            <p:nvSpPr>
              <p:cNvPr id="275" name="TextBox 274"/>
              <p:cNvSpPr txBox="1"/>
              <p:nvPr/>
            </p:nvSpPr>
            <p:spPr>
              <a:xfrm rot="16200000">
                <a:off x="2538791" y="2379130"/>
                <a:ext cx="532279" cy="32487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 smtClean="0">
                    <a:solidFill>
                      <a:schemeClr val="tx2"/>
                    </a:solidFill>
                    <a:latin typeface="+mj-lt"/>
                  </a:rPr>
                  <a:t>wait</a:t>
                </a:r>
                <a:endParaRPr lang="ru-RU" sz="1200" dirty="0" smtClean="0">
                  <a:solidFill>
                    <a:schemeClr val="tx2"/>
                  </a:solidFill>
                  <a:latin typeface="+mj-lt"/>
                </a:endParaRPr>
              </a:p>
            </p:txBody>
          </p:sp>
          <p:sp>
            <p:nvSpPr>
              <p:cNvPr id="276" name="Rectangle 275"/>
              <p:cNvSpPr/>
              <p:nvPr/>
            </p:nvSpPr>
            <p:spPr bwMode="auto">
              <a:xfrm>
                <a:off x="1552942" y="2224644"/>
                <a:ext cx="707161" cy="627363"/>
              </a:xfrm>
              <a:prstGeom prst="rect">
                <a:avLst/>
              </a:prstGeom>
              <a:solidFill>
                <a:srgbClr val="FFCC99"/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b="1" dirty="0" smtClean="0">
                    <a:latin typeface="+mj-lt"/>
                    <a:cs typeface="Arial" pitchFamily="34" charset="0"/>
                  </a:rPr>
                  <a:t>F</a:t>
                </a:r>
                <a:endParaRPr lang="ru-RU" b="1" dirty="0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277" name="Rectangle 276"/>
              <p:cNvSpPr/>
              <p:nvPr/>
            </p:nvSpPr>
            <p:spPr bwMode="auto">
              <a:xfrm>
                <a:off x="2261604" y="2224644"/>
                <a:ext cx="381872" cy="627363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b="1" dirty="0">
                    <a:latin typeface="+mj-lt"/>
                    <a:cs typeface="Arial" pitchFamily="34" charset="0"/>
                  </a:rPr>
                  <a:t>D</a:t>
                </a:r>
                <a:endParaRPr lang="ru-RU" b="1" dirty="0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278" name="Rectangle 277"/>
              <p:cNvSpPr/>
              <p:nvPr/>
            </p:nvSpPr>
            <p:spPr bwMode="auto">
              <a:xfrm>
                <a:off x="2967763" y="2224644"/>
                <a:ext cx="707161" cy="627363"/>
              </a:xfrm>
              <a:prstGeom prst="rect">
                <a:avLst/>
              </a:prstGeom>
              <a:solidFill>
                <a:srgbClr val="92D050"/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b="1" dirty="0">
                    <a:latin typeface="+mj-lt"/>
                    <a:cs typeface="Arial" pitchFamily="34" charset="0"/>
                  </a:rPr>
                  <a:t>E</a:t>
                </a:r>
                <a:endParaRPr lang="ru-RU" b="1" dirty="0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279" name="Rectangle 278"/>
              <p:cNvSpPr/>
              <p:nvPr/>
            </p:nvSpPr>
            <p:spPr bwMode="auto">
              <a:xfrm>
                <a:off x="3677870" y="2224644"/>
                <a:ext cx="707161" cy="627363"/>
              </a:xfrm>
              <a:prstGeom prst="rect">
                <a:avLst/>
              </a:prstGeom>
              <a:solidFill>
                <a:schemeClr val="accent4"/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b="1" dirty="0" smtClean="0">
                    <a:latin typeface="+mj-lt"/>
                    <a:cs typeface="Arial" pitchFamily="34" charset="0"/>
                  </a:rPr>
                  <a:t>M</a:t>
                </a:r>
                <a:endParaRPr lang="ru-RU" b="1" dirty="0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280" name="Rectangle 279"/>
              <p:cNvSpPr/>
              <p:nvPr/>
            </p:nvSpPr>
            <p:spPr bwMode="auto">
              <a:xfrm>
                <a:off x="4386534" y="2224644"/>
                <a:ext cx="379435" cy="627363"/>
              </a:xfrm>
              <a:prstGeom prst="rect">
                <a:avLst/>
              </a:prstGeom>
              <a:solidFill>
                <a:schemeClr val="bg2"/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r>
                  <a:rPr lang="en-US" b="1" dirty="0">
                    <a:latin typeface="+mj-lt"/>
                    <a:cs typeface="Arial" pitchFamily="34" charset="0"/>
                  </a:rPr>
                  <a:t>W</a:t>
                </a:r>
                <a:endParaRPr lang="ru-RU" b="1" dirty="0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281" name="TextBox 280"/>
              <p:cNvSpPr txBox="1"/>
              <p:nvPr/>
            </p:nvSpPr>
            <p:spPr>
              <a:xfrm rot="16200000">
                <a:off x="4671298" y="2378870"/>
                <a:ext cx="532279" cy="32487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 smtClean="0">
                    <a:solidFill>
                      <a:schemeClr val="tx2"/>
                    </a:solidFill>
                    <a:latin typeface="+mj-lt"/>
                  </a:rPr>
                  <a:t>wait</a:t>
                </a:r>
                <a:endParaRPr lang="ru-RU" sz="1200" dirty="0" smtClean="0">
                  <a:solidFill>
                    <a:schemeClr val="tx2"/>
                  </a:solidFill>
                  <a:latin typeface="+mj-lt"/>
                </a:endParaRPr>
              </a:p>
            </p:txBody>
          </p:sp>
        </p:grpSp>
        <p:cxnSp>
          <p:nvCxnSpPr>
            <p:cNvPr id="282" name="Straight Arrow Connector 281"/>
            <p:cNvCxnSpPr/>
            <p:nvPr/>
          </p:nvCxnSpPr>
          <p:spPr bwMode="auto">
            <a:xfrm>
              <a:off x="1545440" y="4969773"/>
              <a:ext cx="7292547" cy="0"/>
            </a:xfrm>
            <a:prstGeom prst="straightConnector1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stealth" w="lg" len="lg"/>
            </a:ln>
            <a:effectLst/>
          </p:spPr>
        </p:cxnSp>
        <p:sp>
          <p:nvSpPr>
            <p:cNvPr id="283" name="TextBox 282"/>
            <p:cNvSpPr txBox="1"/>
            <p:nvPr/>
          </p:nvSpPr>
          <p:spPr>
            <a:xfrm>
              <a:off x="8241470" y="4580120"/>
              <a:ext cx="664034" cy="3970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smtClean="0">
                  <a:latin typeface="+mj-lt"/>
                </a:rPr>
                <a:t>time</a:t>
              </a:r>
              <a:endParaRPr lang="ru-RU" sz="1600" dirty="0" smtClean="0">
                <a:latin typeface="+mj-lt"/>
              </a:endParaRPr>
            </a:p>
          </p:txBody>
        </p:sp>
        <p:sp>
          <p:nvSpPr>
            <p:cNvPr id="284" name="TextBox 283"/>
            <p:cNvSpPr txBox="1"/>
            <p:nvPr/>
          </p:nvSpPr>
          <p:spPr>
            <a:xfrm>
              <a:off x="356334" y="4039277"/>
              <a:ext cx="1272117" cy="6858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 smtClean="0">
                  <a:solidFill>
                    <a:srgbClr val="C00000"/>
                  </a:solidFill>
                  <a:latin typeface="+mj-lt"/>
                </a:rPr>
                <a:t>Sync signal</a:t>
              </a:r>
            </a:p>
            <a:p>
              <a:pPr algn="ctr"/>
              <a:r>
                <a:rPr lang="en-US" sz="1600" dirty="0" smtClean="0">
                  <a:solidFill>
                    <a:srgbClr val="C00000"/>
                  </a:solidFill>
                  <a:latin typeface="+mj-lt"/>
                </a:rPr>
                <a:t>(clocks) </a:t>
              </a:r>
              <a:endParaRPr lang="ru-RU" sz="1600" dirty="0" smtClean="0">
                <a:solidFill>
                  <a:srgbClr val="C00000"/>
                </a:solidFill>
                <a:latin typeface="+mj-lt"/>
              </a:endParaRPr>
            </a:p>
          </p:txBody>
        </p:sp>
        <p:grpSp>
          <p:nvGrpSpPr>
            <p:cNvPr id="285" name="Group 284"/>
            <p:cNvGrpSpPr/>
            <p:nvPr/>
          </p:nvGrpSpPr>
          <p:grpSpPr>
            <a:xfrm>
              <a:off x="2700178" y="4615334"/>
              <a:ext cx="558750" cy="397066"/>
              <a:chOff x="5265941" y="3647495"/>
              <a:chExt cx="558750" cy="397066"/>
            </a:xfrm>
          </p:grpSpPr>
          <p:sp>
            <p:nvSpPr>
              <p:cNvPr id="286" name="Oval 285"/>
              <p:cNvSpPr/>
              <p:nvPr/>
            </p:nvSpPr>
            <p:spPr bwMode="auto">
              <a:xfrm>
                <a:off x="5503487" y="3967297"/>
                <a:ext cx="74353" cy="74353"/>
              </a:xfrm>
              <a:prstGeom prst="ellipse">
                <a:avLst/>
              </a:prstGeom>
              <a:solidFill>
                <a:schemeClr val="tx1"/>
              </a:solidFill>
              <a:ln w="3175" cap="flat" cmpd="sng" algn="ctr">
                <a:noFill/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ru-RU" b="1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287" name="TextBox 286"/>
              <p:cNvSpPr txBox="1"/>
              <p:nvPr/>
            </p:nvSpPr>
            <p:spPr>
              <a:xfrm>
                <a:off x="5265941" y="3647495"/>
                <a:ext cx="558750" cy="3970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600" dirty="0" smtClean="0">
                    <a:latin typeface="+mj-lt"/>
                  </a:rPr>
                  <a:t>4ns</a:t>
                </a:r>
                <a:endParaRPr lang="ru-RU" sz="1600" dirty="0" smtClean="0">
                  <a:latin typeface="+mj-lt"/>
                </a:endParaRPr>
              </a:p>
            </p:txBody>
          </p:sp>
        </p:grpSp>
        <p:grpSp>
          <p:nvGrpSpPr>
            <p:cNvPr id="288" name="Group 287"/>
            <p:cNvGrpSpPr/>
            <p:nvPr/>
          </p:nvGrpSpPr>
          <p:grpSpPr>
            <a:xfrm>
              <a:off x="4125711" y="4617674"/>
              <a:ext cx="558751" cy="397066"/>
              <a:chOff x="5265940" y="3647495"/>
              <a:chExt cx="558751" cy="397066"/>
            </a:xfrm>
          </p:grpSpPr>
          <p:sp>
            <p:nvSpPr>
              <p:cNvPr id="289" name="Oval 288"/>
              <p:cNvSpPr/>
              <p:nvPr/>
            </p:nvSpPr>
            <p:spPr bwMode="auto">
              <a:xfrm>
                <a:off x="5503487" y="3967297"/>
                <a:ext cx="74353" cy="74353"/>
              </a:xfrm>
              <a:prstGeom prst="ellipse">
                <a:avLst/>
              </a:prstGeom>
              <a:solidFill>
                <a:schemeClr val="tx1"/>
              </a:solidFill>
              <a:ln w="3175" cap="flat" cmpd="sng" algn="ctr">
                <a:noFill/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ru-RU" b="1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290" name="TextBox 289"/>
              <p:cNvSpPr txBox="1"/>
              <p:nvPr/>
            </p:nvSpPr>
            <p:spPr>
              <a:xfrm>
                <a:off x="5265940" y="3647495"/>
                <a:ext cx="558751" cy="3970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600" dirty="0">
                    <a:latin typeface="+mj-lt"/>
                  </a:rPr>
                  <a:t>8</a:t>
                </a:r>
                <a:r>
                  <a:rPr lang="en-US" sz="1600" dirty="0" smtClean="0">
                    <a:latin typeface="+mj-lt"/>
                  </a:rPr>
                  <a:t>ns</a:t>
                </a:r>
                <a:endParaRPr lang="ru-RU" sz="1600" dirty="0" smtClean="0">
                  <a:latin typeface="+mj-lt"/>
                </a:endParaRPr>
              </a:p>
            </p:txBody>
          </p:sp>
        </p:grpSp>
        <p:grpSp>
          <p:nvGrpSpPr>
            <p:cNvPr id="291" name="Group 290"/>
            <p:cNvGrpSpPr/>
            <p:nvPr/>
          </p:nvGrpSpPr>
          <p:grpSpPr>
            <a:xfrm>
              <a:off x="5490622" y="4604564"/>
              <a:ext cx="680955" cy="397066"/>
              <a:chOff x="5204837" y="3647495"/>
              <a:chExt cx="680955" cy="397066"/>
            </a:xfrm>
          </p:grpSpPr>
          <p:sp>
            <p:nvSpPr>
              <p:cNvPr id="292" name="Oval 291"/>
              <p:cNvSpPr/>
              <p:nvPr/>
            </p:nvSpPr>
            <p:spPr bwMode="auto">
              <a:xfrm>
                <a:off x="5503487" y="3967297"/>
                <a:ext cx="74353" cy="74353"/>
              </a:xfrm>
              <a:prstGeom prst="ellipse">
                <a:avLst/>
              </a:prstGeom>
              <a:solidFill>
                <a:schemeClr val="tx1"/>
              </a:solidFill>
              <a:ln w="3175" cap="flat" cmpd="sng" algn="ctr">
                <a:noFill/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ru-RU" b="1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293" name="TextBox 292"/>
              <p:cNvSpPr txBox="1"/>
              <p:nvPr/>
            </p:nvSpPr>
            <p:spPr>
              <a:xfrm>
                <a:off x="5204837" y="3647495"/>
                <a:ext cx="680955" cy="3970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600" dirty="0" smtClean="0">
                    <a:latin typeface="+mj-lt"/>
                  </a:rPr>
                  <a:t>12ns</a:t>
                </a:r>
                <a:endParaRPr lang="ru-RU" sz="1600" dirty="0" smtClean="0">
                  <a:latin typeface="+mj-lt"/>
                </a:endParaRPr>
              </a:p>
            </p:txBody>
          </p:sp>
        </p:grpSp>
        <p:grpSp>
          <p:nvGrpSpPr>
            <p:cNvPr id="294" name="Group 293"/>
            <p:cNvGrpSpPr/>
            <p:nvPr/>
          </p:nvGrpSpPr>
          <p:grpSpPr>
            <a:xfrm>
              <a:off x="6927951" y="4609018"/>
              <a:ext cx="680955" cy="397066"/>
              <a:chOff x="5204837" y="3647495"/>
              <a:chExt cx="680955" cy="397066"/>
            </a:xfrm>
          </p:grpSpPr>
          <p:sp>
            <p:nvSpPr>
              <p:cNvPr id="295" name="Oval 294"/>
              <p:cNvSpPr/>
              <p:nvPr/>
            </p:nvSpPr>
            <p:spPr bwMode="auto">
              <a:xfrm>
                <a:off x="5503487" y="3967297"/>
                <a:ext cx="74353" cy="74353"/>
              </a:xfrm>
              <a:prstGeom prst="ellipse">
                <a:avLst/>
              </a:prstGeom>
              <a:solidFill>
                <a:schemeClr val="tx1"/>
              </a:solidFill>
              <a:ln w="3175" cap="flat" cmpd="sng" algn="ctr">
                <a:noFill/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ru-RU" b="1" smtClean="0">
                  <a:latin typeface="+mj-lt"/>
                  <a:cs typeface="Arial" pitchFamily="34" charset="0"/>
                </a:endParaRPr>
              </a:p>
            </p:txBody>
          </p:sp>
          <p:sp>
            <p:nvSpPr>
              <p:cNvPr id="296" name="TextBox 295"/>
              <p:cNvSpPr txBox="1"/>
              <p:nvPr/>
            </p:nvSpPr>
            <p:spPr>
              <a:xfrm>
                <a:off x="5204837" y="3647495"/>
                <a:ext cx="680955" cy="3970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600" dirty="0" smtClean="0">
                    <a:latin typeface="+mj-lt"/>
                  </a:rPr>
                  <a:t>16ns</a:t>
                </a:r>
                <a:endParaRPr lang="ru-RU" sz="1600" dirty="0" smtClean="0">
                  <a:latin typeface="+mj-lt"/>
                </a:endParaRPr>
              </a:p>
            </p:txBody>
          </p:sp>
        </p:grpSp>
        <p:grpSp>
          <p:nvGrpSpPr>
            <p:cNvPr id="297" name="Group 296"/>
            <p:cNvGrpSpPr/>
            <p:nvPr/>
          </p:nvGrpSpPr>
          <p:grpSpPr>
            <a:xfrm>
              <a:off x="1546014" y="5020304"/>
              <a:ext cx="5696578" cy="2176981"/>
              <a:chOff x="1546014" y="3210554"/>
              <a:chExt cx="5696578" cy="2387577"/>
            </a:xfrm>
          </p:grpSpPr>
          <p:cxnSp>
            <p:nvCxnSpPr>
              <p:cNvPr id="298" name="Straight Connector 297"/>
              <p:cNvCxnSpPr/>
              <p:nvPr/>
            </p:nvCxnSpPr>
            <p:spPr bwMode="auto">
              <a:xfrm>
                <a:off x="2260610" y="3210554"/>
                <a:ext cx="0" cy="2362200"/>
              </a:xfrm>
              <a:prstGeom prst="lin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2">
                    <a:lumMod val="50000"/>
                  </a:schemeClr>
                </a:solidFill>
                <a:prstDash val="lgDashDot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99" name="Straight Connector 298"/>
              <p:cNvCxnSpPr/>
              <p:nvPr/>
            </p:nvCxnSpPr>
            <p:spPr bwMode="auto">
              <a:xfrm>
                <a:off x="2972335" y="3210554"/>
                <a:ext cx="0" cy="2362200"/>
              </a:xfrm>
              <a:prstGeom prst="lin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2">
                    <a:lumMod val="50000"/>
                  </a:schemeClr>
                </a:solidFill>
                <a:prstDash val="lgDashDot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00" name="Straight Connector 299"/>
              <p:cNvCxnSpPr/>
              <p:nvPr/>
            </p:nvCxnSpPr>
            <p:spPr bwMode="auto">
              <a:xfrm>
                <a:off x="3678034" y="3210554"/>
                <a:ext cx="0" cy="2362200"/>
              </a:xfrm>
              <a:prstGeom prst="lin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2">
                    <a:lumMod val="50000"/>
                  </a:schemeClr>
                </a:solidFill>
                <a:prstDash val="lgDashDot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01" name="Straight Connector 300"/>
              <p:cNvCxnSpPr/>
              <p:nvPr/>
            </p:nvCxnSpPr>
            <p:spPr bwMode="auto">
              <a:xfrm>
                <a:off x="4385626" y="3210554"/>
                <a:ext cx="0" cy="2362200"/>
              </a:xfrm>
              <a:prstGeom prst="lin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2">
                    <a:lumMod val="50000"/>
                  </a:schemeClr>
                </a:solidFill>
                <a:prstDash val="lgDashDot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02" name="Straight Connector 301"/>
              <p:cNvCxnSpPr/>
              <p:nvPr/>
            </p:nvCxnSpPr>
            <p:spPr bwMode="auto">
              <a:xfrm>
                <a:off x="1546014" y="3210554"/>
                <a:ext cx="0" cy="2362200"/>
              </a:xfrm>
              <a:prstGeom prst="lin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2">
                    <a:lumMod val="50000"/>
                  </a:schemeClr>
                </a:solidFill>
                <a:prstDash val="lgDashDot"/>
                <a:round/>
                <a:headEnd type="none" w="med" len="med"/>
                <a:tailEnd type="none" w="med" len="med"/>
              </a:ln>
              <a:effectLst/>
            </p:spPr>
          </p:cxnSp>
          <p:grpSp>
            <p:nvGrpSpPr>
              <p:cNvPr id="303" name="Group 302"/>
              <p:cNvGrpSpPr/>
              <p:nvPr/>
            </p:nvGrpSpPr>
            <p:grpSpPr>
              <a:xfrm>
                <a:off x="5098340" y="3212484"/>
                <a:ext cx="1417424" cy="2362200"/>
                <a:chOff x="2413010" y="2250440"/>
                <a:chExt cx="1417424" cy="2362200"/>
              </a:xfrm>
            </p:grpSpPr>
            <p:cxnSp>
              <p:nvCxnSpPr>
                <p:cNvPr id="305" name="Straight Connector 304"/>
                <p:cNvCxnSpPr/>
                <p:nvPr/>
              </p:nvCxnSpPr>
              <p:spPr bwMode="auto">
                <a:xfrm>
                  <a:off x="2413010" y="2250440"/>
                  <a:ext cx="0" cy="2362200"/>
                </a:xfrm>
                <a:prstGeom prst="line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2">
                      <a:lumMod val="50000"/>
                    </a:schemeClr>
                  </a:solidFill>
                  <a:prstDash val="lgDashDot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306" name="Straight Connector 305"/>
                <p:cNvCxnSpPr/>
                <p:nvPr/>
              </p:nvCxnSpPr>
              <p:spPr bwMode="auto">
                <a:xfrm>
                  <a:off x="3124735" y="2250440"/>
                  <a:ext cx="0" cy="2362200"/>
                </a:xfrm>
                <a:prstGeom prst="line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2">
                      <a:lumMod val="50000"/>
                    </a:schemeClr>
                  </a:solidFill>
                  <a:prstDash val="lgDashDot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307" name="Straight Connector 306"/>
                <p:cNvCxnSpPr/>
                <p:nvPr/>
              </p:nvCxnSpPr>
              <p:spPr bwMode="auto">
                <a:xfrm>
                  <a:off x="3830434" y="2250440"/>
                  <a:ext cx="0" cy="2362200"/>
                </a:xfrm>
                <a:prstGeom prst="line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2">
                      <a:lumMod val="50000"/>
                    </a:schemeClr>
                  </a:solidFill>
                  <a:prstDash val="lgDashDot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cxnSp>
            <p:nvCxnSpPr>
              <p:cNvPr id="304" name="Straight Connector 303"/>
              <p:cNvCxnSpPr/>
              <p:nvPr/>
            </p:nvCxnSpPr>
            <p:spPr bwMode="auto">
              <a:xfrm>
                <a:off x="7242592" y="3235931"/>
                <a:ext cx="0" cy="2362200"/>
              </a:xfrm>
              <a:prstGeom prst="lin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2">
                    <a:lumMod val="50000"/>
                  </a:schemeClr>
                </a:solidFill>
                <a:prstDash val="lgDashDot"/>
                <a:round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308" name="Group 307"/>
            <p:cNvGrpSpPr/>
            <p:nvPr/>
          </p:nvGrpSpPr>
          <p:grpSpPr>
            <a:xfrm>
              <a:off x="1547446" y="4202429"/>
              <a:ext cx="5685688" cy="433754"/>
              <a:chOff x="1547446" y="4818185"/>
              <a:chExt cx="5685688" cy="433754"/>
            </a:xfrm>
          </p:grpSpPr>
          <p:sp>
            <p:nvSpPr>
              <p:cNvPr id="309" name="Freeform 308"/>
              <p:cNvSpPr/>
              <p:nvPr/>
            </p:nvSpPr>
            <p:spPr bwMode="auto">
              <a:xfrm flipV="1">
                <a:off x="1547446" y="4818185"/>
                <a:ext cx="703385" cy="410307"/>
              </a:xfrm>
              <a:custGeom>
                <a:avLst/>
                <a:gdLst>
                  <a:gd name="connsiteX0" fmla="*/ 0 w 703385"/>
                  <a:gd name="connsiteY0" fmla="*/ 410307 h 410307"/>
                  <a:gd name="connsiteX1" fmla="*/ 351692 w 703385"/>
                  <a:gd name="connsiteY1" fmla="*/ 410307 h 410307"/>
                  <a:gd name="connsiteX2" fmla="*/ 351692 w 703385"/>
                  <a:gd name="connsiteY2" fmla="*/ 0 h 410307"/>
                  <a:gd name="connsiteX3" fmla="*/ 703385 w 703385"/>
                  <a:gd name="connsiteY3" fmla="*/ 0 h 410307"/>
                  <a:gd name="connsiteX4" fmla="*/ 703385 w 703385"/>
                  <a:gd name="connsiteY4" fmla="*/ 398584 h 410307"/>
                  <a:gd name="connsiteX5" fmla="*/ 691662 w 703385"/>
                  <a:gd name="connsiteY5" fmla="*/ 410307 h 4103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03385" h="410307">
                    <a:moveTo>
                      <a:pt x="0" y="410307"/>
                    </a:moveTo>
                    <a:lnTo>
                      <a:pt x="351692" y="410307"/>
                    </a:lnTo>
                    <a:lnTo>
                      <a:pt x="351692" y="0"/>
                    </a:lnTo>
                    <a:lnTo>
                      <a:pt x="703385" y="0"/>
                    </a:lnTo>
                    <a:lnTo>
                      <a:pt x="703385" y="398584"/>
                    </a:lnTo>
                    <a:lnTo>
                      <a:pt x="691662" y="410307"/>
                    </a:lnTo>
                  </a:path>
                </a:pathLst>
              </a:custGeom>
              <a:noFill/>
              <a:ln w="19050" cap="flat" cmpd="sng" algn="ctr">
                <a:solidFill>
                  <a:srgbClr val="C00000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rtlCol="0" anchor="ctr"/>
              <a:lstStyle/>
              <a:p>
                <a:pPr algn="ctr"/>
                <a:endParaRPr lang="ru-RU" sz="1600">
                  <a:latin typeface="+mj-lt"/>
                </a:endParaRPr>
              </a:p>
            </p:txBody>
          </p:sp>
          <p:sp>
            <p:nvSpPr>
              <p:cNvPr id="310" name="Freeform 309"/>
              <p:cNvSpPr/>
              <p:nvPr/>
            </p:nvSpPr>
            <p:spPr bwMode="auto">
              <a:xfrm flipV="1">
                <a:off x="2262550" y="4818185"/>
                <a:ext cx="703385" cy="410307"/>
              </a:xfrm>
              <a:custGeom>
                <a:avLst/>
                <a:gdLst>
                  <a:gd name="connsiteX0" fmla="*/ 0 w 703385"/>
                  <a:gd name="connsiteY0" fmla="*/ 410307 h 410307"/>
                  <a:gd name="connsiteX1" fmla="*/ 351692 w 703385"/>
                  <a:gd name="connsiteY1" fmla="*/ 410307 h 410307"/>
                  <a:gd name="connsiteX2" fmla="*/ 351692 w 703385"/>
                  <a:gd name="connsiteY2" fmla="*/ 0 h 410307"/>
                  <a:gd name="connsiteX3" fmla="*/ 703385 w 703385"/>
                  <a:gd name="connsiteY3" fmla="*/ 0 h 410307"/>
                  <a:gd name="connsiteX4" fmla="*/ 703385 w 703385"/>
                  <a:gd name="connsiteY4" fmla="*/ 398584 h 410307"/>
                  <a:gd name="connsiteX5" fmla="*/ 691662 w 703385"/>
                  <a:gd name="connsiteY5" fmla="*/ 410307 h 4103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03385" h="410307">
                    <a:moveTo>
                      <a:pt x="0" y="410307"/>
                    </a:moveTo>
                    <a:lnTo>
                      <a:pt x="351692" y="410307"/>
                    </a:lnTo>
                    <a:lnTo>
                      <a:pt x="351692" y="0"/>
                    </a:lnTo>
                    <a:lnTo>
                      <a:pt x="703385" y="0"/>
                    </a:lnTo>
                    <a:lnTo>
                      <a:pt x="703385" y="398584"/>
                    </a:lnTo>
                    <a:lnTo>
                      <a:pt x="691662" y="410307"/>
                    </a:lnTo>
                  </a:path>
                </a:pathLst>
              </a:custGeom>
              <a:noFill/>
              <a:ln w="19050" cap="flat" cmpd="sng" algn="ctr">
                <a:solidFill>
                  <a:srgbClr val="C00000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rtlCol="0" anchor="ctr"/>
              <a:lstStyle/>
              <a:p>
                <a:pPr algn="ctr"/>
                <a:endParaRPr lang="ru-RU" sz="1600">
                  <a:latin typeface="+mj-lt"/>
                </a:endParaRPr>
              </a:p>
            </p:txBody>
          </p:sp>
          <p:sp>
            <p:nvSpPr>
              <p:cNvPr id="311" name="Freeform 310"/>
              <p:cNvSpPr/>
              <p:nvPr/>
            </p:nvSpPr>
            <p:spPr bwMode="auto">
              <a:xfrm flipV="1">
                <a:off x="2965938" y="4818185"/>
                <a:ext cx="703385" cy="410307"/>
              </a:xfrm>
              <a:custGeom>
                <a:avLst/>
                <a:gdLst>
                  <a:gd name="connsiteX0" fmla="*/ 0 w 703385"/>
                  <a:gd name="connsiteY0" fmla="*/ 410307 h 410307"/>
                  <a:gd name="connsiteX1" fmla="*/ 351692 w 703385"/>
                  <a:gd name="connsiteY1" fmla="*/ 410307 h 410307"/>
                  <a:gd name="connsiteX2" fmla="*/ 351692 w 703385"/>
                  <a:gd name="connsiteY2" fmla="*/ 0 h 410307"/>
                  <a:gd name="connsiteX3" fmla="*/ 703385 w 703385"/>
                  <a:gd name="connsiteY3" fmla="*/ 0 h 410307"/>
                  <a:gd name="connsiteX4" fmla="*/ 703385 w 703385"/>
                  <a:gd name="connsiteY4" fmla="*/ 398584 h 410307"/>
                  <a:gd name="connsiteX5" fmla="*/ 691662 w 703385"/>
                  <a:gd name="connsiteY5" fmla="*/ 410307 h 4103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03385" h="410307">
                    <a:moveTo>
                      <a:pt x="0" y="410307"/>
                    </a:moveTo>
                    <a:lnTo>
                      <a:pt x="351692" y="410307"/>
                    </a:lnTo>
                    <a:lnTo>
                      <a:pt x="351692" y="0"/>
                    </a:lnTo>
                    <a:lnTo>
                      <a:pt x="703385" y="0"/>
                    </a:lnTo>
                    <a:lnTo>
                      <a:pt x="703385" y="398584"/>
                    </a:lnTo>
                    <a:lnTo>
                      <a:pt x="691662" y="410307"/>
                    </a:lnTo>
                  </a:path>
                </a:pathLst>
              </a:custGeom>
              <a:noFill/>
              <a:ln w="19050" cap="flat" cmpd="sng" algn="ctr">
                <a:solidFill>
                  <a:srgbClr val="C00000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rtlCol="0" anchor="ctr"/>
              <a:lstStyle/>
              <a:p>
                <a:pPr algn="ctr"/>
                <a:endParaRPr lang="ru-RU" sz="1600">
                  <a:latin typeface="+mj-lt"/>
                </a:endParaRPr>
              </a:p>
            </p:txBody>
          </p:sp>
          <p:sp>
            <p:nvSpPr>
              <p:cNvPr id="312" name="Freeform 311"/>
              <p:cNvSpPr/>
              <p:nvPr/>
            </p:nvSpPr>
            <p:spPr bwMode="auto">
              <a:xfrm flipV="1">
                <a:off x="3681042" y="4818185"/>
                <a:ext cx="703385" cy="410307"/>
              </a:xfrm>
              <a:custGeom>
                <a:avLst/>
                <a:gdLst>
                  <a:gd name="connsiteX0" fmla="*/ 0 w 703385"/>
                  <a:gd name="connsiteY0" fmla="*/ 410307 h 410307"/>
                  <a:gd name="connsiteX1" fmla="*/ 351692 w 703385"/>
                  <a:gd name="connsiteY1" fmla="*/ 410307 h 410307"/>
                  <a:gd name="connsiteX2" fmla="*/ 351692 w 703385"/>
                  <a:gd name="connsiteY2" fmla="*/ 0 h 410307"/>
                  <a:gd name="connsiteX3" fmla="*/ 703385 w 703385"/>
                  <a:gd name="connsiteY3" fmla="*/ 0 h 410307"/>
                  <a:gd name="connsiteX4" fmla="*/ 703385 w 703385"/>
                  <a:gd name="connsiteY4" fmla="*/ 398584 h 410307"/>
                  <a:gd name="connsiteX5" fmla="*/ 691662 w 703385"/>
                  <a:gd name="connsiteY5" fmla="*/ 410307 h 4103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03385" h="410307">
                    <a:moveTo>
                      <a:pt x="0" y="410307"/>
                    </a:moveTo>
                    <a:lnTo>
                      <a:pt x="351692" y="410307"/>
                    </a:lnTo>
                    <a:lnTo>
                      <a:pt x="351692" y="0"/>
                    </a:lnTo>
                    <a:lnTo>
                      <a:pt x="703385" y="0"/>
                    </a:lnTo>
                    <a:lnTo>
                      <a:pt x="703385" y="398584"/>
                    </a:lnTo>
                    <a:lnTo>
                      <a:pt x="691662" y="410307"/>
                    </a:lnTo>
                  </a:path>
                </a:pathLst>
              </a:custGeom>
              <a:noFill/>
              <a:ln w="19050" cap="flat" cmpd="sng" algn="ctr">
                <a:solidFill>
                  <a:srgbClr val="C00000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rtlCol="0" anchor="ctr"/>
              <a:lstStyle/>
              <a:p>
                <a:pPr algn="ctr"/>
                <a:endParaRPr lang="ru-RU" sz="1600">
                  <a:latin typeface="+mj-lt"/>
                </a:endParaRPr>
              </a:p>
            </p:txBody>
          </p:sp>
          <p:sp>
            <p:nvSpPr>
              <p:cNvPr id="313" name="Freeform 312"/>
              <p:cNvSpPr/>
              <p:nvPr/>
            </p:nvSpPr>
            <p:spPr bwMode="auto">
              <a:xfrm flipV="1">
                <a:off x="4396153" y="4841632"/>
                <a:ext cx="703385" cy="410307"/>
              </a:xfrm>
              <a:custGeom>
                <a:avLst/>
                <a:gdLst>
                  <a:gd name="connsiteX0" fmla="*/ 0 w 703385"/>
                  <a:gd name="connsiteY0" fmla="*/ 410307 h 410307"/>
                  <a:gd name="connsiteX1" fmla="*/ 351692 w 703385"/>
                  <a:gd name="connsiteY1" fmla="*/ 410307 h 410307"/>
                  <a:gd name="connsiteX2" fmla="*/ 351692 w 703385"/>
                  <a:gd name="connsiteY2" fmla="*/ 0 h 410307"/>
                  <a:gd name="connsiteX3" fmla="*/ 703385 w 703385"/>
                  <a:gd name="connsiteY3" fmla="*/ 0 h 410307"/>
                  <a:gd name="connsiteX4" fmla="*/ 703385 w 703385"/>
                  <a:gd name="connsiteY4" fmla="*/ 398584 h 410307"/>
                  <a:gd name="connsiteX5" fmla="*/ 691662 w 703385"/>
                  <a:gd name="connsiteY5" fmla="*/ 410307 h 4103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03385" h="410307">
                    <a:moveTo>
                      <a:pt x="0" y="410307"/>
                    </a:moveTo>
                    <a:lnTo>
                      <a:pt x="351692" y="410307"/>
                    </a:lnTo>
                    <a:lnTo>
                      <a:pt x="351692" y="0"/>
                    </a:lnTo>
                    <a:lnTo>
                      <a:pt x="703385" y="0"/>
                    </a:lnTo>
                    <a:lnTo>
                      <a:pt x="703385" y="398584"/>
                    </a:lnTo>
                    <a:lnTo>
                      <a:pt x="691662" y="410307"/>
                    </a:lnTo>
                  </a:path>
                </a:pathLst>
              </a:custGeom>
              <a:noFill/>
              <a:ln w="19050" cap="flat" cmpd="sng" algn="ctr">
                <a:solidFill>
                  <a:srgbClr val="C00000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rtlCol="0" anchor="ctr"/>
              <a:lstStyle/>
              <a:p>
                <a:pPr algn="ctr"/>
                <a:endParaRPr lang="ru-RU" sz="1600">
                  <a:latin typeface="+mj-lt"/>
                </a:endParaRPr>
              </a:p>
            </p:txBody>
          </p:sp>
          <p:sp>
            <p:nvSpPr>
              <p:cNvPr id="314" name="Freeform 313"/>
              <p:cNvSpPr/>
              <p:nvPr/>
            </p:nvSpPr>
            <p:spPr bwMode="auto">
              <a:xfrm flipV="1">
                <a:off x="5111257" y="4841632"/>
                <a:ext cx="703385" cy="410307"/>
              </a:xfrm>
              <a:custGeom>
                <a:avLst/>
                <a:gdLst>
                  <a:gd name="connsiteX0" fmla="*/ 0 w 703385"/>
                  <a:gd name="connsiteY0" fmla="*/ 410307 h 410307"/>
                  <a:gd name="connsiteX1" fmla="*/ 351692 w 703385"/>
                  <a:gd name="connsiteY1" fmla="*/ 410307 h 410307"/>
                  <a:gd name="connsiteX2" fmla="*/ 351692 w 703385"/>
                  <a:gd name="connsiteY2" fmla="*/ 0 h 410307"/>
                  <a:gd name="connsiteX3" fmla="*/ 703385 w 703385"/>
                  <a:gd name="connsiteY3" fmla="*/ 0 h 410307"/>
                  <a:gd name="connsiteX4" fmla="*/ 703385 w 703385"/>
                  <a:gd name="connsiteY4" fmla="*/ 398584 h 410307"/>
                  <a:gd name="connsiteX5" fmla="*/ 691662 w 703385"/>
                  <a:gd name="connsiteY5" fmla="*/ 410307 h 4103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03385" h="410307">
                    <a:moveTo>
                      <a:pt x="0" y="410307"/>
                    </a:moveTo>
                    <a:lnTo>
                      <a:pt x="351692" y="410307"/>
                    </a:lnTo>
                    <a:lnTo>
                      <a:pt x="351692" y="0"/>
                    </a:lnTo>
                    <a:lnTo>
                      <a:pt x="703385" y="0"/>
                    </a:lnTo>
                    <a:lnTo>
                      <a:pt x="703385" y="398584"/>
                    </a:lnTo>
                    <a:lnTo>
                      <a:pt x="691662" y="410307"/>
                    </a:lnTo>
                  </a:path>
                </a:pathLst>
              </a:custGeom>
              <a:noFill/>
              <a:ln w="19050" cap="flat" cmpd="sng" algn="ctr">
                <a:solidFill>
                  <a:srgbClr val="C00000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rtlCol="0" anchor="ctr"/>
              <a:lstStyle/>
              <a:p>
                <a:pPr algn="ctr"/>
                <a:endParaRPr lang="ru-RU" sz="1600">
                  <a:latin typeface="+mj-lt"/>
                </a:endParaRPr>
              </a:p>
            </p:txBody>
          </p:sp>
          <p:sp>
            <p:nvSpPr>
              <p:cNvPr id="315" name="Freeform 314"/>
              <p:cNvSpPr/>
              <p:nvPr/>
            </p:nvSpPr>
            <p:spPr bwMode="auto">
              <a:xfrm flipV="1">
                <a:off x="5814645" y="4841632"/>
                <a:ext cx="703385" cy="410307"/>
              </a:xfrm>
              <a:custGeom>
                <a:avLst/>
                <a:gdLst>
                  <a:gd name="connsiteX0" fmla="*/ 0 w 703385"/>
                  <a:gd name="connsiteY0" fmla="*/ 410307 h 410307"/>
                  <a:gd name="connsiteX1" fmla="*/ 351692 w 703385"/>
                  <a:gd name="connsiteY1" fmla="*/ 410307 h 410307"/>
                  <a:gd name="connsiteX2" fmla="*/ 351692 w 703385"/>
                  <a:gd name="connsiteY2" fmla="*/ 0 h 410307"/>
                  <a:gd name="connsiteX3" fmla="*/ 703385 w 703385"/>
                  <a:gd name="connsiteY3" fmla="*/ 0 h 410307"/>
                  <a:gd name="connsiteX4" fmla="*/ 703385 w 703385"/>
                  <a:gd name="connsiteY4" fmla="*/ 398584 h 410307"/>
                  <a:gd name="connsiteX5" fmla="*/ 691662 w 703385"/>
                  <a:gd name="connsiteY5" fmla="*/ 410307 h 4103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03385" h="410307">
                    <a:moveTo>
                      <a:pt x="0" y="410307"/>
                    </a:moveTo>
                    <a:lnTo>
                      <a:pt x="351692" y="410307"/>
                    </a:lnTo>
                    <a:lnTo>
                      <a:pt x="351692" y="0"/>
                    </a:lnTo>
                    <a:lnTo>
                      <a:pt x="703385" y="0"/>
                    </a:lnTo>
                    <a:lnTo>
                      <a:pt x="703385" y="398584"/>
                    </a:lnTo>
                    <a:lnTo>
                      <a:pt x="691662" y="410307"/>
                    </a:lnTo>
                  </a:path>
                </a:pathLst>
              </a:custGeom>
              <a:noFill/>
              <a:ln w="19050" cap="flat" cmpd="sng" algn="ctr">
                <a:solidFill>
                  <a:srgbClr val="C00000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rtlCol="0" anchor="ctr"/>
              <a:lstStyle/>
              <a:p>
                <a:pPr algn="ctr"/>
                <a:endParaRPr lang="ru-RU" sz="1600">
                  <a:latin typeface="+mj-lt"/>
                </a:endParaRPr>
              </a:p>
            </p:txBody>
          </p:sp>
          <p:sp>
            <p:nvSpPr>
              <p:cNvPr id="316" name="Freeform 315"/>
              <p:cNvSpPr/>
              <p:nvPr/>
            </p:nvSpPr>
            <p:spPr bwMode="auto">
              <a:xfrm flipV="1">
                <a:off x="6529749" y="4841632"/>
                <a:ext cx="703385" cy="410307"/>
              </a:xfrm>
              <a:custGeom>
                <a:avLst/>
                <a:gdLst>
                  <a:gd name="connsiteX0" fmla="*/ 0 w 703385"/>
                  <a:gd name="connsiteY0" fmla="*/ 410307 h 410307"/>
                  <a:gd name="connsiteX1" fmla="*/ 351692 w 703385"/>
                  <a:gd name="connsiteY1" fmla="*/ 410307 h 410307"/>
                  <a:gd name="connsiteX2" fmla="*/ 351692 w 703385"/>
                  <a:gd name="connsiteY2" fmla="*/ 0 h 410307"/>
                  <a:gd name="connsiteX3" fmla="*/ 703385 w 703385"/>
                  <a:gd name="connsiteY3" fmla="*/ 0 h 410307"/>
                  <a:gd name="connsiteX4" fmla="*/ 703385 w 703385"/>
                  <a:gd name="connsiteY4" fmla="*/ 398584 h 410307"/>
                  <a:gd name="connsiteX5" fmla="*/ 691662 w 703385"/>
                  <a:gd name="connsiteY5" fmla="*/ 410307 h 4103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03385" h="410307">
                    <a:moveTo>
                      <a:pt x="0" y="410307"/>
                    </a:moveTo>
                    <a:lnTo>
                      <a:pt x="351692" y="410307"/>
                    </a:lnTo>
                    <a:lnTo>
                      <a:pt x="351692" y="0"/>
                    </a:lnTo>
                    <a:lnTo>
                      <a:pt x="703385" y="0"/>
                    </a:lnTo>
                    <a:lnTo>
                      <a:pt x="703385" y="398584"/>
                    </a:lnTo>
                    <a:lnTo>
                      <a:pt x="691662" y="410307"/>
                    </a:lnTo>
                  </a:path>
                </a:pathLst>
              </a:custGeom>
              <a:noFill/>
              <a:ln w="19050" cap="flat" cmpd="sng" algn="ctr">
                <a:solidFill>
                  <a:srgbClr val="C00000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rtlCol="0" anchor="ctr"/>
              <a:lstStyle/>
              <a:p>
                <a:pPr algn="ctr"/>
                <a:endParaRPr lang="ru-RU" sz="1600">
                  <a:latin typeface="+mj-lt"/>
                </a:endParaRPr>
              </a:p>
            </p:txBody>
          </p:sp>
        </p:grpSp>
      </p:grpSp>
      <p:sp>
        <p:nvSpPr>
          <p:cNvPr id="38" name="Rectangle 37"/>
          <p:cNvSpPr/>
          <p:nvPr/>
        </p:nvSpPr>
        <p:spPr>
          <a:xfrm rot="16200000">
            <a:off x="-175463" y="4918168"/>
            <a:ext cx="16482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kern="0" dirty="0">
                <a:solidFill>
                  <a:srgbClr val="00B050"/>
                </a:solidFill>
                <a:latin typeface="+mj-lt"/>
                <a:ea typeface="+mj-ea"/>
              </a:rPr>
              <a:t>Pipelined </a:t>
            </a:r>
            <a:endParaRPr lang="ru-RU" sz="1600" dirty="0">
              <a:solidFill>
                <a:srgbClr val="00B050"/>
              </a:solidFill>
              <a:latin typeface="+mj-lt"/>
            </a:endParaRPr>
          </a:p>
        </p:txBody>
      </p:sp>
      <p:sp>
        <p:nvSpPr>
          <p:cNvPr id="317" name="Rectangle 316"/>
          <p:cNvSpPr/>
          <p:nvPr/>
        </p:nvSpPr>
        <p:spPr>
          <a:xfrm rot="16200000">
            <a:off x="-512554" y="2051357"/>
            <a:ext cx="228780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kern="0" dirty="0">
                <a:solidFill>
                  <a:srgbClr val="FF0000"/>
                </a:solidFill>
                <a:latin typeface="+mj-lt"/>
                <a:ea typeface="+mj-ea"/>
              </a:rPr>
              <a:t>Non-Pipelined</a:t>
            </a:r>
            <a:endParaRPr lang="ru-RU" sz="1600" dirty="0">
              <a:solidFill>
                <a:srgbClr val="FF0000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Rectangle 106"/>
              <p:cNvSpPr/>
              <p:nvPr/>
            </p:nvSpPr>
            <p:spPr>
              <a:xfrm>
                <a:off x="2347124" y="6060985"/>
                <a:ext cx="4206536" cy="70916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rgbClr val="FF0000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mtClean="0">
                          <a:solidFill>
                            <a:srgbClr val="061922"/>
                          </a:solidFill>
                          <a:latin typeface="Cambria Math" panose="02040503050406030204" pitchFamily="18" charset="0"/>
                        </a:rPr>
                        <m:t>Speedup</m:t>
                      </m:r>
                      <m:r>
                        <a:rPr lang="en-US" smtClean="0">
                          <a:solidFill>
                            <a:srgbClr val="06192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6192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solidFill>
                                    <a:srgbClr val="06192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mtClean="0">
                                  <a:solidFill>
                                    <a:srgbClr val="061922"/>
                                  </a:solidFill>
                                  <a:latin typeface="Cambria Math" panose="02040503050406030204" pitchFamily="18" charset="0"/>
                                </a:rPr>
                                <m:t>Wor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solidFill>
                                    <a:srgbClr val="061922"/>
                                  </a:solidFill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  <m:r>
                                <m:rPr>
                                  <m:sty m:val="p"/>
                                </m:rPr>
                                <a:rPr lang="en-US" smtClean="0">
                                  <a:solidFill>
                                    <a:srgbClr val="061922"/>
                                  </a:solidFill>
                                  <a:latin typeface="Cambria Math" panose="02040503050406030204" pitchFamily="18" charset="0"/>
                                </a:rPr>
                                <m:t>load</m:t>
                              </m:r>
                              <m:r>
                                <a:rPr lang="en-US" smtClean="0">
                                  <a:solidFill>
                                    <a:srgbClr val="061922"/>
                                  </a:solidFill>
                                  <a:latin typeface="Cambria Math" panose="02040503050406030204" pitchFamily="18" charset="0"/>
                                </a:rPr>
                                <m:t>_</m:t>
                              </m:r>
                              <m:r>
                                <m:rPr>
                                  <m:sty m:val="p"/>
                                </m:rPr>
                                <a:rPr lang="en-US" smtClean="0">
                                  <a:solidFill>
                                    <a:srgbClr val="061922"/>
                                  </a:solidFill>
                                  <a:latin typeface="Cambria Math" panose="02040503050406030204" pitchFamily="18" charset="0"/>
                                </a:rPr>
                                <m:t>Time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mtClean="0">
                                  <a:solidFill>
                                    <a:srgbClr val="0071C5"/>
                                  </a:solidFill>
                                  <a:latin typeface="Cambria Math" panose="02040503050406030204" pitchFamily="18" charset="0"/>
                                </a:rPr>
                                <m:t>Non</m:t>
                              </m:r>
                              <m:r>
                                <a:rPr lang="en-US" smtClean="0">
                                  <a:solidFill>
                                    <a:srgbClr val="0071C5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smtClean="0">
                                  <a:solidFill>
                                    <a:srgbClr val="0071C5"/>
                                  </a:solidFill>
                                  <a:latin typeface="Cambria Math" panose="02040503050406030204" pitchFamily="18" charset="0"/>
                                </a:rPr>
                                <m:t>Pipelined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solidFill>
                                    <a:srgbClr val="06192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mtClean="0">
                                  <a:solidFill>
                                    <a:srgbClr val="061922"/>
                                  </a:solidFill>
                                  <a:latin typeface="Cambria Math" panose="02040503050406030204" pitchFamily="18" charset="0"/>
                                </a:rPr>
                                <m:t>Slowest</m:t>
                              </m:r>
                              <m:r>
                                <a:rPr lang="en-US" smtClean="0">
                                  <a:solidFill>
                                    <a:srgbClr val="061922"/>
                                  </a:solidFill>
                                  <a:latin typeface="Cambria Math" panose="02040503050406030204" pitchFamily="18" charset="0"/>
                                </a:rPr>
                                <m:t>_</m:t>
                              </m:r>
                              <m:r>
                                <m:rPr>
                                  <m:sty m:val="p"/>
                                </m:rPr>
                                <a:rPr lang="en-US" smtClean="0">
                                  <a:solidFill>
                                    <a:srgbClr val="061922"/>
                                  </a:solidFill>
                                  <a:latin typeface="Cambria Math" panose="02040503050406030204" pitchFamily="18" charset="0"/>
                                </a:rPr>
                                <m:t>Stage</m:t>
                              </m:r>
                              <m:r>
                                <a:rPr lang="en-US" smtClean="0">
                                  <a:solidFill>
                                    <a:srgbClr val="061922"/>
                                  </a:solidFill>
                                  <a:latin typeface="Cambria Math" panose="02040503050406030204" pitchFamily="18" charset="0"/>
                                </a:rPr>
                                <m:t>_</m:t>
                              </m:r>
                              <m:r>
                                <m:rPr>
                                  <m:sty m:val="p"/>
                                </m:rPr>
                                <a:rPr lang="en-US" smtClean="0">
                                  <a:solidFill>
                                    <a:srgbClr val="061922"/>
                                  </a:solidFill>
                                  <a:latin typeface="Cambria Math" panose="02040503050406030204" pitchFamily="18" charset="0"/>
                                </a:rPr>
                                <m:t>Time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mtClean="0">
                                  <a:solidFill>
                                    <a:srgbClr val="0071C5"/>
                                  </a:solidFill>
                                  <a:latin typeface="Cambria Math" panose="02040503050406030204" pitchFamily="18" charset="0"/>
                                </a:rPr>
                                <m:t>Pipelined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ru-RU" b="1" dirty="0">
                  <a:solidFill>
                    <a:srgbClr val="061922"/>
                  </a:solidFill>
                </a:endParaRPr>
              </a:p>
            </p:txBody>
          </p:sp>
        </mc:Choice>
        <mc:Fallback xmlns="">
          <p:sp>
            <p:nvSpPr>
              <p:cNvPr id="107" name="Rectangle 10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7124" y="6060985"/>
                <a:ext cx="4206536" cy="709168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250110524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" grpId="0" animBg="1"/>
    </p:bldLst>
  </p:timing>
  <p:extLst mod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Pipelining MIPS</a:t>
            </a:r>
            <a:endParaRPr lang="ru-RU" dirty="0"/>
          </a:p>
        </p:txBody>
      </p:sp>
      <p:grpSp>
        <p:nvGrpSpPr>
          <p:cNvPr id="46" name="Group 45"/>
          <p:cNvGrpSpPr/>
          <p:nvPr/>
        </p:nvGrpSpPr>
        <p:grpSpPr>
          <a:xfrm>
            <a:off x="677580" y="2193740"/>
            <a:ext cx="348172" cy="470570"/>
            <a:chOff x="125186" y="1514471"/>
            <a:chExt cx="462893" cy="625620"/>
          </a:xfrm>
        </p:grpSpPr>
        <p:grpSp>
          <p:nvGrpSpPr>
            <p:cNvPr id="80" name="Group 79"/>
            <p:cNvGrpSpPr/>
            <p:nvPr/>
          </p:nvGrpSpPr>
          <p:grpSpPr>
            <a:xfrm>
              <a:off x="125186" y="1514471"/>
              <a:ext cx="462893" cy="625620"/>
              <a:chOff x="2921052" y="2694759"/>
              <a:chExt cx="609650" cy="823968"/>
            </a:xfrm>
          </p:grpSpPr>
          <p:sp>
            <p:nvSpPr>
              <p:cNvPr id="82" name="Rectangle 81"/>
              <p:cNvSpPr/>
              <p:nvPr/>
            </p:nvSpPr>
            <p:spPr bwMode="auto">
              <a:xfrm>
                <a:off x="2991378" y="2694759"/>
                <a:ext cx="468998" cy="823968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en-US" b="1" smtClean="0">
                  <a:latin typeface="Neo Sans Intel" pitchFamily="34" charset="0"/>
                  <a:cs typeface="Arial" pitchFamily="34" charset="0"/>
                </a:endParaRPr>
              </a:p>
            </p:txBody>
          </p:sp>
          <p:sp>
            <p:nvSpPr>
              <p:cNvPr id="83" name="TextBox 82"/>
              <p:cNvSpPr txBox="1"/>
              <p:nvPr/>
            </p:nvSpPr>
            <p:spPr>
              <a:xfrm>
                <a:off x="2921052" y="2872568"/>
                <a:ext cx="609650" cy="4580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100" dirty="0" smtClean="0">
                    <a:latin typeface="Neo Sans Intel Medium" panose="020B0604020202020204" pitchFamily="34" charset="0"/>
                  </a:rPr>
                  <a:t>PC</a:t>
                </a:r>
              </a:p>
            </p:txBody>
          </p:sp>
        </p:grpSp>
        <p:sp>
          <p:nvSpPr>
            <p:cNvPr id="81" name="Isosceles Triangle 80"/>
            <p:cNvSpPr/>
            <p:nvPr/>
          </p:nvSpPr>
          <p:spPr bwMode="auto">
            <a:xfrm rot="19800000">
              <a:off x="155044" y="1973506"/>
              <a:ext cx="89552" cy="77200"/>
            </a:xfrm>
            <a:prstGeom prst="triangle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b="1">
                <a:latin typeface="Neo Sans Intel" pitchFamily="34" charset="0"/>
                <a:cs typeface="Arial" pitchFamily="34" charset="0"/>
              </a:endParaRPr>
            </a:p>
          </p:txBody>
        </p:sp>
      </p:grpSp>
      <p:cxnSp>
        <p:nvCxnSpPr>
          <p:cNvPr id="47" name="Straight Arrow Connector 46"/>
          <p:cNvCxnSpPr>
            <a:stCxn id="82" idx="2"/>
            <a:endCxn id="48" idx="0"/>
          </p:cNvCxnSpPr>
          <p:nvPr/>
        </p:nvCxnSpPr>
        <p:spPr bwMode="auto">
          <a:xfrm flipH="1">
            <a:off x="851410" y="2664310"/>
            <a:ext cx="256" cy="135729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8" name="Oval 47"/>
          <p:cNvSpPr/>
          <p:nvPr/>
        </p:nvSpPr>
        <p:spPr bwMode="auto">
          <a:xfrm>
            <a:off x="824154" y="2800039"/>
            <a:ext cx="54511" cy="54511"/>
          </a:xfrm>
          <a:prstGeom prst="ellipse">
            <a:avLst/>
          </a:prstGeom>
          <a:solidFill>
            <a:schemeClr val="tx1"/>
          </a:solidFill>
          <a:ln w="31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b="1" smtClean="0">
              <a:latin typeface="Neo Sans Intel" pitchFamily="34" charset="0"/>
              <a:cs typeface="Arial" pitchFamily="34" charset="0"/>
            </a:endParaRPr>
          </a:p>
        </p:txBody>
      </p:sp>
      <p:cxnSp>
        <p:nvCxnSpPr>
          <p:cNvPr id="50" name="Straight Arrow Connector 49"/>
          <p:cNvCxnSpPr>
            <a:stCxn id="48" idx="4"/>
            <a:endCxn id="231" idx="0"/>
          </p:cNvCxnSpPr>
          <p:nvPr/>
        </p:nvCxnSpPr>
        <p:spPr bwMode="auto">
          <a:xfrm>
            <a:off x="851410" y="2854550"/>
            <a:ext cx="1028" cy="188814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  <a:effectLst/>
        </p:spPr>
      </p:cxnSp>
      <p:grpSp>
        <p:nvGrpSpPr>
          <p:cNvPr id="16" name="Group 15"/>
          <p:cNvGrpSpPr/>
          <p:nvPr/>
        </p:nvGrpSpPr>
        <p:grpSpPr>
          <a:xfrm>
            <a:off x="851666" y="1981200"/>
            <a:ext cx="5544033" cy="1933165"/>
            <a:chOff x="851666" y="1066800"/>
            <a:chExt cx="5544033" cy="1933165"/>
          </a:xfrm>
        </p:grpSpPr>
        <p:sp>
          <p:nvSpPr>
            <p:cNvPr id="39" name="Rounded Rectangle 38"/>
            <p:cNvSpPr/>
            <p:nvPr/>
          </p:nvSpPr>
          <p:spPr bwMode="auto">
            <a:xfrm>
              <a:off x="5017165" y="1611765"/>
              <a:ext cx="358662" cy="206006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900" dirty="0" smtClean="0">
                  <a:latin typeface="Neo Sans Intel Medium" panose="020B0604020202020204" pitchFamily="34" charset="0"/>
                  <a:cs typeface="Arial" pitchFamily="34" charset="0"/>
                </a:rPr>
                <a:t>&lt;&lt; 2</a:t>
              </a:r>
              <a:endParaRPr lang="en-US" sz="900" dirty="0">
                <a:latin typeface="Neo Sans Intel Medium" panose="020B0604020202020204" pitchFamily="34" charset="0"/>
                <a:cs typeface="Arial" pitchFamily="34" charset="0"/>
              </a:endParaRPr>
            </a:p>
          </p:txBody>
        </p:sp>
        <p:cxnSp>
          <p:nvCxnSpPr>
            <p:cNvPr id="42" name="Elbow Connector 41"/>
            <p:cNvCxnSpPr>
              <a:endCxn id="39" idx="1"/>
            </p:cNvCxnSpPr>
            <p:nvPr/>
          </p:nvCxnSpPr>
          <p:spPr bwMode="auto">
            <a:xfrm rot="5400000" flipH="1" flipV="1">
              <a:off x="4302086" y="2284886"/>
              <a:ext cx="1285197" cy="144962"/>
            </a:xfrm>
            <a:prstGeom prst="bentConnector2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</p:cxnSp>
        <p:grpSp>
          <p:nvGrpSpPr>
            <p:cNvPr id="43" name="Group 42"/>
            <p:cNvGrpSpPr/>
            <p:nvPr/>
          </p:nvGrpSpPr>
          <p:grpSpPr>
            <a:xfrm>
              <a:off x="5557334" y="1238477"/>
              <a:ext cx="301925" cy="597512"/>
              <a:chOff x="6728724" y="3121968"/>
              <a:chExt cx="727535" cy="1439797"/>
            </a:xfrm>
          </p:grpSpPr>
          <p:sp>
            <p:nvSpPr>
              <p:cNvPr id="88" name="Freeform 127"/>
              <p:cNvSpPr>
                <a:spLocks/>
              </p:cNvSpPr>
              <p:nvPr/>
            </p:nvSpPr>
            <p:spPr bwMode="auto">
              <a:xfrm>
                <a:off x="6728724" y="3121968"/>
                <a:ext cx="727535" cy="1439797"/>
              </a:xfrm>
              <a:custGeom>
                <a:avLst/>
                <a:gdLst>
                  <a:gd name="T0" fmla="*/ 0 w 210"/>
                  <a:gd name="T1" fmla="*/ 0 h 413"/>
                  <a:gd name="T2" fmla="*/ 0 w 210"/>
                  <a:gd name="T3" fmla="*/ 167 h 413"/>
                  <a:gd name="T4" fmla="*/ 91 w 210"/>
                  <a:gd name="T5" fmla="*/ 207 h 413"/>
                  <a:gd name="T6" fmla="*/ 0 w 210"/>
                  <a:gd name="T7" fmla="*/ 245 h 413"/>
                  <a:gd name="T8" fmla="*/ 0 w 210"/>
                  <a:gd name="T9" fmla="*/ 412 h 413"/>
                  <a:gd name="T10" fmla="*/ 284 w 210"/>
                  <a:gd name="T11" fmla="*/ 286 h 413"/>
                  <a:gd name="T12" fmla="*/ 284 w 210"/>
                  <a:gd name="T13" fmla="*/ 127 h 413"/>
                  <a:gd name="T14" fmla="*/ 0 w 210"/>
                  <a:gd name="T15" fmla="*/ 0 h 413"/>
                  <a:gd name="T16" fmla="*/ 0 w 210"/>
                  <a:gd name="T17" fmla="*/ 0 h 413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210"/>
                  <a:gd name="T28" fmla="*/ 0 h 413"/>
                  <a:gd name="T29" fmla="*/ 210 w 210"/>
                  <a:gd name="T30" fmla="*/ 413 h 413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210" h="413">
                    <a:moveTo>
                      <a:pt x="0" y="0"/>
                    </a:moveTo>
                    <a:lnTo>
                      <a:pt x="0" y="167"/>
                    </a:lnTo>
                    <a:lnTo>
                      <a:pt x="67" y="207"/>
                    </a:lnTo>
                    <a:lnTo>
                      <a:pt x="0" y="245"/>
                    </a:lnTo>
                    <a:lnTo>
                      <a:pt x="0" y="412"/>
                    </a:lnTo>
                    <a:lnTo>
                      <a:pt x="209" y="286"/>
                    </a:lnTo>
                    <a:lnTo>
                      <a:pt x="209" y="127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accent5">
                  <a:lumMod val="60000"/>
                  <a:lumOff val="4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eaLnBrk="0" hangingPunct="0"/>
                <a:endParaRPr lang="en-US" sz="2000" b="1">
                  <a:latin typeface="Neo Sans Intel" pitchFamily="34" charset="0"/>
                  <a:cs typeface="Arial" pitchFamily="34" charset="0"/>
                </a:endParaRPr>
              </a:p>
            </p:txBody>
          </p:sp>
          <p:sp>
            <p:nvSpPr>
              <p:cNvPr id="89" name="TextBox 88"/>
              <p:cNvSpPr txBox="1"/>
              <p:nvPr/>
            </p:nvSpPr>
            <p:spPr>
              <a:xfrm>
                <a:off x="7294740" y="3677492"/>
                <a:ext cx="157801" cy="30680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ctr"/>
                <a:endParaRPr lang="en-US" sz="1100" dirty="0" smtClean="0">
                  <a:latin typeface="Neo Sans Intel Medium" panose="020B0604020202020204" pitchFamily="34" charset="0"/>
                </a:endParaRPr>
              </a:p>
            </p:txBody>
          </p:sp>
          <p:sp>
            <p:nvSpPr>
              <p:cNvPr id="90" name="TextBox 89"/>
              <p:cNvSpPr txBox="1"/>
              <p:nvPr/>
            </p:nvSpPr>
            <p:spPr>
              <a:xfrm>
                <a:off x="6728724" y="3319972"/>
                <a:ext cx="155483" cy="2319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500" dirty="0" smtClean="0">
                    <a:latin typeface="Neo Sans Intel" panose="020B0504020202020204" pitchFamily="34" charset="0"/>
                  </a:rPr>
                  <a:t> </a:t>
                </a:r>
              </a:p>
            </p:txBody>
          </p:sp>
          <p:sp>
            <p:nvSpPr>
              <p:cNvPr id="91" name="TextBox 90"/>
              <p:cNvSpPr txBox="1"/>
              <p:nvPr/>
            </p:nvSpPr>
            <p:spPr>
              <a:xfrm>
                <a:off x="6728724" y="4152247"/>
                <a:ext cx="155483" cy="2319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500" dirty="0" smtClean="0">
                    <a:latin typeface="Neo Sans Intel" panose="020B0504020202020204" pitchFamily="34" charset="0"/>
                  </a:rPr>
                  <a:t> </a:t>
                </a:r>
              </a:p>
            </p:txBody>
          </p:sp>
          <p:sp>
            <p:nvSpPr>
              <p:cNvPr id="181" name="TextBox 180"/>
              <p:cNvSpPr txBox="1"/>
              <p:nvPr/>
            </p:nvSpPr>
            <p:spPr>
              <a:xfrm>
                <a:off x="6844187" y="3472835"/>
                <a:ext cx="496611" cy="333735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ctr"/>
                <a:r>
                  <a:rPr lang="en-US" sz="900" dirty="0" smtClean="0">
                    <a:latin typeface="Neo Sans Intel Medium" panose="020B0604020202020204" pitchFamily="34" charset="0"/>
                  </a:rPr>
                  <a:t>Add</a:t>
                </a:r>
              </a:p>
            </p:txBody>
          </p:sp>
        </p:grpSp>
        <p:cxnSp>
          <p:nvCxnSpPr>
            <p:cNvPr id="44" name="Straight Arrow Connector 43"/>
            <p:cNvCxnSpPr>
              <a:stCxn id="39" idx="3"/>
              <a:endCxn id="91" idx="1"/>
            </p:cNvCxnSpPr>
            <p:nvPr/>
          </p:nvCxnSpPr>
          <p:spPr bwMode="auto">
            <a:xfrm flipV="1">
              <a:off x="5375827" y="1714176"/>
              <a:ext cx="181507" cy="591"/>
            </a:xfrm>
            <a:prstGeom prst="straightConnector1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</p:cxnSp>
        <p:grpSp>
          <p:nvGrpSpPr>
            <p:cNvPr id="45" name="Group 44"/>
            <p:cNvGrpSpPr/>
            <p:nvPr/>
          </p:nvGrpSpPr>
          <p:grpSpPr>
            <a:xfrm>
              <a:off x="2587925" y="1074174"/>
              <a:ext cx="301925" cy="597512"/>
              <a:chOff x="6728724" y="3121968"/>
              <a:chExt cx="727535" cy="1439797"/>
            </a:xfrm>
          </p:grpSpPr>
          <p:sp>
            <p:nvSpPr>
              <p:cNvPr id="84" name="Freeform 127"/>
              <p:cNvSpPr>
                <a:spLocks/>
              </p:cNvSpPr>
              <p:nvPr/>
            </p:nvSpPr>
            <p:spPr bwMode="auto">
              <a:xfrm>
                <a:off x="6728724" y="3121968"/>
                <a:ext cx="727535" cy="1439797"/>
              </a:xfrm>
              <a:custGeom>
                <a:avLst/>
                <a:gdLst>
                  <a:gd name="T0" fmla="*/ 0 w 210"/>
                  <a:gd name="T1" fmla="*/ 0 h 413"/>
                  <a:gd name="T2" fmla="*/ 0 w 210"/>
                  <a:gd name="T3" fmla="*/ 167 h 413"/>
                  <a:gd name="T4" fmla="*/ 91 w 210"/>
                  <a:gd name="T5" fmla="*/ 207 h 413"/>
                  <a:gd name="T6" fmla="*/ 0 w 210"/>
                  <a:gd name="T7" fmla="*/ 245 h 413"/>
                  <a:gd name="T8" fmla="*/ 0 w 210"/>
                  <a:gd name="T9" fmla="*/ 412 h 413"/>
                  <a:gd name="T10" fmla="*/ 284 w 210"/>
                  <a:gd name="T11" fmla="*/ 286 h 413"/>
                  <a:gd name="T12" fmla="*/ 284 w 210"/>
                  <a:gd name="T13" fmla="*/ 127 h 413"/>
                  <a:gd name="T14" fmla="*/ 0 w 210"/>
                  <a:gd name="T15" fmla="*/ 0 h 413"/>
                  <a:gd name="T16" fmla="*/ 0 w 210"/>
                  <a:gd name="T17" fmla="*/ 0 h 413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210"/>
                  <a:gd name="T28" fmla="*/ 0 h 413"/>
                  <a:gd name="T29" fmla="*/ 210 w 210"/>
                  <a:gd name="T30" fmla="*/ 413 h 413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210" h="413">
                    <a:moveTo>
                      <a:pt x="0" y="0"/>
                    </a:moveTo>
                    <a:lnTo>
                      <a:pt x="0" y="167"/>
                    </a:lnTo>
                    <a:lnTo>
                      <a:pt x="67" y="207"/>
                    </a:lnTo>
                    <a:lnTo>
                      <a:pt x="0" y="245"/>
                    </a:lnTo>
                    <a:lnTo>
                      <a:pt x="0" y="412"/>
                    </a:lnTo>
                    <a:lnTo>
                      <a:pt x="209" y="286"/>
                    </a:lnTo>
                    <a:lnTo>
                      <a:pt x="209" y="127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accent5">
                  <a:lumMod val="60000"/>
                  <a:lumOff val="4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eaLnBrk="0" hangingPunct="0"/>
                <a:endParaRPr lang="en-US" sz="2000" b="1">
                  <a:latin typeface="Neo Sans Intel" pitchFamily="34" charset="0"/>
                  <a:cs typeface="Arial" pitchFamily="34" charset="0"/>
                </a:endParaRPr>
              </a:p>
            </p:txBody>
          </p:sp>
          <p:sp>
            <p:nvSpPr>
              <p:cNvPr id="85" name="TextBox 84"/>
              <p:cNvSpPr txBox="1"/>
              <p:nvPr/>
            </p:nvSpPr>
            <p:spPr>
              <a:xfrm>
                <a:off x="7315159" y="3677492"/>
                <a:ext cx="137382" cy="306809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ctr"/>
                <a:endParaRPr lang="en-US" sz="1100" dirty="0" smtClean="0">
                  <a:latin typeface="Neo Sans Intel Medium" panose="020B0604020202020204" pitchFamily="34" charset="0"/>
                </a:endParaRPr>
              </a:p>
            </p:txBody>
          </p:sp>
          <p:sp>
            <p:nvSpPr>
              <p:cNvPr id="86" name="TextBox 85"/>
              <p:cNvSpPr txBox="1"/>
              <p:nvPr/>
            </p:nvSpPr>
            <p:spPr>
              <a:xfrm>
                <a:off x="6728724" y="3319972"/>
                <a:ext cx="155483" cy="2319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500" dirty="0" smtClean="0">
                    <a:latin typeface="Neo Sans Intel" panose="020B0504020202020204" pitchFamily="34" charset="0"/>
                  </a:rPr>
                  <a:t> </a:t>
                </a:r>
              </a:p>
            </p:txBody>
          </p:sp>
          <p:sp>
            <p:nvSpPr>
              <p:cNvPr id="87" name="TextBox 86"/>
              <p:cNvSpPr txBox="1"/>
              <p:nvPr/>
            </p:nvSpPr>
            <p:spPr>
              <a:xfrm>
                <a:off x="6728724" y="4152247"/>
                <a:ext cx="155483" cy="2319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500" dirty="0" smtClean="0">
                    <a:latin typeface="Neo Sans Intel" panose="020B0504020202020204" pitchFamily="34" charset="0"/>
                  </a:rPr>
                  <a:t> </a:t>
                </a:r>
              </a:p>
            </p:txBody>
          </p:sp>
          <p:sp>
            <p:nvSpPr>
              <p:cNvPr id="196" name="TextBox 195"/>
              <p:cNvSpPr txBox="1"/>
              <p:nvPr/>
            </p:nvSpPr>
            <p:spPr>
              <a:xfrm>
                <a:off x="6848563" y="3469705"/>
                <a:ext cx="496611" cy="333735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ctr"/>
                <a:r>
                  <a:rPr lang="en-US" sz="900" dirty="0" smtClean="0">
                    <a:latin typeface="Neo Sans Intel Medium" panose="020B0604020202020204" pitchFamily="34" charset="0"/>
                  </a:rPr>
                  <a:t>Add</a:t>
                </a:r>
              </a:p>
            </p:txBody>
          </p:sp>
        </p:grpSp>
        <p:cxnSp>
          <p:nvCxnSpPr>
            <p:cNvPr id="49" name="Elbow Connector 48"/>
            <p:cNvCxnSpPr>
              <a:stCxn id="48" idx="6"/>
              <a:endCxn id="87" idx="1"/>
            </p:cNvCxnSpPr>
            <p:nvPr/>
          </p:nvCxnSpPr>
          <p:spPr bwMode="auto">
            <a:xfrm flipV="1">
              <a:off x="878665" y="1549874"/>
              <a:ext cx="1709260" cy="309719"/>
            </a:xfrm>
            <a:prstGeom prst="bentConnector3">
              <a:avLst>
                <a:gd name="adj1" fmla="val 50000"/>
              </a:avLst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</p:cxnSp>
        <p:sp>
          <p:nvSpPr>
            <p:cNvPr id="51" name="TextBox 50"/>
            <p:cNvSpPr txBox="1"/>
            <p:nvPr/>
          </p:nvSpPr>
          <p:spPr>
            <a:xfrm>
              <a:off x="2166266" y="1066800"/>
              <a:ext cx="274435" cy="276999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1200" b="1" dirty="0" smtClean="0">
                  <a:latin typeface="Neo Sans Intel" panose="020B0504020202020204" pitchFamily="34" charset="0"/>
                </a:rPr>
                <a:t>4</a:t>
              </a:r>
            </a:p>
          </p:txBody>
        </p:sp>
        <p:cxnSp>
          <p:nvCxnSpPr>
            <p:cNvPr id="52" name="Straight Arrow Connector 51"/>
            <p:cNvCxnSpPr>
              <a:stCxn id="51" idx="3"/>
              <a:endCxn id="86" idx="1"/>
            </p:cNvCxnSpPr>
            <p:nvPr/>
          </p:nvCxnSpPr>
          <p:spPr bwMode="auto">
            <a:xfrm flipV="1">
              <a:off x="2440700" y="1204482"/>
              <a:ext cx="147224" cy="818"/>
            </a:xfrm>
            <a:prstGeom prst="straightConnector1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</p:cxnSp>
        <p:cxnSp>
          <p:nvCxnSpPr>
            <p:cNvPr id="53" name="Straight Arrow Connector 52"/>
            <p:cNvCxnSpPr>
              <a:stCxn id="85" idx="3"/>
              <a:endCxn id="56" idx="2"/>
            </p:cNvCxnSpPr>
            <p:nvPr/>
          </p:nvCxnSpPr>
          <p:spPr bwMode="auto">
            <a:xfrm>
              <a:off x="2888307" y="1368378"/>
              <a:ext cx="2277143" cy="408"/>
            </a:xfrm>
            <a:prstGeom prst="straightConnector1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grpSp>
          <p:nvGrpSpPr>
            <p:cNvPr id="54" name="Group 53"/>
            <p:cNvGrpSpPr/>
            <p:nvPr/>
          </p:nvGrpSpPr>
          <p:grpSpPr>
            <a:xfrm>
              <a:off x="6094157" y="1083728"/>
              <a:ext cx="135684" cy="542463"/>
              <a:chOff x="3390792" y="3616965"/>
              <a:chExt cx="180391" cy="643543"/>
            </a:xfrm>
          </p:grpSpPr>
          <p:sp>
            <p:nvSpPr>
              <p:cNvPr id="76" name="Trapezoid 75"/>
              <p:cNvSpPr/>
              <p:nvPr/>
            </p:nvSpPr>
            <p:spPr bwMode="auto">
              <a:xfrm rot="5400000">
                <a:off x="3159216" y="3848541"/>
                <a:ext cx="643543" cy="180391"/>
              </a:xfrm>
              <a:prstGeom prst="trapezoid">
                <a:avLst>
                  <a:gd name="adj" fmla="val 53513"/>
                </a:avLst>
              </a:prstGeom>
              <a:solidFill>
                <a:schemeClr val="bg2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>
                  <a:latin typeface="Neo Sans Intel Medium" panose="020B0604020202020204" pitchFamily="34" charset="0"/>
                </a:endParaRPr>
              </a:p>
            </p:txBody>
          </p:sp>
          <p:sp>
            <p:nvSpPr>
              <p:cNvPr id="77" name="Rectangle 158"/>
              <p:cNvSpPr>
                <a:spLocks noChangeArrowheads="1"/>
              </p:cNvSpPr>
              <p:nvPr/>
            </p:nvSpPr>
            <p:spPr bwMode="auto">
              <a:xfrm flipH="1">
                <a:off x="3395877" y="3678301"/>
                <a:ext cx="105703" cy="127794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square" lIns="0" tIns="0" rIns="0" bIns="0">
                <a:spAutoFit/>
              </a:bodyPr>
              <a:lstStyle/>
              <a:p>
                <a:pPr algn="ctr"/>
                <a:r>
                  <a:rPr lang="en-US" sz="700" b="1" dirty="0">
                    <a:solidFill>
                      <a:srgbClr val="000000"/>
                    </a:solidFill>
                    <a:latin typeface="Neo Sans Intel" panose="020B0504020202020204" pitchFamily="34" charset="0"/>
                  </a:rPr>
                  <a:t>0</a:t>
                </a:r>
                <a:endParaRPr lang="en-US" sz="700" dirty="0">
                  <a:solidFill>
                    <a:srgbClr val="000000"/>
                  </a:solidFill>
                  <a:latin typeface="Neo Sans Intel" panose="020B0504020202020204" pitchFamily="34" charset="0"/>
                </a:endParaRPr>
              </a:p>
            </p:txBody>
          </p:sp>
          <p:sp>
            <p:nvSpPr>
              <p:cNvPr id="78" name="Rectangle 159"/>
              <p:cNvSpPr>
                <a:spLocks noChangeArrowheads="1"/>
              </p:cNvSpPr>
              <p:nvPr/>
            </p:nvSpPr>
            <p:spPr bwMode="auto">
              <a:xfrm flipH="1">
                <a:off x="3395877" y="4086639"/>
                <a:ext cx="105704" cy="127794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square" lIns="0" tIns="0" rIns="0" bIns="0">
                <a:spAutoFit/>
              </a:bodyPr>
              <a:lstStyle/>
              <a:p>
                <a:pPr algn="ctr"/>
                <a:r>
                  <a:rPr lang="en-US" sz="700" b="1" dirty="0">
                    <a:solidFill>
                      <a:srgbClr val="000000"/>
                    </a:solidFill>
                    <a:latin typeface="Neo Sans Intel" panose="020B0504020202020204" pitchFamily="34" charset="0"/>
                  </a:rPr>
                  <a:t>1</a:t>
                </a:r>
              </a:p>
            </p:txBody>
          </p:sp>
        </p:grpSp>
        <p:cxnSp>
          <p:nvCxnSpPr>
            <p:cNvPr id="55" name="Straight Arrow Connector 54"/>
            <p:cNvCxnSpPr>
              <a:stCxn id="89" idx="3"/>
              <a:endCxn id="78" idx="3"/>
            </p:cNvCxnSpPr>
            <p:nvPr/>
          </p:nvCxnSpPr>
          <p:spPr bwMode="auto">
            <a:xfrm>
              <a:off x="5857716" y="1532681"/>
              <a:ext cx="240266" cy="811"/>
            </a:xfrm>
            <a:prstGeom prst="straightConnector1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</p:cxnSp>
        <p:sp>
          <p:nvSpPr>
            <p:cNvPr id="56" name="Oval 55"/>
            <p:cNvSpPr/>
            <p:nvPr/>
          </p:nvSpPr>
          <p:spPr bwMode="auto">
            <a:xfrm>
              <a:off x="5165450" y="1341530"/>
              <a:ext cx="54511" cy="54511"/>
            </a:xfrm>
            <a:prstGeom prst="ellipse">
              <a:avLst/>
            </a:prstGeom>
            <a:solidFill>
              <a:schemeClr val="tx1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b="1" smtClean="0">
                <a:latin typeface="Neo Sans Intel" pitchFamily="34" charset="0"/>
                <a:cs typeface="Arial" pitchFamily="34" charset="0"/>
              </a:endParaRPr>
            </a:p>
          </p:txBody>
        </p:sp>
        <p:cxnSp>
          <p:nvCxnSpPr>
            <p:cNvPr id="57" name="Straight Arrow Connector 56"/>
            <p:cNvCxnSpPr>
              <a:stCxn id="56" idx="6"/>
              <a:endCxn id="90" idx="1"/>
            </p:cNvCxnSpPr>
            <p:nvPr/>
          </p:nvCxnSpPr>
          <p:spPr bwMode="auto">
            <a:xfrm>
              <a:off x="5219961" y="1368785"/>
              <a:ext cx="337374" cy="0"/>
            </a:xfrm>
            <a:prstGeom prst="straightConnector1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</p:cxnSp>
        <p:cxnSp>
          <p:nvCxnSpPr>
            <p:cNvPr id="58" name="Elbow Connector 57"/>
            <p:cNvCxnSpPr>
              <a:stCxn id="56" idx="0"/>
              <a:endCxn id="77" idx="3"/>
            </p:cNvCxnSpPr>
            <p:nvPr/>
          </p:nvCxnSpPr>
          <p:spPr bwMode="auto">
            <a:xfrm rot="5400000" flipH="1" flipV="1">
              <a:off x="5569225" y="812773"/>
              <a:ext cx="152239" cy="905276"/>
            </a:xfrm>
            <a:prstGeom prst="bentConnector2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</p:cxnSp>
        <p:cxnSp>
          <p:nvCxnSpPr>
            <p:cNvPr id="59" name="Elbow Connector 58"/>
            <p:cNvCxnSpPr>
              <a:stCxn id="76" idx="0"/>
              <a:endCxn id="82" idx="0"/>
            </p:cNvCxnSpPr>
            <p:nvPr/>
          </p:nvCxnSpPr>
          <p:spPr bwMode="auto">
            <a:xfrm flipH="1" flipV="1">
              <a:off x="851666" y="1279340"/>
              <a:ext cx="5378176" cy="75621"/>
            </a:xfrm>
            <a:prstGeom prst="bentConnector4">
              <a:avLst>
                <a:gd name="adj1" fmla="val -3096"/>
                <a:gd name="adj2" fmla="val 546619"/>
              </a:avLst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</p:cxnSp>
        <p:grpSp>
          <p:nvGrpSpPr>
            <p:cNvPr id="63" name="Group 62"/>
            <p:cNvGrpSpPr/>
            <p:nvPr/>
          </p:nvGrpSpPr>
          <p:grpSpPr>
            <a:xfrm>
              <a:off x="5962567" y="1579191"/>
              <a:ext cx="433132" cy="375454"/>
              <a:chOff x="6680211" y="4283249"/>
              <a:chExt cx="575847" cy="499164"/>
            </a:xfrm>
          </p:grpSpPr>
          <p:sp>
            <p:nvSpPr>
              <p:cNvPr id="70" name="TextBox 69"/>
              <p:cNvSpPr txBox="1"/>
              <p:nvPr/>
            </p:nvSpPr>
            <p:spPr>
              <a:xfrm>
                <a:off x="6680211" y="4495981"/>
                <a:ext cx="575847" cy="286432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ctr"/>
                <a:r>
                  <a:rPr lang="en-US" sz="800" dirty="0" err="1" smtClean="0">
                    <a:solidFill>
                      <a:schemeClr val="accent1"/>
                    </a:solidFill>
                    <a:latin typeface="Neo Sans Intel" panose="020B0504020202020204" pitchFamily="34" charset="0"/>
                  </a:rPr>
                  <a:t>PCSrc</a:t>
                </a:r>
                <a:endParaRPr lang="en-US" sz="800" dirty="0" smtClean="0">
                  <a:solidFill>
                    <a:schemeClr val="accent1"/>
                  </a:solidFill>
                  <a:latin typeface="Neo Sans Intel" panose="020B0504020202020204" pitchFamily="34" charset="0"/>
                </a:endParaRPr>
              </a:p>
            </p:txBody>
          </p:sp>
          <p:cxnSp>
            <p:nvCxnSpPr>
              <p:cNvPr id="71" name="Straight Connector 70"/>
              <p:cNvCxnSpPr/>
              <p:nvPr/>
            </p:nvCxnSpPr>
            <p:spPr bwMode="auto">
              <a:xfrm>
                <a:off x="6968001" y="4283249"/>
                <a:ext cx="0" cy="179461"/>
              </a:xfrm>
              <a:prstGeom prst="line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</p:grpSp>
      <p:grpSp>
        <p:nvGrpSpPr>
          <p:cNvPr id="136" name="Group 135"/>
          <p:cNvGrpSpPr/>
          <p:nvPr/>
        </p:nvGrpSpPr>
        <p:grpSpPr>
          <a:xfrm>
            <a:off x="634672" y="3043326"/>
            <a:ext cx="952882" cy="914028"/>
            <a:chOff x="3126744" y="3598050"/>
            <a:chExt cx="1445257" cy="1386326"/>
          </a:xfrm>
        </p:grpSpPr>
        <p:sp>
          <p:nvSpPr>
            <p:cNvPr id="137" name="Rectangle 136"/>
            <p:cNvSpPr/>
            <p:nvPr/>
          </p:nvSpPr>
          <p:spPr bwMode="auto">
            <a:xfrm>
              <a:off x="3126744" y="3598050"/>
              <a:ext cx="1445256" cy="138632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b="1" smtClean="0">
                <a:latin typeface="Neo Sans Intel" pitchFamily="34" charset="0"/>
                <a:cs typeface="Arial" pitchFamily="34" charset="0"/>
              </a:endParaRPr>
            </a:p>
          </p:txBody>
        </p:sp>
        <p:sp>
          <p:nvSpPr>
            <p:cNvPr id="138" name="TextBox 137"/>
            <p:cNvSpPr txBox="1"/>
            <p:nvPr/>
          </p:nvSpPr>
          <p:spPr>
            <a:xfrm>
              <a:off x="3364669" y="3598108"/>
              <a:ext cx="18473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sz="1100" dirty="0" smtClean="0">
                <a:latin typeface="Neo Sans Intel" panose="020B0504020202020204" pitchFamily="34" charset="0"/>
              </a:endParaRPr>
            </a:p>
          </p:txBody>
        </p:sp>
        <p:sp>
          <p:nvSpPr>
            <p:cNvPr id="139" name="TextBox 138"/>
            <p:cNvSpPr txBox="1"/>
            <p:nvPr/>
          </p:nvSpPr>
          <p:spPr>
            <a:xfrm>
              <a:off x="4275615" y="3692678"/>
              <a:ext cx="29638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endParaRPr lang="en-US" sz="1100" dirty="0" smtClean="0">
                <a:latin typeface="Neo Sans Intel" panose="020B0504020202020204" pitchFamily="34" charset="0"/>
              </a:endParaRPr>
            </a:p>
          </p:txBody>
        </p:sp>
        <p:sp>
          <p:nvSpPr>
            <p:cNvPr id="140" name="TextBox 139"/>
            <p:cNvSpPr txBox="1"/>
            <p:nvPr/>
          </p:nvSpPr>
          <p:spPr>
            <a:xfrm>
              <a:off x="3445122" y="4025270"/>
              <a:ext cx="838693" cy="30777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 smtClean="0">
                  <a:latin typeface="Neo Sans Intel Medium" panose="020B0604020202020204" pitchFamily="34" charset="0"/>
                </a:rPr>
                <a:t>Memory</a:t>
              </a:r>
            </a:p>
          </p:txBody>
        </p:sp>
      </p:grpSp>
      <p:cxnSp>
        <p:nvCxnSpPr>
          <p:cNvPr id="141" name="Straight Arrow Connector 140"/>
          <p:cNvCxnSpPr>
            <a:stCxn id="139" idx="3"/>
            <a:endCxn id="170" idx="2"/>
          </p:cNvCxnSpPr>
          <p:nvPr/>
        </p:nvCxnSpPr>
        <p:spPr bwMode="auto">
          <a:xfrm flipV="1">
            <a:off x="1587554" y="3191934"/>
            <a:ext cx="606361" cy="24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  <a:effectLst/>
        </p:spPr>
      </p:cxnSp>
      <p:grpSp>
        <p:nvGrpSpPr>
          <p:cNvPr id="142" name="Group 141"/>
          <p:cNvGrpSpPr/>
          <p:nvPr/>
        </p:nvGrpSpPr>
        <p:grpSpPr>
          <a:xfrm>
            <a:off x="2534492" y="3712204"/>
            <a:ext cx="135684" cy="484051"/>
            <a:chOff x="3390790" y="3616963"/>
            <a:chExt cx="180391" cy="643543"/>
          </a:xfrm>
        </p:grpSpPr>
        <p:sp>
          <p:nvSpPr>
            <p:cNvPr id="143" name="Trapezoid 142"/>
            <p:cNvSpPr/>
            <p:nvPr/>
          </p:nvSpPr>
          <p:spPr bwMode="auto">
            <a:xfrm rot="5400000">
              <a:off x="3159214" y="3848539"/>
              <a:ext cx="643543" cy="180391"/>
            </a:xfrm>
            <a:prstGeom prst="trapezoid">
              <a:avLst>
                <a:gd name="adj" fmla="val 53513"/>
              </a:avLst>
            </a:prstGeom>
            <a:solidFill>
              <a:schemeClr val="bg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Neo Sans Intel Medium" panose="020B0604020202020204" pitchFamily="34" charset="0"/>
              </a:endParaRPr>
            </a:p>
          </p:txBody>
        </p:sp>
        <p:sp>
          <p:nvSpPr>
            <p:cNvPr id="144" name="Rectangle 158"/>
            <p:cNvSpPr>
              <a:spLocks noChangeArrowheads="1"/>
            </p:cNvSpPr>
            <p:nvPr/>
          </p:nvSpPr>
          <p:spPr bwMode="auto">
            <a:xfrm flipH="1">
              <a:off x="3398409" y="3689587"/>
              <a:ext cx="111389" cy="143216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sz="700" b="1" dirty="0">
                  <a:solidFill>
                    <a:srgbClr val="000000"/>
                  </a:solidFill>
                  <a:latin typeface="Neo Sans Intel" panose="020B0504020202020204" pitchFamily="34" charset="0"/>
                </a:rPr>
                <a:t>0</a:t>
              </a:r>
              <a:endParaRPr lang="en-US" sz="700" dirty="0">
                <a:solidFill>
                  <a:srgbClr val="000000"/>
                </a:solidFill>
                <a:latin typeface="Neo Sans Intel" panose="020B0504020202020204" pitchFamily="34" charset="0"/>
              </a:endParaRPr>
            </a:p>
          </p:txBody>
        </p:sp>
        <p:sp>
          <p:nvSpPr>
            <p:cNvPr id="145" name="Rectangle 159"/>
            <p:cNvSpPr>
              <a:spLocks noChangeArrowheads="1"/>
            </p:cNvSpPr>
            <p:nvPr/>
          </p:nvSpPr>
          <p:spPr bwMode="auto">
            <a:xfrm flipH="1">
              <a:off x="3400943" y="4034895"/>
              <a:ext cx="94539" cy="143216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sz="700" b="1" dirty="0">
                  <a:solidFill>
                    <a:srgbClr val="000000"/>
                  </a:solidFill>
                  <a:latin typeface="Neo Sans Intel" panose="020B0504020202020204" pitchFamily="34" charset="0"/>
                </a:rPr>
                <a:t>1</a:t>
              </a:r>
            </a:p>
          </p:txBody>
        </p:sp>
      </p:grpSp>
      <p:grpSp>
        <p:nvGrpSpPr>
          <p:cNvPr id="146" name="Group 145"/>
          <p:cNvGrpSpPr/>
          <p:nvPr/>
        </p:nvGrpSpPr>
        <p:grpSpPr>
          <a:xfrm>
            <a:off x="2956654" y="3030552"/>
            <a:ext cx="1167978" cy="1407058"/>
            <a:chOff x="4488101" y="3657632"/>
            <a:chExt cx="1552821" cy="1870677"/>
          </a:xfrm>
        </p:grpSpPr>
        <p:sp>
          <p:nvSpPr>
            <p:cNvPr id="147" name="Rectangle 146"/>
            <p:cNvSpPr/>
            <p:nvPr/>
          </p:nvSpPr>
          <p:spPr bwMode="auto">
            <a:xfrm>
              <a:off x="4490028" y="3657632"/>
              <a:ext cx="1550894" cy="187067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b="1" smtClean="0">
                <a:latin typeface="Neo Sans Intel" pitchFamily="34" charset="0"/>
                <a:cs typeface="Arial" pitchFamily="34" charset="0"/>
              </a:endParaRPr>
            </a:p>
          </p:txBody>
        </p:sp>
        <p:sp>
          <p:nvSpPr>
            <p:cNvPr id="148" name="TextBox 147"/>
            <p:cNvSpPr txBox="1"/>
            <p:nvPr/>
          </p:nvSpPr>
          <p:spPr>
            <a:xfrm>
              <a:off x="4492305" y="3741384"/>
              <a:ext cx="18473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sz="1100" b="1" dirty="0" smtClean="0">
                <a:latin typeface="Neo Sans Intel" panose="020B0504020202020204" pitchFamily="34" charset="0"/>
              </a:endParaRPr>
            </a:p>
          </p:txBody>
        </p:sp>
        <p:sp>
          <p:nvSpPr>
            <p:cNvPr id="149" name="TextBox 148"/>
            <p:cNvSpPr txBox="1"/>
            <p:nvPr/>
          </p:nvSpPr>
          <p:spPr>
            <a:xfrm>
              <a:off x="5952523" y="3745474"/>
              <a:ext cx="88399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endParaRPr lang="en-US" sz="1100" b="1" dirty="0" smtClean="0">
                <a:latin typeface="Neo Sans Intel" panose="020B0504020202020204" pitchFamily="34" charset="0"/>
              </a:endParaRPr>
            </a:p>
          </p:txBody>
        </p:sp>
        <p:sp>
          <p:nvSpPr>
            <p:cNvPr id="151" name="TextBox 150"/>
            <p:cNvSpPr txBox="1"/>
            <p:nvPr/>
          </p:nvSpPr>
          <p:spPr>
            <a:xfrm>
              <a:off x="4817974" y="4328901"/>
              <a:ext cx="94910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 smtClean="0">
                  <a:latin typeface="Neo Sans Intel Medium" panose="020B0604020202020204" pitchFamily="34" charset="0"/>
                </a:rPr>
                <a:t>Registers</a:t>
              </a:r>
            </a:p>
          </p:txBody>
        </p:sp>
        <p:sp>
          <p:nvSpPr>
            <p:cNvPr id="152" name="TextBox 151"/>
            <p:cNvSpPr txBox="1"/>
            <p:nvPr/>
          </p:nvSpPr>
          <p:spPr>
            <a:xfrm>
              <a:off x="4492305" y="4215468"/>
              <a:ext cx="18473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sz="1100" b="1" dirty="0" smtClean="0">
                <a:latin typeface="Neo Sans Intel" panose="020B0504020202020204" pitchFamily="34" charset="0"/>
              </a:endParaRPr>
            </a:p>
          </p:txBody>
        </p:sp>
        <p:sp>
          <p:nvSpPr>
            <p:cNvPr id="155" name="TextBox 154"/>
            <p:cNvSpPr txBox="1"/>
            <p:nvPr/>
          </p:nvSpPr>
          <p:spPr>
            <a:xfrm>
              <a:off x="5902089" y="4406640"/>
              <a:ext cx="13714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endParaRPr lang="en-US" sz="1100" b="1" dirty="0" smtClean="0">
                <a:latin typeface="Neo Sans Intel" panose="020B0504020202020204" pitchFamily="34" charset="0"/>
              </a:endParaRPr>
            </a:p>
          </p:txBody>
        </p:sp>
        <p:sp>
          <p:nvSpPr>
            <p:cNvPr id="156" name="TextBox 155"/>
            <p:cNvSpPr txBox="1"/>
            <p:nvPr/>
          </p:nvSpPr>
          <p:spPr>
            <a:xfrm>
              <a:off x="4488101" y="4754853"/>
              <a:ext cx="18473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sz="1100" b="1" dirty="0" smtClean="0">
                <a:latin typeface="Neo Sans Intel" panose="020B0504020202020204" pitchFamily="34" charset="0"/>
              </a:endParaRPr>
            </a:p>
          </p:txBody>
        </p:sp>
        <p:sp>
          <p:nvSpPr>
            <p:cNvPr id="157" name="TextBox 156"/>
            <p:cNvSpPr txBox="1"/>
            <p:nvPr/>
          </p:nvSpPr>
          <p:spPr>
            <a:xfrm>
              <a:off x="4488101" y="5196249"/>
              <a:ext cx="18473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sz="1100" b="1" dirty="0" smtClean="0">
                <a:latin typeface="Neo Sans Intel" panose="020B0504020202020204" pitchFamily="34" charset="0"/>
              </a:endParaRPr>
            </a:p>
          </p:txBody>
        </p:sp>
        <p:sp>
          <p:nvSpPr>
            <p:cNvPr id="158" name="Rectangle 157"/>
            <p:cNvSpPr/>
            <p:nvPr/>
          </p:nvSpPr>
          <p:spPr bwMode="auto">
            <a:xfrm>
              <a:off x="5194990" y="3666551"/>
              <a:ext cx="133350" cy="13335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3175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b="1" smtClean="0">
                <a:latin typeface="Neo Sans Intel" pitchFamily="34" charset="0"/>
                <a:cs typeface="Arial" pitchFamily="34" charset="0"/>
              </a:endParaRPr>
            </a:p>
          </p:txBody>
        </p:sp>
      </p:grpSp>
      <p:cxnSp>
        <p:nvCxnSpPr>
          <p:cNvPr id="159" name="Straight Connector 158"/>
          <p:cNvCxnSpPr>
            <a:endCxn id="147" idx="0"/>
          </p:cNvCxnSpPr>
          <p:nvPr/>
        </p:nvCxnSpPr>
        <p:spPr bwMode="auto">
          <a:xfrm>
            <a:off x="3541367" y="2904449"/>
            <a:ext cx="1" cy="126103"/>
          </a:xfrm>
          <a:prstGeom prst="line">
            <a:avLst/>
          </a:prstGeom>
          <a:solidFill>
            <a:schemeClr val="bg1"/>
          </a:solidFill>
          <a:ln w="63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60" name="Straight Arrow Connector 159"/>
          <p:cNvCxnSpPr>
            <a:stCxn id="149" idx="3"/>
            <a:endCxn id="165" idx="1"/>
          </p:cNvCxnSpPr>
          <p:nvPr/>
        </p:nvCxnSpPr>
        <p:spPr bwMode="auto">
          <a:xfrm flipV="1">
            <a:off x="4124632" y="3194741"/>
            <a:ext cx="1130032" cy="270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  <a:effectLst/>
        </p:spPr>
      </p:cxnSp>
      <p:grpSp>
        <p:nvGrpSpPr>
          <p:cNvPr id="161" name="Group 160"/>
          <p:cNvGrpSpPr/>
          <p:nvPr/>
        </p:nvGrpSpPr>
        <p:grpSpPr>
          <a:xfrm>
            <a:off x="5254664" y="2958563"/>
            <a:ext cx="547227" cy="1082965"/>
            <a:chOff x="6728724" y="3121968"/>
            <a:chExt cx="727535" cy="1439797"/>
          </a:xfrm>
        </p:grpSpPr>
        <p:sp>
          <p:nvSpPr>
            <p:cNvPr id="162" name="Freeform 127"/>
            <p:cNvSpPr>
              <a:spLocks/>
            </p:cNvSpPr>
            <p:nvPr/>
          </p:nvSpPr>
          <p:spPr bwMode="auto">
            <a:xfrm>
              <a:off x="6728724" y="3121968"/>
              <a:ext cx="727535" cy="1439797"/>
            </a:xfrm>
            <a:custGeom>
              <a:avLst/>
              <a:gdLst>
                <a:gd name="T0" fmla="*/ 0 w 210"/>
                <a:gd name="T1" fmla="*/ 0 h 413"/>
                <a:gd name="T2" fmla="*/ 0 w 210"/>
                <a:gd name="T3" fmla="*/ 167 h 413"/>
                <a:gd name="T4" fmla="*/ 91 w 210"/>
                <a:gd name="T5" fmla="*/ 207 h 413"/>
                <a:gd name="T6" fmla="*/ 0 w 210"/>
                <a:gd name="T7" fmla="*/ 245 h 413"/>
                <a:gd name="T8" fmla="*/ 0 w 210"/>
                <a:gd name="T9" fmla="*/ 412 h 413"/>
                <a:gd name="T10" fmla="*/ 284 w 210"/>
                <a:gd name="T11" fmla="*/ 286 h 413"/>
                <a:gd name="T12" fmla="*/ 284 w 210"/>
                <a:gd name="T13" fmla="*/ 127 h 413"/>
                <a:gd name="T14" fmla="*/ 0 w 210"/>
                <a:gd name="T15" fmla="*/ 0 h 413"/>
                <a:gd name="T16" fmla="*/ 0 w 210"/>
                <a:gd name="T17" fmla="*/ 0 h 41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10"/>
                <a:gd name="T28" fmla="*/ 0 h 413"/>
                <a:gd name="T29" fmla="*/ 210 w 210"/>
                <a:gd name="T30" fmla="*/ 413 h 413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10" h="413">
                  <a:moveTo>
                    <a:pt x="0" y="0"/>
                  </a:moveTo>
                  <a:lnTo>
                    <a:pt x="0" y="167"/>
                  </a:lnTo>
                  <a:lnTo>
                    <a:pt x="67" y="207"/>
                  </a:lnTo>
                  <a:lnTo>
                    <a:pt x="0" y="245"/>
                  </a:lnTo>
                  <a:lnTo>
                    <a:pt x="0" y="412"/>
                  </a:lnTo>
                  <a:lnTo>
                    <a:pt x="209" y="286"/>
                  </a:lnTo>
                  <a:lnTo>
                    <a:pt x="209" y="127"/>
                  </a:lnTo>
                  <a:lnTo>
                    <a:pt x="0" y="0"/>
                  </a:lnTo>
                </a:path>
              </a:pathLst>
            </a:custGeom>
            <a:solidFill>
              <a:schemeClr val="accent5">
                <a:lumMod val="60000"/>
                <a:lumOff val="4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eaLnBrk="0" hangingPunct="0"/>
              <a:endParaRPr lang="en-US" sz="2000" b="1">
                <a:latin typeface="Neo Sans Intel" pitchFamily="34" charset="0"/>
                <a:cs typeface="Arial" pitchFamily="34" charset="0"/>
              </a:endParaRPr>
            </a:p>
          </p:txBody>
        </p:sp>
        <p:sp>
          <p:nvSpPr>
            <p:cNvPr id="164" name="TextBox 163"/>
            <p:cNvSpPr txBox="1"/>
            <p:nvPr/>
          </p:nvSpPr>
          <p:spPr>
            <a:xfrm>
              <a:off x="6858085" y="3926238"/>
              <a:ext cx="465836" cy="2864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400" dirty="0" smtClean="0">
                  <a:latin typeface="Neo Sans Intel Medium" panose="020B0604020202020204" pitchFamily="34" charset="0"/>
                </a:rPr>
                <a:t>ALU</a:t>
              </a:r>
            </a:p>
          </p:txBody>
        </p:sp>
        <p:sp>
          <p:nvSpPr>
            <p:cNvPr id="165" name="TextBox 164"/>
            <p:cNvSpPr txBox="1"/>
            <p:nvPr/>
          </p:nvSpPr>
          <p:spPr>
            <a:xfrm>
              <a:off x="6728724" y="3319972"/>
              <a:ext cx="155484" cy="2319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500" dirty="0" smtClean="0">
                  <a:latin typeface="Neo Sans Intel" panose="020B0504020202020204" pitchFamily="34" charset="0"/>
                </a:rPr>
                <a:t> </a:t>
              </a:r>
            </a:p>
          </p:txBody>
        </p:sp>
        <p:sp>
          <p:nvSpPr>
            <p:cNvPr id="166" name="TextBox 165"/>
            <p:cNvSpPr txBox="1"/>
            <p:nvPr/>
          </p:nvSpPr>
          <p:spPr>
            <a:xfrm>
              <a:off x="6728724" y="4152246"/>
              <a:ext cx="155484" cy="2319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500" dirty="0" smtClean="0">
                  <a:latin typeface="Neo Sans Intel" panose="020B0504020202020204" pitchFamily="34" charset="0"/>
                </a:rPr>
                <a:t> </a:t>
              </a:r>
            </a:p>
          </p:txBody>
        </p:sp>
        <p:sp>
          <p:nvSpPr>
            <p:cNvPr id="168" name="TextBox 167"/>
            <p:cNvSpPr txBox="1"/>
            <p:nvPr/>
          </p:nvSpPr>
          <p:spPr>
            <a:xfrm>
              <a:off x="7360155" y="3870419"/>
              <a:ext cx="90572" cy="12275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endParaRPr lang="en-US" sz="600" dirty="0" smtClean="0">
                <a:latin typeface="Neo Sans Intel Medium" panose="020B0604020202020204" pitchFamily="34" charset="0"/>
              </a:endParaRPr>
            </a:p>
          </p:txBody>
        </p:sp>
      </p:grpSp>
      <p:cxnSp>
        <p:nvCxnSpPr>
          <p:cNvPr id="169" name="Elbow Connector 168"/>
          <p:cNvCxnSpPr>
            <a:stCxn id="200" idx="0"/>
            <a:endCxn id="157" idx="1"/>
          </p:cNvCxnSpPr>
          <p:nvPr/>
        </p:nvCxnSpPr>
        <p:spPr bwMode="auto">
          <a:xfrm flipH="1">
            <a:off x="2956654" y="3449801"/>
            <a:ext cx="5689587" cy="836432"/>
          </a:xfrm>
          <a:prstGeom prst="bentConnector5">
            <a:avLst>
              <a:gd name="adj1" fmla="val -4018"/>
              <a:gd name="adj2" fmla="val 178449"/>
              <a:gd name="adj3" fmla="val 104018"/>
            </a:avLst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  <a:effectLst/>
        </p:spPr>
      </p:cxnSp>
      <p:sp>
        <p:nvSpPr>
          <p:cNvPr id="170" name="Oval 169"/>
          <p:cNvSpPr/>
          <p:nvPr/>
        </p:nvSpPr>
        <p:spPr bwMode="auto">
          <a:xfrm>
            <a:off x="2193915" y="3164678"/>
            <a:ext cx="54511" cy="54511"/>
          </a:xfrm>
          <a:prstGeom prst="ellipse">
            <a:avLst/>
          </a:prstGeom>
          <a:solidFill>
            <a:schemeClr val="tx1"/>
          </a:solidFill>
          <a:ln w="31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b="1" smtClean="0">
              <a:latin typeface="Neo Sans Intel" pitchFamily="34" charset="0"/>
              <a:cs typeface="Arial" pitchFamily="34" charset="0"/>
            </a:endParaRPr>
          </a:p>
        </p:txBody>
      </p:sp>
      <p:cxnSp>
        <p:nvCxnSpPr>
          <p:cNvPr id="171" name="Straight Arrow Connector 170"/>
          <p:cNvCxnSpPr>
            <a:stCxn id="170" idx="6"/>
            <a:endCxn id="148" idx="1"/>
          </p:cNvCxnSpPr>
          <p:nvPr/>
        </p:nvCxnSpPr>
        <p:spPr bwMode="auto">
          <a:xfrm>
            <a:off x="2248426" y="3191934"/>
            <a:ext cx="711390" cy="0"/>
          </a:xfrm>
          <a:prstGeom prst="straightConnector1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  <a:effectLst/>
        </p:spPr>
      </p:cxnSp>
      <p:cxnSp>
        <p:nvCxnSpPr>
          <p:cNvPr id="172" name="Elbow Connector 171"/>
          <p:cNvCxnSpPr>
            <a:stCxn id="170" idx="4"/>
            <a:endCxn id="178" idx="2"/>
          </p:cNvCxnSpPr>
          <p:nvPr/>
        </p:nvCxnSpPr>
        <p:spPr bwMode="auto">
          <a:xfrm rot="16200000" flipH="1">
            <a:off x="2114723" y="3325637"/>
            <a:ext cx="332737" cy="119840"/>
          </a:xfrm>
          <a:prstGeom prst="bentConnector2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4" name="Elbow Connector 173"/>
          <p:cNvCxnSpPr>
            <a:stCxn id="170" idx="4"/>
            <a:endCxn id="145" idx="3"/>
          </p:cNvCxnSpPr>
          <p:nvPr/>
        </p:nvCxnSpPr>
        <p:spPr bwMode="auto">
          <a:xfrm rot="16200000" flipH="1">
            <a:off x="1951035" y="3489325"/>
            <a:ext cx="861230" cy="320958"/>
          </a:xfrm>
          <a:prstGeom prst="bentConnector2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  <a:effectLst/>
        </p:spPr>
      </p:cxnSp>
      <p:sp>
        <p:nvSpPr>
          <p:cNvPr id="176" name="TextBox 175"/>
          <p:cNvSpPr txBox="1"/>
          <p:nvPr/>
        </p:nvSpPr>
        <p:spPr>
          <a:xfrm>
            <a:off x="5298110" y="4056404"/>
            <a:ext cx="471605" cy="21544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800" dirty="0" err="1" smtClean="0">
                <a:solidFill>
                  <a:schemeClr val="accent1"/>
                </a:solidFill>
                <a:latin typeface="Neo Sans Intel" panose="020B0504020202020204" pitchFamily="34" charset="0"/>
              </a:rPr>
              <a:t>ALUop</a:t>
            </a:r>
            <a:endParaRPr lang="en-US" sz="800" dirty="0" smtClean="0">
              <a:solidFill>
                <a:schemeClr val="accent1"/>
              </a:solidFill>
              <a:latin typeface="Neo Sans Intel" panose="020B0504020202020204" pitchFamily="34" charset="0"/>
            </a:endParaRPr>
          </a:p>
        </p:txBody>
      </p:sp>
      <p:cxnSp>
        <p:nvCxnSpPr>
          <p:cNvPr id="177" name="Straight Connector 176"/>
          <p:cNvCxnSpPr>
            <a:endCxn id="176" idx="0"/>
          </p:cNvCxnSpPr>
          <p:nvPr/>
        </p:nvCxnSpPr>
        <p:spPr bwMode="auto">
          <a:xfrm>
            <a:off x="5533662" y="3868017"/>
            <a:ext cx="251" cy="188387"/>
          </a:xfrm>
          <a:prstGeom prst="line">
            <a:avLst/>
          </a:prstGeom>
          <a:solidFill>
            <a:schemeClr val="bg1"/>
          </a:solidFill>
          <a:ln w="63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78" name="Oval 177"/>
          <p:cNvSpPr/>
          <p:nvPr/>
        </p:nvSpPr>
        <p:spPr bwMode="auto">
          <a:xfrm>
            <a:off x="2341011" y="3524670"/>
            <a:ext cx="54511" cy="54511"/>
          </a:xfrm>
          <a:prstGeom prst="ellipse">
            <a:avLst/>
          </a:prstGeom>
          <a:solidFill>
            <a:schemeClr val="tx1"/>
          </a:solidFill>
          <a:ln w="31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b="1" smtClean="0">
              <a:latin typeface="Neo Sans Intel" pitchFamily="34" charset="0"/>
              <a:cs typeface="Arial" pitchFamily="34" charset="0"/>
            </a:endParaRPr>
          </a:p>
        </p:txBody>
      </p:sp>
      <p:cxnSp>
        <p:nvCxnSpPr>
          <p:cNvPr id="179" name="Elbow Connector 178"/>
          <p:cNvCxnSpPr>
            <a:stCxn id="178" idx="4"/>
            <a:endCxn id="144" idx="3"/>
          </p:cNvCxnSpPr>
          <p:nvPr/>
        </p:nvCxnSpPr>
        <p:spPr bwMode="auto">
          <a:xfrm rot="16200000" flipH="1">
            <a:off x="2333491" y="3613957"/>
            <a:ext cx="241509" cy="171956"/>
          </a:xfrm>
          <a:prstGeom prst="bentConnector2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  <a:effectLst/>
        </p:spPr>
      </p:cxnSp>
      <p:cxnSp>
        <p:nvCxnSpPr>
          <p:cNvPr id="180" name="Straight Arrow Connector 179"/>
          <p:cNvCxnSpPr>
            <a:stCxn id="143" idx="0"/>
            <a:endCxn id="156" idx="1"/>
          </p:cNvCxnSpPr>
          <p:nvPr/>
        </p:nvCxnSpPr>
        <p:spPr bwMode="auto">
          <a:xfrm flipV="1">
            <a:off x="2670176" y="3954229"/>
            <a:ext cx="286478" cy="1"/>
          </a:xfrm>
          <a:prstGeom prst="straightConnector1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  <a:effectLst/>
        </p:spPr>
      </p:cxnSp>
      <p:sp>
        <p:nvSpPr>
          <p:cNvPr id="182" name="Rounded Rectangle 181"/>
          <p:cNvSpPr/>
          <p:nvPr/>
        </p:nvSpPr>
        <p:spPr bwMode="auto">
          <a:xfrm>
            <a:off x="3202985" y="4589504"/>
            <a:ext cx="717323" cy="206006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1000" dirty="0" smtClean="0">
                <a:latin typeface="Neo Sans Intel Medium" panose="020B0604020202020204" pitchFamily="34" charset="0"/>
                <a:cs typeface="Arial" pitchFamily="34" charset="0"/>
              </a:rPr>
              <a:t>Sign </a:t>
            </a:r>
            <a:r>
              <a:rPr lang="en-US" sz="1000" dirty="0" err="1" smtClean="0">
                <a:latin typeface="Neo Sans Intel Medium" panose="020B0604020202020204" pitchFamily="34" charset="0"/>
                <a:cs typeface="Arial" pitchFamily="34" charset="0"/>
              </a:rPr>
              <a:t>ext</a:t>
            </a:r>
            <a:endParaRPr lang="en-US" sz="1000" dirty="0">
              <a:latin typeface="Neo Sans Intel Medium" panose="020B0604020202020204" pitchFamily="34" charset="0"/>
              <a:cs typeface="Arial" pitchFamily="34" charset="0"/>
            </a:endParaRPr>
          </a:p>
        </p:txBody>
      </p:sp>
      <p:cxnSp>
        <p:nvCxnSpPr>
          <p:cNvPr id="183" name="Elbow Connector 182"/>
          <p:cNvCxnSpPr>
            <a:stCxn id="170" idx="4"/>
            <a:endCxn id="182" idx="1"/>
          </p:cNvCxnSpPr>
          <p:nvPr/>
        </p:nvCxnSpPr>
        <p:spPr bwMode="auto">
          <a:xfrm rot="16200000" flipH="1">
            <a:off x="1975419" y="3464941"/>
            <a:ext cx="1473318" cy="981814"/>
          </a:xfrm>
          <a:prstGeom prst="bentConnector2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  <a:effectLst/>
        </p:spPr>
      </p:cxnSp>
      <p:grpSp>
        <p:nvGrpSpPr>
          <p:cNvPr id="184" name="Group 183"/>
          <p:cNvGrpSpPr/>
          <p:nvPr/>
        </p:nvGrpSpPr>
        <p:grpSpPr>
          <a:xfrm>
            <a:off x="4995062" y="3577625"/>
            <a:ext cx="135684" cy="484051"/>
            <a:chOff x="3390790" y="3616963"/>
            <a:chExt cx="180391" cy="643543"/>
          </a:xfrm>
        </p:grpSpPr>
        <p:sp>
          <p:nvSpPr>
            <p:cNvPr id="185" name="Trapezoid 184"/>
            <p:cNvSpPr/>
            <p:nvPr/>
          </p:nvSpPr>
          <p:spPr bwMode="auto">
            <a:xfrm rot="5400000">
              <a:off x="3159214" y="3848539"/>
              <a:ext cx="643543" cy="180391"/>
            </a:xfrm>
            <a:prstGeom prst="trapezoid">
              <a:avLst>
                <a:gd name="adj" fmla="val 53513"/>
              </a:avLst>
            </a:prstGeom>
            <a:solidFill>
              <a:schemeClr val="bg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Neo Sans Intel Medium" panose="020B0604020202020204" pitchFamily="34" charset="0"/>
              </a:endParaRPr>
            </a:p>
          </p:txBody>
        </p:sp>
        <p:sp>
          <p:nvSpPr>
            <p:cNvPr id="186" name="Rectangle 158"/>
            <p:cNvSpPr>
              <a:spLocks noChangeArrowheads="1"/>
            </p:cNvSpPr>
            <p:nvPr/>
          </p:nvSpPr>
          <p:spPr bwMode="auto">
            <a:xfrm flipH="1">
              <a:off x="3395877" y="3698344"/>
              <a:ext cx="108737" cy="143216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sz="700" b="1" dirty="0">
                  <a:solidFill>
                    <a:srgbClr val="000000"/>
                  </a:solidFill>
                  <a:latin typeface="Neo Sans Intel" panose="020B0504020202020204" pitchFamily="34" charset="0"/>
                </a:rPr>
                <a:t>0</a:t>
              </a:r>
              <a:endParaRPr lang="en-US" sz="700" dirty="0">
                <a:solidFill>
                  <a:srgbClr val="000000"/>
                </a:solidFill>
                <a:latin typeface="Neo Sans Intel" panose="020B0504020202020204" pitchFamily="34" charset="0"/>
              </a:endParaRPr>
            </a:p>
          </p:txBody>
        </p:sp>
        <p:sp>
          <p:nvSpPr>
            <p:cNvPr id="187" name="Rectangle 159"/>
            <p:cNvSpPr>
              <a:spLocks noChangeArrowheads="1"/>
            </p:cNvSpPr>
            <p:nvPr/>
          </p:nvSpPr>
          <p:spPr bwMode="auto">
            <a:xfrm flipH="1">
              <a:off x="3395879" y="4047844"/>
              <a:ext cx="85106" cy="107722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sz="700" b="1" dirty="0">
                  <a:solidFill>
                    <a:srgbClr val="000000"/>
                  </a:solidFill>
                  <a:latin typeface="Neo Sans Intel" panose="020B0504020202020204" pitchFamily="34" charset="0"/>
                </a:rPr>
                <a:t>1</a:t>
              </a:r>
            </a:p>
          </p:txBody>
        </p:sp>
      </p:grpSp>
      <p:cxnSp>
        <p:nvCxnSpPr>
          <p:cNvPr id="188" name="Straight Arrow Connector 187"/>
          <p:cNvCxnSpPr>
            <a:stCxn id="185" idx="0"/>
            <a:endCxn id="166" idx="1"/>
          </p:cNvCxnSpPr>
          <p:nvPr/>
        </p:nvCxnSpPr>
        <p:spPr bwMode="auto">
          <a:xfrm>
            <a:off x="5130746" y="3819650"/>
            <a:ext cx="123918" cy="1097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  <a:effectLst/>
        </p:spPr>
      </p:cxnSp>
      <p:cxnSp>
        <p:nvCxnSpPr>
          <p:cNvPr id="189" name="Elbow Connector 188"/>
          <p:cNvCxnSpPr>
            <a:stCxn id="182" idx="3"/>
            <a:endCxn id="210" idx="4"/>
          </p:cNvCxnSpPr>
          <p:nvPr/>
        </p:nvCxnSpPr>
        <p:spPr bwMode="auto">
          <a:xfrm flipV="1">
            <a:off x="3920308" y="3968876"/>
            <a:ext cx="951895" cy="723631"/>
          </a:xfrm>
          <a:prstGeom prst="bentConnector2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190" name="Group 189"/>
          <p:cNvGrpSpPr/>
          <p:nvPr/>
        </p:nvGrpSpPr>
        <p:grpSpPr>
          <a:xfrm>
            <a:off x="6877456" y="3139648"/>
            <a:ext cx="912843" cy="874408"/>
            <a:chOff x="3124738" y="3598050"/>
            <a:chExt cx="1447262" cy="1386326"/>
          </a:xfrm>
        </p:grpSpPr>
        <p:sp>
          <p:nvSpPr>
            <p:cNvPr id="191" name="Rectangle 190"/>
            <p:cNvSpPr/>
            <p:nvPr/>
          </p:nvSpPr>
          <p:spPr bwMode="auto">
            <a:xfrm>
              <a:off x="3126744" y="3598050"/>
              <a:ext cx="1445256" cy="138632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b="1" smtClean="0">
                <a:latin typeface="Neo Sans Intel" pitchFamily="34" charset="0"/>
                <a:cs typeface="Arial" pitchFamily="34" charset="0"/>
              </a:endParaRPr>
            </a:p>
          </p:txBody>
        </p:sp>
        <p:sp>
          <p:nvSpPr>
            <p:cNvPr id="192" name="TextBox 191"/>
            <p:cNvSpPr txBox="1"/>
            <p:nvPr/>
          </p:nvSpPr>
          <p:spPr>
            <a:xfrm>
              <a:off x="3124738" y="3682687"/>
              <a:ext cx="184731" cy="26161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endParaRPr lang="en-US" sz="1100" dirty="0" smtClean="0">
                <a:latin typeface="Neo Sans Intel" panose="020B0504020202020204" pitchFamily="34" charset="0"/>
              </a:endParaRPr>
            </a:p>
          </p:txBody>
        </p:sp>
        <p:sp>
          <p:nvSpPr>
            <p:cNvPr id="193" name="TextBox 192"/>
            <p:cNvSpPr txBox="1"/>
            <p:nvPr/>
          </p:nvSpPr>
          <p:spPr>
            <a:xfrm>
              <a:off x="4371874" y="3786748"/>
              <a:ext cx="200126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endParaRPr lang="en-US" sz="1100" dirty="0" smtClean="0">
                <a:latin typeface="Neo Sans Intel" panose="020B0504020202020204" pitchFamily="34" charset="0"/>
              </a:endParaRPr>
            </a:p>
          </p:txBody>
        </p:sp>
        <p:sp>
          <p:nvSpPr>
            <p:cNvPr id="194" name="TextBox 193"/>
            <p:cNvSpPr txBox="1"/>
            <p:nvPr/>
          </p:nvSpPr>
          <p:spPr>
            <a:xfrm>
              <a:off x="3466452" y="4040440"/>
              <a:ext cx="838692" cy="30777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 smtClean="0">
                  <a:latin typeface="Neo Sans Intel Medium" panose="020B0604020202020204" pitchFamily="34" charset="0"/>
                </a:rPr>
                <a:t>Memory</a:t>
              </a:r>
            </a:p>
          </p:txBody>
        </p:sp>
        <p:sp>
          <p:nvSpPr>
            <p:cNvPr id="195" name="TextBox 194"/>
            <p:cNvSpPr txBox="1"/>
            <p:nvPr/>
          </p:nvSpPr>
          <p:spPr>
            <a:xfrm>
              <a:off x="3126747" y="4149986"/>
              <a:ext cx="102130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endParaRPr lang="en-US" sz="1100" dirty="0" smtClean="0">
                <a:latin typeface="Neo Sans Intel" panose="020B0504020202020204" pitchFamily="34" charset="0"/>
              </a:endParaRPr>
            </a:p>
          </p:txBody>
        </p:sp>
        <p:sp>
          <p:nvSpPr>
            <p:cNvPr id="197" name="TextBox 196"/>
            <p:cNvSpPr txBox="1"/>
            <p:nvPr/>
          </p:nvSpPr>
          <p:spPr>
            <a:xfrm>
              <a:off x="3128166" y="4647074"/>
              <a:ext cx="184731" cy="261609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endParaRPr lang="en-US" sz="1100" dirty="0" smtClean="0">
                <a:latin typeface="Neo Sans Intel" panose="020B0504020202020204" pitchFamily="34" charset="0"/>
              </a:endParaRPr>
            </a:p>
          </p:txBody>
        </p:sp>
      </p:grpSp>
      <p:cxnSp>
        <p:nvCxnSpPr>
          <p:cNvPr id="198" name="Straight Arrow Connector 197"/>
          <p:cNvCxnSpPr>
            <a:stCxn id="193" idx="3"/>
            <a:endCxn id="201" idx="3"/>
          </p:cNvCxnSpPr>
          <p:nvPr/>
        </p:nvCxnSpPr>
        <p:spPr bwMode="auto">
          <a:xfrm flipV="1">
            <a:off x="7790299" y="3341004"/>
            <a:ext cx="724083" cy="167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  <a:effectLst/>
        </p:spPr>
      </p:cxnSp>
      <p:grpSp>
        <p:nvGrpSpPr>
          <p:cNvPr id="199" name="Group 198"/>
          <p:cNvGrpSpPr/>
          <p:nvPr/>
        </p:nvGrpSpPr>
        <p:grpSpPr>
          <a:xfrm>
            <a:off x="8510556" y="3207774"/>
            <a:ext cx="135684" cy="484051"/>
            <a:chOff x="3390790" y="3616963"/>
            <a:chExt cx="180391" cy="643543"/>
          </a:xfrm>
        </p:grpSpPr>
        <p:sp>
          <p:nvSpPr>
            <p:cNvPr id="200" name="Trapezoid 199"/>
            <p:cNvSpPr/>
            <p:nvPr/>
          </p:nvSpPr>
          <p:spPr bwMode="auto">
            <a:xfrm rot="5400000">
              <a:off x="3159214" y="3848539"/>
              <a:ext cx="643543" cy="180391"/>
            </a:xfrm>
            <a:prstGeom prst="trapezoid">
              <a:avLst>
                <a:gd name="adj" fmla="val 53513"/>
              </a:avLst>
            </a:prstGeom>
            <a:solidFill>
              <a:schemeClr val="bg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Neo Sans Intel Medium" panose="020B0604020202020204" pitchFamily="34" charset="0"/>
              </a:endParaRPr>
            </a:p>
          </p:txBody>
        </p:sp>
        <p:sp>
          <p:nvSpPr>
            <p:cNvPr id="201" name="Rectangle 158"/>
            <p:cNvSpPr>
              <a:spLocks noChangeArrowheads="1"/>
            </p:cNvSpPr>
            <p:nvPr/>
          </p:nvSpPr>
          <p:spPr bwMode="auto">
            <a:xfrm flipH="1">
              <a:off x="3395877" y="3722484"/>
              <a:ext cx="122543" cy="143216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sz="700" dirty="0" smtClean="0">
                  <a:solidFill>
                    <a:srgbClr val="000000"/>
                  </a:solidFill>
                  <a:latin typeface="Neo Sans Intel" panose="020B0504020202020204" pitchFamily="34" charset="0"/>
                </a:rPr>
                <a:t>1</a:t>
              </a:r>
              <a:endParaRPr lang="en-US" sz="700" dirty="0">
                <a:solidFill>
                  <a:srgbClr val="000000"/>
                </a:solidFill>
                <a:latin typeface="Neo Sans Intel" panose="020B0504020202020204" pitchFamily="34" charset="0"/>
              </a:endParaRPr>
            </a:p>
          </p:txBody>
        </p:sp>
        <p:sp>
          <p:nvSpPr>
            <p:cNvPr id="202" name="Rectangle 159"/>
            <p:cNvSpPr>
              <a:spLocks noChangeArrowheads="1"/>
            </p:cNvSpPr>
            <p:nvPr/>
          </p:nvSpPr>
          <p:spPr bwMode="auto">
            <a:xfrm flipH="1">
              <a:off x="3395879" y="4029231"/>
              <a:ext cx="122542" cy="143216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sz="700" b="1" dirty="0">
                  <a:solidFill>
                    <a:srgbClr val="000000"/>
                  </a:solidFill>
                  <a:latin typeface="Neo Sans Intel" panose="020B0504020202020204" pitchFamily="34" charset="0"/>
                </a:rPr>
                <a:t>0</a:t>
              </a:r>
            </a:p>
          </p:txBody>
        </p:sp>
      </p:grpSp>
      <p:cxnSp>
        <p:nvCxnSpPr>
          <p:cNvPr id="203" name="Straight Arrow Connector 202"/>
          <p:cNvCxnSpPr>
            <a:stCxn id="168" idx="3"/>
            <a:endCxn id="208" idx="2"/>
          </p:cNvCxnSpPr>
          <p:nvPr/>
        </p:nvCxnSpPr>
        <p:spPr bwMode="auto">
          <a:xfrm flipV="1">
            <a:off x="5797730" y="3567235"/>
            <a:ext cx="786476" cy="454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04" name="Oval 203"/>
          <p:cNvSpPr/>
          <p:nvPr/>
        </p:nvSpPr>
        <p:spPr bwMode="auto">
          <a:xfrm>
            <a:off x="4734232" y="3664698"/>
            <a:ext cx="54511" cy="54511"/>
          </a:xfrm>
          <a:prstGeom prst="ellipse">
            <a:avLst/>
          </a:prstGeom>
          <a:solidFill>
            <a:schemeClr val="tx1"/>
          </a:solidFill>
          <a:ln w="31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b="1" smtClean="0">
              <a:latin typeface="Neo Sans Intel" pitchFamily="34" charset="0"/>
              <a:cs typeface="Arial" pitchFamily="34" charset="0"/>
            </a:endParaRPr>
          </a:p>
        </p:txBody>
      </p:sp>
      <p:sp>
        <p:nvSpPr>
          <p:cNvPr id="205" name="TextBox 204"/>
          <p:cNvSpPr txBox="1"/>
          <p:nvPr/>
        </p:nvSpPr>
        <p:spPr>
          <a:xfrm>
            <a:off x="5584679" y="4444824"/>
            <a:ext cx="71861" cy="92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" dirty="0" smtClean="0">
                <a:latin typeface="Neo Sans Intel" panose="020B0504020202020204" pitchFamily="34" charset="0"/>
              </a:rPr>
              <a:t> </a:t>
            </a:r>
          </a:p>
        </p:txBody>
      </p:sp>
      <p:cxnSp>
        <p:nvCxnSpPr>
          <p:cNvPr id="206" name="Elbow Connector 205"/>
          <p:cNvCxnSpPr>
            <a:stCxn id="204" idx="4"/>
            <a:endCxn id="205" idx="1"/>
          </p:cNvCxnSpPr>
          <p:nvPr/>
        </p:nvCxnSpPr>
        <p:spPr bwMode="auto">
          <a:xfrm rot="16200000" flipH="1">
            <a:off x="4787126" y="3693570"/>
            <a:ext cx="771915" cy="823191"/>
          </a:xfrm>
          <a:prstGeom prst="bentConnector2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med" len="med"/>
          </a:ln>
          <a:effectLst/>
        </p:spPr>
      </p:cxnSp>
      <p:cxnSp>
        <p:nvCxnSpPr>
          <p:cNvPr id="207" name="Elbow Connector 206"/>
          <p:cNvCxnSpPr>
            <a:stCxn id="205" idx="1"/>
            <a:endCxn id="197" idx="1"/>
          </p:cNvCxnSpPr>
          <p:nvPr/>
        </p:nvCxnSpPr>
        <p:spPr bwMode="auto">
          <a:xfrm rot="10800000" flipH="1">
            <a:off x="5584678" y="3883812"/>
            <a:ext cx="1294939" cy="607312"/>
          </a:xfrm>
          <a:prstGeom prst="bentConnector3">
            <a:avLst>
              <a:gd name="adj1" fmla="val 25626"/>
            </a:avLst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  <a:effectLst/>
        </p:spPr>
      </p:cxnSp>
      <p:sp>
        <p:nvSpPr>
          <p:cNvPr id="208" name="Oval 207"/>
          <p:cNvSpPr/>
          <p:nvPr/>
        </p:nvSpPr>
        <p:spPr bwMode="auto">
          <a:xfrm>
            <a:off x="6584206" y="3539979"/>
            <a:ext cx="54511" cy="54511"/>
          </a:xfrm>
          <a:prstGeom prst="ellipse">
            <a:avLst/>
          </a:prstGeom>
          <a:solidFill>
            <a:schemeClr val="tx1"/>
          </a:solidFill>
          <a:ln w="31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b="1" smtClean="0">
              <a:latin typeface="Neo Sans Intel" pitchFamily="34" charset="0"/>
              <a:cs typeface="Arial" pitchFamily="34" charset="0"/>
            </a:endParaRPr>
          </a:p>
        </p:txBody>
      </p:sp>
      <p:cxnSp>
        <p:nvCxnSpPr>
          <p:cNvPr id="209" name="Elbow Connector 208"/>
          <p:cNvCxnSpPr>
            <a:stCxn id="208" idx="4"/>
            <a:endCxn id="202" idx="3"/>
          </p:cNvCxnSpPr>
          <p:nvPr/>
        </p:nvCxnSpPr>
        <p:spPr bwMode="auto">
          <a:xfrm rot="5400000" flipH="1" flipV="1">
            <a:off x="7551542" y="2631649"/>
            <a:ext cx="22761" cy="1902922"/>
          </a:xfrm>
          <a:prstGeom prst="bentConnector4">
            <a:avLst>
              <a:gd name="adj1" fmla="val -2946101"/>
              <a:gd name="adj2" fmla="val 89558"/>
            </a:avLst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  <a:effectLst/>
        </p:spPr>
      </p:cxnSp>
      <p:sp>
        <p:nvSpPr>
          <p:cNvPr id="210" name="Oval 209"/>
          <p:cNvSpPr/>
          <p:nvPr/>
        </p:nvSpPr>
        <p:spPr bwMode="auto">
          <a:xfrm>
            <a:off x="4844947" y="3914365"/>
            <a:ext cx="54511" cy="54511"/>
          </a:xfrm>
          <a:prstGeom prst="ellipse">
            <a:avLst/>
          </a:prstGeom>
          <a:solidFill>
            <a:schemeClr val="tx1"/>
          </a:solidFill>
          <a:ln w="31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b="1" smtClean="0">
              <a:latin typeface="Neo Sans Intel" pitchFamily="34" charset="0"/>
              <a:cs typeface="Arial" pitchFamily="34" charset="0"/>
            </a:endParaRPr>
          </a:p>
        </p:txBody>
      </p:sp>
      <p:cxnSp>
        <p:nvCxnSpPr>
          <p:cNvPr id="211" name="Straight Arrow Connector 210"/>
          <p:cNvCxnSpPr>
            <a:stCxn id="210" idx="6"/>
            <a:endCxn id="187" idx="3"/>
          </p:cNvCxnSpPr>
          <p:nvPr/>
        </p:nvCxnSpPr>
        <p:spPr bwMode="auto">
          <a:xfrm>
            <a:off x="4899458" y="3941621"/>
            <a:ext cx="99432" cy="611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  <a:effectLst/>
        </p:spPr>
      </p:cxnSp>
      <p:cxnSp>
        <p:nvCxnSpPr>
          <p:cNvPr id="212" name="Elbow Connector 211"/>
          <p:cNvCxnSpPr>
            <a:stCxn id="208" idx="0"/>
            <a:endCxn id="192" idx="1"/>
          </p:cNvCxnSpPr>
          <p:nvPr/>
        </p:nvCxnSpPr>
        <p:spPr bwMode="auto">
          <a:xfrm rot="5400000" flipH="1" flipV="1">
            <a:off x="6612238" y="3274761"/>
            <a:ext cx="264443" cy="265994"/>
          </a:xfrm>
          <a:prstGeom prst="bentConnector2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  <a:effectLst/>
        </p:spPr>
      </p:cxnSp>
      <p:sp>
        <p:nvSpPr>
          <p:cNvPr id="213" name="TextBox 212"/>
          <p:cNvSpPr txBox="1"/>
          <p:nvPr/>
        </p:nvSpPr>
        <p:spPr>
          <a:xfrm>
            <a:off x="4815348" y="4177186"/>
            <a:ext cx="500458" cy="21544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800" dirty="0" err="1" smtClean="0">
                <a:solidFill>
                  <a:schemeClr val="accent1"/>
                </a:solidFill>
                <a:latin typeface="Neo Sans Intel" panose="020B0504020202020204" pitchFamily="34" charset="0"/>
              </a:rPr>
              <a:t>ALUSrc</a:t>
            </a:r>
            <a:endParaRPr lang="en-US" sz="800" dirty="0" smtClean="0">
              <a:solidFill>
                <a:schemeClr val="accent1"/>
              </a:solidFill>
              <a:latin typeface="Neo Sans Intel" panose="020B0504020202020204" pitchFamily="34" charset="0"/>
            </a:endParaRPr>
          </a:p>
        </p:txBody>
      </p:sp>
      <p:cxnSp>
        <p:nvCxnSpPr>
          <p:cNvPr id="214" name="Straight Connector 213"/>
          <p:cNvCxnSpPr>
            <a:stCxn id="185" idx="3"/>
            <a:endCxn id="213" idx="0"/>
          </p:cNvCxnSpPr>
          <p:nvPr/>
        </p:nvCxnSpPr>
        <p:spPr bwMode="auto">
          <a:xfrm>
            <a:off x="5062905" y="4025374"/>
            <a:ext cx="2672" cy="151812"/>
          </a:xfrm>
          <a:prstGeom prst="line">
            <a:avLst/>
          </a:prstGeom>
          <a:solidFill>
            <a:schemeClr val="bg1"/>
          </a:solidFill>
          <a:ln w="63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15" name="TextBox 214"/>
          <p:cNvSpPr txBox="1"/>
          <p:nvPr/>
        </p:nvSpPr>
        <p:spPr>
          <a:xfrm>
            <a:off x="7020161" y="2788909"/>
            <a:ext cx="628697" cy="21544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800" dirty="0" err="1" smtClean="0">
                <a:solidFill>
                  <a:schemeClr val="accent1"/>
                </a:solidFill>
                <a:latin typeface="Neo Sans Intel" panose="020B0504020202020204" pitchFamily="34" charset="0"/>
              </a:rPr>
              <a:t>MemWrite</a:t>
            </a:r>
            <a:endParaRPr lang="en-US" sz="800" dirty="0" smtClean="0">
              <a:solidFill>
                <a:schemeClr val="accent1"/>
              </a:solidFill>
              <a:latin typeface="Neo Sans Intel" panose="020B0504020202020204" pitchFamily="34" charset="0"/>
            </a:endParaRPr>
          </a:p>
        </p:txBody>
      </p:sp>
      <p:cxnSp>
        <p:nvCxnSpPr>
          <p:cNvPr id="216" name="Straight Connector 215"/>
          <p:cNvCxnSpPr>
            <a:stCxn id="215" idx="2"/>
            <a:endCxn id="191" idx="0"/>
          </p:cNvCxnSpPr>
          <p:nvPr/>
        </p:nvCxnSpPr>
        <p:spPr bwMode="auto">
          <a:xfrm>
            <a:off x="7334510" y="3004353"/>
            <a:ext cx="0" cy="135295"/>
          </a:xfrm>
          <a:prstGeom prst="line">
            <a:avLst/>
          </a:prstGeom>
          <a:solidFill>
            <a:schemeClr val="bg1"/>
          </a:solidFill>
          <a:ln w="63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17" name="TextBox 216"/>
          <p:cNvSpPr txBox="1"/>
          <p:nvPr/>
        </p:nvSpPr>
        <p:spPr>
          <a:xfrm>
            <a:off x="2239331" y="4294642"/>
            <a:ext cx="502060" cy="215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 err="1" smtClean="0">
                <a:solidFill>
                  <a:schemeClr val="accent1"/>
                </a:solidFill>
                <a:latin typeface="Neo Sans Intel" panose="020B0504020202020204" pitchFamily="34" charset="0"/>
              </a:rPr>
              <a:t>RegDst</a:t>
            </a:r>
            <a:endParaRPr lang="en-US" sz="800" dirty="0" smtClean="0">
              <a:solidFill>
                <a:schemeClr val="accent1"/>
              </a:solidFill>
              <a:latin typeface="Neo Sans Intel" panose="020B0504020202020204" pitchFamily="34" charset="0"/>
            </a:endParaRPr>
          </a:p>
        </p:txBody>
      </p:sp>
      <p:cxnSp>
        <p:nvCxnSpPr>
          <p:cNvPr id="219" name="Straight Connector 218"/>
          <p:cNvCxnSpPr>
            <a:stCxn id="143" idx="3"/>
          </p:cNvCxnSpPr>
          <p:nvPr/>
        </p:nvCxnSpPr>
        <p:spPr bwMode="auto">
          <a:xfrm flipH="1">
            <a:off x="2600749" y="4159952"/>
            <a:ext cx="1586" cy="127502"/>
          </a:xfrm>
          <a:prstGeom prst="line">
            <a:avLst/>
          </a:prstGeom>
          <a:solidFill>
            <a:schemeClr val="bg1"/>
          </a:solidFill>
          <a:ln w="63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20" name="TextBox 219"/>
          <p:cNvSpPr txBox="1"/>
          <p:nvPr/>
        </p:nvSpPr>
        <p:spPr>
          <a:xfrm>
            <a:off x="8238612" y="2812385"/>
            <a:ext cx="676788" cy="21544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800" dirty="0" err="1" smtClean="0">
                <a:solidFill>
                  <a:schemeClr val="accent1"/>
                </a:solidFill>
                <a:latin typeface="Neo Sans Intel" panose="020B0504020202020204" pitchFamily="34" charset="0"/>
              </a:rPr>
              <a:t>MemToReg</a:t>
            </a:r>
            <a:endParaRPr lang="en-US" sz="800" dirty="0" smtClean="0">
              <a:solidFill>
                <a:schemeClr val="accent1"/>
              </a:solidFill>
              <a:latin typeface="Neo Sans Intel" panose="020B0504020202020204" pitchFamily="34" charset="0"/>
            </a:endParaRPr>
          </a:p>
        </p:txBody>
      </p:sp>
      <p:cxnSp>
        <p:nvCxnSpPr>
          <p:cNvPr id="221" name="Straight Connector 220"/>
          <p:cNvCxnSpPr>
            <a:stCxn id="220" idx="2"/>
            <a:endCxn id="200" idx="1"/>
          </p:cNvCxnSpPr>
          <p:nvPr/>
        </p:nvCxnSpPr>
        <p:spPr bwMode="auto">
          <a:xfrm>
            <a:off x="8577006" y="3027829"/>
            <a:ext cx="1393" cy="216250"/>
          </a:xfrm>
          <a:prstGeom prst="line">
            <a:avLst/>
          </a:prstGeom>
          <a:solidFill>
            <a:schemeClr val="bg1"/>
          </a:solidFill>
          <a:ln w="63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24" name="Straight Connector 223"/>
          <p:cNvCxnSpPr>
            <a:stCxn id="178" idx="6"/>
            <a:endCxn id="152" idx="1"/>
          </p:cNvCxnSpPr>
          <p:nvPr/>
        </p:nvCxnSpPr>
        <p:spPr bwMode="auto">
          <a:xfrm flipV="1">
            <a:off x="2395521" y="3548519"/>
            <a:ext cx="564294" cy="3402"/>
          </a:xfrm>
          <a:prstGeom prst="lin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  <a:effectLst/>
        </p:spPr>
      </p:cxnSp>
      <p:cxnSp>
        <p:nvCxnSpPr>
          <p:cNvPr id="225" name="Straight Connector 224"/>
          <p:cNvCxnSpPr>
            <a:stCxn id="204" idx="6"/>
            <a:endCxn id="186" idx="3"/>
          </p:cNvCxnSpPr>
          <p:nvPr/>
        </p:nvCxnSpPr>
        <p:spPr bwMode="auto">
          <a:xfrm>
            <a:off x="4788739" y="3692173"/>
            <a:ext cx="210145" cy="744"/>
          </a:xfrm>
          <a:prstGeom prst="line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  <a:effectLst/>
        </p:spPr>
      </p:cxnSp>
      <p:cxnSp>
        <p:nvCxnSpPr>
          <p:cNvPr id="226" name="Straight Connector 225"/>
          <p:cNvCxnSpPr>
            <a:stCxn id="155" idx="3"/>
            <a:endCxn id="204" idx="2"/>
          </p:cNvCxnSpPr>
          <p:nvPr/>
        </p:nvCxnSpPr>
        <p:spPr bwMode="auto">
          <a:xfrm flipV="1">
            <a:off x="4123363" y="3691954"/>
            <a:ext cx="610869" cy="363"/>
          </a:xfrm>
          <a:prstGeom prst="line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med" len="med"/>
          </a:ln>
          <a:effectLst/>
        </p:spPr>
      </p:cxnSp>
      <p:cxnSp>
        <p:nvCxnSpPr>
          <p:cNvPr id="227" name="Straight Connector 226"/>
          <p:cNvCxnSpPr>
            <a:stCxn id="208" idx="6"/>
            <a:endCxn id="195" idx="1"/>
          </p:cNvCxnSpPr>
          <p:nvPr/>
        </p:nvCxnSpPr>
        <p:spPr bwMode="auto">
          <a:xfrm>
            <a:off x="6638717" y="3567235"/>
            <a:ext cx="240006" cy="3044"/>
          </a:xfrm>
          <a:prstGeom prst="line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  <a:effectLst/>
        </p:spPr>
      </p:cxnSp>
      <p:grpSp>
        <p:nvGrpSpPr>
          <p:cNvPr id="18" name="Group 17"/>
          <p:cNvGrpSpPr/>
          <p:nvPr/>
        </p:nvGrpSpPr>
        <p:grpSpPr>
          <a:xfrm>
            <a:off x="2221172" y="3219188"/>
            <a:ext cx="836660" cy="2442510"/>
            <a:chOff x="2221172" y="3219188"/>
            <a:chExt cx="836660" cy="2442510"/>
          </a:xfrm>
        </p:grpSpPr>
        <p:sp>
          <p:nvSpPr>
            <p:cNvPr id="222" name="Oval 221"/>
            <p:cNvSpPr/>
            <p:nvPr/>
          </p:nvSpPr>
          <p:spPr bwMode="auto">
            <a:xfrm>
              <a:off x="2432367" y="5188974"/>
              <a:ext cx="449913" cy="472724"/>
            </a:xfrm>
            <a:prstGeom prst="ellipse">
              <a:avLst/>
            </a:prstGeom>
            <a:solidFill>
              <a:schemeClr val="accent3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900" dirty="0">
                  <a:latin typeface="Neo Sans Intel Medium" panose="020B0604020202020204" pitchFamily="34" charset="0"/>
                  <a:cs typeface="Arial" pitchFamily="34" charset="0"/>
                </a:rPr>
                <a:t>Control</a:t>
              </a:r>
            </a:p>
          </p:txBody>
        </p:sp>
        <p:cxnSp>
          <p:nvCxnSpPr>
            <p:cNvPr id="223" name="Elbow Connector 222"/>
            <p:cNvCxnSpPr>
              <a:stCxn id="170" idx="4"/>
              <a:endCxn id="222" idx="2"/>
            </p:cNvCxnSpPr>
            <p:nvPr/>
          </p:nvCxnSpPr>
          <p:spPr bwMode="auto">
            <a:xfrm rot="16200000" flipH="1">
              <a:off x="1223696" y="4216664"/>
              <a:ext cx="2206147" cy="211196"/>
            </a:xfrm>
            <a:prstGeom prst="bentConnector2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/>
            </a:ln>
            <a:effectLst/>
          </p:spPr>
        </p:cxnSp>
        <p:cxnSp>
          <p:nvCxnSpPr>
            <p:cNvPr id="228" name="Straight Arrow Connector 227"/>
            <p:cNvCxnSpPr>
              <a:stCxn id="222" idx="6"/>
            </p:cNvCxnSpPr>
            <p:nvPr/>
          </p:nvCxnSpPr>
          <p:spPr bwMode="auto">
            <a:xfrm>
              <a:off x="2882280" y="5425336"/>
              <a:ext cx="175552" cy="0"/>
            </a:xfrm>
            <a:prstGeom prst="straightConnector1">
              <a:avLst/>
            </a:prstGeom>
            <a:solidFill>
              <a:schemeClr val="bg1"/>
            </a:solidFill>
            <a:ln w="19050" cap="flat" cmpd="sng" algn="ctr">
              <a:solidFill>
                <a:schemeClr val="accent1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</p:cxnSp>
      </p:grpSp>
      <p:grpSp>
        <p:nvGrpSpPr>
          <p:cNvPr id="229" name="Group 228"/>
          <p:cNvGrpSpPr/>
          <p:nvPr/>
        </p:nvGrpSpPr>
        <p:grpSpPr>
          <a:xfrm>
            <a:off x="634672" y="3043326"/>
            <a:ext cx="952882" cy="914028"/>
            <a:chOff x="3126744" y="3598050"/>
            <a:chExt cx="1445257" cy="1386326"/>
          </a:xfrm>
        </p:grpSpPr>
        <p:sp>
          <p:nvSpPr>
            <p:cNvPr id="230" name="Rectangle 229"/>
            <p:cNvSpPr/>
            <p:nvPr/>
          </p:nvSpPr>
          <p:spPr bwMode="auto">
            <a:xfrm>
              <a:off x="3126744" y="3598050"/>
              <a:ext cx="1445256" cy="138632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b="1" smtClean="0">
                <a:latin typeface="Neo Sans Intel" pitchFamily="34" charset="0"/>
                <a:cs typeface="Arial" pitchFamily="34" charset="0"/>
              </a:endParaRPr>
            </a:p>
          </p:txBody>
        </p:sp>
        <p:sp>
          <p:nvSpPr>
            <p:cNvPr id="231" name="TextBox 230"/>
            <p:cNvSpPr txBox="1"/>
            <p:nvPr/>
          </p:nvSpPr>
          <p:spPr>
            <a:xfrm>
              <a:off x="3364669" y="3598108"/>
              <a:ext cx="18473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sz="1100" dirty="0" smtClean="0">
                <a:latin typeface="Neo Sans Intel" panose="020B0504020202020204" pitchFamily="34" charset="0"/>
              </a:endParaRPr>
            </a:p>
          </p:txBody>
        </p:sp>
        <p:sp>
          <p:nvSpPr>
            <p:cNvPr id="232" name="TextBox 231"/>
            <p:cNvSpPr txBox="1"/>
            <p:nvPr/>
          </p:nvSpPr>
          <p:spPr>
            <a:xfrm>
              <a:off x="4275615" y="3692678"/>
              <a:ext cx="29638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endParaRPr lang="en-US" sz="1100" dirty="0" smtClean="0">
                <a:latin typeface="Neo Sans Intel" panose="020B0504020202020204" pitchFamily="34" charset="0"/>
              </a:endParaRPr>
            </a:p>
          </p:txBody>
        </p:sp>
        <p:sp>
          <p:nvSpPr>
            <p:cNvPr id="233" name="TextBox 232"/>
            <p:cNvSpPr txBox="1"/>
            <p:nvPr/>
          </p:nvSpPr>
          <p:spPr>
            <a:xfrm>
              <a:off x="3445122" y="4025270"/>
              <a:ext cx="838693" cy="30777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 smtClean="0">
                  <a:latin typeface="Neo Sans Intel Medium" panose="020B0604020202020204" pitchFamily="34" charset="0"/>
                </a:rPr>
                <a:t>Memory</a:t>
              </a:r>
            </a:p>
          </p:txBody>
        </p:sp>
      </p:grpSp>
      <p:sp>
        <p:nvSpPr>
          <p:cNvPr id="234" name="TextBox 233"/>
          <p:cNvSpPr txBox="1"/>
          <p:nvPr/>
        </p:nvSpPr>
        <p:spPr>
          <a:xfrm>
            <a:off x="3246254" y="2689005"/>
            <a:ext cx="590226" cy="21544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800" dirty="0" err="1" smtClean="0">
                <a:solidFill>
                  <a:schemeClr val="accent1"/>
                </a:solidFill>
                <a:latin typeface="Neo Sans Intel" panose="020B0504020202020204" pitchFamily="34" charset="0"/>
              </a:rPr>
              <a:t>RegWrite</a:t>
            </a:r>
            <a:endParaRPr lang="en-US" sz="800" dirty="0" smtClean="0">
              <a:solidFill>
                <a:schemeClr val="accent1"/>
              </a:solidFill>
              <a:latin typeface="Neo Sans Intel" panose="020B0504020202020204" pitchFamily="34" charset="0"/>
            </a:endParaRPr>
          </a:p>
        </p:txBody>
      </p:sp>
      <p:sp>
        <p:nvSpPr>
          <p:cNvPr id="17" name="Rounded Rectangular Callout 16"/>
          <p:cNvSpPr/>
          <p:nvPr/>
        </p:nvSpPr>
        <p:spPr bwMode="auto">
          <a:xfrm>
            <a:off x="6914208" y="1141183"/>
            <a:ext cx="1902859" cy="1051978"/>
          </a:xfrm>
          <a:prstGeom prst="wedgeRoundRectCallout">
            <a:avLst>
              <a:gd name="adj1" fmla="val -72953"/>
              <a:gd name="adj2" fmla="val 39329"/>
              <a:gd name="adj3" fmla="val 16667"/>
            </a:avLst>
          </a:prstGeom>
          <a:solidFill>
            <a:schemeClr val="bg1"/>
          </a:solidFill>
          <a:ln w="19050">
            <a:solidFill>
              <a:schemeClr val="accent1"/>
            </a:solidFill>
            <a:headEnd type="none" w="sm" len="sm"/>
            <a:tailEnd type="none" w="sm" len="sm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1400" dirty="0" smtClean="0">
                <a:solidFill>
                  <a:sysClr val="windowText" lastClr="000000"/>
                </a:solidFill>
                <a:latin typeface="+mj-lt"/>
                <a:cs typeface="Arial" pitchFamily="34" charset="0"/>
              </a:rPr>
              <a:t>Let’s also postpone branches for a separate lecture on control hazards</a:t>
            </a:r>
            <a:endParaRPr lang="ru-RU" sz="1400" dirty="0" smtClean="0">
              <a:solidFill>
                <a:sysClr val="windowText" lastClr="000000"/>
              </a:solidFill>
              <a:latin typeface="+mj-lt"/>
              <a:cs typeface="Arial" pitchFamily="34" charset="0"/>
            </a:endParaRPr>
          </a:p>
        </p:txBody>
      </p:sp>
      <p:sp>
        <p:nvSpPr>
          <p:cNvPr id="235" name="Rounded Rectangular Callout 234"/>
          <p:cNvSpPr/>
          <p:nvPr/>
        </p:nvSpPr>
        <p:spPr bwMode="auto">
          <a:xfrm>
            <a:off x="412753" y="5425336"/>
            <a:ext cx="1632866" cy="730804"/>
          </a:xfrm>
          <a:prstGeom prst="wedgeRoundRectCallout">
            <a:avLst>
              <a:gd name="adj1" fmla="val 71722"/>
              <a:gd name="adj2" fmla="val -35636"/>
              <a:gd name="adj3" fmla="val 16667"/>
            </a:avLst>
          </a:prstGeom>
          <a:solidFill>
            <a:schemeClr val="bg1"/>
          </a:solidFill>
          <a:ln w="19050">
            <a:solidFill>
              <a:schemeClr val="accent1"/>
            </a:solidFill>
            <a:headEnd type="none" w="sm" len="sm"/>
            <a:tailEnd type="none" w="sm" len="sm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1400" dirty="0" smtClean="0">
                <a:solidFill>
                  <a:sysClr val="windowText" lastClr="000000"/>
                </a:solidFill>
                <a:latin typeface="+mj-lt"/>
                <a:cs typeface="Arial" pitchFamily="34" charset="0"/>
              </a:rPr>
              <a:t>Let’s postpone the control signals for a while</a:t>
            </a:r>
            <a:endParaRPr lang="ru-RU" sz="1400" dirty="0" smtClean="0">
              <a:solidFill>
                <a:sysClr val="windowText" lastClr="000000"/>
              </a:solidFill>
              <a:latin typeface="+mj-lt"/>
              <a:cs typeface="Arial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3176571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mph" presetSubtype="0" repeatCount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 tmFilter="0, 0; .2, .5; .8, .5; 1, 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0" autoRev="1" fill="hold"/>
                                        <p:tgtEl>
                                          <p:spTgt spid="1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6" presetClass="emph" presetSubtype="0" repeatCount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 tmFilter="0, 0; .2, .5; .8, .5; 1, 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9" dur="250" autoRev="1" fill="hold"/>
                                        <p:tgtEl>
                                          <p:spTgt spid="1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7" grpId="1" animBg="1"/>
      <p:bldP spid="235" grpId="0" animBg="1"/>
      <p:bldP spid="235" grpId="1" animBg="1"/>
    </p:bldLst>
  </p:timing>
  <p:extLst mod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grpSp>
        <p:nvGrpSpPr>
          <p:cNvPr id="46" name="Group 45"/>
          <p:cNvGrpSpPr/>
          <p:nvPr/>
        </p:nvGrpSpPr>
        <p:grpSpPr>
          <a:xfrm>
            <a:off x="677580" y="2193740"/>
            <a:ext cx="348172" cy="470570"/>
            <a:chOff x="125186" y="1514471"/>
            <a:chExt cx="462893" cy="625620"/>
          </a:xfrm>
        </p:grpSpPr>
        <p:grpSp>
          <p:nvGrpSpPr>
            <p:cNvPr id="80" name="Group 79"/>
            <p:cNvGrpSpPr/>
            <p:nvPr/>
          </p:nvGrpSpPr>
          <p:grpSpPr>
            <a:xfrm>
              <a:off x="125186" y="1514471"/>
              <a:ext cx="462893" cy="625620"/>
              <a:chOff x="2921052" y="2694759"/>
              <a:chExt cx="609650" cy="823968"/>
            </a:xfrm>
          </p:grpSpPr>
          <p:sp>
            <p:nvSpPr>
              <p:cNvPr id="82" name="Rectangle 81"/>
              <p:cNvSpPr/>
              <p:nvPr/>
            </p:nvSpPr>
            <p:spPr bwMode="auto">
              <a:xfrm>
                <a:off x="2991378" y="2694759"/>
                <a:ext cx="468998" cy="823968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en-US" b="1" smtClean="0">
                  <a:latin typeface="Neo Sans Intel" pitchFamily="34" charset="0"/>
                  <a:cs typeface="Arial" pitchFamily="34" charset="0"/>
                </a:endParaRPr>
              </a:p>
            </p:txBody>
          </p:sp>
          <p:sp>
            <p:nvSpPr>
              <p:cNvPr id="83" name="TextBox 82"/>
              <p:cNvSpPr txBox="1"/>
              <p:nvPr/>
            </p:nvSpPr>
            <p:spPr>
              <a:xfrm>
                <a:off x="2921052" y="2872568"/>
                <a:ext cx="609650" cy="4580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100" dirty="0" smtClean="0">
                    <a:latin typeface="Neo Sans Intel Medium" panose="020B0604020202020204" pitchFamily="34" charset="0"/>
                  </a:rPr>
                  <a:t>PC</a:t>
                </a:r>
              </a:p>
            </p:txBody>
          </p:sp>
        </p:grpSp>
        <p:sp>
          <p:nvSpPr>
            <p:cNvPr id="81" name="Isosceles Triangle 80"/>
            <p:cNvSpPr/>
            <p:nvPr/>
          </p:nvSpPr>
          <p:spPr bwMode="auto">
            <a:xfrm rot="19800000">
              <a:off x="155044" y="1973506"/>
              <a:ext cx="89552" cy="77200"/>
            </a:xfrm>
            <a:prstGeom prst="triangle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b="1">
                <a:latin typeface="Neo Sans Intel" pitchFamily="34" charset="0"/>
                <a:cs typeface="Arial" pitchFamily="34" charset="0"/>
              </a:endParaRPr>
            </a:p>
          </p:txBody>
        </p:sp>
      </p:grpSp>
      <p:cxnSp>
        <p:nvCxnSpPr>
          <p:cNvPr id="50" name="Straight Arrow Connector 49"/>
          <p:cNvCxnSpPr>
            <a:stCxn id="82" idx="2"/>
            <a:endCxn id="231" idx="0"/>
          </p:cNvCxnSpPr>
          <p:nvPr/>
        </p:nvCxnSpPr>
        <p:spPr bwMode="auto">
          <a:xfrm>
            <a:off x="851666" y="2664310"/>
            <a:ext cx="772" cy="379054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  <a:effectLst/>
        </p:spPr>
      </p:cxnSp>
      <p:grpSp>
        <p:nvGrpSpPr>
          <p:cNvPr id="136" name="Group 135"/>
          <p:cNvGrpSpPr/>
          <p:nvPr/>
        </p:nvGrpSpPr>
        <p:grpSpPr>
          <a:xfrm>
            <a:off x="634672" y="3043326"/>
            <a:ext cx="952882" cy="914028"/>
            <a:chOff x="3126744" y="3598050"/>
            <a:chExt cx="1445257" cy="1386326"/>
          </a:xfrm>
        </p:grpSpPr>
        <p:sp>
          <p:nvSpPr>
            <p:cNvPr id="137" name="Rectangle 136"/>
            <p:cNvSpPr/>
            <p:nvPr/>
          </p:nvSpPr>
          <p:spPr bwMode="auto">
            <a:xfrm>
              <a:off x="3126744" y="3598050"/>
              <a:ext cx="1445256" cy="138632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b="1" smtClean="0">
                <a:latin typeface="Neo Sans Intel" pitchFamily="34" charset="0"/>
                <a:cs typeface="Arial" pitchFamily="34" charset="0"/>
              </a:endParaRPr>
            </a:p>
          </p:txBody>
        </p:sp>
        <p:sp>
          <p:nvSpPr>
            <p:cNvPr id="138" name="TextBox 137"/>
            <p:cNvSpPr txBox="1"/>
            <p:nvPr/>
          </p:nvSpPr>
          <p:spPr>
            <a:xfrm>
              <a:off x="3364669" y="3598108"/>
              <a:ext cx="18473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sz="1100" dirty="0" smtClean="0">
                <a:latin typeface="Neo Sans Intel" panose="020B0504020202020204" pitchFamily="34" charset="0"/>
              </a:endParaRPr>
            </a:p>
          </p:txBody>
        </p:sp>
        <p:sp>
          <p:nvSpPr>
            <p:cNvPr id="139" name="TextBox 138"/>
            <p:cNvSpPr txBox="1"/>
            <p:nvPr/>
          </p:nvSpPr>
          <p:spPr>
            <a:xfrm>
              <a:off x="4275615" y="3692678"/>
              <a:ext cx="29638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endParaRPr lang="en-US" sz="1100" dirty="0" smtClean="0">
                <a:latin typeface="Neo Sans Intel" panose="020B0504020202020204" pitchFamily="34" charset="0"/>
              </a:endParaRPr>
            </a:p>
          </p:txBody>
        </p:sp>
        <p:sp>
          <p:nvSpPr>
            <p:cNvPr id="140" name="TextBox 139"/>
            <p:cNvSpPr txBox="1"/>
            <p:nvPr/>
          </p:nvSpPr>
          <p:spPr>
            <a:xfrm>
              <a:off x="3445122" y="4025270"/>
              <a:ext cx="838693" cy="30777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 smtClean="0">
                  <a:latin typeface="Neo Sans Intel Medium" panose="020B0604020202020204" pitchFamily="34" charset="0"/>
                </a:rPr>
                <a:t>Memory</a:t>
              </a:r>
            </a:p>
          </p:txBody>
        </p:sp>
      </p:grpSp>
      <p:cxnSp>
        <p:nvCxnSpPr>
          <p:cNvPr id="141" name="Straight Arrow Connector 140"/>
          <p:cNvCxnSpPr>
            <a:stCxn id="139" idx="3"/>
            <a:endCxn id="170" idx="2"/>
          </p:cNvCxnSpPr>
          <p:nvPr/>
        </p:nvCxnSpPr>
        <p:spPr bwMode="auto">
          <a:xfrm flipV="1">
            <a:off x="1587554" y="3191934"/>
            <a:ext cx="606361" cy="24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  <a:effectLst/>
        </p:spPr>
      </p:cxnSp>
      <p:grpSp>
        <p:nvGrpSpPr>
          <p:cNvPr id="142" name="Group 141"/>
          <p:cNvGrpSpPr/>
          <p:nvPr/>
        </p:nvGrpSpPr>
        <p:grpSpPr>
          <a:xfrm>
            <a:off x="2534492" y="3712204"/>
            <a:ext cx="135684" cy="484051"/>
            <a:chOff x="3390790" y="3616963"/>
            <a:chExt cx="180391" cy="643543"/>
          </a:xfrm>
        </p:grpSpPr>
        <p:sp>
          <p:nvSpPr>
            <p:cNvPr id="143" name="Trapezoid 142"/>
            <p:cNvSpPr/>
            <p:nvPr/>
          </p:nvSpPr>
          <p:spPr bwMode="auto">
            <a:xfrm rot="5400000">
              <a:off x="3159214" y="3848539"/>
              <a:ext cx="643543" cy="180391"/>
            </a:xfrm>
            <a:prstGeom prst="trapezoid">
              <a:avLst>
                <a:gd name="adj" fmla="val 53513"/>
              </a:avLst>
            </a:prstGeom>
            <a:solidFill>
              <a:schemeClr val="bg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Neo Sans Intel Medium" panose="020B0604020202020204" pitchFamily="34" charset="0"/>
              </a:endParaRPr>
            </a:p>
          </p:txBody>
        </p:sp>
        <p:sp>
          <p:nvSpPr>
            <p:cNvPr id="144" name="Rectangle 158"/>
            <p:cNvSpPr>
              <a:spLocks noChangeArrowheads="1"/>
            </p:cNvSpPr>
            <p:nvPr/>
          </p:nvSpPr>
          <p:spPr bwMode="auto">
            <a:xfrm flipH="1">
              <a:off x="3398409" y="3689587"/>
              <a:ext cx="111389" cy="143216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sz="700" b="1" dirty="0">
                  <a:solidFill>
                    <a:srgbClr val="000000"/>
                  </a:solidFill>
                  <a:latin typeface="Neo Sans Intel" panose="020B0504020202020204" pitchFamily="34" charset="0"/>
                </a:rPr>
                <a:t>0</a:t>
              </a:r>
              <a:endParaRPr lang="en-US" sz="700" dirty="0">
                <a:solidFill>
                  <a:srgbClr val="000000"/>
                </a:solidFill>
                <a:latin typeface="Neo Sans Intel" panose="020B0504020202020204" pitchFamily="34" charset="0"/>
              </a:endParaRPr>
            </a:p>
          </p:txBody>
        </p:sp>
        <p:sp>
          <p:nvSpPr>
            <p:cNvPr id="145" name="Rectangle 159"/>
            <p:cNvSpPr>
              <a:spLocks noChangeArrowheads="1"/>
            </p:cNvSpPr>
            <p:nvPr/>
          </p:nvSpPr>
          <p:spPr bwMode="auto">
            <a:xfrm flipH="1">
              <a:off x="3400943" y="4034895"/>
              <a:ext cx="94539" cy="143216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sz="700" b="1" dirty="0">
                  <a:solidFill>
                    <a:srgbClr val="000000"/>
                  </a:solidFill>
                  <a:latin typeface="Neo Sans Intel" panose="020B0504020202020204" pitchFamily="34" charset="0"/>
                </a:rPr>
                <a:t>1</a:t>
              </a:r>
            </a:p>
          </p:txBody>
        </p:sp>
      </p:grpSp>
      <p:grpSp>
        <p:nvGrpSpPr>
          <p:cNvPr id="146" name="Group 145"/>
          <p:cNvGrpSpPr/>
          <p:nvPr/>
        </p:nvGrpSpPr>
        <p:grpSpPr>
          <a:xfrm>
            <a:off x="2956654" y="3030552"/>
            <a:ext cx="1167978" cy="1407058"/>
            <a:chOff x="4488101" y="3657632"/>
            <a:chExt cx="1552821" cy="1870677"/>
          </a:xfrm>
        </p:grpSpPr>
        <p:sp>
          <p:nvSpPr>
            <p:cNvPr id="147" name="Rectangle 146"/>
            <p:cNvSpPr/>
            <p:nvPr/>
          </p:nvSpPr>
          <p:spPr bwMode="auto">
            <a:xfrm>
              <a:off x="4490028" y="3657632"/>
              <a:ext cx="1550894" cy="187067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b="1" smtClean="0">
                <a:latin typeface="Neo Sans Intel" pitchFamily="34" charset="0"/>
                <a:cs typeface="Arial" pitchFamily="34" charset="0"/>
              </a:endParaRPr>
            </a:p>
          </p:txBody>
        </p:sp>
        <p:sp>
          <p:nvSpPr>
            <p:cNvPr id="148" name="TextBox 147"/>
            <p:cNvSpPr txBox="1"/>
            <p:nvPr/>
          </p:nvSpPr>
          <p:spPr>
            <a:xfrm>
              <a:off x="4492305" y="3741384"/>
              <a:ext cx="18473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sz="1100" b="1" dirty="0" smtClean="0">
                <a:latin typeface="Neo Sans Intel" panose="020B0504020202020204" pitchFamily="34" charset="0"/>
              </a:endParaRPr>
            </a:p>
          </p:txBody>
        </p:sp>
        <p:sp>
          <p:nvSpPr>
            <p:cNvPr id="149" name="TextBox 148"/>
            <p:cNvSpPr txBox="1"/>
            <p:nvPr/>
          </p:nvSpPr>
          <p:spPr>
            <a:xfrm>
              <a:off x="5952523" y="3745474"/>
              <a:ext cx="88399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endParaRPr lang="en-US" sz="1100" b="1" dirty="0" smtClean="0">
                <a:latin typeface="Neo Sans Intel" panose="020B0504020202020204" pitchFamily="34" charset="0"/>
              </a:endParaRPr>
            </a:p>
          </p:txBody>
        </p:sp>
        <p:sp>
          <p:nvSpPr>
            <p:cNvPr id="151" name="TextBox 150"/>
            <p:cNvSpPr txBox="1"/>
            <p:nvPr/>
          </p:nvSpPr>
          <p:spPr>
            <a:xfrm>
              <a:off x="4817974" y="4328901"/>
              <a:ext cx="94910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 smtClean="0">
                  <a:latin typeface="Neo Sans Intel Medium" panose="020B0604020202020204" pitchFamily="34" charset="0"/>
                </a:rPr>
                <a:t>Registers</a:t>
              </a:r>
            </a:p>
          </p:txBody>
        </p:sp>
        <p:sp>
          <p:nvSpPr>
            <p:cNvPr id="152" name="TextBox 151"/>
            <p:cNvSpPr txBox="1"/>
            <p:nvPr/>
          </p:nvSpPr>
          <p:spPr>
            <a:xfrm>
              <a:off x="4492305" y="4215468"/>
              <a:ext cx="18473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sz="1100" b="1" dirty="0" smtClean="0">
                <a:latin typeface="Neo Sans Intel" panose="020B0504020202020204" pitchFamily="34" charset="0"/>
              </a:endParaRPr>
            </a:p>
          </p:txBody>
        </p:sp>
        <p:sp>
          <p:nvSpPr>
            <p:cNvPr id="155" name="TextBox 154"/>
            <p:cNvSpPr txBox="1"/>
            <p:nvPr/>
          </p:nvSpPr>
          <p:spPr>
            <a:xfrm>
              <a:off x="5902089" y="4406640"/>
              <a:ext cx="13714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endParaRPr lang="en-US" sz="1100" b="1" dirty="0" smtClean="0">
                <a:latin typeface="Neo Sans Intel" panose="020B0504020202020204" pitchFamily="34" charset="0"/>
              </a:endParaRPr>
            </a:p>
          </p:txBody>
        </p:sp>
        <p:sp>
          <p:nvSpPr>
            <p:cNvPr id="156" name="TextBox 155"/>
            <p:cNvSpPr txBox="1"/>
            <p:nvPr/>
          </p:nvSpPr>
          <p:spPr>
            <a:xfrm>
              <a:off x="4488101" y="4754853"/>
              <a:ext cx="18473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sz="1100" b="1" dirty="0" smtClean="0">
                <a:latin typeface="Neo Sans Intel" panose="020B0504020202020204" pitchFamily="34" charset="0"/>
              </a:endParaRPr>
            </a:p>
          </p:txBody>
        </p:sp>
        <p:sp>
          <p:nvSpPr>
            <p:cNvPr id="157" name="TextBox 156"/>
            <p:cNvSpPr txBox="1"/>
            <p:nvPr/>
          </p:nvSpPr>
          <p:spPr>
            <a:xfrm>
              <a:off x="4488101" y="5196249"/>
              <a:ext cx="18473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sz="1100" b="1" dirty="0" smtClean="0">
                <a:latin typeface="Neo Sans Intel" panose="020B0504020202020204" pitchFamily="34" charset="0"/>
              </a:endParaRPr>
            </a:p>
          </p:txBody>
        </p:sp>
        <p:sp>
          <p:nvSpPr>
            <p:cNvPr id="158" name="Rectangle 157"/>
            <p:cNvSpPr/>
            <p:nvPr/>
          </p:nvSpPr>
          <p:spPr bwMode="auto">
            <a:xfrm>
              <a:off x="5194990" y="3666551"/>
              <a:ext cx="133350" cy="13335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3175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b="1" smtClean="0">
                <a:latin typeface="Neo Sans Intel" pitchFamily="34" charset="0"/>
                <a:cs typeface="Arial" pitchFamily="34" charset="0"/>
              </a:endParaRPr>
            </a:p>
          </p:txBody>
        </p:sp>
      </p:grpSp>
      <p:cxnSp>
        <p:nvCxnSpPr>
          <p:cNvPr id="159" name="Straight Connector 158"/>
          <p:cNvCxnSpPr>
            <a:endCxn id="147" idx="0"/>
          </p:cNvCxnSpPr>
          <p:nvPr/>
        </p:nvCxnSpPr>
        <p:spPr bwMode="auto">
          <a:xfrm>
            <a:off x="3541367" y="2904449"/>
            <a:ext cx="1" cy="126103"/>
          </a:xfrm>
          <a:prstGeom prst="line">
            <a:avLst/>
          </a:prstGeom>
          <a:solidFill>
            <a:schemeClr val="bg1"/>
          </a:solidFill>
          <a:ln w="63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60" name="Straight Arrow Connector 159"/>
          <p:cNvCxnSpPr>
            <a:stCxn id="149" idx="3"/>
            <a:endCxn id="165" idx="1"/>
          </p:cNvCxnSpPr>
          <p:nvPr/>
        </p:nvCxnSpPr>
        <p:spPr bwMode="auto">
          <a:xfrm flipV="1">
            <a:off x="4124632" y="3194741"/>
            <a:ext cx="1130032" cy="270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  <a:effectLst/>
        </p:spPr>
      </p:cxnSp>
      <p:grpSp>
        <p:nvGrpSpPr>
          <p:cNvPr id="161" name="Group 160"/>
          <p:cNvGrpSpPr/>
          <p:nvPr/>
        </p:nvGrpSpPr>
        <p:grpSpPr>
          <a:xfrm>
            <a:off x="5254664" y="2958563"/>
            <a:ext cx="547227" cy="1082965"/>
            <a:chOff x="6728724" y="3121968"/>
            <a:chExt cx="727535" cy="1439797"/>
          </a:xfrm>
        </p:grpSpPr>
        <p:sp>
          <p:nvSpPr>
            <p:cNvPr id="162" name="Freeform 127"/>
            <p:cNvSpPr>
              <a:spLocks/>
            </p:cNvSpPr>
            <p:nvPr/>
          </p:nvSpPr>
          <p:spPr bwMode="auto">
            <a:xfrm>
              <a:off x="6728724" y="3121968"/>
              <a:ext cx="727535" cy="1439797"/>
            </a:xfrm>
            <a:custGeom>
              <a:avLst/>
              <a:gdLst>
                <a:gd name="T0" fmla="*/ 0 w 210"/>
                <a:gd name="T1" fmla="*/ 0 h 413"/>
                <a:gd name="T2" fmla="*/ 0 w 210"/>
                <a:gd name="T3" fmla="*/ 167 h 413"/>
                <a:gd name="T4" fmla="*/ 91 w 210"/>
                <a:gd name="T5" fmla="*/ 207 h 413"/>
                <a:gd name="T6" fmla="*/ 0 w 210"/>
                <a:gd name="T7" fmla="*/ 245 h 413"/>
                <a:gd name="T8" fmla="*/ 0 w 210"/>
                <a:gd name="T9" fmla="*/ 412 h 413"/>
                <a:gd name="T10" fmla="*/ 284 w 210"/>
                <a:gd name="T11" fmla="*/ 286 h 413"/>
                <a:gd name="T12" fmla="*/ 284 w 210"/>
                <a:gd name="T13" fmla="*/ 127 h 413"/>
                <a:gd name="T14" fmla="*/ 0 w 210"/>
                <a:gd name="T15" fmla="*/ 0 h 413"/>
                <a:gd name="T16" fmla="*/ 0 w 210"/>
                <a:gd name="T17" fmla="*/ 0 h 41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10"/>
                <a:gd name="T28" fmla="*/ 0 h 413"/>
                <a:gd name="T29" fmla="*/ 210 w 210"/>
                <a:gd name="T30" fmla="*/ 413 h 413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10" h="413">
                  <a:moveTo>
                    <a:pt x="0" y="0"/>
                  </a:moveTo>
                  <a:lnTo>
                    <a:pt x="0" y="167"/>
                  </a:lnTo>
                  <a:lnTo>
                    <a:pt x="67" y="207"/>
                  </a:lnTo>
                  <a:lnTo>
                    <a:pt x="0" y="245"/>
                  </a:lnTo>
                  <a:lnTo>
                    <a:pt x="0" y="412"/>
                  </a:lnTo>
                  <a:lnTo>
                    <a:pt x="209" y="286"/>
                  </a:lnTo>
                  <a:lnTo>
                    <a:pt x="209" y="127"/>
                  </a:lnTo>
                  <a:lnTo>
                    <a:pt x="0" y="0"/>
                  </a:lnTo>
                </a:path>
              </a:pathLst>
            </a:custGeom>
            <a:solidFill>
              <a:schemeClr val="accent5">
                <a:lumMod val="60000"/>
                <a:lumOff val="4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eaLnBrk="0" hangingPunct="0"/>
              <a:endParaRPr lang="en-US" sz="2000" b="1">
                <a:latin typeface="Neo Sans Intel" pitchFamily="34" charset="0"/>
                <a:cs typeface="Arial" pitchFamily="34" charset="0"/>
              </a:endParaRPr>
            </a:p>
          </p:txBody>
        </p:sp>
        <p:sp>
          <p:nvSpPr>
            <p:cNvPr id="164" name="TextBox 163"/>
            <p:cNvSpPr txBox="1"/>
            <p:nvPr/>
          </p:nvSpPr>
          <p:spPr>
            <a:xfrm>
              <a:off x="6858085" y="3926238"/>
              <a:ext cx="465836" cy="2864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400" dirty="0" smtClean="0">
                  <a:latin typeface="Neo Sans Intel Medium" panose="020B0604020202020204" pitchFamily="34" charset="0"/>
                </a:rPr>
                <a:t>ALU</a:t>
              </a:r>
            </a:p>
          </p:txBody>
        </p:sp>
        <p:sp>
          <p:nvSpPr>
            <p:cNvPr id="165" name="TextBox 164"/>
            <p:cNvSpPr txBox="1"/>
            <p:nvPr/>
          </p:nvSpPr>
          <p:spPr>
            <a:xfrm>
              <a:off x="6728724" y="3319972"/>
              <a:ext cx="155484" cy="2319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500" dirty="0" smtClean="0">
                  <a:latin typeface="Neo Sans Intel" panose="020B0504020202020204" pitchFamily="34" charset="0"/>
                </a:rPr>
                <a:t> </a:t>
              </a:r>
            </a:p>
          </p:txBody>
        </p:sp>
        <p:sp>
          <p:nvSpPr>
            <p:cNvPr id="166" name="TextBox 165"/>
            <p:cNvSpPr txBox="1"/>
            <p:nvPr/>
          </p:nvSpPr>
          <p:spPr>
            <a:xfrm>
              <a:off x="6728724" y="4152246"/>
              <a:ext cx="155484" cy="2319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500" dirty="0" smtClean="0">
                  <a:latin typeface="Neo Sans Intel" panose="020B0504020202020204" pitchFamily="34" charset="0"/>
                </a:rPr>
                <a:t> </a:t>
              </a:r>
            </a:p>
          </p:txBody>
        </p:sp>
        <p:sp>
          <p:nvSpPr>
            <p:cNvPr id="168" name="TextBox 167"/>
            <p:cNvSpPr txBox="1"/>
            <p:nvPr/>
          </p:nvSpPr>
          <p:spPr>
            <a:xfrm>
              <a:off x="7360155" y="3870419"/>
              <a:ext cx="90572" cy="12275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endParaRPr lang="en-US" sz="600" dirty="0" smtClean="0">
                <a:latin typeface="Neo Sans Intel Medium" panose="020B0604020202020204" pitchFamily="34" charset="0"/>
              </a:endParaRPr>
            </a:p>
          </p:txBody>
        </p:sp>
      </p:grpSp>
      <p:cxnSp>
        <p:nvCxnSpPr>
          <p:cNvPr id="169" name="Elbow Connector 168"/>
          <p:cNvCxnSpPr>
            <a:stCxn id="200" idx="0"/>
            <a:endCxn id="157" idx="1"/>
          </p:cNvCxnSpPr>
          <p:nvPr/>
        </p:nvCxnSpPr>
        <p:spPr bwMode="auto">
          <a:xfrm flipH="1">
            <a:off x="2956654" y="3449801"/>
            <a:ext cx="5689587" cy="836432"/>
          </a:xfrm>
          <a:prstGeom prst="bentConnector5">
            <a:avLst>
              <a:gd name="adj1" fmla="val -4018"/>
              <a:gd name="adj2" fmla="val 178449"/>
              <a:gd name="adj3" fmla="val 104018"/>
            </a:avLst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  <a:effectLst/>
        </p:spPr>
      </p:cxnSp>
      <p:sp>
        <p:nvSpPr>
          <p:cNvPr id="170" name="Oval 169"/>
          <p:cNvSpPr/>
          <p:nvPr/>
        </p:nvSpPr>
        <p:spPr bwMode="auto">
          <a:xfrm>
            <a:off x="2193915" y="3164678"/>
            <a:ext cx="54511" cy="54511"/>
          </a:xfrm>
          <a:prstGeom prst="ellipse">
            <a:avLst/>
          </a:prstGeom>
          <a:solidFill>
            <a:schemeClr val="tx1"/>
          </a:solidFill>
          <a:ln w="31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b="1" smtClean="0">
              <a:latin typeface="Neo Sans Intel" pitchFamily="34" charset="0"/>
              <a:cs typeface="Arial" pitchFamily="34" charset="0"/>
            </a:endParaRPr>
          </a:p>
        </p:txBody>
      </p:sp>
      <p:cxnSp>
        <p:nvCxnSpPr>
          <p:cNvPr id="171" name="Straight Arrow Connector 170"/>
          <p:cNvCxnSpPr>
            <a:stCxn id="170" idx="6"/>
            <a:endCxn id="148" idx="1"/>
          </p:cNvCxnSpPr>
          <p:nvPr/>
        </p:nvCxnSpPr>
        <p:spPr bwMode="auto">
          <a:xfrm>
            <a:off x="2248426" y="3191934"/>
            <a:ext cx="711390" cy="0"/>
          </a:xfrm>
          <a:prstGeom prst="straightConnector1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  <a:effectLst/>
        </p:spPr>
      </p:cxnSp>
      <p:cxnSp>
        <p:nvCxnSpPr>
          <p:cNvPr id="172" name="Elbow Connector 171"/>
          <p:cNvCxnSpPr>
            <a:stCxn id="170" idx="4"/>
            <a:endCxn id="178" idx="2"/>
          </p:cNvCxnSpPr>
          <p:nvPr/>
        </p:nvCxnSpPr>
        <p:spPr bwMode="auto">
          <a:xfrm rot="16200000" flipH="1">
            <a:off x="2114723" y="3325637"/>
            <a:ext cx="332737" cy="119840"/>
          </a:xfrm>
          <a:prstGeom prst="bentConnector2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4" name="Elbow Connector 173"/>
          <p:cNvCxnSpPr>
            <a:stCxn id="170" idx="4"/>
            <a:endCxn id="145" idx="3"/>
          </p:cNvCxnSpPr>
          <p:nvPr/>
        </p:nvCxnSpPr>
        <p:spPr bwMode="auto">
          <a:xfrm rot="16200000" flipH="1">
            <a:off x="1951035" y="3489325"/>
            <a:ext cx="861230" cy="320958"/>
          </a:xfrm>
          <a:prstGeom prst="bentConnector2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  <a:effectLst/>
        </p:spPr>
      </p:cxnSp>
      <p:sp>
        <p:nvSpPr>
          <p:cNvPr id="176" name="TextBox 175"/>
          <p:cNvSpPr txBox="1"/>
          <p:nvPr/>
        </p:nvSpPr>
        <p:spPr>
          <a:xfrm>
            <a:off x="5298110" y="4056404"/>
            <a:ext cx="471605" cy="21544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800" dirty="0" err="1" smtClean="0">
                <a:solidFill>
                  <a:schemeClr val="accent1"/>
                </a:solidFill>
                <a:latin typeface="Neo Sans Intel" panose="020B0504020202020204" pitchFamily="34" charset="0"/>
              </a:rPr>
              <a:t>ALUop</a:t>
            </a:r>
            <a:endParaRPr lang="en-US" sz="800" dirty="0" smtClean="0">
              <a:solidFill>
                <a:schemeClr val="accent1"/>
              </a:solidFill>
              <a:latin typeface="Neo Sans Intel" panose="020B0504020202020204" pitchFamily="34" charset="0"/>
            </a:endParaRPr>
          </a:p>
        </p:txBody>
      </p:sp>
      <p:cxnSp>
        <p:nvCxnSpPr>
          <p:cNvPr id="177" name="Straight Connector 176"/>
          <p:cNvCxnSpPr>
            <a:endCxn id="176" idx="0"/>
          </p:cNvCxnSpPr>
          <p:nvPr/>
        </p:nvCxnSpPr>
        <p:spPr bwMode="auto">
          <a:xfrm>
            <a:off x="5533662" y="3868017"/>
            <a:ext cx="251" cy="188387"/>
          </a:xfrm>
          <a:prstGeom prst="line">
            <a:avLst/>
          </a:prstGeom>
          <a:solidFill>
            <a:schemeClr val="bg1"/>
          </a:solidFill>
          <a:ln w="63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78" name="Oval 177"/>
          <p:cNvSpPr/>
          <p:nvPr/>
        </p:nvSpPr>
        <p:spPr bwMode="auto">
          <a:xfrm>
            <a:off x="2341011" y="3524670"/>
            <a:ext cx="54511" cy="54511"/>
          </a:xfrm>
          <a:prstGeom prst="ellipse">
            <a:avLst/>
          </a:prstGeom>
          <a:solidFill>
            <a:schemeClr val="tx1"/>
          </a:solidFill>
          <a:ln w="31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b="1" smtClean="0">
              <a:latin typeface="Neo Sans Intel" pitchFamily="34" charset="0"/>
              <a:cs typeface="Arial" pitchFamily="34" charset="0"/>
            </a:endParaRPr>
          </a:p>
        </p:txBody>
      </p:sp>
      <p:cxnSp>
        <p:nvCxnSpPr>
          <p:cNvPr id="179" name="Elbow Connector 178"/>
          <p:cNvCxnSpPr>
            <a:stCxn id="178" idx="4"/>
            <a:endCxn id="144" idx="3"/>
          </p:cNvCxnSpPr>
          <p:nvPr/>
        </p:nvCxnSpPr>
        <p:spPr bwMode="auto">
          <a:xfrm rot="16200000" flipH="1">
            <a:off x="2333491" y="3613957"/>
            <a:ext cx="241509" cy="171956"/>
          </a:xfrm>
          <a:prstGeom prst="bentConnector2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  <a:effectLst/>
        </p:spPr>
      </p:cxnSp>
      <p:cxnSp>
        <p:nvCxnSpPr>
          <p:cNvPr id="180" name="Straight Arrow Connector 179"/>
          <p:cNvCxnSpPr>
            <a:stCxn id="143" idx="0"/>
            <a:endCxn id="156" idx="1"/>
          </p:cNvCxnSpPr>
          <p:nvPr/>
        </p:nvCxnSpPr>
        <p:spPr bwMode="auto">
          <a:xfrm flipV="1">
            <a:off x="2670176" y="3954229"/>
            <a:ext cx="286478" cy="1"/>
          </a:xfrm>
          <a:prstGeom prst="straightConnector1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  <a:effectLst/>
        </p:spPr>
      </p:cxnSp>
      <p:sp>
        <p:nvSpPr>
          <p:cNvPr id="182" name="Rounded Rectangle 181"/>
          <p:cNvSpPr/>
          <p:nvPr/>
        </p:nvSpPr>
        <p:spPr bwMode="auto">
          <a:xfrm>
            <a:off x="3202985" y="4589504"/>
            <a:ext cx="717323" cy="206006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1000" dirty="0" smtClean="0">
                <a:latin typeface="Neo Sans Intel Medium" panose="020B0604020202020204" pitchFamily="34" charset="0"/>
                <a:cs typeface="Arial" pitchFamily="34" charset="0"/>
              </a:rPr>
              <a:t>Sign </a:t>
            </a:r>
            <a:r>
              <a:rPr lang="en-US" sz="1000" dirty="0" err="1" smtClean="0">
                <a:latin typeface="Neo Sans Intel Medium" panose="020B0604020202020204" pitchFamily="34" charset="0"/>
                <a:cs typeface="Arial" pitchFamily="34" charset="0"/>
              </a:rPr>
              <a:t>ext</a:t>
            </a:r>
            <a:endParaRPr lang="en-US" sz="1000" dirty="0">
              <a:latin typeface="Neo Sans Intel Medium" panose="020B0604020202020204" pitchFamily="34" charset="0"/>
              <a:cs typeface="Arial" pitchFamily="34" charset="0"/>
            </a:endParaRPr>
          </a:p>
        </p:txBody>
      </p:sp>
      <p:cxnSp>
        <p:nvCxnSpPr>
          <p:cNvPr id="183" name="Elbow Connector 182"/>
          <p:cNvCxnSpPr>
            <a:stCxn id="170" idx="4"/>
            <a:endCxn id="182" idx="1"/>
          </p:cNvCxnSpPr>
          <p:nvPr/>
        </p:nvCxnSpPr>
        <p:spPr bwMode="auto">
          <a:xfrm rot="16200000" flipH="1">
            <a:off x="1975419" y="3464941"/>
            <a:ext cx="1473318" cy="981814"/>
          </a:xfrm>
          <a:prstGeom prst="bentConnector2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  <a:effectLst/>
        </p:spPr>
      </p:cxnSp>
      <p:grpSp>
        <p:nvGrpSpPr>
          <p:cNvPr id="184" name="Group 183"/>
          <p:cNvGrpSpPr/>
          <p:nvPr/>
        </p:nvGrpSpPr>
        <p:grpSpPr>
          <a:xfrm>
            <a:off x="4995062" y="3577625"/>
            <a:ext cx="135684" cy="484051"/>
            <a:chOff x="3390790" y="3616963"/>
            <a:chExt cx="180391" cy="643543"/>
          </a:xfrm>
        </p:grpSpPr>
        <p:sp>
          <p:nvSpPr>
            <p:cNvPr id="185" name="Trapezoid 184"/>
            <p:cNvSpPr/>
            <p:nvPr/>
          </p:nvSpPr>
          <p:spPr bwMode="auto">
            <a:xfrm rot="5400000">
              <a:off x="3159214" y="3848539"/>
              <a:ext cx="643543" cy="180391"/>
            </a:xfrm>
            <a:prstGeom prst="trapezoid">
              <a:avLst>
                <a:gd name="adj" fmla="val 53513"/>
              </a:avLst>
            </a:prstGeom>
            <a:solidFill>
              <a:schemeClr val="bg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Neo Sans Intel Medium" panose="020B0604020202020204" pitchFamily="34" charset="0"/>
              </a:endParaRPr>
            </a:p>
          </p:txBody>
        </p:sp>
        <p:sp>
          <p:nvSpPr>
            <p:cNvPr id="186" name="Rectangle 158"/>
            <p:cNvSpPr>
              <a:spLocks noChangeArrowheads="1"/>
            </p:cNvSpPr>
            <p:nvPr/>
          </p:nvSpPr>
          <p:spPr bwMode="auto">
            <a:xfrm flipH="1">
              <a:off x="3395877" y="3698344"/>
              <a:ext cx="108737" cy="143216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sz="700" b="1" dirty="0">
                  <a:solidFill>
                    <a:srgbClr val="000000"/>
                  </a:solidFill>
                  <a:latin typeface="Neo Sans Intel" panose="020B0504020202020204" pitchFamily="34" charset="0"/>
                </a:rPr>
                <a:t>0</a:t>
              </a:r>
              <a:endParaRPr lang="en-US" sz="700" dirty="0">
                <a:solidFill>
                  <a:srgbClr val="000000"/>
                </a:solidFill>
                <a:latin typeface="Neo Sans Intel" panose="020B0504020202020204" pitchFamily="34" charset="0"/>
              </a:endParaRPr>
            </a:p>
          </p:txBody>
        </p:sp>
        <p:sp>
          <p:nvSpPr>
            <p:cNvPr id="187" name="Rectangle 159"/>
            <p:cNvSpPr>
              <a:spLocks noChangeArrowheads="1"/>
            </p:cNvSpPr>
            <p:nvPr/>
          </p:nvSpPr>
          <p:spPr bwMode="auto">
            <a:xfrm flipH="1">
              <a:off x="3395879" y="4047844"/>
              <a:ext cx="85106" cy="107722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sz="700" b="1" dirty="0">
                  <a:solidFill>
                    <a:srgbClr val="000000"/>
                  </a:solidFill>
                  <a:latin typeface="Neo Sans Intel" panose="020B0504020202020204" pitchFamily="34" charset="0"/>
                </a:rPr>
                <a:t>1</a:t>
              </a:r>
            </a:p>
          </p:txBody>
        </p:sp>
      </p:grpSp>
      <p:cxnSp>
        <p:nvCxnSpPr>
          <p:cNvPr id="188" name="Straight Arrow Connector 187"/>
          <p:cNvCxnSpPr>
            <a:stCxn id="185" idx="0"/>
            <a:endCxn id="166" idx="1"/>
          </p:cNvCxnSpPr>
          <p:nvPr/>
        </p:nvCxnSpPr>
        <p:spPr bwMode="auto">
          <a:xfrm>
            <a:off x="5130746" y="3819650"/>
            <a:ext cx="123918" cy="1097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  <a:effectLst/>
        </p:spPr>
      </p:cxnSp>
      <p:cxnSp>
        <p:nvCxnSpPr>
          <p:cNvPr id="189" name="Elbow Connector 188"/>
          <p:cNvCxnSpPr>
            <a:stCxn id="182" idx="3"/>
            <a:endCxn id="210" idx="4"/>
          </p:cNvCxnSpPr>
          <p:nvPr/>
        </p:nvCxnSpPr>
        <p:spPr bwMode="auto">
          <a:xfrm flipV="1">
            <a:off x="3920308" y="3968876"/>
            <a:ext cx="951895" cy="723631"/>
          </a:xfrm>
          <a:prstGeom prst="bentConnector2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190" name="Group 189"/>
          <p:cNvGrpSpPr/>
          <p:nvPr/>
        </p:nvGrpSpPr>
        <p:grpSpPr>
          <a:xfrm>
            <a:off x="6877456" y="3139648"/>
            <a:ext cx="912843" cy="874408"/>
            <a:chOff x="3124738" y="3598050"/>
            <a:chExt cx="1447262" cy="1386326"/>
          </a:xfrm>
        </p:grpSpPr>
        <p:sp>
          <p:nvSpPr>
            <p:cNvPr id="191" name="Rectangle 190"/>
            <p:cNvSpPr/>
            <p:nvPr/>
          </p:nvSpPr>
          <p:spPr bwMode="auto">
            <a:xfrm>
              <a:off x="3126744" y="3598050"/>
              <a:ext cx="1445256" cy="138632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b="1" smtClean="0">
                <a:latin typeface="Neo Sans Intel" pitchFamily="34" charset="0"/>
                <a:cs typeface="Arial" pitchFamily="34" charset="0"/>
              </a:endParaRPr>
            </a:p>
          </p:txBody>
        </p:sp>
        <p:sp>
          <p:nvSpPr>
            <p:cNvPr id="192" name="TextBox 191"/>
            <p:cNvSpPr txBox="1"/>
            <p:nvPr/>
          </p:nvSpPr>
          <p:spPr>
            <a:xfrm>
              <a:off x="3124738" y="3682688"/>
              <a:ext cx="184731" cy="26161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endParaRPr lang="en-US" sz="1100" dirty="0" smtClean="0">
                <a:latin typeface="Neo Sans Intel" panose="020B0504020202020204" pitchFamily="34" charset="0"/>
              </a:endParaRPr>
            </a:p>
          </p:txBody>
        </p:sp>
        <p:sp>
          <p:nvSpPr>
            <p:cNvPr id="193" name="TextBox 192"/>
            <p:cNvSpPr txBox="1"/>
            <p:nvPr/>
          </p:nvSpPr>
          <p:spPr>
            <a:xfrm>
              <a:off x="4371874" y="3786748"/>
              <a:ext cx="200126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endParaRPr lang="en-US" sz="1100" dirty="0" smtClean="0">
                <a:latin typeface="Neo Sans Intel" panose="020B0504020202020204" pitchFamily="34" charset="0"/>
              </a:endParaRPr>
            </a:p>
          </p:txBody>
        </p:sp>
        <p:sp>
          <p:nvSpPr>
            <p:cNvPr id="194" name="TextBox 193"/>
            <p:cNvSpPr txBox="1"/>
            <p:nvPr/>
          </p:nvSpPr>
          <p:spPr>
            <a:xfrm>
              <a:off x="3466452" y="4040440"/>
              <a:ext cx="838692" cy="30777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 smtClean="0">
                  <a:latin typeface="Neo Sans Intel Medium" panose="020B0604020202020204" pitchFamily="34" charset="0"/>
                </a:rPr>
                <a:t>Memory</a:t>
              </a:r>
            </a:p>
          </p:txBody>
        </p:sp>
        <p:sp>
          <p:nvSpPr>
            <p:cNvPr id="195" name="TextBox 194"/>
            <p:cNvSpPr txBox="1"/>
            <p:nvPr/>
          </p:nvSpPr>
          <p:spPr>
            <a:xfrm>
              <a:off x="3126747" y="4149986"/>
              <a:ext cx="102130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endParaRPr lang="en-US" sz="1100" dirty="0" smtClean="0">
                <a:latin typeface="Neo Sans Intel" panose="020B0504020202020204" pitchFamily="34" charset="0"/>
              </a:endParaRPr>
            </a:p>
          </p:txBody>
        </p:sp>
        <p:sp>
          <p:nvSpPr>
            <p:cNvPr id="197" name="TextBox 196"/>
            <p:cNvSpPr txBox="1"/>
            <p:nvPr/>
          </p:nvSpPr>
          <p:spPr>
            <a:xfrm>
              <a:off x="3128165" y="4647076"/>
              <a:ext cx="184731" cy="26161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endParaRPr lang="en-US" sz="1100" dirty="0" smtClean="0">
                <a:latin typeface="Neo Sans Intel" panose="020B0504020202020204" pitchFamily="34" charset="0"/>
              </a:endParaRPr>
            </a:p>
          </p:txBody>
        </p:sp>
      </p:grpSp>
      <p:cxnSp>
        <p:nvCxnSpPr>
          <p:cNvPr id="198" name="Straight Arrow Connector 197"/>
          <p:cNvCxnSpPr>
            <a:stCxn id="193" idx="3"/>
            <a:endCxn id="201" idx="3"/>
          </p:cNvCxnSpPr>
          <p:nvPr/>
        </p:nvCxnSpPr>
        <p:spPr bwMode="auto">
          <a:xfrm flipV="1">
            <a:off x="7790299" y="3341004"/>
            <a:ext cx="724083" cy="167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  <a:effectLst/>
        </p:spPr>
      </p:cxnSp>
      <p:grpSp>
        <p:nvGrpSpPr>
          <p:cNvPr id="199" name="Group 198"/>
          <p:cNvGrpSpPr/>
          <p:nvPr/>
        </p:nvGrpSpPr>
        <p:grpSpPr>
          <a:xfrm>
            <a:off x="8510556" y="3207774"/>
            <a:ext cx="135684" cy="484051"/>
            <a:chOff x="3390790" y="3616963"/>
            <a:chExt cx="180391" cy="643543"/>
          </a:xfrm>
        </p:grpSpPr>
        <p:sp>
          <p:nvSpPr>
            <p:cNvPr id="200" name="Trapezoid 199"/>
            <p:cNvSpPr/>
            <p:nvPr/>
          </p:nvSpPr>
          <p:spPr bwMode="auto">
            <a:xfrm rot="5400000">
              <a:off x="3159214" y="3848539"/>
              <a:ext cx="643543" cy="180391"/>
            </a:xfrm>
            <a:prstGeom prst="trapezoid">
              <a:avLst>
                <a:gd name="adj" fmla="val 53513"/>
              </a:avLst>
            </a:prstGeom>
            <a:solidFill>
              <a:schemeClr val="bg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Neo Sans Intel Medium" panose="020B0604020202020204" pitchFamily="34" charset="0"/>
              </a:endParaRPr>
            </a:p>
          </p:txBody>
        </p:sp>
        <p:sp>
          <p:nvSpPr>
            <p:cNvPr id="201" name="Rectangle 158"/>
            <p:cNvSpPr>
              <a:spLocks noChangeArrowheads="1"/>
            </p:cNvSpPr>
            <p:nvPr/>
          </p:nvSpPr>
          <p:spPr bwMode="auto">
            <a:xfrm flipH="1">
              <a:off x="3395877" y="3722484"/>
              <a:ext cx="122543" cy="143216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sz="700" dirty="0" smtClean="0">
                  <a:solidFill>
                    <a:srgbClr val="000000"/>
                  </a:solidFill>
                  <a:latin typeface="Neo Sans Intel" panose="020B0504020202020204" pitchFamily="34" charset="0"/>
                </a:rPr>
                <a:t>1</a:t>
              </a:r>
              <a:endParaRPr lang="en-US" sz="700" dirty="0">
                <a:solidFill>
                  <a:srgbClr val="000000"/>
                </a:solidFill>
                <a:latin typeface="Neo Sans Intel" panose="020B0504020202020204" pitchFamily="34" charset="0"/>
              </a:endParaRPr>
            </a:p>
          </p:txBody>
        </p:sp>
        <p:sp>
          <p:nvSpPr>
            <p:cNvPr id="202" name="Rectangle 159"/>
            <p:cNvSpPr>
              <a:spLocks noChangeArrowheads="1"/>
            </p:cNvSpPr>
            <p:nvPr/>
          </p:nvSpPr>
          <p:spPr bwMode="auto">
            <a:xfrm flipH="1">
              <a:off x="3395879" y="4029231"/>
              <a:ext cx="122542" cy="143216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sz="700" b="1" dirty="0">
                  <a:solidFill>
                    <a:srgbClr val="000000"/>
                  </a:solidFill>
                  <a:latin typeface="Neo Sans Intel" panose="020B0504020202020204" pitchFamily="34" charset="0"/>
                </a:rPr>
                <a:t>0</a:t>
              </a:r>
            </a:p>
          </p:txBody>
        </p:sp>
      </p:grpSp>
      <p:cxnSp>
        <p:nvCxnSpPr>
          <p:cNvPr id="203" name="Straight Arrow Connector 202"/>
          <p:cNvCxnSpPr>
            <a:stCxn id="168" idx="3"/>
            <a:endCxn id="208" idx="2"/>
          </p:cNvCxnSpPr>
          <p:nvPr/>
        </p:nvCxnSpPr>
        <p:spPr bwMode="auto">
          <a:xfrm flipV="1">
            <a:off x="5797730" y="3567235"/>
            <a:ext cx="786476" cy="454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04" name="Oval 203"/>
          <p:cNvSpPr/>
          <p:nvPr/>
        </p:nvSpPr>
        <p:spPr bwMode="auto">
          <a:xfrm>
            <a:off x="4734232" y="3664698"/>
            <a:ext cx="54511" cy="54511"/>
          </a:xfrm>
          <a:prstGeom prst="ellipse">
            <a:avLst/>
          </a:prstGeom>
          <a:solidFill>
            <a:schemeClr val="tx1"/>
          </a:solidFill>
          <a:ln w="31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b="1" smtClean="0">
              <a:latin typeface="Neo Sans Intel" pitchFamily="34" charset="0"/>
              <a:cs typeface="Arial" pitchFamily="34" charset="0"/>
            </a:endParaRPr>
          </a:p>
        </p:txBody>
      </p:sp>
      <p:sp>
        <p:nvSpPr>
          <p:cNvPr id="205" name="TextBox 204"/>
          <p:cNvSpPr txBox="1"/>
          <p:nvPr/>
        </p:nvSpPr>
        <p:spPr>
          <a:xfrm>
            <a:off x="5584679" y="4444824"/>
            <a:ext cx="71861" cy="92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" dirty="0" smtClean="0">
                <a:latin typeface="Neo Sans Intel" panose="020B0504020202020204" pitchFamily="34" charset="0"/>
              </a:rPr>
              <a:t> </a:t>
            </a:r>
          </a:p>
        </p:txBody>
      </p:sp>
      <p:cxnSp>
        <p:nvCxnSpPr>
          <p:cNvPr id="206" name="Elbow Connector 205"/>
          <p:cNvCxnSpPr>
            <a:stCxn id="204" idx="4"/>
            <a:endCxn id="205" idx="1"/>
          </p:cNvCxnSpPr>
          <p:nvPr/>
        </p:nvCxnSpPr>
        <p:spPr bwMode="auto">
          <a:xfrm rot="16200000" flipH="1">
            <a:off x="4787126" y="3693570"/>
            <a:ext cx="771915" cy="823191"/>
          </a:xfrm>
          <a:prstGeom prst="bentConnector2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med" len="med"/>
          </a:ln>
          <a:effectLst/>
        </p:spPr>
      </p:cxnSp>
      <p:cxnSp>
        <p:nvCxnSpPr>
          <p:cNvPr id="207" name="Elbow Connector 206"/>
          <p:cNvCxnSpPr>
            <a:stCxn id="205" idx="1"/>
            <a:endCxn id="197" idx="1"/>
          </p:cNvCxnSpPr>
          <p:nvPr/>
        </p:nvCxnSpPr>
        <p:spPr bwMode="auto">
          <a:xfrm rot="10800000" flipH="1">
            <a:off x="5584678" y="3883812"/>
            <a:ext cx="1294939" cy="607312"/>
          </a:xfrm>
          <a:prstGeom prst="bentConnector3">
            <a:avLst>
              <a:gd name="adj1" fmla="val 25626"/>
            </a:avLst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  <a:effectLst/>
        </p:spPr>
      </p:cxnSp>
      <p:sp>
        <p:nvSpPr>
          <p:cNvPr id="208" name="Oval 207"/>
          <p:cNvSpPr/>
          <p:nvPr/>
        </p:nvSpPr>
        <p:spPr bwMode="auto">
          <a:xfrm>
            <a:off x="6584206" y="3539979"/>
            <a:ext cx="54511" cy="54511"/>
          </a:xfrm>
          <a:prstGeom prst="ellipse">
            <a:avLst/>
          </a:prstGeom>
          <a:solidFill>
            <a:schemeClr val="tx1"/>
          </a:solidFill>
          <a:ln w="31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b="1" smtClean="0">
              <a:latin typeface="Neo Sans Intel" pitchFamily="34" charset="0"/>
              <a:cs typeface="Arial" pitchFamily="34" charset="0"/>
            </a:endParaRPr>
          </a:p>
        </p:txBody>
      </p:sp>
      <p:cxnSp>
        <p:nvCxnSpPr>
          <p:cNvPr id="209" name="Elbow Connector 208"/>
          <p:cNvCxnSpPr>
            <a:stCxn id="208" idx="4"/>
            <a:endCxn id="202" idx="3"/>
          </p:cNvCxnSpPr>
          <p:nvPr/>
        </p:nvCxnSpPr>
        <p:spPr bwMode="auto">
          <a:xfrm rot="5400000" flipH="1" flipV="1">
            <a:off x="7551542" y="2631649"/>
            <a:ext cx="22761" cy="1902922"/>
          </a:xfrm>
          <a:prstGeom prst="bentConnector4">
            <a:avLst>
              <a:gd name="adj1" fmla="val -2946101"/>
              <a:gd name="adj2" fmla="val 89558"/>
            </a:avLst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  <a:effectLst/>
        </p:spPr>
      </p:cxnSp>
      <p:sp>
        <p:nvSpPr>
          <p:cNvPr id="210" name="Oval 209"/>
          <p:cNvSpPr/>
          <p:nvPr/>
        </p:nvSpPr>
        <p:spPr bwMode="auto">
          <a:xfrm>
            <a:off x="4844947" y="3914365"/>
            <a:ext cx="54511" cy="54511"/>
          </a:xfrm>
          <a:prstGeom prst="ellipse">
            <a:avLst/>
          </a:prstGeom>
          <a:solidFill>
            <a:schemeClr val="tx1"/>
          </a:solidFill>
          <a:ln w="31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b="1" smtClean="0">
              <a:latin typeface="Neo Sans Intel" pitchFamily="34" charset="0"/>
              <a:cs typeface="Arial" pitchFamily="34" charset="0"/>
            </a:endParaRPr>
          </a:p>
        </p:txBody>
      </p:sp>
      <p:cxnSp>
        <p:nvCxnSpPr>
          <p:cNvPr id="211" name="Straight Arrow Connector 210"/>
          <p:cNvCxnSpPr>
            <a:stCxn id="210" idx="6"/>
            <a:endCxn id="187" idx="3"/>
          </p:cNvCxnSpPr>
          <p:nvPr/>
        </p:nvCxnSpPr>
        <p:spPr bwMode="auto">
          <a:xfrm>
            <a:off x="4899458" y="3941621"/>
            <a:ext cx="99432" cy="611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  <a:effectLst/>
        </p:spPr>
      </p:cxnSp>
      <p:cxnSp>
        <p:nvCxnSpPr>
          <p:cNvPr id="212" name="Elbow Connector 211"/>
          <p:cNvCxnSpPr>
            <a:stCxn id="208" idx="0"/>
            <a:endCxn id="192" idx="1"/>
          </p:cNvCxnSpPr>
          <p:nvPr/>
        </p:nvCxnSpPr>
        <p:spPr bwMode="auto">
          <a:xfrm rot="5400000" flipH="1" flipV="1">
            <a:off x="6612238" y="3274761"/>
            <a:ext cx="264443" cy="265994"/>
          </a:xfrm>
          <a:prstGeom prst="bentConnector2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  <a:effectLst/>
        </p:spPr>
      </p:cxnSp>
      <p:sp>
        <p:nvSpPr>
          <p:cNvPr id="213" name="TextBox 212"/>
          <p:cNvSpPr txBox="1"/>
          <p:nvPr/>
        </p:nvSpPr>
        <p:spPr>
          <a:xfrm>
            <a:off x="4815348" y="4177186"/>
            <a:ext cx="500458" cy="21544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800" dirty="0" err="1" smtClean="0">
                <a:solidFill>
                  <a:schemeClr val="accent1"/>
                </a:solidFill>
                <a:latin typeface="Neo Sans Intel" panose="020B0504020202020204" pitchFamily="34" charset="0"/>
              </a:rPr>
              <a:t>ALUSrc</a:t>
            </a:r>
            <a:endParaRPr lang="en-US" sz="800" dirty="0" smtClean="0">
              <a:solidFill>
                <a:schemeClr val="accent1"/>
              </a:solidFill>
              <a:latin typeface="Neo Sans Intel" panose="020B0504020202020204" pitchFamily="34" charset="0"/>
            </a:endParaRPr>
          </a:p>
        </p:txBody>
      </p:sp>
      <p:cxnSp>
        <p:nvCxnSpPr>
          <p:cNvPr id="214" name="Straight Connector 213"/>
          <p:cNvCxnSpPr>
            <a:stCxn id="185" idx="3"/>
            <a:endCxn id="213" idx="0"/>
          </p:cNvCxnSpPr>
          <p:nvPr/>
        </p:nvCxnSpPr>
        <p:spPr bwMode="auto">
          <a:xfrm>
            <a:off x="5062905" y="4025374"/>
            <a:ext cx="2672" cy="151812"/>
          </a:xfrm>
          <a:prstGeom prst="line">
            <a:avLst/>
          </a:prstGeom>
          <a:solidFill>
            <a:schemeClr val="bg1"/>
          </a:solidFill>
          <a:ln w="63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15" name="TextBox 214"/>
          <p:cNvSpPr txBox="1"/>
          <p:nvPr/>
        </p:nvSpPr>
        <p:spPr>
          <a:xfrm>
            <a:off x="7020161" y="2788909"/>
            <a:ext cx="628697" cy="21544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800" dirty="0" err="1" smtClean="0">
                <a:solidFill>
                  <a:schemeClr val="accent1"/>
                </a:solidFill>
                <a:latin typeface="Neo Sans Intel" panose="020B0504020202020204" pitchFamily="34" charset="0"/>
              </a:rPr>
              <a:t>MemWrite</a:t>
            </a:r>
            <a:endParaRPr lang="en-US" sz="800" dirty="0" smtClean="0">
              <a:solidFill>
                <a:schemeClr val="accent1"/>
              </a:solidFill>
              <a:latin typeface="Neo Sans Intel" panose="020B0504020202020204" pitchFamily="34" charset="0"/>
            </a:endParaRPr>
          </a:p>
        </p:txBody>
      </p:sp>
      <p:cxnSp>
        <p:nvCxnSpPr>
          <p:cNvPr id="216" name="Straight Connector 215"/>
          <p:cNvCxnSpPr>
            <a:stCxn id="215" idx="2"/>
            <a:endCxn id="191" idx="0"/>
          </p:cNvCxnSpPr>
          <p:nvPr/>
        </p:nvCxnSpPr>
        <p:spPr bwMode="auto">
          <a:xfrm>
            <a:off x="7334510" y="3004353"/>
            <a:ext cx="0" cy="135295"/>
          </a:xfrm>
          <a:prstGeom prst="line">
            <a:avLst/>
          </a:prstGeom>
          <a:solidFill>
            <a:schemeClr val="bg1"/>
          </a:solidFill>
          <a:ln w="63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17" name="TextBox 216"/>
          <p:cNvSpPr txBox="1"/>
          <p:nvPr/>
        </p:nvSpPr>
        <p:spPr>
          <a:xfrm>
            <a:off x="2239331" y="4294642"/>
            <a:ext cx="502060" cy="215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 err="1" smtClean="0">
                <a:solidFill>
                  <a:schemeClr val="accent1"/>
                </a:solidFill>
                <a:latin typeface="Neo Sans Intel" panose="020B0504020202020204" pitchFamily="34" charset="0"/>
              </a:rPr>
              <a:t>RegDst</a:t>
            </a:r>
            <a:endParaRPr lang="en-US" sz="800" dirty="0" smtClean="0">
              <a:solidFill>
                <a:schemeClr val="accent1"/>
              </a:solidFill>
              <a:latin typeface="Neo Sans Intel" panose="020B0504020202020204" pitchFamily="34" charset="0"/>
            </a:endParaRPr>
          </a:p>
        </p:txBody>
      </p:sp>
      <p:cxnSp>
        <p:nvCxnSpPr>
          <p:cNvPr id="219" name="Straight Connector 218"/>
          <p:cNvCxnSpPr>
            <a:stCxn id="143" idx="3"/>
          </p:cNvCxnSpPr>
          <p:nvPr/>
        </p:nvCxnSpPr>
        <p:spPr bwMode="auto">
          <a:xfrm flipH="1">
            <a:off x="2600749" y="4159952"/>
            <a:ext cx="1586" cy="127502"/>
          </a:xfrm>
          <a:prstGeom prst="line">
            <a:avLst/>
          </a:prstGeom>
          <a:solidFill>
            <a:schemeClr val="bg1"/>
          </a:solidFill>
          <a:ln w="63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20" name="TextBox 219"/>
          <p:cNvSpPr txBox="1"/>
          <p:nvPr/>
        </p:nvSpPr>
        <p:spPr>
          <a:xfrm>
            <a:off x="8238612" y="2812385"/>
            <a:ext cx="676788" cy="21544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800" dirty="0" err="1" smtClean="0">
                <a:solidFill>
                  <a:schemeClr val="accent1"/>
                </a:solidFill>
                <a:latin typeface="Neo Sans Intel" panose="020B0504020202020204" pitchFamily="34" charset="0"/>
              </a:rPr>
              <a:t>MemToReg</a:t>
            </a:r>
            <a:endParaRPr lang="en-US" sz="800" dirty="0" smtClean="0">
              <a:solidFill>
                <a:schemeClr val="accent1"/>
              </a:solidFill>
              <a:latin typeface="Neo Sans Intel" panose="020B0504020202020204" pitchFamily="34" charset="0"/>
            </a:endParaRPr>
          </a:p>
        </p:txBody>
      </p:sp>
      <p:cxnSp>
        <p:nvCxnSpPr>
          <p:cNvPr id="221" name="Straight Connector 220"/>
          <p:cNvCxnSpPr>
            <a:stCxn id="220" idx="2"/>
            <a:endCxn id="200" idx="1"/>
          </p:cNvCxnSpPr>
          <p:nvPr/>
        </p:nvCxnSpPr>
        <p:spPr bwMode="auto">
          <a:xfrm>
            <a:off x="8577006" y="3027829"/>
            <a:ext cx="1393" cy="216250"/>
          </a:xfrm>
          <a:prstGeom prst="line">
            <a:avLst/>
          </a:prstGeom>
          <a:solidFill>
            <a:schemeClr val="bg1"/>
          </a:solidFill>
          <a:ln w="63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24" name="Straight Connector 223"/>
          <p:cNvCxnSpPr>
            <a:stCxn id="178" idx="6"/>
            <a:endCxn id="152" idx="1"/>
          </p:cNvCxnSpPr>
          <p:nvPr/>
        </p:nvCxnSpPr>
        <p:spPr bwMode="auto">
          <a:xfrm flipV="1">
            <a:off x="2395521" y="3548519"/>
            <a:ext cx="564294" cy="3402"/>
          </a:xfrm>
          <a:prstGeom prst="lin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  <a:effectLst/>
        </p:spPr>
      </p:cxnSp>
      <p:cxnSp>
        <p:nvCxnSpPr>
          <p:cNvPr id="225" name="Straight Connector 224"/>
          <p:cNvCxnSpPr>
            <a:stCxn id="204" idx="6"/>
            <a:endCxn id="186" idx="3"/>
          </p:cNvCxnSpPr>
          <p:nvPr/>
        </p:nvCxnSpPr>
        <p:spPr bwMode="auto">
          <a:xfrm>
            <a:off x="4788739" y="3692173"/>
            <a:ext cx="210145" cy="744"/>
          </a:xfrm>
          <a:prstGeom prst="line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  <a:effectLst/>
        </p:spPr>
      </p:cxnSp>
      <p:cxnSp>
        <p:nvCxnSpPr>
          <p:cNvPr id="226" name="Straight Connector 225"/>
          <p:cNvCxnSpPr>
            <a:stCxn id="155" idx="3"/>
            <a:endCxn id="204" idx="2"/>
          </p:cNvCxnSpPr>
          <p:nvPr/>
        </p:nvCxnSpPr>
        <p:spPr bwMode="auto">
          <a:xfrm flipV="1">
            <a:off x="4123363" y="3691954"/>
            <a:ext cx="610869" cy="363"/>
          </a:xfrm>
          <a:prstGeom prst="line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med" len="med"/>
          </a:ln>
          <a:effectLst/>
        </p:spPr>
      </p:cxnSp>
      <p:cxnSp>
        <p:nvCxnSpPr>
          <p:cNvPr id="227" name="Straight Connector 226"/>
          <p:cNvCxnSpPr>
            <a:stCxn id="208" idx="6"/>
            <a:endCxn id="195" idx="1"/>
          </p:cNvCxnSpPr>
          <p:nvPr/>
        </p:nvCxnSpPr>
        <p:spPr bwMode="auto">
          <a:xfrm>
            <a:off x="6638717" y="3567235"/>
            <a:ext cx="240006" cy="3044"/>
          </a:xfrm>
          <a:prstGeom prst="line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  <a:effectLst/>
        </p:spPr>
      </p:cxnSp>
      <p:grpSp>
        <p:nvGrpSpPr>
          <p:cNvPr id="229" name="Group 228"/>
          <p:cNvGrpSpPr/>
          <p:nvPr/>
        </p:nvGrpSpPr>
        <p:grpSpPr>
          <a:xfrm>
            <a:off x="634672" y="3043326"/>
            <a:ext cx="952882" cy="914028"/>
            <a:chOff x="3126744" y="3598050"/>
            <a:chExt cx="1445257" cy="1386326"/>
          </a:xfrm>
        </p:grpSpPr>
        <p:sp>
          <p:nvSpPr>
            <p:cNvPr id="230" name="Rectangle 229"/>
            <p:cNvSpPr/>
            <p:nvPr/>
          </p:nvSpPr>
          <p:spPr bwMode="auto">
            <a:xfrm>
              <a:off x="3126744" y="3598050"/>
              <a:ext cx="1445256" cy="138632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b="1" smtClean="0">
                <a:latin typeface="Neo Sans Intel" pitchFamily="34" charset="0"/>
                <a:cs typeface="Arial" pitchFamily="34" charset="0"/>
              </a:endParaRPr>
            </a:p>
          </p:txBody>
        </p:sp>
        <p:sp>
          <p:nvSpPr>
            <p:cNvPr id="231" name="TextBox 230"/>
            <p:cNvSpPr txBox="1"/>
            <p:nvPr/>
          </p:nvSpPr>
          <p:spPr>
            <a:xfrm>
              <a:off x="3364669" y="3598108"/>
              <a:ext cx="18473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sz="1100" dirty="0" smtClean="0">
                <a:latin typeface="Neo Sans Intel" panose="020B0504020202020204" pitchFamily="34" charset="0"/>
              </a:endParaRPr>
            </a:p>
          </p:txBody>
        </p:sp>
        <p:sp>
          <p:nvSpPr>
            <p:cNvPr id="232" name="TextBox 231"/>
            <p:cNvSpPr txBox="1"/>
            <p:nvPr/>
          </p:nvSpPr>
          <p:spPr>
            <a:xfrm>
              <a:off x="4275615" y="3692678"/>
              <a:ext cx="29638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endParaRPr lang="en-US" sz="1100" dirty="0" smtClean="0">
                <a:latin typeface="Neo Sans Intel" panose="020B0504020202020204" pitchFamily="34" charset="0"/>
              </a:endParaRPr>
            </a:p>
          </p:txBody>
        </p:sp>
        <p:sp>
          <p:nvSpPr>
            <p:cNvPr id="233" name="TextBox 232"/>
            <p:cNvSpPr txBox="1"/>
            <p:nvPr/>
          </p:nvSpPr>
          <p:spPr>
            <a:xfrm>
              <a:off x="3445122" y="4025270"/>
              <a:ext cx="838693" cy="30777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 smtClean="0">
                  <a:latin typeface="Neo Sans Intel Medium" panose="020B0604020202020204" pitchFamily="34" charset="0"/>
                </a:rPr>
                <a:t>Memory</a:t>
              </a:r>
            </a:p>
          </p:txBody>
        </p:sp>
      </p:grpSp>
      <p:sp>
        <p:nvSpPr>
          <p:cNvPr id="234" name="TextBox 233"/>
          <p:cNvSpPr txBox="1"/>
          <p:nvPr/>
        </p:nvSpPr>
        <p:spPr>
          <a:xfrm>
            <a:off x="3246254" y="2689005"/>
            <a:ext cx="590226" cy="21544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800" dirty="0" err="1" smtClean="0">
                <a:solidFill>
                  <a:schemeClr val="accent1"/>
                </a:solidFill>
                <a:latin typeface="Neo Sans Intel" panose="020B0504020202020204" pitchFamily="34" charset="0"/>
              </a:rPr>
              <a:t>RegWrite</a:t>
            </a:r>
            <a:endParaRPr lang="en-US" sz="800" dirty="0" smtClean="0">
              <a:solidFill>
                <a:schemeClr val="accent1"/>
              </a:solidFill>
              <a:latin typeface="Neo Sans Intel" panose="020B0504020202020204" pitchFamily="34" charset="0"/>
            </a:endParaRPr>
          </a:p>
        </p:txBody>
      </p:sp>
      <p:grpSp>
        <p:nvGrpSpPr>
          <p:cNvPr id="135" name="Group 134"/>
          <p:cNvGrpSpPr/>
          <p:nvPr/>
        </p:nvGrpSpPr>
        <p:grpSpPr>
          <a:xfrm>
            <a:off x="1783770" y="2519798"/>
            <a:ext cx="208020" cy="3195202"/>
            <a:chOff x="1740012" y="3281856"/>
            <a:chExt cx="180287" cy="2367290"/>
          </a:xfrm>
        </p:grpSpPr>
        <p:sp>
          <p:nvSpPr>
            <p:cNvPr id="150" name="Rectangle 149"/>
            <p:cNvSpPr/>
            <p:nvPr/>
          </p:nvSpPr>
          <p:spPr bwMode="auto">
            <a:xfrm>
              <a:off x="1740012" y="3281856"/>
              <a:ext cx="180287" cy="236729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12700" cap="flat" cmpd="sng" algn="ctr">
              <a:solidFill>
                <a:srgbClr val="FF66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ru-RU" b="1">
                <a:latin typeface="Neo Sans Intel" pitchFamily="34" charset="0"/>
                <a:cs typeface="Arial" pitchFamily="34" charset="0"/>
              </a:endParaRPr>
            </a:p>
          </p:txBody>
        </p:sp>
        <p:sp>
          <p:nvSpPr>
            <p:cNvPr id="153" name="Isosceles Triangle 152"/>
            <p:cNvSpPr/>
            <p:nvPr/>
          </p:nvSpPr>
          <p:spPr bwMode="auto">
            <a:xfrm>
              <a:off x="1779958" y="5562600"/>
              <a:ext cx="100394" cy="86546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12700" cap="flat" cmpd="sng" algn="ctr">
              <a:solidFill>
                <a:srgbClr val="FF66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b="1">
                <a:latin typeface="Neo Sans Intel" pitchFamily="34" charset="0"/>
                <a:cs typeface="Arial" pitchFamily="34" charset="0"/>
              </a:endParaRPr>
            </a:p>
          </p:txBody>
        </p:sp>
      </p:grpSp>
      <p:grpSp>
        <p:nvGrpSpPr>
          <p:cNvPr id="154" name="Group 153"/>
          <p:cNvGrpSpPr/>
          <p:nvPr/>
        </p:nvGrpSpPr>
        <p:grpSpPr>
          <a:xfrm>
            <a:off x="4321175" y="2497004"/>
            <a:ext cx="208020" cy="3195202"/>
            <a:chOff x="1740012" y="3281856"/>
            <a:chExt cx="180287" cy="2367290"/>
          </a:xfrm>
        </p:grpSpPr>
        <p:sp>
          <p:nvSpPr>
            <p:cNvPr id="163" name="Rectangle 162"/>
            <p:cNvSpPr/>
            <p:nvPr/>
          </p:nvSpPr>
          <p:spPr bwMode="auto">
            <a:xfrm>
              <a:off x="1740012" y="3281856"/>
              <a:ext cx="180287" cy="236729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12700" cap="flat" cmpd="sng" algn="ctr">
              <a:solidFill>
                <a:srgbClr val="FF66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ru-RU" b="1">
                <a:latin typeface="Neo Sans Intel" pitchFamily="34" charset="0"/>
                <a:cs typeface="Arial" pitchFamily="34" charset="0"/>
              </a:endParaRPr>
            </a:p>
          </p:txBody>
        </p:sp>
        <p:sp>
          <p:nvSpPr>
            <p:cNvPr id="167" name="Isosceles Triangle 166"/>
            <p:cNvSpPr/>
            <p:nvPr/>
          </p:nvSpPr>
          <p:spPr bwMode="auto">
            <a:xfrm>
              <a:off x="1779958" y="5562600"/>
              <a:ext cx="100394" cy="86546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12700" cap="flat" cmpd="sng" algn="ctr">
              <a:solidFill>
                <a:srgbClr val="FF66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b="1">
                <a:latin typeface="Neo Sans Intel" pitchFamily="34" charset="0"/>
                <a:cs typeface="Arial" pitchFamily="34" charset="0"/>
              </a:endParaRPr>
            </a:p>
          </p:txBody>
        </p:sp>
      </p:grpSp>
      <p:grpSp>
        <p:nvGrpSpPr>
          <p:cNvPr id="173" name="Group 172"/>
          <p:cNvGrpSpPr/>
          <p:nvPr/>
        </p:nvGrpSpPr>
        <p:grpSpPr>
          <a:xfrm>
            <a:off x="6127358" y="2519798"/>
            <a:ext cx="208020" cy="3195202"/>
            <a:chOff x="1740012" y="3281856"/>
            <a:chExt cx="180287" cy="2367290"/>
          </a:xfrm>
        </p:grpSpPr>
        <p:sp>
          <p:nvSpPr>
            <p:cNvPr id="175" name="Rectangle 174"/>
            <p:cNvSpPr/>
            <p:nvPr/>
          </p:nvSpPr>
          <p:spPr bwMode="auto">
            <a:xfrm>
              <a:off x="1740012" y="3281856"/>
              <a:ext cx="180287" cy="236729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12700" cap="flat" cmpd="sng" algn="ctr">
              <a:solidFill>
                <a:srgbClr val="FF66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ru-RU" b="1">
                <a:latin typeface="Neo Sans Intel" pitchFamily="34" charset="0"/>
                <a:cs typeface="Arial" pitchFamily="34" charset="0"/>
              </a:endParaRPr>
            </a:p>
          </p:txBody>
        </p:sp>
        <p:sp>
          <p:nvSpPr>
            <p:cNvPr id="218" name="Isosceles Triangle 217"/>
            <p:cNvSpPr/>
            <p:nvPr/>
          </p:nvSpPr>
          <p:spPr bwMode="auto">
            <a:xfrm>
              <a:off x="1779958" y="5562600"/>
              <a:ext cx="100394" cy="86546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12700" cap="flat" cmpd="sng" algn="ctr">
              <a:solidFill>
                <a:srgbClr val="FF66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b="1">
                <a:latin typeface="Neo Sans Intel" pitchFamily="34" charset="0"/>
                <a:cs typeface="Arial" pitchFamily="34" charset="0"/>
              </a:endParaRPr>
            </a:p>
          </p:txBody>
        </p:sp>
      </p:grpSp>
      <p:grpSp>
        <p:nvGrpSpPr>
          <p:cNvPr id="236" name="Group 235"/>
          <p:cNvGrpSpPr/>
          <p:nvPr/>
        </p:nvGrpSpPr>
        <p:grpSpPr>
          <a:xfrm>
            <a:off x="7953000" y="2510064"/>
            <a:ext cx="208020" cy="3195202"/>
            <a:chOff x="1740012" y="3281856"/>
            <a:chExt cx="180287" cy="2367290"/>
          </a:xfrm>
        </p:grpSpPr>
        <p:sp>
          <p:nvSpPr>
            <p:cNvPr id="237" name="Rectangle 236"/>
            <p:cNvSpPr/>
            <p:nvPr/>
          </p:nvSpPr>
          <p:spPr bwMode="auto">
            <a:xfrm>
              <a:off x="1740012" y="3281856"/>
              <a:ext cx="180287" cy="236729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12700" cap="flat" cmpd="sng" algn="ctr">
              <a:solidFill>
                <a:srgbClr val="FF66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ru-RU" b="1">
                <a:latin typeface="Neo Sans Intel" pitchFamily="34" charset="0"/>
                <a:cs typeface="Arial" pitchFamily="34" charset="0"/>
              </a:endParaRPr>
            </a:p>
          </p:txBody>
        </p:sp>
        <p:sp>
          <p:nvSpPr>
            <p:cNvPr id="238" name="Isosceles Triangle 237"/>
            <p:cNvSpPr/>
            <p:nvPr/>
          </p:nvSpPr>
          <p:spPr bwMode="auto">
            <a:xfrm>
              <a:off x="1779958" y="5562600"/>
              <a:ext cx="100394" cy="86546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12700" cap="flat" cmpd="sng" algn="ctr">
              <a:solidFill>
                <a:srgbClr val="FF66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b="1">
                <a:latin typeface="Neo Sans Intel" pitchFamily="34" charset="0"/>
                <a:cs typeface="Arial" pitchFamily="34" charset="0"/>
              </a:endParaRPr>
            </a:p>
          </p:txBody>
        </p:sp>
      </p:grpSp>
      <p:sp>
        <p:nvSpPr>
          <p:cNvPr id="107" name="Rounded Rectangular Callout 106"/>
          <p:cNvSpPr/>
          <p:nvPr/>
        </p:nvSpPr>
        <p:spPr bwMode="auto">
          <a:xfrm>
            <a:off x="1275806" y="1206403"/>
            <a:ext cx="2265561" cy="1025914"/>
          </a:xfrm>
          <a:prstGeom prst="wedgeRoundRectCallout">
            <a:avLst>
              <a:gd name="adj1" fmla="val -66752"/>
              <a:gd name="adj2" fmla="val 49268"/>
              <a:gd name="adj3" fmla="val 16667"/>
            </a:avLst>
          </a:prstGeom>
          <a:solidFill>
            <a:schemeClr val="bg1"/>
          </a:solidFill>
          <a:ln w="19050">
            <a:solidFill>
              <a:schemeClr val="accent1"/>
            </a:solidFill>
            <a:headEnd type="none" w="sm" len="sm"/>
            <a:tailEnd type="none" w="sm" len="sm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1400" dirty="0" smtClean="0">
                <a:solidFill>
                  <a:sysClr val="windowText" lastClr="000000"/>
                </a:solidFill>
                <a:latin typeface="+mj-lt"/>
                <a:cs typeface="Arial" pitchFamily="34" charset="0"/>
              </a:rPr>
              <a:t>PC is also a pipeline latch, as it separates stages: </a:t>
            </a:r>
            <a:r>
              <a:rPr lang="en-US" sz="1200" dirty="0" smtClean="0">
                <a:solidFill>
                  <a:schemeClr val="tx2"/>
                </a:solidFill>
                <a:latin typeface="+mj-lt"/>
                <a:cs typeface="Arial" pitchFamily="34" charset="0"/>
              </a:rPr>
              <a:t>fetch of the current and the next instructions</a:t>
            </a:r>
            <a:endParaRPr lang="ru-RU" sz="1200" dirty="0" smtClean="0">
              <a:solidFill>
                <a:schemeClr val="tx2"/>
              </a:solidFill>
              <a:latin typeface="+mj-lt"/>
              <a:cs typeface="Arial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4312993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" grpId="0" animBg="1"/>
    </p:bldLst>
  </p:timing>
  <p:extLst mod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Stages</a:t>
            </a:r>
            <a:endParaRPr lang="ru-RU" dirty="0"/>
          </a:p>
        </p:txBody>
      </p:sp>
      <p:grpSp>
        <p:nvGrpSpPr>
          <p:cNvPr id="46" name="Group 45"/>
          <p:cNvGrpSpPr/>
          <p:nvPr/>
        </p:nvGrpSpPr>
        <p:grpSpPr>
          <a:xfrm>
            <a:off x="677580" y="2193740"/>
            <a:ext cx="348172" cy="470570"/>
            <a:chOff x="125186" y="1514471"/>
            <a:chExt cx="462893" cy="625620"/>
          </a:xfrm>
        </p:grpSpPr>
        <p:grpSp>
          <p:nvGrpSpPr>
            <p:cNvPr id="80" name="Group 79"/>
            <p:cNvGrpSpPr/>
            <p:nvPr/>
          </p:nvGrpSpPr>
          <p:grpSpPr>
            <a:xfrm>
              <a:off x="125186" y="1514471"/>
              <a:ext cx="462893" cy="625620"/>
              <a:chOff x="2921052" y="2694759"/>
              <a:chExt cx="609650" cy="823968"/>
            </a:xfrm>
          </p:grpSpPr>
          <p:sp>
            <p:nvSpPr>
              <p:cNvPr id="82" name="Rectangle 81"/>
              <p:cNvSpPr/>
              <p:nvPr/>
            </p:nvSpPr>
            <p:spPr bwMode="auto">
              <a:xfrm>
                <a:off x="2991378" y="2694759"/>
                <a:ext cx="468998" cy="823968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en-US" b="1" smtClean="0">
                  <a:latin typeface="Neo Sans Intel" pitchFamily="34" charset="0"/>
                  <a:cs typeface="Arial" pitchFamily="34" charset="0"/>
                </a:endParaRPr>
              </a:p>
            </p:txBody>
          </p:sp>
          <p:sp>
            <p:nvSpPr>
              <p:cNvPr id="83" name="TextBox 82"/>
              <p:cNvSpPr txBox="1"/>
              <p:nvPr/>
            </p:nvSpPr>
            <p:spPr>
              <a:xfrm>
                <a:off x="2921052" y="2872568"/>
                <a:ext cx="609650" cy="4580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100" dirty="0" smtClean="0">
                    <a:latin typeface="Neo Sans Intel Medium" panose="020B0604020202020204" pitchFamily="34" charset="0"/>
                  </a:rPr>
                  <a:t>PC</a:t>
                </a:r>
              </a:p>
            </p:txBody>
          </p:sp>
        </p:grpSp>
        <p:sp>
          <p:nvSpPr>
            <p:cNvPr id="81" name="Isosceles Triangle 80"/>
            <p:cNvSpPr/>
            <p:nvPr/>
          </p:nvSpPr>
          <p:spPr bwMode="auto">
            <a:xfrm rot="19800000">
              <a:off x="155044" y="1973506"/>
              <a:ext cx="89552" cy="77200"/>
            </a:xfrm>
            <a:prstGeom prst="triangle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b="1">
                <a:latin typeface="Neo Sans Intel" pitchFamily="34" charset="0"/>
                <a:cs typeface="Arial" pitchFamily="34" charset="0"/>
              </a:endParaRPr>
            </a:p>
          </p:txBody>
        </p:sp>
      </p:grpSp>
      <p:cxnSp>
        <p:nvCxnSpPr>
          <p:cNvPr id="50" name="Straight Arrow Connector 49"/>
          <p:cNvCxnSpPr>
            <a:stCxn id="82" idx="2"/>
            <a:endCxn id="231" idx="0"/>
          </p:cNvCxnSpPr>
          <p:nvPr/>
        </p:nvCxnSpPr>
        <p:spPr bwMode="auto">
          <a:xfrm>
            <a:off x="851666" y="2664310"/>
            <a:ext cx="772" cy="379054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  <a:effectLst/>
        </p:spPr>
      </p:cxnSp>
      <p:grpSp>
        <p:nvGrpSpPr>
          <p:cNvPr id="136" name="Group 135"/>
          <p:cNvGrpSpPr/>
          <p:nvPr/>
        </p:nvGrpSpPr>
        <p:grpSpPr>
          <a:xfrm>
            <a:off x="634672" y="3043326"/>
            <a:ext cx="952882" cy="914028"/>
            <a:chOff x="3126744" y="3598050"/>
            <a:chExt cx="1445257" cy="1386326"/>
          </a:xfrm>
        </p:grpSpPr>
        <p:sp>
          <p:nvSpPr>
            <p:cNvPr id="137" name="Rectangle 136"/>
            <p:cNvSpPr/>
            <p:nvPr/>
          </p:nvSpPr>
          <p:spPr bwMode="auto">
            <a:xfrm>
              <a:off x="3126744" y="3598050"/>
              <a:ext cx="1445256" cy="138632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b="1" smtClean="0">
                <a:latin typeface="Neo Sans Intel" pitchFamily="34" charset="0"/>
                <a:cs typeface="Arial" pitchFamily="34" charset="0"/>
              </a:endParaRPr>
            </a:p>
          </p:txBody>
        </p:sp>
        <p:sp>
          <p:nvSpPr>
            <p:cNvPr id="138" name="TextBox 137"/>
            <p:cNvSpPr txBox="1"/>
            <p:nvPr/>
          </p:nvSpPr>
          <p:spPr>
            <a:xfrm>
              <a:off x="3364669" y="3598108"/>
              <a:ext cx="18473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sz="1100" dirty="0" smtClean="0">
                <a:latin typeface="Neo Sans Intel" panose="020B0504020202020204" pitchFamily="34" charset="0"/>
              </a:endParaRPr>
            </a:p>
          </p:txBody>
        </p:sp>
        <p:sp>
          <p:nvSpPr>
            <p:cNvPr id="139" name="TextBox 138"/>
            <p:cNvSpPr txBox="1"/>
            <p:nvPr/>
          </p:nvSpPr>
          <p:spPr>
            <a:xfrm>
              <a:off x="4275615" y="3692678"/>
              <a:ext cx="29638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endParaRPr lang="en-US" sz="1100" dirty="0" smtClean="0">
                <a:latin typeface="Neo Sans Intel" panose="020B0504020202020204" pitchFamily="34" charset="0"/>
              </a:endParaRPr>
            </a:p>
          </p:txBody>
        </p:sp>
        <p:sp>
          <p:nvSpPr>
            <p:cNvPr id="140" name="TextBox 139"/>
            <p:cNvSpPr txBox="1"/>
            <p:nvPr/>
          </p:nvSpPr>
          <p:spPr>
            <a:xfrm>
              <a:off x="3445122" y="4025270"/>
              <a:ext cx="838693" cy="30777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 smtClean="0">
                  <a:latin typeface="Neo Sans Intel Medium" panose="020B0604020202020204" pitchFamily="34" charset="0"/>
                </a:rPr>
                <a:t>Memory</a:t>
              </a:r>
            </a:p>
          </p:txBody>
        </p:sp>
      </p:grpSp>
      <p:cxnSp>
        <p:nvCxnSpPr>
          <p:cNvPr id="141" name="Straight Arrow Connector 140"/>
          <p:cNvCxnSpPr>
            <a:stCxn id="139" idx="3"/>
            <a:endCxn id="170" idx="2"/>
          </p:cNvCxnSpPr>
          <p:nvPr/>
        </p:nvCxnSpPr>
        <p:spPr bwMode="auto">
          <a:xfrm flipV="1">
            <a:off x="1587554" y="3191934"/>
            <a:ext cx="606361" cy="24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  <a:effectLst/>
        </p:spPr>
      </p:cxnSp>
      <p:grpSp>
        <p:nvGrpSpPr>
          <p:cNvPr id="142" name="Group 141"/>
          <p:cNvGrpSpPr/>
          <p:nvPr/>
        </p:nvGrpSpPr>
        <p:grpSpPr>
          <a:xfrm>
            <a:off x="2534492" y="3712204"/>
            <a:ext cx="135684" cy="484051"/>
            <a:chOff x="3390790" y="3616963"/>
            <a:chExt cx="180391" cy="643543"/>
          </a:xfrm>
        </p:grpSpPr>
        <p:sp>
          <p:nvSpPr>
            <p:cNvPr id="143" name="Trapezoid 142"/>
            <p:cNvSpPr/>
            <p:nvPr/>
          </p:nvSpPr>
          <p:spPr bwMode="auto">
            <a:xfrm rot="5400000">
              <a:off x="3159214" y="3848539"/>
              <a:ext cx="643543" cy="180391"/>
            </a:xfrm>
            <a:prstGeom prst="trapezoid">
              <a:avLst>
                <a:gd name="adj" fmla="val 53513"/>
              </a:avLst>
            </a:prstGeom>
            <a:solidFill>
              <a:schemeClr val="bg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Neo Sans Intel Medium" panose="020B0604020202020204" pitchFamily="34" charset="0"/>
              </a:endParaRPr>
            </a:p>
          </p:txBody>
        </p:sp>
        <p:sp>
          <p:nvSpPr>
            <p:cNvPr id="144" name="Rectangle 158"/>
            <p:cNvSpPr>
              <a:spLocks noChangeArrowheads="1"/>
            </p:cNvSpPr>
            <p:nvPr/>
          </p:nvSpPr>
          <p:spPr bwMode="auto">
            <a:xfrm flipH="1">
              <a:off x="3398409" y="3689587"/>
              <a:ext cx="111389" cy="143216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sz="700" b="1" dirty="0">
                  <a:solidFill>
                    <a:srgbClr val="000000"/>
                  </a:solidFill>
                  <a:latin typeface="Neo Sans Intel" panose="020B0504020202020204" pitchFamily="34" charset="0"/>
                </a:rPr>
                <a:t>0</a:t>
              </a:r>
              <a:endParaRPr lang="en-US" sz="700" dirty="0">
                <a:solidFill>
                  <a:srgbClr val="000000"/>
                </a:solidFill>
                <a:latin typeface="Neo Sans Intel" panose="020B0504020202020204" pitchFamily="34" charset="0"/>
              </a:endParaRPr>
            </a:p>
          </p:txBody>
        </p:sp>
        <p:sp>
          <p:nvSpPr>
            <p:cNvPr id="145" name="Rectangle 159"/>
            <p:cNvSpPr>
              <a:spLocks noChangeArrowheads="1"/>
            </p:cNvSpPr>
            <p:nvPr/>
          </p:nvSpPr>
          <p:spPr bwMode="auto">
            <a:xfrm flipH="1">
              <a:off x="3400943" y="4034895"/>
              <a:ext cx="94539" cy="143216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sz="700" b="1" dirty="0">
                  <a:solidFill>
                    <a:srgbClr val="000000"/>
                  </a:solidFill>
                  <a:latin typeface="Neo Sans Intel" panose="020B0504020202020204" pitchFamily="34" charset="0"/>
                </a:rPr>
                <a:t>1</a:t>
              </a:r>
            </a:p>
          </p:txBody>
        </p:sp>
      </p:grpSp>
      <p:grpSp>
        <p:nvGrpSpPr>
          <p:cNvPr id="146" name="Group 145"/>
          <p:cNvGrpSpPr/>
          <p:nvPr/>
        </p:nvGrpSpPr>
        <p:grpSpPr>
          <a:xfrm>
            <a:off x="2956654" y="3030552"/>
            <a:ext cx="1167978" cy="1407058"/>
            <a:chOff x="4488101" y="3657632"/>
            <a:chExt cx="1552821" cy="1870677"/>
          </a:xfrm>
        </p:grpSpPr>
        <p:sp>
          <p:nvSpPr>
            <p:cNvPr id="147" name="Rectangle 146"/>
            <p:cNvSpPr/>
            <p:nvPr/>
          </p:nvSpPr>
          <p:spPr bwMode="auto">
            <a:xfrm>
              <a:off x="4490028" y="3657632"/>
              <a:ext cx="1550894" cy="187067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b="1" smtClean="0">
                <a:latin typeface="Neo Sans Intel" pitchFamily="34" charset="0"/>
                <a:cs typeface="Arial" pitchFamily="34" charset="0"/>
              </a:endParaRPr>
            </a:p>
          </p:txBody>
        </p:sp>
        <p:sp>
          <p:nvSpPr>
            <p:cNvPr id="148" name="TextBox 147"/>
            <p:cNvSpPr txBox="1"/>
            <p:nvPr/>
          </p:nvSpPr>
          <p:spPr>
            <a:xfrm>
              <a:off x="4492305" y="3741384"/>
              <a:ext cx="18473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sz="1100" b="1" dirty="0" smtClean="0">
                <a:latin typeface="Neo Sans Intel" panose="020B0504020202020204" pitchFamily="34" charset="0"/>
              </a:endParaRPr>
            </a:p>
          </p:txBody>
        </p:sp>
        <p:sp>
          <p:nvSpPr>
            <p:cNvPr id="149" name="TextBox 148"/>
            <p:cNvSpPr txBox="1"/>
            <p:nvPr/>
          </p:nvSpPr>
          <p:spPr>
            <a:xfrm>
              <a:off x="5952523" y="3745474"/>
              <a:ext cx="88399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endParaRPr lang="en-US" sz="1100" b="1" dirty="0" smtClean="0">
                <a:latin typeface="Neo Sans Intel" panose="020B0504020202020204" pitchFamily="34" charset="0"/>
              </a:endParaRPr>
            </a:p>
          </p:txBody>
        </p:sp>
        <p:sp>
          <p:nvSpPr>
            <p:cNvPr id="151" name="TextBox 150"/>
            <p:cNvSpPr txBox="1"/>
            <p:nvPr/>
          </p:nvSpPr>
          <p:spPr>
            <a:xfrm>
              <a:off x="4817974" y="4328901"/>
              <a:ext cx="94910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 smtClean="0">
                  <a:latin typeface="Neo Sans Intel Medium" panose="020B0604020202020204" pitchFamily="34" charset="0"/>
                </a:rPr>
                <a:t>Registers</a:t>
              </a:r>
            </a:p>
          </p:txBody>
        </p:sp>
        <p:sp>
          <p:nvSpPr>
            <p:cNvPr id="152" name="TextBox 151"/>
            <p:cNvSpPr txBox="1"/>
            <p:nvPr/>
          </p:nvSpPr>
          <p:spPr>
            <a:xfrm>
              <a:off x="4492305" y="4215468"/>
              <a:ext cx="18473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sz="1100" b="1" dirty="0" smtClean="0">
                <a:latin typeface="Neo Sans Intel" panose="020B0504020202020204" pitchFamily="34" charset="0"/>
              </a:endParaRPr>
            </a:p>
          </p:txBody>
        </p:sp>
        <p:sp>
          <p:nvSpPr>
            <p:cNvPr id="155" name="TextBox 154"/>
            <p:cNvSpPr txBox="1"/>
            <p:nvPr/>
          </p:nvSpPr>
          <p:spPr>
            <a:xfrm>
              <a:off x="5902089" y="4406640"/>
              <a:ext cx="13714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endParaRPr lang="en-US" sz="1100" b="1" dirty="0" smtClean="0">
                <a:latin typeface="Neo Sans Intel" panose="020B0504020202020204" pitchFamily="34" charset="0"/>
              </a:endParaRPr>
            </a:p>
          </p:txBody>
        </p:sp>
        <p:sp>
          <p:nvSpPr>
            <p:cNvPr id="156" name="TextBox 155"/>
            <p:cNvSpPr txBox="1"/>
            <p:nvPr/>
          </p:nvSpPr>
          <p:spPr>
            <a:xfrm>
              <a:off x="4488101" y="4754853"/>
              <a:ext cx="18473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sz="1100" b="1" dirty="0" smtClean="0">
                <a:latin typeface="Neo Sans Intel" panose="020B0504020202020204" pitchFamily="34" charset="0"/>
              </a:endParaRPr>
            </a:p>
          </p:txBody>
        </p:sp>
        <p:sp>
          <p:nvSpPr>
            <p:cNvPr id="157" name="TextBox 156"/>
            <p:cNvSpPr txBox="1"/>
            <p:nvPr/>
          </p:nvSpPr>
          <p:spPr>
            <a:xfrm>
              <a:off x="4488101" y="5196249"/>
              <a:ext cx="18473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sz="1100" b="1" dirty="0" smtClean="0">
                <a:latin typeface="Neo Sans Intel" panose="020B0504020202020204" pitchFamily="34" charset="0"/>
              </a:endParaRPr>
            </a:p>
          </p:txBody>
        </p:sp>
        <p:sp>
          <p:nvSpPr>
            <p:cNvPr id="158" name="Rectangle 157"/>
            <p:cNvSpPr/>
            <p:nvPr/>
          </p:nvSpPr>
          <p:spPr bwMode="auto">
            <a:xfrm>
              <a:off x="5194990" y="3666551"/>
              <a:ext cx="133350" cy="13335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3175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b="1" smtClean="0">
                <a:latin typeface="Neo Sans Intel" pitchFamily="34" charset="0"/>
                <a:cs typeface="Arial" pitchFamily="34" charset="0"/>
              </a:endParaRPr>
            </a:p>
          </p:txBody>
        </p:sp>
      </p:grpSp>
      <p:cxnSp>
        <p:nvCxnSpPr>
          <p:cNvPr id="159" name="Straight Connector 158"/>
          <p:cNvCxnSpPr>
            <a:endCxn id="147" idx="0"/>
          </p:cNvCxnSpPr>
          <p:nvPr/>
        </p:nvCxnSpPr>
        <p:spPr bwMode="auto">
          <a:xfrm>
            <a:off x="3541367" y="2904449"/>
            <a:ext cx="1" cy="126103"/>
          </a:xfrm>
          <a:prstGeom prst="line">
            <a:avLst/>
          </a:prstGeom>
          <a:solidFill>
            <a:schemeClr val="bg1"/>
          </a:solidFill>
          <a:ln w="63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60" name="Straight Arrow Connector 159"/>
          <p:cNvCxnSpPr>
            <a:stCxn id="149" idx="3"/>
            <a:endCxn id="165" idx="1"/>
          </p:cNvCxnSpPr>
          <p:nvPr/>
        </p:nvCxnSpPr>
        <p:spPr bwMode="auto">
          <a:xfrm flipV="1">
            <a:off x="4124632" y="3194741"/>
            <a:ext cx="1130032" cy="270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  <a:effectLst/>
        </p:spPr>
      </p:cxnSp>
      <p:grpSp>
        <p:nvGrpSpPr>
          <p:cNvPr id="161" name="Group 160"/>
          <p:cNvGrpSpPr/>
          <p:nvPr/>
        </p:nvGrpSpPr>
        <p:grpSpPr>
          <a:xfrm>
            <a:off x="5254664" y="2958563"/>
            <a:ext cx="547227" cy="1082965"/>
            <a:chOff x="6728724" y="3121968"/>
            <a:chExt cx="727535" cy="1439797"/>
          </a:xfrm>
        </p:grpSpPr>
        <p:sp>
          <p:nvSpPr>
            <p:cNvPr id="162" name="Freeform 127"/>
            <p:cNvSpPr>
              <a:spLocks/>
            </p:cNvSpPr>
            <p:nvPr/>
          </p:nvSpPr>
          <p:spPr bwMode="auto">
            <a:xfrm>
              <a:off x="6728724" y="3121968"/>
              <a:ext cx="727535" cy="1439797"/>
            </a:xfrm>
            <a:custGeom>
              <a:avLst/>
              <a:gdLst>
                <a:gd name="T0" fmla="*/ 0 w 210"/>
                <a:gd name="T1" fmla="*/ 0 h 413"/>
                <a:gd name="T2" fmla="*/ 0 w 210"/>
                <a:gd name="T3" fmla="*/ 167 h 413"/>
                <a:gd name="T4" fmla="*/ 91 w 210"/>
                <a:gd name="T5" fmla="*/ 207 h 413"/>
                <a:gd name="T6" fmla="*/ 0 w 210"/>
                <a:gd name="T7" fmla="*/ 245 h 413"/>
                <a:gd name="T8" fmla="*/ 0 w 210"/>
                <a:gd name="T9" fmla="*/ 412 h 413"/>
                <a:gd name="T10" fmla="*/ 284 w 210"/>
                <a:gd name="T11" fmla="*/ 286 h 413"/>
                <a:gd name="T12" fmla="*/ 284 w 210"/>
                <a:gd name="T13" fmla="*/ 127 h 413"/>
                <a:gd name="T14" fmla="*/ 0 w 210"/>
                <a:gd name="T15" fmla="*/ 0 h 413"/>
                <a:gd name="T16" fmla="*/ 0 w 210"/>
                <a:gd name="T17" fmla="*/ 0 h 41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10"/>
                <a:gd name="T28" fmla="*/ 0 h 413"/>
                <a:gd name="T29" fmla="*/ 210 w 210"/>
                <a:gd name="T30" fmla="*/ 413 h 413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10" h="413">
                  <a:moveTo>
                    <a:pt x="0" y="0"/>
                  </a:moveTo>
                  <a:lnTo>
                    <a:pt x="0" y="167"/>
                  </a:lnTo>
                  <a:lnTo>
                    <a:pt x="67" y="207"/>
                  </a:lnTo>
                  <a:lnTo>
                    <a:pt x="0" y="245"/>
                  </a:lnTo>
                  <a:lnTo>
                    <a:pt x="0" y="412"/>
                  </a:lnTo>
                  <a:lnTo>
                    <a:pt x="209" y="286"/>
                  </a:lnTo>
                  <a:lnTo>
                    <a:pt x="209" y="127"/>
                  </a:lnTo>
                  <a:lnTo>
                    <a:pt x="0" y="0"/>
                  </a:lnTo>
                </a:path>
              </a:pathLst>
            </a:custGeom>
            <a:solidFill>
              <a:schemeClr val="accent5">
                <a:lumMod val="60000"/>
                <a:lumOff val="4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eaLnBrk="0" hangingPunct="0"/>
              <a:endParaRPr lang="en-US" sz="2000" b="1">
                <a:latin typeface="Neo Sans Intel" pitchFamily="34" charset="0"/>
                <a:cs typeface="Arial" pitchFamily="34" charset="0"/>
              </a:endParaRPr>
            </a:p>
          </p:txBody>
        </p:sp>
        <p:sp>
          <p:nvSpPr>
            <p:cNvPr id="164" name="TextBox 163"/>
            <p:cNvSpPr txBox="1"/>
            <p:nvPr/>
          </p:nvSpPr>
          <p:spPr>
            <a:xfrm>
              <a:off x="6858085" y="3926238"/>
              <a:ext cx="465836" cy="2864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400" dirty="0" smtClean="0">
                  <a:latin typeface="Neo Sans Intel Medium" panose="020B0604020202020204" pitchFamily="34" charset="0"/>
                </a:rPr>
                <a:t>ALU</a:t>
              </a:r>
            </a:p>
          </p:txBody>
        </p:sp>
        <p:sp>
          <p:nvSpPr>
            <p:cNvPr id="165" name="TextBox 164"/>
            <p:cNvSpPr txBox="1"/>
            <p:nvPr/>
          </p:nvSpPr>
          <p:spPr>
            <a:xfrm>
              <a:off x="6728724" y="3319972"/>
              <a:ext cx="155484" cy="2319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500" dirty="0" smtClean="0">
                  <a:latin typeface="Neo Sans Intel" panose="020B0504020202020204" pitchFamily="34" charset="0"/>
                </a:rPr>
                <a:t> </a:t>
              </a:r>
            </a:p>
          </p:txBody>
        </p:sp>
        <p:sp>
          <p:nvSpPr>
            <p:cNvPr id="166" name="TextBox 165"/>
            <p:cNvSpPr txBox="1"/>
            <p:nvPr/>
          </p:nvSpPr>
          <p:spPr>
            <a:xfrm>
              <a:off x="6728724" y="4152246"/>
              <a:ext cx="155484" cy="2319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500" dirty="0" smtClean="0">
                  <a:latin typeface="Neo Sans Intel" panose="020B0504020202020204" pitchFamily="34" charset="0"/>
                </a:rPr>
                <a:t> </a:t>
              </a:r>
            </a:p>
          </p:txBody>
        </p:sp>
        <p:sp>
          <p:nvSpPr>
            <p:cNvPr id="168" name="TextBox 167"/>
            <p:cNvSpPr txBox="1"/>
            <p:nvPr/>
          </p:nvSpPr>
          <p:spPr>
            <a:xfrm>
              <a:off x="7360155" y="3870419"/>
              <a:ext cx="90572" cy="12275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endParaRPr lang="en-US" sz="600" dirty="0" smtClean="0">
                <a:latin typeface="Neo Sans Intel Medium" panose="020B0604020202020204" pitchFamily="34" charset="0"/>
              </a:endParaRPr>
            </a:p>
          </p:txBody>
        </p:sp>
      </p:grpSp>
      <p:cxnSp>
        <p:nvCxnSpPr>
          <p:cNvPr id="169" name="Elbow Connector 168"/>
          <p:cNvCxnSpPr>
            <a:stCxn id="200" idx="0"/>
            <a:endCxn id="157" idx="1"/>
          </p:cNvCxnSpPr>
          <p:nvPr/>
        </p:nvCxnSpPr>
        <p:spPr bwMode="auto">
          <a:xfrm flipH="1">
            <a:off x="2956654" y="3449801"/>
            <a:ext cx="5689587" cy="836432"/>
          </a:xfrm>
          <a:prstGeom prst="bentConnector5">
            <a:avLst>
              <a:gd name="adj1" fmla="val -4018"/>
              <a:gd name="adj2" fmla="val 178449"/>
              <a:gd name="adj3" fmla="val 104018"/>
            </a:avLst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  <a:effectLst/>
        </p:spPr>
      </p:cxnSp>
      <p:sp>
        <p:nvSpPr>
          <p:cNvPr id="170" name="Oval 169"/>
          <p:cNvSpPr/>
          <p:nvPr/>
        </p:nvSpPr>
        <p:spPr bwMode="auto">
          <a:xfrm>
            <a:off x="2193915" y="3164678"/>
            <a:ext cx="54511" cy="54511"/>
          </a:xfrm>
          <a:prstGeom prst="ellipse">
            <a:avLst/>
          </a:prstGeom>
          <a:solidFill>
            <a:schemeClr val="tx1"/>
          </a:solidFill>
          <a:ln w="31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b="1" smtClean="0">
              <a:latin typeface="Neo Sans Intel" pitchFamily="34" charset="0"/>
              <a:cs typeface="Arial" pitchFamily="34" charset="0"/>
            </a:endParaRPr>
          </a:p>
        </p:txBody>
      </p:sp>
      <p:cxnSp>
        <p:nvCxnSpPr>
          <p:cNvPr id="171" name="Straight Arrow Connector 170"/>
          <p:cNvCxnSpPr>
            <a:stCxn id="170" idx="6"/>
            <a:endCxn id="148" idx="1"/>
          </p:cNvCxnSpPr>
          <p:nvPr/>
        </p:nvCxnSpPr>
        <p:spPr bwMode="auto">
          <a:xfrm>
            <a:off x="2248426" y="3191934"/>
            <a:ext cx="711390" cy="0"/>
          </a:xfrm>
          <a:prstGeom prst="straightConnector1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  <a:effectLst/>
        </p:spPr>
      </p:cxnSp>
      <p:cxnSp>
        <p:nvCxnSpPr>
          <p:cNvPr id="172" name="Elbow Connector 171"/>
          <p:cNvCxnSpPr>
            <a:stCxn id="170" idx="4"/>
            <a:endCxn id="178" idx="2"/>
          </p:cNvCxnSpPr>
          <p:nvPr/>
        </p:nvCxnSpPr>
        <p:spPr bwMode="auto">
          <a:xfrm rot="16200000" flipH="1">
            <a:off x="2114723" y="3325637"/>
            <a:ext cx="332737" cy="119840"/>
          </a:xfrm>
          <a:prstGeom prst="bentConnector2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4" name="Elbow Connector 173"/>
          <p:cNvCxnSpPr>
            <a:stCxn id="170" idx="4"/>
            <a:endCxn id="145" idx="3"/>
          </p:cNvCxnSpPr>
          <p:nvPr/>
        </p:nvCxnSpPr>
        <p:spPr bwMode="auto">
          <a:xfrm rot="16200000" flipH="1">
            <a:off x="1951035" y="3489325"/>
            <a:ext cx="861230" cy="320958"/>
          </a:xfrm>
          <a:prstGeom prst="bentConnector2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  <a:effectLst/>
        </p:spPr>
      </p:cxnSp>
      <p:sp>
        <p:nvSpPr>
          <p:cNvPr id="176" name="TextBox 175"/>
          <p:cNvSpPr txBox="1"/>
          <p:nvPr/>
        </p:nvSpPr>
        <p:spPr>
          <a:xfrm>
            <a:off x="5298110" y="4056404"/>
            <a:ext cx="471605" cy="21544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800" dirty="0" err="1" smtClean="0">
                <a:solidFill>
                  <a:schemeClr val="accent1"/>
                </a:solidFill>
                <a:latin typeface="Neo Sans Intel" panose="020B0504020202020204" pitchFamily="34" charset="0"/>
              </a:rPr>
              <a:t>ALUop</a:t>
            </a:r>
            <a:endParaRPr lang="en-US" sz="800" dirty="0" smtClean="0">
              <a:solidFill>
                <a:schemeClr val="accent1"/>
              </a:solidFill>
              <a:latin typeface="Neo Sans Intel" panose="020B0504020202020204" pitchFamily="34" charset="0"/>
            </a:endParaRPr>
          </a:p>
        </p:txBody>
      </p:sp>
      <p:cxnSp>
        <p:nvCxnSpPr>
          <p:cNvPr id="177" name="Straight Connector 176"/>
          <p:cNvCxnSpPr>
            <a:endCxn id="176" idx="0"/>
          </p:cNvCxnSpPr>
          <p:nvPr/>
        </p:nvCxnSpPr>
        <p:spPr bwMode="auto">
          <a:xfrm>
            <a:off x="5533662" y="3868017"/>
            <a:ext cx="251" cy="188387"/>
          </a:xfrm>
          <a:prstGeom prst="line">
            <a:avLst/>
          </a:prstGeom>
          <a:solidFill>
            <a:schemeClr val="bg1"/>
          </a:solidFill>
          <a:ln w="63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78" name="Oval 177"/>
          <p:cNvSpPr/>
          <p:nvPr/>
        </p:nvSpPr>
        <p:spPr bwMode="auto">
          <a:xfrm>
            <a:off x="2341011" y="3524670"/>
            <a:ext cx="54511" cy="54511"/>
          </a:xfrm>
          <a:prstGeom prst="ellipse">
            <a:avLst/>
          </a:prstGeom>
          <a:solidFill>
            <a:schemeClr val="tx1"/>
          </a:solidFill>
          <a:ln w="31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b="1" smtClean="0">
              <a:latin typeface="Neo Sans Intel" pitchFamily="34" charset="0"/>
              <a:cs typeface="Arial" pitchFamily="34" charset="0"/>
            </a:endParaRPr>
          </a:p>
        </p:txBody>
      </p:sp>
      <p:cxnSp>
        <p:nvCxnSpPr>
          <p:cNvPr id="179" name="Elbow Connector 178"/>
          <p:cNvCxnSpPr>
            <a:stCxn id="178" idx="4"/>
            <a:endCxn id="144" idx="3"/>
          </p:cNvCxnSpPr>
          <p:nvPr/>
        </p:nvCxnSpPr>
        <p:spPr bwMode="auto">
          <a:xfrm rot="16200000" flipH="1">
            <a:off x="2333491" y="3613957"/>
            <a:ext cx="241509" cy="171956"/>
          </a:xfrm>
          <a:prstGeom prst="bentConnector2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  <a:effectLst/>
        </p:spPr>
      </p:cxnSp>
      <p:cxnSp>
        <p:nvCxnSpPr>
          <p:cNvPr id="180" name="Straight Arrow Connector 179"/>
          <p:cNvCxnSpPr>
            <a:stCxn id="143" idx="0"/>
            <a:endCxn id="156" idx="1"/>
          </p:cNvCxnSpPr>
          <p:nvPr/>
        </p:nvCxnSpPr>
        <p:spPr bwMode="auto">
          <a:xfrm flipV="1">
            <a:off x="2670176" y="3954229"/>
            <a:ext cx="286478" cy="1"/>
          </a:xfrm>
          <a:prstGeom prst="straightConnector1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  <a:effectLst/>
        </p:spPr>
      </p:cxnSp>
      <p:sp>
        <p:nvSpPr>
          <p:cNvPr id="182" name="Rounded Rectangle 181"/>
          <p:cNvSpPr/>
          <p:nvPr/>
        </p:nvSpPr>
        <p:spPr bwMode="auto">
          <a:xfrm>
            <a:off x="3202985" y="4589504"/>
            <a:ext cx="717323" cy="206006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1000" dirty="0" smtClean="0">
                <a:latin typeface="Neo Sans Intel Medium" panose="020B0604020202020204" pitchFamily="34" charset="0"/>
                <a:cs typeface="Arial" pitchFamily="34" charset="0"/>
              </a:rPr>
              <a:t>Sign </a:t>
            </a:r>
            <a:r>
              <a:rPr lang="en-US" sz="1000" dirty="0" err="1" smtClean="0">
                <a:latin typeface="Neo Sans Intel Medium" panose="020B0604020202020204" pitchFamily="34" charset="0"/>
                <a:cs typeface="Arial" pitchFamily="34" charset="0"/>
              </a:rPr>
              <a:t>ext</a:t>
            </a:r>
            <a:endParaRPr lang="en-US" sz="1000" dirty="0">
              <a:latin typeface="Neo Sans Intel Medium" panose="020B0604020202020204" pitchFamily="34" charset="0"/>
              <a:cs typeface="Arial" pitchFamily="34" charset="0"/>
            </a:endParaRPr>
          </a:p>
        </p:txBody>
      </p:sp>
      <p:cxnSp>
        <p:nvCxnSpPr>
          <p:cNvPr id="183" name="Elbow Connector 182"/>
          <p:cNvCxnSpPr>
            <a:stCxn id="170" idx="4"/>
            <a:endCxn id="182" idx="1"/>
          </p:cNvCxnSpPr>
          <p:nvPr/>
        </p:nvCxnSpPr>
        <p:spPr bwMode="auto">
          <a:xfrm rot="16200000" flipH="1">
            <a:off x="1975419" y="3464941"/>
            <a:ext cx="1473318" cy="981814"/>
          </a:xfrm>
          <a:prstGeom prst="bentConnector2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  <a:effectLst/>
        </p:spPr>
      </p:cxnSp>
      <p:grpSp>
        <p:nvGrpSpPr>
          <p:cNvPr id="184" name="Group 183"/>
          <p:cNvGrpSpPr/>
          <p:nvPr/>
        </p:nvGrpSpPr>
        <p:grpSpPr>
          <a:xfrm>
            <a:off x="4995062" y="3577625"/>
            <a:ext cx="135684" cy="484051"/>
            <a:chOff x="3390790" y="3616963"/>
            <a:chExt cx="180391" cy="643543"/>
          </a:xfrm>
        </p:grpSpPr>
        <p:sp>
          <p:nvSpPr>
            <p:cNvPr id="185" name="Trapezoid 184"/>
            <p:cNvSpPr/>
            <p:nvPr/>
          </p:nvSpPr>
          <p:spPr bwMode="auto">
            <a:xfrm rot="5400000">
              <a:off x="3159214" y="3848539"/>
              <a:ext cx="643543" cy="180391"/>
            </a:xfrm>
            <a:prstGeom prst="trapezoid">
              <a:avLst>
                <a:gd name="adj" fmla="val 53513"/>
              </a:avLst>
            </a:prstGeom>
            <a:solidFill>
              <a:schemeClr val="bg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Neo Sans Intel Medium" panose="020B0604020202020204" pitchFamily="34" charset="0"/>
              </a:endParaRPr>
            </a:p>
          </p:txBody>
        </p:sp>
        <p:sp>
          <p:nvSpPr>
            <p:cNvPr id="186" name="Rectangle 158"/>
            <p:cNvSpPr>
              <a:spLocks noChangeArrowheads="1"/>
            </p:cNvSpPr>
            <p:nvPr/>
          </p:nvSpPr>
          <p:spPr bwMode="auto">
            <a:xfrm flipH="1">
              <a:off x="3395877" y="3698344"/>
              <a:ext cx="108737" cy="143216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sz="700" b="1" dirty="0">
                  <a:solidFill>
                    <a:srgbClr val="000000"/>
                  </a:solidFill>
                  <a:latin typeface="Neo Sans Intel" panose="020B0504020202020204" pitchFamily="34" charset="0"/>
                </a:rPr>
                <a:t>0</a:t>
              </a:r>
              <a:endParaRPr lang="en-US" sz="700" dirty="0">
                <a:solidFill>
                  <a:srgbClr val="000000"/>
                </a:solidFill>
                <a:latin typeface="Neo Sans Intel" panose="020B0504020202020204" pitchFamily="34" charset="0"/>
              </a:endParaRPr>
            </a:p>
          </p:txBody>
        </p:sp>
        <p:sp>
          <p:nvSpPr>
            <p:cNvPr id="187" name="Rectangle 159"/>
            <p:cNvSpPr>
              <a:spLocks noChangeArrowheads="1"/>
            </p:cNvSpPr>
            <p:nvPr/>
          </p:nvSpPr>
          <p:spPr bwMode="auto">
            <a:xfrm flipH="1">
              <a:off x="3395879" y="4047844"/>
              <a:ext cx="85106" cy="107722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sz="700" b="1" dirty="0">
                  <a:solidFill>
                    <a:srgbClr val="000000"/>
                  </a:solidFill>
                  <a:latin typeface="Neo Sans Intel" panose="020B0504020202020204" pitchFamily="34" charset="0"/>
                </a:rPr>
                <a:t>1</a:t>
              </a:r>
            </a:p>
          </p:txBody>
        </p:sp>
      </p:grpSp>
      <p:cxnSp>
        <p:nvCxnSpPr>
          <p:cNvPr id="188" name="Straight Arrow Connector 187"/>
          <p:cNvCxnSpPr>
            <a:stCxn id="185" idx="0"/>
            <a:endCxn id="166" idx="1"/>
          </p:cNvCxnSpPr>
          <p:nvPr/>
        </p:nvCxnSpPr>
        <p:spPr bwMode="auto">
          <a:xfrm>
            <a:off x="5130746" y="3819650"/>
            <a:ext cx="123918" cy="1097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  <a:effectLst/>
        </p:spPr>
      </p:cxnSp>
      <p:cxnSp>
        <p:nvCxnSpPr>
          <p:cNvPr id="189" name="Elbow Connector 188"/>
          <p:cNvCxnSpPr>
            <a:stCxn id="182" idx="3"/>
            <a:endCxn id="210" idx="4"/>
          </p:cNvCxnSpPr>
          <p:nvPr/>
        </p:nvCxnSpPr>
        <p:spPr bwMode="auto">
          <a:xfrm flipV="1">
            <a:off x="3920308" y="3968876"/>
            <a:ext cx="951895" cy="723631"/>
          </a:xfrm>
          <a:prstGeom prst="bentConnector2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190" name="Group 189"/>
          <p:cNvGrpSpPr/>
          <p:nvPr/>
        </p:nvGrpSpPr>
        <p:grpSpPr>
          <a:xfrm>
            <a:off x="6877456" y="3139648"/>
            <a:ext cx="912843" cy="874408"/>
            <a:chOff x="3124738" y="3598050"/>
            <a:chExt cx="1447262" cy="1386326"/>
          </a:xfrm>
        </p:grpSpPr>
        <p:sp>
          <p:nvSpPr>
            <p:cNvPr id="191" name="Rectangle 190"/>
            <p:cNvSpPr/>
            <p:nvPr/>
          </p:nvSpPr>
          <p:spPr bwMode="auto">
            <a:xfrm>
              <a:off x="3126744" y="3598050"/>
              <a:ext cx="1445256" cy="138632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b="1" smtClean="0">
                <a:latin typeface="Neo Sans Intel" pitchFamily="34" charset="0"/>
                <a:cs typeface="Arial" pitchFamily="34" charset="0"/>
              </a:endParaRPr>
            </a:p>
          </p:txBody>
        </p:sp>
        <p:sp>
          <p:nvSpPr>
            <p:cNvPr id="192" name="TextBox 191"/>
            <p:cNvSpPr txBox="1"/>
            <p:nvPr/>
          </p:nvSpPr>
          <p:spPr>
            <a:xfrm>
              <a:off x="3124738" y="3682688"/>
              <a:ext cx="184731" cy="26161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endParaRPr lang="en-US" sz="1100" dirty="0" smtClean="0">
                <a:latin typeface="Neo Sans Intel" panose="020B0504020202020204" pitchFamily="34" charset="0"/>
              </a:endParaRPr>
            </a:p>
          </p:txBody>
        </p:sp>
        <p:sp>
          <p:nvSpPr>
            <p:cNvPr id="193" name="TextBox 192"/>
            <p:cNvSpPr txBox="1"/>
            <p:nvPr/>
          </p:nvSpPr>
          <p:spPr>
            <a:xfrm>
              <a:off x="4371874" y="3786748"/>
              <a:ext cx="200126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endParaRPr lang="en-US" sz="1100" dirty="0" smtClean="0">
                <a:latin typeface="Neo Sans Intel" panose="020B0504020202020204" pitchFamily="34" charset="0"/>
              </a:endParaRPr>
            </a:p>
          </p:txBody>
        </p:sp>
        <p:sp>
          <p:nvSpPr>
            <p:cNvPr id="194" name="TextBox 193"/>
            <p:cNvSpPr txBox="1"/>
            <p:nvPr/>
          </p:nvSpPr>
          <p:spPr>
            <a:xfrm>
              <a:off x="3466452" y="4040440"/>
              <a:ext cx="838692" cy="30777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 smtClean="0">
                  <a:latin typeface="Neo Sans Intel Medium" panose="020B0604020202020204" pitchFamily="34" charset="0"/>
                </a:rPr>
                <a:t>Memory</a:t>
              </a:r>
            </a:p>
          </p:txBody>
        </p:sp>
        <p:sp>
          <p:nvSpPr>
            <p:cNvPr id="195" name="TextBox 194"/>
            <p:cNvSpPr txBox="1"/>
            <p:nvPr/>
          </p:nvSpPr>
          <p:spPr>
            <a:xfrm>
              <a:off x="3126747" y="4149986"/>
              <a:ext cx="102130" cy="2616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endParaRPr lang="en-US" sz="1100" dirty="0" smtClean="0">
                <a:latin typeface="Neo Sans Intel" panose="020B0504020202020204" pitchFamily="34" charset="0"/>
              </a:endParaRPr>
            </a:p>
          </p:txBody>
        </p:sp>
        <p:sp>
          <p:nvSpPr>
            <p:cNvPr id="197" name="TextBox 196"/>
            <p:cNvSpPr txBox="1"/>
            <p:nvPr/>
          </p:nvSpPr>
          <p:spPr>
            <a:xfrm>
              <a:off x="3128165" y="4647076"/>
              <a:ext cx="184731" cy="26161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endParaRPr lang="en-US" sz="1100" dirty="0" smtClean="0">
                <a:latin typeface="Neo Sans Intel" panose="020B0504020202020204" pitchFamily="34" charset="0"/>
              </a:endParaRPr>
            </a:p>
          </p:txBody>
        </p:sp>
      </p:grpSp>
      <p:cxnSp>
        <p:nvCxnSpPr>
          <p:cNvPr id="198" name="Straight Arrow Connector 197"/>
          <p:cNvCxnSpPr>
            <a:stCxn id="193" idx="3"/>
            <a:endCxn id="201" idx="3"/>
          </p:cNvCxnSpPr>
          <p:nvPr/>
        </p:nvCxnSpPr>
        <p:spPr bwMode="auto">
          <a:xfrm flipV="1">
            <a:off x="7790299" y="3341004"/>
            <a:ext cx="724083" cy="167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  <a:effectLst/>
        </p:spPr>
      </p:cxnSp>
      <p:grpSp>
        <p:nvGrpSpPr>
          <p:cNvPr id="199" name="Group 198"/>
          <p:cNvGrpSpPr/>
          <p:nvPr/>
        </p:nvGrpSpPr>
        <p:grpSpPr>
          <a:xfrm>
            <a:off x="8510556" y="3207774"/>
            <a:ext cx="135684" cy="484051"/>
            <a:chOff x="3390790" y="3616963"/>
            <a:chExt cx="180391" cy="643543"/>
          </a:xfrm>
        </p:grpSpPr>
        <p:sp>
          <p:nvSpPr>
            <p:cNvPr id="200" name="Trapezoid 199"/>
            <p:cNvSpPr/>
            <p:nvPr/>
          </p:nvSpPr>
          <p:spPr bwMode="auto">
            <a:xfrm rot="5400000">
              <a:off x="3159214" y="3848539"/>
              <a:ext cx="643543" cy="180391"/>
            </a:xfrm>
            <a:prstGeom prst="trapezoid">
              <a:avLst>
                <a:gd name="adj" fmla="val 53513"/>
              </a:avLst>
            </a:prstGeom>
            <a:solidFill>
              <a:schemeClr val="bg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Neo Sans Intel Medium" panose="020B0604020202020204" pitchFamily="34" charset="0"/>
              </a:endParaRPr>
            </a:p>
          </p:txBody>
        </p:sp>
        <p:sp>
          <p:nvSpPr>
            <p:cNvPr id="201" name="Rectangle 158"/>
            <p:cNvSpPr>
              <a:spLocks noChangeArrowheads="1"/>
            </p:cNvSpPr>
            <p:nvPr/>
          </p:nvSpPr>
          <p:spPr bwMode="auto">
            <a:xfrm flipH="1">
              <a:off x="3395877" y="3722484"/>
              <a:ext cx="122543" cy="143216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sz="700" dirty="0" smtClean="0">
                  <a:solidFill>
                    <a:srgbClr val="000000"/>
                  </a:solidFill>
                  <a:latin typeface="Neo Sans Intel" panose="020B0504020202020204" pitchFamily="34" charset="0"/>
                </a:rPr>
                <a:t>1</a:t>
              </a:r>
              <a:endParaRPr lang="en-US" sz="700" dirty="0">
                <a:solidFill>
                  <a:srgbClr val="000000"/>
                </a:solidFill>
                <a:latin typeface="Neo Sans Intel" panose="020B0504020202020204" pitchFamily="34" charset="0"/>
              </a:endParaRPr>
            </a:p>
          </p:txBody>
        </p:sp>
        <p:sp>
          <p:nvSpPr>
            <p:cNvPr id="202" name="Rectangle 159"/>
            <p:cNvSpPr>
              <a:spLocks noChangeArrowheads="1"/>
            </p:cNvSpPr>
            <p:nvPr/>
          </p:nvSpPr>
          <p:spPr bwMode="auto">
            <a:xfrm flipH="1">
              <a:off x="3395879" y="4029231"/>
              <a:ext cx="122542" cy="143216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sz="700" b="1" dirty="0">
                  <a:solidFill>
                    <a:srgbClr val="000000"/>
                  </a:solidFill>
                  <a:latin typeface="Neo Sans Intel" panose="020B0504020202020204" pitchFamily="34" charset="0"/>
                </a:rPr>
                <a:t>0</a:t>
              </a:r>
            </a:p>
          </p:txBody>
        </p:sp>
      </p:grpSp>
      <p:cxnSp>
        <p:nvCxnSpPr>
          <p:cNvPr id="203" name="Straight Arrow Connector 202"/>
          <p:cNvCxnSpPr>
            <a:stCxn id="168" idx="3"/>
            <a:endCxn id="208" idx="2"/>
          </p:cNvCxnSpPr>
          <p:nvPr/>
        </p:nvCxnSpPr>
        <p:spPr bwMode="auto">
          <a:xfrm flipV="1">
            <a:off x="5797730" y="3567235"/>
            <a:ext cx="786476" cy="454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04" name="Oval 203"/>
          <p:cNvSpPr/>
          <p:nvPr/>
        </p:nvSpPr>
        <p:spPr bwMode="auto">
          <a:xfrm>
            <a:off x="4734232" y="3664698"/>
            <a:ext cx="54511" cy="54511"/>
          </a:xfrm>
          <a:prstGeom prst="ellipse">
            <a:avLst/>
          </a:prstGeom>
          <a:solidFill>
            <a:schemeClr val="tx1"/>
          </a:solidFill>
          <a:ln w="31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b="1" smtClean="0">
              <a:latin typeface="Neo Sans Intel" pitchFamily="34" charset="0"/>
              <a:cs typeface="Arial" pitchFamily="34" charset="0"/>
            </a:endParaRPr>
          </a:p>
        </p:txBody>
      </p:sp>
      <p:sp>
        <p:nvSpPr>
          <p:cNvPr id="205" name="TextBox 204"/>
          <p:cNvSpPr txBox="1"/>
          <p:nvPr/>
        </p:nvSpPr>
        <p:spPr>
          <a:xfrm>
            <a:off x="5584679" y="4444824"/>
            <a:ext cx="71861" cy="92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" dirty="0" smtClean="0">
                <a:latin typeface="Neo Sans Intel" panose="020B0504020202020204" pitchFamily="34" charset="0"/>
              </a:rPr>
              <a:t> </a:t>
            </a:r>
          </a:p>
        </p:txBody>
      </p:sp>
      <p:cxnSp>
        <p:nvCxnSpPr>
          <p:cNvPr id="206" name="Elbow Connector 205"/>
          <p:cNvCxnSpPr>
            <a:stCxn id="204" idx="4"/>
            <a:endCxn id="205" idx="1"/>
          </p:cNvCxnSpPr>
          <p:nvPr/>
        </p:nvCxnSpPr>
        <p:spPr bwMode="auto">
          <a:xfrm rot="16200000" flipH="1">
            <a:off x="4787126" y="3693570"/>
            <a:ext cx="771915" cy="823191"/>
          </a:xfrm>
          <a:prstGeom prst="bentConnector2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med" len="med"/>
          </a:ln>
          <a:effectLst/>
        </p:spPr>
      </p:cxnSp>
      <p:cxnSp>
        <p:nvCxnSpPr>
          <p:cNvPr id="207" name="Elbow Connector 206"/>
          <p:cNvCxnSpPr>
            <a:stCxn id="205" idx="1"/>
            <a:endCxn id="197" idx="1"/>
          </p:cNvCxnSpPr>
          <p:nvPr/>
        </p:nvCxnSpPr>
        <p:spPr bwMode="auto">
          <a:xfrm rot="10800000" flipH="1">
            <a:off x="5584678" y="3883812"/>
            <a:ext cx="1294939" cy="607312"/>
          </a:xfrm>
          <a:prstGeom prst="bentConnector3">
            <a:avLst>
              <a:gd name="adj1" fmla="val 25626"/>
            </a:avLst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  <a:effectLst/>
        </p:spPr>
      </p:cxnSp>
      <p:sp>
        <p:nvSpPr>
          <p:cNvPr id="208" name="Oval 207"/>
          <p:cNvSpPr/>
          <p:nvPr/>
        </p:nvSpPr>
        <p:spPr bwMode="auto">
          <a:xfrm>
            <a:off x="6584206" y="3539979"/>
            <a:ext cx="54511" cy="54511"/>
          </a:xfrm>
          <a:prstGeom prst="ellipse">
            <a:avLst/>
          </a:prstGeom>
          <a:solidFill>
            <a:schemeClr val="tx1"/>
          </a:solidFill>
          <a:ln w="31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b="1" smtClean="0">
              <a:latin typeface="Neo Sans Intel" pitchFamily="34" charset="0"/>
              <a:cs typeface="Arial" pitchFamily="34" charset="0"/>
            </a:endParaRPr>
          </a:p>
        </p:txBody>
      </p:sp>
      <p:cxnSp>
        <p:nvCxnSpPr>
          <p:cNvPr id="209" name="Elbow Connector 208"/>
          <p:cNvCxnSpPr>
            <a:stCxn id="208" idx="4"/>
            <a:endCxn id="202" idx="3"/>
          </p:cNvCxnSpPr>
          <p:nvPr/>
        </p:nvCxnSpPr>
        <p:spPr bwMode="auto">
          <a:xfrm rot="5400000" flipH="1" flipV="1">
            <a:off x="7551542" y="2631649"/>
            <a:ext cx="22761" cy="1902922"/>
          </a:xfrm>
          <a:prstGeom prst="bentConnector4">
            <a:avLst>
              <a:gd name="adj1" fmla="val -2946101"/>
              <a:gd name="adj2" fmla="val 89558"/>
            </a:avLst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  <a:effectLst/>
        </p:spPr>
      </p:cxnSp>
      <p:sp>
        <p:nvSpPr>
          <p:cNvPr id="210" name="Oval 209"/>
          <p:cNvSpPr/>
          <p:nvPr/>
        </p:nvSpPr>
        <p:spPr bwMode="auto">
          <a:xfrm>
            <a:off x="4844947" y="3914365"/>
            <a:ext cx="54511" cy="54511"/>
          </a:xfrm>
          <a:prstGeom prst="ellipse">
            <a:avLst/>
          </a:prstGeom>
          <a:solidFill>
            <a:schemeClr val="tx1"/>
          </a:solidFill>
          <a:ln w="31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en-US" sz="2000" b="1" smtClean="0">
              <a:latin typeface="Neo Sans Intel" pitchFamily="34" charset="0"/>
              <a:cs typeface="Arial" pitchFamily="34" charset="0"/>
            </a:endParaRPr>
          </a:p>
        </p:txBody>
      </p:sp>
      <p:cxnSp>
        <p:nvCxnSpPr>
          <p:cNvPr id="211" name="Straight Arrow Connector 210"/>
          <p:cNvCxnSpPr>
            <a:stCxn id="210" idx="6"/>
            <a:endCxn id="187" idx="3"/>
          </p:cNvCxnSpPr>
          <p:nvPr/>
        </p:nvCxnSpPr>
        <p:spPr bwMode="auto">
          <a:xfrm>
            <a:off x="4899458" y="3941621"/>
            <a:ext cx="99432" cy="611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  <a:effectLst/>
        </p:spPr>
      </p:cxnSp>
      <p:cxnSp>
        <p:nvCxnSpPr>
          <p:cNvPr id="212" name="Elbow Connector 211"/>
          <p:cNvCxnSpPr>
            <a:stCxn id="208" idx="0"/>
            <a:endCxn id="192" idx="1"/>
          </p:cNvCxnSpPr>
          <p:nvPr/>
        </p:nvCxnSpPr>
        <p:spPr bwMode="auto">
          <a:xfrm rot="5400000" flipH="1" flipV="1">
            <a:off x="6612238" y="3274761"/>
            <a:ext cx="264443" cy="265994"/>
          </a:xfrm>
          <a:prstGeom prst="bentConnector2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  <a:effectLst/>
        </p:spPr>
      </p:cxnSp>
      <p:sp>
        <p:nvSpPr>
          <p:cNvPr id="213" name="TextBox 212"/>
          <p:cNvSpPr txBox="1"/>
          <p:nvPr/>
        </p:nvSpPr>
        <p:spPr>
          <a:xfrm>
            <a:off x="4815348" y="4177186"/>
            <a:ext cx="500458" cy="21544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800" dirty="0" err="1" smtClean="0">
                <a:solidFill>
                  <a:schemeClr val="accent1"/>
                </a:solidFill>
                <a:latin typeface="Neo Sans Intel" panose="020B0504020202020204" pitchFamily="34" charset="0"/>
              </a:rPr>
              <a:t>ALUSrc</a:t>
            </a:r>
            <a:endParaRPr lang="en-US" sz="800" dirty="0" smtClean="0">
              <a:solidFill>
                <a:schemeClr val="accent1"/>
              </a:solidFill>
              <a:latin typeface="Neo Sans Intel" panose="020B0504020202020204" pitchFamily="34" charset="0"/>
            </a:endParaRPr>
          </a:p>
        </p:txBody>
      </p:sp>
      <p:cxnSp>
        <p:nvCxnSpPr>
          <p:cNvPr id="214" name="Straight Connector 213"/>
          <p:cNvCxnSpPr>
            <a:stCxn id="185" idx="3"/>
            <a:endCxn id="213" idx="0"/>
          </p:cNvCxnSpPr>
          <p:nvPr/>
        </p:nvCxnSpPr>
        <p:spPr bwMode="auto">
          <a:xfrm>
            <a:off x="5062905" y="4025374"/>
            <a:ext cx="2672" cy="151812"/>
          </a:xfrm>
          <a:prstGeom prst="line">
            <a:avLst/>
          </a:prstGeom>
          <a:solidFill>
            <a:schemeClr val="bg1"/>
          </a:solidFill>
          <a:ln w="63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15" name="TextBox 214"/>
          <p:cNvSpPr txBox="1"/>
          <p:nvPr/>
        </p:nvSpPr>
        <p:spPr>
          <a:xfrm>
            <a:off x="7020161" y="2788909"/>
            <a:ext cx="628697" cy="21544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800" dirty="0" err="1" smtClean="0">
                <a:solidFill>
                  <a:schemeClr val="accent1"/>
                </a:solidFill>
                <a:latin typeface="Neo Sans Intel" panose="020B0504020202020204" pitchFamily="34" charset="0"/>
              </a:rPr>
              <a:t>MemWrite</a:t>
            </a:r>
            <a:endParaRPr lang="en-US" sz="800" dirty="0" smtClean="0">
              <a:solidFill>
                <a:schemeClr val="accent1"/>
              </a:solidFill>
              <a:latin typeface="Neo Sans Intel" panose="020B0504020202020204" pitchFamily="34" charset="0"/>
            </a:endParaRPr>
          </a:p>
        </p:txBody>
      </p:sp>
      <p:cxnSp>
        <p:nvCxnSpPr>
          <p:cNvPr id="216" name="Straight Connector 215"/>
          <p:cNvCxnSpPr>
            <a:stCxn id="215" idx="2"/>
            <a:endCxn id="191" idx="0"/>
          </p:cNvCxnSpPr>
          <p:nvPr/>
        </p:nvCxnSpPr>
        <p:spPr bwMode="auto">
          <a:xfrm>
            <a:off x="7334510" y="3004353"/>
            <a:ext cx="0" cy="135295"/>
          </a:xfrm>
          <a:prstGeom prst="line">
            <a:avLst/>
          </a:prstGeom>
          <a:solidFill>
            <a:schemeClr val="bg1"/>
          </a:solidFill>
          <a:ln w="63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17" name="TextBox 216"/>
          <p:cNvSpPr txBox="1"/>
          <p:nvPr/>
        </p:nvSpPr>
        <p:spPr>
          <a:xfrm>
            <a:off x="2239331" y="4294642"/>
            <a:ext cx="502060" cy="215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 err="1" smtClean="0">
                <a:solidFill>
                  <a:schemeClr val="accent1"/>
                </a:solidFill>
                <a:latin typeface="Neo Sans Intel" panose="020B0504020202020204" pitchFamily="34" charset="0"/>
              </a:rPr>
              <a:t>RegDst</a:t>
            </a:r>
            <a:endParaRPr lang="en-US" sz="800" dirty="0" smtClean="0">
              <a:solidFill>
                <a:schemeClr val="accent1"/>
              </a:solidFill>
              <a:latin typeface="Neo Sans Intel" panose="020B0504020202020204" pitchFamily="34" charset="0"/>
            </a:endParaRPr>
          </a:p>
        </p:txBody>
      </p:sp>
      <p:cxnSp>
        <p:nvCxnSpPr>
          <p:cNvPr id="219" name="Straight Connector 218"/>
          <p:cNvCxnSpPr>
            <a:stCxn id="143" idx="3"/>
          </p:cNvCxnSpPr>
          <p:nvPr/>
        </p:nvCxnSpPr>
        <p:spPr bwMode="auto">
          <a:xfrm flipH="1">
            <a:off x="2600749" y="4159952"/>
            <a:ext cx="1586" cy="127502"/>
          </a:xfrm>
          <a:prstGeom prst="line">
            <a:avLst/>
          </a:prstGeom>
          <a:solidFill>
            <a:schemeClr val="bg1"/>
          </a:solidFill>
          <a:ln w="63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20" name="TextBox 219"/>
          <p:cNvSpPr txBox="1"/>
          <p:nvPr/>
        </p:nvSpPr>
        <p:spPr>
          <a:xfrm>
            <a:off x="8238612" y="2812385"/>
            <a:ext cx="676788" cy="21544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800" dirty="0" err="1" smtClean="0">
                <a:solidFill>
                  <a:schemeClr val="accent1"/>
                </a:solidFill>
                <a:latin typeface="Neo Sans Intel" panose="020B0504020202020204" pitchFamily="34" charset="0"/>
              </a:rPr>
              <a:t>MemToReg</a:t>
            </a:r>
            <a:endParaRPr lang="en-US" sz="800" dirty="0" smtClean="0">
              <a:solidFill>
                <a:schemeClr val="accent1"/>
              </a:solidFill>
              <a:latin typeface="Neo Sans Intel" panose="020B0504020202020204" pitchFamily="34" charset="0"/>
            </a:endParaRPr>
          </a:p>
        </p:txBody>
      </p:sp>
      <p:cxnSp>
        <p:nvCxnSpPr>
          <p:cNvPr id="221" name="Straight Connector 220"/>
          <p:cNvCxnSpPr>
            <a:stCxn id="220" idx="2"/>
            <a:endCxn id="200" idx="1"/>
          </p:cNvCxnSpPr>
          <p:nvPr/>
        </p:nvCxnSpPr>
        <p:spPr bwMode="auto">
          <a:xfrm>
            <a:off x="8577006" y="3027829"/>
            <a:ext cx="1393" cy="216250"/>
          </a:xfrm>
          <a:prstGeom prst="line">
            <a:avLst/>
          </a:prstGeom>
          <a:solidFill>
            <a:schemeClr val="bg1"/>
          </a:solidFill>
          <a:ln w="63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24" name="Straight Connector 223"/>
          <p:cNvCxnSpPr>
            <a:stCxn id="178" idx="6"/>
            <a:endCxn id="152" idx="1"/>
          </p:cNvCxnSpPr>
          <p:nvPr/>
        </p:nvCxnSpPr>
        <p:spPr bwMode="auto">
          <a:xfrm flipV="1">
            <a:off x="2395521" y="3548519"/>
            <a:ext cx="564294" cy="3402"/>
          </a:xfrm>
          <a:prstGeom prst="lin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  <a:effectLst/>
        </p:spPr>
      </p:cxnSp>
      <p:cxnSp>
        <p:nvCxnSpPr>
          <p:cNvPr id="225" name="Straight Connector 224"/>
          <p:cNvCxnSpPr>
            <a:stCxn id="204" idx="6"/>
            <a:endCxn id="186" idx="3"/>
          </p:cNvCxnSpPr>
          <p:nvPr/>
        </p:nvCxnSpPr>
        <p:spPr bwMode="auto">
          <a:xfrm>
            <a:off x="4788739" y="3692173"/>
            <a:ext cx="210145" cy="744"/>
          </a:xfrm>
          <a:prstGeom prst="line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  <a:effectLst/>
        </p:spPr>
      </p:cxnSp>
      <p:cxnSp>
        <p:nvCxnSpPr>
          <p:cNvPr id="226" name="Straight Connector 225"/>
          <p:cNvCxnSpPr>
            <a:stCxn id="155" idx="3"/>
            <a:endCxn id="204" idx="2"/>
          </p:cNvCxnSpPr>
          <p:nvPr/>
        </p:nvCxnSpPr>
        <p:spPr bwMode="auto">
          <a:xfrm flipV="1">
            <a:off x="4123363" y="3691954"/>
            <a:ext cx="610869" cy="363"/>
          </a:xfrm>
          <a:prstGeom prst="line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med" len="med"/>
          </a:ln>
          <a:effectLst/>
        </p:spPr>
      </p:cxnSp>
      <p:cxnSp>
        <p:nvCxnSpPr>
          <p:cNvPr id="227" name="Straight Connector 226"/>
          <p:cNvCxnSpPr>
            <a:stCxn id="208" idx="6"/>
            <a:endCxn id="195" idx="1"/>
          </p:cNvCxnSpPr>
          <p:nvPr/>
        </p:nvCxnSpPr>
        <p:spPr bwMode="auto">
          <a:xfrm>
            <a:off x="6638717" y="3567235"/>
            <a:ext cx="240006" cy="3044"/>
          </a:xfrm>
          <a:prstGeom prst="line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  <a:effectLst/>
        </p:spPr>
      </p:cxnSp>
      <p:grpSp>
        <p:nvGrpSpPr>
          <p:cNvPr id="229" name="Group 228"/>
          <p:cNvGrpSpPr/>
          <p:nvPr/>
        </p:nvGrpSpPr>
        <p:grpSpPr>
          <a:xfrm>
            <a:off x="634672" y="3043326"/>
            <a:ext cx="952882" cy="914028"/>
            <a:chOff x="3126744" y="3598050"/>
            <a:chExt cx="1445257" cy="1386326"/>
          </a:xfrm>
        </p:grpSpPr>
        <p:sp>
          <p:nvSpPr>
            <p:cNvPr id="230" name="Rectangle 229"/>
            <p:cNvSpPr/>
            <p:nvPr/>
          </p:nvSpPr>
          <p:spPr bwMode="auto">
            <a:xfrm>
              <a:off x="3126744" y="3598050"/>
              <a:ext cx="1445256" cy="138632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2000" b="1" smtClean="0">
                <a:latin typeface="Neo Sans Intel" pitchFamily="34" charset="0"/>
                <a:cs typeface="Arial" pitchFamily="34" charset="0"/>
              </a:endParaRPr>
            </a:p>
          </p:txBody>
        </p:sp>
        <p:sp>
          <p:nvSpPr>
            <p:cNvPr id="231" name="TextBox 230"/>
            <p:cNvSpPr txBox="1"/>
            <p:nvPr/>
          </p:nvSpPr>
          <p:spPr>
            <a:xfrm>
              <a:off x="3364669" y="3598108"/>
              <a:ext cx="18473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sz="1100" dirty="0" smtClean="0">
                <a:latin typeface="Neo Sans Intel" panose="020B0504020202020204" pitchFamily="34" charset="0"/>
              </a:endParaRPr>
            </a:p>
          </p:txBody>
        </p:sp>
        <p:sp>
          <p:nvSpPr>
            <p:cNvPr id="232" name="TextBox 231"/>
            <p:cNvSpPr txBox="1"/>
            <p:nvPr/>
          </p:nvSpPr>
          <p:spPr>
            <a:xfrm>
              <a:off x="4275615" y="3692678"/>
              <a:ext cx="29638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endParaRPr lang="en-US" sz="1100" dirty="0" smtClean="0">
                <a:latin typeface="Neo Sans Intel" panose="020B0504020202020204" pitchFamily="34" charset="0"/>
              </a:endParaRPr>
            </a:p>
          </p:txBody>
        </p:sp>
        <p:sp>
          <p:nvSpPr>
            <p:cNvPr id="233" name="TextBox 232"/>
            <p:cNvSpPr txBox="1"/>
            <p:nvPr/>
          </p:nvSpPr>
          <p:spPr>
            <a:xfrm>
              <a:off x="3445122" y="4025270"/>
              <a:ext cx="838693" cy="30777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 smtClean="0">
                  <a:latin typeface="Neo Sans Intel Medium" panose="020B0604020202020204" pitchFamily="34" charset="0"/>
                </a:rPr>
                <a:t>Memory</a:t>
              </a:r>
            </a:p>
          </p:txBody>
        </p:sp>
      </p:grpSp>
      <p:sp>
        <p:nvSpPr>
          <p:cNvPr id="234" name="TextBox 233"/>
          <p:cNvSpPr txBox="1"/>
          <p:nvPr/>
        </p:nvSpPr>
        <p:spPr>
          <a:xfrm>
            <a:off x="3246254" y="2689005"/>
            <a:ext cx="590226" cy="21544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800" dirty="0" err="1" smtClean="0">
                <a:solidFill>
                  <a:schemeClr val="accent1"/>
                </a:solidFill>
                <a:latin typeface="Neo Sans Intel" panose="020B0504020202020204" pitchFamily="34" charset="0"/>
              </a:rPr>
              <a:t>RegWrite</a:t>
            </a:r>
            <a:endParaRPr lang="en-US" sz="800" dirty="0" smtClean="0">
              <a:solidFill>
                <a:schemeClr val="accent1"/>
              </a:solidFill>
              <a:latin typeface="Neo Sans Intel" panose="020B0504020202020204" pitchFamily="34" charset="0"/>
            </a:endParaRPr>
          </a:p>
        </p:txBody>
      </p:sp>
      <p:grpSp>
        <p:nvGrpSpPr>
          <p:cNvPr id="135" name="Group 134"/>
          <p:cNvGrpSpPr/>
          <p:nvPr/>
        </p:nvGrpSpPr>
        <p:grpSpPr>
          <a:xfrm>
            <a:off x="1783770" y="2519798"/>
            <a:ext cx="208020" cy="3195202"/>
            <a:chOff x="1740012" y="3281856"/>
            <a:chExt cx="180287" cy="2367290"/>
          </a:xfrm>
        </p:grpSpPr>
        <p:sp>
          <p:nvSpPr>
            <p:cNvPr id="150" name="Rectangle 149"/>
            <p:cNvSpPr/>
            <p:nvPr/>
          </p:nvSpPr>
          <p:spPr bwMode="auto">
            <a:xfrm>
              <a:off x="1740012" y="3281856"/>
              <a:ext cx="180287" cy="236729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12700" cap="flat" cmpd="sng" algn="ctr">
              <a:solidFill>
                <a:srgbClr val="FF66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ru-RU" b="1">
                <a:latin typeface="Neo Sans Intel" pitchFamily="34" charset="0"/>
                <a:cs typeface="Arial" pitchFamily="34" charset="0"/>
              </a:endParaRPr>
            </a:p>
          </p:txBody>
        </p:sp>
        <p:sp>
          <p:nvSpPr>
            <p:cNvPr id="153" name="Isosceles Triangle 152"/>
            <p:cNvSpPr/>
            <p:nvPr/>
          </p:nvSpPr>
          <p:spPr bwMode="auto">
            <a:xfrm>
              <a:off x="1779958" y="5562600"/>
              <a:ext cx="100394" cy="86546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12700" cap="flat" cmpd="sng" algn="ctr">
              <a:solidFill>
                <a:srgbClr val="FF66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b="1">
                <a:latin typeface="Neo Sans Intel" pitchFamily="34" charset="0"/>
                <a:cs typeface="Arial" pitchFamily="34" charset="0"/>
              </a:endParaRPr>
            </a:p>
          </p:txBody>
        </p:sp>
      </p:grpSp>
      <p:grpSp>
        <p:nvGrpSpPr>
          <p:cNvPr id="154" name="Group 153"/>
          <p:cNvGrpSpPr/>
          <p:nvPr/>
        </p:nvGrpSpPr>
        <p:grpSpPr>
          <a:xfrm>
            <a:off x="4321175" y="2497004"/>
            <a:ext cx="208020" cy="3195202"/>
            <a:chOff x="1740012" y="3281856"/>
            <a:chExt cx="180287" cy="2367290"/>
          </a:xfrm>
        </p:grpSpPr>
        <p:sp>
          <p:nvSpPr>
            <p:cNvPr id="163" name="Rectangle 162"/>
            <p:cNvSpPr/>
            <p:nvPr/>
          </p:nvSpPr>
          <p:spPr bwMode="auto">
            <a:xfrm>
              <a:off x="1740012" y="3281856"/>
              <a:ext cx="180287" cy="236729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12700" cap="flat" cmpd="sng" algn="ctr">
              <a:solidFill>
                <a:srgbClr val="FF66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ru-RU" b="1">
                <a:latin typeface="Neo Sans Intel" pitchFamily="34" charset="0"/>
                <a:cs typeface="Arial" pitchFamily="34" charset="0"/>
              </a:endParaRPr>
            </a:p>
          </p:txBody>
        </p:sp>
        <p:sp>
          <p:nvSpPr>
            <p:cNvPr id="167" name="Isosceles Triangle 166"/>
            <p:cNvSpPr/>
            <p:nvPr/>
          </p:nvSpPr>
          <p:spPr bwMode="auto">
            <a:xfrm>
              <a:off x="1779958" y="5562600"/>
              <a:ext cx="100394" cy="86546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12700" cap="flat" cmpd="sng" algn="ctr">
              <a:solidFill>
                <a:srgbClr val="FF66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b="1">
                <a:latin typeface="Neo Sans Intel" pitchFamily="34" charset="0"/>
                <a:cs typeface="Arial" pitchFamily="34" charset="0"/>
              </a:endParaRPr>
            </a:p>
          </p:txBody>
        </p:sp>
      </p:grpSp>
      <p:grpSp>
        <p:nvGrpSpPr>
          <p:cNvPr id="173" name="Group 172"/>
          <p:cNvGrpSpPr/>
          <p:nvPr/>
        </p:nvGrpSpPr>
        <p:grpSpPr>
          <a:xfrm>
            <a:off x="6127358" y="2519798"/>
            <a:ext cx="208020" cy="3195202"/>
            <a:chOff x="1740012" y="3281856"/>
            <a:chExt cx="180287" cy="2367290"/>
          </a:xfrm>
        </p:grpSpPr>
        <p:sp>
          <p:nvSpPr>
            <p:cNvPr id="175" name="Rectangle 174"/>
            <p:cNvSpPr/>
            <p:nvPr/>
          </p:nvSpPr>
          <p:spPr bwMode="auto">
            <a:xfrm>
              <a:off x="1740012" y="3281856"/>
              <a:ext cx="180287" cy="236729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12700" cap="flat" cmpd="sng" algn="ctr">
              <a:solidFill>
                <a:srgbClr val="FF66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ru-RU" b="1">
                <a:latin typeface="Neo Sans Intel" pitchFamily="34" charset="0"/>
                <a:cs typeface="Arial" pitchFamily="34" charset="0"/>
              </a:endParaRPr>
            </a:p>
          </p:txBody>
        </p:sp>
        <p:sp>
          <p:nvSpPr>
            <p:cNvPr id="218" name="Isosceles Triangle 217"/>
            <p:cNvSpPr/>
            <p:nvPr/>
          </p:nvSpPr>
          <p:spPr bwMode="auto">
            <a:xfrm>
              <a:off x="1779958" y="5562600"/>
              <a:ext cx="100394" cy="86546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12700" cap="flat" cmpd="sng" algn="ctr">
              <a:solidFill>
                <a:srgbClr val="FF66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b="1">
                <a:latin typeface="Neo Sans Intel" pitchFamily="34" charset="0"/>
                <a:cs typeface="Arial" pitchFamily="34" charset="0"/>
              </a:endParaRPr>
            </a:p>
          </p:txBody>
        </p:sp>
      </p:grpSp>
      <p:grpSp>
        <p:nvGrpSpPr>
          <p:cNvPr id="236" name="Group 235"/>
          <p:cNvGrpSpPr/>
          <p:nvPr/>
        </p:nvGrpSpPr>
        <p:grpSpPr>
          <a:xfrm>
            <a:off x="7953000" y="2510064"/>
            <a:ext cx="208020" cy="3195202"/>
            <a:chOff x="1740012" y="3281856"/>
            <a:chExt cx="180287" cy="2367290"/>
          </a:xfrm>
        </p:grpSpPr>
        <p:sp>
          <p:nvSpPr>
            <p:cNvPr id="237" name="Rectangle 236"/>
            <p:cNvSpPr/>
            <p:nvPr/>
          </p:nvSpPr>
          <p:spPr bwMode="auto">
            <a:xfrm>
              <a:off x="1740012" y="3281856"/>
              <a:ext cx="180287" cy="236729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12700" cap="flat" cmpd="sng" algn="ctr">
              <a:solidFill>
                <a:srgbClr val="FF66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ru-RU" b="1">
                <a:latin typeface="Neo Sans Intel" pitchFamily="34" charset="0"/>
                <a:cs typeface="Arial" pitchFamily="34" charset="0"/>
              </a:endParaRPr>
            </a:p>
          </p:txBody>
        </p:sp>
        <p:sp>
          <p:nvSpPr>
            <p:cNvPr id="238" name="Isosceles Triangle 237"/>
            <p:cNvSpPr/>
            <p:nvPr/>
          </p:nvSpPr>
          <p:spPr bwMode="auto">
            <a:xfrm>
              <a:off x="1779958" y="5562600"/>
              <a:ext cx="100394" cy="86546"/>
            </a:xfrm>
            <a:prstGeom prst="triangl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12700" cap="flat" cmpd="sng" algn="ctr">
              <a:solidFill>
                <a:srgbClr val="FF6600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b="1">
                <a:latin typeface="Neo Sans Intel" pitchFamily="34" charset="0"/>
                <a:cs typeface="Arial" pitchFamily="34" charset="0"/>
              </a:endParaRP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244754" y="2510064"/>
            <a:ext cx="218446" cy="977711"/>
            <a:chOff x="244754" y="2510064"/>
            <a:chExt cx="218446" cy="977711"/>
          </a:xfrm>
        </p:grpSpPr>
        <p:grpSp>
          <p:nvGrpSpPr>
            <p:cNvPr id="239" name="Group 238"/>
            <p:cNvGrpSpPr/>
            <p:nvPr/>
          </p:nvGrpSpPr>
          <p:grpSpPr>
            <a:xfrm>
              <a:off x="251616" y="2510064"/>
              <a:ext cx="208020" cy="977711"/>
              <a:chOff x="1740012" y="3281856"/>
              <a:chExt cx="180287" cy="2367290"/>
            </a:xfrm>
          </p:grpSpPr>
          <p:sp>
            <p:nvSpPr>
              <p:cNvPr id="240" name="Rectangle 239"/>
              <p:cNvSpPr/>
              <p:nvPr/>
            </p:nvSpPr>
            <p:spPr bwMode="auto">
              <a:xfrm>
                <a:off x="1740012" y="3281856"/>
                <a:ext cx="180287" cy="2367290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 w="12700" cap="flat" cmpd="sng" algn="ctr">
                <a:solidFill>
                  <a:srgbClr val="FF6600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ru-RU" b="1">
                  <a:latin typeface="Neo Sans Intel" pitchFamily="34" charset="0"/>
                  <a:cs typeface="Arial" pitchFamily="34" charset="0"/>
                </a:endParaRPr>
              </a:p>
            </p:txBody>
          </p:sp>
          <p:sp>
            <p:nvSpPr>
              <p:cNvPr id="241" name="Isosceles Triangle 240"/>
              <p:cNvSpPr/>
              <p:nvPr/>
            </p:nvSpPr>
            <p:spPr bwMode="auto">
              <a:xfrm>
                <a:off x="1779958" y="5424187"/>
                <a:ext cx="100394" cy="224959"/>
              </a:xfrm>
              <a:prstGeom prst="triangle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 w="12700" cap="flat" cmpd="sng" algn="ctr">
                <a:solidFill>
                  <a:srgbClr val="FF6600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eaLnBrk="0" hangingPunct="0"/>
                <a:endParaRPr lang="en-US" b="1">
                  <a:latin typeface="Neo Sans Intel" pitchFamily="34" charset="0"/>
                  <a:cs typeface="Arial" pitchFamily="34" charset="0"/>
                </a:endParaRPr>
              </a:p>
            </p:txBody>
          </p:sp>
        </p:grpSp>
        <p:sp>
          <p:nvSpPr>
            <p:cNvPr id="242" name="TextBox 241"/>
            <p:cNvSpPr txBox="1"/>
            <p:nvPr/>
          </p:nvSpPr>
          <p:spPr>
            <a:xfrm>
              <a:off x="244754" y="2743200"/>
              <a:ext cx="218446" cy="1692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100" dirty="0" smtClean="0">
                  <a:latin typeface="Neo Sans Intel Medium" panose="020B0604020202020204" pitchFamily="34" charset="0"/>
                </a:rPr>
                <a:t>PC</a:t>
              </a:r>
            </a:p>
          </p:txBody>
        </p:sp>
      </p:grpSp>
      <p:sp>
        <p:nvSpPr>
          <p:cNvPr id="7" name="Rectangle 6"/>
          <p:cNvSpPr/>
          <p:nvPr/>
        </p:nvSpPr>
        <p:spPr bwMode="auto">
          <a:xfrm>
            <a:off x="609825" y="2123226"/>
            <a:ext cx="457200" cy="694239"/>
          </a:xfrm>
          <a:prstGeom prst="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ru-RU" sz="2000" b="1" smtClean="0">
              <a:latin typeface="Neo Sans Intel" pitchFamily="34" charset="0"/>
              <a:cs typeface="Arial" pitchFamily="34" charset="0"/>
            </a:endParaRPr>
          </a:p>
        </p:txBody>
      </p:sp>
      <p:cxnSp>
        <p:nvCxnSpPr>
          <p:cNvPr id="6" name="Elbow Connector 5"/>
          <p:cNvCxnSpPr>
            <a:stCxn id="242" idx="3"/>
            <a:endCxn id="231" idx="0"/>
          </p:cNvCxnSpPr>
          <p:nvPr/>
        </p:nvCxnSpPr>
        <p:spPr bwMode="auto">
          <a:xfrm>
            <a:off x="463200" y="2827839"/>
            <a:ext cx="389238" cy="215525"/>
          </a:xfrm>
          <a:prstGeom prst="bentConnector2">
            <a:avLst/>
          </a:prstGeom>
          <a:solidFill>
            <a:schemeClr val="bg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717484" y="1447800"/>
            <a:ext cx="694997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70000"/>
              </a:lnSpc>
            </a:pPr>
            <a:r>
              <a:rPr lang="en-US" dirty="0" smtClean="0">
                <a:latin typeface="+mj-lt"/>
              </a:rPr>
              <a:t>Fetch</a:t>
            </a:r>
          </a:p>
          <a:p>
            <a:pPr algn="ctr">
              <a:lnSpc>
                <a:spcPct val="70000"/>
              </a:lnSpc>
            </a:pPr>
            <a:r>
              <a:rPr lang="en-US" sz="1400" dirty="0" smtClean="0">
                <a:solidFill>
                  <a:schemeClr val="tx2"/>
                </a:solidFill>
                <a:latin typeface="+mj-lt"/>
              </a:rPr>
              <a:t>stage</a:t>
            </a:r>
            <a:br>
              <a:rPr lang="en-US" sz="1400" dirty="0" smtClean="0">
                <a:solidFill>
                  <a:schemeClr val="tx2"/>
                </a:solidFill>
                <a:latin typeface="+mj-lt"/>
              </a:rPr>
            </a:br>
            <a:r>
              <a:rPr lang="en-US" sz="1400" dirty="0" smtClean="0">
                <a:solidFill>
                  <a:schemeClr val="tx2"/>
                </a:solidFill>
                <a:latin typeface="+mj-lt"/>
              </a:rPr>
              <a:t/>
            </a:r>
            <a:br>
              <a:rPr lang="en-US" sz="1400" dirty="0" smtClean="0">
                <a:solidFill>
                  <a:schemeClr val="tx2"/>
                </a:solidFill>
                <a:latin typeface="+mj-lt"/>
              </a:rPr>
            </a:br>
            <a:r>
              <a:rPr lang="en-US" sz="1400" dirty="0" smtClean="0">
                <a:solidFill>
                  <a:schemeClr val="tx2"/>
                </a:solidFill>
                <a:latin typeface="+mj-lt"/>
              </a:rPr>
              <a:t>(IF, F)</a:t>
            </a:r>
            <a:endParaRPr lang="ru-RU" sz="1400" dirty="0" err="1" smtClean="0">
              <a:solidFill>
                <a:schemeClr val="tx2"/>
              </a:solidFill>
              <a:latin typeface="+mj-lt"/>
            </a:endParaRPr>
          </a:p>
        </p:txBody>
      </p:sp>
      <p:sp>
        <p:nvSpPr>
          <p:cNvPr id="244" name="TextBox 243"/>
          <p:cNvSpPr txBox="1"/>
          <p:nvPr/>
        </p:nvSpPr>
        <p:spPr>
          <a:xfrm>
            <a:off x="2721543" y="1447800"/>
            <a:ext cx="897682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70000"/>
              </a:lnSpc>
            </a:pPr>
            <a:r>
              <a:rPr lang="en-US" dirty="0" smtClean="0">
                <a:latin typeface="+mj-lt"/>
              </a:rPr>
              <a:t>Decode</a:t>
            </a:r>
          </a:p>
          <a:p>
            <a:pPr algn="ctr">
              <a:lnSpc>
                <a:spcPct val="70000"/>
              </a:lnSpc>
            </a:pPr>
            <a:r>
              <a:rPr lang="en-US" sz="1400" dirty="0" smtClean="0">
                <a:solidFill>
                  <a:schemeClr val="tx2"/>
                </a:solidFill>
                <a:latin typeface="+mj-lt"/>
              </a:rPr>
              <a:t>stage</a:t>
            </a:r>
            <a:br>
              <a:rPr lang="en-US" sz="1400" dirty="0" smtClean="0">
                <a:solidFill>
                  <a:schemeClr val="tx2"/>
                </a:solidFill>
                <a:latin typeface="+mj-lt"/>
              </a:rPr>
            </a:br>
            <a:r>
              <a:rPr lang="en-US" sz="1400" dirty="0" smtClean="0">
                <a:solidFill>
                  <a:schemeClr val="tx2"/>
                </a:solidFill>
                <a:latin typeface="+mj-lt"/>
              </a:rPr>
              <a:t/>
            </a:r>
            <a:br>
              <a:rPr lang="en-US" sz="1400" dirty="0" smtClean="0">
                <a:solidFill>
                  <a:schemeClr val="tx2"/>
                </a:solidFill>
                <a:latin typeface="+mj-lt"/>
              </a:rPr>
            </a:br>
            <a:r>
              <a:rPr lang="en-US" sz="1400" dirty="0" smtClean="0">
                <a:solidFill>
                  <a:schemeClr val="tx2"/>
                </a:solidFill>
                <a:latin typeface="+mj-lt"/>
              </a:rPr>
              <a:t>(ID, D)</a:t>
            </a:r>
            <a:endParaRPr lang="ru-RU" sz="1400" dirty="0" err="1" smtClean="0">
              <a:solidFill>
                <a:schemeClr val="tx2"/>
              </a:solidFill>
              <a:latin typeface="+mj-lt"/>
            </a:endParaRPr>
          </a:p>
        </p:txBody>
      </p:sp>
      <p:sp>
        <p:nvSpPr>
          <p:cNvPr id="245" name="TextBox 244"/>
          <p:cNvSpPr txBox="1"/>
          <p:nvPr/>
        </p:nvSpPr>
        <p:spPr>
          <a:xfrm>
            <a:off x="4886265" y="1447800"/>
            <a:ext cx="915058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70000"/>
              </a:lnSpc>
            </a:pPr>
            <a:r>
              <a:rPr lang="en-US" dirty="0" smtClean="0">
                <a:latin typeface="+mj-lt"/>
              </a:rPr>
              <a:t>Execute</a:t>
            </a:r>
          </a:p>
          <a:p>
            <a:pPr algn="ctr">
              <a:lnSpc>
                <a:spcPct val="70000"/>
              </a:lnSpc>
            </a:pPr>
            <a:r>
              <a:rPr lang="en-US" sz="1400" dirty="0" smtClean="0">
                <a:solidFill>
                  <a:schemeClr val="tx2"/>
                </a:solidFill>
                <a:latin typeface="+mj-lt"/>
              </a:rPr>
              <a:t>stage</a:t>
            </a:r>
            <a:br>
              <a:rPr lang="en-US" sz="1400" dirty="0" smtClean="0">
                <a:solidFill>
                  <a:schemeClr val="tx2"/>
                </a:solidFill>
                <a:latin typeface="+mj-lt"/>
              </a:rPr>
            </a:br>
            <a:r>
              <a:rPr lang="en-US" sz="1400" dirty="0" smtClean="0">
                <a:solidFill>
                  <a:schemeClr val="tx2"/>
                </a:solidFill>
                <a:latin typeface="+mj-lt"/>
              </a:rPr>
              <a:t/>
            </a:r>
            <a:br>
              <a:rPr lang="en-US" sz="1400" dirty="0" smtClean="0">
                <a:solidFill>
                  <a:schemeClr val="tx2"/>
                </a:solidFill>
                <a:latin typeface="+mj-lt"/>
              </a:rPr>
            </a:br>
            <a:r>
              <a:rPr lang="en-US" sz="1400" dirty="0" smtClean="0">
                <a:solidFill>
                  <a:schemeClr val="tx2"/>
                </a:solidFill>
                <a:latin typeface="+mj-lt"/>
              </a:rPr>
              <a:t>(EX, E)</a:t>
            </a:r>
            <a:endParaRPr lang="ru-RU" sz="1400" dirty="0" err="1" smtClean="0">
              <a:solidFill>
                <a:schemeClr val="tx2"/>
              </a:solidFill>
              <a:latin typeface="+mj-lt"/>
            </a:endParaRPr>
          </a:p>
        </p:txBody>
      </p:sp>
      <p:sp>
        <p:nvSpPr>
          <p:cNvPr id="246" name="TextBox 245"/>
          <p:cNvSpPr txBox="1"/>
          <p:nvPr/>
        </p:nvSpPr>
        <p:spPr>
          <a:xfrm>
            <a:off x="6716317" y="1447800"/>
            <a:ext cx="988925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70000"/>
              </a:lnSpc>
            </a:pPr>
            <a:r>
              <a:rPr lang="en-US" dirty="0" smtClean="0">
                <a:latin typeface="+mj-lt"/>
              </a:rPr>
              <a:t>Memory</a:t>
            </a:r>
          </a:p>
          <a:p>
            <a:pPr algn="ctr">
              <a:lnSpc>
                <a:spcPct val="70000"/>
              </a:lnSpc>
            </a:pPr>
            <a:r>
              <a:rPr lang="en-US" sz="1400" dirty="0" smtClean="0">
                <a:solidFill>
                  <a:schemeClr val="tx2"/>
                </a:solidFill>
                <a:latin typeface="+mj-lt"/>
              </a:rPr>
              <a:t>stage</a:t>
            </a:r>
            <a:br>
              <a:rPr lang="en-US" sz="1400" dirty="0" smtClean="0">
                <a:solidFill>
                  <a:schemeClr val="tx2"/>
                </a:solidFill>
                <a:latin typeface="+mj-lt"/>
              </a:rPr>
            </a:br>
            <a:r>
              <a:rPr lang="en-US" sz="1400" dirty="0" smtClean="0">
                <a:solidFill>
                  <a:schemeClr val="tx2"/>
                </a:solidFill>
                <a:latin typeface="+mj-lt"/>
              </a:rPr>
              <a:t/>
            </a:r>
            <a:br>
              <a:rPr lang="en-US" sz="1400" dirty="0" smtClean="0">
                <a:solidFill>
                  <a:schemeClr val="tx2"/>
                </a:solidFill>
                <a:latin typeface="+mj-lt"/>
              </a:rPr>
            </a:br>
            <a:r>
              <a:rPr lang="en-US" sz="1400" dirty="0" smtClean="0">
                <a:solidFill>
                  <a:schemeClr val="tx2"/>
                </a:solidFill>
                <a:latin typeface="+mj-lt"/>
              </a:rPr>
              <a:t>(MEM, M)</a:t>
            </a:r>
            <a:endParaRPr lang="ru-RU" sz="1400" dirty="0" err="1" smtClean="0">
              <a:solidFill>
                <a:schemeClr val="tx2"/>
              </a:solidFill>
              <a:latin typeface="+mj-lt"/>
            </a:endParaRPr>
          </a:p>
        </p:txBody>
      </p:sp>
      <p:sp>
        <p:nvSpPr>
          <p:cNvPr id="247" name="TextBox 246"/>
          <p:cNvSpPr txBox="1"/>
          <p:nvPr/>
        </p:nvSpPr>
        <p:spPr>
          <a:xfrm>
            <a:off x="8192914" y="1447800"/>
            <a:ext cx="794578" cy="9879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dirty="0" smtClean="0">
                <a:latin typeface="+mj-lt"/>
              </a:rPr>
              <a:t>Write</a:t>
            </a:r>
          </a:p>
          <a:p>
            <a:pPr algn="ctr">
              <a:lnSpc>
                <a:spcPct val="80000"/>
              </a:lnSpc>
            </a:pPr>
            <a:r>
              <a:rPr lang="en-US" dirty="0" smtClean="0">
                <a:latin typeface="+mj-lt"/>
              </a:rPr>
              <a:t>Back</a:t>
            </a:r>
          </a:p>
          <a:p>
            <a:pPr algn="ctr">
              <a:lnSpc>
                <a:spcPct val="70000"/>
              </a:lnSpc>
            </a:pPr>
            <a:r>
              <a:rPr lang="en-US" sz="1400" dirty="0" smtClean="0">
                <a:solidFill>
                  <a:schemeClr val="tx2"/>
                </a:solidFill>
                <a:latin typeface="+mj-lt"/>
              </a:rPr>
              <a:t>stage</a:t>
            </a:r>
            <a:br>
              <a:rPr lang="en-US" sz="1400" dirty="0" smtClean="0">
                <a:solidFill>
                  <a:schemeClr val="tx2"/>
                </a:solidFill>
                <a:latin typeface="+mj-lt"/>
              </a:rPr>
            </a:br>
            <a:r>
              <a:rPr lang="en-US" sz="1400" dirty="0" smtClean="0">
                <a:solidFill>
                  <a:schemeClr val="tx2"/>
                </a:solidFill>
                <a:latin typeface="+mj-lt"/>
              </a:rPr>
              <a:t/>
            </a:r>
            <a:br>
              <a:rPr lang="en-US" sz="1400" dirty="0" smtClean="0">
                <a:solidFill>
                  <a:schemeClr val="tx2"/>
                </a:solidFill>
                <a:latin typeface="+mj-lt"/>
              </a:rPr>
            </a:br>
            <a:r>
              <a:rPr lang="en-US" sz="1400" dirty="0" smtClean="0">
                <a:solidFill>
                  <a:schemeClr val="tx2"/>
                </a:solidFill>
                <a:latin typeface="+mj-lt"/>
              </a:rPr>
              <a:t>(WB, W)</a:t>
            </a:r>
            <a:endParaRPr lang="ru-RU" sz="1400" dirty="0" err="1" smtClean="0">
              <a:solidFill>
                <a:schemeClr val="tx2"/>
              </a:solidFill>
              <a:latin typeface="+mj-lt"/>
            </a:endParaRPr>
          </a:p>
        </p:txBody>
      </p:sp>
      <p:sp>
        <p:nvSpPr>
          <p:cNvPr id="9" name="Line Callout 1 (No Border) 8"/>
          <p:cNvSpPr/>
          <p:nvPr/>
        </p:nvSpPr>
        <p:spPr bwMode="auto">
          <a:xfrm>
            <a:off x="0" y="5959437"/>
            <a:ext cx="1269344" cy="276174"/>
          </a:xfrm>
          <a:prstGeom prst="callout1">
            <a:avLst>
              <a:gd name="adj1" fmla="val -1944"/>
              <a:gd name="adj2" fmla="val 28186"/>
              <a:gd name="adj3" fmla="val -860553"/>
              <a:gd name="adj4" fmla="val 28101"/>
            </a:avLst>
          </a:prstGeom>
          <a:noFill/>
          <a:ln w="6350" cap="flat" cmpd="sng" algn="ctr">
            <a:solidFill>
              <a:schemeClr val="tx2"/>
            </a:solidFill>
            <a:prstDash val="dash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r>
              <a:rPr lang="en-US" sz="1200" dirty="0" smtClean="0">
                <a:solidFill>
                  <a:schemeClr val="tx2"/>
                </a:solidFill>
                <a:latin typeface="Neo Sans Intel" pitchFamily="34" charset="0"/>
                <a:cs typeface="Arial" pitchFamily="34" charset="0"/>
              </a:rPr>
              <a:t>Fetch latch (F)</a:t>
            </a:r>
            <a:endParaRPr lang="ru-RU" sz="1200" dirty="0" smtClean="0">
              <a:solidFill>
                <a:schemeClr val="tx2"/>
              </a:solidFill>
              <a:latin typeface="Neo Sans Intel" pitchFamily="34" charset="0"/>
              <a:cs typeface="Arial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5122899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  <p:extLst mod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76200"/>
            <a:ext cx="7772400" cy="762000"/>
          </a:xfrm>
        </p:spPr>
        <p:txBody>
          <a:bodyPr/>
          <a:lstStyle/>
          <a:p>
            <a:r>
              <a:rPr lang="en-US" sz="3200" dirty="0" smtClean="0">
                <a:solidFill>
                  <a:srgbClr val="0070C0"/>
                </a:solidFill>
              </a:rPr>
              <a:t>Pipelined CPU with Control</a:t>
            </a:r>
          </a:p>
        </p:txBody>
      </p:sp>
      <p:grpSp>
        <p:nvGrpSpPr>
          <p:cNvPr id="174" name="Group 276"/>
          <p:cNvGrpSpPr>
            <a:grpSpLocks/>
          </p:cNvGrpSpPr>
          <p:nvPr/>
        </p:nvGrpSpPr>
        <p:grpSpPr bwMode="auto">
          <a:xfrm>
            <a:off x="590550" y="838200"/>
            <a:ext cx="6953250" cy="609600"/>
            <a:chOff x="372" y="624"/>
            <a:chExt cx="4380" cy="672"/>
          </a:xfrm>
        </p:grpSpPr>
        <p:sp>
          <p:nvSpPr>
            <p:cNvPr id="186" name="Line 264"/>
            <p:cNvSpPr>
              <a:spLocks noChangeShapeType="1"/>
            </p:cNvSpPr>
            <p:nvPr/>
          </p:nvSpPr>
          <p:spPr bwMode="auto">
            <a:xfrm flipV="1">
              <a:off x="372" y="624"/>
              <a:ext cx="0" cy="67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 type="none" w="sm" len="sm"/>
              <a:tailEnd type="none" w="lg" len="med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87" name="Line 265"/>
            <p:cNvSpPr>
              <a:spLocks noChangeShapeType="1"/>
            </p:cNvSpPr>
            <p:nvPr/>
          </p:nvSpPr>
          <p:spPr bwMode="auto">
            <a:xfrm flipV="1">
              <a:off x="1392" y="624"/>
              <a:ext cx="0" cy="67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 type="none" w="sm" len="sm"/>
              <a:tailEnd type="none" w="lg" len="med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88" name="Line 266"/>
            <p:cNvSpPr>
              <a:spLocks noChangeShapeType="1"/>
            </p:cNvSpPr>
            <p:nvPr/>
          </p:nvSpPr>
          <p:spPr bwMode="auto">
            <a:xfrm flipV="1">
              <a:off x="2496" y="624"/>
              <a:ext cx="0" cy="67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 type="none" w="sm" len="sm"/>
              <a:tailEnd type="none" w="lg" len="med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89" name="Line 267"/>
            <p:cNvSpPr>
              <a:spLocks noChangeShapeType="1"/>
            </p:cNvSpPr>
            <p:nvPr/>
          </p:nvSpPr>
          <p:spPr bwMode="auto">
            <a:xfrm flipV="1">
              <a:off x="3600" y="624"/>
              <a:ext cx="0" cy="67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 type="none" w="sm" len="sm"/>
              <a:tailEnd type="none" w="lg" len="med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90" name="Line 268"/>
            <p:cNvSpPr>
              <a:spLocks noChangeShapeType="1"/>
            </p:cNvSpPr>
            <p:nvPr/>
          </p:nvSpPr>
          <p:spPr bwMode="auto">
            <a:xfrm flipV="1">
              <a:off x="4752" y="624"/>
              <a:ext cx="0" cy="67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 type="none" w="sm" len="sm"/>
              <a:tailEnd type="none" w="lg" len="med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</p:grpSp>
      <p:sp>
        <p:nvSpPr>
          <p:cNvPr id="175" name="Text Box 269"/>
          <p:cNvSpPr txBox="1">
            <a:spLocks noChangeArrowheads="1"/>
          </p:cNvSpPr>
          <p:nvPr/>
        </p:nvSpPr>
        <p:spPr bwMode="auto">
          <a:xfrm>
            <a:off x="2446410" y="685800"/>
            <a:ext cx="1304780" cy="83099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lg" len="med"/>
          </a:ln>
        </p:spPr>
        <p:txBody>
          <a:bodyPr wrap="none">
            <a:spAutoFit/>
          </a:bodyPr>
          <a:lstStyle/>
          <a:p>
            <a:pPr algn="ctr"/>
            <a:r>
              <a:rPr lang="en-US" sz="1600" dirty="0">
                <a:latin typeface="+mj-lt"/>
              </a:rPr>
              <a:t>Instruction </a:t>
            </a:r>
          </a:p>
          <a:p>
            <a:pPr algn="ctr"/>
            <a:r>
              <a:rPr lang="en-US" sz="1600" dirty="0">
                <a:latin typeface="+mj-lt"/>
              </a:rPr>
              <a:t>Decode /</a:t>
            </a:r>
          </a:p>
          <a:p>
            <a:pPr algn="ctr"/>
            <a:r>
              <a:rPr lang="en-US" sz="1600" dirty="0">
                <a:latin typeface="+mj-lt"/>
              </a:rPr>
              <a:t>register fetch</a:t>
            </a:r>
          </a:p>
        </p:txBody>
      </p:sp>
      <p:sp>
        <p:nvSpPr>
          <p:cNvPr id="176" name="Text Box 270"/>
          <p:cNvSpPr txBox="1">
            <a:spLocks noChangeArrowheads="1"/>
          </p:cNvSpPr>
          <p:nvPr/>
        </p:nvSpPr>
        <p:spPr bwMode="auto">
          <a:xfrm>
            <a:off x="831994" y="735013"/>
            <a:ext cx="1158587" cy="5847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lg" len="med"/>
          </a:ln>
        </p:spPr>
        <p:txBody>
          <a:bodyPr wrap="none">
            <a:spAutoFit/>
          </a:bodyPr>
          <a:lstStyle/>
          <a:p>
            <a:pPr algn="ctr"/>
            <a:r>
              <a:rPr lang="en-US" sz="1600" dirty="0">
                <a:latin typeface="+mj-lt"/>
              </a:rPr>
              <a:t>Instruction </a:t>
            </a:r>
          </a:p>
          <a:p>
            <a:pPr algn="ctr"/>
            <a:r>
              <a:rPr lang="en-US" sz="1600" dirty="0">
                <a:latin typeface="+mj-lt"/>
              </a:rPr>
              <a:t>fetch</a:t>
            </a:r>
          </a:p>
        </p:txBody>
      </p:sp>
      <p:sp>
        <p:nvSpPr>
          <p:cNvPr id="177" name="Text Box 271"/>
          <p:cNvSpPr txBox="1">
            <a:spLocks noChangeArrowheads="1"/>
          </p:cNvSpPr>
          <p:nvPr/>
        </p:nvSpPr>
        <p:spPr bwMode="auto">
          <a:xfrm>
            <a:off x="4309277" y="685800"/>
            <a:ext cx="1108060" cy="83099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lg" len="med"/>
          </a:ln>
        </p:spPr>
        <p:txBody>
          <a:bodyPr wrap="none">
            <a:spAutoFit/>
          </a:bodyPr>
          <a:lstStyle/>
          <a:p>
            <a:pPr algn="ctr"/>
            <a:r>
              <a:rPr lang="en-US" sz="1600">
                <a:latin typeface="+mj-lt"/>
              </a:rPr>
              <a:t>Execute /</a:t>
            </a:r>
          </a:p>
          <a:p>
            <a:pPr algn="ctr"/>
            <a:r>
              <a:rPr lang="en-US" sz="1600">
                <a:latin typeface="+mj-lt"/>
              </a:rPr>
              <a:t>address </a:t>
            </a:r>
          </a:p>
          <a:p>
            <a:pPr algn="ctr"/>
            <a:r>
              <a:rPr lang="en-US" sz="1600">
                <a:latin typeface="+mj-lt"/>
              </a:rPr>
              <a:t>calculation</a:t>
            </a:r>
          </a:p>
        </p:txBody>
      </p:sp>
      <p:sp>
        <p:nvSpPr>
          <p:cNvPr id="178" name="Text Box 272"/>
          <p:cNvSpPr txBox="1">
            <a:spLocks noChangeArrowheads="1"/>
          </p:cNvSpPr>
          <p:nvPr/>
        </p:nvSpPr>
        <p:spPr bwMode="auto">
          <a:xfrm>
            <a:off x="6043340" y="735013"/>
            <a:ext cx="916533" cy="5847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lg" len="med"/>
          </a:ln>
        </p:spPr>
        <p:txBody>
          <a:bodyPr wrap="none">
            <a:spAutoFit/>
          </a:bodyPr>
          <a:lstStyle/>
          <a:p>
            <a:pPr algn="ctr"/>
            <a:r>
              <a:rPr lang="en-US" sz="1600">
                <a:latin typeface="+mj-lt"/>
              </a:rPr>
              <a:t>Memory</a:t>
            </a:r>
          </a:p>
          <a:p>
            <a:pPr algn="ctr"/>
            <a:r>
              <a:rPr lang="en-US" sz="1600">
                <a:latin typeface="+mj-lt"/>
              </a:rPr>
              <a:t>access</a:t>
            </a:r>
          </a:p>
        </p:txBody>
      </p:sp>
      <p:sp>
        <p:nvSpPr>
          <p:cNvPr id="179" name="Text Box 273"/>
          <p:cNvSpPr txBox="1">
            <a:spLocks noChangeArrowheads="1"/>
          </p:cNvSpPr>
          <p:nvPr/>
        </p:nvSpPr>
        <p:spPr bwMode="auto">
          <a:xfrm>
            <a:off x="7705618" y="739775"/>
            <a:ext cx="659027" cy="5847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lg" len="med"/>
          </a:ln>
        </p:spPr>
        <p:txBody>
          <a:bodyPr wrap="none">
            <a:spAutoFit/>
          </a:bodyPr>
          <a:lstStyle/>
          <a:p>
            <a:pPr algn="ctr"/>
            <a:r>
              <a:rPr lang="en-US" sz="1600" dirty="0">
                <a:latin typeface="+mj-lt"/>
              </a:rPr>
              <a:t>Write</a:t>
            </a:r>
          </a:p>
          <a:p>
            <a:pPr algn="ctr"/>
            <a:r>
              <a:rPr lang="en-US" sz="1600" dirty="0">
                <a:latin typeface="+mj-lt"/>
              </a:rPr>
              <a:t>back</a:t>
            </a:r>
          </a:p>
        </p:txBody>
      </p:sp>
      <p:grpSp>
        <p:nvGrpSpPr>
          <p:cNvPr id="244" name="Группа 243"/>
          <p:cNvGrpSpPr/>
          <p:nvPr/>
        </p:nvGrpSpPr>
        <p:grpSpPr>
          <a:xfrm>
            <a:off x="571499" y="1511300"/>
            <a:ext cx="7810501" cy="4824413"/>
            <a:chOff x="571500" y="1753394"/>
            <a:chExt cx="7734300" cy="4582319"/>
          </a:xfrm>
        </p:grpSpPr>
        <p:sp>
          <p:nvSpPr>
            <p:cNvPr id="6" name="Rectangle 136"/>
            <p:cNvSpPr>
              <a:spLocks noChangeArrowheads="1"/>
            </p:cNvSpPr>
            <p:nvPr/>
          </p:nvSpPr>
          <p:spPr bwMode="auto">
            <a:xfrm>
              <a:off x="1143000" y="3911600"/>
              <a:ext cx="900113" cy="923925"/>
            </a:xfrm>
            <a:prstGeom prst="rect">
              <a:avLst/>
            </a:prstGeom>
            <a:solidFill>
              <a:srgbClr val="FFFFCC"/>
            </a:solidFill>
            <a:ln w="19050" algn="ctr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7" name="Line 13"/>
            <p:cNvSpPr>
              <a:spLocks noChangeShapeType="1"/>
            </p:cNvSpPr>
            <p:nvPr/>
          </p:nvSpPr>
          <p:spPr bwMode="auto">
            <a:xfrm>
              <a:off x="933450" y="4027488"/>
              <a:ext cx="215900" cy="317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8" name="Line 14"/>
            <p:cNvSpPr>
              <a:spLocks noChangeShapeType="1"/>
            </p:cNvSpPr>
            <p:nvPr/>
          </p:nvSpPr>
          <p:spPr bwMode="auto">
            <a:xfrm flipH="1" flipV="1">
              <a:off x="3157538" y="5113338"/>
              <a:ext cx="53975" cy="9048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9" name="Rectangle 15"/>
            <p:cNvSpPr>
              <a:spLocks noChangeArrowheads="1"/>
            </p:cNvSpPr>
            <p:nvPr/>
          </p:nvSpPr>
          <p:spPr bwMode="auto">
            <a:xfrm>
              <a:off x="3030515" y="5237163"/>
              <a:ext cx="184197" cy="2637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algn="ctr"/>
              <a:endParaRPr lang="en-US" sz="600">
                <a:solidFill>
                  <a:srgbClr val="000000"/>
                </a:solidFill>
                <a:latin typeface="+mj-lt"/>
              </a:endParaRPr>
            </a:p>
            <a:p>
              <a:pPr algn="ctr"/>
              <a:endParaRPr lang="en-US" sz="6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10" name="Line 16"/>
            <p:cNvSpPr>
              <a:spLocks noChangeShapeType="1"/>
            </p:cNvSpPr>
            <p:nvPr/>
          </p:nvSpPr>
          <p:spPr bwMode="auto">
            <a:xfrm flipH="1" flipV="1">
              <a:off x="3711575" y="5113338"/>
              <a:ext cx="50800" cy="9048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1" name="Freeform 17"/>
            <p:cNvSpPr>
              <a:spLocks/>
            </p:cNvSpPr>
            <p:nvPr/>
          </p:nvSpPr>
          <p:spPr bwMode="auto">
            <a:xfrm>
              <a:off x="2873375" y="3768725"/>
              <a:ext cx="823913" cy="971550"/>
            </a:xfrm>
            <a:custGeom>
              <a:avLst/>
              <a:gdLst>
                <a:gd name="T0" fmla="*/ 518 w 519"/>
                <a:gd name="T1" fmla="*/ 611 h 541"/>
                <a:gd name="T2" fmla="*/ 518 w 519"/>
                <a:gd name="T3" fmla="*/ 0 h 541"/>
                <a:gd name="T4" fmla="*/ 0 w 519"/>
                <a:gd name="T5" fmla="*/ 0 h 541"/>
                <a:gd name="T6" fmla="*/ 0 w 519"/>
                <a:gd name="T7" fmla="*/ 611 h 541"/>
                <a:gd name="T8" fmla="*/ 518 w 519"/>
                <a:gd name="T9" fmla="*/ 611 h 541"/>
                <a:gd name="T10" fmla="*/ 518 w 519"/>
                <a:gd name="T11" fmla="*/ 611 h 5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19"/>
                <a:gd name="T19" fmla="*/ 0 h 541"/>
                <a:gd name="T20" fmla="*/ 519 w 519"/>
                <a:gd name="T21" fmla="*/ 541 h 54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19" h="541">
                  <a:moveTo>
                    <a:pt x="518" y="540"/>
                  </a:moveTo>
                  <a:lnTo>
                    <a:pt x="518" y="0"/>
                  </a:lnTo>
                  <a:lnTo>
                    <a:pt x="0" y="0"/>
                  </a:lnTo>
                  <a:lnTo>
                    <a:pt x="0" y="540"/>
                  </a:lnTo>
                  <a:lnTo>
                    <a:pt x="518" y="540"/>
                  </a:lnTo>
                </a:path>
              </a:pathLst>
            </a:custGeom>
            <a:solidFill>
              <a:srgbClr val="CCFFFF"/>
            </a:solidFill>
            <a:ln w="190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2" name="Rectangle 18"/>
            <p:cNvSpPr>
              <a:spLocks noChangeArrowheads="1"/>
            </p:cNvSpPr>
            <p:nvPr/>
          </p:nvSpPr>
          <p:spPr bwMode="auto">
            <a:xfrm>
              <a:off x="2982890" y="3835400"/>
              <a:ext cx="184197" cy="2637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algn="ctr"/>
              <a:endParaRPr lang="en-US" sz="600">
                <a:solidFill>
                  <a:srgbClr val="000000"/>
                </a:solidFill>
                <a:latin typeface="+mj-lt"/>
              </a:endParaRPr>
            </a:p>
            <a:p>
              <a:pPr algn="ctr"/>
              <a:endParaRPr lang="en-US" sz="6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13" name="Line 19"/>
            <p:cNvSpPr>
              <a:spLocks noChangeShapeType="1"/>
            </p:cNvSpPr>
            <p:nvPr/>
          </p:nvSpPr>
          <p:spPr bwMode="auto">
            <a:xfrm>
              <a:off x="2630488" y="5157788"/>
              <a:ext cx="688975" cy="158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4" name="Line 20"/>
            <p:cNvSpPr>
              <a:spLocks noChangeShapeType="1"/>
            </p:cNvSpPr>
            <p:nvPr/>
          </p:nvSpPr>
          <p:spPr bwMode="auto">
            <a:xfrm flipV="1">
              <a:off x="3654425" y="5157788"/>
              <a:ext cx="207963" cy="476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5" name="Freeform 21"/>
            <p:cNvSpPr>
              <a:spLocks/>
            </p:cNvSpPr>
            <p:nvPr/>
          </p:nvSpPr>
          <p:spPr bwMode="auto">
            <a:xfrm>
              <a:off x="2582863" y="4284663"/>
              <a:ext cx="38100" cy="38100"/>
            </a:xfrm>
            <a:custGeom>
              <a:avLst/>
              <a:gdLst>
                <a:gd name="T0" fmla="*/ 10 w 24"/>
                <a:gd name="T1" fmla="*/ 23 h 24"/>
                <a:gd name="T2" fmla="*/ 14 w 24"/>
                <a:gd name="T3" fmla="*/ 23 h 24"/>
                <a:gd name="T4" fmla="*/ 16 w 24"/>
                <a:gd name="T5" fmla="*/ 23 h 24"/>
                <a:gd name="T6" fmla="*/ 18 w 24"/>
                <a:gd name="T7" fmla="*/ 21 h 24"/>
                <a:gd name="T8" fmla="*/ 18 w 24"/>
                <a:gd name="T9" fmla="*/ 21 h 24"/>
                <a:gd name="T10" fmla="*/ 20 w 24"/>
                <a:gd name="T11" fmla="*/ 19 h 24"/>
                <a:gd name="T12" fmla="*/ 22 w 24"/>
                <a:gd name="T13" fmla="*/ 19 h 24"/>
                <a:gd name="T14" fmla="*/ 22 w 24"/>
                <a:gd name="T15" fmla="*/ 17 h 24"/>
                <a:gd name="T16" fmla="*/ 23 w 24"/>
                <a:gd name="T17" fmla="*/ 15 h 24"/>
                <a:gd name="T18" fmla="*/ 23 w 24"/>
                <a:gd name="T19" fmla="*/ 13 h 24"/>
                <a:gd name="T20" fmla="*/ 23 w 24"/>
                <a:gd name="T21" fmla="*/ 11 h 24"/>
                <a:gd name="T22" fmla="*/ 23 w 24"/>
                <a:gd name="T23" fmla="*/ 9 h 24"/>
                <a:gd name="T24" fmla="*/ 23 w 24"/>
                <a:gd name="T25" fmla="*/ 7 h 24"/>
                <a:gd name="T26" fmla="*/ 22 w 24"/>
                <a:gd name="T27" fmla="*/ 5 h 24"/>
                <a:gd name="T28" fmla="*/ 22 w 24"/>
                <a:gd name="T29" fmla="*/ 5 h 24"/>
                <a:gd name="T30" fmla="*/ 20 w 24"/>
                <a:gd name="T31" fmla="*/ 4 h 24"/>
                <a:gd name="T32" fmla="*/ 18 w 24"/>
                <a:gd name="T33" fmla="*/ 2 h 24"/>
                <a:gd name="T34" fmla="*/ 18 w 24"/>
                <a:gd name="T35" fmla="*/ 2 h 24"/>
                <a:gd name="T36" fmla="*/ 16 w 24"/>
                <a:gd name="T37" fmla="*/ 0 h 24"/>
                <a:gd name="T38" fmla="*/ 14 w 24"/>
                <a:gd name="T39" fmla="*/ 0 h 24"/>
                <a:gd name="T40" fmla="*/ 12 w 24"/>
                <a:gd name="T41" fmla="*/ 0 h 24"/>
                <a:gd name="T42" fmla="*/ 10 w 24"/>
                <a:gd name="T43" fmla="*/ 0 h 24"/>
                <a:gd name="T44" fmla="*/ 8 w 24"/>
                <a:gd name="T45" fmla="*/ 0 h 24"/>
                <a:gd name="T46" fmla="*/ 6 w 24"/>
                <a:gd name="T47" fmla="*/ 2 h 24"/>
                <a:gd name="T48" fmla="*/ 4 w 24"/>
                <a:gd name="T49" fmla="*/ 2 h 24"/>
                <a:gd name="T50" fmla="*/ 4 w 24"/>
                <a:gd name="T51" fmla="*/ 4 h 24"/>
                <a:gd name="T52" fmla="*/ 2 w 24"/>
                <a:gd name="T53" fmla="*/ 5 h 24"/>
                <a:gd name="T54" fmla="*/ 2 w 24"/>
                <a:gd name="T55" fmla="*/ 5 h 24"/>
                <a:gd name="T56" fmla="*/ 0 w 24"/>
                <a:gd name="T57" fmla="*/ 7 h 24"/>
                <a:gd name="T58" fmla="*/ 0 w 24"/>
                <a:gd name="T59" fmla="*/ 9 h 24"/>
                <a:gd name="T60" fmla="*/ 0 w 24"/>
                <a:gd name="T61" fmla="*/ 11 h 24"/>
                <a:gd name="T62" fmla="*/ 0 w 24"/>
                <a:gd name="T63" fmla="*/ 13 h 24"/>
                <a:gd name="T64" fmla="*/ 0 w 24"/>
                <a:gd name="T65" fmla="*/ 15 h 24"/>
                <a:gd name="T66" fmla="*/ 2 w 24"/>
                <a:gd name="T67" fmla="*/ 17 h 24"/>
                <a:gd name="T68" fmla="*/ 2 w 24"/>
                <a:gd name="T69" fmla="*/ 19 h 24"/>
                <a:gd name="T70" fmla="*/ 4 w 24"/>
                <a:gd name="T71" fmla="*/ 19 h 24"/>
                <a:gd name="T72" fmla="*/ 4 w 24"/>
                <a:gd name="T73" fmla="*/ 21 h 24"/>
                <a:gd name="T74" fmla="*/ 6 w 24"/>
                <a:gd name="T75" fmla="*/ 21 h 24"/>
                <a:gd name="T76" fmla="*/ 8 w 24"/>
                <a:gd name="T77" fmla="*/ 23 h 24"/>
                <a:gd name="T78" fmla="*/ 10 w 24"/>
                <a:gd name="T79" fmla="*/ 23 h 24"/>
                <a:gd name="T80" fmla="*/ 12 w 24"/>
                <a:gd name="T81" fmla="*/ 23 h 24"/>
                <a:gd name="T82" fmla="*/ 12 w 24"/>
                <a:gd name="T83" fmla="*/ 23 h 24"/>
                <a:gd name="T84" fmla="*/ 10 w 24"/>
                <a:gd name="T85" fmla="*/ 23 h 2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4"/>
                <a:gd name="T130" fmla="*/ 0 h 24"/>
                <a:gd name="T131" fmla="*/ 24 w 24"/>
                <a:gd name="T132" fmla="*/ 24 h 24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4" h="24">
                  <a:moveTo>
                    <a:pt x="10" y="23"/>
                  </a:moveTo>
                  <a:lnTo>
                    <a:pt x="14" y="23"/>
                  </a:lnTo>
                  <a:lnTo>
                    <a:pt x="16" y="23"/>
                  </a:lnTo>
                  <a:lnTo>
                    <a:pt x="18" y="21"/>
                  </a:lnTo>
                  <a:lnTo>
                    <a:pt x="20" y="19"/>
                  </a:lnTo>
                  <a:lnTo>
                    <a:pt x="22" y="19"/>
                  </a:lnTo>
                  <a:lnTo>
                    <a:pt x="22" y="17"/>
                  </a:lnTo>
                  <a:lnTo>
                    <a:pt x="23" y="15"/>
                  </a:lnTo>
                  <a:lnTo>
                    <a:pt x="23" y="13"/>
                  </a:lnTo>
                  <a:lnTo>
                    <a:pt x="23" y="11"/>
                  </a:lnTo>
                  <a:lnTo>
                    <a:pt x="23" y="9"/>
                  </a:lnTo>
                  <a:lnTo>
                    <a:pt x="23" y="7"/>
                  </a:lnTo>
                  <a:lnTo>
                    <a:pt x="22" y="5"/>
                  </a:lnTo>
                  <a:lnTo>
                    <a:pt x="20" y="4"/>
                  </a:lnTo>
                  <a:lnTo>
                    <a:pt x="18" y="2"/>
                  </a:lnTo>
                  <a:lnTo>
                    <a:pt x="16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8" y="0"/>
                  </a:lnTo>
                  <a:lnTo>
                    <a:pt x="6" y="2"/>
                  </a:lnTo>
                  <a:lnTo>
                    <a:pt x="4" y="2"/>
                  </a:lnTo>
                  <a:lnTo>
                    <a:pt x="4" y="4"/>
                  </a:lnTo>
                  <a:lnTo>
                    <a:pt x="2" y="5"/>
                  </a:lnTo>
                  <a:lnTo>
                    <a:pt x="0" y="7"/>
                  </a:lnTo>
                  <a:lnTo>
                    <a:pt x="0" y="9"/>
                  </a:lnTo>
                  <a:lnTo>
                    <a:pt x="0" y="11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2" y="17"/>
                  </a:lnTo>
                  <a:lnTo>
                    <a:pt x="2" y="19"/>
                  </a:lnTo>
                  <a:lnTo>
                    <a:pt x="4" y="19"/>
                  </a:lnTo>
                  <a:lnTo>
                    <a:pt x="4" y="21"/>
                  </a:lnTo>
                  <a:lnTo>
                    <a:pt x="6" y="21"/>
                  </a:lnTo>
                  <a:lnTo>
                    <a:pt x="8" y="23"/>
                  </a:lnTo>
                  <a:lnTo>
                    <a:pt x="10" y="23"/>
                  </a:lnTo>
                  <a:lnTo>
                    <a:pt x="12" y="23"/>
                  </a:lnTo>
                  <a:lnTo>
                    <a:pt x="10" y="23"/>
                  </a:lnTo>
                </a:path>
              </a:pathLst>
            </a:custGeom>
            <a:solidFill>
              <a:srgbClr val="000000"/>
            </a:solidFill>
            <a:ln w="9525" cap="rnd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6" name="Freeform 22"/>
            <p:cNvSpPr>
              <a:spLocks/>
            </p:cNvSpPr>
            <p:nvPr/>
          </p:nvSpPr>
          <p:spPr bwMode="auto">
            <a:xfrm>
              <a:off x="2586038" y="4143375"/>
              <a:ext cx="38100" cy="38100"/>
            </a:xfrm>
            <a:custGeom>
              <a:avLst/>
              <a:gdLst>
                <a:gd name="T0" fmla="*/ 10 w 24"/>
                <a:gd name="T1" fmla="*/ 23 h 24"/>
                <a:gd name="T2" fmla="*/ 14 w 24"/>
                <a:gd name="T3" fmla="*/ 23 h 24"/>
                <a:gd name="T4" fmla="*/ 16 w 24"/>
                <a:gd name="T5" fmla="*/ 23 h 24"/>
                <a:gd name="T6" fmla="*/ 18 w 24"/>
                <a:gd name="T7" fmla="*/ 21 h 24"/>
                <a:gd name="T8" fmla="*/ 18 w 24"/>
                <a:gd name="T9" fmla="*/ 21 h 24"/>
                <a:gd name="T10" fmla="*/ 20 w 24"/>
                <a:gd name="T11" fmla="*/ 19 h 24"/>
                <a:gd name="T12" fmla="*/ 22 w 24"/>
                <a:gd name="T13" fmla="*/ 19 h 24"/>
                <a:gd name="T14" fmla="*/ 22 w 24"/>
                <a:gd name="T15" fmla="*/ 17 h 24"/>
                <a:gd name="T16" fmla="*/ 23 w 24"/>
                <a:gd name="T17" fmla="*/ 15 h 24"/>
                <a:gd name="T18" fmla="*/ 23 w 24"/>
                <a:gd name="T19" fmla="*/ 13 h 24"/>
                <a:gd name="T20" fmla="*/ 23 w 24"/>
                <a:gd name="T21" fmla="*/ 11 h 24"/>
                <a:gd name="T22" fmla="*/ 23 w 24"/>
                <a:gd name="T23" fmla="*/ 9 h 24"/>
                <a:gd name="T24" fmla="*/ 23 w 24"/>
                <a:gd name="T25" fmla="*/ 7 h 24"/>
                <a:gd name="T26" fmla="*/ 22 w 24"/>
                <a:gd name="T27" fmla="*/ 5 h 24"/>
                <a:gd name="T28" fmla="*/ 22 w 24"/>
                <a:gd name="T29" fmla="*/ 5 h 24"/>
                <a:gd name="T30" fmla="*/ 20 w 24"/>
                <a:gd name="T31" fmla="*/ 4 h 24"/>
                <a:gd name="T32" fmla="*/ 18 w 24"/>
                <a:gd name="T33" fmla="*/ 2 h 24"/>
                <a:gd name="T34" fmla="*/ 18 w 24"/>
                <a:gd name="T35" fmla="*/ 2 h 24"/>
                <a:gd name="T36" fmla="*/ 16 w 24"/>
                <a:gd name="T37" fmla="*/ 0 h 24"/>
                <a:gd name="T38" fmla="*/ 14 w 24"/>
                <a:gd name="T39" fmla="*/ 0 h 24"/>
                <a:gd name="T40" fmla="*/ 12 w 24"/>
                <a:gd name="T41" fmla="*/ 0 h 24"/>
                <a:gd name="T42" fmla="*/ 10 w 24"/>
                <a:gd name="T43" fmla="*/ 0 h 24"/>
                <a:gd name="T44" fmla="*/ 8 w 24"/>
                <a:gd name="T45" fmla="*/ 0 h 24"/>
                <a:gd name="T46" fmla="*/ 6 w 24"/>
                <a:gd name="T47" fmla="*/ 2 h 24"/>
                <a:gd name="T48" fmla="*/ 4 w 24"/>
                <a:gd name="T49" fmla="*/ 2 h 24"/>
                <a:gd name="T50" fmla="*/ 4 w 24"/>
                <a:gd name="T51" fmla="*/ 4 h 24"/>
                <a:gd name="T52" fmla="*/ 2 w 24"/>
                <a:gd name="T53" fmla="*/ 5 h 24"/>
                <a:gd name="T54" fmla="*/ 2 w 24"/>
                <a:gd name="T55" fmla="*/ 5 h 24"/>
                <a:gd name="T56" fmla="*/ 0 w 24"/>
                <a:gd name="T57" fmla="*/ 7 h 24"/>
                <a:gd name="T58" fmla="*/ 0 w 24"/>
                <a:gd name="T59" fmla="*/ 9 h 24"/>
                <a:gd name="T60" fmla="*/ 0 w 24"/>
                <a:gd name="T61" fmla="*/ 11 h 24"/>
                <a:gd name="T62" fmla="*/ 0 w 24"/>
                <a:gd name="T63" fmla="*/ 13 h 24"/>
                <a:gd name="T64" fmla="*/ 0 w 24"/>
                <a:gd name="T65" fmla="*/ 15 h 24"/>
                <a:gd name="T66" fmla="*/ 2 w 24"/>
                <a:gd name="T67" fmla="*/ 17 h 24"/>
                <a:gd name="T68" fmla="*/ 2 w 24"/>
                <a:gd name="T69" fmla="*/ 19 h 24"/>
                <a:gd name="T70" fmla="*/ 4 w 24"/>
                <a:gd name="T71" fmla="*/ 19 h 24"/>
                <a:gd name="T72" fmla="*/ 4 w 24"/>
                <a:gd name="T73" fmla="*/ 21 h 24"/>
                <a:gd name="T74" fmla="*/ 6 w 24"/>
                <a:gd name="T75" fmla="*/ 21 h 24"/>
                <a:gd name="T76" fmla="*/ 8 w 24"/>
                <a:gd name="T77" fmla="*/ 23 h 24"/>
                <a:gd name="T78" fmla="*/ 10 w 24"/>
                <a:gd name="T79" fmla="*/ 23 h 24"/>
                <a:gd name="T80" fmla="*/ 12 w 24"/>
                <a:gd name="T81" fmla="*/ 23 h 24"/>
                <a:gd name="T82" fmla="*/ 12 w 24"/>
                <a:gd name="T83" fmla="*/ 23 h 24"/>
                <a:gd name="T84" fmla="*/ 10 w 24"/>
                <a:gd name="T85" fmla="*/ 23 h 2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4"/>
                <a:gd name="T130" fmla="*/ 0 h 24"/>
                <a:gd name="T131" fmla="*/ 24 w 24"/>
                <a:gd name="T132" fmla="*/ 24 h 24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4" h="24">
                  <a:moveTo>
                    <a:pt x="10" y="23"/>
                  </a:moveTo>
                  <a:lnTo>
                    <a:pt x="14" y="23"/>
                  </a:lnTo>
                  <a:lnTo>
                    <a:pt x="16" y="23"/>
                  </a:lnTo>
                  <a:lnTo>
                    <a:pt x="18" y="21"/>
                  </a:lnTo>
                  <a:lnTo>
                    <a:pt x="20" y="19"/>
                  </a:lnTo>
                  <a:lnTo>
                    <a:pt x="22" y="19"/>
                  </a:lnTo>
                  <a:lnTo>
                    <a:pt x="22" y="17"/>
                  </a:lnTo>
                  <a:lnTo>
                    <a:pt x="23" y="15"/>
                  </a:lnTo>
                  <a:lnTo>
                    <a:pt x="23" y="13"/>
                  </a:lnTo>
                  <a:lnTo>
                    <a:pt x="23" y="11"/>
                  </a:lnTo>
                  <a:lnTo>
                    <a:pt x="23" y="9"/>
                  </a:lnTo>
                  <a:lnTo>
                    <a:pt x="23" y="7"/>
                  </a:lnTo>
                  <a:lnTo>
                    <a:pt x="22" y="5"/>
                  </a:lnTo>
                  <a:lnTo>
                    <a:pt x="20" y="4"/>
                  </a:lnTo>
                  <a:lnTo>
                    <a:pt x="18" y="2"/>
                  </a:lnTo>
                  <a:lnTo>
                    <a:pt x="16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8" y="0"/>
                  </a:lnTo>
                  <a:lnTo>
                    <a:pt x="6" y="2"/>
                  </a:lnTo>
                  <a:lnTo>
                    <a:pt x="4" y="2"/>
                  </a:lnTo>
                  <a:lnTo>
                    <a:pt x="4" y="4"/>
                  </a:lnTo>
                  <a:lnTo>
                    <a:pt x="2" y="5"/>
                  </a:lnTo>
                  <a:lnTo>
                    <a:pt x="0" y="7"/>
                  </a:lnTo>
                  <a:lnTo>
                    <a:pt x="0" y="9"/>
                  </a:lnTo>
                  <a:lnTo>
                    <a:pt x="0" y="11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2" y="17"/>
                  </a:lnTo>
                  <a:lnTo>
                    <a:pt x="2" y="19"/>
                  </a:lnTo>
                  <a:lnTo>
                    <a:pt x="4" y="19"/>
                  </a:lnTo>
                  <a:lnTo>
                    <a:pt x="4" y="21"/>
                  </a:lnTo>
                  <a:lnTo>
                    <a:pt x="6" y="21"/>
                  </a:lnTo>
                  <a:lnTo>
                    <a:pt x="8" y="23"/>
                  </a:lnTo>
                  <a:lnTo>
                    <a:pt x="10" y="23"/>
                  </a:lnTo>
                  <a:lnTo>
                    <a:pt x="12" y="23"/>
                  </a:lnTo>
                  <a:lnTo>
                    <a:pt x="10" y="23"/>
                  </a:lnTo>
                </a:path>
              </a:pathLst>
            </a:custGeom>
            <a:solidFill>
              <a:srgbClr val="000000"/>
            </a:solidFill>
            <a:ln w="9525" cap="rnd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7" name="Freeform 23"/>
            <p:cNvSpPr>
              <a:spLocks/>
            </p:cNvSpPr>
            <p:nvPr/>
          </p:nvSpPr>
          <p:spPr bwMode="auto">
            <a:xfrm>
              <a:off x="2586038" y="5486400"/>
              <a:ext cx="38100" cy="38100"/>
            </a:xfrm>
            <a:custGeom>
              <a:avLst/>
              <a:gdLst>
                <a:gd name="T0" fmla="*/ 10 w 24"/>
                <a:gd name="T1" fmla="*/ 23 h 24"/>
                <a:gd name="T2" fmla="*/ 14 w 24"/>
                <a:gd name="T3" fmla="*/ 23 h 24"/>
                <a:gd name="T4" fmla="*/ 16 w 24"/>
                <a:gd name="T5" fmla="*/ 23 h 24"/>
                <a:gd name="T6" fmla="*/ 16 w 24"/>
                <a:gd name="T7" fmla="*/ 21 h 24"/>
                <a:gd name="T8" fmla="*/ 18 w 24"/>
                <a:gd name="T9" fmla="*/ 21 h 24"/>
                <a:gd name="T10" fmla="*/ 20 w 24"/>
                <a:gd name="T11" fmla="*/ 19 h 24"/>
                <a:gd name="T12" fmla="*/ 22 w 24"/>
                <a:gd name="T13" fmla="*/ 18 h 24"/>
                <a:gd name="T14" fmla="*/ 22 w 24"/>
                <a:gd name="T15" fmla="*/ 18 h 24"/>
                <a:gd name="T16" fmla="*/ 22 w 24"/>
                <a:gd name="T17" fmla="*/ 16 h 24"/>
                <a:gd name="T18" fmla="*/ 23 w 24"/>
                <a:gd name="T19" fmla="*/ 14 h 24"/>
                <a:gd name="T20" fmla="*/ 23 w 24"/>
                <a:gd name="T21" fmla="*/ 12 h 24"/>
                <a:gd name="T22" fmla="*/ 23 w 24"/>
                <a:gd name="T23" fmla="*/ 10 h 24"/>
                <a:gd name="T24" fmla="*/ 22 w 24"/>
                <a:gd name="T25" fmla="*/ 8 h 24"/>
                <a:gd name="T26" fmla="*/ 22 w 24"/>
                <a:gd name="T27" fmla="*/ 6 h 24"/>
                <a:gd name="T28" fmla="*/ 22 w 24"/>
                <a:gd name="T29" fmla="*/ 4 h 24"/>
                <a:gd name="T30" fmla="*/ 20 w 24"/>
                <a:gd name="T31" fmla="*/ 4 h 24"/>
                <a:gd name="T32" fmla="*/ 18 w 24"/>
                <a:gd name="T33" fmla="*/ 2 h 24"/>
                <a:gd name="T34" fmla="*/ 16 w 24"/>
                <a:gd name="T35" fmla="*/ 2 h 24"/>
                <a:gd name="T36" fmla="*/ 16 w 24"/>
                <a:gd name="T37" fmla="*/ 0 h 24"/>
                <a:gd name="T38" fmla="*/ 14 w 24"/>
                <a:gd name="T39" fmla="*/ 0 h 24"/>
                <a:gd name="T40" fmla="*/ 12 w 24"/>
                <a:gd name="T41" fmla="*/ 0 h 24"/>
                <a:gd name="T42" fmla="*/ 10 w 24"/>
                <a:gd name="T43" fmla="*/ 0 h 24"/>
                <a:gd name="T44" fmla="*/ 8 w 24"/>
                <a:gd name="T45" fmla="*/ 0 h 24"/>
                <a:gd name="T46" fmla="*/ 6 w 24"/>
                <a:gd name="T47" fmla="*/ 2 h 24"/>
                <a:gd name="T48" fmla="*/ 4 w 24"/>
                <a:gd name="T49" fmla="*/ 2 h 24"/>
                <a:gd name="T50" fmla="*/ 2 w 24"/>
                <a:gd name="T51" fmla="*/ 4 h 24"/>
                <a:gd name="T52" fmla="*/ 2 w 24"/>
                <a:gd name="T53" fmla="*/ 4 h 24"/>
                <a:gd name="T54" fmla="*/ 0 w 24"/>
                <a:gd name="T55" fmla="*/ 6 h 24"/>
                <a:gd name="T56" fmla="*/ 0 w 24"/>
                <a:gd name="T57" fmla="*/ 8 h 24"/>
                <a:gd name="T58" fmla="*/ 0 w 24"/>
                <a:gd name="T59" fmla="*/ 10 h 24"/>
                <a:gd name="T60" fmla="*/ 0 w 24"/>
                <a:gd name="T61" fmla="*/ 12 h 24"/>
                <a:gd name="T62" fmla="*/ 0 w 24"/>
                <a:gd name="T63" fmla="*/ 14 h 24"/>
                <a:gd name="T64" fmla="*/ 0 w 24"/>
                <a:gd name="T65" fmla="*/ 16 h 24"/>
                <a:gd name="T66" fmla="*/ 0 w 24"/>
                <a:gd name="T67" fmla="*/ 18 h 24"/>
                <a:gd name="T68" fmla="*/ 2 w 24"/>
                <a:gd name="T69" fmla="*/ 18 h 24"/>
                <a:gd name="T70" fmla="*/ 2 w 24"/>
                <a:gd name="T71" fmla="*/ 19 h 24"/>
                <a:gd name="T72" fmla="*/ 4 w 24"/>
                <a:gd name="T73" fmla="*/ 21 h 24"/>
                <a:gd name="T74" fmla="*/ 6 w 24"/>
                <a:gd name="T75" fmla="*/ 21 h 24"/>
                <a:gd name="T76" fmla="*/ 8 w 24"/>
                <a:gd name="T77" fmla="*/ 23 h 24"/>
                <a:gd name="T78" fmla="*/ 10 w 24"/>
                <a:gd name="T79" fmla="*/ 23 h 24"/>
                <a:gd name="T80" fmla="*/ 12 w 24"/>
                <a:gd name="T81" fmla="*/ 23 h 24"/>
                <a:gd name="T82" fmla="*/ 12 w 24"/>
                <a:gd name="T83" fmla="*/ 23 h 24"/>
                <a:gd name="T84" fmla="*/ 10 w 24"/>
                <a:gd name="T85" fmla="*/ 23 h 2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4"/>
                <a:gd name="T130" fmla="*/ 0 h 24"/>
                <a:gd name="T131" fmla="*/ 24 w 24"/>
                <a:gd name="T132" fmla="*/ 24 h 24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4" h="24">
                  <a:moveTo>
                    <a:pt x="10" y="23"/>
                  </a:moveTo>
                  <a:lnTo>
                    <a:pt x="14" y="23"/>
                  </a:lnTo>
                  <a:lnTo>
                    <a:pt x="16" y="23"/>
                  </a:lnTo>
                  <a:lnTo>
                    <a:pt x="16" y="21"/>
                  </a:lnTo>
                  <a:lnTo>
                    <a:pt x="18" y="21"/>
                  </a:lnTo>
                  <a:lnTo>
                    <a:pt x="20" y="19"/>
                  </a:lnTo>
                  <a:lnTo>
                    <a:pt x="22" y="18"/>
                  </a:lnTo>
                  <a:lnTo>
                    <a:pt x="22" y="16"/>
                  </a:lnTo>
                  <a:lnTo>
                    <a:pt x="23" y="14"/>
                  </a:lnTo>
                  <a:lnTo>
                    <a:pt x="23" y="12"/>
                  </a:lnTo>
                  <a:lnTo>
                    <a:pt x="23" y="10"/>
                  </a:lnTo>
                  <a:lnTo>
                    <a:pt x="22" y="8"/>
                  </a:lnTo>
                  <a:lnTo>
                    <a:pt x="22" y="6"/>
                  </a:lnTo>
                  <a:lnTo>
                    <a:pt x="22" y="4"/>
                  </a:lnTo>
                  <a:lnTo>
                    <a:pt x="20" y="4"/>
                  </a:lnTo>
                  <a:lnTo>
                    <a:pt x="18" y="2"/>
                  </a:lnTo>
                  <a:lnTo>
                    <a:pt x="16" y="2"/>
                  </a:lnTo>
                  <a:lnTo>
                    <a:pt x="16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8" y="0"/>
                  </a:lnTo>
                  <a:lnTo>
                    <a:pt x="6" y="2"/>
                  </a:lnTo>
                  <a:lnTo>
                    <a:pt x="4" y="2"/>
                  </a:lnTo>
                  <a:lnTo>
                    <a:pt x="2" y="4"/>
                  </a:lnTo>
                  <a:lnTo>
                    <a:pt x="0" y="6"/>
                  </a:lnTo>
                  <a:lnTo>
                    <a:pt x="0" y="8"/>
                  </a:lnTo>
                  <a:lnTo>
                    <a:pt x="0" y="10"/>
                  </a:lnTo>
                  <a:lnTo>
                    <a:pt x="0" y="12"/>
                  </a:lnTo>
                  <a:lnTo>
                    <a:pt x="0" y="14"/>
                  </a:lnTo>
                  <a:lnTo>
                    <a:pt x="0" y="16"/>
                  </a:lnTo>
                  <a:lnTo>
                    <a:pt x="0" y="18"/>
                  </a:lnTo>
                  <a:lnTo>
                    <a:pt x="2" y="18"/>
                  </a:lnTo>
                  <a:lnTo>
                    <a:pt x="2" y="19"/>
                  </a:lnTo>
                  <a:lnTo>
                    <a:pt x="4" y="21"/>
                  </a:lnTo>
                  <a:lnTo>
                    <a:pt x="6" y="21"/>
                  </a:lnTo>
                  <a:lnTo>
                    <a:pt x="8" y="23"/>
                  </a:lnTo>
                  <a:lnTo>
                    <a:pt x="10" y="23"/>
                  </a:lnTo>
                  <a:lnTo>
                    <a:pt x="12" y="23"/>
                  </a:lnTo>
                  <a:lnTo>
                    <a:pt x="10" y="23"/>
                  </a:lnTo>
                </a:path>
              </a:pathLst>
            </a:custGeom>
            <a:solidFill>
              <a:srgbClr val="000000"/>
            </a:solidFill>
            <a:ln w="9525" cap="rnd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8" name="Line 24"/>
            <p:cNvSpPr>
              <a:spLocks noChangeShapeType="1"/>
            </p:cNvSpPr>
            <p:nvPr/>
          </p:nvSpPr>
          <p:spPr bwMode="auto">
            <a:xfrm flipV="1">
              <a:off x="2300288" y="4303713"/>
              <a:ext cx="29845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9" name="Line 25"/>
            <p:cNvSpPr>
              <a:spLocks noChangeShapeType="1"/>
            </p:cNvSpPr>
            <p:nvPr/>
          </p:nvSpPr>
          <p:spPr bwMode="auto">
            <a:xfrm flipV="1">
              <a:off x="2630488" y="5500688"/>
              <a:ext cx="1231900" cy="476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0" name="Line 26"/>
            <p:cNvSpPr>
              <a:spLocks noChangeShapeType="1"/>
            </p:cNvSpPr>
            <p:nvPr/>
          </p:nvSpPr>
          <p:spPr bwMode="auto">
            <a:xfrm flipH="1">
              <a:off x="2297113" y="3251200"/>
              <a:ext cx="1565275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1" name="Freeform 27"/>
            <p:cNvSpPr>
              <a:spLocks/>
            </p:cNvSpPr>
            <p:nvPr/>
          </p:nvSpPr>
          <p:spPr bwMode="auto">
            <a:xfrm>
              <a:off x="7467600" y="3081338"/>
              <a:ext cx="147638" cy="2820988"/>
            </a:xfrm>
            <a:custGeom>
              <a:avLst/>
              <a:gdLst>
                <a:gd name="T0" fmla="*/ 92 w 93"/>
                <a:gd name="T1" fmla="*/ 1776 h 1777"/>
                <a:gd name="T2" fmla="*/ 92 w 93"/>
                <a:gd name="T3" fmla="*/ 0 h 1777"/>
                <a:gd name="T4" fmla="*/ 0 w 93"/>
                <a:gd name="T5" fmla="*/ 0 h 1777"/>
                <a:gd name="T6" fmla="*/ 0 w 93"/>
                <a:gd name="T7" fmla="*/ 1776 h 1777"/>
                <a:gd name="T8" fmla="*/ 92 w 93"/>
                <a:gd name="T9" fmla="*/ 1776 h 1777"/>
                <a:gd name="T10" fmla="*/ 92 w 93"/>
                <a:gd name="T11" fmla="*/ 1776 h 177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3"/>
                <a:gd name="T19" fmla="*/ 0 h 1777"/>
                <a:gd name="T20" fmla="*/ 93 w 93"/>
                <a:gd name="T21" fmla="*/ 1777 h 177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3" h="1777">
                  <a:moveTo>
                    <a:pt x="92" y="1776"/>
                  </a:moveTo>
                  <a:lnTo>
                    <a:pt x="92" y="0"/>
                  </a:lnTo>
                  <a:lnTo>
                    <a:pt x="0" y="0"/>
                  </a:lnTo>
                  <a:lnTo>
                    <a:pt x="0" y="1776"/>
                  </a:lnTo>
                  <a:lnTo>
                    <a:pt x="92" y="1776"/>
                  </a:lnTo>
                </a:path>
              </a:pathLst>
            </a:custGeom>
            <a:solidFill>
              <a:srgbClr val="CCEC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2" name="Freeform 28"/>
            <p:cNvSpPr>
              <a:spLocks/>
            </p:cNvSpPr>
            <p:nvPr/>
          </p:nvSpPr>
          <p:spPr bwMode="auto">
            <a:xfrm>
              <a:off x="3867150" y="3081338"/>
              <a:ext cx="147638" cy="2820988"/>
            </a:xfrm>
            <a:custGeom>
              <a:avLst/>
              <a:gdLst>
                <a:gd name="T0" fmla="*/ 92 w 93"/>
                <a:gd name="T1" fmla="*/ 1776 h 1777"/>
                <a:gd name="T2" fmla="*/ 92 w 93"/>
                <a:gd name="T3" fmla="*/ 0 h 1777"/>
                <a:gd name="T4" fmla="*/ 0 w 93"/>
                <a:gd name="T5" fmla="*/ 0 h 1777"/>
                <a:gd name="T6" fmla="*/ 0 w 93"/>
                <a:gd name="T7" fmla="*/ 1776 h 1777"/>
                <a:gd name="T8" fmla="*/ 92 w 93"/>
                <a:gd name="T9" fmla="*/ 1776 h 1777"/>
                <a:gd name="T10" fmla="*/ 92 w 93"/>
                <a:gd name="T11" fmla="*/ 1776 h 177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3"/>
                <a:gd name="T19" fmla="*/ 0 h 1777"/>
                <a:gd name="T20" fmla="*/ 93 w 93"/>
                <a:gd name="T21" fmla="*/ 1777 h 177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3" h="1777">
                  <a:moveTo>
                    <a:pt x="92" y="1776"/>
                  </a:moveTo>
                  <a:lnTo>
                    <a:pt x="92" y="0"/>
                  </a:lnTo>
                  <a:lnTo>
                    <a:pt x="0" y="0"/>
                  </a:lnTo>
                  <a:lnTo>
                    <a:pt x="0" y="1776"/>
                  </a:lnTo>
                  <a:lnTo>
                    <a:pt x="92" y="1776"/>
                  </a:lnTo>
                </a:path>
              </a:pathLst>
            </a:custGeom>
            <a:solidFill>
              <a:srgbClr val="CCEC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3" name="Line 29"/>
            <p:cNvSpPr>
              <a:spLocks noChangeShapeType="1"/>
            </p:cNvSpPr>
            <p:nvPr/>
          </p:nvSpPr>
          <p:spPr bwMode="auto">
            <a:xfrm flipV="1">
              <a:off x="4486275" y="5903913"/>
              <a:ext cx="0" cy="79375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4" name="Line 30"/>
            <p:cNvSpPr>
              <a:spLocks noChangeShapeType="1"/>
            </p:cNvSpPr>
            <p:nvPr/>
          </p:nvSpPr>
          <p:spPr bwMode="auto">
            <a:xfrm>
              <a:off x="4524375" y="2927350"/>
              <a:ext cx="11113" cy="1346200"/>
            </a:xfrm>
            <a:prstGeom prst="line">
              <a:avLst/>
            </a:prstGeom>
            <a:noFill/>
            <a:ln w="9525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5" name="Line 31"/>
            <p:cNvSpPr>
              <a:spLocks noChangeShapeType="1"/>
            </p:cNvSpPr>
            <p:nvPr/>
          </p:nvSpPr>
          <p:spPr bwMode="auto">
            <a:xfrm flipV="1">
              <a:off x="4772025" y="5445125"/>
              <a:ext cx="0" cy="82550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6" name="Line 32"/>
            <p:cNvSpPr>
              <a:spLocks noChangeShapeType="1"/>
            </p:cNvSpPr>
            <p:nvPr/>
          </p:nvSpPr>
          <p:spPr bwMode="auto">
            <a:xfrm flipV="1">
              <a:off x="5340350" y="4217988"/>
              <a:ext cx="341313" cy="3175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7" name="Freeform 33"/>
            <p:cNvSpPr>
              <a:spLocks/>
            </p:cNvSpPr>
            <p:nvPr/>
          </p:nvSpPr>
          <p:spPr bwMode="auto">
            <a:xfrm>
              <a:off x="4567238" y="4887913"/>
              <a:ext cx="388938" cy="547688"/>
            </a:xfrm>
            <a:custGeom>
              <a:avLst/>
              <a:gdLst>
                <a:gd name="T0" fmla="*/ 123 w 174"/>
                <a:gd name="T1" fmla="*/ 344 h 367"/>
                <a:gd name="T2" fmla="*/ 144 w 174"/>
                <a:gd name="T3" fmla="*/ 342 h 367"/>
                <a:gd name="T4" fmla="*/ 162 w 174"/>
                <a:gd name="T5" fmla="*/ 336 h 367"/>
                <a:gd name="T6" fmla="*/ 179 w 174"/>
                <a:gd name="T7" fmla="*/ 324 h 367"/>
                <a:gd name="T8" fmla="*/ 194 w 174"/>
                <a:gd name="T9" fmla="*/ 312 h 367"/>
                <a:gd name="T10" fmla="*/ 208 w 174"/>
                <a:gd name="T11" fmla="*/ 294 h 367"/>
                <a:gd name="T12" fmla="*/ 221 w 174"/>
                <a:gd name="T13" fmla="*/ 274 h 367"/>
                <a:gd name="T14" fmla="*/ 230 w 174"/>
                <a:gd name="T15" fmla="*/ 251 h 367"/>
                <a:gd name="T16" fmla="*/ 238 w 174"/>
                <a:gd name="T17" fmla="*/ 227 h 367"/>
                <a:gd name="T18" fmla="*/ 244 w 174"/>
                <a:gd name="T19" fmla="*/ 200 h 367"/>
                <a:gd name="T20" fmla="*/ 244 w 174"/>
                <a:gd name="T21" fmla="*/ 171 h 367"/>
                <a:gd name="T22" fmla="*/ 244 w 174"/>
                <a:gd name="T23" fmla="*/ 145 h 367"/>
                <a:gd name="T24" fmla="*/ 238 w 174"/>
                <a:gd name="T25" fmla="*/ 118 h 367"/>
                <a:gd name="T26" fmla="*/ 230 w 174"/>
                <a:gd name="T27" fmla="*/ 92 h 367"/>
                <a:gd name="T28" fmla="*/ 221 w 174"/>
                <a:gd name="T29" fmla="*/ 71 h 367"/>
                <a:gd name="T30" fmla="*/ 208 w 174"/>
                <a:gd name="T31" fmla="*/ 51 h 367"/>
                <a:gd name="T32" fmla="*/ 194 w 174"/>
                <a:gd name="T33" fmla="*/ 33 h 367"/>
                <a:gd name="T34" fmla="*/ 179 w 174"/>
                <a:gd name="T35" fmla="*/ 19 h 367"/>
                <a:gd name="T36" fmla="*/ 162 w 174"/>
                <a:gd name="T37" fmla="*/ 8 h 367"/>
                <a:gd name="T38" fmla="*/ 144 w 174"/>
                <a:gd name="T39" fmla="*/ 2 h 367"/>
                <a:gd name="T40" fmla="*/ 123 w 174"/>
                <a:gd name="T41" fmla="*/ 0 h 367"/>
                <a:gd name="T42" fmla="*/ 103 w 174"/>
                <a:gd name="T43" fmla="*/ 2 h 367"/>
                <a:gd name="T44" fmla="*/ 84 w 174"/>
                <a:gd name="T45" fmla="*/ 8 h 367"/>
                <a:gd name="T46" fmla="*/ 68 w 174"/>
                <a:gd name="T47" fmla="*/ 19 h 367"/>
                <a:gd name="T48" fmla="*/ 52 w 174"/>
                <a:gd name="T49" fmla="*/ 33 h 367"/>
                <a:gd name="T50" fmla="*/ 38 w 174"/>
                <a:gd name="T51" fmla="*/ 51 h 367"/>
                <a:gd name="T52" fmla="*/ 24 w 174"/>
                <a:gd name="T53" fmla="*/ 71 h 367"/>
                <a:gd name="T54" fmla="*/ 14 w 174"/>
                <a:gd name="T55" fmla="*/ 92 h 367"/>
                <a:gd name="T56" fmla="*/ 8 w 174"/>
                <a:gd name="T57" fmla="*/ 118 h 367"/>
                <a:gd name="T58" fmla="*/ 3 w 174"/>
                <a:gd name="T59" fmla="*/ 145 h 367"/>
                <a:gd name="T60" fmla="*/ 0 w 174"/>
                <a:gd name="T61" fmla="*/ 171 h 367"/>
                <a:gd name="T62" fmla="*/ 3 w 174"/>
                <a:gd name="T63" fmla="*/ 200 h 367"/>
                <a:gd name="T64" fmla="*/ 8 w 174"/>
                <a:gd name="T65" fmla="*/ 227 h 367"/>
                <a:gd name="T66" fmla="*/ 14 w 174"/>
                <a:gd name="T67" fmla="*/ 251 h 367"/>
                <a:gd name="T68" fmla="*/ 24 w 174"/>
                <a:gd name="T69" fmla="*/ 274 h 367"/>
                <a:gd name="T70" fmla="*/ 38 w 174"/>
                <a:gd name="T71" fmla="*/ 294 h 367"/>
                <a:gd name="T72" fmla="*/ 52 w 174"/>
                <a:gd name="T73" fmla="*/ 312 h 367"/>
                <a:gd name="T74" fmla="*/ 68 w 174"/>
                <a:gd name="T75" fmla="*/ 324 h 367"/>
                <a:gd name="T76" fmla="*/ 84 w 174"/>
                <a:gd name="T77" fmla="*/ 336 h 367"/>
                <a:gd name="T78" fmla="*/ 103 w 174"/>
                <a:gd name="T79" fmla="*/ 342 h 367"/>
                <a:gd name="T80" fmla="*/ 123 w 174"/>
                <a:gd name="T81" fmla="*/ 344 h 367"/>
                <a:gd name="T82" fmla="*/ 123 w 174"/>
                <a:gd name="T83" fmla="*/ 344 h 367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174"/>
                <a:gd name="T127" fmla="*/ 0 h 367"/>
                <a:gd name="T128" fmla="*/ 174 w 174"/>
                <a:gd name="T129" fmla="*/ 367 h 367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174" h="367">
                  <a:moveTo>
                    <a:pt x="87" y="366"/>
                  </a:moveTo>
                  <a:lnTo>
                    <a:pt x="102" y="364"/>
                  </a:lnTo>
                  <a:lnTo>
                    <a:pt x="115" y="357"/>
                  </a:lnTo>
                  <a:lnTo>
                    <a:pt x="127" y="345"/>
                  </a:lnTo>
                  <a:lnTo>
                    <a:pt x="138" y="332"/>
                  </a:lnTo>
                  <a:lnTo>
                    <a:pt x="148" y="313"/>
                  </a:lnTo>
                  <a:lnTo>
                    <a:pt x="157" y="292"/>
                  </a:lnTo>
                  <a:lnTo>
                    <a:pt x="163" y="267"/>
                  </a:lnTo>
                  <a:lnTo>
                    <a:pt x="169" y="242"/>
                  </a:lnTo>
                  <a:lnTo>
                    <a:pt x="173" y="213"/>
                  </a:lnTo>
                  <a:lnTo>
                    <a:pt x="173" y="182"/>
                  </a:lnTo>
                  <a:lnTo>
                    <a:pt x="173" y="154"/>
                  </a:lnTo>
                  <a:lnTo>
                    <a:pt x="169" y="125"/>
                  </a:lnTo>
                  <a:lnTo>
                    <a:pt x="163" y="98"/>
                  </a:lnTo>
                  <a:lnTo>
                    <a:pt x="157" y="75"/>
                  </a:lnTo>
                  <a:lnTo>
                    <a:pt x="148" y="54"/>
                  </a:lnTo>
                  <a:lnTo>
                    <a:pt x="138" y="35"/>
                  </a:lnTo>
                  <a:lnTo>
                    <a:pt x="127" y="20"/>
                  </a:lnTo>
                  <a:lnTo>
                    <a:pt x="115" y="8"/>
                  </a:lnTo>
                  <a:lnTo>
                    <a:pt x="102" y="2"/>
                  </a:lnTo>
                  <a:lnTo>
                    <a:pt x="87" y="0"/>
                  </a:lnTo>
                  <a:lnTo>
                    <a:pt x="73" y="2"/>
                  </a:lnTo>
                  <a:lnTo>
                    <a:pt x="60" y="8"/>
                  </a:lnTo>
                  <a:lnTo>
                    <a:pt x="48" y="20"/>
                  </a:lnTo>
                  <a:lnTo>
                    <a:pt x="37" y="35"/>
                  </a:lnTo>
                  <a:lnTo>
                    <a:pt x="27" y="54"/>
                  </a:lnTo>
                  <a:lnTo>
                    <a:pt x="17" y="75"/>
                  </a:lnTo>
                  <a:lnTo>
                    <a:pt x="10" y="98"/>
                  </a:lnTo>
                  <a:lnTo>
                    <a:pt x="6" y="125"/>
                  </a:lnTo>
                  <a:lnTo>
                    <a:pt x="2" y="154"/>
                  </a:lnTo>
                  <a:lnTo>
                    <a:pt x="0" y="182"/>
                  </a:lnTo>
                  <a:lnTo>
                    <a:pt x="2" y="213"/>
                  </a:lnTo>
                  <a:lnTo>
                    <a:pt x="6" y="242"/>
                  </a:lnTo>
                  <a:lnTo>
                    <a:pt x="10" y="267"/>
                  </a:lnTo>
                  <a:lnTo>
                    <a:pt x="17" y="292"/>
                  </a:lnTo>
                  <a:lnTo>
                    <a:pt x="27" y="313"/>
                  </a:lnTo>
                  <a:lnTo>
                    <a:pt x="37" y="332"/>
                  </a:lnTo>
                  <a:lnTo>
                    <a:pt x="48" y="345"/>
                  </a:lnTo>
                  <a:lnTo>
                    <a:pt x="60" y="357"/>
                  </a:lnTo>
                  <a:lnTo>
                    <a:pt x="73" y="364"/>
                  </a:lnTo>
                  <a:lnTo>
                    <a:pt x="87" y="366"/>
                  </a:lnTo>
                </a:path>
              </a:pathLst>
            </a:custGeom>
            <a:solidFill>
              <a:srgbClr val="FFE6CD"/>
            </a:solidFill>
            <a:ln w="19050" cap="rnd" cmpd="sng">
              <a:solidFill>
                <a:srgbClr val="EB75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8" name="Line 34"/>
            <p:cNvSpPr>
              <a:spLocks noChangeShapeType="1"/>
            </p:cNvSpPr>
            <p:nvPr/>
          </p:nvSpPr>
          <p:spPr bwMode="auto">
            <a:xfrm>
              <a:off x="4016375" y="5157788"/>
              <a:ext cx="55403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9" name="Rectangle 35"/>
            <p:cNvSpPr>
              <a:spLocks noChangeArrowheads="1"/>
            </p:cNvSpPr>
            <p:nvPr/>
          </p:nvSpPr>
          <p:spPr bwMode="auto">
            <a:xfrm>
              <a:off x="4210050" y="4073525"/>
              <a:ext cx="334934" cy="1315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900">
                  <a:solidFill>
                    <a:srgbClr val="EB7500"/>
                  </a:solidFill>
                  <a:latin typeface="+mj-lt"/>
                </a:rPr>
                <a:t>ALUSrc</a:t>
              </a:r>
              <a:endParaRPr lang="en-US" sz="500">
                <a:solidFill>
                  <a:srgbClr val="EB7500"/>
                </a:solidFill>
                <a:latin typeface="+mj-lt"/>
              </a:endParaRPr>
            </a:p>
          </p:txBody>
        </p:sp>
        <p:sp>
          <p:nvSpPr>
            <p:cNvPr id="30" name="Line 36"/>
            <p:cNvSpPr>
              <a:spLocks noChangeShapeType="1"/>
            </p:cNvSpPr>
            <p:nvPr/>
          </p:nvSpPr>
          <p:spPr bwMode="auto">
            <a:xfrm flipH="1" flipV="1">
              <a:off x="4016375" y="3241675"/>
              <a:ext cx="577850" cy="476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1" name="Freeform 37"/>
            <p:cNvSpPr>
              <a:spLocks/>
            </p:cNvSpPr>
            <p:nvPr/>
          </p:nvSpPr>
          <p:spPr bwMode="auto">
            <a:xfrm>
              <a:off x="4256088" y="4340225"/>
              <a:ext cx="41275" cy="38100"/>
            </a:xfrm>
            <a:custGeom>
              <a:avLst/>
              <a:gdLst>
                <a:gd name="T0" fmla="*/ 11 w 26"/>
                <a:gd name="T1" fmla="*/ 23 h 24"/>
                <a:gd name="T2" fmla="*/ 13 w 26"/>
                <a:gd name="T3" fmla="*/ 23 h 24"/>
                <a:gd name="T4" fmla="*/ 15 w 26"/>
                <a:gd name="T5" fmla="*/ 23 h 24"/>
                <a:gd name="T6" fmla="*/ 17 w 26"/>
                <a:gd name="T7" fmla="*/ 23 h 24"/>
                <a:gd name="T8" fmla="*/ 19 w 26"/>
                <a:gd name="T9" fmla="*/ 21 h 24"/>
                <a:gd name="T10" fmla="*/ 21 w 26"/>
                <a:gd name="T11" fmla="*/ 21 h 24"/>
                <a:gd name="T12" fmla="*/ 21 w 26"/>
                <a:gd name="T13" fmla="*/ 19 h 24"/>
                <a:gd name="T14" fmla="*/ 23 w 26"/>
                <a:gd name="T15" fmla="*/ 17 h 24"/>
                <a:gd name="T16" fmla="*/ 23 w 26"/>
                <a:gd name="T17" fmla="*/ 15 h 24"/>
                <a:gd name="T18" fmla="*/ 23 w 26"/>
                <a:gd name="T19" fmla="*/ 14 h 24"/>
                <a:gd name="T20" fmla="*/ 25 w 26"/>
                <a:gd name="T21" fmla="*/ 12 h 24"/>
                <a:gd name="T22" fmla="*/ 23 w 26"/>
                <a:gd name="T23" fmla="*/ 10 h 24"/>
                <a:gd name="T24" fmla="*/ 23 w 26"/>
                <a:gd name="T25" fmla="*/ 10 h 24"/>
                <a:gd name="T26" fmla="*/ 23 w 26"/>
                <a:gd name="T27" fmla="*/ 8 h 24"/>
                <a:gd name="T28" fmla="*/ 21 w 26"/>
                <a:gd name="T29" fmla="*/ 6 h 24"/>
                <a:gd name="T30" fmla="*/ 21 w 26"/>
                <a:gd name="T31" fmla="*/ 4 h 24"/>
                <a:gd name="T32" fmla="*/ 19 w 26"/>
                <a:gd name="T33" fmla="*/ 4 h 24"/>
                <a:gd name="T34" fmla="*/ 17 w 26"/>
                <a:gd name="T35" fmla="*/ 2 h 24"/>
                <a:gd name="T36" fmla="*/ 15 w 26"/>
                <a:gd name="T37" fmla="*/ 2 h 24"/>
                <a:gd name="T38" fmla="*/ 13 w 26"/>
                <a:gd name="T39" fmla="*/ 2 h 24"/>
                <a:gd name="T40" fmla="*/ 11 w 26"/>
                <a:gd name="T41" fmla="*/ 0 h 24"/>
                <a:gd name="T42" fmla="*/ 11 w 26"/>
                <a:gd name="T43" fmla="*/ 2 h 24"/>
                <a:gd name="T44" fmla="*/ 9 w 26"/>
                <a:gd name="T45" fmla="*/ 2 h 24"/>
                <a:gd name="T46" fmla="*/ 8 w 26"/>
                <a:gd name="T47" fmla="*/ 2 h 24"/>
                <a:gd name="T48" fmla="*/ 6 w 26"/>
                <a:gd name="T49" fmla="*/ 4 h 24"/>
                <a:gd name="T50" fmla="*/ 4 w 26"/>
                <a:gd name="T51" fmla="*/ 4 h 24"/>
                <a:gd name="T52" fmla="*/ 4 w 26"/>
                <a:gd name="T53" fmla="*/ 6 h 24"/>
                <a:gd name="T54" fmla="*/ 2 w 26"/>
                <a:gd name="T55" fmla="*/ 8 h 24"/>
                <a:gd name="T56" fmla="*/ 2 w 26"/>
                <a:gd name="T57" fmla="*/ 10 h 24"/>
                <a:gd name="T58" fmla="*/ 2 w 26"/>
                <a:gd name="T59" fmla="*/ 10 h 24"/>
                <a:gd name="T60" fmla="*/ 0 w 26"/>
                <a:gd name="T61" fmla="*/ 12 h 24"/>
                <a:gd name="T62" fmla="*/ 2 w 26"/>
                <a:gd name="T63" fmla="*/ 14 h 24"/>
                <a:gd name="T64" fmla="*/ 2 w 26"/>
                <a:gd name="T65" fmla="*/ 15 h 24"/>
                <a:gd name="T66" fmla="*/ 2 w 26"/>
                <a:gd name="T67" fmla="*/ 17 h 24"/>
                <a:gd name="T68" fmla="*/ 4 w 26"/>
                <a:gd name="T69" fmla="*/ 19 h 24"/>
                <a:gd name="T70" fmla="*/ 4 w 26"/>
                <a:gd name="T71" fmla="*/ 21 h 24"/>
                <a:gd name="T72" fmla="*/ 6 w 26"/>
                <a:gd name="T73" fmla="*/ 21 h 24"/>
                <a:gd name="T74" fmla="*/ 8 w 26"/>
                <a:gd name="T75" fmla="*/ 23 h 24"/>
                <a:gd name="T76" fmla="*/ 9 w 26"/>
                <a:gd name="T77" fmla="*/ 23 h 24"/>
                <a:gd name="T78" fmla="*/ 11 w 26"/>
                <a:gd name="T79" fmla="*/ 23 h 24"/>
                <a:gd name="T80" fmla="*/ 11 w 26"/>
                <a:gd name="T81" fmla="*/ 23 h 24"/>
                <a:gd name="T82" fmla="*/ 11 w 26"/>
                <a:gd name="T83" fmla="*/ 23 h 24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26"/>
                <a:gd name="T127" fmla="*/ 0 h 24"/>
                <a:gd name="T128" fmla="*/ 26 w 26"/>
                <a:gd name="T129" fmla="*/ 24 h 24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26" h="24">
                  <a:moveTo>
                    <a:pt x="11" y="23"/>
                  </a:moveTo>
                  <a:lnTo>
                    <a:pt x="13" y="23"/>
                  </a:lnTo>
                  <a:lnTo>
                    <a:pt x="15" y="23"/>
                  </a:lnTo>
                  <a:lnTo>
                    <a:pt x="17" y="23"/>
                  </a:lnTo>
                  <a:lnTo>
                    <a:pt x="19" y="21"/>
                  </a:lnTo>
                  <a:lnTo>
                    <a:pt x="21" y="21"/>
                  </a:lnTo>
                  <a:lnTo>
                    <a:pt x="21" y="19"/>
                  </a:lnTo>
                  <a:lnTo>
                    <a:pt x="23" y="17"/>
                  </a:lnTo>
                  <a:lnTo>
                    <a:pt x="23" y="15"/>
                  </a:lnTo>
                  <a:lnTo>
                    <a:pt x="23" y="14"/>
                  </a:lnTo>
                  <a:lnTo>
                    <a:pt x="25" y="12"/>
                  </a:lnTo>
                  <a:lnTo>
                    <a:pt x="23" y="10"/>
                  </a:lnTo>
                  <a:lnTo>
                    <a:pt x="23" y="8"/>
                  </a:lnTo>
                  <a:lnTo>
                    <a:pt x="21" y="6"/>
                  </a:lnTo>
                  <a:lnTo>
                    <a:pt x="21" y="4"/>
                  </a:lnTo>
                  <a:lnTo>
                    <a:pt x="19" y="4"/>
                  </a:lnTo>
                  <a:lnTo>
                    <a:pt x="17" y="2"/>
                  </a:lnTo>
                  <a:lnTo>
                    <a:pt x="15" y="2"/>
                  </a:lnTo>
                  <a:lnTo>
                    <a:pt x="13" y="2"/>
                  </a:lnTo>
                  <a:lnTo>
                    <a:pt x="11" y="0"/>
                  </a:lnTo>
                  <a:lnTo>
                    <a:pt x="11" y="2"/>
                  </a:lnTo>
                  <a:lnTo>
                    <a:pt x="9" y="2"/>
                  </a:lnTo>
                  <a:lnTo>
                    <a:pt x="8" y="2"/>
                  </a:lnTo>
                  <a:lnTo>
                    <a:pt x="6" y="4"/>
                  </a:lnTo>
                  <a:lnTo>
                    <a:pt x="4" y="4"/>
                  </a:lnTo>
                  <a:lnTo>
                    <a:pt x="4" y="6"/>
                  </a:lnTo>
                  <a:lnTo>
                    <a:pt x="2" y="8"/>
                  </a:lnTo>
                  <a:lnTo>
                    <a:pt x="2" y="10"/>
                  </a:lnTo>
                  <a:lnTo>
                    <a:pt x="0" y="12"/>
                  </a:lnTo>
                  <a:lnTo>
                    <a:pt x="2" y="14"/>
                  </a:lnTo>
                  <a:lnTo>
                    <a:pt x="2" y="15"/>
                  </a:lnTo>
                  <a:lnTo>
                    <a:pt x="2" y="17"/>
                  </a:lnTo>
                  <a:lnTo>
                    <a:pt x="4" y="19"/>
                  </a:lnTo>
                  <a:lnTo>
                    <a:pt x="4" y="21"/>
                  </a:lnTo>
                  <a:lnTo>
                    <a:pt x="6" y="21"/>
                  </a:lnTo>
                  <a:lnTo>
                    <a:pt x="8" y="23"/>
                  </a:lnTo>
                  <a:lnTo>
                    <a:pt x="9" y="23"/>
                  </a:lnTo>
                  <a:lnTo>
                    <a:pt x="11" y="23"/>
                  </a:lnTo>
                </a:path>
              </a:pathLst>
            </a:custGeom>
            <a:solidFill>
              <a:srgbClr val="000000"/>
            </a:solidFill>
            <a:ln w="9525" cap="rnd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2" name="Line 38"/>
            <p:cNvSpPr>
              <a:spLocks noChangeShapeType="1"/>
            </p:cNvSpPr>
            <p:nvPr/>
          </p:nvSpPr>
          <p:spPr bwMode="auto">
            <a:xfrm>
              <a:off x="4356100" y="3868738"/>
              <a:ext cx="3175" cy="12890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3" name="Freeform 39"/>
            <p:cNvSpPr>
              <a:spLocks/>
            </p:cNvSpPr>
            <p:nvPr/>
          </p:nvSpPr>
          <p:spPr bwMode="auto">
            <a:xfrm>
              <a:off x="4341813" y="4668838"/>
              <a:ext cx="38100" cy="38100"/>
            </a:xfrm>
            <a:custGeom>
              <a:avLst/>
              <a:gdLst>
                <a:gd name="T0" fmla="*/ 9 w 24"/>
                <a:gd name="T1" fmla="*/ 23 h 24"/>
                <a:gd name="T2" fmla="*/ 13 w 24"/>
                <a:gd name="T3" fmla="*/ 23 h 24"/>
                <a:gd name="T4" fmla="*/ 15 w 24"/>
                <a:gd name="T5" fmla="*/ 23 h 24"/>
                <a:gd name="T6" fmla="*/ 15 w 24"/>
                <a:gd name="T7" fmla="*/ 21 h 24"/>
                <a:gd name="T8" fmla="*/ 17 w 24"/>
                <a:gd name="T9" fmla="*/ 21 h 24"/>
                <a:gd name="T10" fmla="*/ 19 w 24"/>
                <a:gd name="T11" fmla="*/ 19 h 24"/>
                <a:gd name="T12" fmla="*/ 21 w 24"/>
                <a:gd name="T13" fmla="*/ 19 h 24"/>
                <a:gd name="T14" fmla="*/ 21 w 24"/>
                <a:gd name="T15" fmla="*/ 17 h 24"/>
                <a:gd name="T16" fmla="*/ 21 w 24"/>
                <a:gd name="T17" fmla="*/ 15 h 24"/>
                <a:gd name="T18" fmla="*/ 23 w 24"/>
                <a:gd name="T19" fmla="*/ 13 h 24"/>
                <a:gd name="T20" fmla="*/ 23 w 24"/>
                <a:gd name="T21" fmla="*/ 12 h 24"/>
                <a:gd name="T22" fmla="*/ 23 w 24"/>
                <a:gd name="T23" fmla="*/ 10 h 24"/>
                <a:gd name="T24" fmla="*/ 21 w 24"/>
                <a:gd name="T25" fmla="*/ 8 h 24"/>
                <a:gd name="T26" fmla="*/ 21 w 24"/>
                <a:gd name="T27" fmla="*/ 6 h 24"/>
                <a:gd name="T28" fmla="*/ 21 w 24"/>
                <a:gd name="T29" fmla="*/ 6 h 24"/>
                <a:gd name="T30" fmla="*/ 19 w 24"/>
                <a:gd name="T31" fmla="*/ 4 h 24"/>
                <a:gd name="T32" fmla="*/ 17 w 24"/>
                <a:gd name="T33" fmla="*/ 2 h 24"/>
                <a:gd name="T34" fmla="*/ 15 w 24"/>
                <a:gd name="T35" fmla="*/ 2 h 24"/>
                <a:gd name="T36" fmla="*/ 15 w 24"/>
                <a:gd name="T37" fmla="*/ 0 h 24"/>
                <a:gd name="T38" fmla="*/ 13 w 24"/>
                <a:gd name="T39" fmla="*/ 0 h 24"/>
                <a:gd name="T40" fmla="*/ 11 w 24"/>
                <a:gd name="T41" fmla="*/ 0 h 24"/>
                <a:gd name="T42" fmla="*/ 9 w 24"/>
                <a:gd name="T43" fmla="*/ 0 h 24"/>
                <a:gd name="T44" fmla="*/ 7 w 24"/>
                <a:gd name="T45" fmla="*/ 0 h 24"/>
                <a:gd name="T46" fmla="*/ 5 w 24"/>
                <a:gd name="T47" fmla="*/ 2 h 24"/>
                <a:gd name="T48" fmla="*/ 3 w 24"/>
                <a:gd name="T49" fmla="*/ 2 h 24"/>
                <a:gd name="T50" fmla="*/ 2 w 24"/>
                <a:gd name="T51" fmla="*/ 4 h 24"/>
                <a:gd name="T52" fmla="*/ 2 w 24"/>
                <a:gd name="T53" fmla="*/ 6 h 24"/>
                <a:gd name="T54" fmla="*/ 0 w 24"/>
                <a:gd name="T55" fmla="*/ 6 h 24"/>
                <a:gd name="T56" fmla="*/ 0 w 24"/>
                <a:gd name="T57" fmla="*/ 8 h 24"/>
                <a:gd name="T58" fmla="*/ 0 w 24"/>
                <a:gd name="T59" fmla="*/ 10 h 24"/>
                <a:gd name="T60" fmla="*/ 0 w 24"/>
                <a:gd name="T61" fmla="*/ 12 h 24"/>
                <a:gd name="T62" fmla="*/ 0 w 24"/>
                <a:gd name="T63" fmla="*/ 13 h 24"/>
                <a:gd name="T64" fmla="*/ 0 w 24"/>
                <a:gd name="T65" fmla="*/ 15 h 24"/>
                <a:gd name="T66" fmla="*/ 0 w 24"/>
                <a:gd name="T67" fmla="*/ 17 h 24"/>
                <a:gd name="T68" fmla="*/ 2 w 24"/>
                <a:gd name="T69" fmla="*/ 19 h 24"/>
                <a:gd name="T70" fmla="*/ 2 w 24"/>
                <a:gd name="T71" fmla="*/ 19 h 24"/>
                <a:gd name="T72" fmla="*/ 3 w 24"/>
                <a:gd name="T73" fmla="*/ 21 h 24"/>
                <a:gd name="T74" fmla="*/ 5 w 24"/>
                <a:gd name="T75" fmla="*/ 21 h 24"/>
                <a:gd name="T76" fmla="*/ 7 w 24"/>
                <a:gd name="T77" fmla="*/ 23 h 24"/>
                <a:gd name="T78" fmla="*/ 9 w 24"/>
                <a:gd name="T79" fmla="*/ 23 h 24"/>
                <a:gd name="T80" fmla="*/ 11 w 24"/>
                <a:gd name="T81" fmla="*/ 23 h 24"/>
                <a:gd name="T82" fmla="*/ 11 w 24"/>
                <a:gd name="T83" fmla="*/ 23 h 24"/>
                <a:gd name="T84" fmla="*/ 9 w 24"/>
                <a:gd name="T85" fmla="*/ 23 h 2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4"/>
                <a:gd name="T130" fmla="*/ 0 h 24"/>
                <a:gd name="T131" fmla="*/ 24 w 24"/>
                <a:gd name="T132" fmla="*/ 24 h 24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4" h="24">
                  <a:moveTo>
                    <a:pt x="9" y="23"/>
                  </a:moveTo>
                  <a:lnTo>
                    <a:pt x="13" y="23"/>
                  </a:lnTo>
                  <a:lnTo>
                    <a:pt x="15" y="23"/>
                  </a:lnTo>
                  <a:lnTo>
                    <a:pt x="15" y="21"/>
                  </a:lnTo>
                  <a:lnTo>
                    <a:pt x="17" y="21"/>
                  </a:lnTo>
                  <a:lnTo>
                    <a:pt x="19" y="19"/>
                  </a:lnTo>
                  <a:lnTo>
                    <a:pt x="21" y="19"/>
                  </a:lnTo>
                  <a:lnTo>
                    <a:pt x="21" y="17"/>
                  </a:lnTo>
                  <a:lnTo>
                    <a:pt x="21" y="15"/>
                  </a:lnTo>
                  <a:lnTo>
                    <a:pt x="23" y="13"/>
                  </a:lnTo>
                  <a:lnTo>
                    <a:pt x="23" y="12"/>
                  </a:lnTo>
                  <a:lnTo>
                    <a:pt x="23" y="10"/>
                  </a:lnTo>
                  <a:lnTo>
                    <a:pt x="21" y="8"/>
                  </a:lnTo>
                  <a:lnTo>
                    <a:pt x="21" y="6"/>
                  </a:lnTo>
                  <a:lnTo>
                    <a:pt x="19" y="4"/>
                  </a:lnTo>
                  <a:lnTo>
                    <a:pt x="17" y="2"/>
                  </a:lnTo>
                  <a:lnTo>
                    <a:pt x="15" y="2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1" y="0"/>
                  </a:lnTo>
                  <a:lnTo>
                    <a:pt x="9" y="0"/>
                  </a:lnTo>
                  <a:lnTo>
                    <a:pt x="7" y="0"/>
                  </a:lnTo>
                  <a:lnTo>
                    <a:pt x="5" y="2"/>
                  </a:lnTo>
                  <a:lnTo>
                    <a:pt x="3" y="2"/>
                  </a:lnTo>
                  <a:lnTo>
                    <a:pt x="2" y="4"/>
                  </a:lnTo>
                  <a:lnTo>
                    <a:pt x="2" y="6"/>
                  </a:lnTo>
                  <a:lnTo>
                    <a:pt x="0" y="6"/>
                  </a:lnTo>
                  <a:lnTo>
                    <a:pt x="0" y="8"/>
                  </a:lnTo>
                  <a:lnTo>
                    <a:pt x="0" y="10"/>
                  </a:lnTo>
                  <a:lnTo>
                    <a:pt x="0" y="12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0" y="17"/>
                  </a:lnTo>
                  <a:lnTo>
                    <a:pt x="2" y="19"/>
                  </a:lnTo>
                  <a:lnTo>
                    <a:pt x="3" y="21"/>
                  </a:lnTo>
                  <a:lnTo>
                    <a:pt x="5" y="21"/>
                  </a:lnTo>
                  <a:lnTo>
                    <a:pt x="7" y="23"/>
                  </a:lnTo>
                  <a:lnTo>
                    <a:pt x="9" y="23"/>
                  </a:lnTo>
                  <a:lnTo>
                    <a:pt x="11" y="23"/>
                  </a:lnTo>
                  <a:lnTo>
                    <a:pt x="9" y="23"/>
                  </a:lnTo>
                </a:path>
              </a:pathLst>
            </a:custGeom>
            <a:solidFill>
              <a:srgbClr val="000000"/>
            </a:solidFill>
            <a:ln w="9525" cap="rnd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4" name="Freeform 40"/>
            <p:cNvSpPr>
              <a:spLocks/>
            </p:cNvSpPr>
            <p:nvPr/>
          </p:nvSpPr>
          <p:spPr bwMode="auto">
            <a:xfrm>
              <a:off x="4341813" y="5140325"/>
              <a:ext cx="38100" cy="38100"/>
            </a:xfrm>
            <a:custGeom>
              <a:avLst/>
              <a:gdLst>
                <a:gd name="T0" fmla="*/ 9 w 24"/>
                <a:gd name="T1" fmla="*/ 23 h 24"/>
                <a:gd name="T2" fmla="*/ 13 w 24"/>
                <a:gd name="T3" fmla="*/ 23 h 24"/>
                <a:gd name="T4" fmla="*/ 15 w 24"/>
                <a:gd name="T5" fmla="*/ 23 h 24"/>
                <a:gd name="T6" fmla="*/ 15 w 24"/>
                <a:gd name="T7" fmla="*/ 23 h 24"/>
                <a:gd name="T8" fmla="*/ 17 w 24"/>
                <a:gd name="T9" fmla="*/ 21 h 24"/>
                <a:gd name="T10" fmla="*/ 19 w 24"/>
                <a:gd name="T11" fmla="*/ 19 h 24"/>
                <a:gd name="T12" fmla="*/ 19 w 24"/>
                <a:gd name="T13" fmla="*/ 19 h 24"/>
                <a:gd name="T14" fmla="*/ 21 w 24"/>
                <a:gd name="T15" fmla="*/ 17 h 24"/>
                <a:gd name="T16" fmla="*/ 21 w 24"/>
                <a:gd name="T17" fmla="*/ 15 h 24"/>
                <a:gd name="T18" fmla="*/ 23 w 24"/>
                <a:gd name="T19" fmla="*/ 13 h 24"/>
                <a:gd name="T20" fmla="*/ 23 w 24"/>
                <a:gd name="T21" fmla="*/ 11 h 24"/>
                <a:gd name="T22" fmla="*/ 23 w 24"/>
                <a:gd name="T23" fmla="*/ 10 h 24"/>
                <a:gd name="T24" fmla="*/ 21 w 24"/>
                <a:gd name="T25" fmla="*/ 8 h 24"/>
                <a:gd name="T26" fmla="*/ 21 w 24"/>
                <a:gd name="T27" fmla="*/ 6 h 24"/>
                <a:gd name="T28" fmla="*/ 19 w 24"/>
                <a:gd name="T29" fmla="*/ 6 h 24"/>
                <a:gd name="T30" fmla="*/ 19 w 24"/>
                <a:gd name="T31" fmla="*/ 4 h 24"/>
                <a:gd name="T32" fmla="*/ 17 w 24"/>
                <a:gd name="T33" fmla="*/ 2 h 24"/>
                <a:gd name="T34" fmla="*/ 15 w 24"/>
                <a:gd name="T35" fmla="*/ 2 h 24"/>
                <a:gd name="T36" fmla="*/ 15 w 24"/>
                <a:gd name="T37" fmla="*/ 0 h 24"/>
                <a:gd name="T38" fmla="*/ 13 w 24"/>
                <a:gd name="T39" fmla="*/ 0 h 24"/>
                <a:gd name="T40" fmla="*/ 11 w 24"/>
                <a:gd name="T41" fmla="*/ 0 h 24"/>
                <a:gd name="T42" fmla="*/ 9 w 24"/>
                <a:gd name="T43" fmla="*/ 0 h 24"/>
                <a:gd name="T44" fmla="*/ 7 w 24"/>
                <a:gd name="T45" fmla="*/ 0 h 24"/>
                <a:gd name="T46" fmla="*/ 5 w 24"/>
                <a:gd name="T47" fmla="*/ 2 h 24"/>
                <a:gd name="T48" fmla="*/ 3 w 24"/>
                <a:gd name="T49" fmla="*/ 2 h 24"/>
                <a:gd name="T50" fmla="*/ 2 w 24"/>
                <a:gd name="T51" fmla="*/ 4 h 24"/>
                <a:gd name="T52" fmla="*/ 2 w 24"/>
                <a:gd name="T53" fmla="*/ 6 h 24"/>
                <a:gd name="T54" fmla="*/ 0 w 24"/>
                <a:gd name="T55" fmla="*/ 6 h 24"/>
                <a:gd name="T56" fmla="*/ 0 w 24"/>
                <a:gd name="T57" fmla="*/ 8 h 24"/>
                <a:gd name="T58" fmla="*/ 0 w 24"/>
                <a:gd name="T59" fmla="*/ 10 h 24"/>
                <a:gd name="T60" fmla="*/ 0 w 24"/>
                <a:gd name="T61" fmla="*/ 11 h 24"/>
                <a:gd name="T62" fmla="*/ 0 w 24"/>
                <a:gd name="T63" fmla="*/ 13 h 24"/>
                <a:gd name="T64" fmla="*/ 0 w 24"/>
                <a:gd name="T65" fmla="*/ 15 h 24"/>
                <a:gd name="T66" fmla="*/ 0 w 24"/>
                <a:gd name="T67" fmla="*/ 17 h 24"/>
                <a:gd name="T68" fmla="*/ 2 w 24"/>
                <a:gd name="T69" fmla="*/ 19 h 24"/>
                <a:gd name="T70" fmla="*/ 2 w 24"/>
                <a:gd name="T71" fmla="*/ 19 h 24"/>
                <a:gd name="T72" fmla="*/ 3 w 24"/>
                <a:gd name="T73" fmla="*/ 21 h 24"/>
                <a:gd name="T74" fmla="*/ 5 w 24"/>
                <a:gd name="T75" fmla="*/ 23 h 24"/>
                <a:gd name="T76" fmla="*/ 7 w 24"/>
                <a:gd name="T77" fmla="*/ 23 h 24"/>
                <a:gd name="T78" fmla="*/ 9 w 24"/>
                <a:gd name="T79" fmla="*/ 23 h 24"/>
                <a:gd name="T80" fmla="*/ 11 w 24"/>
                <a:gd name="T81" fmla="*/ 23 h 24"/>
                <a:gd name="T82" fmla="*/ 11 w 24"/>
                <a:gd name="T83" fmla="*/ 23 h 24"/>
                <a:gd name="T84" fmla="*/ 9 w 24"/>
                <a:gd name="T85" fmla="*/ 23 h 2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4"/>
                <a:gd name="T130" fmla="*/ 0 h 24"/>
                <a:gd name="T131" fmla="*/ 24 w 24"/>
                <a:gd name="T132" fmla="*/ 24 h 24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4" h="24">
                  <a:moveTo>
                    <a:pt x="9" y="23"/>
                  </a:moveTo>
                  <a:lnTo>
                    <a:pt x="13" y="23"/>
                  </a:lnTo>
                  <a:lnTo>
                    <a:pt x="15" y="23"/>
                  </a:lnTo>
                  <a:lnTo>
                    <a:pt x="17" y="21"/>
                  </a:lnTo>
                  <a:lnTo>
                    <a:pt x="19" y="19"/>
                  </a:lnTo>
                  <a:lnTo>
                    <a:pt x="21" y="17"/>
                  </a:lnTo>
                  <a:lnTo>
                    <a:pt x="21" y="15"/>
                  </a:lnTo>
                  <a:lnTo>
                    <a:pt x="23" y="13"/>
                  </a:lnTo>
                  <a:lnTo>
                    <a:pt x="23" y="11"/>
                  </a:lnTo>
                  <a:lnTo>
                    <a:pt x="23" y="10"/>
                  </a:lnTo>
                  <a:lnTo>
                    <a:pt x="21" y="8"/>
                  </a:lnTo>
                  <a:lnTo>
                    <a:pt x="21" y="6"/>
                  </a:lnTo>
                  <a:lnTo>
                    <a:pt x="19" y="6"/>
                  </a:lnTo>
                  <a:lnTo>
                    <a:pt x="19" y="4"/>
                  </a:lnTo>
                  <a:lnTo>
                    <a:pt x="17" y="2"/>
                  </a:lnTo>
                  <a:lnTo>
                    <a:pt x="15" y="2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1" y="0"/>
                  </a:lnTo>
                  <a:lnTo>
                    <a:pt x="9" y="0"/>
                  </a:lnTo>
                  <a:lnTo>
                    <a:pt x="7" y="0"/>
                  </a:lnTo>
                  <a:lnTo>
                    <a:pt x="5" y="2"/>
                  </a:lnTo>
                  <a:lnTo>
                    <a:pt x="3" y="2"/>
                  </a:lnTo>
                  <a:lnTo>
                    <a:pt x="2" y="4"/>
                  </a:lnTo>
                  <a:lnTo>
                    <a:pt x="2" y="6"/>
                  </a:lnTo>
                  <a:lnTo>
                    <a:pt x="0" y="6"/>
                  </a:lnTo>
                  <a:lnTo>
                    <a:pt x="0" y="8"/>
                  </a:lnTo>
                  <a:lnTo>
                    <a:pt x="0" y="10"/>
                  </a:lnTo>
                  <a:lnTo>
                    <a:pt x="0" y="11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0" y="17"/>
                  </a:lnTo>
                  <a:lnTo>
                    <a:pt x="2" y="19"/>
                  </a:lnTo>
                  <a:lnTo>
                    <a:pt x="3" y="21"/>
                  </a:lnTo>
                  <a:lnTo>
                    <a:pt x="5" y="23"/>
                  </a:lnTo>
                  <a:lnTo>
                    <a:pt x="7" y="23"/>
                  </a:lnTo>
                  <a:lnTo>
                    <a:pt x="9" y="23"/>
                  </a:lnTo>
                  <a:lnTo>
                    <a:pt x="11" y="23"/>
                  </a:lnTo>
                  <a:lnTo>
                    <a:pt x="9" y="23"/>
                  </a:lnTo>
                </a:path>
              </a:pathLst>
            </a:custGeom>
            <a:solidFill>
              <a:srgbClr val="000000"/>
            </a:solidFill>
            <a:ln w="9525" cap="rnd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5" name="Line 41"/>
            <p:cNvSpPr>
              <a:spLocks noChangeShapeType="1"/>
            </p:cNvSpPr>
            <p:nvPr/>
          </p:nvSpPr>
          <p:spPr bwMode="auto">
            <a:xfrm flipH="1" flipV="1">
              <a:off x="4419600" y="5113338"/>
              <a:ext cx="55563" cy="9048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6" name="Rectangle 42"/>
            <p:cNvSpPr>
              <a:spLocks noChangeArrowheads="1"/>
            </p:cNvSpPr>
            <p:nvPr/>
          </p:nvSpPr>
          <p:spPr bwMode="auto">
            <a:xfrm>
              <a:off x="4344988" y="4987925"/>
              <a:ext cx="222231" cy="1760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sz="600">
                  <a:solidFill>
                    <a:srgbClr val="000000"/>
                  </a:solidFill>
                  <a:latin typeface="+mj-lt"/>
                </a:rPr>
                <a:t>6</a:t>
              </a:r>
            </a:p>
          </p:txBody>
        </p:sp>
        <p:sp>
          <p:nvSpPr>
            <p:cNvPr id="37" name="Line 43"/>
            <p:cNvSpPr>
              <a:spLocks noChangeShapeType="1"/>
            </p:cNvSpPr>
            <p:nvPr/>
          </p:nvSpPr>
          <p:spPr bwMode="auto">
            <a:xfrm flipH="1" flipV="1">
              <a:off x="4019550" y="4049713"/>
              <a:ext cx="698500" cy="158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8" name="Freeform 44"/>
            <p:cNvSpPr>
              <a:spLocks/>
            </p:cNvSpPr>
            <p:nvPr/>
          </p:nvSpPr>
          <p:spPr bwMode="auto">
            <a:xfrm>
              <a:off x="4273550" y="4359275"/>
              <a:ext cx="1412875" cy="450850"/>
            </a:xfrm>
            <a:custGeom>
              <a:avLst/>
              <a:gdLst>
                <a:gd name="T0" fmla="*/ 889 w 935"/>
                <a:gd name="T1" fmla="*/ 283 h 284"/>
                <a:gd name="T2" fmla="*/ 0 w 935"/>
                <a:gd name="T3" fmla="*/ 283 h 284"/>
                <a:gd name="T4" fmla="*/ 0 w 935"/>
                <a:gd name="T5" fmla="*/ 0 h 284"/>
                <a:gd name="T6" fmla="*/ 0 60000 65536"/>
                <a:gd name="T7" fmla="*/ 0 60000 65536"/>
                <a:gd name="T8" fmla="*/ 0 60000 65536"/>
                <a:gd name="T9" fmla="*/ 0 w 935"/>
                <a:gd name="T10" fmla="*/ 0 h 284"/>
                <a:gd name="T11" fmla="*/ 935 w 935"/>
                <a:gd name="T12" fmla="*/ 284 h 28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35" h="284">
                  <a:moveTo>
                    <a:pt x="934" y="283"/>
                  </a:moveTo>
                  <a:lnTo>
                    <a:pt x="0" y="283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triangl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9" name="Freeform 45"/>
            <p:cNvSpPr>
              <a:spLocks/>
            </p:cNvSpPr>
            <p:nvPr/>
          </p:nvSpPr>
          <p:spPr bwMode="auto">
            <a:xfrm>
              <a:off x="5686425" y="3081338"/>
              <a:ext cx="147638" cy="2820988"/>
            </a:xfrm>
            <a:custGeom>
              <a:avLst/>
              <a:gdLst>
                <a:gd name="T0" fmla="*/ 90 w 93"/>
                <a:gd name="T1" fmla="*/ 1776 h 1777"/>
                <a:gd name="T2" fmla="*/ 92 w 93"/>
                <a:gd name="T3" fmla="*/ 0 h 1777"/>
                <a:gd name="T4" fmla="*/ 0 w 93"/>
                <a:gd name="T5" fmla="*/ 0 h 1777"/>
                <a:gd name="T6" fmla="*/ 0 w 93"/>
                <a:gd name="T7" fmla="*/ 1776 h 1777"/>
                <a:gd name="T8" fmla="*/ 92 w 93"/>
                <a:gd name="T9" fmla="*/ 1776 h 1777"/>
                <a:gd name="T10" fmla="*/ 92 w 93"/>
                <a:gd name="T11" fmla="*/ 1776 h 177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3"/>
                <a:gd name="T19" fmla="*/ 0 h 1777"/>
                <a:gd name="T20" fmla="*/ 93 w 93"/>
                <a:gd name="T21" fmla="*/ 1777 h 177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3" h="1777">
                  <a:moveTo>
                    <a:pt x="90" y="1776"/>
                  </a:moveTo>
                  <a:lnTo>
                    <a:pt x="92" y="0"/>
                  </a:lnTo>
                  <a:lnTo>
                    <a:pt x="0" y="0"/>
                  </a:lnTo>
                  <a:lnTo>
                    <a:pt x="0" y="1776"/>
                  </a:lnTo>
                  <a:lnTo>
                    <a:pt x="92" y="1776"/>
                  </a:lnTo>
                </a:path>
              </a:pathLst>
            </a:custGeom>
            <a:solidFill>
              <a:srgbClr val="CCEC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0" name="Freeform 46"/>
            <p:cNvSpPr>
              <a:spLocks/>
            </p:cNvSpPr>
            <p:nvPr/>
          </p:nvSpPr>
          <p:spPr bwMode="auto">
            <a:xfrm>
              <a:off x="4602163" y="3141663"/>
              <a:ext cx="579438" cy="669925"/>
            </a:xfrm>
            <a:custGeom>
              <a:avLst/>
              <a:gdLst>
                <a:gd name="T0" fmla="*/ 0 w 301"/>
                <a:gd name="T1" fmla="*/ 0 h 422"/>
                <a:gd name="T2" fmla="*/ 0 w 301"/>
                <a:gd name="T3" fmla="*/ 170 h 422"/>
                <a:gd name="T4" fmla="*/ 75 w 301"/>
                <a:gd name="T5" fmla="*/ 210 h 422"/>
                <a:gd name="T6" fmla="*/ 0 w 301"/>
                <a:gd name="T7" fmla="*/ 251 h 422"/>
                <a:gd name="T8" fmla="*/ 0 w 301"/>
                <a:gd name="T9" fmla="*/ 421 h 422"/>
                <a:gd name="T10" fmla="*/ 364 w 301"/>
                <a:gd name="T11" fmla="*/ 285 h 422"/>
                <a:gd name="T12" fmla="*/ 364 w 301"/>
                <a:gd name="T13" fmla="*/ 138 h 422"/>
                <a:gd name="T14" fmla="*/ 0 w 301"/>
                <a:gd name="T15" fmla="*/ 0 h 422"/>
                <a:gd name="T16" fmla="*/ 0 w 301"/>
                <a:gd name="T17" fmla="*/ 0 h 42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01"/>
                <a:gd name="T28" fmla="*/ 0 h 422"/>
                <a:gd name="T29" fmla="*/ 301 w 301"/>
                <a:gd name="T30" fmla="*/ 422 h 422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01" h="422">
                  <a:moveTo>
                    <a:pt x="0" y="0"/>
                  </a:moveTo>
                  <a:lnTo>
                    <a:pt x="0" y="170"/>
                  </a:lnTo>
                  <a:lnTo>
                    <a:pt x="62" y="210"/>
                  </a:lnTo>
                  <a:lnTo>
                    <a:pt x="0" y="251"/>
                  </a:lnTo>
                  <a:lnTo>
                    <a:pt x="0" y="421"/>
                  </a:lnTo>
                  <a:lnTo>
                    <a:pt x="300" y="285"/>
                  </a:lnTo>
                  <a:lnTo>
                    <a:pt x="300" y="138"/>
                  </a:lnTo>
                  <a:lnTo>
                    <a:pt x="0" y="0"/>
                  </a:lnTo>
                </a:path>
              </a:pathLst>
            </a:custGeom>
            <a:solidFill>
              <a:srgbClr val="CCFF99"/>
            </a:solidFill>
            <a:ln w="190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1" name="Freeform 47"/>
            <p:cNvSpPr>
              <a:spLocks/>
            </p:cNvSpPr>
            <p:nvPr/>
          </p:nvSpPr>
          <p:spPr bwMode="auto">
            <a:xfrm>
              <a:off x="4713288" y="3944938"/>
              <a:ext cx="620713" cy="727075"/>
            </a:xfrm>
            <a:custGeom>
              <a:avLst/>
              <a:gdLst>
                <a:gd name="T0" fmla="*/ 0 w 300"/>
                <a:gd name="T1" fmla="*/ 0 h 422"/>
                <a:gd name="T2" fmla="*/ 0 w 300"/>
                <a:gd name="T3" fmla="*/ 186 h 422"/>
                <a:gd name="T4" fmla="*/ 80 w 300"/>
                <a:gd name="T5" fmla="*/ 229 h 422"/>
                <a:gd name="T6" fmla="*/ 0 w 300"/>
                <a:gd name="T7" fmla="*/ 272 h 422"/>
                <a:gd name="T8" fmla="*/ 0 w 300"/>
                <a:gd name="T9" fmla="*/ 457 h 422"/>
                <a:gd name="T10" fmla="*/ 390 w 300"/>
                <a:gd name="T11" fmla="*/ 309 h 422"/>
                <a:gd name="T12" fmla="*/ 390 w 300"/>
                <a:gd name="T13" fmla="*/ 148 h 422"/>
                <a:gd name="T14" fmla="*/ 0 w 300"/>
                <a:gd name="T15" fmla="*/ 0 h 422"/>
                <a:gd name="T16" fmla="*/ 0 w 300"/>
                <a:gd name="T17" fmla="*/ 0 h 42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00"/>
                <a:gd name="T28" fmla="*/ 0 h 422"/>
                <a:gd name="T29" fmla="*/ 300 w 300"/>
                <a:gd name="T30" fmla="*/ 422 h 422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00" h="422">
                  <a:moveTo>
                    <a:pt x="0" y="0"/>
                  </a:moveTo>
                  <a:lnTo>
                    <a:pt x="0" y="171"/>
                  </a:lnTo>
                  <a:lnTo>
                    <a:pt x="61" y="211"/>
                  </a:lnTo>
                  <a:lnTo>
                    <a:pt x="0" y="251"/>
                  </a:lnTo>
                  <a:lnTo>
                    <a:pt x="0" y="421"/>
                  </a:lnTo>
                  <a:lnTo>
                    <a:pt x="299" y="285"/>
                  </a:lnTo>
                  <a:lnTo>
                    <a:pt x="299" y="136"/>
                  </a:lnTo>
                  <a:lnTo>
                    <a:pt x="0" y="0"/>
                  </a:lnTo>
                </a:path>
              </a:pathLst>
            </a:custGeom>
            <a:solidFill>
              <a:srgbClr val="CCFF99"/>
            </a:solidFill>
            <a:ln w="190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2" name="Freeform 48"/>
            <p:cNvSpPr>
              <a:spLocks/>
            </p:cNvSpPr>
            <p:nvPr/>
          </p:nvSpPr>
          <p:spPr bwMode="auto">
            <a:xfrm>
              <a:off x="4246563" y="3482975"/>
              <a:ext cx="239713" cy="379413"/>
            </a:xfrm>
            <a:custGeom>
              <a:avLst/>
              <a:gdLst>
                <a:gd name="T0" fmla="*/ 73 w 151"/>
                <a:gd name="T1" fmla="*/ 236 h 239"/>
                <a:gd name="T2" fmla="*/ 86 w 151"/>
                <a:gd name="T3" fmla="*/ 236 h 239"/>
                <a:gd name="T4" fmla="*/ 98 w 151"/>
                <a:gd name="T5" fmla="*/ 232 h 239"/>
                <a:gd name="T6" fmla="*/ 109 w 151"/>
                <a:gd name="T7" fmla="*/ 224 h 239"/>
                <a:gd name="T8" fmla="*/ 119 w 151"/>
                <a:gd name="T9" fmla="*/ 215 h 239"/>
                <a:gd name="T10" fmla="*/ 129 w 151"/>
                <a:gd name="T11" fmla="*/ 203 h 239"/>
                <a:gd name="T12" fmla="*/ 134 w 151"/>
                <a:gd name="T13" fmla="*/ 188 h 239"/>
                <a:gd name="T14" fmla="*/ 142 w 151"/>
                <a:gd name="T15" fmla="*/ 172 h 239"/>
                <a:gd name="T16" fmla="*/ 146 w 151"/>
                <a:gd name="T17" fmla="*/ 155 h 239"/>
                <a:gd name="T18" fmla="*/ 150 w 151"/>
                <a:gd name="T19" fmla="*/ 138 h 239"/>
                <a:gd name="T20" fmla="*/ 150 w 151"/>
                <a:gd name="T21" fmla="*/ 119 h 239"/>
                <a:gd name="T22" fmla="*/ 150 w 151"/>
                <a:gd name="T23" fmla="*/ 100 h 239"/>
                <a:gd name="T24" fmla="*/ 146 w 151"/>
                <a:gd name="T25" fmla="*/ 80 h 239"/>
                <a:gd name="T26" fmla="*/ 142 w 151"/>
                <a:gd name="T27" fmla="*/ 63 h 239"/>
                <a:gd name="T28" fmla="*/ 134 w 151"/>
                <a:gd name="T29" fmla="*/ 48 h 239"/>
                <a:gd name="T30" fmla="*/ 129 w 151"/>
                <a:gd name="T31" fmla="*/ 34 h 239"/>
                <a:gd name="T32" fmla="*/ 119 w 151"/>
                <a:gd name="T33" fmla="*/ 23 h 239"/>
                <a:gd name="T34" fmla="*/ 109 w 151"/>
                <a:gd name="T35" fmla="*/ 13 h 239"/>
                <a:gd name="T36" fmla="*/ 98 w 151"/>
                <a:gd name="T37" fmla="*/ 6 h 239"/>
                <a:gd name="T38" fmla="*/ 86 w 151"/>
                <a:gd name="T39" fmla="*/ 0 h 239"/>
                <a:gd name="T40" fmla="*/ 75 w 151"/>
                <a:gd name="T41" fmla="*/ 0 h 239"/>
                <a:gd name="T42" fmla="*/ 62 w 151"/>
                <a:gd name="T43" fmla="*/ 0 h 239"/>
                <a:gd name="T44" fmla="*/ 50 w 151"/>
                <a:gd name="T45" fmla="*/ 6 h 239"/>
                <a:gd name="T46" fmla="*/ 40 w 151"/>
                <a:gd name="T47" fmla="*/ 13 h 239"/>
                <a:gd name="T48" fmla="*/ 31 w 151"/>
                <a:gd name="T49" fmla="*/ 23 h 239"/>
                <a:gd name="T50" fmla="*/ 21 w 151"/>
                <a:gd name="T51" fmla="*/ 34 h 239"/>
                <a:gd name="T52" fmla="*/ 14 w 151"/>
                <a:gd name="T53" fmla="*/ 48 h 239"/>
                <a:gd name="T54" fmla="*/ 8 w 151"/>
                <a:gd name="T55" fmla="*/ 63 h 239"/>
                <a:gd name="T56" fmla="*/ 4 w 151"/>
                <a:gd name="T57" fmla="*/ 80 h 239"/>
                <a:gd name="T58" fmla="*/ 0 w 151"/>
                <a:gd name="T59" fmla="*/ 100 h 239"/>
                <a:gd name="T60" fmla="*/ 0 w 151"/>
                <a:gd name="T61" fmla="*/ 119 h 239"/>
                <a:gd name="T62" fmla="*/ 0 w 151"/>
                <a:gd name="T63" fmla="*/ 138 h 239"/>
                <a:gd name="T64" fmla="*/ 4 w 151"/>
                <a:gd name="T65" fmla="*/ 155 h 239"/>
                <a:gd name="T66" fmla="*/ 8 w 151"/>
                <a:gd name="T67" fmla="*/ 172 h 239"/>
                <a:gd name="T68" fmla="*/ 14 w 151"/>
                <a:gd name="T69" fmla="*/ 188 h 239"/>
                <a:gd name="T70" fmla="*/ 21 w 151"/>
                <a:gd name="T71" fmla="*/ 203 h 239"/>
                <a:gd name="T72" fmla="*/ 31 w 151"/>
                <a:gd name="T73" fmla="*/ 215 h 239"/>
                <a:gd name="T74" fmla="*/ 40 w 151"/>
                <a:gd name="T75" fmla="*/ 224 h 239"/>
                <a:gd name="T76" fmla="*/ 50 w 151"/>
                <a:gd name="T77" fmla="*/ 232 h 239"/>
                <a:gd name="T78" fmla="*/ 62 w 151"/>
                <a:gd name="T79" fmla="*/ 236 h 239"/>
                <a:gd name="T80" fmla="*/ 75 w 151"/>
                <a:gd name="T81" fmla="*/ 238 h 239"/>
                <a:gd name="T82" fmla="*/ 75 w 151"/>
                <a:gd name="T83" fmla="*/ 238 h 239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151"/>
                <a:gd name="T127" fmla="*/ 0 h 239"/>
                <a:gd name="T128" fmla="*/ 151 w 151"/>
                <a:gd name="T129" fmla="*/ 239 h 239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151" h="239">
                  <a:moveTo>
                    <a:pt x="73" y="236"/>
                  </a:moveTo>
                  <a:lnTo>
                    <a:pt x="86" y="236"/>
                  </a:lnTo>
                  <a:lnTo>
                    <a:pt x="98" y="232"/>
                  </a:lnTo>
                  <a:lnTo>
                    <a:pt x="109" y="224"/>
                  </a:lnTo>
                  <a:lnTo>
                    <a:pt x="119" y="215"/>
                  </a:lnTo>
                  <a:lnTo>
                    <a:pt x="129" y="203"/>
                  </a:lnTo>
                  <a:lnTo>
                    <a:pt x="134" y="188"/>
                  </a:lnTo>
                  <a:lnTo>
                    <a:pt x="142" y="172"/>
                  </a:lnTo>
                  <a:lnTo>
                    <a:pt x="146" y="155"/>
                  </a:lnTo>
                  <a:lnTo>
                    <a:pt x="150" y="138"/>
                  </a:lnTo>
                  <a:lnTo>
                    <a:pt x="150" y="119"/>
                  </a:lnTo>
                  <a:lnTo>
                    <a:pt x="150" y="100"/>
                  </a:lnTo>
                  <a:lnTo>
                    <a:pt x="146" y="80"/>
                  </a:lnTo>
                  <a:lnTo>
                    <a:pt x="142" y="63"/>
                  </a:lnTo>
                  <a:lnTo>
                    <a:pt x="134" y="48"/>
                  </a:lnTo>
                  <a:lnTo>
                    <a:pt x="129" y="34"/>
                  </a:lnTo>
                  <a:lnTo>
                    <a:pt x="119" y="23"/>
                  </a:lnTo>
                  <a:lnTo>
                    <a:pt x="109" y="13"/>
                  </a:lnTo>
                  <a:lnTo>
                    <a:pt x="98" y="6"/>
                  </a:lnTo>
                  <a:lnTo>
                    <a:pt x="86" y="0"/>
                  </a:lnTo>
                  <a:lnTo>
                    <a:pt x="75" y="0"/>
                  </a:lnTo>
                  <a:lnTo>
                    <a:pt x="62" y="0"/>
                  </a:lnTo>
                  <a:lnTo>
                    <a:pt x="50" y="6"/>
                  </a:lnTo>
                  <a:lnTo>
                    <a:pt x="40" y="13"/>
                  </a:lnTo>
                  <a:lnTo>
                    <a:pt x="31" y="23"/>
                  </a:lnTo>
                  <a:lnTo>
                    <a:pt x="21" y="34"/>
                  </a:lnTo>
                  <a:lnTo>
                    <a:pt x="14" y="48"/>
                  </a:lnTo>
                  <a:lnTo>
                    <a:pt x="8" y="63"/>
                  </a:lnTo>
                  <a:lnTo>
                    <a:pt x="4" y="80"/>
                  </a:lnTo>
                  <a:lnTo>
                    <a:pt x="0" y="100"/>
                  </a:lnTo>
                  <a:lnTo>
                    <a:pt x="0" y="119"/>
                  </a:lnTo>
                  <a:lnTo>
                    <a:pt x="0" y="138"/>
                  </a:lnTo>
                  <a:lnTo>
                    <a:pt x="4" y="155"/>
                  </a:lnTo>
                  <a:lnTo>
                    <a:pt x="8" y="172"/>
                  </a:lnTo>
                  <a:lnTo>
                    <a:pt x="14" y="188"/>
                  </a:lnTo>
                  <a:lnTo>
                    <a:pt x="21" y="203"/>
                  </a:lnTo>
                  <a:lnTo>
                    <a:pt x="31" y="215"/>
                  </a:lnTo>
                  <a:lnTo>
                    <a:pt x="40" y="224"/>
                  </a:lnTo>
                  <a:lnTo>
                    <a:pt x="50" y="232"/>
                  </a:lnTo>
                  <a:lnTo>
                    <a:pt x="62" y="236"/>
                  </a:lnTo>
                  <a:lnTo>
                    <a:pt x="75" y="238"/>
                  </a:lnTo>
                </a:path>
              </a:pathLst>
            </a:custGeom>
            <a:solidFill>
              <a:srgbClr val="EAEAEA"/>
            </a:solidFill>
            <a:ln w="190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3" name="Rectangle 49"/>
            <p:cNvSpPr>
              <a:spLocks noChangeArrowheads="1"/>
            </p:cNvSpPr>
            <p:nvPr/>
          </p:nvSpPr>
          <p:spPr bwMode="auto">
            <a:xfrm>
              <a:off x="4733925" y="4383088"/>
              <a:ext cx="253407" cy="1753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>
                  <a:solidFill>
                    <a:srgbClr val="000000"/>
                  </a:solidFill>
                  <a:latin typeface="+mj-lt"/>
                </a:rPr>
                <a:t>ALU</a:t>
              </a:r>
            </a:p>
          </p:txBody>
        </p:sp>
        <p:sp>
          <p:nvSpPr>
            <p:cNvPr id="44" name="Rectangle 50"/>
            <p:cNvSpPr>
              <a:spLocks noChangeArrowheads="1"/>
            </p:cNvSpPr>
            <p:nvPr/>
          </p:nvSpPr>
          <p:spPr bwMode="auto">
            <a:xfrm>
              <a:off x="5038725" y="4319588"/>
              <a:ext cx="242867" cy="1169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000000"/>
                  </a:solidFill>
                  <a:latin typeface="+mj-lt"/>
                </a:rPr>
                <a:t>result</a:t>
              </a:r>
            </a:p>
          </p:txBody>
        </p:sp>
        <p:sp>
          <p:nvSpPr>
            <p:cNvPr id="45" name="Rectangle 51"/>
            <p:cNvSpPr>
              <a:spLocks noChangeArrowheads="1"/>
            </p:cNvSpPr>
            <p:nvPr/>
          </p:nvSpPr>
          <p:spPr bwMode="auto">
            <a:xfrm>
              <a:off x="5092700" y="4171950"/>
              <a:ext cx="190483" cy="1169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000000"/>
                  </a:solidFill>
                  <a:latin typeface="+mj-lt"/>
                </a:rPr>
                <a:t>Zero</a:t>
              </a:r>
              <a:endParaRPr lang="en-US" sz="5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46" name="Rectangle 52"/>
            <p:cNvSpPr>
              <a:spLocks noChangeArrowheads="1"/>
            </p:cNvSpPr>
            <p:nvPr/>
          </p:nvSpPr>
          <p:spPr bwMode="auto">
            <a:xfrm>
              <a:off x="4887913" y="3319463"/>
              <a:ext cx="242867" cy="2338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000000"/>
                  </a:solidFill>
                  <a:latin typeface="+mj-lt"/>
                </a:rPr>
                <a:t>Add </a:t>
              </a:r>
            </a:p>
            <a:p>
              <a:r>
                <a:rPr lang="en-US" sz="800">
                  <a:solidFill>
                    <a:srgbClr val="000000"/>
                  </a:solidFill>
                  <a:latin typeface="+mj-lt"/>
                </a:rPr>
                <a:t>result</a:t>
              </a:r>
              <a:endParaRPr lang="en-US" sz="5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47" name="Rectangle 53"/>
            <p:cNvSpPr>
              <a:spLocks noChangeArrowheads="1"/>
            </p:cNvSpPr>
            <p:nvPr/>
          </p:nvSpPr>
          <p:spPr bwMode="auto">
            <a:xfrm>
              <a:off x="4619625" y="3529013"/>
              <a:ext cx="257152" cy="1753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>
                  <a:solidFill>
                    <a:srgbClr val="000000"/>
                  </a:solidFill>
                  <a:latin typeface="+mj-lt"/>
                </a:rPr>
                <a:t>Add</a:t>
              </a:r>
            </a:p>
          </p:txBody>
        </p:sp>
        <p:sp>
          <p:nvSpPr>
            <p:cNvPr id="48" name="Rectangle 54"/>
            <p:cNvSpPr>
              <a:spLocks noChangeArrowheads="1"/>
            </p:cNvSpPr>
            <p:nvPr/>
          </p:nvSpPr>
          <p:spPr bwMode="auto">
            <a:xfrm>
              <a:off x="4276725" y="3581400"/>
              <a:ext cx="165086" cy="1753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600">
                  <a:solidFill>
                    <a:srgbClr val="000000"/>
                  </a:solidFill>
                  <a:latin typeface="+mj-lt"/>
                </a:rPr>
                <a:t>Shift </a:t>
              </a:r>
            </a:p>
            <a:p>
              <a:r>
                <a:rPr lang="en-US" sz="600">
                  <a:solidFill>
                    <a:srgbClr val="000000"/>
                  </a:solidFill>
                  <a:latin typeface="+mj-lt"/>
                </a:rPr>
                <a:t>left 2</a:t>
              </a:r>
              <a:endParaRPr lang="en-US" sz="5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49" name="Line 55"/>
            <p:cNvSpPr>
              <a:spLocks noChangeShapeType="1"/>
            </p:cNvSpPr>
            <p:nvPr/>
          </p:nvSpPr>
          <p:spPr bwMode="auto">
            <a:xfrm flipH="1" flipV="1">
              <a:off x="4614863" y="4514850"/>
              <a:ext cx="103188" cy="158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0" name="Line 56"/>
            <p:cNvSpPr>
              <a:spLocks noChangeShapeType="1"/>
            </p:cNvSpPr>
            <p:nvPr/>
          </p:nvSpPr>
          <p:spPr bwMode="auto">
            <a:xfrm flipH="1" flipV="1">
              <a:off x="4010025" y="4357688"/>
              <a:ext cx="460375" cy="158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1" name="Line 57"/>
            <p:cNvSpPr>
              <a:spLocks noChangeShapeType="1"/>
            </p:cNvSpPr>
            <p:nvPr/>
          </p:nvSpPr>
          <p:spPr bwMode="auto">
            <a:xfrm flipH="1" flipV="1">
              <a:off x="4359275" y="4681538"/>
              <a:ext cx="112713" cy="158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2" name="Line 58"/>
            <p:cNvSpPr>
              <a:spLocks noChangeShapeType="1"/>
            </p:cNvSpPr>
            <p:nvPr/>
          </p:nvSpPr>
          <p:spPr bwMode="auto">
            <a:xfrm flipH="1">
              <a:off x="5187950" y="3471863"/>
              <a:ext cx="488950" cy="317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3" name="Line 59"/>
            <p:cNvSpPr>
              <a:spLocks noChangeShapeType="1"/>
            </p:cNvSpPr>
            <p:nvPr/>
          </p:nvSpPr>
          <p:spPr bwMode="auto">
            <a:xfrm flipH="1" flipV="1">
              <a:off x="5326063" y="4400550"/>
              <a:ext cx="360363" cy="158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" name="Line 60"/>
            <p:cNvSpPr>
              <a:spLocks noChangeShapeType="1"/>
            </p:cNvSpPr>
            <p:nvPr/>
          </p:nvSpPr>
          <p:spPr bwMode="auto">
            <a:xfrm flipH="1">
              <a:off x="4005263" y="5516563"/>
              <a:ext cx="403225" cy="317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5" name="Line 61"/>
            <p:cNvSpPr>
              <a:spLocks noChangeShapeType="1"/>
            </p:cNvSpPr>
            <p:nvPr/>
          </p:nvSpPr>
          <p:spPr bwMode="auto">
            <a:xfrm flipH="1" flipV="1">
              <a:off x="4010025" y="5827713"/>
              <a:ext cx="403225" cy="158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6" name="Rectangle 62"/>
            <p:cNvSpPr>
              <a:spLocks noChangeArrowheads="1"/>
            </p:cNvSpPr>
            <p:nvPr/>
          </p:nvSpPr>
          <p:spPr bwMode="auto">
            <a:xfrm>
              <a:off x="4606938" y="5002213"/>
              <a:ext cx="312711" cy="2338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n-US" sz="800">
                  <a:solidFill>
                    <a:srgbClr val="EB7500"/>
                  </a:solidFill>
                  <a:latin typeface="+mj-lt"/>
                </a:rPr>
                <a:t>ALU</a:t>
              </a:r>
            </a:p>
            <a:p>
              <a:pPr algn="ctr"/>
              <a:r>
                <a:rPr lang="en-US" sz="800">
                  <a:solidFill>
                    <a:srgbClr val="EB7500"/>
                  </a:solidFill>
                  <a:latin typeface="+mj-lt"/>
                </a:rPr>
                <a:t>Control</a:t>
              </a:r>
              <a:endParaRPr lang="en-US" sz="500">
                <a:solidFill>
                  <a:srgbClr val="EB7500"/>
                </a:solidFill>
                <a:latin typeface="+mj-lt"/>
              </a:endParaRPr>
            </a:p>
          </p:txBody>
        </p:sp>
        <p:sp>
          <p:nvSpPr>
            <p:cNvPr id="57" name="Rectangle 63"/>
            <p:cNvSpPr>
              <a:spLocks noChangeArrowheads="1"/>
            </p:cNvSpPr>
            <p:nvPr/>
          </p:nvSpPr>
          <p:spPr bwMode="auto">
            <a:xfrm>
              <a:off x="4873625" y="5386388"/>
              <a:ext cx="331759" cy="1315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900">
                  <a:solidFill>
                    <a:srgbClr val="EB7500"/>
                  </a:solidFill>
                  <a:latin typeface="+mj-lt"/>
                </a:rPr>
                <a:t>ALUOp</a:t>
              </a:r>
            </a:p>
          </p:txBody>
        </p:sp>
        <p:sp>
          <p:nvSpPr>
            <p:cNvPr id="58" name="Rectangle 64"/>
            <p:cNvSpPr>
              <a:spLocks noChangeArrowheads="1"/>
            </p:cNvSpPr>
            <p:nvPr/>
          </p:nvSpPr>
          <p:spPr bwMode="auto">
            <a:xfrm>
              <a:off x="4510088" y="5911850"/>
              <a:ext cx="333347" cy="1315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900">
                  <a:solidFill>
                    <a:srgbClr val="EB7500"/>
                  </a:solidFill>
                  <a:latin typeface="+mj-lt"/>
                </a:rPr>
                <a:t>RegDst</a:t>
              </a:r>
            </a:p>
          </p:txBody>
        </p:sp>
        <p:sp>
          <p:nvSpPr>
            <p:cNvPr id="59" name="Line 65"/>
            <p:cNvSpPr>
              <a:spLocks noChangeShapeType="1"/>
            </p:cNvSpPr>
            <p:nvPr/>
          </p:nvSpPr>
          <p:spPr bwMode="auto">
            <a:xfrm flipH="1">
              <a:off x="4564063" y="5681663"/>
              <a:ext cx="1114425" cy="317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0" name="Line 66"/>
            <p:cNvSpPr>
              <a:spLocks noChangeShapeType="1"/>
            </p:cNvSpPr>
            <p:nvPr/>
          </p:nvSpPr>
          <p:spPr bwMode="auto">
            <a:xfrm flipH="1" flipV="1">
              <a:off x="4486275" y="3667125"/>
              <a:ext cx="112713" cy="158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1" name="Rectangle 67"/>
            <p:cNvSpPr>
              <a:spLocks noChangeArrowheads="1"/>
            </p:cNvSpPr>
            <p:nvPr/>
          </p:nvSpPr>
          <p:spPr bwMode="auto">
            <a:xfrm>
              <a:off x="3027363" y="3540125"/>
              <a:ext cx="446049" cy="1315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900">
                  <a:solidFill>
                    <a:srgbClr val="EB7500"/>
                  </a:solidFill>
                  <a:latin typeface="+mj-lt"/>
                </a:rPr>
                <a:t>RegWrite</a:t>
              </a:r>
            </a:p>
          </p:txBody>
        </p:sp>
        <p:sp>
          <p:nvSpPr>
            <p:cNvPr id="62" name="Rectangle 68"/>
            <p:cNvSpPr>
              <a:spLocks noChangeArrowheads="1"/>
            </p:cNvSpPr>
            <p:nvPr/>
          </p:nvSpPr>
          <p:spPr bwMode="auto">
            <a:xfrm>
              <a:off x="2895600" y="3806825"/>
              <a:ext cx="187309" cy="1841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700">
                  <a:solidFill>
                    <a:srgbClr val="000000"/>
                  </a:solidFill>
                  <a:latin typeface="+mj-lt"/>
                </a:rPr>
                <a:t>Read</a:t>
              </a:r>
            </a:p>
            <a:p>
              <a:pPr>
                <a:lnSpc>
                  <a:spcPct val="90000"/>
                </a:lnSpc>
              </a:pPr>
              <a:r>
                <a:rPr lang="en-US" sz="700">
                  <a:solidFill>
                    <a:srgbClr val="000000"/>
                  </a:solidFill>
                  <a:latin typeface="+mj-lt"/>
                </a:rPr>
                <a:t>reg 1</a:t>
              </a:r>
              <a:endParaRPr lang="en-US" sz="5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63" name="Rectangle 69"/>
            <p:cNvSpPr>
              <a:spLocks noChangeArrowheads="1"/>
            </p:cNvSpPr>
            <p:nvPr/>
          </p:nvSpPr>
          <p:spPr bwMode="auto">
            <a:xfrm>
              <a:off x="2894013" y="4044950"/>
              <a:ext cx="187309" cy="1841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700">
                  <a:solidFill>
                    <a:srgbClr val="000000"/>
                  </a:solidFill>
                  <a:latin typeface="+mj-lt"/>
                </a:rPr>
                <a:t>Read</a:t>
              </a:r>
            </a:p>
            <a:p>
              <a:pPr>
                <a:lnSpc>
                  <a:spcPct val="90000"/>
                </a:lnSpc>
              </a:pPr>
              <a:r>
                <a:rPr lang="en-US" sz="700">
                  <a:solidFill>
                    <a:srgbClr val="000000"/>
                  </a:solidFill>
                  <a:latin typeface="+mj-lt"/>
                </a:rPr>
                <a:t>reg 2</a:t>
              </a:r>
              <a:endParaRPr lang="en-US" sz="5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64" name="Rectangle 70"/>
            <p:cNvSpPr>
              <a:spLocks noChangeArrowheads="1"/>
            </p:cNvSpPr>
            <p:nvPr/>
          </p:nvSpPr>
          <p:spPr bwMode="auto">
            <a:xfrm>
              <a:off x="2905125" y="4297363"/>
              <a:ext cx="209532" cy="1841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700">
                  <a:solidFill>
                    <a:srgbClr val="000000"/>
                  </a:solidFill>
                  <a:latin typeface="+mj-lt"/>
                </a:rPr>
                <a:t>Write</a:t>
              </a:r>
            </a:p>
            <a:p>
              <a:pPr>
                <a:lnSpc>
                  <a:spcPct val="90000"/>
                </a:lnSpc>
              </a:pPr>
              <a:r>
                <a:rPr lang="en-US" sz="700">
                  <a:solidFill>
                    <a:srgbClr val="000000"/>
                  </a:solidFill>
                  <a:latin typeface="+mj-lt"/>
                </a:rPr>
                <a:t>reg</a:t>
              </a:r>
              <a:endParaRPr lang="en-US" sz="6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65" name="Rectangle 71"/>
            <p:cNvSpPr>
              <a:spLocks noChangeArrowheads="1"/>
            </p:cNvSpPr>
            <p:nvPr/>
          </p:nvSpPr>
          <p:spPr bwMode="auto">
            <a:xfrm>
              <a:off x="2909888" y="4540250"/>
              <a:ext cx="209532" cy="1841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700">
                  <a:solidFill>
                    <a:srgbClr val="000000"/>
                  </a:solidFill>
                  <a:latin typeface="+mj-lt"/>
                </a:rPr>
                <a:t>Write</a:t>
              </a:r>
            </a:p>
            <a:p>
              <a:pPr>
                <a:lnSpc>
                  <a:spcPct val="90000"/>
                </a:lnSpc>
              </a:pPr>
              <a:r>
                <a:rPr lang="en-US" sz="700">
                  <a:solidFill>
                    <a:srgbClr val="000000"/>
                  </a:solidFill>
                  <a:latin typeface="+mj-lt"/>
                </a:rPr>
                <a:t>data</a:t>
              </a:r>
            </a:p>
          </p:txBody>
        </p:sp>
        <p:sp>
          <p:nvSpPr>
            <p:cNvPr id="66" name="Rectangle 72"/>
            <p:cNvSpPr>
              <a:spLocks noChangeArrowheads="1"/>
            </p:cNvSpPr>
            <p:nvPr/>
          </p:nvSpPr>
          <p:spPr bwMode="auto">
            <a:xfrm>
              <a:off x="3395663" y="3959225"/>
              <a:ext cx="263502" cy="21047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800">
                  <a:solidFill>
                    <a:srgbClr val="000000"/>
                  </a:solidFill>
                  <a:latin typeface="+mj-lt"/>
                </a:rPr>
                <a:t>Read</a:t>
              </a:r>
            </a:p>
            <a:p>
              <a:pPr>
                <a:lnSpc>
                  <a:spcPct val="90000"/>
                </a:lnSpc>
              </a:pPr>
              <a:r>
                <a:rPr lang="en-US" sz="800">
                  <a:solidFill>
                    <a:srgbClr val="000000"/>
                  </a:solidFill>
                  <a:latin typeface="+mj-lt"/>
                </a:rPr>
                <a:t>data 1</a:t>
              </a:r>
              <a:endParaRPr lang="en-US" sz="5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67" name="Rectangle 73"/>
            <p:cNvSpPr>
              <a:spLocks noChangeArrowheads="1"/>
            </p:cNvSpPr>
            <p:nvPr/>
          </p:nvSpPr>
          <p:spPr bwMode="auto">
            <a:xfrm>
              <a:off x="3381375" y="4235450"/>
              <a:ext cx="263502" cy="21047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800">
                  <a:solidFill>
                    <a:srgbClr val="000000"/>
                  </a:solidFill>
                  <a:latin typeface="+mj-lt"/>
                </a:rPr>
                <a:t>Read</a:t>
              </a:r>
            </a:p>
            <a:p>
              <a:pPr>
                <a:lnSpc>
                  <a:spcPct val="90000"/>
                </a:lnSpc>
              </a:pPr>
              <a:r>
                <a:rPr lang="en-US" sz="800">
                  <a:solidFill>
                    <a:srgbClr val="000000"/>
                  </a:solidFill>
                  <a:latin typeface="+mj-lt"/>
                </a:rPr>
                <a:t>data 2</a:t>
              </a:r>
              <a:endParaRPr lang="en-US" sz="6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68" name="Rectangle 74"/>
            <p:cNvSpPr>
              <a:spLocks noChangeArrowheads="1"/>
            </p:cNvSpPr>
            <p:nvPr/>
          </p:nvSpPr>
          <p:spPr bwMode="auto">
            <a:xfrm rot="16200000">
              <a:off x="2886402" y="4160687"/>
              <a:ext cx="735945" cy="1828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>
                  <a:solidFill>
                    <a:srgbClr val="000000"/>
                  </a:solidFill>
                  <a:latin typeface="+mj-lt"/>
                </a:rPr>
                <a:t>Register File</a:t>
              </a:r>
            </a:p>
          </p:txBody>
        </p:sp>
        <p:sp>
          <p:nvSpPr>
            <p:cNvPr id="69" name="Rectangle 75"/>
            <p:cNvSpPr>
              <a:spLocks noChangeArrowheads="1"/>
            </p:cNvSpPr>
            <p:nvPr/>
          </p:nvSpPr>
          <p:spPr bwMode="auto">
            <a:xfrm>
              <a:off x="2767013" y="5018088"/>
              <a:ext cx="279376" cy="11839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900">
                  <a:solidFill>
                    <a:srgbClr val="000000"/>
                  </a:solidFill>
                  <a:latin typeface="+mj-lt"/>
                </a:rPr>
                <a:t>[15-0]</a:t>
              </a:r>
              <a:endParaRPr lang="en-US" sz="5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70" name="Rectangle 76"/>
            <p:cNvSpPr>
              <a:spLocks noChangeArrowheads="1"/>
            </p:cNvSpPr>
            <p:nvPr/>
          </p:nvSpPr>
          <p:spPr bwMode="auto">
            <a:xfrm>
              <a:off x="2762250" y="5368925"/>
              <a:ext cx="336521" cy="11839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900">
                  <a:solidFill>
                    <a:srgbClr val="000000"/>
                  </a:solidFill>
                  <a:latin typeface="+mj-lt"/>
                </a:rPr>
                <a:t>[20-16]</a:t>
              </a:r>
            </a:p>
          </p:txBody>
        </p:sp>
        <p:sp>
          <p:nvSpPr>
            <p:cNvPr id="71" name="Rectangle 77"/>
            <p:cNvSpPr>
              <a:spLocks noChangeArrowheads="1"/>
            </p:cNvSpPr>
            <p:nvPr/>
          </p:nvSpPr>
          <p:spPr bwMode="auto">
            <a:xfrm>
              <a:off x="2767013" y="5673725"/>
              <a:ext cx="336521" cy="11839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900">
                  <a:solidFill>
                    <a:srgbClr val="000000"/>
                  </a:solidFill>
                  <a:latin typeface="+mj-lt"/>
                </a:rPr>
                <a:t>[15-11]</a:t>
              </a:r>
            </a:p>
          </p:txBody>
        </p:sp>
        <p:sp>
          <p:nvSpPr>
            <p:cNvPr id="72" name="Freeform 78"/>
            <p:cNvSpPr>
              <a:spLocks/>
            </p:cNvSpPr>
            <p:nvPr/>
          </p:nvSpPr>
          <p:spPr bwMode="auto">
            <a:xfrm>
              <a:off x="2586038" y="5138738"/>
              <a:ext cx="38100" cy="38100"/>
            </a:xfrm>
            <a:custGeom>
              <a:avLst/>
              <a:gdLst>
                <a:gd name="T0" fmla="*/ 10 w 24"/>
                <a:gd name="T1" fmla="*/ 23 h 24"/>
                <a:gd name="T2" fmla="*/ 14 w 24"/>
                <a:gd name="T3" fmla="*/ 23 h 24"/>
                <a:gd name="T4" fmla="*/ 16 w 24"/>
                <a:gd name="T5" fmla="*/ 23 h 24"/>
                <a:gd name="T6" fmla="*/ 16 w 24"/>
                <a:gd name="T7" fmla="*/ 21 h 24"/>
                <a:gd name="T8" fmla="*/ 18 w 24"/>
                <a:gd name="T9" fmla="*/ 21 h 24"/>
                <a:gd name="T10" fmla="*/ 20 w 24"/>
                <a:gd name="T11" fmla="*/ 19 h 24"/>
                <a:gd name="T12" fmla="*/ 22 w 24"/>
                <a:gd name="T13" fmla="*/ 18 h 24"/>
                <a:gd name="T14" fmla="*/ 22 w 24"/>
                <a:gd name="T15" fmla="*/ 18 h 24"/>
                <a:gd name="T16" fmla="*/ 22 w 24"/>
                <a:gd name="T17" fmla="*/ 16 h 24"/>
                <a:gd name="T18" fmla="*/ 23 w 24"/>
                <a:gd name="T19" fmla="*/ 14 h 24"/>
                <a:gd name="T20" fmla="*/ 23 w 24"/>
                <a:gd name="T21" fmla="*/ 12 h 24"/>
                <a:gd name="T22" fmla="*/ 23 w 24"/>
                <a:gd name="T23" fmla="*/ 10 h 24"/>
                <a:gd name="T24" fmla="*/ 22 w 24"/>
                <a:gd name="T25" fmla="*/ 8 h 24"/>
                <a:gd name="T26" fmla="*/ 22 w 24"/>
                <a:gd name="T27" fmla="*/ 6 h 24"/>
                <a:gd name="T28" fmla="*/ 22 w 24"/>
                <a:gd name="T29" fmla="*/ 4 h 24"/>
                <a:gd name="T30" fmla="*/ 20 w 24"/>
                <a:gd name="T31" fmla="*/ 4 h 24"/>
                <a:gd name="T32" fmla="*/ 18 w 24"/>
                <a:gd name="T33" fmla="*/ 2 h 24"/>
                <a:gd name="T34" fmla="*/ 16 w 24"/>
                <a:gd name="T35" fmla="*/ 2 h 24"/>
                <a:gd name="T36" fmla="*/ 16 w 24"/>
                <a:gd name="T37" fmla="*/ 0 h 24"/>
                <a:gd name="T38" fmla="*/ 14 w 24"/>
                <a:gd name="T39" fmla="*/ 0 h 24"/>
                <a:gd name="T40" fmla="*/ 12 w 24"/>
                <a:gd name="T41" fmla="*/ 0 h 24"/>
                <a:gd name="T42" fmla="*/ 10 w 24"/>
                <a:gd name="T43" fmla="*/ 0 h 24"/>
                <a:gd name="T44" fmla="*/ 8 w 24"/>
                <a:gd name="T45" fmla="*/ 0 h 24"/>
                <a:gd name="T46" fmla="*/ 6 w 24"/>
                <a:gd name="T47" fmla="*/ 2 h 24"/>
                <a:gd name="T48" fmla="*/ 4 w 24"/>
                <a:gd name="T49" fmla="*/ 2 h 24"/>
                <a:gd name="T50" fmla="*/ 2 w 24"/>
                <a:gd name="T51" fmla="*/ 4 h 24"/>
                <a:gd name="T52" fmla="*/ 2 w 24"/>
                <a:gd name="T53" fmla="*/ 4 h 24"/>
                <a:gd name="T54" fmla="*/ 0 w 24"/>
                <a:gd name="T55" fmla="*/ 6 h 24"/>
                <a:gd name="T56" fmla="*/ 0 w 24"/>
                <a:gd name="T57" fmla="*/ 8 h 24"/>
                <a:gd name="T58" fmla="*/ 0 w 24"/>
                <a:gd name="T59" fmla="*/ 10 h 24"/>
                <a:gd name="T60" fmla="*/ 0 w 24"/>
                <a:gd name="T61" fmla="*/ 12 h 24"/>
                <a:gd name="T62" fmla="*/ 0 w 24"/>
                <a:gd name="T63" fmla="*/ 14 h 24"/>
                <a:gd name="T64" fmla="*/ 0 w 24"/>
                <a:gd name="T65" fmla="*/ 16 h 24"/>
                <a:gd name="T66" fmla="*/ 0 w 24"/>
                <a:gd name="T67" fmla="*/ 18 h 24"/>
                <a:gd name="T68" fmla="*/ 2 w 24"/>
                <a:gd name="T69" fmla="*/ 18 h 24"/>
                <a:gd name="T70" fmla="*/ 2 w 24"/>
                <a:gd name="T71" fmla="*/ 19 h 24"/>
                <a:gd name="T72" fmla="*/ 4 w 24"/>
                <a:gd name="T73" fmla="*/ 21 h 24"/>
                <a:gd name="T74" fmla="*/ 6 w 24"/>
                <a:gd name="T75" fmla="*/ 21 h 24"/>
                <a:gd name="T76" fmla="*/ 8 w 24"/>
                <a:gd name="T77" fmla="*/ 23 h 24"/>
                <a:gd name="T78" fmla="*/ 10 w 24"/>
                <a:gd name="T79" fmla="*/ 23 h 24"/>
                <a:gd name="T80" fmla="*/ 12 w 24"/>
                <a:gd name="T81" fmla="*/ 23 h 24"/>
                <a:gd name="T82" fmla="*/ 12 w 24"/>
                <a:gd name="T83" fmla="*/ 23 h 24"/>
                <a:gd name="T84" fmla="*/ 10 w 24"/>
                <a:gd name="T85" fmla="*/ 23 h 2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4"/>
                <a:gd name="T130" fmla="*/ 0 h 24"/>
                <a:gd name="T131" fmla="*/ 24 w 24"/>
                <a:gd name="T132" fmla="*/ 24 h 24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4" h="24">
                  <a:moveTo>
                    <a:pt x="10" y="23"/>
                  </a:moveTo>
                  <a:lnTo>
                    <a:pt x="14" y="23"/>
                  </a:lnTo>
                  <a:lnTo>
                    <a:pt x="16" y="23"/>
                  </a:lnTo>
                  <a:lnTo>
                    <a:pt x="16" y="21"/>
                  </a:lnTo>
                  <a:lnTo>
                    <a:pt x="18" y="21"/>
                  </a:lnTo>
                  <a:lnTo>
                    <a:pt x="20" y="19"/>
                  </a:lnTo>
                  <a:lnTo>
                    <a:pt x="22" y="18"/>
                  </a:lnTo>
                  <a:lnTo>
                    <a:pt x="22" y="16"/>
                  </a:lnTo>
                  <a:lnTo>
                    <a:pt x="23" y="14"/>
                  </a:lnTo>
                  <a:lnTo>
                    <a:pt x="23" y="12"/>
                  </a:lnTo>
                  <a:lnTo>
                    <a:pt x="23" y="10"/>
                  </a:lnTo>
                  <a:lnTo>
                    <a:pt x="22" y="8"/>
                  </a:lnTo>
                  <a:lnTo>
                    <a:pt x="22" y="6"/>
                  </a:lnTo>
                  <a:lnTo>
                    <a:pt x="22" y="4"/>
                  </a:lnTo>
                  <a:lnTo>
                    <a:pt x="20" y="4"/>
                  </a:lnTo>
                  <a:lnTo>
                    <a:pt x="18" y="2"/>
                  </a:lnTo>
                  <a:lnTo>
                    <a:pt x="16" y="2"/>
                  </a:lnTo>
                  <a:lnTo>
                    <a:pt x="16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8" y="0"/>
                  </a:lnTo>
                  <a:lnTo>
                    <a:pt x="6" y="2"/>
                  </a:lnTo>
                  <a:lnTo>
                    <a:pt x="4" y="2"/>
                  </a:lnTo>
                  <a:lnTo>
                    <a:pt x="2" y="4"/>
                  </a:lnTo>
                  <a:lnTo>
                    <a:pt x="0" y="6"/>
                  </a:lnTo>
                  <a:lnTo>
                    <a:pt x="0" y="8"/>
                  </a:lnTo>
                  <a:lnTo>
                    <a:pt x="0" y="10"/>
                  </a:lnTo>
                  <a:lnTo>
                    <a:pt x="0" y="12"/>
                  </a:lnTo>
                  <a:lnTo>
                    <a:pt x="0" y="14"/>
                  </a:lnTo>
                  <a:lnTo>
                    <a:pt x="0" y="16"/>
                  </a:lnTo>
                  <a:lnTo>
                    <a:pt x="0" y="18"/>
                  </a:lnTo>
                  <a:lnTo>
                    <a:pt x="2" y="18"/>
                  </a:lnTo>
                  <a:lnTo>
                    <a:pt x="2" y="19"/>
                  </a:lnTo>
                  <a:lnTo>
                    <a:pt x="4" y="21"/>
                  </a:lnTo>
                  <a:lnTo>
                    <a:pt x="6" y="21"/>
                  </a:lnTo>
                  <a:lnTo>
                    <a:pt x="8" y="23"/>
                  </a:lnTo>
                  <a:lnTo>
                    <a:pt x="10" y="23"/>
                  </a:lnTo>
                  <a:lnTo>
                    <a:pt x="12" y="23"/>
                  </a:lnTo>
                  <a:lnTo>
                    <a:pt x="10" y="23"/>
                  </a:lnTo>
                </a:path>
              </a:pathLst>
            </a:custGeom>
            <a:solidFill>
              <a:srgbClr val="000000"/>
            </a:solidFill>
            <a:ln w="9525" cap="rnd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73" name="Freeform 79"/>
            <p:cNvSpPr>
              <a:spLocks/>
            </p:cNvSpPr>
            <p:nvPr/>
          </p:nvSpPr>
          <p:spPr bwMode="auto">
            <a:xfrm>
              <a:off x="3319463" y="4862513"/>
              <a:ext cx="341313" cy="582613"/>
            </a:xfrm>
            <a:custGeom>
              <a:avLst/>
              <a:gdLst>
                <a:gd name="T0" fmla="*/ 107 w 173"/>
                <a:gd name="T1" fmla="*/ 366 h 367"/>
                <a:gd name="T2" fmla="*/ 123 w 173"/>
                <a:gd name="T3" fmla="*/ 364 h 367"/>
                <a:gd name="T4" fmla="*/ 140 w 173"/>
                <a:gd name="T5" fmla="*/ 357 h 367"/>
                <a:gd name="T6" fmla="*/ 157 w 173"/>
                <a:gd name="T7" fmla="*/ 345 h 367"/>
                <a:gd name="T8" fmla="*/ 172 w 173"/>
                <a:gd name="T9" fmla="*/ 332 h 367"/>
                <a:gd name="T10" fmla="*/ 183 w 173"/>
                <a:gd name="T11" fmla="*/ 313 h 367"/>
                <a:gd name="T12" fmla="*/ 193 w 173"/>
                <a:gd name="T13" fmla="*/ 292 h 367"/>
                <a:gd name="T14" fmla="*/ 203 w 173"/>
                <a:gd name="T15" fmla="*/ 267 h 367"/>
                <a:gd name="T16" fmla="*/ 209 w 173"/>
                <a:gd name="T17" fmla="*/ 242 h 367"/>
                <a:gd name="T18" fmla="*/ 214 w 173"/>
                <a:gd name="T19" fmla="*/ 213 h 367"/>
                <a:gd name="T20" fmla="*/ 214 w 173"/>
                <a:gd name="T21" fmla="*/ 182 h 367"/>
                <a:gd name="T22" fmla="*/ 214 w 173"/>
                <a:gd name="T23" fmla="*/ 154 h 367"/>
                <a:gd name="T24" fmla="*/ 209 w 173"/>
                <a:gd name="T25" fmla="*/ 125 h 367"/>
                <a:gd name="T26" fmla="*/ 203 w 173"/>
                <a:gd name="T27" fmla="*/ 98 h 367"/>
                <a:gd name="T28" fmla="*/ 193 w 173"/>
                <a:gd name="T29" fmla="*/ 75 h 367"/>
                <a:gd name="T30" fmla="*/ 183 w 173"/>
                <a:gd name="T31" fmla="*/ 54 h 367"/>
                <a:gd name="T32" fmla="*/ 172 w 173"/>
                <a:gd name="T33" fmla="*/ 35 h 367"/>
                <a:gd name="T34" fmla="*/ 157 w 173"/>
                <a:gd name="T35" fmla="*/ 20 h 367"/>
                <a:gd name="T36" fmla="*/ 140 w 173"/>
                <a:gd name="T37" fmla="*/ 8 h 367"/>
                <a:gd name="T38" fmla="*/ 123 w 173"/>
                <a:gd name="T39" fmla="*/ 2 h 367"/>
                <a:gd name="T40" fmla="*/ 107 w 173"/>
                <a:gd name="T41" fmla="*/ 0 h 367"/>
                <a:gd name="T42" fmla="*/ 91 w 173"/>
                <a:gd name="T43" fmla="*/ 2 h 367"/>
                <a:gd name="T44" fmla="*/ 73 w 173"/>
                <a:gd name="T45" fmla="*/ 8 h 367"/>
                <a:gd name="T46" fmla="*/ 57 w 173"/>
                <a:gd name="T47" fmla="*/ 20 h 367"/>
                <a:gd name="T48" fmla="*/ 45 w 173"/>
                <a:gd name="T49" fmla="*/ 35 h 367"/>
                <a:gd name="T50" fmla="*/ 31 w 173"/>
                <a:gd name="T51" fmla="*/ 54 h 367"/>
                <a:gd name="T52" fmla="*/ 21 w 173"/>
                <a:gd name="T53" fmla="*/ 75 h 367"/>
                <a:gd name="T54" fmla="*/ 11 w 173"/>
                <a:gd name="T55" fmla="*/ 98 h 367"/>
                <a:gd name="T56" fmla="*/ 5 w 173"/>
                <a:gd name="T57" fmla="*/ 125 h 367"/>
                <a:gd name="T58" fmla="*/ 2 w 173"/>
                <a:gd name="T59" fmla="*/ 154 h 367"/>
                <a:gd name="T60" fmla="*/ 0 w 173"/>
                <a:gd name="T61" fmla="*/ 182 h 367"/>
                <a:gd name="T62" fmla="*/ 2 w 173"/>
                <a:gd name="T63" fmla="*/ 213 h 367"/>
                <a:gd name="T64" fmla="*/ 5 w 173"/>
                <a:gd name="T65" fmla="*/ 242 h 367"/>
                <a:gd name="T66" fmla="*/ 11 w 173"/>
                <a:gd name="T67" fmla="*/ 267 h 367"/>
                <a:gd name="T68" fmla="*/ 21 w 173"/>
                <a:gd name="T69" fmla="*/ 292 h 367"/>
                <a:gd name="T70" fmla="*/ 31 w 173"/>
                <a:gd name="T71" fmla="*/ 313 h 367"/>
                <a:gd name="T72" fmla="*/ 45 w 173"/>
                <a:gd name="T73" fmla="*/ 332 h 367"/>
                <a:gd name="T74" fmla="*/ 57 w 173"/>
                <a:gd name="T75" fmla="*/ 345 h 367"/>
                <a:gd name="T76" fmla="*/ 73 w 173"/>
                <a:gd name="T77" fmla="*/ 357 h 367"/>
                <a:gd name="T78" fmla="*/ 91 w 173"/>
                <a:gd name="T79" fmla="*/ 364 h 367"/>
                <a:gd name="T80" fmla="*/ 107 w 173"/>
                <a:gd name="T81" fmla="*/ 366 h 367"/>
                <a:gd name="T82" fmla="*/ 107 w 173"/>
                <a:gd name="T83" fmla="*/ 366 h 367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173"/>
                <a:gd name="T127" fmla="*/ 0 h 367"/>
                <a:gd name="T128" fmla="*/ 173 w 173"/>
                <a:gd name="T129" fmla="*/ 367 h 367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173" h="367">
                  <a:moveTo>
                    <a:pt x="86" y="366"/>
                  </a:moveTo>
                  <a:lnTo>
                    <a:pt x="99" y="364"/>
                  </a:lnTo>
                  <a:lnTo>
                    <a:pt x="113" y="357"/>
                  </a:lnTo>
                  <a:lnTo>
                    <a:pt x="126" y="345"/>
                  </a:lnTo>
                  <a:lnTo>
                    <a:pt x="138" y="332"/>
                  </a:lnTo>
                  <a:lnTo>
                    <a:pt x="147" y="313"/>
                  </a:lnTo>
                  <a:lnTo>
                    <a:pt x="155" y="292"/>
                  </a:lnTo>
                  <a:lnTo>
                    <a:pt x="163" y="267"/>
                  </a:lnTo>
                  <a:lnTo>
                    <a:pt x="168" y="242"/>
                  </a:lnTo>
                  <a:lnTo>
                    <a:pt x="172" y="213"/>
                  </a:lnTo>
                  <a:lnTo>
                    <a:pt x="172" y="182"/>
                  </a:lnTo>
                  <a:lnTo>
                    <a:pt x="172" y="154"/>
                  </a:lnTo>
                  <a:lnTo>
                    <a:pt x="168" y="125"/>
                  </a:lnTo>
                  <a:lnTo>
                    <a:pt x="163" y="98"/>
                  </a:lnTo>
                  <a:lnTo>
                    <a:pt x="155" y="75"/>
                  </a:lnTo>
                  <a:lnTo>
                    <a:pt x="147" y="54"/>
                  </a:lnTo>
                  <a:lnTo>
                    <a:pt x="138" y="35"/>
                  </a:lnTo>
                  <a:lnTo>
                    <a:pt x="126" y="20"/>
                  </a:lnTo>
                  <a:lnTo>
                    <a:pt x="113" y="8"/>
                  </a:lnTo>
                  <a:lnTo>
                    <a:pt x="99" y="2"/>
                  </a:lnTo>
                  <a:lnTo>
                    <a:pt x="86" y="0"/>
                  </a:lnTo>
                  <a:lnTo>
                    <a:pt x="73" y="2"/>
                  </a:lnTo>
                  <a:lnTo>
                    <a:pt x="59" y="8"/>
                  </a:lnTo>
                  <a:lnTo>
                    <a:pt x="46" y="20"/>
                  </a:lnTo>
                  <a:lnTo>
                    <a:pt x="36" y="35"/>
                  </a:lnTo>
                  <a:lnTo>
                    <a:pt x="25" y="54"/>
                  </a:lnTo>
                  <a:lnTo>
                    <a:pt x="17" y="75"/>
                  </a:lnTo>
                  <a:lnTo>
                    <a:pt x="9" y="98"/>
                  </a:lnTo>
                  <a:lnTo>
                    <a:pt x="4" y="125"/>
                  </a:lnTo>
                  <a:lnTo>
                    <a:pt x="2" y="154"/>
                  </a:lnTo>
                  <a:lnTo>
                    <a:pt x="0" y="182"/>
                  </a:lnTo>
                  <a:lnTo>
                    <a:pt x="2" y="213"/>
                  </a:lnTo>
                  <a:lnTo>
                    <a:pt x="4" y="242"/>
                  </a:lnTo>
                  <a:lnTo>
                    <a:pt x="9" y="267"/>
                  </a:lnTo>
                  <a:lnTo>
                    <a:pt x="17" y="292"/>
                  </a:lnTo>
                  <a:lnTo>
                    <a:pt x="25" y="313"/>
                  </a:lnTo>
                  <a:lnTo>
                    <a:pt x="36" y="332"/>
                  </a:lnTo>
                  <a:lnTo>
                    <a:pt x="46" y="345"/>
                  </a:lnTo>
                  <a:lnTo>
                    <a:pt x="59" y="357"/>
                  </a:lnTo>
                  <a:lnTo>
                    <a:pt x="73" y="364"/>
                  </a:lnTo>
                  <a:lnTo>
                    <a:pt x="86" y="366"/>
                  </a:lnTo>
                </a:path>
              </a:pathLst>
            </a:custGeom>
            <a:solidFill>
              <a:srgbClr val="EAEAEA"/>
            </a:solidFill>
            <a:ln w="190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74" name="Rectangle 80"/>
            <p:cNvSpPr>
              <a:spLocks noChangeArrowheads="1"/>
            </p:cNvSpPr>
            <p:nvPr/>
          </p:nvSpPr>
          <p:spPr bwMode="auto">
            <a:xfrm>
              <a:off x="3346462" y="4997450"/>
              <a:ext cx="290488" cy="21047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800">
                  <a:solidFill>
                    <a:srgbClr val="000000"/>
                  </a:solidFill>
                  <a:latin typeface="+mj-lt"/>
                </a:rPr>
                <a:t>Sign</a:t>
              </a:r>
            </a:p>
            <a:p>
              <a:pPr algn="ctr">
                <a:lnSpc>
                  <a:spcPct val="90000"/>
                </a:lnSpc>
              </a:pPr>
              <a:r>
                <a:rPr lang="en-US" sz="800">
                  <a:solidFill>
                    <a:srgbClr val="000000"/>
                  </a:solidFill>
                  <a:latin typeface="+mj-lt"/>
                </a:rPr>
                <a:t>extend</a:t>
              </a:r>
              <a:endParaRPr lang="en-US" sz="5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75" name="Rectangle 81"/>
            <p:cNvSpPr>
              <a:spLocks noChangeArrowheads="1"/>
            </p:cNvSpPr>
            <p:nvPr/>
          </p:nvSpPr>
          <p:spPr bwMode="auto">
            <a:xfrm>
              <a:off x="3124200" y="4995863"/>
              <a:ext cx="114290" cy="11839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900">
                  <a:solidFill>
                    <a:srgbClr val="000000"/>
                  </a:solidFill>
                  <a:latin typeface="+mj-lt"/>
                </a:rPr>
                <a:t>16</a:t>
              </a:r>
              <a:endParaRPr lang="en-US" sz="5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76" name="Rectangle 82"/>
            <p:cNvSpPr>
              <a:spLocks noChangeArrowheads="1"/>
            </p:cNvSpPr>
            <p:nvPr/>
          </p:nvSpPr>
          <p:spPr bwMode="auto">
            <a:xfrm>
              <a:off x="3681413" y="5002213"/>
              <a:ext cx="114290" cy="11839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900">
                  <a:solidFill>
                    <a:srgbClr val="000000"/>
                  </a:solidFill>
                  <a:latin typeface="+mj-lt"/>
                </a:rPr>
                <a:t>32</a:t>
              </a:r>
              <a:endParaRPr lang="en-US" sz="5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77" name="Line 83"/>
            <p:cNvSpPr>
              <a:spLocks noChangeShapeType="1"/>
            </p:cNvSpPr>
            <p:nvPr/>
          </p:nvSpPr>
          <p:spPr bwMode="auto">
            <a:xfrm flipH="1">
              <a:off x="2598738" y="4162425"/>
              <a:ext cx="27305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78" name="Line 84"/>
            <p:cNvSpPr>
              <a:spLocks noChangeShapeType="1"/>
            </p:cNvSpPr>
            <p:nvPr/>
          </p:nvSpPr>
          <p:spPr bwMode="auto">
            <a:xfrm flipH="1">
              <a:off x="2595563" y="3902075"/>
              <a:ext cx="2809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79" name="Line 85"/>
            <p:cNvSpPr>
              <a:spLocks noChangeShapeType="1"/>
            </p:cNvSpPr>
            <p:nvPr/>
          </p:nvSpPr>
          <p:spPr bwMode="auto">
            <a:xfrm flipH="1">
              <a:off x="3690938" y="4049713"/>
              <a:ext cx="17621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80" name="Line 86"/>
            <p:cNvSpPr>
              <a:spLocks noChangeShapeType="1"/>
            </p:cNvSpPr>
            <p:nvPr/>
          </p:nvSpPr>
          <p:spPr bwMode="auto">
            <a:xfrm flipH="1">
              <a:off x="3690938" y="4357688"/>
              <a:ext cx="17621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81" name="Line 87"/>
            <p:cNvSpPr>
              <a:spLocks noChangeShapeType="1"/>
            </p:cNvSpPr>
            <p:nvPr/>
          </p:nvSpPr>
          <p:spPr bwMode="auto">
            <a:xfrm flipH="1">
              <a:off x="3275013" y="3425825"/>
              <a:ext cx="1588" cy="342900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82" name="Rectangle 88"/>
            <p:cNvSpPr>
              <a:spLocks noChangeArrowheads="1"/>
            </p:cNvSpPr>
            <p:nvPr/>
          </p:nvSpPr>
          <p:spPr bwMode="auto">
            <a:xfrm>
              <a:off x="3733800" y="1912938"/>
              <a:ext cx="344458" cy="1753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>
                  <a:solidFill>
                    <a:srgbClr val="000000"/>
                  </a:solidFill>
                  <a:latin typeface="+mj-lt"/>
                </a:rPr>
                <a:t>ID/EX</a:t>
              </a:r>
              <a:endParaRPr lang="en-US" sz="5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83" name="Rectangle 89"/>
            <p:cNvSpPr>
              <a:spLocks noChangeArrowheads="1"/>
            </p:cNvSpPr>
            <p:nvPr/>
          </p:nvSpPr>
          <p:spPr bwMode="auto">
            <a:xfrm>
              <a:off x="5494338" y="2141538"/>
              <a:ext cx="565101" cy="1753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>
                  <a:solidFill>
                    <a:srgbClr val="000000"/>
                  </a:solidFill>
                  <a:latin typeface="+mj-lt"/>
                </a:rPr>
                <a:t>EX/MEM</a:t>
              </a:r>
              <a:endParaRPr lang="en-US" sz="8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84" name="Rectangle 90"/>
            <p:cNvSpPr>
              <a:spLocks noChangeArrowheads="1"/>
            </p:cNvSpPr>
            <p:nvPr/>
          </p:nvSpPr>
          <p:spPr bwMode="auto">
            <a:xfrm>
              <a:off x="7272338" y="2476500"/>
              <a:ext cx="630184" cy="1753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>
                  <a:solidFill>
                    <a:srgbClr val="000000"/>
                  </a:solidFill>
                  <a:latin typeface="+mj-lt"/>
                </a:rPr>
                <a:t>MEM/WB</a:t>
              </a:r>
            </a:p>
          </p:txBody>
        </p:sp>
        <p:sp>
          <p:nvSpPr>
            <p:cNvPr id="85" name="Rectangle 91"/>
            <p:cNvSpPr>
              <a:spLocks noChangeArrowheads="1"/>
            </p:cNvSpPr>
            <p:nvPr/>
          </p:nvSpPr>
          <p:spPr bwMode="auto">
            <a:xfrm rot="16200000" flipH="1">
              <a:off x="2192185" y="3879539"/>
              <a:ext cx="551168" cy="1371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1000">
                  <a:solidFill>
                    <a:srgbClr val="000000"/>
                  </a:solidFill>
                  <a:latin typeface="+mj-lt"/>
                </a:rPr>
                <a:t>Instruction</a:t>
              </a:r>
              <a:endParaRPr lang="en-US" sz="7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86" name="Freeform 92"/>
            <p:cNvSpPr>
              <a:spLocks/>
            </p:cNvSpPr>
            <p:nvPr/>
          </p:nvSpPr>
          <p:spPr bwMode="auto">
            <a:xfrm>
              <a:off x="6015038" y="4379913"/>
              <a:ext cx="38100" cy="38100"/>
            </a:xfrm>
            <a:custGeom>
              <a:avLst/>
              <a:gdLst>
                <a:gd name="T0" fmla="*/ 10 w 24"/>
                <a:gd name="T1" fmla="*/ 23 h 24"/>
                <a:gd name="T2" fmla="*/ 14 w 24"/>
                <a:gd name="T3" fmla="*/ 23 h 24"/>
                <a:gd name="T4" fmla="*/ 14 w 24"/>
                <a:gd name="T5" fmla="*/ 23 h 24"/>
                <a:gd name="T6" fmla="*/ 16 w 24"/>
                <a:gd name="T7" fmla="*/ 23 h 24"/>
                <a:gd name="T8" fmla="*/ 18 w 24"/>
                <a:gd name="T9" fmla="*/ 21 h 24"/>
                <a:gd name="T10" fmla="*/ 20 w 24"/>
                <a:gd name="T11" fmla="*/ 19 h 24"/>
                <a:gd name="T12" fmla="*/ 20 w 24"/>
                <a:gd name="T13" fmla="*/ 19 h 24"/>
                <a:gd name="T14" fmla="*/ 21 w 24"/>
                <a:gd name="T15" fmla="*/ 17 h 24"/>
                <a:gd name="T16" fmla="*/ 21 w 24"/>
                <a:gd name="T17" fmla="*/ 15 h 24"/>
                <a:gd name="T18" fmla="*/ 23 w 24"/>
                <a:gd name="T19" fmla="*/ 13 h 24"/>
                <a:gd name="T20" fmla="*/ 23 w 24"/>
                <a:gd name="T21" fmla="*/ 12 h 24"/>
                <a:gd name="T22" fmla="*/ 23 w 24"/>
                <a:gd name="T23" fmla="*/ 10 h 24"/>
                <a:gd name="T24" fmla="*/ 21 w 24"/>
                <a:gd name="T25" fmla="*/ 8 h 24"/>
                <a:gd name="T26" fmla="*/ 21 w 24"/>
                <a:gd name="T27" fmla="*/ 6 h 24"/>
                <a:gd name="T28" fmla="*/ 20 w 24"/>
                <a:gd name="T29" fmla="*/ 6 h 24"/>
                <a:gd name="T30" fmla="*/ 20 w 24"/>
                <a:gd name="T31" fmla="*/ 4 h 24"/>
                <a:gd name="T32" fmla="*/ 18 w 24"/>
                <a:gd name="T33" fmla="*/ 2 h 24"/>
                <a:gd name="T34" fmla="*/ 16 w 24"/>
                <a:gd name="T35" fmla="*/ 2 h 24"/>
                <a:gd name="T36" fmla="*/ 14 w 24"/>
                <a:gd name="T37" fmla="*/ 0 h 24"/>
                <a:gd name="T38" fmla="*/ 14 w 24"/>
                <a:gd name="T39" fmla="*/ 0 h 24"/>
                <a:gd name="T40" fmla="*/ 12 w 24"/>
                <a:gd name="T41" fmla="*/ 0 h 24"/>
                <a:gd name="T42" fmla="*/ 10 w 24"/>
                <a:gd name="T43" fmla="*/ 0 h 24"/>
                <a:gd name="T44" fmla="*/ 8 w 24"/>
                <a:gd name="T45" fmla="*/ 0 h 24"/>
                <a:gd name="T46" fmla="*/ 6 w 24"/>
                <a:gd name="T47" fmla="*/ 2 h 24"/>
                <a:gd name="T48" fmla="*/ 4 w 24"/>
                <a:gd name="T49" fmla="*/ 2 h 24"/>
                <a:gd name="T50" fmla="*/ 2 w 24"/>
                <a:gd name="T51" fmla="*/ 4 h 24"/>
                <a:gd name="T52" fmla="*/ 2 w 24"/>
                <a:gd name="T53" fmla="*/ 6 h 24"/>
                <a:gd name="T54" fmla="*/ 0 w 24"/>
                <a:gd name="T55" fmla="*/ 6 h 24"/>
                <a:gd name="T56" fmla="*/ 0 w 24"/>
                <a:gd name="T57" fmla="*/ 8 h 24"/>
                <a:gd name="T58" fmla="*/ 0 w 24"/>
                <a:gd name="T59" fmla="*/ 10 h 24"/>
                <a:gd name="T60" fmla="*/ 0 w 24"/>
                <a:gd name="T61" fmla="*/ 12 h 24"/>
                <a:gd name="T62" fmla="*/ 0 w 24"/>
                <a:gd name="T63" fmla="*/ 13 h 24"/>
                <a:gd name="T64" fmla="*/ 0 w 24"/>
                <a:gd name="T65" fmla="*/ 15 h 24"/>
                <a:gd name="T66" fmla="*/ 0 w 24"/>
                <a:gd name="T67" fmla="*/ 17 h 24"/>
                <a:gd name="T68" fmla="*/ 2 w 24"/>
                <a:gd name="T69" fmla="*/ 19 h 24"/>
                <a:gd name="T70" fmla="*/ 2 w 24"/>
                <a:gd name="T71" fmla="*/ 19 h 24"/>
                <a:gd name="T72" fmla="*/ 4 w 24"/>
                <a:gd name="T73" fmla="*/ 21 h 24"/>
                <a:gd name="T74" fmla="*/ 6 w 24"/>
                <a:gd name="T75" fmla="*/ 23 h 24"/>
                <a:gd name="T76" fmla="*/ 8 w 24"/>
                <a:gd name="T77" fmla="*/ 23 h 24"/>
                <a:gd name="T78" fmla="*/ 10 w 24"/>
                <a:gd name="T79" fmla="*/ 23 h 24"/>
                <a:gd name="T80" fmla="*/ 12 w 24"/>
                <a:gd name="T81" fmla="*/ 23 h 24"/>
                <a:gd name="T82" fmla="*/ 12 w 24"/>
                <a:gd name="T83" fmla="*/ 23 h 24"/>
                <a:gd name="T84" fmla="*/ 10 w 24"/>
                <a:gd name="T85" fmla="*/ 23 h 2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4"/>
                <a:gd name="T130" fmla="*/ 0 h 24"/>
                <a:gd name="T131" fmla="*/ 24 w 24"/>
                <a:gd name="T132" fmla="*/ 24 h 24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4" h="24">
                  <a:moveTo>
                    <a:pt x="10" y="23"/>
                  </a:moveTo>
                  <a:lnTo>
                    <a:pt x="14" y="23"/>
                  </a:lnTo>
                  <a:lnTo>
                    <a:pt x="16" y="23"/>
                  </a:lnTo>
                  <a:lnTo>
                    <a:pt x="18" y="21"/>
                  </a:lnTo>
                  <a:lnTo>
                    <a:pt x="20" y="19"/>
                  </a:lnTo>
                  <a:lnTo>
                    <a:pt x="21" y="17"/>
                  </a:lnTo>
                  <a:lnTo>
                    <a:pt x="21" y="15"/>
                  </a:lnTo>
                  <a:lnTo>
                    <a:pt x="23" y="13"/>
                  </a:lnTo>
                  <a:lnTo>
                    <a:pt x="23" y="12"/>
                  </a:lnTo>
                  <a:lnTo>
                    <a:pt x="23" y="10"/>
                  </a:lnTo>
                  <a:lnTo>
                    <a:pt x="21" y="8"/>
                  </a:lnTo>
                  <a:lnTo>
                    <a:pt x="21" y="6"/>
                  </a:lnTo>
                  <a:lnTo>
                    <a:pt x="20" y="6"/>
                  </a:lnTo>
                  <a:lnTo>
                    <a:pt x="20" y="4"/>
                  </a:lnTo>
                  <a:lnTo>
                    <a:pt x="18" y="2"/>
                  </a:lnTo>
                  <a:lnTo>
                    <a:pt x="16" y="2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8" y="0"/>
                  </a:lnTo>
                  <a:lnTo>
                    <a:pt x="6" y="2"/>
                  </a:lnTo>
                  <a:lnTo>
                    <a:pt x="4" y="2"/>
                  </a:lnTo>
                  <a:lnTo>
                    <a:pt x="2" y="4"/>
                  </a:lnTo>
                  <a:lnTo>
                    <a:pt x="2" y="6"/>
                  </a:lnTo>
                  <a:lnTo>
                    <a:pt x="0" y="6"/>
                  </a:lnTo>
                  <a:lnTo>
                    <a:pt x="0" y="8"/>
                  </a:lnTo>
                  <a:lnTo>
                    <a:pt x="0" y="10"/>
                  </a:lnTo>
                  <a:lnTo>
                    <a:pt x="0" y="12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0" y="17"/>
                  </a:lnTo>
                  <a:lnTo>
                    <a:pt x="2" y="19"/>
                  </a:lnTo>
                  <a:lnTo>
                    <a:pt x="4" y="21"/>
                  </a:lnTo>
                  <a:lnTo>
                    <a:pt x="6" y="23"/>
                  </a:lnTo>
                  <a:lnTo>
                    <a:pt x="8" y="23"/>
                  </a:lnTo>
                  <a:lnTo>
                    <a:pt x="10" y="23"/>
                  </a:lnTo>
                  <a:lnTo>
                    <a:pt x="12" y="23"/>
                  </a:lnTo>
                  <a:lnTo>
                    <a:pt x="10" y="23"/>
                  </a:lnTo>
                </a:path>
              </a:pathLst>
            </a:custGeom>
            <a:solidFill>
              <a:srgbClr val="000000"/>
            </a:solidFill>
            <a:ln w="9525" cap="rnd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87" name="Line 93"/>
            <p:cNvSpPr>
              <a:spLocks noChangeShapeType="1"/>
            </p:cNvSpPr>
            <p:nvPr/>
          </p:nvSpPr>
          <p:spPr bwMode="auto">
            <a:xfrm flipH="1">
              <a:off x="5840413" y="4805363"/>
              <a:ext cx="396875" cy="317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88" name="Freeform 94"/>
            <p:cNvSpPr>
              <a:spLocks/>
            </p:cNvSpPr>
            <p:nvPr/>
          </p:nvSpPr>
          <p:spPr bwMode="auto">
            <a:xfrm>
              <a:off x="6034088" y="4398963"/>
              <a:ext cx="1433513" cy="969963"/>
            </a:xfrm>
            <a:custGeom>
              <a:avLst/>
              <a:gdLst>
                <a:gd name="T0" fmla="*/ 902 w 1318"/>
                <a:gd name="T1" fmla="*/ 608 h 410"/>
                <a:gd name="T2" fmla="*/ 0 w 1318"/>
                <a:gd name="T3" fmla="*/ 610 h 410"/>
                <a:gd name="T4" fmla="*/ 0 w 1318"/>
                <a:gd name="T5" fmla="*/ 0 h 410"/>
                <a:gd name="T6" fmla="*/ 0 60000 65536"/>
                <a:gd name="T7" fmla="*/ 0 60000 65536"/>
                <a:gd name="T8" fmla="*/ 0 60000 65536"/>
                <a:gd name="T9" fmla="*/ 0 w 1318"/>
                <a:gd name="T10" fmla="*/ 0 h 410"/>
                <a:gd name="T11" fmla="*/ 1318 w 1318"/>
                <a:gd name="T12" fmla="*/ 410 h 41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18" h="410">
                  <a:moveTo>
                    <a:pt x="1317" y="408"/>
                  </a:moveTo>
                  <a:lnTo>
                    <a:pt x="0" y="409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triangl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89" name="Line 95"/>
            <p:cNvSpPr>
              <a:spLocks noChangeShapeType="1"/>
            </p:cNvSpPr>
            <p:nvPr/>
          </p:nvSpPr>
          <p:spPr bwMode="auto">
            <a:xfrm>
              <a:off x="5837238" y="5686425"/>
              <a:ext cx="1625600" cy="158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90" name="Line 96"/>
            <p:cNvSpPr>
              <a:spLocks noChangeShapeType="1"/>
            </p:cNvSpPr>
            <p:nvPr/>
          </p:nvSpPr>
          <p:spPr bwMode="auto">
            <a:xfrm flipH="1">
              <a:off x="5840413" y="4398963"/>
              <a:ext cx="40163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91" name="Line 97"/>
            <p:cNvSpPr>
              <a:spLocks noChangeShapeType="1"/>
            </p:cNvSpPr>
            <p:nvPr/>
          </p:nvSpPr>
          <p:spPr bwMode="auto">
            <a:xfrm flipH="1">
              <a:off x="7224713" y="4391025"/>
              <a:ext cx="246063" cy="317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92" name="Line 98"/>
            <p:cNvSpPr>
              <a:spLocks noChangeShapeType="1"/>
            </p:cNvSpPr>
            <p:nvPr/>
          </p:nvSpPr>
          <p:spPr bwMode="auto">
            <a:xfrm flipH="1" flipV="1">
              <a:off x="6734175" y="3978275"/>
              <a:ext cx="1588" cy="104775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grpSp>
          <p:nvGrpSpPr>
            <p:cNvPr id="93" name="Group 289"/>
            <p:cNvGrpSpPr>
              <a:grpSpLocks/>
            </p:cNvGrpSpPr>
            <p:nvPr/>
          </p:nvGrpSpPr>
          <p:grpSpPr bwMode="auto">
            <a:xfrm>
              <a:off x="6248400" y="3844926"/>
              <a:ext cx="966788" cy="1422401"/>
              <a:chOff x="3936" y="2422"/>
              <a:chExt cx="609" cy="896"/>
            </a:xfrm>
          </p:grpSpPr>
          <p:sp>
            <p:nvSpPr>
              <p:cNvPr id="236" name="Line 100"/>
              <p:cNvSpPr>
                <a:spLocks noChangeShapeType="1"/>
              </p:cNvSpPr>
              <p:nvPr/>
            </p:nvSpPr>
            <p:spPr bwMode="auto">
              <a:xfrm flipH="1">
                <a:off x="4248" y="3132"/>
                <a:ext cx="1" cy="105"/>
              </a:xfrm>
              <a:prstGeom prst="line">
                <a:avLst/>
              </a:prstGeom>
              <a:noFill/>
              <a:ln w="12700">
                <a:solidFill>
                  <a:srgbClr val="EB75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237" name="Rectangle 101"/>
              <p:cNvSpPr>
                <a:spLocks noChangeArrowheads="1"/>
              </p:cNvSpPr>
              <p:nvPr/>
            </p:nvSpPr>
            <p:spPr bwMode="auto">
              <a:xfrm>
                <a:off x="4073" y="3235"/>
                <a:ext cx="310" cy="8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900">
                    <a:solidFill>
                      <a:srgbClr val="EB7500"/>
                    </a:solidFill>
                    <a:latin typeface="+mj-lt"/>
                  </a:rPr>
                  <a:t>MemRead</a:t>
                </a:r>
              </a:p>
            </p:txBody>
          </p:sp>
          <p:sp>
            <p:nvSpPr>
              <p:cNvPr id="238" name="Rectangle 102"/>
              <p:cNvSpPr>
                <a:spLocks noChangeArrowheads="1"/>
              </p:cNvSpPr>
              <p:nvPr/>
            </p:nvSpPr>
            <p:spPr bwMode="auto">
              <a:xfrm>
                <a:off x="4063" y="2422"/>
                <a:ext cx="328" cy="8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900" dirty="0" err="1">
                    <a:solidFill>
                      <a:srgbClr val="EB7500"/>
                    </a:solidFill>
                    <a:latin typeface="+mj-lt"/>
                  </a:rPr>
                  <a:t>MemWrite</a:t>
                </a:r>
                <a:endParaRPr lang="en-US" sz="900" dirty="0">
                  <a:solidFill>
                    <a:srgbClr val="EB7500"/>
                  </a:solidFill>
                  <a:latin typeface="+mj-lt"/>
                </a:endParaRPr>
              </a:p>
            </p:txBody>
          </p:sp>
          <p:sp>
            <p:nvSpPr>
              <p:cNvPr id="239" name="Rectangle 103"/>
              <p:cNvSpPr>
                <a:spLocks noChangeArrowheads="1"/>
              </p:cNvSpPr>
              <p:nvPr/>
            </p:nvSpPr>
            <p:spPr bwMode="auto">
              <a:xfrm>
                <a:off x="3936" y="2577"/>
                <a:ext cx="609" cy="552"/>
              </a:xfrm>
              <a:prstGeom prst="rect">
                <a:avLst/>
              </a:prstGeom>
              <a:solidFill>
                <a:srgbClr val="FFFFCC"/>
              </a:solidFill>
              <a:ln w="19050" algn="ctr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240" name="Rectangle 104"/>
              <p:cNvSpPr>
                <a:spLocks noChangeArrowheads="1"/>
              </p:cNvSpPr>
              <p:nvPr/>
            </p:nvSpPr>
            <p:spPr bwMode="auto">
              <a:xfrm>
                <a:off x="3950" y="2740"/>
                <a:ext cx="242" cy="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US" sz="900">
                    <a:solidFill>
                      <a:srgbClr val="000000"/>
                    </a:solidFill>
                    <a:latin typeface="+mj-lt"/>
                  </a:rPr>
                  <a:t>Address</a:t>
                </a:r>
                <a:endParaRPr lang="en-US" sz="800">
                  <a:solidFill>
                    <a:srgbClr val="000000"/>
                  </a:solidFill>
                  <a:latin typeface="+mj-lt"/>
                </a:endParaRPr>
              </a:p>
            </p:txBody>
          </p:sp>
          <p:sp>
            <p:nvSpPr>
              <p:cNvPr id="241" name="Rectangle 105"/>
              <p:cNvSpPr>
                <a:spLocks noChangeArrowheads="1"/>
              </p:cNvSpPr>
              <p:nvPr/>
            </p:nvSpPr>
            <p:spPr bwMode="auto">
              <a:xfrm>
                <a:off x="3952" y="2961"/>
                <a:ext cx="170" cy="14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US" sz="900">
                    <a:solidFill>
                      <a:srgbClr val="000000"/>
                    </a:solidFill>
                    <a:latin typeface="+mj-lt"/>
                  </a:rPr>
                  <a:t>Write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sz="900">
                    <a:solidFill>
                      <a:srgbClr val="000000"/>
                    </a:solidFill>
                    <a:latin typeface="+mj-lt"/>
                  </a:rPr>
                  <a:t>Data</a:t>
                </a:r>
                <a:endParaRPr lang="en-US" sz="800">
                  <a:solidFill>
                    <a:srgbClr val="000000"/>
                  </a:solidFill>
                  <a:latin typeface="+mj-lt"/>
                </a:endParaRPr>
              </a:p>
            </p:txBody>
          </p:sp>
          <p:sp>
            <p:nvSpPr>
              <p:cNvPr id="242" name="Rectangle 106"/>
              <p:cNvSpPr>
                <a:spLocks noChangeArrowheads="1"/>
              </p:cNvSpPr>
              <p:nvPr/>
            </p:nvSpPr>
            <p:spPr bwMode="auto">
              <a:xfrm>
                <a:off x="4353" y="2673"/>
                <a:ext cx="152" cy="14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US" sz="900">
                    <a:solidFill>
                      <a:srgbClr val="000000"/>
                    </a:solidFill>
                    <a:latin typeface="+mj-lt"/>
                  </a:rPr>
                  <a:t>Read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sz="900">
                    <a:solidFill>
                      <a:srgbClr val="000000"/>
                    </a:solidFill>
                    <a:latin typeface="+mj-lt"/>
                  </a:rPr>
                  <a:t>Data</a:t>
                </a:r>
                <a:endParaRPr lang="en-US" sz="500">
                  <a:solidFill>
                    <a:srgbClr val="000000"/>
                  </a:solidFill>
                  <a:latin typeface="+mj-lt"/>
                </a:endParaRPr>
              </a:p>
            </p:txBody>
          </p:sp>
          <p:sp>
            <p:nvSpPr>
              <p:cNvPr id="243" name="Rectangle 107"/>
              <p:cNvSpPr>
                <a:spLocks noChangeArrowheads="1"/>
              </p:cNvSpPr>
              <p:nvPr/>
            </p:nvSpPr>
            <p:spPr bwMode="auto">
              <a:xfrm>
                <a:off x="4171" y="2892"/>
                <a:ext cx="341" cy="19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sz="1200">
                    <a:solidFill>
                      <a:srgbClr val="000000"/>
                    </a:solidFill>
                    <a:latin typeface="+mj-lt"/>
                  </a:rPr>
                  <a:t>Data</a:t>
                </a:r>
              </a:p>
              <a:p>
                <a:pPr algn="ctr">
                  <a:lnSpc>
                    <a:spcPct val="90000"/>
                  </a:lnSpc>
                </a:pPr>
                <a:r>
                  <a:rPr lang="en-US" sz="1200">
                    <a:solidFill>
                      <a:srgbClr val="000000"/>
                    </a:solidFill>
                    <a:latin typeface="+mj-lt"/>
                  </a:rPr>
                  <a:t>Memory</a:t>
                </a:r>
                <a:endParaRPr lang="en-US" sz="800">
                  <a:solidFill>
                    <a:srgbClr val="000000"/>
                  </a:solidFill>
                  <a:latin typeface="+mj-lt"/>
                </a:endParaRPr>
              </a:p>
            </p:txBody>
          </p:sp>
        </p:grpSp>
        <p:sp>
          <p:nvSpPr>
            <p:cNvPr id="94" name="Freeform 108"/>
            <p:cNvSpPr>
              <a:spLocks/>
            </p:cNvSpPr>
            <p:nvPr/>
          </p:nvSpPr>
          <p:spPr bwMode="auto">
            <a:xfrm>
              <a:off x="5961063" y="3009900"/>
              <a:ext cx="114300" cy="717550"/>
            </a:xfrm>
            <a:custGeom>
              <a:avLst/>
              <a:gdLst>
                <a:gd name="T0" fmla="*/ 0 w 72"/>
                <a:gd name="T1" fmla="*/ 0 h 72"/>
                <a:gd name="T2" fmla="*/ 2 w 72"/>
                <a:gd name="T3" fmla="*/ 446 h 72"/>
                <a:gd name="T4" fmla="*/ 71 w 72"/>
                <a:gd name="T5" fmla="*/ 446 h 72"/>
                <a:gd name="T6" fmla="*/ 0 60000 65536"/>
                <a:gd name="T7" fmla="*/ 0 60000 65536"/>
                <a:gd name="T8" fmla="*/ 0 60000 65536"/>
                <a:gd name="T9" fmla="*/ 0 w 72"/>
                <a:gd name="T10" fmla="*/ 0 h 72"/>
                <a:gd name="T11" fmla="*/ 72 w 72"/>
                <a:gd name="T12" fmla="*/ 72 h 7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2" h="72">
                  <a:moveTo>
                    <a:pt x="0" y="0"/>
                  </a:moveTo>
                  <a:lnTo>
                    <a:pt x="2" y="71"/>
                  </a:lnTo>
                  <a:lnTo>
                    <a:pt x="71" y="71"/>
                  </a:lnTo>
                </a:path>
              </a:pathLst>
            </a:custGeom>
            <a:noFill/>
            <a:ln w="12700" cap="rnd" cmpd="sng">
              <a:solidFill>
                <a:srgbClr val="EB75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95" name="Freeform 109"/>
            <p:cNvSpPr>
              <a:spLocks/>
            </p:cNvSpPr>
            <p:nvPr/>
          </p:nvSpPr>
          <p:spPr bwMode="auto">
            <a:xfrm>
              <a:off x="5851525" y="3848100"/>
              <a:ext cx="223838" cy="363538"/>
            </a:xfrm>
            <a:custGeom>
              <a:avLst/>
              <a:gdLst>
                <a:gd name="T0" fmla="*/ 0 w 141"/>
                <a:gd name="T1" fmla="*/ 228 h 229"/>
                <a:gd name="T2" fmla="*/ 71 w 141"/>
                <a:gd name="T3" fmla="*/ 228 h 229"/>
                <a:gd name="T4" fmla="*/ 71 w 141"/>
                <a:gd name="T5" fmla="*/ 0 h 229"/>
                <a:gd name="T6" fmla="*/ 140 w 141"/>
                <a:gd name="T7" fmla="*/ 0 h 22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1"/>
                <a:gd name="T13" fmla="*/ 0 h 229"/>
                <a:gd name="T14" fmla="*/ 141 w 141"/>
                <a:gd name="T15" fmla="*/ 229 h 22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1" h="229">
                  <a:moveTo>
                    <a:pt x="0" y="228"/>
                  </a:moveTo>
                  <a:lnTo>
                    <a:pt x="71" y="228"/>
                  </a:lnTo>
                  <a:lnTo>
                    <a:pt x="71" y="0"/>
                  </a:lnTo>
                  <a:lnTo>
                    <a:pt x="140" y="0"/>
                  </a:lnTo>
                </a:path>
              </a:pathLst>
            </a:custGeom>
            <a:noFill/>
            <a:ln w="12700" cap="rnd" cmpd="sng">
              <a:solidFill>
                <a:srgbClr val="EB75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96" name="Freeform 110"/>
            <p:cNvSpPr>
              <a:spLocks/>
            </p:cNvSpPr>
            <p:nvPr/>
          </p:nvSpPr>
          <p:spPr bwMode="auto">
            <a:xfrm>
              <a:off x="6073775" y="3692525"/>
              <a:ext cx="230188" cy="193675"/>
            </a:xfrm>
            <a:custGeom>
              <a:avLst/>
              <a:gdLst>
                <a:gd name="T0" fmla="*/ 85 w 145"/>
                <a:gd name="T1" fmla="*/ 119 h 122"/>
                <a:gd name="T2" fmla="*/ 96 w 145"/>
                <a:gd name="T3" fmla="*/ 119 h 122"/>
                <a:gd name="T4" fmla="*/ 104 w 145"/>
                <a:gd name="T5" fmla="*/ 117 h 122"/>
                <a:gd name="T6" fmla="*/ 113 w 145"/>
                <a:gd name="T7" fmla="*/ 113 h 122"/>
                <a:gd name="T8" fmla="*/ 121 w 145"/>
                <a:gd name="T9" fmla="*/ 107 h 122"/>
                <a:gd name="T10" fmla="*/ 127 w 145"/>
                <a:gd name="T11" fmla="*/ 102 h 122"/>
                <a:gd name="T12" fmla="*/ 132 w 145"/>
                <a:gd name="T13" fmla="*/ 96 h 122"/>
                <a:gd name="T14" fmla="*/ 138 w 145"/>
                <a:gd name="T15" fmla="*/ 88 h 122"/>
                <a:gd name="T16" fmla="*/ 142 w 145"/>
                <a:gd name="T17" fmla="*/ 79 h 122"/>
                <a:gd name="T18" fmla="*/ 144 w 145"/>
                <a:gd name="T19" fmla="*/ 69 h 122"/>
                <a:gd name="T20" fmla="*/ 144 w 145"/>
                <a:gd name="T21" fmla="*/ 60 h 122"/>
                <a:gd name="T22" fmla="*/ 144 w 145"/>
                <a:gd name="T23" fmla="*/ 50 h 122"/>
                <a:gd name="T24" fmla="*/ 142 w 145"/>
                <a:gd name="T25" fmla="*/ 40 h 122"/>
                <a:gd name="T26" fmla="*/ 138 w 145"/>
                <a:gd name="T27" fmla="*/ 33 h 122"/>
                <a:gd name="T28" fmla="*/ 132 w 145"/>
                <a:gd name="T29" fmla="*/ 25 h 122"/>
                <a:gd name="T30" fmla="*/ 127 w 145"/>
                <a:gd name="T31" fmla="*/ 17 h 122"/>
                <a:gd name="T32" fmla="*/ 121 w 145"/>
                <a:gd name="T33" fmla="*/ 12 h 122"/>
                <a:gd name="T34" fmla="*/ 113 w 145"/>
                <a:gd name="T35" fmla="*/ 6 h 122"/>
                <a:gd name="T36" fmla="*/ 104 w 145"/>
                <a:gd name="T37" fmla="*/ 2 h 122"/>
                <a:gd name="T38" fmla="*/ 96 w 145"/>
                <a:gd name="T39" fmla="*/ 0 h 122"/>
                <a:gd name="T40" fmla="*/ 86 w 145"/>
                <a:gd name="T41" fmla="*/ 0 h 122"/>
                <a:gd name="T42" fmla="*/ 0 w 145"/>
                <a:gd name="T43" fmla="*/ 0 h 122"/>
                <a:gd name="T44" fmla="*/ 0 w 145"/>
                <a:gd name="T45" fmla="*/ 121 h 122"/>
                <a:gd name="T46" fmla="*/ 86 w 145"/>
                <a:gd name="T47" fmla="*/ 121 h 122"/>
                <a:gd name="T48" fmla="*/ 86 w 145"/>
                <a:gd name="T49" fmla="*/ 121 h 122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145"/>
                <a:gd name="T76" fmla="*/ 0 h 122"/>
                <a:gd name="T77" fmla="*/ 145 w 145"/>
                <a:gd name="T78" fmla="*/ 122 h 122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145" h="122">
                  <a:moveTo>
                    <a:pt x="85" y="119"/>
                  </a:moveTo>
                  <a:lnTo>
                    <a:pt x="96" y="119"/>
                  </a:lnTo>
                  <a:lnTo>
                    <a:pt x="104" y="117"/>
                  </a:lnTo>
                  <a:lnTo>
                    <a:pt x="113" y="113"/>
                  </a:lnTo>
                  <a:lnTo>
                    <a:pt x="121" y="107"/>
                  </a:lnTo>
                  <a:lnTo>
                    <a:pt x="127" y="102"/>
                  </a:lnTo>
                  <a:lnTo>
                    <a:pt x="132" y="96"/>
                  </a:lnTo>
                  <a:lnTo>
                    <a:pt x="138" y="88"/>
                  </a:lnTo>
                  <a:lnTo>
                    <a:pt x="142" y="79"/>
                  </a:lnTo>
                  <a:lnTo>
                    <a:pt x="144" y="69"/>
                  </a:lnTo>
                  <a:lnTo>
                    <a:pt x="144" y="60"/>
                  </a:lnTo>
                  <a:lnTo>
                    <a:pt x="144" y="50"/>
                  </a:lnTo>
                  <a:lnTo>
                    <a:pt x="142" y="40"/>
                  </a:lnTo>
                  <a:lnTo>
                    <a:pt x="138" y="33"/>
                  </a:lnTo>
                  <a:lnTo>
                    <a:pt x="132" y="25"/>
                  </a:lnTo>
                  <a:lnTo>
                    <a:pt x="127" y="17"/>
                  </a:lnTo>
                  <a:lnTo>
                    <a:pt x="121" y="12"/>
                  </a:lnTo>
                  <a:lnTo>
                    <a:pt x="113" y="6"/>
                  </a:lnTo>
                  <a:lnTo>
                    <a:pt x="104" y="2"/>
                  </a:lnTo>
                  <a:lnTo>
                    <a:pt x="96" y="0"/>
                  </a:lnTo>
                  <a:lnTo>
                    <a:pt x="86" y="0"/>
                  </a:lnTo>
                  <a:lnTo>
                    <a:pt x="0" y="0"/>
                  </a:lnTo>
                  <a:lnTo>
                    <a:pt x="0" y="121"/>
                  </a:lnTo>
                  <a:lnTo>
                    <a:pt x="86" y="121"/>
                  </a:lnTo>
                </a:path>
              </a:pathLst>
            </a:custGeom>
            <a:solidFill>
              <a:srgbClr val="FFE6CD"/>
            </a:solidFill>
            <a:ln w="19050" cap="rnd" cmpd="sng">
              <a:solidFill>
                <a:srgbClr val="EB75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97" name="Rectangle 111"/>
            <p:cNvSpPr>
              <a:spLocks noChangeArrowheads="1"/>
            </p:cNvSpPr>
            <p:nvPr/>
          </p:nvSpPr>
          <p:spPr bwMode="auto">
            <a:xfrm>
              <a:off x="5913438" y="3516313"/>
              <a:ext cx="333347" cy="131549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900">
                  <a:solidFill>
                    <a:srgbClr val="EB7500"/>
                  </a:solidFill>
                  <a:latin typeface="+mj-lt"/>
                </a:rPr>
                <a:t>Branch</a:t>
              </a:r>
            </a:p>
          </p:txBody>
        </p:sp>
        <p:sp>
          <p:nvSpPr>
            <p:cNvPr id="98" name="Rectangle 112"/>
            <p:cNvSpPr>
              <a:spLocks noChangeArrowheads="1"/>
            </p:cNvSpPr>
            <p:nvPr/>
          </p:nvSpPr>
          <p:spPr bwMode="auto">
            <a:xfrm>
              <a:off x="6438900" y="2549525"/>
              <a:ext cx="263502" cy="1315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900">
                  <a:solidFill>
                    <a:srgbClr val="EB7500"/>
                  </a:solidFill>
                  <a:latin typeface="+mj-lt"/>
                </a:rPr>
                <a:t>PCSrc</a:t>
              </a:r>
            </a:p>
          </p:txBody>
        </p:sp>
        <p:sp>
          <p:nvSpPr>
            <p:cNvPr id="99" name="Line 113"/>
            <p:cNvSpPr>
              <a:spLocks noChangeShapeType="1"/>
            </p:cNvSpPr>
            <p:nvPr/>
          </p:nvSpPr>
          <p:spPr bwMode="auto">
            <a:xfrm>
              <a:off x="2449513" y="6076950"/>
              <a:ext cx="533241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00" name="Line 114"/>
            <p:cNvSpPr>
              <a:spLocks noChangeShapeType="1"/>
            </p:cNvSpPr>
            <p:nvPr/>
          </p:nvSpPr>
          <p:spPr bwMode="auto">
            <a:xfrm flipV="1">
              <a:off x="2452688" y="4405313"/>
              <a:ext cx="0" cy="16764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01" name="Line 115"/>
            <p:cNvSpPr>
              <a:spLocks noChangeShapeType="1"/>
            </p:cNvSpPr>
            <p:nvPr/>
          </p:nvSpPr>
          <p:spPr bwMode="auto">
            <a:xfrm>
              <a:off x="2446338" y="4400550"/>
              <a:ext cx="4206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02" name="Line 116"/>
            <p:cNvSpPr>
              <a:spLocks noChangeShapeType="1"/>
            </p:cNvSpPr>
            <p:nvPr/>
          </p:nvSpPr>
          <p:spPr bwMode="auto">
            <a:xfrm>
              <a:off x="2738438" y="4633913"/>
              <a:ext cx="13335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03" name="Line 117"/>
            <p:cNvSpPr>
              <a:spLocks noChangeShapeType="1"/>
            </p:cNvSpPr>
            <p:nvPr/>
          </p:nvSpPr>
          <p:spPr bwMode="auto">
            <a:xfrm flipV="1">
              <a:off x="2743200" y="4633913"/>
              <a:ext cx="0" cy="15716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04" name="Line 118"/>
            <p:cNvSpPr>
              <a:spLocks noChangeShapeType="1"/>
            </p:cNvSpPr>
            <p:nvPr/>
          </p:nvSpPr>
          <p:spPr bwMode="auto">
            <a:xfrm>
              <a:off x="2743200" y="6200775"/>
              <a:ext cx="5295900" cy="63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05" name="Line 119"/>
            <p:cNvSpPr>
              <a:spLocks noChangeShapeType="1"/>
            </p:cNvSpPr>
            <p:nvPr/>
          </p:nvSpPr>
          <p:spPr bwMode="auto">
            <a:xfrm flipH="1" flipV="1">
              <a:off x="7897813" y="2989263"/>
              <a:ext cx="0" cy="1333500"/>
            </a:xfrm>
            <a:prstGeom prst="line">
              <a:avLst/>
            </a:prstGeom>
            <a:noFill/>
            <a:ln w="9525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06" name="Line 120"/>
            <p:cNvSpPr>
              <a:spLocks noChangeShapeType="1"/>
            </p:cNvSpPr>
            <p:nvPr/>
          </p:nvSpPr>
          <p:spPr bwMode="auto">
            <a:xfrm flipH="1">
              <a:off x="7620000" y="4394200"/>
              <a:ext cx="182563" cy="476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07" name="Freeform 121"/>
            <p:cNvSpPr>
              <a:spLocks/>
            </p:cNvSpPr>
            <p:nvPr/>
          </p:nvSpPr>
          <p:spPr bwMode="auto">
            <a:xfrm>
              <a:off x="7620000" y="4725988"/>
              <a:ext cx="188913" cy="642938"/>
            </a:xfrm>
            <a:custGeom>
              <a:avLst/>
              <a:gdLst>
                <a:gd name="T0" fmla="*/ 118 w 104"/>
                <a:gd name="T1" fmla="*/ 0 h 204"/>
                <a:gd name="T2" fmla="*/ 60 w 104"/>
                <a:gd name="T3" fmla="*/ 0 h 204"/>
                <a:gd name="T4" fmla="*/ 60 w 104"/>
                <a:gd name="T5" fmla="*/ 403 h 204"/>
                <a:gd name="T6" fmla="*/ 0 w 104"/>
                <a:gd name="T7" fmla="*/ 403 h 20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4"/>
                <a:gd name="T13" fmla="*/ 0 h 204"/>
                <a:gd name="T14" fmla="*/ 104 w 104"/>
                <a:gd name="T15" fmla="*/ 204 h 20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4" h="204">
                  <a:moveTo>
                    <a:pt x="103" y="0"/>
                  </a:moveTo>
                  <a:lnTo>
                    <a:pt x="52" y="0"/>
                  </a:lnTo>
                  <a:lnTo>
                    <a:pt x="52" y="203"/>
                  </a:lnTo>
                  <a:lnTo>
                    <a:pt x="0" y="203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triangl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08" name="Rectangle 122"/>
            <p:cNvSpPr>
              <a:spLocks noChangeArrowheads="1"/>
            </p:cNvSpPr>
            <p:nvPr/>
          </p:nvSpPr>
          <p:spPr bwMode="auto">
            <a:xfrm>
              <a:off x="7672388" y="4103688"/>
              <a:ext cx="528592" cy="131549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900">
                  <a:solidFill>
                    <a:srgbClr val="EB7500"/>
                  </a:solidFill>
                  <a:latin typeface="+mj-lt"/>
                </a:rPr>
                <a:t>MemtoReg</a:t>
              </a:r>
            </a:p>
          </p:txBody>
        </p:sp>
        <p:sp>
          <p:nvSpPr>
            <p:cNvPr id="109" name="Line 123"/>
            <p:cNvSpPr>
              <a:spLocks noChangeShapeType="1"/>
            </p:cNvSpPr>
            <p:nvPr/>
          </p:nvSpPr>
          <p:spPr bwMode="auto">
            <a:xfrm>
              <a:off x="7624763" y="5686425"/>
              <a:ext cx="1524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10" name="Line 124"/>
            <p:cNvSpPr>
              <a:spLocks noChangeShapeType="1"/>
            </p:cNvSpPr>
            <p:nvPr/>
          </p:nvSpPr>
          <p:spPr bwMode="auto">
            <a:xfrm rot="5400000">
              <a:off x="7572375" y="5881688"/>
              <a:ext cx="40005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11" name="Line 125"/>
            <p:cNvSpPr>
              <a:spLocks noChangeShapeType="1"/>
            </p:cNvSpPr>
            <p:nvPr/>
          </p:nvSpPr>
          <p:spPr bwMode="auto">
            <a:xfrm flipV="1">
              <a:off x="8043863" y="4557713"/>
              <a:ext cx="0" cy="16525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12" name="Line 126"/>
            <p:cNvSpPr>
              <a:spLocks noChangeShapeType="1"/>
            </p:cNvSpPr>
            <p:nvPr/>
          </p:nvSpPr>
          <p:spPr bwMode="auto">
            <a:xfrm flipV="1">
              <a:off x="7977188" y="4557713"/>
              <a:ext cx="66675" cy="47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13" name="Freeform 127"/>
            <p:cNvSpPr>
              <a:spLocks/>
            </p:cNvSpPr>
            <p:nvPr/>
          </p:nvSpPr>
          <p:spPr bwMode="auto">
            <a:xfrm>
              <a:off x="1009650" y="3030538"/>
              <a:ext cx="438150" cy="1001713"/>
            </a:xfrm>
            <a:custGeom>
              <a:avLst/>
              <a:gdLst>
                <a:gd name="T0" fmla="*/ 275 w 194"/>
                <a:gd name="T1" fmla="*/ 0 h 631"/>
                <a:gd name="T2" fmla="*/ 0 w 194"/>
                <a:gd name="T3" fmla="*/ 2 h 631"/>
                <a:gd name="T4" fmla="*/ 0 w 194"/>
                <a:gd name="T5" fmla="*/ 630 h 631"/>
                <a:gd name="T6" fmla="*/ 0 60000 65536"/>
                <a:gd name="T7" fmla="*/ 0 60000 65536"/>
                <a:gd name="T8" fmla="*/ 0 60000 65536"/>
                <a:gd name="T9" fmla="*/ 0 w 194"/>
                <a:gd name="T10" fmla="*/ 0 h 631"/>
                <a:gd name="T11" fmla="*/ 194 w 194"/>
                <a:gd name="T12" fmla="*/ 631 h 63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4" h="631">
                  <a:moveTo>
                    <a:pt x="193" y="0"/>
                  </a:moveTo>
                  <a:lnTo>
                    <a:pt x="0" y="2"/>
                  </a:lnTo>
                  <a:lnTo>
                    <a:pt x="0" y="63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triangl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14" name="Freeform 128"/>
            <p:cNvSpPr>
              <a:spLocks/>
            </p:cNvSpPr>
            <p:nvPr/>
          </p:nvSpPr>
          <p:spPr bwMode="auto">
            <a:xfrm>
              <a:off x="990600" y="4011613"/>
              <a:ext cx="38100" cy="38100"/>
            </a:xfrm>
            <a:custGeom>
              <a:avLst/>
              <a:gdLst>
                <a:gd name="T0" fmla="*/ 12 w 24"/>
                <a:gd name="T1" fmla="*/ 21 h 24"/>
                <a:gd name="T2" fmla="*/ 14 w 24"/>
                <a:gd name="T3" fmla="*/ 21 h 24"/>
                <a:gd name="T4" fmla="*/ 16 w 24"/>
                <a:gd name="T5" fmla="*/ 21 h 24"/>
                <a:gd name="T6" fmla="*/ 17 w 24"/>
                <a:gd name="T7" fmla="*/ 21 h 24"/>
                <a:gd name="T8" fmla="*/ 19 w 24"/>
                <a:gd name="T9" fmla="*/ 19 h 24"/>
                <a:gd name="T10" fmla="*/ 19 w 24"/>
                <a:gd name="T11" fmla="*/ 19 h 24"/>
                <a:gd name="T12" fmla="*/ 21 w 24"/>
                <a:gd name="T13" fmla="*/ 18 h 24"/>
                <a:gd name="T14" fmla="*/ 23 w 24"/>
                <a:gd name="T15" fmla="*/ 16 h 24"/>
                <a:gd name="T16" fmla="*/ 23 w 24"/>
                <a:gd name="T17" fmla="*/ 14 h 24"/>
                <a:gd name="T18" fmla="*/ 23 w 24"/>
                <a:gd name="T19" fmla="*/ 14 h 24"/>
                <a:gd name="T20" fmla="*/ 23 w 24"/>
                <a:gd name="T21" fmla="*/ 12 h 24"/>
                <a:gd name="T22" fmla="*/ 23 w 24"/>
                <a:gd name="T23" fmla="*/ 10 h 24"/>
                <a:gd name="T24" fmla="*/ 23 w 24"/>
                <a:gd name="T25" fmla="*/ 8 h 24"/>
                <a:gd name="T26" fmla="*/ 23 w 24"/>
                <a:gd name="T27" fmla="*/ 6 h 24"/>
                <a:gd name="T28" fmla="*/ 21 w 24"/>
                <a:gd name="T29" fmla="*/ 4 h 24"/>
                <a:gd name="T30" fmla="*/ 19 w 24"/>
                <a:gd name="T31" fmla="*/ 2 h 24"/>
                <a:gd name="T32" fmla="*/ 19 w 24"/>
                <a:gd name="T33" fmla="*/ 2 h 24"/>
                <a:gd name="T34" fmla="*/ 17 w 24"/>
                <a:gd name="T35" fmla="*/ 0 h 24"/>
                <a:gd name="T36" fmla="*/ 16 w 24"/>
                <a:gd name="T37" fmla="*/ 0 h 24"/>
                <a:gd name="T38" fmla="*/ 14 w 24"/>
                <a:gd name="T39" fmla="*/ 0 h 24"/>
                <a:gd name="T40" fmla="*/ 12 w 24"/>
                <a:gd name="T41" fmla="*/ 0 h 24"/>
                <a:gd name="T42" fmla="*/ 10 w 24"/>
                <a:gd name="T43" fmla="*/ 0 h 24"/>
                <a:gd name="T44" fmla="*/ 8 w 24"/>
                <a:gd name="T45" fmla="*/ 0 h 24"/>
                <a:gd name="T46" fmla="*/ 6 w 24"/>
                <a:gd name="T47" fmla="*/ 0 h 24"/>
                <a:gd name="T48" fmla="*/ 6 w 24"/>
                <a:gd name="T49" fmla="*/ 2 h 24"/>
                <a:gd name="T50" fmla="*/ 4 w 24"/>
                <a:gd name="T51" fmla="*/ 2 h 24"/>
                <a:gd name="T52" fmla="*/ 2 w 24"/>
                <a:gd name="T53" fmla="*/ 4 h 24"/>
                <a:gd name="T54" fmla="*/ 2 w 24"/>
                <a:gd name="T55" fmla="*/ 6 h 24"/>
                <a:gd name="T56" fmla="*/ 0 w 24"/>
                <a:gd name="T57" fmla="*/ 8 h 24"/>
                <a:gd name="T58" fmla="*/ 0 w 24"/>
                <a:gd name="T59" fmla="*/ 10 h 24"/>
                <a:gd name="T60" fmla="*/ 0 w 24"/>
                <a:gd name="T61" fmla="*/ 12 h 24"/>
                <a:gd name="T62" fmla="*/ 0 w 24"/>
                <a:gd name="T63" fmla="*/ 14 h 24"/>
                <a:gd name="T64" fmla="*/ 0 w 24"/>
                <a:gd name="T65" fmla="*/ 14 h 24"/>
                <a:gd name="T66" fmla="*/ 2 w 24"/>
                <a:gd name="T67" fmla="*/ 16 h 24"/>
                <a:gd name="T68" fmla="*/ 2 w 24"/>
                <a:gd name="T69" fmla="*/ 18 h 24"/>
                <a:gd name="T70" fmla="*/ 4 w 24"/>
                <a:gd name="T71" fmla="*/ 19 h 24"/>
                <a:gd name="T72" fmla="*/ 6 w 24"/>
                <a:gd name="T73" fmla="*/ 19 h 24"/>
                <a:gd name="T74" fmla="*/ 6 w 24"/>
                <a:gd name="T75" fmla="*/ 21 h 24"/>
                <a:gd name="T76" fmla="*/ 8 w 24"/>
                <a:gd name="T77" fmla="*/ 21 h 24"/>
                <a:gd name="T78" fmla="*/ 10 w 24"/>
                <a:gd name="T79" fmla="*/ 21 h 24"/>
                <a:gd name="T80" fmla="*/ 12 w 24"/>
                <a:gd name="T81" fmla="*/ 23 h 24"/>
                <a:gd name="T82" fmla="*/ 12 w 24"/>
                <a:gd name="T83" fmla="*/ 23 h 24"/>
                <a:gd name="T84" fmla="*/ 12 w 24"/>
                <a:gd name="T85" fmla="*/ 21 h 2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4"/>
                <a:gd name="T130" fmla="*/ 0 h 24"/>
                <a:gd name="T131" fmla="*/ 24 w 24"/>
                <a:gd name="T132" fmla="*/ 24 h 24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4" h="24">
                  <a:moveTo>
                    <a:pt x="12" y="21"/>
                  </a:moveTo>
                  <a:lnTo>
                    <a:pt x="14" y="21"/>
                  </a:lnTo>
                  <a:lnTo>
                    <a:pt x="16" y="21"/>
                  </a:lnTo>
                  <a:lnTo>
                    <a:pt x="17" y="21"/>
                  </a:lnTo>
                  <a:lnTo>
                    <a:pt x="19" y="19"/>
                  </a:lnTo>
                  <a:lnTo>
                    <a:pt x="21" y="18"/>
                  </a:lnTo>
                  <a:lnTo>
                    <a:pt x="23" y="16"/>
                  </a:lnTo>
                  <a:lnTo>
                    <a:pt x="23" y="14"/>
                  </a:lnTo>
                  <a:lnTo>
                    <a:pt x="23" y="12"/>
                  </a:lnTo>
                  <a:lnTo>
                    <a:pt x="23" y="10"/>
                  </a:lnTo>
                  <a:lnTo>
                    <a:pt x="23" y="8"/>
                  </a:lnTo>
                  <a:lnTo>
                    <a:pt x="23" y="6"/>
                  </a:lnTo>
                  <a:lnTo>
                    <a:pt x="21" y="4"/>
                  </a:lnTo>
                  <a:lnTo>
                    <a:pt x="19" y="2"/>
                  </a:lnTo>
                  <a:lnTo>
                    <a:pt x="17" y="0"/>
                  </a:lnTo>
                  <a:lnTo>
                    <a:pt x="16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8" y="0"/>
                  </a:lnTo>
                  <a:lnTo>
                    <a:pt x="6" y="0"/>
                  </a:lnTo>
                  <a:lnTo>
                    <a:pt x="6" y="2"/>
                  </a:lnTo>
                  <a:lnTo>
                    <a:pt x="4" y="2"/>
                  </a:lnTo>
                  <a:lnTo>
                    <a:pt x="2" y="4"/>
                  </a:lnTo>
                  <a:lnTo>
                    <a:pt x="2" y="6"/>
                  </a:lnTo>
                  <a:lnTo>
                    <a:pt x="0" y="8"/>
                  </a:lnTo>
                  <a:lnTo>
                    <a:pt x="0" y="10"/>
                  </a:lnTo>
                  <a:lnTo>
                    <a:pt x="0" y="12"/>
                  </a:lnTo>
                  <a:lnTo>
                    <a:pt x="0" y="14"/>
                  </a:lnTo>
                  <a:lnTo>
                    <a:pt x="2" y="16"/>
                  </a:lnTo>
                  <a:lnTo>
                    <a:pt x="2" y="18"/>
                  </a:lnTo>
                  <a:lnTo>
                    <a:pt x="4" y="19"/>
                  </a:lnTo>
                  <a:lnTo>
                    <a:pt x="6" y="19"/>
                  </a:lnTo>
                  <a:lnTo>
                    <a:pt x="6" y="21"/>
                  </a:lnTo>
                  <a:lnTo>
                    <a:pt x="8" y="21"/>
                  </a:lnTo>
                  <a:lnTo>
                    <a:pt x="10" y="21"/>
                  </a:lnTo>
                  <a:lnTo>
                    <a:pt x="12" y="23"/>
                  </a:lnTo>
                  <a:lnTo>
                    <a:pt x="12" y="21"/>
                  </a:lnTo>
                </a:path>
              </a:pathLst>
            </a:custGeom>
            <a:solidFill>
              <a:srgbClr val="000000"/>
            </a:solidFill>
            <a:ln w="9525" cap="rnd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15" name="Rectangle 129"/>
            <p:cNvSpPr>
              <a:spLocks noChangeArrowheads="1"/>
            </p:cNvSpPr>
            <p:nvPr/>
          </p:nvSpPr>
          <p:spPr bwMode="auto">
            <a:xfrm>
              <a:off x="1103313" y="3341688"/>
              <a:ext cx="261916" cy="2637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sz="1200">
                  <a:solidFill>
                    <a:srgbClr val="000000"/>
                  </a:solidFill>
                  <a:latin typeface="+mj-lt"/>
                </a:rPr>
                <a:t>4</a:t>
              </a:r>
              <a:endParaRPr lang="en-US" sz="6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116" name="Freeform 130"/>
            <p:cNvSpPr>
              <a:spLocks/>
            </p:cNvSpPr>
            <p:nvPr/>
          </p:nvSpPr>
          <p:spPr bwMode="auto">
            <a:xfrm>
              <a:off x="2157413" y="3081338"/>
              <a:ext cx="147638" cy="2820988"/>
            </a:xfrm>
            <a:custGeom>
              <a:avLst/>
              <a:gdLst>
                <a:gd name="T0" fmla="*/ 90 w 93"/>
                <a:gd name="T1" fmla="*/ 1776 h 1777"/>
                <a:gd name="T2" fmla="*/ 92 w 93"/>
                <a:gd name="T3" fmla="*/ 0 h 1777"/>
                <a:gd name="T4" fmla="*/ 0 w 93"/>
                <a:gd name="T5" fmla="*/ 0 h 1777"/>
                <a:gd name="T6" fmla="*/ 0 w 93"/>
                <a:gd name="T7" fmla="*/ 1776 h 1777"/>
                <a:gd name="T8" fmla="*/ 92 w 93"/>
                <a:gd name="T9" fmla="*/ 1776 h 1777"/>
                <a:gd name="T10" fmla="*/ 92 w 93"/>
                <a:gd name="T11" fmla="*/ 1776 h 177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3"/>
                <a:gd name="T19" fmla="*/ 0 h 1777"/>
                <a:gd name="T20" fmla="*/ 93 w 93"/>
                <a:gd name="T21" fmla="*/ 1777 h 177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3" h="1777">
                  <a:moveTo>
                    <a:pt x="90" y="1776"/>
                  </a:moveTo>
                  <a:lnTo>
                    <a:pt x="92" y="0"/>
                  </a:lnTo>
                  <a:lnTo>
                    <a:pt x="0" y="0"/>
                  </a:lnTo>
                  <a:lnTo>
                    <a:pt x="0" y="1776"/>
                  </a:lnTo>
                  <a:lnTo>
                    <a:pt x="92" y="1776"/>
                  </a:lnTo>
                </a:path>
              </a:pathLst>
            </a:custGeom>
            <a:solidFill>
              <a:srgbClr val="CCEC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17" name="Line 131"/>
            <p:cNvSpPr>
              <a:spLocks noChangeShapeType="1"/>
            </p:cNvSpPr>
            <p:nvPr/>
          </p:nvSpPr>
          <p:spPr bwMode="auto">
            <a:xfrm flipH="1" flipV="1">
              <a:off x="1908175" y="3246438"/>
              <a:ext cx="258763" cy="476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18" name="Freeform 132"/>
            <p:cNvSpPr>
              <a:spLocks/>
            </p:cNvSpPr>
            <p:nvPr/>
          </p:nvSpPr>
          <p:spPr bwMode="auto">
            <a:xfrm>
              <a:off x="1962150" y="3233738"/>
              <a:ext cx="38100" cy="38100"/>
            </a:xfrm>
            <a:custGeom>
              <a:avLst/>
              <a:gdLst>
                <a:gd name="T0" fmla="*/ 9 w 24"/>
                <a:gd name="T1" fmla="*/ 23 h 24"/>
                <a:gd name="T2" fmla="*/ 13 w 24"/>
                <a:gd name="T3" fmla="*/ 23 h 24"/>
                <a:gd name="T4" fmla="*/ 15 w 24"/>
                <a:gd name="T5" fmla="*/ 23 h 24"/>
                <a:gd name="T6" fmla="*/ 15 w 24"/>
                <a:gd name="T7" fmla="*/ 21 h 24"/>
                <a:gd name="T8" fmla="*/ 17 w 24"/>
                <a:gd name="T9" fmla="*/ 21 h 24"/>
                <a:gd name="T10" fmla="*/ 19 w 24"/>
                <a:gd name="T11" fmla="*/ 19 h 24"/>
                <a:gd name="T12" fmla="*/ 19 w 24"/>
                <a:gd name="T13" fmla="*/ 19 h 24"/>
                <a:gd name="T14" fmla="*/ 21 w 24"/>
                <a:gd name="T15" fmla="*/ 17 h 24"/>
                <a:gd name="T16" fmla="*/ 21 w 24"/>
                <a:gd name="T17" fmla="*/ 15 h 24"/>
                <a:gd name="T18" fmla="*/ 23 w 24"/>
                <a:gd name="T19" fmla="*/ 13 h 24"/>
                <a:gd name="T20" fmla="*/ 23 w 24"/>
                <a:gd name="T21" fmla="*/ 11 h 24"/>
                <a:gd name="T22" fmla="*/ 23 w 24"/>
                <a:gd name="T23" fmla="*/ 9 h 24"/>
                <a:gd name="T24" fmla="*/ 21 w 24"/>
                <a:gd name="T25" fmla="*/ 8 h 24"/>
                <a:gd name="T26" fmla="*/ 21 w 24"/>
                <a:gd name="T27" fmla="*/ 6 h 24"/>
                <a:gd name="T28" fmla="*/ 19 w 24"/>
                <a:gd name="T29" fmla="*/ 6 h 24"/>
                <a:gd name="T30" fmla="*/ 19 w 24"/>
                <a:gd name="T31" fmla="*/ 4 h 24"/>
                <a:gd name="T32" fmla="*/ 17 w 24"/>
                <a:gd name="T33" fmla="*/ 2 h 24"/>
                <a:gd name="T34" fmla="*/ 15 w 24"/>
                <a:gd name="T35" fmla="*/ 2 h 24"/>
                <a:gd name="T36" fmla="*/ 15 w 24"/>
                <a:gd name="T37" fmla="*/ 0 h 24"/>
                <a:gd name="T38" fmla="*/ 13 w 24"/>
                <a:gd name="T39" fmla="*/ 0 h 24"/>
                <a:gd name="T40" fmla="*/ 11 w 24"/>
                <a:gd name="T41" fmla="*/ 0 h 24"/>
                <a:gd name="T42" fmla="*/ 9 w 24"/>
                <a:gd name="T43" fmla="*/ 0 h 24"/>
                <a:gd name="T44" fmla="*/ 7 w 24"/>
                <a:gd name="T45" fmla="*/ 0 h 24"/>
                <a:gd name="T46" fmla="*/ 5 w 24"/>
                <a:gd name="T47" fmla="*/ 2 h 24"/>
                <a:gd name="T48" fmla="*/ 4 w 24"/>
                <a:gd name="T49" fmla="*/ 2 h 24"/>
                <a:gd name="T50" fmla="*/ 2 w 24"/>
                <a:gd name="T51" fmla="*/ 4 h 24"/>
                <a:gd name="T52" fmla="*/ 2 w 24"/>
                <a:gd name="T53" fmla="*/ 6 h 24"/>
                <a:gd name="T54" fmla="*/ 0 w 24"/>
                <a:gd name="T55" fmla="*/ 6 h 24"/>
                <a:gd name="T56" fmla="*/ 0 w 24"/>
                <a:gd name="T57" fmla="*/ 8 h 24"/>
                <a:gd name="T58" fmla="*/ 0 w 24"/>
                <a:gd name="T59" fmla="*/ 9 h 24"/>
                <a:gd name="T60" fmla="*/ 0 w 24"/>
                <a:gd name="T61" fmla="*/ 11 h 24"/>
                <a:gd name="T62" fmla="*/ 0 w 24"/>
                <a:gd name="T63" fmla="*/ 13 h 24"/>
                <a:gd name="T64" fmla="*/ 0 w 24"/>
                <a:gd name="T65" fmla="*/ 15 h 24"/>
                <a:gd name="T66" fmla="*/ 0 w 24"/>
                <a:gd name="T67" fmla="*/ 17 h 24"/>
                <a:gd name="T68" fmla="*/ 2 w 24"/>
                <a:gd name="T69" fmla="*/ 19 h 24"/>
                <a:gd name="T70" fmla="*/ 2 w 24"/>
                <a:gd name="T71" fmla="*/ 19 h 24"/>
                <a:gd name="T72" fmla="*/ 4 w 24"/>
                <a:gd name="T73" fmla="*/ 21 h 24"/>
                <a:gd name="T74" fmla="*/ 5 w 24"/>
                <a:gd name="T75" fmla="*/ 21 h 24"/>
                <a:gd name="T76" fmla="*/ 7 w 24"/>
                <a:gd name="T77" fmla="*/ 23 h 24"/>
                <a:gd name="T78" fmla="*/ 9 w 24"/>
                <a:gd name="T79" fmla="*/ 23 h 24"/>
                <a:gd name="T80" fmla="*/ 11 w 24"/>
                <a:gd name="T81" fmla="*/ 23 h 24"/>
                <a:gd name="T82" fmla="*/ 11 w 24"/>
                <a:gd name="T83" fmla="*/ 23 h 24"/>
                <a:gd name="T84" fmla="*/ 9 w 24"/>
                <a:gd name="T85" fmla="*/ 23 h 2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4"/>
                <a:gd name="T130" fmla="*/ 0 h 24"/>
                <a:gd name="T131" fmla="*/ 24 w 24"/>
                <a:gd name="T132" fmla="*/ 24 h 24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4" h="24">
                  <a:moveTo>
                    <a:pt x="9" y="23"/>
                  </a:moveTo>
                  <a:lnTo>
                    <a:pt x="13" y="23"/>
                  </a:lnTo>
                  <a:lnTo>
                    <a:pt x="15" y="23"/>
                  </a:lnTo>
                  <a:lnTo>
                    <a:pt x="15" y="21"/>
                  </a:lnTo>
                  <a:lnTo>
                    <a:pt x="17" y="21"/>
                  </a:lnTo>
                  <a:lnTo>
                    <a:pt x="19" y="19"/>
                  </a:lnTo>
                  <a:lnTo>
                    <a:pt x="21" y="17"/>
                  </a:lnTo>
                  <a:lnTo>
                    <a:pt x="21" y="15"/>
                  </a:lnTo>
                  <a:lnTo>
                    <a:pt x="23" y="13"/>
                  </a:lnTo>
                  <a:lnTo>
                    <a:pt x="23" y="11"/>
                  </a:lnTo>
                  <a:lnTo>
                    <a:pt x="23" y="9"/>
                  </a:lnTo>
                  <a:lnTo>
                    <a:pt x="21" y="8"/>
                  </a:lnTo>
                  <a:lnTo>
                    <a:pt x="21" y="6"/>
                  </a:lnTo>
                  <a:lnTo>
                    <a:pt x="19" y="6"/>
                  </a:lnTo>
                  <a:lnTo>
                    <a:pt x="19" y="4"/>
                  </a:lnTo>
                  <a:lnTo>
                    <a:pt x="17" y="2"/>
                  </a:lnTo>
                  <a:lnTo>
                    <a:pt x="15" y="2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1" y="0"/>
                  </a:lnTo>
                  <a:lnTo>
                    <a:pt x="9" y="0"/>
                  </a:lnTo>
                  <a:lnTo>
                    <a:pt x="7" y="0"/>
                  </a:lnTo>
                  <a:lnTo>
                    <a:pt x="5" y="2"/>
                  </a:lnTo>
                  <a:lnTo>
                    <a:pt x="4" y="2"/>
                  </a:lnTo>
                  <a:lnTo>
                    <a:pt x="2" y="4"/>
                  </a:lnTo>
                  <a:lnTo>
                    <a:pt x="2" y="6"/>
                  </a:lnTo>
                  <a:lnTo>
                    <a:pt x="0" y="6"/>
                  </a:lnTo>
                  <a:lnTo>
                    <a:pt x="0" y="8"/>
                  </a:lnTo>
                  <a:lnTo>
                    <a:pt x="0" y="9"/>
                  </a:lnTo>
                  <a:lnTo>
                    <a:pt x="0" y="11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0" y="17"/>
                  </a:lnTo>
                  <a:lnTo>
                    <a:pt x="2" y="19"/>
                  </a:lnTo>
                  <a:lnTo>
                    <a:pt x="4" y="21"/>
                  </a:lnTo>
                  <a:lnTo>
                    <a:pt x="5" y="21"/>
                  </a:lnTo>
                  <a:lnTo>
                    <a:pt x="7" y="23"/>
                  </a:lnTo>
                  <a:lnTo>
                    <a:pt x="9" y="23"/>
                  </a:lnTo>
                  <a:lnTo>
                    <a:pt x="11" y="23"/>
                  </a:lnTo>
                  <a:lnTo>
                    <a:pt x="9" y="23"/>
                  </a:lnTo>
                </a:path>
              </a:pathLst>
            </a:custGeom>
            <a:solidFill>
              <a:srgbClr val="000000"/>
            </a:solidFill>
            <a:ln w="9525" cap="rnd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19" name="Freeform 133"/>
            <p:cNvSpPr>
              <a:spLocks/>
            </p:cNvSpPr>
            <p:nvPr/>
          </p:nvSpPr>
          <p:spPr bwMode="auto">
            <a:xfrm>
              <a:off x="1452563" y="2935288"/>
              <a:ext cx="452438" cy="655638"/>
            </a:xfrm>
            <a:custGeom>
              <a:avLst/>
              <a:gdLst>
                <a:gd name="T0" fmla="*/ 0 w 210"/>
                <a:gd name="T1" fmla="*/ 0 h 413"/>
                <a:gd name="T2" fmla="*/ 0 w 210"/>
                <a:gd name="T3" fmla="*/ 167 h 413"/>
                <a:gd name="T4" fmla="*/ 91 w 210"/>
                <a:gd name="T5" fmla="*/ 207 h 413"/>
                <a:gd name="T6" fmla="*/ 0 w 210"/>
                <a:gd name="T7" fmla="*/ 245 h 413"/>
                <a:gd name="T8" fmla="*/ 0 w 210"/>
                <a:gd name="T9" fmla="*/ 412 h 413"/>
                <a:gd name="T10" fmla="*/ 284 w 210"/>
                <a:gd name="T11" fmla="*/ 286 h 413"/>
                <a:gd name="T12" fmla="*/ 284 w 210"/>
                <a:gd name="T13" fmla="*/ 127 h 413"/>
                <a:gd name="T14" fmla="*/ 0 w 210"/>
                <a:gd name="T15" fmla="*/ 0 h 413"/>
                <a:gd name="T16" fmla="*/ 0 w 210"/>
                <a:gd name="T17" fmla="*/ 0 h 41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10"/>
                <a:gd name="T28" fmla="*/ 0 h 413"/>
                <a:gd name="T29" fmla="*/ 210 w 210"/>
                <a:gd name="T30" fmla="*/ 413 h 413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10" h="413">
                  <a:moveTo>
                    <a:pt x="0" y="0"/>
                  </a:moveTo>
                  <a:lnTo>
                    <a:pt x="0" y="167"/>
                  </a:lnTo>
                  <a:lnTo>
                    <a:pt x="67" y="207"/>
                  </a:lnTo>
                  <a:lnTo>
                    <a:pt x="0" y="245"/>
                  </a:lnTo>
                  <a:lnTo>
                    <a:pt x="0" y="412"/>
                  </a:lnTo>
                  <a:lnTo>
                    <a:pt x="209" y="286"/>
                  </a:lnTo>
                  <a:lnTo>
                    <a:pt x="209" y="127"/>
                  </a:lnTo>
                  <a:lnTo>
                    <a:pt x="0" y="0"/>
                  </a:lnTo>
                </a:path>
              </a:pathLst>
            </a:custGeom>
            <a:solidFill>
              <a:srgbClr val="CCFF99"/>
            </a:solidFill>
            <a:ln w="190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20" name="Line 134"/>
            <p:cNvSpPr>
              <a:spLocks noChangeShapeType="1"/>
            </p:cNvSpPr>
            <p:nvPr/>
          </p:nvSpPr>
          <p:spPr bwMode="auto">
            <a:xfrm flipH="1">
              <a:off x="1287463" y="3479800"/>
              <a:ext cx="161925" cy="317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21" name="Rectangle 135"/>
            <p:cNvSpPr>
              <a:spLocks noChangeArrowheads="1"/>
            </p:cNvSpPr>
            <p:nvPr/>
          </p:nvSpPr>
          <p:spPr bwMode="auto">
            <a:xfrm>
              <a:off x="1241519" y="4441825"/>
              <a:ext cx="690377" cy="3507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000000"/>
                  </a:solidFill>
                  <a:latin typeface="+mj-lt"/>
                </a:rPr>
                <a:t>Instruction</a:t>
              </a:r>
            </a:p>
            <a:p>
              <a:pPr algn="ctr"/>
              <a:r>
                <a:rPr lang="en-US" sz="1200" dirty="0">
                  <a:solidFill>
                    <a:srgbClr val="000000"/>
                  </a:solidFill>
                  <a:latin typeface="+mj-lt"/>
                </a:rPr>
                <a:t>Memory</a:t>
              </a:r>
              <a:endParaRPr lang="en-US" sz="500" dirty="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122" name="Rectangle 137"/>
            <p:cNvSpPr>
              <a:spLocks noChangeArrowheads="1"/>
            </p:cNvSpPr>
            <p:nvPr/>
          </p:nvSpPr>
          <p:spPr bwMode="auto">
            <a:xfrm>
              <a:off x="1185863" y="3976688"/>
              <a:ext cx="384142" cy="11839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900">
                  <a:solidFill>
                    <a:srgbClr val="000000"/>
                  </a:solidFill>
                  <a:latin typeface="+mj-lt"/>
                </a:rPr>
                <a:t>Address</a:t>
              </a:r>
              <a:endParaRPr lang="en-US" sz="5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123" name="Rectangle 138"/>
            <p:cNvSpPr>
              <a:spLocks noChangeArrowheads="1"/>
            </p:cNvSpPr>
            <p:nvPr/>
          </p:nvSpPr>
          <p:spPr bwMode="auto">
            <a:xfrm>
              <a:off x="1595438" y="3162300"/>
              <a:ext cx="257152" cy="1753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>
                  <a:solidFill>
                    <a:srgbClr val="000000"/>
                  </a:solidFill>
                  <a:latin typeface="+mj-lt"/>
                </a:rPr>
                <a:t>Add</a:t>
              </a:r>
              <a:endParaRPr lang="en-US" sz="5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124" name="Rectangle 139"/>
            <p:cNvSpPr>
              <a:spLocks noChangeArrowheads="1"/>
            </p:cNvSpPr>
            <p:nvPr/>
          </p:nvSpPr>
          <p:spPr bwMode="auto">
            <a:xfrm>
              <a:off x="2095500" y="2879725"/>
              <a:ext cx="293598" cy="1753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>
                  <a:solidFill>
                    <a:srgbClr val="000000"/>
                  </a:solidFill>
                  <a:latin typeface="+mj-lt"/>
                </a:rPr>
                <a:t>IF/ID</a:t>
              </a:r>
            </a:p>
          </p:txBody>
        </p:sp>
        <p:grpSp>
          <p:nvGrpSpPr>
            <p:cNvPr id="125" name="Group 140"/>
            <p:cNvGrpSpPr>
              <a:grpSpLocks/>
            </p:cNvGrpSpPr>
            <p:nvPr/>
          </p:nvGrpSpPr>
          <p:grpSpPr bwMode="auto">
            <a:xfrm>
              <a:off x="685800" y="3836988"/>
              <a:ext cx="247650" cy="388938"/>
              <a:chOff x="480" y="2155"/>
              <a:chExt cx="156" cy="245"/>
            </a:xfrm>
          </p:grpSpPr>
          <p:sp>
            <p:nvSpPr>
              <p:cNvPr id="234" name="Freeform 141"/>
              <p:cNvSpPr>
                <a:spLocks/>
              </p:cNvSpPr>
              <p:nvPr/>
            </p:nvSpPr>
            <p:spPr bwMode="auto">
              <a:xfrm>
                <a:off x="480" y="2155"/>
                <a:ext cx="156" cy="245"/>
              </a:xfrm>
              <a:custGeom>
                <a:avLst/>
                <a:gdLst>
                  <a:gd name="T0" fmla="*/ 155 w 104"/>
                  <a:gd name="T1" fmla="*/ 242 h 245"/>
                  <a:gd name="T2" fmla="*/ 155 w 104"/>
                  <a:gd name="T3" fmla="*/ 0 h 245"/>
                  <a:gd name="T4" fmla="*/ 0 w 104"/>
                  <a:gd name="T5" fmla="*/ 0 h 245"/>
                  <a:gd name="T6" fmla="*/ 0 w 104"/>
                  <a:gd name="T7" fmla="*/ 244 h 245"/>
                  <a:gd name="T8" fmla="*/ 155 w 104"/>
                  <a:gd name="T9" fmla="*/ 244 h 245"/>
                  <a:gd name="T10" fmla="*/ 155 w 104"/>
                  <a:gd name="T11" fmla="*/ 244 h 24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04"/>
                  <a:gd name="T19" fmla="*/ 0 h 245"/>
                  <a:gd name="T20" fmla="*/ 104 w 104"/>
                  <a:gd name="T21" fmla="*/ 245 h 245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04" h="245">
                    <a:moveTo>
                      <a:pt x="103" y="242"/>
                    </a:moveTo>
                    <a:lnTo>
                      <a:pt x="103" y="0"/>
                    </a:lnTo>
                    <a:lnTo>
                      <a:pt x="0" y="0"/>
                    </a:lnTo>
                    <a:lnTo>
                      <a:pt x="0" y="244"/>
                    </a:lnTo>
                    <a:lnTo>
                      <a:pt x="103" y="244"/>
                    </a:lnTo>
                  </a:path>
                </a:pathLst>
              </a:custGeom>
              <a:solidFill>
                <a:srgbClr val="FFE6CD"/>
              </a:solidFill>
              <a:ln w="1905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235" name="Rectangle 142"/>
              <p:cNvSpPr>
                <a:spLocks noChangeArrowheads="1"/>
              </p:cNvSpPr>
              <p:nvPr/>
            </p:nvSpPr>
            <p:spPr bwMode="auto">
              <a:xfrm>
                <a:off x="491" y="2220"/>
                <a:ext cx="102" cy="110"/>
              </a:xfrm>
              <a:prstGeom prst="rect">
                <a:avLst/>
              </a:prstGeom>
              <a:solidFill>
                <a:srgbClr val="FFE6CD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200">
                    <a:solidFill>
                      <a:srgbClr val="000000"/>
                    </a:solidFill>
                    <a:latin typeface="+mj-lt"/>
                  </a:rPr>
                  <a:t>PC</a:t>
                </a:r>
                <a:endParaRPr lang="en-US" sz="500">
                  <a:solidFill>
                    <a:srgbClr val="000000"/>
                  </a:solidFill>
                  <a:latin typeface="+mj-lt"/>
                </a:endParaRPr>
              </a:p>
            </p:txBody>
          </p:sp>
        </p:grpSp>
        <p:sp>
          <p:nvSpPr>
            <p:cNvPr id="126" name="Line 143"/>
            <p:cNvSpPr>
              <a:spLocks noChangeShapeType="1"/>
            </p:cNvSpPr>
            <p:nvPr/>
          </p:nvSpPr>
          <p:spPr bwMode="auto">
            <a:xfrm flipH="1">
              <a:off x="2047875" y="4305300"/>
              <a:ext cx="1143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27" name="Line 144"/>
            <p:cNvSpPr>
              <a:spLocks noChangeShapeType="1"/>
            </p:cNvSpPr>
            <p:nvPr/>
          </p:nvSpPr>
          <p:spPr bwMode="auto">
            <a:xfrm flipV="1">
              <a:off x="1981200" y="2867025"/>
              <a:ext cx="0" cy="381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28" name="Line 145"/>
            <p:cNvSpPr>
              <a:spLocks noChangeShapeType="1"/>
            </p:cNvSpPr>
            <p:nvPr/>
          </p:nvSpPr>
          <p:spPr bwMode="auto">
            <a:xfrm flipH="1" flipV="1">
              <a:off x="6100763" y="1863725"/>
              <a:ext cx="0" cy="1614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29" name="Line 146"/>
            <p:cNvSpPr>
              <a:spLocks noChangeShapeType="1"/>
            </p:cNvSpPr>
            <p:nvPr/>
          </p:nvSpPr>
          <p:spPr bwMode="auto">
            <a:xfrm rot="5400000" flipH="1" flipV="1">
              <a:off x="1604962" y="2486025"/>
              <a:ext cx="4763" cy="75723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30" name="Line 147"/>
            <p:cNvSpPr>
              <a:spLocks noChangeShapeType="1"/>
            </p:cNvSpPr>
            <p:nvPr/>
          </p:nvSpPr>
          <p:spPr bwMode="auto">
            <a:xfrm rot="16200000" flipV="1">
              <a:off x="5962650" y="3335338"/>
              <a:ext cx="4763" cy="2714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31" name="Line 148"/>
            <p:cNvSpPr>
              <a:spLocks noChangeShapeType="1"/>
            </p:cNvSpPr>
            <p:nvPr/>
          </p:nvSpPr>
          <p:spPr bwMode="auto">
            <a:xfrm rot="16200000" flipV="1">
              <a:off x="827088" y="2465388"/>
              <a:ext cx="0" cy="5000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32" name="Line 149"/>
            <p:cNvSpPr>
              <a:spLocks noChangeShapeType="1"/>
            </p:cNvSpPr>
            <p:nvPr/>
          </p:nvSpPr>
          <p:spPr bwMode="auto">
            <a:xfrm flipV="1">
              <a:off x="571500" y="2709863"/>
              <a:ext cx="0" cy="132873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33" name="Line 150"/>
            <p:cNvSpPr>
              <a:spLocks noChangeShapeType="1"/>
            </p:cNvSpPr>
            <p:nvPr/>
          </p:nvSpPr>
          <p:spPr bwMode="auto">
            <a:xfrm rot="16200000" flipV="1">
              <a:off x="623888" y="3976688"/>
              <a:ext cx="0" cy="10477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grpSp>
          <p:nvGrpSpPr>
            <p:cNvPr id="134" name="Group 287"/>
            <p:cNvGrpSpPr>
              <a:grpSpLocks/>
            </p:cNvGrpSpPr>
            <p:nvPr/>
          </p:nvGrpSpPr>
          <p:grpSpPr bwMode="auto">
            <a:xfrm>
              <a:off x="4343410" y="5421308"/>
              <a:ext cx="227013" cy="495300"/>
              <a:chOff x="2736" y="3415"/>
              <a:chExt cx="143" cy="312"/>
            </a:xfrm>
          </p:grpSpPr>
          <p:sp>
            <p:nvSpPr>
              <p:cNvPr id="230" name="AutoShape 155"/>
              <p:cNvSpPr>
                <a:spLocks noChangeArrowheads="1"/>
              </p:cNvSpPr>
              <p:nvPr/>
            </p:nvSpPr>
            <p:spPr bwMode="auto">
              <a:xfrm rot="5400000">
                <a:off x="2677" y="3525"/>
                <a:ext cx="297" cy="96"/>
              </a:xfrm>
              <a:prstGeom prst="flowChartTerminator">
                <a:avLst/>
              </a:prstGeom>
              <a:solidFill>
                <a:srgbClr val="EAEAEA"/>
              </a:solidFill>
              <a:ln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231" name="Rectangle 152"/>
              <p:cNvSpPr>
                <a:spLocks noChangeArrowheads="1"/>
              </p:cNvSpPr>
              <p:nvPr/>
            </p:nvSpPr>
            <p:spPr bwMode="auto">
              <a:xfrm>
                <a:off x="2739" y="3415"/>
                <a:ext cx="140" cy="111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r>
                  <a:rPr lang="en-US" sz="600">
                    <a:solidFill>
                      <a:srgbClr val="000000"/>
                    </a:solidFill>
                    <a:latin typeface="+mj-lt"/>
                  </a:rPr>
                  <a:t>0</a:t>
                </a:r>
              </a:p>
            </p:txBody>
          </p:sp>
          <p:sp>
            <p:nvSpPr>
              <p:cNvPr id="232" name="Rectangle 153"/>
              <p:cNvSpPr>
                <a:spLocks noChangeArrowheads="1"/>
              </p:cNvSpPr>
              <p:nvPr/>
            </p:nvSpPr>
            <p:spPr bwMode="auto">
              <a:xfrm>
                <a:off x="2736" y="3616"/>
                <a:ext cx="140" cy="111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r>
                  <a:rPr lang="en-US" sz="600">
                    <a:solidFill>
                      <a:srgbClr val="000000"/>
                    </a:solidFill>
                    <a:latin typeface="+mj-lt"/>
                  </a:rPr>
                  <a:t>1</a:t>
                </a:r>
              </a:p>
            </p:txBody>
          </p:sp>
          <p:sp>
            <p:nvSpPr>
              <p:cNvPr id="233" name="Rectangle 154"/>
              <p:cNvSpPr>
                <a:spLocks noChangeArrowheads="1"/>
              </p:cNvSpPr>
              <p:nvPr/>
            </p:nvSpPr>
            <p:spPr bwMode="auto">
              <a:xfrm>
                <a:off x="2802" y="3492"/>
                <a:ext cx="52" cy="155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>
                  <a:lnSpc>
                    <a:spcPct val="70000"/>
                  </a:lnSpc>
                </a:pPr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m</a:t>
                </a:r>
              </a:p>
              <a:p>
                <a:pPr algn="ctr">
                  <a:lnSpc>
                    <a:spcPct val="70000"/>
                  </a:lnSpc>
                </a:pPr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u</a:t>
                </a:r>
              </a:p>
              <a:p>
                <a:pPr algn="ctr">
                  <a:lnSpc>
                    <a:spcPct val="70000"/>
                  </a:lnSpc>
                </a:pPr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x</a:t>
                </a:r>
                <a:endParaRPr lang="en-US" sz="500">
                  <a:solidFill>
                    <a:srgbClr val="000000"/>
                  </a:solidFill>
                  <a:latin typeface="+mj-lt"/>
                </a:endParaRPr>
              </a:p>
            </p:txBody>
          </p:sp>
        </p:grpSp>
        <p:grpSp>
          <p:nvGrpSpPr>
            <p:cNvPr id="135" name="Group 285"/>
            <p:cNvGrpSpPr>
              <a:grpSpLocks/>
            </p:cNvGrpSpPr>
            <p:nvPr/>
          </p:nvGrpSpPr>
          <p:grpSpPr bwMode="auto">
            <a:xfrm>
              <a:off x="4400560" y="4268784"/>
              <a:ext cx="227013" cy="495300"/>
              <a:chOff x="2772" y="2689"/>
              <a:chExt cx="143" cy="312"/>
            </a:xfrm>
          </p:grpSpPr>
          <p:sp>
            <p:nvSpPr>
              <p:cNvPr id="226" name="AutoShape 160"/>
              <p:cNvSpPr>
                <a:spLocks noChangeArrowheads="1"/>
              </p:cNvSpPr>
              <p:nvPr/>
            </p:nvSpPr>
            <p:spPr bwMode="auto">
              <a:xfrm rot="5400000">
                <a:off x="2713" y="2799"/>
                <a:ext cx="297" cy="96"/>
              </a:xfrm>
              <a:prstGeom prst="flowChartTerminator">
                <a:avLst/>
              </a:prstGeom>
              <a:solidFill>
                <a:srgbClr val="EAEAEA"/>
              </a:solidFill>
              <a:ln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227" name="Rectangle 157"/>
              <p:cNvSpPr>
                <a:spLocks noChangeArrowheads="1"/>
              </p:cNvSpPr>
              <p:nvPr/>
            </p:nvSpPr>
            <p:spPr bwMode="auto">
              <a:xfrm>
                <a:off x="2775" y="2689"/>
                <a:ext cx="140" cy="111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r>
                  <a:rPr lang="en-US" sz="600">
                    <a:solidFill>
                      <a:srgbClr val="000000"/>
                    </a:solidFill>
                    <a:latin typeface="+mj-lt"/>
                  </a:rPr>
                  <a:t>0</a:t>
                </a:r>
              </a:p>
            </p:txBody>
          </p:sp>
          <p:sp>
            <p:nvSpPr>
              <p:cNvPr id="228" name="Rectangle 158"/>
              <p:cNvSpPr>
                <a:spLocks noChangeArrowheads="1"/>
              </p:cNvSpPr>
              <p:nvPr/>
            </p:nvSpPr>
            <p:spPr bwMode="auto">
              <a:xfrm>
                <a:off x="2772" y="2890"/>
                <a:ext cx="140" cy="111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r>
                  <a:rPr lang="en-US" sz="600">
                    <a:solidFill>
                      <a:srgbClr val="000000"/>
                    </a:solidFill>
                    <a:latin typeface="+mj-lt"/>
                  </a:rPr>
                  <a:t>1</a:t>
                </a:r>
              </a:p>
            </p:txBody>
          </p:sp>
          <p:sp>
            <p:nvSpPr>
              <p:cNvPr id="229" name="Rectangle 159"/>
              <p:cNvSpPr>
                <a:spLocks noChangeArrowheads="1"/>
              </p:cNvSpPr>
              <p:nvPr/>
            </p:nvSpPr>
            <p:spPr bwMode="auto">
              <a:xfrm>
                <a:off x="2838" y="2766"/>
                <a:ext cx="52" cy="155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>
                  <a:lnSpc>
                    <a:spcPct val="70000"/>
                  </a:lnSpc>
                </a:pPr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m</a:t>
                </a:r>
              </a:p>
              <a:p>
                <a:pPr algn="ctr">
                  <a:lnSpc>
                    <a:spcPct val="70000"/>
                  </a:lnSpc>
                </a:pPr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u</a:t>
                </a:r>
              </a:p>
              <a:p>
                <a:pPr algn="ctr">
                  <a:lnSpc>
                    <a:spcPct val="70000"/>
                  </a:lnSpc>
                </a:pPr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x</a:t>
                </a:r>
                <a:endParaRPr lang="en-US" sz="500">
                  <a:solidFill>
                    <a:srgbClr val="000000"/>
                  </a:solidFill>
                  <a:latin typeface="+mj-lt"/>
                </a:endParaRPr>
              </a:p>
            </p:txBody>
          </p:sp>
        </p:grpSp>
        <p:sp>
          <p:nvSpPr>
            <p:cNvPr id="136" name="Line 161"/>
            <p:cNvSpPr>
              <a:spLocks noChangeShapeType="1"/>
            </p:cNvSpPr>
            <p:nvPr/>
          </p:nvSpPr>
          <p:spPr bwMode="auto">
            <a:xfrm flipV="1">
              <a:off x="5029200" y="4552950"/>
              <a:ext cx="0" cy="620713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37" name="Line 162"/>
            <p:cNvSpPr>
              <a:spLocks noChangeShapeType="1"/>
            </p:cNvSpPr>
            <p:nvPr/>
          </p:nvSpPr>
          <p:spPr bwMode="auto">
            <a:xfrm rot="5400000" flipV="1">
              <a:off x="4987925" y="5122863"/>
              <a:ext cx="0" cy="82550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grpSp>
          <p:nvGrpSpPr>
            <p:cNvPr id="138" name="Group 288"/>
            <p:cNvGrpSpPr>
              <a:grpSpLocks/>
            </p:cNvGrpSpPr>
            <p:nvPr/>
          </p:nvGrpSpPr>
          <p:grpSpPr bwMode="auto">
            <a:xfrm>
              <a:off x="1066802" y="2473323"/>
              <a:ext cx="227013" cy="495300"/>
              <a:chOff x="672" y="1558"/>
              <a:chExt cx="143" cy="312"/>
            </a:xfrm>
          </p:grpSpPr>
          <p:sp>
            <p:nvSpPr>
              <p:cNvPr id="222" name="AutoShape 167"/>
              <p:cNvSpPr>
                <a:spLocks noChangeArrowheads="1"/>
              </p:cNvSpPr>
              <p:nvPr/>
            </p:nvSpPr>
            <p:spPr bwMode="auto">
              <a:xfrm rot="16200000" flipH="1">
                <a:off x="579" y="1668"/>
                <a:ext cx="297" cy="96"/>
              </a:xfrm>
              <a:prstGeom prst="flowChartTerminator">
                <a:avLst/>
              </a:prstGeom>
              <a:solidFill>
                <a:srgbClr val="EAEAEA"/>
              </a:solidFill>
              <a:ln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223" name="Rectangle 164"/>
              <p:cNvSpPr>
                <a:spLocks noChangeArrowheads="1"/>
              </p:cNvSpPr>
              <p:nvPr/>
            </p:nvSpPr>
            <p:spPr bwMode="auto">
              <a:xfrm flipH="1">
                <a:off x="672" y="1558"/>
                <a:ext cx="140" cy="111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r>
                  <a:rPr lang="en-US" sz="600">
                    <a:solidFill>
                      <a:srgbClr val="000000"/>
                    </a:solidFill>
                    <a:latin typeface="+mj-lt"/>
                  </a:rPr>
                  <a:t>0</a:t>
                </a:r>
              </a:p>
            </p:txBody>
          </p:sp>
          <p:sp>
            <p:nvSpPr>
              <p:cNvPr id="224" name="Rectangle 165"/>
              <p:cNvSpPr>
                <a:spLocks noChangeArrowheads="1"/>
              </p:cNvSpPr>
              <p:nvPr/>
            </p:nvSpPr>
            <p:spPr bwMode="auto">
              <a:xfrm flipH="1">
                <a:off x="675" y="1759"/>
                <a:ext cx="140" cy="111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r>
                  <a:rPr lang="en-US" sz="600">
                    <a:solidFill>
                      <a:srgbClr val="000000"/>
                    </a:solidFill>
                    <a:latin typeface="+mj-lt"/>
                  </a:rPr>
                  <a:t>1</a:t>
                </a:r>
              </a:p>
            </p:txBody>
          </p:sp>
          <p:sp>
            <p:nvSpPr>
              <p:cNvPr id="225" name="Rectangle 166"/>
              <p:cNvSpPr>
                <a:spLocks noChangeArrowheads="1"/>
              </p:cNvSpPr>
              <p:nvPr/>
            </p:nvSpPr>
            <p:spPr bwMode="auto">
              <a:xfrm flipH="1">
                <a:off x="701" y="1635"/>
                <a:ext cx="52" cy="155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>
                  <a:lnSpc>
                    <a:spcPct val="70000"/>
                  </a:lnSpc>
                </a:pPr>
                <a:r>
                  <a:rPr lang="en-US" sz="800" dirty="0">
                    <a:solidFill>
                      <a:srgbClr val="000000"/>
                    </a:solidFill>
                    <a:latin typeface="+mj-lt"/>
                  </a:rPr>
                  <a:t>m</a:t>
                </a:r>
              </a:p>
              <a:p>
                <a:pPr algn="ctr">
                  <a:lnSpc>
                    <a:spcPct val="70000"/>
                  </a:lnSpc>
                </a:pPr>
                <a:r>
                  <a:rPr lang="en-US" sz="800" dirty="0">
                    <a:solidFill>
                      <a:srgbClr val="000000"/>
                    </a:solidFill>
                    <a:latin typeface="+mj-lt"/>
                  </a:rPr>
                  <a:t>u</a:t>
                </a:r>
              </a:p>
              <a:p>
                <a:pPr algn="ctr">
                  <a:lnSpc>
                    <a:spcPct val="70000"/>
                  </a:lnSpc>
                </a:pPr>
                <a:r>
                  <a:rPr lang="en-US" sz="800" dirty="0">
                    <a:solidFill>
                      <a:srgbClr val="000000"/>
                    </a:solidFill>
                    <a:latin typeface="+mj-lt"/>
                  </a:rPr>
                  <a:t>x</a:t>
                </a:r>
                <a:endParaRPr lang="en-US" sz="500" dirty="0">
                  <a:solidFill>
                    <a:srgbClr val="000000"/>
                  </a:solidFill>
                  <a:latin typeface="+mj-lt"/>
                </a:endParaRPr>
              </a:p>
            </p:txBody>
          </p:sp>
        </p:grpSp>
        <p:grpSp>
          <p:nvGrpSpPr>
            <p:cNvPr id="139" name="Group 284"/>
            <p:cNvGrpSpPr>
              <a:grpSpLocks/>
            </p:cNvGrpSpPr>
            <p:nvPr/>
          </p:nvGrpSpPr>
          <p:grpSpPr bwMode="auto">
            <a:xfrm>
              <a:off x="7748605" y="4302121"/>
              <a:ext cx="227013" cy="495300"/>
              <a:chOff x="4881" y="2710"/>
              <a:chExt cx="143" cy="312"/>
            </a:xfrm>
          </p:grpSpPr>
          <p:sp>
            <p:nvSpPr>
              <p:cNvPr id="218" name="AutoShape 172"/>
              <p:cNvSpPr>
                <a:spLocks noChangeArrowheads="1"/>
              </p:cNvSpPr>
              <p:nvPr/>
            </p:nvSpPr>
            <p:spPr bwMode="auto">
              <a:xfrm rot="5400000">
                <a:off x="4822" y="2820"/>
                <a:ext cx="297" cy="96"/>
              </a:xfrm>
              <a:prstGeom prst="flowChartTerminator">
                <a:avLst/>
              </a:prstGeom>
              <a:solidFill>
                <a:srgbClr val="EAEAEA"/>
              </a:solidFill>
              <a:ln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219" name="Rectangle 169"/>
              <p:cNvSpPr>
                <a:spLocks noChangeArrowheads="1"/>
              </p:cNvSpPr>
              <p:nvPr/>
            </p:nvSpPr>
            <p:spPr bwMode="auto">
              <a:xfrm>
                <a:off x="4884" y="2710"/>
                <a:ext cx="140" cy="111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r>
                  <a:rPr lang="en-US" sz="600">
                    <a:solidFill>
                      <a:srgbClr val="000000"/>
                    </a:solidFill>
                    <a:latin typeface="+mj-lt"/>
                  </a:rPr>
                  <a:t>0</a:t>
                </a:r>
              </a:p>
            </p:txBody>
          </p:sp>
          <p:sp>
            <p:nvSpPr>
              <p:cNvPr id="220" name="Rectangle 170"/>
              <p:cNvSpPr>
                <a:spLocks noChangeArrowheads="1"/>
              </p:cNvSpPr>
              <p:nvPr/>
            </p:nvSpPr>
            <p:spPr bwMode="auto">
              <a:xfrm>
                <a:off x="4881" y="2911"/>
                <a:ext cx="140" cy="111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r>
                  <a:rPr lang="en-US" sz="600">
                    <a:solidFill>
                      <a:srgbClr val="000000"/>
                    </a:solidFill>
                    <a:latin typeface="+mj-lt"/>
                  </a:rPr>
                  <a:t>1</a:t>
                </a:r>
              </a:p>
            </p:txBody>
          </p:sp>
          <p:sp>
            <p:nvSpPr>
              <p:cNvPr id="221" name="Rectangle 171"/>
              <p:cNvSpPr>
                <a:spLocks noChangeArrowheads="1"/>
              </p:cNvSpPr>
              <p:nvPr/>
            </p:nvSpPr>
            <p:spPr bwMode="auto">
              <a:xfrm>
                <a:off x="4947" y="2787"/>
                <a:ext cx="52" cy="155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>
                  <a:lnSpc>
                    <a:spcPct val="70000"/>
                  </a:lnSpc>
                </a:pPr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m</a:t>
                </a:r>
              </a:p>
              <a:p>
                <a:pPr algn="ctr">
                  <a:lnSpc>
                    <a:spcPct val="70000"/>
                  </a:lnSpc>
                </a:pPr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u</a:t>
                </a:r>
              </a:p>
              <a:p>
                <a:pPr algn="ctr">
                  <a:lnSpc>
                    <a:spcPct val="70000"/>
                  </a:lnSpc>
                </a:pPr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x</a:t>
                </a:r>
                <a:endParaRPr lang="en-US" sz="500">
                  <a:solidFill>
                    <a:srgbClr val="000000"/>
                  </a:solidFill>
                  <a:latin typeface="+mj-lt"/>
                </a:endParaRPr>
              </a:p>
            </p:txBody>
          </p:sp>
        </p:grpSp>
        <p:sp>
          <p:nvSpPr>
            <p:cNvPr id="140" name="Rectangle 173"/>
            <p:cNvSpPr>
              <a:spLocks noChangeArrowheads="1"/>
            </p:cNvSpPr>
            <p:nvPr/>
          </p:nvSpPr>
          <p:spPr bwMode="auto">
            <a:xfrm>
              <a:off x="1400175" y="4241800"/>
              <a:ext cx="520655" cy="11839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900">
                  <a:solidFill>
                    <a:srgbClr val="000000"/>
                  </a:solidFill>
                  <a:latin typeface="+mj-lt"/>
                </a:rPr>
                <a:t>Instruction</a:t>
              </a:r>
              <a:endParaRPr lang="en-US" sz="5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141" name="Line 174"/>
            <p:cNvSpPr>
              <a:spLocks noChangeShapeType="1"/>
            </p:cNvSpPr>
            <p:nvPr/>
          </p:nvSpPr>
          <p:spPr bwMode="auto">
            <a:xfrm flipV="1">
              <a:off x="2600325" y="3897313"/>
              <a:ext cx="0" cy="192881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42" name="Line 175"/>
            <p:cNvSpPr>
              <a:spLocks noChangeShapeType="1"/>
            </p:cNvSpPr>
            <p:nvPr/>
          </p:nvSpPr>
          <p:spPr bwMode="auto">
            <a:xfrm flipV="1">
              <a:off x="2601913" y="5821363"/>
              <a:ext cx="1260475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43" name="Line 176"/>
            <p:cNvSpPr>
              <a:spLocks noChangeShapeType="1"/>
            </p:cNvSpPr>
            <p:nvPr/>
          </p:nvSpPr>
          <p:spPr bwMode="auto">
            <a:xfrm flipH="1">
              <a:off x="1989138" y="1866900"/>
              <a:ext cx="412115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44" name="Line 177"/>
            <p:cNvSpPr>
              <a:spLocks noChangeShapeType="1"/>
            </p:cNvSpPr>
            <p:nvPr/>
          </p:nvSpPr>
          <p:spPr bwMode="auto">
            <a:xfrm flipV="1">
              <a:off x="6300788" y="3783013"/>
              <a:ext cx="103188" cy="3175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45" name="Line 178"/>
            <p:cNvSpPr>
              <a:spLocks noChangeShapeType="1"/>
            </p:cNvSpPr>
            <p:nvPr/>
          </p:nvSpPr>
          <p:spPr bwMode="auto">
            <a:xfrm rot="16200000" flipH="1" flipV="1">
              <a:off x="5383212" y="2774950"/>
              <a:ext cx="2028825" cy="6350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46" name="Line 179"/>
            <p:cNvSpPr>
              <a:spLocks noChangeShapeType="1"/>
            </p:cNvSpPr>
            <p:nvPr/>
          </p:nvSpPr>
          <p:spPr bwMode="auto">
            <a:xfrm>
              <a:off x="1143000" y="1763713"/>
              <a:ext cx="5257800" cy="0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47" name="Line 180"/>
            <p:cNvSpPr>
              <a:spLocks noChangeShapeType="1"/>
            </p:cNvSpPr>
            <p:nvPr/>
          </p:nvSpPr>
          <p:spPr bwMode="auto">
            <a:xfrm rot="5400000" flipV="1">
              <a:off x="776287" y="2120900"/>
              <a:ext cx="738188" cy="3175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grpSp>
          <p:nvGrpSpPr>
            <p:cNvPr id="148" name="Group 254"/>
            <p:cNvGrpSpPr>
              <a:grpSpLocks/>
            </p:cNvGrpSpPr>
            <p:nvPr/>
          </p:nvGrpSpPr>
          <p:grpSpPr bwMode="auto">
            <a:xfrm>
              <a:off x="3100388" y="2095500"/>
              <a:ext cx="404813" cy="952500"/>
              <a:chOff x="1524" y="1296"/>
              <a:chExt cx="255" cy="600"/>
            </a:xfrm>
          </p:grpSpPr>
          <p:sp>
            <p:nvSpPr>
              <p:cNvPr id="216" name="Freeform 186"/>
              <p:cNvSpPr>
                <a:spLocks/>
              </p:cNvSpPr>
              <p:nvPr/>
            </p:nvSpPr>
            <p:spPr bwMode="auto">
              <a:xfrm>
                <a:off x="1524" y="1296"/>
                <a:ext cx="255" cy="600"/>
              </a:xfrm>
              <a:custGeom>
                <a:avLst/>
                <a:gdLst>
                  <a:gd name="T0" fmla="*/ 128 w 200"/>
                  <a:gd name="T1" fmla="*/ 600 h 425"/>
                  <a:gd name="T2" fmla="*/ 147 w 200"/>
                  <a:gd name="T3" fmla="*/ 597 h 425"/>
                  <a:gd name="T4" fmla="*/ 167 w 200"/>
                  <a:gd name="T5" fmla="*/ 586 h 425"/>
                  <a:gd name="T6" fmla="*/ 186 w 200"/>
                  <a:gd name="T7" fmla="*/ 568 h 425"/>
                  <a:gd name="T8" fmla="*/ 204 w 200"/>
                  <a:gd name="T9" fmla="*/ 542 h 425"/>
                  <a:gd name="T10" fmla="*/ 218 w 200"/>
                  <a:gd name="T11" fmla="*/ 512 h 425"/>
                  <a:gd name="T12" fmla="*/ 231 w 200"/>
                  <a:gd name="T13" fmla="*/ 479 h 425"/>
                  <a:gd name="T14" fmla="*/ 240 w 200"/>
                  <a:gd name="T15" fmla="*/ 438 h 425"/>
                  <a:gd name="T16" fmla="*/ 250 w 200"/>
                  <a:gd name="T17" fmla="*/ 394 h 425"/>
                  <a:gd name="T18" fmla="*/ 255 w 200"/>
                  <a:gd name="T19" fmla="*/ 349 h 425"/>
                  <a:gd name="T20" fmla="*/ 255 w 200"/>
                  <a:gd name="T21" fmla="*/ 299 h 425"/>
                  <a:gd name="T22" fmla="*/ 255 w 200"/>
                  <a:gd name="T23" fmla="*/ 251 h 425"/>
                  <a:gd name="T24" fmla="*/ 250 w 200"/>
                  <a:gd name="T25" fmla="*/ 205 h 425"/>
                  <a:gd name="T26" fmla="*/ 240 w 200"/>
                  <a:gd name="T27" fmla="*/ 162 h 425"/>
                  <a:gd name="T28" fmla="*/ 231 w 200"/>
                  <a:gd name="T29" fmla="*/ 124 h 425"/>
                  <a:gd name="T30" fmla="*/ 218 w 200"/>
                  <a:gd name="T31" fmla="*/ 89 h 425"/>
                  <a:gd name="T32" fmla="*/ 204 w 200"/>
                  <a:gd name="T33" fmla="*/ 59 h 425"/>
                  <a:gd name="T34" fmla="*/ 186 w 200"/>
                  <a:gd name="T35" fmla="*/ 35 h 425"/>
                  <a:gd name="T36" fmla="*/ 167 w 200"/>
                  <a:gd name="T37" fmla="*/ 16 h 425"/>
                  <a:gd name="T38" fmla="*/ 147 w 200"/>
                  <a:gd name="T39" fmla="*/ 6 h 425"/>
                  <a:gd name="T40" fmla="*/ 128 w 200"/>
                  <a:gd name="T41" fmla="*/ 0 h 425"/>
                  <a:gd name="T42" fmla="*/ 106 w 200"/>
                  <a:gd name="T43" fmla="*/ 6 h 425"/>
                  <a:gd name="T44" fmla="*/ 87 w 200"/>
                  <a:gd name="T45" fmla="*/ 16 h 425"/>
                  <a:gd name="T46" fmla="*/ 69 w 200"/>
                  <a:gd name="T47" fmla="*/ 35 h 425"/>
                  <a:gd name="T48" fmla="*/ 52 w 200"/>
                  <a:gd name="T49" fmla="*/ 59 h 425"/>
                  <a:gd name="T50" fmla="*/ 37 w 200"/>
                  <a:gd name="T51" fmla="*/ 89 h 425"/>
                  <a:gd name="T52" fmla="*/ 26 w 200"/>
                  <a:gd name="T53" fmla="*/ 124 h 425"/>
                  <a:gd name="T54" fmla="*/ 15 w 200"/>
                  <a:gd name="T55" fmla="*/ 162 h 425"/>
                  <a:gd name="T56" fmla="*/ 5 w 200"/>
                  <a:gd name="T57" fmla="*/ 205 h 425"/>
                  <a:gd name="T58" fmla="*/ 0 w 200"/>
                  <a:gd name="T59" fmla="*/ 251 h 425"/>
                  <a:gd name="T60" fmla="*/ 0 w 200"/>
                  <a:gd name="T61" fmla="*/ 299 h 425"/>
                  <a:gd name="T62" fmla="*/ 0 w 200"/>
                  <a:gd name="T63" fmla="*/ 349 h 425"/>
                  <a:gd name="T64" fmla="*/ 5 w 200"/>
                  <a:gd name="T65" fmla="*/ 394 h 425"/>
                  <a:gd name="T66" fmla="*/ 15 w 200"/>
                  <a:gd name="T67" fmla="*/ 438 h 425"/>
                  <a:gd name="T68" fmla="*/ 26 w 200"/>
                  <a:gd name="T69" fmla="*/ 479 h 425"/>
                  <a:gd name="T70" fmla="*/ 37 w 200"/>
                  <a:gd name="T71" fmla="*/ 512 h 425"/>
                  <a:gd name="T72" fmla="*/ 52 w 200"/>
                  <a:gd name="T73" fmla="*/ 542 h 425"/>
                  <a:gd name="T74" fmla="*/ 69 w 200"/>
                  <a:gd name="T75" fmla="*/ 568 h 425"/>
                  <a:gd name="T76" fmla="*/ 87 w 200"/>
                  <a:gd name="T77" fmla="*/ 586 h 425"/>
                  <a:gd name="T78" fmla="*/ 106 w 200"/>
                  <a:gd name="T79" fmla="*/ 597 h 425"/>
                  <a:gd name="T80" fmla="*/ 128 w 200"/>
                  <a:gd name="T81" fmla="*/ 600 h 425"/>
                  <a:gd name="T82" fmla="*/ 128 w 200"/>
                  <a:gd name="T83" fmla="*/ 600 h 425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w 200"/>
                  <a:gd name="T127" fmla="*/ 0 h 425"/>
                  <a:gd name="T128" fmla="*/ 200 w 200"/>
                  <a:gd name="T129" fmla="*/ 425 h 425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T126" t="T127" r="T128" b="T129"/>
                <a:pathLst>
                  <a:path w="200" h="425">
                    <a:moveTo>
                      <a:pt x="100" y="425"/>
                    </a:moveTo>
                    <a:lnTo>
                      <a:pt x="115" y="423"/>
                    </a:lnTo>
                    <a:lnTo>
                      <a:pt x="131" y="415"/>
                    </a:lnTo>
                    <a:lnTo>
                      <a:pt x="146" y="402"/>
                    </a:lnTo>
                    <a:lnTo>
                      <a:pt x="160" y="384"/>
                    </a:lnTo>
                    <a:lnTo>
                      <a:pt x="171" y="363"/>
                    </a:lnTo>
                    <a:lnTo>
                      <a:pt x="181" y="339"/>
                    </a:lnTo>
                    <a:lnTo>
                      <a:pt x="188" y="310"/>
                    </a:lnTo>
                    <a:lnTo>
                      <a:pt x="196" y="279"/>
                    </a:lnTo>
                    <a:lnTo>
                      <a:pt x="200" y="247"/>
                    </a:lnTo>
                    <a:lnTo>
                      <a:pt x="200" y="212"/>
                    </a:lnTo>
                    <a:lnTo>
                      <a:pt x="200" y="178"/>
                    </a:lnTo>
                    <a:lnTo>
                      <a:pt x="196" y="145"/>
                    </a:lnTo>
                    <a:lnTo>
                      <a:pt x="188" y="115"/>
                    </a:lnTo>
                    <a:lnTo>
                      <a:pt x="181" y="88"/>
                    </a:lnTo>
                    <a:lnTo>
                      <a:pt x="171" y="63"/>
                    </a:lnTo>
                    <a:lnTo>
                      <a:pt x="160" y="42"/>
                    </a:lnTo>
                    <a:lnTo>
                      <a:pt x="146" y="25"/>
                    </a:lnTo>
                    <a:lnTo>
                      <a:pt x="131" y="11"/>
                    </a:lnTo>
                    <a:lnTo>
                      <a:pt x="115" y="4"/>
                    </a:lnTo>
                    <a:lnTo>
                      <a:pt x="100" y="0"/>
                    </a:lnTo>
                    <a:lnTo>
                      <a:pt x="83" y="4"/>
                    </a:lnTo>
                    <a:lnTo>
                      <a:pt x="68" y="11"/>
                    </a:lnTo>
                    <a:lnTo>
                      <a:pt x="54" y="25"/>
                    </a:lnTo>
                    <a:lnTo>
                      <a:pt x="41" y="42"/>
                    </a:lnTo>
                    <a:lnTo>
                      <a:pt x="29" y="63"/>
                    </a:lnTo>
                    <a:lnTo>
                      <a:pt x="20" y="88"/>
                    </a:lnTo>
                    <a:lnTo>
                      <a:pt x="12" y="115"/>
                    </a:lnTo>
                    <a:lnTo>
                      <a:pt x="4" y="145"/>
                    </a:lnTo>
                    <a:lnTo>
                      <a:pt x="0" y="178"/>
                    </a:lnTo>
                    <a:lnTo>
                      <a:pt x="0" y="212"/>
                    </a:lnTo>
                    <a:lnTo>
                      <a:pt x="0" y="247"/>
                    </a:lnTo>
                    <a:lnTo>
                      <a:pt x="4" y="279"/>
                    </a:lnTo>
                    <a:lnTo>
                      <a:pt x="12" y="310"/>
                    </a:lnTo>
                    <a:lnTo>
                      <a:pt x="20" y="339"/>
                    </a:lnTo>
                    <a:lnTo>
                      <a:pt x="29" y="363"/>
                    </a:lnTo>
                    <a:lnTo>
                      <a:pt x="41" y="384"/>
                    </a:lnTo>
                    <a:lnTo>
                      <a:pt x="54" y="402"/>
                    </a:lnTo>
                    <a:lnTo>
                      <a:pt x="68" y="415"/>
                    </a:lnTo>
                    <a:lnTo>
                      <a:pt x="83" y="423"/>
                    </a:lnTo>
                    <a:lnTo>
                      <a:pt x="100" y="425"/>
                    </a:lnTo>
                  </a:path>
                </a:pathLst>
              </a:custGeom>
              <a:solidFill>
                <a:srgbClr val="FFE6CD"/>
              </a:solidFill>
              <a:ln w="19050" cmpd="sng">
                <a:solidFill>
                  <a:srgbClr val="EB75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217" name="Rectangle 187"/>
              <p:cNvSpPr>
                <a:spLocks noChangeArrowheads="1"/>
              </p:cNvSpPr>
              <p:nvPr/>
            </p:nvSpPr>
            <p:spPr bwMode="auto">
              <a:xfrm rot="16200000" flipH="1">
                <a:off x="1499" y="1514"/>
                <a:ext cx="284" cy="115"/>
              </a:xfrm>
              <a:prstGeom prst="rect">
                <a:avLst/>
              </a:prstGeom>
              <a:solidFill>
                <a:srgbClr val="FFE6CD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200">
                    <a:solidFill>
                      <a:srgbClr val="EB7500"/>
                    </a:solidFill>
                    <a:latin typeface="+mj-lt"/>
                  </a:rPr>
                  <a:t>Control</a:t>
                </a:r>
                <a:endParaRPr lang="en-US" sz="1200">
                  <a:latin typeface="+mj-lt"/>
                </a:endParaRPr>
              </a:p>
            </p:txBody>
          </p:sp>
        </p:grpSp>
        <p:grpSp>
          <p:nvGrpSpPr>
            <p:cNvPr id="149" name="Group 296"/>
            <p:cNvGrpSpPr>
              <a:grpSpLocks/>
            </p:cNvGrpSpPr>
            <p:nvPr/>
          </p:nvGrpSpPr>
          <p:grpSpPr bwMode="auto">
            <a:xfrm>
              <a:off x="7089775" y="2547938"/>
              <a:ext cx="536575" cy="523875"/>
              <a:chOff x="4466" y="1605"/>
              <a:chExt cx="338" cy="330"/>
            </a:xfrm>
          </p:grpSpPr>
          <p:sp>
            <p:nvSpPr>
              <p:cNvPr id="212" name="Line 182"/>
              <p:cNvSpPr>
                <a:spLocks noChangeShapeType="1"/>
              </p:cNvSpPr>
              <p:nvPr/>
            </p:nvSpPr>
            <p:spPr bwMode="auto">
              <a:xfrm>
                <a:off x="4466" y="1818"/>
                <a:ext cx="211" cy="0"/>
              </a:xfrm>
              <a:prstGeom prst="line">
                <a:avLst/>
              </a:prstGeom>
              <a:noFill/>
              <a:ln w="12700">
                <a:solidFill>
                  <a:srgbClr val="EB7500"/>
                </a:solidFill>
                <a:round/>
                <a:headEnd/>
                <a:tailEnd type="triangle" w="sm" len="sm"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213" name="Freeform 202"/>
              <p:cNvSpPr>
                <a:spLocks/>
              </p:cNvSpPr>
              <p:nvPr/>
            </p:nvSpPr>
            <p:spPr bwMode="auto">
              <a:xfrm>
                <a:off x="4704" y="1704"/>
                <a:ext cx="96" cy="231"/>
              </a:xfrm>
              <a:custGeom>
                <a:avLst/>
                <a:gdLst>
                  <a:gd name="T0" fmla="*/ 96 w 98"/>
                  <a:gd name="T1" fmla="*/ 231 h 162"/>
                  <a:gd name="T2" fmla="*/ 96 w 98"/>
                  <a:gd name="T3" fmla="*/ 0 h 162"/>
                  <a:gd name="T4" fmla="*/ 0 w 98"/>
                  <a:gd name="T5" fmla="*/ 0 h 162"/>
                  <a:gd name="T6" fmla="*/ 0 w 98"/>
                  <a:gd name="T7" fmla="*/ 231 h 162"/>
                  <a:gd name="T8" fmla="*/ 96 w 98"/>
                  <a:gd name="T9" fmla="*/ 231 h 162"/>
                  <a:gd name="T10" fmla="*/ 96 w 98"/>
                  <a:gd name="T11" fmla="*/ 231 h 16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98"/>
                  <a:gd name="T19" fmla="*/ 0 h 162"/>
                  <a:gd name="T20" fmla="*/ 98 w 98"/>
                  <a:gd name="T21" fmla="*/ 162 h 162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98" h="162">
                    <a:moveTo>
                      <a:pt x="98" y="162"/>
                    </a:moveTo>
                    <a:lnTo>
                      <a:pt x="98" y="0"/>
                    </a:lnTo>
                    <a:lnTo>
                      <a:pt x="0" y="0"/>
                    </a:lnTo>
                    <a:lnTo>
                      <a:pt x="0" y="162"/>
                    </a:lnTo>
                    <a:lnTo>
                      <a:pt x="98" y="162"/>
                    </a:lnTo>
                  </a:path>
                </a:pathLst>
              </a:custGeom>
              <a:solidFill>
                <a:srgbClr val="FFE6CD"/>
              </a:solidFill>
              <a:ln w="19050" cmpd="sng">
                <a:solidFill>
                  <a:srgbClr val="EB75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214" name="Rectangle 208"/>
              <p:cNvSpPr>
                <a:spLocks noChangeArrowheads="1"/>
              </p:cNvSpPr>
              <p:nvPr/>
            </p:nvSpPr>
            <p:spPr bwMode="auto">
              <a:xfrm>
                <a:off x="4686" y="1770"/>
                <a:ext cx="118" cy="92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000">
                    <a:solidFill>
                      <a:srgbClr val="EB7500"/>
                    </a:solidFill>
                    <a:latin typeface="+mj-lt"/>
                  </a:rPr>
                  <a:t>WB</a:t>
                </a:r>
                <a:endParaRPr lang="en-US" sz="1000">
                  <a:latin typeface="+mj-lt"/>
                </a:endParaRPr>
              </a:p>
            </p:txBody>
          </p:sp>
          <p:sp>
            <p:nvSpPr>
              <p:cNvPr id="215" name="Line 209"/>
              <p:cNvSpPr>
                <a:spLocks noChangeShapeType="1"/>
              </p:cNvSpPr>
              <p:nvPr/>
            </p:nvSpPr>
            <p:spPr bwMode="auto">
              <a:xfrm rot="16200000" flipH="1">
                <a:off x="4359" y="1712"/>
                <a:ext cx="214" cy="0"/>
              </a:xfrm>
              <a:prstGeom prst="line">
                <a:avLst/>
              </a:prstGeom>
              <a:noFill/>
              <a:ln w="12700">
                <a:solidFill>
                  <a:srgbClr val="EB7500"/>
                </a:solidFill>
                <a:round/>
                <a:headEnd/>
                <a:tailEnd type="none" w="sm" len="sm"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</p:grpSp>
        <p:grpSp>
          <p:nvGrpSpPr>
            <p:cNvPr id="150" name="Group 294"/>
            <p:cNvGrpSpPr>
              <a:grpSpLocks/>
            </p:cNvGrpSpPr>
            <p:nvPr/>
          </p:nvGrpSpPr>
          <p:grpSpPr bwMode="auto">
            <a:xfrm>
              <a:off x="5484813" y="2619375"/>
              <a:ext cx="458788" cy="447675"/>
              <a:chOff x="3455" y="1650"/>
              <a:chExt cx="289" cy="282"/>
            </a:xfrm>
          </p:grpSpPr>
          <p:sp>
            <p:nvSpPr>
              <p:cNvPr id="208" name="Line 212"/>
              <p:cNvSpPr>
                <a:spLocks noChangeShapeType="1"/>
              </p:cNvSpPr>
              <p:nvPr/>
            </p:nvSpPr>
            <p:spPr bwMode="auto">
              <a:xfrm>
                <a:off x="3455" y="1826"/>
                <a:ext cx="101" cy="1"/>
              </a:xfrm>
              <a:prstGeom prst="line">
                <a:avLst/>
              </a:prstGeom>
              <a:noFill/>
              <a:ln w="12700">
                <a:solidFill>
                  <a:srgbClr val="EB7500"/>
                </a:solidFill>
                <a:round/>
                <a:headEnd/>
                <a:tailEnd type="triangle" w="sm" len="sm"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209" name="Freeform 213"/>
              <p:cNvSpPr>
                <a:spLocks/>
              </p:cNvSpPr>
              <p:nvPr/>
            </p:nvSpPr>
            <p:spPr bwMode="auto">
              <a:xfrm>
                <a:off x="3583" y="1711"/>
                <a:ext cx="96" cy="221"/>
              </a:xfrm>
              <a:custGeom>
                <a:avLst/>
                <a:gdLst>
                  <a:gd name="T0" fmla="*/ 96 w 98"/>
                  <a:gd name="T1" fmla="*/ 221 h 162"/>
                  <a:gd name="T2" fmla="*/ 96 w 98"/>
                  <a:gd name="T3" fmla="*/ 0 h 162"/>
                  <a:gd name="T4" fmla="*/ 0 w 98"/>
                  <a:gd name="T5" fmla="*/ 0 h 162"/>
                  <a:gd name="T6" fmla="*/ 0 w 98"/>
                  <a:gd name="T7" fmla="*/ 221 h 162"/>
                  <a:gd name="T8" fmla="*/ 96 w 98"/>
                  <a:gd name="T9" fmla="*/ 221 h 162"/>
                  <a:gd name="T10" fmla="*/ 96 w 98"/>
                  <a:gd name="T11" fmla="*/ 221 h 16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98"/>
                  <a:gd name="T19" fmla="*/ 0 h 162"/>
                  <a:gd name="T20" fmla="*/ 98 w 98"/>
                  <a:gd name="T21" fmla="*/ 162 h 162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98" h="162">
                    <a:moveTo>
                      <a:pt x="98" y="162"/>
                    </a:moveTo>
                    <a:lnTo>
                      <a:pt x="98" y="0"/>
                    </a:lnTo>
                    <a:lnTo>
                      <a:pt x="0" y="0"/>
                    </a:lnTo>
                    <a:lnTo>
                      <a:pt x="0" y="162"/>
                    </a:lnTo>
                    <a:lnTo>
                      <a:pt x="98" y="162"/>
                    </a:lnTo>
                  </a:path>
                </a:pathLst>
              </a:custGeom>
              <a:solidFill>
                <a:srgbClr val="FFE6CD"/>
              </a:solidFill>
              <a:ln w="19050" cmpd="sng">
                <a:solidFill>
                  <a:srgbClr val="EB75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210" name="Rectangle 214"/>
              <p:cNvSpPr>
                <a:spLocks noChangeArrowheads="1"/>
              </p:cNvSpPr>
              <p:nvPr/>
            </p:nvSpPr>
            <p:spPr bwMode="auto">
              <a:xfrm>
                <a:off x="3565" y="1784"/>
                <a:ext cx="179" cy="92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000">
                    <a:solidFill>
                      <a:srgbClr val="EB7500"/>
                    </a:solidFill>
                    <a:latin typeface="+mj-lt"/>
                  </a:rPr>
                  <a:t>MEM</a:t>
                </a:r>
                <a:endParaRPr lang="en-US" sz="1000">
                  <a:latin typeface="+mj-lt"/>
                </a:endParaRPr>
              </a:p>
            </p:txBody>
          </p:sp>
          <p:sp>
            <p:nvSpPr>
              <p:cNvPr id="211" name="Line 215"/>
              <p:cNvSpPr>
                <a:spLocks noChangeShapeType="1"/>
              </p:cNvSpPr>
              <p:nvPr/>
            </p:nvSpPr>
            <p:spPr bwMode="auto">
              <a:xfrm rot="5400000">
                <a:off x="3367" y="1739"/>
                <a:ext cx="178" cy="0"/>
              </a:xfrm>
              <a:prstGeom prst="line">
                <a:avLst/>
              </a:prstGeom>
              <a:noFill/>
              <a:ln w="12700">
                <a:solidFill>
                  <a:srgbClr val="EB7500"/>
                </a:solidFill>
                <a:round/>
                <a:headEnd/>
                <a:tailEnd type="none" w="sm" len="sm"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</p:grpSp>
        <p:grpSp>
          <p:nvGrpSpPr>
            <p:cNvPr id="151" name="Group 295"/>
            <p:cNvGrpSpPr>
              <a:grpSpLocks/>
            </p:cNvGrpSpPr>
            <p:nvPr/>
          </p:nvGrpSpPr>
          <p:grpSpPr bwMode="auto">
            <a:xfrm>
              <a:off x="5414963" y="2295525"/>
              <a:ext cx="431800" cy="419100"/>
              <a:chOff x="3411" y="1446"/>
              <a:chExt cx="272" cy="264"/>
            </a:xfrm>
          </p:grpSpPr>
          <p:sp>
            <p:nvSpPr>
              <p:cNvPr id="204" name="Line 217"/>
              <p:cNvSpPr>
                <a:spLocks noChangeShapeType="1"/>
              </p:cNvSpPr>
              <p:nvPr/>
            </p:nvSpPr>
            <p:spPr bwMode="auto">
              <a:xfrm flipV="1">
                <a:off x="3411" y="1608"/>
                <a:ext cx="145" cy="0"/>
              </a:xfrm>
              <a:prstGeom prst="line">
                <a:avLst/>
              </a:prstGeom>
              <a:noFill/>
              <a:ln w="12700">
                <a:solidFill>
                  <a:srgbClr val="EB7500"/>
                </a:solidFill>
                <a:round/>
                <a:headEnd/>
                <a:tailEnd type="triangle" w="sm" len="sm"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205" name="Freeform 218"/>
              <p:cNvSpPr>
                <a:spLocks/>
              </p:cNvSpPr>
              <p:nvPr/>
            </p:nvSpPr>
            <p:spPr bwMode="auto">
              <a:xfrm>
                <a:off x="3583" y="1495"/>
                <a:ext cx="96" cy="215"/>
              </a:xfrm>
              <a:custGeom>
                <a:avLst/>
                <a:gdLst>
                  <a:gd name="T0" fmla="*/ 96 w 98"/>
                  <a:gd name="T1" fmla="*/ 215 h 162"/>
                  <a:gd name="T2" fmla="*/ 96 w 98"/>
                  <a:gd name="T3" fmla="*/ 0 h 162"/>
                  <a:gd name="T4" fmla="*/ 0 w 98"/>
                  <a:gd name="T5" fmla="*/ 0 h 162"/>
                  <a:gd name="T6" fmla="*/ 0 w 98"/>
                  <a:gd name="T7" fmla="*/ 215 h 162"/>
                  <a:gd name="T8" fmla="*/ 96 w 98"/>
                  <a:gd name="T9" fmla="*/ 215 h 162"/>
                  <a:gd name="T10" fmla="*/ 96 w 98"/>
                  <a:gd name="T11" fmla="*/ 215 h 16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98"/>
                  <a:gd name="T19" fmla="*/ 0 h 162"/>
                  <a:gd name="T20" fmla="*/ 98 w 98"/>
                  <a:gd name="T21" fmla="*/ 162 h 162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98" h="162">
                    <a:moveTo>
                      <a:pt x="98" y="162"/>
                    </a:moveTo>
                    <a:lnTo>
                      <a:pt x="98" y="0"/>
                    </a:lnTo>
                    <a:lnTo>
                      <a:pt x="0" y="0"/>
                    </a:lnTo>
                    <a:lnTo>
                      <a:pt x="0" y="162"/>
                    </a:lnTo>
                    <a:lnTo>
                      <a:pt x="98" y="162"/>
                    </a:lnTo>
                  </a:path>
                </a:pathLst>
              </a:custGeom>
              <a:solidFill>
                <a:srgbClr val="FFE6CD"/>
              </a:solidFill>
              <a:ln w="19050" cmpd="sng">
                <a:solidFill>
                  <a:srgbClr val="EB75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206" name="Rectangle 219"/>
              <p:cNvSpPr>
                <a:spLocks noChangeArrowheads="1"/>
              </p:cNvSpPr>
              <p:nvPr/>
            </p:nvSpPr>
            <p:spPr bwMode="auto">
              <a:xfrm>
                <a:off x="3565" y="1566"/>
                <a:ext cx="118" cy="92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000">
                    <a:solidFill>
                      <a:srgbClr val="EB7500"/>
                    </a:solidFill>
                    <a:latin typeface="+mj-lt"/>
                  </a:rPr>
                  <a:t>WB</a:t>
                </a:r>
                <a:endParaRPr lang="en-US" sz="1000">
                  <a:latin typeface="+mj-lt"/>
                </a:endParaRPr>
              </a:p>
            </p:txBody>
          </p:sp>
          <p:sp>
            <p:nvSpPr>
              <p:cNvPr id="207" name="Line 220"/>
              <p:cNvSpPr>
                <a:spLocks noChangeShapeType="1"/>
              </p:cNvSpPr>
              <p:nvPr/>
            </p:nvSpPr>
            <p:spPr bwMode="auto">
              <a:xfrm rot="16200000" flipH="1">
                <a:off x="3331" y="1529"/>
                <a:ext cx="166" cy="0"/>
              </a:xfrm>
              <a:prstGeom prst="line">
                <a:avLst/>
              </a:prstGeom>
              <a:noFill/>
              <a:ln w="12700">
                <a:solidFill>
                  <a:srgbClr val="EB7500"/>
                </a:solidFill>
                <a:round/>
                <a:headEnd/>
                <a:tailEnd type="none" w="sm" len="sm"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</p:grpSp>
        <p:sp>
          <p:nvSpPr>
            <p:cNvPr id="152" name="Line 225"/>
            <p:cNvSpPr>
              <a:spLocks noChangeShapeType="1"/>
            </p:cNvSpPr>
            <p:nvPr/>
          </p:nvSpPr>
          <p:spPr bwMode="auto">
            <a:xfrm rot="5400000">
              <a:off x="6284912" y="3392488"/>
              <a:ext cx="896938" cy="0"/>
            </a:xfrm>
            <a:prstGeom prst="line">
              <a:avLst/>
            </a:prstGeom>
            <a:noFill/>
            <a:ln w="9525">
              <a:solidFill>
                <a:srgbClr val="EB7500"/>
              </a:solidFill>
              <a:round/>
              <a:headEnd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53" name="Line 226"/>
            <p:cNvSpPr>
              <a:spLocks noChangeShapeType="1"/>
            </p:cNvSpPr>
            <p:nvPr/>
          </p:nvSpPr>
          <p:spPr bwMode="auto">
            <a:xfrm rot="10800000">
              <a:off x="5886450" y="2552700"/>
              <a:ext cx="1201738" cy="0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54" name="Line 227"/>
            <p:cNvSpPr>
              <a:spLocks noChangeShapeType="1"/>
            </p:cNvSpPr>
            <p:nvPr/>
          </p:nvSpPr>
          <p:spPr bwMode="auto">
            <a:xfrm rot="10800000" flipV="1">
              <a:off x="5838825" y="3009900"/>
              <a:ext cx="128588" cy="0"/>
            </a:xfrm>
            <a:prstGeom prst="line">
              <a:avLst/>
            </a:prstGeom>
            <a:noFill/>
            <a:ln w="9525">
              <a:solidFill>
                <a:srgbClr val="EB7500"/>
              </a:solidFill>
              <a:round/>
              <a:headEnd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55" name="Line 228"/>
            <p:cNvSpPr>
              <a:spLocks noChangeShapeType="1"/>
            </p:cNvSpPr>
            <p:nvPr/>
          </p:nvSpPr>
          <p:spPr bwMode="auto">
            <a:xfrm rot="10800000" flipV="1">
              <a:off x="5838825" y="2943225"/>
              <a:ext cx="887413" cy="4763"/>
            </a:xfrm>
            <a:prstGeom prst="line">
              <a:avLst/>
            </a:prstGeom>
            <a:noFill/>
            <a:ln w="9525">
              <a:solidFill>
                <a:srgbClr val="EB7500"/>
              </a:solidFill>
              <a:round/>
              <a:headEnd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56" name="Line 229"/>
            <p:cNvSpPr>
              <a:spLocks noChangeShapeType="1"/>
            </p:cNvSpPr>
            <p:nvPr/>
          </p:nvSpPr>
          <p:spPr bwMode="auto">
            <a:xfrm rot="5400000">
              <a:off x="6664325" y="5375275"/>
              <a:ext cx="163513" cy="4763"/>
            </a:xfrm>
            <a:prstGeom prst="line">
              <a:avLst/>
            </a:prstGeom>
            <a:noFill/>
            <a:ln w="9525">
              <a:solidFill>
                <a:srgbClr val="EB7500"/>
              </a:solidFill>
              <a:round/>
              <a:headEnd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57" name="Line 230"/>
            <p:cNvSpPr>
              <a:spLocks noChangeShapeType="1"/>
            </p:cNvSpPr>
            <p:nvPr/>
          </p:nvSpPr>
          <p:spPr bwMode="auto">
            <a:xfrm rot="5400000">
              <a:off x="5965825" y="4106863"/>
              <a:ext cx="2700338" cy="3175"/>
            </a:xfrm>
            <a:prstGeom prst="line">
              <a:avLst/>
            </a:prstGeom>
            <a:noFill/>
            <a:ln w="9525">
              <a:solidFill>
                <a:srgbClr val="EB7500"/>
              </a:solidFill>
              <a:round/>
              <a:headEnd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58" name="Line 231"/>
            <p:cNvSpPr>
              <a:spLocks noChangeShapeType="1"/>
            </p:cNvSpPr>
            <p:nvPr/>
          </p:nvSpPr>
          <p:spPr bwMode="auto">
            <a:xfrm>
              <a:off x="6743700" y="5459413"/>
              <a:ext cx="568325" cy="0"/>
            </a:xfrm>
            <a:prstGeom prst="line">
              <a:avLst/>
            </a:prstGeom>
            <a:noFill/>
            <a:ln w="9525">
              <a:solidFill>
                <a:srgbClr val="EB7500"/>
              </a:solidFill>
              <a:round/>
              <a:headEnd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59" name="Line 232"/>
            <p:cNvSpPr>
              <a:spLocks noChangeShapeType="1"/>
            </p:cNvSpPr>
            <p:nvPr/>
          </p:nvSpPr>
          <p:spPr bwMode="auto">
            <a:xfrm rot="10800000" flipV="1">
              <a:off x="5842000" y="2762250"/>
              <a:ext cx="1473200" cy="0"/>
            </a:xfrm>
            <a:prstGeom prst="line">
              <a:avLst/>
            </a:prstGeom>
            <a:noFill/>
            <a:ln w="9525">
              <a:solidFill>
                <a:srgbClr val="EB7500"/>
              </a:solidFill>
              <a:round/>
              <a:headEnd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grpSp>
          <p:nvGrpSpPr>
            <p:cNvPr id="160" name="Group 293"/>
            <p:cNvGrpSpPr>
              <a:grpSpLocks/>
            </p:cNvGrpSpPr>
            <p:nvPr/>
          </p:nvGrpSpPr>
          <p:grpSpPr bwMode="auto">
            <a:xfrm>
              <a:off x="3452813" y="2106613"/>
              <a:ext cx="738188" cy="960438"/>
              <a:chOff x="2175" y="1327"/>
              <a:chExt cx="465" cy="605"/>
            </a:xfrm>
          </p:grpSpPr>
          <p:grpSp>
            <p:nvGrpSpPr>
              <p:cNvPr id="191" name="Group 292"/>
              <p:cNvGrpSpPr>
                <a:grpSpLocks/>
              </p:cNvGrpSpPr>
              <p:nvPr/>
            </p:nvGrpSpPr>
            <p:grpSpPr bwMode="auto">
              <a:xfrm>
                <a:off x="2199" y="1537"/>
                <a:ext cx="399" cy="215"/>
                <a:chOff x="2199" y="1537"/>
                <a:chExt cx="399" cy="215"/>
              </a:xfrm>
            </p:grpSpPr>
            <p:sp>
              <p:nvSpPr>
                <p:cNvPr id="201" name="Line 234"/>
                <p:cNvSpPr>
                  <a:spLocks noChangeShapeType="1"/>
                </p:cNvSpPr>
                <p:nvPr/>
              </p:nvSpPr>
              <p:spPr bwMode="auto">
                <a:xfrm>
                  <a:off x="2199" y="1650"/>
                  <a:ext cx="211" cy="0"/>
                </a:xfrm>
                <a:prstGeom prst="line">
                  <a:avLst/>
                </a:prstGeom>
                <a:noFill/>
                <a:ln w="12700">
                  <a:solidFill>
                    <a:srgbClr val="EB7500"/>
                  </a:solidFill>
                  <a:round/>
                  <a:headEnd/>
                  <a:tailEnd type="triangle" w="sm" len="sm"/>
                </a:ln>
              </p:spPr>
              <p:txBody>
                <a:bodyPr/>
                <a:lstStyle/>
                <a:p>
                  <a:endParaRPr lang="en-US">
                    <a:latin typeface="+mj-lt"/>
                  </a:endParaRPr>
                </a:p>
              </p:txBody>
            </p:sp>
            <p:sp>
              <p:nvSpPr>
                <p:cNvPr id="202" name="Freeform 235"/>
                <p:cNvSpPr>
                  <a:spLocks/>
                </p:cNvSpPr>
                <p:nvPr/>
              </p:nvSpPr>
              <p:spPr bwMode="auto">
                <a:xfrm>
                  <a:off x="2437" y="1537"/>
                  <a:ext cx="96" cy="215"/>
                </a:xfrm>
                <a:custGeom>
                  <a:avLst/>
                  <a:gdLst>
                    <a:gd name="T0" fmla="*/ 96 w 98"/>
                    <a:gd name="T1" fmla="*/ 215 h 162"/>
                    <a:gd name="T2" fmla="*/ 96 w 98"/>
                    <a:gd name="T3" fmla="*/ 0 h 162"/>
                    <a:gd name="T4" fmla="*/ 0 w 98"/>
                    <a:gd name="T5" fmla="*/ 0 h 162"/>
                    <a:gd name="T6" fmla="*/ 0 w 98"/>
                    <a:gd name="T7" fmla="*/ 215 h 162"/>
                    <a:gd name="T8" fmla="*/ 96 w 98"/>
                    <a:gd name="T9" fmla="*/ 215 h 162"/>
                    <a:gd name="T10" fmla="*/ 96 w 98"/>
                    <a:gd name="T11" fmla="*/ 215 h 162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98"/>
                    <a:gd name="T19" fmla="*/ 0 h 162"/>
                    <a:gd name="T20" fmla="*/ 98 w 98"/>
                    <a:gd name="T21" fmla="*/ 162 h 162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98" h="162">
                      <a:moveTo>
                        <a:pt x="98" y="162"/>
                      </a:moveTo>
                      <a:lnTo>
                        <a:pt x="98" y="0"/>
                      </a:lnTo>
                      <a:lnTo>
                        <a:pt x="0" y="0"/>
                      </a:lnTo>
                      <a:lnTo>
                        <a:pt x="0" y="162"/>
                      </a:lnTo>
                      <a:lnTo>
                        <a:pt x="98" y="162"/>
                      </a:lnTo>
                    </a:path>
                  </a:pathLst>
                </a:custGeom>
                <a:solidFill>
                  <a:srgbClr val="FFE6CD"/>
                </a:solidFill>
                <a:ln w="19050" cmpd="sng">
                  <a:solidFill>
                    <a:srgbClr val="EB75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>
                    <a:latin typeface="+mj-lt"/>
                  </a:endParaRPr>
                </a:p>
              </p:txBody>
            </p:sp>
            <p:sp>
              <p:nvSpPr>
                <p:cNvPr id="203" name="Rectangle 236"/>
                <p:cNvSpPr>
                  <a:spLocks noChangeArrowheads="1"/>
                </p:cNvSpPr>
                <p:nvPr/>
              </p:nvSpPr>
              <p:spPr bwMode="auto">
                <a:xfrm>
                  <a:off x="2419" y="1608"/>
                  <a:ext cx="179" cy="92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US" sz="1000">
                      <a:solidFill>
                        <a:srgbClr val="EB7500"/>
                      </a:solidFill>
                      <a:latin typeface="+mj-lt"/>
                    </a:rPr>
                    <a:t>MEM</a:t>
                  </a:r>
                  <a:endParaRPr lang="en-US" sz="1000">
                    <a:latin typeface="+mj-lt"/>
                  </a:endParaRPr>
                </a:p>
              </p:txBody>
            </p:sp>
          </p:grpSp>
          <p:grpSp>
            <p:nvGrpSpPr>
              <p:cNvPr id="192" name="Group 291"/>
              <p:cNvGrpSpPr>
                <a:grpSpLocks/>
              </p:cNvGrpSpPr>
              <p:nvPr/>
            </p:nvGrpSpPr>
            <p:grpSpPr bwMode="auto">
              <a:xfrm>
                <a:off x="2184" y="1327"/>
                <a:ext cx="353" cy="209"/>
                <a:chOff x="2184" y="1327"/>
                <a:chExt cx="353" cy="209"/>
              </a:xfrm>
            </p:grpSpPr>
            <p:sp>
              <p:nvSpPr>
                <p:cNvPr id="198" name="Line 239"/>
                <p:cNvSpPr>
                  <a:spLocks noChangeShapeType="1"/>
                </p:cNvSpPr>
                <p:nvPr/>
              </p:nvSpPr>
              <p:spPr bwMode="auto">
                <a:xfrm>
                  <a:off x="2184" y="1437"/>
                  <a:ext cx="226" cy="0"/>
                </a:xfrm>
                <a:prstGeom prst="line">
                  <a:avLst/>
                </a:prstGeom>
                <a:noFill/>
                <a:ln w="12700">
                  <a:solidFill>
                    <a:srgbClr val="EB7500"/>
                  </a:solidFill>
                  <a:round/>
                  <a:headEnd/>
                  <a:tailEnd type="triangle" w="sm" len="sm"/>
                </a:ln>
              </p:spPr>
              <p:txBody>
                <a:bodyPr/>
                <a:lstStyle/>
                <a:p>
                  <a:endParaRPr lang="en-US">
                    <a:latin typeface="+mj-lt"/>
                  </a:endParaRPr>
                </a:p>
              </p:txBody>
            </p:sp>
            <p:sp>
              <p:nvSpPr>
                <p:cNvPr id="199" name="Freeform 240"/>
                <p:cNvSpPr>
                  <a:spLocks/>
                </p:cNvSpPr>
                <p:nvPr/>
              </p:nvSpPr>
              <p:spPr bwMode="auto">
                <a:xfrm>
                  <a:off x="2437" y="1327"/>
                  <a:ext cx="96" cy="209"/>
                </a:xfrm>
                <a:custGeom>
                  <a:avLst/>
                  <a:gdLst>
                    <a:gd name="T0" fmla="*/ 96 w 98"/>
                    <a:gd name="T1" fmla="*/ 209 h 162"/>
                    <a:gd name="T2" fmla="*/ 96 w 98"/>
                    <a:gd name="T3" fmla="*/ 0 h 162"/>
                    <a:gd name="T4" fmla="*/ 0 w 98"/>
                    <a:gd name="T5" fmla="*/ 0 h 162"/>
                    <a:gd name="T6" fmla="*/ 0 w 98"/>
                    <a:gd name="T7" fmla="*/ 209 h 162"/>
                    <a:gd name="T8" fmla="*/ 96 w 98"/>
                    <a:gd name="T9" fmla="*/ 209 h 162"/>
                    <a:gd name="T10" fmla="*/ 96 w 98"/>
                    <a:gd name="T11" fmla="*/ 209 h 162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98"/>
                    <a:gd name="T19" fmla="*/ 0 h 162"/>
                    <a:gd name="T20" fmla="*/ 98 w 98"/>
                    <a:gd name="T21" fmla="*/ 162 h 162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98" h="162">
                      <a:moveTo>
                        <a:pt x="98" y="162"/>
                      </a:moveTo>
                      <a:lnTo>
                        <a:pt x="98" y="0"/>
                      </a:lnTo>
                      <a:lnTo>
                        <a:pt x="0" y="0"/>
                      </a:lnTo>
                      <a:lnTo>
                        <a:pt x="0" y="162"/>
                      </a:lnTo>
                      <a:lnTo>
                        <a:pt x="98" y="162"/>
                      </a:lnTo>
                    </a:path>
                  </a:pathLst>
                </a:custGeom>
                <a:solidFill>
                  <a:srgbClr val="FFE6CD"/>
                </a:solidFill>
                <a:ln w="19050" cmpd="sng">
                  <a:solidFill>
                    <a:srgbClr val="EB75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>
                    <a:latin typeface="+mj-lt"/>
                  </a:endParaRPr>
                </a:p>
              </p:txBody>
            </p:sp>
            <p:sp>
              <p:nvSpPr>
                <p:cNvPr id="200" name="Rectangle 241"/>
                <p:cNvSpPr>
                  <a:spLocks noChangeArrowheads="1"/>
                </p:cNvSpPr>
                <p:nvPr/>
              </p:nvSpPr>
              <p:spPr bwMode="auto">
                <a:xfrm>
                  <a:off x="2419" y="1396"/>
                  <a:ext cx="118" cy="92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US" sz="1000">
                      <a:solidFill>
                        <a:srgbClr val="EB7500"/>
                      </a:solidFill>
                      <a:latin typeface="+mj-lt"/>
                    </a:rPr>
                    <a:t>WB</a:t>
                  </a:r>
                  <a:endParaRPr lang="en-US" sz="1000">
                    <a:latin typeface="+mj-lt"/>
                  </a:endParaRPr>
                </a:p>
              </p:txBody>
            </p:sp>
          </p:grpSp>
          <p:sp>
            <p:nvSpPr>
              <p:cNvPr id="193" name="Line 243"/>
              <p:cNvSpPr>
                <a:spLocks noChangeShapeType="1"/>
              </p:cNvSpPr>
              <p:nvPr/>
            </p:nvSpPr>
            <p:spPr bwMode="auto">
              <a:xfrm rot="10800000" flipV="1">
                <a:off x="2544" y="1896"/>
                <a:ext cx="96" cy="0"/>
              </a:xfrm>
              <a:prstGeom prst="line">
                <a:avLst/>
              </a:prstGeom>
              <a:noFill/>
              <a:ln w="9525">
                <a:solidFill>
                  <a:srgbClr val="EB7500"/>
                </a:solidFill>
                <a:round/>
                <a:headEnd/>
                <a:tailEnd type="none" w="sm" len="sm"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grpSp>
            <p:nvGrpSpPr>
              <p:cNvPr id="194" name="Group 290"/>
              <p:cNvGrpSpPr>
                <a:grpSpLocks/>
              </p:cNvGrpSpPr>
              <p:nvPr/>
            </p:nvGrpSpPr>
            <p:grpSpPr bwMode="auto">
              <a:xfrm>
                <a:off x="2175" y="1752"/>
                <a:ext cx="360" cy="180"/>
                <a:chOff x="2175" y="1752"/>
                <a:chExt cx="360" cy="180"/>
              </a:xfrm>
            </p:grpSpPr>
            <p:sp>
              <p:nvSpPr>
                <p:cNvPr id="195" name="Line 245"/>
                <p:cNvSpPr>
                  <a:spLocks noChangeShapeType="1"/>
                </p:cNvSpPr>
                <p:nvPr/>
              </p:nvSpPr>
              <p:spPr bwMode="auto">
                <a:xfrm>
                  <a:off x="2175" y="1827"/>
                  <a:ext cx="235" cy="0"/>
                </a:xfrm>
                <a:prstGeom prst="line">
                  <a:avLst/>
                </a:prstGeom>
                <a:noFill/>
                <a:ln w="12700">
                  <a:solidFill>
                    <a:srgbClr val="EB7500"/>
                  </a:solidFill>
                  <a:round/>
                  <a:headEnd/>
                  <a:tailEnd type="triangle" w="sm" len="sm"/>
                </a:ln>
              </p:spPr>
              <p:txBody>
                <a:bodyPr/>
                <a:lstStyle/>
                <a:p>
                  <a:endParaRPr lang="en-US">
                    <a:latin typeface="+mj-lt"/>
                  </a:endParaRPr>
                </a:p>
              </p:txBody>
            </p:sp>
            <p:sp>
              <p:nvSpPr>
                <p:cNvPr id="196" name="Freeform 246"/>
                <p:cNvSpPr>
                  <a:spLocks/>
                </p:cNvSpPr>
                <p:nvPr/>
              </p:nvSpPr>
              <p:spPr bwMode="auto">
                <a:xfrm>
                  <a:off x="2437" y="1752"/>
                  <a:ext cx="96" cy="180"/>
                </a:xfrm>
                <a:custGeom>
                  <a:avLst/>
                  <a:gdLst>
                    <a:gd name="T0" fmla="*/ 96 w 98"/>
                    <a:gd name="T1" fmla="*/ 180 h 162"/>
                    <a:gd name="T2" fmla="*/ 96 w 98"/>
                    <a:gd name="T3" fmla="*/ 0 h 162"/>
                    <a:gd name="T4" fmla="*/ 0 w 98"/>
                    <a:gd name="T5" fmla="*/ 0 h 162"/>
                    <a:gd name="T6" fmla="*/ 0 w 98"/>
                    <a:gd name="T7" fmla="*/ 180 h 162"/>
                    <a:gd name="T8" fmla="*/ 96 w 98"/>
                    <a:gd name="T9" fmla="*/ 180 h 162"/>
                    <a:gd name="T10" fmla="*/ 96 w 98"/>
                    <a:gd name="T11" fmla="*/ 180 h 162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98"/>
                    <a:gd name="T19" fmla="*/ 0 h 162"/>
                    <a:gd name="T20" fmla="*/ 98 w 98"/>
                    <a:gd name="T21" fmla="*/ 162 h 162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98" h="162">
                      <a:moveTo>
                        <a:pt x="98" y="162"/>
                      </a:moveTo>
                      <a:lnTo>
                        <a:pt x="98" y="0"/>
                      </a:lnTo>
                      <a:lnTo>
                        <a:pt x="0" y="0"/>
                      </a:lnTo>
                      <a:lnTo>
                        <a:pt x="0" y="162"/>
                      </a:lnTo>
                      <a:lnTo>
                        <a:pt x="98" y="162"/>
                      </a:lnTo>
                    </a:path>
                  </a:pathLst>
                </a:custGeom>
                <a:solidFill>
                  <a:srgbClr val="FFE6CD"/>
                </a:solidFill>
                <a:ln w="19050" cmpd="sng">
                  <a:solidFill>
                    <a:srgbClr val="EB75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>
                    <a:latin typeface="+mj-lt"/>
                  </a:endParaRPr>
                </a:p>
              </p:txBody>
            </p:sp>
            <p:sp>
              <p:nvSpPr>
                <p:cNvPr id="197" name="Rectangle 247"/>
                <p:cNvSpPr>
                  <a:spLocks noChangeArrowheads="1"/>
                </p:cNvSpPr>
                <p:nvPr/>
              </p:nvSpPr>
              <p:spPr bwMode="auto">
                <a:xfrm>
                  <a:off x="2413" y="1793"/>
                  <a:ext cx="122" cy="92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US" sz="1000">
                      <a:solidFill>
                        <a:srgbClr val="EB7500"/>
                      </a:solidFill>
                      <a:latin typeface="+mj-lt"/>
                    </a:rPr>
                    <a:t>EXE</a:t>
                  </a:r>
                  <a:endParaRPr lang="en-US" sz="1000">
                    <a:latin typeface="+mj-lt"/>
                  </a:endParaRPr>
                </a:p>
              </p:txBody>
            </p:sp>
          </p:grpSp>
        </p:grpSp>
        <p:sp>
          <p:nvSpPr>
            <p:cNvPr id="161" name="Line 250"/>
            <p:cNvSpPr>
              <a:spLocks noChangeShapeType="1"/>
            </p:cNvSpPr>
            <p:nvPr/>
          </p:nvSpPr>
          <p:spPr bwMode="auto">
            <a:xfrm rot="10800000">
              <a:off x="4062413" y="2290763"/>
              <a:ext cx="1363663" cy="0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62" name="Line 251"/>
            <p:cNvSpPr>
              <a:spLocks noChangeShapeType="1"/>
            </p:cNvSpPr>
            <p:nvPr/>
          </p:nvSpPr>
          <p:spPr bwMode="auto">
            <a:xfrm rot="10800000">
              <a:off x="4156075" y="2619375"/>
              <a:ext cx="1336675" cy="0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63" name="Line 252"/>
            <p:cNvSpPr>
              <a:spLocks noChangeShapeType="1"/>
            </p:cNvSpPr>
            <p:nvPr/>
          </p:nvSpPr>
          <p:spPr bwMode="auto">
            <a:xfrm flipH="1">
              <a:off x="1231900" y="2574925"/>
              <a:ext cx="752475" cy="317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64" name="Line 253"/>
            <p:cNvSpPr>
              <a:spLocks noChangeShapeType="1"/>
            </p:cNvSpPr>
            <p:nvPr/>
          </p:nvSpPr>
          <p:spPr bwMode="auto">
            <a:xfrm flipH="1" flipV="1">
              <a:off x="1981200" y="1868488"/>
              <a:ext cx="0" cy="7175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65" name="Line 255"/>
            <p:cNvSpPr>
              <a:spLocks noChangeShapeType="1"/>
            </p:cNvSpPr>
            <p:nvPr/>
          </p:nvSpPr>
          <p:spPr bwMode="auto">
            <a:xfrm flipH="1" flipV="1">
              <a:off x="2600325" y="2581275"/>
              <a:ext cx="49688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66" name="Line 256"/>
            <p:cNvSpPr>
              <a:spLocks noChangeShapeType="1"/>
            </p:cNvSpPr>
            <p:nvPr/>
          </p:nvSpPr>
          <p:spPr bwMode="auto">
            <a:xfrm flipV="1">
              <a:off x="2600325" y="2581275"/>
              <a:ext cx="0" cy="132397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lg" len="med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67" name="Freeform 257"/>
            <p:cNvSpPr>
              <a:spLocks/>
            </p:cNvSpPr>
            <p:nvPr/>
          </p:nvSpPr>
          <p:spPr bwMode="auto">
            <a:xfrm>
              <a:off x="2581275" y="3886200"/>
              <a:ext cx="38100" cy="38100"/>
            </a:xfrm>
            <a:custGeom>
              <a:avLst/>
              <a:gdLst>
                <a:gd name="T0" fmla="*/ 10 w 24"/>
                <a:gd name="T1" fmla="*/ 23 h 24"/>
                <a:gd name="T2" fmla="*/ 14 w 24"/>
                <a:gd name="T3" fmla="*/ 23 h 24"/>
                <a:gd name="T4" fmla="*/ 16 w 24"/>
                <a:gd name="T5" fmla="*/ 23 h 24"/>
                <a:gd name="T6" fmla="*/ 18 w 24"/>
                <a:gd name="T7" fmla="*/ 21 h 24"/>
                <a:gd name="T8" fmla="*/ 18 w 24"/>
                <a:gd name="T9" fmla="*/ 21 h 24"/>
                <a:gd name="T10" fmla="*/ 20 w 24"/>
                <a:gd name="T11" fmla="*/ 19 h 24"/>
                <a:gd name="T12" fmla="*/ 22 w 24"/>
                <a:gd name="T13" fmla="*/ 19 h 24"/>
                <a:gd name="T14" fmla="*/ 22 w 24"/>
                <a:gd name="T15" fmla="*/ 17 h 24"/>
                <a:gd name="T16" fmla="*/ 23 w 24"/>
                <a:gd name="T17" fmla="*/ 15 h 24"/>
                <a:gd name="T18" fmla="*/ 23 w 24"/>
                <a:gd name="T19" fmla="*/ 13 h 24"/>
                <a:gd name="T20" fmla="*/ 23 w 24"/>
                <a:gd name="T21" fmla="*/ 11 h 24"/>
                <a:gd name="T22" fmla="*/ 23 w 24"/>
                <a:gd name="T23" fmla="*/ 9 h 24"/>
                <a:gd name="T24" fmla="*/ 23 w 24"/>
                <a:gd name="T25" fmla="*/ 7 h 24"/>
                <a:gd name="T26" fmla="*/ 22 w 24"/>
                <a:gd name="T27" fmla="*/ 5 h 24"/>
                <a:gd name="T28" fmla="*/ 22 w 24"/>
                <a:gd name="T29" fmla="*/ 5 h 24"/>
                <a:gd name="T30" fmla="*/ 20 w 24"/>
                <a:gd name="T31" fmla="*/ 4 h 24"/>
                <a:gd name="T32" fmla="*/ 18 w 24"/>
                <a:gd name="T33" fmla="*/ 2 h 24"/>
                <a:gd name="T34" fmla="*/ 18 w 24"/>
                <a:gd name="T35" fmla="*/ 2 h 24"/>
                <a:gd name="T36" fmla="*/ 16 w 24"/>
                <a:gd name="T37" fmla="*/ 0 h 24"/>
                <a:gd name="T38" fmla="*/ 14 w 24"/>
                <a:gd name="T39" fmla="*/ 0 h 24"/>
                <a:gd name="T40" fmla="*/ 12 w 24"/>
                <a:gd name="T41" fmla="*/ 0 h 24"/>
                <a:gd name="T42" fmla="*/ 10 w 24"/>
                <a:gd name="T43" fmla="*/ 0 h 24"/>
                <a:gd name="T44" fmla="*/ 8 w 24"/>
                <a:gd name="T45" fmla="*/ 0 h 24"/>
                <a:gd name="T46" fmla="*/ 6 w 24"/>
                <a:gd name="T47" fmla="*/ 2 h 24"/>
                <a:gd name="T48" fmla="*/ 4 w 24"/>
                <a:gd name="T49" fmla="*/ 2 h 24"/>
                <a:gd name="T50" fmla="*/ 4 w 24"/>
                <a:gd name="T51" fmla="*/ 4 h 24"/>
                <a:gd name="T52" fmla="*/ 2 w 24"/>
                <a:gd name="T53" fmla="*/ 5 h 24"/>
                <a:gd name="T54" fmla="*/ 2 w 24"/>
                <a:gd name="T55" fmla="*/ 5 h 24"/>
                <a:gd name="T56" fmla="*/ 0 w 24"/>
                <a:gd name="T57" fmla="*/ 7 h 24"/>
                <a:gd name="T58" fmla="*/ 0 w 24"/>
                <a:gd name="T59" fmla="*/ 9 h 24"/>
                <a:gd name="T60" fmla="*/ 0 w 24"/>
                <a:gd name="T61" fmla="*/ 11 h 24"/>
                <a:gd name="T62" fmla="*/ 0 w 24"/>
                <a:gd name="T63" fmla="*/ 13 h 24"/>
                <a:gd name="T64" fmla="*/ 0 w 24"/>
                <a:gd name="T65" fmla="*/ 15 h 24"/>
                <a:gd name="T66" fmla="*/ 2 w 24"/>
                <a:gd name="T67" fmla="*/ 17 h 24"/>
                <a:gd name="T68" fmla="*/ 2 w 24"/>
                <a:gd name="T69" fmla="*/ 19 h 24"/>
                <a:gd name="T70" fmla="*/ 4 w 24"/>
                <a:gd name="T71" fmla="*/ 19 h 24"/>
                <a:gd name="T72" fmla="*/ 4 w 24"/>
                <a:gd name="T73" fmla="*/ 21 h 24"/>
                <a:gd name="T74" fmla="*/ 6 w 24"/>
                <a:gd name="T75" fmla="*/ 21 h 24"/>
                <a:gd name="T76" fmla="*/ 8 w 24"/>
                <a:gd name="T77" fmla="*/ 23 h 24"/>
                <a:gd name="T78" fmla="*/ 10 w 24"/>
                <a:gd name="T79" fmla="*/ 23 h 24"/>
                <a:gd name="T80" fmla="*/ 12 w 24"/>
                <a:gd name="T81" fmla="*/ 23 h 24"/>
                <a:gd name="T82" fmla="*/ 12 w 24"/>
                <a:gd name="T83" fmla="*/ 23 h 24"/>
                <a:gd name="T84" fmla="*/ 10 w 24"/>
                <a:gd name="T85" fmla="*/ 23 h 2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4"/>
                <a:gd name="T130" fmla="*/ 0 h 24"/>
                <a:gd name="T131" fmla="*/ 24 w 24"/>
                <a:gd name="T132" fmla="*/ 24 h 24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4" h="24">
                  <a:moveTo>
                    <a:pt x="10" y="23"/>
                  </a:moveTo>
                  <a:lnTo>
                    <a:pt x="14" y="23"/>
                  </a:lnTo>
                  <a:lnTo>
                    <a:pt x="16" y="23"/>
                  </a:lnTo>
                  <a:lnTo>
                    <a:pt x="18" y="21"/>
                  </a:lnTo>
                  <a:lnTo>
                    <a:pt x="20" y="19"/>
                  </a:lnTo>
                  <a:lnTo>
                    <a:pt x="22" y="19"/>
                  </a:lnTo>
                  <a:lnTo>
                    <a:pt x="22" y="17"/>
                  </a:lnTo>
                  <a:lnTo>
                    <a:pt x="23" y="15"/>
                  </a:lnTo>
                  <a:lnTo>
                    <a:pt x="23" y="13"/>
                  </a:lnTo>
                  <a:lnTo>
                    <a:pt x="23" y="11"/>
                  </a:lnTo>
                  <a:lnTo>
                    <a:pt x="23" y="9"/>
                  </a:lnTo>
                  <a:lnTo>
                    <a:pt x="23" y="7"/>
                  </a:lnTo>
                  <a:lnTo>
                    <a:pt x="22" y="5"/>
                  </a:lnTo>
                  <a:lnTo>
                    <a:pt x="20" y="4"/>
                  </a:lnTo>
                  <a:lnTo>
                    <a:pt x="18" y="2"/>
                  </a:lnTo>
                  <a:lnTo>
                    <a:pt x="16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8" y="0"/>
                  </a:lnTo>
                  <a:lnTo>
                    <a:pt x="6" y="2"/>
                  </a:lnTo>
                  <a:lnTo>
                    <a:pt x="4" y="2"/>
                  </a:lnTo>
                  <a:lnTo>
                    <a:pt x="4" y="4"/>
                  </a:lnTo>
                  <a:lnTo>
                    <a:pt x="2" y="5"/>
                  </a:lnTo>
                  <a:lnTo>
                    <a:pt x="0" y="7"/>
                  </a:lnTo>
                  <a:lnTo>
                    <a:pt x="0" y="9"/>
                  </a:lnTo>
                  <a:lnTo>
                    <a:pt x="0" y="11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2" y="17"/>
                  </a:lnTo>
                  <a:lnTo>
                    <a:pt x="2" y="19"/>
                  </a:lnTo>
                  <a:lnTo>
                    <a:pt x="4" y="19"/>
                  </a:lnTo>
                  <a:lnTo>
                    <a:pt x="4" y="21"/>
                  </a:lnTo>
                  <a:lnTo>
                    <a:pt x="6" y="21"/>
                  </a:lnTo>
                  <a:lnTo>
                    <a:pt x="8" y="23"/>
                  </a:lnTo>
                  <a:lnTo>
                    <a:pt x="10" y="23"/>
                  </a:lnTo>
                  <a:lnTo>
                    <a:pt x="12" y="23"/>
                  </a:lnTo>
                  <a:lnTo>
                    <a:pt x="10" y="23"/>
                  </a:lnTo>
                </a:path>
              </a:pathLst>
            </a:custGeom>
            <a:solidFill>
              <a:srgbClr val="000000"/>
            </a:solidFill>
            <a:ln w="9525" cap="rnd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68" name="Line 258"/>
            <p:cNvSpPr>
              <a:spLocks noChangeShapeType="1"/>
            </p:cNvSpPr>
            <p:nvPr/>
          </p:nvSpPr>
          <p:spPr bwMode="auto">
            <a:xfrm>
              <a:off x="4191000" y="3009900"/>
              <a:ext cx="0" cy="2971800"/>
            </a:xfrm>
            <a:prstGeom prst="line">
              <a:avLst/>
            </a:prstGeom>
            <a:noFill/>
            <a:ln w="9525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69" name="Line 259"/>
            <p:cNvSpPr>
              <a:spLocks noChangeShapeType="1"/>
            </p:cNvSpPr>
            <p:nvPr/>
          </p:nvSpPr>
          <p:spPr bwMode="auto">
            <a:xfrm>
              <a:off x="5410200" y="2857500"/>
              <a:ext cx="0" cy="2667000"/>
            </a:xfrm>
            <a:prstGeom prst="line">
              <a:avLst/>
            </a:prstGeom>
            <a:noFill/>
            <a:ln w="9525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70" name="Line 260"/>
            <p:cNvSpPr>
              <a:spLocks noChangeShapeType="1"/>
            </p:cNvSpPr>
            <p:nvPr/>
          </p:nvSpPr>
          <p:spPr bwMode="auto">
            <a:xfrm rot="10800000">
              <a:off x="4038600" y="2933700"/>
              <a:ext cx="484188" cy="0"/>
            </a:xfrm>
            <a:prstGeom prst="line">
              <a:avLst/>
            </a:prstGeom>
            <a:noFill/>
            <a:ln w="9525">
              <a:solidFill>
                <a:srgbClr val="EB7500"/>
              </a:solidFill>
              <a:round/>
              <a:headEnd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71" name="Line 261"/>
            <p:cNvSpPr>
              <a:spLocks noChangeShapeType="1"/>
            </p:cNvSpPr>
            <p:nvPr/>
          </p:nvSpPr>
          <p:spPr bwMode="auto">
            <a:xfrm rot="10800000" flipV="1">
              <a:off x="4038600" y="2857500"/>
              <a:ext cx="1371600" cy="0"/>
            </a:xfrm>
            <a:prstGeom prst="line">
              <a:avLst/>
            </a:prstGeom>
            <a:noFill/>
            <a:ln w="9525">
              <a:solidFill>
                <a:srgbClr val="EB7500"/>
              </a:solidFill>
              <a:round/>
              <a:headEnd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72" name="Line 262"/>
            <p:cNvSpPr>
              <a:spLocks noChangeShapeType="1"/>
            </p:cNvSpPr>
            <p:nvPr/>
          </p:nvSpPr>
          <p:spPr bwMode="auto">
            <a:xfrm rot="10800000" flipV="1">
              <a:off x="4191000" y="5981700"/>
              <a:ext cx="304800" cy="0"/>
            </a:xfrm>
            <a:prstGeom prst="line">
              <a:avLst/>
            </a:prstGeom>
            <a:noFill/>
            <a:ln w="9525">
              <a:solidFill>
                <a:srgbClr val="EB7500"/>
              </a:solidFill>
              <a:round/>
              <a:headEnd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73" name="Line 263"/>
            <p:cNvSpPr>
              <a:spLocks noChangeShapeType="1"/>
            </p:cNvSpPr>
            <p:nvPr/>
          </p:nvSpPr>
          <p:spPr bwMode="auto">
            <a:xfrm rot="10800000" flipV="1">
              <a:off x="4762500" y="5524500"/>
              <a:ext cx="647700" cy="0"/>
            </a:xfrm>
            <a:prstGeom prst="line">
              <a:avLst/>
            </a:prstGeom>
            <a:noFill/>
            <a:ln w="9525">
              <a:solidFill>
                <a:srgbClr val="EB7500"/>
              </a:solidFill>
              <a:round/>
              <a:headEnd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80" name="Line 278"/>
            <p:cNvSpPr>
              <a:spLocks noChangeShapeType="1"/>
            </p:cNvSpPr>
            <p:nvPr/>
          </p:nvSpPr>
          <p:spPr bwMode="auto">
            <a:xfrm rot="10800000" flipV="1">
              <a:off x="7616825" y="2979738"/>
              <a:ext cx="277813" cy="4763"/>
            </a:xfrm>
            <a:prstGeom prst="line">
              <a:avLst/>
            </a:prstGeom>
            <a:noFill/>
            <a:ln w="9525">
              <a:solidFill>
                <a:srgbClr val="EB7500"/>
              </a:solidFill>
              <a:round/>
              <a:headEnd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81" name="Line 279"/>
            <p:cNvSpPr>
              <a:spLocks noChangeShapeType="1"/>
            </p:cNvSpPr>
            <p:nvPr/>
          </p:nvSpPr>
          <p:spPr bwMode="auto">
            <a:xfrm rot="10800000" flipV="1">
              <a:off x="7620000" y="2781300"/>
              <a:ext cx="685800" cy="4763"/>
            </a:xfrm>
            <a:prstGeom prst="line">
              <a:avLst/>
            </a:prstGeom>
            <a:noFill/>
            <a:ln w="9525">
              <a:solidFill>
                <a:srgbClr val="EB7500"/>
              </a:solidFill>
              <a:round/>
              <a:headEnd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82" name="Line 280"/>
            <p:cNvSpPr>
              <a:spLocks noChangeShapeType="1"/>
            </p:cNvSpPr>
            <p:nvPr/>
          </p:nvSpPr>
          <p:spPr bwMode="auto">
            <a:xfrm flipH="1" flipV="1">
              <a:off x="8305800" y="2781300"/>
              <a:ext cx="0" cy="3554413"/>
            </a:xfrm>
            <a:prstGeom prst="line">
              <a:avLst/>
            </a:prstGeom>
            <a:noFill/>
            <a:ln w="9525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83" name="Line 281"/>
            <p:cNvSpPr>
              <a:spLocks noChangeShapeType="1"/>
            </p:cNvSpPr>
            <p:nvPr/>
          </p:nvSpPr>
          <p:spPr bwMode="auto">
            <a:xfrm rot="5400000" flipH="1">
              <a:off x="5410200" y="3440113"/>
              <a:ext cx="0" cy="5791200"/>
            </a:xfrm>
            <a:prstGeom prst="line">
              <a:avLst/>
            </a:prstGeom>
            <a:noFill/>
            <a:ln w="9525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84" name="Line 282"/>
            <p:cNvSpPr>
              <a:spLocks noChangeShapeType="1"/>
            </p:cNvSpPr>
            <p:nvPr/>
          </p:nvSpPr>
          <p:spPr bwMode="auto">
            <a:xfrm flipH="1" flipV="1">
              <a:off x="2514600" y="3429000"/>
              <a:ext cx="0" cy="2895600"/>
            </a:xfrm>
            <a:prstGeom prst="line">
              <a:avLst/>
            </a:prstGeom>
            <a:noFill/>
            <a:ln w="9525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85" name="Line 283"/>
            <p:cNvSpPr>
              <a:spLocks noChangeShapeType="1"/>
            </p:cNvSpPr>
            <p:nvPr/>
          </p:nvSpPr>
          <p:spPr bwMode="auto">
            <a:xfrm rot="10800000" flipV="1">
              <a:off x="2514600" y="3429000"/>
              <a:ext cx="762000" cy="0"/>
            </a:xfrm>
            <a:prstGeom prst="line">
              <a:avLst/>
            </a:prstGeom>
            <a:noFill/>
            <a:ln w="9525">
              <a:solidFill>
                <a:srgbClr val="EB7500"/>
              </a:solidFill>
              <a:round/>
              <a:headEnd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6694022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  <p:extLst mod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76200"/>
            <a:ext cx="7772400" cy="762000"/>
          </a:xfrm>
        </p:spPr>
        <p:txBody>
          <a:bodyPr/>
          <a:lstStyle/>
          <a:p>
            <a:pPr algn="l"/>
            <a:r>
              <a:rPr lang="en-US" sz="3200" dirty="0" smtClean="0">
                <a:solidFill>
                  <a:srgbClr val="0070C0"/>
                </a:solidFill>
              </a:rPr>
              <a:t>Pipelined execution: Load (cycle 1 – Fetch)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762000" y="1166813"/>
            <a:ext cx="6240064" cy="661987"/>
            <a:chOff x="762000" y="1166813"/>
            <a:chExt cx="6240064" cy="661987"/>
          </a:xfrm>
        </p:grpSpPr>
        <p:sp>
          <p:nvSpPr>
            <p:cNvPr id="54277" name="Rectangle 268"/>
            <p:cNvSpPr>
              <a:spLocks noChangeArrowheads="1"/>
            </p:cNvSpPr>
            <p:nvPr/>
          </p:nvSpPr>
          <p:spPr bwMode="auto">
            <a:xfrm>
              <a:off x="865188" y="1543050"/>
              <a:ext cx="6070600" cy="2794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278" name="Rectangle 269"/>
            <p:cNvSpPr>
              <a:spLocks noChangeArrowheads="1"/>
            </p:cNvSpPr>
            <p:nvPr/>
          </p:nvSpPr>
          <p:spPr bwMode="auto">
            <a:xfrm>
              <a:off x="858838" y="1536700"/>
              <a:ext cx="1054100" cy="2921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279" name="Rectangle 270"/>
            <p:cNvSpPr>
              <a:spLocks noChangeArrowheads="1"/>
            </p:cNvSpPr>
            <p:nvPr/>
          </p:nvSpPr>
          <p:spPr bwMode="auto">
            <a:xfrm>
              <a:off x="1171575" y="1166813"/>
              <a:ext cx="429606" cy="36676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800" b="1" dirty="0">
                  <a:latin typeface="+mj-lt"/>
                </a:rPr>
                <a:t>op</a:t>
              </a:r>
              <a:endParaRPr lang="en-US" sz="1600" b="1" dirty="0">
                <a:latin typeface="+mj-lt"/>
              </a:endParaRPr>
            </a:p>
          </p:txBody>
        </p:sp>
        <p:sp>
          <p:nvSpPr>
            <p:cNvPr id="54280" name="Rectangle 271"/>
            <p:cNvSpPr>
              <a:spLocks noChangeArrowheads="1"/>
            </p:cNvSpPr>
            <p:nvPr/>
          </p:nvSpPr>
          <p:spPr bwMode="auto">
            <a:xfrm>
              <a:off x="1925638" y="1536700"/>
              <a:ext cx="977900" cy="2921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281" name="Rectangle 272"/>
            <p:cNvSpPr>
              <a:spLocks noChangeArrowheads="1"/>
            </p:cNvSpPr>
            <p:nvPr/>
          </p:nvSpPr>
          <p:spPr bwMode="auto">
            <a:xfrm>
              <a:off x="2209800" y="1166813"/>
              <a:ext cx="353046" cy="36676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800" b="1" dirty="0" err="1">
                  <a:latin typeface="+mj-lt"/>
                </a:rPr>
                <a:t>rs</a:t>
              </a:r>
              <a:endParaRPr lang="en-US" sz="1600" b="1" dirty="0">
                <a:latin typeface="+mj-lt"/>
              </a:endParaRPr>
            </a:p>
          </p:txBody>
        </p:sp>
        <p:sp>
          <p:nvSpPr>
            <p:cNvPr id="54282" name="Rectangle 273"/>
            <p:cNvSpPr>
              <a:spLocks noChangeArrowheads="1"/>
            </p:cNvSpPr>
            <p:nvPr/>
          </p:nvSpPr>
          <p:spPr bwMode="auto">
            <a:xfrm>
              <a:off x="2916238" y="1536700"/>
              <a:ext cx="977900" cy="2921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283" name="Rectangle 274"/>
            <p:cNvSpPr>
              <a:spLocks noChangeArrowheads="1"/>
            </p:cNvSpPr>
            <p:nvPr/>
          </p:nvSpPr>
          <p:spPr bwMode="auto">
            <a:xfrm>
              <a:off x="3200400" y="1166813"/>
              <a:ext cx="352662" cy="36676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800" b="1" dirty="0" err="1">
                  <a:latin typeface="+mj-lt"/>
                </a:rPr>
                <a:t>rt</a:t>
              </a:r>
              <a:endParaRPr lang="en-US" sz="1600" b="1" dirty="0">
                <a:latin typeface="+mj-lt"/>
              </a:endParaRPr>
            </a:p>
          </p:txBody>
        </p:sp>
        <p:sp>
          <p:nvSpPr>
            <p:cNvPr id="54284" name="Rectangle 275"/>
            <p:cNvSpPr>
              <a:spLocks noChangeArrowheads="1"/>
            </p:cNvSpPr>
            <p:nvPr/>
          </p:nvSpPr>
          <p:spPr bwMode="auto">
            <a:xfrm>
              <a:off x="3906838" y="1536700"/>
              <a:ext cx="3027362" cy="2921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285" name="Rectangle 276"/>
            <p:cNvSpPr>
              <a:spLocks noChangeArrowheads="1"/>
            </p:cNvSpPr>
            <p:nvPr/>
          </p:nvSpPr>
          <p:spPr bwMode="auto">
            <a:xfrm>
              <a:off x="4800600" y="1166813"/>
              <a:ext cx="1213346" cy="36676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800" b="1">
                  <a:latin typeface="+mj-lt"/>
                </a:rPr>
                <a:t>immediate</a:t>
              </a:r>
              <a:endParaRPr lang="en-US" sz="1600" b="1">
                <a:latin typeface="+mj-lt"/>
              </a:endParaRPr>
            </a:p>
          </p:txBody>
        </p:sp>
        <p:sp>
          <p:nvSpPr>
            <p:cNvPr id="54286" name="Rectangle 277"/>
            <p:cNvSpPr>
              <a:spLocks noChangeArrowheads="1"/>
            </p:cNvSpPr>
            <p:nvPr/>
          </p:nvSpPr>
          <p:spPr bwMode="auto">
            <a:xfrm>
              <a:off x="6715125" y="1225550"/>
              <a:ext cx="286939" cy="33598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600" dirty="0">
                  <a:latin typeface="+mj-lt"/>
                </a:rPr>
                <a:t>0</a:t>
              </a:r>
            </a:p>
          </p:txBody>
        </p:sp>
        <p:sp>
          <p:nvSpPr>
            <p:cNvPr id="54287" name="Rectangle 278"/>
            <p:cNvSpPr>
              <a:spLocks noChangeArrowheads="1"/>
            </p:cNvSpPr>
            <p:nvPr/>
          </p:nvSpPr>
          <p:spPr bwMode="auto">
            <a:xfrm>
              <a:off x="3581400" y="1225550"/>
              <a:ext cx="391134" cy="33598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600" dirty="0">
                  <a:latin typeface="+mj-lt"/>
                </a:rPr>
                <a:t>16</a:t>
              </a:r>
            </a:p>
          </p:txBody>
        </p:sp>
        <p:sp>
          <p:nvSpPr>
            <p:cNvPr id="54288" name="Rectangle 279"/>
            <p:cNvSpPr>
              <a:spLocks noChangeArrowheads="1"/>
            </p:cNvSpPr>
            <p:nvPr/>
          </p:nvSpPr>
          <p:spPr bwMode="auto">
            <a:xfrm>
              <a:off x="2590800" y="1225550"/>
              <a:ext cx="391134" cy="33598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600">
                  <a:latin typeface="+mj-lt"/>
                </a:rPr>
                <a:t>21</a:t>
              </a:r>
            </a:p>
          </p:txBody>
        </p:sp>
        <p:sp>
          <p:nvSpPr>
            <p:cNvPr id="54289" name="Rectangle 280"/>
            <p:cNvSpPr>
              <a:spLocks noChangeArrowheads="1"/>
            </p:cNvSpPr>
            <p:nvPr/>
          </p:nvSpPr>
          <p:spPr bwMode="auto">
            <a:xfrm>
              <a:off x="1600200" y="1225550"/>
              <a:ext cx="391134" cy="33598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600" dirty="0">
                  <a:latin typeface="+mj-lt"/>
                </a:rPr>
                <a:t>26</a:t>
              </a:r>
            </a:p>
          </p:txBody>
        </p:sp>
        <p:sp>
          <p:nvSpPr>
            <p:cNvPr id="54290" name="Rectangle 281"/>
            <p:cNvSpPr>
              <a:spLocks noChangeArrowheads="1"/>
            </p:cNvSpPr>
            <p:nvPr/>
          </p:nvSpPr>
          <p:spPr bwMode="auto">
            <a:xfrm>
              <a:off x="762000" y="1225550"/>
              <a:ext cx="391134" cy="33598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600" dirty="0">
                  <a:latin typeface="+mj-lt"/>
                </a:rPr>
                <a:t>31</a:t>
              </a:r>
            </a:p>
          </p:txBody>
        </p:sp>
        <p:sp>
          <p:nvSpPr>
            <p:cNvPr id="54291" name="Rectangle 282"/>
            <p:cNvSpPr>
              <a:spLocks noChangeArrowheads="1"/>
            </p:cNvSpPr>
            <p:nvPr/>
          </p:nvSpPr>
          <p:spPr bwMode="auto">
            <a:xfrm>
              <a:off x="2376488" y="1558925"/>
              <a:ext cx="104196" cy="246221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lg" len="med"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dirty="0">
                  <a:solidFill>
                    <a:srgbClr val="0070C0"/>
                  </a:solidFill>
                  <a:latin typeface="+mj-lt"/>
                </a:rPr>
                <a:t>2</a:t>
              </a:r>
              <a:endParaRPr lang="en-US" sz="1000" dirty="0">
                <a:solidFill>
                  <a:srgbClr val="0070C0"/>
                </a:solidFill>
                <a:latin typeface="+mj-lt"/>
              </a:endParaRPr>
            </a:p>
          </p:txBody>
        </p:sp>
        <p:sp>
          <p:nvSpPr>
            <p:cNvPr id="54292" name="Rectangle 283"/>
            <p:cNvSpPr>
              <a:spLocks noChangeArrowheads="1"/>
            </p:cNvSpPr>
            <p:nvPr/>
          </p:nvSpPr>
          <p:spPr bwMode="auto">
            <a:xfrm>
              <a:off x="3367088" y="1558925"/>
              <a:ext cx="104196" cy="246221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lg" len="med"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dirty="0">
                  <a:solidFill>
                    <a:srgbClr val="0070C0"/>
                  </a:solidFill>
                  <a:latin typeface="+mj-lt"/>
                </a:rPr>
                <a:t>1</a:t>
              </a:r>
              <a:endParaRPr lang="en-US" sz="1000" dirty="0">
                <a:solidFill>
                  <a:srgbClr val="0070C0"/>
                </a:solidFill>
                <a:latin typeface="+mj-lt"/>
              </a:endParaRPr>
            </a:p>
          </p:txBody>
        </p:sp>
        <p:sp>
          <p:nvSpPr>
            <p:cNvPr id="54293" name="Rectangle 284"/>
            <p:cNvSpPr>
              <a:spLocks noChangeArrowheads="1"/>
            </p:cNvSpPr>
            <p:nvPr/>
          </p:nvSpPr>
          <p:spPr bwMode="auto">
            <a:xfrm>
              <a:off x="5410200" y="1558925"/>
              <a:ext cx="208390" cy="246221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lg" len="med"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dirty="0">
                  <a:solidFill>
                    <a:srgbClr val="0070C0"/>
                  </a:solidFill>
                  <a:latin typeface="+mj-lt"/>
                </a:rPr>
                <a:t>30</a:t>
              </a:r>
              <a:endParaRPr lang="en-US" sz="1000" dirty="0">
                <a:solidFill>
                  <a:srgbClr val="0070C0"/>
                </a:solidFill>
                <a:latin typeface="+mj-lt"/>
              </a:endParaRPr>
            </a:p>
          </p:txBody>
        </p:sp>
        <p:sp>
          <p:nvSpPr>
            <p:cNvPr id="54294" name="Rectangle 285"/>
            <p:cNvSpPr>
              <a:spLocks noChangeArrowheads="1"/>
            </p:cNvSpPr>
            <p:nvPr/>
          </p:nvSpPr>
          <p:spPr bwMode="auto">
            <a:xfrm>
              <a:off x="1208088" y="1558925"/>
              <a:ext cx="263214" cy="246221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lg" len="med"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dirty="0">
                  <a:solidFill>
                    <a:srgbClr val="0070C0"/>
                  </a:solidFill>
                  <a:latin typeface="+mj-lt"/>
                </a:rPr>
                <a:t>LW</a:t>
              </a:r>
              <a:endParaRPr lang="en-US" sz="1000" dirty="0">
                <a:solidFill>
                  <a:srgbClr val="0070C0"/>
                </a:solidFill>
                <a:latin typeface="+mj-lt"/>
              </a:endParaRPr>
            </a:p>
          </p:txBody>
        </p:sp>
      </p:grpSp>
      <p:sp>
        <p:nvSpPr>
          <p:cNvPr id="54295" name="Rectangle 286"/>
          <p:cNvSpPr>
            <a:spLocks noChangeArrowheads="1"/>
          </p:cNvSpPr>
          <p:nvPr/>
        </p:nvSpPr>
        <p:spPr bwMode="auto">
          <a:xfrm>
            <a:off x="838200" y="762000"/>
            <a:ext cx="2112758" cy="40011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lg" len="med"/>
          </a:ln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  <a:latin typeface="+mj-lt"/>
              </a:rPr>
              <a:t>LW  R1, (</a:t>
            </a:r>
            <a:r>
              <a:rPr lang="en-US" sz="2000" dirty="0" smtClean="0">
                <a:solidFill>
                  <a:srgbClr val="0070C0"/>
                </a:solidFill>
                <a:latin typeface="+mj-lt"/>
              </a:rPr>
              <a:t>30)R2 ;     </a:t>
            </a:r>
            <a:endParaRPr lang="en-US" sz="2000" dirty="0">
              <a:solidFill>
                <a:srgbClr val="0070C0"/>
              </a:solidFill>
              <a:latin typeface="+mj-lt"/>
            </a:endParaRPr>
          </a:p>
        </p:txBody>
      </p:sp>
      <p:grpSp>
        <p:nvGrpSpPr>
          <p:cNvPr id="54275" name="Group 313"/>
          <p:cNvGrpSpPr>
            <a:grpSpLocks/>
          </p:cNvGrpSpPr>
          <p:nvPr/>
        </p:nvGrpSpPr>
        <p:grpSpPr bwMode="auto">
          <a:xfrm>
            <a:off x="152400" y="2057400"/>
            <a:ext cx="8690415" cy="4191001"/>
            <a:chOff x="360" y="1438"/>
            <a:chExt cx="4808" cy="2450"/>
          </a:xfrm>
        </p:grpSpPr>
        <p:sp>
          <p:nvSpPr>
            <p:cNvPr id="54297" name="Rectangle 137"/>
            <p:cNvSpPr>
              <a:spLocks noChangeArrowheads="1"/>
            </p:cNvSpPr>
            <p:nvPr/>
          </p:nvSpPr>
          <p:spPr bwMode="auto">
            <a:xfrm>
              <a:off x="720" y="2440"/>
              <a:ext cx="567" cy="582"/>
            </a:xfrm>
            <a:prstGeom prst="rect">
              <a:avLst/>
            </a:prstGeom>
            <a:solidFill>
              <a:srgbClr val="FFFFCC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298" name="Line 14"/>
            <p:cNvSpPr>
              <a:spLocks noChangeShapeType="1"/>
            </p:cNvSpPr>
            <p:nvPr/>
          </p:nvSpPr>
          <p:spPr bwMode="auto">
            <a:xfrm>
              <a:off x="588" y="2513"/>
              <a:ext cx="136" cy="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299" name="Line 15"/>
            <p:cNvSpPr>
              <a:spLocks noChangeShapeType="1"/>
            </p:cNvSpPr>
            <p:nvPr/>
          </p:nvSpPr>
          <p:spPr bwMode="auto">
            <a:xfrm flipH="1" flipV="1">
              <a:off x="1989" y="3197"/>
              <a:ext cx="34" cy="5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00" name="Rectangle 16"/>
            <p:cNvSpPr>
              <a:spLocks noChangeArrowheads="1"/>
            </p:cNvSpPr>
            <p:nvPr/>
          </p:nvSpPr>
          <p:spPr bwMode="auto">
            <a:xfrm>
              <a:off x="1915" y="3275"/>
              <a:ext cx="103" cy="1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algn="ctr"/>
              <a:endParaRPr lang="en-US" sz="600">
                <a:solidFill>
                  <a:srgbClr val="000000"/>
                </a:solidFill>
                <a:latin typeface="+mj-lt"/>
              </a:endParaRPr>
            </a:p>
            <a:p>
              <a:pPr algn="ctr"/>
              <a:endParaRPr lang="en-US" sz="6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301" name="Line 17"/>
            <p:cNvSpPr>
              <a:spLocks noChangeShapeType="1"/>
            </p:cNvSpPr>
            <p:nvPr/>
          </p:nvSpPr>
          <p:spPr bwMode="auto">
            <a:xfrm flipH="1" flipV="1">
              <a:off x="2338" y="3197"/>
              <a:ext cx="32" cy="5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02" name="Freeform 18"/>
            <p:cNvSpPr>
              <a:spLocks/>
            </p:cNvSpPr>
            <p:nvPr/>
          </p:nvSpPr>
          <p:spPr bwMode="auto">
            <a:xfrm>
              <a:off x="1810" y="2350"/>
              <a:ext cx="519" cy="612"/>
            </a:xfrm>
            <a:custGeom>
              <a:avLst/>
              <a:gdLst>
                <a:gd name="T0" fmla="*/ 518 w 519"/>
                <a:gd name="T1" fmla="*/ 611 h 541"/>
                <a:gd name="T2" fmla="*/ 518 w 519"/>
                <a:gd name="T3" fmla="*/ 0 h 541"/>
                <a:gd name="T4" fmla="*/ 0 w 519"/>
                <a:gd name="T5" fmla="*/ 0 h 541"/>
                <a:gd name="T6" fmla="*/ 0 w 519"/>
                <a:gd name="T7" fmla="*/ 611 h 541"/>
                <a:gd name="T8" fmla="*/ 518 w 519"/>
                <a:gd name="T9" fmla="*/ 611 h 541"/>
                <a:gd name="T10" fmla="*/ 518 w 519"/>
                <a:gd name="T11" fmla="*/ 611 h 5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19"/>
                <a:gd name="T19" fmla="*/ 0 h 541"/>
                <a:gd name="T20" fmla="*/ 519 w 519"/>
                <a:gd name="T21" fmla="*/ 541 h 54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19" h="541">
                  <a:moveTo>
                    <a:pt x="518" y="540"/>
                  </a:moveTo>
                  <a:lnTo>
                    <a:pt x="518" y="0"/>
                  </a:lnTo>
                  <a:lnTo>
                    <a:pt x="0" y="0"/>
                  </a:lnTo>
                  <a:lnTo>
                    <a:pt x="0" y="540"/>
                  </a:lnTo>
                  <a:lnTo>
                    <a:pt x="518" y="540"/>
                  </a:lnTo>
                </a:path>
              </a:pathLst>
            </a:custGeom>
            <a:solidFill>
              <a:srgbClr val="CCFFFF"/>
            </a:solidFill>
            <a:ln w="190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03" name="Rectangle 19"/>
            <p:cNvSpPr>
              <a:spLocks noChangeArrowheads="1"/>
            </p:cNvSpPr>
            <p:nvPr/>
          </p:nvSpPr>
          <p:spPr bwMode="auto">
            <a:xfrm>
              <a:off x="1885" y="2392"/>
              <a:ext cx="103" cy="1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algn="ctr"/>
              <a:endParaRPr lang="en-US" sz="600">
                <a:solidFill>
                  <a:srgbClr val="000000"/>
                </a:solidFill>
                <a:latin typeface="+mj-lt"/>
              </a:endParaRPr>
            </a:p>
            <a:p>
              <a:pPr algn="ctr"/>
              <a:endParaRPr lang="en-US" sz="6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304" name="Line 20"/>
            <p:cNvSpPr>
              <a:spLocks noChangeShapeType="1"/>
            </p:cNvSpPr>
            <p:nvPr/>
          </p:nvSpPr>
          <p:spPr bwMode="auto">
            <a:xfrm>
              <a:off x="1657" y="3225"/>
              <a:ext cx="434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05" name="Line 21"/>
            <p:cNvSpPr>
              <a:spLocks noChangeShapeType="1"/>
            </p:cNvSpPr>
            <p:nvPr/>
          </p:nvSpPr>
          <p:spPr bwMode="auto">
            <a:xfrm flipV="1">
              <a:off x="2302" y="3225"/>
              <a:ext cx="131" cy="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06" name="Freeform 22"/>
            <p:cNvSpPr>
              <a:spLocks/>
            </p:cNvSpPr>
            <p:nvPr/>
          </p:nvSpPr>
          <p:spPr bwMode="auto">
            <a:xfrm>
              <a:off x="1629" y="2679"/>
              <a:ext cx="24" cy="24"/>
            </a:xfrm>
            <a:custGeom>
              <a:avLst/>
              <a:gdLst>
                <a:gd name="T0" fmla="*/ 10 w 24"/>
                <a:gd name="T1" fmla="*/ 23 h 24"/>
                <a:gd name="T2" fmla="*/ 14 w 24"/>
                <a:gd name="T3" fmla="*/ 23 h 24"/>
                <a:gd name="T4" fmla="*/ 16 w 24"/>
                <a:gd name="T5" fmla="*/ 23 h 24"/>
                <a:gd name="T6" fmla="*/ 18 w 24"/>
                <a:gd name="T7" fmla="*/ 21 h 24"/>
                <a:gd name="T8" fmla="*/ 18 w 24"/>
                <a:gd name="T9" fmla="*/ 21 h 24"/>
                <a:gd name="T10" fmla="*/ 20 w 24"/>
                <a:gd name="T11" fmla="*/ 19 h 24"/>
                <a:gd name="T12" fmla="*/ 22 w 24"/>
                <a:gd name="T13" fmla="*/ 19 h 24"/>
                <a:gd name="T14" fmla="*/ 22 w 24"/>
                <a:gd name="T15" fmla="*/ 17 h 24"/>
                <a:gd name="T16" fmla="*/ 23 w 24"/>
                <a:gd name="T17" fmla="*/ 15 h 24"/>
                <a:gd name="T18" fmla="*/ 23 w 24"/>
                <a:gd name="T19" fmla="*/ 13 h 24"/>
                <a:gd name="T20" fmla="*/ 23 w 24"/>
                <a:gd name="T21" fmla="*/ 11 h 24"/>
                <a:gd name="T22" fmla="*/ 23 w 24"/>
                <a:gd name="T23" fmla="*/ 9 h 24"/>
                <a:gd name="T24" fmla="*/ 23 w 24"/>
                <a:gd name="T25" fmla="*/ 7 h 24"/>
                <a:gd name="T26" fmla="*/ 22 w 24"/>
                <a:gd name="T27" fmla="*/ 5 h 24"/>
                <a:gd name="T28" fmla="*/ 22 w 24"/>
                <a:gd name="T29" fmla="*/ 5 h 24"/>
                <a:gd name="T30" fmla="*/ 20 w 24"/>
                <a:gd name="T31" fmla="*/ 4 h 24"/>
                <a:gd name="T32" fmla="*/ 18 w 24"/>
                <a:gd name="T33" fmla="*/ 2 h 24"/>
                <a:gd name="T34" fmla="*/ 18 w 24"/>
                <a:gd name="T35" fmla="*/ 2 h 24"/>
                <a:gd name="T36" fmla="*/ 16 w 24"/>
                <a:gd name="T37" fmla="*/ 0 h 24"/>
                <a:gd name="T38" fmla="*/ 14 w 24"/>
                <a:gd name="T39" fmla="*/ 0 h 24"/>
                <a:gd name="T40" fmla="*/ 12 w 24"/>
                <a:gd name="T41" fmla="*/ 0 h 24"/>
                <a:gd name="T42" fmla="*/ 10 w 24"/>
                <a:gd name="T43" fmla="*/ 0 h 24"/>
                <a:gd name="T44" fmla="*/ 8 w 24"/>
                <a:gd name="T45" fmla="*/ 0 h 24"/>
                <a:gd name="T46" fmla="*/ 6 w 24"/>
                <a:gd name="T47" fmla="*/ 2 h 24"/>
                <a:gd name="T48" fmla="*/ 4 w 24"/>
                <a:gd name="T49" fmla="*/ 2 h 24"/>
                <a:gd name="T50" fmla="*/ 4 w 24"/>
                <a:gd name="T51" fmla="*/ 4 h 24"/>
                <a:gd name="T52" fmla="*/ 2 w 24"/>
                <a:gd name="T53" fmla="*/ 5 h 24"/>
                <a:gd name="T54" fmla="*/ 2 w 24"/>
                <a:gd name="T55" fmla="*/ 5 h 24"/>
                <a:gd name="T56" fmla="*/ 0 w 24"/>
                <a:gd name="T57" fmla="*/ 7 h 24"/>
                <a:gd name="T58" fmla="*/ 0 w 24"/>
                <a:gd name="T59" fmla="*/ 9 h 24"/>
                <a:gd name="T60" fmla="*/ 0 w 24"/>
                <a:gd name="T61" fmla="*/ 11 h 24"/>
                <a:gd name="T62" fmla="*/ 0 w 24"/>
                <a:gd name="T63" fmla="*/ 13 h 24"/>
                <a:gd name="T64" fmla="*/ 0 w 24"/>
                <a:gd name="T65" fmla="*/ 15 h 24"/>
                <a:gd name="T66" fmla="*/ 2 w 24"/>
                <a:gd name="T67" fmla="*/ 17 h 24"/>
                <a:gd name="T68" fmla="*/ 2 w 24"/>
                <a:gd name="T69" fmla="*/ 19 h 24"/>
                <a:gd name="T70" fmla="*/ 4 w 24"/>
                <a:gd name="T71" fmla="*/ 19 h 24"/>
                <a:gd name="T72" fmla="*/ 4 w 24"/>
                <a:gd name="T73" fmla="*/ 21 h 24"/>
                <a:gd name="T74" fmla="*/ 6 w 24"/>
                <a:gd name="T75" fmla="*/ 21 h 24"/>
                <a:gd name="T76" fmla="*/ 8 w 24"/>
                <a:gd name="T77" fmla="*/ 23 h 24"/>
                <a:gd name="T78" fmla="*/ 10 w 24"/>
                <a:gd name="T79" fmla="*/ 23 h 24"/>
                <a:gd name="T80" fmla="*/ 12 w 24"/>
                <a:gd name="T81" fmla="*/ 23 h 24"/>
                <a:gd name="T82" fmla="*/ 12 w 24"/>
                <a:gd name="T83" fmla="*/ 23 h 24"/>
                <a:gd name="T84" fmla="*/ 10 w 24"/>
                <a:gd name="T85" fmla="*/ 23 h 2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4"/>
                <a:gd name="T130" fmla="*/ 0 h 24"/>
                <a:gd name="T131" fmla="*/ 24 w 24"/>
                <a:gd name="T132" fmla="*/ 24 h 24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4" h="24">
                  <a:moveTo>
                    <a:pt x="10" y="23"/>
                  </a:moveTo>
                  <a:lnTo>
                    <a:pt x="14" y="23"/>
                  </a:lnTo>
                  <a:lnTo>
                    <a:pt x="16" y="23"/>
                  </a:lnTo>
                  <a:lnTo>
                    <a:pt x="18" y="21"/>
                  </a:lnTo>
                  <a:lnTo>
                    <a:pt x="20" y="19"/>
                  </a:lnTo>
                  <a:lnTo>
                    <a:pt x="22" y="19"/>
                  </a:lnTo>
                  <a:lnTo>
                    <a:pt x="22" y="17"/>
                  </a:lnTo>
                  <a:lnTo>
                    <a:pt x="23" y="15"/>
                  </a:lnTo>
                  <a:lnTo>
                    <a:pt x="23" y="13"/>
                  </a:lnTo>
                  <a:lnTo>
                    <a:pt x="23" y="11"/>
                  </a:lnTo>
                  <a:lnTo>
                    <a:pt x="23" y="9"/>
                  </a:lnTo>
                  <a:lnTo>
                    <a:pt x="23" y="7"/>
                  </a:lnTo>
                  <a:lnTo>
                    <a:pt x="22" y="5"/>
                  </a:lnTo>
                  <a:lnTo>
                    <a:pt x="20" y="4"/>
                  </a:lnTo>
                  <a:lnTo>
                    <a:pt x="18" y="2"/>
                  </a:lnTo>
                  <a:lnTo>
                    <a:pt x="16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8" y="0"/>
                  </a:lnTo>
                  <a:lnTo>
                    <a:pt x="6" y="2"/>
                  </a:lnTo>
                  <a:lnTo>
                    <a:pt x="4" y="2"/>
                  </a:lnTo>
                  <a:lnTo>
                    <a:pt x="4" y="4"/>
                  </a:lnTo>
                  <a:lnTo>
                    <a:pt x="2" y="5"/>
                  </a:lnTo>
                  <a:lnTo>
                    <a:pt x="0" y="7"/>
                  </a:lnTo>
                  <a:lnTo>
                    <a:pt x="0" y="9"/>
                  </a:lnTo>
                  <a:lnTo>
                    <a:pt x="0" y="11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2" y="17"/>
                  </a:lnTo>
                  <a:lnTo>
                    <a:pt x="2" y="19"/>
                  </a:lnTo>
                  <a:lnTo>
                    <a:pt x="4" y="19"/>
                  </a:lnTo>
                  <a:lnTo>
                    <a:pt x="4" y="21"/>
                  </a:lnTo>
                  <a:lnTo>
                    <a:pt x="6" y="21"/>
                  </a:lnTo>
                  <a:lnTo>
                    <a:pt x="8" y="23"/>
                  </a:lnTo>
                  <a:lnTo>
                    <a:pt x="10" y="23"/>
                  </a:lnTo>
                  <a:lnTo>
                    <a:pt x="12" y="23"/>
                  </a:lnTo>
                  <a:lnTo>
                    <a:pt x="10" y="23"/>
                  </a:lnTo>
                </a:path>
              </a:pathLst>
            </a:custGeom>
            <a:solidFill>
              <a:srgbClr val="000000"/>
            </a:solidFill>
            <a:ln w="9525" cap="rnd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07" name="Freeform 23"/>
            <p:cNvSpPr>
              <a:spLocks/>
            </p:cNvSpPr>
            <p:nvPr/>
          </p:nvSpPr>
          <p:spPr bwMode="auto">
            <a:xfrm>
              <a:off x="1629" y="2586"/>
              <a:ext cx="24" cy="24"/>
            </a:xfrm>
            <a:custGeom>
              <a:avLst/>
              <a:gdLst>
                <a:gd name="T0" fmla="*/ 10 w 24"/>
                <a:gd name="T1" fmla="*/ 23 h 24"/>
                <a:gd name="T2" fmla="*/ 14 w 24"/>
                <a:gd name="T3" fmla="*/ 23 h 24"/>
                <a:gd name="T4" fmla="*/ 16 w 24"/>
                <a:gd name="T5" fmla="*/ 23 h 24"/>
                <a:gd name="T6" fmla="*/ 18 w 24"/>
                <a:gd name="T7" fmla="*/ 21 h 24"/>
                <a:gd name="T8" fmla="*/ 18 w 24"/>
                <a:gd name="T9" fmla="*/ 21 h 24"/>
                <a:gd name="T10" fmla="*/ 20 w 24"/>
                <a:gd name="T11" fmla="*/ 19 h 24"/>
                <a:gd name="T12" fmla="*/ 22 w 24"/>
                <a:gd name="T13" fmla="*/ 19 h 24"/>
                <a:gd name="T14" fmla="*/ 22 w 24"/>
                <a:gd name="T15" fmla="*/ 17 h 24"/>
                <a:gd name="T16" fmla="*/ 23 w 24"/>
                <a:gd name="T17" fmla="*/ 15 h 24"/>
                <a:gd name="T18" fmla="*/ 23 w 24"/>
                <a:gd name="T19" fmla="*/ 13 h 24"/>
                <a:gd name="T20" fmla="*/ 23 w 24"/>
                <a:gd name="T21" fmla="*/ 11 h 24"/>
                <a:gd name="T22" fmla="*/ 23 w 24"/>
                <a:gd name="T23" fmla="*/ 9 h 24"/>
                <a:gd name="T24" fmla="*/ 23 w 24"/>
                <a:gd name="T25" fmla="*/ 7 h 24"/>
                <a:gd name="T26" fmla="*/ 22 w 24"/>
                <a:gd name="T27" fmla="*/ 5 h 24"/>
                <a:gd name="T28" fmla="*/ 22 w 24"/>
                <a:gd name="T29" fmla="*/ 5 h 24"/>
                <a:gd name="T30" fmla="*/ 20 w 24"/>
                <a:gd name="T31" fmla="*/ 4 h 24"/>
                <a:gd name="T32" fmla="*/ 18 w 24"/>
                <a:gd name="T33" fmla="*/ 2 h 24"/>
                <a:gd name="T34" fmla="*/ 18 w 24"/>
                <a:gd name="T35" fmla="*/ 2 h 24"/>
                <a:gd name="T36" fmla="*/ 16 w 24"/>
                <a:gd name="T37" fmla="*/ 0 h 24"/>
                <a:gd name="T38" fmla="*/ 14 w 24"/>
                <a:gd name="T39" fmla="*/ 0 h 24"/>
                <a:gd name="T40" fmla="*/ 12 w 24"/>
                <a:gd name="T41" fmla="*/ 0 h 24"/>
                <a:gd name="T42" fmla="*/ 10 w 24"/>
                <a:gd name="T43" fmla="*/ 0 h 24"/>
                <a:gd name="T44" fmla="*/ 8 w 24"/>
                <a:gd name="T45" fmla="*/ 0 h 24"/>
                <a:gd name="T46" fmla="*/ 6 w 24"/>
                <a:gd name="T47" fmla="*/ 2 h 24"/>
                <a:gd name="T48" fmla="*/ 4 w 24"/>
                <a:gd name="T49" fmla="*/ 2 h 24"/>
                <a:gd name="T50" fmla="*/ 4 w 24"/>
                <a:gd name="T51" fmla="*/ 4 h 24"/>
                <a:gd name="T52" fmla="*/ 2 w 24"/>
                <a:gd name="T53" fmla="*/ 5 h 24"/>
                <a:gd name="T54" fmla="*/ 2 w 24"/>
                <a:gd name="T55" fmla="*/ 5 h 24"/>
                <a:gd name="T56" fmla="*/ 0 w 24"/>
                <a:gd name="T57" fmla="*/ 7 h 24"/>
                <a:gd name="T58" fmla="*/ 0 w 24"/>
                <a:gd name="T59" fmla="*/ 9 h 24"/>
                <a:gd name="T60" fmla="*/ 0 w 24"/>
                <a:gd name="T61" fmla="*/ 11 h 24"/>
                <a:gd name="T62" fmla="*/ 0 w 24"/>
                <a:gd name="T63" fmla="*/ 13 h 24"/>
                <a:gd name="T64" fmla="*/ 0 w 24"/>
                <a:gd name="T65" fmla="*/ 15 h 24"/>
                <a:gd name="T66" fmla="*/ 2 w 24"/>
                <a:gd name="T67" fmla="*/ 17 h 24"/>
                <a:gd name="T68" fmla="*/ 2 w 24"/>
                <a:gd name="T69" fmla="*/ 19 h 24"/>
                <a:gd name="T70" fmla="*/ 4 w 24"/>
                <a:gd name="T71" fmla="*/ 19 h 24"/>
                <a:gd name="T72" fmla="*/ 4 w 24"/>
                <a:gd name="T73" fmla="*/ 21 h 24"/>
                <a:gd name="T74" fmla="*/ 6 w 24"/>
                <a:gd name="T75" fmla="*/ 21 h 24"/>
                <a:gd name="T76" fmla="*/ 8 w 24"/>
                <a:gd name="T77" fmla="*/ 23 h 24"/>
                <a:gd name="T78" fmla="*/ 10 w 24"/>
                <a:gd name="T79" fmla="*/ 23 h 24"/>
                <a:gd name="T80" fmla="*/ 12 w 24"/>
                <a:gd name="T81" fmla="*/ 23 h 24"/>
                <a:gd name="T82" fmla="*/ 12 w 24"/>
                <a:gd name="T83" fmla="*/ 23 h 24"/>
                <a:gd name="T84" fmla="*/ 10 w 24"/>
                <a:gd name="T85" fmla="*/ 23 h 2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4"/>
                <a:gd name="T130" fmla="*/ 0 h 24"/>
                <a:gd name="T131" fmla="*/ 24 w 24"/>
                <a:gd name="T132" fmla="*/ 24 h 24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4" h="24">
                  <a:moveTo>
                    <a:pt x="10" y="23"/>
                  </a:moveTo>
                  <a:lnTo>
                    <a:pt x="14" y="23"/>
                  </a:lnTo>
                  <a:lnTo>
                    <a:pt x="16" y="23"/>
                  </a:lnTo>
                  <a:lnTo>
                    <a:pt x="18" y="21"/>
                  </a:lnTo>
                  <a:lnTo>
                    <a:pt x="20" y="19"/>
                  </a:lnTo>
                  <a:lnTo>
                    <a:pt x="22" y="19"/>
                  </a:lnTo>
                  <a:lnTo>
                    <a:pt x="22" y="17"/>
                  </a:lnTo>
                  <a:lnTo>
                    <a:pt x="23" y="15"/>
                  </a:lnTo>
                  <a:lnTo>
                    <a:pt x="23" y="13"/>
                  </a:lnTo>
                  <a:lnTo>
                    <a:pt x="23" y="11"/>
                  </a:lnTo>
                  <a:lnTo>
                    <a:pt x="23" y="9"/>
                  </a:lnTo>
                  <a:lnTo>
                    <a:pt x="23" y="7"/>
                  </a:lnTo>
                  <a:lnTo>
                    <a:pt x="22" y="5"/>
                  </a:lnTo>
                  <a:lnTo>
                    <a:pt x="20" y="4"/>
                  </a:lnTo>
                  <a:lnTo>
                    <a:pt x="18" y="2"/>
                  </a:lnTo>
                  <a:lnTo>
                    <a:pt x="16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8" y="0"/>
                  </a:lnTo>
                  <a:lnTo>
                    <a:pt x="6" y="2"/>
                  </a:lnTo>
                  <a:lnTo>
                    <a:pt x="4" y="2"/>
                  </a:lnTo>
                  <a:lnTo>
                    <a:pt x="4" y="4"/>
                  </a:lnTo>
                  <a:lnTo>
                    <a:pt x="2" y="5"/>
                  </a:lnTo>
                  <a:lnTo>
                    <a:pt x="0" y="7"/>
                  </a:lnTo>
                  <a:lnTo>
                    <a:pt x="0" y="9"/>
                  </a:lnTo>
                  <a:lnTo>
                    <a:pt x="0" y="11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2" y="17"/>
                  </a:lnTo>
                  <a:lnTo>
                    <a:pt x="2" y="19"/>
                  </a:lnTo>
                  <a:lnTo>
                    <a:pt x="4" y="19"/>
                  </a:lnTo>
                  <a:lnTo>
                    <a:pt x="4" y="21"/>
                  </a:lnTo>
                  <a:lnTo>
                    <a:pt x="6" y="21"/>
                  </a:lnTo>
                  <a:lnTo>
                    <a:pt x="8" y="23"/>
                  </a:lnTo>
                  <a:lnTo>
                    <a:pt x="10" y="23"/>
                  </a:lnTo>
                  <a:lnTo>
                    <a:pt x="12" y="23"/>
                  </a:lnTo>
                  <a:lnTo>
                    <a:pt x="10" y="23"/>
                  </a:lnTo>
                </a:path>
              </a:pathLst>
            </a:custGeom>
            <a:solidFill>
              <a:srgbClr val="000000"/>
            </a:solidFill>
            <a:ln w="9525" cap="rnd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08" name="Freeform 24"/>
            <p:cNvSpPr>
              <a:spLocks/>
            </p:cNvSpPr>
            <p:nvPr/>
          </p:nvSpPr>
          <p:spPr bwMode="auto">
            <a:xfrm>
              <a:off x="1629" y="3432"/>
              <a:ext cx="24" cy="24"/>
            </a:xfrm>
            <a:custGeom>
              <a:avLst/>
              <a:gdLst>
                <a:gd name="T0" fmla="*/ 10 w 24"/>
                <a:gd name="T1" fmla="*/ 23 h 24"/>
                <a:gd name="T2" fmla="*/ 14 w 24"/>
                <a:gd name="T3" fmla="*/ 23 h 24"/>
                <a:gd name="T4" fmla="*/ 16 w 24"/>
                <a:gd name="T5" fmla="*/ 23 h 24"/>
                <a:gd name="T6" fmla="*/ 16 w 24"/>
                <a:gd name="T7" fmla="*/ 21 h 24"/>
                <a:gd name="T8" fmla="*/ 18 w 24"/>
                <a:gd name="T9" fmla="*/ 21 h 24"/>
                <a:gd name="T10" fmla="*/ 20 w 24"/>
                <a:gd name="T11" fmla="*/ 19 h 24"/>
                <a:gd name="T12" fmla="*/ 22 w 24"/>
                <a:gd name="T13" fmla="*/ 18 h 24"/>
                <a:gd name="T14" fmla="*/ 22 w 24"/>
                <a:gd name="T15" fmla="*/ 18 h 24"/>
                <a:gd name="T16" fmla="*/ 22 w 24"/>
                <a:gd name="T17" fmla="*/ 16 h 24"/>
                <a:gd name="T18" fmla="*/ 23 w 24"/>
                <a:gd name="T19" fmla="*/ 14 h 24"/>
                <a:gd name="T20" fmla="*/ 23 w 24"/>
                <a:gd name="T21" fmla="*/ 12 h 24"/>
                <a:gd name="T22" fmla="*/ 23 w 24"/>
                <a:gd name="T23" fmla="*/ 10 h 24"/>
                <a:gd name="T24" fmla="*/ 22 w 24"/>
                <a:gd name="T25" fmla="*/ 8 h 24"/>
                <a:gd name="T26" fmla="*/ 22 w 24"/>
                <a:gd name="T27" fmla="*/ 6 h 24"/>
                <a:gd name="T28" fmla="*/ 22 w 24"/>
                <a:gd name="T29" fmla="*/ 4 h 24"/>
                <a:gd name="T30" fmla="*/ 20 w 24"/>
                <a:gd name="T31" fmla="*/ 4 h 24"/>
                <a:gd name="T32" fmla="*/ 18 w 24"/>
                <a:gd name="T33" fmla="*/ 2 h 24"/>
                <a:gd name="T34" fmla="*/ 16 w 24"/>
                <a:gd name="T35" fmla="*/ 2 h 24"/>
                <a:gd name="T36" fmla="*/ 16 w 24"/>
                <a:gd name="T37" fmla="*/ 0 h 24"/>
                <a:gd name="T38" fmla="*/ 14 w 24"/>
                <a:gd name="T39" fmla="*/ 0 h 24"/>
                <a:gd name="T40" fmla="*/ 12 w 24"/>
                <a:gd name="T41" fmla="*/ 0 h 24"/>
                <a:gd name="T42" fmla="*/ 10 w 24"/>
                <a:gd name="T43" fmla="*/ 0 h 24"/>
                <a:gd name="T44" fmla="*/ 8 w 24"/>
                <a:gd name="T45" fmla="*/ 0 h 24"/>
                <a:gd name="T46" fmla="*/ 6 w 24"/>
                <a:gd name="T47" fmla="*/ 2 h 24"/>
                <a:gd name="T48" fmla="*/ 4 w 24"/>
                <a:gd name="T49" fmla="*/ 2 h 24"/>
                <a:gd name="T50" fmla="*/ 2 w 24"/>
                <a:gd name="T51" fmla="*/ 4 h 24"/>
                <a:gd name="T52" fmla="*/ 2 w 24"/>
                <a:gd name="T53" fmla="*/ 4 h 24"/>
                <a:gd name="T54" fmla="*/ 0 w 24"/>
                <a:gd name="T55" fmla="*/ 6 h 24"/>
                <a:gd name="T56" fmla="*/ 0 w 24"/>
                <a:gd name="T57" fmla="*/ 8 h 24"/>
                <a:gd name="T58" fmla="*/ 0 w 24"/>
                <a:gd name="T59" fmla="*/ 10 h 24"/>
                <a:gd name="T60" fmla="*/ 0 w 24"/>
                <a:gd name="T61" fmla="*/ 12 h 24"/>
                <a:gd name="T62" fmla="*/ 0 w 24"/>
                <a:gd name="T63" fmla="*/ 14 h 24"/>
                <a:gd name="T64" fmla="*/ 0 w 24"/>
                <a:gd name="T65" fmla="*/ 16 h 24"/>
                <a:gd name="T66" fmla="*/ 0 w 24"/>
                <a:gd name="T67" fmla="*/ 18 h 24"/>
                <a:gd name="T68" fmla="*/ 2 w 24"/>
                <a:gd name="T69" fmla="*/ 18 h 24"/>
                <a:gd name="T70" fmla="*/ 2 w 24"/>
                <a:gd name="T71" fmla="*/ 19 h 24"/>
                <a:gd name="T72" fmla="*/ 4 w 24"/>
                <a:gd name="T73" fmla="*/ 21 h 24"/>
                <a:gd name="T74" fmla="*/ 6 w 24"/>
                <a:gd name="T75" fmla="*/ 21 h 24"/>
                <a:gd name="T76" fmla="*/ 8 w 24"/>
                <a:gd name="T77" fmla="*/ 23 h 24"/>
                <a:gd name="T78" fmla="*/ 10 w 24"/>
                <a:gd name="T79" fmla="*/ 23 h 24"/>
                <a:gd name="T80" fmla="*/ 12 w 24"/>
                <a:gd name="T81" fmla="*/ 23 h 24"/>
                <a:gd name="T82" fmla="*/ 12 w 24"/>
                <a:gd name="T83" fmla="*/ 23 h 24"/>
                <a:gd name="T84" fmla="*/ 10 w 24"/>
                <a:gd name="T85" fmla="*/ 23 h 2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4"/>
                <a:gd name="T130" fmla="*/ 0 h 24"/>
                <a:gd name="T131" fmla="*/ 24 w 24"/>
                <a:gd name="T132" fmla="*/ 24 h 24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4" h="24">
                  <a:moveTo>
                    <a:pt x="10" y="23"/>
                  </a:moveTo>
                  <a:lnTo>
                    <a:pt x="14" y="23"/>
                  </a:lnTo>
                  <a:lnTo>
                    <a:pt x="16" y="23"/>
                  </a:lnTo>
                  <a:lnTo>
                    <a:pt x="16" y="21"/>
                  </a:lnTo>
                  <a:lnTo>
                    <a:pt x="18" y="21"/>
                  </a:lnTo>
                  <a:lnTo>
                    <a:pt x="20" y="19"/>
                  </a:lnTo>
                  <a:lnTo>
                    <a:pt x="22" y="18"/>
                  </a:lnTo>
                  <a:lnTo>
                    <a:pt x="22" y="16"/>
                  </a:lnTo>
                  <a:lnTo>
                    <a:pt x="23" y="14"/>
                  </a:lnTo>
                  <a:lnTo>
                    <a:pt x="23" y="12"/>
                  </a:lnTo>
                  <a:lnTo>
                    <a:pt x="23" y="10"/>
                  </a:lnTo>
                  <a:lnTo>
                    <a:pt x="22" y="8"/>
                  </a:lnTo>
                  <a:lnTo>
                    <a:pt x="22" y="6"/>
                  </a:lnTo>
                  <a:lnTo>
                    <a:pt x="22" y="4"/>
                  </a:lnTo>
                  <a:lnTo>
                    <a:pt x="20" y="4"/>
                  </a:lnTo>
                  <a:lnTo>
                    <a:pt x="18" y="2"/>
                  </a:lnTo>
                  <a:lnTo>
                    <a:pt x="16" y="2"/>
                  </a:lnTo>
                  <a:lnTo>
                    <a:pt x="16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8" y="0"/>
                  </a:lnTo>
                  <a:lnTo>
                    <a:pt x="6" y="2"/>
                  </a:lnTo>
                  <a:lnTo>
                    <a:pt x="4" y="2"/>
                  </a:lnTo>
                  <a:lnTo>
                    <a:pt x="2" y="4"/>
                  </a:lnTo>
                  <a:lnTo>
                    <a:pt x="0" y="6"/>
                  </a:lnTo>
                  <a:lnTo>
                    <a:pt x="0" y="8"/>
                  </a:lnTo>
                  <a:lnTo>
                    <a:pt x="0" y="10"/>
                  </a:lnTo>
                  <a:lnTo>
                    <a:pt x="0" y="12"/>
                  </a:lnTo>
                  <a:lnTo>
                    <a:pt x="0" y="14"/>
                  </a:lnTo>
                  <a:lnTo>
                    <a:pt x="0" y="16"/>
                  </a:lnTo>
                  <a:lnTo>
                    <a:pt x="0" y="18"/>
                  </a:lnTo>
                  <a:lnTo>
                    <a:pt x="2" y="18"/>
                  </a:lnTo>
                  <a:lnTo>
                    <a:pt x="2" y="19"/>
                  </a:lnTo>
                  <a:lnTo>
                    <a:pt x="4" y="21"/>
                  </a:lnTo>
                  <a:lnTo>
                    <a:pt x="6" y="21"/>
                  </a:lnTo>
                  <a:lnTo>
                    <a:pt x="8" y="23"/>
                  </a:lnTo>
                  <a:lnTo>
                    <a:pt x="10" y="23"/>
                  </a:lnTo>
                  <a:lnTo>
                    <a:pt x="12" y="23"/>
                  </a:lnTo>
                  <a:lnTo>
                    <a:pt x="10" y="23"/>
                  </a:lnTo>
                </a:path>
              </a:pathLst>
            </a:custGeom>
            <a:solidFill>
              <a:srgbClr val="000000"/>
            </a:solidFill>
            <a:ln w="9525" cap="rnd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09" name="Line 25"/>
            <p:cNvSpPr>
              <a:spLocks noChangeShapeType="1"/>
            </p:cNvSpPr>
            <p:nvPr/>
          </p:nvSpPr>
          <p:spPr bwMode="auto">
            <a:xfrm>
              <a:off x="1449" y="2687"/>
              <a:ext cx="198" cy="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10" name="Line 26"/>
            <p:cNvSpPr>
              <a:spLocks noChangeShapeType="1"/>
            </p:cNvSpPr>
            <p:nvPr/>
          </p:nvSpPr>
          <p:spPr bwMode="auto">
            <a:xfrm flipV="1">
              <a:off x="1657" y="3441"/>
              <a:ext cx="776" cy="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11" name="Line 27"/>
            <p:cNvSpPr>
              <a:spLocks noChangeShapeType="1"/>
            </p:cNvSpPr>
            <p:nvPr/>
          </p:nvSpPr>
          <p:spPr bwMode="auto">
            <a:xfrm flipH="1">
              <a:off x="1447" y="2024"/>
              <a:ext cx="986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12" name="Freeform 28"/>
            <p:cNvSpPr>
              <a:spLocks/>
            </p:cNvSpPr>
            <p:nvPr/>
          </p:nvSpPr>
          <p:spPr bwMode="auto">
            <a:xfrm>
              <a:off x="4704" y="1917"/>
              <a:ext cx="93" cy="1777"/>
            </a:xfrm>
            <a:custGeom>
              <a:avLst/>
              <a:gdLst>
                <a:gd name="T0" fmla="*/ 92 w 93"/>
                <a:gd name="T1" fmla="*/ 1776 h 1777"/>
                <a:gd name="T2" fmla="*/ 92 w 93"/>
                <a:gd name="T3" fmla="*/ 0 h 1777"/>
                <a:gd name="T4" fmla="*/ 0 w 93"/>
                <a:gd name="T5" fmla="*/ 0 h 1777"/>
                <a:gd name="T6" fmla="*/ 0 w 93"/>
                <a:gd name="T7" fmla="*/ 1776 h 1777"/>
                <a:gd name="T8" fmla="*/ 92 w 93"/>
                <a:gd name="T9" fmla="*/ 1776 h 1777"/>
                <a:gd name="T10" fmla="*/ 92 w 93"/>
                <a:gd name="T11" fmla="*/ 1776 h 177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3"/>
                <a:gd name="T19" fmla="*/ 0 h 1777"/>
                <a:gd name="T20" fmla="*/ 93 w 93"/>
                <a:gd name="T21" fmla="*/ 1777 h 177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3" h="1777">
                  <a:moveTo>
                    <a:pt x="92" y="1776"/>
                  </a:moveTo>
                  <a:lnTo>
                    <a:pt x="92" y="0"/>
                  </a:lnTo>
                  <a:lnTo>
                    <a:pt x="0" y="0"/>
                  </a:lnTo>
                  <a:lnTo>
                    <a:pt x="0" y="1776"/>
                  </a:lnTo>
                  <a:lnTo>
                    <a:pt x="92" y="1776"/>
                  </a:lnTo>
                </a:path>
              </a:pathLst>
            </a:custGeom>
            <a:solidFill>
              <a:srgbClr val="CCECFF"/>
            </a:solidFill>
            <a:ln w="190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13" name="Freeform 29"/>
            <p:cNvSpPr>
              <a:spLocks/>
            </p:cNvSpPr>
            <p:nvPr/>
          </p:nvSpPr>
          <p:spPr bwMode="auto">
            <a:xfrm>
              <a:off x="2436" y="1917"/>
              <a:ext cx="93" cy="1777"/>
            </a:xfrm>
            <a:custGeom>
              <a:avLst/>
              <a:gdLst>
                <a:gd name="T0" fmla="*/ 92 w 93"/>
                <a:gd name="T1" fmla="*/ 1776 h 1777"/>
                <a:gd name="T2" fmla="*/ 92 w 93"/>
                <a:gd name="T3" fmla="*/ 0 h 1777"/>
                <a:gd name="T4" fmla="*/ 0 w 93"/>
                <a:gd name="T5" fmla="*/ 0 h 1777"/>
                <a:gd name="T6" fmla="*/ 0 w 93"/>
                <a:gd name="T7" fmla="*/ 1776 h 1777"/>
                <a:gd name="T8" fmla="*/ 92 w 93"/>
                <a:gd name="T9" fmla="*/ 1776 h 1777"/>
                <a:gd name="T10" fmla="*/ 92 w 93"/>
                <a:gd name="T11" fmla="*/ 1776 h 177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3"/>
                <a:gd name="T19" fmla="*/ 0 h 1777"/>
                <a:gd name="T20" fmla="*/ 93 w 93"/>
                <a:gd name="T21" fmla="*/ 1777 h 177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3" h="1777">
                  <a:moveTo>
                    <a:pt x="92" y="1776"/>
                  </a:moveTo>
                  <a:lnTo>
                    <a:pt x="92" y="0"/>
                  </a:lnTo>
                  <a:lnTo>
                    <a:pt x="0" y="0"/>
                  </a:lnTo>
                  <a:lnTo>
                    <a:pt x="0" y="1776"/>
                  </a:lnTo>
                  <a:lnTo>
                    <a:pt x="92" y="1776"/>
                  </a:lnTo>
                </a:path>
              </a:pathLst>
            </a:custGeom>
            <a:solidFill>
              <a:srgbClr val="CCECFF"/>
            </a:solidFill>
            <a:ln w="190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14" name="Line 30"/>
            <p:cNvSpPr>
              <a:spLocks noChangeShapeType="1"/>
            </p:cNvSpPr>
            <p:nvPr/>
          </p:nvSpPr>
          <p:spPr bwMode="auto">
            <a:xfrm flipV="1">
              <a:off x="2826" y="3695"/>
              <a:ext cx="0" cy="50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15" name="Line 31"/>
            <p:cNvSpPr>
              <a:spLocks noChangeShapeType="1"/>
            </p:cNvSpPr>
            <p:nvPr/>
          </p:nvSpPr>
          <p:spPr bwMode="auto">
            <a:xfrm>
              <a:off x="2855" y="2626"/>
              <a:ext cx="2" cy="54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16" name="Line 32"/>
            <p:cNvSpPr>
              <a:spLocks noChangeShapeType="1"/>
            </p:cNvSpPr>
            <p:nvPr/>
          </p:nvSpPr>
          <p:spPr bwMode="auto">
            <a:xfrm flipV="1">
              <a:off x="3006" y="3406"/>
              <a:ext cx="0" cy="52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17" name="Line 33"/>
            <p:cNvSpPr>
              <a:spLocks noChangeShapeType="1"/>
            </p:cNvSpPr>
            <p:nvPr/>
          </p:nvSpPr>
          <p:spPr bwMode="auto">
            <a:xfrm flipV="1">
              <a:off x="3364" y="2633"/>
              <a:ext cx="215" cy="2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18" name="Freeform 34"/>
            <p:cNvSpPr>
              <a:spLocks/>
            </p:cNvSpPr>
            <p:nvPr/>
          </p:nvSpPr>
          <p:spPr bwMode="auto">
            <a:xfrm>
              <a:off x="2877" y="3055"/>
              <a:ext cx="245" cy="345"/>
            </a:xfrm>
            <a:custGeom>
              <a:avLst/>
              <a:gdLst>
                <a:gd name="T0" fmla="*/ 123 w 174"/>
                <a:gd name="T1" fmla="*/ 344 h 367"/>
                <a:gd name="T2" fmla="*/ 144 w 174"/>
                <a:gd name="T3" fmla="*/ 342 h 367"/>
                <a:gd name="T4" fmla="*/ 162 w 174"/>
                <a:gd name="T5" fmla="*/ 336 h 367"/>
                <a:gd name="T6" fmla="*/ 179 w 174"/>
                <a:gd name="T7" fmla="*/ 324 h 367"/>
                <a:gd name="T8" fmla="*/ 194 w 174"/>
                <a:gd name="T9" fmla="*/ 312 h 367"/>
                <a:gd name="T10" fmla="*/ 208 w 174"/>
                <a:gd name="T11" fmla="*/ 294 h 367"/>
                <a:gd name="T12" fmla="*/ 221 w 174"/>
                <a:gd name="T13" fmla="*/ 274 h 367"/>
                <a:gd name="T14" fmla="*/ 230 w 174"/>
                <a:gd name="T15" fmla="*/ 251 h 367"/>
                <a:gd name="T16" fmla="*/ 238 w 174"/>
                <a:gd name="T17" fmla="*/ 227 h 367"/>
                <a:gd name="T18" fmla="*/ 244 w 174"/>
                <a:gd name="T19" fmla="*/ 200 h 367"/>
                <a:gd name="T20" fmla="*/ 244 w 174"/>
                <a:gd name="T21" fmla="*/ 171 h 367"/>
                <a:gd name="T22" fmla="*/ 244 w 174"/>
                <a:gd name="T23" fmla="*/ 145 h 367"/>
                <a:gd name="T24" fmla="*/ 238 w 174"/>
                <a:gd name="T25" fmla="*/ 118 h 367"/>
                <a:gd name="T26" fmla="*/ 230 w 174"/>
                <a:gd name="T27" fmla="*/ 92 h 367"/>
                <a:gd name="T28" fmla="*/ 221 w 174"/>
                <a:gd name="T29" fmla="*/ 71 h 367"/>
                <a:gd name="T30" fmla="*/ 208 w 174"/>
                <a:gd name="T31" fmla="*/ 51 h 367"/>
                <a:gd name="T32" fmla="*/ 194 w 174"/>
                <a:gd name="T33" fmla="*/ 33 h 367"/>
                <a:gd name="T34" fmla="*/ 179 w 174"/>
                <a:gd name="T35" fmla="*/ 19 h 367"/>
                <a:gd name="T36" fmla="*/ 162 w 174"/>
                <a:gd name="T37" fmla="*/ 8 h 367"/>
                <a:gd name="T38" fmla="*/ 144 w 174"/>
                <a:gd name="T39" fmla="*/ 2 h 367"/>
                <a:gd name="T40" fmla="*/ 123 w 174"/>
                <a:gd name="T41" fmla="*/ 0 h 367"/>
                <a:gd name="T42" fmla="*/ 103 w 174"/>
                <a:gd name="T43" fmla="*/ 2 h 367"/>
                <a:gd name="T44" fmla="*/ 84 w 174"/>
                <a:gd name="T45" fmla="*/ 8 h 367"/>
                <a:gd name="T46" fmla="*/ 68 w 174"/>
                <a:gd name="T47" fmla="*/ 19 h 367"/>
                <a:gd name="T48" fmla="*/ 52 w 174"/>
                <a:gd name="T49" fmla="*/ 33 h 367"/>
                <a:gd name="T50" fmla="*/ 38 w 174"/>
                <a:gd name="T51" fmla="*/ 51 h 367"/>
                <a:gd name="T52" fmla="*/ 24 w 174"/>
                <a:gd name="T53" fmla="*/ 71 h 367"/>
                <a:gd name="T54" fmla="*/ 14 w 174"/>
                <a:gd name="T55" fmla="*/ 92 h 367"/>
                <a:gd name="T56" fmla="*/ 8 w 174"/>
                <a:gd name="T57" fmla="*/ 118 h 367"/>
                <a:gd name="T58" fmla="*/ 3 w 174"/>
                <a:gd name="T59" fmla="*/ 145 h 367"/>
                <a:gd name="T60" fmla="*/ 0 w 174"/>
                <a:gd name="T61" fmla="*/ 171 h 367"/>
                <a:gd name="T62" fmla="*/ 3 w 174"/>
                <a:gd name="T63" fmla="*/ 200 h 367"/>
                <a:gd name="T64" fmla="*/ 8 w 174"/>
                <a:gd name="T65" fmla="*/ 227 h 367"/>
                <a:gd name="T66" fmla="*/ 14 w 174"/>
                <a:gd name="T67" fmla="*/ 251 h 367"/>
                <a:gd name="T68" fmla="*/ 24 w 174"/>
                <a:gd name="T69" fmla="*/ 274 h 367"/>
                <a:gd name="T70" fmla="*/ 38 w 174"/>
                <a:gd name="T71" fmla="*/ 294 h 367"/>
                <a:gd name="T72" fmla="*/ 52 w 174"/>
                <a:gd name="T73" fmla="*/ 312 h 367"/>
                <a:gd name="T74" fmla="*/ 68 w 174"/>
                <a:gd name="T75" fmla="*/ 324 h 367"/>
                <a:gd name="T76" fmla="*/ 84 w 174"/>
                <a:gd name="T77" fmla="*/ 336 h 367"/>
                <a:gd name="T78" fmla="*/ 103 w 174"/>
                <a:gd name="T79" fmla="*/ 342 h 367"/>
                <a:gd name="T80" fmla="*/ 123 w 174"/>
                <a:gd name="T81" fmla="*/ 344 h 367"/>
                <a:gd name="T82" fmla="*/ 123 w 174"/>
                <a:gd name="T83" fmla="*/ 344 h 367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174"/>
                <a:gd name="T127" fmla="*/ 0 h 367"/>
                <a:gd name="T128" fmla="*/ 174 w 174"/>
                <a:gd name="T129" fmla="*/ 367 h 367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174" h="367">
                  <a:moveTo>
                    <a:pt x="87" y="366"/>
                  </a:moveTo>
                  <a:lnTo>
                    <a:pt x="102" y="364"/>
                  </a:lnTo>
                  <a:lnTo>
                    <a:pt x="115" y="357"/>
                  </a:lnTo>
                  <a:lnTo>
                    <a:pt x="127" y="345"/>
                  </a:lnTo>
                  <a:lnTo>
                    <a:pt x="138" y="332"/>
                  </a:lnTo>
                  <a:lnTo>
                    <a:pt x="148" y="313"/>
                  </a:lnTo>
                  <a:lnTo>
                    <a:pt x="157" y="292"/>
                  </a:lnTo>
                  <a:lnTo>
                    <a:pt x="163" y="267"/>
                  </a:lnTo>
                  <a:lnTo>
                    <a:pt x="169" y="242"/>
                  </a:lnTo>
                  <a:lnTo>
                    <a:pt x="173" y="213"/>
                  </a:lnTo>
                  <a:lnTo>
                    <a:pt x="173" y="182"/>
                  </a:lnTo>
                  <a:lnTo>
                    <a:pt x="173" y="154"/>
                  </a:lnTo>
                  <a:lnTo>
                    <a:pt x="169" y="125"/>
                  </a:lnTo>
                  <a:lnTo>
                    <a:pt x="163" y="98"/>
                  </a:lnTo>
                  <a:lnTo>
                    <a:pt x="157" y="75"/>
                  </a:lnTo>
                  <a:lnTo>
                    <a:pt x="148" y="54"/>
                  </a:lnTo>
                  <a:lnTo>
                    <a:pt x="138" y="35"/>
                  </a:lnTo>
                  <a:lnTo>
                    <a:pt x="127" y="20"/>
                  </a:lnTo>
                  <a:lnTo>
                    <a:pt x="115" y="8"/>
                  </a:lnTo>
                  <a:lnTo>
                    <a:pt x="102" y="2"/>
                  </a:lnTo>
                  <a:lnTo>
                    <a:pt x="87" y="0"/>
                  </a:lnTo>
                  <a:lnTo>
                    <a:pt x="73" y="2"/>
                  </a:lnTo>
                  <a:lnTo>
                    <a:pt x="60" y="8"/>
                  </a:lnTo>
                  <a:lnTo>
                    <a:pt x="48" y="20"/>
                  </a:lnTo>
                  <a:lnTo>
                    <a:pt x="37" y="35"/>
                  </a:lnTo>
                  <a:lnTo>
                    <a:pt x="27" y="54"/>
                  </a:lnTo>
                  <a:lnTo>
                    <a:pt x="17" y="75"/>
                  </a:lnTo>
                  <a:lnTo>
                    <a:pt x="10" y="98"/>
                  </a:lnTo>
                  <a:lnTo>
                    <a:pt x="6" y="125"/>
                  </a:lnTo>
                  <a:lnTo>
                    <a:pt x="2" y="154"/>
                  </a:lnTo>
                  <a:lnTo>
                    <a:pt x="0" y="182"/>
                  </a:lnTo>
                  <a:lnTo>
                    <a:pt x="2" y="213"/>
                  </a:lnTo>
                  <a:lnTo>
                    <a:pt x="6" y="242"/>
                  </a:lnTo>
                  <a:lnTo>
                    <a:pt x="10" y="267"/>
                  </a:lnTo>
                  <a:lnTo>
                    <a:pt x="17" y="292"/>
                  </a:lnTo>
                  <a:lnTo>
                    <a:pt x="27" y="313"/>
                  </a:lnTo>
                  <a:lnTo>
                    <a:pt x="37" y="332"/>
                  </a:lnTo>
                  <a:lnTo>
                    <a:pt x="48" y="345"/>
                  </a:lnTo>
                  <a:lnTo>
                    <a:pt x="60" y="357"/>
                  </a:lnTo>
                  <a:lnTo>
                    <a:pt x="73" y="364"/>
                  </a:lnTo>
                  <a:lnTo>
                    <a:pt x="87" y="366"/>
                  </a:lnTo>
                </a:path>
              </a:pathLst>
            </a:custGeom>
            <a:noFill/>
            <a:ln w="19050" cap="rnd" cmpd="sng">
              <a:solidFill>
                <a:srgbClr val="EB75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19" name="Line 35"/>
            <p:cNvSpPr>
              <a:spLocks noChangeShapeType="1"/>
            </p:cNvSpPr>
            <p:nvPr/>
          </p:nvSpPr>
          <p:spPr bwMode="auto">
            <a:xfrm>
              <a:off x="2530" y="3225"/>
              <a:ext cx="349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21" name="Line 37"/>
            <p:cNvSpPr>
              <a:spLocks noChangeShapeType="1"/>
            </p:cNvSpPr>
            <p:nvPr/>
          </p:nvSpPr>
          <p:spPr bwMode="auto">
            <a:xfrm flipH="1" flipV="1">
              <a:off x="2530" y="2018"/>
              <a:ext cx="364" cy="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22" name="Freeform 38"/>
            <p:cNvSpPr>
              <a:spLocks/>
            </p:cNvSpPr>
            <p:nvPr/>
          </p:nvSpPr>
          <p:spPr bwMode="auto">
            <a:xfrm>
              <a:off x="2681" y="2710"/>
              <a:ext cx="26" cy="24"/>
            </a:xfrm>
            <a:custGeom>
              <a:avLst/>
              <a:gdLst>
                <a:gd name="T0" fmla="*/ 11 w 26"/>
                <a:gd name="T1" fmla="*/ 23 h 24"/>
                <a:gd name="T2" fmla="*/ 13 w 26"/>
                <a:gd name="T3" fmla="*/ 23 h 24"/>
                <a:gd name="T4" fmla="*/ 15 w 26"/>
                <a:gd name="T5" fmla="*/ 23 h 24"/>
                <a:gd name="T6" fmla="*/ 17 w 26"/>
                <a:gd name="T7" fmla="*/ 23 h 24"/>
                <a:gd name="T8" fmla="*/ 19 w 26"/>
                <a:gd name="T9" fmla="*/ 21 h 24"/>
                <a:gd name="T10" fmla="*/ 21 w 26"/>
                <a:gd name="T11" fmla="*/ 21 h 24"/>
                <a:gd name="T12" fmla="*/ 21 w 26"/>
                <a:gd name="T13" fmla="*/ 19 h 24"/>
                <a:gd name="T14" fmla="*/ 23 w 26"/>
                <a:gd name="T15" fmla="*/ 17 h 24"/>
                <a:gd name="T16" fmla="*/ 23 w 26"/>
                <a:gd name="T17" fmla="*/ 15 h 24"/>
                <a:gd name="T18" fmla="*/ 23 w 26"/>
                <a:gd name="T19" fmla="*/ 14 h 24"/>
                <a:gd name="T20" fmla="*/ 25 w 26"/>
                <a:gd name="T21" fmla="*/ 12 h 24"/>
                <a:gd name="T22" fmla="*/ 23 w 26"/>
                <a:gd name="T23" fmla="*/ 10 h 24"/>
                <a:gd name="T24" fmla="*/ 23 w 26"/>
                <a:gd name="T25" fmla="*/ 10 h 24"/>
                <a:gd name="T26" fmla="*/ 23 w 26"/>
                <a:gd name="T27" fmla="*/ 8 h 24"/>
                <a:gd name="T28" fmla="*/ 21 w 26"/>
                <a:gd name="T29" fmla="*/ 6 h 24"/>
                <a:gd name="T30" fmla="*/ 21 w 26"/>
                <a:gd name="T31" fmla="*/ 4 h 24"/>
                <a:gd name="T32" fmla="*/ 19 w 26"/>
                <a:gd name="T33" fmla="*/ 4 h 24"/>
                <a:gd name="T34" fmla="*/ 17 w 26"/>
                <a:gd name="T35" fmla="*/ 2 h 24"/>
                <a:gd name="T36" fmla="*/ 15 w 26"/>
                <a:gd name="T37" fmla="*/ 2 h 24"/>
                <a:gd name="T38" fmla="*/ 13 w 26"/>
                <a:gd name="T39" fmla="*/ 2 h 24"/>
                <a:gd name="T40" fmla="*/ 11 w 26"/>
                <a:gd name="T41" fmla="*/ 0 h 24"/>
                <a:gd name="T42" fmla="*/ 11 w 26"/>
                <a:gd name="T43" fmla="*/ 2 h 24"/>
                <a:gd name="T44" fmla="*/ 9 w 26"/>
                <a:gd name="T45" fmla="*/ 2 h 24"/>
                <a:gd name="T46" fmla="*/ 8 w 26"/>
                <a:gd name="T47" fmla="*/ 2 h 24"/>
                <a:gd name="T48" fmla="*/ 6 w 26"/>
                <a:gd name="T49" fmla="*/ 4 h 24"/>
                <a:gd name="T50" fmla="*/ 4 w 26"/>
                <a:gd name="T51" fmla="*/ 4 h 24"/>
                <a:gd name="T52" fmla="*/ 4 w 26"/>
                <a:gd name="T53" fmla="*/ 6 h 24"/>
                <a:gd name="T54" fmla="*/ 2 w 26"/>
                <a:gd name="T55" fmla="*/ 8 h 24"/>
                <a:gd name="T56" fmla="*/ 2 w 26"/>
                <a:gd name="T57" fmla="*/ 10 h 24"/>
                <a:gd name="T58" fmla="*/ 2 w 26"/>
                <a:gd name="T59" fmla="*/ 10 h 24"/>
                <a:gd name="T60" fmla="*/ 0 w 26"/>
                <a:gd name="T61" fmla="*/ 12 h 24"/>
                <a:gd name="T62" fmla="*/ 2 w 26"/>
                <a:gd name="T63" fmla="*/ 14 h 24"/>
                <a:gd name="T64" fmla="*/ 2 w 26"/>
                <a:gd name="T65" fmla="*/ 15 h 24"/>
                <a:gd name="T66" fmla="*/ 2 w 26"/>
                <a:gd name="T67" fmla="*/ 17 h 24"/>
                <a:gd name="T68" fmla="*/ 4 w 26"/>
                <a:gd name="T69" fmla="*/ 19 h 24"/>
                <a:gd name="T70" fmla="*/ 4 w 26"/>
                <a:gd name="T71" fmla="*/ 21 h 24"/>
                <a:gd name="T72" fmla="*/ 6 w 26"/>
                <a:gd name="T73" fmla="*/ 21 h 24"/>
                <a:gd name="T74" fmla="*/ 8 w 26"/>
                <a:gd name="T75" fmla="*/ 23 h 24"/>
                <a:gd name="T76" fmla="*/ 9 w 26"/>
                <a:gd name="T77" fmla="*/ 23 h 24"/>
                <a:gd name="T78" fmla="*/ 11 w 26"/>
                <a:gd name="T79" fmla="*/ 23 h 24"/>
                <a:gd name="T80" fmla="*/ 11 w 26"/>
                <a:gd name="T81" fmla="*/ 23 h 24"/>
                <a:gd name="T82" fmla="*/ 11 w 26"/>
                <a:gd name="T83" fmla="*/ 23 h 24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26"/>
                <a:gd name="T127" fmla="*/ 0 h 24"/>
                <a:gd name="T128" fmla="*/ 26 w 26"/>
                <a:gd name="T129" fmla="*/ 24 h 24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26" h="24">
                  <a:moveTo>
                    <a:pt x="11" y="23"/>
                  </a:moveTo>
                  <a:lnTo>
                    <a:pt x="13" y="23"/>
                  </a:lnTo>
                  <a:lnTo>
                    <a:pt x="15" y="23"/>
                  </a:lnTo>
                  <a:lnTo>
                    <a:pt x="17" y="23"/>
                  </a:lnTo>
                  <a:lnTo>
                    <a:pt x="19" y="21"/>
                  </a:lnTo>
                  <a:lnTo>
                    <a:pt x="21" y="21"/>
                  </a:lnTo>
                  <a:lnTo>
                    <a:pt x="21" y="19"/>
                  </a:lnTo>
                  <a:lnTo>
                    <a:pt x="23" y="17"/>
                  </a:lnTo>
                  <a:lnTo>
                    <a:pt x="23" y="15"/>
                  </a:lnTo>
                  <a:lnTo>
                    <a:pt x="23" y="14"/>
                  </a:lnTo>
                  <a:lnTo>
                    <a:pt x="25" y="12"/>
                  </a:lnTo>
                  <a:lnTo>
                    <a:pt x="23" y="10"/>
                  </a:lnTo>
                  <a:lnTo>
                    <a:pt x="23" y="8"/>
                  </a:lnTo>
                  <a:lnTo>
                    <a:pt x="21" y="6"/>
                  </a:lnTo>
                  <a:lnTo>
                    <a:pt x="21" y="4"/>
                  </a:lnTo>
                  <a:lnTo>
                    <a:pt x="19" y="4"/>
                  </a:lnTo>
                  <a:lnTo>
                    <a:pt x="17" y="2"/>
                  </a:lnTo>
                  <a:lnTo>
                    <a:pt x="15" y="2"/>
                  </a:lnTo>
                  <a:lnTo>
                    <a:pt x="13" y="2"/>
                  </a:lnTo>
                  <a:lnTo>
                    <a:pt x="11" y="0"/>
                  </a:lnTo>
                  <a:lnTo>
                    <a:pt x="11" y="2"/>
                  </a:lnTo>
                  <a:lnTo>
                    <a:pt x="9" y="2"/>
                  </a:lnTo>
                  <a:lnTo>
                    <a:pt x="8" y="2"/>
                  </a:lnTo>
                  <a:lnTo>
                    <a:pt x="6" y="4"/>
                  </a:lnTo>
                  <a:lnTo>
                    <a:pt x="4" y="4"/>
                  </a:lnTo>
                  <a:lnTo>
                    <a:pt x="4" y="6"/>
                  </a:lnTo>
                  <a:lnTo>
                    <a:pt x="2" y="8"/>
                  </a:lnTo>
                  <a:lnTo>
                    <a:pt x="2" y="10"/>
                  </a:lnTo>
                  <a:lnTo>
                    <a:pt x="0" y="12"/>
                  </a:lnTo>
                  <a:lnTo>
                    <a:pt x="2" y="14"/>
                  </a:lnTo>
                  <a:lnTo>
                    <a:pt x="2" y="15"/>
                  </a:lnTo>
                  <a:lnTo>
                    <a:pt x="2" y="17"/>
                  </a:lnTo>
                  <a:lnTo>
                    <a:pt x="4" y="19"/>
                  </a:lnTo>
                  <a:lnTo>
                    <a:pt x="4" y="21"/>
                  </a:lnTo>
                  <a:lnTo>
                    <a:pt x="6" y="21"/>
                  </a:lnTo>
                  <a:lnTo>
                    <a:pt x="8" y="23"/>
                  </a:lnTo>
                  <a:lnTo>
                    <a:pt x="9" y="23"/>
                  </a:lnTo>
                  <a:lnTo>
                    <a:pt x="11" y="23"/>
                  </a:lnTo>
                </a:path>
              </a:pathLst>
            </a:custGeom>
            <a:solidFill>
              <a:srgbClr val="000000"/>
            </a:solidFill>
            <a:ln w="9525" cap="rnd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23" name="Line 39"/>
            <p:cNvSpPr>
              <a:spLocks noChangeShapeType="1"/>
            </p:cNvSpPr>
            <p:nvPr/>
          </p:nvSpPr>
          <p:spPr bwMode="auto">
            <a:xfrm>
              <a:off x="2744" y="2413"/>
              <a:ext cx="2" cy="81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24" name="Freeform 40"/>
            <p:cNvSpPr>
              <a:spLocks/>
            </p:cNvSpPr>
            <p:nvPr/>
          </p:nvSpPr>
          <p:spPr bwMode="auto">
            <a:xfrm>
              <a:off x="2735" y="2917"/>
              <a:ext cx="24" cy="24"/>
            </a:xfrm>
            <a:custGeom>
              <a:avLst/>
              <a:gdLst>
                <a:gd name="T0" fmla="*/ 9 w 24"/>
                <a:gd name="T1" fmla="*/ 23 h 24"/>
                <a:gd name="T2" fmla="*/ 13 w 24"/>
                <a:gd name="T3" fmla="*/ 23 h 24"/>
                <a:gd name="T4" fmla="*/ 15 w 24"/>
                <a:gd name="T5" fmla="*/ 23 h 24"/>
                <a:gd name="T6" fmla="*/ 15 w 24"/>
                <a:gd name="T7" fmla="*/ 21 h 24"/>
                <a:gd name="T8" fmla="*/ 17 w 24"/>
                <a:gd name="T9" fmla="*/ 21 h 24"/>
                <a:gd name="T10" fmla="*/ 19 w 24"/>
                <a:gd name="T11" fmla="*/ 19 h 24"/>
                <a:gd name="T12" fmla="*/ 21 w 24"/>
                <a:gd name="T13" fmla="*/ 19 h 24"/>
                <a:gd name="T14" fmla="*/ 21 w 24"/>
                <a:gd name="T15" fmla="*/ 17 h 24"/>
                <a:gd name="T16" fmla="*/ 21 w 24"/>
                <a:gd name="T17" fmla="*/ 15 h 24"/>
                <a:gd name="T18" fmla="*/ 23 w 24"/>
                <a:gd name="T19" fmla="*/ 13 h 24"/>
                <a:gd name="T20" fmla="*/ 23 w 24"/>
                <a:gd name="T21" fmla="*/ 12 h 24"/>
                <a:gd name="T22" fmla="*/ 23 w 24"/>
                <a:gd name="T23" fmla="*/ 10 h 24"/>
                <a:gd name="T24" fmla="*/ 21 w 24"/>
                <a:gd name="T25" fmla="*/ 8 h 24"/>
                <a:gd name="T26" fmla="*/ 21 w 24"/>
                <a:gd name="T27" fmla="*/ 6 h 24"/>
                <a:gd name="T28" fmla="*/ 21 w 24"/>
                <a:gd name="T29" fmla="*/ 6 h 24"/>
                <a:gd name="T30" fmla="*/ 19 w 24"/>
                <a:gd name="T31" fmla="*/ 4 h 24"/>
                <a:gd name="T32" fmla="*/ 17 w 24"/>
                <a:gd name="T33" fmla="*/ 2 h 24"/>
                <a:gd name="T34" fmla="*/ 15 w 24"/>
                <a:gd name="T35" fmla="*/ 2 h 24"/>
                <a:gd name="T36" fmla="*/ 15 w 24"/>
                <a:gd name="T37" fmla="*/ 0 h 24"/>
                <a:gd name="T38" fmla="*/ 13 w 24"/>
                <a:gd name="T39" fmla="*/ 0 h 24"/>
                <a:gd name="T40" fmla="*/ 11 w 24"/>
                <a:gd name="T41" fmla="*/ 0 h 24"/>
                <a:gd name="T42" fmla="*/ 9 w 24"/>
                <a:gd name="T43" fmla="*/ 0 h 24"/>
                <a:gd name="T44" fmla="*/ 7 w 24"/>
                <a:gd name="T45" fmla="*/ 0 h 24"/>
                <a:gd name="T46" fmla="*/ 5 w 24"/>
                <a:gd name="T47" fmla="*/ 2 h 24"/>
                <a:gd name="T48" fmla="*/ 3 w 24"/>
                <a:gd name="T49" fmla="*/ 2 h 24"/>
                <a:gd name="T50" fmla="*/ 2 w 24"/>
                <a:gd name="T51" fmla="*/ 4 h 24"/>
                <a:gd name="T52" fmla="*/ 2 w 24"/>
                <a:gd name="T53" fmla="*/ 6 h 24"/>
                <a:gd name="T54" fmla="*/ 0 w 24"/>
                <a:gd name="T55" fmla="*/ 6 h 24"/>
                <a:gd name="T56" fmla="*/ 0 w 24"/>
                <a:gd name="T57" fmla="*/ 8 h 24"/>
                <a:gd name="T58" fmla="*/ 0 w 24"/>
                <a:gd name="T59" fmla="*/ 10 h 24"/>
                <a:gd name="T60" fmla="*/ 0 w 24"/>
                <a:gd name="T61" fmla="*/ 12 h 24"/>
                <a:gd name="T62" fmla="*/ 0 w 24"/>
                <a:gd name="T63" fmla="*/ 13 h 24"/>
                <a:gd name="T64" fmla="*/ 0 w 24"/>
                <a:gd name="T65" fmla="*/ 15 h 24"/>
                <a:gd name="T66" fmla="*/ 0 w 24"/>
                <a:gd name="T67" fmla="*/ 17 h 24"/>
                <a:gd name="T68" fmla="*/ 2 w 24"/>
                <a:gd name="T69" fmla="*/ 19 h 24"/>
                <a:gd name="T70" fmla="*/ 2 w 24"/>
                <a:gd name="T71" fmla="*/ 19 h 24"/>
                <a:gd name="T72" fmla="*/ 3 w 24"/>
                <a:gd name="T73" fmla="*/ 21 h 24"/>
                <a:gd name="T74" fmla="*/ 5 w 24"/>
                <a:gd name="T75" fmla="*/ 21 h 24"/>
                <a:gd name="T76" fmla="*/ 7 w 24"/>
                <a:gd name="T77" fmla="*/ 23 h 24"/>
                <a:gd name="T78" fmla="*/ 9 w 24"/>
                <a:gd name="T79" fmla="*/ 23 h 24"/>
                <a:gd name="T80" fmla="*/ 11 w 24"/>
                <a:gd name="T81" fmla="*/ 23 h 24"/>
                <a:gd name="T82" fmla="*/ 11 w 24"/>
                <a:gd name="T83" fmla="*/ 23 h 24"/>
                <a:gd name="T84" fmla="*/ 9 w 24"/>
                <a:gd name="T85" fmla="*/ 23 h 2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4"/>
                <a:gd name="T130" fmla="*/ 0 h 24"/>
                <a:gd name="T131" fmla="*/ 24 w 24"/>
                <a:gd name="T132" fmla="*/ 24 h 24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4" h="24">
                  <a:moveTo>
                    <a:pt x="9" y="23"/>
                  </a:moveTo>
                  <a:lnTo>
                    <a:pt x="13" y="23"/>
                  </a:lnTo>
                  <a:lnTo>
                    <a:pt x="15" y="23"/>
                  </a:lnTo>
                  <a:lnTo>
                    <a:pt x="15" y="21"/>
                  </a:lnTo>
                  <a:lnTo>
                    <a:pt x="17" y="21"/>
                  </a:lnTo>
                  <a:lnTo>
                    <a:pt x="19" y="19"/>
                  </a:lnTo>
                  <a:lnTo>
                    <a:pt x="21" y="19"/>
                  </a:lnTo>
                  <a:lnTo>
                    <a:pt x="21" y="17"/>
                  </a:lnTo>
                  <a:lnTo>
                    <a:pt x="21" y="15"/>
                  </a:lnTo>
                  <a:lnTo>
                    <a:pt x="23" y="13"/>
                  </a:lnTo>
                  <a:lnTo>
                    <a:pt x="23" y="12"/>
                  </a:lnTo>
                  <a:lnTo>
                    <a:pt x="23" y="10"/>
                  </a:lnTo>
                  <a:lnTo>
                    <a:pt x="21" y="8"/>
                  </a:lnTo>
                  <a:lnTo>
                    <a:pt x="21" y="6"/>
                  </a:lnTo>
                  <a:lnTo>
                    <a:pt x="19" y="4"/>
                  </a:lnTo>
                  <a:lnTo>
                    <a:pt x="17" y="2"/>
                  </a:lnTo>
                  <a:lnTo>
                    <a:pt x="15" y="2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1" y="0"/>
                  </a:lnTo>
                  <a:lnTo>
                    <a:pt x="9" y="0"/>
                  </a:lnTo>
                  <a:lnTo>
                    <a:pt x="7" y="0"/>
                  </a:lnTo>
                  <a:lnTo>
                    <a:pt x="5" y="2"/>
                  </a:lnTo>
                  <a:lnTo>
                    <a:pt x="3" y="2"/>
                  </a:lnTo>
                  <a:lnTo>
                    <a:pt x="2" y="4"/>
                  </a:lnTo>
                  <a:lnTo>
                    <a:pt x="2" y="6"/>
                  </a:lnTo>
                  <a:lnTo>
                    <a:pt x="0" y="6"/>
                  </a:lnTo>
                  <a:lnTo>
                    <a:pt x="0" y="8"/>
                  </a:lnTo>
                  <a:lnTo>
                    <a:pt x="0" y="10"/>
                  </a:lnTo>
                  <a:lnTo>
                    <a:pt x="0" y="12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0" y="17"/>
                  </a:lnTo>
                  <a:lnTo>
                    <a:pt x="2" y="19"/>
                  </a:lnTo>
                  <a:lnTo>
                    <a:pt x="3" y="21"/>
                  </a:lnTo>
                  <a:lnTo>
                    <a:pt x="5" y="21"/>
                  </a:lnTo>
                  <a:lnTo>
                    <a:pt x="7" y="23"/>
                  </a:lnTo>
                  <a:lnTo>
                    <a:pt x="9" y="23"/>
                  </a:lnTo>
                  <a:lnTo>
                    <a:pt x="11" y="23"/>
                  </a:lnTo>
                  <a:lnTo>
                    <a:pt x="9" y="23"/>
                  </a:lnTo>
                </a:path>
              </a:pathLst>
            </a:custGeom>
            <a:solidFill>
              <a:srgbClr val="000000"/>
            </a:solidFill>
            <a:ln w="9525" cap="rnd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25" name="Freeform 41"/>
            <p:cNvSpPr>
              <a:spLocks/>
            </p:cNvSpPr>
            <p:nvPr/>
          </p:nvSpPr>
          <p:spPr bwMode="auto">
            <a:xfrm>
              <a:off x="2735" y="3214"/>
              <a:ext cx="24" cy="24"/>
            </a:xfrm>
            <a:custGeom>
              <a:avLst/>
              <a:gdLst>
                <a:gd name="T0" fmla="*/ 9 w 24"/>
                <a:gd name="T1" fmla="*/ 23 h 24"/>
                <a:gd name="T2" fmla="*/ 13 w 24"/>
                <a:gd name="T3" fmla="*/ 23 h 24"/>
                <a:gd name="T4" fmla="*/ 15 w 24"/>
                <a:gd name="T5" fmla="*/ 23 h 24"/>
                <a:gd name="T6" fmla="*/ 15 w 24"/>
                <a:gd name="T7" fmla="*/ 23 h 24"/>
                <a:gd name="T8" fmla="*/ 17 w 24"/>
                <a:gd name="T9" fmla="*/ 21 h 24"/>
                <a:gd name="T10" fmla="*/ 19 w 24"/>
                <a:gd name="T11" fmla="*/ 19 h 24"/>
                <a:gd name="T12" fmla="*/ 19 w 24"/>
                <a:gd name="T13" fmla="*/ 19 h 24"/>
                <a:gd name="T14" fmla="*/ 21 w 24"/>
                <a:gd name="T15" fmla="*/ 17 h 24"/>
                <a:gd name="T16" fmla="*/ 21 w 24"/>
                <a:gd name="T17" fmla="*/ 15 h 24"/>
                <a:gd name="T18" fmla="*/ 23 w 24"/>
                <a:gd name="T19" fmla="*/ 13 h 24"/>
                <a:gd name="T20" fmla="*/ 23 w 24"/>
                <a:gd name="T21" fmla="*/ 11 h 24"/>
                <a:gd name="T22" fmla="*/ 23 w 24"/>
                <a:gd name="T23" fmla="*/ 10 h 24"/>
                <a:gd name="T24" fmla="*/ 21 w 24"/>
                <a:gd name="T25" fmla="*/ 8 h 24"/>
                <a:gd name="T26" fmla="*/ 21 w 24"/>
                <a:gd name="T27" fmla="*/ 6 h 24"/>
                <a:gd name="T28" fmla="*/ 19 w 24"/>
                <a:gd name="T29" fmla="*/ 6 h 24"/>
                <a:gd name="T30" fmla="*/ 19 w 24"/>
                <a:gd name="T31" fmla="*/ 4 h 24"/>
                <a:gd name="T32" fmla="*/ 17 w 24"/>
                <a:gd name="T33" fmla="*/ 2 h 24"/>
                <a:gd name="T34" fmla="*/ 15 w 24"/>
                <a:gd name="T35" fmla="*/ 2 h 24"/>
                <a:gd name="T36" fmla="*/ 15 w 24"/>
                <a:gd name="T37" fmla="*/ 0 h 24"/>
                <a:gd name="T38" fmla="*/ 13 w 24"/>
                <a:gd name="T39" fmla="*/ 0 h 24"/>
                <a:gd name="T40" fmla="*/ 11 w 24"/>
                <a:gd name="T41" fmla="*/ 0 h 24"/>
                <a:gd name="T42" fmla="*/ 9 w 24"/>
                <a:gd name="T43" fmla="*/ 0 h 24"/>
                <a:gd name="T44" fmla="*/ 7 w 24"/>
                <a:gd name="T45" fmla="*/ 0 h 24"/>
                <a:gd name="T46" fmla="*/ 5 w 24"/>
                <a:gd name="T47" fmla="*/ 2 h 24"/>
                <a:gd name="T48" fmla="*/ 3 w 24"/>
                <a:gd name="T49" fmla="*/ 2 h 24"/>
                <a:gd name="T50" fmla="*/ 2 w 24"/>
                <a:gd name="T51" fmla="*/ 4 h 24"/>
                <a:gd name="T52" fmla="*/ 2 w 24"/>
                <a:gd name="T53" fmla="*/ 6 h 24"/>
                <a:gd name="T54" fmla="*/ 0 w 24"/>
                <a:gd name="T55" fmla="*/ 6 h 24"/>
                <a:gd name="T56" fmla="*/ 0 w 24"/>
                <a:gd name="T57" fmla="*/ 8 h 24"/>
                <a:gd name="T58" fmla="*/ 0 w 24"/>
                <a:gd name="T59" fmla="*/ 10 h 24"/>
                <a:gd name="T60" fmla="*/ 0 w 24"/>
                <a:gd name="T61" fmla="*/ 11 h 24"/>
                <a:gd name="T62" fmla="*/ 0 w 24"/>
                <a:gd name="T63" fmla="*/ 13 h 24"/>
                <a:gd name="T64" fmla="*/ 0 w 24"/>
                <a:gd name="T65" fmla="*/ 15 h 24"/>
                <a:gd name="T66" fmla="*/ 0 w 24"/>
                <a:gd name="T67" fmla="*/ 17 h 24"/>
                <a:gd name="T68" fmla="*/ 2 w 24"/>
                <a:gd name="T69" fmla="*/ 19 h 24"/>
                <a:gd name="T70" fmla="*/ 2 w 24"/>
                <a:gd name="T71" fmla="*/ 19 h 24"/>
                <a:gd name="T72" fmla="*/ 3 w 24"/>
                <a:gd name="T73" fmla="*/ 21 h 24"/>
                <a:gd name="T74" fmla="*/ 5 w 24"/>
                <a:gd name="T75" fmla="*/ 23 h 24"/>
                <a:gd name="T76" fmla="*/ 7 w 24"/>
                <a:gd name="T77" fmla="*/ 23 h 24"/>
                <a:gd name="T78" fmla="*/ 9 w 24"/>
                <a:gd name="T79" fmla="*/ 23 h 24"/>
                <a:gd name="T80" fmla="*/ 11 w 24"/>
                <a:gd name="T81" fmla="*/ 23 h 24"/>
                <a:gd name="T82" fmla="*/ 11 w 24"/>
                <a:gd name="T83" fmla="*/ 23 h 24"/>
                <a:gd name="T84" fmla="*/ 9 w 24"/>
                <a:gd name="T85" fmla="*/ 23 h 2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4"/>
                <a:gd name="T130" fmla="*/ 0 h 24"/>
                <a:gd name="T131" fmla="*/ 24 w 24"/>
                <a:gd name="T132" fmla="*/ 24 h 24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4" h="24">
                  <a:moveTo>
                    <a:pt x="9" y="23"/>
                  </a:moveTo>
                  <a:lnTo>
                    <a:pt x="13" y="23"/>
                  </a:lnTo>
                  <a:lnTo>
                    <a:pt x="15" y="23"/>
                  </a:lnTo>
                  <a:lnTo>
                    <a:pt x="17" y="21"/>
                  </a:lnTo>
                  <a:lnTo>
                    <a:pt x="19" y="19"/>
                  </a:lnTo>
                  <a:lnTo>
                    <a:pt x="21" y="17"/>
                  </a:lnTo>
                  <a:lnTo>
                    <a:pt x="21" y="15"/>
                  </a:lnTo>
                  <a:lnTo>
                    <a:pt x="23" y="13"/>
                  </a:lnTo>
                  <a:lnTo>
                    <a:pt x="23" y="11"/>
                  </a:lnTo>
                  <a:lnTo>
                    <a:pt x="23" y="10"/>
                  </a:lnTo>
                  <a:lnTo>
                    <a:pt x="21" y="8"/>
                  </a:lnTo>
                  <a:lnTo>
                    <a:pt x="21" y="6"/>
                  </a:lnTo>
                  <a:lnTo>
                    <a:pt x="19" y="6"/>
                  </a:lnTo>
                  <a:lnTo>
                    <a:pt x="19" y="4"/>
                  </a:lnTo>
                  <a:lnTo>
                    <a:pt x="17" y="2"/>
                  </a:lnTo>
                  <a:lnTo>
                    <a:pt x="15" y="2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1" y="0"/>
                  </a:lnTo>
                  <a:lnTo>
                    <a:pt x="9" y="0"/>
                  </a:lnTo>
                  <a:lnTo>
                    <a:pt x="7" y="0"/>
                  </a:lnTo>
                  <a:lnTo>
                    <a:pt x="5" y="2"/>
                  </a:lnTo>
                  <a:lnTo>
                    <a:pt x="3" y="2"/>
                  </a:lnTo>
                  <a:lnTo>
                    <a:pt x="2" y="4"/>
                  </a:lnTo>
                  <a:lnTo>
                    <a:pt x="2" y="6"/>
                  </a:lnTo>
                  <a:lnTo>
                    <a:pt x="0" y="6"/>
                  </a:lnTo>
                  <a:lnTo>
                    <a:pt x="0" y="8"/>
                  </a:lnTo>
                  <a:lnTo>
                    <a:pt x="0" y="10"/>
                  </a:lnTo>
                  <a:lnTo>
                    <a:pt x="0" y="11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0" y="17"/>
                  </a:lnTo>
                  <a:lnTo>
                    <a:pt x="2" y="19"/>
                  </a:lnTo>
                  <a:lnTo>
                    <a:pt x="3" y="21"/>
                  </a:lnTo>
                  <a:lnTo>
                    <a:pt x="5" y="23"/>
                  </a:lnTo>
                  <a:lnTo>
                    <a:pt x="7" y="23"/>
                  </a:lnTo>
                  <a:lnTo>
                    <a:pt x="9" y="23"/>
                  </a:lnTo>
                  <a:lnTo>
                    <a:pt x="11" y="23"/>
                  </a:lnTo>
                  <a:lnTo>
                    <a:pt x="9" y="23"/>
                  </a:lnTo>
                </a:path>
              </a:pathLst>
            </a:custGeom>
            <a:solidFill>
              <a:srgbClr val="000000"/>
            </a:solidFill>
            <a:ln w="9525" cap="rnd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26" name="Line 42"/>
            <p:cNvSpPr>
              <a:spLocks noChangeShapeType="1"/>
            </p:cNvSpPr>
            <p:nvPr/>
          </p:nvSpPr>
          <p:spPr bwMode="auto">
            <a:xfrm flipH="1" flipV="1">
              <a:off x="2784" y="3197"/>
              <a:ext cx="35" cy="5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27" name="Rectangle 43"/>
            <p:cNvSpPr>
              <a:spLocks noChangeArrowheads="1"/>
            </p:cNvSpPr>
            <p:nvPr/>
          </p:nvSpPr>
          <p:spPr bwMode="auto">
            <a:xfrm>
              <a:off x="2737" y="3118"/>
              <a:ext cx="124" cy="1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sz="600">
                  <a:solidFill>
                    <a:srgbClr val="000000"/>
                  </a:solidFill>
                  <a:latin typeface="+mj-lt"/>
                </a:rPr>
                <a:t>6</a:t>
              </a:r>
            </a:p>
          </p:txBody>
        </p:sp>
        <p:sp>
          <p:nvSpPr>
            <p:cNvPr id="54328" name="Line 44"/>
            <p:cNvSpPr>
              <a:spLocks noChangeShapeType="1"/>
            </p:cNvSpPr>
            <p:nvPr/>
          </p:nvSpPr>
          <p:spPr bwMode="auto">
            <a:xfrm flipH="1" flipV="1">
              <a:off x="2532" y="2527"/>
              <a:ext cx="440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29" name="Freeform 45"/>
            <p:cNvSpPr>
              <a:spLocks/>
            </p:cNvSpPr>
            <p:nvPr/>
          </p:nvSpPr>
          <p:spPr bwMode="auto">
            <a:xfrm>
              <a:off x="2692" y="2722"/>
              <a:ext cx="890" cy="284"/>
            </a:xfrm>
            <a:custGeom>
              <a:avLst/>
              <a:gdLst>
                <a:gd name="T0" fmla="*/ 889 w 935"/>
                <a:gd name="T1" fmla="*/ 283 h 284"/>
                <a:gd name="T2" fmla="*/ 0 w 935"/>
                <a:gd name="T3" fmla="*/ 283 h 284"/>
                <a:gd name="T4" fmla="*/ 0 w 935"/>
                <a:gd name="T5" fmla="*/ 0 h 284"/>
                <a:gd name="T6" fmla="*/ 0 60000 65536"/>
                <a:gd name="T7" fmla="*/ 0 60000 65536"/>
                <a:gd name="T8" fmla="*/ 0 60000 65536"/>
                <a:gd name="T9" fmla="*/ 0 w 935"/>
                <a:gd name="T10" fmla="*/ 0 h 284"/>
                <a:gd name="T11" fmla="*/ 935 w 935"/>
                <a:gd name="T12" fmla="*/ 284 h 28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35" h="284">
                  <a:moveTo>
                    <a:pt x="934" y="283"/>
                  </a:moveTo>
                  <a:lnTo>
                    <a:pt x="0" y="283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triangl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30" name="Freeform 46"/>
            <p:cNvSpPr>
              <a:spLocks/>
            </p:cNvSpPr>
            <p:nvPr/>
          </p:nvSpPr>
          <p:spPr bwMode="auto">
            <a:xfrm>
              <a:off x="3582" y="1917"/>
              <a:ext cx="93" cy="1777"/>
            </a:xfrm>
            <a:custGeom>
              <a:avLst/>
              <a:gdLst>
                <a:gd name="T0" fmla="*/ 90 w 93"/>
                <a:gd name="T1" fmla="*/ 1776 h 1777"/>
                <a:gd name="T2" fmla="*/ 92 w 93"/>
                <a:gd name="T3" fmla="*/ 0 h 1777"/>
                <a:gd name="T4" fmla="*/ 0 w 93"/>
                <a:gd name="T5" fmla="*/ 0 h 1777"/>
                <a:gd name="T6" fmla="*/ 0 w 93"/>
                <a:gd name="T7" fmla="*/ 1776 h 1777"/>
                <a:gd name="T8" fmla="*/ 92 w 93"/>
                <a:gd name="T9" fmla="*/ 1776 h 1777"/>
                <a:gd name="T10" fmla="*/ 92 w 93"/>
                <a:gd name="T11" fmla="*/ 1776 h 177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3"/>
                <a:gd name="T19" fmla="*/ 0 h 1777"/>
                <a:gd name="T20" fmla="*/ 93 w 93"/>
                <a:gd name="T21" fmla="*/ 1777 h 177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3" h="1777">
                  <a:moveTo>
                    <a:pt x="90" y="1776"/>
                  </a:moveTo>
                  <a:lnTo>
                    <a:pt x="92" y="0"/>
                  </a:lnTo>
                  <a:lnTo>
                    <a:pt x="0" y="0"/>
                  </a:lnTo>
                  <a:lnTo>
                    <a:pt x="0" y="1776"/>
                  </a:lnTo>
                  <a:lnTo>
                    <a:pt x="92" y="1776"/>
                  </a:lnTo>
                </a:path>
              </a:pathLst>
            </a:custGeom>
            <a:solidFill>
              <a:srgbClr val="CCECFF"/>
            </a:solidFill>
            <a:ln w="190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31" name="Freeform 47"/>
            <p:cNvSpPr>
              <a:spLocks/>
            </p:cNvSpPr>
            <p:nvPr/>
          </p:nvSpPr>
          <p:spPr bwMode="auto">
            <a:xfrm>
              <a:off x="2899" y="1955"/>
              <a:ext cx="365" cy="422"/>
            </a:xfrm>
            <a:custGeom>
              <a:avLst/>
              <a:gdLst>
                <a:gd name="T0" fmla="*/ 0 w 301"/>
                <a:gd name="T1" fmla="*/ 0 h 422"/>
                <a:gd name="T2" fmla="*/ 0 w 301"/>
                <a:gd name="T3" fmla="*/ 170 h 422"/>
                <a:gd name="T4" fmla="*/ 75 w 301"/>
                <a:gd name="T5" fmla="*/ 210 h 422"/>
                <a:gd name="T6" fmla="*/ 0 w 301"/>
                <a:gd name="T7" fmla="*/ 251 h 422"/>
                <a:gd name="T8" fmla="*/ 0 w 301"/>
                <a:gd name="T9" fmla="*/ 421 h 422"/>
                <a:gd name="T10" fmla="*/ 364 w 301"/>
                <a:gd name="T11" fmla="*/ 285 h 422"/>
                <a:gd name="T12" fmla="*/ 364 w 301"/>
                <a:gd name="T13" fmla="*/ 138 h 422"/>
                <a:gd name="T14" fmla="*/ 0 w 301"/>
                <a:gd name="T15" fmla="*/ 0 h 422"/>
                <a:gd name="T16" fmla="*/ 0 w 301"/>
                <a:gd name="T17" fmla="*/ 0 h 42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01"/>
                <a:gd name="T28" fmla="*/ 0 h 422"/>
                <a:gd name="T29" fmla="*/ 301 w 301"/>
                <a:gd name="T30" fmla="*/ 422 h 422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01" h="422">
                  <a:moveTo>
                    <a:pt x="0" y="0"/>
                  </a:moveTo>
                  <a:lnTo>
                    <a:pt x="0" y="170"/>
                  </a:lnTo>
                  <a:lnTo>
                    <a:pt x="62" y="210"/>
                  </a:lnTo>
                  <a:lnTo>
                    <a:pt x="0" y="251"/>
                  </a:lnTo>
                  <a:lnTo>
                    <a:pt x="0" y="421"/>
                  </a:lnTo>
                  <a:lnTo>
                    <a:pt x="300" y="285"/>
                  </a:lnTo>
                  <a:lnTo>
                    <a:pt x="300" y="138"/>
                  </a:lnTo>
                  <a:lnTo>
                    <a:pt x="0" y="0"/>
                  </a:lnTo>
                </a:path>
              </a:pathLst>
            </a:custGeom>
            <a:solidFill>
              <a:srgbClr val="CCFF99"/>
            </a:solidFill>
            <a:ln w="190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32" name="Freeform 48"/>
            <p:cNvSpPr>
              <a:spLocks/>
            </p:cNvSpPr>
            <p:nvPr/>
          </p:nvSpPr>
          <p:spPr bwMode="auto">
            <a:xfrm>
              <a:off x="2969" y="2461"/>
              <a:ext cx="391" cy="458"/>
            </a:xfrm>
            <a:custGeom>
              <a:avLst/>
              <a:gdLst>
                <a:gd name="T0" fmla="*/ 0 w 300"/>
                <a:gd name="T1" fmla="*/ 0 h 422"/>
                <a:gd name="T2" fmla="*/ 0 w 300"/>
                <a:gd name="T3" fmla="*/ 186 h 422"/>
                <a:gd name="T4" fmla="*/ 80 w 300"/>
                <a:gd name="T5" fmla="*/ 229 h 422"/>
                <a:gd name="T6" fmla="*/ 0 w 300"/>
                <a:gd name="T7" fmla="*/ 272 h 422"/>
                <a:gd name="T8" fmla="*/ 0 w 300"/>
                <a:gd name="T9" fmla="*/ 457 h 422"/>
                <a:gd name="T10" fmla="*/ 390 w 300"/>
                <a:gd name="T11" fmla="*/ 309 h 422"/>
                <a:gd name="T12" fmla="*/ 390 w 300"/>
                <a:gd name="T13" fmla="*/ 148 h 422"/>
                <a:gd name="T14" fmla="*/ 0 w 300"/>
                <a:gd name="T15" fmla="*/ 0 h 422"/>
                <a:gd name="T16" fmla="*/ 0 w 300"/>
                <a:gd name="T17" fmla="*/ 0 h 42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00"/>
                <a:gd name="T28" fmla="*/ 0 h 422"/>
                <a:gd name="T29" fmla="*/ 300 w 300"/>
                <a:gd name="T30" fmla="*/ 422 h 422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00" h="422">
                  <a:moveTo>
                    <a:pt x="0" y="0"/>
                  </a:moveTo>
                  <a:lnTo>
                    <a:pt x="0" y="171"/>
                  </a:lnTo>
                  <a:lnTo>
                    <a:pt x="61" y="211"/>
                  </a:lnTo>
                  <a:lnTo>
                    <a:pt x="0" y="251"/>
                  </a:lnTo>
                  <a:lnTo>
                    <a:pt x="0" y="421"/>
                  </a:lnTo>
                  <a:lnTo>
                    <a:pt x="299" y="285"/>
                  </a:lnTo>
                  <a:lnTo>
                    <a:pt x="299" y="136"/>
                  </a:lnTo>
                  <a:lnTo>
                    <a:pt x="0" y="0"/>
                  </a:lnTo>
                </a:path>
              </a:pathLst>
            </a:custGeom>
            <a:solidFill>
              <a:srgbClr val="CCFF99"/>
            </a:solidFill>
            <a:ln w="190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33" name="Freeform 49"/>
            <p:cNvSpPr>
              <a:spLocks/>
            </p:cNvSpPr>
            <p:nvPr/>
          </p:nvSpPr>
          <p:spPr bwMode="auto">
            <a:xfrm>
              <a:off x="2675" y="2170"/>
              <a:ext cx="151" cy="239"/>
            </a:xfrm>
            <a:custGeom>
              <a:avLst/>
              <a:gdLst>
                <a:gd name="T0" fmla="*/ 73 w 151"/>
                <a:gd name="T1" fmla="*/ 236 h 239"/>
                <a:gd name="T2" fmla="*/ 86 w 151"/>
                <a:gd name="T3" fmla="*/ 236 h 239"/>
                <a:gd name="T4" fmla="*/ 98 w 151"/>
                <a:gd name="T5" fmla="*/ 232 h 239"/>
                <a:gd name="T6" fmla="*/ 109 w 151"/>
                <a:gd name="T7" fmla="*/ 224 h 239"/>
                <a:gd name="T8" fmla="*/ 119 w 151"/>
                <a:gd name="T9" fmla="*/ 215 h 239"/>
                <a:gd name="T10" fmla="*/ 129 w 151"/>
                <a:gd name="T11" fmla="*/ 203 h 239"/>
                <a:gd name="T12" fmla="*/ 134 w 151"/>
                <a:gd name="T13" fmla="*/ 188 h 239"/>
                <a:gd name="T14" fmla="*/ 142 w 151"/>
                <a:gd name="T15" fmla="*/ 172 h 239"/>
                <a:gd name="T16" fmla="*/ 146 w 151"/>
                <a:gd name="T17" fmla="*/ 155 h 239"/>
                <a:gd name="T18" fmla="*/ 150 w 151"/>
                <a:gd name="T19" fmla="*/ 138 h 239"/>
                <a:gd name="T20" fmla="*/ 150 w 151"/>
                <a:gd name="T21" fmla="*/ 119 h 239"/>
                <a:gd name="T22" fmla="*/ 150 w 151"/>
                <a:gd name="T23" fmla="*/ 100 h 239"/>
                <a:gd name="T24" fmla="*/ 146 w 151"/>
                <a:gd name="T25" fmla="*/ 80 h 239"/>
                <a:gd name="T26" fmla="*/ 142 w 151"/>
                <a:gd name="T27" fmla="*/ 63 h 239"/>
                <a:gd name="T28" fmla="*/ 134 w 151"/>
                <a:gd name="T29" fmla="*/ 48 h 239"/>
                <a:gd name="T30" fmla="*/ 129 w 151"/>
                <a:gd name="T31" fmla="*/ 34 h 239"/>
                <a:gd name="T32" fmla="*/ 119 w 151"/>
                <a:gd name="T33" fmla="*/ 23 h 239"/>
                <a:gd name="T34" fmla="*/ 109 w 151"/>
                <a:gd name="T35" fmla="*/ 13 h 239"/>
                <a:gd name="T36" fmla="*/ 98 w 151"/>
                <a:gd name="T37" fmla="*/ 6 h 239"/>
                <a:gd name="T38" fmla="*/ 86 w 151"/>
                <a:gd name="T39" fmla="*/ 0 h 239"/>
                <a:gd name="T40" fmla="*/ 75 w 151"/>
                <a:gd name="T41" fmla="*/ 0 h 239"/>
                <a:gd name="T42" fmla="*/ 62 w 151"/>
                <a:gd name="T43" fmla="*/ 0 h 239"/>
                <a:gd name="T44" fmla="*/ 50 w 151"/>
                <a:gd name="T45" fmla="*/ 6 h 239"/>
                <a:gd name="T46" fmla="*/ 40 w 151"/>
                <a:gd name="T47" fmla="*/ 13 h 239"/>
                <a:gd name="T48" fmla="*/ 31 w 151"/>
                <a:gd name="T49" fmla="*/ 23 h 239"/>
                <a:gd name="T50" fmla="*/ 21 w 151"/>
                <a:gd name="T51" fmla="*/ 34 h 239"/>
                <a:gd name="T52" fmla="*/ 14 w 151"/>
                <a:gd name="T53" fmla="*/ 48 h 239"/>
                <a:gd name="T54" fmla="*/ 8 w 151"/>
                <a:gd name="T55" fmla="*/ 63 h 239"/>
                <a:gd name="T56" fmla="*/ 4 w 151"/>
                <a:gd name="T57" fmla="*/ 80 h 239"/>
                <a:gd name="T58" fmla="*/ 0 w 151"/>
                <a:gd name="T59" fmla="*/ 100 h 239"/>
                <a:gd name="T60" fmla="*/ 0 w 151"/>
                <a:gd name="T61" fmla="*/ 119 h 239"/>
                <a:gd name="T62" fmla="*/ 0 w 151"/>
                <a:gd name="T63" fmla="*/ 138 h 239"/>
                <a:gd name="T64" fmla="*/ 4 w 151"/>
                <a:gd name="T65" fmla="*/ 155 h 239"/>
                <a:gd name="T66" fmla="*/ 8 w 151"/>
                <a:gd name="T67" fmla="*/ 172 h 239"/>
                <a:gd name="T68" fmla="*/ 14 w 151"/>
                <a:gd name="T69" fmla="*/ 188 h 239"/>
                <a:gd name="T70" fmla="*/ 21 w 151"/>
                <a:gd name="T71" fmla="*/ 203 h 239"/>
                <a:gd name="T72" fmla="*/ 31 w 151"/>
                <a:gd name="T73" fmla="*/ 215 h 239"/>
                <a:gd name="T74" fmla="*/ 40 w 151"/>
                <a:gd name="T75" fmla="*/ 224 h 239"/>
                <a:gd name="T76" fmla="*/ 50 w 151"/>
                <a:gd name="T77" fmla="*/ 232 h 239"/>
                <a:gd name="T78" fmla="*/ 62 w 151"/>
                <a:gd name="T79" fmla="*/ 236 h 239"/>
                <a:gd name="T80" fmla="*/ 75 w 151"/>
                <a:gd name="T81" fmla="*/ 238 h 239"/>
                <a:gd name="T82" fmla="*/ 75 w 151"/>
                <a:gd name="T83" fmla="*/ 238 h 239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151"/>
                <a:gd name="T127" fmla="*/ 0 h 239"/>
                <a:gd name="T128" fmla="*/ 151 w 151"/>
                <a:gd name="T129" fmla="*/ 239 h 239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151" h="239">
                  <a:moveTo>
                    <a:pt x="73" y="236"/>
                  </a:moveTo>
                  <a:lnTo>
                    <a:pt x="86" y="236"/>
                  </a:lnTo>
                  <a:lnTo>
                    <a:pt x="98" y="232"/>
                  </a:lnTo>
                  <a:lnTo>
                    <a:pt x="109" y="224"/>
                  </a:lnTo>
                  <a:lnTo>
                    <a:pt x="119" y="215"/>
                  </a:lnTo>
                  <a:lnTo>
                    <a:pt x="129" y="203"/>
                  </a:lnTo>
                  <a:lnTo>
                    <a:pt x="134" y="188"/>
                  </a:lnTo>
                  <a:lnTo>
                    <a:pt x="142" y="172"/>
                  </a:lnTo>
                  <a:lnTo>
                    <a:pt x="146" y="155"/>
                  </a:lnTo>
                  <a:lnTo>
                    <a:pt x="150" y="138"/>
                  </a:lnTo>
                  <a:lnTo>
                    <a:pt x="150" y="119"/>
                  </a:lnTo>
                  <a:lnTo>
                    <a:pt x="150" y="100"/>
                  </a:lnTo>
                  <a:lnTo>
                    <a:pt x="146" y="80"/>
                  </a:lnTo>
                  <a:lnTo>
                    <a:pt x="142" y="63"/>
                  </a:lnTo>
                  <a:lnTo>
                    <a:pt x="134" y="48"/>
                  </a:lnTo>
                  <a:lnTo>
                    <a:pt x="129" y="34"/>
                  </a:lnTo>
                  <a:lnTo>
                    <a:pt x="119" y="23"/>
                  </a:lnTo>
                  <a:lnTo>
                    <a:pt x="109" y="13"/>
                  </a:lnTo>
                  <a:lnTo>
                    <a:pt x="98" y="6"/>
                  </a:lnTo>
                  <a:lnTo>
                    <a:pt x="86" y="0"/>
                  </a:lnTo>
                  <a:lnTo>
                    <a:pt x="75" y="0"/>
                  </a:lnTo>
                  <a:lnTo>
                    <a:pt x="62" y="0"/>
                  </a:lnTo>
                  <a:lnTo>
                    <a:pt x="50" y="6"/>
                  </a:lnTo>
                  <a:lnTo>
                    <a:pt x="40" y="13"/>
                  </a:lnTo>
                  <a:lnTo>
                    <a:pt x="31" y="23"/>
                  </a:lnTo>
                  <a:lnTo>
                    <a:pt x="21" y="34"/>
                  </a:lnTo>
                  <a:lnTo>
                    <a:pt x="14" y="48"/>
                  </a:lnTo>
                  <a:lnTo>
                    <a:pt x="8" y="63"/>
                  </a:lnTo>
                  <a:lnTo>
                    <a:pt x="4" y="80"/>
                  </a:lnTo>
                  <a:lnTo>
                    <a:pt x="0" y="100"/>
                  </a:lnTo>
                  <a:lnTo>
                    <a:pt x="0" y="119"/>
                  </a:lnTo>
                  <a:lnTo>
                    <a:pt x="0" y="138"/>
                  </a:lnTo>
                  <a:lnTo>
                    <a:pt x="4" y="155"/>
                  </a:lnTo>
                  <a:lnTo>
                    <a:pt x="8" y="172"/>
                  </a:lnTo>
                  <a:lnTo>
                    <a:pt x="14" y="188"/>
                  </a:lnTo>
                  <a:lnTo>
                    <a:pt x="21" y="203"/>
                  </a:lnTo>
                  <a:lnTo>
                    <a:pt x="31" y="215"/>
                  </a:lnTo>
                  <a:lnTo>
                    <a:pt x="40" y="224"/>
                  </a:lnTo>
                  <a:lnTo>
                    <a:pt x="50" y="232"/>
                  </a:lnTo>
                  <a:lnTo>
                    <a:pt x="62" y="236"/>
                  </a:lnTo>
                  <a:lnTo>
                    <a:pt x="75" y="238"/>
                  </a:lnTo>
                </a:path>
              </a:pathLst>
            </a:custGeom>
            <a:solidFill>
              <a:srgbClr val="EAEAEA"/>
            </a:solidFill>
            <a:ln w="190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34" name="Rectangle 50"/>
            <p:cNvSpPr>
              <a:spLocks noChangeArrowheads="1"/>
            </p:cNvSpPr>
            <p:nvPr/>
          </p:nvSpPr>
          <p:spPr bwMode="auto">
            <a:xfrm>
              <a:off x="2991" y="2737"/>
              <a:ext cx="138" cy="1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dirty="0">
                  <a:solidFill>
                    <a:srgbClr val="000000"/>
                  </a:solidFill>
                  <a:latin typeface="+mj-lt"/>
                </a:rPr>
                <a:t>ALU</a:t>
              </a:r>
            </a:p>
          </p:txBody>
        </p:sp>
        <p:sp>
          <p:nvSpPr>
            <p:cNvPr id="54335" name="Rectangle 51"/>
            <p:cNvSpPr>
              <a:spLocks noChangeArrowheads="1"/>
            </p:cNvSpPr>
            <p:nvPr/>
          </p:nvSpPr>
          <p:spPr bwMode="auto">
            <a:xfrm>
              <a:off x="3183" y="2697"/>
              <a:ext cx="132" cy="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 dirty="0">
                  <a:solidFill>
                    <a:srgbClr val="000000"/>
                  </a:solidFill>
                  <a:latin typeface="+mj-lt"/>
                </a:rPr>
                <a:t>result</a:t>
              </a:r>
            </a:p>
          </p:txBody>
        </p:sp>
        <p:sp>
          <p:nvSpPr>
            <p:cNvPr id="54336" name="Rectangle 52"/>
            <p:cNvSpPr>
              <a:spLocks noChangeArrowheads="1"/>
            </p:cNvSpPr>
            <p:nvPr/>
          </p:nvSpPr>
          <p:spPr bwMode="auto">
            <a:xfrm>
              <a:off x="3208" y="2604"/>
              <a:ext cx="127" cy="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 dirty="0">
                  <a:solidFill>
                    <a:srgbClr val="000000"/>
                  </a:solidFill>
                  <a:latin typeface="+mj-lt"/>
                </a:rPr>
                <a:t>z</a:t>
              </a:r>
              <a:r>
                <a:rPr lang="en-US" sz="800" dirty="0" smtClean="0">
                  <a:solidFill>
                    <a:srgbClr val="000000"/>
                  </a:solidFill>
                  <a:latin typeface="+mj-lt"/>
                </a:rPr>
                <a:t>ero?</a:t>
              </a:r>
              <a:endParaRPr lang="en-US" sz="500" dirty="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337" name="Rectangle 53"/>
            <p:cNvSpPr>
              <a:spLocks noChangeArrowheads="1"/>
            </p:cNvSpPr>
            <p:nvPr/>
          </p:nvSpPr>
          <p:spPr bwMode="auto">
            <a:xfrm>
              <a:off x="3105" y="2123"/>
              <a:ext cx="132" cy="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 dirty="0" smtClean="0">
                  <a:solidFill>
                    <a:srgbClr val="000000"/>
                  </a:solidFill>
                  <a:latin typeface="+mj-lt"/>
                </a:rPr>
                <a:t>result</a:t>
              </a:r>
              <a:endParaRPr lang="en-US" sz="500" dirty="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338" name="Rectangle 54"/>
            <p:cNvSpPr>
              <a:spLocks noChangeArrowheads="1"/>
            </p:cNvSpPr>
            <p:nvPr/>
          </p:nvSpPr>
          <p:spPr bwMode="auto">
            <a:xfrm>
              <a:off x="2928" y="2191"/>
              <a:ext cx="138" cy="1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dirty="0">
                  <a:solidFill>
                    <a:srgbClr val="000000"/>
                  </a:solidFill>
                  <a:latin typeface="+mj-lt"/>
                </a:rPr>
                <a:t>Add</a:t>
              </a:r>
            </a:p>
          </p:txBody>
        </p:sp>
        <p:sp>
          <p:nvSpPr>
            <p:cNvPr id="54339" name="Rectangle 55"/>
            <p:cNvSpPr>
              <a:spLocks noChangeArrowheads="1"/>
            </p:cNvSpPr>
            <p:nvPr/>
          </p:nvSpPr>
          <p:spPr bwMode="auto">
            <a:xfrm>
              <a:off x="2694" y="2232"/>
              <a:ext cx="90" cy="1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600" dirty="0">
                  <a:solidFill>
                    <a:srgbClr val="000000"/>
                  </a:solidFill>
                  <a:latin typeface="+mj-lt"/>
                </a:rPr>
                <a:t>Shift </a:t>
              </a:r>
            </a:p>
            <a:p>
              <a:r>
                <a:rPr lang="en-US" sz="600" dirty="0">
                  <a:solidFill>
                    <a:srgbClr val="000000"/>
                  </a:solidFill>
                  <a:latin typeface="+mj-lt"/>
                </a:rPr>
                <a:t>left 2</a:t>
              </a:r>
              <a:endParaRPr lang="en-US" sz="500" dirty="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340" name="Line 56"/>
            <p:cNvSpPr>
              <a:spLocks noChangeShapeType="1"/>
            </p:cNvSpPr>
            <p:nvPr/>
          </p:nvSpPr>
          <p:spPr bwMode="auto">
            <a:xfrm flipH="1" flipV="1">
              <a:off x="2907" y="2820"/>
              <a:ext cx="65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41" name="Line 57"/>
            <p:cNvSpPr>
              <a:spLocks noChangeShapeType="1"/>
            </p:cNvSpPr>
            <p:nvPr/>
          </p:nvSpPr>
          <p:spPr bwMode="auto">
            <a:xfrm flipH="1" flipV="1">
              <a:off x="2526" y="2721"/>
              <a:ext cx="290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42" name="Line 58"/>
            <p:cNvSpPr>
              <a:spLocks noChangeShapeType="1"/>
            </p:cNvSpPr>
            <p:nvPr/>
          </p:nvSpPr>
          <p:spPr bwMode="auto">
            <a:xfrm flipH="1" flipV="1">
              <a:off x="2746" y="2925"/>
              <a:ext cx="71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43" name="Line 59"/>
            <p:cNvSpPr>
              <a:spLocks noChangeShapeType="1"/>
            </p:cNvSpPr>
            <p:nvPr/>
          </p:nvSpPr>
          <p:spPr bwMode="auto">
            <a:xfrm flipH="1">
              <a:off x="3268" y="2163"/>
              <a:ext cx="308" cy="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44" name="Line 60"/>
            <p:cNvSpPr>
              <a:spLocks noChangeShapeType="1"/>
            </p:cNvSpPr>
            <p:nvPr/>
          </p:nvSpPr>
          <p:spPr bwMode="auto">
            <a:xfrm flipH="1" flipV="1">
              <a:off x="3355" y="2748"/>
              <a:ext cx="227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45" name="Line 61"/>
            <p:cNvSpPr>
              <a:spLocks noChangeShapeType="1"/>
            </p:cNvSpPr>
            <p:nvPr/>
          </p:nvSpPr>
          <p:spPr bwMode="auto">
            <a:xfrm flipH="1">
              <a:off x="2523" y="3451"/>
              <a:ext cx="254" cy="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46" name="Line 62"/>
            <p:cNvSpPr>
              <a:spLocks noChangeShapeType="1"/>
            </p:cNvSpPr>
            <p:nvPr/>
          </p:nvSpPr>
          <p:spPr bwMode="auto">
            <a:xfrm flipH="1" flipV="1">
              <a:off x="2526" y="3647"/>
              <a:ext cx="254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47" name="Rectangle 63"/>
            <p:cNvSpPr>
              <a:spLocks noChangeArrowheads="1"/>
            </p:cNvSpPr>
            <p:nvPr/>
          </p:nvSpPr>
          <p:spPr bwMode="auto">
            <a:xfrm>
              <a:off x="2914" y="3127"/>
              <a:ext cx="172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n-US" sz="800">
                  <a:solidFill>
                    <a:srgbClr val="EB7500"/>
                  </a:solidFill>
                  <a:latin typeface="+mj-lt"/>
                </a:rPr>
                <a:t>ALU</a:t>
              </a:r>
            </a:p>
            <a:p>
              <a:pPr algn="ctr"/>
              <a:r>
                <a:rPr lang="en-US" sz="800">
                  <a:solidFill>
                    <a:srgbClr val="EB7500"/>
                  </a:solidFill>
                  <a:latin typeface="+mj-lt"/>
                </a:rPr>
                <a:t>Control</a:t>
              </a:r>
              <a:endParaRPr lang="en-US" sz="500">
                <a:solidFill>
                  <a:srgbClr val="EB7500"/>
                </a:solidFill>
                <a:latin typeface="+mj-lt"/>
              </a:endParaRPr>
            </a:p>
          </p:txBody>
        </p:sp>
        <p:sp>
          <p:nvSpPr>
            <p:cNvPr id="54350" name="Line 66"/>
            <p:cNvSpPr>
              <a:spLocks noChangeShapeType="1"/>
            </p:cNvSpPr>
            <p:nvPr/>
          </p:nvSpPr>
          <p:spPr bwMode="auto">
            <a:xfrm flipH="1">
              <a:off x="2875" y="3555"/>
              <a:ext cx="702" cy="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51" name="Line 67"/>
            <p:cNvSpPr>
              <a:spLocks noChangeShapeType="1"/>
            </p:cNvSpPr>
            <p:nvPr/>
          </p:nvSpPr>
          <p:spPr bwMode="auto">
            <a:xfrm flipH="1" flipV="1">
              <a:off x="2826" y="2286"/>
              <a:ext cx="71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53" name="Rectangle 69"/>
            <p:cNvSpPr>
              <a:spLocks noChangeArrowheads="1"/>
            </p:cNvSpPr>
            <p:nvPr/>
          </p:nvSpPr>
          <p:spPr bwMode="auto">
            <a:xfrm>
              <a:off x="1824" y="2374"/>
              <a:ext cx="117" cy="1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800" dirty="0">
                  <a:solidFill>
                    <a:srgbClr val="000000"/>
                  </a:solidFill>
                  <a:latin typeface="+mj-lt"/>
                </a:rPr>
                <a:t>Read</a:t>
              </a:r>
            </a:p>
            <a:p>
              <a:pPr>
                <a:lnSpc>
                  <a:spcPct val="90000"/>
                </a:lnSpc>
              </a:pPr>
              <a:r>
                <a:rPr lang="en-US" sz="800" dirty="0" err="1">
                  <a:solidFill>
                    <a:srgbClr val="000000"/>
                  </a:solidFill>
                  <a:latin typeface="+mj-lt"/>
                </a:rPr>
                <a:t>reg</a:t>
              </a:r>
              <a:r>
                <a:rPr lang="en-US" sz="800" dirty="0">
                  <a:solidFill>
                    <a:srgbClr val="000000"/>
                  </a:solidFill>
                  <a:latin typeface="+mj-lt"/>
                </a:rPr>
                <a:t> 1</a:t>
              </a:r>
              <a:endParaRPr lang="en-US" sz="600" dirty="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354" name="Rectangle 70"/>
            <p:cNvSpPr>
              <a:spLocks noChangeArrowheads="1"/>
            </p:cNvSpPr>
            <p:nvPr/>
          </p:nvSpPr>
          <p:spPr bwMode="auto">
            <a:xfrm>
              <a:off x="1823" y="2524"/>
              <a:ext cx="117" cy="1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800" dirty="0">
                  <a:solidFill>
                    <a:srgbClr val="000000"/>
                  </a:solidFill>
                  <a:latin typeface="+mj-lt"/>
                </a:rPr>
                <a:t>Read</a:t>
              </a:r>
            </a:p>
            <a:p>
              <a:pPr>
                <a:lnSpc>
                  <a:spcPct val="90000"/>
                </a:lnSpc>
              </a:pPr>
              <a:r>
                <a:rPr lang="en-US" sz="800" dirty="0" err="1">
                  <a:solidFill>
                    <a:srgbClr val="000000"/>
                  </a:solidFill>
                  <a:latin typeface="+mj-lt"/>
                </a:rPr>
                <a:t>reg</a:t>
              </a:r>
              <a:r>
                <a:rPr lang="en-US" sz="800" dirty="0">
                  <a:solidFill>
                    <a:srgbClr val="000000"/>
                  </a:solidFill>
                  <a:latin typeface="+mj-lt"/>
                </a:rPr>
                <a:t> 2</a:t>
              </a:r>
              <a:endParaRPr lang="en-US" sz="600" dirty="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355" name="Rectangle 71"/>
            <p:cNvSpPr>
              <a:spLocks noChangeArrowheads="1"/>
            </p:cNvSpPr>
            <p:nvPr/>
          </p:nvSpPr>
          <p:spPr bwMode="auto">
            <a:xfrm>
              <a:off x="1830" y="2683"/>
              <a:ext cx="130" cy="1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800" dirty="0">
                  <a:solidFill>
                    <a:srgbClr val="000000"/>
                  </a:solidFill>
                  <a:latin typeface="+mj-lt"/>
                </a:rPr>
                <a:t>Write</a:t>
              </a:r>
            </a:p>
            <a:p>
              <a:pPr>
                <a:lnSpc>
                  <a:spcPct val="90000"/>
                </a:lnSpc>
              </a:pPr>
              <a:r>
                <a:rPr lang="en-US" sz="800" dirty="0" err="1">
                  <a:solidFill>
                    <a:srgbClr val="000000"/>
                  </a:solidFill>
                  <a:latin typeface="+mj-lt"/>
                </a:rPr>
                <a:t>reg</a:t>
              </a:r>
              <a:endParaRPr lang="en-US" sz="700" dirty="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356" name="Rectangle 72"/>
            <p:cNvSpPr>
              <a:spLocks noChangeArrowheads="1"/>
            </p:cNvSpPr>
            <p:nvPr/>
          </p:nvSpPr>
          <p:spPr bwMode="auto">
            <a:xfrm>
              <a:off x="1833" y="2836"/>
              <a:ext cx="130" cy="1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800" dirty="0">
                  <a:solidFill>
                    <a:srgbClr val="000000"/>
                  </a:solidFill>
                  <a:latin typeface="+mj-lt"/>
                </a:rPr>
                <a:t>Write</a:t>
              </a:r>
            </a:p>
            <a:p>
              <a:pPr>
                <a:lnSpc>
                  <a:spcPct val="90000"/>
                </a:lnSpc>
              </a:pPr>
              <a:r>
                <a:rPr lang="en-US" sz="800" dirty="0">
                  <a:solidFill>
                    <a:srgbClr val="000000"/>
                  </a:solidFill>
                  <a:latin typeface="+mj-lt"/>
                </a:rPr>
                <a:t>data</a:t>
              </a:r>
            </a:p>
          </p:txBody>
        </p:sp>
        <p:sp>
          <p:nvSpPr>
            <p:cNvPr id="54357" name="Rectangle 73"/>
            <p:cNvSpPr>
              <a:spLocks noChangeArrowheads="1"/>
            </p:cNvSpPr>
            <p:nvPr/>
          </p:nvSpPr>
          <p:spPr bwMode="auto">
            <a:xfrm>
              <a:off x="2139" y="2470"/>
              <a:ext cx="145" cy="1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800" dirty="0">
                  <a:solidFill>
                    <a:srgbClr val="000000"/>
                  </a:solidFill>
                  <a:latin typeface="+mj-lt"/>
                </a:rPr>
                <a:t>Read</a:t>
              </a:r>
            </a:p>
            <a:p>
              <a:pPr>
                <a:lnSpc>
                  <a:spcPct val="90000"/>
                </a:lnSpc>
              </a:pPr>
              <a:r>
                <a:rPr lang="en-US" sz="800" dirty="0">
                  <a:solidFill>
                    <a:srgbClr val="000000"/>
                  </a:solidFill>
                  <a:latin typeface="+mj-lt"/>
                </a:rPr>
                <a:t>data 1</a:t>
              </a:r>
              <a:endParaRPr lang="en-US" sz="500" dirty="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358" name="Rectangle 74"/>
            <p:cNvSpPr>
              <a:spLocks noChangeArrowheads="1"/>
            </p:cNvSpPr>
            <p:nvPr/>
          </p:nvSpPr>
          <p:spPr bwMode="auto">
            <a:xfrm>
              <a:off x="2145" y="2657"/>
              <a:ext cx="145" cy="1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800" dirty="0">
                  <a:solidFill>
                    <a:srgbClr val="000000"/>
                  </a:solidFill>
                  <a:latin typeface="+mj-lt"/>
                </a:rPr>
                <a:t>Read</a:t>
              </a:r>
            </a:p>
            <a:p>
              <a:pPr>
                <a:lnSpc>
                  <a:spcPct val="90000"/>
                </a:lnSpc>
              </a:pPr>
              <a:r>
                <a:rPr lang="en-US" sz="800" dirty="0">
                  <a:solidFill>
                    <a:srgbClr val="000000"/>
                  </a:solidFill>
                  <a:latin typeface="+mj-lt"/>
                </a:rPr>
                <a:t>data 2</a:t>
              </a:r>
              <a:endParaRPr lang="en-US" sz="600" dirty="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359" name="Rectangle 75"/>
            <p:cNvSpPr>
              <a:spLocks noChangeArrowheads="1"/>
            </p:cNvSpPr>
            <p:nvPr/>
          </p:nvSpPr>
          <p:spPr bwMode="auto">
            <a:xfrm rot="16200000">
              <a:off x="1828" y="2603"/>
              <a:ext cx="442" cy="1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>
                  <a:solidFill>
                    <a:srgbClr val="000000"/>
                  </a:solidFill>
                  <a:latin typeface="+mj-lt"/>
                </a:rPr>
                <a:t>Register File</a:t>
              </a:r>
            </a:p>
          </p:txBody>
        </p:sp>
        <p:sp>
          <p:nvSpPr>
            <p:cNvPr id="54360" name="Rectangle 76"/>
            <p:cNvSpPr>
              <a:spLocks noChangeArrowheads="1"/>
            </p:cNvSpPr>
            <p:nvPr/>
          </p:nvSpPr>
          <p:spPr bwMode="auto">
            <a:xfrm>
              <a:off x="1743" y="3137"/>
              <a:ext cx="154" cy="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900">
                  <a:solidFill>
                    <a:srgbClr val="000000"/>
                  </a:solidFill>
                  <a:latin typeface="+mj-lt"/>
                </a:rPr>
                <a:t>[15-0]</a:t>
              </a:r>
              <a:endParaRPr lang="en-US" sz="5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361" name="Rectangle 77"/>
            <p:cNvSpPr>
              <a:spLocks noChangeArrowheads="1"/>
            </p:cNvSpPr>
            <p:nvPr/>
          </p:nvSpPr>
          <p:spPr bwMode="auto">
            <a:xfrm>
              <a:off x="1740" y="3358"/>
              <a:ext cx="186" cy="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900">
                  <a:solidFill>
                    <a:srgbClr val="000000"/>
                  </a:solidFill>
                  <a:latin typeface="+mj-lt"/>
                </a:rPr>
                <a:t>[20-16]</a:t>
              </a:r>
            </a:p>
          </p:txBody>
        </p:sp>
        <p:sp>
          <p:nvSpPr>
            <p:cNvPr id="54362" name="Rectangle 78"/>
            <p:cNvSpPr>
              <a:spLocks noChangeArrowheads="1"/>
            </p:cNvSpPr>
            <p:nvPr/>
          </p:nvSpPr>
          <p:spPr bwMode="auto">
            <a:xfrm>
              <a:off x="1743" y="3550"/>
              <a:ext cx="186" cy="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900">
                  <a:solidFill>
                    <a:srgbClr val="000000"/>
                  </a:solidFill>
                  <a:latin typeface="+mj-lt"/>
                </a:rPr>
                <a:t>[15-11]</a:t>
              </a:r>
            </a:p>
          </p:txBody>
        </p:sp>
        <p:sp>
          <p:nvSpPr>
            <p:cNvPr id="54363" name="Freeform 79"/>
            <p:cNvSpPr>
              <a:spLocks/>
            </p:cNvSpPr>
            <p:nvPr/>
          </p:nvSpPr>
          <p:spPr bwMode="auto">
            <a:xfrm>
              <a:off x="1629" y="3213"/>
              <a:ext cx="24" cy="24"/>
            </a:xfrm>
            <a:custGeom>
              <a:avLst/>
              <a:gdLst>
                <a:gd name="T0" fmla="*/ 10 w 24"/>
                <a:gd name="T1" fmla="*/ 23 h 24"/>
                <a:gd name="T2" fmla="*/ 14 w 24"/>
                <a:gd name="T3" fmla="*/ 23 h 24"/>
                <a:gd name="T4" fmla="*/ 16 w 24"/>
                <a:gd name="T5" fmla="*/ 23 h 24"/>
                <a:gd name="T6" fmla="*/ 16 w 24"/>
                <a:gd name="T7" fmla="*/ 21 h 24"/>
                <a:gd name="T8" fmla="*/ 18 w 24"/>
                <a:gd name="T9" fmla="*/ 21 h 24"/>
                <a:gd name="T10" fmla="*/ 20 w 24"/>
                <a:gd name="T11" fmla="*/ 19 h 24"/>
                <a:gd name="T12" fmla="*/ 22 w 24"/>
                <a:gd name="T13" fmla="*/ 18 h 24"/>
                <a:gd name="T14" fmla="*/ 22 w 24"/>
                <a:gd name="T15" fmla="*/ 18 h 24"/>
                <a:gd name="T16" fmla="*/ 22 w 24"/>
                <a:gd name="T17" fmla="*/ 16 h 24"/>
                <a:gd name="T18" fmla="*/ 23 w 24"/>
                <a:gd name="T19" fmla="*/ 14 h 24"/>
                <a:gd name="T20" fmla="*/ 23 w 24"/>
                <a:gd name="T21" fmla="*/ 12 h 24"/>
                <a:gd name="T22" fmla="*/ 23 w 24"/>
                <a:gd name="T23" fmla="*/ 10 h 24"/>
                <a:gd name="T24" fmla="*/ 22 w 24"/>
                <a:gd name="T25" fmla="*/ 8 h 24"/>
                <a:gd name="T26" fmla="*/ 22 w 24"/>
                <a:gd name="T27" fmla="*/ 6 h 24"/>
                <a:gd name="T28" fmla="*/ 22 w 24"/>
                <a:gd name="T29" fmla="*/ 4 h 24"/>
                <a:gd name="T30" fmla="*/ 20 w 24"/>
                <a:gd name="T31" fmla="*/ 4 h 24"/>
                <a:gd name="T32" fmla="*/ 18 w 24"/>
                <a:gd name="T33" fmla="*/ 2 h 24"/>
                <a:gd name="T34" fmla="*/ 16 w 24"/>
                <a:gd name="T35" fmla="*/ 2 h 24"/>
                <a:gd name="T36" fmla="*/ 16 w 24"/>
                <a:gd name="T37" fmla="*/ 0 h 24"/>
                <a:gd name="T38" fmla="*/ 14 w 24"/>
                <a:gd name="T39" fmla="*/ 0 h 24"/>
                <a:gd name="T40" fmla="*/ 12 w 24"/>
                <a:gd name="T41" fmla="*/ 0 h 24"/>
                <a:gd name="T42" fmla="*/ 10 w 24"/>
                <a:gd name="T43" fmla="*/ 0 h 24"/>
                <a:gd name="T44" fmla="*/ 8 w 24"/>
                <a:gd name="T45" fmla="*/ 0 h 24"/>
                <a:gd name="T46" fmla="*/ 6 w 24"/>
                <a:gd name="T47" fmla="*/ 2 h 24"/>
                <a:gd name="T48" fmla="*/ 4 w 24"/>
                <a:gd name="T49" fmla="*/ 2 h 24"/>
                <a:gd name="T50" fmla="*/ 2 w 24"/>
                <a:gd name="T51" fmla="*/ 4 h 24"/>
                <a:gd name="T52" fmla="*/ 2 w 24"/>
                <a:gd name="T53" fmla="*/ 4 h 24"/>
                <a:gd name="T54" fmla="*/ 0 w 24"/>
                <a:gd name="T55" fmla="*/ 6 h 24"/>
                <a:gd name="T56" fmla="*/ 0 w 24"/>
                <a:gd name="T57" fmla="*/ 8 h 24"/>
                <a:gd name="T58" fmla="*/ 0 w 24"/>
                <a:gd name="T59" fmla="*/ 10 h 24"/>
                <a:gd name="T60" fmla="*/ 0 w 24"/>
                <a:gd name="T61" fmla="*/ 12 h 24"/>
                <a:gd name="T62" fmla="*/ 0 w 24"/>
                <a:gd name="T63" fmla="*/ 14 h 24"/>
                <a:gd name="T64" fmla="*/ 0 w 24"/>
                <a:gd name="T65" fmla="*/ 16 h 24"/>
                <a:gd name="T66" fmla="*/ 0 w 24"/>
                <a:gd name="T67" fmla="*/ 18 h 24"/>
                <a:gd name="T68" fmla="*/ 2 w 24"/>
                <a:gd name="T69" fmla="*/ 18 h 24"/>
                <a:gd name="T70" fmla="*/ 2 w 24"/>
                <a:gd name="T71" fmla="*/ 19 h 24"/>
                <a:gd name="T72" fmla="*/ 4 w 24"/>
                <a:gd name="T73" fmla="*/ 21 h 24"/>
                <a:gd name="T74" fmla="*/ 6 w 24"/>
                <a:gd name="T75" fmla="*/ 21 h 24"/>
                <a:gd name="T76" fmla="*/ 8 w 24"/>
                <a:gd name="T77" fmla="*/ 23 h 24"/>
                <a:gd name="T78" fmla="*/ 10 w 24"/>
                <a:gd name="T79" fmla="*/ 23 h 24"/>
                <a:gd name="T80" fmla="*/ 12 w 24"/>
                <a:gd name="T81" fmla="*/ 23 h 24"/>
                <a:gd name="T82" fmla="*/ 12 w 24"/>
                <a:gd name="T83" fmla="*/ 23 h 24"/>
                <a:gd name="T84" fmla="*/ 10 w 24"/>
                <a:gd name="T85" fmla="*/ 23 h 2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4"/>
                <a:gd name="T130" fmla="*/ 0 h 24"/>
                <a:gd name="T131" fmla="*/ 24 w 24"/>
                <a:gd name="T132" fmla="*/ 24 h 24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4" h="24">
                  <a:moveTo>
                    <a:pt x="10" y="23"/>
                  </a:moveTo>
                  <a:lnTo>
                    <a:pt x="14" y="23"/>
                  </a:lnTo>
                  <a:lnTo>
                    <a:pt x="16" y="23"/>
                  </a:lnTo>
                  <a:lnTo>
                    <a:pt x="16" y="21"/>
                  </a:lnTo>
                  <a:lnTo>
                    <a:pt x="18" y="21"/>
                  </a:lnTo>
                  <a:lnTo>
                    <a:pt x="20" y="19"/>
                  </a:lnTo>
                  <a:lnTo>
                    <a:pt x="22" y="18"/>
                  </a:lnTo>
                  <a:lnTo>
                    <a:pt x="22" y="16"/>
                  </a:lnTo>
                  <a:lnTo>
                    <a:pt x="23" y="14"/>
                  </a:lnTo>
                  <a:lnTo>
                    <a:pt x="23" y="12"/>
                  </a:lnTo>
                  <a:lnTo>
                    <a:pt x="23" y="10"/>
                  </a:lnTo>
                  <a:lnTo>
                    <a:pt x="22" y="8"/>
                  </a:lnTo>
                  <a:lnTo>
                    <a:pt x="22" y="6"/>
                  </a:lnTo>
                  <a:lnTo>
                    <a:pt x="22" y="4"/>
                  </a:lnTo>
                  <a:lnTo>
                    <a:pt x="20" y="4"/>
                  </a:lnTo>
                  <a:lnTo>
                    <a:pt x="18" y="2"/>
                  </a:lnTo>
                  <a:lnTo>
                    <a:pt x="16" y="2"/>
                  </a:lnTo>
                  <a:lnTo>
                    <a:pt x="16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8" y="0"/>
                  </a:lnTo>
                  <a:lnTo>
                    <a:pt x="6" y="2"/>
                  </a:lnTo>
                  <a:lnTo>
                    <a:pt x="4" y="2"/>
                  </a:lnTo>
                  <a:lnTo>
                    <a:pt x="2" y="4"/>
                  </a:lnTo>
                  <a:lnTo>
                    <a:pt x="0" y="6"/>
                  </a:lnTo>
                  <a:lnTo>
                    <a:pt x="0" y="8"/>
                  </a:lnTo>
                  <a:lnTo>
                    <a:pt x="0" y="10"/>
                  </a:lnTo>
                  <a:lnTo>
                    <a:pt x="0" y="12"/>
                  </a:lnTo>
                  <a:lnTo>
                    <a:pt x="0" y="14"/>
                  </a:lnTo>
                  <a:lnTo>
                    <a:pt x="0" y="16"/>
                  </a:lnTo>
                  <a:lnTo>
                    <a:pt x="0" y="18"/>
                  </a:lnTo>
                  <a:lnTo>
                    <a:pt x="2" y="18"/>
                  </a:lnTo>
                  <a:lnTo>
                    <a:pt x="2" y="19"/>
                  </a:lnTo>
                  <a:lnTo>
                    <a:pt x="4" y="21"/>
                  </a:lnTo>
                  <a:lnTo>
                    <a:pt x="6" y="21"/>
                  </a:lnTo>
                  <a:lnTo>
                    <a:pt x="8" y="23"/>
                  </a:lnTo>
                  <a:lnTo>
                    <a:pt x="10" y="23"/>
                  </a:lnTo>
                  <a:lnTo>
                    <a:pt x="12" y="23"/>
                  </a:lnTo>
                  <a:lnTo>
                    <a:pt x="10" y="23"/>
                  </a:lnTo>
                </a:path>
              </a:pathLst>
            </a:custGeom>
            <a:solidFill>
              <a:srgbClr val="000000"/>
            </a:solidFill>
            <a:ln w="9525" cap="rnd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64" name="Freeform 80"/>
            <p:cNvSpPr>
              <a:spLocks/>
            </p:cNvSpPr>
            <p:nvPr/>
          </p:nvSpPr>
          <p:spPr bwMode="auto">
            <a:xfrm>
              <a:off x="2091" y="3039"/>
              <a:ext cx="215" cy="367"/>
            </a:xfrm>
            <a:custGeom>
              <a:avLst/>
              <a:gdLst>
                <a:gd name="T0" fmla="*/ 107 w 173"/>
                <a:gd name="T1" fmla="*/ 366 h 367"/>
                <a:gd name="T2" fmla="*/ 123 w 173"/>
                <a:gd name="T3" fmla="*/ 364 h 367"/>
                <a:gd name="T4" fmla="*/ 140 w 173"/>
                <a:gd name="T5" fmla="*/ 357 h 367"/>
                <a:gd name="T6" fmla="*/ 157 w 173"/>
                <a:gd name="T7" fmla="*/ 345 h 367"/>
                <a:gd name="T8" fmla="*/ 172 w 173"/>
                <a:gd name="T9" fmla="*/ 332 h 367"/>
                <a:gd name="T10" fmla="*/ 183 w 173"/>
                <a:gd name="T11" fmla="*/ 313 h 367"/>
                <a:gd name="T12" fmla="*/ 193 w 173"/>
                <a:gd name="T13" fmla="*/ 292 h 367"/>
                <a:gd name="T14" fmla="*/ 203 w 173"/>
                <a:gd name="T15" fmla="*/ 267 h 367"/>
                <a:gd name="T16" fmla="*/ 209 w 173"/>
                <a:gd name="T17" fmla="*/ 242 h 367"/>
                <a:gd name="T18" fmla="*/ 214 w 173"/>
                <a:gd name="T19" fmla="*/ 213 h 367"/>
                <a:gd name="T20" fmla="*/ 214 w 173"/>
                <a:gd name="T21" fmla="*/ 182 h 367"/>
                <a:gd name="T22" fmla="*/ 214 w 173"/>
                <a:gd name="T23" fmla="*/ 154 h 367"/>
                <a:gd name="T24" fmla="*/ 209 w 173"/>
                <a:gd name="T25" fmla="*/ 125 h 367"/>
                <a:gd name="T26" fmla="*/ 203 w 173"/>
                <a:gd name="T27" fmla="*/ 98 h 367"/>
                <a:gd name="T28" fmla="*/ 193 w 173"/>
                <a:gd name="T29" fmla="*/ 75 h 367"/>
                <a:gd name="T30" fmla="*/ 183 w 173"/>
                <a:gd name="T31" fmla="*/ 54 h 367"/>
                <a:gd name="T32" fmla="*/ 172 w 173"/>
                <a:gd name="T33" fmla="*/ 35 h 367"/>
                <a:gd name="T34" fmla="*/ 157 w 173"/>
                <a:gd name="T35" fmla="*/ 20 h 367"/>
                <a:gd name="T36" fmla="*/ 140 w 173"/>
                <a:gd name="T37" fmla="*/ 8 h 367"/>
                <a:gd name="T38" fmla="*/ 123 w 173"/>
                <a:gd name="T39" fmla="*/ 2 h 367"/>
                <a:gd name="T40" fmla="*/ 107 w 173"/>
                <a:gd name="T41" fmla="*/ 0 h 367"/>
                <a:gd name="T42" fmla="*/ 91 w 173"/>
                <a:gd name="T43" fmla="*/ 2 h 367"/>
                <a:gd name="T44" fmla="*/ 73 w 173"/>
                <a:gd name="T45" fmla="*/ 8 h 367"/>
                <a:gd name="T46" fmla="*/ 57 w 173"/>
                <a:gd name="T47" fmla="*/ 20 h 367"/>
                <a:gd name="T48" fmla="*/ 45 w 173"/>
                <a:gd name="T49" fmla="*/ 35 h 367"/>
                <a:gd name="T50" fmla="*/ 31 w 173"/>
                <a:gd name="T51" fmla="*/ 54 h 367"/>
                <a:gd name="T52" fmla="*/ 21 w 173"/>
                <a:gd name="T53" fmla="*/ 75 h 367"/>
                <a:gd name="T54" fmla="*/ 11 w 173"/>
                <a:gd name="T55" fmla="*/ 98 h 367"/>
                <a:gd name="T56" fmla="*/ 5 w 173"/>
                <a:gd name="T57" fmla="*/ 125 h 367"/>
                <a:gd name="T58" fmla="*/ 2 w 173"/>
                <a:gd name="T59" fmla="*/ 154 h 367"/>
                <a:gd name="T60" fmla="*/ 0 w 173"/>
                <a:gd name="T61" fmla="*/ 182 h 367"/>
                <a:gd name="T62" fmla="*/ 2 w 173"/>
                <a:gd name="T63" fmla="*/ 213 h 367"/>
                <a:gd name="T64" fmla="*/ 5 w 173"/>
                <a:gd name="T65" fmla="*/ 242 h 367"/>
                <a:gd name="T66" fmla="*/ 11 w 173"/>
                <a:gd name="T67" fmla="*/ 267 h 367"/>
                <a:gd name="T68" fmla="*/ 21 w 173"/>
                <a:gd name="T69" fmla="*/ 292 h 367"/>
                <a:gd name="T70" fmla="*/ 31 w 173"/>
                <a:gd name="T71" fmla="*/ 313 h 367"/>
                <a:gd name="T72" fmla="*/ 45 w 173"/>
                <a:gd name="T73" fmla="*/ 332 h 367"/>
                <a:gd name="T74" fmla="*/ 57 w 173"/>
                <a:gd name="T75" fmla="*/ 345 h 367"/>
                <a:gd name="T76" fmla="*/ 73 w 173"/>
                <a:gd name="T77" fmla="*/ 357 h 367"/>
                <a:gd name="T78" fmla="*/ 91 w 173"/>
                <a:gd name="T79" fmla="*/ 364 h 367"/>
                <a:gd name="T80" fmla="*/ 107 w 173"/>
                <a:gd name="T81" fmla="*/ 366 h 367"/>
                <a:gd name="T82" fmla="*/ 107 w 173"/>
                <a:gd name="T83" fmla="*/ 366 h 367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173"/>
                <a:gd name="T127" fmla="*/ 0 h 367"/>
                <a:gd name="T128" fmla="*/ 173 w 173"/>
                <a:gd name="T129" fmla="*/ 367 h 367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173" h="367">
                  <a:moveTo>
                    <a:pt x="86" y="366"/>
                  </a:moveTo>
                  <a:lnTo>
                    <a:pt x="99" y="364"/>
                  </a:lnTo>
                  <a:lnTo>
                    <a:pt x="113" y="357"/>
                  </a:lnTo>
                  <a:lnTo>
                    <a:pt x="126" y="345"/>
                  </a:lnTo>
                  <a:lnTo>
                    <a:pt x="138" y="332"/>
                  </a:lnTo>
                  <a:lnTo>
                    <a:pt x="147" y="313"/>
                  </a:lnTo>
                  <a:lnTo>
                    <a:pt x="155" y="292"/>
                  </a:lnTo>
                  <a:lnTo>
                    <a:pt x="163" y="267"/>
                  </a:lnTo>
                  <a:lnTo>
                    <a:pt x="168" y="242"/>
                  </a:lnTo>
                  <a:lnTo>
                    <a:pt x="172" y="213"/>
                  </a:lnTo>
                  <a:lnTo>
                    <a:pt x="172" y="182"/>
                  </a:lnTo>
                  <a:lnTo>
                    <a:pt x="172" y="154"/>
                  </a:lnTo>
                  <a:lnTo>
                    <a:pt x="168" y="125"/>
                  </a:lnTo>
                  <a:lnTo>
                    <a:pt x="163" y="98"/>
                  </a:lnTo>
                  <a:lnTo>
                    <a:pt x="155" y="75"/>
                  </a:lnTo>
                  <a:lnTo>
                    <a:pt x="147" y="54"/>
                  </a:lnTo>
                  <a:lnTo>
                    <a:pt x="138" y="35"/>
                  </a:lnTo>
                  <a:lnTo>
                    <a:pt x="126" y="20"/>
                  </a:lnTo>
                  <a:lnTo>
                    <a:pt x="113" y="8"/>
                  </a:lnTo>
                  <a:lnTo>
                    <a:pt x="99" y="2"/>
                  </a:lnTo>
                  <a:lnTo>
                    <a:pt x="86" y="0"/>
                  </a:lnTo>
                  <a:lnTo>
                    <a:pt x="73" y="2"/>
                  </a:lnTo>
                  <a:lnTo>
                    <a:pt x="59" y="8"/>
                  </a:lnTo>
                  <a:lnTo>
                    <a:pt x="46" y="20"/>
                  </a:lnTo>
                  <a:lnTo>
                    <a:pt x="36" y="35"/>
                  </a:lnTo>
                  <a:lnTo>
                    <a:pt x="25" y="54"/>
                  </a:lnTo>
                  <a:lnTo>
                    <a:pt x="17" y="75"/>
                  </a:lnTo>
                  <a:lnTo>
                    <a:pt x="9" y="98"/>
                  </a:lnTo>
                  <a:lnTo>
                    <a:pt x="4" y="125"/>
                  </a:lnTo>
                  <a:lnTo>
                    <a:pt x="2" y="154"/>
                  </a:lnTo>
                  <a:lnTo>
                    <a:pt x="0" y="182"/>
                  </a:lnTo>
                  <a:lnTo>
                    <a:pt x="2" y="213"/>
                  </a:lnTo>
                  <a:lnTo>
                    <a:pt x="4" y="242"/>
                  </a:lnTo>
                  <a:lnTo>
                    <a:pt x="9" y="267"/>
                  </a:lnTo>
                  <a:lnTo>
                    <a:pt x="17" y="292"/>
                  </a:lnTo>
                  <a:lnTo>
                    <a:pt x="25" y="313"/>
                  </a:lnTo>
                  <a:lnTo>
                    <a:pt x="36" y="332"/>
                  </a:lnTo>
                  <a:lnTo>
                    <a:pt x="46" y="345"/>
                  </a:lnTo>
                  <a:lnTo>
                    <a:pt x="59" y="357"/>
                  </a:lnTo>
                  <a:lnTo>
                    <a:pt x="73" y="364"/>
                  </a:lnTo>
                  <a:lnTo>
                    <a:pt x="86" y="366"/>
                  </a:lnTo>
                </a:path>
              </a:pathLst>
            </a:custGeom>
            <a:solidFill>
              <a:srgbClr val="EAEAEA"/>
            </a:solidFill>
            <a:ln w="190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65" name="Rectangle 81"/>
            <p:cNvSpPr>
              <a:spLocks noChangeArrowheads="1"/>
            </p:cNvSpPr>
            <p:nvPr/>
          </p:nvSpPr>
          <p:spPr bwMode="auto">
            <a:xfrm>
              <a:off x="2110" y="3124"/>
              <a:ext cx="180" cy="1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900" dirty="0">
                  <a:solidFill>
                    <a:srgbClr val="000000"/>
                  </a:solidFill>
                  <a:latin typeface="+mj-lt"/>
                </a:rPr>
                <a:t>Sign</a:t>
              </a:r>
            </a:p>
            <a:p>
              <a:pPr algn="ctr">
                <a:lnSpc>
                  <a:spcPct val="90000"/>
                </a:lnSpc>
              </a:pPr>
              <a:r>
                <a:rPr lang="en-US" sz="900" dirty="0">
                  <a:solidFill>
                    <a:srgbClr val="000000"/>
                  </a:solidFill>
                  <a:latin typeface="+mj-lt"/>
                </a:rPr>
                <a:t>extend</a:t>
              </a:r>
              <a:endParaRPr lang="en-US" sz="600" dirty="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366" name="Rectangle 82"/>
            <p:cNvSpPr>
              <a:spLocks noChangeArrowheads="1"/>
            </p:cNvSpPr>
            <p:nvPr/>
          </p:nvSpPr>
          <p:spPr bwMode="auto">
            <a:xfrm>
              <a:off x="1968" y="3123"/>
              <a:ext cx="64" cy="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900">
                  <a:solidFill>
                    <a:srgbClr val="000000"/>
                  </a:solidFill>
                  <a:latin typeface="+mj-lt"/>
                </a:rPr>
                <a:t>16</a:t>
              </a:r>
              <a:endParaRPr lang="en-US" sz="5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367" name="Rectangle 83"/>
            <p:cNvSpPr>
              <a:spLocks noChangeArrowheads="1"/>
            </p:cNvSpPr>
            <p:nvPr/>
          </p:nvSpPr>
          <p:spPr bwMode="auto">
            <a:xfrm>
              <a:off x="2319" y="3127"/>
              <a:ext cx="64" cy="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900">
                  <a:solidFill>
                    <a:srgbClr val="000000"/>
                  </a:solidFill>
                  <a:latin typeface="+mj-lt"/>
                </a:rPr>
                <a:t>32</a:t>
              </a:r>
              <a:endParaRPr lang="en-US" sz="5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368" name="Line 84"/>
            <p:cNvSpPr>
              <a:spLocks noChangeShapeType="1"/>
            </p:cNvSpPr>
            <p:nvPr/>
          </p:nvSpPr>
          <p:spPr bwMode="auto">
            <a:xfrm flipH="1">
              <a:off x="1637" y="2598"/>
              <a:ext cx="1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69" name="Line 85"/>
            <p:cNvSpPr>
              <a:spLocks noChangeShapeType="1"/>
            </p:cNvSpPr>
            <p:nvPr/>
          </p:nvSpPr>
          <p:spPr bwMode="auto">
            <a:xfrm flipH="1">
              <a:off x="1635" y="2434"/>
              <a:ext cx="17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70" name="Line 86"/>
            <p:cNvSpPr>
              <a:spLocks noChangeShapeType="1"/>
            </p:cNvSpPr>
            <p:nvPr/>
          </p:nvSpPr>
          <p:spPr bwMode="auto">
            <a:xfrm flipH="1">
              <a:off x="2325" y="2527"/>
              <a:ext cx="11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71" name="Line 87"/>
            <p:cNvSpPr>
              <a:spLocks noChangeShapeType="1"/>
            </p:cNvSpPr>
            <p:nvPr/>
          </p:nvSpPr>
          <p:spPr bwMode="auto">
            <a:xfrm flipH="1">
              <a:off x="2325" y="2721"/>
              <a:ext cx="11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72" name="Line 88"/>
            <p:cNvSpPr>
              <a:spLocks noChangeShapeType="1"/>
            </p:cNvSpPr>
            <p:nvPr/>
          </p:nvSpPr>
          <p:spPr bwMode="auto">
            <a:xfrm flipH="1">
              <a:off x="2063" y="2299"/>
              <a:ext cx="1" cy="51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73" name="Rectangle 89"/>
            <p:cNvSpPr>
              <a:spLocks noChangeArrowheads="1"/>
            </p:cNvSpPr>
            <p:nvPr/>
          </p:nvSpPr>
          <p:spPr bwMode="auto">
            <a:xfrm>
              <a:off x="2350" y="1757"/>
              <a:ext cx="256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+mj-lt"/>
                </a:rPr>
                <a:t>ID/EX</a:t>
              </a:r>
              <a:endParaRPr lang="en-US" sz="7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374" name="Rectangle 90"/>
            <p:cNvSpPr>
              <a:spLocks noChangeArrowheads="1"/>
            </p:cNvSpPr>
            <p:nvPr/>
          </p:nvSpPr>
          <p:spPr bwMode="auto">
            <a:xfrm>
              <a:off x="3440" y="1752"/>
              <a:ext cx="407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+mj-lt"/>
                </a:rPr>
                <a:t>EX/MEM</a:t>
              </a:r>
              <a:endParaRPr lang="en-US" sz="10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375" name="Rectangle 91"/>
            <p:cNvSpPr>
              <a:spLocks noChangeArrowheads="1"/>
            </p:cNvSpPr>
            <p:nvPr/>
          </p:nvSpPr>
          <p:spPr bwMode="auto">
            <a:xfrm>
              <a:off x="4527" y="1746"/>
              <a:ext cx="456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dirty="0">
                  <a:solidFill>
                    <a:srgbClr val="000000"/>
                  </a:solidFill>
                  <a:latin typeface="+mj-lt"/>
                </a:rPr>
                <a:t>MEM/WB</a:t>
              </a:r>
            </a:p>
          </p:txBody>
        </p:sp>
        <p:sp>
          <p:nvSpPr>
            <p:cNvPr id="54376" name="Rectangle 92"/>
            <p:cNvSpPr>
              <a:spLocks noChangeArrowheads="1"/>
            </p:cNvSpPr>
            <p:nvPr/>
          </p:nvSpPr>
          <p:spPr bwMode="auto">
            <a:xfrm rot="16200000" flipH="1">
              <a:off x="1389" y="2424"/>
              <a:ext cx="331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1000">
                  <a:solidFill>
                    <a:srgbClr val="000000"/>
                  </a:solidFill>
                  <a:latin typeface="+mj-lt"/>
                </a:rPr>
                <a:t>Instruction</a:t>
              </a:r>
              <a:endParaRPr lang="en-US" sz="7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377" name="Freeform 93"/>
            <p:cNvSpPr>
              <a:spLocks/>
            </p:cNvSpPr>
            <p:nvPr/>
          </p:nvSpPr>
          <p:spPr bwMode="auto">
            <a:xfrm>
              <a:off x="3789" y="2735"/>
              <a:ext cx="24" cy="24"/>
            </a:xfrm>
            <a:custGeom>
              <a:avLst/>
              <a:gdLst>
                <a:gd name="T0" fmla="*/ 10 w 24"/>
                <a:gd name="T1" fmla="*/ 23 h 24"/>
                <a:gd name="T2" fmla="*/ 14 w 24"/>
                <a:gd name="T3" fmla="*/ 23 h 24"/>
                <a:gd name="T4" fmla="*/ 14 w 24"/>
                <a:gd name="T5" fmla="*/ 23 h 24"/>
                <a:gd name="T6" fmla="*/ 16 w 24"/>
                <a:gd name="T7" fmla="*/ 23 h 24"/>
                <a:gd name="T8" fmla="*/ 18 w 24"/>
                <a:gd name="T9" fmla="*/ 21 h 24"/>
                <a:gd name="T10" fmla="*/ 20 w 24"/>
                <a:gd name="T11" fmla="*/ 19 h 24"/>
                <a:gd name="T12" fmla="*/ 20 w 24"/>
                <a:gd name="T13" fmla="*/ 19 h 24"/>
                <a:gd name="T14" fmla="*/ 21 w 24"/>
                <a:gd name="T15" fmla="*/ 17 h 24"/>
                <a:gd name="T16" fmla="*/ 21 w 24"/>
                <a:gd name="T17" fmla="*/ 15 h 24"/>
                <a:gd name="T18" fmla="*/ 23 w 24"/>
                <a:gd name="T19" fmla="*/ 13 h 24"/>
                <a:gd name="T20" fmla="*/ 23 w 24"/>
                <a:gd name="T21" fmla="*/ 12 h 24"/>
                <a:gd name="T22" fmla="*/ 23 w 24"/>
                <a:gd name="T23" fmla="*/ 10 h 24"/>
                <a:gd name="T24" fmla="*/ 21 w 24"/>
                <a:gd name="T25" fmla="*/ 8 h 24"/>
                <a:gd name="T26" fmla="*/ 21 w 24"/>
                <a:gd name="T27" fmla="*/ 6 h 24"/>
                <a:gd name="T28" fmla="*/ 20 w 24"/>
                <a:gd name="T29" fmla="*/ 6 h 24"/>
                <a:gd name="T30" fmla="*/ 20 w 24"/>
                <a:gd name="T31" fmla="*/ 4 h 24"/>
                <a:gd name="T32" fmla="*/ 18 w 24"/>
                <a:gd name="T33" fmla="*/ 2 h 24"/>
                <a:gd name="T34" fmla="*/ 16 w 24"/>
                <a:gd name="T35" fmla="*/ 2 h 24"/>
                <a:gd name="T36" fmla="*/ 14 w 24"/>
                <a:gd name="T37" fmla="*/ 0 h 24"/>
                <a:gd name="T38" fmla="*/ 14 w 24"/>
                <a:gd name="T39" fmla="*/ 0 h 24"/>
                <a:gd name="T40" fmla="*/ 12 w 24"/>
                <a:gd name="T41" fmla="*/ 0 h 24"/>
                <a:gd name="T42" fmla="*/ 10 w 24"/>
                <a:gd name="T43" fmla="*/ 0 h 24"/>
                <a:gd name="T44" fmla="*/ 8 w 24"/>
                <a:gd name="T45" fmla="*/ 0 h 24"/>
                <a:gd name="T46" fmla="*/ 6 w 24"/>
                <a:gd name="T47" fmla="*/ 2 h 24"/>
                <a:gd name="T48" fmla="*/ 4 w 24"/>
                <a:gd name="T49" fmla="*/ 2 h 24"/>
                <a:gd name="T50" fmla="*/ 2 w 24"/>
                <a:gd name="T51" fmla="*/ 4 h 24"/>
                <a:gd name="T52" fmla="*/ 2 w 24"/>
                <a:gd name="T53" fmla="*/ 6 h 24"/>
                <a:gd name="T54" fmla="*/ 0 w 24"/>
                <a:gd name="T55" fmla="*/ 6 h 24"/>
                <a:gd name="T56" fmla="*/ 0 w 24"/>
                <a:gd name="T57" fmla="*/ 8 h 24"/>
                <a:gd name="T58" fmla="*/ 0 w 24"/>
                <a:gd name="T59" fmla="*/ 10 h 24"/>
                <a:gd name="T60" fmla="*/ 0 w 24"/>
                <a:gd name="T61" fmla="*/ 12 h 24"/>
                <a:gd name="T62" fmla="*/ 0 w 24"/>
                <a:gd name="T63" fmla="*/ 13 h 24"/>
                <a:gd name="T64" fmla="*/ 0 w 24"/>
                <a:gd name="T65" fmla="*/ 15 h 24"/>
                <a:gd name="T66" fmla="*/ 0 w 24"/>
                <a:gd name="T67" fmla="*/ 17 h 24"/>
                <a:gd name="T68" fmla="*/ 2 w 24"/>
                <a:gd name="T69" fmla="*/ 19 h 24"/>
                <a:gd name="T70" fmla="*/ 2 w 24"/>
                <a:gd name="T71" fmla="*/ 19 h 24"/>
                <a:gd name="T72" fmla="*/ 4 w 24"/>
                <a:gd name="T73" fmla="*/ 21 h 24"/>
                <a:gd name="T74" fmla="*/ 6 w 24"/>
                <a:gd name="T75" fmla="*/ 23 h 24"/>
                <a:gd name="T76" fmla="*/ 8 w 24"/>
                <a:gd name="T77" fmla="*/ 23 h 24"/>
                <a:gd name="T78" fmla="*/ 10 w 24"/>
                <a:gd name="T79" fmla="*/ 23 h 24"/>
                <a:gd name="T80" fmla="*/ 12 w 24"/>
                <a:gd name="T81" fmla="*/ 23 h 24"/>
                <a:gd name="T82" fmla="*/ 12 w 24"/>
                <a:gd name="T83" fmla="*/ 23 h 24"/>
                <a:gd name="T84" fmla="*/ 10 w 24"/>
                <a:gd name="T85" fmla="*/ 23 h 2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4"/>
                <a:gd name="T130" fmla="*/ 0 h 24"/>
                <a:gd name="T131" fmla="*/ 24 w 24"/>
                <a:gd name="T132" fmla="*/ 24 h 24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4" h="24">
                  <a:moveTo>
                    <a:pt x="10" y="23"/>
                  </a:moveTo>
                  <a:lnTo>
                    <a:pt x="14" y="23"/>
                  </a:lnTo>
                  <a:lnTo>
                    <a:pt x="16" y="23"/>
                  </a:lnTo>
                  <a:lnTo>
                    <a:pt x="18" y="21"/>
                  </a:lnTo>
                  <a:lnTo>
                    <a:pt x="20" y="19"/>
                  </a:lnTo>
                  <a:lnTo>
                    <a:pt x="21" y="17"/>
                  </a:lnTo>
                  <a:lnTo>
                    <a:pt x="21" y="15"/>
                  </a:lnTo>
                  <a:lnTo>
                    <a:pt x="23" y="13"/>
                  </a:lnTo>
                  <a:lnTo>
                    <a:pt x="23" y="12"/>
                  </a:lnTo>
                  <a:lnTo>
                    <a:pt x="23" y="10"/>
                  </a:lnTo>
                  <a:lnTo>
                    <a:pt x="21" y="8"/>
                  </a:lnTo>
                  <a:lnTo>
                    <a:pt x="21" y="6"/>
                  </a:lnTo>
                  <a:lnTo>
                    <a:pt x="20" y="6"/>
                  </a:lnTo>
                  <a:lnTo>
                    <a:pt x="20" y="4"/>
                  </a:lnTo>
                  <a:lnTo>
                    <a:pt x="18" y="2"/>
                  </a:lnTo>
                  <a:lnTo>
                    <a:pt x="16" y="2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8" y="0"/>
                  </a:lnTo>
                  <a:lnTo>
                    <a:pt x="6" y="2"/>
                  </a:lnTo>
                  <a:lnTo>
                    <a:pt x="4" y="2"/>
                  </a:lnTo>
                  <a:lnTo>
                    <a:pt x="2" y="4"/>
                  </a:lnTo>
                  <a:lnTo>
                    <a:pt x="2" y="6"/>
                  </a:lnTo>
                  <a:lnTo>
                    <a:pt x="0" y="6"/>
                  </a:lnTo>
                  <a:lnTo>
                    <a:pt x="0" y="8"/>
                  </a:lnTo>
                  <a:lnTo>
                    <a:pt x="0" y="10"/>
                  </a:lnTo>
                  <a:lnTo>
                    <a:pt x="0" y="12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0" y="17"/>
                  </a:lnTo>
                  <a:lnTo>
                    <a:pt x="2" y="19"/>
                  </a:lnTo>
                  <a:lnTo>
                    <a:pt x="4" y="21"/>
                  </a:lnTo>
                  <a:lnTo>
                    <a:pt x="6" y="23"/>
                  </a:lnTo>
                  <a:lnTo>
                    <a:pt x="8" y="23"/>
                  </a:lnTo>
                  <a:lnTo>
                    <a:pt x="10" y="23"/>
                  </a:lnTo>
                  <a:lnTo>
                    <a:pt x="12" y="23"/>
                  </a:lnTo>
                  <a:lnTo>
                    <a:pt x="10" y="23"/>
                  </a:lnTo>
                </a:path>
              </a:pathLst>
            </a:custGeom>
            <a:solidFill>
              <a:srgbClr val="000000"/>
            </a:solidFill>
            <a:ln w="9525" cap="rnd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78" name="Line 94"/>
            <p:cNvSpPr>
              <a:spLocks noChangeShapeType="1"/>
            </p:cNvSpPr>
            <p:nvPr/>
          </p:nvSpPr>
          <p:spPr bwMode="auto">
            <a:xfrm flipH="1">
              <a:off x="3679" y="3003"/>
              <a:ext cx="250" cy="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79" name="Freeform 95"/>
            <p:cNvSpPr>
              <a:spLocks/>
            </p:cNvSpPr>
            <p:nvPr/>
          </p:nvSpPr>
          <p:spPr bwMode="auto">
            <a:xfrm>
              <a:off x="3801" y="2747"/>
              <a:ext cx="903" cy="611"/>
            </a:xfrm>
            <a:custGeom>
              <a:avLst/>
              <a:gdLst>
                <a:gd name="T0" fmla="*/ 902 w 1318"/>
                <a:gd name="T1" fmla="*/ 608 h 410"/>
                <a:gd name="T2" fmla="*/ 0 w 1318"/>
                <a:gd name="T3" fmla="*/ 610 h 410"/>
                <a:gd name="T4" fmla="*/ 0 w 1318"/>
                <a:gd name="T5" fmla="*/ 0 h 410"/>
                <a:gd name="T6" fmla="*/ 0 60000 65536"/>
                <a:gd name="T7" fmla="*/ 0 60000 65536"/>
                <a:gd name="T8" fmla="*/ 0 60000 65536"/>
                <a:gd name="T9" fmla="*/ 0 w 1318"/>
                <a:gd name="T10" fmla="*/ 0 h 410"/>
                <a:gd name="T11" fmla="*/ 1318 w 1318"/>
                <a:gd name="T12" fmla="*/ 410 h 41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18" h="410">
                  <a:moveTo>
                    <a:pt x="1317" y="408"/>
                  </a:moveTo>
                  <a:lnTo>
                    <a:pt x="0" y="409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triangl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80" name="Line 96"/>
            <p:cNvSpPr>
              <a:spLocks noChangeShapeType="1"/>
            </p:cNvSpPr>
            <p:nvPr/>
          </p:nvSpPr>
          <p:spPr bwMode="auto">
            <a:xfrm>
              <a:off x="3677" y="3558"/>
              <a:ext cx="1024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81" name="Line 97"/>
            <p:cNvSpPr>
              <a:spLocks noChangeShapeType="1"/>
            </p:cNvSpPr>
            <p:nvPr/>
          </p:nvSpPr>
          <p:spPr bwMode="auto">
            <a:xfrm flipH="1">
              <a:off x="3679" y="2747"/>
              <a:ext cx="253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82" name="Line 98"/>
            <p:cNvSpPr>
              <a:spLocks noChangeShapeType="1"/>
            </p:cNvSpPr>
            <p:nvPr/>
          </p:nvSpPr>
          <p:spPr bwMode="auto">
            <a:xfrm flipH="1">
              <a:off x="4551" y="2742"/>
              <a:ext cx="155" cy="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83" name="Line 99"/>
            <p:cNvSpPr>
              <a:spLocks noChangeShapeType="1"/>
            </p:cNvSpPr>
            <p:nvPr/>
          </p:nvSpPr>
          <p:spPr bwMode="auto">
            <a:xfrm flipH="1" flipV="1">
              <a:off x="4242" y="2482"/>
              <a:ext cx="1" cy="66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grpSp>
          <p:nvGrpSpPr>
            <p:cNvPr id="54384" name="Group 312"/>
            <p:cNvGrpSpPr>
              <a:grpSpLocks/>
            </p:cNvGrpSpPr>
            <p:nvPr/>
          </p:nvGrpSpPr>
          <p:grpSpPr bwMode="auto">
            <a:xfrm>
              <a:off x="3936" y="2378"/>
              <a:ext cx="609" cy="939"/>
              <a:chOff x="3936" y="2378"/>
              <a:chExt cx="609" cy="939"/>
            </a:xfrm>
          </p:grpSpPr>
          <p:sp>
            <p:nvSpPr>
              <p:cNvPr id="54457" name="Line 101"/>
              <p:cNvSpPr>
                <a:spLocks noChangeShapeType="1"/>
              </p:cNvSpPr>
              <p:nvPr/>
            </p:nvSpPr>
            <p:spPr bwMode="auto">
              <a:xfrm flipH="1">
                <a:off x="4248" y="3108"/>
                <a:ext cx="1" cy="105"/>
              </a:xfrm>
              <a:prstGeom prst="line">
                <a:avLst/>
              </a:prstGeom>
              <a:noFill/>
              <a:ln w="12700">
                <a:solidFill>
                  <a:srgbClr val="EB75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54460" name="Rectangle 104"/>
              <p:cNvSpPr>
                <a:spLocks noChangeArrowheads="1"/>
              </p:cNvSpPr>
              <p:nvPr/>
            </p:nvSpPr>
            <p:spPr bwMode="auto">
              <a:xfrm>
                <a:off x="3936" y="2553"/>
                <a:ext cx="609" cy="552"/>
              </a:xfrm>
              <a:prstGeom prst="rect">
                <a:avLst/>
              </a:prstGeom>
              <a:solidFill>
                <a:srgbClr val="FFFFCC"/>
              </a:solidFill>
              <a:ln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54461" name="Rectangle 105"/>
              <p:cNvSpPr>
                <a:spLocks noChangeArrowheads="1"/>
              </p:cNvSpPr>
              <p:nvPr/>
            </p:nvSpPr>
            <p:spPr bwMode="auto">
              <a:xfrm>
                <a:off x="3963" y="2712"/>
                <a:ext cx="208" cy="7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US" sz="900" dirty="0">
                    <a:solidFill>
                      <a:srgbClr val="000000"/>
                    </a:solidFill>
                    <a:latin typeface="+mj-lt"/>
                  </a:rPr>
                  <a:t>Address</a:t>
                </a:r>
                <a:endParaRPr lang="en-US" sz="800" dirty="0">
                  <a:solidFill>
                    <a:srgbClr val="000000"/>
                  </a:solidFill>
                  <a:latin typeface="+mj-lt"/>
                </a:endParaRPr>
              </a:p>
            </p:txBody>
          </p:sp>
          <p:sp>
            <p:nvSpPr>
              <p:cNvPr id="54462" name="Rectangle 106"/>
              <p:cNvSpPr>
                <a:spLocks noChangeArrowheads="1"/>
              </p:cNvSpPr>
              <p:nvPr/>
            </p:nvSpPr>
            <p:spPr bwMode="auto">
              <a:xfrm>
                <a:off x="3965" y="2933"/>
                <a:ext cx="147" cy="14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US" sz="900" dirty="0">
                    <a:solidFill>
                      <a:srgbClr val="000000"/>
                    </a:solidFill>
                    <a:latin typeface="+mj-lt"/>
                  </a:rPr>
                  <a:t>Write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sz="900" dirty="0">
                    <a:solidFill>
                      <a:srgbClr val="000000"/>
                    </a:solidFill>
                    <a:latin typeface="+mj-lt"/>
                  </a:rPr>
                  <a:t>Data</a:t>
                </a:r>
                <a:endParaRPr lang="en-US" sz="800" dirty="0">
                  <a:solidFill>
                    <a:srgbClr val="000000"/>
                  </a:solidFill>
                  <a:latin typeface="+mj-lt"/>
                </a:endParaRPr>
              </a:p>
            </p:txBody>
          </p:sp>
          <p:sp>
            <p:nvSpPr>
              <p:cNvPr id="54463" name="Rectangle 107"/>
              <p:cNvSpPr>
                <a:spLocks noChangeArrowheads="1"/>
              </p:cNvSpPr>
              <p:nvPr/>
            </p:nvSpPr>
            <p:spPr bwMode="auto">
              <a:xfrm>
                <a:off x="4368" y="2665"/>
                <a:ext cx="130" cy="14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US" sz="900" dirty="0">
                    <a:solidFill>
                      <a:srgbClr val="000000"/>
                    </a:solidFill>
                    <a:latin typeface="+mj-lt"/>
                  </a:rPr>
                  <a:t>Read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sz="900" dirty="0">
                    <a:solidFill>
                      <a:srgbClr val="000000"/>
                    </a:solidFill>
                    <a:latin typeface="+mj-lt"/>
                  </a:rPr>
                  <a:t>Data</a:t>
                </a:r>
                <a:endParaRPr lang="en-US" sz="500" dirty="0">
                  <a:solidFill>
                    <a:srgbClr val="000000"/>
                  </a:solidFill>
                  <a:latin typeface="+mj-lt"/>
                </a:endParaRPr>
              </a:p>
            </p:txBody>
          </p:sp>
          <p:sp>
            <p:nvSpPr>
              <p:cNvPr id="54464" name="Rectangle 108"/>
              <p:cNvSpPr>
                <a:spLocks noChangeArrowheads="1"/>
              </p:cNvSpPr>
              <p:nvPr/>
            </p:nvSpPr>
            <p:spPr bwMode="auto">
              <a:xfrm>
                <a:off x="4193" y="2868"/>
                <a:ext cx="297" cy="19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sz="1200">
                    <a:solidFill>
                      <a:srgbClr val="000000"/>
                    </a:solidFill>
                    <a:latin typeface="+mj-lt"/>
                  </a:rPr>
                  <a:t>Data</a:t>
                </a:r>
              </a:p>
              <a:p>
                <a:pPr algn="ctr">
                  <a:lnSpc>
                    <a:spcPct val="90000"/>
                  </a:lnSpc>
                </a:pPr>
                <a:r>
                  <a:rPr lang="en-US" sz="1200">
                    <a:solidFill>
                      <a:srgbClr val="000000"/>
                    </a:solidFill>
                    <a:latin typeface="+mj-lt"/>
                  </a:rPr>
                  <a:t>Memory</a:t>
                </a:r>
                <a:endParaRPr lang="en-US" sz="800">
                  <a:solidFill>
                    <a:srgbClr val="000000"/>
                  </a:solidFill>
                  <a:latin typeface="+mj-lt"/>
                </a:endParaRPr>
              </a:p>
            </p:txBody>
          </p:sp>
          <p:sp>
            <p:nvSpPr>
              <p:cNvPr id="54458" name="Rectangle 102"/>
              <p:cNvSpPr>
                <a:spLocks noChangeArrowheads="1"/>
              </p:cNvSpPr>
              <p:nvPr/>
            </p:nvSpPr>
            <p:spPr bwMode="auto">
              <a:xfrm>
                <a:off x="4073" y="3223"/>
                <a:ext cx="311" cy="9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050" dirty="0" err="1">
                    <a:solidFill>
                      <a:srgbClr val="EB7500"/>
                    </a:solidFill>
                    <a:latin typeface="+mj-lt"/>
                  </a:rPr>
                  <a:t>MemRead</a:t>
                </a:r>
                <a:endParaRPr lang="en-US" sz="1050" dirty="0">
                  <a:solidFill>
                    <a:srgbClr val="EB7500"/>
                  </a:solidFill>
                  <a:latin typeface="+mj-lt"/>
                </a:endParaRPr>
              </a:p>
            </p:txBody>
          </p:sp>
          <p:sp>
            <p:nvSpPr>
              <p:cNvPr id="54459" name="Rectangle 103"/>
              <p:cNvSpPr>
                <a:spLocks noChangeArrowheads="1"/>
              </p:cNvSpPr>
              <p:nvPr/>
            </p:nvSpPr>
            <p:spPr bwMode="auto">
              <a:xfrm>
                <a:off x="4063" y="2378"/>
                <a:ext cx="332" cy="9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050" dirty="0" err="1">
                    <a:solidFill>
                      <a:srgbClr val="EB7500"/>
                    </a:solidFill>
                    <a:latin typeface="+mj-lt"/>
                  </a:rPr>
                  <a:t>MemWrite</a:t>
                </a:r>
                <a:endParaRPr lang="en-US" sz="1050" dirty="0">
                  <a:solidFill>
                    <a:srgbClr val="EB7500"/>
                  </a:solidFill>
                  <a:latin typeface="+mj-lt"/>
                </a:endParaRPr>
              </a:p>
            </p:txBody>
          </p:sp>
        </p:grpSp>
        <p:sp>
          <p:nvSpPr>
            <p:cNvPr id="54385" name="Freeform 109"/>
            <p:cNvSpPr>
              <a:spLocks/>
            </p:cNvSpPr>
            <p:nvPr/>
          </p:nvSpPr>
          <p:spPr bwMode="auto">
            <a:xfrm>
              <a:off x="3755" y="2266"/>
              <a:ext cx="72" cy="58"/>
            </a:xfrm>
            <a:custGeom>
              <a:avLst/>
              <a:gdLst>
                <a:gd name="T0" fmla="*/ 0 w 72"/>
                <a:gd name="T1" fmla="*/ 0 h 72"/>
                <a:gd name="T2" fmla="*/ 2 w 72"/>
                <a:gd name="T3" fmla="*/ 71 h 72"/>
                <a:gd name="T4" fmla="*/ 71 w 72"/>
                <a:gd name="T5" fmla="*/ 71 h 72"/>
                <a:gd name="T6" fmla="*/ 0 60000 65536"/>
                <a:gd name="T7" fmla="*/ 0 60000 65536"/>
                <a:gd name="T8" fmla="*/ 0 60000 65536"/>
                <a:gd name="T9" fmla="*/ 0 w 72"/>
                <a:gd name="T10" fmla="*/ 0 h 72"/>
                <a:gd name="T11" fmla="*/ 72 w 72"/>
                <a:gd name="T12" fmla="*/ 72 h 7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2" h="72">
                  <a:moveTo>
                    <a:pt x="0" y="0"/>
                  </a:moveTo>
                  <a:lnTo>
                    <a:pt x="2" y="71"/>
                  </a:lnTo>
                  <a:lnTo>
                    <a:pt x="71" y="71"/>
                  </a:lnTo>
                </a:path>
              </a:pathLst>
            </a:custGeom>
            <a:noFill/>
            <a:ln w="12700" cap="rnd" cmpd="sng">
              <a:solidFill>
                <a:srgbClr val="EB75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86" name="Freeform 110"/>
            <p:cNvSpPr>
              <a:spLocks/>
            </p:cNvSpPr>
            <p:nvPr/>
          </p:nvSpPr>
          <p:spPr bwMode="auto">
            <a:xfrm>
              <a:off x="3686" y="2400"/>
              <a:ext cx="141" cy="229"/>
            </a:xfrm>
            <a:custGeom>
              <a:avLst/>
              <a:gdLst>
                <a:gd name="T0" fmla="*/ 0 w 141"/>
                <a:gd name="T1" fmla="*/ 228 h 229"/>
                <a:gd name="T2" fmla="*/ 71 w 141"/>
                <a:gd name="T3" fmla="*/ 228 h 229"/>
                <a:gd name="T4" fmla="*/ 71 w 141"/>
                <a:gd name="T5" fmla="*/ 0 h 229"/>
                <a:gd name="T6" fmla="*/ 140 w 141"/>
                <a:gd name="T7" fmla="*/ 0 h 22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1"/>
                <a:gd name="T13" fmla="*/ 0 h 229"/>
                <a:gd name="T14" fmla="*/ 141 w 141"/>
                <a:gd name="T15" fmla="*/ 229 h 22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1" h="229">
                  <a:moveTo>
                    <a:pt x="0" y="228"/>
                  </a:moveTo>
                  <a:lnTo>
                    <a:pt x="71" y="228"/>
                  </a:lnTo>
                  <a:lnTo>
                    <a:pt x="71" y="0"/>
                  </a:lnTo>
                  <a:lnTo>
                    <a:pt x="140" y="0"/>
                  </a:lnTo>
                </a:path>
              </a:pathLst>
            </a:custGeom>
            <a:noFill/>
            <a:ln w="12700" cap="rnd" cmpd="sng">
              <a:solidFill>
                <a:srgbClr val="EB75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87" name="Freeform 111"/>
            <p:cNvSpPr>
              <a:spLocks/>
            </p:cNvSpPr>
            <p:nvPr/>
          </p:nvSpPr>
          <p:spPr bwMode="auto">
            <a:xfrm>
              <a:off x="3826" y="2302"/>
              <a:ext cx="145" cy="122"/>
            </a:xfrm>
            <a:custGeom>
              <a:avLst/>
              <a:gdLst>
                <a:gd name="T0" fmla="*/ 85 w 145"/>
                <a:gd name="T1" fmla="*/ 119 h 122"/>
                <a:gd name="T2" fmla="*/ 96 w 145"/>
                <a:gd name="T3" fmla="*/ 119 h 122"/>
                <a:gd name="T4" fmla="*/ 104 w 145"/>
                <a:gd name="T5" fmla="*/ 117 h 122"/>
                <a:gd name="T6" fmla="*/ 113 w 145"/>
                <a:gd name="T7" fmla="*/ 113 h 122"/>
                <a:gd name="T8" fmla="*/ 121 w 145"/>
                <a:gd name="T9" fmla="*/ 107 h 122"/>
                <a:gd name="T10" fmla="*/ 127 w 145"/>
                <a:gd name="T11" fmla="*/ 102 h 122"/>
                <a:gd name="T12" fmla="*/ 132 w 145"/>
                <a:gd name="T13" fmla="*/ 96 h 122"/>
                <a:gd name="T14" fmla="*/ 138 w 145"/>
                <a:gd name="T15" fmla="*/ 88 h 122"/>
                <a:gd name="T16" fmla="*/ 142 w 145"/>
                <a:gd name="T17" fmla="*/ 79 h 122"/>
                <a:gd name="T18" fmla="*/ 144 w 145"/>
                <a:gd name="T19" fmla="*/ 69 h 122"/>
                <a:gd name="T20" fmla="*/ 144 w 145"/>
                <a:gd name="T21" fmla="*/ 60 h 122"/>
                <a:gd name="T22" fmla="*/ 144 w 145"/>
                <a:gd name="T23" fmla="*/ 50 h 122"/>
                <a:gd name="T24" fmla="*/ 142 w 145"/>
                <a:gd name="T25" fmla="*/ 40 h 122"/>
                <a:gd name="T26" fmla="*/ 138 w 145"/>
                <a:gd name="T27" fmla="*/ 33 h 122"/>
                <a:gd name="T28" fmla="*/ 132 w 145"/>
                <a:gd name="T29" fmla="*/ 25 h 122"/>
                <a:gd name="T30" fmla="*/ 127 w 145"/>
                <a:gd name="T31" fmla="*/ 17 h 122"/>
                <a:gd name="T32" fmla="*/ 121 w 145"/>
                <a:gd name="T33" fmla="*/ 12 h 122"/>
                <a:gd name="T34" fmla="*/ 113 w 145"/>
                <a:gd name="T35" fmla="*/ 6 h 122"/>
                <a:gd name="T36" fmla="*/ 104 w 145"/>
                <a:gd name="T37" fmla="*/ 2 h 122"/>
                <a:gd name="T38" fmla="*/ 96 w 145"/>
                <a:gd name="T39" fmla="*/ 0 h 122"/>
                <a:gd name="T40" fmla="*/ 86 w 145"/>
                <a:gd name="T41" fmla="*/ 0 h 122"/>
                <a:gd name="T42" fmla="*/ 0 w 145"/>
                <a:gd name="T43" fmla="*/ 0 h 122"/>
                <a:gd name="T44" fmla="*/ 0 w 145"/>
                <a:gd name="T45" fmla="*/ 121 h 122"/>
                <a:gd name="T46" fmla="*/ 86 w 145"/>
                <a:gd name="T47" fmla="*/ 121 h 122"/>
                <a:gd name="T48" fmla="*/ 86 w 145"/>
                <a:gd name="T49" fmla="*/ 121 h 122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145"/>
                <a:gd name="T76" fmla="*/ 0 h 122"/>
                <a:gd name="T77" fmla="*/ 145 w 145"/>
                <a:gd name="T78" fmla="*/ 122 h 122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145" h="122">
                  <a:moveTo>
                    <a:pt x="85" y="119"/>
                  </a:moveTo>
                  <a:lnTo>
                    <a:pt x="96" y="119"/>
                  </a:lnTo>
                  <a:lnTo>
                    <a:pt x="104" y="117"/>
                  </a:lnTo>
                  <a:lnTo>
                    <a:pt x="113" y="113"/>
                  </a:lnTo>
                  <a:lnTo>
                    <a:pt x="121" y="107"/>
                  </a:lnTo>
                  <a:lnTo>
                    <a:pt x="127" y="102"/>
                  </a:lnTo>
                  <a:lnTo>
                    <a:pt x="132" y="96"/>
                  </a:lnTo>
                  <a:lnTo>
                    <a:pt x="138" y="88"/>
                  </a:lnTo>
                  <a:lnTo>
                    <a:pt x="142" y="79"/>
                  </a:lnTo>
                  <a:lnTo>
                    <a:pt x="144" y="69"/>
                  </a:lnTo>
                  <a:lnTo>
                    <a:pt x="144" y="60"/>
                  </a:lnTo>
                  <a:lnTo>
                    <a:pt x="144" y="50"/>
                  </a:lnTo>
                  <a:lnTo>
                    <a:pt x="142" y="40"/>
                  </a:lnTo>
                  <a:lnTo>
                    <a:pt x="138" y="33"/>
                  </a:lnTo>
                  <a:lnTo>
                    <a:pt x="132" y="25"/>
                  </a:lnTo>
                  <a:lnTo>
                    <a:pt x="127" y="17"/>
                  </a:lnTo>
                  <a:lnTo>
                    <a:pt x="121" y="12"/>
                  </a:lnTo>
                  <a:lnTo>
                    <a:pt x="113" y="6"/>
                  </a:lnTo>
                  <a:lnTo>
                    <a:pt x="104" y="2"/>
                  </a:lnTo>
                  <a:lnTo>
                    <a:pt x="96" y="0"/>
                  </a:lnTo>
                  <a:lnTo>
                    <a:pt x="86" y="0"/>
                  </a:lnTo>
                  <a:lnTo>
                    <a:pt x="0" y="0"/>
                  </a:lnTo>
                  <a:lnTo>
                    <a:pt x="0" y="121"/>
                  </a:lnTo>
                  <a:lnTo>
                    <a:pt x="86" y="121"/>
                  </a:lnTo>
                </a:path>
              </a:pathLst>
            </a:custGeom>
            <a:solidFill>
              <a:srgbClr val="FFE6CD"/>
            </a:solidFill>
            <a:ln w="19050" cap="rnd" cmpd="sng">
              <a:solidFill>
                <a:srgbClr val="EB75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90" name="Line 114"/>
            <p:cNvSpPr>
              <a:spLocks noChangeShapeType="1"/>
            </p:cNvSpPr>
            <p:nvPr/>
          </p:nvSpPr>
          <p:spPr bwMode="auto">
            <a:xfrm>
              <a:off x="1543" y="3804"/>
              <a:ext cx="335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91" name="Line 115"/>
            <p:cNvSpPr>
              <a:spLocks noChangeShapeType="1"/>
            </p:cNvSpPr>
            <p:nvPr/>
          </p:nvSpPr>
          <p:spPr bwMode="auto">
            <a:xfrm flipV="1">
              <a:off x="1545" y="2751"/>
              <a:ext cx="0" cy="10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92" name="Line 116"/>
            <p:cNvSpPr>
              <a:spLocks noChangeShapeType="1"/>
            </p:cNvSpPr>
            <p:nvPr/>
          </p:nvSpPr>
          <p:spPr bwMode="auto">
            <a:xfrm>
              <a:off x="1541" y="2748"/>
              <a:ext cx="26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93" name="Line 117"/>
            <p:cNvSpPr>
              <a:spLocks noChangeShapeType="1"/>
            </p:cNvSpPr>
            <p:nvPr/>
          </p:nvSpPr>
          <p:spPr bwMode="auto">
            <a:xfrm>
              <a:off x="1725" y="2895"/>
              <a:ext cx="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94" name="Line 118"/>
            <p:cNvSpPr>
              <a:spLocks noChangeShapeType="1"/>
            </p:cNvSpPr>
            <p:nvPr/>
          </p:nvSpPr>
          <p:spPr bwMode="auto">
            <a:xfrm flipV="1">
              <a:off x="1728" y="2895"/>
              <a:ext cx="0" cy="99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95" name="Line 119"/>
            <p:cNvSpPr>
              <a:spLocks noChangeShapeType="1"/>
            </p:cNvSpPr>
            <p:nvPr/>
          </p:nvSpPr>
          <p:spPr bwMode="auto">
            <a:xfrm>
              <a:off x="1728" y="3882"/>
              <a:ext cx="3336" cy="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96" name="Line 120"/>
            <p:cNvSpPr>
              <a:spLocks noChangeShapeType="1"/>
            </p:cNvSpPr>
            <p:nvPr/>
          </p:nvSpPr>
          <p:spPr bwMode="auto">
            <a:xfrm flipV="1">
              <a:off x="4963" y="2651"/>
              <a:ext cx="0" cy="51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97" name="Line 121"/>
            <p:cNvSpPr>
              <a:spLocks noChangeShapeType="1"/>
            </p:cNvSpPr>
            <p:nvPr/>
          </p:nvSpPr>
          <p:spPr bwMode="auto">
            <a:xfrm flipH="1">
              <a:off x="4800" y="2744"/>
              <a:ext cx="115" cy="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98" name="Freeform 122"/>
            <p:cNvSpPr>
              <a:spLocks/>
            </p:cNvSpPr>
            <p:nvPr/>
          </p:nvSpPr>
          <p:spPr bwMode="auto">
            <a:xfrm>
              <a:off x="4800" y="2953"/>
              <a:ext cx="119" cy="405"/>
            </a:xfrm>
            <a:custGeom>
              <a:avLst/>
              <a:gdLst>
                <a:gd name="T0" fmla="*/ 118 w 104"/>
                <a:gd name="T1" fmla="*/ 0 h 204"/>
                <a:gd name="T2" fmla="*/ 60 w 104"/>
                <a:gd name="T3" fmla="*/ 0 h 204"/>
                <a:gd name="T4" fmla="*/ 60 w 104"/>
                <a:gd name="T5" fmla="*/ 403 h 204"/>
                <a:gd name="T6" fmla="*/ 0 w 104"/>
                <a:gd name="T7" fmla="*/ 403 h 20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4"/>
                <a:gd name="T13" fmla="*/ 0 h 204"/>
                <a:gd name="T14" fmla="*/ 104 w 104"/>
                <a:gd name="T15" fmla="*/ 204 h 20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4" h="204">
                  <a:moveTo>
                    <a:pt x="103" y="0"/>
                  </a:moveTo>
                  <a:lnTo>
                    <a:pt x="52" y="0"/>
                  </a:lnTo>
                  <a:lnTo>
                    <a:pt x="52" y="203"/>
                  </a:lnTo>
                  <a:lnTo>
                    <a:pt x="0" y="203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triangl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00" name="Line 124"/>
            <p:cNvSpPr>
              <a:spLocks noChangeShapeType="1"/>
            </p:cNvSpPr>
            <p:nvPr/>
          </p:nvSpPr>
          <p:spPr bwMode="auto">
            <a:xfrm>
              <a:off x="4803" y="3558"/>
              <a:ext cx="9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01" name="Line 125"/>
            <p:cNvSpPr>
              <a:spLocks noChangeShapeType="1"/>
            </p:cNvSpPr>
            <p:nvPr/>
          </p:nvSpPr>
          <p:spPr bwMode="auto">
            <a:xfrm rot="5400000">
              <a:off x="4770" y="3681"/>
              <a:ext cx="25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02" name="Line 126"/>
            <p:cNvSpPr>
              <a:spLocks noChangeShapeType="1"/>
            </p:cNvSpPr>
            <p:nvPr/>
          </p:nvSpPr>
          <p:spPr bwMode="auto">
            <a:xfrm flipV="1">
              <a:off x="5067" y="2847"/>
              <a:ext cx="0" cy="10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03" name="Line 127"/>
            <p:cNvSpPr>
              <a:spLocks noChangeShapeType="1"/>
            </p:cNvSpPr>
            <p:nvPr/>
          </p:nvSpPr>
          <p:spPr bwMode="auto">
            <a:xfrm flipV="1">
              <a:off x="5025" y="2847"/>
              <a:ext cx="42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04" name="Freeform 128"/>
            <p:cNvSpPr>
              <a:spLocks/>
            </p:cNvSpPr>
            <p:nvPr/>
          </p:nvSpPr>
          <p:spPr bwMode="auto">
            <a:xfrm>
              <a:off x="636" y="1885"/>
              <a:ext cx="276" cy="631"/>
            </a:xfrm>
            <a:custGeom>
              <a:avLst/>
              <a:gdLst>
                <a:gd name="T0" fmla="*/ 275 w 194"/>
                <a:gd name="T1" fmla="*/ 0 h 631"/>
                <a:gd name="T2" fmla="*/ 0 w 194"/>
                <a:gd name="T3" fmla="*/ 2 h 631"/>
                <a:gd name="T4" fmla="*/ 0 w 194"/>
                <a:gd name="T5" fmla="*/ 630 h 631"/>
                <a:gd name="T6" fmla="*/ 0 60000 65536"/>
                <a:gd name="T7" fmla="*/ 0 60000 65536"/>
                <a:gd name="T8" fmla="*/ 0 60000 65536"/>
                <a:gd name="T9" fmla="*/ 0 w 194"/>
                <a:gd name="T10" fmla="*/ 0 h 631"/>
                <a:gd name="T11" fmla="*/ 194 w 194"/>
                <a:gd name="T12" fmla="*/ 631 h 63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4" h="631">
                  <a:moveTo>
                    <a:pt x="193" y="0"/>
                  </a:moveTo>
                  <a:lnTo>
                    <a:pt x="0" y="2"/>
                  </a:lnTo>
                  <a:lnTo>
                    <a:pt x="0" y="63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triangl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05" name="Freeform 129"/>
            <p:cNvSpPr>
              <a:spLocks/>
            </p:cNvSpPr>
            <p:nvPr/>
          </p:nvSpPr>
          <p:spPr bwMode="auto">
            <a:xfrm>
              <a:off x="624" y="2503"/>
              <a:ext cx="24" cy="24"/>
            </a:xfrm>
            <a:custGeom>
              <a:avLst/>
              <a:gdLst>
                <a:gd name="T0" fmla="*/ 12 w 24"/>
                <a:gd name="T1" fmla="*/ 21 h 24"/>
                <a:gd name="T2" fmla="*/ 14 w 24"/>
                <a:gd name="T3" fmla="*/ 21 h 24"/>
                <a:gd name="T4" fmla="*/ 16 w 24"/>
                <a:gd name="T5" fmla="*/ 21 h 24"/>
                <a:gd name="T6" fmla="*/ 17 w 24"/>
                <a:gd name="T7" fmla="*/ 21 h 24"/>
                <a:gd name="T8" fmla="*/ 19 w 24"/>
                <a:gd name="T9" fmla="*/ 19 h 24"/>
                <a:gd name="T10" fmla="*/ 19 w 24"/>
                <a:gd name="T11" fmla="*/ 19 h 24"/>
                <a:gd name="T12" fmla="*/ 21 w 24"/>
                <a:gd name="T13" fmla="*/ 18 h 24"/>
                <a:gd name="T14" fmla="*/ 23 w 24"/>
                <a:gd name="T15" fmla="*/ 16 h 24"/>
                <a:gd name="T16" fmla="*/ 23 w 24"/>
                <a:gd name="T17" fmla="*/ 14 h 24"/>
                <a:gd name="T18" fmla="*/ 23 w 24"/>
                <a:gd name="T19" fmla="*/ 14 h 24"/>
                <a:gd name="T20" fmla="*/ 23 w 24"/>
                <a:gd name="T21" fmla="*/ 12 h 24"/>
                <a:gd name="T22" fmla="*/ 23 w 24"/>
                <a:gd name="T23" fmla="*/ 10 h 24"/>
                <a:gd name="T24" fmla="*/ 23 w 24"/>
                <a:gd name="T25" fmla="*/ 8 h 24"/>
                <a:gd name="T26" fmla="*/ 23 w 24"/>
                <a:gd name="T27" fmla="*/ 6 h 24"/>
                <a:gd name="T28" fmla="*/ 21 w 24"/>
                <a:gd name="T29" fmla="*/ 4 h 24"/>
                <a:gd name="T30" fmla="*/ 19 w 24"/>
                <a:gd name="T31" fmla="*/ 2 h 24"/>
                <a:gd name="T32" fmla="*/ 19 w 24"/>
                <a:gd name="T33" fmla="*/ 2 h 24"/>
                <a:gd name="T34" fmla="*/ 17 w 24"/>
                <a:gd name="T35" fmla="*/ 0 h 24"/>
                <a:gd name="T36" fmla="*/ 16 w 24"/>
                <a:gd name="T37" fmla="*/ 0 h 24"/>
                <a:gd name="T38" fmla="*/ 14 w 24"/>
                <a:gd name="T39" fmla="*/ 0 h 24"/>
                <a:gd name="T40" fmla="*/ 12 w 24"/>
                <a:gd name="T41" fmla="*/ 0 h 24"/>
                <a:gd name="T42" fmla="*/ 10 w 24"/>
                <a:gd name="T43" fmla="*/ 0 h 24"/>
                <a:gd name="T44" fmla="*/ 8 w 24"/>
                <a:gd name="T45" fmla="*/ 0 h 24"/>
                <a:gd name="T46" fmla="*/ 6 w 24"/>
                <a:gd name="T47" fmla="*/ 0 h 24"/>
                <a:gd name="T48" fmla="*/ 6 w 24"/>
                <a:gd name="T49" fmla="*/ 2 h 24"/>
                <a:gd name="T50" fmla="*/ 4 w 24"/>
                <a:gd name="T51" fmla="*/ 2 h 24"/>
                <a:gd name="T52" fmla="*/ 2 w 24"/>
                <a:gd name="T53" fmla="*/ 4 h 24"/>
                <a:gd name="T54" fmla="*/ 2 w 24"/>
                <a:gd name="T55" fmla="*/ 6 h 24"/>
                <a:gd name="T56" fmla="*/ 0 w 24"/>
                <a:gd name="T57" fmla="*/ 8 h 24"/>
                <a:gd name="T58" fmla="*/ 0 w 24"/>
                <a:gd name="T59" fmla="*/ 10 h 24"/>
                <a:gd name="T60" fmla="*/ 0 w 24"/>
                <a:gd name="T61" fmla="*/ 12 h 24"/>
                <a:gd name="T62" fmla="*/ 0 w 24"/>
                <a:gd name="T63" fmla="*/ 14 h 24"/>
                <a:gd name="T64" fmla="*/ 0 w 24"/>
                <a:gd name="T65" fmla="*/ 14 h 24"/>
                <a:gd name="T66" fmla="*/ 2 w 24"/>
                <a:gd name="T67" fmla="*/ 16 h 24"/>
                <a:gd name="T68" fmla="*/ 2 w 24"/>
                <a:gd name="T69" fmla="*/ 18 h 24"/>
                <a:gd name="T70" fmla="*/ 4 w 24"/>
                <a:gd name="T71" fmla="*/ 19 h 24"/>
                <a:gd name="T72" fmla="*/ 6 w 24"/>
                <a:gd name="T73" fmla="*/ 19 h 24"/>
                <a:gd name="T74" fmla="*/ 6 w 24"/>
                <a:gd name="T75" fmla="*/ 21 h 24"/>
                <a:gd name="T76" fmla="*/ 8 w 24"/>
                <a:gd name="T77" fmla="*/ 21 h 24"/>
                <a:gd name="T78" fmla="*/ 10 w 24"/>
                <a:gd name="T79" fmla="*/ 21 h 24"/>
                <a:gd name="T80" fmla="*/ 12 w 24"/>
                <a:gd name="T81" fmla="*/ 23 h 24"/>
                <a:gd name="T82" fmla="*/ 12 w 24"/>
                <a:gd name="T83" fmla="*/ 23 h 24"/>
                <a:gd name="T84" fmla="*/ 12 w 24"/>
                <a:gd name="T85" fmla="*/ 21 h 2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4"/>
                <a:gd name="T130" fmla="*/ 0 h 24"/>
                <a:gd name="T131" fmla="*/ 24 w 24"/>
                <a:gd name="T132" fmla="*/ 24 h 24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4" h="24">
                  <a:moveTo>
                    <a:pt x="12" y="21"/>
                  </a:moveTo>
                  <a:lnTo>
                    <a:pt x="14" y="21"/>
                  </a:lnTo>
                  <a:lnTo>
                    <a:pt x="16" y="21"/>
                  </a:lnTo>
                  <a:lnTo>
                    <a:pt x="17" y="21"/>
                  </a:lnTo>
                  <a:lnTo>
                    <a:pt x="19" y="19"/>
                  </a:lnTo>
                  <a:lnTo>
                    <a:pt x="21" y="18"/>
                  </a:lnTo>
                  <a:lnTo>
                    <a:pt x="23" y="16"/>
                  </a:lnTo>
                  <a:lnTo>
                    <a:pt x="23" y="14"/>
                  </a:lnTo>
                  <a:lnTo>
                    <a:pt x="23" y="12"/>
                  </a:lnTo>
                  <a:lnTo>
                    <a:pt x="23" y="10"/>
                  </a:lnTo>
                  <a:lnTo>
                    <a:pt x="23" y="8"/>
                  </a:lnTo>
                  <a:lnTo>
                    <a:pt x="23" y="6"/>
                  </a:lnTo>
                  <a:lnTo>
                    <a:pt x="21" y="4"/>
                  </a:lnTo>
                  <a:lnTo>
                    <a:pt x="19" y="2"/>
                  </a:lnTo>
                  <a:lnTo>
                    <a:pt x="17" y="0"/>
                  </a:lnTo>
                  <a:lnTo>
                    <a:pt x="16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8" y="0"/>
                  </a:lnTo>
                  <a:lnTo>
                    <a:pt x="6" y="0"/>
                  </a:lnTo>
                  <a:lnTo>
                    <a:pt x="6" y="2"/>
                  </a:lnTo>
                  <a:lnTo>
                    <a:pt x="4" y="2"/>
                  </a:lnTo>
                  <a:lnTo>
                    <a:pt x="2" y="4"/>
                  </a:lnTo>
                  <a:lnTo>
                    <a:pt x="2" y="6"/>
                  </a:lnTo>
                  <a:lnTo>
                    <a:pt x="0" y="8"/>
                  </a:lnTo>
                  <a:lnTo>
                    <a:pt x="0" y="10"/>
                  </a:lnTo>
                  <a:lnTo>
                    <a:pt x="0" y="12"/>
                  </a:lnTo>
                  <a:lnTo>
                    <a:pt x="0" y="14"/>
                  </a:lnTo>
                  <a:lnTo>
                    <a:pt x="2" y="16"/>
                  </a:lnTo>
                  <a:lnTo>
                    <a:pt x="2" y="18"/>
                  </a:lnTo>
                  <a:lnTo>
                    <a:pt x="4" y="19"/>
                  </a:lnTo>
                  <a:lnTo>
                    <a:pt x="6" y="19"/>
                  </a:lnTo>
                  <a:lnTo>
                    <a:pt x="6" y="21"/>
                  </a:lnTo>
                  <a:lnTo>
                    <a:pt x="8" y="21"/>
                  </a:lnTo>
                  <a:lnTo>
                    <a:pt x="10" y="21"/>
                  </a:lnTo>
                  <a:lnTo>
                    <a:pt x="12" y="23"/>
                  </a:lnTo>
                  <a:lnTo>
                    <a:pt x="12" y="21"/>
                  </a:lnTo>
                </a:path>
              </a:pathLst>
            </a:custGeom>
            <a:solidFill>
              <a:srgbClr val="000000"/>
            </a:solidFill>
            <a:ln w="9525" cap="rnd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06" name="Rectangle 130"/>
            <p:cNvSpPr>
              <a:spLocks noChangeArrowheads="1"/>
            </p:cNvSpPr>
            <p:nvPr/>
          </p:nvSpPr>
          <p:spPr bwMode="auto">
            <a:xfrm>
              <a:off x="695" y="2081"/>
              <a:ext cx="146" cy="1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sz="1200">
                  <a:solidFill>
                    <a:srgbClr val="000000"/>
                  </a:solidFill>
                  <a:latin typeface="+mj-lt"/>
                </a:rPr>
                <a:t>4</a:t>
              </a:r>
              <a:endParaRPr lang="en-US" sz="6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407" name="Freeform 131"/>
            <p:cNvSpPr>
              <a:spLocks/>
            </p:cNvSpPr>
            <p:nvPr/>
          </p:nvSpPr>
          <p:spPr bwMode="auto">
            <a:xfrm>
              <a:off x="1359" y="1917"/>
              <a:ext cx="93" cy="1777"/>
            </a:xfrm>
            <a:custGeom>
              <a:avLst/>
              <a:gdLst>
                <a:gd name="T0" fmla="*/ 90 w 93"/>
                <a:gd name="T1" fmla="*/ 1776 h 1777"/>
                <a:gd name="T2" fmla="*/ 92 w 93"/>
                <a:gd name="T3" fmla="*/ 0 h 1777"/>
                <a:gd name="T4" fmla="*/ 0 w 93"/>
                <a:gd name="T5" fmla="*/ 0 h 1777"/>
                <a:gd name="T6" fmla="*/ 0 w 93"/>
                <a:gd name="T7" fmla="*/ 1776 h 1777"/>
                <a:gd name="T8" fmla="*/ 92 w 93"/>
                <a:gd name="T9" fmla="*/ 1776 h 1777"/>
                <a:gd name="T10" fmla="*/ 92 w 93"/>
                <a:gd name="T11" fmla="*/ 1776 h 177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3"/>
                <a:gd name="T19" fmla="*/ 0 h 1777"/>
                <a:gd name="T20" fmla="*/ 93 w 93"/>
                <a:gd name="T21" fmla="*/ 1777 h 177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3" h="1777">
                  <a:moveTo>
                    <a:pt x="90" y="1776"/>
                  </a:moveTo>
                  <a:lnTo>
                    <a:pt x="92" y="0"/>
                  </a:lnTo>
                  <a:lnTo>
                    <a:pt x="0" y="0"/>
                  </a:lnTo>
                  <a:lnTo>
                    <a:pt x="0" y="1776"/>
                  </a:lnTo>
                  <a:lnTo>
                    <a:pt x="92" y="1776"/>
                  </a:lnTo>
                </a:path>
              </a:pathLst>
            </a:custGeom>
            <a:solidFill>
              <a:srgbClr val="CCECFF"/>
            </a:solidFill>
            <a:ln w="190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08" name="Line 132"/>
            <p:cNvSpPr>
              <a:spLocks noChangeShapeType="1"/>
            </p:cNvSpPr>
            <p:nvPr/>
          </p:nvSpPr>
          <p:spPr bwMode="auto">
            <a:xfrm flipH="1" flipV="1">
              <a:off x="1202" y="2021"/>
              <a:ext cx="163" cy="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09" name="Freeform 133"/>
            <p:cNvSpPr>
              <a:spLocks/>
            </p:cNvSpPr>
            <p:nvPr/>
          </p:nvSpPr>
          <p:spPr bwMode="auto">
            <a:xfrm>
              <a:off x="1236" y="2013"/>
              <a:ext cx="24" cy="24"/>
            </a:xfrm>
            <a:custGeom>
              <a:avLst/>
              <a:gdLst>
                <a:gd name="T0" fmla="*/ 9 w 24"/>
                <a:gd name="T1" fmla="*/ 23 h 24"/>
                <a:gd name="T2" fmla="*/ 13 w 24"/>
                <a:gd name="T3" fmla="*/ 23 h 24"/>
                <a:gd name="T4" fmla="*/ 15 w 24"/>
                <a:gd name="T5" fmla="*/ 23 h 24"/>
                <a:gd name="T6" fmla="*/ 15 w 24"/>
                <a:gd name="T7" fmla="*/ 21 h 24"/>
                <a:gd name="T8" fmla="*/ 17 w 24"/>
                <a:gd name="T9" fmla="*/ 21 h 24"/>
                <a:gd name="T10" fmla="*/ 19 w 24"/>
                <a:gd name="T11" fmla="*/ 19 h 24"/>
                <a:gd name="T12" fmla="*/ 19 w 24"/>
                <a:gd name="T13" fmla="*/ 19 h 24"/>
                <a:gd name="T14" fmla="*/ 21 w 24"/>
                <a:gd name="T15" fmla="*/ 17 h 24"/>
                <a:gd name="T16" fmla="*/ 21 w 24"/>
                <a:gd name="T17" fmla="*/ 15 h 24"/>
                <a:gd name="T18" fmla="*/ 23 w 24"/>
                <a:gd name="T19" fmla="*/ 13 h 24"/>
                <a:gd name="T20" fmla="*/ 23 w 24"/>
                <a:gd name="T21" fmla="*/ 11 h 24"/>
                <a:gd name="T22" fmla="*/ 23 w 24"/>
                <a:gd name="T23" fmla="*/ 9 h 24"/>
                <a:gd name="T24" fmla="*/ 21 w 24"/>
                <a:gd name="T25" fmla="*/ 8 h 24"/>
                <a:gd name="T26" fmla="*/ 21 w 24"/>
                <a:gd name="T27" fmla="*/ 6 h 24"/>
                <a:gd name="T28" fmla="*/ 19 w 24"/>
                <a:gd name="T29" fmla="*/ 6 h 24"/>
                <a:gd name="T30" fmla="*/ 19 w 24"/>
                <a:gd name="T31" fmla="*/ 4 h 24"/>
                <a:gd name="T32" fmla="*/ 17 w 24"/>
                <a:gd name="T33" fmla="*/ 2 h 24"/>
                <a:gd name="T34" fmla="*/ 15 w 24"/>
                <a:gd name="T35" fmla="*/ 2 h 24"/>
                <a:gd name="T36" fmla="*/ 15 w 24"/>
                <a:gd name="T37" fmla="*/ 0 h 24"/>
                <a:gd name="T38" fmla="*/ 13 w 24"/>
                <a:gd name="T39" fmla="*/ 0 h 24"/>
                <a:gd name="T40" fmla="*/ 11 w 24"/>
                <a:gd name="T41" fmla="*/ 0 h 24"/>
                <a:gd name="T42" fmla="*/ 9 w 24"/>
                <a:gd name="T43" fmla="*/ 0 h 24"/>
                <a:gd name="T44" fmla="*/ 7 w 24"/>
                <a:gd name="T45" fmla="*/ 0 h 24"/>
                <a:gd name="T46" fmla="*/ 5 w 24"/>
                <a:gd name="T47" fmla="*/ 2 h 24"/>
                <a:gd name="T48" fmla="*/ 4 w 24"/>
                <a:gd name="T49" fmla="*/ 2 h 24"/>
                <a:gd name="T50" fmla="*/ 2 w 24"/>
                <a:gd name="T51" fmla="*/ 4 h 24"/>
                <a:gd name="T52" fmla="*/ 2 w 24"/>
                <a:gd name="T53" fmla="*/ 6 h 24"/>
                <a:gd name="T54" fmla="*/ 0 w 24"/>
                <a:gd name="T55" fmla="*/ 6 h 24"/>
                <a:gd name="T56" fmla="*/ 0 w 24"/>
                <a:gd name="T57" fmla="*/ 8 h 24"/>
                <a:gd name="T58" fmla="*/ 0 w 24"/>
                <a:gd name="T59" fmla="*/ 9 h 24"/>
                <a:gd name="T60" fmla="*/ 0 w 24"/>
                <a:gd name="T61" fmla="*/ 11 h 24"/>
                <a:gd name="T62" fmla="*/ 0 w 24"/>
                <a:gd name="T63" fmla="*/ 13 h 24"/>
                <a:gd name="T64" fmla="*/ 0 w 24"/>
                <a:gd name="T65" fmla="*/ 15 h 24"/>
                <a:gd name="T66" fmla="*/ 0 w 24"/>
                <a:gd name="T67" fmla="*/ 17 h 24"/>
                <a:gd name="T68" fmla="*/ 2 w 24"/>
                <a:gd name="T69" fmla="*/ 19 h 24"/>
                <a:gd name="T70" fmla="*/ 2 w 24"/>
                <a:gd name="T71" fmla="*/ 19 h 24"/>
                <a:gd name="T72" fmla="*/ 4 w 24"/>
                <a:gd name="T73" fmla="*/ 21 h 24"/>
                <a:gd name="T74" fmla="*/ 5 w 24"/>
                <a:gd name="T75" fmla="*/ 21 h 24"/>
                <a:gd name="T76" fmla="*/ 7 w 24"/>
                <a:gd name="T77" fmla="*/ 23 h 24"/>
                <a:gd name="T78" fmla="*/ 9 w 24"/>
                <a:gd name="T79" fmla="*/ 23 h 24"/>
                <a:gd name="T80" fmla="*/ 11 w 24"/>
                <a:gd name="T81" fmla="*/ 23 h 24"/>
                <a:gd name="T82" fmla="*/ 11 w 24"/>
                <a:gd name="T83" fmla="*/ 23 h 24"/>
                <a:gd name="T84" fmla="*/ 9 w 24"/>
                <a:gd name="T85" fmla="*/ 23 h 2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4"/>
                <a:gd name="T130" fmla="*/ 0 h 24"/>
                <a:gd name="T131" fmla="*/ 24 w 24"/>
                <a:gd name="T132" fmla="*/ 24 h 24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4" h="24">
                  <a:moveTo>
                    <a:pt x="9" y="23"/>
                  </a:moveTo>
                  <a:lnTo>
                    <a:pt x="13" y="23"/>
                  </a:lnTo>
                  <a:lnTo>
                    <a:pt x="15" y="23"/>
                  </a:lnTo>
                  <a:lnTo>
                    <a:pt x="15" y="21"/>
                  </a:lnTo>
                  <a:lnTo>
                    <a:pt x="17" y="21"/>
                  </a:lnTo>
                  <a:lnTo>
                    <a:pt x="19" y="19"/>
                  </a:lnTo>
                  <a:lnTo>
                    <a:pt x="21" y="17"/>
                  </a:lnTo>
                  <a:lnTo>
                    <a:pt x="21" y="15"/>
                  </a:lnTo>
                  <a:lnTo>
                    <a:pt x="23" y="13"/>
                  </a:lnTo>
                  <a:lnTo>
                    <a:pt x="23" y="11"/>
                  </a:lnTo>
                  <a:lnTo>
                    <a:pt x="23" y="9"/>
                  </a:lnTo>
                  <a:lnTo>
                    <a:pt x="21" y="8"/>
                  </a:lnTo>
                  <a:lnTo>
                    <a:pt x="21" y="6"/>
                  </a:lnTo>
                  <a:lnTo>
                    <a:pt x="19" y="6"/>
                  </a:lnTo>
                  <a:lnTo>
                    <a:pt x="19" y="4"/>
                  </a:lnTo>
                  <a:lnTo>
                    <a:pt x="17" y="2"/>
                  </a:lnTo>
                  <a:lnTo>
                    <a:pt x="15" y="2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1" y="0"/>
                  </a:lnTo>
                  <a:lnTo>
                    <a:pt x="9" y="0"/>
                  </a:lnTo>
                  <a:lnTo>
                    <a:pt x="7" y="0"/>
                  </a:lnTo>
                  <a:lnTo>
                    <a:pt x="5" y="2"/>
                  </a:lnTo>
                  <a:lnTo>
                    <a:pt x="4" y="2"/>
                  </a:lnTo>
                  <a:lnTo>
                    <a:pt x="2" y="4"/>
                  </a:lnTo>
                  <a:lnTo>
                    <a:pt x="2" y="6"/>
                  </a:lnTo>
                  <a:lnTo>
                    <a:pt x="0" y="6"/>
                  </a:lnTo>
                  <a:lnTo>
                    <a:pt x="0" y="8"/>
                  </a:lnTo>
                  <a:lnTo>
                    <a:pt x="0" y="9"/>
                  </a:lnTo>
                  <a:lnTo>
                    <a:pt x="0" y="11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0" y="17"/>
                  </a:lnTo>
                  <a:lnTo>
                    <a:pt x="2" y="19"/>
                  </a:lnTo>
                  <a:lnTo>
                    <a:pt x="4" y="21"/>
                  </a:lnTo>
                  <a:lnTo>
                    <a:pt x="5" y="21"/>
                  </a:lnTo>
                  <a:lnTo>
                    <a:pt x="7" y="23"/>
                  </a:lnTo>
                  <a:lnTo>
                    <a:pt x="9" y="23"/>
                  </a:lnTo>
                  <a:lnTo>
                    <a:pt x="11" y="23"/>
                  </a:lnTo>
                  <a:lnTo>
                    <a:pt x="9" y="23"/>
                  </a:lnTo>
                </a:path>
              </a:pathLst>
            </a:custGeom>
            <a:solidFill>
              <a:srgbClr val="000000"/>
            </a:solidFill>
            <a:ln w="9525" cap="rnd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10" name="Freeform 134"/>
            <p:cNvSpPr>
              <a:spLocks/>
            </p:cNvSpPr>
            <p:nvPr/>
          </p:nvSpPr>
          <p:spPr bwMode="auto">
            <a:xfrm>
              <a:off x="915" y="1825"/>
              <a:ext cx="285" cy="413"/>
            </a:xfrm>
            <a:custGeom>
              <a:avLst/>
              <a:gdLst>
                <a:gd name="T0" fmla="*/ 0 w 210"/>
                <a:gd name="T1" fmla="*/ 0 h 413"/>
                <a:gd name="T2" fmla="*/ 0 w 210"/>
                <a:gd name="T3" fmla="*/ 167 h 413"/>
                <a:gd name="T4" fmla="*/ 91 w 210"/>
                <a:gd name="T5" fmla="*/ 207 h 413"/>
                <a:gd name="T6" fmla="*/ 0 w 210"/>
                <a:gd name="T7" fmla="*/ 245 h 413"/>
                <a:gd name="T8" fmla="*/ 0 w 210"/>
                <a:gd name="T9" fmla="*/ 412 h 413"/>
                <a:gd name="T10" fmla="*/ 284 w 210"/>
                <a:gd name="T11" fmla="*/ 286 h 413"/>
                <a:gd name="T12" fmla="*/ 284 w 210"/>
                <a:gd name="T13" fmla="*/ 127 h 413"/>
                <a:gd name="T14" fmla="*/ 0 w 210"/>
                <a:gd name="T15" fmla="*/ 0 h 413"/>
                <a:gd name="T16" fmla="*/ 0 w 210"/>
                <a:gd name="T17" fmla="*/ 0 h 41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10"/>
                <a:gd name="T28" fmla="*/ 0 h 413"/>
                <a:gd name="T29" fmla="*/ 210 w 210"/>
                <a:gd name="T30" fmla="*/ 413 h 413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10" h="413">
                  <a:moveTo>
                    <a:pt x="0" y="0"/>
                  </a:moveTo>
                  <a:lnTo>
                    <a:pt x="0" y="167"/>
                  </a:lnTo>
                  <a:lnTo>
                    <a:pt x="67" y="207"/>
                  </a:lnTo>
                  <a:lnTo>
                    <a:pt x="0" y="245"/>
                  </a:lnTo>
                  <a:lnTo>
                    <a:pt x="0" y="412"/>
                  </a:lnTo>
                  <a:lnTo>
                    <a:pt x="209" y="286"/>
                  </a:lnTo>
                  <a:lnTo>
                    <a:pt x="209" y="127"/>
                  </a:lnTo>
                  <a:lnTo>
                    <a:pt x="0" y="0"/>
                  </a:lnTo>
                </a:path>
              </a:pathLst>
            </a:custGeom>
            <a:solidFill>
              <a:srgbClr val="CCFF99"/>
            </a:solidFill>
            <a:ln w="190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11" name="Line 135"/>
            <p:cNvSpPr>
              <a:spLocks noChangeShapeType="1"/>
            </p:cNvSpPr>
            <p:nvPr/>
          </p:nvSpPr>
          <p:spPr bwMode="auto">
            <a:xfrm flipH="1">
              <a:off x="811" y="2168"/>
              <a:ext cx="102" cy="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12" name="Rectangle 136"/>
            <p:cNvSpPr>
              <a:spLocks noChangeArrowheads="1"/>
            </p:cNvSpPr>
            <p:nvPr/>
          </p:nvSpPr>
          <p:spPr bwMode="auto">
            <a:xfrm>
              <a:off x="812" y="2774"/>
              <a:ext cx="374" cy="2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000000"/>
                  </a:solidFill>
                  <a:latin typeface="+mj-lt"/>
                </a:rPr>
                <a:t>Instruction</a:t>
              </a:r>
            </a:p>
            <a:p>
              <a:pPr algn="ctr"/>
              <a:r>
                <a:rPr lang="en-US" sz="1200" dirty="0">
                  <a:solidFill>
                    <a:srgbClr val="000000"/>
                  </a:solidFill>
                  <a:latin typeface="+mj-lt"/>
                </a:rPr>
                <a:t>Memory</a:t>
              </a:r>
              <a:endParaRPr lang="en-US" sz="500" dirty="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413" name="Rectangle 138"/>
            <p:cNvSpPr>
              <a:spLocks noChangeArrowheads="1"/>
            </p:cNvSpPr>
            <p:nvPr/>
          </p:nvSpPr>
          <p:spPr bwMode="auto">
            <a:xfrm>
              <a:off x="747" y="2481"/>
              <a:ext cx="208" cy="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900">
                  <a:solidFill>
                    <a:srgbClr val="000000"/>
                  </a:solidFill>
                  <a:latin typeface="+mj-lt"/>
                </a:rPr>
                <a:t>Address</a:t>
              </a:r>
              <a:endParaRPr lang="en-US" sz="5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414" name="Rectangle 139"/>
            <p:cNvSpPr>
              <a:spLocks noChangeArrowheads="1"/>
            </p:cNvSpPr>
            <p:nvPr/>
          </p:nvSpPr>
          <p:spPr bwMode="auto">
            <a:xfrm>
              <a:off x="1042" y="1968"/>
              <a:ext cx="138" cy="1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dirty="0">
                  <a:solidFill>
                    <a:srgbClr val="000000"/>
                  </a:solidFill>
                  <a:latin typeface="+mj-lt"/>
                </a:rPr>
                <a:t>Add</a:t>
              </a:r>
              <a:endParaRPr lang="en-US" sz="500" dirty="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415" name="Rectangle 140"/>
            <p:cNvSpPr>
              <a:spLocks noChangeArrowheads="1"/>
            </p:cNvSpPr>
            <p:nvPr/>
          </p:nvSpPr>
          <p:spPr bwMode="auto">
            <a:xfrm>
              <a:off x="1311" y="1755"/>
              <a:ext cx="223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dirty="0">
                  <a:solidFill>
                    <a:srgbClr val="000000"/>
                  </a:solidFill>
                  <a:latin typeface="+mj-lt"/>
                </a:rPr>
                <a:t>IF/ID</a:t>
              </a:r>
            </a:p>
          </p:txBody>
        </p:sp>
        <p:grpSp>
          <p:nvGrpSpPr>
            <p:cNvPr id="54416" name="Group 141"/>
            <p:cNvGrpSpPr>
              <a:grpSpLocks/>
            </p:cNvGrpSpPr>
            <p:nvPr/>
          </p:nvGrpSpPr>
          <p:grpSpPr bwMode="auto">
            <a:xfrm>
              <a:off x="432" y="2393"/>
              <a:ext cx="156" cy="245"/>
              <a:chOff x="480" y="2155"/>
              <a:chExt cx="156" cy="245"/>
            </a:xfrm>
          </p:grpSpPr>
          <p:sp>
            <p:nvSpPr>
              <p:cNvPr id="54455" name="Freeform 142"/>
              <p:cNvSpPr>
                <a:spLocks/>
              </p:cNvSpPr>
              <p:nvPr/>
            </p:nvSpPr>
            <p:spPr bwMode="auto">
              <a:xfrm>
                <a:off x="480" y="2155"/>
                <a:ext cx="156" cy="245"/>
              </a:xfrm>
              <a:custGeom>
                <a:avLst/>
                <a:gdLst>
                  <a:gd name="T0" fmla="*/ 155 w 104"/>
                  <a:gd name="T1" fmla="*/ 242 h 245"/>
                  <a:gd name="T2" fmla="*/ 155 w 104"/>
                  <a:gd name="T3" fmla="*/ 0 h 245"/>
                  <a:gd name="T4" fmla="*/ 0 w 104"/>
                  <a:gd name="T5" fmla="*/ 0 h 245"/>
                  <a:gd name="T6" fmla="*/ 0 w 104"/>
                  <a:gd name="T7" fmla="*/ 244 h 245"/>
                  <a:gd name="T8" fmla="*/ 155 w 104"/>
                  <a:gd name="T9" fmla="*/ 244 h 245"/>
                  <a:gd name="T10" fmla="*/ 155 w 104"/>
                  <a:gd name="T11" fmla="*/ 244 h 24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04"/>
                  <a:gd name="T19" fmla="*/ 0 h 245"/>
                  <a:gd name="T20" fmla="*/ 104 w 104"/>
                  <a:gd name="T21" fmla="*/ 245 h 245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04" h="245">
                    <a:moveTo>
                      <a:pt x="103" y="242"/>
                    </a:moveTo>
                    <a:lnTo>
                      <a:pt x="103" y="0"/>
                    </a:lnTo>
                    <a:lnTo>
                      <a:pt x="0" y="0"/>
                    </a:lnTo>
                    <a:lnTo>
                      <a:pt x="0" y="244"/>
                    </a:lnTo>
                    <a:lnTo>
                      <a:pt x="103" y="244"/>
                    </a:lnTo>
                  </a:path>
                </a:pathLst>
              </a:custGeom>
              <a:solidFill>
                <a:srgbClr val="FFE6CD"/>
              </a:solidFill>
              <a:ln w="1905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54456" name="Rectangle 143"/>
              <p:cNvSpPr>
                <a:spLocks noChangeArrowheads="1"/>
              </p:cNvSpPr>
              <p:nvPr/>
            </p:nvSpPr>
            <p:spPr bwMode="auto">
              <a:xfrm>
                <a:off x="504" y="2220"/>
                <a:ext cx="90" cy="108"/>
              </a:xfrm>
              <a:prstGeom prst="rect">
                <a:avLst/>
              </a:prstGeom>
              <a:solidFill>
                <a:srgbClr val="FFE6CD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200" dirty="0">
                    <a:solidFill>
                      <a:srgbClr val="000000"/>
                    </a:solidFill>
                    <a:latin typeface="+mj-lt"/>
                  </a:rPr>
                  <a:t>PC</a:t>
                </a:r>
                <a:endParaRPr lang="en-US" sz="500" dirty="0">
                  <a:solidFill>
                    <a:srgbClr val="000000"/>
                  </a:solidFill>
                  <a:latin typeface="+mj-lt"/>
                </a:endParaRPr>
              </a:p>
            </p:txBody>
          </p:sp>
        </p:grpSp>
        <p:sp>
          <p:nvSpPr>
            <p:cNvPr id="54417" name="Line 144"/>
            <p:cNvSpPr>
              <a:spLocks noChangeShapeType="1"/>
            </p:cNvSpPr>
            <p:nvPr/>
          </p:nvSpPr>
          <p:spPr bwMode="auto">
            <a:xfrm flipH="1">
              <a:off x="1290" y="2688"/>
              <a:ext cx="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18" name="Line 145"/>
            <p:cNvSpPr>
              <a:spLocks noChangeShapeType="1"/>
            </p:cNvSpPr>
            <p:nvPr/>
          </p:nvSpPr>
          <p:spPr bwMode="auto">
            <a:xfrm flipV="1">
              <a:off x="1248" y="1782"/>
              <a:ext cx="0" cy="2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19" name="Line 146"/>
            <p:cNvSpPr>
              <a:spLocks noChangeShapeType="1"/>
            </p:cNvSpPr>
            <p:nvPr/>
          </p:nvSpPr>
          <p:spPr bwMode="auto">
            <a:xfrm flipH="1" flipV="1">
              <a:off x="3843" y="1594"/>
              <a:ext cx="0" cy="57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20" name="Line 147"/>
            <p:cNvSpPr>
              <a:spLocks noChangeShapeType="1"/>
            </p:cNvSpPr>
            <p:nvPr/>
          </p:nvSpPr>
          <p:spPr bwMode="auto">
            <a:xfrm rot="5400000" flipH="1" flipV="1">
              <a:off x="1011" y="1542"/>
              <a:ext cx="3" cy="47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21" name="Line 148"/>
            <p:cNvSpPr>
              <a:spLocks noChangeShapeType="1"/>
            </p:cNvSpPr>
            <p:nvPr/>
          </p:nvSpPr>
          <p:spPr bwMode="auto">
            <a:xfrm rot="16200000" flipV="1">
              <a:off x="3756" y="2077"/>
              <a:ext cx="3" cy="17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22" name="Line 149"/>
            <p:cNvSpPr>
              <a:spLocks noChangeShapeType="1"/>
            </p:cNvSpPr>
            <p:nvPr/>
          </p:nvSpPr>
          <p:spPr bwMode="auto">
            <a:xfrm rot="16200000" flipV="1">
              <a:off x="521" y="1529"/>
              <a:ext cx="0" cy="31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23" name="Line 150"/>
            <p:cNvSpPr>
              <a:spLocks noChangeShapeType="1"/>
            </p:cNvSpPr>
            <p:nvPr/>
          </p:nvSpPr>
          <p:spPr bwMode="auto">
            <a:xfrm flipV="1">
              <a:off x="360" y="1683"/>
              <a:ext cx="0" cy="83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24" name="Line 151"/>
            <p:cNvSpPr>
              <a:spLocks noChangeShapeType="1"/>
            </p:cNvSpPr>
            <p:nvPr/>
          </p:nvSpPr>
          <p:spPr bwMode="auto">
            <a:xfrm rot="16200000" flipV="1">
              <a:off x="393" y="2481"/>
              <a:ext cx="0" cy="6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grpSp>
          <p:nvGrpSpPr>
            <p:cNvPr id="54425" name="Group 152"/>
            <p:cNvGrpSpPr>
              <a:grpSpLocks/>
            </p:cNvGrpSpPr>
            <p:nvPr/>
          </p:nvGrpSpPr>
          <p:grpSpPr bwMode="auto">
            <a:xfrm>
              <a:off x="2754" y="3391"/>
              <a:ext cx="127" cy="309"/>
              <a:chOff x="2742" y="3153"/>
              <a:chExt cx="127" cy="309"/>
            </a:xfrm>
          </p:grpSpPr>
          <p:sp>
            <p:nvSpPr>
              <p:cNvPr id="54451" name="Rectangle 153"/>
              <p:cNvSpPr>
                <a:spLocks noChangeArrowheads="1"/>
              </p:cNvSpPr>
              <p:nvPr/>
            </p:nvSpPr>
            <p:spPr bwMode="auto">
              <a:xfrm>
                <a:off x="2745" y="3153"/>
                <a:ext cx="124" cy="108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r>
                  <a:rPr lang="en-US" sz="600" dirty="0">
                    <a:solidFill>
                      <a:srgbClr val="000000"/>
                    </a:solidFill>
                    <a:latin typeface="+mj-lt"/>
                  </a:rPr>
                  <a:t>0</a:t>
                </a:r>
              </a:p>
            </p:txBody>
          </p:sp>
          <p:sp>
            <p:nvSpPr>
              <p:cNvPr id="54452" name="Rectangle 154"/>
              <p:cNvSpPr>
                <a:spLocks noChangeArrowheads="1"/>
              </p:cNvSpPr>
              <p:nvPr/>
            </p:nvSpPr>
            <p:spPr bwMode="auto">
              <a:xfrm>
                <a:off x="2742" y="3354"/>
                <a:ext cx="124" cy="108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r>
                  <a:rPr lang="en-US" sz="600" dirty="0">
                    <a:solidFill>
                      <a:srgbClr val="000000"/>
                    </a:solidFill>
                    <a:latin typeface="+mj-lt"/>
                  </a:rPr>
                  <a:t>1</a:t>
                </a:r>
              </a:p>
            </p:txBody>
          </p:sp>
          <p:sp>
            <p:nvSpPr>
              <p:cNvPr id="54453" name="Rectangle 155"/>
              <p:cNvSpPr>
                <a:spLocks noChangeArrowheads="1"/>
              </p:cNvSpPr>
              <p:nvPr/>
            </p:nvSpPr>
            <p:spPr bwMode="auto">
              <a:xfrm>
                <a:off x="2793" y="3230"/>
                <a:ext cx="45" cy="151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>
                  <a:lnSpc>
                    <a:spcPct val="70000"/>
                  </a:lnSpc>
                </a:pPr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m</a:t>
                </a:r>
              </a:p>
              <a:p>
                <a:pPr algn="ctr">
                  <a:lnSpc>
                    <a:spcPct val="70000"/>
                  </a:lnSpc>
                </a:pPr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u</a:t>
                </a:r>
              </a:p>
              <a:p>
                <a:pPr algn="ctr">
                  <a:lnSpc>
                    <a:spcPct val="70000"/>
                  </a:lnSpc>
                </a:pPr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x</a:t>
                </a:r>
                <a:endParaRPr lang="en-US" sz="500">
                  <a:solidFill>
                    <a:srgbClr val="000000"/>
                  </a:solidFill>
                  <a:latin typeface="+mj-lt"/>
                </a:endParaRPr>
              </a:p>
            </p:txBody>
          </p:sp>
          <p:sp>
            <p:nvSpPr>
              <p:cNvPr id="54454" name="AutoShape 156"/>
              <p:cNvSpPr>
                <a:spLocks noChangeArrowheads="1"/>
              </p:cNvSpPr>
              <p:nvPr/>
            </p:nvSpPr>
            <p:spPr bwMode="auto">
              <a:xfrm rot="5400000">
                <a:off x="2665" y="3263"/>
                <a:ext cx="297" cy="96"/>
              </a:xfrm>
              <a:prstGeom prst="flowChartTerminator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>
                  <a:latin typeface="+mj-lt"/>
                </a:endParaRPr>
              </a:p>
            </p:txBody>
          </p:sp>
        </p:grpSp>
        <p:grpSp>
          <p:nvGrpSpPr>
            <p:cNvPr id="54426" name="Group 157"/>
            <p:cNvGrpSpPr>
              <a:grpSpLocks/>
            </p:cNvGrpSpPr>
            <p:nvPr/>
          </p:nvGrpSpPr>
          <p:grpSpPr bwMode="auto">
            <a:xfrm>
              <a:off x="2796" y="2665"/>
              <a:ext cx="127" cy="309"/>
              <a:chOff x="2748" y="3153"/>
              <a:chExt cx="127" cy="309"/>
            </a:xfrm>
          </p:grpSpPr>
          <p:sp>
            <p:nvSpPr>
              <p:cNvPr id="54447" name="Rectangle 158"/>
              <p:cNvSpPr>
                <a:spLocks noChangeArrowheads="1"/>
              </p:cNvSpPr>
              <p:nvPr/>
            </p:nvSpPr>
            <p:spPr bwMode="auto">
              <a:xfrm>
                <a:off x="2751" y="3153"/>
                <a:ext cx="124" cy="108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r>
                  <a:rPr lang="en-US" sz="600" dirty="0">
                    <a:solidFill>
                      <a:srgbClr val="000000"/>
                    </a:solidFill>
                    <a:latin typeface="+mj-lt"/>
                  </a:rPr>
                  <a:t>0</a:t>
                </a:r>
              </a:p>
            </p:txBody>
          </p:sp>
          <p:sp>
            <p:nvSpPr>
              <p:cNvPr id="54448" name="Rectangle 159"/>
              <p:cNvSpPr>
                <a:spLocks noChangeArrowheads="1"/>
              </p:cNvSpPr>
              <p:nvPr/>
            </p:nvSpPr>
            <p:spPr bwMode="auto">
              <a:xfrm>
                <a:off x="2748" y="3354"/>
                <a:ext cx="124" cy="108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r>
                  <a:rPr lang="en-US" sz="600" dirty="0">
                    <a:solidFill>
                      <a:srgbClr val="000000"/>
                    </a:solidFill>
                    <a:latin typeface="+mj-lt"/>
                  </a:rPr>
                  <a:t>1</a:t>
                </a:r>
              </a:p>
            </p:txBody>
          </p:sp>
          <p:sp>
            <p:nvSpPr>
              <p:cNvPr id="54449" name="Rectangle 160"/>
              <p:cNvSpPr>
                <a:spLocks noChangeArrowheads="1"/>
              </p:cNvSpPr>
              <p:nvPr/>
            </p:nvSpPr>
            <p:spPr bwMode="auto">
              <a:xfrm>
                <a:off x="2795" y="3238"/>
                <a:ext cx="40" cy="132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>
                  <a:lnSpc>
                    <a:spcPct val="70000"/>
                  </a:lnSpc>
                </a:pPr>
                <a:r>
                  <a:rPr lang="en-US" sz="700" dirty="0">
                    <a:solidFill>
                      <a:srgbClr val="000000"/>
                    </a:solidFill>
                    <a:latin typeface="+mj-lt"/>
                  </a:rPr>
                  <a:t>m</a:t>
                </a:r>
              </a:p>
              <a:p>
                <a:pPr algn="ctr">
                  <a:lnSpc>
                    <a:spcPct val="70000"/>
                  </a:lnSpc>
                </a:pPr>
                <a:r>
                  <a:rPr lang="en-US" sz="700" dirty="0">
                    <a:solidFill>
                      <a:srgbClr val="000000"/>
                    </a:solidFill>
                    <a:latin typeface="+mj-lt"/>
                  </a:rPr>
                  <a:t>u</a:t>
                </a:r>
              </a:p>
              <a:p>
                <a:pPr algn="ctr">
                  <a:lnSpc>
                    <a:spcPct val="70000"/>
                  </a:lnSpc>
                </a:pPr>
                <a:r>
                  <a:rPr lang="en-US" sz="700" dirty="0">
                    <a:solidFill>
                      <a:srgbClr val="000000"/>
                    </a:solidFill>
                    <a:latin typeface="+mj-lt"/>
                  </a:rPr>
                  <a:t>x</a:t>
                </a:r>
                <a:endParaRPr lang="en-US" sz="400" dirty="0">
                  <a:solidFill>
                    <a:srgbClr val="000000"/>
                  </a:solidFill>
                  <a:latin typeface="+mj-lt"/>
                </a:endParaRPr>
              </a:p>
            </p:txBody>
          </p:sp>
          <p:sp>
            <p:nvSpPr>
              <p:cNvPr id="54450" name="AutoShape 161"/>
              <p:cNvSpPr>
                <a:spLocks noChangeArrowheads="1"/>
              </p:cNvSpPr>
              <p:nvPr/>
            </p:nvSpPr>
            <p:spPr bwMode="auto">
              <a:xfrm rot="5400000">
                <a:off x="2665" y="3263"/>
                <a:ext cx="297" cy="96"/>
              </a:xfrm>
              <a:prstGeom prst="flowChartTerminator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>
                  <a:latin typeface="+mj-lt"/>
                </a:endParaRPr>
              </a:p>
            </p:txBody>
          </p:sp>
        </p:grpSp>
        <p:sp>
          <p:nvSpPr>
            <p:cNvPr id="54427" name="Line 162"/>
            <p:cNvSpPr>
              <a:spLocks noChangeShapeType="1"/>
            </p:cNvSpPr>
            <p:nvPr/>
          </p:nvSpPr>
          <p:spPr bwMode="auto">
            <a:xfrm flipV="1">
              <a:off x="3168" y="2844"/>
              <a:ext cx="0" cy="391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28" name="Line 163"/>
            <p:cNvSpPr>
              <a:spLocks noChangeShapeType="1"/>
            </p:cNvSpPr>
            <p:nvPr/>
          </p:nvSpPr>
          <p:spPr bwMode="auto">
            <a:xfrm rot="5400000" flipV="1">
              <a:off x="3142" y="3203"/>
              <a:ext cx="0" cy="52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grpSp>
          <p:nvGrpSpPr>
            <p:cNvPr id="54429" name="Group 164"/>
            <p:cNvGrpSpPr>
              <a:grpSpLocks/>
            </p:cNvGrpSpPr>
            <p:nvPr/>
          </p:nvGrpSpPr>
          <p:grpSpPr bwMode="auto">
            <a:xfrm flipH="1">
              <a:off x="672" y="1534"/>
              <a:ext cx="127" cy="309"/>
              <a:chOff x="2743" y="3153"/>
              <a:chExt cx="127" cy="309"/>
            </a:xfrm>
          </p:grpSpPr>
          <p:sp>
            <p:nvSpPr>
              <p:cNvPr id="54443" name="Rectangle 165"/>
              <p:cNvSpPr>
                <a:spLocks noChangeArrowheads="1"/>
              </p:cNvSpPr>
              <p:nvPr/>
            </p:nvSpPr>
            <p:spPr bwMode="auto">
              <a:xfrm>
                <a:off x="2746" y="3153"/>
                <a:ext cx="124" cy="108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r>
                  <a:rPr lang="en-US" sz="600" dirty="0">
                    <a:solidFill>
                      <a:srgbClr val="000000"/>
                    </a:solidFill>
                    <a:latin typeface="+mj-lt"/>
                  </a:rPr>
                  <a:t>0</a:t>
                </a:r>
              </a:p>
            </p:txBody>
          </p:sp>
          <p:sp>
            <p:nvSpPr>
              <p:cNvPr id="54444" name="Rectangle 166"/>
              <p:cNvSpPr>
                <a:spLocks noChangeArrowheads="1"/>
              </p:cNvSpPr>
              <p:nvPr/>
            </p:nvSpPr>
            <p:spPr bwMode="auto">
              <a:xfrm>
                <a:off x="2743" y="3354"/>
                <a:ext cx="124" cy="108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r>
                  <a:rPr lang="en-US" sz="600">
                    <a:solidFill>
                      <a:srgbClr val="000000"/>
                    </a:solidFill>
                    <a:latin typeface="+mj-lt"/>
                  </a:rPr>
                  <a:t>1</a:t>
                </a:r>
              </a:p>
            </p:txBody>
          </p:sp>
          <p:sp>
            <p:nvSpPr>
              <p:cNvPr id="54445" name="Rectangle 167"/>
              <p:cNvSpPr>
                <a:spLocks noChangeArrowheads="1"/>
              </p:cNvSpPr>
              <p:nvPr/>
            </p:nvSpPr>
            <p:spPr bwMode="auto">
              <a:xfrm>
                <a:off x="2795" y="3238"/>
                <a:ext cx="40" cy="132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>
                  <a:lnSpc>
                    <a:spcPct val="70000"/>
                  </a:lnSpc>
                </a:pPr>
                <a:r>
                  <a:rPr lang="en-US" sz="700">
                    <a:solidFill>
                      <a:srgbClr val="000000"/>
                    </a:solidFill>
                    <a:latin typeface="+mj-lt"/>
                  </a:rPr>
                  <a:t>m</a:t>
                </a:r>
              </a:p>
              <a:p>
                <a:pPr algn="ctr">
                  <a:lnSpc>
                    <a:spcPct val="70000"/>
                  </a:lnSpc>
                </a:pPr>
                <a:r>
                  <a:rPr lang="en-US" sz="700">
                    <a:solidFill>
                      <a:srgbClr val="000000"/>
                    </a:solidFill>
                    <a:latin typeface="+mj-lt"/>
                  </a:rPr>
                  <a:t>u</a:t>
                </a:r>
              </a:p>
              <a:p>
                <a:pPr algn="ctr">
                  <a:lnSpc>
                    <a:spcPct val="70000"/>
                  </a:lnSpc>
                </a:pPr>
                <a:r>
                  <a:rPr lang="en-US" sz="700">
                    <a:solidFill>
                      <a:srgbClr val="000000"/>
                    </a:solidFill>
                    <a:latin typeface="+mj-lt"/>
                  </a:rPr>
                  <a:t>x</a:t>
                </a:r>
                <a:endParaRPr lang="en-US" sz="400">
                  <a:solidFill>
                    <a:srgbClr val="000000"/>
                  </a:solidFill>
                  <a:latin typeface="+mj-lt"/>
                </a:endParaRPr>
              </a:p>
            </p:txBody>
          </p:sp>
          <p:sp>
            <p:nvSpPr>
              <p:cNvPr id="54446" name="AutoShape 168"/>
              <p:cNvSpPr>
                <a:spLocks noChangeArrowheads="1"/>
              </p:cNvSpPr>
              <p:nvPr/>
            </p:nvSpPr>
            <p:spPr bwMode="auto">
              <a:xfrm rot="5400000">
                <a:off x="2665" y="3263"/>
                <a:ext cx="297" cy="96"/>
              </a:xfrm>
              <a:prstGeom prst="flowChartTerminator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>
                  <a:latin typeface="+mj-lt"/>
                </a:endParaRPr>
              </a:p>
            </p:txBody>
          </p:sp>
        </p:grpSp>
        <p:grpSp>
          <p:nvGrpSpPr>
            <p:cNvPr id="54430" name="Group 169"/>
            <p:cNvGrpSpPr>
              <a:grpSpLocks/>
            </p:cNvGrpSpPr>
            <p:nvPr/>
          </p:nvGrpSpPr>
          <p:grpSpPr bwMode="auto">
            <a:xfrm>
              <a:off x="4899" y="2686"/>
              <a:ext cx="127" cy="309"/>
              <a:chOff x="2742" y="3153"/>
              <a:chExt cx="127" cy="309"/>
            </a:xfrm>
          </p:grpSpPr>
          <p:sp>
            <p:nvSpPr>
              <p:cNvPr id="54439" name="Rectangle 170"/>
              <p:cNvSpPr>
                <a:spLocks noChangeArrowheads="1"/>
              </p:cNvSpPr>
              <p:nvPr/>
            </p:nvSpPr>
            <p:spPr bwMode="auto">
              <a:xfrm>
                <a:off x="2745" y="3153"/>
                <a:ext cx="124" cy="108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r>
                  <a:rPr lang="en-US" sz="600" dirty="0">
                    <a:solidFill>
                      <a:srgbClr val="000000"/>
                    </a:solidFill>
                    <a:latin typeface="+mj-lt"/>
                  </a:rPr>
                  <a:t>0</a:t>
                </a:r>
              </a:p>
            </p:txBody>
          </p:sp>
          <p:sp>
            <p:nvSpPr>
              <p:cNvPr id="54440" name="Rectangle 171"/>
              <p:cNvSpPr>
                <a:spLocks noChangeArrowheads="1"/>
              </p:cNvSpPr>
              <p:nvPr/>
            </p:nvSpPr>
            <p:spPr bwMode="auto">
              <a:xfrm>
                <a:off x="2742" y="3354"/>
                <a:ext cx="124" cy="108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r>
                  <a:rPr lang="en-US" sz="600" dirty="0">
                    <a:solidFill>
                      <a:srgbClr val="000000"/>
                    </a:solidFill>
                    <a:latin typeface="+mj-lt"/>
                  </a:rPr>
                  <a:t>1</a:t>
                </a:r>
              </a:p>
            </p:txBody>
          </p:sp>
          <p:sp>
            <p:nvSpPr>
              <p:cNvPr id="54441" name="Rectangle 172"/>
              <p:cNvSpPr>
                <a:spLocks noChangeArrowheads="1"/>
              </p:cNvSpPr>
              <p:nvPr/>
            </p:nvSpPr>
            <p:spPr bwMode="auto">
              <a:xfrm>
                <a:off x="2795" y="3238"/>
                <a:ext cx="40" cy="132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>
                  <a:lnSpc>
                    <a:spcPct val="70000"/>
                  </a:lnSpc>
                </a:pPr>
                <a:r>
                  <a:rPr lang="en-US" sz="700">
                    <a:solidFill>
                      <a:srgbClr val="000000"/>
                    </a:solidFill>
                    <a:latin typeface="+mj-lt"/>
                  </a:rPr>
                  <a:t>m</a:t>
                </a:r>
              </a:p>
              <a:p>
                <a:pPr algn="ctr">
                  <a:lnSpc>
                    <a:spcPct val="70000"/>
                  </a:lnSpc>
                </a:pPr>
                <a:r>
                  <a:rPr lang="en-US" sz="700">
                    <a:solidFill>
                      <a:srgbClr val="000000"/>
                    </a:solidFill>
                    <a:latin typeface="+mj-lt"/>
                  </a:rPr>
                  <a:t>u</a:t>
                </a:r>
              </a:p>
              <a:p>
                <a:pPr algn="ctr">
                  <a:lnSpc>
                    <a:spcPct val="70000"/>
                  </a:lnSpc>
                </a:pPr>
                <a:r>
                  <a:rPr lang="en-US" sz="700">
                    <a:solidFill>
                      <a:srgbClr val="000000"/>
                    </a:solidFill>
                    <a:latin typeface="+mj-lt"/>
                  </a:rPr>
                  <a:t>x</a:t>
                </a:r>
                <a:endParaRPr lang="en-US" sz="400">
                  <a:solidFill>
                    <a:srgbClr val="000000"/>
                  </a:solidFill>
                  <a:latin typeface="+mj-lt"/>
                </a:endParaRPr>
              </a:p>
            </p:txBody>
          </p:sp>
          <p:sp>
            <p:nvSpPr>
              <p:cNvPr id="54442" name="AutoShape 173"/>
              <p:cNvSpPr>
                <a:spLocks noChangeArrowheads="1"/>
              </p:cNvSpPr>
              <p:nvPr/>
            </p:nvSpPr>
            <p:spPr bwMode="auto">
              <a:xfrm rot="5400000">
                <a:off x="2665" y="3263"/>
                <a:ext cx="297" cy="96"/>
              </a:xfrm>
              <a:prstGeom prst="flowChartTerminator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>
                  <a:latin typeface="+mj-lt"/>
                </a:endParaRPr>
              </a:p>
            </p:txBody>
          </p:sp>
        </p:grpSp>
        <p:sp>
          <p:nvSpPr>
            <p:cNvPr id="54431" name="Rectangle 174"/>
            <p:cNvSpPr>
              <a:spLocks noChangeArrowheads="1"/>
            </p:cNvSpPr>
            <p:nvPr/>
          </p:nvSpPr>
          <p:spPr bwMode="auto">
            <a:xfrm>
              <a:off x="882" y="2648"/>
              <a:ext cx="282" cy="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900" dirty="0">
                  <a:solidFill>
                    <a:srgbClr val="000000"/>
                  </a:solidFill>
                  <a:latin typeface="+mj-lt"/>
                </a:rPr>
                <a:t>Instruction</a:t>
              </a:r>
              <a:endParaRPr lang="en-US" sz="500" dirty="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432" name="Line 175"/>
            <p:cNvSpPr>
              <a:spLocks noChangeShapeType="1"/>
            </p:cNvSpPr>
            <p:nvPr/>
          </p:nvSpPr>
          <p:spPr bwMode="auto">
            <a:xfrm flipV="1">
              <a:off x="1638" y="2431"/>
              <a:ext cx="0" cy="121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33" name="Line 176"/>
            <p:cNvSpPr>
              <a:spLocks noChangeShapeType="1"/>
            </p:cNvSpPr>
            <p:nvPr/>
          </p:nvSpPr>
          <p:spPr bwMode="auto">
            <a:xfrm flipV="1">
              <a:off x="1639" y="3643"/>
              <a:ext cx="794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34" name="Line 177"/>
            <p:cNvSpPr>
              <a:spLocks noChangeShapeType="1"/>
            </p:cNvSpPr>
            <p:nvPr/>
          </p:nvSpPr>
          <p:spPr bwMode="auto">
            <a:xfrm flipH="1">
              <a:off x="777" y="1594"/>
              <a:ext cx="30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35" name="Line 178"/>
            <p:cNvSpPr>
              <a:spLocks noChangeShapeType="1"/>
            </p:cNvSpPr>
            <p:nvPr/>
          </p:nvSpPr>
          <p:spPr bwMode="auto">
            <a:xfrm flipV="1">
              <a:off x="3969" y="2359"/>
              <a:ext cx="65" cy="2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36" name="Line 179"/>
            <p:cNvSpPr>
              <a:spLocks noChangeShapeType="1"/>
            </p:cNvSpPr>
            <p:nvPr/>
          </p:nvSpPr>
          <p:spPr bwMode="auto">
            <a:xfrm rot="-5400000" flipH="1" flipV="1">
              <a:off x="3566" y="1901"/>
              <a:ext cx="926" cy="1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37" name="Line 180"/>
            <p:cNvSpPr>
              <a:spLocks noChangeShapeType="1"/>
            </p:cNvSpPr>
            <p:nvPr/>
          </p:nvSpPr>
          <p:spPr bwMode="auto">
            <a:xfrm>
              <a:off x="720" y="1438"/>
              <a:ext cx="3312" cy="0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38" name="Line 181"/>
            <p:cNvSpPr>
              <a:spLocks noChangeShapeType="1"/>
            </p:cNvSpPr>
            <p:nvPr/>
          </p:nvSpPr>
          <p:spPr bwMode="auto">
            <a:xfrm rot="-5400000" flipH="1" flipV="1">
              <a:off x="670" y="1491"/>
              <a:ext cx="107" cy="1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20" name="Rectangle 36"/>
            <p:cNvSpPr>
              <a:spLocks noChangeArrowheads="1"/>
            </p:cNvSpPr>
            <p:nvPr/>
          </p:nvSpPr>
          <p:spPr bwMode="auto">
            <a:xfrm>
              <a:off x="2658" y="2526"/>
              <a:ext cx="215" cy="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50" dirty="0" err="1">
                  <a:solidFill>
                    <a:srgbClr val="EB7500"/>
                  </a:solidFill>
                  <a:latin typeface="+mj-lt"/>
                </a:rPr>
                <a:t>ALUSrc</a:t>
              </a:r>
              <a:endParaRPr lang="en-US" sz="700" dirty="0">
                <a:solidFill>
                  <a:srgbClr val="EB7500"/>
                </a:solidFill>
                <a:latin typeface="+mj-lt"/>
              </a:endParaRPr>
            </a:p>
          </p:txBody>
        </p:sp>
        <p:sp>
          <p:nvSpPr>
            <p:cNvPr id="54348" name="Rectangle 64"/>
            <p:cNvSpPr>
              <a:spLocks noChangeArrowheads="1"/>
            </p:cNvSpPr>
            <p:nvPr/>
          </p:nvSpPr>
          <p:spPr bwMode="auto">
            <a:xfrm>
              <a:off x="3034" y="3421"/>
              <a:ext cx="217" cy="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50" dirty="0" err="1">
                  <a:solidFill>
                    <a:srgbClr val="EB7500"/>
                  </a:solidFill>
                  <a:latin typeface="+mj-lt"/>
                </a:rPr>
                <a:t>ALUOp</a:t>
              </a:r>
              <a:endParaRPr lang="en-US" sz="1050" dirty="0">
                <a:solidFill>
                  <a:srgbClr val="EB7500"/>
                </a:solidFill>
                <a:latin typeface="+mj-lt"/>
              </a:endParaRPr>
            </a:p>
          </p:txBody>
        </p:sp>
        <p:sp>
          <p:nvSpPr>
            <p:cNvPr id="54349" name="Rectangle 65"/>
            <p:cNvSpPr>
              <a:spLocks noChangeArrowheads="1"/>
            </p:cNvSpPr>
            <p:nvPr/>
          </p:nvSpPr>
          <p:spPr bwMode="auto">
            <a:xfrm>
              <a:off x="2841" y="3700"/>
              <a:ext cx="214" cy="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50">
                  <a:solidFill>
                    <a:srgbClr val="EB7500"/>
                  </a:solidFill>
                  <a:latin typeface="+mj-lt"/>
                </a:rPr>
                <a:t>RegDst</a:t>
              </a:r>
            </a:p>
          </p:txBody>
        </p:sp>
        <p:sp>
          <p:nvSpPr>
            <p:cNvPr id="54352" name="Rectangle 68"/>
            <p:cNvSpPr>
              <a:spLocks noChangeArrowheads="1"/>
            </p:cNvSpPr>
            <p:nvPr/>
          </p:nvSpPr>
          <p:spPr bwMode="auto">
            <a:xfrm>
              <a:off x="1913" y="2186"/>
              <a:ext cx="294" cy="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50" dirty="0" err="1">
                  <a:solidFill>
                    <a:srgbClr val="EB7500"/>
                  </a:solidFill>
                  <a:latin typeface="+mj-lt"/>
                </a:rPr>
                <a:t>RegWrite</a:t>
              </a:r>
              <a:endParaRPr lang="en-US" sz="1050" dirty="0">
                <a:solidFill>
                  <a:srgbClr val="EB7500"/>
                </a:solidFill>
                <a:latin typeface="+mj-lt"/>
              </a:endParaRPr>
            </a:p>
          </p:txBody>
        </p:sp>
        <p:sp>
          <p:nvSpPr>
            <p:cNvPr id="54388" name="Rectangle 112"/>
            <p:cNvSpPr>
              <a:spLocks noChangeArrowheads="1"/>
            </p:cNvSpPr>
            <p:nvPr/>
          </p:nvSpPr>
          <p:spPr bwMode="auto">
            <a:xfrm>
              <a:off x="3734" y="2172"/>
              <a:ext cx="220" cy="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50">
                  <a:solidFill>
                    <a:srgbClr val="EB7500"/>
                  </a:solidFill>
                  <a:latin typeface="+mj-lt"/>
                </a:rPr>
                <a:t>Branch</a:t>
              </a:r>
            </a:p>
          </p:txBody>
        </p:sp>
        <p:sp>
          <p:nvSpPr>
            <p:cNvPr id="54389" name="Rectangle 113"/>
            <p:cNvSpPr>
              <a:spLocks noChangeArrowheads="1"/>
            </p:cNvSpPr>
            <p:nvPr/>
          </p:nvSpPr>
          <p:spPr bwMode="auto">
            <a:xfrm>
              <a:off x="4056" y="1582"/>
              <a:ext cx="170" cy="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50">
                  <a:solidFill>
                    <a:srgbClr val="EB7500"/>
                  </a:solidFill>
                  <a:latin typeface="+mj-lt"/>
                </a:rPr>
                <a:t>PCSrc</a:t>
              </a:r>
            </a:p>
          </p:txBody>
        </p:sp>
        <p:sp>
          <p:nvSpPr>
            <p:cNvPr id="54399" name="Rectangle 123"/>
            <p:cNvSpPr>
              <a:spLocks noChangeArrowheads="1"/>
            </p:cNvSpPr>
            <p:nvPr/>
          </p:nvSpPr>
          <p:spPr bwMode="auto">
            <a:xfrm>
              <a:off x="4827" y="2541"/>
              <a:ext cx="341" cy="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50" dirty="0" err="1">
                  <a:solidFill>
                    <a:srgbClr val="EB7500"/>
                  </a:solidFill>
                  <a:latin typeface="+mj-lt"/>
                </a:rPr>
                <a:t>MemtoReg</a:t>
              </a:r>
              <a:endParaRPr lang="en-US" sz="1050" dirty="0">
                <a:solidFill>
                  <a:srgbClr val="EB7500"/>
                </a:solidFill>
                <a:latin typeface="+mj-lt"/>
              </a:endParaRPr>
            </a:p>
          </p:txBody>
        </p:sp>
      </p:grpSp>
      <p:sp>
        <p:nvSpPr>
          <p:cNvPr id="54276" name="Rectangle 266"/>
          <p:cNvSpPr>
            <a:spLocks noChangeArrowheads="1"/>
          </p:cNvSpPr>
          <p:nvPr/>
        </p:nvSpPr>
        <p:spPr bwMode="auto">
          <a:xfrm>
            <a:off x="1882151" y="3982578"/>
            <a:ext cx="319959" cy="369332"/>
          </a:xfrm>
          <a:prstGeom prst="rect">
            <a:avLst/>
          </a:prstGeom>
          <a:solidFill>
            <a:schemeClr val="bg1">
              <a:alpha val="85000"/>
            </a:schemeClr>
          </a:solidFill>
          <a:ln w="12700">
            <a:noFill/>
            <a:miter lim="800000"/>
            <a:headEnd type="none" w="sm" len="sm"/>
            <a:tailEnd type="none" w="lg" len="med"/>
          </a:ln>
        </p:spPr>
        <p:txBody>
          <a:bodyPr wrap="none" lIns="45720" tIns="45720" rIns="45720" bIns="4572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  <a:latin typeface="+mj-lt"/>
              </a:rPr>
              <a:t>lw</a:t>
            </a:r>
            <a:endParaRPr lang="en-US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54296" name="Rectangle 287"/>
          <p:cNvSpPr>
            <a:spLocks noChangeArrowheads="1"/>
          </p:cNvSpPr>
          <p:nvPr/>
        </p:nvSpPr>
        <p:spPr bwMode="auto">
          <a:xfrm>
            <a:off x="1809851" y="2887786"/>
            <a:ext cx="566822" cy="369332"/>
          </a:xfrm>
          <a:prstGeom prst="rect">
            <a:avLst/>
          </a:prstGeom>
          <a:solidFill>
            <a:schemeClr val="bg1">
              <a:alpha val="85000"/>
            </a:schemeClr>
          </a:solidFill>
          <a:ln w="12700">
            <a:noFill/>
            <a:miter lim="800000"/>
            <a:headEnd type="none" w="sm" len="sm"/>
            <a:tailEnd type="none" w="lg" len="med"/>
          </a:ln>
        </p:spPr>
        <p:txBody>
          <a:bodyPr wrap="none" lIns="45720" tIns="45720" rIns="45720" bIns="4572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+mj-lt"/>
              </a:rPr>
              <a:t>PC+4</a:t>
            </a:r>
          </a:p>
        </p:txBody>
      </p:sp>
      <p:sp>
        <p:nvSpPr>
          <p:cNvPr id="3" name="Rectangle 2"/>
          <p:cNvSpPr/>
          <p:nvPr/>
        </p:nvSpPr>
        <p:spPr>
          <a:xfrm>
            <a:off x="2902559" y="762000"/>
            <a:ext cx="219002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  <a:latin typeface="+mj-lt"/>
              </a:rPr>
              <a:t>R1 </a:t>
            </a:r>
            <a:r>
              <a:rPr lang="en-US" sz="2000" dirty="0">
                <a:solidFill>
                  <a:srgbClr val="0070C0"/>
                </a:solidFill>
                <a:latin typeface="+mj-lt"/>
                <a:sym typeface="Symbol" pitchFamily="18" charset="2"/>
              </a:rPr>
              <a:t> </a:t>
            </a:r>
            <a:r>
              <a:rPr lang="en-US" sz="2000" dirty="0" err="1">
                <a:solidFill>
                  <a:srgbClr val="0070C0"/>
                </a:solidFill>
                <a:latin typeface="+mj-lt"/>
                <a:sym typeface="Symbol" pitchFamily="18" charset="2"/>
              </a:rPr>
              <a:t>Mem</a:t>
            </a:r>
            <a:r>
              <a:rPr lang="en-US" sz="2000" dirty="0">
                <a:solidFill>
                  <a:srgbClr val="0070C0"/>
                </a:solidFill>
                <a:latin typeface="+mj-lt"/>
                <a:sym typeface="Symbol" pitchFamily="18" charset="2"/>
              </a:rPr>
              <a:t>[R2+30]</a:t>
            </a:r>
            <a:endParaRPr lang="en-US" sz="2000" dirty="0">
              <a:solidFill>
                <a:srgbClr val="0070C0"/>
              </a:solidFill>
              <a:latin typeface="+mj-lt"/>
            </a:endParaRPr>
          </a:p>
        </p:txBody>
      </p:sp>
      <p:sp>
        <p:nvSpPr>
          <p:cNvPr id="197" name="Rectangle 287"/>
          <p:cNvSpPr>
            <a:spLocks noChangeArrowheads="1"/>
          </p:cNvSpPr>
          <p:nvPr/>
        </p:nvSpPr>
        <p:spPr bwMode="auto">
          <a:xfrm>
            <a:off x="6776553" y="697468"/>
            <a:ext cx="345607" cy="369332"/>
          </a:xfrm>
          <a:prstGeom prst="rect">
            <a:avLst/>
          </a:prstGeom>
          <a:solidFill>
            <a:schemeClr val="bg1">
              <a:alpha val="85000"/>
            </a:schemeClr>
          </a:solidFill>
          <a:ln w="12700">
            <a:noFill/>
            <a:miter lim="800000"/>
            <a:headEnd type="none" w="sm" len="sm"/>
            <a:tailEnd type="none" w="lg" len="med"/>
          </a:ln>
        </p:spPr>
        <p:txBody>
          <a:bodyPr wrap="none" lIns="45720" tIns="45720" rIns="45720" bIns="4572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  <a:latin typeface="+mj-lt"/>
              </a:rPr>
              <a:t>PC</a:t>
            </a:r>
            <a:endParaRPr lang="en-US" dirty="0">
              <a:solidFill>
                <a:srgbClr val="FF0000"/>
              </a:solidFill>
              <a:latin typeface="+mj-lt"/>
            </a:endParaRPr>
          </a:p>
        </p:txBody>
      </p:sp>
      <p:cxnSp>
        <p:nvCxnSpPr>
          <p:cNvPr id="7" name="Straight Arrow Connector 6"/>
          <p:cNvCxnSpPr>
            <a:stCxn id="197" idx="2"/>
          </p:cNvCxnSpPr>
          <p:nvPr/>
        </p:nvCxnSpPr>
        <p:spPr bwMode="auto">
          <a:xfrm>
            <a:off x="6949357" y="1066800"/>
            <a:ext cx="5497" cy="228600"/>
          </a:xfrm>
          <a:prstGeom prst="straightConnector1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arrow"/>
          </a:ln>
          <a:effectLst/>
        </p:spPr>
      </p:cxnSp>
    </p:spTree>
    <p:custDataLst>
      <p:tags r:id="rId1"/>
    </p:custDataLst>
    <p:extLst>
      <p:ext uri="{BB962C8B-B14F-4D97-AF65-F5344CB8AC3E}">
        <p14:creationId xmlns:p14="http://schemas.microsoft.com/office/powerpoint/2010/main" val="34134996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4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4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4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4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7" presetClass="emph" presetSubtype="0" repeatCount="2000" fill="remove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" dur="250" autoRev="1" fill="remove"/>
                                        <p:tgtEl>
                                          <p:spTgt spid="5429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4" dur="250" autoRev="1" fill="remove"/>
                                        <p:tgtEl>
                                          <p:spTgt spid="5429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5" dur="250" autoRev="1" fill="remove"/>
                                        <p:tgtEl>
                                          <p:spTgt spid="5429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6" dur="250" autoRev="1" fill="remove"/>
                                        <p:tgtEl>
                                          <p:spTgt spid="5429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7" presetClass="emph" presetSubtype="0" repeatCount="2000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8" dur="250" autoRev="1" fill="remove"/>
                                        <p:tgtEl>
                                          <p:spTgt spid="5427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9" dur="250" autoRev="1" fill="remove"/>
                                        <p:tgtEl>
                                          <p:spTgt spid="5427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0" dur="250" autoRev="1" fill="remove"/>
                                        <p:tgtEl>
                                          <p:spTgt spid="5427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1" dur="250" autoRev="1" fill="remove"/>
                                        <p:tgtEl>
                                          <p:spTgt spid="5427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47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7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95" grpId="0"/>
      <p:bldP spid="54276" grpId="0" animBg="1"/>
      <p:bldP spid="54276" grpId="1" animBg="1"/>
      <p:bldP spid="54296" grpId="0" animBg="1"/>
      <p:bldP spid="54296" grpId="1" animBg="1"/>
      <p:bldP spid="3" grpId="0"/>
      <p:bldP spid="197" grpId="0" animBg="1"/>
    </p:bldLst>
  </p:timing>
  <p:extLst mod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762000" y="1166813"/>
            <a:ext cx="6240064" cy="661987"/>
            <a:chOff x="762000" y="1166813"/>
            <a:chExt cx="6240064" cy="661987"/>
          </a:xfrm>
        </p:grpSpPr>
        <p:sp>
          <p:nvSpPr>
            <p:cNvPr id="54277" name="Rectangle 268"/>
            <p:cNvSpPr>
              <a:spLocks noChangeArrowheads="1"/>
            </p:cNvSpPr>
            <p:nvPr/>
          </p:nvSpPr>
          <p:spPr bwMode="auto">
            <a:xfrm>
              <a:off x="865188" y="1543050"/>
              <a:ext cx="6070600" cy="2794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278" name="Rectangle 269"/>
            <p:cNvSpPr>
              <a:spLocks noChangeArrowheads="1"/>
            </p:cNvSpPr>
            <p:nvPr/>
          </p:nvSpPr>
          <p:spPr bwMode="auto">
            <a:xfrm>
              <a:off x="858838" y="1536700"/>
              <a:ext cx="1054100" cy="2921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279" name="Rectangle 270"/>
            <p:cNvSpPr>
              <a:spLocks noChangeArrowheads="1"/>
            </p:cNvSpPr>
            <p:nvPr/>
          </p:nvSpPr>
          <p:spPr bwMode="auto">
            <a:xfrm>
              <a:off x="1171575" y="1166813"/>
              <a:ext cx="429606" cy="36676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800" b="1" dirty="0">
                  <a:latin typeface="+mj-lt"/>
                </a:rPr>
                <a:t>op</a:t>
              </a:r>
              <a:endParaRPr lang="en-US" sz="1600" b="1" dirty="0">
                <a:latin typeface="+mj-lt"/>
              </a:endParaRPr>
            </a:p>
          </p:txBody>
        </p:sp>
        <p:sp>
          <p:nvSpPr>
            <p:cNvPr id="54280" name="Rectangle 271"/>
            <p:cNvSpPr>
              <a:spLocks noChangeArrowheads="1"/>
            </p:cNvSpPr>
            <p:nvPr/>
          </p:nvSpPr>
          <p:spPr bwMode="auto">
            <a:xfrm>
              <a:off x="1925638" y="1536700"/>
              <a:ext cx="977900" cy="2921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281" name="Rectangle 272"/>
            <p:cNvSpPr>
              <a:spLocks noChangeArrowheads="1"/>
            </p:cNvSpPr>
            <p:nvPr/>
          </p:nvSpPr>
          <p:spPr bwMode="auto">
            <a:xfrm>
              <a:off x="2209800" y="1166813"/>
              <a:ext cx="353046" cy="36676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800" b="1" dirty="0" err="1">
                  <a:latin typeface="+mj-lt"/>
                </a:rPr>
                <a:t>rs</a:t>
              </a:r>
              <a:endParaRPr lang="en-US" sz="1600" b="1" dirty="0">
                <a:latin typeface="+mj-lt"/>
              </a:endParaRPr>
            </a:p>
          </p:txBody>
        </p:sp>
        <p:sp>
          <p:nvSpPr>
            <p:cNvPr id="54282" name="Rectangle 273"/>
            <p:cNvSpPr>
              <a:spLocks noChangeArrowheads="1"/>
            </p:cNvSpPr>
            <p:nvPr/>
          </p:nvSpPr>
          <p:spPr bwMode="auto">
            <a:xfrm>
              <a:off x="2916238" y="1536700"/>
              <a:ext cx="977900" cy="2921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283" name="Rectangle 274"/>
            <p:cNvSpPr>
              <a:spLocks noChangeArrowheads="1"/>
            </p:cNvSpPr>
            <p:nvPr/>
          </p:nvSpPr>
          <p:spPr bwMode="auto">
            <a:xfrm>
              <a:off x="3200400" y="1166813"/>
              <a:ext cx="352662" cy="36676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800" b="1" dirty="0" err="1">
                  <a:latin typeface="+mj-lt"/>
                </a:rPr>
                <a:t>rt</a:t>
              </a:r>
              <a:endParaRPr lang="en-US" sz="1600" b="1" dirty="0">
                <a:latin typeface="+mj-lt"/>
              </a:endParaRPr>
            </a:p>
          </p:txBody>
        </p:sp>
        <p:sp>
          <p:nvSpPr>
            <p:cNvPr id="54284" name="Rectangle 275"/>
            <p:cNvSpPr>
              <a:spLocks noChangeArrowheads="1"/>
            </p:cNvSpPr>
            <p:nvPr/>
          </p:nvSpPr>
          <p:spPr bwMode="auto">
            <a:xfrm>
              <a:off x="3906838" y="1536700"/>
              <a:ext cx="3027362" cy="2921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285" name="Rectangle 276"/>
            <p:cNvSpPr>
              <a:spLocks noChangeArrowheads="1"/>
            </p:cNvSpPr>
            <p:nvPr/>
          </p:nvSpPr>
          <p:spPr bwMode="auto">
            <a:xfrm>
              <a:off x="4800600" y="1166813"/>
              <a:ext cx="1213346" cy="36676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800" b="1">
                  <a:latin typeface="+mj-lt"/>
                </a:rPr>
                <a:t>immediate</a:t>
              </a:r>
              <a:endParaRPr lang="en-US" sz="1600" b="1">
                <a:latin typeface="+mj-lt"/>
              </a:endParaRPr>
            </a:p>
          </p:txBody>
        </p:sp>
        <p:sp>
          <p:nvSpPr>
            <p:cNvPr id="54286" name="Rectangle 277"/>
            <p:cNvSpPr>
              <a:spLocks noChangeArrowheads="1"/>
            </p:cNvSpPr>
            <p:nvPr/>
          </p:nvSpPr>
          <p:spPr bwMode="auto">
            <a:xfrm>
              <a:off x="6715125" y="1225550"/>
              <a:ext cx="286939" cy="33598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600" dirty="0">
                  <a:latin typeface="+mj-lt"/>
                </a:rPr>
                <a:t>0</a:t>
              </a:r>
            </a:p>
          </p:txBody>
        </p:sp>
        <p:sp>
          <p:nvSpPr>
            <p:cNvPr id="54287" name="Rectangle 278"/>
            <p:cNvSpPr>
              <a:spLocks noChangeArrowheads="1"/>
            </p:cNvSpPr>
            <p:nvPr/>
          </p:nvSpPr>
          <p:spPr bwMode="auto">
            <a:xfrm>
              <a:off x="3581400" y="1225550"/>
              <a:ext cx="391134" cy="33598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600">
                  <a:latin typeface="+mj-lt"/>
                </a:rPr>
                <a:t>16</a:t>
              </a:r>
            </a:p>
          </p:txBody>
        </p:sp>
        <p:sp>
          <p:nvSpPr>
            <p:cNvPr id="54288" name="Rectangle 279"/>
            <p:cNvSpPr>
              <a:spLocks noChangeArrowheads="1"/>
            </p:cNvSpPr>
            <p:nvPr/>
          </p:nvSpPr>
          <p:spPr bwMode="auto">
            <a:xfrm>
              <a:off x="2590800" y="1225550"/>
              <a:ext cx="391134" cy="33598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600">
                  <a:latin typeface="+mj-lt"/>
                </a:rPr>
                <a:t>21</a:t>
              </a:r>
            </a:p>
          </p:txBody>
        </p:sp>
        <p:sp>
          <p:nvSpPr>
            <p:cNvPr id="54289" name="Rectangle 280"/>
            <p:cNvSpPr>
              <a:spLocks noChangeArrowheads="1"/>
            </p:cNvSpPr>
            <p:nvPr/>
          </p:nvSpPr>
          <p:spPr bwMode="auto">
            <a:xfrm>
              <a:off x="1600200" y="1225550"/>
              <a:ext cx="391134" cy="33598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600" dirty="0">
                  <a:latin typeface="+mj-lt"/>
                </a:rPr>
                <a:t>26</a:t>
              </a:r>
            </a:p>
          </p:txBody>
        </p:sp>
        <p:sp>
          <p:nvSpPr>
            <p:cNvPr id="54290" name="Rectangle 281"/>
            <p:cNvSpPr>
              <a:spLocks noChangeArrowheads="1"/>
            </p:cNvSpPr>
            <p:nvPr/>
          </p:nvSpPr>
          <p:spPr bwMode="auto">
            <a:xfrm>
              <a:off x="762000" y="1225550"/>
              <a:ext cx="391134" cy="33598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600" dirty="0">
                  <a:latin typeface="+mj-lt"/>
                </a:rPr>
                <a:t>31</a:t>
              </a:r>
            </a:p>
          </p:txBody>
        </p:sp>
        <p:sp>
          <p:nvSpPr>
            <p:cNvPr id="54291" name="Rectangle 282"/>
            <p:cNvSpPr>
              <a:spLocks noChangeArrowheads="1"/>
            </p:cNvSpPr>
            <p:nvPr/>
          </p:nvSpPr>
          <p:spPr bwMode="auto">
            <a:xfrm>
              <a:off x="2376488" y="1558925"/>
              <a:ext cx="104196" cy="246221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lg" len="med"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dirty="0">
                  <a:solidFill>
                    <a:srgbClr val="0070C0"/>
                  </a:solidFill>
                  <a:latin typeface="+mj-lt"/>
                </a:rPr>
                <a:t>2</a:t>
              </a:r>
              <a:endParaRPr lang="en-US" sz="1000" dirty="0">
                <a:solidFill>
                  <a:srgbClr val="0070C0"/>
                </a:solidFill>
                <a:latin typeface="+mj-lt"/>
              </a:endParaRPr>
            </a:p>
          </p:txBody>
        </p:sp>
        <p:sp>
          <p:nvSpPr>
            <p:cNvPr id="54292" name="Rectangle 283"/>
            <p:cNvSpPr>
              <a:spLocks noChangeArrowheads="1"/>
            </p:cNvSpPr>
            <p:nvPr/>
          </p:nvSpPr>
          <p:spPr bwMode="auto">
            <a:xfrm>
              <a:off x="3367088" y="1558925"/>
              <a:ext cx="104196" cy="246221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lg" len="med"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dirty="0">
                  <a:solidFill>
                    <a:srgbClr val="0070C0"/>
                  </a:solidFill>
                  <a:latin typeface="+mj-lt"/>
                </a:rPr>
                <a:t>1</a:t>
              </a:r>
              <a:endParaRPr lang="en-US" sz="1000" dirty="0">
                <a:solidFill>
                  <a:srgbClr val="0070C0"/>
                </a:solidFill>
                <a:latin typeface="+mj-lt"/>
              </a:endParaRPr>
            </a:p>
          </p:txBody>
        </p:sp>
        <p:sp>
          <p:nvSpPr>
            <p:cNvPr id="54293" name="Rectangle 284"/>
            <p:cNvSpPr>
              <a:spLocks noChangeArrowheads="1"/>
            </p:cNvSpPr>
            <p:nvPr/>
          </p:nvSpPr>
          <p:spPr bwMode="auto">
            <a:xfrm>
              <a:off x="5410200" y="1558925"/>
              <a:ext cx="208390" cy="246221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lg" len="med"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dirty="0">
                  <a:solidFill>
                    <a:srgbClr val="0070C0"/>
                  </a:solidFill>
                  <a:latin typeface="+mj-lt"/>
                </a:rPr>
                <a:t>30</a:t>
              </a:r>
              <a:endParaRPr lang="en-US" sz="1000" dirty="0">
                <a:solidFill>
                  <a:srgbClr val="0070C0"/>
                </a:solidFill>
                <a:latin typeface="+mj-lt"/>
              </a:endParaRPr>
            </a:p>
          </p:txBody>
        </p:sp>
        <p:sp>
          <p:nvSpPr>
            <p:cNvPr id="54294" name="Rectangle 285"/>
            <p:cNvSpPr>
              <a:spLocks noChangeArrowheads="1"/>
            </p:cNvSpPr>
            <p:nvPr/>
          </p:nvSpPr>
          <p:spPr bwMode="auto">
            <a:xfrm>
              <a:off x="1208088" y="1558925"/>
              <a:ext cx="263214" cy="246221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lg" len="med"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dirty="0">
                  <a:solidFill>
                    <a:srgbClr val="0070C0"/>
                  </a:solidFill>
                  <a:latin typeface="+mj-lt"/>
                </a:rPr>
                <a:t>LW</a:t>
              </a:r>
              <a:endParaRPr lang="en-US" sz="1000" dirty="0">
                <a:solidFill>
                  <a:srgbClr val="0070C0"/>
                </a:solidFill>
                <a:latin typeface="+mj-lt"/>
              </a:endParaRPr>
            </a:p>
          </p:txBody>
        </p:sp>
      </p:grpSp>
      <p:sp>
        <p:nvSpPr>
          <p:cNvPr id="54295" name="Rectangle 286"/>
          <p:cNvSpPr>
            <a:spLocks noChangeArrowheads="1"/>
          </p:cNvSpPr>
          <p:nvPr/>
        </p:nvSpPr>
        <p:spPr bwMode="auto">
          <a:xfrm>
            <a:off x="838200" y="762000"/>
            <a:ext cx="2112758" cy="40011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lg" len="med"/>
          </a:ln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  <a:latin typeface="+mj-lt"/>
              </a:rPr>
              <a:t>LW  R1, (</a:t>
            </a:r>
            <a:r>
              <a:rPr lang="en-US" sz="2000" dirty="0" smtClean="0">
                <a:solidFill>
                  <a:srgbClr val="0070C0"/>
                </a:solidFill>
                <a:latin typeface="+mj-lt"/>
              </a:rPr>
              <a:t>30)R2 ;     </a:t>
            </a:r>
            <a:endParaRPr lang="en-US" sz="2000" dirty="0">
              <a:solidFill>
                <a:srgbClr val="0070C0"/>
              </a:solidFill>
              <a:latin typeface="+mj-lt"/>
            </a:endParaRPr>
          </a:p>
        </p:txBody>
      </p:sp>
      <p:grpSp>
        <p:nvGrpSpPr>
          <p:cNvPr id="54275" name="Group 313"/>
          <p:cNvGrpSpPr>
            <a:grpSpLocks/>
          </p:cNvGrpSpPr>
          <p:nvPr/>
        </p:nvGrpSpPr>
        <p:grpSpPr bwMode="auto">
          <a:xfrm>
            <a:off x="152400" y="2057400"/>
            <a:ext cx="8690415" cy="4191001"/>
            <a:chOff x="360" y="1438"/>
            <a:chExt cx="4808" cy="2450"/>
          </a:xfrm>
        </p:grpSpPr>
        <p:sp>
          <p:nvSpPr>
            <p:cNvPr id="54297" name="Rectangle 137"/>
            <p:cNvSpPr>
              <a:spLocks noChangeArrowheads="1"/>
            </p:cNvSpPr>
            <p:nvPr/>
          </p:nvSpPr>
          <p:spPr bwMode="auto">
            <a:xfrm>
              <a:off x="720" y="2440"/>
              <a:ext cx="567" cy="582"/>
            </a:xfrm>
            <a:prstGeom prst="rect">
              <a:avLst/>
            </a:prstGeom>
            <a:solidFill>
              <a:srgbClr val="FFFFCC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298" name="Line 14"/>
            <p:cNvSpPr>
              <a:spLocks noChangeShapeType="1"/>
            </p:cNvSpPr>
            <p:nvPr/>
          </p:nvSpPr>
          <p:spPr bwMode="auto">
            <a:xfrm>
              <a:off x="588" y="2513"/>
              <a:ext cx="136" cy="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299" name="Line 15"/>
            <p:cNvSpPr>
              <a:spLocks noChangeShapeType="1"/>
            </p:cNvSpPr>
            <p:nvPr/>
          </p:nvSpPr>
          <p:spPr bwMode="auto">
            <a:xfrm flipH="1" flipV="1">
              <a:off x="1989" y="3197"/>
              <a:ext cx="34" cy="5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00" name="Rectangle 16"/>
            <p:cNvSpPr>
              <a:spLocks noChangeArrowheads="1"/>
            </p:cNvSpPr>
            <p:nvPr/>
          </p:nvSpPr>
          <p:spPr bwMode="auto">
            <a:xfrm>
              <a:off x="1915" y="3275"/>
              <a:ext cx="103" cy="1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algn="ctr"/>
              <a:endParaRPr lang="en-US" sz="600">
                <a:solidFill>
                  <a:srgbClr val="000000"/>
                </a:solidFill>
                <a:latin typeface="+mj-lt"/>
              </a:endParaRPr>
            </a:p>
            <a:p>
              <a:pPr algn="ctr"/>
              <a:endParaRPr lang="en-US" sz="6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301" name="Line 17"/>
            <p:cNvSpPr>
              <a:spLocks noChangeShapeType="1"/>
            </p:cNvSpPr>
            <p:nvPr/>
          </p:nvSpPr>
          <p:spPr bwMode="auto">
            <a:xfrm flipH="1" flipV="1">
              <a:off x="2338" y="3197"/>
              <a:ext cx="32" cy="5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02" name="Freeform 18"/>
            <p:cNvSpPr>
              <a:spLocks/>
            </p:cNvSpPr>
            <p:nvPr/>
          </p:nvSpPr>
          <p:spPr bwMode="auto">
            <a:xfrm>
              <a:off x="1810" y="2350"/>
              <a:ext cx="519" cy="612"/>
            </a:xfrm>
            <a:custGeom>
              <a:avLst/>
              <a:gdLst>
                <a:gd name="T0" fmla="*/ 518 w 519"/>
                <a:gd name="T1" fmla="*/ 611 h 541"/>
                <a:gd name="T2" fmla="*/ 518 w 519"/>
                <a:gd name="T3" fmla="*/ 0 h 541"/>
                <a:gd name="T4" fmla="*/ 0 w 519"/>
                <a:gd name="T5" fmla="*/ 0 h 541"/>
                <a:gd name="T6" fmla="*/ 0 w 519"/>
                <a:gd name="T7" fmla="*/ 611 h 541"/>
                <a:gd name="T8" fmla="*/ 518 w 519"/>
                <a:gd name="T9" fmla="*/ 611 h 541"/>
                <a:gd name="T10" fmla="*/ 518 w 519"/>
                <a:gd name="T11" fmla="*/ 611 h 5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19"/>
                <a:gd name="T19" fmla="*/ 0 h 541"/>
                <a:gd name="T20" fmla="*/ 519 w 519"/>
                <a:gd name="T21" fmla="*/ 541 h 54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19" h="541">
                  <a:moveTo>
                    <a:pt x="518" y="540"/>
                  </a:moveTo>
                  <a:lnTo>
                    <a:pt x="518" y="0"/>
                  </a:lnTo>
                  <a:lnTo>
                    <a:pt x="0" y="0"/>
                  </a:lnTo>
                  <a:lnTo>
                    <a:pt x="0" y="540"/>
                  </a:lnTo>
                  <a:lnTo>
                    <a:pt x="518" y="540"/>
                  </a:lnTo>
                </a:path>
              </a:pathLst>
            </a:custGeom>
            <a:solidFill>
              <a:srgbClr val="CCFFFF"/>
            </a:solidFill>
            <a:ln w="190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03" name="Rectangle 19"/>
            <p:cNvSpPr>
              <a:spLocks noChangeArrowheads="1"/>
            </p:cNvSpPr>
            <p:nvPr/>
          </p:nvSpPr>
          <p:spPr bwMode="auto">
            <a:xfrm>
              <a:off x="1885" y="2392"/>
              <a:ext cx="103" cy="1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algn="ctr"/>
              <a:endParaRPr lang="en-US" sz="600">
                <a:solidFill>
                  <a:srgbClr val="000000"/>
                </a:solidFill>
                <a:latin typeface="+mj-lt"/>
              </a:endParaRPr>
            </a:p>
            <a:p>
              <a:pPr algn="ctr"/>
              <a:endParaRPr lang="en-US" sz="6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304" name="Line 20"/>
            <p:cNvSpPr>
              <a:spLocks noChangeShapeType="1"/>
            </p:cNvSpPr>
            <p:nvPr/>
          </p:nvSpPr>
          <p:spPr bwMode="auto">
            <a:xfrm>
              <a:off x="1657" y="3225"/>
              <a:ext cx="434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05" name="Line 21"/>
            <p:cNvSpPr>
              <a:spLocks noChangeShapeType="1"/>
            </p:cNvSpPr>
            <p:nvPr/>
          </p:nvSpPr>
          <p:spPr bwMode="auto">
            <a:xfrm flipV="1">
              <a:off x="2302" y="3225"/>
              <a:ext cx="131" cy="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06" name="Freeform 22"/>
            <p:cNvSpPr>
              <a:spLocks/>
            </p:cNvSpPr>
            <p:nvPr/>
          </p:nvSpPr>
          <p:spPr bwMode="auto">
            <a:xfrm>
              <a:off x="1629" y="2679"/>
              <a:ext cx="24" cy="24"/>
            </a:xfrm>
            <a:custGeom>
              <a:avLst/>
              <a:gdLst>
                <a:gd name="T0" fmla="*/ 10 w 24"/>
                <a:gd name="T1" fmla="*/ 23 h 24"/>
                <a:gd name="T2" fmla="*/ 14 w 24"/>
                <a:gd name="T3" fmla="*/ 23 h 24"/>
                <a:gd name="T4" fmla="*/ 16 w 24"/>
                <a:gd name="T5" fmla="*/ 23 h 24"/>
                <a:gd name="T6" fmla="*/ 18 w 24"/>
                <a:gd name="T7" fmla="*/ 21 h 24"/>
                <a:gd name="T8" fmla="*/ 18 w 24"/>
                <a:gd name="T9" fmla="*/ 21 h 24"/>
                <a:gd name="T10" fmla="*/ 20 w 24"/>
                <a:gd name="T11" fmla="*/ 19 h 24"/>
                <a:gd name="T12" fmla="*/ 22 w 24"/>
                <a:gd name="T13" fmla="*/ 19 h 24"/>
                <a:gd name="T14" fmla="*/ 22 w 24"/>
                <a:gd name="T15" fmla="*/ 17 h 24"/>
                <a:gd name="T16" fmla="*/ 23 w 24"/>
                <a:gd name="T17" fmla="*/ 15 h 24"/>
                <a:gd name="T18" fmla="*/ 23 w 24"/>
                <a:gd name="T19" fmla="*/ 13 h 24"/>
                <a:gd name="T20" fmla="*/ 23 w 24"/>
                <a:gd name="T21" fmla="*/ 11 h 24"/>
                <a:gd name="T22" fmla="*/ 23 w 24"/>
                <a:gd name="T23" fmla="*/ 9 h 24"/>
                <a:gd name="T24" fmla="*/ 23 w 24"/>
                <a:gd name="T25" fmla="*/ 7 h 24"/>
                <a:gd name="T26" fmla="*/ 22 w 24"/>
                <a:gd name="T27" fmla="*/ 5 h 24"/>
                <a:gd name="T28" fmla="*/ 22 w 24"/>
                <a:gd name="T29" fmla="*/ 5 h 24"/>
                <a:gd name="T30" fmla="*/ 20 w 24"/>
                <a:gd name="T31" fmla="*/ 4 h 24"/>
                <a:gd name="T32" fmla="*/ 18 w 24"/>
                <a:gd name="T33" fmla="*/ 2 h 24"/>
                <a:gd name="T34" fmla="*/ 18 w 24"/>
                <a:gd name="T35" fmla="*/ 2 h 24"/>
                <a:gd name="T36" fmla="*/ 16 w 24"/>
                <a:gd name="T37" fmla="*/ 0 h 24"/>
                <a:gd name="T38" fmla="*/ 14 w 24"/>
                <a:gd name="T39" fmla="*/ 0 h 24"/>
                <a:gd name="T40" fmla="*/ 12 w 24"/>
                <a:gd name="T41" fmla="*/ 0 h 24"/>
                <a:gd name="T42" fmla="*/ 10 w 24"/>
                <a:gd name="T43" fmla="*/ 0 h 24"/>
                <a:gd name="T44" fmla="*/ 8 w 24"/>
                <a:gd name="T45" fmla="*/ 0 h 24"/>
                <a:gd name="T46" fmla="*/ 6 w 24"/>
                <a:gd name="T47" fmla="*/ 2 h 24"/>
                <a:gd name="T48" fmla="*/ 4 w 24"/>
                <a:gd name="T49" fmla="*/ 2 h 24"/>
                <a:gd name="T50" fmla="*/ 4 w 24"/>
                <a:gd name="T51" fmla="*/ 4 h 24"/>
                <a:gd name="T52" fmla="*/ 2 w 24"/>
                <a:gd name="T53" fmla="*/ 5 h 24"/>
                <a:gd name="T54" fmla="*/ 2 w 24"/>
                <a:gd name="T55" fmla="*/ 5 h 24"/>
                <a:gd name="T56" fmla="*/ 0 w 24"/>
                <a:gd name="T57" fmla="*/ 7 h 24"/>
                <a:gd name="T58" fmla="*/ 0 w 24"/>
                <a:gd name="T59" fmla="*/ 9 h 24"/>
                <a:gd name="T60" fmla="*/ 0 w 24"/>
                <a:gd name="T61" fmla="*/ 11 h 24"/>
                <a:gd name="T62" fmla="*/ 0 w 24"/>
                <a:gd name="T63" fmla="*/ 13 h 24"/>
                <a:gd name="T64" fmla="*/ 0 w 24"/>
                <a:gd name="T65" fmla="*/ 15 h 24"/>
                <a:gd name="T66" fmla="*/ 2 w 24"/>
                <a:gd name="T67" fmla="*/ 17 h 24"/>
                <a:gd name="T68" fmla="*/ 2 w 24"/>
                <a:gd name="T69" fmla="*/ 19 h 24"/>
                <a:gd name="T70" fmla="*/ 4 w 24"/>
                <a:gd name="T71" fmla="*/ 19 h 24"/>
                <a:gd name="T72" fmla="*/ 4 w 24"/>
                <a:gd name="T73" fmla="*/ 21 h 24"/>
                <a:gd name="T74" fmla="*/ 6 w 24"/>
                <a:gd name="T75" fmla="*/ 21 h 24"/>
                <a:gd name="T76" fmla="*/ 8 w 24"/>
                <a:gd name="T77" fmla="*/ 23 h 24"/>
                <a:gd name="T78" fmla="*/ 10 w 24"/>
                <a:gd name="T79" fmla="*/ 23 h 24"/>
                <a:gd name="T80" fmla="*/ 12 w 24"/>
                <a:gd name="T81" fmla="*/ 23 h 24"/>
                <a:gd name="T82" fmla="*/ 12 w 24"/>
                <a:gd name="T83" fmla="*/ 23 h 24"/>
                <a:gd name="T84" fmla="*/ 10 w 24"/>
                <a:gd name="T85" fmla="*/ 23 h 2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4"/>
                <a:gd name="T130" fmla="*/ 0 h 24"/>
                <a:gd name="T131" fmla="*/ 24 w 24"/>
                <a:gd name="T132" fmla="*/ 24 h 24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4" h="24">
                  <a:moveTo>
                    <a:pt x="10" y="23"/>
                  </a:moveTo>
                  <a:lnTo>
                    <a:pt x="14" y="23"/>
                  </a:lnTo>
                  <a:lnTo>
                    <a:pt x="16" y="23"/>
                  </a:lnTo>
                  <a:lnTo>
                    <a:pt x="18" y="21"/>
                  </a:lnTo>
                  <a:lnTo>
                    <a:pt x="20" y="19"/>
                  </a:lnTo>
                  <a:lnTo>
                    <a:pt x="22" y="19"/>
                  </a:lnTo>
                  <a:lnTo>
                    <a:pt x="22" y="17"/>
                  </a:lnTo>
                  <a:lnTo>
                    <a:pt x="23" y="15"/>
                  </a:lnTo>
                  <a:lnTo>
                    <a:pt x="23" y="13"/>
                  </a:lnTo>
                  <a:lnTo>
                    <a:pt x="23" y="11"/>
                  </a:lnTo>
                  <a:lnTo>
                    <a:pt x="23" y="9"/>
                  </a:lnTo>
                  <a:lnTo>
                    <a:pt x="23" y="7"/>
                  </a:lnTo>
                  <a:lnTo>
                    <a:pt x="22" y="5"/>
                  </a:lnTo>
                  <a:lnTo>
                    <a:pt x="20" y="4"/>
                  </a:lnTo>
                  <a:lnTo>
                    <a:pt x="18" y="2"/>
                  </a:lnTo>
                  <a:lnTo>
                    <a:pt x="16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8" y="0"/>
                  </a:lnTo>
                  <a:lnTo>
                    <a:pt x="6" y="2"/>
                  </a:lnTo>
                  <a:lnTo>
                    <a:pt x="4" y="2"/>
                  </a:lnTo>
                  <a:lnTo>
                    <a:pt x="4" y="4"/>
                  </a:lnTo>
                  <a:lnTo>
                    <a:pt x="2" y="5"/>
                  </a:lnTo>
                  <a:lnTo>
                    <a:pt x="0" y="7"/>
                  </a:lnTo>
                  <a:lnTo>
                    <a:pt x="0" y="9"/>
                  </a:lnTo>
                  <a:lnTo>
                    <a:pt x="0" y="11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2" y="17"/>
                  </a:lnTo>
                  <a:lnTo>
                    <a:pt x="2" y="19"/>
                  </a:lnTo>
                  <a:lnTo>
                    <a:pt x="4" y="19"/>
                  </a:lnTo>
                  <a:lnTo>
                    <a:pt x="4" y="21"/>
                  </a:lnTo>
                  <a:lnTo>
                    <a:pt x="6" y="21"/>
                  </a:lnTo>
                  <a:lnTo>
                    <a:pt x="8" y="23"/>
                  </a:lnTo>
                  <a:lnTo>
                    <a:pt x="10" y="23"/>
                  </a:lnTo>
                  <a:lnTo>
                    <a:pt x="12" y="23"/>
                  </a:lnTo>
                  <a:lnTo>
                    <a:pt x="10" y="23"/>
                  </a:lnTo>
                </a:path>
              </a:pathLst>
            </a:custGeom>
            <a:solidFill>
              <a:srgbClr val="000000"/>
            </a:solidFill>
            <a:ln w="9525" cap="rnd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07" name="Freeform 23"/>
            <p:cNvSpPr>
              <a:spLocks/>
            </p:cNvSpPr>
            <p:nvPr/>
          </p:nvSpPr>
          <p:spPr bwMode="auto">
            <a:xfrm>
              <a:off x="1629" y="2586"/>
              <a:ext cx="24" cy="24"/>
            </a:xfrm>
            <a:custGeom>
              <a:avLst/>
              <a:gdLst>
                <a:gd name="T0" fmla="*/ 10 w 24"/>
                <a:gd name="T1" fmla="*/ 23 h 24"/>
                <a:gd name="T2" fmla="*/ 14 w 24"/>
                <a:gd name="T3" fmla="*/ 23 h 24"/>
                <a:gd name="T4" fmla="*/ 16 w 24"/>
                <a:gd name="T5" fmla="*/ 23 h 24"/>
                <a:gd name="T6" fmla="*/ 18 w 24"/>
                <a:gd name="T7" fmla="*/ 21 h 24"/>
                <a:gd name="T8" fmla="*/ 18 w 24"/>
                <a:gd name="T9" fmla="*/ 21 h 24"/>
                <a:gd name="T10" fmla="*/ 20 w 24"/>
                <a:gd name="T11" fmla="*/ 19 h 24"/>
                <a:gd name="T12" fmla="*/ 22 w 24"/>
                <a:gd name="T13" fmla="*/ 19 h 24"/>
                <a:gd name="T14" fmla="*/ 22 w 24"/>
                <a:gd name="T15" fmla="*/ 17 h 24"/>
                <a:gd name="T16" fmla="*/ 23 w 24"/>
                <a:gd name="T17" fmla="*/ 15 h 24"/>
                <a:gd name="T18" fmla="*/ 23 w 24"/>
                <a:gd name="T19" fmla="*/ 13 h 24"/>
                <a:gd name="T20" fmla="*/ 23 w 24"/>
                <a:gd name="T21" fmla="*/ 11 h 24"/>
                <a:gd name="T22" fmla="*/ 23 w 24"/>
                <a:gd name="T23" fmla="*/ 9 h 24"/>
                <a:gd name="T24" fmla="*/ 23 w 24"/>
                <a:gd name="T25" fmla="*/ 7 h 24"/>
                <a:gd name="T26" fmla="*/ 22 w 24"/>
                <a:gd name="T27" fmla="*/ 5 h 24"/>
                <a:gd name="T28" fmla="*/ 22 w 24"/>
                <a:gd name="T29" fmla="*/ 5 h 24"/>
                <a:gd name="T30" fmla="*/ 20 w 24"/>
                <a:gd name="T31" fmla="*/ 4 h 24"/>
                <a:gd name="T32" fmla="*/ 18 w 24"/>
                <a:gd name="T33" fmla="*/ 2 h 24"/>
                <a:gd name="T34" fmla="*/ 18 w 24"/>
                <a:gd name="T35" fmla="*/ 2 h 24"/>
                <a:gd name="T36" fmla="*/ 16 w 24"/>
                <a:gd name="T37" fmla="*/ 0 h 24"/>
                <a:gd name="T38" fmla="*/ 14 w 24"/>
                <a:gd name="T39" fmla="*/ 0 h 24"/>
                <a:gd name="T40" fmla="*/ 12 w 24"/>
                <a:gd name="T41" fmla="*/ 0 h 24"/>
                <a:gd name="T42" fmla="*/ 10 w 24"/>
                <a:gd name="T43" fmla="*/ 0 h 24"/>
                <a:gd name="T44" fmla="*/ 8 w 24"/>
                <a:gd name="T45" fmla="*/ 0 h 24"/>
                <a:gd name="T46" fmla="*/ 6 w 24"/>
                <a:gd name="T47" fmla="*/ 2 h 24"/>
                <a:gd name="T48" fmla="*/ 4 w 24"/>
                <a:gd name="T49" fmla="*/ 2 h 24"/>
                <a:gd name="T50" fmla="*/ 4 w 24"/>
                <a:gd name="T51" fmla="*/ 4 h 24"/>
                <a:gd name="T52" fmla="*/ 2 w 24"/>
                <a:gd name="T53" fmla="*/ 5 h 24"/>
                <a:gd name="T54" fmla="*/ 2 w 24"/>
                <a:gd name="T55" fmla="*/ 5 h 24"/>
                <a:gd name="T56" fmla="*/ 0 w 24"/>
                <a:gd name="T57" fmla="*/ 7 h 24"/>
                <a:gd name="T58" fmla="*/ 0 w 24"/>
                <a:gd name="T59" fmla="*/ 9 h 24"/>
                <a:gd name="T60" fmla="*/ 0 w 24"/>
                <a:gd name="T61" fmla="*/ 11 h 24"/>
                <a:gd name="T62" fmla="*/ 0 w 24"/>
                <a:gd name="T63" fmla="*/ 13 h 24"/>
                <a:gd name="T64" fmla="*/ 0 w 24"/>
                <a:gd name="T65" fmla="*/ 15 h 24"/>
                <a:gd name="T66" fmla="*/ 2 w 24"/>
                <a:gd name="T67" fmla="*/ 17 h 24"/>
                <a:gd name="T68" fmla="*/ 2 w 24"/>
                <a:gd name="T69" fmla="*/ 19 h 24"/>
                <a:gd name="T70" fmla="*/ 4 w 24"/>
                <a:gd name="T71" fmla="*/ 19 h 24"/>
                <a:gd name="T72" fmla="*/ 4 w 24"/>
                <a:gd name="T73" fmla="*/ 21 h 24"/>
                <a:gd name="T74" fmla="*/ 6 w 24"/>
                <a:gd name="T75" fmla="*/ 21 h 24"/>
                <a:gd name="T76" fmla="*/ 8 w 24"/>
                <a:gd name="T77" fmla="*/ 23 h 24"/>
                <a:gd name="T78" fmla="*/ 10 w 24"/>
                <a:gd name="T79" fmla="*/ 23 h 24"/>
                <a:gd name="T80" fmla="*/ 12 w 24"/>
                <a:gd name="T81" fmla="*/ 23 h 24"/>
                <a:gd name="T82" fmla="*/ 12 w 24"/>
                <a:gd name="T83" fmla="*/ 23 h 24"/>
                <a:gd name="T84" fmla="*/ 10 w 24"/>
                <a:gd name="T85" fmla="*/ 23 h 2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4"/>
                <a:gd name="T130" fmla="*/ 0 h 24"/>
                <a:gd name="T131" fmla="*/ 24 w 24"/>
                <a:gd name="T132" fmla="*/ 24 h 24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4" h="24">
                  <a:moveTo>
                    <a:pt x="10" y="23"/>
                  </a:moveTo>
                  <a:lnTo>
                    <a:pt x="14" y="23"/>
                  </a:lnTo>
                  <a:lnTo>
                    <a:pt x="16" y="23"/>
                  </a:lnTo>
                  <a:lnTo>
                    <a:pt x="18" y="21"/>
                  </a:lnTo>
                  <a:lnTo>
                    <a:pt x="20" y="19"/>
                  </a:lnTo>
                  <a:lnTo>
                    <a:pt x="22" y="19"/>
                  </a:lnTo>
                  <a:lnTo>
                    <a:pt x="22" y="17"/>
                  </a:lnTo>
                  <a:lnTo>
                    <a:pt x="23" y="15"/>
                  </a:lnTo>
                  <a:lnTo>
                    <a:pt x="23" y="13"/>
                  </a:lnTo>
                  <a:lnTo>
                    <a:pt x="23" y="11"/>
                  </a:lnTo>
                  <a:lnTo>
                    <a:pt x="23" y="9"/>
                  </a:lnTo>
                  <a:lnTo>
                    <a:pt x="23" y="7"/>
                  </a:lnTo>
                  <a:lnTo>
                    <a:pt x="22" y="5"/>
                  </a:lnTo>
                  <a:lnTo>
                    <a:pt x="20" y="4"/>
                  </a:lnTo>
                  <a:lnTo>
                    <a:pt x="18" y="2"/>
                  </a:lnTo>
                  <a:lnTo>
                    <a:pt x="16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8" y="0"/>
                  </a:lnTo>
                  <a:lnTo>
                    <a:pt x="6" y="2"/>
                  </a:lnTo>
                  <a:lnTo>
                    <a:pt x="4" y="2"/>
                  </a:lnTo>
                  <a:lnTo>
                    <a:pt x="4" y="4"/>
                  </a:lnTo>
                  <a:lnTo>
                    <a:pt x="2" y="5"/>
                  </a:lnTo>
                  <a:lnTo>
                    <a:pt x="0" y="7"/>
                  </a:lnTo>
                  <a:lnTo>
                    <a:pt x="0" y="9"/>
                  </a:lnTo>
                  <a:lnTo>
                    <a:pt x="0" y="11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2" y="17"/>
                  </a:lnTo>
                  <a:lnTo>
                    <a:pt x="2" y="19"/>
                  </a:lnTo>
                  <a:lnTo>
                    <a:pt x="4" y="19"/>
                  </a:lnTo>
                  <a:lnTo>
                    <a:pt x="4" y="21"/>
                  </a:lnTo>
                  <a:lnTo>
                    <a:pt x="6" y="21"/>
                  </a:lnTo>
                  <a:lnTo>
                    <a:pt x="8" y="23"/>
                  </a:lnTo>
                  <a:lnTo>
                    <a:pt x="10" y="23"/>
                  </a:lnTo>
                  <a:lnTo>
                    <a:pt x="12" y="23"/>
                  </a:lnTo>
                  <a:lnTo>
                    <a:pt x="10" y="23"/>
                  </a:lnTo>
                </a:path>
              </a:pathLst>
            </a:custGeom>
            <a:solidFill>
              <a:srgbClr val="000000"/>
            </a:solidFill>
            <a:ln w="9525" cap="rnd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08" name="Freeform 24"/>
            <p:cNvSpPr>
              <a:spLocks/>
            </p:cNvSpPr>
            <p:nvPr/>
          </p:nvSpPr>
          <p:spPr bwMode="auto">
            <a:xfrm>
              <a:off x="1629" y="3432"/>
              <a:ext cx="24" cy="24"/>
            </a:xfrm>
            <a:custGeom>
              <a:avLst/>
              <a:gdLst>
                <a:gd name="T0" fmla="*/ 10 w 24"/>
                <a:gd name="T1" fmla="*/ 23 h 24"/>
                <a:gd name="T2" fmla="*/ 14 w 24"/>
                <a:gd name="T3" fmla="*/ 23 h 24"/>
                <a:gd name="T4" fmla="*/ 16 w 24"/>
                <a:gd name="T5" fmla="*/ 23 h 24"/>
                <a:gd name="T6" fmla="*/ 16 w 24"/>
                <a:gd name="T7" fmla="*/ 21 h 24"/>
                <a:gd name="T8" fmla="*/ 18 w 24"/>
                <a:gd name="T9" fmla="*/ 21 h 24"/>
                <a:gd name="T10" fmla="*/ 20 w 24"/>
                <a:gd name="T11" fmla="*/ 19 h 24"/>
                <a:gd name="T12" fmla="*/ 22 w 24"/>
                <a:gd name="T13" fmla="*/ 18 h 24"/>
                <a:gd name="T14" fmla="*/ 22 w 24"/>
                <a:gd name="T15" fmla="*/ 18 h 24"/>
                <a:gd name="T16" fmla="*/ 22 w 24"/>
                <a:gd name="T17" fmla="*/ 16 h 24"/>
                <a:gd name="T18" fmla="*/ 23 w 24"/>
                <a:gd name="T19" fmla="*/ 14 h 24"/>
                <a:gd name="T20" fmla="*/ 23 w 24"/>
                <a:gd name="T21" fmla="*/ 12 h 24"/>
                <a:gd name="T22" fmla="*/ 23 w 24"/>
                <a:gd name="T23" fmla="*/ 10 h 24"/>
                <a:gd name="T24" fmla="*/ 22 w 24"/>
                <a:gd name="T25" fmla="*/ 8 h 24"/>
                <a:gd name="T26" fmla="*/ 22 w 24"/>
                <a:gd name="T27" fmla="*/ 6 h 24"/>
                <a:gd name="T28" fmla="*/ 22 w 24"/>
                <a:gd name="T29" fmla="*/ 4 h 24"/>
                <a:gd name="T30" fmla="*/ 20 w 24"/>
                <a:gd name="T31" fmla="*/ 4 h 24"/>
                <a:gd name="T32" fmla="*/ 18 w 24"/>
                <a:gd name="T33" fmla="*/ 2 h 24"/>
                <a:gd name="T34" fmla="*/ 16 w 24"/>
                <a:gd name="T35" fmla="*/ 2 h 24"/>
                <a:gd name="T36" fmla="*/ 16 w 24"/>
                <a:gd name="T37" fmla="*/ 0 h 24"/>
                <a:gd name="T38" fmla="*/ 14 w 24"/>
                <a:gd name="T39" fmla="*/ 0 h 24"/>
                <a:gd name="T40" fmla="*/ 12 w 24"/>
                <a:gd name="T41" fmla="*/ 0 h 24"/>
                <a:gd name="T42" fmla="*/ 10 w 24"/>
                <a:gd name="T43" fmla="*/ 0 h 24"/>
                <a:gd name="T44" fmla="*/ 8 w 24"/>
                <a:gd name="T45" fmla="*/ 0 h 24"/>
                <a:gd name="T46" fmla="*/ 6 w 24"/>
                <a:gd name="T47" fmla="*/ 2 h 24"/>
                <a:gd name="T48" fmla="*/ 4 w 24"/>
                <a:gd name="T49" fmla="*/ 2 h 24"/>
                <a:gd name="T50" fmla="*/ 2 w 24"/>
                <a:gd name="T51" fmla="*/ 4 h 24"/>
                <a:gd name="T52" fmla="*/ 2 w 24"/>
                <a:gd name="T53" fmla="*/ 4 h 24"/>
                <a:gd name="T54" fmla="*/ 0 w 24"/>
                <a:gd name="T55" fmla="*/ 6 h 24"/>
                <a:gd name="T56" fmla="*/ 0 w 24"/>
                <a:gd name="T57" fmla="*/ 8 h 24"/>
                <a:gd name="T58" fmla="*/ 0 w 24"/>
                <a:gd name="T59" fmla="*/ 10 h 24"/>
                <a:gd name="T60" fmla="*/ 0 w 24"/>
                <a:gd name="T61" fmla="*/ 12 h 24"/>
                <a:gd name="T62" fmla="*/ 0 w 24"/>
                <a:gd name="T63" fmla="*/ 14 h 24"/>
                <a:gd name="T64" fmla="*/ 0 w 24"/>
                <a:gd name="T65" fmla="*/ 16 h 24"/>
                <a:gd name="T66" fmla="*/ 0 w 24"/>
                <a:gd name="T67" fmla="*/ 18 h 24"/>
                <a:gd name="T68" fmla="*/ 2 w 24"/>
                <a:gd name="T69" fmla="*/ 18 h 24"/>
                <a:gd name="T70" fmla="*/ 2 w 24"/>
                <a:gd name="T71" fmla="*/ 19 h 24"/>
                <a:gd name="T72" fmla="*/ 4 w 24"/>
                <a:gd name="T73" fmla="*/ 21 h 24"/>
                <a:gd name="T74" fmla="*/ 6 w 24"/>
                <a:gd name="T75" fmla="*/ 21 h 24"/>
                <a:gd name="T76" fmla="*/ 8 w 24"/>
                <a:gd name="T77" fmla="*/ 23 h 24"/>
                <a:gd name="T78" fmla="*/ 10 w 24"/>
                <a:gd name="T79" fmla="*/ 23 h 24"/>
                <a:gd name="T80" fmla="*/ 12 w 24"/>
                <a:gd name="T81" fmla="*/ 23 h 24"/>
                <a:gd name="T82" fmla="*/ 12 w 24"/>
                <a:gd name="T83" fmla="*/ 23 h 24"/>
                <a:gd name="T84" fmla="*/ 10 w 24"/>
                <a:gd name="T85" fmla="*/ 23 h 2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4"/>
                <a:gd name="T130" fmla="*/ 0 h 24"/>
                <a:gd name="T131" fmla="*/ 24 w 24"/>
                <a:gd name="T132" fmla="*/ 24 h 24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4" h="24">
                  <a:moveTo>
                    <a:pt x="10" y="23"/>
                  </a:moveTo>
                  <a:lnTo>
                    <a:pt x="14" y="23"/>
                  </a:lnTo>
                  <a:lnTo>
                    <a:pt x="16" y="23"/>
                  </a:lnTo>
                  <a:lnTo>
                    <a:pt x="16" y="21"/>
                  </a:lnTo>
                  <a:lnTo>
                    <a:pt x="18" y="21"/>
                  </a:lnTo>
                  <a:lnTo>
                    <a:pt x="20" y="19"/>
                  </a:lnTo>
                  <a:lnTo>
                    <a:pt x="22" y="18"/>
                  </a:lnTo>
                  <a:lnTo>
                    <a:pt x="22" y="16"/>
                  </a:lnTo>
                  <a:lnTo>
                    <a:pt x="23" y="14"/>
                  </a:lnTo>
                  <a:lnTo>
                    <a:pt x="23" y="12"/>
                  </a:lnTo>
                  <a:lnTo>
                    <a:pt x="23" y="10"/>
                  </a:lnTo>
                  <a:lnTo>
                    <a:pt x="22" y="8"/>
                  </a:lnTo>
                  <a:lnTo>
                    <a:pt x="22" y="6"/>
                  </a:lnTo>
                  <a:lnTo>
                    <a:pt x="22" y="4"/>
                  </a:lnTo>
                  <a:lnTo>
                    <a:pt x="20" y="4"/>
                  </a:lnTo>
                  <a:lnTo>
                    <a:pt x="18" y="2"/>
                  </a:lnTo>
                  <a:lnTo>
                    <a:pt x="16" y="2"/>
                  </a:lnTo>
                  <a:lnTo>
                    <a:pt x="16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8" y="0"/>
                  </a:lnTo>
                  <a:lnTo>
                    <a:pt x="6" y="2"/>
                  </a:lnTo>
                  <a:lnTo>
                    <a:pt x="4" y="2"/>
                  </a:lnTo>
                  <a:lnTo>
                    <a:pt x="2" y="4"/>
                  </a:lnTo>
                  <a:lnTo>
                    <a:pt x="0" y="6"/>
                  </a:lnTo>
                  <a:lnTo>
                    <a:pt x="0" y="8"/>
                  </a:lnTo>
                  <a:lnTo>
                    <a:pt x="0" y="10"/>
                  </a:lnTo>
                  <a:lnTo>
                    <a:pt x="0" y="12"/>
                  </a:lnTo>
                  <a:lnTo>
                    <a:pt x="0" y="14"/>
                  </a:lnTo>
                  <a:lnTo>
                    <a:pt x="0" y="16"/>
                  </a:lnTo>
                  <a:lnTo>
                    <a:pt x="0" y="18"/>
                  </a:lnTo>
                  <a:lnTo>
                    <a:pt x="2" y="18"/>
                  </a:lnTo>
                  <a:lnTo>
                    <a:pt x="2" y="19"/>
                  </a:lnTo>
                  <a:lnTo>
                    <a:pt x="4" y="21"/>
                  </a:lnTo>
                  <a:lnTo>
                    <a:pt x="6" y="21"/>
                  </a:lnTo>
                  <a:lnTo>
                    <a:pt x="8" y="23"/>
                  </a:lnTo>
                  <a:lnTo>
                    <a:pt x="10" y="23"/>
                  </a:lnTo>
                  <a:lnTo>
                    <a:pt x="12" y="23"/>
                  </a:lnTo>
                  <a:lnTo>
                    <a:pt x="10" y="23"/>
                  </a:lnTo>
                </a:path>
              </a:pathLst>
            </a:custGeom>
            <a:solidFill>
              <a:srgbClr val="000000"/>
            </a:solidFill>
            <a:ln w="9525" cap="rnd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09" name="Line 25"/>
            <p:cNvSpPr>
              <a:spLocks noChangeShapeType="1"/>
            </p:cNvSpPr>
            <p:nvPr/>
          </p:nvSpPr>
          <p:spPr bwMode="auto">
            <a:xfrm>
              <a:off x="1449" y="2687"/>
              <a:ext cx="198" cy="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10" name="Line 26"/>
            <p:cNvSpPr>
              <a:spLocks noChangeShapeType="1"/>
            </p:cNvSpPr>
            <p:nvPr/>
          </p:nvSpPr>
          <p:spPr bwMode="auto">
            <a:xfrm flipV="1">
              <a:off x="1657" y="3441"/>
              <a:ext cx="776" cy="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11" name="Line 27"/>
            <p:cNvSpPr>
              <a:spLocks noChangeShapeType="1"/>
            </p:cNvSpPr>
            <p:nvPr/>
          </p:nvSpPr>
          <p:spPr bwMode="auto">
            <a:xfrm flipH="1">
              <a:off x="1447" y="2024"/>
              <a:ext cx="986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12" name="Freeform 28"/>
            <p:cNvSpPr>
              <a:spLocks/>
            </p:cNvSpPr>
            <p:nvPr/>
          </p:nvSpPr>
          <p:spPr bwMode="auto">
            <a:xfrm>
              <a:off x="4704" y="1917"/>
              <a:ext cx="93" cy="1777"/>
            </a:xfrm>
            <a:custGeom>
              <a:avLst/>
              <a:gdLst>
                <a:gd name="T0" fmla="*/ 92 w 93"/>
                <a:gd name="T1" fmla="*/ 1776 h 1777"/>
                <a:gd name="T2" fmla="*/ 92 w 93"/>
                <a:gd name="T3" fmla="*/ 0 h 1777"/>
                <a:gd name="T4" fmla="*/ 0 w 93"/>
                <a:gd name="T5" fmla="*/ 0 h 1777"/>
                <a:gd name="T6" fmla="*/ 0 w 93"/>
                <a:gd name="T7" fmla="*/ 1776 h 1777"/>
                <a:gd name="T8" fmla="*/ 92 w 93"/>
                <a:gd name="T9" fmla="*/ 1776 h 1777"/>
                <a:gd name="T10" fmla="*/ 92 w 93"/>
                <a:gd name="T11" fmla="*/ 1776 h 177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3"/>
                <a:gd name="T19" fmla="*/ 0 h 1777"/>
                <a:gd name="T20" fmla="*/ 93 w 93"/>
                <a:gd name="T21" fmla="*/ 1777 h 177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3" h="1777">
                  <a:moveTo>
                    <a:pt x="92" y="1776"/>
                  </a:moveTo>
                  <a:lnTo>
                    <a:pt x="92" y="0"/>
                  </a:lnTo>
                  <a:lnTo>
                    <a:pt x="0" y="0"/>
                  </a:lnTo>
                  <a:lnTo>
                    <a:pt x="0" y="1776"/>
                  </a:lnTo>
                  <a:lnTo>
                    <a:pt x="92" y="1776"/>
                  </a:lnTo>
                </a:path>
              </a:pathLst>
            </a:custGeom>
            <a:solidFill>
              <a:srgbClr val="CCECFF"/>
            </a:solidFill>
            <a:ln w="190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13" name="Freeform 29"/>
            <p:cNvSpPr>
              <a:spLocks/>
            </p:cNvSpPr>
            <p:nvPr/>
          </p:nvSpPr>
          <p:spPr bwMode="auto">
            <a:xfrm>
              <a:off x="2436" y="1917"/>
              <a:ext cx="93" cy="1777"/>
            </a:xfrm>
            <a:custGeom>
              <a:avLst/>
              <a:gdLst>
                <a:gd name="T0" fmla="*/ 92 w 93"/>
                <a:gd name="T1" fmla="*/ 1776 h 1777"/>
                <a:gd name="T2" fmla="*/ 92 w 93"/>
                <a:gd name="T3" fmla="*/ 0 h 1777"/>
                <a:gd name="T4" fmla="*/ 0 w 93"/>
                <a:gd name="T5" fmla="*/ 0 h 1777"/>
                <a:gd name="T6" fmla="*/ 0 w 93"/>
                <a:gd name="T7" fmla="*/ 1776 h 1777"/>
                <a:gd name="T8" fmla="*/ 92 w 93"/>
                <a:gd name="T9" fmla="*/ 1776 h 1777"/>
                <a:gd name="T10" fmla="*/ 92 w 93"/>
                <a:gd name="T11" fmla="*/ 1776 h 177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3"/>
                <a:gd name="T19" fmla="*/ 0 h 1777"/>
                <a:gd name="T20" fmla="*/ 93 w 93"/>
                <a:gd name="T21" fmla="*/ 1777 h 177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3" h="1777">
                  <a:moveTo>
                    <a:pt x="92" y="1776"/>
                  </a:moveTo>
                  <a:lnTo>
                    <a:pt x="92" y="0"/>
                  </a:lnTo>
                  <a:lnTo>
                    <a:pt x="0" y="0"/>
                  </a:lnTo>
                  <a:lnTo>
                    <a:pt x="0" y="1776"/>
                  </a:lnTo>
                  <a:lnTo>
                    <a:pt x="92" y="1776"/>
                  </a:lnTo>
                </a:path>
              </a:pathLst>
            </a:custGeom>
            <a:solidFill>
              <a:srgbClr val="CCECFF"/>
            </a:solidFill>
            <a:ln w="190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14" name="Line 30"/>
            <p:cNvSpPr>
              <a:spLocks noChangeShapeType="1"/>
            </p:cNvSpPr>
            <p:nvPr/>
          </p:nvSpPr>
          <p:spPr bwMode="auto">
            <a:xfrm flipV="1">
              <a:off x="2826" y="3695"/>
              <a:ext cx="0" cy="50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15" name="Line 31"/>
            <p:cNvSpPr>
              <a:spLocks noChangeShapeType="1"/>
            </p:cNvSpPr>
            <p:nvPr/>
          </p:nvSpPr>
          <p:spPr bwMode="auto">
            <a:xfrm>
              <a:off x="2855" y="2626"/>
              <a:ext cx="2" cy="54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16" name="Line 32"/>
            <p:cNvSpPr>
              <a:spLocks noChangeShapeType="1"/>
            </p:cNvSpPr>
            <p:nvPr/>
          </p:nvSpPr>
          <p:spPr bwMode="auto">
            <a:xfrm flipV="1">
              <a:off x="3006" y="3406"/>
              <a:ext cx="0" cy="52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17" name="Line 33"/>
            <p:cNvSpPr>
              <a:spLocks noChangeShapeType="1"/>
            </p:cNvSpPr>
            <p:nvPr/>
          </p:nvSpPr>
          <p:spPr bwMode="auto">
            <a:xfrm flipV="1">
              <a:off x="3364" y="2633"/>
              <a:ext cx="215" cy="2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18" name="Freeform 34"/>
            <p:cNvSpPr>
              <a:spLocks/>
            </p:cNvSpPr>
            <p:nvPr/>
          </p:nvSpPr>
          <p:spPr bwMode="auto">
            <a:xfrm>
              <a:off x="2877" y="3055"/>
              <a:ext cx="245" cy="345"/>
            </a:xfrm>
            <a:custGeom>
              <a:avLst/>
              <a:gdLst>
                <a:gd name="T0" fmla="*/ 123 w 174"/>
                <a:gd name="T1" fmla="*/ 344 h 367"/>
                <a:gd name="T2" fmla="*/ 144 w 174"/>
                <a:gd name="T3" fmla="*/ 342 h 367"/>
                <a:gd name="T4" fmla="*/ 162 w 174"/>
                <a:gd name="T5" fmla="*/ 336 h 367"/>
                <a:gd name="T6" fmla="*/ 179 w 174"/>
                <a:gd name="T7" fmla="*/ 324 h 367"/>
                <a:gd name="T8" fmla="*/ 194 w 174"/>
                <a:gd name="T9" fmla="*/ 312 h 367"/>
                <a:gd name="T10" fmla="*/ 208 w 174"/>
                <a:gd name="T11" fmla="*/ 294 h 367"/>
                <a:gd name="T12" fmla="*/ 221 w 174"/>
                <a:gd name="T13" fmla="*/ 274 h 367"/>
                <a:gd name="T14" fmla="*/ 230 w 174"/>
                <a:gd name="T15" fmla="*/ 251 h 367"/>
                <a:gd name="T16" fmla="*/ 238 w 174"/>
                <a:gd name="T17" fmla="*/ 227 h 367"/>
                <a:gd name="T18" fmla="*/ 244 w 174"/>
                <a:gd name="T19" fmla="*/ 200 h 367"/>
                <a:gd name="T20" fmla="*/ 244 w 174"/>
                <a:gd name="T21" fmla="*/ 171 h 367"/>
                <a:gd name="T22" fmla="*/ 244 w 174"/>
                <a:gd name="T23" fmla="*/ 145 h 367"/>
                <a:gd name="T24" fmla="*/ 238 w 174"/>
                <a:gd name="T25" fmla="*/ 118 h 367"/>
                <a:gd name="T26" fmla="*/ 230 w 174"/>
                <a:gd name="T27" fmla="*/ 92 h 367"/>
                <a:gd name="T28" fmla="*/ 221 w 174"/>
                <a:gd name="T29" fmla="*/ 71 h 367"/>
                <a:gd name="T30" fmla="*/ 208 w 174"/>
                <a:gd name="T31" fmla="*/ 51 h 367"/>
                <a:gd name="T32" fmla="*/ 194 w 174"/>
                <a:gd name="T33" fmla="*/ 33 h 367"/>
                <a:gd name="T34" fmla="*/ 179 w 174"/>
                <a:gd name="T35" fmla="*/ 19 h 367"/>
                <a:gd name="T36" fmla="*/ 162 w 174"/>
                <a:gd name="T37" fmla="*/ 8 h 367"/>
                <a:gd name="T38" fmla="*/ 144 w 174"/>
                <a:gd name="T39" fmla="*/ 2 h 367"/>
                <a:gd name="T40" fmla="*/ 123 w 174"/>
                <a:gd name="T41" fmla="*/ 0 h 367"/>
                <a:gd name="T42" fmla="*/ 103 w 174"/>
                <a:gd name="T43" fmla="*/ 2 h 367"/>
                <a:gd name="T44" fmla="*/ 84 w 174"/>
                <a:gd name="T45" fmla="*/ 8 h 367"/>
                <a:gd name="T46" fmla="*/ 68 w 174"/>
                <a:gd name="T47" fmla="*/ 19 h 367"/>
                <a:gd name="T48" fmla="*/ 52 w 174"/>
                <a:gd name="T49" fmla="*/ 33 h 367"/>
                <a:gd name="T50" fmla="*/ 38 w 174"/>
                <a:gd name="T51" fmla="*/ 51 h 367"/>
                <a:gd name="T52" fmla="*/ 24 w 174"/>
                <a:gd name="T53" fmla="*/ 71 h 367"/>
                <a:gd name="T54" fmla="*/ 14 w 174"/>
                <a:gd name="T55" fmla="*/ 92 h 367"/>
                <a:gd name="T56" fmla="*/ 8 w 174"/>
                <a:gd name="T57" fmla="*/ 118 h 367"/>
                <a:gd name="T58" fmla="*/ 3 w 174"/>
                <a:gd name="T59" fmla="*/ 145 h 367"/>
                <a:gd name="T60" fmla="*/ 0 w 174"/>
                <a:gd name="T61" fmla="*/ 171 h 367"/>
                <a:gd name="T62" fmla="*/ 3 w 174"/>
                <a:gd name="T63" fmla="*/ 200 h 367"/>
                <a:gd name="T64" fmla="*/ 8 w 174"/>
                <a:gd name="T65" fmla="*/ 227 h 367"/>
                <a:gd name="T66" fmla="*/ 14 w 174"/>
                <a:gd name="T67" fmla="*/ 251 h 367"/>
                <a:gd name="T68" fmla="*/ 24 w 174"/>
                <a:gd name="T69" fmla="*/ 274 h 367"/>
                <a:gd name="T70" fmla="*/ 38 w 174"/>
                <a:gd name="T71" fmla="*/ 294 h 367"/>
                <a:gd name="T72" fmla="*/ 52 w 174"/>
                <a:gd name="T73" fmla="*/ 312 h 367"/>
                <a:gd name="T74" fmla="*/ 68 w 174"/>
                <a:gd name="T75" fmla="*/ 324 h 367"/>
                <a:gd name="T76" fmla="*/ 84 w 174"/>
                <a:gd name="T77" fmla="*/ 336 h 367"/>
                <a:gd name="T78" fmla="*/ 103 w 174"/>
                <a:gd name="T79" fmla="*/ 342 h 367"/>
                <a:gd name="T80" fmla="*/ 123 w 174"/>
                <a:gd name="T81" fmla="*/ 344 h 367"/>
                <a:gd name="T82" fmla="*/ 123 w 174"/>
                <a:gd name="T83" fmla="*/ 344 h 367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174"/>
                <a:gd name="T127" fmla="*/ 0 h 367"/>
                <a:gd name="T128" fmla="*/ 174 w 174"/>
                <a:gd name="T129" fmla="*/ 367 h 367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174" h="367">
                  <a:moveTo>
                    <a:pt x="87" y="366"/>
                  </a:moveTo>
                  <a:lnTo>
                    <a:pt x="102" y="364"/>
                  </a:lnTo>
                  <a:lnTo>
                    <a:pt x="115" y="357"/>
                  </a:lnTo>
                  <a:lnTo>
                    <a:pt x="127" y="345"/>
                  </a:lnTo>
                  <a:lnTo>
                    <a:pt x="138" y="332"/>
                  </a:lnTo>
                  <a:lnTo>
                    <a:pt x="148" y="313"/>
                  </a:lnTo>
                  <a:lnTo>
                    <a:pt x="157" y="292"/>
                  </a:lnTo>
                  <a:lnTo>
                    <a:pt x="163" y="267"/>
                  </a:lnTo>
                  <a:lnTo>
                    <a:pt x="169" y="242"/>
                  </a:lnTo>
                  <a:lnTo>
                    <a:pt x="173" y="213"/>
                  </a:lnTo>
                  <a:lnTo>
                    <a:pt x="173" y="182"/>
                  </a:lnTo>
                  <a:lnTo>
                    <a:pt x="173" y="154"/>
                  </a:lnTo>
                  <a:lnTo>
                    <a:pt x="169" y="125"/>
                  </a:lnTo>
                  <a:lnTo>
                    <a:pt x="163" y="98"/>
                  </a:lnTo>
                  <a:lnTo>
                    <a:pt x="157" y="75"/>
                  </a:lnTo>
                  <a:lnTo>
                    <a:pt x="148" y="54"/>
                  </a:lnTo>
                  <a:lnTo>
                    <a:pt x="138" y="35"/>
                  </a:lnTo>
                  <a:lnTo>
                    <a:pt x="127" y="20"/>
                  </a:lnTo>
                  <a:lnTo>
                    <a:pt x="115" y="8"/>
                  </a:lnTo>
                  <a:lnTo>
                    <a:pt x="102" y="2"/>
                  </a:lnTo>
                  <a:lnTo>
                    <a:pt x="87" y="0"/>
                  </a:lnTo>
                  <a:lnTo>
                    <a:pt x="73" y="2"/>
                  </a:lnTo>
                  <a:lnTo>
                    <a:pt x="60" y="8"/>
                  </a:lnTo>
                  <a:lnTo>
                    <a:pt x="48" y="20"/>
                  </a:lnTo>
                  <a:lnTo>
                    <a:pt x="37" y="35"/>
                  </a:lnTo>
                  <a:lnTo>
                    <a:pt x="27" y="54"/>
                  </a:lnTo>
                  <a:lnTo>
                    <a:pt x="17" y="75"/>
                  </a:lnTo>
                  <a:lnTo>
                    <a:pt x="10" y="98"/>
                  </a:lnTo>
                  <a:lnTo>
                    <a:pt x="6" y="125"/>
                  </a:lnTo>
                  <a:lnTo>
                    <a:pt x="2" y="154"/>
                  </a:lnTo>
                  <a:lnTo>
                    <a:pt x="0" y="182"/>
                  </a:lnTo>
                  <a:lnTo>
                    <a:pt x="2" y="213"/>
                  </a:lnTo>
                  <a:lnTo>
                    <a:pt x="6" y="242"/>
                  </a:lnTo>
                  <a:lnTo>
                    <a:pt x="10" y="267"/>
                  </a:lnTo>
                  <a:lnTo>
                    <a:pt x="17" y="292"/>
                  </a:lnTo>
                  <a:lnTo>
                    <a:pt x="27" y="313"/>
                  </a:lnTo>
                  <a:lnTo>
                    <a:pt x="37" y="332"/>
                  </a:lnTo>
                  <a:lnTo>
                    <a:pt x="48" y="345"/>
                  </a:lnTo>
                  <a:lnTo>
                    <a:pt x="60" y="357"/>
                  </a:lnTo>
                  <a:lnTo>
                    <a:pt x="73" y="364"/>
                  </a:lnTo>
                  <a:lnTo>
                    <a:pt x="87" y="366"/>
                  </a:lnTo>
                </a:path>
              </a:pathLst>
            </a:custGeom>
            <a:noFill/>
            <a:ln w="19050" cap="rnd" cmpd="sng">
              <a:solidFill>
                <a:srgbClr val="EB75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19" name="Line 35"/>
            <p:cNvSpPr>
              <a:spLocks noChangeShapeType="1"/>
            </p:cNvSpPr>
            <p:nvPr/>
          </p:nvSpPr>
          <p:spPr bwMode="auto">
            <a:xfrm>
              <a:off x="2530" y="3225"/>
              <a:ext cx="349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21" name="Line 37"/>
            <p:cNvSpPr>
              <a:spLocks noChangeShapeType="1"/>
            </p:cNvSpPr>
            <p:nvPr/>
          </p:nvSpPr>
          <p:spPr bwMode="auto">
            <a:xfrm flipH="1" flipV="1">
              <a:off x="2530" y="2018"/>
              <a:ext cx="364" cy="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22" name="Freeform 38"/>
            <p:cNvSpPr>
              <a:spLocks/>
            </p:cNvSpPr>
            <p:nvPr/>
          </p:nvSpPr>
          <p:spPr bwMode="auto">
            <a:xfrm>
              <a:off x="2681" y="2710"/>
              <a:ext cx="26" cy="24"/>
            </a:xfrm>
            <a:custGeom>
              <a:avLst/>
              <a:gdLst>
                <a:gd name="T0" fmla="*/ 11 w 26"/>
                <a:gd name="T1" fmla="*/ 23 h 24"/>
                <a:gd name="T2" fmla="*/ 13 w 26"/>
                <a:gd name="T3" fmla="*/ 23 h 24"/>
                <a:gd name="T4" fmla="*/ 15 w 26"/>
                <a:gd name="T5" fmla="*/ 23 h 24"/>
                <a:gd name="T6" fmla="*/ 17 w 26"/>
                <a:gd name="T7" fmla="*/ 23 h 24"/>
                <a:gd name="T8" fmla="*/ 19 w 26"/>
                <a:gd name="T9" fmla="*/ 21 h 24"/>
                <a:gd name="T10" fmla="*/ 21 w 26"/>
                <a:gd name="T11" fmla="*/ 21 h 24"/>
                <a:gd name="T12" fmla="*/ 21 w 26"/>
                <a:gd name="T13" fmla="*/ 19 h 24"/>
                <a:gd name="T14" fmla="*/ 23 w 26"/>
                <a:gd name="T15" fmla="*/ 17 h 24"/>
                <a:gd name="T16" fmla="*/ 23 w 26"/>
                <a:gd name="T17" fmla="*/ 15 h 24"/>
                <a:gd name="T18" fmla="*/ 23 w 26"/>
                <a:gd name="T19" fmla="*/ 14 h 24"/>
                <a:gd name="T20" fmla="*/ 25 w 26"/>
                <a:gd name="T21" fmla="*/ 12 h 24"/>
                <a:gd name="T22" fmla="*/ 23 w 26"/>
                <a:gd name="T23" fmla="*/ 10 h 24"/>
                <a:gd name="T24" fmla="*/ 23 w 26"/>
                <a:gd name="T25" fmla="*/ 10 h 24"/>
                <a:gd name="T26" fmla="*/ 23 w 26"/>
                <a:gd name="T27" fmla="*/ 8 h 24"/>
                <a:gd name="T28" fmla="*/ 21 w 26"/>
                <a:gd name="T29" fmla="*/ 6 h 24"/>
                <a:gd name="T30" fmla="*/ 21 w 26"/>
                <a:gd name="T31" fmla="*/ 4 h 24"/>
                <a:gd name="T32" fmla="*/ 19 w 26"/>
                <a:gd name="T33" fmla="*/ 4 h 24"/>
                <a:gd name="T34" fmla="*/ 17 w 26"/>
                <a:gd name="T35" fmla="*/ 2 h 24"/>
                <a:gd name="T36" fmla="*/ 15 w 26"/>
                <a:gd name="T37" fmla="*/ 2 h 24"/>
                <a:gd name="T38" fmla="*/ 13 w 26"/>
                <a:gd name="T39" fmla="*/ 2 h 24"/>
                <a:gd name="T40" fmla="*/ 11 w 26"/>
                <a:gd name="T41" fmla="*/ 0 h 24"/>
                <a:gd name="T42" fmla="*/ 11 w 26"/>
                <a:gd name="T43" fmla="*/ 2 h 24"/>
                <a:gd name="T44" fmla="*/ 9 w 26"/>
                <a:gd name="T45" fmla="*/ 2 h 24"/>
                <a:gd name="T46" fmla="*/ 8 w 26"/>
                <a:gd name="T47" fmla="*/ 2 h 24"/>
                <a:gd name="T48" fmla="*/ 6 w 26"/>
                <a:gd name="T49" fmla="*/ 4 h 24"/>
                <a:gd name="T50" fmla="*/ 4 w 26"/>
                <a:gd name="T51" fmla="*/ 4 h 24"/>
                <a:gd name="T52" fmla="*/ 4 w 26"/>
                <a:gd name="T53" fmla="*/ 6 h 24"/>
                <a:gd name="T54" fmla="*/ 2 w 26"/>
                <a:gd name="T55" fmla="*/ 8 h 24"/>
                <a:gd name="T56" fmla="*/ 2 w 26"/>
                <a:gd name="T57" fmla="*/ 10 h 24"/>
                <a:gd name="T58" fmla="*/ 2 w 26"/>
                <a:gd name="T59" fmla="*/ 10 h 24"/>
                <a:gd name="T60" fmla="*/ 0 w 26"/>
                <a:gd name="T61" fmla="*/ 12 h 24"/>
                <a:gd name="T62" fmla="*/ 2 w 26"/>
                <a:gd name="T63" fmla="*/ 14 h 24"/>
                <a:gd name="T64" fmla="*/ 2 w 26"/>
                <a:gd name="T65" fmla="*/ 15 h 24"/>
                <a:gd name="T66" fmla="*/ 2 w 26"/>
                <a:gd name="T67" fmla="*/ 17 h 24"/>
                <a:gd name="T68" fmla="*/ 4 w 26"/>
                <a:gd name="T69" fmla="*/ 19 h 24"/>
                <a:gd name="T70" fmla="*/ 4 w 26"/>
                <a:gd name="T71" fmla="*/ 21 h 24"/>
                <a:gd name="T72" fmla="*/ 6 w 26"/>
                <a:gd name="T73" fmla="*/ 21 h 24"/>
                <a:gd name="T74" fmla="*/ 8 w 26"/>
                <a:gd name="T75" fmla="*/ 23 h 24"/>
                <a:gd name="T76" fmla="*/ 9 w 26"/>
                <a:gd name="T77" fmla="*/ 23 h 24"/>
                <a:gd name="T78" fmla="*/ 11 w 26"/>
                <a:gd name="T79" fmla="*/ 23 h 24"/>
                <a:gd name="T80" fmla="*/ 11 w 26"/>
                <a:gd name="T81" fmla="*/ 23 h 24"/>
                <a:gd name="T82" fmla="*/ 11 w 26"/>
                <a:gd name="T83" fmla="*/ 23 h 24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26"/>
                <a:gd name="T127" fmla="*/ 0 h 24"/>
                <a:gd name="T128" fmla="*/ 26 w 26"/>
                <a:gd name="T129" fmla="*/ 24 h 24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26" h="24">
                  <a:moveTo>
                    <a:pt x="11" y="23"/>
                  </a:moveTo>
                  <a:lnTo>
                    <a:pt x="13" y="23"/>
                  </a:lnTo>
                  <a:lnTo>
                    <a:pt x="15" y="23"/>
                  </a:lnTo>
                  <a:lnTo>
                    <a:pt x="17" y="23"/>
                  </a:lnTo>
                  <a:lnTo>
                    <a:pt x="19" y="21"/>
                  </a:lnTo>
                  <a:lnTo>
                    <a:pt x="21" y="21"/>
                  </a:lnTo>
                  <a:lnTo>
                    <a:pt x="21" y="19"/>
                  </a:lnTo>
                  <a:lnTo>
                    <a:pt x="23" y="17"/>
                  </a:lnTo>
                  <a:lnTo>
                    <a:pt x="23" y="15"/>
                  </a:lnTo>
                  <a:lnTo>
                    <a:pt x="23" y="14"/>
                  </a:lnTo>
                  <a:lnTo>
                    <a:pt x="25" y="12"/>
                  </a:lnTo>
                  <a:lnTo>
                    <a:pt x="23" y="10"/>
                  </a:lnTo>
                  <a:lnTo>
                    <a:pt x="23" y="8"/>
                  </a:lnTo>
                  <a:lnTo>
                    <a:pt x="21" y="6"/>
                  </a:lnTo>
                  <a:lnTo>
                    <a:pt x="21" y="4"/>
                  </a:lnTo>
                  <a:lnTo>
                    <a:pt x="19" y="4"/>
                  </a:lnTo>
                  <a:lnTo>
                    <a:pt x="17" y="2"/>
                  </a:lnTo>
                  <a:lnTo>
                    <a:pt x="15" y="2"/>
                  </a:lnTo>
                  <a:lnTo>
                    <a:pt x="13" y="2"/>
                  </a:lnTo>
                  <a:lnTo>
                    <a:pt x="11" y="0"/>
                  </a:lnTo>
                  <a:lnTo>
                    <a:pt x="11" y="2"/>
                  </a:lnTo>
                  <a:lnTo>
                    <a:pt x="9" y="2"/>
                  </a:lnTo>
                  <a:lnTo>
                    <a:pt x="8" y="2"/>
                  </a:lnTo>
                  <a:lnTo>
                    <a:pt x="6" y="4"/>
                  </a:lnTo>
                  <a:lnTo>
                    <a:pt x="4" y="4"/>
                  </a:lnTo>
                  <a:lnTo>
                    <a:pt x="4" y="6"/>
                  </a:lnTo>
                  <a:lnTo>
                    <a:pt x="2" y="8"/>
                  </a:lnTo>
                  <a:lnTo>
                    <a:pt x="2" y="10"/>
                  </a:lnTo>
                  <a:lnTo>
                    <a:pt x="0" y="12"/>
                  </a:lnTo>
                  <a:lnTo>
                    <a:pt x="2" y="14"/>
                  </a:lnTo>
                  <a:lnTo>
                    <a:pt x="2" y="15"/>
                  </a:lnTo>
                  <a:lnTo>
                    <a:pt x="2" y="17"/>
                  </a:lnTo>
                  <a:lnTo>
                    <a:pt x="4" y="19"/>
                  </a:lnTo>
                  <a:lnTo>
                    <a:pt x="4" y="21"/>
                  </a:lnTo>
                  <a:lnTo>
                    <a:pt x="6" y="21"/>
                  </a:lnTo>
                  <a:lnTo>
                    <a:pt x="8" y="23"/>
                  </a:lnTo>
                  <a:lnTo>
                    <a:pt x="9" y="23"/>
                  </a:lnTo>
                  <a:lnTo>
                    <a:pt x="11" y="23"/>
                  </a:lnTo>
                </a:path>
              </a:pathLst>
            </a:custGeom>
            <a:solidFill>
              <a:srgbClr val="000000"/>
            </a:solidFill>
            <a:ln w="9525" cap="rnd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23" name="Line 39"/>
            <p:cNvSpPr>
              <a:spLocks noChangeShapeType="1"/>
            </p:cNvSpPr>
            <p:nvPr/>
          </p:nvSpPr>
          <p:spPr bwMode="auto">
            <a:xfrm>
              <a:off x="2744" y="2413"/>
              <a:ext cx="2" cy="81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24" name="Freeform 40"/>
            <p:cNvSpPr>
              <a:spLocks/>
            </p:cNvSpPr>
            <p:nvPr/>
          </p:nvSpPr>
          <p:spPr bwMode="auto">
            <a:xfrm>
              <a:off x="2735" y="2917"/>
              <a:ext cx="24" cy="24"/>
            </a:xfrm>
            <a:custGeom>
              <a:avLst/>
              <a:gdLst>
                <a:gd name="T0" fmla="*/ 9 w 24"/>
                <a:gd name="T1" fmla="*/ 23 h 24"/>
                <a:gd name="T2" fmla="*/ 13 w 24"/>
                <a:gd name="T3" fmla="*/ 23 h 24"/>
                <a:gd name="T4" fmla="*/ 15 w 24"/>
                <a:gd name="T5" fmla="*/ 23 h 24"/>
                <a:gd name="T6" fmla="*/ 15 w 24"/>
                <a:gd name="T7" fmla="*/ 21 h 24"/>
                <a:gd name="T8" fmla="*/ 17 w 24"/>
                <a:gd name="T9" fmla="*/ 21 h 24"/>
                <a:gd name="T10" fmla="*/ 19 w 24"/>
                <a:gd name="T11" fmla="*/ 19 h 24"/>
                <a:gd name="T12" fmla="*/ 21 w 24"/>
                <a:gd name="T13" fmla="*/ 19 h 24"/>
                <a:gd name="T14" fmla="*/ 21 w 24"/>
                <a:gd name="T15" fmla="*/ 17 h 24"/>
                <a:gd name="T16" fmla="*/ 21 w 24"/>
                <a:gd name="T17" fmla="*/ 15 h 24"/>
                <a:gd name="T18" fmla="*/ 23 w 24"/>
                <a:gd name="T19" fmla="*/ 13 h 24"/>
                <a:gd name="T20" fmla="*/ 23 w 24"/>
                <a:gd name="T21" fmla="*/ 12 h 24"/>
                <a:gd name="T22" fmla="*/ 23 w 24"/>
                <a:gd name="T23" fmla="*/ 10 h 24"/>
                <a:gd name="T24" fmla="*/ 21 w 24"/>
                <a:gd name="T25" fmla="*/ 8 h 24"/>
                <a:gd name="T26" fmla="*/ 21 w 24"/>
                <a:gd name="T27" fmla="*/ 6 h 24"/>
                <a:gd name="T28" fmla="*/ 21 w 24"/>
                <a:gd name="T29" fmla="*/ 6 h 24"/>
                <a:gd name="T30" fmla="*/ 19 w 24"/>
                <a:gd name="T31" fmla="*/ 4 h 24"/>
                <a:gd name="T32" fmla="*/ 17 w 24"/>
                <a:gd name="T33" fmla="*/ 2 h 24"/>
                <a:gd name="T34" fmla="*/ 15 w 24"/>
                <a:gd name="T35" fmla="*/ 2 h 24"/>
                <a:gd name="T36" fmla="*/ 15 w 24"/>
                <a:gd name="T37" fmla="*/ 0 h 24"/>
                <a:gd name="T38" fmla="*/ 13 w 24"/>
                <a:gd name="T39" fmla="*/ 0 h 24"/>
                <a:gd name="T40" fmla="*/ 11 w 24"/>
                <a:gd name="T41" fmla="*/ 0 h 24"/>
                <a:gd name="T42" fmla="*/ 9 w 24"/>
                <a:gd name="T43" fmla="*/ 0 h 24"/>
                <a:gd name="T44" fmla="*/ 7 w 24"/>
                <a:gd name="T45" fmla="*/ 0 h 24"/>
                <a:gd name="T46" fmla="*/ 5 w 24"/>
                <a:gd name="T47" fmla="*/ 2 h 24"/>
                <a:gd name="T48" fmla="*/ 3 w 24"/>
                <a:gd name="T49" fmla="*/ 2 h 24"/>
                <a:gd name="T50" fmla="*/ 2 w 24"/>
                <a:gd name="T51" fmla="*/ 4 h 24"/>
                <a:gd name="T52" fmla="*/ 2 w 24"/>
                <a:gd name="T53" fmla="*/ 6 h 24"/>
                <a:gd name="T54" fmla="*/ 0 w 24"/>
                <a:gd name="T55" fmla="*/ 6 h 24"/>
                <a:gd name="T56" fmla="*/ 0 w 24"/>
                <a:gd name="T57" fmla="*/ 8 h 24"/>
                <a:gd name="T58" fmla="*/ 0 w 24"/>
                <a:gd name="T59" fmla="*/ 10 h 24"/>
                <a:gd name="T60" fmla="*/ 0 w 24"/>
                <a:gd name="T61" fmla="*/ 12 h 24"/>
                <a:gd name="T62" fmla="*/ 0 w 24"/>
                <a:gd name="T63" fmla="*/ 13 h 24"/>
                <a:gd name="T64" fmla="*/ 0 w 24"/>
                <a:gd name="T65" fmla="*/ 15 h 24"/>
                <a:gd name="T66" fmla="*/ 0 w 24"/>
                <a:gd name="T67" fmla="*/ 17 h 24"/>
                <a:gd name="T68" fmla="*/ 2 w 24"/>
                <a:gd name="T69" fmla="*/ 19 h 24"/>
                <a:gd name="T70" fmla="*/ 2 w 24"/>
                <a:gd name="T71" fmla="*/ 19 h 24"/>
                <a:gd name="T72" fmla="*/ 3 w 24"/>
                <a:gd name="T73" fmla="*/ 21 h 24"/>
                <a:gd name="T74" fmla="*/ 5 w 24"/>
                <a:gd name="T75" fmla="*/ 21 h 24"/>
                <a:gd name="T76" fmla="*/ 7 w 24"/>
                <a:gd name="T77" fmla="*/ 23 h 24"/>
                <a:gd name="T78" fmla="*/ 9 w 24"/>
                <a:gd name="T79" fmla="*/ 23 h 24"/>
                <a:gd name="T80" fmla="*/ 11 w 24"/>
                <a:gd name="T81" fmla="*/ 23 h 24"/>
                <a:gd name="T82" fmla="*/ 11 w 24"/>
                <a:gd name="T83" fmla="*/ 23 h 24"/>
                <a:gd name="T84" fmla="*/ 9 w 24"/>
                <a:gd name="T85" fmla="*/ 23 h 2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4"/>
                <a:gd name="T130" fmla="*/ 0 h 24"/>
                <a:gd name="T131" fmla="*/ 24 w 24"/>
                <a:gd name="T132" fmla="*/ 24 h 24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4" h="24">
                  <a:moveTo>
                    <a:pt x="9" y="23"/>
                  </a:moveTo>
                  <a:lnTo>
                    <a:pt x="13" y="23"/>
                  </a:lnTo>
                  <a:lnTo>
                    <a:pt x="15" y="23"/>
                  </a:lnTo>
                  <a:lnTo>
                    <a:pt x="15" y="21"/>
                  </a:lnTo>
                  <a:lnTo>
                    <a:pt x="17" y="21"/>
                  </a:lnTo>
                  <a:lnTo>
                    <a:pt x="19" y="19"/>
                  </a:lnTo>
                  <a:lnTo>
                    <a:pt x="21" y="19"/>
                  </a:lnTo>
                  <a:lnTo>
                    <a:pt x="21" y="17"/>
                  </a:lnTo>
                  <a:lnTo>
                    <a:pt x="21" y="15"/>
                  </a:lnTo>
                  <a:lnTo>
                    <a:pt x="23" y="13"/>
                  </a:lnTo>
                  <a:lnTo>
                    <a:pt x="23" y="12"/>
                  </a:lnTo>
                  <a:lnTo>
                    <a:pt x="23" y="10"/>
                  </a:lnTo>
                  <a:lnTo>
                    <a:pt x="21" y="8"/>
                  </a:lnTo>
                  <a:lnTo>
                    <a:pt x="21" y="6"/>
                  </a:lnTo>
                  <a:lnTo>
                    <a:pt x="19" y="4"/>
                  </a:lnTo>
                  <a:lnTo>
                    <a:pt x="17" y="2"/>
                  </a:lnTo>
                  <a:lnTo>
                    <a:pt x="15" y="2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1" y="0"/>
                  </a:lnTo>
                  <a:lnTo>
                    <a:pt x="9" y="0"/>
                  </a:lnTo>
                  <a:lnTo>
                    <a:pt x="7" y="0"/>
                  </a:lnTo>
                  <a:lnTo>
                    <a:pt x="5" y="2"/>
                  </a:lnTo>
                  <a:lnTo>
                    <a:pt x="3" y="2"/>
                  </a:lnTo>
                  <a:lnTo>
                    <a:pt x="2" y="4"/>
                  </a:lnTo>
                  <a:lnTo>
                    <a:pt x="2" y="6"/>
                  </a:lnTo>
                  <a:lnTo>
                    <a:pt x="0" y="6"/>
                  </a:lnTo>
                  <a:lnTo>
                    <a:pt x="0" y="8"/>
                  </a:lnTo>
                  <a:lnTo>
                    <a:pt x="0" y="10"/>
                  </a:lnTo>
                  <a:lnTo>
                    <a:pt x="0" y="12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0" y="17"/>
                  </a:lnTo>
                  <a:lnTo>
                    <a:pt x="2" y="19"/>
                  </a:lnTo>
                  <a:lnTo>
                    <a:pt x="3" y="21"/>
                  </a:lnTo>
                  <a:lnTo>
                    <a:pt x="5" y="21"/>
                  </a:lnTo>
                  <a:lnTo>
                    <a:pt x="7" y="23"/>
                  </a:lnTo>
                  <a:lnTo>
                    <a:pt x="9" y="23"/>
                  </a:lnTo>
                  <a:lnTo>
                    <a:pt x="11" y="23"/>
                  </a:lnTo>
                  <a:lnTo>
                    <a:pt x="9" y="23"/>
                  </a:lnTo>
                </a:path>
              </a:pathLst>
            </a:custGeom>
            <a:solidFill>
              <a:srgbClr val="000000"/>
            </a:solidFill>
            <a:ln w="9525" cap="rnd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25" name="Freeform 41"/>
            <p:cNvSpPr>
              <a:spLocks/>
            </p:cNvSpPr>
            <p:nvPr/>
          </p:nvSpPr>
          <p:spPr bwMode="auto">
            <a:xfrm>
              <a:off x="2735" y="3214"/>
              <a:ext cx="24" cy="24"/>
            </a:xfrm>
            <a:custGeom>
              <a:avLst/>
              <a:gdLst>
                <a:gd name="T0" fmla="*/ 9 w 24"/>
                <a:gd name="T1" fmla="*/ 23 h 24"/>
                <a:gd name="T2" fmla="*/ 13 w 24"/>
                <a:gd name="T3" fmla="*/ 23 h 24"/>
                <a:gd name="T4" fmla="*/ 15 w 24"/>
                <a:gd name="T5" fmla="*/ 23 h 24"/>
                <a:gd name="T6" fmla="*/ 15 w 24"/>
                <a:gd name="T7" fmla="*/ 23 h 24"/>
                <a:gd name="T8" fmla="*/ 17 w 24"/>
                <a:gd name="T9" fmla="*/ 21 h 24"/>
                <a:gd name="T10" fmla="*/ 19 w 24"/>
                <a:gd name="T11" fmla="*/ 19 h 24"/>
                <a:gd name="T12" fmla="*/ 19 w 24"/>
                <a:gd name="T13" fmla="*/ 19 h 24"/>
                <a:gd name="T14" fmla="*/ 21 w 24"/>
                <a:gd name="T15" fmla="*/ 17 h 24"/>
                <a:gd name="T16" fmla="*/ 21 w 24"/>
                <a:gd name="T17" fmla="*/ 15 h 24"/>
                <a:gd name="T18" fmla="*/ 23 w 24"/>
                <a:gd name="T19" fmla="*/ 13 h 24"/>
                <a:gd name="T20" fmla="*/ 23 w 24"/>
                <a:gd name="T21" fmla="*/ 11 h 24"/>
                <a:gd name="T22" fmla="*/ 23 w 24"/>
                <a:gd name="T23" fmla="*/ 10 h 24"/>
                <a:gd name="T24" fmla="*/ 21 w 24"/>
                <a:gd name="T25" fmla="*/ 8 h 24"/>
                <a:gd name="T26" fmla="*/ 21 w 24"/>
                <a:gd name="T27" fmla="*/ 6 h 24"/>
                <a:gd name="T28" fmla="*/ 19 w 24"/>
                <a:gd name="T29" fmla="*/ 6 h 24"/>
                <a:gd name="T30" fmla="*/ 19 w 24"/>
                <a:gd name="T31" fmla="*/ 4 h 24"/>
                <a:gd name="T32" fmla="*/ 17 w 24"/>
                <a:gd name="T33" fmla="*/ 2 h 24"/>
                <a:gd name="T34" fmla="*/ 15 w 24"/>
                <a:gd name="T35" fmla="*/ 2 h 24"/>
                <a:gd name="T36" fmla="*/ 15 w 24"/>
                <a:gd name="T37" fmla="*/ 0 h 24"/>
                <a:gd name="T38" fmla="*/ 13 w 24"/>
                <a:gd name="T39" fmla="*/ 0 h 24"/>
                <a:gd name="T40" fmla="*/ 11 w 24"/>
                <a:gd name="T41" fmla="*/ 0 h 24"/>
                <a:gd name="T42" fmla="*/ 9 w 24"/>
                <a:gd name="T43" fmla="*/ 0 h 24"/>
                <a:gd name="T44" fmla="*/ 7 w 24"/>
                <a:gd name="T45" fmla="*/ 0 h 24"/>
                <a:gd name="T46" fmla="*/ 5 w 24"/>
                <a:gd name="T47" fmla="*/ 2 h 24"/>
                <a:gd name="T48" fmla="*/ 3 w 24"/>
                <a:gd name="T49" fmla="*/ 2 h 24"/>
                <a:gd name="T50" fmla="*/ 2 w 24"/>
                <a:gd name="T51" fmla="*/ 4 h 24"/>
                <a:gd name="T52" fmla="*/ 2 w 24"/>
                <a:gd name="T53" fmla="*/ 6 h 24"/>
                <a:gd name="T54" fmla="*/ 0 w 24"/>
                <a:gd name="T55" fmla="*/ 6 h 24"/>
                <a:gd name="T56" fmla="*/ 0 w 24"/>
                <a:gd name="T57" fmla="*/ 8 h 24"/>
                <a:gd name="T58" fmla="*/ 0 w 24"/>
                <a:gd name="T59" fmla="*/ 10 h 24"/>
                <a:gd name="T60" fmla="*/ 0 w 24"/>
                <a:gd name="T61" fmla="*/ 11 h 24"/>
                <a:gd name="T62" fmla="*/ 0 w 24"/>
                <a:gd name="T63" fmla="*/ 13 h 24"/>
                <a:gd name="T64" fmla="*/ 0 w 24"/>
                <a:gd name="T65" fmla="*/ 15 h 24"/>
                <a:gd name="T66" fmla="*/ 0 w 24"/>
                <a:gd name="T67" fmla="*/ 17 h 24"/>
                <a:gd name="T68" fmla="*/ 2 w 24"/>
                <a:gd name="T69" fmla="*/ 19 h 24"/>
                <a:gd name="T70" fmla="*/ 2 w 24"/>
                <a:gd name="T71" fmla="*/ 19 h 24"/>
                <a:gd name="T72" fmla="*/ 3 w 24"/>
                <a:gd name="T73" fmla="*/ 21 h 24"/>
                <a:gd name="T74" fmla="*/ 5 w 24"/>
                <a:gd name="T75" fmla="*/ 23 h 24"/>
                <a:gd name="T76" fmla="*/ 7 w 24"/>
                <a:gd name="T77" fmla="*/ 23 h 24"/>
                <a:gd name="T78" fmla="*/ 9 w 24"/>
                <a:gd name="T79" fmla="*/ 23 h 24"/>
                <a:gd name="T80" fmla="*/ 11 w 24"/>
                <a:gd name="T81" fmla="*/ 23 h 24"/>
                <a:gd name="T82" fmla="*/ 11 w 24"/>
                <a:gd name="T83" fmla="*/ 23 h 24"/>
                <a:gd name="T84" fmla="*/ 9 w 24"/>
                <a:gd name="T85" fmla="*/ 23 h 2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4"/>
                <a:gd name="T130" fmla="*/ 0 h 24"/>
                <a:gd name="T131" fmla="*/ 24 w 24"/>
                <a:gd name="T132" fmla="*/ 24 h 24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4" h="24">
                  <a:moveTo>
                    <a:pt x="9" y="23"/>
                  </a:moveTo>
                  <a:lnTo>
                    <a:pt x="13" y="23"/>
                  </a:lnTo>
                  <a:lnTo>
                    <a:pt x="15" y="23"/>
                  </a:lnTo>
                  <a:lnTo>
                    <a:pt x="17" y="21"/>
                  </a:lnTo>
                  <a:lnTo>
                    <a:pt x="19" y="19"/>
                  </a:lnTo>
                  <a:lnTo>
                    <a:pt x="21" y="17"/>
                  </a:lnTo>
                  <a:lnTo>
                    <a:pt x="21" y="15"/>
                  </a:lnTo>
                  <a:lnTo>
                    <a:pt x="23" y="13"/>
                  </a:lnTo>
                  <a:lnTo>
                    <a:pt x="23" y="11"/>
                  </a:lnTo>
                  <a:lnTo>
                    <a:pt x="23" y="10"/>
                  </a:lnTo>
                  <a:lnTo>
                    <a:pt x="21" y="8"/>
                  </a:lnTo>
                  <a:lnTo>
                    <a:pt x="21" y="6"/>
                  </a:lnTo>
                  <a:lnTo>
                    <a:pt x="19" y="6"/>
                  </a:lnTo>
                  <a:lnTo>
                    <a:pt x="19" y="4"/>
                  </a:lnTo>
                  <a:lnTo>
                    <a:pt x="17" y="2"/>
                  </a:lnTo>
                  <a:lnTo>
                    <a:pt x="15" y="2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1" y="0"/>
                  </a:lnTo>
                  <a:lnTo>
                    <a:pt x="9" y="0"/>
                  </a:lnTo>
                  <a:lnTo>
                    <a:pt x="7" y="0"/>
                  </a:lnTo>
                  <a:lnTo>
                    <a:pt x="5" y="2"/>
                  </a:lnTo>
                  <a:lnTo>
                    <a:pt x="3" y="2"/>
                  </a:lnTo>
                  <a:lnTo>
                    <a:pt x="2" y="4"/>
                  </a:lnTo>
                  <a:lnTo>
                    <a:pt x="2" y="6"/>
                  </a:lnTo>
                  <a:lnTo>
                    <a:pt x="0" y="6"/>
                  </a:lnTo>
                  <a:lnTo>
                    <a:pt x="0" y="8"/>
                  </a:lnTo>
                  <a:lnTo>
                    <a:pt x="0" y="10"/>
                  </a:lnTo>
                  <a:lnTo>
                    <a:pt x="0" y="11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0" y="17"/>
                  </a:lnTo>
                  <a:lnTo>
                    <a:pt x="2" y="19"/>
                  </a:lnTo>
                  <a:lnTo>
                    <a:pt x="3" y="21"/>
                  </a:lnTo>
                  <a:lnTo>
                    <a:pt x="5" y="23"/>
                  </a:lnTo>
                  <a:lnTo>
                    <a:pt x="7" y="23"/>
                  </a:lnTo>
                  <a:lnTo>
                    <a:pt x="9" y="23"/>
                  </a:lnTo>
                  <a:lnTo>
                    <a:pt x="11" y="23"/>
                  </a:lnTo>
                  <a:lnTo>
                    <a:pt x="9" y="23"/>
                  </a:lnTo>
                </a:path>
              </a:pathLst>
            </a:custGeom>
            <a:solidFill>
              <a:srgbClr val="000000"/>
            </a:solidFill>
            <a:ln w="9525" cap="rnd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26" name="Line 42"/>
            <p:cNvSpPr>
              <a:spLocks noChangeShapeType="1"/>
            </p:cNvSpPr>
            <p:nvPr/>
          </p:nvSpPr>
          <p:spPr bwMode="auto">
            <a:xfrm flipH="1" flipV="1">
              <a:off x="2784" y="3197"/>
              <a:ext cx="35" cy="5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27" name="Rectangle 43"/>
            <p:cNvSpPr>
              <a:spLocks noChangeArrowheads="1"/>
            </p:cNvSpPr>
            <p:nvPr/>
          </p:nvSpPr>
          <p:spPr bwMode="auto">
            <a:xfrm>
              <a:off x="2737" y="3118"/>
              <a:ext cx="124" cy="1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sz="600">
                  <a:solidFill>
                    <a:srgbClr val="000000"/>
                  </a:solidFill>
                  <a:latin typeface="+mj-lt"/>
                </a:rPr>
                <a:t>6</a:t>
              </a:r>
            </a:p>
          </p:txBody>
        </p:sp>
        <p:sp>
          <p:nvSpPr>
            <p:cNvPr id="54328" name="Line 44"/>
            <p:cNvSpPr>
              <a:spLocks noChangeShapeType="1"/>
            </p:cNvSpPr>
            <p:nvPr/>
          </p:nvSpPr>
          <p:spPr bwMode="auto">
            <a:xfrm flipH="1" flipV="1">
              <a:off x="2532" y="2527"/>
              <a:ext cx="440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29" name="Freeform 45"/>
            <p:cNvSpPr>
              <a:spLocks/>
            </p:cNvSpPr>
            <p:nvPr/>
          </p:nvSpPr>
          <p:spPr bwMode="auto">
            <a:xfrm>
              <a:off x="2692" y="2722"/>
              <a:ext cx="890" cy="284"/>
            </a:xfrm>
            <a:custGeom>
              <a:avLst/>
              <a:gdLst>
                <a:gd name="T0" fmla="*/ 889 w 935"/>
                <a:gd name="T1" fmla="*/ 283 h 284"/>
                <a:gd name="T2" fmla="*/ 0 w 935"/>
                <a:gd name="T3" fmla="*/ 283 h 284"/>
                <a:gd name="T4" fmla="*/ 0 w 935"/>
                <a:gd name="T5" fmla="*/ 0 h 284"/>
                <a:gd name="T6" fmla="*/ 0 60000 65536"/>
                <a:gd name="T7" fmla="*/ 0 60000 65536"/>
                <a:gd name="T8" fmla="*/ 0 60000 65536"/>
                <a:gd name="T9" fmla="*/ 0 w 935"/>
                <a:gd name="T10" fmla="*/ 0 h 284"/>
                <a:gd name="T11" fmla="*/ 935 w 935"/>
                <a:gd name="T12" fmla="*/ 284 h 28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35" h="284">
                  <a:moveTo>
                    <a:pt x="934" y="283"/>
                  </a:moveTo>
                  <a:lnTo>
                    <a:pt x="0" y="283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triangl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30" name="Freeform 46"/>
            <p:cNvSpPr>
              <a:spLocks/>
            </p:cNvSpPr>
            <p:nvPr/>
          </p:nvSpPr>
          <p:spPr bwMode="auto">
            <a:xfrm>
              <a:off x="3582" y="1917"/>
              <a:ext cx="93" cy="1777"/>
            </a:xfrm>
            <a:custGeom>
              <a:avLst/>
              <a:gdLst>
                <a:gd name="T0" fmla="*/ 90 w 93"/>
                <a:gd name="T1" fmla="*/ 1776 h 1777"/>
                <a:gd name="T2" fmla="*/ 92 w 93"/>
                <a:gd name="T3" fmla="*/ 0 h 1777"/>
                <a:gd name="T4" fmla="*/ 0 w 93"/>
                <a:gd name="T5" fmla="*/ 0 h 1777"/>
                <a:gd name="T6" fmla="*/ 0 w 93"/>
                <a:gd name="T7" fmla="*/ 1776 h 1777"/>
                <a:gd name="T8" fmla="*/ 92 w 93"/>
                <a:gd name="T9" fmla="*/ 1776 h 1777"/>
                <a:gd name="T10" fmla="*/ 92 w 93"/>
                <a:gd name="T11" fmla="*/ 1776 h 177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3"/>
                <a:gd name="T19" fmla="*/ 0 h 1777"/>
                <a:gd name="T20" fmla="*/ 93 w 93"/>
                <a:gd name="T21" fmla="*/ 1777 h 177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3" h="1777">
                  <a:moveTo>
                    <a:pt x="90" y="1776"/>
                  </a:moveTo>
                  <a:lnTo>
                    <a:pt x="92" y="0"/>
                  </a:lnTo>
                  <a:lnTo>
                    <a:pt x="0" y="0"/>
                  </a:lnTo>
                  <a:lnTo>
                    <a:pt x="0" y="1776"/>
                  </a:lnTo>
                  <a:lnTo>
                    <a:pt x="92" y="1776"/>
                  </a:lnTo>
                </a:path>
              </a:pathLst>
            </a:custGeom>
            <a:solidFill>
              <a:srgbClr val="CCECFF"/>
            </a:solidFill>
            <a:ln w="190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31" name="Freeform 47"/>
            <p:cNvSpPr>
              <a:spLocks/>
            </p:cNvSpPr>
            <p:nvPr/>
          </p:nvSpPr>
          <p:spPr bwMode="auto">
            <a:xfrm>
              <a:off x="2899" y="1955"/>
              <a:ext cx="365" cy="422"/>
            </a:xfrm>
            <a:custGeom>
              <a:avLst/>
              <a:gdLst>
                <a:gd name="T0" fmla="*/ 0 w 301"/>
                <a:gd name="T1" fmla="*/ 0 h 422"/>
                <a:gd name="T2" fmla="*/ 0 w 301"/>
                <a:gd name="T3" fmla="*/ 170 h 422"/>
                <a:gd name="T4" fmla="*/ 75 w 301"/>
                <a:gd name="T5" fmla="*/ 210 h 422"/>
                <a:gd name="T6" fmla="*/ 0 w 301"/>
                <a:gd name="T7" fmla="*/ 251 h 422"/>
                <a:gd name="T8" fmla="*/ 0 w 301"/>
                <a:gd name="T9" fmla="*/ 421 h 422"/>
                <a:gd name="T10" fmla="*/ 364 w 301"/>
                <a:gd name="T11" fmla="*/ 285 h 422"/>
                <a:gd name="T12" fmla="*/ 364 w 301"/>
                <a:gd name="T13" fmla="*/ 138 h 422"/>
                <a:gd name="T14" fmla="*/ 0 w 301"/>
                <a:gd name="T15" fmla="*/ 0 h 422"/>
                <a:gd name="T16" fmla="*/ 0 w 301"/>
                <a:gd name="T17" fmla="*/ 0 h 42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01"/>
                <a:gd name="T28" fmla="*/ 0 h 422"/>
                <a:gd name="T29" fmla="*/ 301 w 301"/>
                <a:gd name="T30" fmla="*/ 422 h 422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01" h="422">
                  <a:moveTo>
                    <a:pt x="0" y="0"/>
                  </a:moveTo>
                  <a:lnTo>
                    <a:pt x="0" y="170"/>
                  </a:lnTo>
                  <a:lnTo>
                    <a:pt x="62" y="210"/>
                  </a:lnTo>
                  <a:lnTo>
                    <a:pt x="0" y="251"/>
                  </a:lnTo>
                  <a:lnTo>
                    <a:pt x="0" y="421"/>
                  </a:lnTo>
                  <a:lnTo>
                    <a:pt x="300" y="285"/>
                  </a:lnTo>
                  <a:lnTo>
                    <a:pt x="300" y="138"/>
                  </a:lnTo>
                  <a:lnTo>
                    <a:pt x="0" y="0"/>
                  </a:lnTo>
                </a:path>
              </a:pathLst>
            </a:custGeom>
            <a:solidFill>
              <a:srgbClr val="CCFF99"/>
            </a:solidFill>
            <a:ln w="190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32" name="Freeform 48"/>
            <p:cNvSpPr>
              <a:spLocks/>
            </p:cNvSpPr>
            <p:nvPr/>
          </p:nvSpPr>
          <p:spPr bwMode="auto">
            <a:xfrm>
              <a:off x="2969" y="2461"/>
              <a:ext cx="391" cy="458"/>
            </a:xfrm>
            <a:custGeom>
              <a:avLst/>
              <a:gdLst>
                <a:gd name="T0" fmla="*/ 0 w 300"/>
                <a:gd name="T1" fmla="*/ 0 h 422"/>
                <a:gd name="T2" fmla="*/ 0 w 300"/>
                <a:gd name="T3" fmla="*/ 186 h 422"/>
                <a:gd name="T4" fmla="*/ 80 w 300"/>
                <a:gd name="T5" fmla="*/ 229 h 422"/>
                <a:gd name="T6" fmla="*/ 0 w 300"/>
                <a:gd name="T7" fmla="*/ 272 h 422"/>
                <a:gd name="T8" fmla="*/ 0 w 300"/>
                <a:gd name="T9" fmla="*/ 457 h 422"/>
                <a:gd name="T10" fmla="*/ 390 w 300"/>
                <a:gd name="T11" fmla="*/ 309 h 422"/>
                <a:gd name="T12" fmla="*/ 390 w 300"/>
                <a:gd name="T13" fmla="*/ 148 h 422"/>
                <a:gd name="T14" fmla="*/ 0 w 300"/>
                <a:gd name="T15" fmla="*/ 0 h 422"/>
                <a:gd name="T16" fmla="*/ 0 w 300"/>
                <a:gd name="T17" fmla="*/ 0 h 42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00"/>
                <a:gd name="T28" fmla="*/ 0 h 422"/>
                <a:gd name="T29" fmla="*/ 300 w 300"/>
                <a:gd name="T30" fmla="*/ 422 h 422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00" h="422">
                  <a:moveTo>
                    <a:pt x="0" y="0"/>
                  </a:moveTo>
                  <a:lnTo>
                    <a:pt x="0" y="171"/>
                  </a:lnTo>
                  <a:lnTo>
                    <a:pt x="61" y="211"/>
                  </a:lnTo>
                  <a:lnTo>
                    <a:pt x="0" y="251"/>
                  </a:lnTo>
                  <a:lnTo>
                    <a:pt x="0" y="421"/>
                  </a:lnTo>
                  <a:lnTo>
                    <a:pt x="299" y="285"/>
                  </a:lnTo>
                  <a:lnTo>
                    <a:pt x="299" y="136"/>
                  </a:lnTo>
                  <a:lnTo>
                    <a:pt x="0" y="0"/>
                  </a:lnTo>
                </a:path>
              </a:pathLst>
            </a:custGeom>
            <a:solidFill>
              <a:srgbClr val="CCFF99"/>
            </a:solidFill>
            <a:ln w="190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33" name="Freeform 49"/>
            <p:cNvSpPr>
              <a:spLocks/>
            </p:cNvSpPr>
            <p:nvPr/>
          </p:nvSpPr>
          <p:spPr bwMode="auto">
            <a:xfrm>
              <a:off x="2675" y="2170"/>
              <a:ext cx="151" cy="239"/>
            </a:xfrm>
            <a:custGeom>
              <a:avLst/>
              <a:gdLst>
                <a:gd name="T0" fmla="*/ 73 w 151"/>
                <a:gd name="T1" fmla="*/ 236 h 239"/>
                <a:gd name="T2" fmla="*/ 86 w 151"/>
                <a:gd name="T3" fmla="*/ 236 h 239"/>
                <a:gd name="T4" fmla="*/ 98 w 151"/>
                <a:gd name="T5" fmla="*/ 232 h 239"/>
                <a:gd name="T6" fmla="*/ 109 w 151"/>
                <a:gd name="T7" fmla="*/ 224 h 239"/>
                <a:gd name="T8" fmla="*/ 119 w 151"/>
                <a:gd name="T9" fmla="*/ 215 h 239"/>
                <a:gd name="T10" fmla="*/ 129 w 151"/>
                <a:gd name="T11" fmla="*/ 203 h 239"/>
                <a:gd name="T12" fmla="*/ 134 w 151"/>
                <a:gd name="T13" fmla="*/ 188 h 239"/>
                <a:gd name="T14" fmla="*/ 142 w 151"/>
                <a:gd name="T15" fmla="*/ 172 h 239"/>
                <a:gd name="T16" fmla="*/ 146 w 151"/>
                <a:gd name="T17" fmla="*/ 155 h 239"/>
                <a:gd name="T18" fmla="*/ 150 w 151"/>
                <a:gd name="T19" fmla="*/ 138 h 239"/>
                <a:gd name="T20" fmla="*/ 150 w 151"/>
                <a:gd name="T21" fmla="*/ 119 h 239"/>
                <a:gd name="T22" fmla="*/ 150 w 151"/>
                <a:gd name="T23" fmla="*/ 100 h 239"/>
                <a:gd name="T24" fmla="*/ 146 w 151"/>
                <a:gd name="T25" fmla="*/ 80 h 239"/>
                <a:gd name="T26" fmla="*/ 142 w 151"/>
                <a:gd name="T27" fmla="*/ 63 h 239"/>
                <a:gd name="T28" fmla="*/ 134 w 151"/>
                <a:gd name="T29" fmla="*/ 48 h 239"/>
                <a:gd name="T30" fmla="*/ 129 w 151"/>
                <a:gd name="T31" fmla="*/ 34 h 239"/>
                <a:gd name="T32" fmla="*/ 119 w 151"/>
                <a:gd name="T33" fmla="*/ 23 h 239"/>
                <a:gd name="T34" fmla="*/ 109 w 151"/>
                <a:gd name="T35" fmla="*/ 13 h 239"/>
                <a:gd name="T36" fmla="*/ 98 w 151"/>
                <a:gd name="T37" fmla="*/ 6 h 239"/>
                <a:gd name="T38" fmla="*/ 86 w 151"/>
                <a:gd name="T39" fmla="*/ 0 h 239"/>
                <a:gd name="T40" fmla="*/ 75 w 151"/>
                <a:gd name="T41" fmla="*/ 0 h 239"/>
                <a:gd name="T42" fmla="*/ 62 w 151"/>
                <a:gd name="T43" fmla="*/ 0 h 239"/>
                <a:gd name="T44" fmla="*/ 50 w 151"/>
                <a:gd name="T45" fmla="*/ 6 h 239"/>
                <a:gd name="T46" fmla="*/ 40 w 151"/>
                <a:gd name="T47" fmla="*/ 13 h 239"/>
                <a:gd name="T48" fmla="*/ 31 w 151"/>
                <a:gd name="T49" fmla="*/ 23 h 239"/>
                <a:gd name="T50" fmla="*/ 21 w 151"/>
                <a:gd name="T51" fmla="*/ 34 h 239"/>
                <a:gd name="T52" fmla="*/ 14 w 151"/>
                <a:gd name="T53" fmla="*/ 48 h 239"/>
                <a:gd name="T54" fmla="*/ 8 w 151"/>
                <a:gd name="T55" fmla="*/ 63 h 239"/>
                <a:gd name="T56" fmla="*/ 4 w 151"/>
                <a:gd name="T57" fmla="*/ 80 h 239"/>
                <a:gd name="T58" fmla="*/ 0 w 151"/>
                <a:gd name="T59" fmla="*/ 100 h 239"/>
                <a:gd name="T60" fmla="*/ 0 w 151"/>
                <a:gd name="T61" fmla="*/ 119 h 239"/>
                <a:gd name="T62" fmla="*/ 0 w 151"/>
                <a:gd name="T63" fmla="*/ 138 h 239"/>
                <a:gd name="T64" fmla="*/ 4 w 151"/>
                <a:gd name="T65" fmla="*/ 155 h 239"/>
                <a:gd name="T66" fmla="*/ 8 w 151"/>
                <a:gd name="T67" fmla="*/ 172 h 239"/>
                <a:gd name="T68" fmla="*/ 14 w 151"/>
                <a:gd name="T69" fmla="*/ 188 h 239"/>
                <a:gd name="T70" fmla="*/ 21 w 151"/>
                <a:gd name="T71" fmla="*/ 203 h 239"/>
                <a:gd name="T72" fmla="*/ 31 w 151"/>
                <a:gd name="T73" fmla="*/ 215 h 239"/>
                <a:gd name="T74" fmla="*/ 40 w 151"/>
                <a:gd name="T75" fmla="*/ 224 h 239"/>
                <a:gd name="T76" fmla="*/ 50 w 151"/>
                <a:gd name="T77" fmla="*/ 232 h 239"/>
                <a:gd name="T78" fmla="*/ 62 w 151"/>
                <a:gd name="T79" fmla="*/ 236 h 239"/>
                <a:gd name="T80" fmla="*/ 75 w 151"/>
                <a:gd name="T81" fmla="*/ 238 h 239"/>
                <a:gd name="T82" fmla="*/ 75 w 151"/>
                <a:gd name="T83" fmla="*/ 238 h 239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151"/>
                <a:gd name="T127" fmla="*/ 0 h 239"/>
                <a:gd name="T128" fmla="*/ 151 w 151"/>
                <a:gd name="T129" fmla="*/ 239 h 239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151" h="239">
                  <a:moveTo>
                    <a:pt x="73" y="236"/>
                  </a:moveTo>
                  <a:lnTo>
                    <a:pt x="86" y="236"/>
                  </a:lnTo>
                  <a:lnTo>
                    <a:pt x="98" y="232"/>
                  </a:lnTo>
                  <a:lnTo>
                    <a:pt x="109" y="224"/>
                  </a:lnTo>
                  <a:lnTo>
                    <a:pt x="119" y="215"/>
                  </a:lnTo>
                  <a:lnTo>
                    <a:pt x="129" y="203"/>
                  </a:lnTo>
                  <a:lnTo>
                    <a:pt x="134" y="188"/>
                  </a:lnTo>
                  <a:lnTo>
                    <a:pt x="142" y="172"/>
                  </a:lnTo>
                  <a:lnTo>
                    <a:pt x="146" y="155"/>
                  </a:lnTo>
                  <a:lnTo>
                    <a:pt x="150" y="138"/>
                  </a:lnTo>
                  <a:lnTo>
                    <a:pt x="150" y="119"/>
                  </a:lnTo>
                  <a:lnTo>
                    <a:pt x="150" y="100"/>
                  </a:lnTo>
                  <a:lnTo>
                    <a:pt x="146" y="80"/>
                  </a:lnTo>
                  <a:lnTo>
                    <a:pt x="142" y="63"/>
                  </a:lnTo>
                  <a:lnTo>
                    <a:pt x="134" y="48"/>
                  </a:lnTo>
                  <a:lnTo>
                    <a:pt x="129" y="34"/>
                  </a:lnTo>
                  <a:lnTo>
                    <a:pt x="119" y="23"/>
                  </a:lnTo>
                  <a:lnTo>
                    <a:pt x="109" y="13"/>
                  </a:lnTo>
                  <a:lnTo>
                    <a:pt x="98" y="6"/>
                  </a:lnTo>
                  <a:lnTo>
                    <a:pt x="86" y="0"/>
                  </a:lnTo>
                  <a:lnTo>
                    <a:pt x="75" y="0"/>
                  </a:lnTo>
                  <a:lnTo>
                    <a:pt x="62" y="0"/>
                  </a:lnTo>
                  <a:lnTo>
                    <a:pt x="50" y="6"/>
                  </a:lnTo>
                  <a:lnTo>
                    <a:pt x="40" y="13"/>
                  </a:lnTo>
                  <a:lnTo>
                    <a:pt x="31" y="23"/>
                  </a:lnTo>
                  <a:lnTo>
                    <a:pt x="21" y="34"/>
                  </a:lnTo>
                  <a:lnTo>
                    <a:pt x="14" y="48"/>
                  </a:lnTo>
                  <a:lnTo>
                    <a:pt x="8" y="63"/>
                  </a:lnTo>
                  <a:lnTo>
                    <a:pt x="4" y="80"/>
                  </a:lnTo>
                  <a:lnTo>
                    <a:pt x="0" y="100"/>
                  </a:lnTo>
                  <a:lnTo>
                    <a:pt x="0" y="119"/>
                  </a:lnTo>
                  <a:lnTo>
                    <a:pt x="0" y="138"/>
                  </a:lnTo>
                  <a:lnTo>
                    <a:pt x="4" y="155"/>
                  </a:lnTo>
                  <a:lnTo>
                    <a:pt x="8" y="172"/>
                  </a:lnTo>
                  <a:lnTo>
                    <a:pt x="14" y="188"/>
                  </a:lnTo>
                  <a:lnTo>
                    <a:pt x="21" y="203"/>
                  </a:lnTo>
                  <a:lnTo>
                    <a:pt x="31" y="215"/>
                  </a:lnTo>
                  <a:lnTo>
                    <a:pt x="40" y="224"/>
                  </a:lnTo>
                  <a:lnTo>
                    <a:pt x="50" y="232"/>
                  </a:lnTo>
                  <a:lnTo>
                    <a:pt x="62" y="236"/>
                  </a:lnTo>
                  <a:lnTo>
                    <a:pt x="75" y="238"/>
                  </a:lnTo>
                </a:path>
              </a:pathLst>
            </a:custGeom>
            <a:solidFill>
              <a:srgbClr val="EAEAEA"/>
            </a:solidFill>
            <a:ln w="190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34" name="Rectangle 50"/>
            <p:cNvSpPr>
              <a:spLocks noChangeArrowheads="1"/>
            </p:cNvSpPr>
            <p:nvPr/>
          </p:nvSpPr>
          <p:spPr bwMode="auto">
            <a:xfrm>
              <a:off x="2991" y="2737"/>
              <a:ext cx="138" cy="1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dirty="0">
                  <a:solidFill>
                    <a:srgbClr val="000000"/>
                  </a:solidFill>
                  <a:latin typeface="+mj-lt"/>
                </a:rPr>
                <a:t>ALU</a:t>
              </a:r>
            </a:p>
          </p:txBody>
        </p:sp>
        <p:sp>
          <p:nvSpPr>
            <p:cNvPr id="54335" name="Rectangle 51"/>
            <p:cNvSpPr>
              <a:spLocks noChangeArrowheads="1"/>
            </p:cNvSpPr>
            <p:nvPr/>
          </p:nvSpPr>
          <p:spPr bwMode="auto">
            <a:xfrm>
              <a:off x="3183" y="2697"/>
              <a:ext cx="132" cy="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 dirty="0">
                  <a:solidFill>
                    <a:srgbClr val="000000"/>
                  </a:solidFill>
                  <a:latin typeface="+mj-lt"/>
                </a:rPr>
                <a:t>result</a:t>
              </a:r>
            </a:p>
          </p:txBody>
        </p:sp>
        <p:sp>
          <p:nvSpPr>
            <p:cNvPr id="54336" name="Rectangle 52"/>
            <p:cNvSpPr>
              <a:spLocks noChangeArrowheads="1"/>
            </p:cNvSpPr>
            <p:nvPr/>
          </p:nvSpPr>
          <p:spPr bwMode="auto">
            <a:xfrm>
              <a:off x="3208" y="2604"/>
              <a:ext cx="127" cy="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 dirty="0">
                  <a:solidFill>
                    <a:srgbClr val="000000"/>
                  </a:solidFill>
                  <a:latin typeface="+mj-lt"/>
                </a:rPr>
                <a:t>z</a:t>
              </a:r>
              <a:r>
                <a:rPr lang="en-US" sz="800" dirty="0" smtClean="0">
                  <a:solidFill>
                    <a:srgbClr val="000000"/>
                  </a:solidFill>
                  <a:latin typeface="+mj-lt"/>
                </a:rPr>
                <a:t>ero?</a:t>
              </a:r>
              <a:endParaRPr lang="en-US" sz="500" dirty="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337" name="Rectangle 53"/>
            <p:cNvSpPr>
              <a:spLocks noChangeArrowheads="1"/>
            </p:cNvSpPr>
            <p:nvPr/>
          </p:nvSpPr>
          <p:spPr bwMode="auto">
            <a:xfrm>
              <a:off x="3105" y="2123"/>
              <a:ext cx="132" cy="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 dirty="0" smtClean="0">
                  <a:solidFill>
                    <a:srgbClr val="000000"/>
                  </a:solidFill>
                  <a:latin typeface="+mj-lt"/>
                </a:rPr>
                <a:t>result</a:t>
              </a:r>
              <a:endParaRPr lang="en-US" sz="500" dirty="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338" name="Rectangle 54"/>
            <p:cNvSpPr>
              <a:spLocks noChangeArrowheads="1"/>
            </p:cNvSpPr>
            <p:nvPr/>
          </p:nvSpPr>
          <p:spPr bwMode="auto">
            <a:xfrm>
              <a:off x="2928" y="2191"/>
              <a:ext cx="138" cy="1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dirty="0">
                  <a:solidFill>
                    <a:srgbClr val="000000"/>
                  </a:solidFill>
                  <a:latin typeface="+mj-lt"/>
                </a:rPr>
                <a:t>Add</a:t>
              </a:r>
            </a:p>
          </p:txBody>
        </p:sp>
        <p:sp>
          <p:nvSpPr>
            <p:cNvPr id="54339" name="Rectangle 55"/>
            <p:cNvSpPr>
              <a:spLocks noChangeArrowheads="1"/>
            </p:cNvSpPr>
            <p:nvPr/>
          </p:nvSpPr>
          <p:spPr bwMode="auto">
            <a:xfrm>
              <a:off x="2694" y="2232"/>
              <a:ext cx="90" cy="1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600" dirty="0">
                  <a:solidFill>
                    <a:srgbClr val="000000"/>
                  </a:solidFill>
                  <a:latin typeface="+mj-lt"/>
                </a:rPr>
                <a:t>Shift </a:t>
              </a:r>
            </a:p>
            <a:p>
              <a:r>
                <a:rPr lang="en-US" sz="600" dirty="0">
                  <a:solidFill>
                    <a:srgbClr val="000000"/>
                  </a:solidFill>
                  <a:latin typeface="+mj-lt"/>
                </a:rPr>
                <a:t>left 2</a:t>
              </a:r>
              <a:endParaRPr lang="en-US" sz="500" dirty="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340" name="Line 56"/>
            <p:cNvSpPr>
              <a:spLocks noChangeShapeType="1"/>
            </p:cNvSpPr>
            <p:nvPr/>
          </p:nvSpPr>
          <p:spPr bwMode="auto">
            <a:xfrm flipH="1" flipV="1">
              <a:off x="2907" y="2820"/>
              <a:ext cx="65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41" name="Line 57"/>
            <p:cNvSpPr>
              <a:spLocks noChangeShapeType="1"/>
            </p:cNvSpPr>
            <p:nvPr/>
          </p:nvSpPr>
          <p:spPr bwMode="auto">
            <a:xfrm flipH="1" flipV="1">
              <a:off x="2526" y="2721"/>
              <a:ext cx="290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42" name="Line 58"/>
            <p:cNvSpPr>
              <a:spLocks noChangeShapeType="1"/>
            </p:cNvSpPr>
            <p:nvPr/>
          </p:nvSpPr>
          <p:spPr bwMode="auto">
            <a:xfrm flipH="1" flipV="1">
              <a:off x="2746" y="2925"/>
              <a:ext cx="71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43" name="Line 59"/>
            <p:cNvSpPr>
              <a:spLocks noChangeShapeType="1"/>
            </p:cNvSpPr>
            <p:nvPr/>
          </p:nvSpPr>
          <p:spPr bwMode="auto">
            <a:xfrm flipH="1">
              <a:off x="3268" y="2163"/>
              <a:ext cx="308" cy="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44" name="Line 60"/>
            <p:cNvSpPr>
              <a:spLocks noChangeShapeType="1"/>
            </p:cNvSpPr>
            <p:nvPr/>
          </p:nvSpPr>
          <p:spPr bwMode="auto">
            <a:xfrm flipH="1" flipV="1">
              <a:off x="3355" y="2748"/>
              <a:ext cx="227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45" name="Line 61"/>
            <p:cNvSpPr>
              <a:spLocks noChangeShapeType="1"/>
            </p:cNvSpPr>
            <p:nvPr/>
          </p:nvSpPr>
          <p:spPr bwMode="auto">
            <a:xfrm flipH="1">
              <a:off x="2523" y="3451"/>
              <a:ext cx="254" cy="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46" name="Line 62"/>
            <p:cNvSpPr>
              <a:spLocks noChangeShapeType="1"/>
            </p:cNvSpPr>
            <p:nvPr/>
          </p:nvSpPr>
          <p:spPr bwMode="auto">
            <a:xfrm flipH="1" flipV="1">
              <a:off x="2526" y="3647"/>
              <a:ext cx="254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47" name="Rectangle 63"/>
            <p:cNvSpPr>
              <a:spLocks noChangeArrowheads="1"/>
            </p:cNvSpPr>
            <p:nvPr/>
          </p:nvSpPr>
          <p:spPr bwMode="auto">
            <a:xfrm>
              <a:off x="2914" y="3127"/>
              <a:ext cx="172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n-US" sz="800">
                  <a:solidFill>
                    <a:srgbClr val="EB7500"/>
                  </a:solidFill>
                  <a:latin typeface="+mj-lt"/>
                </a:rPr>
                <a:t>ALU</a:t>
              </a:r>
            </a:p>
            <a:p>
              <a:pPr algn="ctr"/>
              <a:r>
                <a:rPr lang="en-US" sz="800">
                  <a:solidFill>
                    <a:srgbClr val="EB7500"/>
                  </a:solidFill>
                  <a:latin typeface="+mj-lt"/>
                </a:rPr>
                <a:t>Control</a:t>
              </a:r>
              <a:endParaRPr lang="en-US" sz="500">
                <a:solidFill>
                  <a:srgbClr val="EB7500"/>
                </a:solidFill>
                <a:latin typeface="+mj-lt"/>
              </a:endParaRPr>
            </a:p>
          </p:txBody>
        </p:sp>
        <p:sp>
          <p:nvSpPr>
            <p:cNvPr id="54350" name="Line 66"/>
            <p:cNvSpPr>
              <a:spLocks noChangeShapeType="1"/>
            </p:cNvSpPr>
            <p:nvPr/>
          </p:nvSpPr>
          <p:spPr bwMode="auto">
            <a:xfrm flipH="1">
              <a:off x="2875" y="3555"/>
              <a:ext cx="702" cy="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51" name="Line 67"/>
            <p:cNvSpPr>
              <a:spLocks noChangeShapeType="1"/>
            </p:cNvSpPr>
            <p:nvPr/>
          </p:nvSpPr>
          <p:spPr bwMode="auto">
            <a:xfrm flipH="1" flipV="1">
              <a:off x="2826" y="2286"/>
              <a:ext cx="71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53" name="Rectangle 69"/>
            <p:cNvSpPr>
              <a:spLocks noChangeArrowheads="1"/>
            </p:cNvSpPr>
            <p:nvPr/>
          </p:nvSpPr>
          <p:spPr bwMode="auto">
            <a:xfrm>
              <a:off x="1824" y="2374"/>
              <a:ext cx="117" cy="1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800" dirty="0">
                  <a:solidFill>
                    <a:srgbClr val="000000"/>
                  </a:solidFill>
                  <a:latin typeface="+mj-lt"/>
                </a:rPr>
                <a:t>Read</a:t>
              </a:r>
            </a:p>
            <a:p>
              <a:pPr>
                <a:lnSpc>
                  <a:spcPct val="90000"/>
                </a:lnSpc>
              </a:pPr>
              <a:r>
                <a:rPr lang="en-US" sz="800" dirty="0" err="1">
                  <a:solidFill>
                    <a:srgbClr val="000000"/>
                  </a:solidFill>
                  <a:latin typeface="+mj-lt"/>
                </a:rPr>
                <a:t>reg</a:t>
              </a:r>
              <a:r>
                <a:rPr lang="en-US" sz="800" dirty="0">
                  <a:solidFill>
                    <a:srgbClr val="000000"/>
                  </a:solidFill>
                  <a:latin typeface="+mj-lt"/>
                </a:rPr>
                <a:t> 1</a:t>
              </a:r>
              <a:endParaRPr lang="en-US" sz="600" dirty="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354" name="Rectangle 70"/>
            <p:cNvSpPr>
              <a:spLocks noChangeArrowheads="1"/>
            </p:cNvSpPr>
            <p:nvPr/>
          </p:nvSpPr>
          <p:spPr bwMode="auto">
            <a:xfrm>
              <a:off x="1823" y="2524"/>
              <a:ext cx="117" cy="1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800" dirty="0">
                  <a:solidFill>
                    <a:srgbClr val="000000"/>
                  </a:solidFill>
                  <a:latin typeface="+mj-lt"/>
                </a:rPr>
                <a:t>Read</a:t>
              </a:r>
            </a:p>
            <a:p>
              <a:pPr>
                <a:lnSpc>
                  <a:spcPct val="90000"/>
                </a:lnSpc>
              </a:pPr>
              <a:r>
                <a:rPr lang="en-US" sz="800" dirty="0" err="1">
                  <a:solidFill>
                    <a:srgbClr val="000000"/>
                  </a:solidFill>
                  <a:latin typeface="+mj-lt"/>
                </a:rPr>
                <a:t>reg</a:t>
              </a:r>
              <a:r>
                <a:rPr lang="en-US" sz="800" dirty="0">
                  <a:solidFill>
                    <a:srgbClr val="000000"/>
                  </a:solidFill>
                  <a:latin typeface="+mj-lt"/>
                </a:rPr>
                <a:t> 2</a:t>
              </a:r>
              <a:endParaRPr lang="en-US" sz="600" dirty="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355" name="Rectangle 71"/>
            <p:cNvSpPr>
              <a:spLocks noChangeArrowheads="1"/>
            </p:cNvSpPr>
            <p:nvPr/>
          </p:nvSpPr>
          <p:spPr bwMode="auto">
            <a:xfrm>
              <a:off x="1830" y="2683"/>
              <a:ext cx="130" cy="1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800" dirty="0">
                  <a:solidFill>
                    <a:srgbClr val="000000"/>
                  </a:solidFill>
                  <a:latin typeface="+mj-lt"/>
                </a:rPr>
                <a:t>Write</a:t>
              </a:r>
            </a:p>
            <a:p>
              <a:pPr>
                <a:lnSpc>
                  <a:spcPct val="90000"/>
                </a:lnSpc>
              </a:pPr>
              <a:r>
                <a:rPr lang="en-US" sz="800" dirty="0" err="1">
                  <a:solidFill>
                    <a:srgbClr val="000000"/>
                  </a:solidFill>
                  <a:latin typeface="+mj-lt"/>
                </a:rPr>
                <a:t>reg</a:t>
              </a:r>
              <a:endParaRPr lang="en-US" sz="700" dirty="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356" name="Rectangle 72"/>
            <p:cNvSpPr>
              <a:spLocks noChangeArrowheads="1"/>
            </p:cNvSpPr>
            <p:nvPr/>
          </p:nvSpPr>
          <p:spPr bwMode="auto">
            <a:xfrm>
              <a:off x="1833" y="2836"/>
              <a:ext cx="130" cy="1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800" dirty="0">
                  <a:solidFill>
                    <a:srgbClr val="000000"/>
                  </a:solidFill>
                  <a:latin typeface="+mj-lt"/>
                </a:rPr>
                <a:t>Write</a:t>
              </a:r>
            </a:p>
            <a:p>
              <a:pPr>
                <a:lnSpc>
                  <a:spcPct val="90000"/>
                </a:lnSpc>
              </a:pPr>
              <a:r>
                <a:rPr lang="en-US" sz="800" dirty="0">
                  <a:solidFill>
                    <a:srgbClr val="000000"/>
                  </a:solidFill>
                  <a:latin typeface="+mj-lt"/>
                </a:rPr>
                <a:t>data</a:t>
              </a:r>
            </a:p>
          </p:txBody>
        </p:sp>
        <p:sp>
          <p:nvSpPr>
            <p:cNvPr id="54357" name="Rectangle 73"/>
            <p:cNvSpPr>
              <a:spLocks noChangeArrowheads="1"/>
            </p:cNvSpPr>
            <p:nvPr/>
          </p:nvSpPr>
          <p:spPr bwMode="auto">
            <a:xfrm>
              <a:off x="2139" y="2470"/>
              <a:ext cx="145" cy="1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800" dirty="0">
                  <a:solidFill>
                    <a:srgbClr val="000000"/>
                  </a:solidFill>
                  <a:latin typeface="+mj-lt"/>
                </a:rPr>
                <a:t>Read</a:t>
              </a:r>
            </a:p>
            <a:p>
              <a:pPr>
                <a:lnSpc>
                  <a:spcPct val="90000"/>
                </a:lnSpc>
              </a:pPr>
              <a:r>
                <a:rPr lang="en-US" sz="800" dirty="0">
                  <a:solidFill>
                    <a:srgbClr val="000000"/>
                  </a:solidFill>
                  <a:latin typeface="+mj-lt"/>
                </a:rPr>
                <a:t>data 1</a:t>
              </a:r>
              <a:endParaRPr lang="en-US" sz="500" dirty="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358" name="Rectangle 74"/>
            <p:cNvSpPr>
              <a:spLocks noChangeArrowheads="1"/>
            </p:cNvSpPr>
            <p:nvPr/>
          </p:nvSpPr>
          <p:spPr bwMode="auto">
            <a:xfrm>
              <a:off x="2145" y="2657"/>
              <a:ext cx="145" cy="1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800" dirty="0">
                  <a:solidFill>
                    <a:srgbClr val="000000"/>
                  </a:solidFill>
                  <a:latin typeface="+mj-lt"/>
                </a:rPr>
                <a:t>Read</a:t>
              </a:r>
            </a:p>
            <a:p>
              <a:pPr>
                <a:lnSpc>
                  <a:spcPct val="90000"/>
                </a:lnSpc>
              </a:pPr>
              <a:r>
                <a:rPr lang="en-US" sz="800" dirty="0">
                  <a:solidFill>
                    <a:srgbClr val="000000"/>
                  </a:solidFill>
                  <a:latin typeface="+mj-lt"/>
                </a:rPr>
                <a:t>data 2</a:t>
              </a:r>
              <a:endParaRPr lang="en-US" sz="600" dirty="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359" name="Rectangle 75"/>
            <p:cNvSpPr>
              <a:spLocks noChangeArrowheads="1"/>
            </p:cNvSpPr>
            <p:nvPr/>
          </p:nvSpPr>
          <p:spPr bwMode="auto">
            <a:xfrm rot="16200000">
              <a:off x="1828" y="2603"/>
              <a:ext cx="442" cy="1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>
                  <a:solidFill>
                    <a:srgbClr val="000000"/>
                  </a:solidFill>
                  <a:latin typeface="+mj-lt"/>
                </a:rPr>
                <a:t>Register File</a:t>
              </a:r>
            </a:p>
          </p:txBody>
        </p:sp>
        <p:sp>
          <p:nvSpPr>
            <p:cNvPr id="54360" name="Rectangle 76"/>
            <p:cNvSpPr>
              <a:spLocks noChangeArrowheads="1"/>
            </p:cNvSpPr>
            <p:nvPr/>
          </p:nvSpPr>
          <p:spPr bwMode="auto">
            <a:xfrm>
              <a:off x="1743" y="3137"/>
              <a:ext cx="154" cy="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900">
                  <a:solidFill>
                    <a:srgbClr val="000000"/>
                  </a:solidFill>
                  <a:latin typeface="+mj-lt"/>
                </a:rPr>
                <a:t>[15-0]</a:t>
              </a:r>
              <a:endParaRPr lang="en-US" sz="5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361" name="Rectangle 77"/>
            <p:cNvSpPr>
              <a:spLocks noChangeArrowheads="1"/>
            </p:cNvSpPr>
            <p:nvPr/>
          </p:nvSpPr>
          <p:spPr bwMode="auto">
            <a:xfrm>
              <a:off x="1740" y="3358"/>
              <a:ext cx="186" cy="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900">
                  <a:solidFill>
                    <a:srgbClr val="000000"/>
                  </a:solidFill>
                  <a:latin typeface="+mj-lt"/>
                </a:rPr>
                <a:t>[20-16]</a:t>
              </a:r>
            </a:p>
          </p:txBody>
        </p:sp>
        <p:sp>
          <p:nvSpPr>
            <p:cNvPr id="54362" name="Rectangle 78"/>
            <p:cNvSpPr>
              <a:spLocks noChangeArrowheads="1"/>
            </p:cNvSpPr>
            <p:nvPr/>
          </p:nvSpPr>
          <p:spPr bwMode="auto">
            <a:xfrm>
              <a:off x="1743" y="3550"/>
              <a:ext cx="186" cy="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900">
                  <a:solidFill>
                    <a:srgbClr val="000000"/>
                  </a:solidFill>
                  <a:latin typeface="+mj-lt"/>
                </a:rPr>
                <a:t>[15-11]</a:t>
              </a:r>
            </a:p>
          </p:txBody>
        </p:sp>
        <p:sp>
          <p:nvSpPr>
            <p:cNvPr id="54363" name="Freeform 79"/>
            <p:cNvSpPr>
              <a:spLocks/>
            </p:cNvSpPr>
            <p:nvPr/>
          </p:nvSpPr>
          <p:spPr bwMode="auto">
            <a:xfrm>
              <a:off x="1629" y="3213"/>
              <a:ext cx="24" cy="24"/>
            </a:xfrm>
            <a:custGeom>
              <a:avLst/>
              <a:gdLst>
                <a:gd name="T0" fmla="*/ 10 w 24"/>
                <a:gd name="T1" fmla="*/ 23 h 24"/>
                <a:gd name="T2" fmla="*/ 14 w 24"/>
                <a:gd name="T3" fmla="*/ 23 h 24"/>
                <a:gd name="T4" fmla="*/ 16 w 24"/>
                <a:gd name="T5" fmla="*/ 23 h 24"/>
                <a:gd name="T6" fmla="*/ 16 w 24"/>
                <a:gd name="T7" fmla="*/ 21 h 24"/>
                <a:gd name="T8" fmla="*/ 18 w 24"/>
                <a:gd name="T9" fmla="*/ 21 h 24"/>
                <a:gd name="T10" fmla="*/ 20 w 24"/>
                <a:gd name="T11" fmla="*/ 19 h 24"/>
                <a:gd name="T12" fmla="*/ 22 w 24"/>
                <a:gd name="T13" fmla="*/ 18 h 24"/>
                <a:gd name="T14" fmla="*/ 22 w 24"/>
                <a:gd name="T15" fmla="*/ 18 h 24"/>
                <a:gd name="T16" fmla="*/ 22 w 24"/>
                <a:gd name="T17" fmla="*/ 16 h 24"/>
                <a:gd name="T18" fmla="*/ 23 w 24"/>
                <a:gd name="T19" fmla="*/ 14 h 24"/>
                <a:gd name="T20" fmla="*/ 23 w 24"/>
                <a:gd name="T21" fmla="*/ 12 h 24"/>
                <a:gd name="T22" fmla="*/ 23 w 24"/>
                <a:gd name="T23" fmla="*/ 10 h 24"/>
                <a:gd name="T24" fmla="*/ 22 w 24"/>
                <a:gd name="T25" fmla="*/ 8 h 24"/>
                <a:gd name="T26" fmla="*/ 22 w 24"/>
                <a:gd name="T27" fmla="*/ 6 h 24"/>
                <a:gd name="T28" fmla="*/ 22 w 24"/>
                <a:gd name="T29" fmla="*/ 4 h 24"/>
                <a:gd name="T30" fmla="*/ 20 w 24"/>
                <a:gd name="T31" fmla="*/ 4 h 24"/>
                <a:gd name="T32" fmla="*/ 18 w 24"/>
                <a:gd name="T33" fmla="*/ 2 h 24"/>
                <a:gd name="T34" fmla="*/ 16 w 24"/>
                <a:gd name="T35" fmla="*/ 2 h 24"/>
                <a:gd name="T36" fmla="*/ 16 w 24"/>
                <a:gd name="T37" fmla="*/ 0 h 24"/>
                <a:gd name="T38" fmla="*/ 14 w 24"/>
                <a:gd name="T39" fmla="*/ 0 h 24"/>
                <a:gd name="T40" fmla="*/ 12 w 24"/>
                <a:gd name="T41" fmla="*/ 0 h 24"/>
                <a:gd name="T42" fmla="*/ 10 w 24"/>
                <a:gd name="T43" fmla="*/ 0 h 24"/>
                <a:gd name="T44" fmla="*/ 8 w 24"/>
                <a:gd name="T45" fmla="*/ 0 h 24"/>
                <a:gd name="T46" fmla="*/ 6 w 24"/>
                <a:gd name="T47" fmla="*/ 2 h 24"/>
                <a:gd name="T48" fmla="*/ 4 w 24"/>
                <a:gd name="T49" fmla="*/ 2 h 24"/>
                <a:gd name="T50" fmla="*/ 2 w 24"/>
                <a:gd name="T51" fmla="*/ 4 h 24"/>
                <a:gd name="T52" fmla="*/ 2 w 24"/>
                <a:gd name="T53" fmla="*/ 4 h 24"/>
                <a:gd name="T54" fmla="*/ 0 w 24"/>
                <a:gd name="T55" fmla="*/ 6 h 24"/>
                <a:gd name="T56" fmla="*/ 0 w 24"/>
                <a:gd name="T57" fmla="*/ 8 h 24"/>
                <a:gd name="T58" fmla="*/ 0 w 24"/>
                <a:gd name="T59" fmla="*/ 10 h 24"/>
                <a:gd name="T60" fmla="*/ 0 w 24"/>
                <a:gd name="T61" fmla="*/ 12 h 24"/>
                <a:gd name="T62" fmla="*/ 0 w 24"/>
                <a:gd name="T63" fmla="*/ 14 h 24"/>
                <a:gd name="T64" fmla="*/ 0 w 24"/>
                <a:gd name="T65" fmla="*/ 16 h 24"/>
                <a:gd name="T66" fmla="*/ 0 w 24"/>
                <a:gd name="T67" fmla="*/ 18 h 24"/>
                <a:gd name="T68" fmla="*/ 2 w 24"/>
                <a:gd name="T69" fmla="*/ 18 h 24"/>
                <a:gd name="T70" fmla="*/ 2 w 24"/>
                <a:gd name="T71" fmla="*/ 19 h 24"/>
                <a:gd name="T72" fmla="*/ 4 w 24"/>
                <a:gd name="T73" fmla="*/ 21 h 24"/>
                <a:gd name="T74" fmla="*/ 6 w 24"/>
                <a:gd name="T75" fmla="*/ 21 h 24"/>
                <a:gd name="T76" fmla="*/ 8 w 24"/>
                <a:gd name="T77" fmla="*/ 23 h 24"/>
                <a:gd name="T78" fmla="*/ 10 w 24"/>
                <a:gd name="T79" fmla="*/ 23 h 24"/>
                <a:gd name="T80" fmla="*/ 12 w 24"/>
                <a:gd name="T81" fmla="*/ 23 h 24"/>
                <a:gd name="T82" fmla="*/ 12 w 24"/>
                <a:gd name="T83" fmla="*/ 23 h 24"/>
                <a:gd name="T84" fmla="*/ 10 w 24"/>
                <a:gd name="T85" fmla="*/ 23 h 2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4"/>
                <a:gd name="T130" fmla="*/ 0 h 24"/>
                <a:gd name="T131" fmla="*/ 24 w 24"/>
                <a:gd name="T132" fmla="*/ 24 h 24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4" h="24">
                  <a:moveTo>
                    <a:pt x="10" y="23"/>
                  </a:moveTo>
                  <a:lnTo>
                    <a:pt x="14" y="23"/>
                  </a:lnTo>
                  <a:lnTo>
                    <a:pt x="16" y="23"/>
                  </a:lnTo>
                  <a:lnTo>
                    <a:pt x="16" y="21"/>
                  </a:lnTo>
                  <a:lnTo>
                    <a:pt x="18" y="21"/>
                  </a:lnTo>
                  <a:lnTo>
                    <a:pt x="20" y="19"/>
                  </a:lnTo>
                  <a:lnTo>
                    <a:pt x="22" y="18"/>
                  </a:lnTo>
                  <a:lnTo>
                    <a:pt x="22" y="16"/>
                  </a:lnTo>
                  <a:lnTo>
                    <a:pt x="23" y="14"/>
                  </a:lnTo>
                  <a:lnTo>
                    <a:pt x="23" y="12"/>
                  </a:lnTo>
                  <a:lnTo>
                    <a:pt x="23" y="10"/>
                  </a:lnTo>
                  <a:lnTo>
                    <a:pt x="22" y="8"/>
                  </a:lnTo>
                  <a:lnTo>
                    <a:pt x="22" y="6"/>
                  </a:lnTo>
                  <a:lnTo>
                    <a:pt x="22" y="4"/>
                  </a:lnTo>
                  <a:lnTo>
                    <a:pt x="20" y="4"/>
                  </a:lnTo>
                  <a:lnTo>
                    <a:pt x="18" y="2"/>
                  </a:lnTo>
                  <a:lnTo>
                    <a:pt x="16" y="2"/>
                  </a:lnTo>
                  <a:lnTo>
                    <a:pt x="16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8" y="0"/>
                  </a:lnTo>
                  <a:lnTo>
                    <a:pt x="6" y="2"/>
                  </a:lnTo>
                  <a:lnTo>
                    <a:pt x="4" y="2"/>
                  </a:lnTo>
                  <a:lnTo>
                    <a:pt x="2" y="4"/>
                  </a:lnTo>
                  <a:lnTo>
                    <a:pt x="0" y="6"/>
                  </a:lnTo>
                  <a:lnTo>
                    <a:pt x="0" y="8"/>
                  </a:lnTo>
                  <a:lnTo>
                    <a:pt x="0" y="10"/>
                  </a:lnTo>
                  <a:lnTo>
                    <a:pt x="0" y="12"/>
                  </a:lnTo>
                  <a:lnTo>
                    <a:pt x="0" y="14"/>
                  </a:lnTo>
                  <a:lnTo>
                    <a:pt x="0" y="16"/>
                  </a:lnTo>
                  <a:lnTo>
                    <a:pt x="0" y="18"/>
                  </a:lnTo>
                  <a:lnTo>
                    <a:pt x="2" y="18"/>
                  </a:lnTo>
                  <a:lnTo>
                    <a:pt x="2" y="19"/>
                  </a:lnTo>
                  <a:lnTo>
                    <a:pt x="4" y="21"/>
                  </a:lnTo>
                  <a:lnTo>
                    <a:pt x="6" y="21"/>
                  </a:lnTo>
                  <a:lnTo>
                    <a:pt x="8" y="23"/>
                  </a:lnTo>
                  <a:lnTo>
                    <a:pt x="10" y="23"/>
                  </a:lnTo>
                  <a:lnTo>
                    <a:pt x="12" y="23"/>
                  </a:lnTo>
                  <a:lnTo>
                    <a:pt x="10" y="23"/>
                  </a:lnTo>
                </a:path>
              </a:pathLst>
            </a:custGeom>
            <a:solidFill>
              <a:srgbClr val="000000"/>
            </a:solidFill>
            <a:ln w="9525" cap="rnd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64" name="Freeform 80"/>
            <p:cNvSpPr>
              <a:spLocks/>
            </p:cNvSpPr>
            <p:nvPr/>
          </p:nvSpPr>
          <p:spPr bwMode="auto">
            <a:xfrm>
              <a:off x="2091" y="3039"/>
              <a:ext cx="215" cy="367"/>
            </a:xfrm>
            <a:custGeom>
              <a:avLst/>
              <a:gdLst>
                <a:gd name="T0" fmla="*/ 107 w 173"/>
                <a:gd name="T1" fmla="*/ 366 h 367"/>
                <a:gd name="T2" fmla="*/ 123 w 173"/>
                <a:gd name="T3" fmla="*/ 364 h 367"/>
                <a:gd name="T4" fmla="*/ 140 w 173"/>
                <a:gd name="T5" fmla="*/ 357 h 367"/>
                <a:gd name="T6" fmla="*/ 157 w 173"/>
                <a:gd name="T7" fmla="*/ 345 h 367"/>
                <a:gd name="T8" fmla="*/ 172 w 173"/>
                <a:gd name="T9" fmla="*/ 332 h 367"/>
                <a:gd name="T10" fmla="*/ 183 w 173"/>
                <a:gd name="T11" fmla="*/ 313 h 367"/>
                <a:gd name="T12" fmla="*/ 193 w 173"/>
                <a:gd name="T13" fmla="*/ 292 h 367"/>
                <a:gd name="T14" fmla="*/ 203 w 173"/>
                <a:gd name="T15" fmla="*/ 267 h 367"/>
                <a:gd name="T16" fmla="*/ 209 w 173"/>
                <a:gd name="T17" fmla="*/ 242 h 367"/>
                <a:gd name="T18" fmla="*/ 214 w 173"/>
                <a:gd name="T19" fmla="*/ 213 h 367"/>
                <a:gd name="T20" fmla="*/ 214 w 173"/>
                <a:gd name="T21" fmla="*/ 182 h 367"/>
                <a:gd name="T22" fmla="*/ 214 w 173"/>
                <a:gd name="T23" fmla="*/ 154 h 367"/>
                <a:gd name="T24" fmla="*/ 209 w 173"/>
                <a:gd name="T25" fmla="*/ 125 h 367"/>
                <a:gd name="T26" fmla="*/ 203 w 173"/>
                <a:gd name="T27" fmla="*/ 98 h 367"/>
                <a:gd name="T28" fmla="*/ 193 w 173"/>
                <a:gd name="T29" fmla="*/ 75 h 367"/>
                <a:gd name="T30" fmla="*/ 183 w 173"/>
                <a:gd name="T31" fmla="*/ 54 h 367"/>
                <a:gd name="T32" fmla="*/ 172 w 173"/>
                <a:gd name="T33" fmla="*/ 35 h 367"/>
                <a:gd name="T34" fmla="*/ 157 w 173"/>
                <a:gd name="T35" fmla="*/ 20 h 367"/>
                <a:gd name="T36" fmla="*/ 140 w 173"/>
                <a:gd name="T37" fmla="*/ 8 h 367"/>
                <a:gd name="T38" fmla="*/ 123 w 173"/>
                <a:gd name="T39" fmla="*/ 2 h 367"/>
                <a:gd name="T40" fmla="*/ 107 w 173"/>
                <a:gd name="T41" fmla="*/ 0 h 367"/>
                <a:gd name="T42" fmla="*/ 91 w 173"/>
                <a:gd name="T43" fmla="*/ 2 h 367"/>
                <a:gd name="T44" fmla="*/ 73 w 173"/>
                <a:gd name="T45" fmla="*/ 8 h 367"/>
                <a:gd name="T46" fmla="*/ 57 w 173"/>
                <a:gd name="T47" fmla="*/ 20 h 367"/>
                <a:gd name="T48" fmla="*/ 45 w 173"/>
                <a:gd name="T49" fmla="*/ 35 h 367"/>
                <a:gd name="T50" fmla="*/ 31 w 173"/>
                <a:gd name="T51" fmla="*/ 54 h 367"/>
                <a:gd name="T52" fmla="*/ 21 w 173"/>
                <a:gd name="T53" fmla="*/ 75 h 367"/>
                <a:gd name="T54" fmla="*/ 11 w 173"/>
                <a:gd name="T55" fmla="*/ 98 h 367"/>
                <a:gd name="T56" fmla="*/ 5 w 173"/>
                <a:gd name="T57" fmla="*/ 125 h 367"/>
                <a:gd name="T58" fmla="*/ 2 w 173"/>
                <a:gd name="T59" fmla="*/ 154 h 367"/>
                <a:gd name="T60" fmla="*/ 0 w 173"/>
                <a:gd name="T61" fmla="*/ 182 h 367"/>
                <a:gd name="T62" fmla="*/ 2 w 173"/>
                <a:gd name="T63" fmla="*/ 213 h 367"/>
                <a:gd name="T64" fmla="*/ 5 w 173"/>
                <a:gd name="T65" fmla="*/ 242 h 367"/>
                <a:gd name="T66" fmla="*/ 11 w 173"/>
                <a:gd name="T67" fmla="*/ 267 h 367"/>
                <a:gd name="T68" fmla="*/ 21 w 173"/>
                <a:gd name="T69" fmla="*/ 292 h 367"/>
                <a:gd name="T70" fmla="*/ 31 w 173"/>
                <a:gd name="T71" fmla="*/ 313 h 367"/>
                <a:gd name="T72" fmla="*/ 45 w 173"/>
                <a:gd name="T73" fmla="*/ 332 h 367"/>
                <a:gd name="T74" fmla="*/ 57 w 173"/>
                <a:gd name="T75" fmla="*/ 345 h 367"/>
                <a:gd name="T76" fmla="*/ 73 w 173"/>
                <a:gd name="T77" fmla="*/ 357 h 367"/>
                <a:gd name="T78" fmla="*/ 91 w 173"/>
                <a:gd name="T79" fmla="*/ 364 h 367"/>
                <a:gd name="T80" fmla="*/ 107 w 173"/>
                <a:gd name="T81" fmla="*/ 366 h 367"/>
                <a:gd name="T82" fmla="*/ 107 w 173"/>
                <a:gd name="T83" fmla="*/ 366 h 367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173"/>
                <a:gd name="T127" fmla="*/ 0 h 367"/>
                <a:gd name="T128" fmla="*/ 173 w 173"/>
                <a:gd name="T129" fmla="*/ 367 h 367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173" h="367">
                  <a:moveTo>
                    <a:pt x="86" y="366"/>
                  </a:moveTo>
                  <a:lnTo>
                    <a:pt x="99" y="364"/>
                  </a:lnTo>
                  <a:lnTo>
                    <a:pt x="113" y="357"/>
                  </a:lnTo>
                  <a:lnTo>
                    <a:pt x="126" y="345"/>
                  </a:lnTo>
                  <a:lnTo>
                    <a:pt x="138" y="332"/>
                  </a:lnTo>
                  <a:lnTo>
                    <a:pt x="147" y="313"/>
                  </a:lnTo>
                  <a:lnTo>
                    <a:pt x="155" y="292"/>
                  </a:lnTo>
                  <a:lnTo>
                    <a:pt x="163" y="267"/>
                  </a:lnTo>
                  <a:lnTo>
                    <a:pt x="168" y="242"/>
                  </a:lnTo>
                  <a:lnTo>
                    <a:pt x="172" y="213"/>
                  </a:lnTo>
                  <a:lnTo>
                    <a:pt x="172" y="182"/>
                  </a:lnTo>
                  <a:lnTo>
                    <a:pt x="172" y="154"/>
                  </a:lnTo>
                  <a:lnTo>
                    <a:pt x="168" y="125"/>
                  </a:lnTo>
                  <a:lnTo>
                    <a:pt x="163" y="98"/>
                  </a:lnTo>
                  <a:lnTo>
                    <a:pt x="155" y="75"/>
                  </a:lnTo>
                  <a:lnTo>
                    <a:pt x="147" y="54"/>
                  </a:lnTo>
                  <a:lnTo>
                    <a:pt x="138" y="35"/>
                  </a:lnTo>
                  <a:lnTo>
                    <a:pt x="126" y="20"/>
                  </a:lnTo>
                  <a:lnTo>
                    <a:pt x="113" y="8"/>
                  </a:lnTo>
                  <a:lnTo>
                    <a:pt x="99" y="2"/>
                  </a:lnTo>
                  <a:lnTo>
                    <a:pt x="86" y="0"/>
                  </a:lnTo>
                  <a:lnTo>
                    <a:pt x="73" y="2"/>
                  </a:lnTo>
                  <a:lnTo>
                    <a:pt x="59" y="8"/>
                  </a:lnTo>
                  <a:lnTo>
                    <a:pt x="46" y="20"/>
                  </a:lnTo>
                  <a:lnTo>
                    <a:pt x="36" y="35"/>
                  </a:lnTo>
                  <a:lnTo>
                    <a:pt x="25" y="54"/>
                  </a:lnTo>
                  <a:lnTo>
                    <a:pt x="17" y="75"/>
                  </a:lnTo>
                  <a:lnTo>
                    <a:pt x="9" y="98"/>
                  </a:lnTo>
                  <a:lnTo>
                    <a:pt x="4" y="125"/>
                  </a:lnTo>
                  <a:lnTo>
                    <a:pt x="2" y="154"/>
                  </a:lnTo>
                  <a:lnTo>
                    <a:pt x="0" y="182"/>
                  </a:lnTo>
                  <a:lnTo>
                    <a:pt x="2" y="213"/>
                  </a:lnTo>
                  <a:lnTo>
                    <a:pt x="4" y="242"/>
                  </a:lnTo>
                  <a:lnTo>
                    <a:pt x="9" y="267"/>
                  </a:lnTo>
                  <a:lnTo>
                    <a:pt x="17" y="292"/>
                  </a:lnTo>
                  <a:lnTo>
                    <a:pt x="25" y="313"/>
                  </a:lnTo>
                  <a:lnTo>
                    <a:pt x="36" y="332"/>
                  </a:lnTo>
                  <a:lnTo>
                    <a:pt x="46" y="345"/>
                  </a:lnTo>
                  <a:lnTo>
                    <a:pt x="59" y="357"/>
                  </a:lnTo>
                  <a:lnTo>
                    <a:pt x="73" y="364"/>
                  </a:lnTo>
                  <a:lnTo>
                    <a:pt x="86" y="366"/>
                  </a:lnTo>
                </a:path>
              </a:pathLst>
            </a:custGeom>
            <a:solidFill>
              <a:srgbClr val="EAEAEA"/>
            </a:solidFill>
            <a:ln w="190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65" name="Rectangle 81"/>
            <p:cNvSpPr>
              <a:spLocks noChangeArrowheads="1"/>
            </p:cNvSpPr>
            <p:nvPr/>
          </p:nvSpPr>
          <p:spPr bwMode="auto">
            <a:xfrm>
              <a:off x="2110" y="3124"/>
              <a:ext cx="180" cy="1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900" dirty="0">
                  <a:solidFill>
                    <a:srgbClr val="000000"/>
                  </a:solidFill>
                  <a:latin typeface="+mj-lt"/>
                </a:rPr>
                <a:t>Sign</a:t>
              </a:r>
            </a:p>
            <a:p>
              <a:pPr algn="ctr">
                <a:lnSpc>
                  <a:spcPct val="90000"/>
                </a:lnSpc>
              </a:pPr>
              <a:r>
                <a:rPr lang="en-US" sz="900" dirty="0">
                  <a:solidFill>
                    <a:srgbClr val="000000"/>
                  </a:solidFill>
                  <a:latin typeface="+mj-lt"/>
                </a:rPr>
                <a:t>extend</a:t>
              </a:r>
              <a:endParaRPr lang="en-US" sz="600" dirty="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366" name="Rectangle 82"/>
            <p:cNvSpPr>
              <a:spLocks noChangeArrowheads="1"/>
            </p:cNvSpPr>
            <p:nvPr/>
          </p:nvSpPr>
          <p:spPr bwMode="auto">
            <a:xfrm>
              <a:off x="1968" y="3123"/>
              <a:ext cx="64" cy="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900">
                  <a:solidFill>
                    <a:srgbClr val="000000"/>
                  </a:solidFill>
                  <a:latin typeface="+mj-lt"/>
                </a:rPr>
                <a:t>16</a:t>
              </a:r>
              <a:endParaRPr lang="en-US" sz="5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367" name="Rectangle 83"/>
            <p:cNvSpPr>
              <a:spLocks noChangeArrowheads="1"/>
            </p:cNvSpPr>
            <p:nvPr/>
          </p:nvSpPr>
          <p:spPr bwMode="auto">
            <a:xfrm>
              <a:off x="2319" y="3127"/>
              <a:ext cx="64" cy="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900">
                  <a:solidFill>
                    <a:srgbClr val="000000"/>
                  </a:solidFill>
                  <a:latin typeface="+mj-lt"/>
                </a:rPr>
                <a:t>32</a:t>
              </a:r>
              <a:endParaRPr lang="en-US" sz="5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368" name="Line 84"/>
            <p:cNvSpPr>
              <a:spLocks noChangeShapeType="1"/>
            </p:cNvSpPr>
            <p:nvPr/>
          </p:nvSpPr>
          <p:spPr bwMode="auto">
            <a:xfrm flipH="1">
              <a:off x="1637" y="2598"/>
              <a:ext cx="1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69" name="Line 85"/>
            <p:cNvSpPr>
              <a:spLocks noChangeShapeType="1"/>
            </p:cNvSpPr>
            <p:nvPr/>
          </p:nvSpPr>
          <p:spPr bwMode="auto">
            <a:xfrm flipH="1">
              <a:off x="1635" y="2434"/>
              <a:ext cx="17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70" name="Line 86"/>
            <p:cNvSpPr>
              <a:spLocks noChangeShapeType="1"/>
            </p:cNvSpPr>
            <p:nvPr/>
          </p:nvSpPr>
          <p:spPr bwMode="auto">
            <a:xfrm flipH="1">
              <a:off x="2325" y="2527"/>
              <a:ext cx="11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71" name="Line 87"/>
            <p:cNvSpPr>
              <a:spLocks noChangeShapeType="1"/>
            </p:cNvSpPr>
            <p:nvPr/>
          </p:nvSpPr>
          <p:spPr bwMode="auto">
            <a:xfrm flipH="1">
              <a:off x="2325" y="2721"/>
              <a:ext cx="11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72" name="Line 88"/>
            <p:cNvSpPr>
              <a:spLocks noChangeShapeType="1"/>
            </p:cNvSpPr>
            <p:nvPr/>
          </p:nvSpPr>
          <p:spPr bwMode="auto">
            <a:xfrm flipH="1">
              <a:off x="2063" y="2299"/>
              <a:ext cx="1" cy="51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73" name="Rectangle 89"/>
            <p:cNvSpPr>
              <a:spLocks noChangeArrowheads="1"/>
            </p:cNvSpPr>
            <p:nvPr/>
          </p:nvSpPr>
          <p:spPr bwMode="auto">
            <a:xfrm>
              <a:off x="2350" y="1757"/>
              <a:ext cx="256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+mj-lt"/>
                </a:rPr>
                <a:t>ID/EX</a:t>
              </a:r>
              <a:endParaRPr lang="en-US" sz="7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374" name="Rectangle 90"/>
            <p:cNvSpPr>
              <a:spLocks noChangeArrowheads="1"/>
            </p:cNvSpPr>
            <p:nvPr/>
          </p:nvSpPr>
          <p:spPr bwMode="auto">
            <a:xfrm>
              <a:off x="3440" y="1752"/>
              <a:ext cx="407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+mj-lt"/>
                </a:rPr>
                <a:t>EX/MEM</a:t>
              </a:r>
              <a:endParaRPr lang="en-US" sz="10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375" name="Rectangle 91"/>
            <p:cNvSpPr>
              <a:spLocks noChangeArrowheads="1"/>
            </p:cNvSpPr>
            <p:nvPr/>
          </p:nvSpPr>
          <p:spPr bwMode="auto">
            <a:xfrm>
              <a:off x="4527" y="1746"/>
              <a:ext cx="456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dirty="0">
                  <a:solidFill>
                    <a:srgbClr val="000000"/>
                  </a:solidFill>
                  <a:latin typeface="+mj-lt"/>
                </a:rPr>
                <a:t>MEM/WB</a:t>
              </a:r>
            </a:p>
          </p:txBody>
        </p:sp>
        <p:sp>
          <p:nvSpPr>
            <p:cNvPr id="54376" name="Rectangle 92"/>
            <p:cNvSpPr>
              <a:spLocks noChangeArrowheads="1"/>
            </p:cNvSpPr>
            <p:nvPr/>
          </p:nvSpPr>
          <p:spPr bwMode="auto">
            <a:xfrm rot="16200000" flipH="1">
              <a:off x="1389" y="2424"/>
              <a:ext cx="331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1000">
                  <a:solidFill>
                    <a:srgbClr val="000000"/>
                  </a:solidFill>
                  <a:latin typeface="+mj-lt"/>
                </a:rPr>
                <a:t>Instruction</a:t>
              </a:r>
              <a:endParaRPr lang="en-US" sz="7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377" name="Freeform 93"/>
            <p:cNvSpPr>
              <a:spLocks/>
            </p:cNvSpPr>
            <p:nvPr/>
          </p:nvSpPr>
          <p:spPr bwMode="auto">
            <a:xfrm>
              <a:off x="3789" y="2735"/>
              <a:ext cx="24" cy="24"/>
            </a:xfrm>
            <a:custGeom>
              <a:avLst/>
              <a:gdLst>
                <a:gd name="T0" fmla="*/ 10 w 24"/>
                <a:gd name="T1" fmla="*/ 23 h 24"/>
                <a:gd name="T2" fmla="*/ 14 w 24"/>
                <a:gd name="T3" fmla="*/ 23 h 24"/>
                <a:gd name="T4" fmla="*/ 14 w 24"/>
                <a:gd name="T5" fmla="*/ 23 h 24"/>
                <a:gd name="T6" fmla="*/ 16 w 24"/>
                <a:gd name="T7" fmla="*/ 23 h 24"/>
                <a:gd name="T8" fmla="*/ 18 w 24"/>
                <a:gd name="T9" fmla="*/ 21 h 24"/>
                <a:gd name="T10" fmla="*/ 20 w 24"/>
                <a:gd name="T11" fmla="*/ 19 h 24"/>
                <a:gd name="T12" fmla="*/ 20 w 24"/>
                <a:gd name="T13" fmla="*/ 19 h 24"/>
                <a:gd name="T14" fmla="*/ 21 w 24"/>
                <a:gd name="T15" fmla="*/ 17 h 24"/>
                <a:gd name="T16" fmla="*/ 21 w 24"/>
                <a:gd name="T17" fmla="*/ 15 h 24"/>
                <a:gd name="T18" fmla="*/ 23 w 24"/>
                <a:gd name="T19" fmla="*/ 13 h 24"/>
                <a:gd name="T20" fmla="*/ 23 w 24"/>
                <a:gd name="T21" fmla="*/ 12 h 24"/>
                <a:gd name="T22" fmla="*/ 23 w 24"/>
                <a:gd name="T23" fmla="*/ 10 h 24"/>
                <a:gd name="T24" fmla="*/ 21 w 24"/>
                <a:gd name="T25" fmla="*/ 8 h 24"/>
                <a:gd name="T26" fmla="*/ 21 w 24"/>
                <a:gd name="T27" fmla="*/ 6 h 24"/>
                <a:gd name="T28" fmla="*/ 20 w 24"/>
                <a:gd name="T29" fmla="*/ 6 h 24"/>
                <a:gd name="T30" fmla="*/ 20 w 24"/>
                <a:gd name="T31" fmla="*/ 4 h 24"/>
                <a:gd name="T32" fmla="*/ 18 w 24"/>
                <a:gd name="T33" fmla="*/ 2 h 24"/>
                <a:gd name="T34" fmla="*/ 16 w 24"/>
                <a:gd name="T35" fmla="*/ 2 h 24"/>
                <a:gd name="T36" fmla="*/ 14 w 24"/>
                <a:gd name="T37" fmla="*/ 0 h 24"/>
                <a:gd name="T38" fmla="*/ 14 w 24"/>
                <a:gd name="T39" fmla="*/ 0 h 24"/>
                <a:gd name="T40" fmla="*/ 12 w 24"/>
                <a:gd name="T41" fmla="*/ 0 h 24"/>
                <a:gd name="T42" fmla="*/ 10 w 24"/>
                <a:gd name="T43" fmla="*/ 0 h 24"/>
                <a:gd name="T44" fmla="*/ 8 w 24"/>
                <a:gd name="T45" fmla="*/ 0 h 24"/>
                <a:gd name="T46" fmla="*/ 6 w 24"/>
                <a:gd name="T47" fmla="*/ 2 h 24"/>
                <a:gd name="T48" fmla="*/ 4 w 24"/>
                <a:gd name="T49" fmla="*/ 2 h 24"/>
                <a:gd name="T50" fmla="*/ 2 w 24"/>
                <a:gd name="T51" fmla="*/ 4 h 24"/>
                <a:gd name="T52" fmla="*/ 2 w 24"/>
                <a:gd name="T53" fmla="*/ 6 h 24"/>
                <a:gd name="T54" fmla="*/ 0 w 24"/>
                <a:gd name="T55" fmla="*/ 6 h 24"/>
                <a:gd name="T56" fmla="*/ 0 w 24"/>
                <a:gd name="T57" fmla="*/ 8 h 24"/>
                <a:gd name="T58" fmla="*/ 0 w 24"/>
                <a:gd name="T59" fmla="*/ 10 h 24"/>
                <a:gd name="T60" fmla="*/ 0 w 24"/>
                <a:gd name="T61" fmla="*/ 12 h 24"/>
                <a:gd name="T62" fmla="*/ 0 w 24"/>
                <a:gd name="T63" fmla="*/ 13 h 24"/>
                <a:gd name="T64" fmla="*/ 0 w 24"/>
                <a:gd name="T65" fmla="*/ 15 h 24"/>
                <a:gd name="T66" fmla="*/ 0 w 24"/>
                <a:gd name="T67" fmla="*/ 17 h 24"/>
                <a:gd name="T68" fmla="*/ 2 w 24"/>
                <a:gd name="T69" fmla="*/ 19 h 24"/>
                <a:gd name="T70" fmla="*/ 2 w 24"/>
                <a:gd name="T71" fmla="*/ 19 h 24"/>
                <a:gd name="T72" fmla="*/ 4 w 24"/>
                <a:gd name="T73" fmla="*/ 21 h 24"/>
                <a:gd name="T74" fmla="*/ 6 w 24"/>
                <a:gd name="T75" fmla="*/ 23 h 24"/>
                <a:gd name="T76" fmla="*/ 8 w 24"/>
                <a:gd name="T77" fmla="*/ 23 h 24"/>
                <a:gd name="T78" fmla="*/ 10 w 24"/>
                <a:gd name="T79" fmla="*/ 23 h 24"/>
                <a:gd name="T80" fmla="*/ 12 w 24"/>
                <a:gd name="T81" fmla="*/ 23 h 24"/>
                <a:gd name="T82" fmla="*/ 12 w 24"/>
                <a:gd name="T83" fmla="*/ 23 h 24"/>
                <a:gd name="T84" fmla="*/ 10 w 24"/>
                <a:gd name="T85" fmla="*/ 23 h 2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4"/>
                <a:gd name="T130" fmla="*/ 0 h 24"/>
                <a:gd name="T131" fmla="*/ 24 w 24"/>
                <a:gd name="T132" fmla="*/ 24 h 24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4" h="24">
                  <a:moveTo>
                    <a:pt x="10" y="23"/>
                  </a:moveTo>
                  <a:lnTo>
                    <a:pt x="14" y="23"/>
                  </a:lnTo>
                  <a:lnTo>
                    <a:pt x="16" y="23"/>
                  </a:lnTo>
                  <a:lnTo>
                    <a:pt x="18" y="21"/>
                  </a:lnTo>
                  <a:lnTo>
                    <a:pt x="20" y="19"/>
                  </a:lnTo>
                  <a:lnTo>
                    <a:pt x="21" y="17"/>
                  </a:lnTo>
                  <a:lnTo>
                    <a:pt x="21" y="15"/>
                  </a:lnTo>
                  <a:lnTo>
                    <a:pt x="23" y="13"/>
                  </a:lnTo>
                  <a:lnTo>
                    <a:pt x="23" y="12"/>
                  </a:lnTo>
                  <a:lnTo>
                    <a:pt x="23" y="10"/>
                  </a:lnTo>
                  <a:lnTo>
                    <a:pt x="21" y="8"/>
                  </a:lnTo>
                  <a:lnTo>
                    <a:pt x="21" y="6"/>
                  </a:lnTo>
                  <a:lnTo>
                    <a:pt x="20" y="6"/>
                  </a:lnTo>
                  <a:lnTo>
                    <a:pt x="20" y="4"/>
                  </a:lnTo>
                  <a:lnTo>
                    <a:pt x="18" y="2"/>
                  </a:lnTo>
                  <a:lnTo>
                    <a:pt x="16" y="2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8" y="0"/>
                  </a:lnTo>
                  <a:lnTo>
                    <a:pt x="6" y="2"/>
                  </a:lnTo>
                  <a:lnTo>
                    <a:pt x="4" y="2"/>
                  </a:lnTo>
                  <a:lnTo>
                    <a:pt x="2" y="4"/>
                  </a:lnTo>
                  <a:lnTo>
                    <a:pt x="2" y="6"/>
                  </a:lnTo>
                  <a:lnTo>
                    <a:pt x="0" y="6"/>
                  </a:lnTo>
                  <a:lnTo>
                    <a:pt x="0" y="8"/>
                  </a:lnTo>
                  <a:lnTo>
                    <a:pt x="0" y="10"/>
                  </a:lnTo>
                  <a:lnTo>
                    <a:pt x="0" y="12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0" y="17"/>
                  </a:lnTo>
                  <a:lnTo>
                    <a:pt x="2" y="19"/>
                  </a:lnTo>
                  <a:lnTo>
                    <a:pt x="4" y="21"/>
                  </a:lnTo>
                  <a:lnTo>
                    <a:pt x="6" y="23"/>
                  </a:lnTo>
                  <a:lnTo>
                    <a:pt x="8" y="23"/>
                  </a:lnTo>
                  <a:lnTo>
                    <a:pt x="10" y="23"/>
                  </a:lnTo>
                  <a:lnTo>
                    <a:pt x="12" y="23"/>
                  </a:lnTo>
                  <a:lnTo>
                    <a:pt x="10" y="23"/>
                  </a:lnTo>
                </a:path>
              </a:pathLst>
            </a:custGeom>
            <a:solidFill>
              <a:srgbClr val="000000"/>
            </a:solidFill>
            <a:ln w="9525" cap="rnd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78" name="Line 94"/>
            <p:cNvSpPr>
              <a:spLocks noChangeShapeType="1"/>
            </p:cNvSpPr>
            <p:nvPr/>
          </p:nvSpPr>
          <p:spPr bwMode="auto">
            <a:xfrm flipH="1">
              <a:off x="3679" y="3003"/>
              <a:ext cx="250" cy="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79" name="Freeform 95"/>
            <p:cNvSpPr>
              <a:spLocks/>
            </p:cNvSpPr>
            <p:nvPr/>
          </p:nvSpPr>
          <p:spPr bwMode="auto">
            <a:xfrm>
              <a:off x="3801" y="2747"/>
              <a:ext cx="903" cy="611"/>
            </a:xfrm>
            <a:custGeom>
              <a:avLst/>
              <a:gdLst>
                <a:gd name="T0" fmla="*/ 902 w 1318"/>
                <a:gd name="T1" fmla="*/ 608 h 410"/>
                <a:gd name="T2" fmla="*/ 0 w 1318"/>
                <a:gd name="T3" fmla="*/ 610 h 410"/>
                <a:gd name="T4" fmla="*/ 0 w 1318"/>
                <a:gd name="T5" fmla="*/ 0 h 410"/>
                <a:gd name="T6" fmla="*/ 0 60000 65536"/>
                <a:gd name="T7" fmla="*/ 0 60000 65536"/>
                <a:gd name="T8" fmla="*/ 0 60000 65536"/>
                <a:gd name="T9" fmla="*/ 0 w 1318"/>
                <a:gd name="T10" fmla="*/ 0 h 410"/>
                <a:gd name="T11" fmla="*/ 1318 w 1318"/>
                <a:gd name="T12" fmla="*/ 410 h 41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18" h="410">
                  <a:moveTo>
                    <a:pt x="1317" y="408"/>
                  </a:moveTo>
                  <a:lnTo>
                    <a:pt x="0" y="409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triangl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80" name="Line 96"/>
            <p:cNvSpPr>
              <a:spLocks noChangeShapeType="1"/>
            </p:cNvSpPr>
            <p:nvPr/>
          </p:nvSpPr>
          <p:spPr bwMode="auto">
            <a:xfrm>
              <a:off x="3677" y="3558"/>
              <a:ext cx="1024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81" name="Line 97"/>
            <p:cNvSpPr>
              <a:spLocks noChangeShapeType="1"/>
            </p:cNvSpPr>
            <p:nvPr/>
          </p:nvSpPr>
          <p:spPr bwMode="auto">
            <a:xfrm flipH="1">
              <a:off x="3679" y="2747"/>
              <a:ext cx="253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82" name="Line 98"/>
            <p:cNvSpPr>
              <a:spLocks noChangeShapeType="1"/>
            </p:cNvSpPr>
            <p:nvPr/>
          </p:nvSpPr>
          <p:spPr bwMode="auto">
            <a:xfrm flipH="1">
              <a:off x="4551" y="2742"/>
              <a:ext cx="155" cy="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83" name="Line 99"/>
            <p:cNvSpPr>
              <a:spLocks noChangeShapeType="1"/>
            </p:cNvSpPr>
            <p:nvPr/>
          </p:nvSpPr>
          <p:spPr bwMode="auto">
            <a:xfrm flipH="1" flipV="1">
              <a:off x="4242" y="2482"/>
              <a:ext cx="1" cy="66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grpSp>
          <p:nvGrpSpPr>
            <p:cNvPr id="54384" name="Group 312"/>
            <p:cNvGrpSpPr>
              <a:grpSpLocks/>
            </p:cNvGrpSpPr>
            <p:nvPr/>
          </p:nvGrpSpPr>
          <p:grpSpPr bwMode="auto">
            <a:xfrm>
              <a:off x="3936" y="2378"/>
              <a:ext cx="609" cy="939"/>
              <a:chOff x="3936" y="2378"/>
              <a:chExt cx="609" cy="939"/>
            </a:xfrm>
          </p:grpSpPr>
          <p:sp>
            <p:nvSpPr>
              <p:cNvPr id="54457" name="Line 101"/>
              <p:cNvSpPr>
                <a:spLocks noChangeShapeType="1"/>
              </p:cNvSpPr>
              <p:nvPr/>
            </p:nvSpPr>
            <p:spPr bwMode="auto">
              <a:xfrm flipH="1">
                <a:off x="4248" y="3108"/>
                <a:ext cx="1" cy="105"/>
              </a:xfrm>
              <a:prstGeom prst="line">
                <a:avLst/>
              </a:prstGeom>
              <a:noFill/>
              <a:ln w="12700">
                <a:solidFill>
                  <a:srgbClr val="EB75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54460" name="Rectangle 104"/>
              <p:cNvSpPr>
                <a:spLocks noChangeArrowheads="1"/>
              </p:cNvSpPr>
              <p:nvPr/>
            </p:nvSpPr>
            <p:spPr bwMode="auto">
              <a:xfrm>
                <a:off x="3936" y="2553"/>
                <a:ext cx="609" cy="552"/>
              </a:xfrm>
              <a:prstGeom prst="rect">
                <a:avLst/>
              </a:prstGeom>
              <a:solidFill>
                <a:srgbClr val="FFFFCC"/>
              </a:solidFill>
              <a:ln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54461" name="Rectangle 105"/>
              <p:cNvSpPr>
                <a:spLocks noChangeArrowheads="1"/>
              </p:cNvSpPr>
              <p:nvPr/>
            </p:nvSpPr>
            <p:spPr bwMode="auto">
              <a:xfrm>
                <a:off x="3963" y="2712"/>
                <a:ext cx="208" cy="7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US" sz="900" dirty="0">
                    <a:solidFill>
                      <a:srgbClr val="000000"/>
                    </a:solidFill>
                    <a:latin typeface="+mj-lt"/>
                  </a:rPr>
                  <a:t>Address</a:t>
                </a:r>
                <a:endParaRPr lang="en-US" sz="800" dirty="0">
                  <a:solidFill>
                    <a:srgbClr val="000000"/>
                  </a:solidFill>
                  <a:latin typeface="+mj-lt"/>
                </a:endParaRPr>
              </a:p>
            </p:txBody>
          </p:sp>
          <p:sp>
            <p:nvSpPr>
              <p:cNvPr id="54462" name="Rectangle 106"/>
              <p:cNvSpPr>
                <a:spLocks noChangeArrowheads="1"/>
              </p:cNvSpPr>
              <p:nvPr/>
            </p:nvSpPr>
            <p:spPr bwMode="auto">
              <a:xfrm>
                <a:off x="3965" y="2933"/>
                <a:ext cx="147" cy="14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US" sz="900" dirty="0">
                    <a:solidFill>
                      <a:srgbClr val="000000"/>
                    </a:solidFill>
                    <a:latin typeface="+mj-lt"/>
                  </a:rPr>
                  <a:t>Write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sz="900" dirty="0">
                    <a:solidFill>
                      <a:srgbClr val="000000"/>
                    </a:solidFill>
                    <a:latin typeface="+mj-lt"/>
                  </a:rPr>
                  <a:t>Data</a:t>
                </a:r>
                <a:endParaRPr lang="en-US" sz="800" dirty="0">
                  <a:solidFill>
                    <a:srgbClr val="000000"/>
                  </a:solidFill>
                  <a:latin typeface="+mj-lt"/>
                </a:endParaRPr>
              </a:p>
            </p:txBody>
          </p:sp>
          <p:sp>
            <p:nvSpPr>
              <p:cNvPr id="54463" name="Rectangle 107"/>
              <p:cNvSpPr>
                <a:spLocks noChangeArrowheads="1"/>
              </p:cNvSpPr>
              <p:nvPr/>
            </p:nvSpPr>
            <p:spPr bwMode="auto">
              <a:xfrm>
                <a:off x="4368" y="2665"/>
                <a:ext cx="130" cy="14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US" sz="900" dirty="0">
                    <a:solidFill>
                      <a:srgbClr val="000000"/>
                    </a:solidFill>
                    <a:latin typeface="+mj-lt"/>
                  </a:rPr>
                  <a:t>Read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sz="900" dirty="0">
                    <a:solidFill>
                      <a:srgbClr val="000000"/>
                    </a:solidFill>
                    <a:latin typeface="+mj-lt"/>
                  </a:rPr>
                  <a:t>Data</a:t>
                </a:r>
                <a:endParaRPr lang="en-US" sz="500" dirty="0">
                  <a:solidFill>
                    <a:srgbClr val="000000"/>
                  </a:solidFill>
                  <a:latin typeface="+mj-lt"/>
                </a:endParaRPr>
              </a:p>
            </p:txBody>
          </p:sp>
          <p:sp>
            <p:nvSpPr>
              <p:cNvPr id="54464" name="Rectangle 108"/>
              <p:cNvSpPr>
                <a:spLocks noChangeArrowheads="1"/>
              </p:cNvSpPr>
              <p:nvPr/>
            </p:nvSpPr>
            <p:spPr bwMode="auto">
              <a:xfrm>
                <a:off x="4193" y="2868"/>
                <a:ext cx="297" cy="19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sz="1200">
                    <a:solidFill>
                      <a:srgbClr val="000000"/>
                    </a:solidFill>
                    <a:latin typeface="+mj-lt"/>
                  </a:rPr>
                  <a:t>Data</a:t>
                </a:r>
              </a:p>
              <a:p>
                <a:pPr algn="ctr">
                  <a:lnSpc>
                    <a:spcPct val="90000"/>
                  </a:lnSpc>
                </a:pPr>
                <a:r>
                  <a:rPr lang="en-US" sz="1200">
                    <a:solidFill>
                      <a:srgbClr val="000000"/>
                    </a:solidFill>
                    <a:latin typeface="+mj-lt"/>
                  </a:rPr>
                  <a:t>Memory</a:t>
                </a:r>
                <a:endParaRPr lang="en-US" sz="800">
                  <a:solidFill>
                    <a:srgbClr val="000000"/>
                  </a:solidFill>
                  <a:latin typeface="+mj-lt"/>
                </a:endParaRPr>
              </a:p>
            </p:txBody>
          </p:sp>
          <p:sp>
            <p:nvSpPr>
              <p:cNvPr id="54458" name="Rectangle 102"/>
              <p:cNvSpPr>
                <a:spLocks noChangeArrowheads="1"/>
              </p:cNvSpPr>
              <p:nvPr/>
            </p:nvSpPr>
            <p:spPr bwMode="auto">
              <a:xfrm>
                <a:off x="4073" y="3223"/>
                <a:ext cx="311" cy="9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050" dirty="0" err="1">
                    <a:solidFill>
                      <a:srgbClr val="EB7500"/>
                    </a:solidFill>
                    <a:latin typeface="+mj-lt"/>
                  </a:rPr>
                  <a:t>MemRead</a:t>
                </a:r>
                <a:endParaRPr lang="en-US" sz="1050" dirty="0">
                  <a:solidFill>
                    <a:srgbClr val="EB7500"/>
                  </a:solidFill>
                  <a:latin typeface="+mj-lt"/>
                </a:endParaRPr>
              </a:p>
            </p:txBody>
          </p:sp>
          <p:sp>
            <p:nvSpPr>
              <p:cNvPr id="54459" name="Rectangle 103"/>
              <p:cNvSpPr>
                <a:spLocks noChangeArrowheads="1"/>
              </p:cNvSpPr>
              <p:nvPr/>
            </p:nvSpPr>
            <p:spPr bwMode="auto">
              <a:xfrm>
                <a:off x="4063" y="2378"/>
                <a:ext cx="332" cy="9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050" dirty="0" err="1">
                    <a:solidFill>
                      <a:srgbClr val="EB7500"/>
                    </a:solidFill>
                    <a:latin typeface="+mj-lt"/>
                  </a:rPr>
                  <a:t>MemWrite</a:t>
                </a:r>
                <a:endParaRPr lang="en-US" sz="1050" dirty="0">
                  <a:solidFill>
                    <a:srgbClr val="EB7500"/>
                  </a:solidFill>
                  <a:latin typeface="+mj-lt"/>
                </a:endParaRPr>
              </a:p>
            </p:txBody>
          </p:sp>
        </p:grpSp>
        <p:sp>
          <p:nvSpPr>
            <p:cNvPr id="54385" name="Freeform 109"/>
            <p:cNvSpPr>
              <a:spLocks/>
            </p:cNvSpPr>
            <p:nvPr/>
          </p:nvSpPr>
          <p:spPr bwMode="auto">
            <a:xfrm>
              <a:off x="3755" y="2266"/>
              <a:ext cx="72" cy="58"/>
            </a:xfrm>
            <a:custGeom>
              <a:avLst/>
              <a:gdLst>
                <a:gd name="T0" fmla="*/ 0 w 72"/>
                <a:gd name="T1" fmla="*/ 0 h 72"/>
                <a:gd name="T2" fmla="*/ 2 w 72"/>
                <a:gd name="T3" fmla="*/ 71 h 72"/>
                <a:gd name="T4" fmla="*/ 71 w 72"/>
                <a:gd name="T5" fmla="*/ 71 h 72"/>
                <a:gd name="T6" fmla="*/ 0 60000 65536"/>
                <a:gd name="T7" fmla="*/ 0 60000 65536"/>
                <a:gd name="T8" fmla="*/ 0 60000 65536"/>
                <a:gd name="T9" fmla="*/ 0 w 72"/>
                <a:gd name="T10" fmla="*/ 0 h 72"/>
                <a:gd name="T11" fmla="*/ 72 w 72"/>
                <a:gd name="T12" fmla="*/ 72 h 7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2" h="72">
                  <a:moveTo>
                    <a:pt x="0" y="0"/>
                  </a:moveTo>
                  <a:lnTo>
                    <a:pt x="2" y="71"/>
                  </a:lnTo>
                  <a:lnTo>
                    <a:pt x="71" y="71"/>
                  </a:lnTo>
                </a:path>
              </a:pathLst>
            </a:custGeom>
            <a:noFill/>
            <a:ln w="12700" cap="rnd" cmpd="sng">
              <a:solidFill>
                <a:srgbClr val="EB75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86" name="Freeform 110"/>
            <p:cNvSpPr>
              <a:spLocks/>
            </p:cNvSpPr>
            <p:nvPr/>
          </p:nvSpPr>
          <p:spPr bwMode="auto">
            <a:xfrm>
              <a:off x="3686" y="2400"/>
              <a:ext cx="141" cy="229"/>
            </a:xfrm>
            <a:custGeom>
              <a:avLst/>
              <a:gdLst>
                <a:gd name="T0" fmla="*/ 0 w 141"/>
                <a:gd name="T1" fmla="*/ 228 h 229"/>
                <a:gd name="T2" fmla="*/ 71 w 141"/>
                <a:gd name="T3" fmla="*/ 228 h 229"/>
                <a:gd name="T4" fmla="*/ 71 w 141"/>
                <a:gd name="T5" fmla="*/ 0 h 229"/>
                <a:gd name="T6" fmla="*/ 140 w 141"/>
                <a:gd name="T7" fmla="*/ 0 h 22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1"/>
                <a:gd name="T13" fmla="*/ 0 h 229"/>
                <a:gd name="T14" fmla="*/ 141 w 141"/>
                <a:gd name="T15" fmla="*/ 229 h 22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1" h="229">
                  <a:moveTo>
                    <a:pt x="0" y="228"/>
                  </a:moveTo>
                  <a:lnTo>
                    <a:pt x="71" y="228"/>
                  </a:lnTo>
                  <a:lnTo>
                    <a:pt x="71" y="0"/>
                  </a:lnTo>
                  <a:lnTo>
                    <a:pt x="140" y="0"/>
                  </a:lnTo>
                </a:path>
              </a:pathLst>
            </a:custGeom>
            <a:noFill/>
            <a:ln w="12700" cap="rnd" cmpd="sng">
              <a:solidFill>
                <a:srgbClr val="EB75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87" name="Freeform 111"/>
            <p:cNvSpPr>
              <a:spLocks/>
            </p:cNvSpPr>
            <p:nvPr/>
          </p:nvSpPr>
          <p:spPr bwMode="auto">
            <a:xfrm>
              <a:off x="3826" y="2302"/>
              <a:ext cx="145" cy="122"/>
            </a:xfrm>
            <a:custGeom>
              <a:avLst/>
              <a:gdLst>
                <a:gd name="T0" fmla="*/ 85 w 145"/>
                <a:gd name="T1" fmla="*/ 119 h 122"/>
                <a:gd name="T2" fmla="*/ 96 w 145"/>
                <a:gd name="T3" fmla="*/ 119 h 122"/>
                <a:gd name="T4" fmla="*/ 104 w 145"/>
                <a:gd name="T5" fmla="*/ 117 h 122"/>
                <a:gd name="T6" fmla="*/ 113 w 145"/>
                <a:gd name="T7" fmla="*/ 113 h 122"/>
                <a:gd name="T8" fmla="*/ 121 w 145"/>
                <a:gd name="T9" fmla="*/ 107 h 122"/>
                <a:gd name="T10" fmla="*/ 127 w 145"/>
                <a:gd name="T11" fmla="*/ 102 h 122"/>
                <a:gd name="T12" fmla="*/ 132 w 145"/>
                <a:gd name="T13" fmla="*/ 96 h 122"/>
                <a:gd name="T14" fmla="*/ 138 w 145"/>
                <a:gd name="T15" fmla="*/ 88 h 122"/>
                <a:gd name="T16" fmla="*/ 142 w 145"/>
                <a:gd name="T17" fmla="*/ 79 h 122"/>
                <a:gd name="T18" fmla="*/ 144 w 145"/>
                <a:gd name="T19" fmla="*/ 69 h 122"/>
                <a:gd name="T20" fmla="*/ 144 w 145"/>
                <a:gd name="T21" fmla="*/ 60 h 122"/>
                <a:gd name="T22" fmla="*/ 144 w 145"/>
                <a:gd name="T23" fmla="*/ 50 h 122"/>
                <a:gd name="T24" fmla="*/ 142 w 145"/>
                <a:gd name="T25" fmla="*/ 40 h 122"/>
                <a:gd name="T26" fmla="*/ 138 w 145"/>
                <a:gd name="T27" fmla="*/ 33 h 122"/>
                <a:gd name="T28" fmla="*/ 132 w 145"/>
                <a:gd name="T29" fmla="*/ 25 h 122"/>
                <a:gd name="T30" fmla="*/ 127 w 145"/>
                <a:gd name="T31" fmla="*/ 17 h 122"/>
                <a:gd name="T32" fmla="*/ 121 w 145"/>
                <a:gd name="T33" fmla="*/ 12 h 122"/>
                <a:gd name="T34" fmla="*/ 113 w 145"/>
                <a:gd name="T35" fmla="*/ 6 h 122"/>
                <a:gd name="T36" fmla="*/ 104 w 145"/>
                <a:gd name="T37" fmla="*/ 2 h 122"/>
                <a:gd name="T38" fmla="*/ 96 w 145"/>
                <a:gd name="T39" fmla="*/ 0 h 122"/>
                <a:gd name="T40" fmla="*/ 86 w 145"/>
                <a:gd name="T41" fmla="*/ 0 h 122"/>
                <a:gd name="T42" fmla="*/ 0 w 145"/>
                <a:gd name="T43" fmla="*/ 0 h 122"/>
                <a:gd name="T44" fmla="*/ 0 w 145"/>
                <a:gd name="T45" fmla="*/ 121 h 122"/>
                <a:gd name="T46" fmla="*/ 86 w 145"/>
                <a:gd name="T47" fmla="*/ 121 h 122"/>
                <a:gd name="T48" fmla="*/ 86 w 145"/>
                <a:gd name="T49" fmla="*/ 121 h 122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145"/>
                <a:gd name="T76" fmla="*/ 0 h 122"/>
                <a:gd name="T77" fmla="*/ 145 w 145"/>
                <a:gd name="T78" fmla="*/ 122 h 122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145" h="122">
                  <a:moveTo>
                    <a:pt x="85" y="119"/>
                  </a:moveTo>
                  <a:lnTo>
                    <a:pt x="96" y="119"/>
                  </a:lnTo>
                  <a:lnTo>
                    <a:pt x="104" y="117"/>
                  </a:lnTo>
                  <a:lnTo>
                    <a:pt x="113" y="113"/>
                  </a:lnTo>
                  <a:lnTo>
                    <a:pt x="121" y="107"/>
                  </a:lnTo>
                  <a:lnTo>
                    <a:pt x="127" y="102"/>
                  </a:lnTo>
                  <a:lnTo>
                    <a:pt x="132" y="96"/>
                  </a:lnTo>
                  <a:lnTo>
                    <a:pt x="138" y="88"/>
                  </a:lnTo>
                  <a:lnTo>
                    <a:pt x="142" y="79"/>
                  </a:lnTo>
                  <a:lnTo>
                    <a:pt x="144" y="69"/>
                  </a:lnTo>
                  <a:lnTo>
                    <a:pt x="144" y="60"/>
                  </a:lnTo>
                  <a:lnTo>
                    <a:pt x="144" y="50"/>
                  </a:lnTo>
                  <a:lnTo>
                    <a:pt x="142" y="40"/>
                  </a:lnTo>
                  <a:lnTo>
                    <a:pt x="138" y="33"/>
                  </a:lnTo>
                  <a:lnTo>
                    <a:pt x="132" y="25"/>
                  </a:lnTo>
                  <a:lnTo>
                    <a:pt x="127" y="17"/>
                  </a:lnTo>
                  <a:lnTo>
                    <a:pt x="121" y="12"/>
                  </a:lnTo>
                  <a:lnTo>
                    <a:pt x="113" y="6"/>
                  </a:lnTo>
                  <a:lnTo>
                    <a:pt x="104" y="2"/>
                  </a:lnTo>
                  <a:lnTo>
                    <a:pt x="96" y="0"/>
                  </a:lnTo>
                  <a:lnTo>
                    <a:pt x="86" y="0"/>
                  </a:lnTo>
                  <a:lnTo>
                    <a:pt x="0" y="0"/>
                  </a:lnTo>
                  <a:lnTo>
                    <a:pt x="0" y="121"/>
                  </a:lnTo>
                  <a:lnTo>
                    <a:pt x="86" y="121"/>
                  </a:lnTo>
                </a:path>
              </a:pathLst>
            </a:custGeom>
            <a:solidFill>
              <a:srgbClr val="FFE6CD"/>
            </a:solidFill>
            <a:ln w="19050" cap="rnd" cmpd="sng">
              <a:solidFill>
                <a:srgbClr val="EB75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90" name="Line 114"/>
            <p:cNvSpPr>
              <a:spLocks noChangeShapeType="1"/>
            </p:cNvSpPr>
            <p:nvPr/>
          </p:nvSpPr>
          <p:spPr bwMode="auto">
            <a:xfrm>
              <a:off x="1543" y="3804"/>
              <a:ext cx="335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91" name="Line 115"/>
            <p:cNvSpPr>
              <a:spLocks noChangeShapeType="1"/>
            </p:cNvSpPr>
            <p:nvPr/>
          </p:nvSpPr>
          <p:spPr bwMode="auto">
            <a:xfrm flipV="1">
              <a:off x="1545" y="2751"/>
              <a:ext cx="0" cy="10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92" name="Line 116"/>
            <p:cNvSpPr>
              <a:spLocks noChangeShapeType="1"/>
            </p:cNvSpPr>
            <p:nvPr/>
          </p:nvSpPr>
          <p:spPr bwMode="auto">
            <a:xfrm>
              <a:off x="1541" y="2748"/>
              <a:ext cx="26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93" name="Line 117"/>
            <p:cNvSpPr>
              <a:spLocks noChangeShapeType="1"/>
            </p:cNvSpPr>
            <p:nvPr/>
          </p:nvSpPr>
          <p:spPr bwMode="auto">
            <a:xfrm>
              <a:off x="1725" y="2895"/>
              <a:ext cx="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94" name="Line 118"/>
            <p:cNvSpPr>
              <a:spLocks noChangeShapeType="1"/>
            </p:cNvSpPr>
            <p:nvPr/>
          </p:nvSpPr>
          <p:spPr bwMode="auto">
            <a:xfrm flipV="1">
              <a:off x="1728" y="2895"/>
              <a:ext cx="0" cy="99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95" name="Line 119"/>
            <p:cNvSpPr>
              <a:spLocks noChangeShapeType="1"/>
            </p:cNvSpPr>
            <p:nvPr/>
          </p:nvSpPr>
          <p:spPr bwMode="auto">
            <a:xfrm>
              <a:off x="1728" y="3882"/>
              <a:ext cx="3336" cy="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96" name="Line 120"/>
            <p:cNvSpPr>
              <a:spLocks noChangeShapeType="1"/>
            </p:cNvSpPr>
            <p:nvPr/>
          </p:nvSpPr>
          <p:spPr bwMode="auto">
            <a:xfrm flipV="1">
              <a:off x="4963" y="2651"/>
              <a:ext cx="0" cy="51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97" name="Line 121"/>
            <p:cNvSpPr>
              <a:spLocks noChangeShapeType="1"/>
            </p:cNvSpPr>
            <p:nvPr/>
          </p:nvSpPr>
          <p:spPr bwMode="auto">
            <a:xfrm flipH="1">
              <a:off x="4800" y="2744"/>
              <a:ext cx="115" cy="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98" name="Freeform 122"/>
            <p:cNvSpPr>
              <a:spLocks/>
            </p:cNvSpPr>
            <p:nvPr/>
          </p:nvSpPr>
          <p:spPr bwMode="auto">
            <a:xfrm>
              <a:off x="4800" y="2953"/>
              <a:ext cx="119" cy="405"/>
            </a:xfrm>
            <a:custGeom>
              <a:avLst/>
              <a:gdLst>
                <a:gd name="T0" fmla="*/ 118 w 104"/>
                <a:gd name="T1" fmla="*/ 0 h 204"/>
                <a:gd name="T2" fmla="*/ 60 w 104"/>
                <a:gd name="T3" fmla="*/ 0 h 204"/>
                <a:gd name="T4" fmla="*/ 60 w 104"/>
                <a:gd name="T5" fmla="*/ 403 h 204"/>
                <a:gd name="T6" fmla="*/ 0 w 104"/>
                <a:gd name="T7" fmla="*/ 403 h 20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4"/>
                <a:gd name="T13" fmla="*/ 0 h 204"/>
                <a:gd name="T14" fmla="*/ 104 w 104"/>
                <a:gd name="T15" fmla="*/ 204 h 20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4" h="204">
                  <a:moveTo>
                    <a:pt x="103" y="0"/>
                  </a:moveTo>
                  <a:lnTo>
                    <a:pt x="52" y="0"/>
                  </a:lnTo>
                  <a:lnTo>
                    <a:pt x="52" y="203"/>
                  </a:lnTo>
                  <a:lnTo>
                    <a:pt x="0" y="203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triangl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00" name="Line 124"/>
            <p:cNvSpPr>
              <a:spLocks noChangeShapeType="1"/>
            </p:cNvSpPr>
            <p:nvPr/>
          </p:nvSpPr>
          <p:spPr bwMode="auto">
            <a:xfrm>
              <a:off x="4803" y="3558"/>
              <a:ext cx="9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01" name="Line 125"/>
            <p:cNvSpPr>
              <a:spLocks noChangeShapeType="1"/>
            </p:cNvSpPr>
            <p:nvPr/>
          </p:nvSpPr>
          <p:spPr bwMode="auto">
            <a:xfrm rot="5400000">
              <a:off x="4770" y="3681"/>
              <a:ext cx="25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02" name="Line 126"/>
            <p:cNvSpPr>
              <a:spLocks noChangeShapeType="1"/>
            </p:cNvSpPr>
            <p:nvPr/>
          </p:nvSpPr>
          <p:spPr bwMode="auto">
            <a:xfrm flipV="1">
              <a:off x="5067" y="2847"/>
              <a:ext cx="0" cy="10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03" name="Line 127"/>
            <p:cNvSpPr>
              <a:spLocks noChangeShapeType="1"/>
            </p:cNvSpPr>
            <p:nvPr/>
          </p:nvSpPr>
          <p:spPr bwMode="auto">
            <a:xfrm flipV="1">
              <a:off x="5025" y="2847"/>
              <a:ext cx="42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04" name="Freeform 128"/>
            <p:cNvSpPr>
              <a:spLocks/>
            </p:cNvSpPr>
            <p:nvPr/>
          </p:nvSpPr>
          <p:spPr bwMode="auto">
            <a:xfrm>
              <a:off x="636" y="1885"/>
              <a:ext cx="276" cy="631"/>
            </a:xfrm>
            <a:custGeom>
              <a:avLst/>
              <a:gdLst>
                <a:gd name="T0" fmla="*/ 275 w 194"/>
                <a:gd name="T1" fmla="*/ 0 h 631"/>
                <a:gd name="T2" fmla="*/ 0 w 194"/>
                <a:gd name="T3" fmla="*/ 2 h 631"/>
                <a:gd name="T4" fmla="*/ 0 w 194"/>
                <a:gd name="T5" fmla="*/ 630 h 631"/>
                <a:gd name="T6" fmla="*/ 0 60000 65536"/>
                <a:gd name="T7" fmla="*/ 0 60000 65536"/>
                <a:gd name="T8" fmla="*/ 0 60000 65536"/>
                <a:gd name="T9" fmla="*/ 0 w 194"/>
                <a:gd name="T10" fmla="*/ 0 h 631"/>
                <a:gd name="T11" fmla="*/ 194 w 194"/>
                <a:gd name="T12" fmla="*/ 631 h 63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4" h="631">
                  <a:moveTo>
                    <a:pt x="193" y="0"/>
                  </a:moveTo>
                  <a:lnTo>
                    <a:pt x="0" y="2"/>
                  </a:lnTo>
                  <a:lnTo>
                    <a:pt x="0" y="63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triangl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05" name="Freeform 129"/>
            <p:cNvSpPr>
              <a:spLocks/>
            </p:cNvSpPr>
            <p:nvPr/>
          </p:nvSpPr>
          <p:spPr bwMode="auto">
            <a:xfrm>
              <a:off x="624" y="2503"/>
              <a:ext cx="24" cy="24"/>
            </a:xfrm>
            <a:custGeom>
              <a:avLst/>
              <a:gdLst>
                <a:gd name="T0" fmla="*/ 12 w 24"/>
                <a:gd name="T1" fmla="*/ 21 h 24"/>
                <a:gd name="T2" fmla="*/ 14 w 24"/>
                <a:gd name="T3" fmla="*/ 21 h 24"/>
                <a:gd name="T4" fmla="*/ 16 w 24"/>
                <a:gd name="T5" fmla="*/ 21 h 24"/>
                <a:gd name="T6" fmla="*/ 17 w 24"/>
                <a:gd name="T7" fmla="*/ 21 h 24"/>
                <a:gd name="T8" fmla="*/ 19 w 24"/>
                <a:gd name="T9" fmla="*/ 19 h 24"/>
                <a:gd name="T10" fmla="*/ 19 w 24"/>
                <a:gd name="T11" fmla="*/ 19 h 24"/>
                <a:gd name="T12" fmla="*/ 21 w 24"/>
                <a:gd name="T13" fmla="*/ 18 h 24"/>
                <a:gd name="T14" fmla="*/ 23 w 24"/>
                <a:gd name="T15" fmla="*/ 16 h 24"/>
                <a:gd name="T16" fmla="*/ 23 w 24"/>
                <a:gd name="T17" fmla="*/ 14 h 24"/>
                <a:gd name="T18" fmla="*/ 23 w 24"/>
                <a:gd name="T19" fmla="*/ 14 h 24"/>
                <a:gd name="T20" fmla="*/ 23 w 24"/>
                <a:gd name="T21" fmla="*/ 12 h 24"/>
                <a:gd name="T22" fmla="*/ 23 w 24"/>
                <a:gd name="T23" fmla="*/ 10 h 24"/>
                <a:gd name="T24" fmla="*/ 23 w 24"/>
                <a:gd name="T25" fmla="*/ 8 h 24"/>
                <a:gd name="T26" fmla="*/ 23 w 24"/>
                <a:gd name="T27" fmla="*/ 6 h 24"/>
                <a:gd name="T28" fmla="*/ 21 w 24"/>
                <a:gd name="T29" fmla="*/ 4 h 24"/>
                <a:gd name="T30" fmla="*/ 19 w 24"/>
                <a:gd name="T31" fmla="*/ 2 h 24"/>
                <a:gd name="T32" fmla="*/ 19 w 24"/>
                <a:gd name="T33" fmla="*/ 2 h 24"/>
                <a:gd name="T34" fmla="*/ 17 w 24"/>
                <a:gd name="T35" fmla="*/ 0 h 24"/>
                <a:gd name="T36" fmla="*/ 16 w 24"/>
                <a:gd name="T37" fmla="*/ 0 h 24"/>
                <a:gd name="T38" fmla="*/ 14 w 24"/>
                <a:gd name="T39" fmla="*/ 0 h 24"/>
                <a:gd name="T40" fmla="*/ 12 w 24"/>
                <a:gd name="T41" fmla="*/ 0 h 24"/>
                <a:gd name="T42" fmla="*/ 10 w 24"/>
                <a:gd name="T43" fmla="*/ 0 h 24"/>
                <a:gd name="T44" fmla="*/ 8 w 24"/>
                <a:gd name="T45" fmla="*/ 0 h 24"/>
                <a:gd name="T46" fmla="*/ 6 w 24"/>
                <a:gd name="T47" fmla="*/ 0 h 24"/>
                <a:gd name="T48" fmla="*/ 6 w 24"/>
                <a:gd name="T49" fmla="*/ 2 h 24"/>
                <a:gd name="T50" fmla="*/ 4 w 24"/>
                <a:gd name="T51" fmla="*/ 2 h 24"/>
                <a:gd name="T52" fmla="*/ 2 w 24"/>
                <a:gd name="T53" fmla="*/ 4 h 24"/>
                <a:gd name="T54" fmla="*/ 2 w 24"/>
                <a:gd name="T55" fmla="*/ 6 h 24"/>
                <a:gd name="T56" fmla="*/ 0 w 24"/>
                <a:gd name="T57" fmla="*/ 8 h 24"/>
                <a:gd name="T58" fmla="*/ 0 w 24"/>
                <a:gd name="T59" fmla="*/ 10 h 24"/>
                <a:gd name="T60" fmla="*/ 0 w 24"/>
                <a:gd name="T61" fmla="*/ 12 h 24"/>
                <a:gd name="T62" fmla="*/ 0 w 24"/>
                <a:gd name="T63" fmla="*/ 14 h 24"/>
                <a:gd name="T64" fmla="*/ 0 w 24"/>
                <a:gd name="T65" fmla="*/ 14 h 24"/>
                <a:gd name="T66" fmla="*/ 2 w 24"/>
                <a:gd name="T67" fmla="*/ 16 h 24"/>
                <a:gd name="T68" fmla="*/ 2 w 24"/>
                <a:gd name="T69" fmla="*/ 18 h 24"/>
                <a:gd name="T70" fmla="*/ 4 w 24"/>
                <a:gd name="T71" fmla="*/ 19 h 24"/>
                <a:gd name="T72" fmla="*/ 6 w 24"/>
                <a:gd name="T73" fmla="*/ 19 h 24"/>
                <a:gd name="T74" fmla="*/ 6 w 24"/>
                <a:gd name="T75" fmla="*/ 21 h 24"/>
                <a:gd name="T76" fmla="*/ 8 w 24"/>
                <a:gd name="T77" fmla="*/ 21 h 24"/>
                <a:gd name="T78" fmla="*/ 10 w 24"/>
                <a:gd name="T79" fmla="*/ 21 h 24"/>
                <a:gd name="T80" fmla="*/ 12 w 24"/>
                <a:gd name="T81" fmla="*/ 23 h 24"/>
                <a:gd name="T82" fmla="*/ 12 w 24"/>
                <a:gd name="T83" fmla="*/ 23 h 24"/>
                <a:gd name="T84" fmla="*/ 12 w 24"/>
                <a:gd name="T85" fmla="*/ 21 h 2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4"/>
                <a:gd name="T130" fmla="*/ 0 h 24"/>
                <a:gd name="T131" fmla="*/ 24 w 24"/>
                <a:gd name="T132" fmla="*/ 24 h 24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4" h="24">
                  <a:moveTo>
                    <a:pt x="12" y="21"/>
                  </a:moveTo>
                  <a:lnTo>
                    <a:pt x="14" y="21"/>
                  </a:lnTo>
                  <a:lnTo>
                    <a:pt x="16" y="21"/>
                  </a:lnTo>
                  <a:lnTo>
                    <a:pt x="17" y="21"/>
                  </a:lnTo>
                  <a:lnTo>
                    <a:pt x="19" y="19"/>
                  </a:lnTo>
                  <a:lnTo>
                    <a:pt x="21" y="18"/>
                  </a:lnTo>
                  <a:lnTo>
                    <a:pt x="23" y="16"/>
                  </a:lnTo>
                  <a:lnTo>
                    <a:pt x="23" y="14"/>
                  </a:lnTo>
                  <a:lnTo>
                    <a:pt x="23" y="12"/>
                  </a:lnTo>
                  <a:lnTo>
                    <a:pt x="23" y="10"/>
                  </a:lnTo>
                  <a:lnTo>
                    <a:pt x="23" y="8"/>
                  </a:lnTo>
                  <a:lnTo>
                    <a:pt x="23" y="6"/>
                  </a:lnTo>
                  <a:lnTo>
                    <a:pt x="21" y="4"/>
                  </a:lnTo>
                  <a:lnTo>
                    <a:pt x="19" y="2"/>
                  </a:lnTo>
                  <a:lnTo>
                    <a:pt x="17" y="0"/>
                  </a:lnTo>
                  <a:lnTo>
                    <a:pt x="16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8" y="0"/>
                  </a:lnTo>
                  <a:lnTo>
                    <a:pt x="6" y="0"/>
                  </a:lnTo>
                  <a:lnTo>
                    <a:pt x="6" y="2"/>
                  </a:lnTo>
                  <a:lnTo>
                    <a:pt x="4" y="2"/>
                  </a:lnTo>
                  <a:lnTo>
                    <a:pt x="2" y="4"/>
                  </a:lnTo>
                  <a:lnTo>
                    <a:pt x="2" y="6"/>
                  </a:lnTo>
                  <a:lnTo>
                    <a:pt x="0" y="8"/>
                  </a:lnTo>
                  <a:lnTo>
                    <a:pt x="0" y="10"/>
                  </a:lnTo>
                  <a:lnTo>
                    <a:pt x="0" y="12"/>
                  </a:lnTo>
                  <a:lnTo>
                    <a:pt x="0" y="14"/>
                  </a:lnTo>
                  <a:lnTo>
                    <a:pt x="2" y="16"/>
                  </a:lnTo>
                  <a:lnTo>
                    <a:pt x="2" y="18"/>
                  </a:lnTo>
                  <a:lnTo>
                    <a:pt x="4" y="19"/>
                  </a:lnTo>
                  <a:lnTo>
                    <a:pt x="6" y="19"/>
                  </a:lnTo>
                  <a:lnTo>
                    <a:pt x="6" y="21"/>
                  </a:lnTo>
                  <a:lnTo>
                    <a:pt x="8" y="21"/>
                  </a:lnTo>
                  <a:lnTo>
                    <a:pt x="10" y="21"/>
                  </a:lnTo>
                  <a:lnTo>
                    <a:pt x="12" y="23"/>
                  </a:lnTo>
                  <a:lnTo>
                    <a:pt x="12" y="21"/>
                  </a:lnTo>
                </a:path>
              </a:pathLst>
            </a:custGeom>
            <a:solidFill>
              <a:srgbClr val="000000"/>
            </a:solidFill>
            <a:ln w="9525" cap="rnd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06" name="Rectangle 130"/>
            <p:cNvSpPr>
              <a:spLocks noChangeArrowheads="1"/>
            </p:cNvSpPr>
            <p:nvPr/>
          </p:nvSpPr>
          <p:spPr bwMode="auto">
            <a:xfrm>
              <a:off x="695" y="2081"/>
              <a:ext cx="146" cy="1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sz="1200">
                  <a:solidFill>
                    <a:srgbClr val="000000"/>
                  </a:solidFill>
                  <a:latin typeface="+mj-lt"/>
                </a:rPr>
                <a:t>4</a:t>
              </a:r>
              <a:endParaRPr lang="en-US" sz="6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407" name="Freeform 131"/>
            <p:cNvSpPr>
              <a:spLocks/>
            </p:cNvSpPr>
            <p:nvPr/>
          </p:nvSpPr>
          <p:spPr bwMode="auto">
            <a:xfrm>
              <a:off x="1359" y="1917"/>
              <a:ext cx="93" cy="1777"/>
            </a:xfrm>
            <a:custGeom>
              <a:avLst/>
              <a:gdLst>
                <a:gd name="T0" fmla="*/ 90 w 93"/>
                <a:gd name="T1" fmla="*/ 1776 h 1777"/>
                <a:gd name="T2" fmla="*/ 92 w 93"/>
                <a:gd name="T3" fmla="*/ 0 h 1777"/>
                <a:gd name="T4" fmla="*/ 0 w 93"/>
                <a:gd name="T5" fmla="*/ 0 h 1777"/>
                <a:gd name="T6" fmla="*/ 0 w 93"/>
                <a:gd name="T7" fmla="*/ 1776 h 1777"/>
                <a:gd name="T8" fmla="*/ 92 w 93"/>
                <a:gd name="T9" fmla="*/ 1776 h 1777"/>
                <a:gd name="T10" fmla="*/ 92 w 93"/>
                <a:gd name="T11" fmla="*/ 1776 h 177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3"/>
                <a:gd name="T19" fmla="*/ 0 h 1777"/>
                <a:gd name="T20" fmla="*/ 93 w 93"/>
                <a:gd name="T21" fmla="*/ 1777 h 177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3" h="1777">
                  <a:moveTo>
                    <a:pt x="90" y="1776"/>
                  </a:moveTo>
                  <a:lnTo>
                    <a:pt x="92" y="0"/>
                  </a:lnTo>
                  <a:lnTo>
                    <a:pt x="0" y="0"/>
                  </a:lnTo>
                  <a:lnTo>
                    <a:pt x="0" y="1776"/>
                  </a:lnTo>
                  <a:lnTo>
                    <a:pt x="92" y="1776"/>
                  </a:lnTo>
                </a:path>
              </a:pathLst>
            </a:custGeom>
            <a:solidFill>
              <a:srgbClr val="CCECFF"/>
            </a:solidFill>
            <a:ln w="190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08" name="Line 132"/>
            <p:cNvSpPr>
              <a:spLocks noChangeShapeType="1"/>
            </p:cNvSpPr>
            <p:nvPr/>
          </p:nvSpPr>
          <p:spPr bwMode="auto">
            <a:xfrm flipH="1" flipV="1">
              <a:off x="1202" y="2021"/>
              <a:ext cx="163" cy="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09" name="Freeform 133"/>
            <p:cNvSpPr>
              <a:spLocks/>
            </p:cNvSpPr>
            <p:nvPr/>
          </p:nvSpPr>
          <p:spPr bwMode="auto">
            <a:xfrm>
              <a:off x="1236" y="2013"/>
              <a:ext cx="24" cy="24"/>
            </a:xfrm>
            <a:custGeom>
              <a:avLst/>
              <a:gdLst>
                <a:gd name="T0" fmla="*/ 9 w 24"/>
                <a:gd name="T1" fmla="*/ 23 h 24"/>
                <a:gd name="T2" fmla="*/ 13 w 24"/>
                <a:gd name="T3" fmla="*/ 23 h 24"/>
                <a:gd name="T4" fmla="*/ 15 w 24"/>
                <a:gd name="T5" fmla="*/ 23 h 24"/>
                <a:gd name="T6" fmla="*/ 15 w 24"/>
                <a:gd name="T7" fmla="*/ 21 h 24"/>
                <a:gd name="T8" fmla="*/ 17 w 24"/>
                <a:gd name="T9" fmla="*/ 21 h 24"/>
                <a:gd name="T10" fmla="*/ 19 w 24"/>
                <a:gd name="T11" fmla="*/ 19 h 24"/>
                <a:gd name="T12" fmla="*/ 19 w 24"/>
                <a:gd name="T13" fmla="*/ 19 h 24"/>
                <a:gd name="T14" fmla="*/ 21 w 24"/>
                <a:gd name="T15" fmla="*/ 17 h 24"/>
                <a:gd name="T16" fmla="*/ 21 w 24"/>
                <a:gd name="T17" fmla="*/ 15 h 24"/>
                <a:gd name="T18" fmla="*/ 23 w 24"/>
                <a:gd name="T19" fmla="*/ 13 h 24"/>
                <a:gd name="T20" fmla="*/ 23 w 24"/>
                <a:gd name="T21" fmla="*/ 11 h 24"/>
                <a:gd name="T22" fmla="*/ 23 w 24"/>
                <a:gd name="T23" fmla="*/ 9 h 24"/>
                <a:gd name="T24" fmla="*/ 21 w 24"/>
                <a:gd name="T25" fmla="*/ 8 h 24"/>
                <a:gd name="T26" fmla="*/ 21 w 24"/>
                <a:gd name="T27" fmla="*/ 6 h 24"/>
                <a:gd name="T28" fmla="*/ 19 w 24"/>
                <a:gd name="T29" fmla="*/ 6 h 24"/>
                <a:gd name="T30" fmla="*/ 19 w 24"/>
                <a:gd name="T31" fmla="*/ 4 h 24"/>
                <a:gd name="T32" fmla="*/ 17 w 24"/>
                <a:gd name="T33" fmla="*/ 2 h 24"/>
                <a:gd name="T34" fmla="*/ 15 w 24"/>
                <a:gd name="T35" fmla="*/ 2 h 24"/>
                <a:gd name="T36" fmla="*/ 15 w 24"/>
                <a:gd name="T37" fmla="*/ 0 h 24"/>
                <a:gd name="T38" fmla="*/ 13 w 24"/>
                <a:gd name="T39" fmla="*/ 0 h 24"/>
                <a:gd name="T40" fmla="*/ 11 w 24"/>
                <a:gd name="T41" fmla="*/ 0 h 24"/>
                <a:gd name="T42" fmla="*/ 9 w 24"/>
                <a:gd name="T43" fmla="*/ 0 h 24"/>
                <a:gd name="T44" fmla="*/ 7 w 24"/>
                <a:gd name="T45" fmla="*/ 0 h 24"/>
                <a:gd name="T46" fmla="*/ 5 w 24"/>
                <a:gd name="T47" fmla="*/ 2 h 24"/>
                <a:gd name="T48" fmla="*/ 4 w 24"/>
                <a:gd name="T49" fmla="*/ 2 h 24"/>
                <a:gd name="T50" fmla="*/ 2 w 24"/>
                <a:gd name="T51" fmla="*/ 4 h 24"/>
                <a:gd name="T52" fmla="*/ 2 w 24"/>
                <a:gd name="T53" fmla="*/ 6 h 24"/>
                <a:gd name="T54" fmla="*/ 0 w 24"/>
                <a:gd name="T55" fmla="*/ 6 h 24"/>
                <a:gd name="T56" fmla="*/ 0 w 24"/>
                <a:gd name="T57" fmla="*/ 8 h 24"/>
                <a:gd name="T58" fmla="*/ 0 w 24"/>
                <a:gd name="T59" fmla="*/ 9 h 24"/>
                <a:gd name="T60" fmla="*/ 0 w 24"/>
                <a:gd name="T61" fmla="*/ 11 h 24"/>
                <a:gd name="T62" fmla="*/ 0 w 24"/>
                <a:gd name="T63" fmla="*/ 13 h 24"/>
                <a:gd name="T64" fmla="*/ 0 w 24"/>
                <a:gd name="T65" fmla="*/ 15 h 24"/>
                <a:gd name="T66" fmla="*/ 0 w 24"/>
                <a:gd name="T67" fmla="*/ 17 h 24"/>
                <a:gd name="T68" fmla="*/ 2 w 24"/>
                <a:gd name="T69" fmla="*/ 19 h 24"/>
                <a:gd name="T70" fmla="*/ 2 w 24"/>
                <a:gd name="T71" fmla="*/ 19 h 24"/>
                <a:gd name="T72" fmla="*/ 4 w 24"/>
                <a:gd name="T73" fmla="*/ 21 h 24"/>
                <a:gd name="T74" fmla="*/ 5 w 24"/>
                <a:gd name="T75" fmla="*/ 21 h 24"/>
                <a:gd name="T76" fmla="*/ 7 w 24"/>
                <a:gd name="T77" fmla="*/ 23 h 24"/>
                <a:gd name="T78" fmla="*/ 9 w 24"/>
                <a:gd name="T79" fmla="*/ 23 h 24"/>
                <a:gd name="T80" fmla="*/ 11 w 24"/>
                <a:gd name="T81" fmla="*/ 23 h 24"/>
                <a:gd name="T82" fmla="*/ 11 w 24"/>
                <a:gd name="T83" fmla="*/ 23 h 24"/>
                <a:gd name="T84" fmla="*/ 9 w 24"/>
                <a:gd name="T85" fmla="*/ 23 h 2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4"/>
                <a:gd name="T130" fmla="*/ 0 h 24"/>
                <a:gd name="T131" fmla="*/ 24 w 24"/>
                <a:gd name="T132" fmla="*/ 24 h 24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4" h="24">
                  <a:moveTo>
                    <a:pt x="9" y="23"/>
                  </a:moveTo>
                  <a:lnTo>
                    <a:pt x="13" y="23"/>
                  </a:lnTo>
                  <a:lnTo>
                    <a:pt x="15" y="23"/>
                  </a:lnTo>
                  <a:lnTo>
                    <a:pt x="15" y="21"/>
                  </a:lnTo>
                  <a:lnTo>
                    <a:pt x="17" y="21"/>
                  </a:lnTo>
                  <a:lnTo>
                    <a:pt x="19" y="19"/>
                  </a:lnTo>
                  <a:lnTo>
                    <a:pt x="21" y="17"/>
                  </a:lnTo>
                  <a:lnTo>
                    <a:pt x="21" y="15"/>
                  </a:lnTo>
                  <a:lnTo>
                    <a:pt x="23" y="13"/>
                  </a:lnTo>
                  <a:lnTo>
                    <a:pt x="23" y="11"/>
                  </a:lnTo>
                  <a:lnTo>
                    <a:pt x="23" y="9"/>
                  </a:lnTo>
                  <a:lnTo>
                    <a:pt x="21" y="8"/>
                  </a:lnTo>
                  <a:lnTo>
                    <a:pt x="21" y="6"/>
                  </a:lnTo>
                  <a:lnTo>
                    <a:pt x="19" y="6"/>
                  </a:lnTo>
                  <a:lnTo>
                    <a:pt x="19" y="4"/>
                  </a:lnTo>
                  <a:lnTo>
                    <a:pt x="17" y="2"/>
                  </a:lnTo>
                  <a:lnTo>
                    <a:pt x="15" y="2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1" y="0"/>
                  </a:lnTo>
                  <a:lnTo>
                    <a:pt x="9" y="0"/>
                  </a:lnTo>
                  <a:lnTo>
                    <a:pt x="7" y="0"/>
                  </a:lnTo>
                  <a:lnTo>
                    <a:pt x="5" y="2"/>
                  </a:lnTo>
                  <a:lnTo>
                    <a:pt x="4" y="2"/>
                  </a:lnTo>
                  <a:lnTo>
                    <a:pt x="2" y="4"/>
                  </a:lnTo>
                  <a:lnTo>
                    <a:pt x="2" y="6"/>
                  </a:lnTo>
                  <a:lnTo>
                    <a:pt x="0" y="6"/>
                  </a:lnTo>
                  <a:lnTo>
                    <a:pt x="0" y="8"/>
                  </a:lnTo>
                  <a:lnTo>
                    <a:pt x="0" y="9"/>
                  </a:lnTo>
                  <a:lnTo>
                    <a:pt x="0" y="11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0" y="17"/>
                  </a:lnTo>
                  <a:lnTo>
                    <a:pt x="2" y="19"/>
                  </a:lnTo>
                  <a:lnTo>
                    <a:pt x="4" y="21"/>
                  </a:lnTo>
                  <a:lnTo>
                    <a:pt x="5" y="21"/>
                  </a:lnTo>
                  <a:lnTo>
                    <a:pt x="7" y="23"/>
                  </a:lnTo>
                  <a:lnTo>
                    <a:pt x="9" y="23"/>
                  </a:lnTo>
                  <a:lnTo>
                    <a:pt x="11" y="23"/>
                  </a:lnTo>
                  <a:lnTo>
                    <a:pt x="9" y="23"/>
                  </a:lnTo>
                </a:path>
              </a:pathLst>
            </a:custGeom>
            <a:solidFill>
              <a:srgbClr val="000000"/>
            </a:solidFill>
            <a:ln w="9525" cap="rnd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10" name="Freeform 134"/>
            <p:cNvSpPr>
              <a:spLocks/>
            </p:cNvSpPr>
            <p:nvPr/>
          </p:nvSpPr>
          <p:spPr bwMode="auto">
            <a:xfrm>
              <a:off x="915" y="1825"/>
              <a:ext cx="285" cy="413"/>
            </a:xfrm>
            <a:custGeom>
              <a:avLst/>
              <a:gdLst>
                <a:gd name="T0" fmla="*/ 0 w 210"/>
                <a:gd name="T1" fmla="*/ 0 h 413"/>
                <a:gd name="T2" fmla="*/ 0 w 210"/>
                <a:gd name="T3" fmla="*/ 167 h 413"/>
                <a:gd name="T4" fmla="*/ 91 w 210"/>
                <a:gd name="T5" fmla="*/ 207 h 413"/>
                <a:gd name="T6" fmla="*/ 0 w 210"/>
                <a:gd name="T7" fmla="*/ 245 h 413"/>
                <a:gd name="T8" fmla="*/ 0 w 210"/>
                <a:gd name="T9" fmla="*/ 412 h 413"/>
                <a:gd name="T10" fmla="*/ 284 w 210"/>
                <a:gd name="T11" fmla="*/ 286 h 413"/>
                <a:gd name="T12" fmla="*/ 284 w 210"/>
                <a:gd name="T13" fmla="*/ 127 h 413"/>
                <a:gd name="T14" fmla="*/ 0 w 210"/>
                <a:gd name="T15" fmla="*/ 0 h 413"/>
                <a:gd name="T16" fmla="*/ 0 w 210"/>
                <a:gd name="T17" fmla="*/ 0 h 41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10"/>
                <a:gd name="T28" fmla="*/ 0 h 413"/>
                <a:gd name="T29" fmla="*/ 210 w 210"/>
                <a:gd name="T30" fmla="*/ 413 h 413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10" h="413">
                  <a:moveTo>
                    <a:pt x="0" y="0"/>
                  </a:moveTo>
                  <a:lnTo>
                    <a:pt x="0" y="167"/>
                  </a:lnTo>
                  <a:lnTo>
                    <a:pt x="67" y="207"/>
                  </a:lnTo>
                  <a:lnTo>
                    <a:pt x="0" y="245"/>
                  </a:lnTo>
                  <a:lnTo>
                    <a:pt x="0" y="412"/>
                  </a:lnTo>
                  <a:lnTo>
                    <a:pt x="209" y="286"/>
                  </a:lnTo>
                  <a:lnTo>
                    <a:pt x="209" y="127"/>
                  </a:lnTo>
                  <a:lnTo>
                    <a:pt x="0" y="0"/>
                  </a:lnTo>
                </a:path>
              </a:pathLst>
            </a:custGeom>
            <a:solidFill>
              <a:srgbClr val="CCFF99"/>
            </a:solidFill>
            <a:ln w="190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11" name="Line 135"/>
            <p:cNvSpPr>
              <a:spLocks noChangeShapeType="1"/>
            </p:cNvSpPr>
            <p:nvPr/>
          </p:nvSpPr>
          <p:spPr bwMode="auto">
            <a:xfrm flipH="1">
              <a:off x="811" y="2168"/>
              <a:ext cx="102" cy="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12" name="Rectangle 136"/>
            <p:cNvSpPr>
              <a:spLocks noChangeArrowheads="1"/>
            </p:cNvSpPr>
            <p:nvPr/>
          </p:nvSpPr>
          <p:spPr bwMode="auto">
            <a:xfrm>
              <a:off x="812" y="2774"/>
              <a:ext cx="374" cy="2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000000"/>
                  </a:solidFill>
                  <a:latin typeface="+mj-lt"/>
                </a:rPr>
                <a:t>Instruction</a:t>
              </a:r>
            </a:p>
            <a:p>
              <a:pPr algn="ctr"/>
              <a:r>
                <a:rPr lang="en-US" sz="1200" dirty="0">
                  <a:solidFill>
                    <a:srgbClr val="000000"/>
                  </a:solidFill>
                  <a:latin typeface="+mj-lt"/>
                </a:rPr>
                <a:t>Memory</a:t>
              </a:r>
              <a:endParaRPr lang="en-US" sz="500" dirty="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413" name="Rectangle 138"/>
            <p:cNvSpPr>
              <a:spLocks noChangeArrowheads="1"/>
            </p:cNvSpPr>
            <p:nvPr/>
          </p:nvSpPr>
          <p:spPr bwMode="auto">
            <a:xfrm>
              <a:off x="747" y="2481"/>
              <a:ext cx="208" cy="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900">
                  <a:solidFill>
                    <a:srgbClr val="000000"/>
                  </a:solidFill>
                  <a:latin typeface="+mj-lt"/>
                </a:rPr>
                <a:t>Address</a:t>
              </a:r>
              <a:endParaRPr lang="en-US" sz="5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414" name="Rectangle 139"/>
            <p:cNvSpPr>
              <a:spLocks noChangeArrowheads="1"/>
            </p:cNvSpPr>
            <p:nvPr/>
          </p:nvSpPr>
          <p:spPr bwMode="auto">
            <a:xfrm>
              <a:off x="1042" y="1968"/>
              <a:ext cx="138" cy="1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dirty="0">
                  <a:solidFill>
                    <a:srgbClr val="000000"/>
                  </a:solidFill>
                  <a:latin typeface="+mj-lt"/>
                </a:rPr>
                <a:t>Add</a:t>
              </a:r>
              <a:endParaRPr lang="en-US" sz="500" dirty="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415" name="Rectangle 140"/>
            <p:cNvSpPr>
              <a:spLocks noChangeArrowheads="1"/>
            </p:cNvSpPr>
            <p:nvPr/>
          </p:nvSpPr>
          <p:spPr bwMode="auto">
            <a:xfrm>
              <a:off x="1311" y="1755"/>
              <a:ext cx="223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dirty="0">
                  <a:solidFill>
                    <a:srgbClr val="000000"/>
                  </a:solidFill>
                  <a:latin typeface="+mj-lt"/>
                </a:rPr>
                <a:t>IF/ID</a:t>
              </a:r>
            </a:p>
          </p:txBody>
        </p:sp>
        <p:grpSp>
          <p:nvGrpSpPr>
            <p:cNvPr id="54416" name="Group 141"/>
            <p:cNvGrpSpPr>
              <a:grpSpLocks/>
            </p:cNvGrpSpPr>
            <p:nvPr/>
          </p:nvGrpSpPr>
          <p:grpSpPr bwMode="auto">
            <a:xfrm>
              <a:off x="432" y="2393"/>
              <a:ext cx="156" cy="245"/>
              <a:chOff x="480" y="2155"/>
              <a:chExt cx="156" cy="245"/>
            </a:xfrm>
          </p:grpSpPr>
          <p:sp>
            <p:nvSpPr>
              <p:cNvPr id="54455" name="Freeform 142"/>
              <p:cNvSpPr>
                <a:spLocks/>
              </p:cNvSpPr>
              <p:nvPr/>
            </p:nvSpPr>
            <p:spPr bwMode="auto">
              <a:xfrm>
                <a:off x="480" y="2155"/>
                <a:ext cx="156" cy="245"/>
              </a:xfrm>
              <a:custGeom>
                <a:avLst/>
                <a:gdLst>
                  <a:gd name="T0" fmla="*/ 155 w 104"/>
                  <a:gd name="T1" fmla="*/ 242 h 245"/>
                  <a:gd name="T2" fmla="*/ 155 w 104"/>
                  <a:gd name="T3" fmla="*/ 0 h 245"/>
                  <a:gd name="T4" fmla="*/ 0 w 104"/>
                  <a:gd name="T5" fmla="*/ 0 h 245"/>
                  <a:gd name="T6" fmla="*/ 0 w 104"/>
                  <a:gd name="T7" fmla="*/ 244 h 245"/>
                  <a:gd name="T8" fmla="*/ 155 w 104"/>
                  <a:gd name="T9" fmla="*/ 244 h 245"/>
                  <a:gd name="T10" fmla="*/ 155 w 104"/>
                  <a:gd name="T11" fmla="*/ 244 h 24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04"/>
                  <a:gd name="T19" fmla="*/ 0 h 245"/>
                  <a:gd name="T20" fmla="*/ 104 w 104"/>
                  <a:gd name="T21" fmla="*/ 245 h 245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04" h="245">
                    <a:moveTo>
                      <a:pt x="103" y="242"/>
                    </a:moveTo>
                    <a:lnTo>
                      <a:pt x="103" y="0"/>
                    </a:lnTo>
                    <a:lnTo>
                      <a:pt x="0" y="0"/>
                    </a:lnTo>
                    <a:lnTo>
                      <a:pt x="0" y="244"/>
                    </a:lnTo>
                    <a:lnTo>
                      <a:pt x="103" y="244"/>
                    </a:lnTo>
                  </a:path>
                </a:pathLst>
              </a:custGeom>
              <a:solidFill>
                <a:srgbClr val="FFE6CD"/>
              </a:solidFill>
              <a:ln w="1905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54456" name="Rectangle 143"/>
              <p:cNvSpPr>
                <a:spLocks noChangeArrowheads="1"/>
              </p:cNvSpPr>
              <p:nvPr/>
            </p:nvSpPr>
            <p:spPr bwMode="auto">
              <a:xfrm>
                <a:off x="509" y="2220"/>
                <a:ext cx="90" cy="108"/>
              </a:xfrm>
              <a:prstGeom prst="rect">
                <a:avLst/>
              </a:prstGeom>
              <a:solidFill>
                <a:srgbClr val="FFE6CD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200" dirty="0">
                    <a:solidFill>
                      <a:srgbClr val="000000"/>
                    </a:solidFill>
                    <a:latin typeface="+mj-lt"/>
                  </a:rPr>
                  <a:t>PC</a:t>
                </a:r>
                <a:endParaRPr lang="en-US" sz="500" dirty="0">
                  <a:solidFill>
                    <a:srgbClr val="000000"/>
                  </a:solidFill>
                  <a:latin typeface="+mj-lt"/>
                </a:endParaRPr>
              </a:p>
            </p:txBody>
          </p:sp>
        </p:grpSp>
        <p:sp>
          <p:nvSpPr>
            <p:cNvPr id="54417" name="Line 144"/>
            <p:cNvSpPr>
              <a:spLocks noChangeShapeType="1"/>
            </p:cNvSpPr>
            <p:nvPr/>
          </p:nvSpPr>
          <p:spPr bwMode="auto">
            <a:xfrm flipH="1">
              <a:off x="1290" y="2688"/>
              <a:ext cx="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18" name="Line 145"/>
            <p:cNvSpPr>
              <a:spLocks noChangeShapeType="1"/>
            </p:cNvSpPr>
            <p:nvPr/>
          </p:nvSpPr>
          <p:spPr bwMode="auto">
            <a:xfrm flipV="1">
              <a:off x="1248" y="1782"/>
              <a:ext cx="0" cy="2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19" name="Line 146"/>
            <p:cNvSpPr>
              <a:spLocks noChangeShapeType="1"/>
            </p:cNvSpPr>
            <p:nvPr/>
          </p:nvSpPr>
          <p:spPr bwMode="auto">
            <a:xfrm flipH="1" flipV="1">
              <a:off x="3843" y="1594"/>
              <a:ext cx="0" cy="57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20" name="Line 147"/>
            <p:cNvSpPr>
              <a:spLocks noChangeShapeType="1"/>
            </p:cNvSpPr>
            <p:nvPr/>
          </p:nvSpPr>
          <p:spPr bwMode="auto">
            <a:xfrm rot="5400000" flipH="1" flipV="1">
              <a:off x="1011" y="1542"/>
              <a:ext cx="3" cy="47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21" name="Line 148"/>
            <p:cNvSpPr>
              <a:spLocks noChangeShapeType="1"/>
            </p:cNvSpPr>
            <p:nvPr/>
          </p:nvSpPr>
          <p:spPr bwMode="auto">
            <a:xfrm rot="16200000" flipV="1">
              <a:off x="3756" y="2077"/>
              <a:ext cx="3" cy="17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22" name="Line 149"/>
            <p:cNvSpPr>
              <a:spLocks noChangeShapeType="1"/>
            </p:cNvSpPr>
            <p:nvPr/>
          </p:nvSpPr>
          <p:spPr bwMode="auto">
            <a:xfrm rot="16200000" flipV="1">
              <a:off x="521" y="1529"/>
              <a:ext cx="0" cy="31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23" name="Line 150"/>
            <p:cNvSpPr>
              <a:spLocks noChangeShapeType="1"/>
            </p:cNvSpPr>
            <p:nvPr/>
          </p:nvSpPr>
          <p:spPr bwMode="auto">
            <a:xfrm flipV="1">
              <a:off x="360" y="1683"/>
              <a:ext cx="0" cy="83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24" name="Line 151"/>
            <p:cNvSpPr>
              <a:spLocks noChangeShapeType="1"/>
            </p:cNvSpPr>
            <p:nvPr/>
          </p:nvSpPr>
          <p:spPr bwMode="auto">
            <a:xfrm rot="16200000" flipV="1">
              <a:off x="393" y="2481"/>
              <a:ext cx="0" cy="6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grpSp>
          <p:nvGrpSpPr>
            <p:cNvPr id="54425" name="Group 152"/>
            <p:cNvGrpSpPr>
              <a:grpSpLocks/>
            </p:cNvGrpSpPr>
            <p:nvPr/>
          </p:nvGrpSpPr>
          <p:grpSpPr bwMode="auto">
            <a:xfrm>
              <a:off x="2754" y="3391"/>
              <a:ext cx="127" cy="309"/>
              <a:chOff x="2742" y="3153"/>
              <a:chExt cx="127" cy="309"/>
            </a:xfrm>
          </p:grpSpPr>
          <p:sp>
            <p:nvSpPr>
              <p:cNvPr id="54451" name="Rectangle 153"/>
              <p:cNvSpPr>
                <a:spLocks noChangeArrowheads="1"/>
              </p:cNvSpPr>
              <p:nvPr/>
            </p:nvSpPr>
            <p:spPr bwMode="auto">
              <a:xfrm>
                <a:off x="2745" y="3153"/>
                <a:ext cx="124" cy="108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r>
                  <a:rPr lang="en-US" sz="600" dirty="0">
                    <a:solidFill>
                      <a:srgbClr val="000000"/>
                    </a:solidFill>
                    <a:latin typeface="+mj-lt"/>
                  </a:rPr>
                  <a:t>0</a:t>
                </a:r>
              </a:p>
            </p:txBody>
          </p:sp>
          <p:sp>
            <p:nvSpPr>
              <p:cNvPr id="54452" name="Rectangle 154"/>
              <p:cNvSpPr>
                <a:spLocks noChangeArrowheads="1"/>
              </p:cNvSpPr>
              <p:nvPr/>
            </p:nvSpPr>
            <p:spPr bwMode="auto">
              <a:xfrm>
                <a:off x="2742" y="3354"/>
                <a:ext cx="124" cy="108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r>
                  <a:rPr lang="en-US" sz="600" dirty="0">
                    <a:solidFill>
                      <a:srgbClr val="000000"/>
                    </a:solidFill>
                    <a:latin typeface="+mj-lt"/>
                  </a:rPr>
                  <a:t>1</a:t>
                </a:r>
              </a:p>
            </p:txBody>
          </p:sp>
          <p:sp>
            <p:nvSpPr>
              <p:cNvPr id="54453" name="Rectangle 155"/>
              <p:cNvSpPr>
                <a:spLocks noChangeArrowheads="1"/>
              </p:cNvSpPr>
              <p:nvPr/>
            </p:nvSpPr>
            <p:spPr bwMode="auto">
              <a:xfrm>
                <a:off x="2793" y="3230"/>
                <a:ext cx="45" cy="151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>
                  <a:lnSpc>
                    <a:spcPct val="70000"/>
                  </a:lnSpc>
                </a:pPr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m</a:t>
                </a:r>
              </a:p>
              <a:p>
                <a:pPr algn="ctr">
                  <a:lnSpc>
                    <a:spcPct val="70000"/>
                  </a:lnSpc>
                </a:pPr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u</a:t>
                </a:r>
              </a:p>
              <a:p>
                <a:pPr algn="ctr">
                  <a:lnSpc>
                    <a:spcPct val="70000"/>
                  </a:lnSpc>
                </a:pPr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x</a:t>
                </a:r>
                <a:endParaRPr lang="en-US" sz="500">
                  <a:solidFill>
                    <a:srgbClr val="000000"/>
                  </a:solidFill>
                  <a:latin typeface="+mj-lt"/>
                </a:endParaRPr>
              </a:p>
            </p:txBody>
          </p:sp>
          <p:sp>
            <p:nvSpPr>
              <p:cNvPr id="54454" name="AutoShape 156"/>
              <p:cNvSpPr>
                <a:spLocks noChangeArrowheads="1"/>
              </p:cNvSpPr>
              <p:nvPr/>
            </p:nvSpPr>
            <p:spPr bwMode="auto">
              <a:xfrm rot="5400000">
                <a:off x="2665" y="3263"/>
                <a:ext cx="297" cy="96"/>
              </a:xfrm>
              <a:prstGeom prst="flowChartTerminator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>
                  <a:latin typeface="+mj-lt"/>
                </a:endParaRPr>
              </a:p>
            </p:txBody>
          </p:sp>
        </p:grpSp>
        <p:grpSp>
          <p:nvGrpSpPr>
            <p:cNvPr id="54426" name="Group 157"/>
            <p:cNvGrpSpPr>
              <a:grpSpLocks/>
            </p:cNvGrpSpPr>
            <p:nvPr/>
          </p:nvGrpSpPr>
          <p:grpSpPr bwMode="auto">
            <a:xfrm>
              <a:off x="2796" y="2665"/>
              <a:ext cx="127" cy="309"/>
              <a:chOff x="2748" y="3153"/>
              <a:chExt cx="127" cy="309"/>
            </a:xfrm>
          </p:grpSpPr>
          <p:sp>
            <p:nvSpPr>
              <p:cNvPr id="54447" name="Rectangle 158"/>
              <p:cNvSpPr>
                <a:spLocks noChangeArrowheads="1"/>
              </p:cNvSpPr>
              <p:nvPr/>
            </p:nvSpPr>
            <p:spPr bwMode="auto">
              <a:xfrm>
                <a:off x="2751" y="3153"/>
                <a:ext cx="124" cy="108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r>
                  <a:rPr lang="en-US" sz="600" dirty="0">
                    <a:solidFill>
                      <a:srgbClr val="000000"/>
                    </a:solidFill>
                    <a:latin typeface="+mj-lt"/>
                  </a:rPr>
                  <a:t>0</a:t>
                </a:r>
              </a:p>
            </p:txBody>
          </p:sp>
          <p:sp>
            <p:nvSpPr>
              <p:cNvPr id="54448" name="Rectangle 159"/>
              <p:cNvSpPr>
                <a:spLocks noChangeArrowheads="1"/>
              </p:cNvSpPr>
              <p:nvPr/>
            </p:nvSpPr>
            <p:spPr bwMode="auto">
              <a:xfrm>
                <a:off x="2748" y="3354"/>
                <a:ext cx="124" cy="108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r>
                  <a:rPr lang="en-US" sz="600" dirty="0">
                    <a:solidFill>
                      <a:srgbClr val="000000"/>
                    </a:solidFill>
                    <a:latin typeface="+mj-lt"/>
                  </a:rPr>
                  <a:t>1</a:t>
                </a:r>
              </a:p>
            </p:txBody>
          </p:sp>
          <p:sp>
            <p:nvSpPr>
              <p:cNvPr id="54449" name="Rectangle 160"/>
              <p:cNvSpPr>
                <a:spLocks noChangeArrowheads="1"/>
              </p:cNvSpPr>
              <p:nvPr/>
            </p:nvSpPr>
            <p:spPr bwMode="auto">
              <a:xfrm>
                <a:off x="2795" y="3238"/>
                <a:ext cx="40" cy="132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>
                  <a:lnSpc>
                    <a:spcPct val="70000"/>
                  </a:lnSpc>
                </a:pPr>
                <a:r>
                  <a:rPr lang="en-US" sz="700" dirty="0">
                    <a:solidFill>
                      <a:srgbClr val="000000"/>
                    </a:solidFill>
                    <a:latin typeface="+mj-lt"/>
                  </a:rPr>
                  <a:t>m</a:t>
                </a:r>
              </a:p>
              <a:p>
                <a:pPr algn="ctr">
                  <a:lnSpc>
                    <a:spcPct val="70000"/>
                  </a:lnSpc>
                </a:pPr>
                <a:r>
                  <a:rPr lang="en-US" sz="700" dirty="0">
                    <a:solidFill>
                      <a:srgbClr val="000000"/>
                    </a:solidFill>
                    <a:latin typeface="+mj-lt"/>
                  </a:rPr>
                  <a:t>u</a:t>
                </a:r>
              </a:p>
              <a:p>
                <a:pPr algn="ctr">
                  <a:lnSpc>
                    <a:spcPct val="70000"/>
                  </a:lnSpc>
                </a:pPr>
                <a:r>
                  <a:rPr lang="en-US" sz="700" dirty="0">
                    <a:solidFill>
                      <a:srgbClr val="000000"/>
                    </a:solidFill>
                    <a:latin typeface="+mj-lt"/>
                  </a:rPr>
                  <a:t>x</a:t>
                </a:r>
                <a:endParaRPr lang="en-US" sz="400" dirty="0">
                  <a:solidFill>
                    <a:srgbClr val="000000"/>
                  </a:solidFill>
                  <a:latin typeface="+mj-lt"/>
                </a:endParaRPr>
              </a:p>
            </p:txBody>
          </p:sp>
          <p:sp>
            <p:nvSpPr>
              <p:cNvPr id="54450" name="AutoShape 161"/>
              <p:cNvSpPr>
                <a:spLocks noChangeArrowheads="1"/>
              </p:cNvSpPr>
              <p:nvPr/>
            </p:nvSpPr>
            <p:spPr bwMode="auto">
              <a:xfrm rot="5400000">
                <a:off x="2665" y="3263"/>
                <a:ext cx="297" cy="96"/>
              </a:xfrm>
              <a:prstGeom prst="flowChartTerminator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>
                  <a:latin typeface="+mj-lt"/>
                </a:endParaRPr>
              </a:p>
            </p:txBody>
          </p:sp>
        </p:grpSp>
        <p:sp>
          <p:nvSpPr>
            <p:cNvPr id="54427" name="Line 162"/>
            <p:cNvSpPr>
              <a:spLocks noChangeShapeType="1"/>
            </p:cNvSpPr>
            <p:nvPr/>
          </p:nvSpPr>
          <p:spPr bwMode="auto">
            <a:xfrm flipV="1">
              <a:off x="3168" y="2844"/>
              <a:ext cx="0" cy="391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28" name="Line 163"/>
            <p:cNvSpPr>
              <a:spLocks noChangeShapeType="1"/>
            </p:cNvSpPr>
            <p:nvPr/>
          </p:nvSpPr>
          <p:spPr bwMode="auto">
            <a:xfrm rot="5400000" flipV="1">
              <a:off x="3142" y="3203"/>
              <a:ext cx="0" cy="52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grpSp>
          <p:nvGrpSpPr>
            <p:cNvPr id="54429" name="Group 164"/>
            <p:cNvGrpSpPr>
              <a:grpSpLocks/>
            </p:cNvGrpSpPr>
            <p:nvPr/>
          </p:nvGrpSpPr>
          <p:grpSpPr bwMode="auto">
            <a:xfrm flipH="1">
              <a:off x="672" y="1534"/>
              <a:ext cx="127" cy="309"/>
              <a:chOff x="2743" y="3153"/>
              <a:chExt cx="127" cy="309"/>
            </a:xfrm>
          </p:grpSpPr>
          <p:sp>
            <p:nvSpPr>
              <p:cNvPr id="54443" name="Rectangle 165"/>
              <p:cNvSpPr>
                <a:spLocks noChangeArrowheads="1"/>
              </p:cNvSpPr>
              <p:nvPr/>
            </p:nvSpPr>
            <p:spPr bwMode="auto">
              <a:xfrm>
                <a:off x="2746" y="3153"/>
                <a:ext cx="124" cy="108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r>
                  <a:rPr lang="en-US" sz="600" dirty="0">
                    <a:solidFill>
                      <a:srgbClr val="000000"/>
                    </a:solidFill>
                    <a:latin typeface="+mj-lt"/>
                  </a:rPr>
                  <a:t>0</a:t>
                </a:r>
              </a:p>
            </p:txBody>
          </p:sp>
          <p:sp>
            <p:nvSpPr>
              <p:cNvPr id="54444" name="Rectangle 166"/>
              <p:cNvSpPr>
                <a:spLocks noChangeArrowheads="1"/>
              </p:cNvSpPr>
              <p:nvPr/>
            </p:nvSpPr>
            <p:spPr bwMode="auto">
              <a:xfrm>
                <a:off x="2743" y="3354"/>
                <a:ext cx="124" cy="108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r>
                  <a:rPr lang="en-US" sz="600">
                    <a:solidFill>
                      <a:srgbClr val="000000"/>
                    </a:solidFill>
                    <a:latin typeface="+mj-lt"/>
                  </a:rPr>
                  <a:t>1</a:t>
                </a:r>
              </a:p>
            </p:txBody>
          </p:sp>
          <p:sp>
            <p:nvSpPr>
              <p:cNvPr id="54445" name="Rectangle 167"/>
              <p:cNvSpPr>
                <a:spLocks noChangeArrowheads="1"/>
              </p:cNvSpPr>
              <p:nvPr/>
            </p:nvSpPr>
            <p:spPr bwMode="auto">
              <a:xfrm>
                <a:off x="2795" y="3238"/>
                <a:ext cx="40" cy="132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>
                  <a:lnSpc>
                    <a:spcPct val="70000"/>
                  </a:lnSpc>
                </a:pPr>
                <a:r>
                  <a:rPr lang="en-US" sz="700">
                    <a:solidFill>
                      <a:srgbClr val="000000"/>
                    </a:solidFill>
                    <a:latin typeface="+mj-lt"/>
                  </a:rPr>
                  <a:t>m</a:t>
                </a:r>
              </a:p>
              <a:p>
                <a:pPr algn="ctr">
                  <a:lnSpc>
                    <a:spcPct val="70000"/>
                  </a:lnSpc>
                </a:pPr>
                <a:r>
                  <a:rPr lang="en-US" sz="700">
                    <a:solidFill>
                      <a:srgbClr val="000000"/>
                    </a:solidFill>
                    <a:latin typeface="+mj-lt"/>
                  </a:rPr>
                  <a:t>u</a:t>
                </a:r>
              </a:p>
              <a:p>
                <a:pPr algn="ctr">
                  <a:lnSpc>
                    <a:spcPct val="70000"/>
                  </a:lnSpc>
                </a:pPr>
                <a:r>
                  <a:rPr lang="en-US" sz="700">
                    <a:solidFill>
                      <a:srgbClr val="000000"/>
                    </a:solidFill>
                    <a:latin typeface="+mj-lt"/>
                  </a:rPr>
                  <a:t>x</a:t>
                </a:r>
                <a:endParaRPr lang="en-US" sz="400">
                  <a:solidFill>
                    <a:srgbClr val="000000"/>
                  </a:solidFill>
                  <a:latin typeface="+mj-lt"/>
                </a:endParaRPr>
              </a:p>
            </p:txBody>
          </p:sp>
          <p:sp>
            <p:nvSpPr>
              <p:cNvPr id="54446" name="AutoShape 168"/>
              <p:cNvSpPr>
                <a:spLocks noChangeArrowheads="1"/>
              </p:cNvSpPr>
              <p:nvPr/>
            </p:nvSpPr>
            <p:spPr bwMode="auto">
              <a:xfrm rot="5400000">
                <a:off x="2665" y="3263"/>
                <a:ext cx="297" cy="96"/>
              </a:xfrm>
              <a:prstGeom prst="flowChartTerminator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>
                  <a:latin typeface="+mj-lt"/>
                </a:endParaRPr>
              </a:p>
            </p:txBody>
          </p:sp>
        </p:grpSp>
        <p:grpSp>
          <p:nvGrpSpPr>
            <p:cNvPr id="54430" name="Group 169"/>
            <p:cNvGrpSpPr>
              <a:grpSpLocks/>
            </p:cNvGrpSpPr>
            <p:nvPr/>
          </p:nvGrpSpPr>
          <p:grpSpPr bwMode="auto">
            <a:xfrm>
              <a:off x="4899" y="2686"/>
              <a:ext cx="127" cy="309"/>
              <a:chOff x="2742" y="3153"/>
              <a:chExt cx="127" cy="309"/>
            </a:xfrm>
          </p:grpSpPr>
          <p:sp>
            <p:nvSpPr>
              <p:cNvPr id="54439" name="Rectangle 170"/>
              <p:cNvSpPr>
                <a:spLocks noChangeArrowheads="1"/>
              </p:cNvSpPr>
              <p:nvPr/>
            </p:nvSpPr>
            <p:spPr bwMode="auto">
              <a:xfrm>
                <a:off x="2745" y="3153"/>
                <a:ext cx="124" cy="108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r>
                  <a:rPr lang="en-US" sz="600" dirty="0">
                    <a:solidFill>
                      <a:srgbClr val="000000"/>
                    </a:solidFill>
                    <a:latin typeface="+mj-lt"/>
                  </a:rPr>
                  <a:t>0</a:t>
                </a:r>
              </a:p>
            </p:txBody>
          </p:sp>
          <p:sp>
            <p:nvSpPr>
              <p:cNvPr id="54440" name="Rectangle 171"/>
              <p:cNvSpPr>
                <a:spLocks noChangeArrowheads="1"/>
              </p:cNvSpPr>
              <p:nvPr/>
            </p:nvSpPr>
            <p:spPr bwMode="auto">
              <a:xfrm>
                <a:off x="2742" y="3354"/>
                <a:ext cx="124" cy="108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r>
                  <a:rPr lang="en-US" sz="600" dirty="0">
                    <a:solidFill>
                      <a:srgbClr val="000000"/>
                    </a:solidFill>
                    <a:latin typeface="+mj-lt"/>
                  </a:rPr>
                  <a:t>1</a:t>
                </a:r>
              </a:p>
            </p:txBody>
          </p:sp>
          <p:sp>
            <p:nvSpPr>
              <p:cNvPr id="54441" name="Rectangle 172"/>
              <p:cNvSpPr>
                <a:spLocks noChangeArrowheads="1"/>
              </p:cNvSpPr>
              <p:nvPr/>
            </p:nvSpPr>
            <p:spPr bwMode="auto">
              <a:xfrm>
                <a:off x="2795" y="3238"/>
                <a:ext cx="40" cy="132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>
                  <a:lnSpc>
                    <a:spcPct val="70000"/>
                  </a:lnSpc>
                </a:pPr>
                <a:r>
                  <a:rPr lang="en-US" sz="700">
                    <a:solidFill>
                      <a:srgbClr val="000000"/>
                    </a:solidFill>
                    <a:latin typeface="+mj-lt"/>
                  </a:rPr>
                  <a:t>m</a:t>
                </a:r>
              </a:p>
              <a:p>
                <a:pPr algn="ctr">
                  <a:lnSpc>
                    <a:spcPct val="70000"/>
                  </a:lnSpc>
                </a:pPr>
                <a:r>
                  <a:rPr lang="en-US" sz="700">
                    <a:solidFill>
                      <a:srgbClr val="000000"/>
                    </a:solidFill>
                    <a:latin typeface="+mj-lt"/>
                  </a:rPr>
                  <a:t>u</a:t>
                </a:r>
              </a:p>
              <a:p>
                <a:pPr algn="ctr">
                  <a:lnSpc>
                    <a:spcPct val="70000"/>
                  </a:lnSpc>
                </a:pPr>
                <a:r>
                  <a:rPr lang="en-US" sz="700">
                    <a:solidFill>
                      <a:srgbClr val="000000"/>
                    </a:solidFill>
                    <a:latin typeface="+mj-lt"/>
                  </a:rPr>
                  <a:t>x</a:t>
                </a:r>
                <a:endParaRPr lang="en-US" sz="400">
                  <a:solidFill>
                    <a:srgbClr val="000000"/>
                  </a:solidFill>
                  <a:latin typeface="+mj-lt"/>
                </a:endParaRPr>
              </a:p>
            </p:txBody>
          </p:sp>
          <p:sp>
            <p:nvSpPr>
              <p:cNvPr id="54442" name="AutoShape 173"/>
              <p:cNvSpPr>
                <a:spLocks noChangeArrowheads="1"/>
              </p:cNvSpPr>
              <p:nvPr/>
            </p:nvSpPr>
            <p:spPr bwMode="auto">
              <a:xfrm rot="5400000">
                <a:off x="2665" y="3263"/>
                <a:ext cx="297" cy="96"/>
              </a:xfrm>
              <a:prstGeom prst="flowChartTerminator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>
                  <a:latin typeface="+mj-lt"/>
                </a:endParaRPr>
              </a:p>
            </p:txBody>
          </p:sp>
        </p:grpSp>
        <p:sp>
          <p:nvSpPr>
            <p:cNvPr id="54431" name="Rectangle 174"/>
            <p:cNvSpPr>
              <a:spLocks noChangeArrowheads="1"/>
            </p:cNvSpPr>
            <p:nvPr/>
          </p:nvSpPr>
          <p:spPr bwMode="auto">
            <a:xfrm>
              <a:off x="882" y="2648"/>
              <a:ext cx="282" cy="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900" dirty="0">
                  <a:solidFill>
                    <a:srgbClr val="000000"/>
                  </a:solidFill>
                  <a:latin typeface="+mj-lt"/>
                </a:rPr>
                <a:t>Instruction</a:t>
              </a:r>
              <a:endParaRPr lang="en-US" sz="500" dirty="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432" name="Line 175"/>
            <p:cNvSpPr>
              <a:spLocks noChangeShapeType="1"/>
            </p:cNvSpPr>
            <p:nvPr/>
          </p:nvSpPr>
          <p:spPr bwMode="auto">
            <a:xfrm flipV="1">
              <a:off x="1638" y="2431"/>
              <a:ext cx="0" cy="121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33" name="Line 176"/>
            <p:cNvSpPr>
              <a:spLocks noChangeShapeType="1"/>
            </p:cNvSpPr>
            <p:nvPr/>
          </p:nvSpPr>
          <p:spPr bwMode="auto">
            <a:xfrm flipV="1">
              <a:off x="1639" y="3643"/>
              <a:ext cx="794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34" name="Line 177"/>
            <p:cNvSpPr>
              <a:spLocks noChangeShapeType="1"/>
            </p:cNvSpPr>
            <p:nvPr/>
          </p:nvSpPr>
          <p:spPr bwMode="auto">
            <a:xfrm flipH="1">
              <a:off x="777" y="1594"/>
              <a:ext cx="30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35" name="Line 178"/>
            <p:cNvSpPr>
              <a:spLocks noChangeShapeType="1"/>
            </p:cNvSpPr>
            <p:nvPr/>
          </p:nvSpPr>
          <p:spPr bwMode="auto">
            <a:xfrm flipV="1">
              <a:off x="3969" y="2359"/>
              <a:ext cx="65" cy="2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36" name="Line 179"/>
            <p:cNvSpPr>
              <a:spLocks noChangeShapeType="1"/>
            </p:cNvSpPr>
            <p:nvPr/>
          </p:nvSpPr>
          <p:spPr bwMode="auto">
            <a:xfrm rot="-5400000" flipH="1" flipV="1">
              <a:off x="3566" y="1901"/>
              <a:ext cx="926" cy="1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37" name="Line 180"/>
            <p:cNvSpPr>
              <a:spLocks noChangeShapeType="1"/>
            </p:cNvSpPr>
            <p:nvPr/>
          </p:nvSpPr>
          <p:spPr bwMode="auto">
            <a:xfrm>
              <a:off x="720" y="1438"/>
              <a:ext cx="3312" cy="0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38" name="Line 181"/>
            <p:cNvSpPr>
              <a:spLocks noChangeShapeType="1"/>
            </p:cNvSpPr>
            <p:nvPr/>
          </p:nvSpPr>
          <p:spPr bwMode="auto">
            <a:xfrm rot="-5400000" flipH="1" flipV="1">
              <a:off x="670" y="1491"/>
              <a:ext cx="107" cy="1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20" name="Rectangle 36"/>
            <p:cNvSpPr>
              <a:spLocks noChangeArrowheads="1"/>
            </p:cNvSpPr>
            <p:nvPr/>
          </p:nvSpPr>
          <p:spPr bwMode="auto">
            <a:xfrm>
              <a:off x="2658" y="2526"/>
              <a:ext cx="215" cy="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50" dirty="0" err="1">
                  <a:solidFill>
                    <a:srgbClr val="EB7500"/>
                  </a:solidFill>
                  <a:latin typeface="+mj-lt"/>
                </a:rPr>
                <a:t>ALUSrc</a:t>
              </a:r>
              <a:endParaRPr lang="en-US" sz="700" dirty="0">
                <a:solidFill>
                  <a:srgbClr val="EB7500"/>
                </a:solidFill>
                <a:latin typeface="+mj-lt"/>
              </a:endParaRPr>
            </a:p>
          </p:txBody>
        </p:sp>
        <p:sp>
          <p:nvSpPr>
            <p:cNvPr id="54348" name="Rectangle 64"/>
            <p:cNvSpPr>
              <a:spLocks noChangeArrowheads="1"/>
            </p:cNvSpPr>
            <p:nvPr/>
          </p:nvSpPr>
          <p:spPr bwMode="auto">
            <a:xfrm>
              <a:off x="3034" y="3421"/>
              <a:ext cx="217" cy="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50" dirty="0" err="1">
                  <a:solidFill>
                    <a:srgbClr val="EB7500"/>
                  </a:solidFill>
                  <a:latin typeface="+mj-lt"/>
                </a:rPr>
                <a:t>ALUOp</a:t>
              </a:r>
              <a:endParaRPr lang="en-US" sz="1050" dirty="0">
                <a:solidFill>
                  <a:srgbClr val="EB7500"/>
                </a:solidFill>
                <a:latin typeface="+mj-lt"/>
              </a:endParaRPr>
            </a:p>
          </p:txBody>
        </p:sp>
        <p:sp>
          <p:nvSpPr>
            <p:cNvPr id="54349" name="Rectangle 65"/>
            <p:cNvSpPr>
              <a:spLocks noChangeArrowheads="1"/>
            </p:cNvSpPr>
            <p:nvPr/>
          </p:nvSpPr>
          <p:spPr bwMode="auto">
            <a:xfrm>
              <a:off x="2841" y="3700"/>
              <a:ext cx="214" cy="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50">
                  <a:solidFill>
                    <a:srgbClr val="EB7500"/>
                  </a:solidFill>
                  <a:latin typeface="+mj-lt"/>
                </a:rPr>
                <a:t>RegDst</a:t>
              </a:r>
            </a:p>
          </p:txBody>
        </p:sp>
        <p:sp>
          <p:nvSpPr>
            <p:cNvPr id="54352" name="Rectangle 68"/>
            <p:cNvSpPr>
              <a:spLocks noChangeArrowheads="1"/>
            </p:cNvSpPr>
            <p:nvPr/>
          </p:nvSpPr>
          <p:spPr bwMode="auto">
            <a:xfrm>
              <a:off x="1913" y="2186"/>
              <a:ext cx="294" cy="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50" dirty="0" err="1">
                  <a:solidFill>
                    <a:srgbClr val="EB7500"/>
                  </a:solidFill>
                  <a:latin typeface="+mj-lt"/>
                </a:rPr>
                <a:t>RegWrite</a:t>
              </a:r>
              <a:endParaRPr lang="en-US" sz="1050" dirty="0">
                <a:solidFill>
                  <a:srgbClr val="EB7500"/>
                </a:solidFill>
                <a:latin typeface="+mj-lt"/>
              </a:endParaRPr>
            </a:p>
          </p:txBody>
        </p:sp>
        <p:sp>
          <p:nvSpPr>
            <p:cNvPr id="54388" name="Rectangle 112"/>
            <p:cNvSpPr>
              <a:spLocks noChangeArrowheads="1"/>
            </p:cNvSpPr>
            <p:nvPr/>
          </p:nvSpPr>
          <p:spPr bwMode="auto">
            <a:xfrm>
              <a:off x="3734" y="2172"/>
              <a:ext cx="220" cy="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50">
                  <a:solidFill>
                    <a:srgbClr val="EB7500"/>
                  </a:solidFill>
                  <a:latin typeface="+mj-lt"/>
                </a:rPr>
                <a:t>Branch</a:t>
              </a:r>
            </a:p>
          </p:txBody>
        </p:sp>
        <p:sp>
          <p:nvSpPr>
            <p:cNvPr id="54389" name="Rectangle 113"/>
            <p:cNvSpPr>
              <a:spLocks noChangeArrowheads="1"/>
            </p:cNvSpPr>
            <p:nvPr/>
          </p:nvSpPr>
          <p:spPr bwMode="auto">
            <a:xfrm>
              <a:off x="4056" y="1582"/>
              <a:ext cx="170" cy="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50">
                  <a:solidFill>
                    <a:srgbClr val="EB7500"/>
                  </a:solidFill>
                  <a:latin typeface="+mj-lt"/>
                </a:rPr>
                <a:t>PCSrc</a:t>
              </a:r>
            </a:p>
          </p:txBody>
        </p:sp>
        <p:sp>
          <p:nvSpPr>
            <p:cNvPr id="54399" name="Rectangle 123"/>
            <p:cNvSpPr>
              <a:spLocks noChangeArrowheads="1"/>
            </p:cNvSpPr>
            <p:nvPr/>
          </p:nvSpPr>
          <p:spPr bwMode="auto">
            <a:xfrm>
              <a:off x="4827" y="2541"/>
              <a:ext cx="341" cy="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50" dirty="0" err="1">
                  <a:solidFill>
                    <a:srgbClr val="EB7500"/>
                  </a:solidFill>
                  <a:latin typeface="+mj-lt"/>
                </a:rPr>
                <a:t>MemtoReg</a:t>
              </a:r>
              <a:endParaRPr lang="en-US" sz="1050" dirty="0">
                <a:solidFill>
                  <a:srgbClr val="EB7500"/>
                </a:solidFill>
                <a:latin typeface="+mj-lt"/>
              </a:endParaRPr>
            </a:p>
          </p:txBody>
        </p:sp>
      </p:grpSp>
      <p:sp>
        <p:nvSpPr>
          <p:cNvPr id="3" name="Rectangle 2"/>
          <p:cNvSpPr/>
          <p:nvPr/>
        </p:nvSpPr>
        <p:spPr>
          <a:xfrm>
            <a:off x="2902559" y="762000"/>
            <a:ext cx="219002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  <a:latin typeface="+mj-lt"/>
              </a:rPr>
              <a:t>R1 </a:t>
            </a:r>
            <a:r>
              <a:rPr lang="en-US" sz="2000" dirty="0">
                <a:solidFill>
                  <a:srgbClr val="0070C0"/>
                </a:solidFill>
                <a:latin typeface="+mj-lt"/>
                <a:sym typeface="Symbol" pitchFamily="18" charset="2"/>
              </a:rPr>
              <a:t> </a:t>
            </a:r>
            <a:r>
              <a:rPr lang="en-US" sz="2000" dirty="0" err="1">
                <a:solidFill>
                  <a:srgbClr val="0070C0"/>
                </a:solidFill>
                <a:latin typeface="+mj-lt"/>
                <a:sym typeface="Symbol" pitchFamily="18" charset="2"/>
              </a:rPr>
              <a:t>Mem</a:t>
            </a:r>
            <a:r>
              <a:rPr lang="en-US" sz="2000" dirty="0">
                <a:solidFill>
                  <a:srgbClr val="0070C0"/>
                </a:solidFill>
                <a:latin typeface="+mj-lt"/>
                <a:sym typeface="Symbol" pitchFamily="18" charset="2"/>
              </a:rPr>
              <a:t>[R2+30]</a:t>
            </a:r>
            <a:endParaRPr lang="en-US" sz="2000" dirty="0">
              <a:solidFill>
                <a:srgbClr val="0070C0"/>
              </a:solidFill>
              <a:latin typeface="+mj-lt"/>
            </a:endParaRPr>
          </a:p>
        </p:txBody>
      </p:sp>
      <p:sp>
        <p:nvSpPr>
          <p:cNvPr id="197" name="Rectangle 287"/>
          <p:cNvSpPr>
            <a:spLocks noChangeArrowheads="1"/>
          </p:cNvSpPr>
          <p:nvPr/>
        </p:nvSpPr>
        <p:spPr bwMode="auto">
          <a:xfrm>
            <a:off x="6776553" y="697468"/>
            <a:ext cx="345607" cy="369332"/>
          </a:xfrm>
          <a:prstGeom prst="rect">
            <a:avLst/>
          </a:prstGeom>
          <a:solidFill>
            <a:schemeClr val="bg1">
              <a:alpha val="85000"/>
            </a:schemeClr>
          </a:solidFill>
          <a:ln w="12700">
            <a:noFill/>
            <a:miter lim="800000"/>
            <a:headEnd type="none" w="sm" len="sm"/>
            <a:tailEnd type="none" w="lg" len="med"/>
          </a:ln>
        </p:spPr>
        <p:txBody>
          <a:bodyPr wrap="none" lIns="45720" tIns="45720" rIns="45720" bIns="4572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  <a:latin typeface="+mj-lt"/>
              </a:rPr>
              <a:t>PC</a:t>
            </a:r>
            <a:endParaRPr lang="en-US" dirty="0">
              <a:solidFill>
                <a:srgbClr val="FF0000"/>
              </a:solidFill>
              <a:latin typeface="+mj-lt"/>
            </a:endParaRPr>
          </a:p>
        </p:txBody>
      </p:sp>
      <p:cxnSp>
        <p:nvCxnSpPr>
          <p:cNvPr id="7" name="Straight Arrow Connector 6"/>
          <p:cNvCxnSpPr>
            <a:stCxn id="197" idx="2"/>
          </p:cNvCxnSpPr>
          <p:nvPr/>
        </p:nvCxnSpPr>
        <p:spPr bwMode="auto">
          <a:xfrm>
            <a:off x="6949357" y="1066800"/>
            <a:ext cx="5497" cy="228600"/>
          </a:xfrm>
          <a:prstGeom prst="straightConnector1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arrow"/>
          </a:ln>
          <a:effectLst/>
        </p:spPr>
      </p:cxnSp>
      <p:sp>
        <p:nvSpPr>
          <p:cNvPr id="198" name="Rectangle 287"/>
          <p:cNvSpPr>
            <a:spLocks noChangeArrowheads="1"/>
          </p:cNvSpPr>
          <p:nvPr/>
        </p:nvSpPr>
        <p:spPr bwMode="auto">
          <a:xfrm>
            <a:off x="3679803" y="2877626"/>
            <a:ext cx="566822" cy="369332"/>
          </a:xfrm>
          <a:prstGeom prst="rect">
            <a:avLst/>
          </a:prstGeom>
          <a:solidFill>
            <a:schemeClr val="bg1">
              <a:alpha val="85000"/>
            </a:schemeClr>
          </a:solidFill>
          <a:ln w="12700">
            <a:noFill/>
            <a:miter lim="800000"/>
            <a:headEnd type="none" w="sm" len="sm"/>
            <a:tailEnd type="none" w="lg" len="med"/>
          </a:ln>
        </p:spPr>
        <p:txBody>
          <a:bodyPr wrap="none" lIns="45720" tIns="45720" rIns="45720" bIns="4572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+mj-lt"/>
              </a:rPr>
              <a:t>PC+4</a:t>
            </a:r>
          </a:p>
        </p:txBody>
      </p:sp>
      <p:sp>
        <p:nvSpPr>
          <p:cNvPr id="199" name="Rectangle 266"/>
          <p:cNvSpPr>
            <a:spLocks noChangeArrowheads="1"/>
          </p:cNvSpPr>
          <p:nvPr/>
        </p:nvSpPr>
        <p:spPr bwMode="auto">
          <a:xfrm>
            <a:off x="3733800" y="3726418"/>
            <a:ext cx="475451" cy="369332"/>
          </a:xfrm>
          <a:prstGeom prst="rect">
            <a:avLst/>
          </a:prstGeom>
          <a:solidFill>
            <a:schemeClr val="bg1">
              <a:alpha val="85000"/>
            </a:schemeClr>
          </a:solidFill>
          <a:ln w="12700">
            <a:noFill/>
            <a:miter lim="800000"/>
            <a:headEnd type="none" w="sm" len="sm"/>
            <a:tailEnd type="none" w="lg" len="med"/>
          </a:ln>
        </p:spPr>
        <p:txBody>
          <a:bodyPr wrap="none" lIns="45720" tIns="45720" rIns="45720" bIns="4572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  <a:latin typeface="+mj-lt"/>
              </a:rPr>
              <a:t>[R2]</a:t>
            </a:r>
            <a:endParaRPr lang="en-US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200" name="Rectangle 266"/>
          <p:cNvSpPr>
            <a:spLocks noChangeArrowheads="1"/>
          </p:cNvSpPr>
          <p:nvPr/>
        </p:nvSpPr>
        <p:spPr bwMode="auto">
          <a:xfrm>
            <a:off x="3810000" y="4922834"/>
            <a:ext cx="326371" cy="369332"/>
          </a:xfrm>
          <a:prstGeom prst="rect">
            <a:avLst/>
          </a:prstGeom>
          <a:solidFill>
            <a:schemeClr val="bg1">
              <a:alpha val="85000"/>
            </a:schemeClr>
          </a:solidFill>
          <a:ln w="12700">
            <a:noFill/>
            <a:miter lim="800000"/>
            <a:headEnd type="none" w="sm" len="sm"/>
            <a:tailEnd type="none" w="lg" len="med"/>
          </a:ln>
        </p:spPr>
        <p:txBody>
          <a:bodyPr wrap="none" lIns="45720" tIns="45720" rIns="45720" bIns="4572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  <a:latin typeface="+mj-lt"/>
              </a:rPr>
              <a:t>30</a:t>
            </a:r>
            <a:endParaRPr lang="en-US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201" name="Rectangle 266"/>
          <p:cNvSpPr>
            <a:spLocks noChangeArrowheads="1"/>
          </p:cNvSpPr>
          <p:nvPr/>
        </p:nvSpPr>
        <p:spPr bwMode="auto">
          <a:xfrm>
            <a:off x="3878290" y="5314057"/>
            <a:ext cx="209353" cy="369332"/>
          </a:xfrm>
          <a:prstGeom prst="rect">
            <a:avLst/>
          </a:prstGeom>
          <a:solidFill>
            <a:schemeClr val="bg1">
              <a:alpha val="85000"/>
            </a:schemeClr>
          </a:solidFill>
          <a:ln w="12700">
            <a:noFill/>
            <a:miter lim="800000"/>
            <a:headEnd type="none" w="sm" len="sm"/>
            <a:tailEnd type="none" w="lg" len="med"/>
          </a:ln>
        </p:spPr>
        <p:txBody>
          <a:bodyPr wrap="none" lIns="45720" tIns="45720" rIns="45720" bIns="4572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+mj-lt"/>
              </a:rPr>
              <a:t>1</a:t>
            </a:r>
          </a:p>
        </p:txBody>
      </p:sp>
      <p:sp>
        <p:nvSpPr>
          <p:cNvPr id="203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76200"/>
            <a:ext cx="7772400" cy="762000"/>
          </a:xfrm>
        </p:spPr>
        <p:txBody>
          <a:bodyPr/>
          <a:lstStyle/>
          <a:p>
            <a:pPr algn="l"/>
            <a:r>
              <a:rPr lang="en-US" sz="3200" dirty="0" smtClean="0">
                <a:solidFill>
                  <a:srgbClr val="0070C0"/>
                </a:solidFill>
              </a:rPr>
              <a:t>Pipelined execution: Load (cycle 2 – Dec)</a:t>
            </a:r>
          </a:p>
        </p:txBody>
      </p:sp>
    </p:spTree>
    <p:extLst>
      <p:ext uri="{BB962C8B-B14F-4D97-AF65-F5344CB8AC3E}">
        <p14:creationId xmlns:p14="http://schemas.microsoft.com/office/powerpoint/2010/main" val="275124943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  <p:extLst mod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762000" y="1166813"/>
            <a:ext cx="6240064" cy="661987"/>
            <a:chOff x="762000" y="1166813"/>
            <a:chExt cx="6240064" cy="661987"/>
          </a:xfrm>
        </p:grpSpPr>
        <p:sp>
          <p:nvSpPr>
            <p:cNvPr id="54277" name="Rectangle 268"/>
            <p:cNvSpPr>
              <a:spLocks noChangeArrowheads="1"/>
            </p:cNvSpPr>
            <p:nvPr/>
          </p:nvSpPr>
          <p:spPr bwMode="auto">
            <a:xfrm>
              <a:off x="865188" y="1543050"/>
              <a:ext cx="6070600" cy="2794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278" name="Rectangle 269"/>
            <p:cNvSpPr>
              <a:spLocks noChangeArrowheads="1"/>
            </p:cNvSpPr>
            <p:nvPr/>
          </p:nvSpPr>
          <p:spPr bwMode="auto">
            <a:xfrm>
              <a:off x="858838" y="1536700"/>
              <a:ext cx="1054100" cy="2921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279" name="Rectangle 270"/>
            <p:cNvSpPr>
              <a:spLocks noChangeArrowheads="1"/>
            </p:cNvSpPr>
            <p:nvPr/>
          </p:nvSpPr>
          <p:spPr bwMode="auto">
            <a:xfrm>
              <a:off x="1171575" y="1166813"/>
              <a:ext cx="429606" cy="36676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800" b="1" dirty="0">
                  <a:latin typeface="+mj-lt"/>
                </a:rPr>
                <a:t>op</a:t>
              </a:r>
              <a:endParaRPr lang="en-US" sz="1600" b="1" dirty="0">
                <a:latin typeface="+mj-lt"/>
              </a:endParaRPr>
            </a:p>
          </p:txBody>
        </p:sp>
        <p:sp>
          <p:nvSpPr>
            <p:cNvPr id="54280" name="Rectangle 271"/>
            <p:cNvSpPr>
              <a:spLocks noChangeArrowheads="1"/>
            </p:cNvSpPr>
            <p:nvPr/>
          </p:nvSpPr>
          <p:spPr bwMode="auto">
            <a:xfrm>
              <a:off x="1925638" y="1536700"/>
              <a:ext cx="977900" cy="2921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281" name="Rectangle 272"/>
            <p:cNvSpPr>
              <a:spLocks noChangeArrowheads="1"/>
            </p:cNvSpPr>
            <p:nvPr/>
          </p:nvSpPr>
          <p:spPr bwMode="auto">
            <a:xfrm>
              <a:off x="2209800" y="1166813"/>
              <a:ext cx="353046" cy="36676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800" b="1" dirty="0" err="1">
                  <a:latin typeface="+mj-lt"/>
                </a:rPr>
                <a:t>rs</a:t>
              </a:r>
              <a:endParaRPr lang="en-US" sz="1600" b="1" dirty="0">
                <a:latin typeface="+mj-lt"/>
              </a:endParaRPr>
            </a:p>
          </p:txBody>
        </p:sp>
        <p:sp>
          <p:nvSpPr>
            <p:cNvPr id="54282" name="Rectangle 273"/>
            <p:cNvSpPr>
              <a:spLocks noChangeArrowheads="1"/>
            </p:cNvSpPr>
            <p:nvPr/>
          </p:nvSpPr>
          <p:spPr bwMode="auto">
            <a:xfrm>
              <a:off x="2916238" y="1536700"/>
              <a:ext cx="977900" cy="2921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283" name="Rectangle 274"/>
            <p:cNvSpPr>
              <a:spLocks noChangeArrowheads="1"/>
            </p:cNvSpPr>
            <p:nvPr/>
          </p:nvSpPr>
          <p:spPr bwMode="auto">
            <a:xfrm>
              <a:off x="3200400" y="1166813"/>
              <a:ext cx="352662" cy="36676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800" b="1" dirty="0" err="1">
                  <a:latin typeface="+mj-lt"/>
                </a:rPr>
                <a:t>rt</a:t>
              </a:r>
              <a:endParaRPr lang="en-US" sz="1600" b="1" dirty="0">
                <a:latin typeface="+mj-lt"/>
              </a:endParaRPr>
            </a:p>
          </p:txBody>
        </p:sp>
        <p:sp>
          <p:nvSpPr>
            <p:cNvPr id="54284" name="Rectangle 275"/>
            <p:cNvSpPr>
              <a:spLocks noChangeArrowheads="1"/>
            </p:cNvSpPr>
            <p:nvPr/>
          </p:nvSpPr>
          <p:spPr bwMode="auto">
            <a:xfrm>
              <a:off x="3906838" y="1536700"/>
              <a:ext cx="3027362" cy="2921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285" name="Rectangle 276"/>
            <p:cNvSpPr>
              <a:spLocks noChangeArrowheads="1"/>
            </p:cNvSpPr>
            <p:nvPr/>
          </p:nvSpPr>
          <p:spPr bwMode="auto">
            <a:xfrm>
              <a:off x="4800600" y="1166813"/>
              <a:ext cx="1213346" cy="36676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800" b="1">
                  <a:latin typeface="+mj-lt"/>
                </a:rPr>
                <a:t>immediate</a:t>
              </a:r>
              <a:endParaRPr lang="en-US" sz="1600" b="1">
                <a:latin typeface="+mj-lt"/>
              </a:endParaRPr>
            </a:p>
          </p:txBody>
        </p:sp>
        <p:sp>
          <p:nvSpPr>
            <p:cNvPr id="54286" name="Rectangle 277"/>
            <p:cNvSpPr>
              <a:spLocks noChangeArrowheads="1"/>
            </p:cNvSpPr>
            <p:nvPr/>
          </p:nvSpPr>
          <p:spPr bwMode="auto">
            <a:xfrm>
              <a:off x="6715125" y="1225550"/>
              <a:ext cx="286939" cy="33598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600" dirty="0">
                  <a:latin typeface="+mj-lt"/>
                </a:rPr>
                <a:t>0</a:t>
              </a:r>
            </a:p>
          </p:txBody>
        </p:sp>
        <p:sp>
          <p:nvSpPr>
            <p:cNvPr id="54287" name="Rectangle 278"/>
            <p:cNvSpPr>
              <a:spLocks noChangeArrowheads="1"/>
            </p:cNvSpPr>
            <p:nvPr/>
          </p:nvSpPr>
          <p:spPr bwMode="auto">
            <a:xfrm>
              <a:off x="3581400" y="1225550"/>
              <a:ext cx="391134" cy="33598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600">
                  <a:latin typeface="+mj-lt"/>
                </a:rPr>
                <a:t>16</a:t>
              </a:r>
            </a:p>
          </p:txBody>
        </p:sp>
        <p:sp>
          <p:nvSpPr>
            <p:cNvPr id="54288" name="Rectangle 279"/>
            <p:cNvSpPr>
              <a:spLocks noChangeArrowheads="1"/>
            </p:cNvSpPr>
            <p:nvPr/>
          </p:nvSpPr>
          <p:spPr bwMode="auto">
            <a:xfrm>
              <a:off x="2590800" y="1225550"/>
              <a:ext cx="391134" cy="33598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600">
                  <a:latin typeface="+mj-lt"/>
                </a:rPr>
                <a:t>21</a:t>
              </a:r>
            </a:p>
          </p:txBody>
        </p:sp>
        <p:sp>
          <p:nvSpPr>
            <p:cNvPr id="54289" name="Rectangle 280"/>
            <p:cNvSpPr>
              <a:spLocks noChangeArrowheads="1"/>
            </p:cNvSpPr>
            <p:nvPr/>
          </p:nvSpPr>
          <p:spPr bwMode="auto">
            <a:xfrm>
              <a:off x="1600200" y="1225550"/>
              <a:ext cx="391134" cy="33598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600" dirty="0">
                  <a:latin typeface="+mj-lt"/>
                </a:rPr>
                <a:t>26</a:t>
              </a:r>
            </a:p>
          </p:txBody>
        </p:sp>
        <p:sp>
          <p:nvSpPr>
            <p:cNvPr id="54290" name="Rectangle 281"/>
            <p:cNvSpPr>
              <a:spLocks noChangeArrowheads="1"/>
            </p:cNvSpPr>
            <p:nvPr/>
          </p:nvSpPr>
          <p:spPr bwMode="auto">
            <a:xfrm>
              <a:off x="762000" y="1225550"/>
              <a:ext cx="391134" cy="33598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600" dirty="0">
                  <a:latin typeface="+mj-lt"/>
                </a:rPr>
                <a:t>31</a:t>
              </a:r>
            </a:p>
          </p:txBody>
        </p:sp>
        <p:sp>
          <p:nvSpPr>
            <p:cNvPr id="54291" name="Rectangle 282"/>
            <p:cNvSpPr>
              <a:spLocks noChangeArrowheads="1"/>
            </p:cNvSpPr>
            <p:nvPr/>
          </p:nvSpPr>
          <p:spPr bwMode="auto">
            <a:xfrm>
              <a:off x="2376488" y="1558925"/>
              <a:ext cx="104196" cy="246221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lg" len="med"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dirty="0">
                  <a:solidFill>
                    <a:srgbClr val="0070C0"/>
                  </a:solidFill>
                  <a:latin typeface="+mj-lt"/>
                </a:rPr>
                <a:t>2</a:t>
              </a:r>
              <a:endParaRPr lang="en-US" sz="1000" dirty="0">
                <a:solidFill>
                  <a:srgbClr val="0070C0"/>
                </a:solidFill>
                <a:latin typeface="+mj-lt"/>
              </a:endParaRPr>
            </a:p>
          </p:txBody>
        </p:sp>
        <p:sp>
          <p:nvSpPr>
            <p:cNvPr id="54292" name="Rectangle 283"/>
            <p:cNvSpPr>
              <a:spLocks noChangeArrowheads="1"/>
            </p:cNvSpPr>
            <p:nvPr/>
          </p:nvSpPr>
          <p:spPr bwMode="auto">
            <a:xfrm>
              <a:off x="3367088" y="1558925"/>
              <a:ext cx="104196" cy="246221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lg" len="med"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dirty="0">
                  <a:solidFill>
                    <a:srgbClr val="0070C0"/>
                  </a:solidFill>
                  <a:latin typeface="+mj-lt"/>
                </a:rPr>
                <a:t>1</a:t>
              </a:r>
              <a:endParaRPr lang="en-US" sz="1000" dirty="0">
                <a:solidFill>
                  <a:srgbClr val="0070C0"/>
                </a:solidFill>
                <a:latin typeface="+mj-lt"/>
              </a:endParaRPr>
            </a:p>
          </p:txBody>
        </p:sp>
        <p:sp>
          <p:nvSpPr>
            <p:cNvPr id="54293" name="Rectangle 284"/>
            <p:cNvSpPr>
              <a:spLocks noChangeArrowheads="1"/>
            </p:cNvSpPr>
            <p:nvPr/>
          </p:nvSpPr>
          <p:spPr bwMode="auto">
            <a:xfrm>
              <a:off x="5410200" y="1558925"/>
              <a:ext cx="208390" cy="246221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lg" len="med"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dirty="0">
                  <a:solidFill>
                    <a:srgbClr val="0070C0"/>
                  </a:solidFill>
                  <a:latin typeface="+mj-lt"/>
                </a:rPr>
                <a:t>30</a:t>
              </a:r>
              <a:endParaRPr lang="en-US" sz="1000" dirty="0">
                <a:solidFill>
                  <a:srgbClr val="0070C0"/>
                </a:solidFill>
                <a:latin typeface="+mj-lt"/>
              </a:endParaRPr>
            </a:p>
          </p:txBody>
        </p:sp>
        <p:sp>
          <p:nvSpPr>
            <p:cNvPr id="54294" name="Rectangle 285"/>
            <p:cNvSpPr>
              <a:spLocks noChangeArrowheads="1"/>
            </p:cNvSpPr>
            <p:nvPr/>
          </p:nvSpPr>
          <p:spPr bwMode="auto">
            <a:xfrm>
              <a:off x="1208088" y="1558925"/>
              <a:ext cx="263214" cy="246221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lg" len="med"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dirty="0">
                  <a:solidFill>
                    <a:srgbClr val="0070C0"/>
                  </a:solidFill>
                  <a:latin typeface="+mj-lt"/>
                </a:rPr>
                <a:t>LW</a:t>
              </a:r>
              <a:endParaRPr lang="en-US" sz="1000" dirty="0">
                <a:solidFill>
                  <a:srgbClr val="0070C0"/>
                </a:solidFill>
                <a:latin typeface="+mj-lt"/>
              </a:endParaRPr>
            </a:p>
          </p:txBody>
        </p:sp>
      </p:grpSp>
      <p:sp>
        <p:nvSpPr>
          <p:cNvPr id="54295" name="Rectangle 286"/>
          <p:cNvSpPr>
            <a:spLocks noChangeArrowheads="1"/>
          </p:cNvSpPr>
          <p:nvPr/>
        </p:nvSpPr>
        <p:spPr bwMode="auto">
          <a:xfrm>
            <a:off x="838200" y="762000"/>
            <a:ext cx="2112758" cy="40011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lg" len="med"/>
          </a:ln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  <a:latin typeface="+mj-lt"/>
              </a:rPr>
              <a:t>LW  R1, (</a:t>
            </a:r>
            <a:r>
              <a:rPr lang="en-US" sz="2000" dirty="0" smtClean="0">
                <a:solidFill>
                  <a:srgbClr val="0070C0"/>
                </a:solidFill>
                <a:latin typeface="+mj-lt"/>
              </a:rPr>
              <a:t>30)R2 ;     </a:t>
            </a:r>
            <a:endParaRPr lang="en-US" sz="2000" dirty="0">
              <a:solidFill>
                <a:srgbClr val="0070C0"/>
              </a:solidFill>
              <a:latin typeface="+mj-lt"/>
            </a:endParaRPr>
          </a:p>
        </p:txBody>
      </p:sp>
      <p:grpSp>
        <p:nvGrpSpPr>
          <p:cNvPr id="54275" name="Group 313"/>
          <p:cNvGrpSpPr>
            <a:grpSpLocks/>
          </p:cNvGrpSpPr>
          <p:nvPr/>
        </p:nvGrpSpPr>
        <p:grpSpPr bwMode="auto">
          <a:xfrm>
            <a:off x="152400" y="2057400"/>
            <a:ext cx="8690415" cy="4191001"/>
            <a:chOff x="360" y="1438"/>
            <a:chExt cx="4808" cy="2450"/>
          </a:xfrm>
        </p:grpSpPr>
        <p:sp>
          <p:nvSpPr>
            <p:cNvPr id="54297" name="Rectangle 137"/>
            <p:cNvSpPr>
              <a:spLocks noChangeArrowheads="1"/>
            </p:cNvSpPr>
            <p:nvPr/>
          </p:nvSpPr>
          <p:spPr bwMode="auto">
            <a:xfrm>
              <a:off x="720" y="2440"/>
              <a:ext cx="567" cy="582"/>
            </a:xfrm>
            <a:prstGeom prst="rect">
              <a:avLst/>
            </a:prstGeom>
            <a:solidFill>
              <a:srgbClr val="FFFFCC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298" name="Line 14"/>
            <p:cNvSpPr>
              <a:spLocks noChangeShapeType="1"/>
            </p:cNvSpPr>
            <p:nvPr/>
          </p:nvSpPr>
          <p:spPr bwMode="auto">
            <a:xfrm>
              <a:off x="588" y="2513"/>
              <a:ext cx="136" cy="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299" name="Line 15"/>
            <p:cNvSpPr>
              <a:spLocks noChangeShapeType="1"/>
            </p:cNvSpPr>
            <p:nvPr/>
          </p:nvSpPr>
          <p:spPr bwMode="auto">
            <a:xfrm flipH="1" flipV="1">
              <a:off x="1989" y="3197"/>
              <a:ext cx="34" cy="5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00" name="Rectangle 16"/>
            <p:cNvSpPr>
              <a:spLocks noChangeArrowheads="1"/>
            </p:cNvSpPr>
            <p:nvPr/>
          </p:nvSpPr>
          <p:spPr bwMode="auto">
            <a:xfrm>
              <a:off x="1915" y="3275"/>
              <a:ext cx="103" cy="1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algn="ctr"/>
              <a:endParaRPr lang="en-US" sz="600">
                <a:solidFill>
                  <a:srgbClr val="000000"/>
                </a:solidFill>
                <a:latin typeface="+mj-lt"/>
              </a:endParaRPr>
            </a:p>
            <a:p>
              <a:pPr algn="ctr"/>
              <a:endParaRPr lang="en-US" sz="6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301" name="Line 17"/>
            <p:cNvSpPr>
              <a:spLocks noChangeShapeType="1"/>
            </p:cNvSpPr>
            <p:nvPr/>
          </p:nvSpPr>
          <p:spPr bwMode="auto">
            <a:xfrm flipH="1" flipV="1">
              <a:off x="2338" y="3197"/>
              <a:ext cx="32" cy="5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02" name="Freeform 18"/>
            <p:cNvSpPr>
              <a:spLocks/>
            </p:cNvSpPr>
            <p:nvPr/>
          </p:nvSpPr>
          <p:spPr bwMode="auto">
            <a:xfrm>
              <a:off x="1810" y="2350"/>
              <a:ext cx="519" cy="612"/>
            </a:xfrm>
            <a:custGeom>
              <a:avLst/>
              <a:gdLst>
                <a:gd name="T0" fmla="*/ 518 w 519"/>
                <a:gd name="T1" fmla="*/ 611 h 541"/>
                <a:gd name="T2" fmla="*/ 518 w 519"/>
                <a:gd name="T3" fmla="*/ 0 h 541"/>
                <a:gd name="T4" fmla="*/ 0 w 519"/>
                <a:gd name="T5" fmla="*/ 0 h 541"/>
                <a:gd name="T6" fmla="*/ 0 w 519"/>
                <a:gd name="T7" fmla="*/ 611 h 541"/>
                <a:gd name="T8" fmla="*/ 518 w 519"/>
                <a:gd name="T9" fmla="*/ 611 h 541"/>
                <a:gd name="T10" fmla="*/ 518 w 519"/>
                <a:gd name="T11" fmla="*/ 611 h 5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19"/>
                <a:gd name="T19" fmla="*/ 0 h 541"/>
                <a:gd name="T20" fmla="*/ 519 w 519"/>
                <a:gd name="T21" fmla="*/ 541 h 54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19" h="541">
                  <a:moveTo>
                    <a:pt x="518" y="540"/>
                  </a:moveTo>
                  <a:lnTo>
                    <a:pt x="518" y="0"/>
                  </a:lnTo>
                  <a:lnTo>
                    <a:pt x="0" y="0"/>
                  </a:lnTo>
                  <a:lnTo>
                    <a:pt x="0" y="540"/>
                  </a:lnTo>
                  <a:lnTo>
                    <a:pt x="518" y="540"/>
                  </a:lnTo>
                </a:path>
              </a:pathLst>
            </a:custGeom>
            <a:solidFill>
              <a:srgbClr val="CCFFFF"/>
            </a:solidFill>
            <a:ln w="190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03" name="Rectangle 19"/>
            <p:cNvSpPr>
              <a:spLocks noChangeArrowheads="1"/>
            </p:cNvSpPr>
            <p:nvPr/>
          </p:nvSpPr>
          <p:spPr bwMode="auto">
            <a:xfrm>
              <a:off x="1885" y="2392"/>
              <a:ext cx="103" cy="1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algn="ctr"/>
              <a:endParaRPr lang="en-US" sz="600">
                <a:solidFill>
                  <a:srgbClr val="000000"/>
                </a:solidFill>
                <a:latin typeface="+mj-lt"/>
              </a:endParaRPr>
            </a:p>
            <a:p>
              <a:pPr algn="ctr"/>
              <a:endParaRPr lang="en-US" sz="6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304" name="Line 20"/>
            <p:cNvSpPr>
              <a:spLocks noChangeShapeType="1"/>
            </p:cNvSpPr>
            <p:nvPr/>
          </p:nvSpPr>
          <p:spPr bwMode="auto">
            <a:xfrm>
              <a:off x="1657" y="3225"/>
              <a:ext cx="434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05" name="Line 21"/>
            <p:cNvSpPr>
              <a:spLocks noChangeShapeType="1"/>
            </p:cNvSpPr>
            <p:nvPr/>
          </p:nvSpPr>
          <p:spPr bwMode="auto">
            <a:xfrm flipV="1">
              <a:off x="2302" y="3225"/>
              <a:ext cx="131" cy="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06" name="Freeform 22"/>
            <p:cNvSpPr>
              <a:spLocks/>
            </p:cNvSpPr>
            <p:nvPr/>
          </p:nvSpPr>
          <p:spPr bwMode="auto">
            <a:xfrm>
              <a:off x="1629" y="2679"/>
              <a:ext cx="24" cy="24"/>
            </a:xfrm>
            <a:custGeom>
              <a:avLst/>
              <a:gdLst>
                <a:gd name="T0" fmla="*/ 10 w 24"/>
                <a:gd name="T1" fmla="*/ 23 h 24"/>
                <a:gd name="T2" fmla="*/ 14 w 24"/>
                <a:gd name="T3" fmla="*/ 23 h 24"/>
                <a:gd name="T4" fmla="*/ 16 w 24"/>
                <a:gd name="T5" fmla="*/ 23 h 24"/>
                <a:gd name="T6" fmla="*/ 18 w 24"/>
                <a:gd name="T7" fmla="*/ 21 h 24"/>
                <a:gd name="T8" fmla="*/ 18 w 24"/>
                <a:gd name="T9" fmla="*/ 21 h 24"/>
                <a:gd name="T10" fmla="*/ 20 w 24"/>
                <a:gd name="T11" fmla="*/ 19 h 24"/>
                <a:gd name="T12" fmla="*/ 22 w 24"/>
                <a:gd name="T13" fmla="*/ 19 h 24"/>
                <a:gd name="T14" fmla="*/ 22 w 24"/>
                <a:gd name="T15" fmla="*/ 17 h 24"/>
                <a:gd name="T16" fmla="*/ 23 w 24"/>
                <a:gd name="T17" fmla="*/ 15 h 24"/>
                <a:gd name="T18" fmla="*/ 23 w 24"/>
                <a:gd name="T19" fmla="*/ 13 h 24"/>
                <a:gd name="T20" fmla="*/ 23 w 24"/>
                <a:gd name="T21" fmla="*/ 11 h 24"/>
                <a:gd name="T22" fmla="*/ 23 w 24"/>
                <a:gd name="T23" fmla="*/ 9 h 24"/>
                <a:gd name="T24" fmla="*/ 23 w 24"/>
                <a:gd name="T25" fmla="*/ 7 h 24"/>
                <a:gd name="T26" fmla="*/ 22 w 24"/>
                <a:gd name="T27" fmla="*/ 5 h 24"/>
                <a:gd name="T28" fmla="*/ 22 w 24"/>
                <a:gd name="T29" fmla="*/ 5 h 24"/>
                <a:gd name="T30" fmla="*/ 20 w 24"/>
                <a:gd name="T31" fmla="*/ 4 h 24"/>
                <a:gd name="T32" fmla="*/ 18 w 24"/>
                <a:gd name="T33" fmla="*/ 2 h 24"/>
                <a:gd name="T34" fmla="*/ 18 w 24"/>
                <a:gd name="T35" fmla="*/ 2 h 24"/>
                <a:gd name="T36" fmla="*/ 16 w 24"/>
                <a:gd name="T37" fmla="*/ 0 h 24"/>
                <a:gd name="T38" fmla="*/ 14 w 24"/>
                <a:gd name="T39" fmla="*/ 0 h 24"/>
                <a:gd name="T40" fmla="*/ 12 w 24"/>
                <a:gd name="T41" fmla="*/ 0 h 24"/>
                <a:gd name="T42" fmla="*/ 10 w 24"/>
                <a:gd name="T43" fmla="*/ 0 h 24"/>
                <a:gd name="T44" fmla="*/ 8 w 24"/>
                <a:gd name="T45" fmla="*/ 0 h 24"/>
                <a:gd name="T46" fmla="*/ 6 w 24"/>
                <a:gd name="T47" fmla="*/ 2 h 24"/>
                <a:gd name="T48" fmla="*/ 4 w 24"/>
                <a:gd name="T49" fmla="*/ 2 h 24"/>
                <a:gd name="T50" fmla="*/ 4 w 24"/>
                <a:gd name="T51" fmla="*/ 4 h 24"/>
                <a:gd name="T52" fmla="*/ 2 w 24"/>
                <a:gd name="T53" fmla="*/ 5 h 24"/>
                <a:gd name="T54" fmla="*/ 2 w 24"/>
                <a:gd name="T55" fmla="*/ 5 h 24"/>
                <a:gd name="T56" fmla="*/ 0 w 24"/>
                <a:gd name="T57" fmla="*/ 7 h 24"/>
                <a:gd name="T58" fmla="*/ 0 w 24"/>
                <a:gd name="T59" fmla="*/ 9 h 24"/>
                <a:gd name="T60" fmla="*/ 0 w 24"/>
                <a:gd name="T61" fmla="*/ 11 h 24"/>
                <a:gd name="T62" fmla="*/ 0 w 24"/>
                <a:gd name="T63" fmla="*/ 13 h 24"/>
                <a:gd name="T64" fmla="*/ 0 w 24"/>
                <a:gd name="T65" fmla="*/ 15 h 24"/>
                <a:gd name="T66" fmla="*/ 2 w 24"/>
                <a:gd name="T67" fmla="*/ 17 h 24"/>
                <a:gd name="T68" fmla="*/ 2 w 24"/>
                <a:gd name="T69" fmla="*/ 19 h 24"/>
                <a:gd name="T70" fmla="*/ 4 w 24"/>
                <a:gd name="T71" fmla="*/ 19 h 24"/>
                <a:gd name="T72" fmla="*/ 4 w 24"/>
                <a:gd name="T73" fmla="*/ 21 h 24"/>
                <a:gd name="T74" fmla="*/ 6 w 24"/>
                <a:gd name="T75" fmla="*/ 21 h 24"/>
                <a:gd name="T76" fmla="*/ 8 w 24"/>
                <a:gd name="T77" fmla="*/ 23 h 24"/>
                <a:gd name="T78" fmla="*/ 10 w 24"/>
                <a:gd name="T79" fmla="*/ 23 h 24"/>
                <a:gd name="T80" fmla="*/ 12 w 24"/>
                <a:gd name="T81" fmla="*/ 23 h 24"/>
                <a:gd name="T82" fmla="*/ 12 w 24"/>
                <a:gd name="T83" fmla="*/ 23 h 24"/>
                <a:gd name="T84" fmla="*/ 10 w 24"/>
                <a:gd name="T85" fmla="*/ 23 h 2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4"/>
                <a:gd name="T130" fmla="*/ 0 h 24"/>
                <a:gd name="T131" fmla="*/ 24 w 24"/>
                <a:gd name="T132" fmla="*/ 24 h 24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4" h="24">
                  <a:moveTo>
                    <a:pt x="10" y="23"/>
                  </a:moveTo>
                  <a:lnTo>
                    <a:pt x="14" y="23"/>
                  </a:lnTo>
                  <a:lnTo>
                    <a:pt x="16" y="23"/>
                  </a:lnTo>
                  <a:lnTo>
                    <a:pt x="18" y="21"/>
                  </a:lnTo>
                  <a:lnTo>
                    <a:pt x="20" y="19"/>
                  </a:lnTo>
                  <a:lnTo>
                    <a:pt x="22" y="19"/>
                  </a:lnTo>
                  <a:lnTo>
                    <a:pt x="22" y="17"/>
                  </a:lnTo>
                  <a:lnTo>
                    <a:pt x="23" y="15"/>
                  </a:lnTo>
                  <a:lnTo>
                    <a:pt x="23" y="13"/>
                  </a:lnTo>
                  <a:lnTo>
                    <a:pt x="23" y="11"/>
                  </a:lnTo>
                  <a:lnTo>
                    <a:pt x="23" y="9"/>
                  </a:lnTo>
                  <a:lnTo>
                    <a:pt x="23" y="7"/>
                  </a:lnTo>
                  <a:lnTo>
                    <a:pt x="22" y="5"/>
                  </a:lnTo>
                  <a:lnTo>
                    <a:pt x="20" y="4"/>
                  </a:lnTo>
                  <a:lnTo>
                    <a:pt x="18" y="2"/>
                  </a:lnTo>
                  <a:lnTo>
                    <a:pt x="16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8" y="0"/>
                  </a:lnTo>
                  <a:lnTo>
                    <a:pt x="6" y="2"/>
                  </a:lnTo>
                  <a:lnTo>
                    <a:pt x="4" y="2"/>
                  </a:lnTo>
                  <a:lnTo>
                    <a:pt x="4" y="4"/>
                  </a:lnTo>
                  <a:lnTo>
                    <a:pt x="2" y="5"/>
                  </a:lnTo>
                  <a:lnTo>
                    <a:pt x="0" y="7"/>
                  </a:lnTo>
                  <a:lnTo>
                    <a:pt x="0" y="9"/>
                  </a:lnTo>
                  <a:lnTo>
                    <a:pt x="0" y="11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2" y="17"/>
                  </a:lnTo>
                  <a:lnTo>
                    <a:pt x="2" y="19"/>
                  </a:lnTo>
                  <a:lnTo>
                    <a:pt x="4" y="19"/>
                  </a:lnTo>
                  <a:lnTo>
                    <a:pt x="4" y="21"/>
                  </a:lnTo>
                  <a:lnTo>
                    <a:pt x="6" y="21"/>
                  </a:lnTo>
                  <a:lnTo>
                    <a:pt x="8" y="23"/>
                  </a:lnTo>
                  <a:lnTo>
                    <a:pt x="10" y="23"/>
                  </a:lnTo>
                  <a:lnTo>
                    <a:pt x="12" y="23"/>
                  </a:lnTo>
                  <a:lnTo>
                    <a:pt x="10" y="23"/>
                  </a:lnTo>
                </a:path>
              </a:pathLst>
            </a:custGeom>
            <a:solidFill>
              <a:srgbClr val="000000"/>
            </a:solidFill>
            <a:ln w="9525" cap="rnd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07" name="Freeform 23"/>
            <p:cNvSpPr>
              <a:spLocks/>
            </p:cNvSpPr>
            <p:nvPr/>
          </p:nvSpPr>
          <p:spPr bwMode="auto">
            <a:xfrm>
              <a:off x="1629" y="2586"/>
              <a:ext cx="24" cy="24"/>
            </a:xfrm>
            <a:custGeom>
              <a:avLst/>
              <a:gdLst>
                <a:gd name="T0" fmla="*/ 10 w 24"/>
                <a:gd name="T1" fmla="*/ 23 h 24"/>
                <a:gd name="T2" fmla="*/ 14 w 24"/>
                <a:gd name="T3" fmla="*/ 23 h 24"/>
                <a:gd name="T4" fmla="*/ 16 w 24"/>
                <a:gd name="T5" fmla="*/ 23 h 24"/>
                <a:gd name="T6" fmla="*/ 18 w 24"/>
                <a:gd name="T7" fmla="*/ 21 h 24"/>
                <a:gd name="T8" fmla="*/ 18 w 24"/>
                <a:gd name="T9" fmla="*/ 21 h 24"/>
                <a:gd name="T10" fmla="*/ 20 w 24"/>
                <a:gd name="T11" fmla="*/ 19 h 24"/>
                <a:gd name="T12" fmla="*/ 22 w 24"/>
                <a:gd name="T13" fmla="*/ 19 h 24"/>
                <a:gd name="T14" fmla="*/ 22 w 24"/>
                <a:gd name="T15" fmla="*/ 17 h 24"/>
                <a:gd name="T16" fmla="*/ 23 w 24"/>
                <a:gd name="T17" fmla="*/ 15 h 24"/>
                <a:gd name="T18" fmla="*/ 23 w 24"/>
                <a:gd name="T19" fmla="*/ 13 h 24"/>
                <a:gd name="T20" fmla="*/ 23 w 24"/>
                <a:gd name="T21" fmla="*/ 11 h 24"/>
                <a:gd name="T22" fmla="*/ 23 w 24"/>
                <a:gd name="T23" fmla="*/ 9 h 24"/>
                <a:gd name="T24" fmla="*/ 23 w 24"/>
                <a:gd name="T25" fmla="*/ 7 h 24"/>
                <a:gd name="T26" fmla="*/ 22 w 24"/>
                <a:gd name="T27" fmla="*/ 5 h 24"/>
                <a:gd name="T28" fmla="*/ 22 w 24"/>
                <a:gd name="T29" fmla="*/ 5 h 24"/>
                <a:gd name="T30" fmla="*/ 20 w 24"/>
                <a:gd name="T31" fmla="*/ 4 h 24"/>
                <a:gd name="T32" fmla="*/ 18 w 24"/>
                <a:gd name="T33" fmla="*/ 2 h 24"/>
                <a:gd name="T34" fmla="*/ 18 w 24"/>
                <a:gd name="T35" fmla="*/ 2 h 24"/>
                <a:gd name="T36" fmla="*/ 16 w 24"/>
                <a:gd name="T37" fmla="*/ 0 h 24"/>
                <a:gd name="T38" fmla="*/ 14 w 24"/>
                <a:gd name="T39" fmla="*/ 0 h 24"/>
                <a:gd name="T40" fmla="*/ 12 w 24"/>
                <a:gd name="T41" fmla="*/ 0 h 24"/>
                <a:gd name="T42" fmla="*/ 10 w 24"/>
                <a:gd name="T43" fmla="*/ 0 h 24"/>
                <a:gd name="T44" fmla="*/ 8 w 24"/>
                <a:gd name="T45" fmla="*/ 0 h 24"/>
                <a:gd name="T46" fmla="*/ 6 w 24"/>
                <a:gd name="T47" fmla="*/ 2 h 24"/>
                <a:gd name="T48" fmla="*/ 4 w 24"/>
                <a:gd name="T49" fmla="*/ 2 h 24"/>
                <a:gd name="T50" fmla="*/ 4 w 24"/>
                <a:gd name="T51" fmla="*/ 4 h 24"/>
                <a:gd name="T52" fmla="*/ 2 w 24"/>
                <a:gd name="T53" fmla="*/ 5 h 24"/>
                <a:gd name="T54" fmla="*/ 2 w 24"/>
                <a:gd name="T55" fmla="*/ 5 h 24"/>
                <a:gd name="T56" fmla="*/ 0 w 24"/>
                <a:gd name="T57" fmla="*/ 7 h 24"/>
                <a:gd name="T58" fmla="*/ 0 w 24"/>
                <a:gd name="T59" fmla="*/ 9 h 24"/>
                <a:gd name="T60" fmla="*/ 0 w 24"/>
                <a:gd name="T61" fmla="*/ 11 h 24"/>
                <a:gd name="T62" fmla="*/ 0 w 24"/>
                <a:gd name="T63" fmla="*/ 13 h 24"/>
                <a:gd name="T64" fmla="*/ 0 w 24"/>
                <a:gd name="T65" fmla="*/ 15 h 24"/>
                <a:gd name="T66" fmla="*/ 2 w 24"/>
                <a:gd name="T67" fmla="*/ 17 h 24"/>
                <a:gd name="T68" fmla="*/ 2 w 24"/>
                <a:gd name="T69" fmla="*/ 19 h 24"/>
                <a:gd name="T70" fmla="*/ 4 w 24"/>
                <a:gd name="T71" fmla="*/ 19 h 24"/>
                <a:gd name="T72" fmla="*/ 4 w 24"/>
                <a:gd name="T73" fmla="*/ 21 h 24"/>
                <a:gd name="T74" fmla="*/ 6 w 24"/>
                <a:gd name="T75" fmla="*/ 21 h 24"/>
                <a:gd name="T76" fmla="*/ 8 w 24"/>
                <a:gd name="T77" fmla="*/ 23 h 24"/>
                <a:gd name="T78" fmla="*/ 10 w 24"/>
                <a:gd name="T79" fmla="*/ 23 h 24"/>
                <a:gd name="T80" fmla="*/ 12 w 24"/>
                <a:gd name="T81" fmla="*/ 23 h 24"/>
                <a:gd name="T82" fmla="*/ 12 w 24"/>
                <a:gd name="T83" fmla="*/ 23 h 24"/>
                <a:gd name="T84" fmla="*/ 10 w 24"/>
                <a:gd name="T85" fmla="*/ 23 h 2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4"/>
                <a:gd name="T130" fmla="*/ 0 h 24"/>
                <a:gd name="T131" fmla="*/ 24 w 24"/>
                <a:gd name="T132" fmla="*/ 24 h 24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4" h="24">
                  <a:moveTo>
                    <a:pt x="10" y="23"/>
                  </a:moveTo>
                  <a:lnTo>
                    <a:pt x="14" y="23"/>
                  </a:lnTo>
                  <a:lnTo>
                    <a:pt x="16" y="23"/>
                  </a:lnTo>
                  <a:lnTo>
                    <a:pt x="18" y="21"/>
                  </a:lnTo>
                  <a:lnTo>
                    <a:pt x="20" y="19"/>
                  </a:lnTo>
                  <a:lnTo>
                    <a:pt x="22" y="19"/>
                  </a:lnTo>
                  <a:lnTo>
                    <a:pt x="22" y="17"/>
                  </a:lnTo>
                  <a:lnTo>
                    <a:pt x="23" y="15"/>
                  </a:lnTo>
                  <a:lnTo>
                    <a:pt x="23" y="13"/>
                  </a:lnTo>
                  <a:lnTo>
                    <a:pt x="23" y="11"/>
                  </a:lnTo>
                  <a:lnTo>
                    <a:pt x="23" y="9"/>
                  </a:lnTo>
                  <a:lnTo>
                    <a:pt x="23" y="7"/>
                  </a:lnTo>
                  <a:lnTo>
                    <a:pt x="22" y="5"/>
                  </a:lnTo>
                  <a:lnTo>
                    <a:pt x="20" y="4"/>
                  </a:lnTo>
                  <a:lnTo>
                    <a:pt x="18" y="2"/>
                  </a:lnTo>
                  <a:lnTo>
                    <a:pt x="16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8" y="0"/>
                  </a:lnTo>
                  <a:lnTo>
                    <a:pt x="6" y="2"/>
                  </a:lnTo>
                  <a:lnTo>
                    <a:pt x="4" y="2"/>
                  </a:lnTo>
                  <a:lnTo>
                    <a:pt x="4" y="4"/>
                  </a:lnTo>
                  <a:lnTo>
                    <a:pt x="2" y="5"/>
                  </a:lnTo>
                  <a:lnTo>
                    <a:pt x="0" y="7"/>
                  </a:lnTo>
                  <a:lnTo>
                    <a:pt x="0" y="9"/>
                  </a:lnTo>
                  <a:lnTo>
                    <a:pt x="0" y="11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2" y="17"/>
                  </a:lnTo>
                  <a:lnTo>
                    <a:pt x="2" y="19"/>
                  </a:lnTo>
                  <a:lnTo>
                    <a:pt x="4" y="19"/>
                  </a:lnTo>
                  <a:lnTo>
                    <a:pt x="4" y="21"/>
                  </a:lnTo>
                  <a:lnTo>
                    <a:pt x="6" y="21"/>
                  </a:lnTo>
                  <a:lnTo>
                    <a:pt x="8" y="23"/>
                  </a:lnTo>
                  <a:lnTo>
                    <a:pt x="10" y="23"/>
                  </a:lnTo>
                  <a:lnTo>
                    <a:pt x="12" y="23"/>
                  </a:lnTo>
                  <a:lnTo>
                    <a:pt x="10" y="23"/>
                  </a:lnTo>
                </a:path>
              </a:pathLst>
            </a:custGeom>
            <a:solidFill>
              <a:srgbClr val="000000"/>
            </a:solidFill>
            <a:ln w="9525" cap="rnd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08" name="Freeform 24"/>
            <p:cNvSpPr>
              <a:spLocks/>
            </p:cNvSpPr>
            <p:nvPr/>
          </p:nvSpPr>
          <p:spPr bwMode="auto">
            <a:xfrm>
              <a:off x="1629" y="3432"/>
              <a:ext cx="24" cy="24"/>
            </a:xfrm>
            <a:custGeom>
              <a:avLst/>
              <a:gdLst>
                <a:gd name="T0" fmla="*/ 10 w 24"/>
                <a:gd name="T1" fmla="*/ 23 h 24"/>
                <a:gd name="T2" fmla="*/ 14 w 24"/>
                <a:gd name="T3" fmla="*/ 23 h 24"/>
                <a:gd name="T4" fmla="*/ 16 w 24"/>
                <a:gd name="T5" fmla="*/ 23 h 24"/>
                <a:gd name="T6" fmla="*/ 16 w 24"/>
                <a:gd name="T7" fmla="*/ 21 h 24"/>
                <a:gd name="T8" fmla="*/ 18 w 24"/>
                <a:gd name="T9" fmla="*/ 21 h 24"/>
                <a:gd name="T10" fmla="*/ 20 w 24"/>
                <a:gd name="T11" fmla="*/ 19 h 24"/>
                <a:gd name="T12" fmla="*/ 22 w 24"/>
                <a:gd name="T13" fmla="*/ 18 h 24"/>
                <a:gd name="T14" fmla="*/ 22 w 24"/>
                <a:gd name="T15" fmla="*/ 18 h 24"/>
                <a:gd name="T16" fmla="*/ 22 w 24"/>
                <a:gd name="T17" fmla="*/ 16 h 24"/>
                <a:gd name="T18" fmla="*/ 23 w 24"/>
                <a:gd name="T19" fmla="*/ 14 h 24"/>
                <a:gd name="T20" fmla="*/ 23 w 24"/>
                <a:gd name="T21" fmla="*/ 12 h 24"/>
                <a:gd name="T22" fmla="*/ 23 w 24"/>
                <a:gd name="T23" fmla="*/ 10 h 24"/>
                <a:gd name="T24" fmla="*/ 22 w 24"/>
                <a:gd name="T25" fmla="*/ 8 h 24"/>
                <a:gd name="T26" fmla="*/ 22 w 24"/>
                <a:gd name="T27" fmla="*/ 6 h 24"/>
                <a:gd name="T28" fmla="*/ 22 w 24"/>
                <a:gd name="T29" fmla="*/ 4 h 24"/>
                <a:gd name="T30" fmla="*/ 20 w 24"/>
                <a:gd name="T31" fmla="*/ 4 h 24"/>
                <a:gd name="T32" fmla="*/ 18 w 24"/>
                <a:gd name="T33" fmla="*/ 2 h 24"/>
                <a:gd name="T34" fmla="*/ 16 w 24"/>
                <a:gd name="T35" fmla="*/ 2 h 24"/>
                <a:gd name="T36" fmla="*/ 16 w 24"/>
                <a:gd name="T37" fmla="*/ 0 h 24"/>
                <a:gd name="T38" fmla="*/ 14 w 24"/>
                <a:gd name="T39" fmla="*/ 0 h 24"/>
                <a:gd name="T40" fmla="*/ 12 w 24"/>
                <a:gd name="T41" fmla="*/ 0 h 24"/>
                <a:gd name="T42" fmla="*/ 10 w 24"/>
                <a:gd name="T43" fmla="*/ 0 h 24"/>
                <a:gd name="T44" fmla="*/ 8 w 24"/>
                <a:gd name="T45" fmla="*/ 0 h 24"/>
                <a:gd name="T46" fmla="*/ 6 w 24"/>
                <a:gd name="T47" fmla="*/ 2 h 24"/>
                <a:gd name="T48" fmla="*/ 4 w 24"/>
                <a:gd name="T49" fmla="*/ 2 h 24"/>
                <a:gd name="T50" fmla="*/ 2 w 24"/>
                <a:gd name="T51" fmla="*/ 4 h 24"/>
                <a:gd name="T52" fmla="*/ 2 w 24"/>
                <a:gd name="T53" fmla="*/ 4 h 24"/>
                <a:gd name="T54" fmla="*/ 0 w 24"/>
                <a:gd name="T55" fmla="*/ 6 h 24"/>
                <a:gd name="T56" fmla="*/ 0 w 24"/>
                <a:gd name="T57" fmla="*/ 8 h 24"/>
                <a:gd name="T58" fmla="*/ 0 w 24"/>
                <a:gd name="T59" fmla="*/ 10 h 24"/>
                <a:gd name="T60" fmla="*/ 0 w 24"/>
                <a:gd name="T61" fmla="*/ 12 h 24"/>
                <a:gd name="T62" fmla="*/ 0 w 24"/>
                <a:gd name="T63" fmla="*/ 14 h 24"/>
                <a:gd name="T64" fmla="*/ 0 w 24"/>
                <a:gd name="T65" fmla="*/ 16 h 24"/>
                <a:gd name="T66" fmla="*/ 0 w 24"/>
                <a:gd name="T67" fmla="*/ 18 h 24"/>
                <a:gd name="T68" fmla="*/ 2 w 24"/>
                <a:gd name="T69" fmla="*/ 18 h 24"/>
                <a:gd name="T70" fmla="*/ 2 w 24"/>
                <a:gd name="T71" fmla="*/ 19 h 24"/>
                <a:gd name="T72" fmla="*/ 4 w 24"/>
                <a:gd name="T73" fmla="*/ 21 h 24"/>
                <a:gd name="T74" fmla="*/ 6 w 24"/>
                <a:gd name="T75" fmla="*/ 21 h 24"/>
                <a:gd name="T76" fmla="*/ 8 w 24"/>
                <a:gd name="T77" fmla="*/ 23 h 24"/>
                <a:gd name="T78" fmla="*/ 10 w 24"/>
                <a:gd name="T79" fmla="*/ 23 h 24"/>
                <a:gd name="T80" fmla="*/ 12 w 24"/>
                <a:gd name="T81" fmla="*/ 23 h 24"/>
                <a:gd name="T82" fmla="*/ 12 w 24"/>
                <a:gd name="T83" fmla="*/ 23 h 24"/>
                <a:gd name="T84" fmla="*/ 10 w 24"/>
                <a:gd name="T85" fmla="*/ 23 h 2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4"/>
                <a:gd name="T130" fmla="*/ 0 h 24"/>
                <a:gd name="T131" fmla="*/ 24 w 24"/>
                <a:gd name="T132" fmla="*/ 24 h 24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4" h="24">
                  <a:moveTo>
                    <a:pt x="10" y="23"/>
                  </a:moveTo>
                  <a:lnTo>
                    <a:pt x="14" y="23"/>
                  </a:lnTo>
                  <a:lnTo>
                    <a:pt x="16" y="23"/>
                  </a:lnTo>
                  <a:lnTo>
                    <a:pt x="16" y="21"/>
                  </a:lnTo>
                  <a:lnTo>
                    <a:pt x="18" y="21"/>
                  </a:lnTo>
                  <a:lnTo>
                    <a:pt x="20" y="19"/>
                  </a:lnTo>
                  <a:lnTo>
                    <a:pt x="22" y="18"/>
                  </a:lnTo>
                  <a:lnTo>
                    <a:pt x="22" y="16"/>
                  </a:lnTo>
                  <a:lnTo>
                    <a:pt x="23" y="14"/>
                  </a:lnTo>
                  <a:lnTo>
                    <a:pt x="23" y="12"/>
                  </a:lnTo>
                  <a:lnTo>
                    <a:pt x="23" y="10"/>
                  </a:lnTo>
                  <a:lnTo>
                    <a:pt x="22" y="8"/>
                  </a:lnTo>
                  <a:lnTo>
                    <a:pt x="22" y="6"/>
                  </a:lnTo>
                  <a:lnTo>
                    <a:pt x="22" y="4"/>
                  </a:lnTo>
                  <a:lnTo>
                    <a:pt x="20" y="4"/>
                  </a:lnTo>
                  <a:lnTo>
                    <a:pt x="18" y="2"/>
                  </a:lnTo>
                  <a:lnTo>
                    <a:pt x="16" y="2"/>
                  </a:lnTo>
                  <a:lnTo>
                    <a:pt x="16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8" y="0"/>
                  </a:lnTo>
                  <a:lnTo>
                    <a:pt x="6" y="2"/>
                  </a:lnTo>
                  <a:lnTo>
                    <a:pt x="4" y="2"/>
                  </a:lnTo>
                  <a:lnTo>
                    <a:pt x="2" y="4"/>
                  </a:lnTo>
                  <a:lnTo>
                    <a:pt x="0" y="6"/>
                  </a:lnTo>
                  <a:lnTo>
                    <a:pt x="0" y="8"/>
                  </a:lnTo>
                  <a:lnTo>
                    <a:pt x="0" y="10"/>
                  </a:lnTo>
                  <a:lnTo>
                    <a:pt x="0" y="12"/>
                  </a:lnTo>
                  <a:lnTo>
                    <a:pt x="0" y="14"/>
                  </a:lnTo>
                  <a:lnTo>
                    <a:pt x="0" y="16"/>
                  </a:lnTo>
                  <a:lnTo>
                    <a:pt x="0" y="18"/>
                  </a:lnTo>
                  <a:lnTo>
                    <a:pt x="2" y="18"/>
                  </a:lnTo>
                  <a:lnTo>
                    <a:pt x="2" y="19"/>
                  </a:lnTo>
                  <a:lnTo>
                    <a:pt x="4" y="21"/>
                  </a:lnTo>
                  <a:lnTo>
                    <a:pt x="6" y="21"/>
                  </a:lnTo>
                  <a:lnTo>
                    <a:pt x="8" y="23"/>
                  </a:lnTo>
                  <a:lnTo>
                    <a:pt x="10" y="23"/>
                  </a:lnTo>
                  <a:lnTo>
                    <a:pt x="12" y="23"/>
                  </a:lnTo>
                  <a:lnTo>
                    <a:pt x="10" y="23"/>
                  </a:lnTo>
                </a:path>
              </a:pathLst>
            </a:custGeom>
            <a:solidFill>
              <a:srgbClr val="000000"/>
            </a:solidFill>
            <a:ln w="9525" cap="rnd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09" name="Line 25"/>
            <p:cNvSpPr>
              <a:spLocks noChangeShapeType="1"/>
            </p:cNvSpPr>
            <p:nvPr/>
          </p:nvSpPr>
          <p:spPr bwMode="auto">
            <a:xfrm>
              <a:off x="1449" y="2687"/>
              <a:ext cx="198" cy="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10" name="Line 26"/>
            <p:cNvSpPr>
              <a:spLocks noChangeShapeType="1"/>
            </p:cNvSpPr>
            <p:nvPr/>
          </p:nvSpPr>
          <p:spPr bwMode="auto">
            <a:xfrm flipV="1">
              <a:off x="1657" y="3441"/>
              <a:ext cx="776" cy="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11" name="Line 27"/>
            <p:cNvSpPr>
              <a:spLocks noChangeShapeType="1"/>
            </p:cNvSpPr>
            <p:nvPr/>
          </p:nvSpPr>
          <p:spPr bwMode="auto">
            <a:xfrm flipH="1">
              <a:off x="1447" y="2024"/>
              <a:ext cx="986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12" name="Freeform 28"/>
            <p:cNvSpPr>
              <a:spLocks/>
            </p:cNvSpPr>
            <p:nvPr/>
          </p:nvSpPr>
          <p:spPr bwMode="auto">
            <a:xfrm>
              <a:off x="4704" y="1917"/>
              <a:ext cx="93" cy="1777"/>
            </a:xfrm>
            <a:custGeom>
              <a:avLst/>
              <a:gdLst>
                <a:gd name="T0" fmla="*/ 92 w 93"/>
                <a:gd name="T1" fmla="*/ 1776 h 1777"/>
                <a:gd name="T2" fmla="*/ 92 w 93"/>
                <a:gd name="T3" fmla="*/ 0 h 1777"/>
                <a:gd name="T4" fmla="*/ 0 w 93"/>
                <a:gd name="T5" fmla="*/ 0 h 1777"/>
                <a:gd name="T6" fmla="*/ 0 w 93"/>
                <a:gd name="T7" fmla="*/ 1776 h 1777"/>
                <a:gd name="T8" fmla="*/ 92 w 93"/>
                <a:gd name="T9" fmla="*/ 1776 h 1777"/>
                <a:gd name="T10" fmla="*/ 92 w 93"/>
                <a:gd name="T11" fmla="*/ 1776 h 177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3"/>
                <a:gd name="T19" fmla="*/ 0 h 1777"/>
                <a:gd name="T20" fmla="*/ 93 w 93"/>
                <a:gd name="T21" fmla="*/ 1777 h 177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3" h="1777">
                  <a:moveTo>
                    <a:pt x="92" y="1776"/>
                  </a:moveTo>
                  <a:lnTo>
                    <a:pt x="92" y="0"/>
                  </a:lnTo>
                  <a:lnTo>
                    <a:pt x="0" y="0"/>
                  </a:lnTo>
                  <a:lnTo>
                    <a:pt x="0" y="1776"/>
                  </a:lnTo>
                  <a:lnTo>
                    <a:pt x="92" y="1776"/>
                  </a:lnTo>
                </a:path>
              </a:pathLst>
            </a:custGeom>
            <a:solidFill>
              <a:srgbClr val="CCECFF"/>
            </a:solidFill>
            <a:ln w="190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13" name="Freeform 29"/>
            <p:cNvSpPr>
              <a:spLocks/>
            </p:cNvSpPr>
            <p:nvPr/>
          </p:nvSpPr>
          <p:spPr bwMode="auto">
            <a:xfrm>
              <a:off x="2436" y="1917"/>
              <a:ext cx="93" cy="1777"/>
            </a:xfrm>
            <a:custGeom>
              <a:avLst/>
              <a:gdLst>
                <a:gd name="T0" fmla="*/ 92 w 93"/>
                <a:gd name="T1" fmla="*/ 1776 h 1777"/>
                <a:gd name="T2" fmla="*/ 92 w 93"/>
                <a:gd name="T3" fmla="*/ 0 h 1777"/>
                <a:gd name="T4" fmla="*/ 0 w 93"/>
                <a:gd name="T5" fmla="*/ 0 h 1777"/>
                <a:gd name="T6" fmla="*/ 0 w 93"/>
                <a:gd name="T7" fmla="*/ 1776 h 1777"/>
                <a:gd name="T8" fmla="*/ 92 w 93"/>
                <a:gd name="T9" fmla="*/ 1776 h 1777"/>
                <a:gd name="T10" fmla="*/ 92 w 93"/>
                <a:gd name="T11" fmla="*/ 1776 h 177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3"/>
                <a:gd name="T19" fmla="*/ 0 h 1777"/>
                <a:gd name="T20" fmla="*/ 93 w 93"/>
                <a:gd name="T21" fmla="*/ 1777 h 177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3" h="1777">
                  <a:moveTo>
                    <a:pt x="92" y="1776"/>
                  </a:moveTo>
                  <a:lnTo>
                    <a:pt x="92" y="0"/>
                  </a:lnTo>
                  <a:lnTo>
                    <a:pt x="0" y="0"/>
                  </a:lnTo>
                  <a:lnTo>
                    <a:pt x="0" y="1776"/>
                  </a:lnTo>
                  <a:lnTo>
                    <a:pt x="92" y="1776"/>
                  </a:lnTo>
                </a:path>
              </a:pathLst>
            </a:custGeom>
            <a:solidFill>
              <a:srgbClr val="CCECFF"/>
            </a:solidFill>
            <a:ln w="190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14" name="Line 30"/>
            <p:cNvSpPr>
              <a:spLocks noChangeShapeType="1"/>
            </p:cNvSpPr>
            <p:nvPr/>
          </p:nvSpPr>
          <p:spPr bwMode="auto">
            <a:xfrm flipV="1">
              <a:off x="2826" y="3695"/>
              <a:ext cx="0" cy="50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15" name="Line 31"/>
            <p:cNvSpPr>
              <a:spLocks noChangeShapeType="1"/>
            </p:cNvSpPr>
            <p:nvPr/>
          </p:nvSpPr>
          <p:spPr bwMode="auto">
            <a:xfrm>
              <a:off x="2855" y="2626"/>
              <a:ext cx="2" cy="54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16" name="Line 32"/>
            <p:cNvSpPr>
              <a:spLocks noChangeShapeType="1"/>
            </p:cNvSpPr>
            <p:nvPr/>
          </p:nvSpPr>
          <p:spPr bwMode="auto">
            <a:xfrm flipV="1">
              <a:off x="3006" y="3406"/>
              <a:ext cx="0" cy="52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17" name="Line 33"/>
            <p:cNvSpPr>
              <a:spLocks noChangeShapeType="1"/>
            </p:cNvSpPr>
            <p:nvPr/>
          </p:nvSpPr>
          <p:spPr bwMode="auto">
            <a:xfrm flipV="1">
              <a:off x="3364" y="2633"/>
              <a:ext cx="215" cy="2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18" name="Freeform 34"/>
            <p:cNvSpPr>
              <a:spLocks/>
            </p:cNvSpPr>
            <p:nvPr/>
          </p:nvSpPr>
          <p:spPr bwMode="auto">
            <a:xfrm>
              <a:off x="2877" y="3055"/>
              <a:ext cx="245" cy="345"/>
            </a:xfrm>
            <a:custGeom>
              <a:avLst/>
              <a:gdLst>
                <a:gd name="T0" fmla="*/ 123 w 174"/>
                <a:gd name="T1" fmla="*/ 344 h 367"/>
                <a:gd name="T2" fmla="*/ 144 w 174"/>
                <a:gd name="T3" fmla="*/ 342 h 367"/>
                <a:gd name="T4" fmla="*/ 162 w 174"/>
                <a:gd name="T5" fmla="*/ 336 h 367"/>
                <a:gd name="T6" fmla="*/ 179 w 174"/>
                <a:gd name="T7" fmla="*/ 324 h 367"/>
                <a:gd name="T8" fmla="*/ 194 w 174"/>
                <a:gd name="T9" fmla="*/ 312 h 367"/>
                <a:gd name="T10" fmla="*/ 208 w 174"/>
                <a:gd name="T11" fmla="*/ 294 h 367"/>
                <a:gd name="T12" fmla="*/ 221 w 174"/>
                <a:gd name="T13" fmla="*/ 274 h 367"/>
                <a:gd name="T14" fmla="*/ 230 w 174"/>
                <a:gd name="T15" fmla="*/ 251 h 367"/>
                <a:gd name="T16" fmla="*/ 238 w 174"/>
                <a:gd name="T17" fmla="*/ 227 h 367"/>
                <a:gd name="T18" fmla="*/ 244 w 174"/>
                <a:gd name="T19" fmla="*/ 200 h 367"/>
                <a:gd name="T20" fmla="*/ 244 w 174"/>
                <a:gd name="T21" fmla="*/ 171 h 367"/>
                <a:gd name="T22" fmla="*/ 244 w 174"/>
                <a:gd name="T23" fmla="*/ 145 h 367"/>
                <a:gd name="T24" fmla="*/ 238 w 174"/>
                <a:gd name="T25" fmla="*/ 118 h 367"/>
                <a:gd name="T26" fmla="*/ 230 w 174"/>
                <a:gd name="T27" fmla="*/ 92 h 367"/>
                <a:gd name="T28" fmla="*/ 221 w 174"/>
                <a:gd name="T29" fmla="*/ 71 h 367"/>
                <a:gd name="T30" fmla="*/ 208 w 174"/>
                <a:gd name="T31" fmla="*/ 51 h 367"/>
                <a:gd name="T32" fmla="*/ 194 w 174"/>
                <a:gd name="T33" fmla="*/ 33 h 367"/>
                <a:gd name="T34" fmla="*/ 179 w 174"/>
                <a:gd name="T35" fmla="*/ 19 h 367"/>
                <a:gd name="T36" fmla="*/ 162 w 174"/>
                <a:gd name="T37" fmla="*/ 8 h 367"/>
                <a:gd name="T38" fmla="*/ 144 w 174"/>
                <a:gd name="T39" fmla="*/ 2 h 367"/>
                <a:gd name="T40" fmla="*/ 123 w 174"/>
                <a:gd name="T41" fmla="*/ 0 h 367"/>
                <a:gd name="T42" fmla="*/ 103 w 174"/>
                <a:gd name="T43" fmla="*/ 2 h 367"/>
                <a:gd name="T44" fmla="*/ 84 w 174"/>
                <a:gd name="T45" fmla="*/ 8 h 367"/>
                <a:gd name="T46" fmla="*/ 68 w 174"/>
                <a:gd name="T47" fmla="*/ 19 h 367"/>
                <a:gd name="T48" fmla="*/ 52 w 174"/>
                <a:gd name="T49" fmla="*/ 33 h 367"/>
                <a:gd name="T50" fmla="*/ 38 w 174"/>
                <a:gd name="T51" fmla="*/ 51 h 367"/>
                <a:gd name="T52" fmla="*/ 24 w 174"/>
                <a:gd name="T53" fmla="*/ 71 h 367"/>
                <a:gd name="T54" fmla="*/ 14 w 174"/>
                <a:gd name="T55" fmla="*/ 92 h 367"/>
                <a:gd name="T56" fmla="*/ 8 w 174"/>
                <a:gd name="T57" fmla="*/ 118 h 367"/>
                <a:gd name="T58" fmla="*/ 3 w 174"/>
                <a:gd name="T59" fmla="*/ 145 h 367"/>
                <a:gd name="T60" fmla="*/ 0 w 174"/>
                <a:gd name="T61" fmla="*/ 171 h 367"/>
                <a:gd name="T62" fmla="*/ 3 w 174"/>
                <a:gd name="T63" fmla="*/ 200 h 367"/>
                <a:gd name="T64" fmla="*/ 8 w 174"/>
                <a:gd name="T65" fmla="*/ 227 h 367"/>
                <a:gd name="T66" fmla="*/ 14 w 174"/>
                <a:gd name="T67" fmla="*/ 251 h 367"/>
                <a:gd name="T68" fmla="*/ 24 w 174"/>
                <a:gd name="T69" fmla="*/ 274 h 367"/>
                <a:gd name="T70" fmla="*/ 38 w 174"/>
                <a:gd name="T71" fmla="*/ 294 h 367"/>
                <a:gd name="T72" fmla="*/ 52 w 174"/>
                <a:gd name="T73" fmla="*/ 312 h 367"/>
                <a:gd name="T74" fmla="*/ 68 w 174"/>
                <a:gd name="T75" fmla="*/ 324 h 367"/>
                <a:gd name="T76" fmla="*/ 84 w 174"/>
                <a:gd name="T77" fmla="*/ 336 h 367"/>
                <a:gd name="T78" fmla="*/ 103 w 174"/>
                <a:gd name="T79" fmla="*/ 342 h 367"/>
                <a:gd name="T80" fmla="*/ 123 w 174"/>
                <a:gd name="T81" fmla="*/ 344 h 367"/>
                <a:gd name="T82" fmla="*/ 123 w 174"/>
                <a:gd name="T83" fmla="*/ 344 h 367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174"/>
                <a:gd name="T127" fmla="*/ 0 h 367"/>
                <a:gd name="T128" fmla="*/ 174 w 174"/>
                <a:gd name="T129" fmla="*/ 367 h 367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174" h="367">
                  <a:moveTo>
                    <a:pt x="87" y="366"/>
                  </a:moveTo>
                  <a:lnTo>
                    <a:pt x="102" y="364"/>
                  </a:lnTo>
                  <a:lnTo>
                    <a:pt x="115" y="357"/>
                  </a:lnTo>
                  <a:lnTo>
                    <a:pt x="127" y="345"/>
                  </a:lnTo>
                  <a:lnTo>
                    <a:pt x="138" y="332"/>
                  </a:lnTo>
                  <a:lnTo>
                    <a:pt x="148" y="313"/>
                  </a:lnTo>
                  <a:lnTo>
                    <a:pt x="157" y="292"/>
                  </a:lnTo>
                  <a:lnTo>
                    <a:pt x="163" y="267"/>
                  </a:lnTo>
                  <a:lnTo>
                    <a:pt x="169" y="242"/>
                  </a:lnTo>
                  <a:lnTo>
                    <a:pt x="173" y="213"/>
                  </a:lnTo>
                  <a:lnTo>
                    <a:pt x="173" y="182"/>
                  </a:lnTo>
                  <a:lnTo>
                    <a:pt x="173" y="154"/>
                  </a:lnTo>
                  <a:lnTo>
                    <a:pt x="169" y="125"/>
                  </a:lnTo>
                  <a:lnTo>
                    <a:pt x="163" y="98"/>
                  </a:lnTo>
                  <a:lnTo>
                    <a:pt x="157" y="75"/>
                  </a:lnTo>
                  <a:lnTo>
                    <a:pt x="148" y="54"/>
                  </a:lnTo>
                  <a:lnTo>
                    <a:pt x="138" y="35"/>
                  </a:lnTo>
                  <a:lnTo>
                    <a:pt x="127" y="20"/>
                  </a:lnTo>
                  <a:lnTo>
                    <a:pt x="115" y="8"/>
                  </a:lnTo>
                  <a:lnTo>
                    <a:pt x="102" y="2"/>
                  </a:lnTo>
                  <a:lnTo>
                    <a:pt x="87" y="0"/>
                  </a:lnTo>
                  <a:lnTo>
                    <a:pt x="73" y="2"/>
                  </a:lnTo>
                  <a:lnTo>
                    <a:pt x="60" y="8"/>
                  </a:lnTo>
                  <a:lnTo>
                    <a:pt x="48" y="20"/>
                  </a:lnTo>
                  <a:lnTo>
                    <a:pt x="37" y="35"/>
                  </a:lnTo>
                  <a:lnTo>
                    <a:pt x="27" y="54"/>
                  </a:lnTo>
                  <a:lnTo>
                    <a:pt x="17" y="75"/>
                  </a:lnTo>
                  <a:lnTo>
                    <a:pt x="10" y="98"/>
                  </a:lnTo>
                  <a:lnTo>
                    <a:pt x="6" y="125"/>
                  </a:lnTo>
                  <a:lnTo>
                    <a:pt x="2" y="154"/>
                  </a:lnTo>
                  <a:lnTo>
                    <a:pt x="0" y="182"/>
                  </a:lnTo>
                  <a:lnTo>
                    <a:pt x="2" y="213"/>
                  </a:lnTo>
                  <a:lnTo>
                    <a:pt x="6" y="242"/>
                  </a:lnTo>
                  <a:lnTo>
                    <a:pt x="10" y="267"/>
                  </a:lnTo>
                  <a:lnTo>
                    <a:pt x="17" y="292"/>
                  </a:lnTo>
                  <a:lnTo>
                    <a:pt x="27" y="313"/>
                  </a:lnTo>
                  <a:lnTo>
                    <a:pt x="37" y="332"/>
                  </a:lnTo>
                  <a:lnTo>
                    <a:pt x="48" y="345"/>
                  </a:lnTo>
                  <a:lnTo>
                    <a:pt x="60" y="357"/>
                  </a:lnTo>
                  <a:lnTo>
                    <a:pt x="73" y="364"/>
                  </a:lnTo>
                  <a:lnTo>
                    <a:pt x="87" y="366"/>
                  </a:lnTo>
                </a:path>
              </a:pathLst>
            </a:custGeom>
            <a:noFill/>
            <a:ln w="19050" cap="rnd" cmpd="sng">
              <a:solidFill>
                <a:srgbClr val="EB75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19" name="Line 35"/>
            <p:cNvSpPr>
              <a:spLocks noChangeShapeType="1"/>
            </p:cNvSpPr>
            <p:nvPr/>
          </p:nvSpPr>
          <p:spPr bwMode="auto">
            <a:xfrm>
              <a:off x="2530" y="3225"/>
              <a:ext cx="349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21" name="Line 37"/>
            <p:cNvSpPr>
              <a:spLocks noChangeShapeType="1"/>
            </p:cNvSpPr>
            <p:nvPr/>
          </p:nvSpPr>
          <p:spPr bwMode="auto">
            <a:xfrm flipH="1" flipV="1">
              <a:off x="2530" y="2018"/>
              <a:ext cx="364" cy="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22" name="Freeform 38"/>
            <p:cNvSpPr>
              <a:spLocks/>
            </p:cNvSpPr>
            <p:nvPr/>
          </p:nvSpPr>
          <p:spPr bwMode="auto">
            <a:xfrm>
              <a:off x="2681" y="2710"/>
              <a:ext cx="26" cy="24"/>
            </a:xfrm>
            <a:custGeom>
              <a:avLst/>
              <a:gdLst>
                <a:gd name="T0" fmla="*/ 11 w 26"/>
                <a:gd name="T1" fmla="*/ 23 h 24"/>
                <a:gd name="T2" fmla="*/ 13 w 26"/>
                <a:gd name="T3" fmla="*/ 23 h 24"/>
                <a:gd name="T4" fmla="*/ 15 w 26"/>
                <a:gd name="T5" fmla="*/ 23 h 24"/>
                <a:gd name="T6" fmla="*/ 17 w 26"/>
                <a:gd name="T7" fmla="*/ 23 h 24"/>
                <a:gd name="T8" fmla="*/ 19 w 26"/>
                <a:gd name="T9" fmla="*/ 21 h 24"/>
                <a:gd name="T10" fmla="*/ 21 w 26"/>
                <a:gd name="T11" fmla="*/ 21 h 24"/>
                <a:gd name="T12" fmla="*/ 21 w 26"/>
                <a:gd name="T13" fmla="*/ 19 h 24"/>
                <a:gd name="T14" fmla="*/ 23 w 26"/>
                <a:gd name="T15" fmla="*/ 17 h 24"/>
                <a:gd name="T16" fmla="*/ 23 w 26"/>
                <a:gd name="T17" fmla="*/ 15 h 24"/>
                <a:gd name="T18" fmla="*/ 23 w 26"/>
                <a:gd name="T19" fmla="*/ 14 h 24"/>
                <a:gd name="T20" fmla="*/ 25 w 26"/>
                <a:gd name="T21" fmla="*/ 12 h 24"/>
                <a:gd name="T22" fmla="*/ 23 w 26"/>
                <a:gd name="T23" fmla="*/ 10 h 24"/>
                <a:gd name="T24" fmla="*/ 23 w 26"/>
                <a:gd name="T25" fmla="*/ 10 h 24"/>
                <a:gd name="T26" fmla="*/ 23 w 26"/>
                <a:gd name="T27" fmla="*/ 8 h 24"/>
                <a:gd name="T28" fmla="*/ 21 w 26"/>
                <a:gd name="T29" fmla="*/ 6 h 24"/>
                <a:gd name="T30" fmla="*/ 21 w 26"/>
                <a:gd name="T31" fmla="*/ 4 h 24"/>
                <a:gd name="T32" fmla="*/ 19 w 26"/>
                <a:gd name="T33" fmla="*/ 4 h 24"/>
                <a:gd name="T34" fmla="*/ 17 w 26"/>
                <a:gd name="T35" fmla="*/ 2 h 24"/>
                <a:gd name="T36" fmla="*/ 15 w 26"/>
                <a:gd name="T37" fmla="*/ 2 h 24"/>
                <a:gd name="T38" fmla="*/ 13 w 26"/>
                <a:gd name="T39" fmla="*/ 2 h 24"/>
                <a:gd name="T40" fmla="*/ 11 w 26"/>
                <a:gd name="T41" fmla="*/ 0 h 24"/>
                <a:gd name="T42" fmla="*/ 11 w 26"/>
                <a:gd name="T43" fmla="*/ 2 h 24"/>
                <a:gd name="T44" fmla="*/ 9 w 26"/>
                <a:gd name="T45" fmla="*/ 2 h 24"/>
                <a:gd name="T46" fmla="*/ 8 w 26"/>
                <a:gd name="T47" fmla="*/ 2 h 24"/>
                <a:gd name="T48" fmla="*/ 6 w 26"/>
                <a:gd name="T49" fmla="*/ 4 h 24"/>
                <a:gd name="T50" fmla="*/ 4 w 26"/>
                <a:gd name="T51" fmla="*/ 4 h 24"/>
                <a:gd name="T52" fmla="*/ 4 w 26"/>
                <a:gd name="T53" fmla="*/ 6 h 24"/>
                <a:gd name="T54" fmla="*/ 2 w 26"/>
                <a:gd name="T55" fmla="*/ 8 h 24"/>
                <a:gd name="T56" fmla="*/ 2 w 26"/>
                <a:gd name="T57" fmla="*/ 10 h 24"/>
                <a:gd name="T58" fmla="*/ 2 w 26"/>
                <a:gd name="T59" fmla="*/ 10 h 24"/>
                <a:gd name="T60" fmla="*/ 0 w 26"/>
                <a:gd name="T61" fmla="*/ 12 h 24"/>
                <a:gd name="T62" fmla="*/ 2 w 26"/>
                <a:gd name="T63" fmla="*/ 14 h 24"/>
                <a:gd name="T64" fmla="*/ 2 w 26"/>
                <a:gd name="T65" fmla="*/ 15 h 24"/>
                <a:gd name="T66" fmla="*/ 2 w 26"/>
                <a:gd name="T67" fmla="*/ 17 h 24"/>
                <a:gd name="T68" fmla="*/ 4 w 26"/>
                <a:gd name="T69" fmla="*/ 19 h 24"/>
                <a:gd name="T70" fmla="*/ 4 w 26"/>
                <a:gd name="T71" fmla="*/ 21 h 24"/>
                <a:gd name="T72" fmla="*/ 6 w 26"/>
                <a:gd name="T73" fmla="*/ 21 h 24"/>
                <a:gd name="T74" fmla="*/ 8 w 26"/>
                <a:gd name="T75" fmla="*/ 23 h 24"/>
                <a:gd name="T76" fmla="*/ 9 w 26"/>
                <a:gd name="T77" fmla="*/ 23 h 24"/>
                <a:gd name="T78" fmla="*/ 11 w 26"/>
                <a:gd name="T79" fmla="*/ 23 h 24"/>
                <a:gd name="T80" fmla="*/ 11 w 26"/>
                <a:gd name="T81" fmla="*/ 23 h 24"/>
                <a:gd name="T82" fmla="*/ 11 w 26"/>
                <a:gd name="T83" fmla="*/ 23 h 24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26"/>
                <a:gd name="T127" fmla="*/ 0 h 24"/>
                <a:gd name="T128" fmla="*/ 26 w 26"/>
                <a:gd name="T129" fmla="*/ 24 h 24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26" h="24">
                  <a:moveTo>
                    <a:pt x="11" y="23"/>
                  </a:moveTo>
                  <a:lnTo>
                    <a:pt x="13" y="23"/>
                  </a:lnTo>
                  <a:lnTo>
                    <a:pt x="15" y="23"/>
                  </a:lnTo>
                  <a:lnTo>
                    <a:pt x="17" y="23"/>
                  </a:lnTo>
                  <a:lnTo>
                    <a:pt x="19" y="21"/>
                  </a:lnTo>
                  <a:lnTo>
                    <a:pt x="21" y="21"/>
                  </a:lnTo>
                  <a:lnTo>
                    <a:pt x="21" y="19"/>
                  </a:lnTo>
                  <a:lnTo>
                    <a:pt x="23" y="17"/>
                  </a:lnTo>
                  <a:lnTo>
                    <a:pt x="23" y="15"/>
                  </a:lnTo>
                  <a:lnTo>
                    <a:pt x="23" y="14"/>
                  </a:lnTo>
                  <a:lnTo>
                    <a:pt x="25" y="12"/>
                  </a:lnTo>
                  <a:lnTo>
                    <a:pt x="23" y="10"/>
                  </a:lnTo>
                  <a:lnTo>
                    <a:pt x="23" y="8"/>
                  </a:lnTo>
                  <a:lnTo>
                    <a:pt x="21" y="6"/>
                  </a:lnTo>
                  <a:lnTo>
                    <a:pt x="21" y="4"/>
                  </a:lnTo>
                  <a:lnTo>
                    <a:pt x="19" y="4"/>
                  </a:lnTo>
                  <a:lnTo>
                    <a:pt x="17" y="2"/>
                  </a:lnTo>
                  <a:lnTo>
                    <a:pt x="15" y="2"/>
                  </a:lnTo>
                  <a:lnTo>
                    <a:pt x="13" y="2"/>
                  </a:lnTo>
                  <a:lnTo>
                    <a:pt x="11" y="0"/>
                  </a:lnTo>
                  <a:lnTo>
                    <a:pt x="11" y="2"/>
                  </a:lnTo>
                  <a:lnTo>
                    <a:pt x="9" y="2"/>
                  </a:lnTo>
                  <a:lnTo>
                    <a:pt x="8" y="2"/>
                  </a:lnTo>
                  <a:lnTo>
                    <a:pt x="6" y="4"/>
                  </a:lnTo>
                  <a:lnTo>
                    <a:pt x="4" y="4"/>
                  </a:lnTo>
                  <a:lnTo>
                    <a:pt x="4" y="6"/>
                  </a:lnTo>
                  <a:lnTo>
                    <a:pt x="2" y="8"/>
                  </a:lnTo>
                  <a:lnTo>
                    <a:pt x="2" y="10"/>
                  </a:lnTo>
                  <a:lnTo>
                    <a:pt x="0" y="12"/>
                  </a:lnTo>
                  <a:lnTo>
                    <a:pt x="2" y="14"/>
                  </a:lnTo>
                  <a:lnTo>
                    <a:pt x="2" y="15"/>
                  </a:lnTo>
                  <a:lnTo>
                    <a:pt x="2" y="17"/>
                  </a:lnTo>
                  <a:lnTo>
                    <a:pt x="4" y="19"/>
                  </a:lnTo>
                  <a:lnTo>
                    <a:pt x="4" y="21"/>
                  </a:lnTo>
                  <a:lnTo>
                    <a:pt x="6" y="21"/>
                  </a:lnTo>
                  <a:lnTo>
                    <a:pt x="8" y="23"/>
                  </a:lnTo>
                  <a:lnTo>
                    <a:pt x="9" y="23"/>
                  </a:lnTo>
                  <a:lnTo>
                    <a:pt x="11" y="23"/>
                  </a:lnTo>
                </a:path>
              </a:pathLst>
            </a:custGeom>
            <a:solidFill>
              <a:srgbClr val="000000"/>
            </a:solidFill>
            <a:ln w="9525" cap="rnd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23" name="Line 39"/>
            <p:cNvSpPr>
              <a:spLocks noChangeShapeType="1"/>
            </p:cNvSpPr>
            <p:nvPr/>
          </p:nvSpPr>
          <p:spPr bwMode="auto">
            <a:xfrm>
              <a:off x="2744" y="2413"/>
              <a:ext cx="2" cy="81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24" name="Freeform 40"/>
            <p:cNvSpPr>
              <a:spLocks/>
            </p:cNvSpPr>
            <p:nvPr/>
          </p:nvSpPr>
          <p:spPr bwMode="auto">
            <a:xfrm>
              <a:off x="2735" y="2917"/>
              <a:ext cx="24" cy="24"/>
            </a:xfrm>
            <a:custGeom>
              <a:avLst/>
              <a:gdLst>
                <a:gd name="T0" fmla="*/ 9 w 24"/>
                <a:gd name="T1" fmla="*/ 23 h 24"/>
                <a:gd name="T2" fmla="*/ 13 w 24"/>
                <a:gd name="T3" fmla="*/ 23 h 24"/>
                <a:gd name="T4" fmla="*/ 15 w 24"/>
                <a:gd name="T5" fmla="*/ 23 h 24"/>
                <a:gd name="T6" fmla="*/ 15 w 24"/>
                <a:gd name="T7" fmla="*/ 21 h 24"/>
                <a:gd name="T8" fmla="*/ 17 w 24"/>
                <a:gd name="T9" fmla="*/ 21 h 24"/>
                <a:gd name="T10" fmla="*/ 19 w 24"/>
                <a:gd name="T11" fmla="*/ 19 h 24"/>
                <a:gd name="T12" fmla="*/ 21 w 24"/>
                <a:gd name="T13" fmla="*/ 19 h 24"/>
                <a:gd name="T14" fmla="*/ 21 w 24"/>
                <a:gd name="T15" fmla="*/ 17 h 24"/>
                <a:gd name="T16" fmla="*/ 21 w 24"/>
                <a:gd name="T17" fmla="*/ 15 h 24"/>
                <a:gd name="T18" fmla="*/ 23 w 24"/>
                <a:gd name="T19" fmla="*/ 13 h 24"/>
                <a:gd name="T20" fmla="*/ 23 w 24"/>
                <a:gd name="T21" fmla="*/ 12 h 24"/>
                <a:gd name="T22" fmla="*/ 23 w 24"/>
                <a:gd name="T23" fmla="*/ 10 h 24"/>
                <a:gd name="T24" fmla="*/ 21 w 24"/>
                <a:gd name="T25" fmla="*/ 8 h 24"/>
                <a:gd name="T26" fmla="*/ 21 w 24"/>
                <a:gd name="T27" fmla="*/ 6 h 24"/>
                <a:gd name="T28" fmla="*/ 21 w 24"/>
                <a:gd name="T29" fmla="*/ 6 h 24"/>
                <a:gd name="T30" fmla="*/ 19 w 24"/>
                <a:gd name="T31" fmla="*/ 4 h 24"/>
                <a:gd name="T32" fmla="*/ 17 w 24"/>
                <a:gd name="T33" fmla="*/ 2 h 24"/>
                <a:gd name="T34" fmla="*/ 15 w 24"/>
                <a:gd name="T35" fmla="*/ 2 h 24"/>
                <a:gd name="T36" fmla="*/ 15 w 24"/>
                <a:gd name="T37" fmla="*/ 0 h 24"/>
                <a:gd name="T38" fmla="*/ 13 w 24"/>
                <a:gd name="T39" fmla="*/ 0 h 24"/>
                <a:gd name="T40" fmla="*/ 11 w 24"/>
                <a:gd name="T41" fmla="*/ 0 h 24"/>
                <a:gd name="T42" fmla="*/ 9 w 24"/>
                <a:gd name="T43" fmla="*/ 0 h 24"/>
                <a:gd name="T44" fmla="*/ 7 w 24"/>
                <a:gd name="T45" fmla="*/ 0 h 24"/>
                <a:gd name="T46" fmla="*/ 5 w 24"/>
                <a:gd name="T47" fmla="*/ 2 h 24"/>
                <a:gd name="T48" fmla="*/ 3 w 24"/>
                <a:gd name="T49" fmla="*/ 2 h 24"/>
                <a:gd name="T50" fmla="*/ 2 w 24"/>
                <a:gd name="T51" fmla="*/ 4 h 24"/>
                <a:gd name="T52" fmla="*/ 2 w 24"/>
                <a:gd name="T53" fmla="*/ 6 h 24"/>
                <a:gd name="T54" fmla="*/ 0 w 24"/>
                <a:gd name="T55" fmla="*/ 6 h 24"/>
                <a:gd name="T56" fmla="*/ 0 w 24"/>
                <a:gd name="T57" fmla="*/ 8 h 24"/>
                <a:gd name="T58" fmla="*/ 0 w 24"/>
                <a:gd name="T59" fmla="*/ 10 h 24"/>
                <a:gd name="T60" fmla="*/ 0 w 24"/>
                <a:gd name="T61" fmla="*/ 12 h 24"/>
                <a:gd name="T62" fmla="*/ 0 w 24"/>
                <a:gd name="T63" fmla="*/ 13 h 24"/>
                <a:gd name="T64" fmla="*/ 0 w 24"/>
                <a:gd name="T65" fmla="*/ 15 h 24"/>
                <a:gd name="T66" fmla="*/ 0 w 24"/>
                <a:gd name="T67" fmla="*/ 17 h 24"/>
                <a:gd name="T68" fmla="*/ 2 w 24"/>
                <a:gd name="T69" fmla="*/ 19 h 24"/>
                <a:gd name="T70" fmla="*/ 2 w 24"/>
                <a:gd name="T71" fmla="*/ 19 h 24"/>
                <a:gd name="T72" fmla="*/ 3 w 24"/>
                <a:gd name="T73" fmla="*/ 21 h 24"/>
                <a:gd name="T74" fmla="*/ 5 w 24"/>
                <a:gd name="T75" fmla="*/ 21 h 24"/>
                <a:gd name="T76" fmla="*/ 7 w 24"/>
                <a:gd name="T77" fmla="*/ 23 h 24"/>
                <a:gd name="T78" fmla="*/ 9 w 24"/>
                <a:gd name="T79" fmla="*/ 23 h 24"/>
                <a:gd name="T80" fmla="*/ 11 w 24"/>
                <a:gd name="T81" fmla="*/ 23 h 24"/>
                <a:gd name="T82" fmla="*/ 11 w 24"/>
                <a:gd name="T83" fmla="*/ 23 h 24"/>
                <a:gd name="T84" fmla="*/ 9 w 24"/>
                <a:gd name="T85" fmla="*/ 23 h 2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4"/>
                <a:gd name="T130" fmla="*/ 0 h 24"/>
                <a:gd name="T131" fmla="*/ 24 w 24"/>
                <a:gd name="T132" fmla="*/ 24 h 24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4" h="24">
                  <a:moveTo>
                    <a:pt x="9" y="23"/>
                  </a:moveTo>
                  <a:lnTo>
                    <a:pt x="13" y="23"/>
                  </a:lnTo>
                  <a:lnTo>
                    <a:pt x="15" y="23"/>
                  </a:lnTo>
                  <a:lnTo>
                    <a:pt x="15" y="21"/>
                  </a:lnTo>
                  <a:lnTo>
                    <a:pt x="17" y="21"/>
                  </a:lnTo>
                  <a:lnTo>
                    <a:pt x="19" y="19"/>
                  </a:lnTo>
                  <a:lnTo>
                    <a:pt x="21" y="19"/>
                  </a:lnTo>
                  <a:lnTo>
                    <a:pt x="21" y="17"/>
                  </a:lnTo>
                  <a:lnTo>
                    <a:pt x="21" y="15"/>
                  </a:lnTo>
                  <a:lnTo>
                    <a:pt x="23" y="13"/>
                  </a:lnTo>
                  <a:lnTo>
                    <a:pt x="23" y="12"/>
                  </a:lnTo>
                  <a:lnTo>
                    <a:pt x="23" y="10"/>
                  </a:lnTo>
                  <a:lnTo>
                    <a:pt x="21" y="8"/>
                  </a:lnTo>
                  <a:lnTo>
                    <a:pt x="21" y="6"/>
                  </a:lnTo>
                  <a:lnTo>
                    <a:pt x="19" y="4"/>
                  </a:lnTo>
                  <a:lnTo>
                    <a:pt x="17" y="2"/>
                  </a:lnTo>
                  <a:lnTo>
                    <a:pt x="15" y="2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1" y="0"/>
                  </a:lnTo>
                  <a:lnTo>
                    <a:pt x="9" y="0"/>
                  </a:lnTo>
                  <a:lnTo>
                    <a:pt x="7" y="0"/>
                  </a:lnTo>
                  <a:lnTo>
                    <a:pt x="5" y="2"/>
                  </a:lnTo>
                  <a:lnTo>
                    <a:pt x="3" y="2"/>
                  </a:lnTo>
                  <a:lnTo>
                    <a:pt x="2" y="4"/>
                  </a:lnTo>
                  <a:lnTo>
                    <a:pt x="2" y="6"/>
                  </a:lnTo>
                  <a:lnTo>
                    <a:pt x="0" y="6"/>
                  </a:lnTo>
                  <a:lnTo>
                    <a:pt x="0" y="8"/>
                  </a:lnTo>
                  <a:lnTo>
                    <a:pt x="0" y="10"/>
                  </a:lnTo>
                  <a:lnTo>
                    <a:pt x="0" y="12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0" y="17"/>
                  </a:lnTo>
                  <a:lnTo>
                    <a:pt x="2" y="19"/>
                  </a:lnTo>
                  <a:lnTo>
                    <a:pt x="3" y="21"/>
                  </a:lnTo>
                  <a:lnTo>
                    <a:pt x="5" y="21"/>
                  </a:lnTo>
                  <a:lnTo>
                    <a:pt x="7" y="23"/>
                  </a:lnTo>
                  <a:lnTo>
                    <a:pt x="9" y="23"/>
                  </a:lnTo>
                  <a:lnTo>
                    <a:pt x="11" y="23"/>
                  </a:lnTo>
                  <a:lnTo>
                    <a:pt x="9" y="23"/>
                  </a:lnTo>
                </a:path>
              </a:pathLst>
            </a:custGeom>
            <a:solidFill>
              <a:srgbClr val="000000"/>
            </a:solidFill>
            <a:ln w="9525" cap="rnd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25" name="Freeform 41"/>
            <p:cNvSpPr>
              <a:spLocks/>
            </p:cNvSpPr>
            <p:nvPr/>
          </p:nvSpPr>
          <p:spPr bwMode="auto">
            <a:xfrm>
              <a:off x="2735" y="3214"/>
              <a:ext cx="24" cy="24"/>
            </a:xfrm>
            <a:custGeom>
              <a:avLst/>
              <a:gdLst>
                <a:gd name="T0" fmla="*/ 9 w 24"/>
                <a:gd name="T1" fmla="*/ 23 h 24"/>
                <a:gd name="T2" fmla="*/ 13 w 24"/>
                <a:gd name="T3" fmla="*/ 23 h 24"/>
                <a:gd name="T4" fmla="*/ 15 w 24"/>
                <a:gd name="T5" fmla="*/ 23 h 24"/>
                <a:gd name="T6" fmla="*/ 15 w 24"/>
                <a:gd name="T7" fmla="*/ 23 h 24"/>
                <a:gd name="T8" fmla="*/ 17 w 24"/>
                <a:gd name="T9" fmla="*/ 21 h 24"/>
                <a:gd name="T10" fmla="*/ 19 w 24"/>
                <a:gd name="T11" fmla="*/ 19 h 24"/>
                <a:gd name="T12" fmla="*/ 19 w 24"/>
                <a:gd name="T13" fmla="*/ 19 h 24"/>
                <a:gd name="T14" fmla="*/ 21 w 24"/>
                <a:gd name="T15" fmla="*/ 17 h 24"/>
                <a:gd name="T16" fmla="*/ 21 w 24"/>
                <a:gd name="T17" fmla="*/ 15 h 24"/>
                <a:gd name="T18" fmla="*/ 23 w 24"/>
                <a:gd name="T19" fmla="*/ 13 h 24"/>
                <a:gd name="T20" fmla="*/ 23 w 24"/>
                <a:gd name="T21" fmla="*/ 11 h 24"/>
                <a:gd name="T22" fmla="*/ 23 w 24"/>
                <a:gd name="T23" fmla="*/ 10 h 24"/>
                <a:gd name="T24" fmla="*/ 21 w 24"/>
                <a:gd name="T25" fmla="*/ 8 h 24"/>
                <a:gd name="T26" fmla="*/ 21 w 24"/>
                <a:gd name="T27" fmla="*/ 6 h 24"/>
                <a:gd name="T28" fmla="*/ 19 w 24"/>
                <a:gd name="T29" fmla="*/ 6 h 24"/>
                <a:gd name="T30" fmla="*/ 19 w 24"/>
                <a:gd name="T31" fmla="*/ 4 h 24"/>
                <a:gd name="T32" fmla="*/ 17 w 24"/>
                <a:gd name="T33" fmla="*/ 2 h 24"/>
                <a:gd name="T34" fmla="*/ 15 w 24"/>
                <a:gd name="T35" fmla="*/ 2 h 24"/>
                <a:gd name="T36" fmla="*/ 15 w 24"/>
                <a:gd name="T37" fmla="*/ 0 h 24"/>
                <a:gd name="T38" fmla="*/ 13 w 24"/>
                <a:gd name="T39" fmla="*/ 0 h 24"/>
                <a:gd name="T40" fmla="*/ 11 w 24"/>
                <a:gd name="T41" fmla="*/ 0 h 24"/>
                <a:gd name="T42" fmla="*/ 9 w 24"/>
                <a:gd name="T43" fmla="*/ 0 h 24"/>
                <a:gd name="T44" fmla="*/ 7 w 24"/>
                <a:gd name="T45" fmla="*/ 0 h 24"/>
                <a:gd name="T46" fmla="*/ 5 w 24"/>
                <a:gd name="T47" fmla="*/ 2 h 24"/>
                <a:gd name="T48" fmla="*/ 3 w 24"/>
                <a:gd name="T49" fmla="*/ 2 h 24"/>
                <a:gd name="T50" fmla="*/ 2 w 24"/>
                <a:gd name="T51" fmla="*/ 4 h 24"/>
                <a:gd name="T52" fmla="*/ 2 w 24"/>
                <a:gd name="T53" fmla="*/ 6 h 24"/>
                <a:gd name="T54" fmla="*/ 0 w 24"/>
                <a:gd name="T55" fmla="*/ 6 h 24"/>
                <a:gd name="T56" fmla="*/ 0 w 24"/>
                <a:gd name="T57" fmla="*/ 8 h 24"/>
                <a:gd name="T58" fmla="*/ 0 w 24"/>
                <a:gd name="T59" fmla="*/ 10 h 24"/>
                <a:gd name="T60" fmla="*/ 0 w 24"/>
                <a:gd name="T61" fmla="*/ 11 h 24"/>
                <a:gd name="T62" fmla="*/ 0 w 24"/>
                <a:gd name="T63" fmla="*/ 13 h 24"/>
                <a:gd name="T64" fmla="*/ 0 w 24"/>
                <a:gd name="T65" fmla="*/ 15 h 24"/>
                <a:gd name="T66" fmla="*/ 0 w 24"/>
                <a:gd name="T67" fmla="*/ 17 h 24"/>
                <a:gd name="T68" fmla="*/ 2 w 24"/>
                <a:gd name="T69" fmla="*/ 19 h 24"/>
                <a:gd name="T70" fmla="*/ 2 w 24"/>
                <a:gd name="T71" fmla="*/ 19 h 24"/>
                <a:gd name="T72" fmla="*/ 3 w 24"/>
                <a:gd name="T73" fmla="*/ 21 h 24"/>
                <a:gd name="T74" fmla="*/ 5 w 24"/>
                <a:gd name="T75" fmla="*/ 23 h 24"/>
                <a:gd name="T76" fmla="*/ 7 w 24"/>
                <a:gd name="T77" fmla="*/ 23 h 24"/>
                <a:gd name="T78" fmla="*/ 9 w 24"/>
                <a:gd name="T79" fmla="*/ 23 h 24"/>
                <a:gd name="T80" fmla="*/ 11 w 24"/>
                <a:gd name="T81" fmla="*/ 23 h 24"/>
                <a:gd name="T82" fmla="*/ 11 w 24"/>
                <a:gd name="T83" fmla="*/ 23 h 24"/>
                <a:gd name="T84" fmla="*/ 9 w 24"/>
                <a:gd name="T85" fmla="*/ 23 h 2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4"/>
                <a:gd name="T130" fmla="*/ 0 h 24"/>
                <a:gd name="T131" fmla="*/ 24 w 24"/>
                <a:gd name="T132" fmla="*/ 24 h 24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4" h="24">
                  <a:moveTo>
                    <a:pt x="9" y="23"/>
                  </a:moveTo>
                  <a:lnTo>
                    <a:pt x="13" y="23"/>
                  </a:lnTo>
                  <a:lnTo>
                    <a:pt x="15" y="23"/>
                  </a:lnTo>
                  <a:lnTo>
                    <a:pt x="17" y="21"/>
                  </a:lnTo>
                  <a:lnTo>
                    <a:pt x="19" y="19"/>
                  </a:lnTo>
                  <a:lnTo>
                    <a:pt x="21" y="17"/>
                  </a:lnTo>
                  <a:lnTo>
                    <a:pt x="21" y="15"/>
                  </a:lnTo>
                  <a:lnTo>
                    <a:pt x="23" y="13"/>
                  </a:lnTo>
                  <a:lnTo>
                    <a:pt x="23" y="11"/>
                  </a:lnTo>
                  <a:lnTo>
                    <a:pt x="23" y="10"/>
                  </a:lnTo>
                  <a:lnTo>
                    <a:pt x="21" y="8"/>
                  </a:lnTo>
                  <a:lnTo>
                    <a:pt x="21" y="6"/>
                  </a:lnTo>
                  <a:lnTo>
                    <a:pt x="19" y="6"/>
                  </a:lnTo>
                  <a:lnTo>
                    <a:pt x="19" y="4"/>
                  </a:lnTo>
                  <a:lnTo>
                    <a:pt x="17" y="2"/>
                  </a:lnTo>
                  <a:lnTo>
                    <a:pt x="15" y="2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1" y="0"/>
                  </a:lnTo>
                  <a:lnTo>
                    <a:pt x="9" y="0"/>
                  </a:lnTo>
                  <a:lnTo>
                    <a:pt x="7" y="0"/>
                  </a:lnTo>
                  <a:lnTo>
                    <a:pt x="5" y="2"/>
                  </a:lnTo>
                  <a:lnTo>
                    <a:pt x="3" y="2"/>
                  </a:lnTo>
                  <a:lnTo>
                    <a:pt x="2" y="4"/>
                  </a:lnTo>
                  <a:lnTo>
                    <a:pt x="2" y="6"/>
                  </a:lnTo>
                  <a:lnTo>
                    <a:pt x="0" y="6"/>
                  </a:lnTo>
                  <a:lnTo>
                    <a:pt x="0" y="8"/>
                  </a:lnTo>
                  <a:lnTo>
                    <a:pt x="0" y="10"/>
                  </a:lnTo>
                  <a:lnTo>
                    <a:pt x="0" y="11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0" y="17"/>
                  </a:lnTo>
                  <a:lnTo>
                    <a:pt x="2" y="19"/>
                  </a:lnTo>
                  <a:lnTo>
                    <a:pt x="3" y="21"/>
                  </a:lnTo>
                  <a:lnTo>
                    <a:pt x="5" y="23"/>
                  </a:lnTo>
                  <a:lnTo>
                    <a:pt x="7" y="23"/>
                  </a:lnTo>
                  <a:lnTo>
                    <a:pt x="9" y="23"/>
                  </a:lnTo>
                  <a:lnTo>
                    <a:pt x="11" y="23"/>
                  </a:lnTo>
                  <a:lnTo>
                    <a:pt x="9" y="23"/>
                  </a:lnTo>
                </a:path>
              </a:pathLst>
            </a:custGeom>
            <a:solidFill>
              <a:srgbClr val="000000"/>
            </a:solidFill>
            <a:ln w="9525" cap="rnd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26" name="Line 42"/>
            <p:cNvSpPr>
              <a:spLocks noChangeShapeType="1"/>
            </p:cNvSpPr>
            <p:nvPr/>
          </p:nvSpPr>
          <p:spPr bwMode="auto">
            <a:xfrm flipH="1" flipV="1">
              <a:off x="2784" y="3197"/>
              <a:ext cx="35" cy="5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27" name="Rectangle 43"/>
            <p:cNvSpPr>
              <a:spLocks noChangeArrowheads="1"/>
            </p:cNvSpPr>
            <p:nvPr/>
          </p:nvSpPr>
          <p:spPr bwMode="auto">
            <a:xfrm>
              <a:off x="2737" y="3118"/>
              <a:ext cx="124" cy="1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sz="600">
                  <a:solidFill>
                    <a:srgbClr val="000000"/>
                  </a:solidFill>
                  <a:latin typeface="+mj-lt"/>
                </a:rPr>
                <a:t>6</a:t>
              </a:r>
            </a:p>
          </p:txBody>
        </p:sp>
        <p:sp>
          <p:nvSpPr>
            <p:cNvPr id="54328" name="Line 44"/>
            <p:cNvSpPr>
              <a:spLocks noChangeShapeType="1"/>
            </p:cNvSpPr>
            <p:nvPr/>
          </p:nvSpPr>
          <p:spPr bwMode="auto">
            <a:xfrm flipH="1" flipV="1">
              <a:off x="2532" y="2527"/>
              <a:ext cx="440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29" name="Freeform 45"/>
            <p:cNvSpPr>
              <a:spLocks/>
            </p:cNvSpPr>
            <p:nvPr/>
          </p:nvSpPr>
          <p:spPr bwMode="auto">
            <a:xfrm>
              <a:off x="2692" y="2722"/>
              <a:ext cx="890" cy="284"/>
            </a:xfrm>
            <a:custGeom>
              <a:avLst/>
              <a:gdLst>
                <a:gd name="T0" fmla="*/ 889 w 935"/>
                <a:gd name="T1" fmla="*/ 283 h 284"/>
                <a:gd name="T2" fmla="*/ 0 w 935"/>
                <a:gd name="T3" fmla="*/ 283 h 284"/>
                <a:gd name="T4" fmla="*/ 0 w 935"/>
                <a:gd name="T5" fmla="*/ 0 h 284"/>
                <a:gd name="T6" fmla="*/ 0 60000 65536"/>
                <a:gd name="T7" fmla="*/ 0 60000 65536"/>
                <a:gd name="T8" fmla="*/ 0 60000 65536"/>
                <a:gd name="T9" fmla="*/ 0 w 935"/>
                <a:gd name="T10" fmla="*/ 0 h 284"/>
                <a:gd name="T11" fmla="*/ 935 w 935"/>
                <a:gd name="T12" fmla="*/ 284 h 28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35" h="284">
                  <a:moveTo>
                    <a:pt x="934" y="283"/>
                  </a:moveTo>
                  <a:lnTo>
                    <a:pt x="0" y="283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triangl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30" name="Freeform 46"/>
            <p:cNvSpPr>
              <a:spLocks/>
            </p:cNvSpPr>
            <p:nvPr/>
          </p:nvSpPr>
          <p:spPr bwMode="auto">
            <a:xfrm>
              <a:off x="3582" y="1917"/>
              <a:ext cx="93" cy="1777"/>
            </a:xfrm>
            <a:custGeom>
              <a:avLst/>
              <a:gdLst>
                <a:gd name="T0" fmla="*/ 90 w 93"/>
                <a:gd name="T1" fmla="*/ 1776 h 1777"/>
                <a:gd name="T2" fmla="*/ 92 w 93"/>
                <a:gd name="T3" fmla="*/ 0 h 1777"/>
                <a:gd name="T4" fmla="*/ 0 w 93"/>
                <a:gd name="T5" fmla="*/ 0 h 1777"/>
                <a:gd name="T6" fmla="*/ 0 w 93"/>
                <a:gd name="T7" fmla="*/ 1776 h 1777"/>
                <a:gd name="T8" fmla="*/ 92 w 93"/>
                <a:gd name="T9" fmla="*/ 1776 h 1777"/>
                <a:gd name="T10" fmla="*/ 92 w 93"/>
                <a:gd name="T11" fmla="*/ 1776 h 177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3"/>
                <a:gd name="T19" fmla="*/ 0 h 1777"/>
                <a:gd name="T20" fmla="*/ 93 w 93"/>
                <a:gd name="T21" fmla="*/ 1777 h 177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3" h="1777">
                  <a:moveTo>
                    <a:pt x="90" y="1776"/>
                  </a:moveTo>
                  <a:lnTo>
                    <a:pt x="92" y="0"/>
                  </a:lnTo>
                  <a:lnTo>
                    <a:pt x="0" y="0"/>
                  </a:lnTo>
                  <a:lnTo>
                    <a:pt x="0" y="1776"/>
                  </a:lnTo>
                  <a:lnTo>
                    <a:pt x="92" y="1776"/>
                  </a:lnTo>
                </a:path>
              </a:pathLst>
            </a:custGeom>
            <a:solidFill>
              <a:srgbClr val="CCECFF"/>
            </a:solidFill>
            <a:ln w="190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31" name="Freeform 47"/>
            <p:cNvSpPr>
              <a:spLocks/>
            </p:cNvSpPr>
            <p:nvPr/>
          </p:nvSpPr>
          <p:spPr bwMode="auto">
            <a:xfrm>
              <a:off x="2899" y="1955"/>
              <a:ext cx="365" cy="422"/>
            </a:xfrm>
            <a:custGeom>
              <a:avLst/>
              <a:gdLst>
                <a:gd name="T0" fmla="*/ 0 w 301"/>
                <a:gd name="T1" fmla="*/ 0 h 422"/>
                <a:gd name="T2" fmla="*/ 0 w 301"/>
                <a:gd name="T3" fmla="*/ 170 h 422"/>
                <a:gd name="T4" fmla="*/ 75 w 301"/>
                <a:gd name="T5" fmla="*/ 210 h 422"/>
                <a:gd name="T6" fmla="*/ 0 w 301"/>
                <a:gd name="T7" fmla="*/ 251 h 422"/>
                <a:gd name="T8" fmla="*/ 0 w 301"/>
                <a:gd name="T9" fmla="*/ 421 h 422"/>
                <a:gd name="T10" fmla="*/ 364 w 301"/>
                <a:gd name="T11" fmla="*/ 285 h 422"/>
                <a:gd name="T12" fmla="*/ 364 w 301"/>
                <a:gd name="T13" fmla="*/ 138 h 422"/>
                <a:gd name="T14" fmla="*/ 0 w 301"/>
                <a:gd name="T15" fmla="*/ 0 h 422"/>
                <a:gd name="T16" fmla="*/ 0 w 301"/>
                <a:gd name="T17" fmla="*/ 0 h 42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01"/>
                <a:gd name="T28" fmla="*/ 0 h 422"/>
                <a:gd name="T29" fmla="*/ 301 w 301"/>
                <a:gd name="T30" fmla="*/ 422 h 422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01" h="422">
                  <a:moveTo>
                    <a:pt x="0" y="0"/>
                  </a:moveTo>
                  <a:lnTo>
                    <a:pt x="0" y="170"/>
                  </a:lnTo>
                  <a:lnTo>
                    <a:pt x="62" y="210"/>
                  </a:lnTo>
                  <a:lnTo>
                    <a:pt x="0" y="251"/>
                  </a:lnTo>
                  <a:lnTo>
                    <a:pt x="0" y="421"/>
                  </a:lnTo>
                  <a:lnTo>
                    <a:pt x="300" y="285"/>
                  </a:lnTo>
                  <a:lnTo>
                    <a:pt x="300" y="138"/>
                  </a:lnTo>
                  <a:lnTo>
                    <a:pt x="0" y="0"/>
                  </a:lnTo>
                </a:path>
              </a:pathLst>
            </a:custGeom>
            <a:solidFill>
              <a:srgbClr val="CCFF99"/>
            </a:solidFill>
            <a:ln w="190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32" name="Freeform 48"/>
            <p:cNvSpPr>
              <a:spLocks/>
            </p:cNvSpPr>
            <p:nvPr/>
          </p:nvSpPr>
          <p:spPr bwMode="auto">
            <a:xfrm>
              <a:off x="2969" y="2461"/>
              <a:ext cx="391" cy="458"/>
            </a:xfrm>
            <a:custGeom>
              <a:avLst/>
              <a:gdLst>
                <a:gd name="T0" fmla="*/ 0 w 300"/>
                <a:gd name="T1" fmla="*/ 0 h 422"/>
                <a:gd name="T2" fmla="*/ 0 w 300"/>
                <a:gd name="T3" fmla="*/ 186 h 422"/>
                <a:gd name="T4" fmla="*/ 80 w 300"/>
                <a:gd name="T5" fmla="*/ 229 h 422"/>
                <a:gd name="T6" fmla="*/ 0 w 300"/>
                <a:gd name="T7" fmla="*/ 272 h 422"/>
                <a:gd name="T8" fmla="*/ 0 w 300"/>
                <a:gd name="T9" fmla="*/ 457 h 422"/>
                <a:gd name="T10" fmla="*/ 390 w 300"/>
                <a:gd name="T11" fmla="*/ 309 h 422"/>
                <a:gd name="T12" fmla="*/ 390 w 300"/>
                <a:gd name="T13" fmla="*/ 148 h 422"/>
                <a:gd name="T14" fmla="*/ 0 w 300"/>
                <a:gd name="T15" fmla="*/ 0 h 422"/>
                <a:gd name="T16" fmla="*/ 0 w 300"/>
                <a:gd name="T17" fmla="*/ 0 h 42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00"/>
                <a:gd name="T28" fmla="*/ 0 h 422"/>
                <a:gd name="T29" fmla="*/ 300 w 300"/>
                <a:gd name="T30" fmla="*/ 422 h 422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00" h="422">
                  <a:moveTo>
                    <a:pt x="0" y="0"/>
                  </a:moveTo>
                  <a:lnTo>
                    <a:pt x="0" y="171"/>
                  </a:lnTo>
                  <a:lnTo>
                    <a:pt x="61" y="211"/>
                  </a:lnTo>
                  <a:lnTo>
                    <a:pt x="0" y="251"/>
                  </a:lnTo>
                  <a:lnTo>
                    <a:pt x="0" y="421"/>
                  </a:lnTo>
                  <a:lnTo>
                    <a:pt x="299" y="285"/>
                  </a:lnTo>
                  <a:lnTo>
                    <a:pt x="299" y="136"/>
                  </a:lnTo>
                  <a:lnTo>
                    <a:pt x="0" y="0"/>
                  </a:lnTo>
                </a:path>
              </a:pathLst>
            </a:custGeom>
            <a:solidFill>
              <a:srgbClr val="CCFF99"/>
            </a:solidFill>
            <a:ln w="190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33" name="Freeform 49"/>
            <p:cNvSpPr>
              <a:spLocks/>
            </p:cNvSpPr>
            <p:nvPr/>
          </p:nvSpPr>
          <p:spPr bwMode="auto">
            <a:xfrm>
              <a:off x="2675" y="2170"/>
              <a:ext cx="151" cy="239"/>
            </a:xfrm>
            <a:custGeom>
              <a:avLst/>
              <a:gdLst>
                <a:gd name="T0" fmla="*/ 73 w 151"/>
                <a:gd name="T1" fmla="*/ 236 h 239"/>
                <a:gd name="T2" fmla="*/ 86 w 151"/>
                <a:gd name="T3" fmla="*/ 236 h 239"/>
                <a:gd name="T4" fmla="*/ 98 w 151"/>
                <a:gd name="T5" fmla="*/ 232 h 239"/>
                <a:gd name="T6" fmla="*/ 109 w 151"/>
                <a:gd name="T7" fmla="*/ 224 h 239"/>
                <a:gd name="T8" fmla="*/ 119 w 151"/>
                <a:gd name="T9" fmla="*/ 215 h 239"/>
                <a:gd name="T10" fmla="*/ 129 w 151"/>
                <a:gd name="T11" fmla="*/ 203 h 239"/>
                <a:gd name="T12" fmla="*/ 134 w 151"/>
                <a:gd name="T13" fmla="*/ 188 h 239"/>
                <a:gd name="T14" fmla="*/ 142 w 151"/>
                <a:gd name="T15" fmla="*/ 172 h 239"/>
                <a:gd name="T16" fmla="*/ 146 w 151"/>
                <a:gd name="T17" fmla="*/ 155 h 239"/>
                <a:gd name="T18" fmla="*/ 150 w 151"/>
                <a:gd name="T19" fmla="*/ 138 h 239"/>
                <a:gd name="T20" fmla="*/ 150 w 151"/>
                <a:gd name="T21" fmla="*/ 119 h 239"/>
                <a:gd name="T22" fmla="*/ 150 w 151"/>
                <a:gd name="T23" fmla="*/ 100 h 239"/>
                <a:gd name="T24" fmla="*/ 146 w 151"/>
                <a:gd name="T25" fmla="*/ 80 h 239"/>
                <a:gd name="T26" fmla="*/ 142 w 151"/>
                <a:gd name="T27" fmla="*/ 63 h 239"/>
                <a:gd name="T28" fmla="*/ 134 w 151"/>
                <a:gd name="T29" fmla="*/ 48 h 239"/>
                <a:gd name="T30" fmla="*/ 129 w 151"/>
                <a:gd name="T31" fmla="*/ 34 h 239"/>
                <a:gd name="T32" fmla="*/ 119 w 151"/>
                <a:gd name="T33" fmla="*/ 23 h 239"/>
                <a:gd name="T34" fmla="*/ 109 w 151"/>
                <a:gd name="T35" fmla="*/ 13 h 239"/>
                <a:gd name="T36" fmla="*/ 98 w 151"/>
                <a:gd name="T37" fmla="*/ 6 h 239"/>
                <a:gd name="T38" fmla="*/ 86 w 151"/>
                <a:gd name="T39" fmla="*/ 0 h 239"/>
                <a:gd name="T40" fmla="*/ 75 w 151"/>
                <a:gd name="T41" fmla="*/ 0 h 239"/>
                <a:gd name="T42" fmla="*/ 62 w 151"/>
                <a:gd name="T43" fmla="*/ 0 h 239"/>
                <a:gd name="T44" fmla="*/ 50 w 151"/>
                <a:gd name="T45" fmla="*/ 6 h 239"/>
                <a:gd name="T46" fmla="*/ 40 w 151"/>
                <a:gd name="T47" fmla="*/ 13 h 239"/>
                <a:gd name="T48" fmla="*/ 31 w 151"/>
                <a:gd name="T49" fmla="*/ 23 h 239"/>
                <a:gd name="T50" fmla="*/ 21 w 151"/>
                <a:gd name="T51" fmla="*/ 34 h 239"/>
                <a:gd name="T52" fmla="*/ 14 w 151"/>
                <a:gd name="T53" fmla="*/ 48 h 239"/>
                <a:gd name="T54" fmla="*/ 8 w 151"/>
                <a:gd name="T55" fmla="*/ 63 h 239"/>
                <a:gd name="T56" fmla="*/ 4 w 151"/>
                <a:gd name="T57" fmla="*/ 80 h 239"/>
                <a:gd name="T58" fmla="*/ 0 w 151"/>
                <a:gd name="T59" fmla="*/ 100 h 239"/>
                <a:gd name="T60" fmla="*/ 0 w 151"/>
                <a:gd name="T61" fmla="*/ 119 h 239"/>
                <a:gd name="T62" fmla="*/ 0 w 151"/>
                <a:gd name="T63" fmla="*/ 138 h 239"/>
                <a:gd name="T64" fmla="*/ 4 w 151"/>
                <a:gd name="T65" fmla="*/ 155 h 239"/>
                <a:gd name="T66" fmla="*/ 8 w 151"/>
                <a:gd name="T67" fmla="*/ 172 h 239"/>
                <a:gd name="T68" fmla="*/ 14 w 151"/>
                <a:gd name="T69" fmla="*/ 188 h 239"/>
                <a:gd name="T70" fmla="*/ 21 w 151"/>
                <a:gd name="T71" fmla="*/ 203 h 239"/>
                <a:gd name="T72" fmla="*/ 31 w 151"/>
                <a:gd name="T73" fmla="*/ 215 h 239"/>
                <a:gd name="T74" fmla="*/ 40 w 151"/>
                <a:gd name="T75" fmla="*/ 224 h 239"/>
                <a:gd name="T76" fmla="*/ 50 w 151"/>
                <a:gd name="T77" fmla="*/ 232 h 239"/>
                <a:gd name="T78" fmla="*/ 62 w 151"/>
                <a:gd name="T79" fmla="*/ 236 h 239"/>
                <a:gd name="T80" fmla="*/ 75 w 151"/>
                <a:gd name="T81" fmla="*/ 238 h 239"/>
                <a:gd name="T82" fmla="*/ 75 w 151"/>
                <a:gd name="T83" fmla="*/ 238 h 239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151"/>
                <a:gd name="T127" fmla="*/ 0 h 239"/>
                <a:gd name="T128" fmla="*/ 151 w 151"/>
                <a:gd name="T129" fmla="*/ 239 h 239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151" h="239">
                  <a:moveTo>
                    <a:pt x="73" y="236"/>
                  </a:moveTo>
                  <a:lnTo>
                    <a:pt x="86" y="236"/>
                  </a:lnTo>
                  <a:lnTo>
                    <a:pt x="98" y="232"/>
                  </a:lnTo>
                  <a:lnTo>
                    <a:pt x="109" y="224"/>
                  </a:lnTo>
                  <a:lnTo>
                    <a:pt x="119" y="215"/>
                  </a:lnTo>
                  <a:lnTo>
                    <a:pt x="129" y="203"/>
                  </a:lnTo>
                  <a:lnTo>
                    <a:pt x="134" y="188"/>
                  </a:lnTo>
                  <a:lnTo>
                    <a:pt x="142" y="172"/>
                  </a:lnTo>
                  <a:lnTo>
                    <a:pt x="146" y="155"/>
                  </a:lnTo>
                  <a:lnTo>
                    <a:pt x="150" y="138"/>
                  </a:lnTo>
                  <a:lnTo>
                    <a:pt x="150" y="119"/>
                  </a:lnTo>
                  <a:lnTo>
                    <a:pt x="150" y="100"/>
                  </a:lnTo>
                  <a:lnTo>
                    <a:pt x="146" y="80"/>
                  </a:lnTo>
                  <a:lnTo>
                    <a:pt x="142" y="63"/>
                  </a:lnTo>
                  <a:lnTo>
                    <a:pt x="134" y="48"/>
                  </a:lnTo>
                  <a:lnTo>
                    <a:pt x="129" y="34"/>
                  </a:lnTo>
                  <a:lnTo>
                    <a:pt x="119" y="23"/>
                  </a:lnTo>
                  <a:lnTo>
                    <a:pt x="109" y="13"/>
                  </a:lnTo>
                  <a:lnTo>
                    <a:pt x="98" y="6"/>
                  </a:lnTo>
                  <a:lnTo>
                    <a:pt x="86" y="0"/>
                  </a:lnTo>
                  <a:lnTo>
                    <a:pt x="75" y="0"/>
                  </a:lnTo>
                  <a:lnTo>
                    <a:pt x="62" y="0"/>
                  </a:lnTo>
                  <a:lnTo>
                    <a:pt x="50" y="6"/>
                  </a:lnTo>
                  <a:lnTo>
                    <a:pt x="40" y="13"/>
                  </a:lnTo>
                  <a:lnTo>
                    <a:pt x="31" y="23"/>
                  </a:lnTo>
                  <a:lnTo>
                    <a:pt x="21" y="34"/>
                  </a:lnTo>
                  <a:lnTo>
                    <a:pt x="14" y="48"/>
                  </a:lnTo>
                  <a:lnTo>
                    <a:pt x="8" y="63"/>
                  </a:lnTo>
                  <a:lnTo>
                    <a:pt x="4" y="80"/>
                  </a:lnTo>
                  <a:lnTo>
                    <a:pt x="0" y="100"/>
                  </a:lnTo>
                  <a:lnTo>
                    <a:pt x="0" y="119"/>
                  </a:lnTo>
                  <a:lnTo>
                    <a:pt x="0" y="138"/>
                  </a:lnTo>
                  <a:lnTo>
                    <a:pt x="4" y="155"/>
                  </a:lnTo>
                  <a:lnTo>
                    <a:pt x="8" y="172"/>
                  </a:lnTo>
                  <a:lnTo>
                    <a:pt x="14" y="188"/>
                  </a:lnTo>
                  <a:lnTo>
                    <a:pt x="21" y="203"/>
                  </a:lnTo>
                  <a:lnTo>
                    <a:pt x="31" y="215"/>
                  </a:lnTo>
                  <a:lnTo>
                    <a:pt x="40" y="224"/>
                  </a:lnTo>
                  <a:lnTo>
                    <a:pt x="50" y="232"/>
                  </a:lnTo>
                  <a:lnTo>
                    <a:pt x="62" y="236"/>
                  </a:lnTo>
                  <a:lnTo>
                    <a:pt x="75" y="238"/>
                  </a:lnTo>
                </a:path>
              </a:pathLst>
            </a:custGeom>
            <a:solidFill>
              <a:srgbClr val="EAEAEA"/>
            </a:solidFill>
            <a:ln w="190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34" name="Rectangle 50"/>
            <p:cNvSpPr>
              <a:spLocks noChangeArrowheads="1"/>
            </p:cNvSpPr>
            <p:nvPr/>
          </p:nvSpPr>
          <p:spPr bwMode="auto">
            <a:xfrm>
              <a:off x="2991" y="2737"/>
              <a:ext cx="138" cy="1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dirty="0">
                  <a:solidFill>
                    <a:srgbClr val="000000"/>
                  </a:solidFill>
                  <a:latin typeface="+mj-lt"/>
                </a:rPr>
                <a:t>ALU</a:t>
              </a:r>
            </a:p>
          </p:txBody>
        </p:sp>
        <p:sp>
          <p:nvSpPr>
            <p:cNvPr id="54335" name="Rectangle 51"/>
            <p:cNvSpPr>
              <a:spLocks noChangeArrowheads="1"/>
            </p:cNvSpPr>
            <p:nvPr/>
          </p:nvSpPr>
          <p:spPr bwMode="auto">
            <a:xfrm>
              <a:off x="3183" y="2697"/>
              <a:ext cx="132" cy="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 dirty="0">
                  <a:solidFill>
                    <a:srgbClr val="000000"/>
                  </a:solidFill>
                  <a:latin typeface="+mj-lt"/>
                </a:rPr>
                <a:t>result</a:t>
              </a:r>
            </a:p>
          </p:txBody>
        </p:sp>
        <p:sp>
          <p:nvSpPr>
            <p:cNvPr id="54336" name="Rectangle 52"/>
            <p:cNvSpPr>
              <a:spLocks noChangeArrowheads="1"/>
            </p:cNvSpPr>
            <p:nvPr/>
          </p:nvSpPr>
          <p:spPr bwMode="auto">
            <a:xfrm>
              <a:off x="3208" y="2604"/>
              <a:ext cx="127" cy="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 dirty="0">
                  <a:solidFill>
                    <a:srgbClr val="000000"/>
                  </a:solidFill>
                  <a:latin typeface="+mj-lt"/>
                </a:rPr>
                <a:t>z</a:t>
              </a:r>
              <a:r>
                <a:rPr lang="en-US" sz="800" dirty="0" smtClean="0">
                  <a:solidFill>
                    <a:srgbClr val="000000"/>
                  </a:solidFill>
                  <a:latin typeface="+mj-lt"/>
                </a:rPr>
                <a:t>ero?</a:t>
              </a:r>
              <a:endParaRPr lang="en-US" sz="500" dirty="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337" name="Rectangle 53"/>
            <p:cNvSpPr>
              <a:spLocks noChangeArrowheads="1"/>
            </p:cNvSpPr>
            <p:nvPr/>
          </p:nvSpPr>
          <p:spPr bwMode="auto">
            <a:xfrm>
              <a:off x="3105" y="2123"/>
              <a:ext cx="132" cy="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 dirty="0" smtClean="0">
                  <a:solidFill>
                    <a:srgbClr val="000000"/>
                  </a:solidFill>
                  <a:latin typeface="+mj-lt"/>
                </a:rPr>
                <a:t>result</a:t>
              </a:r>
              <a:endParaRPr lang="en-US" sz="500" dirty="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338" name="Rectangle 54"/>
            <p:cNvSpPr>
              <a:spLocks noChangeArrowheads="1"/>
            </p:cNvSpPr>
            <p:nvPr/>
          </p:nvSpPr>
          <p:spPr bwMode="auto">
            <a:xfrm>
              <a:off x="2928" y="2191"/>
              <a:ext cx="138" cy="1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dirty="0">
                  <a:solidFill>
                    <a:srgbClr val="000000"/>
                  </a:solidFill>
                  <a:latin typeface="+mj-lt"/>
                </a:rPr>
                <a:t>Add</a:t>
              </a:r>
            </a:p>
          </p:txBody>
        </p:sp>
        <p:sp>
          <p:nvSpPr>
            <p:cNvPr id="54339" name="Rectangle 55"/>
            <p:cNvSpPr>
              <a:spLocks noChangeArrowheads="1"/>
            </p:cNvSpPr>
            <p:nvPr/>
          </p:nvSpPr>
          <p:spPr bwMode="auto">
            <a:xfrm>
              <a:off x="2694" y="2232"/>
              <a:ext cx="90" cy="1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600" dirty="0">
                  <a:solidFill>
                    <a:srgbClr val="000000"/>
                  </a:solidFill>
                  <a:latin typeface="+mj-lt"/>
                </a:rPr>
                <a:t>Shift </a:t>
              </a:r>
            </a:p>
            <a:p>
              <a:r>
                <a:rPr lang="en-US" sz="600" dirty="0">
                  <a:solidFill>
                    <a:srgbClr val="000000"/>
                  </a:solidFill>
                  <a:latin typeface="+mj-lt"/>
                </a:rPr>
                <a:t>left 2</a:t>
              </a:r>
              <a:endParaRPr lang="en-US" sz="500" dirty="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340" name="Line 56"/>
            <p:cNvSpPr>
              <a:spLocks noChangeShapeType="1"/>
            </p:cNvSpPr>
            <p:nvPr/>
          </p:nvSpPr>
          <p:spPr bwMode="auto">
            <a:xfrm flipH="1" flipV="1">
              <a:off x="2907" y="2820"/>
              <a:ext cx="65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41" name="Line 57"/>
            <p:cNvSpPr>
              <a:spLocks noChangeShapeType="1"/>
            </p:cNvSpPr>
            <p:nvPr/>
          </p:nvSpPr>
          <p:spPr bwMode="auto">
            <a:xfrm flipH="1" flipV="1">
              <a:off x="2526" y="2721"/>
              <a:ext cx="290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42" name="Line 58"/>
            <p:cNvSpPr>
              <a:spLocks noChangeShapeType="1"/>
            </p:cNvSpPr>
            <p:nvPr/>
          </p:nvSpPr>
          <p:spPr bwMode="auto">
            <a:xfrm flipH="1" flipV="1">
              <a:off x="2746" y="2925"/>
              <a:ext cx="71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43" name="Line 59"/>
            <p:cNvSpPr>
              <a:spLocks noChangeShapeType="1"/>
            </p:cNvSpPr>
            <p:nvPr/>
          </p:nvSpPr>
          <p:spPr bwMode="auto">
            <a:xfrm flipH="1">
              <a:off x="3268" y="2163"/>
              <a:ext cx="308" cy="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44" name="Line 60"/>
            <p:cNvSpPr>
              <a:spLocks noChangeShapeType="1"/>
            </p:cNvSpPr>
            <p:nvPr/>
          </p:nvSpPr>
          <p:spPr bwMode="auto">
            <a:xfrm flipH="1" flipV="1">
              <a:off x="3355" y="2748"/>
              <a:ext cx="227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45" name="Line 61"/>
            <p:cNvSpPr>
              <a:spLocks noChangeShapeType="1"/>
            </p:cNvSpPr>
            <p:nvPr/>
          </p:nvSpPr>
          <p:spPr bwMode="auto">
            <a:xfrm flipH="1">
              <a:off x="2523" y="3451"/>
              <a:ext cx="254" cy="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46" name="Line 62"/>
            <p:cNvSpPr>
              <a:spLocks noChangeShapeType="1"/>
            </p:cNvSpPr>
            <p:nvPr/>
          </p:nvSpPr>
          <p:spPr bwMode="auto">
            <a:xfrm flipH="1" flipV="1">
              <a:off x="2526" y="3647"/>
              <a:ext cx="254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47" name="Rectangle 63"/>
            <p:cNvSpPr>
              <a:spLocks noChangeArrowheads="1"/>
            </p:cNvSpPr>
            <p:nvPr/>
          </p:nvSpPr>
          <p:spPr bwMode="auto">
            <a:xfrm>
              <a:off x="2914" y="3127"/>
              <a:ext cx="172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n-US" sz="800">
                  <a:solidFill>
                    <a:srgbClr val="EB7500"/>
                  </a:solidFill>
                  <a:latin typeface="+mj-lt"/>
                </a:rPr>
                <a:t>ALU</a:t>
              </a:r>
            </a:p>
            <a:p>
              <a:pPr algn="ctr"/>
              <a:r>
                <a:rPr lang="en-US" sz="800">
                  <a:solidFill>
                    <a:srgbClr val="EB7500"/>
                  </a:solidFill>
                  <a:latin typeface="+mj-lt"/>
                </a:rPr>
                <a:t>Control</a:t>
              </a:r>
              <a:endParaRPr lang="en-US" sz="500">
                <a:solidFill>
                  <a:srgbClr val="EB7500"/>
                </a:solidFill>
                <a:latin typeface="+mj-lt"/>
              </a:endParaRPr>
            </a:p>
          </p:txBody>
        </p:sp>
        <p:sp>
          <p:nvSpPr>
            <p:cNvPr id="54350" name="Line 66"/>
            <p:cNvSpPr>
              <a:spLocks noChangeShapeType="1"/>
            </p:cNvSpPr>
            <p:nvPr/>
          </p:nvSpPr>
          <p:spPr bwMode="auto">
            <a:xfrm flipH="1">
              <a:off x="2875" y="3555"/>
              <a:ext cx="702" cy="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51" name="Line 67"/>
            <p:cNvSpPr>
              <a:spLocks noChangeShapeType="1"/>
            </p:cNvSpPr>
            <p:nvPr/>
          </p:nvSpPr>
          <p:spPr bwMode="auto">
            <a:xfrm flipH="1" flipV="1">
              <a:off x="2826" y="2286"/>
              <a:ext cx="71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53" name="Rectangle 69"/>
            <p:cNvSpPr>
              <a:spLocks noChangeArrowheads="1"/>
            </p:cNvSpPr>
            <p:nvPr/>
          </p:nvSpPr>
          <p:spPr bwMode="auto">
            <a:xfrm>
              <a:off x="1824" y="2374"/>
              <a:ext cx="117" cy="1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800" dirty="0">
                  <a:solidFill>
                    <a:srgbClr val="000000"/>
                  </a:solidFill>
                  <a:latin typeface="+mj-lt"/>
                </a:rPr>
                <a:t>Read</a:t>
              </a:r>
            </a:p>
            <a:p>
              <a:pPr>
                <a:lnSpc>
                  <a:spcPct val="90000"/>
                </a:lnSpc>
              </a:pPr>
              <a:r>
                <a:rPr lang="en-US" sz="800" dirty="0" err="1">
                  <a:solidFill>
                    <a:srgbClr val="000000"/>
                  </a:solidFill>
                  <a:latin typeface="+mj-lt"/>
                </a:rPr>
                <a:t>reg</a:t>
              </a:r>
              <a:r>
                <a:rPr lang="en-US" sz="800" dirty="0">
                  <a:solidFill>
                    <a:srgbClr val="000000"/>
                  </a:solidFill>
                  <a:latin typeface="+mj-lt"/>
                </a:rPr>
                <a:t> 1</a:t>
              </a:r>
              <a:endParaRPr lang="en-US" sz="600" dirty="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354" name="Rectangle 70"/>
            <p:cNvSpPr>
              <a:spLocks noChangeArrowheads="1"/>
            </p:cNvSpPr>
            <p:nvPr/>
          </p:nvSpPr>
          <p:spPr bwMode="auto">
            <a:xfrm>
              <a:off x="1823" y="2524"/>
              <a:ext cx="117" cy="1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800" dirty="0">
                  <a:solidFill>
                    <a:srgbClr val="000000"/>
                  </a:solidFill>
                  <a:latin typeface="+mj-lt"/>
                </a:rPr>
                <a:t>Read</a:t>
              </a:r>
            </a:p>
            <a:p>
              <a:pPr>
                <a:lnSpc>
                  <a:spcPct val="90000"/>
                </a:lnSpc>
              </a:pPr>
              <a:r>
                <a:rPr lang="en-US" sz="800" dirty="0" err="1">
                  <a:solidFill>
                    <a:srgbClr val="000000"/>
                  </a:solidFill>
                  <a:latin typeface="+mj-lt"/>
                </a:rPr>
                <a:t>reg</a:t>
              </a:r>
              <a:r>
                <a:rPr lang="en-US" sz="800" dirty="0">
                  <a:solidFill>
                    <a:srgbClr val="000000"/>
                  </a:solidFill>
                  <a:latin typeface="+mj-lt"/>
                </a:rPr>
                <a:t> 2</a:t>
              </a:r>
              <a:endParaRPr lang="en-US" sz="600" dirty="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355" name="Rectangle 71"/>
            <p:cNvSpPr>
              <a:spLocks noChangeArrowheads="1"/>
            </p:cNvSpPr>
            <p:nvPr/>
          </p:nvSpPr>
          <p:spPr bwMode="auto">
            <a:xfrm>
              <a:off x="1830" y="2683"/>
              <a:ext cx="130" cy="1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800" dirty="0">
                  <a:solidFill>
                    <a:srgbClr val="000000"/>
                  </a:solidFill>
                  <a:latin typeface="+mj-lt"/>
                </a:rPr>
                <a:t>Write</a:t>
              </a:r>
            </a:p>
            <a:p>
              <a:pPr>
                <a:lnSpc>
                  <a:spcPct val="90000"/>
                </a:lnSpc>
              </a:pPr>
              <a:r>
                <a:rPr lang="en-US" sz="800" dirty="0" err="1">
                  <a:solidFill>
                    <a:srgbClr val="000000"/>
                  </a:solidFill>
                  <a:latin typeface="+mj-lt"/>
                </a:rPr>
                <a:t>reg</a:t>
              </a:r>
              <a:endParaRPr lang="en-US" sz="700" dirty="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356" name="Rectangle 72"/>
            <p:cNvSpPr>
              <a:spLocks noChangeArrowheads="1"/>
            </p:cNvSpPr>
            <p:nvPr/>
          </p:nvSpPr>
          <p:spPr bwMode="auto">
            <a:xfrm>
              <a:off x="1833" y="2836"/>
              <a:ext cx="130" cy="1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800" dirty="0">
                  <a:solidFill>
                    <a:srgbClr val="000000"/>
                  </a:solidFill>
                  <a:latin typeface="+mj-lt"/>
                </a:rPr>
                <a:t>Write</a:t>
              </a:r>
            </a:p>
            <a:p>
              <a:pPr>
                <a:lnSpc>
                  <a:spcPct val="90000"/>
                </a:lnSpc>
              </a:pPr>
              <a:r>
                <a:rPr lang="en-US" sz="800" dirty="0">
                  <a:solidFill>
                    <a:srgbClr val="000000"/>
                  </a:solidFill>
                  <a:latin typeface="+mj-lt"/>
                </a:rPr>
                <a:t>data</a:t>
              </a:r>
            </a:p>
          </p:txBody>
        </p:sp>
        <p:sp>
          <p:nvSpPr>
            <p:cNvPr id="54357" name="Rectangle 73"/>
            <p:cNvSpPr>
              <a:spLocks noChangeArrowheads="1"/>
            </p:cNvSpPr>
            <p:nvPr/>
          </p:nvSpPr>
          <p:spPr bwMode="auto">
            <a:xfrm>
              <a:off x="2139" y="2470"/>
              <a:ext cx="145" cy="1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800" dirty="0">
                  <a:solidFill>
                    <a:srgbClr val="000000"/>
                  </a:solidFill>
                  <a:latin typeface="+mj-lt"/>
                </a:rPr>
                <a:t>Read</a:t>
              </a:r>
            </a:p>
            <a:p>
              <a:pPr>
                <a:lnSpc>
                  <a:spcPct val="90000"/>
                </a:lnSpc>
              </a:pPr>
              <a:r>
                <a:rPr lang="en-US" sz="800" dirty="0">
                  <a:solidFill>
                    <a:srgbClr val="000000"/>
                  </a:solidFill>
                  <a:latin typeface="+mj-lt"/>
                </a:rPr>
                <a:t>data 1</a:t>
              </a:r>
              <a:endParaRPr lang="en-US" sz="500" dirty="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358" name="Rectangle 74"/>
            <p:cNvSpPr>
              <a:spLocks noChangeArrowheads="1"/>
            </p:cNvSpPr>
            <p:nvPr/>
          </p:nvSpPr>
          <p:spPr bwMode="auto">
            <a:xfrm>
              <a:off x="2145" y="2657"/>
              <a:ext cx="145" cy="1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800" dirty="0">
                  <a:solidFill>
                    <a:srgbClr val="000000"/>
                  </a:solidFill>
                  <a:latin typeface="+mj-lt"/>
                </a:rPr>
                <a:t>Read</a:t>
              </a:r>
            </a:p>
            <a:p>
              <a:pPr>
                <a:lnSpc>
                  <a:spcPct val="90000"/>
                </a:lnSpc>
              </a:pPr>
              <a:r>
                <a:rPr lang="en-US" sz="800" dirty="0">
                  <a:solidFill>
                    <a:srgbClr val="000000"/>
                  </a:solidFill>
                  <a:latin typeface="+mj-lt"/>
                </a:rPr>
                <a:t>data 2</a:t>
              </a:r>
              <a:endParaRPr lang="en-US" sz="600" dirty="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359" name="Rectangle 75"/>
            <p:cNvSpPr>
              <a:spLocks noChangeArrowheads="1"/>
            </p:cNvSpPr>
            <p:nvPr/>
          </p:nvSpPr>
          <p:spPr bwMode="auto">
            <a:xfrm rot="16200000">
              <a:off x="1828" y="2603"/>
              <a:ext cx="442" cy="1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>
                  <a:solidFill>
                    <a:srgbClr val="000000"/>
                  </a:solidFill>
                  <a:latin typeface="+mj-lt"/>
                </a:rPr>
                <a:t>Register File</a:t>
              </a:r>
            </a:p>
          </p:txBody>
        </p:sp>
        <p:sp>
          <p:nvSpPr>
            <p:cNvPr id="54360" name="Rectangle 76"/>
            <p:cNvSpPr>
              <a:spLocks noChangeArrowheads="1"/>
            </p:cNvSpPr>
            <p:nvPr/>
          </p:nvSpPr>
          <p:spPr bwMode="auto">
            <a:xfrm>
              <a:off x="1743" y="3137"/>
              <a:ext cx="154" cy="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900">
                  <a:solidFill>
                    <a:srgbClr val="000000"/>
                  </a:solidFill>
                  <a:latin typeface="+mj-lt"/>
                </a:rPr>
                <a:t>[15-0]</a:t>
              </a:r>
              <a:endParaRPr lang="en-US" sz="5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361" name="Rectangle 77"/>
            <p:cNvSpPr>
              <a:spLocks noChangeArrowheads="1"/>
            </p:cNvSpPr>
            <p:nvPr/>
          </p:nvSpPr>
          <p:spPr bwMode="auto">
            <a:xfrm>
              <a:off x="1740" y="3358"/>
              <a:ext cx="186" cy="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900">
                  <a:solidFill>
                    <a:srgbClr val="000000"/>
                  </a:solidFill>
                  <a:latin typeface="+mj-lt"/>
                </a:rPr>
                <a:t>[20-16]</a:t>
              </a:r>
            </a:p>
          </p:txBody>
        </p:sp>
        <p:sp>
          <p:nvSpPr>
            <p:cNvPr id="54362" name="Rectangle 78"/>
            <p:cNvSpPr>
              <a:spLocks noChangeArrowheads="1"/>
            </p:cNvSpPr>
            <p:nvPr/>
          </p:nvSpPr>
          <p:spPr bwMode="auto">
            <a:xfrm>
              <a:off x="1743" y="3550"/>
              <a:ext cx="186" cy="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900">
                  <a:solidFill>
                    <a:srgbClr val="000000"/>
                  </a:solidFill>
                  <a:latin typeface="+mj-lt"/>
                </a:rPr>
                <a:t>[15-11]</a:t>
              </a:r>
            </a:p>
          </p:txBody>
        </p:sp>
        <p:sp>
          <p:nvSpPr>
            <p:cNvPr id="54363" name="Freeform 79"/>
            <p:cNvSpPr>
              <a:spLocks/>
            </p:cNvSpPr>
            <p:nvPr/>
          </p:nvSpPr>
          <p:spPr bwMode="auto">
            <a:xfrm>
              <a:off x="1629" y="3213"/>
              <a:ext cx="24" cy="24"/>
            </a:xfrm>
            <a:custGeom>
              <a:avLst/>
              <a:gdLst>
                <a:gd name="T0" fmla="*/ 10 w 24"/>
                <a:gd name="T1" fmla="*/ 23 h 24"/>
                <a:gd name="T2" fmla="*/ 14 w 24"/>
                <a:gd name="T3" fmla="*/ 23 h 24"/>
                <a:gd name="T4" fmla="*/ 16 w 24"/>
                <a:gd name="T5" fmla="*/ 23 h 24"/>
                <a:gd name="T6" fmla="*/ 16 w 24"/>
                <a:gd name="T7" fmla="*/ 21 h 24"/>
                <a:gd name="T8" fmla="*/ 18 w 24"/>
                <a:gd name="T9" fmla="*/ 21 h 24"/>
                <a:gd name="T10" fmla="*/ 20 w 24"/>
                <a:gd name="T11" fmla="*/ 19 h 24"/>
                <a:gd name="T12" fmla="*/ 22 w 24"/>
                <a:gd name="T13" fmla="*/ 18 h 24"/>
                <a:gd name="T14" fmla="*/ 22 w 24"/>
                <a:gd name="T15" fmla="*/ 18 h 24"/>
                <a:gd name="T16" fmla="*/ 22 w 24"/>
                <a:gd name="T17" fmla="*/ 16 h 24"/>
                <a:gd name="T18" fmla="*/ 23 w 24"/>
                <a:gd name="T19" fmla="*/ 14 h 24"/>
                <a:gd name="T20" fmla="*/ 23 w 24"/>
                <a:gd name="T21" fmla="*/ 12 h 24"/>
                <a:gd name="T22" fmla="*/ 23 w 24"/>
                <a:gd name="T23" fmla="*/ 10 h 24"/>
                <a:gd name="T24" fmla="*/ 22 w 24"/>
                <a:gd name="T25" fmla="*/ 8 h 24"/>
                <a:gd name="T26" fmla="*/ 22 w 24"/>
                <a:gd name="T27" fmla="*/ 6 h 24"/>
                <a:gd name="T28" fmla="*/ 22 w 24"/>
                <a:gd name="T29" fmla="*/ 4 h 24"/>
                <a:gd name="T30" fmla="*/ 20 w 24"/>
                <a:gd name="T31" fmla="*/ 4 h 24"/>
                <a:gd name="T32" fmla="*/ 18 w 24"/>
                <a:gd name="T33" fmla="*/ 2 h 24"/>
                <a:gd name="T34" fmla="*/ 16 w 24"/>
                <a:gd name="T35" fmla="*/ 2 h 24"/>
                <a:gd name="T36" fmla="*/ 16 w 24"/>
                <a:gd name="T37" fmla="*/ 0 h 24"/>
                <a:gd name="T38" fmla="*/ 14 w 24"/>
                <a:gd name="T39" fmla="*/ 0 h 24"/>
                <a:gd name="T40" fmla="*/ 12 w 24"/>
                <a:gd name="T41" fmla="*/ 0 h 24"/>
                <a:gd name="T42" fmla="*/ 10 w 24"/>
                <a:gd name="T43" fmla="*/ 0 h 24"/>
                <a:gd name="T44" fmla="*/ 8 w 24"/>
                <a:gd name="T45" fmla="*/ 0 h 24"/>
                <a:gd name="T46" fmla="*/ 6 w 24"/>
                <a:gd name="T47" fmla="*/ 2 h 24"/>
                <a:gd name="T48" fmla="*/ 4 w 24"/>
                <a:gd name="T49" fmla="*/ 2 h 24"/>
                <a:gd name="T50" fmla="*/ 2 w 24"/>
                <a:gd name="T51" fmla="*/ 4 h 24"/>
                <a:gd name="T52" fmla="*/ 2 w 24"/>
                <a:gd name="T53" fmla="*/ 4 h 24"/>
                <a:gd name="T54" fmla="*/ 0 w 24"/>
                <a:gd name="T55" fmla="*/ 6 h 24"/>
                <a:gd name="T56" fmla="*/ 0 w 24"/>
                <a:gd name="T57" fmla="*/ 8 h 24"/>
                <a:gd name="T58" fmla="*/ 0 w 24"/>
                <a:gd name="T59" fmla="*/ 10 h 24"/>
                <a:gd name="T60" fmla="*/ 0 w 24"/>
                <a:gd name="T61" fmla="*/ 12 h 24"/>
                <a:gd name="T62" fmla="*/ 0 w 24"/>
                <a:gd name="T63" fmla="*/ 14 h 24"/>
                <a:gd name="T64" fmla="*/ 0 w 24"/>
                <a:gd name="T65" fmla="*/ 16 h 24"/>
                <a:gd name="T66" fmla="*/ 0 w 24"/>
                <a:gd name="T67" fmla="*/ 18 h 24"/>
                <a:gd name="T68" fmla="*/ 2 w 24"/>
                <a:gd name="T69" fmla="*/ 18 h 24"/>
                <a:gd name="T70" fmla="*/ 2 w 24"/>
                <a:gd name="T71" fmla="*/ 19 h 24"/>
                <a:gd name="T72" fmla="*/ 4 w 24"/>
                <a:gd name="T73" fmla="*/ 21 h 24"/>
                <a:gd name="T74" fmla="*/ 6 w 24"/>
                <a:gd name="T75" fmla="*/ 21 h 24"/>
                <a:gd name="T76" fmla="*/ 8 w 24"/>
                <a:gd name="T77" fmla="*/ 23 h 24"/>
                <a:gd name="T78" fmla="*/ 10 w 24"/>
                <a:gd name="T79" fmla="*/ 23 h 24"/>
                <a:gd name="T80" fmla="*/ 12 w 24"/>
                <a:gd name="T81" fmla="*/ 23 h 24"/>
                <a:gd name="T82" fmla="*/ 12 w 24"/>
                <a:gd name="T83" fmla="*/ 23 h 24"/>
                <a:gd name="T84" fmla="*/ 10 w 24"/>
                <a:gd name="T85" fmla="*/ 23 h 2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4"/>
                <a:gd name="T130" fmla="*/ 0 h 24"/>
                <a:gd name="T131" fmla="*/ 24 w 24"/>
                <a:gd name="T132" fmla="*/ 24 h 24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4" h="24">
                  <a:moveTo>
                    <a:pt x="10" y="23"/>
                  </a:moveTo>
                  <a:lnTo>
                    <a:pt x="14" y="23"/>
                  </a:lnTo>
                  <a:lnTo>
                    <a:pt x="16" y="23"/>
                  </a:lnTo>
                  <a:lnTo>
                    <a:pt x="16" y="21"/>
                  </a:lnTo>
                  <a:lnTo>
                    <a:pt x="18" y="21"/>
                  </a:lnTo>
                  <a:lnTo>
                    <a:pt x="20" y="19"/>
                  </a:lnTo>
                  <a:lnTo>
                    <a:pt x="22" y="18"/>
                  </a:lnTo>
                  <a:lnTo>
                    <a:pt x="22" y="16"/>
                  </a:lnTo>
                  <a:lnTo>
                    <a:pt x="23" y="14"/>
                  </a:lnTo>
                  <a:lnTo>
                    <a:pt x="23" y="12"/>
                  </a:lnTo>
                  <a:lnTo>
                    <a:pt x="23" y="10"/>
                  </a:lnTo>
                  <a:lnTo>
                    <a:pt x="22" y="8"/>
                  </a:lnTo>
                  <a:lnTo>
                    <a:pt x="22" y="6"/>
                  </a:lnTo>
                  <a:lnTo>
                    <a:pt x="22" y="4"/>
                  </a:lnTo>
                  <a:lnTo>
                    <a:pt x="20" y="4"/>
                  </a:lnTo>
                  <a:lnTo>
                    <a:pt x="18" y="2"/>
                  </a:lnTo>
                  <a:lnTo>
                    <a:pt x="16" y="2"/>
                  </a:lnTo>
                  <a:lnTo>
                    <a:pt x="16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8" y="0"/>
                  </a:lnTo>
                  <a:lnTo>
                    <a:pt x="6" y="2"/>
                  </a:lnTo>
                  <a:lnTo>
                    <a:pt x="4" y="2"/>
                  </a:lnTo>
                  <a:lnTo>
                    <a:pt x="2" y="4"/>
                  </a:lnTo>
                  <a:lnTo>
                    <a:pt x="0" y="6"/>
                  </a:lnTo>
                  <a:lnTo>
                    <a:pt x="0" y="8"/>
                  </a:lnTo>
                  <a:lnTo>
                    <a:pt x="0" y="10"/>
                  </a:lnTo>
                  <a:lnTo>
                    <a:pt x="0" y="12"/>
                  </a:lnTo>
                  <a:lnTo>
                    <a:pt x="0" y="14"/>
                  </a:lnTo>
                  <a:lnTo>
                    <a:pt x="0" y="16"/>
                  </a:lnTo>
                  <a:lnTo>
                    <a:pt x="0" y="18"/>
                  </a:lnTo>
                  <a:lnTo>
                    <a:pt x="2" y="18"/>
                  </a:lnTo>
                  <a:lnTo>
                    <a:pt x="2" y="19"/>
                  </a:lnTo>
                  <a:lnTo>
                    <a:pt x="4" y="21"/>
                  </a:lnTo>
                  <a:lnTo>
                    <a:pt x="6" y="21"/>
                  </a:lnTo>
                  <a:lnTo>
                    <a:pt x="8" y="23"/>
                  </a:lnTo>
                  <a:lnTo>
                    <a:pt x="10" y="23"/>
                  </a:lnTo>
                  <a:lnTo>
                    <a:pt x="12" y="23"/>
                  </a:lnTo>
                  <a:lnTo>
                    <a:pt x="10" y="23"/>
                  </a:lnTo>
                </a:path>
              </a:pathLst>
            </a:custGeom>
            <a:solidFill>
              <a:srgbClr val="000000"/>
            </a:solidFill>
            <a:ln w="9525" cap="rnd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64" name="Freeform 80"/>
            <p:cNvSpPr>
              <a:spLocks/>
            </p:cNvSpPr>
            <p:nvPr/>
          </p:nvSpPr>
          <p:spPr bwMode="auto">
            <a:xfrm>
              <a:off x="2091" y="3039"/>
              <a:ext cx="215" cy="367"/>
            </a:xfrm>
            <a:custGeom>
              <a:avLst/>
              <a:gdLst>
                <a:gd name="T0" fmla="*/ 107 w 173"/>
                <a:gd name="T1" fmla="*/ 366 h 367"/>
                <a:gd name="T2" fmla="*/ 123 w 173"/>
                <a:gd name="T3" fmla="*/ 364 h 367"/>
                <a:gd name="T4" fmla="*/ 140 w 173"/>
                <a:gd name="T5" fmla="*/ 357 h 367"/>
                <a:gd name="T6" fmla="*/ 157 w 173"/>
                <a:gd name="T7" fmla="*/ 345 h 367"/>
                <a:gd name="T8" fmla="*/ 172 w 173"/>
                <a:gd name="T9" fmla="*/ 332 h 367"/>
                <a:gd name="T10" fmla="*/ 183 w 173"/>
                <a:gd name="T11" fmla="*/ 313 h 367"/>
                <a:gd name="T12" fmla="*/ 193 w 173"/>
                <a:gd name="T13" fmla="*/ 292 h 367"/>
                <a:gd name="T14" fmla="*/ 203 w 173"/>
                <a:gd name="T15" fmla="*/ 267 h 367"/>
                <a:gd name="T16" fmla="*/ 209 w 173"/>
                <a:gd name="T17" fmla="*/ 242 h 367"/>
                <a:gd name="T18" fmla="*/ 214 w 173"/>
                <a:gd name="T19" fmla="*/ 213 h 367"/>
                <a:gd name="T20" fmla="*/ 214 w 173"/>
                <a:gd name="T21" fmla="*/ 182 h 367"/>
                <a:gd name="T22" fmla="*/ 214 w 173"/>
                <a:gd name="T23" fmla="*/ 154 h 367"/>
                <a:gd name="T24" fmla="*/ 209 w 173"/>
                <a:gd name="T25" fmla="*/ 125 h 367"/>
                <a:gd name="T26" fmla="*/ 203 w 173"/>
                <a:gd name="T27" fmla="*/ 98 h 367"/>
                <a:gd name="T28" fmla="*/ 193 w 173"/>
                <a:gd name="T29" fmla="*/ 75 h 367"/>
                <a:gd name="T30" fmla="*/ 183 w 173"/>
                <a:gd name="T31" fmla="*/ 54 h 367"/>
                <a:gd name="T32" fmla="*/ 172 w 173"/>
                <a:gd name="T33" fmla="*/ 35 h 367"/>
                <a:gd name="T34" fmla="*/ 157 w 173"/>
                <a:gd name="T35" fmla="*/ 20 h 367"/>
                <a:gd name="T36" fmla="*/ 140 w 173"/>
                <a:gd name="T37" fmla="*/ 8 h 367"/>
                <a:gd name="T38" fmla="*/ 123 w 173"/>
                <a:gd name="T39" fmla="*/ 2 h 367"/>
                <a:gd name="T40" fmla="*/ 107 w 173"/>
                <a:gd name="T41" fmla="*/ 0 h 367"/>
                <a:gd name="T42" fmla="*/ 91 w 173"/>
                <a:gd name="T43" fmla="*/ 2 h 367"/>
                <a:gd name="T44" fmla="*/ 73 w 173"/>
                <a:gd name="T45" fmla="*/ 8 h 367"/>
                <a:gd name="T46" fmla="*/ 57 w 173"/>
                <a:gd name="T47" fmla="*/ 20 h 367"/>
                <a:gd name="T48" fmla="*/ 45 w 173"/>
                <a:gd name="T49" fmla="*/ 35 h 367"/>
                <a:gd name="T50" fmla="*/ 31 w 173"/>
                <a:gd name="T51" fmla="*/ 54 h 367"/>
                <a:gd name="T52" fmla="*/ 21 w 173"/>
                <a:gd name="T53" fmla="*/ 75 h 367"/>
                <a:gd name="T54" fmla="*/ 11 w 173"/>
                <a:gd name="T55" fmla="*/ 98 h 367"/>
                <a:gd name="T56" fmla="*/ 5 w 173"/>
                <a:gd name="T57" fmla="*/ 125 h 367"/>
                <a:gd name="T58" fmla="*/ 2 w 173"/>
                <a:gd name="T59" fmla="*/ 154 h 367"/>
                <a:gd name="T60" fmla="*/ 0 w 173"/>
                <a:gd name="T61" fmla="*/ 182 h 367"/>
                <a:gd name="T62" fmla="*/ 2 w 173"/>
                <a:gd name="T63" fmla="*/ 213 h 367"/>
                <a:gd name="T64" fmla="*/ 5 w 173"/>
                <a:gd name="T65" fmla="*/ 242 h 367"/>
                <a:gd name="T66" fmla="*/ 11 w 173"/>
                <a:gd name="T67" fmla="*/ 267 h 367"/>
                <a:gd name="T68" fmla="*/ 21 w 173"/>
                <a:gd name="T69" fmla="*/ 292 h 367"/>
                <a:gd name="T70" fmla="*/ 31 w 173"/>
                <a:gd name="T71" fmla="*/ 313 h 367"/>
                <a:gd name="T72" fmla="*/ 45 w 173"/>
                <a:gd name="T73" fmla="*/ 332 h 367"/>
                <a:gd name="T74" fmla="*/ 57 w 173"/>
                <a:gd name="T75" fmla="*/ 345 h 367"/>
                <a:gd name="T76" fmla="*/ 73 w 173"/>
                <a:gd name="T77" fmla="*/ 357 h 367"/>
                <a:gd name="T78" fmla="*/ 91 w 173"/>
                <a:gd name="T79" fmla="*/ 364 h 367"/>
                <a:gd name="T80" fmla="*/ 107 w 173"/>
                <a:gd name="T81" fmla="*/ 366 h 367"/>
                <a:gd name="T82" fmla="*/ 107 w 173"/>
                <a:gd name="T83" fmla="*/ 366 h 367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173"/>
                <a:gd name="T127" fmla="*/ 0 h 367"/>
                <a:gd name="T128" fmla="*/ 173 w 173"/>
                <a:gd name="T129" fmla="*/ 367 h 367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173" h="367">
                  <a:moveTo>
                    <a:pt x="86" y="366"/>
                  </a:moveTo>
                  <a:lnTo>
                    <a:pt x="99" y="364"/>
                  </a:lnTo>
                  <a:lnTo>
                    <a:pt x="113" y="357"/>
                  </a:lnTo>
                  <a:lnTo>
                    <a:pt x="126" y="345"/>
                  </a:lnTo>
                  <a:lnTo>
                    <a:pt x="138" y="332"/>
                  </a:lnTo>
                  <a:lnTo>
                    <a:pt x="147" y="313"/>
                  </a:lnTo>
                  <a:lnTo>
                    <a:pt x="155" y="292"/>
                  </a:lnTo>
                  <a:lnTo>
                    <a:pt x="163" y="267"/>
                  </a:lnTo>
                  <a:lnTo>
                    <a:pt x="168" y="242"/>
                  </a:lnTo>
                  <a:lnTo>
                    <a:pt x="172" y="213"/>
                  </a:lnTo>
                  <a:lnTo>
                    <a:pt x="172" y="182"/>
                  </a:lnTo>
                  <a:lnTo>
                    <a:pt x="172" y="154"/>
                  </a:lnTo>
                  <a:lnTo>
                    <a:pt x="168" y="125"/>
                  </a:lnTo>
                  <a:lnTo>
                    <a:pt x="163" y="98"/>
                  </a:lnTo>
                  <a:lnTo>
                    <a:pt x="155" y="75"/>
                  </a:lnTo>
                  <a:lnTo>
                    <a:pt x="147" y="54"/>
                  </a:lnTo>
                  <a:lnTo>
                    <a:pt x="138" y="35"/>
                  </a:lnTo>
                  <a:lnTo>
                    <a:pt x="126" y="20"/>
                  </a:lnTo>
                  <a:lnTo>
                    <a:pt x="113" y="8"/>
                  </a:lnTo>
                  <a:lnTo>
                    <a:pt x="99" y="2"/>
                  </a:lnTo>
                  <a:lnTo>
                    <a:pt x="86" y="0"/>
                  </a:lnTo>
                  <a:lnTo>
                    <a:pt x="73" y="2"/>
                  </a:lnTo>
                  <a:lnTo>
                    <a:pt x="59" y="8"/>
                  </a:lnTo>
                  <a:lnTo>
                    <a:pt x="46" y="20"/>
                  </a:lnTo>
                  <a:lnTo>
                    <a:pt x="36" y="35"/>
                  </a:lnTo>
                  <a:lnTo>
                    <a:pt x="25" y="54"/>
                  </a:lnTo>
                  <a:lnTo>
                    <a:pt x="17" y="75"/>
                  </a:lnTo>
                  <a:lnTo>
                    <a:pt x="9" y="98"/>
                  </a:lnTo>
                  <a:lnTo>
                    <a:pt x="4" y="125"/>
                  </a:lnTo>
                  <a:lnTo>
                    <a:pt x="2" y="154"/>
                  </a:lnTo>
                  <a:lnTo>
                    <a:pt x="0" y="182"/>
                  </a:lnTo>
                  <a:lnTo>
                    <a:pt x="2" y="213"/>
                  </a:lnTo>
                  <a:lnTo>
                    <a:pt x="4" y="242"/>
                  </a:lnTo>
                  <a:lnTo>
                    <a:pt x="9" y="267"/>
                  </a:lnTo>
                  <a:lnTo>
                    <a:pt x="17" y="292"/>
                  </a:lnTo>
                  <a:lnTo>
                    <a:pt x="25" y="313"/>
                  </a:lnTo>
                  <a:lnTo>
                    <a:pt x="36" y="332"/>
                  </a:lnTo>
                  <a:lnTo>
                    <a:pt x="46" y="345"/>
                  </a:lnTo>
                  <a:lnTo>
                    <a:pt x="59" y="357"/>
                  </a:lnTo>
                  <a:lnTo>
                    <a:pt x="73" y="364"/>
                  </a:lnTo>
                  <a:lnTo>
                    <a:pt x="86" y="366"/>
                  </a:lnTo>
                </a:path>
              </a:pathLst>
            </a:custGeom>
            <a:solidFill>
              <a:srgbClr val="EAEAEA"/>
            </a:solidFill>
            <a:ln w="190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65" name="Rectangle 81"/>
            <p:cNvSpPr>
              <a:spLocks noChangeArrowheads="1"/>
            </p:cNvSpPr>
            <p:nvPr/>
          </p:nvSpPr>
          <p:spPr bwMode="auto">
            <a:xfrm>
              <a:off x="2110" y="3124"/>
              <a:ext cx="180" cy="1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900" dirty="0">
                  <a:solidFill>
                    <a:srgbClr val="000000"/>
                  </a:solidFill>
                  <a:latin typeface="+mj-lt"/>
                </a:rPr>
                <a:t>Sign</a:t>
              </a:r>
            </a:p>
            <a:p>
              <a:pPr algn="ctr">
                <a:lnSpc>
                  <a:spcPct val="90000"/>
                </a:lnSpc>
              </a:pPr>
              <a:r>
                <a:rPr lang="en-US" sz="900" dirty="0">
                  <a:solidFill>
                    <a:srgbClr val="000000"/>
                  </a:solidFill>
                  <a:latin typeface="+mj-lt"/>
                </a:rPr>
                <a:t>extend</a:t>
              </a:r>
              <a:endParaRPr lang="en-US" sz="600" dirty="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366" name="Rectangle 82"/>
            <p:cNvSpPr>
              <a:spLocks noChangeArrowheads="1"/>
            </p:cNvSpPr>
            <p:nvPr/>
          </p:nvSpPr>
          <p:spPr bwMode="auto">
            <a:xfrm>
              <a:off x="1968" y="3123"/>
              <a:ext cx="64" cy="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900">
                  <a:solidFill>
                    <a:srgbClr val="000000"/>
                  </a:solidFill>
                  <a:latin typeface="+mj-lt"/>
                </a:rPr>
                <a:t>16</a:t>
              </a:r>
              <a:endParaRPr lang="en-US" sz="5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367" name="Rectangle 83"/>
            <p:cNvSpPr>
              <a:spLocks noChangeArrowheads="1"/>
            </p:cNvSpPr>
            <p:nvPr/>
          </p:nvSpPr>
          <p:spPr bwMode="auto">
            <a:xfrm>
              <a:off x="2319" y="3127"/>
              <a:ext cx="64" cy="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900">
                  <a:solidFill>
                    <a:srgbClr val="000000"/>
                  </a:solidFill>
                  <a:latin typeface="+mj-lt"/>
                </a:rPr>
                <a:t>32</a:t>
              </a:r>
              <a:endParaRPr lang="en-US" sz="5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368" name="Line 84"/>
            <p:cNvSpPr>
              <a:spLocks noChangeShapeType="1"/>
            </p:cNvSpPr>
            <p:nvPr/>
          </p:nvSpPr>
          <p:spPr bwMode="auto">
            <a:xfrm flipH="1">
              <a:off x="1637" y="2598"/>
              <a:ext cx="1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69" name="Line 85"/>
            <p:cNvSpPr>
              <a:spLocks noChangeShapeType="1"/>
            </p:cNvSpPr>
            <p:nvPr/>
          </p:nvSpPr>
          <p:spPr bwMode="auto">
            <a:xfrm flipH="1">
              <a:off x="1635" y="2434"/>
              <a:ext cx="17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70" name="Line 86"/>
            <p:cNvSpPr>
              <a:spLocks noChangeShapeType="1"/>
            </p:cNvSpPr>
            <p:nvPr/>
          </p:nvSpPr>
          <p:spPr bwMode="auto">
            <a:xfrm flipH="1">
              <a:off x="2325" y="2527"/>
              <a:ext cx="11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71" name="Line 87"/>
            <p:cNvSpPr>
              <a:spLocks noChangeShapeType="1"/>
            </p:cNvSpPr>
            <p:nvPr/>
          </p:nvSpPr>
          <p:spPr bwMode="auto">
            <a:xfrm flipH="1">
              <a:off x="2325" y="2721"/>
              <a:ext cx="11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72" name="Line 88"/>
            <p:cNvSpPr>
              <a:spLocks noChangeShapeType="1"/>
            </p:cNvSpPr>
            <p:nvPr/>
          </p:nvSpPr>
          <p:spPr bwMode="auto">
            <a:xfrm flipH="1">
              <a:off x="2063" y="2299"/>
              <a:ext cx="1" cy="51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73" name="Rectangle 89"/>
            <p:cNvSpPr>
              <a:spLocks noChangeArrowheads="1"/>
            </p:cNvSpPr>
            <p:nvPr/>
          </p:nvSpPr>
          <p:spPr bwMode="auto">
            <a:xfrm>
              <a:off x="2350" y="1757"/>
              <a:ext cx="256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+mj-lt"/>
                </a:rPr>
                <a:t>ID/EX</a:t>
              </a:r>
              <a:endParaRPr lang="en-US" sz="7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374" name="Rectangle 90"/>
            <p:cNvSpPr>
              <a:spLocks noChangeArrowheads="1"/>
            </p:cNvSpPr>
            <p:nvPr/>
          </p:nvSpPr>
          <p:spPr bwMode="auto">
            <a:xfrm>
              <a:off x="3440" y="1752"/>
              <a:ext cx="407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+mj-lt"/>
                </a:rPr>
                <a:t>EX/MEM</a:t>
              </a:r>
              <a:endParaRPr lang="en-US" sz="10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375" name="Rectangle 91"/>
            <p:cNvSpPr>
              <a:spLocks noChangeArrowheads="1"/>
            </p:cNvSpPr>
            <p:nvPr/>
          </p:nvSpPr>
          <p:spPr bwMode="auto">
            <a:xfrm>
              <a:off x="4527" y="1746"/>
              <a:ext cx="456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dirty="0">
                  <a:solidFill>
                    <a:srgbClr val="000000"/>
                  </a:solidFill>
                  <a:latin typeface="+mj-lt"/>
                </a:rPr>
                <a:t>MEM/WB</a:t>
              </a:r>
            </a:p>
          </p:txBody>
        </p:sp>
        <p:sp>
          <p:nvSpPr>
            <p:cNvPr id="54376" name="Rectangle 92"/>
            <p:cNvSpPr>
              <a:spLocks noChangeArrowheads="1"/>
            </p:cNvSpPr>
            <p:nvPr/>
          </p:nvSpPr>
          <p:spPr bwMode="auto">
            <a:xfrm rot="16200000" flipH="1">
              <a:off x="1389" y="2424"/>
              <a:ext cx="331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1000">
                  <a:solidFill>
                    <a:srgbClr val="000000"/>
                  </a:solidFill>
                  <a:latin typeface="+mj-lt"/>
                </a:rPr>
                <a:t>Instruction</a:t>
              </a:r>
              <a:endParaRPr lang="en-US" sz="7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377" name="Freeform 93"/>
            <p:cNvSpPr>
              <a:spLocks/>
            </p:cNvSpPr>
            <p:nvPr/>
          </p:nvSpPr>
          <p:spPr bwMode="auto">
            <a:xfrm>
              <a:off x="3789" y="2735"/>
              <a:ext cx="24" cy="24"/>
            </a:xfrm>
            <a:custGeom>
              <a:avLst/>
              <a:gdLst>
                <a:gd name="T0" fmla="*/ 10 w 24"/>
                <a:gd name="T1" fmla="*/ 23 h 24"/>
                <a:gd name="T2" fmla="*/ 14 w 24"/>
                <a:gd name="T3" fmla="*/ 23 h 24"/>
                <a:gd name="T4" fmla="*/ 14 w 24"/>
                <a:gd name="T5" fmla="*/ 23 h 24"/>
                <a:gd name="T6" fmla="*/ 16 w 24"/>
                <a:gd name="T7" fmla="*/ 23 h 24"/>
                <a:gd name="T8" fmla="*/ 18 w 24"/>
                <a:gd name="T9" fmla="*/ 21 h 24"/>
                <a:gd name="T10" fmla="*/ 20 w 24"/>
                <a:gd name="T11" fmla="*/ 19 h 24"/>
                <a:gd name="T12" fmla="*/ 20 w 24"/>
                <a:gd name="T13" fmla="*/ 19 h 24"/>
                <a:gd name="T14" fmla="*/ 21 w 24"/>
                <a:gd name="T15" fmla="*/ 17 h 24"/>
                <a:gd name="T16" fmla="*/ 21 w 24"/>
                <a:gd name="T17" fmla="*/ 15 h 24"/>
                <a:gd name="T18" fmla="*/ 23 w 24"/>
                <a:gd name="T19" fmla="*/ 13 h 24"/>
                <a:gd name="T20" fmla="*/ 23 w 24"/>
                <a:gd name="T21" fmla="*/ 12 h 24"/>
                <a:gd name="T22" fmla="*/ 23 w 24"/>
                <a:gd name="T23" fmla="*/ 10 h 24"/>
                <a:gd name="T24" fmla="*/ 21 w 24"/>
                <a:gd name="T25" fmla="*/ 8 h 24"/>
                <a:gd name="T26" fmla="*/ 21 w 24"/>
                <a:gd name="T27" fmla="*/ 6 h 24"/>
                <a:gd name="T28" fmla="*/ 20 w 24"/>
                <a:gd name="T29" fmla="*/ 6 h 24"/>
                <a:gd name="T30" fmla="*/ 20 w 24"/>
                <a:gd name="T31" fmla="*/ 4 h 24"/>
                <a:gd name="T32" fmla="*/ 18 w 24"/>
                <a:gd name="T33" fmla="*/ 2 h 24"/>
                <a:gd name="T34" fmla="*/ 16 w 24"/>
                <a:gd name="T35" fmla="*/ 2 h 24"/>
                <a:gd name="T36" fmla="*/ 14 w 24"/>
                <a:gd name="T37" fmla="*/ 0 h 24"/>
                <a:gd name="T38" fmla="*/ 14 w 24"/>
                <a:gd name="T39" fmla="*/ 0 h 24"/>
                <a:gd name="T40" fmla="*/ 12 w 24"/>
                <a:gd name="T41" fmla="*/ 0 h 24"/>
                <a:gd name="T42" fmla="*/ 10 w 24"/>
                <a:gd name="T43" fmla="*/ 0 h 24"/>
                <a:gd name="T44" fmla="*/ 8 w 24"/>
                <a:gd name="T45" fmla="*/ 0 h 24"/>
                <a:gd name="T46" fmla="*/ 6 w 24"/>
                <a:gd name="T47" fmla="*/ 2 h 24"/>
                <a:gd name="T48" fmla="*/ 4 w 24"/>
                <a:gd name="T49" fmla="*/ 2 h 24"/>
                <a:gd name="T50" fmla="*/ 2 w 24"/>
                <a:gd name="T51" fmla="*/ 4 h 24"/>
                <a:gd name="T52" fmla="*/ 2 w 24"/>
                <a:gd name="T53" fmla="*/ 6 h 24"/>
                <a:gd name="T54" fmla="*/ 0 w 24"/>
                <a:gd name="T55" fmla="*/ 6 h 24"/>
                <a:gd name="T56" fmla="*/ 0 w 24"/>
                <a:gd name="T57" fmla="*/ 8 h 24"/>
                <a:gd name="T58" fmla="*/ 0 w 24"/>
                <a:gd name="T59" fmla="*/ 10 h 24"/>
                <a:gd name="T60" fmla="*/ 0 w 24"/>
                <a:gd name="T61" fmla="*/ 12 h 24"/>
                <a:gd name="T62" fmla="*/ 0 w 24"/>
                <a:gd name="T63" fmla="*/ 13 h 24"/>
                <a:gd name="T64" fmla="*/ 0 w 24"/>
                <a:gd name="T65" fmla="*/ 15 h 24"/>
                <a:gd name="T66" fmla="*/ 0 w 24"/>
                <a:gd name="T67" fmla="*/ 17 h 24"/>
                <a:gd name="T68" fmla="*/ 2 w 24"/>
                <a:gd name="T69" fmla="*/ 19 h 24"/>
                <a:gd name="T70" fmla="*/ 2 w 24"/>
                <a:gd name="T71" fmla="*/ 19 h 24"/>
                <a:gd name="T72" fmla="*/ 4 w 24"/>
                <a:gd name="T73" fmla="*/ 21 h 24"/>
                <a:gd name="T74" fmla="*/ 6 w 24"/>
                <a:gd name="T75" fmla="*/ 23 h 24"/>
                <a:gd name="T76" fmla="*/ 8 w 24"/>
                <a:gd name="T77" fmla="*/ 23 h 24"/>
                <a:gd name="T78" fmla="*/ 10 w 24"/>
                <a:gd name="T79" fmla="*/ 23 h 24"/>
                <a:gd name="T80" fmla="*/ 12 w 24"/>
                <a:gd name="T81" fmla="*/ 23 h 24"/>
                <a:gd name="T82" fmla="*/ 12 w 24"/>
                <a:gd name="T83" fmla="*/ 23 h 24"/>
                <a:gd name="T84" fmla="*/ 10 w 24"/>
                <a:gd name="T85" fmla="*/ 23 h 2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4"/>
                <a:gd name="T130" fmla="*/ 0 h 24"/>
                <a:gd name="T131" fmla="*/ 24 w 24"/>
                <a:gd name="T132" fmla="*/ 24 h 24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4" h="24">
                  <a:moveTo>
                    <a:pt x="10" y="23"/>
                  </a:moveTo>
                  <a:lnTo>
                    <a:pt x="14" y="23"/>
                  </a:lnTo>
                  <a:lnTo>
                    <a:pt x="16" y="23"/>
                  </a:lnTo>
                  <a:lnTo>
                    <a:pt x="18" y="21"/>
                  </a:lnTo>
                  <a:lnTo>
                    <a:pt x="20" y="19"/>
                  </a:lnTo>
                  <a:lnTo>
                    <a:pt x="21" y="17"/>
                  </a:lnTo>
                  <a:lnTo>
                    <a:pt x="21" y="15"/>
                  </a:lnTo>
                  <a:lnTo>
                    <a:pt x="23" y="13"/>
                  </a:lnTo>
                  <a:lnTo>
                    <a:pt x="23" y="12"/>
                  </a:lnTo>
                  <a:lnTo>
                    <a:pt x="23" y="10"/>
                  </a:lnTo>
                  <a:lnTo>
                    <a:pt x="21" y="8"/>
                  </a:lnTo>
                  <a:lnTo>
                    <a:pt x="21" y="6"/>
                  </a:lnTo>
                  <a:lnTo>
                    <a:pt x="20" y="6"/>
                  </a:lnTo>
                  <a:lnTo>
                    <a:pt x="20" y="4"/>
                  </a:lnTo>
                  <a:lnTo>
                    <a:pt x="18" y="2"/>
                  </a:lnTo>
                  <a:lnTo>
                    <a:pt x="16" y="2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8" y="0"/>
                  </a:lnTo>
                  <a:lnTo>
                    <a:pt x="6" y="2"/>
                  </a:lnTo>
                  <a:lnTo>
                    <a:pt x="4" y="2"/>
                  </a:lnTo>
                  <a:lnTo>
                    <a:pt x="2" y="4"/>
                  </a:lnTo>
                  <a:lnTo>
                    <a:pt x="2" y="6"/>
                  </a:lnTo>
                  <a:lnTo>
                    <a:pt x="0" y="6"/>
                  </a:lnTo>
                  <a:lnTo>
                    <a:pt x="0" y="8"/>
                  </a:lnTo>
                  <a:lnTo>
                    <a:pt x="0" y="10"/>
                  </a:lnTo>
                  <a:lnTo>
                    <a:pt x="0" y="12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0" y="17"/>
                  </a:lnTo>
                  <a:lnTo>
                    <a:pt x="2" y="19"/>
                  </a:lnTo>
                  <a:lnTo>
                    <a:pt x="4" y="21"/>
                  </a:lnTo>
                  <a:lnTo>
                    <a:pt x="6" y="23"/>
                  </a:lnTo>
                  <a:lnTo>
                    <a:pt x="8" y="23"/>
                  </a:lnTo>
                  <a:lnTo>
                    <a:pt x="10" y="23"/>
                  </a:lnTo>
                  <a:lnTo>
                    <a:pt x="12" y="23"/>
                  </a:lnTo>
                  <a:lnTo>
                    <a:pt x="10" y="23"/>
                  </a:lnTo>
                </a:path>
              </a:pathLst>
            </a:custGeom>
            <a:solidFill>
              <a:srgbClr val="000000"/>
            </a:solidFill>
            <a:ln w="9525" cap="rnd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78" name="Line 94"/>
            <p:cNvSpPr>
              <a:spLocks noChangeShapeType="1"/>
            </p:cNvSpPr>
            <p:nvPr/>
          </p:nvSpPr>
          <p:spPr bwMode="auto">
            <a:xfrm flipH="1">
              <a:off x="3679" y="3003"/>
              <a:ext cx="250" cy="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79" name="Freeform 95"/>
            <p:cNvSpPr>
              <a:spLocks/>
            </p:cNvSpPr>
            <p:nvPr/>
          </p:nvSpPr>
          <p:spPr bwMode="auto">
            <a:xfrm>
              <a:off x="3801" y="2747"/>
              <a:ext cx="903" cy="611"/>
            </a:xfrm>
            <a:custGeom>
              <a:avLst/>
              <a:gdLst>
                <a:gd name="T0" fmla="*/ 902 w 1318"/>
                <a:gd name="T1" fmla="*/ 608 h 410"/>
                <a:gd name="T2" fmla="*/ 0 w 1318"/>
                <a:gd name="T3" fmla="*/ 610 h 410"/>
                <a:gd name="T4" fmla="*/ 0 w 1318"/>
                <a:gd name="T5" fmla="*/ 0 h 410"/>
                <a:gd name="T6" fmla="*/ 0 60000 65536"/>
                <a:gd name="T7" fmla="*/ 0 60000 65536"/>
                <a:gd name="T8" fmla="*/ 0 60000 65536"/>
                <a:gd name="T9" fmla="*/ 0 w 1318"/>
                <a:gd name="T10" fmla="*/ 0 h 410"/>
                <a:gd name="T11" fmla="*/ 1318 w 1318"/>
                <a:gd name="T12" fmla="*/ 410 h 41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18" h="410">
                  <a:moveTo>
                    <a:pt x="1317" y="408"/>
                  </a:moveTo>
                  <a:lnTo>
                    <a:pt x="0" y="409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triangl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80" name="Line 96"/>
            <p:cNvSpPr>
              <a:spLocks noChangeShapeType="1"/>
            </p:cNvSpPr>
            <p:nvPr/>
          </p:nvSpPr>
          <p:spPr bwMode="auto">
            <a:xfrm>
              <a:off x="3677" y="3558"/>
              <a:ext cx="1024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81" name="Line 97"/>
            <p:cNvSpPr>
              <a:spLocks noChangeShapeType="1"/>
            </p:cNvSpPr>
            <p:nvPr/>
          </p:nvSpPr>
          <p:spPr bwMode="auto">
            <a:xfrm flipH="1">
              <a:off x="3679" y="2747"/>
              <a:ext cx="253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82" name="Line 98"/>
            <p:cNvSpPr>
              <a:spLocks noChangeShapeType="1"/>
            </p:cNvSpPr>
            <p:nvPr/>
          </p:nvSpPr>
          <p:spPr bwMode="auto">
            <a:xfrm flipH="1">
              <a:off x="4551" y="2742"/>
              <a:ext cx="155" cy="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83" name="Line 99"/>
            <p:cNvSpPr>
              <a:spLocks noChangeShapeType="1"/>
            </p:cNvSpPr>
            <p:nvPr/>
          </p:nvSpPr>
          <p:spPr bwMode="auto">
            <a:xfrm flipH="1" flipV="1">
              <a:off x="4242" y="2482"/>
              <a:ext cx="1" cy="66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grpSp>
          <p:nvGrpSpPr>
            <p:cNvPr id="54384" name="Group 312"/>
            <p:cNvGrpSpPr>
              <a:grpSpLocks/>
            </p:cNvGrpSpPr>
            <p:nvPr/>
          </p:nvGrpSpPr>
          <p:grpSpPr bwMode="auto">
            <a:xfrm>
              <a:off x="3936" y="2378"/>
              <a:ext cx="609" cy="939"/>
              <a:chOff x="3936" y="2378"/>
              <a:chExt cx="609" cy="939"/>
            </a:xfrm>
          </p:grpSpPr>
          <p:sp>
            <p:nvSpPr>
              <p:cNvPr id="54457" name="Line 101"/>
              <p:cNvSpPr>
                <a:spLocks noChangeShapeType="1"/>
              </p:cNvSpPr>
              <p:nvPr/>
            </p:nvSpPr>
            <p:spPr bwMode="auto">
              <a:xfrm flipH="1">
                <a:off x="4248" y="3108"/>
                <a:ext cx="1" cy="105"/>
              </a:xfrm>
              <a:prstGeom prst="line">
                <a:avLst/>
              </a:prstGeom>
              <a:noFill/>
              <a:ln w="12700">
                <a:solidFill>
                  <a:srgbClr val="EB75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54460" name="Rectangle 104"/>
              <p:cNvSpPr>
                <a:spLocks noChangeArrowheads="1"/>
              </p:cNvSpPr>
              <p:nvPr/>
            </p:nvSpPr>
            <p:spPr bwMode="auto">
              <a:xfrm>
                <a:off x="3936" y="2553"/>
                <a:ext cx="609" cy="552"/>
              </a:xfrm>
              <a:prstGeom prst="rect">
                <a:avLst/>
              </a:prstGeom>
              <a:solidFill>
                <a:srgbClr val="FFFFCC"/>
              </a:solidFill>
              <a:ln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54461" name="Rectangle 105"/>
              <p:cNvSpPr>
                <a:spLocks noChangeArrowheads="1"/>
              </p:cNvSpPr>
              <p:nvPr/>
            </p:nvSpPr>
            <p:spPr bwMode="auto">
              <a:xfrm>
                <a:off x="3963" y="2712"/>
                <a:ext cx="208" cy="7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US" sz="900" dirty="0">
                    <a:solidFill>
                      <a:srgbClr val="000000"/>
                    </a:solidFill>
                    <a:latin typeface="+mj-lt"/>
                  </a:rPr>
                  <a:t>Address</a:t>
                </a:r>
                <a:endParaRPr lang="en-US" sz="800" dirty="0">
                  <a:solidFill>
                    <a:srgbClr val="000000"/>
                  </a:solidFill>
                  <a:latin typeface="+mj-lt"/>
                </a:endParaRPr>
              </a:p>
            </p:txBody>
          </p:sp>
          <p:sp>
            <p:nvSpPr>
              <p:cNvPr id="54462" name="Rectangle 106"/>
              <p:cNvSpPr>
                <a:spLocks noChangeArrowheads="1"/>
              </p:cNvSpPr>
              <p:nvPr/>
            </p:nvSpPr>
            <p:spPr bwMode="auto">
              <a:xfrm>
                <a:off x="3965" y="2933"/>
                <a:ext cx="147" cy="14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US" sz="900" dirty="0">
                    <a:solidFill>
                      <a:srgbClr val="000000"/>
                    </a:solidFill>
                    <a:latin typeface="+mj-lt"/>
                  </a:rPr>
                  <a:t>Write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sz="900" dirty="0">
                    <a:solidFill>
                      <a:srgbClr val="000000"/>
                    </a:solidFill>
                    <a:latin typeface="+mj-lt"/>
                  </a:rPr>
                  <a:t>Data</a:t>
                </a:r>
                <a:endParaRPr lang="en-US" sz="800" dirty="0">
                  <a:solidFill>
                    <a:srgbClr val="000000"/>
                  </a:solidFill>
                  <a:latin typeface="+mj-lt"/>
                </a:endParaRPr>
              </a:p>
            </p:txBody>
          </p:sp>
          <p:sp>
            <p:nvSpPr>
              <p:cNvPr id="54463" name="Rectangle 107"/>
              <p:cNvSpPr>
                <a:spLocks noChangeArrowheads="1"/>
              </p:cNvSpPr>
              <p:nvPr/>
            </p:nvSpPr>
            <p:spPr bwMode="auto">
              <a:xfrm>
                <a:off x="4368" y="2665"/>
                <a:ext cx="130" cy="14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US" sz="900" dirty="0">
                    <a:solidFill>
                      <a:srgbClr val="000000"/>
                    </a:solidFill>
                    <a:latin typeface="+mj-lt"/>
                  </a:rPr>
                  <a:t>Read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sz="900" dirty="0">
                    <a:solidFill>
                      <a:srgbClr val="000000"/>
                    </a:solidFill>
                    <a:latin typeface="+mj-lt"/>
                  </a:rPr>
                  <a:t>Data</a:t>
                </a:r>
                <a:endParaRPr lang="en-US" sz="500" dirty="0">
                  <a:solidFill>
                    <a:srgbClr val="000000"/>
                  </a:solidFill>
                  <a:latin typeface="+mj-lt"/>
                </a:endParaRPr>
              </a:p>
            </p:txBody>
          </p:sp>
          <p:sp>
            <p:nvSpPr>
              <p:cNvPr id="54464" name="Rectangle 108"/>
              <p:cNvSpPr>
                <a:spLocks noChangeArrowheads="1"/>
              </p:cNvSpPr>
              <p:nvPr/>
            </p:nvSpPr>
            <p:spPr bwMode="auto">
              <a:xfrm>
                <a:off x="4193" y="2868"/>
                <a:ext cx="297" cy="19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sz="1200">
                    <a:solidFill>
                      <a:srgbClr val="000000"/>
                    </a:solidFill>
                    <a:latin typeface="+mj-lt"/>
                  </a:rPr>
                  <a:t>Data</a:t>
                </a:r>
              </a:p>
              <a:p>
                <a:pPr algn="ctr">
                  <a:lnSpc>
                    <a:spcPct val="90000"/>
                  </a:lnSpc>
                </a:pPr>
                <a:r>
                  <a:rPr lang="en-US" sz="1200">
                    <a:solidFill>
                      <a:srgbClr val="000000"/>
                    </a:solidFill>
                    <a:latin typeface="+mj-lt"/>
                  </a:rPr>
                  <a:t>Memory</a:t>
                </a:r>
                <a:endParaRPr lang="en-US" sz="800">
                  <a:solidFill>
                    <a:srgbClr val="000000"/>
                  </a:solidFill>
                  <a:latin typeface="+mj-lt"/>
                </a:endParaRPr>
              </a:p>
            </p:txBody>
          </p:sp>
          <p:sp>
            <p:nvSpPr>
              <p:cNvPr id="54458" name="Rectangle 102"/>
              <p:cNvSpPr>
                <a:spLocks noChangeArrowheads="1"/>
              </p:cNvSpPr>
              <p:nvPr/>
            </p:nvSpPr>
            <p:spPr bwMode="auto">
              <a:xfrm>
                <a:off x="4073" y="3223"/>
                <a:ext cx="311" cy="9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050" dirty="0" err="1">
                    <a:solidFill>
                      <a:srgbClr val="EB7500"/>
                    </a:solidFill>
                    <a:latin typeface="+mj-lt"/>
                  </a:rPr>
                  <a:t>MemRead</a:t>
                </a:r>
                <a:endParaRPr lang="en-US" sz="1050" dirty="0">
                  <a:solidFill>
                    <a:srgbClr val="EB7500"/>
                  </a:solidFill>
                  <a:latin typeface="+mj-lt"/>
                </a:endParaRPr>
              </a:p>
            </p:txBody>
          </p:sp>
          <p:sp>
            <p:nvSpPr>
              <p:cNvPr id="54459" name="Rectangle 103"/>
              <p:cNvSpPr>
                <a:spLocks noChangeArrowheads="1"/>
              </p:cNvSpPr>
              <p:nvPr/>
            </p:nvSpPr>
            <p:spPr bwMode="auto">
              <a:xfrm>
                <a:off x="4063" y="2378"/>
                <a:ext cx="332" cy="9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050" dirty="0" err="1">
                    <a:solidFill>
                      <a:srgbClr val="EB7500"/>
                    </a:solidFill>
                    <a:latin typeface="+mj-lt"/>
                  </a:rPr>
                  <a:t>MemWrite</a:t>
                </a:r>
                <a:endParaRPr lang="en-US" sz="1050" dirty="0">
                  <a:solidFill>
                    <a:srgbClr val="EB7500"/>
                  </a:solidFill>
                  <a:latin typeface="+mj-lt"/>
                </a:endParaRPr>
              </a:p>
            </p:txBody>
          </p:sp>
        </p:grpSp>
        <p:sp>
          <p:nvSpPr>
            <p:cNvPr id="54385" name="Freeform 109"/>
            <p:cNvSpPr>
              <a:spLocks/>
            </p:cNvSpPr>
            <p:nvPr/>
          </p:nvSpPr>
          <p:spPr bwMode="auto">
            <a:xfrm>
              <a:off x="3755" y="2266"/>
              <a:ext cx="72" cy="58"/>
            </a:xfrm>
            <a:custGeom>
              <a:avLst/>
              <a:gdLst>
                <a:gd name="T0" fmla="*/ 0 w 72"/>
                <a:gd name="T1" fmla="*/ 0 h 72"/>
                <a:gd name="T2" fmla="*/ 2 w 72"/>
                <a:gd name="T3" fmla="*/ 71 h 72"/>
                <a:gd name="T4" fmla="*/ 71 w 72"/>
                <a:gd name="T5" fmla="*/ 71 h 72"/>
                <a:gd name="T6" fmla="*/ 0 60000 65536"/>
                <a:gd name="T7" fmla="*/ 0 60000 65536"/>
                <a:gd name="T8" fmla="*/ 0 60000 65536"/>
                <a:gd name="T9" fmla="*/ 0 w 72"/>
                <a:gd name="T10" fmla="*/ 0 h 72"/>
                <a:gd name="T11" fmla="*/ 72 w 72"/>
                <a:gd name="T12" fmla="*/ 72 h 7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2" h="72">
                  <a:moveTo>
                    <a:pt x="0" y="0"/>
                  </a:moveTo>
                  <a:lnTo>
                    <a:pt x="2" y="71"/>
                  </a:lnTo>
                  <a:lnTo>
                    <a:pt x="71" y="71"/>
                  </a:lnTo>
                </a:path>
              </a:pathLst>
            </a:custGeom>
            <a:noFill/>
            <a:ln w="12700" cap="rnd" cmpd="sng">
              <a:solidFill>
                <a:srgbClr val="EB75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86" name="Freeform 110"/>
            <p:cNvSpPr>
              <a:spLocks/>
            </p:cNvSpPr>
            <p:nvPr/>
          </p:nvSpPr>
          <p:spPr bwMode="auto">
            <a:xfrm>
              <a:off x="3686" y="2400"/>
              <a:ext cx="141" cy="229"/>
            </a:xfrm>
            <a:custGeom>
              <a:avLst/>
              <a:gdLst>
                <a:gd name="T0" fmla="*/ 0 w 141"/>
                <a:gd name="T1" fmla="*/ 228 h 229"/>
                <a:gd name="T2" fmla="*/ 71 w 141"/>
                <a:gd name="T3" fmla="*/ 228 h 229"/>
                <a:gd name="T4" fmla="*/ 71 w 141"/>
                <a:gd name="T5" fmla="*/ 0 h 229"/>
                <a:gd name="T6" fmla="*/ 140 w 141"/>
                <a:gd name="T7" fmla="*/ 0 h 22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1"/>
                <a:gd name="T13" fmla="*/ 0 h 229"/>
                <a:gd name="T14" fmla="*/ 141 w 141"/>
                <a:gd name="T15" fmla="*/ 229 h 22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1" h="229">
                  <a:moveTo>
                    <a:pt x="0" y="228"/>
                  </a:moveTo>
                  <a:lnTo>
                    <a:pt x="71" y="228"/>
                  </a:lnTo>
                  <a:lnTo>
                    <a:pt x="71" y="0"/>
                  </a:lnTo>
                  <a:lnTo>
                    <a:pt x="140" y="0"/>
                  </a:lnTo>
                </a:path>
              </a:pathLst>
            </a:custGeom>
            <a:noFill/>
            <a:ln w="12700" cap="rnd" cmpd="sng">
              <a:solidFill>
                <a:srgbClr val="EB75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87" name="Freeform 111"/>
            <p:cNvSpPr>
              <a:spLocks/>
            </p:cNvSpPr>
            <p:nvPr/>
          </p:nvSpPr>
          <p:spPr bwMode="auto">
            <a:xfrm>
              <a:off x="3826" y="2302"/>
              <a:ext cx="145" cy="122"/>
            </a:xfrm>
            <a:custGeom>
              <a:avLst/>
              <a:gdLst>
                <a:gd name="T0" fmla="*/ 85 w 145"/>
                <a:gd name="T1" fmla="*/ 119 h 122"/>
                <a:gd name="T2" fmla="*/ 96 w 145"/>
                <a:gd name="T3" fmla="*/ 119 h 122"/>
                <a:gd name="T4" fmla="*/ 104 w 145"/>
                <a:gd name="T5" fmla="*/ 117 h 122"/>
                <a:gd name="T6" fmla="*/ 113 w 145"/>
                <a:gd name="T7" fmla="*/ 113 h 122"/>
                <a:gd name="T8" fmla="*/ 121 w 145"/>
                <a:gd name="T9" fmla="*/ 107 h 122"/>
                <a:gd name="T10" fmla="*/ 127 w 145"/>
                <a:gd name="T11" fmla="*/ 102 h 122"/>
                <a:gd name="T12" fmla="*/ 132 w 145"/>
                <a:gd name="T13" fmla="*/ 96 h 122"/>
                <a:gd name="T14" fmla="*/ 138 w 145"/>
                <a:gd name="T15" fmla="*/ 88 h 122"/>
                <a:gd name="T16" fmla="*/ 142 w 145"/>
                <a:gd name="T17" fmla="*/ 79 h 122"/>
                <a:gd name="T18" fmla="*/ 144 w 145"/>
                <a:gd name="T19" fmla="*/ 69 h 122"/>
                <a:gd name="T20" fmla="*/ 144 w 145"/>
                <a:gd name="T21" fmla="*/ 60 h 122"/>
                <a:gd name="T22" fmla="*/ 144 w 145"/>
                <a:gd name="T23" fmla="*/ 50 h 122"/>
                <a:gd name="T24" fmla="*/ 142 w 145"/>
                <a:gd name="T25" fmla="*/ 40 h 122"/>
                <a:gd name="T26" fmla="*/ 138 w 145"/>
                <a:gd name="T27" fmla="*/ 33 h 122"/>
                <a:gd name="T28" fmla="*/ 132 w 145"/>
                <a:gd name="T29" fmla="*/ 25 h 122"/>
                <a:gd name="T30" fmla="*/ 127 w 145"/>
                <a:gd name="T31" fmla="*/ 17 h 122"/>
                <a:gd name="T32" fmla="*/ 121 w 145"/>
                <a:gd name="T33" fmla="*/ 12 h 122"/>
                <a:gd name="T34" fmla="*/ 113 w 145"/>
                <a:gd name="T35" fmla="*/ 6 h 122"/>
                <a:gd name="T36" fmla="*/ 104 w 145"/>
                <a:gd name="T37" fmla="*/ 2 h 122"/>
                <a:gd name="T38" fmla="*/ 96 w 145"/>
                <a:gd name="T39" fmla="*/ 0 h 122"/>
                <a:gd name="T40" fmla="*/ 86 w 145"/>
                <a:gd name="T41" fmla="*/ 0 h 122"/>
                <a:gd name="T42" fmla="*/ 0 w 145"/>
                <a:gd name="T43" fmla="*/ 0 h 122"/>
                <a:gd name="T44" fmla="*/ 0 w 145"/>
                <a:gd name="T45" fmla="*/ 121 h 122"/>
                <a:gd name="T46" fmla="*/ 86 w 145"/>
                <a:gd name="T47" fmla="*/ 121 h 122"/>
                <a:gd name="T48" fmla="*/ 86 w 145"/>
                <a:gd name="T49" fmla="*/ 121 h 122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145"/>
                <a:gd name="T76" fmla="*/ 0 h 122"/>
                <a:gd name="T77" fmla="*/ 145 w 145"/>
                <a:gd name="T78" fmla="*/ 122 h 122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145" h="122">
                  <a:moveTo>
                    <a:pt x="85" y="119"/>
                  </a:moveTo>
                  <a:lnTo>
                    <a:pt x="96" y="119"/>
                  </a:lnTo>
                  <a:lnTo>
                    <a:pt x="104" y="117"/>
                  </a:lnTo>
                  <a:lnTo>
                    <a:pt x="113" y="113"/>
                  </a:lnTo>
                  <a:lnTo>
                    <a:pt x="121" y="107"/>
                  </a:lnTo>
                  <a:lnTo>
                    <a:pt x="127" y="102"/>
                  </a:lnTo>
                  <a:lnTo>
                    <a:pt x="132" y="96"/>
                  </a:lnTo>
                  <a:lnTo>
                    <a:pt x="138" y="88"/>
                  </a:lnTo>
                  <a:lnTo>
                    <a:pt x="142" y="79"/>
                  </a:lnTo>
                  <a:lnTo>
                    <a:pt x="144" y="69"/>
                  </a:lnTo>
                  <a:lnTo>
                    <a:pt x="144" y="60"/>
                  </a:lnTo>
                  <a:lnTo>
                    <a:pt x="144" y="50"/>
                  </a:lnTo>
                  <a:lnTo>
                    <a:pt x="142" y="40"/>
                  </a:lnTo>
                  <a:lnTo>
                    <a:pt x="138" y="33"/>
                  </a:lnTo>
                  <a:lnTo>
                    <a:pt x="132" y="25"/>
                  </a:lnTo>
                  <a:lnTo>
                    <a:pt x="127" y="17"/>
                  </a:lnTo>
                  <a:lnTo>
                    <a:pt x="121" y="12"/>
                  </a:lnTo>
                  <a:lnTo>
                    <a:pt x="113" y="6"/>
                  </a:lnTo>
                  <a:lnTo>
                    <a:pt x="104" y="2"/>
                  </a:lnTo>
                  <a:lnTo>
                    <a:pt x="96" y="0"/>
                  </a:lnTo>
                  <a:lnTo>
                    <a:pt x="86" y="0"/>
                  </a:lnTo>
                  <a:lnTo>
                    <a:pt x="0" y="0"/>
                  </a:lnTo>
                  <a:lnTo>
                    <a:pt x="0" y="121"/>
                  </a:lnTo>
                  <a:lnTo>
                    <a:pt x="86" y="121"/>
                  </a:lnTo>
                </a:path>
              </a:pathLst>
            </a:custGeom>
            <a:solidFill>
              <a:srgbClr val="FFE6CD"/>
            </a:solidFill>
            <a:ln w="19050" cap="rnd" cmpd="sng">
              <a:solidFill>
                <a:srgbClr val="EB75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90" name="Line 114"/>
            <p:cNvSpPr>
              <a:spLocks noChangeShapeType="1"/>
            </p:cNvSpPr>
            <p:nvPr/>
          </p:nvSpPr>
          <p:spPr bwMode="auto">
            <a:xfrm>
              <a:off x="1543" y="3804"/>
              <a:ext cx="335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91" name="Line 115"/>
            <p:cNvSpPr>
              <a:spLocks noChangeShapeType="1"/>
            </p:cNvSpPr>
            <p:nvPr/>
          </p:nvSpPr>
          <p:spPr bwMode="auto">
            <a:xfrm flipV="1">
              <a:off x="1545" y="2751"/>
              <a:ext cx="0" cy="10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92" name="Line 116"/>
            <p:cNvSpPr>
              <a:spLocks noChangeShapeType="1"/>
            </p:cNvSpPr>
            <p:nvPr/>
          </p:nvSpPr>
          <p:spPr bwMode="auto">
            <a:xfrm>
              <a:off x="1541" y="2748"/>
              <a:ext cx="26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93" name="Line 117"/>
            <p:cNvSpPr>
              <a:spLocks noChangeShapeType="1"/>
            </p:cNvSpPr>
            <p:nvPr/>
          </p:nvSpPr>
          <p:spPr bwMode="auto">
            <a:xfrm>
              <a:off x="1725" y="2895"/>
              <a:ext cx="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94" name="Line 118"/>
            <p:cNvSpPr>
              <a:spLocks noChangeShapeType="1"/>
            </p:cNvSpPr>
            <p:nvPr/>
          </p:nvSpPr>
          <p:spPr bwMode="auto">
            <a:xfrm flipV="1">
              <a:off x="1728" y="2895"/>
              <a:ext cx="0" cy="99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95" name="Line 119"/>
            <p:cNvSpPr>
              <a:spLocks noChangeShapeType="1"/>
            </p:cNvSpPr>
            <p:nvPr/>
          </p:nvSpPr>
          <p:spPr bwMode="auto">
            <a:xfrm>
              <a:off x="1728" y="3882"/>
              <a:ext cx="3336" cy="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96" name="Line 120"/>
            <p:cNvSpPr>
              <a:spLocks noChangeShapeType="1"/>
            </p:cNvSpPr>
            <p:nvPr/>
          </p:nvSpPr>
          <p:spPr bwMode="auto">
            <a:xfrm flipV="1">
              <a:off x="4963" y="2651"/>
              <a:ext cx="0" cy="51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97" name="Line 121"/>
            <p:cNvSpPr>
              <a:spLocks noChangeShapeType="1"/>
            </p:cNvSpPr>
            <p:nvPr/>
          </p:nvSpPr>
          <p:spPr bwMode="auto">
            <a:xfrm flipH="1">
              <a:off x="4800" y="2744"/>
              <a:ext cx="115" cy="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98" name="Freeform 122"/>
            <p:cNvSpPr>
              <a:spLocks/>
            </p:cNvSpPr>
            <p:nvPr/>
          </p:nvSpPr>
          <p:spPr bwMode="auto">
            <a:xfrm>
              <a:off x="4800" y="2953"/>
              <a:ext cx="119" cy="405"/>
            </a:xfrm>
            <a:custGeom>
              <a:avLst/>
              <a:gdLst>
                <a:gd name="T0" fmla="*/ 118 w 104"/>
                <a:gd name="T1" fmla="*/ 0 h 204"/>
                <a:gd name="T2" fmla="*/ 60 w 104"/>
                <a:gd name="T3" fmla="*/ 0 h 204"/>
                <a:gd name="T4" fmla="*/ 60 w 104"/>
                <a:gd name="T5" fmla="*/ 403 h 204"/>
                <a:gd name="T6" fmla="*/ 0 w 104"/>
                <a:gd name="T7" fmla="*/ 403 h 20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4"/>
                <a:gd name="T13" fmla="*/ 0 h 204"/>
                <a:gd name="T14" fmla="*/ 104 w 104"/>
                <a:gd name="T15" fmla="*/ 204 h 20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4" h="204">
                  <a:moveTo>
                    <a:pt x="103" y="0"/>
                  </a:moveTo>
                  <a:lnTo>
                    <a:pt x="52" y="0"/>
                  </a:lnTo>
                  <a:lnTo>
                    <a:pt x="52" y="203"/>
                  </a:lnTo>
                  <a:lnTo>
                    <a:pt x="0" y="203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triangl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00" name="Line 124"/>
            <p:cNvSpPr>
              <a:spLocks noChangeShapeType="1"/>
            </p:cNvSpPr>
            <p:nvPr/>
          </p:nvSpPr>
          <p:spPr bwMode="auto">
            <a:xfrm>
              <a:off x="4803" y="3558"/>
              <a:ext cx="9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01" name="Line 125"/>
            <p:cNvSpPr>
              <a:spLocks noChangeShapeType="1"/>
            </p:cNvSpPr>
            <p:nvPr/>
          </p:nvSpPr>
          <p:spPr bwMode="auto">
            <a:xfrm rot="5400000">
              <a:off x="4770" y="3681"/>
              <a:ext cx="25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02" name="Line 126"/>
            <p:cNvSpPr>
              <a:spLocks noChangeShapeType="1"/>
            </p:cNvSpPr>
            <p:nvPr/>
          </p:nvSpPr>
          <p:spPr bwMode="auto">
            <a:xfrm flipV="1">
              <a:off x="5067" y="2847"/>
              <a:ext cx="0" cy="10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03" name="Line 127"/>
            <p:cNvSpPr>
              <a:spLocks noChangeShapeType="1"/>
            </p:cNvSpPr>
            <p:nvPr/>
          </p:nvSpPr>
          <p:spPr bwMode="auto">
            <a:xfrm flipV="1">
              <a:off x="5025" y="2847"/>
              <a:ext cx="42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04" name="Freeform 128"/>
            <p:cNvSpPr>
              <a:spLocks/>
            </p:cNvSpPr>
            <p:nvPr/>
          </p:nvSpPr>
          <p:spPr bwMode="auto">
            <a:xfrm>
              <a:off x="636" y="1885"/>
              <a:ext cx="276" cy="631"/>
            </a:xfrm>
            <a:custGeom>
              <a:avLst/>
              <a:gdLst>
                <a:gd name="T0" fmla="*/ 275 w 194"/>
                <a:gd name="T1" fmla="*/ 0 h 631"/>
                <a:gd name="T2" fmla="*/ 0 w 194"/>
                <a:gd name="T3" fmla="*/ 2 h 631"/>
                <a:gd name="T4" fmla="*/ 0 w 194"/>
                <a:gd name="T5" fmla="*/ 630 h 631"/>
                <a:gd name="T6" fmla="*/ 0 60000 65536"/>
                <a:gd name="T7" fmla="*/ 0 60000 65536"/>
                <a:gd name="T8" fmla="*/ 0 60000 65536"/>
                <a:gd name="T9" fmla="*/ 0 w 194"/>
                <a:gd name="T10" fmla="*/ 0 h 631"/>
                <a:gd name="T11" fmla="*/ 194 w 194"/>
                <a:gd name="T12" fmla="*/ 631 h 63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4" h="631">
                  <a:moveTo>
                    <a:pt x="193" y="0"/>
                  </a:moveTo>
                  <a:lnTo>
                    <a:pt x="0" y="2"/>
                  </a:lnTo>
                  <a:lnTo>
                    <a:pt x="0" y="63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triangl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05" name="Freeform 129"/>
            <p:cNvSpPr>
              <a:spLocks/>
            </p:cNvSpPr>
            <p:nvPr/>
          </p:nvSpPr>
          <p:spPr bwMode="auto">
            <a:xfrm>
              <a:off x="624" y="2503"/>
              <a:ext cx="24" cy="24"/>
            </a:xfrm>
            <a:custGeom>
              <a:avLst/>
              <a:gdLst>
                <a:gd name="T0" fmla="*/ 12 w 24"/>
                <a:gd name="T1" fmla="*/ 21 h 24"/>
                <a:gd name="T2" fmla="*/ 14 w 24"/>
                <a:gd name="T3" fmla="*/ 21 h 24"/>
                <a:gd name="T4" fmla="*/ 16 w 24"/>
                <a:gd name="T5" fmla="*/ 21 h 24"/>
                <a:gd name="T6" fmla="*/ 17 w 24"/>
                <a:gd name="T7" fmla="*/ 21 h 24"/>
                <a:gd name="T8" fmla="*/ 19 w 24"/>
                <a:gd name="T9" fmla="*/ 19 h 24"/>
                <a:gd name="T10" fmla="*/ 19 w 24"/>
                <a:gd name="T11" fmla="*/ 19 h 24"/>
                <a:gd name="T12" fmla="*/ 21 w 24"/>
                <a:gd name="T13" fmla="*/ 18 h 24"/>
                <a:gd name="T14" fmla="*/ 23 w 24"/>
                <a:gd name="T15" fmla="*/ 16 h 24"/>
                <a:gd name="T16" fmla="*/ 23 w 24"/>
                <a:gd name="T17" fmla="*/ 14 h 24"/>
                <a:gd name="T18" fmla="*/ 23 w 24"/>
                <a:gd name="T19" fmla="*/ 14 h 24"/>
                <a:gd name="T20" fmla="*/ 23 w 24"/>
                <a:gd name="T21" fmla="*/ 12 h 24"/>
                <a:gd name="T22" fmla="*/ 23 w 24"/>
                <a:gd name="T23" fmla="*/ 10 h 24"/>
                <a:gd name="T24" fmla="*/ 23 w 24"/>
                <a:gd name="T25" fmla="*/ 8 h 24"/>
                <a:gd name="T26" fmla="*/ 23 w 24"/>
                <a:gd name="T27" fmla="*/ 6 h 24"/>
                <a:gd name="T28" fmla="*/ 21 w 24"/>
                <a:gd name="T29" fmla="*/ 4 h 24"/>
                <a:gd name="T30" fmla="*/ 19 w 24"/>
                <a:gd name="T31" fmla="*/ 2 h 24"/>
                <a:gd name="T32" fmla="*/ 19 w 24"/>
                <a:gd name="T33" fmla="*/ 2 h 24"/>
                <a:gd name="T34" fmla="*/ 17 w 24"/>
                <a:gd name="T35" fmla="*/ 0 h 24"/>
                <a:gd name="T36" fmla="*/ 16 w 24"/>
                <a:gd name="T37" fmla="*/ 0 h 24"/>
                <a:gd name="T38" fmla="*/ 14 w 24"/>
                <a:gd name="T39" fmla="*/ 0 h 24"/>
                <a:gd name="T40" fmla="*/ 12 w 24"/>
                <a:gd name="T41" fmla="*/ 0 h 24"/>
                <a:gd name="T42" fmla="*/ 10 w 24"/>
                <a:gd name="T43" fmla="*/ 0 h 24"/>
                <a:gd name="T44" fmla="*/ 8 w 24"/>
                <a:gd name="T45" fmla="*/ 0 h 24"/>
                <a:gd name="T46" fmla="*/ 6 w 24"/>
                <a:gd name="T47" fmla="*/ 0 h 24"/>
                <a:gd name="T48" fmla="*/ 6 w 24"/>
                <a:gd name="T49" fmla="*/ 2 h 24"/>
                <a:gd name="T50" fmla="*/ 4 w 24"/>
                <a:gd name="T51" fmla="*/ 2 h 24"/>
                <a:gd name="T52" fmla="*/ 2 w 24"/>
                <a:gd name="T53" fmla="*/ 4 h 24"/>
                <a:gd name="T54" fmla="*/ 2 w 24"/>
                <a:gd name="T55" fmla="*/ 6 h 24"/>
                <a:gd name="T56" fmla="*/ 0 w 24"/>
                <a:gd name="T57" fmla="*/ 8 h 24"/>
                <a:gd name="T58" fmla="*/ 0 w 24"/>
                <a:gd name="T59" fmla="*/ 10 h 24"/>
                <a:gd name="T60" fmla="*/ 0 w 24"/>
                <a:gd name="T61" fmla="*/ 12 h 24"/>
                <a:gd name="T62" fmla="*/ 0 w 24"/>
                <a:gd name="T63" fmla="*/ 14 h 24"/>
                <a:gd name="T64" fmla="*/ 0 w 24"/>
                <a:gd name="T65" fmla="*/ 14 h 24"/>
                <a:gd name="T66" fmla="*/ 2 w 24"/>
                <a:gd name="T67" fmla="*/ 16 h 24"/>
                <a:gd name="T68" fmla="*/ 2 w 24"/>
                <a:gd name="T69" fmla="*/ 18 h 24"/>
                <a:gd name="T70" fmla="*/ 4 w 24"/>
                <a:gd name="T71" fmla="*/ 19 h 24"/>
                <a:gd name="T72" fmla="*/ 6 w 24"/>
                <a:gd name="T73" fmla="*/ 19 h 24"/>
                <a:gd name="T74" fmla="*/ 6 w 24"/>
                <a:gd name="T75" fmla="*/ 21 h 24"/>
                <a:gd name="T76" fmla="*/ 8 w 24"/>
                <a:gd name="T77" fmla="*/ 21 h 24"/>
                <a:gd name="T78" fmla="*/ 10 w 24"/>
                <a:gd name="T79" fmla="*/ 21 h 24"/>
                <a:gd name="T80" fmla="*/ 12 w 24"/>
                <a:gd name="T81" fmla="*/ 23 h 24"/>
                <a:gd name="T82" fmla="*/ 12 w 24"/>
                <a:gd name="T83" fmla="*/ 23 h 24"/>
                <a:gd name="T84" fmla="*/ 12 w 24"/>
                <a:gd name="T85" fmla="*/ 21 h 2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4"/>
                <a:gd name="T130" fmla="*/ 0 h 24"/>
                <a:gd name="T131" fmla="*/ 24 w 24"/>
                <a:gd name="T132" fmla="*/ 24 h 24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4" h="24">
                  <a:moveTo>
                    <a:pt x="12" y="21"/>
                  </a:moveTo>
                  <a:lnTo>
                    <a:pt x="14" y="21"/>
                  </a:lnTo>
                  <a:lnTo>
                    <a:pt x="16" y="21"/>
                  </a:lnTo>
                  <a:lnTo>
                    <a:pt x="17" y="21"/>
                  </a:lnTo>
                  <a:lnTo>
                    <a:pt x="19" y="19"/>
                  </a:lnTo>
                  <a:lnTo>
                    <a:pt x="21" y="18"/>
                  </a:lnTo>
                  <a:lnTo>
                    <a:pt x="23" y="16"/>
                  </a:lnTo>
                  <a:lnTo>
                    <a:pt x="23" y="14"/>
                  </a:lnTo>
                  <a:lnTo>
                    <a:pt x="23" y="12"/>
                  </a:lnTo>
                  <a:lnTo>
                    <a:pt x="23" y="10"/>
                  </a:lnTo>
                  <a:lnTo>
                    <a:pt x="23" y="8"/>
                  </a:lnTo>
                  <a:lnTo>
                    <a:pt x="23" y="6"/>
                  </a:lnTo>
                  <a:lnTo>
                    <a:pt x="21" y="4"/>
                  </a:lnTo>
                  <a:lnTo>
                    <a:pt x="19" y="2"/>
                  </a:lnTo>
                  <a:lnTo>
                    <a:pt x="17" y="0"/>
                  </a:lnTo>
                  <a:lnTo>
                    <a:pt x="16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8" y="0"/>
                  </a:lnTo>
                  <a:lnTo>
                    <a:pt x="6" y="0"/>
                  </a:lnTo>
                  <a:lnTo>
                    <a:pt x="6" y="2"/>
                  </a:lnTo>
                  <a:lnTo>
                    <a:pt x="4" y="2"/>
                  </a:lnTo>
                  <a:lnTo>
                    <a:pt x="2" y="4"/>
                  </a:lnTo>
                  <a:lnTo>
                    <a:pt x="2" y="6"/>
                  </a:lnTo>
                  <a:lnTo>
                    <a:pt x="0" y="8"/>
                  </a:lnTo>
                  <a:lnTo>
                    <a:pt x="0" y="10"/>
                  </a:lnTo>
                  <a:lnTo>
                    <a:pt x="0" y="12"/>
                  </a:lnTo>
                  <a:lnTo>
                    <a:pt x="0" y="14"/>
                  </a:lnTo>
                  <a:lnTo>
                    <a:pt x="2" y="16"/>
                  </a:lnTo>
                  <a:lnTo>
                    <a:pt x="2" y="18"/>
                  </a:lnTo>
                  <a:lnTo>
                    <a:pt x="4" y="19"/>
                  </a:lnTo>
                  <a:lnTo>
                    <a:pt x="6" y="19"/>
                  </a:lnTo>
                  <a:lnTo>
                    <a:pt x="6" y="21"/>
                  </a:lnTo>
                  <a:lnTo>
                    <a:pt x="8" y="21"/>
                  </a:lnTo>
                  <a:lnTo>
                    <a:pt x="10" y="21"/>
                  </a:lnTo>
                  <a:lnTo>
                    <a:pt x="12" y="23"/>
                  </a:lnTo>
                  <a:lnTo>
                    <a:pt x="12" y="21"/>
                  </a:lnTo>
                </a:path>
              </a:pathLst>
            </a:custGeom>
            <a:solidFill>
              <a:srgbClr val="000000"/>
            </a:solidFill>
            <a:ln w="9525" cap="rnd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06" name="Rectangle 130"/>
            <p:cNvSpPr>
              <a:spLocks noChangeArrowheads="1"/>
            </p:cNvSpPr>
            <p:nvPr/>
          </p:nvSpPr>
          <p:spPr bwMode="auto">
            <a:xfrm>
              <a:off x="695" y="2081"/>
              <a:ext cx="146" cy="1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sz="1200">
                  <a:solidFill>
                    <a:srgbClr val="000000"/>
                  </a:solidFill>
                  <a:latin typeface="+mj-lt"/>
                </a:rPr>
                <a:t>4</a:t>
              </a:r>
              <a:endParaRPr lang="en-US" sz="6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407" name="Freeform 131"/>
            <p:cNvSpPr>
              <a:spLocks/>
            </p:cNvSpPr>
            <p:nvPr/>
          </p:nvSpPr>
          <p:spPr bwMode="auto">
            <a:xfrm>
              <a:off x="1359" y="1917"/>
              <a:ext cx="93" cy="1777"/>
            </a:xfrm>
            <a:custGeom>
              <a:avLst/>
              <a:gdLst>
                <a:gd name="T0" fmla="*/ 90 w 93"/>
                <a:gd name="T1" fmla="*/ 1776 h 1777"/>
                <a:gd name="T2" fmla="*/ 92 w 93"/>
                <a:gd name="T3" fmla="*/ 0 h 1777"/>
                <a:gd name="T4" fmla="*/ 0 w 93"/>
                <a:gd name="T5" fmla="*/ 0 h 1777"/>
                <a:gd name="T6" fmla="*/ 0 w 93"/>
                <a:gd name="T7" fmla="*/ 1776 h 1777"/>
                <a:gd name="T8" fmla="*/ 92 w 93"/>
                <a:gd name="T9" fmla="*/ 1776 h 1777"/>
                <a:gd name="T10" fmla="*/ 92 w 93"/>
                <a:gd name="T11" fmla="*/ 1776 h 177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3"/>
                <a:gd name="T19" fmla="*/ 0 h 1777"/>
                <a:gd name="T20" fmla="*/ 93 w 93"/>
                <a:gd name="T21" fmla="*/ 1777 h 177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3" h="1777">
                  <a:moveTo>
                    <a:pt x="90" y="1776"/>
                  </a:moveTo>
                  <a:lnTo>
                    <a:pt x="92" y="0"/>
                  </a:lnTo>
                  <a:lnTo>
                    <a:pt x="0" y="0"/>
                  </a:lnTo>
                  <a:lnTo>
                    <a:pt x="0" y="1776"/>
                  </a:lnTo>
                  <a:lnTo>
                    <a:pt x="92" y="1776"/>
                  </a:lnTo>
                </a:path>
              </a:pathLst>
            </a:custGeom>
            <a:solidFill>
              <a:srgbClr val="CCECFF"/>
            </a:solidFill>
            <a:ln w="190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08" name="Line 132"/>
            <p:cNvSpPr>
              <a:spLocks noChangeShapeType="1"/>
            </p:cNvSpPr>
            <p:nvPr/>
          </p:nvSpPr>
          <p:spPr bwMode="auto">
            <a:xfrm flipH="1" flipV="1">
              <a:off x="1202" y="2021"/>
              <a:ext cx="163" cy="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09" name="Freeform 133"/>
            <p:cNvSpPr>
              <a:spLocks/>
            </p:cNvSpPr>
            <p:nvPr/>
          </p:nvSpPr>
          <p:spPr bwMode="auto">
            <a:xfrm>
              <a:off x="1236" y="2013"/>
              <a:ext cx="24" cy="24"/>
            </a:xfrm>
            <a:custGeom>
              <a:avLst/>
              <a:gdLst>
                <a:gd name="T0" fmla="*/ 9 w 24"/>
                <a:gd name="T1" fmla="*/ 23 h 24"/>
                <a:gd name="T2" fmla="*/ 13 w 24"/>
                <a:gd name="T3" fmla="*/ 23 h 24"/>
                <a:gd name="T4" fmla="*/ 15 w 24"/>
                <a:gd name="T5" fmla="*/ 23 h 24"/>
                <a:gd name="T6" fmla="*/ 15 w 24"/>
                <a:gd name="T7" fmla="*/ 21 h 24"/>
                <a:gd name="T8" fmla="*/ 17 w 24"/>
                <a:gd name="T9" fmla="*/ 21 h 24"/>
                <a:gd name="T10" fmla="*/ 19 w 24"/>
                <a:gd name="T11" fmla="*/ 19 h 24"/>
                <a:gd name="T12" fmla="*/ 19 w 24"/>
                <a:gd name="T13" fmla="*/ 19 h 24"/>
                <a:gd name="T14" fmla="*/ 21 w 24"/>
                <a:gd name="T15" fmla="*/ 17 h 24"/>
                <a:gd name="T16" fmla="*/ 21 w 24"/>
                <a:gd name="T17" fmla="*/ 15 h 24"/>
                <a:gd name="T18" fmla="*/ 23 w 24"/>
                <a:gd name="T19" fmla="*/ 13 h 24"/>
                <a:gd name="T20" fmla="*/ 23 w 24"/>
                <a:gd name="T21" fmla="*/ 11 h 24"/>
                <a:gd name="T22" fmla="*/ 23 w 24"/>
                <a:gd name="T23" fmla="*/ 9 h 24"/>
                <a:gd name="T24" fmla="*/ 21 w 24"/>
                <a:gd name="T25" fmla="*/ 8 h 24"/>
                <a:gd name="T26" fmla="*/ 21 w 24"/>
                <a:gd name="T27" fmla="*/ 6 h 24"/>
                <a:gd name="T28" fmla="*/ 19 w 24"/>
                <a:gd name="T29" fmla="*/ 6 h 24"/>
                <a:gd name="T30" fmla="*/ 19 w 24"/>
                <a:gd name="T31" fmla="*/ 4 h 24"/>
                <a:gd name="T32" fmla="*/ 17 w 24"/>
                <a:gd name="T33" fmla="*/ 2 h 24"/>
                <a:gd name="T34" fmla="*/ 15 w 24"/>
                <a:gd name="T35" fmla="*/ 2 h 24"/>
                <a:gd name="T36" fmla="*/ 15 w 24"/>
                <a:gd name="T37" fmla="*/ 0 h 24"/>
                <a:gd name="T38" fmla="*/ 13 w 24"/>
                <a:gd name="T39" fmla="*/ 0 h 24"/>
                <a:gd name="T40" fmla="*/ 11 w 24"/>
                <a:gd name="T41" fmla="*/ 0 h 24"/>
                <a:gd name="T42" fmla="*/ 9 w 24"/>
                <a:gd name="T43" fmla="*/ 0 h 24"/>
                <a:gd name="T44" fmla="*/ 7 w 24"/>
                <a:gd name="T45" fmla="*/ 0 h 24"/>
                <a:gd name="T46" fmla="*/ 5 w 24"/>
                <a:gd name="T47" fmla="*/ 2 h 24"/>
                <a:gd name="T48" fmla="*/ 4 w 24"/>
                <a:gd name="T49" fmla="*/ 2 h 24"/>
                <a:gd name="T50" fmla="*/ 2 w 24"/>
                <a:gd name="T51" fmla="*/ 4 h 24"/>
                <a:gd name="T52" fmla="*/ 2 w 24"/>
                <a:gd name="T53" fmla="*/ 6 h 24"/>
                <a:gd name="T54" fmla="*/ 0 w 24"/>
                <a:gd name="T55" fmla="*/ 6 h 24"/>
                <a:gd name="T56" fmla="*/ 0 w 24"/>
                <a:gd name="T57" fmla="*/ 8 h 24"/>
                <a:gd name="T58" fmla="*/ 0 w 24"/>
                <a:gd name="T59" fmla="*/ 9 h 24"/>
                <a:gd name="T60" fmla="*/ 0 w 24"/>
                <a:gd name="T61" fmla="*/ 11 h 24"/>
                <a:gd name="T62" fmla="*/ 0 w 24"/>
                <a:gd name="T63" fmla="*/ 13 h 24"/>
                <a:gd name="T64" fmla="*/ 0 w 24"/>
                <a:gd name="T65" fmla="*/ 15 h 24"/>
                <a:gd name="T66" fmla="*/ 0 w 24"/>
                <a:gd name="T67" fmla="*/ 17 h 24"/>
                <a:gd name="T68" fmla="*/ 2 w 24"/>
                <a:gd name="T69" fmla="*/ 19 h 24"/>
                <a:gd name="T70" fmla="*/ 2 w 24"/>
                <a:gd name="T71" fmla="*/ 19 h 24"/>
                <a:gd name="T72" fmla="*/ 4 w 24"/>
                <a:gd name="T73" fmla="*/ 21 h 24"/>
                <a:gd name="T74" fmla="*/ 5 w 24"/>
                <a:gd name="T75" fmla="*/ 21 h 24"/>
                <a:gd name="T76" fmla="*/ 7 w 24"/>
                <a:gd name="T77" fmla="*/ 23 h 24"/>
                <a:gd name="T78" fmla="*/ 9 w 24"/>
                <a:gd name="T79" fmla="*/ 23 h 24"/>
                <a:gd name="T80" fmla="*/ 11 w 24"/>
                <a:gd name="T81" fmla="*/ 23 h 24"/>
                <a:gd name="T82" fmla="*/ 11 w 24"/>
                <a:gd name="T83" fmla="*/ 23 h 24"/>
                <a:gd name="T84" fmla="*/ 9 w 24"/>
                <a:gd name="T85" fmla="*/ 23 h 2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4"/>
                <a:gd name="T130" fmla="*/ 0 h 24"/>
                <a:gd name="T131" fmla="*/ 24 w 24"/>
                <a:gd name="T132" fmla="*/ 24 h 24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4" h="24">
                  <a:moveTo>
                    <a:pt x="9" y="23"/>
                  </a:moveTo>
                  <a:lnTo>
                    <a:pt x="13" y="23"/>
                  </a:lnTo>
                  <a:lnTo>
                    <a:pt x="15" y="23"/>
                  </a:lnTo>
                  <a:lnTo>
                    <a:pt x="15" y="21"/>
                  </a:lnTo>
                  <a:lnTo>
                    <a:pt x="17" y="21"/>
                  </a:lnTo>
                  <a:lnTo>
                    <a:pt x="19" y="19"/>
                  </a:lnTo>
                  <a:lnTo>
                    <a:pt x="21" y="17"/>
                  </a:lnTo>
                  <a:lnTo>
                    <a:pt x="21" y="15"/>
                  </a:lnTo>
                  <a:lnTo>
                    <a:pt x="23" y="13"/>
                  </a:lnTo>
                  <a:lnTo>
                    <a:pt x="23" y="11"/>
                  </a:lnTo>
                  <a:lnTo>
                    <a:pt x="23" y="9"/>
                  </a:lnTo>
                  <a:lnTo>
                    <a:pt x="21" y="8"/>
                  </a:lnTo>
                  <a:lnTo>
                    <a:pt x="21" y="6"/>
                  </a:lnTo>
                  <a:lnTo>
                    <a:pt x="19" y="6"/>
                  </a:lnTo>
                  <a:lnTo>
                    <a:pt x="19" y="4"/>
                  </a:lnTo>
                  <a:lnTo>
                    <a:pt x="17" y="2"/>
                  </a:lnTo>
                  <a:lnTo>
                    <a:pt x="15" y="2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1" y="0"/>
                  </a:lnTo>
                  <a:lnTo>
                    <a:pt x="9" y="0"/>
                  </a:lnTo>
                  <a:lnTo>
                    <a:pt x="7" y="0"/>
                  </a:lnTo>
                  <a:lnTo>
                    <a:pt x="5" y="2"/>
                  </a:lnTo>
                  <a:lnTo>
                    <a:pt x="4" y="2"/>
                  </a:lnTo>
                  <a:lnTo>
                    <a:pt x="2" y="4"/>
                  </a:lnTo>
                  <a:lnTo>
                    <a:pt x="2" y="6"/>
                  </a:lnTo>
                  <a:lnTo>
                    <a:pt x="0" y="6"/>
                  </a:lnTo>
                  <a:lnTo>
                    <a:pt x="0" y="8"/>
                  </a:lnTo>
                  <a:lnTo>
                    <a:pt x="0" y="9"/>
                  </a:lnTo>
                  <a:lnTo>
                    <a:pt x="0" y="11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0" y="17"/>
                  </a:lnTo>
                  <a:lnTo>
                    <a:pt x="2" y="19"/>
                  </a:lnTo>
                  <a:lnTo>
                    <a:pt x="4" y="21"/>
                  </a:lnTo>
                  <a:lnTo>
                    <a:pt x="5" y="21"/>
                  </a:lnTo>
                  <a:lnTo>
                    <a:pt x="7" y="23"/>
                  </a:lnTo>
                  <a:lnTo>
                    <a:pt x="9" y="23"/>
                  </a:lnTo>
                  <a:lnTo>
                    <a:pt x="11" y="23"/>
                  </a:lnTo>
                  <a:lnTo>
                    <a:pt x="9" y="23"/>
                  </a:lnTo>
                </a:path>
              </a:pathLst>
            </a:custGeom>
            <a:solidFill>
              <a:srgbClr val="000000"/>
            </a:solidFill>
            <a:ln w="9525" cap="rnd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10" name="Freeform 134"/>
            <p:cNvSpPr>
              <a:spLocks/>
            </p:cNvSpPr>
            <p:nvPr/>
          </p:nvSpPr>
          <p:spPr bwMode="auto">
            <a:xfrm>
              <a:off x="915" y="1825"/>
              <a:ext cx="285" cy="413"/>
            </a:xfrm>
            <a:custGeom>
              <a:avLst/>
              <a:gdLst>
                <a:gd name="T0" fmla="*/ 0 w 210"/>
                <a:gd name="T1" fmla="*/ 0 h 413"/>
                <a:gd name="T2" fmla="*/ 0 w 210"/>
                <a:gd name="T3" fmla="*/ 167 h 413"/>
                <a:gd name="T4" fmla="*/ 91 w 210"/>
                <a:gd name="T5" fmla="*/ 207 h 413"/>
                <a:gd name="T6" fmla="*/ 0 w 210"/>
                <a:gd name="T7" fmla="*/ 245 h 413"/>
                <a:gd name="T8" fmla="*/ 0 w 210"/>
                <a:gd name="T9" fmla="*/ 412 h 413"/>
                <a:gd name="T10" fmla="*/ 284 w 210"/>
                <a:gd name="T11" fmla="*/ 286 h 413"/>
                <a:gd name="T12" fmla="*/ 284 w 210"/>
                <a:gd name="T13" fmla="*/ 127 h 413"/>
                <a:gd name="T14" fmla="*/ 0 w 210"/>
                <a:gd name="T15" fmla="*/ 0 h 413"/>
                <a:gd name="T16" fmla="*/ 0 w 210"/>
                <a:gd name="T17" fmla="*/ 0 h 41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10"/>
                <a:gd name="T28" fmla="*/ 0 h 413"/>
                <a:gd name="T29" fmla="*/ 210 w 210"/>
                <a:gd name="T30" fmla="*/ 413 h 413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10" h="413">
                  <a:moveTo>
                    <a:pt x="0" y="0"/>
                  </a:moveTo>
                  <a:lnTo>
                    <a:pt x="0" y="167"/>
                  </a:lnTo>
                  <a:lnTo>
                    <a:pt x="67" y="207"/>
                  </a:lnTo>
                  <a:lnTo>
                    <a:pt x="0" y="245"/>
                  </a:lnTo>
                  <a:lnTo>
                    <a:pt x="0" y="412"/>
                  </a:lnTo>
                  <a:lnTo>
                    <a:pt x="209" y="286"/>
                  </a:lnTo>
                  <a:lnTo>
                    <a:pt x="209" y="127"/>
                  </a:lnTo>
                  <a:lnTo>
                    <a:pt x="0" y="0"/>
                  </a:lnTo>
                </a:path>
              </a:pathLst>
            </a:custGeom>
            <a:solidFill>
              <a:srgbClr val="CCFF99"/>
            </a:solidFill>
            <a:ln w="190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11" name="Line 135"/>
            <p:cNvSpPr>
              <a:spLocks noChangeShapeType="1"/>
            </p:cNvSpPr>
            <p:nvPr/>
          </p:nvSpPr>
          <p:spPr bwMode="auto">
            <a:xfrm flipH="1">
              <a:off x="811" y="2168"/>
              <a:ext cx="102" cy="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12" name="Rectangle 136"/>
            <p:cNvSpPr>
              <a:spLocks noChangeArrowheads="1"/>
            </p:cNvSpPr>
            <p:nvPr/>
          </p:nvSpPr>
          <p:spPr bwMode="auto">
            <a:xfrm>
              <a:off x="812" y="2774"/>
              <a:ext cx="374" cy="2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000000"/>
                  </a:solidFill>
                  <a:latin typeface="+mj-lt"/>
                </a:rPr>
                <a:t>Instruction</a:t>
              </a:r>
            </a:p>
            <a:p>
              <a:pPr algn="ctr"/>
              <a:r>
                <a:rPr lang="en-US" sz="1200" dirty="0">
                  <a:solidFill>
                    <a:srgbClr val="000000"/>
                  </a:solidFill>
                  <a:latin typeface="+mj-lt"/>
                </a:rPr>
                <a:t>Memory</a:t>
              </a:r>
              <a:endParaRPr lang="en-US" sz="500" dirty="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413" name="Rectangle 138"/>
            <p:cNvSpPr>
              <a:spLocks noChangeArrowheads="1"/>
            </p:cNvSpPr>
            <p:nvPr/>
          </p:nvSpPr>
          <p:spPr bwMode="auto">
            <a:xfrm>
              <a:off x="747" y="2481"/>
              <a:ext cx="208" cy="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900">
                  <a:solidFill>
                    <a:srgbClr val="000000"/>
                  </a:solidFill>
                  <a:latin typeface="+mj-lt"/>
                </a:rPr>
                <a:t>Address</a:t>
              </a:r>
              <a:endParaRPr lang="en-US" sz="5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414" name="Rectangle 139"/>
            <p:cNvSpPr>
              <a:spLocks noChangeArrowheads="1"/>
            </p:cNvSpPr>
            <p:nvPr/>
          </p:nvSpPr>
          <p:spPr bwMode="auto">
            <a:xfrm>
              <a:off x="1042" y="1968"/>
              <a:ext cx="138" cy="1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dirty="0">
                  <a:solidFill>
                    <a:srgbClr val="000000"/>
                  </a:solidFill>
                  <a:latin typeface="+mj-lt"/>
                </a:rPr>
                <a:t>Add</a:t>
              </a:r>
              <a:endParaRPr lang="en-US" sz="500" dirty="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415" name="Rectangle 140"/>
            <p:cNvSpPr>
              <a:spLocks noChangeArrowheads="1"/>
            </p:cNvSpPr>
            <p:nvPr/>
          </p:nvSpPr>
          <p:spPr bwMode="auto">
            <a:xfrm>
              <a:off x="1311" y="1755"/>
              <a:ext cx="223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dirty="0">
                  <a:solidFill>
                    <a:srgbClr val="000000"/>
                  </a:solidFill>
                  <a:latin typeface="+mj-lt"/>
                </a:rPr>
                <a:t>IF/ID</a:t>
              </a:r>
            </a:p>
          </p:txBody>
        </p:sp>
        <p:grpSp>
          <p:nvGrpSpPr>
            <p:cNvPr id="54416" name="Group 141"/>
            <p:cNvGrpSpPr>
              <a:grpSpLocks/>
            </p:cNvGrpSpPr>
            <p:nvPr/>
          </p:nvGrpSpPr>
          <p:grpSpPr bwMode="auto">
            <a:xfrm>
              <a:off x="432" y="2393"/>
              <a:ext cx="156" cy="245"/>
              <a:chOff x="480" y="2155"/>
              <a:chExt cx="156" cy="245"/>
            </a:xfrm>
          </p:grpSpPr>
          <p:sp>
            <p:nvSpPr>
              <p:cNvPr id="54455" name="Freeform 142"/>
              <p:cNvSpPr>
                <a:spLocks/>
              </p:cNvSpPr>
              <p:nvPr/>
            </p:nvSpPr>
            <p:spPr bwMode="auto">
              <a:xfrm>
                <a:off x="480" y="2155"/>
                <a:ext cx="156" cy="245"/>
              </a:xfrm>
              <a:custGeom>
                <a:avLst/>
                <a:gdLst>
                  <a:gd name="T0" fmla="*/ 155 w 104"/>
                  <a:gd name="T1" fmla="*/ 242 h 245"/>
                  <a:gd name="T2" fmla="*/ 155 w 104"/>
                  <a:gd name="T3" fmla="*/ 0 h 245"/>
                  <a:gd name="T4" fmla="*/ 0 w 104"/>
                  <a:gd name="T5" fmla="*/ 0 h 245"/>
                  <a:gd name="T6" fmla="*/ 0 w 104"/>
                  <a:gd name="T7" fmla="*/ 244 h 245"/>
                  <a:gd name="T8" fmla="*/ 155 w 104"/>
                  <a:gd name="T9" fmla="*/ 244 h 245"/>
                  <a:gd name="T10" fmla="*/ 155 w 104"/>
                  <a:gd name="T11" fmla="*/ 244 h 24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04"/>
                  <a:gd name="T19" fmla="*/ 0 h 245"/>
                  <a:gd name="T20" fmla="*/ 104 w 104"/>
                  <a:gd name="T21" fmla="*/ 245 h 245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04" h="245">
                    <a:moveTo>
                      <a:pt x="103" y="242"/>
                    </a:moveTo>
                    <a:lnTo>
                      <a:pt x="103" y="0"/>
                    </a:lnTo>
                    <a:lnTo>
                      <a:pt x="0" y="0"/>
                    </a:lnTo>
                    <a:lnTo>
                      <a:pt x="0" y="244"/>
                    </a:lnTo>
                    <a:lnTo>
                      <a:pt x="103" y="244"/>
                    </a:lnTo>
                  </a:path>
                </a:pathLst>
              </a:custGeom>
              <a:solidFill>
                <a:srgbClr val="FFE6CD"/>
              </a:solidFill>
              <a:ln w="1905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54456" name="Rectangle 143"/>
              <p:cNvSpPr>
                <a:spLocks noChangeArrowheads="1"/>
              </p:cNvSpPr>
              <p:nvPr/>
            </p:nvSpPr>
            <p:spPr bwMode="auto">
              <a:xfrm>
                <a:off x="509" y="2220"/>
                <a:ext cx="90" cy="108"/>
              </a:xfrm>
              <a:prstGeom prst="rect">
                <a:avLst/>
              </a:prstGeom>
              <a:solidFill>
                <a:srgbClr val="FFE6CD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200" dirty="0">
                    <a:solidFill>
                      <a:srgbClr val="000000"/>
                    </a:solidFill>
                    <a:latin typeface="+mj-lt"/>
                  </a:rPr>
                  <a:t>PC</a:t>
                </a:r>
                <a:endParaRPr lang="en-US" sz="500" dirty="0">
                  <a:solidFill>
                    <a:srgbClr val="000000"/>
                  </a:solidFill>
                  <a:latin typeface="+mj-lt"/>
                </a:endParaRPr>
              </a:p>
            </p:txBody>
          </p:sp>
        </p:grpSp>
        <p:sp>
          <p:nvSpPr>
            <p:cNvPr id="54417" name="Line 144"/>
            <p:cNvSpPr>
              <a:spLocks noChangeShapeType="1"/>
            </p:cNvSpPr>
            <p:nvPr/>
          </p:nvSpPr>
          <p:spPr bwMode="auto">
            <a:xfrm flipH="1">
              <a:off x="1290" y="2688"/>
              <a:ext cx="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18" name="Line 145"/>
            <p:cNvSpPr>
              <a:spLocks noChangeShapeType="1"/>
            </p:cNvSpPr>
            <p:nvPr/>
          </p:nvSpPr>
          <p:spPr bwMode="auto">
            <a:xfrm flipV="1">
              <a:off x="1248" y="1782"/>
              <a:ext cx="0" cy="2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19" name="Line 146"/>
            <p:cNvSpPr>
              <a:spLocks noChangeShapeType="1"/>
            </p:cNvSpPr>
            <p:nvPr/>
          </p:nvSpPr>
          <p:spPr bwMode="auto">
            <a:xfrm flipH="1" flipV="1">
              <a:off x="3843" y="1594"/>
              <a:ext cx="0" cy="57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20" name="Line 147"/>
            <p:cNvSpPr>
              <a:spLocks noChangeShapeType="1"/>
            </p:cNvSpPr>
            <p:nvPr/>
          </p:nvSpPr>
          <p:spPr bwMode="auto">
            <a:xfrm rot="5400000" flipH="1" flipV="1">
              <a:off x="1011" y="1542"/>
              <a:ext cx="3" cy="47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21" name="Line 148"/>
            <p:cNvSpPr>
              <a:spLocks noChangeShapeType="1"/>
            </p:cNvSpPr>
            <p:nvPr/>
          </p:nvSpPr>
          <p:spPr bwMode="auto">
            <a:xfrm rot="16200000" flipV="1">
              <a:off x="3756" y="2077"/>
              <a:ext cx="3" cy="17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22" name="Line 149"/>
            <p:cNvSpPr>
              <a:spLocks noChangeShapeType="1"/>
            </p:cNvSpPr>
            <p:nvPr/>
          </p:nvSpPr>
          <p:spPr bwMode="auto">
            <a:xfrm rot="16200000" flipV="1">
              <a:off x="521" y="1529"/>
              <a:ext cx="0" cy="31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23" name="Line 150"/>
            <p:cNvSpPr>
              <a:spLocks noChangeShapeType="1"/>
            </p:cNvSpPr>
            <p:nvPr/>
          </p:nvSpPr>
          <p:spPr bwMode="auto">
            <a:xfrm flipV="1">
              <a:off x="360" y="1683"/>
              <a:ext cx="0" cy="83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24" name="Line 151"/>
            <p:cNvSpPr>
              <a:spLocks noChangeShapeType="1"/>
            </p:cNvSpPr>
            <p:nvPr/>
          </p:nvSpPr>
          <p:spPr bwMode="auto">
            <a:xfrm rot="16200000" flipV="1">
              <a:off x="393" y="2481"/>
              <a:ext cx="0" cy="6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grpSp>
          <p:nvGrpSpPr>
            <p:cNvPr id="54425" name="Group 152"/>
            <p:cNvGrpSpPr>
              <a:grpSpLocks/>
            </p:cNvGrpSpPr>
            <p:nvPr/>
          </p:nvGrpSpPr>
          <p:grpSpPr bwMode="auto">
            <a:xfrm>
              <a:off x="2754" y="3391"/>
              <a:ext cx="127" cy="309"/>
              <a:chOff x="2742" y="3153"/>
              <a:chExt cx="127" cy="309"/>
            </a:xfrm>
          </p:grpSpPr>
          <p:sp>
            <p:nvSpPr>
              <p:cNvPr id="54451" name="Rectangle 153"/>
              <p:cNvSpPr>
                <a:spLocks noChangeArrowheads="1"/>
              </p:cNvSpPr>
              <p:nvPr/>
            </p:nvSpPr>
            <p:spPr bwMode="auto">
              <a:xfrm>
                <a:off x="2745" y="3153"/>
                <a:ext cx="124" cy="108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r>
                  <a:rPr lang="en-US" sz="600" dirty="0">
                    <a:solidFill>
                      <a:srgbClr val="000000"/>
                    </a:solidFill>
                    <a:latin typeface="+mj-lt"/>
                  </a:rPr>
                  <a:t>0</a:t>
                </a:r>
              </a:p>
            </p:txBody>
          </p:sp>
          <p:sp>
            <p:nvSpPr>
              <p:cNvPr id="54452" name="Rectangle 154"/>
              <p:cNvSpPr>
                <a:spLocks noChangeArrowheads="1"/>
              </p:cNvSpPr>
              <p:nvPr/>
            </p:nvSpPr>
            <p:spPr bwMode="auto">
              <a:xfrm>
                <a:off x="2742" y="3354"/>
                <a:ext cx="124" cy="108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r>
                  <a:rPr lang="en-US" sz="600" dirty="0">
                    <a:solidFill>
                      <a:srgbClr val="000000"/>
                    </a:solidFill>
                    <a:latin typeface="+mj-lt"/>
                  </a:rPr>
                  <a:t>1</a:t>
                </a:r>
              </a:p>
            </p:txBody>
          </p:sp>
          <p:sp>
            <p:nvSpPr>
              <p:cNvPr id="54453" name="Rectangle 155"/>
              <p:cNvSpPr>
                <a:spLocks noChangeArrowheads="1"/>
              </p:cNvSpPr>
              <p:nvPr/>
            </p:nvSpPr>
            <p:spPr bwMode="auto">
              <a:xfrm>
                <a:off x="2793" y="3230"/>
                <a:ext cx="45" cy="151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>
                  <a:lnSpc>
                    <a:spcPct val="70000"/>
                  </a:lnSpc>
                </a:pPr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m</a:t>
                </a:r>
              </a:p>
              <a:p>
                <a:pPr algn="ctr">
                  <a:lnSpc>
                    <a:spcPct val="70000"/>
                  </a:lnSpc>
                </a:pPr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u</a:t>
                </a:r>
              </a:p>
              <a:p>
                <a:pPr algn="ctr">
                  <a:lnSpc>
                    <a:spcPct val="70000"/>
                  </a:lnSpc>
                </a:pPr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x</a:t>
                </a:r>
                <a:endParaRPr lang="en-US" sz="500">
                  <a:solidFill>
                    <a:srgbClr val="000000"/>
                  </a:solidFill>
                  <a:latin typeface="+mj-lt"/>
                </a:endParaRPr>
              </a:p>
            </p:txBody>
          </p:sp>
          <p:sp>
            <p:nvSpPr>
              <p:cNvPr id="54454" name="AutoShape 156"/>
              <p:cNvSpPr>
                <a:spLocks noChangeArrowheads="1"/>
              </p:cNvSpPr>
              <p:nvPr/>
            </p:nvSpPr>
            <p:spPr bwMode="auto">
              <a:xfrm rot="5400000">
                <a:off x="2665" y="3263"/>
                <a:ext cx="297" cy="96"/>
              </a:xfrm>
              <a:prstGeom prst="flowChartTerminator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>
                  <a:latin typeface="+mj-lt"/>
                </a:endParaRPr>
              </a:p>
            </p:txBody>
          </p:sp>
        </p:grpSp>
        <p:grpSp>
          <p:nvGrpSpPr>
            <p:cNvPr id="54426" name="Group 157"/>
            <p:cNvGrpSpPr>
              <a:grpSpLocks/>
            </p:cNvGrpSpPr>
            <p:nvPr/>
          </p:nvGrpSpPr>
          <p:grpSpPr bwMode="auto">
            <a:xfrm>
              <a:off x="2796" y="2665"/>
              <a:ext cx="127" cy="309"/>
              <a:chOff x="2748" y="3153"/>
              <a:chExt cx="127" cy="309"/>
            </a:xfrm>
          </p:grpSpPr>
          <p:sp>
            <p:nvSpPr>
              <p:cNvPr id="54447" name="Rectangle 158"/>
              <p:cNvSpPr>
                <a:spLocks noChangeArrowheads="1"/>
              </p:cNvSpPr>
              <p:nvPr/>
            </p:nvSpPr>
            <p:spPr bwMode="auto">
              <a:xfrm>
                <a:off x="2751" y="3153"/>
                <a:ext cx="124" cy="108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r>
                  <a:rPr lang="en-US" sz="600" dirty="0">
                    <a:solidFill>
                      <a:srgbClr val="000000"/>
                    </a:solidFill>
                    <a:latin typeface="+mj-lt"/>
                  </a:rPr>
                  <a:t>0</a:t>
                </a:r>
              </a:p>
            </p:txBody>
          </p:sp>
          <p:sp>
            <p:nvSpPr>
              <p:cNvPr id="54448" name="Rectangle 159"/>
              <p:cNvSpPr>
                <a:spLocks noChangeArrowheads="1"/>
              </p:cNvSpPr>
              <p:nvPr/>
            </p:nvSpPr>
            <p:spPr bwMode="auto">
              <a:xfrm>
                <a:off x="2748" y="3354"/>
                <a:ext cx="124" cy="108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r>
                  <a:rPr lang="en-US" sz="600" dirty="0">
                    <a:solidFill>
                      <a:srgbClr val="000000"/>
                    </a:solidFill>
                    <a:latin typeface="+mj-lt"/>
                  </a:rPr>
                  <a:t>1</a:t>
                </a:r>
              </a:p>
            </p:txBody>
          </p:sp>
          <p:sp>
            <p:nvSpPr>
              <p:cNvPr id="54449" name="Rectangle 160"/>
              <p:cNvSpPr>
                <a:spLocks noChangeArrowheads="1"/>
              </p:cNvSpPr>
              <p:nvPr/>
            </p:nvSpPr>
            <p:spPr bwMode="auto">
              <a:xfrm>
                <a:off x="2795" y="3238"/>
                <a:ext cx="40" cy="132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>
                  <a:lnSpc>
                    <a:spcPct val="70000"/>
                  </a:lnSpc>
                </a:pPr>
                <a:r>
                  <a:rPr lang="en-US" sz="700" dirty="0">
                    <a:solidFill>
                      <a:srgbClr val="000000"/>
                    </a:solidFill>
                    <a:latin typeface="+mj-lt"/>
                  </a:rPr>
                  <a:t>m</a:t>
                </a:r>
              </a:p>
              <a:p>
                <a:pPr algn="ctr">
                  <a:lnSpc>
                    <a:spcPct val="70000"/>
                  </a:lnSpc>
                </a:pPr>
                <a:r>
                  <a:rPr lang="en-US" sz="700" dirty="0">
                    <a:solidFill>
                      <a:srgbClr val="000000"/>
                    </a:solidFill>
                    <a:latin typeface="+mj-lt"/>
                  </a:rPr>
                  <a:t>u</a:t>
                </a:r>
              </a:p>
              <a:p>
                <a:pPr algn="ctr">
                  <a:lnSpc>
                    <a:spcPct val="70000"/>
                  </a:lnSpc>
                </a:pPr>
                <a:r>
                  <a:rPr lang="en-US" sz="700" dirty="0">
                    <a:solidFill>
                      <a:srgbClr val="000000"/>
                    </a:solidFill>
                    <a:latin typeface="+mj-lt"/>
                  </a:rPr>
                  <a:t>x</a:t>
                </a:r>
                <a:endParaRPr lang="en-US" sz="400" dirty="0">
                  <a:solidFill>
                    <a:srgbClr val="000000"/>
                  </a:solidFill>
                  <a:latin typeface="+mj-lt"/>
                </a:endParaRPr>
              </a:p>
            </p:txBody>
          </p:sp>
          <p:sp>
            <p:nvSpPr>
              <p:cNvPr id="54450" name="AutoShape 161"/>
              <p:cNvSpPr>
                <a:spLocks noChangeArrowheads="1"/>
              </p:cNvSpPr>
              <p:nvPr/>
            </p:nvSpPr>
            <p:spPr bwMode="auto">
              <a:xfrm rot="5400000">
                <a:off x="2665" y="3263"/>
                <a:ext cx="297" cy="96"/>
              </a:xfrm>
              <a:prstGeom prst="flowChartTerminator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>
                  <a:latin typeface="+mj-lt"/>
                </a:endParaRPr>
              </a:p>
            </p:txBody>
          </p:sp>
        </p:grpSp>
        <p:sp>
          <p:nvSpPr>
            <p:cNvPr id="54427" name="Line 162"/>
            <p:cNvSpPr>
              <a:spLocks noChangeShapeType="1"/>
            </p:cNvSpPr>
            <p:nvPr/>
          </p:nvSpPr>
          <p:spPr bwMode="auto">
            <a:xfrm flipV="1">
              <a:off x="3168" y="2844"/>
              <a:ext cx="0" cy="391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28" name="Line 163"/>
            <p:cNvSpPr>
              <a:spLocks noChangeShapeType="1"/>
            </p:cNvSpPr>
            <p:nvPr/>
          </p:nvSpPr>
          <p:spPr bwMode="auto">
            <a:xfrm rot="5400000" flipV="1">
              <a:off x="3142" y="3203"/>
              <a:ext cx="0" cy="52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grpSp>
          <p:nvGrpSpPr>
            <p:cNvPr id="54429" name="Group 164"/>
            <p:cNvGrpSpPr>
              <a:grpSpLocks/>
            </p:cNvGrpSpPr>
            <p:nvPr/>
          </p:nvGrpSpPr>
          <p:grpSpPr bwMode="auto">
            <a:xfrm flipH="1">
              <a:off x="672" y="1534"/>
              <a:ext cx="127" cy="309"/>
              <a:chOff x="2743" y="3153"/>
              <a:chExt cx="127" cy="309"/>
            </a:xfrm>
          </p:grpSpPr>
          <p:sp>
            <p:nvSpPr>
              <p:cNvPr id="54443" name="Rectangle 165"/>
              <p:cNvSpPr>
                <a:spLocks noChangeArrowheads="1"/>
              </p:cNvSpPr>
              <p:nvPr/>
            </p:nvSpPr>
            <p:spPr bwMode="auto">
              <a:xfrm>
                <a:off x="2746" y="3153"/>
                <a:ext cx="124" cy="108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r>
                  <a:rPr lang="en-US" sz="600" dirty="0">
                    <a:solidFill>
                      <a:srgbClr val="000000"/>
                    </a:solidFill>
                    <a:latin typeface="+mj-lt"/>
                  </a:rPr>
                  <a:t>0</a:t>
                </a:r>
              </a:p>
            </p:txBody>
          </p:sp>
          <p:sp>
            <p:nvSpPr>
              <p:cNvPr id="54444" name="Rectangle 166"/>
              <p:cNvSpPr>
                <a:spLocks noChangeArrowheads="1"/>
              </p:cNvSpPr>
              <p:nvPr/>
            </p:nvSpPr>
            <p:spPr bwMode="auto">
              <a:xfrm>
                <a:off x="2743" y="3354"/>
                <a:ext cx="124" cy="108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r>
                  <a:rPr lang="en-US" sz="600">
                    <a:solidFill>
                      <a:srgbClr val="000000"/>
                    </a:solidFill>
                    <a:latin typeface="+mj-lt"/>
                  </a:rPr>
                  <a:t>1</a:t>
                </a:r>
              </a:p>
            </p:txBody>
          </p:sp>
          <p:sp>
            <p:nvSpPr>
              <p:cNvPr id="54445" name="Rectangle 167"/>
              <p:cNvSpPr>
                <a:spLocks noChangeArrowheads="1"/>
              </p:cNvSpPr>
              <p:nvPr/>
            </p:nvSpPr>
            <p:spPr bwMode="auto">
              <a:xfrm>
                <a:off x="2795" y="3238"/>
                <a:ext cx="40" cy="132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>
                  <a:lnSpc>
                    <a:spcPct val="70000"/>
                  </a:lnSpc>
                </a:pPr>
                <a:r>
                  <a:rPr lang="en-US" sz="700">
                    <a:solidFill>
                      <a:srgbClr val="000000"/>
                    </a:solidFill>
                    <a:latin typeface="+mj-lt"/>
                  </a:rPr>
                  <a:t>m</a:t>
                </a:r>
              </a:p>
              <a:p>
                <a:pPr algn="ctr">
                  <a:lnSpc>
                    <a:spcPct val="70000"/>
                  </a:lnSpc>
                </a:pPr>
                <a:r>
                  <a:rPr lang="en-US" sz="700">
                    <a:solidFill>
                      <a:srgbClr val="000000"/>
                    </a:solidFill>
                    <a:latin typeface="+mj-lt"/>
                  </a:rPr>
                  <a:t>u</a:t>
                </a:r>
              </a:p>
              <a:p>
                <a:pPr algn="ctr">
                  <a:lnSpc>
                    <a:spcPct val="70000"/>
                  </a:lnSpc>
                </a:pPr>
                <a:r>
                  <a:rPr lang="en-US" sz="700">
                    <a:solidFill>
                      <a:srgbClr val="000000"/>
                    </a:solidFill>
                    <a:latin typeface="+mj-lt"/>
                  </a:rPr>
                  <a:t>x</a:t>
                </a:r>
                <a:endParaRPr lang="en-US" sz="400">
                  <a:solidFill>
                    <a:srgbClr val="000000"/>
                  </a:solidFill>
                  <a:latin typeface="+mj-lt"/>
                </a:endParaRPr>
              </a:p>
            </p:txBody>
          </p:sp>
          <p:sp>
            <p:nvSpPr>
              <p:cNvPr id="54446" name="AutoShape 168"/>
              <p:cNvSpPr>
                <a:spLocks noChangeArrowheads="1"/>
              </p:cNvSpPr>
              <p:nvPr/>
            </p:nvSpPr>
            <p:spPr bwMode="auto">
              <a:xfrm rot="5400000">
                <a:off x="2665" y="3263"/>
                <a:ext cx="297" cy="96"/>
              </a:xfrm>
              <a:prstGeom prst="flowChartTerminator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>
                  <a:latin typeface="+mj-lt"/>
                </a:endParaRPr>
              </a:p>
            </p:txBody>
          </p:sp>
        </p:grpSp>
        <p:grpSp>
          <p:nvGrpSpPr>
            <p:cNvPr id="54430" name="Group 169"/>
            <p:cNvGrpSpPr>
              <a:grpSpLocks/>
            </p:cNvGrpSpPr>
            <p:nvPr/>
          </p:nvGrpSpPr>
          <p:grpSpPr bwMode="auto">
            <a:xfrm>
              <a:off x="4899" y="2686"/>
              <a:ext cx="127" cy="309"/>
              <a:chOff x="2742" y="3153"/>
              <a:chExt cx="127" cy="309"/>
            </a:xfrm>
          </p:grpSpPr>
          <p:sp>
            <p:nvSpPr>
              <p:cNvPr id="54439" name="Rectangle 170"/>
              <p:cNvSpPr>
                <a:spLocks noChangeArrowheads="1"/>
              </p:cNvSpPr>
              <p:nvPr/>
            </p:nvSpPr>
            <p:spPr bwMode="auto">
              <a:xfrm>
                <a:off x="2745" y="3153"/>
                <a:ext cx="124" cy="108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r>
                  <a:rPr lang="en-US" sz="600" dirty="0">
                    <a:solidFill>
                      <a:srgbClr val="000000"/>
                    </a:solidFill>
                    <a:latin typeface="+mj-lt"/>
                  </a:rPr>
                  <a:t>0</a:t>
                </a:r>
              </a:p>
            </p:txBody>
          </p:sp>
          <p:sp>
            <p:nvSpPr>
              <p:cNvPr id="54440" name="Rectangle 171"/>
              <p:cNvSpPr>
                <a:spLocks noChangeArrowheads="1"/>
              </p:cNvSpPr>
              <p:nvPr/>
            </p:nvSpPr>
            <p:spPr bwMode="auto">
              <a:xfrm>
                <a:off x="2742" y="3354"/>
                <a:ext cx="124" cy="108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r>
                  <a:rPr lang="en-US" sz="600" dirty="0">
                    <a:solidFill>
                      <a:srgbClr val="000000"/>
                    </a:solidFill>
                    <a:latin typeface="+mj-lt"/>
                  </a:rPr>
                  <a:t>1</a:t>
                </a:r>
              </a:p>
            </p:txBody>
          </p:sp>
          <p:sp>
            <p:nvSpPr>
              <p:cNvPr id="54441" name="Rectangle 172"/>
              <p:cNvSpPr>
                <a:spLocks noChangeArrowheads="1"/>
              </p:cNvSpPr>
              <p:nvPr/>
            </p:nvSpPr>
            <p:spPr bwMode="auto">
              <a:xfrm>
                <a:off x="2795" y="3238"/>
                <a:ext cx="40" cy="132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>
                  <a:lnSpc>
                    <a:spcPct val="70000"/>
                  </a:lnSpc>
                </a:pPr>
                <a:r>
                  <a:rPr lang="en-US" sz="700">
                    <a:solidFill>
                      <a:srgbClr val="000000"/>
                    </a:solidFill>
                    <a:latin typeface="+mj-lt"/>
                  </a:rPr>
                  <a:t>m</a:t>
                </a:r>
              </a:p>
              <a:p>
                <a:pPr algn="ctr">
                  <a:lnSpc>
                    <a:spcPct val="70000"/>
                  </a:lnSpc>
                </a:pPr>
                <a:r>
                  <a:rPr lang="en-US" sz="700">
                    <a:solidFill>
                      <a:srgbClr val="000000"/>
                    </a:solidFill>
                    <a:latin typeface="+mj-lt"/>
                  </a:rPr>
                  <a:t>u</a:t>
                </a:r>
              </a:p>
              <a:p>
                <a:pPr algn="ctr">
                  <a:lnSpc>
                    <a:spcPct val="70000"/>
                  </a:lnSpc>
                </a:pPr>
                <a:r>
                  <a:rPr lang="en-US" sz="700">
                    <a:solidFill>
                      <a:srgbClr val="000000"/>
                    </a:solidFill>
                    <a:latin typeface="+mj-lt"/>
                  </a:rPr>
                  <a:t>x</a:t>
                </a:r>
                <a:endParaRPr lang="en-US" sz="400">
                  <a:solidFill>
                    <a:srgbClr val="000000"/>
                  </a:solidFill>
                  <a:latin typeface="+mj-lt"/>
                </a:endParaRPr>
              </a:p>
            </p:txBody>
          </p:sp>
          <p:sp>
            <p:nvSpPr>
              <p:cNvPr id="54442" name="AutoShape 173"/>
              <p:cNvSpPr>
                <a:spLocks noChangeArrowheads="1"/>
              </p:cNvSpPr>
              <p:nvPr/>
            </p:nvSpPr>
            <p:spPr bwMode="auto">
              <a:xfrm rot="5400000">
                <a:off x="2665" y="3263"/>
                <a:ext cx="297" cy="96"/>
              </a:xfrm>
              <a:prstGeom prst="flowChartTerminator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>
                  <a:latin typeface="+mj-lt"/>
                </a:endParaRPr>
              </a:p>
            </p:txBody>
          </p:sp>
        </p:grpSp>
        <p:sp>
          <p:nvSpPr>
            <p:cNvPr id="54431" name="Rectangle 174"/>
            <p:cNvSpPr>
              <a:spLocks noChangeArrowheads="1"/>
            </p:cNvSpPr>
            <p:nvPr/>
          </p:nvSpPr>
          <p:spPr bwMode="auto">
            <a:xfrm>
              <a:off x="882" y="2648"/>
              <a:ext cx="282" cy="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900" dirty="0">
                  <a:solidFill>
                    <a:srgbClr val="000000"/>
                  </a:solidFill>
                  <a:latin typeface="+mj-lt"/>
                </a:rPr>
                <a:t>Instruction</a:t>
              </a:r>
              <a:endParaRPr lang="en-US" sz="500" dirty="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432" name="Line 175"/>
            <p:cNvSpPr>
              <a:spLocks noChangeShapeType="1"/>
            </p:cNvSpPr>
            <p:nvPr/>
          </p:nvSpPr>
          <p:spPr bwMode="auto">
            <a:xfrm flipV="1">
              <a:off x="1638" y="2431"/>
              <a:ext cx="0" cy="121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33" name="Line 176"/>
            <p:cNvSpPr>
              <a:spLocks noChangeShapeType="1"/>
            </p:cNvSpPr>
            <p:nvPr/>
          </p:nvSpPr>
          <p:spPr bwMode="auto">
            <a:xfrm flipV="1">
              <a:off x="1639" y="3643"/>
              <a:ext cx="794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34" name="Line 177"/>
            <p:cNvSpPr>
              <a:spLocks noChangeShapeType="1"/>
            </p:cNvSpPr>
            <p:nvPr/>
          </p:nvSpPr>
          <p:spPr bwMode="auto">
            <a:xfrm flipH="1">
              <a:off x="777" y="1594"/>
              <a:ext cx="30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35" name="Line 178"/>
            <p:cNvSpPr>
              <a:spLocks noChangeShapeType="1"/>
            </p:cNvSpPr>
            <p:nvPr/>
          </p:nvSpPr>
          <p:spPr bwMode="auto">
            <a:xfrm flipV="1">
              <a:off x="3969" y="2359"/>
              <a:ext cx="65" cy="2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36" name="Line 179"/>
            <p:cNvSpPr>
              <a:spLocks noChangeShapeType="1"/>
            </p:cNvSpPr>
            <p:nvPr/>
          </p:nvSpPr>
          <p:spPr bwMode="auto">
            <a:xfrm rot="-5400000" flipH="1" flipV="1">
              <a:off x="3566" y="1901"/>
              <a:ext cx="926" cy="1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37" name="Line 180"/>
            <p:cNvSpPr>
              <a:spLocks noChangeShapeType="1"/>
            </p:cNvSpPr>
            <p:nvPr/>
          </p:nvSpPr>
          <p:spPr bwMode="auto">
            <a:xfrm>
              <a:off x="720" y="1438"/>
              <a:ext cx="3312" cy="0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38" name="Line 181"/>
            <p:cNvSpPr>
              <a:spLocks noChangeShapeType="1"/>
            </p:cNvSpPr>
            <p:nvPr/>
          </p:nvSpPr>
          <p:spPr bwMode="auto">
            <a:xfrm rot="-5400000" flipH="1" flipV="1">
              <a:off x="670" y="1491"/>
              <a:ext cx="107" cy="1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20" name="Rectangle 36"/>
            <p:cNvSpPr>
              <a:spLocks noChangeArrowheads="1"/>
            </p:cNvSpPr>
            <p:nvPr/>
          </p:nvSpPr>
          <p:spPr bwMode="auto">
            <a:xfrm>
              <a:off x="2658" y="2526"/>
              <a:ext cx="215" cy="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50" dirty="0" err="1">
                  <a:solidFill>
                    <a:srgbClr val="EB7500"/>
                  </a:solidFill>
                  <a:latin typeface="+mj-lt"/>
                </a:rPr>
                <a:t>ALUSrc</a:t>
              </a:r>
              <a:endParaRPr lang="en-US" sz="700" dirty="0">
                <a:solidFill>
                  <a:srgbClr val="EB7500"/>
                </a:solidFill>
                <a:latin typeface="+mj-lt"/>
              </a:endParaRPr>
            </a:p>
          </p:txBody>
        </p:sp>
        <p:sp>
          <p:nvSpPr>
            <p:cNvPr id="54348" name="Rectangle 64"/>
            <p:cNvSpPr>
              <a:spLocks noChangeArrowheads="1"/>
            </p:cNvSpPr>
            <p:nvPr/>
          </p:nvSpPr>
          <p:spPr bwMode="auto">
            <a:xfrm>
              <a:off x="3034" y="3421"/>
              <a:ext cx="217" cy="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50" dirty="0" err="1">
                  <a:solidFill>
                    <a:srgbClr val="EB7500"/>
                  </a:solidFill>
                  <a:latin typeface="+mj-lt"/>
                </a:rPr>
                <a:t>ALUOp</a:t>
              </a:r>
              <a:endParaRPr lang="en-US" sz="1050" dirty="0">
                <a:solidFill>
                  <a:srgbClr val="EB7500"/>
                </a:solidFill>
                <a:latin typeface="+mj-lt"/>
              </a:endParaRPr>
            </a:p>
          </p:txBody>
        </p:sp>
        <p:sp>
          <p:nvSpPr>
            <p:cNvPr id="54349" name="Rectangle 65"/>
            <p:cNvSpPr>
              <a:spLocks noChangeArrowheads="1"/>
            </p:cNvSpPr>
            <p:nvPr/>
          </p:nvSpPr>
          <p:spPr bwMode="auto">
            <a:xfrm>
              <a:off x="2841" y="3700"/>
              <a:ext cx="214" cy="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50">
                  <a:solidFill>
                    <a:srgbClr val="EB7500"/>
                  </a:solidFill>
                  <a:latin typeface="+mj-lt"/>
                </a:rPr>
                <a:t>RegDst</a:t>
              </a:r>
            </a:p>
          </p:txBody>
        </p:sp>
        <p:sp>
          <p:nvSpPr>
            <p:cNvPr id="54352" name="Rectangle 68"/>
            <p:cNvSpPr>
              <a:spLocks noChangeArrowheads="1"/>
            </p:cNvSpPr>
            <p:nvPr/>
          </p:nvSpPr>
          <p:spPr bwMode="auto">
            <a:xfrm>
              <a:off x="1913" y="2186"/>
              <a:ext cx="294" cy="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50" dirty="0" err="1">
                  <a:solidFill>
                    <a:srgbClr val="EB7500"/>
                  </a:solidFill>
                  <a:latin typeface="+mj-lt"/>
                </a:rPr>
                <a:t>RegWrite</a:t>
              </a:r>
              <a:endParaRPr lang="en-US" sz="1050" dirty="0">
                <a:solidFill>
                  <a:srgbClr val="EB7500"/>
                </a:solidFill>
                <a:latin typeface="+mj-lt"/>
              </a:endParaRPr>
            </a:p>
          </p:txBody>
        </p:sp>
        <p:sp>
          <p:nvSpPr>
            <p:cNvPr id="54388" name="Rectangle 112"/>
            <p:cNvSpPr>
              <a:spLocks noChangeArrowheads="1"/>
            </p:cNvSpPr>
            <p:nvPr/>
          </p:nvSpPr>
          <p:spPr bwMode="auto">
            <a:xfrm>
              <a:off x="3734" y="2172"/>
              <a:ext cx="220" cy="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50">
                  <a:solidFill>
                    <a:srgbClr val="EB7500"/>
                  </a:solidFill>
                  <a:latin typeface="+mj-lt"/>
                </a:rPr>
                <a:t>Branch</a:t>
              </a:r>
            </a:p>
          </p:txBody>
        </p:sp>
        <p:sp>
          <p:nvSpPr>
            <p:cNvPr id="54389" name="Rectangle 113"/>
            <p:cNvSpPr>
              <a:spLocks noChangeArrowheads="1"/>
            </p:cNvSpPr>
            <p:nvPr/>
          </p:nvSpPr>
          <p:spPr bwMode="auto">
            <a:xfrm>
              <a:off x="4056" y="1582"/>
              <a:ext cx="170" cy="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50">
                  <a:solidFill>
                    <a:srgbClr val="EB7500"/>
                  </a:solidFill>
                  <a:latin typeface="+mj-lt"/>
                </a:rPr>
                <a:t>PCSrc</a:t>
              </a:r>
            </a:p>
          </p:txBody>
        </p:sp>
        <p:sp>
          <p:nvSpPr>
            <p:cNvPr id="54399" name="Rectangle 123"/>
            <p:cNvSpPr>
              <a:spLocks noChangeArrowheads="1"/>
            </p:cNvSpPr>
            <p:nvPr/>
          </p:nvSpPr>
          <p:spPr bwMode="auto">
            <a:xfrm>
              <a:off x="4827" y="2541"/>
              <a:ext cx="341" cy="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50" dirty="0" err="1">
                  <a:solidFill>
                    <a:srgbClr val="EB7500"/>
                  </a:solidFill>
                  <a:latin typeface="+mj-lt"/>
                </a:rPr>
                <a:t>MemtoReg</a:t>
              </a:r>
              <a:endParaRPr lang="en-US" sz="1050" dirty="0">
                <a:solidFill>
                  <a:srgbClr val="EB7500"/>
                </a:solidFill>
                <a:latin typeface="+mj-lt"/>
              </a:endParaRPr>
            </a:p>
          </p:txBody>
        </p:sp>
      </p:grpSp>
      <p:sp>
        <p:nvSpPr>
          <p:cNvPr id="3" name="Rectangle 2"/>
          <p:cNvSpPr/>
          <p:nvPr/>
        </p:nvSpPr>
        <p:spPr>
          <a:xfrm>
            <a:off x="2902559" y="762000"/>
            <a:ext cx="219002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  <a:latin typeface="+mj-lt"/>
              </a:rPr>
              <a:t>R1 </a:t>
            </a:r>
            <a:r>
              <a:rPr lang="en-US" sz="2000" dirty="0">
                <a:solidFill>
                  <a:srgbClr val="0070C0"/>
                </a:solidFill>
                <a:latin typeface="+mj-lt"/>
                <a:sym typeface="Symbol" pitchFamily="18" charset="2"/>
              </a:rPr>
              <a:t> </a:t>
            </a:r>
            <a:r>
              <a:rPr lang="en-US" sz="2000" dirty="0" err="1">
                <a:solidFill>
                  <a:srgbClr val="0070C0"/>
                </a:solidFill>
                <a:latin typeface="+mj-lt"/>
                <a:sym typeface="Symbol" pitchFamily="18" charset="2"/>
              </a:rPr>
              <a:t>Mem</a:t>
            </a:r>
            <a:r>
              <a:rPr lang="en-US" sz="2000" dirty="0">
                <a:solidFill>
                  <a:srgbClr val="0070C0"/>
                </a:solidFill>
                <a:latin typeface="+mj-lt"/>
                <a:sym typeface="Symbol" pitchFamily="18" charset="2"/>
              </a:rPr>
              <a:t>[R2+30]</a:t>
            </a:r>
            <a:endParaRPr lang="en-US" sz="2000" dirty="0">
              <a:solidFill>
                <a:srgbClr val="0070C0"/>
              </a:solidFill>
              <a:latin typeface="+mj-lt"/>
            </a:endParaRPr>
          </a:p>
        </p:txBody>
      </p:sp>
      <p:sp>
        <p:nvSpPr>
          <p:cNvPr id="197" name="Rectangle 287"/>
          <p:cNvSpPr>
            <a:spLocks noChangeArrowheads="1"/>
          </p:cNvSpPr>
          <p:nvPr/>
        </p:nvSpPr>
        <p:spPr bwMode="auto">
          <a:xfrm>
            <a:off x="6776553" y="697468"/>
            <a:ext cx="345607" cy="369332"/>
          </a:xfrm>
          <a:prstGeom prst="rect">
            <a:avLst/>
          </a:prstGeom>
          <a:solidFill>
            <a:schemeClr val="bg1">
              <a:alpha val="85000"/>
            </a:schemeClr>
          </a:solidFill>
          <a:ln w="12700">
            <a:noFill/>
            <a:miter lim="800000"/>
            <a:headEnd type="none" w="sm" len="sm"/>
            <a:tailEnd type="none" w="lg" len="med"/>
          </a:ln>
        </p:spPr>
        <p:txBody>
          <a:bodyPr wrap="none" lIns="45720" tIns="45720" rIns="45720" bIns="4572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  <a:latin typeface="+mj-lt"/>
              </a:rPr>
              <a:t>PC</a:t>
            </a:r>
            <a:endParaRPr lang="en-US" dirty="0">
              <a:solidFill>
                <a:srgbClr val="FF0000"/>
              </a:solidFill>
              <a:latin typeface="+mj-lt"/>
            </a:endParaRPr>
          </a:p>
        </p:txBody>
      </p:sp>
      <p:cxnSp>
        <p:nvCxnSpPr>
          <p:cNvPr id="7" name="Straight Arrow Connector 6"/>
          <p:cNvCxnSpPr>
            <a:stCxn id="197" idx="2"/>
          </p:cNvCxnSpPr>
          <p:nvPr/>
        </p:nvCxnSpPr>
        <p:spPr bwMode="auto">
          <a:xfrm>
            <a:off x="6949357" y="1066800"/>
            <a:ext cx="5497" cy="228600"/>
          </a:xfrm>
          <a:prstGeom prst="straightConnector1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arrow"/>
          </a:ln>
          <a:effectLst/>
        </p:spPr>
      </p:cxnSp>
      <p:sp>
        <p:nvSpPr>
          <p:cNvPr id="201" name="Rectangle 266"/>
          <p:cNvSpPr>
            <a:spLocks noChangeArrowheads="1"/>
          </p:cNvSpPr>
          <p:nvPr/>
        </p:nvSpPr>
        <p:spPr bwMode="auto">
          <a:xfrm>
            <a:off x="5638800" y="4107650"/>
            <a:ext cx="824906" cy="369332"/>
          </a:xfrm>
          <a:prstGeom prst="rect">
            <a:avLst/>
          </a:prstGeom>
          <a:solidFill>
            <a:schemeClr val="bg1">
              <a:alpha val="85000"/>
            </a:schemeClr>
          </a:solidFill>
          <a:ln w="12700">
            <a:noFill/>
            <a:miter lim="800000"/>
            <a:headEnd type="none" w="sm" len="sm"/>
            <a:tailEnd type="none" w="lg" len="med"/>
          </a:ln>
        </p:spPr>
        <p:txBody>
          <a:bodyPr wrap="none" lIns="45720" tIns="45720" rIns="45720" bIns="4572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  <a:latin typeface="+mj-lt"/>
              </a:rPr>
              <a:t>[R2]+30</a:t>
            </a:r>
            <a:endParaRPr lang="en-US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202" name="Rectangle 266"/>
          <p:cNvSpPr>
            <a:spLocks noChangeArrowheads="1"/>
          </p:cNvSpPr>
          <p:nvPr/>
        </p:nvSpPr>
        <p:spPr bwMode="auto">
          <a:xfrm>
            <a:off x="5946654" y="5495344"/>
            <a:ext cx="209353" cy="369332"/>
          </a:xfrm>
          <a:prstGeom prst="rect">
            <a:avLst/>
          </a:prstGeom>
          <a:solidFill>
            <a:schemeClr val="bg1">
              <a:alpha val="85000"/>
            </a:schemeClr>
          </a:solidFill>
          <a:ln w="12700">
            <a:noFill/>
            <a:miter lim="800000"/>
            <a:headEnd type="none" w="sm" len="sm"/>
            <a:tailEnd type="none" w="lg" len="med"/>
          </a:ln>
        </p:spPr>
        <p:txBody>
          <a:bodyPr wrap="none" lIns="45720" tIns="45720" rIns="45720" bIns="4572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+mj-lt"/>
              </a:rPr>
              <a:t>1</a:t>
            </a:r>
          </a:p>
        </p:txBody>
      </p:sp>
      <p:sp>
        <p:nvSpPr>
          <p:cNvPr id="204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76200"/>
            <a:ext cx="7772400" cy="762000"/>
          </a:xfrm>
        </p:spPr>
        <p:txBody>
          <a:bodyPr/>
          <a:lstStyle/>
          <a:p>
            <a:pPr algn="l"/>
            <a:r>
              <a:rPr lang="en-US" sz="3200" dirty="0" smtClean="0">
                <a:solidFill>
                  <a:srgbClr val="0070C0"/>
                </a:solidFill>
              </a:rPr>
              <a:t>Pipelined execution: Load (cycle 3 – EXE)</a:t>
            </a:r>
          </a:p>
        </p:txBody>
      </p:sp>
    </p:spTree>
    <p:extLst>
      <p:ext uri="{BB962C8B-B14F-4D97-AF65-F5344CB8AC3E}">
        <p14:creationId xmlns:p14="http://schemas.microsoft.com/office/powerpoint/2010/main" val="405864867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  <p:extLst mod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762000" y="1166813"/>
            <a:ext cx="6240064" cy="661987"/>
            <a:chOff x="762000" y="1166813"/>
            <a:chExt cx="6240064" cy="661987"/>
          </a:xfrm>
        </p:grpSpPr>
        <p:sp>
          <p:nvSpPr>
            <p:cNvPr id="54277" name="Rectangle 268"/>
            <p:cNvSpPr>
              <a:spLocks noChangeArrowheads="1"/>
            </p:cNvSpPr>
            <p:nvPr/>
          </p:nvSpPr>
          <p:spPr bwMode="auto">
            <a:xfrm>
              <a:off x="865188" y="1543050"/>
              <a:ext cx="6070600" cy="2794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278" name="Rectangle 269"/>
            <p:cNvSpPr>
              <a:spLocks noChangeArrowheads="1"/>
            </p:cNvSpPr>
            <p:nvPr/>
          </p:nvSpPr>
          <p:spPr bwMode="auto">
            <a:xfrm>
              <a:off x="858838" y="1536700"/>
              <a:ext cx="1054100" cy="2921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279" name="Rectangle 270"/>
            <p:cNvSpPr>
              <a:spLocks noChangeArrowheads="1"/>
            </p:cNvSpPr>
            <p:nvPr/>
          </p:nvSpPr>
          <p:spPr bwMode="auto">
            <a:xfrm>
              <a:off x="1171575" y="1166813"/>
              <a:ext cx="429606" cy="36676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800" b="1" dirty="0">
                  <a:latin typeface="+mj-lt"/>
                </a:rPr>
                <a:t>op</a:t>
              </a:r>
              <a:endParaRPr lang="en-US" sz="1600" b="1" dirty="0">
                <a:latin typeface="+mj-lt"/>
              </a:endParaRPr>
            </a:p>
          </p:txBody>
        </p:sp>
        <p:sp>
          <p:nvSpPr>
            <p:cNvPr id="54280" name="Rectangle 271"/>
            <p:cNvSpPr>
              <a:spLocks noChangeArrowheads="1"/>
            </p:cNvSpPr>
            <p:nvPr/>
          </p:nvSpPr>
          <p:spPr bwMode="auto">
            <a:xfrm>
              <a:off x="1925638" y="1536700"/>
              <a:ext cx="977900" cy="2921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281" name="Rectangle 272"/>
            <p:cNvSpPr>
              <a:spLocks noChangeArrowheads="1"/>
            </p:cNvSpPr>
            <p:nvPr/>
          </p:nvSpPr>
          <p:spPr bwMode="auto">
            <a:xfrm>
              <a:off x="2209800" y="1166813"/>
              <a:ext cx="353046" cy="36676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800" b="1" dirty="0" err="1">
                  <a:latin typeface="+mj-lt"/>
                </a:rPr>
                <a:t>rs</a:t>
              </a:r>
              <a:endParaRPr lang="en-US" sz="1600" b="1" dirty="0">
                <a:latin typeface="+mj-lt"/>
              </a:endParaRPr>
            </a:p>
          </p:txBody>
        </p:sp>
        <p:sp>
          <p:nvSpPr>
            <p:cNvPr id="54282" name="Rectangle 273"/>
            <p:cNvSpPr>
              <a:spLocks noChangeArrowheads="1"/>
            </p:cNvSpPr>
            <p:nvPr/>
          </p:nvSpPr>
          <p:spPr bwMode="auto">
            <a:xfrm>
              <a:off x="2916238" y="1536700"/>
              <a:ext cx="977900" cy="2921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283" name="Rectangle 274"/>
            <p:cNvSpPr>
              <a:spLocks noChangeArrowheads="1"/>
            </p:cNvSpPr>
            <p:nvPr/>
          </p:nvSpPr>
          <p:spPr bwMode="auto">
            <a:xfrm>
              <a:off x="3200400" y="1166813"/>
              <a:ext cx="352662" cy="36676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800" b="1" dirty="0" err="1">
                  <a:latin typeface="+mj-lt"/>
                </a:rPr>
                <a:t>rt</a:t>
              </a:r>
              <a:endParaRPr lang="en-US" sz="1600" b="1" dirty="0">
                <a:latin typeface="+mj-lt"/>
              </a:endParaRPr>
            </a:p>
          </p:txBody>
        </p:sp>
        <p:sp>
          <p:nvSpPr>
            <p:cNvPr id="54284" name="Rectangle 275"/>
            <p:cNvSpPr>
              <a:spLocks noChangeArrowheads="1"/>
            </p:cNvSpPr>
            <p:nvPr/>
          </p:nvSpPr>
          <p:spPr bwMode="auto">
            <a:xfrm>
              <a:off x="3906838" y="1536700"/>
              <a:ext cx="3027362" cy="2921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285" name="Rectangle 276"/>
            <p:cNvSpPr>
              <a:spLocks noChangeArrowheads="1"/>
            </p:cNvSpPr>
            <p:nvPr/>
          </p:nvSpPr>
          <p:spPr bwMode="auto">
            <a:xfrm>
              <a:off x="4800600" y="1166813"/>
              <a:ext cx="1213346" cy="36676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800" b="1">
                  <a:latin typeface="+mj-lt"/>
                </a:rPr>
                <a:t>immediate</a:t>
              </a:r>
              <a:endParaRPr lang="en-US" sz="1600" b="1">
                <a:latin typeface="+mj-lt"/>
              </a:endParaRPr>
            </a:p>
          </p:txBody>
        </p:sp>
        <p:sp>
          <p:nvSpPr>
            <p:cNvPr id="54286" name="Rectangle 277"/>
            <p:cNvSpPr>
              <a:spLocks noChangeArrowheads="1"/>
            </p:cNvSpPr>
            <p:nvPr/>
          </p:nvSpPr>
          <p:spPr bwMode="auto">
            <a:xfrm>
              <a:off x="6715125" y="1225550"/>
              <a:ext cx="286939" cy="33598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600" dirty="0">
                  <a:latin typeface="+mj-lt"/>
                </a:rPr>
                <a:t>0</a:t>
              </a:r>
            </a:p>
          </p:txBody>
        </p:sp>
        <p:sp>
          <p:nvSpPr>
            <p:cNvPr id="54287" name="Rectangle 278"/>
            <p:cNvSpPr>
              <a:spLocks noChangeArrowheads="1"/>
            </p:cNvSpPr>
            <p:nvPr/>
          </p:nvSpPr>
          <p:spPr bwMode="auto">
            <a:xfrm>
              <a:off x="3581400" y="1225550"/>
              <a:ext cx="391134" cy="33598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600">
                  <a:latin typeface="+mj-lt"/>
                </a:rPr>
                <a:t>16</a:t>
              </a:r>
            </a:p>
          </p:txBody>
        </p:sp>
        <p:sp>
          <p:nvSpPr>
            <p:cNvPr id="54288" name="Rectangle 279"/>
            <p:cNvSpPr>
              <a:spLocks noChangeArrowheads="1"/>
            </p:cNvSpPr>
            <p:nvPr/>
          </p:nvSpPr>
          <p:spPr bwMode="auto">
            <a:xfrm>
              <a:off x="2590800" y="1225550"/>
              <a:ext cx="391134" cy="33598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600">
                  <a:latin typeface="+mj-lt"/>
                </a:rPr>
                <a:t>21</a:t>
              </a:r>
            </a:p>
          </p:txBody>
        </p:sp>
        <p:sp>
          <p:nvSpPr>
            <p:cNvPr id="54289" name="Rectangle 280"/>
            <p:cNvSpPr>
              <a:spLocks noChangeArrowheads="1"/>
            </p:cNvSpPr>
            <p:nvPr/>
          </p:nvSpPr>
          <p:spPr bwMode="auto">
            <a:xfrm>
              <a:off x="1600200" y="1225550"/>
              <a:ext cx="391134" cy="33598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600" dirty="0">
                  <a:latin typeface="+mj-lt"/>
                </a:rPr>
                <a:t>26</a:t>
              </a:r>
            </a:p>
          </p:txBody>
        </p:sp>
        <p:sp>
          <p:nvSpPr>
            <p:cNvPr id="54290" name="Rectangle 281"/>
            <p:cNvSpPr>
              <a:spLocks noChangeArrowheads="1"/>
            </p:cNvSpPr>
            <p:nvPr/>
          </p:nvSpPr>
          <p:spPr bwMode="auto">
            <a:xfrm>
              <a:off x="762000" y="1225550"/>
              <a:ext cx="391134" cy="33598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600" dirty="0">
                  <a:latin typeface="+mj-lt"/>
                </a:rPr>
                <a:t>31</a:t>
              </a:r>
            </a:p>
          </p:txBody>
        </p:sp>
        <p:sp>
          <p:nvSpPr>
            <p:cNvPr id="54291" name="Rectangle 282"/>
            <p:cNvSpPr>
              <a:spLocks noChangeArrowheads="1"/>
            </p:cNvSpPr>
            <p:nvPr/>
          </p:nvSpPr>
          <p:spPr bwMode="auto">
            <a:xfrm>
              <a:off x="2376488" y="1558925"/>
              <a:ext cx="104196" cy="246221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lg" len="med"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dirty="0">
                  <a:solidFill>
                    <a:srgbClr val="0070C0"/>
                  </a:solidFill>
                  <a:latin typeface="+mj-lt"/>
                </a:rPr>
                <a:t>2</a:t>
              </a:r>
              <a:endParaRPr lang="en-US" sz="1000" dirty="0">
                <a:solidFill>
                  <a:srgbClr val="0070C0"/>
                </a:solidFill>
                <a:latin typeface="+mj-lt"/>
              </a:endParaRPr>
            </a:p>
          </p:txBody>
        </p:sp>
        <p:sp>
          <p:nvSpPr>
            <p:cNvPr id="54292" name="Rectangle 283"/>
            <p:cNvSpPr>
              <a:spLocks noChangeArrowheads="1"/>
            </p:cNvSpPr>
            <p:nvPr/>
          </p:nvSpPr>
          <p:spPr bwMode="auto">
            <a:xfrm>
              <a:off x="3367088" y="1558925"/>
              <a:ext cx="104196" cy="246221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lg" len="med"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dirty="0">
                  <a:solidFill>
                    <a:srgbClr val="0070C0"/>
                  </a:solidFill>
                  <a:latin typeface="+mj-lt"/>
                </a:rPr>
                <a:t>1</a:t>
              </a:r>
              <a:endParaRPr lang="en-US" sz="1000" dirty="0">
                <a:solidFill>
                  <a:srgbClr val="0070C0"/>
                </a:solidFill>
                <a:latin typeface="+mj-lt"/>
              </a:endParaRPr>
            </a:p>
          </p:txBody>
        </p:sp>
        <p:sp>
          <p:nvSpPr>
            <p:cNvPr id="54293" name="Rectangle 284"/>
            <p:cNvSpPr>
              <a:spLocks noChangeArrowheads="1"/>
            </p:cNvSpPr>
            <p:nvPr/>
          </p:nvSpPr>
          <p:spPr bwMode="auto">
            <a:xfrm>
              <a:off x="5410200" y="1558925"/>
              <a:ext cx="208390" cy="246221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lg" len="med"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dirty="0">
                  <a:solidFill>
                    <a:srgbClr val="0070C0"/>
                  </a:solidFill>
                  <a:latin typeface="+mj-lt"/>
                </a:rPr>
                <a:t>30</a:t>
              </a:r>
              <a:endParaRPr lang="en-US" sz="1000" dirty="0">
                <a:solidFill>
                  <a:srgbClr val="0070C0"/>
                </a:solidFill>
                <a:latin typeface="+mj-lt"/>
              </a:endParaRPr>
            </a:p>
          </p:txBody>
        </p:sp>
        <p:sp>
          <p:nvSpPr>
            <p:cNvPr id="54294" name="Rectangle 285"/>
            <p:cNvSpPr>
              <a:spLocks noChangeArrowheads="1"/>
            </p:cNvSpPr>
            <p:nvPr/>
          </p:nvSpPr>
          <p:spPr bwMode="auto">
            <a:xfrm>
              <a:off x="1208088" y="1558925"/>
              <a:ext cx="263214" cy="246221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lg" len="med"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dirty="0">
                  <a:solidFill>
                    <a:srgbClr val="0070C0"/>
                  </a:solidFill>
                  <a:latin typeface="+mj-lt"/>
                </a:rPr>
                <a:t>LW</a:t>
              </a:r>
              <a:endParaRPr lang="en-US" sz="1000" dirty="0">
                <a:solidFill>
                  <a:srgbClr val="0070C0"/>
                </a:solidFill>
                <a:latin typeface="+mj-lt"/>
              </a:endParaRPr>
            </a:p>
          </p:txBody>
        </p:sp>
      </p:grpSp>
      <p:sp>
        <p:nvSpPr>
          <p:cNvPr id="54295" name="Rectangle 286"/>
          <p:cNvSpPr>
            <a:spLocks noChangeArrowheads="1"/>
          </p:cNvSpPr>
          <p:nvPr/>
        </p:nvSpPr>
        <p:spPr bwMode="auto">
          <a:xfrm>
            <a:off x="838200" y="762000"/>
            <a:ext cx="2112758" cy="40011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lg" len="med"/>
          </a:ln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  <a:latin typeface="+mj-lt"/>
              </a:rPr>
              <a:t>LW  R1, (</a:t>
            </a:r>
            <a:r>
              <a:rPr lang="en-US" sz="2000" dirty="0" smtClean="0">
                <a:solidFill>
                  <a:srgbClr val="0070C0"/>
                </a:solidFill>
                <a:latin typeface="+mj-lt"/>
              </a:rPr>
              <a:t>30)R2 ;     </a:t>
            </a:r>
            <a:endParaRPr lang="en-US" sz="2000" dirty="0">
              <a:solidFill>
                <a:srgbClr val="0070C0"/>
              </a:solidFill>
              <a:latin typeface="+mj-lt"/>
            </a:endParaRPr>
          </a:p>
        </p:txBody>
      </p:sp>
      <p:grpSp>
        <p:nvGrpSpPr>
          <p:cNvPr id="54275" name="Group 313"/>
          <p:cNvGrpSpPr>
            <a:grpSpLocks/>
          </p:cNvGrpSpPr>
          <p:nvPr/>
        </p:nvGrpSpPr>
        <p:grpSpPr bwMode="auto">
          <a:xfrm>
            <a:off x="152400" y="2057400"/>
            <a:ext cx="8690415" cy="4191001"/>
            <a:chOff x="360" y="1438"/>
            <a:chExt cx="4808" cy="2450"/>
          </a:xfrm>
        </p:grpSpPr>
        <p:sp>
          <p:nvSpPr>
            <p:cNvPr id="54297" name="Rectangle 137"/>
            <p:cNvSpPr>
              <a:spLocks noChangeArrowheads="1"/>
            </p:cNvSpPr>
            <p:nvPr/>
          </p:nvSpPr>
          <p:spPr bwMode="auto">
            <a:xfrm>
              <a:off x="720" y="2440"/>
              <a:ext cx="567" cy="582"/>
            </a:xfrm>
            <a:prstGeom prst="rect">
              <a:avLst/>
            </a:prstGeom>
            <a:solidFill>
              <a:srgbClr val="FFFFCC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298" name="Line 14"/>
            <p:cNvSpPr>
              <a:spLocks noChangeShapeType="1"/>
            </p:cNvSpPr>
            <p:nvPr/>
          </p:nvSpPr>
          <p:spPr bwMode="auto">
            <a:xfrm>
              <a:off x="588" y="2513"/>
              <a:ext cx="136" cy="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299" name="Line 15"/>
            <p:cNvSpPr>
              <a:spLocks noChangeShapeType="1"/>
            </p:cNvSpPr>
            <p:nvPr/>
          </p:nvSpPr>
          <p:spPr bwMode="auto">
            <a:xfrm flipH="1" flipV="1">
              <a:off x="1989" y="3197"/>
              <a:ext cx="34" cy="5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00" name="Rectangle 16"/>
            <p:cNvSpPr>
              <a:spLocks noChangeArrowheads="1"/>
            </p:cNvSpPr>
            <p:nvPr/>
          </p:nvSpPr>
          <p:spPr bwMode="auto">
            <a:xfrm>
              <a:off x="1915" y="3275"/>
              <a:ext cx="103" cy="1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algn="ctr"/>
              <a:endParaRPr lang="en-US" sz="600">
                <a:solidFill>
                  <a:srgbClr val="000000"/>
                </a:solidFill>
                <a:latin typeface="+mj-lt"/>
              </a:endParaRPr>
            </a:p>
            <a:p>
              <a:pPr algn="ctr"/>
              <a:endParaRPr lang="en-US" sz="6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301" name="Line 17"/>
            <p:cNvSpPr>
              <a:spLocks noChangeShapeType="1"/>
            </p:cNvSpPr>
            <p:nvPr/>
          </p:nvSpPr>
          <p:spPr bwMode="auto">
            <a:xfrm flipH="1" flipV="1">
              <a:off x="2338" y="3197"/>
              <a:ext cx="32" cy="5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02" name="Freeform 18"/>
            <p:cNvSpPr>
              <a:spLocks/>
            </p:cNvSpPr>
            <p:nvPr/>
          </p:nvSpPr>
          <p:spPr bwMode="auto">
            <a:xfrm>
              <a:off x="1810" y="2350"/>
              <a:ext cx="519" cy="612"/>
            </a:xfrm>
            <a:custGeom>
              <a:avLst/>
              <a:gdLst>
                <a:gd name="T0" fmla="*/ 518 w 519"/>
                <a:gd name="T1" fmla="*/ 611 h 541"/>
                <a:gd name="T2" fmla="*/ 518 w 519"/>
                <a:gd name="T3" fmla="*/ 0 h 541"/>
                <a:gd name="T4" fmla="*/ 0 w 519"/>
                <a:gd name="T5" fmla="*/ 0 h 541"/>
                <a:gd name="T6" fmla="*/ 0 w 519"/>
                <a:gd name="T7" fmla="*/ 611 h 541"/>
                <a:gd name="T8" fmla="*/ 518 w 519"/>
                <a:gd name="T9" fmla="*/ 611 h 541"/>
                <a:gd name="T10" fmla="*/ 518 w 519"/>
                <a:gd name="T11" fmla="*/ 611 h 5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19"/>
                <a:gd name="T19" fmla="*/ 0 h 541"/>
                <a:gd name="T20" fmla="*/ 519 w 519"/>
                <a:gd name="T21" fmla="*/ 541 h 54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19" h="541">
                  <a:moveTo>
                    <a:pt x="518" y="540"/>
                  </a:moveTo>
                  <a:lnTo>
                    <a:pt x="518" y="0"/>
                  </a:lnTo>
                  <a:lnTo>
                    <a:pt x="0" y="0"/>
                  </a:lnTo>
                  <a:lnTo>
                    <a:pt x="0" y="540"/>
                  </a:lnTo>
                  <a:lnTo>
                    <a:pt x="518" y="540"/>
                  </a:lnTo>
                </a:path>
              </a:pathLst>
            </a:custGeom>
            <a:solidFill>
              <a:srgbClr val="CCFFFF"/>
            </a:solidFill>
            <a:ln w="190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03" name="Rectangle 19"/>
            <p:cNvSpPr>
              <a:spLocks noChangeArrowheads="1"/>
            </p:cNvSpPr>
            <p:nvPr/>
          </p:nvSpPr>
          <p:spPr bwMode="auto">
            <a:xfrm>
              <a:off x="1885" y="2392"/>
              <a:ext cx="103" cy="1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algn="ctr"/>
              <a:endParaRPr lang="en-US" sz="600">
                <a:solidFill>
                  <a:srgbClr val="000000"/>
                </a:solidFill>
                <a:latin typeface="+mj-lt"/>
              </a:endParaRPr>
            </a:p>
            <a:p>
              <a:pPr algn="ctr"/>
              <a:endParaRPr lang="en-US" sz="6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304" name="Line 20"/>
            <p:cNvSpPr>
              <a:spLocks noChangeShapeType="1"/>
            </p:cNvSpPr>
            <p:nvPr/>
          </p:nvSpPr>
          <p:spPr bwMode="auto">
            <a:xfrm>
              <a:off x="1657" y="3225"/>
              <a:ext cx="434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05" name="Line 21"/>
            <p:cNvSpPr>
              <a:spLocks noChangeShapeType="1"/>
            </p:cNvSpPr>
            <p:nvPr/>
          </p:nvSpPr>
          <p:spPr bwMode="auto">
            <a:xfrm flipV="1">
              <a:off x="2302" y="3225"/>
              <a:ext cx="131" cy="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06" name="Freeform 22"/>
            <p:cNvSpPr>
              <a:spLocks/>
            </p:cNvSpPr>
            <p:nvPr/>
          </p:nvSpPr>
          <p:spPr bwMode="auto">
            <a:xfrm>
              <a:off x="1629" y="2679"/>
              <a:ext cx="24" cy="24"/>
            </a:xfrm>
            <a:custGeom>
              <a:avLst/>
              <a:gdLst>
                <a:gd name="T0" fmla="*/ 10 w 24"/>
                <a:gd name="T1" fmla="*/ 23 h 24"/>
                <a:gd name="T2" fmla="*/ 14 w 24"/>
                <a:gd name="T3" fmla="*/ 23 h 24"/>
                <a:gd name="T4" fmla="*/ 16 w 24"/>
                <a:gd name="T5" fmla="*/ 23 h 24"/>
                <a:gd name="T6" fmla="*/ 18 w 24"/>
                <a:gd name="T7" fmla="*/ 21 h 24"/>
                <a:gd name="T8" fmla="*/ 18 w 24"/>
                <a:gd name="T9" fmla="*/ 21 h 24"/>
                <a:gd name="T10" fmla="*/ 20 w 24"/>
                <a:gd name="T11" fmla="*/ 19 h 24"/>
                <a:gd name="T12" fmla="*/ 22 w 24"/>
                <a:gd name="T13" fmla="*/ 19 h 24"/>
                <a:gd name="T14" fmla="*/ 22 w 24"/>
                <a:gd name="T15" fmla="*/ 17 h 24"/>
                <a:gd name="T16" fmla="*/ 23 w 24"/>
                <a:gd name="T17" fmla="*/ 15 h 24"/>
                <a:gd name="T18" fmla="*/ 23 w 24"/>
                <a:gd name="T19" fmla="*/ 13 h 24"/>
                <a:gd name="T20" fmla="*/ 23 w 24"/>
                <a:gd name="T21" fmla="*/ 11 h 24"/>
                <a:gd name="T22" fmla="*/ 23 w 24"/>
                <a:gd name="T23" fmla="*/ 9 h 24"/>
                <a:gd name="T24" fmla="*/ 23 w 24"/>
                <a:gd name="T25" fmla="*/ 7 h 24"/>
                <a:gd name="T26" fmla="*/ 22 w 24"/>
                <a:gd name="T27" fmla="*/ 5 h 24"/>
                <a:gd name="T28" fmla="*/ 22 w 24"/>
                <a:gd name="T29" fmla="*/ 5 h 24"/>
                <a:gd name="T30" fmla="*/ 20 w 24"/>
                <a:gd name="T31" fmla="*/ 4 h 24"/>
                <a:gd name="T32" fmla="*/ 18 w 24"/>
                <a:gd name="T33" fmla="*/ 2 h 24"/>
                <a:gd name="T34" fmla="*/ 18 w 24"/>
                <a:gd name="T35" fmla="*/ 2 h 24"/>
                <a:gd name="T36" fmla="*/ 16 w 24"/>
                <a:gd name="T37" fmla="*/ 0 h 24"/>
                <a:gd name="T38" fmla="*/ 14 w 24"/>
                <a:gd name="T39" fmla="*/ 0 h 24"/>
                <a:gd name="T40" fmla="*/ 12 w 24"/>
                <a:gd name="T41" fmla="*/ 0 h 24"/>
                <a:gd name="T42" fmla="*/ 10 w 24"/>
                <a:gd name="T43" fmla="*/ 0 h 24"/>
                <a:gd name="T44" fmla="*/ 8 w 24"/>
                <a:gd name="T45" fmla="*/ 0 h 24"/>
                <a:gd name="T46" fmla="*/ 6 w 24"/>
                <a:gd name="T47" fmla="*/ 2 h 24"/>
                <a:gd name="T48" fmla="*/ 4 w 24"/>
                <a:gd name="T49" fmla="*/ 2 h 24"/>
                <a:gd name="T50" fmla="*/ 4 w 24"/>
                <a:gd name="T51" fmla="*/ 4 h 24"/>
                <a:gd name="T52" fmla="*/ 2 w 24"/>
                <a:gd name="T53" fmla="*/ 5 h 24"/>
                <a:gd name="T54" fmla="*/ 2 w 24"/>
                <a:gd name="T55" fmla="*/ 5 h 24"/>
                <a:gd name="T56" fmla="*/ 0 w 24"/>
                <a:gd name="T57" fmla="*/ 7 h 24"/>
                <a:gd name="T58" fmla="*/ 0 w 24"/>
                <a:gd name="T59" fmla="*/ 9 h 24"/>
                <a:gd name="T60" fmla="*/ 0 w 24"/>
                <a:gd name="T61" fmla="*/ 11 h 24"/>
                <a:gd name="T62" fmla="*/ 0 w 24"/>
                <a:gd name="T63" fmla="*/ 13 h 24"/>
                <a:gd name="T64" fmla="*/ 0 w 24"/>
                <a:gd name="T65" fmla="*/ 15 h 24"/>
                <a:gd name="T66" fmla="*/ 2 w 24"/>
                <a:gd name="T67" fmla="*/ 17 h 24"/>
                <a:gd name="T68" fmla="*/ 2 w 24"/>
                <a:gd name="T69" fmla="*/ 19 h 24"/>
                <a:gd name="T70" fmla="*/ 4 w 24"/>
                <a:gd name="T71" fmla="*/ 19 h 24"/>
                <a:gd name="T72" fmla="*/ 4 w 24"/>
                <a:gd name="T73" fmla="*/ 21 h 24"/>
                <a:gd name="T74" fmla="*/ 6 w 24"/>
                <a:gd name="T75" fmla="*/ 21 h 24"/>
                <a:gd name="T76" fmla="*/ 8 w 24"/>
                <a:gd name="T77" fmla="*/ 23 h 24"/>
                <a:gd name="T78" fmla="*/ 10 w 24"/>
                <a:gd name="T79" fmla="*/ 23 h 24"/>
                <a:gd name="T80" fmla="*/ 12 w 24"/>
                <a:gd name="T81" fmla="*/ 23 h 24"/>
                <a:gd name="T82" fmla="*/ 12 w 24"/>
                <a:gd name="T83" fmla="*/ 23 h 24"/>
                <a:gd name="T84" fmla="*/ 10 w 24"/>
                <a:gd name="T85" fmla="*/ 23 h 2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4"/>
                <a:gd name="T130" fmla="*/ 0 h 24"/>
                <a:gd name="T131" fmla="*/ 24 w 24"/>
                <a:gd name="T132" fmla="*/ 24 h 24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4" h="24">
                  <a:moveTo>
                    <a:pt x="10" y="23"/>
                  </a:moveTo>
                  <a:lnTo>
                    <a:pt x="14" y="23"/>
                  </a:lnTo>
                  <a:lnTo>
                    <a:pt x="16" y="23"/>
                  </a:lnTo>
                  <a:lnTo>
                    <a:pt x="18" y="21"/>
                  </a:lnTo>
                  <a:lnTo>
                    <a:pt x="20" y="19"/>
                  </a:lnTo>
                  <a:lnTo>
                    <a:pt x="22" y="19"/>
                  </a:lnTo>
                  <a:lnTo>
                    <a:pt x="22" y="17"/>
                  </a:lnTo>
                  <a:lnTo>
                    <a:pt x="23" y="15"/>
                  </a:lnTo>
                  <a:lnTo>
                    <a:pt x="23" y="13"/>
                  </a:lnTo>
                  <a:lnTo>
                    <a:pt x="23" y="11"/>
                  </a:lnTo>
                  <a:lnTo>
                    <a:pt x="23" y="9"/>
                  </a:lnTo>
                  <a:lnTo>
                    <a:pt x="23" y="7"/>
                  </a:lnTo>
                  <a:lnTo>
                    <a:pt x="22" y="5"/>
                  </a:lnTo>
                  <a:lnTo>
                    <a:pt x="20" y="4"/>
                  </a:lnTo>
                  <a:lnTo>
                    <a:pt x="18" y="2"/>
                  </a:lnTo>
                  <a:lnTo>
                    <a:pt x="16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8" y="0"/>
                  </a:lnTo>
                  <a:lnTo>
                    <a:pt x="6" y="2"/>
                  </a:lnTo>
                  <a:lnTo>
                    <a:pt x="4" y="2"/>
                  </a:lnTo>
                  <a:lnTo>
                    <a:pt x="4" y="4"/>
                  </a:lnTo>
                  <a:lnTo>
                    <a:pt x="2" y="5"/>
                  </a:lnTo>
                  <a:lnTo>
                    <a:pt x="0" y="7"/>
                  </a:lnTo>
                  <a:lnTo>
                    <a:pt x="0" y="9"/>
                  </a:lnTo>
                  <a:lnTo>
                    <a:pt x="0" y="11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2" y="17"/>
                  </a:lnTo>
                  <a:lnTo>
                    <a:pt x="2" y="19"/>
                  </a:lnTo>
                  <a:lnTo>
                    <a:pt x="4" y="19"/>
                  </a:lnTo>
                  <a:lnTo>
                    <a:pt x="4" y="21"/>
                  </a:lnTo>
                  <a:lnTo>
                    <a:pt x="6" y="21"/>
                  </a:lnTo>
                  <a:lnTo>
                    <a:pt x="8" y="23"/>
                  </a:lnTo>
                  <a:lnTo>
                    <a:pt x="10" y="23"/>
                  </a:lnTo>
                  <a:lnTo>
                    <a:pt x="12" y="23"/>
                  </a:lnTo>
                  <a:lnTo>
                    <a:pt x="10" y="23"/>
                  </a:lnTo>
                </a:path>
              </a:pathLst>
            </a:custGeom>
            <a:solidFill>
              <a:srgbClr val="000000"/>
            </a:solidFill>
            <a:ln w="9525" cap="rnd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07" name="Freeform 23"/>
            <p:cNvSpPr>
              <a:spLocks/>
            </p:cNvSpPr>
            <p:nvPr/>
          </p:nvSpPr>
          <p:spPr bwMode="auto">
            <a:xfrm>
              <a:off x="1629" y="2586"/>
              <a:ext cx="24" cy="24"/>
            </a:xfrm>
            <a:custGeom>
              <a:avLst/>
              <a:gdLst>
                <a:gd name="T0" fmla="*/ 10 w 24"/>
                <a:gd name="T1" fmla="*/ 23 h 24"/>
                <a:gd name="T2" fmla="*/ 14 w 24"/>
                <a:gd name="T3" fmla="*/ 23 h 24"/>
                <a:gd name="T4" fmla="*/ 16 w 24"/>
                <a:gd name="T5" fmla="*/ 23 h 24"/>
                <a:gd name="T6" fmla="*/ 18 w 24"/>
                <a:gd name="T7" fmla="*/ 21 h 24"/>
                <a:gd name="T8" fmla="*/ 18 w 24"/>
                <a:gd name="T9" fmla="*/ 21 h 24"/>
                <a:gd name="T10" fmla="*/ 20 w 24"/>
                <a:gd name="T11" fmla="*/ 19 h 24"/>
                <a:gd name="T12" fmla="*/ 22 w 24"/>
                <a:gd name="T13" fmla="*/ 19 h 24"/>
                <a:gd name="T14" fmla="*/ 22 w 24"/>
                <a:gd name="T15" fmla="*/ 17 h 24"/>
                <a:gd name="T16" fmla="*/ 23 w 24"/>
                <a:gd name="T17" fmla="*/ 15 h 24"/>
                <a:gd name="T18" fmla="*/ 23 w 24"/>
                <a:gd name="T19" fmla="*/ 13 h 24"/>
                <a:gd name="T20" fmla="*/ 23 w 24"/>
                <a:gd name="T21" fmla="*/ 11 h 24"/>
                <a:gd name="T22" fmla="*/ 23 w 24"/>
                <a:gd name="T23" fmla="*/ 9 h 24"/>
                <a:gd name="T24" fmla="*/ 23 w 24"/>
                <a:gd name="T25" fmla="*/ 7 h 24"/>
                <a:gd name="T26" fmla="*/ 22 w 24"/>
                <a:gd name="T27" fmla="*/ 5 h 24"/>
                <a:gd name="T28" fmla="*/ 22 w 24"/>
                <a:gd name="T29" fmla="*/ 5 h 24"/>
                <a:gd name="T30" fmla="*/ 20 w 24"/>
                <a:gd name="T31" fmla="*/ 4 h 24"/>
                <a:gd name="T32" fmla="*/ 18 w 24"/>
                <a:gd name="T33" fmla="*/ 2 h 24"/>
                <a:gd name="T34" fmla="*/ 18 w 24"/>
                <a:gd name="T35" fmla="*/ 2 h 24"/>
                <a:gd name="T36" fmla="*/ 16 w 24"/>
                <a:gd name="T37" fmla="*/ 0 h 24"/>
                <a:gd name="T38" fmla="*/ 14 w 24"/>
                <a:gd name="T39" fmla="*/ 0 h 24"/>
                <a:gd name="T40" fmla="*/ 12 w 24"/>
                <a:gd name="T41" fmla="*/ 0 h 24"/>
                <a:gd name="T42" fmla="*/ 10 w 24"/>
                <a:gd name="T43" fmla="*/ 0 h 24"/>
                <a:gd name="T44" fmla="*/ 8 w 24"/>
                <a:gd name="T45" fmla="*/ 0 h 24"/>
                <a:gd name="T46" fmla="*/ 6 w 24"/>
                <a:gd name="T47" fmla="*/ 2 h 24"/>
                <a:gd name="T48" fmla="*/ 4 w 24"/>
                <a:gd name="T49" fmla="*/ 2 h 24"/>
                <a:gd name="T50" fmla="*/ 4 w 24"/>
                <a:gd name="T51" fmla="*/ 4 h 24"/>
                <a:gd name="T52" fmla="*/ 2 w 24"/>
                <a:gd name="T53" fmla="*/ 5 h 24"/>
                <a:gd name="T54" fmla="*/ 2 w 24"/>
                <a:gd name="T55" fmla="*/ 5 h 24"/>
                <a:gd name="T56" fmla="*/ 0 w 24"/>
                <a:gd name="T57" fmla="*/ 7 h 24"/>
                <a:gd name="T58" fmla="*/ 0 w 24"/>
                <a:gd name="T59" fmla="*/ 9 h 24"/>
                <a:gd name="T60" fmla="*/ 0 w 24"/>
                <a:gd name="T61" fmla="*/ 11 h 24"/>
                <a:gd name="T62" fmla="*/ 0 w 24"/>
                <a:gd name="T63" fmla="*/ 13 h 24"/>
                <a:gd name="T64" fmla="*/ 0 w 24"/>
                <a:gd name="T65" fmla="*/ 15 h 24"/>
                <a:gd name="T66" fmla="*/ 2 w 24"/>
                <a:gd name="T67" fmla="*/ 17 h 24"/>
                <a:gd name="T68" fmla="*/ 2 w 24"/>
                <a:gd name="T69" fmla="*/ 19 h 24"/>
                <a:gd name="T70" fmla="*/ 4 w 24"/>
                <a:gd name="T71" fmla="*/ 19 h 24"/>
                <a:gd name="T72" fmla="*/ 4 w 24"/>
                <a:gd name="T73" fmla="*/ 21 h 24"/>
                <a:gd name="T74" fmla="*/ 6 w 24"/>
                <a:gd name="T75" fmla="*/ 21 h 24"/>
                <a:gd name="T76" fmla="*/ 8 w 24"/>
                <a:gd name="T77" fmla="*/ 23 h 24"/>
                <a:gd name="T78" fmla="*/ 10 w 24"/>
                <a:gd name="T79" fmla="*/ 23 h 24"/>
                <a:gd name="T80" fmla="*/ 12 w 24"/>
                <a:gd name="T81" fmla="*/ 23 h 24"/>
                <a:gd name="T82" fmla="*/ 12 w 24"/>
                <a:gd name="T83" fmla="*/ 23 h 24"/>
                <a:gd name="T84" fmla="*/ 10 w 24"/>
                <a:gd name="T85" fmla="*/ 23 h 2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4"/>
                <a:gd name="T130" fmla="*/ 0 h 24"/>
                <a:gd name="T131" fmla="*/ 24 w 24"/>
                <a:gd name="T132" fmla="*/ 24 h 24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4" h="24">
                  <a:moveTo>
                    <a:pt x="10" y="23"/>
                  </a:moveTo>
                  <a:lnTo>
                    <a:pt x="14" y="23"/>
                  </a:lnTo>
                  <a:lnTo>
                    <a:pt x="16" y="23"/>
                  </a:lnTo>
                  <a:lnTo>
                    <a:pt x="18" y="21"/>
                  </a:lnTo>
                  <a:lnTo>
                    <a:pt x="20" y="19"/>
                  </a:lnTo>
                  <a:lnTo>
                    <a:pt x="22" y="19"/>
                  </a:lnTo>
                  <a:lnTo>
                    <a:pt x="22" y="17"/>
                  </a:lnTo>
                  <a:lnTo>
                    <a:pt x="23" y="15"/>
                  </a:lnTo>
                  <a:lnTo>
                    <a:pt x="23" y="13"/>
                  </a:lnTo>
                  <a:lnTo>
                    <a:pt x="23" y="11"/>
                  </a:lnTo>
                  <a:lnTo>
                    <a:pt x="23" y="9"/>
                  </a:lnTo>
                  <a:lnTo>
                    <a:pt x="23" y="7"/>
                  </a:lnTo>
                  <a:lnTo>
                    <a:pt x="22" y="5"/>
                  </a:lnTo>
                  <a:lnTo>
                    <a:pt x="20" y="4"/>
                  </a:lnTo>
                  <a:lnTo>
                    <a:pt x="18" y="2"/>
                  </a:lnTo>
                  <a:lnTo>
                    <a:pt x="16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8" y="0"/>
                  </a:lnTo>
                  <a:lnTo>
                    <a:pt x="6" y="2"/>
                  </a:lnTo>
                  <a:lnTo>
                    <a:pt x="4" y="2"/>
                  </a:lnTo>
                  <a:lnTo>
                    <a:pt x="4" y="4"/>
                  </a:lnTo>
                  <a:lnTo>
                    <a:pt x="2" y="5"/>
                  </a:lnTo>
                  <a:lnTo>
                    <a:pt x="0" y="7"/>
                  </a:lnTo>
                  <a:lnTo>
                    <a:pt x="0" y="9"/>
                  </a:lnTo>
                  <a:lnTo>
                    <a:pt x="0" y="11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2" y="17"/>
                  </a:lnTo>
                  <a:lnTo>
                    <a:pt x="2" y="19"/>
                  </a:lnTo>
                  <a:lnTo>
                    <a:pt x="4" y="19"/>
                  </a:lnTo>
                  <a:lnTo>
                    <a:pt x="4" y="21"/>
                  </a:lnTo>
                  <a:lnTo>
                    <a:pt x="6" y="21"/>
                  </a:lnTo>
                  <a:lnTo>
                    <a:pt x="8" y="23"/>
                  </a:lnTo>
                  <a:lnTo>
                    <a:pt x="10" y="23"/>
                  </a:lnTo>
                  <a:lnTo>
                    <a:pt x="12" y="23"/>
                  </a:lnTo>
                  <a:lnTo>
                    <a:pt x="10" y="23"/>
                  </a:lnTo>
                </a:path>
              </a:pathLst>
            </a:custGeom>
            <a:solidFill>
              <a:srgbClr val="000000"/>
            </a:solidFill>
            <a:ln w="9525" cap="rnd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08" name="Freeform 24"/>
            <p:cNvSpPr>
              <a:spLocks/>
            </p:cNvSpPr>
            <p:nvPr/>
          </p:nvSpPr>
          <p:spPr bwMode="auto">
            <a:xfrm>
              <a:off x="1629" y="3432"/>
              <a:ext cx="24" cy="24"/>
            </a:xfrm>
            <a:custGeom>
              <a:avLst/>
              <a:gdLst>
                <a:gd name="T0" fmla="*/ 10 w 24"/>
                <a:gd name="T1" fmla="*/ 23 h 24"/>
                <a:gd name="T2" fmla="*/ 14 w 24"/>
                <a:gd name="T3" fmla="*/ 23 h 24"/>
                <a:gd name="T4" fmla="*/ 16 w 24"/>
                <a:gd name="T5" fmla="*/ 23 h 24"/>
                <a:gd name="T6" fmla="*/ 16 w 24"/>
                <a:gd name="T7" fmla="*/ 21 h 24"/>
                <a:gd name="T8" fmla="*/ 18 w 24"/>
                <a:gd name="T9" fmla="*/ 21 h 24"/>
                <a:gd name="T10" fmla="*/ 20 w 24"/>
                <a:gd name="T11" fmla="*/ 19 h 24"/>
                <a:gd name="T12" fmla="*/ 22 w 24"/>
                <a:gd name="T13" fmla="*/ 18 h 24"/>
                <a:gd name="T14" fmla="*/ 22 w 24"/>
                <a:gd name="T15" fmla="*/ 18 h 24"/>
                <a:gd name="T16" fmla="*/ 22 w 24"/>
                <a:gd name="T17" fmla="*/ 16 h 24"/>
                <a:gd name="T18" fmla="*/ 23 w 24"/>
                <a:gd name="T19" fmla="*/ 14 h 24"/>
                <a:gd name="T20" fmla="*/ 23 w 24"/>
                <a:gd name="T21" fmla="*/ 12 h 24"/>
                <a:gd name="T22" fmla="*/ 23 w 24"/>
                <a:gd name="T23" fmla="*/ 10 h 24"/>
                <a:gd name="T24" fmla="*/ 22 w 24"/>
                <a:gd name="T25" fmla="*/ 8 h 24"/>
                <a:gd name="T26" fmla="*/ 22 w 24"/>
                <a:gd name="T27" fmla="*/ 6 h 24"/>
                <a:gd name="T28" fmla="*/ 22 w 24"/>
                <a:gd name="T29" fmla="*/ 4 h 24"/>
                <a:gd name="T30" fmla="*/ 20 w 24"/>
                <a:gd name="T31" fmla="*/ 4 h 24"/>
                <a:gd name="T32" fmla="*/ 18 w 24"/>
                <a:gd name="T33" fmla="*/ 2 h 24"/>
                <a:gd name="T34" fmla="*/ 16 w 24"/>
                <a:gd name="T35" fmla="*/ 2 h 24"/>
                <a:gd name="T36" fmla="*/ 16 w 24"/>
                <a:gd name="T37" fmla="*/ 0 h 24"/>
                <a:gd name="T38" fmla="*/ 14 w 24"/>
                <a:gd name="T39" fmla="*/ 0 h 24"/>
                <a:gd name="T40" fmla="*/ 12 w 24"/>
                <a:gd name="T41" fmla="*/ 0 h 24"/>
                <a:gd name="T42" fmla="*/ 10 w 24"/>
                <a:gd name="T43" fmla="*/ 0 h 24"/>
                <a:gd name="T44" fmla="*/ 8 w 24"/>
                <a:gd name="T45" fmla="*/ 0 h 24"/>
                <a:gd name="T46" fmla="*/ 6 w 24"/>
                <a:gd name="T47" fmla="*/ 2 h 24"/>
                <a:gd name="T48" fmla="*/ 4 w 24"/>
                <a:gd name="T49" fmla="*/ 2 h 24"/>
                <a:gd name="T50" fmla="*/ 2 w 24"/>
                <a:gd name="T51" fmla="*/ 4 h 24"/>
                <a:gd name="T52" fmla="*/ 2 w 24"/>
                <a:gd name="T53" fmla="*/ 4 h 24"/>
                <a:gd name="T54" fmla="*/ 0 w 24"/>
                <a:gd name="T55" fmla="*/ 6 h 24"/>
                <a:gd name="T56" fmla="*/ 0 w 24"/>
                <a:gd name="T57" fmla="*/ 8 h 24"/>
                <a:gd name="T58" fmla="*/ 0 w 24"/>
                <a:gd name="T59" fmla="*/ 10 h 24"/>
                <a:gd name="T60" fmla="*/ 0 w 24"/>
                <a:gd name="T61" fmla="*/ 12 h 24"/>
                <a:gd name="T62" fmla="*/ 0 w 24"/>
                <a:gd name="T63" fmla="*/ 14 h 24"/>
                <a:gd name="T64" fmla="*/ 0 w 24"/>
                <a:gd name="T65" fmla="*/ 16 h 24"/>
                <a:gd name="T66" fmla="*/ 0 w 24"/>
                <a:gd name="T67" fmla="*/ 18 h 24"/>
                <a:gd name="T68" fmla="*/ 2 w 24"/>
                <a:gd name="T69" fmla="*/ 18 h 24"/>
                <a:gd name="T70" fmla="*/ 2 w 24"/>
                <a:gd name="T71" fmla="*/ 19 h 24"/>
                <a:gd name="T72" fmla="*/ 4 w 24"/>
                <a:gd name="T73" fmla="*/ 21 h 24"/>
                <a:gd name="T74" fmla="*/ 6 w 24"/>
                <a:gd name="T75" fmla="*/ 21 h 24"/>
                <a:gd name="T76" fmla="*/ 8 w 24"/>
                <a:gd name="T77" fmla="*/ 23 h 24"/>
                <a:gd name="T78" fmla="*/ 10 w 24"/>
                <a:gd name="T79" fmla="*/ 23 h 24"/>
                <a:gd name="T80" fmla="*/ 12 w 24"/>
                <a:gd name="T81" fmla="*/ 23 h 24"/>
                <a:gd name="T82" fmla="*/ 12 w 24"/>
                <a:gd name="T83" fmla="*/ 23 h 24"/>
                <a:gd name="T84" fmla="*/ 10 w 24"/>
                <a:gd name="T85" fmla="*/ 23 h 2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4"/>
                <a:gd name="T130" fmla="*/ 0 h 24"/>
                <a:gd name="T131" fmla="*/ 24 w 24"/>
                <a:gd name="T132" fmla="*/ 24 h 24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4" h="24">
                  <a:moveTo>
                    <a:pt x="10" y="23"/>
                  </a:moveTo>
                  <a:lnTo>
                    <a:pt x="14" y="23"/>
                  </a:lnTo>
                  <a:lnTo>
                    <a:pt x="16" y="23"/>
                  </a:lnTo>
                  <a:lnTo>
                    <a:pt x="16" y="21"/>
                  </a:lnTo>
                  <a:lnTo>
                    <a:pt x="18" y="21"/>
                  </a:lnTo>
                  <a:lnTo>
                    <a:pt x="20" y="19"/>
                  </a:lnTo>
                  <a:lnTo>
                    <a:pt x="22" y="18"/>
                  </a:lnTo>
                  <a:lnTo>
                    <a:pt x="22" y="16"/>
                  </a:lnTo>
                  <a:lnTo>
                    <a:pt x="23" y="14"/>
                  </a:lnTo>
                  <a:lnTo>
                    <a:pt x="23" y="12"/>
                  </a:lnTo>
                  <a:lnTo>
                    <a:pt x="23" y="10"/>
                  </a:lnTo>
                  <a:lnTo>
                    <a:pt x="22" y="8"/>
                  </a:lnTo>
                  <a:lnTo>
                    <a:pt x="22" y="6"/>
                  </a:lnTo>
                  <a:lnTo>
                    <a:pt x="22" y="4"/>
                  </a:lnTo>
                  <a:lnTo>
                    <a:pt x="20" y="4"/>
                  </a:lnTo>
                  <a:lnTo>
                    <a:pt x="18" y="2"/>
                  </a:lnTo>
                  <a:lnTo>
                    <a:pt x="16" y="2"/>
                  </a:lnTo>
                  <a:lnTo>
                    <a:pt x="16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8" y="0"/>
                  </a:lnTo>
                  <a:lnTo>
                    <a:pt x="6" y="2"/>
                  </a:lnTo>
                  <a:lnTo>
                    <a:pt x="4" y="2"/>
                  </a:lnTo>
                  <a:lnTo>
                    <a:pt x="2" y="4"/>
                  </a:lnTo>
                  <a:lnTo>
                    <a:pt x="0" y="6"/>
                  </a:lnTo>
                  <a:lnTo>
                    <a:pt x="0" y="8"/>
                  </a:lnTo>
                  <a:lnTo>
                    <a:pt x="0" y="10"/>
                  </a:lnTo>
                  <a:lnTo>
                    <a:pt x="0" y="12"/>
                  </a:lnTo>
                  <a:lnTo>
                    <a:pt x="0" y="14"/>
                  </a:lnTo>
                  <a:lnTo>
                    <a:pt x="0" y="16"/>
                  </a:lnTo>
                  <a:lnTo>
                    <a:pt x="0" y="18"/>
                  </a:lnTo>
                  <a:lnTo>
                    <a:pt x="2" y="18"/>
                  </a:lnTo>
                  <a:lnTo>
                    <a:pt x="2" y="19"/>
                  </a:lnTo>
                  <a:lnTo>
                    <a:pt x="4" y="21"/>
                  </a:lnTo>
                  <a:lnTo>
                    <a:pt x="6" y="21"/>
                  </a:lnTo>
                  <a:lnTo>
                    <a:pt x="8" y="23"/>
                  </a:lnTo>
                  <a:lnTo>
                    <a:pt x="10" y="23"/>
                  </a:lnTo>
                  <a:lnTo>
                    <a:pt x="12" y="23"/>
                  </a:lnTo>
                  <a:lnTo>
                    <a:pt x="10" y="23"/>
                  </a:lnTo>
                </a:path>
              </a:pathLst>
            </a:custGeom>
            <a:solidFill>
              <a:srgbClr val="000000"/>
            </a:solidFill>
            <a:ln w="9525" cap="rnd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09" name="Line 25"/>
            <p:cNvSpPr>
              <a:spLocks noChangeShapeType="1"/>
            </p:cNvSpPr>
            <p:nvPr/>
          </p:nvSpPr>
          <p:spPr bwMode="auto">
            <a:xfrm>
              <a:off x="1449" y="2687"/>
              <a:ext cx="198" cy="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10" name="Line 26"/>
            <p:cNvSpPr>
              <a:spLocks noChangeShapeType="1"/>
            </p:cNvSpPr>
            <p:nvPr/>
          </p:nvSpPr>
          <p:spPr bwMode="auto">
            <a:xfrm flipV="1">
              <a:off x="1657" y="3441"/>
              <a:ext cx="776" cy="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11" name="Line 27"/>
            <p:cNvSpPr>
              <a:spLocks noChangeShapeType="1"/>
            </p:cNvSpPr>
            <p:nvPr/>
          </p:nvSpPr>
          <p:spPr bwMode="auto">
            <a:xfrm flipH="1">
              <a:off x="1447" y="2024"/>
              <a:ext cx="986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12" name="Freeform 28"/>
            <p:cNvSpPr>
              <a:spLocks/>
            </p:cNvSpPr>
            <p:nvPr/>
          </p:nvSpPr>
          <p:spPr bwMode="auto">
            <a:xfrm>
              <a:off x="4704" y="1917"/>
              <a:ext cx="93" cy="1777"/>
            </a:xfrm>
            <a:custGeom>
              <a:avLst/>
              <a:gdLst>
                <a:gd name="T0" fmla="*/ 92 w 93"/>
                <a:gd name="T1" fmla="*/ 1776 h 1777"/>
                <a:gd name="T2" fmla="*/ 92 w 93"/>
                <a:gd name="T3" fmla="*/ 0 h 1777"/>
                <a:gd name="T4" fmla="*/ 0 w 93"/>
                <a:gd name="T5" fmla="*/ 0 h 1777"/>
                <a:gd name="T6" fmla="*/ 0 w 93"/>
                <a:gd name="T7" fmla="*/ 1776 h 1777"/>
                <a:gd name="T8" fmla="*/ 92 w 93"/>
                <a:gd name="T9" fmla="*/ 1776 h 1777"/>
                <a:gd name="T10" fmla="*/ 92 w 93"/>
                <a:gd name="T11" fmla="*/ 1776 h 177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3"/>
                <a:gd name="T19" fmla="*/ 0 h 1777"/>
                <a:gd name="T20" fmla="*/ 93 w 93"/>
                <a:gd name="T21" fmla="*/ 1777 h 177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3" h="1777">
                  <a:moveTo>
                    <a:pt x="92" y="1776"/>
                  </a:moveTo>
                  <a:lnTo>
                    <a:pt x="92" y="0"/>
                  </a:lnTo>
                  <a:lnTo>
                    <a:pt x="0" y="0"/>
                  </a:lnTo>
                  <a:lnTo>
                    <a:pt x="0" y="1776"/>
                  </a:lnTo>
                  <a:lnTo>
                    <a:pt x="92" y="1776"/>
                  </a:lnTo>
                </a:path>
              </a:pathLst>
            </a:custGeom>
            <a:solidFill>
              <a:srgbClr val="CCECFF"/>
            </a:solidFill>
            <a:ln w="190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13" name="Freeform 29"/>
            <p:cNvSpPr>
              <a:spLocks/>
            </p:cNvSpPr>
            <p:nvPr/>
          </p:nvSpPr>
          <p:spPr bwMode="auto">
            <a:xfrm>
              <a:off x="2436" y="1917"/>
              <a:ext cx="93" cy="1777"/>
            </a:xfrm>
            <a:custGeom>
              <a:avLst/>
              <a:gdLst>
                <a:gd name="T0" fmla="*/ 92 w 93"/>
                <a:gd name="T1" fmla="*/ 1776 h 1777"/>
                <a:gd name="T2" fmla="*/ 92 w 93"/>
                <a:gd name="T3" fmla="*/ 0 h 1777"/>
                <a:gd name="T4" fmla="*/ 0 w 93"/>
                <a:gd name="T5" fmla="*/ 0 h 1777"/>
                <a:gd name="T6" fmla="*/ 0 w 93"/>
                <a:gd name="T7" fmla="*/ 1776 h 1777"/>
                <a:gd name="T8" fmla="*/ 92 w 93"/>
                <a:gd name="T9" fmla="*/ 1776 h 1777"/>
                <a:gd name="T10" fmla="*/ 92 w 93"/>
                <a:gd name="T11" fmla="*/ 1776 h 177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3"/>
                <a:gd name="T19" fmla="*/ 0 h 1777"/>
                <a:gd name="T20" fmla="*/ 93 w 93"/>
                <a:gd name="T21" fmla="*/ 1777 h 177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3" h="1777">
                  <a:moveTo>
                    <a:pt x="92" y="1776"/>
                  </a:moveTo>
                  <a:lnTo>
                    <a:pt x="92" y="0"/>
                  </a:lnTo>
                  <a:lnTo>
                    <a:pt x="0" y="0"/>
                  </a:lnTo>
                  <a:lnTo>
                    <a:pt x="0" y="1776"/>
                  </a:lnTo>
                  <a:lnTo>
                    <a:pt x="92" y="1776"/>
                  </a:lnTo>
                </a:path>
              </a:pathLst>
            </a:custGeom>
            <a:solidFill>
              <a:srgbClr val="CCECFF"/>
            </a:solidFill>
            <a:ln w="190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14" name="Line 30"/>
            <p:cNvSpPr>
              <a:spLocks noChangeShapeType="1"/>
            </p:cNvSpPr>
            <p:nvPr/>
          </p:nvSpPr>
          <p:spPr bwMode="auto">
            <a:xfrm flipV="1">
              <a:off x="2826" y="3695"/>
              <a:ext cx="0" cy="50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15" name="Line 31"/>
            <p:cNvSpPr>
              <a:spLocks noChangeShapeType="1"/>
            </p:cNvSpPr>
            <p:nvPr/>
          </p:nvSpPr>
          <p:spPr bwMode="auto">
            <a:xfrm>
              <a:off x="2855" y="2626"/>
              <a:ext cx="2" cy="54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16" name="Line 32"/>
            <p:cNvSpPr>
              <a:spLocks noChangeShapeType="1"/>
            </p:cNvSpPr>
            <p:nvPr/>
          </p:nvSpPr>
          <p:spPr bwMode="auto">
            <a:xfrm flipV="1">
              <a:off x="3006" y="3406"/>
              <a:ext cx="0" cy="52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17" name="Line 33"/>
            <p:cNvSpPr>
              <a:spLocks noChangeShapeType="1"/>
            </p:cNvSpPr>
            <p:nvPr/>
          </p:nvSpPr>
          <p:spPr bwMode="auto">
            <a:xfrm flipV="1">
              <a:off x="3364" y="2633"/>
              <a:ext cx="215" cy="2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18" name="Freeform 34"/>
            <p:cNvSpPr>
              <a:spLocks/>
            </p:cNvSpPr>
            <p:nvPr/>
          </p:nvSpPr>
          <p:spPr bwMode="auto">
            <a:xfrm>
              <a:off x="2877" y="3055"/>
              <a:ext cx="245" cy="345"/>
            </a:xfrm>
            <a:custGeom>
              <a:avLst/>
              <a:gdLst>
                <a:gd name="T0" fmla="*/ 123 w 174"/>
                <a:gd name="T1" fmla="*/ 344 h 367"/>
                <a:gd name="T2" fmla="*/ 144 w 174"/>
                <a:gd name="T3" fmla="*/ 342 h 367"/>
                <a:gd name="T4" fmla="*/ 162 w 174"/>
                <a:gd name="T5" fmla="*/ 336 h 367"/>
                <a:gd name="T6" fmla="*/ 179 w 174"/>
                <a:gd name="T7" fmla="*/ 324 h 367"/>
                <a:gd name="T8" fmla="*/ 194 w 174"/>
                <a:gd name="T9" fmla="*/ 312 h 367"/>
                <a:gd name="T10" fmla="*/ 208 w 174"/>
                <a:gd name="T11" fmla="*/ 294 h 367"/>
                <a:gd name="T12" fmla="*/ 221 w 174"/>
                <a:gd name="T13" fmla="*/ 274 h 367"/>
                <a:gd name="T14" fmla="*/ 230 w 174"/>
                <a:gd name="T15" fmla="*/ 251 h 367"/>
                <a:gd name="T16" fmla="*/ 238 w 174"/>
                <a:gd name="T17" fmla="*/ 227 h 367"/>
                <a:gd name="T18" fmla="*/ 244 w 174"/>
                <a:gd name="T19" fmla="*/ 200 h 367"/>
                <a:gd name="T20" fmla="*/ 244 w 174"/>
                <a:gd name="T21" fmla="*/ 171 h 367"/>
                <a:gd name="T22" fmla="*/ 244 w 174"/>
                <a:gd name="T23" fmla="*/ 145 h 367"/>
                <a:gd name="T24" fmla="*/ 238 w 174"/>
                <a:gd name="T25" fmla="*/ 118 h 367"/>
                <a:gd name="T26" fmla="*/ 230 w 174"/>
                <a:gd name="T27" fmla="*/ 92 h 367"/>
                <a:gd name="T28" fmla="*/ 221 w 174"/>
                <a:gd name="T29" fmla="*/ 71 h 367"/>
                <a:gd name="T30" fmla="*/ 208 w 174"/>
                <a:gd name="T31" fmla="*/ 51 h 367"/>
                <a:gd name="T32" fmla="*/ 194 w 174"/>
                <a:gd name="T33" fmla="*/ 33 h 367"/>
                <a:gd name="T34" fmla="*/ 179 w 174"/>
                <a:gd name="T35" fmla="*/ 19 h 367"/>
                <a:gd name="T36" fmla="*/ 162 w 174"/>
                <a:gd name="T37" fmla="*/ 8 h 367"/>
                <a:gd name="T38" fmla="*/ 144 w 174"/>
                <a:gd name="T39" fmla="*/ 2 h 367"/>
                <a:gd name="T40" fmla="*/ 123 w 174"/>
                <a:gd name="T41" fmla="*/ 0 h 367"/>
                <a:gd name="T42" fmla="*/ 103 w 174"/>
                <a:gd name="T43" fmla="*/ 2 h 367"/>
                <a:gd name="T44" fmla="*/ 84 w 174"/>
                <a:gd name="T45" fmla="*/ 8 h 367"/>
                <a:gd name="T46" fmla="*/ 68 w 174"/>
                <a:gd name="T47" fmla="*/ 19 h 367"/>
                <a:gd name="T48" fmla="*/ 52 w 174"/>
                <a:gd name="T49" fmla="*/ 33 h 367"/>
                <a:gd name="T50" fmla="*/ 38 w 174"/>
                <a:gd name="T51" fmla="*/ 51 h 367"/>
                <a:gd name="T52" fmla="*/ 24 w 174"/>
                <a:gd name="T53" fmla="*/ 71 h 367"/>
                <a:gd name="T54" fmla="*/ 14 w 174"/>
                <a:gd name="T55" fmla="*/ 92 h 367"/>
                <a:gd name="T56" fmla="*/ 8 w 174"/>
                <a:gd name="T57" fmla="*/ 118 h 367"/>
                <a:gd name="T58" fmla="*/ 3 w 174"/>
                <a:gd name="T59" fmla="*/ 145 h 367"/>
                <a:gd name="T60" fmla="*/ 0 w 174"/>
                <a:gd name="T61" fmla="*/ 171 h 367"/>
                <a:gd name="T62" fmla="*/ 3 w 174"/>
                <a:gd name="T63" fmla="*/ 200 h 367"/>
                <a:gd name="T64" fmla="*/ 8 w 174"/>
                <a:gd name="T65" fmla="*/ 227 h 367"/>
                <a:gd name="T66" fmla="*/ 14 w 174"/>
                <a:gd name="T67" fmla="*/ 251 h 367"/>
                <a:gd name="T68" fmla="*/ 24 w 174"/>
                <a:gd name="T69" fmla="*/ 274 h 367"/>
                <a:gd name="T70" fmla="*/ 38 w 174"/>
                <a:gd name="T71" fmla="*/ 294 h 367"/>
                <a:gd name="T72" fmla="*/ 52 w 174"/>
                <a:gd name="T73" fmla="*/ 312 h 367"/>
                <a:gd name="T74" fmla="*/ 68 w 174"/>
                <a:gd name="T75" fmla="*/ 324 h 367"/>
                <a:gd name="T76" fmla="*/ 84 w 174"/>
                <a:gd name="T77" fmla="*/ 336 h 367"/>
                <a:gd name="T78" fmla="*/ 103 w 174"/>
                <a:gd name="T79" fmla="*/ 342 h 367"/>
                <a:gd name="T80" fmla="*/ 123 w 174"/>
                <a:gd name="T81" fmla="*/ 344 h 367"/>
                <a:gd name="T82" fmla="*/ 123 w 174"/>
                <a:gd name="T83" fmla="*/ 344 h 367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174"/>
                <a:gd name="T127" fmla="*/ 0 h 367"/>
                <a:gd name="T128" fmla="*/ 174 w 174"/>
                <a:gd name="T129" fmla="*/ 367 h 367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174" h="367">
                  <a:moveTo>
                    <a:pt x="87" y="366"/>
                  </a:moveTo>
                  <a:lnTo>
                    <a:pt x="102" y="364"/>
                  </a:lnTo>
                  <a:lnTo>
                    <a:pt x="115" y="357"/>
                  </a:lnTo>
                  <a:lnTo>
                    <a:pt x="127" y="345"/>
                  </a:lnTo>
                  <a:lnTo>
                    <a:pt x="138" y="332"/>
                  </a:lnTo>
                  <a:lnTo>
                    <a:pt x="148" y="313"/>
                  </a:lnTo>
                  <a:lnTo>
                    <a:pt x="157" y="292"/>
                  </a:lnTo>
                  <a:lnTo>
                    <a:pt x="163" y="267"/>
                  </a:lnTo>
                  <a:lnTo>
                    <a:pt x="169" y="242"/>
                  </a:lnTo>
                  <a:lnTo>
                    <a:pt x="173" y="213"/>
                  </a:lnTo>
                  <a:lnTo>
                    <a:pt x="173" y="182"/>
                  </a:lnTo>
                  <a:lnTo>
                    <a:pt x="173" y="154"/>
                  </a:lnTo>
                  <a:lnTo>
                    <a:pt x="169" y="125"/>
                  </a:lnTo>
                  <a:lnTo>
                    <a:pt x="163" y="98"/>
                  </a:lnTo>
                  <a:lnTo>
                    <a:pt x="157" y="75"/>
                  </a:lnTo>
                  <a:lnTo>
                    <a:pt x="148" y="54"/>
                  </a:lnTo>
                  <a:lnTo>
                    <a:pt x="138" y="35"/>
                  </a:lnTo>
                  <a:lnTo>
                    <a:pt x="127" y="20"/>
                  </a:lnTo>
                  <a:lnTo>
                    <a:pt x="115" y="8"/>
                  </a:lnTo>
                  <a:lnTo>
                    <a:pt x="102" y="2"/>
                  </a:lnTo>
                  <a:lnTo>
                    <a:pt x="87" y="0"/>
                  </a:lnTo>
                  <a:lnTo>
                    <a:pt x="73" y="2"/>
                  </a:lnTo>
                  <a:lnTo>
                    <a:pt x="60" y="8"/>
                  </a:lnTo>
                  <a:lnTo>
                    <a:pt x="48" y="20"/>
                  </a:lnTo>
                  <a:lnTo>
                    <a:pt x="37" y="35"/>
                  </a:lnTo>
                  <a:lnTo>
                    <a:pt x="27" y="54"/>
                  </a:lnTo>
                  <a:lnTo>
                    <a:pt x="17" y="75"/>
                  </a:lnTo>
                  <a:lnTo>
                    <a:pt x="10" y="98"/>
                  </a:lnTo>
                  <a:lnTo>
                    <a:pt x="6" y="125"/>
                  </a:lnTo>
                  <a:lnTo>
                    <a:pt x="2" y="154"/>
                  </a:lnTo>
                  <a:lnTo>
                    <a:pt x="0" y="182"/>
                  </a:lnTo>
                  <a:lnTo>
                    <a:pt x="2" y="213"/>
                  </a:lnTo>
                  <a:lnTo>
                    <a:pt x="6" y="242"/>
                  </a:lnTo>
                  <a:lnTo>
                    <a:pt x="10" y="267"/>
                  </a:lnTo>
                  <a:lnTo>
                    <a:pt x="17" y="292"/>
                  </a:lnTo>
                  <a:lnTo>
                    <a:pt x="27" y="313"/>
                  </a:lnTo>
                  <a:lnTo>
                    <a:pt x="37" y="332"/>
                  </a:lnTo>
                  <a:lnTo>
                    <a:pt x="48" y="345"/>
                  </a:lnTo>
                  <a:lnTo>
                    <a:pt x="60" y="357"/>
                  </a:lnTo>
                  <a:lnTo>
                    <a:pt x="73" y="364"/>
                  </a:lnTo>
                  <a:lnTo>
                    <a:pt x="87" y="366"/>
                  </a:lnTo>
                </a:path>
              </a:pathLst>
            </a:custGeom>
            <a:noFill/>
            <a:ln w="19050" cap="rnd" cmpd="sng">
              <a:solidFill>
                <a:srgbClr val="EB75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19" name="Line 35"/>
            <p:cNvSpPr>
              <a:spLocks noChangeShapeType="1"/>
            </p:cNvSpPr>
            <p:nvPr/>
          </p:nvSpPr>
          <p:spPr bwMode="auto">
            <a:xfrm>
              <a:off x="2530" y="3225"/>
              <a:ext cx="349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21" name="Line 37"/>
            <p:cNvSpPr>
              <a:spLocks noChangeShapeType="1"/>
            </p:cNvSpPr>
            <p:nvPr/>
          </p:nvSpPr>
          <p:spPr bwMode="auto">
            <a:xfrm flipH="1" flipV="1">
              <a:off x="2530" y="2018"/>
              <a:ext cx="364" cy="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22" name="Freeform 38"/>
            <p:cNvSpPr>
              <a:spLocks/>
            </p:cNvSpPr>
            <p:nvPr/>
          </p:nvSpPr>
          <p:spPr bwMode="auto">
            <a:xfrm>
              <a:off x="2681" y="2710"/>
              <a:ext cx="26" cy="24"/>
            </a:xfrm>
            <a:custGeom>
              <a:avLst/>
              <a:gdLst>
                <a:gd name="T0" fmla="*/ 11 w 26"/>
                <a:gd name="T1" fmla="*/ 23 h 24"/>
                <a:gd name="T2" fmla="*/ 13 w 26"/>
                <a:gd name="T3" fmla="*/ 23 h 24"/>
                <a:gd name="T4" fmla="*/ 15 w 26"/>
                <a:gd name="T5" fmla="*/ 23 h 24"/>
                <a:gd name="T6" fmla="*/ 17 w 26"/>
                <a:gd name="T7" fmla="*/ 23 h 24"/>
                <a:gd name="T8" fmla="*/ 19 w 26"/>
                <a:gd name="T9" fmla="*/ 21 h 24"/>
                <a:gd name="T10" fmla="*/ 21 w 26"/>
                <a:gd name="T11" fmla="*/ 21 h 24"/>
                <a:gd name="T12" fmla="*/ 21 w 26"/>
                <a:gd name="T13" fmla="*/ 19 h 24"/>
                <a:gd name="T14" fmla="*/ 23 w 26"/>
                <a:gd name="T15" fmla="*/ 17 h 24"/>
                <a:gd name="T16" fmla="*/ 23 w 26"/>
                <a:gd name="T17" fmla="*/ 15 h 24"/>
                <a:gd name="T18" fmla="*/ 23 w 26"/>
                <a:gd name="T19" fmla="*/ 14 h 24"/>
                <a:gd name="T20" fmla="*/ 25 w 26"/>
                <a:gd name="T21" fmla="*/ 12 h 24"/>
                <a:gd name="T22" fmla="*/ 23 w 26"/>
                <a:gd name="T23" fmla="*/ 10 h 24"/>
                <a:gd name="T24" fmla="*/ 23 w 26"/>
                <a:gd name="T25" fmla="*/ 10 h 24"/>
                <a:gd name="T26" fmla="*/ 23 w 26"/>
                <a:gd name="T27" fmla="*/ 8 h 24"/>
                <a:gd name="T28" fmla="*/ 21 w 26"/>
                <a:gd name="T29" fmla="*/ 6 h 24"/>
                <a:gd name="T30" fmla="*/ 21 w 26"/>
                <a:gd name="T31" fmla="*/ 4 h 24"/>
                <a:gd name="T32" fmla="*/ 19 w 26"/>
                <a:gd name="T33" fmla="*/ 4 h 24"/>
                <a:gd name="T34" fmla="*/ 17 w 26"/>
                <a:gd name="T35" fmla="*/ 2 h 24"/>
                <a:gd name="T36" fmla="*/ 15 w 26"/>
                <a:gd name="T37" fmla="*/ 2 h 24"/>
                <a:gd name="T38" fmla="*/ 13 w 26"/>
                <a:gd name="T39" fmla="*/ 2 h 24"/>
                <a:gd name="T40" fmla="*/ 11 w 26"/>
                <a:gd name="T41" fmla="*/ 0 h 24"/>
                <a:gd name="T42" fmla="*/ 11 w 26"/>
                <a:gd name="T43" fmla="*/ 2 h 24"/>
                <a:gd name="T44" fmla="*/ 9 w 26"/>
                <a:gd name="T45" fmla="*/ 2 h 24"/>
                <a:gd name="T46" fmla="*/ 8 w 26"/>
                <a:gd name="T47" fmla="*/ 2 h 24"/>
                <a:gd name="T48" fmla="*/ 6 w 26"/>
                <a:gd name="T49" fmla="*/ 4 h 24"/>
                <a:gd name="T50" fmla="*/ 4 w 26"/>
                <a:gd name="T51" fmla="*/ 4 h 24"/>
                <a:gd name="T52" fmla="*/ 4 w 26"/>
                <a:gd name="T53" fmla="*/ 6 h 24"/>
                <a:gd name="T54" fmla="*/ 2 w 26"/>
                <a:gd name="T55" fmla="*/ 8 h 24"/>
                <a:gd name="T56" fmla="*/ 2 w 26"/>
                <a:gd name="T57" fmla="*/ 10 h 24"/>
                <a:gd name="T58" fmla="*/ 2 w 26"/>
                <a:gd name="T59" fmla="*/ 10 h 24"/>
                <a:gd name="T60" fmla="*/ 0 w 26"/>
                <a:gd name="T61" fmla="*/ 12 h 24"/>
                <a:gd name="T62" fmla="*/ 2 w 26"/>
                <a:gd name="T63" fmla="*/ 14 h 24"/>
                <a:gd name="T64" fmla="*/ 2 w 26"/>
                <a:gd name="T65" fmla="*/ 15 h 24"/>
                <a:gd name="T66" fmla="*/ 2 w 26"/>
                <a:gd name="T67" fmla="*/ 17 h 24"/>
                <a:gd name="T68" fmla="*/ 4 w 26"/>
                <a:gd name="T69" fmla="*/ 19 h 24"/>
                <a:gd name="T70" fmla="*/ 4 w 26"/>
                <a:gd name="T71" fmla="*/ 21 h 24"/>
                <a:gd name="T72" fmla="*/ 6 w 26"/>
                <a:gd name="T73" fmla="*/ 21 h 24"/>
                <a:gd name="T74" fmla="*/ 8 w 26"/>
                <a:gd name="T75" fmla="*/ 23 h 24"/>
                <a:gd name="T76" fmla="*/ 9 w 26"/>
                <a:gd name="T77" fmla="*/ 23 h 24"/>
                <a:gd name="T78" fmla="*/ 11 w 26"/>
                <a:gd name="T79" fmla="*/ 23 h 24"/>
                <a:gd name="T80" fmla="*/ 11 w 26"/>
                <a:gd name="T81" fmla="*/ 23 h 24"/>
                <a:gd name="T82" fmla="*/ 11 w 26"/>
                <a:gd name="T83" fmla="*/ 23 h 24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26"/>
                <a:gd name="T127" fmla="*/ 0 h 24"/>
                <a:gd name="T128" fmla="*/ 26 w 26"/>
                <a:gd name="T129" fmla="*/ 24 h 24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26" h="24">
                  <a:moveTo>
                    <a:pt x="11" y="23"/>
                  </a:moveTo>
                  <a:lnTo>
                    <a:pt x="13" y="23"/>
                  </a:lnTo>
                  <a:lnTo>
                    <a:pt x="15" y="23"/>
                  </a:lnTo>
                  <a:lnTo>
                    <a:pt x="17" y="23"/>
                  </a:lnTo>
                  <a:lnTo>
                    <a:pt x="19" y="21"/>
                  </a:lnTo>
                  <a:lnTo>
                    <a:pt x="21" y="21"/>
                  </a:lnTo>
                  <a:lnTo>
                    <a:pt x="21" y="19"/>
                  </a:lnTo>
                  <a:lnTo>
                    <a:pt x="23" y="17"/>
                  </a:lnTo>
                  <a:lnTo>
                    <a:pt x="23" y="15"/>
                  </a:lnTo>
                  <a:lnTo>
                    <a:pt x="23" y="14"/>
                  </a:lnTo>
                  <a:lnTo>
                    <a:pt x="25" y="12"/>
                  </a:lnTo>
                  <a:lnTo>
                    <a:pt x="23" y="10"/>
                  </a:lnTo>
                  <a:lnTo>
                    <a:pt x="23" y="8"/>
                  </a:lnTo>
                  <a:lnTo>
                    <a:pt x="21" y="6"/>
                  </a:lnTo>
                  <a:lnTo>
                    <a:pt x="21" y="4"/>
                  </a:lnTo>
                  <a:lnTo>
                    <a:pt x="19" y="4"/>
                  </a:lnTo>
                  <a:lnTo>
                    <a:pt x="17" y="2"/>
                  </a:lnTo>
                  <a:lnTo>
                    <a:pt x="15" y="2"/>
                  </a:lnTo>
                  <a:lnTo>
                    <a:pt x="13" y="2"/>
                  </a:lnTo>
                  <a:lnTo>
                    <a:pt x="11" y="0"/>
                  </a:lnTo>
                  <a:lnTo>
                    <a:pt x="11" y="2"/>
                  </a:lnTo>
                  <a:lnTo>
                    <a:pt x="9" y="2"/>
                  </a:lnTo>
                  <a:lnTo>
                    <a:pt x="8" y="2"/>
                  </a:lnTo>
                  <a:lnTo>
                    <a:pt x="6" y="4"/>
                  </a:lnTo>
                  <a:lnTo>
                    <a:pt x="4" y="4"/>
                  </a:lnTo>
                  <a:lnTo>
                    <a:pt x="4" y="6"/>
                  </a:lnTo>
                  <a:lnTo>
                    <a:pt x="2" y="8"/>
                  </a:lnTo>
                  <a:lnTo>
                    <a:pt x="2" y="10"/>
                  </a:lnTo>
                  <a:lnTo>
                    <a:pt x="0" y="12"/>
                  </a:lnTo>
                  <a:lnTo>
                    <a:pt x="2" y="14"/>
                  </a:lnTo>
                  <a:lnTo>
                    <a:pt x="2" y="15"/>
                  </a:lnTo>
                  <a:lnTo>
                    <a:pt x="2" y="17"/>
                  </a:lnTo>
                  <a:lnTo>
                    <a:pt x="4" y="19"/>
                  </a:lnTo>
                  <a:lnTo>
                    <a:pt x="4" y="21"/>
                  </a:lnTo>
                  <a:lnTo>
                    <a:pt x="6" y="21"/>
                  </a:lnTo>
                  <a:lnTo>
                    <a:pt x="8" y="23"/>
                  </a:lnTo>
                  <a:lnTo>
                    <a:pt x="9" y="23"/>
                  </a:lnTo>
                  <a:lnTo>
                    <a:pt x="11" y="23"/>
                  </a:lnTo>
                </a:path>
              </a:pathLst>
            </a:custGeom>
            <a:solidFill>
              <a:srgbClr val="000000"/>
            </a:solidFill>
            <a:ln w="9525" cap="rnd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23" name="Line 39"/>
            <p:cNvSpPr>
              <a:spLocks noChangeShapeType="1"/>
            </p:cNvSpPr>
            <p:nvPr/>
          </p:nvSpPr>
          <p:spPr bwMode="auto">
            <a:xfrm>
              <a:off x="2744" y="2413"/>
              <a:ext cx="2" cy="81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24" name="Freeform 40"/>
            <p:cNvSpPr>
              <a:spLocks/>
            </p:cNvSpPr>
            <p:nvPr/>
          </p:nvSpPr>
          <p:spPr bwMode="auto">
            <a:xfrm>
              <a:off x="2735" y="2917"/>
              <a:ext cx="24" cy="24"/>
            </a:xfrm>
            <a:custGeom>
              <a:avLst/>
              <a:gdLst>
                <a:gd name="T0" fmla="*/ 9 w 24"/>
                <a:gd name="T1" fmla="*/ 23 h 24"/>
                <a:gd name="T2" fmla="*/ 13 w 24"/>
                <a:gd name="T3" fmla="*/ 23 h 24"/>
                <a:gd name="T4" fmla="*/ 15 w 24"/>
                <a:gd name="T5" fmla="*/ 23 h 24"/>
                <a:gd name="T6" fmla="*/ 15 w 24"/>
                <a:gd name="T7" fmla="*/ 21 h 24"/>
                <a:gd name="T8" fmla="*/ 17 w 24"/>
                <a:gd name="T9" fmla="*/ 21 h 24"/>
                <a:gd name="T10" fmla="*/ 19 w 24"/>
                <a:gd name="T11" fmla="*/ 19 h 24"/>
                <a:gd name="T12" fmla="*/ 21 w 24"/>
                <a:gd name="T13" fmla="*/ 19 h 24"/>
                <a:gd name="T14" fmla="*/ 21 w 24"/>
                <a:gd name="T15" fmla="*/ 17 h 24"/>
                <a:gd name="T16" fmla="*/ 21 w 24"/>
                <a:gd name="T17" fmla="*/ 15 h 24"/>
                <a:gd name="T18" fmla="*/ 23 w 24"/>
                <a:gd name="T19" fmla="*/ 13 h 24"/>
                <a:gd name="T20" fmla="*/ 23 w 24"/>
                <a:gd name="T21" fmla="*/ 12 h 24"/>
                <a:gd name="T22" fmla="*/ 23 w 24"/>
                <a:gd name="T23" fmla="*/ 10 h 24"/>
                <a:gd name="T24" fmla="*/ 21 w 24"/>
                <a:gd name="T25" fmla="*/ 8 h 24"/>
                <a:gd name="T26" fmla="*/ 21 w 24"/>
                <a:gd name="T27" fmla="*/ 6 h 24"/>
                <a:gd name="T28" fmla="*/ 21 w 24"/>
                <a:gd name="T29" fmla="*/ 6 h 24"/>
                <a:gd name="T30" fmla="*/ 19 w 24"/>
                <a:gd name="T31" fmla="*/ 4 h 24"/>
                <a:gd name="T32" fmla="*/ 17 w 24"/>
                <a:gd name="T33" fmla="*/ 2 h 24"/>
                <a:gd name="T34" fmla="*/ 15 w 24"/>
                <a:gd name="T35" fmla="*/ 2 h 24"/>
                <a:gd name="T36" fmla="*/ 15 w 24"/>
                <a:gd name="T37" fmla="*/ 0 h 24"/>
                <a:gd name="T38" fmla="*/ 13 w 24"/>
                <a:gd name="T39" fmla="*/ 0 h 24"/>
                <a:gd name="T40" fmla="*/ 11 w 24"/>
                <a:gd name="T41" fmla="*/ 0 h 24"/>
                <a:gd name="T42" fmla="*/ 9 w 24"/>
                <a:gd name="T43" fmla="*/ 0 h 24"/>
                <a:gd name="T44" fmla="*/ 7 w 24"/>
                <a:gd name="T45" fmla="*/ 0 h 24"/>
                <a:gd name="T46" fmla="*/ 5 w 24"/>
                <a:gd name="T47" fmla="*/ 2 h 24"/>
                <a:gd name="T48" fmla="*/ 3 w 24"/>
                <a:gd name="T49" fmla="*/ 2 h 24"/>
                <a:gd name="T50" fmla="*/ 2 w 24"/>
                <a:gd name="T51" fmla="*/ 4 h 24"/>
                <a:gd name="T52" fmla="*/ 2 w 24"/>
                <a:gd name="T53" fmla="*/ 6 h 24"/>
                <a:gd name="T54" fmla="*/ 0 w 24"/>
                <a:gd name="T55" fmla="*/ 6 h 24"/>
                <a:gd name="T56" fmla="*/ 0 w 24"/>
                <a:gd name="T57" fmla="*/ 8 h 24"/>
                <a:gd name="T58" fmla="*/ 0 w 24"/>
                <a:gd name="T59" fmla="*/ 10 h 24"/>
                <a:gd name="T60" fmla="*/ 0 w 24"/>
                <a:gd name="T61" fmla="*/ 12 h 24"/>
                <a:gd name="T62" fmla="*/ 0 w 24"/>
                <a:gd name="T63" fmla="*/ 13 h 24"/>
                <a:gd name="T64" fmla="*/ 0 w 24"/>
                <a:gd name="T65" fmla="*/ 15 h 24"/>
                <a:gd name="T66" fmla="*/ 0 w 24"/>
                <a:gd name="T67" fmla="*/ 17 h 24"/>
                <a:gd name="T68" fmla="*/ 2 w 24"/>
                <a:gd name="T69" fmla="*/ 19 h 24"/>
                <a:gd name="T70" fmla="*/ 2 w 24"/>
                <a:gd name="T71" fmla="*/ 19 h 24"/>
                <a:gd name="T72" fmla="*/ 3 w 24"/>
                <a:gd name="T73" fmla="*/ 21 h 24"/>
                <a:gd name="T74" fmla="*/ 5 w 24"/>
                <a:gd name="T75" fmla="*/ 21 h 24"/>
                <a:gd name="T76" fmla="*/ 7 w 24"/>
                <a:gd name="T77" fmla="*/ 23 h 24"/>
                <a:gd name="T78" fmla="*/ 9 w 24"/>
                <a:gd name="T79" fmla="*/ 23 h 24"/>
                <a:gd name="T80" fmla="*/ 11 w 24"/>
                <a:gd name="T81" fmla="*/ 23 h 24"/>
                <a:gd name="T82" fmla="*/ 11 w 24"/>
                <a:gd name="T83" fmla="*/ 23 h 24"/>
                <a:gd name="T84" fmla="*/ 9 w 24"/>
                <a:gd name="T85" fmla="*/ 23 h 2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4"/>
                <a:gd name="T130" fmla="*/ 0 h 24"/>
                <a:gd name="T131" fmla="*/ 24 w 24"/>
                <a:gd name="T132" fmla="*/ 24 h 24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4" h="24">
                  <a:moveTo>
                    <a:pt x="9" y="23"/>
                  </a:moveTo>
                  <a:lnTo>
                    <a:pt x="13" y="23"/>
                  </a:lnTo>
                  <a:lnTo>
                    <a:pt x="15" y="23"/>
                  </a:lnTo>
                  <a:lnTo>
                    <a:pt x="15" y="21"/>
                  </a:lnTo>
                  <a:lnTo>
                    <a:pt x="17" y="21"/>
                  </a:lnTo>
                  <a:lnTo>
                    <a:pt x="19" y="19"/>
                  </a:lnTo>
                  <a:lnTo>
                    <a:pt x="21" y="19"/>
                  </a:lnTo>
                  <a:lnTo>
                    <a:pt x="21" y="17"/>
                  </a:lnTo>
                  <a:lnTo>
                    <a:pt x="21" y="15"/>
                  </a:lnTo>
                  <a:lnTo>
                    <a:pt x="23" y="13"/>
                  </a:lnTo>
                  <a:lnTo>
                    <a:pt x="23" y="12"/>
                  </a:lnTo>
                  <a:lnTo>
                    <a:pt x="23" y="10"/>
                  </a:lnTo>
                  <a:lnTo>
                    <a:pt x="21" y="8"/>
                  </a:lnTo>
                  <a:lnTo>
                    <a:pt x="21" y="6"/>
                  </a:lnTo>
                  <a:lnTo>
                    <a:pt x="19" y="4"/>
                  </a:lnTo>
                  <a:lnTo>
                    <a:pt x="17" y="2"/>
                  </a:lnTo>
                  <a:lnTo>
                    <a:pt x="15" y="2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1" y="0"/>
                  </a:lnTo>
                  <a:lnTo>
                    <a:pt x="9" y="0"/>
                  </a:lnTo>
                  <a:lnTo>
                    <a:pt x="7" y="0"/>
                  </a:lnTo>
                  <a:lnTo>
                    <a:pt x="5" y="2"/>
                  </a:lnTo>
                  <a:lnTo>
                    <a:pt x="3" y="2"/>
                  </a:lnTo>
                  <a:lnTo>
                    <a:pt x="2" y="4"/>
                  </a:lnTo>
                  <a:lnTo>
                    <a:pt x="2" y="6"/>
                  </a:lnTo>
                  <a:lnTo>
                    <a:pt x="0" y="6"/>
                  </a:lnTo>
                  <a:lnTo>
                    <a:pt x="0" y="8"/>
                  </a:lnTo>
                  <a:lnTo>
                    <a:pt x="0" y="10"/>
                  </a:lnTo>
                  <a:lnTo>
                    <a:pt x="0" y="12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0" y="17"/>
                  </a:lnTo>
                  <a:lnTo>
                    <a:pt x="2" y="19"/>
                  </a:lnTo>
                  <a:lnTo>
                    <a:pt x="3" y="21"/>
                  </a:lnTo>
                  <a:lnTo>
                    <a:pt x="5" y="21"/>
                  </a:lnTo>
                  <a:lnTo>
                    <a:pt x="7" y="23"/>
                  </a:lnTo>
                  <a:lnTo>
                    <a:pt x="9" y="23"/>
                  </a:lnTo>
                  <a:lnTo>
                    <a:pt x="11" y="23"/>
                  </a:lnTo>
                  <a:lnTo>
                    <a:pt x="9" y="23"/>
                  </a:lnTo>
                </a:path>
              </a:pathLst>
            </a:custGeom>
            <a:solidFill>
              <a:srgbClr val="000000"/>
            </a:solidFill>
            <a:ln w="9525" cap="rnd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25" name="Freeform 41"/>
            <p:cNvSpPr>
              <a:spLocks/>
            </p:cNvSpPr>
            <p:nvPr/>
          </p:nvSpPr>
          <p:spPr bwMode="auto">
            <a:xfrm>
              <a:off x="2735" y="3214"/>
              <a:ext cx="24" cy="24"/>
            </a:xfrm>
            <a:custGeom>
              <a:avLst/>
              <a:gdLst>
                <a:gd name="T0" fmla="*/ 9 w 24"/>
                <a:gd name="T1" fmla="*/ 23 h 24"/>
                <a:gd name="T2" fmla="*/ 13 w 24"/>
                <a:gd name="T3" fmla="*/ 23 h 24"/>
                <a:gd name="T4" fmla="*/ 15 w 24"/>
                <a:gd name="T5" fmla="*/ 23 h 24"/>
                <a:gd name="T6" fmla="*/ 15 w 24"/>
                <a:gd name="T7" fmla="*/ 23 h 24"/>
                <a:gd name="T8" fmla="*/ 17 w 24"/>
                <a:gd name="T9" fmla="*/ 21 h 24"/>
                <a:gd name="T10" fmla="*/ 19 w 24"/>
                <a:gd name="T11" fmla="*/ 19 h 24"/>
                <a:gd name="T12" fmla="*/ 19 w 24"/>
                <a:gd name="T13" fmla="*/ 19 h 24"/>
                <a:gd name="T14" fmla="*/ 21 w 24"/>
                <a:gd name="T15" fmla="*/ 17 h 24"/>
                <a:gd name="T16" fmla="*/ 21 w 24"/>
                <a:gd name="T17" fmla="*/ 15 h 24"/>
                <a:gd name="T18" fmla="*/ 23 w 24"/>
                <a:gd name="T19" fmla="*/ 13 h 24"/>
                <a:gd name="T20" fmla="*/ 23 w 24"/>
                <a:gd name="T21" fmla="*/ 11 h 24"/>
                <a:gd name="T22" fmla="*/ 23 w 24"/>
                <a:gd name="T23" fmla="*/ 10 h 24"/>
                <a:gd name="T24" fmla="*/ 21 w 24"/>
                <a:gd name="T25" fmla="*/ 8 h 24"/>
                <a:gd name="T26" fmla="*/ 21 w 24"/>
                <a:gd name="T27" fmla="*/ 6 h 24"/>
                <a:gd name="T28" fmla="*/ 19 w 24"/>
                <a:gd name="T29" fmla="*/ 6 h 24"/>
                <a:gd name="T30" fmla="*/ 19 w 24"/>
                <a:gd name="T31" fmla="*/ 4 h 24"/>
                <a:gd name="T32" fmla="*/ 17 w 24"/>
                <a:gd name="T33" fmla="*/ 2 h 24"/>
                <a:gd name="T34" fmla="*/ 15 w 24"/>
                <a:gd name="T35" fmla="*/ 2 h 24"/>
                <a:gd name="T36" fmla="*/ 15 w 24"/>
                <a:gd name="T37" fmla="*/ 0 h 24"/>
                <a:gd name="T38" fmla="*/ 13 w 24"/>
                <a:gd name="T39" fmla="*/ 0 h 24"/>
                <a:gd name="T40" fmla="*/ 11 w 24"/>
                <a:gd name="T41" fmla="*/ 0 h 24"/>
                <a:gd name="T42" fmla="*/ 9 w 24"/>
                <a:gd name="T43" fmla="*/ 0 h 24"/>
                <a:gd name="T44" fmla="*/ 7 w 24"/>
                <a:gd name="T45" fmla="*/ 0 h 24"/>
                <a:gd name="T46" fmla="*/ 5 w 24"/>
                <a:gd name="T47" fmla="*/ 2 h 24"/>
                <a:gd name="T48" fmla="*/ 3 w 24"/>
                <a:gd name="T49" fmla="*/ 2 h 24"/>
                <a:gd name="T50" fmla="*/ 2 w 24"/>
                <a:gd name="T51" fmla="*/ 4 h 24"/>
                <a:gd name="T52" fmla="*/ 2 w 24"/>
                <a:gd name="T53" fmla="*/ 6 h 24"/>
                <a:gd name="T54" fmla="*/ 0 w 24"/>
                <a:gd name="T55" fmla="*/ 6 h 24"/>
                <a:gd name="T56" fmla="*/ 0 w 24"/>
                <a:gd name="T57" fmla="*/ 8 h 24"/>
                <a:gd name="T58" fmla="*/ 0 w 24"/>
                <a:gd name="T59" fmla="*/ 10 h 24"/>
                <a:gd name="T60" fmla="*/ 0 w 24"/>
                <a:gd name="T61" fmla="*/ 11 h 24"/>
                <a:gd name="T62" fmla="*/ 0 w 24"/>
                <a:gd name="T63" fmla="*/ 13 h 24"/>
                <a:gd name="T64" fmla="*/ 0 w 24"/>
                <a:gd name="T65" fmla="*/ 15 h 24"/>
                <a:gd name="T66" fmla="*/ 0 w 24"/>
                <a:gd name="T67" fmla="*/ 17 h 24"/>
                <a:gd name="T68" fmla="*/ 2 w 24"/>
                <a:gd name="T69" fmla="*/ 19 h 24"/>
                <a:gd name="T70" fmla="*/ 2 w 24"/>
                <a:gd name="T71" fmla="*/ 19 h 24"/>
                <a:gd name="T72" fmla="*/ 3 w 24"/>
                <a:gd name="T73" fmla="*/ 21 h 24"/>
                <a:gd name="T74" fmla="*/ 5 w 24"/>
                <a:gd name="T75" fmla="*/ 23 h 24"/>
                <a:gd name="T76" fmla="*/ 7 w 24"/>
                <a:gd name="T77" fmla="*/ 23 h 24"/>
                <a:gd name="T78" fmla="*/ 9 w 24"/>
                <a:gd name="T79" fmla="*/ 23 h 24"/>
                <a:gd name="T80" fmla="*/ 11 w 24"/>
                <a:gd name="T81" fmla="*/ 23 h 24"/>
                <a:gd name="T82" fmla="*/ 11 w 24"/>
                <a:gd name="T83" fmla="*/ 23 h 24"/>
                <a:gd name="T84" fmla="*/ 9 w 24"/>
                <a:gd name="T85" fmla="*/ 23 h 2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4"/>
                <a:gd name="T130" fmla="*/ 0 h 24"/>
                <a:gd name="T131" fmla="*/ 24 w 24"/>
                <a:gd name="T132" fmla="*/ 24 h 24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4" h="24">
                  <a:moveTo>
                    <a:pt x="9" y="23"/>
                  </a:moveTo>
                  <a:lnTo>
                    <a:pt x="13" y="23"/>
                  </a:lnTo>
                  <a:lnTo>
                    <a:pt x="15" y="23"/>
                  </a:lnTo>
                  <a:lnTo>
                    <a:pt x="17" y="21"/>
                  </a:lnTo>
                  <a:lnTo>
                    <a:pt x="19" y="19"/>
                  </a:lnTo>
                  <a:lnTo>
                    <a:pt x="21" y="17"/>
                  </a:lnTo>
                  <a:lnTo>
                    <a:pt x="21" y="15"/>
                  </a:lnTo>
                  <a:lnTo>
                    <a:pt x="23" y="13"/>
                  </a:lnTo>
                  <a:lnTo>
                    <a:pt x="23" y="11"/>
                  </a:lnTo>
                  <a:lnTo>
                    <a:pt x="23" y="10"/>
                  </a:lnTo>
                  <a:lnTo>
                    <a:pt x="21" y="8"/>
                  </a:lnTo>
                  <a:lnTo>
                    <a:pt x="21" y="6"/>
                  </a:lnTo>
                  <a:lnTo>
                    <a:pt x="19" y="6"/>
                  </a:lnTo>
                  <a:lnTo>
                    <a:pt x="19" y="4"/>
                  </a:lnTo>
                  <a:lnTo>
                    <a:pt x="17" y="2"/>
                  </a:lnTo>
                  <a:lnTo>
                    <a:pt x="15" y="2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1" y="0"/>
                  </a:lnTo>
                  <a:lnTo>
                    <a:pt x="9" y="0"/>
                  </a:lnTo>
                  <a:lnTo>
                    <a:pt x="7" y="0"/>
                  </a:lnTo>
                  <a:lnTo>
                    <a:pt x="5" y="2"/>
                  </a:lnTo>
                  <a:lnTo>
                    <a:pt x="3" y="2"/>
                  </a:lnTo>
                  <a:lnTo>
                    <a:pt x="2" y="4"/>
                  </a:lnTo>
                  <a:lnTo>
                    <a:pt x="2" y="6"/>
                  </a:lnTo>
                  <a:lnTo>
                    <a:pt x="0" y="6"/>
                  </a:lnTo>
                  <a:lnTo>
                    <a:pt x="0" y="8"/>
                  </a:lnTo>
                  <a:lnTo>
                    <a:pt x="0" y="10"/>
                  </a:lnTo>
                  <a:lnTo>
                    <a:pt x="0" y="11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0" y="17"/>
                  </a:lnTo>
                  <a:lnTo>
                    <a:pt x="2" y="19"/>
                  </a:lnTo>
                  <a:lnTo>
                    <a:pt x="3" y="21"/>
                  </a:lnTo>
                  <a:lnTo>
                    <a:pt x="5" y="23"/>
                  </a:lnTo>
                  <a:lnTo>
                    <a:pt x="7" y="23"/>
                  </a:lnTo>
                  <a:lnTo>
                    <a:pt x="9" y="23"/>
                  </a:lnTo>
                  <a:lnTo>
                    <a:pt x="11" y="23"/>
                  </a:lnTo>
                  <a:lnTo>
                    <a:pt x="9" y="23"/>
                  </a:lnTo>
                </a:path>
              </a:pathLst>
            </a:custGeom>
            <a:solidFill>
              <a:srgbClr val="000000"/>
            </a:solidFill>
            <a:ln w="9525" cap="rnd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26" name="Line 42"/>
            <p:cNvSpPr>
              <a:spLocks noChangeShapeType="1"/>
            </p:cNvSpPr>
            <p:nvPr/>
          </p:nvSpPr>
          <p:spPr bwMode="auto">
            <a:xfrm flipH="1" flipV="1">
              <a:off x="2784" y="3197"/>
              <a:ext cx="35" cy="5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27" name="Rectangle 43"/>
            <p:cNvSpPr>
              <a:spLocks noChangeArrowheads="1"/>
            </p:cNvSpPr>
            <p:nvPr/>
          </p:nvSpPr>
          <p:spPr bwMode="auto">
            <a:xfrm>
              <a:off x="2737" y="3118"/>
              <a:ext cx="124" cy="1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sz="600">
                  <a:solidFill>
                    <a:srgbClr val="000000"/>
                  </a:solidFill>
                  <a:latin typeface="+mj-lt"/>
                </a:rPr>
                <a:t>6</a:t>
              </a:r>
            </a:p>
          </p:txBody>
        </p:sp>
        <p:sp>
          <p:nvSpPr>
            <p:cNvPr id="54328" name="Line 44"/>
            <p:cNvSpPr>
              <a:spLocks noChangeShapeType="1"/>
            </p:cNvSpPr>
            <p:nvPr/>
          </p:nvSpPr>
          <p:spPr bwMode="auto">
            <a:xfrm flipH="1" flipV="1">
              <a:off x="2532" y="2527"/>
              <a:ext cx="440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29" name="Freeform 45"/>
            <p:cNvSpPr>
              <a:spLocks/>
            </p:cNvSpPr>
            <p:nvPr/>
          </p:nvSpPr>
          <p:spPr bwMode="auto">
            <a:xfrm>
              <a:off x="2692" y="2722"/>
              <a:ext cx="890" cy="284"/>
            </a:xfrm>
            <a:custGeom>
              <a:avLst/>
              <a:gdLst>
                <a:gd name="T0" fmla="*/ 889 w 935"/>
                <a:gd name="T1" fmla="*/ 283 h 284"/>
                <a:gd name="T2" fmla="*/ 0 w 935"/>
                <a:gd name="T3" fmla="*/ 283 h 284"/>
                <a:gd name="T4" fmla="*/ 0 w 935"/>
                <a:gd name="T5" fmla="*/ 0 h 284"/>
                <a:gd name="T6" fmla="*/ 0 60000 65536"/>
                <a:gd name="T7" fmla="*/ 0 60000 65536"/>
                <a:gd name="T8" fmla="*/ 0 60000 65536"/>
                <a:gd name="T9" fmla="*/ 0 w 935"/>
                <a:gd name="T10" fmla="*/ 0 h 284"/>
                <a:gd name="T11" fmla="*/ 935 w 935"/>
                <a:gd name="T12" fmla="*/ 284 h 28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35" h="284">
                  <a:moveTo>
                    <a:pt x="934" y="283"/>
                  </a:moveTo>
                  <a:lnTo>
                    <a:pt x="0" y="283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triangl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30" name="Freeform 46"/>
            <p:cNvSpPr>
              <a:spLocks/>
            </p:cNvSpPr>
            <p:nvPr/>
          </p:nvSpPr>
          <p:spPr bwMode="auto">
            <a:xfrm>
              <a:off x="3582" y="1917"/>
              <a:ext cx="93" cy="1777"/>
            </a:xfrm>
            <a:custGeom>
              <a:avLst/>
              <a:gdLst>
                <a:gd name="T0" fmla="*/ 90 w 93"/>
                <a:gd name="T1" fmla="*/ 1776 h 1777"/>
                <a:gd name="T2" fmla="*/ 92 w 93"/>
                <a:gd name="T3" fmla="*/ 0 h 1777"/>
                <a:gd name="T4" fmla="*/ 0 w 93"/>
                <a:gd name="T5" fmla="*/ 0 h 1777"/>
                <a:gd name="T6" fmla="*/ 0 w 93"/>
                <a:gd name="T7" fmla="*/ 1776 h 1777"/>
                <a:gd name="T8" fmla="*/ 92 w 93"/>
                <a:gd name="T9" fmla="*/ 1776 h 1777"/>
                <a:gd name="T10" fmla="*/ 92 w 93"/>
                <a:gd name="T11" fmla="*/ 1776 h 177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3"/>
                <a:gd name="T19" fmla="*/ 0 h 1777"/>
                <a:gd name="T20" fmla="*/ 93 w 93"/>
                <a:gd name="T21" fmla="*/ 1777 h 177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3" h="1777">
                  <a:moveTo>
                    <a:pt x="90" y="1776"/>
                  </a:moveTo>
                  <a:lnTo>
                    <a:pt x="92" y="0"/>
                  </a:lnTo>
                  <a:lnTo>
                    <a:pt x="0" y="0"/>
                  </a:lnTo>
                  <a:lnTo>
                    <a:pt x="0" y="1776"/>
                  </a:lnTo>
                  <a:lnTo>
                    <a:pt x="92" y="1776"/>
                  </a:lnTo>
                </a:path>
              </a:pathLst>
            </a:custGeom>
            <a:solidFill>
              <a:srgbClr val="CCECFF"/>
            </a:solidFill>
            <a:ln w="190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31" name="Freeform 47"/>
            <p:cNvSpPr>
              <a:spLocks/>
            </p:cNvSpPr>
            <p:nvPr/>
          </p:nvSpPr>
          <p:spPr bwMode="auto">
            <a:xfrm>
              <a:off x="2899" y="1955"/>
              <a:ext cx="365" cy="422"/>
            </a:xfrm>
            <a:custGeom>
              <a:avLst/>
              <a:gdLst>
                <a:gd name="T0" fmla="*/ 0 w 301"/>
                <a:gd name="T1" fmla="*/ 0 h 422"/>
                <a:gd name="T2" fmla="*/ 0 w 301"/>
                <a:gd name="T3" fmla="*/ 170 h 422"/>
                <a:gd name="T4" fmla="*/ 75 w 301"/>
                <a:gd name="T5" fmla="*/ 210 h 422"/>
                <a:gd name="T6" fmla="*/ 0 w 301"/>
                <a:gd name="T7" fmla="*/ 251 h 422"/>
                <a:gd name="T8" fmla="*/ 0 w 301"/>
                <a:gd name="T9" fmla="*/ 421 h 422"/>
                <a:gd name="T10" fmla="*/ 364 w 301"/>
                <a:gd name="T11" fmla="*/ 285 h 422"/>
                <a:gd name="T12" fmla="*/ 364 w 301"/>
                <a:gd name="T13" fmla="*/ 138 h 422"/>
                <a:gd name="T14" fmla="*/ 0 w 301"/>
                <a:gd name="T15" fmla="*/ 0 h 422"/>
                <a:gd name="T16" fmla="*/ 0 w 301"/>
                <a:gd name="T17" fmla="*/ 0 h 42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01"/>
                <a:gd name="T28" fmla="*/ 0 h 422"/>
                <a:gd name="T29" fmla="*/ 301 w 301"/>
                <a:gd name="T30" fmla="*/ 422 h 422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01" h="422">
                  <a:moveTo>
                    <a:pt x="0" y="0"/>
                  </a:moveTo>
                  <a:lnTo>
                    <a:pt x="0" y="170"/>
                  </a:lnTo>
                  <a:lnTo>
                    <a:pt x="62" y="210"/>
                  </a:lnTo>
                  <a:lnTo>
                    <a:pt x="0" y="251"/>
                  </a:lnTo>
                  <a:lnTo>
                    <a:pt x="0" y="421"/>
                  </a:lnTo>
                  <a:lnTo>
                    <a:pt x="300" y="285"/>
                  </a:lnTo>
                  <a:lnTo>
                    <a:pt x="300" y="138"/>
                  </a:lnTo>
                  <a:lnTo>
                    <a:pt x="0" y="0"/>
                  </a:lnTo>
                </a:path>
              </a:pathLst>
            </a:custGeom>
            <a:solidFill>
              <a:srgbClr val="CCFF99"/>
            </a:solidFill>
            <a:ln w="190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32" name="Freeform 48"/>
            <p:cNvSpPr>
              <a:spLocks/>
            </p:cNvSpPr>
            <p:nvPr/>
          </p:nvSpPr>
          <p:spPr bwMode="auto">
            <a:xfrm>
              <a:off x="2969" y="2461"/>
              <a:ext cx="391" cy="458"/>
            </a:xfrm>
            <a:custGeom>
              <a:avLst/>
              <a:gdLst>
                <a:gd name="T0" fmla="*/ 0 w 300"/>
                <a:gd name="T1" fmla="*/ 0 h 422"/>
                <a:gd name="T2" fmla="*/ 0 w 300"/>
                <a:gd name="T3" fmla="*/ 186 h 422"/>
                <a:gd name="T4" fmla="*/ 80 w 300"/>
                <a:gd name="T5" fmla="*/ 229 h 422"/>
                <a:gd name="T6" fmla="*/ 0 w 300"/>
                <a:gd name="T7" fmla="*/ 272 h 422"/>
                <a:gd name="T8" fmla="*/ 0 w 300"/>
                <a:gd name="T9" fmla="*/ 457 h 422"/>
                <a:gd name="T10" fmla="*/ 390 w 300"/>
                <a:gd name="T11" fmla="*/ 309 h 422"/>
                <a:gd name="T12" fmla="*/ 390 w 300"/>
                <a:gd name="T13" fmla="*/ 148 h 422"/>
                <a:gd name="T14" fmla="*/ 0 w 300"/>
                <a:gd name="T15" fmla="*/ 0 h 422"/>
                <a:gd name="T16" fmla="*/ 0 w 300"/>
                <a:gd name="T17" fmla="*/ 0 h 42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00"/>
                <a:gd name="T28" fmla="*/ 0 h 422"/>
                <a:gd name="T29" fmla="*/ 300 w 300"/>
                <a:gd name="T30" fmla="*/ 422 h 422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00" h="422">
                  <a:moveTo>
                    <a:pt x="0" y="0"/>
                  </a:moveTo>
                  <a:lnTo>
                    <a:pt x="0" y="171"/>
                  </a:lnTo>
                  <a:lnTo>
                    <a:pt x="61" y="211"/>
                  </a:lnTo>
                  <a:lnTo>
                    <a:pt x="0" y="251"/>
                  </a:lnTo>
                  <a:lnTo>
                    <a:pt x="0" y="421"/>
                  </a:lnTo>
                  <a:lnTo>
                    <a:pt x="299" y="285"/>
                  </a:lnTo>
                  <a:lnTo>
                    <a:pt x="299" y="136"/>
                  </a:lnTo>
                  <a:lnTo>
                    <a:pt x="0" y="0"/>
                  </a:lnTo>
                </a:path>
              </a:pathLst>
            </a:custGeom>
            <a:solidFill>
              <a:srgbClr val="CCFF99"/>
            </a:solidFill>
            <a:ln w="190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33" name="Freeform 49"/>
            <p:cNvSpPr>
              <a:spLocks/>
            </p:cNvSpPr>
            <p:nvPr/>
          </p:nvSpPr>
          <p:spPr bwMode="auto">
            <a:xfrm>
              <a:off x="2675" y="2170"/>
              <a:ext cx="151" cy="239"/>
            </a:xfrm>
            <a:custGeom>
              <a:avLst/>
              <a:gdLst>
                <a:gd name="T0" fmla="*/ 73 w 151"/>
                <a:gd name="T1" fmla="*/ 236 h 239"/>
                <a:gd name="T2" fmla="*/ 86 w 151"/>
                <a:gd name="T3" fmla="*/ 236 h 239"/>
                <a:gd name="T4" fmla="*/ 98 w 151"/>
                <a:gd name="T5" fmla="*/ 232 h 239"/>
                <a:gd name="T6" fmla="*/ 109 w 151"/>
                <a:gd name="T7" fmla="*/ 224 h 239"/>
                <a:gd name="T8" fmla="*/ 119 w 151"/>
                <a:gd name="T9" fmla="*/ 215 h 239"/>
                <a:gd name="T10" fmla="*/ 129 w 151"/>
                <a:gd name="T11" fmla="*/ 203 h 239"/>
                <a:gd name="T12" fmla="*/ 134 w 151"/>
                <a:gd name="T13" fmla="*/ 188 h 239"/>
                <a:gd name="T14" fmla="*/ 142 w 151"/>
                <a:gd name="T15" fmla="*/ 172 h 239"/>
                <a:gd name="T16" fmla="*/ 146 w 151"/>
                <a:gd name="T17" fmla="*/ 155 h 239"/>
                <a:gd name="T18" fmla="*/ 150 w 151"/>
                <a:gd name="T19" fmla="*/ 138 h 239"/>
                <a:gd name="T20" fmla="*/ 150 w 151"/>
                <a:gd name="T21" fmla="*/ 119 h 239"/>
                <a:gd name="T22" fmla="*/ 150 w 151"/>
                <a:gd name="T23" fmla="*/ 100 h 239"/>
                <a:gd name="T24" fmla="*/ 146 w 151"/>
                <a:gd name="T25" fmla="*/ 80 h 239"/>
                <a:gd name="T26" fmla="*/ 142 w 151"/>
                <a:gd name="T27" fmla="*/ 63 h 239"/>
                <a:gd name="T28" fmla="*/ 134 w 151"/>
                <a:gd name="T29" fmla="*/ 48 h 239"/>
                <a:gd name="T30" fmla="*/ 129 w 151"/>
                <a:gd name="T31" fmla="*/ 34 h 239"/>
                <a:gd name="T32" fmla="*/ 119 w 151"/>
                <a:gd name="T33" fmla="*/ 23 h 239"/>
                <a:gd name="T34" fmla="*/ 109 w 151"/>
                <a:gd name="T35" fmla="*/ 13 h 239"/>
                <a:gd name="T36" fmla="*/ 98 w 151"/>
                <a:gd name="T37" fmla="*/ 6 h 239"/>
                <a:gd name="T38" fmla="*/ 86 w 151"/>
                <a:gd name="T39" fmla="*/ 0 h 239"/>
                <a:gd name="T40" fmla="*/ 75 w 151"/>
                <a:gd name="T41" fmla="*/ 0 h 239"/>
                <a:gd name="T42" fmla="*/ 62 w 151"/>
                <a:gd name="T43" fmla="*/ 0 h 239"/>
                <a:gd name="T44" fmla="*/ 50 w 151"/>
                <a:gd name="T45" fmla="*/ 6 h 239"/>
                <a:gd name="T46" fmla="*/ 40 w 151"/>
                <a:gd name="T47" fmla="*/ 13 h 239"/>
                <a:gd name="T48" fmla="*/ 31 w 151"/>
                <a:gd name="T49" fmla="*/ 23 h 239"/>
                <a:gd name="T50" fmla="*/ 21 w 151"/>
                <a:gd name="T51" fmla="*/ 34 h 239"/>
                <a:gd name="T52" fmla="*/ 14 w 151"/>
                <a:gd name="T53" fmla="*/ 48 h 239"/>
                <a:gd name="T54" fmla="*/ 8 w 151"/>
                <a:gd name="T55" fmla="*/ 63 h 239"/>
                <a:gd name="T56" fmla="*/ 4 w 151"/>
                <a:gd name="T57" fmla="*/ 80 h 239"/>
                <a:gd name="T58" fmla="*/ 0 w 151"/>
                <a:gd name="T59" fmla="*/ 100 h 239"/>
                <a:gd name="T60" fmla="*/ 0 w 151"/>
                <a:gd name="T61" fmla="*/ 119 h 239"/>
                <a:gd name="T62" fmla="*/ 0 w 151"/>
                <a:gd name="T63" fmla="*/ 138 h 239"/>
                <a:gd name="T64" fmla="*/ 4 w 151"/>
                <a:gd name="T65" fmla="*/ 155 h 239"/>
                <a:gd name="T66" fmla="*/ 8 w 151"/>
                <a:gd name="T67" fmla="*/ 172 h 239"/>
                <a:gd name="T68" fmla="*/ 14 w 151"/>
                <a:gd name="T69" fmla="*/ 188 h 239"/>
                <a:gd name="T70" fmla="*/ 21 w 151"/>
                <a:gd name="T71" fmla="*/ 203 h 239"/>
                <a:gd name="T72" fmla="*/ 31 w 151"/>
                <a:gd name="T73" fmla="*/ 215 h 239"/>
                <a:gd name="T74" fmla="*/ 40 w 151"/>
                <a:gd name="T75" fmla="*/ 224 h 239"/>
                <a:gd name="T76" fmla="*/ 50 w 151"/>
                <a:gd name="T77" fmla="*/ 232 h 239"/>
                <a:gd name="T78" fmla="*/ 62 w 151"/>
                <a:gd name="T79" fmla="*/ 236 h 239"/>
                <a:gd name="T80" fmla="*/ 75 w 151"/>
                <a:gd name="T81" fmla="*/ 238 h 239"/>
                <a:gd name="T82" fmla="*/ 75 w 151"/>
                <a:gd name="T83" fmla="*/ 238 h 239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151"/>
                <a:gd name="T127" fmla="*/ 0 h 239"/>
                <a:gd name="T128" fmla="*/ 151 w 151"/>
                <a:gd name="T129" fmla="*/ 239 h 239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151" h="239">
                  <a:moveTo>
                    <a:pt x="73" y="236"/>
                  </a:moveTo>
                  <a:lnTo>
                    <a:pt x="86" y="236"/>
                  </a:lnTo>
                  <a:lnTo>
                    <a:pt x="98" y="232"/>
                  </a:lnTo>
                  <a:lnTo>
                    <a:pt x="109" y="224"/>
                  </a:lnTo>
                  <a:lnTo>
                    <a:pt x="119" y="215"/>
                  </a:lnTo>
                  <a:lnTo>
                    <a:pt x="129" y="203"/>
                  </a:lnTo>
                  <a:lnTo>
                    <a:pt x="134" y="188"/>
                  </a:lnTo>
                  <a:lnTo>
                    <a:pt x="142" y="172"/>
                  </a:lnTo>
                  <a:lnTo>
                    <a:pt x="146" y="155"/>
                  </a:lnTo>
                  <a:lnTo>
                    <a:pt x="150" y="138"/>
                  </a:lnTo>
                  <a:lnTo>
                    <a:pt x="150" y="119"/>
                  </a:lnTo>
                  <a:lnTo>
                    <a:pt x="150" y="100"/>
                  </a:lnTo>
                  <a:lnTo>
                    <a:pt x="146" y="80"/>
                  </a:lnTo>
                  <a:lnTo>
                    <a:pt x="142" y="63"/>
                  </a:lnTo>
                  <a:lnTo>
                    <a:pt x="134" y="48"/>
                  </a:lnTo>
                  <a:lnTo>
                    <a:pt x="129" y="34"/>
                  </a:lnTo>
                  <a:lnTo>
                    <a:pt x="119" y="23"/>
                  </a:lnTo>
                  <a:lnTo>
                    <a:pt x="109" y="13"/>
                  </a:lnTo>
                  <a:lnTo>
                    <a:pt x="98" y="6"/>
                  </a:lnTo>
                  <a:lnTo>
                    <a:pt x="86" y="0"/>
                  </a:lnTo>
                  <a:lnTo>
                    <a:pt x="75" y="0"/>
                  </a:lnTo>
                  <a:lnTo>
                    <a:pt x="62" y="0"/>
                  </a:lnTo>
                  <a:lnTo>
                    <a:pt x="50" y="6"/>
                  </a:lnTo>
                  <a:lnTo>
                    <a:pt x="40" y="13"/>
                  </a:lnTo>
                  <a:lnTo>
                    <a:pt x="31" y="23"/>
                  </a:lnTo>
                  <a:lnTo>
                    <a:pt x="21" y="34"/>
                  </a:lnTo>
                  <a:lnTo>
                    <a:pt x="14" y="48"/>
                  </a:lnTo>
                  <a:lnTo>
                    <a:pt x="8" y="63"/>
                  </a:lnTo>
                  <a:lnTo>
                    <a:pt x="4" y="80"/>
                  </a:lnTo>
                  <a:lnTo>
                    <a:pt x="0" y="100"/>
                  </a:lnTo>
                  <a:lnTo>
                    <a:pt x="0" y="119"/>
                  </a:lnTo>
                  <a:lnTo>
                    <a:pt x="0" y="138"/>
                  </a:lnTo>
                  <a:lnTo>
                    <a:pt x="4" y="155"/>
                  </a:lnTo>
                  <a:lnTo>
                    <a:pt x="8" y="172"/>
                  </a:lnTo>
                  <a:lnTo>
                    <a:pt x="14" y="188"/>
                  </a:lnTo>
                  <a:lnTo>
                    <a:pt x="21" y="203"/>
                  </a:lnTo>
                  <a:lnTo>
                    <a:pt x="31" y="215"/>
                  </a:lnTo>
                  <a:lnTo>
                    <a:pt x="40" y="224"/>
                  </a:lnTo>
                  <a:lnTo>
                    <a:pt x="50" y="232"/>
                  </a:lnTo>
                  <a:lnTo>
                    <a:pt x="62" y="236"/>
                  </a:lnTo>
                  <a:lnTo>
                    <a:pt x="75" y="238"/>
                  </a:lnTo>
                </a:path>
              </a:pathLst>
            </a:custGeom>
            <a:solidFill>
              <a:srgbClr val="EAEAEA"/>
            </a:solidFill>
            <a:ln w="190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34" name="Rectangle 50"/>
            <p:cNvSpPr>
              <a:spLocks noChangeArrowheads="1"/>
            </p:cNvSpPr>
            <p:nvPr/>
          </p:nvSpPr>
          <p:spPr bwMode="auto">
            <a:xfrm>
              <a:off x="2991" y="2737"/>
              <a:ext cx="138" cy="1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dirty="0">
                  <a:solidFill>
                    <a:srgbClr val="000000"/>
                  </a:solidFill>
                  <a:latin typeface="+mj-lt"/>
                </a:rPr>
                <a:t>ALU</a:t>
              </a:r>
            </a:p>
          </p:txBody>
        </p:sp>
        <p:sp>
          <p:nvSpPr>
            <p:cNvPr id="54335" name="Rectangle 51"/>
            <p:cNvSpPr>
              <a:spLocks noChangeArrowheads="1"/>
            </p:cNvSpPr>
            <p:nvPr/>
          </p:nvSpPr>
          <p:spPr bwMode="auto">
            <a:xfrm>
              <a:off x="3183" y="2697"/>
              <a:ext cx="132" cy="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 dirty="0">
                  <a:solidFill>
                    <a:srgbClr val="000000"/>
                  </a:solidFill>
                  <a:latin typeface="+mj-lt"/>
                </a:rPr>
                <a:t>result</a:t>
              </a:r>
            </a:p>
          </p:txBody>
        </p:sp>
        <p:sp>
          <p:nvSpPr>
            <p:cNvPr id="54336" name="Rectangle 52"/>
            <p:cNvSpPr>
              <a:spLocks noChangeArrowheads="1"/>
            </p:cNvSpPr>
            <p:nvPr/>
          </p:nvSpPr>
          <p:spPr bwMode="auto">
            <a:xfrm>
              <a:off x="3208" y="2604"/>
              <a:ext cx="127" cy="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 dirty="0">
                  <a:solidFill>
                    <a:srgbClr val="000000"/>
                  </a:solidFill>
                  <a:latin typeface="+mj-lt"/>
                </a:rPr>
                <a:t>z</a:t>
              </a:r>
              <a:r>
                <a:rPr lang="en-US" sz="800" dirty="0" smtClean="0">
                  <a:solidFill>
                    <a:srgbClr val="000000"/>
                  </a:solidFill>
                  <a:latin typeface="+mj-lt"/>
                </a:rPr>
                <a:t>ero?</a:t>
              </a:r>
              <a:endParaRPr lang="en-US" sz="500" dirty="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337" name="Rectangle 53"/>
            <p:cNvSpPr>
              <a:spLocks noChangeArrowheads="1"/>
            </p:cNvSpPr>
            <p:nvPr/>
          </p:nvSpPr>
          <p:spPr bwMode="auto">
            <a:xfrm>
              <a:off x="3105" y="2123"/>
              <a:ext cx="132" cy="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 dirty="0" smtClean="0">
                  <a:solidFill>
                    <a:srgbClr val="000000"/>
                  </a:solidFill>
                  <a:latin typeface="+mj-lt"/>
                </a:rPr>
                <a:t>result</a:t>
              </a:r>
              <a:endParaRPr lang="en-US" sz="500" dirty="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338" name="Rectangle 54"/>
            <p:cNvSpPr>
              <a:spLocks noChangeArrowheads="1"/>
            </p:cNvSpPr>
            <p:nvPr/>
          </p:nvSpPr>
          <p:spPr bwMode="auto">
            <a:xfrm>
              <a:off x="2928" y="2191"/>
              <a:ext cx="138" cy="1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dirty="0">
                  <a:solidFill>
                    <a:srgbClr val="000000"/>
                  </a:solidFill>
                  <a:latin typeface="+mj-lt"/>
                </a:rPr>
                <a:t>Add</a:t>
              </a:r>
            </a:p>
          </p:txBody>
        </p:sp>
        <p:sp>
          <p:nvSpPr>
            <p:cNvPr id="54339" name="Rectangle 55"/>
            <p:cNvSpPr>
              <a:spLocks noChangeArrowheads="1"/>
            </p:cNvSpPr>
            <p:nvPr/>
          </p:nvSpPr>
          <p:spPr bwMode="auto">
            <a:xfrm>
              <a:off x="2694" y="2232"/>
              <a:ext cx="90" cy="1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600" dirty="0">
                  <a:solidFill>
                    <a:srgbClr val="000000"/>
                  </a:solidFill>
                  <a:latin typeface="+mj-lt"/>
                </a:rPr>
                <a:t>Shift </a:t>
              </a:r>
            </a:p>
            <a:p>
              <a:r>
                <a:rPr lang="en-US" sz="600" dirty="0">
                  <a:solidFill>
                    <a:srgbClr val="000000"/>
                  </a:solidFill>
                  <a:latin typeface="+mj-lt"/>
                </a:rPr>
                <a:t>left 2</a:t>
              </a:r>
              <a:endParaRPr lang="en-US" sz="500" dirty="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340" name="Line 56"/>
            <p:cNvSpPr>
              <a:spLocks noChangeShapeType="1"/>
            </p:cNvSpPr>
            <p:nvPr/>
          </p:nvSpPr>
          <p:spPr bwMode="auto">
            <a:xfrm flipH="1" flipV="1">
              <a:off x="2907" y="2820"/>
              <a:ext cx="65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41" name="Line 57"/>
            <p:cNvSpPr>
              <a:spLocks noChangeShapeType="1"/>
            </p:cNvSpPr>
            <p:nvPr/>
          </p:nvSpPr>
          <p:spPr bwMode="auto">
            <a:xfrm flipH="1" flipV="1">
              <a:off x="2526" y="2721"/>
              <a:ext cx="290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42" name="Line 58"/>
            <p:cNvSpPr>
              <a:spLocks noChangeShapeType="1"/>
            </p:cNvSpPr>
            <p:nvPr/>
          </p:nvSpPr>
          <p:spPr bwMode="auto">
            <a:xfrm flipH="1" flipV="1">
              <a:off x="2746" y="2925"/>
              <a:ext cx="71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43" name="Line 59"/>
            <p:cNvSpPr>
              <a:spLocks noChangeShapeType="1"/>
            </p:cNvSpPr>
            <p:nvPr/>
          </p:nvSpPr>
          <p:spPr bwMode="auto">
            <a:xfrm flipH="1">
              <a:off x="3268" y="2163"/>
              <a:ext cx="308" cy="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44" name="Line 60"/>
            <p:cNvSpPr>
              <a:spLocks noChangeShapeType="1"/>
            </p:cNvSpPr>
            <p:nvPr/>
          </p:nvSpPr>
          <p:spPr bwMode="auto">
            <a:xfrm flipH="1" flipV="1">
              <a:off x="3355" y="2748"/>
              <a:ext cx="227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45" name="Line 61"/>
            <p:cNvSpPr>
              <a:spLocks noChangeShapeType="1"/>
            </p:cNvSpPr>
            <p:nvPr/>
          </p:nvSpPr>
          <p:spPr bwMode="auto">
            <a:xfrm flipH="1">
              <a:off x="2523" y="3451"/>
              <a:ext cx="254" cy="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46" name="Line 62"/>
            <p:cNvSpPr>
              <a:spLocks noChangeShapeType="1"/>
            </p:cNvSpPr>
            <p:nvPr/>
          </p:nvSpPr>
          <p:spPr bwMode="auto">
            <a:xfrm flipH="1" flipV="1">
              <a:off x="2526" y="3647"/>
              <a:ext cx="254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47" name="Rectangle 63"/>
            <p:cNvSpPr>
              <a:spLocks noChangeArrowheads="1"/>
            </p:cNvSpPr>
            <p:nvPr/>
          </p:nvSpPr>
          <p:spPr bwMode="auto">
            <a:xfrm>
              <a:off x="2914" y="3127"/>
              <a:ext cx="172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n-US" sz="800">
                  <a:solidFill>
                    <a:srgbClr val="EB7500"/>
                  </a:solidFill>
                  <a:latin typeface="+mj-lt"/>
                </a:rPr>
                <a:t>ALU</a:t>
              </a:r>
            </a:p>
            <a:p>
              <a:pPr algn="ctr"/>
              <a:r>
                <a:rPr lang="en-US" sz="800">
                  <a:solidFill>
                    <a:srgbClr val="EB7500"/>
                  </a:solidFill>
                  <a:latin typeface="+mj-lt"/>
                </a:rPr>
                <a:t>Control</a:t>
              </a:r>
              <a:endParaRPr lang="en-US" sz="500">
                <a:solidFill>
                  <a:srgbClr val="EB7500"/>
                </a:solidFill>
                <a:latin typeface="+mj-lt"/>
              </a:endParaRPr>
            </a:p>
          </p:txBody>
        </p:sp>
        <p:sp>
          <p:nvSpPr>
            <p:cNvPr id="54350" name="Line 66"/>
            <p:cNvSpPr>
              <a:spLocks noChangeShapeType="1"/>
            </p:cNvSpPr>
            <p:nvPr/>
          </p:nvSpPr>
          <p:spPr bwMode="auto">
            <a:xfrm flipH="1">
              <a:off x="2875" y="3555"/>
              <a:ext cx="702" cy="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51" name="Line 67"/>
            <p:cNvSpPr>
              <a:spLocks noChangeShapeType="1"/>
            </p:cNvSpPr>
            <p:nvPr/>
          </p:nvSpPr>
          <p:spPr bwMode="auto">
            <a:xfrm flipH="1" flipV="1">
              <a:off x="2826" y="2286"/>
              <a:ext cx="71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53" name="Rectangle 69"/>
            <p:cNvSpPr>
              <a:spLocks noChangeArrowheads="1"/>
            </p:cNvSpPr>
            <p:nvPr/>
          </p:nvSpPr>
          <p:spPr bwMode="auto">
            <a:xfrm>
              <a:off x="1824" y="2374"/>
              <a:ext cx="117" cy="1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800" dirty="0">
                  <a:solidFill>
                    <a:srgbClr val="000000"/>
                  </a:solidFill>
                  <a:latin typeface="+mj-lt"/>
                </a:rPr>
                <a:t>Read</a:t>
              </a:r>
            </a:p>
            <a:p>
              <a:pPr>
                <a:lnSpc>
                  <a:spcPct val="90000"/>
                </a:lnSpc>
              </a:pPr>
              <a:r>
                <a:rPr lang="en-US" sz="800" dirty="0" err="1">
                  <a:solidFill>
                    <a:srgbClr val="000000"/>
                  </a:solidFill>
                  <a:latin typeface="+mj-lt"/>
                </a:rPr>
                <a:t>reg</a:t>
              </a:r>
              <a:r>
                <a:rPr lang="en-US" sz="800" dirty="0">
                  <a:solidFill>
                    <a:srgbClr val="000000"/>
                  </a:solidFill>
                  <a:latin typeface="+mj-lt"/>
                </a:rPr>
                <a:t> 1</a:t>
              </a:r>
              <a:endParaRPr lang="en-US" sz="600" dirty="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354" name="Rectangle 70"/>
            <p:cNvSpPr>
              <a:spLocks noChangeArrowheads="1"/>
            </p:cNvSpPr>
            <p:nvPr/>
          </p:nvSpPr>
          <p:spPr bwMode="auto">
            <a:xfrm>
              <a:off x="1823" y="2524"/>
              <a:ext cx="117" cy="1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800" dirty="0">
                  <a:solidFill>
                    <a:srgbClr val="000000"/>
                  </a:solidFill>
                  <a:latin typeface="+mj-lt"/>
                </a:rPr>
                <a:t>Read</a:t>
              </a:r>
            </a:p>
            <a:p>
              <a:pPr>
                <a:lnSpc>
                  <a:spcPct val="90000"/>
                </a:lnSpc>
              </a:pPr>
              <a:r>
                <a:rPr lang="en-US" sz="800" dirty="0" err="1">
                  <a:solidFill>
                    <a:srgbClr val="000000"/>
                  </a:solidFill>
                  <a:latin typeface="+mj-lt"/>
                </a:rPr>
                <a:t>reg</a:t>
              </a:r>
              <a:r>
                <a:rPr lang="en-US" sz="800" dirty="0">
                  <a:solidFill>
                    <a:srgbClr val="000000"/>
                  </a:solidFill>
                  <a:latin typeface="+mj-lt"/>
                </a:rPr>
                <a:t> 2</a:t>
              </a:r>
              <a:endParaRPr lang="en-US" sz="600" dirty="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355" name="Rectangle 71"/>
            <p:cNvSpPr>
              <a:spLocks noChangeArrowheads="1"/>
            </p:cNvSpPr>
            <p:nvPr/>
          </p:nvSpPr>
          <p:spPr bwMode="auto">
            <a:xfrm>
              <a:off x="1830" y="2683"/>
              <a:ext cx="130" cy="1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800" dirty="0">
                  <a:solidFill>
                    <a:srgbClr val="000000"/>
                  </a:solidFill>
                  <a:latin typeface="+mj-lt"/>
                </a:rPr>
                <a:t>Write</a:t>
              </a:r>
            </a:p>
            <a:p>
              <a:pPr>
                <a:lnSpc>
                  <a:spcPct val="90000"/>
                </a:lnSpc>
              </a:pPr>
              <a:r>
                <a:rPr lang="en-US" sz="800" dirty="0" err="1">
                  <a:solidFill>
                    <a:srgbClr val="000000"/>
                  </a:solidFill>
                  <a:latin typeface="+mj-lt"/>
                </a:rPr>
                <a:t>reg</a:t>
              </a:r>
              <a:endParaRPr lang="en-US" sz="700" dirty="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356" name="Rectangle 72"/>
            <p:cNvSpPr>
              <a:spLocks noChangeArrowheads="1"/>
            </p:cNvSpPr>
            <p:nvPr/>
          </p:nvSpPr>
          <p:spPr bwMode="auto">
            <a:xfrm>
              <a:off x="1833" y="2836"/>
              <a:ext cx="130" cy="1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800" dirty="0">
                  <a:solidFill>
                    <a:srgbClr val="000000"/>
                  </a:solidFill>
                  <a:latin typeface="+mj-lt"/>
                </a:rPr>
                <a:t>Write</a:t>
              </a:r>
            </a:p>
            <a:p>
              <a:pPr>
                <a:lnSpc>
                  <a:spcPct val="90000"/>
                </a:lnSpc>
              </a:pPr>
              <a:r>
                <a:rPr lang="en-US" sz="800" dirty="0">
                  <a:solidFill>
                    <a:srgbClr val="000000"/>
                  </a:solidFill>
                  <a:latin typeface="+mj-lt"/>
                </a:rPr>
                <a:t>data</a:t>
              </a:r>
            </a:p>
          </p:txBody>
        </p:sp>
        <p:sp>
          <p:nvSpPr>
            <p:cNvPr id="54357" name="Rectangle 73"/>
            <p:cNvSpPr>
              <a:spLocks noChangeArrowheads="1"/>
            </p:cNvSpPr>
            <p:nvPr/>
          </p:nvSpPr>
          <p:spPr bwMode="auto">
            <a:xfrm>
              <a:off x="2139" y="2470"/>
              <a:ext cx="145" cy="1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800" dirty="0">
                  <a:solidFill>
                    <a:srgbClr val="000000"/>
                  </a:solidFill>
                  <a:latin typeface="+mj-lt"/>
                </a:rPr>
                <a:t>Read</a:t>
              </a:r>
            </a:p>
            <a:p>
              <a:pPr>
                <a:lnSpc>
                  <a:spcPct val="90000"/>
                </a:lnSpc>
              </a:pPr>
              <a:r>
                <a:rPr lang="en-US" sz="800" dirty="0">
                  <a:solidFill>
                    <a:srgbClr val="000000"/>
                  </a:solidFill>
                  <a:latin typeface="+mj-lt"/>
                </a:rPr>
                <a:t>data 1</a:t>
              </a:r>
              <a:endParaRPr lang="en-US" sz="500" dirty="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358" name="Rectangle 74"/>
            <p:cNvSpPr>
              <a:spLocks noChangeArrowheads="1"/>
            </p:cNvSpPr>
            <p:nvPr/>
          </p:nvSpPr>
          <p:spPr bwMode="auto">
            <a:xfrm>
              <a:off x="2145" y="2657"/>
              <a:ext cx="145" cy="1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800" dirty="0">
                  <a:solidFill>
                    <a:srgbClr val="000000"/>
                  </a:solidFill>
                  <a:latin typeface="+mj-lt"/>
                </a:rPr>
                <a:t>Read</a:t>
              </a:r>
            </a:p>
            <a:p>
              <a:pPr>
                <a:lnSpc>
                  <a:spcPct val="90000"/>
                </a:lnSpc>
              </a:pPr>
              <a:r>
                <a:rPr lang="en-US" sz="800" dirty="0">
                  <a:solidFill>
                    <a:srgbClr val="000000"/>
                  </a:solidFill>
                  <a:latin typeface="+mj-lt"/>
                </a:rPr>
                <a:t>data 2</a:t>
              </a:r>
              <a:endParaRPr lang="en-US" sz="600" dirty="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359" name="Rectangle 75"/>
            <p:cNvSpPr>
              <a:spLocks noChangeArrowheads="1"/>
            </p:cNvSpPr>
            <p:nvPr/>
          </p:nvSpPr>
          <p:spPr bwMode="auto">
            <a:xfrm rot="16200000">
              <a:off x="1828" y="2603"/>
              <a:ext cx="442" cy="1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>
                  <a:solidFill>
                    <a:srgbClr val="000000"/>
                  </a:solidFill>
                  <a:latin typeface="+mj-lt"/>
                </a:rPr>
                <a:t>Register File</a:t>
              </a:r>
            </a:p>
          </p:txBody>
        </p:sp>
        <p:sp>
          <p:nvSpPr>
            <p:cNvPr id="54360" name="Rectangle 76"/>
            <p:cNvSpPr>
              <a:spLocks noChangeArrowheads="1"/>
            </p:cNvSpPr>
            <p:nvPr/>
          </p:nvSpPr>
          <p:spPr bwMode="auto">
            <a:xfrm>
              <a:off x="1743" y="3137"/>
              <a:ext cx="154" cy="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900">
                  <a:solidFill>
                    <a:srgbClr val="000000"/>
                  </a:solidFill>
                  <a:latin typeface="+mj-lt"/>
                </a:rPr>
                <a:t>[15-0]</a:t>
              </a:r>
              <a:endParaRPr lang="en-US" sz="5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361" name="Rectangle 77"/>
            <p:cNvSpPr>
              <a:spLocks noChangeArrowheads="1"/>
            </p:cNvSpPr>
            <p:nvPr/>
          </p:nvSpPr>
          <p:spPr bwMode="auto">
            <a:xfrm>
              <a:off x="1740" y="3358"/>
              <a:ext cx="186" cy="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900">
                  <a:solidFill>
                    <a:srgbClr val="000000"/>
                  </a:solidFill>
                  <a:latin typeface="+mj-lt"/>
                </a:rPr>
                <a:t>[20-16]</a:t>
              </a:r>
            </a:p>
          </p:txBody>
        </p:sp>
        <p:sp>
          <p:nvSpPr>
            <p:cNvPr id="54362" name="Rectangle 78"/>
            <p:cNvSpPr>
              <a:spLocks noChangeArrowheads="1"/>
            </p:cNvSpPr>
            <p:nvPr/>
          </p:nvSpPr>
          <p:spPr bwMode="auto">
            <a:xfrm>
              <a:off x="1743" y="3550"/>
              <a:ext cx="186" cy="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900">
                  <a:solidFill>
                    <a:srgbClr val="000000"/>
                  </a:solidFill>
                  <a:latin typeface="+mj-lt"/>
                </a:rPr>
                <a:t>[15-11]</a:t>
              </a:r>
            </a:p>
          </p:txBody>
        </p:sp>
        <p:sp>
          <p:nvSpPr>
            <p:cNvPr id="54363" name="Freeform 79"/>
            <p:cNvSpPr>
              <a:spLocks/>
            </p:cNvSpPr>
            <p:nvPr/>
          </p:nvSpPr>
          <p:spPr bwMode="auto">
            <a:xfrm>
              <a:off x="1629" y="3213"/>
              <a:ext cx="24" cy="24"/>
            </a:xfrm>
            <a:custGeom>
              <a:avLst/>
              <a:gdLst>
                <a:gd name="T0" fmla="*/ 10 w 24"/>
                <a:gd name="T1" fmla="*/ 23 h 24"/>
                <a:gd name="T2" fmla="*/ 14 w 24"/>
                <a:gd name="T3" fmla="*/ 23 h 24"/>
                <a:gd name="T4" fmla="*/ 16 w 24"/>
                <a:gd name="T5" fmla="*/ 23 h 24"/>
                <a:gd name="T6" fmla="*/ 16 w 24"/>
                <a:gd name="T7" fmla="*/ 21 h 24"/>
                <a:gd name="T8" fmla="*/ 18 w 24"/>
                <a:gd name="T9" fmla="*/ 21 h 24"/>
                <a:gd name="T10" fmla="*/ 20 w 24"/>
                <a:gd name="T11" fmla="*/ 19 h 24"/>
                <a:gd name="T12" fmla="*/ 22 w 24"/>
                <a:gd name="T13" fmla="*/ 18 h 24"/>
                <a:gd name="T14" fmla="*/ 22 w 24"/>
                <a:gd name="T15" fmla="*/ 18 h 24"/>
                <a:gd name="T16" fmla="*/ 22 w 24"/>
                <a:gd name="T17" fmla="*/ 16 h 24"/>
                <a:gd name="T18" fmla="*/ 23 w 24"/>
                <a:gd name="T19" fmla="*/ 14 h 24"/>
                <a:gd name="T20" fmla="*/ 23 w 24"/>
                <a:gd name="T21" fmla="*/ 12 h 24"/>
                <a:gd name="T22" fmla="*/ 23 w 24"/>
                <a:gd name="T23" fmla="*/ 10 h 24"/>
                <a:gd name="T24" fmla="*/ 22 w 24"/>
                <a:gd name="T25" fmla="*/ 8 h 24"/>
                <a:gd name="T26" fmla="*/ 22 w 24"/>
                <a:gd name="T27" fmla="*/ 6 h 24"/>
                <a:gd name="T28" fmla="*/ 22 w 24"/>
                <a:gd name="T29" fmla="*/ 4 h 24"/>
                <a:gd name="T30" fmla="*/ 20 w 24"/>
                <a:gd name="T31" fmla="*/ 4 h 24"/>
                <a:gd name="T32" fmla="*/ 18 w 24"/>
                <a:gd name="T33" fmla="*/ 2 h 24"/>
                <a:gd name="T34" fmla="*/ 16 w 24"/>
                <a:gd name="T35" fmla="*/ 2 h 24"/>
                <a:gd name="T36" fmla="*/ 16 w 24"/>
                <a:gd name="T37" fmla="*/ 0 h 24"/>
                <a:gd name="T38" fmla="*/ 14 w 24"/>
                <a:gd name="T39" fmla="*/ 0 h 24"/>
                <a:gd name="T40" fmla="*/ 12 w 24"/>
                <a:gd name="T41" fmla="*/ 0 h 24"/>
                <a:gd name="T42" fmla="*/ 10 w 24"/>
                <a:gd name="T43" fmla="*/ 0 h 24"/>
                <a:gd name="T44" fmla="*/ 8 w 24"/>
                <a:gd name="T45" fmla="*/ 0 h 24"/>
                <a:gd name="T46" fmla="*/ 6 w 24"/>
                <a:gd name="T47" fmla="*/ 2 h 24"/>
                <a:gd name="T48" fmla="*/ 4 w 24"/>
                <a:gd name="T49" fmla="*/ 2 h 24"/>
                <a:gd name="T50" fmla="*/ 2 w 24"/>
                <a:gd name="T51" fmla="*/ 4 h 24"/>
                <a:gd name="T52" fmla="*/ 2 w 24"/>
                <a:gd name="T53" fmla="*/ 4 h 24"/>
                <a:gd name="T54" fmla="*/ 0 w 24"/>
                <a:gd name="T55" fmla="*/ 6 h 24"/>
                <a:gd name="T56" fmla="*/ 0 w 24"/>
                <a:gd name="T57" fmla="*/ 8 h 24"/>
                <a:gd name="T58" fmla="*/ 0 w 24"/>
                <a:gd name="T59" fmla="*/ 10 h 24"/>
                <a:gd name="T60" fmla="*/ 0 w 24"/>
                <a:gd name="T61" fmla="*/ 12 h 24"/>
                <a:gd name="T62" fmla="*/ 0 w 24"/>
                <a:gd name="T63" fmla="*/ 14 h 24"/>
                <a:gd name="T64" fmla="*/ 0 w 24"/>
                <a:gd name="T65" fmla="*/ 16 h 24"/>
                <a:gd name="T66" fmla="*/ 0 w 24"/>
                <a:gd name="T67" fmla="*/ 18 h 24"/>
                <a:gd name="T68" fmla="*/ 2 w 24"/>
                <a:gd name="T69" fmla="*/ 18 h 24"/>
                <a:gd name="T70" fmla="*/ 2 w 24"/>
                <a:gd name="T71" fmla="*/ 19 h 24"/>
                <a:gd name="T72" fmla="*/ 4 w 24"/>
                <a:gd name="T73" fmla="*/ 21 h 24"/>
                <a:gd name="T74" fmla="*/ 6 w 24"/>
                <a:gd name="T75" fmla="*/ 21 h 24"/>
                <a:gd name="T76" fmla="*/ 8 w 24"/>
                <a:gd name="T77" fmla="*/ 23 h 24"/>
                <a:gd name="T78" fmla="*/ 10 w 24"/>
                <a:gd name="T79" fmla="*/ 23 h 24"/>
                <a:gd name="T80" fmla="*/ 12 w 24"/>
                <a:gd name="T81" fmla="*/ 23 h 24"/>
                <a:gd name="T82" fmla="*/ 12 w 24"/>
                <a:gd name="T83" fmla="*/ 23 h 24"/>
                <a:gd name="T84" fmla="*/ 10 w 24"/>
                <a:gd name="T85" fmla="*/ 23 h 2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4"/>
                <a:gd name="T130" fmla="*/ 0 h 24"/>
                <a:gd name="T131" fmla="*/ 24 w 24"/>
                <a:gd name="T132" fmla="*/ 24 h 24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4" h="24">
                  <a:moveTo>
                    <a:pt x="10" y="23"/>
                  </a:moveTo>
                  <a:lnTo>
                    <a:pt x="14" y="23"/>
                  </a:lnTo>
                  <a:lnTo>
                    <a:pt x="16" y="23"/>
                  </a:lnTo>
                  <a:lnTo>
                    <a:pt x="16" y="21"/>
                  </a:lnTo>
                  <a:lnTo>
                    <a:pt x="18" y="21"/>
                  </a:lnTo>
                  <a:lnTo>
                    <a:pt x="20" y="19"/>
                  </a:lnTo>
                  <a:lnTo>
                    <a:pt x="22" y="18"/>
                  </a:lnTo>
                  <a:lnTo>
                    <a:pt x="22" y="16"/>
                  </a:lnTo>
                  <a:lnTo>
                    <a:pt x="23" y="14"/>
                  </a:lnTo>
                  <a:lnTo>
                    <a:pt x="23" y="12"/>
                  </a:lnTo>
                  <a:lnTo>
                    <a:pt x="23" y="10"/>
                  </a:lnTo>
                  <a:lnTo>
                    <a:pt x="22" y="8"/>
                  </a:lnTo>
                  <a:lnTo>
                    <a:pt x="22" y="6"/>
                  </a:lnTo>
                  <a:lnTo>
                    <a:pt x="22" y="4"/>
                  </a:lnTo>
                  <a:lnTo>
                    <a:pt x="20" y="4"/>
                  </a:lnTo>
                  <a:lnTo>
                    <a:pt x="18" y="2"/>
                  </a:lnTo>
                  <a:lnTo>
                    <a:pt x="16" y="2"/>
                  </a:lnTo>
                  <a:lnTo>
                    <a:pt x="16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8" y="0"/>
                  </a:lnTo>
                  <a:lnTo>
                    <a:pt x="6" y="2"/>
                  </a:lnTo>
                  <a:lnTo>
                    <a:pt x="4" y="2"/>
                  </a:lnTo>
                  <a:lnTo>
                    <a:pt x="2" y="4"/>
                  </a:lnTo>
                  <a:lnTo>
                    <a:pt x="0" y="6"/>
                  </a:lnTo>
                  <a:lnTo>
                    <a:pt x="0" y="8"/>
                  </a:lnTo>
                  <a:lnTo>
                    <a:pt x="0" y="10"/>
                  </a:lnTo>
                  <a:lnTo>
                    <a:pt x="0" y="12"/>
                  </a:lnTo>
                  <a:lnTo>
                    <a:pt x="0" y="14"/>
                  </a:lnTo>
                  <a:lnTo>
                    <a:pt x="0" y="16"/>
                  </a:lnTo>
                  <a:lnTo>
                    <a:pt x="0" y="18"/>
                  </a:lnTo>
                  <a:lnTo>
                    <a:pt x="2" y="18"/>
                  </a:lnTo>
                  <a:lnTo>
                    <a:pt x="2" y="19"/>
                  </a:lnTo>
                  <a:lnTo>
                    <a:pt x="4" y="21"/>
                  </a:lnTo>
                  <a:lnTo>
                    <a:pt x="6" y="21"/>
                  </a:lnTo>
                  <a:lnTo>
                    <a:pt x="8" y="23"/>
                  </a:lnTo>
                  <a:lnTo>
                    <a:pt x="10" y="23"/>
                  </a:lnTo>
                  <a:lnTo>
                    <a:pt x="12" y="23"/>
                  </a:lnTo>
                  <a:lnTo>
                    <a:pt x="10" y="23"/>
                  </a:lnTo>
                </a:path>
              </a:pathLst>
            </a:custGeom>
            <a:solidFill>
              <a:srgbClr val="000000"/>
            </a:solidFill>
            <a:ln w="9525" cap="rnd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64" name="Freeform 80"/>
            <p:cNvSpPr>
              <a:spLocks/>
            </p:cNvSpPr>
            <p:nvPr/>
          </p:nvSpPr>
          <p:spPr bwMode="auto">
            <a:xfrm>
              <a:off x="2091" y="3039"/>
              <a:ext cx="215" cy="367"/>
            </a:xfrm>
            <a:custGeom>
              <a:avLst/>
              <a:gdLst>
                <a:gd name="T0" fmla="*/ 107 w 173"/>
                <a:gd name="T1" fmla="*/ 366 h 367"/>
                <a:gd name="T2" fmla="*/ 123 w 173"/>
                <a:gd name="T3" fmla="*/ 364 h 367"/>
                <a:gd name="T4" fmla="*/ 140 w 173"/>
                <a:gd name="T5" fmla="*/ 357 h 367"/>
                <a:gd name="T6" fmla="*/ 157 w 173"/>
                <a:gd name="T7" fmla="*/ 345 h 367"/>
                <a:gd name="T8" fmla="*/ 172 w 173"/>
                <a:gd name="T9" fmla="*/ 332 h 367"/>
                <a:gd name="T10" fmla="*/ 183 w 173"/>
                <a:gd name="T11" fmla="*/ 313 h 367"/>
                <a:gd name="T12" fmla="*/ 193 w 173"/>
                <a:gd name="T13" fmla="*/ 292 h 367"/>
                <a:gd name="T14" fmla="*/ 203 w 173"/>
                <a:gd name="T15" fmla="*/ 267 h 367"/>
                <a:gd name="T16" fmla="*/ 209 w 173"/>
                <a:gd name="T17" fmla="*/ 242 h 367"/>
                <a:gd name="T18" fmla="*/ 214 w 173"/>
                <a:gd name="T19" fmla="*/ 213 h 367"/>
                <a:gd name="T20" fmla="*/ 214 w 173"/>
                <a:gd name="T21" fmla="*/ 182 h 367"/>
                <a:gd name="T22" fmla="*/ 214 w 173"/>
                <a:gd name="T23" fmla="*/ 154 h 367"/>
                <a:gd name="T24" fmla="*/ 209 w 173"/>
                <a:gd name="T25" fmla="*/ 125 h 367"/>
                <a:gd name="T26" fmla="*/ 203 w 173"/>
                <a:gd name="T27" fmla="*/ 98 h 367"/>
                <a:gd name="T28" fmla="*/ 193 w 173"/>
                <a:gd name="T29" fmla="*/ 75 h 367"/>
                <a:gd name="T30" fmla="*/ 183 w 173"/>
                <a:gd name="T31" fmla="*/ 54 h 367"/>
                <a:gd name="T32" fmla="*/ 172 w 173"/>
                <a:gd name="T33" fmla="*/ 35 h 367"/>
                <a:gd name="T34" fmla="*/ 157 w 173"/>
                <a:gd name="T35" fmla="*/ 20 h 367"/>
                <a:gd name="T36" fmla="*/ 140 w 173"/>
                <a:gd name="T37" fmla="*/ 8 h 367"/>
                <a:gd name="T38" fmla="*/ 123 w 173"/>
                <a:gd name="T39" fmla="*/ 2 h 367"/>
                <a:gd name="T40" fmla="*/ 107 w 173"/>
                <a:gd name="T41" fmla="*/ 0 h 367"/>
                <a:gd name="T42" fmla="*/ 91 w 173"/>
                <a:gd name="T43" fmla="*/ 2 h 367"/>
                <a:gd name="T44" fmla="*/ 73 w 173"/>
                <a:gd name="T45" fmla="*/ 8 h 367"/>
                <a:gd name="T46" fmla="*/ 57 w 173"/>
                <a:gd name="T47" fmla="*/ 20 h 367"/>
                <a:gd name="T48" fmla="*/ 45 w 173"/>
                <a:gd name="T49" fmla="*/ 35 h 367"/>
                <a:gd name="T50" fmla="*/ 31 w 173"/>
                <a:gd name="T51" fmla="*/ 54 h 367"/>
                <a:gd name="T52" fmla="*/ 21 w 173"/>
                <a:gd name="T53" fmla="*/ 75 h 367"/>
                <a:gd name="T54" fmla="*/ 11 w 173"/>
                <a:gd name="T55" fmla="*/ 98 h 367"/>
                <a:gd name="T56" fmla="*/ 5 w 173"/>
                <a:gd name="T57" fmla="*/ 125 h 367"/>
                <a:gd name="T58" fmla="*/ 2 w 173"/>
                <a:gd name="T59" fmla="*/ 154 h 367"/>
                <a:gd name="T60" fmla="*/ 0 w 173"/>
                <a:gd name="T61" fmla="*/ 182 h 367"/>
                <a:gd name="T62" fmla="*/ 2 w 173"/>
                <a:gd name="T63" fmla="*/ 213 h 367"/>
                <a:gd name="T64" fmla="*/ 5 w 173"/>
                <a:gd name="T65" fmla="*/ 242 h 367"/>
                <a:gd name="T66" fmla="*/ 11 w 173"/>
                <a:gd name="T67" fmla="*/ 267 h 367"/>
                <a:gd name="T68" fmla="*/ 21 w 173"/>
                <a:gd name="T69" fmla="*/ 292 h 367"/>
                <a:gd name="T70" fmla="*/ 31 w 173"/>
                <a:gd name="T71" fmla="*/ 313 h 367"/>
                <a:gd name="T72" fmla="*/ 45 w 173"/>
                <a:gd name="T73" fmla="*/ 332 h 367"/>
                <a:gd name="T74" fmla="*/ 57 w 173"/>
                <a:gd name="T75" fmla="*/ 345 h 367"/>
                <a:gd name="T76" fmla="*/ 73 w 173"/>
                <a:gd name="T77" fmla="*/ 357 h 367"/>
                <a:gd name="T78" fmla="*/ 91 w 173"/>
                <a:gd name="T79" fmla="*/ 364 h 367"/>
                <a:gd name="T80" fmla="*/ 107 w 173"/>
                <a:gd name="T81" fmla="*/ 366 h 367"/>
                <a:gd name="T82" fmla="*/ 107 w 173"/>
                <a:gd name="T83" fmla="*/ 366 h 367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173"/>
                <a:gd name="T127" fmla="*/ 0 h 367"/>
                <a:gd name="T128" fmla="*/ 173 w 173"/>
                <a:gd name="T129" fmla="*/ 367 h 367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173" h="367">
                  <a:moveTo>
                    <a:pt x="86" y="366"/>
                  </a:moveTo>
                  <a:lnTo>
                    <a:pt x="99" y="364"/>
                  </a:lnTo>
                  <a:lnTo>
                    <a:pt x="113" y="357"/>
                  </a:lnTo>
                  <a:lnTo>
                    <a:pt x="126" y="345"/>
                  </a:lnTo>
                  <a:lnTo>
                    <a:pt x="138" y="332"/>
                  </a:lnTo>
                  <a:lnTo>
                    <a:pt x="147" y="313"/>
                  </a:lnTo>
                  <a:lnTo>
                    <a:pt x="155" y="292"/>
                  </a:lnTo>
                  <a:lnTo>
                    <a:pt x="163" y="267"/>
                  </a:lnTo>
                  <a:lnTo>
                    <a:pt x="168" y="242"/>
                  </a:lnTo>
                  <a:lnTo>
                    <a:pt x="172" y="213"/>
                  </a:lnTo>
                  <a:lnTo>
                    <a:pt x="172" y="182"/>
                  </a:lnTo>
                  <a:lnTo>
                    <a:pt x="172" y="154"/>
                  </a:lnTo>
                  <a:lnTo>
                    <a:pt x="168" y="125"/>
                  </a:lnTo>
                  <a:lnTo>
                    <a:pt x="163" y="98"/>
                  </a:lnTo>
                  <a:lnTo>
                    <a:pt x="155" y="75"/>
                  </a:lnTo>
                  <a:lnTo>
                    <a:pt x="147" y="54"/>
                  </a:lnTo>
                  <a:lnTo>
                    <a:pt x="138" y="35"/>
                  </a:lnTo>
                  <a:lnTo>
                    <a:pt x="126" y="20"/>
                  </a:lnTo>
                  <a:lnTo>
                    <a:pt x="113" y="8"/>
                  </a:lnTo>
                  <a:lnTo>
                    <a:pt x="99" y="2"/>
                  </a:lnTo>
                  <a:lnTo>
                    <a:pt x="86" y="0"/>
                  </a:lnTo>
                  <a:lnTo>
                    <a:pt x="73" y="2"/>
                  </a:lnTo>
                  <a:lnTo>
                    <a:pt x="59" y="8"/>
                  </a:lnTo>
                  <a:lnTo>
                    <a:pt x="46" y="20"/>
                  </a:lnTo>
                  <a:lnTo>
                    <a:pt x="36" y="35"/>
                  </a:lnTo>
                  <a:lnTo>
                    <a:pt x="25" y="54"/>
                  </a:lnTo>
                  <a:lnTo>
                    <a:pt x="17" y="75"/>
                  </a:lnTo>
                  <a:lnTo>
                    <a:pt x="9" y="98"/>
                  </a:lnTo>
                  <a:lnTo>
                    <a:pt x="4" y="125"/>
                  </a:lnTo>
                  <a:lnTo>
                    <a:pt x="2" y="154"/>
                  </a:lnTo>
                  <a:lnTo>
                    <a:pt x="0" y="182"/>
                  </a:lnTo>
                  <a:lnTo>
                    <a:pt x="2" y="213"/>
                  </a:lnTo>
                  <a:lnTo>
                    <a:pt x="4" y="242"/>
                  </a:lnTo>
                  <a:lnTo>
                    <a:pt x="9" y="267"/>
                  </a:lnTo>
                  <a:lnTo>
                    <a:pt x="17" y="292"/>
                  </a:lnTo>
                  <a:lnTo>
                    <a:pt x="25" y="313"/>
                  </a:lnTo>
                  <a:lnTo>
                    <a:pt x="36" y="332"/>
                  </a:lnTo>
                  <a:lnTo>
                    <a:pt x="46" y="345"/>
                  </a:lnTo>
                  <a:lnTo>
                    <a:pt x="59" y="357"/>
                  </a:lnTo>
                  <a:lnTo>
                    <a:pt x="73" y="364"/>
                  </a:lnTo>
                  <a:lnTo>
                    <a:pt x="86" y="366"/>
                  </a:lnTo>
                </a:path>
              </a:pathLst>
            </a:custGeom>
            <a:solidFill>
              <a:srgbClr val="EAEAEA"/>
            </a:solidFill>
            <a:ln w="190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65" name="Rectangle 81"/>
            <p:cNvSpPr>
              <a:spLocks noChangeArrowheads="1"/>
            </p:cNvSpPr>
            <p:nvPr/>
          </p:nvSpPr>
          <p:spPr bwMode="auto">
            <a:xfrm>
              <a:off x="2110" y="3124"/>
              <a:ext cx="180" cy="1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900" dirty="0">
                  <a:solidFill>
                    <a:srgbClr val="000000"/>
                  </a:solidFill>
                  <a:latin typeface="+mj-lt"/>
                </a:rPr>
                <a:t>Sign</a:t>
              </a:r>
            </a:p>
            <a:p>
              <a:pPr algn="ctr">
                <a:lnSpc>
                  <a:spcPct val="90000"/>
                </a:lnSpc>
              </a:pPr>
              <a:r>
                <a:rPr lang="en-US" sz="900" dirty="0">
                  <a:solidFill>
                    <a:srgbClr val="000000"/>
                  </a:solidFill>
                  <a:latin typeface="+mj-lt"/>
                </a:rPr>
                <a:t>extend</a:t>
              </a:r>
              <a:endParaRPr lang="en-US" sz="600" dirty="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366" name="Rectangle 82"/>
            <p:cNvSpPr>
              <a:spLocks noChangeArrowheads="1"/>
            </p:cNvSpPr>
            <p:nvPr/>
          </p:nvSpPr>
          <p:spPr bwMode="auto">
            <a:xfrm>
              <a:off x="1968" y="3123"/>
              <a:ext cx="64" cy="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900">
                  <a:solidFill>
                    <a:srgbClr val="000000"/>
                  </a:solidFill>
                  <a:latin typeface="+mj-lt"/>
                </a:rPr>
                <a:t>16</a:t>
              </a:r>
              <a:endParaRPr lang="en-US" sz="5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367" name="Rectangle 83"/>
            <p:cNvSpPr>
              <a:spLocks noChangeArrowheads="1"/>
            </p:cNvSpPr>
            <p:nvPr/>
          </p:nvSpPr>
          <p:spPr bwMode="auto">
            <a:xfrm>
              <a:off x="2319" y="3127"/>
              <a:ext cx="64" cy="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900">
                  <a:solidFill>
                    <a:srgbClr val="000000"/>
                  </a:solidFill>
                  <a:latin typeface="+mj-lt"/>
                </a:rPr>
                <a:t>32</a:t>
              </a:r>
              <a:endParaRPr lang="en-US" sz="5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368" name="Line 84"/>
            <p:cNvSpPr>
              <a:spLocks noChangeShapeType="1"/>
            </p:cNvSpPr>
            <p:nvPr/>
          </p:nvSpPr>
          <p:spPr bwMode="auto">
            <a:xfrm flipH="1">
              <a:off x="1637" y="2598"/>
              <a:ext cx="1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69" name="Line 85"/>
            <p:cNvSpPr>
              <a:spLocks noChangeShapeType="1"/>
            </p:cNvSpPr>
            <p:nvPr/>
          </p:nvSpPr>
          <p:spPr bwMode="auto">
            <a:xfrm flipH="1">
              <a:off x="1635" y="2434"/>
              <a:ext cx="17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70" name="Line 86"/>
            <p:cNvSpPr>
              <a:spLocks noChangeShapeType="1"/>
            </p:cNvSpPr>
            <p:nvPr/>
          </p:nvSpPr>
          <p:spPr bwMode="auto">
            <a:xfrm flipH="1">
              <a:off x="2325" y="2527"/>
              <a:ext cx="11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71" name="Line 87"/>
            <p:cNvSpPr>
              <a:spLocks noChangeShapeType="1"/>
            </p:cNvSpPr>
            <p:nvPr/>
          </p:nvSpPr>
          <p:spPr bwMode="auto">
            <a:xfrm flipH="1">
              <a:off x="2325" y="2721"/>
              <a:ext cx="11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72" name="Line 88"/>
            <p:cNvSpPr>
              <a:spLocks noChangeShapeType="1"/>
            </p:cNvSpPr>
            <p:nvPr/>
          </p:nvSpPr>
          <p:spPr bwMode="auto">
            <a:xfrm flipH="1">
              <a:off x="2063" y="2299"/>
              <a:ext cx="1" cy="51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73" name="Rectangle 89"/>
            <p:cNvSpPr>
              <a:spLocks noChangeArrowheads="1"/>
            </p:cNvSpPr>
            <p:nvPr/>
          </p:nvSpPr>
          <p:spPr bwMode="auto">
            <a:xfrm>
              <a:off x="2350" y="1757"/>
              <a:ext cx="256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+mj-lt"/>
                </a:rPr>
                <a:t>ID/EX</a:t>
              </a:r>
              <a:endParaRPr lang="en-US" sz="7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374" name="Rectangle 90"/>
            <p:cNvSpPr>
              <a:spLocks noChangeArrowheads="1"/>
            </p:cNvSpPr>
            <p:nvPr/>
          </p:nvSpPr>
          <p:spPr bwMode="auto">
            <a:xfrm>
              <a:off x="3440" y="1752"/>
              <a:ext cx="407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+mj-lt"/>
                </a:rPr>
                <a:t>EX/MEM</a:t>
              </a:r>
              <a:endParaRPr lang="en-US" sz="10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375" name="Rectangle 91"/>
            <p:cNvSpPr>
              <a:spLocks noChangeArrowheads="1"/>
            </p:cNvSpPr>
            <p:nvPr/>
          </p:nvSpPr>
          <p:spPr bwMode="auto">
            <a:xfrm>
              <a:off x="4527" y="1746"/>
              <a:ext cx="456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dirty="0">
                  <a:solidFill>
                    <a:srgbClr val="000000"/>
                  </a:solidFill>
                  <a:latin typeface="+mj-lt"/>
                </a:rPr>
                <a:t>MEM/WB</a:t>
              </a:r>
            </a:p>
          </p:txBody>
        </p:sp>
        <p:sp>
          <p:nvSpPr>
            <p:cNvPr id="54376" name="Rectangle 92"/>
            <p:cNvSpPr>
              <a:spLocks noChangeArrowheads="1"/>
            </p:cNvSpPr>
            <p:nvPr/>
          </p:nvSpPr>
          <p:spPr bwMode="auto">
            <a:xfrm rot="16200000" flipH="1">
              <a:off x="1389" y="2424"/>
              <a:ext cx="331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1000">
                  <a:solidFill>
                    <a:srgbClr val="000000"/>
                  </a:solidFill>
                  <a:latin typeface="+mj-lt"/>
                </a:rPr>
                <a:t>Instruction</a:t>
              </a:r>
              <a:endParaRPr lang="en-US" sz="7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377" name="Freeform 93"/>
            <p:cNvSpPr>
              <a:spLocks/>
            </p:cNvSpPr>
            <p:nvPr/>
          </p:nvSpPr>
          <p:spPr bwMode="auto">
            <a:xfrm>
              <a:off x="3789" y="2735"/>
              <a:ext cx="24" cy="24"/>
            </a:xfrm>
            <a:custGeom>
              <a:avLst/>
              <a:gdLst>
                <a:gd name="T0" fmla="*/ 10 w 24"/>
                <a:gd name="T1" fmla="*/ 23 h 24"/>
                <a:gd name="T2" fmla="*/ 14 w 24"/>
                <a:gd name="T3" fmla="*/ 23 h 24"/>
                <a:gd name="T4" fmla="*/ 14 w 24"/>
                <a:gd name="T5" fmla="*/ 23 h 24"/>
                <a:gd name="T6" fmla="*/ 16 w 24"/>
                <a:gd name="T7" fmla="*/ 23 h 24"/>
                <a:gd name="T8" fmla="*/ 18 w 24"/>
                <a:gd name="T9" fmla="*/ 21 h 24"/>
                <a:gd name="T10" fmla="*/ 20 w 24"/>
                <a:gd name="T11" fmla="*/ 19 h 24"/>
                <a:gd name="T12" fmla="*/ 20 w 24"/>
                <a:gd name="T13" fmla="*/ 19 h 24"/>
                <a:gd name="T14" fmla="*/ 21 w 24"/>
                <a:gd name="T15" fmla="*/ 17 h 24"/>
                <a:gd name="T16" fmla="*/ 21 w 24"/>
                <a:gd name="T17" fmla="*/ 15 h 24"/>
                <a:gd name="T18" fmla="*/ 23 w 24"/>
                <a:gd name="T19" fmla="*/ 13 h 24"/>
                <a:gd name="T20" fmla="*/ 23 w 24"/>
                <a:gd name="T21" fmla="*/ 12 h 24"/>
                <a:gd name="T22" fmla="*/ 23 w 24"/>
                <a:gd name="T23" fmla="*/ 10 h 24"/>
                <a:gd name="T24" fmla="*/ 21 w 24"/>
                <a:gd name="T25" fmla="*/ 8 h 24"/>
                <a:gd name="T26" fmla="*/ 21 w 24"/>
                <a:gd name="T27" fmla="*/ 6 h 24"/>
                <a:gd name="T28" fmla="*/ 20 w 24"/>
                <a:gd name="T29" fmla="*/ 6 h 24"/>
                <a:gd name="T30" fmla="*/ 20 w 24"/>
                <a:gd name="T31" fmla="*/ 4 h 24"/>
                <a:gd name="T32" fmla="*/ 18 w 24"/>
                <a:gd name="T33" fmla="*/ 2 h 24"/>
                <a:gd name="T34" fmla="*/ 16 w 24"/>
                <a:gd name="T35" fmla="*/ 2 h 24"/>
                <a:gd name="T36" fmla="*/ 14 w 24"/>
                <a:gd name="T37" fmla="*/ 0 h 24"/>
                <a:gd name="T38" fmla="*/ 14 w 24"/>
                <a:gd name="T39" fmla="*/ 0 h 24"/>
                <a:gd name="T40" fmla="*/ 12 w 24"/>
                <a:gd name="T41" fmla="*/ 0 h 24"/>
                <a:gd name="T42" fmla="*/ 10 w 24"/>
                <a:gd name="T43" fmla="*/ 0 h 24"/>
                <a:gd name="T44" fmla="*/ 8 w 24"/>
                <a:gd name="T45" fmla="*/ 0 h 24"/>
                <a:gd name="T46" fmla="*/ 6 w 24"/>
                <a:gd name="T47" fmla="*/ 2 h 24"/>
                <a:gd name="T48" fmla="*/ 4 w 24"/>
                <a:gd name="T49" fmla="*/ 2 h 24"/>
                <a:gd name="T50" fmla="*/ 2 w 24"/>
                <a:gd name="T51" fmla="*/ 4 h 24"/>
                <a:gd name="T52" fmla="*/ 2 w 24"/>
                <a:gd name="T53" fmla="*/ 6 h 24"/>
                <a:gd name="T54" fmla="*/ 0 w 24"/>
                <a:gd name="T55" fmla="*/ 6 h 24"/>
                <a:gd name="T56" fmla="*/ 0 w 24"/>
                <a:gd name="T57" fmla="*/ 8 h 24"/>
                <a:gd name="T58" fmla="*/ 0 w 24"/>
                <a:gd name="T59" fmla="*/ 10 h 24"/>
                <a:gd name="T60" fmla="*/ 0 w 24"/>
                <a:gd name="T61" fmla="*/ 12 h 24"/>
                <a:gd name="T62" fmla="*/ 0 w 24"/>
                <a:gd name="T63" fmla="*/ 13 h 24"/>
                <a:gd name="T64" fmla="*/ 0 w 24"/>
                <a:gd name="T65" fmla="*/ 15 h 24"/>
                <a:gd name="T66" fmla="*/ 0 w 24"/>
                <a:gd name="T67" fmla="*/ 17 h 24"/>
                <a:gd name="T68" fmla="*/ 2 w 24"/>
                <a:gd name="T69" fmla="*/ 19 h 24"/>
                <a:gd name="T70" fmla="*/ 2 w 24"/>
                <a:gd name="T71" fmla="*/ 19 h 24"/>
                <a:gd name="T72" fmla="*/ 4 w 24"/>
                <a:gd name="T73" fmla="*/ 21 h 24"/>
                <a:gd name="T74" fmla="*/ 6 w 24"/>
                <a:gd name="T75" fmla="*/ 23 h 24"/>
                <a:gd name="T76" fmla="*/ 8 w 24"/>
                <a:gd name="T77" fmla="*/ 23 h 24"/>
                <a:gd name="T78" fmla="*/ 10 w 24"/>
                <a:gd name="T79" fmla="*/ 23 h 24"/>
                <a:gd name="T80" fmla="*/ 12 w 24"/>
                <a:gd name="T81" fmla="*/ 23 h 24"/>
                <a:gd name="T82" fmla="*/ 12 w 24"/>
                <a:gd name="T83" fmla="*/ 23 h 24"/>
                <a:gd name="T84" fmla="*/ 10 w 24"/>
                <a:gd name="T85" fmla="*/ 23 h 2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4"/>
                <a:gd name="T130" fmla="*/ 0 h 24"/>
                <a:gd name="T131" fmla="*/ 24 w 24"/>
                <a:gd name="T132" fmla="*/ 24 h 24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4" h="24">
                  <a:moveTo>
                    <a:pt x="10" y="23"/>
                  </a:moveTo>
                  <a:lnTo>
                    <a:pt x="14" y="23"/>
                  </a:lnTo>
                  <a:lnTo>
                    <a:pt x="16" y="23"/>
                  </a:lnTo>
                  <a:lnTo>
                    <a:pt x="18" y="21"/>
                  </a:lnTo>
                  <a:lnTo>
                    <a:pt x="20" y="19"/>
                  </a:lnTo>
                  <a:lnTo>
                    <a:pt x="21" y="17"/>
                  </a:lnTo>
                  <a:lnTo>
                    <a:pt x="21" y="15"/>
                  </a:lnTo>
                  <a:lnTo>
                    <a:pt x="23" y="13"/>
                  </a:lnTo>
                  <a:lnTo>
                    <a:pt x="23" y="12"/>
                  </a:lnTo>
                  <a:lnTo>
                    <a:pt x="23" y="10"/>
                  </a:lnTo>
                  <a:lnTo>
                    <a:pt x="21" y="8"/>
                  </a:lnTo>
                  <a:lnTo>
                    <a:pt x="21" y="6"/>
                  </a:lnTo>
                  <a:lnTo>
                    <a:pt x="20" y="6"/>
                  </a:lnTo>
                  <a:lnTo>
                    <a:pt x="20" y="4"/>
                  </a:lnTo>
                  <a:lnTo>
                    <a:pt x="18" y="2"/>
                  </a:lnTo>
                  <a:lnTo>
                    <a:pt x="16" y="2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8" y="0"/>
                  </a:lnTo>
                  <a:lnTo>
                    <a:pt x="6" y="2"/>
                  </a:lnTo>
                  <a:lnTo>
                    <a:pt x="4" y="2"/>
                  </a:lnTo>
                  <a:lnTo>
                    <a:pt x="2" y="4"/>
                  </a:lnTo>
                  <a:lnTo>
                    <a:pt x="2" y="6"/>
                  </a:lnTo>
                  <a:lnTo>
                    <a:pt x="0" y="6"/>
                  </a:lnTo>
                  <a:lnTo>
                    <a:pt x="0" y="8"/>
                  </a:lnTo>
                  <a:lnTo>
                    <a:pt x="0" y="10"/>
                  </a:lnTo>
                  <a:lnTo>
                    <a:pt x="0" y="12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0" y="17"/>
                  </a:lnTo>
                  <a:lnTo>
                    <a:pt x="2" y="19"/>
                  </a:lnTo>
                  <a:lnTo>
                    <a:pt x="4" y="21"/>
                  </a:lnTo>
                  <a:lnTo>
                    <a:pt x="6" y="23"/>
                  </a:lnTo>
                  <a:lnTo>
                    <a:pt x="8" y="23"/>
                  </a:lnTo>
                  <a:lnTo>
                    <a:pt x="10" y="23"/>
                  </a:lnTo>
                  <a:lnTo>
                    <a:pt x="12" y="23"/>
                  </a:lnTo>
                  <a:lnTo>
                    <a:pt x="10" y="23"/>
                  </a:lnTo>
                </a:path>
              </a:pathLst>
            </a:custGeom>
            <a:solidFill>
              <a:srgbClr val="000000"/>
            </a:solidFill>
            <a:ln w="9525" cap="rnd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78" name="Line 94"/>
            <p:cNvSpPr>
              <a:spLocks noChangeShapeType="1"/>
            </p:cNvSpPr>
            <p:nvPr/>
          </p:nvSpPr>
          <p:spPr bwMode="auto">
            <a:xfrm flipH="1">
              <a:off x="3679" y="3003"/>
              <a:ext cx="250" cy="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79" name="Freeform 95"/>
            <p:cNvSpPr>
              <a:spLocks/>
            </p:cNvSpPr>
            <p:nvPr/>
          </p:nvSpPr>
          <p:spPr bwMode="auto">
            <a:xfrm>
              <a:off x="3801" y="2747"/>
              <a:ext cx="903" cy="611"/>
            </a:xfrm>
            <a:custGeom>
              <a:avLst/>
              <a:gdLst>
                <a:gd name="T0" fmla="*/ 902 w 1318"/>
                <a:gd name="T1" fmla="*/ 608 h 410"/>
                <a:gd name="T2" fmla="*/ 0 w 1318"/>
                <a:gd name="T3" fmla="*/ 610 h 410"/>
                <a:gd name="T4" fmla="*/ 0 w 1318"/>
                <a:gd name="T5" fmla="*/ 0 h 410"/>
                <a:gd name="T6" fmla="*/ 0 60000 65536"/>
                <a:gd name="T7" fmla="*/ 0 60000 65536"/>
                <a:gd name="T8" fmla="*/ 0 60000 65536"/>
                <a:gd name="T9" fmla="*/ 0 w 1318"/>
                <a:gd name="T10" fmla="*/ 0 h 410"/>
                <a:gd name="T11" fmla="*/ 1318 w 1318"/>
                <a:gd name="T12" fmla="*/ 410 h 41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18" h="410">
                  <a:moveTo>
                    <a:pt x="1317" y="408"/>
                  </a:moveTo>
                  <a:lnTo>
                    <a:pt x="0" y="409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triangl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80" name="Line 96"/>
            <p:cNvSpPr>
              <a:spLocks noChangeShapeType="1"/>
            </p:cNvSpPr>
            <p:nvPr/>
          </p:nvSpPr>
          <p:spPr bwMode="auto">
            <a:xfrm>
              <a:off x="3677" y="3558"/>
              <a:ext cx="1024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81" name="Line 97"/>
            <p:cNvSpPr>
              <a:spLocks noChangeShapeType="1"/>
            </p:cNvSpPr>
            <p:nvPr/>
          </p:nvSpPr>
          <p:spPr bwMode="auto">
            <a:xfrm flipH="1">
              <a:off x="3679" y="2747"/>
              <a:ext cx="253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82" name="Line 98"/>
            <p:cNvSpPr>
              <a:spLocks noChangeShapeType="1"/>
            </p:cNvSpPr>
            <p:nvPr/>
          </p:nvSpPr>
          <p:spPr bwMode="auto">
            <a:xfrm flipH="1">
              <a:off x="4551" y="2742"/>
              <a:ext cx="155" cy="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83" name="Line 99"/>
            <p:cNvSpPr>
              <a:spLocks noChangeShapeType="1"/>
            </p:cNvSpPr>
            <p:nvPr/>
          </p:nvSpPr>
          <p:spPr bwMode="auto">
            <a:xfrm flipH="1" flipV="1">
              <a:off x="4242" y="2482"/>
              <a:ext cx="1" cy="66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grpSp>
          <p:nvGrpSpPr>
            <p:cNvPr id="54384" name="Group 312"/>
            <p:cNvGrpSpPr>
              <a:grpSpLocks/>
            </p:cNvGrpSpPr>
            <p:nvPr/>
          </p:nvGrpSpPr>
          <p:grpSpPr bwMode="auto">
            <a:xfrm>
              <a:off x="3936" y="2378"/>
              <a:ext cx="609" cy="939"/>
              <a:chOff x="3936" y="2378"/>
              <a:chExt cx="609" cy="939"/>
            </a:xfrm>
          </p:grpSpPr>
          <p:sp>
            <p:nvSpPr>
              <p:cNvPr id="54457" name="Line 101"/>
              <p:cNvSpPr>
                <a:spLocks noChangeShapeType="1"/>
              </p:cNvSpPr>
              <p:nvPr/>
            </p:nvSpPr>
            <p:spPr bwMode="auto">
              <a:xfrm flipH="1">
                <a:off x="4248" y="3108"/>
                <a:ext cx="1" cy="105"/>
              </a:xfrm>
              <a:prstGeom prst="line">
                <a:avLst/>
              </a:prstGeom>
              <a:noFill/>
              <a:ln w="12700">
                <a:solidFill>
                  <a:srgbClr val="EB75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54460" name="Rectangle 104"/>
              <p:cNvSpPr>
                <a:spLocks noChangeArrowheads="1"/>
              </p:cNvSpPr>
              <p:nvPr/>
            </p:nvSpPr>
            <p:spPr bwMode="auto">
              <a:xfrm>
                <a:off x="3936" y="2553"/>
                <a:ext cx="609" cy="552"/>
              </a:xfrm>
              <a:prstGeom prst="rect">
                <a:avLst/>
              </a:prstGeom>
              <a:solidFill>
                <a:srgbClr val="FFFFCC"/>
              </a:solidFill>
              <a:ln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54461" name="Rectangle 105"/>
              <p:cNvSpPr>
                <a:spLocks noChangeArrowheads="1"/>
              </p:cNvSpPr>
              <p:nvPr/>
            </p:nvSpPr>
            <p:spPr bwMode="auto">
              <a:xfrm>
                <a:off x="3963" y="2712"/>
                <a:ext cx="208" cy="7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US" sz="900" dirty="0">
                    <a:solidFill>
                      <a:srgbClr val="000000"/>
                    </a:solidFill>
                    <a:latin typeface="+mj-lt"/>
                  </a:rPr>
                  <a:t>Address</a:t>
                </a:r>
                <a:endParaRPr lang="en-US" sz="800" dirty="0">
                  <a:solidFill>
                    <a:srgbClr val="000000"/>
                  </a:solidFill>
                  <a:latin typeface="+mj-lt"/>
                </a:endParaRPr>
              </a:p>
            </p:txBody>
          </p:sp>
          <p:sp>
            <p:nvSpPr>
              <p:cNvPr id="54462" name="Rectangle 106"/>
              <p:cNvSpPr>
                <a:spLocks noChangeArrowheads="1"/>
              </p:cNvSpPr>
              <p:nvPr/>
            </p:nvSpPr>
            <p:spPr bwMode="auto">
              <a:xfrm>
                <a:off x="3965" y="2933"/>
                <a:ext cx="147" cy="14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US" sz="900" dirty="0">
                    <a:solidFill>
                      <a:srgbClr val="000000"/>
                    </a:solidFill>
                    <a:latin typeface="+mj-lt"/>
                  </a:rPr>
                  <a:t>Write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sz="900" dirty="0">
                    <a:solidFill>
                      <a:srgbClr val="000000"/>
                    </a:solidFill>
                    <a:latin typeface="+mj-lt"/>
                  </a:rPr>
                  <a:t>Data</a:t>
                </a:r>
                <a:endParaRPr lang="en-US" sz="800" dirty="0">
                  <a:solidFill>
                    <a:srgbClr val="000000"/>
                  </a:solidFill>
                  <a:latin typeface="+mj-lt"/>
                </a:endParaRPr>
              </a:p>
            </p:txBody>
          </p:sp>
          <p:sp>
            <p:nvSpPr>
              <p:cNvPr id="54463" name="Rectangle 107"/>
              <p:cNvSpPr>
                <a:spLocks noChangeArrowheads="1"/>
              </p:cNvSpPr>
              <p:nvPr/>
            </p:nvSpPr>
            <p:spPr bwMode="auto">
              <a:xfrm>
                <a:off x="4368" y="2665"/>
                <a:ext cx="130" cy="14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US" sz="900" dirty="0">
                    <a:solidFill>
                      <a:srgbClr val="000000"/>
                    </a:solidFill>
                    <a:latin typeface="+mj-lt"/>
                  </a:rPr>
                  <a:t>Read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sz="900" dirty="0">
                    <a:solidFill>
                      <a:srgbClr val="000000"/>
                    </a:solidFill>
                    <a:latin typeface="+mj-lt"/>
                  </a:rPr>
                  <a:t>Data</a:t>
                </a:r>
                <a:endParaRPr lang="en-US" sz="500" dirty="0">
                  <a:solidFill>
                    <a:srgbClr val="000000"/>
                  </a:solidFill>
                  <a:latin typeface="+mj-lt"/>
                </a:endParaRPr>
              </a:p>
            </p:txBody>
          </p:sp>
          <p:sp>
            <p:nvSpPr>
              <p:cNvPr id="54464" name="Rectangle 108"/>
              <p:cNvSpPr>
                <a:spLocks noChangeArrowheads="1"/>
              </p:cNvSpPr>
              <p:nvPr/>
            </p:nvSpPr>
            <p:spPr bwMode="auto">
              <a:xfrm>
                <a:off x="4193" y="2868"/>
                <a:ext cx="297" cy="19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sz="1200">
                    <a:solidFill>
                      <a:srgbClr val="000000"/>
                    </a:solidFill>
                    <a:latin typeface="+mj-lt"/>
                  </a:rPr>
                  <a:t>Data</a:t>
                </a:r>
              </a:p>
              <a:p>
                <a:pPr algn="ctr">
                  <a:lnSpc>
                    <a:spcPct val="90000"/>
                  </a:lnSpc>
                </a:pPr>
                <a:r>
                  <a:rPr lang="en-US" sz="1200">
                    <a:solidFill>
                      <a:srgbClr val="000000"/>
                    </a:solidFill>
                    <a:latin typeface="+mj-lt"/>
                  </a:rPr>
                  <a:t>Memory</a:t>
                </a:r>
                <a:endParaRPr lang="en-US" sz="800">
                  <a:solidFill>
                    <a:srgbClr val="000000"/>
                  </a:solidFill>
                  <a:latin typeface="+mj-lt"/>
                </a:endParaRPr>
              </a:p>
            </p:txBody>
          </p:sp>
          <p:sp>
            <p:nvSpPr>
              <p:cNvPr id="54458" name="Rectangle 102"/>
              <p:cNvSpPr>
                <a:spLocks noChangeArrowheads="1"/>
              </p:cNvSpPr>
              <p:nvPr/>
            </p:nvSpPr>
            <p:spPr bwMode="auto">
              <a:xfrm>
                <a:off x="4073" y="3223"/>
                <a:ext cx="311" cy="9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050" dirty="0" err="1">
                    <a:solidFill>
                      <a:srgbClr val="EB7500"/>
                    </a:solidFill>
                    <a:latin typeface="+mj-lt"/>
                  </a:rPr>
                  <a:t>MemRead</a:t>
                </a:r>
                <a:endParaRPr lang="en-US" sz="1050" dirty="0">
                  <a:solidFill>
                    <a:srgbClr val="EB7500"/>
                  </a:solidFill>
                  <a:latin typeface="+mj-lt"/>
                </a:endParaRPr>
              </a:p>
            </p:txBody>
          </p:sp>
          <p:sp>
            <p:nvSpPr>
              <p:cNvPr id="54459" name="Rectangle 103"/>
              <p:cNvSpPr>
                <a:spLocks noChangeArrowheads="1"/>
              </p:cNvSpPr>
              <p:nvPr/>
            </p:nvSpPr>
            <p:spPr bwMode="auto">
              <a:xfrm>
                <a:off x="4063" y="2378"/>
                <a:ext cx="332" cy="9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050" dirty="0" err="1">
                    <a:solidFill>
                      <a:srgbClr val="EB7500"/>
                    </a:solidFill>
                    <a:latin typeface="+mj-lt"/>
                  </a:rPr>
                  <a:t>MemWrite</a:t>
                </a:r>
                <a:endParaRPr lang="en-US" sz="1050" dirty="0">
                  <a:solidFill>
                    <a:srgbClr val="EB7500"/>
                  </a:solidFill>
                  <a:latin typeface="+mj-lt"/>
                </a:endParaRPr>
              </a:p>
            </p:txBody>
          </p:sp>
        </p:grpSp>
        <p:sp>
          <p:nvSpPr>
            <p:cNvPr id="54385" name="Freeform 109"/>
            <p:cNvSpPr>
              <a:spLocks/>
            </p:cNvSpPr>
            <p:nvPr/>
          </p:nvSpPr>
          <p:spPr bwMode="auto">
            <a:xfrm>
              <a:off x="3755" y="2266"/>
              <a:ext cx="72" cy="58"/>
            </a:xfrm>
            <a:custGeom>
              <a:avLst/>
              <a:gdLst>
                <a:gd name="T0" fmla="*/ 0 w 72"/>
                <a:gd name="T1" fmla="*/ 0 h 72"/>
                <a:gd name="T2" fmla="*/ 2 w 72"/>
                <a:gd name="T3" fmla="*/ 71 h 72"/>
                <a:gd name="T4" fmla="*/ 71 w 72"/>
                <a:gd name="T5" fmla="*/ 71 h 72"/>
                <a:gd name="T6" fmla="*/ 0 60000 65536"/>
                <a:gd name="T7" fmla="*/ 0 60000 65536"/>
                <a:gd name="T8" fmla="*/ 0 60000 65536"/>
                <a:gd name="T9" fmla="*/ 0 w 72"/>
                <a:gd name="T10" fmla="*/ 0 h 72"/>
                <a:gd name="T11" fmla="*/ 72 w 72"/>
                <a:gd name="T12" fmla="*/ 72 h 7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2" h="72">
                  <a:moveTo>
                    <a:pt x="0" y="0"/>
                  </a:moveTo>
                  <a:lnTo>
                    <a:pt x="2" y="71"/>
                  </a:lnTo>
                  <a:lnTo>
                    <a:pt x="71" y="71"/>
                  </a:lnTo>
                </a:path>
              </a:pathLst>
            </a:custGeom>
            <a:noFill/>
            <a:ln w="12700" cap="rnd" cmpd="sng">
              <a:solidFill>
                <a:srgbClr val="EB75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86" name="Freeform 110"/>
            <p:cNvSpPr>
              <a:spLocks/>
            </p:cNvSpPr>
            <p:nvPr/>
          </p:nvSpPr>
          <p:spPr bwMode="auto">
            <a:xfrm>
              <a:off x="3686" y="2400"/>
              <a:ext cx="141" cy="229"/>
            </a:xfrm>
            <a:custGeom>
              <a:avLst/>
              <a:gdLst>
                <a:gd name="T0" fmla="*/ 0 w 141"/>
                <a:gd name="T1" fmla="*/ 228 h 229"/>
                <a:gd name="T2" fmla="*/ 71 w 141"/>
                <a:gd name="T3" fmla="*/ 228 h 229"/>
                <a:gd name="T4" fmla="*/ 71 w 141"/>
                <a:gd name="T5" fmla="*/ 0 h 229"/>
                <a:gd name="T6" fmla="*/ 140 w 141"/>
                <a:gd name="T7" fmla="*/ 0 h 22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1"/>
                <a:gd name="T13" fmla="*/ 0 h 229"/>
                <a:gd name="T14" fmla="*/ 141 w 141"/>
                <a:gd name="T15" fmla="*/ 229 h 22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1" h="229">
                  <a:moveTo>
                    <a:pt x="0" y="228"/>
                  </a:moveTo>
                  <a:lnTo>
                    <a:pt x="71" y="228"/>
                  </a:lnTo>
                  <a:lnTo>
                    <a:pt x="71" y="0"/>
                  </a:lnTo>
                  <a:lnTo>
                    <a:pt x="140" y="0"/>
                  </a:lnTo>
                </a:path>
              </a:pathLst>
            </a:custGeom>
            <a:noFill/>
            <a:ln w="12700" cap="rnd" cmpd="sng">
              <a:solidFill>
                <a:srgbClr val="EB75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87" name="Freeform 111"/>
            <p:cNvSpPr>
              <a:spLocks/>
            </p:cNvSpPr>
            <p:nvPr/>
          </p:nvSpPr>
          <p:spPr bwMode="auto">
            <a:xfrm>
              <a:off x="3826" y="2302"/>
              <a:ext cx="145" cy="122"/>
            </a:xfrm>
            <a:custGeom>
              <a:avLst/>
              <a:gdLst>
                <a:gd name="T0" fmla="*/ 85 w 145"/>
                <a:gd name="T1" fmla="*/ 119 h 122"/>
                <a:gd name="T2" fmla="*/ 96 w 145"/>
                <a:gd name="T3" fmla="*/ 119 h 122"/>
                <a:gd name="T4" fmla="*/ 104 w 145"/>
                <a:gd name="T5" fmla="*/ 117 h 122"/>
                <a:gd name="T6" fmla="*/ 113 w 145"/>
                <a:gd name="T7" fmla="*/ 113 h 122"/>
                <a:gd name="T8" fmla="*/ 121 w 145"/>
                <a:gd name="T9" fmla="*/ 107 h 122"/>
                <a:gd name="T10" fmla="*/ 127 w 145"/>
                <a:gd name="T11" fmla="*/ 102 h 122"/>
                <a:gd name="T12" fmla="*/ 132 w 145"/>
                <a:gd name="T13" fmla="*/ 96 h 122"/>
                <a:gd name="T14" fmla="*/ 138 w 145"/>
                <a:gd name="T15" fmla="*/ 88 h 122"/>
                <a:gd name="T16" fmla="*/ 142 w 145"/>
                <a:gd name="T17" fmla="*/ 79 h 122"/>
                <a:gd name="T18" fmla="*/ 144 w 145"/>
                <a:gd name="T19" fmla="*/ 69 h 122"/>
                <a:gd name="T20" fmla="*/ 144 w 145"/>
                <a:gd name="T21" fmla="*/ 60 h 122"/>
                <a:gd name="T22" fmla="*/ 144 w 145"/>
                <a:gd name="T23" fmla="*/ 50 h 122"/>
                <a:gd name="T24" fmla="*/ 142 w 145"/>
                <a:gd name="T25" fmla="*/ 40 h 122"/>
                <a:gd name="T26" fmla="*/ 138 w 145"/>
                <a:gd name="T27" fmla="*/ 33 h 122"/>
                <a:gd name="T28" fmla="*/ 132 w 145"/>
                <a:gd name="T29" fmla="*/ 25 h 122"/>
                <a:gd name="T30" fmla="*/ 127 w 145"/>
                <a:gd name="T31" fmla="*/ 17 h 122"/>
                <a:gd name="T32" fmla="*/ 121 w 145"/>
                <a:gd name="T33" fmla="*/ 12 h 122"/>
                <a:gd name="T34" fmla="*/ 113 w 145"/>
                <a:gd name="T35" fmla="*/ 6 h 122"/>
                <a:gd name="T36" fmla="*/ 104 w 145"/>
                <a:gd name="T37" fmla="*/ 2 h 122"/>
                <a:gd name="T38" fmla="*/ 96 w 145"/>
                <a:gd name="T39" fmla="*/ 0 h 122"/>
                <a:gd name="T40" fmla="*/ 86 w 145"/>
                <a:gd name="T41" fmla="*/ 0 h 122"/>
                <a:gd name="T42" fmla="*/ 0 w 145"/>
                <a:gd name="T43" fmla="*/ 0 h 122"/>
                <a:gd name="T44" fmla="*/ 0 w 145"/>
                <a:gd name="T45" fmla="*/ 121 h 122"/>
                <a:gd name="T46" fmla="*/ 86 w 145"/>
                <a:gd name="T47" fmla="*/ 121 h 122"/>
                <a:gd name="T48" fmla="*/ 86 w 145"/>
                <a:gd name="T49" fmla="*/ 121 h 122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145"/>
                <a:gd name="T76" fmla="*/ 0 h 122"/>
                <a:gd name="T77" fmla="*/ 145 w 145"/>
                <a:gd name="T78" fmla="*/ 122 h 122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145" h="122">
                  <a:moveTo>
                    <a:pt x="85" y="119"/>
                  </a:moveTo>
                  <a:lnTo>
                    <a:pt x="96" y="119"/>
                  </a:lnTo>
                  <a:lnTo>
                    <a:pt x="104" y="117"/>
                  </a:lnTo>
                  <a:lnTo>
                    <a:pt x="113" y="113"/>
                  </a:lnTo>
                  <a:lnTo>
                    <a:pt x="121" y="107"/>
                  </a:lnTo>
                  <a:lnTo>
                    <a:pt x="127" y="102"/>
                  </a:lnTo>
                  <a:lnTo>
                    <a:pt x="132" y="96"/>
                  </a:lnTo>
                  <a:lnTo>
                    <a:pt x="138" y="88"/>
                  </a:lnTo>
                  <a:lnTo>
                    <a:pt x="142" y="79"/>
                  </a:lnTo>
                  <a:lnTo>
                    <a:pt x="144" y="69"/>
                  </a:lnTo>
                  <a:lnTo>
                    <a:pt x="144" y="60"/>
                  </a:lnTo>
                  <a:lnTo>
                    <a:pt x="144" y="50"/>
                  </a:lnTo>
                  <a:lnTo>
                    <a:pt x="142" y="40"/>
                  </a:lnTo>
                  <a:lnTo>
                    <a:pt x="138" y="33"/>
                  </a:lnTo>
                  <a:lnTo>
                    <a:pt x="132" y="25"/>
                  </a:lnTo>
                  <a:lnTo>
                    <a:pt x="127" y="17"/>
                  </a:lnTo>
                  <a:lnTo>
                    <a:pt x="121" y="12"/>
                  </a:lnTo>
                  <a:lnTo>
                    <a:pt x="113" y="6"/>
                  </a:lnTo>
                  <a:lnTo>
                    <a:pt x="104" y="2"/>
                  </a:lnTo>
                  <a:lnTo>
                    <a:pt x="96" y="0"/>
                  </a:lnTo>
                  <a:lnTo>
                    <a:pt x="86" y="0"/>
                  </a:lnTo>
                  <a:lnTo>
                    <a:pt x="0" y="0"/>
                  </a:lnTo>
                  <a:lnTo>
                    <a:pt x="0" y="121"/>
                  </a:lnTo>
                  <a:lnTo>
                    <a:pt x="86" y="121"/>
                  </a:lnTo>
                </a:path>
              </a:pathLst>
            </a:custGeom>
            <a:solidFill>
              <a:srgbClr val="FFE6CD"/>
            </a:solidFill>
            <a:ln w="19050" cap="rnd" cmpd="sng">
              <a:solidFill>
                <a:srgbClr val="EB75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90" name="Line 114"/>
            <p:cNvSpPr>
              <a:spLocks noChangeShapeType="1"/>
            </p:cNvSpPr>
            <p:nvPr/>
          </p:nvSpPr>
          <p:spPr bwMode="auto">
            <a:xfrm>
              <a:off x="1543" y="3804"/>
              <a:ext cx="335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91" name="Line 115"/>
            <p:cNvSpPr>
              <a:spLocks noChangeShapeType="1"/>
            </p:cNvSpPr>
            <p:nvPr/>
          </p:nvSpPr>
          <p:spPr bwMode="auto">
            <a:xfrm flipV="1">
              <a:off x="1545" y="2751"/>
              <a:ext cx="0" cy="10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92" name="Line 116"/>
            <p:cNvSpPr>
              <a:spLocks noChangeShapeType="1"/>
            </p:cNvSpPr>
            <p:nvPr/>
          </p:nvSpPr>
          <p:spPr bwMode="auto">
            <a:xfrm>
              <a:off x="1541" y="2748"/>
              <a:ext cx="26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93" name="Line 117"/>
            <p:cNvSpPr>
              <a:spLocks noChangeShapeType="1"/>
            </p:cNvSpPr>
            <p:nvPr/>
          </p:nvSpPr>
          <p:spPr bwMode="auto">
            <a:xfrm>
              <a:off x="1725" y="2895"/>
              <a:ext cx="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94" name="Line 118"/>
            <p:cNvSpPr>
              <a:spLocks noChangeShapeType="1"/>
            </p:cNvSpPr>
            <p:nvPr/>
          </p:nvSpPr>
          <p:spPr bwMode="auto">
            <a:xfrm flipV="1">
              <a:off x="1728" y="2895"/>
              <a:ext cx="0" cy="99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95" name="Line 119"/>
            <p:cNvSpPr>
              <a:spLocks noChangeShapeType="1"/>
            </p:cNvSpPr>
            <p:nvPr/>
          </p:nvSpPr>
          <p:spPr bwMode="auto">
            <a:xfrm>
              <a:off x="1728" y="3882"/>
              <a:ext cx="3336" cy="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96" name="Line 120"/>
            <p:cNvSpPr>
              <a:spLocks noChangeShapeType="1"/>
            </p:cNvSpPr>
            <p:nvPr/>
          </p:nvSpPr>
          <p:spPr bwMode="auto">
            <a:xfrm flipV="1">
              <a:off x="4963" y="2651"/>
              <a:ext cx="0" cy="51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97" name="Line 121"/>
            <p:cNvSpPr>
              <a:spLocks noChangeShapeType="1"/>
            </p:cNvSpPr>
            <p:nvPr/>
          </p:nvSpPr>
          <p:spPr bwMode="auto">
            <a:xfrm flipH="1">
              <a:off x="4800" y="2744"/>
              <a:ext cx="115" cy="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98" name="Freeform 122"/>
            <p:cNvSpPr>
              <a:spLocks/>
            </p:cNvSpPr>
            <p:nvPr/>
          </p:nvSpPr>
          <p:spPr bwMode="auto">
            <a:xfrm>
              <a:off x="4800" y="2953"/>
              <a:ext cx="119" cy="405"/>
            </a:xfrm>
            <a:custGeom>
              <a:avLst/>
              <a:gdLst>
                <a:gd name="T0" fmla="*/ 118 w 104"/>
                <a:gd name="T1" fmla="*/ 0 h 204"/>
                <a:gd name="T2" fmla="*/ 60 w 104"/>
                <a:gd name="T3" fmla="*/ 0 h 204"/>
                <a:gd name="T4" fmla="*/ 60 w 104"/>
                <a:gd name="T5" fmla="*/ 403 h 204"/>
                <a:gd name="T6" fmla="*/ 0 w 104"/>
                <a:gd name="T7" fmla="*/ 403 h 20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4"/>
                <a:gd name="T13" fmla="*/ 0 h 204"/>
                <a:gd name="T14" fmla="*/ 104 w 104"/>
                <a:gd name="T15" fmla="*/ 204 h 20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4" h="204">
                  <a:moveTo>
                    <a:pt x="103" y="0"/>
                  </a:moveTo>
                  <a:lnTo>
                    <a:pt x="52" y="0"/>
                  </a:lnTo>
                  <a:lnTo>
                    <a:pt x="52" y="203"/>
                  </a:lnTo>
                  <a:lnTo>
                    <a:pt x="0" y="203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triangl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00" name="Line 124"/>
            <p:cNvSpPr>
              <a:spLocks noChangeShapeType="1"/>
            </p:cNvSpPr>
            <p:nvPr/>
          </p:nvSpPr>
          <p:spPr bwMode="auto">
            <a:xfrm>
              <a:off x="4803" y="3558"/>
              <a:ext cx="9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01" name="Line 125"/>
            <p:cNvSpPr>
              <a:spLocks noChangeShapeType="1"/>
            </p:cNvSpPr>
            <p:nvPr/>
          </p:nvSpPr>
          <p:spPr bwMode="auto">
            <a:xfrm rot="5400000">
              <a:off x="4770" y="3681"/>
              <a:ext cx="25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02" name="Line 126"/>
            <p:cNvSpPr>
              <a:spLocks noChangeShapeType="1"/>
            </p:cNvSpPr>
            <p:nvPr/>
          </p:nvSpPr>
          <p:spPr bwMode="auto">
            <a:xfrm flipV="1">
              <a:off x="5067" y="2847"/>
              <a:ext cx="0" cy="10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03" name="Line 127"/>
            <p:cNvSpPr>
              <a:spLocks noChangeShapeType="1"/>
            </p:cNvSpPr>
            <p:nvPr/>
          </p:nvSpPr>
          <p:spPr bwMode="auto">
            <a:xfrm flipV="1">
              <a:off x="5025" y="2847"/>
              <a:ext cx="42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04" name="Freeform 128"/>
            <p:cNvSpPr>
              <a:spLocks/>
            </p:cNvSpPr>
            <p:nvPr/>
          </p:nvSpPr>
          <p:spPr bwMode="auto">
            <a:xfrm>
              <a:off x="636" y="1885"/>
              <a:ext cx="276" cy="631"/>
            </a:xfrm>
            <a:custGeom>
              <a:avLst/>
              <a:gdLst>
                <a:gd name="T0" fmla="*/ 275 w 194"/>
                <a:gd name="T1" fmla="*/ 0 h 631"/>
                <a:gd name="T2" fmla="*/ 0 w 194"/>
                <a:gd name="T3" fmla="*/ 2 h 631"/>
                <a:gd name="T4" fmla="*/ 0 w 194"/>
                <a:gd name="T5" fmla="*/ 630 h 631"/>
                <a:gd name="T6" fmla="*/ 0 60000 65536"/>
                <a:gd name="T7" fmla="*/ 0 60000 65536"/>
                <a:gd name="T8" fmla="*/ 0 60000 65536"/>
                <a:gd name="T9" fmla="*/ 0 w 194"/>
                <a:gd name="T10" fmla="*/ 0 h 631"/>
                <a:gd name="T11" fmla="*/ 194 w 194"/>
                <a:gd name="T12" fmla="*/ 631 h 63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4" h="631">
                  <a:moveTo>
                    <a:pt x="193" y="0"/>
                  </a:moveTo>
                  <a:lnTo>
                    <a:pt x="0" y="2"/>
                  </a:lnTo>
                  <a:lnTo>
                    <a:pt x="0" y="63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triangl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05" name="Freeform 129"/>
            <p:cNvSpPr>
              <a:spLocks/>
            </p:cNvSpPr>
            <p:nvPr/>
          </p:nvSpPr>
          <p:spPr bwMode="auto">
            <a:xfrm>
              <a:off x="624" y="2503"/>
              <a:ext cx="24" cy="24"/>
            </a:xfrm>
            <a:custGeom>
              <a:avLst/>
              <a:gdLst>
                <a:gd name="T0" fmla="*/ 12 w 24"/>
                <a:gd name="T1" fmla="*/ 21 h 24"/>
                <a:gd name="T2" fmla="*/ 14 w 24"/>
                <a:gd name="T3" fmla="*/ 21 h 24"/>
                <a:gd name="T4" fmla="*/ 16 w 24"/>
                <a:gd name="T5" fmla="*/ 21 h 24"/>
                <a:gd name="T6" fmla="*/ 17 w 24"/>
                <a:gd name="T7" fmla="*/ 21 h 24"/>
                <a:gd name="T8" fmla="*/ 19 w 24"/>
                <a:gd name="T9" fmla="*/ 19 h 24"/>
                <a:gd name="T10" fmla="*/ 19 w 24"/>
                <a:gd name="T11" fmla="*/ 19 h 24"/>
                <a:gd name="T12" fmla="*/ 21 w 24"/>
                <a:gd name="T13" fmla="*/ 18 h 24"/>
                <a:gd name="T14" fmla="*/ 23 w 24"/>
                <a:gd name="T15" fmla="*/ 16 h 24"/>
                <a:gd name="T16" fmla="*/ 23 w 24"/>
                <a:gd name="T17" fmla="*/ 14 h 24"/>
                <a:gd name="T18" fmla="*/ 23 w 24"/>
                <a:gd name="T19" fmla="*/ 14 h 24"/>
                <a:gd name="T20" fmla="*/ 23 w 24"/>
                <a:gd name="T21" fmla="*/ 12 h 24"/>
                <a:gd name="T22" fmla="*/ 23 w 24"/>
                <a:gd name="T23" fmla="*/ 10 h 24"/>
                <a:gd name="T24" fmla="*/ 23 w 24"/>
                <a:gd name="T25" fmla="*/ 8 h 24"/>
                <a:gd name="T26" fmla="*/ 23 w 24"/>
                <a:gd name="T27" fmla="*/ 6 h 24"/>
                <a:gd name="T28" fmla="*/ 21 w 24"/>
                <a:gd name="T29" fmla="*/ 4 h 24"/>
                <a:gd name="T30" fmla="*/ 19 w 24"/>
                <a:gd name="T31" fmla="*/ 2 h 24"/>
                <a:gd name="T32" fmla="*/ 19 w 24"/>
                <a:gd name="T33" fmla="*/ 2 h 24"/>
                <a:gd name="T34" fmla="*/ 17 w 24"/>
                <a:gd name="T35" fmla="*/ 0 h 24"/>
                <a:gd name="T36" fmla="*/ 16 w 24"/>
                <a:gd name="T37" fmla="*/ 0 h 24"/>
                <a:gd name="T38" fmla="*/ 14 w 24"/>
                <a:gd name="T39" fmla="*/ 0 h 24"/>
                <a:gd name="T40" fmla="*/ 12 w 24"/>
                <a:gd name="T41" fmla="*/ 0 h 24"/>
                <a:gd name="T42" fmla="*/ 10 w 24"/>
                <a:gd name="T43" fmla="*/ 0 h 24"/>
                <a:gd name="T44" fmla="*/ 8 w 24"/>
                <a:gd name="T45" fmla="*/ 0 h 24"/>
                <a:gd name="T46" fmla="*/ 6 w 24"/>
                <a:gd name="T47" fmla="*/ 0 h 24"/>
                <a:gd name="T48" fmla="*/ 6 w 24"/>
                <a:gd name="T49" fmla="*/ 2 h 24"/>
                <a:gd name="T50" fmla="*/ 4 w 24"/>
                <a:gd name="T51" fmla="*/ 2 h 24"/>
                <a:gd name="T52" fmla="*/ 2 w 24"/>
                <a:gd name="T53" fmla="*/ 4 h 24"/>
                <a:gd name="T54" fmla="*/ 2 w 24"/>
                <a:gd name="T55" fmla="*/ 6 h 24"/>
                <a:gd name="T56" fmla="*/ 0 w 24"/>
                <a:gd name="T57" fmla="*/ 8 h 24"/>
                <a:gd name="T58" fmla="*/ 0 w 24"/>
                <a:gd name="T59" fmla="*/ 10 h 24"/>
                <a:gd name="T60" fmla="*/ 0 w 24"/>
                <a:gd name="T61" fmla="*/ 12 h 24"/>
                <a:gd name="T62" fmla="*/ 0 w 24"/>
                <a:gd name="T63" fmla="*/ 14 h 24"/>
                <a:gd name="T64" fmla="*/ 0 w 24"/>
                <a:gd name="T65" fmla="*/ 14 h 24"/>
                <a:gd name="T66" fmla="*/ 2 w 24"/>
                <a:gd name="T67" fmla="*/ 16 h 24"/>
                <a:gd name="T68" fmla="*/ 2 w 24"/>
                <a:gd name="T69" fmla="*/ 18 h 24"/>
                <a:gd name="T70" fmla="*/ 4 w 24"/>
                <a:gd name="T71" fmla="*/ 19 h 24"/>
                <a:gd name="T72" fmla="*/ 6 w 24"/>
                <a:gd name="T73" fmla="*/ 19 h 24"/>
                <a:gd name="T74" fmla="*/ 6 w 24"/>
                <a:gd name="T75" fmla="*/ 21 h 24"/>
                <a:gd name="T76" fmla="*/ 8 w 24"/>
                <a:gd name="T77" fmla="*/ 21 h 24"/>
                <a:gd name="T78" fmla="*/ 10 w 24"/>
                <a:gd name="T79" fmla="*/ 21 h 24"/>
                <a:gd name="T80" fmla="*/ 12 w 24"/>
                <a:gd name="T81" fmla="*/ 23 h 24"/>
                <a:gd name="T82" fmla="*/ 12 w 24"/>
                <a:gd name="T83" fmla="*/ 23 h 24"/>
                <a:gd name="T84" fmla="*/ 12 w 24"/>
                <a:gd name="T85" fmla="*/ 21 h 2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4"/>
                <a:gd name="T130" fmla="*/ 0 h 24"/>
                <a:gd name="T131" fmla="*/ 24 w 24"/>
                <a:gd name="T132" fmla="*/ 24 h 24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4" h="24">
                  <a:moveTo>
                    <a:pt x="12" y="21"/>
                  </a:moveTo>
                  <a:lnTo>
                    <a:pt x="14" y="21"/>
                  </a:lnTo>
                  <a:lnTo>
                    <a:pt x="16" y="21"/>
                  </a:lnTo>
                  <a:lnTo>
                    <a:pt x="17" y="21"/>
                  </a:lnTo>
                  <a:lnTo>
                    <a:pt x="19" y="19"/>
                  </a:lnTo>
                  <a:lnTo>
                    <a:pt x="21" y="18"/>
                  </a:lnTo>
                  <a:lnTo>
                    <a:pt x="23" y="16"/>
                  </a:lnTo>
                  <a:lnTo>
                    <a:pt x="23" y="14"/>
                  </a:lnTo>
                  <a:lnTo>
                    <a:pt x="23" y="12"/>
                  </a:lnTo>
                  <a:lnTo>
                    <a:pt x="23" y="10"/>
                  </a:lnTo>
                  <a:lnTo>
                    <a:pt x="23" y="8"/>
                  </a:lnTo>
                  <a:lnTo>
                    <a:pt x="23" y="6"/>
                  </a:lnTo>
                  <a:lnTo>
                    <a:pt x="21" y="4"/>
                  </a:lnTo>
                  <a:lnTo>
                    <a:pt x="19" y="2"/>
                  </a:lnTo>
                  <a:lnTo>
                    <a:pt x="17" y="0"/>
                  </a:lnTo>
                  <a:lnTo>
                    <a:pt x="16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8" y="0"/>
                  </a:lnTo>
                  <a:lnTo>
                    <a:pt x="6" y="0"/>
                  </a:lnTo>
                  <a:lnTo>
                    <a:pt x="6" y="2"/>
                  </a:lnTo>
                  <a:lnTo>
                    <a:pt x="4" y="2"/>
                  </a:lnTo>
                  <a:lnTo>
                    <a:pt x="2" y="4"/>
                  </a:lnTo>
                  <a:lnTo>
                    <a:pt x="2" y="6"/>
                  </a:lnTo>
                  <a:lnTo>
                    <a:pt x="0" y="8"/>
                  </a:lnTo>
                  <a:lnTo>
                    <a:pt x="0" y="10"/>
                  </a:lnTo>
                  <a:lnTo>
                    <a:pt x="0" y="12"/>
                  </a:lnTo>
                  <a:lnTo>
                    <a:pt x="0" y="14"/>
                  </a:lnTo>
                  <a:lnTo>
                    <a:pt x="2" y="16"/>
                  </a:lnTo>
                  <a:lnTo>
                    <a:pt x="2" y="18"/>
                  </a:lnTo>
                  <a:lnTo>
                    <a:pt x="4" y="19"/>
                  </a:lnTo>
                  <a:lnTo>
                    <a:pt x="6" y="19"/>
                  </a:lnTo>
                  <a:lnTo>
                    <a:pt x="6" y="21"/>
                  </a:lnTo>
                  <a:lnTo>
                    <a:pt x="8" y="21"/>
                  </a:lnTo>
                  <a:lnTo>
                    <a:pt x="10" y="21"/>
                  </a:lnTo>
                  <a:lnTo>
                    <a:pt x="12" y="23"/>
                  </a:lnTo>
                  <a:lnTo>
                    <a:pt x="12" y="21"/>
                  </a:lnTo>
                </a:path>
              </a:pathLst>
            </a:custGeom>
            <a:solidFill>
              <a:srgbClr val="000000"/>
            </a:solidFill>
            <a:ln w="9525" cap="rnd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06" name="Rectangle 130"/>
            <p:cNvSpPr>
              <a:spLocks noChangeArrowheads="1"/>
            </p:cNvSpPr>
            <p:nvPr/>
          </p:nvSpPr>
          <p:spPr bwMode="auto">
            <a:xfrm>
              <a:off x="695" y="2081"/>
              <a:ext cx="146" cy="1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sz="1200">
                  <a:solidFill>
                    <a:srgbClr val="000000"/>
                  </a:solidFill>
                  <a:latin typeface="+mj-lt"/>
                </a:rPr>
                <a:t>4</a:t>
              </a:r>
              <a:endParaRPr lang="en-US" sz="6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407" name="Freeform 131"/>
            <p:cNvSpPr>
              <a:spLocks/>
            </p:cNvSpPr>
            <p:nvPr/>
          </p:nvSpPr>
          <p:spPr bwMode="auto">
            <a:xfrm>
              <a:off x="1359" y="1917"/>
              <a:ext cx="93" cy="1777"/>
            </a:xfrm>
            <a:custGeom>
              <a:avLst/>
              <a:gdLst>
                <a:gd name="T0" fmla="*/ 90 w 93"/>
                <a:gd name="T1" fmla="*/ 1776 h 1777"/>
                <a:gd name="T2" fmla="*/ 92 w 93"/>
                <a:gd name="T3" fmla="*/ 0 h 1777"/>
                <a:gd name="T4" fmla="*/ 0 w 93"/>
                <a:gd name="T5" fmla="*/ 0 h 1777"/>
                <a:gd name="T6" fmla="*/ 0 w 93"/>
                <a:gd name="T7" fmla="*/ 1776 h 1777"/>
                <a:gd name="T8" fmla="*/ 92 w 93"/>
                <a:gd name="T9" fmla="*/ 1776 h 1777"/>
                <a:gd name="T10" fmla="*/ 92 w 93"/>
                <a:gd name="T11" fmla="*/ 1776 h 177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3"/>
                <a:gd name="T19" fmla="*/ 0 h 1777"/>
                <a:gd name="T20" fmla="*/ 93 w 93"/>
                <a:gd name="T21" fmla="*/ 1777 h 177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3" h="1777">
                  <a:moveTo>
                    <a:pt x="90" y="1776"/>
                  </a:moveTo>
                  <a:lnTo>
                    <a:pt x="92" y="0"/>
                  </a:lnTo>
                  <a:lnTo>
                    <a:pt x="0" y="0"/>
                  </a:lnTo>
                  <a:lnTo>
                    <a:pt x="0" y="1776"/>
                  </a:lnTo>
                  <a:lnTo>
                    <a:pt x="92" y="1776"/>
                  </a:lnTo>
                </a:path>
              </a:pathLst>
            </a:custGeom>
            <a:solidFill>
              <a:srgbClr val="CCECFF"/>
            </a:solidFill>
            <a:ln w="190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08" name="Line 132"/>
            <p:cNvSpPr>
              <a:spLocks noChangeShapeType="1"/>
            </p:cNvSpPr>
            <p:nvPr/>
          </p:nvSpPr>
          <p:spPr bwMode="auto">
            <a:xfrm flipH="1" flipV="1">
              <a:off x="1202" y="2021"/>
              <a:ext cx="163" cy="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09" name="Freeform 133"/>
            <p:cNvSpPr>
              <a:spLocks/>
            </p:cNvSpPr>
            <p:nvPr/>
          </p:nvSpPr>
          <p:spPr bwMode="auto">
            <a:xfrm>
              <a:off x="1236" y="2013"/>
              <a:ext cx="24" cy="24"/>
            </a:xfrm>
            <a:custGeom>
              <a:avLst/>
              <a:gdLst>
                <a:gd name="T0" fmla="*/ 9 w 24"/>
                <a:gd name="T1" fmla="*/ 23 h 24"/>
                <a:gd name="T2" fmla="*/ 13 w 24"/>
                <a:gd name="T3" fmla="*/ 23 h 24"/>
                <a:gd name="T4" fmla="*/ 15 w 24"/>
                <a:gd name="T5" fmla="*/ 23 h 24"/>
                <a:gd name="T6" fmla="*/ 15 w 24"/>
                <a:gd name="T7" fmla="*/ 21 h 24"/>
                <a:gd name="T8" fmla="*/ 17 w 24"/>
                <a:gd name="T9" fmla="*/ 21 h 24"/>
                <a:gd name="T10" fmla="*/ 19 w 24"/>
                <a:gd name="T11" fmla="*/ 19 h 24"/>
                <a:gd name="T12" fmla="*/ 19 w 24"/>
                <a:gd name="T13" fmla="*/ 19 h 24"/>
                <a:gd name="T14" fmla="*/ 21 w 24"/>
                <a:gd name="T15" fmla="*/ 17 h 24"/>
                <a:gd name="T16" fmla="*/ 21 w 24"/>
                <a:gd name="T17" fmla="*/ 15 h 24"/>
                <a:gd name="T18" fmla="*/ 23 w 24"/>
                <a:gd name="T19" fmla="*/ 13 h 24"/>
                <a:gd name="T20" fmla="*/ 23 w 24"/>
                <a:gd name="T21" fmla="*/ 11 h 24"/>
                <a:gd name="T22" fmla="*/ 23 w 24"/>
                <a:gd name="T23" fmla="*/ 9 h 24"/>
                <a:gd name="T24" fmla="*/ 21 w 24"/>
                <a:gd name="T25" fmla="*/ 8 h 24"/>
                <a:gd name="T26" fmla="*/ 21 w 24"/>
                <a:gd name="T27" fmla="*/ 6 h 24"/>
                <a:gd name="T28" fmla="*/ 19 w 24"/>
                <a:gd name="T29" fmla="*/ 6 h 24"/>
                <a:gd name="T30" fmla="*/ 19 w 24"/>
                <a:gd name="T31" fmla="*/ 4 h 24"/>
                <a:gd name="T32" fmla="*/ 17 w 24"/>
                <a:gd name="T33" fmla="*/ 2 h 24"/>
                <a:gd name="T34" fmla="*/ 15 w 24"/>
                <a:gd name="T35" fmla="*/ 2 h 24"/>
                <a:gd name="T36" fmla="*/ 15 w 24"/>
                <a:gd name="T37" fmla="*/ 0 h 24"/>
                <a:gd name="T38" fmla="*/ 13 w 24"/>
                <a:gd name="T39" fmla="*/ 0 h 24"/>
                <a:gd name="T40" fmla="*/ 11 w 24"/>
                <a:gd name="T41" fmla="*/ 0 h 24"/>
                <a:gd name="T42" fmla="*/ 9 w 24"/>
                <a:gd name="T43" fmla="*/ 0 h 24"/>
                <a:gd name="T44" fmla="*/ 7 w 24"/>
                <a:gd name="T45" fmla="*/ 0 h 24"/>
                <a:gd name="T46" fmla="*/ 5 w 24"/>
                <a:gd name="T47" fmla="*/ 2 h 24"/>
                <a:gd name="T48" fmla="*/ 4 w 24"/>
                <a:gd name="T49" fmla="*/ 2 h 24"/>
                <a:gd name="T50" fmla="*/ 2 w 24"/>
                <a:gd name="T51" fmla="*/ 4 h 24"/>
                <a:gd name="T52" fmla="*/ 2 w 24"/>
                <a:gd name="T53" fmla="*/ 6 h 24"/>
                <a:gd name="T54" fmla="*/ 0 w 24"/>
                <a:gd name="T55" fmla="*/ 6 h 24"/>
                <a:gd name="T56" fmla="*/ 0 w 24"/>
                <a:gd name="T57" fmla="*/ 8 h 24"/>
                <a:gd name="T58" fmla="*/ 0 w 24"/>
                <a:gd name="T59" fmla="*/ 9 h 24"/>
                <a:gd name="T60" fmla="*/ 0 w 24"/>
                <a:gd name="T61" fmla="*/ 11 h 24"/>
                <a:gd name="T62" fmla="*/ 0 w 24"/>
                <a:gd name="T63" fmla="*/ 13 h 24"/>
                <a:gd name="T64" fmla="*/ 0 w 24"/>
                <a:gd name="T65" fmla="*/ 15 h 24"/>
                <a:gd name="T66" fmla="*/ 0 w 24"/>
                <a:gd name="T67" fmla="*/ 17 h 24"/>
                <a:gd name="T68" fmla="*/ 2 w 24"/>
                <a:gd name="T69" fmla="*/ 19 h 24"/>
                <a:gd name="T70" fmla="*/ 2 w 24"/>
                <a:gd name="T71" fmla="*/ 19 h 24"/>
                <a:gd name="T72" fmla="*/ 4 w 24"/>
                <a:gd name="T73" fmla="*/ 21 h 24"/>
                <a:gd name="T74" fmla="*/ 5 w 24"/>
                <a:gd name="T75" fmla="*/ 21 h 24"/>
                <a:gd name="T76" fmla="*/ 7 w 24"/>
                <a:gd name="T77" fmla="*/ 23 h 24"/>
                <a:gd name="T78" fmla="*/ 9 w 24"/>
                <a:gd name="T79" fmla="*/ 23 h 24"/>
                <a:gd name="T80" fmla="*/ 11 w 24"/>
                <a:gd name="T81" fmla="*/ 23 h 24"/>
                <a:gd name="T82" fmla="*/ 11 w 24"/>
                <a:gd name="T83" fmla="*/ 23 h 24"/>
                <a:gd name="T84" fmla="*/ 9 w 24"/>
                <a:gd name="T85" fmla="*/ 23 h 2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4"/>
                <a:gd name="T130" fmla="*/ 0 h 24"/>
                <a:gd name="T131" fmla="*/ 24 w 24"/>
                <a:gd name="T132" fmla="*/ 24 h 24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4" h="24">
                  <a:moveTo>
                    <a:pt x="9" y="23"/>
                  </a:moveTo>
                  <a:lnTo>
                    <a:pt x="13" y="23"/>
                  </a:lnTo>
                  <a:lnTo>
                    <a:pt x="15" y="23"/>
                  </a:lnTo>
                  <a:lnTo>
                    <a:pt x="15" y="21"/>
                  </a:lnTo>
                  <a:lnTo>
                    <a:pt x="17" y="21"/>
                  </a:lnTo>
                  <a:lnTo>
                    <a:pt x="19" y="19"/>
                  </a:lnTo>
                  <a:lnTo>
                    <a:pt x="21" y="17"/>
                  </a:lnTo>
                  <a:lnTo>
                    <a:pt x="21" y="15"/>
                  </a:lnTo>
                  <a:lnTo>
                    <a:pt x="23" y="13"/>
                  </a:lnTo>
                  <a:lnTo>
                    <a:pt x="23" y="11"/>
                  </a:lnTo>
                  <a:lnTo>
                    <a:pt x="23" y="9"/>
                  </a:lnTo>
                  <a:lnTo>
                    <a:pt x="21" y="8"/>
                  </a:lnTo>
                  <a:lnTo>
                    <a:pt x="21" y="6"/>
                  </a:lnTo>
                  <a:lnTo>
                    <a:pt x="19" y="6"/>
                  </a:lnTo>
                  <a:lnTo>
                    <a:pt x="19" y="4"/>
                  </a:lnTo>
                  <a:lnTo>
                    <a:pt x="17" y="2"/>
                  </a:lnTo>
                  <a:lnTo>
                    <a:pt x="15" y="2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1" y="0"/>
                  </a:lnTo>
                  <a:lnTo>
                    <a:pt x="9" y="0"/>
                  </a:lnTo>
                  <a:lnTo>
                    <a:pt x="7" y="0"/>
                  </a:lnTo>
                  <a:lnTo>
                    <a:pt x="5" y="2"/>
                  </a:lnTo>
                  <a:lnTo>
                    <a:pt x="4" y="2"/>
                  </a:lnTo>
                  <a:lnTo>
                    <a:pt x="2" y="4"/>
                  </a:lnTo>
                  <a:lnTo>
                    <a:pt x="2" y="6"/>
                  </a:lnTo>
                  <a:lnTo>
                    <a:pt x="0" y="6"/>
                  </a:lnTo>
                  <a:lnTo>
                    <a:pt x="0" y="8"/>
                  </a:lnTo>
                  <a:lnTo>
                    <a:pt x="0" y="9"/>
                  </a:lnTo>
                  <a:lnTo>
                    <a:pt x="0" y="11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0" y="17"/>
                  </a:lnTo>
                  <a:lnTo>
                    <a:pt x="2" y="19"/>
                  </a:lnTo>
                  <a:lnTo>
                    <a:pt x="4" y="21"/>
                  </a:lnTo>
                  <a:lnTo>
                    <a:pt x="5" y="21"/>
                  </a:lnTo>
                  <a:lnTo>
                    <a:pt x="7" y="23"/>
                  </a:lnTo>
                  <a:lnTo>
                    <a:pt x="9" y="23"/>
                  </a:lnTo>
                  <a:lnTo>
                    <a:pt x="11" y="23"/>
                  </a:lnTo>
                  <a:lnTo>
                    <a:pt x="9" y="23"/>
                  </a:lnTo>
                </a:path>
              </a:pathLst>
            </a:custGeom>
            <a:solidFill>
              <a:srgbClr val="000000"/>
            </a:solidFill>
            <a:ln w="9525" cap="rnd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10" name="Freeform 134"/>
            <p:cNvSpPr>
              <a:spLocks/>
            </p:cNvSpPr>
            <p:nvPr/>
          </p:nvSpPr>
          <p:spPr bwMode="auto">
            <a:xfrm>
              <a:off x="915" y="1825"/>
              <a:ext cx="285" cy="413"/>
            </a:xfrm>
            <a:custGeom>
              <a:avLst/>
              <a:gdLst>
                <a:gd name="T0" fmla="*/ 0 w 210"/>
                <a:gd name="T1" fmla="*/ 0 h 413"/>
                <a:gd name="T2" fmla="*/ 0 w 210"/>
                <a:gd name="T3" fmla="*/ 167 h 413"/>
                <a:gd name="T4" fmla="*/ 91 w 210"/>
                <a:gd name="T5" fmla="*/ 207 h 413"/>
                <a:gd name="T6" fmla="*/ 0 w 210"/>
                <a:gd name="T7" fmla="*/ 245 h 413"/>
                <a:gd name="T8" fmla="*/ 0 w 210"/>
                <a:gd name="T9" fmla="*/ 412 h 413"/>
                <a:gd name="T10" fmla="*/ 284 w 210"/>
                <a:gd name="T11" fmla="*/ 286 h 413"/>
                <a:gd name="T12" fmla="*/ 284 w 210"/>
                <a:gd name="T13" fmla="*/ 127 h 413"/>
                <a:gd name="T14" fmla="*/ 0 w 210"/>
                <a:gd name="T15" fmla="*/ 0 h 413"/>
                <a:gd name="T16" fmla="*/ 0 w 210"/>
                <a:gd name="T17" fmla="*/ 0 h 41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10"/>
                <a:gd name="T28" fmla="*/ 0 h 413"/>
                <a:gd name="T29" fmla="*/ 210 w 210"/>
                <a:gd name="T30" fmla="*/ 413 h 413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10" h="413">
                  <a:moveTo>
                    <a:pt x="0" y="0"/>
                  </a:moveTo>
                  <a:lnTo>
                    <a:pt x="0" y="167"/>
                  </a:lnTo>
                  <a:lnTo>
                    <a:pt x="67" y="207"/>
                  </a:lnTo>
                  <a:lnTo>
                    <a:pt x="0" y="245"/>
                  </a:lnTo>
                  <a:lnTo>
                    <a:pt x="0" y="412"/>
                  </a:lnTo>
                  <a:lnTo>
                    <a:pt x="209" y="286"/>
                  </a:lnTo>
                  <a:lnTo>
                    <a:pt x="209" y="127"/>
                  </a:lnTo>
                  <a:lnTo>
                    <a:pt x="0" y="0"/>
                  </a:lnTo>
                </a:path>
              </a:pathLst>
            </a:custGeom>
            <a:solidFill>
              <a:srgbClr val="CCFF99"/>
            </a:solidFill>
            <a:ln w="190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11" name="Line 135"/>
            <p:cNvSpPr>
              <a:spLocks noChangeShapeType="1"/>
            </p:cNvSpPr>
            <p:nvPr/>
          </p:nvSpPr>
          <p:spPr bwMode="auto">
            <a:xfrm flipH="1">
              <a:off x="811" y="2168"/>
              <a:ext cx="102" cy="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12" name="Rectangle 136"/>
            <p:cNvSpPr>
              <a:spLocks noChangeArrowheads="1"/>
            </p:cNvSpPr>
            <p:nvPr/>
          </p:nvSpPr>
          <p:spPr bwMode="auto">
            <a:xfrm>
              <a:off x="812" y="2774"/>
              <a:ext cx="374" cy="2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000000"/>
                  </a:solidFill>
                  <a:latin typeface="+mj-lt"/>
                </a:rPr>
                <a:t>Instruction</a:t>
              </a:r>
            </a:p>
            <a:p>
              <a:pPr algn="ctr"/>
              <a:r>
                <a:rPr lang="en-US" sz="1200" dirty="0">
                  <a:solidFill>
                    <a:srgbClr val="000000"/>
                  </a:solidFill>
                  <a:latin typeface="+mj-lt"/>
                </a:rPr>
                <a:t>Memory</a:t>
              </a:r>
              <a:endParaRPr lang="en-US" sz="500" dirty="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413" name="Rectangle 138"/>
            <p:cNvSpPr>
              <a:spLocks noChangeArrowheads="1"/>
            </p:cNvSpPr>
            <p:nvPr/>
          </p:nvSpPr>
          <p:spPr bwMode="auto">
            <a:xfrm>
              <a:off x="747" y="2481"/>
              <a:ext cx="208" cy="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900">
                  <a:solidFill>
                    <a:srgbClr val="000000"/>
                  </a:solidFill>
                  <a:latin typeface="+mj-lt"/>
                </a:rPr>
                <a:t>Address</a:t>
              </a:r>
              <a:endParaRPr lang="en-US" sz="5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414" name="Rectangle 139"/>
            <p:cNvSpPr>
              <a:spLocks noChangeArrowheads="1"/>
            </p:cNvSpPr>
            <p:nvPr/>
          </p:nvSpPr>
          <p:spPr bwMode="auto">
            <a:xfrm>
              <a:off x="1042" y="1968"/>
              <a:ext cx="138" cy="1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dirty="0">
                  <a:solidFill>
                    <a:srgbClr val="000000"/>
                  </a:solidFill>
                  <a:latin typeface="+mj-lt"/>
                </a:rPr>
                <a:t>Add</a:t>
              </a:r>
              <a:endParaRPr lang="en-US" sz="500" dirty="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415" name="Rectangle 140"/>
            <p:cNvSpPr>
              <a:spLocks noChangeArrowheads="1"/>
            </p:cNvSpPr>
            <p:nvPr/>
          </p:nvSpPr>
          <p:spPr bwMode="auto">
            <a:xfrm>
              <a:off x="1311" y="1755"/>
              <a:ext cx="223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dirty="0">
                  <a:solidFill>
                    <a:srgbClr val="000000"/>
                  </a:solidFill>
                  <a:latin typeface="+mj-lt"/>
                </a:rPr>
                <a:t>IF/ID</a:t>
              </a:r>
            </a:p>
          </p:txBody>
        </p:sp>
        <p:grpSp>
          <p:nvGrpSpPr>
            <p:cNvPr id="54416" name="Group 141"/>
            <p:cNvGrpSpPr>
              <a:grpSpLocks/>
            </p:cNvGrpSpPr>
            <p:nvPr/>
          </p:nvGrpSpPr>
          <p:grpSpPr bwMode="auto">
            <a:xfrm>
              <a:off x="432" y="2393"/>
              <a:ext cx="156" cy="245"/>
              <a:chOff x="480" y="2155"/>
              <a:chExt cx="156" cy="245"/>
            </a:xfrm>
          </p:grpSpPr>
          <p:sp>
            <p:nvSpPr>
              <p:cNvPr id="54455" name="Freeform 142"/>
              <p:cNvSpPr>
                <a:spLocks/>
              </p:cNvSpPr>
              <p:nvPr/>
            </p:nvSpPr>
            <p:spPr bwMode="auto">
              <a:xfrm>
                <a:off x="480" y="2155"/>
                <a:ext cx="156" cy="245"/>
              </a:xfrm>
              <a:custGeom>
                <a:avLst/>
                <a:gdLst>
                  <a:gd name="T0" fmla="*/ 155 w 104"/>
                  <a:gd name="T1" fmla="*/ 242 h 245"/>
                  <a:gd name="T2" fmla="*/ 155 w 104"/>
                  <a:gd name="T3" fmla="*/ 0 h 245"/>
                  <a:gd name="T4" fmla="*/ 0 w 104"/>
                  <a:gd name="T5" fmla="*/ 0 h 245"/>
                  <a:gd name="T6" fmla="*/ 0 w 104"/>
                  <a:gd name="T7" fmla="*/ 244 h 245"/>
                  <a:gd name="T8" fmla="*/ 155 w 104"/>
                  <a:gd name="T9" fmla="*/ 244 h 245"/>
                  <a:gd name="T10" fmla="*/ 155 w 104"/>
                  <a:gd name="T11" fmla="*/ 244 h 24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04"/>
                  <a:gd name="T19" fmla="*/ 0 h 245"/>
                  <a:gd name="T20" fmla="*/ 104 w 104"/>
                  <a:gd name="T21" fmla="*/ 245 h 245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04" h="245">
                    <a:moveTo>
                      <a:pt x="103" y="242"/>
                    </a:moveTo>
                    <a:lnTo>
                      <a:pt x="103" y="0"/>
                    </a:lnTo>
                    <a:lnTo>
                      <a:pt x="0" y="0"/>
                    </a:lnTo>
                    <a:lnTo>
                      <a:pt x="0" y="244"/>
                    </a:lnTo>
                    <a:lnTo>
                      <a:pt x="103" y="244"/>
                    </a:lnTo>
                  </a:path>
                </a:pathLst>
              </a:custGeom>
              <a:solidFill>
                <a:srgbClr val="FFE6CD"/>
              </a:solidFill>
              <a:ln w="1905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54456" name="Rectangle 143"/>
              <p:cNvSpPr>
                <a:spLocks noChangeArrowheads="1"/>
              </p:cNvSpPr>
              <p:nvPr/>
            </p:nvSpPr>
            <p:spPr bwMode="auto">
              <a:xfrm>
                <a:off x="509" y="2220"/>
                <a:ext cx="90" cy="108"/>
              </a:xfrm>
              <a:prstGeom prst="rect">
                <a:avLst/>
              </a:prstGeom>
              <a:solidFill>
                <a:srgbClr val="FFE6CD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200" dirty="0">
                    <a:solidFill>
                      <a:srgbClr val="000000"/>
                    </a:solidFill>
                    <a:latin typeface="+mj-lt"/>
                  </a:rPr>
                  <a:t>PC</a:t>
                </a:r>
                <a:endParaRPr lang="en-US" sz="500" dirty="0">
                  <a:solidFill>
                    <a:srgbClr val="000000"/>
                  </a:solidFill>
                  <a:latin typeface="+mj-lt"/>
                </a:endParaRPr>
              </a:p>
            </p:txBody>
          </p:sp>
        </p:grpSp>
        <p:sp>
          <p:nvSpPr>
            <p:cNvPr id="54417" name="Line 144"/>
            <p:cNvSpPr>
              <a:spLocks noChangeShapeType="1"/>
            </p:cNvSpPr>
            <p:nvPr/>
          </p:nvSpPr>
          <p:spPr bwMode="auto">
            <a:xfrm flipH="1">
              <a:off x="1290" y="2688"/>
              <a:ext cx="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18" name="Line 145"/>
            <p:cNvSpPr>
              <a:spLocks noChangeShapeType="1"/>
            </p:cNvSpPr>
            <p:nvPr/>
          </p:nvSpPr>
          <p:spPr bwMode="auto">
            <a:xfrm flipV="1">
              <a:off x="1248" y="1782"/>
              <a:ext cx="0" cy="2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19" name="Line 146"/>
            <p:cNvSpPr>
              <a:spLocks noChangeShapeType="1"/>
            </p:cNvSpPr>
            <p:nvPr/>
          </p:nvSpPr>
          <p:spPr bwMode="auto">
            <a:xfrm flipH="1" flipV="1">
              <a:off x="3843" y="1594"/>
              <a:ext cx="0" cy="57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20" name="Line 147"/>
            <p:cNvSpPr>
              <a:spLocks noChangeShapeType="1"/>
            </p:cNvSpPr>
            <p:nvPr/>
          </p:nvSpPr>
          <p:spPr bwMode="auto">
            <a:xfrm rot="5400000" flipH="1" flipV="1">
              <a:off x="1011" y="1542"/>
              <a:ext cx="3" cy="47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21" name="Line 148"/>
            <p:cNvSpPr>
              <a:spLocks noChangeShapeType="1"/>
            </p:cNvSpPr>
            <p:nvPr/>
          </p:nvSpPr>
          <p:spPr bwMode="auto">
            <a:xfrm rot="16200000" flipV="1">
              <a:off x="3756" y="2077"/>
              <a:ext cx="3" cy="17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22" name="Line 149"/>
            <p:cNvSpPr>
              <a:spLocks noChangeShapeType="1"/>
            </p:cNvSpPr>
            <p:nvPr/>
          </p:nvSpPr>
          <p:spPr bwMode="auto">
            <a:xfrm rot="16200000" flipV="1">
              <a:off x="521" y="1529"/>
              <a:ext cx="0" cy="31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23" name="Line 150"/>
            <p:cNvSpPr>
              <a:spLocks noChangeShapeType="1"/>
            </p:cNvSpPr>
            <p:nvPr/>
          </p:nvSpPr>
          <p:spPr bwMode="auto">
            <a:xfrm flipV="1">
              <a:off x="360" y="1683"/>
              <a:ext cx="0" cy="83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24" name="Line 151"/>
            <p:cNvSpPr>
              <a:spLocks noChangeShapeType="1"/>
            </p:cNvSpPr>
            <p:nvPr/>
          </p:nvSpPr>
          <p:spPr bwMode="auto">
            <a:xfrm rot="16200000" flipV="1">
              <a:off x="393" y="2481"/>
              <a:ext cx="0" cy="6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grpSp>
          <p:nvGrpSpPr>
            <p:cNvPr id="54425" name="Group 152"/>
            <p:cNvGrpSpPr>
              <a:grpSpLocks/>
            </p:cNvGrpSpPr>
            <p:nvPr/>
          </p:nvGrpSpPr>
          <p:grpSpPr bwMode="auto">
            <a:xfrm>
              <a:off x="2754" y="3391"/>
              <a:ext cx="127" cy="309"/>
              <a:chOff x="2742" y="3153"/>
              <a:chExt cx="127" cy="309"/>
            </a:xfrm>
          </p:grpSpPr>
          <p:sp>
            <p:nvSpPr>
              <p:cNvPr id="54451" name="Rectangle 153"/>
              <p:cNvSpPr>
                <a:spLocks noChangeArrowheads="1"/>
              </p:cNvSpPr>
              <p:nvPr/>
            </p:nvSpPr>
            <p:spPr bwMode="auto">
              <a:xfrm>
                <a:off x="2745" y="3153"/>
                <a:ext cx="124" cy="108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r>
                  <a:rPr lang="en-US" sz="600" dirty="0">
                    <a:solidFill>
                      <a:srgbClr val="000000"/>
                    </a:solidFill>
                    <a:latin typeface="+mj-lt"/>
                  </a:rPr>
                  <a:t>0</a:t>
                </a:r>
              </a:p>
            </p:txBody>
          </p:sp>
          <p:sp>
            <p:nvSpPr>
              <p:cNvPr id="54452" name="Rectangle 154"/>
              <p:cNvSpPr>
                <a:spLocks noChangeArrowheads="1"/>
              </p:cNvSpPr>
              <p:nvPr/>
            </p:nvSpPr>
            <p:spPr bwMode="auto">
              <a:xfrm>
                <a:off x="2742" y="3354"/>
                <a:ext cx="124" cy="108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r>
                  <a:rPr lang="en-US" sz="600" dirty="0">
                    <a:solidFill>
                      <a:srgbClr val="000000"/>
                    </a:solidFill>
                    <a:latin typeface="+mj-lt"/>
                  </a:rPr>
                  <a:t>1</a:t>
                </a:r>
              </a:p>
            </p:txBody>
          </p:sp>
          <p:sp>
            <p:nvSpPr>
              <p:cNvPr id="54453" name="Rectangle 155"/>
              <p:cNvSpPr>
                <a:spLocks noChangeArrowheads="1"/>
              </p:cNvSpPr>
              <p:nvPr/>
            </p:nvSpPr>
            <p:spPr bwMode="auto">
              <a:xfrm>
                <a:off x="2793" y="3230"/>
                <a:ext cx="45" cy="151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>
                  <a:lnSpc>
                    <a:spcPct val="70000"/>
                  </a:lnSpc>
                </a:pPr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m</a:t>
                </a:r>
              </a:p>
              <a:p>
                <a:pPr algn="ctr">
                  <a:lnSpc>
                    <a:spcPct val="70000"/>
                  </a:lnSpc>
                </a:pPr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u</a:t>
                </a:r>
              </a:p>
              <a:p>
                <a:pPr algn="ctr">
                  <a:lnSpc>
                    <a:spcPct val="70000"/>
                  </a:lnSpc>
                </a:pPr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x</a:t>
                </a:r>
                <a:endParaRPr lang="en-US" sz="500">
                  <a:solidFill>
                    <a:srgbClr val="000000"/>
                  </a:solidFill>
                  <a:latin typeface="+mj-lt"/>
                </a:endParaRPr>
              </a:p>
            </p:txBody>
          </p:sp>
          <p:sp>
            <p:nvSpPr>
              <p:cNvPr id="54454" name="AutoShape 156"/>
              <p:cNvSpPr>
                <a:spLocks noChangeArrowheads="1"/>
              </p:cNvSpPr>
              <p:nvPr/>
            </p:nvSpPr>
            <p:spPr bwMode="auto">
              <a:xfrm rot="5400000">
                <a:off x="2665" y="3263"/>
                <a:ext cx="297" cy="96"/>
              </a:xfrm>
              <a:prstGeom prst="flowChartTerminator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>
                  <a:latin typeface="+mj-lt"/>
                </a:endParaRPr>
              </a:p>
            </p:txBody>
          </p:sp>
        </p:grpSp>
        <p:grpSp>
          <p:nvGrpSpPr>
            <p:cNvPr id="54426" name="Group 157"/>
            <p:cNvGrpSpPr>
              <a:grpSpLocks/>
            </p:cNvGrpSpPr>
            <p:nvPr/>
          </p:nvGrpSpPr>
          <p:grpSpPr bwMode="auto">
            <a:xfrm>
              <a:off x="2796" y="2665"/>
              <a:ext cx="127" cy="309"/>
              <a:chOff x="2748" y="3153"/>
              <a:chExt cx="127" cy="309"/>
            </a:xfrm>
          </p:grpSpPr>
          <p:sp>
            <p:nvSpPr>
              <p:cNvPr id="54447" name="Rectangle 158"/>
              <p:cNvSpPr>
                <a:spLocks noChangeArrowheads="1"/>
              </p:cNvSpPr>
              <p:nvPr/>
            </p:nvSpPr>
            <p:spPr bwMode="auto">
              <a:xfrm>
                <a:off x="2751" y="3153"/>
                <a:ext cx="124" cy="108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r>
                  <a:rPr lang="en-US" sz="600" dirty="0">
                    <a:solidFill>
                      <a:srgbClr val="000000"/>
                    </a:solidFill>
                    <a:latin typeface="+mj-lt"/>
                  </a:rPr>
                  <a:t>0</a:t>
                </a:r>
              </a:p>
            </p:txBody>
          </p:sp>
          <p:sp>
            <p:nvSpPr>
              <p:cNvPr id="54448" name="Rectangle 159"/>
              <p:cNvSpPr>
                <a:spLocks noChangeArrowheads="1"/>
              </p:cNvSpPr>
              <p:nvPr/>
            </p:nvSpPr>
            <p:spPr bwMode="auto">
              <a:xfrm>
                <a:off x="2748" y="3354"/>
                <a:ext cx="124" cy="108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r>
                  <a:rPr lang="en-US" sz="600" dirty="0">
                    <a:solidFill>
                      <a:srgbClr val="000000"/>
                    </a:solidFill>
                    <a:latin typeface="+mj-lt"/>
                  </a:rPr>
                  <a:t>1</a:t>
                </a:r>
              </a:p>
            </p:txBody>
          </p:sp>
          <p:sp>
            <p:nvSpPr>
              <p:cNvPr id="54449" name="Rectangle 160"/>
              <p:cNvSpPr>
                <a:spLocks noChangeArrowheads="1"/>
              </p:cNvSpPr>
              <p:nvPr/>
            </p:nvSpPr>
            <p:spPr bwMode="auto">
              <a:xfrm>
                <a:off x="2795" y="3238"/>
                <a:ext cx="40" cy="132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>
                  <a:lnSpc>
                    <a:spcPct val="70000"/>
                  </a:lnSpc>
                </a:pPr>
                <a:r>
                  <a:rPr lang="en-US" sz="700" dirty="0">
                    <a:solidFill>
                      <a:srgbClr val="000000"/>
                    </a:solidFill>
                    <a:latin typeface="+mj-lt"/>
                  </a:rPr>
                  <a:t>m</a:t>
                </a:r>
              </a:p>
              <a:p>
                <a:pPr algn="ctr">
                  <a:lnSpc>
                    <a:spcPct val="70000"/>
                  </a:lnSpc>
                </a:pPr>
                <a:r>
                  <a:rPr lang="en-US" sz="700" dirty="0">
                    <a:solidFill>
                      <a:srgbClr val="000000"/>
                    </a:solidFill>
                    <a:latin typeface="+mj-lt"/>
                  </a:rPr>
                  <a:t>u</a:t>
                </a:r>
              </a:p>
              <a:p>
                <a:pPr algn="ctr">
                  <a:lnSpc>
                    <a:spcPct val="70000"/>
                  </a:lnSpc>
                </a:pPr>
                <a:r>
                  <a:rPr lang="en-US" sz="700" dirty="0">
                    <a:solidFill>
                      <a:srgbClr val="000000"/>
                    </a:solidFill>
                    <a:latin typeface="+mj-lt"/>
                  </a:rPr>
                  <a:t>x</a:t>
                </a:r>
                <a:endParaRPr lang="en-US" sz="400" dirty="0">
                  <a:solidFill>
                    <a:srgbClr val="000000"/>
                  </a:solidFill>
                  <a:latin typeface="+mj-lt"/>
                </a:endParaRPr>
              </a:p>
            </p:txBody>
          </p:sp>
          <p:sp>
            <p:nvSpPr>
              <p:cNvPr id="54450" name="AutoShape 161"/>
              <p:cNvSpPr>
                <a:spLocks noChangeArrowheads="1"/>
              </p:cNvSpPr>
              <p:nvPr/>
            </p:nvSpPr>
            <p:spPr bwMode="auto">
              <a:xfrm rot="5400000">
                <a:off x="2665" y="3263"/>
                <a:ext cx="297" cy="96"/>
              </a:xfrm>
              <a:prstGeom prst="flowChartTerminator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>
                  <a:latin typeface="+mj-lt"/>
                </a:endParaRPr>
              </a:p>
            </p:txBody>
          </p:sp>
        </p:grpSp>
        <p:sp>
          <p:nvSpPr>
            <p:cNvPr id="54427" name="Line 162"/>
            <p:cNvSpPr>
              <a:spLocks noChangeShapeType="1"/>
            </p:cNvSpPr>
            <p:nvPr/>
          </p:nvSpPr>
          <p:spPr bwMode="auto">
            <a:xfrm flipV="1">
              <a:off x="3168" y="2844"/>
              <a:ext cx="0" cy="391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28" name="Line 163"/>
            <p:cNvSpPr>
              <a:spLocks noChangeShapeType="1"/>
            </p:cNvSpPr>
            <p:nvPr/>
          </p:nvSpPr>
          <p:spPr bwMode="auto">
            <a:xfrm rot="5400000" flipV="1">
              <a:off x="3142" y="3203"/>
              <a:ext cx="0" cy="52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grpSp>
          <p:nvGrpSpPr>
            <p:cNvPr id="54429" name="Group 164"/>
            <p:cNvGrpSpPr>
              <a:grpSpLocks/>
            </p:cNvGrpSpPr>
            <p:nvPr/>
          </p:nvGrpSpPr>
          <p:grpSpPr bwMode="auto">
            <a:xfrm flipH="1">
              <a:off x="672" y="1534"/>
              <a:ext cx="127" cy="309"/>
              <a:chOff x="2743" y="3153"/>
              <a:chExt cx="127" cy="309"/>
            </a:xfrm>
          </p:grpSpPr>
          <p:sp>
            <p:nvSpPr>
              <p:cNvPr id="54443" name="Rectangle 165"/>
              <p:cNvSpPr>
                <a:spLocks noChangeArrowheads="1"/>
              </p:cNvSpPr>
              <p:nvPr/>
            </p:nvSpPr>
            <p:spPr bwMode="auto">
              <a:xfrm>
                <a:off x="2746" y="3153"/>
                <a:ext cx="124" cy="108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r>
                  <a:rPr lang="en-US" sz="600" dirty="0">
                    <a:solidFill>
                      <a:srgbClr val="000000"/>
                    </a:solidFill>
                    <a:latin typeface="+mj-lt"/>
                  </a:rPr>
                  <a:t>0</a:t>
                </a:r>
              </a:p>
            </p:txBody>
          </p:sp>
          <p:sp>
            <p:nvSpPr>
              <p:cNvPr id="54444" name="Rectangle 166"/>
              <p:cNvSpPr>
                <a:spLocks noChangeArrowheads="1"/>
              </p:cNvSpPr>
              <p:nvPr/>
            </p:nvSpPr>
            <p:spPr bwMode="auto">
              <a:xfrm>
                <a:off x="2743" y="3354"/>
                <a:ext cx="124" cy="108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r>
                  <a:rPr lang="en-US" sz="600">
                    <a:solidFill>
                      <a:srgbClr val="000000"/>
                    </a:solidFill>
                    <a:latin typeface="+mj-lt"/>
                  </a:rPr>
                  <a:t>1</a:t>
                </a:r>
              </a:p>
            </p:txBody>
          </p:sp>
          <p:sp>
            <p:nvSpPr>
              <p:cNvPr id="54445" name="Rectangle 167"/>
              <p:cNvSpPr>
                <a:spLocks noChangeArrowheads="1"/>
              </p:cNvSpPr>
              <p:nvPr/>
            </p:nvSpPr>
            <p:spPr bwMode="auto">
              <a:xfrm>
                <a:off x="2795" y="3238"/>
                <a:ext cx="40" cy="132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>
                  <a:lnSpc>
                    <a:spcPct val="70000"/>
                  </a:lnSpc>
                </a:pPr>
                <a:r>
                  <a:rPr lang="en-US" sz="700">
                    <a:solidFill>
                      <a:srgbClr val="000000"/>
                    </a:solidFill>
                    <a:latin typeface="+mj-lt"/>
                  </a:rPr>
                  <a:t>m</a:t>
                </a:r>
              </a:p>
              <a:p>
                <a:pPr algn="ctr">
                  <a:lnSpc>
                    <a:spcPct val="70000"/>
                  </a:lnSpc>
                </a:pPr>
                <a:r>
                  <a:rPr lang="en-US" sz="700">
                    <a:solidFill>
                      <a:srgbClr val="000000"/>
                    </a:solidFill>
                    <a:latin typeface="+mj-lt"/>
                  </a:rPr>
                  <a:t>u</a:t>
                </a:r>
              </a:p>
              <a:p>
                <a:pPr algn="ctr">
                  <a:lnSpc>
                    <a:spcPct val="70000"/>
                  </a:lnSpc>
                </a:pPr>
                <a:r>
                  <a:rPr lang="en-US" sz="700">
                    <a:solidFill>
                      <a:srgbClr val="000000"/>
                    </a:solidFill>
                    <a:latin typeface="+mj-lt"/>
                  </a:rPr>
                  <a:t>x</a:t>
                </a:r>
                <a:endParaRPr lang="en-US" sz="400">
                  <a:solidFill>
                    <a:srgbClr val="000000"/>
                  </a:solidFill>
                  <a:latin typeface="+mj-lt"/>
                </a:endParaRPr>
              </a:p>
            </p:txBody>
          </p:sp>
          <p:sp>
            <p:nvSpPr>
              <p:cNvPr id="54446" name="AutoShape 168"/>
              <p:cNvSpPr>
                <a:spLocks noChangeArrowheads="1"/>
              </p:cNvSpPr>
              <p:nvPr/>
            </p:nvSpPr>
            <p:spPr bwMode="auto">
              <a:xfrm rot="5400000">
                <a:off x="2665" y="3263"/>
                <a:ext cx="297" cy="96"/>
              </a:xfrm>
              <a:prstGeom prst="flowChartTerminator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>
                  <a:latin typeface="+mj-lt"/>
                </a:endParaRPr>
              </a:p>
            </p:txBody>
          </p:sp>
        </p:grpSp>
        <p:grpSp>
          <p:nvGrpSpPr>
            <p:cNvPr id="54430" name="Group 169"/>
            <p:cNvGrpSpPr>
              <a:grpSpLocks/>
            </p:cNvGrpSpPr>
            <p:nvPr/>
          </p:nvGrpSpPr>
          <p:grpSpPr bwMode="auto">
            <a:xfrm>
              <a:off x="4899" y="2686"/>
              <a:ext cx="127" cy="309"/>
              <a:chOff x="2742" y="3153"/>
              <a:chExt cx="127" cy="309"/>
            </a:xfrm>
          </p:grpSpPr>
          <p:sp>
            <p:nvSpPr>
              <p:cNvPr id="54439" name="Rectangle 170"/>
              <p:cNvSpPr>
                <a:spLocks noChangeArrowheads="1"/>
              </p:cNvSpPr>
              <p:nvPr/>
            </p:nvSpPr>
            <p:spPr bwMode="auto">
              <a:xfrm>
                <a:off x="2745" y="3153"/>
                <a:ext cx="124" cy="108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r>
                  <a:rPr lang="en-US" sz="600" dirty="0">
                    <a:solidFill>
                      <a:srgbClr val="000000"/>
                    </a:solidFill>
                    <a:latin typeface="+mj-lt"/>
                  </a:rPr>
                  <a:t>0</a:t>
                </a:r>
              </a:p>
            </p:txBody>
          </p:sp>
          <p:sp>
            <p:nvSpPr>
              <p:cNvPr id="54440" name="Rectangle 171"/>
              <p:cNvSpPr>
                <a:spLocks noChangeArrowheads="1"/>
              </p:cNvSpPr>
              <p:nvPr/>
            </p:nvSpPr>
            <p:spPr bwMode="auto">
              <a:xfrm>
                <a:off x="2742" y="3354"/>
                <a:ext cx="124" cy="108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r>
                  <a:rPr lang="en-US" sz="600" dirty="0">
                    <a:solidFill>
                      <a:srgbClr val="000000"/>
                    </a:solidFill>
                    <a:latin typeface="+mj-lt"/>
                  </a:rPr>
                  <a:t>1</a:t>
                </a:r>
              </a:p>
            </p:txBody>
          </p:sp>
          <p:sp>
            <p:nvSpPr>
              <p:cNvPr id="54441" name="Rectangle 172"/>
              <p:cNvSpPr>
                <a:spLocks noChangeArrowheads="1"/>
              </p:cNvSpPr>
              <p:nvPr/>
            </p:nvSpPr>
            <p:spPr bwMode="auto">
              <a:xfrm>
                <a:off x="2795" y="3238"/>
                <a:ext cx="40" cy="132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>
                  <a:lnSpc>
                    <a:spcPct val="70000"/>
                  </a:lnSpc>
                </a:pPr>
                <a:r>
                  <a:rPr lang="en-US" sz="700">
                    <a:solidFill>
                      <a:srgbClr val="000000"/>
                    </a:solidFill>
                    <a:latin typeface="+mj-lt"/>
                  </a:rPr>
                  <a:t>m</a:t>
                </a:r>
              </a:p>
              <a:p>
                <a:pPr algn="ctr">
                  <a:lnSpc>
                    <a:spcPct val="70000"/>
                  </a:lnSpc>
                </a:pPr>
                <a:r>
                  <a:rPr lang="en-US" sz="700">
                    <a:solidFill>
                      <a:srgbClr val="000000"/>
                    </a:solidFill>
                    <a:latin typeface="+mj-lt"/>
                  </a:rPr>
                  <a:t>u</a:t>
                </a:r>
              </a:p>
              <a:p>
                <a:pPr algn="ctr">
                  <a:lnSpc>
                    <a:spcPct val="70000"/>
                  </a:lnSpc>
                </a:pPr>
                <a:r>
                  <a:rPr lang="en-US" sz="700">
                    <a:solidFill>
                      <a:srgbClr val="000000"/>
                    </a:solidFill>
                    <a:latin typeface="+mj-lt"/>
                  </a:rPr>
                  <a:t>x</a:t>
                </a:r>
                <a:endParaRPr lang="en-US" sz="400">
                  <a:solidFill>
                    <a:srgbClr val="000000"/>
                  </a:solidFill>
                  <a:latin typeface="+mj-lt"/>
                </a:endParaRPr>
              </a:p>
            </p:txBody>
          </p:sp>
          <p:sp>
            <p:nvSpPr>
              <p:cNvPr id="54442" name="AutoShape 173"/>
              <p:cNvSpPr>
                <a:spLocks noChangeArrowheads="1"/>
              </p:cNvSpPr>
              <p:nvPr/>
            </p:nvSpPr>
            <p:spPr bwMode="auto">
              <a:xfrm rot="5400000">
                <a:off x="2665" y="3263"/>
                <a:ext cx="297" cy="96"/>
              </a:xfrm>
              <a:prstGeom prst="flowChartTerminator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>
                  <a:latin typeface="+mj-lt"/>
                </a:endParaRPr>
              </a:p>
            </p:txBody>
          </p:sp>
        </p:grpSp>
        <p:sp>
          <p:nvSpPr>
            <p:cNvPr id="54431" name="Rectangle 174"/>
            <p:cNvSpPr>
              <a:spLocks noChangeArrowheads="1"/>
            </p:cNvSpPr>
            <p:nvPr/>
          </p:nvSpPr>
          <p:spPr bwMode="auto">
            <a:xfrm>
              <a:off x="882" y="2648"/>
              <a:ext cx="282" cy="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900" dirty="0">
                  <a:solidFill>
                    <a:srgbClr val="000000"/>
                  </a:solidFill>
                  <a:latin typeface="+mj-lt"/>
                </a:rPr>
                <a:t>Instruction</a:t>
              </a:r>
              <a:endParaRPr lang="en-US" sz="500" dirty="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432" name="Line 175"/>
            <p:cNvSpPr>
              <a:spLocks noChangeShapeType="1"/>
            </p:cNvSpPr>
            <p:nvPr/>
          </p:nvSpPr>
          <p:spPr bwMode="auto">
            <a:xfrm flipV="1">
              <a:off x="1638" y="2431"/>
              <a:ext cx="0" cy="121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33" name="Line 176"/>
            <p:cNvSpPr>
              <a:spLocks noChangeShapeType="1"/>
            </p:cNvSpPr>
            <p:nvPr/>
          </p:nvSpPr>
          <p:spPr bwMode="auto">
            <a:xfrm flipV="1">
              <a:off x="1639" y="3643"/>
              <a:ext cx="794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34" name="Line 177"/>
            <p:cNvSpPr>
              <a:spLocks noChangeShapeType="1"/>
            </p:cNvSpPr>
            <p:nvPr/>
          </p:nvSpPr>
          <p:spPr bwMode="auto">
            <a:xfrm flipH="1">
              <a:off x="777" y="1594"/>
              <a:ext cx="30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35" name="Line 178"/>
            <p:cNvSpPr>
              <a:spLocks noChangeShapeType="1"/>
            </p:cNvSpPr>
            <p:nvPr/>
          </p:nvSpPr>
          <p:spPr bwMode="auto">
            <a:xfrm flipV="1">
              <a:off x="3969" y="2359"/>
              <a:ext cx="65" cy="2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36" name="Line 179"/>
            <p:cNvSpPr>
              <a:spLocks noChangeShapeType="1"/>
            </p:cNvSpPr>
            <p:nvPr/>
          </p:nvSpPr>
          <p:spPr bwMode="auto">
            <a:xfrm rot="-5400000" flipH="1" flipV="1">
              <a:off x="3566" y="1901"/>
              <a:ext cx="926" cy="1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37" name="Line 180"/>
            <p:cNvSpPr>
              <a:spLocks noChangeShapeType="1"/>
            </p:cNvSpPr>
            <p:nvPr/>
          </p:nvSpPr>
          <p:spPr bwMode="auto">
            <a:xfrm>
              <a:off x="720" y="1438"/>
              <a:ext cx="3312" cy="0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38" name="Line 181"/>
            <p:cNvSpPr>
              <a:spLocks noChangeShapeType="1"/>
            </p:cNvSpPr>
            <p:nvPr/>
          </p:nvSpPr>
          <p:spPr bwMode="auto">
            <a:xfrm rot="-5400000" flipH="1" flipV="1">
              <a:off x="670" y="1491"/>
              <a:ext cx="107" cy="1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20" name="Rectangle 36"/>
            <p:cNvSpPr>
              <a:spLocks noChangeArrowheads="1"/>
            </p:cNvSpPr>
            <p:nvPr/>
          </p:nvSpPr>
          <p:spPr bwMode="auto">
            <a:xfrm>
              <a:off x="2658" y="2526"/>
              <a:ext cx="215" cy="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50" dirty="0" err="1">
                  <a:solidFill>
                    <a:srgbClr val="EB7500"/>
                  </a:solidFill>
                  <a:latin typeface="+mj-lt"/>
                </a:rPr>
                <a:t>ALUSrc</a:t>
              </a:r>
              <a:endParaRPr lang="en-US" sz="700" dirty="0">
                <a:solidFill>
                  <a:srgbClr val="EB7500"/>
                </a:solidFill>
                <a:latin typeface="+mj-lt"/>
              </a:endParaRPr>
            </a:p>
          </p:txBody>
        </p:sp>
        <p:sp>
          <p:nvSpPr>
            <p:cNvPr id="54348" name="Rectangle 64"/>
            <p:cNvSpPr>
              <a:spLocks noChangeArrowheads="1"/>
            </p:cNvSpPr>
            <p:nvPr/>
          </p:nvSpPr>
          <p:spPr bwMode="auto">
            <a:xfrm>
              <a:off x="3034" y="3421"/>
              <a:ext cx="217" cy="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50" dirty="0" err="1">
                  <a:solidFill>
                    <a:srgbClr val="EB7500"/>
                  </a:solidFill>
                  <a:latin typeface="+mj-lt"/>
                </a:rPr>
                <a:t>ALUOp</a:t>
              </a:r>
              <a:endParaRPr lang="en-US" sz="1050" dirty="0">
                <a:solidFill>
                  <a:srgbClr val="EB7500"/>
                </a:solidFill>
                <a:latin typeface="+mj-lt"/>
              </a:endParaRPr>
            </a:p>
          </p:txBody>
        </p:sp>
        <p:sp>
          <p:nvSpPr>
            <p:cNvPr id="54349" name="Rectangle 65"/>
            <p:cNvSpPr>
              <a:spLocks noChangeArrowheads="1"/>
            </p:cNvSpPr>
            <p:nvPr/>
          </p:nvSpPr>
          <p:spPr bwMode="auto">
            <a:xfrm>
              <a:off x="2841" y="3700"/>
              <a:ext cx="214" cy="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50">
                  <a:solidFill>
                    <a:srgbClr val="EB7500"/>
                  </a:solidFill>
                  <a:latin typeface="+mj-lt"/>
                </a:rPr>
                <a:t>RegDst</a:t>
              </a:r>
            </a:p>
          </p:txBody>
        </p:sp>
        <p:sp>
          <p:nvSpPr>
            <p:cNvPr id="54352" name="Rectangle 68"/>
            <p:cNvSpPr>
              <a:spLocks noChangeArrowheads="1"/>
            </p:cNvSpPr>
            <p:nvPr/>
          </p:nvSpPr>
          <p:spPr bwMode="auto">
            <a:xfrm>
              <a:off x="1913" y="2186"/>
              <a:ext cx="294" cy="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50" dirty="0" err="1">
                  <a:solidFill>
                    <a:srgbClr val="EB7500"/>
                  </a:solidFill>
                  <a:latin typeface="+mj-lt"/>
                </a:rPr>
                <a:t>RegWrite</a:t>
              </a:r>
              <a:endParaRPr lang="en-US" sz="1050" dirty="0">
                <a:solidFill>
                  <a:srgbClr val="EB7500"/>
                </a:solidFill>
                <a:latin typeface="+mj-lt"/>
              </a:endParaRPr>
            </a:p>
          </p:txBody>
        </p:sp>
        <p:sp>
          <p:nvSpPr>
            <p:cNvPr id="54388" name="Rectangle 112"/>
            <p:cNvSpPr>
              <a:spLocks noChangeArrowheads="1"/>
            </p:cNvSpPr>
            <p:nvPr/>
          </p:nvSpPr>
          <p:spPr bwMode="auto">
            <a:xfrm>
              <a:off x="3734" y="2172"/>
              <a:ext cx="220" cy="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50">
                  <a:solidFill>
                    <a:srgbClr val="EB7500"/>
                  </a:solidFill>
                  <a:latin typeface="+mj-lt"/>
                </a:rPr>
                <a:t>Branch</a:t>
              </a:r>
            </a:p>
          </p:txBody>
        </p:sp>
        <p:sp>
          <p:nvSpPr>
            <p:cNvPr id="54389" name="Rectangle 113"/>
            <p:cNvSpPr>
              <a:spLocks noChangeArrowheads="1"/>
            </p:cNvSpPr>
            <p:nvPr/>
          </p:nvSpPr>
          <p:spPr bwMode="auto">
            <a:xfrm>
              <a:off x="4056" y="1582"/>
              <a:ext cx="170" cy="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50">
                  <a:solidFill>
                    <a:srgbClr val="EB7500"/>
                  </a:solidFill>
                  <a:latin typeface="+mj-lt"/>
                </a:rPr>
                <a:t>PCSrc</a:t>
              </a:r>
            </a:p>
          </p:txBody>
        </p:sp>
        <p:sp>
          <p:nvSpPr>
            <p:cNvPr id="54399" name="Rectangle 123"/>
            <p:cNvSpPr>
              <a:spLocks noChangeArrowheads="1"/>
            </p:cNvSpPr>
            <p:nvPr/>
          </p:nvSpPr>
          <p:spPr bwMode="auto">
            <a:xfrm>
              <a:off x="4827" y="2541"/>
              <a:ext cx="341" cy="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50" dirty="0" err="1">
                  <a:solidFill>
                    <a:srgbClr val="EB7500"/>
                  </a:solidFill>
                  <a:latin typeface="+mj-lt"/>
                </a:rPr>
                <a:t>MemtoReg</a:t>
              </a:r>
              <a:endParaRPr lang="en-US" sz="1050" dirty="0">
                <a:solidFill>
                  <a:srgbClr val="EB7500"/>
                </a:solidFill>
                <a:latin typeface="+mj-lt"/>
              </a:endParaRPr>
            </a:p>
          </p:txBody>
        </p:sp>
      </p:grpSp>
      <p:sp>
        <p:nvSpPr>
          <p:cNvPr id="3" name="Rectangle 2"/>
          <p:cNvSpPr/>
          <p:nvPr/>
        </p:nvSpPr>
        <p:spPr>
          <a:xfrm>
            <a:off x="2902559" y="762000"/>
            <a:ext cx="219002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  <a:latin typeface="+mj-lt"/>
              </a:rPr>
              <a:t>R1 </a:t>
            </a:r>
            <a:r>
              <a:rPr lang="en-US" sz="2000" dirty="0">
                <a:solidFill>
                  <a:srgbClr val="0070C0"/>
                </a:solidFill>
                <a:latin typeface="+mj-lt"/>
                <a:sym typeface="Symbol" pitchFamily="18" charset="2"/>
              </a:rPr>
              <a:t> </a:t>
            </a:r>
            <a:r>
              <a:rPr lang="en-US" sz="2000" dirty="0" err="1">
                <a:solidFill>
                  <a:srgbClr val="0070C0"/>
                </a:solidFill>
                <a:latin typeface="+mj-lt"/>
                <a:sym typeface="Symbol" pitchFamily="18" charset="2"/>
              </a:rPr>
              <a:t>Mem</a:t>
            </a:r>
            <a:r>
              <a:rPr lang="en-US" sz="2000" dirty="0">
                <a:solidFill>
                  <a:srgbClr val="0070C0"/>
                </a:solidFill>
                <a:latin typeface="+mj-lt"/>
                <a:sym typeface="Symbol" pitchFamily="18" charset="2"/>
              </a:rPr>
              <a:t>[R2+30]</a:t>
            </a:r>
            <a:endParaRPr lang="en-US" sz="2000" dirty="0">
              <a:solidFill>
                <a:srgbClr val="0070C0"/>
              </a:solidFill>
              <a:latin typeface="+mj-lt"/>
            </a:endParaRPr>
          </a:p>
        </p:txBody>
      </p:sp>
      <p:sp>
        <p:nvSpPr>
          <p:cNvPr id="197" name="Rectangle 287"/>
          <p:cNvSpPr>
            <a:spLocks noChangeArrowheads="1"/>
          </p:cNvSpPr>
          <p:nvPr/>
        </p:nvSpPr>
        <p:spPr bwMode="auto">
          <a:xfrm>
            <a:off x="6776553" y="697468"/>
            <a:ext cx="345607" cy="369332"/>
          </a:xfrm>
          <a:prstGeom prst="rect">
            <a:avLst/>
          </a:prstGeom>
          <a:solidFill>
            <a:schemeClr val="bg1">
              <a:alpha val="85000"/>
            </a:schemeClr>
          </a:solidFill>
          <a:ln w="12700">
            <a:noFill/>
            <a:miter lim="800000"/>
            <a:headEnd type="none" w="sm" len="sm"/>
            <a:tailEnd type="none" w="lg" len="med"/>
          </a:ln>
        </p:spPr>
        <p:txBody>
          <a:bodyPr wrap="none" lIns="45720" tIns="45720" rIns="45720" bIns="4572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  <a:latin typeface="+mj-lt"/>
              </a:rPr>
              <a:t>PC</a:t>
            </a:r>
            <a:endParaRPr lang="en-US" dirty="0">
              <a:solidFill>
                <a:srgbClr val="FF0000"/>
              </a:solidFill>
              <a:latin typeface="+mj-lt"/>
            </a:endParaRPr>
          </a:p>
        </p:txBody>
      </p:sp>
      <p:cxnSp>
        <p:nvCxnSpPr>
          <p:cNvPr id="7" name="Straight Arrow Connector 6"/>
          <p:cNvCxnSpPr>
            <a:stCxn id="197" idx="2"/>
          </p:cNvCxnSpPr>
          <p:nvPr/>
        </p:nvCxnSpPr>
        <p:spPr bwMode="auto">
          <a:xfrm>
            <a:off x="6949357" y="1066800"/>
            <a:ext cx="5497" cy="228600"/>
          </a:xfrm>
          <a:prstGeom prst="straightConnector1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arrow"/>
          </a:ln>
          <a:effectLst/>
        </p:spPr>
      </p:cxnSp>
      <p:sp>
        <p:nvSpPr>
          <p:cNvPr id="201" name="Rectangle 266"/>
          <p:cNvSpPr>
            <a:spLocks noChangeArrowheads="1"/>
          </p:cNvSpPr>
          <p:nvPr/>
        </p:nvSpPr>
        <p:spPr bwMode="auto">
          <a:xfrm>
            <a:off x="7772400" y="4105275"/>
            <a:ext cx="573875" cy="369332"/>
          </a:xfrm>
          <a:prstGeom prst="rect">
            <a:avLst/>
          </a:prstGeom>
          <a:solidFill>
            <a:schemeClr val="bg1">
              <a:alpha val="85000"/>
            </a:schemeClr>
          </a:solidFill>
          <a:ln w="12700">
            <a:noFill/>
            <a:miter lim="800000"/>
            <a:headEnd type="none" w="sm" len="sm"/>
            <a:tailEnd type="none" w="lg" len="med"/>
          </a:ln>
        </p:spPr>
        <p:txBody>
          <a:bodyPr wrap="none" lIns="45720" tIns="45720" rIns="45720" bIns="4572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  <a:latin typeface="+mj-lt"/>
              </a:rPr>
              <a:t>DATA</a:t>
            </a:r>
            <a:endParaRPr lang="en-US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196" name="Rectangle 266"/>
          <p:cNvSpPr>
            <a:spLocks noChangeArrowheads="1"/>
          </p:cNvSpPr>
          <p:nvPr/>
        </p:nvSpPr>
        <p:spPr bwMode="auto">
          <a:xfrm>
            <a:off x="7974694" y="5507593"/>
            <a:ext cx="209353" cy="369332"/>
          </a:xfrm>
          <a:prstGeom prst="rect">
            <a:avLst/>
          </a:prstGeom>
          <a:solidFill>
            <a:schemeClr val="bg1">
              <a:alpha val="85000"/>
            </a:schemeClr>
          </a:solidFill>
          <a:ln w="12700">
            <a:noFill/>
            <a:miter lim="800000"/>
            <a:headEnd type="none" w="sm" len="sm"/>
            <a:tailEnd type="none" w="lg" len="med"/>
          </a:ln>
        </p:spPr>
        <p:txBody>
          <a:bodyPr wrap="none" lIns="45720" tIns="45720" rIns="45720" bIns="4572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+mj-lt"/>
              </a:rPr>
              <a:t>1</a:t>
            </a:r>
          </a:p>
        </p:txBody>
      </p:sp>
      <p:sp>
        <p:nvSpPr>
          <p:cNvPr id="198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76200"/>
            <a:ext cx="7772400" cy="762000"/>
          </a:xfrm>
        </p:spPr>
        <p:txBody>
          <a:bodyPr/>
          <a:lstStyle/>
          <a:p>
            <a:pPr algn="l"/>
            <a:r>
              <a:rPr lang="en-US" sz="3200" dirty="0" smtClean="0">
                <a:solidFill>
                  <a:srgbClr val="0070C0"/>
                </a:solidFill>
              </a:rPr>
              <a:t>Pipelined execution: Load (cycle </a:t>
            </a:r>
            <a:r>
              <a:rPr lang="en-US" sz="3200" dirty="0">
                <a:solidFill>
                  <a:srgbClr val="0070C0"/>
                </a:solidFill>
              </a:rPr>
              <a:t>4</a:t>
            </a:r>
            <a:r>
              <a:rPr lang="en-US" sz="3200" dirty="0" smtClean="0">
                <a:solidFill>
                  <a:srgbClr val="0070C0"/>
                </a:solidFill>
              </a:rPr>
              <a:t> – MEM)</a:t>
            </a:r>
          </a:p>
        </p:txBody>
      </p:sp>
    </p:spTree>
    <p:extLst>
      <p:ext uri="{BB962C8B-B14F-4D97-AF65-F5344CB8AC3E}">
        <p14:creationId xmlns:p14="http://schemas.microsoft.com/office/powerpoint/2010/main" val="277278660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  <p:extLst mod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762000" y="1166813"/>
            <a:ext cx="6240064" cy="661987"/>
            <a:chOff x="762000" y="1166813"/>
            <a:chExt cx="6240064" cy="661987"/>
          </a:xfrm>
        </p:grpSpPr>
        <p:sp>
          <p:nvSpPr>
            <p:cNvPr id="54277" name="Rectangle 268"/>
            <p:cNvSpPr>
              <a:spLocks noChangeArrowheads="1"/>
            </p:cNvSpPr>
            <p:nvPr/>
          </p:nvSpPr>
          <p:spPr bwMode="auto">
            <a:xfrm>
              <a:off x="865188" y="1543050"/>
              <a:ext cx="6070600" cy="2794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278" name="Rectangle 269"/>
            <p:cNvSpPr>
              <a:spLocks noChangeArrowheads="1"/>
            </p:cNvSpPr>
            <p:nvPr/>
          </p:nvSpPr>
          <p:spPr bwMode="auto">
            <a:xfrm>
              <a:off x="858838" y="1536700"/>
              <a:ext cx="1054100" cy="2921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279" name="Rectangle 270"/>
            <p:cNvSpPr>
              <a:spLocks noChangeArrowheads="1"/>
            </p:cNvSpPr>
            <p:nvPr/>
          </p:nvSpPr>
          <p:spPr bwMode="auto">
            <a:xfrm>
              <a:off x="1171575" y="1166813"/>
              <a:ext cx="429606" cy="36676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800" b="1" dirty="0">
                  <a:latin typeface="+mj-lt"/>
                </a:rPr>
                <a:t>op</a:t>
              </a:r>
              <a:endParaRPr lang="en-US" sz="1600" b="1" dirty="0">
                <a:latin typeface="+mj-lt"/>
              </a:endParaRPr>
            </a:p>
          </p:txBody>
        </p:sp>
        <p:sp>
          <p:nvSpPr>
            <p:cNvPr id="54280" name="Rectangle 271"/>
            <p:cNvSpPr>
              <a:spLocks noChangeArrowheads="1"/>
            </p:cNvSpPr>
            <p:nvPr/>
          </p:nvSpPr>
          <p:spPr bwMode="auto">
            <a:xfrm>
              <a:off x="1925638" y="1536700"/>
              <a:ext cx="977900" cy="2921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281" name="Rectangle 272"/>
            <p:cNvSpPr>
              <a:spLocks noChangeArrowheads="1"/>
            </p:cNvSpPr>
            <p:nvPr/>
          </p:nvSpPr>
          <p:spPr bwMode="auto">
            <a:xfrm>
              <a:off x="2209800" y="1166813"/>
              <a:ext cx="353046" cy="36676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800" b="1" dirty="0" err="1">
                  <a:latin typeface="+mj-lt"/>
                </a:rPr>
                <a:t>rs</a:t>
              </a:r>
              <a:endParaRPr lang="en-US" sz="1600" b="1" dirty="0">
                <a:latin typeface="+mj-lt"/>
              </a:endParaRPr>
            </a:p>
          </p:txBody>
        </p:sp>
        <p:sp>
          <p:nvSpPr>
            <p:cNvPr id="54282" name="Rectangle 273"/>
            <p:cNvSpPr>
              <a:spLocks noChangeArrowheads="1"/>
            </p:cNvSpPr>
            <p:nvPr/>
          </p:nvSpPr>
          <p:spPr bwMode="auto">
            <a:xfrm>
              <a:off x="2916238" y="1536700"/>
              <a:ext cx="977900" cy="2921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283" name="Rectangle 274"/>
            <p:cNvSpPr>
              <a:spLocks noChangeArrowheads="1"/>
            </p:cNvSpPr>
            <p:nvPr/>
          </p:nvSpPr>
          <p:spPr bwMode="auto">
            <a:xfrm>
              <a:off x="3200400" y="1166813"/>
              <a:ext cx="352662" cy="36676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800" b="1" dirty="0" err="1">
                  <a:latin typeface="+mj-lt"/>
                </a:rPr>
                <a:t>rt</a:t>
              </a:r>
              <a:endParaRPr lang="en-US" sz="1600" b="1" dirty="0">
                <a:latin typeface="+mj-lt"/>
              </a:endParaRPr>
            </a:p>
          </p:txBody>
        </p:sp>
        <p:sp>
          <p:nvSpPr>
            <p:cNvPr id="54284" name="Rectangle 275"/>
            <p:cNvSpPr>
              <a:spLocks noChangeArrowheads="1"/>
            </p:cNvSpPr>
            <p:nvPr/>
          </p:nvSpPr>
          <p:spPr bwMode="auto">
            <a:xfrm>
              <a:off x="3906838" y="1536700"/>
              <a:ext cx="3027362" cy="2921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285" name="Rectangle 276"/>
            <p:cNvSpPr>
              <a:spLocks noChangeArrowheads="1"/>
            </p:cNvSpPr>
            <p:nvPr/>
          </p:nvSpPr>
          <p:spPr bwMode="auto">
            <a:xfrm>
              <a:off x="4800600" y="1166813"/>
              <a:ext cx="1213346" cy="36676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800" b="1">
                  <a:latin typeface="+mj-lt"/>
                </a:rPr>
                <a:t>immediate</a:t>
              </a:r>
              <a:endParaRPr lang="en-US" sz="1600" b="1">
                <a:latin typeface="+mj-lt"/>
              </a:endParaRPr>
            </a:p>
          </p:txBody>
        </p:sp>
        <p:sp>
          <p:nvSpPr>
            <p:cNvPr id="54286" name="Rectangle 277"/>
            <p:cNvSpPr>
              <a:spLocks noChangeArrowheads="1"/>
            </p:cNvSpPr>
            <p:nvPr/>
          </p:nvSpPr>
          <p:spPr bwMode="auto">
            <a:xfrm>
              <a:off x="6715125" y="1225550"/>
              <a:ext cx="286939" cy="33598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600" dirty="0">
                  <a:latin typeface="+mj-lt"/>
                </a:rPr>
                <a:t>0</a:t>
              </a:r>
            </a:p>
          </p:txBody>
        </p:sp>
        <p:sp>
          <p:nvSpPr>
            <p:cNvPr id="54287" name="Rectangle 278"/>
            <p:cNvSpPr>
              <a:spLocks noChangeArrowheads="1"/>
            </p:cNvSpPr>
            <p:nvPr/>
          </p:nvSpPr>
          <p:spPr bwMode="auto">
            <a:xfrm>
              <a:off x="3581400" y="1225550"/>
              <a:ext cx="391134" cy="33598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600">
                  <a:latin typeface="+mj-lt"/>
                </a:rPr>
                <a:t>16</a:t>
              </a:r>
            </a:p>
          </p:txBody>
        </p:sp>
        <p:sp>
          <p:nvSpPr>
            <p:cNvPr id="54288" name="Rectangle 279"/>
            <p:cNvSpPr>
              <a:spLocks noChangeArrowheads="1"/>
            </p:cNvSpPr>
            <p:nvPr/>
          </p:nvSpPr>
          <p:spPr bwMode="auto">
            <a:xfrm>
              <a:off x="2590800" y="1225550"/>
              <a:ext cx="391134" cy="33598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600">
                  <a:latin typeface="+mj-lt"/>
                </a:rPr>
                <a:t>21</a:t>
              </a:r>
            </a:p>
          </p:txBody>
        </p:sp>
        <p:sp>
          <p:nvSpPr>
            <p:cNvPr id="54289" name="Rectangle 280"/>
            <p:cNvSpPr>
              <a:spLocks noChangeArrowheads="1"/>
            </p:cNvSpPr>
            <p:nvPr/>
          </p:nvSpPr>
          <p:spPr bwMode="auto">
            <a:xfrm>
              <a:off x="1600200" y="1225550"/>
              <a:ext cx="391134" cy="33598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600" dirty="0">
                  <a:latin typeface="+mj-lt"/>
                </a:rPr>
                <a:t>26</a:t>
              </a:r>
            </a:p>
          </p:txBody>
        </p:sp>
        <p:sp>
          <p:nvSpPr>
            <p:cNvPr id="54290" name="Rectangle 281"/>
            <p:cNvSpPr>
              <a:spLocks noChangeArrowheads="1"/>
            </p:cNvSpPr>
            <p:nvPr/>
          </p:nvSpPr>
          <p:spPr bwMode="auto">
            <a:xfrm>
              <a:off x="762000" y="1225550"/>
              <a:ext cx="391134" cy="33598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1600" dirty="0">
                  <a:latin typeface="+mj-lt"/>
                </a:rPr>
                <a:t>31</a:t>
              </a:r>
            </a:p>
          </p:txBody>
        </p:sp>
        <p:sp>
          <p:nvSpPr>
            <p:cNvPr id="54291" name="Rectangle 282"/>
            <p:cNvSpPr>
              <a:spLocks noChangeArrowheads="1"/>
            </p:cNvSpPr>
            <p:nvPr/>
          </p:nvSpPr>
          <p:spPr bwMode="auto">
            <a:xfrm>
              <a:off x="2376488" y="1558925"/>
              <a:ext cx="104196" cy="246221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lg" len="med"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dirty="0">
                  <a:solidFill>
                    <a:srgbClr val="0070C0"/>
                  </a:solidFill>
                  <a:latin typeface="+mj-lt"/>
                </a:rPr>
                <a:t>2</a:t>
              </a:r>
              <a:endParaRPr lang="en-US" sz="1000" dirty="0">
                <a:solidFill>
                  <a:srgbClr val="0070C0"/>
                </a:solidFill>
                <a:latin typeface="+mj-lt"/>
              </a:endParaRPr>
            </a:p>
          </p:txBody>
        </p:sp>
        <p:sp>
          <p:nvSpPr>
            <p:cNvPr id="54292" name="Rectangle 283"/>
            <p:cNvSpPr>
              <a:spLocks noChangeArrowheads="1"/>
            </p:cNvSpPr>
            <p:nvPr/>
          </p:nvSpPr>
          <p:spPr bwMode="auto">
            <a:xfrm>
              <a:off x="3367088" y="1558925"/>
              <a:ext cx="104196" cy="246221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lg" len="med"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dirty="0">
                  <a:solidFill>
                    <a:srgbClr val="0070C0"/>
                  </a:solidFill>
                  <a:latin typeface="+mj-lt"/>
                </a:rPr>
                <a:t>1</a:t>
              </a:r>
              <a:endParaRPr lang="en-US" sz="1000" dirty="0">
                <a:solidFill>
                  <a:srgbClr val="0070C0"/>
                </a:solidFill>
                <a:latin typeface="+mj-lt"/>
              </a:endParaRPr>
            </a:p>
          </p:txBody>
        </p:sp>
        <p:sp>
          <p:nvSpPr>
            <p:cNvPr id="54293" name="Rectangle 284"/>
            <p:cNvSpPr>
              <a:spLocks noChangeArrowheads="1"/>
            </p:cNvSpPr>
            <p:nvPr/>
          </p:nvSpPr>
          <p:spPr bwMode="auto">
            <a:xfrm>
              <a:off x="5410200" y="1558925"/>
              <a:ext cx="208390" cy="246221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lg" len="med"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dirty="0">
                  <a:solidFill>
                    <a:srgbClr val="0070C0"/>
                  </a:solidFill>
                  <a:latin typeface="+mj-lt"/>
                </a:rPr>
                <a:t>30</a:t>
              </a:r>
              <a:endParaRPr lang="en-US" sz="1000" dirty="0">
                <a:solidFill>
                  <a:srgbClr val="0070C0"/>
                </a:solidFill>
                <a:latin typeface="+mj-lt"/>
              </a:endParaRPr>
            </a:p>
          </p:txBody>
        </p:sp>
        <p:sp>
          <p:nvSpPr>
            <p:cNvPr id="54294" name="Rectangle 285"/>
            <p:cNvSpPr>
              <a:spLocks noChangeArrowheads="1"/>
            </p:cNvSpPr>
            <p:nvPr/>
          </p:nvSpPr>
          <p:spPr bwMode="auto">
            <a:xfrm>
              <a:off x="1208088" y="1558925"/>
              <a:ext cx="263214" cy="246221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lg" len="med"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dirty="0">
                  <a:solidFill>
                    <a:srgbClr val="0070C0"/>
                  </a:solidFill>
                  <a:latin typeface="+mj-lt"/>
                </a:rPr>
                <a:t>LW</a:t>
              </a:r>
              <a:endParaRPr lang="en-US" sz="1000" dirty="0">
                <a:solidFill>
                  <a:srgbClr val="0070C0"/>
                </a:solidFill>
                <a:latin typeface="+mj-lt"/>
              </a:endParaRPr>
            </a:p>
          </p:txBody>
        </p:sp>
      </p:grpSp>
      <p:sp>
        <p:nvSpPr>
          <p:cNvPr id="54295" name="Rectangle 286"/>
          <p:cNvSpPr>
            <a:spLocks noChangeArrowheads="1"/>
          </p:cNvSpPr>
          <p:nvPr/>
        </p:nvSpPr>
        <p:spPr bwMode="auto">
          <a:xfrm>
            <a:off x="838200" y="762000"/>
            <a:ext cx="2112758" cy="40011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lg" len="med"/>
          </a:ln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  <a:latin typeface="+mj-lt"/>
              </a:rPr>
              <a:t>LW  R1, (</a:t>
            </a:r>
            <a:r>
              <a:rPr lang="en-US" sz="2000" dirty="0" smtClean="0">
                <a:solidFill>
                  <a:srgbClr val="0070C0"/>
                </a:solidFill>
                <a:latin typeface="+mj-lt"/>
              </a:rPr>
              <a:t>30)R2 ;     </a:t>
            </a:r>
            <a:endParaRPr lang="en-US" sz="2000" dirty="0">
              <a:solidFill>
                <a:srgbClr val="0070C0"/>
              </a:solidFill>
              <a:latin typeface="+mj-lt"/>
            </a:endParaRPr>
          </a:p>
        </p:txBody>
      </p:sp>
      <p:grpSp>
        <p:nvGrpSpPr>
          <p:cNvPr id="54275" name="Group 313"/>
          <p:cNvGrpSpPr>
            <a:grpSpLocks/>
          </p:cNvGrpSpPr>
          <p:nvPr/>
        </p:nvGrpSpPr>
        <p:grpSpPr bwMode="auto">
          <a:xfrm>
            <a:off x="152400" y="2057400"/>
            <a:ext cx="8690415" cy="4191001"/>
            <a:chOff x="360" y="1438"/>
            <a:chExt cx="4808" cy="2450"/>
          </a:xfrm>
        </p:grpSpPr>
        <p:sp>
          <p:nvSpPr>
            <p:cNvPr id="54297" name="Rectangle 137"/>
            <p:cNvSpPr>
              <a:spLocks noChangeArrowheads="1"/>
            </p:cNvSpPr>
            <p:nvPr/>
          </p:nvSpPr>
          <p:spPr bwMode="auto">
            <a:xfrm>
              <a:off x="720" y="2440"/>
              <a:ext cx="567" cy="582"/>
            </a:xfrm>
            <a:prstGeom prst="rect">
              <a:avLst/>
            </a:prstGeom>
            <a:solidFill>
              <a:srgbClr val="FFFFCC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298" name="Line 14"/>
            <p:cNvSpPr>
              <a:spLocks noChangeShapeType="1"/>
            </p:cNvSpPr>
            <p:nvPr/>
          </p:nvSpPr>
          <p:spPr bwMode="auto">
            <a:xfrm>
              <a:off x="588" y="2513"/>
              <a:ext cx="136" cy="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299" name="Line 15"/>
            <p:cNvSpPr>
              <a:spLocks noChangeShapeType="1"/>
            </p:cNvSpPr>
            <p:nvPr/>
          </p:nvSpPr>
          <p:spPr bwMode="auto">
            <a:xfrm flipH="1" flipV="1">
              <a:off x="1989" y="3197"/>
              <a:ext cx="34" cy="5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00" name="Rectangle 16"/>
            <p:cNvSpPr>
              <a:spLocks noChangeArrowheads="1"/>
            </p:cNvSpPr>
            <p:nvPr/>
          </p:nvSpPr>
          <p:spPr bwMode="auto">
            <a:xfrm>
              <a:off x="1915" y="3275"/>
              <a:ext cx="103" cy="1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algn="ctr"/>
              <a:endParaRPr lang="en-US" sz="600">
                <a:solidFill>
                  <a:srgbClr val="000000"/>
                </a:solidFill>
                <a:latin typeface="+mj-lt"/>
              </a:endParaRPr>
            </a:p>
            <a:p>
              <a:pPr algn="ctr"/>
              <a:endParaRPr lang="en-US" sz="6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301" name="Line 17"/>
            <p:cNvSpPr>
              <a:spLocks noChangeShapeType="1"/>
            </p:cNvSpPr>
            <p:nvPr/>
          </p:nvSpPr>
          <p:spPr bwMode="auto">
            <a:xfrm flipH="1" flipV="1">
              <a:off x="2338" y="3197"/>
              <a:ext cx="32" cy="5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02" name="Freeform 18"/>
            <p:cNvSpPr>
              <a:spLocks/>
            </p:cNvSpPr>
            <p:nvPr/>
          </p:nvSpPr>
          <p:spPr bwMode="auto">
            <a:xfrm>
              <a:off x="1810" y="2350"/>
              <a:ext cx="519" cy="612"/>
            </a:xfrm>
            <a:custGeom>
              <a:avLst/>
              <a:gdLst>
                <a:gd name="T0" fmla="*/ 518 w 519"/>
                <a:gd name="T1" fmla="*/ 611 h 541"/>
                <a:gd name="T2" fmla="*/ 518 w 519"/>
                <a:gd name="T3" fmla="*/ 0 h 541"/>
                <a:gd name="T4" fmla="*/ 0 w 519"/>
                <a:gd name="T5" fmla="*/ 0 h 541"/>
                <a:gd name="T6" fmla="*/ 0 w 519"/>
                <a:gd name="T7" fmla="*/ 611 h 541"/>
                <a:gd name="T8" fmla="*/ 518 w 519"/>
                <a:gd name="T9" fmla="*/ 611 h 541"/>
                <a:gd name="T10" fmla="*/ 518 w 519"/>
                <a:gd name="T11" fmla="*/ 611 h 5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19"/>
                <a:gd name="T19" fmla="*/ 0 h 541"/>
                <a:gd name="T20" fmla="*/ 519 w 519"/>
                <a:gd name="T21" fmla="*/ 541 h 54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19" h="541">
                  <a:moveTo>
                    <a:pt x="518" y="540"/>
                  </a:moveTo>
                  <a:lnTo>
                    <a:pt x="518" y="0"/>
                  </a:lnTo>
                  <a:lnTo>
                    <a:pt x="0" y="0"/>
                  </a:lnTo>
                  <a:lnTo>
                    <a:pt x="0" y="540"/>
                  </a:lnTo>
                  <a:lnTo>
                    <a:pt x="518" y="540"/>
                  </a:lnTo>
                </a:path>
              </a:pathLst>
            </a:custGeom>
            <a:solidFill>
              <a:srgbClr val="CCFFFF"/>
            </a:solidFill>
            <a:ln w="190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03" name="Rectangle 19"/>
            <p:cNvSpPr>
              <a:spLocks noChangeArrowheads="1"/>
            </p:cNvSpPr>
            <p:nvPr/>
          </p:nvSpPr>
          <p:spPr bwMode="auto">
            <a:xfrm>
              <a:off x="1885" y="2392"/>
              <a:ext cx="103" cy="1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algn="ctr"/>
              <a:endParaRPr lang="en-US" sz="600">
                <a:solidFill>
                  <a:srgbClr val="000000"/>
                </a:solidFill>
                <a:latin typeface="+mj-lt"/>
              </a:endParaRPr>
            </a:p>
            <a:p>
              <a:pPr algn="ctr"/>
              <a:endParaRPr lang="en-US" sz="6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304" name="Line 20"/>
            <p:cNvSpPr>
              <a:spLocks noChangeShapeType="1"/>
            </p:cNvSpPr>
            <p:nvPr/>
          </p:nvSpPr>
          <p:spPr bwMode="auto">
            <a:xfrm>
              <a:off x="1657" y="3225"/>
              <a:ext cx="434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05" name="Line 21"/>
            <p:cNvSpPr>
              <a:spLocks noChangeShapeType="1"/>
            </p:cNvSpPr>
            <p:nvPr/>
          </p:nvSpPr>
          <p:spPr bwMode="auto">
            <a:xfrm flipV="1">
              <a:off x="2302" y="3225"/>
              <a:ext cx="131" cy="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06" name="Freeform 22"/>
            <p:cNvSpPr>
              <a:spLocks/>
            </p:cNvSpPr>
            <p:nvPr/>
          </p:nvSpPr>
          <p:spPr bwMode="auto">
            <a:xfrm>
              <a:off x="1629" y="2679"/>
              <a:ext cx="24" cy="24"/>
            </a:xfrm>
            <a:custGeom>
              <a:avLst/>
              <a:gdLst>
                <a:gd name="T0" fmla="*/ 10 w 24"/>
                <a:gd name="T1" fmla="*/ 23 h 24"/>
                <a:gd name="T2" fmla="*/ 14 w 24"/>
                <a:gd name="T3" fmla="*/ 23 h 24"/>
                <a:gd name="T4" fmla="*/ 16 w 24"/>
                <a:gd name="T5" fmla="*/ 23 h 24"/>
                <a:gd name="T6" fmla="*/ 18 w 24"/>
                <a:gd name="T7" fmla="*/ 21 h 24"/>
                <a:gd name="T8" fmla="*/ 18 w 24"/>
                <a:gd name="T9" fmla="*/ 21 h 24"/>
                <a:gd name="T10" fmla="*/ 20 w 24"/>
                <a:gd name="T11" fmla="*/ 19 h 24"/>
                <a:gd name="T12" fmla="*/ 22 w 24"/>
                <a:gd name="T13" fmla="*/ 19 h 24"/>
                <a:gd name="T14" fmla="*/ 22 w 24"/>
                <a:gd name="T15" fmla="*/ 17 h 24"/>
                <a:gd name="T16" fmla="*/ 23 w 24"/>
                <a:gd name="T17" fmla="*/ 15 h 24"/>
                <a:gd name="T18" fmla="*/ 23 w 24"/>
                <a:gd name="T19" fmla="*/ 13 h 24"/>
                <a:gd name="T20" fmla="*/ 23 w 24"/>
                <a:gd name="T21" fmla="*/ 11 h 24"/>
                <a:gd name="T22" fmla="*/ 23 w 24"/>
                <a:gd name="T23" fmla="*/ 9 h 24"/>
                <a:gd name="T24" fmla="*/ 23 w 24"/>
                <a:gd name="T25" fmla="*/ 7 h 24"/>
                <a:gd name="T26" fmla="*/ 22 w 24"/>
                <a:gd name="T27" fmla="*/ 5 h 24"/>
                <a:gd name="T28" fmla="*/ 22 w 24"/>
                <a:gd name="T29" fmla="*/ 5 h 24"/>
                <a:gd name="T30" fmla="*/ 20 w 24"/>
                <a:gd name="T31" fmla="*/ 4 h 24"/>
                <a:gd name="T32" fmla="*/ 18 w 24"/>
                <a:gd name="T33" fmla="*/ 2 h 24"/>
                <a:gd name="T34" fmla="*/ 18 w 24"/>
                <a:gd name="T35" fmla="*/ 2 h 24"/>
                <a:gd name="T36" fmla="*/ 16 w 24"/>
                <a:gd name="T37" fmla="*/ 0 h 24"/>
                <a:gd name="T38" fmla="*/ 14 w 24"/>
                <a:gd name="T39" fmla="*/ 0 h 24"/>
                <a:gd name="T40" fmla="*/ 12 w 24"/>
                <a:gd name="T41" fmla="*/ 0 h 24"/>
                <a:gd name="T42" fmla="*/ 10 w 24"/>
                <a:gd name="T43" fmla="*/ 0 h 24"/>
                <a:gd name="T44" fmla="*/ 8 w 24"/>
                <a:gd name="T45" fmla="*/ 0 h 24"/>
                <a:gd name="T46" fmla="*/ 6 w 24"/>
                <a:gd name="T47" fmla="*/ 2 h 24"/>
                <a:gd name="T48" fmla="*/ 4 w 24"/>
                <a:gd name="T49" fmla="*/ 2 h 24"/>
                <a:gd name="T50" fmla="*/ 4 w 24"/>
                <a:gd name="T51" fmla="*/ 4 h 24"/>
                <a:gd name="T52" fmla="*/ 2 w 24"/>
                <a:gd name="T53" fmla="*/ 5 h 24"/>
                <a:gd name="T54" fmla="*/ 2 w 24"/>
                <a:gd name="T55" fmla="*/ 5 h 24"/>
                <a:gd name="T56" fmla="*/ 0 w 24"/>
                <a:gd name="T57" fmla="*/ 7 h 24"/>
                <a:gd name="T58" fmla="*/ 0 w 24"/>
                <a:gd name="T59" fmla="*/ 9 h 24"/>
                <a:gd name="T60" fmla="*/ 0 w 24"/>
                <a:gd name="T61" fmla="*/ 11 h 24"/>
                <a:gd name="T62" fmla="*/ 0 w 24"/>
                <a:gd name="T63" fmla="*/ 13 h 24"/>
                <a:gd name="T64" fmla="*/ 0 w 24"/>
                <a:gd name="T65" fmla="*/ 15 h 24"/>
                <a:gd name="T66" fmla="*/ 2 w 24"/>
                <a:gd name="T67" fmla="*/ 17 h 24"/>
                <a:gd name="T68" fmla="*/ 2 w 24"/>
                <a:gd name="T69" fmla="*/ 19 h 24"/>
                <a:gd name="T70" fmla="*/ 4 w 24"/>
                <a:gd name="T71" fmla="*/ 19 h 24"/>
                <a:gd name="T72" fmla="*/ 4 w 24"/>
                <a:gd name="T73" fmla="*/ 21 h 24"/>
                <a:gd name="T74" fmla="*/ 6 w 24"/>
                <a:gd name="T75" fmla="*/ 21 h 24"/>
                <a:gd name="T76" fmla="*/ 8 w 24"/>
                <a:gd name="T77" fmla="*/ 23 h 24"/>
                <a:gd name="T78" fmla="*/ 10 w 24"/>
                <a:gd name="T79" fmla="*/ 23 h 24"/>
                <a:gd name="T80" fmla="*/ 12 w 24"/>
                <a:gd name="T81" fmla="*/ 23 h 24"/>
                <a:gd name="T82" fmla="*/ 12 w 24"/>
                <a:gd name="T83" fmla="*/ 23 h 24"/>
                <a:gd name="T84" fmla="*/ 10 w 24"/>
                <a:gd name="T85" fmla="*/ 23 h 2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4"/>
                <a:gd name="T130" fmla="*/ 0 h 24"/>
                <a:gd name="T131" fmla="*/ 24 w 24"/>
                <a:gd name="T132" fmla="*/ 24 h 24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4" h="24">
                  <a:moveTo>
                    <a:pt x="10" y="23"/>
                  </a:moveTo>
                  <a:lnTo>
                    <a:pt x="14" y="23"/>
                  </a:lnTo>
                  <a:lnTo>
                    <a:pt x="16" y="23"/>
                  </a:lnTo>
                  <a:lnTo>
                    <a:pt x="18" y="21"/>
                  </a:lnTo>
                  <a:lnTo>
                    <a:pt x="20" y="19"/>
                  </a:lnTo>
                  <a:lnTo>
                    <a:pt x="22" y="19"/>
                  </a:lnTo>
                  <a:lnTo>
                    <a:pt x="22" y="17"/>
                  </a:lnTo>
                  <a:lnTo>
                    <a:pt x="23" y="15"/>
                  </a:lnTo>
                  <a:lnTo>
                    <a:pt x="23" y="13"/>
                  </a:lnTo>
                  <a:lnTo>
                    <a:pt x="23" y="11"/>
                  </a:lnTo>
                  <a:lnTo>
                    <a:pt x="23" y="9"/>
                  </a:lnTo>
                  <a:lnTo>
                    <a:pt x="23" y="7"/>
                  </a:lnTo>
                  <a:lnTo>
                    <a:pt x="22" y="5"/>
                  </a:lnTo>
                  <a:lnTo>
                    <a:pt x="20" y="4"/>
                  </a:lnTo>
                  <a:lnTo>
                    <a:pt x="18" y="2"/>
                  </a:lnTo>
                  <a:lnTo>
                    <a:pt x="16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8" y="0"/>
                  </a:lnTo>
                  <a:lnTo>
                    <a:pt x="6" y="2"/>
                  </a:lnTo>
                  <a:lnTo>
                    <a:pt x="4" y="2"/>
                  </a:lnTo>
                  <a:lnTo>
                    <a:pt x="4" y="4"/>
                  </a:lnTo>
                  <a:lnTo>
                    <a:pt x="2" y="5"/>
                  </a:lnTo>
                  <a:lnTo>
                    <a:pt x="0" y="7"/>
                  </a:lnTo>
                  <a:lnTo>
                    <a:pt x="0" y="9"/>
                  </a:lnTo>
                  <a:lnTo>
                    <a:pt x="0" y="11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2" y="17"/>
                  </a:lnTo>
                  <a:lnTo>
                    <a:pt x="2" y="19"/>
                  </a:lnTo>
                  <a:lnTo>
                    <a:pt x="4" y="19"/>
                  </a:lnTo>
                  <a:lnTo>
                    <a:pt x="4" y="21"/>
                  </a:lnTo>
                  <a:lnTo>
                    <a:pt x="6" y="21"/>
                  </a:lnTo>
                  <a:lnTo>
                    <a:pt x="8" y="23"/>
                  </a:lnTo>
                  <a:lnTo>
                    <a:pt x="10" y="23"/>
                  </a:lnTo>
                  <a:lnTo>
                    <a:pt x="12" y="23"/>
                  </a:lnTo>
                  <a:lnTo>
                    <a:pt x="10" y="23"/>
                  </a:lnTo>
                </a:path>
              </a:pathLst>
            </a:custGeom>
            <a:solidFill>
              <a:srgbClr val="000000"/>
            </a:solidFill>
            <a:ln w="9525" cap="rnd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07" name="Freeform 23"/>
            <p:cNvSpPr>
              <a:spLocks/>
            </p:cNvSpPr>
            <p:nvPr/>
          </p:nvSpPr>
          <p:spPr bwMode="auto">
            <a:xfrm>
              <a:off x="1629" y="2586"/>
              <a:ext cx="24" cy="24"/>
            </a:xfrm>
            <a:custGeom>
              <a:avLst/>
              <a:gdLst>
                <a:gd name="T0" fmla="*/ 10 w 24"/>
                <a:gd name="T1" fmla="*/ 23 h 24"/>
                <a:gd name="T2" fmla="*/ 14 w 24"/>
                <a:gd name="T3" fmla="*/ 23 h 24"/>
                <a:gd name="T4" fmla="*/ 16 w 24"/>
                <a:gd name="T5" fmla="*/ 23 h 24"/>
                <a:gd name="T6" fmla="*/ 18 w 24"/>
                <a:gd name="T7" fmla="*/ 21 h 24"/>
                <a:gd name="T8" fmla="*/ 18 w 24"/>
                <a:gd name="T9" fmla="*/ 21 h 24"/>
                <a:gd name="T10" fmla="*/ 20 w 24"/>
                <a:gd name="T11" fmla="*/ 19 h 24"/>
                <a:gd name="T12" fmla="*/ 22 w 24"/>
                <a:gd name="T13" fmla="*/ 19 h 24"/>
                <a:gd name="T14" fmla="*/ 22 w 24"/>
                <a:gd name="T15" fmla="*/ 17 h 24"/>
                <a:gd name="T16" fmla="*/ 23 w 24"/>
                <a:gd name="T17" fmla="*/ 15 h 24"/>
                <a:gd name="T18" fmla="*/ 23 w 24"/>
                <a:gd name="T19" fmla="*/ 13 h 24"/>
                <a:gd name="T20" fmla="*/ 23 w 24"/>
                <a:gd name="T21" fmla="*/ 11 h 24"/>
                <a:gd name="T22" fmla="*/ 23 w 24"/>
                <a:gd name="T23" fmla="*/ 9 h 24"/>
                <a:gd name="T24" fmla="*/ 23 w 24"/>
                <a:gd name="T25" fmla="*/ 7 h 24"/>
                <a:gd name="T26" fmla="*/ 22 w 24"/>
                <a:gd name="T27" fmla="*/ 5 h 24"/>
                <a:gd name="T28" fmla="*/ 22 w 24"/>
                <a:gd name="T29" fmla="*/ 5 h 24"/>
                <a:gd name="T30" fmla="*/ 20 w 24"/>
                <a:gd name="T31" fmla="*/ 4 h 24"/>
                <a:gd name="T32" fmla="*/ 18 w 24"/>
                <a:gd name="T33" fmla="*/ 2 h 24"/>
                <a:gd name="T34" fmla="*/ 18 w 24"/>
                <a:gd name="T35" fmla="*/ 2 h 24"/>
                <a:gd name="T36" fmla="*/ 16 w 24"/>
                <a:gd name="T37" fmla="*/ 0 h 24"/>
                <a:gd name="T38" fmla="*/ 14 w 24"/>
                <a:gd name="T39" fmla="*/ 0 h 24"/>
                <a:gd name="T40" fmla="*/ 12 w 24"/>
                <a:gd name="T41" fmla="*/ 0 h 24"/>
                <a:gd name="T42" fmla="*/ 10 w 24"/>
                <a:gd name="T43" fmla="*/ 0 h 24"/>
                <a:gd name="T44" fmla="*/ 8 w 24"/>
                <a:gd name="T45" fmla="*/ 0 h 24"/>
                <a:gd name="T46" fmla="*/ 6 w 24"/>
                <a:gd name="T47" fmla="*/ 2 h 24"/>
                <a:gd name="T48" fmla="*/ 4 w 24"/>
                <a:gd name="T49" fmla="*/ 2 h 24"/>
                <a:gd name="T50" fmla="*/ 4 w 24"/>
                <a:gd name="T51" fmla="*/ 4 h 24"/>
                <a:gd name="T52" fmla="*/ 2 w 24"/>
                <a:gd name="T53" fmla="*/ 5 h 24"/>
                <a:gd name="T54" fmla="*/ 2 w 24"/>
                <a:gd name="T55" fmla="*/ 5 h 24"/>
                <a:gd name="T56" fmla="*/ 0 w 24"/>
                <a:gd name="T57" fmla="*/ 7 h 24"/>
                <a:gd name="T58" fmla="*/ 0 w 24"/>
                <a:gd name="T59" fmla="*/ 9 h 24"/>
                <a:gd name="T60" fmla="*/ 0 w 24"/>
                <a:gd name="T61" fmla="*/ 11 h 24"/>
                <a:gd name="T62" fmla="*/ 0 w 24"/>
                <a:gd name="T63" fmla="*/ 13 h 24"/>
                <a:gd name="T64" fmla="*/ 0 w 24"/>
                <a:gd name="T65" fmla="*/ 15 h 24"/>
                <a:gd name="T66" fmla="*/ 2 w 24"/>
                <a:gd name="T67" fmla="*/ 17 h 24"/>
                <a:gd name="T68" fmla="*/ 2 w 24"/>
                <a:gd name="T69" fmla="*/ 19 h 24"/>
                <a:gd name="T70" fmla="*/ 4 w 24"/>
                <a:gd name="T71" fmla="*/ 19 h 24"/>
                <a:gd name="T72" fmla="*/ 4 w 24"/>
                <a:gd name="T73" fmla="*/ 21 h 24"/>
                <a:gd name="T74" fmla="*/ 6 w 24"/>
                <a:gd name="T75" fmla="*/ 21 h 24"/>
                <a:gd name="T76" fmla="*/ 8 w 24"/>
                <a:gd name="T77" fmla="*/ 23 h 24"/>
                <a:gd name="T78" fmla="*/ 10 w 24"/>
                <a:gd name="T79" fmla="*/ 23 h 24"/>
                <a:gd name="T80" fmla="*/ 12 w 24"/>
                <a:gd name="T81" fmla="*/ 23 h 24"/>
                <a:gd name="T82" fmla="*/ 12 w 24"/>
                <a:gd name="T83" fmla="*/ 23 h 24"/>
                <a:gd name="T84" fmla="*/ 10 w 24"/>
                <a:gd name="T85" fmla="*/ 23 h 2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4"/>
                <a:gd name="T130" fmla="*/ 0 h 24"/>
                <a:gd name="T131" fmla="*/ 24 w 24"/>
                <a:gd name="T132" fmla="*/ 24 h 24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4" h="24">
                  <a:moveTo>
                    <a:pt x="10" y="23"/>
                  </a:moveTo>
                  <a:lnTo>
                    <a:pt x="14" y="23"/>
                  </a:lnTo>
                  <a:lnTo>
                    <a:pt x="16" y="23"/>
                  </a:lnTo>
                  <a:lnTo>
                    <a:pt x="18" y="21"/>
                  </a:lnTo>
                  <a:lnTo>
                    <a:pt x="20" y="19"/>
                  </a:lnTo>
                  <a:lnTo>
                    <a:pt x="22" y="19"/>
                  </a:lnTo>
                  <a:lnTo>
                    <a:pt x="22" y="17"/>
                  </a:lnTo>
                  <a:lnTo>
                    <a:pt x="23" y="15"/>
                  </a:lnTo>
                  <a:lnTo>
                    <a:pt x="23" y="13"/>
                  </a:lnTo>
                  <a:lnTo>
                    <a:pt x="23" y="11"/>
                  </a:lnTo>
                  <a:lnTo>
                    <a:pt x="23" y="9"/>
                  </a:lnTo>
                  <a:lnTo>
                    <a:pt x="23" y="7"/>
                  </a:lnTo>
                  <a:lnTo>
                    <a:pt x="22" y="5"/>
                  </a:lnTo>
                  <a:lnTo>
                    <a:pt x="20" y="4"/>
                  </a:lnTo>
                  <a:lnTo>
                    <a:pt x="18" y="2"/>
                  </a:lnTo>
                  <a:lnTo>
                    <a:pt x="16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8" y="0"/>
                  </a:lnTo>
                  <a:lnTo>
                    <a:pt x="6" y="2"/>
                  </a:lnTo>
                  <a:lnTo>
                    <a:pt x="4" y="2"/>
                  </a:lnTo>
                  <a:lnTo>
                    <a:pt x="4" y="4"/>
                  </a:lnTo>
                  <a:lnTo>
                    <a:pt x="2" y="5"/>
                  </a:lnTo>
                  <a:lnTo>
                    <a:pt x="0" y="7"/>
                  </a:lnTo>
                  <a:lnTo>
                    <a:pt x="0" y="9"/>
                  </a:lnTo>
                  <a:lnTo>
                    <a:pt x="0" y="11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2" y="17"/>
                  </a:lnTo>
                  <a:lnTo>
                    <a:pt x="2" y="19"/>
                  </a:lnTo>
                  <a:lnTo>
                    <a:pt x="4" y="19"/>
                  </a:lnTo>
                  <a:lnTo>
                    <a:pt x="4" y="21"/>
                  </a:lnTo>
                  <a:lnTo>
                    <a:pt x="6" y="21"/>
                  </a:lnTo>
                  <a:lnTo>
                    <a:pt x="8" y="23"/>
                  </a:lnTo>
                  <a:lnTo>
                    <a:pt x="10" y="23"/>
                  </a:lnTo>
                  <a:lnTo>
                    <a:pt x="12" y="23"/>
                  </a:lnTo>
                  <a:lnTo>
                    <a:pt x="10" y="23"/>
                  </a:lnTo>
                </a:path>
              </a:pathLst>
            </a:custGeom>
            <a:solidFill>
              <a:srgbClr val="000000"/>
            </a:solidFill>
            <a:ln w="9525" cap="rnd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08" name="Freeform 24"/>
            <p:cNvSpPr>
              <a:spLocks/>
            </p:cNvSpPr>
            <p:nvPr/>
          </p:nvSpPr>
          <p:spPr bwMode="auto">
            <a:xfrm>
              <a:off x="1629" y="3432"/>
              <a:ext cx="24" cy="24"/>
            </a:xfrm>
            <a:custGeom>
              <a:avLst/>
              <a:gdLst>
                <a:gd name="T0" fmla="*/ 10 w 24"/>
                <a:gd name="T1" fmla="*/ 23 h 24"/>
                <a:gd name="T2" fmla="*/ 14 w 24"/>
                <a:gd name="T3" fmla="*/ 23 h 24"/>
                <a:gd name="T4" fmla="*/ 16 w 24"/>
                <a:gd name="T5" fmla="*/ 23 h 24"/>
                <a:gd name="T6" fmla="*/ 16 w 24"/>
                <a:gd name="T7" fmla="*/ 21 h 24"/>
                <a:gd name="T8" fmla="*/ 18 w 24"/>
                <a:gd name="T9" fmla="*/ 21 h 24"/>
                <a:gd name="T10" fmla="*/ 20 w 24"/>
                <a:gd name="T11" fmla="*/ 19 h 24"/>
                <a:gd name="T12" fmla="*/ 22 w 24"/>
                <a:gd name="T13" fmla="*/ 18 h 24"/>
                <a:gd name="T14" fmla="*/ 22 w 24"/>
                <a:gd name="T15" fmla="*/ 18 h 24"/>
                <a:gd name="T16" fmla="*/ 22 w 24"/>
                <a:gd name="T17" fmla="*/ 16 h 24"/>
                <a:gd name="T18" fmla="*/ 23 w 24"/>
                <a:gd name="T19" fmla="*/ 14 h 24"/>
                <a:gd name="T20" fmla="*/ 23 w 24"/>
                <a:gd name="T21" fmla="*/ 12 h 24"/>
                <a:gd name="T22" fmla="*/ 23 w 24"/>
                <a:gd name="T23" fmla="*/ 10 h 24"/>
                <a:gd name="T24" fmla="*/ 22 w 24"/>
                <a:gd name="T25" fmla="*/ 8 h 24"/>
                <a:gd name="T26" fmla="*/ 22 w 24"/>
                <a:gd name="T27" fmla="*/ 6 h 24"/>
                <a:gd name="T28" fmla="*/ 22 w 24"/>
                <a:gd name="T29" fmla="*/ 4 h 24"/>
                <a:gd name="T30" fmla="*/ 20 w 24"/>
                <a:gd name="T31" fmla="*/ 4 h 24"/>
                <a:gd name="T32" fmla="*/ 18 w 24"/>
                <a:gd name="T33" fmla="*/ 2 h 24"/>
                <a:gd name="T34" fmla="*/ 16 w 24"/>
                <a:gd name="T35" fmla="*/ 2 h 24"/>
                <a:gd name="T36" fmla="*/ 16 w 24"/>
                <a:gd name="T37" fmla="*/ 0 h 24"/>
                <a:gd name="T38" fmla="*/ 14 w 24"/>
                <a:gd name="T39" fmla="*/ 0 h 24"/>
                <a:gd name="T40" fmla="*/ 12 w 24"/>
                <a:gd name="T41" fmla="*/ 0 h 24"/>
                <a:gd name="T42" fmla="*/ 10 w 24"/>
                <a:gd name="T43" fmla="*/ 0 h 24"/>
                <a:gd name="T44" fmla="*/ 8 w 24"/>
                <a:gd name="T45" fmla="*/ 0 h 24"/>
                <a:gd name="T46" fmla="*/ 6 w 24"/>
                <a:gd name="T47" fmla="*/ 2 h 24"/>
                <a:gd name="T48" fmla="*/ 4 w 24"/>
                <a:gd name="T49" fmla="*/ 2 h 24"/>
                <a:gd name="T50" fmla="*/ 2 w 24"/>
                <a:gd name="T51" fmla="*/ 4 h 24"/>
                <a:gd name="T52" fmla="*/ 2 w 24"/>
                <a:gd name="T53" fmla="*/ 4 h 24"/>
                <a:gd name="T54" fmla="*/ 0 w 24"/>
                <a:gd name="T55" fmla="*/ 6 h 24"/>
                <a:gd name="T56" fmla="*/ 0 w 24"/>
                <a:gd name="T57" fmla="*/ 8 h 24"/>
                <a:gd name="T58" fmla="*/ 0 w 24"/>
                <a:gd name="T59" fmla="*/ 10 h 24"/>
                <a:gd name="T60" fmla="*/ 0 w 24"/>
                <a:gd name="T61" fmla="*/ 12 h 24"/>
                <a:gd name="T62" fmla="*/ 0 w 24"/>
                <a:gd name="T63" fmla="*/ 14 h 24"/>
                <a:gd name="T64" fmla="*/ 0 w 24"/>
                <a:gd name="T65" fmla="*/ 16 h 24"/>
                <a:gd name="T66" fmla="*/ 0 w 24"/>
                <a:gd name="T67" fmla="*/ 18 h 24"/>
                <a:gd name="T68" fmla="*/ 2 w 24"/>
                <a:gd name="T69" fmla="*/ 18 h 24"/>
                <a:gd name="T70" fmla="*/ 2 w 24"/>
                <a:gd name="T71" fmla="*/ 19 h 24"/>
                <a:gd name="T72" fmla="*/ 4 w 24"/>
                <a:gd name="T73" fmla="*/ 21 h 24"/>
                <a:gd name="T74" fmla="*/ 6 w 24"/>
                <a:gd name="T75" fmla="*/ 21 h 24"/>
                <a:gd name="T76" fmla="*/ 8 w 24"/>
                <a:gd name="T77" fmla="*/ 23 h 24"/>
                <a:gd name="T78" fmla="*/ 10 w 24"/>
                <a:gd name="T79" fmla="*/ 23 h 24"/>
                <a:gd name="T80" fmla="*/ 12 w 24"/>
                <a:gd name="T81" fmla="*/ 23 h 24"/>
                <a:gd name="T82" fmla="*/ 12 w 24"/>
                <a:gd name="T83" fmla="*/ 23 h 24"/>
                <a:gd name="T84" fmla="*/ 10 w 24"/>
                <a:gd name="T85" fmla="*/ 23 h 2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4"/>
                <a:gd name="T130" fmla="*/ 0 h 24"/>
                <a:gd name="T131" fmla="*/ 24 w 24"/>
                <a:gd name="T132" fmla="*/ 24 h 24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4" h="24">
                  <a:moveTo>
                    <a:pt x="10" y="23"/>
                  </a:moveTo>
                  <a:lnTo>
                    <a:pt x="14" y="23"/>
                  </a:lnTo>
                  <a:lnTo>
                    <a:pt x="16" y="23"/>
                  </a:lnTo>
                  <a:lnTo>
                    <a:pt x="16" y="21"/>
                  </a:lnTo>
                  <a:lnTo>
                    <a:pt x="18" y="21"/>
                  </a:lnTo>
                  <a:lnTo>
                    <a:pt x="20" y="19"/>
                  </a:lnTo>
                  <a:lnTo>
                    <a:pt x="22" y="18"/>
                  </a:lnTo>
                  <a:lnTo>
                    <a:pt x="22" y="16"/>
                  </a:lnTo>
                  <a:lnTo>
                    <a:pt x="23" y="14"/>
                  </a:lnTo>
                  <a:lnTo>
                    <a:pt x="23" y="12"/>
                  </a:lnTo>
                  <a:lnTo>
                    <a:pt x="23" y="10"/>
                  </a:lnTo>
                  <a:lnTo>
                    <a:pt x="22" y="8"/>
                  </a:lnTo>
                  <a:lnTo>
                    <a:pt x="22" y="6"/>
                  </a:lnTo>
                  <a:lnTo>
                    <a:pt x="22" y="4"/>
                  </a:lnTo>
                  <a:lnTo>
                    <a:pt x="20" y="4"/>
                  </a:lnTo>
                  <a:lnTo>
                    <a:pt x="18" y="2"/>
                  </a:lnTo>
                  <a:lnTo>
                    <a:pt x="16" y="2"/>
                  </a:lnTo>
                  <a:lnTo>
                    <a:pt x="16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8" y="0"/>
                  </a:lnTo>
                  <a:lnTo>
                    <a:pt x="6" y="2"/>
                  </a:lnTo>
                  <a:lnTo>
                    <a:pt x="4" y="2"/>
                  </a:lnTo>
                  <a:lnTo>
                    <a:pt x="2" y="4"/>
                  </a:lnTo>
                  <a:lnTo>
                    <a:pt x="0" y="6"/>
                  </a:lnTo>
                  <a:lnTo>
                    <a:pt x="0" y="8"/>
                  </a:lnTo>
                  <a:lnTo>
                    <a:pt x="0" y="10"/>
                  </a:lnTo>
                  <a:lnTo>
                    <a:pt x="0" y="12"/>
                  </a:lnTo>
                  <a:lnTo>
                    <a:pt x="0" y="14"/>
                  </a:lnTo>
                  <a:lnTo>
                    <a:pt x="0" y="16"/>
                  </a:lnTo>
                  <a:lnTo>
                    <a:pt x="0" y="18"/>
                  </a:lnTo>
                  <a:lnTo>
                    <a:pt x="2" y="18"/>
                  </a:lnTo>
                  <a:lnTo>
                    <a:pt x="2" y="19"/>
                  </a:lnTo>
                  <a:lnTo>
                    <a:pt x="4" y="21"/>
                  </a:lnTo>
                  <a:lnTo>
                    <a:pt x="6" y="21"/>
                  </a:lnTo>
                  <a:lnTo>
                    <a:pt x="8" y="23"/>
                  </a:lnTo>
                  <a:lnTo>
                    <a:pt x="10" y="23"/>
                  </a:lnTo>
                  <a:lnTo>
                    <a:pt x="12" y="23"/>
                  </a:lnTo>
                  <a:lnTo>
                    <a:pt x="10" y="23"/>
                  </a:lnTo>
                </a:path>
              </a:pathLst>
            </a:custGeom>
            <a:solidFill>
              <a:srgbClr val="000000"/>
            </a:solidFill>
            <a:ln w="9525" cap="rnd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09" name="Line 25"/>
            <p:cNvSpPr>
              <a:spLocks noChangeShapeType="1"/>
            </p:cNvSpPr>
            <p:nvPr/>
          </p:nvSpPr>
          <p:spPr bwMode="auto">
            <a:xfrm>
              <a:off x="1449" y="2687"/>
              <a:ext cx="198" cy="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10" name="Line 26"/>
            <p:cNvSpPr>
              <a:spLocks noChangeShapeType="1"/>
            </p:cNvSpPr>
            <p:nvPr/>
          </p:nvSpPr>
          <p:spPr bwMode="auto">
            <a:xfrm flipV="1">
              <a:off x="1657" y="3441"/>
              <a:ext cx="776" cy="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11" name="Line 27"/>
            <p:cNvSpPr>
              <a:spLocks noChangeShapeType="1"/>
            </p:cNvSpPr>
            <p:nvPr/>
          </p:nvSpPr>
          <p:spPr bwMode="auto">
            <a:xfrm flipH="1">
              <a:off x="1447" y="2024"/>
              <a:ext cx="986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12" name="Freeform 28"/>
            <p:cNvSpPr>
              <a:spLocks/>
            </p:cNvSpPr>
            <p:nvPr/>
          </p:nvSpPr>
          <p:spPr bwMode="auto">
            <a:xfrm>
              <a:off x="4704" y="1917"/>
              <a:ext cx="93" cy="1777"/>
            </a:xfrm>
            <a:custGeom>
              <a:avLst/>
              <a:gdLst>
                <a:gd name="T0" fmla="*/ 92 w 93"/>
                <a:gd name="T1" fmla="*/ 1776 h 1777"/>
                <a:gd name="T2" fmla="*/ 92 w 93"/>
                <a:gd name="T3" fmla="*/ 0 h 1777"/>
                <a:gd name="T4" fmla="*/ 0 w 93"/>
                <a:gd name="T5" fmla="*/ 0 h 1777"/>
                <a:gd name="T6" fmla="*/ 0 w 93"/>
                <a:gd name="T7" fmla="*/ 1776 h 1777"/>
                <a:gd name="T8" fmla="*/ 92 w 93"/>
                <a:gd name="T9" fmla="*/ 1776 h 1777"/>
                <a:gd name="T10" fmla="*/ 92 w 93"/>
                <a:gd name="T11" fmla="*/ 1776 h 177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3"/>
                <a:gd name="T19" fmla="*/ 0 h 1777"/>
                <a:gd name="T20" fmla="*/ 93 w 93"/>
                <a:gd name="T21" fmla="*/ 1777 h 177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3" h="1777">
                  <a:moveTo>
                    <a:pt x="92" y="1776"/>
                  </a:moveTo>
                  <a:lnTo>
                    <a:pt x="92" y="0"/>
                  </a:lnTo>
                  <a:lnTo>
                    <a:pt x="0" y="0"/>
                  </a:lnTo>
                  <a:lnTo>
                    <a:pt x="0" y="1776"/>
                  </a:lnTo>
                  <a:lnTo>
                    <a:pt x="92" y="1776"/>
                  </a:lnTo>
                </a:path>
              </a:pathLst>
            </a:custGeom>
            <a:solidFill>
              <a:srgbClr val="CCECFF"/>
            </a:solidFill>
            <a:ln w="190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13" name="Freeform 29"/>
            <p:cNvSpPr>
              <a:spLocks/>
            </p:cNvSpPr>
            <p:nvPr/>
          </p:nvSpPr>
          <p:spPr bwMode="auto">
            <a:xfrm>
              <a:off x="2436" y="1917"/>
              <a:ext cx="93" cy="1777"/>
            </a:xfrm>
            <a:custGeom>
              <a:avLst/>
              <a:gdLst>
                <a:gd name="T0" fmla="*/ 92 w 93"/>
                <a:gd name="T1" fmla="*/ 1776 h 1777"/>
                <a:gd name="T2" fmla="*/ 92 w 93"/>
                <a:gd name="T3" fmla="*/ 0 h 1777"/>
                <a:gd name="T4" fmla="*/ 0 w 93"/>
                <a:gd name="T5" fmla="*/ 0 h 1777"/>
                <a:gd name="T6" fmla="*/ 0 w 93"/>
                <a:gd name="T7" fmla="*/ 1776 h 1777"/>
                <a:gd name="T8" fmla="*/ 92 w 93"/>
                <a:gd name="T9" fmla="*/ 1776 h 1777"/>
                <a:gd name="T10" fmla="*/ 92 w 93"/>
                <a:gd name="T11" fmla="*/ 1776 h 177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3"/>
                <a:gd name="T19" fmla="*/ 0 h 1777"/>
                <a:gd name="T20" fmla="*/ 93 w 93"/>
                <a:gd name="T21" fmla="*/ 1777 h 177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3" h="1777">
                  <a:moveTo>
                    <a:pt x="92" y="1776"/>
                  </a:moveTo>
                  <a:lnTo>
                    <a:pt x="92" y="0"/>
                  </a:lnTo>
                  <a:lnTo>
                    <a:pt x="0" y="0"/>
                  </a:lnTo>
                  <a:lnTo>
                    <a:pt x="0" y="1776"/>
                  </a:lnTo>
                  <a:lnTo>
                    <a:pt x="92" y="1776"/>
                  </a:lnTo>
                </a:path>
              </a:pathLst>
            </a:custGeom>
            <a:solidFill>
              <a:srgbClr val="CCECFF"/>
            </a:solidFill>
            <a:ln w="190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14" name="Line 30"/>
            <p:cNvSpPr>
              <a:spLocks noChangeShapeType="1"/>
            </p:cNvSpPr>
            <p:nvPr/>
          </p:nvSpPr>
          <p:spPr bwMode="auto">
            <a:xfrm flipV="1">
              <a:off x="2826" y="3695"/>
              <a:ext cx="0" cy="50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15" name="Line 31"/>
            <p:cNvSpPr>
              <a:spLocks noChangeShapeType="1"/>
            </p:cNvSpPr>
            <p:nvPr/>
          </p:nvSpPr>
          <p:spPr bwMode="auto">
            <a:xfrm>
              <a:off x="2855" y="2626"/>
              <a:ext cx="2" cy="54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16" name="Line 32"/>
            <p:cNvSpPr>
              <a:spLocks noChangeShapeType="1"/>
            </p:cNvSpPr>
            <p:nvPr/>
          </p:nvSpPr>
          <p:spPr bwMode="auto">
            <a:xfrm flipV="1">
              <a:off x="3006" y="3406"/>
              <a:ext cx="0" cy="52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17" name="Line 33"/>
            <p:cNvSpPr>
              <a:spLocks noChangeShapeType="1"/>
            </p:cNvSpPr>
            <p:nvPr/>
          </p:nvSpPr>
          <p:spPr bwMode="auto">
            <a:xfrm flipV="1">
              <a:off x="3364" y="2633"/>
              <a:ext cx="215" cy="2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18" name="Freeform 34"/>
            <p:cNvSpPr>
              <a:spLocks/>
            </p:cNvSpPr>
            <p:nvPr/>
          </p:nvSpPr>
          <p:spPr bwMode="auto">
            <a:xfrm>
              <a:off x="2877" y="3055"/>
              <a:ext cx="245" cy="345"/>
            </a:xfrm>
            <a:custGeom>
              <a:avLst/>
              <a:gdLst>
                <a:gd name="T0" fmla="*/ 123 w 174"/>
                <a:gd name="T1" fmla="*/ 344 h 367"/>
                <a:gd name="T2" fmla="*/ 144 w 174"/>
                <a:gd name="T3" fmla="*/ 342 h 367"/>
                <a:gd name="T4" fmla="*/ 162 w 174"/>
                <a:gd name="T5" fmla="*/ 336 h 367"/>
                <a:gd name="T6" fmla="*/ 179 w 174"/>
                <a:gd name="T7" fmla="*/ 324 h 367"/>
                <a:gd name="T8" fmla="*/ 194 w 174"/>
                <a:gd name="T9" fmla="*/ 312 h 367"/>
                <a:gd name="T10" fmla="*/ 208 w 174"/>
                <a:gd name="T11" fmla="*/ 294 h 367"/>
                <a:gd name="T12" fmla="*/ 221 w 174"/>
                <a:gd name="T13" fmla="*/ 274 h 367"/>
                <a:gd name="T14" fmla="*/ 230 w 174"/>
                <a:gd name="T15" fmla="*/ 251 h 367"/>
                <a:gd name="T16" fmla="*/ 238 w 174"/>
                <a:gd name="T17" fmla="*/ 227 h 367"/>
                <a:gd name="T18" fmla="*/ 244 w 174"/>
                <a:gd name="T19" fmla="*/ 200 h 367"/>
                <a:gd name="T20" fmla="*/ 244 w 174"/>
                <a:gd name="T21" fmla="*/ 171 h 367"/>
                <a:gd name="T22" fmla="*/ 244 w 174"/>
                <a:gd name="T23" fmla="*/ 145 h 367"/>
                <a:gd name="T24" fmla="*/ 238 w 174"/>
                <a:gd name="T25" fmla="*/ 118 h 367"/>
                <a:gd name="T26" fmla="*/ 230 w 174"/>
                <a:gd name="T27" fmla="*/ 92 h 367"/>
                <a:gd name="T28" fmla="*/ 221 w 174"/>
                <a:gd name="T29" fmla="*/ 71 h 367"/>
                <a:gd name="T30" fmla="*/ 208 w 174"/>
                <a:gd name="T31" fmla="*/ 51 h 367"/>
                <a:gd name="T32" fmla="*/ 194 w 174"/>
                <a:gd name="T33" fmla="*/ 33 h 367"/>
                <a:gd name="T34" fmla="*/ 179 w 174"/>
                <a:gd name="T35" fmla="*/ 19 h 367"/>
                <a:gd name="T36" fmla="*/ 162 w 174"/>
                <a:gd name="T37" fmla="*/ 8 h 367"/>
                <a:gd name="T38" fmla="*/ 144 w 174"/>
                <a:gd name="T39" fmla="*/ 2 h 367"/>
                <a:gd name="T40" fmla="*/ 123 w 174"/>
                <a:gd name="T41" fmla="*/ 0 h 367"/>
                <a:gd name="T42" fmla="*/ 103 w 174"/>
                <a:gd name="T43" fmla="*/ 2 h 367"/>
                <a:gd name="T44" fmla="*/ 84 w 174"/>
                <a:gd name="T45" fmla="*/ 8 h 367"/>
                <a:gd name="T46" fmla="*/ 68 w 174"/>
                <a:gd name="T47" fmla="*/ 19 h 367"/>
                <a:gd name="T48" fmla="*/ 52 w 174"/>
                <a:gd name="T49" fmla="*/ 33 h 367"/>
                <a:gd name="T50" fmla="*/ 38 w 174"/>
                <a:gd name="T51" fmla="*/ 51 h 367"/>
                <a:gd name="T52" fmla="*/ 24 w 174"/>
                <a:gd name="T53" fmla="*/ 71 h 367"/>
                <a:gd name="T54" fmla="*/ 14 w 174"/>
                <a:gd name="T55" fmla="*/ 92 h 367"/>
                <a:gd name="T56" fmla="*/ 8 w 174"/>
                <a:gd name="T57" fmla="*/ 118 h 367"/>
                <a:gd name="T58" fmla="*/ 3 w 174"/>
                <a:gd name="T59" fmla="*/ 145 h 367"/>
                <a:gd name="T60" fmla="*/ 0 w 174"/>
                <a:gd name="T61" fmla="*/ 171 h 367"/>
                <a:gd name="T62" fmla="*/ 3 w 174"/>
                <a:gd name="T63" fmla="*/ 200 h 367"/>
                <a:gd name="T64" fmla="*/ 8 w 174"/>
                <a:gd name="T65" fmla="*/ 227 h 367"/>
                <a:gd name="T66" fmla="*/ 14 w 174"/>
                <a:gd name="T67" fmla="*/ 251 h 367"/>
                <a:gd name="T68" fmla="*/ 24 w 174"/>
                <a:gd name="T69" fmla="*/ 274 h 367"/>
                <a:gd name="T70" fmla="*/ 38 w 174"/>
                <a:gd name="T71" fmla="*/ 294 h 367"/>
                <a:gd name="T72" fmla="*/ 52 w 174"/>
                <a:gd name="T73" fmla="*/ 312 h 367"/>
                <a:gd name="T74" fmla="*/ 68 w 174"/>
                <a:gd name="T75" fmla="*/ 324 h 367"/>
                <a:gd name="T76" fmla="*/ 84 w 174"/>
                <a:gd name="T77" fmla="*/ 336 h 367"/>
                <a:gd name="T78" fmla="*/ 103 w 174"/>
                <a:gd name="T79" fmla="*/ 342 h 367"/>
                <a:gd name="T80" fmla="*/ 123 w 174"/>
                <a:gd name="T81" fmla="*/ 344 h 367"/>
                <a:gd name="T82" fmla="*/ 123 w 174"/>
                <a:gd name="T83" fmla="*/ 344 h 367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174"/>
                <a:gd name="T127" fmla="*/ 0 h 367"/>
                <a:gd name="T128" fmla="*/ 174 w 174"/>
                <a:gd name="T129" fmla="*/ 367 h 367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174" h="367">
                  <a:moveTo>
                    <a:pt x="87" y="366"/>
                  </a:moveTo>
                  <a:lnTo>
                    <a:pt x="102" y="364"/>
                  </a:lnTo>
                  <a:lnTo>
                    <a:pt x="115" y="357"/>
                  </a:lnTo>
                  <a:lnTo>
                    <a:pt x="127" y="345"/>
                  </a:lnTo>
                  <a:lnTo>
                    <a:pt x="138" y="332"/>
                  </a:lnTo>
                  <a:lnTo>
                    <a:pt x="148" y="313"/>
                  </a:lnTo>
                  <a:lnTo>
                    <a:pt x="157" y="292"/>
                  </a:lnTo>
                  <a:lnTo>
                    <a:pt x="163" y="267"/>
                  </a:lnTo>
                  <a:lnTo>
                    <a:pt x="169" y="242"/>
                  </a:lnTo>
                  <a:lnTo>
                    <a:pt x="173" y="213"/>
                  </a:lnTo>
                  <a:lnTo>
                    <a:pt x="173" y="182"/>
                  </a:lnTo>
                  <a:lnTo>
                    <a:pt x="173" y="154"/>
                  </a:lnTo>
                  <a:lnTo>
                    <a:pt x="169" y="125"/>
                  </a:lnTo>
                  <a:lnTo>
                    <a:pt x="163" y="98"/>
                  </a:lnTo>
                  <a:lnTo>
                    <a:pt x="157" y="75"/>
                  </a:lnTo>
                  <a:lnTo>
                    <a:pt x="148" y="54"/>
                  </a:lnTo>
                  <a:lnTo>
                    <a:pt x="138" y="35"/>
                  </a:lnTo>
                  <a:lnTo>
                    <a:pt x="127" y="20"/>
                  </a:lnTo>
                  <a:lnTo>
                    <a:pt x="115" y="8"/>
                  </a:lnTo>
                  <a:lnTo>
                    <a:pt x="102" y="2"/>
                  </a:lnTo>
                  <a:lnTo>
                    <a:pt x="87" y="0"/>
                  </a:lnTo>
                  <a:lnTo>
                    <a:pt x="73" y="2"/>
                  </a:lnTo>
                  <a:lnTo>
                    <a:pt x="60" y="8"/>
                  </a:lnTo>
                  <a:lnTo>
                    <a:pt x="48" y="20"/>
                  </a:lnTo>
                  <a:lnTo>
                    <a:pt x="37" y="35"/>
                  </a:lnTo>
                  <a:lnTo>
                    <a:pt x="27" y="54"/>
                  </a:lnTo>
                  <a:lnTo>
                    <a:pt x="17" y="75"/>
                  </a:lnTo>
                  <a:lnTo>
                    <a:pt x="10" y="98"/>
                  </a:lnTo>
                  <a:lnTo>
                    <a:pt x="6" y="125"/>
                  </a:lnTo>
                  <a:lnTo>
                    <a:pt x="2" y="154"/>
                  </a:lnTo>
                  <a:lnTo>
                    <a:pt x="0" y="182"/>
                  </a:lnTo>
                  <a:lnTo>
                    <a:pt x="2" y="213"/>
                  </a:lnTo>
                  <a:lnTo>
                    <a:pt x="6" y="242"/>
                  </a:lnTo>
                  <a:lnTo>
                    <a:pt x="10" y="267"/>
                  </a:lnTo>
                  <a:lnTo>
                    <a:pt x="17" y="292"/>
                  </a:lnTo>
                  <a:lnTo>
                    <a:pt x="27" y="313"/>
                  </a:lnTo>
                  <a:lnTo>
                    <a:pt x="37" y="332"/>
                  </a:lnTo>
                  <a:lnTo>
                    <a:pt x="48" y="345"/>
                  </a:lnTo>
                  <a:lnTo>
                    <a:pt x="60" y="357"/>
                  </a:lnTo>
                  <a:lnTo>
                    <a:pt x="73" y="364"/>
                  </a:lnTo>
                  <a:lnTo>
                    <a:pt x="87" y="366"/>
                  </a:lnTo>
                </a:path>
              </a:pathLst>
            </a:custGeom>
            <a:noFill/>
            <a:ln w="19050" cap="rnd" cmpd="sng">
              <a:solidFill>
                <a:srgbClr val="EB75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19" name="Line 35"/>
            <p:cNvSpPr>
              <a:spLocks noChangeShapeType="1"/>
            </p:cNvSpPr>
            <p:nvPr/>
          </p:nvSpPr>
          <p:spPr bwMode="auto">
            <a:xfrm>
              <a:off x="2530" y="3225"/>
              <a:ext cx="349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21" name="Line 37"/>
            <p:cNvSpPr>
              <a:spLocks noChangeShapeType="1"/>
            </p:cNvSpPr>
            <p:nvPr/>
          </p:nvSpPr>
          <p:spPr bwMode="auto">
            <a:xfrm flipH="1" flipV="1">
              <a:off x="2530" y="2018"/>
              <a:ext cx="364" cy="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22" name="Freeform 38"/>
            <p:cNvSpPr>
              <a:spLocks/>
            </p:cNvSpPr>
            <p:nvPr/>
          </p:nvSpPr>
          <p:spPr bwMode="auto">
            <a:xfrm>
              <a:off x="2681" y="2710"/>
              <a:ext cx="26" cy="24"/>
            </a:xfrm>
            <a:custGeom>
              <a:avLst/>
              <a:gdLst>
                <a:gd name="T0" fmla="*/ 11 w 26"/>
                <a:gd name="T1" fmla="*/ 23 h 24"/>
                <a:gd name="T2" fmla="*/ 13 w 26"/>
                <a:gd name="T3" fmla="*/ 23 h 24"/>
                <a:gd name="T4" fmla="*/ 15 w 26"/>
                <a:gd name="T5" fmla="*/ 23 h 24"/>
                <a:gd name="T6" fmla="*/ 17 w 26"/>
                <a:gd name="T7" fmla="*/ 23 h 24"/>
                <a:gd name="T8" fmla="*/ 19 w 26"/>
                <a:gd name="T9" fmla="*/ 21 h 24"/>
                <a:gd name="T10" fmla="*/ 21 w 26"/>
                <a:gd name="T11" fmla="*/ 21 h 24"/>
                <a:gd name="T12" fmla="*/ 21 w 26"/>
                <a:gd name="T13" fmla="*/ 19 h 24"/>
                <a:gd name="T14" fmla="*/ 23 w 26"/>
                <a:gd name="T15" fmla="*/ 17 h 24"/>
                <a:gd name="T16" fmla="*/ 23 w 26"/>
                <a:gd name="T17" fmla="*/ 15 h 24"/>
                <a:gd name="T18" fmla="*/ 23 w 26"/>
                <a:gd name="T19" fmla="*/ 14 h 24"/>
                <a:gd name="T20" fmla="*/ 25 w 26"/>
                <a:gd name="T21" fmla="*/ 12 h 24"/>
                <a:gd name="T22" fmla="*/ 23 w 26"/>
                <a:gd name="T23" fmla="*/ 10 h 24"/>
                <a:gd name="T24" fmla="*/ 23 w 26"/>
                <a:gd name="T25" fmla="*/ 10 h 24"/>
                <a:gd name="T26" fmla="*/ 23 w 26"/>
                <a:gd name="T27" fmla="*/ 8 h 24"/>
                <a:gd name="T28" fmla="*/ 21 w 26"/>
                <a:gd name="T29" fmla="*/ 6 h 24"/>
                <a:gd name="T30" fmla="*/ 21 w 26"/>
                <a:gd name="T31" fmla="*/ 4 h 24"/>
                <a:gd name="T32" fmla="*/ 19 w 26"/>
                <a:gd name="T33" fmla="*/ 4 h 24"/>
                <a:gd name="T34" fmla="*/ 17 w 26"/>
                <a:gd name="T35" fmla="*/ 2 h 24"/>
                <a:gd name="T36" fmla="*/ 15 w 26"/>
                <a:gd name="T37" fmla="*/ 2 h 24"/>
                <a:gd name="T38" fmla="*/ 13 w 26"/>
                <a:gd name="T39" fmla="*/ 2 h 24"/>
                <a:gd name="T40" fmla="*/ 11 w 26"/>
                <a:gd name="T41" fmla="*/ 0 h 24"/>
                <a:gd name="T42" fmla="*/ 11 w 26"/>
                <a:gd name="T43" fmla="*/ 2 h 24"/>
                <a:gd name="T44" fmla="*/ 9 w 26"/>
                <a:gd name="T45" fmla="*/ 2 h 24"/>
                <a:gd name="T46" fmla="*/ 8 w 26"/>
                <a:gd name="T47" fmla="*/ 2 h 24"/>
                <a:gd name="T48" fmla="*/ 6 w 26"/>
                <a:gd name="T49" fmla="*/ 4 h 24"/>
                <a:gd name="T50" fmla="*/ 4 w 26"/>
                <a:gd name="T51" fmla="*/ 4 h 24"/>
                <a:gd name="T52" fmla="*/ 4 w 26"/>
                <a:gd name="T53" fmla="*/ 6 h 24"/>
                <a:gd name="T54" fmla="*/ 2 w 26"/>
                <a:gd name="T55" fmla="*/ 8 h 24"/>
                <a:gd name="T56" fmla="*/ 2 w 26"/>
                <a:gd name="T57" fmla="*/ 10 h 24"/>
                <a:gd name="T58" fmla="*/ 2 w 26"/>
                <a:gd name="T59" fmla="*/ 10 h 24"/>
                <a:gd name="T60" fmla="*/ 0 w 26"/>
                <a:gd name="T61" fmla="*/ 12 h 24"/>
                <a:gd name="T62" fmla="*/ 2 w 26"/>
                <a:gd name="T63" fmla="*/ 14 h 24"/>
                <a:gd name="T64" fmla="*/ 2 w 26"/>
                <a:gd name="T65" fmla="*/ 15 h 24"/>
                <a:gd name="T66" fmla="*/ 2 w 26"/>
                <a:gd name="T67" fmla="*/ 17 h 24"/>
                <a:gd name="T68" fmla="*/ 4 w 26"/>
                <a:gd name="T69" fmla="*/ 19 h 24"/>
                <a:gd name="T70" fmla="*/ 4 w 26"/>
                <a:gd name="T71" fmla="*/ 21 h 24"/>
                <a:gd name="T72" fmla="*/ 6 w 26"/>
                <a:gd name="T73" fmla="*/ 21 h 24"/>
                <a:gd name="T74" fmla="*/ 8 w 26"/>
                <a:gd name="T75" fmla="*/ 23 h 24"/>
                <a:gd name="T76" fmla="*/ 9 w 26"/>
                <a:gd name="T77" fmla="*/ 23 h 24"/>
                <a:gd name="T78" fmla="*/ 11 w 26"/>
                <a:gd name="T79" fmla="*/ 23 h 24"/>
                <a:gd name="T80" fmla="*/ 11 w 26"/>
                <a:gd name="T81" fmla="*/ 23 h 24"/>
                <a:gd name="T82" fmla="*/ 11 w 26"/>
                <a:gd name="T83" fmla="*/ 23 h 24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26"/>
                <a:gd name="T127" fmla="*/ 0 h 24"/>
                <a:gd name="T128" fmla="*/ 26 w 26"/>
                <a:gd name="T129" fmla="*/ 24 h 24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26" h="24">
                  <a:moveTo>
                    <a:pt x="11" y="23"/>
                  </a:moveTo>
                  <a:lnTo>
                    <a:pt x="13" y="23"/>
                  </a:lnTo>
                  <a:lnTo>
                    <a:pt x="15" y="23"/>
                  </a:lnTo>
                  <a:lnTo>
                    <a:pt x="17" y="23"/>
                  </a:lnTo>
                  <a:lnTo>
                    <a:pt x="19" y="21"/>
                  </a:lnTo>
                  <a:lnTo>
                    <a:pt x="21" y="21"/>
                  </a:lnTo>
                  <a:lnTo>
                    <a:pt x="21" y="19"/>
                  </a:lnTo>
                  <a:lnTo>
                    <a:pt x="23" y="17"/>
                  </a:lnTo>
                  <a:lnTo>
                    <a:pt x="23" y="15"/>
                  </a:lnTo>
                  <a:lnTo>
                    <a:pt x="23" y="14"/>
                  </a:lnTo>
                  <a:lnTo>
                    <a:pt x="25" y="12"/>
                  </a:lnTo>
                  <a:lnTo>
                    <a:pt x="23" y="10"/>
                  </a:lnTo>
                  <a:lnTo>
                    <a:pt x="23" y="8"/>
                  </a:lnTo>
                  <a:lnTo>
                    <a:pt x="21" y="6"/>
                  </a:lnTo>
                  <a:lnTo>
                    <a:pt x="21" y="4"/>
                  </a:lnTo>
                  <a:lnTo>
                    <a:pt x="19" y="4"/>
                  </a:lnTo>
                  <a:lnTo>
                    <a:pt x="17" y="2"/>
                  </a:lnTo>
                  <a:lnTo>
                    <a:pt x="15" y="2"/>
                  </a:lnTo>
                  <a:lnTo>
                    <a:pt x="13" y="2"/>
                  </a:lnTo>
                  <a:lnTo>
                    <a:pt x="11" y="0"/>
                  </a:lnTo>
                  <a:lnTo>
                    <a:pt x="11" y="2"/>
                  </a:lnTo>
                  <a:lnTo>
                    <a:pt x="9" y="2"/>
                  </a:lnTo>
                  <a:lnTo>
                    <a:pt x="8" y="2"/>
                  </a:lnTo>
                  <a:lnTo>
                    <a:pt x="6" y="4"/>
                  </a:lnTo>
                  <a:lnTo>
                    <a:pt x="4" y="4"/>
                  </a:lnTo>
                  <a:lnTo>
                    <a:pt x="4" y="6"/>
                  </a:lnTo>
                  <a:lnTo>
                    <a:pt x="2" y="8"/>
                  </a:lnTo>
                  <a:lnTo>
                    <a:pt x="2" y="10"/>
                  </a:lnTo>
                  <a:lnTo>
                    <a:pt x="0" y="12"/>
                  </a:lnTo>
                  <a:lnTo>
                    <a:pt x="2" y="14"/>
                  </a:lnTo>
                  <a:lnTo>
                    <a:pt x="2" y="15"/>
                  </a:lnTo>
                  <a:lnTo>
                    <a:pt x="2" y="17"/>
                  </a:lnTo>
                  <a:lnTo>
                    <a:pt x="4" y="19"/>
                  </a:lnTo>
                  <a:lnTo>
                    <a:pt x="4" y="21"/>
                  </a:lnTo>
                  <a:lnTo>
                    <a:pt x="6" y="21"/>
                  </a:lnTo>
                  <a:lnTo>
                    <a:pt x="8" y="23"/>
                  </a:lnTo>
                  <a:lnTo>
                    <a:pt x="9" y="23"/>
                  </a:lnTo>
                  <a:lnTo>
                    <a:pt x="11" y="23"/>
                  </a:lnTo>
                </a:path>
              </a:pathLst>
            </a:custGeom>
            <a:solidFill>
              <a:srgbClr val="000000"/>
            </a:solidFill>
            <a:ln w="9525" cap="rnd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23" name="Line 39"/>
            <p:cNvSpPr>
              <a:spLocks noChangeShapeType="1"/>
            </p:cNvSpPr>
            <p:nvPr/>
          </p:nvSpPr>
          <p:spPr bwMode="auto">
            <a:xfrm>
              <a:off x="2744" y="2413"/>
              <a:ext cx="2" cy="81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24" name="Freeform 40"/>
            <p:cNvSpPr>
              <a:spLocks/>
            </p:cNvSpPr>
            <p:nvPr/>
          </p:nvSpPr>
          <p:spPr bwMode="auto">
            <a:xfrm>
              <a:off x="2735" y="2917"/>
              <a:ext cx="24" cy="24"/>
            </a:xfrm>
            <a:custGeom>
              <a:avLst/>
              <a:gdLst>
                <a:gd name="T0" fmla="*/ 9 w 24"/>
                <a:gd name="T1" fmla="*/ 23 h 24"/>
                <a:gd name="T2" fmla="*/ 13 w 24"/>
                <a:gd name="T3" fmla="*/ 23 h 24"/>
                <a:gd name="T4" fmla="*/ 15 w 24"/>
                <a:gd name="T5" fmla="*/ 23 h 24"/>
                <a:gd name="T6" fmla="*/ 15 w 24"/>
                <a:gd name="T7" fmla="*/ 21 h 24"/>
                <a:gd name="T8" fmla="*/ 17 w 24"/>
                <a:gd name="T9" fmla="*/ 21 h 24"/>
                <a:gd name="T10" fmla="*/ 19 w 24"/>
                <a:gd name="T11" fmla="*/ 19 h 24"/>
                <a:gd name="T12" fmla="*/ 21 w 24"/>
                <a:gd name="T13" fmla="*/ 19 h 24"/>
                <a:gd name="T14" fmla="*/ 21 w 24"/>
                <a:gd name="T15" fmla="*/ 17 h 24"/>
                <a:gd name="T16" fmla="*/ 21 w 24"/>
                <a:gd name="T17" fmla="*/ 15 h 24"/>
                <a:gd name="T18" fmla="*/ 23 w 24"/>
                <a:gd name="T19" fmla="*/ 13 h 24"/>
                <a:gd name="T20" fmla="*/ 23 w 24"/>
                <a:gd name="T21" fmla="*/ 12 h 24"/>
                <a:gd name="T22" fmla="*/ 23 w 24"/>
                <a:gd name="T23" fmla="*/ 10 h 24"/>
                <a:gd name="T24" fmla="*/ 21 w 24"/>
                <a:gd name="T25" fmla="*/ 8 h 24"/>
                <a:gd name="T26" fmla="*/ 21 w 24"/>
                <a:gd name="T27" fmla="*/ 6 h 24"/>
                <a:gd name="T28" fmla="*/ 21 w 24"/>
                <a:gd name="T29" fmla="*/ 6 h 24"/>
                <a:gd name="T30" fmla="*/ 19 w 24"/>
                <a:gd name="T31" fmla="*/ 4 h 24"/>
                <a:gd name="T32" fmla="*/ 17 w 24"/>
                <a:gd name="T33" fmla="*/ 2 h 24"/>
                <a:gd name="T34" fmla="*/ 15 w 24"/>
                <a:gd name="T35" fmla="*/ 2 h 24"/>
                <a:gd name="T36" fmla="*/ 15 w 24"/>
                <a:gd name="T37" fmla="*/ 0 h 24"/>
                <a:gd name="T38" fmla="*/ 13 w 24"/>
                <a:gd name="T39" fmla="*/ 0 h 24"/>
                <a:gd name="T40" fmla="*/ 11 w 24"/>
                <a:gd name="T41" fmla="*/ 0 h 24"/>
                <a:gd name="T42" fmla="*/ 9 w 24"/>
                <a:gd name="T43" fmla="*/ 0 h 24"/>
                <a:gd name="T44" fmla="*/ 7 w 24"/>
                <a:gd name="T45" fmla="*/ 0 h 24"/>
                <a:gd name="T46" fmla="*/ 5 w 24"/>
                <a:gd name="T47" fmla="*/ 2 h 24"/>
                <a:gd name="T48" fmla="*/ 3 w 24"/>
                <a:gd name="T49" fmla="*/ 2 h 24"/>
                <a:gd name="T50" fmla="*/ 2 w 24"/>
                <a:gd name="T51" fmla="*/ 4 h 24"/>
                <a:gd name="T52" fmla="*/ 2 w 24"/>
                <a:gd name="T53" fmla="*/ 6 h 24"/>
                <a:gd name="T54" fmla="*/ 0 w 24"/>
                <a:gd name="T55" fmla="*/ 6 h 24"/>
                <a:gd name="T56" fmla="*/ 0 w 24"/>
                <a:gd name="T57" fmla="*/ 8 h 24"/>
                <a:gd name="T58" fmla="*/ 0 w 24"/>
                <a:gd name="T59" fmla="*/ 10 h 24"/>
                <a:gd name="T60" fmla="*/ 0 w 24"/>
                <a:gd name="T61" fmla="*/ 12 h 24"/>
                <a:gd name="T62" fmla="*/ 0 w 24"/>
                <a:gd name="T63" fmla="*/ 13 h 24"/>
                <a:gd name="T64" fmla="*/ 0 w 24"/>
                <a:gd name="T65" fmla="*/ 15 h 24"/>
                <a:gd name="T66" fmla="*/ 0 w 24"/>
                <a:gd name="T67" fmla="*/ 17 h 24"/>
                <a:gd name="T68" fmla="*/ 2 w 24"/>
                <a:gd name="T69" fmla="*/ 19 h 24"/>
                <a:gd name="T70" fmla="*/ 2 w 24"/>
                <a:gd name="T71" fmla="*/ 19 h 24"/>
                <a:gd name="T72" fmla="*/ 3 w 24"/>
                <a:gd name="T73" fmla="*/ 21 h 24"/>
                <a:gd name="T74" fmla="*/ 5 w 24"/>
                <a:gd name="T75" fmla="*/ 21 h 24"/>
                <a:gd name="T76" fmla="*/ 7 w 24"/>
                <a:gd name="T77" fmla="*/ 23 h 24"/>
                <a:gd name="T78" fmla="*/ 9 w 24"/>
                <a:gd name="T79" fmla="*/ 23 h 24"/>
                <a:gd name="T80" fmla="*/ 11 w 24"/>
                <a:gd name="T81" fmla="*/ 23 h 24"/>
                <a:gd name="T82" fmla="*/ 11 w 24"/>
                <a:gd name="T83" fmla="*/ 23 h 24"/>
                <a:gd name="T84" fmla="*/ 9 w 24"/>
                <a:gd name="T85" fmla="*/ 23 h 2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4"/>
                <a:gd name="T130" fmla="*/ 0 h 24"/>
                <a:gd name="T131" fmla="*/ 24 w 24"/>
                <a:gd name="T132" fmla="*/ 24 h 24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4" h="24">
                  <a:moveTo>
                    <a:pt x="9" y="23"/>
                  </a:moveTo>
                  <a:lnTo>
                    <a:pt x="13" y="23"/>
                  </a:lnTo>
                  <a:lnTo>
                    <a:pt x="15" y="23"/>
                  </a:lnTo>
                  <a:lnTo>
                    <a:pt x="15" y="21"/>
                  </a:lnTo>
                  <a:lnTo>
                    <a:pt x="17" y="21"/>
                  </a:lnTo>
                  <a:lnTo>
                    <a:pt x="19" y="19"/>
                  </a:lnTo>
                  <a:lnTo>
                    <a:pt x="21" y="19"/>
                  </a:lnTo>
                  <a:lnTo>
                    <a:pt x="21" y="17"/>
                  </a:lnTo>
                  <a:lnTo>
                    <a:pt x="21" y="15"/>
                  </a:lnTo>
                  <a:lnTo>
                    <a:pt x="23" y="13"/>
                  </a:lnTo>
                  <a:lnTo>
                    <a:pt x="23" y="12"/>
                  </a:lnTo>
                  <a:lnTo>
                    <a:pt x="23" y="10"/>
                  </a:lnTo>
                  <a:lnTo>
                    <a:pt x="21" y="8"/>
                  </a:lnTo>
                  <a:lnTo>
                    <a:pt x="21" y="6"/>
                  </a:lnTo>
                  <a:lnTo>
                    <a:pt x="19" y="4"/>
                  </a:lnTo>
                  <a:lnTo>
                    <a:pt x="17" y="2"/>
                  </a:lnTo>
                  <a:lnTo>
                    <a:pt x="15" y="2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1" y="0"/>
                  </a:lnTo>
                  <a:lnTo>
                    <a:pt x="9" y="0"/>
                  </a:lnTo>
                  <a:lnTo>
                    <a:pt x="7" y="0"/>
                  </a:lnTo>
                  <a:lnTo>
                    <a:pt x="5" y="2"/>
                  </a:lnTo>
                  <a:lnTo>
                    <a:pt x="3" y="2"/>
                  </a:lnTo>
                  <a:lnTo>
                    <a:pt x="2" y="4"/>
                  </a:lnTo>
                  <a:lnTo>
                    <a:pt x="2" y="6"/>
                  </a:lnTo>
                  <a:lnTo>
                    <a:pt x="0" y="6"/>
                  </a:lnTo>
                  <a:lnTo>
                    <a:pt x="0" y="8"/>
                  </a:lnTo>
                  <a:lnTo>
                    <a:pt x="0" y="10"/>
                  </a:lnTo>
                  <a:lnTo>
                    <a:pt x="0" y="12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0" y="17"/>
                  </a:lnTo>
                  <a:lnTo>
                    <a:pt x="2" y="19"/>
                  </a:lnTo>
                  <a:lnTo>
                    <a:pt x="3" y="21"/>
                  </a:lnTo>
                  <a:lnTo>
                    <a:pt x="5" y="21"/>
                  </a:lnTo>
                  <a:lnTo>
                    <a:pt x="7" y="23"/>
                  </a:lnTo>
                  <a:lnTo>
                    <a:pt x="9" y="23"/>
                  </a:lnTo>
                  <a:lnTo>
                    <a:pt x="11" y="23"/>
                  </a:lnTo>
                  <a:lnTo>
                    <a:pt x="9" y="23"/>
                  </a:lnTo>
                </a:path>
              </a:pathLst>
            </a:custGeom>
            <a:solidFill>
              <a:srgbClr val="000000"/>
            </a:solidFill>
            <a:ln w="9525" cap="rnd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25" name="Freeform 41"/>
            <p:cNvSpPr>
              <a:spLocks/>
            </p:cNvSpPr>
            <p:nvPr/>
          </p:nvSpPr>
          <p:spPr bwMode="auto">
            <a:xfrm>
              <a:off x="2735" y="3214"/>
              <a:ext cx="24" cy="24"/>
            </a:xfrm>
            <a:custGeom>
              <a:avLst/>
              <a:gdLst>
                <a:gd name="T0" fmla="*/ 9 w 24"/>
                <a:gd name="T1" fmla="*/ 23 h 24"/>
                <a:gd name="T2" fmla="*/ 13 w 24"/>
                <a:gd name="T3" fmla="*/ 23 h 24"/>
                <a:gd name="T4" fmla="*/ 15 w 24"/>
                <a:gd name="T5" fmla="*/ 23 h 24"/>
                <a:gd name="T6" fmla="*/ 15 w 24"/>
                <a:gd name="T7" fmla="*/ 23 h 24"/>
                <a:gd name="T8" fmla="*/ 17 w 24"/>
                <a:gd name="T9" fmla="*/ 21 h 24"/>
                <a:gd name="T10" fmla="*/ 19 w 24"/>
                <a:gd name="T11" fmla="*/ 19 h 24"/>
                <a:gd name="T12" fmla="*/ 19 w 24"/>
                <a:gd name="T13" fmla="*/ 19 h 24"/>
                <a:gd name="T14" fmla="*/ 21 w 24"/>
                <a:gd name="T15" fmla="*/ 17 h 24"/>
                <a:gd name="T16" fmla="*/ 21 w 24"/>
                <a:gd name="T17" fmla="*/ 15 h 24"/>
                <a:gd name="T18" fmla="*/ 23 w 24"/>
                <a:gd name="T19" fmla="*/ 13 h 24"/>
                <a:gd name="T20" fmla="*/ 23 w 24"/>
                <a:gd name="T21" fmla="*/ 11 h 24"/>
                <a:gd name="T22" fmla="*/ 23 w 24"/>
                <a:gd name="T23" fmla="*/ 10 h 24"/>
                <a:gd name="T24" fmla="*/ 21 w 24"/>
                <a:gd name="T25" fmla="*/ 8 h 24"/>
                <a:gd name="T26" fmla="*/ 21 w 24"/>
                <a:gd name="T27" fmla="*/ 6 h 24"/>
                <a:gd name="T28" fmla="*/ 19 w 24"/>
                <a:gd name="T29" fmla="*/ 6 h 24"/>
                <a:gd name="T30" fmla="*/ 19 w 24"/>
                <a:gd name="T31" fmla="*/ 4 h 24"/>
                <a:gd name="T32" fmla="*/ 17 w 24"/>
                <a:gd name="T33" fmla="*/ 2 h 24"/>
                <a:gd name="T34" fmla="*/ 15 w 24"/>
                <a:gd name="T35" fmla="*/ 2 h 24"/>
                <a:gd name="T36" fmla="*/ 15 w 24"/>
                <a:gd name="T37" fmla="*/ 0 h 24"/>
                <a:gd name="T38" fmla="*/ 13 w 24"/>
                <a:gd name="T39" fmla="*/ 0 h 24"/>
                <a:gd name="T40" fmla="*/ 11 w 24"/>
                <a:gd name="T41" fmla="*/ 0 h 24"/>
                <a:gd name="T42" fmla="*/ 9 w 24"/>
                <a:gd name="T43" fmla="*/ 0 h 24"/>
                <a:gd name="T44" fmla="*/ 7 w 24"/>
                <a:gd name="T45" fmla="*/ 0 h 24"/>
                <a:gd name="T46" fmla="*/ 5 w 24"/>
                <a:gd name="T47" fmla="*/ 2 h 24"/>
                <a:gd name="T48" fmla="*/ 3 w 24"/>
                <a:gd name="T49" fmla="*/ 2 h 24"/>
                <a:gd name="T50" fmla="*/ 2 w 24"/>
                <a:gd name="T51" fmla="*/ 4 h 24"/>
                <a:gd name="T52" fmla="*/ 2 w 24"/>
                <a:gd name="T53" fmla="*/ 6 h 24"/>
                <a:gd name="T54" fmla="*/ 0 w 24"/>
                <a:gd name="T55" fmla="*/ 6 h 24"/>
                <a:gd name="T56" fmla="*/ 0 w 24"/>
                <a:gd name="T57" fmla="*/ 8 h 24"/>
                <a:gd name="T58" fmla="*/ 0 w 24"/>
                <a:gd name="T59" fmla="*/ 10 h 24"/>
                <a:gd name="T60" fmla="*/ 0 w 24"/>
                <a:gd name="T61" fmla="*/ 11 h 24"/>
                <a:gd name="T62" fmla="*/ 0 w 24"/>
                <a:gd name="T63" fmla="*/ 13 h 24"/>
                <a:gd name="T64" fmla="*/ 0 w 24"/>
                <a:gd name="T65" fmla="*/ 15 h 24"/>
                <a:gd name="T66" fmla="*/ 0 w 24"/>
                <a:gd name="T67" fmla="*/ 17 h 24"/>
                <a:gd name="T68" fmla="*/ 2 w 24"/>
                <a:gd name="T69" fmla="*/ 19 h 24"/>
                <a:gd name="T70" fmla="*/ 2 w 24"/>
                <a:gd name="T71" fmla="*/ 19 h 24"/>
                <a:gd name="T72" fmla="*/ 3 w 24"/>
                <a:gd name="T73" fmla="*/ 21 h 24"/>
                <a:gd name="T74" fmla="*/ 5 w 24"/>
                <a:gd name="T75" fmla="*/ 23 h 24"/>
                <a:gd name="T76" fmla="*/ 7 w 24"/>
                <a:gd name="T77" fmla="*/ 23 h 24"/>
                <a:gd name="T78" fmla="*/ 9 w 24"/>
                <a:gd name="T79" fmla="*/ 23 h 24"/>
                <a:gd name="T80" fmla="*/ 11 w 24"/>
                <a:gd name="T81" fmla="*/ 23 h 24"/>
                <a:gd name="T82" fmla="*/ 11 w 24"/>
                <a:gd name="T83" fmla="*/ 23 h 24"/>
                <a:gd name="T84" fmla="*/ 9 w 24"/>
                <a:gd name="T85" fmla="*/ 23 h 2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4"/>
                <a:gd name="T130" fmla="*/ 0 h 24"/>
                <a:gd name="T131" fmla="*/ 24 w 24"/>
                <a:gd name="T132" fmla="*/ 24 h 24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4" h="24">
                  <a:moveTo>
                    <a:pt x="9" y="23"/>
                  </a:moveTo>
                  <a:lnTo>
                    <a:pt x="13" y="23"/>
                  </a:lnTo>
                  <a:lnTo>
                    <a:pt x="15" y="23"/>
                  </a:lnTo>
                  <a:lnTo>
                    <a:pt x="17" y="21"/>
                  </a:lnTo>
                  <a:lnTo>
                    <a:pt x="19" y="19"/>
                  </a:lnTo>
                  <a:lnTo>
                    <a:pt x="21" y="17"/>
                  </a:lnTo>
                  <a:lnTo>
                    <a:pt x="21" y="15"/>
                  </a:lnTo>
                  <a:lnTo>
                    <a:pt x="23" y="13"/>
                  </a:lnTo>
                  <a:lnTo>
                    <a:pt x="23" y="11"/>
                  </a:lnTo>
                  <a:lnTo>
                    <a:pt x="23" y="10"/>
                  </a:lnTo>
                  <a:lnTo>
                    <a:pt x="21" y="8"/>
                  </a:lnTo>
                  <a:lnTo>
                    <a:pt x="21" y="6"/>
                  </a:lnTo>
                  <a:lnTo>
                    <a:pt x="19" y="6"/>
                  </a:lnTo>
                  <a:lnTo>
                    <a:pt x="19" y="4"/>
                  </a:lnTo>
                  <a:lnTo>
                    <a:pt x="17" y="2"/>
                  </a:lnTo>
                  <a:lnTo>
                    <a:pt x="15" y="2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1" y="0"/>
                  </a:lnTo>
                  <a:lnTo>
                    <a:pt x="9" y="0"/>
                  </a:lnTo>
                  <a:lnTo>
                    <a:pt x="7" y="0"/>
                  </a:lnTo>
                  <a:lnTo>
                    <a:pt x="5" y="2"/>
                  </a:lnTo>
                  <a:lnTo>
                    <a:pt x="3" y="2"/>
                  </a:lnTo>
                  <a:lnTo>
                    <a:pt x="2" y="4"/>
                  </a:lnTo>
                  <a:lnTo>
                    <a:pt x="2" y="6"/>
                  </a:lnTo>
                  <a:lnTo>
                    <a:pt x="0" y="6"/>
                  </a:lnTo>
                  <a:lnTo>
                    <a:pt x="0" y="8"/>
                  </a:lnTo>
                  <a:lnTo>
                    <a:pt x="0" y="10"/>
                  </a:lnTo>
                  <a:lnTo>
                    <a:pt x="0" y="11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0" y="17"/>
                  </a:lnTo>
                  <a:lnTo>
                    <a:pt x="2" y="19"/>
                  </a:lnTo>
                  <a:lnTo>
                    <a:pt x="3" y="21"/>
                  </a:lnTo>
                  <a:lnTo>
                    <a:pt x="5" y="23"/>
                  </a:lnTo>
                  <a:lnTo>
                    <a:pt x="7" y="23"/>
                  </a:lnTo>
                  <a:lnTo>
                    <a:pt x="9" y="23"/>
                  </a:lnTo>
                  <a:lnTo>
                    <a:pt x="11" y="23"/>
                  </a:lnTo>
                  <a:lnTo>
                    <a:pt x="9" y="23"/>
                  </a:lnTo>
                </a:path>
              </a:pathLst>
            </a:custGeom>
            <a:solidFill>
              <a:srgbClr val="000000"/>
            </a:solidFill>
            <a:ln w="9525" cap="rnd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26" name="Line 42"/>
            <p:cNvSpPr>
              <a:spLocks noChangeShapeType="1"/>
            </p:cNvSpPr>
            <p:nvPr/>
          </p:nvSpPr>
          <p:spPr bwMode="auto">
            <a:xfrm flipH="1" flipV="1">
              <a:off x="2784" y="3197"/>
              <a:ext cx="35" cy="5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27" name="Rectangle 43"/>
            <p:cNvSpPr>
              <a:spLocks noChangeArrowheads="1"/>
            </p:cNvSpPr>
            <p:nvPr/>
          </p:nvSpPr>
          <p:spPr bwMode="auto">
            <a:xfrm>
              <a:off x="2737" y="3118"/>
              <a:ext cx="124" cy="1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sz="600">
                  <a:solidFill>
                    <a:srgbClr val="000000"/>
                  </a:solidFill>
                  <a:latin typeface="+mj-lt"/>
                </a:rPr>
                <a:t>6</a:t>
              </a:r>
            </a:p>
          </p:txBody>
        </p:sp>
        <p:sp>
          <p:nvSpPr>
            <p:cNvPr id="54328" name="Line 44"/>
            <p:cNvSpPr>
              <a:spLocks noChangeShapeType="1"/>
            </p:cNvSpPr>
            <p:nvPr/>
          </p:nvSpPr>
          <p:spPr bwMode="auto">
            <a:xfrm flipH="1" flipV="1">
              <a:off x="2532" y="2527"/>
              <a:ext cx="440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29" name="Freeform 45"/>
            <p:cNvSpPr>
              <a:spLocks/>
            </p:cNvSpPr>
            <p:nvPr/>
          </p:nvSpPr>
          <p:spPr bwMode="auto">
            <a:xfrm>
              <a:off x="2692" y="2722"/>
              <a:ext cx="890" cy="284"/>
            </a:xfrm>
            <a:custGeom>
              <a:avLst/>
              <a:gdLst>
                <a:gd name="T0" fmla="*/ 889 w 935"/>
                <a:gd name="T1" fmla="*/ 283 h 284"/>
                <a:gd name="T2" fmla="*/ 0 w 935"/>
                <a:gd name="T3" fmla="*/ 283 h 284"/>
                <a:gd name="T4" fmla="*/ 0 w 935"/>
                <a:gd name="T5" fmla="*/ 0 h 284"/>
                <a:gd name="T6" fmla="*/ 0 60000 65536"/>
                <a:gd name="T7" fmla="*/ 0 60000 65536"/>
                <a:gd name="T8" fmla="*/ 0 60000 65536"/>
                <a:gd name="T9" fmla="*/ 0 w 935"/>
                <a:gd name="T10" fmla="*/ 0 h 284"/>
                <a:gd name="T11" fmla="*/ 935 w 935"/>
                <a:gd name="T12" fmla="*/ 284 h 28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35" h="284">
                  <a:moveTo>
                    <a:pt x="934" y="283"/>
                  </a:moveTo>
                  <a:lnTo>
                    <a:pt x="0" y="283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triangl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30" name="Freeform 46"/>
            <p:cNvSpPr>
              <a:spLocks/>
            </p:cNvSpPr>
            <p:nvPr/>
          </p:nvSpPr>
          <p:spPr bwMode="auto">
            <a:xfrm>
              <a:off x="3582" y="1917"/>
              <a:ext cx="93" cy="1777"/>
            </a:xfrm>
            <a:custGeom>
              <a:avLst/>
              <a:gdLst>
                <a:gd name="T0" fmla="*/ 90 w 93"/>
                <a:gd name="T1" fmla="*/ 1776 h 1777"/>
                <a:gd name="T2" fmla="*/ 92 w 93"/>
                <a:gd name="T3" fmla="*/ 0 h 1777"/>
                <a:gd name="T4" fmla="*/ 0 w 93"/>
                <a:gd name="T5" fmla="*/ 0 h 1777"/>
                <a:gd name="T6" fmla="*/ 0 w 93"/>
                <a:gd name="T7" fmla="*/ 1776 h 1777"/>
                <a:gd name="T8" fmla="*/ 92 w 93"/>
                <a:gd name="T9" fmla="*/ 1776 h 1777"/>
                <a:gd name="T10" fmla="*/ 92 w 93"/>
                <a:gd name="T11" fmla="*/ 1776 h 177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3"/>
                <a:gd name="T19" fmla="*/ 0 h 1777"/>
                <a:gd name="T20" fmla="*/ 93 w 93"/>
                <a:gd name="T21" fmla="*/ 1777 h 177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3" h="1777">
                  <a:moveTo>
                    <a:pt x="90" y="1776"/>
                  </a:moveTo>
                  <a:lnTo>
                    <a:pt x="92" y="0"/>
                  </a:lnTo>
                  <a:lnTo>
                    <a:pt x="0" y="0"/>
                  </a:lnTo>
                  <a:lnTo>
                    <a:pt x="0" y="1776"/>
                  </a:lnTo>
                  <a:lnTo>
                    <a:pt x="92" y="1776"/>
                  </a:lnTo>
                </a:path>
              </a:pathLst>
            </a:custGeom>
            <a:solidFill>
              <a:srgbClr val="CCECFF"/>
            </a:solidFill>
            <a:ln w="190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31" name="Freeform 47"/>
            <p:cNvSpPr>
              <a:spLocks/>
            </p:cNvSpPr>
            <p:nvPr/>
          </p:nvSpPr>
          <p:spPr bwMode="auto">
            <a:xfrm>
              <a:off x="2899" y="1955"/>
              <a:ext cx="365" cy="422"/>
            </a:xfrm>
            <a:custGeom>
              <a:avLst/>
              <a:gdLst>
                <a:gd name="T0" fmla="*/ 0 w 301"/>
                <a:gd name="T1" fmla="*/ 0 h 422"/>
                <a:gd name="T2" fmla="*/ 0 w 301"/>
                <a:gd name="T3" fmla="*/ 170 h 422"/>
                <a:gd name="T4" fmla="*/ 75 w 301"/>
                <a:gd name="T5" fmla="*/ 210 h 422"/>
                <a:gd name="T6" fmla="*/ 0 w 301"/>
                <a:gd name="T7" fmla="*/ 251 h 422"/>
                <a:gd name="T8" fmla="*/ 0 w 301"/>
                <a:gd name="T9" fmla="*/ 421 h 422"/>
                <a:gd name="T10" fmla="*/ 364 w 301"/>
                <a:gd name="T11" fmla="*/ 285 h 422"/>
                <a:gd name="T12" fmla="*/ 364 w 301"/>
                <a:gd name="T13" fmla="*/ 138 h 422"/>
                <a:gd name="T14" fmla="*/ 0 w 301"/>
                <a:gd name="T15" fmla="*/ 0 h 422"/>
                <a:gd name="T16" fmla="*/ 0 w 301"/>
                <a:gd name="T17" fmla="*/ 0 h 42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01"/>
                <a:gd name="T28" fmla="*/ 0 h 422"/>
                <a:gd name="T29" fmla="*/ 301 w 301"/>
                <a:gd name="T30" fmla="*/ 422 h 422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01" h="422">
                  <a:moveTo>
                    <a:pt x="0" y="0"/>
                  </a:moveTo>
                  <a:lnTo>
                    <a:pt x="0" y="170"/>
                  </a:lnTo>
                  <a:lnTo>
                    <a:pt x="62" y="210"/>
                  </a:lnTo>
                  <a:lnTo>
                    <a:pt x="0" y="251"/>
                  </a:lnTo>
                  <a:lnTo>
                    <a:pt x="0" y="421"/>
                  </a:lnTo>
                  <a:lnTo>
                    <a:pt x="300" y="285"/>
                  </a:lnTo>
                  <a:lnTo>
                    <a:pt x="300" y="138"/>
                  </a:lnTo>
                  <a:lnTo>
                    <a:pt x="0" y="0"/>
                  </a:lnTo>
                </a:path>
              </a:pathLst>
            </a:custGeom>
            <a:solidFill>
              <a:srgbClr val="CCFF99"/>
            </a:solidFill>
            <a:ln w="190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32" name="Freeform 48"/>
            <p:cNvSpPr>
              <a:spLocks/>
            </p:cNvSpPr>
            <p:nvPr/>
          </p:nvSpPr>
          <p:spPr bwMode="auto">
            <a:xfrm>
              <a:off x="2969" y="2461"/>
              <a:ext cx="391" cy="458"/>
            </a:xfrm>
            <a:custGeom>
              <a:avLst/>
              <a:gdLst>
                <a:gd name="T0" fmla="*/ 0 w 300"/>
                <a:gd name="T1" fmla="*/ 0 h 422"/>
                <a:gd name="T2" fmla="*/ 0 w 300"/>
                <a:gd name="T3" fmla="*/ 186 h 422"/>
                <a:gd name="T4" fmla="*/ 80 w 300"/>
                <a:gd name="T5" fmla="*/ 229 h 422"/>
                <a:gd name="T6" fmla="*/ 0 w 300"/>
                <a:gd name="T7" fmla="*/ 272 h 422"/>
                <a:gd name="T8" fmla="*/ 0 w 300"/>
                <a:gd name="T9" fmla="*/ 457 h 422"/>
                <a:gd name="T10" fmla="*/ 390 w 300"/>
                <a:gd name="T11" fmla="*/ 309 h 422"/>
                <a:gd name="T12" fmla="*/ 390 w 300"/>
                <a:gd name="T13" fmla="*/ 148 h 422"/>
                <a:gd name="T14" fmla="*/ 0 w 300"/>
                <a:gd name="T15" fmla="*/ 0 h 422"/>
                <a:gd name="T16" fmla="*/ 0 w 300"/>
                <a:gd name="T17" fmla="*/ 0 h 42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00"/>
                <a:gd name="T28" fmla="*/ 0 h 422"/>
                <a:gd name="T29" fmla="*/ 300 w 300"/>
                <a:gd name="T30" fmla="*/ 422 h 422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00" h="422">
                  <a:moveTo>
                    <a:pt x="0" y="0"/>
                  </a:moveTo>
                  <a:lnTo>
                    <a:pt x="0" y="171"/>
                  </a:lnTo>
                  <a:lnTo>
                    <a:pt x="61" y="211"/>
                  </a:lnTo>
                  <a:lnTo>
                    <a:pt x="0" y="251"/>
                  </a:lnTo>
                  <a:lnTo>
                    <a:pt x="0" y="421"/>
                  </a:lnTo>
                  <a:lnTo>
                    <a:pt x="299" y="285"/>
                  </a:lnTo>
                  <a:lnTo>
                    <a:pt x="299" y="136"/>
                  </a:lnTo>
                  <a:lnTo>
                    <a:pt x="0" y="0"/>
                  </a:lnTo>
                </a:path>
              </a:pathLst>
            </a:custGeom>
            <a:solidFill>
              <a:srgbClr val="CCFF99"/>
            </a:solidFill>
            <a:ln w="190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33" name="Freeform 49"/>
            <p:cNvSpPr>
              <a:spLocks/>
            </p:cNvSpPr>
            <p:nvPr/>
          </p:nvSpPr>
          <p:spPr bwMode="auto">
            <a:xfrm>
              <a:off x="2675" y="2170"/>
              <a:ext cx="151" cy="239"/>
            </a:xfrm>
            <a:custGeom>
              <a:avLst/>
              <a:gdLst>
                <a:gd name="T0" fmla="*/ 73 w 151"/>
                <a:gd name="T1" fmla="*/ 236 h 239"/>
                <a:gd name="T2" fmla="*/ 86 w 151"/>
                <a:gd name="T3" fmla="*/ 236 h 239"/>
                <a:gd name="T4" fmla="*/ 98 w 151"/>
                <a:gd name="T5" fmla="*/ 232 h 239"/>
                <a:gd name="T6" fmla="*/ 109 w 151"/>
                <a:gd name="T7" fmla="*/ 224 h 239"/>
                <a:gd name="T8" fmla="*/ 119 w 151"/>
                <a:gd name="T9" fmla="*/ 215 h 239"/>
                <a:gd name="T10" fmla="*/ 129 w 151"/>
                <a:gd name="T11" fmla="*/ 203 h 239"/>
                <a:gd name="T12" fmla="*/ 134 w 151"/>
                <a:gd name="T13" fmla="*/ 188 h 239"/>
                <a:gd name="T14" fmla="*/ 142 w 151"/>
                <a:gd name="T15" fmla="*/ 172 h 239"/>
                <a:gd name="T16" fmla="*/ 146 w 151"/>
                <a:gd name="T17" fmla="*/ 155 h 239"/>
                <a:gd name="T18" fmla="*/ 150 w 151"/>
                <a:gd name="T19" fmla="*/ 138 h 239"/>
                <a:gd name="T20" fmla="*/ 150 w 151"/>
                <a:gd name="T21" fmla="*/ 119 h 239"/>
                <a:gd name="T22" fmla="*/ 150 w 151"/>
                <a:gd name="T23" fmla="*/ 100 h 239"/>
                <a:gd name="T24" fmla="*/ 146 w 151"/>
                <a:gd name="T25" fmla="*/ 80 h 239"/>
                <a:gd name="T26" fmla="*/ 142 w 151"/>
                <a:gd name="T27" fmla="*/ 63 h 239"/>
                <a:gd name="T28" fmla="*/ 134 w 151"/>
                <a:gd name="T29" fmla="*/ 48 h 239"/>
                <a:gd name="T30" fmla="*/ 129 w 151"/>
                <a:gd name="T31" fmla="*/ 34 h 239"/>
                <a:gd name="T32" fmla="*/ 119 w 151"/>
                <a:gd name="T33" fmla="*/ 23 h 239"/>
                <a:gd name="T34" fmla="*/ 109 w 151"/>
                <a:gd name="T35" fmla="*/ 13 h 239"/>
                <a:gd name="T36" fmla="*/ 98 w 151"/>
                <a:gd name="T37" fmla="*/ 6 h 239"/>
                <a:gd name="T38" fmla="*/ 86 w 151"/>
                <a:gd name="T39" fmla="*/ 0 h 239"/>
                <a:gd name="T40" fmla="*/ 75 w 151"/>
                <a:gd name="T41" fmla="*/ 0 h 239"/>
                <a:gd name="T42" fmla="*/ 62 w 151"/>
                <a:gd name="T43" fmla="*/ 0 h 239"/>
                <a:gd name="T44" fmla="*/ 50 w 151"/>
                <a:gd name="T45" fmla="*/ 6 h 239"/>
                <a:gd name="T46" fmla="*/ 40 w 151"/>
                <a:gd name="T47" fmla="*/ 13 h 239"/>
                <a:gd name="T48" fmla="*/ 31 w 151"/>
                <a:gd name="T49" fmla="*/ 23 h 239"/>
                <a:gd name="T50" fmla="*/ 21 w 151"/>
                <a:gd name="T51" fmla="*/ 34 h 239"/>
                <a:gd name="T52" fmla="*/ 14 w 151"/>
                <a:gd name="T53" fmla="*/ 48 h 239"/>
                <a:gd name="T54" fmla="*/ 8 w 151"/>
                <a:gd name="T55" fmla="*/ 63 h 239"/>
                <a:gd name="T56" fmla="*/ 4 w 151"/>
                <a:gd name="T57" fmla="*/ 80 h 239"/>
                <a:gd name="T58" fmla="*/ 0 w 151"/>
                <a:gd name="T59" fmla="*/ 100 h 239"/>
                <a:gd name="T60" fmla="*/ 0 w 151"/>
                <a:gd name="T61" fmla="*/ 119 h 239"/>
                <a:gd name="T62" fmla="*/ 0 w 151"/>
                <a:gd name="T63" fmla="*/ 138 h 239"/>
                <a:gd name="T64" fmla="*/ 4 w 151"/>
                <a:gd name="T65" fmla="*/ 155 h 239"/>
                <a:gd name="T66" fmla="*/ 8 w 151"/>
                <a:gd name="T67" fmla="*/ 172 h 239"/>
                <a:gd name="T68" fmla="*/ 14 w 151"/>
                <a:gd name="T69" fmla="*/ 188 h 239"/>
                <a:gd name="T70" fmla="*/ 21 w 151"/>
                <a:gd name="T71" fmla="*/ 203 h 239"/>
                <a:gd name="T72" fmla="*/ 31 w 151"/>
                <a:gd name="T73" fmla="*/ 215 h 239"/>
                <a:gd name="T74" fmla="*/ 40 w 151"/>
                <a:gd name="T75" fmla="*/ 224 h 239"/>
                <a:gd name="T76" fmla="*/ 50 w 151"/>
                <a:gd name="T77" fmla="*/ 232 h 239"/>
                <a:gd name="T78" fmla="*/ 62 w 151"/>
                <a:gd name="T79" fmla="*/ 236 h 239"/>
                <a:gd name="T80" fmla="*/ 75 w 151"/>
                <a:gd name="T81" fmla="*/ 238 h 239"/>
                <a:gd name="T82" fmla="*/ 75 w 151"/>
                <a:gd name="T83" fmla="*/ 238 h 239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151"/>
                <a:gd name="T127" fmla="*/ 0 h 239"/>
                <a:gd name="T128" fmla="*/ 151 w 151"/>
                <a:gd name="T129" fmla="*/ 239 h 239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151" h="239">
                  <a:moveTo>
                    <a:pt x="73" y="236"/>
                  </a:moveTo>
                  <a:lnTo>
                    <a:pt x="86" y="236"/>
                  </a:lnTo>
                  <a:lnTo>
                    <a:pt x="98" y="232"/>
                  </a:lnTo>
                  <a:lnTo>
                    <a:pt x="109" y="224"/>
                  </a:lnTo>
                  <a:lnTo>
                    <a:pt x="119" y="215"/>
                  </a:lnTo>
                  <a:lnTo>
                    <a:pt x="129" y="203"/>
                  </a:lnTo>
                  <a:lnTo>
                    <a:pt x="134" y="188"/>
                  </a:lnTo>
                  <a:lnTo>
                    <a:pt x="142" y="172"/>
                  </a:lnTo>
                  <a:lnTo>
                    <a:pt x="146" y="155"/>
                  </a:lnTo>
                  <a:lnTo>
                    <a:pt x="150" y="138"/>
                  </a:lnTo>
                  <a:lnTo>
                    <a:pt x="150" y="119"/>
                  </a:lnTo>
                  <a:lnTo>
                    <a:pt x="150" y="100"/>
                  </a:lnTo>
                  <a:lnTo>
                    <a:pt x="146" y="80"/>
                  </a:lnTo>
                  <a:lnTo>
                    <a:pt x="142" y="63"/>
                  </a:lnTo>
                  <a:lnTo>
                    <a:pt x="134" y="48"/>
                  </a:lnTo>
                  <a:lnTo>
                    <a:pt x="129" y="34"/>
                  </a:lnTo>
                  <a:lnTo>
                    <a:pt x="119" y="23"/>
                  </a:lnTo>
                  <a:lnTo>
                    <a:pt x="109" y="13"/>
                  </a:lnTo>
                  <a:lnTo>
                    <a:pt x="98" y="6"/>
                  </a:lnTo>
                  <a:lnTo>
                    <a:pt x="86" y="0"/>
                  </a:lnTo>
                  <a:lnTo>
                    <a:pt x="75" y="0"/>
                  </a:lnTo>
                  <a:lnTo>
                    <a:pt x="62" y="0"/>
                  </a:lnTo>
                  <a:lnTo>
                    <a:pt x="50" y="6"/>
                  </a:lnTo>
                  <a:lnTo>
                    <a:pt x="40" y="13"/>
                  </a:lnTo>
                  <a:lnTo>
                    <a:pt x="31" y="23"/>
                  </a:lnTo>
                  <a:lnTo>
                    <a:pt x="21" y="34"/>
                  </a:lnTo>
                  <a:lnTo>
                    <a:pt x="14" y="48"/>
                  </a:lnTo>
                  <a:lnTo>
                    <a:pt x="8" y="63"/>
                  </a:lnTo>
                  <a:lnTo>
                    <a:pt x="4" y="80"/>
                  </a:lnTo>
                  <a:lnTo>
                    <a:pt x="0" y="100"/>
                  </a:lnTo>
                  <a:lnTo>
                    <a:pt x="0" y="119"/>
                  </a:lnTo>
                  <a:lnTo>
                    <a:pt x="0" y="138"/>
                  </a:lnTo>
                  <a:lnTo>
                    <a:pt x="4" y="155"/>
                  </a:lnTo>
                  <a:lnTo>
                    <a:pt x="8" y="172"/>
                  </a:lnTo>
                  <a:lnTo>
                    <a:pt x="14" y="188"/>
                  </a:lnTo>
                  <a:lnTo>
                    <a:pt x="21" y="203"/>
                  </a:lnTo>
                  <a:lnTo>
                    <a:pt x="31" y="215"/>
                  </a:lnTo>
                  <a:lnTo>
                    <a:pt x="40" y="224"/>
                  </a:lnTo>
                  <a:lnTo>
                    <a:pt x="50" y="232"/>
                  </a:lnTo>
                  <a:lnTo>
                    <a:pt x="62" y="236"/>
                  </a:lnTo>
                  <a:lnTo>
                    <a:pt x="75" y="238"/>
                  </a:lnTo>
                </a:path>
              </a:pathLst>
            </a:custGeom>
            <a:solidFill>
              <a:srgbClr val="EAEAEA"/>
            </a:solidFill>
            <a:ln w="190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34" name="Rectangle 50"/>
            <p:cNvSpPr>
              <a:spLocks noChangeArrowheads="1"/>
            </p:cNvSpPr>
            <p:nvPr/>
          </p:nvSpPr>
          <p:spPr bwMode="auto">
            <a:xfrm>
              <a:off x="2991" y="2737"/>
              <a:ext cx="138" cy="1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dirty="0">
                  <a:solidFill>
                    <a:srgbClr val="000000"/>
                  </a:solidFill>
                  <a:latin typeface="+mj-lt"/>
                </a:rPr>
                <a:t>ALU</a:t>
              </a:r>
            </a:p>
          </p:txBody>
        </p:sp>
        <p:sp>
          <p:nvSpPr>
            <p:cNvPr id="54335" name="Rectangle 51"/>
            <p:cNvSpPr>
              <a:spLocks noChangeArrowheads="1"/>
            </p:cNvSpPr>
            <p:nvPr/>
          </p:nvSpPr>
          <p:spPr bwMode="auto">
            <a:xfrm>
              <a:off x="3183" y="2697"/>
              <a:ext cx="132" cy="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 dirty="0">
                  <a:solidFill>
                    <a:srgbClr val="000000"/>
                  </a:solidFill>
                  <a:latin typeface="+mj-lt"/>
                </a:rPr>
                <a:t>result</a:t>
              </a:r>
            </a:p>
          </p:txBody>
        </p:sp>
        <p:sp>
          <p:nvSpPr>
            <p:cNvPr id="54336" name="Rectangle 52"/>
            <p:cNvSpPr>
              <a:spLocks noChangeArrowheads="1"/>
            </p:cNvSpPr>
            <p:nvPr/>
          </p:nvSpPr>
          <p:spPr bwMode="auto">
            <a:xfrm>
              <a:off x="3208" y="2604"/>
              <a:ext cx="127" cy="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 dirty="0">
                  <a:solidFill>
                    <a:srgbClr val="000000"/>
                  </a:solidFill>
                  <a:latin typeface="+mj-lt"/>
                </a:rPr>
                <a:t>z</a:t>
              </a:r>
              <a:r>
                <a:rPr lang="en-US" sz="800" dirty="0" smtClean="0">
                  <a:solidFill>
                    <a:srgbClr val="000000"/>
                  </a:solidFill>
                  <a:latin typeface="+mj-lt"/>
                </a:rPr>
                <a:t>ero?</a:t>
              </a:r>
              <a:endParaRPr lang="en-US" sz="500" dirty="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337" name="Rectangle 53"/>
            <p:cNvSpPr>
              <a:spLocks noChangeArrowheads="1"/>
            </p:cNvSpPr>
            <p:nvPr/>
          </p:nvSpPr>
          <p:spPr bwMode="auto">
            <a:xfrm>
              <a:off x="3105" y="2123"/>
              <a:ext cx="132" cy="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 dirty="0" smtClean="0">
                  <a:solidFill>
                    <a:srgbClr val="000000"/>
                  </a:solidFill>
                  <a:latin typeface="+mj-lt"/>
                </a:rPr>
                <a:t>result</a:t>
              </a:r>
              <a:endParaRPr lang="en-US" sz="500" dirty="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338" name="Rectangle 54"/>
            <p:cNvSpPr>
              <a:spLocks noChangeArrowheads="1"/>
            </p:cNvSpPr>
            <p:nvPr/>
          </p:nvSpPr>
          <p:spPr bwMode="auto">
            <a:xfrm>
              <a:off x="2928" y="2191"/>
              <a:ext cx="138" cy="1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dirty="0">
                  <a:solidFill>
                    <a:srgbClr val="000000"/>
                  </a:solidFill>
                  <a:latin typeface="+mj-lt"/>
                </a:rPr>
                <a:t>Add</a:t>
              </a:r>
            </a:p>
          </p:txBody>
        </p:sp>
        <p:sp>
          <p:nvSpPr>
            <p:cNvPr id="54339" name="Rectangle 55"/>
            <p:cNvSpPr>
              <a:spLocks noChangeArrowheads="1"/>
            </p:cNvSpPr>
            <p:nvPr/>
          </p:nvSpPr>
          <p:spPr bwMode="auto">
            <a:xfrm>
              <a:off x="2694" y="2232"/>
              <a:ext cx="90" cy="1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600" dirty="0">
                  <a:solidFill>
                    <a:srgbClr val="000000"/>
                  </a:solidFill>
                  <a:latin typeface="+mj-lt"/>
                </a:rPr>
                <a:t>Shift </a:t>
              </a:r>
            </a:p>
            <a:p>
              <a:r>
                <a:rPr lang="en-US" sz="600" dirty="0">
                  <a:solidFill>
                    <a:srgbClr val="000000"/>
                  </a:solidFill>
                  <a:latin typeface="+mj-lt"/>
                </a:rPr>
                <a:t>left 2</a:t>
              </a:r>
              <a:endParaRPr lang="en-US" sz="500" dirty="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340" name="Line 56"/>
            <p:cNvSpPr>
              <a:spLocks noChangeShapeType="1"/>
            </p:cNvSpPr>
            <p:nvPr/>
          </p:nvSpPr>
          <p:spPr bwMode="auto">
            <a:xfrm flipH="1" flipV="1">
              <a:off x="2907" y="2820"/>
              <a:ext cx="65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41" name="Line 57"/>
            <p:cNvSpPr>
              <a:spLocks noChangeShapeType="1"/>
            </p:cNvSpPr>
            <p:nvPr/>
          </p:nvSpPr>
          <p:spPr bwMode="auto">
            <a:xfrm flipH="1" flipV="1">
              <a:off x="2526" y="2721"/>
              <a:ext cx="290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42" name="Line 58"/>
            <p:cNvSpPr>
              <a:spLocks noChangeShapeType="1"/>
            </p:cNvSpPr>
            <p:nvPr/>
          </p:nvSpPr>
          <p:spPr bwMode="auto">
            <a:xfrm flipH="1" flipV="1">
              <a:off x="2746" y="2925"/>
              <a:ext cx="71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43" name="Line 59"/>
            <p:cNvSpPr>
              <a:spLocks noChangeShapeType="1"/>
            </p:cNvSpPr>
            <p:nvPr/>
          </p:nvSpPr>
          <p:spPr bwMode="auto">
            <a:xfrm flipH="1">
              <a:off x="3268" y="2163"/>
              <a:ext cx="308" cy="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44" name="Line 60"/>
            <p:cNvSpPr>
              <a:spLocks noChangeShapeType="1"/>
            </p:cNvSpPr>
            <p:nvPr/>
          </p:nvSpPr>
          <p:spPr bwMode="auto">
            <a:xfrm flipH="1" flipV="1">
              <a:off x="3355" y="2748"/>
              <a:ext cx="227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45" name="Line 61"/>
            <p:cNvSpPr>
              <a:spLocks noChangeShapeType="1"/>
            </p:cNvSpPr>
            <p:nvPr/>
          </p:nvSpPr>
          <p:spPr bwMode="auto">
            <a:xfrm flipH="1">
              <a:off x="2523" y="3451"/>
              <a:ext cx="254" cy="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46" name="Line 62"/>
            <p:cNvSpPr>
              <a:spLocks noChangeShapeType="1"/>
            </p:cNvSpPr>
            <p:nvPr/>
          </p:nvSpPr>
          <p:spPr bwMode="auto">
            <a:xfrm flipH="1" flipV="1">
              <a:off x="2526" y="3647"/>
              <a:ext cx="254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47" name="Rectangle 63"/>
            <p:cNvSpPr>
              <a:spLocks noChangeArrowheads="1"/>
            </p:cNvSpPr>
            <p:nvPr/>
          </p:nvSpPr>
          <p:spPr bwMode="auto">
            <a:xfrm>
              <a:off x="2914" y="3127"/>
              <a:ext cx="172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n-US" sz="800">
                  <a:solidFill>
                    <a:srgbClr val="EB7500"/>
                  </a:solidFill>
                  <a:latin typeface="+mj-lt"/>
                </a:rPr>
                <a:t>ALU</a:t>
              </a:r>
            </a:p>
            <a:p>
              <a:pPr algn="ctr"/>
              <a:r>
                <a:rPr lang="en-US" sz="800">
                  <a:solidFill>
                    <a:srgbClr val="EB7500"/>
                  </a:solidFill>
                  <a:latin typeface="+mj-lt"/>
                </a:rPr>
                <a:t>Control</a:t>
              </a:r>
              <a:endParaRPr lang="en-US" sz="500">
                <a:solidFill>
                  <a:srgbClr val="EB7500"/>
                </a:solidFill>
                <a:latin typeface="+mj-lt"/>
              </a:endParaRPr>
            </a:p>
          </p:txBody>
        </p:sp>
        <p:sp>
          <p:nvSpPr>
            <p:cNvPr id="54350" name="Line 66"/>
            <p:cNvSpPr>
              <a:spLocks noChangeShapeType="1"/>
            </p:cNvSpPr>
            <p:nvPr/>
          </p:nvSpPr>
          <p:spPr bwMode="auto">
            <a:xfrm flipH="1">
              <a:off x="2875" y="3555"/>
              <a:ext cx="702" cy="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51" name="Line 67"/>
            <p:cNvSpPr>
              <a:spLocks noChangeShapeType="1"/>
            </p:cNvSpPr>
            <p:nvPr/>
          </p:nvSpPr>
          <p:spPr bwMode="auto">
            <a:xfrm flipH="1" flipV="1">
              <a:off x="2826" y="2286"/>
              <a:ext cx="71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53" name="Rectangle 69"/>
            <p:cNvSpPr>
              <a:spLocks noChangeArrowheads="1"/>
            </p:cNvSpPr>
            <p:nvPr/>
          </p:nvSpPr>
          <p:spPr bwMode="auto">
            <a:xfrm>
              <a:off x="1824" y="2374"/>
              <a:ext cx="117" cy="1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800" dirty="0">
                  <a:solidFill>
                    <a:srgbClr val="000000"/>
                  </a:solidFill>
                  <a:latin typeface="+mj-lt"/>
                </a:rPr>
                <a:t>Read</a:t>
              </a:r>
            </a:p>
            <a:p>
              <a:pPr>
                <a:lnSpc>
                  <a:spcPct val="90000"/>
                </a:lnSpc>
              </a:pPr>
              <a:r>
                <a:rPr lang="en-US" sz="800" dirty="0" err="1">
                  <a:solidFill>
                    <a:srgbClr val="000000"/>
                  </a:solidFill>
                  <a:latin typeface="+mj-lt"/>
                </a:rPr>
                <a:t>reg</a:t>
              </a:r>
              <a:r>
                <a:rPr lang="en-US" sz="800" dirty="0">
                  <a:solidFill>
                    <a:srgbClr val="000000"/>
                  </a:solidFill>
                  <a:latin typeface="+mj-lt"/>
                </a:rPr>
                <a:t> 1</a:t>
              </a:r>
              <a:endParaRPr lang="en-US" sz="600" dirty="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354" name="Rectangle 70"/>
            <p:cNvSpPr>
              <a:spLocks noChangeArrowheads="1"/>
            </p:cNvSpPr>
            <p:nvPr/>
          </p:nvSpPr>
          <p:spPr bwMode="auto">
            <a:xfrm>
              <a:off x="1823" y="2524"/>
              <a:ext cx="117" cy="1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800" dirty="0">
                  <a:solidFill>
                    <a:srgbClr val="000000"/>
                  </a:solidFill>
                  <a:latin typeface="+mj-lt"/>
                </a:rPr>
                <a:t>Read</a:t>
              </a:r>
            </a:p>
            <a:p>
              <a:pPr>
                <a:lnSpc>
                  <a:spcPct val="90000"/>
                </a:lnSpc>
              </a:pPr>
              <a:r>
                <a:rPr lang="en-US" sz="800" dirty="0" err="1">
                  <a:solidFill>
                    <a:srgbClr val="000000"/>
                  </a:solidFill>
                  <a:latin typeface="+mj-lt"/>
                </a:rPr>
                <a:t>reg</a:t>
              </a:r>
              <a:r>
                <a:rPr lang="en-US" sz="800" dirty="0">
                  <a:solidFill>
                    <a:srgbClr val="000000"/>
                  </a:solidFill>
                  <a:latin typeface="+mj-lt"/>
                </a:rPr>
                <a:t> 2</a:t>
              </a:r>
              <a:endParaRPr lang="en-US" sz="600" dirty="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355" name="Rectangle 71"/>
            <p:cNvSpPr>
              <a:spLocks noChangeArrowheads="1"/>
            </p:cNvSpPr>
            <p:nvPr/>
          </p:nvSpPr>
          <p:spPr bwMode="auto">
            <a:xfrm>
              <a:off x="1830" y="2683"/>
              <a:ext cx="130" cy="1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800" dirty="0">
                  <a:solidFill>
                    <a:srgbClr val="000000"/>
                  </a:solidFill>
                  <a:latin typeface="+mj-lt"/>
                </a:rPr>
                <a:t>Write</a:t>
              </a:r>
            </a:p>
            <a:p>
              <a:pPr>
                <a:lnSpc>
                  <a:spcPct val="90000"/>
                </a:lnSpc>
              </a:pPr>
              <a:r>
                <a:rPr lang="en-US" sz="800" dirty="0" err="1">
                  <a:solidFill>
                    <a:srgbClr val="000000"/>
                  </a:solidFill>
                  <a:latin typeface="+mj-lt"/>
                </a:rPr>
                <a:t>reg</a:t>
              </a:r>
              <a:endParaRPr lang="en-US" sz="700" dirty="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356" name="Rectangle 72"/>
            <p:cNvSpPr>
              <a:spLocks noChangeArrowheads="1"/>
            </p:cNvSpPr>
            <p:nvPr/>
          </p:nvSpPr>
          <p:spPr bwMode="auto">
            <a:xfrm>
              <a:off x="1833" y="2836"/>
              <a:ext cx="130" cy="1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800" dirty="0">
                  <a:solidFill>
                    <a:srgbClr val="000000"/>
                  </a:solidFill>
                  <a:latin typeface="+mj-lt"/>
                </a:rPr>
                <a:t>Write</a:t>
              </a:r>
            </a:p>
            <a:p>
              <a:pPr>
                <a:lnSpc>
                  <a:spcPct val="90000"/>
                </a:lnSpc>
              </a:pPr>
              <a:r>
                <a:rPr lang="en-US" sz="800" dirty="0">
                  <a:solidFill>
                    <a:srgbClr val="000000"/>
                  </a:solidFill>
                  <a:latin typeface="+mj-lt"/>
                </a:rPr>
                <a:t>data</a:t>
              </a:r>
            </a:p>
          </p:txBody>
        </p:sp>
        <p:sp>
          <p:nvSpPr>
            <p:cNvPr id="54357" name="Rectangle 73"/>
            <p:cNvSpPr>
              <a:spLocks noChangeArrowheads="1"/>
            </p:cNvSpPr>
            <p:nvPr/>
          </p:nvSpPr>
          <p:spPr bwMode="auto">
            <a:xfrm>
              <a:off x="2139" y="2470"/>
              <a:ext cx="145" cy="1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800" dirty="0">
                  <a:solidFill>
                    <a:srgbClr val="000000"/>
                  </a:solidFill>
                  <a:latin typeface="+mj-lt"/>
                </a:rPr>
                <a:t>Read</a:t>
              </a:r>
            </a:p>
            <a:p>
              <a:pPr>
                <a:lnSpc>
                  <a:spcPct val="90000"/>
                </a:lnSpc>
              </a:pPr>
              <a:r>
                <a:rPr lang="en-US" sz="800" dirty="0">
                  <a:solidFill>
                    <a:srgbClr val="000000"/>
                  </a:solidFill>
                  <a:latin typeface="+mj-lt"/>
                </a:rPr>
                <a:t>data 1</a:t>
              </a:r>
              <a:endParaRPr lang="en-US" sz="500" dirty="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358" name="Rectangle 74"/>
            <p:cNvSpPr>
              <a:spLocks noChangeArrowheads="1"/>
            </p:cNvSpPr>
            <p:nvPr/>
          </p:nvSpPr>
          <p:spPr bwMode="auto">
            <a:xfrm>
              <a:off x="2145" y="2657"/>
              <a:ext cx="145" cy="1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800" dirty="0">
                  <a:solidFill>
                    <a:srgbClr val="000000"/>
                  </a:solidFill>
                  <a:latin typeface="+mj-lt"/>
                </a:rPr>
                <a:t>Read</a:t>
              </a:r>
            </a:p>
            <a:p>
              <a:pPr>
                <a:lnSpc>
                  <a:spcPct val="90000"/>
                </a:lnSpc>
              </a:pPr>
              <a:r>
                <a:rPr lang="en-US" sz="800" dirty="0">
                  <a:solidFill>
                    <a:srgbClr val="000000"/>
                  </a:solidFill>
                  <a:latin typeface="+mj-lt"/>
                </a:rPr>
                <a:t>data 2</a:t>
              </a:r>
              <a:endParaRPr lang="en-US" sz="600" dirty="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359" name="Rectangle 75"/>
            <p:cNvSpPr>
              <a:spLocks noChangeArrowheads="1"/>
            </p:cNvSpPr>
            <p:nvPr/>
          </p:nvSpPr>
          <p:spPr bwMode="auto">
            <a:xfrm rot="16200000">
              <a:off x="1828" y="2603"/>
              <a:ext cx="442" cy="1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>
                  <a:solidFill>
                    <a:srgbClr val="000000"/>
                  </a:solidFill>
                  <a:latin typeface="+mj-lt"/>
                </a:rPr>
                <a:t>Register File</a:t>
              </a:r>
            </a:p>
          </p:txBody>
        </p:sp>
        <p:sp>
          <p:nvSpPr>
            <p:cNvPr id="54360" name="Rectangle 76"/>
            <p:cNvSpPr>
              <a:spLocks noChangeArrowheads="1"/>
            </p:cNvSpPr>
            <p:nvPr/>
          </p:nvSpPr>
          <p:spPr bwMode="auto">
            <a:xfrm>
              <a:off x="1743" y="3137"/>
              <a:ext cx="154" cy="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900">
                  <a:solidFill>
                    <a:srgbClr val="000000"/>
                  </a:solidFill>
                  <a:latin typeface="+mj-lt"/>
                </a:rPr>
                <a:t>[15-0]</a:t>
              </a:r>
              <a:endParaRPr lang="en-US" sz="5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361" name="Rectangle 77"/>
            <p:cNvSpPr>
              <a:spLocks noChangeArrowheads="1"/>
            </p:cNvSpPr>
            <p:nvPr/>
          </p:nvSpPr>
          <p:spPr bwMode="auto">
            <a:xfrm>
              <a:off x="1740" y="3358"/>
              <a:ext cx="186" cy="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900">
                  <a:solidFill>
                    <a:srgbClr val="000000"/>
                  </a:solidFill>
                  <a:latin typeface="+mj-lt"/>
                </a:rPr>
                <a:t>[20-16]</a:t>
              </a:r>
            </a:p>
          </p:txBody>
        </p:sp>
        <p:sp>
          <p:nvSpPr>
            <p:cNvPr id="54362" name="Rectangle 78"/>
            <p:cNvSpPr>
              <a:spLocks noChangeArrowheads="1"/>
            </p:cNvSpPr>
            <p:nvPr/>
          </p:nvSpPr>
          <p:spPr bwMode="auto">
            <a:xfrm>
              <a:off x="1743" y="3550"/>
              <a:ext cx="186" cy="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900">
                  <a:solidFill>
                    <a:srgbClr val="000000"/>
                  </a:solidFill>
                  <a:latin typeface="+mj-lt"/>
                </a:rPr>
                <a:t>[15-11]</a:t>
              </a:r>
            </a:p>
          </p:txBody>
        </p:sp>
        <p:sp>
          <p:nvSpPr>
            <p:cNvPr id="54363" name="Freeform 79"/>
            <p:cNvSpPr>
              <a:spLocks/>
            </p:cNvSpPr>
            <p:nvPr/>
          </p:nvSpPr>
          <p:spPr bwMode="auto">
            <a:xfrm>
              <a:off x="1629" y="3213"/>
              <a:ext cx="24" cy="24"/>
            </a:xfrm>
            <a:custGeom>
              <a:avLst/>
              <a:gdLst>
                <a:gd name="T0" fmla="*/ 10 w 24"/>
                <a:gd name="T1" fmla="*/ 23 h 24"/>
                <a:gd name="T2" fmla="*/ 14 w 24"/>
                <a:gd name="T3" fmla="*/ 23 h 24"/>
                <a:gd name="T4" fmla="*/ 16 w 24"/>
                <a:gd name="T5" fmla="*/ 23 h 24"/>
                <a:gd name="T6" fmla="*/ 16 w 24"/>
                <a:gd name="T7" fmla="*/ 21 h 24"/>
                <a:gd name="T8" fmla="*/ 18 w 24"/>
                <a:gd name="T9" fmla="*/ 21 h 24"/>
                <a:gd name="T10" fmla="*/ 20 w 24"/>
                <a:gd name="T11" fmla="*/ 19 h 24"/>
                <a:gd name="T12" fmla="*/ 22 w 24"/>
                <a:gd name="T13" fmla="*/ 18 h 24"/>
                <a:gd name="T14" fmla="*/ 22 w 24"/>
                <a:gd name="T15" fmla="*/ 18 h 24"/>
                <a:gd name="T16" fmla="*/ 22 w 24"/>
                <a:gd name="T17" fmla="*/ 16 h 24"/>
                <a:gd name="T18" fmla="*/ 23 w 24"/>
                <a:gd name="T19" fmla="*/ 14 h 24"/>
                <a:gd name="T20" fmla="*/ 23 w 24"/>
                <a:gd name="T21" fmla="*/ 12 h 24"/>
                <a:gd name="T22" fmla="*/ 23 w 24"/>
                <a:gd name="T23" fmla="*/ 10 h 24"/>
                <a:gd name="T24" fmla="*/ 22 w 24"/>
                <a:gd name="T25" fmla="*/ 8 h 24"/>
                <a:gd name="T26" fmla="*/ 22 w 24"/>
                <a:gd name="T27" fmla="*/ 6 h 24"/>
                <a:gd name="T28" fmla="*/ 22 w 24"/>
                <a:gd name="T29" fmla="*/ 4 h 24"/>
                <a:gd name="T30" fmla="*/ 20 w 24"/>
                <a:gd name="T31" fmla="*/ 4 h 24"/>
                <a:gd name="T32" fmla="*/ 18 w 24"/>
                <a:gd name="T33" fmla="*/ 2 h 24"/>
                <a:gd name="T34" fmla="*/ 16 w 24"/>
                <a:gd name="T35" fmla="*/ 2 h 24"/>
                <a:gd name="T36" fmla="*/ 16 w 24"/>
                <a:gd name="T37" fmla="*/ 0 h 24"/>
                <a:gd name="T38" fmla="*/ 14 w 24"/>
                <a:gd name="T39" fmla="*/ 0 h 24"/>
                <a:gd name="T40" fmla="*/ 12 w 24"/>
                <a:gd name="T41" fmla="*/ 0 h 24"/>
                <a:gd name="T42" fmla="*/ 10 w 24"/>
                <a:gd name="T43" fmla="*/ 0 h 24"/>
                <a:gd name="T44" fmla="*/ 8 w 24"/>
                <a:gd name="T45" fmla="*/ 0 h 24"/>
                <a:gd name="T46" fmla="*/ 6 w 24"/>
                <a:gd name="T47" fmla="*/ 2 h 24"/>
                <a:gd name="T48" fmla="*/ 4 w 24"/>
                <a:gd name="T49" fmla="*/ 2 h 24"/>
                <a:gd name="T50" fmla="*/ 2 w 24"/>
                <a:gd name="T51" fmla="*/ 4 h 24"/>
                <a:gd name="T52" fmla="*/ 2 w 24"/>
                <a:gd name="T53" fmla="*/ 4 h 24"/>
                <a:gd name="T54" fmla="*/ 0 w 24"/>
                <a:gd name="T55" fmla="*/ 6 h 24"/>
                <a:gd name="T56" fmla="*/ 0 w 24"/>
                <a:gd name="T57" fmla="*/ 8 h 24"/>
                <a:gd name="T58" fmla="*/ 0 w 24"/>
                <a:gd name="T59" fmla="*/ 10 h 24"/>
                <a:gd name="T60" fmla="*/ 0 w 24"/>
                <a:gd name="T61" fmla="*/ 12 h 24"/>
                <a:gd name="T62" fmla="*/ 0 w 24"/>
                <a:gd name="T63" fmla="*/ 14 h 24"/>
                <a:gd name="T64" fmla="*/ 0 w 24"/>
                <a:gd name="T65" fmla="*/ 16 h 24"/>
                <a:gd name="T66" fmla="*/ 0 w 24"/>
                <a:gd name="T67" fmla="*/ 18 h 24"/>
                <a:gd name="T68" fmla="*/ 2 w 24"/>
                <a:gd name="T69" fmla="*/ 18 h 24"/>
                <a:gd name="T70" fmla="*/ 2 w 24"/>
                <a:gd name="T71" fmla="*/ 19 h 24"/>
                <a:gd name="T72" fmla="*/ 4 w 24"/>
                <a:gd name="T73" fmla="*/ 21 h 24"/>
                <a:gd name="T74" fmla="*/ 6 w 24"/>
                <a:gd name="T75" fmla="*/ 21 h 24"/>
                <a:gd name="T76" fmla="*/ 8 w 24"/>
                <a:gd name="T77" fmla="*/ 23 h 24"/>
                <a:gd name="T78" fmla="*/ 10 w 24"/>
                <a:gd name="T79" fmla="*/ 23 h 24"/>
                <a:gd name="T80" fmla="*/ 12 w 24"/>
                <a:gd name="T81" fmla="*/ 23 h 24"/>
                <a:gd name="T82" fmla="*/ 12 w 24"/>
                <a:gd name="T83" fmla="*/ 23 h 24"/>
                <a:gd name="T84" fmla="*/ 10 w 24"/>
                <a:gd name="T85" fmla="*/ 23 h 2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4"/>
                <a:gd name="T130" fmla="*/ 0 h 24"/>
                <a:gd name="T131" fmla="*/ 24 w 24"/>
                <a:gd name="T132" fmla="*/ 24 h 24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4" h="24">
                  <a:moveTo>
                    <a:pt x="10" y="23"/>
                  </a:moveTo>
                  <a:lnTo>
                    <a:pt x="14" y="23"/>
                  </a:lnTo>
                  <a:lnTo>
                    <a:pt x="16" y="23"/>
                  </a:lnTo>
                  <a:lnTo>
                    <a:pt x="16" y="21"/>
                  </a:lnTo>
                  <a:lnTo>
                    <a:pt x="18" y="21"/>
                  </a:lnTo>
                  <a:lnTo>
                    <a:pt x="20" y="19"/>
                  </a:lnTo>
                  <a:lnTo>
                    <a:pt x="22" y="18"/>
                  </a:lnTo>
                  <a:lnTo>
                    <a:pt x="22" y="16"/>
                  </a:lnTo>
                  <a:lnTo>
                    <a:pt x="23" y="14"/>
                  </a:lnTo>
                  <a:lnTo>
                    <a:pt x="23" y="12"/>
                  </a:lnTo>
                  <a:lnTo>
                    <a:pt x="23" y="10"/>
                  </a:lnTo>
                  <a:lnTo>
                    <a:pt x="22" y="8"/>
                  </a:lnTo>
                  <a:lnTo>
                    <a:pt x="22" y="6"/>
                  </a:lnTo>
                  <a:lnTo>
                    <a:pt x="22" y="4"/>
                  </a:lnTo>
                  <a:lnTo>
                    <a:pt x="20" y="4"/>
                  </a:lnTo>
                  <a:lnTo>
                    <a:pt x="18" y="2"/>
                  </a:lnTo>
                  <a:lnTo>
                    <a:pt x="16" y="2"/>
                  </a:lnTo>
                  <a:lnTo>
                    <a:pt x="16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8" y="0"/>
                  </a:lnTo>
                  <a:lnTo>
                    <a:pt x="6" y="2"/>
                  </a:lnTo>
                  <a:lnTo>
                    <a:pt x="4" y="2"/>
                  </a:lnTo>
                  <a:lnTo>
                    <a:pt x="2" y="4"/>
                  </a:lnTo>
                  <a:lnTo>
                    <a:pt x="0" y="6"/>
                  </a:lnTo>
                  <a:lnTo>
                    <a:pt x="0" y="8"/>
                  </a:lnTo>
                  <a:lnTo>
                    <a:pt x="0" y="10"/>
                  </a:lnTo>
                  <a:lnTo>
                    <a:pt x="0" y="12"/>
                  </a:lnTo>
                  <a:lnTo>
                    <a:pt x="0" y="14"/>
                  </a:lnTo>
                  <a:lnTo>
                    <a:pt x="0" y="16"/>
                  </a:lnTo>
                  <a:lnTo>
                    <a:pt x="0" y="18"/>
                  </a:lnTo>
                  <a:lnTo>
                    <a:pt x="2" y="18"/>
                  </a:lnTo>
                  <a:lnTo>
                    <a:pt x="2" y="19"/>
                  </a:lnTo>
                  <a:lnTo>
                    <a:pt x="4" y="21"/>
                  </a:lnTo>
                  <a:lnTo>
                    <a:pt x="6" y="21"/>
                  </a:lnTo>
                  <a:lnTo>
                    <a:pt x="8" y="23"/>
                  </a:lnTo>
                  <a:lnTo>
                    <a:pt x="10" y="23"/>
                  </a:lnTo>
                  <a:lnTo>
                    <a:pt x="12" y="23"/>
                  </a:lnTo>
                  <a:lnTo>
                    <a:pt x="10" y="23"/>
                  </a:lnTo>
                </a:path>
              </a:pathLst>
            </a:custGeom>
            <a:solidFill>
              <a:srgbClr val="000000"/>
            </a:solidFill>
            <a:ln w="9525" cap="rnd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64" name="Freeform 80"/>
            <p:cNvSpPr>
              <a:spLocks/>
            </p:cNvSpPr>
            <p:nvPr/>
          </p:nvSpPr>
          <p:spPr bwMode="auto">
            <a:xfrm>
              <a:off x="2091" y="3039"/>
              <a:ext cx="215" cy="367"/>
            </a:xfrm>
            <a:custGeom>
              <a:avLst/>
              <a:gdLst>
                <a:gd name="T0" fmla="*/ 107 w 173"/>
                <a:gd name="T1" fmla="*/ 366 h 367"/>
                <a:gd name="T2" fmla="*/ 123 w 173"/>
                <a:gd name="T3" fmla="*/ 364 h 367"/>
                <a:gd name="T4" fmla="*/ 140 w 173"/>
                <a:gd name="T5" fmla="*/ 357 h 367"/>
                <a:gd name="T6" fmla="*/ 157 w 173"/>
                <a:gd name="T7" fmla="*/ 345 h 367"/>
                <a:gd name="T8" fmla="*/ 172 w 173"/>
                <a:gd name="T9" fmla="*/ 332 h 367"/>
                <a:gd name="T10" fmla="*/ 183 w 173"/>
                <a:gd name="T11" fmla="*/ 313 h 367"/>
                <a:gd name="T12" fmla="*/ 193 w 173"/>
                <a:gd name="T13" fmla="*/ 292 h 367"/>
                <a:gd name="T14" fmla="*/ 203 w 173"/>
                <a:gd name="T15" fmla="*/ 267 h 367"/>
                <a:gd name="T16" fmla="*/ 209 w 173"/>
                <a:gd name="T17" fmla="*/ 242 h 367"/>
                <a:gd name="T18" fmla="*/ 214 w 173"/>
                <a:gd name="T19" fmla="*/ 213 h 367"/>
                <a:gd name="T20" fmla="*/ 214 w 173"/>
                <a:gd name="T21" fmla="*/ 182 h 367"/>
                <a:gd name="T22" fmla="*/ 214 w 173"/>
                <a:gd name="T23" fmla="*/ 154 h 367"/>
                <a:gd name="T24" fmla="*/ 209 w 173"/>
                <a:gd name="T25" fmla="*/ 125 h 367"/>
                <a:gd name="T26" fmla="*/ 203 w 173"/>
                <a:gd name="T27" fmla="*/ 98 h 367"/>
                <a:gd name="T28" fmla="*/ 193 w 173"/>
                <a:gd name="T29" fmla="*/ 75 h 367"/>
                <a:gd name="T30" fmla="*/ 183 w 173"/>
                <a:gd name="T31" fmla="*/ 54 h 367"/>
                <a:gd name="T32" fmla="*/ 172 w 173"/>
                <a:gd name="T33" fmla="*/ 35 h 367"/>
                <a:gd name="T34" fmla="*/ 157 w 173"/>
                <a:gd name="T35" fmla="*/ 20 h 367"/>
                <a:gd name="T36" fmla="*/ 140 w 173"/>
                <a:gd name="T37" fmla="*/ 8 h 367"/>
                <a:gd name="T38" fmla="*/ 123 w 173"/>
                <a:gd name="T39" fmla="*/ 2 h 367"/>
                <a:gd name="T40" fmla="*/ 107 w 173"/>
                <a:gd name="T41" fmla="*/ 0 h 367"/>
                <a:gd name="T42" fmla="*/ 91 w 173"/>
                <a:gd name="T43" fmla="*/ 2 h 367"/>
                <a:gd name="T44" fmla="*/ 73 w 173"/>
                <a:gd name="T45" fmla="*/ 8 h 367"/>
                <a:gd name="T46" fmla="*/ 57 w 173"/>
                <a:gd name="T47" fmla="*/ 20 h 367"/>
                <a:gd name="T48" fmla="*/ 45 w 173"/>
                <a:gd name="T49" fmla="*/ 35 h 367"/>
                <a:gd name="T50" fmla="*/ 31 w 173"/>
                <a:gd name="T51" fmla="*/ 54 h 367"/>
                <a:gd name="T52" fmla="*/ 21 w 173"/>
                <a:gd name="T53" fmla="*/ 75 h 367"/>
                <a:gd name="T54" fmla="*/ 11 w 173"/>
                <a:gd name="T55" fmla="*/ 98 h 367"/>
                <a:gd name="T56" fmla="*/ 5 w 173"/>
                <a:gd name="T57" fmla="*/ 125 h 367"/>
                <a:gd name="T58" fmla="*/ 2 w 173"/>
                <a:gd name="T59" fmla="*/ 154 h 367"/>
                <a:gd name="T60" fmla="*/ 0 w 173"/>
                <a:gd name="T61" fmla="*/ 182 h 367"/>
                <a:gd name="T62" fmla="*/ 2 w 173"/>
                <a:gd name="T63" fmla="*/ 213 h 367"/>
                <a:gd name="T64" fmla="*/ 5 w 173"/>
                <a:gd name="T65" fmla="*/ 242 h 367"/>
                <a:gd name="T66" fmla="*/ 11 w 173"/>
                <a:gd name="T67" fmla="*/ 267 h 367"/>
                <a:gd name="T68" fmla="*/ 21 w 173"/>
                <a:gd name="T69" fmla="*/ 292 h 367"/>
                <a:gd name="T70" fmla="*/ 31 w 173"/>
                <a:gd name="T71" fmla="*/ 313 h 367"/>
                <a:gd name="T72" fmla="*/ 45 w 173"/>
                <a:gd name="T73" fmla="*/ 332 h 367"/>
                <a:gd name="T74" fmla="*/ 57 w 173"/>
                <a:gd name="T75" fmla="*/ 345 h 367"/>
                <a:gd name="T76" fmla="*/ 73 w 173"/>
                <a:gd name="T77" fmla="*/ 357 h 367"/>
                <a:gd name="T78" fmla="*/ 91 w 173"/>
                <a:gd name="T79" fmla="*/ 364 h 367"/>
                <a:gd name="T80" fmla="*/ 107 w 173"/>
                <a:gd name="T81" fmla="*/ 366 h 367"/>
                <a:gd name="T82" fmla="*/ 107 w 173"/>
                <a:gd name="T83" fmla="*/ 366 h 367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173"/>
                <a:gd name="T127" fmla="*/ 0 h 367"/>
                <a:gd name="T128" fmla="*/ 173 w 173"/>
                <a:gd name="T129" fmla="*/ 367 h 367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173" h="367">
                  <a:moveTo>
                    <a:pt x="86" y="366"/>
                  </a:moveTo>
                  <a:lnTo>
                    <a:pt x="99" y="364"/>
                  </a:lnTo>
                  <a:lnTo>
                    <a:pt x="113" y="357"/>
                  </a:lnTo>
                  <a:lnTo>
                    <a:pt x="126" y="345"/>
                  </a:lnTo>
                  <a:lnTo>
                    <a:pt x="138" y="332"/>
                  </a:lnTo>
                  <a:lnTo>
                    <a:pt x="147" y="313"/>
                  </a:lnTo>
                  <a:lnTo>
                    <a:pt x="155" y="292"/>
                  </a:lnTo>
                  <a:lnTo>
                    <a:pt x="163" y="267"/>
                  </a:lnTo>
                  <a:lnTo>
                    <a:pt x="168" y="242"/>
                  </a:lnTo>
                  <a:lnTo>
                    <a:pt x="172" y="213"/>
                  </a:lnTo>
                  <a:lnTo>
                    <a:pt x="172" y="182"/>
                  </a:lnTo>
                  <a:lnTo>
                    <a:pt x="172" y="154"/>
                  </a:lnTo>
                  <a:lnTo>
                    <a:pt x="168" y="125"/>
                  </a:lnTo>
                  <a:lnTo>
                    <a:pt x="163" y="98"/>
                  </a:lnTo>
                  <a:lnTo>
                    <a:pt x="155" y="75"/>
                  </a:lnTo>
                  <a:lnTo>
                    <a:pt x="147" y="54"/>
                  </a:lnTo>
                  <a:lnTo>
                    <a:pt x="138" y="35"/>
                  </a:lnTo>
                  <a:lnTo>
                    <a:pt x="126" y="20"/>
                  </a:lnTo>
                  <a:lnTo>
                    <a:pt x="113" y="8"/>
                  </a:lnTo>
                  <a:lnTo>
                    <a:pt x="99" y="2"/>
                  </a:lnTo>
                  <a:lnTo>
                    <a:pt x="86" y="0"/>
                  </a:lnTo>
                  <a:lnTo>
                    <a:pt x="73" y="2"/>
                  </a:lnTo>
                  <a:lnTo>
                    <a:pt x="59" y="8"/>
                  </a:lnTo>
                  <a:lnTo>
                    <a:pt x="46" y="20"/>
                  </a:lnTo>
                  <a:lnTo>
                    <a:pt x="36" y="35"/>
                  </a:lnTo>
                  <a:lnTo>
                    <a:pt x="25" y="54"/>
                  </a:lnTo>
                  <a:lnTo>
                    <a:pt x="17" y="75"/>
                  </a:lnTo>
                  <a:lnTo>
                    <a:pt x="9" y="98"/>
                  </a:lnTo>
                  <a:lnTo>
                    <a:pt x="4" y="125"/>
                  </a:lnTo>
                  <a:lnTo>
                    <a:pt x="2" y="154"/>
                  </a:lnTo>
                  <a:lnTo>
                    <a:pt x="0" y="182"/>
                  </a:lnTo>
                  <a:lnTo>
                    <a:pt x="2" y="213"/>
                  </a:lnTo>
                  <a:lnTo>
                    <a:pt x="4" y="242"/>
                  </a:lnTo>
                  <a:lnTo>
                    <a:pt x="9" y="267"/>
                  </a:lnTo>
                  <a:lnTo>
                    <a:pt x="17" y="292"/>
                  </a:lnTo>
                  <a:lnTo>
                    <a:pt x="25" y="313"/>
                  </a:lnTo>
                  <a:lnTo>
                    <a:pt x="36" y="332"/>
                  </a:lnTo>
                  <a:lnTo>
                    <a:pt x="46" y="345"/>
                  </a:lnTo>
                  <a:lnTo>
                    <a:pt x="59" y="357"/>
                  </a:lnTo>
                  <a:lnTo>
                    <a:pt x="73" y="364"/>
                  </a:lnTo>
                  <a:lnTo>
                    <a:pt x="86" y="366"/>
                  </a:lnTo>
                </a:path>
              </a:pathLst>
            </a:custGeom>
            <a:solidFill>
              <a:srgbClr val="EAEAEA"/>
            </a:solidFill>
            <a:ln w="190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65" name="Rectangle 81"/>
            <p:cNvSpPr>
              <a:spLocks noChangeArrowheads="1"/>
            </p:cNvSpPr>
            <p:nvPr/>
          </p:nvSpPr>
          <p:spPr bwMode="auto">
            <a:xfrm>
              <a:off x="2110" y="3124"/>
              <a:ext cx="180" cy="1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900" dirty="0">
                  <a:solidFill>
                    <a:srgbClr val="000000"/>
                  </a:solidFill>
                  <a:latin typeface="+mj-lt"/>
                </a:rPr>
                <a:t>Sign</a:t>
              </a:r>
            </a:p>
            <a:p>
              <a:pPr algn="ctr">
                <a:lnSpc>
                  <a:spcPct val="90000"/>
                </a:lnSpc>
              </a:pPr>
              <a:r>
                <a:rPr lang="en-US" sz="900" dirty="0">
                  <a:solidFill>
                    <a:srgbClr val="000000"/>
                  </a:solidFill>
                  <a:latin typeface="+mj-lt"/>
                </a:rPr>
                <a:t>extend</a:t>
              </a:r>
              <a:endParaRPr lang="en-US" sz="600" dirty="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366" name="Rectangle 82"/>
            <p:cNvSpPr>
              <a:spLocks noChangeArrowheads="1"/>
            </p:cNvSpPr>
            <p:nvPr/>
          </p:nvSpPr>
          <p:spPr bwMode="auto">
            <a:xfrm>
              <a:off x="1968" y="3123"/>
              <a:ext cx="64" cy="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900">
                  <a:solidFill>
                    <a:srgbClr val="000000"/>
                  </a:solidFill>
                  <a:latin typeface="+mj-lt"/>
                </a:rPr>
                <a:t>16</a:t>
              </a:r>
              <a:endParaRPr lang="en-US" sz="5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367" name="Rectangle 83"/>
            <p:cNvSpPr>
              <a:spLocks noChangeArrowheads="1"/>
            </p:cNvSpPr>
            <p:nvPr/>
          </p:nvSpPr>
          <p:spPr bwMode="auto">
            <a:xfrm>
              <a:off x="2319" y="3127"/>
              <a:ext cx="64" cy="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900">
                  <a:solidFill>
                    <a:srgbClr val="000000"/>
                  </a:solidFill>
                  <a:latin typeface="+mj-lt"/>
                </a:rPr>
                <a:t>32</a:t>
              </a:r>
              <a:endParaRPr lang="en-US" sz="5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368" name="Line 84"/>
            <p:cNvSpPr>
              <a:spLocks noChangeShapeType="1"/>
            </p:cNvSpPr>
            <p:nvPr/>
          </p:nvSpPr>
          <p:spPr bwMode="auto">
            <a:xfrm flipH="1">
              <a:off x="1637" y="2598"/>
              <a:ext cx="1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69" name="Line 85"/>
            <p:cNvSpPr>
              <a:spLocks noChangeShapeType="1"/>
            </p:cNvSpPr>
            <p:nvPr/>
          </p:nvSpPr>
          <p:spPr bwMode="auto">
            <a:xfrm flipH="1">
              <a:off x="1635" y="2434"/>
              <a:ext cx="17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70" name="Line 86"/>
            <p:cNvSpPr>
              <a:spLocks noChangeShapeType="1"/>
            </p:cNvSpPr>
            <p:nvPr/>
          </p:nvSpPr>
          <p:spPr bwMode="auto">
            <a:xfrm flipH="1">
              <a:off x="2325" y="2527"/>
              <a:ext cx="11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71" name="Line 87"/>
            <p:cNvSpPr>
              <a:spLocks noChangeShapeType="1"/>
            </p:cNvSpPr>
            <p:nvPr/>
          </p:nvSpPr>
          <p:spPr bwMode="auto">
            <a:xfrm flipH="1">
              <a:off x="2325" y="2721"/>
              <a:ext cx="11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72" name="Line 88"/>
            <p:cNvSpPr>
              <a:spLocks noChangeShapeType="1"/>
            </p:cNvSpPr>
            <p:nvPr/>
          </p:nvSpPr>
          <p:spPr bwMode="auto">
            <a:xfrm flipH="1">
              <a:off x="2063" y="2299"/>
              <a:ext cx="1" cy="51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73" name="Rectangle 89"/>
            <p:cNvSpPr>
              <a:spLocks noChangeArrowheads="1"/>
            </p:cNvSpPr>
            <p:nvPr/>
          </p:nvSpPr>
          <p:spPr bwMode="auto">
            <a:xfrm>
              <a:off x="2350" y="1757"/>
              <a:ext cx="256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+mj-lt"/>
                </a:rPr>
                <a:t>ID/EX</a:t>
              </a:r>
              <a:endParaRPr lang="en-US" sz="7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374" name="Rectangle 90"/>
            <p:cNvSpPr>
              <a:spLocks noChangeArrowheads="1"/>
            </p:cNvSpPr>
            <p:nvPr/>
          </p:nvSpPr>
          <p:spPr bwMode="auto">
            <a:xfrm>
              <a:off x="3440" y="1752"/>
              <a:ext cx="407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+mj-lt"/>
                </a:rPr>
                <a:t>EX/MEM</a:t>
              </a:r>
              <a:endParaRPr lang="en-US" sz="10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375" name="Rectangle 91"/>
            <p:cNvSpPr>
              <a:spLocks noChangeArrowheads="1"/>
            </p:cNvSpPr>
            <p:nvPr/>
          </p:nvSpPr>
          <p:spPr bwMode="auto">
            <a:xfrm>
              <a:off x="4527" y="1746"/>
              <a:ext cx="456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dirty="0">
                  <a:solidFill>
                    <a:srgbClr val="000000"/>
                  </a:solidFill>
                  <a:latin typeface="+mj-lt"/>
                </a:rPr>
                <a:t>MEM/WB</a:t>
              </a:r>
            </a:p>
          </p:txBody>
        </p:sp>
        <p:sp>
          <p:nvSpPr>
            <p:cNvPr id="54376" name="Rectangle 92"/>
            <p:cNvSpPr>
              <a:spLocks noChangeArrowheads="1"/>
            </p:cNvSpPr>
            <p:nvPr/>
          </p:nvSpPr>
          <p:spPr bwMode="auto">
            <a:xfrm rot="16200000" flipH="1">
              <a:off x="1389" y="2424"/>
              <a:ext cx="331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1000">
                  <a:solidFill>
                    <a:srgbClr val="000000"/>
                  </a:solidFill>
                  <a:latin typeface="+mj-lt"/>
                </a:rPr>
                <a:t>Instruction</a:t>
              </a:r>
              <a:endParaRPr lang="en-US" sz="7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377" name="Freeform 93"/>
            <p:cNvSpPr>
              <a:spLocks/>
            </p:cNvSpPr>
            <p:nvPr/>
          </p:nvSpPr>
          <p:spPr bwMode="auto">
            <a:xfrm>
              <a:off x="3789" y="2735"/>
              <a:ext cx="24" cy="24"/>
            </a:xfrm>
            <a:custGeom>
              <a:avLst/>
              <a:gdLst>
                <a:gd name="T0" fmla="*/ 10 w 24"/>
                <a:gd name="T1" fmla="*/ 23 h 24"/>
                <a:gd name="T2" fmla="*/ 14 w 24"/>
                <a:gd name="T3" fmla="*/ 23 h 24"/>
                <a:gd name="T4" fmla="*/ 14 w 24"/>
                <a:gd name="T5" fmla="*/ 23 h 24"/>
                <a:gd name="T6" fmla="*/ 16 w 24"/>
                <a:gd name="T7" fmla="*/ 23 h 24"/>
                <a:gd name="T8" fmla="*/ 18 w 24"/>
                <a:gd name="T9" fmla="*/ 21 h 24"/>
                <a:gd name="T10" fmla="*/ 20 w 24"/>
                <a:gd name="T11" fmla="*/ 19 h 24"/>
                <a:gd name="T12" fmla="*/ 20 w 24"/>
                <a:gd name="T13" fmla="*/ 19 h 24"/>
                <a:gd name="T14" fmla="*/ 21 w 24"/>
                <a:gd name="T15" fmla="*/ 17 h 24"/>
                <a:gd name="T16" fmla="*/ 21 w 24"/>
                <a:gd name="T17" fmla="*/ 15 h 24"/>
                <a:gd name="T18" fmla="*/ 23 w 24"/>
                <a:gd name="T19" fmla="*/ 13 h 24"/>
                <a:gd name="T20" fmla="*/ 23 w 24"/>
                <a:gd name="T21" fmla="*/ 12 h 24"/>
                <a:gd name="T22" fmla="*/ 23 w 24"/>
                <a:gd name="T23" fmla="*/ 10 h 24"/>
                <a:gd name="T24" fmla="*/ 21 w 24"/>
                <a:gd name="T25" fmla="*/ 8 h 24"/>
                <a:gd name="T26" fmla="*/ 21 w 24"/>
                <a:gd name="T27" fmla="*/ 6 h 24"/>
                <a:gd name="T28" fmla="*/ 20 w 24"/>
                <a:gd name="T29" fmla="*/ 6 h 24"/>
                <a:gd name="T30" fmla="*/ 20 w 24"/>
                <a:gd name="T31" fmla="*/ 4 h 24"/>
                <a:gd name="T32" fmla="*/ 18 w 24"/>
                <a:gd name="T33" fmla="*/ 2 h 24"/>
                <a:gd name="T34" fmla="*/ 16 w 24"/>
                <a:gd name="T35" fmla="*/ 2 h 24"/>
                <a:gd name="T36" fmla="*/ 14 w 24"/>
                <a:gd name="T37" fmla="*/ 0 h 24"/>
                <a:gd name="T38" fmla="*/ 14 w 24"/>
                <a:gd name="T39" fmla="*/ 0 h 24"/>
                <a:gd name="T40" fmla="*/ 12 w 24"/>
                <a:gd name="T41" fmla="*/ 0 h 24"/>
                <a:gd name="T42" fmla="*/ 10 w 24"/>
                <a:gd name="T43" fmla="*/ 0 h 24"/>
                <a:gd name="T44" fmla="*/ 8 w 24"/>
                <a:gd name="T45" fmla="*/ 0 h 24"/>
                <a:gd name="T46" fmla="*/ 6 w 24"/>
                <a:gd name="T47" fmla="*/ 2 h 24"/>
                <a:gd name="T48" fmla="*/ 4 w 24"/>
                <a:gd name="T49" fmla="*/ 2 h 24"/>
                <a:gd name="T50" fmla="*/ 2 w 24"/>
                <a:gd name="T51" fmla="*/ 4 h 24"/>
                <a:gd name="T52" fmla="*/ 2 w 24"/>
                <a:gd name="T53" fmla="*/ 6 h 24"/>
                <a:gd name="T54" fmla="*/ 0 w 24"/>
                <a:gd name="T55" fmla="*/ 6 h 24"/>
                <a:gd name="T56" fmla="*/ 0 w 24"/>
                <a:gd name="T57" fmla="*/ 8 h 24"/>
                <a:gd name="T58" fmla="*/ 0 w 24"/>
                <a:gd name="T59" fmla="*/ 10 h 24"/>
                <a:gd name="T60" fmla="*/ 0 w 24"/>
                <a:gd name="T61" fmla="*/ 12 h 24"/>
                <a:gd name="T62" fmla="*/ 0 w 24"/>
                <a:gd name="T63" fmla="*/ 13 h 24"/>
                <a:gd name="T64" fmla="*/ 0 w 24"/>
                <a:gd name="T65" fmla="*/ 15 h 24"/>
                <a:gd name="T66" fmla="*/ 0 w 24"/>
                <a:gd name="T67" fmla="*/ 17 h 24"/>
                <a:gd name="T68" fmla="*/ 2 w 24"/>
                <a:gd name="T69" fmla="*/ 19 h 24"/>
                <a:gd name="T70" fmla="*/ 2 w 24"/>
                <a:gd name="T71" fmla="*/ 19 h 24"/>
                <a:gd name="T72" fmla="*/ 4 w 24"/>
                <a:gd name="T73" fmla="*/ 21 h 24"/>
                <a:gd name="T74" fmla="*/ 6 w 24"/>
                <a:gd name="T75" fmla="*/ 23 h 24"/>
                <a:gd name="T76" fmla="*/ 8 w 24"/>
                <a:gd name="T77" fmla="*/ 23 h 24"/>
                <a:gd name="T78" fmla="*/ 10 w 24"/>
                <a:gd name="T79" fmla="*/ 23 h 24"/>
                <a:gd name="T80" fmla="*/ 12 w 24"/>
                <a:gd name="T81" fmla="*/ 23 h 24"/>
                <a:gd name="T82" fmla="*/ 12 w 24"/>
                <a:gd name="T83" fmla="*/ 23 h 24"/>
                <a:gd name="T84" fmla="*/ 10 w 24"/>
                <a:gd name="T85" fmla="*/ 23 h 2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4"/>
                <a:gd name="T130" fmla="*/ 0 h 24"/>
                <a:gd name="T131" fmla="*/ 24 w 24"/>
                <a:gd name="T132" fmla="*/ 24 h 24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4" h="24">
                  <a:moveTo>
                    <a:pt x="10" y="23"/>
                  </a:moveTo>
                  <a:lnTo>
                    <a:pt x="14" y="23"/>
                  </a:lnTo>
                  <a:lnTo>
                    <a:pt x="16" y="23"/>
                  </a:lnTo>
                  <a:lnTo>
                    <a:pt x="18" y="21"/>
                  </a:lnTo>
                  <a:lnTo>
                    <a:pt x="20" y="19"/>
                  </a:lnTo>
                  <a:lnTo>
                    <a:pt x="21" y="17"/>
                  </a:lnTo>
                  <a:lnTo>
                    <a:pt x="21" y="15"/>
                  </a:lnTo>
                  <a:lnTo>
                    <a:pt x="23" y="13"/>
                  </a:lnTo>
                  <a:lnTo>
                    <a:pt x="23" y="12"/>
                  </a:lnTo>
                  <a:lnTo>
                    <a:pt x="23" y="10"/>
                  </a:lnTo>
                  <a:lnTo>
                    <a:pt x="21" y="8"/>
                  </a:lnTo>
                  <a:lnTo>
                    <a:pt x="21" y="6"/>
                  </a:lnTo>
                  <a:lnTo>
                    <a:pt x="20" y="6"/>
                  </a:lnTo>
                  <a:lnTo>
                    <a:pt x="20" y="4"/>
                  </a:lnTo>
                  <a:lnTo>
                    <a:pt x="18" y="2"/>
                  </a:lnTo>
                  <a:lnTo>
                    <a:pt x="16" y="2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8" y="0"/>
                  </a:lnTo>
                  <a:lnTo>
                    <a:pt x="6" y="2"/>
                  </a:lnTo>
                  <a:lnTo>
                    <a:pt x="4" y="2"/>
                  </a:lnTo>
                  <a:lnTo>
                    <a:pt x="2" y="4"/>
                  </a:lnTo>
                  <a:lnTo>
                    <a:pt x="2" y="6"/>
                  </a:lnTo>
                  <a:lnTo>
                    <a:pt x="0" y="6"/>
                  </a:lnTo>
                  <a:lnTo>
                    <a:pt x="0" y="8"/>
                  </a:lnTo>
                  <a:lnTo>
                    <a:pt x="0" y="10"/>
                  </a:lnTo>
                  <a:lnTo>
                    <a:pt x="0" y="12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0" y="17"/>
                  </a:lnTo>
                  <a:lnTo>
                    <a:pt x="2" y="19"/>
                  </a:lnTo>
                  <a:lnTo>
                    <a:pt x="4" y="21"/>
                  </a:lnTo>
                  <a:lnTo>
                    <a:pt x="6" y="23"/>
                  </a:lnTo>
                  <a:lnTo>
                    <a:pt x="8" y="23"/>
                  </a:lnTo>
                  <a:lnTo>
                    <a:pt x="10" y="23"/>
                  </a:lnTo>
                  <a:lnTo>
                    <a:pt x="12" y="23"/>
                  </a:lnTo>
                  <a:lnTo>
                    <a:pt x="10" y="23"/>
                  </a:lnTo>
                </a:path>
              </a:pathLst>
            </a:custGeom>
            <a:solidFill>
              <a:srgbClr val="000000"/>
            </a:solidFill>
            <a:ln w="9525" cap="rnd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78" name="Line 94"/>
            <p:cNvSpPr>
              <a:spLocks noChangeShapeType="1"/>
            </p:cNvSpPr>
            <p:nvPr/>
          </p:nvSpPr>
          <p:spPr bwMode="auto">
            <a:xfrm flipH="1">
              <a:off x="3679" y="3003"/>
              <a:ext cx="250" cy="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79" name="Freeform 95"/>
            <p:cNvSpPr>
              <a:spLocks/>
            </p:cNvSpPr>
            <p:nvPr/>
          </p:nvSpPr>
          <p:spPr bwMode="auto">
            <a:xfrm>
              <a:off x="3801" y="2747"/>
              <a:ext cx="903" cy="611"/>
            </a:xfrm>
            <a:custGeom>
              <a:avLst/>
              <a:gdLst>
                <a:gd name="T0" fmla="*/ 902 w 1318"/>
                <a:gd name="T1" fmla="*/ 608 h 410"/>
                <a:gd name="T2" fmla="*/ 0 w 1318"/>
                <a:gd name="T3" fmla="*/ 610 h 410"/>
                <a:gd name="T4" fmla="*/ 0 w 1318"/>
                <a:gd name="T5" fmla="*/ 0 h 410"/>
                <a:gd name="T6" fmla="*/ 0 60000 65536"/>
                <a:gd name="T7" fmla="*/ 0 60000 65536"/>
                <a:gd name="T8" fmla="*/ 0 60000 65536"/>
                <a:gd name="T9" fmla="*/ 0 w 1318"/>
                <a:gd name="T10" fmla="*/ 0 h 410"/>
                <a:gd name="T11" fmla="*/ 1318 w 1318"/>
                <a:gd name="T12" fmla="*/ 410 h 41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18" h="410">
                  <a:moveTo>
                    <a:pt x="1317" y="408"/>
                  </a:moveTo>
                  <a:lnTo>
                    <a:pt x="0" y="409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triangl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80" name="Line 96"/>
            <p:cNvSpPr>
              <a:spLocks noChangeShapeType="1"/>
            </p:cNvSpPr>
            <p:nvPr/>
          </p:nvSpPr>
          <p:spPr bwMode="auto">
            <a:xfrm>
              <a:off x="3677" y="3558"/>
              <a:ext cx="1024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81" name="Line 97"/>
            <p:cNvSpPr>
              <a:spLocks noChangeShapeType="1"/>
            </p:cNvSpPr>
            <p:nvPr/>
          </p:nvSpPr>
          <p:spPr bwMode="auto">
            <a:xfrm flipH="1">
              <a:off x="3679" y="2747"/>
              <a:ext cx="253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82" name="Line 98"/>
            <p:cNvSpPr>
              <a:spLocks noChangeShapeType="1"/>
            </p:cNvSpPr>
            <p:nvPr/>
          </p:nvSpPr>
          <p:spPr bwMode="auto">
            <a:xfrm flipH="1">
              <a:off x="4551" y="2742"/>
              <a:ext cx="155" cy="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83" name="Line 99"/>
            <p:cNvSpPr>
              <a:spLocks noChangeShapeType="1"/>
            </p:cNvSpPr>
            <p:nvPr/>
          </p:nvSpPr>
          <p:spPr bwMode="auto">
            <a:xfrm flipH="1" flipV="1">
              <a:off x="4242" y="2482"/>
              <a:ext cx="1" cy="66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grpSp>
          <p:nvGrpSpPr>
            <p:cNvPr id="54384" name="Group 312"/>
            <p:cNvGrpSpPr>
              <a:grpSpLocks/>
            </p:cNvGrpSpPr>
            <p:nvPr/>
          </p:nvGrpSpPr>
          <p:grpSpPr bwMode="auto">
            <a:xfrm>
              <a:off x="3936" y="2378"/>
              <a:ext cx="609" cy="939"/>
              <a:chOff x="3936" y="2378"/>
              <a:chExt cx="609" cy="939"/>
            </a:xfrm>
          </p:grpSpPr>
          <p:sp>
            <p:nvSpPr>
              <p:cNvPr id="54457" name="Line 101"/>
              <p:cNvSpPr>
                <a:spLocks noChangeShapeType="1"/>
              </p:cNvSpPr>
              <p:nvPr/>
            </p:nvSpPr>
            <p:spPr bwMode="auto">
              <a:xfrm flipH="1">
                <a:off x="4248" y="3108"/>
                <a:ext cx="1" cy="105"/>
              </a:xfrm>
              <a:prstGeom prst="line">
                <a:avLst/>
              </a:prstGeom>
              <a:noFill/>
              <a:ln w="12700">
                <a:solidFill>
                  <a:srgbClr val="EB75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54460" name="Rectangle 104"/>
              <p:cNvSpPr>
                <a:spLocks noChangeArrowheads="1"/>
              </p:cNvSpPr>
              <p:nvPr/>
            </p:nvSpPr>
            <p:spPr bwMode="auto">
              <a:xfrm>
                <a:off x="3936" y="2553"/>
                <a:ext cx="609" cy="552"/>
              </a:xfrm>
              <a:prstGeom prst="rect">
                <a:avLst/>
              </a:prstGeom>
              <a:solidFill>
                <a:srgbClr val="FFFFCC"/>
              </a:solidFill>
              <a:ln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54461" name="Rectangle 105"/>
              <p:cNvSpPr>
                <a:spLocks noChangeArrowheads="1"/>
              </p:cNvSpPr>
              <p:nvPr/>
            </p:nvSpPr>
            <p:spPr bwMode="auto">
              <a:xfrm>
                <a:off x="3963" y="2712"/>
                <a:ext cx="208" cy="7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US" sz="900" dirty="0">
                    <a:solidFill>
                      <a:srgbClr val="000000"/>
                    </a:solidFill>
                    <a:latin typeface="+mj-lt"/>
                  </a:rPr>
                  <a:t>Address</a:t>
                </a:r>
                <a:endParaRPr lang="en-US" sz="800" dirty="0">
                  <a:solidFill>
                    <a:srgbClr val="000000"/>
                  </a:solidFill>
                  <a:latin typeface="+mj-lt"/>
                </a:endParaRPr>
              </a:p>
            </p:txBody>
          </p:sp>
          <p:sp>
            <p:nvSpPr>
              <p:cNvPr id="54462" name="Rectangle 106"/>
              <p:cNvSpPr>
                <a:spLocks noChangeArrowheads="1"/>
              </p:cNvSpPr>
              <p:nvPr/>
            </p:nvSpPr>
            <p:spPr bwMode="auto">
              <a:xfrm>
                <a:off x="3965" y="2933"/>
                <a:ext cx="147" cy="14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US" sz="900" dirty="0">
                    <a:solidFill>
                      <a:srgbClr val="000000"/>
                    </a:solidFill>
                    <a:latin typeface="+mj-lt"/>
                  </a:rPr>
                  <a:t>Write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sz="900" dirty="0">
                    <a:solidFill>
                      <a:srgbClr val="000000"/>
                    </a:solidFill>
                    <a:latin typeface="+mj-lt"/>
                  </a:rPr>
                  <a:t>Data</a:t>
                </a:r>
                <a:endParaRPr lang="en-US" sz="800" dirty="0">
                  <a:solidFill>
                    <a:srgbClr val="000000"/>
                  </a:solidFill>
                  <a:latin typeface="+mj-lt"/>
                </a:endParaRPr>
              </a:p>
            </p:txBody>
          </p:sp>
          <p:sp>
            <p:nvSpPr>
              <p:cNvPr id="54463" name="Rectangle 107"/>
              <p:cNvSpPr>
                <a:spLocks noChangeArrowheads="1"/>
              </p:cNvSpPr>
              <p:nvPr/>
            </p:nvSpPr>
            <p:spPr bwMode="auto">
              <a:xfrm>
                <a:off x="4368" y="2665"/>
                <a:ext cx="130" cy="14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US" sz="900" dirty="0">
                    <a:solidFill>
                      <a:srgbClr val="000000"/>
                    </a:solidFill>
                    <a:latin typeface="+mj-lt"/>
                  </a:rPr>
                  <a:t>Read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sz="900" dirty="0">
                    <a:solidFill>
                      <a:srgbClr val="000000"/>
                    </a:solidFill>
                    <a:latin typeface="+mj-lt"/>
                  </a:rPr>
                  <a:t>Data</a:t>
                </a:r>
                <a:endParaRPr lang="en-US" sz="500" dirty="0">
                  <a:solidFill>
                    <a:srgbClr val="000000"/>
                  </a:solidFill>
                  <a:latin typeface="+mj-lt"/>
                </a:endParaRPr>
              </a:p>
            </p:txBody>
          </p:sp>
          <p:sp>
            <p:nvSpPr>
              <p:cNvPr id="54464" name="Rectangle 108"/>
              <p:cNvSpPr>
                <a:spLocks noChangeArrowheads="1"/>
              </p:cNvSpPr>
              <p:nvPr/>
            </p:nvSpPr>
            <p:spPr bwMode="auto">
              <a:xfrm>
                <a:off x="4193" y="2868"/>
                <a:ext cx="297" cy="19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sz="1200">
                    <a:solidFill>
                      <a:srgbClr val="000000"/>
                    </a:solidFill>
                    <a:latin typeface="+mj-lt"/>
                  </a:rPr>
                  <a:t>Data</a:t>
                </a:r>
              </a:p>
              <a:p>
                <a:pPr algn="ctr">
                  <a:lnSpc>
                    <a:spcPct val="90000"/>
                  </a:lnSpc>
                </a:pPr>
                <a:r>
                  <a:rPr lang="en-US" sz="1200">
                    <a:solidFill>
                      <a:srgbClr val="000000"/>
                    </a:solidFill>
                    <a:latin typeface="+mj-lt"/>
                  </a:rPr>
                  <a:t>Memory</a:t>
                </a:r>
                <a:endParaRPr lang="en-US" sz="800">
                  <a:solidFill>
                    <a:srgbClr val="000000"/>
                  </a:solidFill>
                  <a:latin typeface="+mj-lt"/>
                </a:endParaRPr>
              </a:p>
            </p:txBody>
          </p:sp>
          <p:sp>
            <p:nvSpPr>
              <p:cNvPr id="54458" name="Rectangle 102"/>
              <p:cNvSpPr>
                <a:spLocks noChangeArrowheads="1"/>
              </p:cNvSpPr>
              <p:nvPr/>
            </p:nvSpPr>
            <p:spPr bwMode="auto">
              <a:xfrm>
                <a:off x="4073" y="3223"/>
                <a:ext cx="311" cy="9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050" dirty="0" err="1">
                    <a:solidFill>
                      <a:srgbClr val="EB7500"/>
                    </a:solidFill>
                    <a:latin typeface="+mj-lt"/>
                  </a:rPr>
                  <a:t>MemRead</a:t>
                </a:r>
                <a:endParaRPr lang="en-US" sz="1050" dirty="0">
                  <a:solidFill>
                    <a:srgbClr val="EB7500"/>
                  </a:solidFill>
                  <a:latin typeface="+mj-lt"/>
                </a:endParaRPr>
              </a:p>
            </p:txBody>
          </p:sp>
          <p:sp>
            <p:nvSpPr>
              <p:cNvPr id="54459" name="Rectangle 103"/>
              <p:cNvSpPr>
                <a:spLocks noChangeArrowheads="1"/>
              </p:cNvSpPr>
              <p:nvPr/>
            </p:nvSpPr>
            <p:spPr bwMode="auto">
              <a:xfrm>
                <a:off x="4063" y="2378"/>
                <a:ext cx="332" cy="9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050" dirty="0" err="1">
                    <a:solidFill>
                      <a:srgbClr val="EB7500"/>
                    </a:solidFill>
                    <a:latin typeface="+mj-lt"/>
                  </a:rPr>
                  <a:t>MemWrite</a:t>
                </a:r>
                <a:endParaRPr lang="en-US" sz="1050" dirty="0">
                  <a:solidFill>
                    <a:srgbClr val="EB7500"/>
                  </a:solidFill>
                  <a:latin typeface="+mj-lt"/>
                </a:endParaRPr>
              </a:p>
            </p:txBody>
          </p:sp>
        </p:grpSp>
        <p:sp>
          <p:nvSpPr>
            <p:cNvPr id="54385" name="Freeform 109"/>
            <p:cNvSpPr>
              <a:spLocks/>
            </p:cNvSpPr>
            <p:nvPr/>
          </p:nvSpPr>
          <p:spPr bwMode="auto">
            <a:xfrm>
              <a:off x="3755" y="2266"/>
              <a:ext cx="72" cy="58"/>
            </a:xfrm>
            <a:custGeom>
              <a:avLst/>
              <a:gdLst>
                <a:gd name="T0" fmla="*/ 0 w 72"/>
                <a:gd name="T1" fmla="*/ 0 h 72"/>
                <a:gd name="T2" fmla="*/ 2 w 72"/>
                <a:gd name="T3" fmla="*/ 71 h 72"/>
                <a:gd name="T4" fmla="*/ 71 w 72"/>
                <a:gd name="T5" fmla="*/ 71 h 72"/>
                <a:gd name="T6" fmla="*/ 0 60000 65536"/>
                <a:gd name="T7" fmla="*/ 0 60000 65536"/>
                <a:gd name="T8" fmla="*/ 0 60000 65536"/>
                <a:gd name="T9" fmla="*/ 0 w 72"/>
                <a:gd name="T10" fmla="*/ 0 h 72"/>
                <a:gd name="T11" fmla="*/ 72 w 72"/>
                <a:gd name="T12" fmla="*/ 72 h 7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2" h="72">
                  <a:moveTo>
                    <a:pt x="0" y="0"/>
                  </a:moveTo>
                  <a:lnTo>
                    <a:pt x="2" y="71"/>
                  </a:lnTo>
                  <a:lnTo>
                    <a:pt x="71" y="71"/>
                  </a:lnTo>
                </a:path>
              </a:pathLst>
            </a:custGeom>
            <a:noFill/>
            <a:ln w="12700" cap="rnd" cmpd="sng">
              <a:solidFill>
                <a:srgbClr val="EB75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86" name="Freeform 110"/>
            <p:cNvSpPr>
              <a:spLocks/>
            </p:cNvSpPr>
            <p:nvPr/>
          </p:nvSpPr>
          <p:spPr bwMode="auto">
            <a:xfrm>
              <a:off x="3686" y="2400"/>
              <a:ext cx="141" cy="229"/>
            </a:xfrm>
            <a:custGeom>
              <a:avLst/>
              <a:gdLst>
                <a:gd name="T0" fmla="*/ 0 w 141"/>
                <a:gd name="T1" fmla="*/ 228 h 229"/>
                <a:gd name="T2" fmla="*/ 71 w 141"/>
                <a:gd name="T3" fmla="*/ 228 h 229"/>
                <a:gd name="T4" fmla="*/ 71 w 141"/>
                <a:gd name="T5" fmla="*/ 0 h 229"/>
                <a:gd name="T6" fmla="*/ 140 w 141"/>
                <a:gd name="T7" fmla="*/ 0 h 22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1"/>
                <a:gd name="T13" fmla="*/ 0 h 229"/>
                <a:gd name="T14" fmla="*/ 141 w 141"/>
                <a:gd name="T15" fmla="*/ 229 h 22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1" h="229">
                  <a:moveTo>
                    <a:pt x="0" y="228"/>
                  </a:moveTo>
                  <a:lnTo>
                    <a:pt x="71" y="228"/>
                  </a:lnTo>
                  <a:lnTo>
                    <a:pt x="71" y="0"/>
                  </a:lnTo>
                  <a:lnTo>
                    <a:pt x="140" y="0"/>
                  </a:lnTo>
                </a:path>
              </a:pathLst>
            </a:custGeom>
            <a:noFill/>
            <a:ln w="12700" cap="rnd" cmpd="sng">
              <a:solidFill>
                <a:srgbClr val="EB75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87" name="Freeform 111"/>
            <p:cNvSpPr>
              <a:spLocks/>
            </p:cNvSpPr>
            <p:nvPr/>
          </p:nvSpPr>
          <p:spPr bwMode="auto">
            <a:xfrm>
              <a:off x="3826" y="2302"/>
              <a:ext cx="145" cy="122"/>
            </a:xfrm>
            <a:custGeom>
              <a:avLst/>
              <a:gdLst>
                <a:gd name="T0" fmla="*/ 85 w 145"/>
                <a:gd name="T1" fmla="*/ 119 h 122"/>
                <a:gd name="T2" fmla="*/ 96 w 145"/>
                <a:gd name="T3" fmla="*/ 119 h 122"/>
                <a:gd name="T4" fmla="*/ 104 w 145"/>
                <a:gd name="T5" fmla="*/ 117 h 122"/>
                <a:gd name="T6" fmla="*/ 113 w 145"/>
                <a:gd name="T7" fmla="*/ 113 h 122"/>
                <a:gd name="T8" fmla="*/ 121 w 145"/>
                <a:gd name="T9" fmla="*/ 107 h 122"/>
                <a:gd name="T10" fmla="*/ 127 w 145"/>
                <a:gd name="T11" fmla="*/ 102 h 122"/>
                <a:gd name="T12" fmla="*/ 132 w 145"/>
                <a:gd name="T13" fmla="*/ 96 h 122"/>
                <a:gd name="T14" fmla="*/ 138 w 145"/>
                <a:gd name="T15" fmla="*/ 88 h 122"/>
                <a:gd name="T16" fmla="*/ 142 w 145"/>
                <a:gd name="T17" fmla="*/ 79 h 122"/>
                <a:gd name="T18" fmla="*/ 144 w 145"/>
                <a:gd name="T19" fmla="*/ 69 h 122"/>
                <a:gd name="T20" fmla="*/ 144 w 145"/>
                <a:gd name="T21" fmla="*/ 60 h 122"/>
                <a:gd name="T22" fmla="*/ 144 w 145"/>
                <a:gd name="T23" fmla="*/ 50 h 122"/>
                <a:gd name="T24" fmla="*/ 142 w 145"/>
                <a:gd name="T25" fmla="*/ 40 h 122"/>
                <a:gd name="T26" fmla="*/ 138 w 145"/>
                <a:gd name="T27" fmla="*/ 33 h 122"/>
                <a:gd name="T28" fmla="*/ 132 w 145"/>
                <a:gd name="T29" fmla="*/ 25 h 122"/>
                <a:gd name="T30" fmla="*/ 127 w 145"/>
                <a:gd name="T31" fmla="*/ 17 h 122"/>
                <a:gd name="T32" fmla="*/ 121 w 145"/>
                <a:gd name="T33" fmla="*/ 12 h 122"/>
                <a:gd name="T34" fmla="*/ 113 w 145"/>
                <a:gd name="T35" fmla="*/ 6 h 122"/>
                <a:gd name="T36" fmla="*/ 104 w 145"/>
                <a:gd name="T37" fmla="*/ 2 h 122"/>
                <a:gd name="T38" fmla="*/ 96 w 145"/>
                <a:gd name="T39" fmla="*/ 0 h 122"/>
                <a:gd name="T40" fmla="*/ 86 w 145"/>
                <a:gd name="T41" fmla="*/ 0 h 122"/>
                <a:gd name="T42" fmla="*/ 0 w 145"/>
                <a:gd name="T43" fmla="*/ 0 h 122"/>
                <a:gd name="T44" fmla="*/ 0 w 145"/>
                <a:gd name="T45" fmla="*/ 121 h 122"/>
                <a:gd name="T46" fmla="*/ 86 w 145"/>
                <a:gd name="T47" fmla="*/ 121 h 122"/>
                <a:gd name="T48" fmla="*/ 86 w 145"/>
                <a:gd name="T49" fmla="*/ 121 h 122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145"/>
                <a:gd name="T76" fmla="*/ 0 h 122"/>
                <a:gd name="T77" fmla="*/ 145 w 145"/>
                <a:gd name="T78" fmla="*/ 122 h 122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145" h="122">
                  <a:moveTo>
                    <a:pt x="85" y="119"/>
                  </a:moveTo>
                  <a:lnTo>
                    <a:pt x="96" y="119"/>
                  </a:lnTo>
                  <a:lnTo>
                    <a:pt x="104" y="117"/>
                  </a:lnTo>
                  <a:lnTo>
                    <a:pt x="113" y="113"/>
                  </a:lnTo>
                  <a:lnTo>
                    <a:pt x="121" y="107"/>
                  </a:lnTo>
                  <a:lnTo>
                    <a:pt x="127" y="102"/>
                  </a:lnTo>
                  <a:lnTo>
                    <a:pt x="132" y="96"/>
                  </a:lnTo>
                  <a:lnTo>
                    <a:pt x="138" y="88"/>
                  </a:lnTo>
                  <a:lnTo>
                    <a:pt x="142" y="79"/>
                  </a:lnTo>
                  <a:lnTo>
                    <a:pt x="144" y="69"/>
                  </a:lnTo>
                  <a:lnTo>
                    <a:pt x="144" y="60"/>
                  </a:lnTo>
                  <a:lnTo>
                    <a:pt x="144" y="50"/>
                  </a:lnTo>
                  <a:lnTo>
                    <a:pt x="142" y="40"/>
                  </a:lnTo>
                  <a:lnTo>
                    <a:pt x="138" y="33"/>
                  </a:lnTo>
                  <a:lnTo>
                    <a:pt x="132" y="25"/>
                  </a:lnTo>
                  <a:lnTo>
                    <a:pt x="127" y="17"/>
                  </a:lnTo>
                  <a:lnTo>
                    <a:pt x="121" y="12"/>
                  </a:lnTo>
                  <a:lnTo>
                    <a:pt x="113" y="6"/>
                  </a:lnTo>
                  <a:lnTo>
                    <a:pt x="104" y="2"/>
                  </a:lnTo>
                  <a:lnTo>
                    <a:pt x="96" y="0"/>
                  </a:lnTo>
                  <a:lnTo>
                    <a:pt x="86" y="0"/>
                  </a:lnTo>
                  <a:lnTo>
                    <a:pt x="0" y="0"/>
                  </a:lnTo>
                  <a:lnTo>
                    <a:pt x="0" y="121"/>
                  </a:lnTo>
                  <a:lnTo>
                    <a:pt x="86" y="121"/>
                  </a:lnTo>
                </a:path>
              </a:pathLst>
            </a:custGeom>
            <a:solidFill>
              <a:srgbClr val="FFE6CD"/>
            </a:solidFill>
            <a:ln w="19050" cap="rnd" cmpd="sng">
              <a:solidFill>
                <a:srgbClr val="EB75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90" name="Line 114"/>
            <p:cNvSpPr>
              <a:spLocks noChangeShapeType="1"/>
            </p:cNvSpPr>
            <p:nvPr/>
          </p:nvSpPr>
          <p:spPr bwMode="auto">
            <a:xfrm>
              <a:off x="1543" y="3804"/>
              <a:ext cx="335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91" name="Line 115"/>
            <p:cNvSpPr>
              <a:spLocks noChangeShapeType="1"/>
            </p:cNvSpPr>
            <p:nvPr/>
          </p:nvSpPr>
          <p:spPr bwMode="auto">
            <a:xfrm flipV="1">
              <a:off x="1545" y="2751"/>
              <a:ext cx="0" cy="10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92" name="Line 116"/>
            <p:cNvSpPr>
              <a:spLocks noChangeShapeType="1"/>
            </p:cNvSpPr>
            <p:nvPr/>
          </p:nvSpPr>
          <p:spPr bwMode="auto">
            <a:xfrm>
              <a:off x="1541" y="2748"/>
              <a:ext cx="26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93" name="Line 117"/>
            <p:cNvSpPr>
              <a:spLocks noChangeShapeType="1"/>
            </p:cNvSpPr>
            <p:nvPr/>
          </p:nvSpPr>
          <p:spPr bwMode="auto">
            <a:xfrm>
              <a:off x="1725" y="2895"/>
              <a:ext cx="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94" name="Line 118"/>
            <p:cNvSpPr>
              <a:spLocks noChangeShapeType="1"/>
            </p:cNvSpPr>
            <p:nvPr/>
          </p:nvSpPr>
          <p:spPr bwMode="auto">
            <a:xfrm flipV="1">
              <a:off x="1728" y="2895"/>
              <a:ext cx="0" cy="99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95" name="Line 119"/>
            <p:cNvSpPr>
              <a:spLocks noChangeShapeType="1"/>
            </p:cNvSpPr>
            <p:nvPr/>
          </p:nvSpPr>
          <p:spPr bwMode="auto">
            <a:xfrm>
              <a:off x="1728" y="3882"/>
              <a:ext cx="3336" cy="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96" name="Line 120"/>
            <p:cNvSpPr>
              <a:spLocks noChangeShapeType="1"/>
            </p:cNvSpPr>
            <p:nvPr/>
          </p:nvSpPr>
          <p:spPr bwMode="auto">
            <a:xfrm flipV="1">
              <a:off x="4963" y="2651"/>
              <a:ext cx="0" cy="51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97" name="Line 121"/>
            <p:cNvSpPr>
              <a:spLocks noChangeShapeType="1"/>
            </p:cNvSpPr>
            <p:nvPr/>
          </p:nvSpPr>
          <p:spPr bwMode="auto">
            <a:xfrm flipH="1">
              <a:off x="4800" y="2744"/>
              <a:ext cx="115" cy="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98" name="Freeform 122"/>
            <p:cNvSpPr>
              <a:spLocks/>
            </p:cNvSpPr>
            <p:nvPr/>
          </p:nvSpPr>
          <p:spPr bwMode="auto">
            <a:xfrm>
              <a:off x="4800" y="2953"/>
              <a:ext cx="119" cy="405"/>
            </a:xfrm>
            <a:custGeom>
              <a:avLst/>
              <a:gdLst>
                <a:gd name="T0" fmla="*/ 118 w 104"/>
                <a:gd name="T1" fmla="*/ 0 h 204"/>
                <a:gd name="T2" fmla="*/ 60 w 104"/>
                <a:gd name="T3" fmla="*/ 0 h 204"/>
                <a:gd name="T4" fmla="*/ 60 w 104"/>
                <a:gd name="T5" fmla="*/ 403 h 204"/>
                <a:gd name="T6" fmla="*/ 0 w 104"/>
                <a:gd name="T7" fmla="*/ 403 h 20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4"/>
                <a:gd name="T13" fmla="*/ 0 h 204"/>
                <a:gd name="T14" fmla="*/ 104 w 104"/>
                <a:gd name="T15" fmla="*/ 204 h 20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4" h="204">
                  <a:moveTo>
                    <a:pt x="103" y="0"/>
                  </a:moveTo>
                  <a:lnTo>
                    <a:pt x="52" y="0"/>
                  </a:lnTo>
                  <a:lnTo>
                    <a:pt x="52" y="203"/>
                  </a:lnTo>
                  <a:lnTo>
                    <a:pt x="0" y="203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triangl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00" name="Line 124"/>
            <p:cNvSpPr>
              <a:spLocks noChangeShapeType="1"/>
            </p:cNvSpPr>
            <p:nvPr/>
          </p:nvSpPr>
          <p:spPr bwMode="auto">
            <a:xfrm>
              <a:off x="4803" y="3558"/>
              <a:ext cx="9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01" name="Line 125"/>
            <p:cNvSpPr>
              <a:spLocks noChangeShapeType="1"/>
            </p:cNvSpPr>
            <p:nvPr/>
          </p:nvSpPr>
          <p:spPr bwMode="auto">
            <a:xfrm rot="5400000">
              <a:off x="4770" y="3681"/>
              <a:ext cx="25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02" name="Line 126"/>
            <p:cNvSpPr>
              <a:spLocks noChangeShapeType="1"/>
            </p:cNvSpPr>
            <p:nvPr/>
          </p:nvSpPr>
          <p:spPr bwMode="auto">
            <a:xfrm flipV="1">
              <a:off x="5067" y="2847"/>
              <a:ext cx="0" cy="10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03" name="Line 127"/>
            <p:cNvSpPr>
              <a:spLocks noChangeShapeType="1"/>
            </p:cNvSpPr>
            <p:nvPr/>
          </p:nvSpPr>
          <p:spPr bwMode="auto">
            <a:xfrm flipV="1">
              <a:off x="5025" y="2847"/>
              <a:ext cx="42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04" name="Freeform 128"/>
            <p:cNvSpPr>
              <a:spLocks/>
            </p:cNvSpPr>
            <p:nvPr/>
          </p:nvSpPr>
          <p:spPr bwMode="auto">
            <a:xfrm>
              <a:off x="636" y="1885"/>
              <a:ext cx="276" cy="631"/>
            </a:xfrm>
            <a:custGeom>
              <a:avLst/>
              <a:gdLst>
                <a:gd name="T0" fmla="*/ 275 w 194"/>
                <a:gd name="T1" fmla="*/ 0 h 631"/>
                <a:gd name="T2" fmla="*/ 0 w 194"/>
                <a:gd name="T3" fmla="*/ 2 h 631"/>
                <a:gd name="T4" fmla="*/ 0 w 194"/>
                <a:gd name="T5" fmla="*/ 630 h 631"/>
                <a:gd name="T6" fmla="*/ 0 60000 65536"/>
                <a:gd name="T7" fmla="*/ 0 60000 65536"/>
                <a:gd name="T8" fmla="*/ 0 60000 65536"/>
                <a:gd name="T9" fmla="*/ 0 w 194"/>
                <a:gd name="T10" fmla="*/ 0 h 631"/>
                <a:gd name="T11" fmla="*/ 194 w 194"/>
                <a:gd name="T12" fmla="*/ 631 h 63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4" h="631">
                  <a:moveTo>
                    <a:pt x="193" y="0"/>
                  </a:moveTo>
                  <a:lnTo>
                    <a:pt x="0" y="2"/>
                  </a:lnTo>
                  <a:lnTo>
                    <a:pt x="0" y="63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triangl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05" name="Freeform 129"/>
            <p:cNvSpPr>
              <a:spLocks/>
            </p:cNvSpPr>
            <p:nvPr/>
          </p:nvSpPr>
          <p:spPr bwMode="auto">
            <a:xfrm>
              <a:off x="624" y="2503"/>
              <a:ext cx="24" cy="24"/>
            </a:xfrm>
            <a:custGeom>
              <a:avLst/>
              <a:gdLst>
                <a:gd name="T0" fmla="*/ 12 w 24"/>
                <a:gd name="T1" fmla="*/ 21 h 24"/>
                <a:gd name="T2" fmla="*/ 14 w 24"/>
                <a:gd name="T3" fmla="*/ 21 h 24"/>
                <a:gd name="T4" fmla="*/ 16 w 24"/>
                <a:gd name="T5" fmla="*/ 21 h 24"/>
                <a:gd name="T6" fmla="*/ 17 w 24"/>
                <a:gd name="T7" fmla="*/ 21 h 24"/>
                <a:gd name="T8" fmla="*/ 19 w 24"/>
                <a:gd name="T9" fmla="*/ 19 h 24"/>
                <a:gd name="T10" fmla="*/ 19 w 24"/>
                <a:gd name="T11" fmla="*/ 19 h 24"/>
                <a:gd name="T12" fmla="*/ 21 w 24"/>
                <a:gd name="T13" fmla="*/ 18 h 24"/>
                <a:gd name="T14" fmla="*/ 23 w 24"/>
                <a:gd name="T15" fmla="*/ 16 h 24"/>
                <a:gd name="T16" fmla="*/ 23 w 24"/>
                <a:gd name="T17" fmla="*/ 14 h 24"/>
                <a:gd name="T18" fmla="*/ 23 w 24"/>
                <a:gd name="T19" fmla="*/ 14 h 24"/>
                <a:gd name="T20" fmla="*/ 23 w 24"/>
                <a:gd name="T21" fmla="*/ 12 h 24"/>
                <a:gd name="T22" fmla="*/ 23 w 24"/>
                <a:gd name="T23" fmla="*/ 10 h 24"/>
                <a:gd name="T24" fmla="*/ 23 w 24"/>
                <a:gd name="T25" fmla="*/ 8 h 24"/>
                <a:gd name="T26" fmla="*/ 23 w 24"/>
                <a:gd name="T27" fmla="*/ 6 h 24"/>
                <a:gd name="T28" fmla="*/ 21 w 24"/>
                <a:gd name="T29" fmla="*/ 4 h 24"/>
                <a:gd name="T30" fmla="*/ 19 w 24"/>
                <a:gd name="T31" fmla="*/ 2 h 24"/>
                <a:gd name="T32" fmla="*/ 19 w 24"/>
                <a:gd name="T33" fmla="*/ 2 h 24"/>
                <a:gd name="T34" fmla="*/ 17 w 24"/>
                <a:gd name="T35" fmla="*/ 0 h 24"/>
                <a:gd name="T36" fmla="*/ 16 w 24"/>
                <a:gd name="T37" fmla="*/ 0 h 24"/>
                <a:gd name="T38" fmla="*/ 14 w 24"/>
                <a:gd name="T39" fmla="*/ 0 h 24"/>
                <a:gd name="T40" fmla="*/ 12 w 24"/>
                <a:gd name="T41" fmla="*/ 0 h 24"/>
                <a:gd name="T42" fmla="*/ 10 w 24"/>
                <a:gd name="T43" fmla="*/ 0 h 24"/>
                <a:gd name="T44" fmla="*/ 8 w 24"/>
                <a:gd name="T45" fmla="*/ 0 h 24"/>
                <a:gd name="T46" fmla="*/ 6 w 24"/>
                <a:gd name="T47" fmla="*/ 0 h 24"/>
                <a:gd name="T48" fmla="*/ 6 w 24"/>
                <a:gd name="T49" fmla="*/ 2 h 24"/>
                <a:gd name="T50" fmla="*/ 4 w 24"/>
                <a:gd name="T51" fmla="*/ 2 h 24"/>
                <a:gd name="T52" fmla="*/ 2 w 24"/>
                <a:gd name="T53" fmla="*/ 4 h 24"/>
                <a:gd name="T54" fmla="*/ 2 w 24"/>
                <a:gd name="T55" fmla="*/ 6 h 24"/>
                <a:gd name="T56" fmla="*/ 0 w 24"/>
                <a:gd name="T57" fmla="*/ 8 h 24"/>
                <a:gd name="T58" fmla="*/ 0 w 24"/>
                <a:gd name="T59" fmla="*/ 10 h 24"/>
                <a:gd name="T60" fmla="*/ 0 w 24"/>
                <a:gd name="T61" fmla="*/ 12 h 24"/>
                <a:gd name="T62" fmla="*/ 0 w 24"/>
                <a:gd name="T63" fmla="*/ 14 h 24"/>
                <a:gd name="T64" fmla="*/ 0 w 24"/>
                <a:gd name="T65" fmla="*/ 14 h 24"/>
                <a:gd name="T66" fmla="*/ 2 w 24"/>
                <a:gd name="T67" fmla="*/ 16 h 24"/>
                <a:gd name="T68" fmla="*/ 2 w 24"/>
                <a:gd name="T69" fmla="*/ 18 h 24"/>
                <a:gd name="T70" fmla="*/ 4 w 24"/>
                <a:gd name="T71" fmla="*/ 19 h 24"/>
                <a:gd name="T72" fmla="*/ 6 w 24"/>
                <a:gd name="T73" fmla="*/ 19 h 24"/>
                <a:gd name="T74" fmla="*/ 6 w 24"/>
                <a:gd name="T75" fmla="*/ 21 h 24"/>
                <a:gd name="T76" fmla="*/ 8 w 24"/>
                <a:gd name="T77" fmla="*/ 21 h 24"/>
                <a:gd name="T78" fmla="*/ 10 w 24"/>
                <a:gd name="T79" fmla="*/ 21 h 24"/>
                <a:gd name="T80" fmla="*/ 12 w 24"/>
                <a:gd name="T81" fmla="*/ 23 h 24"/>
                <a:gd name="T82" fmla="*/ 12 w 24"/>
                <a:gd name="T83" fmla="*/ 23 h 24"/>
                <a:gd name="T84" fmla="*/ 12 w 24"/>
                <a:gd name="T85" fmla="*/ 21 h 2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4"/>
                <a:gd name="T130" fmla="*/ 0 h 24"/>
                <a:gd name="T131" fmla="*/ 24 w 24"/>
                <a:gd name="T132" fmla="*/ 24 h 24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4" h="24">
                  <a:moveTo>
                    <a:pt x="12" y="21"/>
                  </a:moveTo>
                  <a:lnTo>
                    <a:pt x="14" y="21"/>
                  </a:lnTo>
                  <a:lnTo>
                    <a:pt x="16" y="21"/>
                  </a:lnTo>
                  <a:lnTo>
                    <a:pt x="17" y="21"/>
                  </a:lnTo>
                  <a:lnTo>
                    <a:pt x="19" y="19"/>
                  </a:lnTo>
                  <a:lnTo>
                    <a:pt x="21" y="18"/>
                  </a:lnTo>
                  <a:lnTo>
                    <a:pt x="23" y="16"/>
                  </a:lnTo>
                  <a:lnTo>
                    <a:pt x="23" y="14"/>
                  </a:lnTo>
                  <a:lnTo>
                    <a:pt x="23" y="12"/>
                  </a:lnTo>
                  <a:lnTo>
                    <a:pt x="23" y="10"/>
                  </a:lnTo>
                  <a:lnTo>
                    <a:pt x="23" y="8"/>
                  </a:lnTo>
                  <a:lnTo>
                    <a:pt x="23" y="6"/>
                  </a:lnTo>
                  <a:lnTo>
                    <a:pt x="21" y="4"/>
                  </a:lnTo>
                  <a:lnTo>
                    <a:pt x="19" y="2"/>
                  </a:lnTo>
                  <a:lnTo>
                    <a:pt x="17" y="0"/>
                  </a:lnTo>
                  <a:lnTo>
                    <a:pt x="16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8" y="0"/>
                  </a:lnTo>
                  <a:lnTo>
                    <a:pt x="6" y="0"/>
                  </a:lnTo>
                  <a:lnTo>
                    <a:pt x="6" y="2"/>
                  </a:lnTo>
                  <a:lnTo>
                    <a:pt x="4" y="2"/>
                  </a:lnTo>
                  <a:lnTo>
                    <a:pt x="2" y="4"/>
                  </a:lnTo>
                  <a:lnTo>
                    <a:pt x="2" y="6"/>
                  </a:lnTo>
                  <a:lnTo>
                    <a:pt x="0" y="8"/>
                  </a:lnTo>
                  <a:lnTo>
                    <a:pt x="0" y="10"/>
                  </a:lnTo>
                  <a:lnTo>
                    <a:pt x="0" y="12"/>
                  </a:lnTo>
                  <a:lnTo>
                    <a:pt x="0" y="14"/>
                  </a:lnTo>
                  <a:lnTo>
                    <a:pt x="2" y="16"/>
                  </a:lnTo>
                  <a:lnTo>
                    <a:pt x="2" y="18"/>
                  </a:lnTo>
                  <a:lnTo>
                    <a:pt x="4" y="19"/>
                  </a:lnTo>
                  <a:lnTo>
                    <a:pt x="6" y="19"/>
                  </a:lnTo>
                  <a:lnTo>
                    <a:pt x="6" y="21"/>
                  </a:lnTo>
                  <a:lnTo>
                    <a:pt x="8" y="21"/>
                  </a:lnTo>
                  <a:lnTo>
                    <a:pt x="10" y="21"/>
                  </a:lnTo>
                  <a:lnTo>
                    <a:pt x="12" y="23"/>
                  </a:lnTo>
                  <a:lnTo>
                    <a:pt x="12" y="21"/>
                  </a:lnTo>
                </a:path>
              </a:pathLst>
            </a:custGeom>
            <a:solidFill>
              <a:srgbClr val="000000"/>
            </a:solidFill>
            <a:ln w="9525" cap="rnd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06" name="Rectangle 130"/>
            <p:cNvSpPr>
              <a:spLocks noChangeArrowheads="1"/>
            </p:cNvSpPr>
            <p:nvPr/>
          </p:nvSpPr>
          <p:spPr bwMode="auto">
            <a:xfrm>
              <a:off x="695" y="2081"/>
              <a:ext cx="146" cy="1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sz="1200">
                  <a:solidFill>
                    <a:srgbClr val="000000"/>
                  </a:solidFill>
                  <a:latin typeface="+mj-lt"/>
                </a:rPr>
                <a:t>4</a:t>
              </a:r>
              <a:endParaRPr lang="en-US" sz="6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407" name="Freeform 131"/>
            <p:cNvSpPr>
              <a:spLocks/>
            </p:cNvSpPr>
            <p:nvPr/>
          </p:nvSpPr>
          <p:spPr bwMode="auto">
            <a:xfrm>
              <a:off x="1359" y="1917"/>
              <a:ext cx="93" cy="1777"/>
            </a:xfrm>
            <a:custGeom>
              <a:avLst/>
              <a:gdLst>
                <a:gd name="T0" fmla="*/ 90 w 93"/>
                <a:gd name="T1" fmla="*/ 1776 h 1777"/>
                <a:gd name="T2" fmla="*/ 92 w 93"/>
                <a:gd name="T3" fmla="*/ 0 h 1777"/>
                <a:gd name="T4" fmla="*/ 0 w 93"/>
                <a:gd name="T5" fmla="*/ 0 h 1777"/>
                <a:gd name="T6" fmla="*/ 0 w 93"/>
                <a:gd name="T7" fmla="*/ 1776 h 1777"/>
                <a:gd name="T8" fmla="*/ 92 w 93"/>
                <a:gd name="T9" fmla="*/ 1776 h 1777"/>
                <a:gd name="T10" fmla="*/ 92 w 93"/>
                <a:gd name="T11" fmla="*/ 1776 h 177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3"/>
                <a:gd name="T19" fmla="*/ 0 h 1777"/>
                <a:gd name="T20" fmla="*/ 93 w 93"/>
                <a:gd name="T21" fmla="*/ 1777 h 177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3" h="1777">
                  <a:moveTo>
                    <a:pt x="90" y="1776"/>
                  </a:moveTo>
                  <a:lnTo>
                    <a:pt x="92" y="0"/>
                  </a:lnTo>
                  <a:lnTo>
                    <a:pt x="0" y="0"/>
                  </a:lnTo>
                  <a:lnTo>
                    <a:pt x="0" y="1776"/>
                  </a:lnTo>
                  <a:lnTo>
                    <a:pt x="92" y="1776"/>
                  </a:lnTo>
                </a:path>
              </a:pathLst>
            </a:custGeom>
            <a:solidFill>
              <a:srgbClr val="CCECFF"/>
            </a:solidFill>
            <a:ln w="190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08" name="Line 132"/>
            <p:cNvSpPr>
              <a:spLocks noChangeShapeType="1"/>
            </p:cNvSpPr>
            <p:nvPr/>
          </p:nvSpPr>
          <p:spPr bwMode="auto">
            <a:xfrm flipH="1" flipV="1">
              <a:off x="1202" y="2021"/>
              <a:ext cx="163" cy="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09" name="Freeform 133"/>
            <p:cNvSpPr>
              <a:spLocks/>
            </p:cNvSpPr>
            <p:nvPr/>
          </p:nvSpPr>
          <p:spPr bwMode="auto">
            <a:xfrm>
              <a:off x="1236" y="2013"/>
              <a:ext cx="24" cy="24"/>
            </a:xfrm>
            <a:custGeom>
              <a:avLst/>
              <a:gdLst>
                <a:gd name="T0" fmla="*/ 9 w 24"/>
                <a:gd name="T1" fmla="*/ 23 h 24"/>
                <a:gd name="T2" fmla="*/ 13 w 24"/>
                <a:gd name="T3" fmla="*/ 23 h 24"/>
                <a:gd name="T4" fmla="*/ 15 w 24"/>
                <a:gd name="T5" fmla="*/ 23 h 24"/>
                <a:gd name="T6" fmla="*/ 15 w 24"/>
                <a:gd name="T7" fmla="*/ 21 h 24"/>
                <a:gd name="T8" fmla="*/ 17 w 24"/>
                <a:gd name="T9" fmla="*/ 21 h 24"/>
                <a:gd name="T10" fmla="*/ 19 w 24"/>
                <a:gd name="T11" fmla="*/ 19 h 24"/>
                <a:gd name="T12" fmla="*/ 19 w 24"/>
                <a:gd name="T13" fmla="*/ 19 h 24"/>
                <a:gd name="T14" fmla="*/ 21 w 24"/>
                <a:gd name="T15" fmla="*/ 17 h 24"/>
                <a:gd name="T16" fmla="*/ 21 w 24"/>
                <a:gd name="T17" fmla="*/ 15 h 24"/>
                <a:gd name="T18" fmla="*/ 23 w 24"/>
                <a:gd name="T19" fmla="*/ 13 h 24"/>
                <a:gd name="T20" fmla="*/ 23 w 24"/>
                <a:gd name="T21" fmla="*/ 11 h 24"/>
                <a:gd name="T22" fmla="*/ 23 w 24"/>
                <a:gd name="T23" fmla="*/ 9 h 24"/>
                <a:gd name="T24" fmla="*/ 21 w 24"/>
                <a:gd name="T25" fmla="*/ 8 h 24"/>
                <a:gd name="T26" fmla="*/ 21 w 24"/>
                <a:gd name="T27" fmla="*/ 6 h 24"/>
                <a:gd name="T28" fmla="*/ 19 w 24"/>
                <a:gd name="T29" fmla="*/ 6 h 24"/>
                <a:gd name="T30" fmla="*/ 19 w 24"/>
                <a:gd name="T31" fmla="*/ 4 h 24"/>
                <a:gd name="T32" fmla="*/ 17 w 24"/>
                <a:gd name="T33" fmla="*/ 2 h 24"/>
                <a:gd name="T34" fmla="*/ 15 w 24"/>
                <a:gd name="T35" fmla="*/ 2 h 24"/>
                <a:gd name="T36" fmla="*/ 15 w 24"/>
                <a:gd name="T37" fmla="*/ 0 h 24"/>
                <a:gd name="T38" fmla="*/ 13 w 24"/>
                <a:gd name="T39" fmla="*/ 0 h 24"/>
                <a:gd name="T40" fmla="*/ 11 w 24"/>
                <a:gd name="T41" fmla="*/ 0 h 24"/>
                <a:gd name="T42" fmla="*/ 9 w 24"/>
                <a:gd name="T43" fmla="*/ 0 h 24"/>
                <a:gd name="T44" fmla="*/ 7 w 24"/>
                <a:gd name="T45" fmla="*/ 0 h 24"/>
                <a:gd name="T46" fmla="*/ 5 w 24"/>
                <a:gd name="T47" fmla="*/ 2 h 24"/>
                <a:gd name="T48" fmla="*/ 4 w 24"/>
                <a:gd name="T49" fmla="*/ 2 h 24"/>
                <a:gd name="T50" fmla="*/ 2 w 24"/>
                <a:gd name="T51" fmla="*/ 4 h 24"/>
                <a:gd name="T52" fmla="*/ 2 w 24"/>
                <a:gd name="T53" fmla="*/ 6 h 24"/>
                <a:gd name="T54" fmla="*/ 0 w 24"/>
                <a:gd name="T55" fmla="*/ 6 h 24"/>
                <a:gd name="T56" fmla="*/ 0 w 24"/>
                <a:gd name="T57" fmla="*/ 8 h 24"/>
                <a:gd name="T58" fmla="*/ 0 w 24"/>
                <a:gd name="T59" fmla="*/ 9 h 24"/>
                <a:gd name="T60" fmla="*/ 0 w 24"/>
                <a:gd name="T61" fmla="*/ 11 h 24"/>
                <a:gd name="T62" fmla="*/ 0 w 24"/>
                <a:gd name="T63" fmla="*/ 13 h 24"/>
                <a:gd name="T64" fmla="*/ 0 w 24"/>
                <a:gd name="T65" fmla="*/ 15 h 24"/>
                <a:gd name="T66" fmla="*/ 0 w 24"/>
                <a:gd name="T67" fmla="*/ 17 h 24"/>
                <a:gd name="T68" fmla="*/ 2 w 24"/>
                <a:gd name="T69" fmla="*/ 19 h 24"/>
                <a:gd name="T70" fmla="*/ 2 w 24"/>
                <a:gd name="T71" fmla="*/ 19 h 24"/>
                <a:gd name="T72" fmla="*/ 4 w 24"/>
                <a:gd name="T73" fmla="*/ 21 h 24"/>
                <a:gd name="T74" fmla="*/ 5 w 24"/>
                <a:gd name="T75" fmla="*/ 21 h 24"/>
                <a:gd name="T76" fmla="*/ 7 w 24"/>
                <a:gd name="T77" fmla="*/ 23 h 24"/>
                <a:gd name="T78" fmla="*/ 9 w 24"/>
                <a:gd name="T79" fmla="*/ 23 h 24"/>
                <a:gd name="T80" fmla="*/ 11 w 24"/>
                <a:gd name="T81" fmla="*/ 23 h 24"/>
                <a:gd name="T82" fmla="*/ 11 w 24"/>
                <a:gd name="T83" fmla="*/ 23 h 24"/>
                <a:gd name="T84" fmla="*/ 9 w 24"/>
                <a:gd name="T85" fmla="*/ 23 h 2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4"/>
                <a:gd name="T130" fmla="*/ 0 h 24"/>
                <a:gd name="T131" fmla="*/ 24 w 24"/>
                <a:gd name="T132" fmla="*/ 24 h 24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4" h="24">
                  <a:moveTo>
                    <a:pt x="9" y="23"/>
                  </a:moveTo>
                  <a:lnTo>
                    <a:pt x="13" y="23"/>
                  </a:lnTo>
                  <a:lnTo>
                    <a:pt x="15" y="23"/>
                  </a:lnTo>
                  <a:lnTo>
                    <a:pt x="15" y="21"/>
                  </a:lnTo>
                  <a:lnTo>
                    <a:pt x="17" y="21"/>
                  </a:lnTo>
                  <a:lnTo>
                    <a:pt x="19" y="19"/>
                  </a:lnTo>
                  <a:lnTo>
                    <a:pt x="21" y="17"/>
                  </a:lnTo>
                  <a:lnTo>
                    <a:pt x="21" y="15"/>
                  </a:lnTo>
                  <a:lnTo>
                    <a:pt x="23" y="13"/>
                  </a:lnTo>
                  <a:lnTo>
                    <a:pt x="23" y="11"/>
                  </a:lnTo>
                  <a:lnTo>
                    <a:pt x="23" y="9"/>
                  </a:lnTo>
                  <a:lnTo>
                    <a:pt x="21" y="8"/>
                  </a:lnTo>
                  <a:lnTo>
                    <a:pt x="21" y="6"/>
                  </a:lnTo>
                  <a:lnTo>
                    <a:pt x="19" y="6"/>
                  </a:lnTo>
                  <a:lnTo>
                    <a:pt x="19" y="4"/>
                  </a:lnTo>
                  <a:lnTo>
                    <a:pt x="17" y="2"/>
                  </a:lnTo>
                  <a:lnTo>
                    <a:pt x="15" y="2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1" y="0"/>
                  </a:lnTo>
                  <a:lnTo>
                    <a:pt x="9" y="0"/>
                  </a:lnTo>
                  <a:lnTo>
                    <a:pt x="7" y="0"/>
                  </a:lnTo>
                  <a:lnTo>
                    <a:pt x="5" y="2"/>
                  </a:lnTo>
                  <a:lnTo>
                    <a:pt x="4" y="2"/>
                  </a:lnTo>
                  <a:lnTo>
                    <a:pt x="2" y="4"/>
                  </a:lnTo>
                  <a:lnTo>
                    <a:pt x="2" y="6"/>
                  </a:lnTo>
                  <a:lnTo>
                    <a:pt x="0" y="6"/>
                  </a:lnTo>
                  <a:lnTo>
                    <a:pt x="0" y="8"/>
                  </a:lnTo>
                  <a:lnTo>
                    <a:pt x="0" y="9"/>
                  </a:lnTo>
                  <a:lnTo>
                    <a:pt x="0" y="11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0" y="17"/>
                  </a:lnTo>
                  <a:lnTo>
                    <a:pt x="2" y="19"/>
                  </a:lnTo>
                  <a:lnTo>
                    <a:pt x="4" y="21"/>
                  </a:lnTo>
                  <a:lnTo>
                    <a:pt x="5" y="21"/>
                  </a:lnTo>
                  <a:lnTo>
                    <a:pt x="7" y="23"/>
                  </a:lnTo>
                  <a:lnTo>
                    <a:pt x="9" y="23"/>
                  </a:lnTo>
                  <a:lnTo>
                    <a:pt x="11" y="23"/>
                  </a:lnTo>
                  <a:lnTo>
                    <a:pt x="9" y="23"/>
                  </a:lnTo>
                </a:path>
              </a:pathLst>
            </a:custGeom>
            <a:solidFill>
              <a:srgbClr val="000000"/>
            </a:solidFill>
            <a:ln w="9525" cap="rnd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10" name="Freeform 134"/>
            <p:cNvSpPr>
              <a:spLocks/>
            </p:cNvSpPr>
            <p:nvPr/>
          </p:nvSpPr>
          <p:spPr bwMode="auto">
            <a:xfrm>
              <a:off x="915" y="1825"/>
              <a:ext cx="285" cy="413"/>
            </a:xfrm>
            <a:custGeom>
              <a:avLst/>
              <a:gdLst>
                <a:gd name="T0" fmla="*/ 0 w 210"/>
                <a:gd name="T1" fmla="*/ 0 h 413"/>
                <a:gd name="T2" fmla="*/ 0 w 210"/>
                <a:gd name="T3" fmla="*/ 167 h 413"/>
                <a:gd name="T4" fmla="*/ 91 w 210"/>
                <a:gd name="T5" fmla="*/ 207 h 413"/>
                <a:gd name="T6" fmla="*/ 0 w 210"/>
                <a:gd name="T7" fmla="*/ 245 h 413"/>
                <a:gd name="T8" fmla="*/ 0 w 210"/>
                <a:gd name="T9" fmla="*/ 412 h 413"/>
                <a:gd name="T10" fmla="*/ 284 w 210"/>
                <a:gd name="T11" fmla="*/ 286 h 413"/>
                <a:gd name="T12" fmla="*/ 284 w 210"/>
                <a:gd name="T13" fmla="*/ 127 h 413"/>
                <a:gd name="T14" fmla="*/ 0 w 210"/>
                <a:gd name="T15" fmla="*/ 0 h 413"/>
                <a:gd name="T16" fmla="*/ 0 w 210"/>
                <a:gd name="T17" fmla="*/ 0 h 41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10"/>
                <a:gd name="T28" fmla="*/ 0 h 413"/>
                <a:gd name="T29" fmla="*/ 210 w 210"/>
                <a:gd name="T30" fmla="*/ 413 h 413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10" h="413">
                  <a:moveTo>
                    <a:pt x="0" y="0"/>
                  </a:moveTo>
                  <a:lnTo>
                    <a:pt x="0" y="167"/>
                  </a:lnTo>
                  <a:lnTo>
                    <a:pt x="67" y="207"/>
                  </a:lnTo>
                  <a:lnTo>
                    <a:pt x="0" y="245"/>
                  </a:lnTo>
                  <a:lnTo>
                    <a:pt x="0" y="412"/>
                  </a:lnTo>
                  <a:lnTo>
                    <a:pt x="209" y="286"/>
                  </a:lnTo>
                  <a:lnTo>
                    <a:pt x="209" y="127"/>
                  </a:lnTo>
                  <a:lnTo>
                    <a:pt x="0" y="0"/>
                  </a:lnTo>
                </a:path>
              </a:pathLst>
            </a:custGeom>
            <a:solidFill>
              <a:srgbClr val="CCFF99"/>
            </a:solidFill>
            <a:ln w="190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11" name="Line 135"/>
            <p:cNvSpPr>
              <a:spLocks noChangeShapeType="1"/>
            </p:cNvSpPr>
            <p:nvPr/>
          </p:nvSpPr>
          <p:spPr bwMode="auto">
            <a:xfrm flipH="1">
              <a:off x="811" y="2168"/>
              <a:ext cx="102" cy="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12" name="Rectangle 136"/>
            <p:cNvSpPr>
              <a:spLocks noChangeArrowheads="1"/>
            </p:cNvSpPr>
            <p:nvPr/>
          </p:nvSpPr>
          <p:spPr bwMode="auto">
            <a:xfrm>
              <a:off x="812" y="2774"/>
              <a:ext cx="374" cy="2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000000"/>
                  </a:solidFill>
                  <a:latin typeface="+mj-lt"/>
                </a:rPr>
                <a:t>Instruction</a:t>
              </a:r>
            </a:p>
            <a:p>
              <a:pPr algn="ctr"/>
              <a:r>
                <a:rPr lang="en-US" sz="1200" dirty="0">
                  <a:solidFill>
                    <a:srgbClr val="000000"/>
                  </a:solidFill>
                  <a:latin typeface="+mj-lt"/>
                </a:rPr>
                <a:t>Memory</a:t>
              </a:r>
              <a:endParaRPr lang="en-US" sz="500" dirty="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413" name="Rectangle 138"/>
            <p:cNvSpPr>
              <a:spLocks noChangeArrowheads="1"/>
            </p:cNvSpPr>
            <p:nvPr/>
          </p:nvSpPr>
          <p:spPr bwMode="auto">
            <a:xfrm>
              <a:off x="747" y="2481"/>
              <a:ext cx="208" cy="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900">
                  <a:solidFill>
                    <a:srgbClr val="000000"/>
                  </a:solidFill>
                  <a:latin typeface="+mj-lt"/>
                </a:rPr>
                <a:t>Address</a:t>
              </a:r>
              <a:endParaRPr lang="en-US" sz="5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414" name="Rectangle 139"/>
            <p:cNvSpPr>
              <a:spLocks noChangeArrowheads="1"/>
            </p:cNvSpPr>
            <p:nvPr/>
          </p:nvSpPr>
          <p:spPr bwMode="auto">
            <a:xfrm>
              <a:off x="1042" y="1968"/>
              <a:ext cx="138" cy="1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dirty="0">
                  <a:solidFill>
                    <a:srgbClr val="000000"/>
                  </a:solidFill>
                  <a:latin typeface="+mj-lt"/>
                </a:rPr>
                <a:t>Add</a:t>
              </a:r>
              <a:endParaRPr lang="en-US" sz="500" dirty="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415" name="Rectangle 140"/>
            <p:cNvSpPr>
              <a:spLocks noChangeArrowheads="1"/>
            </p:cNvSpPr>
            <p:nvPr/>
          </p:nvSpPr>
          <p:spPr bwMode="auto">
            <a:xfrm>
              <a:off x="1311" y="1755"/>
              <a:ext cx="223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dirty="0">
                  <a:solidFill>
                    <a:srgbClr val="000000"/>
                  </a:solidFill>
                  <a:latin typeface="+mj-lt"/>
                </a:rPr>
                <a:t>IF/ID</a:t>
              </a:r>
            </a:p>
          </p:txBody>
        </p:sp>
        <p:grpSp>
          <p:nvGrpSpPr>
            <p:cNvPr id="54416" name="Group 141"/>
            <p:cNvGrpSpPr>
              <a:grpSpLocks/>
            </p:cNvGrpSpPr>
            <p:nvPr/>
          </p:nvGrpSpPr>
          <p:grpSpPr bwMode="auto">
            <a:xfrm>
              <a:off x="432" y="2393"/>
              <a:ext cx="156" cy="245"/>
              <a:chOff x="480" y="2155"/>
              <a:chExt cx="156" cy="245"/>
            </a:xfrm>
          </p:grpSpPr>
          <p:sp>
            <p:nvSpPr>
              <p:cNvPr id="54455" name="Freeform 142"/>
              <p:cNvSpPr>
                <a:spLocks/>
              </p:cNvSpPr>
              <p:nvPr/>
            </p:nvSpPr>
            <p:spPr bwMode="auto">
              <a:xfrm>
                <a:off x="480" y="2155"/>
                <a:ext cx="156" cy="245"/>
              </a:xfrm>
              <a:custGeom>
                <a:avLst/>
                <a:gdLst>
                  <a:gd name="T0" fmla="*/ 155 w 104"/>
                  <a:gd name="T1" fmla="*/ 242 h 245"/>
                  <a:gd name="T2" fmla="*/ 155 w 104"/>
                  <a:gd name="T3" fmla="*/ 0 h 245"/>
                  <a:gd name="T4" fmla="*/ 0 w 104"/>
                  <a:gd name="T5" fmla="*/ 0 h 245"/>
                  <a:gd name="T6" fmla="*/ 0 w 104"/>
                  <a:gd name="T7" fmla="*/ 244 h 245"/>
                  <a:gd name="T8" fmla="*/ 155 w 104"/>
                  <a:gd name="T9" fmla="*/ 244 h 245"/>
                  <a:gd name="T10" fmla="*/ 155 w 104"/>
                  <a:gd name="T11" fmla="*/ 244 h 24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04"/>
                  <a:gd name="T19" fmla="*/ 0 h 245"/>
                  <a:gd name="T20" fmla="*/ 104 w 104"/>
                  <a:gd name="T21" fmla="*/ 245 h 245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04" h="245">
                    <a:moveTo>
                      <a:pt x="103" y="242"/>
                    </a:moveTo>
                    <a:lnTo>
                      <a:pt x="103" y="0"/>
                    </a:lnTo>
                    <a:lnTo>
                      <a:pt x="0" y="0"/>
                    </a:lnTo>
                    <a:lnTo>
                      <a:pt x="0" y="244"/>
                    </a:lnTo>
                    <a:lnTo>
                      <a:pt x="103" y="244"/>
                    </a:lnTo>
                  </a:path>
                </a:pathLst>
              </a:custGeom>
              <a:solidFill>
                <a:srgbClr val="FFE6CD"/>
              </a:solidFill>
              <a:ln w="1905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54456" name="Rectangle 143"/>
              <p:cNvSpPr>
                <a:spLocks noChangeArrowheads="1"/>
              </p:cNvSpPr>
              <p:nvPr/>
            </p:nvSpPr>
            <p:spPr bwMode="auto">
              <a:xfrm>
                <a:off x="509" y="2220"/>
                <a:ext cx="90" cy="108"/>
              </a:xfrm>
              <a:prstGeom prst="rect">
                <a:avLst/>
              </a:prstGeom>
              <a:solidFill>
                <a:srgbClr val="FFE6CD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200" dirty="0">
                    <a:solidFill>
                      <a:srgbClr val="000000"/>
                    </a:solidFill>
                    <a:latin typeface="+mj-lt"/>
                  </a:rPr>
                  <a:t>PC</a:t>
                </a:r>
                <a:endParaRPr lang="en-US" sz="500" dirty="0">
                  <a:solidFill>
                    <a:srgbClr val="000000"/>
                  </a:solidFill>
                  <a:latin typeface="+mj-lt"/>
                </a:endParaRPr>
              </a:p>
            </p:txBody>
          </p:sp>
        </p:grpSp>
        <p:sp>
          <p:nvSpPr>
            <p:cNvPr id="54417" name="Line 144"/>
            <p:cNvSpPr>
              <a:spLocks noChangeShapeType="1"/>
            </p:cNvSpPr>
            <p:nvPr/>
          </p:nvSpPr>
          <p:spPr bwMode="auto">
            <a:xfrm flipH="1">
              <a:off x="1290" y="2688"/>
              <a:ext cx="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18" name="Line 145"/>
            <p:cNvSpPr>
              <a:spLocks noChangeShapeType="1"/>
            </p:cNvSpPr>
            <p:nvPr/>
          </p:nvSpPr>
          <p:spPr bwMode="auto">
            <a:xfrm flipV="1">
              <a:off x="1248" y="1782"/>
              <a:ext cx="0" cy="2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19" name="Line 146"/>
            <p:cNvSpPr>
              <a:spLocks noChangeShapeType="1"/>
            </p:cNvSpPr>
            <p:nvPr/>
          </p:nvSpPr>
          <p:spPr bwMode="auto">
            <a:xfrm flipH="1" flipV="1">
              <a:off x="3843" y="1594"/>
              <a:ext cx="0" cy="57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20" name="Line 147"/>
            <p:cNvSpPr>
              <a:spLocks noChangeShapeType="1"/>
            </p:cNvSpPr>
            <p:nvPr/>
          </p:nvSpPr>
          <p:spPr bwMode="auto">
            <a:xfrm rot="5400000" flipH="1" flipV="1">
              <a:off x="1011" y="1542"/>
              <a:ext cx="3" cy="47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21" name="Line 148"/>
            <p:cNvSpPr>
              <a:spLocks noChangeShapeType="1"/>
            </p:cNvSpPr>
            <p:nvPr/>
          </p:nvSpPr>
          <p:spPr bwMode="auto">
            <a:xfrm rot="16200000" flipV="1">
              <a:off x="3756" y="2077"/>
              <a:ext cx="3" cy="17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22" name="Line 149"/>
            <p:cNvSpPr>
              <a:spLocks noChangeShapeType="1"/>
            </p:cNvSpPr>
            <p:nvPr/>
          </p:nvSpPr>
          <p:spPr bwMode="auto">
            <a:xfrm rot="16200000" flipV="1">
              <a:off x="521" y="1529"/>
              <a:ext cx="0" cy="31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23" name="Line 150"/>
            <p:cNvSpPr>
              <a:spLocks noChangeShapeType="1"/>
            </p:cNvSpPr>
            <p:nvPr/>
          </p:nvSpPr>
          <p:spPr bwMode="auto">
            <a:xfrm flipV="1">
              <a:off x="360" y="1683"/>
              <a:ext cx="0" cy="83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24" name="Line 151"/>
            <p:cNvSpPr>
              <a:spLocks noChangeShapeType="1"/>
            </p:cNvSpPr>
            <p:nvPr/>
          </p:nvSpPr>
          <p:spPr bwMode="auto">
            <a:xfrm rot="16200000" flipV="1">
              <a:off x="393" y="2481"/>
              <a:ext cx="0" cy="6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grpSp>
          <p:nvGrpSpPr>
            <p:cNvPr id="54425" name="Group 152"/>
            <p:cNvGrpSpPr>
              <a:grpSpLocks/>
            </p:cNvGrpSpPr>
            <p:nvPr/>
          </p:nvGrpSpPr>
          <p:grpSpPr bwMode="auto">
            <a:xfrm>
              <a:off x="2754" y="3391"/>
              <a:ext cx="127" cy="309"/>
              <a:chOff x="2742" y="3153"/>
              <a:chExt cx="127" cy="309"/>
            </a:xfrm>
          </p:grpSpPr>
          <p:sp>
            <p:nvSpPr>
              <p:cNvPr id="54451" name="Rectangle 153"/>
              <p:cNvSpPr>
                <a:spLocks noChangeArrowheads="1"/>
              </p:cNvSpPr>
              <p:nvPr/>
            </p:nvSpPr>
            <p:spPr bwMode="auto">
              <a:xfrm>
                <a:off x="2745" y="3153"/>
                <a:ext cx="124" cy="108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r>
                  <a:rPr lang="en-US" sz="600" dirty="0">
                    <a:solidFill>
                      <a:srgbClr val="000000"/>
                    </a:solidFill>
                    <a:latin typeface="+mj-lt"/>
                  </a:rPr>
                  <a:t>0</a:t>
                </a:r>
              </a:p>
            </p:txBody>
          </p:sp>
          <p:sp>
            <p:nvSpPr>
              <p:cNvPr id="54452" name="Rectangle 154"/>
              <p:cNvSpPr>
                <a:spLocks noChangeArrowheads="1"/>
              </p:cNvSpPr>
              <p:nvPr/>
            </p:nvSpPr>
            <p:spPr bwMode="auto">
              <a:xfrm>
                <a:off x="2742" y="3354"/>
                <a:ext cx="124" cy="108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r>
                  <a:rPr lang="en-US" sz="600" dirty="0">
                    <a:solidFill>
                      <a:srgbClr val="000000"/>
                    </a:solidFill>
                    <a:latin typeface="+mj-lt"/>
                  </a:rPr>
                  <a:t>1</a:t>
                </a:r>
              </a:p>
            </p:txBody>
          </p:sp>
          <p:sp>
            <p:nvSpPr>
              <p:cNvPr id="54453" name="Rectangle 155"/>
              <p:cNvSpPr>
                <a:spLocks noChangeArrowheads="1"/>
              </p:cNvSpPr>
              <p:nvPr/>
            </p:nvSpPr>
            <p:spPr bwMode="auto">
              <a:xfrm>
                <a:off x="2793" y="3230"/>
                <a:ext cx="45" cy="151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>
                  <a:lnSpc>
                    <a:spcPct val="70000"/>
                  </a:lnSpc>
                </a:pPr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m</a:t>
                </a:r>
              </a:p>
              <a:p>
                <a:pPr algn="ctr">
                  <a:lnSpc>
                    <a:spcPct val="70000"/>
                  </a:lnSpc>
                </a:pPr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u</a:t>
                </a:r>
              </a:p>
              <a:p>
                <a:pPr algn="ctr">
                  <a:lnSpc>
                    <a:spcPct val="70000"/>
                  </a:lnSpc>
                </a:pPr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x</a:t>
                </a:r>
                <a:endParaRPr lang="en-US" sz="500">
                  <a:solidFill>
                    <a:srgbClr val="000000"/>
                  </a:solidFill>
                  <a:latin typeface="+mj-lt"/>
                </a:endParaRPr>
              </a:p>
            </p:txBody>
          </p:sp>
          <p:sp>
            <p:nvSpPr>
              <p:cNvPr id="54454" name="AutoShape 156"/>
              <p:cNvSpPr>
                <a:spLocks noChangeArrowheads="1"/>
              </p:cNvSpPr>
              <p:nvPr/>
            </p:nvSpPr>
            <p:spPr bwMode="auto">
              <a:xfrm rot="5400000">
                <a:off x="2665" y="3263"/>
                <a:ext cx="297" cy="96"/>
              </a:xfrm>
              <a:prstGeom prst="flowChartTerminator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>
                  <a:latin typeface="+mj-lt"/>
                </a:endParaRPr>
              </a:p>
            </p:txBody>
          </p:sp>
        </p:grpSp>
        <p:grpSp>
          <p:nvGrpSpPr>
            <p:cNvPr id="54426" name="Group 157"/>
            <p:cNvGrpSpPr>
              <a:grpSpLocks/>
            </p:cNvGrpSpPr>
            <p:nvPr/>
          </p:nvGrpSpPr>
          <p:grpSpPr bwMode="auto">
            <a:xfrm>
              <a:off x="2796" y="2665"/>
              <a:ext cx="127" cy="309"/>
              <a:chOff x="2748" y="3153"/>
              <a:chExt cx="127" cy="309"/>
            </a:xfrm>
          </p:grpSpPr>
          <p:sp>
            <p:nvSpPr>
              <p:cNvPr id="54447" name="Rectangle 158"/>
              <p:cNvSpPr>
                <a:spLocks noChangeArrowheads="1"/>
              </p:cNvSpPr>
              <p:nvPr/>
            </p:nvSpPr>
            <p:spPr bwMode="auto">
              <a:xfrm>
                <a:off x="2751" y="3153"/>
                <a:ext cx="124" cy="108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r>
                  <a:rPr lang="en-US" sz="600" dirty="0">
                    <a:solidFill>
                      <a:srgbClr val="000000"/>
                    </a:solidFill>
                    <a:latin typeface="+mj-lt"/>
                  </a:rPr>
                  <a:t>0</a:t>
                </a:r>
              </a:p>
            </p:txBody>
          </p:sp>
          <p:sp>
            <p:nvSpPr>
              <p:cNvPr id="54448" name="Rectangle 159"/>
              <p:cNvSpPr>
                <a:spLocks noChangeArrowheads="1"/>
              </p:cNvSpPr>
              <p:nvPr/>
            </p:nvSpPr>
            <p:spPr bwMode="auto">
              <a:xfrm>
                <a:off x="2748" y="3354"/>
                <a:ext cx="124" cy="108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r>
                  <a:rPr lang="en-US" sz="600" dirty="0">
                    <a:solidFill>
                      <a:srgbClr val="000000"/>
                    </a:solidFill>
                    <a:latin typeface="+mj-lt"/>
                  </a:rPr>
                  <a:t>1</a:t>
                </a:r>
              </a:p>
            </p:txBody>
          </p:sp>
          <p:sp>
            <p:nvSpPr>
              <p:cNvPr id="54449" name="Rectangle 160"/>
              <p:cNvSpPr>
                <a:spLocks noChangeArrowheads="1"/>
              </p:cNvSpPr>
              <p:nvPr/>
            </p:nvSpPr>
            <p:spPr bwMode="auto">
              <a:xfrm>
                <a:off x="2795" y="3238"/>
                <a:ext cx="40" cy="132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>
                  <a:lnSpc>
                    <a:spcPct val="70000"/>
                  </a:lnSpc>
                </a:pPr>
                <a:r>
                  <a:rPr lang="en-US" sz="700" dirty="0">
                    <a:solidFill>
                      <a:srgbClr val="000000"/>
                    </a:solidFill>
                    <a:latin typeface="+mj-lt"/>
                  </a:rPr>
                  <a:t>m</a:t>
                </a:r>
              </a:p>
              <a:p>
                <a:pPr algn="ctr">
                  <a:lnSpc>
                    <a:spcPct val="70000"/>
                  </a:lnSpc>
                </a:pPr>
                <a:r>
                  <a:rPr lang="en-US" sz="700" dirty="0">
                    <a:solidFill>
                      <a:srgbClr val="000000"/>
                    </a:solidFill>
                    <a:latin typeface="+mj-lt"/>
                  </a:rPr>
                  <a:t>u</a:t>
                </a:r>
              </a:p>
              <a:p>
                <a:pPr algn="ctr">
                  <a:lnSpc>
                    <a:spcPct val="70000"/>
                  </a:lnSpc>
                </a:pPr>
                <a:r>
                  <a:rPr lang="en-US" sz="700" dirty="0">
                    <a:solidFill>
                      <a:srgbClr val="000000"/>
                    </a:solidFill>
                    <a:latin typeface="+mj-lt"/>
                  </a:rPr>
                  <a:t>x</a:t>
                </a:r>
                <a:endParaRPr lang="en-US" sz="400" dirty="0">
                  <a:solidFill>
                    <a:srgbClr val="000000"/>
                  </a:solidFill>
                  <a:latin typeface="+mj-lt"/>
                </a:endParaRPr>
              </a:p>
            </p:txBody>
          </p:sp>
          <p:sp>
            <p:nvSpPr>
              <p:cNvPr id="54450" name="AutoShape 161"/>
              <p:cNvSpPr>
                <a:spLocks noChangeArrowheads="1"/>
              </p:cNvSpPr>
              <p:nvPr/>
            </p:nvSpPr>
            <p:spPr bwMode="auto">
              <a:xfrm rot="5400000">
                <a:off x="2665" y="3263"/>
                <a:ext cx="297" cy="96"/>
              </a:xfrm>
              <a:prstGeom prst="flowChartTerminator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>
                  <a:latin typeface="+mj-lt"/>
                </a:endParaRPr>
              </a:p>
            </p:txBody>
          </p:sp>
        </p:grpSp>
        <p:sp>
          <p:nvSpPr>
            <p:cNvPr id="54427" name="Line 162"/>
            <p:cNvSpPr>
              <a:spLocks noChangeShapeType="1"/>
            </p:cNvSpPr>
            <p:nvPr/>
          </p:nvSpPr>
          <p:spPr bwMode="auto">
            <a:xfrm flipV="1">
              <a:off x="3168" y="2844"/>
              <a:ext cx="0" cy="391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28" name="Line 163"/>
            <p:cNvSpPr>
              <a:spLocks noChangeShapeType="1"/>
            </p:cNvSpPr>
            <p:nvPr/>
          </p:nvSpPr>
          <p:spPr bwMode="auto">
            <a:xfrm rot="5400000" flipV="1">
              <a:off x="3142" y="3203"/>
              <a:ext cx="0" cy="52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grpSp>
          <p:nvGrpSpPr>
            <p:cNvPr id="54429" name="Group 164"/>
            <p:cNvGrpSpPr>
              <a:grpSpLocks/>
            </p:cNvGrpSpPr>
            <p:nvPr/>
          </p:nvGrpSpPr>
          <p:grpSpPr bwMode="auto">
            <a:xfrm flipH="1">
              <a:off x="672" y="1534"/>
              <a:ext cx="127" cy="309"/>
              <a:chOff x="2743" y="3153"/>
              <a:chExt cx="127" cy="309"/>
            </a:xfrm>
          </p:grpSpPr>
          <p:sp>
            <p:nvSpPr>
              <p:cNvPr id="54443" name="Rectangle 165"/>
              <p:cNvSpPr>
                <a:spLocks noChangeArrowheads="1"/>
              </p:cNvSpPr>
              <p:nvPr/>
            </p:nvSpPr>
            <p:spPr bwMode="auto">
              <a:xfrm>
                <a:off x="2746" y="3153"/>
                <a:ext cx="124" cy="108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r>
                  <a:rPr lang="en-US" sz="600" dirty="0">
                    <a:solidFill>
                      <a:srgbClr val="000000"/>
                    </a:solidFill>
                    <a:latin typeface="+mj-lt"/>
                  </a:rPr>
                  <a:t>0</a:t>
                </a:r>
              </a:p>
            </p:txBody>
          </p:sp>
          <p:sp>
            <p:nvSpPr>
              <p:cNvPr id="54444" name="Rectangle 166"/>
              <p:cNvSpPr>
                <a:spLocks noChangeArrowheads="1"/>
              </p:cNvSpPr>
              <p:nvPr/>
            </p:nvSpPr>
            <p:spPr bwMode="auto">
              <a:xfrm>
                <a:off x="2743" y="3354"/>
                <a:ext cx="124" cy="108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r>
                  <a:rPr lang="en-US" sz="600">
                    <a:solidFill>
                      <a:srgbClr val="000000"/>
                    </a:solidFill>
                    <a:latin typeface="+mj-lt"/>
                  </a:rPr>
                  <a:t>1</a:t>
                </a:r>
              </a:p>
            </p:txBody>
          </p:sp>
          <p:sp>
            <p:nvSpPr>
              <p:cNvPr id="54445" name="Rectangle 167"/>
              <p:cNvSpPr>
                <a:spLocks noChangeArrowheads="1"/>
              </p:cNvSpPr>
              <p:nvPr/>
            </p:nvSpPr>
            <p:spPr bwMode="auto">
              <a:xfrm>
                <a:off x="2795" y="3238"/>
                <a:ext cx="40" cy="132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>
                  <a:lnSpc>
                    <a:spcPct val="70000"/>
                  </a:lnSpc>
                </a:pPr>
                <a:r>
                  <a:rPr lang="en-US" sz="700">
                    <a:solidFill>
                      <a:srgbClr val="000000"/>
                    </a:solidFill>
                    <a:latin typeface="+mj-lt"/>
                  </a:rPr>
                  <a:t>m</a:t>
                </a:r>
              </a:p>
              <a:p>
                <a:pPr algn="ctr">
                  <a:lnSpc>
                    <a:spcPct val="70000"/>
                  </a:lnSpc>
                </a:pPr>
                <a:r>
                  <a:rPr lang="en-US" sz="700">
                    <a:solidFill>
                      <a:srgbClr val="000000"/>
                    </a:solidFill>
                    <a:latin typeface="+mj-lt"/>
                  </a:rPr>
                  <a:t>u</a:t>
                </a:r>
              </a:p>
              <a:p>
                <a:pPr algn="ctr">
                  <a:lnSpc>
                    <a:spcPct val="70000"/>
                  </a:lnSpc>
                </a:pPr>
                <a:r>
                  <a:rPr lang="en-US" sz="700">
                    <a:solidFill>
                      <a:srgbClr val="000000"/>
                    </a:solidFill>
                    <a:latin typeface="+mj-lt"/>
                  </a:rPr>
                  <a:t>x</a:t>
                </a:r>
                <a:endParaRPr lang="en-US" sz="400">
                  <a:solidFill>
                    <a:srgbClr val="000000"/>
                  </a:solidFill>
                  <a:latin typeface="+mj-lt"/>
                </a:endParaRPr>
              </a:p>
            </p:txBody>
          </p:sp>
          <p:sp>
            <p:nvSpPr>
              <p:cNvPr id="54446" name="AutoShape 168"/>
              <p:cNvSpPr>
                <a:spLocks noChangeArrowheads="1"/>
              </p:cNvSpPr>
              <p:nvPr/>
            </p:nvSpPr>
            <p:spPr bwMode="auto">
              <a:xfrm rot="5400000">
                <a:off x="2665" y="3263"/>
                <a:ext cx="297" cy="96"/>
              </a:xfrm>
              <a:prstGeom prst="flowChartTerminator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>
                  <a:latin typeface="+mj-lt"/>
                </a:endParaRPr>
              </a:p>
            </p:txBody>
          </p:sp>
        </p:grpSp>
        <p:grpSp>
          <p:nvGrpSpPr>
            <p:cNvPr id="54430" name="Group 169"/>
            <p:cNvGrpSpPr>
              <a:grpSpLocks/>
            </p:cNvGrpSpPr>
            <p:nvPr/>
          </p:nvGrpSpPr>
          <p:grpSpPr bwMode="auto">
            <a:xfrm>
              <a:off x="4899" y="2686"/>
              <a:ext cx="127" cy="309"/>
              <a:chOff x="2742" y="3153"/>
              <a:chExt cx="127" cy="309"/>
            </a:xfrm>
          </p:grpSpPr>
          <p:sp>
            <p:nvSpPr>
              <p:cNvPr id="54439" name="Rectangle 170"/>
              <p:cNvSpPr>
                <a:spLocks noChangeArrowheads="1"/>
              </p:cNvSpPr>
              <p:nvPr/>
            </p:nvSpPr>
            <p:spPr bwMode="auto">
              <a:xfrm>
                <a:off x="2745" y="3153"/>
                <a:ext cx="124" cy="108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r>
                  <a:rPr lang="en-US" sz="600" dirty="0">
                    <a:solidFill>
                      <a:srgbClr val="000000"/>
                    </a:solidFill>
                    <a:latin typeface="+mj-lt"/>
                  </a:rPr>
                  <a:t>0</a:t>
                </a:r>
              </a:p>
            </p:txBody>
          </p:sp>
          <p:sp>
            <p:nvSpPr>
              <p:cNvPr id="54440" name="Rectangle 171"/>
              <p:cNvSpPr>
                <a:spLocks noChangeArrowheads="1"/>
              </p:cNvSpPr>
              <p:nvPr/>
            </p:nvSpPr>
            <p:spPr bwMode="auto">
              <a:xfrm>
                <a:off x="2742" y="3354"/>
                <a:ext cx="124" cy="108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r>
                  <a:rPr lang="en-US" sz="600" dirty="0">
                    <a:solidFill>
                      <a:srgbClr val="000000"/>
                    </a:solidFill>
                    <a:latin typeface="+mj-lt"/>
                  </a:rPr>
                  <a:t>1</a:t>
                </a:r>
              </a:p>
            </p:txBody>
          </p:sp>
          <p:sp>
            <p:nvSpPr>
              <p:cNvPr id="54441" name="Rectangle 172"/>
              <p:cNvSpPr>
                <a:spLocks noChangeArrowheads="1"/>
              </p:cNvSpPr>
              <p:nvPr/>
            </p:nvSpPr>
            <p:spPr bwMode="auto">
              <a:xfrm>
                <a:off x="2795" y="3238"/>
                <a:ext cx="40" cy="132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>
                  <a:lnSpc>
                    <a:spcPct val="70000"/>
                  </a:lnSpc>
                </a:pPr>
                <a:r>
                  <a:rPr lang="en-US" sz="700">
                    <a:solidFill>
                      <a:srgbClr val="000000"/>
                    </a:solidFill>
                    <a:latin typeface="+mj-lt"/>
                  </a:rPr>
                  <a:t>m</a:t>
                </a:r>
              </a:p>
              <a:p>
                <a:pPr algn="ctr">
                  <a:lnSpc>
                    <a:spcPct val="70000"/>
                  </a:lnSpc>
                </a:pPr>
                <a:r>
                  <a:rPr lang="en-US" sz="700">
                    <a:solidFill>
                      <a:srgbClr val="000000"/>
                    </a:solidFill>
                    <a:latin typeface="+mj-lt"/>
                  </a:rPr>
                  <a:t>u</a:t>
                </a:r>
              </a:p>
              <a:p>
                <a:pPr algn="ctr">
                  <a:lnSpc>
                    <a:spcPct val="70000"/>
                  </a:lnSpc>
                </a:pPr>
                <a:r>
                  <a:rPr lang="en-US" sz="700">
                    <a:solidFill>
                      <a:srgbClr val="000000"/>
                    </a:solidFill>
                    <a:latin typeface="+mj-lt"/>
                  </a:rPr>
                  <a:t>x</a:t>
                </a:r>
                <a:endParaRPr lang="en-US" sz="400">
                  <a:solidFill>
                    <a:srgbClr val="000000"/>
                  </a:solidFill>
                  <a:latin typeface="+mj-lt"/>
                </a:endParaRPr>
              </a:p>
            </p:txBody>
          </p:sp>
          <p:sp>
            <p:nvSpPr>
              <p:cNvPr id="54442" name="AutoShape 173"/>
              <p:cNvSpPr>
                <a:spLocks noChangeArrowheads="1"/>
              </p:cNvSpPr>
              <p:nvPr/>
            </p:nvSpPr>
            <p:spPr bwMode="auto">
              <a:xfrm rot="5400000">
                <a:off x="2665" y="3263"/>
                <a:ext cx="297" cy="96"/>
              </a:xfrm>
              <a:prstGeom prst="flowChartTerminator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>
                  <a:latin typeface="+mj-lt"/>
                </a:endParaRPr>
              </a:p>
            </p:txBody>
          </p:sp>
        </p:grpSp>
        <p:sp>
          <p:nvSpPr>
            <p:cNvPr id="54431" name="Rectangle 174"/>
            <p:cNvSpPr>
              <a:spLocks noChangeArrowheads="1"/>
            </p:cNvSpPr>
            <p:nvPr/>
          </p:nvSpPr>
          <p:spPr bwMode="auto">
            <a:xfrm>
              <a:off x="882" y="2648"/>
              <a:ext cx="282" cy="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900" dirty="0">
                  <a:solidFill>
                    <a:srgbClr val="000000"/>
                  </a:solidFill>
                  <a:latin typeface="+mj-lt"/>
                </a:rPr>
                <a:t>Instruction</a:t>
              </a:r>
              <a:endParaRPr lang="en-US" sz="500" dirty="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432" name="Line 175"/>
            <p:cNvSpPr>
              <a:spLocks noChangeShapeType="1"/>
            </p:cNvSpPr>
            <p:nvPr/>
          </p:nvSpPr>
          <p:spPr bwMode="auto">
            <a:xfrm flipV="1">
              <a:off x="1638" y="2431"/>
              <a:ext cx="0" cy="121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33" name="Line 176"/>
            <p:cNvSpPr>
              <a:spLocks noChangeShapeType="1"/>
            </p:cNvSpPr>
            <p:nvPr/>
          </p:nvSpPr>
          <p:spPr bwMode="auto">
            <a:xfrm flipV="1">
              <a:off x="1639" y="3643"/>
              <a:ext cx="794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34" name="Line 177"/>
            <p:cNvSpPr>
              <a:spLocks noChangeShapeType="1"/>
            </p:cNvSpPr>
            <p:nvPr/>
          </p:nvSpPr>
          <p:spPr bwMode="auto">
            <a:xfrm flipH="1">
              <a:off x="777" y="1594"/>
              <a:ext cx="30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35" name="Line 178"/>
            <p:cNvSpPr>
              <a:spLocks noChangeShapeType="1"/>
            </p:cNvSpPr>
            <p:nvPr/>
          </p:nvSpPr>
          <p:spPr bwMode="auto">
            <a:xfrm flipV="1">
              <a:off x="3969" y="2359"/>
              <a:ext cx="65" cy="2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36" name="Line 179"/>
            <p:cNvSpPr>
              <a:spLocks noChangeShapeType="1"/>
            </p:cNvSpPr>
            <p:nvPr/>
          </p:nvSpPr>
          <p:spPr bwMode="auto">
            <a:xfrm rot="-5400000" flipH="1" flipV="1">
              <a:off x="3566" y="1901"/>
              <a:ext cx="926" cy="1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37" name="Line 180"/>
            <p:cNvSpPr>
              <a:spLocks noChangeShapeType="1"/>
            </p:cNvSpPr>
            <p:nvPr/>
          </p:nvSpPr>
          <p:spPr bwMode="auto">
            <a:xfrm>
              <a:off x="720" y="1438"/>
              <a:ext cx="3312" cy="0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38" name="Line 181"/>
            <p:cNvSpPr>
              <a:spLocks noChangeShapeType="1"/>
            </p:cNvSpPr>
            <p:nvPr/>
          </p:nvSpPr>
          <p:spPr bwMode="auto">
            <a:xfrm rot="-5400000" flipH="1" flipV="1">
              <a:off x="670" y="1491"/>
              <a:ext cx="107" cy="1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20" name="Rectangle 36"/>
            <p:cNvSpPr>
              <a:spLocks noChangeArrowheads="1"/>
            </p:cNvSpPr>
            <p:nvPr/>
          </p:nvSpPr>
          <p:spPr bwMode="auto">
            <a:xfrm>
              <a:off x="2658" y="2526"/>
              <a:ext cx="215" cy="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50" dirty="0" err="1">
                  <a:solidFill>
                    <a:srgbClr val="EB7500"/>
                  </a:solidFill>
                  <a:latin typeface="+mj-lt"/>
                </a:rPr>
                <a:t>ALUSrc</a:t>
              </a:r>
              <a:endParaRPr lang="en-US" sz="700" dirty="0">
                <a:solidFill>
                  <a:srgbClr val="EB7500"/>
                </a:solidFill>
                <a:latin typeface="+mj-lt"/>
              </a:endParaRPr>
            </a:p>
          </p:txBody>
        </p:sp>
        <p:sp>
          <p:nvSpPr>
            <p:cNvPr id="54348" name="Rectangle 64"/>
            <p:cNvSpPr>
              <a:spLocks noChangeArrowheads="1"/>
            </p:cNvSpPr>
            <p:nvPr/>
          </p:nvSpPr>
          <p:spPr bwMode="auto">
            <a:xfrm>
              <a:off x="3034" y="3421"/>
              <a:ext cx="217" cy="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50" dirty="0" err="1">
                  <a:solidFill>
                    <a:srgbClr val="EB7500"/>
                  </a:solidFill>
                  <a:latin typeface="+mj-lt"/>
                </a:rPr>
                <a:t>ALUOp</a:t>
              </a:r>
              <a:endParaRPr lang="en-US" sz="1050" dirty="0">
                <a:solidFill>
                  <a:srgbClr val="EB7500"/>
                </a:solidFill>
                <a:latin typeface="+mj-lt"/>
              </a:endParaRPr>
            </a:p>
          </p:txBody>
        </p:sp>
        <p:sp>
          <p:nvSpPr>
            <p:cNvPr id="54349" name="Rectangle 65"/>
            <p:cNvSpPr>
              <a:spLocks noChangeArrowheads="1"/>
            </p:cNvSpPr>
            <p:nvPr/>
          </p:nvSpPr>
          <p:spPr bwMode="auto">
            <a:xfrm>
              <a:off x="2841" y="3700"/>
              <a:ext cx="214" cy="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50">
                  <a:solidFill>
                    <a:srgbClr val="EB7500"/>
                  </a:solidFill>
                  <a:latin typeface="+mj-lt"/>
                </a:rPr>
                <a:t>RegDst</a:t>
              </a:r>
            </a:p>
          </p:txBody>
        </p:sp>
        <p:sp>
          <p:nvSpPr>
            <p:cNvPr id="54352" name="Rectangle 68"/>
            <p:cNvSpPr>
              <a:spLocks noChangeArrowheads="1"/>
            </p:cNvSpPr>
            <p:nvPr/>
          </p:nvSpPr>
          <p:spPr bwMode="auto">
            <a:xfrm>
              <a:off x="1913" y="2186"/>
              <a:ext cx="294" cy="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50" dirty="0" err="1">
                  <a:solidFill>
                    <a:srgbClr val="EB7500"/>
                  </a:solidFill>
                  <a:latin typeface="+mj-lt"/>
                </a:rPr>
                <a:t>RegWrite</a:t>
              </a:r>
              <a:endParaRPr lang="en-US" sz="1050" dirty="0">
                <a:solidFill>
                  <a:srgbClr val="EB7500"/>
                </a:solidFill>
                <a:latin typeface="+mj-lt"/>
              </a:endParaRPr>
            </a:p>
          </p:txBody>
        </p:sp>
        <p:sp>
          <p:nvSpPr>
            <p:cNvPr id="54388" name="Rectangle 112"/>
            <p:cNvSpPr>
              <a:spLocks noChangeArrowheads="1"/>
            </p:cNvSpPr>
            <p:nvPr/>
          </p:nvSpPr>
          <p:spPr bwMode="auto">
            <a:xfrm>
              <a:off x="3734" y="2172"/>
              <a:ext cx="220" cy="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50">
                  <a:solidFill>
                    <a:srgbClr val="EB7500"/>
                  </a:solidFill>
                  <a:latin typeface="+mj-lt"/>
                </a:rPr>
                <a:t>Branch</a:t>
              </a:r>
            </a:p>
          </p:txBody>
        </p:sp>
        <p:sp>
          <p:nvSpPr>
            <p:cNvPr id="54389" name="Rectangle 113"/>
            <p:cNvSpPr>
              <a:spLocks noChangeArrowheads="1"/>
            </p:cNvSpPr>
            <p:nvPr/>
          </p:nvSpPr>
          <p:spPr bwMode="auto">
            <a:xfrm>
              <a:off x="4056" y="1582"/>
              <a:ext cx="170" cy="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50">
                  <a:solidFill>
                    <a:srgbClr val="EB7500"/>
                  </a:solidFill>
                  <a:latin typeface="+mj-lt"/>
                </a:rPr>
                <a:t>PCSrc</a:t>
              </a:r>
            </a:p>
          </p:txBody>
        </p:sp>
        <p:sp>
          <p:nvSpPr>
            <p:cNvPr id="54399" name="Rectangle 123"/>
            <p:cNvSpPr>
              <a:spLocks noChangeArrowheads="1"/>
            </p:cNvSpPr>
            <p:nvPr/>
          </p:nvSpPr>
          <p:spPr bwMode="auto">
            <a:xfrm>
              <a:off x="4827" y="2541"/>
              <a:ext cx="341" cy="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50" dirty="0" err="1">
                  <a:solidFill>
                    <a:srgbClr val="EB7500"/>
                  </a:solidFill>
                  <a:latin typeface="+mj-lt"/>
                </a:rPr>
                <a:t>MemtoReg</a:t>
              </a:r>
              <a:endParaRPr lang="en-US" sz="1050" dirty="0">
                <a:solidFill>
                  <a:srgbClr val="EB7500"/>
                </a:solidFill>
                <a:latin typeface="+mj-lt"/>
              </a:endParaRPr>
            </a:p>
          </p:txBody>
        </p:sp>
      </p:grpSp>
      <p:sp>
        <p:nvSpPr>
          <p:cNvPr id="3" name="Rectangle 2"/>
          <p:cNvSpPr/>
          <p:nvPr/>
        </p:nvSpPr>
        <p:spPr>
          <a:xfrm>
            <a:off x="2902559" y="762000"/>
            <a:ext cx="219002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  <a:latin typeface="+mj-lt"/>
              </a:rPr>
              <a:t>R1 </a:t>
            </a:r>
            <a:r>
              <a:rPr lang="en-US" sz="2000" dirty="0">
                <a:solidFill>
                  <a:srgbClr val="0070C0"/>
                </a:solidFill>
                <a:latin typeface="+mj-lt"/>
                <a:sym typeface="Symbol" pitchFamily="18" charset="2"/>
              </a:rPr>
              <a:t> </a:t>
            </a:r>
            <a:r>
              <a:rPr lang="en-US" sz="2000" dirty="0" err="1">
                <a:solidFill>
                  <a:srgbClr val="0070C0"/>
                </a:solidFill>
                <a:latin typeface="+mj-lt"/>
                <a:sym typeface="Symbol" pitchFamily="18" charset="2"/>
              </a:rPr>
              <a:t>Mem</a:t>
            </a:r>
            <a:r>
              <a:rPr lang="en-US" sz="2000" dirty="0">
                <a:solidFill>
                  <a:srgbClr val="0070C0"/>
                </a:solidFill>
                <a:latin typeface="+mj-lt"/>
                <a:sym typeface="Symbol" pitchFamily="18" charset="2"/>
              </a:rPr>
              <a:t>[R2+30]</a:t>
            </a:r>
            <a:endParaRPr lang="en-US" sz="2000" dirty="0">
              <a:solidFill>
                <a:srgbClr val="0070C0"/>
              </a:solidFill>
              <a:latin typeface="+mj-lt"/>
            </a:endParaRPr>
          </a:p>
        </p:txBody>
      </p:sp>
      <p:sp>
        <p:nvSpPr>
          <p:cNvPr id="197" name="Rectangle 287"/>
          <p:cNvSpPr>
            <a:spLocks noChangeArrowheads="1"/>
          </p:cNvSpPr>
          <p:nvPr/>
        </p:nvSpPr>
        <p:spPr bwMode="auto">
          <a:xfrm>
            <a:off x="6776553" y="697468"/>
            <a:ext cx="345607" cy="369332"/>
          </a:xfrm>
          <a:prstGeom prst="rect">
            <a:avLst/>
          </a:prstGeom>
          <a:solidFill>
            <a:schemeClr val="bg1">
              <a:alpha val="85000"/>
            </a:schemeClr>
          </a:solidFill>
          <a:ln w="12700">
            <a:noFill/>
            <a:miter lim="800000"/>
            <a:headEnd type="none" w="sm" len="sm"/>
            <a:tailEnd type="none" w="lg" len="med"/>
          </a:ln>
        </p:spPr>
        <p:txBody>
          <a:bodyPr wrap="none" lIns="45720" tIns="45720" rIns="45720" bIns="4572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  <a:latin typeface="+mj-lt"/>
              </a:rPr>
              <a:t>PC</a:t>
            </a:r>
            <a:endParaRPr lang="en-US" dirty="0">
              <a:solidFill>
                <a:srgbClr val="FF0000"/>
              </a:solidFill>
              <a:latin typeface="+mj-lt"/>
            </a:endParaRPr>
          </a:p>
        </p:txBody>
      </p:sp>
      <p:cxnSp>
        <p:nvCxnSpPr>
          <p:cNvPr id="7" name="Straight Arrow Connector 6"/>
          <p:cNvCxnSpPr>
            <a:stCxn id="197" idx="2"/>
          </p:cNvCxnSpPr>
          <p:nvPr/>
        </p:nvCxnSpPr>
        <p:spPr bwMode="auto">
          <a:xfrm>
            <a:off x="6949357" y="1066800"/>
            <a:ext cx="5497" cy="228600"/>
          </a:xfrm>
          <a:prstGeom prst="straightConnector1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arrow"/>
          </a:ln>
          <a:effectLst/>
        </p:spPr>
      </p:cxnSp>
      <p:sp>
        <p:nvSpPr>
          <p:cNvPr id="201" name="Rectangle 266"/>
          <p:cNvSpPr>
            <a:spLocks noChangeArrowheads="1"/>
          </p:cNvSpPr>
          <p:nvPr/>
        </p:nvSpPr>
        <p:spPr bwMode="auto">
          <a:xfrm>
            <a:off x="2200320" y="4431268"/>
            <a:ext cx="573875" cy="369332"/>
          </a:xfrm>
          <a:prstGeom prst="rect">
            <a:avLst/>
          </a:prstGeom>
          <a:solidFill>
            <a:schemeClr val="bg1">
              <a:alpha val="85000"/>
            </a:schemeClr>
          </a:solidFill>
          <a:ln w="12700">
            <a:noFill/>
            <a:miter lim="800000"/>
            <a:headEnd type="none" w="sm" len="sm"/>
            <a:tailEnd type="none" w="lg" len="med"/>
          </a:ln>
        </p:spPr>
        <p:txBody>
          <a:bodyPr wrap="none" lIns="45720" tIns="45720" rIns="45720" bIns="4572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  <a:latin typeface="+mj-lt"/>
              </a:rPr>
              <a:t>DATA</a:t>
            </a:r>
            <a:endParaRPr lang="en-US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196" name="Rectangle 266"/>
          <p:cNvSpPr>
            <a:spLocks noChangeArrowheads="1"/>
          </p:cNvSpPr>
          <p:nvPr/>
        </p:nvSpPr>
        <p:spPr bwMode="auto">
          <a:xfrm>
            <a:off x="2592415" y="4127480"/>
            <a:ext cx="209353" cy="369332"/>
          </a:xfrm>
          <a:prstGeom prst="rect">
            <a:avLst/>
          </a:prstGeom>
          <a:solidFill>
            <a:schemeClr val="bg1">
              <a:alpha val="85000"/>
            </a:schemeClr>
          </a:solidFill>
          <a:ln w="12700">
            <a:noFill/>
            <a:miter lim="800000"/>
            <a:headEnd type="none" w="sm" len="sm"/>
            <a:tailEnd type="none" w="lg" len="med"/>
          </a:ln>
        </p:spPr>
        <p:txBody>
          <a:bodyPr wrap="none" lIns="45720" tIns="45720" rIns="45720" bIns="4572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+mj-lt"/>
              </a:rPr>
              <a:t>1</a:t>
            </a:r>
          </a:p>
        </p:txBody>
      </p:sp>
      <p:sp>
        <p:nvSpPr>
          <p:cNvPr id="199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76200"/>
            <a:ext cx="7772400" cy="762000"/>
          </a:xfrm>
        </p:spPr>
        <p:txBody>
          <a:bodyPr/>
          <a:lstStyle/>
          <a:p>
            <a:pPr algn="l"/>
            <a:r>
              <a:rPr lang="en-US" sz="3200" dirty="0" smtClean="0">
                <a:solidFill>
                  <a:srgbClr val="0070C0"/>
                </a:solidFill>
              </a:rPr>
              <a:t>Pipelined execution: Load (cycle 5 – WB)</a:t>
            </a:r>
          </a:p>
        </p:txBody>
      </p:sp>
    </p:spTree>
    <p:extLst>
      <p:ext uri="{BB962C8B-B14F-4D97-AF65-F5344CB8AC3E}">
        <p14:creationId xmlns:p14="http://schemas.microsoft.com/office/powerpoint/2010/main" val="146725861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  <p:extLst mod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>
          <a:xfrm>
            <a:off x="2011167" y="76198"/>
            <a:ext cx="5612734" cy="762000"/>
          </a:xfrm>
        </p:spPr>
        <p:txBody>
          <a:bodyPr/>
          <a:lstStyle/>
          <a:p>
            <a:pPr algn="l"/>
            <a:r>
              <a:rPr lang="en-US" sz="3200" dirty="0" smtClean="0">
                <a:solidFill>
                  <a:srgbClr val="0070C0"/>
                </a:solidFill>
              </a:rPr>
              <a:t>Pipelined execution: cycle 1</a:t>
            </a:r>
          </a:p>
        </p:txBody>
      </p:sp>
      <p:grpSp>
        <p:nvGrpSpPr>
          <p:cNvPr id="54275" name="Group 313"/>
          <p:cNvGrpSpPr>
            <a:grpSpLocks/>
          </p:cNvGrpSpPr>
          <p:nvPr/>
        </p:nvGrpSpPr>
        <p:grpSpPr bwMode="auto">
          <a:xfrm>
            <a:off x="152400" y="838199"/>
            <a:ext cx="8690415" cy="4191001"/>
            <a:chOff x="360" y="1438"/>
            <a:chExt cx="4808" cy="2450"/>
          </a:xfrm>
        </p:grpSpPr>
        <p:sp>
          <p:nvSpPr>
            <p:cNvPr id="54297" name="Rectangle 137"/>
            <p:cNvSpPr>
              <a:spLocks noChangeArrowheads="1"/>
            </p:cNvSpPr>
            <p:nvPr/>
          </p:nvSpPr>
          <p:spPr bwMode="auto">
            <a:xfrm>
              <a:off x="720" y="2440"/>
              <a:ext cx="567" cy="582"/>
            </a:xfrm>
            <a:prstGeom prst="rect">
              <a:avLst/>
            </a:prstGeom>
            <a:solidFill>
              <a:srgbClr val="FFFFCC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298" name="Line 14"/>
            <p:cNvSpPr>
              <a:spLocks noChangeShapeType="1"/>
            </p:cNvSpPr>
            <p:nvPr/>
          </p:nvSpPr>
          <p:spPr bwMode="auto">
            <a:xfrm>
              <a:off x="588" y="2513"/>
              <a:ext cx="136" cy="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299" name="Line 15"/>
            <p:cNvSpPr>
              <a:spLocks noChangeShapeType="1"/>
            </p:cNvSpPr>
            <p:nvPr/>
          </p:nvSpPr>
          <p:spPr bwMode="auto">
            <a:xfrm flipH="1" flipV="1">
              <a:off x="1989" y="3197"/>
              <a:ext cx="34" cy="5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00" name="Rectangle 16"/>
            <p:cNvSpPr>
              <a:spLocks noChangeArrowheads="1"/>
            </p:cNvSpPr>
            <p:nvPr/>
          </p:nvSpPr>
          <p:spPr bwMode="auto">
            <a:xfrm>
              <a:off x="1915" y="3275"/>
              <a:ext cx="103" cy="1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algn="ctr"/>
              <a:endParaRPr lang="en-US" sz="600">
                <a:solidFill>
                  <a:srgbClr val="000000"/>
                </a:solidFill>
                <a:latin typeface="+mj-lt"/>
              </a:endParaRPr>
            </a:p>
            <a:p>
              <a:pPr algn="ctr"/>
              <a:endParaRPr lang="en-US" sz="6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301" name="Line 17"/>
            <p:cNvSpPr>
              <a:spLocks noChangeShapeType="1"/>
            </p:cNvSpPr>
            <p:nvPr/>
          </p:nvSpPr>
          <p:spPr bwMode="auto">
            <a:xfrm flipH="1" flipV="1">
              <a:off x="2338" y="3197"/>
              <a:ext cx="32" cy="5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02" name="Freeform 18"/>
            <p:cNvSpPr>
              <a:spLocks/>
            </p:cNvSpPr>
            <p:nvPr/>
          </p:nvSpPr>
          <p:spPr bwMode="auto">
            <a:xfrm>
              <a:off x="1810" y="2350"/>
              <a:ext cx="519" cy="612"/>
            </a:xfrm>
            <a:custGeom>
              <a:avLst/>
              <a:gdLst>
                <a:gd name="T0" fmla="*/ 518 w 519"/>
                <a:gd name="T1" fmla="*/ 611 h 541"/>
                <a:gd name="T2" fmla="*/ 518 w 519"/>
                <a:gd name="T3" fmla="*/ 0 h 541"/>
                <a:gd name="T4" fmla="*/ 0 w 519"/>
                <a:gd name="T5" fmla="*/ 0 h 541"/>
                <a:gd name="T6" fmla="*/ 0 w 519"/>
                <a:gd name="T7" fmla="*/ 611 h 541"/>
                <a:gd name="T8" fmla="*/ 518 w 519"/>
                <a:gd name="T9" fmla="*/ 611 h 541"/>
                <a:gd name="T10" fmla="*/ 518 w 519"/>
                <a:gd name="T11" fmla="*/ 611 h 5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19"/>
                <a:gd name="T19" fmla="*/ 0 h 541"/>
                <a:gd name="T20" fmla="*/ 519 w 519"/>
                <a:gd name="T21" fmla="*/ 541 h 54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19" h="541">
                  <a:moveTo>
                    <a:pt x="518" y="540"/>
                  </a:moveTo>
                  <a:lnTo>
                    <a:pt x="518" y="0"/>
                  </a:lnTo>
                  <a:lnTo>
                    <a:pt x="0" y="0"/>
                  </a:lnTo>
                  <a:lnTo>
                    <a:pt x="0" y="540"/>
                  </a:lnTo>
                  <a:lnTo>
                    <a:pt x="518" y="540"/>
                  </a:lnTo>
                </a:path>
              </a:pathLst>
            </a:custGeom>
            <a:solidFill>
              <a:srgbClr val="CCFFFF"/>
            </a:solidFill>
            <a:ln w="190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03" name="Rectangle 19"/>
            <p:cNvSpPr>
              <a:spLocks noChangeArrowheads="1"/>
            </p:cNvSpPr>
            <p:nvPr/>
          </p:nvSpPr>
          <p:spPr bwMode="auto">
            <a:xfrm>
              <a:off x="1885" y="2392"/>
              <a:ext cx="103" cy="1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algn="ctr"/>
              <a:endParaRPr lang="en-US" sz="600">
                <a:solidFill>
                  <a:srgbClr val="000000"/>
                </a:solidFill>
                <a:latin typeface="+mj-lt"/>
              </a:endParaRPr>
            </a:p>
            <a:p>
              <a:pPr algn="ctr"/>
              <a:endParaRPr lang="en-US" sz="6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304" name="Line 20"/>
            <p:cNvSpPr>
              <a:spLocks noChangeShapeType="1"/>
            </p:cNvSpPr>
            <p:nvPr/>
          </p:nvSpPr>
          <p:spPr bwMode="auto">
            <a:xfrm>
              <a:off x="1657" y="3225"/>
              <a:ext cx="434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05" name="Line 21"/>
            <p:cNvSpPr>
              <a:spLocks noChangeShapeType="1"/>
            </p:cNvSpPr>
            <p:nvPr/>
          </p:nvSpPr>
          <p:spPr bwMode="auto">
            <a:xfrm flipV="1">
              <a:off x="2302" y="3225"/>
              <a:ext cx="131" cy="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06" name="Freeform 22"/>
            <p:cNvSpPr>
              <a:spLocks/>
            </p:cNvSpPr>
            <p:nvPr/>
          </p:nvSpPr>
          <p:spPr bwMode="auto">
            <a:xfrm>
              <a:off x="1629" y="2679"/>
              <a:ext cx="24" cy="24"/>
            </a:xfrm>
            <a:custGeom>
              <a:avLst/>
              <a:gdLst>
                <a:gd name="T0" fmla="*/ 10 w 24"/>
                <a:gd name="T1" fmla="*/ 23 h 24"/>
                <a:gd name="T2" fmla="*/ 14 w 24"/>
                <a:gd name="T3" fmla="*/ 23 h 24"/>
                <a:gd name="T4" fmla="*/ 16 w 24"/>
                <a:gd name="T5" fmla="*/ 23 h 24"/>
                <a:gd name="T6" fmla="*/ 18 w 24"/>
                <a:gd name="T7" fmla="*/ 21 h 24"/>
                <a:gd name="T8" fmla="*/ 18 w 24"/>
                <a:gd name="T9" fmla="*/ 21 h 24"/>
                <a:gd name="T10" fmla="*/ 20 w 24"/>
                <a:gd name="T11" fmla="*/ 19 h 24"/>
                <a:gd name="T12" fmla="*/ 22 w 24"/>
                <a:gd name="T13" fmla="*/ 19 h 24"/>
                <a:gd name="T14" fmla="*/ 22 w 24"/>
                <a:gd name="T15" fmla="*/ 17 h 24"/>
                <a:gd name="T16" fmla="*/ 23 w 24"/>
                <a:gd name="T17" fmla="*/ 15 h 24"/>
                <a:gd name="T18" fmla="*/ 23 w 24"/>
                <a:gd name="T19" fmla="*/ 13 h 24"/>
                <a:gd name="T20" fmla="*/ 23 w 24"/>
                <a:gd name="T21" fmla="*/ 11 h 24"/>
                <a:gd name="T22" fmla="*/ 23 w 24"/>
                <a:gd name="T23" fmla="*/ 9 h 24"/>
                <a:gd name="T24" fmla="*/ 23 w 24"/>
                <a:gd name="T25" fmla="*/ 7 h 24"/>
                <a:gd name="T26" fmla="*/ 22 w 24"/>
                <a:gd name="T27" fmla="*/ 5 h 24"/>
                <a:gd name="T28" fmla="*/ 22 w 24"/>
                <a:gd name="T29" fmla="*/ 5 h 24"/>
                <a:gd name="T30" fmla="*/ 20 w 24"/>
                <a:gd name="T31" fmla="*/ 4 h 24"/>
                <a:gd name="T32" fmla="*/ 18 w 24"/>
                <a:gd name="T33" fmla="*/ 2 h 24"/>
                <a:gd name="T34" fmla="*/ 18 w 24"/>
                <a:gd name="T35" fmla="*/ 2 h 24"/>
                <a:gd name="T36" fmla="*/ 16 w 24"/>
                <a:gd name="T37" fmla="*/ 0 h 24"/>
                <a:gd name="T38" fmla="*/ 14 w 24"/>
                <a:gd name="T39" fmla="*/ 0 h 24"/>
                <a:gd name="T40" fmla="*/ 12 w 24"/>
                <a:gd name="T41" fmla="*/ 0 h 24"/>
                <a:gd name="T42" fmla="*/ 10 w 24"/>
                <a:gd name="T43" fmla="*/ 0 h 24"/>
                <a:gd name="T44" fmla="*/ 8 w 24"/>
                <a:gd name="T45" fmla="*/ 0 h 24"/>
                <a:gd name="T46" fmla="*/ 6 w 24"/>
                <a:gd name="T47" fmla="*/ 2 h 24"/>
                <a:gd name="T48" fmla="*/ 4 w 24"/>
                <a:gd name="T49" fmla="*/ 2 h 24"/>
                <a:gd name="T50" fmla="*/ 4 w 24"/>
                <a:gd name="T51" fmla="*/ 4 h 24"/>
                <a:gd name="T52" fmla="*/ 2 w 24"/>
                <a:gd name="T53" fmla="*/ 5 h 24"/>
                <a:gd name="T54" fmla="*/ 2 w 24"/>
                <a:gd name="T55" fmla="*/ 5 h 24"/>
                <a:gd name="T56" fmla="*/ 0 w 24"/>
                <a:gd name="T57" fmla="*/ 7 h 24"/>
                <a:gd name="T58" fmla="*/ 0 w 24"/>
                <a:gd name="T59" fmla="*/ 9 h 24"/>
                <a:gd name="T60" fmla="*/ 0 w 24"/>
                <a:gd name="T61" fmla="*/ 11 h 24"/>
                <a:gd name="T62" fmla="*/ 0 w 24"/>
                <a:gd name="T63" fmla="*/ 13 h 24"/>
                <a:gd name="T64" fmla="*/ 0 w 24"/>
                <a:gd name="T65" fmla="*/ 15 h 24"/>
                <a:gd name="T66" fmla="*/ 2 w 24"/>
                <a:gd name="T67" fmla="*/ 17 h 24"/>
                <a:gd name="T68" fmla="*/ 2 w 24"/>
                <a:gd name="T69" fmla="*/ 19 h 24"/>
                <a:gd name="T70" fmla="*/ 4 w 24"/>
                <a:gd name="T71" fmla="*/ 19 h 24"/>
                <a:gd name="T72" fmla="*/ 4 w 24"/>
                <a:gd name="T73" fmla="*/ 21 h 24"/>
                <a:gd name="T74" fmla="*/ 6 w 24"/>
                <a:gd name="T75" fmla="*/ 21 h 24"/>
                <a:gd name="T76" fmla="*/ 8 w 24"/>
                <a:gd name="T77" fmla="*/ 23 h 24"/>
                <a:gd name="T78" fmla="*/ 10 w 24"/>
                <a:gd name="T79" fmla="*/ 23 h 24"/>
                <a:gd name="T80" fmla="*/ 12 w 24"/>
                <a:gd name="T81" fmla="*/ 23 h 24"/>
                <a:gd name="T82" fmla="*/ 12 w 24"/>
                <a:gd name="T83" fmla="*/ 23 h 24"/>
                <a:gd name="T84" fmla="*/ 10 w 24"/>
                <a:gd name="T85" fmla="*/ 23 h 2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4"/>
                <a:gd name="T130" fmla="*/ 0 h 24"/>
                <a:gd name="T131" fmla="*/ 24 w 24"/>
                <a:gd name="T132" fmla="*/ 24 h 24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4" h="24">
                  <a:moveTo>
                    <a:pt x="10" y="23"/>
                  </a:moveTo>
                  <a:lnTo>
                    <a:pt x="14" y="23"/>
                  </a:lnTo>
                  <a:lnTo>
                    <a:pt x="16" y="23"/>
                  </a:lnTo>
                  <a:lnTo>
                    <a:pt x="18" y="21"/>
                  </a:lnTo>
                  <a:lnTo>
                    <a:pt x="20" y="19"/>
                  </a:lnTo>
                  <a:lnTo>
                    <a:pt x="22" y="19"/>
                  </a:lnTo>
                  <a:lnTo>
                    <a:pt x="22" y="17"/>
                  </a:lnTo>
                  <a:lnTo>
                    <a:pt x="23" y="15"/>
                  </a:lnTo>
                  <a:lnTo>
                    <a:pt x="23" y="13"/>
                  </a:lnTo>
                  <a:lnTo>
                    <a:pt x="23" y="11"/>
                  </a:lnTo>
                  <a:lnTo>
                    <a:pt x="23" y="9"/>
                  </a:lnTo>
                  <a:lnTo>
                    <a:pt x="23" y="7"/>
                  </a:lnTo>
                  <a:lnTo>
                    <a:pt x="22" y="5"/>
                  </a:lnTo>
                  <a:lnTo>
                    <a:pt x="20" y="4"/>
                  </a:lnTo>
                  <a:lnTo>
                    <a:pt x="18" y="2"/>
                  </a:lnTo>
                  <a:lnTo>
                    <a:pt x="16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8" y="0"/>
                  </a:lnTo>
                  <a:lnTo>
                    <a:pt x="6" y="2"/>
                  </a:lnTo>
                  <a:lnTo>
                    <a:pt x="4" y="2"/>
                  </a:lnTo>
                  <a:lnTo>
                    <a:pt x="4" y="4"/>
                  </a:lnTo>
                  <a:lnTo>
                    <a:pt x="2" y="5"/>
                  </a:lnTo>
                  <a:lnTo>
                    <a:pt x="0" y="7"/>
                  </a:lnTo>
                  <a:lnTo>
                    <a:pt x="0" y="9"/>
                  </a:lnTo>
                  <a:lnTo>
                    <a:pt x="0" y="11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2" y="17"/>
                  </a:lnTo>
                  <a:lnTo>
                    <a:pt x="2" y="19"/>
                  </a:lnTo>
                  <a:lnTo>
                    <a:pt x="4" y="19"/>
                  </a:lnTo>
                  <a:lnTo>
                    <a:pt x="4" y="21"/>
                  </a:lnTo>
                  <a:lnTo>
                    <a:pt x="6" y="21"/>
                  </a:lnTo>
                  <a:lnTo>
                    <a:pt x="8" y="23"/>
                  </a:lnTo>
                  <a:lnTo>
                    <a:pt x="10" y="23"/>
                  </a:lnTo>
                  <a:lnTo>
                    <a:pt x="12" y="23"/>
                  </a:lnTo>
                  <a:lnTo>
                    <a:pt x="10" y="23"/>
                  </a:lnTo>
                </a:path>
              </a:pathLst>
            </a:custGeom>
            <a:solidFill>
              <a:srgbClr val="000000"/>
            </a:solidFill>
            <a:ln w="9525" cap="rnd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07" name="Freeform 23"/>
            <p:cNvSpPr>
              <a:spLocks/>
            </p:cNvSpPr>
            <p:nvPr/>
          </p:nvSpPr>
          <p:spPr bwMode="auto">
            <a:xfrm>
              <a:off x="1629" y="2586"/>
              <a:ext cx="24" cy="24"/>
            </a:xfrm>
            <a:custGeom>
              <a:avLst/>
              <a:gdLst>
                <a:gd name="T0" fmla="*/ 10 w 24"/>
                <a:gd name="T1" fmla="*/ 23 h 24"/>
                <a:gd name="T2" fmla="*/ 14 w 24"/>
                <a:gd name="T3" fmla="*/ 23 h 24"/>
                <a:gd name="T4" fmla="*/ 16 w 24"/>
                <a:gd name="T5" fmla="*/ 23 h 24"/>
                <a:gd name="T6" fmla="*/ 18 w 24"/>
                <a:gd name="T7" fmla="*/ 21 h 24"/>
                <a:gd name="T8" fmla="*/ 18 w 24"/>
                <a:gd name="T9" fmla="*/ 21 h 24"/>
                <a:gd name="T10" fmla="*/ 20 w 24"/>
                <a:gd name="T11" fmla="*/ 19 h 24"/>
                <a:gd name="T12" fmla="*/ 22 w 24"/>
                <a:gd name="T13" fmla="*/ 19 h 24"/>
                <a:gd name="T14" fmla="*/ 22 w 24"/>
                <a:gd name="T15" fmla="*/ 17 h 24"/>
                <a:gd name="T16" fmla="*/ 23 w 24"/>
                <a:gd name="T17" fmla="*/ 15 h 24"/>
                <a:gd name="T18" fmla="*/ 23 w 24"/>
                <a:gd name="T19" fmla="*/ 13 h 24"/>
                <a:gd name="T20" fmla="*/ 23 w 24"/>
                <a:gd name="T21" fmla="*/ 11 h 24"/>
                <a:gd name="T22" fmla="*/ 23 w 24"/>
                <a:gd name="T23" fmla="*/ 9 h 24"/>
                <a:gd name="T24" fmla="*/ 23 w 24"/>
                <a:gd name="T25" fmla="*/ 7 h 24"/>
                <a:gd name="T26" fmla="*/ 22 w 24"/>
                <a:gd name="T27" fmla="*/ 5 h 24"/>
                <a:gd name="T28" fmla="*/ 22 w 24"/>
                <a:gd name="T29" fmla="*/ 5 h 24"/>
                <a:gd name="T30" fmla="*/ 20 w 24"/>
                <a:gd name="T31" fmla="*/ 4 h 24"/>
                <a:gd name="T32" fmla="*/ 18 w 24"/>
                <a:gd name="T33" fmla="*/ 2 h 24"/>
                <a:gd name="T34" fmla="*/ 18 w 24"/>
                <a:gd name="T35" fmla="*/ 2 h 24"/>
                <a:gd name="T36" fmla="*/ 16 w 24"/>
                <a:gd name="T37" fmla="*/ 0 h 24"/>
                <a:gd name="T38" fmla="*/ 14 w 24"/>
                <a:gd name="T39" fmla="*/ 0 h 24"/>
                <a:gd name="T40" fmla="*/ 12 w 24"/>
                <a:gd name="T41" fmla="*/ 0 h 24"/>
                <a:gd name="T42" fmla="*/ 10 w 24"/>
                <a:gd name="T43" fmla="*/ 0 h 24"/>
                <a:gd name="T44" fmla="*/ 8 w 24"/>
                <a:gd name="T45" fmla="*/ 0 h 24"/>
                <a:gd name="T46" fmla="*/ 6 w 24"/>
                <a:gd name="T47" fmla="*/ 2 h 24"/>
                <a:gd name="T48" fmla="*/ 4 w 24"/>
                <a:gd name="T49" fmla="*/ 2 h 24"/>
                <a:gd name="T50" fmla="*/ 4 w 24"/>
                <a:gd name="T51" fmla="*/ 4 h 24"/>
                <a:gd name="T52" fmla="*/ 2 w 24"/>
                <a:gd name="T53" fmla="*/ 5 h 24"/>
                <a:gd name="T54" fmla="*/ 2 w 24"/>
                <a:gd name="T55" fmla="*/ 5 h 24"/>
                <a:gd name="T56" fmla="*/ 0 w 24"/>
                <a:gd name="T57" fmla="*/ 7 h 24"/>
                <a:gd name="T58" fmla="*/ 0 w 24"/>
                <a:gd name="T59" fmla="*/ 9 h 24"/>
                <a:gd name="T60" fmla="*/ 0 w 24"/>
                <a:gd name="T61" fmla="*/ 11 h 24"/>
                <a:gd name="T62" fmla="*/ 0 w 24"/>
                <a:gd name="T63" fmla="*/ 13 h 24"/>
                <a:gd name="T64" fmla="*/ 0 w 24"/>
                <a:gd name="T65" fmla="*/ 15 h 24"/>
                <a:gd name="T66" fmla="*/ 2 w 24"/>
                <a:gd name="T67" fmla="*/ 17 h 24"/>
                <a:gd name="T68" fmla="*/ 2 w 24"/>
                <a:gd name="T69" fmla="*/ 19 h 24"/>
                <a:gd name="T70" fmla="*/ 4 w 24"/>
                <a:gd name="T71" fmla="*/ 19 h 24"/>
                <a:gd name="T72" fmla="*/ 4 w 24"/>
                <a:gd name="T73" fmla="*/ 21 h 24"/>
                <a:gd name="T74" fmla="*/ 6 w 24"/>
                <a:gd name="T75" fmla="*/ 21 h 24"/>
                <a:gd name="T76" fmla="*/ 8 w 24"/>
                <a:gd name="T77" fmla="*/ 23 h 24"/>
                <a:gd name="T78" fmla="*/ 10 w 24"/>
                <a:gd name="T79" fmla="*/ 23 h 24"/>
                <a:gd name="T80" fmla="*/ 12 w 24"/>
                <a:gd name="T81" fmla="*/ 23 h 24"/>
                <a:gd name="T82" fmla="*/ 12 w 24"/>
                <a:gd name="T83" fmla="*/ 23 h 24"/>
                <a:gd name="T84" fmla="*/ 10 w 24"/>
                <a:gd name="T85" fmla="*/ 23 h 2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4"/>
                <a:gd name="T130" fmla="*/ 0 h 24"/>
                <a:gd name="T131" fmla="*/ 24 w 24"/>
                <a:gd name="T132" fmla="*/ 24 h 24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4" h="24">
                  <a:moveTo>
                    <a:pt x="10" y="23"/>
                  </a:moveTo>
                  <a:lnTo>
                    <a:pt x="14" y="23"/>
                  </a:lnTo>
                  <a:lnTo>
                    <a:pt x="16" y="23"/>
                  </a:lnTo>
                  <a:lnTo>
                    <a:pt x="18" y="21"/>
                  </a:lnTo>
                  <a:lnTo>
                    <a:pt x="20" y="19"/>
                  </a:lnTo>
                  <a:lnTo>
                    <a:pt x="22" y="19"/>
                  </a:lnTo>
                  <a:lnTo>
                    <a:pt x="22" y="17"/>
                  </a:lnTo>
                  <a:lnTo>
                    <a:pt x="23" y="15"/>
                  </a:lnTo>
                  <a:lnTo>
                    <a:pt x="23" y="13"/>
                  </a:lnTo>
                  <a:lnTo>
                    <a:pt x="23" y="11"/>
                  </a:lnTo>
                  <a:lnTo>
                    <a:pt x="23" y="9"/>
                  </a:lnTo>
                  <a:lnTo>
                    <a:pt x="23" y="7"/>
                  </a:lnTo>
                  <a:lnTo>
                    <a:pt x="22" y="5"/>
                  </a:lnTo>
                  <a:lnTo>
                    <a:pt x="20" y="4"/>
                  </a:lnTo>
                  <a:lnTo>
                    <a:pt x="18" y="2"/>
                  </a:lnTo>
                  <a:lnTo>
                    <a:pt x="16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8" y="0"/>
                  </a:lnTo>
                  <a:lnTo>
                    <a:pt x="6" y="2"/>
                  </a:lnTo>
                  <a:lnTo>
                    <a:pt x="4" y="2"/>
                  </a:lnTo>
                  <a:lnTo>
                    <a:pt x="4" y="4"/>
                  </a:lnTo>
                  <a:lnTo>
                    <a:pt x="2" y="5"/>
                  </a:lnTo>
                  <a:lnTo>
                    <a:pt x="0" y="7"/>
                  </a:lnTo>
                  <a:lnTo>
                    <a:pt x="0" y="9"/>
                  </a:lnTo>
                  <a:lnTo>
                    <a:pt x="0" y="11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2" y="17"/>
                  </a:lnTo>
                  <a:lnTo>
                    <a:pt x="2" y="19"/>
                  </a:lnTo>
                  <a:lnTo>
                    <a:pt x="4" y="19"/>
                  </a:lnTo>
                  <a:lnTo>
                    <a:pt x="4" y="21"/>
                  </a:lnTo>
                  <a:lnTo>
                    <a:pt x="6" y="21"/>
                  </a:lnTo>
                  <a:lnTo>
                    <a:pt x="8" y="23"/>
                  </a:lnTo>
                  <a:lnTo>
                    <a:pt x="10" y="23"/>
                  </a:lnTo>
                  <a:lnTo>
                    <a:pt x="12" y="23"/>
                  </a:lnTo>
                  <a:lnTo>
                    <a:pt x="10" y="23"/>
                  </a:lnTo>
                </a:path>
              </a:pathLst>
            </a:custGeom>
            <a:solidFill>
              <a:srgbClr val="000000"/>
            </a:solidFill>
            <a:ln w="9525" cap="rnd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08" name="Freeform 24"/>
            <p:cNvSpPr>
              <a:spLocks/>
            </p:cNvSpPr>
            <p:nvPr/>
          </p:nvSpPr>
          <p:spPr bwMode="auto">
            <a:xfrm>
              <a:off x="1629" y="3432"/>
              <a:ext cx="24" cy="24"/>
            </a:xfrm>
            <a:custGeom>
              <a:avLst/>
              <a:gdLst>
                <a:gd name="T0" fmla="*/ 10 w 24"/>
                <a:gd name="T1" fmla="*/ 23 h 24"/>
                <a:gd name="T2" fmla="*/ 14 w 24"/>
                <a:gd name="T3" fmla="*/ 23 h 24"/>
                <a:gd name="T4" fmla="*/ 16 w 24"/>
                <a:gd name="T5" fmla="*/ 23 h 24"/>
                <a:gd name="T6" fmla="*/ 16 w 24"/>
                <a:gd name="T7" fmla="*/ 21 h 24"/>
                <a:gd name="T8" fmla="*/ 18 w 24"/>
                <a:gd name="T9" fmla="*/ 21 h 24"/>
                <a:gd name="T10" fmla="*/ 20 w 24"/>
                <a:gd name="T11" fmla="*/ 19 h 24"/>
                <a:gd name="T12" fmla="*/ 22 w 24"/>
                <a:gd name="T13" fmla="*/ 18 h 24"/>
                <a:gd name="T14" fmla="*/ 22 w 24"/>
                <a:gd name="T15" fmla="*/ 18 h 24"/>
                <a:gd name="T16" fmla="*/ 22 w 24"/>
                <a:gd name="T17" fmla="*/ 16 h 24"/>
                <a:gd name="T18" fmla="*/ 23 w 24"/>
                <a:gd name="T19" fmla="*/ 14 h 24"/>
                <a:gd name="T20" fmla="*/ 23 w 24"/>
                <a:gd name="T21" fmla="*/ 12 h 24"/>
                <a:gd name="T22" fmla="*/ 23 w 24"/>
                <a:gd name="T23" fmla="*/ 10 h 24"/>
                <a:gd name="T24" fmla="*/ 22 w 24"/>
                <a:gd name="T25" fmla="*/ 8 h 24"/>
                <a:gd name="T26" fmla="*/ 22 w 24"/>
                <a:gd name="T27" fmla="*/ 6 h 24"/>
                <a:gd name="T28" fmla="*/ 22 w 24"/>
                <a:gd name="T29" fmla="*/ 4 h 24"/>
                <a:gd name="T30" fmla="*/ 20 w 24"/>
                <a:gd name="T31" fmla="*/ 4 h 24"/>
                <a:gd name="T32" fmla="*/ 18 w 24"/>
                <a:gd name="T33" fmla="*/ 2 h 24"/>
                <a:gd name="T34" fmla="*/ 16 w 24"/>
                <a:gd name="T35" fmla="*/ 2 h 24"/>
                <a:gd name="T36" fmla="*/ 16 w 24"/>
                <a:gd name="T37" fmla="*/ 0 h 24"/>
                <a:gd name="T38" fmla="*/ 14 w 24"/>
                <a:gd name="T39" fmla="*/ 0 h 24"/>
                <a:gd name="T40" fmla="*/ 12 w 24"/>
                <a:gd name="T41" fmla="*/ 0 h 24"/>
                <a:gd name="T42" fmla="*/ 10 w 24"/>
                <a:gd name="T43" fmla="*/ 0 h 24"/>
                <a:gd name="T44" fmla="*/ 8 w 24"/>
                <a:gd name="T45" fmla="*/ 0 h 24"/>
                <a:gd name="T46" fmla="*/ 6 w 24"/>
                <a:gd name="T47" fmla="*/ 2 h 24"/>
                <a:gd name="T48" fmla="*/ 4 w 24"/>
                <a:gd name="T49" fmla="*/ 2 h 24"/>
                <a:gd name="T50" fmla="*/ 2 w 24"/>
                <a:gd name="T51" fmla="*/ 4 h 24"/>
                <a:gd name="T52" fmla="*/ 2 w 24"/>
                <a:gd name="T53" fmla="*/ 4 h 24"/>
                <a:gd name="T54" fmla="*/ 0 w 24"/>
                <a:gd name="T55" fmla="*/ 6 h 24"/>
                <a:gd name="T56" fmla="*/ 0 w 24"/>
                <a:gd name="T57" fmla="*/ 8 h 24"/>
                <a:gd name="T58" fmla="*/ 0 w 24"/>
                <a:gd name="T59" fmla="*/ 10 h 24"/>
                <a:gd name="T60" fmla="*/ 0 w 24"/>
                <a:gd name="T61" fmla="*/ 12 h 24"/>
                <a:gd name="T62" fmla="*/ 0 w 24"/>
                <a:gd name="T63" fmla="*/ 14 h 24"/>
                <a:gd name="T64" fmla="*/ 0 w 24"/>
                <a:gd name="T65" fmla="*/ 16 h 24"/>
                <a:gd name="T66" fmla="*/ 0 w 24"/>
                <a:gd name="T67" fmla="*/ 18 h 24"/>
                <a:gd name="T68" fmla="*/ 2 w 24"/>
                <a:gd name="T69" fmla="*/ 18 h 24"/>
                <a:gd name="T70" fmla="*/ 2 w 24"/>
                <a:gd name="T71" fmla="*/ 19 h 24"/>
                <a:gd name="T72" fmla="*/ 4 w 24"/>
                <a:gd name="T73" fmla="*/ 21 h 24"/>
                <a:gd name="T74" fmla="*/ 6 w 24"/>
                <a:gd name="T75" fmla="*/ 21 h 24"/>
                <a:gd name="T76" fmla="*/ 8 w 24"/>
                <a:gd name="T77" fmla="*/ 23 h 24"/>
                <a:gd name="T78" fmla="*/ 10 w 24"/>
                <a:gd name="T79" fmla="*/ 23 h 24"/>
                <a:gd name="T80" fmla="*/ 12 w 24"/>
                <a:gd name="T81" fmla="*/ 23 h 24"/>
                <a:gd name="T82" fmla="*/ 12 w 24"/>
                <a:gd name="T83" fmla="*/ 23 h 24"/>
                <a:gd name="T84" fmla="*/ 10 w 24"/>
                <a:gd name="T85" fmla="*/ 23 h 2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4"/>
                <a:gd name="T130" fmla="*/ 0 h 24"/>
                <a:gd name="T131" fmla="*/ 24 w 24"/>
                <a:gd name="T132" fmla="*/ 24 h 24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4" h="24">
                  <a:moveTo>
                    <a:pt x="10" y="23"/>
                  </a:moveTo>
                  <a:lnTo>
                    <a:pt x="14" y="23"/>
                  </a:lnTo>
                  <a:lnTo>
                    <a:pt x="16" y="23"/>
                  </a:lnTo>
                  <a:lnTo>
                    <a:pt x="16" y="21"/>
                  </a:lnTo>
                  <a:lnTo>
                    <a:pt x="18" y="21"/>
                  </a:lnTo>
                  <a:lnTo>
                    <a:pt x="20" y="19"/>
                  </a:lnTo>
                  <a:lnTo>
                    <a:pt x="22" y="18"/>
                  </a:lnTo>
                  <a:lnTo>
                    <a:pt x="22" y="16"/>
                  </a:lnTo>
                  <a:lnTo>
                    <a:pt x="23" y="14"/>
                  </a:lnTo>
                  <a:lnTo>
                    <a:pt x="23" y="12"/>
                  </a:lnTo>
                  <a:lnTo>
                    <a:pt x="23" y="10"/>
                  </a:lnTo>
                  <a:lnTo>
                    <a:pt x="22" y="8"/>
                  </a:lnTo>
                  <a:lnTo>
                    <a:pt x="22" y="6"/>
                  </a:lnTo>
                  <a:lnTo>
                    <a:pt x="22" y="4"/>
                  </a:lnTo>
                  <a:lnTo>
                    <a:pt x="20" y="4"/>
                  </a:lnTo>
                  <a:lnTo>
                    <a:pt x="18" y="2"/>
                  </a:lnTo>
                  <a:lnTo>
                    <a:pt x="16" y="2"/>
                  </a:lnTo>
                  <a:lnTo>
                    <a:pt x="16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8" y="0"/>
                  </a:lnTo>
                  <a:lnTo>
                    <a:pt x="6" y="2"/>
                  </a:lnTo>
                  <a:lnTo>
                    <a:pt x="4" y="2"/>
                  </a:lnTo>
                  <a:lnTo>
                    <a:pt x="2" y="4"/>
                  </a:lnTo>
                  <a:lnTo>
                    <a:pt x="0" y="6"/>
                  </a:lnTo>
                  <a:lnTo>
                    <a:pt x="0" y="8"/>
                  </a:lnTo>
                  <a:lnTo>
                    <a:pt x="0" y="10"/>
                  </a:lnTo>
                  <a:lnTo>
                    <a:pt x="0" y="12"/>
                  </a:lnTo>
                  <a:lnTo>
                    <a:pt x="0" y="14"/>
                  </a:lnTo>
                  <a:lnTo>
                    <a:pt x="0" y="16"/>
                  </a:lnTo>
                  <a:lnTo>
                    <a:pt x="0" y="18"/>
                  </a:lnTo>
                  <a:lnTo>
                    <a:pt x="2" y="18"/>
                  </a:lnTo>
                  <a:lnTo>
                    <a:pt x="2" y="19"/>
                  </a:lnTo>
                  <a:lnTo>
                    <a:pt x="4" y="21"/>
                  </a:lnTo>
                  <a:lnTo>
                    <a:pt x="6" y="21"/>
                  </a:lnTo>
                  <a:lnTo>
                    <a:pt x="8" y="23"/>
                  </a:lnTo>
                  <a:lnTo>
                    <a:pt x="10" y="23"/>
                  </a:lnTo>
                  <a:lnTo>
                    <a:pt x="12" y="23"/>
                  </a:lnTo>
                  <a:lnTo>
                    <a:pt x="10" y="23"/>
                  </a:lnTo>
                </a:path>
              </a:pathLst>
            </a:custGeom>
            <a:solidFill>
              <a:srgbClr val="000000"/>
            </a:solidFill>
            <a:ln w="9525" cap="rnd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09" name="Line 25"/>
            <p:cNvSpPr>
              <a:spLocks noChangeShapeType="1"/>
            </p:cNvSpPr>
            <p:nvPr/>
          </p:nvSpPr>
          <p:spPr bwMode="auto">
            <a:xfrm>
              <a:off x="1449" y="2687"/>
              <a:ext cx="198" cy="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10" name="Line 26"/>
            <p:cNvSpPr>
              <a:spLocks noChangeShapeType="1"/>
            </p:cNvSpPr>
            <p:nvPr/>
          </p:nvSpPr>
          <p:spPr bwMode="auto">
            <a:xfrm flipV="1">
              <a:off x="1657" y="3441"/>
              <a:ext cx="776" cy="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11" name="Line 27"/>
            <p:cNvSpPr>
              <a:spLocks noChangeShapeType="1"/>
            </p:cNvSpPr>
            <p:nvPr/>
          </p:nvSpPr>
          <p:spPr bwMode="auto">
            <a:xfrm flipH="1">
              <a:off x="1447" y="2024"/>
              <a:ext cx="986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12" name="Freeform 28"/>
            <p:cNvSpPr>
              <a:spLocks/>
            </p:cNvSpPr>
            <p:nvPr/>
          </p:nvSpPr>
          <p:spPr bwMode="auto">
            <a:xfrm>
              <a:off x="4704" y="1917"/>
              <a:ext cx="93" cy="1777"/>
            </a:xfrm>
            <a:custGeom>
              <a:avLst/>
              <a:gdLst>
                <a:gd name="T0" fmla="*/ 92 w 93"/>
                <a:gd name="T1" fmla="*/ 1776 h 1777"/>
                <a:gd name="T2" fmla="*/ 92 w 93"/>
                <a:gd name="T3" fmla="*/ 0 h 1777"/>
                <a:gd name="T4" fmla="*/ 0 w 93"/>
                <a:gd name="T5" fmla="*/ 0 h 1777"/>
                <a:gd name="T6" fmla="*/ 0 w 93"/>
                <a:gd name="T7" fmla="*/ 1776 h 1777"/>
                <a:gd name="T8" fmla="*/ 92 w 93"/>
                <a:gd name="T9" fmla="*/ 1776 h 1777"/>
                <a:gd name="T10" fmla="*/ 92 w 93"/>
                <a:gd name="T11" fmla="*/ 1776 h 177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3"/>
                <a:gd name="T19" fmla="*/ 0 h 1777"/>
                <a:gd name="T20" fmla="*/ 93 w 93"/>
                <a:gd name="T21" fmla="*/ 1777 h 177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3" h="1777">
                  <a:moveTo>
                    <a:pt x="92" y="1776"/>
                  </a:moveTo>
                  <a:lnTo>
                    <a:pt x="92" y="0"/>
                  </a:lnTo>
                  <a:lnTo>
                    <a:pt x="0" y="0"/>
                  </a:lnTo>
                  <a:lnTo>
                    <a:pt x="0" y="1776"/>
                  </a:lnTo>
                  <a:lnTo>
                    <a:pt x="92" y="1776"/>
                  </a:lnTo>
                </a:path>
              </a:pathLst>
            </a:custGeom>
            <a:solidFill>
              <a:srgbClr val="CCECFF"/>
            </a:solidFill>
            <a:ln w="190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13" name="Freeform 29"/>
            <p:cNvSpPr>
              <a:spLocks/>
            </p:cNvSpPr>
            <p:nvPr/>
          </p:nvSpPr>
          <p:spPr bwMode="auto">
            <a:xfrm>
              <a:off x="2436" y="1917"/>
              <a:ext cx="93" cy="1777"/>
            </a:xfrm>
            <a:custGeom>
              <a:avLst/>
              <a:gdLst>
                <a:gd name="T0" fmla="*/ 92 w 93"/>
                <a:gd name="T1" fmla="*/ 1776 h 1777"/>
                <a:gd name="T2" fmla="*/ 92 w 93"/>
                <a:gd name="T3" fmla="*/ 0 h 1777"/>
                <a:gd name="T4" fmla="*/ 0 w 93"/>
                <a:gd name="T5" fmla="*/ 0 h 1777"/>
                <a:gd name="T6" fmla="*/ 0 w 93"/>
                <a:gd name="T7" fmla="*/ 1776 h 1777"/>
                <a:gd name="T8" fmla="*/ 92 w 93"/>
                <a:gd name="T9" fmla="*/ 1776 h 1777"/>
                <a:gd name="T10" fmla="*/ 92 w 93"/>
                <a:gd name="T11" fmla="*/ 1776 h 177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3"/>
                <a:gd name="T19" fmla="*/ 0 h 1777"/>
                <a:gd name="T20" fmla="*/ 93 w 93"/>
                <a:gd name="T21" fmla="*/ 1777 h 177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3" h="1777">
                  <a:moveTo>
                    <a:pt x="92" y="1776"/>
                  </a:moveTo>
                  <a:lnTo>
                    <a:pt x="92" y="0"/>
                  </a:lnTo>
                  <a:lnTo>
                    <a:pt x="0" y="0"/>
                  </a:lnTo>
                  <a:lnTo>
                    <a:pt x="0" y="1776"/>
                  </a:lnTo>
                  <a:lnTo>
                    <a:pt x="92" y="1776"/>
                  </a:lnTo>
                </a:path>
              </a:pathLst>
            </a:custGeom>
            <a:solidFill>
              <a:srgbClr val="CCECFF"/>
            </a:solidFill>
            <a:ln w="190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14" name="Line 30"/>
            <p:cNvSpPr>
              <a:spLocks noChangeShapeType="1"/>
            </p:cNvSpPr>
            <p:nvPr/>
          </p:nvSpPr>
          <p:spPr bwMode="auto">
            <a:xfrm flipV="1">
              <a:off x="2826" y="3695"/>
              <a:ext cx="0" cy="50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15" name="Line 31"/>
            <p:cNvSpPr>
              <a:spLocks noChangeShapeType="1"/>
            </p:cNvSpPr>
            <p:nvPr/>
          </p:nvSpPr>
          <p:spPr bwMode="auto">
            <a:xfrm>
              <a:off x="2855" y="2626"/>
              <a:ext cx="2" cy="54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16" name="Line 32"/>
            <p:cNvSpPr>
              <a:spLocks noChangeShapeType="1"/>
            </p:cNvSpPr>
            <p:nvPr/>
          </p:nvSpPr>
          <p:spPr bwMode="auto">
            <a:xfrm flipV="1">
              <a:off x="3006" y="3406"/>
              <a:ext cx="0" cy="52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17" name="Line 33"/>
            <p:cNvSpPr>
              <a:spLocks noChangeShapeType="1"/>
            </p:cNvSpPr>
            <p:nvPr/>
          </p:nvSpPr>
          <p:spPr bwMode="auto">
            <a:xfrm flipV="1">
              <a:off x="3364" y="2633"/>
              <a:ext cx="215" cy="2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18" name="Freeform 34"/>
            <p:cNvSpPr>
              <a:spLocks/>
            </p:cNvSpPr>
            <p:nvPr/>
          </p:nvSpPr>
          <p:spPr bwMode="auto">
            <a:xfrm>
              <a:off x="2877" y="3055"/>
              <a:ext cx="245" cy="345"/>
            </a:xfrm>
            <a:custGeom>
              <a:avLst/>
              <a:gdLst>
                <a:gd name="T0" fmla="*/ 123 w 174"/>
                <a:gd name="T1" fmla="*/ 344 h 367"/>
                <a:gd name="T2" fmla="*/ 144 w 174"/>
                <a:gd name="T3" fmla="*/ 342 h 367"/>
                <a:gd name="T4" fmla="*/ 162 w 174"/>
                <a:gd name="T5" fmla="*/ 336 h 367"/>
                <a:gd name="T6" fmla="*/ 179 w 174"/>
                <a:gd name="T7" fmla="*/ 324 h 367"/>
                <a:gd name="T8" fmla="*/ 194 w 174"/>
                <a:gd name="T9" fmla="*/ 312 h 367"/>
                <a:gd name="T10" fmla="*/ 208 w 174"/>
                <a:gd name="T11" fmla="*/ 294 h 367"/>
                <a:gd name="T12" fmla="*/ 221 w 174"/>
                <a:gd name="T13" fmla="*/ 274 h 367"/>
                <a:gd name="T14" fmla="*/ 230 w 174"/>
                <a:gd name="T15" fmla="*/ 251 h 367"/>
                <a:gd name="T16" fmla="*/ 238 w 174"/>
                <a:gd name="T17" fmla="*/ 227 h 367"/>
                <a:gd name="T18" fmla="*/ 244 w 174"/>
                <a:gd name="T19" fmla="*/ 200 h 367"/>
                <a:gd name="T20" fmla="*/ 244 w 174"/>
                <a:gd name="T21" fmla="*/ 171 h 367"/>
                <a:gd name="T22" fmla="*/ 244 w 174"/>
                <a:gd name="T23" fmla="*/ 145 h 367"/>
                <a:gd name="T24" fmla="*/ 238 w 174"/>
                <a:gd name="T25" fmla="*/ 118 h 367"/>
                <a:gd name="T26" fmla="*/ 230 w 174"/>
                <a:gd name="T27" fmla="*/ 92 h 367"/>
                <a:gd name="T28" fmla="*/ 221 w 174"/>
                <a:gd name="T29" fmla="*/ 71 h 367"/>
                <a:gd name="T30" fmla="*/ 208 w 174"/>
                <a:gd name="T31" fmla="*/ 51 h 367"/>
                <a:gd name="T32" fmla="*/ 194 w 174"/>
                <a:gd name="T33" fmla="*/ 33 h 367"/>
                <a:gd name="T34" fmla="*/ 179 w 174"/>
                <a:gd name="T35" fmla="*/ 19 h 367"/>
                <a:gd name="T36" fmla="*/ 162 w 174"/>
                <a:gd name="T37" fmla="*/ 8 h 367"/>
                <a:gd name="T38" fmla="*/ 144 w 174"/>
                <a:gd name="T39" fmla="*/ 2 h 367"/>
                <a:gd name="T40" fmla="*/ 123 w 174"/>
                <a:gd name="T41" fmla="*/ 0 h 367"/>
                <a:gd name="T42" fmla="*/ 103 w 174"/>
                <a:gd name="T43" fmla="*/ 2 h 367"/>
                <a:gd name="T44" fmla="*/ 84 w 174"/>
                <a:gd name="T45" fmla="*/ 8 h 367"/>
                <a:gd name="T46" fmla="*/ 68 w 174"/>
                <a:gd name="T47" fmla="*/ 19 h 367"/>
                <a:gd name="T48" fmla="*/ 52 w 174"/>
                <a:gd name="T49" fmla="*/ 33 h 367"/>
                <a:gd name="T50" fmla="*/ 38 w 174"/>
                <a:gd name="T51" fmla="*/ 51 h 367"/>
                <a:gd name="T52" fmla="*/ 24 w 174"/>
                <a:gd name="T53" fmla="*/ 71 h 367"/>
                <a:gd name="T54" fmla="*/ 14 w 174"/>
                <a:gd name="T55" fmla="*/ 92 h 367"/>
                <a:gd name="T56" fmla="*/ 8 w 174"/>
                <a:gd name="T57" fmla="*/ 118 h 367"/>
                <a:gd name="T58" fmla="*/ 3 w 174"/>
                <a:gd name="T59" fmla="*/ 145 h 367"/>
                <a:gd name="T60" fmla="*/ 0 w 174"/>
                <a:gd name="T61" fmla="*/ 171 h 367"/>
                <a:gd name="T62" fmla="*/ 3 w 174"/>
                <a:gd name="T63" fmla="*/ 200 h 367"/>
                <a:gd name="T64" fmla="*/ 8 w 174"/>
                <a:gd name="T65" fmla="*/ 227 h 367"/>
                <a:gd name="T66" fmla="*/ 14 w 174"/>
                <a:gd name="T67" fmla="*/ 251 h 367"/>
                <a:gd name="T68" fmla="*/ 24 w 174"/>
                <a:gd name="T69" fmla="*/ 274 h 367"/>
                <a:gd name="T70" fmla="*/ 38 w 174"/>
                <a:gd name="T71" fmla="*/ 294 h 367"/>
                <a:gd name="T72" fmla="*/ 52 w 174"/>
                <a:gd name="T73" fmla="*/ 312 h 367"/>
                <a:gd name="T74" fmla="*/ 68 w 174"/>
                <a:gd name="T75" fmla="*/ 324 h 367"/>
                <a:gd name="T76" fmla="*/ 84 w 174"/>
                <a:gd name="T77" fmla="*/ 336 h 367"/>
                <a:gd name="T78" fmla="*/ 103 w 174"/>
                <a:gd name="T79" fmla="*/ 342 h 367"/>
                <a:gd name="T80" fmla="*/ 123 w 174"/>
                <a:gd name="T81" fmla="*/ 344 h 367"/>
                <a:gd name="T82" fmla="*/ 123 w 174"/>
                <a:gd name="T83" fmla="*/ 344 h 367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174"/>
                <a:gd name="T127" fmla="*/ 0 h 367"/>
                <a:gd name="T128" fmla="*/ 174 w 174"/>
                <a:gd name="T129" fmla="*/ 367 h 367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174" h="367">
                  <a:moveTo>
                    <a:pt x="87" y="366"/>
                  </a:moveTo>
                  <a:lnTo>
                    <a:pt x="102" y="364"/>
                  </a:lnTo>
                  <a:lnTo>
                    <a:pt x="115" y="357"/>
                  </a:lnTo>
                  <a:lnTo>
                    <a:pt x="127" y="345"/>
                  </a:lnTo>
                  <a:lnTo>
                    <a:pt x="138" y="332"/>
                  </a:lnTo>
                  <a:lnTo>
                    <a:pt x="148" y="313"/>
                  </a:lnTo>
                  <a:lnTo>
                    <a:pt x="157" y="292"/>
                  </a:lnTo>
                  <a:lnTo>
                    <a:pt x="163" y="267"/>
                  </a:lnTo>
                  <a:lnTo>
                    <a:pt x="169" y="242"/>
                  </a:lnTo>
                  <a:lnTo>
                    <a:pt x="173" y="213"/>
                  </a:lnTo>
                  <a:lnTo>
                    <a:pt x="173" y="182"/>
                  </a:lnTo>
                  <a:lnTo>
                    <a:pt x="173" y="154"/>
                  </a:lnTo>
                  <a:lnTo>
                    <a:pt x="169" y="125"/>
                  </a:lnTo>
                  <a:lnTo>
                    <a:pt x="163" y="98"/>
                  </a:lnTo>
                  <a:lnTo>
                    <a:pt x="157" y="75"/>
                  </a:lnTo>
                  <a:lnTo>
                    <a:pt x="148" y="54"/>
                  </a:lnTo>
                  <a:lnTo>
                    <a:pt x="138" y="35"/>
                  </a:lnTo>
                  <a:lnTo>
                    <a:pt x="127" y="20"/>
                  </a:lnTo>
                  <a:lnTo>
                    <a:pt x="115" y="8"/>
                  </a:lnTo>
                  <a:lnTo>
                    <a:pt x="102" y="2"/>
                  </a:lnTo>
                  <a:lnTo>
                    <a:pt x="87" y="0"/>
                  </a:lnTo>
                  <a:lnTo>
                    <a:pt x="73" y="2"/>
                  </a:lnTo>
                  <a:lnTo>
                    <a:pt x="60" y="8"/>
                  </a:lnTo>
                  <a:lnTo>
                    <a:pt x="48" y="20"/>
                  </a:lnTo>
                  <a:lnTo>
                    <a:pt x="37" y="35"/>
                  </a:lnTo>
                  <a:lnTo>
                    <a:pt x="27" y="54"/>
                  </a:lnTo>
                  <a:lnTo>
                    <a:pt x="17" y="75"/>
                  </a:lnTo>
                  <a:lnTo>
                    <a:pt x="10" y="98"/>
                  </a:lnTo>
                  <a:lnTo>
                    <a:pt x="6" y="125"/>
                  </a:lnTo>
                  <a:lnTo>
                    <a:pt x="2" y="154"/>
                  </a:lnTo>
                  <a:lnTo>
                    <a:pt x="0" y="182"/>
                  </a:lnTo>
                  <a:lnTo>
                    <a:pt x="2" y="213"/>
                  </a:lnTo>
                  <a:lnTo>
                    <a:pt x="6" y="242"/>
                  </a:lnTo>
                  <a:lnTo>
                    <a:pt x="10" y="267"/>
                  </a:lnTo>
                  <a:lnTo>
                    <a:pt x="17" y="292"/>
                  </a:lnTo>
                  <a:lnTo>
                    <a:pt x="27" y="313"/>
                  </a:lnTo>
                  <a:lnTo>
                    <a:pt x="37" y="332"/>
                  </a:lnTo>
                  <a:lnTo>
                    <a:pt x="48" y="345"/>
                  </a:lnTo>
                  <a:lnTo>
                    <a:pt x="60" y="357"/>
                  </a:lnTo>
                  <a:lnTo>
                    <a:pt x="73" y="364"/>
                  </a:lnTo>
                  <a:lnTo>
                    <a:pt x="87" y="366"/>
                  </a:lnTo>
                </a:path>
              </a:pathLst>
            </a:custGeom>
            <a:noFill/>
            <a:ln w="19050" cap="rnd" cmpd="sng">
              <a:solidFill>
                <a:srgbClr val="EB75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19" name="Line 35"/>
            <p:cNvSpPr>
              <a:spLocks noChangeShapeType="1"/>
            </p:cNvSpPr>
            <p:nvPr/>
          </p:nvSpPr>
          <p:spPr bwMode="auto">
            <a:xfrm>
              <a:off x="2530" y="3225"/>
              <a:ext cx="349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21" name="Line 37"/>
            <p:cNvSpPr>
              <a:spLocks noChangeShapeType="1"/>
            </p:cNvSpPr>
            <p:nvPr/>
          </p:nvSpPr>
          <p:spPr bwMode="auto">
            <a:xfrm flipH="1" flipV="1">
              <a:off x="2530" y="2018"/>
              <a:ext cx="364" cy="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22" name="Freeform 38"/>
            <p:cNvSpPr>
              <a:spLocks/>
            </p:cNvSpPr>
            <p:nvPr/>
          </p:nvSpPr>
          <p:spPr bwMode="auto">
            <a:xfrm>
              <a:off x="2681" y="2710"/>
              <a:ext cx="26" cy="24"/>
            </a:xfrm>
            <a:custGeom>
              <a:avLst/>
              <a:gdLst>
                <a:gd name="T0" fmla="*/ 11 w 26"/>
                <a:gd name="T1" fmla="*/ 23 h 24"/>
                <a:gd name="T2" fmla="*/ 13 w 26"/>
                <a:gd name="T3" fmla="*/ 23 h 24"/>
                <a:gd name="T4" fmla="*/ 15 w 26"/>
                <a:gd name="T5" fmla="*/ 23 h 24"/>
                <a:gd name="T6" fmla="*/ 17 w 26"/>
                <a:gd name="T7" fmla="*/ 23 h 24"/>
                <a:gd name="T8" fmla="*/ 19 w 26"/>
                <a:gd name="T9" fmla="*/ 21 h 24"/>
                <a:gd name="T10" fmla="*/ 21 w 26"/>
                <a:gd name="T11" fmla="*/ 21 h 24"/>
                <a:gd name="T12" fmla="*/ 21 w 26"/>
                <a:gd name="T13" fmla="*/ 19 h 24"/>
                <a:gd name="T14" fmla="*/ 23 w 26"/>
                <a:gd name="T15" fmla="*/ 17 h 24"/>
                <a:gd name="T16" fmla="*/ 23 w 26"/>
                <a:gd name="T17" fmla="*/ 15 h 24"/>
                <a:gd name="T18" fmla="*/ 23 w 26"/>
                <a:gd name="T19" fmla="*/ 14 h 24"/>
                <a:gd name="T20" fmla="*/ 25 w 26"/>
                <a:gd name="T21" fmla="*/ 12 h 24"/>
                <a:gd name="T22" fmla="*/ 23 w 26"/>
                <a:gd name="T23" fmla="*/ 10 h 24"/>
                <a:gd name="T24" fmla="*/ 23 w 26"/>
                <a:gd name="T25" fmla="*/ 10 h 24"/>
                <a:gd name="T26" fmla="*/ 23 w 26"/>
                <a:gd name="T27" fmla="*/ 8 h 24"/>
                <a:gd name="T28" fmla="*/ 21 w 26"/>
                <a:gd name="T29" fmla="*/ 6 h 24"/>
                <a:gd name="T30" fmla="*/ 21 w 26"/>
                <a:gd name="T31" fmla="*/ 4 h 24"/>
                <a:gd name="T32" fmla="*/ 19 w 26"/>
                <a:gd name="T33" fmla="*/ 4 h 24"/>
                <a:gd name="T34" fmla="*/ 17 w 26"/>
                <a:gd name="T35" fmla="*/ 2 h 24"/>
                <a:gd name="T36" fmla="*/ 15 w 26"/>
                <a:gd name="T37" fmla="*/ 2 h 24"/>
                <a:gd name="T38" fmla="*/ 13 w 26"/>
                <a:gd name="T39" fmla="*/ 2 h 24"/>
                <a:gd name="T40" fmla="*/ 11 w 26"/>
                <a:gd name="T41" fmla="*/ 0 h 24"/>
                <a:gd name="T42" fmla="*/ 11 w 26"/>
                <a:gd name="T43" fmla="*/ 2 h 24"/>
                <a:gd name="T44" fmla="*/ 9 w 26"/>
                <a:gd name="T45" fmla="*/ 2 h 24"/>
                <a:gd name="T46" fmla="*/ 8 w 26"/>
                <a:gd name="T47" fmla="*/ 2 h 24"/>
                <a:gd name="T48" fmla="*/ 6 w 26"/>
                <a:gd name="T49" fmla="*/ 4 h 24"/>
                <a:gd name="T50" fmla="*/ 4 w 26"/>
                <a:gd name="T51" fmla="*/ 4 h 24"/>
                <a:gd name="T52" fmla="*/ 4 w 26"/>
                <a:gd name="T53" fmla="*/ 6 h 24"/>
                <a:gd name="T54" fmla="*/ 2 w 26"/>
                <a:gd name="T55" fmla="*/ 8 h 24"/>
                <a:gd name="T56" fmla="*/ 2 w 26"/>
                <a:gd name="T57" fmla="*/ 10 h 24"/>
                <a:gd name="T58" fmla="*/ 2 w 26"/>
                <a:gd name="T59" fmla="*/ 10 h 24"/>
                <a:gd name="T60" fmla="*/ 0 w 26"/>
                <a:gd name="T61" fmla="*/ 12 h 24"/>
                <a:gd name="T62" fmla="*/ 2 w 26"/>
                <a:gd name="T63" fmla="*/ 14 h 24"/>
                <a:gd name="T64" fmla="*/ 2 w 26"/>
                <a:gd name="T65" fmla="*/ 15 h 24"/>
                <a:gd name="T66" fmla="*/ 2 w 26"/>
                <a:gd name="T67" fmla="*/ 17 h 24"/>
                <a:gd name="T68" fmla="*/ 4 w 26"/>
                <a:gd name="T69" fmla="*/ 19 h 24"/>
                <a:gd name="T70" fmla="*/ 4 w 26"/>
                <a:gd name="T71" fmla="*/ 21 h 24"/>
                <a:gd name="T72" fmla="*/ 6 w 26"/>
                <a:gd name="T73" fmla="*/ 21 h 24"/>
                <a:gd name="T74" fmla="*/ 8 w 26"/>
                <a:gd name="T75" fmla="*/ 23 h 24"/>
                <a:gd name="T76" fmla="*/ 9 w 26"/>
                <a:gd name="T77" fmla="*/ 23 h 24"/>
                <a:gd name="T78" fmla="*/ 11 w 26"/>
                <a:gd name="T79" fmla="*/ 23 h 24"/>
                <a:gd name="T80" fmla="*/ 11 w 26"/>
                <a:gd name="T81" fmla="*/ 23 h 24"/>
                <a:gd name="T82" fmla="*/ 11 w 26"/>
                <a:gd name="T83" fmla="*/ 23 h 24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26"/>
                <a:gd name="T127" fmla="*/ 0 h 24"/>
                <a:gd name="T128" fmla="*/ 26 w 26"/>
                <a:gd name="T129" fmla="*/ 24 h 24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26" h="24">
                  <a:moveTo>
                    <a:pt x="11" y="23"/>
                  </a:moveTo>
                  <a:lnTo>
                    <a:pt x="13" y="23"/>
                  </a:lnTo>
                  <a:lnTo>
                    <a:pt x="15" y="23"/>
                  </a:lnTo>
                  <a:lnTo>
                    <a:pt x="17" y="23"/>
                  </a:lnTo>
                  <a:lnTo>
                    <a:pt x="19" y="21"/>
                  </a:lnTo>
                  <a:lnTo>
                    <a:pt x="21" y="21"/>
                  </a:lnTo>
                  <a:lnTo>
                    <a:pt x="21" y="19"/>
                  </a:lnTo>
                  <a:lnTo>
                    <a:pt x="23" y="17"/>
                  </a:lnTo>
                  <a:lnTo>
                    <a:pt x="23" y="15"/>
                  </a:lnTo>
                  <a:lnTo>
                    <a:pt x="23" y="14"/>
                  </a:lnTo>
                  <a:lnTo>
                    <a:pt x="25" y="12"/>
                  </a:lnTo>
                  <a:lnTo>
                    <a:pt x="23" y="10"/>
                  </a:lnTo>
                  <a:lnTo>
                    <a:pt x="23" y="8"/>
                  </a:lnTo>
                  <a:lnTo>
                    <a:pt x="21" y="6"/>
                  </a:lnTo>
                  <a:lnTo>
                    <a:pt x="21" y="4"/>
                  </a:lnTo>
                  <a:lnTo>
                    <a:pt x="19" y="4"/>
                  </a:lnTo>
                  <a:lnTo>
                    <a:pt x="17" y="2"/>
                  </a:lnTo>
                  <a:lnTo>
                    <a:pt x="15" y="2"/>
                  </a:lnTo>
                  <a:lnTo>
                    <a:pt x="13" y="2"/>
                  </a:lnTo>
                  <a:lnTo>
                    <a:pt x="11" y="0"/>
                  </a:lnTo>
                  <a:lnTo>
                    <a:pt x="11" y="2"/>
                  </a:lnTo>
                  <a:lnTo>
                    <a:pt x="9" y="2"/>
                  </a:lnTo>
                  <a:lnTo>
                    <a:pt x="8" y="2"/>
                  </a:lnTo>
                  <a:lnTo>
                    <a:pt x="6" y="4"/>
                  </a:lnTo>
                  <a:lnTo>
                    <a:pt x="4" y="4"/>
                  </a:lnTo>
                  <a:lnTo>
                    <a:pt x="4" y="6"/>
                  </a:lnTo>
                  <a:lnTo>
                    <a:pt x="2" y="8"/>
                  </a:lnTo>
                  <a:lnTo>
                    <a:pt x="2" y="10"/>
                  </a:lnTo>
                  <a:lnTo>
                    <a:pt x="0" y="12"/>
                  </a:lnTo>
                  <a:lnTo>
                    <a:pt x="2" y="14"/>
                  </a:lnTo>
                  <a:lnTo>
                    <a:pt x="2" y="15"/>
                  </a:lnTo>
                  <a:lnTo>
                    <a:pt x="2" y="17"/>
                  </a:lnTo>
                  <a:lnTo>
                    <a:pt x="4" y="19"/>
                  </a:lnTo>
                  <a:lnTo>
                    <a:pt x="4" y="21"/>
                  </a:lnTo>
                  <a:lnTo>
                    <a:pt x="6" y="21"/>
                  </a:lnTo>
                  <a:lnTo>
                    <a:pt x="8" y="23"/>
                  </a:lnTo>
                  <a:lnTo>
                    <a:pt x="9" y="23"/>
                  </a:lnTo>
                  <a:lnTo>
                    <a:pt x="11" y="23"/>
                  </a:lnTo>
                </a:path>
              </a:pathLst>
            </a:custGeom>
            <a:solidFill>
              <a:srgbClr val="000000"/>
            </a:solidFill>
            <a:ln w="9525" cap="rnd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23" name="Line 39"/>
            <p:cNvSpPr>
              <a:spLocks noChangeShapeType="1"/>
            </p:cNvSpPr>
            <p:nvPr/>
          </p:nvSpPr>
          <p:spPr bwMode="auto">
            <a:xfrm>
              <a:off x="2744" y="2413"/>
              <a:ext cx="2" cy="81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24" name="Freeform 40"/>
            <p:cNvSpPr>
              <a:spLocks/>
            </p:cNvSpPr>
            <p:nvPr/>
          </p:nvSpPr>
          <p:spPr bwMode="auto">
            <a:xfrm>
              <a:off x="2735" y="2917"/>
              <a:ext cx="24" cy="24"/>
            </a:xfrm>
            <a:custGeom>
              <a:avLst/>
              <a:gdLst>
                <a:gd name="T0" fmla="*/ 9 w 24"/>
                <a:gd name="T1" fmla="*/ 23 h 24"/>
                <a:gd name="T2" fmla="*/ 13 w 24"/>
                <a:gd name="T3" fmla="*/ 23 h 24"/>
                <a:gd name="T4" fmla="*/ 15 w 24"/>
                <a:gd name="T5" fmla="*/ 23 h 24"/>
                <a:gd name="T6" fmla="*/ 15 w 24"/>
                <a:gd name="T7" fmla="*/ 21 h 24"/>
                <a:gd name="T8" fmla="*/ 17 w 24"/>
                <a:gd name="T9" fmla="*/ 21 h 24"/>
                <a:gd name="T10" fmla="*/ 19 w 24"/>
                <a:gd name="T11" fmla="*/ 19 h 24"/>
                <a:gd name="T12" fmla="*/ 21 w 24"/>
                <a:gd name="T13" fmla="*/ 19 h 24"/>
                <a:gd name="T14" fmla="*/ 21 w 24"/>
                <a:gd name="T15" fmla="*/ 17 h 24"/>
                <a:gd name="T16" fmla="*/ 21 w 24"/>
                <a:gd name="T17" fmla="*/ 15 h 24"/>
                <a:gd name="T18" fmla="*/ 23 w 24"/>
                <a:gd name="T19" fmla="*/ 13 h 24"/>
                <a:gd name="T20" fmla="*/ 23 w 24"/>
                <a:gd name="T21" fmla="*/ 12 h 24"/>
                <a:gd name="T22" fmla="*/ 23 w 24"/>
                <a:gd name="T23" fmla="*/ 10 h 24"/>
                <a:gd name="T24" fmla="*/ 21 w 24"/>
                <a:gd name="T25" fmla="*/ 8 h 24"/>
                <a:gd name="T26" fmla="*/ 21 w 24"/>
                <a:gd name="T27" fmla="*/ 6 h 24"/>
                <a:gd name="T28" fmla="*/ 21 w 24"/>
                <a:gd name="T29" fmla="*/ 6 h 24"/>
                <a:gd name="T30" fmla="*/ 19 w 24"/>
                <a:gd name="T31" fmla="*/ 4 h 24"/>
                <a:gd name="T32" fmla="*/ 17 w 24"/>
                <a:gd name="T33" fmla="*/ 2 h 24"/>
                <a:gd name="T34" fmla="*/ 15 w 24"/>
                <a:gd name="T35" fmla="*/ 2 h 24"/>
                <a:gd name="T36" fmla="*/ 15 w 24"/>
                <a:gd name="T37" fmla="*/ 0 h 24"/>
                <a:gd name="T38" fmla="*/ 13 w 24"/>
                <a:gd name="T39" fmla="*/ 0 h 24"/>
                <a:gd name="T40" fmla="*/ 11 w 24"/>
                <a:gd name="T41" fmla="*/ 0 h 24"/>
                <a:gd name="T42" fmla="*/ 9 w 24"/>
                <a:gd name="T43" fmla="*/ 0 h 24"/>
                <a:gd name="T44" fmla="*/ 7 w 24"/>
                <a:gd name="T45" fmla="*/ 0 h 24"/>
                <a:gd name="T46" fmla="*/ 5 w 24"/>
                <a:gd name="T47" fmla="*/ 2 h 24"/>
                <a:gd name="T48" fmla="*/ 3 w 24"/>
                <a:gd name="T49" fmla="*/ 2 h 24"/>
                <a:gd name="T50" fmla="*/ 2 w 24"/>
                <a:gd name="T51" fmla="*/ 4 h 24"/>
                <a:gd name="T52" fmla="*/ 2 w 24"/>
                <a:gd name="T53" fmla="*/ 6 h 24"/>
                <a:gd name="T54" fmla="*/ 0 w 24"/>
                <a:gd name="T55" fmla="*/ 6 h 24"/>
                <a:gd name="T56" fmla="*/ 0 w 24"/>
                <a:gd name="T57" fmla="*/ 8 h 24"/>
                <a:gd name="T58" fmla="*/ 0 w 24"/>
                <a:gd name="T59" fmla="*/ 10 h 24"/>
                <a:gd name="T60" fmla="*/ 0 w 24"/>
                <a:gd name="T61" fmla="*/ 12 h 24"/>
                <a:gd name="T62" fmla="*/ 0 w 24"/>
                <a:gd name="T63" fmla="*/ 13 h 24"/>
                <a:gd name="T64" fmla="*/ 0 w 24"/>
                <a:gd name="T65" fmla="*/ 15 h 24"/>
                <a:gd name="T66" fmla="*/ 0 w 24"/>
                <a:gd name="T67" fmla="*/ 17 h 24"/>
                <a:gd name="T68" fmla="*/ 2 w 24"/>
                <a:gd name="T69" fmla="*/ 19 h 24"/>
                <a:gd name="T70" fmla="*/ 2 w 24"/>
                <a:gd name="T71" fmla="*/ 19 h 24"/>
                <a:gd name="T72" fmla="*/ 3 w 24"/>
                <a:gd name="T73" fmla="*/ 21 h 24"/>
                <a:gd name="T74" fmla="*/ 5 w 24"/>
                <a:gd name="T75" fmla="*/ 21 h 24"/>
                <a:gd name="T76" fmla="*/ 7 w 24"/>
                <a:gd name="T77" fmla="*/ 23 h 24"/>
                <a:gd name="T78" fmla="*/ 9 w 24"/>
                <a:gd name="T79" fmla="*/ 23 h 24"/>
                <a:gd name="T80" fmla="*/ 11 w 24"/>
                <a:gd name="T81" fmla="*/ 23 h 24"/>
                <a:gd name="T82" fmla="*/ 11 w 24"/>
                <a:gd name="T83" fmla="*/ 23 h 24"/>
                <a:gd name="T84" fmla="*/ 9 w 24"/>
                <a:gd name="T85" fmla="*/ 23 h 2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4"/>
                <a:gd name="T130" fmla="*/ 0 h 24"/>
                <a:gd name="T131" fmla="*/ 24 w 24"/>
                <a:gd name="T132" fmla="*/ 24 h 24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4" h="24">
                  <a:moveTo>
                    <a:pt x="9" y="23"/>
                  </a:moveTo>
                  <a:lnTo>
                    <a:pt x="13" y="23"/>
                  </a:lnTo>
                  <a:lnTo>
                    <a:pt x="15" y="23"/>
                  </a:lnTo>
                  <a:lnTo>
                    <a:pt x="15" y="21"/>
                  </a:lnTo>
                  <a:lnTo>
                    <a:pt x="17" y="21"/>
                  </a:lnTo>
                  <a:lnTo>
                    <a:pt x="19" y="19"/>
                  </a:lnTo>
                  <a:lnTo>
                    <a:pt x="21" y="19"/>
                  </a:lnTo>
                  <a:lnTo>
                    <a:pt x="21" y="17"/>
                  </a:lnTo>
                  <a:lnTo>
                    <a:pt x="21" y="15"/>
                  </a:lnTo>
                  <a:lnTo>
                    <a:pt x="23" y="13"/>
                  </a:lnTo>
                  <a:lnTo>
                    <a:pt x="23" y="12"/>
                  </a:lnTo>
                  <a:lnTo>
                    <a:pt x="23" y="10"/>
                  </a:lnTo>
                  <a:lnTo>
                    <a:pt x="21" y="8"/>
                  </a:lnTo>
                  <a:lnTo>
                    <a:pt x="21" y="6"/>
                  </a:lnTo>
                  <a:lnTo>
                    <a:pt x="19" y="4"/>
                  </a:lnTo>
                  <a:lnTo>
                    <a:pt x="17" y="2"/>
                  </a:lnTo>
                  <a:lnTo>
                    <a:pt x="15" y="2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1" y="0"/>
                  </a:lnTo>
                  <a:lnTo>
                    <a:pt x="9" y="0"/>
                  </a:lnTo>
                  <a:lnTo>
                    <a:pt x="7" y="0"/>
                  </a:lnTo>
                  <a:lnTo>
                    <a:pt x="5" y="2"/>
                  </a:lnTo>
                  <a:lnTo>
                    <a:pt x="3" y="2"/>
                  </a:lnTo>
                  <a:lnTo>
                    <a:pt x="2" y="4"/>
                  </a:lnTo>
                  <a:lnTo>
                    <a:pt x="2" y="6"/>
                  </a:lnTo>
                  <a:lnTo>
                    <a:pt x="0" y="6"/>
                  </a:lnTo>
                  <a:lnTo>
                    <a:pt x="0" y="8"/>
                  </a:lnTo>
                  <a:lnTo>
                    <a:pt x="0" y="10"/>
                  </a:lnTo>
                  <a:lnTo>
                    <a:pt x="0" y="12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0" y="17"/>
                  </a:lnTo>
                  <a:lnTo>
                    <a:pt x="2" y="19"/>
                  </a:lnTo>
                  <a:lnTo>
                    <a:pt x="3" y="21"/>
                  </a:lnTo>
                  <a:lnTo>
                    <a:pt x="5" y="21"/>
                  </a:lnTo>
                  <a:lnTo>
                    <a:pt x="7" y="23"/>
                  </a:lnTo>
                  <a:lnTo>
                    <a:pt x="9" y="23"/>
                  </a:lnTo>
                  <a:lnTo>
                    <a:pt x="11" y="23"/>
                  </a:lnTo>
                  <a:lnTo>
                    <a:pt x="9" y="23"/>
                  </a:lnTo>
                </a:path>
              </a:pathLst>
            </a:custGeom>
            <a:solidFill>
              <a:srgbClr val="000000"/>
            </a:solidFill>
            <a:ln w="9525" cap="rnd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25" name="Freeform 41"/>
            <p:cNvSpPr>
              <a:spLocks/>
            </p:cNvSpPr>
            <p:nvPr/>
          </p:nvSpPr>
          <p:spPr bwMode="auto">
            <a:xfrm>
              <a:off x="2735" y="3214"/>
              <a:ext cx="24" cy="24"/>
            </a:xfrm>
            <a:custGeom>
              <a:avLst/>
              <a:gdLst>
                <a:gd name="T0" fmla="*/ 9 w 24"/>
                <a:gd name="T1" fmla="*/ 23 h 24"/>
                <a:gd name="T2" fmla="*/ 13 w 24"/>
                <a:gd name="T3" fmla="*/ 23 h 24"/>
                <a:gd name="T4" fmla="*/ 15 w 24"/>
                <a:gd name="T5" fmla="*/ 23 h 24"/>
                <a:gd name="T6" fmla="*/ 15 w 24"/>
                <a:gd name="T7" fmla="*/ 23 h 24"/>
                <a:gd name="T8" fmla="*/ 17 w 24"/>
                <a:gd name="T9" fmla="*/ 21 h 24"/>
                <a:gd name="T10" fmla="*/ 19 w 24"/>
                <a:gd name="T11" fmla="*/ 19 h 24"/>
                <a:gd name="T12" fmla="*/ 19 w 24"/>
                <a:gd name="T13" fmla="*/ 19 h 24"/>
                <a:gd name="T14" fmla="*/ 21 w 24"/>
                <a:gd name="T15" fmla="*/ 17 h 24"/>
                <a:gd name="T16" fmla="*/ 21 w 24"/>
                <a:gd name="T17" fmla="*/ 15 h 24"/>
                <a:gd name="T18" fmla="*/ 23 w 24"/>
                <a:gd name="T19" fmla="*/ 13 h 24"/>
                <a:gd name="T20" fmla="*/ 23 w 24"/>
                <a:gd name="T21" fmla="*/ 11 h 24"/>
                <a:gd name="T22" fmla="*/ 23 w 24"/>
                <a:gd name="T23" fmla="*/ 10 h 24"/>
                <a:gd name="T24" fmla="*/ 21 w 24"/>
                <a:gd name="T25" fmla="*/ 8 h 24"/>
                <a:gd name="T26" fmla="*/ 21 w 24"/>
                <a:gd name="T27" fmla="*/ 6 h 24"/>
                <a:gd name="T28" fmla="*/ 19 w 24"/>
                <a:gd name="T29" fmla="*/ 6 h 24"/>
                <a:gd name="T30" fmla="*/ 19 w 24"/>
                <a:gd name="T31" fmla="*/ 4 h 24"/>
                <a:gd name="T32" fmla="*/ 17 w 24"/>
                <a:gd name="T33" fmla="*/ 2 h 24"/>
                <a:gd name="T34" fmla="*/ 15 w 24"/>
                <a:gd name="T35" fmla="*/ 2 h 24"/>
                <a:gd name="T36" fmla="*/ 15 w 24"/>
                <a:gd name="T37" fmla="*/ 0 h 24"/>
                <a:gd name="T38" fmla="*/ 13 w 24"/>
                <a:gd name="T39" fmla="*/ 0 h 24"/>
                <a:gd name="T40" fmla="*/ 11 w 24"/>
                <a:gd name="T41" fmla="*/ 0 h 24"/>
                <a:gd name="T42" fmla="*/ 9 w 24"/>
                <a:gd name="T43" fmla="*/ 0 h 24"/>
                <a:gd name="T44" fmla="*/ 7 w 24"/>
                <a:gd name="T45" fmla="*/ 0 h 24"/>
                <a:gd name="T46" fmla="*/ 5 w 24"/>
                <a:gd name="T47" fmla="*/ 2 h 24"/>
                <a:gd name="T48" fmla="*/ 3 w 24"/>
                <a:gd name="T49" fmla="*/ 2 h 24"/>
                <a:gd name="T50" fmla="*/ 2 w 24"/>
                <a:gd name="T51" fmla="*/ 4 h 24"/>
                <a:gd name="T52" fmla="*/ 2 w 24"/>
                <a:gd name="T53" fmla="*/ 6 h 24"/>
                <a:gd name="T54" fmla="*/ 0 w 24"/>
                <a:gd name="T55" fmla="*/ 6 h 24"/>
                <a:gd name="T56" fmla="*/ 0 w 24"/>
                <a:gd name="T57" fmla="*/ 8 h 24"/>
                <a:gd name="T58" fmla="*/ 0 w 24"/>
                <a:gd name="T59" fmla="*/ 10 h 24"/>
                <a:gd name="T60" fmla="*/ 0 w 24"/>
                <a:gd name="T61" fmla="*/ 11 h 24"/>
                <a:gd name="T62" fmla="*/ 0 w 24"/>
                <a:gd name="T63" fmla="*/ 13 h 24"/>
                <a:gd name="T64" fmla="*/ 0 w 24"/>
                <a:gd name="T65" fmla="*/ 15 h 24"/>
                <a:gd name="T66" fmla="*/ 0 w 24"/>
                <a:gd name="T67" fmla="*/ 17 h 24"/>
                <a:gd name="T68" fmla="*/ 2 w 24"/>
                <a:gd name="T69" fmla="*/ 19 h 24"/>
                <a:gd name="T70" fmla="*/ 2 w 24"/>
                <a:gd name="T71" fmla="*/ 19 h 24"/>
                <a:gd name="T72" fmla="*/ 3 w 24"/>
                <a:gd name="T73" fmla="*/ 21 h 24"/>
                <a:gd name="T74" fmla="*/ 5 w 24"/>
                <a:gd name="T75" fmla="*/ 23 h 24"/>
                <a:gd name="T76" fmla="*/ 7 w 24"/>
                <a:gd name="T77" fmla="*/ 23 h 24"/>
                <a:gd name="T78" fmla="*/ 9 w 24"/>
                <a:gd name="T79" fmla="*/ 23 h 24"/>
                <a:gd name="T80" fmla="*/ 11 w 24"/>
                <a:gd name="T81" fmla="*/ 23 h 24"/>
                <a:gd name="T82" fmla="*/ 11 w 24"/>
                <a:gd name="T83" fmla="*/ 23 h 24"/>
                <a:gd name="T84" fmla="*/ 9 w 24"/>
                <a:gd name="T85" fmla="*/ 23 h 2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4"/>
                <a:gd name="T130" fmla="*/ 0 h 24"/>
                <a:gd name="T131" fmla="*/ 24 w 24"/>
                <a:gd name="T132" fmla="*/ 24 h 24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4" h="24">
                  <a:moveTo>
                    <a:pt x="9" y="23"/>
                  </a:moveTo>
                  <a:lnTo>
                    <a:pt x="13" y="23"/>
                  </a:lnTo>
                  <a:lnTo>
                    <a:pt x="15" y="23"/>
                  </a:lnTo>
                  <a:lnTo>
                    <a:pt x="17" y="21"/>
                  </a:lnTo>
                  <a:lnTo>
                    <a:pt x="19" y="19"/>
                  </a:lnTo>
                  <a:lnTo>
                    <a:pt x="21" y="17"/>
                  </a:lnTo>
                  <a:lnTo>
                    <a:pt x="21" y="15"/>
                  </a:lnTo>
                  <a:lnTo>
                    <a:pt x="23" y="13"/>
                  </a:lnTo>
                  <a:lnTo>
                    <a:pt x="23" y="11"/>
                  </a:lnTo>
                  <a:lnTo>
                    <a:pt x="23" y="10"/>
                  </a:lnTo>
                  <a:lnTo>
                    <a:pt x="21" y="8"/>
                  </a:lnTo>
                  <a:lnTo>
                    <a:pt x="21" y="6"/>
                  </a:lnTo>
                  <a:lnTo>
                    <a:pt x="19" y="6"/>
                  </a:lnTo>
                  <a:lnTo>
                    <a:pt x="19" y="4"/>
                  </a:lnTo>
                  <a:lnTo>
                    <a:pt x="17" y="2"/>
                  </a:lnTo>
                  <a:lnTo>
                    <a:pt x="15" y="2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1" y="0"/>
                  </a:lnTo>
                  <a:lnTo>
                    <a:pt x="9" y="0"/>
                  </a:lnTo>
                  <a:lnTo>
                    <a:pt x="7" y="0"/>
                  </a:lnTo>
                  <a:lnTo>
                    <a:pt x="5" y="2"/>
                  </a:lnTo>
                  <a:lnTo>
                    <a:pt x="3" y="2"/>
                  </a:lnTo>
                  <a:lnTo>
                    <a:pt x="2" y="4"/>
                  </a:lnTo>
                  <a:lnTo>
                    <a:pt x="2" y="6"/>
                  </a:lnTo>
                  <a:lnTo>
                    <a:pt x="0" y="6"/>
                  </a:lnTo>
                  <a:lnTo>
                    <a:pt x="0" y="8"/>
                  </a:lnTo>
                  <a:lnTo>
                    <a:pt x="0" y="10"/>
                  </a:lnTo>
                  <a:lnTo>
                    <a:pt x="0" y="11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0" y="17"/>
                  </a:lnTo>
                  <a:lnTo>
                    <a:pt x="2" y="19"/>
                  </a:lnTo>
                  <a:lnTo>
                    <a:pt x="3" y="21"/>
                  </a:lnTo>
                  <a:lnTo>
                    <a:pt x="5" y="23"/>
                  </a:lnTo>
                  <a:lnTo>
                    <a:pt x="7" y="23"/>
                  </a:lnTo>
                  <a:lnTo>
                    <a:pt x="9" y="23"/>
                  </a:lnTo>
                  <a:lnTo>
                    <a:pt x="11" y="23"/>
                  </a:lnTo>
                  <a:lnTo>
                    <a:pt x="9" y="23"/>
                  </a:lnTo>
                </a:path>
              </a:pathLst>
            </a:custGeom>
            <a:solidFill>
              <a:srgbClr val="000000"/>
            </a:solidFill>
            <a:ln w="9525" cap="rnd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26" name="Line 42"/>
            <p:cNvSpPr>
              <a:spLocks noChangeShapeType="1"/>
            </p:cNvSpPr>
            <p:nvPr/>
          </p:nvSpPr>
          <p:spPr bwMode="auto">
            <a:xfrm flipH="1" flipV="1">
              <a:off x="2784" y="3197"/>
              <a:ext cx="35" cy="5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27" name="Rectangle 43"/>
            <p:cNvSpPr>
              <a:spLocks noChangeArrowheads="1"/>
            </p:cNvSpPr>
            <p:nvPr/>
          </p:nvSpPr>
          <p:spPr bwMode="auto">
            <a:xfrm>
              <a:off x="2737" y="3118"/>
              <a:ext cx="124" cy="1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sz="600">
                  <a:solidFill>
                    <a:srgbClr val="000000"/>
                  </a:solidFill>
                  <a:latin typeface="+mj-lt"/>
                </a:rPr>
                <a:t>6</a:t>
              </a:r>
            </a:p>
          </p:txBody>
        </p:sp>
        <p:sp>
          <p:nvSpPr>
            <p:cNvPr id="54328" name="Line 44"/>
            <p:cNvSpPr>
              <a:spLocks noChangeShapeType="1"/>
            </p:cNvSpPr>
            <p:nvPr/>
          </p:nvSpPr>
          <p:spPr bwMode="auto">
            <a:xfrm flipH="1" flipV="1">
              <a:off x="2532" y="2527"/>
              <a:ext cx="440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29" name="Freeform 45"/>
            <p:cNvSpPr>
              <a:spLocks/>
            </p:cNvSpPr>
            <p:nvPr/>
          </p:nvSpPr>
          <p:spPr bwMode="auto">
            <a:xfrm>
              <a:off x="2692" y="2722"/>
              <a:ext cx="890" cy="284"/>
            </a:xfrm>
            <a:custGeom>
              <a:avLst/>
              <a:gdLst>
                <a:gd name="T0" fmla="*/ 889 w 935"/>
                <a:gd name="T1" fmla="*/ 283 h 284"/>
                <a:gd name="T2" fmla="*/ 0 w 935"/>
                <a:gd name="T3" fmla="*/ 283 h 284"/>
                <a:gd name="T4" fmla="*/ 0 w 935"/>
                <a:gd name="T5" fmla="*/ 0 h 284"/>
                <a:gd name="T6" fmla="*/ 0 60000 65536"/>
                <a:gd name="T7" fmla="*/ 0 60000 65536"/>
                <a:gd name="T8" fmla="*/ 0 60000 65536"/>
                <a:gd name="T9" fmla="*/ 0 w 935"/>
                <a:gd name="T10" fmla="*/ 0 h 284"/>
                <a:gd name="T11" fmla="*/ 935 w 935"/>
                <a:gd name="T12" fmla="*/ 284 h 28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35" h="284">
                  <a:moveTo>
                    <a:pt x="934" y="283"/>
                  </a:moveTo>
                  <a:lnTo>
                    <a:pt x="0" y="283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triangl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30" name="Freeform 46"/>
            <p:cNvSpPr>
              <a:spLocks/>
            </p:cNvSpPr>
            <p:nvPr/>
          </p:nvSpPr>
          <p:spPr bwMode="auto">
            <a:xfrm>
              <a:off x="3582" y="1917"/>
              <a:ext cx="93" cy="1777"/>
            </a:xfrm>
            <a:custGeom>
              <a:avLst/>
              <a:gdLst>
                <a:gd name="T0" fmla="*/ 90 w 93"/>
                <a:gd name="T1" fmla="*/ 1776 h 1777"/>
                <a:gd name="T2" fmla="*/ 92 w 93"/>
                <a:gd name="T3" fmla="*/ 0 h 1777"/>
                <a:gd name="T4" fmla="*/ 0 w 93"/>
                <a:gd name="T5" fmla="*/ 0 h 1777"/>
                <a:gd name="T6" fmla="*/ 0 w 93"/>
                <a:gd name="T7" fmla="*/ 1776 h 1777"/>
                <a:gd name="T8" fmla="*/ 92 w 93"/>
                <a:gd name="T9" fmla="*/ 1776 h 1777"/>
                <a:gd name="T10" fmla="*/ 92 w 93"/>
                <a:gd name="T11" fmla="*/ 1776 h 177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3"/>
                <a:gd name="T19" fmla="*/ 0 h 1777"/>
                <a:gd name="T20" fmla="*/ 93 w 93"/>
                <a:gd name="T21" fmla="*/ 1777 h 177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3" h="1777">
                  <a:moveTo>
                    <a:pt x="90" y="1776"/>
                  </a:moveTo>
                  <a:lnTo>
                    <a:pt x="92" y="0"/>
                  </a:lnTo>
                  <a:lnTo>
                    <a:pt x="0" y="0"/>
                  </a:lnTo>
                  <a:lnTo>
                    <a:pt x="0" y="1776"/>
                  </a:lnTo>
                  <a:lnTo>
                    <a:pt x="92" y="1776"/>
                  </a:lnTo>
                </a:path>
              </a:pathLst>
            </a:custGeom>
            <a:solidFill>
              <a:srgbClr val="CCECFF"/>
            </a:solidFill>
            <a:ln w="190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31" name="Freeform 47"/>
            <p:cNvSpPr>
              <a:spLocks/>
            </p:cNvSpPr>
            <p:nvPr/>
          </p:nvSpPr>
          <p:spPr bwMode="auto">
            <a:xfrm>
              <a:off x="2899" y="1955"/>
              <a:ext cx="365" cy="422"/>
            </a:xfrm>
            <a:custGeom>
              <a:avLst/>
              <a:gdLst>
                <a:gd name="T0" fmla="*/ 0 w 301"/>
                <a:gd name="T1" fmla="*/ 0 h 422"/>
                <a:gd name="T2" fmla="*/ 0 w 301"/>
                <a:gd name="T3" fmla="*/ 170 h 422"/>
                <a:gd name="T4" fmla="*/ 75 w 301"/>
                <a:gd name="T5" fmla="*/ 210 h 422"/>
                <a:gd name="T6" fmla="*/ 0 w 301"/>
                <a:gd name="T7" fmla="*/ 251 h 422"/>
                <a:gd name="T8" fmla="*/ 0 w 301"/>
                <a:gd name="T9" fmla="*/ 421 h 422"/>
                <a:gd name="T10" fmla="*/ 364 w 301"/>
                <a:gd name="T11" fmla="*/ 285 h 422"/>
                <a:gd name="T12" fmla="*/ 364 w 301"/>
                <a:gd name="T13" fmla="*/ 138 h 422"/>
                <a:gd name="T14" fmla="*/ 0 w 301"/>
                <a:gd name="T15" fmla="*/ 0 h 422"/>
                <a:gd name="T16" fmla="*/ 0 w 301"/>
                <a:gd name="T17" fmla="*/ 0 h 42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01"/>
                <a:gd name="T28" fmla="*/ 0 h 422"/>
                <a:gd name="T29" fmla="*/ 301 w 301"/>
                <a:gd name="T30" fmla="*/ 422 h 422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01" h="422">
                  <a:moveTo>
                    <a:pt x="0" y="0"/>
                  </a:moveTo>
                  <a:lnTo>
                    <a:pt x="0" y="170"/>
                  </a:lnTo>
                  <a:lnTo>
                    <a:pt x="62" y="210"/>
                  </a:lnTo>
                  <a:lnTo>
                    <a:pt x="0" y="251"/>
                  </a:lnTo>
                  <a:lnTo>
                    <a:pt x="0" y="421"/>
                  </a:lnTo>
                  <a:lnTo>
                    <a:pt x="300" y="285"/>
                  </a:lnTo>
                  <a:lnTo>
                    <a:pt x="300" y="138"/>
                  </a:lnTo>
                  <a:lnTo>
                    <a:pt x="0" y="0"/>
                  </a:lnTo>
                </a:path>
              </a:pathLst>
            </a:custGeom>
            <a:solidFill>
              <a:srgbClr val="CCFF99"/>
            </a:solidFill>
            <a:ln w="190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32" name="Freeform 48"/>
            <p:cNvSpPr>
              <a:spLocks/>
            </p:cNvSpPr>
            <p:nvPr/>
          </p:nvSpPr>
          <p:spPr bwMode="auto">
            <a:xfrm>
              <a:off x="2969" y="2461"/>
              <a:ext cx="391" cy="458"/>
            </a:xfrm>
            <a:custGeom>
              <a:avLst/>
              <a:gdLst>
                <a:gd name="T0" fmla="*/ 0 w 300"/>
                <a:gd name="T1" fmla="*/ 0 h 422"/>
                <a:gd name="T2" fmla="*/ 0 w 300"/>
                <a:gd name="T3" fmla="*/ 186 h 422"/>
                <a:gd name="T4" fmla="*/ 80 w 300"/>
                <a:gd name="T5" fmla="*/ 229 h 422"/>
                <a:gd name="T6" fmla="*/ 0 w 300"/>
                <a:gd name="T7" fmla="*/ 272 h 422"/>
                <a:gd name="T8" fmla="*/ 0 w 300"/>
                <a:gd name="T9" fmla="*/ 457 h 422"/>
                <a:gd name="T10" fmla="*/ 390 w 300"/>
                <a:gd name="T11" fmla="*/ 309 h 422"/>
                <a:gd name="T12" fmla="*/ 390 w 300"/>
                <a:gd name="T13" fmla="*/ 148 h 422"/>
                <a:gd name="T14" fmla="*/ 0 w 300"/>
                <a:gd name="T15" fmla="*/ 0 h 422"/>
                <a:gd name="T16" fmla="*/ 0 w 300"/>
                <a:gd name="T17" fmla="*/ 0 h 42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00"/>
                <a:gd name="T28" fmla="*/ 0 h 422"/>
                <a:gd name="T29" fmla="*/ 300 w 300"/>
                <a:gd name="T30" fmla="*/ 422 h 422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00" h="422">
                  <a:moveTo>
                    <a:pt x="0" y="0"/>
                  </a:moveTo>
                  <a:lnTo>
                    <a:pt x="0" y="171"/>
                  </a:lnTo>
                  <a:lnTo>
                    <a:pt x="61" y="211"/>
                  </a:lnTo>
                  <a:lnTo>
                    <a:pt x="0" y="251"/>
                  </a:lnTo>
                  <a:lnTo>
                    <a:pt x="0" y="421"/>
                  </a:lnTo>
                  <a:lnTo>
                    <a:pt x="299" y="285"/>
                  </a:lnTo>
                  <a:lnTo>
                    <a:pt x="299" y="136"/>
                  </a:lnTo>
                  <a:lnTo>
                    <a:pt x="0" y="0"/>
                  </a:lnTo>
                </a:path>
              </a:pathLst>
            </a:custGeom>
            <a:solidFill>
              <a:srgbClr val="CCFF99"/>
            </a:solidFill>
            <a:ln w="190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33" name="Freeform 49"/>
            <p:cNvSpPr>
              <a:spLocks/>
            </p:cNvSpPr>
            <p:nvPr/>
          </p:nvSpPr>
          <p:spPr bwMode="auto">
            <a:xfrm>
              <a:off x="2675" y="2170"/>
              <a:ext cx="151" cy="239"/>
            </a:xfrm>
            <a:custGeom>
              <a:avLst/>
              <a:gdLst>
                <a:gd name="T0" fmla="*/ 73 w 151"/>
                <a:gd name="T1" fmla="*/ 236 h 239"/>
                <a:gd name="T2" fmla="*/ 86 w 151"/>
                <a:gd name="T3" fmla="*/ 236 h 239"/>
                <a:gd name="T4" fmla="*/ 98 w 151"/>
                <a:gd name="T5" fmla="*/ 232 h 239"/>
                <a:gd name="T6" fmla="*/ 109 w 151"/>
                <a:gd name="T7" fmla="*/ 224 h 239"/>
                <a:gd name="T8" fmla="*/ 119 w 151"/>
                <a:gd name="T9" fmla="*/ 215 h 239"/>
                <a:gd name="T10" fmla="*/ 129 w 151"/>
                <a:gd name="T11" fmla="*/ 203 h 239"/>
                <a:gd name="T12" fmla="*/ 134 w 151"/>
                <a:gd name="T13" fmla="*/ 188 h 239"/>
                <a:gd name="T14" fmla="*/ 142 w 151"/>
                <a:gd name="T15" fmla="*/ 172 h 239"/>
                <a:gd name="T16" fmla="*/ 146 w 151"/>
                <a:gd name="T17" fmla="*/ 155 h 239"/>
                <a:gd name="T18" fmla="*/ 150 w 151"/>
                <a:gd name="T19" fmla="*/ 138 h 239"/>
                <a:gd name="T20" fmla="*/ 150 w 151"/>
                <a:gd name="T21" fmla="*/ 119 h 239"/>
                <a:gd name="T22" fmla="*/ 150 w 151"/>
                <a:gd name="T23" fmla="*/ 100 h 239"/>
                <a:gd name="T24" fmla="*/ 146 w 151"/>
                <a:gd name="T25" fmla="*/ 80 h 239"/>
                <a:gd name="T26" fmla="*/ 142 w 151"/>
                <a:gd name="T27" fmla="*/ 63 h 239"/>
                <a:gd name="T28" fmla="*/ 134 w 151"/>
                <a:gd name="T29" fmla="*/ 48 h 239"/>
                <a:gd name="T30" fmla="*/ 129 w 151"/>
                <a:gd name="T31" fmla="*/ 34 h 239"/>
                <a:gd name="T32" fmla="*/ 119 w 151"/>
                <a:gd name="T33" fmla="*/ 23 h 239"/>
                <a:gd name="T34" fmla="*/ 109 w 151"/>
                <a:gd name="T35" fmla="*/ 13 h 239"/>
                <a:gd name="T36" fmla="*/ 98 w 151"/>
                <a:gd name="T37" fmla="*/ 6 h 239"/>
                <a:gd name="T38" fmla="*/ 86 w 151"/>
                <a:gd name="T39" fmla="*/ 0 h 239"/>
                <a:gd name="T40" fmla="*/ 75 w 151"/>
                <a:gd name="T41" fmla="*/ 0 h 239"/>
                <a:gd name="T42" fmla="*/ 62 w 151"/>
                <a:gd name="T43" fmla="*/ 0 h 239"/>
                <a:gd name="T44" fmla="*/ 50 w 151"/>
                <a:gd name="T45" fmla="*/ 6 h 239"/>
                <a:gd name="T46" fmla="*/ 40 w 151"/>
                <a:gd name="T47" fmla="*/ 13 h 239"/>
                <a:gd name="T48" fmla="*/ 31 w 151"/>
                <a:gd name="T49" fmla="*/ 23 h 239"/>
                <a:gd name="T50" fmla="*/ 21 w 151"/>
                <a:gd name="T51" fmla="*/ 34 h 239"/>
                <a:gd name="T52" fmla="*/ 14 w 151"/>
                <a:gd name="T53" fmla="*/ 48 h 239"/>
                <a:gd name="T54" fmla="*/ 8 w 151"/>
                <a:gd name="T55" fmla="*/ 63 h 239"/>
                <a:gd name="T56" fmla="*/ 4 w 151"/>
                <a:gd name="T57" fmla="*/ 80 h 239"/>
                <a:gd name="T58" fmla="*/ 0 w 151"/>
                <a:gd name="T59" fmla="*/ 100 h 239"/>
                <a:gd name="T60" fmla="*/ 0 w 151"/>
                <a:gd name="T61" fmla="*/ 119 h 239"/>
                <a:gd name="T62" fmla="*/ 0 w 151"/>
                <a:gd name="T63" fmla="*/ 138 h 239"/>
                <a:gd name="T64" fmla="*/ 4 w 151"/>
                <a:gd name="T65" fmla="*/ 155 h 239"/>
                <a:gd name="T66" fmla="*/ 8 w 151"/>
                <a:gd name="T67" fmla="*/ 172 h 239"/>
                <a:gd name="T68" fmla="*/ 14 w 151"/>
                <a:gd name="T69" fmla="*/ 188 h 239"/>
                <a:gd name="T70" fmla="*/ 21 w 151"/>
                <a:gd name="T71" fmla="*/ 203 h 239"/>
                <a:gd name="T72" fmla="*/ 31 w 151"/>
                <a:gd name="T73" fmla="*/ 215 h 239"/>
                <a:gd name="T74" fmla="*/ 40 w 151"/>
                <a:gd name="T75" fmla="*/ 224 h 239"/>
                <a:gd name="T76" fmla="*/ 50 w 151"/>
                <a:gd name="T77" fmla="*/ 232 h 239"/>
                <a:gd name="T78" fmla="*/ 62 w 151"/>
                <a:gd name="T79" fmla="*/ 236 h 239"/>
                <a:gd name="T80" fmla="*/ 75 w 151"/>
                <a:gd name="T81" fmla="*/ 238 h 239"/>
                <a:gd name="T82" fmla="*/ 75 w 151"/>
                <a:gd name="T83" fmla="*/ 238 h 239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151"/>
                <a:gd name="T127" fmla="*/ 0 h 239"/>
                <a:gd name="T128" fmla="*/ 151 w 151"/>
                <a:gd name="T129" fmla="*/ 239 h 239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151" h="239">
                  <a:moveTo>
                    <a:pt x="73" y="236"/>
                  </a:moveTo>
                  <a:lnTo>
                    <a:pt x="86" y="236"/>
                  </a:lnTo>
                  <a:lnTo>
                    <a:pt x="98" y="232"/>
                  </a:lnTo>
                  <a:lnTo>
                    <a:pt x="109" y="224"/>
                  </a:lnTo>
                  <a:lnTo>
                    <a:pt x="119" y="215"/>
                  </a:lnTo>
                  <a:lnTo>
                    <a:pt x="129" y="203"/>
                  </a:lnTo>
                  <a:lnTo>
                    <a:pt x="134" y="188"/>
                  </a:lnTo>
                  <a:lnTo>
                    <a:pt x="142" y="172"/>
                  </a:lnTo>
                  <a:lnTo>
                    <a:pt x="146" y="155"/>
                  </a:lnTo>
                  <a:lnTo>
                    <a:pt x="150" y="138"/>
                  </a:lnTo>
                  <a:lnTo>
                    <a:pt x="150" y="119"/>
                  </a:lnTo>
                  <a:lnTo>
                    <a:pt x="150" y="100"/>
                  </a:lnTo>
                  <a:lnTo>
                    <a:pt x="146" y="80"/>
                  </a:lnTo>
                  <a:lnTo>
                    <a:pt x="142" y="63"/>
                  </a:lnTo>
                  <a:lnTo>
                    <a:pt x="134" y="48"/>
                  </a:lnTo>
                  <a:lnTo>
                    <a:pt x="129" y="34"/>
                  </a:lnTo>
                  <a:lnTo>
                    <a:pt x="119" y="23"/>
                  </a:lnTo>
                  <a:lnTo>
                    <a:pt x="109" y="13"/>
                  </a:lnTo>
                  <a:lnTo>
                    <a:pt x="98" y="6"/>
                  </a:lnTo>
                  <a:lnTo>
                    <a:pt x="86" y="0"/>
                  </a:lnTo>
                  <a:lnTo>
                    <a:pt x="75" y="0"/>
                  </a:lnTo>
                  <a:lnTo>
                    <a:pt x="62" y="0"/>
                  </a:lnTo>
                  <a:lnTo>
                    <a:pt x="50" y="6"/>
                  </a:lnTo>
                  <a:lnTo>
                    <a:pt x="40" y="13"/>
                  </a:lnTo>
                  <a:lnTo>
                    <a:pt x="31" y="23"/>
                  </a:lnTo>
                  <a:lnTo>
                    <a:pt x="21" y="34"/>
                  </a:lnTo>
                  <a:lnTo>
                    <a:pt x="14" y="48"/>
                  </a:lnTo>
                  <a:lnTo>
                    <a:pt x="8" y="63"/>
                  </a:lnTo>
                  <a:lnTo>
                    <a:pt x="4" y="80"/>
                  </a:lnTo>
                  <a:lnTo>
                    <a:pt x="0" y="100"/>
                  </a:lnTo>
                  <a:lnTo>
                    <a:pt x="0" y="119"/>
                  </a:lnTo>
                  <a:lnTo>
                    <a:pt x="0" y="138"/>
                  </a:lnTo>
                  <a:lnTo>
                    <a:pt x="4" y="155"/>
                  </a:lnTo>
                  <a:lnTo>
                    <a:pt x="8" y="172"/>
                  </a:lnTo>
                  <a:lnTo>
                    <a:pt x="14" y="188"/>
                  </a:lnTo>
                  <a:lnTo>
                    <a:pt x="21" y="203"/>
                  </a:lnTo>
                  <a:lnTo>
                    <a:pt x="31" y="215"/>
                  </a:lnTo>
                  <a:lnTo>
                    <a:pt x="40" y="224"/>
                  </a:lnTo>
                  <a:lnTo>
                    <a:pt x="50" y="232"/>
                  </a:lnTo>
                  <a:lnTo>
                    <a:pt x="62" y="236"/>
                  </a:lnTo>
                  <a:lnTo>
                    <a:pt x="75" y="238"/>
                  </a:lnTo>
                </a:path>
              </a:pathLst>
            </a:custGeom>
            <a:solidFill>
              <a:srgbClr val="EAEAEA"/>
            </a:solidFill>
            <a:ln w="190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34" name="Rectangle 50"/>
            <p:cNvSpPr>
              <a:spLocks noChangeArrowheads="1"/>
            </p:cNvSpPr>
            <p:nvPr/>
          </p:nvSpPr>
          <p:spPr bwMode="auto">
            <a:xfrm>
              <a:off x="2991" y="2737"/>
              <a:ext cx="138" cy="1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dirty="0">
                  <a:solidFill>
                    <a:srgbClr val="000000"/>
                  </a:solidFill>
                  <a:latin typeface="+mj-lt"/>
                </a:rPr>
                <a:t>ALU</a:t>
              </a:r>
            </a:p>
          </p:txBody>
        </p:sp>
        <p:sp>
          <p:nvSpPr>
            <p:cNvPr id="54335" name="Rectangle 51"/>
            <p:cNvSpPr>
              <a:spLocks noChangeArrowheads="1"/>
            </p:cNvSpPr>
            <p:nvPr/>
          </p:nvSpPr>
          <p:spPr bwMode="auto">
            <a:xfrm>
              <a:off x="3183" y="2697"/>
              <a:ext cx="132" cy="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 dirty="0">
                  <a:solidFill>
                    <a:srgbClr val="000000"/>
                  </a:solidFill>
                  <a:latin typeface="+mj-lt"/>
                </a:rPr>
                <a:t>result</a:t>
              </a:r>
            </a:p>
          </p:txBody>
        </p:sp>
        <p:sp>
          <p:nvSpPr>
            <p:cNvPr id="54336" name="Rectangle 52"/>
            <p:cNvSpPr>
              <a:spLocks noChangeArrowheads="1"/>
            </p:cNvSpPr>
            <p:nvPr/>
          </p:nvSpPr>
          <p:spPr bwMode="auto">
            <a:xfrm>
              <a:off x="3208" y="2604"/>
              <a:ext cx="127" cy="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 dirty="0">
                  <a:solidFill>
                    <a:srgbClr val="000000"/>
                  </a:solidFill>
                  <a:latin typeface="+mj-lt"/>
                </a:rPr>
                <a:t>z</a:t>
              </a:r>
              <a:r>
                <a:rPr lang="en-US" sz="800" dirty="0" smtClean="0">
                  <a:solidFill>
                    <a:srgbClr val="000000"/>
                  </a:solidFill>
                  <a:latin typeface="+mj-lt"/>
                </a:rPr>
                <a:t>ero?</a:t>
              </a:r>
              <a:endParaRPr lang="en-US" sz="500" dirty="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337" name="Rectangle 53"/>
            <p:cNvSpPr>
              <a:spLocks noChangeArrowheads="1"/>
            </p:cNvSpPr>
            <p:nvPr/>
          </p:nvSpPr>
          <p:spPr bwMode="auto">
            <a:xfrm>
              <a:off x="3105" y="2123"/>
              <a:ext cx="132" cy="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 dirty="0" smtClean="0">
                  <a:solidFill>
                    <a:srgbClr val="000000"/>
                  </a:solidFill>
                  <a:latin typeface="+mj-lt"/>
                </a:rPr>
                <a:t>result</a:t>
              </a:r>
              <a:endParaRPr lang="en-US" sz="500" dirty="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338" name="Rectangle 54"/>
            <p:cNvSpPr>
              <a:spLocks noChangeArrowheads="1"/>
            </p:cNvSpPr>
            <p:nvPr/>
          </p:nvSpPr>
          <p:spPr bwMode="auto">
            <a:xfrm>
              <a:off x="2928" y="2191"/>
              <a:ext cx="138" cy="1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dirty="0">
                  <a:solidFill>
                    <a:srgbClr val="000000"/>
                  </a:solidFill>
                  <a:latin typeface="+mj-lt"/>
                </a:rPr>
                <a:t>Add</a:t>
              </a:r>
            </a:p>
          </p:txBody>
        </p:sp>
        <p:sp>
          <p:nvSpPr>
            <p:cNvPr id="54339" name="Rectangle 55"/>
            <p:cNvSpPr>
              <a:spLocks noChangeArrowheads="1"/>
            </p:cNvSpPr>
            <p:nvPr/>
          </p:nvSpPr>
          <p:spPr bwMode="auto">
            <a:xfrm>
              <a:off x="2694" y="2232"/>
              <a:ext cx="90" cy="1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600" dirty="0">
                  <a:solidFill>
                    <a:srgbClr val="000000"/>
                  </a:solidFill>
                  <a:latin typeface="+mj-lt"/>
                </a:rPr>
                <a:t>Shift </a:t>
              </a:r>
            </a:p>
            <a:p>
              <a:r>
                <a:rPr lang="en-US" sz="600" dirty="0">
                  <a:solidFill>
                    <a:srgbClr val="000000"/>
                  </a:solidFill>
                  <a:latin typeface="+mj-lt"/>
                </a:rPr>
                <a:t>left 2</a:t>
              </a:r>
              <a:endParaRPr lang="en-US" sz="500" dirty="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340" name="Line 56"/>
            <p:cNvSpPr>
              <a:spLocks noChangeShapeType="1"/>
            </p:cNvSpPr>
            <p:nvPr/>
          </p:nvSpPr>
          <p:spPr bwMode="auto">
            <a:xfrm flipH="1" flipV="1">
              <a:off x="2907" y="2820"/>
              <a:ext cx="65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41" name="Line 57"/>
            <p:cNvSpPr>
              <a:spLocks noChangeShapeType="1"/>
            </p:cNvSpPr>
            <p:nvPr/>
          </p:nvSpPr>
          <p:spPr bwMode="auto">
            <a:xfrm flipH="1" flipV="1">
              <a:off x="2526" y="2721"/>
              <a:ext cx="290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42" name="Line 58"/>
            <p:cNvSpPr>
              <a:spLocks noChangeShapeType="1"/>
            </p:cNvSpPr>
            <p:nvPr/>
          </p:nvSpPr>
          <p:spPr bwMode="auto">
            <a:xfrm flipH="1" flipV="1">
              <a:off x="2746" y="2925"/>
              <a:ext cx="71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43" name="Line 59"/>
            <p:cNvSpPr>
              <a:spLocks noChangeShapeType="1"/>
            </p:cNvSpPr>
            <p:nvPr/>
          </p:nvSpPr>
          <p:spPr bwMode="auto">
            <a:xfrm flipH="1">
              <a:off x="3268" y="2163"/>
              <a:ext cx="308" cy="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44" name="Line 60"/>
            <p:cNvSpPr>
              <a:spLocks noChangeShapeType="1"/>
            </p:cNvSpPr>
            <p:nvPr/>
          </p:nvSpPr>
          <p:spPr bwMode="auto">
            <a:xfrm flipH="1" flipV="1">
              <a:off x="3355" y="2748"/>
              <a:ext cx="227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45" name="Line 61"/>
            <p:cNvSpPr>
              <a:spLocks noChangeShapeType="1"/>
            </p:cNvSpPr>
            <p:nvPr/>
          </p:nvSpPr>
          <p:spPr bwMode="auto">
            <a:xfrm flipH="1">
              <a:off x="2523" y="3451"/>
              <a:ext cx="254" cy="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46" name="Line 62"/>
            <p:cNvSpPr>
              <a:spLocks noChangeShapeType="1"/>
            </p:cNvSpPr>
            <p:nvPr/>
          </p:nvSpPr>
          <p:spPr bwMode="auto">
            <a:xfrm flipH="1" flipV="1">
              <a:off x="2526" y="3647"/>
              <a:ext cx="254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47" name="Rectangle 63"/>
            <p:cNvSpPr>
              <a:spLocks noChangeArrowheads="1"/>
            </p:cNvSpPr>
            <p:nvPr/>
          </p:nvSpPr>
          <p:spPr bwMode="auto">
            <a:xfrm>
              <a:off x="2914" y="3127"/>
              <a:ext cx="172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n-US" sz="800">
                  <a:solidFill>
                    <a:srgbClr val="EB7500"/>
                  </a:solidFill>
                  <a:latin typeface="+mj-lt"/>
                </a:rPr>
                <a:t>ALU</a:t>
              </a:r>
            </a:p>
            <a:p>
              <a:pPr algn="ctr"/>
              <a:r>
                <a:rPr lang="en-US" sz="800">
                  <a:solidFill>
                    <a:srgbClr val="EB7500"/>
                  </a:solidFill>
                  <a:latin typeface="+mj-lt"/>
                </a:rPr>
                <a:t>Control</a:t>
              </a:r>
              <a:endParaRPr lang="en-US" sz="500">
                <a:solidFill>
                  <a:srgbClr val="EB7500"/>
                </a:solidFill>
                <a:latin typeface="+mj-lt"/>
              </a:endParaRPr>
            </a:p>
          </p:txBody>
        </p:sp>
        <p:sp>
          <p:nvSpPr>
            <p:cNvPr id="54350" name="Line 66"/>
            <p:cNvSpPr>
              <a:spLocks noChangeShapeType="1"/>
            </p:cNvSpPr>
            <p:nvPr/>
          </p:nvSpPr>
          <p:spPr bwMode="auto">
            <a:xfrm flipH="1">
              <a:off x="2875" y="3555"/>
              <a:ext cx="702" cy="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51" name="Line 67"/>
            <p:cNvSpPr>
              <a:spLocks noChangeShapeType="1"/>
            </p:cNvSpPr>
            <p:nvPr/>
          </p:nvSpPr>
          <p:spPr bwMode="auto">
            <a:xfrm flipH="1" flipV="1">
              <a:off x="2826" y="2286"/>
              <a:ext cx="71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53" name="Rectangle 69"/>
            <p:cNvSpPr>
              <a:spLocks noChangeArrowheads="1"/>
            </p:cNvSpPr>
            <p:nvPr/>
          </p:nvSpPr>
          <p:spPr bwMode="auto">
            <a:xfrm>
              <a:off x="1824" y="2374"/>
              <a:ext cx="117" cy="1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800" dirty="0">
                  <a:solidFill>
                    <a:srgbClr val="000000"/>
                  </a:solidFill>
                  <a:latin typeface="+mj-lt"/>
                </a:rPr>
                <a:t>Read</a:t>
              </a:r>
            </a:p>
            <a:p>
              <a:pPr>
                <a:lnSpc>
                  <a:spcPct val="90000"/>
                </a:lnSpc>
              </a:pPr>
              <a:r>
                <a:rPr lang="en-US" sz="800" dirty="0" err="1">
                  <a:solidFill>
                    <a:srgbClr val="000000"/>
                  </a:solidFill>
                  <a:latin typeface="+mj-lt"/>
                </a:rPr>
                <a:t>reg</a:t>
              </a:r>
              <a:r>
                <a:rPr lang="en-US" sz="800" dirty="0">
                  <a:solidFill>
                    <a:srgbClr val="000000"/>
                  </a:solidFill>
                  <a:latin typeface="+mj-lt"/>
                </a:rPr>
                <a:t> 1</a:t>
              </a:r>
              <a:endParaRPr lang="en-US" sz="600" dirty="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354" name="Rectangle 70"/>
            <p:cNvSpPr>
              <a:spLocks noChangeArrowheads="1"/>
            </p:cNvSpPr>
            <p:nvPr/>
          </p:nvSpPr>
          <p:spPr bwMode="auto">
            <a:xfrm>
              <a:off x="1823" y="2524"/>
              <a:ext cx="117" cy="1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800" dirty="0">
                  <a:solidFill>
                    <a:srgbClr val="000000"/>
                  </a:solidFill>
                  <a:latin typeface="+mj-lt"/>
                </a:rPr>
                <a:t>Read</a:t>
              </a:r>
            </a:p>
            <a:p>
              <a:pPr>
                <a:lnSpc>
                  <a:spcPct val="90000"/>
                </a:lnSpc>
              </a:pPr>
              <a:r>
                <a:rPr lang="en-US" sz="800" dirty="0" err="1">
                  <a:solidFill>
                    <a:srgbClr val="000000"/>
                  </a:solidFill>
                  <a:latin typeface="+mj-lt"/>
                </a:rPr>
                <a:t>reg</a:t>
              </a:r>
              <a:r>
                <a:rPr lang="en-US" sz="800" dirty="0">
                  <a:solidFill>
                    <a:srgbClr val="000000"/>
                  </a:solidFill>
                  <a:latin typeface="+mj-lt"/>
                </a:rPr>
                <a:t> 2</a:t>
              </a:r>
              <a:endParaRPr lang="en-US" sz="600" dirty="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355" name="Rectangle 71"/>
            <p:cNvSpPr>
              <a:spLocks noChangeArrowheads="1"/>
            </p:cNvSpPr>
            <p:nvPr/>
          </p:nvSpPr>
          <p:spPr bwMode="auto">
            <a:xfrm>
              <a:off x="1830" y="2683"/>
              <a:ext cx="130" cy="1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800" dirty="0">
                  <a:solidFill>
                    <a:srgbClr val="000000"/>
                  </a:solidFill>
                  <a:latin typeface="+mj-lt"/>
                </a:rPr>
                <a:t>Write</a:t>
              </a:r>
            </a:p>
            <a:p>
              <a:pPr>
                <a:lnSpc>
                  <a:spcPct val="90000"/>
                </a:lnSpc>
              </a:pPr>
              <a:r>
                <a:rPr lang="en-US" sz="800" dirty="0" err="1">
                  <a:solidFill>
                    <a:srgbClr val="000000"/>
                  </a:solidFill>
                  <a:latin typeface="+mj-lt"/>
                </a:rPr>
                <a:t>reg</a:t>
              </a:r>
              <a:endParaRPr lang="en-US" sz="700" dirty="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356" name="Rectangle 72"/>
            <p:cNvSpPr>
              <a:spLocks noChangeArrowheads="1"/>
            </p:cNvSpPr>
            <p:nvPr/>
          </p:nvSpPr>
          <p:spPr bwMode="auto">
            <a:xfrm>
              <a:off x="1833" y="2836"/>
              <a:ext cx="130" cy="1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800" dirty="0">
                  <a:solidFill>
                    <a:srgbClr val="000000"/>
                  </a:solidFill>
                  <a:latin typeface="+mj-lt"/>
                </a:rPr>
                <a:t>Write</a:t>
              </a:r>
            </a:p>
            <a:p>
              <a:pPr>
                <a:lnSpc>
                  <a:spcPct val="90000"/>
                </a:lnSpc>
              </a:pPr>
              <a:r>
                <a:rPr lang="en-US" sz="800" dirty="0">
                  <a:solidFill>
                    <a:srgbClr val="000000"/>
                  </a:solidFill>
                  <a:latin typeface="+mj-lt"/>
                </a:rPr>
                <a:t>data</a:t>
              </a:r>
            </a:p>
          </p:txBody>
        </p:sp>
        <p:sp>
          <p:nvSpPr>
            <p:cNvPr id="54357" name="Rectangle 73"/>
            <p:cNvSpPr>
              <a:spLocks noChangeArrowheads="1"/>
            </p:cNvSpPr>
            <p:nvPr/>
          </p:nvSpPr>
          <p:spPr bwMode="auto">
            <a:xfrm>
              <a:off x="2139" y="2470"/>
              <a:ext cx="145" cy="1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800" dirty="0">
                  <a:solidFill>
                    <a:srgbClr val="000000"/>
                  </a:solidFill>
                  <a:latin typeface="+mj-lt"/>
                </a:rPr>
                <a:t>Read</a:t>
              </a:r>
            </a:p>
            <a:p>
              <a:pPr>
                <a:lnSpc>
                  <a:spcPct val="90000"/>
                </a:lnSpc>
              </a:pPr>
              <a:r>
                <a:rPr lang="en-US" sz="800" dirty="0">
                  <a:solidFill>
                    <a:srgbClr val="000000"/>
                  </a:solidFill>
                  <a:latin typeface="+mj-lt"/>
                </a:rPr>
                <a:t>data 1</a:t>
              </a:r>
              <a:endParaRPr lang="en-US" sz="500" dirty="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358" name="Rectangle 74"/>
            <p:cNvSpPr>
              <a:spLocks noChangeArrowheads="1"/>
            </p:cNvSpPr>
            <p:nvPr/>
          </p:nvSpPr>
          <p:spPr bwMode="auto">
            <a:xfrm>
              <a:off x="2145" y="2657"/>
              <a:ext cx="145" cy="1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800" dirty="0">
                  <a:solidFill>
                    <a:srgbClr val="000000"/>
                  </a:solidFill>
                  <a:latin typeface="+mj-lt"/>
                </a:rPr>
                <a:t>Read</a:t>
              </a:r>
            </a:p>
            <a:p>
              <a:pPr>
                <a:lnSpc>
                  <a:spcPct val="90000"/>
                </a:lnSpc>
              </a:pPr>
              <a:r>
                <a:rPr lang="en-US" sz="800" dirty="0">
                  <a:solidFill>
                    <a:srgbClr val="000000"/>
                  </a:solidFill>
                  <a:latin typeface="+mj-lt"/>
                </a:rPr>
                <a:t>data 2</a:t>
              </a:r>
              <a:endParaRPr lang="en-US" sz="600" dirty="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359" name="Rectangle 75"/>
            <p:cNvSpPr>
              <a:spLocks noChangeArrowheads="1"/>
            </p:cNvSpPr>
            <p:nvPr/>
          </p:nvSpPr>
          <p:spPr bwMode="auto">
            <a:xfrm rot="16200000">
              <a:off x="1828" y="2603"/>
              <a:ext cx="442" cy="1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>
                  <a:solidFill>
                    <a:srgbClr val="000000"/>
                  </a:solidFill>
                  <a:latin typeface="+mj-lt"/>
                </a:rPr>
                <a:t>Register File</a:t>
              </a:r>
            </a:p>
          </p:txBody>
        </p:sp>
        <p:sp>
          <p:nvSpPr>
            <p:cNvPr id="54360" name="Rectangle 76"/>
            <p:cNvSpPr>
              <a:spLocks noChangeArrowheads="1"/>
            </p:cNvSpPr>
            <p:nvPr/>
          </p:nvSpPr>
          <p:spPr bwMode="auto">
            <a:xfrm>
              <a:off x="1743" y="3137"/>
              <a:ext cx="154" cy="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900">
                  <a:solidFill>
                    <a:srgbClr val="000000"/>
                  </a:solidFill>
                  <a:latin typeface="+mj-lt"/>
                </a:rPr>
                <a:t>[15-0]</a:t>
              </a:r>
              <a:endParaRPr lang="en-US" sz="5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361" name="Rectangle 77"/>
            <p:cNvSpPr>
              <a:spLocks noChangeArrowheads="1"/>
            </p:cNvSpPr>
            <p:nvPr/>
          </p:nvSpPr>
          <p:spPr bwMode="auto">
            <a:xfrm>
              <a:off x="1740" y="3358"/>
              <a:ext cx="186" cy="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900">
                  <a:solidFill>
                    <a:srgbClr val="000000"/>
                  </a:solidFill>
                  <a:latin typeface="+mj-lt"/>
                </a:rPr>
                <a:t>[20-16]</a:t>
              </a:r>
            </a:p>
          </p:txBody>
        </p:sp>
        <p:sp>
          <p:nvSpPr>
            <p:cNvPr id="54362" name="Rectangle 78"/>
            <p:cNvSpPr>
              <a:spLocks noChangeArrowheads="1"/>
            </p:cNvSpPr>
            <p:nvPr/>
          </p:nvSpPr>
          <p:spPr bwMode="auto">
            <a:xfrm>
              <a:off x="1743" y="3550"/>
              <a:ext cx="186" cy="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900">
                  <a:solidFill>
                    <a:srgbClr val="000000"/>
                  </a:solidFill>
                  <a:latin typeface="+mj-lt"/>
                </a:rPr>
                <a:t>[15-11]</a:t>
              </a:r>
            </a:p>
          </p:txBody>
        </p:sp>
        <p:sp>
          <p:nvSpPr>
            <p:cNvPr id="54363" name="Freeform 79"/>
            <p:cNvSpPr>
              <a:spLocks/>
            </p:cNvSpPr>
            <p:nvPr/>
          </p:nvSpPr>
          <p:spPr bwMode="auto">
            <a:xfrm>
              <a:off x="1629" y="3213"/>
              <a:ext cx="24" cy="24"/>
            </a:xfrm>
            <a:custGeom>
              <a:avLst/>
              <a:gdLst>
                <a:gd name="T0" fmla="*/ 10 w 24"/>
                <a:gd name="T1" fmla="*/ 23 h 24"/>
                <a:gd name="T2" fmla="*/ 14 w 24"/>
                <a:gd name="T3" fmla="*/ 23 h 24"/>
                <a:gd name="T4" fmla="*/ 16 w 24"/>
                <a:gd name="T5" fmla="*/ 23 h 24"/>
                <a:gd name="T6" fmla="*/ 16 w 24"/>
                <a:gd name="T7" fmla="*/ 21 h 24"/>
                <a:gd name="T8" fmla="*/ 18 w 24"/>
                <a:gd name="T9" fmla="*/ 21 h 24"/>
                <a:gd name="T10" fmla="*/ 20 w 24"/>
                <a:gd name="T11" fmla="*/ 19 h 24"/>
                <a:gd name="T12" fmla="*/ 22 w 24"/>
                <a:gd name="T13" fmla="*/ 18 h 24"/>
                <a:gd name="T14" fmla="*/ 22 w 24"/>
                <a:gd name="T15" fmla="*/ 18 h 24"/>
                <a:gd name="T16" fmla="*/ 22 w 24"/>
                <a:gd name="T17" fmla="*/ 16 h 24"/>
                <a:gd name="T18" fmla="*/ 23 w 24"/>
                <a:gd name="T19" fmla="*/ 14 h 24"/>
                <a:gd name="T20" fmla="*/ 23 w 24"/>
                <a:gd name="T21" fmla="*/ 12 h 24"/>
                <a:gd name="T22" fmla="*/ 23 w 24"/>
                <a:gd name="T23" fmla="*/ 10 h 24"/>
                <a:gd name="T24" fmla="*/ 22 w 24"/>
                <a:gd name="T25" fmla="*/ 8 h 24"/>
                <a:gd name="T26" fmla="*/ 22 w 24"/>
                <a:gd name="T27" fmla="*/ 6 h 24"/>
                <a:gd name="T28" fmla="*/ 22 w 24"/>
                <a:gd name="T29" fmla="*/ 4 h 24"/>
                <a:gd name="T30" fmla="*/ 20 w 24"/>
                <a:gd name="T31" fmla="*/ 4 h 24"/>
                <a:gd name="T32" fmla="*/ 18 w 24"/>
                <a:gd name="T33" fmla="*/ 2 h 24"/>
                <a:gd name="T34" fmla="*/ 16 w 24"/>
                <a:gd name="T35" fmla="*/ 2 h 24"/>
                <a:gd name="T36" fmla="*/ 16 w 24"/>
                <a:gd name="T37" fmla="*/ 0 h 24"/>
                <a:gd name="T38" fmla="*/ 14 w 24"/>
                <a:gd name="T39" fmla="*/ 0 h 24"/>
                <a:gd name="T40" fmla="*/ 12 w 24"/>
                <a:gd name="T41" fmla="*/ 0 h 24"/>
                <a:gd name="T42" fmla="*/ 10 w 24"/>
                <a:gd name="T43" fmla="*/ 0 h 24"/>
                <a:gd name="T44" fmla="*/ 8 w 24"/>
                <a:gd name="T45" fmla="*/ 0 h 24"/>
                <a:gd name="T46" fmla="*/ 6 w 24"/>
                <a:gd name="T47" fmla="*/ 2 h 24"/>
                <a:gd name="T48" fmla="*/ 4 w 24"/>
                <a:gd name="T49" fmla="*/ 2 h 24"/>
                <a:gd name="T50" fmla="*/ 2 w 24"/>
                <a:gd name="T51" fmla="*/ 4 h 24"/>
                <a:gd name="T52" fmla="*/ 2 w 24"/>
                <a:gd name="T53" fmla="*/ 4 h 24"/>
                <a:gd name="T54" fmla="*/ 0 w 24"/>
                <a:gd name="T55" fmla="*/ 6 h 24"/>
                <a:gd name="T56" fmla="*/ 0 w 24"/>
                <a:gd name="T57" fmla="*/ 8 h 24"/>
                <a:gd name="T58" fmla="*/ 0 w 24"/>
                <a:gd name="T59" fmla="*/ 10 h 24"/>
                <a:gd name="T60" fmla="*/ 0 w 24"/>
                <a:gd name="T61" fmla="*/ 12 h 24"/>
                <a:gd name="T62" fmla="*/ 0 w 24"/>
                <a:gd name="T63" fmla="*/ 14 h 24"/>
                <a:gd name="T64" fmla="*/ 0 w 24"/>
                <a:gd name="T65" fmla="*/ 16 h 24"/>
                <a:gd name="T66" fmla="*/ 0 w 24"/>
                <a:gd name="T67" fmla="*/ 18 h 24"/>
                <a:gd name="T68" fmla="*/ 2 w 24"/>
                <a:gd name="T69" fmla="*/ 18 h 24"/>
                <a:gd name="T70" fmla="*/ 2 w 24"/>
                <a:gd name="T71" fmla="*/ 19 h 24"/>
                <a:gd name="T72" fmla="*/ 4 w 24"/>
                <a:gd name="T73" fmla="*/ 21 h 24"/>
                <a:gd name="T74" fmla="*/ 6 w 24"/>
                <a:gd name="T75" fmla="*/ 21 h 24"/>
                <a:gd name="T76" fmla="*/ 8 w 24"/>
                <a:gd name="T77" fmla="*/ 23 h 24"/>
                <a:gd name="T78" fmla="*/ 10 w 24"/>
                <a:gd name="T79" fmla="*/ 23 h 24"/>
                <a:gd name="T80" fmla="*/ 12 w 24"/>
                <a:gd name="T81" fmla="*/ 23 h 24"/>
                <a:gd name="T82" fmla="*/ 12 w 24"/>
                <a:gd name="T83" fmla="*/ 23 h 24"/>
                <a:gd name="T84" fmla="*/ 10 w 24"/>
                <a:gd name="T85" fmla="*/ 23 h 2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4"/>
                <a:gd name="T130" fmla="*/ 0 h 24"/>
                <a:gd name="T131" fmla="*/ 24 w 24"/>
                <a:gd name="T132" fmla="*/ 24 h 24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4" h="24">
                  <a:moveTo>
                    <a:pt x="10" y="23"/>
                  </a:moveTo>
                  <a:lnTo>
                    <a:pt x="14" y="23"/>
                  </a:lnTo>
                  <a:lnTo>
                    <a:pt x="16" y="23"/>
                  </a:lnTo>
                  <a:lnTo>
                    <a:pt x="16" y="21"/>
                  </a:lnTo>
                  <a:lnTo>
                    <a:pt x="18" y="21"/>
                  </a:lnTo>
                  <a:lnTo>
                    <a:pt x="20" y="19"/>
                  </a:lnTo>
                  <a:lnTo>
                    <a:pt x="22" y="18"/>
                  </a:lnTo>
                  <a:lnTo>
                    <a:pt x="22" y="16"/>
                  </a:lnTo>
                  <a:lnTo>
                    <a:pt x="23" y="14"/>
                  </a:lnTo>
                  <a:lnTo>
                    <a:pt x="23" y="12"/>
                  </a:lnTo>
                  <a:lnTo>
                    <a:pt x="23" y="10"/>
                  </a:lnTo>
                  <a:lnTo>
                    <a:pt x="22" y="8"/>
                  </a:lnTo>
                  <a:lnTo>
                    <a:pt x="22" y="6"/>
                  </a:lnTo>
                  <a:lnTo>
                    <a:pt x="22" y="4"/>
                  </a:lnTo>
                  <a:lnTo>
                    <a:pt x="20" y="4"/>
                  </a:lnTo>
                  <a:lnTo>
                    <a:pt x="18" y="2"/>
                  </a:lnTo>
                  <a:lnTo>
                    <a:pt x="16" y="2"/>
                  </a:lnTo>
                  <a:lnTo>
                    <a:pt x="16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8" y="0"/>
                  </a:lnTo>
                  <a:lnTo>
                    <a:pt x="6" y="2"/>
                  </a:lnTo>
                  <a:lnTo>
                    <a:pt x="4" y="2"/>
                  </a:lnTo>
                  <a:lnTo>
                    <a:pt x="2" y="4"/>
                  </a:lnTo>
                  <a:lnTo>
                    <a:pt x="0" y="6"/>
                  </a:lnTo>
                  <a:lnTo>
                    <a:pt x="0" y="8"/>
                  </a:lnTo>
                  <a:lnTo>
                    <a:pt x="0" y="10"/>
                  </a:lnTo>
                  <a:lnTo>
                    <a:pt x="0" y="12"/>
                  </a:lnTo>
                  <a:lnTo>
                    <a:pt x="0" y="14"/>
                  </a:lnTo>
                  <a:lnTo>
                    <a:pt x="0" y="16"/>
                  </a:lnTo>
                  <a:lnTo>
                    <a:pt x="0" y="18"/>
                  </a:lnTo>
                  <a:lnTo>
                    <a:pt x="2" y="18"/>
                  </a:lnTo>
                  <a:lnTo>
                    <a:pt x="2" y="19"/>
                  </a:lnTo>
                  <a:lnTo>
                    <a:pt x="4" y="21"/>
                  </a:lnTo>
                  <a:lnTo>
                    <a:pt x="6" y="21"/>
                  </a:lnTo>
                  <a:lnTo>
                    <a:pt x="8" y="23"/>
                  </a:lnTo>
                  <a:lnTo>
                    <a:pt x="10" y="23"/>
                  </a:lnTo>
                  <a:lnTo>
                    <a:pt x="12" y="23"/>
                  </a:lnTo>
                  <a:lnTo>
                    <a:pt x="10" y="23"/>
                  </a:lnTo>
                </a:path>
              </a:pathLst>
            </a:custGeom>
            <a:solidFill>
              <a:srgbClr val="000000"/>
            </a:solidFill>
            <a:ln w="9525" cap="rnd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64" name="Freeform 80"/>
            <p:cNvSpPr>
              <a:spLocks/>
            </p:cNvSpPr>
            <p:nvPr/>
          </p:nvSpPr>
          <p:spPr bwMode="auto">
            <a:xfrm>
              <a:off x="2091" y="3039"/>
              <a:ext cx="215" cy="367"/>
            </a:xfrm>
            <a:custGeom>
              <a:avLst/>
              <a:gdLst>
                <a:gd name="T0" fmla="*/ 107 w 173"/>
                <a:gd name="T1" fmla="*/ 366 h 367"/>
                <a:gd name="T2" fmla="*/ 123 w 173"/>
                <a:gd name="T3" fmla="*/ 364 h 367"/>
                <a:gd name="T4" fmla="*/ 140 w 173"/>
                <a:gd name="T5" fmla="*/ 357 h 367"/>
                <a:gd name="T6" fmla="*/ 157 w 173"/>
                <a:gd name="T7" fmla="*/ 345 h 367"/>
                <a:gd name="T8" fmla="*/ 172 w 173"/>
                <a:gd name="T9" fmla="*/ 332 h 367"/>
                <a:gd name="T10" fmla="*/ 183 w 173"/>
                <a:gd name="T11" fmla="*/ 313 h 367"/>
                <a:gd name="T12" fmla="*/ 193 w 173"/>
                <a:gd name="T13" fmla="*/ 292 h 367"/>
                <a:gd name="T14" fmla="*/ 203 w 173"/>
                <a:gd name="T15" fmla="*/ 267 h 367"/>
                <a:gd name="T16" fmla="*/ 209 w 173"/>
                <a:gd name="T17" fmla="*/ 242 h 367"/>
                <a:gd name="T18" fmla="*/ 214 w 173"/>
                <a:gd name="T19" fmla="*/ 213 h 367"/>
                <a:gd name="T20" fmla="*/ 214 w 173"/>
                <a:gd name="T21" fmla="*/ 182 h 367"/>
                <a:gd name="T22" fmla="*/ 214 w 173"/>
                <a:gd name="T23" fmla="*/ 154 h 367"/>
                <a:gd name="T24" fmla="*/ 209 w 173"/>
                <a:gd name="T25" fmla="*/ 125 h 367"/>
                <a:gd name="T26" fmla="*/ 203 w 173"/>
                <a:gd name="T27" fmla="*/ 98 h 367"/>
                <a:gd name="T28" fmla="*/ 193 w 173"/>
                <a:gd name="T29" fmla="*/ 75 h 367"/>
                <a:gd name="T30" fmla="*/ 183 w 173"/>
                <a:gd name="T31" fmla="*/ 54 h 367"/>
                <a:gd name="T32" fmla="*/ 172 w 173"/>
                <a:gd name="T33" fmla="*/ 35 h 367"/>
                <a:gd name="T34" fmla="*/ 157 w 173"/>
                <a:gd name="T35" fmla="*/ 20 h 367"/>
                <a:gd name="T36" fmla="*/ 140 w 173"/>
                <a:gd name="T37" fmla="*/ 8 h 367"/>
                <a:gd name="T38" fmla="*/ 123 w 173"/>
                <a:gd name="T39" fmla="*/ 2 h 367"/>
                <a:gd name="T40" fmla="*/ 107 w 173"/>
                <a:gd name="T41" fmla="*/ 0 h 367"/>
                <a:gd name="T42" fmla="*/ 91 w 173"/>
                <a:gd name="T43" fmla="*/ 2 h 367"/>
                <a:gd name="T44" fmla="*/ 73 w 173"/>
                <a:gd name="T45" fmla="*/ 8 h 367"/>
                <a:gd name="T46" fmla="*/ 57 w 173"/>
                <a:gd name="T47" fmla="*/ 20 h 367"/>
                <a:gd name="T48" fmla="*/ 45 w 173"/>
                <a:gd name="T49" fmla="*/ 35 h 367"/>
                <a:gd name="T50" fmla="*/ 31 w 173"/>
                <a:gd name="T51" fmla="*/ 54 h 367"/>
                <a:gd name="T52" fmla="*/ 21 w 173"/>
                <a:gd name="T53" fmla="*/ 75 h 367"/>
                <a:gd name="T54" fmla="*/ 11 w 173"/>
                <a:gd name="T55" fmla="*/ 98 h 367"/>
                <a:gd name="T56" fmla="*/ 5 w 173"/>
                <a:gd name="T57" fmla="*/ 125 h 367"/>
                <a:gd name="T58" fmla="*/ 2 w 173"/>
                <a:gd name="T59" fmla="*/ 154 h 367"/>
                <a:gd name="T60" fmla="*/ 0 w 173"/>
                <a:gd name="T61" fmla="*/ 182 h 367"/>
                <a:gd name="T62" fmla="*/ 2 w 173"/>
                <a:gd name="T63" fmla="*/ 213 h 367"/>
                <a:gd name="T64" fmla="*/ 5 w 173"/>
                <a:gd name="T65" fmla="*/ 242 h 367"/>
                <a:gd name="T66" fmla="*/ 11 w 173"/>
                <a:gd name="T67" fmla="*/ 267 h 367"/>
                <a:gd name="T68" fmla="*/ 21 w 173"/>
                <a:gd name="T69" fmla="*/ 292 h 367"/>
                <a:gd name="T70" fmla="*/ 31 w 173"/>
                <a:gd name="T71" fmla="*/ 313 h 367"/>
                <a:gd name="T72" fmla="*/ 45 w 173"/>
                <a:gd name="T73" fmla="*/ 332 h 367"/>
                <a:gd name="T74" fmla="*/ 57 w 173"/>
                <a:gd name="T75" fmla="*/ 345 h 367"/>
                <a:gd name="T76" fmla="*/ 73 w 173"/>
                <a:gd name="T77" fmla="*/ 357 h 367"/>
                <a:gd name="T78" fmla="*/ 91 w 173"/>
                <a:gd name="T79" fmla="*/ 364 h 367"/>
                <a:gd name="T80" fmla="*/ 107 w 173"/>
                <a:gd name="T81" fmla="*/ 366 h 367"/>
                <a:gd name="T82" fmla="*/ 107 w 173"/>
                <a:gd name="T83" fmla="*/ 366 h 367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173"/>
                <a:gd name="T127" fmla="*/ 0 h 367"/>
                <a:gd name="T128" fmla="*/ 173 w 173"/>
                <a:gd name="T129" fmla="*/ 367 h 367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173" h="367">
                  <a:moveTo>
                    <a:pt x="86" y="366"/>
                  </a:moveTo>
                  <a:lnTo>
                    <a:pt x="99" y="364"/>
                  </a:lnTo>
                  <a:lnTo>
                    <a:pt x="113" y="357"/>
                  </a:lnTo>
                  <a:lnTo>
                    <a:pt x="126" y="345"/>
                  </a:lnTo>
                  <a:lnTo>
                    <a:pt x="138" y="332"/>
                  </a:lnTo>
                  <a:lnTo>
                    <a:pt x="147" y="313"/>
                  </a:lnTo>
                  <a:lnTo>
                    <a:pt x="155" y="292"/>
                  </a:lnTo>
                  <a:lnTo>
                    <a:pt x="163" y="267"/>
                  </a:lnTo>
                  <a:lnTo>
                    <a:pt x="168" y="242"/>
                  </a:lnTo>
                  <a:lnTo>
                    <a:pt x="172" y="213"/>
                  </a:lnTo>
                  <a:lnTo>
                    <a:pt x="172" y="182"/>
                  </a:lnTo>
                  <a:lnTo>
                    <a:pt x="172" y="154"/>
                  </a:lnTo>
                  <a:lnTo>
                    <a:pt x="168" y="125"/>
                  </a:lnTo>
                  <a:lnTo>
                    <a:pt x="163" y="98"/>
                  </a:lnTo>
                  <a:lnTo>
                    <a:pt x="155" y="75"/>
                  </a:lnTo>
                  <a:lnTo>
                    <a:pt x="147" y="54"/>
                  </a:lnTo>
                  <a:lnTo>
                    <a:pt x="138" y="35"/>
                  </a:lnTo>
                  <a:lnTo>
                    <a:pt x="126" y="20"/>
                  </a:lnTo>
                  <a:lnTo>
                    <a:pt x="113" y="8"/>
                  </a:lnTo>
                  <a:lnTo>
                    <a:pt x="99" y="2"/>
                  </a:lnTo>
                  <a:lnTo>
                    <a:pt x="86" y="0"/>
                  </a:lnTo>
                  <a:lnTo>
                    <a:pt x="73" y="2"/>
                  </a:lnTo>
                  <a:lnTo>
                    <a:pt x="59" y="8"/>
                  </a:lnTo>
                  <a:lnTo>
                    <a:pt x="46" y="20"/>
                  </a:lnTo>
                  <a:lnTo>
                    <a:pt x="36" y="35"/>
                  </a:lnTo>
                  <a:lnTo>
                    <a:pt x="25" y="54"/>
                  </a:lnTo>
                  <a:lnTo>
                    <a:pt x="17" y="75"/>
                  </a:lnTo>
                  <a:lnTo>
                    <a:pt x="9" y="98"/>
                  </a:lnTo>
                  <a:lnTo>
                    <a:pt x="4" y="125"/>
                  </a:lnTo>
                  <a:lnTo>
                    <a:pt x="2" y="154"/>
                  </a:lnTo>
                  <a:lnTo>
                    <a:pt x="0" y="182"/>
                  </a:lnTo>
                  <a:lnTo>
                    <a:pt x="2" y="213"/>
                  </a:lnTo>
                  <a:lnTo>
                    <a:pt x="4" y="242"/>
                  </a:lnTo>
                  <a:lnTo>
                    <a:pt x="9" y="267"/>
                  </a:lnTo>
                  <a:lnTo>
                    <a:pt x="17" y="292"/>
                  </a:lnTo>
                  <a:lnTo>
                    <a:pt x="25" y="313"/>
                  </a:lnTo>
                  <a:lnTo>
                    <a:pt x="36" y="332"/>
                  </a:lnTo>
                  <a:lnTo>
                    <a:pt x="46" y="345"/>
                  </a:lnTo>
                  <a:lnTo>
                    <a:pt x="59" y="357"/>
                  </a:lnTo>
                  <a:lnTo>
                    <a:pt x="73" y="364"/>
                  </a:lnTo>
                  <a:lnTo>
                    <a:pt x="86" y="366"/>
                  </a:lnTo>
                </a:path>
              </a:pathLst>
            </a:custGeom>
            <a:solidFill>
              <a:srgbClr val="EAEAEA"/>
            </a:solidFill>
            <a:ln w="190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65" name="Rectangle 81"/>
            <p:cNvSpPr>
              <a:spLocks noChangeArrowheads="1"/>
            </p:cNvSpPr>
            <p:nvPr/>
          </p:nvSpPr>
          <p:spPr bwMode="auto">
            <a:xfrm>
              <a:off x="2110" y="3124"/>
              <a:ext cx="180" cy="1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900" dirty="0">
                  <a:solidFill>
                    <a:srgbClr val="000000"/>
                  </a:solidFill>
                  <a:latin typeface="+mj-lt"/>
                </a:rPr>
                <a:t>Sign</a:t>
              </a:r>
            </a:p>
            <a:p>
              <a:pPr algn="ctr">
                <a:lnSpc>
                  <a:spcPct val="90000"/>
                </a:lnSpc>
              </a:pPr>
              <a:r>
                <a:rPr lang="en-US" sz="900" dirty="0">
                  <a:solidFill>
                    <a:srgbClr val="000000"/>
                  </a:solidFill>
                  <a:latin typeface="+mj-lt"/>
                </a:rPr>
                <a:t>extend</a:t>
              </a:r>
              <a:endParaRPr lang="en-US" sz="600" dirty="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366" name="Rectangle 82"/>
            <p:cNvSpPr>
              <a:spLocks noChangeArrowheads="1"/>
            </p:cNvSpPr>
            <p:nvPr/>
          </p:nvSpPr>
          <p:spPr bwMode="auto">
            <a:xfrm>
              <a:off x="1968" y="3123"/>
              <a:ext cx="64" cy="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900">
                  <a:solidFill>
                    <a:srgbClr val="000000"/>
                  </a:solidFill>
                  <a:latin typeface="+mj-lt"/>
                </a:rPr>
                <a:t>16</a:t>
              </a:r>
              <a:endParaRPr lang="en-US" sz="5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367" name="Rectangle 83"/>
            <p:cNvSpPr>
              <a:spLocks noChangeArrowheads="1"/>
            </p:cNvSpPr>
            <p:nvPr/>
          </p:nvSpPr>
          <p:spPr bwMode="auto">
            <a:xfrm>
              <a:off x="2319" y="3127"/>
              <a:ext cx="64" cy="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900">
                  <a:solidFill>
                    <a:srgbClr val="000000"/>
                  </a:solidFill>
                  <a:latin typeface="+mj-lt"/>
                </a:rPr>
                <a:t>32</a:t>
              </a:r>
              <a:endParaRPr lang="en-US" sz="5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368" name="Line 84"/>
            <p:cNvSpPr>
              <a:spLocks noChangeShapeType="1"/>
            </p:cNvSpPr>
            <p:nvPr/>
          </p:nvSpPr>
          <p:spPr bwMode="auto">
            <a:xfrm flipH="1">
              <a:off x="1637" y="2598"/>
              <a:ext cx="1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69" name="Line 85"/>
            <p:cNvSpPr>
              <a:spLocks noChangeShapeType="1"/>
            </p:cNvSpPr>
            <p:nvPr/>
          </p:nvSpPr>
          <p:spPr bwMode="auto">
            <a:xfrm flipH="1">
              <a:off x="1635" y="2434"/>
              <a:ext cx="17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70" name="Line 86"/>
            <p:cNvSpPr>
              <a:spLocks noChangeShapeType="1"/>
            </p:cNvSpPr>
            <p:nvPr/>
          </p:nvSpPr>
          <p:spPr bwMode="auto">
            <a:xfrm flipH="1">
              <a:off x="2325" y="2527"/>
              <a:ext cx="11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71" name="Line 87"/>
            <p:cNvSpPr>
              <a:spLocks noChangeShapeType="1"/>
            </p:cNvSpPr>
            <p:nvPr/>
          </p:nvSpPr>
          <p:spPr bwMode="auto">
            <a:xfrm flipH="1">
              <a:off x="2325" y="2721"/>
              <a:ext cx="11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72" name="Line 88"/>
            <p:cNvSpPr>
              <a:spLocks noChangeShapeType="1"/>
            </p:cNvSpPr>
            <p:nvPr/>
          </p:nvSpPr>
          <p:spPr bwMode="auto">
            <a:xfrm flipH="1">
              <a:off x="2063" y="2299"/>
              <a:ext cx="1" cy="51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73" name="Rectangle 89"/>
            <p:cNvSpPr>
              <a:spLocks noChangeArrowheads="1"/>
            </p:cNvSpPr>
            <p:nvPr/>
          </p:nvSpPr>
          <p:spPr bwMode="auto">
            <a:xfrm>
              <a:off x="2350" y="1757"/>
              <a:ext cx="256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+mj-lt"/>
                </a:rPr>
                <a:t>ID/EX</a:t>
              </a:r>
              <a:endParaRPr lang="en-US" sz="7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374" name="Rectangle 90"/>
            <p:cNvSpPr>
              <a:spLocks noChangeArrowheads="1"/>
            </p:cNvSpPr>
            <p:nvPr/>
          </p:nvSpPr>
          <p:spPr bwMode="auto">
            <a:xfrm>
              <a:off x="3440" y="1752"/>
              <a:ext cx="407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+mj-lt"/>
                </a:rPr>
                <a:t>EX/MEM</a:t>
              </a:r>
              <a:endParaRPr lang="en-US" sz="10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375" name="Rectangle 91"/>
            <p:cNvSpPr>
              <a:spLocks noChangeArrowheads="1"/>
            </p:cNvSpPr>
            <p:nvPr/>
          </p:nvSpPr>
          <p:spPr bwMode="auto">
            <a:xfrm>
              <a:off x="4527" y="1746"/>
              <a:ext cx="456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dirty="0">
                  <a:solidFill>
                    <a:srgbClr val="000000"/>
                  </a:solidFill>
                  <a:latin typeface="+mj-lt"/>
                </a:rPr>
                <a:t>MEM/WB</a:t>
              </a:r>
            </a:p>
          </p:txBody>
        </p:sp>
        <p:sp>
          <p:nvSpPr>
            <p:cNvPr id="54376" name="Rectangle 92"/>
            <p:cNvSpPr>
              <a:spLocks noChangeArrowheads="1"/>
            </p:cNvSpPr>
            <p:nvPr/>
          </p:nvSpPr>
          <p:spPr bwMode="auto">
            <a:xfrm rot="16200000" flipH="1">
              <a:off x="1389" y="2424"/>
              <a:ext cx="331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1000">
                  <a:solidFill>
                    <a:srgbClr val="000000"/>
                  </a:solidFill>
                  <a:latin typeface="+mj-lt"/>
                </a:rPr>
                <a:t>Instruction</a:t>
              </a:r>
              <a:endParaRPr lang="en-US" sz="7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377" name="Freeform 93"/>
            <p:cNvSpPr>
              <a:spLocks/>
            </p:cNvSpPr>
            <p:nvPr/>
          </p:nvSpPr>
          <p:spPr bwMode="auto">
            <a:xfrm>
              <a:off x="3789" y="2735"/>
              <a:ext cx="24" cy="24"/>
            </a:xfrm>
            <a:custGeom>
              <a:avLst/>
              <a:gdLst>
                <a:gd name="T0" fmla="*/ 10 w 24"/>
                <a:gd name="T1" fmla="*/ 23 h 24"/>
                <a:gd name="T2" fmla="*/ 14 w 24"/>
                <a:gd name="T3" fmla="*/ 23 h 24"/>
                <a:gd name="T4" fmla="*/ 14 w 24"/>
                <a:gd name="T5" fmla="*/ 23 h 24"/>
                <a:gd name="T6" fmla="*/ 16 w 24"/>
                <a:gd name="T7" fmla="*/ 23 h 24"/>
                <a:gd name="T8" fmla="*/ 18 w 24"/>
                <a:gd name="T9" fmla="*/ 21 h 24"/>
                <a:gd name="T10" fmla="*/ 20 w 24"/>
                <a:gd name="T11" fmla="*/ 19 h 24"/>
                <a:gd name="T12" fmla="*/ 20 w 24"/>
                <a:gd name="T13" fmla="*/ 19 h 24"/>
                <a:gd name="T14" fmla="*/ 21 w 24"/>
                <a:gd name="T15" fmla="*/ 17 h 24"/>
                <a:gd name="T16" fmla="*/ 21 w 24"/>
                <a:gd name="T17" fmla="*/ 15 h 24"/>
                <a:gd name="T18" fmla="*/ 23 w 24"/>
                <a:gd name="T19" fmla="*/ 13 h 24"/>
                <a:gd name="T20" fmla="*/ 23 w 24"/>
                <a:gd name="T21" fmla="*/ 12 h 24"/>
                <a:gd name="T22" fmla="*/ 23 w 24"/>
                <a:gd name="T23" fmla="*/ 10 h 24"/>
                <a:gd name="T24" fmla="*/ 21 w 24"/>
                <a:gd name="T25" fmla="*/ 8 h 24"/>
                <a:gd name="T26" fmla="*/ 21 w 24"/>
                <a:gd name="T27" fmla="*/ 6 h 24"/>
                <a:gd name="T28" fmla="*/ 20 w 24"/>
                <a:gd name="T29" fmla="*/ 6 h 24"/>
                <a:gd name="T30" fmla="*/ 20 w 24"/>
                <a:gd name="T31" fmla="*/ 4 h 24"/>
                <a:gd name="T32" fmla="*/ 18 w 24"/>
                <a:gd name="T33" fmla="*/ 2 h 24"/>
                <a:gd name="T34" fmla="*/ 16 w 24"/>
                <a:gd name="T35" fmla="*/ 2 h 24"/>
                <a:gd name="T36" fmla="*/ 14 w 24"/>
                <a:gd name="T37" fmla="*/ 0 h 24"/>
                <a:gd name="T38" fmla="*/ 14 w 24"/>
                <a:gd name="T39" fmla="*/ 0 h 24"/>
                <a:gd name="T40" fmla="*/ 12 w 24"/>
                <a:gd name="T41" fmla="*/ 0 h 24"/>
                <a:gd name="T42" fmla="*/ 10 w 24"/>
                <a:gd name="T43" fmla="*/ 0 h 24"/>
                <a:gd name="T44" fmla="*/ 8 w 24"/>
                <a:gd name="T45" fmla="*/ 0 h 24"/>
                <a:gd name="T46" fmla="*/ 6 w 24"/>
                <a:gd name="T47" fmla="*/ 2 h 24"/>
                <a:gd name="T48" fmla="*/ 4 w 24"/>
                <a:gd name="T49" fmla="*/ 2 h 24"/>
                <a:gd name="T50" fmla="*/ 2 w 24"/>
                <a:gd name="T51" fmla="*/ 4 h 24"/>
                <a:gd name="T52" fmla="*/ 2 w 24"/>
                <a:gd name="T53" fmla="*/ 6 h 24"/>
                <a:gd name="T54" fmla="*/ 0 w 24"/>
                <a:gd name="T55" fmla="*/ 6 h 24"/>
                <a:gd name="T56" fmla="*/ 0 w 24"/>
                <a:gd name="T57" fmla="*/ 8 h 24"/>
                <a:gd name="T58" fmla="*/ 0 w 24"/>
                <a:gd name="T59" fmla="*/ 10 h 24"/>
                <a:gd name="T60" fmla="*/ 0 w 24"/>
                <a:gd name="T61" fmla="*/ 12 h 24"/>
                <a:gd name="T62" fmla="*/ 0 w 24"/>
                <a:gd name="T63" fmla="*/ 13 h 24"/>
                <a:gd name="T64" fmla="*/ 0 w 24"/>
                <a:gd name="T65" fmla="*/ 15 h 24"/>
                <a:gd name="T66" fmla="*/ 0 w 24"/>
                <a:gd name="T67" fmla="*/ 17 h 24"/>
                <a:gd name="T68" fmla="*/ 2 w 24"/>
                <a:gd name="T69" fmla="*/ 19 h 24"/>
                <a:gd name="T70" fmla="*/ 2 w 24"/>
                <a:gd name="T71" fmla="*/ 19 h 24"/>
                <a:gd name="T72" fmla="*/ 4 w 24"/>
                <a:gd name="T73" fmla="*/ 21 h 24"/>
                <a:gd name="T74" fmla="*/ 6 w 24"/>
                <a:gd name="T75" fmla="*/ 23 h 24"/>
                <a:gd name="T76" fmla="*/ 8 w 24"/>
                <a:gd name="T77" fmla="*/ 23 h 24"/>
                <a:gd name="T78" fmla="*/ 10 w 24"/>
                <a:gd name="T79" fmla="*/ 23 h 24"/>
                <a:gd name="T80" fmla="*/ 12 w 24"/>
                <a:gd name="T81" fmla="*/ 23 h 24"/>
                <a:gd name="T82" fmla="*/ 12 w 24"/>
                <a:gd name="T83" fmla="*/ 23 h 24"/>
                <a:gd name="T84" fmla="*/ 10 w 24"/>
                <a:gd name="T85" fmla="*/ 23 h 2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4"/>
                <a:gd name="T130" fmla="*/ 0 h 24"/>
                <a:gd name="T131" fmla="*/ 24 w 24"/>
                <a:gd name="T132" fmla="*/ 24 h 24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4" h="24">
                  <a:moveTo>
                    <a:pt x="10" y="23"/>
                  </a:moveTo>
                  <a:lnTo>
                    <a:pt x="14" y="23"/>
                  </a:lnTo>
                  <a:lnTo>
                    <a:pt x="16" y="23"/>
                  </a:lnTo>
                  <a:lnTo>
                    <a:pt x="18" y="21"/>
                  </a:lnTo>
                  <a:lnTo>
                    <a:pt x="20" y="19"/>
                  </a:lnTo>
                  <a:lnTo>
                    <a:pt x="21" y="17"/>
                  </a:lnTo>
                  <a:lnTo>
                    <a:pt x="21" y="15"/>
                  </a:lnTo>
                  <a:lnTo>
                    <a:pt x="23" y="13"/>
                  </a:lnTo>
                  <a:lnTo>
                    <a:pt x="23" y="12"/>
                  </a:lnTo>
                  <a:lnTo>
                    <a:pt x="23" y="10"/>
                  </a:lnTo>
                  <a:lnTo>
                    <a:pt x="21" y="8"/>
                  </a:lnTo>
                  <a:lnTo>
                    <a:pt x="21" y="6"/>
                  </a:lnTo>
                  <a:lnTo>
                    <a:pt x="20" y="6"/>
                  </a:lnTo>
                  <a:lnTo>
                    <a:pt x="20" y="4"/>
                  </a:lnTo>
                  <a:lnTo>
                    <a:pt x="18" y="2"/>
                  </a:lnTo>
                  <a:lnTo>
                    <a:pt x="16" y="2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8" y="0"/>
                  </a:lnTo>
                  <a:lnTo>
                    <a:pt x="6" y="2"/>
                  </a:lnTo>
                  <a:lnTo>
                    <a:pt x="4" y="2"/>
                  </a:lnTo>
                  <a:lnTo>
                    <a:pt x="2" y="4"/>
                  </a:lnTo>
                  <a:lnTo>
                    <a:pt x="2" y="6"/>
                  </a:lnTo>
                  <a:lnTo>
                    <a:pt x="0" y="6"/>
                  </a:lnTo>
                  <a:lnTo>
                    <a:pt x="0" y="8"/>
                  </a:lnTo>
                  <a:lnTo>
                    <a:pt x="0" y="10"/>
                  </a:lnTo>
                  <a:lnTo>
                    <a:pt x="0" y="12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0" y="17"/>
                  </a:lnTo>
                  <a:lnTo>
                    <a:pt x="2" y="19"/>
                  </a:lnTo>
                  <a:lnTo>
                    <a:pt x="4" y="21"/>
                  </a:lnTo>
                  <a:lnTo>
                    <a:pt x="6" y="23"/>
                  </a:lnTo>
                  <a:lnTo>
                    <a:pt x="8" y="23"/>
                  </a:lnTo>
                  <a:lnTo>
                    <a:pt x="10" y="23"/>
                  </a:lnTo>
                  <a:lnTo>
                    <a:pt x="12" y="23"/>
                  </a:lnTo>
                  <a:lnTo>
                    <a:pt x="10" y="23"/>
                  </a:lnTo>
                </a:path>
              </a:pathLst>
            </a:custGeom>
            <a:solidFill>
              <a:srgbClr val="000000"/>
            </a:solidFill>
            <a:ln w="9525" cap="rnd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78" name="Line 94"/>
            <p:cNvSpPr>
              <a:spLocks noChangeShapeType="1"/>
            </p:cNvSpPr>
            <p:nvPr/>
          </p:nvSpPr>
          <p:spPr bwMode="auto">
            <a:xfrm flipH="1">
              <a:off x="3679" y="3003"/>
              <a:ext cx="250" cy="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79" name="Freeform 95"/>
            <p:cNvSpPr>
              <a:spLocks/>
            </p:cNvSpPr>
            <p:nvPr/>
          </p:nvSpPr>
          <p:spPr bwMode="auto">
            <a:xfrm>
              <a:off x="3801" y="2747"/>
              <a:ext cx="903" cy="611"/>
            </a:xfrm>
            <a:custGeom>
              <a:avLst/>
              <a:gdLst>
                <a:gd name="T0" fmla="*/ 902 w 1318"/>
                <a:gd name="T1" fmla="*/ 608 h 410"/>
                <a:gd name="T2" fmla="*/ 0 w 1318"/>
                <a:gd name="T3" fmla="*/ 610 h 410"/>
                <a:gd name="T4" fmla="*/ 0 w 1318"/>
                <a:gd name="T5" fmla="*/ 0 h 410"/>
                <a:gd name="T6" fmla="*/ 0 60000 65536"/>
                <a:gd name="T7" fmla="*/ 0 60000 65536"/>
                <a:gd name="T8" fmla="*/ 0 60000 65536"/>
                <a:gd name="T9" fmla="*/ 0 w 1318"/>
                <a:gd name="T10" fmla="*/ 0 h 410"/>
                <a:gd name="T11" fmla="*/ 1318 w 1318"/>
                <a:gd name="T12" fmla="*/ 410 h 41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18" h="410">
                  <a:moveTo>
                    <a:pt x="1317" y="408"/>
                  </a:moveTo>
                  <a:lnTo>
                    <a:pt x="0" y="409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triangl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80" name="Line 96"/>
            <p:cNvSpPr>
              <a:spLocks noChangeShapeType="1"/>
            </p:cNvSpPr>
            <p:nvPr/>
          </p:nvSpPr>
          <p:spPr bwMode="auto">
            <a:xfrm>
              <a:off x="3677" y="3558"/>
              <a:ext cx="1024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81" name="Line 97"/>
            <p:cNvSpPr>
              <a:spLocks noChangeShapeType="1"/>
            </p:cNvSpPr>
            <p:nvPr/>
          </p:nvSpPr>
          <p:spPr bwMode="auto">
            <a:xfrm flipH="1">
              <a:off x="3679" y="2747"/>
              <a:ext cx="253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82" name="Line 98"/>
            <p:cNvSpPr>
              <a:spLocks noChangeShapeType="1"/>
            </p:cNvSpPr>
            <p:nvPr/>
          </p:nvSpPr>
          <p:spPr bwMode="auto">
            <a:xfrm flipH="1">
              <a:off x="4551" y="2742"/>
              <a:ext cx="155" cy="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83" name="Line 99"/>
            <p:cNvSpPr>
              <a:spLocks noChangeShapeType="1"/>
            </p:cNvSpPr>
            <p:nvPr/>
          </p:nvSpPr>
          <p:spPr bwMode="auto">
            <a:xfrm flipH="1" flipV="1">
              <a:off x="4242" y="2482"/>
              <a:ext cx="1" cy="66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grpSp>
          <p:nvGrpSpPr>
            <p:cNvPr id="54384" name="Group 312"/>
            <p:cNvGrpSpPr>
              <a:grpSpLocks/>
            </p:cNvGrpSpPr>
            <p:nvPr/>
          </p:nvGrpSpPr>
          <p:grpSpPr bwMode="auto">
            <a:xfrm>
              <a:off x="3936" y="2378"/>
              <a:ext cx="609" cy="939"/>
              <a:chOff x="3936" y="2378"/>
              <a:chExt cx="609" cy="939"/>
            </a:xfrm>
          </p:grpSpPr>
          <p:sp>
            <p:nvSpPr>
              <p:cNvPr id="54457" name="Line 101"/>
              <p:cNvSpPr>
                <a:spLocks noChangeShapeType="1"/>
              </p:cNvSpPr>
              <p:nvPr/>
            </p:nvSpPr>
            <p:spPr bwMode="auto">
              <a:xfrm flipH="1">
                <a:off x="4248" y="3108"/>
                <a:ext cx="1" cy="105"/>
              </a:xfrm>
              <a:prstGeom prst="line">
                <a:avLst/>
              </a:prstGeom>
              <a:noFill/>
              <a:ln w="12700">
                <a:solidFill>
                  <a:srgbClr val="EB75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54460" name="Rectangle 104"/>
              <p:cNvSpPr>
                <a:spLocks noChangeArrowheads="1"/>
              </p:cNvSpPr>
              <p:nvPr/>
            </p:nvSpPr>
            <p:spPr bwMode="auto">
              <a:xfrm>
                <a:off x="3936" y="2553"/>
                <a:ext cx="609" cy="552"/>
              </a:xfrm>
              <a:prstGeom prst="rect">
                <a:avLst/>
              </a:prstGeom>
              <a:solidFill>
                <a:srgbClr val="FFFFCC"/>
              </a:solidFill>
              <a:ln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54461" name="Rectangle 105"/>
              <p:cNvSpPr>
                <a:spLocks noChangeArrowheads="1"/>
              </p:cNvSpPr>
              <p:nvPr/>
            </p:nvSpPr>
            <p:spPr bwMode="auto">
              <a:xfrm>
                <a:off x="3963" y="2712"/>
                <a:ext cx="208" cy="7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US" sz="900" dirty="0">
                    <a:solidFill>
                      <a:srgbClr val="000000"/>
                    </a:solidFill>
                    <a:latin typeface="+mj-lt"/>
                  </a:rPr>
                  <a:t>Address</a:t>
                </a:r>
                <a:endParaRPr lang="en-US" sz="800" dirty="0">
                  <a:solidFill>
                    <a:srgbClr val="000000"/>
                  </a:solidFill>
                  <a:latin typeface="+mj-lt"/>
                </a:endParaRPr>
              </a:p>
            </p:txBody>
          </p:sp>
          <p:sp>
            <p:nvSpPr>
              <p:cNvPr id="54462" name="Rectangle 106"/>
              <p:cNvSpPr>
                <a:spLocks noChangeArrowheads="1"/>
              </p:cNvSpPr>
              <p:nvPr/>
            </p:nvSpPr>
            <p:spPr bwMode="auto">
              <a:xfrm>
                <a:off x="3965" y="2933"/>
                <a:ext cx="147" cy="14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US" sz="900" dirty="0">
                    <a:solidFill>
                      <a:srgbClr val="000000"/>
                    </a:solidFill>
                    <a:latin typeface="+mj-lt"/>
                  </a:rPr>
                  <a:t>Write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sz="900" dirty="0">
                    <a:solidFill>
                      <a:srgbClr val="000000"/>
                    </a:solidFill>
                    <a:latin typeface="+mj-lt"/>
                  </a:rPr>
                  <a:t>Data</a:t>
                </a:r>
                <a:endParaRPr lang="en-US" sz="800" dirty="0">
                  <a:solidFill>
                    <a:srgbClr val="000000"/>
                  </a:solidFill>
                  <a:latin typeface="+mj-lt"/>
                </a:endParaRPr>
              </a:p>
            </p:txBody>
          </p:sp>
          <p:sp>
            <p:nvSpPr>
              <p:cNvPr id="54463" name="Rectangle 107"/>
              <p:cNvSpPr>
                <a:spLocks noChangeArrowheads="1"/>
              </p:cNvSpPr>
              <p:nvPr/>
            </p:nvSpPr>
            <p:spPr bwMode="auto">
              <a:xfrm>
                <a:off x="4368" y="2665"/>
                <a:ext cx="130" cy="14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US" sz="900" dirty="0">
                    <a:solidFill>
                      <a:srgbClr val="000000"/>
                    </a:solidFill>
                    <a:latin typeface="+mj-lt"/>
                  </a:rPr>
                  <a:t>Read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sz="900" dirty="0">
                    <a:solidFill>
                      <a:srgbClr val="000000"/>
                    </a:solidFill>
                    <a:latin typeface="+mj-lt"/>
                  </a:rPr>
                  <a:t>Data</a:t>
                </a:r>
                <a:endParaRPr lang="en-US" sz="500" dirty="0">
                  <a:solidFill>
                    <a:srgbClr val="000000"/>
                  </a:solidFill>
                  <a:latin typeface="+mj-lt"/>
                </a:endParaRPr>
              </a:p>
            </p:txBody>
          </p:sp>
          <p:sp>
            <p:nvSpPr>
              <p:cNvPr id="54464" name="Rectangle 108"/>
              <p:cNvSpPr>
                <a:spLocks noChangeArrowheads="1"/>
              </p:cNvSpPr>
              <p:nvPr/>
            </p:nvSpPr>
            <p:spPr bwMode="auto">
              <a:xfrm>
                <a:off x="4193" y="2868"/>
                <a:ext cx="297" cy="19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sz="1200">
                    <a:solidFill>
                      <a:srgbClr val="000000"/>
                    </a:solidFill>
                    <a:latin typeface="+mj-lt"/>
                  </a:rPr>
                  <a:t>Data</a:t>
                </a:r>
              </a:p>
              <a:p>
                <a:pPr algn="ctr">
                  <a:lnSpc>
                    <a:spcPct val="90000"/>
                  </a:lnSpc>
                </a:pPr>
                <a:r>
                  <a:rPr lang="en-US" sz="1200">
                    <a:solidFill>
                      <a:srgbClr val="000000"/>
                    </a:solidFill>
                    <a:latin typeface="+mj-lt"/>
                  </a:rPr>
                  <a:t>Memory</a:t>
                </a:r>
                <a:endParaRPr lang="en-US" sz="800">
                  <a:solidFill>
                    <a:srgbClr val="000000"/>
                  </a:solidFill>
                  <a:latin typeface="+mj-lt"/>
                </a:endParaRPr>
              </a:p>
            </p:txBody>
          </p:sp>
          <p:sp>
            <p:nvSpPr>
              <p:cNvPr id="54458" name="Rectangle 102"/>
              <p:cNvSpPr>
                <a:spLocks noChangeArrowheads="1"/>
              </p:cNvSpPr>
              <p:nvPr/>
            </p:nvSpPr>
            <p:spPr bwMode="auto">
              <a:xfrm>
                <a:off x="4073" y="3223"/>
                <a:ext cx="311" cy="9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050" dirty="0" err="1">
                    <a:solidFill>
                      <a:srgbClr val="EB7500"/>
                    </a:solidFill>
                    <a:latin typeface="+mj-lt"/>
                  </a:rPr>
                  <a:t>MemRead</a:t>
                </a:r>
                <a:endParaRPr lang="en-US" sz="1050" dirty="0">
                  <a:solidFill>
                    <a:srgbClr val="EB7500"/>
                  </a:solidFill>
                  <a:latin typeface="+mj-lt"/>
                </a:endParaRPr>
              </a:p>
            </p:txBody>
          </p:sp>
          <p:sp>
            <p:nvSpPr>
              <p:cNvPr id="54459" name="Rectangle 103"/>
              <p:cNvSpPr>
                <a:spLocks noChangeArrowheads="1"/>
              </p:cNvSpPr>
              <p:nvPr/>
            </p:nvSpPr>
            <p:spPr bwMode="auto">
              <a:xfrm>
                <a:off x="4063" y="2378"/>
                <a:ext cx="332" cy="9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050" dirty="0" err="1">
                    <a:solidFill>
                      <a:srgbClr val="EB7500"/>
                    </a:solidFill>
                    <a:latin typeface="+mj-lt"/>
                  </a:rPr>
                  <a:t>MemWrite</a:t>
                </a:r>
                <a:endParaRPr lang="en-US" sz="1050" dirty="0">
                  <a:solidFill>
                    <a:srgbClr val="EB7500"/>
                  </a:solidFill>
                  <a:latin typeface="+mj-lt"/>
                </a:endParaRPr>
              </a:p>
            </p:txBody>
          </p:sp>
        </p:grpSp>
        <p:sp>
          <p:nvSpPr>
            <p:cNvPr id="54385" name="Freeform 109"/>
            <p:cNvSpPr>
              <a:spLocks/>
            </p:cNvSpPr>
            <p:nvPr/>
          </p:nvSpPr>
          <p:spPr bwMode="auto">
            <a:xfrm>
              <a:off x="3755" y="2266"/>
              <a:ext cx="72" cy="58"/>
            </a:xfrm>
            <a:custGeom>
              <a:avLst/>
              <a:gdLst>
                <a:gd name="T0" fmla="*/ 0 w 72"/>
                <a:gd name="T1" fmla="*/ 0 h 72"/>
                <a:gd name="T2" fmla="*/ 2 w 72"/>
                <a:gd name="T3" fmla="*/ 71 h 72"/>
                <a:gd name="T4" fmla="*/ 71 w 72"/>
                <a:gd name="T5" fmla="*/ 71 h 72"/>
                <a:gd name="T6" fmla="*/ 0 60000 65536"/>
                <a:gd name="T7" fmla="*/ 0 60000 65536"/>
                <a:gd name="T8" fmla="*/ 0 60000 65536"/>
                <a:gd name="T9" fmla="*/ 0 w 72"/>
                <a:gd name="T10" fmla="*/ 0 h 72"/>
                <a:gd name="T11" fmla="*/ 72 w 72"/>
                <a:gd name="T12" fmla="*/ 72 h 7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2" h="72">
                  <a:moveTo>
                    <a:pt x="0" y="0"/>
                  </a:moveTo>
                  <a:lnTo>
                    <a:pt x="2" y="71"/>
                  </a:lnTo>
                  <a:lnTo>
                    <a:pt x="71" y="71"/>
                  </a:lnTo>
                </a:path>
              </a:pathLst>
            </a:custGeom>
            <a:noFill/>
            <a:ln w="12700" cap="rnd" cmpd="sng">
              <a:solidFill>
                <a:srgbClr val="EB75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86" name="Freeform 110"/>
            <p:cNvSpPr>
              <a:spLocks/>
            </p:cNvSpPr>
            <p:nvPr/>
          </p:nvSpPr>
          <p:spPr bwMode="auto">
            <a:xfrm>
              <a:off x="3686" y="2400"/>
              <a:ext cx="141" cy="229"/>
            </a:xfrm>
            <a:custGeom>
              <a:avLst/>
              <a:gdLst>
                <a:gd name="T0" fmla="*/ 0 w 141"/>
                <a:gd name="T1" fmla="*/ 228 h 229"/>
                <a:gd name="T2" fmla="*/ 71 w 141"/>
                <a:gd name="T3" fmla="*/ 228 h 229"/>
                <a:gd name="T4" fmla="*/ 71 w 141"/>
                <a:gd name="T5" fmla="*/ 0 h 229"/>
                <a:gd name="T6" fmla="*/ 140 w 141"/>
                <a:gd name="T7" fmla="*/ 0 h 22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1"/>
                <a:gd name="T13" fmla="*/ 0 h 229"/>
                <a:gd name="T14" fmla="*/ 141 w 141"/>
                <a:gd name="T15" fmla="*/ 229 h 22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1" h="229">
                  <a:moveTo>
                    <a:pt x="0" y="228"/>
                  </a:moveTo>
                  <a:lnTo>
                    <a:pt x="71" y="228"/>
                  </a:lnTo>
                  <a:lnTo>
                    <a:pt x="71" y="0"/>
                  </a:lnTo>
                  <a:lnTo>
                    <a:pt x="140" y="0"/>
                  </a:lnTo>
                </a:path>
              </a:pathLst>
            </a:custGeom>
            <a:noFill/>
            <a:ln w="12700" cap="rnd" cmpd="sng">
              <a:solidFill>
                <a:srgbClr val="EB75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87" name="Freeform 111"/>
            <p:cNvSpPr>
              <a:spLocks/>
            </p:cNvSpPr>
            <p:nvPr/>
          </p:nvSpPr>
          <p:spPr bwMode="auto">
            <a:xfrm>
              <a:off x="3826" y="2302"/>
              <a:ext cx="145" cy="122"/>
            </a:xfrm>
            <a:custGeom>
              <a:avLst/>
              <a:gdLst>
                <a:gd name="T0" fmla="*/ 85 w 145"/>
                <a:gd name="T1" fmla="*/ 119 h 122"/>
                <a:gd name="T2" fmla="*/ 96 w 145"/>
                <a:gd name="T3" fmla="*/ 119 h 122"/>
                <a:gd name="T4" fmla="*/ 104 w 145"/>
                <a:gd name="T5" fmla="*/ 117 h 122"/>
                <a:gd name="T6" fmla="*/ 113 w 145"/>
                <a:gd name="T7" fmla="*/ 113 h 122"/>
                <a:gd name="T8" fmla="*/ 121 w 145"/>
                <a:gd name="T9" fmla="*/ 107 h 122"/>
                <a:gd name="T10" fmla="*/ 127 w 145"/>
                <a:gd name="T11" fmla="*/ 102 h 122"/>
                <a:gd name="T12" fmla="*/ 132 w 145"/>
                <a:gd name="T13" fmla="*/ 96 h 122"/>
                <a:gd name="T14" fmla="*/ 138 w 145"/>
                <a:gd name="T15" fmla="*/ 88 h 122"/>
                <a:gd name="T16" fmla="*/ 142 w 145"/>
                <a:gd name="T17" fmla="*/ 79 h 122"/>
                <a:gd name="T18" fmla="*/ 144 w 145"/>
                <a:gd name="T19" fmla="*/ 69 h 122"/>
                <a:gd name="T20" fmla="*/ 144 w 145"/>
                <a:gd name="T21" fmla="*/ 60 h 122"/>
                <a:gd name="T22" fmla="*/ 144 w 145"/>
                <a:gd name="T23" fmla="*/ 50 h 122"/>
                <a:gd name="T24" fmla="*/ 142 w 145"/>
                <a:gd name="T25" fmla="*/ 40 h 122"/>
                <a:gd name="T26" fmla="*/ 138 w 145"/>
                <a:gd name="T27" fmla="*/ 33 h 122"/>
                <a:gd name="T28" fmla="*/ 132 w 145"/>
                <a:gd name="T29" fmla="*/ 25 h 122"/>
                <a:gd name="T30" fmla="*/ 127 w 145"/>
                <a:gd name="T31" fmla="*/ 17 h 122"/>
                <a:gd name="T32" fmla="*/ 121 w 145"/>
                <a:gd name="T33" fmla="*/ 12 h 122"/>
                <a:gd name="T34" fmla="*/ 113 w 145"/>
                <a:gd name="T35" fmla="*/ 6 h 122"/>
                <a:gd name="T36" fmla="*/ 104 w 145"/>
                <a:gd name="T37" fmla="*/ 2 h 122"/>
                <a:gd name="T38" fmla="*/ 96 w 145"/>
                <a:gd name="T39" fmla="*/ 0 h 122"/>
                <a:gd name="T40" fmla="*/ 86 w 145"/>
                <a:gd name="T41" fmla="*/ 0 h 122"/>
                <a:gd name="T42" fmla="*/ 0 w 145"/>
                <a:gd name="T43" fmla="*/ 0 h 122"/>
                <a:gd name="T44" fmla="*/ 0 w 145"/>
                <a:gd name="T45" fmla="*/ 121 h 122"/>
                <a:gd name="T46" fmla="*/ 86 w 145"/>
                <a:gd name="T47" fmla="*/ 121 h 122"/>
                <a:gd name="T48" fmla="*/ 86 w 145"/>
                <a:gd name="T49" fmla="*/ 121 h 122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145"/>
                <a:gd name="T76" fmla="*/ 0 h 122"/>
                <a:gd name="T77" fmla="*/ 145 w 145"/>
                <a:gd name="T78" fmla="*/ 122 h 122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145" h="122">
                  <a:moveTo>
                    <a:pt x="85" y="119"/>
                  </a:moveTo>
                  <a:lnTo>
                    <a:pt x="96" y="119"/>
                  </a:lnTo>
                  <a:lnTo>
                    <a:pt x="104" y="117"/>
                  </a:lnTo>
                  <a:lnTo>
                    <a:pt x="113" y="113"/>
                  </a:lnTo>
                  <a:lnTo>
                    <a:pt x="121" y="107"/>
                  </a:lnTo>
                  <a:lnTo>
                    <a:pt x="127" y="102"/>
                  </a:lnTo>
                  <a:lnTo>
                    <a:pt x="132" y="96"/>
                  </a:lnTo>
                  <a:lnTo>
                    <a:pt x="138" y="88"/>
                  </a:lnTo>
                  <a:lnTo>
                    <a:pt x="142" y="79"/>
                  </a:lnTo>
                  <a:lnTo>
                    <a:pt x="144" y="69"/>
                  </a:lnTo>
                  <a:lnTo>
                    <a:pt x="144" y="60"/>
                  </a:lnTo>
                  <a:lnTo>
                    <a:pt x="144" y="50"/>
                  </a:lnTo>
                  <a:lnTo>
                    <a:pt x="142" y="40"/>
                  </a:lnTo>
                  <a:lnTo>
                    <a:pt x="138" y="33"/>
                  </a:lnTo>
                  <a:lnTo>
                    <a:pt x="132" y="25"/>
                  </a:lnTo>
                  <a:lnTo>
                    <a:pt x="127" y="17"/>
                  </a:lnTo>
                  <a:lnTo>
                    <a:pt x="121" y="12"/>
                  </a:lnTo>
                  <a:lnTo>
                    <a:pt x="113" y="6"/>
                  </a:lnTo>
                  <a:lnTo>
                    <a:pt x="104" y="2"/>
                  </a:lnTo>
                  <a:lnTo>
                    <a:pt x="96" y="0"/>
                  </a:lnTo>
                  <a:lnTo>
                    <a:pt x="86" y="0"/>
                  </a:lnTo>
                  <a:lnTo>
                    <a:pt x="0" y="0"/>
                  </a:lnTo>
                  <a:lnTo>
                    <a:pt x="0" y="121"/>
                  </a:lnTo>
                  <a:lnTo>
                    <a:pt x="86" y="121"/>
                  </a:lnTo>
                </a:path>
              </a:pathLst>
            </a:custGeom>
            <a:solidFill>
              <a:srgbClr val="FFE6CD"/>
            </a:solidFill>
            <a:ln w="19050" cap="rnd" cmpd="sng">
              <a:solidFill>
                <a:srgbClr val="EB75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90" name="Line 114"/>
            <p:cNvSpPr>
              <a:spLocks noChangeShapeType="1"/>
            </p:cNvSpPr>
            <p:nvPr/>
          </p:nvSpPr>
          <p:spPr bwMode="auto">
            <a:xfrm>
              <a:off x="1543" y="3804"/>
              <a:ext cx="335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91" name="Line 115"/>
            <p:cNvSpPr>
              <a:spLocks noChangeShapeType="1"/>
            </p:cNvSpPr>
            <p:nvPr/>
          </p:nvSpPr>
          <p:spPr bwMode="auto">
            <a:xfrm flipV="1">
              <a:off x="1545" y="2751"/>
              <a:ext cx="0" cy="10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92" name="Line 116"/>
            <p:cNvSpPr>
              <a:spLocks noChangeShapeType="1"/>
            </p:cNvSpPr>
            <p:nvPr/>
          </p:nvSpPr>
          <p:spPr bwMode="auto">
            <a:xfrm>
              <a:off x="1541" y="2748"/>
              <a:ext cx="26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93" name="Line 117"/>
            <p:cNvSpPr>
              <a:spLocks noChangeShapeType="1"/>
            </p:cNvSpPr>
            <p:nvPr/>
          </p:nvSpPr>
          <p:spPr bwMode="auto">
            <a:xfrm>
              <a:off x="1725" y="2895"/>
              <a:ext cx="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94" name="Line 118"/>
            <p:cNvSpPr>
              <a:spLocks noChangeShapeType="1"/>
            </p:cNvSpPr>
            <p:nvPr/>
          </p:nvSpPr>
          <p:spPr bwMode="auto">
            <a:xfrm flipV="1">
              <a:off x="1728" y="2895"/>
              <a:ext cx="0" cy="99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95" name="Line 119"/>
            <p:cNvSpPr>
              <a:spLocks noChangeShapeType="1"/>
            </p:cNvSpPr>
            <p:nvPr/>
          </p:nvSpPr>
          <p:spPr bwMode="auto">
            <a:xfrm>
              <a:off x="1728" y="3882"/>
              <a:ext cx="3336" cy="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96" name="Line 120"/>
            <p:cNvSpPr>
              <a:spLocks noChangeShapeType="1"/>
            </p:cNvSpPr>
            <p:nvPr/>
          </p:nvSpPr>
          <p:spPr bwMode="auto">
            <a:xfrm flipV="1">
              <a:off x="4963" y="2651"/>
              <a:ext cx="0" cy="51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97" name="Line 121"/>
            <p:cNvSpPr>
              <a:spLocks noChangeShapeType="1"/>
            </p:cNvSpPr>
            <p:nvPr/>
          </p:nvSpPr>
          <p:spPr bwMode="auto">
            <a:xfrm flipH="1">
              <a:off x="4800" y="2744"/>
              <a:ext cx="115" cy="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98" name="Freeform 122"/>
            <p:cNvSpPr>
              <a:spLocks/>
            </p:cNvSpPr>
            <p:nvPr/>
          </p:nvSpPr>
          <p:spPr bwMode="auto">
            <a:xfrm>
              <a:off x="4800" y="2953"/>
              <a:ext cx="119" cy="405"/>
            </a:xfrm>
            <a:custGeom>
              <a:avLst/>
              <a:gdLst>
                <a:gd name="T0" fmla="*/ 118 w 104"/>
                <a:gd name="T1" fmla="*/ 0 h 204"/>
                <a:gd name="T2" fmla="*/ 60 w 104"/>
                <a:gd name="T3" fmla="*/ 0 h 204"/>
                <a:gd name="T4" fmla="*/ 60 w 104"/>
                <a:gd name="T5" fmla="*/ 403 h 204"/>
                <a:gd name="T6" fmla="*/ 0 w 104"/>
                <a:gd name="T7" fmla="*/ 403 h 20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4"/>
                <a:gd name="T13" fmla="*/ 0 h 204"/>
                <a:gd name="T14" fmla="*/ 104 w 104"/>
                <a:gd name="T15" fmla="*/ 204 h 20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4" h="204">
                  <a:moveTo>
                    <a:pt x="103" y="0"/>
                  </a:moveTo>
                  <a:lnTo>
                    <a:pt x="52" y="0"/>
                  </a:lnTo>
                  <a:lnTo>
                    <a:pt x="52" y="203"/>
                  </a:lnTo>
                  <a:lnTo>
                    <a:pt x="0" y="203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triangl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00" name="Line 124"/>
            <p:cNvSpPr>
              <a:spLocks noChangeShapeType="1"/>
            </p:cNvSpPr>
            <p:nvPr/>
          </p:nvSpPr>
          <p:spPr bwMode="auto">
            <a:xfrm>
              <a:off x="4803" y="3558"/>
              <a:ext cx="9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01" name="Line 125"/>
            <p:cNvSpPr>
              <a:spLocks noChangeShapeType="1"/>
            </p:cNvSpPr>
            <p:nvPr/>
          </p:nvSpPr>
          <p:spPr bwMode="auto">
            <a:xfrm rot="5400000">
              <a:off x="4770" y="3681"/>
              <a:ext cx="25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02" name="Line 126"/>
            <p:cNvSpPr>
              <a:spLocks noChangeShapeType="1"/>
            </p:cNvSpPr>
            <p:nvPr/>
          </p:nvSpPr>
          <p:spPr bwMode="auto">
            <a:xfrm flipV="1">
              <a:off x="5067" y="2847"/>
              <a:ext cx="0" cy="10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03" name="Line 127"/>
            <p:cNvSpPr>
              <a:spLocks noChangeShapeType="1"/>
            </p:cNvSpPr>
            <p:nvPr/>
          </p:nvSpPr>
          <p:spPr bwMode="auto">
            <a:xfrm flipV="1">
              <a:off x="5025" y="2847"/>
              <a:ext cx="42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04" name="Freeform 128"/>
            <p:cNvSpPr>
              <a:spLocks/>
            </p:cNvSpPr>
            <p:nvPr/>
          </p:nvSpPr>
          <p:spPr bwMode="auto">
            <a:xfrm>
              <a:off x="636" y="1885"/>
              <a:ext cx="276" cy="631"/>
            </a:xfrm>
            <a:custGeom>
              <a:avLst/>
              <a:gdLst>
                <a:gd name="T0" fmla="*/ 275 w 194"/>
                <a:gd name="T1" fmla="*/ 0 h 631"/>
                <a:gd name="T2" fmla="*/ 0 w 194"/>
                <a:gd name="T3" fmla="*/ 2 h 631"/>
                <a:gd name="T4" fmla="*/ 0 w 194"/>
                <a:gd name="T5" fmla="*/ 630 h 631"/>
                <a:gd name="T6" fmla="*/ 0 60000 65536"/>
                <a:gd name="T7" fmla="*/ 0 60000 65536"/>
                <a:gd name="T8" fmla="*/ 0 60000 65536"/>
                <a:gd name="T9" fmla="*/ 0 w 194"/>
                <a:gd name="T10" fmla="*/ 0 h 631"/>
                <a:gd name="T11" fmla="*/ 194 w 194"/>
                <a:gd name="T12" fmla="*/ 631 h 63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4" h="631">
                  <a:moveTo>
                    <a:pt x="193" y="0"/>
                  </a:moveTo>
                  <a:lnTo>
                    <a:pt x="0" y="2"/>
                  </a:lnTo>
                  <a:lnTo>
                    <a:pt x="0" y="63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triangl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05" name="Freeform 129"/>
            <p:cNvSpPr>
              <a:spLocks/>
            </p:cNvSpPr>
            <p:nvPr/>
          </p:nvSpPr>
          <p:spPr bwMode="auto">
            <a:xfrm>
              <a:off x="624" y="2503"/>
              <a:ext cx="24" cy="24"/>
            </a:xfrm>
            <a:custGeom>
              <a:avLst/>
              <a:gdLst>
                <a:gd name="T0" fmla="*/ 12 w 24"/>
                <a:gd name="T1" fmla="*/ 21 h 24"/>
                <a:gd name="T2" fmla="*/ 14 w 24"/>
                <a:gd name="T3" fmla="*/ 21 h 24"/>
                <a:gd name="T4" fmla="*/ 16 w 24"/>
                <a:gd name="T5" fmla="*/ 21 h 24"/>
                <a:gd name="T6" fmla="*/ 17 w 24"/>
                <a:gd name="T7" fmla="*/ 21 h 24"/>
                <a:gd name="T8" fmla="*/ 19 w 24"/>
                <a:gd name="T9" fmla="*/ 19 h 24"/>
                <a:gd name="T10" fmla="*/ 19 w 24"/>
                <a:gd name="T11" fmla="*/ 19 h 24"/>
                <a:gd name="T12" fmla="*/ 21 w 24"/>
                <a:gd name="T13" fmla="*/ 18 h 24"/>
                <a:gd name="T14" fmla="*/ 23 w 24"/>
                <a:gd name="T15" fmla="*/ 16 h 24"/>
                <a:gd name="T16" fmla="*/ 23 w 24"/>
                <a:gd name="T17" fmla="*/ 14 h 24"/>
                <a:gd name="T18" fmla="*/ 23 w 24"/>
                <a:gd name="T19" fmla="*/ 14 h 24"/>
                <a:gd name="T20" fmla="*/ 23 w 24"/>
                <a:gd name="T21" fmla="*/ 12 h 24"/>
                <a:gd name="T22" fmla="*/ 23 w 24"/>
                <a:gd name="T23" fmla="*/ 10 h 24"/>
                <a:gd name="T24" fmla="*/ 23 w 24"/>
                <a:gd name="T25" fmla="*/ 8 h 24"/>
                <a:gd name="T26" fmla="*/ 23 w 24"/>
                <a:gd name="T27" fmla="*/ 6 h 24"/>
                <a:gd name="T28" fmla="*/ 21 w 24"/>
                <a:gd name="T29" fmla="*/ 4 h 24"/>
                <a:gd name="T30" fmla="*/ 19 w 24"/>
                <a:gd name="T31" fmla="*/ 2 h 24"/>
                <a:gd name="T32" fmla="*/ 19 w 24"/>
                <a:gd name="T33" fmla="*/ 2 h 24"/>
                <a:gd name="T34" fmla="*/ 17 w 24"/>
                <a:gd name="T35" fmla="*/ 0 h 24"/>
                <a:gd name="T36" fmla="*/ 16 w 24"/>
                <a:gd name="T37" fmla="*/ 0 h 24"/>
                <a:gd name="T38" fmla="*/ 14 w 24"/>
                <a:gd name="T39" fmla="*/ 0 h 24"/>
                <a:gd name="T40" fmla="*/ 12 w 24"/>
                <a:gd name="T41" fmla="*/ 0 h 24"/>
                <a:gd name="T42" fmla="*/ 10 w 24"/>
                <a:gd name="T43" fmla="*/ 0 h 24"/>
                <a:gd name="T44" fmla="*/ 8 w 24"/>
                <a:gd name="T45" fmla="*/ 0 h 24"/>
                <a:gd name="T46" fmla="*/ 6 w 24"/>
                <a:gd name="T47" fmla="*/ 0 h 24"/>
                <a:gd name="T48" fmla="*/ 6 w 24"/>
                <a:gd name="T49" fmla="*/ 2 h 24"/>
                <a:gd name="T50" fmla="*/ 4 w 24"/>
                <a:gd name="T51" fmla="*/ 2 h 24"/>
                <a:gd name="T52" fmla="*/ 2 w 24"/>
                <a:gd name="T53" fmla="*/ 4 h 24"/>
                <a:gd name="T54" fmla="*/ 2 w 24"/>
                <a:gd name="T55" fmla="*/ 6 h 24"/>
                <a:gd name="T56" fmla="*/ 0 w 24"/>
                <a:gd name="T57" fmla="*/ 8 h 24"/>
                <a:gd name="T58" fmla="*/ 0 w 24"/>
                <a:gd name="T59" fmla="*/ 10 h 24"/>
                <a:gd name="T60" fmla="*/ 0 w 24"/>
                <a:gd name="T61" fmla="*/ 12 h 24"/>
                <a:gd name="T62" fmla="*/ 0 w 24"/>
                <a:gd name="T63" fmla="*/ 14 h 24"/>
                <a:gd name="T64" fmla="*/ 0 w 24"/>
                <a:gd name="T65" fmla="*/ 14 h 24"/>
                <a:gd name="T66" fmla="*/ 2 w 24"/>
                <a:gd name="T67" fmla="*/ 16 h 24"/>
                <a:gd name="T68" fmla="*/ 2 w 24"/>
                <a:gd name="T69" fmla="*/ 18 h 24"/>
                <a:gd name="T70" fmla="*/ 4 w 24"/>
                <a:gd name="T71" fmla="*/ 19 h 24"/>
                <a:gd name="T72" fmla="*/ 6 w 24"/>
                <a:gd name="T73" fmla="*/ 19 h 24"/>
                <a:gd name="T74" fmla="*/ 6 w 24"/>
                <a:gd name="T75" fmla="*/ 21 h 24"/>
                <a:gd name="T76" fmla="*/ 8 w 24"/>
                <a:gd name="T77" fmla="*/ 21 h 24"/>
                <a:gd name="T78" fmla="*/ 10 w 24"/>
                <a:gd name="T79" fmla="*/ 21 h 24"/>
                <a:gd name="T80" fmla="*/ 12 w 24"/>
                <a:gd name="T81" fmla="*/ 23 h 24"/>
                <a:gd name="T82" fmla="*/ 12 w 24"/>
                <a:gd name="T83" fmla="*/ 23 h 24"/>
                <a:gd name="T84" fmla="*/ 12 w 24"/>
                <a:gd name="T85" fmla="*/ 21 h 2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4"/>
                <a:gd name="T130" fmla="*/ 0 h 24"/>
                <a:gd name="T131" fmla="*/ 24 w 24"/>
                <a:gd name="T132" fmla="*/ 24 h 24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4" h="24">
                  <a:moveTo>
                    <a:pt x="12" y="21"/>
                  </a:moveTo>
                  <a:lnTo>
                    <a:pt x="14" y="21"/>
                  </a:lnTo>
                  <a:lnTo>
                    <a:pt x="16" y="21"/>
                  </a:lnTo>
                  <a:lnTo>
                    <a:pt x="17" y="21"/>
                  </a:lnTo>
                  <a:lnTo>
                    <a:pt x="19" y="19"/>
                  </a:lnTo>
                  <a:lnTo>
                    <a:pt x="21" y="18"/>
                  </a:lnTo>
                  <a:lnTo>
                    <a:pt x="23" y="16"/>
                  </a:lnTo>
                  <a:lnTo>
                    <a:pt x="23" y="14"/>
                  </a:lnTo>
                  <a:lnTo>
                    <a:pt x="23" y="12"/>
                  </a:lnTo>
                  <a:lnTo>
                    <a:pt x="23" y="10"/>
                  </a:lnTo>
                  <a:lnTo>
                    <a:pt x="23" y="8"/>
                  </a:lnTo>
                  <a:lnTo>
                    <a:pt x="23" y="6"/>
                  </a:lnTo>
                  <a:lnTo>
                    <a:pt x="21" y="4"/>
                  </a:lnTo>
                  <a:lnTo>
                    <a:pt x="19" y="2"/>
                  </a:lnTo>
                  <a:lnTo>
                    <a:pt x="17" y="0"/>
                  </a:lnTo>
                  <a:lnTo>
                    <a:pt x="16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8" y="0"/>
                  </a:lnTo>
                  <a:lnTo>
                    <a:pt x="6" y="0"/>
                  </a:lnTo>
                  <a:lnTo>
                    <a:pt x="6" y="2"/>
                  </a:lnTo>
                  <a:lnTo>
                    <a:pt x="4" y="2"/>
                  </a:lnTo>
                  <a:lnTo>
                    <a:pt x="2" y="4"/>
                  </a:lnTo>
                  <a:lnTo>
                    <a:pt x="2" y="6"/>
                  </a:lnTo>
                  <a:lnTo>
                    <a:pt x="0" y="8"/>
                  </a:lnTo>
                  <a:lnTo>
                    <a:pt x="0" y="10"/>
                  </a:lnTo>
                  <a:lnTo>
                    <a:pt x="0" y="12"/>
                  </a:lnTo>
                  <a:lnTo>
                    <a:pt x="0" y="14"/>
                  </a:lnTo>
                  <a:lnTo>
                    <a:pt x="2" y="16"/>
                  </a:lnTo>
                  <a:lnTo>
                    <a:pt x="2" y="18"/>
                  </a:lnTo>
                  <a:lnTo>
                    <a:pt x="4" y="19"/>
                  </a:lnTo>
                  <a:lnTo>
                    <a:pt x="6" y="19"/>
                  </a:lnTo>
                  <a:lnTo>
                    <a:pt x="6" y="21"/>
                  </a:lnTo>
                  <a:lnTo>
                    <a:pt x="8" y="21"/>
                  </a:lnTo>
                  <a:lnTo>
                    <a:pt x="10" y="21"/>
                  </a:lnTo>
                  <a:lnTo>
                    <a:pt x="12" y="23"/>
                  </a:lnTo>
                  <a:lnTo>
                    <a:pt x="12" y="21"/>
                  </a:lnTo>
                </a:path>
              </a:pathLst>
            </a:custGeom>
            <a:solidFill>
              <a:srgbClr val="000000"/>
            </a:solidFill>
            <a:ln w="9525" cap="rnd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06" name="Rectangle 130"/>
            <p:cNvSpPr>
              <a:spLocks noChangeArrowheads="1"/>
            </p:cNvSpPr>
            <p:nvPr/>
          </p:nvSpPr>
          <p:spPr bwMode="auto">
            <a:xfrm>
              <a:off x="695" y="2081"/>
              <a:ext cx="146" cy="1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sz="1200">
                  <a:solidFill>
                    <a:srgbClr val="000000"/>
                  </a:solidFill>
                  <a:latin typeface="+mj-lt"/>
                </a:rPr>
                <a:t>4</a:t>
              </a:r>
              <a:endParaRPr lang="en-US" sz="6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407" name="Freeform 131"/>
            <p:cNvSpPr>
              <a:spLocks/>
            </p:cNvSpPr>
            <p:nvPr/>
          </p:nvSpPr>
          <p:spPr bwMode="auto">
            <a:xfrm>
              <a:off x="1359" y="1917"/>
              <a:ext cx="93" cy="1777"/>
            </a:xfrm>
            <a:custGeom>
              <a:avLst/>
              <a:gdLst>
                <a:gd name="T0" fmla="*/ 90 w 93"/>
                <a:gd name="T1" fmla="*/ 1776 h 1777"/>
                <a:gd name="T2" fmla="*/ 92 w 93"/>
                <a:gd name="T3" fmla="*/ 0 h 1777"/>
                <a:gd name="T4" fmla="*/ 0 w 93"/>
                <a:gd name="T5" fmla="*/ 0 h 1777"/>
                <a:gd name="T6" fmla="*/ 0 w 93"/>
                <a:gd name="T7" fmla="*/ 1776 h 1777"/>
                <a:gd name="T8" fmla="*/ 92 w 93"/>
                <a:gd name="T9" fmla="*/ 1776 h 1777"/>
                <a:gd name="T10" fmla="*/ 92 w 93"/>
                <a:gd name="T11" fmla="*/ 1776 h 177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3"/>
                <a:gd name="T19" fmla="*/ 0 h 1777"/>
                <a:gd name="T20" fmla="*/ 93 w 93"/>
                <a:gd name="T21" fmla="*/ 1777 h 177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3" h="1777">
                  <a:moveTo>
                    <a:pt x="90" y="1776"/>
                  </a:moveTo>
                  <a:lnTo>
                    <a:pt x="92" y="0"/>
                  </a:lnTo>
                  <a:lnTo>
                    <a:pt x="0" y="0"/>
                  </a:lnTo>
                  <a:lnTo>
                    <a:pt x="0" y="1776"/>
                  </a:lnTo>
                  <a:lnTo>
                    <a:pt x="92" y="1776"/>
                  </a:lnTo>
                </a:path>
              </a:pathLst>
            </a:custGeom>
            <a:solidFill>
              <a:srgbClr val="CCECFF"/>
            </a:solidFill>
            <a:ln w="190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08" name="Line 132"/>
            <p:cNvSpPr>
              <a:spLocks noChangeShapeType="1"/>
            </p:cNvSpPr>
            <p:nvPr/>
          </p:nvSpPr>
          <p:spPr bwMode="auto">
            <a:xfrm flipH="1" flipV="1">
              <a:off x="1202" y="2021"/>
              <a:ext cx="163" cy="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09" name="Freeform 133"/>
            <p:cNvSpPr>
              <a:spLocks/>
            </p:cNvSpPr>
            <p:nvPr/>
          </p:nvSpPr>
          <p:spPr bwMode="auto">
            <a:xfrm>
              <a:off x="1236" y="2013"/>
              <a:ext cx="24" cy="24"/>
            </a:xfrm>
            <a:custGeom>
              <a:avLst/>
              <a:gdLst>
                <a:gd name="T0" fmla="*/ 9 w 24"/>
                <a:gd name="T1" fmla="*/ 23 h 24"/>
                <a:gd name="T2" fmla="*/ 13 w 24"/>
                <a:gd name="T3" fmla="*/ 23 h 24"/>
                <a:gd name="T4" fmla="*/ 15 w 24"/>
                <a:gd name="T5" fmla="*/ 23 h 24"/>
                <a:gd name="T6" fmla="*/ 15 w 24"/>
                <a:gd name="T7" fmla="*/ 21 h 24"/>
                <a:gd name="T8" fmla="*/ 17 w 24"/>
                <a:gd name="T9" fmla="*/ 21 h 24"/>
                <a:gd name="T10" fmla="*/ 19 w 24"/>
                <a:gd name="T11" fmla="*/ 19 h 24"/>
                <a:gd name="T12" fmla="*/ 19 w 24"/>
                <a:gd name="T13" fmla="*/ 19 h 24"/>
                <a:gd name="T14" fmla="*/ 21 w 24"/>
                <a:gd name="T15" fmla="*/ 17 h 24"/>
                <a:gd name="T16" fmla="*/ 21 w 24"/>
                <a:gd name="T17" fmla="*/ 15 h 24"/>
                <a:gd name="T18" fmla="*/ 23 w 24"/>
                <a:gd name="T19" fmla="*/ 13 h 24"/>
                <a:gd name="T20" fmla="*/ 23 w 24"/>
                <a:gd name="T21" fmla="*/ 11 h 24"/>
                <a:gd name="T22" fmla="*/ 23 w 24"/>
                <a:gd name="T23" fmla="*/ 9 h 24"/>
                <a:gd name="T24" fmla="*/ 21 w 24"/>
                <a:gd name="T25" fmla="*/ 8 h 24"/>
                <a:gd name="T26" fmla="*/ 21 w 24"/>
                <a:gd name="T27" fmla="*/ 6 h 24"/>
                <a:gd name="T28" fmla="*/ 19 w 24"/>
                <a:gd name="T29" fmla="*/ 6 h 24"/>
                <a:gd name="T30" fmla="*/ 19 w 24"/>
                <a:gd name="T31" fmla="*/ 4 h 24"/>
                <a:gd name="T32" fmla="*/ 17 w 24"/>
                <a:gd name="T33" fmla="*/ 2 h 24"/>
                <a:gd name="T34" fmla="*/ 15 w 24"/>
                <a:gd name="T35" fmla="*/ 2 h 24"/>
                <a:gd name="T36" fmla="*/ 15 w 24"/>
                <a:gd name="T37" fmla="*/ 0 h 24"/>
                <a:gd name="T38" fmla="*/ 13 w 24"/>
                <a:gd name="T39" fmla="*/ 0 h 24"/>
                <a:gd name="T40" fmla="*/ 11 w 24"/>
                <a:gd name="T41" fmla="*/ 0 h 24"/>
                <a:gd name="T42" fmla="*/ 9 w 24"/>
                <a:gd name="T43" fmla="*/ 0 h 24"/>
                <a:gd name="T44" fmla="*/ 7 w 24"/>
                <a:gd name="T45" fmla="*/ 0 h 24"/>
                <a:gd name="T46" fmla="*/ 5 w 24"/>
                <a:gd name="T47" fmla="*/ 2 h 24"/>
                <a:gd name="T48" fmla="*/ 4 w 24"/>
                <a:gd name="T49" fmla="*/ 2 h 24"/>
                <a:gd name="T50" fmla="*/ 2 w 24"/>
                <a:gd name="T51" fmla="*/ 4 h 24"/>
                <a:gd name="T52" fmla="*/ 2 w 24"/>
                <a:gd name="T53" fmla="*/ 6 h 24"/>
                <a:gd name="T54" fmla="*/ 0 w 24"/>
                <a:gd name="T55" fmla="*/ 6 h 24"/>
                <a:gd name="T56" fmla="*/ 0 w 24"/>
                <a:gd name="T57" fmla="*/ 8 h 24"/>
                <a:gd name="T58" fmla="*/ 0 w 24"/>
                <a:gd name="T59" fmla="*/ 9 h 24"/>
                <a:gd name="T60" fmla="*/ 0 w 24"/>
                <a:gd name="T61" fmla="*/ 11 h 24"/>
                <a:gd name="T62" fmla="*/ 0 w 24"/>
                <a:gd name="T63" fmla="*/ 13 h 24"/>
                <a:gd name="T64" fmla="*/ 0 w 24"/>
                <a:gd name="T65" fmla="*/ 15 h 24"/>
                <a:gd name="T66" fmla="*/ 0 w 24"/>
                <a:gd name="T67" fmla="*/ 17 h 24"/>
                <a:gd name="T68" fmla="*/ 2 w 24"/>
                <a:gd name="T69" fmla="*/ 19 h 24"/>
                <a:gd name="T70" fmla="*/ 2 w 24"/>
                <a:gd name="T71" fmla="*/ 19 h 24"/>
                <a:gd name="T72" fmla="*/ 4 w 24"/>
                <a:gd name="T73" fmla="*/ 21 h 24"/>
                <a:gd name="T74" fmla="*/ 5 w 24"/>
                <a:gd name="T75" fmla="*/ 21 h 24"/>
                <a:gd name="T76" fmla="*/ 7 w 24"/>
                <a:gd name="T77" fmla="*/ 23 h 24"/>
                <a:gd name="T78" fmla="*/ 9 w 24"/>
                <a:gd name="T79" fmla="*/ 23 h 24"/>
                <a:gd name="T80" fmla="*/ 11 w 24"/>
                <a:gd name="T81" fmla="*/ 23 h 24"/>
                <a:gd name="T82" fmla="*/ 11 w 24"/>
                <a:gd name="T83" fmla="*/ 23 h 24"/>
                <a:gd name="T84" fmla="*/ 9 w 24"/>
                <a:gd name="T85" fmla="*/ 23 h 2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4"/>
                <a:gd name="T130" fmla="*/ 0 h 24"/>
                <a:gd name="T131" fmla="*/ 24 w 24"/>
                <a:gd name="T132" fmla="*/ 24 h 24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4" h="24">
                  <a:moveTo>
                    <a:pt x="9" y="23"/>
                  </a:moveTo>
                  <a:lnTo>
                    <a:pt x="13" y="23"/>
                  </a:lnTo>
                  <a:lnTo>
                    <a:pt x="15" y="23"/>
                  </a:lnTo>
                  <a:lnTo>
                    <a:pt x="15" y="21"/>
                  </a:lnTo>
                  <a:lnTo>
                    <a:pt x="17" y="21"/>
                  </a:lnTo>
                  <a:lnTo>
                    <a:pt x="19" y="19"/>
                  </a:lnTo>
                  <a:lnTo>
                    <a:pt x="21" y="17"/>
                  </a:lnTo>
                  <a:lnTo>
                    <a:pt x="21" y="15"/>
                  </a:lnTo>
                  <a:lnTo>
                    <a:pt x="23" y="13"/>
                  </a:lnTo>
                  <a:lnTo>
                    <a:pt x="23" y="11"/>
                  </a:lnTo>
                  <a:lnTo>
                    <a:pt x="23" y="9"/>
                  </a:lnTo>
                  <a:lnTo>
                    <a:pt x="21" y="8"/>
                  </a:lnTo>
                  <a:lnTo>
                    <a:pt x="21" y="6"/>
                  </a:lnTo>
                  <a:lnTo>
                    <a:pt x="19" y="6"/>
                  </a:lnTo>
                  <a:lnTo>
                    <a:pt x="19" y="4"/>
                  </a:lnTo>
                  <a:lnTo>
                    <a:pt x="17" y="2"/>
                  </a:lnTo>
                  <a:lnTo>
                    <a:pt x="15" y="2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1" y="0"/>
                  </a:lnTo>
                  <a:lnTo>
                    <a:pt x="9" y="0"/>
                  </a:lnTo>
                  <a:lnTo>
                    <a:pt x="7" y="0"/>
                  </a:lnTo>
                  <a:lnTo>
                    <a:pt x="5" y="2"/>
                  </a:lnTo>
                  <a:lnTo>
                    <a:pt x="4" y="2"/>
                  </a:lnTo>
                  <a:lnTo>
                    <a:pt x="2" y="4"/>
                  </a:lnTo>
                  <a:lnTo>
                    <a:pt x="2" y="6"/>
                  </a:lnTo>
                  <a:lnTo>
                    <a:pt x="0" y="6"/>
                  </a:lnTo>
                  <a:lnTo>
                    <a:pt x="0" y="8"/>
                  </a:lnTo>
                  <a:lnTo>
                    <a:pt x="0" y="9"/>
                  </a:lnTo>
                  <a:lnTo>
                    <a:pt x="0" y="11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0" y="17"/>
                  </a:lnTo>
                  <a:lnTo>
                    <a:pt x="2" y="19"/>
                  </a:lnTo>
                  <a:lnTo>
                    <a:pt x="4" y="21"/>
                  </a:lnTo>
                  <a:lnTo>
                    <a:pt x="5" y="21"/>
                  </a:lnTo>
                  <a:lnTo>
                    <a:pt x="7" y="23"/>
                  </a:lnTo>
                  <a:lnTo>
                    <a:pt x="9" y="23"/>
                  </a:lnTo>
                  <a:lnTo>
                    <a:pt x="11" y="23"/>
                  </a:lnTo>
                  <a:lnTo>
                    <a:pt x="9" y="23"/>
                  </a:lnTo>
                </a:path>
              </a:pathLst>
            </a:custGeom>
            <a:solidFill>
              <a:srgbClr val="000000"/>
            </a:solidFill>
            <a:ln w="9525" cap="rnd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10" name="Freeform 134"/>
            <p:cNvSpPr>
              <a:spLocks/>
            </p:cNvSpPr>
            <p:nvPr/>
          </p:nvSpPr>
          <p:spPr bwMode="auto">
            <a:xfrm>
              <a:off x="915" y="1825"/>
              <a:ext cx="285" cy="413"/>
            </a:xfrm>
            <a:custGeom>
              <a:avLst/>
              <a:gdLst>
                <a:gd name="T0" fmla="*/ 0 w 210"/>
                <a:gd name="T1" fmla="*/ 0 h 413"/>
                <a:gd name="T2" fmla="*/ 0 w 210"/>
                <a:gd name="T3" fmla="*/ 167 h 413"/>
                <a:gd name="T4" fmla="*/ 91 w 210"/>
                <a:gd name="T5" fmla="*/ 207 h 413"/>
                <a:gd name="T6" fmla="*/ 0 w 210"/>
                <a:gd name="T7" fmla="*/ 245 h 413"/>
                <a:gd name="T8" fmla="*/ 0 w 210"/>
                <a:gd name="T9" fmla="*/ 412 h 413"/>
                <a:gd name="T10" fmla="*/ 284 w 210"/>
                <a:gd name="T11" fmla="*/ 286 h 413"/>
                <a:gd name="T12" fmla="*/ 284 w 210"/>
                <a:gd name="T13" fmla="*/ 127 h 413"/>
                <a:gd name="T14" fmla="*/ 0 w 210"/>
                <a:gd name="T15" fmla="*/ 0 h 413"/>
                <a:gd name="T16" fmla="*/ 0 w 210"/>
                <a:gd name="T17" fmla="*/ 0 h 41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10"/>
                <a:gd name="T28" fmla="*/ 0 h 413"/>
                <a:gd name="T29" fmla="*/ 210 w 210"/>
                <a:gd name="T30" fmla="*/ 413 h 413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10" h="413">
                  <a:moveTo>
                    <a:pt x="0" y="0"/>
                  </a:moveTo>
                  <a:lnTo>
                    <a:pt x="0" y="167"/>
                  </a:lnTo>
                  <a:lnTo>
                    <a:pt x="67" y="207"/>
                  </a:lnTo>
                  <a:lnTo>
                    <a:pt x="0" y="245"/>
                  </a:lnTo>
                  <a:lnTo>
                    <a:pt x="0" y="412"/>
                  </a:lnTo>
                  <a:lnTo>
                    <a:pt x="209" y="286"/>
                  </a:lnTo>
                  <a:lnTo>
                    <a:pt x="209" y="127"/>
                  </a:lnTo>
                  <a:lnTo>
                    <a:pt x="0" y="0"/>
                  </a:lnTo>
                </a:path>
              </a:pathLst>
            </a:custGeom>
            <a:solidFill>
              <a:srgbClr val="CCFF99"/>
            </a:solidFill>
            <a:ln w="190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11" name="Line 135"/>
            <p:cNvSpPr>
              <a:spLocks noChangeShapeType="1"/>
            </p:cNvSpPr>
            <p:nvPr/>
          </p:nvSpPr>
          <p:spPr bwMode="auto">
            <a:xfrm flipH="1">
              <a:off x="811" y="2168"/>
              <a:ext cx="102" cy="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12" name="Rectangle 136"/>
            <p:cNvSpPr>
              <a:spLocks noChangeArrowheads="1"/>
            </p:cNvSpPr>
            <p:nvPr/>
          </p:nvSpPr>
          <p:spPr bwMode="auto">
            <a:xfrm>
              <a:off x="812" y="2774"/>
              <a:ext cx="374" cy="2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000000"/>
                  </a:solidFill>
                  <a:latin typeface="+mj-lt"/>
                </a:rPr>
                <a:t>Instruction</a:t>
              </a:r>
            </a:p>
            <a:p>
              <a:pPr algn="ctr"/>
              <a:r>
                <a:rPr lang="en-US" sz="1200" dirty="0">
                  <a:solidFill>
                    <a:srgbClr val="000000"/>
                  </a:solidFill>
                  <a:latin typeface="+mj-lt"/>
                </a:rPr>
                <a:t>Memory</a:t>
              </a:r>
              <a:endParaRPr lang="en-US" sz="500" dirty="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413" name="Rectangle 138"/>
            <p:cNvSpPr>
              <a:spLocks noChangeArrowheads="1"/>
            </p:cNvSpPr>
            <p:nvPr/>
          </p:nvSpPr>
          <p:spPr bwMode="auto">
            <a:xfrm>
              <a:off x="747" y="2481"/>
              <a:ext cx="208" cy="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900">
                  <a:solidFill>
                    <a:srgbClr val="000000"/>
                  </a:solidFill>
                  <a:latin typeface="+mj-lt"/>
                </a:rPr>
                <a:t>Address</a:t>
              </a:r>
              <a:endParaRPr lang="en-US" sz="5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414" name="Rectangle 139"/>
            <p:cNvSpPr>
              <a:spLocks noChangeArrowheads="1"/>
            </p:cNvSpPr>
            <p:nvPr/>
          </p:nvSpPr>
          <p:spPr bwMode="auto">
            <a:xfrm>
              <a:off x="1042" y="1968"/>
              <a:ext cx="138" cy="1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dirty="0">
                  <a:solidFill>
                    <a:srgbClr val="000000"/>
                  </a:solidFill>
                  <a:latin typeface="+mj-lt"/>
                </a:rPr>
                <a:t>Add</a:t>
              </a:r>
              <a:endParaRPr lang="en-US" sz="500" dirty="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415" name="Rectangle 140"/>
            <p:cNvSpPr>
              <a:spLocks noChangeArrowheads="1"/>
            </p:cNvSpPr>
            <p:nvPr/>
          </p:nvSpPr>
          <p:spPr bwMode="auto">
            <a:xfrm>
              <a:off x="1311" y="1755"/>
              <a:ext cx="223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dirty="0">
                  <a:solidFill>
                    <a:srgbClr val="000000"/>
                  </a:solidFill>
                  <a:latin typeface="+mj-lt"/>
                </a:rPr>
                <a:t>IF/ID</a:t>
              </a:r>
            </a:p>
          </p:txBody>
        </p:sp>
        <p:grpSp>
          <p:nvGrpSpPr>
            <p:cNvPr id="54416" name="Group 141"/>
            <p:cNvGrpSpPr>
              <a:grpSpLocks/>
            </p:cNvGrpSpPr>
            <p:nvPr/>
          </p:nvGrpSpPr>
          <p:grpSpPr bwMode="auto">
            <a:xfrm>
              <a:off x="432" y="2393"/>
              <a:ext cx="156" cy="245"/>
              <a:chOff x="480" y="2155"/>
              <a:chExt cx="156" cy="245"/>
            </a:xfrm>
          </p:grpSpPr>
          <p:sp>
            <p:nvSpPr>
              <p:cNvPr id="54455" name="Freeform 142"/>
              <p:cNvSpPr>
                <a:spLocks/>
              </p:cNvSpPr>
              <p:nvPr/>
            </p:nvSpPr>
            <p:spPr bwMode="auto">
              <a:xfrm>
                <a:off x="480" y="2155"/>
                <a:ext cx="156" cy="245"/>
              </a:xfrm>
              <a:custGeom>
                <a:avLst/>
                <a:gdLst>
                  <a:gd name="T0" fmla="*/ 155 w 104"/>
                  <a:gd name="T1" fmla="*/ 242 h 245"/>
                  <a:gd name="T2" fmla="*/ 155 w 104"/>
                  <a:gd name="T3" fmla="*/ 0 h 245"/>
                  <a:gd name="T4" fmla="*/ 0 w 104"/>
                  <a:gd name="T5" fmla="*/ 0 h 245"/>
                  <a:gd name="T6" fmla="*/ 0 w 104"/>
                  <a:gd name="T7" fmla="*/ 244 h 245"/>
                  <a:gd name="T8" fmla="*/ 155 w 104"/>
                  <a:gd name="T9" fmla="*/ 244 h 245"/>
                  <a:gd name="T10" fmla="*/ 155 w 104"/>
                  <a:gd name="T11" fmla="*/ 244 h 24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04"/>
                  <a:gd name="T19" fmla="*/ 0 h 245"/>
                  <a:gd name="T20" fmla="*/ 104 w 104"/>
                  <a:gd name="T21" fmla="*/ 245 h 245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04" h="245">
                    <a:moveTo>
                      <a:pt x="103" y="242"/>
                    </a:moveTo>
                    <a:lnTo>
                      <a:pt x="103" y="0"/>
                    </a:lnTo>
                    <a:lnTo>
                      <a:pt x="0" y="0"/>
                    </a:lnTo>
                    <a:lnTo>
                      <a:pt x="0" y="244"/>
                    </a:lnTo>
                    <a:lnTo>
                      <a:pt x="103" y="244"/>
                    </a:lnTo>
                  </a:path>
                </a:pathLst>
              </a:custGeom>
              <a:solidFill>
                <a:srgbClr val="FFE6CD"/>
              </a:solidFill>
              <a:ln w="1905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54456" name="Rectangle 143"/>
              <p:cNvSpPr>
                <a:spLocks noChangeArrowheads="1"/>
              </p:cNvSpPr>
              <p:nvPr/>
            </p:nvSpPr>
            <p:spPr bwMode="auto">
              <a:xfrm>
                <a:off x="504" y="2220"/>
                <a:ext cx="90" cy="108"/>
              </a:xfrm>
              <a:prstGeom prst="rect">
                <a:avLst/>
              </a:prstGeom>
              <a:solidFill>
                <a:srgbClr val="FFE6CD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200" dirty="0">
                    <a:solidFill>
                      <a:srgbClr val="000000"/>
                    </a:solidFill>
                    <a:latin typeface="+mj-lt"/>
                  </a:rPr>
                  <a:t>PC</a:t>
                </a:r>
                <a:endParaRPr lang="en-US" sz="500" dirty="0">
                  <a:solidFill>
                    <a:srgbClr val="000000"/>
                  </a:solidFill>
                  <a:latin typeface="+mj-lt"/>
                </a:endParaRPr>
              </a:p>
            </p:txBody>
          </p:sp>
        </p:grpSp>
        <p:sp>
          <p:nvSpPr>
            <p:cNvPr id="54417" name="Line 144"/>
            <p:cNvSpPr>
              <a:spLocks noChangeShapeType="1"/>
            </p:cNvSpPr>
            <p:nvPr/>
          </p:nvSpPr>
          <p:spPr bwMode="auto">
            <a:xfrm flipH="1">
              <a:off x="1290" y="2688"/>
              <a:ext cx="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18" name="Line 145"/>
            <p:cNvSpPr>
              <a:spLocks noChangeShapeType="1"/>
            </p:cNvSpPr>
            <p:nvPr/>
          </p:nvSpPr>
          <p:spPr bwMode="auto">
            <a:xfrm flipV="1">
              <a:off x="1248" y="1782"/>
              <a:ext cx="0" cy="2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19" name="Line 146"/>
            <p:cNvSpPr>
              <a:spLocks noChangeShapeType="1"/>
            </p:cNvSpPr>
            <p:nvPr/>
          </p:nvSpPr>
          <p:spPr bwMode="auto">
            <a:xfrm flipH="1" flipV="1">
              <a:off x="3843" y="1594"/>
              <a:ext cx="0" cy="57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20" name="Line 147"/>
            <p:cNvSpPr>
              <a:spLocks noChangeShapeType="1"/>
            </p:cNvSpPr>
            <p:nvPr/>
          </p:nvSpPr>
          <p:spPr bwMode="auto">
            <a:xfrm rot="5400000" flipH="1" flipV="1">
              <a:off x="1011" y="1542"/>
              <a:ext cx="3" cy="47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21" name="Line 148"/>
            <p:cNvSpPr>
              <a:spLocks noChangeShapeType="1"/>
            </p:cNvSpPr>
            <p:nvPr/>
          </p:nvSpPr>
          <p:spPr bwMode="auto">
            <a:xfrm rot="16200000" flipV="1">
              <a:off x="3756" y="2077"/>
              <a:ext cx="3" cy="17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22" name="Line 149"/>
            <p:cNvSpPr>
              <a:spLocks noChangeShapeType="1"/>
            </p:cNvSpPr>
            <p:nvPr/>
          </p:nvSpPr>
          <p:spPr bwMode="auto">
            <a:xfrm rot="16200000" flipV="1">
              <a:off x="521" y="1529"/>
              <a:ext cx="0" cy="31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23" name="Line 150"/>
            <p:cNvSpPr>
              <a:spLocks noChangeShapeType="1"/>
            </p:cNvSpPr>
            <p:nvPr/>
          </p:nvSpPr>
          <p:spPr bwMode="auto">
            <a:xfrm flipV="1">
              <a:off x="360" y="1683"/>
              <a:ext cx="0" cy="83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24" name="Line 151"/>
            <p:cNvSpPr>
              <a:spLocks noChangeShapeType="1"/>
            </p:cNvSpPr>
            <p:nvPr/>
          </p:nvSpPr>
          <p:spPr bwMode="auto">
            <a:xfrm rot="16200000" flipV="1">
              <a:off x="393" y="2481"/>
              <a:ext cx="0" cy="6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grpSp>
          <p:nvGrpSpPr>
            <p:cNvPr id="54425" name="Group 152"/>
            <p:cNvGrpSpPr>
              <a:grpSpLocks/>
            </p:cNvGrpSpPr>
            <p:nvPr/>
          </p:nvGrpSpPr>
          <p:grpSpPr bwMode="auto">
            <a:xfrm>
              <a:off x="2754" y="3391"/>
              <a:ext cx="127" cy="309"/>
              <a:chOff x="2742" y="3153"/>
              <a:chExt cx="127" cy="309"/>
            </a:xfrm>
          </p:grpSpPr>
          <p:sp>
            <p:nvSpPr>
              <p:cNvPr id="54451" name="Rectangle 153"/>
              <p:cNvSpPr>
                <a:spLocks noChangeArrowheads="1"/>
              </p:cNvSpPr>
              <p:nvPr/>
            </p:nvSpPr>
            <p:spPr bwMode="auto">
              <a:xfrm>
                <a:off x="2745" y="3153"/>
                <a:ext cx="124" cy="108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r>
                  <a:rPr lang="en-US" sz="600" dirty="0">
                    <a:solidFill>
                      <a:srgbClr val="000000"/>
                    </a:solidFill>
                    <a:latin typeface="+mj-lt"/>
                  </a:rPr>
                  <a:t>0</a:t>
                </a:r>
              </a:p>
            </p:txBody>
          </p:sp>
          <p:sp>
            <p:nvSpPr>
              <p:cNvPr id="54452" name="Rectangle 154"/>
              <p:cNvSpPr>
                <a:spLocks noChangeArrowheads="1"/>
              </p:cNvSpPr>
              <p:nvPr/>
            </p:nvSpPr>
            <p:spPr bwMode="auto">
              <a:xfrm>
                <a:off x="2742" y="3354"/>
                <a:ext cx="124" cy="108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r>
                  <a:rPr lang="en-US" sz="600" dirty="0">
                    <a:solidFill>
                      <a:srgbClr val="000000"/>
                    </a:solidFill>
                    <a:latin typeface="+mj-lt"/>
                  </a:rPr>
                  <a:t>1</a:t>
                </a:r>
              </a:p>
            </p:txBody>
          </p:sp>
          <p:sp>
            <p:nvSpPr>
              <p:cNvPr id="54453" name="Rectangle 155"/>
              <p:cNvSpPr>
                <a:spLocks noChangeArrowheads="1"/>
              </p:cNvSpPr>
              <p:nvPr/>
            </p:nvSpPr>
            <p:spPr bwMode="auto">
              <a:xfrm>
                <a:off x="2793" y="3230"/>
                <a:ext cx="45" cy="151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>
                  <a:lnSpc>
                    <a:spcPct val="70000"/>
                  </a:lnSpc>
                </a:pPr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m</a:t>
                </a:r>
              </a:p>
              <a:p>
                <a:pPr algn="ctr">
                  <a:lnSpc>
                    <a:spcPct val="70000"/>
                  </a:lnSpc>
                </a:pPr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u</a:t>
                </a:r>
              </a:p>
              <a:p>
                <a:pPr algn="ctr">
                  <a:lnSpc>
                    <a:spcPct val="70000"/>
                  </a:lnSpc>
                </a:pPr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x</a:t>
                </a:r>
                <a:endParaRPr lang="en-US" sz="500">
                  <a:solidFill>
                    <a:srgbClr val="000000"/>
                  </a:solidFill>
                  <a:latin typeface="+mj-lt"/>
                </a:endParaRPr>
              </a:p>
            </p:txBody>
          </p:sp>
          <p:sp>
            <p:nvSpPr>
              <p:cNvPr id="54454" name="AutoShape 156"/>
              <p:cNvSpPr>
                <a:spLocks noChangeArrowheads="1"/>
              </p:cNvSpPr>
              <p:nvPr/>
            </p:nvSpPr>
            <p:spPr bwMode="auto">
              <a:xfrm rot="5400000">
                <a:off x="2665" y="3263"/>
                <a:ext cx="297" cy="96"/>
              </a:xfrm>
              <a:prstGeom prst="flowChartTerminator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>
                  <a:latin typeface="+mj-lt"/>
                </a:endParaRPr>
              </a:p>
            </p:txBody>
          </p:sp>
        </p:grpSp>
        <p:grpSp>
          <p:nvGrpSpPr>
            <p:cNvPr id="54426" name="Group 157"/>
            <p:cNvGrpSpPr>
              <a:grpSpLocks/>
            </p:cNvGrpSpPr>
            <p:nvPr/>
          </p:nvGrpSpPr>
          <p:grpSpPr bwMode="auto">
            <a:xfrm>
              <a:off x="2796" y="2665"/>
              <a:ext cx="127" cy="309"/>
              <a:chOff x="2748" y="3153"/>
              <a:chExt cx="127" cy="309"/>
            </a:xfrm>
          </p:grpSpPr>
          <p:sp>
            <p:nvSpPr>
              <p:cNvPr id="54447" name="Rectangle 158"/>
              <p:cNvSpPr>
                <a:spLocks noChangeArrowheads="1"/>
              </p:cNvSpPr>
              <p:nvPr/>
            </p:nvSpPr>
            <p:spPr bwMode="auto">
              <a:xfrm>
                <a:off x="2751" y="3153"/>
                <a:ext cx="124" cy="108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r>
                  <a:rPr lang="en-US" sz="600" dirty="0">
                    <a:solidFill>
                      <a:srgbClr val="000000"/>
                    </a:solidFill>
                    <a:latin typeface="+mj-lt"/>
                  </a:rPr>
                  <a:t>0</a:t>
                </a:r>
              </a:p>
            </p:txBody>
          </p:sp>
          <p:sp>
            <p:nvSpPr>
              <p:cNvPr id="54448" name="Rectangle 159"/>
              <p:cNvSpPr>
                <a:spLocks noChangeArrowheads="1"/>
              </p:cNvSpPr>
              <p:nvPr/>
            </p:nvSpPr>
            <p:spPr bwMode="auto">
              <a:xfrm>
                <a:off x="2748" y="3354"/>
                <a:ext cx="124" cy="108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r>
                  <a:rPr lang="en-US" sz="600" dirty="0">
                    <a:solidFill>
                      <a:srgbClr val="000000"/>
                    </a:solidFill>
                    <a:latin typeface="+mj-lt"/>
                  </a:rPr>
                  <a:t>1</a:t>
                </a:r>
              </a:p>
            </p:txBody>
          </p:sp>
          <p:sp>
            <p:nvSpPr>
              <p:cNvPr id="54449" name="Rectangle 160"/>
              <p:cNvSpPr>
                <a:spLocks noChangeArrowheads="1"/>
              </p:cNvSpPr>
              <p:nvPr/>
            </p:nvSpPr>
            <p:spPr bwMode="auto">
              <a:xfrm>
                <a:off x="2795" y="3238"/>
                <a:ext cx="40" cy="132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>
                  <a:lnSpc>
                    <a:spcPct val="70000"/>
                  </a:lnSpc>
                </a:pPr>
                <a:r>
                  <a:rPr lang="en-US" sz="700" dirty="0">
                    <a:solidFill>
                      <a:srgbClr val="000000"/>
                    </a:solidFill>
                    <a:latin typeface="+mj-lt"/>
                  </a:rPr>
                  <a:t>m</a:t>
                </a:r>
              </a:p>
              <a:p>
                <a:pPr algn="ctr">
                  <a:lnSpc>
                    <a:spcPct val="70000"/>
                  </a:lnSpc>
                </a:pPr>
                <a:r>
                  <a:rPr lang="en-US" sz="700" dirty="0">
                    <a:solidFill>
                      <a:srgbClr val="000000"/>
                    </a:solidFill>
                    <a:latin typeface="+mj-lt"/>
                  </a:rPr>
                  <a:t>u</a:t>
                </a:r>
              </a:p>
              <a:p>
                <a:pPr algn="ctr">
                  <a:lnSpc>
                    <a:spcPct val="70000"/>
                  </a:lnSpc>
                </a:pPr>
                <a:r>
                  <a:rPr lang="en-US" sz="700" dirty="0">
                    <a:solidFill>
                      <a:srgbClr val="000000"/>
                    </a:solidFill>
                    <a:latin typeface="+mj-lt"/>
                  </a:rPr>
                  <a:t>x</a:t>
                </a:r>
                <a:endParaRPr lang="en-US" sz="400" dirty="0">
                  <a:solidFill>
                    <a:srgbClr val="000000"/>
                  </a:solidFill>
                  <a:latin typeface="+mj-lt"/>
                </a:endParaRPr>
              </a:p>
            </p:txBody>
          </p:sp>
          <p:sp>
            <p:nvSpPr>
              <p:cNvPr id="54450" name="AutoShape 161"/>
              <p:cNvSpPr>
                <a:spLocks noChangeArrowheads="1"/>
              </p:cNvSpPr>
              <p:nvPr/>
            </p:nvSpPr>
            <p:spPr bwMode="auto">
              <a:xfrm rot="5400000">
                <a:off x="2665" y="3263"/>
                <a:ext cx="297" cy="96"/>
              </a:xfrm>
              <a:prstGeom prst="flowChartTerminator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>
                  <a:latin typeface="+mj-lt"/>
                </a:endParaRPr>
              </a:p>
            </p:txBody>
          </p:sp>
        </p:grpSp>
        <p:sp>
          <p:nvSpPr>
            <p:cNvPr id="54427" name="Line 162"/>
            <p:cNvSpPr>
              <a:spLocks noChangeShapeType="1"/>
            </p:cNvSpPr>
            <p:nvPr/>
          </p:nvSpPr>
          <p:spPr bwMode="auto">
            <a:xfrm flipV="1">
              <a:off x="3168" y="2844"/>
              <a:ext cx="0" cy="391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28" name="Line 163"/>
            <p:cNvSpPr>
              <a:spLocks noChangeShapeType="1"/>
            </p:cNvSpPr>
            <p:nvPr/>
          </p:nvSpPr>
          <p:spPr bwMode="auto">
            <a:xfrm rot="5400000" flipV="1">
              <a:off x="3142" y="3203"/>
              <a:ext cx="0" cy="52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grpSp>
          <p:nvGrpSpPr>
            <p:cNvPr id="54429" name="Group 164"/>
            <p:cNvGrpSpPr>
              <a:grpSpLocks/>
            </p:cNvGrpSpPr>
            <p:nvPr/>
          </p:nvGrpSpPr>
          <p:grpSpPr bwMode="auto">
            <a:xfrm flipH="1">
              <a:off x="672" y="1534"/>
              <a:ext cx="127" cy="309"/>
              <a:chOff x="2743" y="3153"/>
              <a:chExt cx="127" cy="309"/>
            </a:xfrm>
          </p:grpSpPr>
          <p:sp>
            <p:nvSpPr>
              <p:cNvPr id="54443" name="Rectangle 165"/>
              <p:cNvSpPr>
                <a:spLocks noChangeArrowheads="1"/>
              </p:cNvSpPr>
              <p:nvPr/>
            </p:nvSpPr>
            <p:spPr bwMode="auto">
              <a:xfrm>
                <a:off x="2746" y="3153"/>
                <a:ext cx="124" cy="108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r>
                  <a:rPr lang="en-US" sz="600" dirty="0">
                    <a:solidFill>
                      <a:srgbClr val="000000"/>
                    </a:solidFill>
                    <a:latin typeface="+mj-lt"/>
                  </a:rPr>
                  <a:t>0</a:t>
                </a:r>
              </a:p>
            </p:txBody>
          </p:sp>
          <p:sp>
            <p:nvSpPr>
              <p:cNvPr id="54444" name="Rectangle 166"/>
              <p:cNvSpPr>
                <a:spLocks noChangeArrowheads="1"/>
              </p:cNvSpPr>
              <p:nvPr/>
            </p:nvSpPr>
            <p:spPr bwMode="auto">
              <a:xfrm>
                <a:off x="2743" y="3354"/>
                <a:ext cx="124" cy="108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r>
                  <a:rPr lang="en-US" sz="600">
                    <a:solidFill>
                      <a:srgbClr val="000000"/>
                    </a:solidFill>
                    <a:latin typeface="+mj-lt"/>
                  </a:rPr>
                  <a:t>1</a:t>
                </a:r>
              </a:p>
            </p:txBody>
          </p:sp>
          <p:sp>
            <p:nvSpPr>
              <p:cNvPr id="54445" name="Rectangle 167"/>
              <p:cNvSpPr>
                <a:spLocks noChangeArrowheads="1"/>
              </p:cNvSpPr>
              <p:nvPr/>
            </p:nvSpPr>
            <p:spPr bwMode="auto">
              <a:xfrm>
                <a:off x="2795" y="3238"/>
                <a:ext cx="40" cy="132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>
                  <a:lnSpc>
                    <a:spcPct val="70000"/>
                  </a:lnSpc>
                </a:pPr>
                <a:r>
                  <a:rPr lang="en-US" sz="700">
                    <a:solidFill>
                      <a:srgbClr val="000000"/>
                    </a:solidFill>
                    <a:latin typeface="+mj-lt"/>
                  </a:rPr>
                  <a:t>m</a:t>
                </a:r>
              </a:p>
              <a:p>
                <a:pPr algn="ctr">
                  <a:lnSpc>
                    <a:spcPct val="70000"/>
                  </a:lnSpc>
                </a:pPr>
                <a:r>
                  <a:rPr lang="en-US" sz="700">
                    <a:solidFill>
                      <a:srgbClr val="000000"/>
                    </a:solidFill>
                    <a:latin typeface="+mj-lt"/>
                  </a:rPr>
                  <a:t>u</a:t>
                </a:r>
              </a:p>
              <a:p>
                <a:pPr algn="ctr">
                  <a:lnSpc>
                    <a:spcPct val="70000"/>
                  </a:lnSpc>
                </a:pPr>
                <a:r>
                  <a:rPr lang="en-US" sz="700">
                    <a:solidFill>
                      <a:srgbClr val="000000"/>
                    </a:solidFill>
                    <a:latin typeface="+mj-lt"/>
                  </a:rPr>
                  <a:t>x</a:t>
                </a:r>
                <a:endParaRPr lang="en-US" sz="400">
                  <a:solidFill>
                    <a:srgbClr val="000000"/>
                  </a:solidFill>
                  <a:latin typeface="+mj-lt"/>
                </a:endParaRPr>
              </a:p>
            </p:txBody>
          </p:sp>
          <p:sp>
            <p:nvSpPr>
              <p:cNvPr id="54446" name="AutoShape 168"/>
              <p:cNvSpPr>
                <a:spLocks noChangeArrowheads="1"/>
              </p:cNvSpPr>
              <p:nvPr/>
            </p:nvSpPr>
            <p:spPr bwMode="auto">
              <a:xfrm rot="5400000">
                <a:off x="2665" y="3263"/>
                <a:ext cx="297" cy="96"/>
              </a:xfrm>
              <a:prstGeom prst="flowChartTerminator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>
                  <a:latin typeface="+mj-lt"/>
                </a:endParaRPr>
              </a:p>
            </p:txBody>
          </p:sp>
        </p:grpSp>
        <p:grpSp>
          <p:nvGrpSpPr>
            <p:cNvPr id="54430" name="Group 169"/>
            <p:cNvGrpSpPr>
              <a:grpSpLocks/>
            </p:cNvGrpSpPr>
            <p:nvPr/>
          </p:nvGrpSpPr>
          <p:grpSpPr bwMode="auto">
            <a:xfrm>
              <a:off x="4899" y="2686"/>
              <a:ext cx="127" cy="309"/>
              <a:chOff x="2742" y="3153"/>
              <a:chExt cx="127" cy="309"/>
            </a:xfrm>
          </p:grpSpPr>
          <p:sp>
            <p:nvSpPr>
              <p:cNvPr id="54439" name="Rectangle 170"/>
              <p:cNvSpPr>
                <a:spLocks noChangeArrowheads="1"/>
              </p:cNvSpPr>
              <p:nvPr/>
            </p:nvSpPr>
            <p:spPr bwMode="auto">
              <a:xfrm>
                <a:off x="2745" y="3153"/>
                <a:ext cx="124" cy="108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r>
                  <a:rPr lang="en-US" sz="600" dirty="0">
                    <a:solidFill>
                      <a:srgbClr val="000000"/>
                    </a:solidFill>
                    <a:latin typeface="+mj-lt"/>
                  </a:rPr>
                  <a:t>0</a:t>
                </a:r>
              </a:p>
            </p:txBody>
          </p:sp>
          <p:sp>
            <p:nvSpPr>
              <p:cNvPr id="54440" name="Rectangle 171"/>
              <p:cNvSpPr>
                <a:spLocks noChangeArrowheads="1"/>
              </p:cNvSpPr>
              <p:nvPr/>
            </p:nvSpPr>
            <p:spPr bwMode="auto">
              <a:xfrm>
                <a:off x="2742" y="3354"/>
                <a:ext cx="124" cy="108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r>
                  <a:rPr lang="en-US" sz="600" dirty="0">
                    <a:solidFill>
                      <a:srgbClr val="000000"/>
                    </a:solidFill>
                    <a:latin typeface="+mj-lt"/>
                  </a:rPr>
                  <a:t>1</a:t>
                </a:r>
              </a:p>
            </p:txBody>
          </p:sp>
          <p:sp>
            <p:nvSpPr>
              <p:cNvPr id="54441" name="Rectangle 172"/>
              <p:cNvSpPr>
                <a:spLocks noChangeArrowheads="1"/>
              </p:cNvSpPr>
              <p:nvPr/>
            </p:nvSpPr>
            <p:spPr bwMode="auto">
              <a:xfrm>
                <a:off x="2795" y="3238"/>
                <a:ext cx="40" cy="132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>
                  <a:lnSpc>
                    <a:spcPct val="70000"/>
                  </a:lnSpc>
                </a:pPr>
                <a:r>
                  <a:rPr lang="en-US" sz="700">
                    <a:solidFill>
                      <a:srgbClr val="000000"/>
                    </a:solidFill>
                    <a:latin typeface="+mj-lt"/>
                  </a:rPr>
                  <a:t>m</a:t>
                </a:r>
              </a:p>
              <a:p>
                <a:pPr algn="ctr">
                  <a:lnSpc>
                    <a:spcPct val="70000"/>
                  </a:lnSpc>
                </a:pPr>
                <a:r>
                  <a:rPr lang="en-US" sz="700">
                    <a:solidFill>
                      <a:srgbClr val="000000"/>
                    </a:solidFill>
                    <a:latin typeface="+mj-lt"/>
                  </a:rPr>
                  <a:t>u</a:t>
                </a:r>
              </a:p>
              <a:p>
                <a:pPr algn="ctr">
                  <a:lnSpc>
                    <a:spcPct val="70000"/>
                  </a:lnSpc>
                </a:pPr>
                <a:r>
                  <a:rPr lang="en-US" sz="700">
                    <a:solidFill>
                      <a:srgbClr val="000000"/>
                    </a:solidFill>
                    <a:latin typeface="+mj-lt"/>
                  </a:rPr>
                  <a:t>x</a:t>
                </a:r>
                <a:endParaRPr lang="en-US" sz="400">
                  <a:solidFill>
                    <a:srgbClr val="000000"/>
                  </a:solidFill>
                  <a:latin typeface="+mj-lt"/>
                </a:endParaRPr>
              </a:p>
            </p:txBody>
          </p:sp>
          <p:sp>
            <p:nvSpPr>
              <p:cNvPr id="54442" name="AutoShape 173"/>
              <p:cNvSpPr>
                <a:spLocks noChangeArrowheads="1"/>
              </p:cNvSpPr>
              <p:nvPr/>
            </p:nvSpPr>
            <p:spPr bwMode="auto">
              <a:xfrm rot="5400000">
                <a:off x="2665" y="3263"/>
                <a:ext cx="297" cy="96"/>
              </a:xfrm>
              <a:prstGeom prst="flowChartTerminator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>
                  <a:latin typeface="+mj-lt"/>
                </a:endParaRPr>
              </a:p>
            </p:txBody>
          </p:sp>
        </p:grpSp>
        <p:sp>
          <p:nvSpPr>
            <p:cNvPr id="54431" name="Rectangle 174"/>
            <p:cNvSpPr>
              <a:spLocks noChangeArrowheads="1"/>
            </p:cNvSpPr>
            <p:nvPr/>
          </p:nvSpPr>
          <p:spPr bwMode="auto">
            <a:xfrm>
              <a:off x="882" y="2648"/>
              <a:ext cx="282" cy="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900" dirty="0">
                  <a:solidFill>
                    <a:srgbClr val="000000"/>
                  </a:solidFill>
                  <a:latin typeface="+mj-lt"/>
                </a:rPr>
                <a:t>Instruction</a:t>
              </a:r>
              <a:endParaRPr lang="en-US" sz="500" dirty="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432" name="Line 175"/>
            <p:cNvSpPr>
              <a:spLocks noChangeShapeType="1"/>
            </p:cNvSpPr>
            <p:nvPr/>
          </p:nvSpPr>
          <p:spPr bwMode="auto">
            <a:xfrm flipV="1">
              <a:off x="1638" y="2431"/>
              <a:ext cx="0" cy="121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33" name="Line 176"/>
            <p:cNvSpPr>
              <a:spLocks noChangeShapeType="1"/>
            </p:cNvSpPr>
            <p:nvPr/>
          </p:nvSpPr>
          <p:spPr bwMode="auto">
            <a:xfrm flipV="1">
              <a:off x="1639" y="3643"/>
              <a:ext cx="794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34" name="Line 177"/>
            <p:cNvSpPr>
              <a:spLocks noChangeShapeType="1"/>
            </p:cNvSpPr>
            <p:nvPr/>
          </p:nvSpPr>
          <p:spPr bwMode="auto">
            <a:xfrm flipH="1">
              <a:off x="777" y="1594"/>
              <a:ext cx="30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35" name="Line 178"/>
            <p:cNvSpPr>
              <a:spLocks noChangeShapeType="1"/>
            </p:cNvSpPr>
            <p:nvPr/>
          </p:nvSpPr>
          <p:spPr bwMode="auto">
            <a:xfrm flipV="1">
              <a:off x="3969" y="2359"/>
              <a:ext cx="65" cy="2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36" name="Line 179"/>
            <p:cNvSpPr>
              <a:spLocks noChangeShapeType="1"/>
            </p:cNvSpPr>
            <p:nvPr/>
          </p:nvSpPr>
          <p:spPr bwMode="auto">
            <a:xfrm rot="-5400000" flipH="1" flipV="1">
              <a:off x="3566" y="1901"/>
              <a:ext cx="926" cy="1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37" name="Line 180"/>
            <p:cNvSpPr>
              <a:spLocks noChangeShapeType="1"/>
            </p:cNvSpPr>
            <p:nvPr/>
          </p:nvSpPr>
          <p:spPr bwMode="auto">
            <a:xfrm>
              <a:off x="720" y="1438"/>
              <a:ext cx="3312" cy="0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38" name="Line 181"/>
            <p:cNvSpPr>
              <a:spLocks noChangeShapeType="1"/>
            </p:cNvSpPr>
            <p:nvPr/>
          </p:nvSpPr>
          <p:spPr bwMode="auto">
            <a:xfrm rot="-5400000" flipH="1" flipV="1">
              <a:off x="670" y="1491"/>
              <a:ext cx="107" cy="1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20" name="Rectangle 36"/>
            <p:cNvSpPr>
              <a:spLocks noChangeArrowheads="1"/>
            </p:cNvSpPr>
            <p:nvPr/>
          </p:nvSpPr>
          <p:spPr bwMode="auto">
            <a:xfrm>
              <a:off x="2658" y="2526"/>
              <a:ext cx="215" cy="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50" dirty="0" err="1">
                  <a:solidFill>
                    <a:srgbClr val="EB7500"/>
                  </a:solidFill>
                  <a:latin typeface="+mj-lt"/>
                </a:rPr>
                <a:t>ALUSrc</a:t>
              </a:r>
              <a:endParaRPr lang="en-US" sz="700" dirty="0">
                <a:solidFill>
                  <a:srgbClr val="EB7500"/>
                </a:solidFill>
                <a:latin typeface="+mj-lt"/>
              </a:endParaRPr>
            </a:p>
          </p:txBody>
        </p:sp>
        <p:sp>
          <p:nvSpPr>
            <p:cNvPr id="54348" name="Rectangle 64"/>
            <p:cNvSpPr>
              <a:spLocks noChangeArrowheads="1"/>
            </p:cNvSpPr>
            <p:nvPr/>
          </p:nvSpPr>
          <p:spPr bwMode="auto">
            <a:xfrm>
              <a:off x="3034" y="3421"/>
              <a:ext cx="217" cy="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50" dirty="0" err="1">
                  <a:solidFill>
                    <a:srgbClr val="EB7500"/>
                  </a:solidFill>
                  <a:latin typeface="+mj-lt"/>
                </a:rPr>
                <a:t>ALUOp</a:t>
              </a:r>
              <a:endParaRPr lang="en-US" sz="1050" dirty="0">
                <a:solidFill>
                  <a:srgbClr val="EB7500"/>
                </a:solidFill>
                <a:latin typeface="+mj-lt"/>
              </a:endParaRPr>
            </a:p>
          </p:txBody>
        </p:sp>
        <p:sp>
          <p:nvSpPr>
            <p:cNvPr id="54349" name="Rectangle 65"/>
            <p:cNvSpPr>
              <a:spLocks noChangeArrowheads="1"/>
            </p:cNvSpPr>
            <p:nvPr/>
          </p:nvSpPr>
          <p:spPr bwMode="auto">
            <a:xfrm>
              <a:off x="2841" y="3700"/>
              <a:ext cx="214" cy="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50">
                  <a:solidFill>
                    <a:srgbClr val="EB7500"/>
                  </a:solidFill>
                  <a:latin typeface="+mj-lt"/>
                </a:rPr>
                <a:t>RegDst</a:t>
              </a:r>
            </a:p>
          </p:txBody>
        </p:sp>
        <p:sp>
          <p:nvSpPr>
            <p:cNvPr id="54352" name="Rectangle 68"/>
            <p:cNvSpPr>
              <a:spLocks noChangeArrowheads="1"/>
            </p:cNvSpPr>
            <p:nvPr/>
          </p:nvSpPr>
          <p:spPr bwMode="auto">
            <a:xfrm>
              <a:off x="1913" y="2186"/>
              <a:ext cx="294" cy="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50" dirty="0" err="1">
                  <a:solidFill>
                    <a:srgbClr val="EB7500"/>
                  </a:solidFill>
                  <a:latin typeface="+mj-lt"/>
                </a:rPr>
                <a:t>RegWrite</a:t>
              </a:r>
              <a:endParaRPr lang="en-US" sz="1050" dirty="0">
                <a:solidFill>
                  <a:srgbClr val="EB7500"/>
                </a:solidFill>
                <a:latin typeface="+mj-lt"/>
              </a:endParaRPr>
            </a:p>
          </p:txBody>
        </p:sp>
        <p:sp>
          <p:nvSpPr>
            <p:cNvPr id="54388" name="Rectangle 112"/>
            <p:cNvSpPr>
              <a:spLocks noChangeArrowheads="1"/>
            </p:cNvSpPr>
            <p:nvPr/>
          </p:nvSpPr>
          <p:spPr bwMode="auto">
            <a:xfrm>
              <a:off x="3734" y="2172"/>
              <a:ext cx="220" cy="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50">
                  <a:solidFill>
                    <a:srgbClr val="EB7500"/>
                  </a:solidFill>
                  <a:latin typeface="+mj-lt"/>
                </a:rPr>
                <a:t>Branch</a:t>
              </a:r>
            </a:p>
          </p:txBody>
        </p:sp>
        <p:sp>
          <p:nvSpPr>
            <p:cNvPr id="54389" name="Rectangle 113"/>
            <p:cNvSpPr>
              <a:spLocks noChangeArrowheads="1"/>
            </p:cNvSpPr>
            <p:nvPr/>
          </p:nvSpPr>
          <p:spPr bwMode="auto">
            <a:xfrm>
              <a:off x="4056" y="1582"/>
              <a:ext cx="170" cy="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50">
                  <a:solidFill>
                    <a:srgbClr val="EB7500"/>
                  </a:solidFill>
                  <a:latin typeface="+mj-lt"/>
                </a:rPr>
                <a:t>PCSrc</a:t>
              </a:r>
            </a:p>
          </p:txBody>
        </p:sp>
        <p:sp>
          <p:nvSpPr>
            <p:cNvPr id="54399" name="Rectangle 123"/>
            <p:cNvSpPr>
              <a:spLocks noChangeArrowheads="1"/>
            </p:cNvSpPr>
            <p:nvPr/>
          </p:nvSpPr>
          <p:spPr bwMode="auto">
            <a:xfrm>
              <a:off x="4827" y="2541"/>
              <a:ext cx="341" cy="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50" dirty="0" err="1">
                  <a:solidFill>
                    <a:srgbClr val="EB7500"/>
                  </a:solidFill>
                  <a:latin typeface="+mj-lt"/>
                </a:rPr>
                <a:t>MemtoReg</a:t>
              </a:r>
              <a:endParaRPr lang="en-US" sz="1050" dirty="0">
                <a:solidFill>
                  <a:srgbClr val="EB7500"/>
                </a:solidFill>
                <a:latin typeface="+mj-lt"/>
              </a:endParaRPr>
            </a:p>
          </p:txBody>
        </p:sp>
      </p:grpSp>
      <p:sp>
        <p:nvSpPr>
          <p:cNvPr id="54276" name="Rectangle 266"/>
          <p:cNvSpPr>
            <a:spLocks noChangeArrowheads="1"/>
          </p:cNvSpPr>
          <p:nvPr/>
        </p:nvSpPr>
        <p:spPr bwMode="auto">
          <a:xfrm>
            <a:off x="1882151" y="2763377"/>
            <a:ext cx="319959" cy="369332"/>
          </a:xfrm>
          <a:prstGeom prst="rect">
            <a:avLst/>
          </a:prstGeom>
          <a:solidFill>
            <a:schemeClr val="bg1">
              <a:alpha val="85000"/>
            </a:schemeClr>
          </a:solidFill>
          <a:ln w="12700">
            <a:noFill/>
            <a:miter lim="800000"/>
            <a:headEnd type="none" w="sm" len="sm"/>
            <a:tailEnd type="none" w="lg" len="med"/>
          </a:ln>
        </p:spPr>
        <p:txBody>
          <a:bodyPr wrap="none" lIns="45720" tIns="45720" rIns="45720" bIns="4572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  <a:latin typeface="+mj-lt"/>
              </a:rPr>
              <a:t>lw</a:t>
            </a:r>
            <a:endParaRPr lang="en-US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54296" name="Rectangle 287"/>
          <p:cNvSpPr>
            <a:spLocks noChangeArrowheads="1"/>
          </p:cNvSpPr>
          <p:nvPr/>
        </p:nvSpPr>
        <p:spPr bwMode="auto">
          <a:xfrm>
            <a:off x="1935480" y="1668585"/>
            <a:ext cx="209353" cy="369332"/>
          </a:xfrm>
          <a:prstGeom prst="rect">
            <a:avLst/>
          </a:prstGeom>
          <a:solidFill>
            <a:schemeClr val="bg1">
              <a:alpha val="85000"/>
            </a:schemeClr>
          </a:solidFill>
          <a:ln w="12700">
            <a:noFill/>
            <a:miter lim="800000"/>
            <a:headEnd type="none" w="sm" len="sm"/>
            <a:tailEnd type="none" w="lg" len="med"/>
          </a:ln>
        </p:spPr>
        <p:txBody>
          <a:bodyPr wrap="none" lIns="45720" tIns="45720" rIns="45720" bIns="4572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  <a:latin typeface="+mj-lt"/>
              </a:rPr>
              <a:t>4</a:t>
            </a:r>
            <a:endParaRPr lang="en-US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198" name="Rectangle 3"/>
          <p:cNvSpPr>
            <a:spLocks noChangeArrowheads="1"/>
          </p:cNvSpPr>
          <p:nvPr/>
        </p:nvSpPr>
        <p:spPr bwMode="auto">
          <a:xfrm>
            <a:off x="152400" y="5118100"/>
            <a:ext cx="2613631" cy="116339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med" len="lg"/>
          </a:ln>
        </p:spPr>
        <p:txBody>
          <a:bodyPr wrap="square" lIns="0" tIns="0" rIns="0" bIns="0">
            <a:spAutoFit/>
          </a:bodyPr>
          <a:lstStyle/>
          <a:p>
            <a:pPr>
              <a:spcBef>
                <a:spcPct val="10000"/>
              </a:spcBef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0 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lw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R10,9(R1)</a:t>
            </a:r>
          </a:p>
          <a:p>
            <a:pPr>
              <a:spcBef>
                <a:spcPct val="10000"/>
              </a:spcBef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4  sub R11,R2,R3</a:t>
            </a:r>
          </a:p>
          <a:p>
            <a:pPr>
              <a:spcBef>
                <a:spcPct val="10000"/>
              </a:spcBef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8  and R12,R4,R5</a:t>
            </a:r>
            <a:b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12  or  R13,R6,R7</a:t>
            </a:r>
          </a:p>
        </p:txBody>
      </p:sp>
      <p:sp>
        <p:nvSpPr>
          <p:cNvPr id="199" name="Rectangle 287"/>
          <p:cNvSpPr>
            <a:spLocks noChangeArrowheads="1"/>
          </p:cNvSpPr>
          <p:nvPr/>
        </p:nvSpPr>
        <p:spPr bwMode="auto">
          <a:xfrm>
            <a:off x="158725" y="4490437"/>
            <a:ext cx="345607" cy="369332"/>
          </a:xfrm>
          <a:prstGeom prst="rect">
            <a:avLst/>
          </a:prstGeom>
          <a:solidFill>
            <a:schemeClr val="bg1">
              <a:alpha val="85000"/>
            </a:schemeClr>
          </a:solidFill>
          <a:ln w="12700">
            <a:noFill/>
            <a:miter lim="800000"/>
            <a:headEnd type="none" w="sm" len="sm"/>
            <a:tailEnd type="none" w="lg" len="med"/>
          </a:ln>
        </p:spPr>
        <p:txBody>
          <a:bodyPr wrap="none" lIns="45720" tIns="45720" rIns="45720" bIns="4572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  <a:latin typeface="+mj-lt"/>
              </a:rPr>
              <a:t>PC</a:t>
            </a:r>
            <a:endParaRPr lang="en-US" dirty="0">
              <a:solidFill>
                <a:srgbClr val="FF0000"/>
              </a:solidFill>
              <a:latin typeface="+mj-lt"/>
            </a:endParaRPr>
          </a:p>
        </p:txBody>
      </p:sp>
      <p:cxnSp>
        <p:nvCxnSpPr>
          <p:cNvPr id="200" name="Straight Arrow Connector 6"/>
          <p:cNvCxnSpPr>
            <a:stCxn id="199" idx="2"/>
          </p:cNvCxnSpPr>
          <p:nvPr/>
        </p:nvCxnSpPr>
        <p:spPr bwMode="auto">
          <a:xfrm>
            <a:off x="331529" y="4859769"/>
            <a:ext cx="5497" cy="228600"/>
          </a:xfrm>
          <a:prstGeom prst="straightConnector1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arrow"/>
          </a:ln>
          <a:effectLst/>
        </p:spPr>
      </p:cxnSp>
      <p:sp>
        <p:nvSpPr>
          <p:cNvPr id="201" name="Rectangle 287"/>
          <p:cNvSpPr>
            <a:spLocks noChangeArrowheads="1"/>
          </p:cNvSpPr>
          <p:nvPr/>
        </p:nvSpPr>
        <p:spPr bwMode="auto">
          <a:xfrm>
            <a:off x="325919" y="2490812"/>
            <a:ext cx="209353" cy="369332"/>
          </a:xfrm>
          <a:prstGeom prst="rect">
            <a:avLst/>
          </a:prstGeom>
          <a:solidFill>
            <a:schemeClr val="bg1">
              <a:alpha val="85000"/>
            </a:schemeClr>
          </a:solidFill>
          <a:ln w="12700">
            <a:noFill/>
            <a:miter lim="800000"/>
            <a:headEnd type="none" w="sm" len="sm"/>
            <a:tailEnd type="none" w="lg" len="med"/>
          </a:ln>
        </p:spPr>
        <p:txBody>
          <a:bodyPr wrap="none" lIns="45720" tIns="45720" rIns="45720" bIns="4572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  <a:latin typeface="+mj-lt"/>
              </a:rPr>
              <a:t>0</a:t>
            </a:r>
            <a:endParaRPr lang="en-US" dirty="0">
              <a:solidFill>
                <a:srgbClr val="FF000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25191146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  <p:extLst mod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>
          <a:xfrm>
            <a:off x="2011167" y="76198"/>
            <a:ext cx="5612734" cy="762000"/>
          </a:xfrm>
        </p:spPr>
        <p:txBody>
          <a:bodyPr/>
          <a:lstStyle/>
          <a:p>
            <a:pPr algn="l"/>
            <a:r>
              <a:rPr lang="en-US" sz="3200" dirty="0" smtClean="0">
                <a:solidFill>
                  <a:srgbClr val="0070C0"/>
                </a:solidFill>
              </a:rPr>
              <a:t>Pipelined execution: cycle 2</a:t>
            </a:r>
          </a:p>
        </p:txBody>
      </p:sp>
      <p:grpSp>
        <p:nvGrpSpPr>
          <p:cNvPr id="54275" name="Group 313"/>
          <p:cNvGrpSpPr>
            <a:grpSpLocks/>
          </p:cNvGrpSpPr>
          <p:nvPr/>
        </p:nvGrpSpPr>
        <p:grpSpPr bwMode="auto">
          <a:xfrm>
            <a:off x="152400" y="838199"/>
            <a:ext cx="8690415" cy="4191001"/>
            <a:chOff x="360" y="1438"/>
            <a:chExt cx="4808" cy="2450"/>
          </a:xfrm>
        </p:grpSpPr>
        <p:sp>
          <p:nvSpPr>
            <p:cNvPr id="54297" name="Rectangle 137"/>
            <p:cNvSpPr>
              <a:spLocks noChangeArrowheads="1"/>
            </p:cNvSpPr>
            <p:nvPr/>
          </p:nvSpPr>
          <p:spPr bwMode="auto">
            <a:xfrm>
              <a:off x="720" y="2440"/>
              <a:ext cx="567" cy="582"/>
            </a:xfrm>
            <a:prstGeom prst="rect">
              <a:avLst/>
            </a:prstGeom>
            <a:solidFill>
              <a:srgbClr val="FFFFCC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298" name="Line 14"/>
            <p:cNvSpPr>
              <a:spLocks noChangeShapeType="1"/>
            </p:cNvSpPr>
            <p:nvPr/>
          </p:nvSpPr>
          <p:spPr bwMode="auto">
            <a:xfrm>
              <a:off x="588" y="2513"/>
              <a:ext cx="136" cy="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299" name="Line 15"/>
            <p:cNvSpPr>
              <a:spLocks noChangeShapeType="1"/>
            </p:cNvSpPr>
            <p:nvPr/>
          </p:nvSpPr>
          <p:spPr bwMode="auto">
            <a:xfrm flipH="1" flipV="1">
              <a:off x="1989" y="3197"/>
              <a:ext cx="34" cy="5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00" name="Rectangle 16"/>
            <p:cNvSpPr>
              <a:spLocks noChangeArrowheads="1"/>
            </p:cNvSpPr>
            <p:nvPr/>
          </p:nvSpPr>
          <p:spPr bwMode="auto">
            <a:xfrm>
              <a:off x="1915" y="3275"/>
              <a:ext cx="103" cy="1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algn="ctr"/>
              <a:endParaRPr lang="en-US" sz="600">
                <a:solidFill>
                  <a:srgbClr val="000000"/>
                </a:solidFill>
                <a:latin typeface="+mj-lt"/>
              </a:endParaRPr>
            </a:p>
            <a:p>
              <a:pPr algn="ctr"/>
              <a:endParaRPr lang="en-US" sz="6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301" name="Line 17"/>
            <p:cNvSpPr>
              <a:spLocks noChangeShapeType="1"/>
            </p:cNvSpPr>
            <p:nvPr/>
          </p:nvSpPr>
          <p:spPr bwMode="auto">
            <a:xfrm flipH="1" flipV="1">
              <a:off x="2338" y="3197"/>
              <a:ext cx="32" cy="5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02" name="Freeform 18"/>
            <p:cNvSpPr>
              <a:spLocks/>
            </p:cNvSpPr>
            <p:nvPr/>
          </p:nvSpPr>
          <p:spPr bwMode="auto">
            <a:xfrm>
              <a:off x="1810" y="2350"/>
              <a:ext cx="519" cy="612"/>
            </a:xfrm>
            <a:custGeom>
              <a:avLst/>
              <a:gdLst>
                <a:gd name="T0" fmla="*/ 518 w 519"/>
                <a:gd name="T1" fmla="*/ 611 h 541"/>
                <a:gd name="T2" fmla="*/ 518 w 519"/>
                <a:gd name="T3" fmla="*/ 0 h 541"/>
                <a:gd name="T4" fmla="*/ 0 w 519"/>
                <a:gd name="T5" fmla="*/ 0 h 541"/>
                <a:gd name="T6" fmla="*/ 0 w 519"/>
                <a:gd name="T7" fmla="*/ 611 h 541"/>
                <a:gd name="T8" fmla="*/ 518 w 519"/>
                <a:gd name="T9" fmla="*/ 611 h 541"/>
                <a:gd name="T10" fmla="*/ 518 w 519"/>
                <a:gd name="T11" fmla="*/ 611 h 5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19"/>
                <a:gd name="T19" fmla="*/ 0 h 541"/>
                <a:gd name="T20" fmla="*/ 519 w 519"/>
                <a:gd name="T21" fmla="*/ 541 h 54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19" h="541">
                  <a:moveTo>
                    <a:pt x="518" y="540"/>
                  </a:moveTo>
                  <a:lnTo>
                    <a:pt x="518" y="0"/>
                  </a:lnTo>
                  <a:lnTo>
                    <a:pt x="0" y="0"/>
                  </a:lnTo>
                  <a:lnTo>
                    <a:pt x="0" y="540"/>
                  </a:lnTo>
                  <a:lnTo>
                    <a:pt x="518" y="540"/>
                  </a:lnTo>
                </a:path>
              </a:pathLst>
            </a:custGeom>
            <a:solidFill>
              <a:srgbClr val="CCFFFF"/>
            </a:solidFill>
            <a:ln w="190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03" name="Rectangle 19"/>
            <p:cNvSpPr>
              <a:spLocks noChangeArrowheads="1"/>
            </p:cNvSpPr>
            <p:nvPr/>
          </p:nvSpPr>
          <p:spPr bwMode="auto">
            <a:xfrm>
              <a:off x="1885" y="2392"/>
              <a:ext cx="103" cy="1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algn="ctr"/>
              <a:endParaRPr lang="en-US" sz="600">
                <a:solidFill>
                  <a:srgbClr val="000000"/>
                </a:solidFill>
                <a:latin typeface="+mj-lt"/>
              </a:endParaRPr>
            </a:p>
            <a:p>
              <a:pPr algn="ctr"/>
              <a:endParaRPr lang="en-US" sz="6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304" name="Line 20"/>
            <p:cNvSpPr>
              <a:spLocks noChangeShapeType="1"/>
            </p:cNvSpPr>
            <p:nvPr/>
          </p:nvSpPr>
          <p:spPr bwMode="auto">
            <a:xfrm>
              <a:off x="1657" y="3225"/>
              <a:ext cx="434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05" name="Line 21"/>
            <p:cNvSpPr>
              <a:spLocks noChangeShapeType="1"/>
            </p:cNvSpPr>
            <p:nvPr/>
          </p:nvSpPr>
          <p:spPr bwMode="auto">
            <a:xfrm flipV="1">
              <a:off x="2302" y="3225"/>
              <a:ext cx="131" cy="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06" name="Freeform 22"/>
            <p:cNvSpPr>
              <a:spLocks/>
            </p:cNvSpPr>
            <p:nvPr/>
          </p:nvSpPr>
          <p:spPr bwMode="auto">
            <a:xfrm>
              <a:off x="1629" y="2679"/>
              <a:ext cx="24" cy="24"/>
            </a:xfrm>
            <a:custGeom>
              <a:avLst/>
              <a:gdLst>
                <a:gd name="T0" fmla="*/ 10 w 24"/>
                <a:gd name="T1" fmla="*/ 23 h 24"/>
                <a:gd name="T2" fmla="*/ 14 w 24"/>
                <a:gd name="T3" fmla="*/ 23 h 24"/>
                <a:gd name="T4" fmla="*/ 16 w 24"/>
                <a:gd name="T5" fmla="*/ 23 h 24"/>
                <a:gd name="T6" fmla="*/ 18 w 24"/>
                <a:gd name="T7" fmla="*/ 21 h 24"/>
                <a:gd name="T8" fmla="*/ 18 w 24"/>
                <a:gd name="T9" fmla="*/ 21 h 24"/>
                <a:gd name="T10" fmla="*/ 20 w 24"/>
                <a:gd name="T11" fmla="*/ 19 h 24"/>
                <a:gd name="T12" fmla="*/ 22 w 24"/>
                <a:gd name="T13" fmla="*/ 19 h 24"/>
                <a:gd name="T14" fmla="*/ 22 w 24"/>
                <a:gd name="T15" fmla="*/ 17 h 24"/>
                <a:gd name="T16" fmla="*/ 23 w 24"/>
                <a:gd name="T17" fmla="*/ 15 h 24"/>
                <a:gd name="T18" fmla="*/ 23 w 24"/>
                <a:gd name="T19" fmla="*/ 13 h 24"/>
                <a:gd name="T20" fmla="*/ 23 w 24"/>
                <a:gd name="T21" fmla="*/ 11 h 24"/>
                <a:gd name="T22" fmla="*/ 23 w 24"/>
                <a:gd name="T23" fmla="*/ 9 h 24"/>
                <a:gd name="T24" fmla="*/ 23 w 24"/>
                <a:gd name="T25" fmla="*/ 7 h 24"/>
                <a:gd name="T26" fmla="*/ 22 w 24"/>
                <a:gd name="T27" fmla="*/ 5 h 24"/>
                <a:gd name="T28" fmla="*/ 22 w 24"/>
                <a:gd name="T29" fmla="*/ 5 h 24"/>
                <a:gd name="T30" fmla="*/ 20 w 24"/>
                <a:gd name="T31" fmla="*/ 4 h 24"/>
                <a:gd name="T32" fmla="*/ 18 w 24"/>
                <a:gd name="T33" fmla="*/ 2 h 24"/>
                <a:gd name="T34" fmla="*/ 18 w 24"/>
                <a:gd name="T35" fmla="*/ 2 h 24"/>
                <a:gd name="T36" fmla="*/ 16 w 24"/>
                <a:gd name="T37" fmla="*/ 0 h 24"/>
                <a:gd name="T38" fmla="*/ 14 w 24"/>
                <a:gd name="T39" fmla="*/ 0 h 24"/>
                <a:gd name="T40" fmla="*/ 12 w 24"/>
                <a:gd name="T41" fmla="*/ 0 h 24"/>
                <a:gd name="T42" fmla="*/ 10 w 24"/>
                <a:gd name="T43" fmla="*/ 0 h 24"/>
                <a:gd name="T44" fmla="*/ 8 w 24"/>
                <a:gd name="T45" fmla="*/ 0 h 24"/>
                <a:gd name="T46" fmla="*/ 6 w 24"/>
                <a:gd name="T47" fmla="*/ 2 h 24"/>
                <a:gd name="T48" fmla="*/ 4 w 24"/>
                <a:gd name="T49" fmla="*/ 2 h 24"/>
                <a:gd name="T50" fmla="*/ 4 w 24"/>
                <a:gd name="T51" fmla="*/ 4 h 24"/>
                <a:gd name="T52" fmla="*/ 2 w 24"/>
                <a:gd name="T53" fmla="*/ 5 h 24"/>
                <a:gd name="T54" fmla="*/ 2 w 24"/>
                <a:gd name="T55" fmla="*/ 5 h 24"/>
                <a:gd name="T56" fmla="*/ 0 w 24"/>
                <a:gd name="T57" fmla="*/ 7 h 24"/>
                <a:gd name="T58" fmla="*/ 0 w 24"/>
                <a:gd name="T59" fmla="*/ 9 h 24"/>
                <a:gd name="T60" fmla="*/ 0 w 24"/>
                <a:gd name="T61" fmla="*/ 11 h 24"/>
                <a:gd name="T62" fmla="*/ 0 w 24"/>
                <a:gd name="T63" fmla="*/ 13 h 24"/>
                <a:gd name="T64" fmla="*/ 0 w 24"/>
                <a:gd name="T65" fmla="*/ 15 h 24"/>
                <a:gd name="T66" fmla="*/ 2 w 24"/>
                <a:gd name="T67" fmla="*/ 17 h 24"/>
                <a:gd name="T68" fmla="*/ 2 w 24"/>
                <a:gd name="T69" fmla="*/ 19 h 24"/>
                <a:gd name="T70" fmla="*/ 4 w 24"/>
                <a:gd name="T71" fmla="*/ 19 h 24"/>
                <a:gd name="T72" fmla="*/ 4 w 24"/>
                <a:gd name="T73" fmla="*/ 21 h 24"/>
                <a:gd name="T74" fmla="*/ 6 w 24"/>
                <a:gd name="T75" fmla="*/ 21 h 24"/>
                <a:gd name="T76" fmla="*/ 8 w 24"/>
                <a:gd name="T77" fmla="*/ 23 h 24"/>
                <a:gd name="T78" fmla="*/ 10 w 24"/>
                <a:gd name="T79" fmla="*/ 23 h 24"/>
                <a:gd name="T80" fmla="*/ 12 w 24"/>
                <a:gd name="T81" fmla="*/ 23 h 24"/>
                <a:gd name="T82" fmla="*/ 12 w 24"/>
                <a:gd name="T83" fmla="*/ 23 h 24"/>
                <a:gd name="T84" fmla="*/ 10 w 24"/>
                <a:gd name="T85" fmla="*/ 23 h 2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4"/>
                <a:gd name="T130" fmla="*/ 0 h 24"/>
                <a:gd name="T131" fmla="*/ 24 w 24"/>
                <a:gd name="T132" fmla="*/ 24 h 24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4" h="24">
                  <a:moveTo>
                    <a:pt x="10" y="23"/>
                  </a:moveTo>
                  <a:lnTo>
                    <a:pt x="14" y="23"/>
                  </a:lnTo>
                  <a:lnTo>
                    <a:pt x="16" y="23"/>
                  </a:lnTo>
                  <a:lnTo>
                    <a:pt x="18" y="21"/>
                  </a:lnTo>
                  <a:lnTo>
                    <a:pt x="20" y="19"/>
                  </a:lnTo>
                  <a:lnTo>
                    <a:pt x="22" y="19"/>
                  </a:lnTo>
                  <a:lnTo>
                    <a:pt x="22" y="17"/>
                  </a:lnTo>
                  <a:lnTo>
                    <a:pt x="23" y="15"/>
                  </a:lnTo>
                  <a:lnTo>
                    <a:pt x="23" y="13"/>
                  </a:lnTo>
                  <a:lnTo>
                    <a:pt x="23" y="11"/>
                  </a:lnTo>
                  <a:lnTo>
                    <a:pt x="23" y="9"/>
                  </a:lnTo>
                  <a:lnTo>
                    <a:pt x="23" y="7"/>
                  </a:lnTo>
                  <a:lnTo>
                    <a:pt x="22" y="5"/>
                  </a:lnTo>
                  <a:lnTo>
                    <a:pt x="20" y="4"/>
                  </a:lnTo>
                  <a:lnTo>
                    <a:pt x="18" y="2"/>
                  </a:lnTo>
                  <a:lnTo>
                    <a:pt x="16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8" y="0"/>
                  </a:lnTo>
                  <a:lnTo>
                    <a:pt x="6" y="2"/>
                  </a:lnTo>
                  <a:lnTo>
                    <a:pt x="4" y="2"/>
                  </a:lnTo>
                  <a:lnTo>
                    <a:pt x="4" y="4"/>
                  </a:lnTo>
                  <a:lnTo>
                    <a:pt x="2" y="5"/>
                  </a:lnTo>
                  <a:lnTo>
                    <a:pt x="0" y="7"/>
                  </a:lnTo>
                  <a:lnTo>
                    <a:pt x="0" y="9"/>
                  </a:lnTo>
                  <a:lnTo>
                    <a:pt x="0" y="11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2" y="17"/>
                  </a:lnTo>
                  <a:lnTo>
                    <a:pt x="2" y="19"/>
                  </a:lnTo>
                  <a:lnTo>
                    <a:pt x="4" y="19"/>
                  </a:lnTo>
                  <a:lnTo>
                    <a:pt x="4" y="21"/>
                  </a:lnTo>
                  <a:lnTo>
                    <a:pt x="6" y="21"/>
                  </a:lnTo>
                  <a:lnTo>
                    <a:pt x="8" y="23"/>
                  </a:lnTo>
                  <a:lnTo>
                    <a:pt x="10" y="23"/>
                  </a:lnTo>
                  <a:lnTo>
                    <a:pt x="12" y="23"/>
                  </a:lnTo>
                  <a:lnTo>
                    <a:pt x="10" y="23"/>
                  </a:lnTo>
                </a:path>
              </a:pathLst>
            </a:custGeom>
            <a:solidFill>
              <a:srgbClr val="000000"/>
            </a:solidFill>
            <a:ln w="9525" cap="rnd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07" name="Freeform 23"/>
            <p:cNvSpPr>
              <a:spLocks/>
            </p:cNvSpPr>
            <p:nvPr/>
          </p:nvSpPr>
          <p:spPr bwMode="auto">
            <a:xfrm>
              <a:off x="1629" y="2586"/>
              <a:ext cx="24" cy="24"/>
            </a:xfrm>
            <a:custGeom>
              <a:avLst/>
              <a:gdLst>
                <a:gd name="T0" fmla="*/ 10 w 24"/>
                <a:gd name="T1" fmla="*/ 23 h 24"/>
                <a:gd name="T2" fmla="*/ 14 w 24"/>
                <a:gd name="T3" fmla="*/ 23 h 24"/>
                <a:gd name="T4" fmla="*/ 16 w 24"/>
                <a:gd name="T5" fmla="*/ 23 h 24"/>
                <a:gd name="T6" fmla="*/ 18 w 24"/>
                <a:gd name="T7" fmla="*/ 21 h 24"/>
                <a:gd name="T8" fmla="*/ 18 w 24"/>
                <a:gd name="T9" fmla="*/ 21 h 24"/>
                <a:gd name="T10" fmla="*/ 20 w 24"/>
                <a:gd name="T11" fmla="*/ 19 h 24"/>
                <a:gd name="T12" fmla="*/ 22 w 24"/>
                <a:gd name="T13" fmla="*/ 19 h 24"/>
                <a:gd name="T14" fmla="*/ 22 w 24"/>
                <a:gd name="T15" fmla="*/ 17 h 24"/>
                <a:gd name="T16" fmla="*/ 23 w 24"/>
                <a:gd name="T17" fmla="*/ 15 h 24"/>
                <a:gd name="T18" fmla="*/ 23 w 24"/>
                <a:gd name="T19" fmla="*/ 13 h 24"/>
                <a:gd name="T20" fmla="*/ 23 w 24"/>
                <a:gd name="T21" fmla="*/ 11 h 24"/>
                <a:gd name="T22" fmla="*/ 23 w 24"/>
                <a:gd name="T23" fmla="*/ 9 h 24"/>
                <a:gd name="T24" fmla="*/ 23 w 24"/>
                <a:gd name="T25" fmla="*/ 7 h 24"/>
                <a:gd name="T26" fmla="*/ 22 w 24"/>
                <a:gd name="T27" fmla="*/ 5 h 24"/>
                <a:gd name="T28" fmla="*/ 22 w 24"/>
                <a:gd name="T29" fmla="*/ 5 h 24"/>
                <a:gd name="T30" fmla="*/ 20 w 24"/>
                <a:gd name="T31" fmla="*/ 4 h 24"/>
                <a:gd name="T32" fmla="*/ 18 w 24"/>
                <a:gd name="T33" fmla="*/ 2 h 24"/>
                <a:gd name="T34" fmla="*/ 18 w 24"/>
                <a:gd name="T35" fmla="*/ 2 h 24"/>
                <a:gd name="T36" fmla="*/ 16 w 24"/>
                <a:gd name="T37" fmla="*/ 0 h 24"/>
                <a:gd name="T38" fmla="*/ 14 w 24"/>
                <a:gd name="T39" fmla="*/ 0 h 24"/>
                <a:gd name="T40" fmla="*/ 12 w 24"/>
                <a:gd name="T41" fmla="*/ 0 h 24"/>
                <a:gd name="T42" fmla="*/ 10 w 24"/>
                <a:gd name="T43" fmla="*/ 0 h 24"/>
                <a:gd name="T44" fmla="*/ 8 w 24"/>
                <a:gd name="T45" fmla="*/ 0 h 24"/>
                <a:gd name="T46" fmla="*/ 6 w 24"/>
                <a:gd name="T47" fmla="*/ 2 h 24"/>
                <a:gd name="T48" fmla="*/ 4 w 24"/>
                <a:gd name="T49" fmla="*/ 2 h 24"/>
                <a:gd name="T50" fmla="*/ 4 w 24"/>
                <a:gd name="T51" fmla="*/ 4 h 24"/>
                <a:gd name="T52" fmla="*/ 2 w 24"/>
                <a:gd name="T53" fmla="*/ 5 h 24"/>
                <a:gd name="T54" fmla="*/ 2 w 24"/>
                <a:gd name="T55" fmla="*/ 5 h 24"/>
                <a:gd name="T56" fmla="*/ 0 w 24"/>
                <a:gd name="T57" fmla="*/ 7 h 24"/>
                <a:gd name="T58" fmla="*/ 0 w 24"/>
                <a:gd name="T59" fmla="*/ 9 h 24"/>
                <a:gd name="T60" fmla="*/ 0 w 24"/>
                <a:gd name="T61" fmla="*/ 11 h 24"/>
                <a:gd name="T62" fmla="*/ 0 w 24"/>
                <a:gd name="T63" fmla="*/ 13 h 24"/>
                <a:gd name="T64" fmla="*/ 0 w 24"/>
                <a:gd name="T65" fmla="*/ 15 h 24"/>
                <a:gd name="T66" fmla="*/ 2 w 24"/>
                <a:gd name="T67" fmla="*/ 17 h 24"/>
                <a:gd name="T68" fmla="*/ 2 w 24"/>
                <a:gd name="T69" fmla="*/ 19 h 24"/>
                <a:gd name="T70" fmla="*/ 4 w 24"/>
                <a:gd name="T71" fmla="*/ 19 h 24"/>
                <a:gd name="T72" fmla="*/ 4 w 24"/>
                <a:gd name="T73" fmla="*/ 21 h 24"/>
                <a:gd name="T74" fmla="*/ 6 w 24"/>
                <a:gd name="T75" fmla="*/ 21 h 24"/>
                <a:gd name="T76" fmla="*/ 8 w 24"/>
                <a:gd name="T77" fmla="*/ 23 h 24"/>
                <a:gd name="T78" fmla="*/ 10 w 24"/>
                <a:gd name="T79" fmla="*/ 23 h 24"/>
                <a:gd name="T80" fmla="*/ 12 w 24"/>
                <a:gd name="T81" fmla="*/ 23 h 24"/>
                <a:gd name="T82" fmla="*/ 12 w 24"/>
                <a:gd name="T83" fmla="*/ 23 h 24"/>
                <a:gd name="T84" fmla="*/ 10 w 24"/>
                <a:gd name="T85" fmla="*/ 23 h 2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4"/>
                <a:gd name="T130" fmla="*/ 0 h 24"/>
                <a:gd name="T131" fmla="*/ 24 w 24"/>
                <a:gd name="T132" fmla="*/ 24 h 24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4" h="24">
                  <a:moveTo>
                    <a:pt x="10" y="23"/>
                  </a:moveTo>
                  <a:lnTo>
                    <a:pt x="14" y="23"/>
                  </a:lnTo>
                  <a:lnTo>
                    <a:pt x="16" y="23"/>
                  </a:lnTo>
                  <a:lnTo>
                    <a:pt x="18" y="21"/>
                  </a:lnTo>
                  <a:lnTo>
                    <a:pt x="20" y="19"/>
                  </a:lnTo>
                  <a:lnTo>
                    <a:pt x="22" y="19"/>
                  </a:lnTo>
                  <a:lnTo>
                    <a:pt x="22" y="17"/>
                  </a:lnTo>
                  <a:lnTo>
                    <a:pt x="23" y="15"/>
                  </a:lnTo>
                  <a:lnTo>
                    <a:pt x="23" y="13"/>
                  </a:lnTo>
                  <a:lnTo>
                    <a:pt x="23" y="11"/>
                  </a:lnTo>
                  <a:lnTo>
                    <a:pt x="23" y="9"/>
                  </a:lnTo>
                  <a:lnTo>
                    <a:pt x="23" y="7"/>
                  </a:lnTo>
                  <a:lnTo>
                    <a:pt x="22" y="5"/>
                  </a:lnTo>
                  <a:lnTo>
                    <a:pt x="20" y="4"/>
                  </a:lnTo>
                  <a:lnTo>
                    <a:pt x="18" y="2"/>
                  </a:lnTo>
                  <a:lnTo>
                    <a:pt x="16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8" y="0"/>
                  </a:lnTo>
                  <a:lnTo>
                    <a:pt x="6" y="2"/>
                  </a:lnTo>
                  <a:lnTo>
                    <a:pt x="4" y="2"/>
                  </a:lnTo>
                  <a:lnTo>
                    <a:pt x="4" y="4"/>
                  </a:lnTo>
                  <a:lnTo>
                    <a:pt x="2" y="5"/>
                  </a:lnTo>
                  <a:lnTo>
                    <a:pt x="0" y="7"/>
                  </a:lnTo>
                  <a:lnTo>
                    <a:pt x="0" y="9"/>
                  </a:lnTo>
                  <a:lnTo>
                    <a:pt x="0" y="11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2" y="17"/>
                  </a:lnTo>
                  <a:lnTo>
                    <a:pt x="2" y="19"/>
                  </a:lnTo>
                  <a:lnTo>
                    <a:pt x="4" y="19"/>
                  </a:lnTo>
                  <a:lnTo>
                    <a:pt x="4" y="21"/>
                  </a:lnTo>
                  <a:lnTo>
                    <a:pt x="6" y="21"/>
                  </a:lnTo>
                  <a:lnTo>
                    <a:pt x="8" y="23"/>
                  </a:lnTo>
                  <a:lnTo>
                    <a:pt x="10" y="23"/>
                  </a:lnTo>
                  <a:lnTo>
                    <a:pt x="12" y="23"/>
                  </a:lnTo>
                  <a:lnTo>
                    <a:pt x="10" y="23"/>
                  </a:lnTo>
                </a:path>
              </a:pathLst>
            </a:custGeom>
            <a:solidFill>
              <a:srgbClr val="000000"/>
            </a:solidFill>
            <a:ln w="9525" cap="rnd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08" name="Freeform 24"/>
            <p:cNvSpPr>
              <a:spLocks/>
            </p:cNvSpPr>
            <p:nvPr/>
          </p:nvSpPr>
          <p:spPr bwMode="auto">
            <a:xfrm>
              <a:off x="1629" y="3432"/>
              <a:ext cx="24" cy="24"/>
            </a:xfrm>
            <a:custGeom>
              <a:avLst/>
              <a:gdLst>
                <a:gd name="T0" fmla="*/ 10 w 24"/>
                <a:gd name="T1" fmla="*/ 23 h 24"/>
                <a:gd name="T2" fmla="*/ 14 w 24"/>
                <a:gd name="T3" fmla="*/ 23 h 24"/>
                <a:gd name="T4" fmla="*/ 16 w 24"/>
                <a:gd name="T5" fmla="*/ 23 h 24"/>
                <a:gd name="T6" fmla="*/ 16 w 24"/>
                <a:gd name="T7" fmla="*/ 21 h 24"/>
                <a:gd name="T8" fmla="*/ 18 w 24"/>
                <a:gd name="T9" fmla="*/ 21 h 24"/>
                <a:gd name="T10" fmla="*/ 20 w 24"/>
                <a:gd name="T11" fmla="*/ 19 h 24"/>
                <a:gd name="T12" fmla="*/ 22 w 24"/>
                <a:gd name="T13" fmla="*/ 18 h 24"/>
                <a:gd name="T14" fmla="*/ 22 w 24"/>
                <a:gd name="T15" fmla="*/ 18 h 24"/>
                <a:gd name="T16" fmla="*/ 22 w 24"/>
                <a:gd name="T17" fmla="*/ 16 h 24"/>
                <a:gd name="T18" fmla="*/ 23 w 24"/>
                <a:gd name="T19" fmla="*/ 14 h 24"/>
                <a:gd name="T20" fmla="*/ 23 w 24"/>
                <a:gd name="T21" fmla="*/ 12 h 24"/>
                <a:gd name="T22" fmla="*/ 23 w 24"/>
                <a:gd name="T23" fmla="*/ 10 h 24"/>
                <a:gd name="T24" fmla="*/ 22 w 24"/>
                <a:gd name="T25" fmla="*/ 8 h 24"/>
                <a:gd name="T26" fmla="*/ 22 w 24"/>
                <a:gd name="T27" fmla="*/ 6 h 24"/>
                <a:gd name="T28" fmla="*/ 22 w 24"/>
                <a:gd name="T29" fmla="*/ 4 h 24"/>
                <a:gd name="T30" fmla="*/ 20 w 24"/>
                <a:gd name="T31" fmla="*/ 4 h 24"/>
                <a:gd name="T32" fmla="*/ 18 w 24"/>
                <a:gd name="T33" fmla="*/ 2 h 24"/>
                <a:gd name="T34" fmla="*/ 16 w 24"/>
                <a:gd name="T35" fmla="*/ 2 h 24"/>
                <a:gd name="T36" fmla="*/ 16 w 24"/>
                <a:gd name="T37" fmla="*/ 0 h 24"/>
                <a:gd name="T38" fmla="*/ 14 w 24"/>
                <a:gd name="T39" fmla="*/ 0 h 24"/>
                <a:gd name="T40" fmla="*/ 12 w 24"/>
                <a:gd name="T41" fmla="*/ 0 h 24"/>
                <a:gd name="T42" fmla="*/ 10 w 24"/>
                <a:gd name="T43" fmla="*/ 0 h 24"/>
                <a:gd name="T44" fmla="*/ 8 w 24"/>
                <a:gd name="T45" fmla="*/ 0 h 24"/>
                <a:gd name="T46" fmla="*/ 6 w 24"/>
                <a:gd name="T47" fmla="*/ 2 h 24"/>
                <a:gd name="T48" fmla="*/ 4 w 24"/>
                <a:gd name="T49" fmla="*/ 2 h 24"/>
                <a:gd name="T50" fmla="*/ 2 w 24"/>
                <a:gd name="T51" fmla="*/ 4 h 24"/>
                <a:gd name="T52" fmla="*/ 2 w 24"/>
                <a:gd name="T53" fmla="*/ 4 h 24"/>
                <a:gd name="T54" fmla="*/ 0 w 24"/>
                <a:gd name="T55" fmla="*/ 6 h 24"/>
                <a:gd name="T56" fmla="*/ 0 w 24"/>
                <a:gd name="T57" fmla="*/ 8 h 24"/>
                <a:gd name="T58" fmla="*/ 0 w 24"/>
                <a:gd name="T59" fmla="*/ 10 h 24"/>
                <a:gd name="T60" fmla="*/ 0 w 24"/>
                <a:gd name="T61" fmla="*/ 12 h 24"/>
                <a:gd name="T62" fmla="*/ 0 w 24"/>
                <a:gd name="T63" fmla="*/ 14 h 24"/>
                <a:gd name="T64" fmla="*/ 0 w 24"/>
                <a:gd name="T65" fmla="*/ 16 h 24"/>
                <a:gd name="T66" fmla="*/ 0 w 24"/>
                <a:gd name="T67" fmla="*/ 18 h 24"/>
                <a:gd name="T68" fmla="*/ 2 w 24"/>
                <a:gd name="T69" fmla="*/ 18 h 24"/>
                <a:gd name="T70" fmla="*/ 2 w 24"/>
                <a:gd name="T71" fmla="*/ 19 h 24"/>
                <a:gd name="T72" fmla="*/ 4 w 24"/>
                <a:gd name="T73" fmla="*/ 21 h 24"/>
                <a:gd name="T74" fmla="*/ 6 w 24"/>
                <a:gd name="T75" fmla="*/ 21 h 24"/>
                <a:gd name="T76" fmla="*/ 8 w 24"/>
                <a:gd name="T77" fmla="*/ 23 h 24"/>
                <a:gd name="T78" fmla="*/ 10 w 24"/>
                <a:gd name="T79" fmla="*/ 23 h 24"/>
                <a:gd name="T80" fmla="*/ 12 w 24"/>
                <a:gd name="T81" fmla="*/ 23 h 24"/>
                <a:gd name="T82" fmla="*/ 12 w 24"/>
                <a:gd name="T83" fmla="*/ 23 h 24"/>
                <a:gd name="T84" fmla="*/ 10 w 24"/>
                <a:gd name="T85" fmla="*/ 23 h 2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4"/>
                <a:gd name="T130" fmla="*/ 0 h 24"/>
                <a:gd name="T131" fmla="*/ 24 w 24"/>
                <a:gd name="T132" fmla="*/ 24 h 24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4" h="24">
                  <a:moveTo>
                    <a:pt x="10" y="23"/>
                  </a:moveTo>
                  <a:lnTo>
                    <a:pt x="14" y="23"/>
                  </a:lnTo>
                  <a:lnTo>
                    <a:pt x="16" y="23"/>
                  </a:lnTo>
                  <a:lnTo>
                    <a:pt x="16" y="21"/>
                  </a:lnTo>
                  <a:lnTo>
                    <a:pt x="18" y="21"/>
                  </a:lnTo>
                  <a:lnTo>
                    <a:pt x="20" y="19"/>
                  </a:lnTo>
                  <a:lnTo>
                    <a:pt x="22" y="18"/>
                  </a:lnTo>
                  <a:lnTo>
                    <a:pt x="22" y="16"/>
                  </a:lnTo>
                  <a:lnTo>
                    <a:pt x="23" y="14"/>
                  </a:lnTo>
                  <a:lnTo>
                    <a:pt x="23" y="12"/>
                  </a:lnTo>
                  <a:lnTo>
                    <a:pt x="23" y="10"/>
                  </a:lnTo>
                  <a:lnTo>
                    <a:pt x="22" y="8"/>
                  </a:lnTo>
                  <a:lnTo>
                    <a:pt x="22" y="6"/>
                  </a:lnTo>
                  <a:lnTo>
                    <a:pt x="22" y="4"/>
                  </a:lnTo>
                  <a:lnTo>
                    <a:pt x="20" y="4"/>
                  </a:lnTo>
                  <a:lnTo>
                    <a:pt x="18" y="2"/>
                  </a:lnTo>
                  <a:lnTo>
                    <a:pt x="16" y="2"/>
                  </a:lnTo>
                  <a:lnTo>
                    <a:pt x="16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8" y="0"/>
                  </a:lnTo>
                  <a:lnTo>
                    <a:pt x="6" y="2"/>
                  </a:lnTo>
                  <a:lnTo>
                    <a:pt x="4" y="2"/>
                  </a:lnTo>
                  <a:lnTo>
                    <a:pt x="2" y="4"/>
                  </a:lnTo>
                  <a:lnTo>
                    <a:pt x="0" y="6"/>
                  </a:lnTo>
                  <a:lnTo>
                    <a:pt x="0" y="8"/>
                  </a:lnTo>
                  <a:lnTo>
                    <a:pt x="0" y="10"/>
                  </a:lnTo>
                  <a:lnTo>
                    <a:pt x="0" y="12"/>
                  </a:lnTo>
                  <a:lnTo>
                    <a:pt x="0" y="14"/>
                  </a:lnTo>
                  <a:lnTo>
                    <a:pt x="0" y="16"/>
                  </a:lnTo>
                  <a:lnTo>
                    <a:pt x="0" y="18"/>
                  </a:lnTo>
                  <a:lnTo>
                    <a:pt x="2" y="18"/>
                  </a:lnTo>
                  <a:lnTo>
                    <a:pt x="2" y="19"/>
                  </a:lnTo>
                  <a:lnTo>
                    <a:pt x="4" y="21"/>
                  </a:lnTo>
                  <a:lnTo>
                    <a:pt x="6" y="21"/>
                  </a:lnTo>
                  <a:lnTo>
                    <a:pt x="8" y="23"/>
                  </a:lnTo>
                  <a:lnTo>
                    <a:pt x="10" y="23"/>
                  </a:lnTo>
                  <a:lnTo>
                    <a:pt x="12" y="23"/>
                  </a:lnTo>
                  <a:lnTo>
                    <a:pt x="10" y="23"/>
                  </a:lnTo>
                </a:path>
              </a:pathLst>
            </a:custGeom>
            <a:solidFill>
              <a:srgbClr val="000000"/>
            </a:solidFill>
            <a:ln w="9525" cap="rnd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09" name="Line 25"/>
            <p:cNvSpPr>
              <a:spLocks noChangeShapeType="1"/>
            </p:cNvSpPr>
            <p:nvPr/>
          </p:nvSpPr>
          <p:spPr bwMode="auto">
            <a:xfrm>
              <a:off x="1449" y="2687"/>
              <a:ext cx="198" cy="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10" name="Line 26"/>
            <p:cNvSpPr>
              <a:spLocks noChangeShapeType="1"/>
            </p:cNvSpPr>
            <p:nvPr/>
          </p:nvSpPr>
          <p:spPr bwMode="auto">
            <a:xfrm flipV="1">
              <a:off x="1657" y="3441"/>
              <a:ext cx="776" cy="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11" name="Line 27"/>
            <p:cNvSpPr>
              <a:spLocks noChangeShapeType="1"/>
            </p:cNvSpPr>
            <p:nvPr/>
          </p:nvSpPr>
          <p:spPr bwMode="auto">
            <a:xfrm flipH="1">
              <a:off x="1447" y="2024"/>
              <a:ext cx="986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12" name="Freeform 28"/>
            <p:cNvSpPr>
              <a:spLocks/>
            </p:cNvSpPr>
            <p:nvPr/>
          </p:nvSpPr>
          <p:spPr bwMode="auto">
            <a:xfrm>
              <a:off x="4704" y="1917"/>
              <a:ext cx="93" cy="1777"/>
            </a:xfrm>
            <a:custGeom>
              <a:avLst/>
              <a:gdLst>
                <a:gd name="T0" fmla="*/ 92 w 93"/>
                <a:gd name="T1" fmla="*/ 1776 h 1777"/>
                <a:gd name="T2" fmla="*/ 92 w 93"/>
                <a:gd name="T3" fmla="*/ 0 h 1777"/>
                <a:gd name="T4" fmla="*/ 0 w 93"/>
                <a:gd name="T5" fmla="*/ 0 h 1777"/>
                <a:gd name="T6" fmla="*/ 0 w 93"/>
                <a:gd name="T7" fmla="*/ 1776 h 1777"/>
                <a:gd name="T8" fmla="*/ 92 w 93"/>
                <a:gd name="T9" fmla="*/ 1776 h 1777"/>
                <a:gd name="T10" fmla="*/ 92 w 93"/>
                <a:gd name="T11" fmla="*/ 1776 h 177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3"/>
                <a:gd name="T19" fmla="*/ 0 h 1777"/>
                <a:gd name="T20" fmla="*/ 93 w 93"/>
                <a:gd name="T21" fmla="*/ 1777 h 177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3" h="1777">
                  <a:moveTo>
                    <a:pt x="92" y="1776"/>
                  </a:moveTo>
                  <a:lnTo>
                    <a:pt x="92" y="0"/>
                  </a:lnTo>
                  <a:lnTo>
                    <a:pt x="0" y="0"/>
                  </a:lnTo>
                  <a:lnTo>
                    <a:pt x="0" y="1776"/>
                  </a:lnTo>
                  <a:lnTo>
                    <a:pt x="92" y="1776"/>
                  </a:lnTo>
                </a:path>
              </a:pathLst>
            </a:custGeom>
            <a:solidFill>
              <a:srgbClr val="CCECFF"/>
            </a:solidFill>
            <a:ln w="190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13" name="Freeform 29"/>
            <p:cNvSpPr>
              <a:spLocks/>
            </p:cNvSpPr>
            <p:nvPr/>
          </p:nvSpPr>
          <p:spPr bwMode="auto">
            <a:xfrm>
              <a:off x="2436" y="1917"/>
              <a:ext cx="93" cy="1777"/>
            </a:xfrm>
            <a:custGeom>
              <a:avLst/>
              <a:gdLst>
                <a:gd name="T0" fmla="*/ 92 w 93"/>
                <a:gd name="T1" fmla="*/ 1776 h 1777"/>
                <a:gd name="T2" fmla="*/ 92 w 93"/>
                <a:gd name="T3" fmla="*/ 0 h 1777"/>
                <a:gd name="T4" fmla="*/ 0 w 93"/>
                <a:gd name="T5" fmla="*/ 0 h 1777"/>
                <a:gd name="T6" fmla="*/ 0 w 93"/>
                <a:gd name="T7" fmla="*/ 1776 h 1777"/>
                <a:gd name="T8" fmla="*/ 92 w 93"/>
                <a:gd name="T9" fmla="*/ 1776 h 1777"/>
                <a:gd name="T10" fmla="*/ 92 w 93"/>
                <a:gd name="T11" fmla="*/ 1776 h 177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3"/>
                <a:gd name="T19" fmla="*/ 0 h 1777"/>
                <a:gd name="T20" fmla="*/ 93 w 93"/>
                <a:gd name="T21" fmla="*/ 1777 h 177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3" h="1777">
                  <a:moveTo>
                    <a:pt x="92" y="1776"/>
                  </a:moveTo>
                  <a:lnTo>
                    <a:pt x="92" y="0"/>
                  </a:lnTo>
                  <a:lnTo>
                    <a:pt x="0" y="0"/>
                  </a:lnTo>
                  <a:lnTo>
                    <a:pt x="0" y="1776"/>
                  </a:lnTo>
                  <a:lnTo>
                    <a:pt x="92" y="1776"/>
                  </a:lnTo>
                </a:path>
              </a:pathLst>
            </a:custGeom>
            <a:solidFill>
              <a:srgbClr val="CCECFF"/>
            </a:solidFill>
            <a:ln w="190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14" name="Line 30"/>
            <p:cNvSpPr>
              <a:spLocks noChangeShapeType="1"/>
            </p:cNvSpPr>
            <p:nvPr/>
          </p:nvSpPr>
          <p:spPr bwMode="auto">
            <a:xfrm flipV="1">
              <a:off x="2826" y="3695"/>
              <a:ext cx="0" cy="50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15" name="Line 31"/>
            <p:cNvSpPr>
              <a:spLocks noChangeShapeType="1"/>
            </p:cNvSpPr>
            <p:nvPr/>
          </p:nvSpPr>
          <p:spPr bwMode="auto">
            <a:xfrm>
              <a:off x="2855" y="2626"/>
              <a:ext cx="2" cy="54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16" name="Line 32"/>
            <p:cNvSpPr>
              <a:spLocks noChangeShapeType="1"/>
            </p:cNvSpPr>
            <p:nvPr/>
          </p:nvSpPr>
          <p:spPr bwMode="auto">
            <a:xfrm flipV="1">
              <a:off x="3006" y="3406"/>
              <a:ext cx="0" cy="52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17" name="Line 33"/>
            <p:cNvSpPr>
              <a:spLocks noChangeShapeType="1"/>
            </p:cNvSpPr>
            <p:nvPr/>
          </p:nvSpPr>
          <p:spPr bwMode="auto">
            <a:xfrm flipV="1">
              <a:off x="3364" y="2633"/>
              <a:ext cx="215" cy="2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18" name="Freeform 34"/>
            <p:cNvSpPr>
              <a:spLocks/>
            </p:cNvSpPr>
            <p:nvPr/>
          </p:nvSpPr>
          <p:spPr bwMode="auto">
            <a:xfrm>
              <a:off x="2877" y="3055"/>
              <a:ext cx="245" cy="345"/>
            </a:xfrm>
            <a:custGeom>
              <a:avLst/>
              <a:gdLst>
                <a:gd name="T0" fmla="*/ 123 w 174"/>
                <a:gd name="T1" fmla="*/ 344 h 367"/>
                <a:gd name="T2" fmla="*/ 144 w 174"/>
                <a:gd name="T3" fmla="*/ 342 h 367"/>
                <a:gd name="T4" fmla="*/ 162 w 174"/>
                <a:gd name="T5" fmla="*/ 336 h 367"/>
                <a:gd name="T6" fmla="*/ 179 w 174"/>
                <a:gd name="T7" fmla="*/ 324 h 367"/>
                <a:gd name="T8" fmla="*/ 194 w 174"/>
                <a:gd name="T9" fmla="*/ 312 h 367"/>
                <a:gd name="T10" fmla="*/ 208 w 174"/>
                <a:gd name="T11" fmla="*/ 294 h 367"/>
                <a:gd name="T12" fmla="*/ 221 w 174"/>
                <a:gd name="T13" fmla="*/ 274 h 367"/>
                <a:gd name="T14" fmla="*/ 230 w 174"/>
                <a:gd name="T15" fmla="*/ 251 h 367"/>
                <a:gd name="T16" fmla="*/ 238 w 174"/>
                <a:gd name="T17" fmla="*/ 227 h 367"/>
                <a:gd name="T18" fmla="*/ 244 w 174"/>
                <a:gd name="T19" fmla="*/ 200 h 367"/>
                <a:gd name="T20" fmla="*/ 244 w 174"/>
                <a:gd name="T21" fmla="*/ 171 h 367"/>
                <a:gd name="T22" fmla="*/ 244 w 174"/>
                <a:gd name="T23" fmla="*/ 145 h 367"/>
                <a:gd name="T24" fmla="*/ 238 w 174"/>
                <a:gd name="T25" fmla="*/ 118 h 367"/>
                <a:gd name="T26" fmla="*/ 230 w 174"/>
                <a:gd name="T27" fmla="*/ 92 h 367"/>
                <a:gd name="T28" fmla="*/ 221 w 174"/>
                <a:gd name="T29" fmla="*/ 71 h 367"/>
                <a:gd name="T30" fmla="*/ 208 w 174"/>
                <a:gd name="T31" fmla="*/ 51 h 367"/>
                <a:gd name="T32" fmla="*/ 194 w 174"/>
                <a:gd name="T33" fmla="*/ 33 h 367"/>
                <a:gd name="T34" fmla="*/ 179 w 174"/>
                <a:gd name="T35" fmla="*/ 19 h 367"/>
                <a:gd name="T36" fmla="*/ 162 w 174"/>
                <a:gd name="T37" fmla="*/ 8 h 367"/>
                <a:gd name="T38" fmla="*/ 144 w 174"/>
                <a:gd name="T39" fmla="*/ 2 h 367"/>
                <a:gd name="T40" fmla="*/ 123 w 174"/>
                <a:gd name="T41" fmla="*/ 0 h 367"/>
                <a:gd name="T42" fmla="*/ 103 w 174"/>
                <a:gd name="T43" fmla="*/ 2 h 367"/>
                <a:gd name="T44" fmla="*/ 84 w 174"/>
                <a:gd name="T45" fmla="*/ 8 h 367"/>
                <a:gd name="T46" fmla="*/ 68 w 174"/>
                <a:gd name="T47" fmla="*/ 19 h 367"/>
                <a:gd name="T48" fmla="*/ 52 w 174"/>
                <a:gd name="T49" fmla="*/ 33 h 367"/>
                <a:gd name="T50" fmla="*/ 38 w 174"/>
                <a:gd name="T51" fmla="*/ 51 h 367"/>
                <a:gd name="T52" fmla="*/ 24 w 174"/>
                <a:gd name="T53" fmla="*/ 71 h 367"/>
                <a:gd name="T54" fmla="*/ 14 w 174"/>
                <a:gd name="T55" fmla="*/ 92 h 367"/>
                <a:gd name="T56" fmla="*/ 8 w 174"/>
                <a:gd name="T57" fmla="*/ 118 h 367"/>
                <a:gd name="T58" fmla="*/ 3 w 174"/>
                <a:gd name="T59" fmla="*/ 145 h 367"/>
                <a:gd name="T60" fmla="*/ 0 w 174"/>
                <a:gd name="T61" fmla="*/ 171 h 367"/>
                <a:gd name="T62" fmla="*/ 3 w 174"/>
                <a:gd name="T63" fmla="*/ 200 h 367"/>
                <a:gd name="T64" fmla="*/ 8 w 174"/>
                <a:gd name="T65" fmla="*/ 227 h 367"/>
                <a:gd name="T66" fmla="*/ 14 w 174"/>
                <a:gd name="T67" fmla="*/ 251 h 367"/>
                <a:gd name="T68" fmla="*/ 24 w 174"/>
                <a:gd name="T69" fmla="*/ 274 h 367"/>
                <a:gd name="T70" fmla="*/ 38 w 174"/>
                <a:gd name="T71" fmla="*/ 294 h 367"/>
                <a:gd name="T72" fmla="*/ 52 w 174"/>
                <a:gd name="T73" fmla="*/ 312 h 367"/>
                <a:gd name="T74" fmla="*/ 68 w 174"/>
                <a:gd name="T75" fmla="*/ 324 h 367"/>
                <a:gd name="T76" fmla="*/ 84 w 174"/>
                <a:gd name="T77" fmla="*/ 336 h 367"/>
                <a:gd name="T78" fmla="*/ 103 w 174"/>
                <a:gd name="T79" fmla="*/ 342 h 367"/>
                <a:gd name="T80" fmla="*/ 123 w 174"/>
                <a:gd name="T81" fmla="*/ 344 h 367"/>
                <a:gd name="T82" fmla="*/ 123 w 174"/>
                <a:gd name="T83" fmla="*/ 344 h 367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174"/>
                <a:gd name="T127" fmla="*/ 0 h 367"/>
                <a:gd name="T128" fmla="*/ 174 w 174"/>
                <a:gd name="T129" fmla="*/ 367 h 367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174" h="367">
                  <a:moveTo>
                    <a:pt x="87" y="366"/>
                  </a:moveTo>
                  <a:lnTo>
                    <a:pt x="102" y="364"/>
                  </a:lnTo>
                  <a:lnTo>
                    <a:pt x="115" y="357"/>
                  </a:lnTo>
                  <a:lnTo>
                    <a:pt x="127" y="345"/>
                  </a:lnTo>
                  <a:lnTo>
                    <a:pt x="138" y="332"/>
                  </a:lnTo>
                  <a:lnTo>
                    <a:pt x="148" y="313"/>
                  </a:lnTo>
                  <a:lnTo>
                    <a:pt x="157" y="292"/>
                  </a:lnTo>
                  <a:lnTo>
                    <a:pt x="163" y="267"/>
                  </a:lnTo>
                  <a:lnTo>
                    <a:pt x="169" y="242"/>
                  </a:lnTo>
                  <a:lnTo>
                    <a:pt x="173" y="213"/>
                  </a:lnTo>
                  <a:lnTo>
                    <a:pt x="173" y="182"/>
                  </a:lnTo>
                  <a:lnTo>
                    <a:pt x="173" y="154"/>
                  </a:lnTo>
                  <a:lnTo>
                    <a:pt x="169" y="125"/>
                  </a:lnTo>
                  <a:lnTo>
                    <a:pt x="163" y="98"/>
                  </a:lnTo>
                  <a:lnTo>
                    <a:pt x="157" y="75"/>
                  </a:lnTo>
                  <a:lnTo>
                    <a:pt x="148" y="54"/>
                  </a:lnTo>
                  <a:lnTo>
                    <a:pt x="138" y="35"/>
                  </a:lnTo>
                  <a:lnTo>
                    <a:pt x="127" y="20"/>
                  </a:lnTo>
                  <a:lnTo>
                    <a:pt x="115" y="8"/>
                  </a:lnTo>
                  <a:lnTo>
                    <a:pt x="102" y="2"/>
                  </a:lnTo>
                  <a:lnTo>
                    <a:pt x="87" y="0"/>
                  </a:lnTo>
                  <a:lnTo>
                    <a:pt x="73" y="2"/>
                  </a:lnTo>
                  <a:lnTo>
                    <a:pt x="60" y="8"/>
                  </a:lnTo>
                  <a:lnTo>
                    <a:pt x="48" y="20"/>
                  </a:lnTo>
                  <a:lnTo>
                    <a:pt x="37" y="35"/>
                  </a:lnTo>
                  <a:lnTo>
                    <a:pt x="27" y="54"/>
                  </a:lnTo>
                  <a:lnTo>
                    <a:pt x="17" y="75"/>
                  </a:lnTo>
                  <a:lnTo>
                    <a:pt x="10" y="98"/>
                  </a:lnTo>
                  <a:lnTo>
                    <a:pt x="6" y="125"/>
                  </a:lnTo>
                  <a:lnTo>
                    <a:pt x="2" y="154"/>
                  </a:lnTo>
                  <a:lnTo>
                    <a:pt x="0" y="182"/>
                  </a:lnTo>
                  <a:lnTo>
                    <a:pt x="2" y="213"/>
                  </a:lnTo>
                  <a:lnTo>
                    <a:pt x="6" y="242"/>
                  </a:lnTo>
                  <a:lnTo>
                    <a:pt x="10" y="267"/>
                  </a:lnTo>
                  <a:lnTo>
                    <a:pt x="17" y="292"/>
                  </a:lnTo>
                  <a:lnTo>
                    <a:pt x="27" y="313"/>
                  </a:lnTo>
                  <a:lnTo>
                    <a:pt x="37" y="332"/>
                  </a:lnTo>
                  <a:lnTo>
                    <a:pt x="48" y="345"/>
                  </a:lnTo>
                  <a:lnTo>
                    <a:pt x="60" y="357"/>
                  </a:lnTo>
                  <a:lnTo>
                    <a:pt x="73" y="364"/>
                  </a:lnTo>
                  <a:lnTo>
                    <a:pt x="87" y="366"/>
                  </a:lnTo>
                </a:path>
              </a:pathLst>
            </a:custGeom>
            <a:noFill/>
            <a:ln w="19050" cap="rnd" cmpd="sng">
              <a:solidFill>
                <a:srgbClr val="EB75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19" name="Line 35"/>
            <p:cNvSpPr>
              <a:spLocks noChangeShapeType="1"/>
            </p:cNvSpPr>
            <p:nvPr/>
          </p:nvSpPr>
          <p:spPr bwMode="auto">
            <a:xfrm>
              <a:off x="2530" y="3225"/>
              <a:ext cx="349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21" name="Line 37"/>
            <p:cNvSpPr>
              <a:spLocks noChangeShapeType="1"/>
            </p:cNvSpPr>
            <p:nvPr/>
          </p:nvSpPr>
          <p:spPr bwMode="auto">
            <a:xfrm flipH="1" flipV="1">
              <a:off x="2530" y="2018"/>
              <a:ext cx="364" cy="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22" name="Freeform 38"/>
            <p:cNvSpPr>
              <a:spLocks/>
            </p:cNvSpPr>
            <p:nvPr/>
          </p:nvSpPr>
          <p:spPr bwMode="auto">
            <a:xfrm>
              <a:off x="2681" y="2710"/>
              <a:ext cx="26" cy="24"/>
            </a:xfrm>
            <a:custGeom>
              <a:avLst/>
              <a:gdLst>
                <a:gd name="T0" fmla="*/ 11 w 26"/>
                <a:gd name="T1" fmla="*/ 23 h 24"/>
                <a:gd name="T2" fmla="*/ 13 w 26"/>
                <a:gd name="T3" fmla="*/ 23 h 24"/>
                <a:gd name="T4" fmla="*/ 15 w 26"/>
                <a:gd name="T5" fmla="*/ 23 h 24"/>
                <a:gd name="T6" fmla="*/ 17 w 26"/>
                <a:gd name="T7" fmla="*/ 23 h 24"/>
                <a:gd name="T8" fmla="*/ 19 w 26"/>
                <a:gd name="T9" fmla="*/ 21 h 24"/>
                <a:gd name="T10" fmla="*/ 21 w 26"/>
                <a:gd name="T11" fmla="*/ 21 h 24"/>
                <a:gd name="T12" fmla="*/ 21 w 26"/>
                <a:gd name="T13" fmla="*/ 19 h 24"/>
                <a:gd name="T14" fmla="*/ 23 w 26"/>
                <a:gd name="T15" fmla="*/ 17 h 24"/>
                <a:gd name="T16" fmla="*/ 23 w 26"/>
                <a:gd name="T17" fmla="*/ 15 h 24"/>
                <a:gd name="T18" fmla="*/ 23 w 26"/>
                <a:gd name="T19" fmla="*/ 14 h 24"/>
                <a:gd name="T20" fmla="*/ 25 w 26"/>
                <a:gd name="T21" fmla="*/ 12 h 24"/>
                <a:gd name="T22" fmla="*/ 23 w 26"/>
                <a:gd name="T23" fmla="*/ 10 h 24"/>
                <a:gd name="T24" fmla="*/ 23 w 26"/>
                <a:gd name="T25" fmla="*/ 10 h 24"/>
                <a:gd name="T26" fmla="*/ 23 w 26"/>
                <a:gd name="T27" fmla="*/ 8 h 24"/>
                <a:gd name="T28" fmla="*/ 21 w 26"/>
                <a:gd name="T29" fmla="*/ 6 h 24"/>
                <a:gd name="T30" fmla="*/ 21 w 26"/>
                <a:gd name="T31" fmla="*/ 4 h 24"/>
                <a:gd name="T32" fmla="*/ 19 w 26"/>
                <a:gd name="T33" fmla="*/ 4 h 24"/>
                <a:gd name="T34" fmla="*/ 17 w 26"/>
                <a:gd name="T35" fmla="*/ 2 h 24"/>
                <a:gd name="T36" fmla="*/ 15 w 26"/>
                <a:gd name="T37" fmla="*/ 2 h 24"/>
                <a:gd name="T38" fmla="*/ 13 w 26"/>
                <a:gd name="T39" fmla="*/ 2 h 24"/>
                <a:gd name="T40" fmla="*/ 11 w 26"/>
                <a:gd name="T41" fmla="*/ 0 h 24"/>
                <a:gd name="T42" fmla="*/ 11 w 26"/>
                <a:gd name="T43" fmla="*/ 2 h 24"/>
                <a:gd name="T44" fmla="*/ 9 w 26"/>
                <a:gd name="T45" fmla="*/ 2 h 24"/>
                <a:gd name="T46" fmla="*/ 8 w 26"/>
                <a:gd name="T47" fmla="*/ 2 h 24"/>
                <a:gd name="T48" fmla="*/ 6 w 26"/>
                <a:gd name="T49" fmla="*/ 4 h 24"/>
                <a:gd name="T50" fmla="*/ 4 w 26"/>
                <a:gd name="T51" fmla="*/ 4 h 24"/>
                <a:gd name="T52" fmla="*/ 4 w 26"/>
                <a:gd name="T53" fmla="*/ 6 h 24"/>
                <a:gd name="T54" fmla="*/ 2 w 26"/>
                <a:gd name="T55" fmla="*/ 8 h 24"/>
                <a:gd name="T56" fmla="*/ 2 w 26"/>
                <a:gd name="T57" fmla="*/ 10 h 24"/>
                <a:gd name="T58" fmla="*/ 2 w 26"/>
                <a:gd name="T59" fmla="*/ 10 h 24"/>
                <a:gd name="T60" fmla="*/ 0 w 26"/>
                <a:gd name="T61" fmla="*/ 12 h 24"/>
                <a:gd name="T62" fmla="*/ 2 w 26"/>
                <a:gd name="T63" fmla="*/ 14 h 24"/>
                <a:gd name="T64" fmla="*/ 2 w 26"/>
                <a:gd name="T65" fmla="*/ 15 h 24"/>
                <a:gd name="T66" fmla="*/ 2 w 26"/>
                <a:gd name="T67" fmla="*/ 17 h 24"/>
                <a:gd name="T68" fmla="*/ 4 w 26"/>
                <a:gd name="T69" fmla="*/ 19 h 24"/>
                <a:gd name="T70" fmla="*/ 4 w 26"/>
                <a:gd name="T71" fmla="*/ 21 h 24"/>
                <a:gd name="T72" fmla="*/ 6 w 26"/>
                <a:gd name="T73" fmla="*/ 21 h 24"/>
                <a:gd name="T74" fmla="*/ 8 w 26"/>
                <a:gd name="T75" fmla="*/ 23 h 24"/>
                <a:gd name="T76" fmla="*/ 9 w 26"/>
                <a:gd name="T77" fmla="*/ 23 h 24"/>
                <a:gd name="T78" fmla="*/ 11 w 26"/>
                <a:gd name="T79" fmla="*/ 23 h 24"/>
                <a:gd name="T80" fmla="*/ 11 w 26"/>
                <a:gd name="T81" fmla="*/ 23 h 24"/>
                <a:gd name="T82" fmla="*/ 11 w 26"/>
                <a:gd name="T83" fmla="*/ 23 h 24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26"/>
                <a:gd name="T127" fmla="*/ 0 h 24"/>
                <a:gd name="T128" fmla="*/ 26 w 26"/>
                <a:gd name="T129" fmla="*/ 24 h 24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26" h="24">
                  <a:moveTo>
                    <a:pt x="11" y="23"/>
                  </a:moveTo>
                  <a:lnTo>
                    <a:pt x="13" y="23"/>
                  </a:lnTo>
                  <a:lnTo>
                    <a:pt x="15" y="23"/>
                  </a:lnTo>
                  <a:lnTo>
                    <a:pt x="17" y="23"/>
                  </a:lnTo>
                  <a:lnTo>
                    <a:pt x="19" y="21"/>
                  </a:lnTo>
                  <a:lnTo>
                    <a:pt x="21" y="21"/>
                  </a:lnTo>
                  <a:lnTo>
                    <a:pt x="21" y="19"/>
                  </a:lnTo>
                  <a:lnTo>
                    <a:pt x="23" y="17"/>
                  </a:lnTo>
                  <a:lnTo>
                    <a:pt x="23" y="15"/>
                  </a:lnTo>
                  <a:lnTo>
                    <a:pt x="23" y="14"/>
                  </a:lnTo>
                  <a:lnTo>
                    <a:pt x="25" y="12"/>
                  </a:lnTo>
                  <a:lnTo>
                    <a:pt x="23" y="10"/>
                  </a:lnTo>
                  <a:lnTo>
                    <a:pt x="23" y="8"/>
                  </a:lnTo>
                  <a:lnTo>
                    <a:pt x="21" y="6"/>
                  </a:lnTo>
                  <a:lnTo>
                    <a:pt x="21" y="4"/>
                  </a:lnTo>
                  <a:lnTo>
                    <a:pt x="19" y="4"/>
                  </a:lnTo>
                  <a:lnTo>
                    <a:pt x="17" y="2"/>
                  </a:lnTo>
                  <a:lnTo>
                    <a:pt x="15" y="2"/>
                  </a:lnTo>
                  <a:lnTo>
                    <a:pt x="13" y="2"/>
                  </a:lnTo>
                  <a:lnTo>
                    <a:pt x="11" y="0"/>
                  </a:lnTo>
                  <a:lnTo>
                    <a:pt x="11" y="2"/>
                  </a:lnTo>
                  <a:lnTo>
                    <a:pt x="9" y="2"/>
                  </a:lnTo>
                  <a:lnTo>
                    <a:pt x="8" y="2"/>
                  </a:lnTo>
                  <a:lnTo>
                    <a:pt x="6" y="4"/>
                  </a:lnTo>
                  <a:lnTo>
                    <a:pt x="4" y="4"/>
                  </a:lnTo>
                  <a:lnTo>
                    <a:pt x="4" y="6"/>
                  </a:lnTo>
                  <a:lnTo>
                    <a:pt x="2" y="8"/>
                  </a:lnTo>
                  <a:lnTo>
                    <a:pt x="2" y="10"/>
                  </a:lnTo>
                  <a:lnTo>
                    <a:pt x="0" y="12"/>
                  </a:lnTo>
                  <a:lnTo>
                    <a:pt x="2" y="14"/>
                  </a:lnTo>
                  <a:lnTo>
                    <a:pt x="2" y="15"/>
                  </a:lnTo>
                  <a:lnTo>
                    <a:pt x="2" y="17"/>
                  </a:lnTo>
                  <a:lnTo>
                    <a:pt x="4" y="19"/>
                  </a:lnTo>
                  <a:lnTo>
                    <a:pt x="4" y="21"/>
                  </a:lnTo>
                  <a:lnTo>
                    <a:pt x="6" y="21"/>
                  </a:lnTo>
                  <a:lnTo>
                    <a:pt x="8" y="23"/>
                  </a:lnTo>
                  <a:lnTo>
                    <a:pt x="9" y="23"/>
                  </a:lnTo>
                  <a:lnTo>
                    <a:pt x="11" y="23"/>
                  </a:lnTo>
                </a:path>
              </a:pathLst>
            </a:custGeom>
            <a:solidFill>
              <a:srgbClr val="000000"/>
            </a:solidFill>
            <a:ln w="9525" cap="rnd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23" name="Line 39"/>
            <p:cNvSpPr>
              <a:spLocks noChangeShapeType="1"/>
            </p:cNvSpPr>
            <p:nvPr/>
          </p:nvSpPr>
          <p:spPr bwMode="auto">
            <a:xfrm>
              <a:off x="2744" y="2413"/>
              <a:ext cx="2" cy="81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24" name="Freeform 40"/>
            <p:cNvSpPr>
              <a:spLocks/>
            </p:cNvSpPr>
            <p:nvPr/>
          </p:nvSpPr>
          <p:spPr bwMode="auto">
            <a:xfrm>
              <a:off x="2735" y="2917"/>
              <a:ext cx="24" cy="24"/>
            </a:xfrm>
            <a:custGeom>
              <a:avLst/>
              <a:gdLst>
                <a:gd name="T0" fmla="*/ 9 w 24"/>
                <a:gd name="T1" fmla="*/ 23 h 24"/>
                <a:gd name="T2" fmla="*/ 13 w 24"/>
                <a:gd name="T3" fmla="*/ 23 h 24"/>
                <a:gd name="T4" fmla="*/ 15 w 24"/>
                <a:gd name="T5" fmla="*/ 23 h 24"/>
                <a:gd name="T6" fmla="*/ 15 w 24"/>
                <a:gd name="T7" fmla="*/ 21 h 24"/>
                <a:gd name="T8" fmla="*/ 17 w 24"/>
                <a:gd name="T9" fmla="*/ 21 h 24"/>
                <a:gd name="T10" fmla="*/ 19 w 24"/>
                <a:gd name="T11" fmla="*/ 19 h 24"/>
                <a:gd name="T12" fmla="*/ 21 w 24"/>
                <a:gd name="T13" fmla="*/ 19 h 24"/>
                <a:gd name="T14" fmla="*/ 21 w 24"/>
                <a:gd name="T15" fmla="*/ 17 h 24"/>
                <a:gd name="T16" fmla="*/ 21 w 24"/>
                <a:gd name="T17" fmla="*/ 15 h 24"/>
                <a:gd name="T18" fmla="*/ 23 w 24"/>
                <a:gd name="T19" fmla="*/ 13 h 24"/>
                <a:gd name="T20" fmla="*/ 23 w 24"/>
                <a:gd name="T21" fmla="*/ 12 h 24"/>
                <a:gd name="T22" fmla="*/ 23 w 24"/>
                <a:gd name="T23" fmla="*/ 10 h 24"/>
                <a:gd name="T24" fmla="*/ 21 w 24"/>
                <a:gd name="T25" fmla="*/ 8 h 24"/>
                <a:gd name="T26" fmla="*/ 21 w 24"/>
                <a:gd name="T27" fmla="*/ 6 h 24"/>
                <a:gd name="T28" fmla="*/ 21 w 24"/>
                <a:gd name="T29" fmla="*/ 6 h 24"/>
                <a:gd name="T30" fmla="*/ 19 w 24"/>
                <a:gd name="T31" fmla="*/ 4 h 24"/>
                <a:gd name="T32" fmla="*/ 17 w 24"/>
                <a:gd name="T33" fmla="*/ 2 h 24"/>
                <a:gd name="T34" fmla="*/ 15 w 24"/>
                <a:gd name="T35" fmla="*/ 2 h 24"/>
                <a:gd name="T36" fmla="*/ 15 w 24"/>
                <a:gd name="T37" fmla="*/ 0 h 24"/>
                <a:gd name="T38" fmla="*/ 13 w 24"/>
                <a:gd name="T39" fmla="*/ 0 h 24"/>
                <a:gd name="T40" fmla="*/ 11 w 24"/>
                <a:gd name="T41" fmla="*/ 0 h 24"/>
                <a:gd name="T42" fmla="*/ 9 w 24"/>
                <a:gd name="T43" fmla="*/ 0 h 24"/>
                <a:gd name="T44" fmla="*/ 7 w 24"/>
                <a:gd name="T45" fmla="*/ 0 h 24"/>
                <a:gd name="T46" fmla="*/ 5 w 24"/>
                <a:gd name="T47" fmla="*/ 2 h 24"/>
                <a:gd name="T48" fmla="*/ 3 w 24"/>
                <a:gd name="T49" fmla="*/ 2 h 24"/>
                <a:gd name="T50" fmla="*/ 2 w 24"/>
                <a:gd name="T51" fmla="*/ 4 h 24"/>
                <a:gd name="T52" fmla="*/ 2 w 24"/>
                <a:gd name="T53" fmla="*/ 6 h 24"/>
                <a:gd name="T54" fmla="*/ 0 w 24"/>
                <a:gd name="T55" fmla="*/ 6 h 24"/>
                <a:gd name="T56" fmla="*/ 0 w 24"/>
                <a:gd name="T57" fmla="*/ 8 h 24"/>
                <a:gd name="T58" fmla="*/ 0 w 24"/>
                <a:gd name="T59" fmla="*/ 10 h 24"/>
                <a:gd name="T60" fmla="*/ 0 w 24"/>
                <a:gd name="T61" fmla="*/ 12 h 24"/>
                <a:gd name="T62" fmla="*/ 0 w 24"/>
                <a:gd name="T63" fmla="*/ 13 h 24"/>
                <a:gd name="T64" fmla="*/ 0 w 24"/>
                <a:gd name="T65" fmla="*/ 15 h 24"/>
                <a:gd name="T66" fmla="*/ 0 w 24"/>
                <a:gd name="T67" fmla="*/ 17 h 24"/>
                <a:gd name="T68" fmla="*/ 2 w 24"/>
                <a:gd name="T69" fmla="*/ 19 h 24"/>
                <a:gd name="T70" fmla="*/ 2 w 24"/>
                <a:gd name="T71" fmla="*/ 19 h 24"/>
                <a:gd name="T72" fmla="*/ 3 w 24"/>
                <a:gd name="T73" fmla="*/ 21 h 24"/>
                <a:gd name="T74" fmla="*/ 5 w 24"/>
                <a:gd name="T75" fmla="*/ 21 h 24"/>
                <a:gd name="T76" fmla="*/ 7 w 24"/>
                <a:gd name="T77" fmla="*/ 23 h 24"/>
                <a:gd name="T78" fmla="*/ 9 w 24"/>
                <a:gd name="T79" fmla="*/ 23 h 24"/>
                <a:gd name="T80" fmla="*/ 11 w 24"/>
                <a:gd name="T81" fmla="*/ 23 h 24"/>
                <a:gd name="T82" fmla="*/ 11 w 24"/>
                <a:gd name="T83" fmla="*/ 23 h 24"/>
                <a:gd name="T84" fmla="*/ 9 w 24"/>
                <a:gd name="T85" fmla="*/ 23 h 2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4"/>
                <a:gd name="T130" fmla="*/ 0 h 24"/>
                <a:gd name="T131" fmla="*/ 24 w 24"/>
                <a:gd name="T132" fmla="*/ 24 h 24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4" h="24">
                  <a:moveTo>
                    <a:pt x="9" y="23"/>
                  </a:moveTo>
                  <a:lnTo>
                    <a:pt x="13" y="23"/>
                  </a:lnTo>
                  <a:lnTo>
                    <a:pt x="15" y="23"/>
                  </a:lnTo>
                  <a:lnTo>
                    <a:pt x="15" y="21"/>
                  </a:lnTo>
                  <a:lnTo>
                    <a:pt x="17" y="21"/>
                  </a:lnTo>
                  <a:lnTo>
                    <a:pt x="19" y="19"/>
                  </a:lnTo>
                  <a:lnTo>
                    <a:pt x="21" y="19"/>
                  </a:lnTo>
                  <a:lnTo>
                    <a:pt x="21" y="17"/>
                  </a:lnTo>
                  <a:lnTo>
                    <a:pt x="21" y="15"/>
                  </a:lnTo>
                  <a:lnTo>
                    <a:pt x="23" y="13"/>
                  </a:lnTo>
                  <a:lnTo>
                    <a:pt x="23" y="12"/>
                  </a:lnTo>
                  <a:lnTo>
                    <a:pt x="23" y="10"/>
                  </a:lnTo>
                  <a:lnTo>
                    <a:pt x="21" y="8"/>
                  </a:lnTo>
                  <a:lnTo>
                    <a:pt x="21" y="6"/>
                  </a:lnTo>
                  <a:lnTo>
                    <a:pt x="19" y="4"/>
                  </a:lnTo>
                  <a:lnTo>
                    <a:pt x="17" y="2"/>
                  </a:lnTo>
                  <a:lnTo>
                    <a:pt x="15" y="2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1" y="0"/>
                  </a:lnTo>
                  <a:lnTo>
                    <a:pt x="9" y="0"/>
                  </a:lnTo>
                  <a:lnTo>
                    <a:pt x="7" y="0"/>
                  </a:lnTo>
                  <a:lnTo>
                    <a:pt x="5" y="2"/>
                  </a:lnTo>
                  <a:lnTo>
                    <a:pt x="3" y="2"/>
                  </a:lnTo>
                  <a:lnTo>
                    <a:pt x="2" y="4"/>
                  </a:lnTo>
                  <a:lnTo>
                    <a:pt x="2" y="6"/>
                  </a:lnTo>
                  <a:lnTo>
                    <a:pt x="0" y="6"/>
                  </a:lnTo>
                  <a:lnTo>
                    <a:pt x="0" y="8"/>
                  </a:lnTo>
                  <a:lnTo>
                    <a:pt x="0" y="10"/>
                  </a:lnTo>
                  <a:lnTo>
                    <a:pt x="0" y="12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0" y="17"/>
                  </a:lnTo>
                  <a:lnTo>
                    <a:pt x="2" y="19"/>
                  </a:lnTo>
                  <a:lnTo>
                    <a:pt x="3" y="21"/>
                  </a:lnTo>
                  <a:lnTo>
                    <a:pt x="5" y="21"/>
                  </a:lnTo>
                  <a:lnTo>
                    <a:pt x="7" y="23"/>
                  </a:lnTo>
                  <a:lnTo>
                    <a:pt x="9" y="23"/>
                  </a:lnTo>
                  <a:lnTo>
                    <a:pt x="11" y="23"/>
                  </a:lnTo>
                  <a:lnTo>
                    <a:pt x="9" y="23"/>
                  </a:lnTo>
                </a:path>
              </a:pathLst>
            </a:custGeom>
            <a:solidFill>
              <a:srgbClr val="000000"/>
            </a:solidFill>
            <a:ln w="9525" cap="rnd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25" name="Freeform 41"/>
            <p:cNvSpPr>
              <a:spLocks/>
            </p:cNvSpPr>
            <p:nvPr/>
          </p:nvSpPr>
          <p:spPr bwMode="auto">
            <a:xfrm>
              <a:off x="2735" y="3214"/>
              <a:ext cx="24" cy="24"/>
            </a:xfrm>
            <a:custGeom>
              <a:avLst/>
              <a:gdLst>
                <a:gd name="T0" fmla="*/ 9 w 24"/>
                <a:gd name="T1" fmla="*/ 23 h 24"/>
                <a:gd name="T2" fmla="*/ 13 w 24"/>
                <a:gd name="T3" fmla="*/ 23 h 24"/>
                <a:gd name="T4" fmla="*/ 15 w 24"/>
                <a:gd name="T5" fmla="*/ 23 h 24"/>
                <a:gd name="T6" fmla="*/ 15 w 24"/>
                <a:gd name="T7" fmla="*/ 23 h 24"/>
                <a:gd name="T8" fmla="*/ 17 w 24"/>
                <a:gd name="T9" fmla="*/ 21 h 24"/>
                <a:gd name="T10" fmla="*/ 19 w 24"/>
                <a:gd name="T11" fmla="*/ 19 h 24"/>
                <a:gd name="T12" fmla="*/ 19 w 24"/>
                <a:gd name="T13" fmla="*/ 19 h 24"/>
                <a:gd name="T14" fmla="*/ 21 w 24"/>
                <a:gd name="T15" fmla="*/ 17 h 24"/>
                <a:gd name="T16" fmla="*/ 21 w 24"/>
                <a:gd name="T17" fmla="*/ 15 h 24"/>
                <a:gd name="T18" fmla="*/ 23 w 24"/>
                <a:gd name="T19" fmla="*/ 13 h 24"/>
                <a:gd name="T20" fmla="*/ 23 w 24"/>
                <a:gd name="T21" fmla="*/ 11 h 24"/>
                <a:gd name="T22" fmla="*/ 23 w 24"/>
                <a:gd name="T23" fmla="*/ 10 h 24"/>
                <a:gd name="T24" fmla="*/ 21 w 24"/>
                <a:gd name="T25" fmla="*/ 8 h 24"/>
                <a:gd name="T26" fmla="*/ 21 w 24"/>
                <a:gd name="T27" fmla="*/ 6 h 24"/>
                <a:gd name="T28" fmla="*/ 19 w 24"/>
                <a:gd name="T29" fmla="*/ 6 h 24"/>
                <a:gd name="T30" fmla="*/ 19 w 24"/>
                <a:gd name="T31" fmla="*/ 4 h 24"/>
                <a:gd name="T32" fmla="*/ 17 w 24"/>
                <a:gd name="T33" fmla="*/ 2 h 24"/>
                <a:gd name="T34" fmla="*/ 15 w 24"/>
                <a:gd name="T35" fmla="*/ 2 h 24"/>
                <a:gd name="T36" fmla="*/ 15 w 24"/>
                <a:gd name="T37" fmla="*/ 0 h 24"/>
                <a:gd name="T38" fmla="*/ 13 w 24"/>
                <a:gd name="T39" fmla="*/ 0 h 24"/>
                <a:gd name="T40" fmla="*/ 11 w 24"/>
                <a:gd name="T41" fmla="*/ 0 h 24"/>
                <a:gd name="T42" fmla="*/ 9 w 24"/>
                <a:gd name="T43" fmla="*/ 0 h 24"/>
                <a:gd name="T44" fmla="*/ 7 w 24"/>
                <a:gd name="T45" fmla="*/ 0 h 24"/>
                <a:gd name="T46" fmla="*/ 5 w 24"/>
                <a:gd name="T47" fmla="*/ 2 h 24"/>
                <a:gd name="T48" fmla="*/ 3 w 24"/>
                <a:gd name="T49" fmla="*/ 2 h 24"/>
                <a:gd name="T50" fmla="*/ 2 w 24"/>
                <a:gd name="T51" fmla="*/ 4 h 24"/>
                <a:gd name="T52" fmla="*/ 2 w 24"/>
                <a:gd name="T53" fmla="*/ 6 h 24"/>
                <a:gd name="T54" fmla="*/ 0 w 24"/>
                <a:gd name="T55" fmla="*/ 6 h 24"/>
                <a:gd name="T56" fmla="*/ 0 w 24"/>
                <a:gd name="T57" fmla="*/ 8 h 24"/>
                <a:gd name="T58" fmla="*/ 0 w 24"/>
                <a:gd name="T59" fmla="*/ 10 h 24"/>
                <a:gd name="T60" fmla="*/ 0 w 24"/>
                <a:gd name="T61" fmla="*/ 11 h 24"/>
                <a:gd name="T62" fmla="*/ 0 w 24"/>
                <a:gd name="T63" fmla="*/ 13 h 24"/>
                <a:gd name="T64" fmla="*/ 0 w 24"/>
                <a:gd name="T65" fmla="*/ 15 h 24"/>
                <a:gd name="T66" fmla="*/ 0 w 24"/>
                <a:gd name="T67" fmla="*/ 17 h 24"/>
                <a:gd name="T68" fmla="*/ 2 w 24"/>
                <a:gd name="T69" fmla="*/ 19 h 24"/>
                <a:gd name="T70" fmla="*/ 2 w 24"/>
                <a:gd name="T71" fmla="*/ 19 h 24"/>
                <a:gd name="T72" fmla="*/ 3 w 24"/>
                <a:gd name="T73" fmla="*/ 21 h 24"/>
                <a:gd name="T74" fmla="*/ 5 w 24"/>
                <a:gd name="T75" fmla="*/ 23 h 24"/>
                <a:gd name="T76" fmla="*/ 7 w 24"/>
                <a:gd name="T77" fmla="*/ 23 h 24"/>
                <a:gd name="T78" fmla="*/ 9 w 24"/>
                <a:gd name="T79" fmla="*/ 23 h 24"/>
                <a:gd name="T80" fmla="*/ 11 w 24"/>
                <a:gd name="T81" fmla="*/ 23 h 24"/>
                <a:gd name="T82" fmla="*/ 11 w 24"/>
                <a:gd name="T83" fmla="*/ 23 h 24"/>
                <a:gd name="T84" fmla="*/ 9 w 24"/>
                <a:gd name="T85" fmla="*/ 23 h 2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4"/>
                <a:gd name="T130" fmla="*/ 0 h 24"/>
                <a:gd name="T131" fmla="*/ 24 w 24"/>
                <a:gd name="T132" fmla="*/ 24 h 24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4" h="24">
                  <a:moveTo>
                    <a:pt x="9" y="23"/>
                  </a:moveTo>
                  <a:lnTo>
                    <a:pt x="13" y="23"/>
                  </a:lnTo>
                  <a:lnTo>
                    <a:pt x="15" y="23"/>
                  </a:lnTo>
                  <a:lnTo>
                    <a:pt x="17" y="21"/>
                  </a:lnTo>
                  <a:lnTo>
                    <a:pt x="19" y="19"/>
                  </a:lnTo>
                  <a:lnTo>
                    <a:pt x="21" y="17"/>
                  </a:lnTo>
                  <a:lnTo>
                    <a:pt x="21" y="15"/>
                  </a:lnTo>
                  <a:lnTo>
                    <a:pt x="23" y="13"/>
                  </a:lnTo>
                  <a:lnTo>
                    <a:pt x="23" y="11"/>
                  </a:lnTo>
                  <a:lnTo>
                    <a:pt x="23" y="10"/>
                  </a:lnTo>
                  <a:lnTo>
                    <a:pt x="21" y="8"/>
                  </a:lnTo>
                  <a:lnTo>
                    <a:pt x="21" y="6"/>
                  </a:lnTo>
                  <a:lnTo>
                    <a:pt x="19" y="6"/>
                  </a:lnTo>
                  <a:lnTo>
                    <a:pt x="19" y="4"/>
                  </a:lnTo>
                  <a:lnTo>
                    <a:pt x="17" y="2"/>
                  </a:lnTo>
                  <a:lnTo>
                    <a:pt x="15" y="2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1" y="0"/>
                  </a:lnTo>
                  <a:lnTo>
                    <a:pt x="9" y="0"/>
                  </a:lnTo>
                  <a:lnTo>
                    <a:pt x="7" y="0"/>
                  </a:lnTo>
                  <a:lnTo>
                    <a:pt x="5" y="2"/>
                  </a:lnTo>
                  <a:lnTo>
                    <a:pt x="3" y="2"/>
                  </a:lnTo>
                  <a:lnTo>
                    <a:pt x="2" y="4"/>
                  </a:lnTo>
                  <a:lnTo>
                    <a:pt x="2" y="6"/>
                  </a:lnTo>
                  <a:lnTo>
                    <a:pt x="0" y="6"/>
                  </a:lnTo>
                  <a:lnTo>
                    <a:pt x="0" y="8"/>
                  </a:lnTo>
                  <a:lnTo>
                    <a:pt x="0" y="10"/>
                  </a:lnTo>
                  <a:lnTo>
                    <a:pt x="0" y="11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0" y="17"/>
                  </a:lnTo>
                  <a:lnTo>
                    <a:pt x="2" y="19"/>
                  </a:lnTo>
                  <a:lnTo>
                    <a:pt x="3" y="21"/>
                  </a:lnTo>
                  <a:lnTo>
                    <a:pt x="5" y="23"/>
                  </a:lnTo>
                  <a:lnTo>
                    <a:pt x="7" y="23"/>
                  </a:lnTo>
                  <a:lnTo>
                    <a:pt x="9" y="23"/>
                  </a:lnTo>
                  <a:lnTo>
                    <a:pt x="11" y="23"/>
                  </a:lnTo>
                  <a:lnTo>
                    <a:pt x="9" y="23"/>
                  </a:lnTo>
                </a:path>
              </a:pathLst>
            </a:custGeom>
            <a:solidFill>
              <a:srgbClr val="000000"/>
            </a:solidFill>
            <a:ln w="9525" cap="rnd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26" name="Line 42"/>
            <p:cNvSpPr>
              <a:spLocks noChangeShapeType="1"/>
            </p:cNvSpPr>
            <p:nvPr/>
          </p:nvSpPr>
          <p:spPr bwMode="auto">
            <a:xfrm flipH="1" flipV="1">
              <a:off x="2784" y="3197"/>
              <a:ext cx="35" cy="5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27" name="Rectangle 43"/>
            <p:cNvSpPr>
              <a:spLocks noChangeArrowheads="1"/>
            </p:cNvSpPr>
            <p:nvPr/>
          </p:nvSpPr>
          <p:spPr bwMode="auto">
            <a:xfrm>
              <a:off x="2737" y="3118"/>
              <a:ext cx="124" cy="1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sz="600">
                  <a:solidFill>
                    <a:srgbClr val="000000"/>
                  </a:solidFill>
                  <a:latin typeface="+mj-lt"/>
                </a:rPr>
                <a:t>6</a:t>
              </a:r>
            </a:p>
          </p:txBody>
        </p:sp>
        <p:sp>
          <p:nvSpPr>
            <p:cNvPr id="54328" name="Line 44"/>
            <p:cNvSpPr>
              <a:spLocks noChangeShapeType="1"/>
            </p:cNvSpPr>
            <p:nvPr/>
          </p:nvSpPr>
          <p:spPr bwMode="auto">
            <a:xfrm flipH="1" flipV="1">
              <a:off x="2532" y="2527"/>
              <a:ext cx="440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29" name="Freeform 45"/>
            <p:cNvSpPr>
              <a:spLocks/>
            </p:cNvSpPr>
            <p:nvPr/>
          </p:nvSpPr>
          <p:spPr bwMode="auto">
            <a:xfrm>
              <a:off x="2692" y="2722"/>
              <a:ext cx="890" cy="284"/>
            </a:xfrm>
            <a:custGeom>
              <a:avLst/>
              <a:gdLst>
                <a:gd name="T0" fmla="*/ 889 w 935"/>
                <a:gd name="T1" fmla="*/ 283 h 284"/>
                <a:gd name="T2" fmla="*/ 0 w 935"/>
                <a:gd name="T3" fmla="*/ 283 h 284"/>
                <a:gd name="T4" fmla="*/ 0 w 935"/>
                <a:gd name="T5" fmla="*/ 0 h 284"/>
                <a:gd name="T6" fmla="*/ 0 60000 65536"/>
                <a:gd name="T7" fmla="*/ 0 60000 65536"/>
                <a:gd name="T8" fmla="*/ 0 60000 65536"/>
                <a:gd name="T9" fmla="*/ 0 w 935"/>
                <a:gd name="T10" fmla="*/ 0 h 284"/>
                <a:gd name="T11" fmla="*/ 935 w 935"/>
                <a:gd name="T12" fmla="*/ 284 h 28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35" h="284">
                  <a:moveTo>
                    <a:pt x="934" y="283"/>
                  </a:moveTo>
                  <a:lnTo>
                    <a:pt x="0" y="283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triangl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30" name="Freeform 46"/>
            <p:cNvSpPr>
              <a:spLocks/>
            </p:cNvSpPr>
            <p:nvPr/>
          </p:nvSpPr>
          <p:spPr bwMode="auto">
            <a:xfrm>
              <a:off x="3582" y="1917"/>
              <a:ext cx="93" cy="1777"/>
            </a:xfrm>
            <a:custGeom>
              <a:avLst/>
              <a:gdLst>
                <a:gd name="T0" fmla="*/ 90 w 93"/>
                <a:gd name="T1" fmla="*/ 1776 h 1777"/>
                <a:gd name="T2" fmla="*/ 92 w 93"/>
                <a:gd name="T3" fmla="*/ 0 h 1777"/>
                <a:gd name="T4" fmla="*/ 0 w 93"/>
                <a:gd name="T5" fmla="*/ 0 h 1777"/>
                <a:gd name="T6" fmla="*/ 0 w 93"/>
                <a:gd name="T7" fmla="*/ 1776 h 1777"/>
                <a:gd name="T8" fmla="*/ 92 w 93"/>
                <a:gd name="T9" fmla="*/ 1776 h 1777"/>
                <a:gd name="T10" fmla="*/ 92 w 93"/>
                <a:gd name="T11" fmla="*/ 1776 h 177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3"/>
                <a:gd name="T19" fmla="*/ 0 h 1777"/>
                <a:gd name="T20" fmla="*/ 93 w 93"/>
                <a:gd name="T21" fmla="*/ 1777 h 177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3" h="1777">
                  <a:moveTo>
                    <a:pt x="90" y="1776"/>
                  </a:moveTo>
                  <a:lnTo>
                    <a:pt x="92" y="0"/>
                  </a:lnTo>
                  <a:lnTo>
                    <a:pt x="0" y="0"/>
                  </a:lnTo>
                  <a:lnTo>
                    <a:pt x="0" y="1776"/>
                  </a:lnTo>
                  <a:lnTo>
                    <a:pt x="92" y="1776"/>
                  </a:lnTo>
                </a:path>
              </a:pathLst>
            </a:custGeom>
            <a:solidFill>
              <a:srgbClr val="CCECFF"/>
            </a:solidFill>
            <a:ln w="190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31" name="Freeform 47"/>
            <p:cNvSpPr>
              <a:spLocks/>
            </p:cNvSpPr>
            <p:nvPr/>
          </p:nvSpPr>
          <p:spPr bwMode="auto">
            <a:xfrm>
              <a:off x="2899" y="1955"/>
              <a:ext cx="365" cy="422"/>
            </a:xfrm>
            <a:custGeom>
              <a:avLst/>
              <a:gdLst>
                <a:gd name="T0" fmla="*/ 0 w 301"/>
                <a:gd name="T1" fmla="*/ 0 h 422"/>
                <a:gd name="T2" fmla="*/ 0 w 301"/>
                <a:gd name="T3" fmla="*/ 170 h 422"/>
                <a:gd name="T4" fmla="*/ 75 w 301"/>
                <a:gd name="T5" fmla="*/ 210 h 422"/>
                <a:gd name="T6" fmla="*/ 0 w 301"/>
                <a:gd name="T7" fmla="*/ 251 h 422"/>
                <a:gd name="T8" fmla="*/ 0 w 301"/>
                <a:gd name="T9" fmla="*/ 421 h 422"/>
                <a:gd name="T10" fmla="*/ 364 w 301"/>
                <a:gd name="T11" fmla="*/ 285 h 422"/>
                <a:gd name="T12" fmla="*/ 364 w 301"/>
                <a:gd name="T13" fmla="*/ 138 h 422"/>
                <a:gd name="T14" fmla="*/ 0 w 301"/>
                <a:gd name="T15" fmla="*/ 0 h 422"/>
                <a:gd name="T16" fmla="*/ 0 w 301"/>
                <a:gd name="T17" fmla="*/ 0 h 42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01"/>
                <a:gd name="T28" fmla="*/ 0 h 422"/>
                <a:gd name="T29" fmla="*/ 301 w 301"/>
                <a:gd name="T30" fmla="*/ 422 h 422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01" h="422">
                  <a:moveTo>
                    <a:pt x="0" y="0"/>
                  </a:moveTo>
                  <a:lnTo>
                    <a:pt x="0" y="170"/>
                  </a:lnTo>
                  <a:lnTo>
                    <a:pt x="62" y="210"/>
                  </a:lnTo>
                  <a:lnTo>
                    <a:pt x="0" y="251"/>
                  </a:lnTo>
                  <a:lnTo>
                    <a:pt x="0" y="421"/>
                  </a:lnTo>
                  <a:lnTo>
                    <a:pt x="300" y="285"/>
                  </a:lnTo>
                  <a:lnTo>
                    <a:pt x="300" y="138"/>
                  </a:lnTo>
                  <a:lnTo>
                    <a:pt x="0" y="0"/>
                  </a:lnTo>
                </a:path>
              </a:pathLst>
            </a:custGeom>
            <a:solidFill>
              <a:srgbClr val="CCFF99"/>
            </a:solidFill>
            <a:ln w="190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32" name="Freeform 48"/>
            <p:cNvSpPr>
              <a:spLocks/>
            </p:cNvSpPr>
            <p:nvPr/>
          </p:nvSpPr>
          <p:spPr bwMode="auto">
            <a:xfrm>
              <a:off x="2969" y="2461"/>
              <a:ext cx="391" cy="458"/>
            </a:xfrm>
            <a:custGeom>
              <a:avLst/>
              <a:gdLst>
                <a:gd name="T0" fmla="*/ 0 w 300"/>
                <a:gd name="T1" fmla="*/ 0 h 422"/>
                <a:gd name="T2" fmla="*/ 0 w 300"/>
                <a:gd name="T3" fmla="*/ 186 h 422"/>
                <a:gd name="T4" fmla="*/ 80 w 300"/>
                <a:gd name="T5" fmla="*/ 229 h 422"/>
                <a:gd name="T6" fmla="*/ 0 w 300"/>
                <a:gd name="T7" fmla="*/ 272 h 422"/>
                <a:gd name="T8" fmla="*/ 0 w 300"/>
                <a:gd name="T9" fmla="*/ 457 h 422"/>
                <a:gd name="T10" fmla="*/ 390 w 300"/>
                <a:gd name="T11" fmla="*/ 309 h 422"/>
                <a:gd name="T12" fmla="*/ 390 w 300"/>
                <a:gd name="T13" fmla="*/ 148 h 422"/>
                <a:gd name="T14" fmla="*/ 0 w 300"/>
                <a:gd name="T15" fmla="*/ 0 h 422"/>
                <a:gd name="T16" fmla="*/ 0 w 300"/>
                <a:gd name="T17" fmla="*/ 0 h 42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00"/>
                <a:gd name="T28" fmla="*/ 0 h 422"/>
                <a:gd name="T29" fmla="*/ 300 w 300"/>
                <a:gd name="T30" fmla="*/ 422 h 422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00" h="422">
                  <a:moveTo>
                    <a:pt x="0" y="0"/>
                  </a:moveTo>
                  <a:lnTo>
                    <a:pt x="0" y="171"/>
                  </a:lnTo>
                  <a:lnTo>
                    <a:pt x="61" y="211"/>
                  </a:lnTo>
                  <a:lnTo>
                    <a:pt x="0" y="251"/>
                  </a:lnTo>
                  <a:lnTo>
                    <a:pt x="0" y="421"/>
                  </a:lnTo>
                  <a:lnTo>
                    <a:pt x="299" y="285"/>
                  </a:lnTo>
                  <a:lnTo>
                    <a:pt x="299" y="136"/>
                  </a:lnTo>
                  <a:lnTo>
                    <a:pt x="0" y="0"/>
                  </a:lnTo>
                </a:path>
              </a:pathLst>
            </a:custGeom>
            <a:solidFill>
              <a:srgbClr val="CCFF99"/>
            </a:solidFill>
            <a:ln w="190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33" name="Freeform 49"/>
            <p:cNvSpPr>
              <a:spLocks/>
            </p:cNvSpPr>
            <p:nvPr/>
          </p:nvSpPr>
          <p:spPr bwMode="auto">
            <a:xfrm>
              <a:off x="2675" y="2170"/>
              <a:ext cx="151" cy="239"/>
            </a:xfrm>
            <a:custGeom>
              <a:avLst/>
              <a:gdLst>
                <a:gd name="T0" fmla="*/ 73 w 151"/>
                <a:gd name="T1" fmla="*/ 236 h 239"/>
                <a:gd name="T2" fmla="*/ 86 w 151"/>
                <a:gd name="T3" fmla="*/ 236 h 239"/>
                <a:gd name="T4" fmla="*/ 98 w 151"/>
                <a:gd name="T5" fmla="*/ 232 h 239"/>
                <a:gd name="T6" fmla="*/ 109 w 151"/>
                <a:gd name="T7" fmla="*/ 224 h 239"/>
                <a:gd name="T8" fmla="*/ 119 w 151"/>
                <a:gd name="T9" fmla="*/ 215 h 239"/>
                <a:gd name="T10" fmla="*/ 129 w 151"/>
                <a:gd name="T11" fmla="*/ 203 h 239"/>
                <a:gd name="T12" fmla="*/ 134 w 151"/>
                <a:gd name="T13" fmla="*/ 188 h 239"/>
                <a:gd name="T14" fmla="*/ 142 w 151"/>
                <a:gd name="T15" fmla="*/ 172 h 239"/>
                <a:gd name="T16" fmla="*/ 146 w 151"/>
                <a:gd name="T17" fmla="*/ 155 h 239"/>
                <a:gd name="T18" fmla="*/ 150 w 151"/>
                <a:gd name="T19" fmla="*/ 138 h 239"/>
                <a:gd name="T20" fmla="*/ 150 w 151"/>
                <a:gd name="T21" fmla="*/ 119 h 239"/>
                <a:gd name="T22" fmla="*/ 150 w 151"/>
                <a:gd name="T23" fmla="*/ 100 h 239"/>
                <a:gd name="T24" fmla="*/ 146 w 151"/>
                <a:gd name="T25" fmla="*/ 80 h 239"/>
                <a:gd name="T26" fmla="*/ 142 w 151"/>
                <a:gd name="T27" fmla="*/ 63 h 239"/>
                <a:gd name="T28" fmla="*/ 134 w 151"/>
                <a:gd name="T29" fmla="*/ 48 h 239"/>
                <a:gd name="T30" fmla="*/ 129 w 151"/>
                <a:gd name="T31" fmla="*/ 34 h 239"/>
                <a:gd name="T32" fmla="*/ 119 w 151"/>
                <a:gd name="T33" fmla="*/ 23 h 239"/>
                <a:gd name="T34" fmla="*/ 109 w 151"/>
                <a:gd name="T35" fmla="*/ 13 h 239"/>
                <a:gd name="T36" fmla="*/ 98 w 151"/>
                <a:gd name="T37" fmla="*/ 6 h 239"/>
                <a:gd name="T38" fmla="*/ 86 w 151"/>
                <a:gd name="T39" fmla="*/ 0 h 239"/>
                <a:gd name="T40" fmla="*/ 75 w 151"/>
                <a:gd name="T41" fmla="*/ 0 h 239"/>
                <a:gd name="T42" fmla="*/ 62 w 151"/>
                <a:gd name="T43" fmla="*/ 0 h 239"/>
                <a:gd name="T44" fmla="*/ 50 w 151"/>
                <a:gd name="T45" fmla="*/ 6 h 239"/>
                <a:gd name="T46" fmla="*/ 40 w 151"/>
                <a:gd name="T47" fmla="*/ 13 h 239"/>
                <a:gd name="T48" fmla="*/ 31 w 151"/>
                <a:gd name="T49" fmla="*/ 23 h 239"/>
                <a:gd name="T50" fmla="*/ 21 w 151"/>
                <a:gd name="T51" fmla="*/ 34 h 239"/>
                <a:gd name="T52" fmla="*/ 14 w 151"/>
                <a:gd name="T53" fmla="*/ 48 h 239"/>
                <a:gd name="T54" fmla="*/ 8 w 151"/>
                <a:gd name="T55" fmla="*/ 63 h 239"/>
                <a:gd name="T56" fmla="*/ 4 w 151"/>
                <a:gd name="T57" fmla="*/ 80 h 239"/>
                <a:gd name="T58" fmla="*/ 0 w 151"/>
                <a:gd name="T59" fmla="*/ 100 h 239"/>
                <a:gd name="T60" fmla="*/ 0 w 151"/>
                <a:gd name="T61" fmla="*/ 119 h 239"/>
                <a:gd name="T62" fmla="*/ 0 w 151"/>
                <a:gd name="T63" fmla="*/ 138 h 239"/>
                <a:gd name="T64" fmla="*/ 4 w 151"/>
                <a:gd name="T65" fmla="*/ 155 h 239"/>
                <a:gd name="T66" fmla="*/ 8 w 151"/>
                <a:gd name="T67" fmla="*/ 172 h 239"/>
                <a:gd name="T68" fmla="*/ 14 w 151"/>
                <a:gd name="T69" fmla="*/ 188 h 239"/>
                <a:gd name="T70" fmla="*/ 21 w 151"/>
                <a:gd name="T71" fmla="*/ 203 h 239"/>
                <a:gd name="T72" fmla="*/ 31 w 151"/>
                <a:gd name="T73" fmla="*/ 215 h 239"/>
                <a:gd name="T74" fmla="*/ 40 w 151"/>
                <a:gd name="T75" fmla="*/ 224 h 239"/>
                <a:gd name="T76" fmla="*/ 50 w 151"/>
                <a:gd name="T77" fmla="*/ 232 h 239"/>
                <a:gd name="T78" fmla="*/ 62 w 151"/>
                <a:gd name="T79" fmla="*/ 236 h 239"/>
                <a:gd name="T80" fmla="*/ 75 w 151"/>
                <a:gd name="T81" fmla="*/ 238 h 239"/>
                <a:gd name="T82" fmla="*/ 75 w 151"/>
                <a:gd name="T83" fmla="*/ 238 h 239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151"/>
                <a:gd name="T127" fmla="*/ 0 h 239"/>
                <a:gd name="T128" fmla="*/ 151 w 151"/>
                <a:gd name="T129" fmla="*/ 239 h 239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151" h="239">
                  <a:moveTo>
                    <a:pt x="73" y="236"/>
                  </a:moveTo>
                  <a:lnTo>
                    <a:pt x="86" y="236"/>
                  </a:lnTo>
                  <a:lnTo>
                    <a:pt x="98" y="232"/>
                  </a:lnTo>
                  <a:lnTo>
                    <a:pt x="109" y="224"/>
                  </a:lnTo>
                  <a:lnTo>
                    <a:pt x="119" y="215"/>
                  </a:lnTo>
                  <a:lnTo>
                    <a:pt x="129" y="203"/>
                  </a:lnTo>
                  <a:lnTo>
                    <a:pt x="134" y="188"/>
                  </a:lnTo>
                  <a:lnTo>
                    <a:pt x="142" y="172"/>
                  </a:lnTo>
                  <a:lnTo>
                    <a:pt x="146" y="155"/>
                  </a:lnTo>
                  <a:lnTo>
                    <a:pt x="150" y="138"/>
                  </a:lnTo>
                  <a:lnTo>
                    <a:pt x="150" y="119"/>
                  </a:lnTo>
                  <a:lnTo>
                    <a:pt x="150" y="100"/>
                  </a:lnTo>
                  <a:lnTo>
                    <a:pt x="146" y="80"/>
                  </a:lnTo>
                  <a:lnTo>
                    <a:pt x="142" y="63"/>
                  </a:lnTo>
                  <a:lnTo>
                    <a:pt x="134" y="48"/>
                  </a:lnTo>
                  <a:lnTo>
                    <a:pt x="129" y="34"/>
                  </a:lnTo>
                  <a:lnTo>
                    <a:pt x="119" y="23"/>
                  </a:lnTo>
                  <a:lnTo>
                    <a:pt x="109" y="13"/>
                  </a:lnTo>
                  <a:lnTo>
                    <a:pt x="98" y="6"/>
                  </a:lnTo>
                  <a:lnTo>
                    <a:pt x="86" y="0"/>
                  </a:lnTo>
                  <a:lnTo>
                    <a:pt x="75" y="0"/>
                  </a:lnTo>
                  <a:lnTo>
                    <a:pt x="62" y="0"/>
                  </a:lnTo>
                  <a:lnTo>
                    <a:pt x="50" y="6"/>
                  </a:lnTo>
                  <a:lnTo>
                    <a:pt x="40" y="13"/>
                  </a:lnTo>
                  <a:lnTo>
                    <a:pt x="31" y="23"/>
                  </a:lnTo>
                  <a:lnTo>
                    <a:pt x="21" y="34"/>
                  </a:lnTo>
                  <a:lnTo>
                    <a:pt x="14" y="48"/>
                  </a:lnTo>
                  <a:lnTo>
                    <a:pt x="8" y="63"/>
                  </a:lnTo>
                  <a:lnTo>
                    <a:pt x="4" y="80"/>
                  </a:lnTo>
                  <a:lnTo>
                    <a:pt x="0" y="100"/>
                  </a:lnTo>
                  <a:lnTo>
                    <a:pt x="0" y="119"/>
                  </a:lnTo>
                  <a:lnTo>
                    <a:pt x="0" y="138"/>
                  </a:lnTo>
                  <a:lnTo>
                    <a:pt x="4" y="155"/>
                  </a:lnTo>
                  <a:lnTo>
                    <a:pt x="8" y="172"/>
                  </a:lnTo>
                  <a:lnTo>
                    <a:pt x="14" y="188"/>
                  </a:lnTo>
                  <a:lnTo>
                    <a:pt x="21" y="203"/>
                  </a:lnTo>
                  <a:lnTo>
                    <a:pt x="31" y="215"/>
                  </a:lnTo>
                  <a:lnTo>
                    <a:pt x="40" y="224"/>
                  </a:lnTo>
                  <a:lnTo>
                    <a:pt x="50" y="232"/>
                  </a:lnTo>
                  <a:lnTo>
                    <a:pt x="62" y="236"/>
                  </a:lnTo>
                  <a:lnTo>
                    <a:pt x="75" y="238"/>
                  </a:lnTo>
                </a:path>
              </a:pathLst>
            </a:custGeom>
            <a:solidFill>
              <a:srgbClr val="EAEAEA"/>
            </a:solidFill>
            <a:ln w="190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34" name="Rectangle 50"/>
            <p:cNvSpPr>
              <a:spLocks noChangeArrowheads="1"/>
            </p:cNvSpPr>
            <p:nvPr/>
          </p:nvSpPr>
          <p:spPr bwMode="auto">
            <a:xfrm>
              <a:off x="2991" y="2737"/>
              <a:ext cx="138" cy="1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dirty="0">
                  <a:solidFill>
                    <a:srgbClr val="000000"/>
                  </a:solidFill>
                  <a:latin typeface="+mj-lt"/>
                </a:rPr>
                <a:t>ALU</a:t>
              </a:r>
            </a:p>
          </p:txBody>
        </p:sp>
        <p:sp>
          <p:nvSpPr>
            <p:cNvPr id="54335" name="Rectangle 51"/>
            <p:cNvSpPr>
              <a:spLocks noChangeArrowheads="1"/>
            </p:cNvSpPr>
            <p:nvPr/>
          </p:nvSpPr>
          <p:spPr bwMode="auto">
            <a:xfrm>
              <a:off x="3183" y="2697"/>
              <a:ext cx="132" cy="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 dirty="0">
                  <a:solidFill>
                    <a:srgbClr val="000000"/>
                  </a:solidFill>
                  <a:latin typeface="+mj-lt"/>
                </a:rPr>
                <a:t>result</a:t>
              </a:r>
            </a:p>
          </p:txBody>
        </p:sp>
        <p:sp>
          <p:nvSpPr>
            <p:cNvPr id="54336" name="Rectangle 52"/>
            <p:cNvSpPr>
              <a:spLocks noChangeArrowheads="1"/>
            </p:cNvSpPr>
            <p:nvPr/>
          </p:nvSpPr>
          <p:spPr bwMode="auto">
            <a:xfrm>
              <a:off x="3208" y="2604"/>
              <a:ext cx="127" cy="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 dirty="0">
                  <a:solidFill>
                    <a:srgbClr val="000000"/>
                  </a:solidFill>
                  <a:latin typeface="+mj-lt"/>
                </a:rPr>
                <a:t>z</a:t>
              </a:r>
              <a:r>
                <a:rPr lang="en-US" sz="800" dirty="0" smtClean="0">
                  <a:solidFill>
                    <a:srgbClr val="000000"/>
                  </a:solidFill>
                  <a:latin typeface="+mj-lt"/>
                </a:rPr>
                <a:t>ero?</a:t>
              </a:r>
              <a:endParaRPr lang="en-US" sz="500" dirty="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337" name="Rectangle 53"/>
            <p:cNvSpPr>
              <a:spLocks noChangeArrowheads="1"/>
            </p:cNvSpPr>
            <p:nvPr/>
          </p:nvSpPr>
          <p:spPr bwMode="auto">
            <a:xfrm>
              <a:off x="3105" y="2123"/>
              <a:ext cx="132" cy="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 dirty="0" smtClean="0">
                  <a:solidFill>
                    <a:srgbClr val="000000"/>
                  </a:solidFill>
                  <a:latin typeface="+mj-lt"/>
                </a:rPr>
                <a:t>result</a:t>
              </a:r>
              <a:endParaRPr lang="en-US" sz="500" dirty="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338" name="Rectangle 54"/>
            <p:cNvSpPr>
              <a:spLocks noChangeArrowheads="1"/>
            </p:cNvSpPr>
            <p:nvPr/>
          </p:nvSpPr>
          <p:spPr bwMode="auto">
            <a:xfrm>
              <a:off x="2928" y="2191"/>
              <a:ext cx="138" cy="1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dirty="0">
                  <a:solidFill>
                    <a:srgbClr val="000000"/>
                  </a:solidFill>
                  <a:latin typeface="+mj-lt"/>
                </a:rPr>
                <a:t>Add</a:t>
              </a:r>
            </a:p>
          </p:txBody>
        </p:sp>
        <p:sp>
          <p:nvSpPr>
            <p:cNvPr id="54339" name="Rectangle 55"/>
            <p:cNvSpPr>
              <a:spLocks noChangeArrowheads="1"/>
            </p:cNvSpPr>
            <p:nvPr/>
          </p:nvSpPr>
          <p:spPr bwMode="auto">
            <a:xfrm>
              <a:off x="2694" y="2232"/>
              <a:ext cx="90" cy="1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600" dirty="0">
                  <a:solidFill>
                    <a:srgbClr val="000000"/>
                  </a:solidFill>
                  <a:latin typeface="+mj-lt"/>
                </a:rPr>
                <a:t>Shift </a:t>
              </a:r>
            </a:p>
            <a:p>
              <a:r>
                <a:rPr lang="en-US" sz="600" dirty="0">
                  <a:solidFill>
                    <a:srgbClr val="000000"/>
                  </a:solidFill>
                  <a:latin typeface="+mj-lt"/>
                </a:rPr>
                <a:t>left 2</a:t>
              </a:r>
              <a:endParaRPr lang="en-US" sz="500" dirty="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340" name="Line 56"/>
            <p:cNvSpPr>
              <a:spLocks noChangeShapeType="1"/>
            </p:cNvSpPr>
            <p:nvPr/>
          </p:nvSpPr>
          <p:spPr bwMode="auto">
            <a:xfrm flipH="1" flipV="1">
              <a:off x="2907" y="2820"/>
              <a:ext cx="65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41" name="Line 57"/>
            <p:cNvSpPr>
              <a:spLocks noChangeShapeType="1"/>
            </p:cNvSpPr>
            <p:nvPr/>
          </p:nvSpPr>
          <p:spPr bwMode="auto">
            <a:xfrm flipH="1" flipV="1">
              <a:off x="2526" y="2721"/>
              <a:ext cx="290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42" name="Line 58"/>
            <p:cNvSpPr>
              <a:spLocks noChangeShapeType="1"/>
            </p:cNvSpPr>
            <p:nvPr/>
          </p:nvSpPr>
          <p:spPr bwMode="auto">
            <a:xfrm flipH="1" flipV="1">
              <a:off x="2746" y="2925"/>
              <a:ext cx="71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43" name="Line 59"/>
            <p:cNvSpPr>
              <a:spLocks noChangeShapeType="1"/>
            </p:cNvSpPr>
            <p:nvPr/>
          </p:nvSpPr>
          <p:spPr bwMode="auto">
            <a:xfrm flipH="1">
              <a:off x="3268" y="2163"/>
              <a:ext cx="308" cy="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44" name="Line 60"/>
            <p:cNvSpPr>
              <a:spLocks noChangeShapeType="1"/>
            </p:cNvSpPr>
            <p:nvPr/>
          </p:nvSpPr>
          <p:spPr bwMode="auto">
            <a:xfrm flipH="1" flipV="1">
              <a:off x="3355" y="2748"/>
              <a:ext cx="227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45" name="Line 61"/>
            <p:cNvSpPr>
              <a:spLocks noChangeShapeType="1"/>
            </p:cNvSpPr>
            <p:nvPr/>
          </p:nvSpPr>
          <p:spPr bwMode="auto">
            <a:xfrm flipH="1">
              <a:off x="2523" y="3451"/>
              <a:ext cx="254" cy="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46" name="Line 62"/>
            <p:cNvSpPr>
              <a:spLocks noChangeShapeType="1"/>
            </p:cNvSpPr>
            <p:nvPr/>
          </p:nvSpPr>
          <p:spPr bwMode="auto">
            <a:xfrm flipH="1" flipV="1">
              <a:off x="2526" y="3647"/>
              <a:ext cx="254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47" name="Rectangle 63"/>
            <p:cNvSpPr>
              <a:spLocks noChangeArrowheads="1"/>
            </p:cNvSpPr>
            <p:nvPr/>
          </p:nvSpPr>
          <p:spPr bwMode="auto">
            <a:xfrm>
              <a:off x="2914" y="3127"/>
              <a:ext cx="172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n-US" sz="800">
                  <a:solidFill>
                    <a:srgbClr val="EB7500"/>
                  </a:solidFill>
                  <a:latin typeface="+mj-lt"/>
                </a:rPr>
                <a:t>ALU</a:t>
              </a:r>
            </a:p>
            <a:p>
              <a:pPr algn="ctr"/>
              <a:r>
                <a:rPr lang="en-US" sz="800">
                  <a:solidFill>
                    <a:srgbClr val="EB7500"/>
                  </a:solidFill>
                  <a:latin typeface="+mj-lt"/>
                </a:rPr>
                <a:t>Control</a:t>
              </a:r>
              <a:endParaRPr lang="en-US" sz="500">
                <a:solidFill>
                  <a:srgbClr val="EB7500"/>
                </a:solidFill>
                <a:latin typeface="+mj-lt"/>
              </a:endParaRPr>
            </a:p>
          </p:txBody>
        </p:sp>
        <p:sp>
          <p:nvSpPr>
            <p:cNvPr id="54350" name="Line 66"/>
            <p:cNvSpPr>
              <a:spLocks noChangeShapeType="1"/>
            </p:cNvSpPr>
            <p:nvPr/>
          </p:nvSpPr>
          <p:spPr bwMode="auto">
            <a:xfrm flipH="1">
              <a:off x="2875" y="3555"/>
              <a:ext cx="702" cy="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51" name="Line 67"/>
            <p:cNvSpPr>
              <a:spLocks noChangeShapeType="1"/>
            </p:cNvSpPr>
            <p:nvPr/>
          </p:nvSpPr>
          <p:spPr bwMode="auto">
            <a:xfrm flipH="1" flipV="1">
              <a:off x="2826" y="2286"/>
              <a:ext cx="71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53" name="Rectangle 69"/>
            <p:cNvSpPr>
              <a:spLocks noChangeArrowheads="1"/>
            </p:cNvSpPr>
            <p:nvPr/>
          </p:nvSpPr>
          <p:spPr bwMode="auto">
            <a:xfrm>
              <a:off x="1824" y="2374"/>
              <a:ext cx="117" cy="1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800" dirty="0">
                  <a:solidFill>
                    <a:srgbClr val="000000"/>
                  </a:solidFill>
                  <a:latin typeface="+mj-lt"/>
                </a:rPr>
                <a:t>Read</a:t>
              </a:r>
            </a:p>
            <a:p>
              <a:pPr>
                <a:lnSpc>
                  <a:spcPct val="90000"/>
                </a:lnSpc>
              </a:pPr>
              <a:r>
                <a:rPr lang="en-US" sz="800" dirty="0" err="1">
                  <a:solidFill>
                    <a:srgbClr val="000000"/>
                  </a:solidFill>
                  <a:latin typeface="+mj-lt"/>
                </a:rPr>
                <a:t>reg</a:t>
              </a:r>
              <a:r>
                <a:rPr lang="en-US" sz="800" dirty="0">
                  <a:solidFill>
                    <a:srgbClr val="000000"/>
                  </a:solidFill>
                  <a:latin typeface="+mj-lt"/>
                </a:rPr>
                <a:t> 1</a:t>
              </a:r>
              <a:endParaRPr lang="en-US" sz="600" dirty="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354" name="Rectangle 70"/>
            <p:cNvSpPr>
              <a:spLocks noChangeArrowheads="1"/>
            </p:cNvSpPr>
            <p:nvPr/>
          </p:nvSpPr>
          <p:spPr bwMode="auto">
            <a:xfrm>
              <a:off x="1823" y="2524"/>
              <a:ext cx="117" cy="1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800" dirty="0">
                  <a:solidFill>
                    <a:srgbClr val="000000"/>
                  </a:solidFill>
                  <a:latin typeface="+mj-lt"/>
                </a:rPr>
                <a:t>Read</a:t>
              </a:r>
            </a:p>
            <a:p>
              <a:pPr>
                <a:lnSpc>
                  <a:spcPct val="90000"/>
                </a:lnSpc>
              </a:pPr>
              <a:r>
                <a:rPr lang="en-US" sz="800" dirty="0" err="1">
                  <a:solidFill>
                    <a:srgbClr val="000000"/>
                  </a:solidFill>
                  <a:latin typeface="+mj-lt"/>
                </a:rPr>
                <a:t>reg</a:t>
              </a:r>
              <a:r>
                <a:rPr lang="en-US" sz="800" dirty="0">
                  <a:solidFill>
                    <a:srgbClr val="000000"/>
                  </a:solidFill>
                  <a:latin typeface="+mj-lt"/>
                </a:rPr>
                <a:t> 2</a:t>
              </a:r>
              <a:endParaRPr lang="en-US" sz="600" dirty="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355" name="Rectangle 71"/>
            <p:cNvSpPr>
              <a:spLocks noChangeArrowheads="1"/>
            </p:cNvSpPr>
            <p:nvPr/>
          </p:nvSpPr>
          <p:spPr bwMode="auto">
            <a:xfrm>
              <a:off x="1830" y="2683"/>
              <a:ext cx="130" cy="1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800" dirty="0">
                  <a:solidFill>
                    <a:srgbClr val="000000"/>
                  </a:solidFill>
                  <a:latin typeface="+mj-lt"/>
                </a:rPr>
                <a:t>Write</a:t>
              </a:r>
            </a:p>
            <a:p>
              <a:pPr>
                <a:lnSpc>
                  <a:spcPct val="90000"/>
                </a:lnSpc>
              </a:pPr>
              <a:r>
                <a:rPr lang="en-US" sz="800" dirty="0" err="1">
                  <a:solidFill>
                    <a:srgbClr val="000000"/>
                  </a:solidFill>
                  <a:latin typeface="+mj-lt"/>
                </a:rPr>
                <a:t>reg</a:t>
              </a:r>
              <a:endParaRPr lang="en-US" sz="700" dirty="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356" name="Rectangle 72"/>
            <p:cNvSpPr>
              <a:spLocks noChangeArrowheads="1"/>
            </p:cNvSpPr>
            <p:nvPr/>
          </p:nvSpPr>
          <p:spPr bwMode="auto">
            <a:xfrm>
              <a:off x="1833" y="2836"/>
              <a:ext cx="130" cy="1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800" dirty="0">
                  <a:solidFill>
                    <a:srgbClr val="000000"/>
                  </a:solidFill>
                  <a:latin typeface="+mj-lt"/>
                </a:rPr>
                <a:t>Write</a:t>
              </a:r>
            </a:p>
            <a:p>
              <a:pPr>
                <a:lnSpc>
                  <a:spcPct val="90000"/>
                </a:lnSpc>
              </a:pPr>
              <a:r>
                <a:rPr lang="en-US" sz="800" dirty="0">
                  <a:solidFill>
                    <a:srgbClr val="000000"/>
                  </a:solidFill>
                  <a:latin typeface="+mj-lt"/>
                </a:rPr>
                <a:t>data</a:t>
              </a:r>
            </a:p>
          </p:txBody>
        </p:sp>
        <p:sp>
          <p:nvSpPr>
            <p:cNvPr id="54357" name="Rectangle 73"/>
            <p:cNvSpPr>
              <a:spLocks noChangeArrowheads="1"/>
            </p:cNvSpPr>
            <p:nvPr/>
          </p:nvSpPr>
          <p:spPr bwMode="auto">
            <a:xfrm>
              <a:off x="2139" y="2470"/>
              <a:ext cx="145" cy="1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800" dirty="0">
                  <a:solidFill>
                    <a:srgbClr val="000000"/>
                  </a:solidFill>
                  <a:latin typeface="+mj-lt"/>
                </a:rPr>
                <a:t>Read</a:t>
              </a:r>
            </a:p>
            <a:p>
              <a:pPr>
                <a:lnSpc>
                  <a:spcPct val="90000"/>
                </a:lnSpc>
              </a:pPr>
              <a:r>
                <a:rPr lang="en-US" sz="800" dirty="0">
                  <a:solidFill>
                    <a:srgbClr val="000000"/>
                  </a:solidFill>
                  <a:latin typeface="+mj-lt"/>
                </a:rPr>
                <a:t>data 1</a:t>
              </a:r>
              <a:endParaRPr lang="en-US" sz="500" dirty="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358" name="Rectangle 74"/>
            <p:cNvSpPr>
              <a:spLocks noChangeArrowheads="1"/>
            </p:cNvSpPr>
            <p:nvPr/>
          </p:nvSpPr>
          <p:spPr bwMode="auto">
            <a:xfrm>
              <a:off x="2145" y="2657"/>
              <a:ext cx="145" cy="1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800" dirty="0">
                  <a:solidFill>
                    <a:srgbClr val="000000"/>
                  </a:solidFill>
                  <a:latin typeface="+mj-lt"/>
                </a:rPr>
                <a:t>Read</a:t>
              </a:r>
            </a:p>
            <a:p>
              <a:pPr>
                <a:lnSpc>
                  <a:spcPct val="90000"/>
                </a:lnSpc>
              </a:pPr>
              <a:r>
                <a:rPr lang="en-US" sz="800" dirty="0">
                  <a:solidFill>
                    <a:srgbClr val="000000"/>
                  </a:solidFill>
                  <a:latin typeface="+mj-lt"/>
                </a:rPr>
                <a:t>data 2</a:t>
              </a:r>
              <a:endParaRPr lang="en-US" sz="600" dirty="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359" name="Rectangle 75"/>
            <p:cNvSpPr>
              <a:spLocks noChangeArrowheads="1"/>
            </p:cNvSpPr>
            <p:nvPr/>
          </p:nvSpPr>
          <p:spPr bwMode="auto">
            <a:xfrm rot="16200000">
              <a:off x="1828" y="2603"/>
              <a:ext cx="442" cy="1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>
                  <a:solidFill>
                    <a:srgbClr val="000000"/>
                  </a:solidFill>
                  <a:latin typeface="+mj-lt"/>
                </a:rPr>
                <a:t>Register File</a:t>
              </a:r>
            </a:p>
          </p:txBody>
        </p:sp>
        <p:sp>
          <p:nvSpPr>
            <p:cNvPr id="54360" name="Rectangle 76"/>
            <p:cNvSpPr>
              <a:spLocks noChangeArrowheads="1"/>
            </p:cNvSpPr>
            <p:nvPr/>
          </p:nvSpPr>
          <p:spPr bwMode="auto">
            <a:xfrm>
              <a:off x="1743" y="3137"/>
              <a:ext cx="154" cy="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900">
                  <a:solidFill>
                    <a:srgbClr val="000000"/>
                  </a:solidFill>
                  <a:latin typeface="+mj-lt"/>
                </a:rPr>
                <a:t>[15-0]</a:t>
              </a:r>
              <a:endParaRPr lang="en-US" sz="5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361" name="Rectangle 77"/>
            <p:cNvSpPr>
              <a:spLocks noChangeArrowheads="1"/>
            </p:cNvSpPr>
            <p:nvPr/>
          </p:nvSpPr>
          <p:spPr bwMode="auto">
            <a:xfrm>
              <a:off x="1740" y="3358"/>
              <a:ext cx="186" cy="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900">
                  <a:solidFill>
                    <a:srgbClr val="000000"/>
                  </a:solidFill>
                  <a:latin typeface="+mj-lt"/>
                </a:rPr>
                <a:t>[20-16]</a:t>
              </a:r>
            </a:p>
          </p:txBody>
        </p:sp>
        <p:sp>
          <p:nvSpPr>
            <p:cNvPr id="54362" name="Rectangle 78"/>
            <p:cNvSpPr>
              <a:spLocks noChangeArrowheads="1"/>
            </p:cNvSpPr>
            <p:nvPr/>
          </p:nvSpPr>
          <p:spPr bwMode="auto">
            <a:xfrm>
              <a:off x="1743" y="3550"/>
              <a:ext cx="186" cy="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900">
                  <a:solidFill>
                    <a:srgbClr val="000000"/>
                  </a:solidFill>
                  <a:latin typeface="+mj-lt"/>
                </a:rPr>
                <a:t>[15-11]</a:t>
              </a:r>
            </a:p>
          </p:txBody>
        </p:sp>
        <p:sp>
          <p:nvSpPr>
            <p:cNvPr id="54363" name="Freeform 79"/>
            <p:cNvSpPr>
              <a:spLocks/>
            </p:cNvSpPr>
            <p:nvPr/>
          </p:nvSpPr>
          <p:spPr bwMode="auto">
            <a:xfrm>
              <a:off x="1629" y="3213"/>
              <a:ext cx="24" cy="24"/>
            </a:xfrm>
            <a:custGeom>
              <a:avLst/>
              <a:gdLst>
                <a:gd name="T0" fmla="*/ 10 w 24"/>
                <a:gd name="T1" fmla="*/ 23 h 24"/>
                <a:gd name="T2" fmla="*/ 14 w 24"/>
                <a:gd name="T3" fmla="*/ 23 h 24"/>
                <a:gd name="T4" fmla="*/ 16 w 24"/>
                <a:gd name="T5" fmla="*/ 23 h 24"/>
                <a:gd name="T6" fmla="*/ 16 w 24"/>
                <a:gd name="T7" fmla="*/ 21 h 24"/>
                <a:gd name="T8" fmla="*/ 18 w 24"/>
                <a:gd name="T9" fmla="*/ 21 h 24"/>
                <a:gd name="T10" fmla="*/ 20 w 24"/>
                <a:gd name="T11" fmla="*/ 19 h 24"/>
                <a:gd name="T12" fmla="*/ 22 w 24"/>
                <a:gd name="T13" fmla="*/ 18 h 24"/>
                <a:gd name="T14" fmla="*/ 22 w 24"/>
                <a:gd name="T15" fmla="*/ 18 h 24"/>
                <a:gd name="T16" fmla="*/ 22 w 24"/>
                <a:gd name="T17" fmla="*/ 16 h 24"/>
                <a:gd name="T18" fmla="*/ 23 w 24"/>
                <a:gd name="T19" fmla="*/ 14 h 24"/>
                <a:gd name="T20" fmla="*/ 23 w 24"/>
                <a:gd name="T21" fmla="*/ 12 h 24"/>
                <a:gd name="T22" fmla="*/ 23 w 24"/>
                <a:gd name="T23" fmla="*/ 10 h 24"/>
                <a:gd name="T24" fmla="*/ 22 w 24"/>
                <a:gd name="T25" fmla="*/ 8 h 24"/>
                <a:gd name="T26" fmla="*/ 22 w 24"/>
                <a:gd name="T27" fmla="*/ 6 h 24"/>
                <a:gd name="T28" fmla="*/ 22 w 24"/>
                <a:gd name="T29" fmla="*/ 4 h 24"/>
                <a:gd name="T30" fmla="*/ 20 w 24"/>
                <a:gd name="T31" fmla="*/ 4 h 24"/>
                <a:gd name="T32" fmla="*/ 18 w 24"/>
                <a:gd name="T33" fmla="*/ 2 h 24"/>
                <a:gd name="T34" fmla="*/ 16 w 24"/>
                <a:gd name="T35" fmla="*/ 2 h 24"/>
                <a:gd name="T36" fmla="*/ 16 w 24"/>
                <a:gd name="T37" fmla="*/ 0 h 24"/>
                <a:gd name="T38" fmla="*/ 14 w 24"/>
                <a:gd name="T39" fmla="*/ 0 h 24"/>
                <a:gd name="T40" fmla="*/ 12 w 24"/>
                <a:gd name="T41" fmla="*/ 0 h 24"/>
                <a:gd name="T42" fmla="*/ 10 w 24"/>
                <a:gd name="T43" fmla="*/ 0 h 24"/>
                <a:gd name="T44" fmla="*/ 8 w 24"/>
                <a:gd name="T45" fmla="*/ 0 h 24"/>
                <a:gd name="T46" fmla="*/ 6 w 24"/>
                <a:gd name="T47" fmla="*/ 2 h 24"/>
                <a:gd name="T48" fmla="*/ 4 w 24"/>
                <a:gd name="T49" fmla="*/ 2 h 24"/>
                <a:gd name="T50" fmla="*/ 2 w 24"/>
                <a:gd name="T51" fmla="*/ 4 h 24"/>
                <a:gd name="T52" fmla="*/ 2 w 24"/>
                <a:gd name="T53" fmla="*/ 4 h 24"/>
                <a:gd name="T54" fmla="*/ 0 w 24"/>
                <a:gd name="T55" fmla="*/ 6 h 24"/>
                <a:gd name="T56" fmla="*/ 0 w 24"/>
                <a:gd name="T57" fmla="*/ 8 h 24"/>
                <a:gd name="T58" fmla="*/ 0 w 24"/>
                <a:gd name="T59" fmla="*/ 10 h 24"/>
                <a:gd name="T60" fmla="*/ 0 w 24"/>
                <a:gd name="T61" fmla="*/ 12 h 24"/>
                <a:gd name="T62" fmla="*/ 0 w 24"/>
                <a:gd name="T63" fmla="*/ 14 h 24"/>
                <a:gd name="T64" fmla="*/ 0 w 24"/>
                <a:gd name="T65" fmla="*/ 16 h 24"/>
                <a:gd name="T66" fmla="*/ 0 w 24"/>
                <a:gd name="T67" fmla="*/ 18 h 24"/>
                <a:gd name="T68" fmla="*/ 2 w 24"/>
                <a:gd name="T69" fmla="*/ 18 h 24"/>
                <a:gd name="T70" fmla="*/ 2 w 24"/>
                <a:gd name="T71" fmla="*/ 19 h 24"/>
                <a:gd name="T72" fmla="*/ 4 w 24"/>
                <a:gd name="T73" fmla="*/ 21 h 24"/>
                <a:gd name="T74" fmla="*/ 6 w 24"/>
                <a:gd name="T75" fmla="*/ 21 h 24"/>
                <a:gd name="T76" fmla="*/ 8 w 24"/>
                <a:gd name="T77" fmla="*/ 23 h 24"/>
                <a:gd name="T78" fmla="*/ 10 w 24"/>
                <a:gd name="T79" fmla="*/ 23 h 24"/>
                <a:gd name="T80" fmla="*/ 12 w 24"/>
                <a:gd name="T81" fmla="*/ 23 h 24"/>
                <a:gd name="T82" fmla="*/ 12 w 24"/>
                <a:gd name="T83" fmla="*/ 23 h 24"/>
                <a:gd name="T84" fmla="*/ 10 w 24"/>
                <a:gd name="T85" fmla="*/ 23 h 2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4"/>
                <a:gd name="T130" fmla="*/ 0 h 24"/>
                <a:gd name="T131" fmla="*/ 24 w 24"/>
                <a:gd name="T132" fmla="*/ 24 h 24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4" h="24">
                  <a:moveTo>
                    <a:pt x="10" y="23"/>
                  </a:moveTo>
                  <a:lnTo>
                    <a:pt x="14" y="23"/>
                  </a:lnTo>
                  <a:lnTo>
                    <a:pt x="16" y="23"/>
                  </a:lnTo>
                  <a:lnTo>
                    <a:pt x="16" y="21"/>
                  </a:lnTo>
                  <a:lnTo>
                    <a:pt x="18" y="21"/>
                  </a:lnTo>
                  <a:lnTo>
                    <a:pt x="20" y="19"/>
                  </a:lnTo>
                  <a:lnTo>
                    <a:pt x="22" y="18"/>
                  </a:lnTo>
                  <a:lnTo>
                    <a:pt x="22" y="16"/>
                  </a:lnTo>
                  <a:lnTo>
                    <a:pt x="23" y="14"/>
                  </a:lnTo>
                  <a:lnTo>
                    <a:pt x="23" y="12"/>
                  </a:lnTo>
                  <a:lnTo>
                    <a:pt x="23" y="10"/>
                  </a:lnTo>
                  <a:lnTo>
                    <a:pt x="22" y="8"/>
                  </a:lnTo>
                  <a:lnTo>
                    <a:pt x="22" y="6"/>
                  </a:lnTo>
                  <a:lnTo>
                    <a:pt x="22" y="4"/>
                  </a:lnTo>
                  <a:lnTo>
                    <a:pt x="20" y="4"/>
                  </a:lnTo>
                  <a:lnTo>
                    <a:pt x="18" y="2"/>
                  </a:lnTo>
                  <a:lnTo>
                    <a:pt x="16" y="2"/>
                  </a:lnTo>
                  <a:lnTo>
                    <a:pt x="16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8" y="0"/>
                  </a:lnTo>
                  <a:lnTo>
                    <a:pt x="6" y="2"/>
                  </a:lnTo>
                  <a:lnTo>
                    <a:pt x="4" y="2"/>
                  </a:lnTo>
                  <a:lnTo>
                    <a:pt x="2" y="4"/>
                  </a:lnTo>
                  <a:lnTo>
                    <a:pt x="0" y="6"/>
                  </a:lnTo>
                  <a:lnTo>
                    <a:pt x="0" y="8"/>
                  </a:lnTo>
                  <a:lnTo>
                    <a:pt x="0" y="10"/>
                  </a:lnTo>
                  <a:lnTo>
                    <a:pt x="0" y="12"/>
                  </a:lnTo>
                  <a:lnTo>
                    <a:pt x="0" y="14"/>
                  </a:lnTo>
                  <a:lnTo>
                    <a:pt x="0" y="16"/>
                  </a:lnTo>
                  <a:lnTo>
                    <a:pt x="0" y="18"/>
                  </a:lnTo>
                  <a:lnTo>
                    <a:pt x="2" y="18"/>
                  </a:lnTo>
                  <a:lnTo>
                    <a:pt x="2" y="19"/>
                  </a:lnTo>
                  <a:lnTo>
                    <a:pt x="4" y="21"/>
                  </a:lnTo>
                  <a:lnTo>
                    <a:pt x="6" y="21"/>
                  </a:lnTo>
                  <a:lnTo>
                    <a:pt x="8" y="23"/>
                  </a:lnTo>
                  <a:lnTo>
                    <a:pt x="10" y="23"/>
                  </a:lnTo>
                  <a:lnTo>
                    <a:pt x="12" y="23"/>
                  </a:lnTo>
                  <a:lnTo>
                    <a:pt x="10" y="23"/>
                  </a:lnTo>
                </a:path>
              </a:pathLst>
            </a:custGeom>
            <a:solidFill>
              <a:srgbClr val="000000"/>
            </a:solidFill>
            <a:ln w="9525" cap="rnd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64" name="Freeform 80"/>
            <p:cNvSpPr>
              <a:spLocks/>
            </p:cNvSpPr>
            <p:nvPr/>
          </p:nvSpPr>
          <p:spPr bwMode="auto">
            <a:xfrm>
              <a:off x="2091" y="3039"/>
              <a:ext cx="215" cy="367"/>
            </a:xfrm>
            <a:custGeom>
              <a:avLst/>
              <a:gdLst>
                <a:gd name="T0" fmla="*/ 107 w 173"/>
                <a:gd name="T1" fmla="*/ 366 h 367"/>
                <a:gd name="T2" fmla="*/ 123 w 173"/>
                <a:gd name="T3" fmla="*/ 364 h 367"/>
                <a:gd name="T4" fmla="*/ 140 w 173"/>
                <a:gd name="T5" fmla="*/ 357 h 367"/>
                <a:gd name="T6" fmla="*/ 157 w 173"/>
                <a:gd name="T7" fmla="*/ 345 h 367"/>
                <a:gd name="T8" fmla="*/ 172 w 173"/>
                <a:gd name="T9" fmla="*/ 332 h 367"/>
                <a:gd name="T10" fmla="*/ 183 w 173"/>
                <a:gd name="T11" fmla="*/ 313 h 367"/>
                <a:gd name="T12" fmla="*/ 193 w 173"/>
                <a:gd name="T13" fmla="*/ 292 h 367"/>
                <a:gd name="T14" fmla="*/ 203 w 173"/>
                <a:gd name="T15" fmla="*/ 267 h 367"/>
                <a:gd name="T16" fmla="*/ 209 w 173"/>
                <a:gd name="T17" fmla="*/ 242 h 367"/>
                <a:gd name="T18" fmla="*/ 214 w 173"/>
                <a:gd name="T19" fmla="*/ 213 h 367"/>
                <a:gd name="T20" fmla="*/ 214 w 173"/>
                <a:gd name="T21" fmla="*/ 182 h 367"/>
                <a:gd name="T22" fmla="*/ 214 w 173"/>
                <a:gd name="T23" fmla="*/ 154 h 367"/>
                <a:gd name="T24" fmla="*/ 209 w 173"/>
                <a:gd name="T25" fmla="*/ 125 h 367"/>
                <a:gd name="T26" fmla="*/ 203 w 173"/>
                <a:gd name="T27" fmla="*/ 98 h 367"/>
                <a:gd name="T28" fmla="*/ 193 w 173"/>
                <a:gd name="T29" fmla="*/ 75 h 367"/>
                <a:gd name="T30" fmla="*/ 183 w 173"/>
                <a:gd name="T31" fmla="*/ 54 h 367"/>
                <a:gd name="T32" fmla="*/ 172 w 173"/>
                <a:gd name="T33" fmla="*/ 35 h 367"/>
                <a:gd name="T34" fmla="*/ 157 w 173"/>
                <a:gd name="T35" fmla="*/ 20 h 367"/>
                <a:gd name="T36" fmla="*/ 140 w 173"/>
                <a:gd name="T37" fmla="*/ 8 h 367"/>
                <a:gd name="T38" fmla="*/ 123 w 173"/>
                <a:gd name="T39" fmla="*/ 2 h 367"/>
                <a:gd name="T40" fmla="*/ 107 w 173"/>
                <a:gd name="T41" fmla="*/ 0 h 367"/>
                <a:gd name="T42" fmla="*/ 91 w 173"/>
                <a:gd name="T43" fmla="*/ 2 h 367"/>
                <a:gd name="T44" fmla="*/ 73 w 173"/>
                <a:gd name="T45" fmla="*/ 8 h 367"/>
                <a:gd name="T46" fmla="*/ 57 w 173"/>
                <a:gd name="T47" fmla="*/ 20 h 367"/>
                <a:gd name="T48" fmla="*/ 45 w 173"/>
                <a:gd name="T49" fmla="*/ 35 h 367"/>
                <a:gd name="T50" fmla="*/ 31 w 173"/>
                <a:gd name="T51" fmla="*/ 54 h 367"/>
                <a:gd name="T52" fmla="*/ 21 w 173"/>
                <a:gd name="T53" fmla="*/ 75 h 367"/>
                <a:gd name="T54" fmla="*/ 11 w 173"/>
                <a:gd name="T55" fmla="*/ 98 h 367"/>
                <a:gd name="T56" fmla="*/ 5 w 173"/>
                <a:gd name="T57" fmla="*/ 125 h 367"/>
                <a:gd name="T58" fmla="*/ 2 w 173"/>
                <a:gd name="T59" fmla="*/ 154 h 367"/>
                <a:gd name="T60" fmla="*/ 0 w 173"/>
                <a:gd name="T61" fmla="*/ 182 h 367"/>
                <a:gd name="T62" fmla="*/ 2 w 173"/>
                <a:gd name="T63" fmla="*/ 213 h 367"/>
                <a:gd name="T64" fmla="*/ 5 w 173"/>
                <a:gd name="T65" fmla="*/ 242 h 367"/>
                <a:gd name="T66" fmla="*/ 11 w 173"/>
                <a:gd name="T67" fmla="*/ 267 h 367"/>
                <a:gd name="T68" fmla="*/ 21 w 173"/>
                <a:gd name="T69" fmla="*/ 292 h 367"/>
                <a:gd name="T70" fmla="*/ 31 w 173"/>
                <a:gd name="T71" fmla="*/ 313 h 367"/>
                <a:gd name="T72" fmla="*/ 45 w 173"/>
                <a:gd name="T73" fmla="*/ 332 h 367"/>
                <a:gd name="T74" fmla="*/ 57 w 173"/>
                <a:gd name="T75" fmla="*/ 345 h 367"/>
                <a:gd name="T76" fmla="*/ 73 w 173"/>
                <a:gd name="T77" fmla="*/ 357 h 367"/>
                <a:gd name="T78" fmla="*/ 91 w 173"/>
                <a:gd name="T79" fmla="*/ 364 h 367"/>
                <a:gd name="T80" fmla="*/ 107 w 173"/>
                <a:gd name="T81" fmla="*/ 366 h 367"/>
                <a:gd name="T82" fmla="*/ 107 w 173"/>
                <a:gd name="T83" fmla="*/ 366 h 367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173"/>
                <a:gd name="T127" fmla="*/ 0 h 367"/>
                <a:gd name="T128" fmla="*/ 173 w 173"/>
                <a:gd name="T129" fmla="*/ 367 h 367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173" h="367">
                  <a:moveTo>
                    <a:pt x="86" y="366"/>
                  </a:moveTo>
                  <a:lnTo>
                    <a:pt x="99" y="364"/>
                  </a:lnTo>
                  <a:lnTo>
                    <a:pt x="113" y="357"/>
                  </a:lnTo>
                  <a:lnTo>
                    <a:pt x="126" y="345"/>
                  </a:lnTo>
                  <a:lnTo>
                    <a:pt x="138" y="332"/>
                  </a:lnTo>
                  <a:lnTo>
                    <a:pt x="147" y="313"/>
                  </a:lnTo>
                  <a:lnTo>
                    <a:pt x="155" y="292"/>
                  </a:lnTo>
                  <a:lnTo>
                    <a:pt x="163" y="267"/>
                  </a:lnTo>
                  <a:lnTo>
                    <a:pt x="168" y="242"/>
                  </a:lnTo>
                  <a:lnTo>
                    <a:pt x="172" y="213"/>
                  </a:lnTo>
                  <a:lnTo>
                    <a:pt x="172" y="182"/>
                  </a:lnTo>
                  <a:lnTo>
                    <a:pt x="172" y="154"/>
                  </a:lnTo>
                  <a:lnTo>
                    <a:pt x="168" y="125"/>
                  </a:lnTo>
                  <a:lnTo>
                    <a:pt x="163" y="98"/>
                  </a:lnTo>
                  <a:lnTo>
                    <a:pt x="155" y="75"/>
                  </a:lnTo>
                  <a:lnTo>
                    <a:pt x="147" y="54"/>
                  </a:lnTo>
                  <a:lnTo>
                    <a:pt x="138" y="35"/>
                  </a:lnTo>
                  <a:lnTo>
                    <a:pt x="126" y="20"/>
                  </a:lnTo>
                  <a:lnTo>
                    <a:pt x="113" y="8"/>
                  </a:lnTo>
                  <a:lnTo>
                    <a:pt x="99" y="2"/>
                  </a:lnTo>
                  <a:lnTo>
                    <a:pt x="86" y="0"/>
                  </a:lnTo>
                  <a:lnTo>
                    <a:pt x="73" y="2"/>
                  </a:lnTo>
                  <a:lnTo>
                    <a:pt x="59" y="8"/>
                  </a:lnTo>
                  <a:lnTo>
                    <a:pt x="46" y="20"/>
                  </a:lnTo>
                  <a:lnTo>
                    <a:pt x="36" y="35"/>
                  </a:lnTo>
                  <a:lnTo>
                    <a:pt x="25" y="54"/>
                  </a:lnTo>
                  <a:lnTo>
                    <a:pt x="17" y="75"/>
                  </a:lnTo>
                  <a:lnTo>
                    <a:pt x="9" y="98"/>
                  </a:lnTo>
                  <a:lnTo>
                    <a:pt x="4" y="125"/>
                  </a:lnTo>
                  <a:lnTo>
                    <a:pt x="2" y="154"/>
                  </a:lnTo>
                  <a:lnTo>
                    <a:pt x="0" y="182"/>
                  </a:lnTo>
                  <a:lnTo>
                    <a:pt x="2" y="213"/>
                  </a:lnTo>
                  <a:lnTo>
                    <a:pt x="4" y="242"/>
                  </a:lnTo>
                  <a:lnTo>
                    <a:pt x="9" y="267"/>
                  </a:lnTo>
                  <a:lnTo>
                    <a:pt x="17" y="292"/>
                  </a:lnTo>
                  <a:lnTo>
                    <a:pt x="25" y="313"/>
                  </a:lnTo>
                  <a:lnTo>
                    <a:pt x="36" y="332"/>
                  </a:lnTo>
                  <a:lnTo>
                    <a:pt x="46" y="345"/>
                  </a:lnTo>
                  <a:lnTo>
                    <a:pt x="59" y="357"/>
                  </a:lnTo>
                  <a:lnTo>
                    <a:pt x="73" y="364"/>
                  </a:lnTo>
                  <a:lnTo>
                    <a:pt x="86" y="366"/>
                  </a:lnTo>
                </a:path>
              </a:pathLst>
            </a:custGeom>
            <a:solidFill>
              <a:srgbClr val="EAEAEA"/>
            </a:solidFill>
            <a:ln w="190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65" name="Rectangle 81"/>
            <p:cNvSpPr>
              <a:spLocks noChangeArrowheads="1"/>
            </p:cNvSpPr>
            <p:nvPr/>
          </p:nvSpPr>
          <p:spPr bwMode="auto">
            <a:xfrm>
              <a:off x="2110" y="3124"/>
              <a:ext cx="180" cy="1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900" dirty="0">
                  <a:solidFill>
                    <a:srgbClr val="000000"/>
                  </a:solidFill>
                  <a:latin typeface="+mj-lt"/>
                </a:rPr>
                <a:t>Sign</a:t>
              </a:r>
            </a:p>
            <a:p>
              <a:pPr algn="ctr">
                <a:lnSpc>
                  <a:spcPct val="90000"/>
                </a:lnSpc>
              </a:pPr>
              <a:r>
                <a:rPr lang="en-US" sz="900" dirty="0">
                  <a:solidFill>
                    <a:srgbClr val="000000"/>
                  </a:solidFill>
                  <a:latin typeface="+mj-lt"/>
                </a:rPr>
                <a:t>extend</a:t>
              </a:r>
              <a:endParaRPr lang="en-US" sz="600" dirty="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366" name="Rectangle 82"/>
            <p:cNvSpPr>
              <a:spLocks noChangeArrowheads="1"/>
            </p:cNvSpPr>
            <p:nvPr/>
          </p:nvSpPr>
          <p:spPr bwMode="auto">
            <a:xfrm>
              <a:off x="1968" y="3123"/>
              <a:ext cx="64" cy="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900">
                  <a:solidFill>
                    <a:srgbClr val="000000"/>
                  </a:solidFill>
                  <a:latin typeface="+mj-lt"/>
                </a:rPr>
                <a:t>16</a:t>
              </a:r>
              <a:endParaRPr lang="en-US" sz="5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367" name="Rectangle 83"/>
            <p:cNvSpPr>
              <a:spLocks noChangeArrowheads="1"/>
            </p:cNvSpPr>
            <p:nvPr/>
          </p:nvSpPr>
          <p:spPr bwMode="auto">
            <a:xfrm>
              <a:off x="2319" y="3127"/>
              <a:ext cx="64" cy="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900">
                  <a:solidFill>
                    <a:srgbClr val="000000"/>
                  </a:solidFill>
                  <a:latin typeface="+mj-lt"/>
                </a:rPr>
                <a:t>32</a:t>
              </a:r>
              <a:endParaRPr lang="en-US" sz="5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368" name="Line 84"/>
            <p:cNvSpPr>
              <a:spLocks noChangeShapeType="1"/>
            </p:cNvSpPr>
            <p:nvPr/>
          </p:nvSpPr>
          <p:spPr bwMode="auto">
            <a:xfrm flipH="1">
              <a:off x="1637" y="2598"/>
              <a:ext cx="1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69" name="Line 85"/>
            <p:cNvSpPr>
              <a:spLocks noChangeShapeType="1"/>
            </p:cNvSpPr>
            <p:nvPr/>
          </p:nvSpPr>
          <p:spPr bwMode="auto">
            <a:xfrm flipH="1">
              <a:off x="1635" y="2434"/>
              <a:ext cx="17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70" name="Line 86"/>
            <p:cNvSpPr>
              <a:spLocks noChangeShapeType="1"/>
            </p:cNvSpPr>
            <p:nvPr/>
          </p:nvSpPr>
          <p:spPr bwMode="auto">
            <a:xfrm flipH="1">
              <a:off x="2325" y="2527"/>
              <a:ext cx="11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71" name="Line 87"/>
            <p:cNvSpPr>
              <a:spLocks noChangeShapeType="1"/>
            </p:cNvSpPr>
            <p:nvPr/>
          </p:nvSpPr>
          <p:spPr bwMode="auto">
            <a:xfrm flipH="1">
              <a:off x="2325" y="2721"/>
              <a:ext cx="11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72" name="Line 88"/>
            <p:cNvSpPr>
              <a:spLocks noChangeShapeType="1"/>
            </p:cNvSpPr>
            <p:nvPr/>
          </p:nvSpPr>
          <p:spPr bwMode="auto">
            <a:xfrm flipH="1">
              <a:off x="2063" y="2299"/>
              <a:ext cx="1" cy="51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73" name="Rectangle 89"/>
            <p:cNvSpPr>
              <a:spLocks noChangeArrowheads="1"/>
            </p:cNvSpPr>
            <p:nvPr/>
          </p:nvSpPr>
          <p:spPr bwMode="auto">
            <a:xfrm>
              <a:off x="2350" y="1757"/>
              <a:ext cx="256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+mj-lt"/>
                </a:rPr>
                <a:t>ID/EX</a:t>
              </a:r>
              <a:endParaRPr lang="en-US" sz="7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374" name="Rectangle 90"/>
            <p:cNvSpPr>
              <a:spLocks noChangeArrowheads="1"/>
            </p:cNvSpPr>
            <p:nvPr/>
          </p:nvSpPr>
          <p:spPr bwMode="auto">
            <a:xfrm>
              <a:off x="3440" y="1752"/>
              <a:ext cx="407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+mj-lt"/>
                </a:rPr>
                <a:t>EX/MEM</a:t>
              </a:r>
              <a:endParaRPr lang="en-US" sz="10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375" name="Rectangle 91"/>
            <p:cNvSpPr>
              <a:spLocks noChangeArrowheads="1"/>
            </p:cNvSpPr>
            <p:nvPr/>
          </p:nvSpPr>
          <p:spPr bwMode="auto">
            <a:xfrm>
              <a:off x="4527" y="1746"/>
              <a:ext cx="456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dirty="0">
                  <a:solidFill>
                    <a:srgbClr val="000000"/>
                  </a:solidFill>
                  <a:latin typeface="+mj-lt"/>
                </a:rPr>
                <a:t>MEM/WB</a:t>
              </a:r>
            </a:p>
          </p:txBody>
        </p:sp>
        <p:sp>
          <p:nvSpPr>
            <p:cNvPr id="54376" name="Rectangle 92"/>
            <p:cNvSpPr>
              <a:spLocks noChangeArrowheads="1"/>
            </p:cNvSpPr>
            <p:nvPr/>
          </p:nvSpPr>
          <p:spPr bwMode="auto">
            <a:xfrm rot="16200000" flipH="1">
              <a:off x="1389" y="2424"/>
              <a:ext cx="331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1000">
                  <a:solidFill>
                    <a:srgbClr val="000000"/>
                  </a:solidFill>
                  <a:latin typeface="+mj-lt"/>
                </a:rPr>
                <a:t>Instruction</a:t>
              </a:r>
              <a:endParaRPr lang="en-US" sz="7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377" name="Freeform 93"/>
            <p:cNvSpPr>
              <a:spLocks/>
            </p:cNvSpPr>
            <p:nvPr/>
          </p:nvSpPr>
          <p:spPr bwMode="auto">
            <a:xfrm>
              <a:off x="3789" y="2735"/>
              <a:ext cx="24" cy="24"/>
            </a:xfrm>
            <a:custGeom>
              <a:avLst/>
              <a:gdLst>
                <a:gd name="T0" fmla="*/ 10 w 24"/>
                <a:gd name="T1" fmla="*/ 23 h 24"/>
                <a:gd name="T2" fmla="*/ 14 w 24"/>
                <a:gd name="T3" fmla="*/ 23 h 24"/>
                <a:gd name="T4" fmla="*/ 14 w 24"/>
                <a:gd name="T5" fmla="*/ 23 h 24"/>
                <a:gd name="T6" fmla="*/ 16 w 24"/>
                <a:gd name="T7" fmla="*/ 23 h 24"/>
                <a:gd name="T8" fmla="*/ 18 w 24"/>
                <a:gd name="T9" fmla="*/ 21 h 24"/>
                <a:gd name="T10" fmla="*/ 20 w 24"/>
                <a:gd name="T11" fmla="*/ 19 h 24"/>
                <a:gd name="T12" fmla="*/ 20 w 24"/>
                <a:gd name="T13" fmla="*/ 19 h 24"/>
                <a:gd name="T14" fmla="*/ 21 w 24"/>
                <a:gd name="T15" fmla="*/ 17 h 24"/>
                <a:gd name="T16" fmla="*/ 21 w 24"/>
                <a:gd name="T17" fmla="*/ 15 h 24"/>
                <a:gd name="T18" fmla="*/ 23 w 24"/>
                <a:gd name="T19" fmla="*/ 13 h 24"/>
                <a:gd name="T20" fmla="*/ 23 w 24"/>
                <a:gd name="T21" fmla="*/ 12 h 24"/>
                <a:gd name="T22" fmla="*/ 23 w 24"/>
                <a:gd name="T23" fmla="*/ 10 h 24"/>
                <a:gd name="T24" fmla="*/ 21 w 24"/>
                <a:gd name="T25" fmla="*/ 8 h 24"/>
                <a:gd name="T26" fmla="*/ 21 w 24"/>
                <a:gd name="T27" fmla="*/ 6 h 24"/>
                <a:gd name="T28" fmla="*/ 20 w 24"/>
                <a:gd name="T29" fmla="*/ 6 h 24"/>
                <a:gd name="T30" fmla="*/ 20 w 24"/>
                <a:gd name="T31" fmla="*/ 4 h 24"/>
                <a:gd name="T32" fmla="*/ 18 w 24"/>
                <a:gd name="T33" fmla="*/ 2 h 24"/>
                <a:gd name="T34" fmla="*/ 16 w 24"/>
                <a:gd name="T35" fmla="*/ 2 h 24"/>
                <a:gd name="T36" fmla="*/ 14 w 24"/>
                <a:gd name="T37" fmla="*/ 0 h 24"/>
                <a:gd name="T38" fmla="*/ 14 w 24"/>
                <a:gd name="T39" fmla="*/ 0 h 24"/>
                <a:gd name="T40" fmla="*/ 12 w 24"/>
                <a:gd name="T41" fmla="*/ 0 h 24"/>
                <a:gd name="T42" fmla="*/ 10 w 24"/>
                <a:gd name="T43" fmla="*/ 0 h 24"/>
                <a:gd name="T44" fmla="*/ 8 w 24"/>
                <a:gd name="T45" fmla="*/ 0 h 24"/>
                <a:gd name="T46" fmla="*/ 6 w 24"/>
                <a:gd name="T47" fmla="*/ 2 h 24"/>
                <a:gd name="T48" fmla="*/ 4 w 24"/>
                <a:gd name="T49" fmla="*/ 2 h 24"/>
                <a:gd name="T50" fmla="*/ 2 w 24"/>
                <a:gd name="T51" fmla="*/ 4 h 24"/>
                <a:gd name="T52" fmla="*/ 2 w 24"/>
                <a:gd name="T53" fmla="*/ 6 h 24"/>
                <a:gd name="T54" fmla="*/ 0 w 24"/>
                <a:gd name="T55" fmla="*/ 6 h 24"/>
                <a:gd name="T56" fmla="*/ 0 w 24"/>
                <a:gd name="T57" fmla="*/ 8 h 24"/>
                <a:gd name="T58" fmla="*/ 0 w 24"/>
                <a:gd name="T59" fmla="*/ 10 h 24"/>
                <a:gd name="T60" fmla="*/ 0 w 24"/>
                <a:gd name="T61" fmla="*/ 12 h 24"/>
                <a:gd name="T62" fmla="*/ 0 w 24"/>
                <a:gd name="T63" fmla="*/ 13 h 24"/>
                <a:gd name="T64" fmla="*/ 0 w 24"/>
                <a:gd name="T65" fmla="*/ 15 h 24"/>
                <a:gd name="T66" fmla="*/ 0 w 24"/>
                <a:gd name="T67" fmla="*/ 17 h 24"/>
                <a:gd name="T68" fmla="*/ 2 w 24"/>
                <a:gd name="T69" fmla="*/ 19 h 24"/>
                <a:gd name="T70" fmla="*/ 2 w 24"/>
                <a:gd name="T71" fmla="*/ 19 h 24"/>
                <a:gd name="T72" fmla="*/ 4 w 24"/>
                <a:gd name="T73" fmla="*/ 21 h 24"/>
                <a:gd name="T74" fmla="*/ 6 w 24"/>
                <a:gd name="T75" fmla="*/ 23 h 24"/>
                <a:gd name="T76" fmla="*/ 8 w 24"/>
                <a:gd name="T77" fmla="*/ 23 h 24"/>
                <a:gd name="T78" fmla="*/ 10 w 24"/>
                <a:gd name="T79" fmla="*/ 23 h 24"/>
                <a:gd name="T80" fmla="*/ 12 w 24"/>
                <a:gd name="T81" fmla="*/ 23 h 24"/>
                <a:gd name="T82" fmla="*/ 12 w 24"/>
                <a:gd name="T83" fmla="*/ 23 h 24"/>
                <a:gd name="T84" fmla="*/ 10 w 24"/>
                <a:gd name="T85" fmla="*/ 23 h 2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4"/>
                <a:gd name="T130" fmla="*/ 0 h 24"/>
                <a:gd name="T131" fmla="*/ 24 w 24"/>
                <a:gd name="T132" fmla="*/ 24 h 24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4" h="24">
                  <a:moveTo>
                    <a:pt x="10" y="23"/>
                  </a:moveTo>
                  <a:lnTo>
                    <a:pt x="14" y="23"/>
                  </a:lnTo>
                  <a:lnTo>
                    <a:pt x="16" y="23"/>
                  </a:lnTo>
                  <a:lnTo>
                    <a:pt x="18" y="21"/>
                  </a:lnTo>
                  <a:lnTo>
                    <a:pt x="20" y="19"/>
                  </a:lnTo>
                  <a:lnTo>
                    <a:pt x="21" y="17"/>
                  </a:lnTo>
                  <a:lnTo>
                    <a:pt x="21" y="15"/>
                  </a:lnTo>
                  <a:lnTo>
                    <a:pt x="23" y="13"/>
                  </a:lnTo>
                  <a:lnTo>
                    <a:pt x="23" y="12"/>
                  </a:lnTo>
                  <a:lnTo>
                    <a:pt x="23" y="10"/>
                  </a:lnTo>
                  <a:lnTo>
                    <a:pt x="21" y="8"/>
                  </a:lnTo>
                  <a:lnTo>
                    <a:pt x="21" y="6"/>
                  </a:lnTo>
                  <a:lnTo>
                    <a:pt x="20" y="6"/>
                  </a:lnTo>
                  <a:lnTo>
                    <a:pt x="20" y="4"/>
                  </a:lnTo>
                  <a:lnTo>
                    <a:pt x="18" y="2"/>
                  </a:lnTo>
                  <a:lnTo>
                    <a:pt x="16" y="2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8" y="0"/>
                  </a:lnTo>
                  <a:lnTo>
                    <a:pt x="6" y="2"/>
                  </a:lnTo>
                  <a:lnTo>
                    <a:pt x="4" y="2"/>
                  </a:lnTo>
                  <a:lnTo>
                    <a:pt x="2" y="4"/>
                  </a:lnTo>
                  <a:lnTo>
                    <a:pt x="2" y="6"/>
                  </a:lnTo>
                  <a:lnTo>
                    <a:pt x="0" y="6"/>
                  </a:lnTo>
                  <a:lnTo>
                    <a:pt x="0" y="8"/>
                  </a:lnTo>
                  <a:lnTo>
                    <a:pt x="0" y="10"/>
                  </a:lnTo>
                  <a:lnTo>
                    <a:pt x="0" y="12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0" y="17"/>
                  </a:lnTo>
                  <a:lnTo>
                    <a:pt x="2" y="19"/>
                  </a:lnTo>
                  <a:lnTo>
                    <a:pt x="4" y="21"/>
                  </a:lnTo>
                  <a:lnTo>
                    <a:pt x="6" y="23"/>
                  </a:lnTo>
                  <a:lnTo>
                    <a:pt x="8" y="23"/>
                  </a:lnTo>
                  <a:lnTo>
                    <a:pt x="10" y="23"/>
                  </a:lnTo>
                  <a:lnTo>
                    <a:pt x="12" y="23"/>
                  </a:lnTo>
                  <a:lnTo>
                    <a:pt x="10" y="23"/>
                  </a:lnTo>
                </a:path>
              </a:pathLst>
            </a:custGeom>
            <a:solidFill>
              <a:srgbClr val="000000"/>
            </a:solidFill>
            <a:ln w="9525" cap="rnd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78" name="Line 94"/>
            <p:cNvSpPr>
              <a:spLocks noChangeShapeType="1"/>
            </p:cNvSpPr>
            <p:nvPr/>
          </p:nvSpPr>
          <p:spPr bwMode="auto">
            <a:xfrm flipH="1">
              <a:off x="3679" y="3003"/>
              <a:ext cx="250" cy="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79" name="Freeform 95"/>
            <p:cNvSpPr>
              <a:spLocks/>
            </p:cNvSpPr>
            <p:nvPr/>
          </p:nvSpPr>
          <p:spPr bwMode="auto">
            <a:xfrm>
              <a:off x="3801" y="2747"/>
              <a:ext cx="903" cy="611"/>
            </a:xfrm>
            <a:custGeom>
              <a:avLst/>
              <a:gdLst>
                <a:gd name="T0" fmla="*/ 902 w 1318"/>
                <a:gd name="T1" fmla="*/ 608 h 410"/>
                <a:gd name="T2" fmla="*/ 0 w 1318"/>
                <a:gd name="T3" fmla="*/ 610 h 410"/>
                <a:gd name="T4" fmla="*/ 0 w 1318"/>
                <a:gd name="T5" fmla="*/ 0 h 410"/>
                <a:gd name="T6" fmla="*/ 0 60000 65536"/>
                <a:gd name="T7" fmla="*/ 0 60000 65536"/>
                <a:gd name="T8" fmla="*/ 0 60000 65536"/>
                <a:gd name="T9" fmla="*/ 0 w 1318"/>
                <a:gd name="T10" fmla="*/ 0 h 410"/>
                <a:gd name="T11" fmla="*/ 1318 w 1318"/>
                <a:gd name="T12" fmla="*/ 410 h 41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18" h="410">
                  <a:moveTo>
                    <a:pt x="1317" y="408"/>
                  </a:moveTo>
                  <a:lnTo>
                    <a:pt x="0" y="409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triangl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80" name="Line 96"/>
            <p:cNvSpPr>
              <a:spLocks noChangeShapeType="1"/>
            </p:cNvSpPr>
            <p:nvPr/>
          </p:nvSpPr>
          <p:spPr bwMode="auto">
            <a:xfrm>
              <a:off x="3677" y="3558"/>
              <a:ext cx="1024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81" name="Line 97"/>
            <p:cNvSpPr>
              <a:spLocks noChangeShapeType="1"/>
            </p:cNvSpPr>
            <p:nvPr/>
          </p:nvSpPr>
          <p:spPr bwMode="auto">
            <a:xfrm flipH="1">
              <a:off x="3679" y="2747"/>
              <a:ext cx="253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82" name="Line 98"/>
            <p:cNvSpPr>
              <a:spLocks noChangeShapeType="1"/>
            </p:cNvSpPr>
            <p:nvPr/>
          </p:nvSpPr>
          <p:spPr bwMode="auto">
            <a:xfrm flipH="1">
              <a:off x="4551" y="2742"/>
              <a:ext cx="155" cy="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83" name="Line 99"/>
            <p:cNvSpPr>
              <a:spLocks noChangeShapeType="1"/>
            </p:cNvSpPr>
            <p:nvPr/>
          </p:nvSpPr>
          <p:spPr bwMode="auto">
            <a:xfrm flipH="1" flipV="1">
              <a:off x="4242" y="2482"/>
              <a:ext cx="1" cy="66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grpSp>
          <p:nvGrpSpPr>
            <p:cNvPr id="54384" name="Group 312"/>
            <p:cNvGrpSpPr>
              <a:grpSpLocks/>
            </p:cNvGrpSpPr>
            <p:nvPr/>
          </p:nvGrpSpPr>
          <p:grpSpPr bwMode="auto">
            <a:xfrm>
              <a:off x="3936" y="2378"/>
              <a:ext cx="609" cy="939"/>
              <a:chOff x="3936" y="2378"/>
              <a:chExt cx="609" cy="939"/>
            </a:xfrm>
          </p:grpSpPr>
          <p:sp>
            <p:nvSpPr>
              <p:cNvPr id="54457" name="Line 101"/>
              <p:cNvSpPr>
                <a:spLocks noChangeShapeType="1"/>
              </p:cNvSpPr>
              <p:nvPr/>
            </p:nvSpPr>
            <p:spPr bwMode="auto">
              <a:xfrm flipH="1">
                <a:off x="4248" y="3108"/>
                <a:ext cx="1" cy="105"/>
              </a:xfrm>
              <a:prstGeom prst="line">
                <a:avLst/>
              </a:prstGeom>
              <a:noFill/>
              <a:ln w="12700">
                <a:solidFill>
                  <a:srgbClr val="EB75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54460" name="Rectangle 104"/>
              <p:cNvSpPr>
                <a:spLocks noChangeArrowheads="1"/>
              </p:cNvSpPr>
              <p:nvPr/>
            </p:nvSpPr>
            <p:spPr bwMode="auto">
              <a:xfrm>
                <a:off x="3936" y="2553"/>
                <a:ext cx="609" cy="552"/>
              </a:xfrm>
              <a:prstGeom prst="rect">
                <a:avLst/>
              </a:prstGeom>
              <a:solidFill>
                <a:srgbClr val="FFFFCC"/>
              </a:solidFill>
              <a:ln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54461" name="Rectangle 105"/>
              <p:cNvSpPr>
                <a:spLocks noChangeArrowheads="1"/>
              </p:cNvSpPr>
              <p:nvPr/>
            </p:nvSpPr>
            <p:spPr bwMode="auto">
              <a:xfrm>
                <a:off x="3963" y="2712"/>
                <a:ext cx="208" cy="7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US" sz="900" dirty="0">
                    <a:solidFill>
                      <a:srgbClr val="000000"/>
                    </a:solidFill>
                    <a:latin typeface="+mj-lt"/>
                  </a:rPr>
                  <a:t>Address</a:t>
                </a:r>
                <a:endParaRPr lang="en-US" sz="800" dirty="0">
                  <a:solidFill>
                    <a:srgbClr val="000000"/>
                  </a:solidFill>
                  <a:latin typeface="+mj-lt"/>
                </a:endParaRPr>
              </a:p>
            </p:txBody>
          </p:sp>
          <p:sp>
            <p:nvSpPr>
              <p:cNvPr id="54462" name="Rectangle 106"/>
              <p:cNvSpPr>
                <a:spLocks noChangeArrowheads="1"/>
              </p:cNvSpPr>
              <p:nvPr/>
            </p:nvSpPr>
            <p:spPr bwMode="auto">
              <a:xfrm>
                <a:off x="3965" y="2933"/>
                <a:ext cx="147" cy="14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US" sz="900" dirty="0">
                    <a:solidFill>
                      <a:srgbClr val="000000"/>
                    </a:solidFill>
                    <a:latin typeface="+mj-lt"/>
                  </a:rPr>
                  <a:t>Write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sz="900" dirty="0">
                    <a:solidFill>
                      <a:srgbClr val="000000"/>
                    </a:solidFill>
                    <a:latin typeface="+mj-lt"/>
                  </a:rPr>
                  <a:t>Data</a:t>
                </a:r>
                <a:endParaRPr lang="en-US" sz="800" dirty="0">
                  <a:solidFill>
                    <a:srgbClr val="000000"/>
                  </a:solidFill>
                  <a:latin typeface="+mj-lt"/>
                </a:endParaRPr>
              </a:p>
            </p:txBody>
          </p:sp>
          <p:sp>
            <p:nvSpPr>
              <p:cNvPr id="54463" name="Rectangle 107"/>
              <p:cNvSpPr>
                <a:spLocks noChangeArrowheads="1"/>
              </p:cNvSpPr>
              <p:nvPr/>
            </p:nvSpPr>
            <p:spPr bwMode="auto">
              <a:xfrm>
                <a:off x="4368" y="2665"/>
                <a:ext cx="130" cy="14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US" sz="900" dirty="0">
                    <a:solidFill>
                      <a:srgbClr val="000000"/>
                    </a:solidFill>
                    <a:latin typeface="+mj-lt"/>
                  </a:rPr>
                  <a:t>Read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sz="900" dirty="0">
                    <a:solidFill>
                      <a:srgbClr val="000000"/>
                    </a:solidFill>
                    <a:latin typeface="+mj-lt"/>
                  </a:rPr>
                  <a:t>Data</a:t>
                </a:r>
                <a:endParaRPr lang="en-US" sz="500" dirty="0">
                  <a:solidFill>
                    <a:srgbClr val="000000"/>
                  </a:solidFill>
                  <a:latin typeface="+mj-lt"/>
                </a:endParaRPr>
              </a:p>
            </p:txBody>
          </p:sp>
          <p:sp>
            <p:nvSpPr>
              <p:cNvPr id="54464" name="Rectangle 108"/>
              <p:cNvSpPr>
                <a:spLocks noChangeArrowheads="1"/>
              </p:cNvSpPr>
              <p:nvPr/>
            </p:nvSpPr>
            <p:spPr bwMode="auto">
              <a:xfrm>
                <a:off x="4193" y="2868"/>
                <a:ext cx="297" cy="19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sz="1200">
                    <a:solidFill>
                      <a:srgbClr val="000000"/>
                    </a:solidFill>
                    <a:latin typeface="+mj-lt"/>
                  </a:rPr>
                  <a:t>Data</a:t>
                </a:r>
              </a:p>
              <a:p>
                <a:pPr algn="ctr">
                  <a:lnSpc>
                    <a:spcPct val="90000"/>
                  </a:lnSpc>
                </a:pPr>
                <a:r>
                  <a:rPr lang="en-US" sz="1200">
                    <a:solidFill>
                      <a:srgbClr val="000000"/>
                    </a:solidFill>
                    <a:latin typeface="+mj-lt"/>
                  </a:rPr>
                  <a:t>Memory</a:t>
                </a:r>
                <a:endParaRPr lang="en-US" sz="800">
                  <a:solidFill>
                    <a:srgbClr val="000000"/>
                  </a:solidFill>
                  <a:latin typeface="+mj-lt"/>
                </a:endParaRPr>
              </a:p>
            </p:txBody>
          </p:sp>
          <p:sp>
            <p:nvSpPr>
              <p:cNvPr id="54458" name="Rectangle 102"/>
              <p:cNvSpPr>
                <a:spLocks noChangeArrowheads="1"/>
              </p:cNvSpPr>
              <p:nvPr/>
            </p:nvSpPr>
            <p:spPr bwMode="auto">
              <a:xfrm>
                <a:off x="4073" y="3223"/>
                <a:ext cx="311" cy="9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050" dirty="0" err="1">
                    <a:solidFill>
                      <a:srgbClr val="EB7500"/>
                    </a:solidFill>
                    <a:latin typeface="+mj-lt"/>
                  </a:rPr>
                  <a:t>MemRead</a:t>
                </a:r>
                <a:endParaRPr lang="en-US" sz="1050" dirty="0">
                  <a:solidFill>
                    <a:srgbClr val="EB7500"/>
                  </a:solidFill>
                  <a:latin typeface="+mj-lt"/>
                </a:endParaRPr>
              </a:p>
            </p:txBody>
          </p:sp>
          <p:sp>
            <p:nvSpPr>
              <p:cNvPr id="54459" name="Rectangle 103"/>
              <p:cNvSpPr>
                <a:spLocks noChangeArrowheads="1"/>
              </p:cNvSpPr>
              <p:nvPr/>
            </p:nvSpPr>
            <p:spPr bwMode="auto">
              <a:xfrm>
                <a:off x="4063" y="2378"/>
                <a:ext cx="332" cy="9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050" dirty="0" err="1">
                    <a:solidFill>
                      <a:srgbClr val="EB7500"/>
                    </a:solidFill>
                    <a:latin typeface="+mj-lt"/>
                  </a:rPr>
                  <a:t>MemWrite</a:t>
                </a:r>
                <a:endParaRPr lang="en-US" sz="1050" dirty="0">
                  <a:solidFill>
                    <a:srgbClr val="EB7500"/>
                  </a:solidFill>
                  <a:latin typeface="+mj-lt"/>
                </a:endParaRPr>
              </a:p>
            </p:txBody>
          </p:sp>
        </p:grpSp>
        <p:sp>
          <p:nvSpPr>
            <p:cNvPr id="54385" name="Freeform 109"/>
            <p:cNvSpPr>
              <a:spLocks/>
            </p:cNvSpPr>
            <p:nvPr/>
          </p:nvSpPr>
          <p:spPr bwMode="auto">
            <a:xfrm>
              <a:off x="3755" y="2266"/>
              <a:ext cx="72" cy="58"/>
            </a:xfrm>
            <a:custGeom>
              <a:avLst/>
              <a:gdLst>
                <a:gd name="T0" fmla="*/ 0 w 72"/>
                <a:gd name="T1" fmla="*/ 0 h 72"/>
                <a:gd name="T2" fmla="*/ 2 w 72"/>
                <a:gd name="T3" fmla="*/ 71 h 72"/>
                <a:gd name="T4" fmla="*/ 71 w 72"/>
                <a:gd name="T5" fmla="*/ 71 h 72"/>
                <a:gd name="T6" fmla="*/ 0 60000 65536"/>
                <a:gd name="T7" fmla="*/ 0 60000 65536"/>
                <a:gd name="T8" fmla="*/ 0 60000 65536"/>
                <a:gd name="T9" fmla="*/ 0 w 72"/>
                <a:gd name="T10" fmla="*/ 0 h 72"/>
                <a:gd name="T11" fmla="*/ 72 w 72"/>
                <a:gd name="T12" fmla="*/ 72 h 7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2" h="72">
                  <a:moveTo>
                    <a:pt x="0" y="0"/>
                  </a:moveTo>
                  <a:lnTo>
                    <a:pt x="2" y="71"/>
                  </a:lnTo>
                  <a:lnTo>
                    <a:pt x="71" y="71"/>
                  </a:lnTo>
                </a:path>
              </a:pathLst>
            </a:custGeom>
            <a:noFill/>
            <a:ln w="12700" cap="rnd" cmpd="sng">
              <a:solidFill>
                <a:srgbClr val="EB75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86" name="Freeform 110"/>
            <p:cNvSpPr>
              <a:spLocks/>
            </p:cNvSpPr>
            <p:nvPr/>
          </p:nvSpPr>
          <p:spPr bwMode="auto">
            <a:xfrm>
              <a:off x="3686" y="2400"/>
              <a:ext cx="141" cy="229"/>
            </a:xfrm>
            <a:custGeom>
              <a:avLst/>
              <a:gdLst>
                <a:gd name="T0" fmla="*/ 0 w 141"/>
                <a:gd name="T1" fmla="*/ 228 h 229"/>
                <a:gd name="T2" fmla="*/ 71 w 141"/>
                <a:gd name="T3" fmla="*/ 228 h 229"/>
                <a:gd name="T4" fmla="*/ 71 w 141"/>
                <a:gd name="T5" fmla="*/ 0 h 229"/>
                <a:gd name="T6" fmla="*/ 140 w 141"/>
                <a:gd name="T7" fmla="*/ 0 h 22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1"/>
                <a:gd name="T13" fmla="*/ 0 h 229"/>
                <a:gd name="T14" fmla="*/ 141 w 141"/>
                <a:gd name="T15" fmla="*/ 229 h 22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1" h="229">
                  <a:moveTo>
                    <a:pt x="0" y="228"/>
                  </a:moveTo>
                  <a:lnTo>
                    <a:pt x="71" y="228"/>
                  </a:lnTo>
                  <a:lnTo>
                    <a:pt x="71" y="0"/>
                  </a:lnTo>
                  <a:lnTo>
                    <a:pt x="140" y="0"/>
                  </a:lnTo>
                </a:path>
              </a:pathLst>
            </a:custGeom>
            <a:noFill/>
            <a:ln w="12700" cap="rnd" cmpd="sng">
              <a:solidFill>
                <a:srgbClr val="EB75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87" name="Freeform 111"/>
            <p:cNvSpPr>
              <a:spLocks/>
            </p:cNvSpPr>
            <p:nvPr/>
          </p:nvSpPr>
          <p:spPr bwMode="auto">
            <a:xfrm>
              <a:off x="3826" y="2302"/>
              <a:ext cx="145" cy="122"/>
            </a:xfrm>
            <a:custGeom>
              <a:avLst/>
              <a:gdLst>
                <a:gd name="T0" fmla="*/ 85 w 145"/>
                <a:gd name="T1" fmla="*/ 119 h 122"/>
                <a:gd name="T2" fmla="*/ 96 w 145"/>
                <a:gd name="T3" fmla="*/ 119 h 122"/>
                <a:gd name="T4" fmla="*/ 104 w 145"/>
                <a:gd name="T5" fmla="*/ 117 h 122"/>
                <a:gd name="T6" fmla="*/ 113 w 145"/>
                <a:gd name="T7" fmla="*/ 113 h 122"/>
                <a:gd name="T8" fmla="*/ 121 w 145"/>
                <a:gd name="T9" fmla="*/ 107 h 122"/>
                <a:gd name="T10" fmla="*/ 127 w 145"/>
                <a:gd name="T11" fmla="*/ 102 h 122"/>
                <a:gd name="T12" fmla="*/ 132 w 145"/>
                <a:gd name="T13" fmla="*/ 96 h 122"/>
                <a:gd name="T14" fmla="*/ 138 w 145"/>
                <a:gd name="T15" fmla="*/ 88 h 122"/>
                <a:gd name="T16" fmla="*/ 142 w 145"/>
                <a:gd name="T17" fmla="*/ 79 h 122"/>
                <a:gd name="T18" fmla="*/ 144 w 145"/>
                <a:gd name="T19" fmla="*/ 69 h 122"/>
                <a:gd name="T20" fmla="*/ 144 w 145"/>
                <a:gd name="T21" fmla="*/ 60 h 122"/>
                <a:gd name="T22" fmla="*/ 144 w 145"/>
                <a:gd name="T23" fmla="*/ 50 h 122"/>
                <a:gd name="T24" fmla="*/ 142 w 145"/>
                <a:gd name="T25" fmla="*/ 40 h 122"/>
                <a:gd name="T26" fmla="*/ 138 w 145"/>
                <a:gd name="T27" fmla="*/ 33 h 122"/>
                <a:gd name="T28" fmla="*/ 132 w 145"/>
                <a:gd name="T29" fmla="*/ 25 h 122"/>
                <a:gd name="T30" fmla="*/ 127 w 145"/>
                <a:gd name="T31" fmla="*/ 17 h 122"/>
                <a:gd name="T32" fmla="*/ 121 w 145"/>
                <a:gd name="T33" fmla="*/ 12 h 122"/>
                <a:gd name="T34" fmla="*/ 113 w 145"/>
                <a:gd name="T35" fmla="*/ 6 h 122"/>
                <a:gd name="T36" fmla="*/ 104 w 145"/>
                <a:gd name="T37" fmla="*/ 2 h 122"/>
                <a:gd name="T38" fmla="*/ 96 w 145"/>
                <a:gd name="T39" fmla="*/ 0 h 122"/>
                <a:gd name="T40" fmla="*/ 86 w 145"/>
                <a:gd name="T41" fmla="*/ 0 h 122"/>
                <a:gd name="T42" fmla="*/ 0 w 145"/>
                <a:gd name="T43" fmla="*/ 0 h 122"/>
                <a:gd name="T44" fmla="*/ 0 w 145"/>
                <a:gd name="T45" fmla="*/ 121 h 122"/>
                <a:gd name="T46" fmla="*/ 86 w 145"/>
                <a:gd name="T47" fmla="*/ 121 h 122"/>
                <a:gd name="T48" fmla="*/ 86 w 145"/>
                <a:gd name="T49" fmla="*/ 121 h 122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145"/>
                <a:gd name="T76" fmla="*/ 0 h 122"/>
                <a:gd name="T77" fmla="*/ 145 w 145"/>
                <a:gd name="T78" fmla="*/ 122 h 122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145" h="122">
                  <a:moveTo>
                    <a:pt x="85" y="119"/>
                  </a:moveTo>
                  <a:lnTo>
                    <a:pt x="96" y="119"/>
                  </a:lnTo>
                  <a:lnTo>
                    <a:pt x="104" y="117"/>
                  </a:lnTo>
                  <a:lnTo>
                    <a:pt x="113" y="113"/>
                  </a:lnTo>
                  <a:lnTo>
                    <a:pt x="121" y="107"/>
                  </a:lnTo>
                  <a:lnTo>
                    <a:pt x="127" y="102"/>
                  </a:lnTo>
                  <a:lnTo>
                    <a:pt x="132" y="96"/>
                  </a:lnTo>
                  <a:lnTo>
                    <a:pt x="138" y="88"/>
                  </a:lnTo>
                  <a:lnTo>
                    <a:pt x="142" y="79"/>
                  </a:lnTo>
                  <a:lnTo>
                    <a:pt x="144" y="69"/>
                  </a:lnTo>
                  <a:lnTo>
                    <a:pt x="144" y="60"/>
                  </a:lnTo>
                  <a:lnTo>
                    <a:pt x="144" y="50"/>
                  </a:lnTo>
                  <a:lnTo>
                    <a:pt x="142" y="40"/>
                  </a:lnTo>
                  <a:lnTo>
                    <a:pt x="138" y="33"/>
                  </a:lnTo>
                  <a:lnTo>
                    <a:pt x="132" y="25"/>
                  </a:lnTo>
                  <a:lnTo>
                    <a:pt x="127" y="17"/>
                  </a:lnTo>
                  <a:lnTo>
                    <a:pt x="121" y="12"/>
                  </a:lnTo>
                  <a:lnTo>
                    <a:pt x="113" y="6"/>
                  </a:lnTo>
                  <a:lnTo>
                    <a:pt x="104" y="2"/>
                  </a:lnTo>
                  <a:lnTo>
                    <a:pt x="96" y="0"/>
                  </a:lnTo>
                  <a:lnTo>
                    <a:pt x="86" y="0"/>
                  </a:lnTo>
                  <a:lnTo>
                    <a:pt x="0" y="0"/>
                  </a:lnTo>
                  <a:lnTo>
                    <a:pt x="0" y="121"/>
                  </a:lnTo>
                  <a:lnTo>
                    <a:pt x="86" y="121"/>
                  </a:lnTo>
                </a:path>
              </a:pathLst>
            </a:custGeom>
            <a:solidFill>
              <a:srgbClr val="FFE6CD"/>
            </a:solidFill>
            <a:ln w="19050" cap="rnd" cmpd="sng">
              <a:solidFill>
                <a:srgbClr val="EB75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90" name="Line 114"/>
            <p:cNvSpPr>
              <a:spLocks noChangeShapeType="1"/>
            </p:cNvSpPr>
            <p:nvPr/>
          </p:nvSpPr>
          <p:spPr bwMode="auto">
            <a:xfrm>
              <a:off x="1543" y="3804"/>
              <a:ext cx="335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91" name="Line 115"/>
            <p:cNvSpPr>
              <a:spLocks noChangeShapeType="1"/>
            </p:cNvSpPr>
            <p:nvPr/>
          </p:nvSpPr>
          <p:spPr bwMode="auto">
            <a:xfrm flipV="1">
              <a:off x="1545" y="2751"/>
              <a:ext cx="0" cy="10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92" name="Line 116"/>
            <p:cNvSpPr>
              <a:spLocks noChangeShapeType="1"/>
            </p:cNvSpPr>
            <p:nvPr/>
          </p:nvSpPr>
          <p:spPr bwMode="auto">
            <a:xfrm>
              <a:off x="1541" y="2748"/>
              <a:ext cx="26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93" name="Line 117"/>
            <p:cNvSpPr>
              <a:spLocks noChangeShapeType="1"/>
            </p:cNvSpPr>
            <p:nvPr/>
          </p:nvSpPr>
          <p:spPr bwMode="auto">
            <a:xfrm>
              <a:off x="1725" y="2895"/>
              <a:ext cx="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94" name="Line 118"/>
            <p:cNvSpPr>
              <a:spLocks noChangeShapeType="1"/>
            </p:cNvSpPr>
            <p:nvPr/>
          </p:nvSpPr>
          <p:spPr bwMode="auto">
            <a:xfrm flipV="1">
              <a:off x="1728" y="2895"/>
              <a:ext cx="0" cy="99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95" name="Line 119"/>
            <p:cNvSpPr>
              <a:spLocks noChangeShapeType="1"/>
            </p:cNvSpPr>
            <p:nvPr/>
          </p:nvSpPr>
          <p:spPr bwMode="auto">
            <a:xfrm>
              <a:off x="1728" y="3882"/>
              <a:ext cx="3336" cy="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96" name="Line 120"/>
            <p:cNvSpPr>
              <a:spLocks noChangeShapeType="1"/>
            </p:cNvSpPr>
            <p:nvPr/>
          </p:nvSpPr>
          <p:spPr bwMode="auto">
            <a:xfrm flipV="1">
              <a:off x="4963" y="2651"/>
              <a:ext cx="0" cy="51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97" name="Line 121"/>
            <p:cNvSpPr>
              <a:spLocks noChangeShapeType="1"/>
            </p:cNvSpPr>
            <p:nvPr/>
          </p:nvSpPr>
          <p:spPr bwMode="auto">
            <a:xfrm flipH="1">
              <a:off x="4800" y="2744"/>
              <a:ext cx="115" cy="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98" name="Freeform 122"/>
            <p:cNvSpPr>
              <a:spLocks/>
            </p:cNvSpPr>
            <p:nvPr/>
          </p:nvSpPr>
          <p:spPr bwMode="auto">
            <a:xfrm>
              <a:off x="4800" y="2953"/>
              <a:ext cx="119" cy="405"/>
            </a:xfrm>
            <a:custGeom>
              <a:avLst/>
              <a:gdLst>
                <a:gd name="T0" fmla="*/ 118 w 104"/>
                <a:gd name="T1" fmla="*/ 0 h 204"/>
                <a:gd name="T2" fmla="*/ 60 w 104"/>
                <a:gd name="T3" fmla="*/ 0 h 204"/>
                <a:gd name="T4" fmla="*/ 60 w 104"/>
                <a:gd name="T5" fmla="*/ 403 h 204"/>
                <a:gd name="T6" fmla="*/ 0 w 104"/>
                <a:gd name="T7" fmla="*/ 403 h 20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4"/>
                <a:gd name="T13" fmla="*/ 0 h 204"/>
                <a:gd name="T14" fmla="*/ 104 w 104"/>
                <a:gd name="T15" fmla="*/ 204 h 20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4" h="204">
                  <a:moveTo>
                    <a:pt x="103" y="0"/>
                  </a:moveTo>
                  <a:lnTo>
                    <a:pt x="52" y="0"/>
                  </a:lnTo>
                  <a:lnTo>
                    <a:pt x="52" y="203"/>
                  </a:lnTo>
                  <a:lnTo>
                    <a:pt x="0" y="203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triangl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00" name="Line 124"/>
            <p:cNvSpPr>
              <a:spLocks noChangeShapeType="1"/>
            </p:cNvSpPr>
            <p:nvPr/>
          </p:nvSpPr>
          <p:spPr bwMode="auto">
            <a:xfrm>
              <a:off x="4803" y="3558"/>
              <a:ext cx="9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01" name="Line 125"/>
            <p:cNvSpPr>
              <a:spLocks noChangeShapeType="1"/>
            </p:cNvSpPr>
            <p:nvPr/>
          </p:nvSpPr>
          <p:spPr bwMode="auto">
            <a:xfrm rot="5400000">
              <a:off x="4770" y="3681"/>
              <a:ext cx="25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02" name="Line 126"/>
            <p:cNvSpPr>
              <a:spLocks noChangeShapeType="1"/>
            </p:cNvSpPr>
            <p:nvPr/>
          </p:nvSpPr>
          <p:spPr bwMode="auto">
            <a:xfrm flipV="1">
              <a:off x="5067" y="2847"/>
              <a:ext cx="0" cy="10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03" name="Line 127"/>
            <p:cNvSpPr>
              <a:spLocks noChangeShapeType="1"/>
            </p:cNvSpPr>
            <p:nvPr/>
          </p:nvSpPr>
          <p:spPr bwMode="auto">
            <a:xfrm flipV="1">
              <a:off x="5025" y="2847"/>
              <a:ext cx="42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04" name="Freeform 128"/>
            <p:cNvSpPr>
              <a:spLocks/>
            </p:cNvSpPr>
            <p:nvPr/>
          </p:nvSpPr>
          <p:spPr bwMode="auto">
            <a:xfrm>
              <a:off x="636" y="1885"/>
              <a:ext cx="276" cy="631"/>
            </a:xfrm>
            <a:custGeom>
              <a:avLst/>
              <a:gdLst>
                <a:gd name="T0" fmla="*/ 275 w 194"/>
                <a:gd name="T1" fmla="*/ 0 h 631"/>
                <a:gd name="T2" fmla="*/ 0 w 194"/>
                <a:gd name="T3" fmla="*/ 2 h 631"/>
                <a:gd name="T4" fmla="*/ 0 w 194"/>
                <a:gd name="T5" fmla="*/ 630 h 631"/>
                <a:gd name="T6" fmla="*/ 0 60000 65536"/>
                <a:gd name="T7" fmla="*/ 0 60000 65536"/>
                <a:gd name="T8" fmla="*/ 0 60000 65536"/>
                <a:gd name="T9" fmla="*/ 0 w 194"/>
                <a:gd name="T10" fmla="*/ 0 h 631"/>
                <a:gd name="T11" fmla="*/ 194 w 194"/>
                <a:gd name="T12" fmla="*/ 631 h 63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4" h="631">
                  <a:moveTo>
                    <a:pt x="193" y="0"/>
                  </a:moveTo>
                  <a:lnTo>
                    <a:pt x="0" y="2"/>
                  </a:lnTo>
                  <a:lnTo>
                    <a:pt x="0" y="63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triangl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05" name="Freeform 129"/>
            <p:cNvSpPr>
              <a:spLocks/>
            </p:cNvSpPr>
            <p:nvPr/>
          </p:nvSpPr>
          <p:spPr bwMode="auto">
            <a:xfrm>
              <a:off x="624" y="2503"/>
              <a:ext cx="24" cy="24"/>
            </a:xfrm>
            <a:custGeom>
              <a:avLst/>
              <a:gdLst>
                <a:gd name="T0" fmla="*/ 12 w 24"/>
                <a:gd name="T1" fmla="*/ 21 h 24"/>
                <a:gd name="T2" fmla="*/ 14 w 24"/>
                <a:gd name="T3" fmla="*/ 21 h 24"/>
                <a:gd name="T4" fmla="*/ 16 w 24"/>
                <a:gd name="T5" fmla="*/ 21 h 24"/>
                <a:gd name="T6" fmla="*/ 17 w 24"/>
                <a:gd name="T7" fmla="*/ 21 h 24"/>
                <a:gd name="T8" fmla="*/ 19 w 24"/>
                <a:gd name="T9" fmla="*/ 19 h 24"/>
                <a:gd name="T10" fmla="*/ 19 w 24"/>
                <a:gd name="T11" fmla="*/ 19 h 24"/>
                <a:gd name="T12" fmla="*/ 21 w 24"/>
                <a:gd name="T13" fmla="*/ 18 h 24"/>
                <a:gd name="T14" fmla="*/ 23 w 24"/>
                <a:gd name="T15" fmla="*/ 16 h 24"/>
                <a:gd name="T16" fmla="*/ 23 w 24"/>
                <a:gd name="T17" fmla="*/ 14 h 24"/>
                <a:gd name="T18" fmla="*/ 23 w 24"/>
                <a:gd name="T19" fmla="*/ 14 h 24"/>
                <a:gd name="T20" fmla="*/ 23 w 24"/>
                <a:gd name="T21" fmla="*/ 12 h 24"/>
                <a:gd name="T22" fmla="*/ 23 w 24"/>
                <a:gd name="T23" fmla="*/ 10 h 24"/>
                <a:gd name="T24" fmla="*/ 23 w 24"/>
                <a:gd name="T25" fmla="*/ 8 h 24"/>
                <a:gd name="T26" fmla="*/ 23 w 24"/>
                <a:gd name="T27" fmla="*/ 6 h 24"/>
                <a:gd name="T28" fmla="*/ 21 w 24"/>
                <a:gd name="T29" fmla="*/ 4 h 24"/>
                <a:gd name="T30" fmla="*/ 19 w 24"/>
                <a:gd name="T31" fmla="*/ 2 h 24"/>
                <a:gd name="T32" fmla="*/ 19 w 24"/>
                <a:gd name="T33" fmla="*/ 2 h 24"/>
                <a:gd name="T34" fmla="*/ 17 w 24"/>
                <a:gd name="T35" fmla="*/ 0 h 24"/>
                <a:gd name="T36" fmla="*/ 16 w 24"/>
                <a:gd name="T37" fmla="*/ 0 h 24"/>
                <a:gd name="T38" fmla="*/ 14 w 24"/>
                <a:gd name="T39" fmla="*/ 0 h 24"/>
                <a:gd name="T40" fmla="*/ 12 w 24"/>
                <a:gd name="T41" fmla="*/ 0 h 24"/>
                <a:gd name="T42" fmla="*/ 10 w 24"/>
                <a:gd name="T43" fmla="*/ 0 h 24"/>
                <a:gd name="T44" fmla="*/ 8 w 24"/>
                <a:gd name="T45" fmla="*/ 0 h 24"/>
                <a:gd name="T46" fmla="*/ 6 w 24"/>
                <a:gd name="T47" fmla="*/ 0 h 24"/>
                <a:gd name="T48" fmla="*/ 6 w 24"/>
                <a:gd name="T49" fmla="*/ 2 h 24"/>
                <a:gd name="T50" fmla="*/ 4 w 24"/>
                <a:gd name="T51" fmla="*/ 2 h 24"/>
                <a:gd name="T52" fmla="*/ 2 w 24"/>
                <a:gd name="T53" fmla="*/ 4 h 24"/>
                <a:gd name="T54" fmla="*/ 2 w 24"/>
                <a:gd name="T55" fmla="*/ 6 h 24"/>
                <a:gd name="T56" fmla="*/ 0 w 24"/>
                <a:gd name="T57" fmla="*/ 8 h 24"/>
                <a:gd name="T58" fmla="*/ 0 w 24"/>
                <a:gd name="T59" fmla="*/ 10 h 24"/>
                <a:gd name="T60" fmla="*/ 0 w 24"/>
                <a:gd name="T61" fmla="*/ 12 h 24"/>
                <a:gd name="T62" fmla="*/ 0 w 24"/>
                <a:gd name="T63" fmla="*/ 14 h 24"/>
                <a:gd name="T64" fmla="*/ 0 w 24"/>
                <a:gd name="T65" fmla="*/ 14 h 24"/>
                <a:gd name="T66" fmla="*/ 2 w 24"/>
                <a:gd name="T67" fmla="*/ 16 h 24"/>
                <a:gd name="T68" fmla="*/ 2 w 24"/>
                <a:gd name="T69" fmla="*/ 18 h 24"/>
                <a:gd name="T70" fmla="*/ 4 w 24"/>
                <a:gd name="T71" fmla="*/ 19 h 24"/>
                <a:gd name="T72" fmla="*/ 6 w 24"/>
                <a:gd name="T73" fmla="*/ 19 h 24"/>
                <a:gd name="T74" fmla="*/ 6 w 24"/>
                <a:gd name="T75" fmla="*/ 21 h 24"/>
                <a:gd name="T76" fmla="*/ 8 w 24"/>
                <a:gd name="T77" fmla="*/ 21 h 24"/>
                <a:gd name="T78" fmla="*/ 10 w 24"/>
                <a:gd name="T79" fmla="*/ 21 h 24"/>
                <a:gd name="T80" fmla="*/ 12 w 24"/>
                <a:gd name="T81" fmla="*/ 23 h 24"/>
                <a:gd name="T82" fmla="*/ 12 w 24"/>
                <a:gd name="T83" fmla="*/ 23 h 24"/>
                <a:gd name="T84" fmla="*/ 12 w 24"/>
                <a:gd name="T85" fmla="*/ 21 h 2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4"/>
                <a:gd name="T130" fmla="*/ 0 h 24"/>
                <a:gd name="T131" fmla="*/ 24 w 24"/>
                <a:gd name="T132" fmla="*/ 24 h 24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4" h="24">
                  <a:moveTo>
                    <a:pt x="12" y="21"/>
                  </a:moveTo>
                  <a:lnTo>
                    <a:pt x="14" y="21"/>
                  </a:lnTo>
                  <a:lnTo>
                    <a:pt x="16" y="21"/>
                  </a:lnTo>
                  <a:lnTo>
                    <a:pt x="17" y="21"/>
                  </a:lnTo>
                  <a:lnTo>
                    <a:pt x="19" y="19"/>
                  </a:lnTo>
                  <a:lnTo>
                    <a:pt x="21" y="18"/>
                  </a:lnTo>
                  <a:lnTo>
                    <a:pt x="23" y="16"/>
                  </a:lnTo>
                  <a:lnTo>
                    <a:pt x="23" y="14"/>
                  </a:lnTo>
                  <a:lnTo>
                    <a:pt x="23" y="12"/>
                  </a:lnTo>
                  <a:lnTo>
                    <a:pt x="23" y="10"/>
                  </a:lnTo>
                  <a:lnTo>
                    <a:pt x="23" y="8"/>
                  </a:lnTo>
                  <a:lnTo>
                    <a:pt x="23" y="6"/>
                  </a:lnTo>
                  <a:lnTo>
                    <a:pt x="21" y="4"/>
                  </a:lnTo>
                  <a:lnTo>
                    <a:pt x="19" y="2"/>
                  </a:lnTo>
                  <a:lnTo>
                    <a:pt x="17" y="0"/>
                  </a:lnTo>
                  <a:lnTo>
                    <a:pt x="16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8" y="0"/>
                  </a:lnTo>
                  <a:lnTo>
                    <a:pt x="6" y="0"/>
                  </a:lnTo>
                  <a:lnTo>
                    <a:pt x="6" y="2"/>
                  </a:lnTo>
                  <a:lnTo>
                    <a:pt x="4" y="2"/>
                  </a:lnTo>
                  <a:lnTo>
                    <a:pt x="2" y="4"/>
                  </a:lnTo>
                  <a:lnTo>
                    <a:pt x="2" y="6"/>
                  </a:lnTo>
                  <a:lnTo>
                    <a:pt x="0" y="8"/>
                  </a:lnTo>
                  <a:lnTo>
                    <a:pt x="0" y="10"/>
                  </a:lnTo>
                  <a:lnTo>
                    <a:pt x="0" y="12"/>
                  </a:lnTo>
                  <a:lnTo>
                    <a:pt x="0" y="14"/>
                  </a:lnTo>
                  <a:lnTo>
                    <a:pt x="2" y="16"/>
                  </a:lnTo>
                  <a:lnTo>
                    <a:pt x="2" y="18"/>
                  </a:lnTo>
                  <a:lnTo>
                    <a:pt x="4" y="19"/>
                  </a:lnTo>
                  <a:lnTo>
                    <a:pt x="6" y="19"/>
                  </a:lnTo>
                  <a:lnTo>
                    <a:pt x="6" y="21"/>
                  </a:lnTo>
                  <a:lnTo>
                    <a:pt x="8" y="21"/>
                  </a:lnTo>
                  <a:lnTo>
                    <a:pt x="10" y="21"/>
                  </a:lnTo>
                  <a:lnTo>
                    <a:pt x="12" y="23"/>
                  </a:lnTo>
                  <a:lnTo>
                    <a:pt x="12" y="21"/>
                  </a:lnTo>
                </a:path>
              </a:pathLst>
            </a:custGeom>
            <a:solidFill>
              <a:srgbClr val="000000"/>
            </a:solidFill>
            <a:ln w="9525" cap="rnd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06" name="Rectangle 130"/>
            <p:cNvSpPr>
              <a:spLocks noChangeArrowheads="1"/>
            </p:cNvSpPr>
            <p:nvPr/>
          </p:nvSpPr>
          <p:spPr bwMode="auto">
            <a:xfrm>
              <a:off x="695" y="2081"/>
              <a:ext cx="146" cy="1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sz="1200">
                  <a:solidFill>
                    <a:srgbClr val="000000"/>
                  </a:solidFill>
                  <a:latin typeface="+mj-lt"/>
                </a:rPr>
                <a:t>4</a:t>
              </a:r>
              <a:endParaRPr lang="en-US" sz="6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407" name="Freeform 131"/>
            <p:cNvSpPr>
              <a:spLocks/>
            </p:cNvSpPr>
            <p:nvPr/>
          </p:nvSpPr>
          <p:spPr bwMode="auto">
            <a:xfrm>
              <a:off x="1359" y="1917"/>
              <a:ext cx="93" cy="1777"/>
            </a:xfrm>
            <a:custGeom>
              <a:avLst/>
              <a:gdLst>
                <a:gd name="T0" fmla="*/ 90 w 93"/>
                <a:gd name="T1" fmla="*/ 1776 h 1777"/>
                <a:gd name="T2" fmla="*/ 92 w 93"/>
                <a:gd name="T3" fmla="*/ 0 h 1777"/>
                <a:gd name="T4" fmla="*/ 0 w 93"/>
                <a:gd name="T5" fmla="*/ 0 h 1777"/>
                <a:gd name="T6" fmla="*/ 0 w 93"/>
                <a:gd name="T7" fmla="*/ 1776 h 1777"/>
                <a:gd name="T8" fmla="*/ 92 w 93"/>
                <a:gd name="T9" fmla="*/ 1776 h 1777"/>
                <a:gd name="T10" fmla="*/ 92 w 93"/>
                <a:gd name="T11" fmla="*/ 1776 h 177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3"/>
                <a:gd name="T19" fmla="*/ 0 h 1777"/>
                <a:gd name="T20" fmla="*/ 93 w 93"/>
                <a:gd name="T21" fmla="*/ 1777 h 177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3" h="1777">
                  <a:moveTo>
                    <a:pt x="90" y="1776"/>
                  </a:moveTo>
                  <a:lnTo>
                    <a:pt x="92" y="0"/>
                  </a:lnTo>
                  <a:lnTo>
                    <a:pt x="0" y="0"/>
                  </a:lnTo>
                  <a:lnTo>
                    <a:pt x="0" y="1776"/>
                  </a:lnTo>
                  <a:lnTo>
                    <a:pt x="92" y="1776"/>
                  </a:lnTo>
                </a:path>
              </a:pathLst>
            </a:custGeom>
            <a:solidFill>
              <a:srgbClr val="CCECFF"/>
            </a:solidFill>
            <a:ln w="190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08" name="Line 132"/>
            <p:cNvSpPr>
              <a:spLocks noChangeShapeType="1"/>
            </p:cNvSpPr>
            <p:nvPr/>
          </p:nvSpPr>
          <p:spPr bwMode="auto">
            <a:xfrm flipH="1" flipV="1">
              <a:off x="1202" y="2021"/>
              <a:ext cx="163" cy="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09" name="Freeform 133"/>
            <p:cNvSpPr>
              <a:spLocks/>
            </p:cNvSpPr>
            <p:nvPr/>
          </p:nvSpPr>
          <p:spPr bwMode="auto">
            <a:xfrm>
              <a:off x="1236" y="2013"/>
              <a:ext cx="24" cy="24"/>
            </a:xfrm>
            <a:custGeom>
              <a:avLst/>
              <a:gdLst>
                <a:gd name="T0" fmla="*/ 9 w 24"/>
                <a:gd name="T1" fmla="*/ 23 h 24"/>
                <a:gd name="T2" fmla="*/ 13 w 24"/>
                <a:gd name="T3" fmla="*/ 23 h 24"/>
                <a:gd name="T4" fmla="*/ 15 w 24"/>
                <a:gd name="T5" fmla="*/ 23 h 24"/>
                <a:gd name="T6" fmla="*/ 15 w 24"/>
                <a:gd name="T7" fmla="*/ 21 h 24"/>
                <a:gd name="T8" fmla="*/ 17 w 24"/>
                <a:gd name="T9" fmla="*/ 21 h 24"/>
                <a:gd name="T10" fmla="*/ 19 w 24"/>
                <a:gd name="T11" fmla="*/ 19 h 24"/>
                <a:gd name="T12" fmla="*/ 19 w 24"/>
                <a:gd name="T13" fmla="*/ 19 h 24"/>
                <a:gd name="T14" fmla="*/ 21 w 24"/>
                <a:gd name="T15" fmla="*/ 17 h 24"/>
                <a:gd name="T16" fmla="*/ 21 w 24"/>
                <a:gd name="T17" fmla="*/ 15 h 24"/>
                <a:gd name="T18" fmla="*/ 23 w 24"/>
                <a:gd name="T19" fmla="*/ 13 h 24"/>
                <a:gd name="T20" fmla="*/ 23 w 24"/>
                <a:gd name="T21" fmla="*/ 11 h 24"/>
                <a:gd name="T22" fmla="*/ 23 w 24"/>
                <a:gd name="T23" fmla="*/ 9 h 24"/>
                <a:gd name="T24" fmla="*/ 21 w 24"/>
                <a:gd name="T25" fmla="*/ 8 h 24"/>
                <a:gd name="T26" fmla="*/ 21 w 24"/>
                <a:gd name="T27" fmla="*/ 6 h 24"/>
                <a:gd name="T28" fmla="*/ 19 w 24"/>
                <a:gd name="T29" fmla="*/ 6 h 24"/>
                <a:gd name="T30" fmla="*/ 19 w 24"/>
                <a:gd name="T31" fmla="*/ 4 h 24"/>
                <a:gd name="T32" fmla="*/ 17 w 24"/>
                <a:gd name="T33" fmla="*/ 2 h 24"/>
                <a:gd name="T34" fmla="*/ 15 w 24"/>
                <a:gd name="T35" fmla="*/ 2 h 24"/>
                <a:gd name="T36" fmla="*/ 15 w 24"/>
                <a:gd name="T37" fmla="*/ 0 h 24"/>
                <a:gd name="T38" fmla="*/ 13 w 24"/>
                <a:gd name="T39" fmla="*/ 0 h 24"/>
                <a:gd name="T40" fmla="*/ 11 w 24"/>
                <a:gd name="T41" fmla="*/ 0 h 24"/>
                <a:gd name="T42" fmla="*/ 9 w 24"/>
                <a:gd name="T43" fmla="*/ 0 h 24"/>
                <a:gd name="T44" fmla="*/ 7 w 24"/>
                <a:gd name="T45" fmla="*/ 0 h 24"/>
                <a:gd name="T46" fmla="*/ 5 w 24"/>
                <a:gd name="T47" fmla="*/ 2 h 24"/>
                <a:gd name="T48" fmla="*/ 4 w 24"/>
                <a:gd name="T49" fmla="*/ 2 h 24"/>
                <a:gd name="T50" fmla="*/ 2 w 24"/>
                <a:gd name="T51" fmla="*/ 4 h 24"/>
                <a:gd name="T52" fmla="*/ 2 w 24"/>
                <a:gd name="T53" fmla="*/ 6 h 24"/>
                <a:gd name="T54" fmla="*/ 0 w 24"/>
                <a:gd name="T55" fmla="*/ 6 h 24"/>
                <a:gd name="T56" fmla="*/ 0 w 24"/>
                <a:gd name="T57" fmla="*/ 8 h 24"/>
                <a:gd name="T58" fmla="*/ 0 w 24"/>
                <a:gd name="T59" fmla="*/ 9 h 24"/>
                <a:gd name="T60" fmla="*/ 0 w 24"/>
                <a:gd name="T61" fmla="*/ 11 h 24"/>
                <a:gd name="T62" fmla="*/ 0 w 24"/>
                <a:gd name="T63" fmla="*/ 13 h 24"/>
                <a:gd name="T64" fmla="*/ 0 w 24"/>
                <a:gd name="T65" fmla="*/ 15 h 24"/>
                <a:gd name="T66" fmla="*/ 0 w 24"/>
                <a:gd name="T67" fmla="*/ 17 h 24"/>
                <a:gd name="T68" fmla="*/ 2 w 24"/>
                <a:gd name="T69" fmla="*/ 19 h 24"/>
                <a:gd name="T70" fmla="*/ 2 w 24"/>
                <a:gd name="T71" fmla="*/ 19 h 24"/>
                <a:gd name="T72" fmla="*/ 4 w 24"/>
                <a:gd name="T73" fmla="*/ 21 h 24"/>
                <a:gd name="T74" fmla="*/ 5 w 24"/>
                <a:gd name="T75" fmla="*/ 21 h 24"/>
                <a:gd name="T76" fmla="*/ 7 w 24"/>
                <a:gd name="T77" fmla="*/ 23 h 24"/>
                <a:gd name="T78" fmla="*/ 9 w 24"/>
                <a:gd name="T79" fmla="*/ 23 h 24"/>
                <a:gd name="T80" fmla="*/ 11 w 24"/>
                <a:gd name="T81" fmla="*/ 23 h 24"/>
                <a:gd name="T82" fmla="*/ 11 w 24"/>
                <a:gd name="T83" fmla="*/ 23 h 24"/>
                <a:gd name="T84" fmla="*/ 9 w 24"/>
                <a:gd name="T85" fmla="*/ 23 h 2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4"/>
                <a:gd name="T130" fmla="*/ 0 h 24"/>
                <a:gd name="T131" fmla="*/ 24 w 24"/>
                <a:gd name="T132" fmla="*/ 24 h 24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4" h="24">
                  <a:moveTo>
                    <a:pt x="9" y="23"/>
                  </a:moveTo>
                  <a:lnTo>
                    <a:pt x="13" y="23"/>
                  </a:lnTo>
                  <a:lnTo>
                    <a:pt x="15" y="23"/>
                  </a:lnTo>
                  <a:lnTo>
                    <a:pt x="15" y="21"/>
                  </a:lnTo>
                  <a:lnTo>
                    <a:pt x="17" y="21"/>
                  </a:lnTo>
                  <a:lnTo>
                    <a:pt x="19" y="19"/>
                  </a:lnTo>
                  <a:lnTo>
                    <a:pt x="21" y="17"/>
                  </a:lnTo>
                  <a:lnTo>
                    <a:pt x="21" y="15"/>
                  </a:lnTo>
                  <a:lnTo>
                    <a:pt x="23" y="13"/>
                  </a:lnTo>
                  <a:lnTo>
                    <a:pt x="23" y="11"/>
                  </a:lnTo>
                  <a:lnTo>
                    <a:pt x="23" y="9"/>
                  </a:lnTo>
                  <a:lnTo>
                    <a:pt x="21" y="8"/>
                  </a:lnTo>
                  <a:lnTo>
                    <a:pt x="21" y="6"/>
                  </a:lnTo>
                  <a:lnTo>
                    <a:pt x="19" y="6"/>
                  </a:lnTo>
                  <a:lnTo>
                    <a:pt x="19" y="4"/>
                  </a:lnTo>
                  <a:lnTo>
                    <a:pt x="17" y="2"/>
                  </a:lnTo>
                  <a:lnTo>
                    <a:pt x="15" y="2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1" y="0"/>
                  </a:lnTo>
                  <a:lnTo>
                    <a:pt x="9" y="0"/>
                  </a:lnTo>
                  <a:lnTo>
                    <a:pt x="7" y="0"/>
                  </a:lnTo>
                  <a:lnTo>
                    <a:pt x="5" y="2"/>
                  </a:lnTo>
                  <a:lnTo>
                    <a:pt x="4" y="2"/>
                  </a:lnTo>
                  <a:lnTo>
                    <a:pt x="2" y="4"/>
                  </a:lnTo>
                  <a:lnTo>
                    <a:pt x="2" y="6"/>
                  </a:lnTo>
                  <a:lnTo>
                    <a:pt x="0" y="6"/>
                  </a:lnTo>
                  <a:lnTo>
                    <a:pt x="0" y="8"/>
                  </a:lnTo>
                  <a:lnTo>
                    <a:pt x="0" y="9"/>
                  </a:lnTo>
                  <a:lnTo>
                    <a:pt x="0" y="11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0" y="17"/>
                  </a:lnTo>
                  <a:lnTo>
                    <a:pt x="2" y="19"/>
                  </a:lnTo>
                  <a:lnTo>
                    <a:pt x="4" y="21"/>
                  </a:lnTo>
                  <a:lnTo>
                    <a:pt x="5" y="21"/>
                  </a:lnTo>
                  <a:lnTo>
                    <a:pt x="7" y="23"/>
                  </a:lnTo>
                  <a:lnTo>
                    <a:pt x="9" y="23"/>
                  </a:lnTo>
                  <a:lnTo>
                    <a:pt x="11" y="23"/>
                  </a:lnTo>
                  <a:lnTo>
                    <a:pt x="9" y="23"/>
                  </a:lnTo>
                </a:path>
              </a:pathLst>
            </a:custGeom>
            <a:solidFill>
              <a:srgbClr val="000000"/>
            </a:solidFill>
            <a:ln w="9525" cap="rnd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10" name="Freeform 134"/>
            <p:cNvSpPr>
              <a:spLocks/>
            </p:cNvSpPr>
            <p:nvPr/>
          </p:nvSpPr>
          <p:spPr bwMode="auto">
            <a:xfrm>
              <a:off x="915" y="1825"/>
              <a:ext cx="285" cy="413"/>
            </a:xfrm>
            <a:custGeom>
              <a:avLst/>
              <a:gdLst>
                <a:gd name="T0" fmla="*/ 0 w 210"/>
                <a:gd name="T1" fmla="*/ 0 h 413"/>
                <a:gd name="T2" fmla="*/ 0 w 210"/>
                <a:gd name="T3" fmla="*/ 167 h 413"/>
                <a:gd name="T4" fmla="*/ 91 w 210"/>
                <a:gd name="T5" fmla="*/ 207 h 413"/>
                <a:gd name="T6" fmla="*/ 0 w 210"/>
                <a:gd name="T7" fmla="*/ 245 h 413"/>
                <a:gd name="T8" fmla="*/ 0 w 210"/>
                <a:gd name="T9" fmla="*/ 412 h 413"/>
                <a:gd name="T10" fmla="*/ 284 w 210"/>
                <a:gd name="T11" fmla="*/ 286 h 413"/>
                <a:gd name="T12" fmla="*/ 284 w 210"/>
                <a:gd name="T13" fmla="*/ 127 h 413"/>
                <a:gd name="T14" fmla="*/ 0 w 210"/>
                <a:gd name="T15" fmla="*/ 0 h 413"/>
                <a:gd name="T16" fmla="*/ 0 w 210"/>
                <a:gd name="T17" fmla="*/ 0 h 41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10"/>
                <a:gd name="T28" fmla="*/ 0 h 413"/>
                <a:gd name="T29" fmla="*/ 210 w 210"/>
                <a:gd name="T30" fmla="*/ 413 h 413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10" h="413">
                  <a:moveTo>
                    <a:pt x="0" y="0"/>
                  </a:moveTo>
                  <a:lnTo>
                    <a:pt x="0" y="167"/>
                  </a:lnTo>
                  <a:lnTo>
                    <a:pt x="67" y="207"/>
                  </a:lnTo>
                  <a:lnTo>
                    <a:pt x="0" y="245"/>
                  </a:lnTo>
                  <a:lnTo>
                    <a:pt x="0" y="412"/>
                  </a:lnTo>
                  <a:lnTo>
                    <a:pt x="209" y="286"/>
                  </a:lnTo>
                  <a:lnTo>
                    <a:pt x="209" y="127"/>
                  </a:lnTo>
                  <a:lnTo>
                    <a:pt x="0" y="0"/>
                  </a:lnTo>
                </a:path>
              </a:pathLst>
            </a:custGeom>
            <a:solidFill>
              <a:srgbClr val="CCFF99"/>
            </a:solidFill>
            <a:ln w="190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11" name="Line 135"/>
            <p:cNvSpPr>
              <a:spLocks noChangeShapeType="1"/>
            </p:cNvSpPr>
            <p:nvPr/>
          </p:nvSpPr>
          <p:spPr bwMode="auto">
            <a:xfrm flipH="1">
              <a:off x="811" y="2168"/>
              <a:ext cx="102" cy="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12" name="Rectangle 136"/>
            <p:cNvSpPr>
              <a:spLocks noChangeArrowheads="1"/>
            </p:cNvSpPr>
            <p:nvPr/>
          </p:nvSpPr>
          <p:spPr bwMode="auto">
            <a:xfrm>
              <a:off x="812" y="2774"/>
              <a:ext cx="374" cy="2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000000"/>
                  </a:solidFill>
                  <a:latin typeface="+mj-lt"/>
                </a:rPr>
                <a:t>Instruction</a:t>
              </a:r>
            </a:p>
            <a:p>
              <a:pPr algn="ctr"/>
              <a:r>
                <a:rPr lang="en-US" sz="1200" dirty="0">
                  <a:solidFill>
                    <a:srgbClr val="000000"/>
                  </a:solidFill>
                  <a:latin typeface="+mj-lt"/>
                </a:rPr>
                <a:t>Memory</a:t>
              </a:r>
              <a:endParaRPr lang="en-US" sz="500" dirty="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413" name="Rectangle 138"/>
            <p:cNvSpPr>
              <a:spLocks noChangeArrowheads="1"/>
            </p:cNvSpPr>
            <p:nvPr/>
          </p:nvSpPr>
          <p:spPr bwMode="auto">
            <a:xfrm>
              <a:off x="747" y="2481"/>
              <a:ext cx="208" cy="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900">
                  <a:solidFill>
                    <a:srgbClr val="000000"/>
                  </a:solidFill>
                  <a:latin typeface="+mj-lt"/>
                </a:rPr>
                <a:t>Address</a:t>
              </a:r>
              <a:endParaRPr lang="en-US" sz="5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414" name="Rectangle 139"/>
            <p:cNvSpPr>
              <a:spLocks noChangeArrowheads="1"/>
            </p:cNvSpPr>
            <p:nvPr/>
          </p:nvSpPr>
          <p:spPr bwMode="auto">
            <a:xfrm>
              <a:off x="1042" y="1968"/>
              <a:ext cx="138" cy="1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dirty="0">
                  <a:solidFill>
                    <a:srgbClr val="000000"/>
                  </a:solidFill>
                  <a:latin typeface="+mj-lt"/>
                </a:rPr>
                <a:t>Add</a:t>
              </a:r>
              <a:endParaRPr lang="en-US" sz="500" dirty="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415" name="Rectangle 140"/>
            <p:cNvSpPr>
              <a:spLocks noChangeArrowheads="1"/>
            </p:cNvSpPr>
            <p:nvPr/>
          </p:nvSpPr>
          <p:spPr bwMode="auto">
            <a:xfrm>
              <a:off x="1311" y="1755"/>
              <a:ext cx="223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dirty="0">
                  <a:solidFill>
                    <a:srgbClr val="000000"/>
                  </a:solidFill>
                  <a:latin typeface="+mj-lt"/>
                </a:rPr>
                <a:t>IF/ID</a:t>
              </a:r>
            </a:p>
          </p:txBody>
        </p:sp>
        <p:grpSp>
          <p:nvGrpSpPr>
            <p:cNvPr id="54416" name="Group 141"/>
            <p:cNvGrpSpPr>
              <a:grpSpLocks/>
            </p:cNvGrpSpPr>
            <p:nvPr/>
          </p:nvGrpSpPr>
          <p:grpSpPr bwMode="auto">
            <a:xfrm>
              <a:off x="432" y="2393"/>
              <a:ext cx="156" cy="245"/>
              <a:chOff x="480" y="2155"/>
              <a:chExt cx="156" cy="245"/>
            </a:xfrm>
          </p:grpSpPr>
          <p:sp>
            <p:nvSpPr>
              <p:cNvPr id="54455" name="Freeform 142"/>
              <p:cNvSpPr>
                <a:spLocks/>
              </p:cNvSpPr>
              <p:nvPr/>
            </p:nvSpPr>
            <p:spPr bwMode="auto">
              <a:xfrm>
                <a:off x="480" y="2155"/>
                <a:ext cx="156" cy="245"/>
              </a:xfrm>
              <a:custGeom>
                <a:avLst/>
                <a:gdLst>
                  <a:gd name="T0" fmla="*/ 155 w 104"/>
                  <a:gd name="T1" fmla="*/ 242 h 245"/>
                  <a:gd name="T2" fmla="*/ 155 w 104"/>
                  <a:gd name="T3" fmla="*/ 0 h 245"/>
                  <a:gd name="T4" fmla="*/ 0 w 104"/>
                  <a:gd name="T5" fmla="*/ 0 h 245"/>
                  <a:gd name="T6" fmla="*/ 0 w 104"/>
                  <a:gd name="T7" fmla="*/ 244 h 245"/>
                  <a:gd name="T8" fmla="*/ 155 w 104"/>
                  <a:gd name="T9" fmla="*/ 244 h 245"/>
                  <a:gd name="T10" fmla="*/ 155 w 104"/>
                  <a:gd name="T11" fmla="*/ 244 h 24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04"/>
                  <a:gd name="T19" fmla="*/ 0 h 245"/>
                  <a:gd name="T20" fmla="*/ 104 w 104"/>
                  <a:gd name="T21" fmla="*/ 245 h 245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04" h="245">
                    <a:moveTo>
                      <a:pt x="103" y="242"/>
                    </a:moveTo>
                    <a:lnTo>
                      <a:pt x="103" y="0"/>
                    </a:lnTo>
                    <a:lnTo>
                      <a:pt x="0" y="0"/>
                    </a:lnTo>
                    <a:lnTo>
                      <a:pt x="0" y="244"/>
                    </a:lnTo>
                    <a:lnTo>
                      <a:pt x="103" y="244"/>
                    </a:lnTo>
                  </a:path>
                </a:pathLst>
              </a:custGeom>
              <a:solidFill>
                <a:srgbClr val="FFE6CD"/>
              </a:solidFill>
              <a:ln w="1905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54456" name="Rectangle 143"/>
              <p:cNvSpPr>
                <a:spLocks noChangeArrowheads="1"/>
              </p:cNvSpPr>
              <p:nvPr/>
            </p:nvSpPr>
            <p:spPr bwMode="auto">
              <a:xfrm>
                <a:off x="504" y="2220"/>
                <a:ext cx="90" cy="108"/>
              </a:xfrm>
              <a:prstGeom prst="rect">
                <a:avLst/>
              </a:prstGeom>
              <a:solidFill>
                <a:srgbClr val="FFE6CD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200" dirty="0">
                    <a:solidFill>
                      <a:srgbClr val="000000"/>
                    </a:solidFill>
                    <a:latin typeface="+mj-lt"/>
                  </a:rPr>
                  <a:t>PC</a:t>
                </a:r>
                <a:endParaRPr lang="en-US" sz="500" dirty="0">
                  <a:solidFill>
                    <a:srgbClr val="000000"/>
                  </a:solidFill>
                  <a:latin typeface="+mj-lt"/>
                </a:endParaRPr>
              </a:p>
            </p:txBody>
          </p:sp>
        </p:grpSp>
        <p:sp>
          <p:nvSpPr>
            <p:cNvPr id="54417" name="Line 144"/>
            <p:cNvSpPr>
              <a:spLocks noChangeShapeType="1"/>
            </p:cNvSpPr>
            <p:nvPr/>
          </p:nvSpPr>
          <p:spPr bwMode="auto">
            <a:xfrm flipH="1">
              <a:off x="1290" y="2688"/>
              <a:ext cx="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18" name="Line 145"/>
            <p:cNvSpPr>
              <a:spLocks noChangeShapeType="1"/>
            </p:cNvSpPr>
            <p:nvPr/>
          </p:nvSpPr>
          <p:spPr bwMode="auto">
            <a:xfrm flipV="1">
              <a:off x="1248" y="1782"/>
              <a:ext cx="0" cy="2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19" name="Line 146"/>
            <p:cNvSpPr>
              <a:spLocks noChangeShapeType="1"/>
            </p:cNvSpPr>
            <p:nvPr/>
          </p:nvSpPr>
          <p:spPr bwMode="auto">
            <a:xfrm flipH="1" flipV="1">
              <a:off x="3843" y="1594"/>
              <a:ext cx="0" cy="57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20" name="Line 147"/>
            <p:cNvSpPr>
              <a:spLocks noChangeShapeType="1"/>
            </p:cNvSpPr>
            <p:nvPr/>
          </p:nvSpPr>
          <p:spPr bwMode="auto">
            <a:xfrm rot="5400000" flipH="1" flipV="1">
              <a:off x="1011" y="1542"/>
              <a:ext cx="3" cy="47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21" name="Line 148"/>
            <p:cNvSpPr>
              <a:spLocks noChangeShapeType="1"/>
            </p:cNvSpPr>
            <p:nvPr/>
          </p:nvSpPr>
          <p:spPr bwMode="auto">
            <a:xfrm rot="16200000" flipV="1">
              <a:off x="3756" y="2077"/>
              <a:ext cx="3" cy="17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22" name="Line 149"/>
            <p:cNvSpPr>
              <a:spLocks noChangeShapeType="1"/>
            </p:cNvSpPr>
            <p:nvPr/>
          </p:nvSpPr>
          <p:spPr bwMode="auto">
            <a:xfrm rot="16200000" flipV="1">
              <a:off x="521" y="1529"/>
              <a:ext cx="0" cy="31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23" name="Line 150"/>
            <p:cNvSpPr>
              <a:spLocks noChangeShapeType="1"/>
            </p:cNvSpPr>
            <p:nvPr/>
          </p:nvSpPr>
          <p:spPr bwMode="auto">
            <a:xfrm flipV="1">
              <a:off x="360" y="1683"/>
              <a:ext cx="0" cy="83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24" name="Line 151"/>
            <p:cNvSpPr>
              <a:spLocks noChangeShapeType="1"/>
            </p:cNvSpPr>
            <p:nvPr/>
          </p:nvSpPr>
          <p:spPr bwMode="auto">
            <a:xfrm rot="16200000" flipV="1">
              <a:off x="393" y="2481"/>
              <a:ext cx="0" cy="6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grpSp>
          <p:nvGrpSpPr>
            <p:cNvPr id="54425" name="Group 152"/>
            <p:cNvGrpSpPr>
              <a:grpSpLocks/>
            </p:cNvGrpSpPr>
            <p:nvPr/>
          </p:nvGrpSpPr>
          <p:grpSpPr bwMode="auto">
            <a:xfrm>
              <a:off x="2754" y="3391"/>
              <a:ext cx="127" cy="309"/>
              <a:chOff x="2742" y="3153"/>
              <a:chExt cx="127" cy="309"/>
            </a:xfrm>
          </p:grpSpPr>
          <p:sp>
            <p:nvSpPr>
              <p:cNvPr id="54451" name="Rectangle 153"/>
              <p:cNvSpPr>
                <a:spLocks noChangeArrowheads="1"/>
              </p:cNvSpPr>
              <p:nvPr/>
            </p:nvSpPr>
            <p:spPr bwMode="auto">
              <a:xfrm>
                <a:off x="2745" y="3153"/>
                <a:ext cx="124" cy="108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r>
                  <a:rPr lang="en-US" sz="600" dirty="0">
                    <a:solidFill>
                      <a:srgbClr val="000000"/>
                    </a:solidFill>
                    <a:latin typeface="+mj-lt"/>
                  </a:rPr>
                  <a:t>0</a:t>
                </a:r>
              </a:p>
            </p:txBody>
          </p:sp>
          <p:sp>
            <p:nvSpPr>
              <p:cNvPr id="54452" name="Rectangle 154"/>
              <p:cNvSpPr>
                <a:spLocks noChangeArrowheads="1"/>
              </p:cNvSpPr>
              <p:nvPr/>
            </p:nvSpPr>
            <p:spPr bwMode="auto">
              <a:xfrm>
                <a:off x="2742" y="3354"/>
                <a:ext cx="124" cy="108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r>
                  <a:rPr lang="en-US" sz="600" dirty="0">
                    <a:solidFill>
                      <a:srgbClr val="000000"/>
                    </a:solidFill>
                    <a:latin typeface="+mj-lt"/>
                  </a:rPr>
                  <a:t>1</a:t>
                </a:r>
              </a:p>
            </p:txBody>
          </p:sp>
          <p:sp>
            <p:nvSpPr>
              <p:cNvPr id="54453" name="Rectangle 155"/>
              <p:cNvSpPr>
                <a:spLocks noChangeArrowheads="1"/>
              </p:cNvSpPr>
              <p:nvPr/>
            </p:nvSpPr>
            <p:spPr bwMode="auto">
              <a:xfrm>
                <a:off x="2793" y="3230"/>
                <a:ext cx="45" cy="151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>
                  <a:lnSpc>
                    <a:spcPct val="70000"/>
                  </a:lnSpc>
                </a:pPr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m</a:t>
                </a:r>
              </a:p>
              <a:p>
                <a:pPr algn="ctr">
                  <a:lnSpc>
                    <a:spcPct val="70000"/>
                  </a:lnSpc>
                </a:pPr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u</a:t>
                </a:r>
              </a:p>
              <a:p>
                <a:pPr algn="ctr">
                  <a:lnSpc>
                    <a:spcPct val="70000"/>
                  </a:lnSpc>
                </a:pPr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x</a:t>
                </a:r>
                <a:endParaRPr lang="en-US" sz="500">
                  <a:solidFill>
                    <a:srgbClr val="000000"/>
                  </a:solidFill>
                  <a:latin typeface="+mj-lt"/>
                </a:endParaRPr>
              </a:p>
            </p:txBody>
          </p:sp>
          <p:sp>
            <p:nvSpPr>
              <p:cNvPr id="54454" name="AutoShape 156"/>
              <p:cNvSpPr>
                <a:spLocks noChangeArrowheads="1"/>
              </p:cNvSpPr>
              <p:nvPr/>
            </p:nvSpPr>
            <p:spPr bwMode="auto">
              <a:xfrm rot="5400000">
                <a:off x="2665" y="3263"/>
                <a:ext cx="297" cy="96"/>
              </a:xfrm>
              <a:prstGeom prst="flowChartTerminator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>
                  <a:latin typeface="+mj-lt"/>
                </a:endParaRPr>
              </a:p>
            </p:txBody>
          </p:sp>
        </p:grpSp>
        <p:grpSp>
          <p:nvGrpSpPr>
            <p:cNvPr id="54426" name="Group 157"/>
            <p:cNvGrpSpPr>
              <a:grpSpLocks/>
            </p:cNvGrpSpPr>
            <p:nvPr/>
          </p:nvGrpSpPr>
          <p:grpSpPr bwMode="auto">
            <a:xfrm>
              <a:off x="2796" y="2665"/>
              <a:ext cx="127" cy="309"/>
              <a:chOff x="2748" y="3153"/>
              <a:chExt cx="127" cy="309"/>
            </a:xfrm>
          </p:grpSpPr>
          <p:sp>
            <p:nvSpPr>
              <p:cNvPr id="54447" name="Rectangle 158"/>
              <p:cNvSpPr>
                <a:spLocks noChangeArrowheads="1"/>
              </p:cNvSpPr>
              <p:nvPr/>
            </p:nvSpPr>
            <p:spPr bwMode="auto">
              <a:xfrm>
                <a:off x="2751" y="3153"/>
                <a:ext cx="124" cy="108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r>
                  <a:rPr lang="en-US" sz="600" dirty="0">
                    <a:solidFill>
                      <a:srgbClr val="000000"/>
                    </a:solidFill>
                    <a:latin typeface="+mj-lt"/>
                  </a:rPr>
                  <a:t>0</a:t>
                </a:r>
              </a:p>
            </p:txBody>
          </p:sp>
          <p:sp>
            <p:nvSpPr>
              <p:cNvPr id="54448" name="Rectangle 159"/>
              <p:cNvSpPr>
                <a:spLocks noChangeArrowheads="1"/>
              </p:cNvSpPr>
              <p:nvPr/>
            </p:nvSpPr>
            <p:spPr bwMode="auto">
              <a:xfrm>
                <a:off x="2748" y="3354"/>
                <a:ext cx="124" cy="108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r>
                  <a:rPr lang="en-US" sz="600" dirty="0">
                    <a:solidFill>
                      <a:srgbClr val="000000"/>
                    </a:solidFill>
                    <a:latin typeface="+mj-lt"/>
                  </a:rPr>
                  <a:t>1</a:t>
                </a:r>
              </a:p>
            </p:txBody>
          </p:sp>
          <p:sp>
            <p:nvSpPr>
              <p:cNvPr id="54449" name="Rectangle 160"/>
              <p:cNvSpPr>
                <a:spLocks noChangeArrowheads="1"/>
              </p:cNvSpPr>
              <p:nvPr/>
            </p:nvSpPr>
            <p:spPr bwMode="auto">
              <a:xfrm>
                <a:off x="2795" y="3238"/>
                <a:ext cx="40" cy="132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>
                  <a:lnSpc>
                    <a:spcPct val="70000"/>
                  </a:lnSpc>
                </a:pPr>
                <a:r>
                  <a:rPr lang="en-US" sz="700" dirty="0">
                    <a:solidFill>
                      <a:srgbClr val="000000"/>
                    </a:solidFill>
                    <a:latin typeface="+mj-lt"/>
                  </a:rPr>
                  <a:t>m</a:t>
                </a:r>
              </a:p>
              <a:p>
                <a:pPr algn="ctr">
                  <a:lnSpc>
                    <a:spcPct val="70000"/>
                  </a:lnSpc>
                </a:pPr>
                <a:r>
                  <a:rPr lang="en-US" sz="700" dirty="0">
                    <a:solidFill>
                      <a:srgbClr val="000000"/>
                    </a:solidFill>
                    <a:latin typeface="+mj-lt"/>
                  </a:rPr>
                  <a:t>u</a:t>
                </a:r>
              </a:p>
              <a:p>
                <a:pPr algn="ctr">
                  <a:lnSpc>
                    <a:spcPct val="70000"/>
                  </a:lnSpc>
                </a:pPr>
                <a:r>
                  <a:rPr lang="en-US" sz="700" dirty="0">
                    <a:solidFill>
                      <a:srgbClr val="000000"/>
                    </a:solidFill>
                    <a:latin typeface="+mj-lt"/>
                  </a:rPr>
                  <a:t>x</a:t>
                </a:r>
                <a:endParaRPr lang="en-US" sz="400" dirty="0">
                  <a:solidFill>
                    <a:srgbClr val="000000"/>
                  </a:solidFill>
                  <a:latin typeface="+mj-lt"/>
                </a:endParaRPr>
              </a:p>
            </p:txBody>
          </p:sp>
          <p:sp>
            <p:nvSpPr>
              <p:cNvPr id="54450" name="AutoShape 161"/>
              <p:cNvSpPr>
                <a:spLocks noChangeArrowheads="1"/>
              </p:cNvSpPr>
              <p:nvPr/>
            </p:nvSpPr>
            <p:spPr bwMode="auto">
              <a:xfrm rot="5400000">
                <a:off x="2665" y="3263"/>
                <a:ext cx="297" cy="96"/>
              </a:xfrm>
              <a:prstGeom prst="flowChartTerminator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>
                  <a:latin typeface="+mj-lt"/>
                </a:endParaRPr>
              </a:p>
            </p:txBody>
          </p:sp>
        </p:grpSp>
        <p:sp>
          <p:nvSpPr>
            <p:cNvPr id="54427" name="Line 162"/>
            <p:cNvSpPr>
              <a:spLocks noChangeShapeType="1"/>
            </p:cNvSpPr>
            <p:nvPr/>
          </p:nvSpPr>
          <p:spPr bwMode="auto">
            <a:xfrm flipV="1">
              <a:off x="3168" y="2844"/>
              <a:ext cx="0" cy="391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28" name="Line 163"/>
            <p:cNvSpPr>
              <a:spLocks noChangeShapeType="1"/>
            </p:cNvSpPr>
            <p:nvPr/>
          </p:nvSpPr>
          <p:spPr bwMode="auto">
            <a:xfrm rot="5400000" flipV="1">
              <a:off x="3142" y="3203"/>
              <a:ext cx="0" cy="52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grpSp>
          <p:nvGrpSpPr>
            <p:cNvPr id="54429" name="Group 164"/>
            <p:cNvGrpSpPr>
              <a:grpSpLocks/>
            </p:cNvGrpSpPr>
            <p:nvPr/>
          </p:nvGrpSpPr>
          <p:grpSpPr bwMode="auto">
            <a:xfrm flipH="1">
              <a:off x="672" y="1534"/>
              <a:ext cx="127" cy="309"/>
              <a:chOff x="2743" y="3153"/>
              <a:chExt cx="127" cy="309"/>
            </a:xfrm>
          </p:grpSpPr>
          <p:sp>
            <p:nvSpPr>
              <p:cNvPr id="54443" name="Rectangle 165"/>
              <p:cNvSpPr>
                <a:spLocks noChangeArrowheads="1"/>
              </p:cNvSpPr>
              <p:nvPr/>
            </p:nvSpPr>
            <p:spPr bwMode="auto">
              <a:xfrm>
                <a:off x="2746" y="3153"/>
                <a:ext cx="124" cy="108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r>
                  <a:rPr lang="en-US" sz="600" dirty="0">
                    <a:solidFill>
                      <a:srgbClr val="000000"/>
                    </a:solidFill>
                    <a:latin typeface="+mj-lt"/>
                  </a:rPr>
                  <a:t>0</a:t>
                </a:r>
              </a:p>
            </p:txBody>
          </p:sp>
          <p:sp>
            <p:nvSpPr>
              <p:cNvPr id="54444" name="Rectangle 166"/>
              <p:cNvSpPr>
                <a:spLocks noChangeArrowheads="1"/>
              </p:cNvSpPr>
              <p:nvPr/>
            </p:nvSpPr>
            <p:spPr bwMode="auto">
              <a:xfrm>
                <a:off x="2743" y="3354"/>
                <a:ext cx="124" cy="108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r>
                  <a:rPr lang="en-US" sz="600">
                    <a:solidFill>
                      <a:srgbClr val="000000"/>
                    </a:solidFill>
                    <a:latin typeface="+mj-lt"/>
                  </a:rPr>
                  <a:t>1</a:t>
                </a:r>
              </a:p>
            </p:txBody>
          </p:sp>
          <p:sp>
            <p:nvSpPr>
              <p:cNvPr id="54445" name="Rectangle 167"/>
              <p:cNvSpPr>
                <a:spLocks noChangeArrowheads="1"/>
              </p:cNvSpPr>
              <p:nvPr/>
            </p:nvSpPr>
            <p:spPr bwMode="auto">
              <a:xfrm>
                <a:off x="2795" y="3238"/>
                <a:ext cx="40" cy="132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>
                  <a:lnSpc>
                    <a:spcPct val="70000"/>
                  </a:lnSpc>
                </a:pPr>
                <a:r>
                  <a:rPr lang="en-US" sz="700">
                    <a:solidFill>
                      <a:srgbClr val="000000"/>
                    </a:solidFill>
                    <a:latin typeface="+mj-lt"/>
                  </a:rPr>
                  <a:t>m</a:t>
                </a:r>
              </a:p>
              <a:p>
                <a:pPr algn="ctr">
                  <a:lnSpc>
                    <a:spcPct val="70000"/>
                  </a:lnSpc>
                </a:pPr>
                <a:r>
                  <a:rPr lang="en-US" sz="700">
                    <a:solidFill>
                      <a:srgbClr val="000000"/>
                    </a:solidFill>
                    <a:latin typeface="+mj-lt"/>
                  </a:rPr>
                  <a:t>u</a:t>
                </a:r>
              </a:p>
              <a:p>
                <a:pPr algn="ctr">
                  <a:lnSpc>
                    <a:spcPct val="70000"/>
                  </a:lnSpc>
                </a:pPr>
                <a:r>
                  <a:rPr lang="en-US" sz="700">
                    <a:solidFill>
                      <a:srgbClr val="000000"/>
                    </a:solidFill>
                    <a:latin typeface="+mj-lt"/>
                  </a:rPr>
                  <a:t>x</a:t>
                </a:r>
                <a:endParaRPr lang="en-US" sz="400">
                  <a:solidFill>
                    <a:srgbClr val="000000"/>
                  </a:solidFill>
                  <a:latin typeface="+mj-lt"/>
                </a:endParaRPr>
              </a:p>
            </p:txBody>
          </p:sp>
          <p:sp>
            <p:nvSpPr>
              <p:cNvPr id="54446" name="AutoShape 168"/>
              <p:cNvSpPr>
                <a:spLocks noChangeArrowheads="1"/>
              </p:cNvSpPr>
              <p:nvPr/>
            </p:nvSpPr>
            <p:spPr bwMode="auto">
              <a:xfrm rot="5400000">
                <a:off x="2665" y="3263"/>
                <a:ext cx="297" cy="96"/>
              </a:xfrm>
              <a:prstGeom prst="flowChartTerminator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>
                  <a:latin typeface="+mj-lt"/>
                </a:endParaRPr>
              </a:p>
            </p:txBody>
          </p:sp>
        </p:grpSp>
        <p:grpSp>
          <p:nvGrpSpPr>
            <p:cNvPr id="54430" name="Group 169"/>
            <p:cNvGrpSpPr>
              <a:grpSpLocks/>
            </p:cNvGrpSpPr>
            <p:nvPr/>
          </p:nvGrpSpPr>
          <p:grpSpPr bwMode="auto">
            <a:xfrm>
              <a:off x="4899" y="2686"/>
              <a:ext cx="127" cy="309"/>
              <a:chOff x="2742" y="3153"/>
              <a:chExt cx="127" cy="309"/>
            </a:xfrm>
          </p:grpSpPr>
          <p:sp>
            <p:nvSpPr>
              <p:cNvPr id="54439" name="Rectangle 170"/>
              <p:cNvSpPr>
                <a:spLocks noChangeArrowheads="1"/>
              </p:cNvSpPr>
              <p:nvPr/>
            </p:nvSpPr>
            <p:spPr bwMode="auto">
              <a:xfrm>
                <a:off x="2745" y="3153"/>
                <a:ext cx="124" cy="108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r>
                  <a:rPr lang="en-US" sz="600" dirty="0">
                    <a:solidFill>
                      <a:srgbClr val="000000"/>
                    </a:solidFill>
                    <a:latin typeface="+mj-lt"/>
                  </a:rPr>
                  <a:t>0</a:t>
                </a:r>
              </a:p>
            </p:txBody>
          </p:sp>
          <p:sp>
            <p:nvSpPr>
              <p:cNvPr id="54440" name="Rectangle 171"/>
              <p:cNvSpPr>
                <a:spLocks noChangeArrowheads="1"/>
              </p:cNvSpPr>
              <p:nvPr/>
            </p:nvSpPr>
            <p:spPr bwMode="auto">
              <a:xfrm>
                <a:off x="2742" y="3354"/>
                <a:ext cx="124" cy="108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r>
                  <a:rPr lang="en-US" sz="600" dirty="0">
                    <a:solidFill>
                      <a:srgbClr val="000000"/>
                    </a:solidFill>
                    <a:latin typeface="+mj-lt"/>
                  </a:rPr>
                  <a:t>1</a:t>
                </a:r>
              </a:p>
            </p:txBody>
          </p:sp>
          <p:sp>
            <p:nvSpPr>
              <p:cNvPr id="54441" name="Rectangle 172"/>
              <p:cNvSpPr>
                <a:spLocks noChangeArrowheads="1"/>
              </p:cNvSpPr>
              <p:nvPr/>
            </p:nvSpPr>
            <p:spPr bwMode="auto">
              <a:xfrm>
                <a:off x="2795" y="3238"/>
                <a:ext cx="40" cy="132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>
                  <a:lnSpc>
                    <a:spcPct val="70000"/>
                  </a:lnSpc>
                </a:pPr>
                <a:r>
                  <a:rPr lang="en-US" sz="700">
                    <a:solidFill>
                      <a:srgbClr val="000000"/>
                    </a:solidFill>
                    <a:latin typeface="+mj-lt"/>
                  </a:rPr>
                  <a:t>m</a:t>
                </a:r>
              </a:p>
              <a:p>
                <a:pPr algn="ctr">
                  <a:lnSpc>
                    <a:spcPct val="70000"/>
                  </a:lnSpc>
                </a:pPr>
                <a:r>
                  <a:rPr lang="en-US" sz="700">
                    <a:solidFill>
                      <a:srgbClr val="000000"/>
                    </a:solidFill>
                    <a:latin typeface="+mj-lt"/>
                  </a:rPr>
                  <a:t>u</a:t>
                </a:r>
              </a:p>
              <a:p>
                <a:pPr algn="ctr">
                  <a:lnSpc>
                    <a:spcPct val="70000"/>
                  </a:lnSpc>
                </a:pPr>
                <a:r>
                  <a:rPr lang="en-US" sz="700">
                    <a:solidFill>
                      <a:srgbClr val="000000"/>
                    </a:solidFill>
                    <a:latin typeface="+mj-lt"/>
                  </a:rPr>
                  <a:t>x</a:t>
                </a:r>
                <a:endParaRPr lang="en-US" sz="400">
                  <a:solidFill>
                    <a:srgbClr val="000000"/>
                  </a:solidFill>
                  <a:latin typeface="+mj-lt"/>
                </a:endParaRPr>
              </a:p>
            </p:txBody>
          </p:sp>
          <p:sp>
            <p:nvSpPr>
              <p:cNvPr id="54442" name="AutoShape 173"/>
              <p:cNvSpPr>
                <a:spLocks noChangeArrowheads="1"/>
              </p:cNvSpPr>
              <p:nvPr/>
            </p:nvSpPr>
            <p:spPr bwMode="auto">
              <a:xfrm rot="5400000">
                <a:off x="2665" y="3263"/>
                <a:ext cx="297" cy="96"/>
              </a:xfrm>
              <a:prstGeom prst="flowChartTerminator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>
                  <a:latin typeface="+mj-lt"/>
                </a:endParaRPr>
              </a:p>
            </p:txBody>
          </p:sp>
        </p:grpSp>
        <p:sp>
          <p:nvSpPr>
            <p:cNvPr id="54431" name="Rectangle 174"/>
            <p:cNvSpPr>
              <a:spLocks noChangeArrowheads="1"/>
            </p:cNvSpPr>
            <p:nvPr/>
          </p:nvSpPr>
          <p:spPr bwMode="auto">
            <a:xfrm>
              <a:off x="882" y="2648"/>
              <a:ext cx="282" cy="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900" dirty="0">
                  <a:solidFill>
                    <a:srgbClr val="000000"/>
                  </a:solidFill>
                  <a:latin typeface="+mj-lt"/>
                </a:rPr>
                <a:t>Instruction</a:t>
              </a:r>
              <a:endParaRPr lang="en-US" sz="500" dirty="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432" name="Line 175"/>
            <p:cNvSpPr>
              <a:spLocks noChangeShapeType="1"/>
            </p:cNvSpPr>
            <p:nvPr/>
          </p:nvSpPr>
          <p:spPr bwMode="auto">
            <a:xfrm flipV="1">
              <a:off x="1638" y="2431"/>
              <a:ext cx="0" cy="121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33" name="Line 176"/>
            <p:cNvSpPr>
              <a:spLocks noChangeShapeType="1"/>
            </p:cNvSpPr>
            <p:nvPr/>
          </p:nvSpPr>
          <p:spPr bwMode="auto">
            <a:xfrm flipV="1">
              <a:off x="1639" y="3643"/>
              <a:ext cx="794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34" name="Line 177"/>
            <p:cNvSpPr>
              <a:spLocks noChangeShapeType="1"/>
            </p:cNvSpPr>
            <p:nvPr/>
          </p:nvSpPr>
          <p:spPr bwMode="auto">
            <a:xfrm flipH="1">
              <a:off x="777" y="1594"/>
              <a:ext cx="30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35" name="Line 178"/>
            <p:cNvSpPr>
              <a:spLocks noChangeShapeType="1"/>
            </p:cNvSpPr>
            <p:nvPr/>
          </p:nvSpPr>
          <p:spPr bwMode="auto">
            <a:xfrm flipV="1">
              <a:off x="3969" y="2359"/>
              <a:ext cx="65" cy="2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36" name="Line 179"/>
            <p:cNvSpPr>
              <a:spLocks noChangeShapeType="1"/>
            </p:cNvSpPr>
            <p:nvPr/>
          </p:nvSpPr>
          <p:spPr bwMode="auto">
            <a:xfrm rot="-5400000" flipH="1" flipV="1">
              <a:off x="3566" y="1901"/>
              <a:ext cx="926" cy="1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37" name="Line 180"/>
            <p:cNvSpPr>
              <a:spLocks noChangeShapeType="1"/>
            </p:cNvSpPr>
            <p:nvPr/>
          </p:nvSpPr>
          <p:spPr bwMode="auto">
            <a:xfrm>
              <a:off x="720" y="1438"/>
              <a:ext cx="3312" cy="0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38" name="Line 181"/>
            <p:cNvSpPr>
              <a:spLocks noChangeShapeType="1"/>
            </p:cNvSpPr>
            <p:nvPr/>
          </p:nvSpPr>
          <p:spPr bwMode="auto">
            <a:xfrm rot="-5400000" flipH="1" flipV="1">
              <a:off x="670" y="1491"/>
              <a:ext cx="107" cy="1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20" name="Rectangle 36"/>
            <p:cNvSpPr>
              <a:spLocks noChangeArrowheads="1"/>
            </p:cNvSpPr>
            <p:nvPr/>
          </p:nvSpPr>
          <p:spPr bwMode="auto">
            <a:xfrm>
              <a:off x="2658" y="2526"/>
              <a:ext cx="215" cy="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50" dirty="0" err="1">
                  <a:solidFill>
                    <a:srgbClr val="EB7500"/>
                  </a:solidFill>
                  <a:latin typeface="+mj-lt"/>
                </a:rPr>
                <a:t>ALUSrc</a:t>
              </a:r>
              <a:endParaRPr lang="en-US" sz="700" dirty="0">
                <a:solidFill>
                  <a:srgbClr val="EB7500"/>
                </a:solidFill>
                <a:latin typeface="+mj-lt"/>
              </a:endParaRPr>
            </a:p>
          </p:txBody>
        </p:sp>
        <p:sp>
          <p:nvSpPr>
            <p:cNvPr id="54348" name="Rectangle 64"/>
            <p:cNvSpPr>
              <a:spLocks noChangeArrowheads="1"/>
            </p:cNvSpPr>
            <p:nvPr/>
          </p:nvSpPr>
          <p:spPr bwMode="auto">
            <a:xfrm>
              <a:off x="3034" y="3421"/>
              <a:ext cx="217" cy="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50" dirty="0" err="1">
                  <a:solidFill>
                    <a:srgbClr val="EB7500"/>
                  </a:solidFill>
                  <a:latin typeface="+mj-lt"/>
                </a:rPr>
                <a:t>ALUOp</a:t>
              </a:r>
              <a:endParaRPr lang="en-US" sz="1050" dirty="0">
                <a:solidFill>
                  <a:srgbClr val="EB7500"/>
                </a:solidFill>
                <a:latin typeface="+mj-lt"/>
              </a:endParaRPr>
            </a:p>
          </p:txBody>
        </p:sp>
        <p:sp>
          <p:nvSpPr>
            <p:cNvPr id="54349" name="Rectangle 65"/>
            <p:cNvSpPr>
              <a:spLocks noChangeArrowheads="1"/>
            </p:cNvSpPr>
            <p:nvPr/>
          </p:nvSpPr>
          <p:spPr bwMode="auto">
            <a:xfrm>
              <a:off x="2841" y="3700"/>
              <a:ext cx="214" cy="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50">
                  <a:solidFill>
                    <a:srgbClr val="EB7500"/>
                  </a:solidFill>
                  <a:latin typeface="+mj-lt"/>
                </a:rPr>
                <a:t>RegDst</a:t>
              </a:r>
            </a:p>
          </p:txBody>
        </p:sp>
        <p:sp>
          <p:nvSpPr>
            <p:cNvPr id="54352" name="Rectangle 68"/>
            <p:cNvSpPr>
              <a:spLocks noChangeArrowheads="1"/>
            </p:cNvSpPr>
            <p:nvPr/>
          </p:nvSpPr>
          <p:spPr bwMode="auto">
            <a:xfrm>
              <a:off x="1913" y="2186"/>
              <a:ext cx="294" cy="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50" dirty="0" err="1">
                  <a:solidFill>
                    <a:srgbClr val="EB7500"/>
                  </a:solidFill>
                  <a:latin typeface="+mj-lt"/>
                </a:rPr>
                <a:t>RegWrite</a:t>
              </a:r>
              <a:endParaRPr lang="en-US" sz="1050" dirty="0">
                <a:solidFill>
                  <a:srgbClr val="EB7500"/>
                </a:solidFill>
                <a:latin typeface="+mj-lt"/>
              </a:endParaRPr>
            </a:p>
          </p:txBody>
        </p:sp>
        <p:sp>
          <p:nvSpPr>
            <p:cNvPr id="54388" name="Rectangle 112"/>
            <p:cNvSpPr>
              <a:spLocks noChangeArrowheads="1"/>
            </p:cNvSpPr>
            <p:nvPr/>
          </p:nvSpPr>
          <p:spPr bwMode="auto">
            <a:xfrm>
              <a:off x="3734" y="2172"/>
              <a:ext cx="220" cy="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50">
                  <a:solidFill>
                    <a:srgbClr val="EB7500"/>
                  </a:solidFill>
                  <a:latin typeface="+mj-lt"/>
                </a:rPr>
                <a:t>Branch</a:t>
              </a:r>
            </a:p>
          </p:txBody>
        </p:sp>
        <p:sp>
          <p:nvSpPr>
            <p:cNvPr id="54389" name="Rectangle 113"/>
            <p:cNvSpPr>
              <a:spLocks noChangeArrowheads="1"/>
            </p:cNvSpPr>
            <p:nvPr/>
          </p:nvSpPr>
          <p:spPr bwMode="auto">
            <a:xfrm>
              <a:off x="4056" y="1582"/>
              <a:ext cx="170" cy="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50">
                  <a:solidFill>
                    <a:srgbClr val="EB7500"/>
                  </a:solidFill>
                  <a:latin typeface="+mj-lt"/>
                </a:rPr>
                <a:t>PCSrc</a:t>
              </a:r>
            </a:p>
          </p:txBody>
        </p:sp>
        <p:sp>
          <p:nvSpPr>
            <p:cNvPr id="54399" name="Rectangle 123"/>
            <p:cNvSpPr>
              <a:spLocks noChangeArrowheads="1"/>
            </p:cNvSpPr>
            <p:nvPr/>
          </p:nvSpPr>
          <p:spPr bwMode="auto">
            <a:xfrm>
              <a:off x="4827" y="2541"/>
              <a:ext cx="341" cy="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50" dirty="0" err="1">
                  <a:solidFill>
                    <a:srgbClr val="EB7500"/>
                  </a:solidFill>
                  <a:latin typeface="+mj-lt"/>
                </a:rPr>
                <a:t>MemtoReg</a:t>
              </a:r>
              <a:endParaRPr lang="en-US" sz="1050" dirty="0">
                <a:solidFill>
                  <a:srgbClr val="EB7500"/>
                </a:solidFill>
                <a:latin typeface="+mj-lt"/>
              </a:endParaRPr>
            </a:p>
          </p:txBody>
        </p:sp>
      </p:grpSp>
      <p:sp>
        <p:nvSpPr>
          <p:cNvPr id="54276" name="Rectangle 266"/>
          <p:cNvSpPr>
            <a:spLocks noChangeArrowheads="1"/>
          </p:cNvSpPr>
          <p:nvPr/>
        </p:nvSpPr>
        <p:spPr bwMode="auto">
          <a:xfrm>
            <a:off x="1882151" y="2763377"/>
            <a:ext cx="425758" cy="369332"/>
          </a:xfrm>
          <a:prstGeom prst="rect">
            <a:avLst/>
          </a:prstGeom>
          <a:solidFill>
            <a:schemeClr val="bg1">
              <a:alpha val="85000"/>
            </a:schemeClr>
          </a:solidFill>
          <a:ln w="12700">
            <a:noFill/>
            <a:miter lim="800000"/>
            <a:headEnd type="none" w="sm" len="sm"/>
            <a:tailEnd type="none" w="lg" len="med"/>
          </a:ln>
        </p:spPr>
        <p:txBody>
          <a:bodyPr wrap="none" lIns="45720" tIns="45720" rIns="45720" bIns="4572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  <a:latin typeface="+mj-lt"/>
              </a:rPr>
              <a:t>sub</a:t>
            </a:r>
            <a:endParaRPr lang="en-US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54296" name="Rectangle 287"/>
          <p:cNvSpPr>
            <a:spLocks noChangeArrowheads="1"/>
          </p:cNvSpPr>
          <p:nvPr/>
        </p:nvSpPr>
        <p:spPr bwMode="auto">
          <a:xfrm>
            <a:off x="1935480" y="1668585"/>
            <a:ext cx="209353" cy="369332"/>
          </a:xfrm>
          <a:prstGeom prst="rect">
            <a:avLst/>
          </a:prstGeom>
          <a:solidFill>
            <a:schemeClr val="bg1">
              <a:alpha val="85000"/>
            </a:schemeClr>
          </a:solidFill>
          <a:ln w="12700">
            <a:noFill/>
            <a:miter lim="800000"/>
            <a:headEnd type="none" w="sm" len="sm"/>
            <a:tailEnd type="none" w="lg" len="med"/>
          </a:ln>
        </p:spPr>
        <p:txBody>
          <a:bodyPr wrap="none" lIns="45720" tIns="45720" rIns="45720" bIns="4572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+mj-lt"/>
              </a:rPr>
              <a:t>8</a:t>
            </a:r>
          </a:p>
        </p:txBody>
      </p:sp>
      <p:sp>
        <p:nvSpPr>
          <p:cNvPr id="198" name="Rectangle 3"/>
          <p:cNvSpPr>
            <a:spLocks noChangeArrowheads="1"/>
          </p:cNvSpPr>
          <p:nvPr/>
        </p:nvSpPr>
        <p:spPr bwMode="auto">
          <a:xfrm>
            <a:off x="152400" y="5118100"/>
            <a:ext cx="2613631" cy="116339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med" len="lg"/>
          </a:ln>
        </p:spPr>
        <p:txBody>
          <a:bodyPr wrap="square" lIns="0" tIns="0" rIns="0" bIns="0">
            <a:spAutoFit/>
          </a:bodyPr>
          <a:lstStyle/>
          <a:p>
            <a:pPr>
              <a:spcBef>
                <a:spcPct val="10000"/>
              </a:spcBef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0 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lw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R10,9(R1)</a:t>
            </a:r>
          </a:p>
          <a:p>
            <a:pPr>
              <a:spcBef>
                <a:spcPct val="10000"/>
              </a:spcBef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4  sub R11,R2,R3</a:t>
            </a:r>
          </a:p>
          <a:p>
            <a:pPr>
              <a:spcBef>
                <a:spcPct val="10000"/>
              </a:spcBef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8  and R12,R4,R5</a:t>
            </a:r>
            <a:b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12  or  R13,R6,R7</a:t>
            </a:r>
          </a:p>
        </p:txBody>
      </p:sp>
      <p:sp>
        <p:nvSpPr>
          <p:cNvPr id="199" name="Rectangle 287"/>
          <p:cNvSpPr>
            <a:spLocks noChangeArrowheads="1"/>
          </p:cNvSpPr>
          <p:nvPr/>
        </p:nvSpPr>
        <p:spPr bwMode="auto">
          <a:xfrm>
            <a:off x="158725" y="4490437"/>
            <a:ext cx="345607" cy="369332"/>
          </a:xfrm>
          <a:prstGeom prst="rect">
            <a:avLst/>
          </a:prstGeom>
          <a:solidFill>
            <a:schemeClr val="bg1">
              <a:alpha val="85000"/>
            </a:schemeClr>
          </a:solidFill>
          <a:ln w="12700">
            <a:noFill/>
            <a:miter lim="800000"/>
            <a:headEnd type="none" w="sm" len="sm"/>
            <a:tailEnd type="none" w="lg" len="med"/>
          </a:ln>
        </p:spPr>
        <p:txBody>
          <a:bodyPr wrap="none" lIns="45720" tIns="45720" rIns="45720" bIns="4572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  <a:latin typeface="+mj-lt"/>
              </a:rPr>
              <a:t>PC</a:t>
            </a:r>
            <a:endParaRPr lang="en-US" dirty="0">
              <a:solidFill>
                <a:srgbClr val="FF0000"/>
              </a:solidFill>
              <a:latin typeface="+mj-lt"/>
            </a:endParaRPr>
          </a:p>
        </p:txBody>
      </p:sp>
      <p:cxnSp>
        <p:nvCxnSpPr>
          <p:cNvPr id="200" name="Straight Arrow Connector 6"/>
          <p:cNvCxnSpPr>
            <a:stCxn id="199" idx="2"/>
          </p:cNvCxnSpPr>
          <p:nvPr/>
        </p:nvCxnSpPr>
        <p:spPr bwMode="auto">
          <a:xfrm>
            <a:off x="331529" y="4859769"/>
            <a:ext cx="5497" cy="228600"/>
          </a:xfrm>
          <a:prstGeom prst="straightConnector1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arrow"/>
          </a:ln>
          <a:effectLst/>
        </p:spPr>
      </p:cxnSp>
      <p:sp>
        <p:nvSpPr>
          <p:cNvPr id="201" name="Rectangle 287"/>
          <p:cNvSpPr>
            <a:spLocks noChangeArrowheads="1"/>
          </p:cNvSpPr>
          <p:nvPr/>
        </p:nvSpPr>
        <p:spPr bwMode="auto">
          <a:xfrm>
            <a:off x="325919" y="2490812"/>
            <a:ext cx="209353" cy="369332"/>
          </a:xfrm>
          <a:prstGeom prst="rect">
            <a:avLst/>
          </a:prstGeom>
          <a:solidFill>
            <a:schemeClr val="bg1">
              <a:alpha val="85000"/>
            </a:schemeClr>
          </a:solidFill>
          <a:ln w="12700">
            <a:noFill/>
            <a:miter lim="800000"/>
            <a:headEnd type="none" w="sm" len="sm"/>
            <a:tailEnd type="none" w="lg" len="med"/>
          </a:ln>
        </p:spPr>
        <p:txBody>
          <a:bodyPr wrap="none" lIns="45720" tIns="45720" rIns="45720" bIns="4572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+mj-lt"/>
              </a:rPr>
              <a:t>4</a:t>
            </a:r>
          </a:p>
        </p:txBody>
      </p:sp>
      <p:sp>
        <p:nvSpPr>
          <p:cNvPr id="178" name="Rectangle 287"/>
          <p:cNvSpPr>
            <a:spLocks noChangeArrowheads="1"/>
          </p:cNvSpPr>
          <p:nvPr/>
        </p:nvSpPr>
        <p:spPr bwMode="auto">
          <a:xfrm>
            <a:off x="3881222" y="1642348"/>
            <a:ext cx="209353" cy="369332"/>
          </a:xfrm>
          <a:prstGeom prst="rect">
            <a:avLst/>
          </a:prstGeom>
          <a:solidFill>
            <a:schemeClr val="bg1">
              <a:alpha val="85000"/>
            </a:schemeClr>
          </a:solidFill>
          <a:ln w="12700">
            <a:noFill/>
            <a:miter lim="800000"/>
            <a:headEnd type="none" w="sm" len="sm"/>
            <a:tailEnd type="none" w="lg" len="med"/>
          </a:ln>
        </p:spPr>
        <p:txBody>
          <a:bodyPr wrap="none" lIns="45720" tIns="45720" rIns="45720" bIns="4572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  <a:latin typeface="+mj-lt"/>
              </a:rPr>
              <a:t>4</a:t>
            </a:r>
            <a:endParaRPr lang="en-US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179" name="Rectangle 287"/>
          <p:cNvSpPr>
            <a:spLocks noChangeArrowheads="1"/>
          </p:cNvSpPr>
          <p:nvPr/>
        </p:nvSpPr>
        <p:spPr bwMode="auto">
          <a:xfrm>
            <a:off x="3810000" y="4066080"/>
            <a:ext cx="451406" cy="369332"/>
          </a:xfrm>
          <a:prstGeom prst="rect">
            <a:avLst/>
          </a:prstGeom>
          <a:solidFill>
            <a:schemeClr val="bg1">
              <a:alpha val="85000"/>
            </a:schemeClr>
          </a:solidFill>
          <a:ln w="12700">
            <a:noFill/>
            <a:miter lim="800000"/>
            <a:headEnd type="none" w="sm" len="sm"/>
            <a:tailEnd type="none" w="lg" len="med"/>
          </a:ln>
        </p:spPr>
        <p:txBody>
          <a:bodyPr wrap="none" lIns="45720" tIns="45720" rIns="45720" bIns="4572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  <a:latin typeface="+mj-lt"/>
              </a:rPr>
              <a:t>R10</a:t>
            </a:r>
            <a:endParaRPr lang="en-US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353" name="Rectangle 287"/>
          <p:cNvSpPr>
            <a:spLocks noChangeArrowheads="1"/>
          </p:cNvSpPr>
          <p:nvPr/>
        </p:nvSpPr>
        <p:spPr bwMode="auto">
          <a:xfrm>
            <a:off x="3762072" y="2514600"/>
            <a:ext cx="475451" cy="369332"/>
          </a:xfrm>
          <a:prstGeom prst="rect">
            <a:avLst/>
          </a:prstGeom>
          <a:solidFill>
            <a:schemeClr val="bg1">
              <a:alpha val="85000"/>
            </a:schemeClr>
          </a:solidFill>
          <a:ln w="12700">
            <a:noFill/>
            <a:miter lim="800000"/>
            <a:headEnd type="none" w="sm" len="sm"/>
            <a:tailEnd type="none" w="lg" len="med"/>
          </a:ln>
        </p:spPr>
        <p:txBody>
          <a:bodyPr wrap="none" lIns="45720" tIns="45720" rIns="45720" bIns="4572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  <a:latin typeface="+mj-lt"/>
              </a:rPr>
              <a:t>[R1]</a:t>
            </a:r>
            <a:endParaRPr lang="en-US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354" name="Rectangle 287"/>
          <p:cNvSpPr>
            <a:spLocks noChangeArrowheads="1"/>
          </p:cNvSpPr>
          <p:nvPr/>
        </p:nvSpPr>
        <p:spPr bwMode="auto">
          <a:xfrm>
            <a:off x="3872501" y="3669810"/>
            <a:ext cx="209353" cy="369332"/>
          </a:xfrm>
          <a:prstGeom prst="rect">
            <a:avLst/>
          </a:prstGeom>
          <a:solidFill>
            <a:schemeClr val="bg1">
              <a:alpha val="85000"/>
            </a:schemeClr>
          </a:solidFill>
          <a:ln w="12700">
            <a:noFill/>
            <a:miter lim="800000"/>
            <a:headEnd type="none" w="sm" len="sm"/>
            <a:tailEnd type="none" w="lg" len="med"/>
          </a:ln>
        </p:spPr>
        <p:txBody>
          <a:bodyPr wrap="none" lIns="45720" tIns="45720" rIns="45720" bIns="4572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+mj-lt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48891081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  <p:extLst mod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>
          <a:xfrm>
            <a:off x="2011167" y="76198"/>
            <a:ext cx="5612734" cy="762000"/>
          </a:xfrm>
        </p:spPr>
        <p:txBody>
          <a:bodyPr/>
          <a:lstStyle/>
          <a:p>
            <a:pPr algn="l"/>
            <a:r>
              <a:rPr lang="en-US" sz="3200" dirty="0" smtClean="0">
                <a:solidFill>
                  <a:srgbClr val="0070C0"/>
                </a:solidFill>
              </a:rPr>
              <a:t>Pipelined execution: cycle 3</a:t>
            </a:r>
          </a:p>
        </p:txBody>
      </p:sp>
      <p:grpSp>
        <p:nvGrpSpPr>
          <p:cNvPr id="54275" name="Group 313"/>
          <p:cNvGrpSpPr>
            <a:grpSpLocks/>
          </p:cNvGrpSpPr>
          <p:nvPr/>
        </p:nvGrpSpPr>
        <p:grpSpPr bwMode="auto">
          <a:xfrm>
            <a:off x="152400" y="838199"/>
            <a:ext cx="8690415" cy="4191001"/>
            <a:chOff x="360" y="1438"/>
            <a:chExt cx="4808" cy="2450"/>
          </a:xfrm>
        </p:grpSpPr>
        <p:sp>
          <p:nvSpPr>
            <p:cNvPr id="54297" name="Rectangle 137"/>
            <p:cNvSpPr>
              <a:spLocks noChangeArrowheads="1"/>
            </p:cNvSpPr>
            <p:nvPr/>
          </p:nvSpPr>
          <p:spPr bwMode="auto">
            <a:xfrm>
              <a:off x="720" y="2440"/>
              <a:ext cx="567" cy="582"/>
            </a:xfrm>
            <a:prstGeom prst="rect">
              <a:avLst/>
            </a:prstGeom>
            <a:solidFill>
              <a:srgbClr val="FFFFCC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298" name="Line 14"/>
            <p:cNvSpPr>
              <a:spLocks noChangeShapeType="1"/>
            </p:cNvSpPr>
            <p:nvPr/>
          </p:nvSpPr>
          <p:spPr bwMode="auto">
            <a:xfrm>
              <a:off x="588" y="2513"/>
              <a:ext cx="136" cy="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299" name="Line 15"/>
            <p:cNvSpPr>
              <a:spLocks noChangeShapeType="1"/>
            </p:cNvSpPr>
            <p:nvPr/>
          </p:nvSpPr>
          <p:spPr bwMode="auto">
            <a:xfrm flipH="1" flipV="1">
              <a:off x="1989" y="3197"/>
              <a:ext cx="34" cy="5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00" name="Rectangle 16"/>
            <p:cNvSpPr>
              <a:spLocks noChangeArrowheads="1"/>
            </p:cNvSpPr>
            <p:nvPr/>
          </p:nvSpPr>
          <p:spPr bwMode="auto">
            <a:xfrm>
              <a:off x="1915" y="3275"/>
              <a:ext cx="103" cy="1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algn="ctr"/>
              <a:endParaRPr lang="en-US" sz="600">
                <a:solidFill>
                  <a:srgbClr val="000000"/>
                </a:solidFill>
                <a:latin typeface="+mj-lt"/>
              </a:endParaRPr>
            </a:p>
            <a:p>
              <a:pPr algn="ctr"/>
              <a:endParaRPr lang="en-US" sz="6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301" name="Line 17"/>
            <p:cNvSpPr>
              <a:spLocks noChangeShapeType="1"/>
            </p:cNvSpPr>
            <p:nvPr/>
          </p:nvSpPr>
          <p:spPr bwMode="auto">
            <a:xfrm flipH="1" flipV="1">
              <a:off x="2338" y="3197"/>
              <a:ext cx="32" cy="5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02" name="Freeform 18"/>
            <p:cNvSpPr>
              <a:spLocks/>
            </p:cNvSpPr>
            <p:nvPr/>
          </p:nvSpPr>
          <p:spPr bwMode="auto">
            <a:xfrm>
              <a:off x="1810" y="2350"/>
              <a:ext cx="519" cy="612"/>
            </a:xfrm>
            <a:custGeom>
              <a:avLst/>
              <a:gdLst>
                <a:gd name="T0" fmla="*/ 518 w 519"/>
                <a:gd name="T1" fmla="*/ 611 h 541"/>
                <a:gd name="T2" fmla="*/ 518 w 519"/>
                <a:gd name="T3" fmla="*/ 0 h 541"/>
                <a:gd name="T4" fmla="*/ 0 w 519"/>
                <a:gd name="T5" fmla="*/ 0 h 541"/>
                <a:gd name="T6" fmla="*/ 0 w 519"/>
                <a:gd name="T7" fmla="*/ 611 h 541"/>
                <a:gd name="T8" fmla="*/ 518 w 519"/>
                <a:gd name="T9" fmla="*/ 611 h 541"/>
                <a:gd name="T10" fmla="*/ 518 w 519"/>
                <a:gd name="T11" fmla="*/ 611 h 5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19"/>
                <a:gd name="T19" fmla="*/ 0 h 541"/>
                <a:gd name="T20" fmla="*/ 519 w 519"/>
                <a:gd name="T21" fmla="*/ 541 h 54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19" h="541">
                  <a:moveTo>
                    <a:pt x="518" y="540"/>
                  </a:moveTo>
                  <a:lnTo>
                    <a:pt x="518" y="0"/>
                  </a:lnTo>
                  <a:lnTo>
                    <a:pt x="0" y="0"/>
                  </a:lnTo>
                  <a:lnTo>
                    <a:pt x="0" y="540"/>
                  </a:lnTo>
                  <a:lnTo>
                    <a:pt x="518" y="540"/>
                  </a:lnTo>
                </a:path>
              </a:pathLst>
            </a:custGeom>
            <a:solidFill>
              <a:srgbClr val="CCFFFF"/>
            </a:solidFill>
            <a:ln w="190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03" name="Rectangle 19"/>
            <p:cNvSpPr>
              <a:spLocks noChangeArrowheads="1"/>
            </p:cNvSpPr>
            <p:nvPr/>
          </p:nvSpPr>
          <p:spPr bwMode="auto">
            <a:xfrm>
              <a:off x="1885" y="2392"/>
              <a:ext cx="103" cy="1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algn="ctr"/>
              <a:endParaRPr lang="en-US" sz="600">
                <a:solidFill>
                  <a:srgbClr val="000000"/>
                </a:solidFill>
                <a:latin typeface="+mj-lt"/>
              </a:endParaRPr>
            </a:p>
            <a:p>
              <a:pPr algn="ctr"/>
              <a:endParaRPr lang="en-US" sz="6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304" name="Line 20"/>
            <p:cNvSpPr>
              <a:spLocks noChangeShapeType="1"/>
            </p:cNvSpPr>
            <p:nvPr/>
          </p:nvSpPr>
          <p:spPr bwMode="auto">
            <a:xfrm>
              <a:off x="1657" y="3225"/>
              <a:ext cx="434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05" name="Line 21"/>
            <p:cNvSpPr>
              <a:spLocks noChangeShapeType="1"/>
            </p:cNvSpPr>
            <p:nvPr/>
          </p:nvSpPr>
          <p:spPr bwMode="auto">
            <a:xfrm flipV="1">
              <a:off x="2302" y="3225"/>
              <a:ext cx="131" cy="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06" name="Freeform 22"/>
            <p:cNvSpPr>
              <a:spLocks/>
            </p:cNvSpPr>
            <p:nvPr/>
          </p:nvSpPr>
          <p:spPr bwMode="auto">
            <a:xfrm>
              <a:off x="1629" y="2679"/>
              <a:ext cx="24" cy="24"/>
            </a:xfrm>
            <a:custGeom>
              <a:avLst/>
              <a:gdLst>
                <a:gd name="T0" fmla="*/ 10 w 24"/>
                <a:gd name="T1" fmla="*/ 23 h 24"/>
                <a:gd name="T2" fmla="*/ 14 w 24"/>
                <a:gd name="T3" fmla="*/ 23 h 24"/>
                <a:gd name="T4" fmla="*/ 16 w 24"/>
                <a:gd name="T5" fmla="*/ 23 h 24"/>
                <a:gd name="T6" fmla="*/ 18 w 24"/>
                <a:gd name="T7" fmla="*/ 21 h 24"/>
                <a:gd name="T8" fmla="*/ 18 w 24"/>
                <a:gd name="T9" fmla="*/ 21 h 24"/>
                <a:gd name="T10" fmla="*/ 20 w 24"/>
                <a:gd name="T11" fmla="*/ 19 h 24"/>
                <a:gd name="T12" fmla="*/ 22 w 24"/>
                <a:gd name="T13" fmla="*/ 19 h 24"/>
                <a:gd name="T14" fmla="*/ 22 w 24"/>
                <a:gd name="T15" fmla="*/ 17 h 24"/>
                <a:gd name="T16" fmla="*/ 23 w 24"/>
                <a:gd name="T17" fmla="*/ 15 h 24"/>
                <a:gd name="T18" fmla="*/ 23 w 24"/>
                <a:gd name="T19" fmla="*/ 13 h 24"/>
                <a:gd name="T20" fmla="*/ 23 w 24"/>
                <a:gd name="T21" fmla="*/ 11 h 24"/>
                <a:gd name="T22" fmla="*/ 23 w 24"/>
                <a:gd name="T23" fmla="*/ 9 h 24"/>
                <a:gd name="T24" fmla="*/ 23 w 24"/>
                <a:gd name="T25" fmla="*/ 7 h 24"/>
                <a:gd name="T26" fmla="*/ 22 w 24"/>
                <a:gd name="T27" fmla="*/ 5 h 24"/>
                <a:gd name="T28" fmla="*/ 22 w 24"/>
                <a:gd name="T29" fmla="*/ 5 h 24"/>
                <a:gd name="T30" fmla="*/ 20 w 24"/>
                <a:gd name="T31" fmla="*/ 4 h 24"/>
                <a:gd name="T32" fmla="*/ 18 w 24"/>
                <a:gd name="T33" fmla="*/ 2 h 24"/>
                <a:gd name="T34" fmla="*/ 18 w 24"/>
                <a:gd name="T35" fmla="*/ 2 h 24"/>
                <a:gd name="T36" fmla="*/ 16 w 24"/>
                <a:gd name="T37" fmla="*/ 0 h 24"/>
                <a:gd name="T38" fmla="*/ 14 w 24"/>
                <a:gd name="T39" fmla="*/ 0 h 24"/>
                <a:gd name="T40" fmla="*/ 12 w 24"/>
                <a:gd name="T41" fmla="*/ 0 h 24"/>
                <a:gd name="T42" fmla="*/ 10 w 24"/>
                <a:gd name="T43" fmla="*/ 0 h 24"/>
                <a:gd name="T44" fmla="*/ 8 w 24"/>
                <a:gd name="T45" fmla="*/ 0 h 24"/>
                <a:gd name="T46" fmla="*/ 6 w 24"/>
                <a:gd name="T47" fmla="*/ 2 h 24"/>
                <a:gd name="T48" fmla="*/ 4 w 24"/>
                <a:gd name="T49" fmla="*/ 2 h 24"/>
                <a:gd name="T50" fmla="*/ 4 w 24"/>
                <a:gd name="T51" fmla="*/ 4 h 24"/>
                <a:gd name="T52" fmla="*/ 2 w 24"/>
                <a:gd name="T53" fmla="*/ 5 h 24"/>
                <a:gd name="T54" fmla="*/ 2 w 24"/>
                <a:gd name="T55" fmla="*/ 5 h 24"/>
                <a:gd name="T56" fmla="*/ 0 w 24"/>
                <a:gd name="T57" fmla="*/ 7 h 24"/>
                <a:gd name="T58" fmla="*/ 0 w 24"/>
                <a:gd name="T59" fmla="*/ 9 h 24"/>
                <a:gd name="T60" fmla="*/ 0 w 24"/>
                <a:gd name="T61" fmla="*/ 11 h 24"/>
                <a:gd name="T62" fmla="*/ 0 w 24"/>
                <a:gd name="T63" fmla="*/ 13 h 24"/>
                <a:gd name="T64" fmla="*/ 0 w 24"/>
                <a:gd name="T65" fmla="*/ 15 h 24"/>
                <a:gd name="T66" fmla="*/ 2 w 24"/>
                <a:gd name="T67" fmla="*/ 17 h 24"/>
                <a:gd name="T68" fmla="*/ 2 w 24"/>
                <a:gd name="T69" fmla="*/ 19 h 24"/>
                <a:gd name="T70" fmla="*/ 4 w 24"/>
                <a:gd name="T71" fmla="*/ 19 h 24"/>
                <a:gd name="T72" fmla="*/ 4 w 24"/>
                <a:gd name="T73" fmla="*/ 21 h 24"/>
                <a:gd name="T74" fmla="*/ 6 w 24"/>
                <a:gd name="T75" fmla="*/ 21 h 24"/>
                <a:gd name="T76" fmla="*/ 8 w 24"/>
                <a:gd name="T77" fmla="*/ 23 h 24"/>
                <a:gd name="T78" fmla="*/ 10 w 24"/>
                <a:gd name="T79" fmla="*/ 23 h 24"/>
                <a:gd name="T80" fmla="*/ 12 w 24"/>
                <a:gd name="T81" fmla="*/ 23 h 24"/>
                <a:gd name="T82" fmla="*/ 12 w 24"/>
                <a:gd name="T83" fmla="*/ 23 h 24"/>
                <a:gd name="T84" fmla="*/ 10 w 24"/>
                <a:gd name="T85" fmla="*/ 23 h 2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4"/>
                <a:gd name="T130" fmla="*/ 0 h 24"/>
                <a:gd name="T131" fmla="*/ 24 w 24"/>
                <a:gd name="T132" fmla="*/ 24 h 24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4" h="24">
                  <a:moveTo>
                    <a:pt x="10" y="23"/>
                  </a:moveTo>
                  <a:lnTo>
                    <a:pt x="14" y="23"/>
                  </a:lnTo>
                  <a:lnTo>
                    <a:pt x="16" y="23"/>
                  </a:lnTo>
                  <a:lnTo>
                    <a:pt x="18" y="21"/>
                  </a:lnTo>
                  <a:lnTo>
                    <a:pt x="20" y="19"/>
                  </a:lnTo>
                  <a:lnTo>
                    <a:pt x="22" y="19"/>
                  </a:lnTo>
                  <a:lnTo>
                    <a:pt x="22" y="17"/>
                  </a:lnTo>
                  <a:lnTo>
                    <a:pt x="23" y="15"/>
                  </a:lnTo>
                  <a:lnTo>
                    <a:pt x="23" y="13"/>
                  </a:lnTo>
                  <a:lnTo>
                    <a:pt x="23" y="11"/>
                  </a:lnTo>
                  <a:lnTo>
                    <a:pt x="23" y="9"/>
                  </a:lnTo>
                  <a:lnTo>
                    <a:pt x="23" y="7"/>
                  </a:lnTo>
                  <a:lnTo>
                    <a:pt x="22" y="5"/>
                  </a:lnTo>
                  <a:lnTo>
                    <a:pt x="20" y="4"/>
                  </a:lnTo>
                  <a:lnTo>
                    <a:pt x="18" y="2"/>
                  </a:lnTo>
                  <a:lnTo>
                    <a:pt x="16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8" y="0"/>
                  </a:lnTo>
                  <a:lnTo>
                    <a:pt x="6" y="2"/>
                  </a:lnTo>
                  <a:lnTo>
                    <a:pt x="4" y="2"/>
                  </a:lnTo>
                  <a:lnTo>
                    <a:pt x="4" y="4"/>
                  </a:lnTo>
                  <a:lnTo>
                    <a:pt x="2" y="5"/>
                  </a:lnTo>
                  <a:lnTo>
                    <a:pt x="0" y="7"/>
                  </a:lnTo>
                  <a:lnTo>
                    <a:pt x="0" y="9"/>
                  </a:lnTo>
                  <a:lnTo>
                    <a:pt x="0" y="11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2" y="17"/>
                  </a:lnTo>
                  <a:lnTo>
                    <a:pt x="2" y="19"/>
                  </a:lnTo>
                  <a:lnTo>
                    <a:pt x="4" y="19"/>
                  </a:lnTo>
                  <a:lnTo>
                    <a:pt x="4" y="21"/>
                  </a:lnTo>
                  <a:lnTo>
                    <a:pt x="6" y="21"/>
                  </a:lnTo>
                  <a:lnTo>
                    <a:pt x="8" y="23"/>
                  </a:lnTo>
                  <a:lnTo>
                    <a:pt x="10" y="23"/>
                  </a:lnTo>
                  <a:lnTo>
                    <a:pt x="12" y="23"/>
                  </a:lnTo>
                  <a:lnTo>
                    <a:pt x="10" y="23"/>
                  </a:lnTo>
                </a:path>
              </a:pathLst>
            </a:custGeom>
            <a:solidFill>
              <a:srgbClr val="000000"/>
            </a:solidFill>
            <a:ln w="9525" cap="rnd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07" name="Freeform 23"/>
            <p:cNvSpPr>
              <a:spLocks/>
            </p:cNvSpPr>
            <p:nvPr/>
          </p:nvSpPr>
          <p:spPr bwMode="auto">
            <a:xfrm>
              <a:off x="1629" y="2586"/>
              <a:ext cx="24" cy="24"/>
            </a:xfrm>
            <a:custGeom>
              <a:avLst/>
              <a:gdLst>
                <a:gd name="T0" fmla="*/ 10 w 24"/>
                <a:gd name="T1" fmla="*/ 23 h 24"/>
                <a:gd name="T2" fmla="*/ 14 w 24"/>
                <a:gd name="T3" fmla="*/ 23 h 24"/>
                <a:gd name="T4" fmla="*/ 16 w 24"/>
                <a:gd name="T5" fmla="*/ 23 h 24"/>
                <a:gd name="T6" fmla="*/ 18 w 24"/>
                <a:gd name="T7" fmla="*/ 21 h 24"/>
                <a:gd name="T8" fmla="*/ 18 w 24"/>
                <a:gd name="T9" fmla="*/ 21 h 24"/>
                <a:gd name="T10" fmla="*/ 20 w 24"/>
                <a:gd name="T11" fmla="*/ 19 h 24"/>
                <a:gd name="T12" fmla="*/ 22 w 24"/>
                <a:gd name="T13" fmla="*/ 19 h 24"/>
                <a:gd name="T14" fmla="*/ 22 w 24"/>
                <a:gd name="T15" fmla="*/ 17 h 24"/>
                <a:gd name="T16" fmla="*/ 23 w 24"/>
                <a:gd name="T17" fmla="*/ 15 h 24"/>
                <a:gd name="T18" fmla="*/ 23 w 24"/>
                <a:gd name="T19" fmla="*/ 13 h 24"/>
                <a:gd name="T20" fmla="*/ 23 w 24"/>
                <a:gd name="T21" fmla="*/ 11 h 24"/>
                <a:gd name="T22" fmla="*/ 23 w 24"/>
                <a:gd name="T23" fmla="*/ 9 h 24"/>
                <a:gd name="T24" fmla="*/ 23 w 24"/>
                <a:gd name="T25" fmla="*/ 7 h 24"/>
                <a:gd name="T26" fmla="*/ 22 w 24"/>
                <a:gd name="T27" fmla="*/ 5 h 24"/>
                <a:gd name="T28" fmla="*/ 22 w 24"/>
                <a:gd name="T29" fmla="*/ 5 h 24"/>
                <a:gd name="T30" fmla="*/ 20 w 24"/>
                <a:gd name="T31" fmla="*/ 4 h 24"/>
                <a:gd name="T32" fmla="*/ 18 w 24"/>
                <a:gd name="T33" fmla="*/ 2 h 24"/>
                <a:gd name="T34" fmla="*/ 18 w 24"/>
                <a:gd name="T35" fmla="*/ 2 h 24"/>
                <a:gd name="T36" fmla="*/ 16 w 24"/>
                <a:gd name="T37" fmla="*/ 0 h 24"/>
                <a:gd name="T38" fmla="*/ 14 w 24"/>
                <a:gd name="T39" fmla="*/ 0 h 24"/>
                <a:gd name="T40" fmla="*/ 12 w 24"/>
                <a:gd name="T41" fmla="*/ 0 h 24"/>
                <a:gd name="T42" fmla="*/ 10 w 24"/>
                <a:gd name="T43" fmla="*/ 0 h 24"/>
                <a:gd name="T44" fmla="*/ 8 w 24"/>
                <a:gd name="T45" fmla="*/ 0 h 24"/>
                <a:gd name="T46" fmla="*/ 6 w 24"/>
                <a:gd name="T47" fmla="*/ 2 h 24"/>
                <a:gd name="T48" fmla="*/ 4 w 24"/>
                <a:gd name="T49" fmla="*/ 2 h 24"/>
                <a:gd name="T50" fmla="*/ 4 w 24"/>
                <a:gd name="T51" fmla="*/ 4 h 24"/>
                <a:gd name="T52" fmla="*/ 2 w 24"/>
                <a:gd name="T53" fmla="*/ 5 h 24"/>
                <a:gd name="T54" fmla="*/ 2 w 24"/>
                <a:gd name="T55" fmla="*/ 5 h 24"/>
                <a:gd name="T56" fmla="*/ 0 w 24"/>
                <a:gd name="T57" fmla="*/ 7 h 24"/>
                <a:gd name="T58" fmla="*/ 0 w 24"/>
                <a:gd name="T59" fmla="*/ 9 h 24"/>
                <a:gd name="T60" fmla="*/ 0 w 24"/>
                <a:gd name="T61" fmla="*/ 11 h 24"/>
                <a:gd name="T62" fmla="*/ 0 w 24"/>
                <a:gd name="T63" fmla="*/ 13 h 24"/>
                <a:gd name="T64" fmla="*/ 0 w 24"/>
                <a:gd name="T65" fmla="*/ 15 h 24"/>
                <a:gd name="T66" fmla="*/ 2 w 24"/>
                <a:gd name="T67" fmla="*/ 17 h 24"/>
                <a:gd name="T68" fmla="*/ 2 w 24"/>
                <a:gd name="T69" fmla="*/ 19 h 24"/>
                <a:gd name="T70" fmla="*/ 4 w 24"/>
                <a:gd name="T71" fmla="*/ 19 h 24"/>
                <a:gd name="T72" fmla="*/ 4 w 24"/>
                <a:gd name="T73" fmla="*/ 21 h 24"/>
                <a:gd name="T74" fmla="*/ 6 w 24"/>
                <a:gd name="T75" fmla="*/ 21 h 24"/>
                <a:gd name="T76" fmla="*/ 8 w 24"/>
                <a:gd name="T77" fmla="*/ 23 h 24"/>
                <a:gd name="T78" fmla="*/ 10 w 24"/>
                <a:gd name="T79" fmla="*/ 23 h 24"/>
                <a:gd name="T80" fmla="*/ 12 w 24"/>
                <a:gd name="T81" fmla="*/ 23 h 24"/>
                <a:gd name="T82" fmla="*/ 12 w 24"/>
                <a:gd name="T83" fmla="*/ 23 h 24"/>
                <a:gd name="T84" fmla="*/ 10 w 24"/>
                <a:gd name="T85" fmla="*/ 23 h 2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4"/>
                <a:gd name="T130" fmla="*/ 0 h 24"/>
                <a:gd name="T131" fmla="*/ 24 w 24"/>
                <a:gd name="T132" fmla="*/ 24 h 24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4" h="24">
                  <a:moveTo>
                    <a:pt x="10" y="23"/>
                  </a:moveTo>
                  <a:lnTo>
                    <a:pt x="14" y="23"/>
                  </a:lnTo>
                  <a:lnTo>
                    <a:pt x="16" y="23"/>
                  </a:lnTo>
                  <a:lnTo>
                    <a:pt x="18" y="21"/>
                  </a:lnTo>
                  <a:lnTo>
                    <a:pt x="20" y="19"/>
                  </a:lnTo>
                  <a:lnTo>
                    <a:pt x="22" y="19"/>
                  </a:lnTo>
                  <a:lnTo>
                    <a:pt x="22" y="17"/>
                  </a:lnTo>
                  <a:lnTo>
                    <a:pt x="23" y="15"/>
                  </a:lnTo>
                  <a:lnTo>
                    <a:pt x="23" y="13"/>
                  </a:lnTo>
                  <a:lnTo>
                    <a:pt x="23" y="11"/>
                  </a:lnTo>
                  <a:lnTo>
                    <a:pt x="23" y="9"/>
                  </a:lnTo>
                  <a:lnTo>
                    <a:pt x="23" y="7"/>
                  </a:lnTo>
                  <a:lnTo>
                    <a:pt x="22" y="5"/>
                  </a:lnTo>
                  <a:lnTo>
                    <a:pt x="20" y="4"/>
                  </a:lnTo>
                  <a:lnTo>
                    <a:pt x="18" y="2"/>
                  </a:lnTo>
                  <a:lnTo>
                    <a:pt x="16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8" y="0"/>
                  </a:lnTo>
                  <a:lnTo>
                    <a:pt x="6" y="2"/>
                  </a:lnTo>
                  <a:lnTo>
                    <a:pt x="4" y="2"/>
                  </a:lnTo>
                  <a:lnTo>
                    <a:pt x="4" y="4"/>
                  </a:lnTo>
                  <a:lnTo>
                    <a:pt x="2" y="5"/>
                  </a:lnTo>
                  <a:lnTo>
                    <a:pt x="0" y="7"/>
                  </a:lnTo>
                  <a:lnTo>
                    <a:pt x="0" y="9"/>
                  </a:lnTo>
                  <a:lnTo>
                    <a:pt x="0" y="11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2" y="17"/>
                  </a:lnTo>
                  <a:lnTo>
                    <a:pt x="2" y="19"/>
                  </a:lnTo>
                  <a:lnTo>
                    <a:pt x="4" y="19"/>
                  </a:lnTo>
                  <a:lnTo>
                    <a:pt x="4" y="21"/>
                  </a:lnTo>
                  <a:lnTo>
                    <a:pt x="6" y="21"/>
                  </a:lnTo>
                  <a:lnTo>
                    <a:pt x="8" y="23"/>
                  </a:lnTo>
                  <a:lnTo>
                    <a:pt x="10" y="23"/>
                  </a:lnTo>
                  <a:lnTo>
                    <a:pt x="12" y="23"/>
                  </a:lnTo>
                  <a:lnTo>
                    <a:pt x="10" y="23"/>
                  </a:lnTo>
                </a:path>
              </a:pathLst>
            </a:custGeom>
            <a:solidFill>
              <a:srgbClr val="000000"/>
            </a:solidFill>
            <a:ln w="9525" cap="rnd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08" name="Freeform 24"/>
            <p:cNvSpPr>
              <a:spLocks/>
            </p:cNvSpPr>
            <p:nvPr/>
          </p:nvSpPr>
          <p:spPr bwMode="auto">
            <a:xfrm>
              <a:off x="1629" y="3432"/>
              <a:ext cx="24" cy="24"/>
            </a:xfrm>
            <a:custGeom>
              <a:avLst/>
              <a:gdLst>
                <a:gd name="T0" fmla="*/ 10 w 24"/>
                <a:gd name="T1" fmla="*/ 23 h 24"/>
                <a:gd name="T2" fmla="*/ 14 w 24"/>
                <a:gd name="T3" fmla="*/ 23 h 24"/>
                <a:gd name="T4" fmla="*/ 16 w 24"/>
                <a:gd name="T5" fmla="*/ 23 h 24"/>
                <a:gd name="T6" fmla="*/ 16 w 24"/>
                <a:gd name="T7" fmla="*/ 21 h 24"/>
                <a:gd name="T8" fmla="*/ 18 w 24"/>
                <a:gd name="T9" fmla="*/ 21 h 24"/>
                <a:gd name="T10" fmla="*/ 20 w 24"/>
                <a:gd name="T11" fmla="*/ 19 h 24"/>
                <a:gd name="T12" fmla="*/ 22 w 24"/>
                <a:gd name="T13" fmla="*/ 18 h 24"/>
                <a:gd name="T14" fmla="*/ 22 w 24"/>
                <a:gd name="T15" fmla="*/ 18 h 24"/>
                <a:gd name="T16" fmla="*/ 22 w 24"/>
                <a:gd name="T17" fmla="*/ 16 h 24"/>
                <a:gd name="T18" fmla="*/ 23 w 24"/>
                <a:gd name="T19" fmla="*/ 14 h 24"/>
                <a:gd name="T20" fmla="*/ 23 w 24"/>
                <a:gd name="T21" fmla="*/ 12 h 24"/>
                <a:gd name="T22" fmla="*/ 23 w 24"/>
                <a:gd name="T23" fmla="*/ 10 h 24"/>
                <a:gd name="T24" fmla="*/ 22 w 24"/>
                <a:gd name="T25" fmla="*/ 8 h 24"/>
                <a:gd name="T26" fmla="*/ 22 w 24"/>
                <a:gd name="T27" fmla="*/ 6 h 24"/>
                <a:gd name="T28" fmla="*/ 22 w 24"/>
                <a:gd name="T29" fmla="*/ 4 h 24"/>
                <a:gd name="T30" fmla="*/ 20 w 24"/>
                <a:gd name="T31" fmla="*/ 4 h 24"/>
                <a:gd name="T32" fmla="*/ 18 w 24"/>
                <a:gd name="T33" fmla="*/ 2 h 24"/>
                <a:gd name="T34" fmla="*/ 16 w 24"/>
                <a:gd name="T35" fmla="*/ 2 h 24"/>
                <a:gd name="T36" fmla="*/ 16 w 24"/>
                <a:gd name="T37" fmla="*/ 0 h 24"/>
                <a:gd name="T38" fmla="*/ 14 w 24"/>
                <a:gd name="T39" fmla="*/ 0 h 24"/>
                <a:gd name="T40" fmla="*/ 12 w 24"/>
                <a:gd name="T41" fmla="*/ 0 h 24"/>
                <a:gd name="T42" fmla="*/ 10 w 24"/>
                <a:gd name="T43" fmla="*/ 0 h 24"/>
                <a:gd name="T44" fmla="*/ 8 w 24"/>
                <a:gd name="T45" fmla="*/ 0 h 24"/>
                <a:gd name="T46" fmla="*/ 6 w 24"/>
                <a:gd name="T47" fmla="*/ 2 h 24"/>
                <a:gd name="T48" fmla="*/ 4 w 24"/>
                <a:gd name="T49" fmla="*/ 2 h 24"/>
                <a:gd name="T50" fmla="*/ 2 w 24"/>
                <a:gd name="T51" fmla="*/ 4 h 24"/>
                <a:gd name="T52" fmla="*/ 2 w 24"/>
                <a:gd name="T53" fmla="*/ 4 h 24"/>
                <a:gd name="T54" fmla="*/ 0 w 24"/>
                <a:gd name="T55" fmla="*/ 6 h 24"/>
                <a:gd name="T56" fmla="*/ 0 w 24"/>
                <a:gd name="T57" fmla="*/ 8 h 24"/>
                <a:gd name="T58" fmla="*/ 0 w 24"/>
                <a:gd name="T59" fmla="*/ 10 h 24"/>
                <a:gd name="T60" fmla="*/ 0 w 24"/>
                <a:gd name="T61" fmla="*/ 12 h 24"/>
                <a:gd name="T62" fmla="*/ 0 w 24"/>
                <a:gd name="T63" fmla="*/ 14 h 24"/>
                <a:gd name="T64" fmla="*/ 0 w 24"/>
                <a:gd name="T65" fmla="*/ 16 h 24"/>
                <a:gd name="T66" fmla="*/ 0 w 24"/>
                <a:gd name="T67" fmla="*/ 18 h 24"/>
                <a:gd name="T68" fmla="*/ 2 w 24"/>
                <a:gd name="T69" fmla="*/ 18 h 24"/>
                <a:gd name="T70" fmla="*/ 2 w 24"/>
                <a:gd name="T71" fmla="*/ 19 h 24"/>
                <a:gd name="T72" fmla="*/ 4 w 24"/>
                <a:gd name="T73" fmla="*/ 21 h 24"/>
                <a:gd name="T74" fmla="*/ 6 w 24"/>
                <a:gd name="T75" fmla="*/ 21 h 24"/>
                <a:gd name="T76" fmla="*/ 8 w 24"/>
                <a:gd name="T77" fmla="*/ 23 h 24"/>
                <a:gd name="T78" fmla="*/ 10 w 24"/>
                <a:gd name="T79" fmla="*/ 23 h 24"/>
                <a:gd name="T80" fmla="*/ 12 w 24"/>
                <a:gd name="T81" fmla="*/ 23 h 24"/>
                <a:gd name="T82" fmla="*/ 12 w 24"/>
                <a:gd name="T83" fmla="*/ 23 h 24"/>
                <a:gd name="T84" fmla="*/ 10 w 24"/>
                <a:gd name="T85" fmla="*/ 23 h 2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4"/>
                <a:gd name="T130" fmla="*/ 0 h 24"/>
                <a:gd name="T131" fmla="*/ 24 w 24"/>
                <a:gd name="T132" fmla="*/ 24 h 24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4" h="24">
                  <a:moveTo>
                    <a:pt x="10" y="23"/>
                  </a:moveTo>
                  <a:lnTo>
                    <a:pt x="14" y="23"/>
                  </a:lnTo>
                  <a:lnTo>
                    <a:pt x="16" y="23"/>
                  </a:lnTo>
                  <a:lnTo>
                    <a:pt x="16" y="21"/>
                  </a:lnTo>
                  <a:lnTo>
                    <a:pt x="18" y="21"/>
                  </a:lnTo>
                  <a:lnTo>
                    <a:pt x="20" y="19"/>
                  </a:lnTo>
                  <a:lnTo>
                    <a:pt x="22" y="18"/>
                  </a:lnTo>
                  <a:lnTo>
                    <a:pt x="22" y="16"/>
                  </a:lnTo>
                  <a:lnTo>
                    <a:pt x="23" y="14"/>
                  </a:lnTo>
                  <a:lnTo>
                    <a:pt x="23" y="12"/>
                  </a:lnTo>
                  <a:lnTo>
                    <a:pt x="23" y="10"/>
                  </a:lnTo>
                  <a:lnTo>
                    <a:pt x="22" y="8"/>
                  </a:lnTo>
                  <a:lnTo>
                    <a:pt x="22" y="6"/>
                  </a:lnTo>
                  <a:lnTo>
                    <a:pt x="22" y="4"/>
                  </a:lnTo>
                  <a:lnTo>
                    <a:pt x="20" y="4"/>
                  </a:lnTo>
                  <a:lnTo>
                    <a:pt x="18" y="2"/>
                  </a:lnTo>
                  <a:lnTo>
                    <a:pt x="16" y="2"/>
                  </a:lnTo>
                  <a:lnTo>
                    <a:pt x="16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8" y="0"/>
                  </a:lnTo>
                  <a:lnTo>
                    <a:pt x="6" y="2"/>
                  </a:lnTo>
                  <a:lnTo>
                    <a:pt x="4" y="2"/>
                  </a:lnTo>
                  <a:lnTo>
                    <a:pt x="2" y="4"/>
                  </a:lnTo>
                  <a:lnTo>
                    <a:pt x="0" y="6"/>
                  </a:lnTo>
                  <a:lnTo>
                    <a:pt x="0" y="8"/>
                  </a:lnTo>
                  <a:lnTo>
                    <a:pt x="0" y="10"/>
                  </a:lnTo>
                  <a:lnTo>
                    <a:pt x="0" y="12"/>
                  </a:lnTo>
                  <a:lnTo>
                    <a:pt x="0" y="14"/>
                  </a:lnTo>
                  <a:lnTo>
                    <a:pt x="0" y="16"/>
                  </a:lnTo>
                  <a:lnTo>
                    <a:pt x="0" y="18"/>
                  </a:lnTo>
                  <a:lnTo>
                    <a:pt x="2" y="18"/>
                  </a:lnTo>
                  <a:lnTo>
                    <a:pt x="2" y="19"/>
                  </a:lnTo>
                  <a:lnTo>
                    <a:pt x="4" y="21"/>
                  </a:lnTo>
                  <a:lnTo>
                    <a:pt x="6" y="21"/>
                  </a:lnTo>
                  <a:lnTo>
                    <a:pt x="8" y="23"/>
                  </a:lnTo>
                  <a:lnTo>
                    <a:pt x="10" y="23"/>
                  </a:lnTo>
                  <a:lnTo>
                    <a:pt x="12" y="23"/>
                  </a:lnTo>
                  <a:lnTo>
                    <a:pt x="10" y="23"/>
                  </a:lnTo>
                </a:path>
              </a:pathLst>
            </a:custGeom>
            <a:solidFill>
              <a:srgbClr val="000000"/>
            </a:solidFill>
            <a:ln w="9525" cap="rnd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09" name="Line 25"/>
            <p:cNvSpPr>
              <a:spLocks noChangeShapeType="1"/>
            </p:cNvSpPr>
            <p:nvPr/>
          </p:nvSpPr>
          <p:spPr bwMode="auto">
            <a:xfrm>
              <a:off x="1449" y="2687"/>
              <a:ext cx="198" cy="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10" name="Line 26"/>
            <p:cNvSpPr>
              <a:spLocks noChangeShapeType="1"/>
            </p:cNvSpPr>
            <p:nvPr/>
          </p:nvSpPr>
          <p:spPr bwMode="auto">
            <a:xfrm flipV="1">
              <a:off x="1657" y="3441"/>
              <a:ext cx="776" cy="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11" name="Line 27"/>
            <p:cNvSpPr>
              <a:spLocks noChangeShapeType="1"/>
            </p:cNvSpPr>
            <p:nvPr/>
          </p:nvSpPr>
          <p:spPr bwMode="auto">
            <a:xfrm flipH="1">
              <a:off x="1447" y="2024"/>
              <a:ext cx="986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12" name="Freeform 28"/>
            <p:cNvSpPr>
              <a:spLocks/>
            </p:cNvSpPr>
            <p:nvPr/>
          </p:nvSpPr>
          <p:spPr bwMode="auto">
            <a:xfrm>
              <a:off x="4704" y="1917"/>
              <a:ext cx="93" cy="1777"/>
            </a:xfrm>
            <a:custGeom>
              <a:avLst/>
              <a:gdLst>
                <a:gd name="T0" fmla="*/ 92 w 93"/>
                <a:gd name="T1" fmla="*/ 1776 h 1777"/>
                <a:gd name="T2" fmla="*/ 92 w 93"/>
                <a:gd name="T3" fmla="*/ 0 h 1777"/>
                <a:gd name="T4" fmla="*/ 0 w 93"/>
                <a:gd name="T5" fmla="*/ 0 h 1777"/>
                <a:gd name="T6" fmla="*/ 0 w 93"/>
                <a:gd name="T7" fmla="*/ 1776 h 1777"/>
                <a:gd name="T8" fmla="*/ 92 w 93"/>
                <a:gd name="T9" fmla="*/ 1776 h 1777"/>
                <a:gd name="T10" fmla="*/ 92 w 93"/>
                <a:gd name="T11" fmla="*/ 1776 h 177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3"/>
                <a:gd name="T19" fmla="*/ 0 h 1777"/>
                <a:gd name="T20" fmla="*/ 93 w 93"/>
                <a:gd name="T21" fmla="*/ 1777 h 177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3" h="1777">
                  <a:moveTo>
                    <a:pt x="92" y="1776"/>
                  </a:moveTo>
                  <a:lnTo>
                    <a:pt x="92" y="0"/>
                  </a:lnTo>
                  <a:lnTo>
                    <a:pt x="0" y="0"/>
                  </a:lnTo>
                  <a:lnTo>
                    <a:pt x="0" y="1776"/>
                  </a:lnTo>
                  <a:lnTo>
                    <a:pt x="92" y="1776"/>
                  </a:lnTo>
                </a:path>
              </a:pathLst>
            </a:custGeom>
            <a:solidFill>
              <a:srgbClr val="CCECFF"/>
            </a:solidFill>
            <a:ln w="190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13" name="Freeform 29"/>
            <p:cNvSpPr>
              <a:spLocks/>
            </p:cNvSpPr>
            <p:nvPr/>
          </p:nvSpPr>
          <p:spPr bwMode="auto">
            <a:xfrm>
              <a:off x="2436" y="1917"/>
              <a:ext cx="93" cy="1777"/>
            </a:xfrm>
            <a:custGeom>
              <a:avLst/>
              <a:gdLst>
                <a:gd name="T0" fmla="*/ 92 w 93"/>
                <a:gd name="T1" fmla="*/ 1776 h 1777"/>
                <a:gd name="T2" fmla="*/ 92 w 93"/>
                <a:gd name="T3" fmla="*/ 0 h 1777"/>
                <a:gd name="T4" fmla="*/ 0 w 93"/>
                <a:gd name="T5" fmla="*/ 0 h 1777"/>
                <a:gd name="T6" fmla="*/ 0 w 93"/>
                <a:gd name="T7" fmla="*/ 1776 h 1777"/>
                <a:gd name="T8" fmla="*/ 92 w 93"/>
                <a:gd name="T9" fmla="*/ 1776 h 1777"/>
                <a:gd name="T10" fmla="*/ 92 w 93"/>
                <a:gd name="T11" fmla="*/ 1776 h 177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3"/>
                <a:gd name="T19" fmla="*/ 0 h 1777"/>
                <a:gd name="T20" fmla="*/ 93 w 93"/>
                <a:gd name="T21" fmla="*/ 1777 h 177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3" h="1777">
                  <a:moveTo>
                    <a:pt x="92" y="1776"/>
                  </a:moveTo>
                  <a:lnTo>
                    <a:pt x="92" y="0"/>
                  </a:lnTo>
                  <a:lnTo>
                    <a:pt x="0" y="0"/>
                  </a:lnTo>
                  <a:lnTo>
                    <a:pt x="0" y="1776"/>
                  </a:lnTo>
                  <a:lnTo>
                    <a:pt x="92" y="1776"/>
                  </a:lnTo>
                </a:path>
              </a:pathLst>
            </a:custGeom>
            <a:solidFill>
              <a:srgbClr val="CCECFF"/>
            </a:solidFill>
            <a:ln w="190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14" name="Line 30"/>
            <p:cNvSpPr>
              <a:spLocks noChangeShapeType="1"/>
            </p:cNvSpPr>
            <p:nvPr/>
          </p:nvSpPr>
          <p:spPr bwMode="auto">
            <a:xfrm flipV="1">
              <a:off x="2826" y="3695"/>
              <a:ext cx="0" cy="50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15" name="Line 31"/>
            <p:cNvSpPr>
              <a:spLocks noChangeShapeType="1"/>
            </p:cNvSpPr>
            <p:nvPr/>
          </p:nvSpPr>
          <p:spPr bwMode="auto">
            <a:xfrm>
              <a:off x="2855" y="2626"/>
              <a:ext cx="2" cy="54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16" name="Line 32"/>
            <p:cNvSpPr>
              <a:spLocks noChangeShapeType="1"/>
            </p:cNvSpPr>
            <p:nvPr/>
          </p:nvSpPr>
          <p:spPr bwMode="auto">
            <a:xfrm flipV="1">
              <a:off x="3006" y="3406"/>
              <a:ext cx="0" cy="52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17" name="Line 33"/>
            <p:cNvSpPr>
              <a:spLocks noChangeShapeType="1"/>
            </p:cNvSpPr>
            <p:nvPr/>
          </p:nvSpPr>
          <p:spPr bwMode="auto">
            <a:xfrm flipV="1">
              <a:off x="3364" y="2633"/>
              <a:ext cx="215" cy="2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18" name="Freeform 34"/>
            <p:cNvSpPr>
              <a:spLocks/>
            </p:cNvSpPr>
            <p:nvPr/>
          </p:nvSpPr>
          <p:spPr bwMode="auto">
            <a:xfrm>
              <a:off x="2877" y="3055"/>
              <a:ext cx="245" cy="345"/>
            </a:xfrm>
            <a:custGeom>
              <a:avLst/>
              <a:gdLst>
                <a:gd name="T0" fmla="*/ 123 w 174"/>
                <a:gd name="T1" fmla="*/ 344 h 367"/>
                <a:gd name="T2" fmla="*/ 144 w 174"/>
                <a:gd name="T3" fmla="*/ 342 h 367"/>
                <a:gd name="T4" fmla="*/ 162 w 174"/>
                <a:gd name="T5" fmla="*/ 336 h 367"/>
                <a:gd name="T6" fmla="*/ 179 w 174"/>
                <a:gd name="T7" fmla="*/ 324 h 367"/>
                <a:gd name="T8" fmla="*/ 194 w 174"/>
                <a:gd name="T9" fmla="*/ 312 h 367"/>
                <a:gd name="T10" fmla="*/ 208 w 174"/>
                <a:gd name="T11" fmla="*/ 294 h 367"/>
                <a:gd name="T12" fmla="*/ 221 w 174"/>
                <a:gd name="T13" fmla="*/ 274 h 367"/>
                <a:gd name="T14" fmla="*/ 230 w 174"/>
                <a:gd name="T15" fmla="*/ 251 h 367"/>
                <a:gd name="T16" fmla="*/ 238 w 174"/>
                <a:gd name="T17" fmla="*/ 227 h 367"/>
                <a:gd name="T18" fmla="*/ 244 w 174"/>
                <a:gd name="T19" fmla="*/ 200 h 367"/>
                <a:gd name="T20" fmla="*/ 244 w 174"/>
                <a:gd name="T21" fmla="*/ 171 h 367"/>
                <a:gd name="T22" fmla="*/ 244 w 174"/>
                <a:gd name="T23" fmla="*/ 145 h 367"/>
                <a:gd name="T24" fmla="*/ 238 w 174"/>
                <a:gd name="T25" fmla="*/ 118 h 367"/>
                <a:gd name="T26" fmla="*/ 230 w 174"/>
                <a:gd name="T27" fmla="*/ 92 h 367"/>
                <a:gd name="T28" fmla="*/ 221 w 174"/>
                <a:gd name="T29" fmla="*/ 71 h 367"/>
                <a:gd name="T30" fmla="*/ 208 w 174"/>
                <a:gd name="T31" fmla="*/ 51 h 367"/>
                <a:gd name="T32" fmla="*/ 194 w 174"/>
                <a:gd name="T33" fmla="*/ 33 h 367"/>
                <a:gd name="T34" fmla="*/ 179 w 174"/>
                <a:gd name="T35" fmla="*/ 19 h 367"/>
                <a:gd name="T36" fmla="*/ 162 w 174"/>
                <a:gd name="T37" fmla="*/ 8 h 367"/>
                <a:gd name="T38" fmla="*/ 144 w 174"/>
                <a:gd name="T39" fmla="*/ 2 h 367"/>
                <a:gd name="T40" fmla="*/ 123 w 174"/>
                <a:gd name="T41" fmla="*/ 0 h 367"/>
                <a:gd name="T42" fmla="*/ 103 w 174"/>
                <a:gd name="T43" fmla="*/ 2 h 367"/>
                <a:gd name="T44" fmla="*/ 84 w 174"/>
                <a:gd name="T45" fmla="*/ 8 h 367"/>
                <a:gd name="T46" fmla="*/ 68 w 174"/>
                <a:gd name="T47" fmla="*/ 19 h 367"/>
                <a:gd name="T48" fmla="*/ 52 w 174"/>
                <a:gd name="T49" fmla="*/ 33 h 367"/>
                <a:gd name="T50" fmla="*/ 38 w 174"/>
                <a:gd name="T51" fmla="*/ 51 h 367"/>
                <a:gd name="T52" fmla="*/ 24 w 174"/>
                <a:gd name="T53" fmla="*/ 71 h 367"/>
                <a:gd name="T54" fmla="*/ 14 w 174"/>
                <a:gd name="T55" fmla="*/ 92 h 367"/>
                <a:gd name="T56" fmla="*/ 8 w 174"/>
                <a:gd name="T57" fmla="*/ 118 h 367"/>
                <a:gd name="T58" fmla="*/ 3 w 174"/>
                <a:gd name="T59" fmla="*/ 145 h 367"/>
                <a:gd name="T60" fmla="*/ 0 w 174"/>
                <a:gd name="T61" fmla="*/ 171 h 367"/>
                <a:gd name="T62" fmla="*/ 3 w 174"/>
                <a:gd name="T63" fmla="*/ 200 h 367"/>
                <a:gd name="T64" fmla="*/ 8 w 174"/>
                <a:gd name="T65" fmla="*/ 227 h 367"/>
                <a:gd name="T66" fmla="*/ 14 w 174"/>
                <a:gd name="T67" fmla="*/ 251 h 367"/>
                <a:gd name="T68" fmla="*/ 24 w 174"/>
                <a:gd name="T69" fmla="*/ 274 h 367"/>
                <a:gd name="T70" fmla="*/ 38 w 174"/>
                <a:gd name="T71" fmla="*/ 294 h 367"/>
                <a:gd name="T72" fmla="*/ 52 w 174"/>
                <a:gd name="T73" fmla="*/ 312 h 367"/>
                <a:gd name="T74" fmla="*/ 68 w 174"/>
                <a:gd name="T75" fmla="*/ 324 h 367"/>
                <a:gd name="T76" fmla="*/ 84 w 174"/>
                <a:gd name="T77" fmla="*/ 336 h 367"/>
                <a:gd name="T78" fmla="*/ 103 w 174"/>
                <a:gd name="T79" fmla="*/ 342 h 367"/>
                <a:gd name="T80" fmla="*/ 123 w 174"/>
                <a:gd name="T81" fmla="*/ 344 h 367"/>
                <a:gd name="T82" fmla="*/ 123 w 174"/>
                <a:gd name="T83" fmla="*/ 344 h 367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174"/>
                <a:gd name="T127" fmla="*/ 0 h 367"/>
                <a:gd name="T128" fmla="*/ 174 w 174"/>
                <a:gd name="T129" fmla="*/ 367 h 367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174" h="367">
                  <a:moveTo>
                    <a:pt x="87" y="366"/>
                  </a:moveTo>
                  <a:lnTo>
                    <a:pt x="102" y="364"/>
                  </a:lnTo>
                  <a:lnTo>
                    <a:pt x="115" y="357"/>
                  </a:lnTo>
                  <a:lnTo>
                    <a:pt x="127" y="345"/>
                  </a:lnTo>
                  <a:lnTo>
                    <a:pt x="138" y="332"/>
                  </a:lnTo>
                  <a:lnTo>
                    <a:pt x="148" y="313"/>
                  </a:lnTo>
                  <a:lnTo>
                    <a:pt x="157" y="292"/>
                  </a:lnTo>
                  <a:lnTo>
                    <a:pt x="163" y="267"/>
                  </a:lnTo>
                  <a:lnTo>
                    <a:pt x="169" y="242"/>
                  </a:lnTo>
                  <a:lnTo>
                    <a:pt x="173" y="213"/>
                  </a:lnTo>
                  <a:lnTo>
                    <a:pt x="173" y="182"/>
                  </a:lnTo>
                  <a:lnTo>
                    <a:pt x="173" y="154"/>
                  </a:lnTo>
                  <a:lnTo>
                    <a:pt x="169" y="125"/>
                  </a:lnTo>
                  <a:lnTo>
                    <a:pt x="163" y="98"/>
                  </a:lnTo>
                  <a:lnTo>
                    <a:pt x="157" y="75"/>
                  </a:lnTo>
                  <a:lnTo>
                    <a:pt x="148" y="54"/>
                  </a:lnTo>
                  <a:lnTo>
                    <a:pt x="138" y="35"/>
                  </a:lnTo>
                  <a:lnTo>
                    <a:pt x="127" y="20"/>
                  </a:lnTo>
                  <a:lnTo>
                    <a:pt x="115" y="8"/>
                  </a:lnTo>
                  <a:lnTo>
                    <a:pt x="102" y="2"/>
                  </a:lnTo>
                  <a:lnTo>
                    <a:pt x="87" y="0"/>
                  </a:lnTo>
                  <a:lnTo>
                    <a:pt x="73" y="2"/>
                  </a:lnTo>
                  <a:lnTo>
                    <a:pt x="60" y="8"/>
                  </a:lnTo>
                  <a:lnTo>
                    <a:pt x="48" y="20"/>
                  </a:lnTo>
                  <a:lnTo>
                    <a:pt x="37" y="35"/>
                  </a:lnTo>
                  <a:lnTo>
                    <a:pt x="27" y="54"/>
                  </a:lnTo>
                  <a:lnTo>
                    <a:pt x="17" y="75"/>
                  </a:lnTo>
                  <a:lnTo>
                    <a:pt x="10" y="98"/>
                  </a:lnTo>
                  <a:lnTo>
                    <a:pt x="6" y="125"/>
                  </a:lnTo>
                  <a:lnTo>
                    <a:pt x="2" y="154"/>
                  </a:lnTo>
                  <a:lnTo>
                    <a:pt x="0" y="182"/>
                  </a:lnTo>
                  <a:lnTo>
                    <a:pt x="2" y="213"/>
                  </a:lnTo>
                  <a:lnTo>
                    <a:pt x="6" y="242"/>
                  </a:lnTo>
                  <a:lnTo>
                    <a:pt x="10" y="267"/>
                  </a:lnTo>
                  <a:lnTo>
                    <a:pt x="17" y="292"/>
                  </a:lnTo>
                  <a:lnTo>
                    <a:pt x="27" y="313"/>
                  </a:lnTo>
                  <a:lnTo>
                    <a:pt x="37" y="332"/>
                  </a:lnTo>
                  <a:lnTo>
                    <a:pt x="48" y="345"/>
                  </a:lnTo>
                  <a:lnTo>
                    <a:pt x="60" y="357"/>
                  </a:lnTo>
                  <a:lnTo>
                    <a:pt x="73" y="364"/>
                  </a:lnTo>
                  <a:lnTo>
                    <a:pt x="87" y="366"/>
                  </a:lnTo>
                </a:path>
              </a:pathLst>
            </a:custGeom>
            <a:noFill/>
            <a:ln w="19050" cap="rnd" cmpd="sng">
              <a:solidFill>
                <a:srgbClr val="EB75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19" name="Line 35"/>
            <p:cNvSpPr>
              <a:spLocks noChangeShapeType="1"/>
            </p:cNvSpPr>
            <p:nvPr/>
          </p:nvSpPr>
          <p:spPr bwMode="auto">
            <a:xfrm>
              <a:off x="2530" y="3225"/>
              <a:ext cx="349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21" name="Line 37"/>
            <p:cNvSpPr>
              <a:spLocks noChangeShapeType="1"/>
            </p:cNvSpPr>
            <p:nvPr/>
          </p:nvSpPr>
          <p:spPr bwMode="auto">
            <a:xfrm flipH="1" flipV="1">
              <a:off x="2530" y="2018"/>
              <a:ext cx="364" cy="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22" name="Freeform 38"/>
            <p:cNvSpPr>
              <a:spLocks/>
            </p:cNvSpPr>
            <p:nvPr/>
          </p:nvSpPr>
          <p:spPr bwMode="auto">
            <a:xfrm>
              <a:off x="2681" y="2710"/>
              <a:ext cx="26" cy="24"/>
            </a:xfrm>
            <a:custGeom>
              <a:avLst/>
              <a:gdLst>
                <a:gd name="T0" fmla="*/ 11 w 26"/>
                <a:gd name="T1" fmla="*/ 23 h 24"/>
                <a:gd name="T2" fmla="*/ 13 w 26"/>
                <a:gd name="T3" fmla="*/ 23 h 24"/>
                <a:gd name="T4" fmla="*/ 15 w 26"/>
                <a:gd name="T5" fmla="*/ 23 h 24"/>
                <a:gd name="T6" fmla="*/ 17 w 26"/>
                <a:gd name="T7" fmla="*/ 23 h 24"/>
                <a:gd name="T8" fmla="*/ 19 w 26"/>
                <a:gd name="T9" fmla="*/ 21 h 24"/>
                <a:gd name="T10" fmla="*/ 21 w 26"/>
                <a:gd name="T11" fmla="*/ 21 h 24"/>
                <a:gd name="T12" fmla="*/ 21 w 26"/>
                <a:gd name="T13" fmla="*/ 19 h 24"/>
                <a:gd name="T14" fmla="*/ 23 w 26"/>
                <a:gd name="T15" fmla="*/ 17 h 24"/>
                <a:gd name="T16" fmla="*/ 23 w 26"/>
                <a:gd name="T17" fmla="*/ 15 h 24"/>
                <a:gd name="T18" fmla="*/ 23 w 26"/>
                <a:gd name="T19" fmla="*/ 14 h 24"/>
                <a:gd name="T20" fmla="*/ 25 w 26"/>
                <a:gd name="T21" fmla="*/ 12 h 24"/>
                <a:gd name="T22" fmla="*/ 23 w 26"/>
                <a:gd name="T23" fmla="*/ 10 h 24"/>
                <a:gd name="T24" fmla="*/ 23 w 26"/>
                <a:gd name="T25" fmla="*/ 10 h 24"/>
                <a:gd name="T26" fmla="*/ 23 w 26"/>
                <a:gd name="T27" fmla="*/ 8 h 24"/>
                <a:gd name="T28" fmla="*/ 21 w 26"/>
                <a:gd name="T29" fmla="*/ 6 h 24"/>
                <a:gd name="T30" fmla="*/ 21 w 26"/>
                <a:gd name="T31" fmla="*/ 4 h 24"/>
                <a:gd name="T32" fmla="*/ 19 w 26"/>
                <a:gd name="T33" fmla="*/ 4 h 24"/>
                <a:gd name="T34" fmla="*/ 17 w 26"/>
                <a:gd name="T35" fmla="*/ 2 h 24"/>
                <a:gd name="T36" fmla="*/ 15 w 26"/>
                <a:gd name="T37" fmla="*/ 2 h 24"/>
                <a:gd name="T38" fmla="*/ 13 w 26"/>
                <a:gd name="T39" fmla="*/ 2 h 24"/>
                <a:gd name="T40" fmla="*/ 11 w 26"/>
                <a:gd name="T41" fmla="*/ 0 h 24"/>
                <a:gd name="T42" fmla="*/ 11 w 26"/>
                <a:gd name="T43" fmla="*/ 2 h 24"/>
                <a:gd name="T44" fmla="*/ 9 w 26"/>
                <a:gd name="T45" fmla="*/ 2 h 24"/>
                <a:gd name="T46" fmla="*/ 8 w 26"/>
                <a:gd name="T47" fmla="*/ 2 h 24"/>
                <a:gd name="T48" fmla="*/ 6 w 26"/>
                <a:gd name="T49" fmla="*/ 4 h 24"/>
                <a:gd name="T50" fmla="*/ 4 w 26"/>
                <a:gd name="T51" fmla="*/ 4 h 24"/>
                <a:gd name="T52" fmla="*/ 4 w 26"/>
                <a:gd name="T53" fmla="*/ 6 h 24"/>
                <a:gd name="T54" fmla="*/ 2 w 26"/>
                <a:gd name="T55" fmla="*/ 8 h 24"/>
                <a:gd name="T56" fmla="*/ 2 w 26"/>
                <a:gd name="T57" fmla="*/ 10 h 24"/>
                <a:gd name="T58" fmla="*/ 2 w 26"/>
                <a:gd name="T59" fmla="*/ 10 h 24"/>
                <a:gd name="T60" fmla="*/ 0 w 26"/>
                <a:gd name="T61" fmla="*/ 12 h 24"/>
                <a:gd name="T62" fmla="*/ 2 w 26"/>
                <a:gd name="T63" fmla="*/ 14 h 24"/>
                <a:gd name="T64" fmla="*/ 2 w 26"/>
                <a:gd name="T65" fmla="*/ 15 h 24"/>
                <a:gd name="T66" fmla="*/ 2 w 26"/>
                <a:gd name="T67" fmla="*/ 17 h 24"/>
                <a:gd name="T68" fmla="*/ 4 w 26"/>
                <a:gd name="T69" fmla="*/ 19 h 24"/>
                <a:gd name="T70" fmla="*/ 4 w 26"/>
                <a:gd name="T71" fmla="*/ 21 h 24"/>
                <a:gd name="T72" fmla="*/ 6 w 26"/>
                <a:gd name="T73" fmla="*/ 21 h 24"/>
                <a:gd name="T74" fmla="*/ 8 w 26"/>
                <a:gd name="T75" fmla="*/ 23 h 24"/>
                <a:gd name="T76" fmla="*/ 9 w 26"/>
                <a:gd name="T77" fmla="*/ 23 h 24"/>
                <a:gd name="T78" fmla="*/ 11 w 26"/>
                <a:gd name="T79" fmla="*/ 23 h 24"/>
                <a:gd name="T80" fmla="*/ 11 w 26"/>
                <a:gd name="T81" fmla="*/ 23 h 24"/>
                <a:gd name="T82" fmla="*/ 11 w 26"/>
                <a:gd name="T83" fmla="*/ 23 h 24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26"/>
                <a:gd name="T127" fmla="*/ 0 h 24"/>
                <a:gd name="T128" fmla="*/ 26 w 26"/>
                <a:gd name="T129" fmla="*/ 24 h 24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26" h="24">
                  <a:moveTo>
                    <a:pt x="11" y="23"/>
                  </a:moveTo>
                  <a:lnTo>
                    <a:pt x="13" y="23"/>
                  </a:lnTo>
                  <a:lnTo>
                    <a:pt x="15" y="23"/>
                  </a:lnTo>
                  <a:lnTo>
                    <a:pt x="17" y="23"/>
                  </a:lnTo>
                  <a:lnTo>
                    <a:pt x="19" y="21"/>
                  </a:lnTo>
                  <a:lnTo>
                    <a:pt x="21" y="21"/>
                  </a:lnTo>
                  <a:lnTo>
                    <a:pt x="21" y="19"/>
                  </a:lnTo>
                  <a:lnTo>
                    <a:pt x="23" y="17"/>
                  </a:lnTo>
                  <a:lnTo>
                    <a:pt x="23" y="15"/>
                  </a:lnTo>
                  <a:lnTo>
                    <a:pt x="23" y="14"/>
                  </a:lnTo>
                  <a:lnTo>
                    <a:pt x="25" y="12"/>
                  </a:lnTo>
                  <a:lnTo>
                    <a:pt x="23" y="10"/>
                  </a:lnTo>
                  <a:lnTo>
                    <a:pt x="23" y="8"/>
                  </a:lnTo>
                  <a:lnTo>
                    <a:pt x="21" y="6"/>
                  </a:lnTo>
                  <a:lnTo>
                    <a:pt x="21" y="4"/>
                  </a:lnTo>
                  <a:lnTo>
                    <a:pt x="19" y="4"/>
                  </a:lnTo>
                  <a:lnTo>
                    <a:pt x="17" y="2"/>
                  </a:lnTo>
                  <a:lnTo>
                    <a:pt x="15" y="2"/>
                  </a:lnTo>
                  <a:lnTo>
                    <a:pt x="13" y="2"/>
                  </a:lnTo>
                  <a:lnTo>
                    <a:pt x="11" y="0"/>
                  </a:lnTo>
                  <a:lnTo>
                    <a:pt x="11" y="2"/>
                  </a:lnTo>
                  <a:lnTo>
                    <a:pt x="9" y="2"/>
                  </a:lnTo>
                  <a:lnTo>
                    <a:pt x="8" y="2"/>
                  </a:lnTo>
                  <a:lnTo>
                    <a:pt x="6" y="4"/>
                  </a:lnTo>
                  <a:lnTo>
                    <a:pt x="4" y="4"/>
                  </a:lnTo>
                  <a:lnTo>
                    <a:pt x="4" y="6"/>
                  </a:lnTo>
                  <a:lnTo>
                    <a:pt x="2" y="8"/>
                  </a:lnTo>
                  <a:lnTo>
                    <a:pt x="2" y="10"/>
                  </a:lnTo>
                  <a:lnTo>
                    <a:pt x="0" y="12"/>
                  </a:lnTo>
                  <a:lnTo>
                    <a:pt x="2" y="14"/>
                  </a:lnTo>
                  <a:lnTo>
                    <a:pt x="2" y="15"/>
                  </a:lnTo>
                  <a:lnTo>
                    <a:pt x="2" y="17"/>
                  </a:lnTo>
                  <a:lnTo>
                    <a:pt x="4" y="19"/>
                  </a:lnTo>
                  <a:lnTo>
                    <a:pt x="4" y="21"/>
                  </a:lnTo>
                  <a:lnTo>
                    <a:pt x="6" y="21"/>
                  </a:lnTo>
                  <a:lnTo>
                    <a:pt x="8" y="23"/>
                  </a:lnTo>
                  <a:lnTo>
                    <a:pt x="9" y="23"/>
                  </a:lnTo>
                  <a:lnTo>
                    <a:pt x="11" y="23"/>
                  </a:lnTo>
                </a:path>
              </a:pathLst>
            </a:custGeom>
            <a:solidFill>
              <a:srgbClr val="000000"/>
            </a:solidFill>
            <a:ln w="9525" cap="rnd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23" name="Line 39"/>
            <p:cNvSpPr>
              <a:spLocks noChangeShapeType="1"/>
            </p:cNvSpPr>
            <p:nvPr/>
          </p:nvSpPr>
          <p:spPr bwMode="auto">
            <a:xfrm>
              <a:off x="2744" y="2413"/>
              <a:ext cx="2" cy="81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24" name="Freeform 40"/>
            <p:cNvSpPr>
              <a:spLocks/>
            </p:cNvSpPr>
            <p:nvPr/>
          </p:nvSpPr>
          <p:spPr bwMode="auto">
            <a:xfrm>
              <a:off x="2735" y="2917"/>
              <a:ext cx="24" cy="24"/>
            </a:xfrm>
            <a:custGeom>
              <a:avLst/>
              <a:gdLst>
                <a:gd name="T0" fmla="*/ 9 w 24"/>
                <a:gd name="T1" fmla="*/ 23 h 24"/>
                <a:gd name="T2" fmla="*/ 13 w 24"/>
                <a:gd name="T3" fmla="*/ 23 h 24"/>
                <a:gd name="T4" fmla="*/ 15 w 24"/>
                <a:gd name="T5" fmla="*/ 23 h 24"/>
                <a:gd name="T6" fmla="*/ 15 w 24"/>
                <a:gd name="T7" fmla="*/ 21 h 24"/>
                <a:gd name="T8" fmla="*/ 17 w 24"/>
                <a:gd name="T9" fmla="*/ 21 h 24"/>
                <a:gd name="T10" fmla="*/ 19 w 24"/>
                <a:gd name="T11" fmla="*/ 19 h 24"/>
                <a:gd name="T12" fmla="*/ 21 w 24"/>
                <a:gd name="T13" fmla="*/ 19 h 24"/>
                <a:gd name="T14" fmla="*/ 21 w 24"/>
                <a:gd name="T15" fmla="*/ 17 h 24"/>
                <a:gd name="T16" fmla="*/ 21 w 24"/>
                <a:gd name="T17" fmla="*/ 15 h 24"/>
                <a:gd name="T18" fmla="*/ 23 w 24"/>
                <a:gd name="T19" fmla="*/ 13 h 24"/>
                <a:gd name="T20" fmla="*/ 23 w 24"/>
                <a:gd name="T21" fmla="*/ 12 h 24"/>
                <a:gd name="T22" fmla="*/ 23 w 24"/>
                <a:gd name="T23" fmla="*/ 10 h 24"/>
                <a:gd name="T24" fmla="*/ 21 w 24"/>
                <a:gd name="T25" fmla="*/ 8 h 24"/>
                <a:gd name="T26" fmla="*/ 21 w 24"/>
                <a:gd name="T27" fmla="*/ 6 h 24"/>
                <a:gd name="T28" fmla="*/ 21 w 24"/>
                <a:gd name="T29" fmla="*/ 6 h 24"/>
                <a:gd name="T30" fmla="*/ 19 w 24"/>
                <a:gd name="T31" fmla="*/ 4 h 24"/>
                <a:gd name="T32" fmla="*/ 17 w 24"/>
                <a:gd name="T33" fmla="*/ 2 h 24"/>
                <a:gd name="T34" fmla="*/ 15 w 24"/>
                <a:gd name="T35" fmla="*/ 2 h 24"/>
                <a:gd name="T36" fmla="*/ 15 w 24"/>
                <a:gd name="T37" fmla="*/ 0 h 24"/>
                <a:gd name="T38" fmla="*/ 13 w 24"/>
                <a:gd name="T39" fmla="*/ 0 h 24"/>
                <a:gd name="T40" fmla="*/ 11 w 24"/>
                <a:gd name="T41" fmla="*/ 0 h 24"/>
                <a:gd name="T42" fmla="*/ 9 w 24"/>
                <a:gd name="T43" fmla="*/ 0 h 24"/>
                <a:gd name="T44" fmla="*/ 7 w 24"/>
                <a:gd name="T45" fmla="*/ 0 h 24"/>
                <a:gd name="T46" fmla="*/ 5 w 24"/>
                <a:gd name="T47" fmla="*/ 2 h 24"/>
                <a:gd name="T48" fmla="*/ 3 w 24"/>
                <a:gd name="T49" fmla="*/ 2 h 24"/>
                <a:gd name="T50" fmla="*/ 2 w 24"/>
                <a:gd name="T51" fmla="*/ 4 h 24"/>
                <a:gd name="T52" fmla="*/ 2 w 24"/>
                <a:gd name="T53" fmla="*/ 6 h 24"/>
                <a:gd name="T54" fmla="*/ 0 w 24"/>
                <a:gd name="T55" fmla="*/ 6 h 24"/>
                <a:gd name="T56" fmla="*/ 0 w 24"/>
                <a:gd name="T57" fmla="*/ 8 h 24"/>
                <a:gd name="T58" fmla="*/ 0 w 24"/>
                <a:gd name="T59" fmla="*/ 10 h 24"/>
                <a:gd name="T60" fmla="*/ 0 w 24"/>
                <a:gd name="T61" fmla="*/ 12 h 24"/>
                <a:gd name="T62" fmla="*/ 0 w 24"/>
                <a:gd name="T63" fmla="*/ 13 h 24"/>
                <a:gd name="T64" fmla="*/ 0 w 24"/>
                <a:gd name="T65" fmla="*/ 15 h 24"/>
                <a:gd name="T66" fmla="*/ 0 w 24"/>
                <a:gd name="T67" fmla="*/ 17 h 24"/>
                <a:gd name="T68" fmla="*/ 2 w 24"/>
                <a:gd name="T69" fmla="*/ 19 h 24"/>
                <a:gd name="T70" fmla="*/ 2 w 24"/>
                <a:gd name="T71" fmla="*/ 19 h 24"/>
                <a:gd name="T72" fmla="*/ 3 w 24"/>
                <a:gd name="T73" fmla="*/ 21 h 24"/>
                <a:gd name="T74" fmla="*/ 5 w 24"/>
                <a:gd name="T75" fmla="*/ 21 h 24"/>
                <a:gd name="T76" fmla="*/ 7 w 24"/>
                <a:gd name="T77" fmla="*/ 23 h 24"/>
                <a:gd name="T78" fmla="*/ 9 w 24"/>
                <a:gd name="T79" fmla="*/ 23 h 24"/>
                <a:gd name="T80" fmla="*/ 11 w 24"/>
                <a:gd name="T81" fmla="*/ 23 h 24"/>
                <a:gd name="T82" fmla="*/ 11 w 24"/>
                <a:gd name="T83" fmla="*/ 23 h 24"/>
                <a:gd name="T84" fmla="*/ 9 w 24"/>
                <a:gd name="T85" fmla="*/ 23 h 2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4"/>
                <a:gd name="T130" fmla="*/ 0 h 24"/>
                <a:gd name="T131" fmla="*/ 24 w 24"/>
                <a:gd name="T132" fmla="*/ 24 h 24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4" h="24">
                  <a:moveTo>
                    <a:pt x="9" y="23"/>
                  </a:moveTo>
                  <a:lnTo>
                    <a:pt x="13" y="23"/>
                  </a:lnTo>
                  <a:lnTo>
                    <a:pt x="15" y="23"/>
                  </a:lnTo>
                  <a:lnTo>
                    <a:pt x="15" y="21"/>
                  </a:lnTo>
                  <a:lnTo>
                    <a:pt x="17" y="21"/>
                  </a:lnTo>
                  <a:lnTo>
                    <a:pt x="19" y="19"/>
                  </a:lnTo>
                  <a:lnTo>
                    <a:pt x="21" y="19"/>
                  </a:lnTo>
                  <a:lnTo>
                    <a:pt x="21" y="17"/>
                  </a:lnTo>
                  <a:lnTo>
                    <a:pt x="21" y="15"/>
                  </a:lnTo>
                  <a:lnTo>
                    <a:pt x="23" y="13"/>
                  </a:lnTo>
                  <a:lnTo>
                    <a:pt x="23" y="12"/>
                  </a:lnTo>
                  <a:lnTo>
                    <a:pt x="23" y="10"/>
                  </a:lnTo>
                  <a:lnTo>
                    <a:pt x="21" y="8"/>
                  </a:lnTo>
                  <a:lnTo>
                    <a:pt x="21" y="6"/>
                  </a:lnTo>
                  <a:lnTo>
                    <a:pt x="19" y="4"/>
                  </a:lnTo>
                  <a:lnTo>
                    <a:pt x="17" y="2"/>
                  </a:lnTo>
                  <a:lnTo>
                    <a:pt x="15" y="2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1" y="0"/>
                  </a:lnTo>
                  <a:lnTo>
                    <a:pt x="9" y="0"/>
                  </a:lnTo>
                  <a:lnTo>
                    <a:pt x="7" y="0"/>
                  </a:lnTo>
                  <a:lnTo>
                    <a:pt x="5" y="2"/>
                  </a:lnTo>
                  <a:lnTo>
                    <a:pt x="3" y="2"/>
                  </a:lnTo>
                  <a:lnTo>
                    <a:pt x="2" y="4"/>
                  </a:lnTo>
                  <a:lnTo>
                    <a:pt x="2" y="6"/>
                  </a:lnTo>
                  <a:lnTo>
                    <a:pt x="0" y="6"/>
                  </a:lnTo>
                  <a:lnTo>
                    <a:pt x="0" y="8"/>
                  </a:lnTo>
                  <a:lnTo>
                    <a:pt x="0" y="10"/>
                  </a:lnTo>
                  <a:lnTo>
                    <a:pt x="0" y="12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0" y="17"/>
                  </a:lnTo>
                  <a:lnTo>
                    <a:pt x="2" y="19"/>
                  </a:lnTo>
                  <a:lnTo>
                    <a:pt x="3" y="21"/>
                  </a:lnTo>
                  <a:lnTo>
                    <a:pt x="5" y="21"/>
                  </a:lnTo>
                  <a:lnTo>
                    <a:pt x="7" y="23"/>
                  </a:lnTo>
                  <a:lnTo>
                    <a:pt x="9" y="23"/>
                  </a:lnTo>
                  <a:lnTo>
                    <a:pt x="11" y="23"/>
                  </a:lnTo>
                  <a:lnTo>
                    <a:pt x="9" y="23"/>
                  </a:lnTo>
                </a:path>
              </a:pathLst>
            </a:custGeom>
            <a:solidFill>
              <a:srgbClr val="000000"/>
            </a:solidFill>
            <a:ln w="9525" cap="rnd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25" name="Freeform 41"/>
            <p:cNvSpPr>
              <a:spLocks/>
            </p:cNvSpPr>
            <p:nvPr/>
          </p:nvSpPr>
          <p:spPr bwMode="auto">
            <a:xfrm>
              <a:off x="2735" y="3214"/>
              <a:ext cx="24" cy="24"/>
            </a:xfrm>
            <a:custGeom>
              <a:avLst/>
              <a:gdLst>
                <a:gd name="T0" fmla="*/ 9 w 24"/>
                <a:gd name="T1" fmla="*/ 23 h 24"/>
                <a:gd name="T2" fmla="*/ 13 w 24"/>
                <a:gd name="T3" fmla="*/ 23 h 24"/>
                <a:gd name="T4" fmla="*/ 15 w 24"/>
                <a:gd name="T5" fmla="*/ 23 h 24"/>
                <a:gd name="T6" fmla="*/ 15 w 24"/>
                <a:gd name="T7" fmla="*/ 23 h 24"/>
                <a:gd name="T8" fmla="*/ 17 w 24"/>
                <a:gd name="T9" fmla="*/ 21 h 24"/>
                <a:gd name="T10" fmla="*/ 19 w 24"/>
                <a:gd name="T11" fmla="*/ 19 h 24"/>
                <a:gd name="T12" fmla="*/ 19 w 24"/>
                <a:gd name="T13" fmla="*/ 19 h 24"/>
                <a:gd name="T14" fmla="*/ 21 w 24"/>
                <a:gd name="T15" fmla="*/ 17 h 24"/>
                <a:gd name="T16" fmla="*/ 21 w 24"/>
                <a:gd name="T17" fmla="*/ 15 h 24"/>
                <a:gd name="T18" fmla="*/ 23 w 24"/>
                <a:gd name="T19" fmla="*/ 13 h 24"/>
                <a:gd name="T20" fmla="*/ 23 w 24"/>
                <a:gd name="T21" fmla="*/ 11 h 24"/>
                <a:gd name="T22" fmla="*/ 23 w 24"/>
                <a:gd name="T23" fmla="*/ 10 h 24"/>
                <a:gd name="T24" fmla="*/ 21 w 24"/>
                <a:gd name="T25" fmla="*/ 8 h 24"/>
                <a:gd name="T26" fmla="*/ 21 w 24"/>
                <a:gd name="T27" fmla="*/ 6 h 24"/>
                <a:gd name="T28" fmla="*/ 19 w 24"/>
                <a:gd name="T29" fmla="*/ 6 h 24"/>
                <a:gd name="T30" fmla="*/ 19 w 24"/>
                <a:gd name="T31" fmla="*/ 4 h 24"/>
                <a:gd name="T32" fmla="*/ 17 w 24"/>
                <a:gd name="T33" fmla="*/ 2 h 24"/>
                <a:gd name="T34" fmla="*/ 15 w 24"/>
                <a:gd name="T35" fmla="*/ 2 h 24"/>
                <a:gd name="T36" fmla="*/ 15 w 24"/>
                <a:gd name="T37" fmla="*/ 0 h 24"/>
                <a:gd name="T38" fmla="*/ 13 w 24"/>
                <a:gd name="T39" fmla="*/ 0 h 24"/>
                <a:gd name="T40" fmla="*/ 11 w 24"/>
                <a:gd name="T41" fmla="*/ 0 h 24"/>
                <a:gd name="T42" fmla="*/ 9 w 24"/>
                <a:gd name="T43" fmla="*/ 0 h 24"/>
                <a:gd name="T44" fmla="*/ 7 w 24"/>
                <a:gd name="T45" fmla="*/ 0 h 24"/>
                <a:gd name="T46" fmla="*/ 5 w 24"/>
                <a:gd name="T47" fmla="*/ 2 h 24"/>
                <a:gd name="T48" fmla="*/ 3 w 24"/>
                <a:gd name="T49" fmla="*/ 2 h 24"/>
                <a:gd name="T50" fmla="*/ 2 w 24"/>
                <a:gd name="T51" fmla="*/ 4 h 24"/>
                <a:gd name="T52" fmla="*/ 2 w 24"/>
                <a:gd name="T53" fmla="*/ 6 h 24"/>
                <a:gd name="T54" fmla="*/ 0 w 24"/>
                <a:gd name="T55" fmla="*/ 6 h 24"/>
                <a:gd name="T56" fmla="*/ 0 w 24"/>
                <a:gd name="T57" fmla="*/ 8 h 24"/>
                <a:gd name="T58" fmla="*/ 0 w 24"/>
                <a:gd name="T59" fmla="*/ 10 h 24"/>
                <a:gd name="T60" fmla="*/ 0 w 24"/>
                <a:gd name="T61" fmla="*/ 11 h 24"/>
                <a:gd name="T62" fmla="*/ 0 w 24"/>
                <a:gd name="T63" fmla="*/ 13 h 24"/>
                <a:gd name="T64" fmla="*/ 0 w 24"/>
                <a:gd name="T65" fmla="*/ 15 h 24"/>
                <a:gd name="T66" fmla="*/ 0 w 24"/>
                <a:gd name="T67" fmla="*/ 17 h 24"/>
                <a:gd name="T68" fmla="*/ 2 w 24"/>
                <a:gd name="T69" fmla="*/ 19 h 24"/>
                <a:gd name="T70" fmla="*/ 2 w 24"/>
                <a:gd name="T71" fmla="*/ 19 h 24"/>
                <a:gd name="T72" fmla="*/ 3 w 24"/>
                <a:gd name="T73" fmla="*/ 21 h 24"/>
                <a:gd name="T74" fmla="*/ 5 w 24"/>
                <a:gd name="T75" fmla="*/ 23 h 24"/>
                <a:gd name="T76" fmla="*/ 7 w 24"/>
                <a:gd name="T77" fmla="*/ 23 h 24"/>
                <a:gd name="T78" fmla="*/ 9 w 24"/>
                <a:gd name="T79" fmla="*/ 23 h 24"/>
                <a:gd name="T80" fmla="*/ 11 w 24"/>
                <a:gd name="T81" fmla="*/ 23 h 24"/>
                <a:gd name="T82" fmla="*/ 11 w 24"/>
                <a:gd name="T83" fmla="*/ 23 h 24"/>
                <a:gd name="T84" fmla="*/ 9 w 24"/>
                <a:gd name="T85" fmla="*/ 23 h 2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4"/>
                <a:gd name="T130" fmla="*/ 0 h 24"/>
                <a:gd name="T131" fmla="*/ 24 w 24"/>
                <a:gd name="T132" fmla="*/ 24 h 24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4" h="24">
                  <a:moveTo>
                    <a:pt x="9" y="23"/>
                  </a:moveTo>
                  <a:lnTo>
                    <a:pt x="13" y="23"/>
                  </a:lnTo>
                  <a:lnTo>
                    <a:pt x="15" y="23"/>
                  </a:lnTo>
                  <a:lnTo>
                    <a:pt x="17" y="21"/>
                  </a:lnTo>
                  <a:lnTo>
                    <a:pt x="19" y="19"/>
                  </a:lnTo>
                  <a:lnTo>
                    <a:pt x="21" y="17"/>
                  </a:lnTo>
                  <a:lnTo>
                    <a:pt x="21" y="15"/>
                  </a:lnTo>
                  <a:lnTo>
                    <a:pt x="23" y="13"/>
                  </a:lnTo>
                  <a:lnTo>
                    <a:pt x="23" y="11"/>
                  </a:lnTo>
                  <a:lnTo>
                    <a:pt x="23" y="10"/>
                  </a:lnTo>
                  <a:lnTo>
                    <a:pt x="21" y="8"/>
                  </a:lnTo>
                  <a:lnTo>
                    <a:pt x="21" y="6"/>
                  </a:lnTo>
                  <a:lnTo>
                    <a:pt x="19" y="6"/>
                  </a:lnTo>
                  <a:lnTo>
                    <a:pt x="19" y="4"/>
                  </a:lnTo>
                  <a:lnTo>
                    <a:pt x="17" y="2"/>
                  </a:lnTo>
                  <a:lnTo>
                    <a:pt x="15" y="2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1" y="0"/>
                  </a:lnTo>
                  <a:lnTo>
                    <a:pt x="9" y="0"/>
                  </a:lnTo>
                  <a:lnTo>
                    <a:pt x="7" y="0"/>
                  </a:lnTo>
                  <a:lnTo>
                    <a:pt x="5" y="2"/>
                  </a:lnTo>
                  <a:lnTo>
                    <a:pt x="3" y="2"/>
                  </a:lnTo>
                  <a:lnTo>
                    <a:pt x="2" y="4"/>
                  </a:lnTo>
                  <a:lnTo>
                    <a:pt x="2" y="6"/>
                  </a:lnTo>
                  <a:lnTo>
                    <a:pt x="0" y="6"/>
                  </a:lnTo>
                  <a:lnTo>
                    <a:pt x="0" y="8"/>
                  </a:lnTo>
                  <a:lnTo>
                    <a:pt x="0" y="10"/>
                  </a:lnTo>
                  <a:lnTo>
                    <a:pt x="0" y="11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0" y="17"/>
                  </a:lnTo>
                  <a:lnTo>
                    <a:pt x="2" y="19"/>
                  </a:lnTo>
                  <a:lnTo>
                    <a:pt x="3" y="21"/>
                  </a:lnTo>
                  <a:lnTo>
                    <a:pt x="5" y="23"/>
                  </a:lnTo>
                  <a:lnTo>
                    <a:pt x="7" y="23"/>
                  </a:lnTo>
                  <a:lnTo>
                    <a:pt x="9" y="23"/>
                  </a:lnTo>
                  <a:lnTo>
                    <a:pt x="11" y="23"/>
                  </a:lnTo>
                  <a:lnTo>
                    <a:pt x="9" y="23"/>
                  </a:lnTo>
                </a:path>
              </a:pathLst>
            </a:custGeom>
            <a:solidFill>
              <a:srgbClr val="000000"/>
            </a:solidFill>
            <a:ln w="9525" cap="rnd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26" name="Line 42"/>
            <p:cNvSpPr>
              <a:spLocks noChangeShapeType="1"/>
            </p:cNvSpPr>
            <p:nvPr/>
          </p:nvSpPr>
          <p:spPr bwMode="auto">
            <a:xfrm flipH="1" flipV="1">
              <a:off x="2784" y="3197"/>
              <a:ext cx="35" cy="5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27" name="Rectangle 43"/>
            <p:cNvSpPr>
              <a:spLocks noChangeArrowheads="1"/>
            </p:cNvSpPr>
            <p:nvPr/>
          </p:nvSpPr>
          <p:spPr bwMode="auto">
            <a:xfrm>
              <a:off x="2737" y="3118"/>
              <a:ext cx="124" cy="1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sz="600">
                  <a:solidFill>
                    <a:srgbClr val="000000"/>
                  </a:solidFill>
                  <a:latin typeface="+mj-lt"/>
                </a:rPr>
                <a:t>6</a:t>
              </a:r>
            </a:p>
          </p:txBody>
        </p:sp>
        <p:sp>
          <p:nvSpPr>
            <p:cNvPr id="54328" name="Line 44"/>
            <p:cNvSpPr>
              <a:spLocks noChangeShapeType="1"/>
            </p:cNvSpPr>
            <p:nvPr/>
          </p:nvSpPr>
          <p:spPr bwMode="auto">
            <a:xfrm flipH="1" flipV="1">
              <a:off x="2532" y="2527"/>
              <a:ext cx="440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29" name="Freeform 45"/>
            <p:cNvSpPr>
              <a:spLocks/>
            </p:cNvSpPr>
            <p:nvPr/>
          </p:nvSpPr>
          <p:spPr bwMode="auto">
            <a:xfrm>
              <a:off x="2692" y="2722"/>
              <a:ext cx="890" cy="284"/>
            </a:xfrm>
            <a:custGeom>
              <a:avLst/>
              <a:gdLst>
                <a:gd name="T0" fmla="*/ 889 w 935"/>
                <a:gd name="T1" fmla="*/ 283 h 284"/>
                <a:gd name="T2" fmla="*/ 0 w 935"/>
                <a:gd name="T3" fmla="*/ 283 h 284"/>
                <a:gd name="T4" fmla="*/ 0 w 935"/>
                <a:gd name="T5" fmla="*/ 0 h 284"/>
                <a:gd name="T6" fmla="*/ 0 60000 65536"/>
                <a:gd name="T7" fmla="*/ 0 60000 65536"/>
                <a:gd name="T8" fmla="*/ 0 60000 65536"/>
                <a:gd name="T9" fmla="*/ 0 w 935"/>
                <a:gd name="T10" fmla="*/ 0 h 284"/>
                <a:gd name="T11" fmla="*/ 935 w 935"/>
                <a:gd name="T12" fmla="*/ 284 h 28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35" h="284">
                  <a:moveTo>
                    <a:pt x="934" y="283"/>
                  </a:moveTo>
                  <a:lnTo>
                    <a:pt x="0" y="283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triangl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30" name="Freeform 46"/>
            <p:cNvSpPr>
              <a:spLocks/>
            </p:cNvSpPr>
            <p:nvPr/>
          </p:nvSpPr>
          <p:spPr bwMode="auto">
            <a:xfrm>
              <a:off x="3582" y="1917"/>
              <a:ext cx="93" cy="1777"/>
            </a:xfrm>
            <a:custGeom>
              <a:avLst/>
              <a:gdLst>
                <a:gd name="T0" fmla="*/ 90 w 93"/>
                <a:gd name="T1" fmla="*/ 1776 h 1777"/>
                <a:gd name="T2" fmla="*/ 92 w 93"/>
                <a:gd name="T3" fmla="*/ 0 h 1777"/>
                <a:gd name="T4" fmla="*/ 0 w 93"/>
                <a:gd name="T5" fmla="*/ 0 h 1777"/>
                <a:gd name="T6" fmla="*/ 0 w 93"/>
                <a:gd name="T7" fmla="*/ 1776 h 1777"/>
                <a:gd name="T8" fmla="*/ 92 w 93"/>
                <a:gd name="T9" fmla="*/ 1776 h 1777"/>
                <a:gd name="T10" fmla="*/ 92 w 93"/>
                <a:gd name="T11" fmla="*/ 1776 h 177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3"/>
                <a:gd name="T19" fmla="*/ 0 h 1777"/>
                <a:gd name="T20" fmla="*/ 93 w 93"/>
                <a:gd name="T21" fmla="*/ 1777 h 177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3" h="1777">
                  <a:moveTo>
                    <a:pt x="90" y="1776"/>
                  </a:moveTo>
                  <a:lnTo>
                    <a:pt x="92" y="0"/>
                  </a:lnTo>
                  <a:lnTo>
                    <a:pt x="0" y="0"/>
                  </a:lnTo>
                  <a:lnTo>
                    <a:pt x="0" y="1776"/>
                  </a:lnTo>
                  <a:lnTo>
                    <a:pt x="92" y="1776"/>
                  </a:lnTo>
                </a:path>
              </a:pathLst>
            </a:custGeom>
            <a:solidFill>
              <a:srgbClr val="CCECFF"/>
            </a:solidFill>
            <a:ln w="190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31" name="Freeform 47"/>
            <p:cNvSpPr>
              <a:spLocks/>
            </p:cNvSpPr>
            <p:nvPr/>
          </p:nvSpPr>
          <p:spPr bwMode="auto">
            <a:xfrm>
              <a:off x="2899" y="1955"/>
              <a:ext cx="365" cy="422"/>
            </a:xfrm>
            <a:custGeom>
              <a:avLst/>
              <a:gdLst>
                <a:gd name="T0" fmla="*/ 0 w 301"/>
                <a:gd name="T1" fmla="*/ 0 h 422"/>
                <a:gd name="T2" fmla="*/ 0 w 301"/>
                <a:gd name="T3" fmla="*/ 170 h 422"/>
                <a:gd name="T4" fmla="*/ 75 w 301"/>
                <a:gd name="T5" fmla="*/ 210 h 422"/>
                <a:gd name="T6" fmla="*/ 0 w 301"/>
                <a:gd name="T7" fmla="*/ 251 h 422"/>
                <a:gd name="T8" fmla="*/ 0 w 301"/>
                <a:gd name="T9" fmla="*/ 421 h 422"/>
                <a:gd name="T10" fmla="*/ 364 w 301"/>
                <a:gd name="T11" fmla="*/ 285 h 422"/>
                <a:gd name="T12" fmla="*/ 364 w 301"/>
                <a:gd name="T13" fmla="*/ 138 h 422"/>
                <a:gd name="T14" fmla="*/ 0 w 301"/>
                <a:gd name="T15" fmla="*/ 0 h 422"/>
                <a:gd name="T16" fmla="*/ 0 w 301"/>
                <a:gd name="T17" fmla="*/ 0 h 42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01"/>
                <a:gd name="T28" fmla="*/ 0 h 422"/>
                <a:gd name="T29" fmla="*/ 301 w 301"/>
                <a:gd name="T30" fmla="*/ 422 h 422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01" h="422">
                  <a:moveTo>
                    <a:pt x="0" y="0"/>
                  </a:moveTo>
                  <a:lnTo>
                    <a:pt x="0" y="170"/>
                  </a:lnTo>
                  <a:lnTo>
                    <a:pt x="62" y="210"/>
                  </a:lnTo>
                  <a:lnTo>
                    <a:pt x="0" y="251"/>
                  </a:lnTo>
                  <a:lnTo>
                    <a:pt x="0" y="421"/>
                  </a:lnTo>
                  <a:lnTo>
                    <a:pt x="300" y="285"/>
                  </a:lnTo>
                  <a:lnTo>
                    <a:pt x="300" y="138"/>
                  </a:lnTo>
                  <a:lnTo>
                    <a:pt x="0" y="0"/>
                  </a:lnTo>
                </a:path>
              </a:pathLst>
            </a:custGeom>
            <a:solidFill>
              <a:srgbClr val="CCFF99"/>
            </a:solidFill>
            <a:ln w="190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32" name="Freeform 48"/>
            <p:cNvSpPr>
              <a:spLocks/>
            </p:cNvSpPr>
            <p:nvPr/>
          </p:nvSpPr>
          <p:spPr bwMode="auto">
            <a:xfrm>
              <a:off x="2969" y="2461"/>
              <a:ext cx="391" cy="458"/>
            </a:xfrm>
            <a:custGeom>
              <a:avLst/>
              <a:gdLst>
                <a:gd name="T0" fmla="*/ 0 w 300"/>
                <a:gd name="T1" fmla="*/ 0 h 422"/>
                <a:gd name="T2" fmla="*/ 0 w 300"/>
                <a:gd name="T3" fmla="*/ 186 h 422"/>
                <a:gd name="T4" fmla="*/ 80 w 300"/>
                <a:gd name="T5" fmla="*/ 229 h 422"/>
                <a:gd name="T6" fmla="*/ 0 w 300"/>
                <a:gd name="T7" fmla="*/ 272 h 422"/>
                <a:gd name="T8" fmla="*/ 0 w 300"/>
                <a:gd name="T9" fmla="*/ 457 h 422"/>
                <a:gd name="T10" fmla="*/ 390 w 300"/>
                <a:gd name="T11" fmla="*/ 309 h 422"/>
                <a:gd name="T12" fmla="*/ 390 w 300"/>
                <a:gd name="T13" fmla="*/ 148 h 422"/>
                <a:gd name="T14" fmla="*/ 0 w 300"/>
                <a:gd name="T15" fmla="*/ 0 h 422"/>
                <a:gd name="T16" fmla="*/ 0 w 300"/>
                <a:gd name="T17" fmla="*/ 0 h 42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00"/>
                <a:gd name="T28" fmla="*/ 0 h 422"/>
                <a:gd name="T29" fmla="*/ 300 w 300"/>
                <a:gd name="T30" fmla="*/ 422 h 422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00" h="422">
                  <a:moveTo>
                    <a:pt x="0" y="0"/>
                  </a:moveTo>
                  <a:lnTo>
                    <a:pt x="0" y="171"/>
                  </a:lnTo>
                  <a:lnTo>
                    <a:pt x="61" y="211"/>
                  </a:lnTo>
                  <a:lnTo>
                    <a:pt x="0" y="251"/>
                  </a:lnTo>
                  <a:lnTo>
                    <a:pt x="0" y="421"/>
                  </a:lnTo>
                  <a:lnTo>
                    <a:pt x="299" y="285"/>
                  </a:lnTo>
                  <a:lnTo>
                    <a:pt x="299" y="136"/>
                  </a:lnTo>
                  <a:lnTo>
                    <a:pt x="0" y="0"/>
                  </a:lnTo>
                </a:path>
              </a:pathLst>
            </a:custGeom>
            <a:solidFill>
              <a:srgbClr val="CCFF99"/>
            </a:solidFill>
            <a:ln w="190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33" name="Freeform 49"/>
            <p:cNvSpPr>
              <a:spLocks/>
            </p:cNvSpPr>
            <p:nvPr/>
          </p:nvSpPr>
          <p:spPr bwMode="auto">
            <a:xfrm>
              <a:off x="2675" y="2170"/>
              <a:ext cx="151" cy="239"/>
            </a:xfrm>
            <a:custGeom>
              <a:avLst/>
              <a:gdLst>
                <a:gd name="T0" fmla="*/ 73 w 151"/>
                <a:gd name="T1" fmla="*/ 236 h 239"/>
                <a:gd name="T2" fmla="*/ 86 w 151"/>
                <a:gd name="T3" fmla="*/ 236 h 239"/>
                <a:gd name="T4" fmla="*/ 98 w 151"/>
                <a:gd name="T5" fmla="*/ 232 h 239"/>
                <a:gd name="T6" fmla="*/ 109 w 151"/>
                <a:gd name="T7" fmla="*/ 224 h 239"/>
                <a:gd name="T8" fmla="*/ 119 w 151"/>
                <a:gd name="T9" fmla="*/ 215 h 239"/>
                <a:gd name="T10" fmla="*/ 129 w 151"/>
                <a:gd name="T11" fmla="*/ 203 h 239"/>
                <a:gd name="T12" fmla="*/ 134 w 151"/>
                <a:gd name="T13" fmla="*/ 188 h 239"/>
                <a:gd name="T14" fmla="*/ 142 w 151"/>
                <a:gd name="T15" fmla="*/ 172 h 239"/>
                <a:gd name="T16" fmla="*/ 146 w 151"/>
                <a:gd name="T17" fmla="*/ 155 h 239"/>
                <a:gd name="T18" fmla="*/ 150 w 151"/>
                <a:gd name="T19" fmla="*/ 138 h 239"/>
                <a:gd name="T20" fmla="*/ 150 w 151"/>
                <a:gd name="T21" fmla="*/ 119 h 239"/>
                <a:gd name="T22" fmla="*/ 150 w 151"/>
                <a:gd name="T23" fmla="*/ 100 h 239"/>
                <a:gd name="T24" fmla="*/ 146 w 151"/>
                <a:gd name="T25" fmla="*/ 80 h 239"/>
                <a:gd name="T26" fmla="*/ 142 w 151"/>
                <a:gd name="T27" fmla="*/ 63 h 239"/>
                <a:gd name="T28" fmla="*/ 134 w 151"/>
                <a:gd name="T29" fmla="*/ 48 h 239"/>
                <a:gd name="T30" fmla="*/ 129 w 151"/>
                <a:gd name="T31" fmla="*/ 34 h 239"/>
                <a:gd name="T32" fmla="*/ 119 w 151"/>
                <a:gd name="T33" fmla="*/ 23 h 239"/>
                <a:gd name="T34" fmla="*/ 109 w 151"/>
                <a:gd name="T35" fmla="*/ 13 h 239"/>
                <a:gd name="T36" fmla="*/ 98 w 151"/>
                <a:gd name="T37" fmla="*/ 6 h 239"/>
                <a:gd name="T38" fmla="*/ 86 w 151"/>
                <a:gd name="T39" fmla="*/ 0 h 239"/>
                <a:gd name="T40" fmla="*/ 75 w 151"/>
                <a:gd name="T41" fmla="*/ 0 h 239"/>
                <a:gd name="T42" fmla="*/ 62 w 151"/>
                <a:gd name="T43" fmla="*/ 0 h 239"/>
                <a:gd name="T44" fmla="*/ 50 w 151"/>
                <a:gd name="T45" fmla="*/ 6 h 239"/>
                <a:gd name="T46" fmla="*/ 40 w 151"/>
                <a:gd name="T47" fmla="*/ 13 h 239"/>
                <a:gd name="T48" fmla="*/ 31 w 151"/>
                <a:gd name="T49" fmla="*/ 23 h 239"/>
                <a:gd name="T50" fmla="*/ 21 w 151"/>
                <a:gd name="T51" fmla="*/ 34 h 239"/>
                <a:gd name="T52" fmla="*/ 14 w 151"/>
                <a:gd name="T53" fmla="*/ 48 h 239"/>
                <a:gd name="T54" fmla="*/ 8 w 151"/>
                <a:gd name="T55" fmla="*/ 63 h 239"/>
                <a:gd name="T56" fmla="*/ 4 w 151"/>
                <a:gd name="T57" fmla="*/ 80 h 239"/>
                <a:gd name="T58" fmla="*/ 0 w 151"/>
                <a:gd name="T59" fmla="*/ 100 h 239"/>
                <a:gd name="T60" fmla="*/ 0 w 151"/>
                <a:gd name="T61" fmla="*/ 119 h 239"/>
                <a:gd name="T62" fmla="*/ 0 w 151"/>
                <a:gd name="T63" fmla="*/ 138 h 239"/>
                <a:gd name="T64" fmla="*/ 4 w 151"/>
                <a:gd name="T65" fmla="*/ 155 h 239"/>
                <a:gd name="T66" fmla="*/ 8 w 151"/>
                <a:gd name="T67" fmla="*/ 172 h 239"/>
                <a:gd name="T68" fmla="*/ 14 w 151"/>
                <a:gd name="T69" fmla="*/ 188 h 239"/>
                <a:gd name="T70" fmla="*/ 21 w 151"/>
                <a:gd name="T71" fmla="*/ 203 h 239"/>
                <a:gd name="T72" fmla="*/ 31 w 151"/>
                <a:gd name="T73" fmla="*/ 215 h 239"/>
                <a:gd name="T74" fmla="*/ 40 w 151"/>
                <a:gd name="T75" fmla="*/ 224 h 239"/>
                <a:gd name="T76" fmla="*/ 50 w 151"/>
                <a:gd name="T77" fmla="*/ 232 h 239"/>
                <a:gd name="T78" fmla="*/ 62 w 151"/>
                <a:gd name="T79" fmla="*/ 236 h 239"/>
                <a:gd name="T80" fmla="*/ 75 w 151"/>
                <a:gd name="T81" fmla="*/ 238 h 239"/>
                <a:gd name="T82" fmla="*/ 75 w 151"/>
                <a:gd name="T83" fmla="*/ 238 h 239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151"/>
                <a:gd name="T127" fmla="*/ 0 h 239"/>
                <a:gd name="T128" fmla="*/ 151 w 151"/>
                <a:gd name="T129" fmla="*/ 239 h 239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151" h="239">
                  <a:moveTo>
                    <a:pt x="73" y="236"/>
                  </a:moveTo>
                  <a:lnTo>
                    <a:pt x="86" y="236"/>
                  </a:lnTo>
                  <a:lnTo>
                    <a:pt x="98" y="232"/>
                  </a:lnTo>
                  <a:lnTo>
                    <a:pt x="109" y="224"/>
                  </a:lnTo>
                  <a:lnTo>
                    <a:pt x="119" y="215"/>
                  </a:lnTo>
                  <a:lnTo>
                    <a:pt x="129" y="203"/>
                  </a:lnTo>
                  <a:lnTo>
                    <a:pt x="134" y="188"/>
                  </a:lnTo>
                  <a:lnTo>
                    <a:pt x="142" y="172"/>
                  </a:lnTo>
                  <a:lnTo>
                    <a:pt x="146" y="155"/>
                  </a:lnTo>
                  <a:lnTo>
                    <a:pt x="150" y="138"/>
                  </a:lnTo>
                  <a:lnTo>
                    <a:pt x="150" y="119"/>
                  </a:lnTo>
                  <a:lnTo>
                    <a:pt x="150" y="100"/>
                  </a:lnTo>
                  <a:lnTo>
                    <a:pt x="146" y="80"/>
                  </a:lnTo>
                  <a:lnTo>
                    <a:pt x="142" y="63"/>
                  </a:lnTo>
                  <a:lnTo>
                    <a:pt x="134" y="48"/>
                  </a:lnTo>
                  <a:lnTo>
                    <a:pt x="129" y="34"/>
                  </a:lnTo>
                  <a:lnTo>
                    <a:pt x="119" y="23"/>
                  </a:lnTo>
                  <a:lnTo>
                    <a:pt x="109" y="13"/>
                  </a:lnTo>
                  <a:lnTo>
                    <a:pt x="98" y="6"/>
                  </a:lnTo>
                  <a:lnTo>
                    <a:pt x="86" y="0"/>
                  </a:lnTo>
                  <a:lnTo>
                    <a:pt x="75" y="0"/>
                  </a:lnTo>
                  <a:lnTo>
                    <a:pt x="62" y="0"/>
                  </a:lnTo>
                  <a:lnTo>
                    <a:pt x="50" y="6"/>
                  </a:lnTo>
                  <a:lnTo>
                    <a:pt x="40" y="13"/>
                  </a:lnTo>
                  <a:lnTo>
                    <a:pt x="31" y="23"/>
                  </a:lnTo>
                  <a:lnTo>
                    <a:pt x="21" y="34"/>
                  </a:lnTo>
                  <a:lnTo>
                    <a:pt x="14" y="48"/>
                  </a:lnTo>
                  <a:lnTo>
                    <a:pt x="8" y="63"/>
                  </a:lnTo>
                  <a:lnTo>
                    <a:pt x="4" y="80"/>
                  </a:lnTo>
                  <a:lnTo>
                    <a:pt x="0" y="100"/>
                  </a:lnTo>
                  <a:lnTo>
                    <a:pt x="0" y="119"/>
                  </a:lnTo>
                  <a:lnTo>
                    <a:pt x="0" y="138"/>
                  </a:lnTo>
                  <a:lnTo>
                    <a:pt x="4" y="155"/>
                  </a:lnTo>
                  <a:lnTo>
                    <a:pt x="8" y="172"/>
                  </a:lnTo>
                  <a:lnTo>
                    <a:pt x="14" y="188"/>
                  </a:lnTo>
                  <a:lnTo>
                    <a:pt x="21" y="203"/>
                  </a:lnTo>
                  <a:lnTo>
                    <a:pt x="31" y="215"/>
                  </a:lnTo>
                  <a:lnTo>
                    <a:pt x="40" y="224"/>
                  </a:lnTo>
                  <a:lnTo>
                    <a:pt x="50" y="232"/>
                  </a:lnTo>
                  <a:lnTo>
                    <a:pt x="62" y="236"/>
                  </a:lnTo>
                  <a:lnTo>
                    <a:pt x="75" y="238"/>
                  </a:lnTo>
                </a:path>
              </a:pathLst>
            </a:custGeom>
            <a:solidFill>
              <a:srgbClr val="EAEAEA"/>
            </a:solidFill>
            <a:ln w="190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34" name="Rectangle 50"/>
            <p:cNvSpPr>
              <a:spLocks noChangeArrowheads="1"/>
            </p:cNvSpPr>
            <p:nvPr/>
          </p:nvSpPr>
          <p:spPr bwMode="auto">
            <a:xfrm>
              <a:off x="2991" y="2737"/>
              <a:ext cx="138" cy="1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dirty="0">
                  <a:solidFill>
                    <a:srgbClr val="000000"/>
                  </a:solidFill>
                  <a:latin typeface="+mj-lt"/>
                </a:rPr>
                <a:t>ALU</a:t>
              </a:r>
            </a:p>
          </p:txBody>
        </p:sp>
        <p:sp>
          <p:nvSpPr>
            <p:cNvPr id="54335" name="Rectangle 51"/>
            <p:cNvSpPr>
              <a:spLocks noChangeArrowheads="1"/>
            </p:cNvSpPr>
            <p:nvPr/>
          </p:nvSpPr>
          <p:spPr bwMode="auto">
            <a:xfrm>
              <a:off x="3183" y="2697"/>
              <a:ext cx="132" cy="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 dirty="0">
                  <a:solidFill>
                    <a:srgbClr val="000000"/>
                  </a:solidFill>
                  <a:latin typeface="+mj-lt"/>
                </a:rPr>
                <a:t>result</a:t>
              </a:r>
            </a:p>
          </p:txBody>
        </p:sp>
        <p:sp>
          <p:nvSpPr>
            <p:cNvPr id="54336" name="Rectangle 52"/>
            <p:cNvSpPr>
              <a:spLocks noChangeArrowheads="1"/>
            </p:cNvSpPr>
            <p:nvPr/>
          </p:nvSpPr>
          <p:spPr bwMode="auto">
            <a:xfrm>
              <a:off x="3208" y="2604"/>
              <a:ext cx="127" cy="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 dirty="0">
                  <a:solidFill>
                    <a:srgbClr val="000000"/>
                  </a:solidFill>
                  <a:latin typeface="+mj-lt"/>
                </a:rPr>
                <a:t>z</a:t>
              </a:r>
              <a:r>
                <a:rPr lang="en-US" sz="800" dirty="0" smtClean="0">
                  <a:solidFill>
                    <a:srgbClr val="000000"/>
                  </a:solidFill>
                  <a:latin typeface="+mj-lt"/>
                </a:rPr>
                <a:t>ero?</a:t>
              </a:r>
              <a:endParaRPr lang="en-US" sz="500" dirty="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337" name="Rectangle 53"/>
            <p:cNvSpPr>
              <a:spLocks noChangeArrowheads="1"/>
            </p:cNvSpPr>
            <p:nvPr/>
          </p:nvSpPr>
          <p:spPr bwMode="auto">
            <a:xfrm>
              <a:off x="3105" y="2123"/>
              <a:ext cx="132" cy="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 dirty="0" smtClean="0">
                  <a:solidFill>
                    <a:srgbClr val="000000"/>
                  </a:solidFill>
                  <a:latin typeface="+mj-lt"/>
                </a:rPr>
                <a:t>result</a:t>
              </a:r>
              <a:endParaRPr lang="en-US" sz="500" dirty="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338" name="Rectangle 54"/>
            <p:cNvSpPr>
              <a:spLocks noChangeArrowheads="1"/>
            </p:cNvSpPr>
            <p:nvPr/>
          </p:nvSpPr>
          <p:spPr bwMode="auto">
            <a:xfrm>
              <a:off x="2928" y="2191"/>
              <a:ext cx="138" cy="1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dirty="0">
                  <a:solidFill>
                    <a:srgbClr val="000000"/>
                  </a:solidFill>
                  <a:latin typeface="+mj-lt"/>
                </a:rPr>
                <a:t>Add</a:t>
              </a:r>
            </a:p>
          </p:txBody>
        </p:sp>
        <p:sp>
          <p:nvSpPr>
            <p:cNvPr id="54339" name="Rectangle 55"/>
            <p:cNvSpPr>
              <a:spLocks noChangeArrowheads="1"/>
            </p:cNvSpPr>
            <p:nvPr/>
          </p:nvSpPr>
          <p:spPr bwMode="auto">
            <a:xfrm>
              <a:off x="2694" y="2232"/>
              <a:ext cx="90" cy="1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600" dirty="0">
                  <a:solidFill>
                    <a:srgbClr val="000000"/>
                  </a:solidFill>
                  <a:latin typeface="+mj-lt"/>
                </a:rPr>
                <a:t>Shift </a:t>
              </a:r>
            </a:p>
            <a:p>
              <a:r>
                <a:rPr lang="en-US" sz="600" dirty="0">
                  <a:solidFill>
                    <a:srgbClr val="000000"/>
                  </a:solidFill>
                  <a:latin typeface="+mj-lt"/>
                </a:rPr>
                <a:t>left 2</a:t>
              </a:r>
              <a:endParaRPr lang="en-US" sz="500" dirty="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340" name="Line 56"/>
            <p:cNvSpPr>
              <a:spLocks noChangeShapeType="1"/>
            </p:cNvSpPr>
            <p:nvPr/>
          </p:nvSpPr>
          <p:spPr bwMode="auto">
            <a:xfrm flipH="1" flipV="1">
              <a:off x="2907" y="2820"/>
              <a:ext cx="65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41" name="Line 57"/>
            <p:cNvSpPr>
              <a:spLocks noChangeShapeType="1"/>
            </p:cNvSpPr>
            <p:nvPr/>
          </p:nvSpPr>
          <p:spPr bwMode="auto">
            <a:xfrm flipH="1" flipV="1">
              <a:off x="2526" y="2721"/>
              <a:ext cx="290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42" name="Line 58"/>
            <p:cNvSpPr>
              <a:spLocks noChangeShapeType="1"/>
            </p:cNvSpPr>
            <p:nvPr/>
          </p:nvSpPr>
          <p:spPr bwMode="auto">
            <a:xfrm flipH="1" flipV="1">
              <a:off x="2746" y="2925"/>
              <a:ext cx="71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43" name="Line 59"/>
            <p:cNvSpPr>
              <a:spLocks noChangeShapeType="1"/>
            </p:cNvSpPr>
            <p:nvPr/>
          </p:nvSpPr>
          <p:spPr bwMode="auto">
            <a:xfrm flipH="1">
              <a:off x="3268" y="2163"/>
              <a:ext cx="308" cy="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44" name="Line 60"/>
            <p:cNvSpPr>
              <a:spLocks noChangeShapeType="1"/>
            </p:cNvSpPr>
            <p:nvPr/>
          </p:nvSpPr>
          <p:spPr bwMode="auto">
            <a:xfrm flipH="1" flipV="1">
              <a:off x="3355" y="2748"/>
              <a:ext cx="227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45" name="Line 61"/>
            <p:cNvSpPr>
              <a:spLocks noChangeShapeType="1"/>
            </p:cNvSpPr>
            <p:nvPr/>
          </p:nvSpPr>
          <p:spPr bwMode="auto">
            <a:xfrm flipH="1">
              <a:off x="2523" y="3451"/>
              <a:ext cx="254" cy="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46" name="Line 62"/>
            <p:cNvSpPr>
              <a:spLocks noChangeShapeType="1"/>
            </p:cNvSpPr>
            <p:nvPr/>
          </p:nvSpPr>
          <p:spPr bwMode="auto">
            <a:xfrm flipH="1" flipV="1">
              <a:off x="2526" y="3647"/>
              <a:ext cx="254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47" name="Rectangle 63"/>
            <p:cNvSpPr>
              <a:spLocks noChangeArrowheads="1"/>
            </p:cNvSpPr>
            <p:nvPr/>
          </p:nvSpPr>
          <p:spPr bwMode="auto">
            <a:xfrm>
              <a:off x="2914" y="3127"/>
              <a:ext cx="172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n-US" sz="800">
                  <a:solidFill>
                    <a:srgbClr val="EB7500"/>
                  </a:solidFill>
                  <a:latin typeface="+mj-lt"/>
                </a:rPr>
                <a:t>ALU</a:t>
              </a:r>
            </a:p>
            <a:p>
              <a:pPr algn="ctr"/>
              <a:r>
                <a:rPr lang="en-US" sz="800">
                  <a:solidFill>
                    <a:srgbClr val="EB7500"/>
                  </a:solidFill>
                  <a:latin typeface="+mj-lt"/>
                </a:rPr>
                <a:t>Control</a:t>
              </a:r>
              <a:endParaRPr lang="en-US" sz="500">
                <a:solidFill>
                  <a:srgbClr val="EB7500"/>
                </a:solidFill>
                <a:latin typeface="+mj-lt"/>
              </a:endParaRPr>
            </a:p>
          </p:txBody>
        </p:sp>
        <p:sp>
          <p:nvSpPr>
            <p:cNvPr id="54350" name="Line 66"/>
            <p:cNvSpPr>
              <a:spLocks noChangeShapeType="1"/>
            </p:cNvSpPr>
            <p:nvPr/>
          </p:nvSpPr>
          <p:spPr bwMode="auto">
            <a:xfrm flipH="1">
              <a:off x="2875" y="3555"/>
              <a:ext cx="702" cy="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51" name="Line 67"/>
            <p:cNvSpPr>
              <a:spLocks noChangeShapeType="1"/>
            </p:cNvSpPr>
            <p:nvPr/>
          </p:nvSpPr>
          <p:spPr bwMode="auto">
            <a:xfrm flipH="1" flipV="1">
              <a:off x="2826" y="2286"/>
              <a:ext cx="71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53" name="Rectangle 69"/>
            <p:cNvSpPr>
              <a:spLocks noChangeArrowheads="1"/>
            </p:cNvSpPr>
            <p:nvPr/>
          </p:nvSpPr>
          <p:spPr bwMode="auto">
            <a:xfrm>
              <a:off x="1824" y="2374"/>
              <a:ext cx="117" cy="1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800" dirty="0">
                  <a:solidFill>
                    <a:srgbClr val="000000"/>
                  </a:solidFill>
                  <a:latin typeface="+mj-lt"/>
                </a:rPr>
                <a:t>Read</a:t>
              </a:r>
            </a:p>
            <a:p>
              <a:pPr>
                <a:lnSpc>
                  <a:spcPct val="90000"/>
                </a:lnSpc>
              </a:pPr>
              <a:r>
                <a:rPr lang="en-US" sz="800" dirty="0" err="1">
                  <a:solidFill>
                    <a:srgbClr val="000000"/>
                  </a:solidFill>
                  <a:latin typeface="+mj-lt"/>
                </a:rPr>
                <a:t>reg</a:t>
              </a:r>
              <a:r>
                <a:rPr lang="en-US" sz="800" dirty="0">
                  <a:solidFill>
                    <a:srgbClr val="000000"/>
                  </a:solidFill>
                  <a:latin typeface="+mj-lt"/>
                </a:rPr>
                <a:t> 1</a:t>
              </a:r>
              <a:endParaRPr lang="en-US" sz="600" dirty="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354" name="Rectangle 70"/>
            <p:cNvSpPr>
              <a:spLocks noChangeArrowheads="1"/>
            </p:cNvSpPr>
            <p:nvPr/>
          </p:nvSpPr>
          <p:spPr bwMode="auto">
            <a:xfrm>
              <a:off x="1823" y="2524"/>
              <a:ext cx="117" cy="1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800" dirty="0">
                  <a:solidFill>
                    <a:srgbClr val="000000"/>
                  </a:solidFill>
                  <a:latin typeface="+mj-lt"/>
                </a:rPr>
                <a:t>Read</a:t>
              </a:r>
            </a:p>
            <a:p>
              <a:pPr>
                <a:lnSpc>
                  <a:spcPct val="90000"/>
                </a:lnSpc>
              </a:pPr>
              <a:r>
                <a:rPr lang="en-US" sz="800" dirty="0" err="1">
                  <a:solidFill>
                    <a:srgbClr val="000000"/>
                  </a:solidFill>
                  <a:latin typeface="+mj-lt"/>
                </a:rPr>
                <a:t>reg</a:t>
              </a:r>
              <a:r>
                <a:rPr lang="en-US" sz="800" dirty="0">
                  <a:solidFill>
                    <a:srgbClr val="000000"/>
                  </a:solidFill>
                  <a:latin typeface="+mj-lt"/>
                </a:rPr>
                <a:t> 2</a:t>
              </a:r>
              <a:endParaRPr lang="en-US" sz="600" dirty="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355" name="Rectangle 71"/>
            <p:cNvSpPr>
              <a:spLocks noChangeArrowheads="1"/>
            </p:cNvSpPr>
            <p:nvPr/>
          </p:nvSpPr>
          <p:spPr bwMode="auto">
            <a:xfrm>
              <a:off x="1830" y="2683"/>
              <a:ext cx="130" cy="1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800" dirty="0">
                  <a:solidFill>
                    <a:srgbClr val="000000"/>
                  </a:solidFill>
                  <a:latin typeface="+mj-lt"/>
                </a:rPr>
                <a:t>Write</a:t>
              </a:r>
            </a:p>
            <a:p>
              <a:pPr>
                <a:lnSpc>
                  <a:spcPct val="90000"/>
                </a:lnSpc>
              </a:pPr>
              <a:r>
                <a:rPr lang="en-US" sz="800" dirty="0" err="1">
                  <a:solidFill>
                    <a:srgbClr val="000000"/>
                  </a:solidFill>
                  <a:latin typeface="+mj-lt"/>
                </a:rPr>
                <a:t>reg</a:t>
              </a:r>
              <a:endParaRPr lang="en-US" sz="700" dirty="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356" name="Rectangle 72"/>
            <p:cNvSpPr>
              <a:spLocks noChangeArrowheads="1"/>
            </p:cNvSpPr>
            <p:nvPr/>
          </p:nvSpPr>
          <p:spPr bwMode="auto">
            <a:xfrm>
              <a:off x="1833" y="2836"/>
              <a:ext cx="130" cy="1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800" dirty="0">
                  <a:solidFill>
                    <a:srgbClr val="000000"/>
                  </a:solidFill>
                  <a:latin typeface="+mj-lt"/>
                </a:rPr>
                <a:t>Write</a:t>
              </a:r>
            </a:p>
            <a:p>
              <a:pPr>
                <a:lnSpc>
                  <a:spcPct val="90000"/>
                </a:lnSpc>
              </a:pPr>
              <a:r>
                <a:rPr lang="en-US" sz="800" dirty="0">
                  <a:solidFill>
                    <a:srgbClr val="000000"/>
                  </a:solidFill>
                  <a:latin typeface="+mj-lt"/>
                </a:rPr>
                <a:t>data</a:t>
              </a:r>
            </a:p>
          </p:txBody>
        </p:sp>
        <p:sp>
          <p:nvSpPr>
            <p:cNvPr id="54357" name="Rectangle 73"/>
            <p:cNvSpPr>
              <a:spLocks noChangeArrowheads="1"/>
            </p:cNvSpPr>
            <p:nvPr/>
          </p:nvSpPr>
          <p:spPr bwMode="auto">
            <a:xfrm>
              <a:off x="2139" y="2470"/>
              <a:ext cx="145" cy="1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800" dirty="0">
                  <a:solidFill>
                    <a:srgbClr val="000000"/>
                  </a:solidFill>
                  <a:latin typeface="+mj-lt"/>
                </a:rPr>
                <a:t>Read</a:t>
              </a:r>
            </a:p>
            <a:p>
              <a:pPr>
                <a:lnSpc>
                  <a:spcPct val="90000"/>
                </a:lnSpc>
              </a:pPr>
              <a:r>
                <a:rPr lang="en-US" sz="800" dirty="0">
                  <a:solidFill>
                    <a:srgbClr val="000000"/>
                  </a:solidFill>
                  <a:latin typeface="+mj-lt"/>
                </a:rPr>
                <a:t>data 1</a:t>
              </a:r>
              <a:endParaRPr lang="en-US" sz="500" dirty="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358" name="Rectangle 74"/>
            <p:cNvSpPr>
              <a:spLocks noChangeArrowheads="1"/>
            </p:cNvSpPr>
            <p:nvPr/>
          </p:nvSpPr>
          <p:spPr bwMode="auto">
            <a:xfrm>
              <a:off x="2145" y="2657"/>
              <a:ext cx="145" cy="1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800" dirty="0">
                  <a:solidFill>
                    <a:srgbClr val="000000"/>
                  </a:solidFill>
                  <a:latin typeface="+mj-lt"/>
                </a:rPr>
                <a:t>Read</a:t>
              </a:r>
            </a:p>
            <a:p>
              <a:pPr>
                <a:lnSpc>
                  <a:spcPct val="90000"/>
                </a:lnSpc>
              </a:pPr>
              <a:r>
                <a:rPr lang="en-US" sz="800" dirty="0">
                  <a:solidFill>
                    <a:srgbClr val="000000"/>
                  </a:solidFill>
                  <a:latin typeface="+mj-lt"/>
                </a:rPr>
                <a:t>data 2</a:t>
              </a:r>
              <a:endParaRPr lang="en-US" sz="600" dirty="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359" name="Rectangle 75"/>
            <p:cNvSpPr>
              <a:spLocks noChangeArrowheads="1"/>
            </p:cNvSpPr>
            <p:nvPr/>
          </p:nvSpPr>
          <p:spPr bwMode="auto">
            <a:xfrm rot="16200000">
              <a:off x="1828" y="2603"/>
              <a:ext cx="442" cy="1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>
                  <a:solidFill>
                    <a:srgbClr val="000000"/>
                  </a:solidFill>
                  <a:latin typeface="+mj-lt"/>
                </a:rPr>
                <a:t>Register File</a:t>
              </a:r>
            </a:p>
          </p:txBody>
        </p:sp>
        <p:sp>
          <p:nvSpPr>
            <p:cNvPr id="54360" name="Rectangle 76"/>
            <p:cNvSpPr>
              <a:spLocks noChangeArrowheads="1"/>
            </p:cNvSpPr>
            <p:nvPr/>
          </p:nvSpPr>
          <p:spPr bwMode="auto">
            <a:xfrm>
              <a:off x="1743" y="3137"/>
              <a:ext cx="154" cy="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900">
                  <a:solidFill>
                    <a:srgbClr val="000000"/>
                  </a:solidFill>
                  <a:latin typeface="+mj-lt"/>
                </a:rPr>
                <a:t>[15-0]</a:t>
              </a:r>
              <a:endParaRPr lang="en-US" sz="5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361" name="Rectangle 77"/>
            <p:cNvSpPr>
              <a:spLocks noChangeArrowheads="1"/>
            </p:cNvSpPr>
            <p:nvPr/>
          </p:nvSpPr>
          <p:spPr bwMode="auto">
            <a:xfrm>
              <a:off x="1740" y="3358"/>
              <a:ext cx="186" cy="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900">
                  <a:solidFill>
                    <a:srgbClr val="000000"/>
                  </a:solidFill>
                  <a:latin typeface="+mj-lt"/>
                </a:rPr>
                <a:t>[20-16]</a:t>
              </a:r>
            </a:p>
          </p:txBody>
        </p:sp>
        <p:sp>
          <p:nvSpPr>
            <p:cNvPr id="54362" name="Rectangle 78"/>
            <p:cNvSpPr>
              <a:spLocks noChangeArrowheads="1"/>
            </p:cNvSpPr>
            <p:nvPr/>
          </p:nvSpPr>
          <p:spPr bwMode="auto">
            <a:xfrm>
              <a:off x="1743" y="3550"/>
              <a:ext cx="186" cy="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900">
                  <a:solidFill>
                    <a:srgbClr val="000000"/>
                  </a:solidFill>
                  <a:latin typeface="+mj-lt"/>
                </a:rPr>
                <a:t>[15-11]</a:t>
              </a:r>
            </a:p>
          </p:txBody>
        </p:sp>
        <p:sp>
          <p:nvSpPr>
            <p:cNvPr id="54363" name="Freeform 79"/>
            <p:cNvSpPr>
              <a:spLocks/>
            </p:cNvSpPr>
            <p:nvPr/>
          </p:nvSpPr>
          <p:spPr bwMode="auto">
            <a:xfrm>
              <a:off x="1629" y="3213"/>
              <a:ext cx="24" cy="24"/>
            </a:xfrm>
            <a:custGeom>
              <a:avLst/>
              <a:gdLst>
                <a:gd name="T0" fmla="*/ 10 w 24"/>
                <a:gd name="T1" fmla="*/ 23 h 24"/>
                <a:gd name="T2" fmla="*/ 14 w 24"/>
                <a:gd name="T3" fmla="*/ 23 h 24"/>
                <a:gd name="T4" fmla="*/ 16 w 24"/>
                <a:gd name="T5" fmla="*/ 23 h 24"/>
                <a:gd name="T6" fmla="*/ 16 w 24"/>
                <a:gd name="T7" fmla="*/ 21 h 24"/>
                <a:gd name="T8" fmla="*/ 18 w 24"/>
                <a:gd name="T9" fmla="*/ 21 h 24"/>
                <a:gd name="T10" fmla="*/ 20 w 24"/>
                <a:gd name="T11" fmla="*/ 19 h 24"/>
                <a:gd name="T12" fmla="*/ 22 w 24"/>
                <a:gd name="T13" fmla="*/ 18 h 24"/>
                <a:gd name="T14" fmla="*/ 22 w 24"/>
                <a:gd name="T15" fmla="*/ 18 h 24"/>
                <a:gd name="T16" fmla="*/ 22 w 24"/>
                <a:gd name="T17" fmla="*/ 16 h 24"/>
                <a:gd name="T18" fmla="*/ 23 w 24"/>
                <a:gd name="T19" fmla="*/ 14 h 24"/>
                <a:gd name="T20" fmla="*/ 23 w 24"/>
                <a:gd name="T21" fmla="*/ 12 h 24"/>
                <a:gd name="T22" fmla="*/ 23 w 24"/>
                <a:gd name="T23" fmla="*/ 10 h 24"/>
                <a:gd name="T24" fmla="*/ 22 w 24"/>
                <a:gd name="T25" fmla="*/ 8 h 24"/>
                <a:gd name="T26" fmla="*/ 22 w 24"/>
                <a:gd name="T27" fmla="*/ 6 h 24"/>
                <a:gd name="T28" fmla="*/ 22 w 24"/>
                <a:gd name="T29" fmla="*/ 4 h 24"/>
                <a:gd name="T30" fmla="*/ 20 w 24"/>
                <a:gd name="T31" fmla="*/ 4 h 24"/>
                <a:gd name="T32" fmla="*/ 18 w 24"/>
                <a:gd name="T33" fmla="*/ 2 h 24"/>
                <a:gd name="T34" fmla="*/ 16 w 24"/>
                <a:gd name="T35" fmla="*/ 2 h 24"/>
                <a:gd name="T36" fmla="*/ 16 w 24"/>
                <a:gd name="T37" fmla="*/ 0 h 24"/>
                <a:gd name="T38" fmla="*/ 14 w 24"/>
                <a:gd name="T39" fmla="*/ 0 h 24"/>
                <a:gd name="T40" fmla="*/ 12 w 24"/>
                <a:gd name="T41" fmla="*/ 0 h 24"/>
                <a:gd name="T42" fmla="*/ 10 w 24"/>
                <a:gd name="T43" fmla="*/ 0 h 24"/>
                <a:gd name="T44" fmla="*/ 8 w 24"/>
                <a:gd name="T45" fmla="*/ 0 h 24"/>
                <a:gd name="T46" fmla="*/ 6 w 24"/>
                <a:gd name="T47" fmla="*/ 2 h 24"/>
                <a:gd name="T48" fmla="*/ 4 w 24"/>
                <a:gd name="T49" fmla="*/ 2 h 24"/>
                <a:gd name="T50" fmla="*/ 2 w 24"/>
                <a:gd name="T51" fmla="*/ 4 h 24"/>
                <a:gd name="T52" fmla="*/ 2 w 24"/>
                <a:gd name="T53" fmla="*/ 4 h 24"/>
                <a:gd name="T54" fmla="*/ 0 w 24"/>
                <a:gd name="T55" fmla="*/ 6 h 24"/>
                <a:gd name="T56" fmla="*/ 0 w 24"/>
                <a:gd name="T57" fmla="*/ 8 h 24"/>
                <a:gd name="T58" fmla="*/ 0 w 24"/>
                <a:gd name="T59" fmla="*/ 10 h 24"/>
                <a:gd name="T60" fmla="*/ 0 w 24"/>
                <a:gd name="T61" fmla="*/ 12 h 24"/>
                <a:gd name="T62" fmla="*/ 0 w 24"/>
                <a:gd name="T63" fmla="*/ 14 h 24"/>
                <a:gd name="T64" fmla="*/ 0 w 24"/>
                <a:gd name="T65" fmla="*/ 16 h 24"/>
                <a:gd name="T66" fmla="*/ 0 w 24"/>
                <a:gd name="T67" fmla="*/ 18 h 24"/>
                <a:gd name="T68" fmla="*/ 2 w 24"/>
                <a:gd name="T69" fmla="*/ 18 h 24"/>
                <a:gd name="T70" fmla="*/ 2 w 24"/>
                <a:gd name="T71" fmla="*/ 19 h 24"/>
                <a:gd name="T72" fmla="*/ 4 w 24"/>
                <a:gd name="T73" fmla="*/ 21 h 24"/>
                <a:gd name="T74" fmla="*/ 6 w 24"/>
                <a:gd name="T75" fmla="*/ 21 h 24"/>
                <a:gd name="T76" fmla="*/ 8 w 24"/>
                <a:gd name="T77" fmla="*/ 23 h 24"/>
                <a:gd name="T78" fmla="*/ 10 w 24"/>
                <a:gd name="T79" fmla="*/ 23 h 24"/>
                <a:gd name="T80" fmla="*/ 12 w 24"/>
                <a:gd name="T81" fmla="*/ 23 h 24"/>
                <a:gd name="T82" fmla="*/ 12 w 24"/>
                <a:gd name="T83" fmla="*/ 23 h 24"/>
                <a:gd name="T84" fmla="*/ 10 w 24"/>
                <a:gd name="T85" fmla="*/ 23 h 2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4"/>
                <a:gd name="T130" fmla="*/ 0 h 24"/>
                <a:gd name="T131" fmla="*/ 24 w 24"/>
                <a:gd name="T132" fmla="*/ 24 h 24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4" h="24">
                  <a:moveTo>
                    <a:pt x="10" y="23"/>
                  </a:moveTo>
                  <a:lnTo>
                    <a:pt x="14" y="23"/>
                  </a:lnTo>
                  <a:lnTo>
                    <a:pt x="16" y="23"/>
                  </a:lnTo>
                  <a:lnTo>
                    <a:pt x="16" y="21"/>
                  </a:lnTo>
                  <a:lnTo>
                    <a:pt x="18" y="21"/>
                  </a:lnTo>
                  <a:lnTo>
                    <a:pt x="20" y="19"/>
                  </a:lnTo>
                  <a:lnTo>
                    <a:pt x="22" y="18"/>
                  </a:lnTo>
                  <a:lnTo>
                    <a:pt x="22" y="16"/>
                  </a:lnTo>
                  <a:lnTo>
                    <a:pt x="23" y="14"/>
                  </a:lnTo>
                  <a:lnTo>
                    <a:pt x="23" y="12"/>
                  </a:lnTo>
                  <a:lnTo>
                    <a:pt x="23" y="10"/>
                  </a:lnTo>
                  <a:lnTo>
                    <a:pt x="22" y="8"/>
                  </a:lnTo>
                  <a:lnTo>
                    <a:pt x="22" y="6"/>
                  </a:lnTo>
                  <a:lnTo>
                    <a:pt x="22" y="4"/>
                  </a:lnTo>
                  <a:lnTo>
                    <a:pt x="20" y="4"/>
                  </a:lnTo>
                  <a:lnTo>
                    <a:pt x="18" y="2"/>
                  </a:lnTo>
                  <a:lnTo>
                    <a:pt x="16" y="2"/>
                  </a:lnTo>
                  <a:lnTo>
                    <a:pt x="16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8" y="0"/>
                  </a:lnTo>
                  <a:lnTo>
                    <a:pt x="6" y="2"/>
                  </a:lnTo>
                  <a:lnTo>
                    <a:pt x="4" y="2"/>
                  </a:lnTo>
                  <a:lnTo>
                    <a:pt x="2" y="4"/>
                  </a:lnTo>
                  <a:lnTo>
                    <a:pt x="0" y="6"/>
                  </a:lnTo>
                  <a:lnTo>
                    <a:pt x="0" y="8"/>
                  </a:lnTo>
                  <a:lnTo>
                    <a:pt x="0" y="10"/>
                  </a:lnTo>
                  <a:lnTo>
                    <a:pt x="0" y="12"/>
                  </a:lnTo>
                  <a:lnTo>
                    <a:pt x="0" y="14"/>
                  </a:lnTo>
                  <a:lnTo>
                    <a:pt x="0" y="16"/>
                  </a:lnTo>
                  <a:lnTo>
                    <a:pt x="0" y="18"/>
                  </a:lnTo>
                  <a:lnTo>
                    <a:pt x="2" y="18"/>
                  </a:lnTo>
                  <a:lnTo>
                    <a:pt x="2" y="19"/>
                  </a:lnTo>
                  <a:lnTo>
                    <a:pt x="4" y="21"/>
                  </a:lnTo>
                  <a:lnTo>
                    <a:pt x="6" y="21"/>
                  </a:lnTo>
                  <a:lnTo>
                    <a:pt x="8" y="23"/>
                  </a:lnTo>
                  <a:lnTo>
                    <a:pt x="10" y="23"/>
                  </a:lnTo>
                  <a:lnTo>
                    <a:pt x="12" y="23"/>
                  </a:lnTo>
                  <a:lnTo>
                    <a:pt x="10" y="23"/>
                  </a:lnTo>
                </a:path>
              </a:pathLst>
            </a:custGeom>
            <a:solidFill>
              <a:srgbClr val="000000"/>
            </a:solidFill>
            <a:ln w="9525" cap="rnd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64" name="Freeform 80"/>
            <p:cNvSpPr>
              <a:spLocks/>
            </p:cNvSpPr>
            <p:nvPr/>
          </p:nvSpPr>
          <p:spPr bwMode="auto">
            <a:xfrm>
              <a:off x="2091" y="3039"/>
              <a:ext cx="215" cy="367"/>
            </a:xfrm>
            <a:custGeom>
              <a:avLst/>
              <a:gdLst>
                <a:gd name="T0" fmla="*/ 107 w 173"/>
                <a:gd name="T1" fmla="*/ 366 h 367"/>
                <a:gd name="T2" fmla="*/ 123 w 173"/>
                <a:gd name="T3" fmla="*/ 364 h 367"/>
                <a:gd name="T4" fmla="*/ 140 w 173"/>
                <a:gd name="T5" fmla="*/ 357 h 367"/>
                <a:gd name="T6" fmla="*/ 157 w 173"/>
                <a:gd name="T7" fmla="*/ 345 h 367"/>
                <a:gd name="T8" fmla="*/ 172 w 173"/>
                <a:gd name="T9" fmla="*/ 332 h 367"/>
                <a:gd name="T10" fmla="*/ 183 w 173"/>
                <a:gd name="T11" fmla="*/ 313 h 367"/>
                <a:gd name="T12" fmla="*/ 193 w 173"/>
                <a:gd name="T13" fmla="*/ 292 h 367"/>
                <a:gd name="T14" fmla="*/ 203 w 173"/>
                <a:gd name="T15" fmla="*/ 267 h 367"/>
                <a:gd name="T16" fmla="*/ 209 w 173"/>
                <a:gd name="T17" fmla="*/ 242 h 367"/>
                <a:gd name="T18" fmla="*/ 214 w 173"/>
                <a:gd name="T19" fmla="*/ 213 h 367"/>
                <a:gd name="T20" fmla="*/ 214 w 173"/>
                <a:gd name="T21" fmla="*/ 182 h 367"/>
                <a:gd name="T22" fmla="*/ 214 w 173"/>
                <a:gd name="T23" fmla="*/ 154 h 367"/>
                <a:gd name="T24" fmla="*/ 209 w 173"/>
                <a:gd name="T25" fmla="*/ 125 h 367"/>
                <a:gd name="T26" fmla="*/ 203 w 173"/>
                <a:gd name="T27" fmla="*/ 98 h 367"/>
                <a:gd name="T28" fmla="*/ 193 w 173"/>
                <a:gd name="T29" fmla="*/ 75 h 367"/>
                <a:gd name="T30" fmla="*/ 183 w 173"/>
                <a:gd name="T31" fmla="*/ 54 h 367"/>
                <a:gd name="T32" fmla="*/ 172 w 173"/>
                <a:gd name="T33" fmla="*/ 35 h 367"/>
                <a:gd name="T34" fmla="*/ 157 w 173"/>
                <a:gd name="T35" fmla="*/ 20 h 367"/>
                <a:gd name="T36" fmla="*/ 140 w 173"/>
                <a:gd name="T37" fmla="*/ 8 h 367"/>
                <a:gd name="T38" fmla="*/ 123 w 173"/>
                <a:gd name="T39" fmla="*/ 2 h 367"/>
                <a:gd name="T40" fmla="*/ 107 w 173"/>
                <a:gd name="T41" fmla="*/ 0 h 367"/>
                <a:gd name="T42" fmla="*/ 91 w 173"/>
                <a:gd name="T43" fmla="*/ 2 h 367"/>
                <a:gd name="T44" fmla="*/ 73 w 173"/>
                <a:gd name="T45" fmla="*/ 8 h 367"/>
                <a:gd name="T46" fmla="*/ 57 w 173"/>
                <a:gd name="T47" fmla="*/ 20 h 367"/>
                <a:gd name="T48" fmla="*/ 45 w 173"/>
                <a:gd name="T49" fmla="*/ 35 h 367"/>
                <a:gd name="T50" fmla="*/ 31 w 173"/>
                <a:gd name="T51" fmla="*/ 54 h 367"/>
                <a:gd name="T52" fmla="*/ 21 w 173"/>
                <a:gd name="T53" fmla="*/ 75 h 367"/>
                <a:gd name="T54" fmla="*/ 11 w 173"/>
                <a:gd name="T55" fmla="*/ 98 h 367"/>
                <a:gd name="T56" fmla="*/ 5 w 173"/>
                <a:gd name="T57" fmla="*/ 125 h 367"/>
                <a:gd name="T58" fmla="*/ 2 w 173"/>
                <a:gd name="T59" fmla="*/ 154 h 367"/>
                <a:gd name="T60" fmla="*/ 0 w 173"/>
                <a:gd name="T61" fmla="*/ 182 h 367"/>
                <a:gd name="T62" fmla="*/ 2 w 173"/>
                <a:gd name="T63" fmla="*/ 213 h 367"/>
                <a:gd name="T64" fmla="*/ 5 w 173"/>
                <a:gd name="T65" fmla="*/ 242 h 367"/>
                <a:gd name="T66" fmla="*/ 11 w 173"/>
                <a:gd name="T67" fmla="*/ 267 h 367"/>
                <a:gd name="T68" fmla="*/ 21 w 173"/>
                <a:gd name="T69" fmla="*/ 292 h 367"/>
                <a:gd name="T70" fmla="*/ 31 w 173"/>
                <a:gd name="T71" fmla="*/ 313 h 367"/>
                <a:gd name="T72" fmla="*/ 45 w 173"/>
                <a:gd name="T73" fmla="*/ 332 h 367"/>
                <a:gd name="T74" fmla="*/ 57 w 173"/>
                <a:gd name="T75" fmla="*/ 345 h 367"/>
                <a:gd name="T76" fmla="*/ 73 w 173"/>
                <a:gd name="T77" fmla="*/ 357 h 367"/>
                <a:gd name="T78" fmla="*/ 91 w 173"/>
                <a:gd name="T79" fmla="*/ 364 h 367"/>
                <a:gd name="T80" fmla="*/ 107 w 173"/>
                <a:gd name="T81" fmla="*/ 366 h 367"/>
                <a:gd name="T82" fmla="*/ 107 w 173"/>
                <a:gd name="T83" fmla="*/ 366 h 367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173"/>
                <a:gd name="T127" fmla="*/ 0 h 367"/>
                <a:gd name="T128" fmla="*/ 173 w 173"/>
                <a:gd name="T129" fmla="*/ 367 h 367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173" h="367">
                  <a:moveTo>
                    <a:pt x="86" y="366"/>
                  </a:moveTo>
                  <a:lnTo>
                    <a:pt x="99" y="364"/>
                  </a:lnTo>
                  <a:lnTo>
                    <a:pt x="113" y="357"/>
                  </a:lnTo>
                  <a:lnTo>
                    <a:pt x="126" y="345"/>
                  </a:lnTo>
                  <a:lnTo>
                    <a:pt x="138" y="332"/>
                  </a:lnTo>
                  <a:lnTo>
                    <a:pt x="147" y="313"/>
                  </a:lnTo>
                  <a:lnTo>
                    <a:pt x="155" y="292"/>
                  </a:lnTo>
                  <a:lnTo>
                    <a:pt x="163" y="267"/>
                  </a:lnTo>
                  <a:lnTo>
                    <a:pt x="168" y="242"/>
                  </a:lnTo>
                  <a:lnTo>
                    <a:pt x="172" y="213"/>
                  </a:lnTo>
                  <a:lnTo>
                    <a:pt x="172" y="182"/>
                  </a:lnTo>
                  <a:lnTo>
                    <a:pt x="172" y="154"/>
                  </a:lnTo>
                  <a:lnTo>
                    <a:pt x="168" y="125"/>
                  </a:lnTo>
                  <a:lnTo>
                    <a:pt x="163" y="98"/>
                  </a:lnTo>
                  <a:lnTo>
                    <a:pt x="155" y="75"/>
                  </a:lnTo>
                  <a:lnTo>
                    <a:pt x="147" y="54"/>
                  </a:lnTo>
                  <a:lnTo>
                    <a:pt x="138" y="35"/>
                  </a:lnTo>
                  <a:lnTo>
                    <a:pt x="126" y="20"/>
                  </a:lnTo>
                  <a:lnTo>
                    <a:pt x="113" y="8"/>
                  </a:lnTo>
                  <a:lnTo>
                    <a:pt x="99" y="2"/>
                  </a:lnTo>
                  <a:lnTo>
                    <a:pt x="86" y="0"/>
                  </a:lnTo>
                  <a:lnTo>
                    <a:pt x="73" y="2"/>
                  </a:lnTo>
                  <a:lnTo>
                    <a:pt x="59" y="8"/>
                  </a:lnTo>
                  <a:lnTo>
                    <a:pt x="46" y="20"/>
                  </a:lnTo>
                  <a:lnTo>
                    <a:pt x="36" y="35"/>
                  </a:lnTo>
                  <a:lnTo>
                    <a:pt x="25" y="54"/>
                  </a:lnTo>
                  <a:lnTo>
                    <a:pt x="17" y="75"/>
                  </a:lnTo>
                  <a:lnTo>
                    <a:pt x="9" y="98"/>
                  </a:lnTo>
                  <a:lnTo>
                    <a:pt x="4" y="125"/>
                  </a:lnTo>
                  <a:lnTo>
                    <a:pt x="2" y="154"/>
                  </a:lnTo>
                  <a:lnTo>
                    <a:pt x="0" y="182"/>
                  </a:lnTo>
                  <a:lnTo>
                    <a:pt x="2" y="213"/>
                  </a:lnTo>
                  <a:lnTo>
                    <a:pt x="4" y="242"/>
                  </a:lnTo>
                  <a:lnTo>
                    <a:pt x="9" y="267"/>
                  </a:lnTo>
                  <a:lnTo>
                    <a:pt x="17" y="292"/>
                  </a:lnTo>
                  <a:lnTo>
                    <a:pt x="25" y="313"/>
                  </a:lnTo>
                  <a:lnTo>
                    <a:pt x="36" y="332"/>
                  </a:lnTo>
                  <a:lnTo>
                    <a:pt x="46" y="345"/>
                  </a:lnTo>
                  <a:lnTo>
                    <a:pt x="59" y="357"/>
                  </a:lnTo>
                  <a:lnTo>
                    <a:pt x="73" y="364"/>
                  </a:lnTo>
                  <a:lnTo>
                    <a:pt x="86" y="366"/>
                  </a:lnTo>
                </a:path>
              </a:pathLst>
            </a:custGeom>
            <a:solidFill>
              <a:srgbClr val="EAEAEA"/>
            </a:solidFill>
            <a:ln w="190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65" name="Rectangle 81"/>
            <p:cNvSpPr>
              <a:spLocks noChangeArrowheads="1"/>
            </p:cNvSpPr>
            <p:nvPr/>
          </p:nvSpPr>
          <p:spPr bwMode="auto">
            <a:xfrm>
              <a:off x="2110" y="3124"/>
              <a:ext cx="180" cy="1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900" dirty="0">
                  <a:solidFill>
                    <a:srgbClr val="000000"/>
                  </a:solidFill>
                  <a:latin typeface="+mj-lt"/>
                </a:rPr>
                <a:t>Sign</a:t>
              </a:r>
            </a:p>
            <a:p>
              <a:pPr algn="ctr">
                <a:lnSpc>
                  <a:spcPct val="90000"/>
                </a:lnSpc>
              </a:pPr>
              <a:r>
                <a:rPr lang="en-US" sz="900" dirty="0">
                  <a:solidFill>
                    <a:srgbClr val="000000"/>
                  </a:solidFill>
                  <a:latin typeface="+mj-lt"/>
                </a:rPr>
                <a:t>extend</a:t>
              </a:r>
              <a:endParaRPr lang="en-US" sz="600" dirty="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366" name="Rectangle 82"/>
            <p:cNvSpPr>
              <a:spLocks noChangeArrowheads="1"/>
            </p:cNvSpPr>
            <p:nvPr/>
          </p:nvSpPr>
          <p:spPr bwMode="auto">
            <a:xfrm>
              <a:off x="1968" y="3123"/>
              <a:ext cx="64" cy="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900">
                  <a:solidFill>
                    <a:srgbClr val="000000"/>
                  </a:solidFill>
                  <a:latin typeface="+mj-lt"/>
                </a:rPr>
                <a:t>16</a:t>
              </a:r>
              <a:endParaRPr lang="en-US" sz="5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367" name="Rectangle 83"/>
            <p:cNvSpPr>
              <a:spLocks noChangeArrowheads="1"/>
            </p:cNvSpPr>
            <p:nvPr/>
          </p:nvSpPr>
          <p:spPr bwMode="auto">
            <a:xfrm>
              <a:off x="2319" y="3127"/>
              <a:ext cx="64" cy="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900">
                  <a:solidFill>
                    <a:srgbClr val="000000"/>
                  </a:solidFill>
                  <a:latin typeface="+mj-lt"/>
                </a:rPr>
                <a:t>32</a:t>
              </a:r>
              <a:endParaRPr lang="en-US" sz="5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368" name="Line 84"/>
            <p:cNvSpPr>
              <a:spLocks noChangeShapeType="1"/>
            </p:cNvSpPr>
            <p:nvPr/>
          </p:nvSpPr>
          <p:spPr bwMode="auto">
            <a:xfrm flipH="1">
              <a:off x="1637" y="2598"/>
              <a:ext cx="1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69" name="Line 85"/>
            <p:cNvSpPr>
              <a:spLocks noChangeShapeType="1"/>
            </p:cNvSpPr>
            <p:nvPr/>
          </p:nvSpPr>
          <p:spPr bwMode="auto">
            <a:xfrm flipH="1">
              <a:off x="1635" y="2434"/>
              <a:ext cx="17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70" name="Line 86"/>
            <p:cNvSpPr>
              <a:spLocks noChangeShapeType="1"/>
            </p:cNvSpPr>
            <p:nvPr/>
          </p:nvSpPr>
          <p:spPr bwMode="auto">
            <a:xfrm flipH="1">
              <a:off x="2325" y="2527"/>
              <a:ext cx="11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71" name="Line 87"/>
            <p:cNvSpPr>
              <a:spLocks noChangeShapeType="1"/>
            </p:cNvSpPr>
            <p:nvPr/>
          </p:nvSpPr>
          <p:spPr bwMode="auto">
            <a:xfrm flipH="1">
              <a:off x="2325" y="2721"/>
              <a:ext cx="11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72" name="Line 88"/>
            <p:cNvSpPr>
              <a:spLocks noChangeShapeType="1"/>
            </p:cNvSpPr>
            <p:nvPr/>
          </p:nvSpPr>
          <p:spPr bwMode="auto">
            <a:xfrm flipH="1">
              <a:off x="2063" y="2299"/>
              <a:ext cx="1" cy="51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73" name="Rectangle 89"/>
            <p:cNvSpPr>
              <a:spLocks noChangeArrowheads="1"/>
            </p:cNvSpPr>
            <p:nvPr/>
          </p:nvSpPr>
          <p:spPr bwMode="auto">
            <a:xfrm>
              <a:off x="2350" y="1757"/>
              <a:ext cx="256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+mj-lt"/>
                </a:rPr>
                <a:t>ID/EX</a:t>
              </a:r>
              <a:endParaRPr lang="en-US" sz="7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374" name="Rectangle 90"/>
            <p:cNvSpPr>
              <a:spLocks noChangeArrowheads="1"/>
            </p:cNvSpPr>
            <p:nvPr/>
          </p:nvSpPr>
          <p:spPr bwMode="auto">
            <a:xfrm>
              <a:off x="3440" y="1752"/>
              <a:ext cx="407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+mj-lt"/>
                </a:rPr>
                <a:t>EX/MEM</a:t>
              </a:r>
              <a:endParaRPr lang="en-US" sz="10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375" name="Rectangle 91"/>
            <p:cNvSpPr>
              <a:spLocks noChangeArrowheads="1"/>
            </p:cNvSpPr>
            <p:nvPr/>
          </p:nvSpPr>
          <p:spPr bwMode="auto">
            <a:xfrm>
              <a:off x="4527" y="1746"/>
              <a:ext cx="456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dirty="0">
                  <a:solidFill>
                    <a:srgbClr val="000000"/>
                  </a:solidFill>
                  <a:latin typeface="+mj-lt"/>
                </a:rPr>
                <a:t>MEM/WB</a:t>
              </a:r>
            </a:p>
          </p:txBody>
        </p:sp>
        <p:sp>
          <p:nvSpPr>
            <p:cNvPr id="54376" name="Rectangle 92"/>
            <p:cNvSpPr>
              <a:spLocks noChangeArrowheads="1"/>
            </p:cNvSpPr>
            <p:nvPr/>
          </p:nvSpPr>
          <p:spPr bwMode="auto">
            <a:xfrm rot="16200000" flipH="1">
              <a:off x="1389" y="2424"/>
              <a:ext cx="331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1000">
                  <a:solidFill>
                    <a:srgbClr val="000000"/>
                  </a:solidFill>
                  <a:latin typeface="+mj-lt"/>
                </a:rPr>
                <a:t>Instruction</a:t>
              </a:r>
              <a:endParaRPr lang="en-US" sz="7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377" name="Freeform 93"/>
            <p:cNvSpPr>
              <a:spLocks/>
            </p:cNvSpPr>
            <p:nvPr/>
          </p:nvSpPr>
          <p:spPr bwMode="auto">
            <a:xfrm>
              <a:off x="3789" y="2735"/>
              <a:ext cx="24" cy="24"/>
            </a:xfrm>
            <a:custGeom>
              <a:avLst/>
              <a:gdLst>
                <a:gd name="T0" fmla="*/ 10 w 24"/>
                <a:gd name="T1" fmla="*/ 23 h 24"/>
                <a:gd name="T2" fmla="*/ 14 w 24"/>
                <a:gd name="T3" fmla="*/ 23 h 24"/>
                <a:gd name="T4" fmla="*/ 14 w 24"/>
                <a:gd name="T5" fmla="*/ 23 h 24"/>
                <a:gd name="T6" fmla="*/ 16 w 24"/>
                <a:gd name="T7" fmla="*/ 23 h 24"/>
                <a:gd name="T8" fmla="*/ 18 w 24"/>
                <a:gd name="T9" fmla="*/ 21 h 24"/>
                <a:gd name="T10" fmla="*/ 20 w 24"/>
                <a:gd name="T11" fmla="*/ 19 h 24"/>
                <a:gd name="T12" fmla="*/ 20 w 24"/>
                <a:gd name="T13" fmla="*/ 19 h 24"/>
                <a:gd name="T14" fmla="*/ 21 w 24"/>
                <a:gd name="T15" fmla="*/ 17 h 24"/>
                <a:gd name="T16" fmla="*/ 21 w 24"/>
                <a:gd name="T17" fmla="*/ 15 h 24"/>
                <a:gd name="T18" fmla="*/ 23 w 24"/>
                <a:gd name="T19" fmla="*/ 13 h 24"/>
                <a:gd name="T20" fmla="*/ 23 w 24"/>
                <a:gd name="T21" fmla="*/ 12 h 24"/>
                <a:gd name="T22" fmla="*/ 23 w 24"/>
                <a:gd name="T23" fmla="*/ 10 h 24"/>
                <a:gd name="T24" fmla="*/ 21 w 24"/>
                <a:gd name="T25" fmla="*/ 8 h 24"/>
                <a:gd name="T26" fmla="*/ 21 w 24"/>
                <a:gd name="T27" fmla="*/ 6 h 24"/>
                <a:gd name="T28" fmla="*/ 20 w 24"/>
                <a:gd name="T29" fmla="*/ 6 h 24"/>
                <a:gd name="T30" fmla="*/ 20 w 24"/>
                <a:gd name="T31" fmla="*/ 4 h 24"/>
                <a:gd name="T32" fmla="*/ 18 w 24"/>
                <a:gd name="T33" fmla="*/ 2 h 24"/>
                <a:gd name="T34" fmla="*/ 16 w 24"/>
                <a:gd name="T35" fmla="*/ 2 h 24"/>
                <a:gd name="T36" fmla="*/ 14 w 24"/>
                <a:gd name="T37" fmla="*/ 0 h 24"/>
                <a:gd name="T38" fmla="*/ 14 w 24"/>
                <a:gd name="T39" fmla="*/ 0 h 24"/>
                <a:gd name="T40" fmla="*/ 12 w 24"/>
                <a:gd name="T41" fmla="*/ 0 h 24"/>
                <a:gd name="T42" fmla="*/ 10 w 24"/>
                <a:gd name="T43" fmla="*/ 0 h 24"/>
                <a:gd name="T44" fmla="*/ 8 w 24"/>
                <a:gd name="T45" fmla="*/ 0 h 24"/>
                <a:gd name="T46" fmla="*/ 6 w 24"/>
                <a:gd name="T47" fmla="*/ 2 h 24"/>
                <a:gd name="T48" fmla="*/ 4 w 24"/>
                <a:gd name="T49" fmla="*/ 2 h 24"/>
                <a:gd name="T50" fmla="*/ 2 w 24"/>
                <a:gd name="T51" fmla="*/ 4 h 24"/>
                <a:gd name="T52" fmla="*/ 2 w 24"/>
                <a:gd name="T53" fmla="*/ 6 h 24"/>
                <a:gd name="T54" fmla="*/ 0 w 24"/>
                <a:gd name="T55" fmla="*/ 6 h 24"/>
                <a:gd name="T56" fmla="*/ 0 w 24"/>
                <a:gd name="T57" fmla="*/ 8 h 24"/>
                <a:gd name="T58" fmla="*/ 0 w 24"/>
                <a:gd name="T59" fmla="*/ 10 h 24"/>
                <a:gd name="T60" fmla="*/ 0 w 24"/>
                <a:gd name="T61" fmla="*/ 12 h 24"/>
                <a:gd name="T62" fmla="*/ 0 w 24"/>
                <a:gd name="T63" fmla="*/ 13 h 24"/>
                <a:gd name="T64" fmla="*/ 0 w 24"/>
                <a:gd name="T65" fmla="*/ 15 h 24"/>
                <a:gd name="T66" fmla="*/ 0 w 24"/>
                <a:gd name="T67" fmla="*/ 17 h 24"/>
                <a:gd name="T68" fmla="*/ 2 w 24"/>
                <a:gd name="T69" fmla="*/ 19 h 24"/>
                <a:gd name="T70" fmla="*/ 2 w 24"/>
                <a:gd name="T71" fmla="*/ 19 h 24"/>
                <a:gd name="T72" fmla="*/ 4 w 24"/>
                <a:gd name="T73" fmla="*/ 21 h 24"/>
                <a:gd name="T74" fmla="*/ 6 w 24"/>
                <a:gd name="T75" fmla="*/ 23 h 24"/>
                <a:gd name="T76" fmla="*/ 8 w 24"/>
                <a:gd name="T77" fmla="*/ 23 h 24"/>
                <a:gd name="T78" fmla="*/ 10 w 24"/>
                <a:gd name="T79" fmla="*/ 23 h 24"/>
                <a:gd name="T80" fmla="*/ 12 w 24"/>
                <a:gd name="T81" fmla="*/ 23 h 24"/>
                <a:gd name="T82" fmla="*/ 12 w 24"/>
                <a:gd name="T83" fmla="*/ 23 h 24"/>
                <a:gd name="T84" fmla="*/ 10 w 24"/>
                <a:gd name="T85" fmla="*/ 23 h 2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4"/>
                <a:gd name="T130" fmla="*/ 0 h 24"/>
                <a:gd name="T131" fmla="*/ 24 w 24"/>
                <a:gd name="T132" fmla="*/ 24 h 24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4" h="24">
                  <a:moveTo>
                    <a:pt x="10" y="23"/>
                  </a:moveTo>
                  <a:lnTo>
                    <a:pt x="14" y="23"/>
                  </a:lnTo>
                  <a:lnTo>
                    <a:pt x="16" y="23"/>
                  </a:lnTo>
                  <a:lnTo>
                    <a:pt x="18" y="21"/>
                  </a:lnTo>
                  <a:lnTo>
                    <a:pt x="20" y="19"/>
                  </a:lnTo>
                  <a:lnTo>
                    <a:pt x="21" y="17"/>
                  </a:lnTo>
                  <a:lnTo>
                    <a:pt x="21" y="15"/>
                  </a:lnTo>
                  <a:lnTo>
                    <a:pt x="23" y="13"/>
                  </a:lnTo>
                  <a:lnTo>
                    <a:pt x="23" y="12"/>
                  </a:lnTo>
                  <a:lnTo>
                    <a:pt x="23" y="10"/>
                  </a:lnTo>
                  <a:lnTo>
                    <a:pt x="21" y="8"/>
                  </a:lnTo>
                  <a:lnTo>
                    <a:pt x="21" y="6"/>
                  </a:lnTo>
                  <a:lnTo>
                    <a:pt x="20" y="6"/>
                  </a:lnTo>
                  <a:lnTo>
                    <a:pt x="20" y="4"/>
                  </a:lnTo>
                  <a:lnTo>
                    <a:pt x="18" y="2"/>
                  </a:lnTo>
                  <a:lnTo>
                    <a:pt x="16" y="2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8" y="0"/>
                  </a:lnTo>
                  <a:lnTo>
                    <a:pt x="6" y="2"/>
                  </a:lnTo>
                  <a:lnTo>
                    <a:pt x="4" y="2"/>
                  </a:lnTo>
                  <a:lnTo>
                    <a:pt x="2" y="4"/>
                  </a:lnTo>
                  <a:lnTo>
                    <a:pt x="2" y="6"/>
                  </a:lnTo>
                  <a:lnTo>
                    <a:pt x="0" y="6"/>
                  </a:lnTo>
                  <a:lnTo>
                    <a:pt x="0" y="8"/>
                  </a:lnTo>
                  <a:lnTo>
                    <a:pt x="0" y="10"/>
                  </a:lnTo>
                  <a:lnTo>
                    <a:pt x="0" y="12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0" y="17"/>
                  </a:lnTo>
                  <a:lnTo>
                    <a:pt x="2" y="19"/>
                  </a:lnTo>
                  <a:lnTo>
                    <a:pt x="4" y="21"/>
                  </a:lnTo>
                  <a:lnTo>
                    <a:pt x="6" y="23"/>
                  </a:lnTo>
                  <a:lnTo>
                    <a:pt x="8" y="23"/>
                  </a:lnTo>
                  <a:lnTo>
                    <a:pt x="10" y="23"/>
                  </a:lnTo>
                  <a:lnTo>
                    <a:pt x="12" y="23"/>
                  </a:lnTo>
                  <a:lnTo>
                    <a:pt x="10" y="23"/>
                  </a:lnTo>
                </a:path>
              </a:pathLst>
            </a:custGeom>
            <a:solidFill>
              <a:srgbClr val="000000"/>
            </a:solidFill>
            <a:ln w="9525" cap="rnd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78" name="Line 94"/>
            <p:cNvSpPr>
              <a:spLocks noChangeShapeType="1"/>
            </p:cNvSpPr>
            <p:nvPr/>
          </p:nvSpPr>
          <p:spPr bwMode="auto">
            <a:xfrm flipH="1">
              <a:off x="3679" y="3003"/>
              <a:ext cx="250" cy="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79" name="Freeform 95"/>
            <p:cNvSpPr>
              <a:spLocks/>
            </p:cNvSpPr>
            <p:nvPr/>
          </p:nvSpPr>
          <p:spPr bwMode="auto">
            <a:xfrm>
              <a:off x="3801" y="2747"/>
              <a:ext cx="903" cy="611"/>
            </a:xfrm>
            <a:custGeom>
              <a:avLst/>
              <a:gdLst>
                <a:gd name="T0" fmla="*/ 902 w 1318"/>
                <a:gd name="T1" fmla="*/ 608 h 410"/>
                <a:gd name="T2" fmla="*/ 0 w 1318"/>
                <a:gd name="T3" fmla="*/ 610 h 410"/>
                <a:gd name="T4" fmla="*/ 0 w 1318"/>
                <a:gd name="T5" fmla="*/ 0 h 410"/>
                <a:gd name="T6" fmla="*/ 0 60000 65536"/>
                <a:gd name="T7" fmla="*/ 0 60000 65536"/>
                <a:gd name="T8" fmla="*/ 0 60000 65536"/>
                <a:gd name="T9" fmla="*/ 0 w 1318"/>
                <a:gd name="T10" fmla="*/ 0 h 410"/>
                <a:gd name="T11" fmla="*/ 1318 w 1318"/>
                <a:gd name="T12" fmla="*/ 410 h 41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18" h="410">
                  <a:moveTo>
                    <a:pt x="1317" y="408"/>
                  </a:moveTo>
                  <a:lnTo>
                    <a:pt x="0" y="409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triangl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80" name="Line 96"/>
            <p:cNvSpPr>
              <a:spLocks noChangeShapeType="1"/>
            </p:cNvSpPr>
            <p:nvPr/>
          </p:nvSpPr>
          <p:spPr bwMode="auto">
            <a:xfrm>
              <a:off x="3677" y="3558"/>
              <a:ext cx="1024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81" name="Line 97"/>
            <p:cNvSpPr>
              <a:spLocks noChangeShapeType="1"/>
            </p:cNvSpPr>
            <p:nvPr/>
          </p:nvSpPr>
          <p:spPr bwMode="auto">
            <a:xfrm flipH="1">
              <a:off x="3679" y="2747"/>
              <a:ext cx="253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82" name="Line 98"/>
            <p:cNvSpPr>
              <a:spLocks noChangeShapeType="1"/>
            </p:cNvSpPr>
            <p:nvPr/>
          </p:nvSpPr>
          <p:spPr bwMode="auto">
            <a:xfrm flipH="1">
              <a:off x="4551" y="2742"/>
              <a:ext cx="155" cy="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83" name="Line 99"/>
            <p:cNvSpPr>
              <a:spLocks noChangeShapeType="1"/>
            </p:cNvSpPr>
            <p:nvPr/>
          </p:nvSpPr>
          <p:spPr bwMode="auto">
            <a:xfrm flipH="1" flipV="1">
              <a:off x="4242" y="2482"/>
              <a:ext cx="1" cy="66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grpSp>
          <p:nvGrpSpPr>
            <p:cNvPr id="54384" name="Group 312"/>
            <p:cNvGrpSpPr>
              <a:grpSpLocks/>
            </p:cNvGrpSpPr>
            <p:nvPr/>
          </p:nvGrpSpPr>
          <p:grpSpPr bwMode="auto">
            <a:xfrm>
              <a:off x="3936" y="2378"/>
              <a:ext cx="609" cy="939"/>
              <a:chOff x="3936" y="2378"/>
              <a:chExt cx="609" cy="939"/>
            </a:xfrm>
          </p:grpSpPr>
          <p:sp>
            <p:nvSpPr>
              <p:cNvPr id="54457" name="Line 101"/>
              <p:cNvSpPr>
                <a:spLocks noChangeShapeType="1"/>
              </p:cNvSpPr>
              <p:nvPr/>
            </p:nvSpPr>
            <p:spPr bwMode="auto">
              <a:xfrm flipH="1">
                <a:off x="4248" y="3108"/>
                <a:ext cx="1" cy="105"/>
              </a:xfrm>
              <a:prstGeom prst="line">
                <a:avLst/>
              </a:prstGeom>
              <a:noFill/>
              <a:ln w="12700">
                <a:solidFill>
                  <a:srgbClr val="EB75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54460" name="Rectangle 104"/>
              <p:cNvSpPr>
                <a:spLocks noChangeArrowheads="1"/>
              </p:cNvSpPr>
              <p:nvPr/>
            </p:nvSpPr>
            <p:spPr bwMode="auto">
              <a:xfrm>
                <a:off x="3936" y="2553"/>
                <a:ext cx="609" cy="552"/>
              </a:xfrm>
              <a:prstGeom prst="rect">
                <a:avLst/>
              </a:prstGeom>
              <a:solidFill>
                <a:srgbClr val="FFFFCC"/>
              </a:solidFill>
              <a:ln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54461" name="Rectangle 105"/>
              <p:cNvSpPr>
                <a:spLocks noChangeArrowheads="1"/>
              </p:cNvSpPr>
              <p:nvPr/>
            </p:nvSpPr>
            <p:spPr bwMode="auto">
              <a:xfrm>
                <a:off x="3963" y="2712"/>
                <a:ext cx="208" cy="7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US" sz="900" dirty="0">
                    <a:solidFill>
                      <a:srgbClr val="000000"/>
                    </a:solidFill>
                    <a:latin typeface="+mj-lt"/>
                  </a:rPr>
                  <a:t>Address</a:t>
                </a:r>
                <a:endParaRPr lang="en-US" sz="800" dirty="0">
                  <a:solidFill>
                    <a:srgbClr val="000000"/>
                  </a:solidFill>
                  <a:latin typeface="+mj-lt"/>
                </a:endParaRPr>
              </a:p>
            </p:txBody>
          </p:sp>
          <p:sp>
            <p:nvSpPr>
              <p:cNvPr id="54462" name="Rectangle 106"/>
              <p:cNvSpPr>
                <a:spLocks noChangeArrowheads="1"/>
              </p:cNvSpPr>
              <p:nvPr/>
            </p:nvSpPr>
            <p:spPr bwMode="auto">
              <a:xfrm>
                <a:off x="3965" y="2933"/>
                <a:ext cx="147" cy="14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US" sz="900" dirty="0">
                    <a:solidFill>
                      <a:srgbClr val="000000"/>
                    </a:solidFill>
                    <a:latin typeface="+mj-lt"/>
                  </a:rPr>
                  <a:t>Write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sz="900" dirty="0">
                    <a:solidFill>
                      <a:srgbClr val="000000"/>
                    </a:solidFill>
                    <a:latin typeface="+mj-lt"/>
                  </a:rPr>
                  <a:t>Data</a:t>
                </a:r>
                <a:endParaRPr lang="en-US" sz="800" dirty="0">
                  <a:solidFill>
                    <a:srgbClr val="000000"/>
                  </a:solidFill>
                  <a:latin typeface="+mj-lt"/>
                </a:endParaRPr>
              </a:p>
            </p:txBody>
          </p:sp>
          <p:sp>
            <p:nvSpPr>
              <p:cNvPr id="54463" name="Rectangle 107"/>
              <p:cNvSpPr>
                <a:spLocks noChangeArrowheads="1"/>
              </p:cNvSpPr>
              <p:nvPr/>
            </p:nvSpPr>
            <p:spPr bwMode="auto">
              <a:xfrm>
                <a:off x="4368" y="2665"/>
                <a:ext cx="130" cy="14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US" sz="900" dirty="0">
                    <a:solidFill>
                      <a:srgbClr val="000000"/>
                    </a:solidFill>
                    <a:latin typeface="+mj-lt"/>
                  </a:rPr>
                  <a:t>Read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sz="900" dirty="0">
                    <a:solidFill>
                      <a:srgbClr val="000000"/>
                    </a:solidFill>
                    <a:latin typeface="+mj-lt"/>
                  </a:rPr>
                  <a:t>Data</a:t>
                </a:r>
                <a:endParaRPr lang="en-US" sz="500" dirty="0">
                  <a:solidFill>
                    <a:srgbClr val="000000"/>
                  </a:solidFill>
                  <a:latin typeface="+mj-lt"/>
                </a:endParaRPr>
              </a:p>
            </p:txBody>
          </p:sp>
          <p:sp>
            <p:nvSpPr>
              <p:cNvPr id="54464" name="Rectangle 108"/>
              <p:cNvSpPr>
                <a:spLocks noChangeArrowheads="1"/>
              </p:cNvSpPr>
              <p:nvPr/>
            </p:nvSpPr>
            <p:spPr bwMode="auto">
              <a:xfrm>
                <a:off x="4193" y="2868"/>
                <a:ext cx="297" cy="19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sz="1200">
                    <a:solidFill>
                      <a:srgbClr val="000000"/>
                    </a:solidFill>
                    <a:latin typeface="+mj-lt"/>
                  </a:rPr>
                  <a:t>Data</a:t>
                </a:r>
              </a:p>
              <a:p>
                <a:pPr algn="ctr">
                  <a:lnSpc>
                    <a:spcPct val="90000"/>
                  </a:lnSpc>
                </a:pPr>
                <a:r>
                  <a:rPr lang="en-US" sz="1200">
                    <a:solidFill>
                      <a:srgbClr val="000000"/>
                    </a:solidFill>
                    <a:latin typeface="+mj-lt"/>
                  </a:rPr>
                  <a:t>Memory</a:t>
                </a:r>
                <a:endParaRPr lang="en-US" sz="800">
                  <a:solidFill>
                    <a:srgbClr val="000000"/>
                  </a:solidFill>
                  <a:latin typeface="+mj-lt"/>
                </a:endParaRPr>
              </a:p>
            </p:txBody>
          </p:sp>
          <p:sp>
            <p:nvSpPr>
              <p:cNvPr id="54458" name="Rectangle 102"/>
              <p:cNvSpPr>
                <a:spLocks noChangeArrowheads="1"/>
              </p:cNvSpPr>
              <p:nvPr/>
            </p:nvSpPr>
            <p:spPr bwMode="auto">
              <a:xfrm>
                <a:off x="4073" y="3223"/>
                <a:ext cx="311" cy="9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050" dirty="0" err="1">
                    <a:solidFill>
                      <a:srgbClr val="EB7500"/>
                    </a:solidFill>
                    <a:latin typeface="+mj-lt"/>
                  </a:rPr>
                  <a:t>MemRead</a:t>
                </a:r>
                <a:endParaRPr lang="en-US" sz="1050" dirty="0">
                  <a:solidFill>
                    <a:srgbClr val="EB7500"/>
                  </a:solidFill>
                  <a:latin typeface="+mj-lt"/>
                </a:endParaRPr>
              </a:p>
            </p:txBody>
          </p:sp>
          <p:sp>
            <p:nvSpPr>
              <p:cNvPr id="54459" name="Rectangle 103"/>
              <p:cNvSpPr>
                <a:spLocks noChangeArrowheads="1"/>
              </p:cNvSpPr>
              <p:nvPr/>
            </p:nvSpPr>
            <p:spPr bwMode="auto">
              <a:xfrm>
                <a:off x="4063" y="2378"/>
                <a:ext cx="332" cy="9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050" dirty="0" err="1">
                    <a:solidFill>
                      <a:srgbClr val="EB7500"/>
                    </a:solidFill>
                    <a:latin typeface="+mj-lt"/>
                  </a:rPr>
                  <a:t>MemWrite</a:t>
                </a:r>
                <a:endParaRPr lang="en-US" sz="1050" dirty="0">
                  <a:solidFill>
                    <a:srgbClr val="EB7500"/>
                  </a:solidFill>
                  <a:latin typeface="+mj-lt"/>
                </a:endParaRPr>
              </a:p>
            </p:txBody>
          </p:sp>
        </p:grpSp>
        <p:sp>
          <p:nvSpPr>
            <p:cNvPr id="54385" name="Freeform 109"/>
            <p:cNvSpPr>
              <a:spLocks/>
            </p:cNvSpPr>
            <p:nvPr/>
          </p:nvSpPr>
          <p:spPr bwMode="auto">
            <a:xfrm>
              <a:off x="3755" y="2266"/>
              <a:ext cx="72" cy="58"/>
            </a:xfrm>
            <a:custGeom>
              <a:avLst/>
              <a:gdLst>
                <a:gd name="T0" fmla="*/ 0 w 72"/>
                <a:gd name="T1" fmla="*/ 0 h 72"/>
                <a:gd name="T2" fmla="*/ 2 w 72"/>
                <a:gd name="T3" fmla="*/ 71 h 72"/>
                <a:gd name="T4" fmla="*/ 71 w 72"/>
                <a:gd name="T5" fmla="*/ 71 h 72"/>
                <a:gd name="T6" fmla="*/ 0 60000 65536"/>
                <a:gd name="T7" fmla="*/ 0 60000 65536"/>
                <a:gd name="T8" fmla="*/ 0 60000 65536"/>
                <a:gd name="T9" fmla="*/ 0 w 72"/>
                <a:gd name="T10" fmla="*/ 0 h 72"/>
                <a:gd name="T11" fmla="*/ 72 w 72"/>
                <a:gd name="T12" fmla="*/ 72 h 7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2" h="72">
                  <a:moveTo>
                    <a:pt x="0" y="0"/>
                  </a:moveTo>
                  <a:lnTo>
                    <a:pt x="2" y="71"/>
                  </a:lnTo>
                  <a:lnTo>
                    <a:pt x="71" y="71"/>
                  </a:lnTo>
                </a:path>
              </a:pathLst>
            </a:custGeom>
            <a:noFill/>
            <a:ln w="12700" cap="rnd" cmpd="sng">
              <a:solidFill>
                <a:srgbClr val="EB75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86" name="Freeform 110"/>
            <p:cNvSpPr>
              <a:spLocks/>
            </p:cNvSpPr>
            <p:nvPr/>
          </p:nvSpPr>
          <p:spPr bwMode="auto">
            <a:xfrm>
              <a:off x="3686" y="2400"/>
              <a:ext cx="141" cy="229"/>
            </a:xfrm>
            <a:custGeom>
              <a:avLst/>
              <a:gdLst>
                <a:gd name="T0" fmla="*/ 0 w 141"/>
                <a:gd name="T1" fmla="*/ 228 h 229"/>
                <a:gd name="T2" fmla="*/ 71 w 141"/>
                <a:gd name="T3" fmla="*/ 228 h 229"/>
                <a:gd name="T4" fmla="*/ 71 w 141"/>
                <a:gd name="T5" fmla="*/ 0 h 229"/>
                <a:gd name="T6" fmla="*/ 140 w 141"/>
                <a:gd name="T7" fmla="*/ 0 h 22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1"/>
                <a:gd name="T13" fmla="*/ 0 h 229"/>
                <a:gd name="T14" fmla="*/ 141 w 141"/>
                <a:gd name="T15" fmla="*/ 229 h 22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1" h="229">
                  <a:moveTo>
                    <a:pt x="0" y="228"/>
                  </a:moveTo>
                  <a:lnTo>
                    <a:pt x="71" y="228"/>
                  </a:lnTo>
                  <a:lnTo>
                    <a:pt x="71" y="0"/>
                  </a:lnTo>
                  <a:lnTo>
                    <a:pt x="140" y="0"/>
                  </a:lnTo>
                </a:path>
              </a:pathLst>
            </a:custGeom>
            <a:noFill/>
            <a:ln w="12700" cap="rnd" cmpd="sng">
              <a:solidFill>
                <a:srgbClr val="EB75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87" name="Freeform 111"/>
            <p:cNvSpPr>
              <a:spLocks/>
            </p:cNvSpPr>
            <p:nvPr/>
          </p:nvSpPr>
          <p:spPr bwMode="auto">
            <a:xfrm>
              <a:off x="3826" y="2302"/>
              <a:ext cx="145" cy="122"/>
            </a:xfrm>
            <a:custGeom>
              <a:avLst/>
              <a:gdLst>
                <a:gd name="T0" fmla="*/ 85 w 145"/>
                <a:gd name="T1" fmla="*/ 119 h 122"/>
                <a:gd name="T2" fmla="*/ 96 w 145"/>
                <a:gd name="T3" fmla="*/ 119 h 122"/>
                <a:gd name="T4" fmla="*/ 104 w 145"/>
                <a:gd name="T5" fmla="*/ 117 h 122"/>
                <a:gd name="T6" fmla="*/ 113 w 145"/>
                <a:gd name="T7" fmla="*/ 113 h 122"/>
                <a:gd name="T8" fmla="*/ 121 w 145"/>
                <a:gd name="T9" fmla="*/ 107 h 122"/>
                <a:gd name="T10" fmla="*/ 127 w 145"/>
                <a:gd name="T11" fmla="*/ 102 h 122"/>
                <a:gd name="T12" fmla="*/ 132 w 145"/>
                <a:gd name="T13" fmla="*/ 96 h 122"/>
                <a:gd name="T14" fmla="*/ 138 w 145"/>
                <a:gd name="T15" fmla="*/ 88 h 122"/>
                <a:gd name="T16" fmla="*/ 142 w 145"/>
                <a:gd name="T17" fmla="*/ 79 h 122"/>
                <a:gd name="T18" fmla="*/ 144 w 145"/>
                <a:gd name="T19" fmla="*/ 69 h 122"/>
                <a:gd name="T20" fmla="*/ 144 w 145"/>
                <a:gd name="T21" fmla="*/ 60 h 122"/>
                <a:gd name="T22" fmla="*/ 144 w 145"/>
                <a:gd name="T23" fmla="*/ 50 h 122"/>
                <a:gd name="T24" fmla="*/ 142 w 145"/>
                <a:gd name="T25" fmla="*/ 40 h 122"/>
                <a:gd name="T26" fmla="*/ 138 w 145"/>
                <a:gd name="T27" fmla="*/ 33 h 122"/>
                <a:gd name="T28" fmla="*/ 132 w 145"/>
                <a:gd name="T29" fmla="*/ 25 h 122"/>
                <a:gd name="T30" fmla="*/ 127 w 145"/>
                <a:gd name="T31" fmla="*/ 17 h 122"/>
                <a:gd name="T32" fmla="*/ 121 w 145"/>
                <a:gd name="T33" fmla="*/ 12 h 122"/>
                <a:gd name="T34" fmla="*/ 113 w 145"/>
                <a:gd name="T35" fmla="*/ 6 h 122"/>
                <a:gd name="T36" fmla="*/ 104 w 145"/>
                <a:gd name="T37" fmla="*/ 2 h 122"/>
                <a:gd name="T38" fmla="*/ 96 w 145"/>
                <a:gd name="T39" fmla="*/ 0 h 122"/>
                <a:gd name="T40" fmla="*/ 86 w 145"/>
                <a:gd name="T41" fmla="*/ 0 h 122"/>
                <a:gd name="T42" fmla="*/ 0 w 145"/>
                <a:gd name="T43" fmla="*/ 0 h 122"/>
                <a:gd name="T44" fmla="*/ 0 w 145"/>
                <a:gd name="T45" fmla="*/ 121 h 122"/>
                <a:gd name="T46" fmla="*/ 86 w 145"/>
                <a:gd name="T47" fmla="*/ 121 h 122"/>
                <a:gd name="T48" fmla="*/ 86 w 145"/>
                <a:gd name="T49" fmla="*/ 121 h 122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145"/>
                <a:gd name="T76" fmla="*/ 0 h 122"/>
                <a:gd name="T77" fmla="*/ 145 w 145"/>
                <a:gd name="T78" fmla="*/ 122 h 122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145" h="122">
                  <a:moveTo>
                    <a:pt x="85" y="119"/>
                  </a:moveTo>
                  <a:lnTo>
                    <a:pt x="96" y="119"/>
                  </a:lnTo>
                  <a:lnTo>
                    <a:pt x="104" y="117"/>
                  </a:lnTo>
                  <a:lnTo>
                    <a:pt x="113" y="113"/>
                  </a:lnTo>
                  <a:lnTo>
                    <a:pt x="121" y="107"/>
                  </a:lnTo>
                  <a:lnTo>
                    <a:pt x="127" y="102"/>
                  </a:lnTo>
                  <a:lnTo>
                    <a:pt x="132" y="96"/>
                  </a:lnTo>
                  <a:lnTo>
                    <a:pt x="138" y="88"/>
                  </a:lnTo>
                  <a:lnTo>
                    <a:pt x="142" y="79"/>
                  </a:lnTo>
                  <a:lnTo>
                    <a:pt x="144" y="69"/>
                  </a:lnTo>
                  <a:lnTo>
                    <a:pt x="144" y="60"/>
                  </a:lnTo>
                  <a:lnTo>
                    <a:pt x="144" y="50"/>
                  </a:lnTo>
                  <a:lnTo>
                    <a:pt x="142" y="40"/>
                  </a:lnTo>
                  <a:lnTo>
                    <a:pt x="138" y="33"/>
                  </a:lnTo>
                  <a:lnTo>
                    <a:pt x="132" y="25"/>
                  </a:lnTo>
                  <a:lnTo>
                    <a:pt x="127" y="17"/>
                  </a:lnTo>
                  <a:lnTo>
                    <a:pt x="121" y="12"/>
                  </a:lnTo>
                  <a:lnTo>
                    <a:pt x="113" y="6"/>
                  </a:lnTo>
                  <a:lnTo>
                    <a:pt x="104" y="2"/>
                  </a:lnTo>
                  <a:lnTo>
                    <a:pt x="96" y="0"/>
                  </a:lnTo>
                  <a:lnTo>
                    <a:pt x="86" y="0"/>
                  </a:lnTo>
                  <a:lnTo>
                    <a:pt x="0" y="0"/>
                  </a:lnTo>
                  <a:lnTo>
                    <a:pt x="0" y="121"/>
                  </a:lnTo>
                  <a:lnTo>
                    <a:pt x="86" y="121"/>
                  </a:lnTo>
                </a:path>
              </a:pathLst>
            </a:custGeom>
            <a:solidFill>
              <a:srgbClr val="FFE6CD"/>
            </a:solidFill>
            <a:ln w="19050" cap="rnd" cmpd="sng">
              <a:solidFill>
                <a:srgbClr val="EB75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90" name="Line 114"/>
            <p:cNvSpPr>
              <a:spLocks noChangeShapeType="1"/>
            </p:cNvSpPr>
            <p:nvPr/>
          </p:nvSpPr>
          <p:spPr bwMode="auto">
            <a:xfrm>
              <a:off x="1543" y="3804"/>
              <a:ext cx="335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91" name="Line 115"/>
            <p:cNvSpPr>
              <a:spLocks noChangeShapeType="1"/>
            </p:cNvSpPr>
            <p:nvPr/>
          </p:nvSpPr>
          <p:spPr bwMode="auto">
            <a:xfrm flipV="1">
              <a:off x="1545" y="2751"/>
              <a:ext cx="0" cy="10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92" name="Line 116"/>
            <p:cNvSpPr>
              <a:spLocks noChangeShapeType="1"/>
            </p:cNvSpPr>
            <p:nvPr/>
          </p:nvSpPr>
          <p:spPr bwMode="auto">
            <a:xfrm>
              <a:off x="1541" y="2748"/>
              <a:ext cx="26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93" name="Line 117"/>
            <p:cNvSpPr>
              <a:spLocks noChangeShapeType="1"/>
            </p:cNvSpPr>
            <p:nvPr/>
          </p:nvSpPr>
          <p:spPr bwMode="auto">
            <a:xfrm>
              <a:off x="1725" y="2895"/>
              <a:ext cx="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94" name="Line 118"/>
            <p:cNvSpPr>
              <a:spLocks noChangeShapeType="1"/>
            </p:cNvSpPr>
            <p:nvPr/>
          </p:nvSpPr>
          <p:spPr bwMode="auto">
            <a:xfrm flipV="1">
              <a:off x="1728" y="2895"/>
              <a:ext cx="0" cy="99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95" name="Line 119"/>
            <p:cNvSpPr>
              <a:spLocks noChangeShapeType="1"/>
            </p:cNvSpPr>
            <p:nvPr/>
          </p:nvSpPr>
          <p:spPr bwMode="auto">
            <a:xfrm>
              <a:off x="1728" y="3882"/>
              <a:ext cx="3336" cy="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96" name="Line 120"/>
            <p:cNvSpPr>
              <a:spLocks noChangeShapeType="1"/>
            </p:cNvSpPr>
            <p:nvPr/>
          </p:nvSpPr>
          <p:spPr bwMode="auto">
            <a:xfrm flipV="1">
              <a:off x="4963" y="2651"/>
              <a:ext cx="0" cy="51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97" name="Line 121"/>
            <p:cNvSpPr>
              <a:spLocks noChangeShapeType="1"/>
            </p:cNvSpPr>
            <p:nvPr/>
          </p:nvSpPr>
          <p:spPr bwMode="auto">
            <a:xfrm flipH="1">
              <a:off x="4800" y="2744"/>
              <a:ext cx="115" cy="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98" name="Freeform 122"/>
            <p:cNvSpPr>
              <a:spLocks/>
            </p:cNvSpPr>
            <p:nvPr/>
          </p:nvSpPr>
          <p:spPr bwMode="auto">
            <a:xfrm>
              <a:off x="4800" y="2953"/>
              <a:ext cx="119" cy="405"/>
            </a:xfrm>
            <a:custGeom>
              <a:avLst/>
              <a:gdLst>
                <a:gd name="T0" fmla="*/ 118 w 104"/>
                <a:gd name="T1" fmla="*/ 0 h 204"/>
                <a:gd name="T2" fmla="*/ 60 w 104"/>
                <a:gd name="T3" fmla="*/ 0 h 204"/>
                <a:gd name="T4" fmla="*/ 60 w 104"/>
                <a:gd name="T5" fmla="*/ 403 h 204"/>
                <a:gd name="T6" fmla="*/ 0 w 104"/>
                <a:gd name="T7" fmla="*/ 403 h 20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4"/>
                <a:gd name="T13" fmla="*/ 0 h 204"/>
                <a:gd name="T14" fmla="*/ 104 w 104"/>
                <a:gd name="T15" fmla="*/ 204 h 20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4" h="204">
                  <a:moveTo>
                    <a:pt x="103" y="0"/>
                  </a:moveTo>
                  <a:lnTo>
                    <a:pt x="52" y="0"/>
                  </a:lnTo>
                  <a:lnTo>
                    <a:pt x="52" y="203"/>
                  </a:lnTo>
                  <a:lnTo>
                    <a:pt x="0" y="203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triangl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00" name="Line 124"/>
            <p:cNvSpPr>
              <a:spLocks noChangeShapeType="1"/>
            </p:cNvSpPr>
            <p:nvPr/>
          </p:nvSpPr>
          <p:spPr bwMode="auto">
            <a:xfrm>
              <a:off x="4803" y="3558"/>
              <a:ext cx="9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01" name="Line 125"/>
            <p:cNvSpPr>
              <a:spLocks noChangeShapeType="1"/>
            </p:cNvSpPr>
            <p:nvPr/>
          </p:nvSpPr>
          <p:spPr bwMode="auto">
            <a:xfrm rot="5400000">
              <a:off x="4770" y="3681"/>
              <a:ext cx="25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02" name="Line 126"/>
            <p:cNvSpPr>
              <a:spLocks noChangeShapeType="1"/>
            </p:cNvSpPr>
            <p:nvPr/>
          </p:nvSpPr>
          <p:spPr bwMode="auto">
            <a:xfrm flipV="1">
              <a:off x="5067" y="2847"/>
              <a:ext cx="0" cy="10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03" name="Line 127"/>
            <p:cNvSpPr>
              <a:spLocks noChangeShapeType="1"/>
            </p:cNvSpPr>
            <p:nvPr/>
          </p:nvSpPr>
          <p:spPr bwMode="auto">
            <a:xfrm flipV="1">
              <a:off x="5025" y="2847"/>
              <a:ext cx="42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04" name="Freeform 128"/>
            <p:cNvSpPr>
              <a:spLocks/>
            </p:cNvSpPr>
            <p:nvPr/>
          </p:nvSpPr>
          <p:spPr bwMode="auto">
            <a:xfrm>
              <a:off x="636" y="1885"/>
              <a:ext cx="276" cy="631"/>
            </a:xfrm>
            <a:custGeom>
              <a:avLst/>
              <a:gdLst>
                <a:gd name="T0" fmla="*/ 275 w 194"/>
                <a:gd name="T1" fmla="*/ 0 h 631"/>
                <a:gd name="T2" fmla="*/ 0 w 194"/>
                <a:gd name="T3" fmla="*/ 2 h 631"/>
                <a:gd name="T4" fmla="*/ 0 w 194"/>
                <a:gd name="T5" fmla="*/ 630 h 631"/>
                <a:gd name="T6" fmla="*/ 0 60000 65536"/>
                <a:gd name="T7" fmla="*/ 0 60000 65536"/>
                <a:gd name="T8" fmla="*/ 0 60000 65536"/>
                <a:gd name="T9" fmla="*/ 0 w 194"/>
                <a:gd name="T10" fmla="*/ 0 h 631"/>
                <a:gd name="T11" fmla="*/ 194 w 194"/>
                <a:gd name="T12" fmla="*/ 631 h 63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4" h="631">
                  <a:moveTo>
                    <a:pt x="193" y="0"/>
                  </a:moveTo>
                  <a:lnTo>
                    <a:pt x="0" y="2"/>
                  </a:lnTo>
                  <a:lnTo>
                    <a:pt x="0" y="63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triangl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05" name="Freeform 129"/>
            <p:cNvSpPr>
              <a:spLocks/>
            </p:cNvSpPr>
            <p:nvPr/>
          </p:nvSpPr>
          <p:spPr bwMode="auto">
            <a:xfrm>
              <a:off x="624" y="2503"/>
              <a:ext cx="24" cy="24"/>
            </a:xfrm>
            <a:custGeom>
              <a:avLst/>
              <a:gdLst>
                <a:gd name="T0" fmla="*/ 12 w 24"/>
                <a:gd name="T1" fmla="*/ 21 h 24"/>
                <a:gd name="T2" fmla="*/ 14 w 24"/>
                <a:gd name="T3" fmla="*/ 21 h 24"/>
                <a:gd name="T4" fmla="*/ 16 w 24"/>
                <a:gd name="T5" fmla="*/ 21 h 24"/>
                <a:gd name="T6" fmla="*/ 17 w 24"/>
                <a:gd name="T7" fmla="*/ 21 h 24"/>
                <a:gd name="T8" fmla="*/ 19 w 24"/>
                <a:gd name="T9" fmla="*/ 19 h 24"/>
                <a:gd name="T10" fmla="*/ 19 w 24"/>
                <a:gd name="T11" fmla="*/ 19 h 24"/>
                <a:gd name="T12" fmla="*/ 21 w 24"/>
                <a:gd name="T13" fmla="*/ 18 h 24"/>
                <a:gd name="T14" fmla="*/ 23 w 24"/>
                <a:gd name="T15" fmla="*/ 16 h 24"/>
                <a:gd name="T16" fmla="*/ 23 w 24"/>
                <a:gd name="T17" fmla="*/ 14 h 24"/>
                <a:gd name="T18" fmla="*/ 23 w 24"/>
                <a:gd name="T19" fmla="*/ 14 h 24"/>
                <a:gd name="T20" fmla="*/ 23 w 24"/>
                <a:gd name="T21" fmla="*/ 12 h 24"/>
                <a:gd name="T22" fmla="*/ 23 w 24"/>
                <a:gd name="T23" fmla="*/ 10 h 24"/>
                <a:gd name="T24" fmla="*/ 23 w 24"/>
                <a:gd name="T25" fmla="*/ 8 h 24"/>
                <a:gd name="T26" fmla="*/ 23 w 24"/>
                <a:gd name="T27" fmla="*/ 6 h 24"/>
                <a:gd name="T28" fmla="*/ 21 w 24"/>
                <a:gd name="T29" fmla="*/ 4 h 24"/>
                <a:gd name="T30" fmla="*/ 19 w 24"/>
                <a:gd name="T31" fmla="*/ 2 h 24"/>
                <a:gd name="T32" fmla="*/ 19 w 24"/>
                <a:gd name="T33" fmla="*/ 2 h 24"/>
                <a:gd name="T34" fmla="*/ 17 w 24"/>
                <a:gd name="T35" fmla="*/ 0 h 24"/>
                <a:gd name="T36" fmla="*/ 16 w 24"/>
                <a:gd name="T37" fmla="*/ 0 h 24"/>
                <a:gd name="T38" fmla="*/ 14 w 24"/>
                <a:gd name="T39" fmla="*/ 0 h 24"/>
                <a:gd name="T40" fmla="*/ 12 w 24"/>
                <a:gd name="T41" fmla="*/ 0 h 24"/>
                <a:gd name="T42" fmla="*/ 10 w 24"/>
                <a:gd name="T43" fmla="*/ 0 h 24"/>
                <a:gd name="T44" fmla="*/ 8 w 24"/>
                <a:gd name="T45" fmla="*/ 0 h 24"/>
                <a:gd name="T46" fmla="*/ 6 w 24"/>
                <a:gd name="T47" fmla="*/ 0 h 24"/>
                <a:gd name="T48" fmla="*/ 6 w 24"/>
                <a:gd name="T49" fmla="*/ 2 h 24"/>
                <a:gd name="T50" fmla="*/ 4 w 24"/>
                <a:gd name="T51" fmla="*/ 2 h 24"/>
                <a:gd name="T52" fmla="*/ 2 w 24"/>
                <a:gd name="T53" fmla="*/ 4 h 24"/>
                <a:gd name="T54" fmla="*/ 2 w 24"/>
                <a:gd name="T55" fmla="*/ 6 h 24"/>
                <a:gd name="T56" fmla="*/ 0 w 24"/>
                <a:gd name="T57" fmla="*/ 8 h 24"/>
                <a:gd name="T58" fmla="*/ 0 w 24"/>
                <a:gd name="T59" fmla="*/ 10 h 24"/>
                <a:gd name="T60" fmla="*/ 0 w 24"/>
                <a:gd name="T61" fmla="*/ 12 h 24"/>
                <a:gd name="T62" fmla="*/ 0 w 24"/>
                <a:gd name="T63" fmla="*/ 14 h 24"/>
                <a:gd name="T64" fmla="*/ 0 w 24"/>
                <a:gd name="T65" fmla="*/ 14 h 24"/>
                <a:gd name="T66" fmla="*/ 2 w 24"/>
                <a:gd name="T67" fmla="*/ 16 h 24"/>
                <a:gd name="T68" fmla="*/ 2 w 24"/>
                <a:gd name="T69" fmla="*/ 18 h 24"/>
                <a:gd name="T70" fmla="*/ 4 w 24"/>
                <a:gd name="T71" fmla="*/ 19 h 24"/>
                <a:gd name="T72" fmla="*/ 6 w 24"/>
                <a:gd name="T73" fmla="*/ 19 h 24"/>
                <a:gd name="T74" fmla="*/ 6 w 24"/>
                <a:gd name="T75" fmla="*/ 21 h 24"/>
                <a:gd name="T76" fmla="*/ 8 w 24"/>
                <a:gd name="T77" fmla="*/ 21 h 24"/>
                <a:gd name="T78" fmla="*/ 10 w 24"/>
                <a:gd name="T79" fmla="*/ 21 h 24"/>
                <a:gd name="T80" fmla="*/ 12 w 24"/>
                <a:gd name="T81" fmla="*/ 23 h 24"/>
                <a:gd name="T82" fmla="*/ 12 w 24"/>
                <a:gd name="T83" fmla="*/ 23 h 24"/>
                <a:gd name="T84" fmla="*/ 12 w 24"/>
                <a:gd name="T85" fmla="*/ 21 h 2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4"/>
                <a:gd name="T130" fmla="*/ 0 h 24"/>
                <a:gd name="T131" fmla="*/ 24 w 24"/>
                <a:gd name="T132" fmla="*/ 24 h 24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4" h="24">
                  <a:moveTo>
                    <a:pt x="12" y="21"/>
                  </a:moveTo>
                  <a:lnTo>
                    <a:pt x="14" y="21"/>
                  </a:lnTo>
                  <a:lnTo>
                    <a:pt x="16" y="21"/>
                  </a:lnTo>
                  <a:lnTo>
                    <a:pt x="17" y="21"/>
                  </a:lnTo>
                  <a:lnTo>
                    <a:pt x="19" y="19"/>
                  </a:lnTo>
                  <a:lnTo>
                    <a:pt x="21" y="18"/>
                  </a:lnTo>
                  <a:lnTo>
                    <a:pt x="23" y="16"/>
                  </a:lnTo>
                  <a:lnTo>
                    <a:pt x="23" y="14"/>
                  </a:lnTo>
                  <a:lnTo>
                    <a:pt x="23" y="12"/>
                  </a:lnTo>
                  <a:lnTo>
                    <a:pt x="23" y="10"/>
                  </a:lnTo>
                  <a:lnTo>
                    <a:pt x="23" y="8"/>
                  </a:lnTo>
                  <a:lnTo>
                    <a:pt x="23" y="6"/>
                  </a:lnTo>
                  <a:lnTo>
                    <a:pt x="21" y="4"/>
                  </a:lnTo>
                  <a:lnTo>
                    <a:pt x="19" y="2"/>
                  </a:lnTo>
                  <a:lnTo>
                    <a:pt x="17" y="0"/>
                  </a:lnTo>
                  <a:lnTo>
                    <a:pt x="16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8" y="0"/>
                  </a:lnTo>
                  <a:lnTo>
                    <a:pt x="6" y="0"/>
                  </a:lnTo>
                  <a:lnTo>
                    <a:pt x="6" y="2"/>
                  </a:lnTo>
                  <a:lnTo>
                    <a:pt x="4" y="2"/>
                  </a:lnTo>
                  <a:lnTo>
                    <a:pt x="2" y="4"/>
                  </a:lnTo>
                  <a:lnTo>
                    <a:pt x="2" y="6"/>
                  </a:lnTo>
                  <a:lnTo>
                    <a:pt x="0" y="8"/>
                  </a:lnTo>
                  <a:lnTo>
                    <a:pt x="0" y="10"/>
                  </a:lnTo>
                  <a:lnTo>
                    <a:pt x="0" y="12"/>
                  </a:lnTo>
                  <a:lnTo>
                    <a:pt x="0" y="14"/>
                  </a:lnTo>
                  <a:lnTo>
                    <a:pt x="2" y="16"/>
                  </a:lnTo>
                  <a:lnTo>
                    <a:pt x="2" y="18"/>
                  </a:lnTo>
                  <a:lnTo>
                    <a:pt x="4" y="19"/>
                  </a:lnTo>
                  <a:lnTo>
                    <a:pt x="6" y="19"/>
                  </a:lnTo>
                  <a:lnTo>
                    <a:pt x="6" y="21"/>
                  </a:lnTo>
                  <a:lnTo>
                    <a:pt x="8" y="21"/>
                  </a:lnTo>
                  <a:lnTo>
                    <a:pt x="10" y="21"/>
                  </a:lnTo>
                  <a:lnTo>
                    <a:pt x="12" y="23"/>
                  </a:lnTo>
                  <a:lnTo>
                    <a:pt x="12" y="21"/>
                  </a:lnTo>
                </a:path>
              </a:pathLst>
            </a:custGeom>
            <a:solidFill>
              <a:srgbClr val="000000"/>
            </a:solidFill>
            <a:ln w="9525" cap="rnd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06" name="Rectangle 130"/>
            <p:cNvSpPr>
              <a:spLocks noChangeArrowheads="1"/>
            </p:cNvSpPr>
            <p:nvPr/>
          </p:nvSpPr>
          <p:spPr bwMode="auto">
            <a:xfrm>
              <a:off x="695" y="2081"/>
              <a:ext cx="146" cy="1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sz="1200">
                  <a:solidFill>
                    <a:srgbClr val="000000"/>
                  </a:solidFill>
                  <a:latin typeface="+mj-lt"/>
                </a:rPr>
                <a:t>4</a:t>
              </a:r>
              <a:endParaRPr lang="en-US" sz="6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407" name="Freeform 131"/>
            <p:cNvSpPr>
              <a:spLocks/>
            </p:cNvSpPr>
            <p:nvPr/>
          </p:nvSpPr>
          <p:spPr bwMode="auto">
            <a:xfrm>
              <a:off x="1359" y="1917"/>
              <a:ext cx="93" cy="1777"/>
            </a:xfrm>
            <a:custGeom>
              <a:avLst/>
              <a:gdLst>
                <a:gd name="T0" fmla="*/ 90 w 93"/>
                <a:gd name="T1" fmla="*/ 1776 h 1777"/>
                <a:gd name="T2" fmla="*/ 92 w 93"/>
                <a:gd name="T3" fmla="*/ 0 h 1777"/>
                <a:gd name="T4" fmla="*/ 0 w 93"/>
                <a:gd name="T5" fmla="*/ 0 h 1777"/>
                <a:gd name="T6" fmla="*/ 0 w 93"/>
                <a:gd name="T7" fmla="*/ 1776 h 1777"/>
                <a:gd name="T8" fmla="*/ 92 w 93"/>
                <a:gd name="T9" fmla="*/ 1776 h 1777"/>
                <a:gd name="T10" fmla="*/ 92 w 93"/>
                <a:gd name="T11" fmla="*/ 1776 h 177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3"/>
                <a:gd name="T19" fmla="*/ 0 h 1777"/>
                <a:gd name="T20" fmla="*/ 93 w 93"/>
                <a:gd name="T21" fmla="*/ 1777 h 177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3" h="1777">
                  <a:moveTo>
                    <a:pt x="90" y="1776"/>
                  </a:moveTo>
                  <a:lnTo>
                    <a:pt x="92" y="0"/>
                  </a:lnTo>
                  <a:lnTo>
                    <a:pt x="0" y="0"/>
                  </a:lnTo>
                  <a:lnTo>
                    <a:pt x="0" y="1776"/>
                  </a:lnTo>
                  <a:lnTo>
                    <a:pt x="92" y="1776"/>
                  </a:lnTo>
                </a:path>
              </a:pathLst>
            </a:custGeom>
            <a:solidFill>
              <a:srgbClr val="CCECFF"/>
            </a:solidFill>
            <a:ln w="190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08" name="Line 132"/>
            <p:cNvSpPr>
              <a:spLocks noChangeShapeType="1"/>
            </p:cNvSpPr>
            <p:nvPr/>
          </p:nvSpPr>
          <p:spPr bwMode="auto">
            <a:xfrm flipH="1" flipV="1">
              <a:off x="1202" y="2021"/>
              <a:ext cx="163" cy="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09" name="Freeform 133"/>
            <p:cNvSpPr>
              <a:spLocks/>
            </p:cNvSpPr>
            <p:nvPr/>
          </p:nvSpPr>
          <p:spPr bwMode="auto">
            <a:xfrm>
              <a:off x="1236" y="2013"/>
              <a:ext cx="24" cy="24"/>
            </a:xfrm>
            <a:custGeom>
              <a:avLst/>
              <a:gdLst>
                <a:gd name="T0" fmla="*/ 9 w 24"/>
                <a:gd name="T1" fmla="*/ 23 h 24"/>
                <a:gd name="T2" fmla="*/ 13 w 24"/>
                <a:gd name="T3" fmla="*/ 23 h 24"/>
                <a:gd name="T4" fmla="*/ 15 w 24"/>
                <a:gd name="T5" fmla="*/ 23 h 24"/>
                <a:gd name="T6" fmla="*/ 15 w 24"/>
                <a:gd name="T7" fmla="*/ 21 h 24"/>
                <a:gd name="T8" fmla="*/ 17 w 24"/>
                <a:gd name="T9" fmla="*/ 21 h 24"/>
                <a:gd name="T10" fmla="*/ 19 w 24"/>
                <a:gd name="T11" fmla="*/ 19 h 24"/>
                <a:gd name="T12" fmla="*/ 19 w 24"/>
                <a:gd name="T13" fmla="*/ 19 h 24"/>
                <a:gd name="T14" fmla="*/ 21 w 24"/>
                <a:gd name="T15" fmla="*/ 17 h 24"/>
                <a:gd name="T16" fmla="*/ 21 w 24"/>
                <a:gd name="T17" fmla="*/ 15 h 24"/>
                <a:gd name="T18" fmla="*/ 23 w 24"/>
                <a:gd name="T19" fmla="*/ 13 h 24"/>
                <a:gd name="T20" fmla="*/ 23 w 24"/>
                <a:gd name="T21" fmla="*/ 11 h 24"/>
                <a:gd name="T22" fmla="*/ 23 w 24"/>
                <a:gd name="T23" fmla="*/ 9 h 24"/>
                <a:gd name="T24" fmla="*/ 21 w 24"/>
                <a:gd name="T25" fmla="*/ 8 h 24"/>
                <a:gd name="T26" fmla="*/ 21 w 24"/>
                <a:gd name="T27" fmla="*/ 6 h 24"/>
                <a:gd name="T28" fmla="*/ 19 w 24"/>
                <a:gd name="T29" fmla="*/ 6 h 24"/>
                <a:gd name="T30" fmla="*/ 19 w 24"/>
                <a:gd name="T31" fmla="*/ 4 h 24"/>
                <a:gd name="T32" fmla="*/ 17 w 24"/>
                <a:gd name="T33" fmla="*/ 2 h 24"/>
                <a:gd name="T34" fmla="*/ 15 w 24"/>
                <a:gd name="T35" fmla="*/ 2 h 24"/>
                <a:gd name="T36" fmla="*/ 15 w 24"/>
                <a:gd name="T37" fmla="*/ 0 h 24"/>
                <a:gd name="T38" fmla="*/ 13 w 24"/>
                <a:gd name="T39" fmla="*/ 0 h 24"/>
                <a:gd name="T40" fmla="*/ 11 w 24"/>
                <a:gd name="T41" fmla="*/ 0 h 24"/>
                <a:gd name="T42" fmla="*/ 9 w 24"/>
                <a:gd name="T43" fmla="*/ 0 h 24"/>
                <a:gd name="T44" fmla="*/ 7 w 24"/>
                <a:gd name="T45" fmla="*/ 0 h 24"/>
                <a:gd name="T46" fmla="*/ 5 w 24"/>
                <a:gd name="T47" fmla="*/ 2 h 24"/>
                <a:gd name="T48" fmla="*/ 4 w 24"/>
                <a:gd name="T49" fmla="*/ 2 h 24"/>
                <a:gd name="T50" fmla="*/ 2 w 24"/>
                <a:gd name="T51" fmla="*/ 4 h 24"/>
                <a:gd name="T52" fmla="*/ 2 w 24"/>
                <a:gd name="T53" fmla="*/ 6 h 24"/>
                <a:gd name="T54" fmla="*/ 0 w 24"/>
                <a:gd name="T55" fmla="*/ 6 h 24"/>
                <a:gd name="T56" fmla="*/ 0 w 24"/>
                <a:gd name="T57" fmla="*/ 8 h 24"/>
                <a:gd name="T58" fmla="*/ 0 w 24"/>
                <a:gd name="T59" fmla="*/ 9 h 24"/>
                <a:gd name="T60" fmla="*/ 0 w 24"/>
                <a:gd name="T61" fmla="*/ 11 h 24"/>
                <a:gd name="T62" fmla="*/ 0 w 24"/>
                <a:gd name="T63" fmla="*/ 13 h 24"/>
                <a:gd name="T64" fmla="*/ 0 w 24"/>
                <a:gd name="T65" fmla="*/ 15 h 24"/>
                <a:gd name="T66" fmla="*/ 0 w 24"/>
                <a:gd name="T67" fmla="*/ 17 h 24"/>
                <a:gd name="T68" fmla="*/ 2 w 24"/>
                <a:gd name="T69" fmla="*/ 19 h 24"/>
                <a:gd name="T70" fmla="*/ 2 w 24"/>
                <a:gd name="T71" fmla="*/ 19 h 24"/>
                <a:gd name="T72" fmla="*/ 4 w 24"/>
                <a:gd name="T73" fmla="*/ 21 h 24"/>
                <a:gd name="T74" fmla="*/ 5 w 24"/>
                <a:gd name="T75" fmla="*/ 21 h 24"/>
                <a:gd name="T76" fmla="*/ 7 w 24"/>
                <a:gd name="T77" fmla="*/ 23 h 24"/>
                <a:gd name="T78" fmla="*/ 9 w 24"/>
                <a:gd name="T79" fmla="*/ 23 h 24"/>
                <a:gd name="T80" fmla="*/ 11 w 24"/>
                <a:gd name="T81" fmla="*/ 23 h 24"/>
                <a:gd name="T82" fmla="*/ 11 w 24"/>
                <a:gd name="T83" fmla="*/ 23 h 24"/>
                <a:gd name="T84" fmla="*/ 9 w 24"/>
                <a:gd name="T85" fmla="*/ 23 h 2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4"/>
                <a:gd name="T130" fmla="*/ 0 h 24"/>
                <a:gd name="T131" fmla="*/ 24 w 24"/>
                <a:gd name="T132" fmla="*/ 24 h 24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4" h="24">
                  <a:moveTo>
                    <a:pt x="9" y="23"/>
                  </a:moveTo>
                  <a:lnTo>
                    <a:pt x="13" y="23"/>
                  </a:lnTo>
                  <a:lnTo>
                    <a:pt x="15" y="23"/>
                  </a:lnTo>
                  <a:lnTo>
                    <a:pt x="15" y="21"/>
                  </a:lnTo>
                  <a:lnTo>
                    <a:pt x="17" y="21"/>
                  </a:lnTo>
                  <a:lnTo>
                    <a:pt x="19" y="19"/>
                  </a:lnTo>
                  <a:lnTo>
                    <a:pt x="21" y="17"/>
                  </a:lnTo>
                  <a:lnTo>
                    <a:pt x="21" y="15"/>
                  </a:lnTo>
                  <a:lnTo>
                    <a:pt x="23" y="13"/>
                  </a:lnTo>
                  <a:lnTo>
                    <a:pt x="23" y="11"/>
                  </a:lnTo>
                  <a:lnTo>
                    <a:pt x="23" y="9"/>
                  </a:lnTo>
                  <a:lnTo>
                    <a:pt x="21" y="8"/>
                  </a:lnTo>
                  <a:lnTo>
                    <a:pt x="21" y="6"/>
                  </a:lnTo>
                  <a:lnTo>
                    <a:pt x="19" y="6"/>
                  </a:lnTo>
                  <a:lnTo>
                    <a:pt x="19" y="4"/>
                  </a:lnTo>
                  <a:lnTo>
                    <a:pt x="17" y="2"/>
                  </a:lnTo>
                  <a:lnTo>
                    <a:pt x="15" y="2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1" y="0"/>
                  </a:lnTo>
                  <a:lnTo>
                    <a:pt x="9" y="0"/>
                  </a:lnTo>
                  <a:lnTo>
                    <a:pt x="7" y="0"/>
                  </a:lnTo>
                  <a:lnTo>
                    <a:pt x="5" y="2"/>
                  </a:lnTo>
                  <a:lnTo>
                    <a:pt x="4" y="2"/>
                  </a:lnTo>
                  <a:lnTo>
                    <a:pt x="2" y="4"/>
                  </a:lnTo>
                  <a:lnTo>
                    <a:pt x="2" y="6"/>
                  </a:lnTo>
                  <a:lnTo>
                    <a:pt x="0" y="6"/>
                  </a:lnTo>
                  <a:lnTo>
                    <a:pt x="0" y="8"/>
                  </a:lnTo>
                  <a:lnTo>
                    <a:pt x="0" y="9"/>
                  </a:lnTo>
                  <a:lnTo>
                    <a:pt x="0" y="11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0" y="17"/>
                  </a:lnTo>
                  <a:lnTo>
                    <a:pt x="2" y="19"/>
                  </a:lnTo>
                  <a:lnTo>
                    <a:pt x="4" y="21"/>
                  </a:lnTo>
                  <a:lnTo>
                    <a:pt x="5" y="21"/>
                  </a:lnTo>
                  <a:lnTo>
                    <a:pt x="7" y="23"/>
                  </a:lnTo>
                  <a:lnTo>
                    <a:pt x="9" y="23"/>
                  </a:lnTo>
                  <a:lnTo>
                    <a:pt x="11" y="23"/>
                  </a:lnTo>
                  <a:lnTo>
                    <a:pt x="9" y="23"/>
                  </a:lnTo>
                </a:path>
              </a:pathLst>
            </a:custGeom>
            <a:solidFill>
              <a:srgbClr val="000000"/>
            </a:solidFill>
            <a:ln w="9525" cap="rnd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10" name="Freeform 134"/>
            <p:cNvSpPr>
              <a:spLocks/>
            </p:cNvSpPr>
            <p:nvPr/>
          </p:nvSpPr>
          <p:spPr bwMode="auto">
            <a:xfrm>
              <a:off x="915" y="1825"/>
              <a:ext cx="285" cy="413"/>
            </a:xfrm>
            <a:custGeom>
              <a:avLst/>
              <a:gdLst>
                <a:gd name="T0" fmla="*/ 0 w 210"/>
                <a:gd name="T1" fmla="*/ 0 h 413"/>
                <a:gd name="T2" fmla="*/ 0 w 210"/>
                <a:gd name="T3" fmla="*/ 167 h 413"/>
                <a:gd name="T4" fmla="*/ 91 w 210"/>
                <a:gd name="T5" fmla="*/ 207 h 413"/>
                <a:gd name="T6" fmla="*/ 0 w 210"/>
                <a:gd name="T7" fmla="*/ 245 h 413"/>
                <a:gd name="T8" fmla="*/ 0 w 210"/>
                <a:gd name="T9" fmla="*/ 412 h 413"/>
                <a:gd name="T10" fmla="*/ 284 w 210"/>
                <a:gd name="T11" fmla="*/ 286 h 413"/>
                <a:gd name="T12" fmla="*/ 284 w 210"/>
                <a:gd name="T13" fmla="*/ 127 h 413"/>
                <a:gd name="T14" fmla="*/ 0 w 210"/>
                <a:gd name="T15" fmla="*/ 0 h 413"/>
                <a:gd name="T16" fmla="*/ 0 w 210"/>
                <a:gd name="T17" fmla="*/ 0 h 41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10"/>
                <a:gd name="T28" fmla="*/ 0 h 413"/>
                <a:gd name="T29" fmla="*/ 210 w 210"/>
                <a:gd name="T30" fmla="*/ 413 h 413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10" h="413">
                  <a:moveTo>
                    <a:pt x="0" y="0"/>
                  </a:moveTo>
                  <a:lnTo>
                    <a:pt x="0" y="167"/>
                  </a:lnTo>
                  <a:lnTo>
                    <a:pt x="67" y="207"/>
                  </a:lnTo>
                  <a:lnTo>
                    <a:pt x="0" y="245"/>
                  </a:lnTo>
                  <a:lnTo>
                    <a:pt x="0" y="412"/>
                  </a:lnTo>
                  <a:lnTo>
                    <a:pt x="209" y="286"/>
                  </a:lnTo>
                  <a:lnTo>
                    <a:pt x="209" y="127"/>
                  </a:lnTo>
                  <a:lnTo>
                    <a:pt x="0" y="0"/>
                  </a:lnTo>
                </a:path>
              </a:pathLst>
            </a:custGeom>
            <a:solidFill>
              <a:srgbClr val="CCFF99"/>
            </a:solidFill>
            <a:ln w="190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11" name="Line 135"/>
            <p:cNvSpPr>
              <a:spLocks noChangeShapeType="1"/>
            </p:cNvSpPr>
            <p:nvPr/>
          </p:nvSpPr>
          <p:spPr bwMode="auto">
            <a:xfrm flipH="1">
              <a:off x="811" y="2168"/>
              <a:ext cx="102" cy="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12" name="Rectangle 136"/>
            <p:cNvSpPr>
              <a:spLocks noChangeArrowheads="1"/>
            </p:cNvSpPr>
            <p:nvPr/>
          </p:nvSpPr>
          <p:spPr bwMode="auto">
            <a:xfrm>
              <a:off x="812" y="2774"/>
              <a:ext cx="374" cy="2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000000"/>
                  </a:solidFill>
                  <a:latin typeface="+mj-lt"/>
                </a:rPr>
                <a:t>Instruction</a:t>
              </a:r>
            </a:p>
            <a:p>
              <a:pPr algn="ctr"/>
              <a:r>
                <a:rPr lang="en-US" sz="1200" dirty="0">
                  <a:solidFill>
                    <a:srgbClr val="000000"/>
                  </a:solidFill>
                  <a:latin typeface="+mj-lt"/>
                </a:rPr>
                <a:t>Memory</a:t>
              </a:r>
              <a:endParaRPr lang="en-US" sz="500" dirty="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413" name="Rectangle 138"/>
            <p:cNvSpPr>
              <a:spLocks noChangeArrowheads="1"/>
            </p:cNvSpPr>
            <p:nvPr/>
          </p:nvSpPr>
          <p:spPr bwMode="auto">
            <a:xfrm>
              <a:off x="747" y="2481"/>
              <a:ext cx="208" cy="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900">
                  <a:solidFill>
                    <a:srgbClr val="000000"/>
                  </a:solidFill>
                  <a:latin typeface="+mj-lt"/>
                </a:rPr>
                <a:t>Address</a:t>
              </a:r>
              <a:endParaRPr lang="en-US" sz="5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414" name="Rectangle 139"/>
            <p:cNvSpPr>
              <a:spLocks noChangeArrowheads="1"/>
            </p:cNvSpPr>
            <p:nvPr/>
          </p:nvSpPr>
          <p:spPr bwMode="auto">
            <a:xfrm>
              <a:off x="1042" y="1968"/>
              <a:ext cx="138" cy="1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dirty="0">
                  <a:solidFill>
                    <a:srgbClr val="000000"/>
                  </a:solidFill>
                  <a:latin typeface="+mj-lt"/>
                </a:rPr>
                <a:t>Add</a:t>
              </a:r>
              <a:endParaRPr lang="en-US" sz="500" dirty="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415" name="Rectangle 140"/>
            <p:cNvSpPr>
              <a:spLocks noChangeArrowheads="1"/>
            </p:cNvSpPr>
            <p:nvPr/>
          </p:nvSpPr>
          <p:spPr bwMode="auto">
            <a:xfrm>
              <a:off x="1311" y="1755"/>
              <a:ext cx="223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dirty="0">
                  <a:solidFill>
                    <a:srgbClr val="000000"/>
                  </a:solidFill>
                  <a:latin typeface="+mj-lt"/>
                </a:rPr>
                <a:t>IF/ID</a:t>
              </a:r>
            </a:p>
          </p:txBody>
        </p:sp>
        <p:grpSp>
          <p:nvGrpSpPr>
            <p:cNvPr id="54416" name="Group 141"/>
            <p:cNvGrpSpPr>
              <a:grpSpLocks/>
            </p:cNvGrpSpPr>
            <p:nvPr/>
          </p:nvGrpSpPr>
          <p:grpSpPr bwMode="auto">
            <a:xfrm>
              <a:off x="432" y="2393"/>
              <a:ext cx="156" cy="245"/>
              <a:chOff x="480" y="2155"/>
              <a:chExt cx="156" cy="245"/>
            </a:xfrm>
          </p:grpSpPr>
          <p:sp>
            <p:nvSpPr>
              <p:cNvPr id="54455" name="Freeform 142"/>
              <p:cNvSpPr>
                <a:spLocks/>
              </p:cNvSpPr>
              <p:nvPr/>
            </p:nvSpPr>
            <p:spPr bwMode="auto">
              <a:xfrm>
                <a:off x="480" y="2155"/>
                <a:ext cx="156" cy="245"/>
              </a:xfrm>
              <a:custGeom>
                <a:avLst/>
                <a:gdLst>
                  <a:gd name="T0" fmla="*/ 155 w 104"/>
                  <a:gd name="T1" fmla="*/ 242 h 245"/>
                  <a:gd name="T2" fmla="*/ 155 w 104"/>
                  <a:gd name="T3" fmla="*/ 0 h 245"/>
                  <a:gd name="T4" fmla="*/ 0 w 104"/>
                  <a:gd name="T5" fmla="*/ 0 h 245"/>
                  <a:gd name="T6" fmla="*/ 0 w 104"/>
                  <a:gd name="T7" fmla="*/ 244 h 245"/>
                  <a:gd name="T8" fmla="*/ 155 w 104"/>
                  <a:gd name="T9" fmla="*/ 244 h 245"/>
                  <a:gd name="T10" fmla="*/ 155 w 104"/>
                  <a:gd name="T11" fmla="*/ 244 h 24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04"/>
                  <a:gd name="T19" fmla="*/ 0 h 245"/>
                  <a:gd name="T20" fmla="*/ 104 w 104"/>
                  <a:gd name="T21" fmla="*/ 245 h 245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04" h="245">
                    <a:moveTo>
                      <a:pt x="103" y="242"/>
                    </a:moveTo>
                    <a:lnTo>
                      <a:pt x="103" y="0"/>
                    </a:lnTo>
                    <a:lnTo>
                      <a:pt x="0" y="0"/>
                    </a:lnTo>
                    <a:lnTo>
                      <a:pt x="0" y="244"/>
                    </a:lnTo>
                    <a:lnTo>
                      <a:pt x="103" y="244"/>
                    </a:lnTo>
                  </a:path>
                </a:pathLst>
              </a:custGeom>
              <a:solidFill>
                <a:srgbClr val="FFE6CD"/>
              </a:solidFill>
              <a:ln w="1905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54456" name="Rectangle 143"/>
              <p:cNvSpPr>
                <a:spLocks noChangeArrowheads="1"/>
              </p:cNvSpPr>
              <p:nvPr/>
            </p:nvSpPr>
            <p:spPr bwMode="auto">
              <a:xfrm>
                <a:off x="504" y="2220"/>
                <a:ext cx="90" cy="108"/>
              </a:xfrm>
              <a:prstGeom prst="rect">
                <a:avLst/>
              </a:prstGeom>
              <a:solidFill>
                <a:srgbClr val="FFE6CD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200" dirty="0">
                    <a:solidFill>
                      <a:srgbClr val="000000"/>
                    </a:solidFill>
                    <a:latin typeface="+mj-lt"/>
                  </a:rPr>
                  <a:t>PC</a:t>
                </a:r>
                <a:endParaRPr lang="en-US" sz="500" dirty="0">
                  <a:solidFill>
                    <a:srgbClr val="000000"/>
                  </a:solidFill>
                  <a:latin typeface="+mj-lt"/>
                </a:endParaRPr>
              </a:p>
            </p:txBody>
          </p:sp>
        </p:grpSp>
        <p:sp>
          <p:nvSpPr>
            <p:cNvPr id="54417" name="Line 144"/>
            <p:cNvSpPr>
              <a:spLocks noChangeShapeType="1"/>
            </p:cNvSpPr>
            <p:nvPr/>
          </p:nvSpPr>
          <p:spPr bwMode="auto">
            <a:xfrm flipH="1">
              <a:off x="1290" y="2688"/>
              <a:ext cx="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18" name="Line 145"/>
            <p:cNvSpPr>
              <a:spLocks noChangeShapeType="1"/>
            </p:cNvSpPr>
            <p:nvPr/>
          </p:nvSpPr>
          <p:spPr bwMode="auto">
            <a:xfrm flipV="1">
              <a:off x="1248" y="1782"/>
              <a:ext cx="0" cy="2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19" name="Line 146"/>
            <p:cNvSpPr>
              <a:spLocks noChangeShapeType="1"/>
            </p:cNvSpPr>
            <p:nvPr/>
          </p:nvSpPr>
          <p:spPr bwMode="auto">
            <a:xfrm flipH="1" flipV="1">
              <a:off x="3843" y="1594"/>
              <a:ext cx="0" cy="57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20" name="Line 147"/>
            <p:cNvSpPr>
              <a:spLocks noChangeShapeType="1"/>
            </p:cNvSpPr>
            <p:nvPr/>
          </p:nvSpPr>
          <p:spPr bwMode="auto">
            <a:xfrm rot="5400000" flipH="1" flipV="1">
              <a:off x="1011" y="1542"/>
              <a:ext cx="3" cy="47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21" name="Line 148"/>
            <p:cNvSpPr>
              <a:spLocks noChangeShapeType="1"/>
            </p:cNvSpPr>
            <p:nvPr/>
          </p:nvSpPr>
          <p:spPr bwMode="auto">
            <a:xfrm rot="16200000" flipV="1">
              <a:off x="3756" y="2077"/>
              <a:ext cx="3" cy="17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22" name="Line 149"/>
            <p:cNvSpPr>
              <a:spLocks noChangeShapeType="1"/>
            </p:cNvSpPr>
            <p:nvPr/>
          </p:nvSpPr>
          <p:spPr bwMode="auto">
            <a:xfrm rot="16200000" flipV="1">
              <a:off x="521" y="1529"/>
              <a:ext cx="0" cy="31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23" name="Line 150"/>
            <p:cNvSpPr>
              <a:spLocks noChangeShapeType="1"/>
            </p:cNvSpPr>
            <p:nvPr/>
          </p:nvSpPr>
          <p:spPr bwMode="auto">
            <a:xfrm flipV="1">
              <a:off x="360" y="1683"/>
              <a:ext cx="0" cy="83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24" name="Line 151"/>
            <p:cNvSpPr>
              <a:spLocks noChangeShapeType="1"/>
            </p:cNvSpPr>
            <p:nvPr/>
          </p:nvSpPr>
          <p:spPr bwMode="auto">
            <a:xfrm rot="16200000" flipV="1">
              <a:off x="393" y="2481"/>
              <a:ext cx="0" cy="6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grpSp>
          <p:nvGrpSpPr>
            <p:cNvPr id="54425" name="Group 152"/>
            <p:cNvGrpSpPr>
              <a:grpSpLocks/>
            </p:cNvGrpSpPr>
            <p:nvPr/>
          </p:nvGrpSpPr>
          <p:grpSpPr bwMode="auto">
            <a:xfrm>
              <a:off x="2754" y="3391"/>
              <a:ext cx="127" cy="309"/>
              <a:chOff x="2742" y="3153"/>
              <a:chExt cx="127" cy="309"/>
            </a:xfrm>
          </p:grpSpPr>
          <p:sp>
            <p:nvSpPr>
              <p:cNvPr id="54451" name="Rectangle 153"/>
              <p:cNvSpPr>
                <a:spLocks noChangeArrowheads="1"/>
              </p:cNvSpPr>
              <p:nvPr/>
            </p:nvSpPr>
            <p:spPr bwMode="auto">
              <a:xfrm>
                <a:off x="2745" y="3153"/>
                <a:ext cx="124" cy="108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r>
                  <a:rPr lang="en-US" sz="600" dirty="0">
                    <a:solidFill>
                      <a:srgbClr val="000000"/>
                    </a:solidFill>
                    <a:latin typeface="+mj-lt"/>
                  </a:rPr>
                  <a:t>0</a:t>
                </a:r>
              </a:p>
            </p:txBody>
          </p:sp>
          <p:sp>
            <p:nvSpPr>
              <p:cNvPr id="54452" name="Rectangle 154"/>
              <p:cNvSpPr>
                <a:spLocks noChangeArrowheads="1"/>
              </p:cNvSpPr>
              <p:nvPr/>
            </p:nvSpPr>
            <p:spPr bwMode="auto">
              <a:xfrm>
                <a:off x="2742" y="3354"/>
                <a:ext cx="124" cy="108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r>
                  <a:rPr lang="en-US" sz="600" dirty="0">
                    <a:solidFill>
                      <a:srgbClr val="000000"/>
                    </a:solidFill>
                    <a:latin typeface="+mj-lt"/>
                  </a:rPr>
                  <a:t>1</a:t>
                </a:r>
              </a:p>
            </p:txBody>
          </p:sp>
          <p:sp>
            <p:nvSpPr>
              <p:cNvPr id="54453" name="Rectangle 155"/>
              <p:cNvSpPr>
                <a:spLocks noChangeArrowheads="1"/>
              </p:cNvSpPr>
              <p:nvPr/>
            </p:nvSpPr>
            <p:spPr bwMode="auto">
              <a:xfrm>
                <a:off x="2793" y="3230"/>
                <a:ext cx="45" cy="151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>
                  <a:lnSpc>
                    <a:spcPct val="70000"/>
                  </a:lnSpc>
                </a:pPr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m</a:t>
                </a:r>
              </a:p>
              <a:p>
                <a:pPr algn="ctr">
                  <a:lnSpc>
                    <a:spcPct val="70000"/>
                  </a:lnSpc>
                </a:pPr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u</a:t>
                </a:r>
              </a:p>
              <a:p>
                <a:pPr algn="ctr">
                  <a:lnSpc>
                    <a:spcPct val="70000"/>
                  </a:lnSpc>
                </a:pPr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x</a:t>
                </a:r>
                <a:endParaRPr lang="en-US" sz="500">
                  <a:solidFill>
                    <a:srgbClr val="000000"/>
                  </a:solidFill>
                  <a:latin typeface="+mj-lt"/>
                </a:endParaRPr>
              </a:p>
            </p:txBody>
          </p:sp>
          <p:sp>
            <p:nvSpPr>
              <p:cNvPr id="54454" name="AutoShape 156"/>
              <p:cNvSpPr>
                <a:spLocks noChangeArrowheads="1"/>
              </p:cNvSpPr>
              <p:nvPr/>
            </p:nvSpPr>
            <p:spPr bwMode="auto">
              <a:xfrm rot="5400000">
                <a:off x="2665" y="3263"/>
                <a:ext cx="297" cy="96"/>
              </a:xfrm>
              <a:prstGeom prst="flowChartTerminator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>
                  <a:latin typeface="+mj-lt"/>
                </a:endParaRPr>
              </a:p>
            </p:txBody>
          </p:sp>
        </p:grpSp>
        <p:grpSp>
          <p:nvGrpSpPr>
            <p:cNvPr id="54426" name="Group 157"/>
            <p:cNvGrpSpPr>
              <a:grpSpLocks/>
            </p:cNvGrpSpPr>
            <p:nvPr/>
          </p:nvGrpSpPr>
          <p:grpSpPr bwMode="auto">
            <a:xfrm>
              <a:off x="2796" y="2665"/>
              <a:ext cx="127" cy="309"/>
              <a:chOff x="2748" y="3153"/>
              <a:chExt cx="127" cy="309"/>
            </a:xfrm>
          </p:grpSpPr>
          <p:sp>
            <p:nvSpPr>
              <p:cNvPr id="54447" name="Rectangle 158"/>
              <p:cNvSpPr>
                <a:spLocks noChangeArrowheads="1"/>
              </p:cNvSpPr>
              <p:nvPr/>
            </p:nvSpPr>
            <p:spPr bwMode="auto">
              <a:xfrm>
                <a:off x="2751" y="3153"/>
                <a:ext cx="124" cy="108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r>
                  <a:rPr lang="en-US" sz="600" dirty="0">
                    <a:solidFill>
                      <a:srgbClr val="000000"/>
                    </a:solidFill>
                    <a:latin typeface="+mj-lt"/>
                  </a:rPr>
                  <a:t>0</a:t>
                </a:r>
              </a:p>
            </p:txBody>
          </p:sp>
          <p:sp>
            <p:nvSpPr>
              <p:cNvPr id="54448" name="Rectangle 159"/>
              <p:cNvSpPr>
                <a:spLocks noChangeArrowheads="1"/>
              </p:cNvSpPr>
              <p:nvPr/>
            </p:nvSpPr>
            <p:spPr bwMode="auto">
              <a:xfrm>
                <a:off x="2748" y="3354"/>
                <a:ext cx="124" cy="108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r>
                  <a:rPr lang="en-US" sz="600" dirty="0">
                    <a:solidFill>
                      <a:srgbClr val="000000"/>
                    </a:solidFill>
                    <a:latin typeface="+mj-lt"/>
                  </a:rPr>
                  <a:t>1</a:t>
                </a:r>
              </a:p>
            </p:txBody>
          </p:sp>
          <p:sp>
            <p:nvSpPr>
              <p:cNvPr id="54449" name="Rectangle 160"/>
              <p:cNvSpPr>
                <a:spLocks noChangeArrowheads="1"/>
              </p:cNvSpPr>
              <p:nvPr/>
            </p:nvSpPr>
            <p:spPr bwMode="auto">
              <a:xfrm>
                <a:off x="2795" y="3238"/>
                <a:ext cx="40" cy="132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>
                  <a:lnSpc>
                    <a:spcPct val="70000"/>
                  </a:lnSpc>
                </a:pPr>
                <a:r>
                  <a:rPr lang="en-US" sz="700" dirty="0">
                    <a:solidFill>
                      <a:srgbClr val="000000"/>
                    </a:solidFill>
                    <a:latin typeface="+mj-lt"/>
                  </a:rPr>
                  <a:t>m</a:t>
                </a:r>
              </a:p>
              <a:p>
                <a:pPr algn="ctr">
                  <a:lnSpc>
                    <a:spcPct val="70000"/>
                  </a:lnSpc>
                </a:pPr>
                <a:r>
                  <a:rPr lang="en-US" sz="700" dirty="0">
                    <a:solidFill>
                      <a:srgbClr val="000000"/>
                    </a:solidFill>
                    <a:latin typeface="+mj-lt"/>
                  </a:rPr>
                  <a:t>u</a:t>
                </a:r>
              </a:p>
              <a:p>
                <a:pPr algn="ctr">
                  <a:lnSpc>
                    <a:spcPct val="70000"/>
                  </a:lnSpc>
                </a:pPr>
                <a:r>
                  <a:rPr lang="en-US" sz="700" dirty="0">
                    <a:solidFill>
                      <a:srgbClr val="000000"/>
                    </a:solidFill>
                    <a:latin typeface="+mj-lt"/>
                  </a:rPr>
                  <a:t>x</a:t>
                </a:r>
                <a:endParaRPr lang="en-US" sz="400" dirty="0">
                  <a:solidFill>
                    <a:srgbClr val="000000"/>
                  </a:solidFill>
                  <a:latin typeface="+mj-lt"/>
                </a:endParaRPr>
              </a:p>
            </p:txBody>
          </p:sp>
          <p:sp>
            <p:nvSpPr>
              <p:cNvPr id="54450" name="AutoShape 161"/>
              <p:cNvSpPr>
                <a:spLocks noChangeArrowheads="1"/>
              </p:cNvSpPr>
              <p:nvPr/>
            </p:nvSpPr>
            <p:spPr bwMode="auto">
              <a:xfrm rot="5400000">
                <a:off x="2665" y="3263"/>
                <a:ext cx="297" cy="96"/>
              </a:xfrm>
              <a:prstGeom prst="flowChartTerminator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>
                  <a:latin typeface="+mj-lt"/>
                </a:endParaRPr>
              </a:p>
            </p:txBody>
          </p:sp>
        </p:grpSp>
        <p:sp>
          <p:nvSpPr>
            <p:cNvPr id="54427" name="Line 162"/>
            <p:cNvSpPr>
              <a:spLocks noChangeShapeType="1"/>
            </p:cNvSpPr>
            <p:nvPr/>
          </p:nvSpPr>
          <p:spPr bwMode="auto">
            <a:xfrm flipV="1">
              <a:off x="3168" y="2844"/>
              <a:ext cx="0" cy="391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28" name="Line 163"/>
            <p:cNvSpPr>
              <a:spLocks noChangeShapeType="1"/>
            </p:cNvSpPr>
            <p:nvPr/>
          </p:nvSpPr>
          <p:spPr bwMode="auto">
            <a:xfrm rot="5400000" flipV="1">
              <a:off x="3142" y="3203"/>
              <a:ext cx="0" cy="52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grpSp>
          <p:nvGrpSpPr>
            <p:cNvPr id="54429" name="Group 164"/>
            <p:cNvGrpSpPr>
              <a:grpSpLocks/>
            </p:cNvGrpSpPr>
            <p:nvPr/>
          </p:nvGrpSpPr>
          <p:grpSpPr bwMode="auto">
            <a:xfrm flipH="1">
              <a:off x="672" y="1534"/>
              <a:ext cx="127" cy="309"/>
              <a:chOff x="2743" y="3153"/>
              <a:chExt cx="127" cy="309"/>
            </a:xfrm>
          </p:grpSpPr>
          <p:sp>
            <p:nvSpPr>
              <p:cNvPr id="54443" name="Rectangle 165"/>
              <p:cNvSpPr>
                <a:spLocks noChangeArrowheads="1"/>
              </p:cNvSpPr>
              <p:nvPr/>
            </p:nvSpPr>
            <p:spPr bwMode="auto">
              <a:xfrm>
                <a:off x="2746" y="3153"/>
                <a:ext cx="124" cy="108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r>
                  <a:rPr lang="en-US" sz="600" dirty="0">
                    <a:solidFill>
                      <a:srgbClr val="000000"/>
                    </a:solidFill>
                    <a:latin typeface="+mj-lt"/>
                  </a:rPr>
                  <a:t>0</a:t>
                </a:r>
              </a:p>
            </p:txBody>
          </p:sp>
          <p:sp>
            <p:nvSpPr>
              <p:cNvPr id="54444" name="Rectangle 166"/>
              <p:cNvSpPr>
                <a:spLocks noChangeArrowheads="1"/>
              </p:cNvSpPr>
              <p:nvPr/>
            </p:nvSpPr>
            <p:spPr bwMode="auto">
              <a:xfrm>
                <a:off x="2743" y="3354"/>
                <a:ext cx="124" cy="108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r>
                  <a:rPr lang="en-US" sz="600">
                    <a:solidFill>
                      <a:srgbClr val="000000"/>
                    </a:solidFill>
                    <a:latin typeface="+mj-lt"/>
                  </a:rPr>
                  <a:t>1</a:t>
                </a:r>
              </a:p>
            </p:txBody>
          </p:sp>
          <p:sp>
            <p:nvSpPr>
              <p:cNvPr id="54445" name="Rectangle 167"/>
              <p:cNvSpPr>
                <a:spLocks noChangeArrowheads="1"/>
              </p:cNvSpPr>
              <p:nvPr/>
            </p:nvSpPr>
            <p:spPr bwMode="auto">
              <a:xfrm>
                <a:off x="2795" y="3238"/>
                <a:ext cx="40" cy="132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>
                  <a:lnSpc>
                    <a:spcPct val="70000"/>
                  </a:lnSpc>
                </a:pPr>
                <a:r>
                  <a:rPr lang="en-US" sz="700">
                    <a:solidFill>
                      <a:srgbClr val="000000"/>
                    </a:solidFill>
                    <a:latin typeface="+mj-lt"/>
                  </a:rPr>
                  <a:t>m</a:t>
                </a:r>
              </a:p>
              <a:p>
                <a:pPr algn="ctr">
                  <a:lnSpc>
                    <a:spcPct val="70000"/>
                  </a:lnSpc>
                </a:pPr>
                <a:r>
                  <a:rPr lang="en-US" sz="700">
                    <a:solidFill>
                      <a:srgbClr val="000000"/>
                    </a:solidFill>
                    <a:latin typeface="+mj-lt"/>
                  </a:rPr>
                  <a:t>u</a:t>
                </a:r>
              </a:p>
              <a:p>
                <a:pPr algn="ctr">
                  <a:lnSpc>
                    <a:spcPct val="70000"/>
                  </a:lnSpc>
                </a:pPr>
                <a:r>
                  <a:rPr lang="en-US" sz="700">
                    <a:solidFill>
                      <a:srgbClr val="000000"/>
                    </a:solidFill>
                    <a:latin typeface="+mj-lt"/>
                  </a:rPr>
                  <a:t>x</a:t>
                </a:r>
                <a:endParaRPr lang="en-US" sz="400">
                  <a:solidFill>
                    <a:srgbClr val="000000"/>
                  </a:solidFill>
                  <a:latin typeface="+mj-lt"/>
                </a:endParaRPr>
              </a:p>
            </p:txBody>
          </p:sp>
          <p:sp>
            <p:nvSpPr>
              <p:cNvPr id="54446" name="AutoShape 168"/>
              <p:cNvSpPr>
                <a:spLocks noChangeArrowheads="1"/>
              </p:cNvSpPr>
              <p:nvPr/>
            </p:nvSpPr>
            <p:spPr bwMode="auto">
              <a:xfrm rot="5400000">
                <a:off x="2665" y="3263"/>
                <a:ext cx="297" cy="96"/>
              </a:xfrm>
              <a:prstGeom prst="flowChartTerminator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>
                  <a:latin typeface="+mj-lt"/>
                </a:endParaRPr>
              </a:p>
            </p:txBody>
          </p:sp>
        </p:grpSp>
        <p:grpSp>
          <p:nvGrpSpPr>
            <p:cNvPr id="54430" name="Group 169"/>
            <p:cNvGrpSpPr>
              <a:grpSpLocks/>
            </p:cNvGrpSpPr>
            <p:nvPr/>
          </p:nvGrpSpPr>
          <p:grpSpPr bwMode="auto">
            <a:xfrm>
              <a:off x="4899" y="2686"/>
              <a:ext cx="127" cy="309"/>
              <a:chOff x="2742" y="3153"/>
              <a:chExt cx="127" cy="309"/>
            </a:xfrm>
          </p:grpSpPr>
          <p:sp>
            <p:nvSpPr>
              <p:cNvPr id="54439" name="Rectangle 170"/>
              <p:cNvSpPr>
                <a:spLocks noChangeArrowheads="1"/>
              </p:cNvSpPr>
              <p:nvPr/>
            </p:nvSpPr>
            <p:spPr bwMode="auto">
              <a:xfrm>
                <a:off x="2745" y="3153"/>
                <a:ext cx="124" cy="108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r>
                  <a:rPr lang="en-US" sz="600" dirty="0">
                    <a:solidFill>
                      <a:srgbClr val="000000"/>
                    </a:solidFill>
                    <a:latin typeface="+mj-lt"/>
                  </a:rPr>
                  <a:t>0</a:t>
                </a:r>
              </a:p>
            </p:txBody>
          </p:sp>
          <p:sp>
            <p:nvSpPr>
              <p:cNvPr id="54440" name="Rectangle 171"/>
              <p:cNvSpPr>
                <a:spLocks noChangeArrowheads="1"/>
              </p:cNvSpPr>
              <p:nvPr/>
            </p:nvSpPr>
            <p:spPr bwMode="auto">
              <a:xfrm>
                <a:off x="2742" y="3354"/>
                <a:ext cx="124" cy="108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r>
                  <a:rPr lang="en-US" sz="600" dirty="0">
                    <a:solidFill>
                      <a:srgbClr val="000000"/>
                    </a:solidFill>
                    <a:latin typeface="+mj-lt"/>
                  </a:rPr>
                  <a:t>1</a:t>
                </a:r>
              </a:p>
            </p:txBody>
          </p:sp>
          <p:sp>
            <p:nvSpPr>
              <p:cNvPr id="54441" name="Rectangle 172"/>
              <p:cNvSpPr>
                <a:spLocks noChangeArrowheads="1"/>
              </p:cNvSpPr>
              <p:nvPr/>
            </p:nvSpPr>
            <p:spPr bwMode="auto">
              <a:xfrm>
                <a:off x="2795" y="3238"/>
                <a:ext cx="40" cy="132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>
                  <a:lnSpc>
                    <a:spcPct val="70000"/>
                  </a:lnSpc>
                </a:pPr>
                <a:r>
                  <a:rPr lang="en-US" sz="700">
                    <a:solidFill>
                      <a:srgbClr val="000000"/>
                    </a:solidFill>
                    <a:latin typeface="+mj-lt"/>
                  </a:rPr>
                  <a:t>m</a:t>
                </a:r>
              </a:p>
              <a:p>
                <a:pPr algn="ctr">
                  <a:lnSpc>
                    <a:spcPct val="70000"/>
                  </a:lnSpc>
                </a:pPr>
                <a:r>
                  <a:rPr lang="en-US" sz="700">
                    <a:solidFill>
                      <a:srgbClr val="000000"/>
                    </a:solidFill>
                    <a:latin typeface="+mj-lt"/>
                  </a:rPr>
                  <a:t>u</a:t>
                </a:r>
              </a:p>
              <a:p>
                <a:pPr algn="ctr">
                  <a:lnSpc>
                    <a:spcPct val="70000"/>
                  </a:lnSpc>
                </a:pPr>
                <a:r>
                  <a:rPr lang="en-US" sz="700">
                    <a:solidFill>
                      <a:srgbClr val="000000"/>
                    </a:solidFill>
                    <a:latin typeface="+mj-lt"/>
                  </a:rPr>
                  <a:t>x</a:t>
                </a:r>
                <a:endParaRPr lang="en-US" sz="400">
                  <a:solidFill>
                    <a:srgbClr val="000000"/>
                  </a:solidFill>
                  <a:latin typeface="+mj-lt"/>
                </a:endParaRPr>
              </a:p>
            </p:txBody>
          </p:sp>
          <p:sp>
            <p:nvSpPr>
              <p:cNvPr id="54442" name="AutoShape 173"/>
              <p:cNvSpPr>
                <a:spLocks noChangeArrowheads="1"/>
              </p:cNvSpPr>
              <p:nvPr/>
            </p:nvSpPr>
            <p:spPr bwMode="auto">
              <a:xfrm rot="5400000">
                <a:off x="2665" y="3263"/>
                <a:ext cx="297" cy="96"/>
              </a:xfrm>
              <a:prstGeom prst="flowChartTerminator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>
                  <a:latin typeface="+mj-lt"/>
                </a:endParaRPr>
              </a:p>
            </p:txBody>
          </p:sp>
        </p:grpSp>
        <p:sp>
          <p:nvSpPr>
            <p:cNvPr id="54431" name="Rectangle 174"/>
            <p:cNvSpPr>
              <a:spLocks noChangeArrowheads="1"/>
            </p:cNvSpPr>
            <p:nvPr/>
          </p:nvSpPr>
          <p:spPr bwMode="auto">
            <a:xfrm>
              <a:off x="882" y="2648"/>
              <a:ext cx="282" cy="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900" dirty="0">
                  <a:solidFill>
                    <a:srgbClr val="000000"/>
                  </a:solidFill>
                  <a:latin typeface="+mj-lt"/>
                </a:rPr>
                <a:t>Instruction</a:t>
              </a:r>
              <a:endParaRPr lang="en-US" sz="500" dirty="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432" name="Line 175"/>
            <p:cNvSpPr>
              <a:spLocks noChangeShapeType="1"/>
            </p:cNvSpPr>
            <p:nvPr/>
          </p:nvSpPr>
          <p:spPr bwMode="auto">
            <a:xfrm flipV="1">
              <a:off x="1638" y="2431"/>
              <a:ext cx="0" cy="121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33" name="Line 176"/>
            <p:cNvSpPr>
              <a:spLocks noChangeShapeType="1"/>
            </p:cNvSpPr>
            <p:nvPr/>
          </p:nvSpPr>
          <p:spPr bwMode="auto">
            <a:xfrm flipV="1">
              <a:off x="1639" y="3643"/>
              <a:ext cx="794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34" name="Line 177"/>
            <p:cNvSpPr>
              <a:spLocks noChangeShapeType="1"/>
            </p:cNvSpPr>
            <p:nvPr/>
          </p:nvSpPr>
          <p:spPr bwMode="auto">
            <a:xfrm flipH="1">
              <a:off x="777" y="1594"/>
              <a:ext cx="30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35" name="Line 178"/>
            <p:cNvSpPr>
              <a:spLocks noChangeShapeType="1"/>
            </p:cNvSpPr>
            <p:nvPr/>
          </p:nvSpPr>
          <p:spPr bwMode="auto">
            <a:xfrm flipV="1">
              <a:off x="3969" y="2359"/>
              <a:ext cx="65" cy="2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36" name="Line 179"/>
            <p:cNvSpPr>
              <a:spLocks noChangeShapeType="1"/>
            </p:cNvSpPr>
            <p:nvPr/>
          </p:nvSpPr>
          <p:spPr bwMode="auto">
            <a:xfrm rot="-5400000" flipH="1" flipV="1">
              <a:off x="3566" y="1901"/>
              <a:ext cx="926" cy="1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37" name="Line 180"/>
            <p:cNvSpPr>
              <a:spLocks noChangeShapeType="1"/>
            </p:cNvSpPr>
            <p:nvPr/>
          </p:nvSpPr>
          <p:spPr bwMode="auto">
            <a:xfrm>
              <a:off x="720" y="1438"/>
              <a:ext cx="3312" cy="0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38" name="Line 181"/>
            <p:cNvSpPr>
              <a:spLocks noChangeShapeType="1"/>
            </p:cNvSpPr>
            <p:nvPr/>
          </p:nvSpPr>
          <p:spPr bwMode="auto">
            <a:xfrm rot="-5400000" flipH="1" flipV="1">
              <a:off x="670" y="1491"/>
              <a:ext cx="107" cy="1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20" name="Rectangle 36"/>
            <p:cNvSpPr>
              <a:spLocks noChangeArrowheads="1"/>
            </p:cNvSpPr>
            <p:nvPr/>
          </p:nvSpPr>
          <p:spPr bwMode="auto">
            <a:xfrm>
              <a:off x="2658" y="2526"/>
              <a:ext cx="215" cy="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50" dirty="0" err="1">
                  <a:solidFill>
                    <a:srgbClr val="EB7500"/>
                  </a:solidFill>
                  <a:latin typeface="+mj-lt"/>
                </a:rPr>
                <a:t>ALUSrc</a:t>
              </a:r>
              <a:endParaRPr lang="en-US" sz="700" dirty="0">
                <a:solidFill>
                  <a:srgbClr val="EB7500"/>
                </a:solidFill>
                <a:latin typeface="+mj-lt"/>
              </a:endParaRPr>
            </a:p>
          </p:txBody>
        </p:sp>
        <p:sp>
          <p:nvSpPr>
            <p:cNvPr id="54348" name="Rectangle 64"/>
            <p:cNvSpPr>
              <a:spLocks noChangeArrowheads="1"/>
            </p:cNvSpPr>
            <p:nvPr/>
          </p:nvSpPr>
          <p:spPr bwMode="auto">
            <a:xfrm>
              <a:off x="3034" y="3421"/>
              <a:ext cx="217" cy="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50" dirty="0" err="1">
                  <a:solidFill>
                    <a:srgbClr val="EB7500"/>
                  </a:solidFill>
                  <a:latin typeface="+mj-lt"/>
                </a:rPr>
                <a:t>ALUOp</a:t>
              </a:r>
              <a:endParaRPr lang="en-US" sz="1050" dirty="0">
                <a:solidFill>
                  <a:srgbClr val="EB7500"/>
                </a:solidFill>
                <a:latin typeface="+mj-lt"/>
              </a:endParaRPr>
            </a:p>
          </p:txBody>
        </p:sp>
        <p:sp>
          <p:nvSpPr>
            <p:cNvPr id="54349" name="Rectangle 65"/>
            <p:cNvSpPr>
              <a:spLocks noChangeArrowheads="1"/>
            </p:cNvSpPr>
            <p:nvPr/>
          </p:nvSpPr>
          <p:spPr bwMode="auto">
            <a:xfrm>
              <a:off x="2841" y="3700"/>
              <a:ext cx="214" cy="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50">
                  <a:solidFill>
                    <a:srgbClr val="EB7500"/>
                  </a:solidFill>
                  <a:latin typeface="+mj-lt"/>
                </a:rPr>
                <a:t>RegDst</a:t>
              </a:r>
            </a:p>
          </p:txBody>
        </p:sp>
        <p:sp>
          <p:nvSpPr>
            <p:cNvPr id="54352" name="Rectangle 68"/>
            <p:cNvSpPr>
              <a:spLocks noChangeArrowheads="1"/>
            </p:cNvSpPr>
            <p:nvPr/>
          </p:nvSpPr>
          <p:spPr bwMode="auto">
            <a:xfrm>
              <a:off x="1913" y="2186"/>
              <a:ext cx="294" cy="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50" dirty="0" err="1">
                  <a:solidFill>
                    <a:srgbClr val="EB7500"/>
                  </a:solidFill>
                  <a:latin typeface="+mj-lt"/>
                </a:rPr>
                <a:t>RegWrite</a:t>
              </a:r>
              <a:endParaRPr lang="en-US" sz="1050" dirty="0">
                <a:solidFill>
                  <a:srgbClr val="EB7500"/>
                </a:solidFill>
                <a:latin typeface="+mj-lt"/>
              </a:endParaRPr>
            </a:p>
          </p:txBody>
        </p:sp>
        <p:sp>
          <p:nvSpPr>
            <p:cNvPr id="54388" name="Rectangle 112"/>
            <p:cNvSpPr>
              <a:spLocks noChangeArrowheads="1"/>
            </p:cNvSpPr>
            <p:nvPr/>
          </p:nvSpPr>
          <p:spPr bwMode="auto">
            <a:xfrm>
              <a:off x="3734" y="2172"/>
              <a:ext cx="220" cy="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50">
                  <a:solidFill>
                    <a:srgbClr val="EB7500"/>
                  </a:solidFill>
                  <a:latin typeface="+mj-lt"/>
                </a:rPr>
                <a:t>Branch</a:t>
              </a:r>
            </a:p>
          </p:txBody>
        </p:sp>
        <p:sp>
          <p:nvSpPr>
            <p:cNvPr id="54389" name="Rectangle 113"/>
            <p:cNvSpPr>
              <a:spLocks noChangeArrowheads="1"/>
            </p:cNvSpPr>
            <p:nvPr/>
          </p:nvSpPr>
          <p:spPr bwMode="auto">
            <a:xfrm>
              <a:off x="4056" y="1582"/>
              <a:ext cx="170" cy="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50">
                  <a:solidFill>
                    <a:srgbClr val="EB7500"/>
                  </a:solidFill>
                  <a:latin typeface="+mj-lt"/>
                </a:rPr>
                <a:t>PCSrc</a:t>
              </a:r>
            </a:p>
          </p:txBody>
        </p:sp>
        <p:sp>
          <p:nvSpPr>
            <p:cNvPr id="54399" name="Rectangle 123"/>
            <p:cNvSpPr>
              <a:spLocks noChangeArrowheads="1"/>
            </p:cNvSpPr>
            <p:nvPr/>
          </p:nvSpPr>
          <p:spPr bwMode="auto">
            <a:xfrm>
              <a:off x="4827" y="2541"/>
              <a:ext cx="341" cy="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50" dirty="0" err="1">
                  <a:solidFill>
                    <a:srgbClr val="EB7500"/>
                  </a:solidFill>
                  <a:latin typeface="+mj-lt"/>
                </a:rPr>
                <a:t>MemtoReg</a:t>
              </a:r>
              <a:endParaRPr lang="en-US" sz="1050" dirty="0">
                <a:solidFill>
                  <a:srgbClr val="EB7500"/>
                </a:solidFill>
                <a:latin typeface="+mj-lt"/>
              </a:endParaRPr>
            </a:p>
          </p:txBody>
        </p:sp>
      </p:grpSp>
      <p:sp>
        <p:nvSpPr>
          <p:cNvPr id="54276" name="Rectangle 266"/>
          <p:cNvSpPr>
            <a:spLocks noChangeArrowheads="1"/>
          </p:cNvSpPr>
          <p:nvPr/>
        </p:nvSpPr>
        <p:spPr bwMode="auto">
          <a:xfrm>
            <a:off x="1882151" y="2763377"/>
            <a:ext cx="446597" cy="369332"/>
          </a:xfrm>
          <a:prstGeom prst="rect">
            <a:avLst/>
          </a:prstGeom>
          <a:solidFill>
            <a:schemeClr val="bg1">
              <a:alpha val="85000"/>
            </a:schemeClr>
          </a:solidFill>
          <a:ln w="12700">
            <a:noFill/>
            <a:miter lim="800000"/>
            <a:headEnd type="none" w="sm" len="sm"/>
            <a:tailEnd type="none" w="lg" len="med"/>
          </a:ln>
        </p:spPr>
        <p:txBody>
          <a:bodyPr wrap="none" lIns="45720" tIns="45720" rIns="45720" bIns="4572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  <a:latin typeface="+mj-lt"/>
              </a:rPr>
              <a:t>and</a:t>
            </a:r>
            <a:endParaRPr lang="en-US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54296" name="Rectangle 287"/>
          <p:cNvSpPr>
            <a:spLocks noChangeArrowheads="1"/>
          </p:cNvSpPr>
          <p:nvPr/>
        </p:nvSpPr>
        <p:spPr bwMode="auto">
          <a:xfrm>
            <a:off x="1889760" y="1668585"/>
            <a:ext cx="326371" cy="369332"/>
          </a:xfrm>
          <a:prstGeom prst="rect">
            <a:avLst/>
          </a:prstGeom>
          <a:solidFill>
            <a:schemeClr val="bg1">
              <a:alpha val="85000"/>
            </a:schemeClr>
          </a:solidFill>
          <a:ln w="12700">
            <a:noFill/>
            <a:miter lim="800000"/>
            <a:headEnd type="none" w="sm" len="sm"/>
            <a:tailEnd type="none" w="lg" len="med"/>
          </a:ln>
        </p:spPr>
        <p:txBody>
          <a:bodyPr wrap="none" lIns="45720" tIns="45720" rIns="45720" bIns="4572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  <a:latin typeface="+mj-lt"/>
              </a:rPr>
              <a:t>12</a:t>
            </a:r>
            <a:endParaRPr lang="en-US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198" name="Rectangle 3"/>
          <p:cNvSpPr>
            <a:spLocks noChangeArrowheads="1"/>
          </p:cNvSpPr>
          <p:nvPr/>
        </p:nvSpPr>
        <p:spPr bwMode="auto">
          <a:xfrm>
            <a:off x="152400" y="5118100"/>
            <a:ext cx="2613631" cy="116339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med" len="lg"/>
          </a:ln>
        </p:spPr>
        <p:txBody>
          <a:bodyPr wrap="square" lIns="0" tIns="0" rIns="0" bIns="0">
            <a:spAutoFit/>
          </a:bodyPr>
          <a:lstStyle/>
          <a:p>
            <a:pPr>
              <a:spcBef>
                <a:spcPct val="10000"/>
              </a:spcBef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0 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lw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R10,9(R1)</a:t>
            </a:r>
          </a:p>
          <a:p>
            <a:pPr>
              <a:spcBef>
                <a:spcPct val="10000"/>
              </a:spcBef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4  sub R11,R2,R3</a:t>
            </a:r>
          </a:p>
          <a:p>
            <a:pPr>
              <a:spcBef>
                <a:spcPct val="10000"/>
              </a:spcBef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8  and R12,R4,R5</a:t>
            </a:r>
            <a:b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12  or  R13,R6,R7</a:t>
            </a:r>
          </a:p>
        </p:txBody>
      </p:sp>
      <p:sp>
        <p:nvSpPr>
          <p:cNvPr id="199" name="Rectangle 287"/>
          <p:cNvSpPr>
            <a:spLocks noChangeArrowheads="1"/>
          </p:cNvSpPr>
          <p:nvPr/>
        </p:nvSpPr>
        <p:spPr bwMode="auto">
          <a:xfrm>
            <a:off x="158725" y="4490437"/>
            <a:ext cx="345607" cy="369332"/>
          </a:xfrm>
          <a:prstGeom prst="rect">
            <a:avLst/>
          </a:prstGeom>
          <a:solidFill>
            <a:schemeClr val="bg1">
              <a:alpha val="85000"/>
            </a:schemeClr>
          </a:solidFill>
          <a:ln w="12700">
            <a:noFill/>
            <a:miter lim="800000"/>
            <a:headEnd type="none" w="sm" len="sm"/>
            <a:tailEnd type="none" w="lg" len="med"/>
          </a:ln>
        </p:spPr>
        <p:txBody>
          <a:bodyPr wrap="none" lIns="45720" tIns="45720" rIns="45720" bIns="4572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  <a:latin typeface="+mj-lt"/>
              </a:rPr>
              <a:t>PC</a:t>
            </a:r>
            <a:endParaRPr lang="en-US" dirty="0">
              <a:solidFill>
                <a:srgbClr val="FF0000"/>
              </a:solidFill>
              <a:latin typeface="+mj-lt"/>
            </a:endParaRPr>
          </a:p>
        </p:txBody>
      </p:sp>
      <p:cxnSp>
        <p:nvCxnSpPr>
          <p:cNvPr id="200" name="Straight Arrow Connector 6"/>
          <p:cNvCxnSpPr>
            <a:stCxn id="199" idx="2"/>
          </p:cNvCxnSpPr>
          <p:nvPr/>
        </p:nvCxnSpPr>
        <p:spPr bwMode="auto">
          <a:xfrm>
            <a:off x="331529" y="4859769"/>
            <a:ext cx="5497" cy="228600"/>
          </a:xfrm>
          <a:prstGeom prst="straightConnector1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arrow"/>
          </a:ln>
          <a:effectLst/>
        </p:spPr>
      </p:cxnSp>
      <p:sp>
        <p:nvSpPr>
          <p:cNvPr id="201" name="Rectangle 287"/>
          <p:cNvSpPr>
            <a:spLocks noChangeArrowheads="1"/>
          </p:cNvSpPr>
          <p:nvPr/>
        </p:nvSpPr>
        <p:spPr bwMode="auto">
          <a:xfrm>
            <a:off x="274320" y="2499360"/>
            <a:ext cx="209353" cy="369332"/>
          </a:xfrm>
          <a:prstGeom prst="rect">
            <a:avLst/>
          </a:prstGeom>
          <a:solidFill>
            <a:schemeClr val="bg1">
              <a:alpha val="85000"/>
            </a:schemeClr>
          </a:solidFill>
          <a:ln w="12700">
            <a:noFill/>
            <a:miter lim="800000"/>
            <a:headEnd type="none" w="sm" len="sm"/>
            <a:tailEnd type="none" w="lg" len="med"/>
          </a:ln>
        </p:spPr>
        <p:txBody>
          <a:bodyPr wrap="none" lIns="45720" tIns="45720" rIns="45720" bIns="4572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+mj-lt"/>
              </a:rPr>
              <a:t>8</a:t>
            </a:r>
          </a:p>
        </p:txBody>
      </p:sp>
      <p:sp>
        <p:nvSpPr>
          <p:cNvPr id="178" name="Rectangle 287"/>
          <p:cNvSpPr>
            <a:spLocks noChangeArrowheads="1"/>
          </p:cNvSpPr>
          <p:nvPr/>
        </p:nvSpPr>
        <p:spPr bwMode="auto">
          <a:xfrm>
            <a:off x="3881222" y="1642348"/>
            <a:ext cx="209353" cy="369332"/>
          </a:xfrm>
          <a:prstGeom prst="rect">
            <a:avLst/>
          </a:prstGeom>
          <a:solidFill>
            <a:schemeClr val="bg1">
              <a:alpha val="85000"/>
            </a:schemeClr>
          </a:solidFill>
          <a:ln w="12700">
            <a:noFill/>
            <a:miter lim="800000"/>
            <a:headEnd type="none" w="sm" len="sm"/>
            <a:tailEnd type="none" w="lg" len="med"/>
          </a:ln>
        </p:spPr>
        <p:txBody>
          <a:bodyPr wrap="none" lIns="45720" tIns="45720" rIns="45720" bIns="4572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+mj-lt"/>
              </a:rPr>
              <a:t>8</a:t>
            </a:r>
          </a:p>
        </p:txBody>
      </p:sp>
      <p:sp>
        <p:nvSpPr>
          <p:cNvPr id="179" name="Rectangle 287"/>
          <p:cNvSpPr>
            <a:spLocks noChangeArrowheads="1"/>
          </p:cNvSpPr>
          <p:nvPr/>
        </p:nvSpPr>
        <p:spPr bwMode="auto">
          <a:xfrm>
            <a:off x="3733800" y="4431268"/>
            <a:ext cx="451406" cy="369332"/>
          </a:xfrm>
          <a:prstGeom prst="rect">
            <a:avLst/>
          </a:prstGeom>
          <a:solidFill>
            <a:schemeClr val="bg1">
              <a:alpha val="85000"/>
            </a:schemeClr>
          </a:solidFill>
          <a:ln w="12700">
            <a:noFill/>
            <a:miter lim="800000"/>
            <a:headEnd type="none" w="sm" len="sm"/>
            <a:tailEnd type="none" w="lg" len="med"/>
          </a:ln>
        </p:spPr>
        <p:txBody>
          <a:bodyPr wrap="none" lIns="45720" tIns="45720" rIns="45720" bIns="4572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  <a:latin typeface="+mj-lt"/>
              </a:rPr>
              <a:t>R11</a:t>
            </a:r>
            <a:endParaRPr lang="en-US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353" name="Rectangle 287"/>
          <p:cNvSpPr>
            <a:spLocks noChangeArrowheads="1"/>
          </p:cNvSpPr>
          <p:nvPr/>
        </p:nvSpPr>
        <p:spPr bwMode="auto">
          <a:xfrm>
            <a:off x="3762072" y="2514600"/>
            <a:ext cx="475451" cy="369332"/>
          </a:xfrm>
          <a:prstGeom prst="rect">
            <a:avLst/>
          </a:prstGeom>
          <a:solidFill>
            <a:schemeClr val="bg1">
              <a:alpha val="85000"/>
            </a:schemeClr>
          </a:solidFill>
          <a:ln w="12700">
            <a:noFill/>
            <a:miter lim="800000"/>
            <a:headEnd type="none" w="sm" len="sm"/>
            <a:tailEnd type="none" w="lg" len="med"/>
          </a:ln>
        </p:spPr>
        <p:txBody>
          <a:bodyPr wrap="none" lIns="45720" tIns="45720" rIns="45720" bIns="4572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  <a:latin typeface="+mj-lt"/>
              </a:rPr>
              <a:t>[R2]</a:t>
            </a:r>
            <a:endParaRPr lang="en-US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182" name="Rectangle 287"/>
          <p:cNvSpPr>
            <a:spLocks noChangeArrowheads="1"/>
          </p:cNvSpPr>
          <p:nvPr/>
        </p:nvSpPr>
        <p:spPr bwMode="auto">
          <a:xfrm>
            <a:off x="5721706" y="2881141"/>
            <a:ext cx="707886" cy="369332"/>
          </a:xfrm>
          <a:prstGeom prst="rect">
            <a:avLst/>
          </a:prstGeom>
          <a:solidFill>
            <a:schemeClr val="bg1">
              <a:alpha val="85000"/>
            </a:schemeClr>
          </a:solidFill>
          <a:ln w="12700">
            <a:noFill/>
            <a:miter lim="800000"/>
            <a:headEnd type="none" w="sm" len="sm"/>
            <a:tailEnd type="none" w="lg" len="med"/>
          </a:ln>
        </p:spPr>
        <p:txBody>
          <a:bodyPr wrap="none" lIns="45720" tIns="45720" rIns="45720" bIns="4572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  <a:latin typeface="+mj-lt"/>
              </a:rPr>
              <a:t>[R1]+9</a:t>
            </a:r>
            <a:endParaRPr lang="en-US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183" name="Rectangle 287"/>
          <p:cNvSpPr>
            <a:spLocks noChangeArrowheads="1"/>
          </p:cNvSpPr>
          <p:nvPr/>
        </p:nvSpPr>
        <p:spPr bwMode="auto">
          <a:xfrm>
            <a:off x="5770984" y="4230916"/>
            <a:ext cx="451406" cy="369332"/>
          </a:xfrm>
          <a:prstGeom prst="rect">
            <a:avLst/>
          </a:prstGeom>
          <a:solidFill>
            <a:schemeClr val="bg1">
              <a:alpha val="85000"/>
            </a:schemeClr>
          </a:solidFill>
          <a:ln w="12700">
            <a:noFill/>
            <a:miter lim="800000"/>
            <a:headEnd type="none" w="sm" len="sm"/>
            <a:tailEnd type="none" w="lg" len="med"/>
          </a:ln>
        </p:spPr>
        <p:txBody>
          <a:bodyPr wrap="none" lIns="45720" tIns="45720" rIns="45720" bIns="4572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  <a:latin typeface="+mj-lt"/>
              </a:rPr>
              <a:t>R10</a:t>
            </a:r>
            <a:endParaRPr lang="en-US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184" name="Rectangle 287"/>
          <p:cNvSpPr>
            <a:spLocks noChangeArrowheads="1"/>
          </p:cNvSpPr>
          <p:nvPr/>
        </p:nvSpPr>
        <p:spPr bwMode="auto">
          <a:xfrm>
            <a:off x="3747002" y="2820960"/>
            <a:ext cx="475451" cy="369332"/>
          </a:xfrm>
          <a:prstGeom prst="rect">
            <a:avLst/>
          </a:prstGeom>
          <a:solidFill>
            <a:schemeClr val="bg1">
              <a:alpha val="85000"/>
            </a:schemeClr>
          </a:solidFill>
          <a:ln w="12700">
            <a:noFill/>
            <a:miter lim="800000"/>
            <a:headEnd type="none" w="sm" len="sm"/>
            <a:tailEnd type="none" w="lg" len="med"/>
          </a:ln>
        </p:spPr>
        <p:txBody>
          <a:bodyPr wrap="none" lIns="45720" tIns="45720" rIns="45720" bIns="4572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  <a:latin typeface="+mj-lt"/>
              </a:rPr>
              <a:t>[R3]</a:t>
            </a:r>
            <a:endParaRPr lang="en-US" dirty="0">
              <a:solidFill>
                <a:srgbClr val="FF000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49612766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  <p:extLst mod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>
          <a:xfrm>
            <a:off x="2011167" y="76198"/>
            <a:ext cx="5612734" cy="762000"/>
          </a:xfrm>
        </p:spPr>
        <p:txBody>
          <a:bodyPr/>
          <a:lstStyle/>
          <a:p>
            <a:pPr algn="l"/>
            <a:r>
              <a:rPr lang="en-US" sz="3200" dirty="0" smtClean="0">
                <a:solidFill>
                  <a:srgbClr val="0070C0"/>
                </a:solidFill>
              </a:rPr>
              <a:t>Pipelined execution: cycle 4</a:t>
            </a:r>
          </a:p>
        </p:txBody>
      </p:sp>
      <p:grpSp>
        <p:nvGrpSpPr>
          <p:cNvPr id="54275" name="Group 313"/>
          <p:cNvGrpSpPr>
            <a:grpSpLocks/>
          </p:cNvGrpSpPr>
          <p:nvPr/>
        </p:nvGrpSpPr>
        <p:grpSpPr bwMode="auto">
          <a:xfrm>
            <a:off x="152400" y="838199"/>
            <a:ext cx="8690415" cy="4191001"/>
            <a:chOff x="360" y="1438"/>
            <a:chExt cx="4808" cy="2450"/>
          </a:xfrm>
        </p:grpSpPr>
        <p:sp>
          <p:nvSpPr>
            <p:cNvPr id="54297" name="Rectangle 137"/>
            <p:cNvSpPr>
              <a:spLocks noChangeArrowheads="1"/>
            </p:cNvSpPr>
            <p:nvPr/>
          </p:nvSpPr>
          <p:spPr bwMode="auto">
            <a:xfrm>
              <a:off x="720" y="2440"/>
              <a:ext cx="567" cy="582"/>
            </a:xfrm>
            <a:prstGeom prst="rect">
              <a:avLst/>
            </a:prstGeom>
            <a:solidFill>
              <a:srgbClr val="FFFFCC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298" name="Line 14"/>
            <p:cNvSpPr>
              <a:spLocks noChangeShapeType="1"/>
            </p:cNvSpPr>
            <p:nvPr/>
          </p:nvSpPr>
          <p:spPr bwMode="auto">
            <a:xfrm>
              <a:off x="588" y="2513"/>
              <a:ext cx="136" cy="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299" name="Line 15"/>
            <p:cNvSpPr>
              <a:spLocks noChangeShapeType="1"/>
            </p:cNvSpPr>
            <p:nvPr/>
          </p:nvSpPr>
          <p:spPr bwMode="auto">
            <a:xfrm flipH="1" flipV="1">
              <a:off x="1989" y="3197"/>
              <a:ext cx="34" cy="5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00" name="Rectangle 16"/>
            <p:cNvSpPr>
              <a:spLocks noChangeArrowheads="1"/>
            </p:cNvSpPr>
            <p:nvPr/>
          </p:nvSpPr>
          <p:spPr bwMode="auto">
            <a:xfrm>
              <a:off x="1915" y="3275"/>
              <a:ext cx="103" cy="1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algn="ctr"/>
              <a:endParaRPr lang="en-US" sz="600">
                <a:solidFill>
                  <a:srgbClr val="000000"/>
                </a:solidFill>
                <a:latin typeface="+mj-lt"/>
              </a:endParaRPr>
            </a:p>
            <a:p>
              <a:pPr algn="ctr"/>
              <a:endParaRPr lang="en-US" sz="6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301" name="Line 17"/>
            <p:cNvSpPr>
              <a:spLocks noChangeShapeType="1"/>
            </p:cNvSpPr>
            <p:nvPr/>
          </p:nvSpPr>
          <p:spPr bwMode="auto">
            <a:xfrm flipH="1" flipV="1">
              <a:off x="2338" y="3197"/>
              <a:ext cx="32" cy="5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02" name="Freeform 18"/>
            <p:cNvSpPr>
              <a:spLocks/>
            </p:cNvSpPr>
            <p:nvPr/>
          </p:nvSpPr>
          <p:spPr bwMode="auto">
            <a:xfrm>
              <a:off x="1810" y="2350"/>
              <a:ext cx="519" cy="612"/>
            </a:xfrm>
            <a:custGeom>
              <a:avLst/>
              <a:gdLst>
                <a:gd name="T0" fmla="*/ 518 w 519"/>
                <a:gd name="T1" fmla="*/ 611 h 541"/>
                <a:gd name="T2" fmla="*/ 518 w 519"/>
                <a:gd name="T3" fmla="*/ 0 h 541"/>
                <a:gd name="T4" fmla="*/ 0 w 519"/>
                <a:gd name="T5" fmla="*/ 0 h 541"/>
                <a:gd name="T6" fmla="*/ 0 w 519"/>
                <a:gd name="T7" fmla="*/ 611 h 541"/>
                <a:gd name="T8" fmla="*/ 518 w 519"/>
                <a:gd name="T9" fmla="*/ 611 h 541"/>
                <a:gd name="T10" fmla="*/ 518 w 519"/>
                <a:gd name="T11" fmla="*/ 611 h 5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19"/>
                <a:gd name="T19" fmla="*/ 0 h 541"/>
                <a:gd name="T20" fmla="*/ 519 w 519"/>
                <a:gd name="T21" fmla="*/ 541 h 54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19" h="541">
                  <a:moveTo>
                    <a:pt x="518" y="540"/>
                  </a:moveTo>
                  <a:lnTo>
                    <a:pt x="518" y="0"/>
                  </a:lnTo>
                  <a:lnTo>
                    <a:pt x="0" y="0"/>
                  </a:lnTo>
                  <a:lnTo>
                    <a:pt x="0" y="540"/>
                  </a:lnTo>
                  <a:lnTo>
                    <a:pt x="518" y="540"/>
                  </a:lnTo>
                </a:path>
              </a:pathLst>
            </a:custGeom>
            <a:solidFill>
              <a:srgbClr val="CCFFFF"/>
            </a:solidFill>
            <a:ln w="190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03" name="Rectangle 19"/>
            <p:cNvSpPr>
              <a:spLocks noChangeArrowheads="1"/>
            </p:cNvSpPr>
            <p:nvPr/>
          </p:nvSpPr>
          <p:spPr bwMode="auto">
            <a:xfrm>
              <a:off x="1885" y="2392"/>
              <a:ext cx="103" cy="1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algn="ctr"/>
              <a:endParaRPr lang="en-US" sz="600">
                <a:solidFill>
                  <a:srgbClr val="000000"/>
                </a:solidFill>
                <a:latin typeface="+mj-lt"/>
              </a:endParaRPr>
            </a:p>
            <a:p>
              <a:pPr algn="ctr"/>
              <a:endParaRPr lang="en-US" sz="6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304" name="Line 20"/>
            <p:cNvSpPr>
              <a:spLocks noChangeShapeType="1"/>
            </p:cNvSpPr>
            <p:nvPr/>
          </p:nvSpPr>
          <p:spPr bwMode="auto">
            <a:xfrm>
              <a:off x="1657" y="3225"/>
              <a:ext cx="434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05" name="Line 21"/>
            <p:cNvSpPr>
              <a:spLocks noChangeShapeType="1"/>
            </p:cNvSpPr>
            <p:nvPr/>
          </p:nvSpPr>
          <p:spPr bwMode="auto">
            <a:xfrm flipV="1">
              <a:off x="2302" y="3225"/>
              <a:ext cx="131" cy="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06" name="Freeform 22"/>
            <p:cNvSpPr>
              <a:spLocks/>
            </p:cNvSpPr>
            <p:nvPr/>
          </p:nvSpPr>
          <p:spPr bwMode="auto">
            <a:xfrm>
              <a:off x="1629" y="2679"/>
              <a:ext cx="24" cy="24"/>
            </a:xfrm>
            <a:custGeom>
              <a:avLst/>
              <a:gdLst>
                <a:gd name="T0" fmla="*/ 10 w 24"/>
                <a:gd name="T1" fmla="*/ 23 h 24"/>
                <a:gd name="T2" fmla="*/ 14 w 24"/>
                <a:gd name="T3" fmla="*/ 23 h 24"/>
                <a:gd name="T4" fmla="*/ 16 w 24"/>
                <a:gd name="T5" fmla="*/ 23 h 24"/>
                <a:gd name="T6" fmla="*/ 18 w 24"/>
                <a:gd name="T7" fmla="*/ 21 h 24"/>
                <a:gd name="T8" fmla="*/ 18 w 24"/>
                <a:gd name="T9" fmla="*/ 21 h 24"/>
                <a:gd name="T10" fmla="*/ 20 w 24"/>
                <a:gd name="T11" fmla="*/ 19 h 24"/>
                <a:gd name="T12" fmla="*/ 22 w 24"/>
                <a:gd name="T13" fmla="*/ 19 h 24"/>
                <a:gd name="T14" fmla="*/ 22 w 24"/>
                <a:gd name="T15" fmla="*/ 17 h 24"/>
                <a:gd name="T16" fmla="*/ 23 w 24"/>
                <a:gd name="T17" fmla="*/ 15 h 24"/>
                <a:gd name="T18" fmla="*/ 23 w 24"/>
                <a:gd name="T19" fmla="*/ 13 h 24"/>
                <a:gd name="T20" fmla="*/ 23 w 24"/>
                <a:gd name="T21" fmla="*/ 11 h 24"/>
                <a:gd name="T22" fmla="*/ 23 w 24"/>
                <a:gd name="T23" fmla="*/ 9 h 24"/>
                <a:gd name="T24" fmla="*/ 23 w 24"/>
                <a:gd name="T25" fmla="*/ 7 h 24"/>
                <a:gd name="T26" fmla="*/ 22 w 24"/>
                <a:gd name="T27" fmla="*/ 5 h 24"/>
                <a:gd name="T28" fmla="*/ 22 w 24"/>
                <a:gd name="T29" fmla="*/ 5 h 24"/>
                <a:gd name="T30" fmla="*/ 20 w 24"/>
                <a:gd name="T31" fmla="*/ 4 h 24"/>
                <a:gd name="T32" fmla="*/ 18 w 24"/>
                <a:gd name="T33" fmla="*/ 2 h 24"/>
                <a:gd name="T34" fmla="*/ 18 w 24"/>
                <a:gd name="T35" fmla="*/ 2 h 24"/>
                <a:gd name="T36" fmla="*/ 16 w 24"/>
                <a:gd name="T37" fmla="*/ 0 h 24"/>
                <a:gd name="T38" fmla="*/ 14 w 24"/>
                <a:gd name="T39" fmla="*/ 0 h 24"/>
                <a:gd name="T40" fmla="*/ 12 w 24"/>
                <a:gd name="T41" fmla="*/ 0 h 24"/>
                <a:gd name="T42" fmla="*/ 10 w 24"/>
                <a:gd name="T43" fmla="*/ 0 h 24"/>
                <a:gd name="T44" fmla="*/ 8 w 24"/>
                <a:gd name="T45" fmla="*/ 0 h 24"/>
                <a:gd name="T46" fmla="*/ 6 w 24"/>
                <a:gd name="T47" fmla="*/ 2 h 24"/>
                <a:gd name="T48" fmla="*/ 4 w 24"/>
                <a:gd name="T49" fmla="*/ 2 h 24"/>
                <a:gd name="T50" fmla="*/ 4 w 24"/>
                <a:gd name="T51" fmla="*/ 4 h 24"/>
                <a:gd name="T52" fmla="*/ 2 w 24"/>
                <a:gd name="T53" fmla="*/ 5 h 24"/>
                <a:gd name="T54" fmla="*/ 2 w 24"/>
                <a:gd name="T55" fmla="*/ 5 h 24"/>
                <a:gd name="T56" fmla="*/ 0 w 24"/>
                <a:gd name="T57" fmla="*/ 7 h 24"/>
                <a:gd name="T58" fmla="*/ 0 w 24"/>
                <a:gd name="T59" fmla="*/ 9 h 24"/>
                <a:gd name="T60" fmla="*/ 0 w 24"/>
                <a:gd name="T61" fmla="*/ 11 h 24"/>
                <a:gd name="T62" fmla="*/ 0 w 24"/>
                <a:gd name="T63" fmla="*/ 13 h 24"/>
                <a:gd name="T64" fmla="*/ 0 w 24"/>
                <a:gd name="T65" fmla="*/ 15 h 24"/>
                <a:gd name="T66" fmla="*/ 2 w 24"/>
                <a:gd name="T67" fmla="*/ 17 h 24"/>
                <a:gd name="T68" fmla="*/ 2 w 24"/>
                <a:gd name="T69" fmla="*/ 19 h 24"/>
                <a:gd name="T70" fmla="*/ 4 w 24"/>
                <a:gd name="T71" fmla="*/ 19 h 24"/>
                <a:gd name="T72" fmla="*/ 4 w 24"/>
                <a:gd name="T73" fmla="*/ 21 h 24"/>
                <a:gd name="T74" fmla="*/ 6 w 24"/>
                <a:gd name="T75" fmla="*/ 21 h 24"/>
                <a:gd name="T76" fmla="*/ 8 w 24"/>
                <a:gd name="T77" fmla="*/ 23 h 24"/>
                <a:gd name="T78" fmla="*/ 10 w 24"/>
                <a:gd name="T79" fmla="*/ 23 h 24"/>
                <a:gd name="T80" fmla="*/ 12 w 24"/>
                <a:gd name="T81" fmla="*/ 23 h 24"/>
                <a:gd name="T82" fmla="*/ 12 w 24"/>
                <a:gd name="T83" fmla="*/ 23 h 24"/>
                <a:gd name="T84" fmla="*/ 10 w 24"/>
                <a:gd name="T85" fmla="*/ 23 h 2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4"/>
                <a:gd name="T130" fmla="*/ 0 h 24"/>
                <a:gd name="T131" fmla="*/ 24 w 24"/>
                <a:gd name="T132" fmla="*/ 24 h 24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4" h="24">
                  <a:moveTo>
                    <a:pt x="10" y="23"/>
                  </a:moveTo>
                  <a:lnTo>
                    <a:pt x="14" y="23"/>
                  </a:lnTo>
                  <a:lnTo>
                    <a:pt x="16" y="23"/>
                  </a:lnTo>
                  <a:lnTo>
                    <a:pt x="18" y="21"/>
                  </a:lnTo>
                  <a:lnTo>
                    <a:pt x="20" y="19"/>
                  </a:lnTo>
                  <a:lnTo>
                    <a:pt x="22" y="19"/>
                  </a:lnTo>
                  <a:lnTo>
                    <a:pt x="22" y="17"/>
                  </a:lnTo>
                  <a:lnTo>
                    <a:pt x="23" y="15"/>
                  </a:lnTo>
                  <a:lnTo>
                    <a:pt x="23" y="13"/>
                  </a:lnTo>
                  <a:lnTo>
                    <a:pt x="23" y="11"/>
                  </a:lnTo>
                  <a:lnTo>
                    <a:pt x="23" y="9"/>
                  </a:lnTo>
                  <a:lnTo>
                    <a:pt x="23" y="7"/>
                  </a:lnTo>
                  <a:lnTo>
                    <a:pt x="22" y="5"/>
                  </a:lnTo>
                  <a:lnTo>
                    <a:pt x="20" y="4"/>
                  </a:lnTo>
                  <a:lnTo>
                    <a:pt x="18" y="2"/>
                  </a:lnTo>
                  <a:lnTo>
                    <a:pt x="16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8" y="0"/>
                  </a:lnTo>
                  <a:lnTo>
                    <a:pt x="6" y="2"/>
                  </a:lnTo>
                  <a:lnTo>
                    <a:pt x="4" y="2"/>
                  </a:lnTo>
                  <a:lnTo>
                    <a:pt x="4" y="4"/>
                  </a:lnTo>
                  <a:lnTo>
                    <a:pt x="2" y="5"/>
                  </a:lnTo>
                  <a:lnTo>
                    <a:pt x="0" y="7"/>
                  </a:lnTo>
                  <a:lnTo>
                    <a:pt x="0" y="9"/>
                  </a:lnTo>
                  <a:lnTo>
                    <a:pt x="0" y="11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2" y="17"/>
                  </a:lnTo>
                  <a:lnTo>
                    <a:pt x="2" y="19"/>
                  </a:lnTo>
                  <a:lnTo>
                    <a:pt x="4" y="19"/>
                  </a:lnTo>
                  <a:lnTo>
                    <a:pt x="4" y="21"/>
                  </a:lnTo>
                  <a:lnTo>
                    <a:pt x="6" y="21"/>
                  </a:lnTo>
                  <a:lnTo>
                    <a:pt x="8" y="23"/>
                  </a:lnTo>
                  <a:lnTo>
                    <a:pt x="10" y="23"/>
                  </a:lnTo>
                  <a:lnTo>
                    <a:pt x="12" y="23"/>
                  </a:lnTo>
                  <a:lnTo>
                    <a:pt x="10" y="23"/>
                  </a:lnTo>
                </a:path>
              </a:pathLst>
            </a:custGeom>
            <a:solidFill>
              <a:srgbClr val="000000"/>
            </a:solidFill>
            <a:ln w="9525" cap="rnd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07" name="Freeform 23"/>
            <p:cNvSpPr>
              <a:spLocks/>
            </p:cNvSpPr>
            <p:nvPr/>
          </p:nvSpPr>
          <p:spPr bwMode="auto">
            <a:xfrm>
              <a:off x="1629" y="2586"/>
              <a:ext cx="24" cy="24"/>
            </a:xfrm>
            <a:custGeom>
              <a:avLst/>
              <a:gdLst>
                <a:gd name="T0" fmla="*/ 10 w 24"/>
                <a:gd name="T1" fmla="*/ 23 h 24"/>
                <a:gd name="T2" fmla="*/ 14 w 24"/>
                <a:gd name="T3" fmla="*/ 23 h 24"/>
                <a:gd name="T4" fmla="*/ 16 w 24"/>
                <a:gd name="T5" fmla="*/ 23 h 24"/>
                <a:gd name="T6" fmla="*/ 18 w 24"/>
                <a:gd name="T7" fmla="*/ 21 h 24"/>
                <a:gd name="T8" fmla="*/ 18 w 24"/>
                <a:gd name="T9" fmla="*/ 21 h 24"/>
                <a:gd name="T10" fmla="*/ 20 w 24"/>
                <a:gd name="T11" fmla="*/ 19 h 24"/>
                <a:gd name="T12" fmla="*/ 22 w 24"/>
                <a:gd name="T13" fmla="*/ 19 h 24"/>
                <a:gd name="T14" fmla="*/ 22 w 24"/>
                <a:gd name="T15" fmla="*/ 17 h 24"/>
                <a:gd name="T16" fmla="*/ 23 w 24"/>
                <a:gd name="T17" fmla="*/ 15 h 24"/>
                <a:gd name="T18" fmla="*/ 23 w 24"/>
                <a:gd name="T19" fmla="*/ 13 h 24"/>
                <a:gd name="T20" fmla="*/ 23 w 24"/>
                <a:gd name="T21" fmla="*/ 11 h 24"/>
                <a:gd name="T22" fmla="*/ 23 w 24"/>
                <a:gd name="T23" fmla="*/ 9 h 24"/>
                <a:gd name="T24" fmla="*/ 23 w 24"/>
                <a:gd name="T25" fmla="*/ 7 h 24"/>
                <a:gd name="T26" fmla="*/ 22 w 24"/>
                <a:gd name="T27" fmla="*/ 5 h 24"/>
                <a:gd name="T28" fmla="*/ 22 w 24"/>
                <a:gd name="T29" fmla="*/ 5 h 24"/>
                <a:gd name="T30" fmla="*/ 20 w 24"/>
                <a:gd name="T31" fmla="*/ 4 h 24"/>
                <a:gd name="T32" fmla="*/ 18 w 24"/>
                <a:gd name="T33" fmla="*/ 2 h 24"/>
                <a:gd name="T34" fmla="*/ 18 w 24"/>
                <a:gd name="T35" fmla="*/ 2 h 24"/>
                <a:gd name="T36" fmla="*/ 16 w 24"/>
                <a:gd name="T37" fmla="*/ 0 h 24"/>
                <a:gd name="T38" fmla="*/ 14 w 24"/>
                <a:gd name="T39" fmla="*/ 0 h 24"/>
                <a:gd name="T40" fmla="*/ 12 w 24"/>
                <a:gd name="T41" fmla="*/ 0 h 24"/>
                <a:gd name="T42" fmla="*/ 10 w 24"/>
                <a:gd name="T43" fmla="*/ 0 h 24"/>
                <a:gd name="T44" fmla="*/ 8 w 24"/>
                <a:gd name="T45" fmla="*/ 0 h 24"/>
                <a:gd name="T46" fmla="*/ 6 w 24"/>
                <a:gd name="T47" fmla="*/ 2 h 24"/>
                <a:gd name="T48" fmla="*/ 4 w 24"/>
                <a:gd name="T49" fmla="*/ 2 h 24"/>
                <a:gd name="T50" fmla="*/ 4 w 24"/>
                <a:gd name="T51" fmla="*/ 4 h 24"/>
                <a:gd name="T52" fmla="*/ 2 w 24"/>
                <a:gd name="T53" fmla="*/ 5 h 24"/>
                <a:gd name="T54" fmla="*/ 2 w 24"/>
                <a:gd name="T55" fmla="*/ 5 h 24"/>
                <a:gd name="T56" fmla="*/ 0 w 24"/>
                <a:gd name="T57" fmla="*/ 7 h 24"/>
                <a:gd name="T58" fmla="*/ 0 w 24"/>
                <a:gd name="T59" fmla="*/ 9 h 24"/>
                <a:gd name="T60" fmla="*/ 0 w 24"/>
                <a:gd name="T61" fmla="*/ 11 h 24"/>
                <a:gd name="T62" fmla="*/ 0 w 24"/>
                <a:gd name="T63" fmla="*/ 13 h 24"/>
                <a:gd name="T64" fmla="*/ 0 w 24"/>
                <a:gd name="T65" fmla="*/ 15 h 24"/>
                <a:gd name="T66" fmla="*/ 2 w 24"/>
                <a:gd name="T67" fmla="*/ 17 h 24"/>
                <a:gd name="T68" fmla="*/ 2 w 24"/>
                <a:gd name="T69" fmla="*/ 19 h 24"/>
                <a:gd name="T70" fmla="*/ 4 w 24"/>
                <a:gd name="T71" fmla="*/ 19 h 24"/>
                <a:gd name="T72" fmla="*/ 4 w 24"/>
                <a:gd name="T73" fmla="*/ 21 h 24"/>
                <a:gd name="T74" fmla="*/ 6 w 24"/>
                <a:gd name="T75" fmla="*/ 21 h 24"/>
                <a:gd name="T76" fmla="*/ 8 w 24"/>
                <a:gd name="T77" fmla="*/ 23 h 24"/>
                <a:gd name="T78" fmla="*/ 10 w 24"/>
                <a:gd name="T79" fmla="*/ 23 h 24"/>
                <a:gd name="T80" fmla="*/ 12 w 24"/>
                <a:gd name="T81" fmla="*/ 23 h 24"/>
                <a:gd name="T82" fmla="*/ 12 w 24"/>
                <a:gd name="T83" fmla="*/ 23 h 24"/>
                <a:gd name="T84" fmla="*/ 10 w 24"/>
                <a:gd name="T85" fmla="*/ 23 h 2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4"/>
                <a:gd name="T130" fmla="*/ 0 h 24"/>
                <a:gd name="T131" fmla="*/ 24 w 24"/>
                <a:gd name="T132" fmla="*/ 24 h 24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4" h="24">
                  <a:moveTo>
                    <a:pt x="10" y="23"/>
                  </a:moveTo>
                  <a:lnTo>
                    <a:pt x="14" y="23"/>
                  </a:lnTo>
                  <a:lnTo>
                    <a:pt x="16" y="23"/>
                  </a:lnTo>
                  <a:lnTo>
                    <a:pt x="18" y="21"/>
                  </a:lnTo>
                  <a:lnTo>
                    <a:pt x="20" y="19"/>
                  </a:lnTo>
                  <a:lnTo>
                    <a:pt x="22" y="19"/>
                  </a:lnTo>
                  <a:lnTo>
                    <a:pt x="22" y="17"/>
                  </a:lnTo>
                  <a:lnTo>
                    <a:pt x="23" y="15"/>
                  </a:lnTo>
                  <a:lnTo>
                    <a:pt x="23" y="13"/>
                  </a:lnTo>
                  <a:lnTo>
                    <a:pt x="23" y="11"/>
                  </a:lnTo>
                  <a:lnTo>
                    <a:pt x="23" y="9"/>
                  </a:lnTo>
                  <a:lnTo>
                    <a:pt x="23" y="7"/>
                  </a:lnTo>
                  <a:lnTo>
                    <a:pt x="22" y="5"/>
                  </a:lnTo>
                  <a:lnTo>
                    <a:pt x="20" y="4"/>
                  </a:lnTo>
                  <a:lnTo>
                    <a:pt x="18" y="2"/>
                  </a:lnTo>
                  <a:lnTo>
                    <a:pt x="16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8" y="0"/>
                  </a:lnTo>
                  <a:lnTo>
                    <a:pt x="6" y="2"/>
                  </a:lnTo>
                  <a:lnTo>
                    <a:pt x="4" y="2"/>
                  </a:lnTo>
                  <a:lnTo>
                    <a:pt x="4" y="4"/>
                  </a:lnTo>
                  <a:lnTo>
                    <a:pt x="2" y="5"/>
                  </a:lnTo>
                  <a:lnTo>
                    <a:pt x="0" y="7"/>
                  </a:lnTo>
                  <a:lnTo>
                    <a:pt x="0" y="9"/>
                  </a:lnTo>
                  <a:lnTo>
                    <a:pt x="0" y="11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2" y="17"/>
                  </a:lnTo>
                  <a:lnTo>
                    <a:pt x="2" y="19"/>
                  </a:lnTo>
                  <a:lnTo>
                    <a:pt x="4" y="19"/>
                  </a:lnTo>
                  <a:lnTo>
                    <a:pt x="4" y="21"/>
                  </a:lnTo>
                  <a:lnTo>
                    <a:pt x="6" y="21"/>
                  </a:lnTo>
                  <a:lnTo>
                    <a:pt x="8" y="23"/>
                  </a:lnTo>
                  <a:lnTo>
                    <a:pt x="10" y="23"/>
                  </a:lnTo>
                  <a:lnTo>
                    <a:pt x="12" y="23"/>
                  </a:lnTo>
                  <a:lnTo>
                    <a:pt x="10" y="23"/>
                  </a:lnTo>
                </a:path>
              </a:pathLst>
            </a:custGeom>
            <a:solidFill>
              <a:srgbClr val="000000"/>
            </a:solidFill>
            <a:ln w="9525" cap="rnd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08" name="Freeform 24"/>
            <p:cNvSpPr>
              <a:spLocks/>
            </p:cNvSpPr>
            <p:nvPr/>
          </p:nvSpPr>
          <p:spPr bwMode="auto">
            <a:xfrm>
              <a:off x="1629" y="3432"/>
              <a:ext cx="24" cy="24"/>
            </a:xfrm>
            <a:custGeom>
              <a:avLst/>
              <a:gdLst>
                <a:gd name="T0" fmla="*/ 10 w 24"/>
                <a:gd name="T1" fmla="*/ 23 h 24"/>
                <a:gd name="T2" fmla="*/ 14 w 24"/>
                <a:gd name="T3" fmla="*/ 23 h 24"/>
                <a:gd name="T4" fmla="*/ 16 w 24"/>
                <a:gd name="T5" fmla="*/ 23 h 24"/>
                <a:gd name="T6" fmla="*/ 16 w 24"/>
                <a:gd name="T7" fmla="*/ 21 h 24"/>
                <a:gd name="T8" fmla="*/ 18 w 24"/>
                <a:gd name="T9" fmla="*/ 21 h 24"/>
                <a:gd name="T10" fmla="*/ 20 w 24"/>
                <a:gd name="T11" fmla="*/ 19 h 24"/>
                <a:gd name="T12" fmla="*/ 22 w 24"/>
                <a:gd name="T13" fmla="*/ 18 h 24"/>
                <a:gd name="T14" fmla="*/ 22 w 24"/>
                <a:gd name="T15" fmla="*/ 18 h 24"/>
                <a:gd name="T16" fmla="*/ 22 w 24"/>
                <a:gd name="T17" fmla="*/ 16 h 24"/>
                <a:gd name="T18" fmla="*/ 23 w 24"/>
                <a:gd name="T19" fmla="*/ 14 h 24"/>
                <a:gd name="T20" fmla="*/ 23 w 24"/>
                <a:gd name="T21" fmla="*/ 12 h 24"/>
                <a:gd name="T22" fmla="*/ 23 w 24"/>
                <a:gd name="T23" fmla="*/ 10 h 24"/>
                <a:gd name="T24" fmla="*/ 22 w 24"/>
                <a:gd name="T25" fmla="*/ 8 h 24"/>
                <a:gd name="T26" fmla="*/ 22 w 24"/>
                <a:gd name="T27" fmla="*/ 6 h 24"/>
                <a:gd name="T28" fmla="*/ 22 w 24"/>
                <a:gd name="T29" fmla="*/ 4 h 24"/>
                <a:gd name="T30" fmla="*/ 20 w 24"/>
                <a:gd name="T31" fmla="*/ 4 h 24"/>
                <a:gd name="T32" fmla="*/ 18 w 24"/>
                <a:gd name="T33" fmla="*/ 2 h 24"/>
                <a:gd name="T34" fmla="*/ 16 w 24"/>
                <a:gd name="T35" fmla="*/ 2 h 24"/>
                <a:gd name="T36" fmla="*/ 16 w 24"/>
                <a:gd name="T37" fmla="*/ 0 h 24"/>
                <a:gd name="T38" fmla="*/ 14 w 24"/>
                <a:gd name="T39" fmla="*/ 0 h 24"/>
                <a:gd name="T40" fmla="*/ 12 w 24"/>
                <a:gd name="T41" fmla="*/ 0 h 24"/>
                <a:gd name="T42" fmla="*/ 10 w 24"/>
                <a:gd name="T43" fmla="*/ 0 h 24"/>
                <a:gd name="T44" fmla="*/ 8 w 24"/>
                <a:gd name="T45" fmla="*/ 0 h 24"/>
                <a:gd name="T46" fmla="*/ 6 w 24"/>
                <a:gd name="T47" fmla="*/ 2 h 24"/>
                <a:gd name="T48" fmla="*/ 4 w 24"/>
                <a:gd name="T49" fmla="*/ 2 h 24"/>
                <a:gd name="T50" fmla="*/ 2 w 24"/>
                <a:gd name="T51" fmla="*/ 4 h 24"/>
                <a:gd name="T52" fmla="*/ 2 w 24"/>
                <a:gd name="T53" fmla="*/ 4 h 24"/>
                <a:gd name="T54" fmla="*/ 0 w 24"/>
                <a:gd name="T55" fmla="*/ 6 h 24"/>
                <a:gd name="T56" fmla="*/ 0 w 24"/>
                <a:gd name="T57" fmla="*/ 8 h 24"/>
                <a:gd name="T58" fmla="*/ 0 w 24"/>
                <a:gd name="T59" fmla="*/ 10 h 24"/>
                <a:gd name="T60" fmla="*/ 0 w 24"/>
                <a:gd name="T61" fmla="*/ 12 h 24"/>
                <a:gd name="T62" fmla="*/ 0 w 24"/>
                <a:gd name="T63" fmla="*/ 14 h 24"/>
                <a:gd name="T64" fmla="*/ 0 w 24"/>
                <a:gd name="T65" fmla="*/ 16 h 24"/>
                <a:gd name="T66" fmla="*/ 0 w 24"/>
                <a:gd name="T67" fmla="*/ 18 h 24"/>
                <a:gd name="T68" fmla="*/ 2 w 24"/>
                <a:gd name="T69" fmla="*/ 18 h 24"/>
                <a:gd name="T70" fmla="*/ 2 w 24"/>
                <a:gd name="T71" fmla="*/ 19 h 24"/>
                <a:gd name="T72" fmla="*/ 4 w 24"/>
                <a:gd name="T73" fmla="*/ 21 h 24"/>
                <a:gd name="T74" fmla="*/ 6 w 24"/>
                <a:gd name="T75" fmla="*/ 21 h 24"/>
                <a:gd name="T76" fmla="*/ 8 w 24"/>
                <a:gd name="T77" fmla="*/ 23 h 24"/>
                <a:gd name="T78" fmla="*/ 10 w 24"/>
                <a:gd name="T79" fmla="*/ 23 h 24"/>
                <a:gd name="T80" fmla="*/ 12 w 24"/>
                <a:gd name="T81" fmla="*/ 23 h 24"/>
                <a:gd name="T82" fmla="*/ 12 w 24"/>
                <a:gd name="T83" fmla="*/ 23 h 24"/>
                <a:gd name="T84" fmla="*/ 10 w 24"/>
                <a:gd name="T85" fmla="*/ 23 h 2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4"/>
                <a:gd name="T130" fmla="*/ 0 h 24"/>
                <a:gd name="T131" fmla="*/ 24 w 24"/>
                <a:gd name="T132" fmla="*/ 24 h 24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4" h="24">
                  <a:moveTo>
                    <a:pt x="10" y="23"/>
                  </a:moveTo>
                  <a:lnTo>
                    <a:pt x="14" y="23"/>
                  </a:lnTo>
                  <a:lnTo>
                    <a:pt x="16" y="23"/>
                  </a:lnTo>
                  <a:lnTo>
                    <a:pt x="16" y="21"/>
                  </a:lnTo>
                  <a:lnTo>
                    <a:pt x="18" y="21"/>
                  </a:lnTo>
                  <a:lnTo>
                    <a:pt x="20" y="19"/>
                  </a:lnTo>
                  <a:lnTo>
                    <a:pt x="22" y="18"/>
                  </a:lnTo>
                  <a:lnTo>
                    <a:pt x="22" y="16"/>
                  </a:lnTo>
                  <a:lnTo>
                    <a:pt x="23" y="14"/>
                  </a:lnTo>
                  <a:lnTo>
                    <a:pt x="23" y="12"/>
                  </a:lnTo>
                  <a:lnTo>
                    <a:pt x="23" y="10"/>
                  </a:lnTo>
                  <a:lnTo>
                    <a:pt x="22" y="8"/>
                  </a:lnTo>
                  <a:lnTo>
                    <a:pt x="22" y="6"/>
                  </a:lnTo>
                  <a:lnTo>
                    <a:pt x="22" y="4"/>
                  </a:lnTo>
                  <a:lnTo>
                    <a:pt x="20" y="4"/>
                  </a:lnTo>
                  <a:lnTo>
                    <a:pt x="18" y="2"/>
                  </a:lnTo>
                  <a:lnTo>
                    <a:pt x="16" y="2"/>
                  </a:lnTo>
                  <a:lnTo>
                    <a:pt x="16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8" y="0"/>
                  </a:lnTo>
                  <a:lnTo>
                    <a:pt x="6" y="2"/>
                  </a:lnTo>
                  <a:lnTo>
                    <a:pt x="4" y="2"/>
                  </a:lnTo>
                  <a:lnTo>
                    <a:pt x="2" y="4"/>
                  </a:lnTo>
                  <a:lnTo>
                    <a:pt x="0" y="6"/>
                  </a:lnTo>
                  <a:lnTo>
                    <a:pt x="0" y="8"/>
                  </a:lnTo>
                  <a:lnTo>
                    <a:pt x="0" y="10"/>
                  </a:lnTo>
                  <a:lnTo>
                    <a:pt x="0" y="12"/>
                  </a:lnTo>
                  <a:lnTo>
                    <a:pt x="0" y="14"/>
                  </a:lnTo>
                  <a:lnTo>
                    <a:pt x="0" y="16"/>
                  </a:lnTo>
                  <a:lnTo>
                    <a:pt x="0" y="18"/>
                  </a:lnTo>
                  <a:lnTo>
                    <a:pt x="2" y="18"/>
                  </a:lnTo>
                  <a:lnTo>
                    <a:pt x="2" y="19"/>
                  </a:lnTo>
                  <a:lnTo>
                    <a:pt x="4" y="21"/>
                  </a:lnTo>
                  <a:lnTo>
                    <a:pt x="6" y="21"/>
                  </a:lnTo>
                  <a:lnTo>
                    <a:pt x="8" y="23"/>
                  </a:lnTo>
                  <a:lnTo>
                    <a:pt x="10" y="23"/>
                  </a:lnTo>
                  <a:lnTo>
                    <a:pt x="12" y="23"/>
                  </a:lnTo>
                  <a:lnTo>
                    <a:pt x="10" y="23"/>
                  </a:lnTo>
                </a:path>
              </a:pathLst>
            </a:custGeom>
            <a:solidFill>
              <a:srgbClr val="000000"/>
            </a:solidFill>
            <a:ln w="9525" cap="rnd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09" name="Line 25"/>
            <p:cNvSpPr>
              <a:spLocks noChangeShapeType="1"/>
            </p:cNvSpPr>
            <p:nvPr/>
          </p:nvSpPr>
          <p:spPr bwMode="auto">
            <a:xfrm>
              <a:off x="1449" y="2687"/>
              <a:ext cx="198" cy="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10" name="Line 26"/>
            <p:cNvSpPr>
              <a:spLocks noChangeShapeType="1"/>
            </p:cNvSpPr>
            <p:nvPr/>
          </p:nvSpPr>
          <p:spPr bwMode="auto">
            <a:xfrm flipV="1">
              <a:off x="1657" y="3441"/>
              <a:ext cx="776" cy="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11" name="Line 27"/>
            <p:cNvSpPr>
              <a:spLocks noChangeShapeType="1"/>
            </p:cNvSpPr>
            <p:nvPr/>
          </p:nvSpPr>
          <p:spPr bwMode="auto">
            <a:xfrm flipH="1">
              <a:off x="1447" y="2024"/>
              <a:ext cx="986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12" name="Freeform 28"/>
            <p:cNvSpPr>
              <a:spLocks/>
            </p:cNvSpPr>
            <p:nvPr/>
          </p:nvSpPr>
          <p:spPr bwMode="auto">
            <a:xfrm>
              <a:off x="4704" y="1917"/>
              <a:ext cx="93" cy="1777"/>
            </a:xfrm>
            <a:custGeom>
              <a:avLst/>
              <a:gdLst>
                <a:gd name="T0" fmla="*/ 92 w 93"/>
                <a:gd name="T1" fmla="*/ 1776 h 1777"/>
                <a:gd name="T2" fmla="*/ 92 w 93"/>
                <a:gd name="T3" fmla="*/ 0 h 1777"/>
                <a:gd name="T4" fmla="*/ 0 w 93"/>
                <a:gd name="T5" fmla="*/ 0 h 1777"/>
                <a:gd name="T6" fmla="*/ 0 w 93"/>
                <a:gd name="T7" fmla="*/ 1776 h 1777"/>
                <a:gd name="T8" fmla="*/ 92 w 93"/>
                <a:gd name="T9" fmla="*/ 1776 h 1777"/>
                <a:gd name="T10" fmla="*/ 92 w 93"/>
                <a:gd name="T11" fmla="*/ 1776 h 177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3"/>
                <a:gd name="T19" fmla="*/ 0 h 1777"/>
                <a:gd name="T20" fmla="*/ 93 w 93"/>
                <a:gd name="T21" fmla="*/ 1777 h 177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3" h="1777">
                  <a:moveTo>
                    <a:pt x="92" y="1776"/>
                  </a:moveTo>
                  <a:lnTo>
                    <a:pt x="92" y="0"/>
                  </a:lnTo>
                  <a:lnTo>
                    <a:pt x="0" y="0"/>
                  </a:lnTo>
                  <a:lnTo>
                    <a:pt x="0" y="1776"/>
                  </a:lnTo>
                  <a:lnTo>
                    <a:pt x="92" y="1776"/>
                  </a:lnTo>
                </a:path>
              </a:pathLst>
            </a:custGeom>
            <a:solidFill>
              <a:srgbClr val="CCECFF"/>
            </a:solidFill>
            <a:ln w="190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13" name="Freeform 29"/>
            <p:cNvSpPr>
              <a:spLocks/>
            </p:cNvSpPr>
            <p:nvPr/>
          </p:nvSpPr>
          <p:spPr bwMode="auto">
            <a:xfrm>
              <a:off x="2436" y="1917"/>
              <a:ext cx="93" cy="1777"/>
            </a:xfrm>
            <a:custGeom>
              <a:avLst/>
              <a:gdLst>
                <a:gd name="T0" fmla="*/ 92 w 93"/>
                <a:gd name="T1" fmla="*/ 1776 h 1777"/>
                <a:gd name="T2" fmla="*/ 92 w 93"/>
                <a:gd name="T3" fmla="*/ 0 h 1777"/>
                <a:gd name="T4" fmla="*/ 0 w 93"/>
                <a:gd name="T5" fmla="*/ 0 h 1777"/>
                <a:gd name="T6" fmla="*/ 0 w 93"/>
                <a:gd name="T7" fmla="*/ 1776 h 1777"/>
                <a:gd name="T8" fmla="*/ 92 w 93"/>
                <a:gd name="T9" fmla="*/ 1776 h 1777"/>
                <a:gd name="T10" fmla="*/ 92 w 93"/>
                <a:gd name="T11" fmla="*/ 1776 h 177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3"/>
                <a:gd name="T19" fmla="*/ 0 h 1777"/>
                <a:gd name="T20" fmla="*/ 93 w 93"/>
                <a:gd name="T21" fmla="*/ 1777 h 177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3" h="1777">
                  <a:moveTo>
                    <a:pt x="92" y="1776"/>
                  </a:moveTo>
                  <a:lnTo>
                    <a:pt x="92" y="0"/>
                  </a:lnTo>
                  <a:lnTo>
                    <a:pt x="0" y="0"/>
                  </a:lnTo>
                  <a:lnTo>
                    <a:pt x="0" y="1776"/>
                  </a:lnTo>
                  <a:lnTo>
                    <a:pt x="92" y="1776"/>
                  </a:lnTo>
                </a:path>
              </a:pathLst>
            </a:custGeom>
            <a:solidFill>
              <a:srgbClr val="CCECFF"/>
            </a:solidFill>
            <a:ln w="190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14" name="Line 30"/>
            <p:cNvSpPr>
              <a:spLocks noChangeShapeType="1"/>
            </p:cNvSpPr>
            <p:nvPr/>
          </p:nvSpPr>
          <p:spPr bwMode="auto">
            <a:xfrm flipV="1">
              <a:off x="2826" y="3695"/>
              <a:ext cx="0" cy="50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15" name="Line 31"/>
            <p:cNvSpPr>
              <a:spLocks noChangeShapeType="1"/>
            </p:cNvSpPr>
            <p:nvPr/>
          </p:nvSpPr>
          <p:spPr bwMode="auto">
            <a:xfrm>
              <a:off x="2855" y="2626"/>
              <a:ext cx="2" cy="54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16" name="Line 32"/>
            <p:cNvSpPr>
              <a:spLocks noChangeShapeType="1"/>
            </p:cNvSpPr>
            <p:nvPr/>
          </p:nvSpPr>
          <p:spPr bwMode="auto">
            <a:xfrm flipV="1">
              <a:off x="3006" y="3406"/>
              <a:ext cx="0" cy="52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17" name="Line 33"/>
            <p:cNvSpPr>
              <a:spLocks noChangeShapeType="1"/>
            </p:cNvSpPr>
            <p:nvPr/>
          </p:nvSpPr>
          <p:spPr bwMode="auto">
            <a:xfrm flipV="1">
              <a:off x="3364" y="2633"/>
              <a:ext cx="215" cy="2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18" name="Freeform 34"/>
            <p:cNvSpPr>
              <a:spLocks/>
            </p:cNvSpPr>
            <p:nvPr/>
          </p:nvSpPr>
          <p:spPr bwMode="auto">
            <a:xfrm>
              <a:off x="2877" y="3055"/>
              <a:ext cx="245" cy="345"/>
            </a:xfrm>
            <a:custGeom>
              <a:avLst/>
              <a:gdLst>
                <a:gd name="T0" fmla="*/ 123 w 174"/>
                <a:gd name="T1" fmla="*/ 344 h 367"/>
                <a:gd name="T2" fmla="*/ 144 w 174"/>
                <a:gd name="T3" fmla="*/ 342 h 367"/>
                <a:gd name="T4" fmla="*/ 162 w 174"/>
                <a:gd name="T5" fmla="*/ 336 h 367"/>
                <a:gd name="T6" fmla="*/ 179 w 174"/>
                <a:gd name="T7" fmla="*/ 324 h 367"/>
                <a:gd name="T8" fmla="*/ 194 w 174"/>
                <a:gd name="T9" fmla="*/ 312 h 367"/>
                <a:gd name="T10" fmla="*/ 208 w 174"/>
                <a:gd name="T11" fmla="*/ 294 h 367"/>
                <a:gd name="T12" fmla="*/ 221 w 174"/>
                <a:gd name="T13" fmla="*/ 274 h 367"/>
                <a:gd name="T14" fmla="*/ 230 w 174"/>
                <a:gd name="T15" fmla="*/ 251 h 367"/>
                <a:gd name="T16" fmla="*/ 238 w 174"/>
                <a:gd name="T17" fmla="*/ 227 h 367"/>
                <a:gd name="T18" fmla="*/ 244 w 174"/>
                <a:gd name="T19" fmla="*/ 200 h 367"/>
                <a:gd name="T20" fmla="*/ 244 w 174"/>
                <a:gd name="T21" fmla="*/ 171 h 367"/>
                <a:gd name="T22" fmla="*/ 244 w 174"/>
                <a:gd name="T23" fmla="*/ 145 h 367"/>
                <a:gd name="T24" fmla="*/ 238 w 174"/>
                <a:gd name="T25" fmla="*/ 118 h 367"/>
                <a:gd name="T26" fmla="*/ 230 w 174"/>
                <a:gd name="T27" fmla="*/ 92 h 367"/>
                <a:gd name="T28" fmla="*/ 221 w 174"/>
                <a:gd name="T29" fmla="*/ 71 h 367"/>
                <a:gd name="T30" fmla="*/ 208 w 174"/>
                <a:gd name="T31" fmla="*/ 51 h 367"/>
                <a:gd name="T32" fmla="*/ 194 w 174"/>
                <a:gd name="T33" fmla="*/ 33 h 367"/>
                <a:gd name="T34" fmla="*/ 179 w 174"/>
                <a:gd name="T35" fmla="*/ 19 h 367"/>
                <a:gd name="T36" fmla="*/ 162 w 174"/>
                <a:gd name="T37" fmla="*/ 8 h 367"/>
                <a:gd name="T38" fmla="*/ 144 w 174"/>
                <a:gd name="T39" fmla="*/ 2 h 367"/>
                <a:gd name="T40" fmla="*/ 123 w 174"/>
                <a:gd name="T41" fmla="*/ 0 h 367"/>
                <a:gd name="T42" fmla="*/ 103 w 174"/>
                <a:gd name="T43" fmla="*/ 2 h 367"/>
                <a:gd name="T44" fmla="*/ 84 w 174"/>
                <a:gd name="T45" fmla="*/ 8 h 367"/>
                <a:gd name="T46" fmla="*/ 68 w 174"/>
                <a:gd name="T47" fmla="*/ 19 h 367"/>
                <a:gd name="T48" fmla="*/ 52 w 174"/>
                <a:gd name="T49" fmla="*/ 33 h 367"/>
                <a:gd name="T50" fmla="*/ 38 w 174"/>
                <a:gd name="T51" fmla="*/ 51 h 367"/>
                <a:gd name="T52" fmla="*/ 24 w 174"/>
                <a:gd name="T53" fmla="*/ 71 h 367"/>
                <a:gd name="T54" fmla="*/ 14 w 174"/>
                <a:gd name="T55" fmla="*/ 92 h 367"/>
                <a:gd name="T56" fmla="*/ 8 w 174"/>
                <a:gd name="T57" fmla="*/ 118 h 367"/>
                <a:gd name="T58" fmla="*/ 3 w 174"/>
                <a:gd name="T59" fmla="*/ 145 h 367"/>
                <a:gd name="T60" fmla="*/ 0 w 174"/>
                <a:gd name="T61" fmla="*/ 171 h 367"/>
                <a:gd name="T62" fmla="*/ 3 w 174"/>
                <a:gd name="T63" fmla="*/ 200 h 367"/>
                <a:gd name="T64" fmla="*/ 8 w 174"/>
                <a:gd name="T65" fmla="*/ 227 h 367"/>
                <a:gd name="T66" fmla="*/ 14 w 174"/>
                <a:gd name="T67" fmla="*/ 251 h 367"/>
                <a:gd name="T68" fmla="*/ 24 w 174"/>
                <a:gd name="T69" fmla="*/ 274 h 367"/>
                <a:gd name="T70" fmla="*/ 38 w 174"/>
                <a:gd name="T71" fmla="*/ 294 h 367"/>
                <a:gd name="T72" fmla="*/ 52 w 174"/>
                <a:gd name="T73" fmla="*/ 312 h 367"/>
                <a:gd name="T74" fmla="*/ 68 w 174"/>
                <a:gd name="T75" fmla="*/ 324 h 367"/>
                <a:gd name="T76" fmla="*/ 84 w 174"/>
                <a:gd name="T77" fmla="*/ 336 h 367"/>
                <a:gd name="T78" fmla="*/ 103 w 174"/>
                <a:gd name="T79" fmla="*/ 342 h 367"/>
                <a:gd name="T80" fmla="*/ 123 w 174"/>
                <a:gd name="T81" fmla="*/ 344 h 367"/>
                <a:gd name="T82" fmla="*/ 123 w 174"/>
                <a:gd name="T83" fmla="*/ 344 h 367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174"/>
                <a:gd name="T127" fmla="*/ 0 h 367"/>
                <a:gd name="T128" fmla="*/ 174 w 174"/>
                <a:gd name="T129" fmla="*/ 367 h 367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174" h="367">
                  <a:moveTo>
                    <a:pt x="87" y="366"/>
                  </a:moveTo>
                  <a:lnTo>
                    <a:pt x="102" y="364"/>
                  </a:lnTo>
                  <a:lnTo>
                    <a:pt x="115" y="357"/>
                  </a:lnTo>
                  <a:lnTo>
                    <a:pt x="127" y="345"/>
                  </a:lnTo>
                  <a:lnTo>
                    <a:pt x="138" y="332"/>
                  </a:lnTo>
                  <a:lnTo>
                    <a:pt x="148" y="313"/>
                  </a:lnTo>
                  <a:lnTo>
                    <a:pt x="157" y="292"/>
                  </a:lnTo>
                  <a:lnTo>
                    <a:pt x="163" y="267"/>
                  </a:lnTo>
                  <a:lnTo>
                    <a:pt x="169" y="242"/>
                  </a:lnTo>
                  <a:lnTo>
                    <a:pt x="173" y="213"/>
                  </a:lnTo>
                  <a:lnTo>
                    <a:pt x="173" y="182"/>
                  </a:lnTo>
                  <a:lnTo>
                    <a:pt x="173" y="154"/>
                  </a:lnTo>
                  <a:lnTo>
                    <a:pt x="169" y="125"/>
                  </a:lnTo>
                  <a:lnTo>
                    <a:pt x="163" y="98"/>
                  </a:lnTo>
                  <a:lnTo>
                    <a:pt x="157" y="75"/>
                  </a:lnTo>
                  <a:lnTo>
                    <a:pt x="148" y="54"/>
                  </a:lnTo>
                  <a:lnTo>
                    <a:pt x="138" y="35"/>
                  </a:lnTo>
                  <a:lnTo>
                    <a:pt x="127" y="20"/>
                  </a:lnTo>
                  <a:lnTo>
                    <a:pt x="115" y="8"/>
                  </a:lnTo>
                  <a:lnTo>
                    <a:pt x="102" y="2"/>
                  </a:lnTo>
                  <a:lnTo>
                    <a:pt x="87" y="0"/>
                  </a:lnTo>
                  <a:lnTo>
                    <a:pt x="73" y="2"/>
                  </a:lnTo>
                  <a:lnTo>
                    <a:pt x="60" y="8"/>
                  </a:lnTo>
                  <a:lnTo>
                    <a:pt x="48" y="20"/>
                  </a:lnTo>
                  <a:lnTo>
                    <a:pt x="37" y="35"/>
                  </a:lnTo>
                  <a:lnTo>
                    <a:pt x="27" y="54"/>
                  </a:lnTo>
                  <a:lnTo>
                    <a:pt x="17" y="75"/>
                  </a:lnTo>
                  <a:lnTo>
                    <a:pt x="10" y="98"/>
                  </a:lnTo>
                  <a:lnTo>
                    <a:pt x="6" y="125"/>
                  </a:lnTo>
                  <a:lnTo>
                    <a:pt x="2" y="154"/>
                  </a:lnTo>
                  <a:lnTo>
                    <a:pt x="0" y="182"/>
                  </a:lnTo>
                  <a:lnTo>
                    <a:pt x="2" y="213"/>
                  </a:lnTo>
                  <a:lnTo>
                    <a:pt x="6" y="242"/>
                  </a:lnTo>
                  <a:lnTo>
                    <a:pt x="10" y="267"/>
                  </a:lnTo>
                  <a:lnTo>
                    <a:pt x="17" y="292"/>
                  </a:lnTo>
                  <a:lnTo>
                    <a:pt x="27" y="313"/>
                  </a:lnTo>
                  <a:lnTo>
                    <a:pt x="37" y="332"/>
                  </a:lnTo>
                  <a:lnTo>
                    <a:pt x="48" y="345"/>
                  </a:lnTo>
                  <a:lnTo>
                    <a:pt x="60" y="357"/>
                  </a:lnTo>
                  <a:lnTo>
                    <a:pt x="73" y="364"/>
                  </a:lnTo>
                  <a:lnTo>
                    <a:pt x="87" y="366"/>
                  </a:lnTo>
                </a:path>
              </a:pathLst>
            </a:custGeom>
            <a:noFill/>
            <a:ln w="19050" cap="rnd" cmpd="sng">
              <a:solidFill>
                <a:srgbClr val="EB75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19" name="Line 35"/>
            <p:cNvSpPr>
              <a:spLocks noChangeShapeType="1"/>
            </p:cNvSpPr>
            <p:nvPr/>
          </p:nvSpPr>
          <p:spPr bwMode="auto">
            <a:xfrm>
              <a:off x="2530" y="3225"/>
              <a:ext cx="349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21" name="Line 37"/>
            <p:cNvSpPr>
              <a:spLocks noChangeShapeType="1"/>
            </p:cNvSpPr>
            <p:nvPr/>
          </p:nvSpPr>
          <p:spPr bwMode="auto">
            <a:xfrm flipH="1" flipV="1">
              <a:off x="2530" y="2018"/>
              <a:ext cx="364" cy="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22" name="Freeform 38"/>
            <p:cNvSpPr>
              <a:spLocks/>
            </p:cNvSpPr>
            <p:nvPr/>
          </p:nvSpPr>
          <p:spPr bwMode="auto">
            <a:xfrm>
              <a:off x="2681" y="2710"/>
              <a:ext cx="26" cy="24"/>
            </a:xfrm>
            <a:custGeom>
              <a:avLst/>
              <a:gdLst>
                <a:gd name="T0" fmla="*/ 11 w 26"/>
                <a:gd name="T1" fmla="*/ 23 h 24"/>
                <a:gd name="T2" fmla="*/ 13 w 26"/>
                <a:gd name="T3" fmla="*/ 23 h 24"/>
                <a:gd name="T4" fmla="*/ 15 w 26"/>
                <a:gd name="T5" fmla="*/ 23 h 24"/>
                <a:gd name="T6" fmla="*/ 17 w 26"/>
                <a:gd name="T7" fmla="*/ 23 h 24"/>
                <a:gd name="T8" fmla="*/ 19 w 26"/>
                <a:gd name="T9" fmla="*/ 21 h 24"/>
                <a:gd name="T10" fmla="*/ 21 w 26"/>
                <a:gd name="T11" fmla="*/ 21 h 24"/>
                <a:gd name="T12" fmla="*/ 21 w 26"/>
                <a:gd name="T13" fmla="*/ 19 h 24"/>
                <a:gd name="T14" fmla="*/ 23 w 26"/>
                <a:gd name="T15" fmla="*/ 17 h 24"/>
                <a:gd name="T16" fmla="*/ 23 w 26"/>
                <a:gd name="T17" fmla="*/ 15 h 24"/>
                <a:gd name="T18" fmla="*/ 23 w 26"/>
                <a:gd name="T19" fmla="*/ 14 h 24"/>
                <a:gd name="T20" fmla="*/ 25 w 26"/>
                <a:gd name="T21" fmla="*/ 12 h 24"/>
                <a:gd name="T22" fmla="*/ 23 w 26"/>
                <a:gd name="T23" fmla="*/ 10 h 24"/>
                <a:gd name="T24" fmla="*/ 23 w 26"/>
                <a:gd name="T25" fmla="*/ 10 h 24"/>
                <a:gd name="T26" fmla="*/ 23 w 26"/>
                <a:gd name="T27" fmla="*/ 8 h 24"/>
                <a:gd name="T28" fmla="*/ 21 w 26"/>
                <a:gd name="T29" fmla="*/ 6 h 24"/>
                <a:gd name="T30" fmla="*/ 21 w 26"/>
                <a:gd name="T31" fmla="*/ 4 h 24"/>
                <a:gd name="T32" fmla="*/ 19 w 26"/>
                <a:gd name="T33" fmla="*/ 4 h 24"/>
                <a:gd name="T34" fmla="*/ 17 w 26"/>
                <a:gd name="T35" fmla="*/ 2 h 24"/>
                <a:gd name="T36" fmla="*/ 15 w 26"/>
                <a:gd name="T37" fmla="*/ 2 h 24"/>
                <a:gd name="T38" fmla="*/ 13 w 26"/>
                <a:gd name="T39" fmla="*/ 2 h 24"/>
                <a:gd name="T40" fmla="*/ 11 w 26"/>
                <a:gd name="T41" fmla="*/ 0 h 24"/>
                <a:gd name="T42" fmla="*/ 11 w 26"/>
                <a:gd name="T43" fmla="*/ 2 h 24"/>
                <a:gd name="T44" fmla="*/ 9 w 26"/>
                <a:gd name="T45" fmla="*/ 2 h 24"/>
                <a:gd name="T46" fmla="*/ 8 w 26"/>
                <a:gd name="T47" fmla="*/ 2 h 24"/>
                <a:gd name="T48" fmla="*/ 6 w 26"/>
                <a:gd name="T49" fmla="*/ 4 h 24"/>
                <a:gd name="T50" fmla="*/ 4 w 26"/>
                <a:gd name="T51" fmla="*/ 4 h 24"/>
                <a:gd name="T52" fmla="*/ 4 w 26"/>
                <a:gd name="T53" fmla="*/ 6 h 24"/>
                <a:gd name="T54" fmla="*/ 2 w 26"/>
                <a:gd name="T55" fmla="*/ 8 h 24"/>
                <a:gd name="T56" fmla="*/ 2 w 26"/>
                <a:gd name="T57" fmla="*/ 10 h 24"/>
                <a:gd name="T58" fmla="*/ 2 w 26"/>
                <a:gd name="T59" fmla="*/ 10 h 24"/>
                <a:gd name="T60" fmla="*/ 0 w 26"/>
                <a:gd name="T61" fmla="*/ 12 h 24"/>
                <a:gd name="T62" fmla="*/ 2 w 26"/>
                <a:gd name="T63" fmla="*/ 14 h 24"/>
                <a:gd name="T64" fmla="*/ 2 w 26"/>
                <a:gd name="T65" fmla="*/ 15 h 24"/>
                <a:gd name="T66" fmla="*/ 2 w 26"/>
                <a:gd name="T67" fmla="*/ 17 h 24"/>
                <a:gd name="T68" fmla="*/ 4 w 26"/>
                <a:gd name="T69" fmla="*/ 19 h 24"/>
                <a:gd name="T70" fmla="*/ 4 w 26"/>
                <a:gd name="T71" fmla="*/ 21 h 24"/>
                <a:gd name="T72" fmla="*/ 6 w 26"/>
                <a:gd name="T73" fmla="*/ 21 h 24"/>
                <a:gd name="T74" fmla="*/ 8 w 26"/>
                <a:gd name="T75" fmla="*/ 23 h 24"/>
                <a:gd name="T76" fmla="*/ 9 w 26"/>
                <a:gd name="T77" fmla="*/ 23 h 24"/>
                <a:gd name="T78" fmla="*/ 11 w 26"/>
                <a:gd name="T79" fmla="*/ 23 h 24"/>
                <a:gd name="T80" fmla="*/ 11 w 26"/>
                <a:gd name="T81" fmla="*/ 23 h 24"/>
                <a:gd name="T82" fmla="*/ 11 w 26"/>
                <a:gd name="T83" fmla="*/ 23 h 24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26"/>
                <a:gd name="T127" fmla="*/ 0 h 24"/>
                <a:gd name="T128" fmla="*/ 26 w 26"/>
                <a:gd name="T129" fmla="*/ 24 h 24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26" h="24">
                  <a:moveTo>
                    <a:pt x="11" y="23"/>
                  </a:moveTo>
                  <a:lnTo>
                    <a:pt x="13" y="23"/>
                  </a:lnTo>
                  <a:lnTo>
                    <a:pt x="15" y="23"/>
                  </a:lnTo>
                  <a:lnTo>
                    <a:pt x="17" y="23"/>
                  </a:lnTo>
                  <a:lnTo>
                    <a:pt x="19" y="21"/>
                  </a:lnTo>
                  <a:lnTo>
                    <a:pt x="21" y="21"/>
                  </a:lnTo>
                  <a:lnTo>
                    <a:pt x="21" y="19"/>
                  </a:lnTo>
                  <a:lnTo>
                    <a:pt x="23" y="17"/>
                  </a:lnTo>
                  <a:lnTo>
                    <a:pt x="23" y="15"/>
                  </a:lnTo>
                  <a:lnTo>
                    <a:pt x="23" y="14"/>
                  </a:lnTo>
                  <a:lnTo>
                    <a:pt x="25" y="12"/>
                  </a:lnTo>
                  <a:lnTo>
                    <a:pt x="23" y="10"/>
                  </a:lnTo>
                  <a:lnTo>
                    <a:pt x="23" y="8"/>
                  </a:lnTo>
                  <a:lnTo>
                    <a:pt x="21" y="6"/>
                  </a:lnTo>
                  <a:lnTo>
                    <a:pt x="21" y="4"/>
                  </a:lnTo>
                  <a:lnTo>
                    <a:pt x="19" y="4"/>
                  </a:lnTo>
                  <a:lnTo>
                    <a:pt x="17" y="2"/>
                  </a:lnTo>
                  <a:lnTo>
                    <a:pt x="15" y="2"/>
                  </a:lnTo>
                  <a:lnTo>
                    <a:pt x="13" y="2"/>
                  </a:lnTo>
                  <a:lnTo>
                    <a:pt x="11" y="0"/>
                  </a:lnTo>
                  <a:lnTo>
                    <a:pt x="11" y="2"/>
                  </a:lnTo>
                  <a:lnTo>
                    <a:pt x="9" y="2"/>
                  </a:lnTo>
                  <a:lnTo>
                    <a:pt x="8" y="2"/>
                  </a:lnTo>
                  <a:lnTo>
                    <a:pt x="6" y="4"/>
                  </a:lnTo>
                  <a:lnTo>
                    <a:pt x="4" y="4"/>
                  </a:lnTo>
                  <a:lnTo>
                    <a:pt x="4" y="6"/>
                  </a:lnTo>
                  <a:lnTo>
                    <a:pt x="2" y="8"/>
                  </a:lnTo>
                  <a:lnTo>
                    <a:pt x="2" y="10"/>
                  </a:lnTo>
                  <a:lnTo>
                    <a:pt x="0" y="12"/>
                  </a:lnTo>
                  <a:lnTo>
                    <a:pt x="2" y="14"/>
                  </a:lnTo>
                  <a:lnTo>
                    <a:pt x="2" y="15"/>
                  </a:lnTo>
                  <a:lnTo>
                    <a:pt x="2" y="17"/>
                  </a:lnTo>
                  <a:lnTo>
                    <a:pt x="4" y="19"/>
                  </a:lnTo>
                  <a:lnTo>
                    <a:pt x="4" y="21"/>
                  </a:lnTo>
                  <a:lnTo>
                    <a:pt x="6" y="21"/>
                  </a:lnTo>
                  <a:lnTo>
                    <a:pt x="8" y="23"/>
                  </a:lnTo>
                  <a:lnTo>
                    <a:pt x="9" y="23"/>
                  </a:lnTo>
                  <a:lnTo>
                    <a:pt x="11" y="23"/>
                  </a:lnTo>
                </a:path>
              </a:pathLst>
            </a:custGeom>
            <a:solidFill>
              <a:srgbClr val="000000"/>
            </a:solidFill>
            <a:ln w="9525" cap="rnd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23" name="Line 39"/>
            <p:cNvSpPr>
              <a:spLocks noChangeShapeType="1"/>
            </p:cNvSpPr>
            <p:nvPr/>
          </p:nvSpPr>
          <p:spPr bwMode="auto">
            <a:xfrm>
              <a:off x="2744" y="2413"/>
              <a:ext cx="2" cy="81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24" name="Freeform 40"/>
            <p:cNvSpPr>
              <a:spLocks/>
            </p:cNvSpPr>
            <p:nvPr/>
          </p:nvSpPr>
          <p:spPr bwMode="auto">
            <a:xfrm>
              <a:off x="2735" y="2917"/>
              <a:ext cx="24" cy="24"/>
            </a:xfrm>
            <a:custGeom>
              <a:avLst/>
              <a:gdLst>
                <a:gd name="T0" fmla="*/ 9 w 24"/>
                <a:gd name="T1" fmla="*/ 23 h 24"/>
                <a:gd name="T2" fmla="*/ 13 w 24"/>
                <a:gd name="T3" fmla="*/ 23 h 24"/>
                <a:gd name="T4" fmla="*/ 15 w 24"/>
                <a:gd name="T5" fmla="*/ 23 h 24"/>
                <a:gd name="T6" fmla="*/ 15 w 24"/>
                <a:gd name="T7" fmla="*/ 21 h 24"/>
                <a:gd name="T8" fmla="*/ 17 w 24"/>
                <a:gd name="T9" fmla="*/ 21 h 24"/>
                <a:gd name="T10" fmla="*/ 19 w 24"/>
                <a:gd name="T11" fmla="*/ 19 h 24"/>
                <a:gd name="T12" fmla="*/ 21 w 24"/>
                <a:gd name="T13" fmla="*/ 19 h 24"/>
                <a:gd name="T14" fmla="*/ 21 w 24"/>
                <a:gd name="T15" fmla="*/ 17 h 24"/>
                <a:gd name="T16" fmla="*/ 21 w 24"/>
                <a:gd name="T17" fmla="*/ 15 h 24"/>
                <a:gd name="T18" fmla="*/ 23 w 24"/>
                <a:gd name="T19" fmla="*/ 13 h 24"/>
                <a:gd name="T20" fmla="*/ 23 w 24"/>
                <a:gd name="T21" fmla="*/ 12 h 24"/>
                <a:gd name="T22" fmla="*/ 23 w 24"/>
                <a:gd name="T23" fmla="*/ 10 h 24"/>
                <a:gd name="T24" fmla="*/ 21 w 24"/>
                <a:gd name="T25" fmla="*/ 8 h 24"/>
                <a:gd name="T26" fmla="*/ 21 w 24"/>
                <a:gd name="T27" fmla="*/ 6 h 24"/>
                <a:gd name="T28" fmla="*/ 21 w 24"/>
                <a:gd name="T29" fmla="*/ 6 h 24"/>
                <a:gd name="T30" fmla="*/ 19 w 24"/>
                <a:gd name="T31" fmla="*/ 4 h 24"/>
                <a:gd name="T32" fmla="*/ 17 w 24"/>
                <a:gd name="T33" fmla="*/ 2 h 24"/>
                <a:gd name="T34" fmla="*/ 15 w 24"/>
                <a:gd name="T35" fmla="*/ 2 h 24"/>
                <a:gd name="T36" fmla="*/ 15 w 24"/>
                <a:gd name="T37" fmla="*/ 0 h 24"/>
                <a:gd name="T38" fmla="*/ 13 w 24"/>
                <a:gd name="T39" fmla="*/ 0 h 24"/>
                <a:gd name="T40" fmla="*/ 11 w 24"/>
                <a:gd name="T41" fmla="*/ 0 h 24"/>
                <a:gd name="T42" fmla="*/ 9 w 24"/>
                <a:gd name="T43" fmla="*/ 0 h 24"/>
                <a:gd name="T44" fmla="*/ 7 w 24"/>
                <a:gd name="T45" fmla="*/ 0 h 24"/>
                <a:gd name="T46" fmla="*/ 5 w 24"/>
                <a:gd name="T47" fmla="*/ 2 h 24"/>
                <a:gd name="T48" fmla="*/ 3 w 24"/>
                <a:gd name="T49" fmla="*/ 2 h 24"/>
                <a:gd name="T50" fmla="*/ 2 w 24"/>
                <a:gd name="T51" fmla="*/ 4 h 24"/>
                <a:gd name="T52" fmla="*/ 2 w 24"/>
                <a:gd name="T53" fmla="*/ 6 h 24"/>
                <a:gd name="T54" fmla="*/ 0 w 24"/>
                <a:gd name="T55" fmla="*/ 6 h 24"/>
                <a:gd name="T56" fmla="*/ 0 w 24"/>
                <a:gd name="T57" fmla="*/ 8 h 24"/>
                <a:gd name="T58" fmla="*/ 0 w 24"/>
                <a:gd name="T59" fmla="*/ 10 h 24"/>
                <a:gd name="T60" fmla="*/ 0 w 24"/>
                <a:gd name="T61" fmla="*/ 12 h 24"/>
                <a:gd name="T62" fmla="*/ 0 w 24"/>
                <a:gd name="T63" fmla="*/ 13 h 24"/>
                <a:gd name="T64" fmla="*/ 0 w 24"/>
                <a:gd name="T65" fmla="*/ 15 h 24"/>
                <a:gd name="T66" fmla="*/ 0 w 24"/>
                <a:gd name="T67" fmla="*/ 17 h 24"/>
                <a:gd name="T68" fmla="*/ 2 w 24"/>
                <a:gd name="T69" fmla="*/ 19 h 24"/>
                <a:gd name="T70" fmla="*/ 2 w 24"/>
                <a:gd name="T71" fmla="*/ 19 h 24"/>
                <a:gd name="T72" fmla="*/ 3 w 24"/>
                <a:gd name="T73" fmla="*/ 21 h 24"/>
                <a:gd name="T74" fmla="*/ 5 w 24"/>
                <a:gd name="T75" fmla="*/ 21 h 24"/>
                <a:gd name="T76" fmla="*/ 7 w 24"/>
                <a:gd name="T77" fmla="*/ 23 h 24"/>
                <a:gd name="T78" fmla="*/ 9 w 24"/>
                <a:gd name="T79" fmla="*/ 23 h 24"/>
                <a:gd name="T80" fmla="*/ 11 w 24"/>
                <a:gd name="T81" fmla="*/ 23 h 24"/>
                <a:gd name="T82" fmla="*/ 11 w 24"/>
                <a:gd name="T83" fmla="*/ 23 h 24"/>
                <a:gd name="T84" fmla="*/ 9 w 24"/>
                <a:gd name="T85" fmla="*/ 23 h 2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4"/>
                <a:gd name="T130" fmla="*/ 0 h 24"/>
                <a:gd name="T131" fmla="*/ 24 w 24"/>
                <a:gd name="T132" fmla="*/ 24 h 24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4" h="24">
                  <a:moveTo>
                    <a:pt x="9" y="23"/>
                  </a:moveTo>
                  <a:lnTo>
                    <a:pt x="13" y="23"/>
                  </a:lnTo>
                  <a:lnTo>
                    <a:pt x="15" y="23"/>
                  </a:lnTo>
                  <a:lnTo>
                    <a:pt x="15" y="21"/>
                  </a:lnTo>
                  <a:lnTo>
                    <a:pt x="17" y="21"/>
                  </a:lnTo>
                  <a:lnTo>
                    <a:pt x="19" y="19"/>
                  </a:lnTo>
                  <a:lnTo>
                    <a:pt x="21" y="19"/>
                  </a:lnTo>
                  <a:lnTo>
                    <a:pt x="21" y="17"/>
                  </a:lnTo>
                  <a:lnTo>
                    <a:pt x="21" y="15"/>
                  </a:lnTo>
                  <a:lnTo>
                    <a:pt x="23" y="13"/>
                  </a:lnTo>
                  <a:lnTo>
                    <a:pt x="23" y="12"/>
                  </a:lnTo>
                  <a:lnTo>
                    <a:pt x="23" y="10"/>
                  </a:lnTo>
                  <a:lnTo>
                    <a:pt x="21" y="8"/>
                  </a:lnTo>
                  <a:lnTo>
                    <a:pt x="21" y="6"/>
                  </a:lnTo>
                  <a:lnTo>
                    <a:pt x="19" y="4"/>
                  </a:lnTo>
                  <a:lnTo>
                    <a:pt x="17" y="2"/>
                  </a:lnTo>
                  <a:lnTo>
                    <a:pt x="15" y="2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1" y="0"/>
                  </a:lnTo>
                  <a:lnTo>
                    <a:pt x="9" y="0"/>
                  </a:lnTo>
                  <a:lnTo>
                    <a:pt x="7" y="0"/>
                  </a:lnTo>
                  <a:lnTo>
                    <a:pt x="5" y="2"/>
                  </a:lnTo>
                  <a:lnTo>
                    <a:pt x="3" y="2"/>
                  </a:lnTo>
                  <a:lnTo>
                    <a:pt x="2" y="4"/>
                  </a:lnTo>
                  <a:lnTo>
                    <a:pt x="2" y="6"/>
                  </a:lnTo>
                  <a:lnTo>
                    <a:pt x="0" y="6"/>
                  </a:lnTo>
                  <a:lnTo>
                    <a:pt x="0" y="8"/>
                  </a:lnTo>
                  <a:lnTo>
                    <a:pt x="0" y="10"/>
                  </a:lnTo>
                  <a:lnTo>
                    <a:pt x="0" y="12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0" y="17"/>
                  </a:lnTo>
                  <a:lnTo>
                    <a:pt x="2" y="19"/>
                  </a:lnTo>
                  <a:lnTo>
                    <a:pt x="3" y="21"/>
                  </a:lnTo>
                  <a:lnTo>
                    <a:pt x="5" y="21"/>
                  </a:lnTo>
                  <a:lnTo>
                    <a:pt x="7" y="23"/>
                  </a:lnTo>
                  <a:lnTo>
                    <a:pt x="9" y="23"/>
                  </a:lnTo>
                  <a:lnTo>
                    <a:pt x="11" y="23"/>
                  </a:lnTo>
                  <a:lnTo>
                    <a:pt x="9" y="23"/>
                  </a:lnTo>
                </a:path>
              </a:pathLst>
            </a:custGeom>
            <a:solidFill>
              <a:srgbClr val="000000"/>
            </a:solidFill>
            <a:ln w="9525" cap="rnd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25" name="Freeform 41"/>
            <p:cNvSpPr>
              <a:spLocks/>
            </p:cNvSpPr>
            <p:nvPr/>
          </p:nvSpPr>
          <p:spPr bwMode="auto">
            <a:xfrm>
              <a:off x="2735" y="3214"/>
              <a:ext cx="24" cy="24"/>
            </a:xfrm>
            <a:custGeom>
              <a:avLst/>
              <a:gdLst>
                <a:gd name="T0" fmla="*/ 9 w 24"/>
                <a:gd name="T1" fmla="*/ 23 h 24"/>
                <a:gd name="T2" fmla="*/ 13 w 24"/>
                <a:gd name="T3" fmla="*/ 23 h 24"/>
                <a:gd name="T4" fmla="*/ 15 w 24"/>
                <a:gd name="T5" fmla="*/ 23 h 24"/>
                <a:gd name="T6" fmla="*/ 15 w 24"/>
                <a:gd name="T7" fmla="*/ 23 h 24"/>
                <a:gd name="T8" fmla="*/ 17 w 24"/>
                <a:gd name="T9" fmla="*/ 21 h 24"/>
                <a:gd name="T10" fmla="*/ 19 w 24"/>
                <a:gd name="T11" fmla="*/ 19 h 24"/>
                <a:gd name="T12" fmla="*/ 19 w 24"/>
                <a:gd name="T13" fmla="*/ 19 h 24"/>
                <a:gd name="T14" fmla="*/ 21 w 24"/>
                <a:gd name="T15" fmla="*/ 17 h 24"/>
                <a:gd name="T16" fmla="*/ 21 w 24"/>
                <a:gd name="T17" fmla="*/ 15 h 24"/>
                <a:gd name="T18" fmla="*/ 23 w 24"/>
                <a:gd name="T19" fmla="*/ 13 h 24"/>
                <a:gd name="T20" fmla="*/ 23 w 24"/>
                <a:gd name="T21" fmla="*/ 11 h 24"/>
                <a:gd name="T22" fmla="*/ 23 w 24"/>
                <a:gd name="T23" fmla="*/ 10 h 24"/>
                <a:gd name="T24" fmla="*/ 21 w 24"/>
                <a:gd name="T25" fmla="*/ 8 h 24"/>
                <a:gd name="T26" fmla="*/ 21 w 24"/>
                <a:gd name="T27" fmla="*/ 6 h 24"/>
                <a:gd name="T28" fmla="*/ 19 w 24"/>
                <a:gd name="T29" fmla="*/ 6 h 24"/>
                <a:gd name="T30" fmla="*/ 19 w 24"/>
                <a:gd name="T31" fmla="*/ 4 h 24"/>
                <a:gd name="T32" fmla="*/ 17 w 24"/>
                <a:gd name="T33" fmla="*/ 2 h 24"/>
                <a:gd name="T34" fmla="*/ 15 w 24"/>
                <a:gd name="T35" fmla="*/ 2 h 24"/>
                <a:gd name="T36" fmla="*/ 15 w 24"/>
                <a:gd name="T37" fmla="*/ 0 h 24"/>
                <a:gd name="T38" fmla="*/ 13 w 24"/>
                <a:gd name="T39" fmla="*/ 0 h 24"/>
                <a:gd name="T40" fmla="*/ 11 w 24"/>
                <a:gd name="T41" fmla="*/ 0 h 24"/>
                <a:gd name="T42" fmla="*/ 9 w 24"/>
                <a:gd name="T43" fmla="*/ 0 h 24"/>
                <a:gd name="T44" fmla="*/ 7 w 24"/>
                <a:gd name="T45" fmla="*/ 0 h 24"/>
                <a:gd name="T46" fmla="*/ 5 w 24"/>
                <a:gd name="T47" fmla="*/ 2 h 24"/>
                <a:gd name="T48" fmla="*/ 3 w 24"/>
                <a:gd name="T49" fmla="*/ 2 h 24"/>
                <a:gd name="T50" fmla="*/ 2 w 24"/>
                <a:gd name="T51" fmla="*/ 4 h 24"/>
                <a:gd name="T52" fmla="*/ 2 w 24"/>
                <a:gd name="T53" fmla="*/ 6 h 24"/>
                <a:gd name="T54" fmla="*/ 0 w 24"/>
                <a:gd name="T55" fmla="*/ 6 h 24"/>
                <a:gd name="T56" fmla="*/ 0 w 24"/>
                <a:gd name="T57" fmla="*/ 8 h 24"/>
                <a:gd name="T58" fmla="*/ 0 w 24"/>
                <a:gd name="T59" fmla="*/ 10 h 24"/>
                <a:gd name="T60" fmla="*/ 0 w 24"/>
                <a:gd name="T61" fmla="*/ 11 h 24"/>
                <a:gd name="T62" fmla="*/ 0 w 24"/>
                <a:gd name="T63" fmla="*/ 13 h 24"/>
                <a:gd name="T64" fmla="*/ 0 w 24"/>
                <a:gd name="T65" fmla="*/ 15 h 24"/>
                <a:gd name="T66" fmla="*/ 0 w 24"/>
                <a:gd name="T67" fmla="*/ 17 h 24"/>
                <a:gd name="T68" fmla="*/ 2 w 24"/>
                <a:gd name="T69" fmla="*/ 19 h 24"/>
                <a:gd name="T70" fmla="*/ 2 w 24"/>
                <a:gd name="T71" fmla="*/ 19 h 24"/>
                <a:gd name="T72" fmla="*/ 3 w 24"/>
                <a:gd name="T73" fmla="*/ 21 h 24"/>
                <a:gd name="T74" fmla="*/ 5 w 24"/>
                <a:gd name="T75" fmla="*/ 23 h 24"/>
                <a:gd name="T76" fmla="*/ 7 w 24"/>
                <a:gd name="T77" fmla="*/ 23 h 24"/>
                <a:gd name="T78" fmla="*/ 9 w 24"/>
                <a:gd name="T79" fmla="*/ 23 h 24"/>
                <a:gd name="T80" fmla="*/ 11 w 24"/>
                <a:gd name="T81" fmla="*/ 23 h 24"/>
                <a:gd name="T82" fmla="*/ 11 w 24"/>
                <a:gd name="T83" fmla="*/ 23 h 24"/>
                <a:gd name="T84" fmla="*/ 9 w 24"/>
                <a:gd name="T85" fmla="*/ 23 h 2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4"/>
                <a:gd name="T130" fmla="*/ 0 h 24"/>
                <a:gd name="T131" fmla="*/ 24 w 24"/>
                <a:gd name="T132" fmla="*/ 24 h 24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4" h="24">
                  <a:moveTo>
                    <a:pt x="9" y="23"/>
                  </a:moveTo>
                  <a:lnTo>
                    <a:pt x="13" y="23"/>
                  </a:lnTo>
                  <a:lnTo>
                    <a:pt x="15" y="23"/>
                  </a:lnTo>
                  <a:lnTo>
                    <a:pt x="17" y="21"/>
                  </a:lnTo>
                  <a:lnTo>
                    <a:pt x="19" y="19"/>
                  </a:lnTo>
                  <a:lnTo>
                    <a:pt x="21" y="17"/>
                  </a:lnTo>
                  <a:lnTo>
                    <a:pt x="21" y="15"/>
                  </a:lnTo>
                  <a:lnTo>
                    <a:pt x="23" y="13"/>
                  </a:lnTo>
                  <a:lnTo>
                    <a:pt x="23" y="11"/>
                  </a:lnTo>
                  <a:lnTo>
                    <a:pt x="23" y="10"/>
                  </a:lnTo>
                  <a:lnTo>
                    <a:pt x="21" y="8"/>
                  </a:lnTo>
                  <a:lnTo>
                    <a:pt x="21" y="6"/>
                  </a:lnTo>
                  <a:lnTo>
                    <a:pt x="19" y="6"/>
                  </a:lnTo>
                  <a:lnTo>
                    <a:pt x="19" y="4"/>
                  </a:lnTo>
                  <a:lnTo>
                    <a:pt x="17" y="2"/>
                  </a:lnTo>
                  <a:lnTo>
                    <a:pt x="15" y="2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1" y="0"/>
                  </a:lnTo>
                  <a:lnTo>
                    <a:pt x="9" y="0"/>
                  </a:lnTo>
                  <a:lnTo>
                    <a:pt x="7" y="0"/>
                  </a:lnTo>
                  <a:lnTo>
                    <a:pt x="5" y="2"/>
                  </a:lnTo>
                  <a:lnTo>
                    <a:pt x="3" y="2"/>
                  </a:lnTo>
                  <a:lnTo>
                    <a:pt x="2" y="4"/>
                  </a:lnTo>
                  <a:lnTo>
                    <a:pt x="2" y="6"/>
                  </a:lnTo>
                  <a:lnTo>
                    <a:pt x="0" y="6"/>
                  </a:lnTo>
                  <a:lnTo>
                    <a:pt x="0" y="8"/>
                  </a:lnTo>
                  <a:lnTo>
                    <a:pt x="0" y="10"/>
                  </a:lnTo>
                  <a:lnTo>
                    <a:pt x="0" y="11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0" y="17"/>
                  </a:lnTo>
                  <a:lnTo>
                    <a:pt x="2" y="19"/>
                  </a:lnTo>
                  <a:lnTo>
                    <a:pt x="3" y="21"/>
                  </a:lnTo>
                  <a:lnTo>
                    <a:pt x="5" y="23"/>
                  </a:lnTo>
                  <a:lnTo>
                    <a:pt x="7" y="23"/>
                  </a:lnTo>
                  <a:lnTo>
                    <a:pt x="9" y="23"/>
                  </a:lnTo>
                  <a:lnTo>
                    <a:pt x="11" y="23"/>
                  </a:lnTo>
                  <a:lnTo>
                    <a:pt x="9" y="23"/>
                  </a:lnTo>
                </a:path>
              </a:pathLst>
            </a:custGeom>
            <a:solidFill>
              <a:srgbClr val="000000"/>
            </a:solidFill>
            <a:ln w="9525" cap="rnd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26" name="Line 42"/>
            <p:cNvSpPr>
              <a:spLocks noChangeShapeType="1"/>
            </p:cNvSpPr>
            <p:nvPr/>
          </p:nvSpPr>
          <p:spPr bwMode="auto">
            <a:xfrm flipH="1" flipV="1">
              <a:off x="2784" y="3197"/>
              <a:ext cx="35" cy="5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27" name="Rectangle 43"/>
            <p:cNvSpPr>
              <a:spLocks noChangeArrowheads="1"/>
            </p:cNvSpPr>
            <p:nvPr/>
          </p:nvSpPr>
          <p:spPr bwMode="auto">
            <a:xfrm>
              <a:off x="2737" y="3118"/>
              <a:ext cx="124" cy="1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sz="600">
                  <a:solidFill>
                    <a:srgbClr val="000000"/>
                  </a:solidFill>
                  <a:latin typeface="+mj-lt"/>
                </a:rPr>
                <a:t>6</a:t>
              </a:r>
            </a:p>
          </p:txBody>
        </p:sp>
        <p:sp>
          <p:nvSpPr>
            <p:cNvPr id="54328" name="Line 44"/>
            <p:cNvSpPr>
              <a:spLocks noChangeShapeType="1"/>
            </p:cNvSpPr>
            <p:nvPr/>
          </p:nvSpPr>
          <p:spPr bwMode="auto">
            <a:xfrm flipH="1" flipV="1">
              <a:off x="2532" y="2527"/>
              <a:ext cx="440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29" name="Freeform 45"/>
            <p:cNvSpPr>
              <a:spLocks/>
            </p:cNvSpPr>
            <p:nvPr/>
          </p:nvSpPr>
          <p:spPr bwMode="auto">
            <a:xfrm>
              <a:off x="2692" y="2722"/>
              <a:ext cx="890" cy="284"/>
            </a:xfrm>
            <a:custGeom>
              <a:avLst/>
              <a:gdLst>
                <a:gd name="T0" fmla="*/ 889 w 935"/>
                <a:gd name="T1" fmla="*/ 283 h 284"/>
                <a:gd name="T2" fmla="*/ 0 w 935"/>
                <a:gd name="T3" fmla="*/ 283 h 284"/>
                <a:gd name="T4" fmla="*/ 0 w 935"/>
                <a:gd name="T5" fmla="*/ 0 h 284"/>
                <a:gd name="T6" fmla="*/ 0 60000 65536"/>
                <a:gd name="T7" fmla="*/ 0 60000 65536"/>
                <a:gd name="T8" fmla="*/ 0 60000 65536"/>
                <a:gd name="T9" fmla="*/ 0 w 935"/>
                <a:gd name="T10" fmla="*/ 0 h 284"/>
                <a:gd name="T11" fmla="*/ 935 w 935"/>
                <a:gd name="T12" fmla="*/ 284 h 28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35" h="284">
                  <a:moveTo>
                    <a:pt x="934" y="283"/>
                  </a:moveTo>
                  <a:lnTo>
                    <a:pt x="0" y="283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triangl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30" name="Freeform 46"/>
            <p:cNvSpPr>
              <a:spLocks/>
            </p:cNvSpPr>
            <p:nvPr/>
          </p:nvSpPr>
          <p:spPr bwMode="auto">
            <a:xfrm>
              <a:off x="3582" y="1917"/>
              <a:ext cx="93" cy="1777"/>
            </a:xfrm>
            <a:custGeom>
              <a:avLst/>
              <a:gdLst>
                <a:gd name="T0" fmla="*/ 90 w 93"/>
                <a:gd name="T1" fmla="*/ 1776 h 1777"/>
                <a:gd name="T2" fmla="*/ 92 w 93"/>
                <a:gd name="T3" fmla="*/ 0 h 1777"/>
                <a:gd name="T4" fmla="*/ 0 w 93"/>
                <a:gd name="T5" fmla="*/ 0 h 1777"/>
                <a:gd name="T6" fmla="*/ 0 w 93"/>
                <a:gd name="T7" fmla="*/ 1776 h 1777"/>
                <a:gd name="T8" fmla="*/ 92 w 93"/>
                <a:gd name="T9" fmla="*/ 1776 h 1777"/>
                <a:gd name="T10" fmla="*/ 92 w 93"/>
                <a:gd name="T11" fmla="*/ 1776 h 177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3"/>
                <a:gd name="T19" fmla="*/ 0 h 1777"/>
                <a:gd name="T20" fmla="*/ 93 w 93"/>
                <a:gd name="T21" fmla="*/ 1777 h 177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3" h="1777">
                  <a:moveTo>
                    <a:pt x="90" y="1776"/>
                  </a:moveTo>
                  <a:lnTo>
                    <a:pt x="92" y="0"/>
                  </a:lnTo>
                  <a:lnTo>
                    <a:pt x="0" y="0"/>
                  </a:lnTo>
                  <a:lnTo>
                    <a:pt x="0" y="1776"/>
                  </a:lnTo>
                  <a:lnTo>
                    <a:pt x="92" y="1776"/>
                  </a:lnTo>
                </a:path>
              </a:pathLst>
            </a:custGeom>
            <a:solidFill>
              <a:srgbClr val="CCECFF"/>
            </a:solidFill>
            <a:ln w="190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31" name="Freeform 47"/>
            <p:cNvSpPr>
              <a:spLocks/>
            </p:cNvSpPr>
            <p:nvPr/>
          </p:nvSpPr>
          <p:spPr bwMode="auto">
            <a:xfrm>
              <a:off x="2899" y="1955"/>
              <a:ext cx="365" cy="422"/>
            </a:xfrm>
            <a:custGeom>
              <a:avLst/>
              <a:gdLst>
                <a:gd name="T0" fmla="*/ 0 w 301"/>
                <a:gd name="T1" fmla="*/ 0 h 422"/>
                <a:gd name="T2" fmla="*/ 0 w 301"/>
                <a:gd name="T3" fmla="*/ 170 h 422"/>
                <a:gd name="T4" fmla="*/ 75 w 301"/>
                <a:gd name="T5" fmla="*/ 210 h 422"/>
                <a:gd name="T6" fmla="*/ 0 w 301"/>
                <a:gd name="T7" fmla="*/ 251 h 422"/>
                <a:gd name="T8" fmla="*/ 0 w 301"/>
                <a:gd name="T9" fmla="*/ 421 h 422"/>
                <a:gd name="T10" fmla="*/ 364 w 301"/>
                <a:gd name="T11" fmla="*/ 285 h 422"/>
                <a:gd name="T12" fmla="*/ 364 w 301"/>
                <a:gd name="T13" fmla="*/ 138 h 422"/>
                <a:gd name="T14" fmla="*/ 0 w 301"/>
                <a:gd name="T15" fmla="*/ 0 h 422"/>
                <a:gd name="T16" fmla="*/ 0 w 301"/>
                <a:gd name="T17" fmla="*/ 0 h 42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01"/>
                <a:gd name="T28" fmla="*/ 0 h 422"/>
                <a:gd name="T29" fmla="*/ 301 w 301"/>
                <a:gd name="T30" fmla="*/ 422 h 422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01" h="422">
                  <a:moveTo>
                    <a:pt x="0" y="0"/>
                  </a:moveTo>
                  <a:lnTo>
                    <a:pt x="0" y="170"/>
                  </a:lnTo>
                  <a:lnTo>
                    <a:pt x="62" y="210"/>
                  </a:lnTo>
                  <a:lnTo>
                    <a:pt x="0" y="251"/>
                  </a:lnTo>
                  <a:lnTo>
                    <a:pt x="0" y="421"/>
                  </a:lnTo>
                  <a:lnTo>
                    <a:pt x="300" y="285"/>
                  </a:lnTo>
                  <a:lnTo>
                    <a:pt x="300" y="138"/>
                  </a:lnTo>
                  <a:lnTo>
                    <a:pt x="0" y="0"/>
                  </a:lnTo>
                </a:path>
              </a:pathLst>
            </a:custGeom>
            <a:solidFill>
              <a:srgbClr val="CCFF99"/>
            </a:solidFill>
            <a:ln w="190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32" name="Freeform 48"/>
            <p:cNvSpPr>
              <a:spLocks/>
            </p:cNvSpPr>
            <p:nvPr/>
          </p:nvSpPr>
          <p:spPr bwMode="auto">
            <a:xfrm>
              <a:off x="2969" y="2461"/>
              <a:ext cx="391" cy="458"/>
            </a:xfrm>
            <a:custGeom>
              <a:avLst/>
              <a:gdLst>
                <a:gd name="T0" fmla="*/ 0 w 300"/>
                <a:gd name="T1" fmla="*/ 0 h 422"/>
                <a:gd name="T2" fmla="*/ 0 w 300"/>
                <a:gd name="T3" fmla="*/ 186 h 422"/>
                <a:gd name="T4" fmla="*/ 80 w 300"/>
                <a:gd name="T5" fmla="*/ 229 h 422"/>
                <a:gd name="T6" fmla="*/ 0 w 300"/>
                <a:gd name="T7" fmla="*/ 272 h 422"/>
                <a:gd name="T8" fmla="*/ 0 w 300"/>
                <a:gd name="T9" fmla="*/ 457 h 422"/>
                <a:gd name="T10" fmla="*/ 390 w 300"/>
                <a:gd name="T11" fmla="*/ 309 h 422"/>
                <a:gd name="T12" fmla="*/ 390 w 300"/>
                <a:gd name="T13" fmla="*/ 148 h 422"/>
                <a:gd name="T14" fmla="*/ 0 w 300"/>
                <a:gd name="T15" fmla="*/ 0 h 422"/>
                <a:gd name="T16" fmla="*/ 0 w 300"/>
                <a:gd name="T17" fmla="*/ 0 h 42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00"/>
                <a:gd name="T28" fmla="*/ 0 h 422"/>
                <a:gd name="T29" fmla="*/ 300 w 300"/>
                <a:gd name="T30" fmla="*/ 422 h 422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00" h="422">
                  <a:moveTo>
                    <a:pt x="0" y="0"/>
                  </a:moveTo>
                  <a:lnTo>
                    <a:pt x="0" y="171"/>
                  </a:lnTo>
                  <a:lnTo>
                    <a:pt x="61" y="211"/>
                  </a:lnTo>
                  <a:lnTo>
                    <a:pt x="0" y="251"/>
                  </a:lnTo>
                  <a:lnTo>
                    <a:pt x="0" y="421"/>
                  </a:lnTo>
                  <a:lnTo>
                    <a:pt x="299" y="285"/>
                  </a:lnTo>
                  <a:lnTo>
                    <a:pt x="299" y="136"/>
                  </a:lnTo>
                  <a:lnTo>
                    <a:pt x="0" y="0"/>
                  </a:lnTo>
                </a:path>
              </a:pathLst>
            </a:custGeom>
            <a:solidFill>
              <a:srgbClr val="CCFF99"/>
            </a:solidFill>
            <a:ln w="190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33" name="Freeform 49"/>
            <p:cNvSpPr>
              <a:spLocks/>
            </p:cNvSpPr>
            <p:nvPr/>
          </p:nvSpPr>
          <p:spPr bwMode="auto">
            <a:xfrm>
              <a:off x="2675" y="2170"/>
              <a:ext cx="151" cy="239"/>
            </a:xfrm>
            <a:custGeom>
              <a:avLst/>
              <a:gdLst>
                <a:gd name="T0" fmla="*/ 73 w 151"/>
                <a:gd name="T1" fmla="*/ 236 h 239"/>
                <a:gd name="T2" fmla="*/ 86 w 151"/>
                <a:gd name="T3" fmla="*/ 236 h 239"/>
                <a:gd name="T4" fmla="*/ 98 w 151"/>
                <a:gd name="T5" fmla="*/ 232 h 239"/>
                <a:gd name="T6" fmla="*/ 109 w 151"/>
                <a:gd name="T7" fmla="*/ 224 h 239"/>
                <a:gd name="T8" fmla="*/ 119 w 151"/>
                <a:gd name="T9" fmla="*/ 215 h 239"/>
                <a:gd name="T10" fmla="*/ 129 w 151"/>
                <a:gd name="T11" fmla="*/ 203 h 239"/>
                <a:gd name="T12" fmla="*/ 134 w 151"/>
                <a:gd name="T13" fmla="*/ 188 h 239"/>
                <a:gd name="T14" fmla="*/ 142 w 151"/>
                <a:gd name="T15" fmla="*/ 172 h 239"/>
                <a:gd name="T16" fmla="*/ 146 w 151"/>
                <a:gd name="T17" fmla="*/ 155 h 239"/>
                <a:gd name="T18" fmla="*/ 150 w 151"/>
                <a:gd name="T19" fmla="*/ 138 h 239"/>
                <a:gd name="T20" fmla="*/ 150 w 151"/>
                <a:gd name="T21" fmla="*/ 119 h 239"/>
                <a:gd name="T22" fmla="*/ 150 w 151"/>
                <a:gd name="T23" fmla="*/ 100 h 239"/>
                <a:gd name="T24" fmla="*/ 146 w 151"/>
                <a:gd name="T25" fmla="*/ 80 h 239"/>
                <a:gd name="T26" fmla="*/ 142 w 151"/>
                <a:gd name="T27" fmla="*/ 63 h 239"/>
                <a:gd name="T28" fmla="*/ 134 w 151"/>
                <a:gd name="T29" fmla="*/ 48 h 239"/>
                <a:gd name="T30" fmla="*/ 129 w 151"/>
                <a:gd name="T31" fmla="*/ 34 h 239"/>
                <a:gd name="T32" fmla="*/ 119 w 151"/>
                <a:gd name="T33" fmla="*/ 23 h 239"/>
                <a:gd name="T34" fmla="*/ 109 w 151"/>
                <a:gd name="T35" fmla="*/ 13 h 239"/>
                <a:gd name="T36" fmla="*/ 98 w 151"/>
                <a:gd name="T37" fmla="*/ 6 h 239"/>
                <a:gd name="T38" fmla="*/ 86 w 151"/>
                <a:gd name="T39" fmla="*/ 0 h 239"/>
                <a:gd name="T40" fmla="*/ 75 w 151"/>
                <a:gd name="T41" fmla="*/ 0 h 239"/>
                <a:gd name="T42" fmla="*/ 62 w 151"/>
                <a:gd name="T43" fmla="*/ 0 h 239"/>
                <a:gd name="T44" fmla="*/ 50 w 151"/>
                <a:gd name="T45" fmla="*/ 6 h 239"/>
                <a:gd name="T46" fmla="*/ 40 w 151"/>
                <a:gd name="T47" fmla="*/ 13 h 239"/>
                <a:gd name="T48" fmla="*/ 31 w 151"/>
                <a:gd name="T49" fmla="*/ 23 h 239"/>
                <a:gd name="T50" fmla="*/ 21 w 151"/>
                <a:gd name="T51" fmla="*/ 34 h 239"/>
                <a:gd name="T52" fmla="*/ 14 w 151"/>
                <a:gd name="T53" fmla="*/ 48 h 239"/>
                <a:gd name="T54" fmla="*/ 8 w 151"/>
                <a:gd name="T55" fmla="*/ 63 h 239"/>
                <a:gd name="T56" fmla="*/ 4 w 151"/>
                <a:gd name="T57" fmla="*/ 80 h 239"/>
                <a:gd name="T58" fmla="*/ 0 w 151"/>
                <a:gd name="T59" fmla="*/ 100 h 239"/>
                <a:gd name="T60" fmla="*/ 0 w 151"/>
                <a:gd name="T61" fmla="*/ 119 h 239"/>
                <a:gd name="T62" fmla="*/ 0 w 151"/>
                <a:gd name="T63" fmla="*/ 138 h 239"/>
                <a:gd name="T64" fmla="*/ 4 w 151"/>
                <a:gd name="T65" fmla="*/ 155 h 239"/>
                <a:gd name="T66" fmla="*/ 8 w 151"/>
                <a:gd name="T67" fmla="*/ 172 h 239"/>
                <a:gd name="T68" fmla="*/ 14 w 151"/>
                <a:gd name="T69" fmla="*/ 188 h 239"/>
                <a:gd name="T70" fmla="*/ 21 w 151"/>
                <a:gd name="T71" fmla="*/ 203 h 239"/>
                <a:gd name="T72" fmla="*/ 31 w 151"/>
                <a:gd name="T73" fmla="*/ 215 h 239"/>
                <a:gd name="T74" fmla="*/ 40 w 151"/>
                <a:gd name="T75" fmla="*/ 224 h 239"/>
                <a:gd name="T76" fmla="*/ 50 w 151"/>
                <a:gd name="T77" fmla="*/ 232 h 239"/>
                <a:gd name="T78" fmla="*/ 62 w 151"/>
                <a:gd name="T79" fmla="*/ 236 h 239"/>
                <a:gd name="T80" fmla="*/ 75 w 151"/>
                <a:gd name="T81" fmla="*/ 238 h 239"/>
                <a:gd name="T82" fmla="*/ 75 w 151"/>
                <a:gd name="T83" fmla="*/ 238 h 239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151"/>
                <a:gd name="T127" fmla="*/ 0 h 239"/>
                <a:gd name="T128" fmla="*/ 151 w 151"/>
                <a:gd name="T129" fmla="*/ 239 h 239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151" h="239">
                  <a:moveTo>
                    <a:pt x="73" y="236"/>
                  </a:moveTo>
                  <a:lnTo>
                    <a:pt x="86" y="236"/>
                  </a:lnTo>
                  <a:lnTo>
                    <a:pt x="98" y="232"/>
                  </a:lnTo>
                  <a:lnTo>
                    <a:pt x="109" y="224"/>
                  </a:lnTo>
                  <a:lnTo>
                    <a:pt x="119" y="215"/>
                  </a:lnTo>
                  <a:lnTo>
                    <a:pt x="129" y="203"/>
                  </a:lnTo>
                  <a:lnTo>
                    <a:pt x="134" y="188"/>
                  </a:lnTo>
                  <a:lnTo>
                    <a:pt x="142" y="172"/>
                  </a:lnTo>
                  <a:lnTo>
                    <a:pt x="146" y="155"/>
                  </a:lnTo>
                  <a:lnTo>
                    <a:pt x="150" y="138"/>
                  </a:lnTo>
                  <a:lnTo>
                    <a:pt x="150" y="119"/>
                  </a:lnTo>
                  <a:lnTo>
                    <a:pt x="150" y="100"/>
                  </a:lnTo>
                  <a:lnTo>
                    <a:pt x="146" y="80"/>
                  </a:lnTo>
                  <a:lnTo>
                    <a:pt x="142" y="63"/>
                  </a:lnTo>
                  <a:lnTo>
                    <a:pt x="134" y="48"/>
                  </a:lnTo>
                  <a:lnTo>
                    <a:pt x="129" y="34"/>
                  </a:lnTo>
                  <a:lnTo>
                    <a:pt x="119" y="23"/>
                  </a:lnTo>
                  <a:lnTo>
                    <a:pt x="109" y="13"/>
                  </a:lnTo>
                  <a:lnTo>
                    <a:pt x="98" y="6"/>
                  </a:lnTo>
                  <a:lnTo>
                    <a:pt x="86" y="0"/>
                  </a:lnTo>
                  <a:lnTo>
                    <a:pt x="75" y="0"/>
                  </a:lnTo>
                  <a:lnTo>
                    <a:pt x="62" y="0"/>
                  </a:lnTo>
                  <a:lnTo>
                    <a:pt x="50" y="6"/>
                  </a:lnTo>
                  <a:lnTo>
                    <a:pt x="40" y="13"/>
                  </a:lnTo>
                  <a:lnTo>
                    <a:pt x="31" y="23"/>
                  </a:lnTo>
                  <a:lnTo>
                    <a:pt x="21" y="34"/>
                  </a:lnTo>
                  <a:lnTo>
                    <a:pt x="14" y="48"/>
                  </a:lnTo>
                  <a:lnTo>
                    <a:pt x="8" y="63"/>
                  </a:lnTo>
                  <a:lnTo>
                    <a:pt x="4" y="80"/>
                  </a:lnTo>
                  <a:lnTo>
                    <a:pt x="0" y="100"/>
                  </a:lnTo>
                  <a:lnTo>
                    <a:pt x="0" y="119"/>
                  </a:lnTo>
                  <a:lnTo>
                    <a:pt x="0" y="138"/>
                  </a:lnTo>
                  <a:lnTo>
                    <a:pt x="4" y="155"/>
                  </a:lnTo>
                  <a:lnTo>
                    <a:pt x="8" y="172"/>
                  </a:lnTo>
                  <a:lnTo>
                    <a:pt x="14" y="188"/>
                  </a:lnTo>
                  <a:lnTo>
                    <a:pt x="21" y="203"/>
                  </a:lnTo>
                  <a:lnTo>
                    <a:pt x="31" y="215"/>
                  </a:lnTo>
                  <a:lnTo>
                    <a:pt x="40" y="224"/>
                  </a:lnTo>
                  <a:lnTo>
                    <a:pt x="50" y="232"/>
                  </a:lnTo>
                  <a:lnTo>
                    <a:pt x="62" y="236"/>
                  </a:lnTo>
                  <a:lnTo>
                    <a:pt x="75" y="238"/>
                  </a:lnTo>
                </a:path>
              </a:pathLst>
            </a:custGeom>
            <a:solidFill>
              <a:srgbClr val="EAEAEA"/>
            </a:solidFill>
            <a:ln w="190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34" name="Rectangle 50"/>
            <p:cNvSpPr>
              <a:spLocks noChangeArrowheads="1"/>
            </p:cNvSpPr>
            <p:nvPr/>
          </p:nvSpPr>
          <p:spPr bwMode="auto">
            <a:xfrm>
              <a:off x="2991" y="2737"/>
              <a:ext cx="138" cy="1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dirty="0">
                  <a:solidFill>
                    <a:srgbClr val="000000"/>
                  </a:solidFill>
                  <a:latin typeface="+mj-lt"/>
                </a:rPr>
                <a:t>ALU</a:t>
              </a:r>
            </a:p>
          </p:txBody>
        </p:sp>
        <p:sp>
          <p:nvSpPr>
            <p:cNvPr id="54335" name="Rectangle 51"/>
            <p:cNvSpPr>
              <a:spLocks noChangeArrowheads="1"/>
            </p:cNvSpPr>
            <p:nvPr/>
          </p:nvSpPr>
          <p:spPr bwMode="auto">
            <a:xfrm>
              <a:off x="3183" y="2697"/>
              <a:ext cx="132" cy="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 dirty="0">
                  <a:solidFill>
                    <a:srgbClr val="000000"/>
                  </a:solidFill>
                  <a:latin typeface="+mj-lt"/>
                </a:rPr>
                <a:t>result</a:t>
              </a:r>
            </a:p>
          </p:txBody>
        </p:sp>
        <p:sp>
          <p:nvSpPr>
            <p:cNvPr id="54336" name="Rectangle 52"/>
            <p:cNvSpPr>
              <a:spLocks noChangeArrowheads="1"/>
            </p:cNvSpPr>
            <p:nvPr/>
          </p:nvSpPr>
          <p:spPr bwMode="auto">
            <a:xfrm>
              <a:off x="3208" y="2604"/>
              <a:ext cx="127" cy="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 dirty="0">
                  <a:solidFill>
                    <a:srgbClr val="000000"/>
                  </a:solidFill>
                  <a:latin typeface="+mj-lt"/>
                </a:rPr>
                <a:t>z</a:t>
              </a:r>
              <a:r>
                <a:rPr lang="en-US" sz="800" dirty="0" smtClean="0">
                  <a:solidFill>
                    <a:srgbClr val="000000"/>
                  </a:solidFill>
                  <a:latin typeface="+mj-lt"/>
                </a:rPr>
                <a:t>ero?</a:t>
              </a:r>
              <a:endParaRPr lang="en-US" sz="500" dirty="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337" name="Rectangle 53"/>
            <p:cNvSpPr>
              <a:spLocks noChangeArrowheads="1"/>
            </p:cNvSpPr>
            <p:nvPr/>
          </p:nvSpPr>
          <p:spPr bwMode="auto">
            <a:xfrm>
              <a:off x="3105" y="2123"/>
              <a:ext cx="132" cy="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 dirty="0" smtClean="0">
                  <a:solidFill>
                    <a:srgbClr val="000000"/>
                  </a:solidFill>
                  <a:latin typeface="+mj-lt"/>
                </a:rPr>
                <a:t>result</a:t>
              </a:r>
              <a:endParaRPr lang="en-US" sz="500" dirty="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338" name="Rectangle 54"/>
            <p:cNvSpPr>
              <a:spLocks noChangeArrowheads="1"/>
            </p:cNvSpPr>
            <p:nvPr/>
          </p:nvSpPr>
          <p:spPr bwMode="auto">
            <a:xfrm>
              <a:off x="2928" y="2191"/>
              <a:ext cx="138" cy="1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dirty="0">
                  <a:solidFill>
                    <a:srgbClr val="000000"/>
                  </a:solidFill>
                  <a:latin typeface="+mj-lt"/>
                </a:rPr>
                <a:t>Add</a:t>
              </a:r>
            </a:p>
          </p:txBody>
        </p:sp>
        <p:sp>
          <p:nvSpPr>
            <p:cNvPr id="54339" name="Rectangle 55"/>
            <p:cNvSpPr>
              <a:spLocks noChangeArrowheads="1"/>
            </p:cNvSpPr>
            <p:nvPr/>
          </p:nvSpPr>
          <p:spPr bwMode="auto">
            <a:xfrm>
              <a:off x="2694" y="2232"/>
              <a:ext cx="90" cy="1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600" dirty="0">
                  <a:solidFill>
                    <a:srgbClr val="000000"/>
                  </a:solidFill>
                  <a:latin typeface="+mj-lt"/>
                </a:rPr>
                <a:t>Shift </a:t>
              </a:r>
            </a:p>
            <a:p>
              <a:r>
                <a:rPr lang="en-US" sz="600" dirty="0">
                  <a:solidFill>
                    <a:srgbClr val="000000"/>
                  </a:solidFill>
                  <a:latin typeface="+mj-lt"/>
                </a:rPr>
                <a:t>left 2</a:t>
              </a:r>
              <a:endParaRPr lang="en-US" sz="500" dirty="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340" name="Line 56"/>
            <p:cNvSpPr>
              <a:spLocks noChangeShapeType="1"/>
            </p:cNvSpPr>
            <p:nvPr/>
          </p:nvSpPr>
          <p:spPr bwMode="auto">
            <a:xfrm flipH="1" flipV="1">
              <a:off x="2907" y="2820"/>
              <a:ext cx="65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41" name="Line 57"/>
            <p:cNvSpPr>
              <a:spLocks noChangeShapeType="1"/>
            </p:cNvSpPr>
            <p:nvPr/>
          </p:nvSpPr>
          <p:spPr bwMode="auto">
            <a:xfrm flipH="1" flipV="1">
              <a:off x="2526" y="2721"/>
              <a:ext cx="290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42" name="Line 58"/>
            <p:cNvSpPr>
              <a:spLocks noChangeShapeType="1"/>
            </p:cNvSpPr>
            <p:nvPr/>
          </p:nvSpPr>
          <p:spPr bwMode="auto">
            <a:xfrm flipH="1" flipV="1">
              <a:off x="2746" y="2925"/>
              <a:ext cx="71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43" name="Line 59"/>
            <p:cNvSpPr>
              <a:spLocks noChangeShapeType="1"/>
            </p:cNvSpPr>
            <p:nvPr/>
          </p:nvSpPr>
          <p:spPr bwMode="auto">
            <a:xfrm flipH="1">
              <a:off x="3268" y="2163"/>
              <a:ext cx="308" cy="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44" name="Line 60"/>
            <p:cNvSpPr>
              <a:spLocks noChangeShapeType="1"/>
            </p:cNvSpPr>
            <p:nvPr/>
          </p:nvSpPr>
          <p:spPr bwMode="auto">
            <a:xfrm flipH="1" flipV="1">
              <a:off x="3355" y="2748"/>
              <a:ext cx="227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45" name="Line 61"/>
            <p:cNvSpPr>
              <a:spLocks noChangeShapeType="1"/>
            </p:cNvSpPr>
            <p:nvPr/>
          </p:nvSpPr>
          <p:spPr bwMode="auto">
            <a:xfrm flipH="1">
              <a:off x="2523" y="3451"/>
              <a:ext cx="254" cy="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46" name="Line 62"/>
            <p:cNvSpPr>
              <a:spLocks noChangeShapeType="1"/>
            </p:cNvSpPr>
            <p:nvPr/>
          </p:nvSpPr>
          <p:spPr bwMode="auto">
            <a:xfrm flipH="1" flipV="1">
              <a:off x="2526" y="3647"/>
              <a:ext cx="254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47" name="Rectangle 63"/>
            <p:cNvSpPr>
              <a:spLocks noChangeArrowheads="1"/>
            </p:cNvSpPr>
            <p:nvPr/>
          </p:nvSpPr>
          <p:spPr bwMode="auto">
            <a:xfrm>
              <a:off x="2914" y="3127"/>
              <a:ext cx="172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n-US" sz="800">
                  <a:solidFill>
                    <a:srgbClr val="EB7500"/>
                  </a:solidFill>
                  <a:latin typeface="+mj-lt"/>
                </a:rPr>
                <a:t>ALU</a:t>
              </a:r>
            </a:p>
            <a:p>
              <a:pPr algn="ctr"/>
              <a:r>
                <a:rPr lang="en-US" sz="800">
                  <a:solidFill>
                    <a:srgbClr val="EB7500"/>
                  </a:solidFill>
                  <a:latin typeface="+mj-lt"/>
                </a:rPr>
                <a:t>Control</a:t>
              </a:r>
              <a:endParaRPr lang="en-US" sz="500">
                <a:solidFill>
                  <a:srgbClr val="EB7500"/>
                </a:solidFill>
                <a:latin typeface="+mj-lt"/>
              </a:endParaRPr>
            </a:p>
          </p:txBody>
        </p:sp>
        <p:sp>
          <p:nvSpPr>
            <p:cNvPr id="54350" name="Line 66"/>
            <p:cNvSpPr>
              <a:spLocks noChangeShapeType="1"/>
            </p:cNvSpPr>
            <p:nvPr/>
          </p:nvSpPr>
          <p:spPr bwMode="auto">
            <a:xfrm flipH="1">
              <a:off x="2875" y="3555"/>
              <a:ext cx="702" cy="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51" name="Line 67"/>
            <p:cNvSpPr>
              <a:spLocks noChangeShapeType="1"/>
            </p:cNvSpPr>
            <p:nvPr/>
          </p:nvSpPr>
          <p:spPr bwMode="auto">
            <a:xfrm flipH="1" flipV="1">
              <a:off x="2826" y="2286"/>
              <a:ext cx="71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53" name="Rectangle 69"/>
            <p:cNvSpPr>
              <a:spLocks noChangeArrowheads="1"/>
            </p:cNvSpPr>
            <p:nvPr/>
          </p:nvSpPr>
          <p:spPr bwMode="auto">
            <a:xfrm>
              <a:off x="1824" y="2374"/>
              <a:ext cx="117" cy="1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800" dirty="0">
                  <a:solidFill>
                    <a:srgbClr val="000000"/>
                  </a:solidFill>
                  <a:latin typeface="+mj-lt"/>
                </a:rPr>
                <a:t>Read</a:t>
              </a:r>
            </a:p>
            <a:p>
              <a:pPr>
                <a:lnSpc>
                  <a:spcPct val="90000"/>
                </a:lnSpc>
              </a:pPr>
              <a:r>
                <a:rPr lang="en-US" sz="800" dirty="0" err="1">
                  <a:solidFill>
                    <a:srgbClr val="000000"/>
                  </a:solidFill>
                  <a:latin typeface="+mj-lt"/>
                </a:rPr>
                <a:t>reg</a:t>
              </a:r>
              <a:r>
                <a:rPr lang="en-US" sz="800" dirty="0">
                  <a:solidFill>
                    <a:srgbClr val="000000"/>
                  </a:solidFill>
                  <a:latin typeface="+mj-lt"/>
                </a:rPr>
                <a:t> 1</a:t>
              </a:r>
              <a:endParaRPr lang="en-US" sz="600" dirty="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354" name="Rectangle 70"/>
            <p:cNvSpPr>
              <a:spLocks noChangeArrowheads="1"/>
            </p:cNvSpPr>
            <p:nvPr/>
          </p:nvSpPr>
          <p:spPr bwMode="auto">
            <a:xfrm>
              <a:off x="1823" y="2524"/>
              <a:ext cx="117" cy="1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800" dirty="0">
                  <a:solidFill>
                    <a:srgbClr val="000000"/>
                  </a:solidFill>
                  <a:latin typeface="+mj-lt"/>
                </a:rPr>
                <a:t>Read</a:t>
              </a:r>
            </a:p>
            <a:p>
              <a:pPr>
                <a:lnSpc>
                  <a:spcPct val="90000"/>
                </a:lnSpc>
              </a:pPr>
              <a:r>
                <a:rPr lang="en-US" sz="800" dirty="0" err="1">
                  <a:solidFill>
                    <a:srgbClr val="000000"/>
                  </a:solidFill>
                  <a:latin typeface="+mj-lt"/>
                </a:rPr>
                <a:t>reg</a:t>
              </a:r>
              <a:r>
                <a:rPr lang="en-US" sz="800" dirty="0">
                  <a:solidFill>
                    <a:srgbClr val="000000"/>
                  </a:solidFill>
                  <a:latin typeface="+mj-lt"/>
                </a:rPr>
                <a:t> 2</a:t>
              </a:r>
              <a:endParaRPr lang="en-US" sz="600" dirty="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355" name="Rectangle 71"/>
            <p:cNvSpPr>
              <a:spLocks noChangeArrowheads="1"/>
            </p:cNvSpPr>
            <p:nvPr/>
          </p:nvSpPr>
          <p:spPr bwMode="auto">
            <a:xfrm>
              <a:off x="1830" y="2683"/>
              <a:ext cx="130" cy="1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800" dirty="0">
                  <a:solidFill>
                    <a:srgbClr val="000000"/>
                  </a:solidFill>
                  <a:latin typeface="+mj-lt"/>
                </a:rPr>
                <a:t>Write</a:t>
              </a:r>
            </a:p>
            <a:p>
              <a:pPr>
                <a:lnSpc>
                  <a:spcPct val="90000"/>
                </a:lnSpc>
              </a:pPr>
              <a:r>
                <a:rPr lang="en-US" sz="800" dirty="0" err="1">
                  <a:solidFill>
                    <a:srgbClr val="000000"/>
                  </a:solidFill>
                  <a:latin typeface="+mj-lt"/>
                </a:rPr>
                <a:t>reg</a:t>
              </a:r>
              <a:endParaRPr lang="en-US" sz="700" dirty="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356" name="Rectangle 72"/>
            <p:cNvSpPr>
              <a:spLocks noChangeArrowheads="1"/>
            </p:cNvSpPr>
            <p:nvPr/>
          </p:nvSpPr>
          <p:spPr bwMode="auto">
            <a:xfrm>
              <a:off x="1833" y="2836"/>
              <a:ext cx="130" cy="1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800" dirty="0">
                  <a:solidFill>
                    <a:srgbClr val="000000"/>
                  </a:solidFill>
                  <a:latin typeface="+mj-lt"/>
                </a:rPr>
                <a:t>Write</a:t>
              </a:r>
            </a:p>
            <a:p>
              <a:pPr>
                <a:lnSpc>
                  <a:spcPct val="90000"/>
                </a:lnSpc>
              </a:pPr>
              <a:r>
                <a:rPr lang="en-US" sz="800" dirty="0">
                  <a:solidFill>
                    <a:srgbClr val="000000"/>
                  </a:solidFill>
                  <a:latin typeface="+mj-lt"/>
                </a:rPr>
                <a:t>data</a:t>
              </a:r>
            </a:p>
          </p:txBody>
        </p:sp>
        <p:sp>
          <p:nvSpPr>
            <p:cNvPr id="54357" name="Rectangle 73"/>
            <p:cNvSpPr>
              <a:spLocks noChangeArrowheads="1"/>
            </p:cNvSpPr>
            <p:nvPr/>
          </p:nvSpPr>
          <p:spPr bwMode="auto">
            <a:xfrm>
              <a:off x="2139" y="2470"/>
              <a:ext cx="145" cy="1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800" dirty="0">
                  <a:solidFill>
                    <a:srgbClr val="000000"/>
                  </a:solidFill>
                  <a:latin typeface="+mj-lt"/>
                </a:rPr>
                <a:t>Read</a:t>
              </a:r>
            </a:p>
            <a:p>
              <a:pPr>
                <a:lnSpc>
                  <a:spcPct val="90000"/>
                </a:lnSpc>
              </a:pPr>
              <a:r>
                <a:rPr lang="en-US" sz="800" dirty="0">
                  <a:solidFill>
                    <a:srgbClr val="000000"/>
                  </a:solidFill>
                  <a:latin typeface="+mj-lt"/>
                </a:rPr>
                <a:t>data 1</a:t>
              </a:r>
              <a:endParaRPr lang="en-US" sz="500" dirty="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358" name="Rectangle 74"/>
            <p:cNvSpPr>
              <a:spLocks noChangeArrowheads="1"/>
            </p:cNvSpPr>
            <p:nvPr/>
          </p:nvSpPr>
          <p:spPr bwMode="auto">
            <a:xfrm>
              <a:off x="2145" y="2657"/>
              <a:ext cx="145" cy="1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800" dirty="0">
                  <a:solidFill>
                    <a:srgbClr val="000000"/>
                  </a:solidFill>
                  <a:latin typeface="+mj-lt"/>
                </a:rPr>
                <a:t>Read</a:t>
              </a:r>
            </a:p>
            <a:p>
              <a:pPr>
                <a:lnSpc>
                  <a:spcPct val="90000"/>
                </a:lnSpc>
              </a:pPr>
              <a:r>
                <a:rPr lang="en-US" sz="800" dirty="0">
                  <a:solidFill>
                    <a:srgbClr val="000000"/>
                  </a:solidFill>
                  <a:latin typeface="+mj-lt"/>
                </a:rPr>
                <a:t>data 2</a:t>
              </a:r>
              <a:endParaRPr lang="en-US" sz="600" dirty="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359" name="Rectangle 75"/>
            <p:cNvSpPr>
              <a:spLocks noChangeArrowheads="1"/>
            </p:cNvSpPr>
            <p:nvPr/>
          </p:nvSpPr>
          <p:spPr bwMode="auto">
            <a:xfrm rot="16200000">
              <a:off x="1828" y="2603"/>
              <a:ext cx="442" cy="1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>
                  <a:solidFill>
                    <a:srgbClr val="000000"/>
                  </a:solidFill>
                  <a:latin typeface="+mj-lt"/>
                </a:rPr>
                <a:t>Register File</a:t>
              </a:r>
            </a:p>
          </p:txBody>
        </p:sp>
        <p:sp>
          <p:nvSpPr>
            <p:cNvPr id="54360" name="Rectangle 76"/>
            <p:cNvSpPr>
              <a:spLocks noChangeArrowheads="1"/>
            </p:cNvSpPr>
            <p:nvPr/>
          </p:nvSpPr>
          <p:spPr bwMode="auto">
            <a:xfrm>
              <a:off x="1743" y="3137"/>
              <a:ext cx="154" cy="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900">
                  <a:solidFill>
                    <a:srgbClr val="000000"/>
                  </a:solidFill>
                  <a:latin typeface="+mj-lt"/>
                </a:rPr>
                <a:t>[15-0]</a:t>
              </a:r>
              <a:endParaRPr lang="en-US" sz="5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361" name="Rectangle 77"/>
            <p:cNvSpPr>
              <a:spLocks noChangeArrowheads="1"/>
            </p:cNvSpPr>
            <p:nvPr/>
          </p:nvSpPr>
          <p:spPr bwMode="auto">
            <a:xfrm>
              <a:off x="1740" y="3358"/>
              <a:ext cx="186" cy="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900">
                  <a:solidFill>
                    <a:srgbClr val="000000"/>
                  </a:solidFill>
                  <a:latin typeface="+mj-lt"/>
                </a:rPr>
                <a:t>[20-16]</a:t>
              </a:r>
            </a:p>
          </p:txBody>
        </p:sp>
        <p:sp>
          <p:nvSpPr>
            <p:cNvPr id="54362" name="Rectangle 78"/>
            <p:cNvSpPr>
              <a:spLocks noChangeArrowheads="1"/>
            </p:cNvSpPr>
            <p:nvPr/>
          </p:nvSpPr>
          <p:spPr bwMode="auto">
            <a:xfrm>
              <a:off x="1743" y="3550"/>
              <a:ext cx="186" cy="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900">
                  <a:solidFill>
                    <a:srgbClr val="000000"/>
                  </a:solidFill>
                  <a:latin typeface="+mj-lt"/>
                </a:rPr>
                <a:t>[15-11]</a:t>
              </a:r>
            </a:p>
          </p:txBody>
        </p:sp>
        <p:sp>
          <p:nvSpPr>
            <p:cNvPr id="54363" name="Freeform 79"/>
            <p:cNvSpPr>
              <a:spLocks/>
            </p:cNvSpPr>
            <p:nvPr/>
          </p:nvSpPr>
          <p:spPr bwMode="auto">
            <a:xfrm>
              <a:off x="1629" y="3213"/>
              <a:ext cx="24" cy="24"/>
            </a:xfrm>
            <a:custGeom>
              <a:avLst/>
              <a:gdLst>
                <a:gd name="T0" fmla="*/ 10 w 24"/>
                <a:gd name="T1" fmla="*/ 23 h 24"/>
                <a:gd name="T2" fmla="*/ 14 w 24"/>
                <a:gd name="T3" fmla="*/ 23 h 24"/>
                <a:gd name="T4" fmla="*/ 16 w 24"/>
                <a:gd name="T5" fmla="*/ 23 h 24"/>
                <a:gd name="T6" fmla="*/ 16 w 24"/>
                <a:gd name="T7" fmla="*/ 21 h 24"/>
                <a:gd name="T8" fmla="*/ 18 w 24"/>
                <a:gd name="T9" fmla="*/ 21 h 24"/>
                <a:gd name="T10" fmla="*/ 20 w 24"/>
                <a:gd name="T11" fmla="*/ 19 h 24"/>
                <a:gd name="T12" fmla="*/ 22 w 24"/>
                <a:gd name="T13" fmla="*/ 18 h 24"/>
                <a:gd name="T14" fmla="*/ 22 w 24"/>
                <a:gd name="T15" fmla="*/ 18 h 24"/>
                <a:gd name="T16" fmla="*/ 22 w 24"/>
                <a:gd name="T17" fmla="*/ 16 h 24"/>
                <a:gd name="T18" fmla="*/ 23 w 24"/>
                <a:gd name="T19" fmla="*/ 14 h 24"/>
                <a:gd name="T20" fmla="*/ 23 w 24"/>
                <a:gd name="T21" fmla="*/ 12 h 24"/>
                <a:gd name="T22" fmla="*/ 23 w 24"/>
                <a:gd name="T23" fmla="*/ 10 h 24"/>
                <a:gd name="T24" fmla="*/ 22 w 24"/>
                <a:gd name="T25" fmla="*/ 8 h 24"/>
                <a:gd name="T26" fmla="*/ 22 w 24"/>
                <a:gd name="T27" fmla="*/ 6 h 24"/>
                <a:gd name="T28" fmla="*/ 22 w 24"/>
                <a:gd name="T29" fmla="*/ 4 h 24"/>
                <a:gd name="T30" fmla="*/ 20 w 24"/>
                <a:gd name="T31" fmla="*/ 4 h 24"/>
                <a:gd name="T32" fmla="*/ 18 w 24"/>
                <a:gd name="T33" fmla="*/ 2 h 24"/>
                <a:gd name="T34" fmla="*/ 16 w 24"/>
                <a:gd name="T35" fmla="*/ 2 h 24"/>
                <a:gd name="T36" fmla="*/ 16 w 24"/>
                <a:gd name="T37" fmla="*/ 0 h 24"/>
                <a:gd name="T38" fmla="*/ 14 w 24"/>
                <a:gd name="T39" fmla="*/ 0 h 24"/>
                <a:gd name="T40" fmla="*/ 12 w 24"/>
                <a:gd name="T41" fmla="*/ 0 h 24"/>
                <a:gd name="T42" fmla="*/ 10 w 24"/>
                <a:gd name="T43" fmla="*/ 0 h 24"/>
                <a:gd name="T44" fmla="*/ 8 w 24"/>
                <a:gd name="T45" fmla="*/ 0 h 24"/>
                <a:gd name="T46" fmla="*/ 6 w 24"/>
                <a:gd name="T47" fmla="*/ 2 h 24"/>
                <a:gd name="T48" fmla="*/ 4 w 24"/>
                <a:gd name="T49" fmla="*/ 2 h 24"/>
                <a:gd name="T50" fmla="*/ 2 w 24"/>
                <a:gd name="T51" fmla="*/ 4 h 24"/>
                <a:gd name="T52" fmla="*/ 2 w 24"/>
                <a:gd name="T53" fmla="*/ 4 h 24"/>
                <a:gd name="T54" fmla="*/ 0 w 24"/>
                <a:gd name="T55" fmla="*/ 6 h 24"/>
                <a:gd name="T56" fmla="*/ 0 w 24"/>
                <a:gd name="T57" fmla="*/ 8 h 24"/>
                <a:gd name="T58" fmla="*/ 0 w 24"/>
                <a:gd name="T59" fmla="*/ 10 h 24"/>
                <a:gd name="T60" fmla="*/ 0 w 24"/>
                <a:gd name="T61" fmla="*/ 12 h 24"/>
                <a:gd name="T62" fmla="*/ 0 w 24"/>
                <a:gd name="T63" fmla="*/ 14 h 24"/>
                <a:gd name="T64" fmla="*/ 0 w 24"/>
                <a:gd name="T65" fmla="*/ 16 h 24"/>
                <a:gd name="T66" fmla="*/ 0 w 24"/>
                <a:gd name="T67" fmla="*/ 18 h 24"/>
                <a:gd name="T68" fmla="*/ 2 w 24"/>
                <a:gd name="T69" fmla="*/ 18 h 24"/>
                <a:gd name="T70" fmla="*/ 2 w 24"/>
                <a:gd name="T71" fmla="*/ 19 h 24"/>
                <a:gd name="T72" fmla="*/ 4 w 24"/>
                <a:gd name="T73" fmla="*/ 21 h 24"/>
                <a:gd name="T74" fmla="*/ 6 w 24"/>
                <a:gd name="T75" fmla="*/ 21 h 24"/>
                <a:gd name="T76" fmla="*/ 8 w 24"/>
                <a:gd name="T77" fmla="*/ 23 h 24"/>
                <a:gd name="T78" fmla="*/ 10 w 24"/>
                <a:gd name="T79" fmla="*/ 23 h 24"/>
                <a:gd name="T80" fmla="*/ 12 w 24"/>
                <a:gd name="T81" fmla="*/ 23 h 24"/>
                <a:gd name="T82" fmla="*/ 12 w 24"/>
                <a:gd name="T83" fmla="*/ 23 h 24"/>
                <a:gd name="T84" fmla="*/ 10 w 24"/>
                <a:gd name="T85" fmla="*/ 23 h 2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4"/>
                <a:gd name="T130" fmla="*/ 0 h 24"/>
                <a:gd name="T131" fmla="*/ 24 w 24"/>
                <a:gd name="T132" fmla="*/ 24 h 24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4" h="24">
                  <a:moveTo>
                    <a:pt x="10" y="23"/>
                  </a:moveTo>
                  <a:lnTo>
                    <a:pt x="14" y="23"/>
                  </a:lnTo>
                  <a:lnTo>
                    <a:pt x="16" y="23"/>
                  </a:lnTo>
                  <a:lnTo>
                    <a:pt x="16" y="21"/>
                  </a:lnTo>
                  <a:lnTo>
                    <a:pt x="18" y="21"/>
                  </a:lnTo>
                  <a:lnTo>
                    <a:pt x="20" y="19"/>
                  </a:lnTo>
                  <a:lnTo>
                    <a:pt x="22" y="18"/>
                  </a:lnTo>
                  <a:lnTo>
                    <a:pt x="22" y="16"/>
                  </a:lnTo>
                  <a:lnTo>
                    <a:pt x="23" y="14"/>
                  </a:lnTo>
                  <a:lnTo>
                    <a:pt x="23" y="12"/>
                  </a:lnTo>
                  <a:lnTo>
                    <a:pt x="23" y="10"/>
                  </a:lnTo>
                  <a:lnTo>
                    <a:pt x="22" y="8"/>
                  </a:lnTo>
                  <a:lnTo>
                    <a:pt x="22" y="6"/>
                  </a:lnTo>
                  <a:lnTo>
                    <a:pt x="22" y="4"/>
                  </a:lnTo>
                  <a:lnTo>
                    <a:pt x="20" y="4"/>
                  </a:lnTo>
                  <a:lnTo>
                    <a:pt x="18" y="2"/>
                  </a:lnTo>
                  <a:lnTo>
                    <a:pt x="16" y="2"/>
                  </a:lnTo>
                  <a:lnTo>
                    <a:pt x="16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8" y="0"/>
                  </a:lnTo>
                  <a:lnTo>
                    <a:pt x="6" y="2"/>
                  </a:lnTo>
                  <a:lnTo>
                    <a:pt x="4" y="2"/>
                  </a:lnTo>
                  <a:lnTo>
                    <a:pt x="2" y="4"/>
                  </a:lnTo>
                  <a:lnTo>
                    <a:pt x="0" y="6"/>
                  </a:lnTo>
                  <a:lnTo>
                    <a:pt x="0" y="8"/>
                  </a:lnTo>
                  <a:lnTo>
                    <a:pt x="0" y="10"/>
                  </a:lnTo>
                  <a:lnTo>
                    <a:pt x="0" y="12"/>
                  </a:lnTo>
                  <a:lnTo>
                    <a:pt x="0" y="14"/>
                  </a:lnTo>
                  <a:lnTo>
                    <a:pt x="0" y="16"/>
                  </a:lnTo>
                  <a:lnTo>
                    <a:pt x="0" y="18"/>
                  </a:lnTo>
                  <a:lnTo>
                    <a:pt x="2" y="18"/>
                  </a:lnTo>
                  <a:lnTo>
                    <a:pt x="2" y="19"/>
                  </a:lnTo>
                  <a:lnTo>
                    <a:pt x="4" y="21"/>
                  </a:lnTo>
                  <a:lnTo>
                    <a:pt x="6" y="21"/>
                  </a:lnTo>
                  <a:lnTo>
                    <a:pt x="8" y="23"/>
                  </a:lnTo>
                  <a:lnTo>
                    <a:pt x="10" y="23"/>
                  </a:lnTo>
                  <a:lnTo>
                    <a:pt x="12" y="23"/>
                  </a:lnTo>
                  <a:lnTo>
                    <a:pt x="10" y="23"/>
                  </a:lnTo>
                </a:path>
              </a:pathLst>
            </a:custGeom>
            <a:solidFill>
              <a:srgbClr val="000000"/>
            </a:solidFill>
            <a:ln w="9525" cap="rnd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64" name="Freeform 80"/>
            <p:cNvSpPr>
              <a:spLocks/>
            </p:cNvSpPr>
            <p:nvPr/>
          </p:nvSpPr>
          <p:spPr bwMode="auto">
            <a:xfrm>
              <a:off x="2091" y="3039"/>
              <a:ext cx="215" cy="367"/>
            </a:xfrm>
            <a:custGeom>
              <a:avLst/>
              <a:gdLst>
                <a:gd name="T0" fmla="*/ 107 w 173"/>
                <a:gd name="T1" fmla="*/ 366 h 367"/>
                <a:gd name="T2" fmla="*/ 123 w 173"/>
                <a:gd name="T3" fmla="*/ 364 h 367"/>
                <a:gd name="T4" fmla="*/ 140 w 173"/>
                <a:gd name="T5" fmla="*/ 357 h 367"/>
                <a:gd name="T6" fmla="*/ 157 w 173"/>
                <a:gd name="T7" fmla="*/ 345 h 367"/>
                <a:gd name="T8" fmla="*/ 172 w 173"/>
                <a:gd name="T9" fmla="*/ 332 h 367"/>
                <a:gd name="T10" fmla="*/ 183 w 173"/>
                <a:gd name="T11" fmla="*/ 313 h 367"/>
                <a:gd name="T12" fmla="*/ 193 w 173"/>
                <a:gd name="T13" fmla="*/ 292 h 367"/>
                <a:gd name="T14" fmla="*/ 203 w 173"/>
                <a:gd name="T15" fmla="*/ 267 h 367"/>
                <a:gd name="T16" fmla="*/ 209 w 173"/>
                <a:gd name="T17" fmla="*/ 242 h 367"/>
                <a:gd name="T18" fmla="*/ 214 w 173"/>
                <a:gd name="T19" fmla="*/ 213 h 367"/>
                <a:gd name="T20" fmla="*/ 214 w 173"/>
                <a:gd name="T21" fmla="*/ 182 h 367"/>
                <a:gd name="T22" fmla="*/ 214 w 173"/>
                <a:gd name="T23" fmla="*/ 154 h 367"/>
                <a:gd name="T24" fmla="*/ 209 w 173"/>
                <a:gd name="T25" fmla="*/ 125 h 367"/>
                <a:gd name="T26" fmla="*/ 203 w 173"/>
                <a:gd name="T27" fmla="*/ 98 h 367"/>
                <a:gd name="T28" fmla="*/ 193 w 173"/>
                <a:gd name="T29" fmla="*/ 75 h 367"/>
                <a:gd name="T30" fmla="*/ 183 w 173"/>
                <a:gd name="T31" fmla="*/ 54 h 367"/>
                <a:gd name="T32" fmla="*/ 172 w 173"/>
                <a:gd name="T33" fmla="*/ 35 h 367"/>
                <a:gd name="T34" fmla="*/ 157 w 173"/>
                <a:gd name="T35" fmla="*/ 20 h 367"/>
                <a:gd name="T36" fmla="*/ 140 w 173"/>
                <a:gd name="T37" fmla="*/ 8 h 367"/>
                <a:gd name="T38" fmla="*/ 123 w 173"/>
                <a:gd name="T39" fmla="*/ 2 h 367"/>
                <a:gd name="T40" fmla="*/ 107 w 173"/>
                <a:gd name="T41" fmla="*/ 0 h 367"/>
                <a:gd name="T42" fmla="*/ 91 w 173"/>
                <a:gd name="T43" fmla="*/ 2 h 367"/>
                <a:gd name="T44" fmla="*/ 73 w 173"/>
                <a:gd name="T45" fmla="*/ 8 h 367"/>
                <a:gd name="T46" fmla="*/ 57 w 173"/>
                <a:gd name="T47" fmla="*/ 20 h 367"/>
                <a:gd name="T48" fmla="*/ 45 w 173"/>
                <a:gd name="T49" fmla="*/ 35 h 367"/>
                <a:gd name="T50" fmla="*/ 31 w 173"/>
                <a:gd name="T51" fmla="*/ 54 h 367"/>
                <a:gd name="T52" fmla="*/ 21 w 173"/>
                <a:gd name="T53" fmla="*/ 75 h 367"/>
                <a:gd name="T54" fmla="*/ 11 w 173"/>
                <a:gd name="T55" fmla="*/ 98 h 367"/>
                <a:gd name="T56" fmla="*/ 5 w 173"/>
                <a:gd name="T57" fmla="*/ 125 h 367"/>
                <a:gd name="T58" fmla="*/ 2 w 173"/>
                <a:gd name="T59" fmla="*/ 154 h 367"/>
                <a:gd name="T60" fmla="*/ 0 w 173"/>
                <a:gd name="T61" fmla="*/ 182 h 367"/>
                <a:gd name="T62" fmla="*/ 2 w 173"/>
                <a:gd name="T63" fmla="*/ 213 h 367"/>
                <a:gd name="T64" fmla="*/ 5 w 173"/>
                <a:gd name="T65" fmla="*/ 242 h 367"/>
                <a:gd name="T66" fmla="*/ 11 w 173"/>
                <a:gd name="T67" fmla="*/ 267 h 367"/>
                <a:gd name="T68" fmla="*/ 21 w 173"/>
                <a:gd name="T69" fmla="*/ 292 h 367"/>
                <a:gd name="T70" fmla="*/ 31 w 173"/>
                <a:gd name="T71" fmla="*/ 313 h 367"/>
                <a:gd name="T72" fmla="*/ 45 w 173"/>
                <a:gd name="T73" fmla="*/ 332 h 367"/>
                <a:gd name="T74" fmla="*/ 57 w 173"/>
                <a:gd name="T75" fmla="*/ 345 h 367"/>
                <a:gd name="T76" fmla="*/ 73 w 173"/>
                <a:gd name="T77" fmla="*/ 357 h 367"/>
                <a:gd name="T78" fmla="*/ 91 w 173"/>
                <a:gd name="T79" fmla="*/ 364 h 367"/>
                <a:gd name="T80" fmla="*/ 107 w 173"/>
                <a:gd name="T81" fmla="*/ 366 h 367"/>
                <a:gd name="T82" fmla="*/ 107 w 173"/>
                <a:gd name="T83" fmla="*/ 366 h 367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173"/>
                <a:gd name="T127" fmla="*/ 0 h 367"/>
                <a:gd name="T128" fmla="*/ 173 w 173"/>
                <a:gd name="T129" fmla="*/ 367 h 367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173" h="367">
                  <a:moveTo>
                    <a:pt x="86" y="366"/>
                  </a:moveTo>
                  <a:lnTo>
                    <a:pt x="99" y="364"/>
                  </a:lnTo>
                  <a:lnTo>
                    <a:pt x="113" y="357"/>
                  </a:lnTo>
                  <a:lnTo>
                    <a:pt x="126" y="345"/>
                  </a:lnTo>
                  <a:lnTo>
                    <a:pt x="138" y="332"/>
                  </a:lnTo>
                  <a:lnTo>
                    <a:pt x="147" y="313"/>
                  </a:lnTo>
                  <a:lnTo>
                    <a:pt x="155" y="292"/>
                  </a:lnTo>
                  <a:lnTo>
                    <a:pt x="163" y="267"/>
                  </a:lnTo>
                  <a:lnTo>
                    <a:pt x="168" y="242"/>
                  </a:lnTo>
                  <a:lnTo>
                    <a:pt x="172" y="213"/>
                  </a:lnTo>
                  <a:lnTo>
                    <a:pt x="172" y="182"/>
                  </a:lnTo>
                  <a:lnTo>
                    <a:pt x="172" y="154"/>
                  </a:lnTo>
                  <a:lnTo>
                    <a:pt x="168" y="125"/>
                  </a:lnTo>
                  <a:lnTo>
                    <a:pt x="163" y="98"/>
                  </a:lnTo>
                  <a:lnTo>
                    <a:pt x="155" y="75"/>
                  </a:lnTo>
                  <a:lnTo>
                    <a:pt x="147" y="54"/>
                  </a:lnTo>
                  <a:lnTo>
                    <a:pt x="138" y="35"/>
                  </a:lnTo>
                  <a:lnTo>
                    <a:pt x="126" y="20"/>
                  </a:lnTo>
                  <a:lnTo>
                    <a:pt x="113" y="8"/>
                  </a:lnTo>
                  <a:lnTo>
                    <a:pt x="99" y="2"/>
                  </a:lnTo>
                  <a:lnTo>
                    <a:pt x="86" y="0"/>
                  </a:lnTo>
                  <a:lnTo>
                    <a:pt x="73" y="2"/>
                  </a:lnTo>
                  <a:lnTo>
                    <a:pt x="59" y="8"/>
                  </a:lnTo>
                  <a:lnTo>
                    <a:pt x="46" y="20"/>
                  </a:lnTo>
                  <a:lnTo>
                    <a:pt x="36" y="35"/>
                  </a:lnTo>
                  <a:lnTo>
                    <a:pt x="25" y="54"/>
                  </a:lnTo>
                  <a:lnTo>
                    <a:pt x="17" y="75"/>
                  </a:lnTo>
                  <a:lnTo>
                    <a:pt x="9" y="98"/>
                  </a:lnTo>
                  <a:lnTo>
                    <a:pt x="4" y="125"/>
                  </a:lnTo>
                  <a:lnTo>
                    <a:pt x="2" y="154"/>
                  </a:lnTo>
                  <a:lnTo>
                    <a:pt x="0" y="182"/>
                  </a:lnTo>
                  <a:lnTo>
                    <a:pt x="2" y="213"/>
                  </a:lnTo>
                  <a:lnTo>
                    <a:pt x="4" y="242"/>
                  </a:lnTo>
                  <a:lnTo>
                    <a:pt x="9" y="267"/>
                  </a:lnTo>
                  <a:lnTo>
                    <a:pt x="17" y="292"/>
                  </a:lnTo>
                  <a:lnTo>
                    <a:pt x="25" y="313"/>
                  </a:lnTo>
                  <a:lnTo>
                    <a:pt x="36" y="332"/>
                  </a:lnTo>
                  <a:lnTo>
                    <a:pt x="46" y="345"/>
                  </a:lnTo>
                  <a:lnTo>
                    <a:pt x="59" y="357"/>
                  </a:lnTo>
                  <a:lnTo>
                    <a:pt x="73" y="364"/>
                  </a:lnTo>
                  <a:lnTo>
                    <a:pt x="86" y="366"/>
                  </a:lnTo>
                </a:path>
              </a:pathLst>
            </a:custGeom>
            <a:solidFill>
              <a:srgbClr val="EAEAEA"/>
            </a:solidFill>
            <a:ln w="190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65" name="Rectangle 81"/>
            <p:cNvSpPr>
              <a:spLocks noChangeArrowheads="1"/>
            </p:cNvSpPr>
            <p:nvPr/>
          </p:nvSpPr>
          <p:spPr bwMode="auto">
            <a:xfrm>
              <a:off x="2110" y="3124"/>
              <a:ext cx="180" cy="1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900" dirty="0">
                  <a:solidFill>
                    <a:srgbClr val="000000"/>
                  </a:solidFill>
                  <a:latin typeface="+mj-lt"/>
                </a:rPr>
                <a:t>Sign</a:t>
              </a:r>
            </a:p>
            <a:p>
              <a:pPr algn="ctr">
                <a:lnSpc>
                  <a:spcPct val="90000"/>
                </a:lnSpc>
              </a:pPr>
              <a:r>
                <a:rPr lang="en-US" sz="900" dirty="0">
                  <a:solidFill>
                    <a:srgbClr val="000000"/>
                  </a:solidFill>
                  <a:latin typeface="+mj-lt"/>
                </a:rPr>
                <a:t>extend</a:t>
              </a:r>
              <a:endParaRPr lang="en-US" sz="600" dirty="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366" name="Rectangle 82"/>
            <p:cNvSpPr>
              <a:spLocks noChangeArrowheads="1"/>
            </p:cNvSpPr>
            <p:nvPr/>
          </p:nvSpPr>
          <p:spPr bwMode="auto">
            <a:xfrm>
              <a:off x="1968" y="3123"/>
              <a:ext cx="64" cy="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900">
                  <a:solidFill>
                    <a:srgbClr val="000000"/>
                  </a:solidFill>
                  <a:latin typeface="+mj-lt"/>
                </a:rPr>
                <a:t>16</a:t>
              </a:r>
              <a:endParaRPr lang="en-US" sz="5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367" name="Rectangle 83"/>
            <p:cNvSpPr>
              <a:spLocks noChangeArrowheads="1"/>
            </p:cNvSpPr>
            <p:nvPr/>
          </p:nvSpPr>
          <p:spPr bwMode="auto">
            <a:xfrm>
              <a:off x="2319" y="3127"/>
              <a:ext cx="64" cy="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900">
                  <a:solidFill>
                    <a:srgbClr val="000000"/>
                  </a:solidFill>
                  <a:latin typeface="+mj-lt"/>
                </a:rPr>
                <a:t>32</a:t>
              </a:r>
              <a:endParaRPr lang="en-US" sz="5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368" name="Line 84"/>
            <p:cNvSpPr>
              <a:spLocks noChangeShapeType="1"/>
            </p:cNvSpPr>
            <p:nvPr/>
          </p:nvSpPr>
          <p:spPr bwMode="auto">
            <a:xfrm flipH="1">
              <a:off x="1637" y="2598"/>
              <a:ext cx="1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69" name="Line 85"/>
            <p:cNvSpPr>
              <a:spLocks noChangeShapeType="1"/>
            </p:cNvSpPr>
            <p:nvPr/>
          </p:nvSpPr>
          <p:spPr bwMode="auto">
            <a:xfrm flipH="1">
              <a:off x="1635" y="2434"/>
              <a:ext cx="17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70" name="Line 86"/>
            <p:cNvSpPr>
              <a:spLocks noChangeShapeType="1"/>
            </p:cNvSpPr>
            <p:nvPr/>
          </p:nvSpPr>
          <p:spPr bwMode="auto">
            <a:xfrm flipH="1">
              <a:off x="2325" y="2527"/>
              <a:ext cx="11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71" name="Line 87"/>
            <p:cNvSpPr>
              <a:spLocks noChangeShapeType="1"/>
            </p:cNvSpPr>
            <p:nvPr/>
          </p:nvSpPr>
          <p:spPr bwMode="auto">
            <a:xfrm flipH="1">
              <a:off x="2325" y="2721"/>
              <a:ext cx="11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72" name="Line 88"/>
            <p:cNvSpPr>
              <a:spLocks noChangeShapeType="1"/>
            </p:cNvSpPr>
            <p:nvPr/>
          </p:nvSpPr>
          <p:spPr bwMode="auto">
            <a:xfrm flipH="1">
              <a:off x="2063" y="2299"/>
              <a:ext cx="1" cy="51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73" name="Rectangle 89"/>
            <p:cNvSpPr>
              <a:spLocks noChangeArrowheads="1"/>
            </p:cNvSpPr>
            <p:nvPr/>
          </p:nvSpPr>
          <p:spPr bwMode="auto">
            <a:xfrm>
              <a:off x="2350" y="1757"/>
              <a:ext cx="256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+mj-lt"/>
                </a:rPr>
                <a:t>ID/EX</a:t>
              </a:r>
              <a:endParaRPr lang="en-US" sz="7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374" name="Rectangle 90"/>
            <p:cNvSpPr>
              <a:spLocks noChangeArrowheads="1"/>
            </p:cNvSpPr>
            <p:nvPr/>
          </p:nvSpPr>
          <p:spPr bwMode="auto">
            <a:xfrm>
              <a:off x="3440" y="1752"/>
              <a:ext cx="407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+mj-lt"/>
                </a:rPr>
                <a:t>EX/MEM</a:t>
              </a:r>
              <a:endParaRPr lang="en-US" sz="10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375" name="Rectangle 91"/>
            <p:cNvSpPr>
              <a:spLocks noChangeArrowheads="1"/>
            </p:cNvSpPr>
            <p:nvPr/>
          </p:nvSpPr>
          <p:spPr bwMode="auto">
            <a:xfrm>
              <a:off x="4527" y="1746"/>
              <a:ext cx="456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dirty="0">
                  <a:solidFill>
                    <a:srgbClr val="000000"/>
                  </a:solidFill>
                  <a:latin typeface="+mj-lt"/>
                </a:rPr>
                <a:t>MEM/WB</a:t>
              </a:r>
            </a:p>
          </p:txBody>
        </p:sp>
        <p:sp>
          <p:nvSpPr>
            <p:cNvPr id="54376" name="Rectangle 92"/>
            <p:cNvSpPr>
              <a:spLocks noChangeArrowheads="1"/>
            </p:cNvSpPr>
            <p:nvPr/>
          </p:nvSpPr>
          <p:spPr bwMode="auto">
            <a:xfrm rot="16200000" flipH="1">
              <a:off x="1389" y="2424"/>
              <a:ext cx="331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1000">
                  <a:solidFill>
                    <a:srgbClr val="000000"/>
                  </a:solidFill>
                  <a:latin typeface="+mj-lt"/>
                </a:rPr>
                <a:t>Instruction</a:t>
              </a:r>
              <a:endParaRPr lang="en-US" sz="7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377" name="Freeform 93"/>
            <p:cNvSpPr>
              <a:spLocks/>
            </p:cNvSpPr>
            <p:nvPr/>
          </p:nvSpPr>
          <p:spPr bwMode="auto">
            <a:xfrm>
              <a:off x="3789" y="2735"/>
              <a:ext cx="24" cy="24"/>
            </a:xfrm>
            <a:custGeom>
              <a:avLst/>
              <a:gdLst>
                <a:gd name="T0" fmla="*/ 10 w 24"/>
                <a:gd name="T1" fmla="*/ 23 h 24"/>
                <a:gd name="T2" fmla="*/ 14 w 24"/>
                <a:gd name="T3" fmla="*/ 23 h 24"/>
                <a:gd name="T4" fmla="*/ 14 w 24"/>
                <a:gd name="T5" fmla="*/ 23 h 24"/>
                <a:gd name="T6" fmla="*/ 16 w 24"/>
                <a:gd name="T7" fmla="*/ 23 h 24"/>
                <a:gd name="T8" fmla="*/ 18 w 24"/>
                <a:gd name="T9" fmla="*/ 21 h 24"/>
                <a:gd name="T10" fmla="*/ 20 w 24"/>
                <a:gd name="T11" fmla="*/ 19 h 24"/>
                <a:gd name="T12" fmla="*/ 20 w 24"/>
                <a:gd name="T13" fmla="*/ 19 h 24"/>
                <a:gd name="T14" fmla="*/ 21 w 24"/>
                <a:gd name="T15" fmla="*/ 17 h 24"/>
                <a:gd name="T16" fmla="*/ 21 w 24"/>
                <a:gd name="T17" fmla="*/ 15 h 24"/>
                <a:gd name="T18" fmla="*/ 23 w 24"/>
                <a:gd name="T19" fmla="*/ 13 h 24"/>
                <a:gd name="T20" fmla="*/ 23 w 24"/>
                <a:gd name="T21" fmla="*/ 12 h 24"/>
                <a:gd name="T22" fmla="*/ 23 w 24"/>
                <a:gd name="T23" fmla="*/ 10 h 24"/>
                <a:gd name="T24" fmla="*/ 21 w 24"/>
                <a:gd name="T25" fmla="*/ 8 h 24"/>
                <a:gd name="T26" fmla="*/ 21 w 24"/>
                <a:gd name="T27" fmla="*/ 6 h 24"/>
                <a:gd name="T28" fmla="*/ 20 w 24"/>
                <a:gd name="T29" fmla="*/ 6 h 24"/>
                <a:gd name="T30" fmla="*/ 20 w 24"/>
                <a:gd name="T31" fmla="*/ 4 h 24"/>
                <a:gd name="T32" fmla="*/ 18 w 24"/>
                <a:gd name="T33" fmla="*/ 2 h 24"/>
                <a:gd name="T34" fmla="*/ 16 w 24"/>
                <a:gd name="T35" fmla="*/ 2 h 24"/>
                <a:gd name="T36" fmla="*/ 14 w 24"/>
                <a:gd name="T37" fmla="*/ 0 h 24"/>
                <a:gd name="T38" fmla="*/ 14 w 24"/>
                <a:gd name="T39" fmla="*/ 0 h 24"/>
                <a:gd name="T40" fmla="*/ 12 w 24"/>
                <a:gd name="T41" fmla="*/ 0 h 24"/>
                <a:gd name="T42" fmla="*/ 10 w 24"/>
                <a:gd name="T43" fmla="*/ 0 h 24"/>
                <a:gd name="T44" fmla="*/ 8 w 24"/>
                <a:gd name="T45" fmla="*/ 0 h 24"/>
                <a:gd name="T46" fmla="*/ 6 w 24"/>
                <a:gd name="T47" fmla="*/ 2 h 24"/>
                <a:gd name="T48" fmla="*/ 4 w 24"/>
                <a:gd name="T49" fmla="*/ 2 h 24"/>
                <a:gd name="T50" fmla="*/ 2 w 24"/>
                <a:gd name="T51" fmla="*/ 4 h 24"/>
                <a:gd name="T52" fmla="*/ 2 w 24"/>
                <a:gd name="T53" fmla="*/ 6 h 24"/>
                <a:gd name="T54" fmla="*/ 0 w 24"/>
                <a:gd name="T55" fmla="*/ 6 h 24"/>
                <a:gd name="T56" fmla="*/ 0 w 24"/>
                <a:gd name="T57" fmla="*/ 8 h 24"/>
                <a:gd name="T58" fmla="*/ 0 w 24"/>
                <a:gd name="T59" fmla="*/ 10 h 24"/>
                <a:gd name="T60" fmla="*/ 0 w 24"/>
                <a:gd name="T61" fmla="*/ 12 h 24"/>
                <a:gd name="T62" fmla="*/ 0 w 24"/>
                <a:gd name="T63" fmla="*/ 13 h 24"/>
                <a:gd name="T64" fmla="*/ 0 w 24"/>
                <a:gd name="T65" fmla="*/ 15 h 24"/>
                <a:gd name="T66" fmla="*/ 0 w 24"/>
                <a:gd name="T67" fmla="*/ 17 h 24"/>
                <a:gd name="T68" fmla="*/ 2 w 24"/>
                <a:gd name="T69" fmla="*/ 19 h 24"/>
                <a:gd name="T70" fmla="*/ 2 w 24"/>
                <a:gd name="T71" fmla="*/ 19 h 24"/>
                <a:gd name="T72" fmla="*/ 4 w 24"/>
                <a:gd name="T73" fmla="*/ 21 h 24"/>
                <a:gd name="T74" fmla="*/ 6 w 24"/>
                <a:gd name="T75" fmla="*/ 23 h 24"/>
                <a:gd name="T76" fmla="*/ 8 w 24"/>
                <a:gd name="T77" fmla="*/ 23 h 24"/>
                <a:gd name="T78" fmla="*/ 10 w 24"/>
                <a:gd name="T79" fmla="*/ 23 h 24"/>
                <a:gd name="T80" fmla="*/ 12 w 24"/>
                <a:gd name="T81" fmla="*/ 23 h 24"/>
                <a:gd name="T82" fmla="*/ 12 w 24"/>
                <a:gd name="T83" fmla="*/ 23 h 24"/>
                <a:gd name="T84" fmla="*/ 10 w 24"/>
                <a:gd name="T85" fmla="*/ 23 h 2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4"/>
                <a:gd name="T130" fmla="*/ 0 h 24"/>
                <a:gd name="T131" fmla="*/ 24 w 24"/>
                <a:gd name="T132" fmla="*/ 24 h 24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4" h="24">
                  <a:moveTo>
                    <a:pt x="10" y="23"/>
                  </a:moveTo>
                  <a:lnTo>
                    <a:pt x="14" y="23"/>
                  </a:lnTo>
                  <a:lnTo>
                    <a:pt x="16" y="23"/>
                  </a:lnTo>
                  <a:lnTo>
                    <a:pt x="18" y="21"/>
                  </a:lnTo>
                  <a:lnTo>
                    <a:pt x="20" y="19"/>
                  </a:lnTo>
                  <a:lnTo>
                    <a:pt x="21" y="17"/>
                  </a:lnTo>
                  <a:lnTo>
                    <a:pt x="21" y="15"/>
                  </a:lnTo>
                  <a:lnTo>
                    <a:pt x="23" y="13"/>
                  </a:lnTo>
                  <a:lnTo>
                    <a:pt x="23" y="12"/>
                  </a:lnTo>
                  <a:lnTo>
                    <a:pt x="23" y="10"/>
                  </a:lnTo>
                  <a:lnTo>
                    <a:pt x="21" y="8"/>
                  </a:lnTo>
                  <a:lnTo>
                    <a:pt x="21" y="6"/>
                  </a:lnTo>
                  <a:lnTo>
                    <a:pt x="20" y="6"/>
                  </a:lnTo>
                  <a:lnTo>
                    <a:pt x="20" y="4"/>
                  </a:lnTo>
                  <a:lnTo>
                    <a:pt x="18" y="2"/>
                  </a:lnTo>
                  <a:lnTo>
                    <a:pt x="16" y="2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8" y="0"/>
                  </a:lnTo>
                  <a:lnTo>
                    <a:pt x="6" y="2"/>
                  </a:lnTo>
                  <a:lnTo>
                    <a:pt x="4" y="2"/>
                  </a:lnTo>
                  <a:lnTo>
                    <a:pt x="2" y="4"/>
                  </a:lnTo>
                  <a:lnTo>
                    <a:pt x="2" y="6"/>
                  </a:lnTo>
                  <a:lnTo>
                    <a:pt x="0" y="6"/>
                  </a:lnTo>
                  <a:lnTo>
                    <a:pt x="0" y="8"/>
                  </a:lnTo>
                  <a:lnTo>
                    <a:pt x="0" y="10"/>
                  </a:lnTo>
                  <a:lnTo>
                    <a:pt x="0" y="12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0" y="17"/>
                  </a:lnTo>
                  <a:lnTo>
                    <a:pt x="2" y="19"/>
                  </a:lnTo>
                  <a:lnTo>
                    <a:pt x="4" y="21"/>
                  </a:lnTo>
                  <a:lnTo>
                    <a:pt x="6" y="23"/>
                  </a:lnTo>
                  <a:lnTo>
                    <a:pt x="8" y="23"/>
                  </a:lnTo>
                  <a:lnTo>
                    <a:pt x="10" y="23"/>
                  </a:lnTo>
                  <a:lnTo>
                    <a:pt x="12" y="23"/>
                  </a:lnTo>
                  <a:lnTo>
                    <a:pt x="10" y="23"/>
                  </a:lnTo>
                </a:path>
              </a:pathLst>
            </a:custGeom>
            <a:solidFill>
              <a:srgbClr val="000000"/>
            </a:solidFill>
            <a:ln w="9525" cap="rnd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78" name="Line 94"/>
            <p:cNvSpPr>
              <a:spLocks noChangeShapeType="1"/>
            </p:cNvSpPr>
            <p:nvPr/>
          </p:nvSpPr>
          <p:spPr bwMode="auto">
            <a:xfrm flipH="1">
              <a:off x="3679" y="3003"/>
              <a:ext cx="250" cy="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79" name="Freeform 95"/>
            <p:cNvSpPr>
              <a:spLocks/>
            </p:cNvSpPr>
            <p:nvPr/>
          </p:nvSpPr>
          <p:spPr bwMode="auto">
            <a:xfrm>
              <a:off x="3801" y="2747"/>
              <a:ext cx="903" cy="611"/>
            </a:xfrm>
            <a:custGeom>
              <a:avLst/>
              <a:gdLst>
                <a:gd name="T0" fmla="*/ 902 w 1318"/>
                <a:gd name="T1" fmla="*/ 608 h 410"/>
                <a:gd name="T2" fmla="*/ 0 w 1318"/>
                <a:gd name="T3" fmla="*/ 610 h 410"/>
                <a:gd name="T4" fmla="*/ 0 w 1318"/>
                <a:gd name="T5" fmla="*/ 0 h 410"/>
                <a:gd name="T6" fmla="*/ 0 60000 65536"/>
                <a:gd name="T7" fmla="*/ 0 60000 65536"/>
                <a:gd name="T8" fmla="*/ 0 60000 65536"/>
                <a:gd name="T9" fmla="*/ 0 w 1318"/>
                <a:gd name="T10" fmla="*/ 0 h 410"/>
                <a:gd name="T11" fmla="*/ 1318 w 1318"/>
                <a:gd name="T12" fmla="*/ 410 h 41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18" h="410">
                  <a:moveTo>
                    <a:pt x="1317" y="408"/>
                  </a:moveTo>
                  <a:lnTo>
                    <a:pt x="0" y="409"/>
                  </a:lnTo>
                  <a:lnTo>
                    <a:pt x="0" y="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triangl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80" name="Line 96"/>
            <p:cNvSpPr>
              <a:spLocks noChangeShapeType="1"/>
            </p:cNvSpPr>
            <p:nvPr/>
          </p:nvSpPr>
          <p:spPr bwMode="auto">
            <a:xfrm>
              <a:off x="3677" y="3558"/>
              <a:ext cx="1024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81" name="Line 97"/>
            <p:cNvSpPr>
              <a:spLocks noChangeShapeType="1"/>
            </p:cNvSpPr>
            <p:nvPr/>
          </p:nvSpPr>
          <p:spPr bwMode="auto">
            <a:xfrm flipH="1">
              <a:off x="3679" y="2747"/>
              <a:ext cx="253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82" name="Line 98"/>
            <p:cNvSpPr>
              <a:spLocks noChangeShapeType="1"/>
            </p:cNvSpPr>
            <p:nvPr/>
          </p:nvSpPr>
          <p:spPr bwMode="auto">
            <a:xfrm flipH="1">
              <a:off x="4551" y="2742"/>
              <a:ext cx="155" cy="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83" name="Line 99"/>
            <p:cNvSpPr>
              <a:spLocks noChangeShapeType="1"/>
            </p:cNvSpPr>
            <p:nvPr/>
          </p:nvSpPr>
          <p:spPr bwMode="auto">
            <a:xfrm flipH="1" flipV="1">
              <a:off x="4242" y="2482"/>
              <a:ext cx="1" cy="66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grpSp>
          <p:nvGrpSpPr>
            <p:cNvPr id="54384" name="Group 312"/>
            <p:cNvGrpSpPr>
              <a:grpSpLocks/>
            </p:cNvGrpSpPr>
            <p:nvPr/>
          </p:nvGrpSpPr>
          <p:grpSpPr bwMode="auto">
            <a:xfrm>
              <a:off x="3936" y="2378"/>
              <a:ext cx="609" cy="939"/>
              <a:chOff x="3936" y="2378"/>
              <a:chExt cx="609" cy="939"/>
            </a:xfrm>
          </p:grpSpPr>
          <p:sp>
            <p:nvSpPr>
              <p:cNvPr id="54457" name="Line 101"/>
              <p:cNvSpPr>
                <a:spLocks noChangeShapeType="1"/>
              </p:cNvSpPr>
              <p:nvPr/>
            </p:nvSpPr>
            <p:spPr bwMode="auto">
              <a:xfrm flipH="1">
                <a:off x="4248" y="3108"/>
                <a:ext cx="1" cy="105"/>
              </a:xfrm>
              <a:prstGeom prst="line">
                <a:avLst/>
              </a:prstGeom>
              <a:noFill/>
              <a:ln w="12700">
                <a:solidFill>
                  <a:srgbClr val="EB75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54460" name="Rectangle 104"/>
              <p:cNvSpPr>
                <a:spLocks noChangeArrowheads="1"/>
              </p:cNvSpPr>
              <p:nvPr/>
            </p:nvSpPr>
            <p:spPr bwMode="auto">
              <a:xfrm>
                <a:off x="3936" y="2553"/>
                <a:ext cx="609" cy="552"/>
              </a:xfrm>
              <a:prstGeom prst="rect">
                <a:avLst/>
              </a:prstGeom>
              <a:solidFill>
                <a:srgbClr val="FFFFCC"/>
              </a:solidFill>
              <a:ln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54461" name="Rectangle 105"/>
              <p:cNvSpPr>
                <a:spLocks noChangeArrowheads="1"/>
              </p:cNvSpPr>
              <p:nvPr/>
            </p:nvSpPr>
            <p:spPr bwMode="auto">
              <a:xfrm>
                <a:off x="3963" y="2712"/>
                <a:ext cx="208" cy="7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US" sz="900" dirty="0">
                    <a:solidFill>
                      <a:srgbClr val="000000"/>
                    </a:solidFill>
                    <a:latin typeface="+mj-lt"/>
                  </a:rPr>
                  <a:t>Address</a:t>
                </a:r>
                <a:endParaRPr lang="en-US" sz="800" dirty="0">
                  <a:solidFill>
                    <a:srgbClr val="000000"/>
                  </a:solidFill>
                  <a:latin typeface="+mj-lt"/>
                </a:endParaRPr>
              </a:p>
            </p:txBody>
          </p:sp>
          <p:sp>
            <p:nvSpPr>
              <p:cNvPr id="54462" name="Rectangle 106"/>
              <p:cNvSpPr>
                <a:spLocks noChangeArrowheads="1"/>
              </p:cNvSpPr>
              <p:nvPr/>
            </p:nvSpPr>
            <p:spPr bwMode="auto">
              <a:xfrm>
                <a:off x="3965" y="2933"/>
                <a:ext cx="147" cy="14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US" sz="900" dirty="0">
                    <a:solidFill>
                      <a:srgbClr val="000000"/>
                    </a:solidFill>
                    <a:latin typeface="+mj-lt"/>
                  </a:rPr>
                  <a:t>Write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sz="900" dirty="0">
                    <a:solidFill>
                      <a:srgbClr val="000000"/>
                    </a:solidFill>
                    <a:latin typeface="+mj-lt"/>
                  </a:rPr>
                  <a:t>Data</a:t>
                </a:r>
                <a:endParaRPr lang="en-US" sz="800" dirty="0">
                  <a:solidFill>
                    <a:srgbClr val="000000"/>
                  </a:solidFill>
                  <a:latin typeface="+mj-lt"/>
                </a:endParaRPr>
              </a:p>
            </p:txBody>
          </p:sp>
          <p:sp>
            <p:nvSpPr>
              <p:cNvPr id="54463" name="Rectangle 107"/>
              <p:cNvSpPr>
                <a:spLocks noChangeArrowheads="1"/>
              </p:cNvSpPr>
              <p:nvPr/>
            </p:nvSpPr>
            <p:spPr bwMode="auto">
              <a:xfrm>
                <a:off x="4368" y="2665"/>
                <a:ext cx="130" cy="14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US" sz="900" dirty="0">
                    <a:solidFill>
                      <a:srgbClr val="000000"/>
                    </a:solidFill>
                    <a:latin typeface="+mj-lt"/>
                  </a:rPr>
                  <a:t>Read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sz="900" dirty="0">
                    <a:solidFill>
                      <a:srgbClr val="000000"/>
                    </a:solidFill>
                    <a:latin typeface="+mj-lt"/>
                  </a:rPr>
                  <a:t>Data</a:t>
                </a:r>
                <a:endParaRPr lang="en-US" sz="500" dirty="0">
                  <a:solidFill>
                    <a:srgbClr val="000000"/>
                  </a:solidFill>
                  <a:latin typeface="+mj-lt"/>
                </a:endParaRPr>
              </a:p>
            </p:txBody>
          </p:sp>
          <p:sp>
            <p:nvSpPr>
              <p:cNvPr id="54464" name="Rectangle 108"/>
              <p:cNvSpPr>
                <a:spLocks noChangeArrowheads="1"/>
              </p:cNvSpPr>
              <p:nvPr/>
            </p:nvSpPr>
            <p:spPr bwMode="auto">
              <a:xfrm>
                <a:off x="4193" y="2868"/>
                <a:ext cx="297" cy="19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>
                  <a:lnSpc>
                    <a:spcPct val="90000"/>
                  </a:lnSpc>
                </a:pPr>
                <a:r>
                  <a:rPr lang="en-US" sz="1200">
                    <a:solidFill>
                      <a:srgbClr val="000000"/>
                    </a:solidFill>
                    <a:latin typeface="+mj-lt"/>
                  </a:rPr>
                  <a:t>Data</a:t>
                </a:r>
              </a:p>
              <a:p>
                <a:pPr algn="ctr">
                  <a:lnSpc>
                    <a:spcPct val="90000"/>
                  </a:lnSpc>
                </a:pPr>
                <a:r>
                  <a:rPr lang="en-US" sz="1200">
                    <a:solidFill>
                      <a:srgbClr val="000000"/>
                    </a:solidFill>
                    <a:latin typeface="+mj-lt"/>
                  </a:rPr>
                  <a:t>Memory</a:t>
                </a:r>
                <a:endParaRPr lang="en-US" sz="800">
                  <a:solidFill>
                    <a:srgbClr val="000000"/>
                  </a:solidFill>
                  <a:latin typeface="+mj-lt"/>
                </a:endParaRPr>
              </a:p>
            </p:txBody>
          </p:sp>
          <p:sp>
            <p:nvSpPr>
              <p:cNvPr id="54458" name="Rectangle 102"/>
              <p:cNvSpPr>
                <a:spLocks noChangeArrowheads="1"/>
              </p:cNvSpPr>
              <p:nvPr/>
            </p:nvSpPr>
            <p:spPr bwMode="auto">
              <a:xfrm>
                <a:off x="4073" y="3223"/>
                <a:ext cx="311" cy="9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050" dirty="0" err="1">
                    <a:solidFill>
                      <a:srgbClr val="EB7500"/>
                    </a:solidFill>
                    <a:latin typeface="+mj-lt"/>
                  </a:rPr>
                  <a:t>MemRead</a:t>
                </a:r>
                <a:endParaRPr lang="en-US" sz="1050" dirty="0">
                  <a:solidFill>
                    <a:srgbClr val="EB7500"/>
                  </a:solidFill>
                  <a:latin typeface="+mj-lt"/>
                </a:endParaRPr>
              </a:p>
            </p:txBody>
          </p:sp>
          <p:sp>
            <p:nvSpPr>
              <p:cNvPr id="54459" name="Rectangle 103"/>
              <p:cNvSpPr>
                <a:spLocks noChangeArrowheads="1"/>
              </p:cNvSpPr>
              <p:nvPr/>
            </p:nvSpPr>
            <p:spPr bwMode="auto">
              <a:xfrm>
                <a:off x="4063" y="2378"/>
                <a:ext cx="332" cy="9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050" dirty="0" err="1">
                    <a:solidFill>
                      <a:srgbClr val="EB7500"/>
                    </a:solidFill>
                    <a:latin typeface="+mj-lt"/>
                  </a:rPr>
                  <a:t>MemWrite</a:t>
                </a:r>
                <a:endParaRPr lang="en-US" sz="1050" dirty="0">
                  <a:solidFill>
                    <a:srgbClr val="EB7500"/>
                  </a:solidFill>
                  <a:latin typeface="+mj-lt"/>
                </a:endParaRPr>
              </a:p>
            </p:txBody>
          </p:sp>
        </p:grpSp>
        <p:sp>
          <p:nvSpPr>
            <p:cNvPr id="54385" name="Freeform 109"/>
            <p:cNvSpPr>
              <a:spLocks/>
            </p:cNvSpPr>
            <p:nvPr/>
          </p:nvSpPr>
          <p:spPr bwMode="auto">
            <a:xfrm>
              <a:off x="3755" y="2266"/>
              <a:ext cx="72" cy="58"/>
            </a:xfrm>
            <a:custGeom>
              <a:avLst/>
              <a:gdLst>
                <a:gd name="T0" fmla="*/ 0 w 72"/>
                <a:gd name="T1" fmla="*/ 0 h 72"/>
                <a:gd name="T2" fmla="*/ 2 w 72"/>
                <a:gd name="T3" fmla="*/ 71 h 72"/>
                <a:gd name="T4" fmla="*/ 71 w 72"/>
                <a:gd name="T5" fmla="*/ 71 h 72"/>
                <a:gd name="T6" fmla="*/ 0 60000 65536"/>
                <a:gd name="T7" fmla="*/ 0 60000 65536"/>
                <a:gd name="T8" fmla="*/ 0 60000 65536"/>
                <a:gd name="T9" fmla="*/ 0 w 72"/>
                <a:gd name="T10" fmla="*/ 0 h 72"/>
                <a:gd name="T11" fmla="*/ 72 w 72"/>
                <a:gd name="T12" fmla="*/ 72 h 7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2" h="72">
                  <a:moveTo>
                    <a:pt x="0" y="0"/>
                  </a:moveTo>
                  <a:lnTo>
                    <a:pt x="2" y="71"/>
                  </a:lnTo>
                  <a:lnTo>
                    <a:pt x="71" y="71"/>
                  </a:lnTo>
                </a:path>
              </a:pathLst>
            </a:custGeom>
            <a:noFill/>
            <a:ln w="12700" cap="rnd" cmpd="sng">
              <a:solidFill>
                <a:srgbClr val="EB75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86" name="Freeform 110"/>
            <p:cNvSpPr>
              <a:spLocks/>
            </p:cNvSpPr>
            <p:nvPr/>
          </p:nvSpPr>
          <p:spPr bwMode="auto">
            <a:xfrm>
              <a:off x="3686" y="2400"/>
              <a:ext cx="141" cy="229"/>
            </a:xfrm>
            <a:custGeom>
              <a:avLst/>
              <a:gdLst>
                <a:gd name="T0" fmla="*/ 0 w 141"/>
                <a:gd name="T1" fmla="*/ 228 h 229"/>
                <a:gd name="T2" fmla="*/ 71 w 141"/>
                <a:gd name="T3" fmla="*/ 228 h 229"/>
                <a:gd name="T4" fmla="*/ 71 w 141"/>
                <a:gd name="T5" fmla="*/ 0 h 229"/>
                <a:gd name="T6" fmla="*/ 140 w 141"/>
                <a:gd name="T7" fmla="*/ 0 h 22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1"/>
                <a:gd name="T13" fmla="*/ 0 h 229"/>
                <a:gd name="T14" fmla="*/ 141 w 141"/>
                <a:gd name="T15" fmla="*/ 229 h 22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1" h="229">
                  <a:moveTo>
                    <a:pt x="0" y="228"/>
                  </a:moveTo>
                  <a:lnTo>
                    <a:pt x="71" y="228"/>
                  </a:lnTo>
                  <a:lnTo>
                    <a:pt x="71" y="0"/>
                  </a:lnTo>
                  <a:lnTo>
                    <a:pt x="140" y="0"/>
                  </a:lnTo>
                </a:path>
              </a:pathLst>
            </a:custGeom>
            <a:noFill/>
            <a:ln w="12700" cap="rnd" cmpd="sng">
              <a:solidFill>
                <a:srgbClr val="EB75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87" name="Freeform 111"/>
            <p:cNvSpPr>
              <a:spLocks/>
            </p:cNvSpPr>
            <p:nvPr/>
          </p:nvSpPr>
          <p:spPr bwMode="auto">
            <a:xfrm>
              <a:off x="3826" y="2302"/>
              <a:ext cx="145" cy="122"/>
            </a:xfrm>
            <a:custGeom>
              <a:avLst/>
              <a:gdLst>
                <a:gd name="T0" fmla="*/ 85 w 145"/>
                <a:gd name="T1" fmla="*/ 119 h 122"/>
                <a:gd name="T2" fmla="*/ 96 w 145"/>
                <a:gd name="T3" fmla="*/ 119 h 122"/>
                <a:gd name="T4" fmla="*/ 104 w 145"/>
                <a:gd name="T5" fmla="*/ 117 h 122"/>
                <a:gd name="T6" fmla="*/ 113 w 145"/>
                <a:gd name="T7" fmla="*/ 113 h 122"/>
                <a:gd name="T8" fmla="*/ 121 w 145"/>
                <a:gd name="T9" fmla="*/ 107 h 122"/>
                <a:gd name="T10" fmla="*/ 127 w 145"/>
                <a:gd name="T11" fmla="*/ 102 h 122"/>
                <a:gd name="T12" fmla="*/ 132 w 145"/>
                <a:gd name="T13" fmla="*/ 96 h 122"/>
                <a:gd name="T14" fmla="*/ 138 w 145"/>
                <a:gd name="T15" fmla="*/ 88 h 122"/>
                <a:gd name="T16" fmla="*/ 142 w 145"/>
                <a:gd name="T17" fmla="*/ 79 h 122"/>
                <a:gd name="T18" fmla="*/ 144 w 145"/>
                <a:gd name="T19" fmla="*/ 69 h 122"/>
                <a:gd name="T20" fmla="*/ 144 w 145"/>
                <a:gd name="T21" fmla="*/ 60 h 122"/>
                <a:gd name="T22" fmla="*/ 144 w 145"/>
                <a:gd name="T23" fmla="*/ 50 h 122"/>
                <a:gd name="T24" fmla="*/ 142 w 145"/>
                <a:gd name="T25" fmla="*/ 40 h 122"/>
                <a:gd name="T26" fmla="*/ 138 w 145"/>
                <a:gd name="T27" fmla="*/ 33 h 122"/>
                <a:gd name="T28" fmla="*/ 132 w 145"/>
                <a:gd name="T29" fmla="*/ 25 h 122"/>
                <a:gd name="T30" fmla="*/ 127 w 145"/>
                <a:gd name="T31" fmla="*/ 17 h 122"/>
                <a:gd name="T32" fmla="*/ 121 w 145"/>
                <a:gd name="T33" fmla="*/ 12 h 122"/>
                <a:gd name="T34" fmla="*/ 113 w 145"/>
                <a:gd name="T35" fmla="*/ 6 h 122"/>
                <a:gd name="T36" fmla="*/ 104 w 145"/>
                <a:gd name="T37" fmla="*/ 2 h 122"/>
                <a:gd name="T38" fmla="*/ 96 w 145"/>
                <a:gd name="T39" fmla="*/ 0 h 122"/>
                <a:gd name="T40" fmla="*/ 86 w 145"/>
                <a:gd name="T41" fmla="*/ 0 h 122"/>
                <a:gd name="T42" fmla="*/ 0 w 145"/>
                <a:gd name="T43" fmla="*/ 0 h 122"/>
                <a:gd name="T44" fmla="*/ 0 w 145"/>
                <a:gd name="T45" fmla="*/ 121 h 122"/>
                <a:gd name="T46" fmla="*/ 86 w 145"/>
                <a:gd name="T47" fmla="*/ 121 h 122"/>
                <a:gd name="T48" fmla="*/ 86 w 145"/>
                <a:gd name="T49" fmla="*/ 121 h 122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145"/>
                <a:gd name="T76" fmla="*/ 0 h 122"/>
                <a:gd name="T77" fmla="*/ 145 w 145"/>
                <a:gd name="T78" fmla="*/ 122 h 122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145" h="122">
                  <a:moveTo>
                    <a:pt x="85" y="119"/>
                  </a:moveTo>
                  <a:lnTo>
                    <a:pt x="96" y="119"/>
                  </a:lnTo>
                  <a:lnTo>
                    <a:pt x="104" y="117"/>
                  </a:lnTo>
                  <a:lnTo>
                    <a:pt x="113" y="113"/>
                  </a:lnTo>
                  <a:lnTo>
                    <a:pt x="121" y="107"/>
                  </a:lnTo>
                  <a:lnTo>
                    <a:pt x="127" y="102"/>
                  </a:lnTo>
                  <a:lnTo>
                    <a:pt x="132" y="96"/>
                  </a:lnTo>
                  <a:lnTo>
                    <a:pt x="138" y="88"/>
                  </a:lnTo>
                  <a:lnTo>
                    <a:pt x="142" y="79"/>
                  </a:lnTo>
                  <a:lnTo>
                    <a:pt x="144" y="69"/>
                  </a:lnTo>
                  <a:lnTo>
                    <a:pt x="144" y="60"/>
                  </a:lnTo>
                  <a:lnTo>
                    <a:pt x="144" y="50"/>
                  </a:lnTo>
                  <a:lnTo>
                    <a:pt x="142" y="40"/>
                  </a:lnTo>
                  <a:lnTo>
                    <a:pt x="138" y="33"/>
                  </a:lnTo>
                  <a:lnTo>
                    <a:pt x="132" y="25"/>
                  </a:lnTo>
                  <a:lnTo>
                    <a:pt x="127" y="17"/>
                  </a:lnTo>
                  <a:lnTo>
                    <a:pt x="121" y="12"/>
                  </a:lnTo>
                  <a:lnTo>
                    <a:pt x="113" y="6"/>
                  </a:lnTo>
                  <a:lnTo>
                    <a:pt x="104" y="2"/>
                  </a:lnTo>
                  <a:lnTo>
                    <a:pt x="96" y="0"/>
                  </a:lnTo>
                  <a:lnTo>
                    <a:pt x="86" y="0"/>
                  </a:lnTo>
                  <a:lnTo>
                    <a:pt x="0" y="0"/>
                  </a:lnTo>
                  <a:lnTo>
                    <a:pt x="0" y="121"/>
                  </a:lnTo>
                  <a:lnTo>
                    <a:pt x="86" y="121"/>
                  </a:lnTo>
                </a:path>
              </a:pathLst>
            </a:custGeom>
            <a:solidFill>
              <a:srgbClr val="FFE6CD"/>
            </a:solidFill>
            <a:ln w="19050" cap="rnd" cmpd="sng">
              <a:solidFill>
                <a:srgbClr val="EB75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90" name="Line 114"/>
            <p:cNvSpPr>
              <a:spLocks noChangeShapeType="1"/>
            </p:cNvSpPr>
            <p:nvPr/>
          </p:nvSpPr>
          <p:spPr bwMode="auto">
            <a:xfrm>
              <a:off x="1543" y="3804"/>
              <a:ext cx="335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91" name="Line 115"/>
            <p:cNvSpPr>
              <a:spLocks noChangeShapeType="1"/>
            </p:cNvSpPr>
            <p:nvPr/>
          </p:nvSpPr>
          <p:spPr bwMode="auto">
            <a:xfrm flipV="1">
              <a:off x="1545" y="2751"/>
              <a:ext cx="0" cy="10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92" name="Line 116"/>
            <p:cNvSpPr>
              <a:spLocks noChangeShapeType="1"/>
            </p:cNvSpPr>
            <p:nvPr/>
          </p:nvSpPr>
          <p:spPr bwMode="auto">
            <a:xfrm>
              <a:off x="1541" y="2748"/>
              <a:ext cx="26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93" name="Line 117"/>
            <p:cNvSpPr>
              <a:spLocks noChangeShapeType="1"/>
            </p:cNvSpPr>
            <p:nvPr/>
          </p:nvSpPr>
          <p:spPr bwMode="auto">
            <a:xfrm>
              <a:off x="1725" y="2895"/>
              <a:ext cx="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94" name="Line 118"/>
            <p:cNvSpPr>
              <a:spLocks noChangeShapeType="1"/>
            </p:cNvSpPr>
            <p:nvPr/>
          </p:nvSpPr>
          <p:spPr bwMode="auto">
            <a:xfrm flipV="1">
              <a:off x="1728" y="2895"/>
              <a:ext cx="0" cy="99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95" name="Line 119"/>
            <p:cNvSpPr>
              <a:spLocks noChangeShapeType="1"/>
            </p:cNvSpPr>
            <p:nvPr/>
          </p:nvSpPr>
          <p:spPr bwMode="auto">
            <a:xfrm>
              <a:off x="1728" y="3882"/>
              <a:ext cx="3336" cy="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96" name="Line 120"/>
            <p:cNvSpPr>
              <a:spLocks noChangeShapeType="1"/>
            </p:cNvSpPr>
            <p:nvPr/>
          </p:nvSpPr>
          <p:spPr bwMode="auto">
            <a:xfrm flipV="1">
              <a:off x="4963" y="2651"/>
              <a:ext cx="0" cy="51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97" name="Line 121"/>
            <p:cNvSpPr>
              <a:spLocks noChangeShapeType="1"/>
            </p:cNvSpPr>
            <p:nvPr/>
          </p:nvSpPr>
          <p:spPr bwMode="auto">
            <a:xfrm flipH="1">
              <a:off x="4800" y="2744"/>
              <a:ext cx="115" cy="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98" name="Freeform 122"/>
            <p:cNvSpPr>
              <a:spLocks/>
            </p:cNvSpPr>
            <p:nvPr/>
          </p:nvSpPr>
          <p:spPr bwMode="auto">
            <a:xfrm>
              <a:off x="4800" y="2953"/>
              <a:ext cx="119" cy="405"/>
            </a:xfrm>
            <a:custGeom>
              <a:avLst/>
              <a:gdLst>
                <a:gd name="T0" fmla="*/ 118 w 104"/>
                <a:gd name="T1" fmla="*/ 0 h 204"/>
                <a:gd name="T2" fmla="*/ 60 w 104"/>
                <a:gd name="T3" fmla="*/ 0 h 204"/>
                <a:gd name="T4" fmla="*/ 60 w 104"/>
                <a:gd name="T5" fmla="*/ 403 h 204"/>
                <a:gd name="T6" fmla="*/ 0 w 104"/>
                <a:gd name="T7" fmla="*/ 403 h 20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4"/>
                <a:gd name="T13" fmla="*/ 0 h 204"/>
                <a:gd name="T14" fmla="*/ 104 w 104"/>
                <a:gd name="T15" fmla="*/ 204 h 20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4" h="204">
                  <a:moveTo>
                    <a:pt x="103" y="0"/>
                  </a:moveTo>
                  <a:lnTo>
                    <a:pt x="52" y="0"/>
                  </a:lnTo>
                  <a:lnTo>
                    <a:pt x="52" y="203"/>
                  </a:lnTo>
                  <a:lnTo>
                    <a:pt x="0" y="203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triangl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00" name="Line 124"/>
            <p:cNvSpPr>
              <a:spLocks noChangeShapeType="1"/>
            </p:cNvSpPr>
            <p:nvPr/>
          </p:nvSpPr>
          <p:spPr bwMode="auto">
            <a:xfrm>
              <a:off x="4803" y="3558"/>
              <a:ext cx="9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01" name="Line 125"/>
            <p:cNvSpPr>
              <a:spLocks noChangeShapeType="1"/>
            </p:cNvSpPr>
            <p:nvPr/>
          </p:nvSpPr>
          <p:spPr bwMode="auto">
            <a:xfrm rot="5400000">
              <a:off x="4770" y="3681"/>
              <a:ext cx="25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02" name="Line 126"/>
            <p:cNvSpPr>
              <a:spLocks noChangeShapeType="1"/>
            </p:cNvSpPr>
            <p:nvPr/>
          </p:nvSpPr>
          <p:spPr bwMode="auto">
            <a:xfrm flipV="1">
              <a:off x="5067" y="2847"/>
              <a:ext cx="0" cy="10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03" name="Line 127"/>
            <p:cNvSpPr>
              <a:spLocks noChangeShapeType="1"/>
            </p:cNvSpPr>
            <p:nvPr/>
          </p:nvSpPr>
          <p:spPr bwMode="auto">
            <a:xfrm flipV="1">
              <a:off x="5025" y="2847"/>
              <a:ext cx="42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04" name="Freeform 128"/>
            <p:cNvSpPr>
              <a:spLocks/>
            </p:cNvSpPr>
            <p:nvPr/>
          </p:nvSpPr>
          <p:spPr bwMode="auto">
            <a:xfrm>
              <a:off x="636" y="1885"/>
              <a:ext cx="276" cy="631"/>
            </a:xfrm>
            <a:custGeom>
              <a:avLst/>
              <a:gdLst>
                <a:gd name="T0" fmla="*/ 275 w 194"/>
                <a:gd name="T1" fmla="*/ 0 h 631"/>
                <a:gd name="T2" fmla="*/ 0 w 194"/>
                <a:gd name="T3" fmla="*/ 2 h 631"/>
                <a:gd name="T4" fmla="*/ 0 w 194"/>
                <a:gd name="T5" fmla="*/ 630 h 631"/>
                <a:gd name="T6" fmla="*/ 0 60000 65536"/>
                <a:gd name="T7" fmla="*/ 0 60000 65536"/>
                <a:gd name="T8" fmla="*/ 0 60000 65536"/>
                <a:gd name="T9" fmla="*/ 0 w 194"/>
                <a:gd name="T10" fmla="*/ 0 h 631"/>
                <a:gd name="T11" fmla="*/ 194 w 194"/>
                <a:gd name="T12" fmla="*/ 631 h 63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4" h="631">
                  <a:moveTo>
                    <a:pt x="193" y="0"/>
                  </a:moveTo>
                  <a:lnTo>
                    <a:pt x="0" y="2"/>
                  </a:lnTo>
                  <a:lnTo>
                    <a:pt x="0" y="630"/>
                  </a:lnTo>
                </a:path>
              </a:pathLst>
            </a:custGeom>
            <a:noFill/>
            <a:ln w="12700" cap="rnd" cmpd="sng">
              <a:solidFill>
                <a:srgbClr val="000000"/>
              </a:solidFill>
              <a:prstDash val="solid"/>
              <a:round/>
              <a:headEnd type="triangl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05" name="Freeform 129"/>
            <p:cNvSpPr>
              <a:spLocks/>
            </p:cNvSpPr>
            <p:nvPr/>
          </p:nvSpPr>
          <p:spPr bwMode="auto">
            <a:xfrm>
              <a:off x="624" y="2503"/>
              <a:ext cx="24" cy="24"/>
            </a:xfrm>
            <a:custGeom>
              <a:avLst/>
              <a:gdLst>
                <a:gd name="T0" fmla="*/ 12 w 24"/>
                <a:gd name="T1" fmla="*/ 21 h 24"/>
                <a:gd name="T2" fmla="*/ 14 w 24"/>
                <a:gd name="T3" fmla="*/ 21 h 24"/>
                <a:gd name="T4" fmla="*/ 16 w 24"/>
                <a:gd name="T5" fmla="*/ 21 h 24"/>
                <a:gd name="T6" fmla="*/ 17 w 24"/>
                <a:gd name="T7" fmla="*/ 21 h 24"/>
                <a:gd name="T8" fmla="*/ 19 w 24"/>
                <a:gd name="T9" fmla="*/ 19 h 24"/>
                <a:gd name="T10" fmla="*/ 19 w 24"/>
                <a:gd name="T11" fmla="*/ 19 h 24"/>
                <a:gd name="T12" fmla="*/ 21 w 24"/>
                <a:gd name="T13" fmla="*/ 18 h 24"/>
                <a:gd name="T14" fmla="*/ 23 w 24"/>
                <a:gd name="T15" fmla="*/ 16 h 24"/>
                <a:gd name="T16" fmla="*/ 23 w 24"/>
                <a:gd name="T17" fmla="*/ 14 h 24"/>
                <a:gd name="T18" fmla="*/ 23 w 24"/>
                <a:gd name="T19" fmla="*/ 14 h 24"/>
                <a:gd name="T20" fmla="*/ 23 w 24"/>
                <a:gd name="T21" fmla="*/ 12 h 24"/>
                <a:gd name="T22" fmla="*/ 23 w 24"/>
                <a:gd name="T23" fmla="*/ 10 h 24"/>
                <a:gd name="T24" fmla="*/ 23 w 24"/>
                <a:gd name="T25" fmla="*/ 8 h 24"/>
                <a:gd name="T26" fmla="*/ 23 w 24"/>
                <a:gd name="T27" fmla="*/ 6 h 24"/>
                <a:gd name="T28" fmla="*/ 21 w 24"/>
                <a:gd name="T29" fmla="*/ 4 h 24"/>
                <a:gd name="T30" fmla="*/ 19 w 24"/>
                <a:gd name="T31" fmla="*/ 2 h 24"/>
                <a:gd name="T32" fmla="*/ 19 w 24"/>
                <a:gd name="T33" fmla="*/ 2 h 24"/>
                <a:gd name="T34" fmla="*/ 17 w 24"/>
                <a:gd name="T35" fmla="*/ 0 h 24"/>
                <a:gd name="T36" fmla="*/ 16 w 24"/>
                <a:gd name="T37" fmla="*/ 0 h 24"/>
                <a:gd name="T38" fmla="*/ 14 w 24"/>
                <a:gd name="T39" fmla="*/ 0 h 24"/>
                <a:gd name="T40" fmla="*/ 12 w 24"/>
                <a:gd name="T41" fmla="*/ 0 h 24"/>
                <a:gd name="T42" fmla="*/ 10 w 24"/>
                <a:gd name="T43" fmla="*/ 0 h 24"/>
                <a:gd name="T44" fmla="*/ 8 w 24"/>
                <a:gd name="T45" fmla="*/ 0 h 24"/>
                <a:gd name="T46" fmla="*/ 6 w 24"/>
                <a:gd name="T47" fmla="*/ 0 h 24"/>
                <a:gd name="T48" fmla="*/ 6 w 24"/>
                <a:gd name="T49" fmla="*/ 2 h 24"/>
                <a:gd name="T50" fmla="*/ 4 w 24"/>
                <a:gd name="T51" fmla="*/ 2 h 24"/>
                <a:gd name="T52" fmla="*/ 2 w 24"/>
                <a:gd name="T53" fmla="*/ 4 h 24"/>
                <a:gd name="T54" fmla="*/ 2 w 24"/>
                <a:gd name="T55" fmla="*/ 6 h 24"/>
                <a:gd name="T56" fmla="*/ 0 w 24"/>
                <a:gd name="T57" fmla="*/ 8 h 24"/>
                <a:gd name="T58" fmla="*/ 0 w 24"/>
                <a:gd name="T59" fmla="*/ 10 h 24"/>
                <a:gd name="T60" fmla="*/ 0 w 24"/>
                <a:gd name="T61" fmla="*/ 12 h 24"/>
                <a:gd name="T62" fmla="*/ 0 w 24"/>
                <a:gd name="T63" fmla="*/ 14 h 24"/>
                <a:gd name="T64" fmla="*/ 0 w 24"/>
                <a:gd name="T65" fmla="*/ 14 h 24"/>
                <a:gd name="T66" fmla="*/ 2 w 24"/>
                <a:gd name="T67" fmla="*/ 16 h 24"/>
                <a:gd name="T68" fmla="*/ 2 w 24"/>
                <a:gd name="T69" fmla="*/ 18 h 24"/>
                <a:gd name="T70" fmla="*/ 4 w 24"/>
                <a:gd name="T71" fmla="*/ 19 h 24"/>
                <a:gd name="T72" fmla="*/ 6 w 24"/>
                <a:gd name="T73" fmla="*/ 19 h 24"/>
                <a:gd name="T74" fmla="*/ 6 w 24"/>
                <a:gd name="T75" fmla="*/ 21 h 24"/>
                <a:gd name="T76" fmla="*/ 8 w 24"/>
                <a:gd name="T77" fmla="*/ 21 h 24"/>
                <a:gd name="T78" fmla="*/ 10 w 24"/>
                <a:gd name="T79" fmla="*/ 21 h 24"/>
                <a:gd name="T80" fmla="*/ 12 w 24"/>
                <a:gd name="T81" fmla="*/ 23 h 24"/>
                <a:gd name="T82" fmla="*/ 12 w 24"/>
                <a:gd name="T83" fmla="*/ 23 h 24"/>
                <a:gd name="T84" fmla="*/ 12 w 24"/>
                <a:gd name="T85" fmla="*/ 21 h 2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4"/>
                <a:gd name="T130" fmla="*/ 0 h 24"/>
                <a:gd name="T131" fmla="*/ 24 w 24"/>
                <a:gd name="T132" fmla="*/ 24 h 24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4" h="24">
                  <a:moveTo>
                    <a:pt x="12" y="21"/>
                  </a:moveTo>
                  <a:lnTo>
                    <a:pt x="14" y="21"/>
                  </a:lnTo>
                  <a:lnTo>
                    <a:pt x="16" y="21"/>
                  </a:lnTo>
                  <a:lnTo>
                    <a:pt x="17" y="21"/>
                  </a:lnTo>
                  <a:lnTo>
                    <a:pt x="19" y="19"/>
                  </a:lnTo>
                  <a:lnTo>
                    <a:pt x="21" y="18"/>
                  </a:lnTo>
                  <a:lnTo>
                    <a:pt x="23" y="16"/>
                  </a:lnTo>
                  <a:lnTo>
                    <a:pt x="23" y="14"/>
                  </a:lnTo>
                  <a:lnTo>
                    <a:pt x="23" y="12"/>
                  </a:lnTo>
                  <a:lnTo>
                    <a:pt x="23" y="10"/>
                  </a:lnTo>
                  <a:lnTo>
                    <a:pt x="23" y="8"/>
                  </a:lnTo>
                  <a:lnTo>
                    <a:pt x="23" y="6"/>
                  </a:lnTo>
                  <a:lnTo>
                    <a:pt x="21" y="4"/>
                  </a:lnTo>
                  <a:lnTo>
                    <a:pt x="19" y="2"/>
                  </a:lnTo>
                  <a:lnTo>
                    <a:pt x="17" y="0"/>
                  </a:lnTo>
                  <a:lnTo>
                    <a:pt x="16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8" y="0"/>
                  </a:lnTo>
                  <a:lnTo>
                    <a:pt x="6" y="0"/>
                  </a:lnTo>
                  <a:lnTo>
                    <a:pt x="6" y="2"/>
                  </a:lnTo>
                  <a:lnTo>
                    <a:pt x="4" y="2"/>
                  </a:lnTo>
                  <a:lnTo>
                    <a:pt x="2" y="4"/>
                  </a:lnTo>
                  <a:lnTo>
                    <a:pt x="2" y="6"/>
                  </a:lnTo>
                  <a:lnTo>
                    <a:pt x="0" y="8"/>
                  </a:lnTo>
                  <a:lnTo>
                    <a:pt x="0" y="10"/>
                  </a:lnTo>
                  <a:lnTo>
                    <a:pt x="0" y="12"/>
                  </a:lnTo>
                  <a:lnTo>
                    <a:pt x="0" y="14"/>
                  </a:lnTo>
                  <a:lnTo>
                    <a:pt x="2" y="16"/>
                  </a:lnTo>
                  <a:lnTo>
                    <a:pt x="2" y="18"/>
                  </a:lnTo>
                  <a:lnTo>
                    <a:pt x="4" y="19"/>
                  </a:lnTo>
                  <a:lnTo>
                    <a:pt x="6" y="19"/>
                  </a:lnTo>
                  <a:lnTo>
                    <a:pt x="6" y="21"/>
                  </a:lnTo>
                  <a:lnTo>
                    <a:pt x="8" y="21"/>
                  </a:lnTo>
                  <a:lnTo>
                    <a:pt x="10" y="21"/>
                  </a:lnTo>
                  <a:lnTo>
                    <a:pt x="12" y="23"/>
                  </a:lnTo>
                  <a:lnTo>
                    <a:pt x="12" y="21"/>
                  </a:lnTo>
                </a:path>
              </a:pathLst>
            </a:custGeom>
            <a:solidFill>
              <a:srgbClr val="000000"/>
            </a:solidFill>
            <a:ln w="9525" cap="rnd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06" name="Rectangle 130"/>
            <p:cNvSpPr>
              <a:spLocks noChangeArrowheads="1"/>
            </p:cNvSpPr>
            <p:nvPr/>
          </p:nvSpPr>
          <p:spPr bwMode="auto">
            <a:xfrm>
              <a:off x="695" y="2081"/>
              <a:ext cx="146" cy="1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sz="1200">
                  <a:solidFill>
                    <a:srgbClr val="000000"/>
                  </a:solidFill>
                  <a:latin typeface="+mj-lt"/>
                </a:rPr>
                <a:t>4</a:t>
              </a:r>
              <a:endParaRPr lang="en-US" sz="6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407" name="Freeform 131"/>
            <p:cNvSpPr>
              <a:spLocks/>
            </p:cNvSpPr>
            <p:nvPr/>
          </p:nvSpPr>
          <p:spPr bwMode="auto">
            <a:xfrm>
              <a:off x="1359" y="1917"/>
              <a:ext cx="93" cy="1777"/>
            </a:xfrm>
            <a:custGeom>
              <a:avLst/>
              <a:gdLst>
                <a:gd name="T0" fmla="*/ 90 w 93"/>
                <a:gd name="T1" fmla="*/ 1776 h 1777"/>
                <a:gd name="T2" fmla="*/ 92 w 93"/>
                <a:gd name="T3" fmla="*/ 0 h 1777"/>
                <a:gd name="T4" fmla="*/ 0 w 93"/>
                <a:gd name="T5" fmla="*/ 0 h 1777"/>
                <a:gd name="T6" fmla="*/ 0 w 93"/>
                <a:gd name="T7" fmla="*/ 1776 h 1777"/>
                <a:gd name="T8" fmla="*/ 92 w 93"/>
                <a:gd name="T9" fmla="*/ 1776 h 1777"/>
                <a:gd name="T10" fmla="*/ 92 w 93"/>
                <a:gd name="T11" fmla="*/ 1776 h 177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3"/>
                <a:gd name="T19" fmla="*/ 0 h 1777"/>
                <a:gd name="T20" fmla="*/ 93 w 93"/>
                <a:gd name="T21" fmla="*/ 1777 h 177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3" h="1777">
                  <a:moveTo>
                    <a:pt x="90" y="1776"/>
                  </a:moveTo>
                  <a:lnTo>
                    <a:pt x="92" y="0"/>
                  </a:lnTo>
                  <a:lnTo>
                    <a:pt x="0" y="0"/>
                  </a:lnTo>
                  <a:lnTo>
                    <a:pt x="0" y="1776"/>
                  </a:lnTo>
                  <a:lnTo>
                    <a:pt x="92" y="1776"/>
                  </a:lnTo>
                </a:path>
              </a:pathLst>
            </a:custGeom>
            <a:solidFill>
              <a:srgbClr val="CCECFF"/>
            </a:solidFill>
            <a:ln w="190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08" name="Line 132"/>
            <p:cNvSpPr>
              <a:spLocks noChangeShapeType="1"/>
            </p:cNvSpPr>
            <p:nvPr/>
          </p:nvSpPr>
          <p:spPr bwMode="auto">
            <a:xfrm flipH="1" flipV="1">
              <a:off x="1202" y="2021"/>
              <a:ext cx="163" cy="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09" name="Freeform 133"/>
            <p:cNvSpPr>
              <a:spLocks/>
            </p:cNvSpPr>
            <p:nvPr/>
          </p:nvSpPr>
          <p:spPr bwMode="auto">
            <a:xfrm>
              <a:off x="1236" y="2013"/>
              <a:ext cx="24" cy="24"/>
            </a:xfrm>
            <a:custGeom>
              <a:avLst/>
              <a:gdLst>
                <a:gd name="T0" fmla="*/ 9 w 24"/>
                <a:gd name="T1" fmla="*/ 23 h 24"/>
                <a:gd name="T2" fmla="*/ 13 w 24"/>
                <a:gd name="T3" fmla="*/ 23 h 24"/>
                <a:gd name="T4" fmla="*/ 15 w 24"/>
                <a:gd name="T5" fmla="*/ 23 h 24"/>
                <a:gd name="T6" fmla="*/ 15 w 24"/>
                <a:gd name="T7" fmla="*/ 21 h 24"/>
                <a:gd name="T8" fmla="*/ 17 w 24"/>
                <a:gd name="T9" fmla="*/ 21 h 24"/>
                <a:gd name="T10" fmla="*/ 19 w 24"/>
                <a:gd name="T11" fmla="*/ 19 h 24"/>
                <a:gd name="T12" fmla="*/ 19 w 24"/>
                <a:gd name="T13" fmla="*/ 19 h 24"/>
                <a:gd name="T14" fmla="*/ 21 w 24"/>
                <a:gd name="T15" fmla="*/ 17 h 24"/>
                <a:gd name="T16" fmla="*/ 21 w 24"/>
                <a:gd name="T17" fmla="*/ 15 h 24"/>
                <a:gd name="T18" fmla="*/ 23 w 24"/>
                <a:gd name="T19" fmla="*/ 13 h 24"/>
                <a:gd name="T20" fmla="*/ 23 w 24"/>
                <a:gd name="T21" fmla="*/ 11 h 24"/>
                <a:gd name="T22" fmla="*/ 23 w 24"/>
                <a:gd name="T23" fmla="*/ 9 h 24"/>
                <a:gd name="T24" fmla="*/ 21 w 24"/>
                <a:gd name="T25" fmla="*/ 8 h 24"/>
                <a:gd name="T26" fmla="*/ 21 w 24"/>
                <a:gd name="T27" fmla="*/ 6 h 24"/>
                <a:gd name="T28" fmla="*/ 19 w 24"/>
                <a:gd name="T29" fmla="*/ 6 h 24"/>
                <a:gd name="T30" fmla="*/ 19 w 24"/>
                <a:gd name="T31" fmla="*/ 4 h 24"/>
                <a:gd name="T32" fmla="*/ 17 w 24"/>
                <a:gd name="T33" fmla="*/ 2 h 24"/>
                <a:gd name="T34" fmla="*/ 15 w 24"/>
                <a:gd name="T35" fmla="*/ 2 h 24"/>
                <a:gd name="T36" fmla="*/ 15 w 24"/>
                <a:gd name="T37" fmla="*/ 0 h 24"/>
                <a:gd name="T38" fmla="*/ 13 w 24"/>
                <a:gd name="T39" fmla="*/ 0 h 24"/>
                <a:gd name="T40" fmla="*/ 11 w 24"/>
                <a:gd name="T41" fmla="*/ 0 h 24"/>
                <a:gd name="T42" fmla="*/ 9 w 24"/>
                <a:gd name="T43" fmla="*/ 0 h 24"/>
                <a:gd name="T44" fmla="*/ 7 w 24"/>
                <a:gd name="T45" fmla="*/ 0 h 24"/>
                <a:gd name="T46" fmla="*/ 5 w 24"/>
                <a:gd name="T47" fmla="*/ 2 h 24"/>
                <a:gd name="T48" fmla="*/ 4 w 24"/>
                <a:gd name="T49" fmla="*/ 2 h 24"/>
                <a:gd name="T50" fmla="*/ 2 w 24"/>
                <a:gd name="T51" fmla="*/ 4 h 24"/>
                <a:gd name="T52" fmla="*/ 2 w 24"/>
                <a:gd name="T53" fmla="*/ 6 h 24"/>
                <a:gd name="T54" fmla="*/ 0 w 24"/>
                <a:gd name="T55" fmla="*/ 6 h 24"/>
                <a:gd name="T56" fmla="*/ 0 w 24"/>
                <a:gd name="T57" fmla="*/ 8 h 24"/>
                <a:gd name="T58" fmla="*/ 0 w 24"/>
                <a:gd name="T59" fmla="*/ 9 h 24"/>
                <a:gd name="T60" fmla="*/ 0 w 24"/>
                <a:gd name="T61" fmla="*/ 11 h 24"/>
                <a:gd name="T62" fmla="*/ 0 w 24"/>
                <a:gd name="T63" fmla="*/ 13 h 24"/>
                <a:gd name="T64" fmla="*/ 0 w 24"/>
                <a:gd name="T65" fmla="*/ 15 h 24"/>
                <a:gd name="T66" fmla="*/ 0 w 24"/>
                <a:gd name="T67" fmla="*/ 17 h 24"/>
                <a:gd name="T68" fmla="*/ 2 w 24"/>
                <a:gd name="T69" fmla="*/ 19 h 24"/>
                <a:gd name="T70" fmla="*/ 2 w 24"/>
                <a:gd name="T71" fmla="*/ 19 h 24"/>
                <a:gd name="T72" fmla="*/ 4 w 24"/>
                <a:gd name="T73" fmla="*/ 21 h 24"/>
                <a:gd name="T74" fmla="*/ 5 w 24"/>
                <a:gd name="T75" fmla="*/ 21 h 24"/>
                <a:gd name="T76" fmla="*/ 7 w 24"/>
                <a:gd name="T77" fmla="*/ 23 h 24"/>
                <a:gd name="T78" fmla="*/ 9 w 24"/>
                <a:gd name="T79" fmla="*/ 23 h 24"/>
                <a:gd name="T80" fmla="*/ 11 w 24"/>
                <a:gd name="T81" fmla="*/ 23 h 24"/>
                <a:gd name="T82" fmla="*/ 11 w 24"/>
                <a:gd name="T83" fmla="*/ 23 h 24"/>
                <a:gd name="T84" fmla="*/ 9 w 24"/>
                <a:gd name="T85" fmla="*/ 23 h 2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4"/>
                <a:gd name="T130" fmla="*/ 0 h 24"/>
                <a:gd name="T131" fmla="*/ 24 w 24"/>
                <a:gd name="T132" fmla="*/ 24 h 24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4" h="24">
                  <a:moveTo>
                    <a:pt x="9" y="23"/>
                  </a:moveTo>
                  <a:lnTo>
                    <a:pt x="13" y="23"/>
                  </a:lnTo>
                  <a:lnTo>
                    <a:pt x="15" y="23"/>
                  </a:lnTo>
                  <a:lnTo>
                    <a:pt x="15" y="21"/>
                  </a:lnTo>
                  <a:lnTo>
                    <a:pt x="17" y="21"/>
                  </a:lnTo>
                  <a:lnTo>
                    <a:pt x="19" y="19"/>
                  </a:lnTo>
                  <a:lnTo>
                    <a:pt x="21" y="17"/>
                  </a:lnTo>
                  <a:lnTo>
                    <a:pt x="21" y="15"/>
                  </a:lnTo>
                  <a:lnTo>
                    <a:pt x="23" y="13"/>
                  </a:lnTo>
                  <a:lnTo>
                    <a:pt x="23" y="11"/>
                  </a:lnTo>
                  <a:lnTo>
                    <a:pt x="23" y="9"/>
                  </a:lnTo>
                  <a:lnTo>
                    <a:pt x="21" y="8"/>
                  </a:lnTo>
                  <a:lnTo>
                    <a:pt x="21" y="6"/>
                  </a:lnTo>
                  <a:lnTo>
                    <a:pt x="19" y="6"/>
                  </a:lnTo>
                  <a:lnTo>
                    <a:pt x="19" y="4"/>
                  </a:lnTo>
                  <a:lnTo>
                    <a:pt x="17" y="2"/>
                  </a:lnTo>
                  <a:lnTo>
                    <a:pt x="15" y="2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1" y="0"/>
                  </a:lnTo>
                  <a:lnTo>
                    <a:pt x="9" y="0"/>
                  </a:lnTo>
                  <a:lnTo>
                    <a:pt x="7" y="0"/>
                  </a:lnTo>
                  <a:lnTo>
                    <a:pt x="5" y="2"/>
                  </a:lnTo>
                  <a:lnTo>
                    <a:pt x="4" y="2"/>
                  </a:lnTo>
                  <a:lnTo>
                    <a:pt x="2" y="4"/>
                  </a:lnTo>
                  <a:lnTo>
                    <a:pt x="2" y="6"/>
                  </a:lnTo>
                  <a:lnTo>
                    <a:pt x="0" y="6"/>
                  </a:lnTo>
                  <a:lnTo>
                    <a:pt x="0" y="8"/>
                  </a:lnTo>
                  <a:lnTo>
                    <a:pt x="0" y="9"/>
                  </a:lnTo>
                  <a:lnTo>
                    <a:pt x="0" y="11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0" y="17"/>
                  </a:lnTo>
                  <a:lnTo>
                    <a:pt x="2" y="19"/>
                  </a:lnTo>
                  <a:lnTo>
                    <a:pt x="4" y="21"/>
                  </a:lnTo>
                  <a:lnTo>
                    <a:pt x="5" y="21"/>
                  </a:lnTo>
                  <a:lnTo>
                    <a:pt x="7" y="23"/>
                  </a:lnTo>
                  <a:lnTo>
                    <a:pt x="9" y="23"/>
                  </a:lnTo>
                  <a:lnTo>
                    <a:pt x="11" y="23"/>
                  </a:lnTo>
                  <a:lnTo>
                    <a:pt x="9" y="23"/>
                  </a:lnTo>
                </a:path>
              </a:pathLst>
            </a:custGeom>
            <a:solidFill>
              <a:srgbClr val="000000"/>
            </a:solidFill>
            <a:ln w="9525" cap="rnd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10" name="Freeform 134"/>
            <p:cNvSpPr>
              <a:spLocks/>
            </p:cNvSpPr>
            <p:nvPr/>
          </p:nvSpPr>
          <p:spPr bwMode="auto">
            <a:xfrm>
              <a:off x="915" y="1825"/>
              <a:ext cx="285" cy="413"/>
            </a:xfrm>
            <a:custGeom>
              <a:avLst/>
              <a:gdLst>
                <a:gd name="T0" fmla="*/ 0 w 210"/>
                <a:gd name="T1" fmla="*/ 0 h 413"/>
                <a:gd name="T2" fmla="*/ 0 w 210"/>
                <a:gd name="T3" fmla="*/ 167 h 413"/>
                <a:gd name="T4" fmla="*/ 91 w 210"/>
                <a:gd name="T5" fmla="*/ 207 h 413"/>
                <a:gd name="T6" fmla="*/ 0 w 210"/>
                <a:gd name="T7" fmla="*/ 245 h 413"/>
                <a:gd name="T8" fmla="*/ 0 w 210"/>
                <a:gd name="T9" fmla="*/ 412 h 413"/>
                <a:gd name="T10" fmla="*/ 284 w 210"/>
                <a:gd name="T11" fmla="*/ 286 h 413"/>
                <a:gd name="T12" fmla="*/ 284 w 210"/>
                <a:gd name="T13" fmla="*/ 127 h 413"/>
                <a:gd name="T14" fmla="*/ 0 w 210"/>
                <a:gd name="T15" fmla="*/ 0 h 413"/>
                <a:gd name="T16" fmla="*/ 0 w 210"/>
                <a:gd name="T17" fmla="*/ 0 h 41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10"/>
                <a:gd name="T28" fmla="*/ 0 h 413"/>
                <a:gd name="T29" fmla="*/ 210 w 210"/>
                <a:gd name="T30" fmla="*/ 413 h 413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10" h="413">
                  <a:moveTo>
                    <a:pt x="0" y="0"/>
                  </a:moveTo>
                  <a:lnTo>
                    <a:pt x="0" y="167"/>
                  </a:lnTo>
                  <a:lnTo>
                    <a:pt x="67" y="207"/>
                  </a:lnTo>
                  <a:lnTo>
                    <a:pt x="0" y="245"/>
                  </a:lnTo>
                  <a:lnTo>
                    <a:pt x="0" y="412"/>
                  </a:lnTo>
                  <a:lnTo>
                    <a:pt x="209" y="286"/>
                  </a:lnTo>
                  <a:lnTo>
                    <a:pt x="209" y="127"/>
                  </a:lnTo>
                  <a:lnTo>
                    <a:pt x="0" y="0"/>
                  </a:lnTo>
                </a:path>
              </a:pathLst>
            </a:custGeom>
            <a:solidFill>
              <a:srgbClr val="CCFF99"/>
            </a:solidFill>
            <a:ln w="190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11" name="Line 135"/>
            <p:cNvSpPr>
              <a:spLocks noChangeShapeType="1"/>
            </p:cNvSpPr>
            <p:nvPr/>
          </p:nvSpPr>
          <p:spPr bwMode="auto">
            <a:xfrm flipH="1">
              <a:off x="811" y="2168"/>
              <a:ext cx="102" cy="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12" name="Rectangle 136"/>
            <p:cNvSpPr>
              <a:spLocks noChangeArrowheads="1"/>
            </p:cNvSpPr>
            <p:nvPr/>
          </p:nvSpPr>
          <p:spPr bwMode="auto">
            <a:xfrm>
              <a:off x="812" y="2774"/>
              <a:ext cx="374" cy="2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000000"/>
                  </a:solidFill>
                  <a:latin typeface="+mj-lt"/>
                </a:rPr>
                <a:t>Instruction</a:t>
              </a:r>
            </a:p>
            <a:p>
              <a:pPr algn="ctr"/>
              <a:r>
                <a:rPr lang="en-US" sz="1200" dirty="0">
                  <a:solidFill>
                    <a:srgbClr val="000000"/>
                  </a:solidFill>
                  <a:latin typeface="+mj-lt"/>
                </a:rPr>
                <a:t>Memory</a:t>
              </a:r>
              <a:endParaRPr lang="en-US" sz="500" dirty="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413" name="Rectangle 138"/>
            <p:cNvSpPr>
              <a:spLocks noChangeArrowheads="1"/>
            </p:cNvSpPr>
            <p:nvPr/>
          </p:nvSpPr>
          <p:spPr bwMode="auto">
            <a:xfrm>
              <a:off x="747" y="2481"/>
              <a:ext cx="208" cy="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900">
                  <a:solidFill>
                    <a:srgbClr val="000000"/>
                  </a:solidFill>
                  <a:latin typeface="+mj-lt"/>
                </a:rPr>
                <a:t>Address</a:t>
              </a:r>
              <a:endParaRPr lang="en-US" sz="5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414" name="Rectangle 139"/>
            <p:cNvSpPr>
              <a:spLocks noChangeArrowheads="1"/>
            </p:cNvSpPr>
            <p:nvPr/>
          </p:nvSpPr>
          <p:spPr bwMode="auto">
            <a:xfrm>
              <a:off x="1042" y="1968"/>
              <a:ext cx="138" cy="1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dirty="0">
                  <a:solidFill>
                    <a:srgbClr val="000000"/>
                  </a:solidFill>
                  <a:latin typeface="+mj-lt"/>
                </a:rPr>
                <a:t>Add</a:t>
              </a:r>
              <a:endParaRPr lang="en-US" sz="500" dirty="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415" name="Rectangle 140"/>
            <p:cNvSpPr>
              <a:spLocks noChangeArrowheads="1"/>
            </p:cNvSpPr>
            <p:nvPr/>
          </p:nvSpPr>
          <p:spPr bwMode="auto">
            <a:xfrm>
              <a:off x="1311" y="1755"/>
              <a:ext cx="223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600" dirty="0">
                  <a:solidFill>
                    <a:srgbClr val="000000"/>
                  </a:solidFill>
                  <a:latin typeface="+mj-lt"/>
                </a:rPr>
                <a:t>IF/ID</a:t>
              </a:r>
            </a:p>
          </p:txBody>
        </p:sp>
        <p:grpSp>
          <p:nvGrpSpPr>
            <p:cNvPr id="54416" name="Group 141"/>
            <p:cNvGrpSpPr>
              <a:grpSpLocks/>
            </p:cNvGrpSpPr>
            <p:nvPr/>
          </p:nvGrpSpPr>
          <p:grpSpPr bwMode="auto">
            <a:xfrm>
              <a:off x="432" y="2393"/>
              <a:ext cx="156" cy="245"/>
              <a:chOff x="480" y="2155"/>
              <a:chExt cx="156" cy="245"/>
            </a:xfrm>
          </p:grpSpPr>
          <p:sp>
            <p:nvSpPr>
              <p:cNvPr id="54455" name="Freeform 142"/>
              <p:cNvSpPr>
                <a:spLocks/>
              </p:cNvSpPr>
              <p:nvPr/>
            </p:nvSpPr>
            <p:spPr bwMode="auto">
              <a:xfrm>
                <a:off x="480" y="2155"/>
                <a:ext cx="156" cy="245"/>
              </a:xfrm>
              <a:custGeom>
                <a:avLst/>
                <a:gdLst>
                  <a:gd name="T0" fmla="*/ 155 w 104"/>
                  <a:gd name="T1" fmla="*/ 242 h 245"/>
                  <a:gd name="T2" fmla="*/ 155 w 104"/>
                  <a:gd name="T3" fmla="*/ 0 h 245"/>
                  <a:gd name="T4" fmla="*/ 0 w 104"/>
                  <a:gd name="T5" fmla="*/ 0 h 245"/>
                  <a:gd name="T6" fmla="*/ 0 w 104"/>
                  <a:gd name="T7" fmla="*/ 244 h 245"/>
                  <a:gd name="T8" fmla="*/ 155 w 104"/>
                  <a:gd name="T9" fmla="*/ 244 h 245"/>
                  <a:gd name="T10" fmla="*/ 155 w 104"/>
                  <a:gd name="T11" fmla="*/ 244 h 24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04"/>
                  <a:gd name="T19" fmla="*/ 0 h 245"/>
                  <a:gd name="T20" fmla="*/ 104 w 104"/>
                  <a:gd name="T21" fmla="*/ 245 h 245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04" h="245">
                    <a:moveTo>
                      <a:pt x="103" y="242"/>
                    </a:moveTo>
                    <a:lnTo>
                      <a:pt x="103" y="0"/>
                    </a:lnTo>
                    <a:lnTo>
                      <a:pt x="0" y="0"/>
                    </a:lnTo>
                    <a:lnTo>
                      <a:pt x="0" y="244"/>
                    </a:lnTo>
                    <a:lnTo>
                      <a:pt x="103" y="244"/>
                    </a:lnTo>
                  </a:path>
                </a:pathLst>
              </a:custGeom>
              <a:solidFill>
                <a:srgbClr val="FFE6CD"/>
              </a:solidFill>
              <a:ln w="1905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54456" name="Rectangle 143"/>
              <p:cNvSpPr>
                <a:spLocks noChangeArrowheads="1"/>
              </p:cNvSpPr>
              <p:nvPr/>
            </p:nvSpPr>
            <p:spPr bwMode="auto">
              <a:xfrm>
                <a:off x="504" y="2220"/>
                <a:ext cx="90" cy="108"/>
              </a:xfrm>
              <a:prstGeom prst="rect">
                <a:avLst/>
              </a:prstGeom>
              <a:solidFill>
                <a:srgbClr val="FFE6CD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200" dirty="0">
                    <a:solidFill>
                      <a:srgbClr val="000000"/>
                    </a:solidFill>
                    <a:latin typeface="+mj-lt"/>
                  </a:rPr>
                  <a:t>PC</a:t>
                </a:r>
                <a:endParaRPr lang="en-US" sz="500" dirty="0">
                  <a:solidFill>
                    <a:srgbClr val="000000"/>
                  </a:solidFill>
                  <a:latin typeface="+mj-lt"/>
                </a:endParaRPr>
              </a:p>
            </p:txBody>
          </p:sp>
        </p:grpSp>
        <p:sp>
          <p:nvSpPr>
            <p:cNvPr id="54417" name="Line 144"/>
            <p:cNvSpPr>
              <a:spLocks noChangeShapeType="1"/>
            </p:cNvSpPr>
            <p:nvPr/>
          </p:nvSpPr>
          <p:spPr bwMode="auto">
            <a:xfrm flipH="1">
              <a:off x="1290" y="2688"/>
              <a:ext cx="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18" name="Line 145"/>
            <p:cNvSpPr>
              <a:spLocks noChangeShapeType="1"/>
            </p:cNvSpPr>
            <p:nvPr/>
          </p:nvSpPr>
          <p:spPr bwMode="auto">
            <a:xfrm flipV="1">
              <a:off x="1248" y="1782"/>
              <a:ext cx="0" cy="2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19" name="Line 146"/>
            <p:cNvSpPr>
              <a:spLocks noChangeShapeType="1"/>
            </p:cNvSpPr>
            <p:nvPr/>
          </p:nvSpPr>
          <p:spPr bwMode="auto">
            <a:xfrm flipH="1" flipV="1">
              <a:off x="3843" y="1594"/>
              <a:ext cx="0" cy="57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20" name="Line 147"/>
            <p:cNvSpPr>
              <a:spLocks noChangeShapeType="1"/>
            </p:cNvSpPr>
            <p:nvPr/>
          </p:nvSpPr>
          <p:spPr bwMode="auto">
            <a:xfrm rot="5400000" flipH="1" flipV="1">
              <a:off x="1011" y="1542"/>
              <a:ext cx="3" cy="47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21" name="Line 148"/>
            <p:cNvSpPr>
              <a:spLocks noChangeShapeType="1"/>
            </p:cNvSpPr>
            <p:nvPr/>
          </p:nvSpPr>
          <p:spPr bwMode="auto">
            <a:xfrm rot="16200000" flipV="1">
              <a:off x="3756" y="2077"/>
              <a:ext cx="3" cy="17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22" name="Line 149"/>
            <p:cNvSpPr>
              <a:spLocks noChangeShapeType="1"/>
            </p:cNvSpPr>
            <p:nvPr/>
          </p:nvSpPr>
          <p:spPr bwMode="auto">
            <a:xfrm rot="16200000" flipV="1">
              <a:off x="521" y="1529"/>
              <a:ext cx="0" cy="31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23" name="Line 150"/>
            <p:cNvSpPr>
              <a:spLocks noChangeShapeType="1"/>
            </p:cNvSpPr>
            <p:nvPr/>
          </p:nvSpPr>
          <p:spPr bwMode="auto">
            <a:xfrm flipV="1">
              <a:off x="360" y="1683"/>
              <a:ext cx="0" cy="83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24" name="Line 151"/>
            <p:cNvSpPr>
              <a:spLocks noChangeShapeType="1"/>
            </p:cNvSpPr>
            <p:nvPr/>
          </p:nvSpPr>
          <p:spPr bwMode="auto">
            <a:xfrm rot="16200000" flipV="1">
              <a:off x="393" y="2481"/>
              <a:ext cx="0" cy="6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grpSp>
          <p:nvGrpSpPr>
            <p:cNvPr id="54425" name="Group 152"/>
            <p:cNvGrpSpPr>
              <a:grpSpLocks/>
            </p:cNvGrpSpPr>
            <p:nvPr/>
          </p:nvGrpSpPr>
          <p:grpSpPr bwMode="auto">
            <a:xfrm>
              <a:off x="2754" y="3391"/>
              <a:ext cx="127" cy="309"/>
              <a:chOff x="2742" y="3153"/>
              <a:chExt cx="127" cy="309"/>
            </a:xfrm>
          </p:grpSpPr>
          <p:sp>
            <p:nvSpPr>
              <p:cNvPr id="54451" name="Rectangle 153"/>
              <p:cNvSpPr>
                <a:spLocks noChangeArrowheads="1"/>
              </p:cNvSpPr>
              <p:nvPr/>
            </p:nvSpPr>
            <p:spPr bwMode="auto">
              <a:xfrm>
                <a:off x="2745" y="3153"/>
                <a:ext cx="124" cy="108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r>
                  <a:rPr lang="en-US" sz="600" dirty="0">
                    <a:solidFill>
                      <a:srgbClr val="000000"/>
                    </a:solidFill>
                    <a:latin typeface="+mj-lt"/>
                  </a:rPr>
                  <a:t>0</a:t>
                </a:r>
              </a:p>
            </p:txBody>
          </p:sp>
          <p:sp>
            <p:nvSpPr>
              <p:cNvPr id="54452" name="Rectangle 154"/>
              <p:cNvSpPr>
                <a:spLocks noChangeArrowheads="1"/>
              </p:cNvSpPr>
              <p:nvPr/>
            </p:nvSpPr>
            <p:spPr bwMode="auto">
              <a:xfrm>
                <a:off x="2742" y="3354"/>
                <a:ext cx="124" cy="108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r>
                  <a:rPr lang="en-US" sz="600" dirty="0">
                    <a:solidFill>
                      <a:srgbClr val="000000"/>
                    </a:solidFill>
                    <a:latin typeface="+mj-lt"/>
                  </a:rPr>
                  <a:t>1</a:t>
                </a:r>
              </a:p>
            </p:txBody>
          </p:sp>
          <p:sp>
            <p:nvSpPr>
              <p:cNvPr id="54453" name="Rectangle 155"/>
              <p:cNvSpPr>
                <a:spLocks noChangeArrowheads="1"/>
              </p:cNvSpPr>
              <p:nvPr/>
            </p:nvSpPr>
            <p:spPr bwMode="auto">
              <a:xfrm>
                <a:off x="2793" y="3230"/>
                <a:ext cx="45" cy="151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>
                  <a:lnSpc>
                    <a:spcPct val="70000"/>
                  </a:lnSpc>
                </a:pPr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m</a:t>
                </a:r>
              </a:p>
              <a:p>
                <a:pPr algn="ctr">
                  <a:lnSpc>
                    <a:spcPct val="70000"/>
                  </a:lnSpc>
                </a:pPr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u</a:t>
                </a:r>
              </a:p>
              <a:p>
                <a:pPr algn="ctr">
                  <a:lnSpc>
                    <a:spcPct val="70000"/>
                  </a:lnSpc>
                </a:pPr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x</a:t>
                </a:r>
                <a:endParaRPr lang="en-US" sz="500">
                  <a:solidFill>
                    <a:srgbClr val="000000"/>
                  </a:solidFill>
                  <a:latin typeface="+mj-lt"/>
                </a:endParaRPr>
              </a:p>
            </p:txBody>
          </p:sp>
          <p:sp>
            <p:nvSpPr>
              <p:cNvPr id="54454" name="AutoShape 156"/>
              <p:cNvSpPr>
                <a:spLocks noChangeArrowheads="1"/>
              </p:cNvSpPr>
              <p:nvPr/>
            </p:nvSpPr>
            <p:spPr bwMode="auto">
              <a:xfrm rot="5400000">
                <a:off x="2665" y="3263"/>
                <a:ext cx="297" cy="96"/>
              </a:xfrm>
              <a:prstGeom prst="flowChartTerminator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>
                  <a:latin typeface="+mj-lt"/>
                </a:endParaRPr>
              </a:p>
            </p:txBody>
          </p:sp>
        </p:grpSp>
        <p:grpSp>
          <p:nvGrpSpPr>
            <p:cNvPr id="54426" name="Group 157"/>
            <p:cNvGrpSpPr>
              <a:grpSpLocks/>
            </p:cNvGrpSpPr>
            <p:nvPr/>
          </p:nvGrpSpPr>
          <p:grpSpPr bwMode="auto">
            <a:xfrm>
              <a:off x="2796" y="2665"/>
              <a:ext cx="127" cy="309"/>
              <a:chOff x="2748" y="3153"/>
              <a:chExt cx="127" cy="309"/>
            </a:xfrm>
          </p:grpSpPr>
          <p:sp>
            <p:nvSpPr>
              <p:cNvPr id="54447" name="Rectangle 158"/>
              <p:cNvSpPr>
                <a:spLocks noChangeArrowheads="1"/>
              </p:cNvSpPr>
              <p:nvPr/>
            </p:nvSpPr>
            <p:spPr bwMode="auto">
              <a:xfrm>
                <a:off x="2751" y="3153"/>
                <a:ext cx="124" cy="108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r>
                  <a:rPr lang="en-US" sz="600" dirty="0">
                    <a:solidFill>
                      <a:srgbClr val="000000"/>
                    </a:solidFill>
                    <a:latin typeface="+mj-lt"/>
                  </a:rPr>
                  <a:t>0</a:t>
                </a:r>
              </a:p>
            </p:txBody>
          </p:sp>
          <p:sp>
            <p:nvSpPr>
              <p:cNvPr id="54448" name="Rectangle 159"/>
              <p:cNvSpPr>
                <a:spLocks noChangeArrowheads="1"/>
              </p:cNvSpPr>
              <p:nvPr/>
            </p:nvSpPr>
            <p:spPr bwMode="auto">
              <a:xfrm>
                <a:off x="2748" y="3354"/>
                <a:ext cx="124" cy="108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r>
                  <a:rPr lang="en-US" sz="600" dirty="0">
                    <a:solidFill>
                      <a:srgbClr val="000000"/>
                    </a:solidFill>
                    <a:latin typeface="+mj-lt"/>
                  </a:rPr>
                  <a:t>1</a:t>
                </a:r>
              </a:p>
            </p:txBody>
          </p:sp>
          <p:sp>
            <p:nvSpPr>
              <p:cNvPr id="54449" name="Rectangle 160"/>
              <p:cNvSpPr>
                <a:spLocks noChangeArrowheads="1"/>
              </p:cNvSpPr>
              <p:nvPr/>
            </p:nvSpPr>
            <p:spPr bwMode="auto">
              <a:xfrm>
                <a:off x="2795" y="3238"/>
                <a:ext cx="40" cy="132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>
                  <a:lnSpc>
                    <a:spcPct val="70000"/>
                  </a:lnSpc>
                </a:pPr>
                <a:r>
                  <a:rPr lang="en-US" sz="700" dirty="0">
                    <a:solidFill>
                      <a:srgbClr val="000000"/>
                    </a:solidFill>
                    <a:latin typeface="+mj-lt"/>
                  </a:rPr>
                  <a:t>m</a:t>
                </a:r>
              </a:p>
              <a:p>
                <a:pPr algn="ctr">
                  <a:lnSpc>
                    <a:spcPct val="70000"/>
                  </a:lnSpc>
                </a:pPr>
                <a:r>
                  <a:rPr lang="en-US" sz="700" dirty="0">
                    <a:solidFill>
                      <a:srgbClr val="000000"/>
                    </a:solidFill>
                    <a:latin typeface="+mj-lt"/>
                  </a:rPr>
                  <a:t>u</a:t>
                </a:r>
              </a:p>
              <a:p>
                <a:pPr algn="ctr">
                  <a:lnSpc>
                    <a:spcPct val="70000"/>
                  </a:lnSpc>
                </a:pPr>
                <a:r>
                  <a:rPr lang="en-US" sz="700" dirty="0">
                    <a:solidFill>
                      <a:srgbClr val="000000"/>
                    </a:solidFill>
                    <a:latin typeface="+mj-lt"/>
                  </a:rPr>
                  <a:t>x</a:t>
                </a:r>
                <a:endParaRPr lang="en-US" sz="400" dirty="0">
                  <a:solidFill>
                    <a:srgbClr val="000000"/>
                  </a:solidFill>
                  <a:latin typeface="+mj-lt"/>
                </a:endParaRPr>
              </a:p>
            </p:txBody>
          </p:sp>
          <p:sp>
            <p:nvSpPr>
              <p:cNvPr id="54450" name="AutoShape 161"/>
              <p:cNvSpPr>
                <a:spLocks noChangeArrowheads="1"/>
              </p:cNvSpPr>
              <p:nvPr/>
            </p:nvSpPr>
            <p:spPr bwMode="auto">
              <a:xfrm rot="5400000">
                <a:off x="2665" y="3263"/>
                <a:ext cx="297" cy="96"/>
              </a:xfrm>
              <a:prstGeom prst="flowChartTerminator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>
                  <a:latin typeface="+mj-lt"/>
                </a:endParaRPr>
              </a:p>
            </p:txBody>
          </p:sp>
        </p:grpSp>
        <p:sp>
          <p:nvSpPr>
            <p:cNvPr id="54427" name="Line 162"/>
            <p:cNvSpPr>
              <a:spLocks noChangeShapeType="1"/>
            </p:cNvSpPr>
            <p:nvPr/>
          </p:nvSpPr>
          <p:spPr bwMode="auto">
            <a:xfrm flipV="1">
              <a:off x="3168" y="2844"/>
              <a:ext cx="0" cy="391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28" name="Line 163"/>
            <p:cNvSpPr>
              <a:spLocks noChangeShapeType="1"/>
            </p:cNvSpPr>
            <p:nvPr/>
          </p:nvSpPr>
          <p:spPr bwMode="auto">
            <a:xfrm rot="5400000" flipV="1">
              <a:off x="3142" y="3203"/>
              <a:ext cx="0" cy="52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grpSp>
          <p:nvGrpSpPr>
            <p:cNvPr id="54429" name="Group 164"/>
            <p:cNvGrpSpPr>
              <a:grpSpLocks/>
            </p:cNvGrpSpPr>
            <p:nvPr/>
          </p:nvGrpSpPr>
          <p:grpSpPr bwMode="auto">
            <a:xfrm flipH="1">
              <a:off x="672" y="1534"/>
              <a:ext cx="127" cy="309"/>
              <a:chOff x="2743" y="3153"/>
              <a:chExt cx="127" cy="309"/>
            </a:xfrm>
          </p:grpSpPr>
          <p:sp>
            <p:nvSpPr>
              <p:cNvPr id="54443" name="Rectangle 165"/>
              <p:cNvSpPr>
                <a:spLocks noChangeArrowheads="1"/>
              </p:cNvSpPr>
              <p:nvPr/>
            </p:nvSpPr>
            <p:spPr bwMode="auto">
              <a:xfrm>
                <a:off x="2746" y="3153"/>
                <a:ext cx="124" cy="108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r>
                  <a:rPr lang="en-US" sz="600" dirty="0">
                    <a:solidFill>
                      <a:srgbClr val="000000"/>
                    </a:solidFill>
                    <a:latin typeface="+mj-lt"/>
                  </a:rPr>
                  <a:t>0</a:t>
                </a:r>
              </a:p>
            </p:txBody>
          </p:sp>
          <p:sp>
            <p:nvSpPr>
              <p:cNvPr id="54444" name="Rectangle 166"/>
              <p:cNvSpPr>
                <a:spLocks noChangeArrowheads="1"/>
              </p:cNvSpPr>
              <p:nvPr/>
            </p:nvSpPr>
            <p:spPr bwMode="auto">
              <a:xfrm>
                <a:off x="2743" y="3354"/>
                <a:ext cx="124" cy="108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r>
                  <a:rPr lang="en-US" sz="600">
                    <a:solidFill>
                      <a:srgbClr val="000000"/>
                    </a:solidFill>
                    <a:latin typeface="+mj-lt"/>
                  </a:rPr>
                  <a:t>1</a:t>
                </a:r>
              </a:p>
            </p:txBody>
          </p:sp>
          <p:sp>
            <p:nvSpPr>
              <p:cNvPr id="54445" name="Rectangle 167"/>
              <p:cNvSpPr>
                <a:spLocks noChangeArrowheads="1"/>
              </p:cNvSpPr>
              <p:nvPr/>
            </p:nvSpPr>
            <p:spPr bwMode="auto">
              <a:xfrm>
                <a:off x="2795" y="3238"/>
                <a:ext cx="40" cy="132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>
                  <a:lnSpc>
                    <a:spcPct val="70000"/>
                  </a:lnSpc>
                </a:pPr>
                <a:r>
                  <a:rPr lang="en-US" sz="700">
                    <a:solidFill>
                      <a:srgbClr val="000000"/>
                    </a:solidFill>
                    <a:latin typeface="+mj-lt"/>
                  </a:rPr>
                  <a:t>m</a:t>
                </a:r>
              </a:p>
              <a:p>
                <a:pPr algn="ctr">
                  <a:lnSpc>
                    <a:spcPct val="70000"/>
                  </a:lnSpc>
                </a:pPr>
                <a:r>
                  <a:rPr lang="en-US" sz="700">
                    <a:solidFill>
                      <a:srgbClr val="000000"/>
                    </a:solidFill>
                    <a:latin typeface="+mj-lt"/>
                  </a:rPr>
                  <a:t>u</a:t>
                </a:r>
              </a:p>
              <a:p>
                <a:pPr algn="ctr">
                  <a:lnSpc>
                    <a:spcPct val="70000"/>
                  </a:lnSpc>
                </a:pPr>
                <a:r>
                  <a:rPr lang="en-US" sz="700">
                    <a:solidFill>
                      <a:srgbClr val="000000"/>
                    </a:solidFill>
                    <a:latin typeface="+mj-lt"/>
                  </a:rPr>
                  <a:t>x</a:t>
                </a:r>
                <a:endParaRPr lang="en-US" sz="400">
                  <a:solidFill>
                    <a:srgbClr val="000000"/>
                  </a:solidFill>
                  <a:latin typeface="+mj-lt"/>
                </a:endParaRPr>
              </a:p>
            </p:txBody>
          </p:sp>
          <p:sp>
            <p:nvSpPr>
              <p:cNvPr id="54446" name="AutoShape 168"/>
              <p:cNvSpPr>
                <a:spLocks noChangeArrowheads="1"/>
              </p:cNvSpPr>
              <p:nvPr/>
            </p:nvSpPr>
            <p:spPr bwMode="auto">
              <a:xfrm rot="5400000">
                <a:off x="2665" y="3263"/>
                <a:ext cx="297" cy="96"/>
              </a:xfrm>
              <a:prstGeom prst="flowChartTerminator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>
                  <a:latin typeface="+mj-lt"/>
                </a:endParaRPr>
              </a:p>
            </p:txBody>
          </p:sp>
        </p:grpSp>
        <p:grpSp>
          <p:nvGrpSpPr>
            <p:cNvPr id="54430" name="Group 169"/>
            <p:cNvGrpSpPr>
              <a:grpSpLocks/>
            </p:cNvGrpSpPr>
            <p:nvPr/>
          </p:nvGrpSpPr>
          <p:grpSpPr bwMode="auto">
            <a:xfrm>
              <a:off x="4899" y="2686"/>
              <a:ext cx="127" cy="309"/>
              <a:chOff x="2742" y="3153"/>
              <a:chExt cx="127" cy="309"/>
            </a:xfrm>
          </p:grpSpPr>
          <p:sp>
            <p:nvSpPr>
              <p:cNvPr id="54439" name="Rectangle 170"/>
              <p:cNvSpPr>
                <a:spLocks noChangeArrowheads="1"/>
              </p:cNvSpPr>
              <p:nvPr/>
            </p:nvSpPr>
            <p:spPr bwMode="auto">
              <a:xfrm>
                <a:off x="2745" y="3153"/>
                <a:ext cx="124" cy="108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r>
                  <a:rPr lang="en-US" sz="600" dirty="0">
                    <a:solidFill>
                      <a:srgbClr val="000000"/>
                    </a:solidFill>
                    <a:latin typeface="+mj-lt"/>
                  </a:rPr>
                  <a:t>0</a:t>
                </a:r>
              </a:p>
            </p:txBody>
          </p:sp>
          <p:sp>
            <p:nvSpPr>
              <p:cNvPr id="54440" name="Rectangle 171"/>
              <p:cNvSpPr>
                <a:spLocks noChangeArrowheads="1"/>
              </p:cNvSpPr>
              <p:nvPr/>
            </p:nvSpPr>
            <p:spPr bwMode="auto">
              <a:xfrm>
                <a:off x="2742" y="3354"/>
                <a:ext cx="124" cy="108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>
                <a:spAutoFit/>
              </a:bodyPr>
              <a:lstStyle/>
              <a:p>
                <a:r>
                  <a:rPr lang="en-US" sz="600" dirty="0">
                    <a:solidFill>
                      <a:srgbClr val="000000"/>
                    </a:solidFill>
                    <a:latin typeface="+mj-lt"/>
                  </a:rPr>
                  <a:t>1</a:t>
                </a:r>
              </a:p>
            </p:txBody>
          </p:sp>
          <p:sp>
            <p:nvSpPr>
              <p:cNvPr id="54441" name="Rectangle 172"/>
              <p:cNvSpPr>
                <a:spLocks noChangeArrowheads="1"/>
              </p:cNvSpPr>
              <p:nvPr/>
            </p:nvSpPr>
            <p:spPr bwMode="auto">
              <a:xfrm>
                <a:off x="2795" y="3238"/>
                <a:ext cx="40" cy="132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>
                  <a:lnSpc>
                    <a:spcPct val="70000"/>
                  </a:lnSpc>
                </a:pPr>
                <a:r>
                  <a:rPr lang="en-US" sz="700">
                    <a:solidFill>
                      <a:srgbClr val="000000"/>
                    </a:solidFill>
                    <a:latin typeface="+mj-lt"/>
                  </a:rPr>
                  <a:t>m</a:t>
                </a:r>
              </a:p>
              <a:p>
                <a:pPr algn="ctr">
                  <a:lnSpc>
                    <a:spcPct val="70000"/>
                  </a:lnSpc>
                </a:pPr>
                <a:r>
                  <a:rPr lang="en-US" sz="700">
                    <a:solidFill>
                      <a:srgbClr val="000000"/>
                    </a:solidFill>
                    <a:latin typeface="+mj-lt"/>
                  </a:rPr>
                  <a:t>u</a:t>
                </a:r>
              </a:p>
              <a:p>
                <a:pPr algn="ctr">
                  <a:lnSpc>
                    <a:spcPct val="70000"/>
                  </a:lnSpc>
                </a:pPr>
                <a:r>
                  <a:rPr lang="en-US" sz="700">
                    <a:solidFill>
                      <a:srgbClr val="000000"/>
                    </a:solidFill>
                    <a:latin typeface="+mj-lt"/>
                  </a:rPr>
                  <a:t>x</a:t>
                </a:r>
                <a:endParaRPr lang="en-US" sz="400">
                  <a:solidFill>
                    <a:srgbClr val="000000"/>
                  </a:solidFill>
                  <a:latin typeface="+mj-lt"/>
                </a:endParaRPr>
              </a:p>
            </p:txBody>
          </p:sp>
          <p:sp>
            <p:nvSpPr>
              <p:cNvPr id="54442" name="AutoShape 173"/>
              <p:cNvSpPr>
                <a:spLocks noChangeArrowheads="1"/>
              </p:cNvSpPr>
              <p:nvPr/>
            </p:nvSpPr>
            <p:spPr bwMode="auto">
              <a:xfrm rot="5400000">
                <a:off x="2665" y="3263"/>
                <a:ext cx="297" cy="96"/>
              </a:xfrm>
              <a:prstGeom prst="flowChartTerminator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>
                  <a:latin typeface="+mj-lt"/>
                </a:endParaRPr>
              </a:p>
            </p:txBody>
          </p:sp>
        </p:grpSp>
        <p:sp>
          <p:nvSpPr>
            <p:cNvPr id="54431" name="Rectangle 174"/>
            <p:cNvSpPr>
              <a:spLocks noChangeArrowheads="1"/>
            </p:cNvSpPr>
            <p:nvPr/>
          </p:nvSpPr>
          <p:spPr bwMode="auto">
            <a:xfrm>
              <a:off x="882" y="2648"/>
              <a:ext cx="282" cy="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900" dirty="0">
                  <a:solidFill>
                    <a:srgbClr val="000000"/>
                  </a:solidFill>
                  <a:latin typeface="+mj-lt"/>
                </a:rPr>
                <a:t>Instruction</a:t>
              </a:r>
              <a:endParaRPr lang="en-US" sz="500" dirty="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54432" name="Line 175"/>
            <p:cNvSpPr>
              <a:spLocks noChangeShapeType="1"/>
            </p:cNvSpPr>
            <p:nvPr/>
          </p:nvSpPr>
          <p:spPr bwMode="auto">
            <a:xfrm flipV="1">
              <a:off x="1638" y="2431"/>
              <a:ext cx="0" cy="121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33" name="Line 176"/>
            <p:cNvSpPr>
              <a:spLocks noChangeShapeType="1"/>
            </p:cNvSpPr>
            <p:nvPr/>
          </p:nvSpPr>
          <p:spPr bwMode="auto">
            <a:xfrm flipV="1">
              <a:off x="1639" y="3643"/>
              <a:ext cx="794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34" name="Line 177"/>
            <p:cNvSpPr>
              <a:spLocks noChangeShapeType="1"/>
            </p:cNvSpPr>
            <p:nvPr/>
          </p:nvSpPr>
          <p:spPr bwMode="auto">
            <a:xfrm flipH="1">
              <a:off x="777" y="1594"/>
              <a:ext cx="30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35" name="Line 178"/>
            <p:cNvSpPr>
              <a:spLocks noChangeShapeType="1"/>
            </p:cNvSpPr>
            <p:nvPr/>
          </p:nvSpPr>
          <p:spPr bwMode="auto">
            <a:xfrm flipV="1">
              <a:off x="3969" y="2359"/>
              <a:ext cx="65" cy="2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36" name="Line 179"/>
            <p:cNvSpPr>
              <a:spLocks noChangeShapeType="1"/>
            </p:cNvSpPr>
            <p:nvPr/>
          </p:nvSpPr>
          <p:spPr bwMode="auto">
            <a:xfrm rot="-5400000" flipH="1" flipV="1">
              <a:off x="3566" y="1901"/>
              <a:ext cx="926" cy="1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37" name="Line 180"/>
            <p:cNvSpPr>
              <a:spLocks noChangeShapeType="1"/>
            </p:cNvSpPr>
            <p:nvPr/>
          </p:nvSpPr>
          <p:spPr bwMode="auto">
            <a:xfrm>
              <a:off x="720" y="1438"/>
              <a:ext cx="3312" cy="0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438" name="Line 181"/>
            <p:cNvSpPr>
              <a:spLocks noChangeShapeType="1"/>
            </p:cNvSpPr>
            <p:nvPr/>
          </p:nvSpPr>
          <p:spPr bwMode="auto">
            <a:xfrm rot="-5400000" flipH="1" flipV="1">
              <a:off x="670" y="1491"/>
              <a:ext cx="107" cy="1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320" name="Rectangle 36"/>
            <p:cNvSpPr>
              <a:spLocks noChangeArrowheads="1"/>
            </p:cNvSpPr>
            <p:nvPr/>
          </p:nvSpPr>
          <p:spPr bwMode="auto">
            <a:xfrm>
              <a:off x="2658" y="2526"/>
              <a:ext cx="215" cy="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50" dirty="0" err="1">
                  <a:solidFill>
                    <a:srgbClr val="EB7500"/>
                  </a:solidFill>
                  <a:latin typeface="+mj-lt"/>
                </a:rPr>
                <a:t>ALUSrc</a:t>
              </a:r>
              <a:endParaRPr lang="en-US" sz="700" dirty="0">
                <a:solidFill>
                  <a:srgbClr val="EB7500"/>
                </a:solidFill>
                <a:latin typeface="+mj-lt"/>
              </a:endParaRPr>
            </a:p>
          </p:txBody>
        </p:sp>
        <p:sp>
          <p:nvSpPr>
            <p:cNvPr id="54348" name="Rectangle 64"/>
            <p:cNvSpPr>
              <a:spLocks noChangeArrowheads="1"/>
            </p:cNvSpPr>
            <p:nvPr/>
          </p:nvSpPr>
          <p:spPr bwMode="auto">
            <a:xfrm>
              <a:off x="3034" y="3421"/>
              <a:ext cx="217" cy="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50" dirty="0" err="1">
                  <a:solidFill>
                    <a:srgbClr val="EB7500"/>
                  </a:solidFill>
                  <a:latin typeface="+mj-lt"/>
                </a:rPr>
                <a:t>ALUOp</a:t>
              </a:r>
              <a:endParaRPr lang="en-US" sz="1050" dirty="0">
                <a:solidFill>
                  <a:srgbClr val="EB7500"/>
                </a:solidFill>
                <a:latin typeface="+mj-lt"/>
              </a:endParaRPr>
            </a:p>
          </p:txBody>
        </p:sp>
        <p:sp>
          <p:nvSpPr>
            <p:cNvPr id="54349" name="Rectangle 65"/>
            <p:cNvSpPr>
              <a:spLocks noChangeArrowheads="1"/>
            </p:cNvSpPr>
            <p:nvPr/>
          </p:nvSpPr>
          <p:spPr bwMode="auto">
            <a:xfrm>
              <a:off x="2841" y="3700"/>
              <a:ext cx="214" cy="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50">
                  <a:solidFill>
                    <a:srgbClr val="EB7500"/>
                  </a:solidFill>
                  <a:latin typeface="+mj-lt"/>
                </a:rPr>
                <a:t>RegDst</a:t>
              </a:r>
            </a:p>
          </p:txBody>
        </p:sp>
        <p:sp>
          <p:nvSpPr>
            <p:cNvPr id="54352" name="Rectangle 68"/>
            <p:cNvSpPr>
              <a:spLocks noChangeArrowheads="1"/>
            </p:cNvSpPr>
            <p:nvPr/>
          </p:nvSpPr>
          <p:spPr bwMode="auto">
            <a:xfrm>
              <a:off x="1913" y="2186"/>
              <a:ext cx="294" cy="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50" dirty="0" err="1">
                  <a:solidFill>
                    <a:srgbClr val="EB7500"/>
                  </a:solidFill>
                  <a:latin typeface="+mj-lt"/>
                </a:rPr>
                <a:t>RegWrite</a:t>
              </a:r>
              <a:endParaRPr lang="en-US" sz="1050" dirty="0">
                <a:solidFill>
                  <a:srgbClr val="EB7500"/>
                </a:solidFill>
                <a:latin typeface="+mj-lt"/>
              </a:endParaRPr>
            </a:p>
          </p:txBody>
        </p:sp>
        <p:sp>
          <p:nvSpPr>
            <p:cNvPr id="54388" name="Rectangle 112"/>
            <p:cNvSpPr>
              <a:spLocks noChangeArrowheads="1"/>
            </p:cNvSpPr>
            <p:nvPr/>
          </p:nvSpPr>
          <p:spPr bwMode="auto">
            <a:xfrm>
              <a:off x="3734" y="2172"/>
              <a:ext cx="220" cy="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50">
                  <a:solidFill>
                    <a:srgbClr val="EB7500"/>
                  </a:solidFill>
                  <a:latin typeface="+mj-lt"/>
                </a:rPr>
                <a:t>Branch</a:t>
              </a:r>
            </a:p>
          </p:txBody>
        </p:sp>
        <p:sp>
          <p:nvSpPr>
            <p:cNvPr id="54389" name="Rectangle 113"/>
            <p:cNvSpPr>
              <a:spLocks noChangeArrowheads="1"/>
            </p:cNvSpPr>
            <p:nvPr/>
          </p:nvSpPr>
          <p:spPr bwMode="auto">
            <a:xfrm>
              <a:off x="4056" y="1582"/>
              <a:ext cx="170" cy="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50">
                  <a:solidFill>
                    <a:srgbClr val="EB7500"/>
                  </a:solidFill>
                  <a:latin typeface="+mj-lt"/>
                </a:rPr>
                <a:t>PCSrc</a:t>
              </a:r>
            </a:p>
          </p:txBody>
        </p:sp>
        <p:sp>
          <p:nvSpPr>
            <p:cNvPr id="54399" name="Rectangle 123"/>
            <p:cNvSpPr>
              <a:spLocks noChangeArrowheads="1"/>
            </p:cNvSpPr>
            <p:nvPr/>
          </p:nvSpPr>
          <p:spPr bwMode="auto">
            <a:xfrm>
              <a:off x="4827" y="2541"/>
              <a:ext cx="341" cy="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50" dirty="0" err="1">
                  <a:solidFill>
                    <a:srgbClr val="EB7500"/>
                  </a:solidFill>
                  <a:latin typeface="+mj-lt"/>
                </a:rPr>
                <a:t>MemtoReg</a:t>
              </a:r>
              <a:endParaRPr lang="en-US" sz="1050" dirty="0">
                <a:solidFill>
                  <a:srgbClr val="EB7500"/>
                </a:solidFill>
                <a:latin typeface="+mj-lt"/>
              </a:endParaRPr>
            </a:p>
          </p:txBody>
        </p:sp>
      </p:grpSp>
      <p:sp>
        <p:nvSpPr>
          <p:cNvPr id="54276" name="Rectangle 266"/>
          <p:cNvSpPr>
            <a:spLocks noChangeArrowheads="1"/>
          </p:cNvSpPr>
          <p:nvPr/>
        </p:nvSpPr>
        <p:spPr bwMode="auto">
          <a:xfrm>
            <a:off x="1882151" y="2763377"/>
            <a:ext cx="297517" cy="369332"/>
          </a:xfrm>
          <a:prstGeom prst="rect">
            <a:avLst/>
          </a:prstGeom>
          <a:solidFill>
            <a:schemeClr val="bg1">
              <a:alpha val="85000"/>
            </a:schemeClr>
          </a:solidFill>
          <a:ln w="12700">
            <a:noFill/>
            <a:miter lim="800000"/>
            <a:headEnd type="none" w="sm" len="sm"/>
            <a:tailEnd type="none" w="lg" len="med"/>
          </a:ln>
        </p:spPr>
        <p:txBody>
          <a:bodyPr wrap="none" lIns="45720" tIns="45720" rIns="45720" bIns="4572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  <a:latin typeface="+mj-lt"/>
              </a:rPr>
              <a:t>or</a:t>
            </a:r>
            <a:endParaRPr lang="en-US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54296" name="Rectangle 287"/>
          <p:cNvSpPr>
            <a:spLocks noChangeArrowheads="1"/>
          </p:cNvSpPr>
          <p:nvPr/>
        </p:nvSpPr>
        <p:spPr bwMode="auto">
          <a:xfrm>
            <a:off x="1889760" y="1668585"/>
            <a:ext cx="326371" cy="369332"/>
          </a:xfrm>
          <a:prstGeom prst="rect">
            <a:avLst/>
          </a:prstGeom>
          <a:solidFill>
            <a:schemeClr val="bg1">
              <a:alpha val="85000"/>
            </a:schemeClr>
          </a:solidFill>
          <a:ln w="12700">
            <a:noFill/>
            <a:miter lim="800000"/>
            <a:headEnd type="none" w="sm" len="sm"/>
            <a:tailEnd type="none" w="lg" len="med"/>
          </a:ln>
        </p:spPr>
        <p:txBody>
          <a:bodyPr wrap="none" lIns="45720" tIns="45720" rIns="45720" bIns="4572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  <a:latin typeface="+mj-lt"/>
              </a:rPr>
              <a:t>16</a:t>
            </a:r>
            <a:endParaRPr lang="en-US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198" name="Rectangle 3"/>
          <p:cNvSpPr>
            <a:spLocks noChangeArrowheads="1"/>
          </p:cNvSpPr>
          <p:nvPr/>
        </p:nvSpPr>
        <p:spPr bwMode="auto">
          <a:xfrm>
            <a:off x="152400" y="5118100"/>
            <a:ext cx="2613631" cy="116339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med" len="lg"/>
          </a:ln>
        </p:spPr>
        <p:txBody>
          <a:bodyPr wrap="square" lIns="0" tIns="0" rIns="0" bIns="0">
            <a:spAutoFit/>
          </a:bodyPr>
          <a:lstStyle/>
          <a:p>
            <a:pPr>
              <a:spcBef>
                <a:spcPct val="10000"/>
              </a:spcBef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0 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lw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R10,9(R1)</a:t>
            </a:r>
          </a:p>
          <a:p>
            <a:pPr>
              <a:spcBef>
                <a:spcPct val="10000"/>
              </a:spcBef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4  sub R11,R2,R3</a:t>
            </a:r>
          </a:p>
          <a:p>
            <a:pPr>
              <a:spcBef>
                <a:spcPct val="10000"/>
              </a:spcBef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8  and R12,R4,R5</a:t>
            </a:r>
            <a:b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12  or  R13,R6,R7</a:t>
            </a:r>
          </a:p>
        </p:txBody>
      </p:sp>
      <p:sp>
        <p:nvSpPr>
          <p:cNvPr id="199" name="Rectangle 287"/>
          <p:cNvSpPr>
            <a:spLocks noChangeArrowheads="1"/>
          </p:cNvSpPr>
          <p:nvPr/>
        </p:nvSpPr>
        <p:spPr bwMode="auto">
          <a:xfrm>
            <a:off x="158725" y="4490437"/>
            <a:ext cx="345607" cy="369332"/>
          </a:xfrm>
          <a:prstGeom prst="rect">
            <a:avLst/>
          </a:prstGeom>
          <a:solidFill>
            <a:schemeClr val="bg1">
              <a:alpha val="85000"/>
            </a:schemeClr>
          </a:solidFill>
          <a:ln w="12700">
            <a:noFill/>
            <a:miter lim="800000"/>
            <a:headEnd type="none" w="sm" len="sm"/>
            <a:tailEnd type="none" w="lg" len="med"/>
          </a:ln>
        </p:spPr>
        <p:txBody>
          <a:bodyPr wrap="none" lIns="45720" tIns="45720" rIns="45720" bIns="4572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  <a:latin typeface="+mj-lt"/>
              </a:rPr>
              <a:t>PC</a:t>
            </a:r>
            <a:endParaRPr lang="en-US" dirty="0">
              <a:solidFill>
                <a:srgbClr val="FF0000"/>
              </a:solidFill>
              <a:latin typeface="+mj-lt"/>
            </a:endParaRPr>
          </a:p>
        </p:txBody>
      </p:sp>
      <p:cxnSp>
        <p:nvCxnSpPr>
          <p:cNvPr id="200" name="Straight Arrow Connector 6"/>
          <p:cNvCxnSpPr>
            <a:stCxn id="199" idx="2"/>
          </p:cNvCxnSpPr>
          <p:nvPr/>
        </p:nvCxnSpPr>
        <p:spPr bwMode="auto">
          <a:xfrm>
            <a:off x="331529" y="4859769"/>
            <a:ext cx="5497" cy="228600"/>
          </a:xfrm>
          <a:prstGeom prst="straightConnector1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arrow"/>
          </a:ln>
          <a:effectLst/>
        </p:spPr>
      </p:cxnSp>
      <p:sp>
        <p:nvSpPr>
          <p:cNvPr id="201" name="Rectangle 287"/>
          <p:cNvSpPr>
            <a:spLocks noChangeArrowheads="1"/>
          </p:cNvSpPr>
          <p:nvPr/>
        </p:nvSpPr>
        <p:spPr bwMode="auto">
          <a:xfrm>
            <a:off x="274320" y="2499360"/>
            <a:ext cx="326371" cy="369332"/>
          </a:xfrm>
          <a:prstGeom prst="rect">
            <a:avLst/>
          </a:prstGeom>
          <a:solidFill>
            <a:schemeClr val="bg1">
              <a:alpha val="85000"/>
            </a:schemeClr>
          </a:solidFill>
          <a:ln w="12700">
            <a:noFill/>
            <a:miter lim="800000"/>
            <a:headEnd type="none" w="sm" len="sm"/>
            <a:tailEnd type="none" w="lg" len="med"/>
          </a:ln>
        </p:spPr>
        <p:txBody>
          <a:bodyPr wrap="none" lIns="45720" tIns="45720" rIns="45720" bIns="4572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  <a:latin typeface="+mj-lt"/>
              </a:rPr>
              <a:t>12</a:t>
            </a:r>
          </a:p>
        </p:txBody>
      </p:sp>
      <p:sp>
        <p:nvSpPr>
          <p:cNvPr id="178" name="Rectangle 287"/>
          <p:cNvSpPr>
            <a:spLocks noChangeArrowheads="1"/>
          </p:cNvSpPr>
          <p:nvPr/>
        </p:nvSpPr>
        <p:spPr bwMode="auto">
          <a:xfrm>
            <a:off x="3810000" y="1642348"/>
            <a:ext cx="326371" cy="369332"/>
          </a:xfrm>
          <a:prstGeom prst="rect">
            <a:avLst/>
          </a:prstGeom>
          <a:solidFill>
            <a:schemeClr val="bg1">
              <a:alpha val="85000"/>
            </a:schemeClr>
          </a:solidFill>
          <a:ln w="12700">
            <a:noFill/>
            <a:miter lim="800000"/>
            <a:headEnd type="none" w="sm" len="sm"/>
            <a:tailEnd type="none" w="lg" len="med"/>
          </a:ln>
        </p:spPr>
        <p:txBody>
          <a:bodyPr wrap="none" lIns="45720" tIns="45720" rIns="45720" bIns="4572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  <a:latin typeface="+mj-lt"/>
              </a:rPr>
              <a:t>12</a:t>
            </a:r>
            <a:endParaRPr lang="en-US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179" name="Rectangle 287"/>
          <p:cNvSpPr>
            <a:spLocks noChangeArrowheads="1"/>
          </p:cNvSpPr>
          <p:nvPr/>
        </p:nvSpPr>
        <p:spPr bwMode="auto">
          <a:xfrm>
            <a:off x="3733800" y="4431268"/>
            <a:ext cx="451406" cy="369332"/>
          </a:xfrm>
          <a:prstGeom prst="rect">
            <a:avLst/>
          </a:prstGeom>
          <a:solidFill>
            <a:schemeClr val="bg1">
              <a:alpha val="85000"/>
            </a:schemeClr>
          </a:solidFill>
          <a:ln w="12700">
            <a:noFill/>
            <a:miter lim="800000"/>
            <a:headEnd type="none" w="sm" len="sm"/>
            <a:tailEnd type="none" w="lg" len="med"/>
          </a:ln>
        </p:spPr>
        <p:txBody>
          <a:bodyPr wrap="none" lIns="45720" tIns="45720" rIns="45720" bIns="4572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  <a:latin typeface="+mj-lt"/>
              </a:rPr>
              <a:t>R12</a:t>
            </a:r>
            <a:endParaRPr lang="en-US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353" name="Rectangle 287"/>
          <p:cNvSpPr>
            <a:spLocks noChangeArrowheads="1"/>
          </p:cNvSpPr>
          <p:nvPr/>
        </p:nvSpPr>
        <p:spPr bwMode="auto">
          <a:xfrm>
            <a:off x="3762072" y="2514600"/>
            <a:ext cx="475451" cy="369332"/>
          </a:xfrm>
          <a:prstGeom prst="rect">
            <a:avLst/>
          </a:prstGeom>
          <a:solidFill>
            <a:schemeClr val="bg1">
              <a:alpha val="85000"/>
            </a:schemeClr>
          </a:solidFill>
          <a:ln w="12700">
            <a:noFill/>
            <a:miter lim="800000"/>
            <a:headEnd type="none" w="sm" len="sm"/>
            <a:tailEnd type="none" w="lg" len="med"/>
          </a:ln>
        </p:spPr>
        <p:txBody>
          <a:bodyPr wrap="none" lIns="45720" tIns="45720" rIns="45720" bIns="4572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  <a:latin typeface="+mj-lt"/>
              </a:rPr>
              <a:t>[R4]</a:t>
            </a:r>
            <a:endParaRPr lang="en-US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182" name="Rectangle 287"/>
          <p:cNvSpPr>
            <a:spLocks noChangeArrowheads="1"/>
          </p:cNvSpPr>
          <p:nvPr/>
        </p:nvSpPr>
        <p:spPr bwMode="auto">
          <a:xfrm>
            <a:off x="5562600" y="2881141"/>
            <a:ext cx="929100" cy="369332"/>
          </a:xfrm>
          <a:prstGeom prst="rect">
            <a:avLst/>
          </a:prstGeom>
          <a:solidFill>
            <a:schemeClr val="bg1">
              <a:alpha val="85000"/>
            </a:schemeClr>
          </a:solidFill>
          <a:ln w="12700">
            <a:noFill/>
            <a:miter lim="800000"/>
            <a:headEnd type="none" w="sm" len="sm"/>
            <a:tailEnd type="none" w="lg" len="med"/>
          </a:ln>
        </p:spPr>
        <p:txBody>
          <a:bodyPr wrap="none" lIns="45720" tIns="45720" rIns="45720" bIns="4572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  <a:latin typeface="+mj-lt"/>
              </a:rPr>
              <a:t>[R3]-[R2]</a:t>
            </a:r>
            <a:endParaRPr lang="en-US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183" name="Rectangle 287"/>
          <p:cNvSpPr>
            <a:spLocks noChangeArrowheads="1"/>
          </p:cNvSpPr>
          <p:nvPr/>
        </p:nvSpPr>
        <p:spPr bwMode="auto">
          <a:xfrm>
            <a:off x="5770984" y="4230916"/>
            <a:ext cx="451406" cy="369332"/>
          </a:xfrm>
          <a:prstGeom prst="rect">
            <a:avLst/>
          </a:prstGeom>
          <a:solidFill>
            <a:schemeClr val="bg1">
              <a:alpha val="85000"/>
            </a:schemeClr>
          </a:solidFill>
          <a:ln w="12700">
            <a:noFill/>
            <a:miter lim="800000"/>
            <a:headEnd type="none" w="sm" len="sm"/>
            <a:tailEnd type="none" w="lg" len="med"/>
          </a:ln>
        </p:spPr>
        <p:txBody>
          <a:bodyPr wrap="none" lIns="45720" tIns="45720" rIns="45720" bIns="4572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  <a:latin typeface="+mj-lt"/>
              </a:rPr>
              <a:t>R11</a:t>
            </a:r>
            <a:endParaRPr lang="en-US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184" name="Rectangle 287"/>
          <p:cNvSpPr>
            <a:spLocks noChangeArrowheads="1"/>
          </p:cNvSpPr>
          <p:nvPr/>
        </p:nvSpPr>
        <p:spPr bwMode="auto">
          <a:xfrm>
            <a:off x="3747002" y="2820960"/>
            <a:ext cx="475451" cy="369332"/>
          </a:xfrm>
          <a:prstGeom prst="rect">
            <a:avLst/>
          </a:prstGeom>
          <a:solidFill>
            <a:schemeClr val="bg1">
              <a:alpha val="85000"/>
            </a:schemeClr>
          </a:solidFill>
          <a:ln w="12700">
            <a:noFill/>
            <a:miter lim="800000"/>
            <a:headEnd type="none" w="sm" len="sm"/>
            <a:tailEnd type="none" w="lg" len="med"/>
          </a:ln>
        </p:spPr>
        <p:txBody>
          <a:bodyPr wrap="none" lIns="45720" tIns="45720" rIns="45720" bIns="4572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  <a:latin typeface="+mj-lt"/>
              </a:rPr>
              <a:t>[R5]</a:t>
            </a:r>
            <a:endParaRPr lang="en-US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185" name="Rectangle 287"/>
          <p:cNvSpPr>
            <a:spLocks noChangeArrowheads="1"/>
          </p:cNvSpPr>
          <p:nvPr/>
        </p:nvSpPr>
        <p:spPr bwMode="auto">
          <a:xfrm>
            <a:off x="7704477" y="2911622"/>
            <a:ext cx="1345881" cy="369332"/>
          </a:xfrm>
          <a:prstGeom prst="rect">
            <a:avLst/>
          </a:prstGeom>
          <a:solidFill>
            <a:schemeClr val="bg1">
              <a:alpha val="85000"/>
            </a:schemeClr>
          </a:solidFill>
          <a:ln w="12700">
            <a:noFill/>
            <a:miter lim="800000"/>
            <a:headEnd type="none" w="sm" len="sm"/>
            <a:tailEnd type="none" w="lg" len="med"/>
          </a:ln>
        </p:spPr>
        <p:txBody>
          <a:bodyPr wrap="none" lIns="45720" tIns="45720" rIns="45720" bIns="45720">
            <a:spAutoFit/>
          </a:bodyPr>
          <a:lstStyle/>
          <a:p>
            <a:r>
              <a:rPr lang="en-US" dirty="0" err="1" smtClean="0">
                <a:solidFill>
                  <a:srgbClr val="FF0000"/>
                </a:solidFill>
                <a:latin typeface="+mj-lt"/>
              </a:rPr>
              <a:t>Mem</a:t>
            </a:r>
            <a:r>
              <a:rPr lang="en-US" dirty="0" smtClean="0">
                <a:solidFill>
                  <a:srgbClr val="FF0000"/>
                </a:solidFill>
                <a:latin typeface="+mj-lt"/>
              </a:rPr>
              <a:t>([R1]+9)</a:t>
            </a:r>
            <a:endParaRPr lang="en-US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186" name="Rectangle 287"/>
          <p:cNvSpPr>
            <a:spLocks noChangeArrowheads="1"/>
          </p:cNvSpPr>
          <p:nvPr/>
        </p:nvSpPr>
        <p:spPr bwMode="auto">
          <a:xfrm>
            <a:off x="7822634" y="4246156"/>
            <a:ext cx="451406" cy="369332"/>
          </a:xfrm>
          <a:prstGeom prst="rect">
            <a:avLst/>
          </a:prstGeom>
          <a:solidFill>
            <a:schemeClr val="bg1">
              <a:alpha val="85000"/>
            </a:schemeClr>
          </a:solidFill>
          <a:ln w="12700">
            <a:noFill/>
            <a:miter lim="800000"/>
            <a:headEnd type="none" w="sm" len="sm"/>
            <a:tailEnd type="none" w="lg" len="med"/>
          </a:ln>
        </p:spPr>
        <p:txBody>
          <a:bodyPr wrap="none" lIns="45720" tIns="45720" rIns="45720" bIns="4572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  <a:latin typeface="+mj-lt"/>
              </a:rPr>
              <a:t>R10</a:t>
            </a:r>
            <a:endParaRPr lang="en-US" dirty="0">
              <a:solidFill>
                <a:srgbClr val="FF000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09245783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  <p:extLst mod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2844800"/>
            <a:ext cx="8229600" cy="8890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4000" dirty="0" smtClean="0"/>
              <a:t>Pipeline hazards:</a:t>
            </a:r>
            <a:br>
              <a:rPr lang="en-US" sz="4000" dirty="0" smtClean="0"/>
            </a:br>
            <a:r>
              <a:rPr lang="en-US" sz="4000" dirty="0" smtClean="0"/>
              <a:t>Data Hazard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74578232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  <p:extLst mod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207963" y="312738"/>
            <a:ext cx="1989137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+mj-lt"/>
            </a:endParaRPr>
          </a:p>
        </p:txBody>
      </p:sp>
      <p:sp>
        <p:nvSpPr>
          <p:cNvPr id="4" name="AutoShape 3"/>
          <p:cNvSpPr>
            <a:spLocks noChangeArrowheads="1"/>
          </p:cNvSpPr>
          <p:nvPr/>
        </p:nvSpPr>
        <p:spPr bwMode="auto">
          <a:xfrm>
            <a:off x="211138" y="990600"/>
            <a:ext cx="7739062" cy="762000"/>
          </a:xfrm>
          <a:prstGeom prst="roundRect">
            <a:avLst>
              <a:gd name="adj" fmla="val 12486"/>
            </a:avLst>
          </a:prstGeom>
          <a:noFill/>
          <a:ln w="9525">
            <a:noFill/>
            <a:round/>
            <a:headEnd/>
            <a:tailEnd/>
          </a:ln>
        </p:spPr>
        <p:txBody>
          <a:bodyPr lIns="90488" tIns="44450" rIns="90488" bIns="44450"/>
          <a:lstStyle/>
          <a:p>
            <a:pPr marL="342900" indent="-342900">
              <a:spcBef>
                <a:spcPct val="20000"/>
              </a:spcBef>
              <a:buClr>
                <a:srgbClr val="0000FF"/>
              </a:buClr>
              <a:buSzPct val="80000"/>
              <a:buFont typeface="Arial" pitchFamily="34" charset="0"/>
              <a:buChar char="•"/>
            </a:pPr>
            <a:endParaRPr lang="en-US" sz="2000" dirty="0">
              <a:latin typeface="+mj-lt"/>
            </a:endParaRPr>
          </a:p>
        </p:txBody>
      </p:sp>
      <p:sp>
        <p:nvSpPr>
          <p:cNvPr id="9" name="Rectangle 8"/>
          <p:cNvSpPr>
            <a:spLocks noGrp="1" noChangeArrowheads="1"/>
          </p:cNvSpPr>
          <p:nvPr>
            <p:ph type="title"/>
          </p:nvPr>
        </p:nvSpPr>
        <p:spPr>
          <a:xfrm>
            <a:off x="869950" y="76200"/>
            <a:ext cx="7391400" cy="836613"/>
          </a:xfrm>
        </p:spPr>
        <p:txBody>
          <a:bodyPr/>
          <a:lstStyle/>
          <a:p>
            <a:r>
              <a:rPr lang="en-US" sz="3200" dirty="0" smtClean="0">
                <a:solidFill>
                  <a:srgbClr val="0070C0"/>
                </a:solidFill>
              </a:rPr>
              <a:t>Data Hazard</a:t>
            </a:r>
            <a:endParaRPr lang="en-US" sz="3200" dirty="0">
              <a:solidFill>
                <a:srgbClr val="0070C0"/>
              </a:solidFill>
            </a:endParaRPr>
          </a:p>
        </p:txBody>
      </p:sp>
      <p:sp>
        <p:nvSpPr>
          <p:cNvPr id="584" name="Прямоугольник 583"/>
          <p:cNvSpPr/>
          <p:nvPr/>
        </p:nvSpPr>
        <p:spPr>
          <a:xfrm>
            <a:off x="211138" y="762000"/>
            <a:ext cx="8551862" cy="12618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2400" dirty="0">
                <a:latin typeface="+mj-lt"/>
              </a:rPr>
              <a:t>Problem with starting next instruction before </a:t>
            </a:r>
            <a:r>
              <a:rPr lang="en-US" sz="2400" dirty="0" smtClean="0">
                <a:latin typeface="+mj-lt"/>
              </a:rPr>
              <a:t>the previous ones are finished</a:t>
            </a:r>
          </a:p>
          <a:p>
            <a:endParaRPr lang="en-US" sz="600" dirty="0" smtClean="0">
              <a:latin typeface="+mj-lt"/>
            </a:endParaRPr>
          </a:p>
          <a:p>
            <a:pPr marL="742950" lvl="1" indent="-285750">
              <a:buFont typeface="Arial" pitchFamily="34" charset="0"/>
              <a:buChar char="•"/>
            </a:pPr>
            <a:r>
              <a:rPr lang="en-US" sz="2200" dirty="0" smtClean="0">
                <a:latin typeface="+mj-lt"/>
              </a:rPr>
              <a:t>Dependencies </a:t>
            </a:r>
            <a:r>
              <a:rPr lang="en-US" sz="2200" dirty="0">
                <a:latin typeface="+mj-lt"/>
              </a:rPr>
              <a:t>that “go backward in time” are data hazards</a:t>
            </a:r>
          </a:p>
        </p:txBody>
      </p:sp>
      <p:grpSp>
        <p:nvGrpSpPr>
          <p:cNvPr id="852" name="Группа 851"/>
          <p:cNvGrpSpPr/>
          <p:nvPr/>
        </p:nvGrpSpPr>
        <p:grpSpPr>
          <a:xfrm>
            <a:off x="623523" y="2347225"/>
            <a:ext cx="7885030" cy="3851605"/>
            <a:chOff x="623523" y="2347225"/>
            <a:chExt cx="7885030" cy="3851605"/>
          </a:xfrm>
        </p:grpSpPr>
        <p:grpSp>
          <p:nvGrpSpPr>
            <p:cNvPr id="849" name="Группа 848"/>
            <p:cNvGrpSpPr/>
            <p:nvPr/>
          </p:nvGrpSpPr>
          <p:grpSpPr>
            <a:xfrm>
              <a:off x="623523" y="2547598"/>
              <a:ext cx="3109787" cy="3648692"/>
              <a:chOff x="623523" y="2547598"/>
              <a:chExt cx="3109787" cy="3648692"/>
            </a:xfrm>
          </p:grpSpPr>
          <p:sp>
            <p:nvSpPr>
              <p:cNvPr id="7" name="Rectangle 6"/>
              <p:cNvSpPr>
                <a:spLocks noChangeArrowheads="1"/>
              </p:cNvSpPr>
              <p:nvPr/>
            </p:nvSpPr>
            <p:spPr bwMode="auto">
              <a:xfrm>
                <a:off x="1562305" y="2976173"/>
                <a:ext cx="65" cy="18466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 sz="1200" b="1">
                  <a:latin typeface="+mj-lt"/>
                </a:endParaRPr>
              </a:p>
            </p:txBody>
          </p:sp>
          <p:sp>
            <p:nvSpPr>
              <p:cNvPr id="233" name="Rectangle 233"/>
              <p:cNvSpPr>
                <a:spLocks noChangeArrowheads="1"/>
              </p:cNvSpPr>
              <p:nvPr/>
            </p:nvSpPr>
            <p:spPr bwMode="auto">
              <a:xfrm>
                <a:off x="1180416" y="3349088"/>
                <a:ext cx="2552894" cy="2847202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med" len="lg"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10000"/>
                  </a:spcBef>
                </a:pPr>
                <a:r>
                  <a:rPr lang="en-US" sz="19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sub </a:t>
                </a:r>
                <a:r>
                  <a:rPr lang="en-US" sz="1900" dirty="0">
                    <a:solidFill>
                      <a:srgbClr val="FF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R2</a:t>
                </a:r>
                <a:r>
                  <a:rPr lang="en-US" sz="19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, R1, R3</a:t>
                </a:r>
                <a:br>
                  <a:rPr lang="en-US" sz="19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</a:br>
                <a:endParaRPr lang="en-US" sz="19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>
                  <a:spcBef>
                    <a:spcPct val="10000"/>
                  </a:spcBef>
                </a:pPr>
                <a:r>
                  <a:rPr lang="en-US" sz="19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and R12,</a:t>
                </a:r>
                <a:r>
                  <a:rPr lang="en-US" sz="1900" dirty="0">
                    <a:solidFill>
                      <a:srgbClr val="FF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R2</a:t>
                </a:r>
                <a:r>
                  <a:rPr lang="en-US" sz="19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, R5</a:t>
                </a:r>
                <a:br>
                  <a:rPr lang="en-US" sz="19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</a:br>
                <a:endParaRPr lang="en-US" sz="19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>
                  <a:spcBef>
                    <a:spcPct val="10000"/>
                  </a:spcBef>
                </a:pPr>
                <a:r>
                  <a:rPr lang="en-US" sz="19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or  R13,R6, </a:t>
                </a:r>
                <a:r>
                  <a:rPr lang="en-US" sz="1900" dirty="0">
                    <a:solidFill>
                      <a:srgbClr val="FF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R2</a:t>
                </a:r>
                <a:r>
                  <a:rPr lang="en-US" sz="19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/>
                </a:r>
                <a:br>
                  <a:rPr lang="en-US" sz="19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</a:br>
                <a:endParaRPr lang="en-US" sz="19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>
                  <a:spcBef>
                    <a:spcPct val="10000"/>
                  </a:spcBef>
                </a:pPr>
                <a:r>
                  <a:rPr lang="en-US" sz="19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add R14,</a:t>
                </a:r>
                <a:r>
                  <a:rPr lang="en-US" sz="1900" dirty="0">
                    <a:solidFill>
                      <a:srgbClr val="FF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R2</a:t>
                </a:r>
                <a:r>
                  <a:rPr lang="en-US" sz="19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, </a:t>
                </a:r>
                <a:r>
                  <a:rPr lang="en-US" sz="1900" dirty="0">
                    <a:solidFill>
                      <a:srgbClr val="FF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R2</a:t>
                </a:r>
                <a:r>
                  <a:rPr lang="en-US" sz="19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/>
                </a:r>
                <a:br>
                  <a:rPr lang="en-US" sz="19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</a:br>
                <a:endParaRPr lang="en-US" sz="19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>
                  <a:spcBef>
                    <a:spcPct val="10000"/>
                  </a:spcBef>
                </a:pPr>
                <a:r>
                  <a:rPr lang="en-US" sz="19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sw</a:t>
                </a:r>
                <a:r>
                  <a:rPr lang="en-US" sz="19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 R15,100(</a:t>
                </a:r>
                <a:r>
                  <a:rPr lang="en-US" sz="1900" dirty="0">
                    <a:solidFill>
                      <a:srgbClr val="FF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R2</a:t>
                </a:r>
                <a:r>
                  <a:rPr lang="en-US" sz="19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)</a:t>
                </a:r>
              </a:p>
            </p:txBody>
          </p:sp>
          <p:grpSp>
            <p:nvGrpSpPr>
              <p:cNvPr id="234" name="Group 234"/>
              <p:cNvGrpSpPr>
                <a:grpSpLocks/>
              </p:cNvGrpSpPr>
              <p:nvPr/>
            </p:nvGrpSpPr>
            <p:grpSpPr bwMode="auto">
              <a:xfrm>
                <a:off x="623523" y="2547598"/>
                <a:ext cx="909383" cy="3564034"/>
                <a:chOff x="672" y="1680"/>
                <a:chExt cx="531" cy="1921"/>
              </a:xfrm>
            </p:grpSpPr>
            <p:sp>
              <p:nvSpPr>
                <p:cNvPr id="235" name="Line 235"/>
                <p:cNvSpPr>
                  <a:spLocks noChangeShapeType="1"/>
                </p:cNvSpPr>
                <p:nvPr/>
              </p:nvSpPr>
              <p:spPr bwMode="auto">
                <a:xfrm>
                  <a:off x="908" y="2140"/>
                  <a:ext cx="2" cy="1418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>
                    <a:latin typeface="+mj-lt"/>
                  </a:endParaRPr>
                </a:p>
              </p:txBody>
            </p:sp>
            <p:sp>
              <p:nvSpPr>
                <p:cNvPr id="236" name="Freeform 236"/>
                <p:cNvSpPr>
                  <a:spLocks/>
                </p:cNvSpPr>
                <p:nvPr/>
              </p:nvSpPr>
              <p:spPr bwMode="auto">
                <a:xfrm>
                  <a:off x="897" y="3551"/>
                  <a:ext cx="50" cy="50"/>
                </a:xfrm>
                <a:custGeom>
                  <a:avLst/>
                  <a:gdLst>
                    <a:gd name="T0" fmla="*/ 50 w 24"/>
                    <a:gd name="T1" fmla="*/ 0 h 25"/>
                    <a:gd name="T2" fmla="*/ 0 w 24"/>
                    <a:gd name="T3" fmla="*/ 4 h 25"/>
                    <a:gd name="T4" fmla="*/ 27 w 24"/>
                    <a:gd name="T5" fmla="*/ 50 h 25"/>
                    <a:gd name="T6" fmla="*/ 50 w 24"/>
                    <a:gd name="T7" fmla="*/ 4 h 25"/>
                    <a:gd name="T8" fmla="*/ 50 w 24"/>
                    <a:gd name="T9" fmla="*/ 4 h 25"/>
                    <a:gd name="T10" fmla="*/ 50 w 24"/>
                    <a:gd name="T11" fmla="*/ 0 h 25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4"/>
                    <a:gd name="T19" fmla="*/ 0 h 25"/>
                    <a:gd name="T20" fmla="*/ 24 w 24"/>
                    <a:gd name="T21" fmla="*/ 25 h 25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4" h="25">
                      <a:moveTo>
                        <a:pt x="24" y="0"/>
                      </a:moveTo>
                      <a:lnTo>
                        <a:pt x="0" y="2"/>
                      </a:lnTo>
                      <a:lnTo>
                        <a:pt x="13" y="25"/>
                      </a:lnTo>
                      <a:lnTo>
                        <a:pt x="24" y="2"/>
                      </a:lnTo>
                      <a:lnTo>
                        <a:pt x="24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>
                    <a:latin typeface="+mj-lt"/>
                  </a:endParaRPr>
                </a:p>
              </p:txBody>
            </p:sp>
            <p:sp>
              <p:nvSpPr>
                <p:cNvPr id="237" name="Rectangle 237"/>
                <p:cNvSpPr>
                  <a:spLocks noChangeArrowheads="1"/>
                </p:cNvSpPr>
                <p:nvPr/>
              </p:nvSpPr>
              <p:spPr bwMode="auto">
                <a:xfrm>
                  <a:off x="672" y="1680"/>
                  <a:ext cx="531" cy="398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med" len="lg"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1400" b="1" dirty="0">
                      <a:latin typeface="+mj-lt"/>
                    </a:rPr>
                    <a:t>Program</a:t>
                  </a:r>
                </a:p>
                <a:p>
                  <a:r>
                    <a:rPr lang="en-US" sz="1400" b="1" dirty="0">
                      <a:latin typeface="+mj-lt"/>
                    </a:rPr>
                    <a:t>execution</a:t>
                  </a:r>
                </a:p>
                <a:p>
                  <a:r>
                    <a:rPr lang="en-US" sz="1400" b="1" dirty="0">
                      <a:latin typeface="+mj-lt"/>
                    </a:rPr>
                    <a:t>order</a:t>
                  </a:r>
                </a:p>
              </p:txBody>
            </p:sp>
          </p:grpSp>
        </p:grpSp>
        <p:grpSp>
          <p:nvGrpSpPr>
            <p:cNvPr id="848" name="Группа 847"/>
            <p:cNvGrpSpPr/>
            <p:nvPr/>
          </p:nvGrpSpPr>
          <p:grpSpPr>
            <a:xfrm>
              <a:off x="1725572" y="2347225"/>
              <a:ext cx="6754725" cy="676321"/>
              <a:chOff x="1725572" y="2347225"/>
              <a:chExt cx="6754725" cy="676321"/>
            </a:xfrm>
          </p:grpSpPr>
          <p:sp>
            <p:nvSpPr>
              <p:cNvPr id="5" name="Rectangle 4"/>
              <p:cNvSpPr>
                <a:spLocks noChangeArrowheads="1"/>
              </p:cNvSpPr>
              <p:nvPr/>
            </p:nvSpPr>
            <p:spPr bwMode="auto">
              <a:xfrm>
                <a:off x="1725572" y="2696022"/>
                <a:ext cx="65" cy="18466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 sz="1200" b="1">
                  <a:latin typeface="+mj-lt"/>
                </a:endParaRPr>
              </a:p>
            </p:txBody>
          </p:sp>
          <p:sp>
            <p:nvSpPr>
              <p:cNvPr id="6" name="Rectangle 5"/>
              <p:cNvSpPr>
                <a:spLocks noChangeArrowheads="1"/>
              </p:cNvSpPr>
              <p:nvPr/>
            </p:nvSpPr>
            <p:spPr bwMode="auto">
              <a:xfrm>
                <a:off x="1775664" y="2838880"/>
                <a:ext cx="65" cy="18466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 sz="1200" b="1">
                  <a:latin typeface="+mj-lt"/>
                </a:endParaRPr>
              </a:p>
            </p:txBody>
          </p:sp>
          <p:sp>
            <p:nvSpPr>
              <p:cNvPr id="8" name="Rectangle 7"/>
              <p:cNvSpPr>
                <a:spLocks noChangeArrowheads="1"/>
              </p:cNvSpPr>
              <p:nvPr/>
            </p:nvSpPr>
            <p:spPr bwMode="auto">
              <a:xfrm>
                <a:off x="2082752" y="2347225"/>
                <a:ext cx="65" cy="18466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 sz="1200" b="1">
                  <a:latin typeface="+mj-lt"/>
                </a:endParaRPr>
              </a:p>
            </p:txBody>
          </p:sp>
          <p:sp>
            <p:nvSpPr>
              <p:cNvPr id="241" name="Rectangle 241"/>
              <p:cNvSpPr>
                <a:spLocks noChangeArrowheads="1"/>
              </p:cNvSpPr>
              <p:nvPr/>
            </p:nvSpPr>
            <p:spPr bwMode="auto">
              <a:xfrm>
                <a:off x="3699028" y="2427006"/>
                <a:ext cx="32060" cy="1692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100" b="1">
                    <a:solidFill>
                      <a:srgbClr val="000000"/>
                    </a:solidFill>
                    <a:latin typeface="+mj-lt"/>
                  </a:rPr>
                  <a:t> </a:t>
                </a:r>
                <a:endParaRPr lang="en-US" sz="1100" b="1">
                  <a:latin typeface="+mj-lt"/>
                </a:endParaRPr>
              </a:p>
            </p:txBody>
          </p:sp>
          <p:sp>
            <p:nvSpPr>
              <p:cNvPr id="242" name="Rectangle 242"/>
              <p:cNvSpPr>
                <a:spLocks noChangeArrowheads="1"/>
              </p:cNvSpPr>
              <p:nvPr/>
            </p:nvSpPr>
            <p:spPr bwMode="auto">
              <a:xfrm>
                <a:off x="3728150" y="2427006"/>
                <a:ext cx="72136" cy="1692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100" b="1" dirty="0">
                    <a:solidFill>
                      <a:srgbClr val="000000"/>
                    </a:solidFill>
                    <a:latin typeface="+mj-lt"/>
                  </a:rPr>
                  <a:t>1</a:t>
                </a:r>
                <a:endParaRPr lang="en-US" sz="1100" b="1" dirty="0">
                  <a:latin typeface="+mj-lt"/>
                </a:endParaRPr>
              </a:p>
            </p:txBody>
          </p:sp>
          <p:sp>
            <p:nvSpPr>
              <p:cNvPr id="245" name="Rectangle 245"/>
              <p:cNvSpPr>
                <a:spLocks noChangeArrowheads="1"/>
              </p:cNvSpPr>
              <p:nvPr/>
            </p:nvSpPr>
            <p:spPr bwMode="auto">
              <a:xfrm>
                <a:off x="4283173" y="2427006"/>
                <a:ext cx="32060" cy="1692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100" b="1">
                    <a:solidFill>
                      <a:srgbClr val="000000"/>
                    </a:solidFill>
                    <a:latin typeface="+mj-lt"/>
                  </a:rPr>
                  <a:t> </a:t>
                </a:r>
                <a:endParaRPr lang="en-US" sz="1100" b="1">
                  <a:latin typeface="+mj-lt"/>
                </a:endParaRPr>
              </a:p>
            </p:txBody>
          </p:sp>
          <p:sp>
            <p:nvSpPr>
              <p:cNvPr id="246" name="Rectangle 246"/>
              <p:cNvSpPr>
                <a:spLocks noChangeArrowheads="1"/>
              </p:cNvSpPr>
              <p:nvPr/>
            </p:nvSpPr>
            <p:spPr bwMode="auto">
              <a:xfrm>
                <a:off x="4312294" y="2427006"/>
                <a:ext cx="72136" cy="1692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100" b="1">
                    <a:solidFill>
                      <a:srgbClr val="000000"/>
                    </a:solidFill>
                    <a:latin typeface="+mj-lt"/>
                  </a:rPr>
                  <a:t>2</a:t>
                </a:r>
                <a:endParaRPr lang="en-US" sz="1100" b="1">
                  <a:latin typeface="+mj-lt"/>
                </a:endParaRPr>
              </a:p>
            </p:txBody>
          </p:sp>
          <p:sp>
            <p:nvSpPr>
              <p:cNvPr id="249" name="Rectangle 249"/>
              <p:cNvSpPr>
                <a:spLocks noChangeArrowheads="1"/>
              </p:cNvSpPr>
              <p:nvPr/>
            </p:nvSpPr>
            <p:spPr bwMode="auto">
              <a:xfrm>
                <a:off x="4867318" y="2427006"/>
                <a:ext cx="32060" cy="1692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100" b="1">
                    <a:solidFill>
                      <a:srgbClr val="000000"/>
                    </a:solidFill>
                    <a:latin typeface="+mj-lt"/>
                  </a:rPr>
                  <a:t> </a:t>
                </a:r>
                <a:endParaRPr lang="en-US" sz="1100" b="1">
                  <a:latin typeface="+mj-lt"/>
                </a:endParaRPr>
              </a:p>
            </p:txBody>
          </p:sp>
          <p:sp>
            <p:nvSpPr>
              <p:cNvPr id="250" name="Rectangle 250"/>
              <p:cNvSpPr>
                <a:spLocks noChangeArrowheads="1"/>
              </p:cNvSpPr>
              <p:nvPr/>
            </p:nvSpPr>
            <p:spPr bwMode="auto">
              <a:xfrm>
                <a:off x="4896440" y="2427006"/>
                <a:ext cx="72136" cy="1692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100" b="1" dirty="0">
                    <a:solidFill>
                      <a:srgbClr val="000000"/>
                    </a:solidFill>
                    <a:latin typeface="+mj-lt"/>
                  </a:rPr>
                  <a:t>3</a:t>
                </a:r>
                <a:endParaRPr lang="en-US" sz="1100" b="1" dirty="0">
                  <a:latin typeface="+mj-lt"/>
                </a:endParaRPr>
              </a:p>
            </p:txBody>
          </p:sp>
          <p:sp>
            <p:nvSpPr>
              <p:cNvPr id="253" name="Rectangle 253"/>
              <p:cNvSpPr>
                <a:spLocks noChangeArrowheads="1"/>
              </p:cNvSpPr>
              <p:nvPr/>
            </p:nvSpPr>
            <p:spPr bwMode="auto">
              <a:xfrm>
                <a:off x="5451463" y="2427006"/>
                <a:ext cx="32060" cy="1692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100" b="1">
                    <a:solidFill>
                      <a:srgbClr val="000000"/>
                    </a:solidFill>
                    <a:latin typeface="+mj-lt"/>
                  </a:rPr>
                  <a:t> </a:t>
                </a:r>
                <a:endParaRPr lang="en-US" sz="1100" b="1">
                  <a:latin typeface="+mj-lt"/>
                </a:endParaRPr>
              </a:p>
            </p:txBody>
          </p:sp>
          <p:sp>
            <p:nvSpPr>
              <p:cNvPr id="254" name="Rectangle 254"/>
              <p:cNvSpPr>
                <a:spLocks noChangeArrowheads="1"/>
              </p:cNvSpPr>
              <p:nvPr/>
            </p:nvSpPr>
            <p:spPr bwMode="auto">
              <a:xfrm>
                <a:off x="5485723" y="2427006"/>
                <a:ext cx="72136" cy="1692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100" b="1">
                    <a:solidFill>
                      <a:srgbClr val="000000"/>
                    </a:solidFill>
                    <a:latin typeface="+mj-lt"/>
                  </a:rPr>
                  <a:t>4</a:t>
                </a:r>
                <a:endParaRPr lang="en-US" sz="1100" b="1">
                  <a:latin typeface="+mj-lt"/>
                </a:endParaRPr>
              </a:p>
            </p:txBody>
          </p:sp>
          <p:sp>
            <p:nvSpPr>
              <p:cNvPr id="257" name="Rectangle 257"/>
              <p:cNvSpPr>
                <a:spLocks noChangeArrowheads="1"/>
              </p:cNvSpPr>
              <p:nvPr/>
            </p:nvSpPr>
            <p:spPr bwMode="auto">
              <a:xfrm>
                <a:off x="6035608" y="2427006"/>
                <a:ext cx="32060" cy="1692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100" b="1">
                    <a:solidFill>
                      <a:srgbClr val="000000"/>
                    </a:solidFill>
                    <a:latin typeface="+mj-lt"/>
                  </a:rPr>
                  <a:t> </a:t>
                </a:r>
                <a:endParaRPr lang="en-US" sz="1100" b="1">
                  <a:latin typeface="+mj-lt"/>
                </a:endParaRPr>
              </a:p>
            </p:txBody>
          </p:sp>
          <p:sp>
            <p:nvSpPr>
              <p:cNvPr id="258" name="Rectangle 258"/>
              <p:cNvSpPr>
                <a:spLocks noChangeArrowheads="1"/>
              </p:cNvSpPr>
              <p:nvPr/>
            </p:nvSpPr>
            <p:spPr bwMode="auto">
              <a:xfrm>
                <a:off x="6069868" y="2427006"/>
                <a:ext cx="72136" cy="1692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100" b="1" dirty="0">
                    <a:solidFill>
                      <a:srgbClr val="000000"/>
                    </a:solidFill>
                    <a:latin typeface="+mj-lt"/>
                  </a:rPr>
                  <a:t>5</a:t>
                </a:r>
                <a:endParaRPr lang="en-US" sz="1100" b="1" dirty="0">
                  <a:latin typeface="+mj-lt"/>
                </a:endParaRPr>
              </a:p>
            </p:txBody>
          </p:sp>
          <p:sp>
            <p:nvSpPr>
              <p:cNvPr id="261" name="Rectangle 261"/>
              <p:cNvSpPr>
                <a:spLocks noChangeArrowheads="1"/>
              </p:cNvSpPr>
              <p:nvPr/>
            </p:nvSpPr>
            <p:spPr bwMode="auto">
              <a:xfrm>
                <a:off x="6624892" y="2427006"/>
                <a:ext cx="32060" cy="1692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100" b="1">
                    <a:solidFill>
                      <a:srgbClr val="000000"/>
                    </a:solidFill>
                    <a:latin typeface="+mj-lt"/>
                  </a:rPr>
                  <a:t> </a:t>
                </a:r>
                <a:endParaRPr lang="en-US" sz="1100" b="1">
                  <a:latin typeface="+mj-lt"/>
                </a:endParaRPr>
              </a:p>
            </p:txBody>
          </p:sp>
          <p:sp>
            <p:nvSpPr>
              <p:cNvPr id="262" name="Rectangle 262"/>
              <p:cNvSpPr>
                <a:spLocks noChangeArrowheads="1"/>
              </p:cNvSpPr>
              <p:nvPr/>
            </p:nvSpPr>
            <p:spPr bwMode="auto">
              <a:xfrm>
                <a:off x="6654014" y="2427006"/>
                <a:ext cx="72136" cy="1692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100" b="1">
                    <a:solidFill>
                      <a:srgbClr val="000000"/>
                    </a:solidFill>
                    <a:latin typeface="+mj-lt"/>
                  </a:rPr>
                  <a:t>6</a:t>
                </a:r>
                <a:endParaRPr lang="en-US" sz="1100" b="1">
                  <a:latin typeface="+mj-lt"/>
                </a:endParaRPr>
              </a:p>
            </p:txBody>
          </p:sp>
          <p:sp>
            <p:nvSpPr>
              <p:cNvPr id="263" name="Rectangle 263"/>
              <p:cNvSpPr>
                <a:spLocks noChangeArrowheads="1"/>
              </p:cNvSpPr>
              <p:nvPr/>
            </p:nvSpPr>
            <p:spPr bwMode="auto">
              <a:xfrm>
                <a:off x="1925084" y="2376912"/>
                <a:ext cx="1379480" cy="21544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1" dirty="0">
                    <a:solidFill>
                      <a:srgbClr val="000000"/>
                    </a:solidFill>
                    <a:latin typeface="+mj-lt"/>
                  </a:rPr>
                  <a:t>Time (clock cycles)</a:t>
                </a:r>
                <a:endParaRPr lang="en-US" sz="2000" b="1" dirty="0">
                  <a:latin typeface="+mj-lt"/>
                </a:endParaRPr>
              </a:p>
            </p:txBody>
          </p:sp>
          <p:sp>
            <p:nvSpPr>
              <p:cNvPr id="268" name="Rectangle 268"/>
              <p:cNvSpPr>
                <a:spLocks noChangeArrowheads="1"/>
              </p:cNvSpPr>
              <p:nvPr/>
            </p:nvSpPr>
            <p:spPr bwMode="auto">
              <a:xfrm>
                <a:off x="7209037" y="2427006"/>
                <a:ext cx="32060" cy="1692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100" b="1">
                    <a:solidFill>
                      <a:srgbClr val="000000"/>
                    </a:solidFill>
                    <a:latin typeface="+mj-lt"/>
                  </a:rPr>
                  <a:t> </a:t>
                </a:r>
                <a:endParaRPr lang="en-US" sz="1100" b="1">
                  <a:latin typeface="+mj-lt"/>
                </a:endParaRPr>
              </a:p>
            </p:txBody>
          </p:sp>
          <p:sp>
            <p:nvSpPr>
              <p:cNvPr id="269" name="Rectangle 269"/>
              <p:cNvSpPr>
                <a:spLocks noChangeArrowheads="1"/>
              </p:cNvSpPr>
              <p:nvPr/>
            </p:nvSpPr>
            <p:spPr bwMode="auto">
              <a:xfrm>
                <a:off x="7238158" y="2427006"/>
                <a:ext cx="72136" cy="1692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100" b="1">
                    <a:solidFill>
                      <a:srgbClr val="000000"/>
                    </a:solidFill>
                    <a:latin typeface="+mj-lt"/>
                  </a:rPr>
                  <a:t>7</a:t>
                </a:r>
                <a:endParaRPr lang="en-US" sz="1100" b="1">
                  <a:latin typeface="+mj-lt"/>
                </a:endParaRPr>
              </a:p>
            </p:txBody>
          </p:sp>
          <p:sp>
            <p:nvSpPr>
              <p:cNvPr id="272" name="Rectangle 272"/>
              <p:cNvSpPr>
                <a:spLocks noChangeArrowheads="1"/>
              </p:cNvSpPr>
              <p:nvPr/>
            </p:nvSpPr>
            <p:spPr bwMode="auto">
              <a:xfrm>
                <a:off x="7793182" y="2427006"/>
                <a:ext cx="32060" cy="1692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100" b="1">
                    <a:solidFill>
                      <a:srgbClr val="000000"/>
                    </a:solidFill>
                    <a:latin typeface="+mj-lt"/>
                  </a:rPr>
                  <a:t> </a:t>
                </a:r>
                <a:endParaRPr lang="en-US" sz="1100" b="1">
                  <a:latin typeface="+mj-lt"/>
                </a:endParaRPr>
              </a:p>
            </p:txBody>
          </p:sp>
          <p:sp>
            <p:nvSpPr>
              <p:cNvPr id="273" name="Rectangle 273"/>
              <p:cNvSpPr>
                <a:spLocks noChangeArrowheads="1"/>
              </p:cNvSpPr>
              <p:nvPr/>
            </p:nvSpPr>
            <p:spPr bwMode="auto">
              <a:xfrm>
                <a:off x="7822303" y="2427006"/>
                <a:ext cx="72136" cy="1692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100" b="1">
                    <a:solidFill>
                      <a:srgbClr val="000000"/>
                    </a:solidFill>
                    <a:latin typeface="+mj-lt"/>
                  </a:rPr>
                  <a:t>8</a:t>
                </a:r>
                <a:endParaRPr lang="en-US" sz="1100" b="1">
                  <a:latin typeface="+mj-lt"/>
                </a:endParaRPr>
              </a:p>
            </p:txBody>
          </p:sp>
          <p:sp>
            <p:nvSpPr>
              <p:cNvPr id="276" name="Rectangle 276"/>
              <p:cNvSpPr>
                <a:spLocks noChangeArrowheads="1"/>
              </p:cNvSpPr>
              <p:nvPr/>
            </p:nvSpPr>
            <p:spPr bwMode="auto">
              <a:xfrm>
                <a:off x="8375614" y="2427006"/>
                <a:ext cx="32060" cy="1692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100" b="1">
                    <a:solidFill>
                      <a:srgbClr val="000000"/>
                    </a:solidFill>
                    <a:latin typeface="+mj-lt"/>
                  </a:rPr>
                  <a:t> </a:t>
                </a:r>
                <a:endParaRPr lang="en-US" sz="1100" b="1">
                  <a:latin typeface="+mj-lt"/>
                </a:endParaRPr>
              </a:p>
            </p:txBody>
          </p:sp>
          <p:sp>
            <p:nvSpPr>
              <p:cNvPr id="277" name="Rectangle 277"/>
              <p:cNvSpPr>
                <a:spLocks noChangeArrowheads="1"/>
              </p:cNvSpPr>
              <p:nvPr/>
            </p:nvSpPr>
            <p:spPr bwMode="auto">
              <a:xfrm>
                <a:off x="8408161" y="2427006"/>
                <a:ext cx="72136" cy="1692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100" b="1">
                    <a:solidFill>
                      <a:srgbClr val="000000"/>
                    </a:solidFill>
                    <a:latin typeface="+mj-lt"/>
                  </a:rPr>
                  <a:t>9</a:t>
                </a:r>
                <a:endParaRPr lang="en-US" sz="1100" b="1">
                  <a:latin typeface="+mj-lt"/>
                </a:endParaRPr>
              </a:p>
            </p:txBody>
          </p:sp>
          <p:sp>
            <p:nvSpPr>
              <p:cNvPr id="278" name="Rectangle 278"/>
              <p:cNvSpPr>
                <a:spLocks noChangeArrowheads="1"/>
              </p:cNvSpPr>
              <p:nvPr/>
            </p:nvSpPr>
            <p:spPr bwMode="auto">
              <a:xfrm>
                <a:off x="3641809" y="2627378"/>
                <a:ext cx="144270" cy="1692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100" b="1">
                    <a:solidFill>
                      <a:srgbClr val="000000"/>
                    </a:solidFill>
                    <a:latin typeface="+mj-lt"/>
                  </a:rPr>
                  <a:t>10</a:t>
                </a:r>
                <a:endParaRPr lang="en-US" sz="1100" b="1">
                  <a:latin typeface="+mj-lt"/>
                </a:endParaRPr>
              </a:p>
            </p:txBody>
          </p:sp>
          <p:sp>
            <p:nvSpPr>
              <p:cNvPr id="285" name="Rectangle 285"/>
              <p:cNvSpPr>
                <a:spLocks noChangeArrowheads="1"/>
              </p:cNvSpPr>
              <p:nvPr/>
            </p:nvSpPr>
            <p:spPr bwMode="auto">
              <a:xfrm>
                <a:off x="2566023" y="2634800"/>
                <a:ext cx="839717" cy="21544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1" dirty="0">
                    <a:solidFill>
                      <a:srgbClr val="000000"/>
                    </a:solidFill>
                    <a:latin typeface="+mj-lt"/>
                  </a:rPr>
                  <a:t>Value of R2</a:t>
                </a:r>
                <a:endParaRPr lang="en-US" sz="2000" b="1" dirty="0">
                  <a:latin typeface="+mj-lt"/>
                </a:endParaRPr>
              </a:p>
            </p:txBody>
          </p:sp>
          <p:sp>
            <p:nvSpPr>
              <p:cNvPr id="286" name="Rectangle 286"/>
              <p:cNvSpPr>
                <a:spLocks noChangeArrowheads="1"/>
              </p:cNvSpPr>
              <p:nvPr/>
            </p:nvSpPr>
            <p:spPr bwMode="auto">
              <a:xfrm>
                <a:off x="4224241" y="2636655"/>
                <a:ext cx="144270" cy="1692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100" b="1" dirty="0">
                    <a:solidFill>
                      <a:srgbClr val="000000"/>
                    </a:solidFill>
                    <a:latin typeface="+mj-lt"/>
                  </a:rPr>
                  <a:t>10</a:t>
                </a:r>
                <a:endParaRPr lang="en-US" sz="1100" b="1" dirty="0">
                  <a:latin typeface="+mj-lt"/>
                </a:endParaRPr>
              </a:p>
            </p:txBody>
          </p:sp>
          <p:sp>
            <p:nvSpPr>
              <p:cNvPr id="287" name="Rectangle 287"/>
              <p:cNvSpPr>
                <a:spLocks noChangeArrowheads="1"/>
              </p:cNvSpPr>
              <p:nvPr/>
            </p:nvSpPr>
            <p:spPr bwMode="auto">
              <a:xfrm>
                <a:off x="4799821" y="2636655"/>
                <a:ext cx="144270" cy="1692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100" b="1">
                    <a:solidFill>
                      <a:srgbClr val="000000"/>
                    </a:solidFill>
                    <a:latin typeface="+mj-lt"/>
                  </a:rPr>
                  <a:t>10</a:t>
                </a:r>
                <a:endParaRPr lang="en-US" sz="1100" b="1">
                  <a:latin typeface="+mj-lt"/>
                </a:endParaRPr>
              </a:p>
            </p:txBody>
          </p:sp>
          <p:sp>
            <p:nvSpPr>
              <p:cNvPr id="288" name="Rectangle 288"/>
              <p:cNvSpPr>
                <a:spLocks noChangeArrowheads="1"/>
              </p:cNvSpPr>
              <p:nvPr/>
            </p:nvSpPr>
            <p:spPr bwMode="auto">
              <a:xfrm>
                <a:off x="5375400" y="2636655"/>
                <a:ext cx="144270" cy="1692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100" b="1">
                    <a:solidFill>
                      <a:srgbClr val="000000"/>
                    </a:solidFill>
                    <a:latin typeface="+mj-lt"/>
                  </a:rPr>
                  <a:t>10</a:t>
                </a:r>
                <a:endParaRPr lang="en-US" sz="1100" b="1">
                  <a:latin typeface="+mj-lt"/>
                </a:endParaRPr>
              </a:p>
            </p:txBody>
          </p:sp>
          <p:sp>
            <p:nvSpPr>
              <p:cNvPr id="289" name="Rectangle 289"/>
              <p:cNvSpPr>
                <a:spLocks noChangeArrowheads="1"/>
              </p:cNvSpPr>
              <p:nvPr/>
            </p:nvSpPr>
            <p:spPr bwMode="auto">
              <a:xfrm>
                <a:off x="6543690" y="2636655"/>
                <a:ext cx="187552" cy="1692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100" b="1">
                    <a:solidFill>
                      <a:srgbClr val="000000"/>
                    </a:solidFill>
                    <a:latin typeface="+mj-lt"/>
                  </a:rPr>
                  <a:t>-20</a:t>
                </a:r>
                <a:endParaRPr lang="en-US" sz="1100" b="1">
                  <a:latin typeface="+mj-lt"/>
                </a:endParaRPr>
              </a:p>
            </p:txBody>
          </p:sp>
          <p:sp>
            <p:nvSpPr>
              <p:cNvPr id="290" name="Rectangle 290"/>
              <p:cNvSpPr>
                <a:spLocks noChangeArrowheads="1"/>
              </p:cNvSpPr>
              <p:nvPr/>
            </p:nvSpPr>
            <p:spPr bwMode="auto">
              <a:xfrm>
                <a:off x="7127835" y="2636655"/>
                <a:ext cx="187552" cy="1692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100" b="1" dirty="0">
                    <a:solidFill>
                      <a:srgbClr val="000000"/>
                    </a:solidFill>
                    <a:latin typeface="+mj-lt"/>
                  </a:rPr>
                  <a:t>-20</a:t>
                </a:r>
                <a:endParaRPr lang="en-US" sz="1100" b="1" dirty="0">
                  <a:latin typeface="+mj-lt"/>
                </a:endParaRPr>
              </a:p>
            </p:txBody>
          </p:sp>
          <p:sp>
            <p:nvSpPr>
              <p:cNvPr id="291" name="Rectangle 291"/>
              <p:cNvSpPr>
                <a:spLocks noChangeArrowheads="1"/>
              </p:cNvSpPr>
              <p:nvPr/>
            </p:nvSpPr>
            <p:spPr bwMode="auto">
              <a:xfrm>
                <a:off x="7705128" y="2636655"/>
                <a:ext cx="187552" cy="1692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100" b="1" dirty="0">
                    <a:solidFill>
                      <a:srgbClr val="000000"/>
                    </a:solidFill>
                    <a:latin typeface="+mj-lt"/>
                  </a:rPr>
                  <a:t>-20</a:t>
                </a:r>
                <a:endParaRPr lang="en-US" sz="1100" b="1" dirty="0">
                  <a:latin typeface="+mj-lt"/>
                </a:endParaRPr>
              </a:p>
            </p:txBody>
          </p:sp>
          <p:sp>
            <p:nvSpPr>
              <p:cNvPr id="292" name="Rectangle 292"/>
              <p:cNvSpPr>
                <a:spLocks noChangeArrowheads="1"/>
              </p:cNvSpPr>
              <p:nvPr/>
            </p:nvSpPr>
            <p:spPr bwMode="auto">
              <a:xfrm>
                <a:off x="8280708" y="2636655"/>
                <a:ext cx="187552" cy="1692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100" b="1" dirty="0">
                    <a:solidFill>
                      <a:srgbClr val="000000"/>
                    </a:solidFill>
                    <a:latin typeface="+mj-lt"/>
                  </a:rPr>
                  <a:t>-20</a:t>
                </a:r>
                <a:endParaRPr lang="en-US" sz="1100" b="1" dirty="0">
                  <a:latin typeface="+mj-lt"/>
                </a:endParaRPr>
              </a:p>
            </p:txBody>
          </p:sp>
          <p:sp>
            <p:nvSpPr>
              <p:cNvPr id="583" name="Rectangle 258"/>
              <p:cNvSpPr>
                <a:spLocks noChangeArrowheads="1"/>
              </p:cNvSpPr>
              <p:nvPr/>
            </p:nvSpPr>
            <p:spPr bwMode="auto">
              <a:xfrm>
                <a:off x="5859056" y="2638785"/>
                <a:ext cx="456856" cy="1692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100" b="1" dirty="0" smtClean="0">
                    <a:solidFill>
                      <a:srgbClr val="000000"/>
                    </a:solidFill>
                    <a:latin typeface="+mj-lt"/>
                  </a:rPr>
                  <a:t>10 / -20</a:t>
                </a:r>
                <a:endParaRPr lang="en-US" sz="1100" b="1" dirty="0">
                  <a:latin typeface="+mj-lt"/>
                </a:endParaRPr>
              </a:p>
            </p:txBody>
          </p:sp>
        </p:grpSp>
        <p:grpSp>
          <p:nvGrpSpPr>
            <p:cNvPr id="851" name="Группа 850"/>
            <p:cNvGrpSpPr/>
            <p:nvPr/>
          </p:nvGrpSpPr>
          <p:grpSpPr>
            <a:xfrm>
              <a:off x="3580873" y="3269310"/>
              <a:ext cx="4927680" cy="2929520"/>
              <a:chOff x="3580873" y="3269310"/>
              <a:chExt cx="4927680" cy="2929520"/>
            </a:xfrm>
          </p:grpSpPr>
          <p:sp>
            <p:nvSpPr>
              <p:cNvPr id="11" name="Freeform 11"/>
              <p:cNvSpPr>
                <a:spLocks/>
              </p:cNvSpPr>
              <p:nvPr/>
            </p:nvSpPr>
            <p:spPr bwMode="auto">
              <a:xfrm>
                <a:off x="7675850" y="5798085"/>
                <a:ext cx="125077" cy="267163"/>
              </a:xfrm>
              <a:custGeom>
                <a:avLst/>
                <a:gdLst>
                  <a:gd name="T0" fmla="*/ 71 w 73"/>
                  <a:gd name="T1" fmla="*/ 144 h 144"/>
                  <a:gd name="T2" fmla="*/ 0 w 73"/>
                  <a:gd name="T3" fmla="*/ 144 h 144"/>
                  <a:gd name="T4" fmla="*/ 0 w 73"/>
                  <a:gd name="T5" fmla="*/ 0 h 144"/>
                  <a:gd name="T6" fmla="*/ 73 w 73"/>
                  <a:gd name="T7" fmla="*/ 0 h 144"/>
                  <a:gd name="T8" fmla="*/ 71 w 73"/>
                  <a:gd name="T9" fmla="*/ 144 h 14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3"/>
                  <a:gd name="T16" fmla="*/ 0 h 144"/>
                  <a:gd name="T17" fmla="*/ 73 w 73"/>
                  <a:gd name="T18" fmla="*/ 144 h 14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3" h="144">
                    <a:moveTo>
                      <a:pt x="71" y="144"/>
                    </a:moveTo>
                    <a:lnTo>
                      <a:pt x="0" y="144"/>
                    </a:lnTo>
                    <a:lnTo>
                      <a:pt x="0" y="0"/>
                    </a:lnTo>
                    <a:lnTo>
                      <a:pt x="73" y="0"/>
                    </a:lnTo>
                    <a:lnTo>
                      <a:pt x="71" y="144"/>
                    </a:lnTo>
                    <a:close/>
                  </a:path>
                </a:pathLst>
              </a:custGeom>
              <a:solidFill>
                <a:srgbClr val="CCCC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2" name="Freeform 12"/>
              <p:cNvSpPr>
                <a:spLocks/>
              </p:cNvSpPr>
              <p:nvPr/>
            </p:nvSpPr>
            <p:spPr bwMode="auto">
              <a:xfrm>
                <a:off x="7675850" y="5798085"/>
                <a:ext cx="125077" cy="267163"/>
              </a:xfrm>
              <a:custGeom>
                <a:avLst/>
                <a:gdLst>
                  <a:gd name="T0" fmla="*/ 71 w 73"/>
                  <a:gd name="T1" fmla="*/ 144 h 144"/>
                  <a:gd name="T2" fmla="*/ 0 w 73"/>
                  <a:gd name="T3" fmla="*/ 144 h 144"/>
                  <a:gd name="T4" fmla="*/ 0 w 73"/>
                  <a:gd name="T5" fmla="*/ 0 h 144"/>
                  <a:gd name="T6" fmla="*/ 73 w 73"/>
                  <a:gd name="T7" fmla="*/ 0 h 14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3"/>
                  <a:gd name="T13" fmla="*/ 0 h 144"/>
                  <a:gd name="T14" fmla="*/ 73 w 73"/>
                  <a:gd name="T15" fmla="*/ 144 h 14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3" h="144">
                    <a:moveTo>
                      <a:pt x="71" y="144"/>
                    </a:moveTo>
                    <a:lnTo>
                      <a:pt x="0" y="144"/>
                    </a:lnTo>
                    <a:lnTo>
                      <a:pt x="0" y="0"/>
                    </a:lnTo>
                    <a:lnTo>
                      <a:pt x="73" y="0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3" name="Freeform 13"/>
              <p:cNvSpPr>
                <a:spLocks/>
              </p:cNvSpPr>
              <p:nvPr/>
            </p:nvSpPr>
            <p:spPr bwMode="auto">
              <a:xfrm>
                <a:off x="7797500" y="5798085"/>
                <a:ext cx="125077" cy="267163"/>
              </a:xfrm>
              <a:custGeom>
                <a:avLst/>
                <a:gdLst>
                  <a:gd name="T0" fmla="*/ 0 w 73"/>
                  <a:gd name="T1" fmla="*/ 0 h 144"/>
                  <a:gd name="T2" fmla="*/ 73 w 73"/>
                  <a:gd name="T3" fmla="*/ 0 h 144"/>
                  <a:gd name="T4" fmla="*/ 73 w 73"/>
                  <a:gd name="T5" fmla="*/ 144 h 144"/>
                  <a:gd name="T6" fmla="*/ 2 w 73"/>
                  <a:gd name="T7" fmla="*/ 144 h 14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3"/>
                  <a:gd name="T13" fmla="*/ 0 h 144"/>
                  <a:gd name="T14" fmla="*/ 73 w 73"/>
                  <a:gd name="T15" fmla="*/ 144 h 14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3" h="144">
                    <a:moveTo>
                      <a:pt x="0" y="0"/>
                    </a:moveTo>
                    <a:lnTo>
                      <a:pt x="73" y="0"/>
                    </a:lnTo>
                    <a:lnTo>
                      <a:pt x="73" y="144"/>
                    </a:lnTo>
                    <a:lnTo>
                      <a:pt x="2" y="144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4" name="Line 14"/>
              <p:cNvSpPr>
                <a:spLocks noChangeShapeType="1"/>
              </p:cNvSpPr>
              <p:nvPr/>
            </p:nvSpPr>
            <p:spPr bwMode="auto">
              <a:xfrm>
                <a:off x="6754052" y="5864876"/>
                <a:ext cx="125077" cy="1855"/>
              </a:xfrm>
              <a:prstGeom prst="line">
                <a:avLst/>
              </a:prstGeom>
              <a:noFill/>
              <a:ln w="15875">
                <a:solidFill>
                  <a:srgbClr val="EB75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5" name="Line 15"/>
              <p:cNvSpPr>
                <a:spLocks noChangeShapeType="1"/>
              </p:cNvSpPr>
              <p:nvPr/>
            </p:nvSpPr>
            <p:spPr bwMode="auto">
              <a:xfrm>
                <a:off x="6169790" y="5265614"/>
                <a:ext cx="121650" cy="1855"/>
              </a:xfrm>
              <a:prstGeom prst="line">
                <a:avLst/>
              </a:prstGeom>
              <a:noFill/>
              <a:ln w="15875">
                <a:solidFill>
                  <a:srgbClr val="EB75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6" name="Line 16"/>
              <p:cNvSpPr>
                <a:spLocks noChangeShapeType="1"/>
              </p:cNvSpPr>
              <p:nvPr/>
            </p:nvSpPr>
            <p:spPr bwMode="auto">
              <a:xfrm>
                <a:off x="6169790" y="5397340"/>
                <a:ext cx="121650" cy="3711"/>
              </a:xfrm>
              <a:prstGeom prst="line">
                <a:avLst/>
              </a:prstGeom>
              <a:noFill/>
              <a:ln w="15875">
                <a:solidFill>
                  <a:srgbClr val="EB75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7" name="Freeform 17"/>
              <p:cNvSpPr>
                <a:spLocks/>
              </p:cNvSpPr>
              <p:nvPr/>
            </p:nvSpPr>
            <p:spPr bwMode="auto">
              <a:xfrm>
                <a:off x="7213238" y="5196968"/>
                <a:ext cx="125077" cy="267163"/>
              </a:xfrm>
              <a:custGeom>
                <a:avLst/>
                <a:gdLst>
                  <a:gd name="T0" fmla="*/ 0 w 73"/>
                  <a:gd name="T1" fmla="*/ 144 h 144"/>
                  <a:gd name="T2" fmla="*/ 73 w 73"/>
                  <a:gd name="T3" fmla="*/ 144 h 144"/>
                  <a:gd name="T4" fmla="*/ 73 w 73"/>
                  <a:gd name="T5" fmla="*/ 0 h 144"/>
                  <a:gd name="T6" fmla="*/ 2 w 73"/>
                  <a:gd name="T7" fmla="*/ 0 h 14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3"/>
                  <a:gd name="T13" fmla="*/ 0 h 144"/>
                  <a:gd name="T14" fmla="*/ 73 w 73"/>
                  <a:gd name="T15" fmla="*/ 144 h 14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3" h="144">
                    <a:moveTo>
                      <a:pt x="0" y="144"/>
                    </a:moveTo>
                    <a:lnTo>
                      <a:pt x="73" y="144"/>
                    </a:lnTo>
                    <a:lnTo>
                      <a:pt x="73" y="0"/>
                    </a:lnTo>
                    <a:lnTo>
                      <a:pt x="2" y="0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8" name="Freeform 18"/>
              <p:cNvSpPr>
                <a:spLocks/>
              </p:cNvSpPr>
              <p:nvPr/>
            </p:nvSpPr>
            <p:spPr bwMode="auto">
              <a:xfrm>
                <a:off x="7091588" y="5196968"/>
                <a:ext cx="125077" cy="267163"/>
              </a:xfrm>
              <a:custGeom>
                <a:avLst/>
                <a:gdLst>
                  <a:gd name="T0" fmla="*/ 71 w 73"/>
                  <a:gd name="T1" fmla="*/ 0 h 144"/>
                  <a:gd name="T2" fmla="*/ 0 w 73"/>
                  <a:gd name="T3" fmla="*/ 0 h 144"/>
                  <a:gd name="T4" fmla="*/ 0 w 73"/>
                  <a:gd name="T5" fmla="*/ 144 h 144"/>
                  <a:gd name="T6" fmla="*/ 73 w 73"/>
                  <a:gd name="T7" fmla="*/ 144 h 14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3"/>
                  <a:gd name="T13" fmla="*/ 0 h 144"/>
                  <a:gd name="T14" fmla="*/ 73 w 73"/>
                  <a:gd name="T15" fmla="*/ 144 h 14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3" h="144">
                    <a:moveTo>
                      <a:pt x="71" y="0"/>
                    </a:moveTo>
                    <a:lnTo>
                      <a:pt x="0" y="0"/>
                    </a:lnTo>
                    <a:lnTo>
                      <a:pt x="0" y="144"/>
                    </a:lnTo>
                    <a:lnTo>
                      <a:pt x="73" y="144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9" name="Line 19"/>
              <p:cNvSpPr>
                <a:spLocks noChangeShapeType="1"/>
              </p:cNvSpPr>
              <p:nvPr/>
            </p:nvSpPr>
            <p:spPr bwMode="auto">
              <a:xfrm>
                <a:off x="5580387" y="4799933"/>
                <a:ext cx="125077" cy="1855"/>
              </a:xfrm>
              <a:prstGeom prst="line">
                <a:avLst/>
              </a:prstGeom>
              <a:noFill/>
              <a:ln w="15875">
                <a:solidFill>
                  <a:srgbClr val="EB75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20" name="Line 20"/>
              <p:cNvSpPr>
                <a:spLocks noChangeShapeType="1"/>
              </p:cNvSpPr>
              <p:nvPr/>
            </p:nvSpPr>
            <p:spPr bwMode="auto">
              <a:xfrm>
                <a:off x="5580387" y="4664496"/>
                <a:ext cx="371803" cy="185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21" name="Line 21"/>
              <p:cNvSpPr>
                <a:spLocks noChangeShapeType="1"/>
              </p:cNvSpPr>
              <p:nvPr/>
            </p:nvSpPr>
            <p:spPr bwMode="auto">
              <a:xfrm>
                <a:off x="4996125" y="4198816"/>
                <a:ext cx="371803" cy="185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22" name="Line 22"/>
              <p:cNvSpPr>
                <a:spLocks noChangeShapeType="1"/>
              </p:cNvSpPr>
              <p:nvPr/>
            </p:nvSpPr>
            <p:spPr bwMode="auto">
              <a:xfrm>
                <a:off x="4996125" y="4065234"/>
                <a:ext cx="125077" cy="3711"/>
              </a:xfrm>
              <a:prstGeom prst="line">
                <a:avLst/>
              </a:prstGeom>
              <a:noFill/>
              <a:ln w="15875">
                <a:solidFill>
                  <a:srgbClr val="EB75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23" name="Line 23"/>
              <p:cNvSpPr>
                <a:spLocks noChangeShapeType="1"/>
              </p:cNvSpPr>
              <p:nvPr/>
            </p:nvSpPr>
            <p:spPr bwMode="auto">
              <a:xfrm>
                <a:off x="5797986" y="3530907"/>
                <a:ext cx="125077" cy="3711"/>
              </a:xfrm>
              <a:prstGeom prst="line">
                <a:avLst/>
              </a:prstGeom>
              <a:noFill/>
              <a:ln w="15875">
                <a:solidFill>
                  <a:srgbClr val="EB75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24" name="Rectangle 24"/>
              <p:cNvSpPr>
                <a:spLocks noChangeArrowheads="1"/>
              </p:cNvSpPr>
              <p:nvPr/>
            </p:nvSpPr>
            <p:spPr bwMode="auto">
              <a:xfrm>
                <a:off x="5923063" y="3401036"/>
                <a:ext cx="121650" cy="265308"/>
              </a:xfrm>
              <a:prstGeom prst="rect">
                <a:avLst/>
              </a:prstGeom>
              <a:solidFill>
                <a:srgbClr val="FBE2C9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25" name="Rectangle 25"/>
              <p:cNvSpPr>
                <a:spLocks noChangeArrowheads="1"/>
              </p:cNvSpPr>
              <p:nvPr/>
            </p:nvSpPr>
            <p:spPr bwMode="auto">
              <a:xfrm>
                <a:off x="5923063" y="3401036"/>
                <a:ext cx="121650" cy="265308"/>
              </a:xfrm>
              <a:prstGeom prst="rect">
                <a:avLst/>
              </a:prstGeom>
              <a:noFill/>
              <a:ln w="9525">
                <a:solidFill>
                  <a:srgbClr val="EB75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26" name="Line 26"/>
              <p:cNvSpPr>
                <a:spLocks noChangeShapeType="1"/>
              </p:cNvSpPr>
              <p:nvPr/>
            </p:nvSpPr>
            <p:spPr bwMode="auto">
              <a:xfrm flipV="1">
                <a:off x="6169790" y="3397326"/>
                <a:ext cx="1713" cy="27272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27" name="Line 27"/>
              <p:cNvSpPr>
                <a:spLocks noChangeShapeType="1"/>
              </p:cNvSpPr>
              <p:nvPr/>
            </p:nvSpPr>
            <p:spPr bwMode="auto">
              <a:xfrm flipH="1">
                <a:off x="6044713" y="3401036"/>
                <a:ext cx="125077" cy="185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28" name="Line 28"/>
              <p:cNvSpPr>
                <a:spLocks noChangeShapeType="1"/>
              </p:cNvSpPr>
              <p:nvPr/>
            </p:nvSpPr>
            <p:spPr bwMode="auto">
              <a:xfrm flipH="1">
                <a:off x="6044713" y="3666344"/>
                <a:ext cx="125077" cy="185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29" name="Rectangle 29"/>
              <p:cNvSpPr>
                <a:spLocks noChangeArrowheads="1"/>
              </p:cNvSpPr>
              <p:nvPr/>
            </p:nvSpPr>
            <p:spPr bwMode="auto">
              <a:xfrm>
                <a:off x="4290212" y="3401036"/>
                <a:ext cx="125077" cy="265308"/>
              </a:xfrm>
              <a:prstGeom prst="rect">
                <a:avLst/>
              </a:prstGeom>
              <a:solidFill>
                <a:srgbClr val="CCCCCC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30" name="Rectangle 30"/>
              <p:cNvSpPr>
                <a:spLocks noChangeArrowheads="1"/>
              </p:cNvSpPr>
              <p:nvPr/>
            </p:nvSpPr>
            <p:spPr bwMode="auto">
              <a:xfrm>
                <a:off x="4290212" y="3401036"/>
                <a:ext cx="125077" cy="265308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31" name="Line 31"/>
              <p:cNvSpPr>
                <a:spLocks noChangeShapeType="1"/>
              </p:cNvSpPr>
              <p:nvPr/>
            </p:nvSpPr>
            <p:spPr bwMode="auto">
              <a:xfrm flipV="1">
                <a:off x="4165135" y="3397326"/>
                <a:ext cx="3427" cy="27272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32" name="Line 32"/>
              <p:cNvSpPr>
                <a:spLocks noChangeShapeType="1"/>
              </p:cNvSpPr>
              <p:nvPr/>
            </p:nvSpPr>
            <p:spPr bwMode="auto">
              <a:xfrm>
                <a:off x="4165135" y="3401036"/>
                <a:ext cx="131930" cy="185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33" name="Line 33"/>
              <p:cNvSpPr>
                <a:spLocks noChangeShapeType="1"/>
              </p:cNvSpPr>
              <p:nvPr/>
            </p:nvSpPr>
            <p:spPr bwMode="auto">
              <a:xfrm>
                <a:off x="4165135" y="3666344"/>
                <a:ext cx="131930" cy="185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34" name="Rectangle 34"/>
              <p:cNvSpPr>
                <a:spLocks noChangeArrowheads="1"/>
              </p:cNvSpPr>
              <p:nvPr/>
            </p:nvSpPr>
            <p:spPr bwMode="auto">
              <a:xfrm>
                <a:off x="3705950" y="3401036"/>
                <a:ext cx="121650" cy="265308"/>
              </a:xfrm>
              <a:prstGeom prst="rect">
                <a:avLst/>
              </a:prstGeom>
              <a:solidFill>
                <a:srgbClr val="CCCCCC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35" name="Rectangle 35"/>
              <p:cNvSpPr>
                <a:spLocks noChangeArrowheads="1"/>
              </p:cNvSpPr>
              <p:nvPr/>
            </p:nvSpPr>
            <p:spPr bwMode="auto">
              <a:xfrm>
                <a:off x="3705950" y="3401036"/>
                <a:ext cx="121650" cy="265308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36" name="Rectangle 36"/>
              <p:cNvSpPr>
                <a:spLocks noChangeArrowheads="1"/>
              </p:cNvSpPr>
              <p:nvPr/>
            </p:nvSpPr>
            <p:spPr bwMode="auto">
              <a:xfrm>
                <a:off x="3580873" y="3401036"/>
                <a:ext cx="125077" cy="265308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37" name="Rectangle 37"/>
              <p:cNvSpPr>
                <a:spLocks noChangeArrowheads="1"/>
              </p:cNvSpPr>
              <p:nvPr/>
            </p:nvSpPr>
            <p:spPr bwMode="auto">
              <a:xfrm>
                <a:off x="3645981" y="3454840"/>
                <a:ext cx="25648" cy="1231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I</a:t>
                </a:r>
                <a:endParaRPr lang="en-US" sz="1200" b="1">
                  <a:latin typeface="+mj-lt"/>
                </a:endParaRPr>
              </a:p>
            </p:txBody>
          </p:sp>
          <p:sp>
            <p:nvSpPr>
              <p:cNvPr id="38" name="Rectangle 38"/>
              <p:cNvSpPr>
                <a:spLocks noChangeArrowheads="1"/>
              </p:cNvSpPr>
              <p:nvPr/>
            </p:nvSpPr>
            <p:spPr bwMode="auto">
              <a:xfrm>
                <a:off x="3676822" y="3454840"/>
                <a:ext cx="88166" cy="1231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M</a:t>
                </a:r>
                <a:endParaRPr lang="en-US" sz="1200" b="1">
                  <a:latin typeface="+mj-lt"/>
                </a:endParaRPr>
              </a:p>
            </p:txBody>
          </p:sp>
          <p:sp>
            <p:nvSpPr>
              <p:cNvPr id="39" name="Rectangle 39"/>
              <p:cNvSpPr>
                <a:spLocks noChangeArrowheads="1"/>
              </p:cNvSpPr>
              <p:nvPr/>
            </p:nvSpPr>
            <p:spPr bwMode="auto">
              <a:xfrm>
                <a:off x="4197690" y="3454840"/>
                <a:ext cx="56106" cy="1231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R</a:t>
                </a:r>
                <a:endParaRPr lang="en-US" sz="1200" b="1">
                  <a:latin typeface="+mj-lt"/>
                </a:endParaRPr>
              </a:p>
            </p:txBody>
          </p:sp>
          <p:sp>
            <p:nvSpPr>
              <p:cNvPr id="40" name="Rectangle 40"/>
              <p:cNvSpPr>
                <a:spLocks noChangeArrowheads="1"/>
              </p:cNvSpPr>
              <p:nvPr/>
            </p:nvSpPr>
            <p:spPr bwMode="auto">
              <a:xfrm>
                <a:off x="4276505" y="3454840"/>
                <a:ext cx="51296" cy="1231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e</a:t>
                </a:r>
                <a:endParaRPr lang="en-US" sz="1200" b="1">
                  <a:latin typeface="+mj-lt"/>
                </a:endParaRPr>
              </a:p>
            </p:txBody>
          </p:sp>
          <p:sp>
            <p:nvSpPr>
              <p:cNvPr id="41" name="Rectangle 41"/>
              <p:cNvSpPr>
                <a:spLocks noChangeArrowheads="1"/>
              </p:cNvSpPr>
              <p:nvPr/>
            </p:nvSpPr>
            <p:spPr bwMode="auto">
              <a:xfrm>
                <a:off x="4339900" y="3454840"/>
                <a:ext cx="48090" cy="1231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g</a:t>
                </a:r>
                <a:endParaRPr lang="en-US" sz="1200" b="1">
                  <a:latin typeface="+mj-lt"/>
                </a:endParaRPr>
              </a:p>
            </p:txBody>
          </p:sp>
          <p:sp>
            <p:nvSpPr>
              <p:cNvPr id="42" name="Freeform 42"/>
              <p:cNvSpPr>
                <a:spLocks/>
              </p:cNvSpPr>
              <p:nvPr/>
            </p:nvSpPr>
            <p:spPr bwMode="auto">
              <a:xfrm>
                <a:off x="4780239" y="3269310"/>
                <a:ext cx="186758" cy="528761"/>
              </a:xfrm>
              <a:custGeom>
                <a:avLst/>
                <a:gdLst>
                  <a:gd name="T0" fmla="*/ 0 w 109"/>
                  <a:gd name="T1" fmla="*/ 0 h 285"/>
                  <a:gd name="T2" fmla="*/ 2 w 109"/>
                  <a:gd name="T3" fmla="*/ 115 h 285"/>
                  <a:gd name="T4" fmla="*/ 36 w 109"/>
                  <a:gd name="T5" fmla="*/ 143 h 285"/>
                  <a:gd name="T6" fmla="*/ 2 w 109"/>
                  <a:gd name="T7" fmla="*/ 170 h 285"/>
                  <a:gd name="T8" fmla="*/ 2 w 109"/>
                  <a:gd name="T9" fmla="*/ 285 h 285"/>
                  <a:gd name="T10" fmla="*/ 109 w 109"/>
                  <a:gd name="T11" fmla="*/ 197 h 285"/>
                  <a:gd name="T12" fmla="*/ 109 w 109"/>
                  <a:gd name="T13" fmla="*/ 88 h 285"/>
                  <a:gd name="T14" fmla="*/ 2 w 109"/>
                  <a:gd name="T15" fmla="*/ 0 h 285"/>
                  <a:gd name="T16" fmla="*/ 2 w 109"/>
                  <a:gd name="T17" fmla="*/ 0 h 285"/>
                  <a:gd name="T18" fmla="*/ 0 w 109"/>
                  <a:gd name="T19" fmla="*/ 0 h 28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09"/>
                  <a:gd name="T31" fmla="*/ 0 h 285"/>
                  <a:gd name="T32" fmla="*/ 109 w 109"/>
                  <a:gd name="T33" fmla="*/ 285 h 285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09" h="285">
                    <a:moveTo>
                      <a:pt x="0" y="0"/>
                    </a:moveTo>
                    <a:lnTo>
                      <a:pt x="2" y="115"/>
                    </a:lnTo>
                    <a:lnTo>
                      <a:pt x="36" y="143"/>
                    </a:lnTo>
                    <a:lnTo>
                      <a:pt x="2" y="170"/>
                    </a:lnTo>
                    <a:lnTo>
                      <a:pt x="2" y="285"/>
                    </a:lnTo>
                    <a:lnTo>
                      <a:pt x="109" y="197"/>
                    </a:lnTo>
                    <a:lnTo>
                      <a:pt x="109" y="88"/>
                    </a:lnTo>
                    <a:lnTo>
                      <a:pt x="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CCC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43" name="Freeform 43"/>
              <p:cNvSpPr>
                <a:spLocks/>
              </p:cNvSpPr>
              <p:nvPr/>
            </p:nvSpPr>
            <p:spPr bwMode="auto">
              <a:xfrm>
                <a:off x="4780239" y="3269310"/>
                <a:ext cx="186758" cy="528761"/>
              </a:xfrm>
              <a:custGeom>
                <a:avLst/>
                <a:gdLst>
                  <a:gd name="T0" fmla="*/ 0 w 109"/>
                  <a:gd name="T1" fmla="*/ 0 h 285"/>
                  <a:gd name="T2" fmla="*/ 2 w 109"/>
                  <a:gd name="T3" fmla="*/ 115 h 285"/>
                  <a:gd name="T4" fmla="*/ 36 w 109"/>
                  <a:gd name="T5" fmla="*/ 143 h 285"/>
                  <a:gd name="T6" fmla="*/ 2 w 109"/>
                  <a:gd name="T7" fmla="*/ 170 h 285"/>
                  <a:gd name="T8" fmla="*/ 2 w 109"/>
                  <a:gd name="T9" fmla="*/ 285 h 285"/>
                  <a:gd name="T10" fmla="*/ 109 w 109"/>
                  <a:gd name="T11" fmla="*/ 197 h 285"/>
                  <a:gd name="T12" fmla="*/ 109 w 109"/>
                  <a:gd name="T13" fmla="*/ 88 h 285"/>
                  <a:gd name="T14" fmla="*/ 2 w 109"/>
                  <a:gd name="T15" fmla="*/ 0 h 285"/>
                  <a:gd name="T16" fmla="*/ 2 w 109"/>
                  <a:gd name="T17" fmla="*/ 0 h 285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09"/>
                  <a:gd name="T28" fmla="*/ 0 h 285"/>
                  <a:gd name="T29" fmla="*/ 109 w 109"/>
                  <a:gd name="T30" fmla="*/ 285 h 285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09" h="285">
                    <a:moveTo>
                      <a:pt x="0" y="0"/>
                    </a:moveTo>
                    <a:lnTo>
                      <a:pt x="2" y="115"/>
                    </a:lnTo>
                    <a:lnTo>
                      <a:pt x="36" y="143"/>
                    </a:lnTo>
                    <a:lnTo>
                      <a:pt x="2" y="170"/>
                    </a:lnTo>
                    <a:lnTo>
                      <a:pt x="2" y="285"/>
                    </a:lnTo>
                    <a:lnTo>
                      <a:pt x="109" y="197"/>
                    </a:lnTo>
                    <a:lnTo>
                      <a:pt x="109" y="88"/>
                    </a:lnTo>
                    <a:lnTo>
                      <a:pt x="2" y="0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44" name="Line 44"/>
              <p:cNvSpPr>
                <a:spLocks noChangeShapeType="1"/>
              </p:cNvSpPr>
              <p:nvPr/>
            </p:nvSpPr>
            <p:spPr bwMode="auto">
              <a:xfrm>
                <a:off x="3827600" y="3530907"/>
                <a:ext cx="340963" cy="371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45" name="Line 45"/>
              <p:cNvSpPr>
                <a:spLocks noChangeShapeType="1"/>
              </p:cNvSpPr>
              <p:nvPr/>
            </p:nvSpPr>
            <p:spPr bwMode="auto">
              <a:xfrm>
                <a:off x="4411862" y="3467827"/>
                <a:ext cx="371803" cy="185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46" name="Line 46"/>
              <p:cNvSpPr>
                <a:spLocks noChangeShapeType="1"/>
              </p:cNvSpPr>
              <p:nvPr/>
            </p:nvSpPr>
            <p:spPr bwMode="auto">
              <a:xfrm>
                <a:off x="4966997" y="3530907"/>
                <a:ext cx="371803" cy="371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47" name="Line 47"/>
              <p:cNvSpPr>
                <a:spLocks noChangeShapeType="1"/>
              </p:cNvSpPr>
              <p:nvPr/>
            </p:nvSpPr>
            <p:spPr bwMode="auto">
              <a:xfrm>
                <a:off x="4411862" y="3599554"/>
                <a:ext cx="371803" cy="185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48" name="Freeform 48"/>
              <p:cNvSpPr>
                <a:spLocks/>
              </p:cNvSpPr>
              <p:nvPr/>
            </p:nvSpPr>
            <p:spPr bwMode="auto">
              <a:xfrm>
                <a:off x="4103454" y="3467827"/>
                <a:ext cx="61682" cy="63080"/>
              </a:xfrm>
              <a:custGeom>
                <a:avLst/>
                <a:gdLst>
                  <a:gd name="T0" fmla="*/ 0 w 36"/>
                  <a:gd name="T1" fmla="*/ 34 h 34"/>
                  <a:gd name="T2" fmla="*/ 2 w 36"/>
                  <a:gd name="T3" fmla="*/ 0 h 34"/>
                  <a:gd name="T4" fmla="*/ 36 w 36"/>
                  <a:gd name="T5" fmla="*/ 0 h 34"/>
                  <a:gd name="T6" fmla="*/ 0 60000 65536"/>
                  <a:gd name="T7" fmla="*/ 0 60000 65536"/>
                  <a:gd name="T8" fmla="*/ 0 60000 65536"/>
                  <a:gd name="T9" fmla="*/ 0 w 36"/>
                  <a:gd name="T10" fmla="*/ 0 h 34"/>
                  <a:gd name="T11" fmla="*/ 36 w 36"/>
                  <a:gd name="T12" fmla="*/ 34 h 3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6" h="34">
                    <a:moveTo>
                      <a:pt x="0" y="34"/>
                    </a:moveTo>
                    <a:lnTo>
                      <a:pt x="2" y="0"/>
                    </a:lnTo>
                    <a:lnTo>
                      <a:pt x="36" y="0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49" name="Freeform 49"/>
              <p:cNvSpPr>
                <a:spLocks/>
              </p:cNvSpPr>
              <p:nvPr/>
            </p:nvSpPr>
            <p:spPr bwMode="auto">
              <a:xfrm>
                <a:off x="6507326" y="4000299"/>
                <a:ext cx="125077" cy="267163"/>
              </a:xfrm>
              <a:custGeom>
                <a:avLst/>
                <a:gdLst>
                  <a:gd name="T0" fmla="*/ 71 w 73"/>
                  <a:gd name="T1" fmla="*/ 144 h 144"/>
                  <a:gd name="T2" fmla="*/ 0 w 73"/>
                  <a:gd name="T3" fmla="*/ 144 h 144"/>
                  <a:gd name="T4" fmla="*/ 0 w 73"/>
                  <a:gd name="T5" fmla="*/ 0 h 144"/>
                  <a:gd name="T6" fmla="*/ 73 w 73"/>
                  <a:gd name="T7" fmla="*/ 0 h 144"/>
                  <a:gd name="T8" fmla="*/ 71 w 73"/>
                  <a:gd name="T9" fmla="*/ 144 h 14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3"/>
                  <a:gd name="T16" fmla="*/ 0 h 144"/>
                  <a:gd name="T17" fmla="*/ 73 w 73"/>
                  <a:gd name="T18" fmla="*/ 144 h 14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3" h="144">
                    <a:moveTo>
                      <a:pt x="71" y="144"/>
                    </a:moveTo>
                    <a:lnTo>
                      <a:pt x="0" y="144"/>
                    </a:lnTo>
                    <a:lnTo>
                      <a:pt x="0" y="0"/>
                    </a:lnTo>
                    <a:lnTo>
                      <a:pt x="73" y="0"/>
                    </a:lnTo>
                    <a:lnTo>
                      <a:pt x="71" y="144"/>
                    </a:lnTo>
                    <a:close/>
                  </a:path>
                </a:pathLst>
              </a:custGeom>
              <a:solidFill>
                <a:srgbClr val="CCCC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50" name="Freeform 50"/>
              <p:cNvSpPr>
                <a:spLocks/>
              </p:cNvSpPr>
              <p:nvPr/>
            </p:nvSpPr>
            <p:spPr bwMode="auto">
              <a:xfrm>
                <a:off x="6507326" y="4000299"/>
                <a:ext cx="125077" cy="267163"/>
              </a:xfrm>
              <a:custGeom>
                <a:avLst/>
                <a:gdLst>
                  <a:gd name="T0" fmla="*/ 71 w 73"/>
                  <a:gd name="T1" fmla="*/ 144 h 144"/>
                  <a:gd name="T2" fmla="*/ 0 w 73"/>
                  <a:gd name="T3" fmla="*/ 144 h 144"/>
                  <a:gd name="T4" fmla="*/ 0 w 73"/>
                  <a:gd name="T5" fmla="*/ 0 h 144"/>
                  <a:gd name="T6" fmla="*/ 73 w 73"/>
                  <a:gd name="T7" fmla="*/ 0 h 14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3"/>
                  <a:gd name="T13" fmla="*/ 0 h 144"/>
                  <a:gd name="T14" fmla="*/ 73 w 73"/>
                  <a:gd name="T15" fmla="*/ 144 h 14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3" h="144">
                    <a:moveTo>
                      <a:pt x="71" y="144"/>
                    </a:moveTo>
                    <a:lnTo>
                      <a:pt x="0" y="144"/>
                    </a:lnTo>
                    <a:lnTo>
                      <a:pt x="0" y="0"/>
                    </a:lnTo>
                    <a:lnTo>
                      <a:pt x="73" y="0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51" name="Line 51"/>
              <p:cNvSpPr>
                <a:spLocks noChangeShapeType="1"/>
              </p:cNvSpPr>
              <p:nvPr/>
            </p:nvSpPr>
            <p:spPr bwMode="auto">
              <a:xfrm flipV="1">
                <a:off x="6754052" y="3992877"/>
                <a:ext cx="1713" cy="27829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52" name="Line 52"/>
              <p:cNvSpPr>
                <a:spLocks noChangeShapeType="1"/>
              </p:cNvSpPr>
              <p:nvPr/>
            </p:nvSpPr>
            <p:spPr bwMode="auto">
              <a:xfrm flipH="1">
                <a:off x="6625549" y="4000299"/>
                <a:ext cx="128503" cy="185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53" name="Line 53"/>
              <p:cNvSpPr>
                <a:spLocks noChangeShapeType="1"/>
              </p:cNvSpPr>
              <p:nvPr/>
            </p:nvSpPr>
            <p:spPr bwMode="auto">
              <a:xfrm flipH="1">
                <a:off x="6625549" y="4267462"/>
                <a:ext cx="128503" cy="185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54" name="Rectangle 54"/>
              <p:cNvSpPr>
                <a:spLocks noChangeArrowheads="1"/>
              </p:cNvSpPr>
              <p:nvPr/>
            </p:nvSpPr>
            <p:spPr bwMode="auto">
              <a:xfrm>
                <a:off x="4290212" y="4000299"/>
                <a:ext cx="125077" cy="267163"/>
              </a:xfrm>
              <a:prstGeom prst="rect">
                <a:avLst/>
              </a:prstGeom>
              <a:solidFill>
                <a:srgbClr val="CCCCCC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55" name="Rectangle 55"/>
              <p:cNvSpPr>
                <a:spLocks noChangeArrowheads="1"/>
              </p:cNvSpPr>
              <p:nvPr/>
            </p:nvSpPr>
            <p:spPr bwMode="auto">
              <a:xfrm>
                <a:off x="4290212" y="4000299"/>
                <a:ext cx="125077" cy="267163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56" name="Rectangle 56"/>
              <p:cNvSpPr>
                <a:spLocks noChangeArrowheads="1"/>
              </p:cNvSpPr>
              <p:nvPr/>
            </p:nvSpPr>
            <p:spPr bwMode="auto">
              <a:xfrm>
                <a:off x="4168562" y="4000299"/>
                <a:ext cx="121650" cy="267163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57" name="Rectangle 57"/>
              <p:cNvSpPr>
                <a:spLocks noChangeArrowheads="1"/>
              </p:cNvSpPr>
              <p:nvPr/>
            </p:nvSpPr>
            <p:spPr bwMode="auto">
              <a:xfrm>
                <a:off x="4231957" y="4054102"/>
                <a:ext cx="25648" cy="1231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I</a:t>
                </a:r>
                <a:endParaRPr lang="en-US" sz="1200" b="1">
                  <a:latin typeface="+mj-lt"/>
                </a:endParaRPr>
              </a:p>
            </p:txBody>
          </p:sp>
          <p:sp>
            <p:nvSpPr>
              <p:cNvPr id="58" name="Rectangle 58"/>
              <p:cNvSpPr>
                <a:spLocks noChangeArrowheads="1"/>
              </p:cNvSpPr>
              <p:nvPr/>
            </p:nvSpPr>
            <p:spPr bwMode="auto">
              <a:xfrm>
                <a:off x="4261085" y="4054102"/>
                <a:ext cx="88166" cy="1231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M</a:t>
                </a:r>
                <a:endParaRPr lang="en-US" sz="1200" b="1">
                  <a:latin typeface="+mj-lt"/>
                </a:endParaRPr>
              </a:p>
            </p:txBody>
          </p:sp>
          <p:sp>
            <p:nvSpPr>
              <p:cNvPr id="59" name="Rectangle 59"/>
              <p:cNvSpPr>
                <a:spLocks noChangeArrowheads="1"/>
              </p:cNvSpPr>
              <p:nvPr/>
            </p:nvSpPr>
            <p:spPr bwMode="auto">
              <a:xfrm>
                <a:off x="4874475" y="4000299"/>
                <a:ext cx="125077" cy="267163"/>
              </a:xfrm>
              <a:prstGeom prst="rect">
                <a:avLst/>
              </a:prstGeom>
              <a:solidFill>
                <a:srgbClr val="FBE2C9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60" name="Rectangle 60"/>
              <p:cNvSpPr>
                <a:spLocks noChangeArrowheads="1"/>
              </p:cNvSpPr>
              <p:nvPr/>
            </p:nvSpPr>
            <p:spPr bwMode="auto">
              <a:xfrm>
                <a:off x="4874475" y="4000299"/>
                <a:ext cx="125077" cy="267163"/>
              </a:xfrm>
              <a:prstGeom prst="rect">
                <a:avLst/>
              </a:prstGeom>
              <a:noFill/>
              <a:ln w="9525">
                <a:solidFill>
                  <a:srgbClr val="EB75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61" name="Line 61"/>
              <p:cNvSpPr>
                <a:spLocks noChangeShapeType="1"/>
              </p:cNvSpPr>
              <p:nvPr/>
            </p:nvSpPr>
            <p:spPr bwMode="auto">
              <a:xfrm flipV="1">
                <a:off x="4749398" y="3992877"/>
                <a:ext cx="3427" cy="27829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62" name="Line 62"/>
              <p:cNvSpPr>
                <a:spLocks noChangeShapeType="1"/>
              </p:cNvSpPr>
              <p:nvPr/>
            </p:nvSpPr>
            <p:spPr bwMode="auto">
              <a:xfrm>
                <a:off x="4749398" y="4000299"/>
                <a:ext cx="125077" cy="185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63" name="Line 63"/>
              <p:cNvSpPr>
                <a:spLocks noChangeShapeType="1"/>
              </p:cNvSpPr>
              <p:nvPr/>
            </p:nvSpPr>
            <p:spPr bwMode="auto">
              <a:xfrm>
                <a:off x="4749398" y="4267462"/>
                <a:ext cx="125077" cy="185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64" name="Freeform 64"/>
              <p:cNvSpPr>
                <a:spLocks/>
              </p:cNvSpPr>
              <p:nvPr/>
            </p:nvSpPr>
            <p:spPr bwMode="auto">
              <a:xfrm>
                <a:off x="5367928" y="3868572"/>
                <a:ext cx="186758" cy="530616"/>
              </a:xfrm>
              <a:custGeom>
                <a:avLst/>
                <a:gdLst>
                  <a:gd name="T0" fmla="*/ 0 w 109"/>
                  <a:gd name="T1" fmla="*/ 0 h 286"/>
                  <a:gd name="T2" fmla="*/ 0 w 109"/>
                  <a:gd name="T3" fmla="*/ 115 h 286"/>
                  <a:gd name="T4" fmla="*/ 34 w 109"/>
                  <a:gd name="T5" fmla="*/ 142 h 286"/>
                  <a:gd name="T6" fmla="*/ 0 w 109"/>
                  <a:gd name="T7" fmla="*/ 171 h 286"/>
                  <a:gd name="T8" fmla="*/ 0 w 109"/>
                  <a:gd name="T9" fmla="*/ 286 h 286"/>
                  <a:gd name="T10" fmla="*/ 109 w 109"/>
                  <a:gd name="T11" fmla="*/ 198 h 286"/>
                  <a:gd name="T12" fmla="*/ 109 w 109"/>
                  <a:gd name="T13" fmla="*/ 86 h 286"/>
                  <a:gd name="T14" fmla="*/ 0 w 109"/>
                  <a:gd name="T15" fmla="*/ 0 h 286"/>
                  <a:gd name="T16" fmla="*/ 0 w 109"/>
                  <a:gd name="T17" fmla="*/ 0 h 28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09"/>
                  <a:gd name="T28" fmla="*/ 0 h 286"/>
                  <a:gd name="T29" fmla="*/ 109 w 109"/>
                  <a:gd name="T30" fmla="*/ 286 h 28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09" h="286">
                    <a:moveTo>
                      <a:pt x="0" y="0"/>
                    </a:moveTo>
                    <a:lnTo>
                      <a:pt x="0" y="115"/>
                    </a:lnTo>
                    <a:lnTo>
                      <a:pt x="34" y="142"/>
                    </a:lnTo>
                    <a:lnTo>
                      <a:pt x="0" y="171"/>
                    </a:lnTo>
                    <a:lnTo>
                      <a:pt x="0" y="286"/>
                    </a:lnTo>
                    <a:lnTo>
                      <a:pt x="109" y="198"/>
                    </a:lnTo>
                    <a:lnTo>
                      <a:pt x="109" y="8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CCC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65" name="Freeform 65"/>
              <p:cNvSpPr>
                <a:spLocks/>
              </p:cNvSpPr>
              <p:nvPr/>
            </p:nvSpPr>
            <p:spPr bwMode="auto">
              <a:xfrm>
                <a:off x="5367928" y="3868572"/>
                <a:ext cx="186758" cy="530616"/>
              </a:xfrm>
              <a:custGeom>
                <a:avLst/>
                <a:gdLst>
                  <a:gd name="T0" fmla="*/ 0 w 109"/>
                  <a:gd name="T1" fmla="*/ 0 h 286"/>
                  <a:gd name="T2" fmla="*/ 0 w 109"/>
                  <a:gd name="T3" fmla="*/ 115 h 286"/>
                  <a:gd name="T4" fmla="*/ 34 w 109"/>
                  <a:gd name="T5" fmla="*/ 142 h 286"/>
                  <a:gd name="T6" fmla="*/ 0 w 109"/>
                  <a:gd name="T7" fmla="*/ 171 h 286"/>
                  <a:gd name="T8" fmla="*/ 0 w 109"/>
                  <a:gd name="T9" fmla="*/ 286 h 286"/>
                  <a:gd name="T10" fmla="*/ 109 w 109"/>
                  <a:gd name="T11" fmla="*/ 198 h 286"/>
                  <a:gd name="T12" fmla="*/ 109 w 109"/>
                  <a:gd name="T13" fmla="*/ 86 h 286"/>
                  <a:gd name="T14" fmla="*/ 0 w 109"/>
                  <a:gd name="T15" fmla="*/ 0 h 286"/>
                  <a:gd name="T16" fmla="*/ 0 w 109"/>
                  <a:gd name="T17" fmla="*/ 0 h 28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09"/>
                  <a:gd name="T28" fmla="*/ 0 h 286"/>
                  <a:gd name="T29" fmla="*/ 109 w 109"/>
                  <a:gd name="T30" fmla="*/ 286 h 28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09" h="286">
                    <a:moveTo>
                      <a:pt x="0" y="0"/>
                    </a:moveTo>
                    <a:lnTo>
                      <a:pt x="0" y="115"/>
                    </a:lnTo>
                    <a:lnTo>
                      <a:pt x="34" y="142"/>
                    </a:lnTo>
                    <a:lnTo>
                      <a:pt x="0" y="171"/>
                    </a:lnTo>
                    <a:lnTo>
                      <a:pt x="0" y="286"/>
                    </a:lnTo>
                    <a:lnTo>
                      <a:pt x="109" y="198"/>
                    </a:lnTo>
                    <a:lnTo>
                      <a:pt x="109" y="86"/>
                    </a:lnTo>
                    <a:lnTo>
                      <a:pt x="0" y="0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66" name="Rectangle 66"/>
              <p:cNvSpPr>
                <a:spLocks noChangeArrowheads="1"/>
              </p:cNvSpPr>
              <p:nvPr/>
            </p:nvSpPr>
            <p:spPr bwMode="auto">
              <a:xfrm>
                <a:off x="6536453" y="4054102"/>
                <a:ext cx="56106" cy="1231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R</a:t>
                </a:r>
                <a:endParaRPr lang="en-US" sz="1200" b="1">
                  <a:latin typeface="+mj-lt"/>
                </a:endParaRPr>
              </a:p>
            </p:txBody>
          </p:sp>
          <p:sp>
            <p:nvSpPr>
              <p:cNvPr id="67" name="Rectangle 67"/>
              <p:cNvSpPr>
                <a:spLocks noChangeArrowheads="1"/>
              </p:cNvSpPr>
              <p:nvPr/>
            </p:nvSpPr>
            <p:spPr bwMode="auto">
              <a:xfrm>
                <a:off x="6618695" y="4054102"/>
                <a:ext cx="51296" cy="1231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e</a:t>
                </a:r>
                <a:endParaRPr lang="en-US" sz="1200" b="1">
                  <a:latin typeface="+mj-lt"/>
                </a:endParaRPr>
              </a:p>
            </p:txBody>
          </p:sp>
          <p:sp>
            <p:nvSpPr>
              <p:cNvPr id="68" name="Rectangle 68"/>
              <p:cNvSpPr>
                <a:spLocks noChangeArrowheads="1"/>
              </p:cNvSpPr>
              <p:nvPr/>
            </p:nvSpPr>
            <p:spPr bwMode="auto">
              <a:xfrm>
                <a:off x="6678663" y="4054102"/>
                <a:ext cx="48090" cy="1231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g</a:t>
                </a:r>
                <a:endParaRPr lang="en-US" sz="1200" b="1">
                  <a:latin typeface="+mj-lt"/>
                </a:endParaRPr>
              </a:p>
            </p:txBody>
          </p:sp>
          <p:sp>
            <p:nvSpPr>
              <p:cNvPr id="69" name="Line 69"/>
              <p:cNvSpPr>
                <a:spLocks noChangeShapeType="1"/>
              </p:cNvSpPr>
              <p:nvPr/>
            </p:nvSpPr>
            <p:spPr bwMode="auto">
              <a:xfrm>
                <a:off x="4411862" y="4132025"/>
                <a:ext cx="340963" cy="185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70" name="Line 70"/>
              <p:cNvSpPr>
                <a:spLocks noChangeShapeType="1"/>
              </p:cNvSpPr>
              <p:nvPr/>
            </p:nvSpPr>
            <p:spPr bwMode="auto">
              <a:xfrm>
                <a:off x="5551260" y="4132025"/>
                <a:ext cx="371803" cy="185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71" name="Line 71"/>
              <p:cNvSpPr>
                <a:spLocks noChangeShapeType="1"/>
              </p:cNvSpPr>
              <p:nvPr/>
            </p:nvSpPr>
            <p:spPr bwMode="auto">
              <a:xfrm>
                <a:off x="6166363" y="4132025"/>
                <a:ext cx="340963" cy="185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72" name="Freeform 72"/>
              <p:cNvSpPr>
                <a:spLocks/>
              </p:cNvSpPr>
              <p:nvPr/>
            </p:nvSpPr>
            <p:spPr bwMode="auto">
              <a:xfrm>
                <a:off x="4691143" y="4068945"/>
                <a:ext cx="58255" cy="63080"/>
              </a:xfrm>
              <a:custGeom>
                <a:avLst/>
                <a:gdLst>
                  <a:gd name="T0" fmla="*/ 0 w 34"/>
                  <a:gd name="T1" fmla="*/ 34 h 34"/>
                  <a:gd name="T2" fmla="*/ 0 w 34"/>
                  <a:gd name="T3" fmla="*/ 0 h 34"/>
                  <a:gd name="T4" fmla="*/ 34 w 34"/>
                  <a:gd name="T5" fmla="*/ 0 h 34"/>
                  <a:gd name="T6" fmla="*/ 0 60000 65536"/>
                  <a:gd name="T7" fmla="*/ 0 60000 65536"/>
                  <a:gd name="T8" fmla="*/ 0 60000 65536"/>
                  <a:gd name="T9" fmla="*/ 0 w 34"/>
                  <a:gd name="T10" fmla="*/ 0 h 34"/>
                  <a:gd name="T11" fmla="*/ 34 w 34"/>
                  <a:gd name="T12" fmla="*/ 34 h 3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4" h="34">
                    <a:moveTo>
                      <a:pt x="0" y="34"/>
                    </a:moveTo>
                    <a:lnTo>
                      <a:pt x="0" y="0"/>
                    </a:lnTo>
                    <a:lnTo>
                      <a:pt x="34" y="0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73" name="Freeform 73"/>
              <p:cNvSpPr>
                <a:spLocks/>
              </p:cNvSpPr>
              <p:nvPr/>
            </p:nvSpPr>
            <p:spPr bwMode="auto">
              <a:xfrm>
                <a:off x="3952676" y="3269310"/>
                <a:ext cx="90809" cy="532471"/>
              </a:xfrm>
              <a:custGeom>
                <a:avLst/>
                <a:gdLst>
                  <a:gd name="T0" fmla="*/ 53 w 53"/>
                  <a:gd name="T1" fmla="*/ 285 h 287"/>
                  <a:gd name="T2" fmla="*/ 53 w 53"/>
                  <a:gd name="T3" fmla="*/ 0 h 287"/>
                  <a:gd name="T4" fmla="*/ 0 w 53"/>
                  <a:gd name="T5" fmla="*/ 0 h 287"/>
                  <a:gd name="T6" fmla="*/ 0 w 53"/>
                  <a:gd name="T7" fmla="*/ 287 h 287"/>
                  <a:gd name="T8" fmla="*/ 53 w 53"/>
                  <a:gd name="T9" fmla="*/ 287 h 287"/>
                  <a:gd name="T10" fmla="*/ 53 w 53"/>
                  <a:gd name="T11" fmla="*/ 287 h 287"/>
                  <a:gd name="T12" fmla="*/ 53 w 53"/>
                  <a:gd name="T13" fmla="*/ 285 h 28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53"/>
                  <a:gd name="T22" fmla="*/ 0 h 287"/>
                  <a:gd name="T23" fmla="*/ 53 w 53"/>
                  <a:gd name="T24" fmla="*/ 287 h 28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53" h="287">
                    <a:moveTo>
                      <a:pt x="53" y="285"/>
                    </a:moveTo>
                    <a:lnTo>
                      <a:pt x="53" y="0"/>
                    </a:lnTo>
                    <a:lnTo>
                      <a:pt x="0" y="0"/>
                    </a:lnTo>
                    <a:lnTo>
                      <a:pt x="0" y="287"/>
                    </a:lnTo>
                    <a:lnTo>
                      <a:pt x="53" y="287"/>
                    </a:lnTo>
                    <a:lnTo>
                      <a:pt x="53" y="285"/>
                    </a:lnTo>
                    <a:close/>
                  </a:path>
                </a:pathLst>
              </a:custGeom>
              <a:solidFill>
                <a:srgbClr val="CCCC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74" name="Freeform 74"/>
              <p:cNvSpPr>
                <a:spLocks/>
              </p:cNvSpPr>
              <p:nvPr/>
            </p:nvSpPr>
            <p:spPr bwMode="auto">
              <a:xfrm>
                <a:off x="3952676" y="3269310"/>
                <a:ext cx="90809" cy="532471"/>
              </a:xfrm>
              <a:custGeom>
                <a:avLst/>
                <a:gdLst>
                  <a:gd name="T0" fmla="*/ 53 w 53"/>
                  <a:gd name="T1" fmla="*/ 285 h 287"/>
                  <a:gd name="T2" fmla="*/ 53 w 53"/>
                  <a:gd name="T3" fmla="*/ 0 h 287"/>
                  <a:gd name="T4" fmla="*/ 0 w 53"/>
                  <a:gd name="T5" fmla="*/ 0 h 287"/>
                  <a:gd name="T6" fmla="*/ 0 w 53"/>
                  <a:gd name="T7" fmla="*/ 287 h 287"/>
                  <a:gd name="T8" fmla="*/ 53 w 53"/>
                  <a:gd name="T9" fmla="*/ 287 h 287"/>
                  <a:gd name="T10" fmla="*/ 53 w 53"/>
                  <a:gd name="T11" fmla="*/ 287 h 28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53"/>
                  <a:gd name="T19" fmla="*/ 0 h 287"/>
                  <a:gd name="T20" fmla="*/ 53 w 53"/>
                  <a:gd name="T21" fmla="*/ 287 h 28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53" h="287">
                    <a:moveTo>
                      <a:pt x="53" y="285"/>
                    </a:moveTo>
                    <a:lnTo>
                      <a:pt x="53" y="0"/>
                    </a:lnTo>
                    <a:lnTo>
                      <a:pt x="0" y="0"/>
                    </a:lnTo>
                    <a:lnTo>
                      <a:pt x="0" y="287"/>
                    </a:lnTo>
                    <a:lnTo>
                      <a:pt x="53" y="287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75" name="Freeform 75"/>
              <p:cNvSpPr>
                <a:spLocks/>
              </p:cNvSpPr>
              <p:nvPr/>
            </p:nvSpPr>
            <p:spPr bwMode="auto">
              <a:xfrm>
                <a:off x="4536939" y="3269310"/>
                <a:ext cx="92523" cy="532471"/>
              </a:xfrm>
              <a:custGeom>
                <a:avLst/>
                <a:gdLst>
                  <a:gd name="T0" fmla="*/ 54 w 54"/>
                  <a:gd name="T1" fmla="*/ 285 h 287"/>
                  <a:gd name="T2" fmla="*/ 54 w 54"/>
                  <a:gd name="T3" fmla="*/ 0 h 287"/>
                  <a:gd name="T4" fmla="*/ 0 w 54"/>
                  <a:gd name="T5" fmla="*/ 0 h 287"/>
                  <a:gd name="T6" fmla="*/ 0 w 54"/>
                  <a:gd name="T7" fmla="*/ 287 h 287"/>
                  <a:gd name="T8" fmla="*/ 54 w 54"/>
                  <a:gd name="T9" fmla="*/ 287 h 287"/>
                  <a:gd name="T10" fmla="*/ 54 w 54"/>
                  <a:gd name="T11" fmla="*/ 287 h 287"/>
                  <a:gd name="T12" fmla="*/ 54 w 54"/>
                  <a:gd name="T13" fmla="*/ 285 h 28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54"/>
                  <a:gd name="T22" fmla="*/ 0 h 287"/>
                  <a:gd name="T23" fmla="*/ 54 w 54"/>
                  <a:gd name="T24" fmla="*/ 287 h 28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54" h="287">
                    <a:moveTo>
                      <a:pt x="54" y="285"/>
                    </a:moveTo>
                    <a:lnTo>
                      <a:pt x="54" y="0"/>
                    </a:lnTo>
                    <a:lnTo>
                      <a:pt x="0" y="0"/>
                    </a:lnTo>
                    <a:lnTo>
                      <a:pt x="0" y="287"/>
                    </a:lnTo>
                    <a:lnTo>
                      <a:pt x="54" y="287"/>
                    </a:lnTo>
                    <a:lnTo>
                      <a:pt x="54" y="285"/>
                    </a:lnTo>
                    <a:close/>
                  </a:path>
                </a:pathLst>
              </a:custGeom>
              <a:solidFill>
                <a:srgbClr val="CCCC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76" name="Freeform 76"/>
              <p:cNvSpPr>
                <a:spLocks/>
              </p:cNvSpPr>
              <p:nvPr/>
            </p:nvSpPr>
            <p:spPr bwMode="auto">
              <a:xfrm>
                <a:off x="4536939" y="3269310"/>
                <a:ext cx="92523" cy="532471"/>
              </a:xfrm>
              <a:custGeom>
                <a:avLst/>
                <a:gdLst>
                  <a:gd name="T0" fmla="*/ 54 w 54"/>
                  <a:gd name="T1" fmla="*/ 285 h 287"/>
                  <a:gd name="T2" fmla="*/ 54 w 54"/>
                  <a:gd name="T3" fmla="*/ 0 h 287"/>
                  <a:gd name="T4" fmla="*/ 0 w 54"/>
                  <a:gd name="T5" fmla="*/ 0 h 287"/>
                  <a:gd name="T6" fmla="*/ 0 w 54"/>
                  <a:gd name="T7" fmla="*/ 287 h 287"/>
                  <a:gd name="T8" fmla="*/ 54 w 54"/>
                  <a:gd name="T9" fmla="*/ 287 h 287"/>
                  <a:gd name="T10" fmla="*/ 54 w 54"/>
                  <a:gd name="T11" fmla="*/ 287 h 28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54"/>
                  <a:gd name="T19" fmla="*/ 0 h 287"/>
                  <a:gd name="T20" fmla="*/ 54 w 54"/>
                  <a:gd name="T21" fmla="*/ 287 h 28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54" h="287">
                    <a:moveTo>
                      <a:pt x="54" y="285"/>
                    </a:moveTo>
                    <a:lnTo>
                      <a:pt x="54" y="0"/>
                    </a:lnTo>
                    <a:lnTo>
                      <a:pt x="0" y="0"/>
                    </a:lnTo>
                    <a:lnTo>
                      <a:pt x="0" y="287"/>
                    </a:lnTo>
                    <a:lnTo>
                      <a:pt x="54" y="287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77" name="Freeform 77"/>
              <p:cNvSpPr>
                <a:spLocks/>
              </p:cNvSpPr>
              <p:nvPr/>
            </p:nvSpPr>
            <p:spPr bwMode="auto">
              <a:xfrm>
                <a:off x="5121201" y="3269310"/>
                <a:ext cx="92523" cy="532471"/>
              </a:xfrm>
              <a:custGeom>
                <a:avLst/>
                <a:gdLst>
                  <a:gd name="T0" fmla="*/ 54 w 54"/>
                  <a:gd name="T1" fmla="*/ 285 h 287"/>
                  <a:gd name="T2" fmla="*/ 54 w 54"/>
                  <a:gd name="T3" fmla="*/ 0 h 287"/>
                  <a:gd name="T4" fmla="*/ 0 w 54"/>
                  <a:gd name="T5" fmla="*/ 0 h 287"/>
                  <a:gd name="T6" fmla="*/ 0 w 54"/>
                  <a:gd name="T7" fmla="*/ 287 h 287"/>
                  <a:gd name="T8" fmla="*/ 54 w 54"/>
                  <a:gd name="T9" fmla="*/ 287 h 287"/>
                  <a:gd name="T10" fmla="*/ 54 w 54"/>
                  <a:gd name="T11" fmla="*/ 287 h 287"/>
                  <a:gd name="T12" fmla="*/ 54 w 54"/>
                  <a:gd name="T13" fmla="*/ 285 h 28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54"/>
                  <a:gd name="T22" fmla="*/ 0 h 287"/>
                  <a:gd name="T23" fmla="*/ 54 w 54"/>
                  <a:gd name="T24" fmla="*/ 287 h 28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54" h="287">
                    <a:moveTo>
                      <a:pt x="54" y="285"/>
                    </a:moveTo>
                    <a:lnTo>
                      <a:pt x="54" y="0"/>
                    </a:lnTo>
                    <a:lnTo>
                      <a:pt x="0" y="0"/>
                    </a:lnTo>
                    <a:lnTo>
                      <a:pt x="0" y="287"/>
                    </a:lnTo>
                    <a:lnTo>
                      <a:pt x="54" y="287"/>
                    </a:lnTo>
                    <a:lnTo>
                      <a:pt x="54" y="285"/>
                    </a:lnTo>
                    <a:close/>
                  </a:path>
                </a:pathLst>
              </a:custGeom>
              <a:solidFill>
                <a:srgbClr val="CCCC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78" name="Freeform 78"/>
              <p:cNvSpPr>
                <a:spLocks/>
              </p:cNvSpPr>
              <p:nvPr/>
            </p:nvSpPr>
            <p:spPr bwMode="auto">
              <a:xfrm>
                <a:off x="5121201" y="3269310"/>
                <a:ext cx="92523" cy="532471"/>
              </a:xfrm>
              <a:custGeom>
                <a:avLst/>
                <a:gdLst>
                  <a:gd name="T0" fmla="*/ 54 w 54"/>
                  <a:gd name="T1" fmla="*/ 285 h 287"/>
                  <a:gd name="T2" fmla="*/ 54 w 54"/>
                  <a:gd name="T3" fmla="*/ 0 h 287"/>
                  <a:gd name="T4" fmla="*/ 0 w 54"/>
                  <a:gd name="T5" fmla="*/ 0 h 287"/>
                  <a:gd name="T6" fmla="*/ 0 w 54"/>
                  <a:gd name="T7" fmla="*/ 287 h 287"/>
                  <a:gd name="T8" fmla="*/ 54 w 54"/>
                  <a:gd name="T9" fmla="*/ 287 h 287"/>
                  <a:gd name="T10" fmla="*/ 54 w 54"/>
                  <a:gd name="T11" fmla="*/ 287 h 28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54"/>
                  <a:gd name="T19" fmla="*/ 0 h 287"/>
                  <a:gd name="T20" fmla="*/ 54 w 54"/>
                  <a:gd name="T21" fmla="*/ 287 h 28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54" h="287">
                    <a:moveTo>
                      <a:pt x="54" y="285"/>
                    </a:moveTo>
                    <a:lnTo>
                      <a:pt x="54" y="0"/>
                    </a:lnTo>
                    <a:lnTo>
                      <a:pt x="0" y="0"/>
                    </a:lnTo>
                    <a:lnTo>
                      <a:pt x="0" y="287"/>
                    </a:lnTo>
                    <a:lnTo>
                      <a:pt x="54" y="287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79" name="Freeform 79"/>
              <p:cNvSpPr>
                <a:spLocks/>
              </p:cNvSpPr>
              <p:nvPr/>
            </p:nvSpPr>
            <p:spPr bwMode="auto">
              <a:xfrm>
                <a:off x="5705464" y="3269310"/>
                <a:ext cx="92523" cy="532471"/>
              </a:xfrm>
              <a:custGeom>
                <a:avLst/>
                <a:gdLst>
                  <a:gd name="T0" fmla="*/ 54 w 54"/>
                  <a:gd name="T1" fmla="*/ 285 h 287"/>
                  <a:gd name="T2" fmla="*/ 54 w 54"/>
                  <a:gd name="T3" fmla="*/ 0 h 287"/>
                  <a:gd name="T4" fmla="*/ 0 w 54"/>
                  <a:gd name="T5" fmla="*/ 0 h 287"/>
                  <a:gd name="T6" fmla="*/ 0 w 54"/>
                  <a:gd name="T7" fmla="*/ 287 h 287"/>
                  <a:gd name="T8" fmla="*/ 54 w 54"/>
                  <a:gd name="T9" fmla="*/ 287 h 287"/>
                  <a:gd name="T10" fmla="*/ 54 w 54"/>
                  <a:gd name="T11" fmla="*/ 287 h 287"/>
                  <a:gd name="T12" fmla="*/ 54 w 54"/>
                  <a:gd name="T13" fmla="*/ 285 h 28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54"/>
                  <a:gd name="T22" fmla="*/ 0 h 287"/>
                  <a:gd name="T23" fmla="*/ 54 w 54"/>
                  <a:gd name="T24" fmla="*/ 287 h 28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54" h="287">
                    <a:moveTo>
                      <a:pt x="54" y="285"/>
                    </a:moveTo>
                    <a:lnTo>
                      <a:pt x="54" y="0"/>
                    </a:lnTo>
                    <a:lnTo>
                      <a:pt x="0" y="0"/>
                    </a:lnTo>
                    <a:lnTo>
                      <a:pt x="0" y="287"/>
                    </a:lnTo>
                    <a:lnTo>
                      <a:pt x="54" y="287"/>
                    </a:lnTo>
                    <a:lnTo>
                      <a:pt x="54" y="285"/>
                    </a:lnTo>
                    <a:close/>
                  </a:path>
                </a:pathLst>
              </a:custGeom>
              <a:solidFill>
                <a:srgbClr val="CCCC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80" name="Freeform 80"/>
              <p:cNvSpPr>
                <a:spLocks/>
              </p:cNvSpPr>
              <p:nvPr/>
            </p:nvSpPr>
            <p:spPr bwMode="auto">
              <a:xfrm>
                <a:off x="4536939" y="3864862"/>
                <a:ext cx="92523" cy="534327"/>
              </a:xfrm>
              <a:custGeom>
                <a:avLst/>
                <a:gdLst>
                  <a:gd name="T0" fmla="*/ 54 w 54"/>
                  <a:gd name="T1" fmla="*/ 288 h 288"/>
                  <a:gd name="T2" fmla="*/ 54 w 54"/>
                  <a:gd name="T3" fmla="*/ 0 h 288"/>
                  <a:gd name="T4" fmla="*/ 0 w 54"/>
                  <a:gd name="T5" fmla="*/ 0 h 288"/>
                  <a:gd name="T6" fmla="*/ 0 w 54"/>
                  <a:gd name="T7" fmla="*/ 288 h 288"/>
                  <a:gd name="T8" fmla="*/ 54 w 54"/>
                  <a:gd name="T9" fmla="*/ 288 h 288"/>
                  <a:gd name="T10" fmla="*/ 54 w 54"/>
                  <a:gd name="T11" fmla="*/ 288 h 28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54"/>
                  <a:gd name="T19" fmla="*/ 0 h 288"/>
                  <a:gd name="T20" fmla="*/ 54 w 54"/>
                  <a:gd name="T21" fmla="*/ 288 h 28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54" h="288">
                    <a:moveTo>
                      <a:pt x="54" y="288"/>
                    </a:moveTo>
                    <a:lnTo>
                      <a:pt x="54" y="0"/>
                    </a:lnTo>
                    <a:lnTo>
                      <a:pt x="0" y="0"/>
                    </a:lnTo>
                    <a:lnTo>
                      <a:pt x="0" y="288"/>
                    </a:lnTo>
                    <a:lnTo>
                      <a:pt x="54" y="288"/>
                    </a:lnTo>
                    <a:close/>
                  </a:path>
                </a:pathLst>
              </a:custGeom>
              <a:solidFill>
                <a:srgbClr val="CCCC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81" name="Freeform 81"/>
              <p:cNvSpPr>
                <a:spLocks/>
              </p:cNvSpPr>
              <p:nvPr/>
            </p:nvSpPr>
            <p:spPr bwMode="auto">
              <a:xfrm>
                <a:off x="4536939" y="3864862"/>
                <a:ext cx="92523" cy="534327"/>
              </a:xfrm>
              <a:custGeom>
                <a:avLst/>
                <a:gdLst>
                  <a:gd name="T0" fmla="*/ 54 w 54"/>
                  <a:gd name="T1" fmla="*/ 288 h 288"/>
                  <a:gd name="T2" fmla="*/ 54 w 54"/>
                  <a:gd name="T3" fmla="*/ 0 h 288"/>
                  <a:gd name="T4" fmla="*/ 0 w 54"/>
                  <a:gd name="T5" fmla="*/ 0 h 288"/>
                  <a:gd name="T6" fmla="*/ 0 w 54"/>
                  <a:gd name="T7" fmla="*/ 288 h 288"/>
                  <a:gd name="T8" fmla="*/ 54 w 54"/>
                  <a:gd name="T9" fmla="*/ 288 h 288"/>
                  <a:gd name="T10" fmla="*/ 54 w 54"/>
                  <a:gd name="T11" fmla="*/ 288 h 28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54"/>
                  <a:gd name="T19" fmla="*/ 0 h 288"/>
                  <a:gd name="T20" fmla="*/ 54 w 54"/>
                  <a:gd name="T21" fmla="*/ 288 h 28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54" h="288">
                    <a:moveTo>
                      <a:pt x="54" y="288"/>
                    </a:moveTo>
                    <a:lnTo>
                      <a:pt x="54" y="0"/>
                    </a:lnTo>
                    <a:lnTo>
                      <a:pt x="0" y="0"/>
                    </a:lnTo>
                    <a:lnTo>
                      <a:pt x="0" y="288"/>
                    </a:lnTo>
                    <a:lnTo>
                      <a:pt x="54" y="288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82" name="Freeform 82"/>
              <p:cNvSpPr>
                <a:spLocks/>
              </p:cNvSpPr>
              <p:nvPr/>
            </p:nvSpPr>
            <p:spPr bwMode="auto">
              <a:xfrm>
                <a:off x="5121201" y="3864862"/>
                <a:ext cx="92523" cy="534327"/>
              </a:xfrm>
              <a:custGeom>
                <a:avLst/>
                <a:gdLst>
                  <a:gd name="T0" fmla="*/ 54 w 54"/>
                  <a:gd name="T1" fmla="*/ 288 h 288"/>
                  <a:gd name="T2" fmla="*/ 54 w 54"/>
                  <a:gd name="T3" fmla="*/ 0 h 288"/>
                  <a:gd name="T4" fmla="*/ 0 w 54"/>
                  <a:gd name="T5" fmla="*/ 0 h 288"/>
                  <a:gd name="T6" fmla="*/ 0 w 54"/>
                  <a:gd name="T7" fmla="*/ 288 h 288"/>
                  <a:gd name="T8" fmla="*/ 54 w 54"/>
                  <a:gd name="T9" fmla="*/ 288 h 288"/>
                  <a:gd name="T10" fmla="*/ 54 w 54"/>
                  <a:gd name="T11" fmla="*/ 288 h 28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54"/>
                  <a:gd name="T19" fmla="*/ 0 h 288"/>
                  <a:gd name="T20" fmla="*/ 54 w 54"/>
                  <a:gd name="T21" fmla="*/ 288 h 28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54" h="288">
                    <a:moveTo>
                      <a:pt x="54" y="288"/>
                    </a:moveTo>
                    <a:lnTo>
                      <a:pt x="54" y="0"/>
                    </a:lnTo>
                    <a:lnTo>
                      <a:pt x="0" y="0"/>
                    </a:lnTo>
                    <a:lnTo>
                      <a:pt x="0" y="288"/>
                    </a:lnTo>
                    <a:lnTo>
                      <a:pt x="54" y="288"/>
                    </a:lnTo>
                    <a:close/>
                  </a:path>
                </a:pathLst>
              </a:custGeom>
              <a:solidFill>
                <a:srgbClr val="CCCC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83" name="Freeform 83"/>
              <p:cNvSpPr>
                <a:spLocks/>
              </p:cNvSpPr>
              <p:nvPr/>
            </p:nvSpPr>
            <p:spPr bwMode="auto">
              <a:xfrm>
                <a:off x="5705464" y="3864862"/>
                <a:ext cx="92523" cy="534327"/>
              </a:xfrm>
              <a:custGeom>
                <a:avLst/>
                <a:gdLst>
                  <a:gd name="T0" fmla="*/ 54 w 54"/>
                  <a:gd name="T1" fmla="*/ 288 h 288"/>
                  <a:gd name="T2" fmla="*/ 54 w 54"/>
                  <a:gd name="T3" fmla="*/ 0 h 288"/>
                  <a:gd name="T4" fmla="*/ 0 w 54"/>
                  <a:gd name="T5" fmla="*/ 0 h 288"/>
                  <a:gd name="T6" fmla="*/ 0 w 54"/>
                  <a:gd name="T7" fmla="*/ 288 h 288"/>
                  <a:gd name="T8" fmla="*/ 54 w 54"/>
                  <a:gd name="T9" fmla="*/ 288 h 288"/>
                  <a:gd name="T10" fmla="*/ 54 w 54"/>
                  <a:gd name="T11" fmla="*/ 288 h 28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54"/>
                  <a:gd name="T19" fmla="*/ 0 h 288"/>
                  <a:gd name="T20" fmla="*/ 54 w 54"/>
                  <a:gd name="T21" fmla="*/ 288 h 28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54" h="288">
                    <a:moveTo>
                      <a:pt x="54" y="288"/>
                    </a:moveTo>
                    <a:lnTo>
                      <a:pt x="54" y="0"/>
                    </a:lnTo>
                    <a:lnTo>
                      <a:pt x="0" y="0"/>
                    </a:lnTo>
                    <a:lnTo>
                      <a:pt x="0" y="288"/>
                    </a:lnTo>
                    <a:lnTo>
                      <a:pt x="54" y="288"/>
                    </a:lnTo>
                    <a:close/>
                  </a:path>
                </a:pathLst>
              </a:custGeom>
              <a:solidFill>
                <a:srgbClr val="CCCC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84" name="Freeform 84"/>
              <p:cNvSpPr>
                <a:spLocks/>
              </p:cNvSpPr>
              <p:nvPr/>
            </p:nvSpPr>
            <p:spPr bwMode="auto">
              <a:xfrm>
                <a:off x="6291440" y="3864862"/>
                <a:ext cx="94236" cy="534327"/>
              </a:xfrm>
              <a:custGeom>
                <a:avLst/>
                <a:gdLst>
                  <a:gd name="T0" fmla="*/ 53 w 55"/>
                  <a:gd name="T1" fmla="*/ 288 h 288"/>
                  <a:gd name="T2" fmla="*/ 55 w 55"/>
                  <a:gd name="T3" fmla="*/ 0 h 288"/>
                  <a:gd name="T4" fmla="*/ 0 w 55"/>
                  <a:gd name="T5" fmla="*/ 0 h 288"/>
                  <a:gd name="T6" fmla="*/ 0 w 55"/>
                  <a:gd name="T7" fmla="*/ 288 h 288"/>
                  <a:gd name="T8" fmla="*/ 55 w 55"/>
                  <a:gd name="T9" fmla="*/ 288 h 288"/>
                  <a:gd name="T10" fmla="*/ 55 w 55"/>
                  <a:gd name="T11" fmla="*/ 288 h 288"/>
                  <a:gd name="T12" fmla="*/ 53 w 55"/>
                  <a:gd name="T13" fmla="*/ 288 h 28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55"/>
                  <a:gd name="T22" fmla="*/ 0 h 288"/>
                  <a:gd name="T23" fmla="*/ 55 w 55"/>
                  <a:gd name="T24" fmla="*/ 288 h 28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55" h="288">
                    <a:moveTo>
                      <a:pt x="53" y="288"/>
                    </a:moveTo>
                    <a:lnTo>
                      <a:pt x="55" y="0"/>
                    </a:lnTo>
                    <a:lnTo>
                      <a:pt x="0" y="0"/>
                    </a:lnTo>
                    <a:lnTo>
                      <a:pt x="0" y="288"/>
                    </a:lnTo>
                    <a:lnTo>
                      <a:pt x="55" y="288"/>
                    </a:lnTo>
                    <a:lnTo>
                      <a:pt x="53" y="288"/>
                    </a:lnTo>
                    <a:close/>
                  </a:path>
                </a:pathLst>
              </a:custGeom>
              <a:solidFill>
                <a:srgbClr val="CCCC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85" name="Freeform 85"/>
              <p:cNvSpPr>
                <a:spLocks/>
              </p:cNvSpPr>
              <p:nvPr/>
            </p:nvSpPr>
            <p:spPr bwMode="auto">
              <a:xfrm>
                <a:off x="6291440" y="3864862"/>
                <a:ext cx="94236" cy="534327"/>
              </a:xfrm>
              <a:custGeom>
                <a:avLst/>
                <a:gdLst>
                  <a:gd name="T0" fmla="*/ 53 w 55"/>
                  <a:gd name="T1" fmla="*/ 288 h 288"/>
                  <a:gd name="T2" fmla="*/ 55 w 55"/>
                  <a:gd name="T3" fmla="*/ 0 h 288"/>
                  <a:gd name="T4" fmla="*/ 0 w 55"/>
                  <a:gd name="T5" fmla="*/ 0 h 288"/>
                  <a:gd name="T6" fmla="*/ 0 w 55"/>
                  <a:gd name="T7" fmla="*/ 288 h 288"/>
                  <a:gd name="T8" fmla="*/ 55 w 55"/>
                  <a:gd name="T9" fmla="*/ 288 h 288"/>
                  <a:gd name="T10" fmla="*/ 55 w 55"/>
                  <a:gd name="T11" fmla="*/ 288 h 28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55"/>
                  <a:gd name="T19" fmla="*/ 0 h 288"/>
                  <a:gd name="T20" fmla="*/ 55 w 55"/>
                  <a:gd name="T21" fmla="*/ 288 h 28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55" h="288">
                    <a:moveTo>
                      <a:pt x="53" y="288"/>
                    </a:moveTo>
                    <a:lnTo>
                      <a:pt x="55" y="0"/>
                    </a:lnTo>
                    <a:lnTo>
                      <a:pt x="0" y="0"/>
                    </a:lnTo>
                    <a:lnTo>
                      <a:pt x="0" y="288"/>
                    </a:lnTo>
                    <a:lnTo>
                      <a:pt x="55" y="288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86" name="Freeform 86"/>
              <p:cNvSpPr>
                <a:spLocks/>
              </p:cNvSpPr>
              <p:nvPr/>
            </p:nvSpPr>
            <p:spPr bwMode="auto">
              <a:xfrm>
                <a:off x="7091588" y="4601416"/>
                <a:ext cx="125077" cy="265308"/>
              </a:xfrm>
              <a:custGeom>
                <a:avLst/>
                <a:gdLst>
                  <a:gd name="T0" fmla="*/ 71 w 73"/>
                  <a:gd name="T1" fmla="*/ 141 h 143"/>
                  <a:gd name="T2" fmla="*/ 0 w 73"/>
                  <a:gd name="T3" fmla="*/ 143 h 143"/>
                  <a:gd name="T4" fmla="*/ 0 w 73"/>
                  <a:gd name="T5" fmla="*/ 0 h 143"/>
                  <a:gd name="T6" fmla="*/ 73 w 73"/>
                  <a:gd name="T7" fmla="*/ 0 h 143"/>
                  <a:gd name="T8" fmla="*/ 71 w 73"/>
                  <a:gd name="T9" fmla="*/ 141 h 14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3"/>
                  <a:gd name="T16" fmla="*/ 0 h 143"/>
                  <a:gd name="T17" fmla="*/ 73 w 73"/>
                  <a:gd name="T18" fmla="*/ 143 h 14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3" h="143">
                    <a:moveTo>
                      <a:pt x="71" y="141"/>
                    </a:moveTo>
                    <a:lnTo>
                      <a:pt x="0" y="143"/>
                    </a:lnTo>
                    <a:lnTo>
                      <a:pt x="0" y="0"/>
                    </a:lnTo>
                    <a:lnTo>
                      <a:pt x="73" y="0"/>
                    </a:lnTo>
                    <a:lnTo>
                      <a:pt x="71" y="141"/>
                    </a:lnTo>
                    <a:close/>
                  </a:path>
                </a:pathLst>
              </a:custGeom>
              <a:solidFill>
                <a:srgbClr val="CCCC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87" name="Freeform 87"/>
              <p:cNvSpPr>
                <a:spLocks/>
              </p:cNvSpPr>
              <p:nvPr/>
            </p:nvSpPr>
            <p:spPr bwMode="auto">
              <a:xfrm>
                <a:off x="7091588" y="4601416"/>
                <a:ext cx="125077" cy="265308"/>
              </a:xfrm>
              <a:custGeom>
                <a:avLst/>
                <a:gdLst>
                  <a:gd name="T0" fmla="*/ 71 w 73"/>
                  <a:gd name="T1" fmla="*/ 141 h 143"/>
                  <a:gd name="T2" fmla="*/ 0 w 73"/>
                  <a:gd name="T3" fmla="*/ 143 h 143"/>
                  <a:gd name="T4" fmla="*/ 0 w 73"/>
                  <a:gd name="T5" fmla="*/ 0 h 143"/>
                  <a:gd name="T6" fmla="*/ 73 w 73"/>
                  <a:gd name="T7" fmla="*/ 0 h 14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3"/>
                  <a:gd name="T13" fmla="*/ 0 h 143"/>
                  <a:gd name="T14" fmla="*/ 73 w 73"/>
                  <a:gd name="T15" fmla="*/ 143 h 14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3" h="143">
                    <a:moveTo>
                      <a:pt x="71" y="141"/>
                    </a:moveTo>
                    <a:lnTo>
                      <a:pt x="0" y="143"/>
                    </a:lnTo>
                    <a:lnTo>
                      <a:pt x="0" y="0"/>
                    </a:lnTo>
                    <a:lnTo>
                      <a:pt x="73" y="0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88" name="Line 88"/>
              <p:cNvSpPr>
                <a:spLocks noChangeShapeType="1"/>
              </p:cNvSpPr>
              <p:nvPr/>
            </p:nvSpPr>
            <p:spPr bwMode="auto">
              <a:xfrm flipV="1">
                <a:off x="7338315" y="4593995"/>
                <a:ext cx="1713" cy="27644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89" name="Line 89"/>
              <p:cNvSpPr>
                <a:spLocks noChangeShapeType="1"/>
              </p:cNvSpPr>
              <p:nvPr/>
            </p:nvSpPr>
            <p:spPr bwMode="auto">
              <a:xfrm flipH="1">
                <a:off x="7209811" y="4597705"/>
                <a:ext cx="128503" cy="371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90" name="Line 90"/>
              <p:cNvSpPr>
                <a:spLocks noChangeShapeType="1"/>
              </p:cNvSpPr>
              <p:nvPr/>
            </p:nvSpPr>
            <p:spPr bwMode="auto">
              <a:xfrm flipH="1">
                <a:off x="7209811" y="4863013"/>
                <a:ext cx="128503" cy="371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91" name="Freeform 91"/>
              <p:cNvSpPr>
                <a:spLocks/>
              </p:cNvSpPr>
              <p:nvPr/>
            </p:nvSpPr>
            <p:spPr bwMode="auto">
              <a:xfrm>
                <a:off x="4874475" y="4601416"/>
                <a:ext cx="125077" cy="265308"/>
              </a:xfrm>
              <a:custGeom>
                <a:avLst/>
                <a:gdLst>
                  <a:gd name="T0" fmla="*/ 0 w 73"/>
                  <a:gd name="T1" fmla="*/ 141 h 143"/>
                  <a:gd name="T2" fmla="*/ 73 w 73"/>
                  <a:gd name="T3" fmla="*/ 143 h 143"/>
                  <a:gd name="T4" fmla="*/ 73 w 73"/>
                  <a:gd name="T5" fmla="*/ 0 h 143"/>
                  <a:gd name="T6" fmla="*/ 0 w 73"/>
                  <a:gd name="T7" fmla="*/ 0 h 143"/>
                  <a:gd name="T8" fmla="*/ 0 w 73"/>
                  <a:gd name="T9" fmla="*/ 141 h 14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3"/>
                  <a:gd name="T16" fmla="*/ 0 h 143"/>
                  <a:gd name="T17" fmla="*/ 73 w 73"/>
                  <a:gd name="T18" fmla="*/ 143 h 14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3" h="143">
                    <a:moveTo>
                      <a:pt x="0" y="141"/>
                    </a:moveTo>
                    <a:lnTo>
                      <a:pt x="73" y="143"/>
                    </a:lnTo>
                    <a:lnTo>
                      <a:pt x="73" y="0"/>
                    </a:lnTo>
                    <a:lnTo>
                      <a:pt x="0" y="0"/>
                    </a:lnTo>
                    <a:lnTo>
                      <a:pt x="0" y="141"/>
                    </a:lnTo>
                    <a:close/>
                  </a:path>
                </a:pathLst>
              </a:custGeom>
              <a:solidFill>
                <a:srgbClr val="CCCC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92" name="Freeform 92"/>
              <p:cNvSpPr>
                <a:spLocks/>
              </p:cNvSpPr>
              <p:nvPr/>
            </p:nvSpPr>
            <p:spPr bwMode="auto">
              <a:xfrm>
                <a:off x="4874475" y="4601416"/>
                <a:ext cx="125077" cy="265308"/>
              </a:xfrm>
              <a:custGeom>
                <a:avLst/>
                <a:gdLst>
                  <a:gd name="T0" fmla="*/ 0 w 73"/>
                  <a:gd name="T1" fmla="*/ 141 h 143"/>
                  <a:gd name="T2" fmla="*/ 73 w 73"/>
                  <a:gd name="T3" fmla="*/ 143 h 143"/>
                  <a:gd name="T4" fmla="*/ 73 w 73"/>
                  <a:gd name="T5" fmla="*/ 0 h 143"/>
                  <a:gd name="T6" fmla="*/ 0 w 73"/>
                  <a:gd name="T7" fmla="*/ 0 h 14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3"/>
                  <a:gd name="T13" fmla="*/ 0 h 143"/>
                  <a:gd name="T14" fmla="*/ 73 w 73"/>
                  <a:gd name="T15" fmla="*/ 143 h 14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3" h="143">
                    <a:moveTo>
                      <a:pt x="0" y="141"/>
                    </a:moveTo>
                    <a:lnTo>
                      <a:pt x="73" y="143"/>
                    </a:lnTo>
                    <a:lnTo>
                      <a:pt x="73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93" name="Freeform 93"/>
              <p:cNvSpPr>
                <a:spLocks/>
              </p:cNvSpPr>
              <p:nvPr/>
            </p:nvSpPr>
            <p:spPr bwMode="auto">
              <a:xfrm>
                <a:off x="4752825" y="4597705"/>
                <a:ext cx="121650" cy="269019"/>
              </a:xfrm>
              <a:custGeom>
                <a:avLst/>
                <a:gdLst>
                  <a:gd name="T0" fmla="*/ 71 w 71"/>
                  <a:gd name="T1" fmla="*/ 0 h 145"/>
                  <a:gd name="T2" fmla="*/ 0 w 71"/>
                  <a:gd name="T3" fmla="*/ 2 h 145"/>
                  <a:gd name="T4" fmla="*/ 0 w 71"/>
                  <a:gd name="T5" fmla="*/ 145 h 145"/>
                  <a:gd name="T6" fmla="*/ 71 w 71"/>
                  <a:gd name="T7" fmla="*/ 145 h 14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1"/>
                  <a:gd name="T13" fmla="*/ 0 h 145"/>
                  <a:gd name="T14" fmla="*/ 71 w 71"/>
                  <a:gd name="T15" fmla="*/ 145 h 14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1" h="145">
                    <a:moveTo>
                      <a:pt x="71" y="0"/>
                    </a:moveTo>
                    <a:lnTo>
                      <a:pt x="0" y="2"/>
                    </a:lnTo>
                    <a:lnTo>
                      <a:pt x="0" y="145"/>
                    </a:lnTo>
                    <a:lnTo>
                      <a:pt x="71" y="145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94" name="Rectangle 94"/>
              <p:cNvSpPr>
                <a:spLocks noChangeArrowheads="1"/>
              </p:cNvSpPr>
              <p:nvPr/>
            </p:nvSpPr>
            <p:spPr bwMode="auto">
              <a:xfrm>
                <a:off x="4816220" y="4651509"/>
                <a:ext cx="25648" cy="1231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I</a:t>
                </a:r>
                <a:endParaRPr lang="en-US" sz="1200" b="1">
                  <a:latin typeface="+mj-lt"/>
                </a:endParaRPr>
              </a:p>
            </p:txBody>
          </p:sp>
          <p:sp>
            <p:nvSpPr>
              <p:cNvPr id="95" name="Rectangle 95"/>
              <p:cNvSpPr>
                <a:spLocks noChangeArrowheads="1"/>
              </p:cNvSpPr>
              <p:nvPr/>
            </p:nvSpPr>
            <p:spPr bwMode="auto">
              <a:xfrm>
                <a:off x="4845347" y="4651509"/>
                <a:ext cx="88166" cy="1231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M</a:t>
                </a:r>
                <a:endParaRPr lang="en-US" sz="1200" b="1">
                  <a:latin typeface="+mj-lt"/>
                </a:endParaRPr>
              </a:p>
            </p:txBody>
          </p:sp>
          <p:sp>
            <p:nvSpPr>
              <p:cNvPr id="96" name="Freeform 96"/>
              <p:cNvSpPr>
                <a:spLocks/>
              </p:cNvSpPr>
              <p:nvPr/>
            </p:nvSpPr>
            <p:spPr bwMode="auto">
              <a:xfrm>
                <a:off x="5460451" y="4601416"/>
                <a:ext cx="123363" cy="265308"/>
              </a:xfrm>
              <a:custGeom>
                <a:avLst/>
                <a:gdLst>
                  <a:gd name="T0" fmla="*/ 0 w 72"/>
                  <a:gd name="T1" fmla="*/ 141 h 143"/>
                  <a:gd name="T2" fmla="*/ 72 w 72"/>
                  <a:gd name="T3" fmla="*/ 143 h 143"/>
                  <a:gd name="T4" fmla="*/ 72 w 72"/>
                  <a:gd name="T5" fmla="*/ 0 h 143"/>
                  <a:gd name="T6" fmla="*/ 0 w 72"/>
                  <a:gd name="T7" fmla="*/ 0 h 143"/>
                  <a:gd name="T8" fmla="*/ 0 w 72"/>
                  <a:gd name="T9" fmla="*/ 141 h 14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"/>
                  <a:gd name="T16" fmla="*/ 0 h 143"/>
                  <a:gd name="T17" fmla="*/ 72 w 72"/>
                  <a:gd name="T18" fmla="*/ 143 h 14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" h="143">
                    <a:moveTo>
                      <a:pt x="0" y="141"/>
                    </a:moveTo>
                    <a:lnTo>
                      <a:pt x="72" y="143"/>
                    </a:lnTo>
                    <a:lnTo>
                      <a:pt x="72" y="0"/>
                    </a:lnTo>
                    <a:lnTo>
                      <a:pt x="0" y="0"/>
                    </a:lnTo>
                    <a:lnTo>
                      <a:pt x="0" y="141"/>
                    </a:lnTo>
                    <a:close/>
                  </a:path>
                </a:pathLst>
              </a:custGeom>
              <a:solidFill>
                <a:srgbClr val="FBE2C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97" name="Freeform 97"/>
              <p:cNvSpPr>
                <a:spLocks/>
              </p:cNvSpPr>
              <p:nvPr/>
            </p:nvSpPr>
            <p:spPr bwMode="auto">
              <a:xfrm>
                <a:off x="5460451" y="4601416"/>
                <a:ext cx="123363" cy="265308"/>
              </a:xfrm>
              <a:custGeom>
                <a:avLst/>
                <a:gdLst>
                  <a:gd name="T0" fmla="*/ 0 w 72"/>
                  <a:gd name="T1" fmla="*/ 141 h 143"/>
                  <a:gd name="T2" fmla="*/ 72 w 72"/>
                  <a:gd name="T3" fmla="*/ 143 h 143"/>
                  <a:gd name="T4" fmla="*/ 72 w 72"/>
                  <a:gd name="T5" fmla="*/ 0 h 143"/>
                  <a:gd name="T6" fmla="*/ 0 w 72"/>
                  <a:gd name="T7" fmla="*/ 0 h 14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2"/>
                  <a:gd name="T13" fmla="*/ 0 h 143"/>
                  <a:gd name="T14" fmla="*/ 72 w 72"/>
                  <a:gd name="T15" fmla="*/ 143 h 14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2" h="143">
                    <a:moveTo>
                      <a:pt x="0" y="141"/>
                    </a:moveTo>
                    <a:lnTo>
                      <a:pt x="72" y="143"/>
                    </a:lnTo>
                    <a:lnTo>
                      <a:pt x="72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>
                <a:solidFill>
                  <a:srgbClr val="EB75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98" name="Line 98"/>
              <p:cNvSpPr>
                <a:spLocks noChangeShapeType="1"/>
              </p:cNvSpPr>
              <p:nvPr/>
            </p:nvSpPr>
            <p:spPr bwMode="auto">
              <a:xfrm flipV="1">
                <a:off x="5335374" y="4593995"/>
                <a:ext cx="3427" cy="27644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99" name="Line 99"/>
              <p:cNvSpPr>
                <a:spLocks noChangeShapeType="1"/>
              </p:cNvSpPr>
              <p:nvPr/>
            </p:nvSpPr>
            <p:spPr bwMode="auto">
              <a:xfrm>
                <a:off x="5335374" y="4597705"/>
                <a:ext cx="125077" cy="371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00" name="Line 100"/>
              <p:cNvSpPr>
                <a:spLocks noChangeShapeType="1"/>
              </p:cNvSpPr>
              <p:nvPr/>
            </p:nvSpPr>
            <p:spPr bwMode="auto">
              <a:xfrm>
                <a:off x="5335374" y="4863013"/>
                <a:ext cx="125077" cy="371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01" name="Rectangle 101"/>
              <p:cNvSpPr>
                <a:spLocks noChangeArrowheads="1"/>
              </p:cNvSpPr>
              <p:nvPr/>
            </p:nvSpPr>
            <p:spPr bwMode="auto">
              <a:xfrm>
                <a:off x="5371355" y="4686760"/>
                <a:ext cx="56106" cy="1231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>
                    <a:solidFill>
                      <a:srgbClr val="EB7500"/>
                    </a:solidFill>
                    <a:latin typeface="+mj-lt"/>
                  </a:rPr>
                  <a:t>R</a:t>
                </a:r>
                <a:endParaRPr lang="en-US" sz="1200" b="1">
                  <a:latin typeface="+mj-lt"/>
                </a:endParaRPr>
              </a:p>
            </p:txBody>
          </p:sp>
          <p:sp>
            <p:nvSpPr>
              <p:cNvPr id="102" name="Rectangle 102"/>
              <p:cNvSpPr>
                <a:spLocks noChangeArrowheads="1"/>
              </p:cNvSpPr>
              <p:nvPr/>
            </p:nvSpPr>
            <p:spPr bwMode="auto">
              <a:xfrm>
                <a:off x="5450170" y="4686760"/>
                <a:ext cx="51296" cy="1231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>
                    <a:solidFill>
                      <a:srgbClr val="EB7500"/>
                    </a:solidFill>
                    <a:latin typeface="+mj-lt"/>
                  </a:rPr>
                  <a:t>e</a:t>
                </a:r>
                <a:endParaRPr lang="en-US" sz="1200" b="1">
                  <a:latin typeface="+mj-lt"/>
                </a:endParaRPr>
              </a:p>
            </p:txBody>
          </p:sp>
          <p:sp>
            <p:nvSpPr>
              <p:cNvPr id="103" name="Rectangle 103"/>
              <p:cNvSpPr>
                <a:spLocks noChangeArrowheads="1"/>
              </p:cNvSpPr>
              <p:nvPr/>
            </p:nvSpPr>
            <p:spPr bwMode="auto">
              <a:xfrm>
                <a:off x="5508425" y="4686760"/>
                <a:ext cx="48090" cy="1231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>
                    <a:solidFill>
                      <a:srgbClr val="EB7500"/>
                    </a:solidFill>
                    <a:latin typeface="+mj-lt"/>
                  </a:rPr>
                  <a:t>g</a:t>
                </a:r>
                <a:endParaRPr lang="en-US" sz="1200" b="1">
                  <a:latin typeface="+mj-lt"/>
                </a:endParaRPr>
              </a:p>
            </p:txBody>
          </p:sp>
          <p:sp>
            <p:nvSpPr>
              <p:cNvPr id="104" name="Freeform 104"/>
              <p:cNvSpPr>
                <a:spLocks/>
              </p:cNvSpPr>
              <p:nvPr/>
            </p:nvSpPr>
            <p:spPr bwMode="auto">
              <a:xfrm>
                <a:off x="5952190" y="4465979"/>
                <a:ext cx="186758" cy="528761"/>
              </a:xfrm>
              <a:custGeom>
                <a:avLst/>
                <a:gdLst>
                  <a:gd name="T0" fmla="*/ 0 w 109"/>
                  <a:gd name="T1" fmla="*/ 0 h 285"/>
                  <a:gd name="T2" fmla="*/ 0 w 109"/>
                  <a:gd name="T3" fmla="*/ 117 h 285"/>
                  <a:gd name="T4" fmla="*/ 35 w 109"/>
                  <a:gd name="T5" fmla="*/ 144 h 285"/>
                  <a:gd name="T6" fmla="*/ 0 w 109"/>
                  <a:gd name="T7" fmla="*/ 170 h 285"/>
                  <a:gd name="T8" fmla="*/ 0 w 109"/>
                  <a:gd name="T9" fmla="*/ 285 h 285"/>
                  <a:gd name="T10" fmla="*/ 109 w 109"/>
                  <a:gd name="T11" fmla="*/ 199 h 285"/>
                  <a:gd name="T12" fmla="*/ 109 w 109"/>
                  <a:gd name="T13" fmla="*/ 88 h 285"/>
                  <a:gd name="T14" fmla="*/ 0 w 109"/>
                  <a:gd name="T15" fmla="*/ 2 h 285"/>
                  <a:gd name="T16" fmla="*/ 0 w 109"/>
                  <a:gd name="T17" fmla="*/ 2 h 285"/>
                  <a:gd name="T18" fmla="*/ 0 w 109"/>
                  <a:gd name="T19" fmla="*/ 0 h 28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09"/>
                  <a:gd name="T31" fmla="*/ 0 h 285"/>
                  <a:gd name="T32" fmla="*/ 109 w 109"/>
                  <a:gd name="T33" fmla="*/ 285 h 285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09" h="285">
                    <a:moveTo>
                      <a:pt x="0" y="0"/>
                    </a:moveTo>
                    <a:lnTo>
                      <a:pt x="0" y="117"/>
                    </a:lnTo>
                    <a:lnTo>
                      <a:pt x="35" y="144"/>
                    </a:lnTo>
                    <a:lnTo>
                      <a:pt x="0" y="170"/>
                    </a:lnTo>
                    <a:lnTo>
                      <a:pt x="0" y="285"/>
                    </a:lnTo>
                    <a:lnTo>
                      <a:pt x="109" y="199"/>
                    </a:lnTo>
                    <a:lnTo>
                      <a:pt x="109" y="88"/>
                    </a:lnTo>
                    <a:lnTo>
                      <a:pt x="0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CCC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05" name="Freeform 105"/>
              <p:cNvSpPr>
                <a:spLocks/>
              </p:cNvSpPr>
              <p:nvPr/>
            </p:nvSpPr>
            <p:spPr bwMode="auto">
              <a:xfrm>
                <a:off x="6507326" y="4601416"/>
                <a:ext cx="246727" cy="265308"/>
              </a:xfrm>
              <a:custGeom>
                <a:avLst/>
                <a:gdLst>
                  <a:gd name="T0" fmla="*/ 144 w 144"/>
                  <a:gd name="T1" fmla="*/ 141 h 143"/>
                  <a:gd name="T2" fmla="*/ 144 w 144"/>
                  <a:gd name="T3" fmla="*/ 0 h 143"/>
                  <a:gd name="T4" fmla="*/ 0 w 144"/>
                  <a:gd name="T5" fmla="*/ 0 h 143"/>
                  <a:gd name="T6" fmla="*/ 0 w 144"/>
                  <a:gd name="T7" fmla="*/ 143 h 143"/>
                  <a:gd name="T8" fmla="*/ 144 w 144"/>
                  <a:gd name="T9" fmla="*/ 143 h 143"/>
                  <a:gd name="T10" fmla="*/ 144 w 144"/>
                  <a:gd name="T11" fmla="*/ 143 h 14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4"/>
                  <a:gd name="T19" fmla="*/ 0 h 143"/>
                  <a:gd name="T20" fmla="*/ 144 w 144"/>
                  <a:gd name="T21" fmla="*/ 143 h 14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4" h="143">
                    <a:moveTo>
                      <a:pt x="144" y="141"/>
                    </a:moveTo>
                    <a:lnTo>
                      <a:pt x="144" y="0"/>
                    </a:lnTo>
                    <a:lnTo>
                      <a:pt x="0" y="0"/>
                    </a:lnTo>
                    <a:lnTo>
                      <a:pt x="0" y="143"/>
                    </a:lnTo>
                    <a:lnTo>
                      <a:pt x="144" y="143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06" name="Rectangle 106"/>
              <p:cNvSpPr>
                <a:spLocks noChangeArrowheads="1"/>
              </p:cNvSpPr>
              <p:nvPr/>
            </p:nvSpPr>
            <p:spPr bwMode="auto">
              <a:xfrm>
                <a:off x="6546733" y="4651509"/>
                <a:ext cx="62518" cy="1231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D</a:t>
                </a:r>
                <a:endParaRPr lang="en-US" sz="1200" b="1">
                  <a:latin typeface="+mj-lt"/>
                </a:endParaRPr>
              </a:p>
            </p:txBody>
          </p:sp>
          <p:sp>
            <p:nvSpPr>
              <p:cNvPr id="107" name="Rectangle 107"/>
              <p:cNvSpPr>
                <a:spLocks noChangeArrowheads="1"/>
              </p:cNvSpPr>
              <p:nvPr/>
            </p:nvSpPr>
            <p:spPr bwMode="auto">
              <a:xfrm>
                <a:off x="6628975" y="4651509"/>
                <a:ext cx="88166" cy="1231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M</a:t>
                </a:r>
                <a:endParaRPr lang="en-US" sz="1200" b="1">
                  <a:latin typeface="+mj-lt"/>
                </a:endParaRPr>
              </a:p>
            </p:txBody>
          </p:sp>
          <p:sp>
            <p:nvSpPr>
              <p:cNvPr id="108" name="Rectangle 108"/>
              <p:cNvSpPr>
                <a:spLocks noChangeArrowheads="1"/>
              </p:cNvSpPr>
              <p:nvPr/>
            </p:nvSpPr>
            <p:spPr bwMode="auto">
              <a:xfrm>
                <a:off x="7124142" y="4651509"/>
                <a:ext cx="56106" cy="1231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R</a:t>
                </a:r>
                <a:endParaRPr lang="en-US" sz="1200" b="1">
                  <a:latin typeface="+mj-lt"/>
                </a:endParaRPr>
              </a:p>
            </p:txBody>
          </p:sp>
          <p:sp>
            <p:nvSpPr>
              <p:cNvPr id="109" name="Rectangle 109"/>
              <p:cNvSpPr>
                <a:spLocks noChangeArrowheads="1"/>
              </p:cNvSpPr>
              <p:nvPr/>
            </p:nvSpPr>
            <p:spPr bwMode="auto">
              <a:xfrm>
                <a:off x="7202958" y="4651509"/>
                <a:ext cx="51296" cy="1231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e</a:t>
                </a:r>
                <a:endParaRPr lang="en-US" sz="1200" b="1">
                  <a:latin typeface="+mj-lt"/>
                </a:endParaRPr>
              </a:p>
            </p:txBody>
          </p:sp>
          <p:sp>
            <p:nvSpPr>
              <p:cNvPr id="110" name="Rectangle 110"/>
              <p:cNvSpPr>
                <a:spLocks noChangeArrowheads="1"/>
              </p:cNvSpPr>
              <p:nvPr/>
            </p:nvSpPr>
            <p:spPr bwMode="auto">
              <a:xfrm>
                <a:off x="7262926" y="4651509"/>
                <a:ext cx="48090" cy="1231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g</a:t>
                </a:r>
                <a:endParaRPr lang="en-US" sz="1200" b="1">
                  <a:latin typeface="+mj-lt"/>
                </a:endParaRPr>
              </a:p>
            </p:txBody>
          </p:sp>
          <p:sp>
            <p:nvSpPr>
              <p:cNvPr id="111" name="Line 111"/>
              <p:cNvSpPr>
                <a:spLocks noChangeShapeType="1"/>
              </p:cNvSpPr>
              <p:nvPr/>
            </p:nvSpPr>
            <p:spPr bwMode="auto">
              <a:xfrm>
                <a:off x="4996125" y="4733142"/>
                <a:ext cx="342676" cy="185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12" name="Line 112"/>
              <p:cNvSpPr>
                <a:spLocks noChangeShapeType="1"/>
              </p:cNvSpPr>
              <p:nvPr/>
            </p:nvSpPr>
            <p:spPr bwMode="auto">
              <a:xfrm>
                <a:off x="6135522" y="4733142"/>
                <a:ext cx="371803" cy="185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13" name="Line 113"/>
              <p:cNvSpPr>
                <a:spLocks noChangeShapeType="1"/>
              </p:cNvSpPr>
              <p:nvPr/>
            </p:nvSpPr>
            <p:spPr bwMode="auto">
              <a:xfrm>
                <a:off x="6750625" y="4733142"/>
                <a:ext cx="340963" cy="185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14" name="Freeform 114"/>
              <p:cNvSpPr>
                <a:spLocks/>
              </p:cNvSpPr>
              <p:nvPr/>
            </p:nvSpPr>
            <p:spPr bwMode="auto">
              <a:xfrm>
                <a:off x="5275406" y="4664496"/>
                <a:ext cx="63395" cy="68646"/>
              </a:xfrm>
              <a:custGeom>
                <a:avLst/>
                <a:gdLst>
                  <a:gd name="T0" fmla="*/ 0 w 37"/>
                  <a:gd name="T1" fmla="*/ 37 h 37"/>
                  <a:gd name="T2" fmla="*/ 0 w 37"/>
                  <a:gd name="T3" fmla="*/ 0 h 37"/>
                  <a:gd name="T4" fmla="*/ 37 w 37"/>
                  <a:gd name="T5" fmla="*/ 0 h 37"/>
                  <a:gd name="T6" fmla="*/ 0 60000 65536"/>
                  <a:gd name="T7" fmla="*/ 0 60000 65536"/>
                  <a:gd name="T8" fmla="*/ 0 60000 65536"/>
                  <a:gd name="T9" fmla="*/ 0 w 37"/>
                  <a:gd name="T10" fmla="*/ 0 h 37"/>
                  <a:gd name="T11" fmla="*/ 37 w 37"/>
                  <a:gd name="T12" fmla="*/ 37 h 3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7" h="37">
                    <a:moveTo>
                      <a:pt x="0" y="37"/>
                    </a:moveTo>
                    <a:lnTo>
                      <a:pt x="0" y="0"/>
                    </a:lnTo>
                    <a:lnTo>
                      <a:pt x="37" y="0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15" name="Freeform 115"/>
              <p:cNvSpPr>
                <a:spLocks/>
              </p:cNvSpPr>
              <p:nvPr/>
            </p:nvSpPr>
            <p:spPr bwMode="auto">
              <a:xfrm>
                <a:off x="6445644" y="4733142"/>
                <a:ext cx="433485" cy="198517"/>
              </a:xfrm>
              <a:custGeom>
                <a:avLst/>
                <a:gdLst>
                  <a:gd name="T0" fmla="*/ 0 w 253"/>
                  <a:gd name="T1" fmla="*/ 0 h 107"/>
                  <a:gd name="T2" fmla="*/ 0 w 253"/>
                  <a:gd name="T3" fmla="*/ 107 h 107"/>
                  <a:gd name="T4" fmla="*/ 216 w 253"/>
                  <a:gd name="T5" fmla="*/ 107 h 107"/>
                  <a:gd name="T6" fmla="*/ 216 w 253"/>
                  <a:gd name="T7" fmla="*/ 36 h 107"/>
                  <a:gd name="T8" fmla="*/ 253 w 253"/>
                  <a:gd name="T9" fmla="*/ 36 h 10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3"/>
                  <a:gd name="T16" fmla="*/ 0 h 107"/>
                  <a:gd name="T17" fmla="*/ 253 w 253"/>
                  <a:gd name="T18" fmla="*/ 107 h 10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3" h="107">
                    <a:moveTo>
                      <a:pt x="0" y="0"/>
                    </a:moveTo>
                    <a:lnTo>
                      <a:pt x="0" y="107"/>
                    </a:lnTo>
                    <a:lnTo>
                      <a:pt x="216" y="107"/>
                    </a:lnTo>
                    <a:lnTo>
                      <a:pt x="216" y="36"/>
                    </a:lnTo>
                    <a:lnTo>
                      <a:pt x="253" y="36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16" name="Freeform 116"/>
              <p:cNvSpPr>
                <a:spLocks/>
              </p:cNvSpPr>
              <p:nvPr/>
            </p:nvSpPr>
            <p:spPr bwMode="auto">
              <a:xfrm>
                <a:off x="5121201" y="4465979"/>
                <a:ext cx="92523" cy="532471"/>
              </a:xfrm>
              <a:custGeom>
                <a:avLst/>
                <a:gdLst>
                  <a:gd name="T0" fmla="*/ 54 w 54"/>
                  <a:gd name="T1" fmla="*/ 287 h 287"/>
                  <a:gd name="T2" fmla="*/ 54 w 54"/>
                  <a:gd name="T3" fmla="*/ 0 h 287"/>
                  <a:gd name="T4" fmla="*/ 0 w 54"/>
                  <a:gd name="T5" fmla="*/ 0 h 287"/>
                  <a:gd name="T6" fmla="*/ 0 w 54"/>
                  <a:gd name="T7" fmla="*/ 287 h 287"/>
                  <a:gd name="T8" fmla="*/ 54 w 54"/>
                  <a:gd name="T9" fmla="*/ 287 h 287"/>
                  <a:gd name="T10" fmla="*/ 54 w 54"/>
                  <a:gd name="T11" fmla="*/ 287 h 28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54"/>
                  <a:gd name="T19" fmla="*/ 0 h 287"/>
                  <a:gd name="T20" fmla="*/ 54 w 54"/>
                  <a:gd name="T21" fmla="*/ 287 h 28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54" h="287">
                    <a:moveTo>
                      <a:pt x="54" y="287"/>
                    </a:moveTo>
                    <a:lnTo>
                      <a:pt x="54" y="0"/>
                    </a:lnTo>
                    <a:lnTo>
                      <a:pt x="0" y="0"/>
                    </a:lnTo>
                    <a:lnTo>
                      <a:pt x="0" y="287"/>
                    </a:lnTo>
                    <a:lnTo>
                      <a:pt x="54" y="287"/>
                    </a:lnTo>
                    <a:close/>
                  </a:path>
                </a:pathLst>
              </a:custGeom>
              <a:solidFill>
                <a:srgbClr val="CCCC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17" name="Freeform 117"/>
              <p:cNvSpPr>
                <a:spLocks/>
              </p:cNvSpPr>
              <p:nvPr/>
            </p:nvSpPr>
            <p:spPr bwMode="auto">
              <a:xfrm>
                <a:off x="5121201" y="4465979"/>
                <a:ext cx="92523" cy="532471"/>
              </a:xfrm>
              <a:custGeom>
                <a:avLst/>
                <a:gdLst>
                  <a:gd name="T0" fmla="*/ 54 w 54"/>
                  <a:gd name="T1" fmla="*/ 287 h 287"/>
                  <a:gd name="T2" fmla="*/ 54 w 54"/>
                  <a:gd name="T3" fmla="*/ 0 h 287"/>
                  <a:gd name="T4" fmla="*/ 0 w 54"/>
                  <a:gd name="T5" fmla="*/ 0 h 287"/>
                  <a:gd name="T6" fmla="*/ 0 w 54"/>
                  <a:gd name="T7" fmla="*/ 287 h 287"/>
                  <a:gd name="T8" fmla="*/ 54 w 54"/>
                  <a:gd name="T9" fmla="*/ 287 h 287"/>
                  <a:gd name="T10" fmla="*/ 54 w 54"/>
                  <a:gd name="T11" fmla="*/ 287 h 28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54"/>
                  <a:gd name="T19" fmla="*/ 0 h 287"/>
                  <a:gd name="T20" fmla="*/ 54 w 54"/>
                  <a:gd name="T21" fmla="*/ 287 h 28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54" h="287">
                    <a:moveTo>
                      <a:pt x="54" y="287"/>
                    </a:moveTo>
                    <a:lnTo>
                      <a:pt x="54" y="0"/>
                    </a:lnTo>
                    <a:lnTo>
                      <a:pt x="0" y="0"/>
                    </a:lnTo>
                    <a:lnTo>
                      <a:pt x="0" y="287"/>
                    </a:lnTo>
                    <a:lnTo>
                      <a:pt x="54" y="287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18" name="Freeform 118"/>
              <p:cNvSpPr>
                <a:spLocks/>
              </p:cNvSpPr>
              <p:nvPr/>
            </p:nvSpPr>
            <p:spPr bwMode="auto">
              <a:xfrm>
                <a:off x="5705464" y="4465979"/>
                <a:ext cx="92523" cy="532471"/>
              </a:xfrm>
              <a:custGeom>
                <a:avLst/>
                <a:gdLst>
                  <a:gd name="T0" fmla="*/ 54 w 54"/>
                  <a:gd name="T1" fmla="*/ 287 h 287"/>
                  <a:gd name="T2" fmla="*/ 54 w 54"/>
                  <a:gd name="T3" fmla="*/ 0 h 287"/>
                  <a:gd name="T4" fmla="*/ 0 w 54"/>
                  <a:gd name="T5" fmla="*/ 0 h 287"/>
                  <a:gd name="T6" fmla="*/ 0 w 54"/>
                  <a:gd name="T7" fmla="*/ 287 h 287"/>
                  <a:gd name="T8" fmla="*/ 54 w 54"/>
                  <a:gd name="T9" fmla="*/ 287 h 287"/>
                  <a:gd name="T10" fmla="*/ 54 w 54"/>
                  <a:gd name="T11" fmla="*/ 287 h 28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54"/>
                  <a:gd name="T19" fmla="*/ 0 h 287"/>
                  <a:gd name="T20" fmla="*/ 54 w 54"/>
                  <a:gd name="T21" fmla="*/ 287 h 28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54" h="287">
                    <a:moveTo>
                      <a:pt x="54" y="287"/>
                    </a:moveTo>
                    <a:lnTo>
                      <a:pt x="54" y="0"/>
                    </a:lnTo>
                    <a:lnTo>
                      <a:pt x="0" y="0"/>
                    </a:lnTo>
                    <a:lnTo>
                      <a:pt x="0" y="287"/>
                    </a:lnTo>
                    <a:lnTo>
                      <a:pt x="54" y="287"/>
                    </a:lnTo>
                    <a:close/>
                  </a:path>
                </a:pathLst>
              </a:custGeom>
              <a:solidFill>
                <a:srgbClr val="CCCC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19" name="Freeform 119"/>
              <p:cNvSpPr>
                <a:spLocks/>
              </p:cNvSpPr>
              <p:nvPr/>
            </p:nvSpPr>
            <p:spPr bwMode="auto">
              <a:xfrm>
                <a:off x="5705464" y="4465979"/>
                <a:ext cx="92523" cy="532471"/>
              </a:xfrm>
              <a:custGeom>
                <a:avLst/>
                <a:gdLst>
                  <a:gd name="T0" fmla="*/ 54 w 54"/>
                  <a:gd name="T1" fmla="*/ 287 h 287"/>
                  <a:gd name="T2" fmla="*/ 54 w 54"/>
                  <a:gd name="T3" fmla="*/ 0 h 287"/>
                  <a:gd name="T4" fmla="*/ 0 w 54"/>
                  <a:gd name="T5" fmla="*/ 0 h 287"/>
                  <a:gd name="T6" fmla="*/ 0 w 54"/>
                  <a:gd name="T7" fmla="*/ 287 h 287"/>
                  <a:gd name="T8" fmla="*/ 54 w 54"/>
                  <a:gd name="T9" fmla="*/ 287 h 287"/>
                  <a:gd name="T10" fmla="*/ 54 w 54"/>
                  <a:gd name="T11" fmla="*/ 287 h 28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54"/>
                  <a:gd name="T19" fmla="*/ 0 h 287"/>
                  <a:gd name="T20" fmla="*/ 54 w 54"/>
                  <a:gd name="T21" fmla="*/ 287 h 28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54" h="287">
                    <a:moveTo>
                      <a:pt x="54" y="287"/>
                    </a:moveTo>
                    <a:lnTo>
                      <a:pt x="54" y="0"/>
                    </a:lnTo>
                    <a:lnTo>
                      <a:pt x="0" y="0"/>
                    </a:lnTo>
                    <a:lnTo>
                      <a:pt x="0" y="287"/>
                    </a:lnTo>
                    <a:lnTo>
                      <a:pt x="54" y="287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20" name="Freeform 120"/>
              <p:cNvSpPr>
                <a:spLocks/>
              </p:cNvSpPr>
              <p:nvPr/>
            </p:nvSpPr>
            <p:spPr bwMode="auto">
              <a:xfrm>
                <a:off x="6291440" y="4465979"/>
                <a:ext cx="94236" cy="532471"/>
              </a:xfrm>
              <a:custGeom>
                <a:avLst/>
                <a:gdLst>
                  <a:gd name="T0" fmla="*/ 53 w 55"/>
                  <a:gd name="T1" fmla="*/ 287 h 287"/>
                  <a:gd name="T2" fmla="*/ 55 w 55"/>
                  <a:gd name="T3" fmla="*/ 0 h 287"/>
                  <a:gd name="T4" fmla="*/ 0 w 55"/>
                  <a:gd name="T5" fmla="*/ 0 h 287"/>
                  <a:gd name="T6" fmla="*/ 0 w 55"/>
                  <a:gd name="T7" fmla="*/ 287 h 287"/>
                  <a:gd name="T8" fmla="*/ 55 w 55"/>
                  <a:gd name="T9" fmla="*/ 287 h 287"/>
                  <a:gd name="T10" fmla="*/ 55 w 55"/>
                  <a:gd name="T11" fmla="*/ 287 h 287"/>
                  <a:gd name="T12" fmla="*/ 53 w 55"/>
                  <a:gd name="T13" fmla="*/ 287 h 28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55"/>
                  <a:gd name="T22" fmla="*/ 0 h 287"/>
                  <a:gd name="T23" fmla="*/ 55 w 55"/>
                  <a:gd name="T24" fmla="*/ 287 h 28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55" h="287">
                    <a:moveTo>
                      <a:pt x="53" y="287"/>
                    </a:moveTo>
                    <a:lnTo>
                      <a:pt x="55" y="0"/>
                    </a:lnTo>
                    <a:lnTo>
                      <a:pt x="0" y="0"/>
                    </a:lnTo>
                    <a:lnTo>
                      <a:pt x="0" y="287"/>
                    </a:lnTo>
                    <a:lnTo>
                      <a:pt x="55" y="287"/>
                    </a:lnTo>
                    <a:lnTo>
                      <a:pt x="53" y="287"/>
                    </a:lnTo>
                    <a:close/>
                  </a:path>
                </a:pathLst>
              </a:custGeom>
              <a:solidFill>
                <a:srgbClr val="CCCC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21" name="Freeform 121"/>
              <p:cNvSpPr>
                <a:spLocks/>
              </p:cNvSpPr>
              <p:nvPr/>
            </p:nvSpPr>
            <p:spPr bwMode="auto">
              <a:xfrm>
                <a:off x="6879129" y="4465979"/>
                <a:ext cx="90809" cy="532471"/>
              </a:xfrm>
              <a:custGeom>
                <a:avLst/>
                <a:gdLst>
                  <a:gd name="T0" fmla="*/ 51 w 53"/>
                  <a:gd name="T1" fmla="*/ 287 h 287"/>
                  <a:gd name="T2" fmla="*/ 53 w 53"/>
                  <a:gd name="T3" fmla="*/ 0 h 287"/>
                  <a:gd name="T4" fmla="*/ 0 w 53"/>
                  <a:gd name="T5" fmla="*/ 0 h 287"/>
                  <a:gd name="T6" fmla="*/ 0 w 53"/>
                  <a:gd name="T7" fmla="*/ 287 h 287"/>
                  <a:gd name="T8" fmla="*/ 53 w 53"/>
                  <a:gd name="T9" fmla="*/ 287 h 287"/>
                  <a:gd name="T10" fmla="*/ 53 w 53"/>
                  <a:gd name="T11" fmla="*/ 287 h 287"/>
                  <a:gd name="T12" fmla="*/ 51 w 53"/>
                  <a:gd name="T13" fmla="*/ 287 h 28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53"/>
                  <a:gd name="T22" fmla="*/ 0 h 287"/>
                  <a:gd name="T23" fmla="*/ 53 w 53"/>
                  <a:gd name="T24" fmla="*/ 287 h 28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53" h="287">
                    <a:moveTo>
                      <a:pt x="51" y="287"/>
                    </a:moveTo>
                    <a:lnTo>
                      <a:pt x="53" y="0"/>
                    </a:lnTo>
                    <a:lnTo>
                      <a:pt x="0" y="0"/>
                    </a:lnTo>
                    <a:lnTo>
                      <a:pt x="0" y="287"/>
                    </a:lnTo>
                    <a:lnTo>
                      <a:pt x="53" y="287"/>
                    </a:lnTo>
                    <a:lnTo>
                      <a:pt x="51" y="287"/>
                    </a:lnTo>
                    <a:close/>
                  </a:path>
                </a:pathLst>
              </a:custGeom>
              <a:solidFill>
                <a:srgbClr val="CCCC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22" name="Freeform 122"/>
              <p:cNvSpPr>
                <a:spLocks/>
              </p:cNvSpPr>
              <p:nvPr/>
            </p:nvSpPr>
            <p:spPr bwMode="auto">
              <a:xfrm>
                <a:off x="6879129" y="4465979"/>
                <a:ext cx="90809" cy="532471"/>
              </a:xfrm>
              <a:custGeom>
                <a:avLst/>
                <a:gdLst>
                  <a:gd name="T0" fmla="*/ 51 w 53"/>
                  <a:gd name="T1" fmla="*/ 287 h 287"/>
                  <a:gd name="T2" fmla="*/ 53 w 53"/>
                  <a:gd name="T3" fmla="*/ 0 h 287"/>
                  <a:gd name="T4" fmla="*/ 0 w 53"/>
                  <a:gd name="T5" fmla="*/ 0 h 287"/>
                  <a:gd name="T6" fmla="*/ 0 w 53"/>
                  <a:gd name="T7" fmla="*/ 287 h 287"/>
                  <a:gd name="T8" fmla="*/ 53 w 53"/>
                  <a:gd name="T9" fmla="*/ 287 h 287"/>
                  <a:gd name="T10" fmla="*/ 53 w 53"/>
                  <a:gd name="T11" fmla="*/ 287 h 28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53"/>
                  <a:gd name="T19" fmla="*/ 0 h 287"/>
                  <a:gd name="T20" fmla="*/ 53 w 53"/>
                  <a:gd name="T21" fmla="*/ 287 h 28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53" h="287">
                    <a:moveTo>
                      <a:pt x="51" y="287"/>
                    </a:moveTo>
                    <a:lnTo>
                      <a:pt x="53" y="0"/>
                    </a:lnTo>
                    <a:lnTo>
                      <a:pt x="0" y="0"/>
                    </a:lnTo>
                    <a:lnTo>
                      <a:pt x="0" y="287"/>
                    </a:lnTo>
                    <a:lnTo>
                      <a:pt x="53" y="287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23" name="Freeform 123"/>
              <p:cNvSpPr>
                <a:spLocks/>
              </p:cNvSpPr>
              <p:nvPr/>
            </p:nvSpPr>
            <p:spPr bwMode="auto">
              <a:xfrm>
                <a:off x="7675850" y="5196968"/>
                <a:ext cx="125077" cy="267163"/>
              </a:xfrm>
              <a:custGeom>
                <a:avLst/>
                <a:gdLst>
                  <a:gd name="T0" fmla="*/ 71 w 73"/>
                  <a:gd name="T1" fmla="*/ 144 h 144"/>
                  <a:gd name="T2" fmla="*/ 0 w 73"/>
                  <a:gd name="T3" fmla="*/ 144 h 144"/>
                  <a:gd name="T4" fmla="*/ 0 w 73"/>
                  <a:gd name="T5" fmla="*/ 0 h 144"/>
                  <a:gd name="T6" fmla="*/ 73 w 73"/>
                  <a:gd name="T7" fmla="*/ 0 h 144"/>
                  <a:gd name="T8" fmla="*/ 71 w 73"/>
                  <a:gd name="T9" fmla="*/ 144 h 14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3"/>
                  <a:gd name="T16" fmla="*/ 0 h 144"/>
                  <a:gd name="T17" fmla="*/ 73 w 73"/>
                  <a:gd name="T18" fmla="*/ 144 h 14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3" h="144">
                    <a:moveTo>
                      <a:pt x="71" y="144"/>
                    </a:moveTo>
                    <a:lnTo>
                      <a:pt x="0" y="144"/>
                    </a:lnTo>
                    <a:lnTo>
                      <a:pt x="0" y="0"/>
                    </a:lnTo>
                    <a:lnTo>
                      <a:pt x="73" y="0"/>
                    </a:lnTo>
                    <a:lnTo>
                      <a:pt x="71" y="144"/>
                    </a:lnTo>
                    <a:close/>
                  </a:path>
                </a:pathLst>
              </a:custGeom>
              <a:solidFill>
                <a:srgbClr val="CCCC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24" name="Freeform 124"/>
              <p:cNvSpPr>
                <a:spLocks/>
              </p:cNvSpPr>
              <p:nvPr/>
            </p:nvSpPr>
            <p:spPr bwMode="auto">
              <a:xfrm>
                <a:off x="7675850" y="5196968"/>
                <a:ext cx="125077" cy="267163"/>
              </a:xfrm>
              <a:custGeom>
                <a:avLst/>
                <a:gdLst>
                  <a:gd name="T0" fmla="*/ 71 w 73"/>
                  <a:gd name="T1" fmla="*/ 144 h 144"/>
                  <a:gd name="T2" fmla="*/ 0 w 73"/>
                  <a:gd name="T3" fmla="*/ 144 h 144"/>
                  <a:gd name="T4" fmla="*/ 0 w 73"/>
                  <a:gd name="T5" fmla="*/ 0 h 144"/>
                  <a:gd name="T6" fmla="*/ 73 w 73"/>
                  <a:gd name="T7" fmla="*/ 0 h 14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3"/>
                  <a:gd name="T13" fmla="*/ 0 h 144"/>
                  <a:gd name="T14" fmla="*/ 73 w 73"/>
                  <a:gd name="T15" fmla="*/ 144 h 14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3" h="144">
                    <a:moveTo>
                      <a:pt x="71" y="144"/>
                    </a:moveTo>
                    <a:lnTo>
                      <a:pt x="0" y="144"/>
                    </a:lnTo>
                    <a:lnTo>
                      <a:pt x="0" y="0"/>
                    </a:lnTo>
                    <a:lnTo>
                      <a:pt x="73" y="0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25" name="Line 125"/>
              <p:cNvSpPr>
                <a:spLocks noChangeShapeType="1"/>
              </p:cNvSpPr>
              <p:nvPr/>
            </p:nvSpPr>
            <p:spPr bwMode="auto">
              <a:xfrm flipV="1">
                <a:off x="7922577" y="5193257"/>
                <a:ext cx="1713" cy="27829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26" name="Line 126"/>
              <p:cNvSpPr>
                <a:spLocks noChangeShapeType="1"/>
              </p:cNvSpPr>
              <p:nvPr/>
            </p:nvSpPr>
            <p:spPr bwMode="auto">
              <a:xfrm flipH="1">
                <a:off x="7794074" y="5196968"/>
                <a:ext cx="128503" cy="185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27" name="Line 127"/>
              <p:cNvSpPr>
                <a:spLocks noChangeShapeType="1"/>
              </p:cNvSpPr>
              <p:nvPr/>
            </p:nvSpPr>
            <p:spPr bwMode="auto">
              <a:xfrm flipH="1">
                <a:off x="7794074" y="5464131"/>
                <a:ext cx="128503" cy="185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28" name="Rectangle 128"/>
              <p:cNvSpPr>
                <a:spLocks noChangeArrowheads="1"/>
              </p:cNvSpPr>
              <p:nvPr/>
            </p:nvSpPr>
            <p:spPr bwMode="auto">
              <a:xfrm>
                <a:off x="5460451" y="5196968"/>
                <a:ext cx="123363" cy="267163"/>
              </a:xfrm>
              <a:prstGeom prst="rect">
                <a:avLst/>
              </a:prstGeom>
              <a:solidFill>
                <a:srgbClr val="CCCCCC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29" name="Rectangle 129"/>
              <p:cNvSpPr>
                <a:spLocks noChangeArrowheads="1"/>
              </p:cNvSpPr>
              <p:nvPr/>
            </p:nvSpPr>
            <p:spPr bwMode="auto">
              <a:xfrm>
                <a:off x="5460451" y="5196968"/>
                <a:ext cx="123363" cy="267163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30" name="Rectangle 130"/>
              <p:cNvSpPr>
                <a:spLocks noChangeArrowheads="1"/>
              </p:cNvSpPr>
              <p:nvPr/>
            </p:nvSpPr>
            <p:spPr bwMode="auto">
              <a:xfrm>
                <a:off x="5338801" y="5196968"/>
                <a:ext cx="121650" cy="267163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31" name="Rectangle 131"/>
              <p:cNvSpPr>
                <a:spLocks noChangeArrowheads="1"/>
              </p:cNvSpPr>
              <p:nvPr/>
            </p:nvSpPr>
            <p:spPr bwMode="auto">
              <a:xfrm>
                <a:off x="5400482" y="5250771"/>
                <a:ext cx="25648" cy="1231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I</a:t>
                </a:r>
                <a:endParaRPr lang="en-US" sz="1200" b="1">
                  <a:latin typeface="+mj-lt"/>
                </a:endParaRPr>
              </a:p>
            </p:txBody>
          </p:sp>
          <p:sp>
            <p:nvSpPr>
              <p:cNvPr id="132" name="Rectangle 132"/>
              <p:cNvSpPr>
                <a:spLocks noChangeArrowheads="1"/>
              </p:cNvSpPr>
              <p:nvPr/>
            </p:nvSpPr>
            <p:spPr bwMode="auto">
              <a:xfrm>
                <a:off x="5429610" y="5250771"/>
                <a:ext cx="88166" cy="1231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M</a:t>
                </a:r>
                <a:endParaRPr lang="en-US" sz="1200" b="1">
                  <a:latin typeface="+mj-lt"/>
                </a:endParaRPr>
              </a:p>
            </p:txBody>
          </p:sp>
          <p:sp>
            <p:nvSpPr>
              <p:cNvPr id="133" name="Rectangle 133"/>
              <p:cNvSpPr>
                <a:spLocks noChangeArrowheads="1"/>
              </p:cNvSpPr>
              <p:nvPr/>
            </p:nvSpPr>
            <p:spPr bwMode="auto">
              <a:xfrm>
                <a:off x="6044713" y="5196968"/>
                <a:ext cx="125077" cy="267163"/>
              </a:xfrm>
              <a:prstGeom prst="rect">
                <a:avLst/>
              </a:prstGeom>
              <a:solidFill>
                <a:srgbClr val="FBE2C9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34" name="Rectangle 134"/>
              <p:cNvSpPr>
                <a:spLocks noChangeArrowheads="1"/>
              </p:cNvSpPr>
              <p:nvPr/>
            </p:nvSpPr>
            <p:spPr bwMode="auto">
              <a:xfrm>
                <a:off x="6044713" y="5196968"/>
                <a:ext cx="125077" cy="267163"/>
              </a:xfrm>
              <a:prstGeom prst="rect">
                <a:avLst/>
              </a:prstGeom>
              <a:noFill/>
              <a:ln w="9525">
                <a:solidFill>
                  <a:srgbClr val="EB75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35" name="Line 135"/>
              <p:cNvSpPr>
                <a:spLocks noChangeShapeType="1"/>
              </p:cNvSpPr>
              <p:nvPr/>
            </p:nvSpPr>
            <p:spPr bwMode="auto">
              <a:xfrm flipV="1">
                <a:off x="5923063" y="5193257"/>
                <a:ext cx="1713" cy="27829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36" name="Line 136"/>
              <p:cNvSpPr>
                <a:spLocks noChangeShapeType="1"/>
              </p:cNvSpPr>
              <p:nvPr/>
            </p:nvSpPr>
            <p:spPr bwMode="auto">
              <a:xfrm>
                <a:off x="5923063" y="5196968"/>
                <a:ext cx="121650" cy="185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37" name="Line 137"/>
              <p:cNvSpPr>
                <a:spLocks noChangeShapeType="1"/>
              </p:cNvSpPr>
              <p:nvPr/>
            </p:nvSpPr>
            <p:spPr bwMode="auto">
              <a:xfrm>
                <a:off x="5923063" y="5464131"/>
                <a:ext cx="121650" cy="185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38" name="Freeform 138"/>
              <p:cNvSpPr>
                <a:spLocks/>
              </p:cNvSpPr>
              <p:nvPr/>
            </p:nvSpPr>
            <p:spPr bwMode="auto">
              <a:xfrm>
                <a:off x="6536453" y="5067096"/>
                <a:ext cx="188472" cy="528761"/>
              </a:xfrm>
              <a:custGeom>
                <a:avLst/>
                <a:gdLst>
                  <a:gd name="T0" fmla="*/ 0 w 110"/>
                  <a:gd name="T1" fmla="*/ 0 h 285"/>
                  <a:gd name="T2" fmla="*/ 0 w 110"/>
                  <a:gd name="T3" fmla="*/ 116 h 285"/>
                  <a:gd name="T4" fmla="*/ 35 w 110"/>
                  <a:gd name="T5" fmla="*/ 143 h 285"/>
                  <a:gd name="T6" fmla="*/ 0 w 110"/>
                  <a:gd name="T7" fmla="*/ 170 h 285"/>
                  <a:gd name="T8" fmla="*/ 0 w 110"/>
                  <a:gd name="T9" fmla="*/ 285 h 285"/>
                  <a:gd name="T10" fmla="*/ 110 w 110"/>
                  <a:gd name="T11" fmla="*/ 199 h 285"/>
                  <a:gd name="T12" fmla="*/ 110 w 110"/>
                  <a:gd name="T13" fmla="*/ 88 h 285"/>
                  <a:gd name="T14" fmla="*/ 0 w 110"/>
                  <a:gd name="T15" fmla="*/ 0 h 285"/>
                  <a:gd name="T16" fmla="*/ 0 w 110"/>
                  <a:gd name="T17" fmla="*/ 0 h 285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10"/>
                  <a:gd name="T28" fmla="*/ 0 h 285"/>
                  <a:gd name="T29" fmla="*/ 110 w 110"/>
                  <a:gd name="T30" fmla="*/ 285 h 285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10" h="285">
                    <a:moveTo>
                      <a:pt x="0" y="0"/>
                    </a:moveTo>
                    <a:lnTo>
                      <a:pt x="0" y="116"/>
                    </a:lnTo>
                    <a:lnTo>
                      <a:pt x="35" y="143"/>
                    </a:lnTo>
                    <a:lnTo>
                      <a:pt x="0" y="170"/>
                    </a:lnTo>
                    <a:lnTo>
                      <a:pt x="0" y="285"/>
                    </a:lnTo>
                    <a:lnTo>
                      <a:pt x="110" y="199"/>
                    </a:lnTo>
                    <a:lnTo>
                      <a:pt x="110" y="8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CCC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39" name="Rectangle 139"/>
              <p:cNvSpPr>
                <a:spLocks noChangeArrowheads="1"/>
              </p:cNvSpPr>
              <p:nvPr/>
            </p:nvSpPr>
            <p:spPr bwMode="auto">
              <a:xfrm>
                <a:off x="7134422" y="5250771"/>
                <a:ext cx="62518" cy="1231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D</a:t>
                </a:r>
                <a:endParaRPr lang="en-US" sz="1200" b="1">
                  <a:latin typeface="+mj-lt"/>
                </a:endParaRPr>
              </a:p>
            </p:txBody>
          </p:sp>
          <p:sp>
            <p:nvSpPr>
              <p:cNvPr id="140" name="Rectangle 140"/>
              <p:cNvSpPr>
                <a:spLocks noChangeArrowheads="1"/>
              </p:cNvSpPr>
              <p:nvPr/>
            </p:nvSpPr>
            <p:spPr bwMode="auto">
              <a:xfrm>
                <a:off x="7213238" y="5250771"/>
                <a:ext cx="88166" cy="1231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M</a:t>
                </a:r>
                <a:endParaRPr lang="en-US" sz="1200" b="1">
                  <a:latin typeface="+mj-lt"/>
                </a:endParaRPr>
              </a:p>
            </p:txBody>
          </p:sp>
          <p:sp>
            <p:nvSpPr>
              <p:cNvPr id="141" name="Rectangle 141"/>
              <p:cNvSpPr>
                <a:spLocks noChangeArrowheads="1"/>
              </p:cNvSpPr>
              <p:nvPr/>
            </p:nvSpPr>
            <p:spPr bwMode="auto">
              <a:xfrm>
                <a:off x="7710118" y="5250771"/>
                <a:ext cx="56106" cy="1231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 dirty="0">
                    <a:solidFill>
                      <a:srgbClr val="000000"/>
                    </a:solidFill>
                    <a:latin typeface="+mj-lt"/>
                  </a:rPr>
                  <a:t>R</a:t>
                </a:r>
                <a:endParaRPr lang="en-US" sz="1200" b="1" dirty="0">
                  <a:latin typeface="+mj-lt"/>
                </a:endParaRPr>
              </a:p>
            </p:txBody>
          </p:sp>
          <p:sp>
            <p:nvSpPr>
              <p:cNvPr id="142" name="Rectangle 142"/>
              <p:cNvSpPr>
                <a:spLocks noChangeArrowheads="1"/>
              </p:cNvSpPr>
              <p:nvPr/>
            </p:nvSpPr>
            <p:spPr bwMode="auto">
              <a:xfrm>
                <a:off x="7788934" y="5250771"/>
                <a:ext cx="51296" cy="1231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e</a:t>
                </a:r>
                <a:endParaRPr lang="en-US" sz="1200" b="1">
                  <a:latin typeface="+mj-lt"/>
                </a:endParaRPr>
              </a:p>
            </p:txBody>
          </p:sp>
          <p:sp>
            <p:nvSpPr>
              <p:cNvPr id="143" name="Rectangle 143"/>
              <p:cNvSpPr>
                <a:spLocks noChangeArrowheads="1"/>
              </p:cNvSpPr>
              <p:nvPr/>
            </p:nvSpPr>
            <p:spPr bwMode="auto">
              <a:xfrm>
                <a:off x="7848902" y="5250771"/>
                <a:ext cx="48090" cy="1231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g</a:t>
                </a:r>
                <a:endParaRPr lang="en-US" sz="1200" b="1">
                  <a:latin typeface="+mj-lt"/>
                </a:endParaRPr>
              </a:p>
            </p:txBody>
          </p:sp>
          <p:sp>
            <p:nvSpPr>
              <p:cNvPr id="144" name="Line 144"/>
              <p:cNvSpPr>
                <a:spLocks noChangeShapeType="1"/>
              </p:cNvSpPr>
              <p:nvPr/>
            </p:nvSpPr>
            <p:spPr bwMode="auto">
              <a:xfrm>
                <a:off x="5580387" y="5332405"/>
                <a:ext cx="342676" cy="185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45" name="Line 145"/>
              <p:cNvSpPr>
                <a:spLocks noChangeShapeType="1"/>
              </p:cNvSpPr>
              <p:nvPr/>
            </p:nvSpPr>
            <p:spPr bwMode="auto">
              <a:xfrm>
                <a:off x="6721498" y="5332405"/>
                <a:ext cx="370090" cy="185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46" name="Line 146"/>
              <p:cNvSpPr>
                <a:spLocks noChangeShapeType="1"/>
              </p:cNvSpPr>
              <p:nvPr/>
            </p:nvSpPr>
            <p:spPr bwMode="auto">
              <a:xfrm>
                <a:off x="7338315" y="5332405"/>
                <a:ext cx="337536" cy="185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47" name="Freeform 147"/>
              <p:cNvSpPr>
                <a:spLocks/>
              </p:cNvSpPr>
              <p:nvPr/>
            </p:nvSpPr>
            <p:spPr bwMode="auto">
              <a:xfrm>
                <a:off x="5859668" y="5265614"/>
                <a:ext cx="63395" cy="66791"/>
              </a:xfrm>
              <a:custGeom>
                <a:avLst/>
                <a:gdLst>
                  <a:gd name="T0" fmla="*/ 0 w 37"/>
                  <a:gd name="T1" fmla="*/ 36 h 36"/>
                  <a:gd name="T2" fmla="*/ 0 w 37"/>
                  <a:gd name="T3" fmla="*/ 0 h 36"/>
                  <a:gd name="T4" fmla="*/ 37 w 37"/>
                  <a:gd name="T5" fmla="*/ 0 h 36"/>
                  <a:gd name="T6" fmla="*/ 0 60000 65536"/>
                  <a:gd name="T7" fmla="*/ 0 60000 65536"/>
                  <a:gd name="T8" fmla="*/ 0 60000 65536"/>
                  <a:gd name="T9" fmla="*/ 0 w 37"/>
                  <a:gd name="T10" fmla="*/ 0 h 36"/>
                  <a:gd name="T11" fmla="*/ 37 w 37"/>
                  <a:gd name="T12" fmla="*/ 36 h 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7" h="36">
                    <a:moveTo>
                      <a:pt x="0" y="36"/>
                    </a:moveTo>
                    <a:lnTo>
                      <a:pt x="0" y="0"/>
                    </a:lnTo>
                    <a:lnTo>
                      <a:pt x="37" y="0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48" name="Freeform 148"/>
              <p:cNvSpPr>
                <a:spLocks/>
              </p:cNvSpPr>
              <p:nvPr/>
            </p:nvSpPr>
            <p:spPr bwMode="auto">
              <a:xfrm>
                <a:off x="7029906" y="5332405"/>
                <a:ext cx="433485" cy="198517"/>
              </a:xfrm>
              <a:custGeom>
                <a:avLst/>
                <a:gdLst>
                  <a:gd name="T0" fmla="*/ 0 w 253"/>
                  <a:gd name="T1" fmla="*/ 0 h 107"/>
                  <a:gd name="T2" fmla="*/ 0 w 253"/>
                  <a:gd name="T3" fmla="*/ 107 h 107"/>
                  <a:gd name="T4" fmla="*/ 216 w 253"/>
                  <a:gd name="T5" fmla="*/ 107 h 107"/>
                  <a:gd name="T6" fmla="*/ 216 w 253"/>
                  <a:gd name="T7" fmla="*/ 37 h 107"/>
                  <a:gd name="T8" fmla="*/ 253 w 253"/>
                  <a:gd name="T9" fmla="*/ 37 h 10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3"/>
                  <a:gd name="T16" fmla="*/ 0 h 107"/>
                  <a:gd name="T17" fmla="*/ 253 w 253"/>
                  <a:gd name="T18" fmla="*/ 107 h 10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3" h="107">
                    <a:moveTo>
                      <a:pt x="0" y="0"/>
                    </a:moveTo>
                    <a:lnTo>
                      <a:pt x="0" y="107"/>
                    </a:lnTo>
                    <a:lnTo>
                      <a:pt x="216" y="107"/>
                    </a:lnTo>
                    <a:lnTo>
                      <a:pt x="216" y="37"/>
                    </a:lnTo>
                    <a:lnTo>
                      <a:pt x="253" y="37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49" name="Freeform 149"/>
              <p:cNvSpPr>
                <a:spLocks/>
              </p:cNvSpPr>
              <p:nvPr/>
            </p:nvSpPr>
            <p:spPr bwMode="auto">
              <a:xfrm>
                <a:off x="5705464" y="5067096"/>
                <a:ext cx="92523" cy="532471"/>
              </a:xfrm>
              <a:custGeom>
                <a:avLst/>
                <a:gdLst>
                  <a:gd name="T0" fmla="*/ 54 w 54"/>
                  <a:gd name="T1" fmla="*/ 287 h 287"/>
                  <a:gd name="T2" fmla="*/ 54 w 54"/>
                  <a:gd name="T3" fmla="*/ 0 h 287"/>
                  <a:gd name="T4" fmla="*/ 0 w 54"/>
                  <a:gd name="T5" fmla="*/ 0 h 287"/>
                  <a:gd name="T6" fmla="*/ 0 w 54"/>
                  <a:gd name="T7" fmla="*/ 287 h 287"/>
                  <a:gd name="T8" fmla="*/ 54 w 54"/>
                  <a:gd name="T9" fmla="*/ 287 h 287"/>
                  <a:gd name="T10" fmla="*/ 54 w 54"/>
                  <a:gd name="T11" fmla="*/ 287 h 28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54"/>
                  <a:gd name="T19" fmla="*/ 0 h 287"/>
                  <a:gd name="T20" fmla="*/ 54 w 54"/>
                  <a:gd name="T21" fmla="*/ 287 h 28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54" h="287">
                    <a:moveTo>
                      <a:pt x="54" y="287"/>
                    </a:moveTo>
                    <a:lnTo>
                      <a:pt x="54" y="0"/>
                    </a:lnTo>
                    <a:lnTo>
                      <a:pt x="0" y="0"/>
                    </a:lnTo>
                    <a:lnTo>
                      <a:pt x="0" y="287"/>
                    </a:lnTo>
                    <a:lnTo>
                      <a:pt x="54" y="287"/>
                    </a:lnTo>
                    <a:close/>
                  </a:path>
                </a:pathLst>
              </a:custGeom>
              <a:solidFill>
                <a:srgbClr val="CCCC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50" name="Freeform 150"/>
              <p:cNvSpPr>
                <a:spLocks/>
              </p:cNvSpPr>
              <p:nvPr/>
            </p:nvSpPr>
            <p:spPr bwMode="auto">
              <a:xfrm>
                <a:off x="5705464" y="5067096"/>
                <a:ext cx="92523" cy="532471"/>
              </a:xfrm>
              <a:custGeom>
                <a:avLst/>
                <a:gdLst>
                  <a:gd name="T0" fmla="*/ 54 w 54"/>
                  <a:gd name="T1" fmla="*/ 287 h 287"/>
                  <a:gd name="T2" fmla="*/ 54 w 54"/>
                  <a:gd name="T3" fmla="*/ 0 h 287"/>
                  <a:gd name="T4" fmla="*/ 0 w 54"/>
                  <a:gd name="T5" fmla="*/ 0 h 287"/>
                  <a:gd name="T6" fmla="*/ 0 w 54"/>
                  <a:gd name="T7" fmla="*/ 287 h 287"/>
                  <a:gd name="T8" fmla="*/ 54 w 54"/>
                  <a:gd name="T9" fmla="*/ 287 h 287"/>
                  <a:gd name="T10" fmla="*/ 54 w 54"/>
                  <a:gd name="T11" fmla="*/ 287 h 28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54"/>
                  <a:gd name="T19" fmla="*/ 0 h 287"/>
                  <a:gd name="T20" fmla="*/ 54 w 54"/>
                  <a:gd name="T21" fmla="*/ 287 h 28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54" h="287">
                    <a:moveTo>
                      <a:pt x="54" y="287"/>
                    </a:moveTo>
                    <a:lnTo>
                      <a:pt x="54" y="0"/>
                    </a:lnTo>
                    <a:lnTo>
                      <a:pt x="0" y="0"/>
                    </a:lnTo>
                    <a:lnTo>
                      <a:pt x="0" y="287"/>
                    </a:lnTo>
                    <a:lnTo>
                      <a:pt x="54" y="287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51" name="Freeform 151"/>
              <p:cNvSpPr>
                <a:spLocks/>
              </p:cNvSpPr>
              <p:nvPr/>
            </p:nvSpPr>
            <p:spPr bwMode="auto">
              <a:xfrm>
                <a:off x="6291440" y="5067096"/>
                <a:ext cx="94236" cy="532471"/>
              </a:xfrm>
              <a:custGeom>
                <a:avLst/>
                <a:gdLst>
                  <a:gd name="T0" fmla="*/ 53 w 55"/>
                  <a:gd name="T1" fmla="*/ 287 h 287"/>
                  <a:gd name="T2" fmla="*/ 55 w 55"/>
                  <a:gd name="T3" fmla="*/ 0 h 287"/>
                  <a:gd name="T4" fmla="*/ 0 w 55"/>
                  <a:gd name="T5" fmla="*/ 0 h 287"/>
                  <a:gd name="T6" fmla="*/ 0 w 55"/>
                  <a:gd name="T7" fmla="*/ 287 h 287"/>
                  <a:gd name="T8" fmla="*/ 55 w 55"/>
                  <a:gd name="T9" fmla="*/ 287 h 287"/>
                  <a:gd name="T10" fmla="*/ 55 w 55"/>
                  <a:gd name="T11" fmla="*/ 287 h 287"/>
                  <a:gd name="T12" fmla="*/ 53 w 55"/>
                  <a:gd name="T13" fmla="*/ 287 h 28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55"/>
                  <a:gd name="T22" fmla="*/ 0 h 287"/>
                  <a:gd name="T23" fmla="*/ 55 w 55"/>
                  <a:gd name="T24" fmla="*/ 287 h 28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55" h="287">
                    <a:moveTo>
                      <a:pt x="53" y="287"/>
                    </a:moveTo>
                    <a:lnTo>
                      <a:pt x="55" y="0"/>
                    </a:lnTo>
                    <a:lnTo>
                      <a:pt x="0" y="0"/>
                    </a:lnTo>
                    <a:lnTo>
                      <a:pt x="0" y="287"/>
                    </a:lnTo>
                    <a:lnTo>
                      <a:pt x="55" y="287"/>
                    </a:lnTo>
                    <a:lnTo>
                      <a:pt x="53" y="287"/>
                    </a:lnTo>
                    <a:close/>
                  </a:path>
                </a:pathLst>
              </a:custGeom>
              <a:solidFill>
                <a:srgbClr val="CCCC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52" name="Freeform 152"/>
              <p:cNvSpPr>
                <a:spLocks/>
              </p:cNvSpPr>
              <p:nvPr/>
            </p:nvSpPr>
            <p:spPr bwMode="auto">
              <a:xfrm>
                <a:off x="6291440" y="5067096"/>
                <a:ext cx="94236" cy="532471"/>
              </a:xfrm>
              <a:custGeom>
                <a:avLst/>
                <a:gdLst>
                  <a:gd name="T0" fmla="*/ 53 w 55"/>
                  <a:gd name="T1" fmla="*/ 287 h 287"/>
                  <a:gd name="T2" fmla="*/ 55 w 55"/>
                  <a:gd name="T3" fmla="*/ 0 h 287"/>
                  <a:gd name="T4" fmla="*/ 0 w 55"/>
                  <a:gd name="T5" fmla="*/ 0 h 287"/>
                  <a:gd name="T6" fmla="*/ 0 w 55"/>
                  <a:gd name="T7" fmla="*/ 287 h 287"/>
                  <a:gd name="T8" fmla="*/ 55 w 55"/>
                  <a:gd name="T9" fmla="*/ 287 h 287"/>
                  <a:gd name="T10" fmla="*/ 55 w 55"/>
                  <a:gd name="T11" fmla="*/ 287 h 28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55"/>
                  <a:gd name="T19" fmla="*/ 0 h 287"/>
                  <a:gd name="T20" fmla="*/ 55 w 55"/>
                  <a:gd name="T21" fmla="*/ 287 h 28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55" h="287">
                    <a:moveTo>
                      <a:pt x="53" y="287"/>
                    </a:moveTo>
                    <a:lnTo>
                      <a:pt x="55" y="0"/>
                    </a:lnTo>
                    <a:lnTo>
                      <a:pt x="0" y="0"/>
                    </a:lnTo>
                    <a:lnTo>
                      <a:pt x="0" y="287"/>
                    </a:lnTo>
                    <a:lnTo>
                      <a:pt x="55" y="287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53" name="Freeform 153"/>
              <p:cNvSpPr>
                <a:spLocks/>
              </p:cNvSpPr>
              <p:nvPr/>
            </p:nvSpPr>
            <p:spPr bwMode="auto">
              <a:xfrm>
                <a:off x="6879129" y="5067096"/>
                <a:ext cx="90809" cy="532471"/>
              </a:xfrm>
              <a:custGeom>
                <a:avLst/>
                <a:gdLst>
                  <a:gd name="T0" fmla="*/ 51 w 53"/>
                  <a:gd name="T1" fmla="*/ 287 h 287"/>
                  <a:gd name="T2" fmla="*/ 53 w 53"/>
                  <a:gd name="T3" fmla="*/ 0 h 287"/>
                  <a:gd name="T4" fmla="*/ 0 w 53"/>
                  <a:gd name="T5" fmla="*/ 0 h 287"/>
                  <a:gd name="T6" fmla="*/ 0 w 53"/>
                  <a:gd name="T7" fmla="*/ 287 h 287"/>
                  <a:gd name="T8" fmla="*/ 53 w 53"/>
                  <a:gd name="T9" fmla="*/ 287 h 287"/>
                  <a:gd name="T10" fmla="*/ 53 w 53"/>
                  <a:gd name="T11" fmla="*/ 287 h 287"/>
                  <a:gd name="T12" fmla="*/ 51 w 53"/>
                  <a:gd name="T13" fmla="*/ 287 h 28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53"/>
                  <a:gd name="T22" fmla="*/ 0 h 287"/>
                  <a:gd name="T23" fmla="*/ 53 w 53"/>
                  <a:gd name="T24" fmla="*/ 287 h 28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53" h="287">
                    <a:moveTo>
                      <a:pt x="51" y="287"/>
                    </a:moveTo>
                    <a:lnTo>
                      <a:pt x="53" y="0"/>
                    </a:lnTo>
                    <a:lnTo>
                      <a:pt x="0" y="0"/>
                    </a:lnTo>
                    <a:lnTo>
                      <a:pt x="0" y="287"/>
                    </a:lnTo>
                    <a:lnTo>
                      <a:pt x="53" y="287"/>
                    </a:lnTo>
                    <a:lnTo>
                      <a:pt x="51" y="287"/>
                    </a:lnTo>
                    <a:close/>
                  </a:path>
                </a:pathLst>
              </a:custGeom>
              <a:solidFill>
                <a:srgbClr val="CCCC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54" name="Freeform 154"/>
              <p:cNvSpPr>
                <a:spLocks/>
              </p:cNvSpPr>
              <p:nvPr/>
            </p:nvSpPr>
            <p:spPr bwMode="auto">
              <a:xfrm>
                <a:off x="6879129" y="5067096"/>
                <a:ext cx="90809" cy="532471"/>
              </a:xfrm>
              <a:custGeom>
                <a:avLst/>
                <a:gdLst>
                  <a:gd name="T0" fmla="*/ 51 w 53"/>
                  <a:gd name="T1" fmla="*/ 287 h 287"/>
                  <a:gd name="T2" fmla="*/ 53 w 53"/>
                  <a:gd name="T3" fmla="*/ 0 h 287"/>
                  <a:gd name="T4" fmla="*/ 0 w 53"/>
                  <a:gd name="T5" fmla="*/ 0 h 287"/>
                  <a:gd name="T6" fmla="*/ 0 w 53"/>
                  <a:gd name="T7" fmla="*/ 287 h 287"/>
                  <a:gd name="T8" fmla="*/ 53 w 53"/>
                  <a:gd name="T9" fmla="*/ 287 h 287"/>
                  <a:gd name="T10" fmla="*/ 53 w 53"/>
                  <a:gd name="T11" fmla="*/ 287 h 28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53"/>
                  <a:gd name="T19" fmla="*/ 0 h 287"/>
                  <a:gd name="T20" fmla="*/ 53 w 53"/>
                  <a:gd name="T21" fmla="*/ 287 h 28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53" h="287">
                    <a:moveTo>
                      <a:pt x="51" y="287"/>
                    </a:moveTo>
                    <a:lnTo>
                      <a:pt x="53" y="0"/>
                    </a:lnTo>
                    <a:lnTo>
                      <a:pt x="0" y="0"/>
                    </a:lnTo>
                    <a:lnTo>
                      <a:pt x="0" y="287"/>
                    </a:lnTo>
                    <a:lnTo>
                      <a:pt x="53" y="287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55" name="Freeform 155"/>
              <p:cNvSpPr>
                <a:spLocks/>
              </p:cNvSpPr>
              <p:nvPr/>
            </p:nvSpPr>
            <p:spPr bwMode="auto">
              <a:xfrm>
                <a:off x="7463391" y="5067096"/>
                <a:ext cx="92523" cy="532471"/>
              </a:xfrm>
              <a:custGeom>
                <a:avLst/>
                <a:gdLst>
                  <a:gd name="T0" fmla="*/ 52 w 54"/>
                  <a:gd name="T1" fmla="*/ 287 h 287"/>
                  <a:gd name="T2" fmla="*/ 54 w 54"/>
                  <a:gd name="T3" fmla="*/ 0 h 287"/>
                  <a:gd name="T4" fmla="*/ 0 w 54"/>
                  <a:gd name="T5" fmla="*/ 0 h 287"/>
                  <a:gd name="T6" fmla="*/ 0 w 54"/>
                  <a:gd name="T7" fmla="*/ 287 h 287"/>
                  <a:gd name="T8" fmla="*/ 54 w 54"/>
                  <a:gd name="T9" fmla="*/ 287 h 287"/>
                  <a:gd name="T10" fmla="*/ 54 w 54"/>
                  <a:gd name="T11" fmla="*/ 287 h 287"/>
                  <a:gd name="T12" fmla="*/ 52 w 54"/>
                  <a:gd name="T13" fmla="*/ 287 h 28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54"/>
                  <a:gd name="T22" fmla="*/ 0 h 287"/>
                  <a:gd name="T23" fmla="*/ 54 w 54"/>
                  <a:gd name="T24" fmla="*/ 287 h 28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54" h="287">
                    <a:moveTo>
                      <a:pt x="52" y="287"/>
                    </a:moveTo>
                    <a:lnTo>
                      <a:pt x="54" y="0"/>
                    </a:lnTo>
                    <a:lnTo>
                      <a:pt x="0" y="0"/>
                    </a:lnTo>
                    <a:lnTo>
                      <a:pt x="0" y="287"/>
                    </a:lnTo>
                    <a:lnTo>
                      <a:pt x="54" y="287"/>
                    </a:lnTo>
                    <a:lnTo>
                      <a:pt x="52" y="287"/>
                    </a:lnTo>
                    <a:close/>
                  </a:path>
                </a:pathLst>
              </a:custGeom>
              <a:solidFill>
                <a:srgbClr val="CCCC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56" name="Freeform 156"/>
              <p:cNvSpPr>
                <a:spLocks/>
              </p:cNvSpPr>
              <p:nvPr/>
            </p:nvSpPr>
            <p:spPr bwMode="auto">
              <a:xfrm>
                <a:off x="7463391" y="5067096"/>
                <a:ext cx="92523" cy="532471"/>
              </a:xfrm>
              <a:custGeom>
                <a:avLst/>
                <a:gdLst>
                  <a:gd name="T0" fmla="*/ 52 w 54"/>
                  <a:gd name="T1" fmla="*/ 287 h 287"/>
                  <a:gd name="T2" fmla="*/ 54 w 54"/>
                  <a:gd name="T3" fmla="*/ 0 h 287"/>
                  <a:gd name="T4" fmla="*/ 0 w 54"/>
                  <a:gd name="T5" fmla="*/ 0 h 287"/>
                  <a:gd name="T6" fmla="*/ 0 w 54"/>
                  <a:gd name="T7" fmla="*/ 287 h 287"/>
                  <a:gd name="T8" fmla="*/ 54 w 54"/>
                  <a:gd name="T9" fmla="*/ 287 h 287"/>
                  <a:gd name="T10" fmla="*/ 54 w 54"/>
                  <a:gd name="T11" fmla="*/ 287 h 28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54"/>
                  <a:gd name="T19" fmla="*/ 0 h 287"/>
                  <a:gd name="T20" fmla="*/ 54 w 54"/>
                  <a:gd name="T21" fmla="*/ 287 h 28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54" h="287">
                    <a:moveTo>
                      <a:pt x="52" y="287"/>
                    </a:moveTo>
                    <a:lnTo>
                      <a:pt x="54" y="0"/>
                    </a:lnTo>
                    <a:lnTo>
                      <a:pt x="0" y="0"/>
                    </a:lnTo>
                    <a:lnTo>
                      <a:pt x="0" y="287"/>
                    </a:lnTo>
                    <a:lnTo>
                      <a:pt x="54" y="287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57" name="Rectangle 157"/>
              <p:cNvSpPr>
                <a:spLocks noChangeArrowheads="1"/>
              </p:cNvSpPr>
              <p:nvPr/>
            </p:nvSpPr>
            <p:spPr bwMode="auto">
              <a:xfrm>
                <a:off x="8261826" y="5798085"/>
                <a:ext cx="123363" cy="267163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58" name="Line 158"/>
              <p:cNvSpPr>
                <a:spLocks noChangeShapeType="1"/>
              </p:cNvSpPr>
              <p:nvPr/>
            </p:nvSpPr>
            <p:spPr bwMode="auto">
              <a:xfrm flipV="1">
                <a:off x="8506840" y="5794374"/>
                <a:ext cx="1713" cy="27272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59" name="Line 159"/>
              <p:cNvSpPr>
                <a:spLocks noChangeShapeType="1"/>
              </p:cNvSpPr>
              <p:nvPr/>
            </p:nvSpPr>
            <p:spPr bwMode="auto">
              <a:xfrm flipH="1">
                <a:off x="8380050" y="5798085"/>
                <a:ext cx="126790" cy="185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60" name="Line 160"/>
              <p:cNvSpPr>
                <a:spLocks noChangeShapeType="1"/>
              </p:cNvSpPr>
              <p:nvPr/>
            </p:nvSpPr>
            <p:spPr bwMode="auto">
              <a:xfrm flipH="1">
                <a:off x="8380050" y="6065248"/>
                <a:ext cx="126790" cy="185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61" name="Rectangle 161"/>
              <p:cNvSpPr>
                <a:spLocks noChangeArrowheads="1"/>
              </p:cNvSpPr>
              <p:nvPr/>
            </p:nvSpPr>
            <p:spPr bwMode="auto">
              <a:xfrm>
                <a:off x="6044713" y="5798085"/>
                <a:ext cx="125077" cy="267163"/>
              </a:xfrm>
              <a:prstGeom prst="rect">
                <a:avLst/>
              </a:prstGeom>
              <a:solidFill>
                <a:srgbClr val="CCCCCC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62" name="Rectangle 162"/>
              <p:cNvSpPr>
                <a:spLocks noChangeArrowheads="1"/>
              </p:cNvSpPr>
              <p:nvPr/>
            </p:nvSpPr>
            <p:spPr bwMode="auto">
              <a:xfrm>
                <a:off x="6044713" y="5798085"/>
                <a:ext cx="125077" cy="267163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63" name="Rectangle 163"/>
              <p:cNvSpPr>
                <a:spLocks noChangeArrowheads="1"/>
              </p:cNvSpPr>
              <p:nvPr/>
            </p:nvSpPr>
            <p:spPr bwMode="auto">
              <a:xfrm>
                <a:off x="5923063" y="5798085"/>
                <a:ext cx="121650" cy="267163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64" name="Rectangle 164"/>
              <p:cNvSpPr>
                <a:spLocks noChangeArrowheads="1"/>
              </p:cNvSpPr>
              <p:nvPr/>
            </p:nvSpPr>
            <p:spPr bwMode="auto">
              <a:xfrm>
                <a:off x="5984745" y="5851889"/>
                <a:ext cx="25648" cy="1231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I</a:t>
                </a:r>
                <a:endParaRPr lang="en-US" sz="1200" b="1">
                  <a:latin typeface="+mj-lt"/>
                </a:endParaRPr>
              </a:p>
            </p:txBody>
          </p:sp>
          <p:sp>
            <p:nvSpPr>
              <p:cNvPr id="165" name="Rectangle 165"/>
              <p:cNvSpPr>
                <a:spLocks noChangeArrowheads="1"/>
              </p:cNvSpPr>
              <p:nvPr/>
            </p:nvSpPr>
            <p:spPr bwMode="auto">
              <a:xfrm>
                <a:off x="6013872" y="5851889"/>
                <a:ext cx="88166" cy="1231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M</a:t>
                </a:r>
                <a:endParaRPr lang="en-US" sz="1200" b="1">
                  <a:latin typeface="+mj-lt"/>
                </a:endParaRPr>
              </a:p>
            </p:txBody>
          </p:sp>
          <p:sp>
            <p:nvSpPr>
              <p:cNvPr id="166" name="Freeform 166"/>
              <p:cNvSpPr>
                <a:spLocks/>
              </p:cNvSpPr>
              <p:nvPr/>
            </p:nvSpPr>
            <p:spPr bwMode="auto">
              <a:xfrm>
                <a:off x="6628975" y="5798085"/>
                <a:ext cx="125077" cy="267163"/>
              </a:xfrm>
              <a:custGeom>
                <a:avLst/>
                <a:gdLst>
                  <a:gd name="T0" fmla="*/ 0 w 73"/>
                  <a:gd name="T1" fmla="*/ 144 h 144"/>
                  <a:gd name="T2" fmla="*/ 73 w 73"/>
                  <a:gd name="T3" fmla="*/ 144 h 144"/>
                  <a:gd name="T4" fmla="*/ 73 w 73"/>
                  <a:gd name="T5" fmla="*/ 0 h 144"/>
                  <a:gd name="T6" fmla="*/ 2 w 73"/>
                  <a:gd name="T7" fmla="*/ 0 h 144"/>
                  <a:gd name="T8" fmla="*/ 0 w 73"/>
                  <a:gd name="T9" fmla="*/ 144 h 14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3"/>
                  <a:gd name="T16" fmla="*/ 0 h 144"/>
                  <a:gd name="T17" fmla="*/ 73 w 73"/>
                  <a:gd name="T18" fmla="*/ 144 h 14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3" h="144">
                    <a:moveTo>
                      <a:pt x="0" y="144"/>
                    </a:moveTo>
                    <a:lnTo>
                      <a:pt x="73" y="144"/>
                    </a:lnTo>
                    <a:lnTo>
                      <a:pt x="73" y="0"/>
                    </a:lnTo>
                    <a:lnTo>
                      <a:pt x="2" y="0"/>
                    </a:lnTo>
                    <a:lnTo>
                      <a:pt x="0" y="144"/>
                    </a:lnTo>
                    <a:close/>
                  </a:path>
                </a:pathLst>
              </a:custGeom>
              <a:solidFill>
                <a:srgbClr val="FBE2C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67" name="Freeform 167"/>
              <p:cNvSpPr>
                <a:spLocks/>
              </p:cNvSpPr>
              <p:nvPr/>
            </p:nvSpPr>
            <p:spPr bwMode="auto">
              <a:xfrm>
                <a:off x="6628975" y="5798085"/>
                <a:ext cx="125077" cy="267163"/>
              </a:xfrm>
              <a:custGeom>
                <a:avLst/>
                <a:gdLst>
                  <a:gd name="T0" fmla="*/ 0 w 73"/>
                  <a:gd name="T1" fmla="*/ 144 h 144"/>
                  <a:gd name="T2" fmla="*/ 73 w 73"/>
                  <a:gd name="T3" fmla="*/ 144 h 144"/>
                  <a:gd name="T4" fmla="*/ 73 w 73"/>
                  <a:gd name="T5" fmla="*/ 0 h 144"/>
                  <a:gd name="T6" fmla="*/ 2 w 73"/>
                  <a:gd name="T7" fmla="*/ 0 h 14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3"/>
                  <a:gd name="T13" fmla="*/ 0 h 144"/>
                  <a:gd name="T14" fmla="*/ 73 w 73"/>
                  <a:gd name="T15" fmla="*/ 144 h 14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3" h="144">
                    <a:moveTo>
                      <a:pt x="0" y="144"/>
                    </a:moveTo>
                    <a:lnTo>
                      <a:pt x="73" y="144"/>
                    </a:lnTo>
                    <a:lnTo>
                      <a:pt x="73" y="0"/>
                    </a:lnTo>
                    <a:lnTo>
                      <a:pt x="2" y="0"/>
                    </a:lnTo>
                  </a:path>
                </a:pathLst>
              </a:custGeom>
              <a:noFill/>
              <a:ln w="9525">
                <a:solidFill>
                  <a:srgbClr val="EB75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68" name="Line 168"/>
              <p:cNvSpPr>
                <a:spLocks noChangeShapeType="1"/>
              </p:cNvSpPr>
              <p:nvPr/>
            </p:nvSpPr>
            <p:spPr bwMode="auto">
              <a:xfrm flipV="1">
                <a:off x="6507326" y="5794374"/>
                <a:ext cx="1713" cy="27272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69" name="Line 169"/>
              <p:cNvSpPr>
                <a:spLocks noChangeShapeType="1"/>
              </p:cNvSpPr>
              <p:nvPr/>
            </p:nvSpPr>
            <p:spPr bwMode="auto">
              <a:xfrm>
                <a:off x="6507326" y="5798085"/>
                <a:ext cx="125077" cy="185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70" name="Line 170"/>
              <p:cNvSpPr>
                <a:spLocks noChangeShapeType="1"/>
              </p:cNvSpPr>
              <p:nvPr/>
            </p:nvSpPr>
            <p:spPr bwMode="auto">
              <a:xfrm>
                <a:off x="6507326" y="6065248"/>
                <a:ext cx="125077" cy="185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71" name="Freeform 171"/>
              <p:cNvSpPr>
                <a:spLocks/>
              </p:cNvSpPr>
              <p:nvPr/>
            </p:nvSpPr>
            <p:spPr bwMode="auto">
              <a:xfrm>
                <a:off x="7120715" y="5666359"/>
                <a:ext cx="188472" cy="528761"/>
              </a:xfrm>
              <a:custGeom>
                <a:avLst/>
                <a:gdLst>
                  <a:gd name="T0" fmla="*/ 0 w 110"/>
                  <a:gd name="T1" fmla="*/ 0 h 285"/>
                  <a:gd name="T2" fmla="*/ 0 w 110"/>
                  <a:gd name="T3" fmla="*/ 115 h 285"/>
                  <a:gd name="T4" fmla="*/ 35 w 110"/>
                  <a:gd name="T5" fmla="*/ 144 h 285"/>
                  <a:gd name="T6" fmla="*/ 0 w 110"/>
                  <a:gd name="T7" fmla="*/ 171 h 285"/>
                  <a:gd name="T8" fmla="*/ 0 w 110"/>
                  <a:gd name="T9" fmla="*/ 285 h 285"/>
                  <a:gd name="T10" fmla="*/ 110 w 110"/>
                  <a:gd name="T11" fmla="*/ 197 h 285"/>
                  <a:gd name="T12" fmla="*/ 110 w 110"/>
                  <a:gd name="T13" fmla="*/ 88 h 285"/>
                  <a:gd name="T14" fmla="*/ 0 w 110"/>
                  <a:gd name="T15" fmla="*/ 0 h 285"/>
                  <a:gd name="T16" fmla="*/ 0 w 110"/>
                  <a:gd name="T17" fmla="*/ 0 h 285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10"/>
                  <a:gd name="T28" fmla="*/ 0 h 285"/>
                  <a:gd name="T29" fmla="*/ 110 w 110"/>
                  <a:gd name="T30" fmla="*/ 285 h 285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10" h="285">
                    <a:moveTo>
                      <a:pt x="0" y="0"/>
                    </a:moveTo>
                    <a:lnTo>
                      <a:pt x="0" y="115"/>
                    </a:lnTo>
                    <a:lnTo>
                      <a:pt x="35" y="144"/>
                    </a:lnTo>
                    <a:lnTo>
                      <a:pt x="0" y="171"/>
                    </a:lnTo>
                    <a:lnTo>
                      <a:pt x="0" y="285"/>
                    </a:lnTo>
                    <a:lnTo>
                      <a:pt x="110" y="197"/>
                    </a:lnTo>
                    <a:lnTo>
                      <a:pt x="110" y="8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CCC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72" name="Freeform 172"/>
              <p:cNvSpPr>
                <a:spLocks/>
              </p:cNvSpPr>
              <p:nvPr/>
            </p:nvSpPr>
            <p:spPr bwMode="auto">
              <a:xfrm>
                <a:off x="7120715" y="5666359"/>
                <a:ext cx="188472" cy="528761"/>
              </a:xfrm>
              <a:custGeom>
                <a:avLst/>
                <a:gdLst>
                  <a:gd name="T0" fmla="*/ 0 w 110"/>
                  <a:gd name="T1" fmla="*/ 0 h 285"/>
                  <a:gd name="T2" fmla="*/ 0 w 110"/>
                  <a:gd name="T3" fmla="*/ 115 h 285"/>
                  <a:gd name="T4" fmla="*/ 35 w 110"/>
                  <a:gd name="T5" fmla="*/ 144 h 285"/>
                  <a:gd name="T6" fmla="*/ 0 w 110"/>
                  <a:gd name="T7" fmla="*/ 171 h 285"/>
                  <a:gd name="T8" fmla="*/ 0 w 110"/>
                  <a:gd name="T9" fmla="*/ 285 h 285"/>
                  <a:gd name="T10" fmla="*/ 110 w 110"/>
                  <a:gd name="T11" fmla="*/ 197 h 285"/>
                  <a:gd name="T12" fmla="*/ 110 w 110"/>
                  <a:gd name="T13" fmla="*/ 88 h 285"/>
                  <a:gd name="T14" fmla="*/ 0 w 110"/>
                  <a:gd name="T15" fmla="*/ 0 h 285"/>
                  <a:gd name="T16" fmla="*/ 0 w 110"/>
                  <a:gd name="T17" fmla="*/ 0 h 285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10"/>
                  <a:gd name="T28" fmla="*/ 0 h 285"/>
                  <a:gd name="T29" fmla="*/ 110 w 110"/>
                  <a:gd name="T30" fmla="*/ 285 h 285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10" h="285">
                    <a:moveTo>
                      <a:pt x="0" y="0"/>
                    </a:moveTo>
                    <a:lnTo>
                      <a:pt x="0" y="115"/>
                    </a:lnTo>
                    <a:lnTo>
                      <a:pt x="35" y="144"/>
                    </a:lnTo>
                    <a:lnTo>
                      <a:pt x="0" y="171"/>
                    </a:lnTo>
                    <a:lnTo>
                      <a:pt x="0" y="285"/>
                    </a:lnTo>
                    <a:lnTo>
                      <a:pt x="110" y="197"/>
                    </a:lnTo>
                    <a:lnTo>
                      <a:pt x="110" y="88"/>
                    </a:lnTo>
                    <a:lnTo>
                      <a:pt x="0" y="0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73" name="Rectangle 173"/>
              <p:cNvSpPr>
                <a:spLocks noChangeArrowheads="1"/>
              </p:cNvSpPr>
              <p:nvPr/>
            </p:nvSpPr>
            <p:spPr bwMode="auto">
              <a:xfrm>
                <a:off x="7718685" y="5851889"/>
                <a:ext cx="62518" cy="1231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D</a:t>
                </a:r>
                <a:endParaRPr lang="en-US" sz="1200" b="1">
                  <a:latin typeface="+mj-lt"/>
                </a:endParaRPr>
              </a:p>
            </p:txBody>
          </p:sp>
          <p:sp>
            <p:nvSpPr>
              <p:cNvPr id="174" name="Rectangle 174"/>
              <p:cNvSpPr>
                <a:spLocks noChangeArrowheads="1"/>
              </p:cNvSpPr>
              <p:nvPr/>
            </p:nvSpPr>
            <p:spPr bwMode="auto">
              <a:xfrm>
                <a:off x="7797500" y="5851889"/>
                <a:ext cx="88166" cy="1231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M</a:t>
                </a:r>
                <a:endParaRPr lang="en-US" sz="1200" b="1">
                  <a:latin typeface="+mj-lt"/>
                </a:endParaRPr>
              </a:p>
            </p:txBody>
          </p:sp>
          <p:sp>
            <p:nvSpPr>
              <p:cNvPr id="175" name="Rectangle 175"/>
              <p:cNvSpPr>
                <a:spLocks noChangeArrowheads="1"/>
              </p:cNvSpPr>
              <p:nvPr/>
            </p:nvSpPr>
            <p:spPr bwMode="auto">
              <a:xfrm>
                <a:off x="8294381" y="5851889"/>
                <a:ext cx="56106" cy="1231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R</a:t>
                </a:r>
                <a:endParaRPr lang="en-US" sz="1200" b="1">
                  <a:latin typeface="+mj-lt"/>
                </a:endParaRPr>
              </a:p>
            </p:txBody>
          </p:sp>
          <p:sp>
            <p:nvSpPr>
              <p:cNvPr id="176" name="Rectangle 176"/>
              <p:cNvSpPr>
                <a:spLocks noChangeArrowheads="1"/>
              </p:cNvSpPr>
              <p:nvPr/>
            </p:nvSpPr>
            <p:spPr bwMode="auto">
              <a:xfrm>
                <a:off x="8373196" y="5851889"/>
                <a:ext cx="51296" cy="1231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e</a:t>
                </a:r>
                <a:endParaRPr lang="en-US" sz="1200" b="1">
                  <a:latin typeface="+mj-lt"/>
                </a:endParaRPr>
              </a:p>
            </p:txBody>
          </p:sp>
          <p:sp>
            <p:nvSpPr>
              <p:cNvPr id="177" name="Rectangle 177"/>
              <p:cNvSpPr>
                <a:spLocks noChangeArrowheads="1"/>
              </p:cNvSpPr>
              <p:nvPr/>
            </p:nvSpPr>
            <p:spPr bwMode="auto">
              <a:xfrm>
                <a:off x="8431451" y="5851889"/>
                <a:ext cx="48090" cy="1231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g</a:t>
                </a:r>
                <a:endParaRPr lang="en-US" sz="1200" b="1">
                  <a:latin typeface="+mj-lt"/>
                </a:endParaRPr>
              </a:p>
            </p:txBody>
          </p:sp>
          <p:sp>
            <p:nvSpPr>
              <p:cNvPr id="178" name="Line 178"/>
              <p:cNvSpPr>
                <a:spLocks noChangeShapeType="1"/>
              </p:cNvSpPr>
              <p:nvPr/>
            </p:nvSpPr>
            <p:spPr bwMode="auto">
              <a:xfrm>
                <a:off x="6169790" y="5929811"/>
                <a:ext cx="337536" cy="371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79" name="Line 179"/>
              <p:cNvSpPr>
                <a:spLocks noChangeShapeType="1"/>
              </p:cNvSpPr>
              <p:nvPr/>
            </p:nvSpPr>
            <p:spPr bwMode="auto">
              <a:xfrm>
                <a:off x="7309187" y="5929811"/>
                <a:ext cx="366663" cy="371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80" name="Line 180"/>
              <p:cNvSpPr>
                <a:spLocks noChangeShapeType="1"/>
              </p:cNvSpPr>
              <p:nvPr/>
            </p:nvSpPr>
            <p:spPr bwMode="auto">
              <a:xfrm>
                <a:off x="7922577" y="5929811"/>
                <a:ext cx="339249" cy="371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81" name="Line 181"/>
              <p:cNvSpPr>
                <a:spLocks noChangeShapeType="1"/>
              </p:cNvSpPr>
              <p:nvPr/>
            </p:nvSpPr>
            <p:spPr bwMode="auto">
              <a:xfrm>
                <a:off x="6754052" y="5996602"/>
                <a:ext cx="366663" cy="185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82" name="Freeform 182"/>
              <p:cNvSpPr>
                <a:spLocks/>
              </p:cNvSpPr>
              <p:nvPr/>
            </p:nvSpPr>
            <p:spPr bwMode="auto">
              <a:xfrm>
                <a:off x="6445644" y="5864876"/>
                <a:ext cx="61682" cy="64936"/>
              </a:xfrm>
              <a:custGeom>
                <a:avLst/>
                <a:gdLst>
                  <a:gd name="T0" fmla="*/ 0 w 36"/>
                  <a:gd name="T1" fmla="*/ 35 h 35"/>
                  <a:gd name="T2" fmla="*/ 0 w 36"/>
                  <a:gd name="T3" fmla="*/ 0 h 35"/>
                  <a:gd name="T4" fmla="*/ 36 w 36"/>
                  <a:gd name="T5" fmla="*/ 0 h 35"/>
                  <a:gd name="T6" fmla="*/ 0 60000 65536"/>
                  <a:gd name="T7" fmla="*/ 0 60000 65536"/>
                  <a:gd name="T8" fmla="*/ 0 60000 65536"/>
                  <a:gd name="T9" fmla="*/ 0 w 36"/>
                  <a:gd name="T10" fmla="*/ 0 h 35"/>
                  <a:gd name="T11" fmla="*/ 36 w 36"/>
                  <a:gd name="T12" fmla="*/ 35 h 3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6" h="35">
                    <a:moveTo>
                      <a:pt x="0" y="35"/>
                    </a:moveTo>
                    <a:lnTo>
                      <a:pt x="0" y="0"/>
                    </a:lnTo>
                    <a:lnTo>
                      <a:pt x="36" y="0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83" name="Freeform 183"/>
              <p:cNvSpPr>
                <a:spLocks/>
              </p:cNvSpPr>
              <p:nvPr/>
            </p:nvSpPr>
            <p:spPr bwMode="auto">
              <a:xfrm>
                <a:off x="7614169" y="5929811"/>
                <a:ext cx="433485" cy="202228"/>
              </a:xfrm>
              <a:custGeom>
                <a:avLst/>
                <a:gdLst>
                  <a:gd name="T0" fmla="*/ 0 w 253"/>
                  <a:gd name="T1" fmla="*/ 0 h 109"/>
                  <a:gd name="T2" fmla="*/ 2 w 253"/>
                  <a:gd name="T3" fmla="*/ 109 h 109"/>
                  <a:gd name="T4" fmla="*/ 217 w 253"/>
                  <a:gd name="T5" fmla="*/ 109 h 109"/>
                  <a:gd name="T6" fmla="*/ 217 w 253"/>
                  <a:gd name="T7" fmla="*/ 36 h 109"/>
                  <a:gd name="T8" fmla="*/ 253 w 253"/>
                  <a:gd name="T9" fmla="*/ 36 h 10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3"/>
                  <a:gd name="T16" fmla="*/ 0 h 109"/>
                  <a:gd name="T17" fmla="*/ 253 w 253"/>
                  <a:gd name="T18" fmla="*/ 109 h 10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3" h="109">
                    <a:moveTo>
                      <a:pt x="0" y="0"/>
                    </a:moveTo>
                    <a:lnTo>
                      <a:pt x="2" y="109"/>
                    </a:lnTo>
                    <a:lnTo>
                      <a:pt x="217" y="109"/>
                    </a:lnTo>
                    <a:lnTo>
                      <a:pt x="217" y="36"/>
                    </a:lnTo>
                    <a:lnTo>
                      <a:pt x="253" y="36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84" name="Freeform 184"/>
              <p:cNvSpPr>
                <a:spLocks/>
              </p:cNvSpPr>
              <p:nvPr/>
            </p:nvSpPr>
            <p:spPr bwMode="auto">
              <a:xfrm>
                <a:off x="6291440" y="5666359"/>
                <a:ext cx="94236" cy="532471"/>
              </a:xfrm>
              <a:custGeom>
                <a:avLst/>
                <a:gdLst>
                  <a:gd name="T0" fmla="*/ 53 w 55"/>
                  <a:gd name="T1" fmla="*/ 285 h 287"/>
                  <a:gd name="T2" fmla="*/ 55 w 55"/>
                  <a:gd name="T3" fmla="*/ 0 h 287"/>
                  <a:gd name="T4" fmla="*/ 0 w 55"/>
                  <a:gd name="T5" fmla="*/ 0 h 287"/>
                  <a:gd name="T6" fmla="*/ 0 w 55"/>
                  <a:gd name="T7" fmla="*/ 287 h 287"/>
                  <a:gd name="T8" fmla="*/ 55 w 55"/>
                  <a:gd name="T9" fmla="*/ 287 h 287"/>
                  <a:gd name="T10" fmla="*/ 55 w 55"/>
                  <a:gd name="T11" fmla="*/ 287 h 287"/>
                  <a:gd name="T12" fmla="*/ 53 w 55"/>
                  <a:gd name="T13" fmla="*/ 285 h 28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55"/>
                  <a:gd name="T22" fmla="*/ 0 h 287"/>
                  <a:gd name="T23" fmla="*/ 55 w 55"/>
                  <a:gd name="T24" fmla="*/ 287 h 28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55" h="287">
                    <a:moveTo>
                      <a:pt x="53" y="285"/>
                    </a:moveTo>
                    <a:lnTo>
                      <a:pt x="55" y="0"/>
                    </a:lnTo>
                    <a:lnTo>
                      <a:pt x="0" y="0"/>
                    </a:lnTo>
                    <a:lnTo>
                      <a:pt x="0" y="287"/>
                    </a:lnTo>
                    <a:lnTo>
                      <a:pt x="55" y="287"/>
                    </a:lnTo>
                    <a:lnTo>
                      <a:pt x="53" y="285"/>
                    </a:lnTo>
                    <a:close/>
                  </a:path>
                </a:pathLst>
              </a:custGeom>
              <a:solidFill>
                <a:srgbClr val="CCCC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85" name="Freeform 185"/>
              <p:cNvSpPr>
                <a:spLocks/>
              </p:cNvSpPr>
              <p:nvPr/>
            </p:nvSpPr>
            <p:spPr bwMode="auto">
              <a:xfrm>
                <a:off x="6291440" y="5666359"/>
                <a:ext cx="94236" cy="532471"/>
              </a:xfrm>
              <a:custGeom>
                <a:avLst/>
                <a:gdLst>
                  <a:gd name="T0" fmla="*/ 53 w 55"/>
                  <a:gd name="T1" fmla="*/ 285 h 287"/>
                  <a:gd name="T2" fmla="*/ 55 w 55"/>
                  <a:gd name="T3" fmla="*/ 0 h 287"/>
                  <a:gd name="T4" fmla="*/ 0 w 55"/>
                  <a:gd name="T5" fmla="*/ 0 h 287"/>
                  <a:gd name="T6" fmla="*/ 0 w 55"/>
                  <a:gd name="T7" fmla="*/ 287 h 287"/>
                  <a:gd name="T8" fmla="*/ 55 w 55"/>
                  <a:gd name="T9" fmla="*/ 287 h 287"/>
                  <a:gd name="T10" fmla="*/ 55 w 55"/>
                  <a:gd name="T11" fmla="*/ 287 h 28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55"/>
                  <a:gd name="T19" fmla="*/ 0 h 287"/>
                  <a:gd name="T20" fmla="*/ 55 w 55"/>
                  <a:gd name="T21" fmla="*/ 287 h 28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55" h="287">
                    <a:moveTo>
                      <a:pt x="53" y="285"/>
                    </a:moveTo>
                    <a:lnTo>
                      <a:pt x="55" y="0"/>
                    </a:lnTo>
                    <a:lnTo>
                      <a:pt x="0" y="0"/>
                    </a:lnTo>
                    <a:lnTo>
                      <a:pt x="0" y="287"/>
                    </a:lnTo>
                    <a:lnTo>
                      <a:pt x="55" y="287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86" name="Freeform 186"/>
              <p:cNvSpPr>
                <a:spLocks/>
              </p:cNvSpPr>
              <p:nvPr/>
            </p:nvSpPr>
            <p:spPr bwMode="auto">
              <a:xfrm>
                <a:off x="6879129" y="5666359"/>
                <a:ext cx="90809" cy="532471"/>
              </a:xfrm>
              <a:custGeom>
                <a:avLst/>
                <a:gdLst>
                  <a:gd name="T0" fmla="*/ 51 w 53"/>
                  <a:gd name="T1" fmla="*/ 285 h 287"/>
                  <a:gd name="T2" fmla="*/ 53 w 53"/>
                  <a:gd name="T3" fmla="*/ 0 h 287"/>
                  <a:gd name="T4" fmla="*/ 0 w 53"/>
                  <a:gd name="T5" fmla="*/ 0 h 287"/>
                  <a:gd name="T6" fmla="*/ 0 w 53"/>
                  <a:gd name="T7" fmla="*/ 287 h 287"/>
                  <a:gd name="T8" fmla="*/ 53 w 53"/>
                  <a:gd name="T9" fmla="*/ 287 h 287"/>
                  <a:gd name="T10" fmla="*/ 53 w 53"/>
                  <a:gd name="T11" fmla="*/ 287 h 287"/>
                  <a:gd name="T12" fmla="*/ 51 w 53"/>
                  <a:gd name="T13" fmla="*/ 285 h 28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53"/>
                  <a:gd name="T22" fmla="*/ 0 h 287"/>
                  <a:gd name="T23" fmla="*/ 53 w 53"/>
                  <a:gd name="T24" fmla="*/ 287 h 28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53" h="287">
                    <a:moveTo>
                      <a:pt x="51" y="285"/>
                    </a:moveTo>
                    <a:lnTo>
                      <a:pt x="53" y="0"/>
                    </a:lnTo>
                    <a:lnTo>
                      <a:pt x="0" y="0"/>
                    </a:lnTo>
                    <a:lnTo>
                      <a:pt x="0" y="287"/>
                    </a:lnTo>
                    <a:lnTo>
                      <a:pt x="53" y="287"/>
                    </a:lnTo>
                    <a:lnTo>
                      <a:pt x="51" y="285"/>
                    </a:lnTo>
                    <a:close/>
                  </a:path>
                </a:pathLst>
              </a:custGeom>
              <a:solidFill>
                <a:srgbClr val="CCCC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87" name="Freeform 187"/>
              <p:cNvSpPr>
                <a:spLocks/>
              </p:cNvSpPr>
              <p:nvPr/>
            </p:nvSpPr>
            <p:spPr bwMode="auto">
              <a:xfrm>
                <a:off x="6879129" y="5666359"/>
                <a:ext cx="90809" cy="532471"/>
              </a:xfrm>
              <a:custGeom>
                <a:avLst/>
                <a:gdLst>
                  <a:gd name="T0" fmla="*/ 51 w 53"/>
                  <a:gd name="T1" fmla="*/ 285 h 287"/>
                  <a:gd name="T2" fmla="*/ 53 w 53"/>
                  <a:gd name="T3" fmla="*/ 0 h 287"/>
                  <a:gd name="T4" fmla="*/ 0 w 53"/>
                  <a:gd name="T5" fmla="*/ 0 h 287"/>
                  <a:gd name="T6" fmla="*/ 0 w 53"/>
                  <a:gd name="T7" fmla="*/ 287 h 287"/>
                  <a:gd name="T8" fmla="*/ 53 w 53"/>
                  <a:gd name="T9" fmla="*/ 287 h 287"/>
                  <a:gd name="T10" fmla="*/ 53 w 53"/>
                  <a:gd name="T11" fmla="*/ 287 h 28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53"/>
                  <a:gd name="T19" fmla="*/ 0 h 287"/>
                  <a:gd name="T20" fmla="*/ 53 w 53"/>
                  <a:gd name="T21" fmla="*/ 287 h 28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53" h="287">
                    <a:moveTo>
                      <a:pt x="51" y="285"/>
                    </a:moveTo>
                    <a:lnTo>
                      <a:pt x="53" y="0"/>
                    </a:lnTo>
                    <a:lnTo>
                      <a:pt x="0" y="0"/>
                    </a:lnTo>
                    <a:lnTo>
                      <a:pt x="0" y="287"/>
                    </a:lnTo>
                    <a:lnTo>
                      <a:pt x="53" y="287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88" name="Freeform 188"/>
              <p:cNvSpPr>
                <a:spLocks/>
              </p:cNvSpPr>
              <p:nvPr/>
            </p:nvSpPr>
            <p:spPr bwMode="auto">
              <a:xfrm>
                <a:off x="7463391" y="5666359"/>
                <a:ext cx="92523" cy="532471"/>
              </a:xfrm>
              <a:custGeom>
                <a:avLst/>
                <a:gdLst>
                  <a:gd name="T0" fmla="*/ 52 w 54"/>
                  <a:gd name="T1" fmla="*/ 285 h 287"/>
                  <a:gd name="T2" fmla="*/ 54 w 54"/>
                  <a:gd name="T3" fmla="*/ 0 h 287"/>
                  <a:gd name="T4" fmla="*/ 0 w 54"/>
                  <a:gd name="T5" fmla="*/ 0 h 287"/>
                  <a:gd name="T6" fmla="*/ 0 w 54"/>
                  <a:gd name="T7" fmla="*/ 287 h 287"/>
                  <a:gd name="T8" fmla="*/ 54 w 54"/>
                  <a:gd name="T9" fmla="*/ 287 h 287"/>
                  <a:gd name="T10" fmla="*/ 54 w 54"/>
                  <a:gd name="T11" fmla="*/ 287 h 287"/>
                  <a:gd name="T12" fmla="*/ 52 w 54"/>
                  <a:gd name="T13" fmla="*/ 285 h 28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54"/>
                  <a:gd name="T22" fmla="*/ 0 h 287"/>
                  <a:gd name="T23" fmla="*/ 54 w 54"/>
                  <a:gd name="T24" fmla="*/ 287 h 28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54" h="287">
                    <a:moveTo>
                      <a:pt x="52" y="285"/>
                    </a:moveTo>
                    <a:lnTo>
                      <a:pt x="54" y="0"/>
                    </a:lnTo>
                    <a:lnTo>
                      <a:pt x="0" y="0"/>
                    </a:lnTo>
                    <a:lnTo>
                      <a:pt x="0" y="287"/>
                    </a:lnTo>
                    <a:lnTo>
                      <a:pt x="54" y="287"/>
                    </a:lnTo>
                    <a:lnTo>
                      <a:pt x="52" y="285"/>
                    </a:lnTo>
                    <a:close/>
                  </a:path>
                </a:pathLst>
              </a:custGeom>
              <a:solidFill>
                <a:srgbClr val="CCCC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89" name="Freeform 189"/>
              <p:cNvSpPr>
                <a:spLocks/>
              </p:cNvSpPr>
              <p:nvPr/>
            </p:nvSpPr>
            <p:spPr bwMode="auto">
              <a:xfrm>
                <a:off x="7463391" y="5666359"/>
                <a:ext cx="92523" cy="532471"/>
              </a:xfrm>
              <a:custGeom>
                <a:avLst/>
                <a:gdLst>
                  <a:gd name="T0" fmla="*/ 52 w 54"/>
                  <a:gd name="T1" fmla="*/ 285 h 287"/>
                  <a:gd name="T2" fmla="*/ 54 w 54"/>
                  <a:gd name="T3" fmla="*/ 0 h 287"/>
                  <a:gd name="T4" fmla="*/ 0 w 54"/>
                  <a:gd name="T5" fmla="*/ 0 h 287"/>
                  <a:gd name="T6" fmla="*/ 0 w 54"/>
                  <a:gd name="T7" fmla="*/ 287 h 287"/>
                  <a:gd name="T8" fmla="*/ 54 w 54"/>
                  <a:gd name="T9" fmla="*/ 287 h 287"/>
                  <a:gd name="T10" fmla="*/ 54 w 54"/>
                  <a:gd name="T11" fmla="*/ 287 h 28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54"/>
                  <a:gd name="T19" fmla="*/ 0 h 287"/>
                  <a:gd name="T20" fmla="*/ 54 w 54"/>
                  <a:gd name="T21" fmla="*/ 287 h 28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54" h="287">
                    <a:moveTo>
                      <a:pt x="52" y="285"/>
                    </a:moveTo>
                    <a:lnTo>
                      <a:pt x="54" y="0"/>
                    </a:lnTo>
                    <a:lnTo>
                      <a:pt x="0" y="0"/>
                    </a:lnTo>
                    <a:lnTo>
                      <a:pt x="0" y="287"/>
                    </a:lnTo>
                    <a:lnTo>
                      <a:pt x="54" y="287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90" name="Freeform 190"/>
              <p:cNvSpPr>
                <a:spLocks/>
              </p:cNvSpPr>
              <p:nvPr/>
            </p:nvSpPr>
            <p:spPr bwMode="auto">
              <a:xfrm>
                <a:off x="8047654" y="5666359"/>
                <a:ext cx="92523" cy="532471"/>
              </a:xfrm>
              <a:custGeom>
                <a:avLst/>
                <a:gdLst>
                  <a:gd name="T0" fmla="*/ 54 w 54"/>
                  <a:gd name="T1" fmla="*/ 285 h 287"/>
                  <a:gd name="T2" fmla="*/ 54 w 54"/>
                  <a:gd name="T3" fmla="*/ 0 h 287"/>
                  <a:gd name="T4" fmla="*/ 0 w 54"/>
                  <a:gd name="T5" fmla="*/ 0 h 287"/>
                  <a:gd name="T6" fmla="*/ 0 w 54"/>
                  <a:gd name="T7" fmla="*/ 287 h 287"/>
                  <a:gd name="T8" fmla="*/ 54 w 54"/>
                  <a:gd name="T9" fmla="*/ 287 h 287"/>
                  <a:gd name="T10" fmla="*/ 54 w 54"/>
                  <a:gd name="T11" fmla="*/ 287 h 287"/>
                  <a:gd name="T12" fmla="*/ 54 w 54"/>
                  <a:gd name="T13" fmla="*/ 285 h 28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54"/>
                  <a:gd name="T22" fmla="*/ 0 h 287"/>
                  <a:gd name="T23" fmla="*/ 54 w 54"/>
                  <a:gd name="T24" fmla="*/ 287 h 28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54" h="287">
                    <a:moveTo>
                      <a:pt x="54" y="285"/>
                    </a:moveTo>
                    <a:lnTo>
                      <a:pt x="54" y="0"/>
                    </a:lnTo>
                    <a:lnTo>
                      <a:pt x="0" y="0"/>
                    </a:lnTo>
                    <a:lnTo>
                      <a:pt x="0" y="287"/>
                    </a:lnTo>
                    <a:lnTo>
                      <a:pt x="54" y="287"/>
                    </a:lnTo>
                    <a:lnTo>
                      <a:pt x="54" y="285"/>
                    </a:lnTo>
                    <a:close/>
                  </a:path>
                </a:pathLst>
              </a:custGeom>
              <a:solidFill>
                <a:srgbClr val="CCCC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91" name="Freeform 191"/>
              <p:cNvSpPr>
                <a:spLocks/>
              </p:cNvSpPr>
              <p:nvPr/>
            </p:nvSpPr>
            <p:spPr bwMode="auto">
              <a:xfrm>
                <a:off x="8047654" y="5666359"/>
                <a:ext cx="92523" cy="532471"/>
              </a:xfrm>
              <a:custGeom>
                <a:avLst/>
                <a:gdLst>
                  <a:gd name="T0" fmla="*/ 54 w 54"/>
                  <a:gd name="T1" fmla="*/ 285 h 287"/>
                  <a:gd name="T2" fmla="*/ 54 w 54"/>
                  <a:gd name="T3" fmla="*/ 0 h 287"/>
                  <a:gd name="T4" fmla="*/ 0 w 54"/>
                  <a:gd name="T5" fmla="*/ 0 h 287"/>
                  <a:gd name="T6" fmla="*/ 0 w 54"/>
                  <a:gd name="T7" fmla="*/ 287 h 287"/>
                  <a:gd name="T8" fmla="*/ 54 w 54"/>
                  <a:gd name="T9" fmla="*/ 287 h 287"/>
                  <a:gd name="T10" fmla="*/ 54 w 54"/>
                  <a:gd name="T11" fmla="*/ 287 h 28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54"/>
                  <a:gd name="T19" fmla="*/ 0 h 287"/>
                  <a:gd name="T20" fmla="*/ 54 w 54"/>
                  <a:gd name="T21" fmla="*/ 287 h 28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54" h="287">
                    <a:moveTo>
                      <a:pt x="54" y="285"/>
                    </a:moveTo>
                    <a:lnTo>
                      <a:pt x="54" y="0"/>
                    </a:lnTo>
                    <a:lnTo>
                      <a:pt x="0" y="0"/>
                    </a:lnTo>
                    <a:lnTo>
                      <a:pt x="0" y="287"/>
                    </a:lnTo>
                    <a:lnTo>
                      <a:pt x="54" y="287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92" name="Freeform 192"/>
              <p:cNvSpPr>
                <a:spLocks/>
              </p:cNvSpPr>
              <p:nvPr/>
            </p:nvSpPr>
            <p:spPr bwMode="auto">
              <a:xfrm>
                <a:off x="5338801" y="3401036"/>
                <a:ext cx="245013" cy="265308"/>
              </a:xfrm>
              <a:custGeom>
                <a:avLst/>
                <a:gdLst>
                  <a:gd name="T0" fmla="*/ 141 w 143"/>
                  <a:gd name="T1" fmla="*/ 143 h 143"/>
                  <a:gd name="T2" fmla="*/ 143 w 143"/>
                  <a:gd name="T3" fmla="*/ 0 h 143"/>
                  <a:gd name="T4" fmla="*/ 0 w 143"/>
                  <a:gd name="T5" fmla="*/ 0 h 143"/>
                  <a:gd name="T6" fmla="*/ 0 w 143"/>
                  <a:gd name="T7" fmla="*/ 143 h 143"/>
                  <a:gd name="T8" fmla="*/ 143 w 143"/>
                  <a:gd name="T9" fmla="*/ 143 h 143"/>
                  <a:gd name="T10" fmla="*/ 143 w 143"/>
                  <a:gd name="T11" fmla="*/ 143 h 14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3"/>
                  <a:gd name="T19" fmla="*/ 0 h 143"/>
                  <a:gd name="T20" fmla="*/ 143 w 143"/>
                  <a:gd name="T21" fmla="*/ 143 h 14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3" h="143">
                    <a:moveTo>
                      <a:pt x="141" y="143"/>
                    </a:moveTo>
                    <a:lnTo>
                      <a:pt x="143" y="0"/>
                    </a:lnTo>
                    <a:lnTo>
                      <a:pt x="0" y="0"/>
                    </a:lnTo>
                    <a:lnTo>
                      <a:pt x="0" y="143"/>
                    </a:lnTo>
                    <a:lnTo>
                      <a:pt x="143" y="143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93" name="Rectangle 193"/>
              <p:cNvSpPr>
                <a:spLocks noChangeArrowheads="1"/>
              </p:cNvSpPr>
              <p:nvPr/>
            </p:nvSpPr>
            <p:spPr bwMode="auto">
              <a:xfrm>
                <a:off x="5378208" y="3454840"/>
                <a:ext cx="62518" cy="1231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D</a:t>
                </a:r>
                <a:endParaRPr lang="en-US" sz="1200" b="1">
                  <a:latin typeface="+mj-lt"/>
                </a:endParaRPr>
              </a:p>
            </p:txBody>
          </p:sp>
          <p:sp>
            <p:nvSpPr>
              <p:cNvPr id="194" name="Rectangle 194"/>
              <p:cNvSpPr>
                <a:spLocks noChangeArrowheads="1"/>
              </p:cNvSpPr>
              <p:nvPr/>
            </p:nvSpPr>
            <p:spPr bwMode="auto">
              <a:xfrm>
                <a:off x="5457024" y="3454840"/>
                <a:ext cx="88166" cy="1231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M</a:t>
                </a:r>
                <a:endParaRPr lang="en-US" sz="1200" b="1">
                  <a:latin typeface="+mj-lt"/>
                </a:endParaRPr>
              </a:p>
            </p:txBody>
          </p:sp>
          <p:sp>
            <p:nvSpPr>
              <p:cNvPr id="195" name="Line 195"/>
              <p:cNvSpPr>
                <a:spLocks noChangeShapeType="1"/>
              </p:cNvSpPr>
              <p:nvPr/>
            </p:nvSpPr>
            <p:spPr bwMode="auto">
              <a:xfrm>
                <a:off x="5580387" y="3530907"/>
                <a:ext cx="125077" cy="371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96" name="Rectangle 196"/>
              <p:cNvSpPr>
                <a:spLocks noChangeArrowheads="1"/>
              </p:cNvSpPr>
              <p:nvPr/>
            </p:nvSpPr>
            <p:spPr bwMode="auto">
              <a:xfrm>
                <a:off x="5955617" y="3408458"/>
                <a:ext cx="56106" cy="1231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>
                    <a:solidFill>
                      <a:srgbClr val="EB7500"/>
                    </a:solidFill>
                    <a:latin typeface="+mj-lt"/>
                  </a:rPr>
                  <a:t>R</a:t>
                </a:r>
                <a:endParaRPr lang="en-US" sz="1200" b="1">
                  <a:latin typeface="+mj-lt"/>
                </a:endParaRPr>
              </a:p>
            </p:txBody>
          </p:sp>
          <p:sp>
            <p:nvSpPr>
              <p:cNvPr id="197" name="Rectangle 197"/>
              <p:cNvSpPr>
                <a:spLocks noChangeArrowheads="1"/>
              </p:cNvSpPr>
              <p:nvPr/>
            </p:nvSpPr>
            <p:spPr bwMode="auto">
              <a:xfrm>
                <a:off x="6034433" y="3408458"/>
                <a:ext cx="51296" cy="1231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 dirty="0">
                    <a:solidFill>
                      <a:srgbClr val="EB7500"/>
                    </a:solidFill>
                    <a:latin typeface="+mj-lt"/>
                  </a:rPr>
                  <a:t>e</a:t>
                </a:r>
                <a:endParaRPr lang="en-US" sz="1200" b="1" dirty="0">
                  <a:latin typeface="+mj-lt"/>
                </a:endParaRPr>
              </a:p>
            </p:txBody>
          </p:sp>
          <p:sp>
            <p:nvSpPr>
              <p:cNvPr id="198" name="Rectangle 198"/>
              <p:cNvSpPr>
                <a:spLocks noChangeArrowheads="1"/>
              </p:cNvSpPr>
              <p:nvPr/>
            </p:nvSpPr>
            <p:spPr bwMode="auto">
              <a:xfrm>
                <a:off x="6096114" y="3408458"/>
                <a:ext cx="48090" cy="1231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>
                    <a:solidFill>
                      <a:srgbClr val="EB7500"/>
                    </a:solidFill>
                    <a:latin typeface="+mj-lt"/>
                  </a:rPr>
                  <a:t>g</a:t>
                </a:r>
                <a:endParaRPr lang="en-US" sz="1200" b="1">
                  <a:latin typeface="+mj-lt"/>
                </a:endParaRPr>
              </a:p>
            </p:txBody>
          </p:sp>
          <p:sp>
            <p:nvSpPr>
              <p:cNvPr id="199" name="Rectangle 199"/>
              <p:cNvSpPr>
                <a:spLocks noChangeArrowheads="1"/>
              </p:cNvSpPr>
              <p:nvPr/>
            </p:nvSpPr>
            <p:spPr bwMode="auto">
              <a:xfrm>
                <a:off x="4787092" y="4093064"/>
                <a:ext cx="56106" cy="1231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>
                    <a:solidFill>
                      <a:srgbClr val="EB7500"/>
                    </a:solidFill>
                    <a:latin typeface="+mj-lt"/>
                  </a:rPr>
                  <a:t>R</a:t>
                </a:r>
                <a:endParaRPr lang="en-US" sz="1200" b="1">
                  <a:latin typeface="+mj-lt"/>
                </a:endParaRPr>
              </a:p>
            </p:txBody>
          </p:sp>
          <p:sp>
            <p:nvSpPr>
              <p:cNvPr id="200" name="Rectangle 200"/>
              <p:cNvSpPr>
                <a:spLocks noChangeArrowheads="1"/>
              </p:cNvSpPr>
              <p:nvPr/>
            </p:nvSpPr>
            <p:spPr bwMode="auto">
              <a:xfrm>
                <a:off x="4865908" y="4093064"/>
                <a:ext cx="51296" cy="1231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>
                    <a:solidFill>
                      <a:srgbClr val="EB7500"/>
                    </a:solidFill>
                    <a:latin typeface="+mj-lt"/>
                  </a:rPr>
                  <a:t>e</a:t>
                </a:r>
                <a:endParaRPr lang="en-US" sz="1200" b="1">
                  <a:latin typeface="+mj-lt"/>
                </a:endParaRPr>
              </a:p>
            </p:txBody>
          </p:sp>
          <p:sp>
            <p:nvSpPr>
              <p:cNvPr id="201" name="Rectangle 201"/>
              <p:cNvSpPr>
                <a:spLocks noChangeArrowheads="1"/>
              </p:cNvSpPr>
              <p:nvPr/>
            </p:nvSpPr>
            <p:spPr bwMode="auto">
              <a:xfrm>
                <a:off x="4924163" y="4093064"/>
                <a:ext cx="48090" cy="1231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>
                    <a:solidFill>
                      <a:srgbClr val="EB7500"/>
                    </a:solidFill>
                    <a:latin typeface="+mj-lt"/>
                  </a:rPr>
                  <a:t>g</a:t>
                </a:r>
                <a:endParaRPr lang="en-US" sz="1200" b="1">
                  <a:latin typeface="+mj-lt"/>
                </a:endParaRPr>
              </a:p>
            </p:txBody>
          </p:sp>
          <p:sp>
            <p:nvSpPr>
              <p:cNvPr id="202" name="Line 202"/>
              <p:cNvSpPr>
                <a:spLocks noChangeShapeType="1"/>
              </p:cNvSpPr>
              <p:nvPr/>
            </p:nvSpPr>
            <p:spPr bwMode="auto">
              <a:xfrm>
                <a:off x="5213724" y="4065234"/>
                <a:ext cx="154204" cy="371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203" name="Line 203"/>
              <p:cNvSpPr>
                <a:spLocks noChangeShapeType="1"/>
              </p:cNvSpPr>
              <p:nvPr/>
            </p:nvSpPr>
            <p:spPr bwMode="auto">
              <a:xfrm>
                <a:off x="5797986" y="4799933"/>
                <a:ext cx="154204" cy="185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204" name="Rectangle 204"/>
              <p:cNvSpPr>
                <a:spLocks noChangeArrowheads="1"/>
              </p:cNvSpPr>
              <p:nvPr/>
            </p:nvSpPr>
            <p:spPr bwMode="auto">
              <a:xfrm>
                <a:off x="6536453" y="5879718"/>
                <a:ext cx="56106" cy="1231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>
                    <a:solidFill>
                      <a:srgbClr val="EB7500"/>
                    </a:solidFill>
                    <a:latin typeface="+mj-lt"/>
                  </a:rPr>
                  <a:t>R</a:t>
                </a:r>
                <a:endParaRPr lang="en-US" sz="1200" b="1">
                  <a:latin typeface="+mj-lt"/>
                </a:endParaRPr>
              </a:p>
            </p:txBody>
          </p:sp>
          <p:sp>
            <p:nvSpPr>
              <p:cNvPr id="205" name="Rectangle 205"/>
              <p:cNvSpPr>
                <a:spLocks noChangeArrowheads="1"/>
              </p:cNvSpPr>
              <p:nvPr/>
            </p:nvSpPr>
            <p:spPr bwMode="auto">
              <a:xfrm>
                <a:off x="6618695" y="5879718"/>
                <a:ext cx="51296" cy="1231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 dirty="0">
                    <a:solidFill>
                      <a:srgbClr val="EB7500"/>
                    </a:solidFill>
                    <a:latin typeface="+mj-lt"/>
                  </a:rPr>
                  <a:t>e</a:t>
                </a:r>
                <a:endParaRPr lang="en-US" sz="1200" b="1" dirty="0">
                  <a:latin typeface="+mj-lt"/>
                </a:endParaRPr>
              </a:p>
            </p:txBody>
          </p:sp>
          <p:sp>
            <p:nvSpPr>
              <p:cNvPr id="206" name="Rectangle 206"/>
              <p:cNvSpPr>
                <a:spLocks noChangeArrowheads="1"/>
              </p:cNvSpPr>
              <p:nvPr/>
            </p:nvSpPr>
            <p:spPr bwMode="auto">
              <a:xfrm>
                <a:off x="6678663" y="5879718"/>
                <a:ext cx="48090" cy="1231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>
                    <a:solidFill>
                      <a:srgbClr val="EB7500"/>
                    </a:solidFill>
                    <a:latin typeface="+mj-lt"/>
                  </a:rPr>
                  <a:t>g</a:t>
                </a:r>
                <a:endParaRPr lang="en-US" sz="1200" b="1">
                  <a:latin typeface="+mj-lt"/>
                </a:endParaRPr>
              </a:p>
            </p:txBody>
          </p:sp>
          <p:sp>
            <p:nvSpPr>
              <p:cNvPr id="207" name="Rectangle 207"/>
              <p:cNvSpPr>
                <a:spLocks noChangeArrowheads="1"/>
              </p:cNvSpPr>
              <p:nvPr/>
            </p:nvSpPr>
            <p:spPr bwMode="auto">
              <a:xfrm>
                <a:off x="5952190" y="5284167"/>
                <a:ext cx="56106" cy="1231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>
                    <a:solidFill>
                      <a:srgbClr val="EB7500"/>
                    </a:solidFill>
                    <a:latin typeface="+mj-lt"/>
                  </a:rPr>
                  <a:t>R</a:t>
                </a:r>
                <a:endParaRPr lang="en-US" sz="1200" b="1">
                  <a:latin typeface="+mj-lt"/>
                </a:endParaRPr>
              </a:p>
            </p:txBody>
          </p:sp>
          <p:sp>
            <p:nvSpPr>
              <p:cNvPr id="208" name="Rectangle 208"/>
              <p:cNvSpPr>
                <a:spLocks noChangeArrowheads="1"/>
              </p:cNvSpPr>
              <p:nvPr/>
            </p:nvSpPr>
            <p:spPr bwMode="auto">
              <a:xfrm>
                <a:off x="6031006" y="5284167"/>
                <a:ext cx="51296" cy="1231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>
                    <a:solidFill>
                      <a:srgbClr val="EB7500"/>
                    </a:solidFill>
                    <a:latin typeface="+mj-lt"/>
                  </a:rPr>
                  <a:t>e</a:t>
                </a:r>
                <a:endParaRPr lang="en-US" sz="1200" b="1">
                  <a:latin typeface="+mj-lt"/>
                </a:endParaRPr>
              </a:p>
            </p:txBody>
          </p:sp>
          <p:sp>
            <p:nvSpPr>
              <p:cNvPr id="209" name="Rectangle 209"/>
              <p:cNvSpPr>
                <a:spLocks noChangeArrowheads="1"/>
              </p:cNvSpPr>
              <p:nvPr/>
            </p:nvSpPr>
            <p:spPr bwMode="auto">
              <a:xfrm>
                <a:off x="6092688" y="5284167"/>
                <a:ext cx="48090" cy="1231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>
                    <a:solidFill>
                      <a:srgbClr val="EB7500"/>
                    </a:solidFill>
                    <a:latin typeface="+mj-lt"/>
                  </a:rPr>
                  <a:t>g</a:t>
                </a:r>
                <a:endParaRPr lang="en-US" sz="1200" b="1">
                  <a:latin typeface="+mj-lt"/>
                </a:endParaRPr>
              </a:p>
            </p:txBody>
          </p:sp>
          <p:sp>
            <p:nvSpPr>
              <p:cNvPr id="210" name="Line 210"/>
              <p:cNvSpPr>
                <a:spLocks noChangeShapeType="1"/>
              </p:cNvSpPr>
              <p:nvPr/>
            </p:nvSpPr>
            <p:spPr bwMode="auto">
              <a:xfrm>
                <a:off x="6966511" y="5864876"/>
                <a:ext cx="154204" cy="185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219" name="Freeform 219"/>
              <p:cNvSpPr>
                <a:spLocks/>
              </p:cNvSpPr>
              <p:nvPr/>
            </p:nvSpPr>
            <p:spPr bwMode="auto">
              <a:xfrm>
                <a:off x="6027579" y="3529052"/>
                <a:ext cx="49688" cy="51948"/>
              </a:xfrm>
              <a:custGeom>
                <a:avLst/>
                <a:gdLst>
                  <a:gd name="T0" fmla="*/ 14 w 29"/>
                  <a:gd name="T1" fmla="*/ 26 h 28"/>
                  <a:gd name="T2" fmla="*/ 17 w 29"/>
                  <a:gd name="T3" fmla="*/ 28 h 28"/>
                  <a:gd name="T4" fmla="*/ 19 w 29"/>
                  <a:gd name="T5" fmla="*/ 26 h 28"/>
                  <a:gd name="T6" fmla="*/ 21 w 29"/>
                  <a:gd name="T7" fmla="*/ 26 h 28"/>
                  <a:gd name="T8" fmla="*/ 23 w 29"/>
                  <a:gd name="T9" fmla="*/ 24 h 28"/>
                  <a:gd name="T10" fmla="*/ 25 w 29"/>
                  <a:gd name="T11" fmla="*/ 24 h 28"/>
                  <a:gd name="T12" fmla="*/ 27 w 29"/>
                  <a:gd name="T13" fmla="*/ 22 h 28"/>
                  <a:gd name="T14" fmla="*/ 27 w 29"/>
                  <a:gd name="T15" fmla="*/ 21 h 28"/>
                  <a:gd name="T16" fmla="*/ 29 w 29"/>
                  <a:gd name="T17" fmla="*/ 19 h 28"/>
                  <a:gd name="T18" fmla="*/ 29 w 29"/>
                  <a:gd name="T19" fmla="*/ 17 h 28"/>
                  <a:gd name="T20" fmla="*/ 29 w 29"/>
                  <a:gd name="T21" fmla="*/ 13 h 28"/>
                  <a:gd name="T22" fmla="*/ 29 w 29"/>
                  <a:gd name="T23" fmla="*/ 11 h 28"/>
                  <a:gd name="T24" fmla="*/ 29 w 29"/>
                  <a:gd name="T25" fmla="*/ 9 h 28"/>
                  <a:gd name="T26" fmla="*/ 27 w 29"/>
                  <a:gd name="T27" fmla="*/ 7 h 28"/>
                  <a:gd name="T28" fmla="*/ 27 w 29"/>
                  <a:gd name="T29" fmla="*/ 5 h 28"/>
                  <a:gd name="T30" fmla="*/ 25 w 29"/>
                  <a:gd name="T31" fmla="*/ 3 h 28"/>
                  <a:gd name="T32" fmla="*/ 23 w 29"/>
                  <a:gd name="T33" fmla="*/ 1 h 28"/>
                  <a:gd name="T34" fmla="*/ 21 w 29"/>
                  <a:gd name="T35" fmla="*/ 1 h 28"/>
                  <a:gd name="T36" fmla="*/ 19 w 29"/>
                  <a:gd name="T37" fmla="*/ 0 h 28"/>
                  <a:gd name="T38" fmla="*/ 17 w 29"/>
                  <a:gd name="T39" fmla="*/ 0 h 28"/>
                  <a:gd name="T40" fmla="*/ 15 w 29"/>
                  <a:gd name="T41" fmla="*/ 0 h 28"/>
                  <a:gd name="T42" fmla="*/ 12 w 29"/>
                  <a:gd name="T43" fmla="*/ 0 h 28"/>
                  <a:gd name="T44" fmla="*/ 10 w 29"/>
                  <a:gd name="T45" fmla="*/ 0 h 28"/>
                  <a:gd name="T46" fmla="*/ 8 w 29"/>
                  <a:gd name="T47" fmla="*/ 1 h 28"/>
                  <a:gd name="T48" fmla="*/ 6 w 29"/>
                  <a:gd name="T49" fmla="*/ 1 h 28"/>
                  <a:gd name="T50" fmla="*/ 4 w 29"/>
                  <a:gd name="T51" fmla="*/ 3 h 28"/>
                  <a:gd name="T52" fmla="*/ 4 w 29"/>
                  <a:gd name="T53" fmla="*/ 5 h 28"/>
                  <a:gd name="T54" fmla="*/ 2 w 29"/>
                  <a:gd name="T55" fmla="*/ 7 h 28"/>
                  <a:gd name="T56" fmla="*/ 2 w 29"/>
                  <a:gd name="T57" fmla="*/ 9 h 28"/>
                  <a:gd name="T58" fmla="*/ 0 w 29"/>
                  <a:gd name="T59" fmla="*/ 11 h 28"/>
                  <a:gd name="T60" fmla="*/ 0 w 29"/>
                  <a:gd name="T61" fmla="*/ 13 h 28"/>
                  <a:gd name="T62" fmla="*/ 0 w 29"/>
                  <a:gd name="T63" fmla="*/ 17 h 28"/>
                  <a:gd name="T64" fmla="*/ 2 w 29"/>
                  <a:gd name="T65" fmla="*/ 19 h 28"/>
                  <a:gd name="T66" fmla="*/ 2 w 29"/>
                  <a:gd name="T67" fmla="*/ 21 h 28"/>
                  <a:gd name="T68" fmla="*/ 4 w 29"/>
                  <a:gd name="T69" fmla="*/ 22 h 28"/>
                  <a:gd name="T70" fmla="*/ 4 w 29"/>
                  <a:gd name="T71" fmla="*/ 24 h 28"/>
                  <a:gd name="T72" fmla="*/ 6 w 29"/>
                  <a:gd name="T73" fmla="*/ 24 h 28"/>
                  <a:gd name="T74" fmla="*/ 8 w 29"/>
                  <a:gd name="T75" fmla="*/ 26 h 28"/>
                  <a:gd name="T76" fmla="*/ 10 w 29"/>
                  <a:gd name="T77" fmla="*/ 26 h 28"/>
                  <a:gd name="T78" fmla="*/ 12 w 29"/>
                  <a:gd name="T79" fmla="*/ 28 h 28"/>
                  <a:gd name="T80" fmla="*/ 15 w 29"/>
                  <a:gd name="T81" fmla="*/ 28 h 28"/>
                  <a:gd name="T82" fmla="*/ 15 w 29"/>
                  <a:gd name="T83" fmla="*/ 28 h 28"/>
                  <a:gd name="T84" fmla="*/ 14 w 29"/>
                  <a:gd name="T85" fmla="*/ 26 h 28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w 29"/>
                  <a:gd name="T130" fmla="*/ 0 h 28"/>
                  <a:gd name="T131" fmla="*/ 29 w 29"/>
                  <a:gd name="T132" fmla="*/ 28 h 28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T129" t="T130" r="T131" b="T132"/>
                <a:pathLst>
                  <a:path w="29" h="28">
                    <a:moveTo>
                      <a:pt x="14" y="26"/>
                    </a:moveTo>
                    <a:lnTo>
                      <a:pt x="17" y="28"/>
                    </a:lnTo>
                    <a:lnTo>
                      <a:pt x="19" y="26"/>
                    </a:lnTo>
                    <a:lnTo>
                      <a:pt x="21" y="26"/>
                    </a:lnTo>
                    <a:lnTo>
                      <a:pt x="23" y="24"/>
                    </a:lnTo>
                    <a:lnTo>
                      <a:pt x="25" y="24"/>
                    </a:lnTo>
                    <a:lnTo>
                      <a:pt x="27" y="22"/>
                    </a:lnTo>
                    <a:lnTo>
                      <a:pt x="27" y="21"/>
                    </a:lnTo>
                    <a:lnTo>
                      <a:pt x="29" y="19"/>
                    </a:lnTo>
                    <a:lnTo>
                      <a:pt x="29" y="17"/>
                    </a:lnTo>
                    <a:lnTo>
                      <a:pt x="29" y="13"/>
                    </a:lnTo>
                    <a:lnTo>
                      <a:pt x="29" y="11"/>
                    </a:lnTo>
                    <a:lnTo>
                      <a:pt x="29" y="9"/>
                    </a:lnTo>
                    <a:lnTo>
                      <a:pt x="27" y="7"/>
                    </a:lnTo>
                    <a:lnTo>
                      <a:pt x="27" y="5"/>
                    </a:lnTo>
                    <a:lnTo>
                      <a:pt x="25" y="3"/>
                    </a:lnTo>
                    <a:lnTo>
                      <a:pt x="23" y="1"/>
                    </a:lnTo>
                    <a:lnTo>
                      <a:pt x="21" y="1"/>
                    </a:lnTo>
                    <a:lnTo>
                      <a:pt x="19" y="0"/>
                    </a:lnTo>
                    <a:lnTo>
                      <a:pt x="17" y="0"/>
                    </a:lnTo>
                    <a:lnTo>
                      <a:pt x="15" y="0"/>
                    </a:lnTo>
                    <a:lnTo>
                      <a:pt x="12" y="0"/>
                    </a:lnTo>
                    <a:lnTo>
                      <a:pt x="10" y="0"/>
                    </a:lnTo>
                    <a:lnTo>
                      <a:pt x="8" y="1"/>
                    </a:lnTo>
                    <a:lnTo>
                      <a:pt x="6" y="1"/>
                    </a:lnTo>
                    <a:lnTo>
                      <a:pt x="4" y="3"/>
                    </a:lnTo>
                    <a:lnTo>
                      <a:pt x="4" y="5"/>
                    </a:lnTo>
                    <a:lnTo>
                      <a:pt x="2" y="7"/>
                    </a:lnTo>
                    <a:lnTo>
                      <a:pt x="2" y="9"/>
                    </a:lnTo>
                    <a:lnTo>
                      <a:pt x="0" y="11"/>
                    </a:lnTo>
                    <a:lnTo>
                      <a:pt x="0" y="13"/>
                    </a:lnTo>
                    <a:lnTo>
                      <a:pt x="0" y="17"/>
                    </a:lnTo>
                    <a:lnTo>
                      <a:pt x="2" y="19"/>
                    </a:lnTo>
                    <a:lnTo>
                      <a:pt x="2" y="21"/>
                    </a:lnTo>
                    <a:lnTo>
                      <a:pt x="4" y="22"/>
                    </a:lnTo>
                    <a:lnTo>
                      <a:pt x="4" y="24"/>
                    </a:lnTo>
                    <a:lnTo>
                      <a:pt x="6" y="24"/>
                    </a:lnTo>
                    <a:lnTo>
                      <a:pt x="8" y="26"/>
                    </a:lnTo>
                    <a:lnTo>
                      <a:pt x="10" y="26"/>
                    </a:lnTo>
                    <a:lnTo>
                      <a:pt x="12" y="28"/>
                    </a:lnTo>
                    <a:lnTo>
                      <a:pt x="15" y="28"/>
                    </a:lnTo>
                    <a:lnTo>
                      <a:pt x="14" y="26"/>
                    </a:lnTo>
                    <a:close/>
                  </a:path>
                </a:pathLst>
              </a:custGeom>
              <a:solidFill>
                <a:srgbClr val="EB75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220" name="Line 220"/>
              <p:cNvSpPr>
                <a:spLocks noChangeShapeType="1"/>
              </p:cNvSpPr>
              <p:nvPr/>
            </p:nvSpPr>
            <p:spPr bwMode="auto">
              <a:xfrm>
                <a:off x="6382249" y="5265614"/>
                <a:ext cx="154204" cy="185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221" name="Line 221"/>
              <p:cNvSpPr>
                <a:spLocks noChangeShapeType="1"/>
              </p:cNvSpPr>
              <p:nvPr/>
            </p:nvSpPr>
            <p:spPr bwMode="auto">
              <a:xfrm>
                <a:off x="6382249" y="5397340"/>
                <a:ext cx="154204" cy="371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222" name="Freeform 222"/>
              <p:cNvSpPr>
                <a:spLocks/>
              </p:cNvSpPr>
              <p:nvPr/>
            </p:nvSpPr>
            <p:spPr bwMode="auto">
              <a:xfrm>
                <a:off x="5859668" y="4132025"/>
                <a:ext cx="431772" cy="202228"/>
              </a:xfrm>
              <a:custGeom>
                <a:avLst/>
                <a:gdLst>
                  <a:gd name="T0" fmla="*/ 0 w 252"/>
                  <a:gd name="T1" fmla="*/ 0 h 109"/>
                  <a:gd name="T2" fmla="*/ 0 w 252"/>
                  <a:gd name="T3" fmla="*/ 109 h 109"/>
                  <a:gd name="T4" fmla="*/ 217 w 252"/>
                  <a:gd name="T5" fmla="*/ 109 h 109"/>
                  <a:gd name="T6" fmla="*/ 217 w 252"/>
                  <a:gd name="T7" fmla="*/ 36 h 109"/>
                  <a:gd name="T8" fmla="*/ 252 w 252"/>
                  <a:gd name="T9" fmla="*/ 36 h 10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"/>
                  <a:gd name="T16" fmla="*/ 0 h 109"/>
                  <a:gd name="T17" fmla="*/ 252 w 252"/>
                  <a:gd name="T18" fmla="*/ 109 h 10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" h="109">
                    <a:moveTo>
                      <a:pt x="0" y="0"/>
                    </a:moveTo>
                    <a:lnTo>
                      <a:pt x="0" y="109"/>
                    </a:lnTo>
                    <a:lnTo>
                      <a:pt x="217" y="109"/>
                    </a:lnTo>
                    <a:lnTo>
                      <a:pt x="217" y="36"/>
                    </a:lnTo>
                    <a:lnTo>
                      <a:pt x="252" y="36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223" name="Freeform 223"/>
              <p:cNvSpPr>
                <a:spLocks/>
              </p:cNvSpPr>
              <p:nvPr/>
            </p:nvSpPr>
            <p:spPr bwMode="auto">
              <a:xfrm>
                <a:off x="5275406" y="3530907"/>
                <a:ext cx="430058" cy="204083"/>
              </a:xfrm>
              <a:custGeom>
                <a:avLst/>
                <a:gdLst>
                  <a:gd name="T0" fmla="*/ 0 w 251"/>
                  <a:gd name="T1" fmla="*/ 0 h 110"/>
                  <a:gd name="T2" fmla="*/ 0 w 251"/>
                  <a:gd name="T3" fmla="*/ 110 h 110"/>
                  <a:gd name="T4" fmla="*/ 217 w 251"/>
                  <a:gd name="T5" fmla="*/ 110 h 110"/>
                  <a:gd name="T6" fmla="*/ 217 w 251"/>
                  <a:gd name="T7" fmla="*/ 37 h 110"/>
                  <a:gd name="T8" fmla="*/ 251 w 251"/>
                  <a:gd name="T9" fmla="*/ 37 h 1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1"/>
                  <a:gd name="T16" fmla="*/ 0 h 110"/>
                  <a:gd name="T17" fmla="*/ 251 w 251"/>
                  <a:gd name="T18" fmla="*/ 110 h 1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1" h="110">
                    <a:moveTo>
                      <a:pt x="0" y="0"/>
                    </a:moveTo>
                    <a:lnTo>
                      <a:pt x="0" y="110"/>
                    </a:lnTo>
                    <a:lnTo>
                      <a:pt x="217" y="110"/>
                    </a:lnTo>
                    <a:lnTo>
                      <a:pt x="217" y="37"/>
                    </a:lnTo>
                    <a:lnTo>
                      <a:pt x="251" y="37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224" name="Freeform 224"/>
              <p:cNvSpPr>
                <a:spLocks/>
              </p:cNvSpPr>
              <p:nvPr/>
            </p:nvSpPr>
            <p:spPr bwMode="auto">
              <a:xfrm>
                <a:off x="5121201" y="3864862"/>
                <a:ext cx="95949" cy="534327"/>
              </a:xfrm>
              <a:custGeom>
                <a:avLst/>
                <a:gdLst>
                  <a:gd name="T0" fmla="*/ 54 w 56"/>
                  <a:gd name="T1" fmla="*/ 288 h 288"/>
                  <a:gd name="T2" fmla="*/ 56 w 56"/>
                  <a:gd name="T3" fmla="*/ 0 h 288"/>
                  <a:gd name="T4" fmla="*/ 0 w 56"/>
                  <a:gd name="T5" fmla="*/ 0 h 288"/>
                  <a:gd name="T6" fmla="*/ 0 w 56"/>
                  <a:gd name="T7" fmla="*/ 288 h 288"/>
                  <a:gd name="T8" fmla="*/ 56 w 56"/>
                  <a:gd name="T9" fmla="*/ 288 h 288"/>
                  <a:gd name="T10" fmla="*/ 56 w 56"/>
                  <a:gd name="T11" fmla="*/ 288 h 28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56"/>
                  <a:gd name="T19" fmla="*/ 0 h 288"/>
                  <a:gd name="T20" fmla="*/ 56 w 56"/>
                  <a:gd name="T21" fmla="*/ 288 h 28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56" h="288">
                    <a:moveTo>
                      <a:pt x="54" y="288"/>
                    </a:moveTo>
                    <a:lnTo>
                      <a:pt x="56" y="0"/>
                    </a:lnTo>
                    <a:lnTo>
                      <a:pt x="0" y="0"/>
                    </a:lnTo>
                    <a:lnTo>
                      <a:pt x="0" y="288"/>
                    </a:lnTo>
                    <a:lnTo>
                      <a:pt x="56" y="288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225" name="Freeform 225"/>
              <p:cNvSpPr>
                <a:spLocks/>
              </p:cNvSpPr>
              <p:nvPr/>
            </p:nvSpPr>
            <p:spPr bwMode="auto">
              <a:xfrm>
                <a:off x="5702037" y="3269310"/>
                <a:ext cx="95949" cy="532471"/>
              </a:xfrm>
              <a:custGeom>
                <a:avLst/>
                <a:gdLst>
                  <a:gd name="T0" fmla="*/ 54 w 56"/>
                  <a:gd name="T1" fmla="*/ 285 h 287"/>
                  <a:gd name="T2" fmla="*/ 56 w 56"/>
                  <a:gd name="T3" fmla="*/ 0 h 287"/>
                  <a:gd name="T4" fmla="*/ 0 w 56"/>
                  <a:gd name="T5" fmla="*/ 0 h 287"/>
                  <a:gd name="T6" fmla="*/ 0 w 56"/>
                  <a:gd name="T7" fmla="*/ 287 h 287"/>
                  <a:gd name="T8" fmla="*/ 56 w 56"/>
                  <a:gd name="T9" fmla="*/ 287 h 287"/>
                  <a:gd name="T10" fmla="*/ 56 w 56"/>
                  <a:gd name="T11" fmla="*/ 287 h 28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56"/>
                  <a:gd name="T19" fmla="*/ 0 h 287"/>
                  <a:gd name="T20" fmla="*/ 56 w 56"/>
                  <a:gd name="T21" fmla="*/ 287 h 28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56" h="287">
                    <a:moveTo>
                      <a:pt x="54" y="285"/>
                    </a:moveTo>
                    <a:lnTo>
                      <a:pt x="56" y="0"/>
                    </a:lnTo>
                    <a:lnTo>
                      <a:pt x="0" y="0"/>
                    </a:lnTo>
                    <a:lnTo>
                      <a:pt x="0" y="287"/>
                    </a:lnTo>
                    <a:lnTo>
                      <a:pt x="56" y="287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226" name="Freeform 226"/>
              <p:cNvSpPr>
                <a:spLocks/>
              </p:cNvSpPr>
              <p:nvPr/>
            </p:nvSpPr>
            <p:spPr bwMode="auto">
              <a:xfrm>
                <a:off x="5702037" y="3864862"/>
                <a:ext cx="95949" cy="534327"/>
              </a:xfrm>
              <a:custGeom>
                <a:avLst/>
                <a:gdLst>
                  <a:gd name="T0" fmla="*/ 54 w 56"/>
                  <a:gd name="T1" fmla="*/ 288 h 288"/>
                  <a:gd name="T2" fmla="*/ 56 w 56"/>
                  <a:gd name="T3" fmla="*/ 0 h 288"/>
                  <a:gd name="T4" fmla="*/ 0 w 56"/>
                  <a:gd name="T5" fmla="*/ 0 h 288"/>
                  <a:gd name="T6" fmla="*/ 0 w 56"/>
                  <a:gd name="T7" fmla="*/ 288 h 288"/>
                  <a:gd name="T8" fmla="*/ 56 w 56"/>
                  <a:gd name="T9" fmla="*/ 288 h 288"/>
                  <a:gd name="T10" fmla="*/ 56 w 56"/>
                  <a:gd name="T11" fmla="*/ 288 h 28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56"/>
                  <a:gd name="T19" fmla="*/ 0 h 288"/>
                  <a:gd name="T20" fmla="*/ 56 w 56"/>
                  <a:gd name="T21" fmla="*/ 288 h 28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56" h="288">
                    <a:moveTo>
                      <a:pt x="54" y="288"/>
                    </a:moveTo>
                    <a:lnTo>
                      <a:pt x="56" y="0"/>
                    </a:lnTo>
                    <a:lnTo>
                      <a:pt x="0" y="0"/>
                    </a:lnTo>
                    <a:lnTo>
                      <a:pt x="0" y="288"/>
                    </a:lnTo>
                    <a:lnTo>
                      <a:pt x="56" y="288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227" name="Freeform 227"/>
              <p:cNvSpPr>
                <a:spLocks/>
              </p:cNvSpPr>
              <p:nvPr/>
            </p:nvSpPr>
            <p:spPr bwMode="auto">
              <a:xfrm>
                <a:off x="5923063" y="4000299"/>
                <a:ext cx="246727" cy="267163"/>
              </a:xfrm>
              <a:custGeom>
                <a:avLst/>
                <a:gdLst>
                  <a:gd name="T0" fmla="*/ 144 w 144"/>
                  <a:gd name="T1" fmla="*/ 144 h 144"/>
                  <a:gd name="T2" fmla="*/ 144 w 144"/>
                  <a:gd name="T3" fmla="*/ 0 h 144"/>
                  <a:gd name="T4" fmla="*/ 0 w 144"/>
                  <a:gd name="T5" fmla="*/ 0 h 144"/>
                  <a:gd name="T6" fmla="*/ 0 w 144"/>
                  <a:gd name="T7" fmla="*/ 144 h 144"/>
                  <a:gd name="T8" fmla="*/ 144 w 144"/>
                  <a:gd name="T9" fmla="*/ 144 h 144"/>
                  <a:gd name="T10" fmla="*/ 144 w 144"/>
                  <a:gd name="T11" fmla="*/ 144 h 14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4"/>
                  <a:gd name="T19" fmla="*/ 0 h 144"/>
                  <a:gd name="T20" fmla="*/ 144 w 144"/>
                  <a:gd name="T21" fmla="*/ 144 h 144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4" h="144">
                    <a:moveTo>
                      <a:pt x="144" y="144"/>
                    </a:moveTo>
                    <a:lnTo>
                      <a:pt x="144" y="0"/>
                    </a:lnTo>
                    <a:lnTo>
                      <a:pt x="0" y="0"/>
                    </a:lnTo>
                    <a:lnTo>
                      <a:pt x="0" y="144"/>
                    </a:lnTo>
                    <a:lnTo>
                      <a:pt x="144" y="144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228" name="Rectangle 228"/>
              <p:cNvSpPr>
                <a:spLocks noChangeArrowheads="1"/>
              </p:cNvSpPr>
              <p:nvPr/>
            </p:nvSpPr>
            <p:spPr bwMode="auto">
              <a:xfrm>
                <a:off x="5962471" y="4054102"/>
                <a:ext cx="62518" cy="1231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D</a:t>
                </a:r>
                <a:endParaRPr lang="en-US" sz="1200" b="1">
                  <a:latin typeface="+mj-lt"/>
                </a:endParaRPr>
              </a:p>
            </p:txBody>
          </p:sp>
          <p:sp>
            <p:nvSpPr>
              <p:cNvPr id="229" name="Rectangle 229"/>
              <p:cNvSpPr>
                <a:spLocks noChangeArrowheads="1"/>
              </p:cNvSpPr>
              <p:nvPr/>
            </p:nvSpPr>
            <p:spPr bwMode="auto">
              <a:xfrm>
                <a:off x="6041286" y="4054102"/>
                <a:ext cx="88166" cy="1231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M</a:t>
                </a:r>
                <a:endParaRPr lang="en-US" sz="1200" b="1">
                  <a:latin typeface="+mj-lt"/>
                </a:endParaRPr>
              </a:p>
            </p:txBody>
          </p:sp>
          <p:sp>
            <p:nvSpPr>
              <p:cNvPr id="230" name="Freeform 230"/>
              <p:cNvSpPr>
                <a:spLocks/>
              </p:cNvSpPr>
              <p:nvPr/>
            </p:nvSpPr>
            <p:spPr bwMode="auto">
              <a:xfrm>
                <a:off x="5948764" y="4465979"/>
                <a:ext cx="186758" cy="528761"/>
              </a:xfrm>
              <a:custGeom>
                <a:avLst/>
                <a:gdLst>
                  <a:gd name="T0" fmla="*/ 0 w 109"/>
                  <a:gd name="T1" fmla="*/ 0 h 285"/>
                  <a:gd name="T2" fmla="*/ 2 w 109"/>
                  <a:gd name="T3" fmla="*/ 117 h 285"/>
                  <a:gd name="T4" fmla="*/ 37 w 109"/>
                  <a:gd name="T5" fmla="*/ 144 h 285"/>
                  <a:gd name="T6" fmla="*/ 2 w 109"/>
                  <a:gd name="T7" fmla="*/ 170 h 285"/>
                  <a:gd name="T8" fmla="*/ 2 w 109"/>
                  <a:gd name="T9" fmla="*/ 285 h 285"/>
                  <a:gd name="T10" fmla="*/ 109 w 109"/>
                  <a:gd name="T11" fmla="*/ 199 h 285"/>
                  <a:gd name="T12" fmla="*/ 109 w 109"/>
                  <a:gd name="T13" fmla="*/ 88 h 285"/>
                  <a:gd name="T14" fmla="*/ 2 w 109"/>
                  <a:gd name="T15" fmla="*/ 2 h 285"/>
                  <a:gd name="T16" fmla="*/ 2 w 109"/>
                  <a:gd name="T17" fmla="*/ 2 h 285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09"/>
                  <a:gd name="T28" fmla="*/ 0 h 285"/>
                  <a:gd name="T29" fmla="*/ 109 w 109"/>
                  <a:gd name="T30" fmla="*/ 285 h 285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09" h="285">
                    <a:moveTo>
                      <a:pt x="0" y="0"/>
                    </a:moveTo>
                    <a:lnTo>
                      <a:pt x="2" y="117"/>
                    </a:lnTo>
                    <a:lnTo>
                      <a:pt x="37" y="144"/>
                    </a:lnTo>
                    <a:lnTo>
                      <a:pt x="2" y="170"/>
                    </a:lnTo>
                    <a:lnTo>
                      <a:pt x="2" y="285"/>
                    </a:lnTo>
                    <a:lnTo>
                      <a:pt x="109" y="199"/>
                    </a:lnTo>
                    <a:lnTo>
                      <a:pt x="109" y="88"/>
                    </a:lnTo>
                    <a:lnTo>
                      <a:pt x="2" y="2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231" name="Freeform 231"/>
              <p:cNvSpPr>
                <a:spLocks/>
              </p:cNvSpPr>
              <p:nvPr/>
            </p:nvSpPr>
            <p:spPr bwMode="auto">
              <a:xfrm>
                <a:off x="6291440" y="4465979"/>
                <a:ext cx="94236" cy="532471"/>
              </a:xfrm>
              <a:custGeom>
                <a:avLst/>
                <a:gdLst>
                  <a:gd name="T0" fmla="*/ 53 w 55"/>
                  <a:gd name="T1" fmla="*/ 287 h 287"/>
                  <a:gd name="T2" fmla="*/ 55 w 55"/>
                  <a:gd name="T3" fmla="*/ 0 h 287"/>
                  <a:gd name="T4" fmla="*/ 0 w 55"/>
                  <a:gd name="T5" fmla="*/ 0 h 287"/>
                  <a:gd name="T6" fmla="*/ 0 w 55"/>
                  <a:gd name="T7" fmla="*/ 287 h 287"/>
                  <a:gd name="T8" fmla="*/ 55 w 55"/>
                  <a:gd name="T9" fmla="*/ 287 h 287"/>
                  <a:gd name="T10" fmla="*/ 55 w 55"/>
                  <a:gd name="T11" fmla="*/ 287 h 28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55"/>
                  <a:gd name="T19" fmla="*/ 0 h 287"/>
                  <a:gd name="T20" fmla="*/ 55 w 55"/>
                  <a:gd name="T21" fmla="*/ 287 h 28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55" h="287">
                    <a:moveTo>
                      <a:pt x="53" y="287"/>
                    </a:moveTo>
                    <a:lnTo>
                      <a:pt x="55" y="0"/>
                    </a:lnTo>
                    <a:lnTo>
                      <a:pt x="0" y="0"/>
                    </a:lnTo>
                    <a:lnTo>
                      <a:pt x="0" y="287"/>
                    </a:lnTo>
                    <a:lnTo>
                      <a:pt x="55" y="287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232" name="Freeform 232"/>
              <p:cNvSpPr>
                <a:spLocks/>
              </p:cNvSpPr>
              <p:nvPr/>
            </p:nvSpPr>
            <p:spPr bwMode="auto">
              <a:xfrm>
                <a:off x="6536453" y="5067096"/>
                <a:ext cx="188472" cy="528761"/>
              </a:xfrm>
              <a:custGeom>
                <a:avLst/>
                <a:gdLst>
                  <a:gd name="T0" fmla="*/ 0 w 110"/>
                  <a:gd name="T1" fmla="*/ 0 h 285"/>
                  <a:gd name="T2" fmla="*/ 0 w 110"/>
                  <a:gd name="T3" fmla="*/ 116 h 285"/>
                  <a:gd name="T4" fmla="*/ 35 w 110"/>
                  <a:gd name="T5" fmla="*/ 143 h 285"/>
                  <a:gd name="T6" fmla="*/ 0 w 110"/>
                  <a:gd name="T7" fmla="*/ 170 h 285"/>
                  <a:gd name="T8" fmla="*/ 0 w 110"/>
                  <a:gd name="T9" fmla="*/ 285 h 285"/>
                  <a:gd name="T10" fmla="*/ 110 w 110"/>
                  <a:gd name="T11" fmla="*/ 199 h 285"/>
                  <a:gd name="T12" fmla="*/ 110 w 110"/>
                  <a:gd name="T13" fmla="*/ 88 h 285"/>
                  <a:gd name="T14" fmla="*/ 0 w 110"/>
                  <a:gd name="T15" fmla="*/ 0 h 285"/>
                  <a:gd name="T16" fmla="*/ 0 w 110"/>
                  <a:gd name="T17" fmla="*/ 0 h 285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10"/>
                  <a:gd name="T28" fmla="*/ 0 h 285"/>
                  <a:gd name="T29" fmla="*/ 110 w 110"/>
                  <a:gd name="T30" fmla="*/ 285 h 285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10" h="285">
                    <a:moveTo>
                      <a:pt x="0" y="0"/>
                    </a:moveTo>
                    <a:lnTo>
                      <a:pt x="0" y="116"/>
                    </a:lnTo>
                    <a:lnTo>
                      <a:pt x="35" y="143"/>
                    </a:lnTo>
                    <a:lnTo>
                      <a:pt x="0" y="170"/>
                    </a:lnTo>
                    <a:lnTo>
                      <a:pt x="0" y="285"/>
                    </a:lnTo>
                    <a:lnTo>
                      <a:pt x="110" y="199"/>
                    </a:lnTo>
                    <a:lnTo>
                      <a:pt x="110" y="88"/>
                    </a:lnTo>
                    <a:lnTo>
                      <a:pt x="0" y="0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</p:grpSp>
      </p:grpSp>
      <p:sp>
        <p:nvSpPr>
          <p:cNvPr id="211" name="Line 211"/>
          <p:cNvSpPr>
            <a:spLocks noChangeShapeType="1"/>
          </p:cNvSpPr>
          <p:nvPr/>
        </p:nvSpPr>
        <p:spPr bwMode="auto">
          <a:xfrm flipH="1">
            <a:off x="4869745" y="3524348"/>
            <a:ext cx="1173665" cy="489799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diamond" w="med" len="med"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212" name="Line 212"/>
          <p:cNvSpPr>
            <a:spLocks noChangeShapeType="1"/>
          </p:cNvSpPr>
          <p:nvPr/>
        </p:nvSpPr>
        <p:spPr bwMode="auto">
          <a:xfrm flipH="1">
            <a:off x="5445441" y="3535545"/>
            <a:ext cx="604823" cy="107607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diamond" w="med" len="med"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214" name="Line 214"/>
          <p:cNvSpPr>
            <a:spLocks noChangeShapeType="1"/>
          </p:cNvSpPr>
          <p:nvPr/>
        </p:nvSpPr>
        <p:spPr bwMode="auto">
          <a:xfrm>
            <a:off x="6053691" y="3513216"/>
            <a:ext cx="591116" cy="2307994"/>
          </a:xfrm>
          <a:prstGeom prst="line">
            <a:avLst/>
          </a:prstGeom>
          <a:noFill/>
          <a:ln w="38100">
            <a:solidFill>
              <a:srgbClr val="00B050"/>
            </a:solidFill>
            <a:prstDash val="solid"/>
            <a:round/>
            <a:headEnd type="diamond" w="med" len="med"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213" name="Line 213"/>
          <p:cNvSpPr>
            <a:spLocks noChangeShapeType="1"/>
          </p:cNvSpPr>
          <p:nvPr/>
        </p:nvSpPr>
        <p:spPr bwMode="auto">
          <a:xfrm flipH="1">
            <a:off x="6046837" y="3516927"/>
            <a:ext cx="3427" cy="1693890"/>
          </a:xfrm>
          <a:prstGeom prst="line">
            <a:avLst/>
          </a:prstGeom>
          <a:noFill/>
          <a:ln w="38100">
            <a:solidFill>
              <a:srgbClr val="00B050"/>
            </a:solidFill>
            <a:prstDash val="sysDash"/>
            <a:round/>
            <a:headEnd type="diamond" w="med" len="med"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>
              <a:latin typeface="+mj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445392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1" grpId="0" animBg="1"/>
      <p:bldP spid="212" grpId="0" animBg="1"/>
      <p:bldP spid="214" grpId="0" animBg="1"/>
      <p:bldP spid="213" grpId="0" animBg="1"/>
    </p:bldLst>
  </p:timing>
  <p:extLst mod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Rectangle 68"/>
          <p:cNvSpPr>
            <a:spLocks noGrp="1" noChangeArrowheads="1"/>
          </p:cNvSpPr>
          <p:nvPr>
            <p:ph type="title"/>
          </p:nvPr>
        </p:nvSpPr>
        <p:spPr>
          <a:xfrm>
            <a:off x="533400" y="152400"/>
            <a:ext cx="8001000" cy="468313"/>
          </a:xfrm>
        </p:spPr>
        <p:txBody>
          <a:bodyPr/>
          <a:lstStyle/>
          <a:p>
            <a:r>
              <a:rPr lang="en-US" sz="3200" dirty="0" smtClean="0">
                <a:solidFill>
                  <a:srgbClr val="0070C0"/>
                </a:solidFill>
              </a:rPr>
              <a:t>Data Hazard: HW Solution 1 - Add Stalls</a:t>
            </a:r>
          </a:p>
        </p:txBody>
      </p:sp>
      <p:sp>
        <p:nvSpPr>
          <p:cNvPr id="349" name="Rectangle 348"/>
          <p:cNvSpPr>
            <a:spLocks noChangeArrowheads="1"/>
          </p:cNvSpPr>
          <p:nvPr/>
        </p:nvSpPr>
        <p:spPr bwMode="auto">
          <a:xfrm>
            <a:off x="492125" y="708025"/>
            <a:ext cx="8004992" cy="4270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med" len="lg"/>
          </a:ln>
        </p:spPr>
        <p:txBody>
          <a:bodyPr wrap="square">
            <a:spAutoFit/>
          </a:bodyPr>
          <a:lstStyle/>
          <a:p>
            <a:pPr>
              <a:buFontTx/>
              <a:buChar char="•"/>
            </a:pPr>
            <a:r>
              <a:rPr lang="en-US" sz="2200" dirty="0">
                <a:latin typeface="+mj-lt"/>
              </a:rPr>
              <a:t>  Have the hardware detect hazard and add stalls if needed</a:t>
            </a:r>
          </a:p>
        </p:txBody>
      </p:sp>
      <p:sp>
        <p:nvSpPr>
          <p:cNvPr id="350" name="Rectangle 349"/>
          <p:cNvSpPr>
            <a:spLocks noChangeArrowheads="1"/>
          </p:cNvSpPr>
          <p:nvPr/>
        </p:nvSpPr>
        <p:spPr bwMode="auto">
          <a:xfrm>
            <a:off x="492125" y="5867400"/>
            <a:ext cx="4411657" cy="43088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med" len="lg"/>
          </a:ln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en-US" sz="2200" dirty="0">
                <a:latin typeface="+mj-lt"/>
              </a:rPr>
              <a:t>   </a:t>
            </a:r>
            <a:r>
              <a:rPr lang="en-US" sz="2200" b="1" dirty="0" smtClean="0">
                <a:solidFill>
                  <a:srgbClr val="FF0000"/>
                </a:solidFill>
                <a:latin typeface="+mj-lt"/>
              </a:rPr>
              <a:t>Problem: </a:t>
            </a:r>
            <a:r>
              <a:rPr lang="en-US" sz="2200" dirty="0" smtClean="0">
                <a:latin typeface="+mj-lt"/>
              </a:rPr>
              <a:t>this </a:t>
            </a:r>
            <a:r>
              <a:rPr lang="en-US" sz="2200" dirty="0">
                <a:latin typeface="+mj-lt"/>
              </a:rPr>
              <a:t>also slows us down!</a:t>
            </a:r>
          </a:p>
        </p:txBody>
      </p:sp>
      <p:grpSp>
        <p:nvGrpSpPr>
          <p:cNvPr id="382" name="Группа 381"/>
          <p:cNvGrpSpPr/>
          <p:nvPr/>
        </p:nvGrpSpPr>
        <p:grpSpPr>
          <a:xfrm>
            <a:off x="119380" y="1363097"/>
            <a:ext cx="8483283" cy="4315391"/>
            <a:chOff x="119380" y="1363097"/>
            <a:chExt cx="8483283" cy="4315391"/>
          </a:xfrm>
        </p:grpSpPr>
        <p:grpSp>
          <p:nvGrpSpPr>
            <p:cNvPr id="3" name="Group 2"/>
            <p:cNvGrpSpPr>
              <a:grpSpLocks/>
            </p:cNvGrpSpPr>
            <p:nvPr/>
          </p:nvGrpSpPr>
          <p:grpSpPr bwMode="auto">
            <a:xfrm>
              <a:off x="3389313" y="2565400"/>
              <a:ext cx="2297112" cy="561975"/>
              <a:chOff x="2312" y="1616"/>
              <a:chExt cx="1567" cy="354"/>
            </a:xfrm>
          </p:grpSpPr>
          <p:grpSp>
            <p:nvGrpSpPr>
              <p:cNvPr id="4" name="Group 3"/>
              <p:cNvGrpSpPr>
                <a:grpSpLocks/>
              </p:cNvGrpSpPr>
              <p:nvPr/>
            </p:nvGrpSpPr>
            <p:grpSpPr bwMode="auto">
              <a:xfrm>
                <a:off x="2312" y="1616"/>
                <a:ext cx="271" cy="246"/>
                <a:chOff x="2304" y="1616"/>
                <a:chExt cx="271" cy="246"/>
              </a:xfrm>
            </p:grpSpPr>
            <p:sp>
              <p:nvSpPr>
                <p:cNvPr id="17" name="Rectangle 4"/>
                <p:cNvSpPr>
                  <a:spLocks noChangeArrowheads="1"/>
                </p:cNvSpPr>
                <p:nvPr/>
              </p:nvSpPr>
              <p:spPr bwMode="auto">
                <a:xfrm>
                  <a:off x="2375" y="1678"/>
                  <a:ext cx="73" cy="123"/>
                </a:xfrm>
                <a:prstGeom prst="rect">
                  <a:avLst/>
                </a:prstGeom>
                <a:solidFill>
                  <a:srgbClr val="CCCCCC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>
                    <a:latin typeface="+mj-lt"/>
                  </a:endParaRPr>
                </a:p>
              </p:txBody>
            </p:sp>
            <p:sp>
              <p:nvSpPr>
                <p:cNvPr id="18" name="Rectangle 5"/>
                <p:cNvSpPr>
                  <a:spLocks noChangeArrowheads="1"/>
                </p:cNvSpPr>
                <p:nvPr/>
              </p:nvSpPr>
              <p:spPr bwMode="auto">
                <a:xfrm>
                  <a:off x="2375" y="1678"/>
                  <a:ext cx="73" cy="123"/>
                </a:xfrm>
                <a:prstGeom prst="rect">
                  <a:avLst/>
                </a:prstGeom>
                <a:noFill/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>
                    <a:latin typeface="+mj-lt"/>
                  </a:endParaRPr>
                </a:p>
              </p:txBody>
            </p:sp>
            <p:sp>
              <p:nvSpPr>
                <p:cNvPr id="19" name="Rectangle 6"/>
                <p:cNvSpPr>
                  <a:spLocks noChangeArrowheads="1"/>
                </p:cNvSpPr>
                <p:nvPr/>
              </p:nvSpPr>
              <p:spPr bwMode="auto">
                <a:xfrm>
                  <a:off x="2304" y="1678"/>
                  <a:ext cx="71" cy="123"/>
                </a:xfrm>
                <a:prstGeom prst="rect">
                  <a:avLst/>
                </a:prstGeom>
                <a:noFill/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>
                    <a:latin typeface="+mj-lt"/>
                  </a:endParaRPr>
                </a:p>
              </p:txBody>
            </p:sp>
            <p:sp>
              <p:nvSpPr>
                <p:cNvPr id="20" name="Rectangle 7"/>
                <p:cNvSpPr>
                  <a:spLocks noChangeArrowheads="1"/>
                </p:cNvSpPr>
                <p:nvPr/>
              </p:nvSpPr>
              <p:spPr bwMode="auto">
                <a:xfrm>
                  <a:off x="2341" y="1702"/>
                  <a:ext cx="18" cy="7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US" sz="800">
                      <a:solidFill>
                        <a:srgbClr val="000000"/>
                      </a:solidFill>
                      <a:latin typeface="+mj-lt"/>
                    </a:rPr>
                    <a:t>I</a:t>
                  </a:r>
                  <a:endParaRPr lang="en-US" sz="1200" b="1">
                    <a:latin typeface="+mj-lt"/>
                  </a:endParaRPr>
                </a:p>
              </p:txBody>
            </p:sp>
            <p:sp>
              <p:nvSpPr>
                <p:cNvPr id="21" name="Rectangle 8"/>
                <p:cNvSpPr>
                  <a:spLocks noChangeArrowheads="1"/>
                </p:cNvSpPr>
                <p:nvPr/>
              </p:nvSpPr>
              <p:spPr bwMode="auto">
                <a:xfrm>
                  <a:off x="2358" y="1702"/>
                  <a:ext cx="60" cy="7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US" sz="800">
                      <a:solidFill>
                        <a:srgbClr val="000000"/>
                      </a:solidFill>
                      <a:latin typeface="+mj-lt"/>
                    </a:rPr>
                    <a:t>M</a:t>
                  </a:r>
                  <a:endParaRPr lang="en-US" sz="1200" b="1">
                    <a:latin typeface="+mj-lt"/>
                  </a:endParaRPr>
                </a:p>
              </p:txBody>
            </p:sp>
            <p:sp>
              <p:nvSpPr>
                <p:cNvPr id="22" name="Line 9"/>
                <p:cNvSpPr>
                  <a:spLocks noChangeShapeType="1"/>
                </p:cNvSpPr>
                <p:nvPr/>
              </p:nvSpPr>
              <p:spPr bwMode="auto">
                <a:xfrm>
                  <a:off x="2446" y="1739"/>
                  <a:ext cx="129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>
                    <a:latin typeface="+mj-lt"/>
                  </a:endParaRPr>
                </a:p>
              </p:txBody>
            </p:sp>
            <p:sp>
              <p:nvSpPr>
                <p:cNvPr id="23" name="Freeform 10"/>
                <p:cNvSpPr>
                  <a:spLocks/>
                </p:cNvSpPr>
                <p:nvPr/>
              </p:nvSpPr>
              <p:spPr bwMode="auto">
                <a:xfrm>
                  <a:off x="2519" y="1616"/>
                  <a:ext cx="54" cy="246"/>
                </a:xfrm>
                <a:custGeom>
                  <a:avLst/>
                  <a:gdLst>
                    <a:gd name="T0" fmla="*/ 54 w 54"/>
                    <a:gd name="T1" fmla="*/ 246 h 288"/>
                    <a:gd name="T2" fmla="*/ 54 w 54"/>
                    <a:gd name="T3" fmla="*/ 0 h 288"/>
                    <a:gd name="T4" fmla="*/ 0 w 54"/>
                    <a:gd name="T5" fmla="*/ 0 h 288"/>
                    <a:gd name="T6" fmla="*/ 0 w 54"/>
                    <a:gd name="T7" fmla="*/ 246 h 288"/>
                    <a:gd name="T8" fmla="*/ 54 w 54"/>
                    <a:gd name="T9" fmla="*/ 246 h 288"/>
                    <a:gd name="T10" fmla="*/ 54 w 54"/>
                    <a:gd name="T11" fmla="*/ 246 h 288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54"/>
                    <a:gd name="T19" fmla="*/ 0 h 288"/>
                    <a:gd name="T20" fmla="*/ 54 w 54"/>
                    <a:gd name="T21" fmla="*/ 288 h 288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54" h="288">
                      <a:moveTo>
                        <a:pt x="54" y="288"/>
                      </a:moveTo>
                      <a:lnTo>
                        <a:pt x="54" y="0"/>
                      </a:lnTo>
                      <a:lnTo>
                        <a:pt x="0" y="0"/>
                      </a:lnTo>
                      <a:lnTo>
                        <a:pt x="0" y="288"/>
                      </a:lnTo>
                      <a:lnTo>
                        <a:pt x="54" y="288"/>
                      </a:lnTo>
                      <a:close/>
                    </a:path>
                  </a:pathLst>
                </a:custGeom>
                <a:solidFill>
                  <a:srgbClr val="CCCCC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>
                    <a:latin typeface="+mj-lt"/>
                  </a:endParaRPr>
                </a:p>
              </p:txBody>
            </p:sp>
            <p:sp>
              <p:nvSpPr>
                <p:cNvPr id="24" name="Freeform 11"/>
                <p:cNvSpPr>
                  <a:spLocks/>
                </p:cNvSpPr>
                <p:nvPr/>
              </p:nvSpPr>
              <p:spPr bwMode="auto">
                <a:xfrm>
                  <a:off x="2519" y="1616"/>
                  <a:ext cx="54" cy="246"/>
                </a:xfrm>
                <a:custGeom>
                  <a:avLst/>
                  <a:gdLst>
                    <a:gd name="T0" fmla="*/ 54 w 54"/>
                    <a:gd name="T1" fmla="*/ 246 h 288"/>
                    <a:gd name="T2" fmla="*/ 54 w 54"/>
                    <a:gd name="T3" fmla="*/ 0 h 288"/>
                    <a:gd name="T4" fmla="*/ 0 w 54"/>
                    <a:gd name="T5" fmla="*/ 0 h 288"/>
                    <a:gd name="T6" fmla="*/ 0 w 54"/>
                    <a:gd name="T7" fmla="*/ 246 h 288"/>
                    <a:gd name="T8" fmla="*/ 54 w 54"/>
                    <a:gd name="T9" fmla="*/ 246 h 288"/>
                    <a:gd name="T10" fmla="*/ 54 w 54"/>
                    <a:gd name="T11" fmla="*/ 246 h 288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54"/>
                    <a:gd name="T19" fmla="*/ 0 h 288"/>
                    <a:gd name="T20" fmla="*/ 54 w 54"/>
                    <a:gd name="T21" fmla="*/ 288 h 288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54" h="288">
                      <a:moveTo>
                        <a:pt x="54" y="288"/>
                      </a:moveTo>
                      <a:lnTo>
                        <a:pt x="54" y="0"/>
                      </a:lnTo>
                      <a:lnTo>
                        <a:pt x="0" y="0"/>
                      </a:lnTo>
                      <a:lnTo>
                        <a:pt x="0" y="288"/>
                      </a:lnTo>
                      <a:lnTo>
                        <a:pt x="54" y="288"/>
                      </a:ln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>
                    <a:latin typeface="+mj-lt"/>
                  </a:endParaRPr>
                </a:p>
              </p:txBody>
            </p:sp>
          </p:grpSp>
          <p:grpSp>
            <p:nvGrpSpPr>
              <p:cNvPr id="5" name="Group 12"/>
              <p:cNvGrpSpPr>
                <a:grpSpLocks/>
              </p:cNvGrpSpPr>
              <p:nvPr/>
            </p:nvGrpSpPr>
            <p:grpSpPr bwMode="auto">
              <a:xfrm>
                <a:off x="2571" y="1632"/>
                <a:ext cx="333" cy="338"/>
                <a:chOff x="1971" y="1920"/>
                <a:chExt cx="381" cy="338"/>
              </a:xfrm>
            </p:grpSpPr>
            <p:sp>
              <p:nvSpPr>
                <p:cNvPr id="15" name="AutoShape 13"/>
                <p:cNvSpPr>
                  <a:spLocks noChangeArrowheads="1"/>
                </p:cNvSpPr>
                <p:nvPr/>
              </p:nvSpPr>
              <p:spPr bwMode="auto">
                <a:xfrm>
                  <a:off x="2016" y="1920"/>
                  <a:ext cx="336" cy="240"/>
                </a:xfrm>
                <a:prstGeom prst="cloudCallout">
                  <a:avLst>
                    <a:gd name="adj1" fmla="val -43750"/>
                    <a:gd name="adj2" fmla="val 70000"/>
                  </a:avLst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med" len="lg"/>
                </a:ln>
              </p:spPr>
              <p:txBody>
                <a:bodyPr wrap="none" anchor="ctr"/>
                <a:lstStyle/>
                <a:p>
                  <a:pPr algn="ctr"/>
                  <a:r>
                    <a:rPr lang="en-US" sz="900" b="1">
                      <a:latin typeface="+mj-lt"/>
                    </a:rPr>
                    <a:t>bubble</a:t>
                  </a:r>
                  <a:endParaRPr lang="en-US" sz="1200" b="1">
                    <a:latin typeface="+mj-lt"/>
                  </a:endParaRPr>
                </a:p>
              </p:txBody>
            </p:sp>
            <p:sp>
              <p:nvSpPr>
                <p:cNvPr id="16" name="Oval 14"/>
                <p:cNvSpPr>
                  <a:spLocks noChangeArrowheads="1"/>
                </p:cNvSpPr>
                <p:nvPr/>
              </p:nvSpPr>
              <p:spPr bwMode="auto">
                <a:xfrm rot="1942148">
                  <a:off x="1971" y="2130"/>
                  <a:ext cx="158" cy="128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noFill/>
                  <a:round/>
                  <a:headEnd type="none" w="sm" len="sm"/>
                  <a:tailEnd type="none" w="med" len="lg"/>
                </a:ln>
              </p:spPr>
              <p:txBody>
                <a:bodyPr wrap="none" anchor="ctr"/>
                <a:lstStyle/>
                <a:p>
                  <a:endParaRPr lang="en-US">
                    <a:latin typeface="+mj-lt"/>
                  </a:endParaRPr>
                </a:p>
              </p:txBody>
            </p:sp>
          </p:grpSp>
          <p:grpSp>
            <p:nvGrpSpPr>
              <p:cNvPr id="6" name="Group 15"/>
              <p:cNvGrpSpPr>
                <a:grpSpLocks/>
              </p:cNvGrpSpPr>
              <p:nvPr/>
            </p:nvGrpSpPr>
            <p:grpSpPr bwMode="auto">
              <a:xfrm>
                <a:off x="2895" y="1632"/>
                <a:ext cx="333" cy="338"/>
                <a:chOff x="1971" y="1920"/>
                <a:chExt cx="381" cy="338"/>
              </a:xfrm>
            </p:grpSpPr>
            <p:sp>
              <p:nvSpPr>
                <p:cNvPr id="13" name="AutoShape 16"/>
                <p:cNvSpPr>
                  <a:spLocks noChangeArrowheads="1"/>
                </p:cNvSpPr>
                <p:nvPr/>
              </p:nvSpPr>
              <p:spPr bwMode="auto">
                <a:xfrm>
                  <a:off x="2016" y="1920"/>
                  <a:ext cx="336" cy="240"/>
                </a:xfrm>
                <a:prstGeom prst="cloudCallout">
                  <a:avLst>
                    <a:gd name="adj1" fmla="val -43750"/>
                    <a:gd name="adj2" fmla="val 70000"/>
                  </a:avLst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med" len="lg"/>
                </a:ln>
              </p:spPr>
              <p:txBody>
                <a:bodyPr wrap="none" anchor="ctr"/>
                <a:lstStyle/>
                <a:p>
                  <a:pPr algn="ctr"/>
                  <a:r>
                    <a:rPr lang="en-US" sz="900" b="1">
                      <a:latin typeface="+mj-lt"/>
                    </a:rPr>
                    <a:t>bubble</a:t>
                  </a:r>
                  <a:endParaRPr lang="en-US" sz="1200" b="1">
                    <a:latin typeface="+mj-lt"/>
                  </a:endParaRPr>
                </a:p>
              </p:txBody>
            </p:sp>
            <p:sp>
              <p:nvSpPr>
                <p:cNvPr id="14" name="Oval 17"/>
                <p:cNvSpPr>
                  <a:spLocks noChangeArrowheads="1"/>
                </p:cNvSpPr>
                <p:nvPr/>
              </p:nvSpPr>
              <p:spPr bwMode="auto">
                <a:xfrm rot="1942148">
                  <a:off x="1971" y="2130"/>
                  <a:ext cx="158" cy="128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noFill/>
                  <a:round/>
                  <a:headEnd type="none" w="sm" len="sm"/>
                  <a:tailEnd type="none" w="med" len="lg"/>
                </a:ln>
              </p:spPr>
              <p:txBody>
                <a:bodyPr wrap="none" anchor="ctr"/>
                <a:lstStyle/>
                <a:p>
                  <a:endParaRPr lang="en-US">
                    <a:latin typeface="+mj-lt"/>
                  </a:endParaRPr>
                </a:p>
              </p:txBody>
            </p:sp>
          </p:grpSp>
          <p:grpSp>
            <p:nvGrpSpPr>
              <p:cNvPr id="7" name="Group 18"/>
              <p:cNvGrpSpPr>
                <a:grpSpLocks/>
              </p:cNvGrpSpPr>
              <p:nvPr/>
            </p:nvGrpSpPr>
            <p:grpSpPr bwMode="auto">
              <a:xfrm>
                <a:off x="3219" y="1630"/>
                <a:ext cx="333" cy="338"/>
                <a:chOff x="1971" y="1920"/>
                <a:chExt cx="381" cy="338"/>
              </a:xfrm>
            </p:grpSpPr>
            <p:sp>
              <p:nvSpPr>
                <p:cNvPr id="11" name="AutoShape 19"/>
                <p:cNvSpPr>
                  <a:spLocks noChangeArrowheads="1"/>
                </p:cNvSpPr>
                <p:nvPr/>
              </p:nvSpPr>
              <p:spPr bwMode="auto">
                <a:xfrm>
                  <a:off x="2016" y="1920"/>
                  <a:ext cx="336" cy="240"/>
                </a:xfrm>
                <a:prstGeom prst="cloudCallout">
                  <a:avLst>
                    <a:gd name="adj1" fmla="val -43750"/>
                    <a:gd name="adj2" fmla="val 70000"/>
                  </a:avLst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med" len="lg"/>
                </a:ln>
              </p:spPr>
              <p:txBody>
                <a:bodyPr wrap="none" anchor="ctr"/>
                <a:lstStyle/>
                <a:p>
                  <a:pPr algn="ctr"/>
                  <a:r>
                    <a:rPr lang="en-US" sz="900" b="1">
                      <a:latin typeface="+mj-lt"/>
                    </a:rPr>
                    <a:t>bubble</a:t>
                  </a:r>
                  <a:endParaRPr lang="en-US" sz="1200" b="1">
                    <a:latin typeface="+mj-lt"/>
                  </a:endParaRPr>
                </a:p>
              </p:txBody>
            </p:sp>
            <p:sp>
              <p:nvSpPr>
                <p:cNvPr id="12" name="Oval 20"/>
                <p:cNvSpPr>
                  <a:spLocks noChangeArrowheads="1"/>
                </p:cNvSpPr>
                <p:nvPr/>
              </p:nvSpPr>
              <p:spPr bwMode="auto">
                <a:xfrm rot="1942148">
                  <a:off x="1971" y="2130"/>
                  <a:ext cx="158" cy="128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noFill/>
                  <a:round/>
                  <a:headEnd type="none" w="sm" len="sm"/>
                  <a:tailEnd type="none" w="med" len="lg"/>
                </a:ln>
              </p:spPr>
              <p:txBody>
                <a:bodyPr wrap="none" anchor="ctr"/>
                <a:lstStyle/>
                <a:p>
                  <a:endParaRPr lang="en-US">
                    <a:latin typeface="+mj-lt"/>
                  </a:endParaRPr>
                </a:p>
              </p:txBody>
            </p:sp>
          </p:grpSp>
          <p:grpSp>
            <p:nvGrpSpPr>
              <p:cNvPr id="8" name="Group 21"/>
              <p:cNvGrpSpPr>
                <a:grpSpLocks/>
              </p:cNvGrpSpPr>
              <p:nvPr/>
            </p:nvGrpSpPr>
            <p:grpSpPr bwMode="auto">
              <a:xfrm>
                <a:off x="3546" y="1632"/>
                <a:ext cx="333" cy="338"/>
                <a:chOff x="1971" y="1920"/>
                <a:chExt cx="381" cy="338"/>
              </a:xfrm>
            </p:grpSpPr>
            <p:sp>
              <p:nvSpPr>
                <p:cNvPr id="9" name="AutoShape 22"/>
                <p:cNvSpPr>
                  <a:spLocks noChangeArrowheads="1"/>
                </p:cNvSpPr>
                <p:nvPr/>
              </p:nvSpPr>
              <p:spPr bwMode="auto">
                <a:xfrm>
                  <a:off x="2016" y="1920"/>
                  <a:ext cx="336" cy="240"/>
                </a:xfrm>
                <a:prstGeom prst="cloudCallout">
                  <a:avLst>
                    <a:gd name="adj1" fmla="val -43750"/>
                    <a:gd name="adj2" fmla="val 70000"/>
                  </a:avLst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med" len="lg"/>
                </a:ln>
              </p:spPr>
              <p:txBody>
                <a:bodyPr wrap="none" anchor="ctr"/>
                <a:lstStyle/>
                <a:p>
                  <a:pPr algn="ctr"/>
                  <a:r>
                    <a:rPr lang="en-US" sz="900" b="1">
                      <a:latin typeface="+mj-lt"/>
                    </a:rPr>
                    <a:t>bubble</a:t>
                  </a:r>
                  <a:endParaRPr lang="en-US" sz="1200" b="1">
                    <a:latin typeface="+mj-lt"/>
                  </a:endParaRPr>
                </a:p>
              </p:txBody>
            </p:sp>
            <p:sp>
              <p:nvSpPr>
                <p:cNvPr id="10" name="Oval 23"/>
                <p:cNvSpPr>
                  <a:spLocks noChangeArrowheads="1"/>
                </p:cNvSpPr>
                <p:nvPr/>
              </p:nvSpPr>
              <p:spPr bwMode="auto">
                <a:xfrm rot="1942148">
                  <a:off x="1971" y="2130"/>
                  <a:ext cx="158" cy="128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noFill/>
                  <a:round/>
                  <a:headEnd type="none" w="sm" len="sm"/>
                  <a:tailEnd type="none" w="med" len="lg"/>
                </a:ln>
              </p:spPr>
              <p:txBody>
                <a:bodyPr wrap="none" anchor="ctr"/>
                <a:lstStyle/>
                <a:p>
                  <a:endParaRPr lang="en-US">
                    <a:latin typeface="+mj-lt"/>
                  </a:endParaRPr>
                </a:p>
              </p:txBody>
            </p:sp>
          </p:grpSp>
        </p:grpSp>
        <p:grpSp>
          <p:nvGrpSpPr>
            <p:cNvPr id="25" name="Group 24"/>
            <p:cNvGrpSpPr>
              <a:grpSpLocks/>
            </p:cNvGrpSpPr>
            <p:nvPr/>
          </p:nvGrpSpPr>
          <p:grpSpPr bwMode="auto">
            <a:xfrm>
              <a:off x="3894138" y="3000375"/>
              <a:ext cx="2297112" cy="561975"/>
              <a:chOff x="2312" y="1616"/>
              <a:chExt cx="1567" cy="354"/>
            </a:xfrm>
          </p:grpSpPr>
          <p:grpSp>
            <p:nvGrpSpPr>
              <p:cNvPr id="26" name="Group 25"/>
              <p:cNvGrpSpPr>
                <a:grpSpLocks/>
              </p:cNvGrpSpPr>
              <p:nvPr/>
            </p:nvGrpSpPr>
            <p:grpSpPr bwMode="auto">
              <a:xfrm>
                <a:off x="2312" y="1616"/>
                <a:ext cx="271" cy="246"/>
                <a:chOff x="2304" y="1616"/>
                <a:chExt cx="271" cy="246"/>
              </a:xfrm>
            </p:grpSpPr>
            <p:sp>
              <p:nvSpPr>
                <p:cNvPr id="39" name="Rectangle 26"/>
                <p:cNvSpPr>
                  <a:spLocks noChangeArrowheads="1"/>
                </p:cNvSpPr>
                <p:nvPr/>
              </p:nvSpPr>
              <p:spPr bwMode="auto">
                <a:xfrm>
                  <a:off x="2375" y="1678"/>
                  <a:ext cx="73" cy="123"/>
                </a:xfrm>
                <a:prstGeom prst="rect">
                  <a:avLst/>
                </a:prstGeom>
                <a:solidFill>
                  <a:srgbClr val="CCCCCC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>
                    <a:latin typeface="+mj-lt"/>
                  </a:endParaRPr>
                </a:p>
              </p:txBody>
            </p:sp>
            <p:sp>
              <p:nvSpPr>
                <p:cNvPr id="40" name="Rectangle 27"/>
                <p:cNvSpPr>
                  <a:spLocks noChangeArrowheads="1"/>
                </p:cNvSpPr>
                <p:nvPr/>
              </p:nvSpPr>
              <p:spPr bwMode="auto">
                <a:xfrm>
                  <a:off x="2375" y="1678"/>
                  <a:ext cx="73" cy="123"/>
                </a:xfrm>
                <a:prstGeom prst="rect">
                  <a:avLst/>
                </a:prstGeom>
                <a:noFill/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>
                    <a:latin typeface="+mj-lt"/>
                  </a:endParaRPr>
                </a:p>
              </p:txBody>
            </p:sp>
            <p:sp>
              <p:nvSpPr>
                <p:cNvPr id="41" name="Rectangle 28"/>
                <p:cNvSpPr>
                  <a:spLocks noChangeArrowheads="1"/>
                </p:cNvSpPr>
                <p:nvPr/>
              </p:nvSpPr>
              <p:spPr bwMode="auto">
                <a:xfrm>
                  <a:off x="2304" y="1678"/>
                  <a:ext cx="71" cy="123"/>
                </a:xfrm>
                <a:prstGeom prst="rect">
                  <a:avLst/>
                </a:prstGeom>
                <a:noFill/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>
                    <a:latin typeface="+mj-lt"/>
                  </a:endParaRPr>
                </a:p>
              </p:txBody>
            </p:sp>
            <p:sp>
              <p:nvSpPr>
                <p:cNvPr id="42" name="Rectangle 29"/>
                <p:cNvSpPr>
                  <a:spLocks noChangeArrowheads="1"/>
                </p:cNvSpPr>
                <p:nvPr/>
              </p:nvSpPr>
              <p:spPr bwMode="auto">
                <a:xfrm>
                  <a:off x="2341" y="1702"/>
                  <a:ext cx="18" cy="7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US" sz="800">
                      <a:solidFill>
                        <a:srgbClr val="000000"/>
                      </a:solidFill>
                      <a:latin typeface="+mj-lt"/>
                    </a:rPr>
                    <a:t>I</a:t>
                  </a:r>
                  <a:endParaRPr lang="en-US" sz="1200" b="1">
                    <a:latin typeface="+mj-lt"/>
                  </a:endParaRPr>
                </a:p>
              </p:txBody>
            </p:sp>
            <p:sp>
              <p:nvSpPr>
                <p:cNvPr id="43" name="Rectangle 30"/>
                <p:cNvSpPr>
                  <a:spLocks noChangeArrowheads="1"/>
                </p:cNvSpPr>
                <p:nvPr/>
              </p:nvSpPr>
              <p:spPr bwMode="auto">
                <a:xfrm>
                  <a:off x="2358" y="1702"/>
                  <a:ext cx="60" cy="7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US" sz="800">
                      <a:solidFill>
                        <a:srgbClr val="000000"/>
                      </a:solidFill>
                      <a:latin typeface="+mj-lt"/>
                    </a:rPr>
                    <a:t>M</a:t>
                  </a:r>
                  <a:endParaRPr lang="en-US" sz="1200" b="1">
                    <a:latin typeface="+mj-lt"/>
                  </a:endParaRPr>
                </a:p>
              </p:txBody>
            </p:sp>
            <p:sp>
              <p:nvSpPr>
                <p:cNvPr id="44" name="Line 31"/>
                <p:cNvSpPr>
                  <a:spLocks noChangeShapeType="1"/>
                </p:cNvSpPr>
                <p:nvPr/>
              </p:nvSpPr>
              <p:spPr bwMode="auto">
                <a:xfrm>
                  <a:off x="2446" y="1739"/>
                  <a:ext cx="129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>
                    <a:latin typeface="+mj-lt"/>
                  </a:endParaRPr>
                </a:p>
              </p:txBody>
            </p:sp>
            <p:sp>
              <p:nvSpPr>
                <p:cNvPr id="45" name="Freeform 32"/>
                <p:cNvSpPr>
                  <a:spLocks/>
                </p:cNvSpPr>
                <p:nvPr/>
              </p:nvSpPr>
              <p:spPr bwMode="auto">
                <a:xfrm>
                  <a:off x="2519" y="1616"/>
                  <a:ext cx="54" cy="246"/>
                </a:xfrm>
                <a:custGeom>
                  <a:avLst/>
                  <a:gdLst>
                    <a:gd name="T0" fmla="*/ 54 w 54"/>
                    <a:gd name="T1" fmla="*/ 246 h 288"/>
                    <a:gd name="T2" fmla="*/ 54 w 54"/>
                    <a:gd name="T3" fmla="*/ 0 h 288"/>
                    <a:gd name="T4" fmla="*/ 0 w 54"/>
                    <a:gd name="T5" fmla="*/ 0 h 288"/>
                    <a:gd name="T6" fmla="*/ 0 w 54"/>
                    <a:gd name="T7" fmla="*/ 246 h 288"/>
                    <a:gd name="T8" fmla="*/ 54 w 54"/>
                    <a:gd name="T9" fmla="*/ 246 h 288"/>
                    <a:gd name="T10" fmla="*/ 54 w 54"/>
                    <a:gd name="T11" fmla="*/ 246 h 288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54"/>
                    <a:gd name="T19" fmla="*/ 0 h 288"/>
                    <a:gd name="T20" fmla="*/ 54 w 54"/>
                    <a:gd name="T21" fmla="*/ 288 h 288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54" h="288">
                      <a:moveTo>
                        <a:pt x="54" y="288"/>
                      </a:moveTo>
                      <a:lnTo>
                        <a:pt x="54" y="0"/>
                      </a:lnTo>
                      <a:lnTo>
                        <a:pt x="0" y="0"/>
                      </a:lnTo>
                      <a:lnTo>
                        <a:pt x="0" y="288"/>
                      </a:lnTo>
                      <a:lnTo>
                        <a:pt x="54" y="288"/>
                      </a:lnTo>
                      <a:close/>
                    </a:path>
                  </a:pathLst>
                </a:custGeom>
                <a:solidFill>
                  <a:srgbClr val="CCCCC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>
                    <a:latin typeface="+mj-lt"/>
                  </a:endParaRPr>
                </a:p>
              </p:txBody>
            </p:sp>
            <p:sp>
              <p:nvSpPr>
                <p:cNvPr id="46" name="Freeform 33"/>
                <p:cNvSpPr>
                  <a:spLocks/>
                </p:cNvSpPr>
                <p:nvPr/>
              </p:nvSpPr>
              <p:spPr bwMode="auto">
                <a:xfrm>
                  <a:off x="2519" y="1616"/>
                  <a:ext cx="54" cy="246"/>
                </a:xfrm>
                <a:custGeom>
                  <a:avLst/>
                  <a:gdLst>
                    <a:gd name="T0" fmla="*/ 54 w 54"/>
                    <a:gd name="T1" fmla="*/ 246 h 288"/>
                    <a:gd name="T2" fmla="*/ 54 w 54"/>
                    <a:gd name="T3" fmla="*/ 0 h 288"/>
                    <a:gd name="T4" fmla="*/ 0 w 54"/>
                    <a:gd name="T5" fmla="*/ 0 h 288"/>
                    <a:gd name="T6" fmla="*/ 0 w 54"/>
                    <a:gd name="T7" fmla="*/ 246 h 288"/>
                    <a:gd name="T8" fmla="*/ 54 w 54"/>
                    <a:gd name="T9" fmla="*/ 246 h 288"/>
                    <a:gd name="T10" fmla="*/ 54 w 54"/>
                    <a:gd name="T11" fmla="*/ 246 h 288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54"/>
                    <a:gd name="T19" fmla="*/ 0 h 288"/>
                    <a:gd name="T20" fmla="*/ 54 w 54"/>
                    <a:gd name="T21" fmla="*/ 288 h 288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54" h="288">
                      <a:moveTo>
                        <a:pt x="54" y="288"/>
                      </a:moveTo>
                      <a:lnTo>
                        <a:pt x="54" y="0"/>
                      </a:lnTo>
                      <a:lnTo>
                        <a:pt x="0" y="0"/>
                      </a:lnTo>
                      <a:lnTo>
                        <a:pt x="0" y="288"/>
                      </a:lnTo>
                      <a:lnTo>
                        <a:pt x="54" y="288"/>
                      </a:ln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>
                    <a:latin typeface="+mj-lt"/>
                  </a:endParaRPr>
                </a:p>
              </p:txBody>
            </p:sp>
          </p:grpSp>
          <p:grpSp>
            <p:nvGrpSpPr>
              <p:cNvPr id="27" name="Group 34"/>
              <p:cNvGrpSpPr>
                <a:grpSpLocks/>
              </p:cNvGrpSpPr>
              <p:nvPr/>
            </p:nvGrpSpPr>
            <p:grpSpPr bwMode="auto">
              <a:xfrm>
                <a:off x="2571" y="1632"/>
                <a:ext cx="333" cy="338"/>
                <a:chOff x="1971" y="1920"/>
                <a:chExt cx="381" cy="338"/>
              </a:xfrm>
            </p:grpSpPr>
            <p:sp>
              <p:nvSpPr>
                <p:cNvPr id="37" name="AutoShape 35"/>
                <p:cNvSpPr>
                  <a:spLocks noChangeArrowheads="1"/>
                </p:cNvSpPr>
                <p:nvPr/>
              </p:nvSpPr>
              <p:spPr bwMode="auto">
                <a:xfrm>
                  <a:off x="2016" y="1920"/>
                  <a:ext cx="336" cy="240"/>
                </a:xfrm>
                <a:prstGeom prst="cloudCallout">
                  <a:avLst>
                    <a:gd name="adj1" fmla="val -43750"/>
                    <a:gd name="adj2" fmla="val 70000"/>
                  </a:avLst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med" len="lg"/>
                </a:ln>
              </p:spPr>
              <p:txBody>
                <a:bodyPr wrap="none" anchor="ctr"/>
                <a:lstStyle/>
                <a:p>
                  <a:pPr algn="ctr"/>
                  <a:r>
                    <a:rPr lang="en-US" sz="900" b="1">
                      <a:latin typeface="+mj-lt"/>
                    </a:rPr>
                    <a:t>bubble</a:t>
                  </a:r>
                  <a:endParaRPr lang="en-US" sz="1200" b="1">
                    <a:latin typeface="+mj-lt"/>
                  </a:endParaRPr>
                </a:p>
              </p:txBody>
            </p:sp>
            <p:sp>
              <p:nvSpPr>
                <p:cNvPr id="38" name="Oval 36"/>
                <p:cNvSpPr>
                  <a:spLocks noChangeArrowheads="1"/>
                </p:cNvSpPr>
                <p:nvPr/>
              </p:nvSpPr>
              <p:spPr bwMode="auto">
                <a:xfrm rot="1942148">
                  <a:off x="1971" y="2130"/>
                  <a:ext cx="158" cy="128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noFill/>
                  <a:round/>
                  <a:headEnd type="none" w="sm" len="sm"/>
                  <a:tailEnd type="none" w="med" len="lg"/>
                </a:ln>
              </p:spPr>
              <p:txBody>
                <a:bodyPr wrap="none" anchor="ctr"/>
                <a:lstStyle/>
                <a:p>
                  <a:endParaRPr lang="en-US">
                    <a:latin typeface="+mj-lt"/>
                  </a:endParaRPr>
                </a:p>
              </p:txBody>
            </p:sp>
          </p:grpSp>
          <p:grpSp>
            <p:nvGrpSpPr>
              <p:cNvPr id="28" name="Group 37"/>
              <p:cNvGrpSpPr>
                <a:grpSpLocks/>
              </p:cNvGrpSpPr>
              <p:nvPr/>
            </p:nvGrpSpPr>
            <p:grpSpPr bwMode="auto">
              <a:xfrm>
                <a:off x="2895" y="1632"/>
                <a:ext cx="333" cy="338"/>
                <a:chOff x="1971" y="1920"/>
                <a:chExt cx="381" cy="338"/>
              </a:xfrm>
            </p:grpSpPr>
            <p:sp>
              <p:nvSpPr>
                <p:cNvPr id="35" name="AutoShape 38"/>
                <p:cNvSpPr>
                  <a:spLocks noChangeArrowheads="1"/>
                </p:cNvSpPr>
                <p:nvPr/>
              </p:nvSpPr>
              <p:spPr bwMode="auto">
                <a:xfrm>
                  <a:off x="2016" y="1920"/>
                  <a:ext cx="336" cy="240"/>
                </a:xfrm>
                <a:prstGeom prst="cloudCallout">
                  <a:avLst>
                    <a:gd name="adj1" fmla="val -43750"/>
                    <a:gd name="adj2" fmla="val 70000"/>
                  </a:avLst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med" len="lg"/>
                </a:ln>
              </p:spPr>
              <p:txBody>
                <a:bodyPr wrap="none" anchor="ctr"/>
                <a:lstStyle/>
                <a:p>
                  <a:pPr algn="ctr"/>
                  <a:r>
                    <a:rPr lang="en-US" sz="900" b="1">
                      <a:latin typeface="+mj-lt"/>
                    </a:rPr>
                    <a:t>bubble</a:t>
                  </a:r>
                  <a:endParaRPr lang="en-US" sz="1200" b="1">
                    <a:latin typeface="+mj-lt"/>
                  </a:endParaRPr>
                </a:p>
              </p:txBody>
            </p:sp>
            <p:sp>
              <p:nvSpPr>
                <p:cNvPr id="36" name="Oval 39"/>
                <p:cNvSpPr>
                  <a:spLocks noChangeArrowheads="1"/>
                </p:cNvSpPr>
                <p:nvPr/>
              </p:nvSpPr>
              <p:spPr bwMode="auto">
                <a:xfrm rot="1942148">
                  <a:off x="1971" y="2130"/>
                  <a:ext cx="158" cy="128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noFill/>
                  <a:round/>
                  <a:headEnd type="none" w="sm" len="sm"/>
                  <a:tailEnd type="none" w="med" len="lg"/>
                </a:ln>
              </p:spPr>
              <p:txBody>
                <a:bodyPr wrap="none" anchor="ctr"/>
                <a:lstStyle/>
                <a:p>
                  <a:endParaRPr lang="en-US">
                    <a:latin typeface="+mj-lt"/>
                  </a:endParaRPr>
                </a:p>
              </p:txBody>
            </p:sp>
          </p:grpSp>
          <p:grpSp>
            <p:nvGrpSpPr>
              <p:cNvPr id="29" name="Group 40"/>
              <p:cNvGrpSpPr>
                <a:grpSpLocks/>
              </p:cNvGrpSpPr>
              <p:nvPr/>
            </p:nvGrpSpPr>
            <p:grpSpPr bwMode="auto">
              <a:xfrm>
                <a:off x="3219" y="1630"/>
                <a:ext cx="333" cy="338"/>
                <a:chOff x="1971" y="1920"/>
                <a:chExt cx="381" cy="338"/>
              </a:xfrm>
            </p:grpSpPr>
            <p:sp>
              <p:nvSpPr>
                <p:cNvPr id="33" name="AutoShape 41"/>
                <p:cNvSpPr>
                  <a:spLocks noChangeArrowheads="1"/>
                </p:cNvSpPr>
                <p:nvPr/>
              </p:nvSpPr>
              <p:spPr bwMode="auto">
                <a:xfrm>
                  <a:off x="2016" y="1920"/>
                  <a:ext cx="336" cy="240"/>
                </a:xfrm>
                <a:prstGeom prst="cloudCallout">
                  <a:avLst>
                    <a:gd name="adj1" fmla="val -43750"/>
                    <a:gd name="adj2" fmla="val 70000"/>
                  </a:avLst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med" len="lg"/>
                </a:ln>
              </p:spPr>
              <p:txBody>
                <a:bodyPr wrap="none" anchor="ctr"/>
                <a:lstStyle/>
                <a:p>
                  <a:pPr algn="ctr"/>
                  <a:r>
                    <a:rPr lang="en-US" sz="900" b="1">
                      <a:latin typeface="+mj-lt"/>
                    </a:rPr>
                    <a:t>bubble</a:t>
                  </a:r>
                  <a:endParaRPr lang="en-US" sz="1200" b="1">
                    <a:latin typeface="+mj-lt"/>
                  </a:endParaRPr>
                </a:p>
              </p:txBody>
            </p:sp>
            <p:sp>
              <p:nvSpPr>
                <p:cNvPr id="34" name="Oval 42"/>
                <p:cNvSpPr>
                  <a:spLocks noChangeArrowheads="1"/>
                </p:cNvSpPr>
                <p:nvPr/>
              </p:nvSpPr>
              <p:spPr bwMode="auto">
                <a:xfrm rot="1942148">
                  <a:off x="1971" y="2130"/>
                  <a:ext cx="158" cy="128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noFill/>
                  <a:round/>
                  <a:headEnd type="none" w="sm" len="sm"/>
                  <a:tailEnd type="none" w="med" len="lg"/>
                </a:ln>
              </p:spPr>
              <p:txBody>
                <a:bodyPr wrap="none" anchor="ctr"/>
                <a:lstStyle/>
                <a:p>
                  <a:endParaRPr lang="en-US">
                    <a:latin typeface="+mj-lt"/>
                  </a:endParaRPr>
                </a:p>
              </p:txBody>
            </p:sp>
          </p:grpSp>
          <p:grpSp>
            <p:nvGrpSpPr>
              <p:cNvPr id="30" name="Group 43"/>
              <p:cNvGrpSpPr>
                <a:grpSpLocks/>
              </p:cNvGrpSpPr>
              <p:nvPr/>
            </p:nvGrpSpPr>
            <p:grpSpPr bwMode="auto">
              <a:xfrm>
                <a:off x="3546" y="1632"/>
                <a:ext cx="333" cy="338"/>
                <a:chOff x="1971" y="1920"/>
                <a:chExt cx="381" cy="338"/>
              </a:xfrm>
            </p:grpSpPr>
            <p:sp>
              <p:nvSpPr>
                <p:cNvPr id="31" name="AutoShape 44"/>
                <p:cNvSpPr>
                  <a:spLocks noChangeArrowheads="1"/>
                </p:cNvSpPr>
                <p:nvPr/>
              </p:nvSpPr>
              <p:spPr bwMode="auto">
                <a:xfrm>
                  <a:off x="2016" y="1920"/>
                  <a:ext cx="336" cy="240"/>
                </a:xfrm>
                <a:prstGeom prst="cloudCallout">
                  <a:avLst>
                    <a:gd name="adj1" fmla="val -43750"/>
                    <a:gd name="adj2" fmla="val 70000"/>
                  </a:avLst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med" len="lg"/>
                </a:ln>
              </p:spPr>
              <p:txBody>
                <a:bodyPr wrap="none" anchor="ctr"/>
                <a:lstStyle/>
                <a:p>
                  <a:pPr algn="ctr"/>
                  <a:r>
                    <a:rPr lang="en-US" sz="900" b="1">
                      <a:latin typeface="+mj-lt"/>
                    </a:rPr>
                    <a:t>bubble</a:t>
                  </a:r>
                  <a:endParaRPr lang="en-US" sz="1200" b="1">
                    <a:latin typeface="+mj-lt"/>
                  </a:endParaRPr>
                </a:p>
              </p:txBody>
            </p:sp>
            <p:sp>
              <p:nvSpPr>
                <p:cNvPr id="32" name="Oval 45"/>
                <p:cNvSpPr>
                  <a:spLocks noChangeArrowheads="1"/>
                </p:cNvSpPr>
                <p:nvPr/>
              </p:nvSpPr>
              <p:spPr bwMode="auto">
                <a:xfrm rot="1942148">
                  <a:off x="1971" y="2130"/>
                  <a:ext cx="158" cy="128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noFill/>
                  <a:round/>
                  <a:headEnd type="none" w="sm" len="sm"/>
                  <a:tailEnd type="none" w="med" len="lg"/>
                </a:ln>
              </p:spPr>
              <p:txBody>
                <a:bodyPr wrap="none" anchor="ctr"/>
                <a:lstStyle/>
                <a:p>
                  <a:endParaRPr lang="en-US">
                    <a:latin typeface="+mj-lt"/>
                  </a:endParaRPr>
                </a:p>
              </p:txBody>
            </p:sp>
          </p:grpSp>
        </p:grpSp>
        <p:grpSp>
          <p:nvGrpSpPr>
            <p:cNvPr id="47" name="Group 46"/>
            <p:cNvGrpSpPr>
              <a:grpSpLocks/>
            </p:cNvGrpSpPr>
            <p:nvPr/>
          </p:nvGrpSpPr>
          <p:grpSpPr bwMode="auto">
            <a:xfrm>
              <a:off x="4379913" y="3429000"/>
              <a:ext cx="2297112" cy="561975"/>
              <a:chOff x="2312" y="1616"/>
              <a:chExt cx="1567" cy="354"/>
            </a:xfrm>
          </p:grpSpPr>
          <p:grpSp>
            <p:nvGrpSpPr>
              <p:cNvPr id="48" name="Group 47"/>
              <p:cNvGrpSpPr>
                <a:grpSpLocks/>
              </p:cNvGrpSpPr>
              <p:nvPr/>
            </p:nvGrpSpPr>
            <p:grpSpPr bwMode="auto">
              <a:xfrm>
                <a:off x="2312" y="1616"/>
                <a:ext cx="271" cy="246"/>
                <a:chOff x="2304" y="1616"/>
                <a:chExt cx="271" cy="246"/>
              </a:xfrm>
            </p:grpSpPr>
            <p:sp>
              <p:nvSpPr>
                <p:cNvPr id="61" name="Rectangle 48"/>
                <p:cNvSpPr>
                  <a:spLocks noChangeArrowheads="1"/>
                </p:cNvSpPr>
                <p:nvPr/>
              </p:nvSpPr>
              <p:spPr bwMode="auto">
                <a:xfrm>
                  <a:off x="2375" y="1678"/>
                  <a:ext cx="73" cy="123"/>
                </a:xfrm>
                <a:prstGeom prst="rect">
                  <a:avLst/>
                </a:prstGeom>
                <a:solidFill>
                  <a:srgbClr val="CCCCCC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>
                    <a:latin typeface="+mj-lt"/>
                  </a:endParaRPr>
                </a:p>
              </p:txBody>
            </p:sp>
            <p:sp>
              <p:nvSpPr>
                <p:cNvPr id="62" name="Rectangle 49"/>
                <p:cNvSpPr>
                  <a:spLocks noChangeArrowheads="1"/>
                </p:cNvSpPr>
                <p:nvPr/>
              </p:nvSpPr>
              <p:spPr bwMode="auto">
                <a:xfrm>
                  <a:off x="2375" y="1678"/>
                  <a:ext cx="73" cy="123"/>
                </a:xfrm>
                <a:prstGeom prst="rect">
                  <a:avLst/>
                </a:prstGeom>
                <a:noFill/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>
                    <a:latin typeface="+mj-lt"/>
                  </a:endParaRPr>
                </a:p>
              </p:txBody>
            </p:sp>
            <p:sp>
              <p:nvSpPr>
                <p:cNvPr id="63" name="Rectangle 50"/>
                <p:cNvSpPr>
                  <a:spLocks noChangeArrowheads="1"/>
                </p:cNvSpPr>
                <p:nvPr/>
              </p:nvSpPr>
              <p:spPr bwMode="auto">
                <a:xfrm>
                  <a:off x="2304" y="1678"/>
                  <a:ext cx="71" cy="123"/>
                </a:xfrm>
                <a:prstGeom prst="rect">
                  <a:avLst/>
                </a:prstGeom>
                <a:noFill/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>
                    <a:latin typeface="+mj-lt"/>
                  </a:endParaRPr>
                </a:p>
              </p:txBody>
            </p:sp>
            <p:sp>
              <p:nvSpPr>
                <p:cNvPr id="64" name="Rectangle 51"/>
                <p:cNvSpPr>
                  <a:spLocks noChangeArrowheads="1"/>
                </p:cNvSpPr>
                <p:nvPr/>
              </p:nvSpPr>
              <p:spPr bwMode="auto">
                <a:xfrm>
                  <a:off x="2341" y="1702"/>
                  <a:ext cx="18" cy="7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US" sz="800">
                      <a:solidFill>
                        <a:srgbClr val="000000"/>
                      </a:solidFill>
                      <a:latin typeface="+mj-lt"/>
                    </a:rPr>
                    <a:t>I</a:t>
                  </a:r>
                  <a:endParaRPr lang="en-US" sz="1200" b="1">
                    <a:latin typeface="+mj-lt"/>
                  </a:endParaRPr>
                </a:p>
              </p:txBody>
            </p:sp>
            <p:sp>
              <p:nvSpPr>
                <p:cNvPr id="65" name="Rectangle 52"/>
                <p:cNvSpPr>
                  <a:spLocks noChangeArrowheads="1"/>
                </p:cNvSpPr>
                <p:nvPr/>
              </p:nvSpPr>
              <p:spPr bwMode="auto">
                <a:xfrm>
                  <a:off x="2358" y="1702"/>
                  <a:ext cx="60" cy="7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US" sz="800">
                      <a:solidFill>
                        <a:srgbClr val="000000"/>
                      </a:solidFill>
                      <a:latin typeface="+mj-lt"/>
                    </a:rPr>
                    <a:t>M</a:t>
                  </a:r>
                  <a:endParaRPr lang="en-US" sz="1200" b="1">
                    <a:latin typeface="+mj-lt"/>
                  </a:endParaRPr>
                </a:p>
              </p:txBody>
            </p:sp>
            <p:sp>
              <p:nvSpPr>
                <p:cNvPr id="66" name="Line 53"/>
                <p:cNvSpPr>
                  <a:spLocks noChangeShapeType="1"/>
                </p:cNvSpPr>
                <p:nvPr/>
              </p:nvSpPr>
              <p:spPr bwMode="auto">
                <a:xfrm>
                  <a:off x="2446" y="1739"/>
                  <a:ext cx="129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>
                    <a:latin typeface="+mj-lt"/>
                  </a:endParaRPr>
                </a:p>
              </p:txBody>
            </p:sp>
            <p:sp>
              <p:nvSpPr>
                <p:cNvPr id="67" name="Freeform 54"/>
                <p:cNvSpPr>
                  <a:spLocks/>
                </p:cNvSpPr>
                <p:nvPr/>
              </p:nvSpPr>
              <p:spPr bwMode="auto">
                <a:xfrm>
                  <a:off x="2519" y="1616"/>
                  <a:ext cx="54" cy="246"/>
                </a:xfrm>
                <a:custGeom>
                  <a:avLst/>
                  <a:gdLst>
                    <a:gd name="T0" fmla="*/ 54 w 54"/>
                    <a:gd name="T1" fmla="*/ 246 h 288"/>
                    <a:gd name="T2" fmla="*/ 54 w 54"/>
                    <a:gd name="T3" fmla="*/ 0 h 288"/>
                    <a:gd name="T4" fmla="*/ 0 w 54"/>
                    <a:gd name="T5" fmla="*/ 0 h 288"/>
                    <a:gd name="T6" fmla="*/ 0 w 54"/>
                    <a:gd name="T7" fmla="*/ 246 h 288"/>
                    <a:gd name="T8" fmla="*/ 54 w 54"/>
                    <a:gd name="T9" fmla="*/ 246 h 288"/>
                    <a:gd name="T10" fmla="*/ 54 w 54"/>
                    <a:gd name="T11" fmla="*/ 246 h 288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54"/>
                    <a:gd name="T19" fmla="*/ 0 h 288"/>
                    <a:gd name="T20" fmla="*/ 54 w 54"/>
                    <a:gd name="T21" fmla="*/ 288 h 288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54" h="288">
                      <a:moveTo>
                        <a:pt x="54" y="288"/>
                      </a:moveTo>
                      <a:lnTo>
                        <a:pt x="54" y="0"/>
                      </a:lnTo>
                      <a:lnTo>
                        <a:pt x="0" y="0"/>
                      </a:lnTo>
                      <a:lnTo>
                        <a:pt x="0" y="288"/>
                      </a:lnTo>
                      <a:lnTo>
                        <a:pt x="54" y="288"/>
                      </a:lnTo>
                      <a:close/>
                    </a:path>
                  </a:pathLst>
                </a:custGeom>
                <a:solidFill>
                  <a:srgbClr val="CCCCC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>
                    <a:latin typeface="+mj-lt"/>
                  </a:endParaRPr>
                </a:p>
              </p:txBody>
            </p:sp>
            <p:sp>
              <p:nvSpPr>
                <p:cNvPr id="68" name="Freeform 55"/>
                <p:cNvSpPr>
                  <a:spLocks/>
                </p:cNvSpPr>
                <p:nvPr/>
              </p:nvSpPr>
              <p:spPr bwMode="auto">
                <a:xfrm>
                  <a:off x="2519" y="1616"/>
                  <a:ext cx="54" cy="246"/>
                </a:xfrm>
                <a:custGeom>
                  <a:avLst/>
                  <a:gdLst>
                    <a:gd name="T0" fmla="*/ 54 w 54"/>
                    <a:gd name="T1" fmla="*/ 246 h 288"/>
                    <a:gd name="T2" fmla="*/ 54 w 54"/>
                    <a:gd name="T3" fmla="*/ 0 h 288"/>
                    <a:gd name="T4" fmla="*/ 0 w 54"/>
                    <a:gd name="T5" fmla="*/ 0 h 288"/>
                    <a:gd name="T6" fmla="*/ 0 w 54"/>
                    <a:gd name="T7" fmla="*/ 246 h 288"/>
                    <a:gd name="T8" fmla="*/ 54 w 54"/>
                    <a:gd name="T9" fmla="*/ 246 h 288"/>
                    <a:gd name="T10" fmla="*/ 54 w 54"/>
                    <a:gd name="T11" fmla="*/ 246 h 288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54"/>
                    <a:gd name="T19" fmla="*/ 0 h 288"/>
                    <a:gd name="T20" fmla="*/ 54 w 54"/>
                    <a:gd name="T21" fmla="*/ 288 h 288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54" h="288">
                      <a:moveTo>
                        <a:pt x="54" y="288"/>
                      </a:moveTo>
                      <a:lnTo>
                        <a:pt x="54" y="0"/>
                      </a:lnTo>
                      <a:lnTo>
                        <a:pt x="0" y="0"/>
                      </a:lnTo>
                      <a:lnTo>
                        <a:pt x="0" y="288"/>
                      </a:lnTo>
                      <a:lnTo>
                        <a:pt x="54" y="288"/>
                      </a:ln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>
                    <a:latin typeface="+mj-lt"/>
                  </a:endParaRPr>
                </a:p>
              </p:txBody>
            </p:sp>
          </p:grpSp>
          <p:grpSp>
            <p:nvGrpSpPr>
              <p:cNvPr id="49" name="Group 56"/>
              <p:cNvGrpSpPr>
                <a:grpSpLocks/>
              </p:cNvGrpSpPr>
              <p:nvPr/>
            </p:nvGrpSpPr>
            <p:grpSpPr bwMode="auto">
              <a:xfrm>
                <a:off x="2571" y="1632"/>
                <a:ext cx="333" cy="338"/>
                <a:chOff x="1971" y="1920"/>
                <a:chExt cx="381" cy="338"/>
              </a:xfrm>
            </p:grpSpPr>
            <p:sp>
              <p:nvSpPr>
                <p:cNvPr id="59" name="AutoShape 57"/>
                <p:cNvSpPr>
                  <a:spLocks noChangeArrowheads="1"/>
                </p:cNvSpPr>
                <p:nvPr/>
              </p:nvSpPr>
              <p:spPr bwMode="auto">
                <a:xfrm>
                  <a:off x="2016" y="1920"/>
                  <a:ext cx="336" cy="240"/>
                </a:xfrm>
                <a:prstGeom prst="cloudCallout">
                  <a:avLst>
                    <a:gd name="adj1" fmla="val -43750"/>
                    <a:gd name="adj2" fmla="val 70000"/>
                  </a:avLst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med" len="lg"/>
                </a:ln>
              </p:spPr>
              <p:txBody>
                <a:bodyPr wrap="none" anchor="ctr"/>
                <a:lstStyle/>
                <a:p>
                  <a:pPr algn="ctr"/>
                  <a:r>
                    <a:rPr lang="en-US" sz="900" b="1">
                      <a:latin typeface="+mj-lt"/>
                    </a:rPr>
                    <a:t>bubble</a:t>
                  </a:r>
                  <a:endParaRPr lang="en-US" sz="1200" b="1">
                    <a:latin typeface="+mj-lt"/>
                  </a:endParaRPr>
                </a:p>
              </p:txBody>
            </p:sp>
            <p:sp>
              <p:nvSpPr>
                <p:cNvPr id="60" name="Oval 58"/>
                <p:cNvSpPr>
                  <a:spLocks noChangeArrowheads="1"/>
                </p:cNvSpPr>
                <p:nvPr/>
              </p:nvSpPr>
              <p:spPr bwMode="auto">
                <a:xfrm rot="1942148">
                  <a:off x="1971" y="2130"/>
                  <a:ext cx="158" cy="128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noFill/>
                  <a:round/>
                  <a:headEnd type="none" w="sm" len="sm"/>
                  <a:tailEnd type="none" w="med" len="lg"/>
                </a:ln>
              </p:spPr>
              <p:txBody>
                <a:bodyPr wrap="none" anchor="ctr"/>
                <a:lstStyle/>
                <a:p>
                  <a:endParaRPr lang="en-US">
                    <a:latin typeface="+mj-lt"/>
                  </a:endParaRPr>
                </a:p>
              </p:txBody>
            </p:sp>
          </p:grpSp>
          <p:grpSp>
            <p:nvGrpSpPr>
              <p:cNvPr id="50" name="Group 59"/>
              <p:cNvGrpSpPr>
                <a:grpSpLocks/>
              </p:cNvGrpSpPr>
              <p:nvPr/>
            </p:nvGrpSpPr>
            <p:grpSpPr bwMode="auto">
              <a:xfrm>
                <a:off x="2895" y="1632"/>
                <a:ext cx="333" cy="338"/>
                <a:chOff x="1971" y="1920"/>
                <a:chExt cx="381" cy="338"/>
              </a:xfrm>
            </p:grpSpPr>
            <p:sp>
              <p:nvSpPr>
                <p:cNvPr id="57" name="AutoShape 60"/>
                <p:cNvSpPr>
                  <a:spLocks noChangeArrowheads="1"/>
                </p:cNvSpPr>
                <p:nvPr/>
              </p:nvSpPr>
              <p:spPr bwMode="auto">
                <a:xfrm>
                  <a:off x="2016" y="1920"/>
                  <a:ext cx="336" cy="240"/>
                </a:xfrm>
                <a:prstGeom prst="cloudCallout">
                  <a:avLst>
                    <a:gd name="adj1" fmla="val -43750"/>
                    <a:gd name="adj2" fmla="val 70000"/>
                  </a:avLst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med" len="lg"/>
                </a:ln>
              </p:spPr>
              <p:txBody>
                <a:bodyPr wrap="none" anchor="ctr"/>
                <a:lstStyle/>
                <a:p>
                  <a:pPr algn="ctr"/>
                  <a:r>
                    <a:rPr lang="en-US" sz="900" b="1">
                      <a:latin typeface="+mj-lt"/>
                    </a:rPr>
                    <a:t>bubble</a:t>
                  </a:r>
                  <a:endParaRPr lang="en-US" sz="1200" b="1">
                    <a:latin typeface="+mj-lt"/>
                  </a:endParaRPr>
                </a:p>
              </p:txBody>
            </p:sp>
            <p:sp>
              <p:nvSpPr>
                <p:cNvPr id="58" name="Oval 61"/>
                <p:cNvSpPr>
                  <a:spLocks noChangeArrowheads="1"/>
                </p:cNvSpPr>
                <p:nvPr/>
              </p:nvSpPr>
              <p:spPr bwMode="auto">
                <a:xfrm rot="1942148">
                  <a:off x="1971" y="2130"/>
                  <a:ext cx="158" cy="128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noFill/>
                  <a:round/>
                  <a:headEnd type="none" w="sm" len="sm"/>
                  <a:tailEnd type="none" w="med" len="lg"/>
                </a:ln>
              </p:spPr>
              <p:txBody>
                <a:bodyPr wrap="none" anchor="ctr"/>
                <a:lstStyle/>
                <a:p>
                  <a:endParaRPr lang="en-US">
                    <a:latin typeface="+mj-lt"/>
                  </a:endParaRPr>
                </a:p>
              </p:txBody>
            </p:sp>
          </p:grpSp>
          <p:grpSp>
            <p:nvGrpSpPr>
              <p:cNvPr id="51" name="Group 62"/>
              <p:cNvGrpSpPr>
                <a:grpSpLocks/>
              </p:cNvGrpSpPr>
              <p:nvPr/>
            </p:nvGrpSpPr>
            <p:grpSpPr bwMode="auto">
              <a:xfrm>
                <a:off x="3219" y="1630"/>
                <a:ext cx="333" cy="338"/>
                <a:chOff x="1971" y="1920"/>
                <a:chExt cx="381" cy="338"/>
              </a:xfrm>
            </p:grpSpPr>
            <p:sp>
              <p:nvSpPr>
                <p:cNvPr id="55" name="AutoShape 63"/>
                <p:cNvSpPr>
                  <a:spLocks noChangeArrowheads="1"/>
                </p:cNvSpPr>
                <p:nvPr/>
              </p:nvSpPr>
              <p:spPr bwMode="auto">
                <a:xfrm>
                  <a:off x="2016" y="1920"/>
                  <a:ext cx="336" cy="240"/>
                </a:xfrm>
                <a:prstGeom prst="cloudCallout">
                  <a:avLst>
                    <a:gd name="adj1" fmla="val -43750"/>
                    <a:gd name="adj2" fmla="val 70000"/>
                  </a:avLst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med" len="lg"/>
                </a:ln>
              </p:spPr>
              <p:txBody>
                <a:bodyPr wrap="none" anchor="ctr"/>
                <a:lstStyle/>
                <a:p>
                  <a:pPr algn="ctr"/>
                  <a:r>
                    <a:rPr lang="en-US" sz="900" b="1">
                      <a:latin typeface="+mj-lt"/>
                    </a:rPr>
                    <a:t>bubble</a:t>
                  </a:r>
                  <a:endParaRPr lang="en-US" sz="1200" b="1">
                    <a:latin typeface="+mj-lt"/>
                  </a:endParaRPr>
                </a:p>
              </p:txBody>
            </p:sp>
            <p:sp>
              <p:nvSpPr>
                <p:cNvPr id="56" name="Oval 64"/>
                <p:cNvSpPr>
                  <a:spLocks noChangeArrowheads="1"/>
                </p:cNvSpPr>
                <p:nvPr/>
              </p:nvSpPr>
              <p:spPr bwMode="auto">
                <a:xfrm rot="1942148">
                  <a:off x="1971" y="2130"/>
                  <a:ext cx="158" cy="128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noFill/>
                  <a:round/>
                  <a:headEnd type="none" w="sm" len="sm"/>
                  <a:tailEnd type="none" w="med" len="lg"/>
                </a:ln>
              </p:spPr>
              <p:txBody>
                <a:bodyPr wrap="none" anchor="ctr"/>
                <a:lstStyle/>
                <a:p>
                  <a:endParaRPr lang="en-US">
                    <a:latin typeface="+mj-lt"/>
                  </a:endParaRPr>
                </a:p>
              </p:txBody>
            </p:sp>
          </p:grpSp>
          <p:grpSp>
            <p:nvGrpSpPr>
              <p:cNvPr id="52" name="Group 65"/>
              <p:cNvGrpSpPr>
                <a:grpSpLocks/>
              </p:cNvGrpSpPr>
              <p:nvPr/>
            </p:nvGrpSpPr>
            <p:grpSpPr bwMode="auto">
              <a:xfrm>
                <a:off x="3546" y="1632"/>
                <a:ext cx="333" cy="338"/>
                <a:chOff x="1971" y="1920"/>
                <a:chExt cx="381" cy="338"/>
              </a:xfrm>
            </p:grpSpPr>
            <p:sp>
              <p:nvSpPr>
                <p:cNvPr id="53" name="AutoShape 66"/>
                <p:cNvSpPr>
                  <a:spLocks noChangeArrowheads="1"/>
                </p:cNvSpPr>
                <p:nvPr/>
              </p:nvSpPr>
              <p:spPr bwMode="auto">
                <a:xfrm>
                  <a:off x="2016" y="1920"/>
                  <a:ext cx="336" cy="240"/>
                </a:xfrm>
                <a:prstGeom prst="cloudCallout">
                  <a:avLst>
                    <a:gd name="adj1" fmla="val -43750"/>
                    <a:gd name="adj2" fmla="val 70000"/>
                  </a:avLst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med" len="lg"/>
                </a:ln>
              </p:spPr>
              <p:txBody>
                <a:bodyPr wrap="none" anchor="ctr"/>
                <a:lstStyle/>
                <a:p>
                  <a:pPr algn="ctr"/>
                  <a:r>
                    <a:rPr lang="en-US" sz="900" b="1">
                      <a:latin typeface="+mj-lt"/>
                    </a:rPr>
                    <a:t>bubble</a:t>
                  </a:r>
                  <a:endParaRPr lang="en-US" sz="1200" b="1">
                    <a:latin typeface="+mj-lt"/>
                  </a:endParaRPr>
                </a:p>
              </p:txBody>
            </p:sp>
            <p:sp>
              <p:nvSpPr>
                <p:cNvPr id="54" name="Oval 67"/>
                <p:cNvSpPr>
                  <a:spLocks noChangeArrowheads="1"/>
                </p:cNvSpPr>
                <p:nvPr/>
              </p:nvSpPr>
              <p:spPr bwMode="auto">
                <a:xfrm rot="1942148">
                  <a:off x="1971" y="2130"/>
                  <a:ext cx="158" cy="128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noFill/>
                  <a:round/>
                  <a:headEnd type="none" w="sm" len="sm"/>
                  <a:tailEnd type="none" w="med" len="lg"/>
                </a:ln>
              </p:spPr>
              <p:txBody>
                <a:bodyPr wrap="none" anchor="ctr"/>
                <a:lstStyle/>
                <a:p>
                  <a:endParaRPr lang="en-US">
                    <a:latin typeface="+mj-lt"/>
                  </a:endParaRPr>
                </a:p>
              </p:txBody>
            </p:sp>
          </p:grpSp>
        </p:grpSp>
        <p:sp>
          <p:nvSpPr>
            <p:cNvPr id="70" name="Line 69"/>
            <p:cNvSpPr>
              <a:spLocks noChangeShapeType="1"/>
            </p:cNvSpPr>
            <p:nvPr/>
          </p:nvSpPr>
          <p:spPr bwMode="auto">
            <a:xfrm>
              <a:off x="4779963" y="2308225"/>
              <a:ext cx="107950" cy="3175"/>
            </a:xfrm>
            <a:prstGeom prst="line">
              <a:avLst/>
            </a:prstGeom>
            <a:noFill/>
            <a:ln w="15875">
              <a:solidFill>
                <a:srgbClr val="EB75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71" name="Rectangle 70"/>
            <p:cNvSpPr>
              <a:spLocks noChangeArrowheads="1"/>
            </p:cNvSpPr>
            <p:nvPr/>
          </p:nvSpPr>
          <p:spPr bwMode="auto">
            <a:xfrm>
              <a:off x="4887913" y="2212975"/>
              <a:ext cx="103187" cy="193675"/>
            </a:xfrm>
            <a:prstGeom prst="rect">
              <a:avLst/>
            </a:prstGeom>
            <a:solidFill>
              <a:srgbClr val="FBE2C9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72" name="Rectangle 71"/>
            <p:cNvSpPr>
              <a:spLocks noChangeArrowheads="1"/>
            </p:cNvSpPr>
            <p:nvPr/>
          </p:nvSpPr>
          <p:spPr bwMode="auto">
            <a:xfrm>
              <a:off x="4887913" y="2212975"/>
              <a:ext cx="103187" cy="193675"/>
            </a:xfrm>
            <a:prstGeom prst="rect">
              <a:avLst/>
            </a:prstGeom>
            <a:noFill/>
            <a:ln w="9525">
              <a:solidFill>
                <a:srgbClr val="EB75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73" name="Line 72"/>
            <p:cNvSpPr>
              <a:spLocks noChangeShapeType="1"/>
            </p:cNvSpPr>
            <p:nvPr/>
          </p:nvSpPr>
          <p:spPr bwMode="auto">
            <a:xfrm flipV="1">
              <a:off x="5097463" y="2211388"/>
              <a:ext cx="1587" cy="19843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74" name="Line 73"/>
            <p:cNvSpPr>
              <a:spLocks noChangeShapeType="1"/>
            </p:cNvSpPr>
            <p:nvPr/>
          </p:nvSpPr>
          <p:spPr bwMode="auto">
            <a:xfrm flipH="1">
              <a:off x="4991100" y="2212975"/>
              <a:ext cx="106363" cy="158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75" name="Line 74"/>
            <p:cNvSpPr>
              <a:spLocks noChangeShapeType="1"/>
            </p:cNvSpPr>
            <p:nvPr/>
          </p:nvSpPr>
          <p:spPr bwMode="auto">
            <a:xfrm flipH="1">
              <a:off x="4991100" y="2406650"/>
              <a:ext cx="106363" cy="158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76" name="Rectangle 75"/>
            <p:cNvSpPr>
              <a:spLocks noChangeArrowheads="1"/>
            </p:cNvSpPr>
            <p:nvPr/>
          </p:nvSpPr>
          <p:spPr bwMode="auto">
            <a:xfrm>
              <a:off x="3490913" y="2212975"/>
              <a:ext cx="106362" cy="193675"/>
            </a:xfrm>
            <a:prstGeom prst="rect">
              <a:avLst/>
            </a:prstGeom>
            <a:solidFill>
              <a:srgbClr val="CCCCCC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77" name="Rectangle 76"/>
            <p:cNvSpPr>
              <a:spLocks noChangeArrowheads="1"/>
            </p:cNvSpPr>
            <p:nvPr/>
          </p:nvSpPr>
          <p:spPr bwMode="auto">
            <a:xfrm>
              <a:off x="3490913" y="2212975"/>
              <a:ext cx="106362" cy="193675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78" name="Line 77"/>
            <p:cNvSpPr>
              <a:spLocks noChangeShapeType="1"/>
            </p:cNvSpPr>
            <p:nvPr/>
          </p:nvSpPr>
          <p:spPr bwMode="auto">
            <a:xfrm flipV="1">
              <a:off x="3382963" y="2211388"/>
              <a:ext cx="3175" cy="19843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79" name="Line 78"/>
            <p:cNvSpPr>
              <a:spLocks noChangeShapeType="1"/>
            </p:cNvSpPr>
            <p:nvPr/>
          </p:nvSpPr>
          <p:spPr bwMode="auto">
            <a:xfrm>
              <a:off x="3382963" y="2212975"/>
              <a:ext cx="112712" cy="158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80" name="Line 79"/>
            <p:cNvSpPr>
              <a:spLocks noChangeShapeType="1"/>
            </p:cNvSpPr>
            <p:nvPr/>
          </p:nvSpPr>
          <p:spPr bwMode="auto">
            <a:xfrm>
              <a:off x="3382963" y="2406650"/>
              <a:ext cx="112712" cy="158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81" name="Rectangle 80"/>
            <p:cNvSpPr>
              <a:spLocks noChangeArrowheads="1"/>
            </p:cNvSpPr>
            <p:nvPr/>
          </p:nvSpPr>
          <p:spPr bwMode="auto">
            <a:xfrm>
              <a:off x="2990850" y="2212975"/>
              <a:ext cx="103188" cy="193675"/>
            </a:xfrm>
            <a:prstGeom prst="rect">
              <a:avLst/>
            </a:prstGeom>
            <a:solidFill>
              <a:srgbClr val="CCCCCC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82" name="Rectangle 81"/>
            <p:cNvSpPr>
              <a:spLocks noChangeArrowheads="1"/>
            </p:cNvSpPr>
            <p:nvPr/>
          </p:nvSpPr>
          <p:spPr bwMode="auto">
            <a:xfrm>
              <a:off x="2990850" y="2212975"/>
              <a:ext cx="103188" cy="193675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83" name="Rectangle 82"/>
            <p:cNvSpPr>
              <a:spLocks noChangeArrowheads="1"/>
            </p:cNvSpPr>
            <p:nvPr/>
          </p:nvSpPr>
          <p:spPr bwMode="auto">
            <a:xfrm>
              <a:off x="2882900" y="2212975"/>
              <a:ext cx="107950" cy="193675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84" name="Rectangle 83"/>
            <p:cNvSpPr>
              <a:spLocks noChangeArrowheads="1"/>
            </p:cNvSpPr>
            <p:nvPr/>
          </p:nvSpPr>
          <p:spPr bwMode="auto">
            <a:xfrm>
              <a:off x="2938463" y="2252663"/>
              <a:ext cx="25648" cy="1231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000000"/>
                  </a:solidFill>
                  <a:latin typeface="+mj-lt"/>
                </a:rPr>
                <a:t>I</a:t>
              </a:r>
              <a:endParaRPr lang="en-US" sz="1200" b="1">
                <a:latin typeface="+mj-lt"/>
              </a:endParaRPr>
            </a:p>
          </p:txBody>
        </p:sp>
        <p:sp>
          <p:nvSpPr>
            <p:cNvPr id="85" name="Rectangle 84"/>
            <p:cNvSpPr>
              <a:spLocks noChangeArrowheads="1"/>
            </p:cNvSpPr>
            <p:nvPr/>
          </p:nvSpPr>
          <p:spPr bwMode="auto">
            <a:xfrm>
              <a:off x="2965450" y="2252663"/>
              <a:ext cx="88166" cy="1231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000000"/>
                  </a:solidFill>
                  <a:latin typeface="+mj-lt"/>
                </a:rPr>
                <a:t>M</a:t>
              </a:r>
              <a:endParaRPr lang="en-US" sz="1200" b="1">
                <a:latin typeface="+mj-lt"/>
              </a:endParaRPr>
            </a:p>
          </p:txBody>
        </p:sp>
        <p:sp>
          <p:nvSpPr>
            <p:cNvPr id="86" name="Rectangle 85"/>
            <p:cNvSpPr>
              <a:spLocks noChangeArrowheads="1"/>
            </p:cNvSpPr>
            <p:nvPr/>
          </p:nvSpPr>
          <p:spPr bwMode="auto">
            <a:xfrm>
              <a:off x="3411538" y="2252663"/>
              <a:ext cx="56106" cy="1231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000000"/>
                  </a:solidFill>
                  <a:latin typeface="+mj-lt"/>
                </a:rPr>
                <a:t>R</a:t>
              </a:r>
              <a:endParaRPr lang="en-US" sz="1200" b="1">
                <a:latin typeface="+mj-lt"/>
              </a:endParaRPr>
            </a:p>
          </p:txBody>
        </p:sp>
        <p:sp>
          <p:nvSpPr>
            <p:cNvPr id="87" name="Rectangle 86"/>
            <p:cNvSpPr>
              <a:spLocks noChangeArrowheads="1"/>
            </p:cNvSpPr>
            <p:nvPr/>
          </p:nvSpPr>
          <p:spPr bwMode="auto">
            <a:xfrm>
              <a:off x="3478213" y="2252663"/>
              <a:ext cx="52387" cy="1222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000000"/>
                  </a:solidFill>
                  <a:latin typeface="+mj-lt"/>
                </a:rPr>
                <a:t>e</a:t>
              </a:r>
              <a:endParaRPr lang="en-US" sz="1200" b="1">
                <a:latin typeface="+mj-lt"/>
              </a:endParaRPr>
            </a:p>
          </p:txBody>
        </p:sp>
        <p:sp>
          <p:nvSpPr>
            <p:cNvPr id="88" name="Rectangle 87"/>
            <p:cNvSpPr>
              <a:spLocks noChangeArrowheads="1"/>
            </p:cNvSpPr>
            <p:nvPr/>
          </p:nvSpPr>
          <p:spPr bwMode="auto">
            <a:xfrm>
              <a:off x="3532188" y="2252663"/>
              <a:ext cx="48090" cy="1231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000000"/>
                  </a:solidFill>
                  <a:latin typeface="+mj-lt"/>
                </a:rPr>
                <a:t>g</a:t>
              </a:r>
              <a:endParaRPr lang="en-US" sz="1200" b="1">
                <a:latin typeface="+mj-lt"/>
              </a:endParaRPr>
            </a:p>
          </p:txBody>
        </p:sp>
        <p:sp>
          <p:nvSpPr>
            <p:cNvPr id="89" name="Freeform 88"/>
            <p:cNvSpPr>
              <a:spLocks/>
            </p:cNvSpPr>
            <p:nvPr/>
          </p:nvSpPr>
          <p:spPr bwMode="auto">
            <a:xfrm>
              <a:off x="3910013" y="2117725"/>
              <a:ext cx="158750" cy="385763"/>
            </a:xfrm>
            <a:custGeom>
              <a:avLst/>
              <a:gdLst>
                <a:gd name="T0" fmla="*/ 0 w 109"/>
                <a:gd name="T1" fmla="*/ 0 h 285"/>
                <a:gd name="T2" fmla="*/ 2913 w 109"/>
                <a:gd name="T3" fmla="*/ 155659 h 285"/>
                <a:gd name="T4" fmla="*/ 52431 w 109"/>
                <a:gd name="T5" fmla="*/ 193558 h 285"/>
                <a:gd name="T6" fmla="*/ 2913 w 109"/>
                <a:gd name="T7" fmla="*/ 230104 h 285"/>
                <a:gd name="T8" fmla="*/ 2913 w 109"/>
                <a:gd name="T9" fmla="*/ 385763 h 285"/>
                <a:gd name="T10" fmla="*/ 158750 w 109"/>
                <a:gd name="T11" fmla="*/ 266650 h 285"/>
                <a:gd name="T12" fmla="*/ 158750 w 109"/>
                <a:gd name="T13" fmla="*/ 119113 h 285"/>
                <a:gd name="T14" fmla="*/ 2913 w 109"/>
                <a:gd name="T15" fmla="*/ 0 h 285"/>
                <a:gd name="T16" fmla="*/ 2913 w 109"/>
                <a:gd name="T17" fmla="*/ 0 h 285"/>
                <a:gd name="T18" fmla="*/ 0 w 109"/>
                <a:gd name="T19" fmla="*/ 0 h 28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09"/>
                <a:gd name="T31" fmla="*/ 0 h 285"/>
                <a:gd name="T32" fmla="*/ 109 w 109"/>
                <a:gd name="T33" fmla="*/ 285 h 285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09" h="285">
                  <a:moveTo>
                    <a:pt x="0" y="0"/>
                  </a:moveTo>
                  <a:lnTo>
                    <a:pt x="2" y="115"/>
                  </a:lnTo>
                  <a:lnTo>
                    <a:pt x="36" y="143"/>
                  </a:lnTo>
                  <a:lnTo>
                    <a:pt x="2" y="170"/>
                  </a:lnTo>
                  <a:lnTo>
                    <a:pt x="2" y="285"/>
                  </a:lnTo>
                  <a:lnTo>
                    <a:pt x="109" y="197"/>
                  </a:lnTo>
                  <a:lnTo>
                    <a:pt x="109" y="88"/>
                  </a:lnTo>
                  <a:lnTo>
                    <a:pt x="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90" name="Freeform 89"/>
            <p:cNvSpPr>
              <a:spLocks/>
            </p:cNvSpPr>
            <p:nvPr/>
          </p:nvSpPr>
          <p:spPr bwMode="auto">
            <a:xfrm>
              <a:off x="3910013" y="2117725"/>
              <a:ext cx="158750" cy="385763"/>
            </a:xfrm>
            <a:custGeom>
              <a:avLst/>
              <a:gdLst>
                <a:gd name="T0" fmla="*/ 0 w 109"/>
                <a:gd name="T1" fmla="*/ 0 h 285"/>
                <a:gd name="T2" fmla="*/ 2913 w 109"/>
                <a:gd name="T3" fmla="*/ 155659 h 285"/>
                <a:gd name="T4" fmla="*/ 52431 w 109"/>
                <a:gd name="T5" fmla="*/ 193558 h 285"/>
                <a:gd name="T6" fmla="*/ 2913 w 109"/>
                <a:gd name="T7" fmla="*/ 230104 h 285"/>
                <a:gd name="T8" fmla="*/ 2913 w 109"/>
                <a:gd name="T9" fmla="*/ 385763 h 285"/>
                <a:gd name="T10" fmla="*/ 158750 w 109"/>
                <a:gd name="T11" fmla="*/ 266650 h 285"/>
                <a:gd name="T12" fmla="*/ 158750 w 109"/>
                <a:gd name="T13" fmla="*/ 119113 h 285"/>
                <a:gd name="T14" fmla="*/ 2913 w 109"/>
                <a:gd name="T15" fmla="*/ 0 h 285"/>
                <a:gd name="T16" fmla="*/ 2913 w 109"/>
                <a:gd name="T17" fmla="*/ 0 h 28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09"/>
                <a:gd name="T28" fmla="*/ 0 h 285"/>
                <a:gd name="T29" fmla="*/ 109 w 109"/>
                <a:gd name="T30" fmla="*/ 285 h 285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09" h="285">
                  <a:moveTo>
                    <a:pt x="0" y="0"/>
                  </a:moveTo>
                  <a:lnTo>
                    <a:pt x="2" y="115"/>
                  </a:lnTo>
                  <a:lnTo>
                    <a:pt x="36" y="143"/>
                  </a:lnTo>
                  <a:lnTo>
                    <a:pt x="2" y="170"/>
                  </a:lnTo>
                  <a:lnTo>
                    <a:pt x="2" y="285"/>
                  </a:lnTo>
                  <a:lnTo>
                    <a:pt x="109" y="197"/>
                  </a:lnTo>
                  <a:lnTo>
                    <a:pt x="109" y="88"/>
                  </a:lnTo>
                  <a:lnTo>
                    <a:pt x="2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91" name="Line 90"/>
            <p:cNvSpPr>
              <a:spLocks noChangeShapeType="1"/>
            </p:cNvSpPr>
            <p:nvPr/>
          </p:nvSpPr>
          <p:spPr bwMode="auto">
            <a:xfrm>
              <a:off x="3094038" y="2308225"/>
              <a:ext cx="292100" cy="31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92" name="Line 91"/>
            <p:cNvSpPr>
              <a:spLocks noChangeShapeType="1"/>
            </p:cNvSpPr>
            <p:nvPr/>
          </p:nvSpPr>
          <p:spPr bwMode="auto">
            <a:xfrm>
              <a:off x="3594100" y="2262188"/>
              <a:ext cx="317500" cy="158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93" name="Line 92"/>
            <p:cNvSpPr>
              <a:spLocks noChangeShapeType="1"/>
            </p:cNvSpPr>
            <p:nvPr/>
          </p:nvSpPr>
          <p:spPr bwMode="auto">
            <a:xfrm>
              <a:off x="4068763" y="2308225"/>
              <a:ext cx="319087" cy="31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94" name="Line 93"/>
            <p:cNvSpPr>
              <a:spLocks noChangeShapeType="1"/>
            </p:cNvSpPr>
            <p:nvPr/>
          </p:nvSpPr>
          <p:spPr bwMode="auto">
            <a:xfrm>
              <a:off x="3594100" y="2359025"/>
              <a:ext cx="3175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95" name="Freeform 94"/>
            <p:cNvSpPr>
              <a:spLocks/>
            </p:cNvSpPr>
            <p:nvPr/>
          </p:nvSpPr>
          <p:spPr bwMode="auto">
            <a:xfrm>
              <a:off x="3330575" y="2262188"/>
              <a:ext cx="52388" cy="46037"/>
            </a:xfrm>
            <a:custGeom>
              <a:avLst/>
              <a:gdLst>
                <a:gd name="T0" fmla="*/ 0 w 36"/>
                <a:gd name="T1" fmla="*/ 46037 h 34"/>
                <a:gd name="T2" fmla="*/ 2910 w 36"/>
                <a:gd name="T3" fmla="*/ 0 h 34"/>
                <a:gd name="T4" fmla="*/ 52388 w 36"/>
                <a:gd name="T5" fmla="*/ 0 h 34"/>
                <a:gd name="T6" fmla="*/ 0 60000 65536"/>
                <a:gd name="T7" fmla="*/ 0 60000 65536"/>
                <a:gd name="T8" fmla="*/ 0 60000 65536"/>
                <a:gd name="T9" fmla="*/ 0 w 36"/>
                <a:gd name="T10" fmla="*/ 0 h 34"/>
                <a:gd name="T11" fmla="*/ 36 w 36"/>
                <a:gd name="T12" fmla="*/ 34 h 3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6" h="34">
                  <a:moveTo>
                    <a:pt x="0" y="34"/>
                  </a:moveTo>
                  <a:lnTo>
                    <a:pt x="2" y="0"/>
                  </a:lnTo>
                  <a:lnTo>
                    <a:pt x="36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21" name="Line 120"/>
            <p:cNvSpPr>
              <a:spLocks noChangeShapeType="1"/>
            </p:cNvSpPr>
            <p:nvPr/>
          </p:nvSpPr>
          <p:spPr bwMode="auto">
            <a:xfrm flipH="1">
              <a:off x="692150" y="2212975"/>
              <a:ext cx="6350" cy="330041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22" name="Freeform 121"/>
            <p:cNvSpPr>
              <a:spLocks/>
            </p:cNvSpPr>
            <p:nvPr/>
          </p:nvSpPr>
          <p:spPr bwMode="auto">
            <a:xfrm>
              <a:off x="658813" y="5476875"/>
              <a:ext cx="73025" cy="68263"/>
            </a:xfrm>
            <a:custGeom>
              <a:avLst/>
              <a:gdLst>
                <a:gd name="T0" fmla="*/ 73025 w 24"/>
                <a:gd name="T1" fmla="*/ 0 h 25"/>
                <a:gd name="T2" fmla="*/ 0 w 24"/>
                <a:gd name="T3" fmla="*/ 5461 h 25"/>
                <a:gd name="T4" fmla="*/ 39555 w 24"/>
                <a:gd name="T5" fmla="*/ 68263 h 25"/>
                <a:gd name="T6" fmla="*/ 73025 w 24"/>
                <a:gd name="T7" fmla="*/ 5461 h 25"/>
                <a:gd name="T8" fmla="*/ 73025 w 24"/>
                <a:gd name="T9" fmla="*/ 5461 h 25"/>
                <a:gd name="T10" fmla="*/ 73025 w 24"/>
                <a:gd name="T11" fmla="*/ 0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4"/>
                <a:gd name="T19" fmla="*/ 0 h 25"/>
                <a:gd name="T20" fmla="*/ 24 w 24"/>
                <a:gd name="T21" fmla="*/ 25 h 2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4" h="25">
                  <a:moveTo>
                    <a:pt x="24" y="0"/>
                  </a:moveTo>
                  <a:lnTo>
                    <a:pt x="0" y="2"/>
                  </a:lnTo>
                  <a:lnTo>
                    <a:pt x="13" y="25"/>
                  </a:lnTo>
                  <a:lnTo>
                    <a:pt x="24" y="2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25" name="Freeform 124"/>
            <p:cNvSpPr>
              <a:spLocks/>
            </p:cNvSpPr>
            <p:nvPr/>
          </p:nvSpPr>
          <p:spPr bwMode="auto">
            <a:xfrm>
              <a:off x="3201988" y="2117725"/>
              <a:ext cx="77787" cy="388938"/>
            </a:xfrm>
            <a:custGeom>
              <a:avLst/>
              <a:gdLst>
                <a:gd name="T0" fmla="*/ 77787 w 53"/>
                <a:gd name="T1" fmla="*/ 386228 h 287"/>
                <a:gd name="T2" fmla="*/ 77787 w 53"/>
                <a:gd name="T3" fmla="*/ 0 h 287"/>
                <a:gd name="T4" fmla="*/ 0 w 53"/>
                <a:gd name="T5" fmla="*/ 0 h 287"/>
                <a:gd name="T6" fmla="*/ 0 w 53"/>
                <a:gd name="T7" fmla="*/ 388938 h 287"/>
                <a:gd name="T8" fmla="*/ 77787 w 53"/>
                <a:gd name="T9" fmla="*/ 388938 h 287"/>
                <a:gd name="T10" fmla="*/ 77787 w 53"/>
                <a:gd name="T11" fmla="*/ 388938 h 287"/>
                <a:gd name="T12" fmla="*/ 77787 w 53"/>
                <a:gd name="T13" fmla="*/ 386228 h 28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53"/>
                <a:gd name="T22" fmla="*/ 0 h 287"/>
                <a:gd name="T23" fmla="*/ 53 w 53"/>
                <a:gd name="T24" fmla="*/ 287 h 28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53" h="287">
                  <a:moveTo>
                    <a:pt x="53" y="285"/>
                  </a:moveTo>
                  <a:lnTo>
                    <a:pt x="53" y="0"/>
                  </a:lnTo>
                  <a:lnTo>
                    <a:pt x="0" y="0"/>
                  </a:lnTo>
                  <a:lnTo>
                    <a:pt x="0" y="287"/>
                  </a:lnTo>
                  <a:lnTo>
                    <a:pt x="53" y="287"/>
                  </a:lnTo>
                  <a:lnTo>
                    <a:pt x="53" y="285"/>
                  </a:lnTo>
                  <a:close/>
                </a:path>
              </a:pathLst>
            </a:custGeom>
            <a:solidFill>
              <a:srgbClr val="CCCC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26" name="Freeform 125"/>
            <p:cNvSpPr>
              <a:spLocks/>
            </p:cNvSpPr>
            <p:nvPr/>
          </p:nvSpPr>
          <p:spPr bwMode="auto">
            <a:xfrm>
              <a:off x="3201988" y="2117725"/>
              <a:ext cx="77787" cy="388938"/>
            </a:xfrm>
            <a:custGeom>
              <a:avLst/>
              <a:gdLst>
                <a:gd name="T0" fmla="*/ 77787 w 53"/>
                <a:gd name="T1" fmla="*/ 386228 h 287"/>
                <a:gd name="T2" fmla="*/ 77787 w 53"/>
                <a:gd name="T3" fmla="*/ 0 h 287"/>
                <a:gd name="T4" fmla="*/ 0 w 53"/>
                <a:gd name="T5" fmla="*/ 0 h 287"/>
                <a:gd name="T6" fmla="*/ 0 w 53"/>
                <a:gd name="T7" fmla="*/ 388938 h 287"/>
                <a:gd name="T8" fmla="*/ 77787 w 53"/>
                <a:gd name="T9" fmla="*/ 388938 h 287"/>
                <a:gd name="T10" fmla="*/ 77787 w 53"/>
                <a:gd name="T11" fmla="*/ 388938 h 28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3"/>
                <a:gd name="T19" fmla="*/ 0 h 287"/>
                <a:gd name="T20" fmla="*/ 53 w 53"/>
                <a:gd name="T21" fmla="*/ 287 h 28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3" h="287">
                  <a:moveTo>
                    <a:pt x="53" y="285"/>
                  </a:moveTo>
                  <a:lnTo>
                    <a:pt x="53" y="0"/>
                  </a:lnTo>
                  <a:lnTo>
                    <a:pt x="0" y="0"/>
                  </a:lnTo>
                  <a:lnTo>
                    <a:pt x="0" y="287"/>
                  </a:lnTo>
                  <a:lnTo>
                    <a:pt x="53" y="287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27" name="Freeform 126"/>
            <p:cNvSpPr>
              <a:spLocks/>
            </p:cNvSpPr>
            <p:nvPr/>
          </p:nvSpPr>
          <p:spPr bwMode="auto">
            <a:xfrm>
              <a:off x="3702050" y="2117725"/>
              <a:ext cx="77788" cy="388938"/>
            </a:xfrm>
            <a:custGeom>
              <a:avLst/>
              <a:gdLst>
                <a:gd name="T0" fmla="*/ 77788 w 54"/>
                <a:gd name="T1" fmla="*/ 386228 h 287"/>
                <a:gd name="T2" fmla="*/ 77788 w 54"/>
                <a:gd name="T3" fmla="*/ 0 h 287"/>
                <a:gd name="T4" fmla="*/ 0 w 54"/>
                <a:gd name="T5" fmla="*/ 0 h 287"/>
                <a:gd name="T6" fmla="*/ 0 w 54"/>
                <a:gd name="T7" fmla="*/ 388938 h 287"/>
                <a:gd name="T8" fmla="*/ 77788 w 54"/>
                <a:gd name="T9" fmla="*/ 388938 h 287"/>
                <a:gd name="T10" fmla="*/ 77788 w 54"/>
                <a:gd name="T11" fmla="*/ 388938 h 287"/>
                <a:gd name="T12" fmla="*/ 77788 w 54"/>
                <a:gd name="T13" fmla="*/ 386228 h 28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54"/>
                <a:gd name="T22" fmla="*/ 0 h 287"/>
                <a:gd name="T23" fmla="*/ 54 w 54"/>
                <a:gd name="T24" fmla="*/ 287 h 28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54" h="287">
                  <a:moveTo>
                    <a:pt x="54" y="285"/>
                  </a:moveTo>
                  <a:lnTo>
                    <a:pt x="54" y="0"/>
                  </a:lnTo>
                  <a:lnTo>
                    <a:pt x="0" y="0"/>
                  </a:lnTo>
                  <a:lnTo>
                    <a:pt x="0" y="287"/>
                  </a:lnTo>
                  <a:lnTo>
                    <a:pt x="54" y="287"/>
                  </a:lnTo>
                  <a:lnTo>
                    <a:pt x="54" y="285"/>
                  </a:lnTo>
                  <a:close/>
                </a:path>
              </a:pathLst>
            </a:custGeom>
            <a:solidFill>
              <a:srgbClr val="CCCC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28" name="Freeform 127"/>
            <p:cNvSpPr>
              <a:spLocks/>
            </p:cNvSpPr>
            <p:nvPr/>
          </p:nvSpPr>
          <p:spPr bwMode="auto">
            <a:xfrm>
              <a:off x="3702050" y="2117725"/>
              <a:ext cx="77788" cy="388938"/>
            </a:xfrm>
            <a:custGeom>
              <a:avLst/>
              <a:gdLst>
                <a:gd name="T0" fmla="*/ 77788 w 54"/>
                <a:gd name="T1" fmla="*/ 386228 h 287"/>
                <a:gd name="T2" fmla="*/ 77788 w 54"/>
                <a:gd name="T3" fmla="*/ 0 h 287"/>
                <a:gd name="T4" fmla="*/ 0 w 54"/>
                <a:gd name="T5" fmla="*/ 0 h 287"/>
                <a:gd name="T6" fmla="*/ 0 w 54"/>
                <a:gd name="T7" fmla="*/ 388938 h 287"/>
                <a:gd name="T8" fmla="*/ 77788 w 54"/>
                <a:gd name="T9" fmla="*/ 388938 h 287"/>
                <a:gd name="T10" fmla="*/ 77788 w 54"/>
                <a:gd name="T11" fmla="*/ 388938 h 28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4"/>
                <a:gd name="T19" fmla="*/ 0 h 287"/>
                <a:gd name="T20" fmla="*/ 54 w 54"/>
                <a:gd name="T21" fmla="*/ 287 h 28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4" h="287">
                  <a:moveTo>
                    <a:pt x="54" y="285"/>
                  </a:moveTo>
                  <a:lnTo>
                    <a:pt x="54" y="0"/>
                  </a:lnTo>
                  <a:lnTo>
                    <a:pt x="0" y="0"/>
                  </a:lnTo>
                  <a:lnTo>
                    <a:pt x="0" y="287"/>
                  </a:lnTo>
                  <a:lnTo>
                    <a:pt x="54" y="287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29" name="Freeform 128"/>
            <p:cNvSpPr>
              <a:spLocks/>
            </p:cNvSpPr>
            <p:nvPr/>
          </p:nvSpPr>
          <p:spPr bwMode="auto">
            <a:xfrm>
              <a:off x="4200525" y="2117725"/>
              <a:ext cx="79375" cy="388938"/>
            </a:xfrm>
            <a:custGeom>
              <a:avLst/>
              <a:gdLst>
                <a:gd name="T0" fmla="*/ 79375 w 54"/>
                <a:gd name="T1" fmla="*/ 386228 h 287"/>
                <a:gd name="T2" fmla="*/ 79375 w 54"/>
                <a:gd name="T3" fmla="*/ 0 h 287"/>
                <a:gd name="T4" fmla="*/ 0 w 54"/>
                <a:gd name="T5" fmla="*/ 0 h 287"/>
                <a:gd name="T6" fmla="*/ 0 w 54"/>
                <a:gd name="T7" fmla="*/ 388938 h 287"/>
                <a:gd name="T8" fmla="*/ 79375 w 54"/>
                <a:gd name="T9" fmla="*/ 388938 h 287"/>
                <a:gd name="T10" fmla="*/ 79375 w 54"/>
                <a:gd name="T11" fmla="*/ 388938 h 287"/>
                <a:gd name="T12" fmla="*/ 79375 w 54"/>
                <a:gd name="T13" fmla="*/ 386228 h 28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54"/>
                <a:gd name="T22" fmla="*/ 0 h 287"/>
                <a:gd name="T23" fmla="*/ 54 w 54"/>
                <a:gd name="T24" fmla="*/ 287 h 28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54" h="287">
                  <a:moveTo>
                    <a:pt x="54" y="285"/>
                  </a:moveTo>
                  <a:lnTo>
                    <a:pt x="54" y="0"/>
                  </a:lnTo>
                  <a:lnTo>
                    <a:pt x="0" y="0"/>
                  </a:lnTo>
                  <a:lnTo>
                    <a:pt x="0" y="287"/>
                  </a:lnTo>
                  <a:lnTo>
                    <a:pt x="54" y="287"/>
                  </a:lnTo>
                  <a:lnTo>
                    <a:pt x="54" y="285"/>
                  </a:lnTo>
                  <a:close/>
                </a:path>
              </a:pathLst>
            </a:custGeom>
            <a:solidFill>
              <a:srgbClr val="CCCC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30" name="Freeform 129"/>
            <p:cNvSpPr>
              <a:spLocks/>
            </p:cNvSpPr>
            <p:nvPr/>
          </p:nvSpPr>
          <p:spPr bwMode="auto">
            <a:xfrm>
              <a:off x="4200525" y="2117725"/>
              <a:ext cx="79375" cy="388938"/>
            </a:xfrm>
            <a:custGeom>
              <a:avLst/>
              <a:gdLst>
                <a:gd name="T0" fmla="*/ 79375 w 54"/>
                <a:gd name="T1" fmla="*/ 386228 h 287"/>
                <a:gd name="T2" fmla="*/ 79375 w 54"/>
                <a:gd name="T3" fmla="*/ 0 h 287"/>
                <a:gd name="T4" fmla="*/ 0 w 54"/>
                <a:gd name="T5" fmla="*/ 0 h 287"/>
                <a:gd name="T6" fmla="*/ 0 w 54"/>
                <a:gd name="T7" fmla="*/ 388938 h 287"/>
                <a:gd name="T8" fmla="*/ 79375 w 54"/>
                <a:gd name="T9" fmla="*/ 388938 h 287"/>
                <a:gd name="T10" fmla="*/ 79375 w 54"/>
                <a:gd name="T11" fmla="*/ 388938 h 28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4"/>
                <a:gd name="T19" fmla="*/ 0 h 287"/>
                <a:gd name="T20" fmla="*/ 54 w 54"/>
                <a:gd name="T21" fmla="*/ 287 h 28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4" h="287">
                  <a:moveTo>
                    <a:pt x="54" y="285"/>
                  </a:moveTo>
                  <a:lnTo>
                    <a:pt x="54" y="0"/>
                  </a:lnTo>
                  <a:lnTo>
                    <a:pt x="0" y="0"/>
                  </a:lnTo>
                  <a:lnTo>
                    <a:pt x="0" y="287"/>
                  </a:lnTo>
                  <a:lnTo>
                    <a:pt x="54" y="287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31" name="Freeform 130"/>
            <p:cNvSpPr>
              <a:spLocks/>
            </p:cNvSpPr>
            <p:nvPr/>
          </p:nvSpPr>
          <p:spPr bwMode="auto">
            <a:xfrm>
              <a:off x="4700588" y="2117725"/>
              <a:ext cx="79375" cy="388938"/>
            </a:xfrm>
            <a:custGeom>
              <a:avLst/>
              <a:gdLst>
                <a:gd name="T0" fmla="*/ 79375 w 54"/>
                <a:gd name="T1" fmla="*/ 386228 h 287"/>
                <a:gd name="T2" fmla="*/ 79375 w 54"/>
                <a:gd name="T3" fmla="*/ 0 h 287"/>
                <a:gd name="T4" fmla="*/ 0 w 54"/>
                <a:gd name="T5" fmla="*/ 0 h 287"/>
                <a:gd name="T6" fmla="*/ 0 w 54"/>
                <a:gd name="T7" fmla="*/ 388938 h 287"/>
                <a:gd name="T8" fmla="*/ 79375 w 54"/>
                <a:gd name="T9" fmla="*/ 388938 h 287"/>
                <a:gd name="T10" fmla="*/ 79375 w 54"/>
                <a:gd name="T11" fmla="*/ 388938 h 287"/>
                <a:gd name="T12" fmla="*/ 79375 w 54"/>
                <a:gd name="T13" fmla="*/ 386228 h 28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54"/>
                <a:gd name="T22" fmla="*/ 0 h 287"/>
                <a:gd name="T23" fmla="*/ 54 w 54"/>
                <a:gd name="T24" fmla="*/ 287 h 28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54" h="287">
                  <a:moveTo>
                    <a:pt x="54" y="285"/>
                  </a:moveTo>
                  <a:lnTo>
                    <a:pt x="54" y="0"/>
                  </a:lnTo>
                  <a:lnTo>
                    <a:pt x="0" y="0"/>
                  </a:lnTo>
                  <a:lnTo>
                    <a:pt x="0" y="287"/>
                  </a:lnTo>
                  <a:lnTo>
                    <a:pt x="54" y="287"/>
                  </a:lnTo>
                  <a:lnTo>
                    <a:pt x="54" y="285"/>
                  </a:lnTo>
                  <a:close/>
                </a:path>
              </a:pathLst>
            </a:custGeom>
            <a:solidFill>
              <a:srgbClr val="CCCC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52" name="Freeform 151"/>
            <p:cNvSpPr>
              <a:spLocks/>
            </p:cNvSpPr>
            <p:nvPr/>
          </p:nvSpPr>
          <p:spPr bwMode="auto">
            <a:xfrm>
              <a:off x="4387850" y="2212975"/>
              <a:ext cx="209550" cy="193675"/>
            </a:xfrm>
            <a:custGeom>
              <a:avLst/>
              <a:gdLst>
                <a:gd name="T0" fmla="*/ 206619 w 143"/>
                <a:gd name="T1" fmla="*/ 193675 h 143"/>
                <a:gd name="T2" fmla="*/ 209550 w 143"/>
                <a:gd name="T3" fmla="*/ 0 h 143"/>
                <a:gd name="T4" fmla="*/ 0 w 143"/>
                <a:gd name="T5" fmla="*/ 0 h 143"/>
                <a:gd name="T6" fmla="*/ 0 w 143"/>
                <a:gd name="T7" fmla="*/ 193675 h 143"/>
                <a:gd name="T8" fmla="*/ 209550 w 143"/>
                <a:gd name="T9" fmla="*/ 193675 h 143"/>
                <a:gd name="T10" fmla="*/ 209550 w 143"/>
                <a:gd name="T11" fmla="*/ 193675 h 1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43"/>
                <a:gd name="T19" fmla="*/ 0 h 143"/>
                <a:gd name="T20" fmla="*/ 143 w 143"/>
                <a:gd name="T21" fmla="*/ 143 h 14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43" h="143">
                  <a:moveTo>
                    <a:pt x="141" y="143"/>
                  </a:moveTo>
                  <a:lnTo>
                    <a:pt x="143" y="0"/>
                  </a:lnTo>
                  <a:lnTo>
                    <a:pt x="0" y="0"/>
                  </a:lnTo>
                  <a:lnTo>
                    <a:pt x="0" y="143"/>
                  </a:lnTo>
                  <a:lnTo>
                    <a:pt x="143" y="143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53" name="Rectangle 152"/>
            <p:cNvSpPr>
              <a:spLocks noChangeArrowheads="1"/>
            </p:cNvSpPr>
            <p:nvPr/>
          </p:nvSpPr>
          <p:spPr bwMode="auto">
            <a:xfrm>
              <a:off x="4421188" y="2252663"/>
              <a:ext cx="62518" cy="1231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000000"/>
                  </a:solidFill>
                  <a:latin typeface="+mj-lt"/>
                </a:rPr>
                <a:t>D</a:t>
              </a:r>
              <a:endParaRPr lang="en-US" sz="1200" b="1">
                <a:latin typeface="+mj-lt"/>
              </a:endParaRPr>
            </a:p>
          </p:txBody>
        </p:sp>
        <p:sp>
          <p:nvSpPr>
            <p:cNvPr id="154" name="Rectangle 153"/>
            <p:cNvSpPr>
              <a:spLocks noChangeArrowheads="1"/>
            </p:cNvSpPr>
            <p:nvPr/>
          </p:nvSpPr>
          <p:spPr bwMode="auto">
            <a:xfrm>
              <a:off x="4487863" y="2252663"/>
              <a:ext cx="88166" cy="1231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000000"/>
                  </a:solidFill>
                  <a:latin typeface="+mj-lt"/>
                </a:rPr>
                <a:t>M</a:t>
              </a:r>
              <a:endParaRPr lang="en-US" sz="1200" b="1">
                <a:latin typeface="+mj-lt"/>
              </a:endParaRPr>
            </a:p>
          </p:txBody>
        </p:sp>
        <p:sp>
          <p:nvSpPr>
            <p:cNvPr id="155" name="Line 154"/>
            <p:cNvSpPr>
              <a:spLocks noChangeShapeType="1"/>
            </p:cNvSpPr>
            <p:nvPr/>
          </p:nvSpPr>
          <p:spPr bwMode="auto">
            <a:xfrm>
              <a:off x="4594225" y="2308225"/>
              <a:ext cx="106363" cy="31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56" name="Rectangle 155"/>
            <p:cNvSpPr>
              <a:spLocks noChangeArrowheads="1"/>
            </p:cNvSpPr>
            <p:nvPr/>
          </p:nvSpPr>
          <p:spPr bwMode="auto">
            <a:xfrm>
              <a:off x="4914900" y="2219325"/>
              <a:ext cx="56106" cy="1231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EB7500"/>
                  </a:solidFill>
                  <a:latin typeface="+mj-lt"/>
                </a:rPr>
                <a:t>R</a:t>
              </a:r>
              <a:endParaRPr lang="en-US" sz="1200" b="1">
                <a:latin typeface="+mj-lt"/>
              </a:endParaRPr>
            </a:p>
          </p:txBody>
        </p:sp>
        <p:sp>
          <p:nvSpPr>
            <p:cNvPr id="157" name="Rectangle 156"/>
            <p:cNvSpPr>
              <a:spLocks noChangeArrowheads="1"/>
            </p:cNvSpPr>
            <p:nvPr/>
          </p:nvSpPr>
          <p:spPr bwMode="auto">
            <a:xfrm>
              <a:off x="4983163" y="2219325"/>
              <a:ext cx="52387" cy="1222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EB7500"/>
                  </a:solidFill>
                  <a:latin typeface="+mj-lt"/>
                </a:rPr>
                <a:t>e</a:t>
              </a:r>
              <a:endParaRPr lang="en-US" sz="1200" b="1">
                <a:latin typeface="+mj-lt"/>
              </a:endParaRPr>
            </a:p>
          </p:txBody>
        </p:sp>
        <p:sp>
          <p:nvSpPr>
            <p:cNvPr id="158" name="Rectangle 157"/>
            <p:cNvSpPr>
              <a:spLocks noChangeArrowheads="1"/>
            </p:cNvSpPr>
            <p:nvPr/>
          </p:nvSpPr>
          <p:spPr bwMode="auto">
            <a:xfrm>
              <a:off x="5035550" y="2219325"/>
              <a:ext cx="48090" cy="1231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EB7500"/>
                  </a:solidFill>
                  <a:latin typeface="+mj-lt"/>
                </a:rPr>
                <a:t>g</a:t>
              </a:r>
              <a:endParaRPr lang="en-US" sz="1200" b="1">
                <a:latin typeface="+mj-lt"/>
              </a:endParaRPr>
            </a:p>
          </p:txBody>
        </p:sp>
        <p:sp>
          <p:nvSpPr>
            <p:cNvPr id="159" name="Line 158"/>
            <p:cNvSpPr>
              <a:spLocks noChangeShapeType="1"/>
            </p:cNvSpPr>
            <p:nvPr/>
          </p:nvSpPr>
          <p:spPr bwMode="auto">
            <a:xfrm>
              <a:off x="4997450" y="2324100"/>
              <a:ext cx="504825" cy="1685925"/>
            </a:xfrm>
            <a:prstGeom prst="line">
              <a:avLst/>
            </a:prstGeom>
            <a:noFill/>
            <a:ln w="15875">
              <a:solidFill>
                <a:srgbClr val="EB75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60" name="Freeform 159"/>
            <p:cNvSpPr>
              <a:spLocks/>
            </p:cNvSpPr>
            <p:nvPr/>
          </p:nvSpPr>
          <p:spPr bwMode="auto">
            <a:xfrm>
              <a:off x="4976813" y="2306638"/>
              <a:ext cx="42862" cy="38100"/>
            </a:xfrm>
            <a:custGeom>
              <a:avLst/>
              <a:gdLst>
                <a:gd name="T0" fmla="*/ 20692 w 29"/>
                <a:gd name="T1" fmla="*/ 35379 h 28"/>
                <a:gd name="T2" fmla="*/ 25126 w 29"/>
                <a:gd name="T3" fmla="*/ 38100 h 28"/>
                <a:gd name="T4" fmla="*/ 28082 w 29"/>
                <a:gd name="T5" fmla="*/ 35379 h 28"/>
                <a:gd name="T6" fmla="*/ 31038 w 29"/>
                <a:gd name="T7" fmla="*/ 35379 h 28"/>
                <a:gd name="T8" fmla="*/ 33994 w 29"/>
                <a:gd name="T9" fmla="*/ 32657 h 28"/>
                <a:gd name="T10" fmla="*/ 36950 w 29"/>
                <a:gd name="T11" fmla="*/ 32657 h 28"/>
                <a:gd name="T12" fmla="*/ 39906 w 29"/>
                <a:gd name="T13" fmla="*/ 29936 h 28"/>
                <a:gd name="T14" fmla="*/ 39906 w 29"/>
                <a:gd name="T15" fmla="*/ 28575 h 28"/>
                <a:gd name="T16" fmla="*/ 42862 w 29"/>
                <a:gd name="T17" fmla="*/ 25854 h 28"/>
                <a:gd name="T18" fmla="*/ 42862 w 29"/>
                <a:gd name="T19" fmla="*/ 23132 h 28"/>
                <a:gd name="T20" fmla="*/ 42862 w 29"/>
                <a:gd name="T21" fmla="*/ 17689 h 28"/>
                <a:gd name="T22" fmla="*/ 42862 w 29"/>
                <a:gd name="T23" fmla="*/ 14968 h 28"/>
                <a:gd name="T24" fmla="*/ 42862 w 29"/>
                <a:gd name="T25" fmla="*/ 12246 h 28"/>
                <a:gd name="T26" fmla="*/ 39906 w 29"/>
                <a:gd name="T27" fmla="*/ 9525 h 28"/>
                <a:gd name="T28" fmla="*/ 39906 w 29"/>
                <a:gd name="T29" fmla="*/ 6804 h 28"/>
                <a:gd name="T30" fmla="*/ 36950 w 29"/>
                <a:gd name="T31" fmla="*/ 4082 h 28"/>
                <a:gd name="T32" fmla="*/ 33994 w 29"/>
                <a:gd name="T33" fmla="*/ 1361 h 28"/>
                <a:gd name="T34" fmla="*/ 31038 w 29"/>
                <a:gd name="T35" fmla="*/ 1361 h 28"/>
                <a:gd name="T36" fmla="*/ 28082 w 29"/>
                <a:gd name="T37" fmla="*/ 0 h 28"/>
                <a:gd name="T38" fmla="*/ 25126 w 29"/>
                <a:gd name="T39" fmla="*/ 0 h 28"/>
                <a:gd name="T40" fmla="*/ 22170 w 29"/>
                <a:gd name="T41" fmla="*/ 0 h 28"/>
                <a:gd name="T42" fmla="*/ 17736 w 29"/>
                <a:gd name="T43" fmla="*/ 0 h 28"/>
                <a:gd name="T44" fmla="*/ 14780 w 29"/>
                <a:gd name="T45" fmla="*/ 0 h 28"/>
                <a:gd name="T46" fmla="*/ 11824 w 29"/>
                <a:gd name="T47" fmla="*/ 1361 h 28"/>
                <a:gd name="T48" fmla="*/ 8868 w 29"/>
                <a:gd name="T49" fmla="*/ 1361 h 28"/>
                <a:gd name="T50" fmla="*/ 5912 w 29"/>
                <a:gd name="T51" fmla="*/ 4082 h 28"/>
                <a:gd name="T52" fmla="*/ 5912 w 29"/>
                <a:gd name="T53" fmla="*/ 6804 h 28"/>
                <a:gd name="T54" fmla="*/ 2956 w 29"/>
                <a:gd name="T55" fmla="*/ 9525 h 28"/>
                <a:gd name="T56" fmla="*/ 2956 w 29"/>
                <a:gd name="T57" fmla="*/ 12246 h 28"/>
                <a:gd name="T58" fmla="*/ 0 w 29"/>
                <a:gd name="T59" fmla="*/ 14968 h 28"/>
                <a:gd name="T60" fmla="*/ 0 w 29"/>
                <a:gd name="T61" fmla="*/ 17689 h 28"/>
                <a:gd name="T62" fmla="*/ 0 w 29"/>
                <a:gd name="T63" fmla="*/ 23132 h 28"/>
                <a:gd name="T64" fmla="*/ 2956 w 29"/>
                <a:gd name="T65" fmla="*/ 25854 h 28"/>
                <a:gd name="T66" fmla="*/ 2956 w 29"/>
                <a:gd name="T67" fmla="*/ 28575 h 28"/>
                <a:gd name="T68" fmla="*/ 5912 w 29"/>
                <a:gd name="T69" fmla="*/ 29936 h 28"/>
                <a:gd name="T70" fmla="*/ 5912 w 29"/>
                <a:gd name="T71" fmla="*/ 32657 h 28"/>
                <a:gd name="T72" fmla="*/ 8868 w 29"/>
                <a:gd name="T73" fmla="*/ 32657 h 28"/>
                <a:gd name="T74" fmla="*/ 11824 w 29"/>
                <a:gd name="T75" fmla="*/ 35379 h 28"/>
                <a:gd name="T76" fmla="*/ 14780 w 29"/>
                <a:gd name="T77" fmla="*/ 35379 h 28"/>
                <a:gd name="T78" fmla="*/ 17736 w 29"/>
                <a:gd name="T79" fmla="*/ 38100 h 28"/>
                <a:gd name="T80" fmla="*/ 22170 w 29"/>
                <a:gd name="T81" fmla="*/ 38100 h 28"/>
                <a:gd name="T82" fmla="*/ 22170 w 29"/>
                <a:gd name="T83" fmla="*/ 38100 h 28"/>
                <a:gd name="T84" fmla="*/ 20692 w 29"/>
                <a:gd name="T85" fmla="*/ 35379 h 28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9"/>
                <a:gd name="T130" fmla="*/ 0 h 28"/>
                <a:gd name="T131" fmla="*/ 29 w 29"/>
                <a:gd name="T132" fmla="*/ 28 h 28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9" h="28">
                  <a:moveTo>
                    <a:pt x="14" y="26"/>
                  </a:moveTo>
                  <a:lnTo>
                    <a:pt x="17" y="28"/>
                  </a:lnTo>
                  <a:lnTo>
                    <a:pt x="19" y="26"/>
                  </a:lnTo>
                  <a:lnTo>
                    <a:pt x="21" y="26"/>
                  </a:lnTo>
                  <a:lnTo>
                    <a:pt x="23" y="24"/>
                  </a:lnTo>
                  <a:lnTo>
                    <a:pt x="25" y="24"/>
                  </a:lnTo>
                  <a:lnTo>
                    <a:pt x="27" y="22"/>
                  </a:lnTo>
                  <a:lnTo>
                    <a:pt x="27" y="21"/>
                  </a:lnTo>
                  <a:lnTo>
                    <a:pt x="29" y="19"/>
                  </a:lnTo>
                  <a:lnTo>
                    <a:pt x="29" y="17"/>
                  </a:lnTo>
                  <a:lnTo>
                    <a:pt x="29" y="13"/>
                  </a:lnTo>
                  <a:lnTo>
                    <a:pt x="29" y="11"/>
                  </a:lnTo>
                  <a:lnTo>
                    <a:pt x="29" y="9"/>
                  </a:lnTo>
                  <a:lnTo>
                    <a:pt x="27" y="7"/>
                  </a:lnTo>
                  <a:lnTo>
                    <a:pt x="27" y="5"/>
                  </a:lnTo>
                  <a:lnTo>
                    <a:pt x="25" y="3"/>
                  </a:lnTo>
                  <a:lnTo>
                    <a:pt x="23" y="1"/>
                  </a:lnTo>
                  <a:lnTo>
                    <a:pt x="21" y="1"/>
                  </a:lnTo>
                  <a:lnTo>
                    <a:pt x="19" y="0"/>
                  </a:lnTo>
                  <a:lnTo>
                    <a:pt x="17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8" y="1"/>
                  </a:lnTo>
                  <a:lnTo>
                    <a:pt x="6" y="1"/>
                  </a:lnTo>
                  <a:lnTo>
                    <a:pt x="4" y="3"/>
                  </a:lnTo>
                  <a:lnTo>
                    <a:pt x="4" y="5"/>
                  </a:lnTo>
                  <a:lnTo>
                    <a:pt x="2" y="7"/>
                  </a:lnTo>
                  <a:lnTo>
                    <a:pt x="2" y="9"/>
                  </a:lnTo>
                  <a:lnTo>
                    <a:pt x="0" y="11"/>
                  </a:lnTo>
                  <a:lnTo>
                    <a:pt x="0" y="13"/>
                  </a:lnTo>
                  <a:lnTo>
                    <a:pt x="0" y="17"/>
                  </a:lnTo>
                  <a:lnTo>
                    <a:pt x="2" y="19"/>
                  </a:lnTo>
                  <a:lnTo>
                    <a:pt x="2" y="21"/>
                  </a:lnTo>
                  <a:lnTo>
                    <a:pt x="4" y="22"/>
                  </a:lnTo>
                  <a:lnTo>
                    <a:pt x="4" y="24"/>
                  </a:lnTo>
                  <a:lnTo>
                    <a:pt x="6" y="24"/>
                  </a:lnTo>
                  <a:lnTo>
                    <a:pt x="8" y="26"/>
                  </a:lnTo>
                  <a:lnTo>
                    <a:pt x="10" y="26"/>
                  </a:lnTo>
                  <a:lnTo>
                    <a:pt x="12" y="28"/>
                  </a:lnTo>
                  <a:lnTo>
                    <a:pt x="15" y="28"/>
                  </a:lnTo>
                  <a:lnTo>
                    <a:pt x="14" y="26"/>
                  </a:lnTo>
                  <a:close/>
                </a:path>
              </a:pathLst>
            </a:custGeom>
            <a:solidFill>
              <a:srgbClr val="EB75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61" name="Freeform 160"/>
            <p:cNvSpPr>
              <a:spLocks/>
            </p:cNvSpPr>
            <p:nvPr/>
          </p:nvSpPr>
          <p:spPr bwMode="auto">
            <a:xfrm>
              <a:off x="4332288" y="2308225"/>
              <a:ext cx="368300" cy="149225"/>
            </a:xfrm>
            <a:custGeom>
              <a:avLst/>
              <a:gdLst>
                <a:gd name="T0" fmla="*/ 0 w 251"/>
                <a:gd name="T1" fmla="*/ 0 h 110"/>
                <a:gd name="T2" fmla="*/ 0 w 251"/>
                <a:gd name="T3" fmla="*/ 149225 h 110"/>
                <a:gd name="T4" fmla="*/ 318411 w 251"/>
                <a:gd name="T5" fmla="*/ 149225 h 110"/>
                <a:gd name="T6" fmla="*/ 318411 w 251"/>
                <a:gd name="T7" fmla="*/ 50194 h 110"/>
                <a:gd name="T8" fmla="*/ 368300 w 251"/>
                <a:gd name="T9" fmla="*/ 50194 h 1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1"/>
                <a:gd name="T16" fmla="*/ 0 h 110"/>
                <a:gd name="T17" fmla="*/ 251 w 251"/>
                <a:gd name="T18" fmla="*/ 110 h 1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1" h="110">
                  <a:moveTo>
                    <a:pt x="0" y="0"/>
                  </a:moveTo>
                  <a:lnTo>
                    <a:pt x="0" y="110"/>
                  </a:lnTo>
                  <a:lnTo>
                    <a:pt x="217" y="110"/>
                  </a:lnTo>
                  <a:lnTo>
                    <a:pt x="217" y="37"/>
                  </a:lnTo>
                  <a:lnTo>
                    <a:pt x="251" y="37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62" name="Freeform 161"/>
            <p:cNvSpPr>
              <a:spLocks/>
            </p:cNvSpPr>
            <p:nvPr/>
          </p:nvSpPr>
          <p:spPr bwMode="auto">
            <a:xfrm>
              <a:off x="4697413" y="2117725"/>
              <a:ext cx="82550" cy="388938"/>
            </a:xfrm>
            <a:custGeom>
              <a:avLst/>
              <a:gdLst>
                <a:gd name="T0" fmla="*/ 79602 w 56"/>
                <a:gd name="T1" fmla="*/ 386228 h 287"/>
                <a:gd name="T2" fmla="*/ 82550 w 56"/>
                <a:gd name="T3" fmla="*/ 0 h 287"/>
                <a:gd name="T4" fmla="*/ 0 w 56"/>
                <a:gd name="T5" fmla="*/ 0 h 287"/>
                <a:gd name="T6" fmla="*/ 0 w 56"/>
                <a:gd name="T7" fmla="*/ 388938 h 287"/>
                <a:gd name="T8" fmla="*/ 82550 w 56"/>
                <a:gd name="T9" fmla="*/ 388938 h 287"/>
                <a:gd name="T10" fmla="*/ 82550 w 56"/>
                <a:gd name="T11" fmla="*/ 388938 h 28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6"/>
                <a:gd name="T19" fmla="*/ 0 h 287"/>
                <a:gd name="T20" fmla="*/ 56 w 56"/>
                <a:gd name="T21" fmla="*/ 287 h 28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6" h="287">
                  <a:moveTo>
                    <a:pt x="54" y="285"/>
                  </a:moveTo>
                  <a:lnTo>
                    <a:pt x="56" y="0"/>
                  </a:lnTo>
                  <a:lnTo>
                    <a:pt x="0" y="0"/>
                  </a:lnTo>
                  <a:lnTo>
                    <a:pt x="0" y="287"/>
                  </a:lnTo>
                  <a:lnTo>
                    <a:pt x="56" y="287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grpSp>
          <p:nvGrpSpPr>
            <p:cNvPr id="163" name="Group 162"/>
            <p:cNvGrpSpPr>
              <a:grpSpLocks/>
            </p:cNvGrpSpPr>
            <p:nvPr/>
          </p:nvGrpSpPr>
          <p:grpSpPr bwMode="auto">
            <a:xfrm>
              <a:off x="4889500" y="3887788"/>
              <a:ext cx="3713163" cy="1703387"/>
              <a:chOff x="2742" y="2726"/>
              <a:chExt cx="2533" cy="1258"/>
            </a:xfrm>
          </p:grpSpPr>
          <p:sp>
            <p:nvSpPr>
              <p:cNvPr id="164" name="Freeform 163"/>
              <p:cNvSpPr>
                <a:spLocks/>
              </p:cNvSpPr>
              <p:nvPr/>
            </p:nvSpPr>
            <p:spPr bwMode="auto">
              <a:xfrm>
                <a:off x="4789" y="3768"/>
                <a:ext cx="73" cy="144"/>
              </a:xfrm>
              <a:custGeom>
                <a:avLst/>
                <a:gdLst>
                  <a:gd name="T0" fmla="*/ 71 w 73"/>
                  <a:gd name="T1" fmla="*/ 144 h 144"/>
                  <a:gd name="T2" fmla="*/ 0 w 73"/>
                  <a:gd name="T3" fmla="*/ 144 h 144"/>
                  <a:gd name="T4" fmla="*/ 0 w 73"/>
                  <a:gd name="T5" fmla="*/ 0 h 144"/>
                  <a:gd name="T6" fmla="*/ 73 w 73"/>
                  <a:gd name="T7" fmla="*/ 0 h 144"/>
                  <a:gd name="T8" fmla="*/ 71 w 73"/>
                  <a:gd name="T9" fmla="*/ 144 h 14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3"/>
                  <a:gd name="T16" fmla="*/ 0 h 144"/>
                  <a:gd name="T17" fmla="*/ 73 w 73"/>
                  <a:gd name="T18" fmla="*/ 144 h 14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3" h="144">
                    <a:moveTo>
                      <a:pt x="71" y="144"/>
                    </a:moveTo>
                    <a:lnTo>
                      <a:pt x="0" y="144"/>
                    </a:lnTo>
                    <a:lnTo>
                      <a:pt x="0" y="0"/>
                    </a:lnTo>
                    <a:lnTo>
                      <a:pt x="73" y="0"/>
                    </a:lnTo>
                    <a:lnTo>
                      <a:pt x="71" y="144"/>
                    </a:lnTo>
                    <a:close/>
                  </a:path>
                </a:pathLst>
              </a:custGeom>
              <a:solidFill>
                <a:srgbClr val="CCCC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65" name="Freeform 164"/>
              <p:cNvSpPr>
                <a:spLocks/>
              </p:cNvSpPr>
              <p:nvPr/>
            </p:nvSpPr>
            <p:spPr bwMode="auto">
              <a:xfrm>
                <a:off x="4789" y="3768"/>
                <a:ext cx="73" cy="144"/>
              </a:xfrm>
              <a:custGeom>
                <a:avLst/>
                <a:gdLst>
                  <a:gd name="T0" fmla="*/ 71 w 73"/>
                  <a:gd name="T1" fmla="*/ 144 h 144"/>
                  <a:gd name="T2" fmla="*/ 0 w 73"/>
                  <a:gd name="T3" fmla="*/ 144 h 144"/>
                  <a:gd name="T4" fmla="*/ 0 w 73"/>
                  <a:gd name="T5" fmla="*/ 0 h 144"/>
                  <a:gd name="T6" fmla="*/ 73 w 73"/>
                  <a:gd name="T7" fmla="*/ 0 h 14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3"/>
                  <a:gd name="T13" fmla="*/ 0 h 144"/>
                  <a:gd name="T14" fmla="*/ 73 w 73"/>
                  <a:gd name="T15" fmla="*/ 144 h 14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3" h="144">
                    <a:moveTo>
                      <a:pt x="71" y="144"/>
                    </a:moveTo>
                    <a:lnTo>
                      <a:pt x="0" y="144"/>
                    </a:lnTo>
                    <a:lnTo>
                      <a:pt x="0" y="0"/>
                    </a:lnTo>
                    <a:lnTo>
                      <a:pt x="73" y="0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66" name="Freeform 165"/>
              <p:cNvSpPr>
                <a:spLocks/>
              </p:cNvSpPr>
              <p:nvPr/>
            </p:nvSpPr>
            <p:spPr bwMode="auto">
              <a:xfrm>
                <a:off x="4860" y="3768"/>
                <a:ext cx="73" cy="144"/>
              </a:xfrm>
              <a:custGeom>
                <a:avLst/>
                <a:gdLst>
                  <a:gd name="T0" fmla="*/ 0 w 73"/>
                  <a:gd name="T1" fmla="*/ 0 h 144"/>
                  <a:gd name="T2" fmla="*/ 73 w 73"/>
                  <a:gd name="T3" fmla="*/ 0 h 144"/>
                  <a:gd name="T4" fmla="*/ 73 w 73"/>
                  <a:gd name="T5" fmla="*/ 144 h 144"/>
                  <a:gd name="T6" fmla="*/ 2 w 73"/>
                  <a:gd name="T7" fmla="*/ 144 h 14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3"/>
                  <a:gd name="T13" fmla="*/ 0 h 144"/>
                  <a:gd name="T14" fmla="*/ 73 w 73"/>
                  <a:gd name="T15" fmla="*/ 144 h 14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3" h="144">
                    <a:moveTo>
                      <a:pt x="0" y="0"/>
                    </a:moveTo>
                    <a:lnTo>
                      <a:pt x="73" y="0"/>
                    </a:lnTo>
                    <a:lnTo>
                      <a:pt x="73" y="144"/>
                    </a:lnTo>
                    <a:lnTo>
                      <a:pt x="2" y="144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67" name="Line 166"/>
              <p:cNvSpPr>
                <a:spLocks noChangeShapeType="1"/>
              </p:cNvSpPr>
              <p:nvPr/>
            </p:nvSpPr>
            <p:spPr bwMode="auto">
              <a:xfrm>
                <a:off x="4251" y="3804"/>
                <a:ext cx="73" cy="1"/>
              </a:xfrm>
              <a:prstGeom prst="line">
                <a:avLst/>
              </a:prstGeom>
              <a:noFill/>
              <a:ln w="15875">
                <a:solidFill>
                  <a:srgbClr val="EB75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68" name="Rectangle 167"/>
              <p:cNvSpPr>
                <a:spLocks noChangeArrowheads="1"/>
              </p:cNvSpPr>
              <p:nvPr/>
            </p:nvSpPr>
            <p:spPr bwMode="auto">
              <a:xfrm>
                <a:off x="5131" y="3768"/>
                <a:ext cx="72" cy="144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69" name="Line 168"/>
              <p:cNvSpPr>
                <a:spLocks noChangeShapeType="1"/>
              </p:cNvSpPr>
              <p:nvPr/>
            </p:nvSpPr>
            <p:spPr bwMode="auto">
              <a:xfrm flipV="1">
                <a:off x="5274" y="3766"/>
                <a:ext cx="1" cy="14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70" name="Line 169"/>
              <p:cNvSpPr>
                <a:spLocks noChangeShapeType="1"/>
              </p:cNvSpPr>
              <p:nvPr/>
            </p:nvSpPr>
            <p:spPr bwMode="auto">
              <a:xfrm flipH="1">
                <a:off x="5200" y="3768"/>
                <a:ext cx="74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71" name="Line 170"/>
              <p:cNvSpPr>
                <a:spLocks noChangeShapeType="1"/>
              </p:cNvSpPr>
              <p:nvPr/>
            </p:nvSpPr>
            <p:spPr bwMode="auto">
              <a:xfrm flipH="1">
                <a:off x="5200" y="3912"/>
                <a:ext cx="74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72" name="Rectangle 171"/>
              <p:cNvSpPr>
                <a:spLocks noChangeArrowheads="1"/>
              </p:cNvSpPr>
              <p:nvPr/>
            </p:nvSpPr>
            <p:spPr bwMode="auto">
              <a:xfrm>
                <a:off x="3837" y="3768"/>
                <a:ext cx="73" cy="144"/>
              </a:xfrm>
              <a:prstGeom prst="rect">
                <a:avLst/>
              </a:prstGeom>
              <a:solidFill>
                <a:srgbClr val="CCCCCC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73" name="Rectangle 172"/>
              <p:cNvSpPr>
                <a:spLocks noChangeArrowheads="1"/>
              </p:cNvSpPr>
              <p:nvPr/>
            </p:nvSpPr>
            <p:spPr bwMode="auto">
              <a:xfrm>
                <a:off x="3837" y="3768"/>
                <a:ext cx="73" cy="144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74" name="Rectangle 173"/>
              <p:cNvSpPr>
                <a:spLocks noChangeArrowheads="1"/>
              </p:cNvSpPr>
              <p:nvPr/>
            </p:nvSpPr>
            <p:spPr bwMode="auto">
              <a:xfrm>
                <a:off x="3766" y="3768"/>
                <a:ext cx="71" cy="144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75" name="Rectangle 174"/>
              <p:cNvSpPr>
                <a:spLocks noChangeArrowheads="1"/>
              </p:cNvSpPr>
              <p:nvPr/>
            </p:nvSpPr>
            <p:spPr bwMode="auto">
              <a:xfrm>
                <a:off x="3802" y="3798"/>
                <a:ext cx="17" cy="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I</a:t>
                </a:r>
                <a:endParaRPr lang="en-US" sz="1200" b="1">
                  <a:latin typeface="+mj-lt"/>
                </a:endParaRPr>
              </a:p>
            </p:txBody>
          </p:sp>
          <p:sp>
            <p:nvSpPr>
              <p:cNvPr id="176" name="Rectangle 175"/>
              <p:cNvSpPr>
                <a:spLocks noChangeArrowheads="1"/>
              </p:cNvSpPr>
              <p:nvPr/>
            </p:nvSpPr>
            <p:spPr bwMode="auto">
              <a:xfrm>
                <a:off x="3819" y="3798"/>
                <a:ext cx="60" cy="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M</a:t>
                </a:r>
                <a:endParaRPr lang="en-US" sz="1200" b="1">
                  <a:latin typeface="+mj-lt"/>
                </a:endParaRPr>
              </a:p>
            </p:txBody>
          </p:sp>
          <p:sp>
            <p:nvSpPr>
              <p:cNvPr id="177" name="Freeform 176"/>
              <p:cNvSpPr>
                <a:spLocks/>
              </p:cNvSpPr>
              <p:nvPr/>
            </p:nvSpPr>
            <p:spPr bwMode="auto">
              <a:xfrm>
                <a:off x="4178" y="3768"/>
                <a:ext cx="73" cy="144"/>
              </a:xfrm>
              <a:custGeom>
                <a:avLst/>
                <a:gdLst>
                  <a:gd name="T0" fmla="*/ 0 w 73"/>
                  <a:gd name="T1" fmla="*/ 144 h 144"/>
                  <a:gd name="T2" fmla="*/ 73 w 73"/>
                  <a:gd name="T3" fmla="*/ 144 h 144"/>
                  <a:gd name="T4" fmla="*/ 73 w 73"/>
                  <a:gd name="T5" fmla="*/ 0 h 144"/>
                  <a:gd name="T6" fmla="*/ 2 w 73"/>
                  <a:gd name="T7" fmla="*/ 0 h 144"/>
                  <a:gd name="T8" fmla="*/ 0 w 73"/>
                  <a:gd name="T9" fmla="*/ 144 h 14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3"/>
                  <a:gd name="T16" fmla="*/ 0 h 144"/>
                  <a:gd name="T17" fmla="*/ 73 w 73"/>
                  <a:gd name="T18" fmla="*/ 144 h 14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3" h="144">
                    <a:moveTo>
                      <a:pt x="0" y="144"/>
                    </a:moveTo>
                    <a:lnTo>
                      <a:pt x="73" y="144"/>
                    </a:lnTo>
                    <a:lnTo>
                      <a:pt x="73" y="0"/>
                    </a:lnTo>
                    <a:lnTo>
                      <a:pt x="2" y="0"/>
                    </a:lnTo>
                    <a:lnTo>
                      <a:pt x="0" y="144"/>
                    </a:lnTo>
                    <a:close/>
                  </a:path>
                </a:pathLst>
              </a:custGeom>
              <a:solidFill>
                <a:srgbClr val="FBE2C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78" name="Freeform 177"/>
              <p:cNvSpPr>
                <a:spLocks/>
              </p:cNvSpPr>
              <p:nvPr/>
            </p:nvSpPr>
            <p:spPr bwMode="auto">
              <a:xfrm>
                <a:off x="4178" y="3768"/>
                <a:ext cx="73" cy="144"/>
              </a:xfrm>
              <a:custGeom>
                <a:avLst/>
                <a:gdLst>
                  <a:gd name="T0" fmla="*/ 0 w 73"/>
                  <a:gd name="T1" fmla="*/ 144 h 144"/>
                  <a:gd name="T2" fmla="*/ 73 w 73"/>
                  <a:gd name="T3" fmla="*/ 144 h 144"/>
                  <a:gd name="T4" fmla="*/ 73 w 73"/>
                  <a:gd name="T5" fmla="*/ 0 h 144"/>
                  <a:gd name="T6" fmla="*/ 2 w 73"/>
                  <a:gd name="T7" fmla="*/ 0 h 14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3"/>
                  <a:gd name="T13" fmla="*/ 0 h 144"/>
                  <a:gd name="T14" fmla="*/ 73 w 73"/>
                  <a:gd name="T15" fmla="*/ 144 h 14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3" h="144">
                    <a:moveTo>
                      <a:pt x="0" y="144"/>
                    </a:moveTo>
                    <a:lnTo>
                      <a:pt x="73" y="144"/>
                    </a:lnTo>
                    <a:lnTo>
                      <a:pt x="73" y="0"/>
                    </a:lnTo>
                    <a:lnTo>
                      <a:pt x="2" y="0"/>
                    </a:lnTo>
                  </a:path>
                </a:pathLst>
              </a:custGeom>
              <a:noFill/>
              <a:ln w="9525">
                <a:solidFill>
                  <a:srgbClr val="EB75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79" name="Line 178"/>
              <p:cNvSpPr>
                <a:spLocks noChangeShapeType="1"/>
              </p:cNvSpPr>
              <p:nvPr/>
            </p:nvSpPr>
            <p:spPr bwMode="auto">
              <a:xfrm flipV="1">
                <a:off x="4107" y="3766"/>
                <a:ext cx="1" cy="14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80" name="Line 179"/>
              <p:cNvSpPr>
                <a:spLocks noChangeShapeType="1"/>
              </p:cNvSpPr>
              <p:nvPr/>
            </p:nvSpPr>
            <p:spPr bwMode="auto">
              <a:xfrm>
                <a:off x="4107" y="3768"/>
                <a:ext cx="73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81" name="Line 180"/>
              <p:cNvSpPr>
                <a:spLocks noChangeShapeType="1"/>
              </p:cNvSpPr>
              <p:nvPr/>
            </p:nvSpPr>
            <p:spPr bwMode="auto">
              <a:xfrm>
                <a:off x="4107" y="3912"/>
                <a:ext cx="73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82" name="Freeform 181"/>
              <p:cNvSpPr>
                <a:spLocks/>
              </p:cNvSpPr>
              <p:nvPr/>
            </p:nvSpPr>
            <p:spPr bwMode="auto">
              <a:xfrm>
                <a:off x="4465" y="3697"/>
                <a:ext cx="110" cy="285"/>
              </a:xfrm>
              <a:custGeom>
                <a:avLst/>
                <a:gdLst>
                  <a:gd name="T0" fmla="*/ 0 w 110"/>
                  <a:gd name="T1" fmla="*/ 0 h 285"/>
                  <a:gd name="T2" fmla="*/ 0 w 110"/>
                  <a:gd name="T3" fmla="*/ 115 h 285"/>
                  <a:gd name="T4" fmla="*/ 35 w 110"/>
                  <a:gd name="T5" fmla="*/ 144 h 285"/>
                  <a:gd name="T6" fmla="*/ 0 w 110"/>
                  <a:gd name="T7" fmla="*/ 171 h 285"/>
                  <a:gd name="T8" fmla="*/ 0 w 110"/>
                  <a:gd name="T9" fmla="*/ 285 h 285"/>
                  <a:gd name="T10" fmla="*/ 110 w 110"/>
                  <a:gd name="T11" fmla="*/ 197 h 285"/>
                  <a:gd name="T12" fmla="*/ 110 w 110"/>
                  <a:gd name="T13" fmla="*/ 88 h 285"/>
                  <a:gd name="T14" fmla="*/ 0 w 110"/>
                  <a:gd name="T15" fmla="*/ 0 h 285"/>
                  <a:gd name="T16" fmla="*/ 0 w 110"/>
                  <a:gd name="T17" fmla="*/ 0 h 285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10"/>
                  <a:gd name="T28" fmla="*/ 0 h 285"/>
                  <a:gd name="T29" fmla="*/ 110 w 110"/>
                  <a:gd name="T30" fmla="*/ 285 h 285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10" h="285">
                    <a:moveTo>
                      <a:pt x="0" y="0"/>
                    </a:moveTo>
                    <a:lnTo>
                      <a:pt x="0" y="115"/>
                    </a:lnTo>
                    <a:lnTo>
                      <a:pt x="35" y="144"/>
                    </a:lnTo>
                    <a:lnTo>
                      <a:pt x="0" y="171"/>
                    </a:lnTo>
                    <a:lnTo>
                      <a:pt x="0" y="285"/>
                    </a:lnTo>
                    <a:lnTo>
                      <a:pt x="110" y="197"/>
                    </a:lnTo>
                    <a:lnTo>
                      <a:pt x="110" y="8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CCC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83" name="Freeform 182"/>
              <p:cNvSpPr>
                <a:spLocks/>
              </p:cNvSpPr>
              <p:nvPr/>
            </p:nvSpPr>
            <p:spPr bwMode="auto">
              <a:xfrm>
                <a:off x="4465" y="3697"/>
                <a:ext cx="110" cy="285"/>
              </a:xfrm>
              <a:custGeom>
                <a:avLst/>
                <a:gdLst>
                  <a:gd name="T0" fmla="*/ 0 w 110"/>
                  <a:gd name="T1" fmla="*/ 0 h 285"/>
                  <a:gd name="T2" fmla="*/ 0 w 110"/>
                  <a:gd name="T3" fmla="*/ 115 h 285"/>
                  <a:gd name="T4" fmla="*/ 35 w 110"/>
                  <a:gd name="T5" fmla="*/ 144 h 285"/>
                  <a:gd name="T6" fmla="*/ 0 w 110"/>
                  <a:gd name="T7" fmla="*/ 171 h 285"/>
                  <a:gd name="T8" fmla="*/ 0 w 110"/>
                  <a:gd name="T9" fmla="*/ 285 h 285"/>
                  <a:gd name="T10" fmla="*/ 110 w 110"/>
                  <a:gd name="T11" fmla="*/ 197 h 285"/>
                  <a:gd name="T12" fmla="*/ 110 w 110"/>
                  <a:gd name="T13" fmla="*/ 88 h 285"/>
                  <a:gd name="T14" fmla="*/ 0 w 110"/>
                  <a:gd name="T15" fmla="*/ 0 h 285"/>
                  <a:gd name="T16" fmla="*/ 0 w 110"/>
                  <a:gd name="T17" fmla="*/ 0 h 285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10"/>
                  <a:gd name="T28" fmla="*/ 0 h 285"/>
                  <a:gd name="T29" fmla="*/ 110 w 110"/>
                  <a:gd name="T30" fmla="*/ 285 h 285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10" h="285">
                    <a:moveTo>
                      <a:pt x="0" y="0"/>
                    </a:moveTo>
                    <a:lnTo>
                      <a:pt x="0" y="115"/>
                    </a:lnTo>
                    <a:lnTo>
                      <a:pt x="35" y="144"/>
                    </a:lnTo>
                    <a:lnTo>
                      <a:pt x="0" y="171"/>
                    </a:lnTo>
                    <a:lnTo>
                      <a:pt x="0" y="285"/>
                    </a:lnTo>
                    <a:lnTo>
                      <a:pt x="110" y="197"/>
                    </a:lnTo>
                    <a:lnTo>
                      <a:pt x="110" y="88"/>
                    </a:lnTo>
                    <a:lnTo>
                      <a:pt x="0" y="0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84" name="Rectangle 183"/>
              <p:cNvSpPr>
                <a:spLocks noChangeArrowheads="1"/>
              </p:cNvSpPr>
              <p:nvPr/>
            </p:nvSpPr>
            <p:spPr bwMode="auto">
              <a:xfrm>
                <a:off x="4814" y="3798"/>
                <a:ext cx="43" cy="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D</a:t>
                </a:r>
                <a:endParaRPr lang="en-US" sz="1200" b="1">
                  <a:latin typeface="+mj-lt"/>
                </a:endParaRPr>
              </a:p>
            </p:txBody>
          </p:sp>
          <p:sp>
            <p:nvSpPr>
              <p:cNvPr id="185" name="Rectangle 184"/>
              <p:cNvSpPr>
                <a:spLocks noChangeArrowheads="1"/>
              </p:cNvSpPr>
              <p:nvPr/>
            </p:nvSpPr>
            <p:spPr bwMode="auto">
              <a:xfrm>
                <a:off x="4860" y="3798"/>
                <a:ext cx="60" cy="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M</a:t>
                </a:r>
                <a:endParaRPr lang="en-US" sz="1200" b="1">
                  <a:latin typeface="+mj-lt"/>
                </a:endParaRPr>
              </a:p>
            </p:txBody>
          </p:sp>
          <p:sp>
            <p:nvSpPr>
              <p:cNvPr id="186" name="Rectangle 185"/>
              <p:cNvSpPr>
                <a:spLocks noChangeArrowheads="1"/>
              </p:cNvSpPr>
              <p:nvPr/>
            </p:nvSpPr>
            <p:spPr bwMode="auto">
              <a:xfrm>
                <a:off x="5150" y="3798"/>
                <a:ext cx="38" cy="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R</a:t>
                </a:r>
                <a:endParaRPr lang="en-US" sz="1200" b="1">
                  <a:latin typeface="+mj-lt"/>
                </a:endParaRPr>
              </a:p>
            </p:txBody>
          </p:sp>
          <p:sp>
            <p:nvSpPr>
              <p:cNvPr id="187" name="Rectangle 186"/>
              <p:cNvSpPr>
                <a:spLocks noChangeArrowheads="1"/>
              </p:cNvSpPr>
              <p:nvPr/>
            </p:nvSpPr>
            <p:spPr bwMode="auto">
              <a:xfrm>
                <a:off x="5196" y="3798"/>
                <a:ext cx="35" cy="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e</a:t>
                </a:r>
                <a:endParaRPr lang="en-US" sz="1200" b="1">
                  <a:latin typeface="+mj-lt"/>
                </a:endParaRPr>
              </a:p>
            </p:txBody>
          </p:sp>
          <p:sp>
            <p:nvSpPr>
              <p:cNvPr id="188" name="Rectangle 187"/>
              <p:cNvSpPr>
                <a:spLocks noChangeArrowheads="1"/>
              </p:cNvSpPr>
              <p:nvPr/>
            </p:nvSpPr>
            <p:spPr bwMode="auto">
              <a:xfrm>
                <a:off x="5230" y="3798"/>
                <a:ext cx="33" cy="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g</a:t>
                </a:r>
                <a:endParaRPr lang="en-US" sz="1200" b="1">
                  <a:latin typeface="+mj-lt"/>
                </a:endParaRPr>
              </a:p>
            </p:txBody>
          </p:sp>
          <p:sp>
            <p:nvSpPr>
              <p:cNvPr id="189" name="Line 188"/>
              <p:cNvSpPr>
                <a:spLocks noChangeShapeType="1"/>
              </p:cNvSpPr>
              <p:nvPr/>
            </p:nvSpPr>
            <p:spPr bwMode="auto">
              <a:xfrm>
                <a:off x="3910" y="3839"/>
                <a:ext cx="197" cy="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90" name="Line 189"/>
              <p:cNvSpPr>
                <a:spLocks noChangeShapeType="1"/>
              </p:cNvSpPr>
              <p:nvPr/>
            </p:nvSpPr>
            <p:spPr bwMode="auto">
              <a:xfrm>
                <a:off x="4575" y="3839"/>
                <a:ext cx="214" cy="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91" name="Line 190"/>
              <p:cNvSpPr>
                <a:spLocks noChangeShapeType="1"/>
              </p:cNvSpPr>
              <p:nvPr/>
            </p:nvSpPr>
            <p:spPr bwMode="auto">
              <a:xfrm>
                <a:off x="4933" y="3839"/>
                <a:ext cx="198" cy="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92" name="Line 191"/>
              <p:cNvSpPr>
                <a:spLocks noChangeShapeType="1"/>
              </p:cNvSpPr>
              <p:nvPr/>
            </p:nvSpPr>
            <p:spPr bwMode="auto">
              <a:xfrm>
                <a:off x="4251" y="3875"/>
                <a:ext cx="214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93" name="Freeform 192"/>
              <p:cNvSpPr>
                <a:spLocks/>
              </p:cNvSpPr>
              <p:nvPr/>
            </p:nvSpPr>
            <p:spPr bwMode="auto">
              <a:xfrm>
                <a:off x="4071" y="3804"/>
                <a:ext cx="36" cy="35"/>
              </a:xfrm>
              <a:custGeom>
                <a:avLst/>
                <a:gdLst>
                  <a:gd name="T0" fmla="*/ 0 w 36"/>
                  <a:gd name="T1" fmla="*/ 35 h 35"/>
                  <a:gd name="T2" fmla="*/ 0 w 36"/>
                  <a:gd name="T3" fmla="*/ 0 h 35"/>
                  <a:gd name="T4" fmla="*/ 36 w 36"/>
                  <a:gd name="T5" fmla="*/ 0 h 35"/>
                  <a:gd name="T6" fmla="*/ 0 60000 65536"/>
                  <a:gd name="T7" fmla="*/ 0 60000 65536"/>
                  <a:gd name="T8" fmla="*/ 0 60000 65536"/>
                  <a:gd name="T9" fmla="*/ 0 w 36"/>
                  <a:gd name="T10" fmla="*/ 0 h 35"/>
                  <a:gd name="T11" fmla="*/ 36 w 36"/>
                  <a:gd name="T12" fmla="*/ 35 h 3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6" h="35">
                    <a:moveTo>
                      <a:pt x="0" y="35"/>
                    </a:moveTo>
                    <a:lnTo>
                      <a:pt x="0" y="0"/>
                    </a:lnTo>
                    <a:lnTo>
                      <a:pt x="36" y="0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94" name="Freeform 193"/>
              <p:cNvSpPr>
                <a:spLocks/>
              </p:cNvSpPr>
              <p:nvPr/>
            </p:nvSpPr>
            <p:spPr bwMode="auto">
              <a:xfrm>
                <a:off x="4753" y="3839"/>
                <a:ext cx="253" cy="109"/>
              </a:xfrm>
              <a:custGeom>
                <a:avLst/>
                <a:gdLst>
                  <a:gd name="T0" fmla="*/ 0 w 253"/>
                  <a:gd name="T1" fmla="*/ 0 h 109"/>
                  <a:gd name="T2" fmla="*/ 2 w 253"/>
                  <a:gd name="T3" fmla="*/ 109 h 109"/>
                  <a:gd name="T4" fmla="*/ 217 w 253"/>
                  <a:gd name="T5" fmla="*/ 109 h 109"/>
                  <a:gd name="T6" fmla="*/ 217 w 253"/>
                  <a:gd name="T7" fmla="*/ 36 h 109"/>
                  <a:gd name="T8" fmla="*/ 253 w 253"/>
                  <a:gd name="T9" fmla="*/ 36 h 10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3"/>
                  <a:gd name="T16" fmla="*/ 0 h 109"/>
                  <a:gd name="T17" fmla="*/ 253 w 253"/>
                  <a:gd name="T18" fmla="*/ 109 h 10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3" h="109">
                    <a:moveTo>
                      <a:pt x="0" y="0"/>
                    </a:moveTo>
                    <a:lnTo>
                      <a:pt x="2" y="109"/>
                    </a:lnTo>
                    <a:lnTo>
                      <a:pt x="217" y="109"/>
                    </a:lnTo>
                    <a:lnTo>
                      <a:pt x="217" y="36"/>
                    </a:lnTo>
                    <a:lnTo>
                      <a:pt x="253" y="36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95" name="Freeform 194"/>
              <p:cNvSpPr>
                <a:spLocks/>
              </p:cNvSpPr>
              <p:nvPr/>
            </p:nvSpPr>
            <p:spPr bwMode="auto">
              <a:xfrm>
                <a:off x="3981" y="3697"/>
                <a:ext cx="55" cy="287"/>
              </a:xfrm>
              <a:custGeom>
                <a:avLst/>
                <a:gdLst>
                  <a:gd name="T0" fmla="*/ 53 w 55"/>
                  <a:gd name="T1" fmla="*/ 285 h 287"/>
                  <a:gd name="T2" fmla="*/ 55 w 55"/>
                  <a:gd name="T3" fmla="*/ 0 h 287"/>
                  <a:gd name="T4" fmla="*/ 0 w 55"/>
                  <a:gd name="T5" fmla="*/ 0 h 287"/>
                  <a:gd name="T6" fmla="*/ 0 w 55"/>
                  <a:gd name="T7" fmla="*/ 287 h 287"/>
                  <a:gd name="T8" fmla="*/ 55 w 55"/>
                  <a:gd name="T9" fmla="*/ 287 h 287"/>
                  <a:gd name="T10" fmla="*/ 55 w 55"/>
                  <a:gd name="T11" fmla="*/ 287 h 287"/>
                  <a:gd name="T12" fmla="*/ 53 w 55"/>
                  <a:gd name="T13" fmla="*/ 285 h 28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55"/>
                  <a:gd name="T22" fmla="*/ 0 h 287"/>
                  <a:gd name="T23" fmla="*/ 55 w 55"/>
                  <a:gd name="T24" fmla="*/ 287 h 28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55" h="287">
                    <a:moveTo>
                      <a:pt x="53" y="285"/>
                    </a:moveTo>
                    <a:lnTo>
                      <a:pt x="55" y="0"/>
                    </a:lnTo>
                    <a:lnTo>
                      <a:pt x="0" y="0"/>
                    </a:lnTo>
                    <a:lnTo>
                      <a:pt x="0" y="287"/>
                    </a:lnTo>
                    <a:lnTo>
                      <a:pt x="55" y="287"/>
                    </a:lnTo>
                    <a:lnTo>
                      <a:pt x="53" y="285"/>
                    </a:lnTo>
                    <a:close/>
                  </a:path>
                </a:pathLst>
              </a:custGeom>
              <a:solidFill>
                <a:srgbClr val="CCCC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96" name="Freeform 195"/>
              <p:cNvSpPr>
                <a:spLocks/>
              </p:cNvSpPr>
              <p:nvPr/>
            </p:nvSpPr>
            <p:spPr bwMode="auto">
              <a:xfrm>
                <a:off x="3981" y="3697"/>
                <a:ext cx="55" cy="287"/>
              </a:xfrm>
              <a:custGeom>
                <a:avLst/>
                <a:gdLst>
                  <a:gd name="T0" fmla="*/ 53 w 55"/>
                  <a:gd name="T1" fmla="*/ 285 h 287"/>
                  <a:gd name="T2" fmla="*/ 55 w 55"/>
                  <a:gd name="T3" fmla="*/ 0 h 287"/>
                  <a:gd name="T4" fmla="*/ 0 w 55"/>
                  <a:gd name="T5" fmla="*/ 0 h 287"/>
                  <a:gd name="T6" fmla="*/ 0 w 55"/>
                  <a:gd name="T7" fmla="*/ 287 h 287"/>
                  <a:gd name="T8" fmla="*/ 55 w 55"/>
                  <a:gd name="T9" fmla="*/ 287 h 287"/>
                  <a:gd name="T10" fmla="*/ 55 w 55"/>
                  <a:gd name="T11" fmla="*/ 287 h 28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55"/>
                  <a:gd name="T19" fmla="*/ 0 h 287"/>
                  <a:gd name="T20" fmla="*/ 55 w 55"/>
                  <a:gd name="T21" fmla="*/ 287 h 28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55" h="287">
                    <a:moveTo>
                      <a:pt x="53" y="285"/>
                    </a:moveTo>
                    <a:lnTo>
                      <a:pt x="55" y="0"/>
                    </a:lnTo>
                    <a:lnTo>
                      <a:pt x="0" y="0"/>
                    </a:lnTo>
                    <a:lnTo>
                      <a:pt x="0" y="287"/>
                    </a:lnTo>
                    <a:lnTo>
                      <a:pt x="55" y="287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97" name="Freeform 196"/>
              <p:cNvSpPr>
                <a:spLocks/>
              </p:cNvSpPr>
              <p:nvPr/>
            </p:nvSpPr>
            <p:spPr bwMode="auto">
              <a:xfrm>
                <a:off x="4324" y="3697"/>
                <a:ext cx="53" cy="287"/>
              </a:xfrm>
              <a:custGeom>
                <a:avLst/>
                <a:gdLst>
                  <a:gd name="T0" fmla="*/ 51 w 53"/>
                  <a:gd name="T1" fmla="*/ 285 h 287"/>
                  <a:gd name="T2" fmla="*/ 53 w 53"/>
                  <a:gd name="T3" fmla="*/ 0 h 287"/>
                  <a:gd name="T4" fmla="*/ 0 w 53"/>
                  <a:gd name="T5" fmla="*/ 0 h 287"/>
                  <a:gd name="T6" fmla="*/ 0 w 53"/>
                  <a:gd name="T7" fmla="*/ 287 h 287"/>
                  <a:gd name="T8" fmla="*/ 53 w 53"/>
                  <a:gd name="T9" fmla="*/ 287 h 287"/>
                  <a:gd name="T10" fmla="*/ 53 w 53"/>
                  <a:gd name="T11" fmla="*/ 287 h 287"/>
                  <a:gd name="T12" fmla="*/ 51 w 53"/>
                  <a:gd name="T13" fmla="*/ 285 h 28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53"/>
                  <a:gd name="T22" fmla="*/ 0 h 287"/>
                  <a:gd name="T23" fmla="*/ 53 w 53"/>
                  <a:gd name="T24" fmla="*/ 287 h 28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53" h="287">
                    <a:moveTo>
                      <a:pt x="51" y="285"/>
                    </a:moveTo>
                    <a:lnTo>
                      <a:pt x="53" y="0"/>
                    </a:lnTo>
                    <a:lnTo>
                      <a:pt x="0" y="0"/>
                    </a:lnTo>
                    <a:lnTo>
                      <a:pt x="0" y="287"/>
                    </a:lnTo>
                    <a:lnTo>
                      <a:pt x="53" y="287"/>
                    </a:lnTo>
                    <a:lnTo>
                      <a:pt x="51" y="285"/>
                    </a:lnTo>
                    <a:close/>
                  </a:path>
                </a:pathLst>
              </a:custGeom>
              <a:solidFill>
                <a:srgbClr val="CCCC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98" name="Freeform 197"/>
              <p:cNvSpPr>
                <a:spLocks/>
              </p:cNvSpPr>
              <p:nvPr/>
            </p:nvSpPr>
            <p:spPr bwMode="auto">
              <a:xfrm>
                <a:off x="4324" y="3697"/>
                <a:ext cx="53" cy="287"/>
              </a:xfrm>
              <a:custGeom>
                <a:avLst/>
                <a:gdLst>
                  <a:gd name="T0" fmla="*/ 51 w 53"/>
                  <a:gd name="T1" fmla="*/ 285 h 287"/>
                  <a:gd name="T2" fmla="*/ 53 w 53"/>
                  <a:gd name="T3" fmla="*/ 0 h 287"/>
                  <a:gd name="T4" fmla="*/ 0 w 53"/>
                  <a:gd name="T5" fmla="*/ 0 h 287"/>
                  <a:gd name="T6" fmla="*/ 0 w 53"/>
                  <a:gd name="T7" fmla="*/ 287 h 287"/>
                  <a:gd name="T8" fmla="*/ 53 w 53"/>
                  <a:gd name="T9" fmla="*/ 287 h 287"/>
                  <a:gd name="T10" fmla="*/ 53 w 53"/>
                  <a:gd name="T11" fmla="*/ 287 h 28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53"/>
                  <a:gd name="T19" fmla="*/ 0 h 287"/>
                  <a:gd name="T20" fmla="*/ 53 w 53"/>
                  <a:gd name="T21" fmla="*/ 287 h 28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53" h="287">
                    <a:moveTo>
                      <a:pt x="51" y="285"/>
                    </a:moveTo>
                    <a:lnTo>
                      <a:pt x="53" y="0"/>
                    </a:lnTo>
                    <a:lnTo>
                      <a:pt x="0" y="0"/>
                    </a:lnTo>
                    <a:lnTo>
                      <a:pt x="0" y="287"/>
                    </a:lnTo>
                    <a:lnTo>
                      <a:pt x="53" y="287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99" name="Freeform 198"/>
              <p:cNvSpPr>
                <a:spLocks/>
              </p:cNvSpPr>
              <p:nvPr/>
            </p:nvSpPr>
            <p:spPr bwMode="auto">
              <a:xfrm>
                <a:off x="4665" y="3697"/>
                <a:ext cx="54" cy="287"/>
              </a:xfrm>
              <a:custGeom>
                <a:avLst/>
                <a:gdLst>
                  <a:gd name="T0" fmla="*/ 52 w 54"/>
                  <a:gd name="T1" fmla="*/ 285 h 287"/>
                  <a:gd name="T2" fmla="*/ 54 w 54"/>
                  <a:gd name="T3" fmla="*/ 0 h 287"/>
                  <a:gd name="T4" fmla="*/ 0 w 54"/>
                  <a:gd name="T5" fmla="*/ 0 h 287"/>
                  <a:gd name="T6" fmla="*/ 0 w 54"/>
                  <a:gd name="T7" fmla="*/ 287 h 287"/>
                  <a:gd name="T8" fmla="*/ 54 w 54"/>
                  <a:gd name="T9" fmla="*/ 287 h 287"/>
                  <a:gd name="T10" fmla="*/ 54 w 54"/>
                  <a:gd name="T11" fmla="*/ 287 h 287"/>
                  <a:gd name="T12" fmla="*/ 52 w 54"/>
                  <a:gd name="T13" fmla="*/ 285 h 28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54"/>
                  <a:gd name="T22" fmla="*/ 0 h 287"/>
                  <a:gd name="T23" fmla="*/ 54 w 54"/>
                  <a:gd name="T24" fmla="*/ 287 h 28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54" h="287">
                    <a:moveTo>
                      <a:pt x="52" y="285"/>
                    </a:moveTo>
                    <a:lnTo>
                      <a:pt x="54" y="0"/>
                    </a:lnTo>
                    <a:lnTo>
                      <a:pt x="0" y="0"/>
                    </a:lnTo>
                    <a:lnTo>
                      <a:pt x="0" y="287"/>
                    </a:lnTo>
                    <a:lnTo>
                      <a:pt x="54" y="287"/>
                    </a:lnTo>
                    <a:lnTo>
                      <a:pt x="52" y="285"/>
                    </a:lnTo>
                    <a:close/>
                  </a:path>
                </a:pathLst>
              </a:custGeom>
              <a:solidFill>
                <a:srgbClr val="CCCC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200" name="Freeform 199"/>
              <p:cNvSpPr>
                <a:spLocks/>
              </p:cNvSpPr>
              <p:nvPr/>
            </p:nvSpPr>
            <p:spPr bwMode="auto">
              <a:xfrm>
                <a:off x="4665" y="3697"/>
                <a:ext cx="54" cy="287"/>
              </a:xfrm>
              <a:custGeom>
                <a:avLst/>
                <a:gdLst>
                  <a:gd name="T0" fmla="*/ 52 w 54"/>
                  <a:gd name="T1" fmla="*/ 285 h 287"/>
                  <a:gd name="T2" fmla="*/ 54 w 54"/>
                  <a:gd name="T3" fmla="*/ 0 h 287"/>
                  <a:gd name="T4" fmla="*/ 0 w 54"/>
                  <a:gd name="T5" fmla="*/ 0 h 287"/>
                  <a:gd name="T6" fmla="*/ 0 w 54"/>
                  <a:gd name="T7" fmla="*/ 287 h 287"/>
                  <a:gd name="T8" fmla="*/ 54 w 54"/>
                  <a:gd name="T9" fmla="*/ 287 h 287"/>
                  <a:gd name="T10" fmla="*/ 54 w 54"/>
                  <a:gd name="T11" fmla="*/ 287 h 28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54"/>
                  <a:gd name="T19" fmla="*/ 0 h 287"/>
                  <a:gd name="T20" fmla="*/ 54 w 54"/>
                  <a:gd name="T21" fmla="*/ 287 h 28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54" h="287">
                    <a:moveTo>
                      <a:pt x="52" y="285"/>
                    </a:moveTo>
                    <a:lnTo>
                      <a:pt x="54" y="0"/>
                    </a:lnTo>
                    <a:lnTo>
                      <a:pt x="0" y="0"/>
                    </a:lnTo>
                    <a:lnTo>
                      <a:pt x="0" y="287"/>
                    </a:lnTo>
                    <a:lnTo>
                      <a:pt x="54" y="287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201" name="Freeform 200"/>
              <p:cNvSpPr>
                <a:spLocks/>
              </p:cNvSpPr>
              <p:nvPr/>
            </p:nvSpPr>
            <p:spPr bwMode="auto">
              <a:xfrm>
                <a:off x="5006" y="3697"/>
                <a:ext cx="54" cy="287"/>
              </a:xfrm>
              <a:custGeom>
                <a:avLst/>
                <a:gdLst>
                  <a:gd name="T0" fmla="*/ 54 w 54"/>
                  <a:gd name="T1" fmla="*/ 285 h 287"/>
                  <a:gd name="T2" fmla="*/ 54 w 54"/>
                  <a:gd name="T3" fmla="*/ 0 h 287"/>
                  <a:gd name="T4" fmla="*/ 0 w 54"/>
                  <a:gd name="T5" fmla="*/ 0 h 287"/>
                  <a:gd name="T6" fmla="*/ 0 w 54"/>
                  <a:gd name="T7" fmla="*/ 287 h 287"/>
                  <a:gd name="T8" fmla="*/ 54 w 54"/>
                  <a:gd name="T9" fmla="*/ 287 h 287"/>
                  <a:gd name="T10" fmla="*/ 54 w 54"/>
                  <a:gd name="T11" fmla="*/ 287 h 287"/>
                  <a:gd name="T12" fmla="*/ 54 w 54"/>
                  <a:gd name="T13" fmla="*/ 285 h 28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54"/>
                  <a:gd name="T22" fmla="*/ 0 h 287"/>
                  <a:gd name="T23" fmla="*/ 54 w 54"/>
                  <a:gd name="T24" fmla="*/ 287 h 28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54" h="287">
                    <a:moveTo>
                      <a:pt x="54" y="285"/>
                    </a:moveTo>
                    <a:lnTo>
                      <a:pt x="54" y="0"/>
                    </a:lnTo>
                    <a:lnTo>
                      <a:pt x="0" y="0"/>
                    </a:lnTo>
                    <a:lnTo>
                      <a:pt x="0" y="287"/>
                    </a:lnTo>
                    <a:lnTo>
                      <a:pt x="54" y="287"/>
                    </a:lnTo>
                    <a:lnTo>
                      <a:pt x="54" y="285"/>
                    </a:lnTo>
                    <a:close/>
                  </a:path>
                </a:pathLst>
              </a:custGeom>
              <a:solidFill>
                <a:srgbClr val="CCCC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202" name="Freeform 201"/>
              <p:cNvSpPr>
                <a:spLocks/>
              </p:cNvSpPr>
              <p:nvPr/>
            </p:nvSpPr>
            <p:spPr bwMode="auto">
              <a:xfrm>
                <a:off x="5006" y="3697"/>
                <a:ext cx="54" cy="287"/>
              </a:xfrm>
              <a:custGeom>
                <a:avLst/>
                <a:gdLst>
                  <a:gd name="T0" fmla="*/ 54 w 54"/>
                  <a:gd name="T1" fmla="*/ 285 h 287"/>
                  <a:gd name="T2" fmla="*/ 54 w 54"/>
                  <a:gd name="T3" fmla="*/ 0 h 287"/>
                  <a:gd name="T4" fmla="*/ 0 w 54"/>
                  <a:gd name="T5" fmla="*/ 0 h 287"/>
                  <a:gd name="T6" fmla="*/ 0 w 54"/>
                  <a:gd name="T7" fmla="*/ 287 h 287"/>
                  <a:gd name="T8" fmla="*/ 54 w 54"/>
                  <a:gd name="T9" fmla="*/ 287 h 287"/>
                  <a:gd name="T10" fmla="*/ 54 w 54"/>
                  <a:gd name="T11" fmla="*/ 287 h 28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54"/>
                  <a:gd name="T19" fmla="*/ 0 h 287"/>
                  <a:gd name="T20" fmla="*/ 54 w 54"/>
                  <a:gd name="T21" fmla="*/ 287 h 28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54" h="287">
                    <a:moveTo>
                      <a:pt x="54" y="285"/>
                    </a:moveTo>
                    <a:lnTo>
                      <a:pt x="54" y="0"/>
                    </a:lnTo>
                    <a:lnTo>
                      <a:pt x="0" y="0"/>
                    </a:lnTo>
                    <a:lnTo>
                      <a:pt x="0" y="287"/>
                    </a:lnTo>
                    <a:lnTo>
                      <a:pt x="54" y="287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203" name="Rectangle 202"/>
              <p:cNvSpPr>
                <a:spLocks noChangeArrowheads="1"/>
              </p:cNvSpPr>
              <p:nvPr/>
            </p:nvSpPr>
            <p:spPr bwMode="auto">
              <a:xfrm>
                <a:off x="4124" y="3812"/>
                <a:ext cx="38" cy="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>
                    <a:solidFill>
                      <a:srgbClr val="EB7500"/>
                    </a:solidFill>
                    <a:latin typeface="+mj-lt"/>
                  </a:rPr>
                  <a:t>R</a:t>
                </a:r>
                <a:endParaRPr lang="en-US" sz="1200" b="1">
                  <a:latin typeface="+mj-lt"/>
                </a:endParaRPr>
              </a:p>
            </p:txBody>
          </p:sp>
          <p:sp>
            <p:nvSpPr>
              <p:cNvPr id="204" name="Rectangle 203"/>
              <p:cNvSpPr>
                <a:spLocks noChangeArrowheads="1"/>
              </p:cNvSpPr>
              <p:nvPr/>
            </p:nvSpPr>
            <p:spPr bwMode="auto">
              <a:xfrm>
                <a:off x="4172" y="3812"/>
                <a:ext cx="35" cy="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>
                    <a:solidFill>
                      <a:srgbClr val="EB7500"/>
                    </a:solidFill>
                    <a:latin typeface="+mj-lt"/>
                  </a:rPr>
                  <a:t>e</a:t>
                </a:r>
                <a:endParaRPr lang="en-US" sz="1200" b="1">
                  <a:latin typeface="+mj-lt"/>
                </a:endParaRPr>
              </a:p>
            </p:txBody>
          </p:sp>
          <p:sp>
            <p:nvSpPr>
              <p:cNvPr id="205" name="Rectangle 204"/>
              <p:cNvSpPr>
                <a:spLocks noChangeArrowheads="1"/>
              </p:cNvSpPr>
              <p:nvPr/>
            </p:nvSpPr>
            <p:spPr bwMode="auto">
              <a:xfrm>
                <a:off x="4207" y="3812"/>
                <a:ext cx="33" cy="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>
                    <a:solidFill>
                      <a:srgbClr val="EB7500"/>
                    </a:solidFill>
                    <a:latin typeface="+mj-lt"/>
                  </a:rPr>
                  <a:t>g</a:t>
                </a:r>
                <a:endParaRPr lang="en-US" sz="1200" b="1">
                  <a:latin typeface="+mj-lt"/>
                </a:endParaRPr>
              </a:p>
            </p:txBody>
          </p:sp>
          <p:sp>
            <p:nvSpPr>
              <p:cNvPr id="206" name="Line 205"/>
              <p:cNvSpPr>
                <a:spLocks noChangeShapeType="1"/>
              </p:cNvSpPr>
              <p:nvPr/>
            </p:nvSpPr>
            <p:spPr bwMode="auto">
              <a:xfrm>
                <a:off x="4375" y="3804"/>
                <a:ext cx="90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207" name="Freeform 206"/>
              <p:cNvSpPr>
                <a:spLocks/>
              </p:cNvSpPr>
              <p:nvPr/>
            </p:nvSpPr>
            <p:spPr bwMode="auto">
              <a:xfrm>
                <a:off x="4170" y="3785"/>
                <a:ext cx="29" cy="29"/>
              </a:xfrm>
              <a:custGeom>
                <a:avLst/>
                <a:gdLst>
                  <a:gd name="T0" fmla="*/ 14 w 29"/>
                  <a:gd name="T1" fmla="*/ 29 h 29"/>
                  <a:gd name="T2" fmla="*/ 18 w 29"/>
                  <a:gd name="T3" fmla="*/ 29 h 29"/>
                  <a:gd name="T4" fmla="*/ 19 w 29"/>
                  <a:gd name="T5" fmla="*/ 29 h 29"/>
                  <a:gd name="T6" fmla="*/ 21 w 29"/>
                  <a:gd name="T7" fmla="*/ 27 h 29"/>
                  <a:gd name="T8" fmla="*/ 23 w 29"/>
                  <a:gd name="T9" fmla="*/ 27 h 29"/>
                  <a:gd name="T10" fmla="*/ 25 w 29"/>
                  <a:gd name="T11" fmla="*/ 25 h 29"/>
                  <a:gd name="T12" fmla="*/ 27 w 29"/>
                  <a:gd name="T13" fmla="*/ 23 h 29"/>
                  <a:gd name="T14" fmla="*/ 27 w 29"/>
                  <a:gd name="T15" fmla="*/ 21 h 29"/>
                  <a:gd name="T16" fmla="*/ 29 w 29"/>
                  <a:gd name="T17" fmla="*/ 19 h 29"/>
                  <a:gd name="T18" fmla="*/ 29 w 29"/>
                  <a:gd name="T19" fmla="*/ 17 h 29"/>
                  <a:gd name="T20" fmla="*/ 29 w 29"/>
                  <a:gd name="T21" fmla="*/ 16 h 29"/>
                  <a:gd name="T22" fmla="*/ 29 w 29"/>
                  <a:gd name="T23" fmla="*/ 12 h 29"/>
                  <a:gd name="T24" fmla="*/ 29 w 29"/>
                  <a:gd name="T25" fmla="*/ 10 h 29"/>
                  <a:gd name="T26" fmla="*/ 27 w 29"/>
                  <a:gd name="T27" fmla="*/ 8 h 29"/>
                  <a:gd name="T28" fmla="*/ 27 w 29"/>
                  <a:gd name="T29" fmla="*/ 6 h 29"/>
                  <a:gd name="T30" fmla="*/ 25 w 29"/>
                  <a:gd name="T31" fmla="*/ 4 h 29"/>
                  <a:gd name="T32" fmla="*/ 23 w 29"/>
                  <a:gd name="T33" fmla="*/ 4 h 29"/>
                  <a:gd name="T34" fmla="*/ 21 w 29"/>
                  <a:gd name="T35" fmla="*/ 2 h 29"/>
                  <a:gd name="T36" fmla="*/ 19 w 29"/>
                  <a:gd name="T37" fmla="*/ 2 h 29"/>
                  <a:gd name="T38" fmla="*/ 18 w 29"/>
                  <a:gd name="T39" fmla="*/ 0 h 29"/>
                  <a:gd name="T40" fmla="*/ 16 w 29"/>
                  <a:gd name="T41" fmla="*/ 0 h 29"/>
                  <a:gd name="T42" fmla="*/ 12 w 29"/>
                  <a:gd name="T43" fmla="*/ 0 h 29"/>
                  <a:gd name="T44" fmla="*/ 10 w 29"/>
                  <a:gd name="T45" fmla="*/ 2 h 29"/>
                  <a:gd name="T46" fmla="*/ 8 w 29"/>
                  <a:gd name="T47" fmla="*/ 2 h 29"/>
                  <a:gd name="T48" fmla="*/ 6 w 29"/>
                  <a:gd name="T49" fmla="*/ 4 h 29"/>
                  <a:gd name="T50" fmla="*/ 4 w 29"/>
                  <a:gd name="T51" fmla="*/ 4 h 29"/>
                  <a:gd name="T52" fmla="*/ 4 w 29"/>
                  <a:gd name="T53" fmla="*/ 6 h 29"/>
                  <a:gd name="T54" fmla="*/ 2 w 29"/>
                  <a:gd name="T55" fmla="*/ 8 h 29"/>
                  <a:gd name="T56" fmla="*/ 2 w 29"/>
                  <a:gd name="T57" fmla="*/ 10 h 29"/>
                  <a:gd name="T58" fmla="*/ 0 w 29"/>
                  <a:gd name="T59" fmla="*/ 12 h 29"/>
                  <a:gd name="T60" fmla="*/ 0 w 29"/>
                  <a:gd name="T61" fmla="*/ 16 h 29"/>
                  <a:gd name="T62" fmla="*/ 0 w 29"/>
                  <a:gd name="T63" fmla="*/ 17 h 29"/>
                  <a:gd name="T64" fmla="*/ 2 w 29"/>
                  <a:gd name="T65" fmla="*/ 19 h 29"/>
                  <a:gd name="T66" fmla="*/ 2 w 29"/>
                  <a:gd name="T67" fmla="*/ 21 h 29"/>
                  <a:gd name="T68" fmla="*/ 4 w 29"/>
                  <a:gd name="T69" fmla="*/ 23 h 29"/>
                  <a:gd name="T70" fmla="*/ 4 w 29"/>
                  <a:gd name="T71" fmla="*/ 25 h 29"/>
                  <a:gd name="T72" fmla="*/ 6 w 29"/>
                  <a:gd name="T73" fmla="*/ 27 h 29"/>
                  <a:gd name="T74" fmla="*/ 8 w 29"/>
                  <a:gd name="T75" fmla="*/ 27 h 29"/>
                  <a:gd name="T76" fmla="*/ 10 w 29"/>
                  <a:gd name="T77" fmla="*/ 29 h 29"/>
                  <a:gd name="T78" fmla="*/ 12 w 29"/>
                  <a:gd name="T79" fmla="*/ 29 h 29"/>
                  <a:gd name="T80" fmla="*/ 16 w 29"/>
                  <a:gd name="T81" fmla="*/ 29 h 29"/>
                  <a:gd name="T82" fmla="*/ 16 w 29"/>
                  <a:gd name="T83" fmla="*/ 29 h 29"/>
                  <a:gd name="T84" fmla="*/ 14 w 29"/>
                  <a:gd name="T85" fmla="*/ 29 h 29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w 29"/>
                  <a:gd name="T130" fmla="*/ 0 h 29"/>
                  <a:gd name="T131" fmla="*/ 29 w 29"/>
                  <a:gd name="T132" fmla="*/ 29 h 29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T129" t="T130" r="T131" b="T132"/>
                <a:pathLst>
                  <a:path w="29" h="29">
                    <a:moveTo>
                      <a:pt x="14" y="29"/>
                    </a:moveTo>
                    <a:lnTo>
                      <a:pt x="18" y="29"/>
                    </a:lnTo>
                    <a:lnTo>
                      <a:pt x="19" y="29"/>
                    </a:lnTo>
                    <a:lnTo>
                      <a:pt x="21" y="27"/>
                    </a:lnTo>
                    <a:lnTo>
                      <a:pt x="23" y="27"/>
                    </a:lnTo>
                    <a:lnTo>
                      <a:pt x="25" y="25"/>
                    </a:lnTo>
                    <a:lnTo>
                      <a:pt x="27" y="23"/>
                    </a:lnTo>
                    <a:lnTo>
                      <a:pt x="27" y="21"/>
                    </a:lnTo>
                    <a:lnTo>
                      <a:pt x="29" y="19"/>
                    </a:lnTo>
                    <a:lnTo>
                      <a:pt x="29" y="17"/>
                    </a:lnTo>
                    <a:lnTo>
                      <a:pt x="29" y="16"/>
                    </a:lnTo>
                    <a:lnTo>
                      <a:pt x="29" y="12"/>
                    </a:lnTo>
                    <a:lnTo>
                      <a:pt x="29" y="10"/>
                    </a:lnTo>
                    <a:lnTo>
                      <a:pt x="27" y="8"/>
                    </a:lnTo>
                    <a:lnTo>
                      <a:pt x="27" y="6"/>
                    </a:lnTo>
                    <a:lnTo>
                      <a:pt x="25" y="4"/>
                    </a:lnTo>
                    <a:lnTo>
                      <a:pt x="23" y="4"/>
                    </a:lnTo>
                    <a:lnTo>
                      <a:pt x="21" y="2"/>
                    </a:lnTo>
                    <a:lnTo>
                      <a:pt x="19" y="2"/>
                    </a:lnTo>
                    <a:lnTo>
                      <a:pt x="18" y="0"/>
                    </a:lnTo>
                    <a:lnTo>
                      <a:pt x="16" y="0"/>
                    </a:lnTo>
                    <a:lnTo>
                      <a:pt x="12" y="0"/>
                    </a:lnTo>
                    <a:lnTo>
                      <a:pt x="10" y="2"/>
                    </a:lnTo>
                    <a:lnTo>
                      <a:pt x="8" y="2"/>
                    </a:lnTo>
                    <a:lnTo>
                      <a:pt x="6" y="4"/>
                    </a:lnTo>
                    <a:lnTo>
                      <a:pt x="4" y="4"/>
                    </a:lnTo>
                    <a:lnTo>
                      <a:pt x="4" y="6"/>
                    </a:lnTo>
                    <a:lnTo>
                      <a:pt x="2" y="8"/>
                    </a:lnTo>
                    <a:lnTo>
                      <a:pt x="2" y="10"/>
                    </a:lnTo>
                    <a:lnTo>
                      <a:pt x="0" y="12"/>
                    </a:lnTo>
                    <a:lnTo>
                      <a:pt x="0" y="16"/>
                    </a:lnTo>
                    <a:lnTo>
                      <a:pt x="0" y="17"/>
                    </a:lnTo>
                    <a:lnTo>
                      <a:pt x="2" y="19"/>
                    </a:lnTo>
                    <a:lnTo>
                      <a:pt x="2" y="21"/>
                    </a:lnTo>
                    <a:lnTo>
                      <a:pt x="4" y="23"/>
                    </a:lnTo>
                    <a:lnTo>
                      <a:pt x="4" y="25"/>
                    </a:lnTo>
                    <a:lnTo>
                      <a:pt x="6" y="27"/>
                    </a:lnTo>
                    <a:lnTo>
                      <a:pt x="8" y="27"/>
                    </a:lnTo>
                    <a:lnTo>
                      <a:pt x="10" y="29"/>
                    </a:lnTo>
                    <a:lnTo>
                      <a:pt x="12" y="29"/>
                    </a:lnTo>
                    <a:lnTo>
                      <a:pt x="16" y="29"/>
                    </a:lnTo>
                    <a:lnTo>
                      <a:pt x="14" y="29"/>
                    </a:lnTo>
                    <a:close/>
                  </a:path>
                </a:pathLst>
              </a:custGeom>
              <a:solidFill>
                <a:srgbClr val="EB75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grpSp>
            <p:nvGrpSpPr>
              <p:cNvPr id="208" name="Group 207"/>
              <p:cNvGrpSpPr>
                <a:grpSpLocks/>
              </p:cNvGrpSpPr>
              <p:nvPr/>
            </p:nvGrpSpPr>
            <p:grpSpPr bwMode="auto">
              <a:xfrm>
                <a:off x="2742" y="2726"/>
                <a:ext cx="2192" cy="935"/>
                <a:chOff x="2742" y="2726"/>
                <a:chExt cx="2192" cy="935"/>
              </a:xfrm>
            </p:grpSpPr>
            <p:sp>
              <p:nvSpPr>
                <p:cNvPr id="209" name="Line 208"/>
                <p:cNvSpPr>
                  <a:spLocks noChangeShapeType="1"/>
                </p:cNvSpPr>
                <p:nvPr/>
              </p:nvSpPr>
              <p:spPr bwMode="auto">
                <a:xfrm>
                  <a:off x="3910" y="3481"/>
                  <a:ext cx="71" cy="1"/>
                </a:xfrm>
                <a:prstGeom prst="line">
                  <a:avLst/>
                </a:prstGeom>
                <a:noFill/>
                <a:ln w="15875">
                  <a:solidFill>
                    <a:srgbClr val="EB75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>
                    <a:latin typeface="+mj-lt"/>
                  </a:endParaRPr>
                </a:p>
              </p:txBody>
            </p:sp>
            <p:sp>
              <p:nvSpPr>
                <p:cNvPr id="210" name="Line 209"/>
                <p:cNvSpPr>
                  <a:spLocks noChangeShapeType="1"/>
                </p:cNvSpPr>
                <p:nvPr/>
              </p:nvSpPr>
              <p:spPr bwMode="auto">
                <a:xfrm>
                  <a:off x="3910" y="3552"/>
                  <a:ext cx="71" cy="2"/>
                </a:xfrm>
                <a:prstGeom prst="line">
                  <a:avLst/>
                </a:prstGeom>
                <a:noFill/>
                <a:ln w="15875">
                  <a:solidFill>
                    <a:srgbClr val="EB75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>
                    <a:latin typeface="+mj-lt"/>
                  </a:endParaRPr>
                </a:p>
              </p:txBody>
            </p:sp>
            <p:sp>
              <p:nvSpPr>
                <p:cNvPr id="211" name="Freeform 210"/>
                <p:cNvSpPr>
                  <a:spLocks/>
                </p:cNvSpPr>
                <p:nvPr/>
              </p:nvSpPr>
              <p:spPr bwMode="auto">
                <a:xfrm>
                  <a:off x="4519" y="3444"/>
                  <a:ext cx="73" cy="144"/>
                </a:xfrm>
                <a:custGeom>
                  <a:avLst/>
                  <a:gdLst>
                    <a:gd name="T0" fmla="*/ 0 w 73"/>
                    <a:gd name="T1" fmla="*/ 144 h 144"/>
                    <a:gd name="T2" fmla="*/ 73 w 73"/>
                    <a:gd name="T3" fmla="*/ 144 h 144"/>
                    <a:gd name="T4" fmla="*/ 73 w 73"/>
                    <a:gd name="T5" fmla="*/ 0 h 144"/>
                    <a:gd name="T6" fmla="*/ 2 w 73"/>
                    <a:gd name="T7" fmla="*/ 0 h 144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73"/>
                    <a:gd name="T13" fmla="*/ 0 h 144"/>
                    <a:gd name="T14" fmla="*/ 73 w 73"/>
                    <a:gd name="T15" fmla="*/ 144 h 144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73" h="144">
                      <a:moveTo>
                        <a:pt x="0" y="144"/>
                      </a:moveTo>
                      <a:lnTo>
                        <a:pt x="73" y="144"/>
                      </a:lnTo>
                      <a:lnTo>
                        <a:pt x="73" y="0"/>
                      </a:lnTo>
                      <a:lnTo>
                        <a:pt x="2" y="0"/>
                      </a:ln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>
                    <a:latin typeface="+mj-lt"/>
                  </a:endParaRPr>
                </a:p>
              </p:txBody>
            </p:sp>
            <p:sp>
              <p:nvSpPr>
                <p:cNvPr id="212" name="Freeform 211"/>
                <p:cNvSpPr>
                  <a:spLocks/>
                </p:cNvSpPr>
                <p:nvPr/>
              </p:nvSpPr>
              <p:spPr bwMode="auto">
                <a:xfrm>
                  <a:off x="4448" y="3444"/>
                  <a:ext cx="73" cy="144"/>
                </a:xfrm>
                <a:custGeom>
                  <a:avLst/>
                  <a:gdLst>
                    <a:gd name="T0" fmla="*/ 71 w 73"/>
                    <a:gd name="T1" fmla="*/ 0 h 144"/>
                    <a:gd name="T2" fmla="*/ 0 w 73"/>
                    <a:gd name="T3" fmla="*/ 0 h 144"/>
                    <a:gd name="T4" fmla="*/ 0 w 73"/>
                    <a:gd name="T5" fmla="*/ 144 h 144"/>
                    <a:gd name="T6" fmla="*/ 73 w 73"/>
                    <a:gd name="T7" fmla="*/ 144 h 144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73"/>
                    <a:gd name="T13" fmla="*/ 0 h 144"/>
                    <a:gd name="T14" fmla="*/ 73 w 73"/>
                    <a:gd name="T15" fmla="*/ 144 h 144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73" h="144">
                      <a:moveTo>
                        <a:pt x="71" y="0"/>
                      </a:moveTo>
                      <a:lnTo>
                        <a:pt x="0" y="0"/>
                      </a:lnTo>
                      <a:lnTo>
                        <a:pt x="0" y="144"/>
                      </a:lnTo>
                      <a:lnTo>
                        <a:pt x="73" y="144"/>
                      </a:ln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>
                    <a:latin typeface="+mj-lt"/>
                  </a:endParaRPr>
                </a:p>
              </p:txBody>
            </p:sp>
            <p:sp>
              <p:nvSpPr>
                <p:cNvPr id="213" name="Line 212"/>
                <p:cNvSpPr>
                  <a:spLocks noChangeShapeType="1"/>
                </p:cNvSpPr>
                <p:nvPr/>
              </p:nvSpPr>
              <p:spPr bwMode="auto">
                <a:xfrm>
                  <a:off x="3566" y="3230"/>
                  <a:ext cx="73" cy="1"/>
                </a:xfrm>
                <a:prstGeom prst="line">
                  <a:avLst/>
                </a:prstGeom>
                <a:noFill/>
                <a:ln w="15875">
                  <a:solidFill>
                    <a:srgbClr val="EB75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>
                    <a:latin typeface="+mj-lt"/>
                  </a:endParaRPr>
                </a:p>
              </p:txBody>
            </p:sp>
            <p:sp>
              <p:nvSpPr>
                <p:cNvPr id="214" name="Line 213"/>
                <p:cNvSpPr>
                  <a:spLocks noChangeShapeType="1"/>
                </p:cNvSpPr>
                <p:nvPr/>
              </p:nvSpPr>
              <p:spPr bwMode="auto">
                <a:xfrm>
                  <a:off x="3566" y="3157"/>
                  <a:ext cx="217" cy="1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>
                    <a:latin typeface="+mj-lt"/>
                  </a:endParaRPr>
                </a:p>
              </p:txBody>
            </p:sp>
            <p:sp>
              <p:nvSpPr>
                <p:cNvPr id="215" name="Line 214"/>
                <p:cNvSpPr>
                  <a:spLocks noChangeShapeType="1"/>
                </p:cNvSpPr>
                <p:nvPr/>
              </p:nvSpPr>
              <p:spPr bwMode="auto">
                <a:xfrm>
                  <a:off x="3225" y="2906"/>
                  <a:ext cx="217" cy="1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>
                    <a:latin typeface="+mj-lt"/>
                  </a:endParaRPr>
                </a:p>
              </p:txBody>
            </p:sp>
            <p:sp>
              <p:nvSpPr>
                <p:cNvPr id="216" name="Line 215"/>
                <p:cNvSpPr>
                  <a:spLocks noChangeShapeType="1"/>
                </p:cNvSpPr>
                <p:nvPr/>
              </p:nvSpPr>
              <p:spPr bwMode="auto">
                <a:xfrm>
                  <a:off x="3225" y="2834"/>
                  <a:ext cx="73" cy="2"/>
                </a:xfrm>
                <a:prstGeom prst="line">
                  <a:avLst/>
                </a:prstGeom>
                <a:noFill/>
                <a:ln w="15875">
                  <a:solidFill>
                    <a:srgbClr val="EB75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>
                    <a:latin typeface="+mj-lt"/>
                  </a:endParaRPr>
                </a:p>
              </p:txBody>
            </p:sp>
            <p:sp>
              <p:nvSpPr>
                <p:cNvPr id="217" name="Freeform 216"/>
                <p:cNvSpPr>
                  <a:spLocks/>
                </p:cNvSpPr>
                <p:nvPr/>
              </p:nvSpPr>
              <p:spPr bwMode="auto">
                <a:xfrm>
                  <a:off x="4107" y="2799"/>
                  <a:ext cx="73" cy="144"/>
                </a:xfrm>
                <a:custGeom>
                  <a:avLst/>
                  <a:gdLst>
                    <a:gd name="T0" fmla="*/ 71 w 73"/>
                    <a:gd name="T1" fmla="*/ 144 h 144"/>
                    <a:gd name="T2" fmla="*/ 0 w 73"/>
                    <a:gd name="T3" fmla="*/ 144 h 144"/>
                    <a:gd name="T4" fmla="*/ 0 w 73"/>
                    <a:gd name="T5" fmla="*/ 0 h 144"/>
                    <a:gd name="T6" fmla="*/ 73 w 73"/>
                    <a:gd name="T7" fmla="*/ 0 h 144"/>
                    <a:gd name="T8" fmla="*/ 71 w 73"/>
                    <a:gd name="T9" fmla="*/ 144 h 14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3"/>
                    <a:gd name="T16" fmla="*/ 0 h 144"/>
                    <a:gd name="T17" fmla="*/ 73 w 73"/>
                    <a:gd name="T18" fmla="*/ 144 h 14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3" h="144">
                      <a:moveTo>
                        <a:pt x="71" y="144"/>
                      </a:moveTo>
                      <a:lnTo>
                        <a:pt x="0" y="144"/>
                      </a:lnTo>
                      <a:lnTo>
                        <a:pt x="0" y="0"/>
                      </a:lnTo>
                      <a:lnTo>
                        <a:pt x="73" y="0"/>
                      </a:lnTo>
                      <a:lnTo>
                        <a:pt x="71" y="144"/>
                      </a:lnTo>
                      <a:close/>
                    </a:path>
                  </a:pathLst>
                </a:custGeom>
                <a:solidFill>
                  <a:srgbClr val="CCCCC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>
                    <a:latin typeface="+mj-lt"/>
                  </a:endParaRPr>
                </a:p>
              </p:txBody>
            </p:sp>
            <p:sp>
              <p:nvSpPr>
                <p:cNvPr id="218" name="Freeform 217"/>
                <p:cNvSpPr>
                  <a:spLocks/>
                </p:cNvSpPr>
                <p:nvPr/>
              </p:nvSpPr>
              <p:spPr bwMode="auto">
                <a:xfrm>
                  <a:off x="4107" y="2799"/>
                  <a:ext cx="73" cy="144"/>
                </a:xfrm>
                <a:custGeom>
                  <a:avLst/>
                  <a:gdLst>
                    <a:gd name="T0" fmla="*/ 71 w 73"/>
                    <a:gd name="T1" fmla="*/ 144 h 144"/>
                    <a:gd name="T2" fmla="*/ 0 w 73"/>
                    <a:gd name="T3" fmla="*/ 144 h 144"/>
                    <a:gd name="T4" fmla="*/ 0 w 73"/>
                    <a:gd name="T5" fmla="*/ 0 h 144"/>
                    <a:gd name="T6" fmla="*/ 73 w 73"/>
                    <a:gd name="T7" fmla="*/ 0 h 144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73"/>
                    <a:gd name="T13" fmla="*/ 0 h 144"/>
                    <a:gd name="T14" fmla="*/ 73 w 73"/>
                    <a:gd name="T15" fmla="*/ 144 h 144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73" h="144">
                      <a:moveTo>
                        <a:pt x="71" y="144"/>
                      </a:moveTo>
                      <a:lnTo>
                        <a:pt x="0" y="144"/>
                      </a:lnTo>
                      <a:lnTo>
                        <a:pt x="0" y="0"/>
                      </a:lnTo>
                      <a:lnTo>
                        <a:pt x="73" y="0"/>
                      </a:ln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>
                    <a:latin typeface="+mj-lt"/>
                  </a:endParaRPr>
                </a:p>
              </p:txBody>
            </p:sp>
            <p:sp>
              <p:nvSpPr>
                <p:cNvPr id="219" name="Line 218"/>
                <p:cNvSpPr>
                  <a:spLocks noChangeShapeType="1"/>
                </p:cNvSpPr>
                <p:nvPr/>
              </p:nvSpPr>
              <p:spPr bwMode="auto">
                <a:xfrm flipV="1">
                  <a:off x="4251" y="2795"/>
                  <a:ext cx="1" cy="15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>
                    <a:latin typeface="+mj-lt"/>
                  </a:endParaRPr>
                </a:p>
              </p:txBody>
            </p:sp>
            <p:sp>
              <p:nvSpPr>
                <p:cNvPr id="220" name="Line 219"/>
                <p:cNvSpPr>
                  <a:spLocks noChangeShapeType="1"/>
                </p:cNvSpPr>
                <p:nvPr/>
              </p:nvSpPr>
              <p:spPr bwMode="auto">
                <a:xfrm flipH="1">
                  <a:off x="4176" y="2799"/>
                  <a:ext cx="75" cy="1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>
                    <a:latin typeface="+mj-lt"/>
                  </a:endParaRPr>
                </a:p>
              </p:txBody>
            </p:sp>
            <p:sp>
              <p:nvSpPr>
                <p:cNvPr id="221" name="Line 220"/>
                <p:cNvSpPr>
                  <a:spLocks noChangeShapeType="1"/>
                </p:cNvSpPr>
                <p:nvPr/>
              </p:nvSpPr>
              <p:spPr bwMode="auto">
                <a:xfrm flipH="1">
                  <a:off x="4176" y="2943"/>
                  <a:ext cx="75" cy="1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>
                    <a:latin typeface="+mj-lt"/>
                  </a:endParaRPr>
                </a:p>
              </p:txBody>
            </p:sp>
            <p:sp>
              <p:nvSpPr>
                <p:cNvPr id="222" name="Rectangle 221"/>
                <p:cNvSpPr>
                  <a:spLocks noChangeArrowheads="1"/>
                </p:cNvSpPr>
                <p:nvPr/>
              </p:nvSpPr>
              <p:spPr bwMode="auto">
                <a:xfrm>
                  <a:off x="2813" y="2799"/>
                  <a:ext cx="73" cy="144"/>
                </a:xfrm>
                <a:prstGeom prst="rect">
                  <a:avLst/>
                </a:prstGeom>
                <a:solidFill>
                  <a:srgbClr val="CCCCCC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>
                    <a:latin typeface="+mj-lt"/>
                  </a:endParaRPr>
                </a:p>
              </p:txBody>
            </p:sp>
            <p:sp>
              <p:nvSpPr>
                <p:cNvPr id="223" name="Rectangle 222"/>
                <p:cNvSpPr>
                  <a:spLocks noChangeArrowheads="1"/>
                </p:cNvSpPr>
                <p:nvPr/>
              </p:nvSpPr>
              <p:spPr bwMode="auto">
                <a:xfrm>
                  <a:off x="2813" y="2799"/>
                  <a:ext cx="73" cy="144"/>
                </a:xfrm>
                <a:prstGeom prst="rect">
                  <a:avLst/>
                </a:prstGeom>
                <a:noFill/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>
                    <a:latin typeface="+mj-lt"/>
                  </a:endParaRPr>
                </a:p>
              </p:txBody>
            </p:sp>
            <p:sp>
              <p:nvSpPr>
                <p:cNvPr id="224" name="Rectangle 223"/>
                <p:cNvSpPr>
                  <a:spLocks noChangeArrowheads="1"/>
                </p:cNvSpPr>
                <p:nvPr/>
              </p:nvSpPr>
              <p:spPr bwMode="auto">
                <a:xfrm>
                  <a:off x="2742" y="2799"/>
                  <a:ext cx="71" cy="144"/>
                </a:xfrm>
                <a:prstGeom prst="rect">
                  <a:avLst/>
                </a:prstGeom>
                <a:noFill/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>
                    <a:latin typeface="+mj-lt"/>
                  </a:endParaRPr>
                </a:p>
              </p:txBody>
            </p:sp>
            <p:sp>
              <p:nvSpPr>
                <p:cNvPr id="225" name="Rectangle 224"/>
                <p:cNvSpPr>
                  <a:spLocks noChangeArrowheads="1"/>
                </p:cNvSpPr>
                <p:nvPr/>
              </p:nvSpPr>
              <p:spPr bwMode="auto">
                <a:xfrm>
                  <a:off x="2779" y="2828"/>
                  <a:ext cx="17" cy="9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US" sz="800">
                      <a:solidFill>
                        <a:srgbClr val="000000"/>
                      </a:solidFill>
                      <a:latin typeface="+mj-lt"/>
                    </a:rPr>
                    <a:t>I</a:t>
                  </a:r>
                  <a:endParaRPr lang="en-US" sz="1200" b="1">
                    <a:latin typeface="+mj-lt"/>
                  </a:endParaRPr>
                </a:p>
              </p:txBody>
            </p:sp>
            <p:sp>
              <p:nvSpPr>
                <p:cNvPr id="226" name="Rectangle 225"/>
                <p:cNvSpPr>
                  <a:spLocks noChangeArrowheads="1"/>
                </p:cNvSpPr>
                <p:nvPr/>
              </p:nvSpPr>
              <p:spPr bwMode="auto">
                <a:xfrm>
                  <a:off x="2796" y="2828"/>
                  <a:ext cx="60" cy="9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US" sz="800">
                      <a:solidFill>
                        <a:srgbClr val="000000"/>
                      </a:solidFill>
                      <a:latin typeface="+mj-lt"/>
                    </a:rPr>
                    <a:t>M</a:t>
                  </a:r>
                  <a:endParaRPr lang="en-US" sz="1200" b="1">
                    <a:latin typeface="+mj-lt"/>
                  </a:endParaRPr>
                </a:p>
              </p:txBody>
            </p:sp>
            <p:sp>
              <p:nvSpPr>
                <p:cNvPr id="227" name="Rectangle 226"/>
                <p:cNvSpPr>
                  <a:spLocks noChangeArrowheads="1"/>
                </p:cNvSpPr>
                <p:nvPr/>
              </p:nvSpPr>
              <p:spPr bwMode="auto">
                <a:xfrm>
                  <a:off x="3154" y="2799"/>
                  <a:ext cx="73" cy="144"/>
                </a:xfrm>
                <a:prstGeom prst="rect">
                  <a:avLst/>
                </a:prstGeom>
                <a:solidFill>
                  <a:srgbClr val="FBE2C9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>
                    <a:latin typeface="+mj-lt"/>
                  </a:endParaRPr>
                </a:p>
              </p:txBody>
            </p:sp>
            <p:sp>
              <p:nvSpPr>
                <p:cNvPr id="228" name="Rectangle 227"/>
                <p:cNvSpPr>
                  <a:spLocks noChangeArrowheads="1"/>
                </p:cNvSpPr>
                <p:nvPr/>
              </p:nvSpPr>
              <p:spPr bwMode="auto">
                <a:xfrm>
                  <a:off x="3154" y="2799"/>
                  <a:ext cx="73" cy="144"/>
                </a:xfrm>
                <a:prstGeom prst="rect">
                  <a:avLst/>
                </a:prstGeom>
                <a:noFill/>
                <a:ln w="9525">
                  <a:solidFill>
                    <a:srgbClr val="EB75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>
                    <a:latin typeface="+mj-lt"/>
                  </a:endParaRPr>
                </a:p>
              </p:txBody>
            </p:sp>
            <p:sp>
              <p:nvSpPr>
                <p:cNvPr id="229" name="Line 228"/>
                <p:cNvSpPr>
                  <a:spLocks noChangeShapeType="1"/>
                </p:cNvSpPr>
                <p:nvPr/>
              </p:nvSpPr>
              <p:spPr bwMode="auto">
                <a:xfrm flipV="1">
                  <a:off x="3081" y="2795"/>
                  <a:ext cx="2" cy="15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>
                    <a:latin typeface="+mj-lt"/>
                  </a:endParaRPr>
                </a:p>
              </p:txBody>
            </p:sp>
            <p:sp>
              <p:nvSpPr>
                <p:cNvPr id="230" name="Line 229"/>
                <p:cNvSpPr>
                  <a:spLocks noChangeShapeType="1"/>
                </p:cNvSpPr>
                <p:nvPr/>
              </p:nvSpPr>
              <p:spPr bwMode="auto">
                <a:xfrm>
                  <a:off x="3081" y="2799"/>
                  <a:ext cx="73" cy="1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>
                    <a:latin typeface="+mj-lt"/>
                  </a:endParaRPr>
                </a:p>
              </p:txBody>
            </p:sp>
            <p:sp>
              <p:nvSpPr>
                <p:cNvPr id="231" name="Line 230"/>
                <p:cNvSpPr>
                  <a:spLocks noChangeShapeType="1"/>
                </p:cNvSpPr>
                <p:nvPr/>
              </p:nvSpPr>
              <p:spPr bwMode="auto">
                <a:xfrm>
                  <a:off x="3081" y="2943"/>
                  <a:ext cx="73" cy="1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>
                    <a:latin typeface="+mj-lt"/>
                  </a:endParaRPr>
                </a:p>
              </p:txBody>
            </p:sp>
            <p:sp>
              <p:nvSpPr>
                <p:cNvPr id="232" name="Freeform 231"/>
                <p:cNvSpPr>
                  <a:spLocks/>
                </p:cNvSpPr>
                <p:nvPr/>
              </p:nvSpPr>
              <p:spPr bwMode="auto">
                <a:xfrm>
                  <a:off x="3442" y="2728"/>
                  <a:ext cx="109" cy="286"/>
                </a:xfrm>
                <a:custGeom>
                  <a:avLst/>
                  <a:gdLst>
                    <a:gd name="T0" fmla="*/ 0 w 109"/>
                    <a:gd name="T1" fmla="*/ 0 h 286"/>
                    <a:gd name="T2" fmla="*/ 0 w 109"/>
                    <a:gd name="T3" fmla="*/ 115 h 286"/>
                    <a:gd name="T4" fmla="*/ 34 w 109"/>
                    <a:gd name="T5" fmla="*/ 142 h 286"/>
                    <a:gd name="T6" fmla="*/ 0 w 109"/>
                    <a:gd name="T7" fmla="*/ 171 h 286"/>
                    <a:gd name="T8" fmla="*/ 0 w 109"/>
                    <a:gd name="T9" fmla="*/ 286 h 286"/>
                    <a:gd name="T10" fmla="*/ 109 w 109"/>
                    <a:gd name="T11" fmla="*/ 198 h 286"/>
                    <a:gd name="T12" fmla="*/ 109 w 109"/>
                    <a:gd name="T13" fmla="*/ 86 h 286"/>
                    <a:gd name="T14" fmla="*/ 0 w 109"/>
                    <a:gd name="T15" fmla="*/ 0 h 286"/>
                    <a:gd name="T16" fmla="*/ 0 w 109"/>
                    <a:gd name="T17" fmla="*/ 0 h 28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109"/>
                    <a:gd name="T28" fmla="*/ 0 h 286"/>
                    <a:gd name="T29" fmla="*/ 109 w 109"/>
                    <a:gd name="T30" fmla="*/ 286 h 28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109" h="286">
                      <a:moveTo>
                        <a:pt x="0" y="0"/>
                      </a:moveTo>
                      <a:lnTo>
                        <a:pt x="0" y="115"/>
                      </a:lnTo>
                      <a:lnTo>
                        <a:pt x="34" y="142"/>
                      </a:lnTo>
                      <a:lnTo>
                        <a:pt x="0" y="171"/>
                      </a:lnTo>
                      <a:lnTo>
                        <a:pt x="0" y="286"/>
                      </a:lnTo>
                      <a:lnTo>
                        <a:pt x="109" y="198"/>
                      </a:lnTo>
                      <a:lnTo>
                        <a:pt x="109" y="8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CCCCC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>
                    <a:latin typeface="+mj-lt"/>
                  </a:endParaRPr>
                </a:p>
              </p:txBody>
            </p:sp>
            <p:sp>
              <p:nvSpPr>
                <p:cNvPr id="233" name="Freeform 232"/>
                <p:cNvSpPr>
                  <a:spLocks/>
                </p:cNvSpPr>
                <p:nvPr/>
              </p:nvSpPr>
              <p:spPr bwMode="auto">
                <a:xfrm>
                  <a:off x="3442" y="2728"/>
                  <a:ext cx="109" cy="286"/>
                </a:xfrm>
                <a:custGeom>
                  <a:avLst/>
                  <a:gdLst>
                    <a:gd name="T0" fmla="*/ 0 w 109"/>
                    <a:gd name="T1" fmla="*/ 0 h 286"/>
                    <a:gd name="T2" fmla="*/ 0 w 109"/>
                    <a:gd name="T3" fmla="*/ 115 h 286"/>
                    <a:gd name="T4" fmla="*/ 34 w 109"/>
                    <a:gd name="T5" fmla="*/ 142 h 286"/>
                    <a:gd name="T6" fmla="*/ 0 w 109"/>
                    <a:gd name="T7" fmla="*/ 171 h 286"/>
                    <a:gd name="T8" fmla="*/ 0 w 109"/>
                    <a:gd name="T9" fmla="*/ 286 h 286"/>
                    <a:gd name="T10" fmla="*/ 109 w 109"/>
                    <a:gd name="T11" fmla="*/ 198 h 286"/>
                    <a:gd name="T12" fmla="*/ 109 w 109"/>
                    <a:gd name="T13" fmla="*/ 86 h 286"/>
                    <a:gd name="T14" fmla="*/ 0 w 109"/>
                    <a:gd name="T15" fmla="*/ 0 h 286"/>
                    <a:gd name="T16" fmla="*/ 0 w 109"/>
                    <a:gd name="T17" fmla="*/ 0 h 28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109"/>
                    <a:gd name="T28" fmla="*/ 0 h 286"/>
                    <a:gd name="T29" fmla="*/ 109 w 109"/>
                    <a:gd name="T30" fmla="*/ 286 h 28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109" h="286">
                      <a:moveTo>
                        <a:pt x="0" y="0"/>
                      </a:moveTo>
                      <a:lnTo>
                        <a:pt x="0" y="115"/>
                      </a:lnTo>
                      <a:lnTo>
                        <a:pt x="34" y="142"/>
                      </a:lnTo>
                      <a:lnTo>
                        <a:pt x="0" y="171"/>
                      </a:lnTo>
                      <a:lnTo>
                        <a:pt x="0" y="286"/>
                      </a:lnTo>
                      <a:lnTo>
                        <a:pt x="109" y="198"/>
                      </a:lnTo>
                      <a:lnTo>
                        <a:pt x="109" y="86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>
                    <a:latin typeface="+mj-lt"/>
                  </a:endParaRPr>
                </a:p>
              </p:txBody>
            </p:sp>
            <p:sp>
              <p:nvSpPr>
                <p:cNvPr id="234" name="Rectangle 233"/>
                <p:cNvSpPr>
                  <a:spLocks noChangeArrowheads="1"/>
                </p:cNvSpPr>
                <p:nvPr/>
              </p:nvSpPr>
              <p:spPr bwMode="auto">
                <a:xfrm>
                  <a:off x="4124" y="2828"/>
                  <a:ext cx="38" cy="9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US" sz="800">
                      <a:solidFill>
                        <a:srgbClr val="000000"/>
                      </a:solidFill>
                      <a:latin typeface="+mj-lt"/>
                    </a:rPr>
                    <a:t>R</a:t>
                  </a:r>
                  <a:endParaRPr lang="en-US" sz="1200" b="1">
                    <a:latin typeface="+mj-lt"/>
                  </a:endParaRPr>
                </a:p>
              </p:txBody>
            </p:sp>
            <p:sp>
              <p:nvSpPr>
                <p:cNvPr id="235" name="Rectangle 234"/>
                <p:cNvSpPr>
                  <a:spLocks noChangeArrowheads="1"/>
                </p:cNvSpPr>
                <p:nvPr/>
              </p:nvSpPr>
              <p:spPr bwMode="auto">
                <a:xfrm>
                  <a:off x="4172" y="2828"/>
                  <a:ext cx="35" cy="9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US" sz="800">
                      <a:solidFill>
                        <a:srgbClr val="000000"/>
                      </a:solidFill>
                      <a:latin typeface="+mj-lt"/>
                    </a:rPr>
                    <a:t>e</a:t>
                  </a:r>
                  <a:endParaRPr lang="en-US" sz="1200" b="1">
                    <a:latin typeface="+mj-lt"/>
                  </a:endParaRPr>
                </a:p>
              </p:txBody>
            </p:sp>
            <p:sp>
              <p:nvSpPr>
                <p:cNvPr id="236" name="Rectangle 235"/>
                <p:cNvSpPr>
                  <a:spLocks noChangeArrowheads="1"/>
                </p:cNvSpPr>
                <p:nvPr/>
              </p:nvSpPr>
              <p:spPr bwMode="auto">
                <a:xfrm>
                  <a:off x="4207" y="2828"/>
                  <a:ext cx="33" cy="9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US" sz="800">
                      <a:solidFill>
                        <a:srgbClr val="000000"/>
                      </a:solidFill>
                      <a:latin typeface="+mj-lt"/>
                    </a:rPr>
                    <a:t>g</a:t>
                  </a:r>
                  <a:endParaRPr lang="en-US" sz="1200" b="1">
                    <a:latin typeface="+mj-lt"/>
                  </a:endParaRPr>
                </a:p>
              </p:txBody>
            </p:sp>
            <p:sp>
              <p:nvSpPr>
                <p:cNvPr id="237" name="Line 236"/>
                <p:cNvSpPr>
                  <a:spLocks noChangeShapeType="1"/>
                </p:cNvSpPr>
                <p:nvPr/>
              </p:nvSpPr>
              <p:spPr bwMode="auto">
                <a:xfrm>
                  <a:off x="2884" y="2870"/>
                  <a:ext cx="199" cy="1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>
                    <a:latin typeface="+mj-lt"/>
                  </a:endParaRPr>
                </a:p>
              </p:txBody>
            </p:sp>
            <p:sp>
              <p:nvSpPr>
                <p:cNvPr id="238" name="Line 237"/>
                <p:cNvSpPr>
                  <a:spLocks noChangeShapeType="1"/>
                </p:cNvSpPr>
                <p:nvPr/>
              </p:nvSpPr>
              <p:spPr bwMode="auto">
                <a:xfrm>
                  <a:off x="3549" y="2870"/>
                  <a:ext cx="217" cy="1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>
                    <a:latin typeface="+mj-lt"/>
                  </a:endParaRPr>
                </a:p>
              </p:txBody>
            </p:sp>
            <p:sp>
              <p:nvSpPr>
                <p:cNvPr id="239" name="Line 238"/>
                <p:cNvSpPr>
                  <a:spLocks noChangeShapeType="1"/>
                </p:cNvSpPr>
                <p:nvPr/>
              </p:nvSpPr>
              <p:spPr bwMode="auto">
                <a:xfrm>
                  <a:off x="3908" y="2870"/>
                  <a:ext cx="199" cy="1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>
                    <a:latin typeface="+mj-lt"/>
                  </a:endParaRPr>
                </a:p>
              </p:txBody>
            </p:sp>
            <p:sp>
              <p:nvSpPr>
                <p:cNvPr id="240" name="Freeform 239"/>
                <p:cNvSpPr>
                  <a:spLocks/>
                </p:cNvSpPr>
                <p:nvPr/>
              </p:nvSpPr>
              <p:spPr bwMode="auto">
                <a:xfrm>
                  <a:off x="3047" y="2836"/>
                  <a:ext cx="34" cy="34"/>
                </a:xfrm>
                <a:custGeom>
                  <a:avLst/>
                  <a:gdLst>
                    <a:gd name="T0" fmla="*/ 0 w 34"/>
                    <a:gd name="T1" fmla="*/ 34 h 34"/>
                    <a:gd name="T2" fmla="*/ 0 w 34"/>
                    <a:gd name="T3" fmla="*/ 0 h 34"/>
                    <a:gd name="T4" fmla="*/ 34 w 34"/>
                    <a:gd name="T5" fmla="*/ 0 h 34"/>
                    <a:gd name="T6" fmla="*/ 0 60000 65536"/>
                    <a:gd name="T7" fmla="*/ 0 60000 65536"/>
                    <a:gd name="T8" fmla="*/ 0 60000 65536"/>
                    <a:gd name="T9" fmla="*/ 0 w 34"/>
                    <a:gd name="T10" fmla="*/ 0 h 34"/>
                    <a:gd name="T11" fmla="*/ 34 w 34"/>
                    <a:gd name="T12" fmla="*/ 34 h 3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4" h="34">
                      <a:moveTo>
                        <a:pt x="0" y="34"/>
                      </a:moveTo>
                      <a:lnTo>
                        <a:pt x="0" y="0"/>
                      </a:lnTo>
                      <a:lnTo>
                        <a:pt x="34" y="0"/>
                      </a:ln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>
                    <a:latin typeface="+mj-lt"/>
                  </a:endParaRPr>
                </a:p>
              </p:txBody>
            </p:sp>
            <p:sp>
              <p:nvSpPr>
                <p:cNvPr id="241" name="Freeform 240"/>
                <p:cNvSpPr>
                  <a:spLocks/>
                </p:cNvSpPr>
                <p:nvPr/>
              </p:nvSpPr>
              <p:spPr bwMode="auto">
                <a:xfrm>
                  <a:off x="2957" y="2726"/>
                  <a:ext cx="54" cy="288"/>
                </a:xfrm>
                <a:custGeom>
                  <a:avLst/>
                  <a:gdLst>
                    <a:gd name="T0" fmla="*/ 54 w 54"/>
                    <a:gd name="T1" fmla="*/ 288 h 288"/>
                    <a:gd name="T2" fmla="*/ 54 w 54"/>
                    <a:gd name="T3" fmla="*/ 0 h 288"/>
                    <a:gd name="T4" fmla="*/ 0 w 54"/>
                    <a:gd name="T5" fmla="*/ 0 h 288"/>
                    <a:gd name="T6" fmla="*/ 0 w 54"/>
                    <a:gd name="T7" fmla="*/ 288 h 288"/>
                    <a:gd name="T8" fmla="*/ 54 w 54"/>
                    <a:gd name="T9" fmla="*/ 288 h 288"/>
                    <a:gd name="T10" fmla="*/ 54 w 54"/>
                    <a:gd name="T11" fmla="*/ 288 h 288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54"/>
                    <a:gd name="T19" fmla="*/ 0 h 288"/>
                    <a:gd name="T20" fmla="*/ 54 w 54"/>
                    <a:gd name="T21" fmla="*/ 288 h 288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54" h="288">
                      <a:moveTo>
                        <a:pt x="54" y="288"/>
                      </a:moveTo>
                      <a:lnTo>
                        <a:pt x="54" y="0"/>
                      </a:lnTo>
                      <a:lnTo>
                        <a:pt x="0" y="0"/>
                      </a:lnTo>
                      <a:lnTo>
                        <a:pt x="0" y="288"/>
                      </a:lnTo>
                      <a:lnTo>
                        <a:pt x="54" y="288"/>
                      </a:lnTo>
                      <a:close/>
                    </a:path>
                  </a:pathLst>
                </a:custGeom>
                <a:solidFill>
                  <a:srgbClr val="CCCCC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>
                    <a:latin typeface="+mj-lt"/>
                  </a:endParaRPr>
                </a:p>
              </p:txBody>
            </p:sp>
            <p:sp>
              <p:nvSpPr>
                <p:cNvPr id="242" name="Freeform 241"/>
                <p:cNvSpPr>
                  <a:spLocks/>
                </p:cNvSpPr>
                <p:nvPr/>
              </p:nvSpPr>
              <p:spPr bwMode="auto">
                <a:xfrm>
                  <a:off x="2957" y="2726"/>
                  <a:ext cx="54" cy="288"/>
                </a:xfrm>
                <a:custGeom>
                  <a:avLst/>
                  <a:gdLst>
                    <a:gd name="T0" fmla="*/ 54 w 54"/>
                    <a:gd name="T1" fmla="*/ 288 h 288"/>
                    <a:gd name="T2" fmla="*/ 54 w 54"/>
                    <a:gd name="T3" fmla="*/ 0 h 288"/>
                    <a:gd name="T4" fmla="*/ 0 w 54"/>
                    <a:gd name="T5" fmla="*/ 0 h 288"/>
                    <a:gd name="T6" fmla="*/ 0 w 54"/>
                    <a:gd name="T7" fmla="*/ 288 h 288"/>
                    <a:gd name="T8" fmla="*/ 54 w 54"/>
                    <a:gd name="T9" fmla="*/ 288 h 288"/>
                    <a:gd name="T10" fmla="*/ 54 w 54"/>
                    <a:gd name="T11" fmla="*/ 288 h 288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54"/>
                    <a:gd name="T19" fmla="*/ 0 h 288"/>
                    <a:gd name="T20" fmla="*/ 54 w 54"/>
                    <a:gd name="T21" fmla="*/ 288 h 288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54" h="288">
                      <a:moveTo>
                        <a:pt x="54" y="288"/>
                      </a:moveTo>
                      <a:lnTo>
                        <a:pt x="54" y="0"/>
                      </a:lnTo>
                      <a:lnTo>
                        <a:pt x="0" y="0"/>
                      </a:lnTo>
                      <a:lnTo>
                        <a:pt x="0" y="288"/>
                      </a:lnTo>
                      <a:lnTo>
                        <a:pt x="54" y="288"/>
                      </a:ln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>
                    <a:latin typeface="+mj-lt"/>
                  </a:endParaRPr>
                </a:p>
              </p:txBody>
            </p:sp>
            <p:sp>
              <p:nvSpPr>
                <p:cNvPr id="243" name="Freeform 242"/>
                <p:cNvSpPr>
                  <a:spLocks/>
                </p:cNvSpPr>
                <p:nvPr/>
              </p:nvSpPr>
              <p:spPr bwMode="auto">
                <a:xfrm>
                  <a:off x="3298" y="2726"/>
                  <a:ext cx="54" cy="288"/>
                </a:xfrm>
                <a:custGeom>
                  <a:avLst/>
                  <a:gdLst>
                    <a:gd name="T0" fmla="*/ 54 w 54"/>
                    <a:gd name="T1" fmla="*/ 288 h 288"/>
                    <a:gd name="T2" fmla="*/ 54 w 54"/>
                    <a:gd name="T3" fmla="*/ 0 h 288"/>
                    <a:gd name="T4" fmla="*/ 0 w 54"/>
                    <a:gd name="T5" fmla="*/ 0 h 288"/>
                    <a:gd name="T6" fmla="*/ 0 w 54"/>
                    <a:gd name="T7" fmla="*/ 288 h 288"/>
                    <a:gd name="T8" fmla="*/ 54 w 54"/>
                    <a:gd name="T9" fmla="*/ 288 h 288"/>
                    <a:gd name="T10" fmla="*/ 54 w 54"/>
                    <a:gd name="T11" fmla="*/ 288 h 288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54"/>
                    <a:gd name="T19" fmla="*/ 0 h 288"/>
                    <a:gd name="T20" fmla="*/ 54 w 54"/>
                    <a:gd name="T21" fmla="*/ 288 h 288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54" h="288">
                      <a:moveTo>
                        <a:pt x="54" y="288"/>
                      </a:moveTo>
                      <a:lnTo>
                        <a:pt x="54" y="0"/>
                      </a:lnTo>
                      <a:lnTo>
                        <a:pt x="0" y="0"/>
                      </a:lnTo>
                      <a:lnTo>
                        <a:pt x="0" y="288"/>
                      </a:lnTo>
                      <a:lnTo>
                        <a:pt x="54" y="288"/>
                      </a:lnTo>
                      <a:close/>
                    </a:path>
                  </a:pathLst>
                </a:custGeom>
                <a:solidFill>
                  <a:srgbClr val="CCCCC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>
                    <a:latin typeface="+mj-lt"/>
                  </a:endParaRPr>
                </a:p>
              </p:txBody>
            </p:sp>
            <p:sp>
              <p:nvSpPr>
                <p:cNvPr id="244" name="Freeform 243"/>
                <p:cNvSpPr>
                  <a:spLocks/>
                </p:cNvSpPr>
                <p:nvPr/>
              </p:nvSpPr>
              <p:spPr bwMode="auto">
                <a:xfrm>
                  <a:off x="3639" y="2726"/>
                  <a:ext cx="54" cy="288"/>
                </a:xfrm>
                <a:custGeom>
                  <a:avLst/>
                  <a:gdLst>
                    <a:gd name="T0" fmla="*/ 54 w 54"/>
                    <a:gd name="T1" fmla="*/ 288 h 288"/>
                    <a:gd name="T2" fmla="*/ 54 w 54"/>
                    <a:gd name="T3" fmla="*/ 0 h 288"/>
                    <a:gd name="T4" fmla="*/ 0 w 54"/>
                    <a:gd name="T5" fmla="*/ 0 h 288"/>
                    <a:gd name="T6" fmla="*/ 0 w 54"/>
                    <a:gd name="T7" fmla="*/ 288 h 288"/>
                    <a:gd name="T8" fmla="*/ 54 w 54"/>
                    <a:gd name="T9" fmla="*/ 288 h 288"/>
                    <a:gd name="T10" fmla="*/ 54 w 54"/>
                    <a:gd name="T11" fmla="*/ 288 h 288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54"/>
                    <a:gd name="T19" fmla="*/ 0 h 288"/>
                    <a:gd name="T20" fmla="*/ 54 w 54"/>
                    <a:gd name="T21" fmla="*/ 288 h 288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54" h="288">
                      <a:moveTo>
                        <a:pt x="54" y="288"/>
                      </a:moveTo>
                      <a:lnTo>
                        <a:pt x="54" y="0"/>
                      </a:lnTo>
                      <a:lnTo>
                        <a:pt x="0" y="0"/>
                      </a:lnTo>
                      <a:lnTo>
                        <a:pt x="0" y="288"/>
                      </a:lnTo>
                      <a:lnTo>
                        <a:pt x="54" y="288"/>
                      </a:lnTo>
                      <a:close/>
                    </a:path>
                  </a:pathLst>
                </a:custGeom>
                <a:solidFill>
                  <a:srgbClr val="CCCCC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>
                    <a:latin typeface="+mj-lt"/>
                  </a:endParaRPr>
                </a:p>
              </p:txBody>
            </p:sp>
            <p:sp>
              <p:nvSpPr>
                <p:cNvPr id="245" name="Freeform 244"/>
                <p:cNvSpPr>
                  <a:spLocks/>
                </p:cNvSpPr>
                <p:nvPr/>
              </p:nvSpPr>
              <p:spPr bwMode="auto">
                <a:xfrm>
                  <a:off x="3981" y="2726"/>
                  <a:ext cx="55" cy="288"/>
                </a:xfrm>
                <a:custGeom>
                  <a:avLst/>
                  <a:gdLst>
                    <a:gd name="T0" fmla="*/ 53 w 55"/>
                    <a:gd name="T1" fmla="*/ 288 h 288"/>
                    <a:gd name="T2" fmla="*/ 55 w 55"/>
                    <a:gd name="T3" fmla="*/ 0 h 288"/>
                    <a:gd name="T4" fmla="*/ 0 w 55"/>
                    <a:gd name="T5" fmla="*/ 0 h 288"/>
                    <a:gd name="T6" fmla="*/ 0 w 55"/>
                    <a:gd name="T7" fmla="*/ 288 h 288"/>
                    <a:gd name="T8" fmla="*/ 55 w 55"/>
                    <a:gd name="T9" fmla="*/ 288 h 288"/>
                    <a:gd name="T10" fmla="*/ 55 w 55"/>
                    <a:gd name="T11" fmla="*/ 288 h 288"/>
                    <a:gd name="T12" fmla="*/ 53 w 55"/>
                    <a:gd name="T13" fmla="*/ 288 h 288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55"/>
                    <a:gd name="T22" fmla="*/ 0 h 288"/>
                    <a:gd name="T23" fmla="*/ 55 w 55"/>
                    <a:gd name="T24" fmla="*/ 288 h 288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55" h="288">
                      <a:moveTo>
                        <a:pt x="53" y="288"/>
                      </a:moveTo>
                      <a:lnTo>
                        <a:pt x="55" y="0"/>
                      </a:lnTo>
                      <a:lnTo>
                        <a:pt x="0" y="0"/>
                      </a:lnTo>
                      <a:lnTo>
                        <a:pt x="0" y="288"/>
                      </a:lnTo>
                      <a:lnTo>
                        <a:pt x="55" y="288"/>
                      </a:lnTo>
                      <a:lnTo>
                        <a:pt x="53" y="288"/>
                      </a:lnTo>
                      <a:close/>
                    </a:path>
                  </a:pathLst>
                </a:custGeom>
                <a:solidFill>
                  <a:srgbClr val="CCCCC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>
                    <a:latin typeface="+mj-lt"/>
                  </a:endParaRPr>
                </a:p>
              </p:txBody>
            </p:sp>
            <p:sp>
              <p:nvSpPr>
                <p:cNvPr id="246" name="Freeform 245"/>
                <p:cNvSpPr>
                  <a:spLocks/>
                </p:cNvSpPr>
                <p:nvPr/>
              </p:nvSpPr>
              <p:spPr bwMode="auto">
                <a:xfrm>
                  <a:off x="3981" y="2726"/>
                  <a:ext cx="55" cy="288"/>
                </a:xfrm>
                <a:custGeom>
                  <a:avLst/>
                  <a:gdLst>
                    <a:gd name="T0" fmla="*/ 53 w 55"/>
                    <a:gd name="T1" fmla="*/ 288 h 288"/>
                    <a:gd name="T2" fmla="*/ 55 w 55"/>
                    <a:gd name="T3" fmla="*/ 0 h 288"/>
                    <a:gd name="T4" fmla="*/ 0 w 55"/>
                    <a:gd name="T5" fmla="*/ 0 h 288"/>
                    <a:gd name="T6" fmla="*/ 0 w 55"/>
                    <a:gd name="T7" fmla="*/ 288 h 288"/>
                    <a:gd name="T8" fmla="*/ 55 w 55"/>
                    <a:gd name="T9" fmla="*/ 288 h 288"/>
                    <a:gd name="T10" fmla="*/ 55 w 55"/>
                    <a:gd name="T11" fmla="*/ 288 h 288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55"/>
                    <a:gd name="T19" fmla="*/ 0 h 288"/>
                    <a:gd name="T20" fmla="*/ 55 w 55"/>
                    <a:gd name="T21" fmla="*/ 288 h 288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55" h="288">
                      <a:moveTo>
                        <a:pt x="53" y="288"/>
                      </a:moveTo>
                      <a:lnTo>
                        <a:pt x="55" y="0"/>
                      </a:lnTo>
                      <a:lnTo>
                        <a:pt x="0" y="0"/>
                      </a:lnTo>
                      <a:lnTo>
                        <a:pt x="0" y="288"/>
                      </a:lnTo>
                      <a:lnTo>
                        <a:pt x="55" y="288"/>
                      </a:ln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>
                    <a:latin typeface="+mj-lt"/>
                  </a:endParaRPr>
                </a:p>
              </p:txBody>
            </p:sp>
            <p:sp>
              <p:nvSpPr>
                <p:cNvPr id="247" name="Freeform 246"/>
                <p:cNvSpPr>
                  <a:spLocks/>
                </p:cNvSpPr>
                <p:nvPr/>
              </p:nvSpPr>
              <p:spPr bwMode="auto">
                <a:xfrm>
                  <a:off x="4448" y="3123"/>
                  <a:ext cx="73" cy="143"/>
                </a:xfrm>
                <a:custGeom>
                  <a:avLst/>
                  <a:gdLst>
                    <a:gd name="T0" fmla="*/ 71 w 73"/>
                    <a:gd name="T1" fmla="*/ 141 h 143"/>
                    <a:gd name="T2" fmla="*/ 0 w 73"/>
                    <a:gd name="T3" fmla="*/ 143 h 143"/>
                    <a:gd name="T4" fmla="*/ 0 w 73"/>
                    <a:gd name="T5" fmla="*/ 0 h 143"/>
                    <a:gd name="T6" fmla="*/ 73 w 73"/>
                    <a:gd name="T7" fmla="*/ 0 h 143"/>
                    <a:gd name="T8" fmla="*/ 71 w 73"/>
                    <a:gd name="T9" fmla="*/ 141 h 14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3"/>
                    <a:gd name="T16" fmla="*/ 0 h 143"/>
                    <a:gd name="T17" fmla="*/ 73 w 73"/>
                    <a:gd name="T18" fmla="*/ 143 h 14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3" h="143">
                      <a:moveTo>
                        <a:pt x="71" y="141"/>
                      </a:moveTo>
                      <a:lnTo>
                        <a:pt x="0" y="143"/>
                      </a:lnTo>
                      <a:lnTo>
                        <a:pt x="0" y="0"/>
                      </a:lnTo>
                      <a:lnTo>
                        <a:pt x="73" y="0"/>
                      </a:lnTo>
                      <a:lnTo>
                        <a:pt x="71" y="141"/>
                      </a:lnTo>
                      <a:close/>
                    </a:path>
                  </a:pathLst>
                </a:custGeom>
                <a:solidFill>
                  <a:srgbClr val="CCCCC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>
                    <a:latin typeface="+mj-lt"/>
                  </a:endParaRPr>
                </a:p>
              </p:txBody>
            </p:sp>
            <p:sp>
              <p:nvSpPr>
                <p:cNvPr id="248" name="Freeform 247"/>
                <p:cNvSpPr>
                  <a:spLocks/>
                </p:cNvSpPr>
                <p:nvPr/>
              </p:nvSpPr>
              <p:spPr bwMode="auto">
                <a:xfrm>
                  <a:off x="4448" y="3123"/>
                  <a:ext cx="73" cy="143"/>
                </a:xfrm>
                <a:custGeom>
                  <a:avLst/>
                  <a:gdLst>
                    <a:gd name="T0" fmla="*/ 71 w 73"/>
                    <a:gd name="T1" fmla="*/ 141 h 143"/>
                    <a:gd name="T2" fmla="*/ 0 w 73"/>
                    <a:gd name="T3" fmla="*/ 143 h 143"/>
                    <a:gd name="T4" fmla="*/ 0 w 73"/>
                    <a:gd name="T5" fmla="*/ 0 h 143"/>
                    <a:gd name="T6" fmla="*/ 73 w 73"/>
                    <a:gd name="T7" fmla="*/ 0 h 14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73"/>
                    <a:gd name="T13" fmla="*/ 0 h 143"/>
                    <a:gd name="T14" fmla="*/ 73 w 73"/>
                    <a:gd name="T15" fmla="*/ 143 h 14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73" h="143">
                      <a:moveTo>
                        <a:pt x="71" y="141"/>
                      </a:moveTo>
                      <a:lnTo>
                        <a:pt x="0" y="143"/>
                      </a:lnTo>
                      <a:lnTo>
                        <a:pt x="0" y="0"/>
                      </a:lnTo>
                      <a:lnTo>
                        <a:pt x="73" y="0"/>
                      </a:ln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>
                    <a:latin typeface="+mj-lt"/>
                  </a:endParaRPr>
                </a:p>
              </p:txBody>
            </p:sp>
            <p:sp>
              <p:nvSpPr>
                <p:cNvPr id="249" name="Line 248"/>
                <p:cNvSpPr>
                  <a:spLocks noChangeShapeType="1"/>
                </p:cNvSpPr>
                <p:nvPr/>
              </p:nvSpPr>
              <p:spPr bwMode="auto">
                <a:xfrm flipV="1">
                  <a:off x="4592" y="3119"/>
                  <a:ext cx="1" cy="149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>
                    <a:latin typeface="+mj-lt"/>
                  </a:endParaRPr>
                </a:p>
              </p:txBody>
            </p:sp>
            <p:sp>
              <p:nvSpPr>
                <p:cNvPr id="250" name="Line 249"/>
                <p:cNvSpPr>
                  <a:spLocks noChangeShapeType="1"/>
                </p:cNvSpPr>
                <p:nvPr/>
              </p:nvSpPr>
              <p:spPr bwMode="auto">
                <a:xfrm flipH="1">
                  <a:off x="4517" y="3121"/>
                  <a:ext cx="75" cy="2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>
                    <a:latin typeface="+mj-lt"/>
                  </a:endParaRPr>
                </a:p>
              </p:txBody>
            </p:sp>
            <p:sp>
              <p:nvSpPr>
                <p:cNvPr id="251" name="Line 250"/>
                <p:cNvSpPr>
                  <a:spLocks noChangeShapeType="1"/>
                </p:cNvSpPr>
                <p:nvPr/>
              </p:nvSpPr>
              <p:spPr bwMode="auto">
                <a:xfrm flipH="1">
                  <a:off x="4517" y="3264"/>
                  <a:ext cx="75" cy="2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>
                    <a:latin typeface="+mj-lt"/>
                  </a:endParaRPr>
                </a:p>
              </p:txBody>
            </p:sp>
            <p:sp>
              <p:nvSpPr>
                <p:cNvPr id="252" name="Freeform 251"/>
                <p:cNvSpPr>
                  <a:spLocks/>
                </p:cNvSpPr>
                <p:nvPr/>
              </p:nvSpPr>
              <p:spPr bwMode="auto">
                <a:xfrm>
                  <a:off x="3154" y="3123"/>
                  <a:ext cx="73" cy="143"/>
                </a:xfrm>
                <a:custGeom>
                  <a:avLst/>
                  <a:gdLst>
                    <a:gd name="T0" fmla="*/ 0 w 73"/>
                    <a:gd name="T1" fmla="*/ 141 h 143"/>
                    <a:gd name="T2" fmla="*/ 73 w 73"/>
                    <a:gd name="T3" fmla="*/ 143 h 143"/>
                    <a:gd name="T4" fmla="*/ 73 w 73"/>
                    <a:gd name="T5" fmla="*/ 0 h 143"/>
                    <a:gd name="T6" fmla="*/ 0 w 73"/>
                    <a:gd name="T7" fmla="*/ 0 h 143"/>
                    <a:gd name="T8" fmla="*/ 0 w 73"/>
                    <a:gd name="T9" fmla="*/ 141 h 14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3"/>
                    <a:gd name="T16" fmla="*/ 0 h 143"/>
                    <a:gd name="T17" fmla="*/ 73 w 73"/>
                    <a:gd name="T18" fmla="*/ 143 h 14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3" h="143">
                      <a:moveTo>
                        <a:pt x="0" y="141"/>
                      </a:moveTo>
                      <a:lnTo>
                        <a:pt x="73" y="143"/>
                      </a:lnTo>
                      <a:lnTo>
                        <a:pt x="73" y="0"/>
                      </a:lnTo>
                      <a:lnTo>
                        <a:pt x="0" y="0"/>
                      </a:lnTo>
                      <a:lnTo>
                        <a:pt x="0" y="141"/>
                      </a:lnTo>
                      <a:close/>
                    </a:path>
                  </a:pathLst>
                </a:custGeom>
                <a:solidFill>
                  <a:srgbClr val="CCCCC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>
                    <a:latin typeface="+mj-lt"/>
                  </a:endParaRPr>
                </a:p>
              </p:txBody>
            </p:sp>
            <p:sp>
              <p:nvSpPr>
                <p:cNvPr id="253" name="Freeform 252"/>
                <p:cNvSpPr>
                  <a:spLocks/>
                </p:cNvSpPr>
                <p:nvPr/>
              </p:nvSpPr>
              <p:spPr bwMode="auto">
                <a:xfrm>
                  <a:off x="3154" y="3123"/>
                  <a:ext cx="73" cy="143"/>
                </a:xfrm>
                <a:custGeom>
                  <a:avLst/>
                  <a:gdLst>
                    <a:gd name="T0" fmla="*/ 0 w 73"/>
                    <a:gd name="T1" fmla="*/ 141 h 143"/>
                    <a:gd name="T2" fmla="*/ 73 w 73"/>
                    <a:gd name="T3" fmla="*/ 143 h 143"/>
                    <a:gd name="T4" fmla="*/ 73 w 73"/>
                    <a:gd name="T5" fmla="*/ 0 h 143"/>
                    <a:gd name="T6" fmla="*/ 0 w 73"/>
                    <a:gd name="T7" fmla="*/ 0 h 14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73"/>
                    <a:gd name="T13" fmla="*/ 0 h 143"/>
                    <a:gd name="T14" fmla="*/ 73 w 73"/>
                    <a:gd name="T15" fmla="*/ 143 h 14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73" h="143">
                      <a:moveTo>
                        <a:pt x="0" y="141"/>
                      </a:moveTo>
                      <a:lnTo>
                        <a:pt x="73" y="143"/>
                      </a:lnTo>
                      <a:lnTo>
                        <a:pt x="73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>
                    <a:latin typeface="+mj-lt"/>
                  </a:endParaRPr>
                </a:p>
              </p:txBody>
            </p:sp>
            <p:sp>
              <p:nvSpPr>
                <p:cNvPr id="254" name="Freeform 253"/>
                <p:cNvSpPr>
                  <a:spLocks/>
                </p:cNvSpPr>
                <p:nvPr/>
              </p:nvSpPr>
              <p:spPr bwMode="auto">
                <a:xfrm>
                  <a:off x="3083" y="3121"/>
                  <a:ext cx="71" cy="145"/>
                </a:xfrm>
                <a:custGeom>
                  <a:avLst/>
                  <a:gdLst>
                    <a:gd name="T0" fmla="*/ 71 w 71"/>
                    <a:gd name="T1" fmla="*/ 0 h 145"/>
                    <a:gd name="T2" fmla="*/ 0 w 71"/>
                    <a:gd name="T3" fmla="*/ 2 h 145"/>
                    <a:gd name="T4" fmla="*/ 0 w 71"/>
                    <a:gd name="T5" fmla="*/ 145 h 145"/>
                    <a:gd name="T6" fmla="*/ 71 w 71"/>
                    <a:gd name="T7" fmla="*/ 145 h 145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71"/>
                    <a:gd name="T13" fmla="*/ 0 h 145"/>
                    <a:gd name="T14" fmla="*/ 71 w 71"/>
                    <a:gd name="T15" fmla="*/ 145 h 145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71" h="145">
                      <a:moveTo>
                        <a:pt x="71" y="0"/>
                      </a:moveTo>
                      <a:lnTo>
                        <a:pt x="0" y="2"/>
                      </a:lnTo>
                      <a:lnTo>
                        <a:pt x="0" y="145"/>
                      </a:lnTo>
                      <a:lnTo>
                        <a:pt x="71" y="145"/>
                      </a:ln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>
                    <a:latin typeface="+mj-lt"/>
                  </a:endParaRPr>
                </a:p>
              </p:txBody>
            </p:sp>
            <p:sp>
              <p:nvSpPr>
                <p:cNvPr id="255" name="Rectangle 254"/>
                <p:cNvSpPr>
                  <a:spLocks noChangeArrowheads="1"/>
                </p:cNvSpPr>
                <p:nvPr/>
              </p:nvSpPr>
              <p:spPr bwMode="auto">
                <a:xfrm>
                  <a:off x="3120" y="3153"/>
                  <a:ext cx="17" cy="9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US" sz="800">
                      <a:solidFill>
                        <a:srgbClr val="000000"/>
                      </a:solidFill>
                      <a:latin typeface="+mj-lt"/>
                    </a:rPr>
                    <a:t>I</a:t>
                  </a:r>
                  <a:endParaRPr lang="en-US" sz="1200" b="1">
                    <a:latin typeface="+mj-lt"/>
                  </a:endParaRPr>
                </a:p>
              </p:txBody>
            </p:sp>
            <p:sp>
              <p:nvSpPr>
                <p:cNvPr id="256" name="Rectangle 255"/>
                <p:cNvSpPr>
                  <a:spLocks noChangeArrowheads="1"/>
                </p:cNvSpPr>
                <p:nvPr/>
              </p:nvSpPr>
              <p:spPr bwMode="auto">
                <a:xfrm>
                  <a:off x="3137" y="3153"/>
                  <a:ext cx="60" cy="9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US" sz="800">
                      <a:solidFill>
                        <a:srgbClr val="000000"/>
                      </a:solidFill>
                      <a:latin typeface="+mj-lt"/>
                    </a:rPr>
                    <a:t>M</a:t>
                  </a:r>
                  <a:endParaRPr lang="en-US" sz="1200" b="1">
                    <a:latin typeface="+mj-lt"/>
                  </a:endParaRPr>
                </a:p>
              </p:txBody>
            </p:sp>
            <p:sp>
              <p:nvSpPr>
                <p:cNvPr id="257" name="Freeform 256"/>
                <p:cNvSpPr>
                  <a:spLocks/>
                </p:cNvSpPr>
                <p:nvPr/>
              </p:nvSpPr>
              <p:spPr bwMode="auto">
                <a:xfrm>
                  <a:off x="3496" y="3123"/>
                  <a:ext cx="72" cy="143"/>
                </a:xfrm>
                <a:custGeom>
                  <a:avLst/>
                  <a:gdLst>
                    <a:gd name="T0" fmla="*/ 0 w 72"/>
                    <a:gd name="T1" fmla="*/ 141 h 143"/>
                    <a:gd name="T2" fmla="*/ 72 w 72"/>
                    <a:gd name="T3" fmla="*/ 143 h 143"/>
                    <a:gd name="T4" fmla="*/ 72 w 72"/>
                    <a:gd name="T5" fmla="*/ 0 h 143"/>
                    <a:gd name="T6" fmla="*/ 0 w 72"/>
                    <a:gd name="T7" fmla="*/ 0 h 143"/>
                    <a:gd name="T8" fmla="*/ 0 w 72"/>
                    <a:gd name="T9" fmla="*/ 141 h 14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"/>
                    <a:gd name="T16" fmla="*/ 0 h 143"/>
                    <a:gd name="T17" fmla="*/ 72 w 72"/>
                    <a:gd name="T18" fmla="*/ 143 h 14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" h="143">
                      <a:moveTo>
                        <a:pt x="0" y="141"/>
                      </a:moveTo>
                      <a:lnTo>
                        <a:pt x="72" y="143"/>
                      </a:lnTo>
                      <a:lnTo>
                        <a:pt x="72" y="0"/>
                      </a:lnTo>
                      <a:lnTo>
                        <a:pt x="0" y="0"/>
                      </a:lnTo>
                      <a:lnTo>
                        <a:pt x="0" y="141"/>
                      </a:lnTo>
                      <a:close/>
                    </a:path>
                  </a:pathLst>
                </a:custGeom>
                <a:solidFill>
                  <a:srgbClr val="FBE2C9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>
                    <a:latin typeface="+mj-lt"/>
                  </a:endParaRPr>
                </a:p>
              </p:txBody>
            </p:sp>
            <p:sp>
              <p:nvSpPr>
                <p:cNvPr id="258" name="Freeform 257"/>
                <p:cNvSpPr>
                  <a:spLocks/>
                </p:cNvSpPr>
                <p:nvPr/>
              </p:nvSpPr>
              <p:spPr bwMode="auto">
                <a:xfrm>
                  <a:off x="3496" y="3123"/>
                  <a:ext cx="72" cy="143"/>
                </a:xfrm>
                <a:custGeom>
                  <a:avLst/>
                  <a:gdLst>
                    <a:gd name="T0" fmla="*/ 0 w 72"/>
                    <a:gd name="T1" fmla="*/ 141 h 143"/>
                    <a:gd name="T2" fmla="*/ 72 w 72"/>
                    <a:gd name="T3" fmla="*/ 143 h 143"/>
                    <a:gd name="T4" fmla="*/ 72 w 72"/>
                    <a:gd name="T5" fmla="*/ 0 h 143"/>
                    <a:gd name="T6" fmla="*/ 0 w 72"/>
                    <a:gd name="T7" fmla="*/ 0 h 14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72"/>
                    <a:gd name="T13" fmla="*/ 0 h 143"/>
                    <a:gd name="T14" fmla="*/ 72 w 72"/>
                    <a:gd name="T15" fmla="*/ 143 h 14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72" h="143">
                      <a:moveTo>
                        <a:pt x="0" y="141"/>
                      </a:moveTo>
                      <a:lnTo>
                        <a:pt x="72" y="143"/>
                      </a:lnTo>
                      <a:lnTo>
                        <a:pt x="72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9525">
                  <a:solidFill>
                    <a:srgbClr val="EB75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>
                    <a:latin typeface="+mj-lt"/>
                  </a:endParaRPr>
                </a:p>
              </p:txBody>
            </p:sp>
            <p:sp>
              <p:nvSpPr>
                <p:cNvPr id="259" name="Line 258"/>
                <p:cNvSpPr>
                  <a:spLocks noChangeShapeType="1"/>
                </p:cNvSpPr>
                <p:nvPr/>
              </p:nvSpPr>
              <p:spPr bwMode="auto">
                <a:xfrm flipV="1">
                  <a:off x="3423" y="3119"/>
                  <a:ext cx="2" cy="149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>
                    <a:latin typeface="+mj-lt"/>
                  </a:endParaRPr>
                </a:p>
              </p:txBody>
            </p:sp>
            <p:sp>
              <p:nvSpPr>
                <p:cNvPr id="260" name="Line 259"/>
                <p:cNvSpPr>
                  <a:spLocks noChangeShapeType="1"/>
                </p:cNvSpPr>
                <p:nvPr/>
              </p:nvSpPr>
              <p:spPr bwMode="auto">
                <a:xfrm>
                  <a:off x="3423" y="3121"/>
                  <a:ext cx="73" cy="2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>
                    <a:latin typeface="+mj-lt"/>
                  </a:endParaRPr>
                </a:p>
              </p:txBody>
            </p:sp>
            <p:sp>
              <p:nvSpPr>
                <p:cNvPr id="261" name="Line 260"/>
                <p:cNvSpPr>
                  <a:spLocks noChangeShapeType="1"/>
                </p:cNvSpPr>
                <p:nvPr/>
              </p:nvSpPr>
              <p:spPr bwMode="auto">
                <a:xfrm>
                  <a:off x="3423" y="3264"/>
                  <a:ext cx="73" cy="2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>
                    <a:latin typeface="+mj-lt"/>
                  </a:endParaRPr>
                </a:p>
              </p:txBody>
            </p:sp>
            <p:sp>
              <p:nvSpPr>
                <p:cNvPr id="262" name="Rectangle 261"/>
                <p:cNvSpPr>
                  <a:spLocks noChangeArrowheads="1"/>
                </p:cNvSpPr>
                <p:nvPr/>
              </p:nvSpPr>
              <p:spPr bwMode="auto">
                <a:xfrm>
                  <a:off x="3444" y="3169"/>
                  <a:ext cx="38" cy="9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US" sz="800">
                      <a:solidFill>
                        <a:srgbClr val="EB7500"/>
                      </a:solidFill>
                      <a:latin typeface="+mj-lt"/>
                    </a:rPr>
                    <a:t>R</a:t>
                  </a:r>
                  <a:endParaRPr lang="en-US" sz="1200" b="1">
                    <a:latin typeface="+mj-lt"/>
                  </a:endParaRPr>
                </a:p>
              </p:txBody>
            </p:sp>
            <p:sp>
              <p:nvSpPr>
                <p:cNvPr id="263" name="Rectangle 262"/>
                <p:cNvSpPr>
                  <a:spLocks noChangeArrowheads="1"/>
                </p:cNvSpPr>
                <p:nvPr/>
              </p:nvSpPr>
              <p:spPr bwMode="auto">
                <a:xfrm>
                  <a:off x="3490" y="3169"/>
                  <a:ext cx="35" cy="9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US" sz="800">
                      <a:solidFill>
                        <a:srgbClr val="EB7500"/>
                      </a:solidFill>
                      <a:latin typeface="+mj-lt"/>
                    </a:rPr>
                    <a:t>e</a:t>
                  </a:r>
                  <a:endParaRPr lang="en-US" sz="1200" b="1">
                    <a:latin typeface="+mj-lt"/>
                  </a:endParaRPr>
                </a:p>
              </p:txBody>
            </p:sp>
            <p:sp>
              <p:nvSpPr>
                <p:cNvPr id="264" name="Rectangle 263"/>
                <p:cNvSpPr>
                  <a:spLocks noChangeArrowheads="1"/>
                </p:cNvSpPr>
                <p:nvPr/>
              </p:nvSpPr>
              <p:spPr bwMode="auto">
                <a:xfrm>
                  <a:off x="3524" y="3169"/>
                  <a:ext cx="33" cy="9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US" sz="800">
                      <a:solidFill>
                        <a:srgbClr val="EB7500"/>
                      </a:solidFill>
                      <a:latin typeface="+mj-lt"/>
                    </a:rPr>
                    <a:t>g</a:t>
                  </a:r>
                  <a:endParaRPr lang="en-US" sz="1200" b="1">
                    <a:latin typeface="+mj-lt"/>
                  </a:endParaRPr>
                </a:p>
              </p:txBody>
            </p:sp>
            <p:sp>
              <p:nvSpPr>
                <p:cNvPr id="265" name="Freeform 264"/>
                <p:cNvSpPr>
                  <a:spLocks/>
                </p:cNvSpPr>
                <p:nvPr/>
              </p:nvSpPr>
              <p:spPr bwMode="auto">
                <a:xfrm>
                  <a:off x="3783" y="3050"/>
                  <a:ext cx="109" cy="285"/>
                </a:xfrm>
                <a:custGeom>
                  <a:avLst/>
                  <a:gdLst>
                    <a:gd name="T0" fmla="*/ 0 w 109"/>
                    <a:gd name="T1" fmla="*/ 0 h 285"/>
                    <a:gd name="T2" fmla="*/ 0 w 109"/>
                    <a:gd name="T3" fmla="*/ 117 h 285"/>
                    <a:gd name="T4" fmla="*/ 35 w 109"/>
                    <a:gd name="T5" fmla="*/ 144 h 285"/>
                    <a:gd name="T6" fmla="*/ 0 w 109"/>
                    <a:gd name="T7" fmla="*/ 170 h 285"/>
                    <a:gd name="T8" fmla="*/ 0 w 109"/>
                    <a:gd name="T9" fmla="*/ 285 h 285"/>
                    <a:gd name="T10" fmla="*/ 109 w 109"/>
                    <a:gd name="T11" fmla="*/ 199 h 285"/>
                    <a:gd name="T12" fmla="*/ 109 w 109"/>
                    <a:gd name="T13" fmla="*/ 88 h 285"/>
                    <a:gd name="T14" fmla="*/ 0 w 109"/>
                    <a:gd name="T15" fmla="*/ 2 h 285"/>
                    <a:gd name="T16" fmla="*/ 0 w 109"/>
                    <a:gd name="T17" fmla="*/ 2 h 285"/>
                    <a:gd name="T18" fmla="*/ 0 w 109"/>
                    <a:gd name="T19" fmla="*/ 0 h 285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109"/>
                    <a:gd name="T31" fmla="*/ 0 h 285"/>
                    <a:gd name="T32" fmla="*/ 109 w 109"/>
                    <a:gd name="T33" fmla="*/ 285 h 285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109" h="285">
                      <a:moveTo>
                        <a:pt x="0" y="0"/>
                      </a:moveTo>
                      <a:lnTo>
                        <a:pt x="0" y="117"/>
                      </a:lnTo>
                      <a:lnTo>
                        <a:pt x="35" y="144"/>
                      </a:lnTo>
                      <a:lnTo>
                        <a:pt x="0" y="170"/>
                      </a:lnTo>
                      <a:lnTo>
                        <a:pt x="0" y="285"/>
                      </a:lnTo>
                      <a:lnTo>
                        <a:pt x="109" y="199"/>
                      </a:lnTo>
                      <a:lnTo>
                        <a:pt x="109" y="88"/>
                      </a:lnTo>
                      <a:lnTo>
                        <a:pt x="0" y="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CCCCC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>
                    <a:latin typeface="+mj-lt"/>
                  </a:endParaRPr>
                </a:p>
              </p:txBody>
            </p:sp>
            <p:sp>
              <p:nvSpPr>
                <p:cNvPr id="266" name="Freeform 265"/>
                <p:cNvSpPr>
                  <a:spLocks/>
                </p:cNvSpPr>
                <p:nvPr/>
              </p:nvSpPr>
              <p:spPr bwMode="auto">
                <a:xfrm>
                  <a:off x="4107" y="3123"/>
                  <a:ext cx="144" cy="143"/>
                </a:xfrm>
                <a:custGeom>
                  <a:avLst/>
                  <a:gdLst>
                    <a:gd name="T0" fmla="*/ 144 w 144"/>
                    <a:gd name="T1" fmla="*/ 141 h 143"/>
                    <a:gd name="T2" fmla="*/ 144 w 144"/>
                    <a:gd name="T3" fmla="*/ 0 h 143"/>
                    <a:gd name="T4" fmla="*/ 0 w 144"/>
                    <a:gd name="T5" fmla="*/ 0 h 143"/>
                    <a:gd name="T6" fmla="*/ 0 w 144"/>
                    <a:gd name="T7" fmla="*/ 143 h 143"/>
                    <a:gd name="T8" fmla="*/ 144 w 144"/>
                    <a:gd name="T9" fmla="*/ 143 h 143"/>
                    <a:gd name="T10" fmla="*/ 144 w 144"/>
                    <a:gd name="T11" fmla="*/ 143 h 14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144"/>
                    <a:gd name="T19" fmla="*/ 0 h 143"/>
                    <a:gd name="T20" fmla="*/ 144 w 144"/>
                    <a:gd name="T21" fmla="*/ 143 h 14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144" h="143">
                      <a:moveTo>
                        <a:pt x="144" y="141"/>
                      </a:moveTo>
                      <a:lnTo>
                        <a:pt x="144" y="0"/>
                      </a:lnTo>
                      <a:lnTo>
                        <a:pt x="0" y="0"/>
                      </a:lnTo>
                      <a:lnTo>
                        <a:pt x="0" y="143"/>
                      </a:lnTo>
                      <a:lnTo>
                        <a:pt x="144" y="143"/>
                      </a:ln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>
                    <a:latin typeface="+mj-lt"/>
                  </a:endParaRPr>
                </a:p>
              </p:txBody>
            </p:sp>
            <p:sp>
              <p:nvSpPr>
                <p:cNvPr id="267" name="Rectangle 266"/>
                <p:cNvSpPr>
                  <a:spLocks noChangeArrowheads="1"/>
                </p:cNvSpPr>
                <p:nvPr/>
              </p:nvSpPr>
              <p:spPr bwMode="auto">
                <a:xfrm>
                  <a:off x="4130" y="3153"/>
                  <a:ext cx="43" cy="9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US" sz="800">
                      <a:solidFill>
                        <a:srgbClr val="000000"/>
                      </a:solidFill>
                      <a:latin typeface="+mj-lt"/>
                    </a:rPr>
                    <a:t>D</a:t>
                  </a:r>
                  <a:endParaRPr lang="en-US" sz="1200" b="1">
                    <a:latin typeface="+mj-lt"/>
                  </a:endParaRPr>
                </a:p>
              </p:txBody>
            </p:sp>
            <p:sp>
              <p:nvSpPr>
                <p:cNvPr id="268" name="Rectangle 267"/>
                <p:cNvSpPr>
                  <a:spLocks noChangeArrowheads="1"/>
                </p:cNvSpPr>
                <p:nvPr/>
              </p:nvSpPr>
              <p:spPr bwMode="auto">
                <a:xfrm>
                  <a:off x="4178" y="3153"/>
                  <a:ext cx="60" cy="9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US" sz="800">
                      <a:solidFill>
                        <a:srgbClr val="000000"/>
                      </a:solidFill>
                      <a:latin typeface="+mj-lt"/>
                    </a:rPr>
                    <a:t>M</a:t>
                  </a:r>
                  <a:endParaRPr lang="en-US" sz="1200" b="1">
                    <a:latin typeface="+mj-lt"/>
                  </a:endParaRPr>
                </a:p>
              </p:txBody>
            </p:sp>
            <p:sp>
              <p:nvSpPr>
                <p:cNvPr id="269" name="Rectangle 268"/>
                <p:cNvSpPr>
                  <a:spLocks noChangeArrowheads="1"/>
                </p:cNvSpPr>
                <p:nvPr/>
              </p:nvSpPr>
              <p:spPr bwMode="auto">
                <a:xfrm>
                  <a:off x="4467" y="3153"/>
                  <a:ext cx="38" cy="9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US" sz="800">
                      <a:solidFill>
                        <a:srgbClr val="000000"/>
                      </a:solidFill>
                      <a:latin typeface="+mj-lt"/>
                    </a:rPr>
                    <a:t>R</a:t>
                  </a:r>
                  <a:endParaRPr lang="en-US" sz="1200" b="1">
                    <a:latin typeface="+mj-lt"/>
                  </a:endParaRPr>
                </a:p>
              </p:txBody>
            </p:sp>
            <p:sp>
              <p:nvSpPr>
                <p:cNvPr id="270" name="Rectangle 269"/>
                <p:cNvSpPr>
                  <a:spLocks noChangeArrowheads="1"/>
                </p:cNvSpPr>
                <p:nvPr/>
              </p:nvSpPr>
              <p:spPr bwMode="auto">
                <a:xfrm>
                  <a:off x="4513" y="3153"/>
                  <a:ext cx="35" cy="9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US" sz="800">
                      <a:solidFill>
                        <a:srgbClr val="000000"/>
                      </a:solidFill>
                      <a:latin typeface="+mj-lt"/>
                    </a:rPr>
                    <a:t>e</a:t>
                  </a:r>
                  <a:endParaRPr lang="en-US" sz="1200" b="1">
                    <a:latin typeface="+mj-lt"/>
                  </a:endParaRPr>
                </a:p>
              </p:txBody>
            </p:sp>
            <p:sp>
              <p:nvSpPr>
                <p:cNvPr id="271" name="Rectangle 270"/>
                <p:cNvSpPr>
                  <a:spLocks noChangeArrowheads="1"/>
                </p:cNvSpPr>
                <p:nvPr/>
              </p:nvSpPr>
              <p:spPr bwMode="auto">
                <a:xfrm>
                  <a:off x="4548" y="3153"/>
                  <a:ext cx="33" cy="9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US" sz="800">
                      <a:solidFill>
                        <a:srgbClr val="000000"/>
                      </a:solidFill>
                      <a:latin typeface="+mj-lt"/>
                    </a:rPr>
                    <a:t>g</a:t>
                  </a:r>
                  <a:endParaRPr lang="en-US" sz="1200" b="1">
                    <a:latin typeface="+mj-lt"/>
                  </a:endParaRPr>
                </a:p>
              </p:txBody>
            </p:sp>
            <p:sp>
              <p:nvSpPr>
                <p:cNvPr id="272" name="Line 271"/>
                <p:cNvSpPr>
                  <a:spLocks noChangeShapeType="1"/>
                </p:cNvSpPr>
                <p:nvPr/>
              </p:nvSpPr>
              <p:spPr bwMode="auto">
                <a:xfrm>
                  <a:off x="3225" y="3194"/>
                  <a:ext cx="200" cy="1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>
                    <a:latin typeface="+mj-lt"/>
                  </a:endParaRPr>
                </a:p>
              </p:txBody>
            </p:sp>
            <p:sp>
              <p:nvSpPr>
                <p:cNvPr id="273" name="Line 272"/>
                <p:cNvSpPr>
                  <a:spLocks noChangeShapeType="1"/>
                </p:cNvSpPr>
                <p:nvPr/>
              </p:nvSpPr>
              <p:spPr bwMode="auto">
                <a:xfrm>
                  <a:off x="3890" y="3194"/>
                  <a:ext cx="217" cy="1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>
                    <a:latin typeface="+mj-lt"/>
                  </a:endParaRPr>
                </a:p>
              </p:txBody>
            </p:sp>
            <p:sp>
              <p:nvSpPr>
                <p:cNvPr id="274" name="Line 273"/>
                <p:cNvSpPr>
                  <a:spLocks noChangeShapeType="1"/>
                </p:cNvSpPr>
                <p:nvPr/>
              </p:nvSpPr>
              <p:spPr bwMode="auto">
                <a:xfrm>
                  <a:off x="4249" y="3194"/>
                  <a:ext cx="199" cy="1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>
                    <a:latin typeface="+mj-lt"/>
                  </a:endParaRPr>
                </a:p>
              </p:txBody>
            </p:sp>
            <p:sp>
              <p:nvSpPr>
                <p:cNvPr id="275" name="Freeform 274"/>
                <p:cNvSpPr>
                  <a:spLocks/>
                </p:cNvSpPr>
                <p:nvPr/>
              </p:nvSpPr>
              <p:spPr bwMode="auto">
                <a:xfrm>
                  <a:off x="3388" y="3157"/>
                  <a:ext cx="37" cy="37"/>
                </a:xfrm>
                <a:custGeom>
                  <a:avLst/>
                  <a:gdLst>
                    <a:gd name="T0" fmla="*/ 0 w 37"/>
                    <a:gd name="T1" fmla="*/ 37 h 37"/>
                    <a:gd name="T2" fmla="*/ 0 w 37"/>
                    <a:gd name="T3" fmla="*/ 0 h 37"/>
                    <a:gd name="T4" fmla="*/ 37 w 37"/>
                    <a:gd name="T5" fmla="*/ 0 h 37"/>
                    <a:gd name="T6" fmla="*/ 0 60000 65536"/>
                    <a:gd name="T7" fmla="*/ 0 60000 65536"/>
                    <a:gd name="T8" fmla="*/ 0 60000 65536"/>
                    <a:gd name="T9" fmla="*/ 0 w 37"/>
                    <a:gd name="T10" fmla="*/ 0 h 37"/>
                    <a:gd name="T11" fmla="*/ 37 w 37"/>
                    <a:gd name="T12" fmla="*/ 37 h 3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7" h="37">
                      <a:moveTo>
                        <a:pt x="0" y="37"/>
                      </a:moveTo>
                      <a:lnTo>
                        <a:pt x="0" y="0"/>
                      </a:lnTo>
                      <a:lnTo>
                        <a:pt x="37" y="0"/>
                      </a:ln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>
                    <a:latin typeface="+mj-lt"/>
                  </a:endParaRPr>
                </a:p>
              </p:txBody>
            </p:sp>
            <p:sp>
              <p:nvSpPr>
                <p:cNvPr id="276" name="Freeform 275"/>
                <p:cNvSpPr>
                  <a:spLocks/>
                </p:cNvSpPr>
                <p:nvPr/>
              </p:nvSpPr>
              <p:spPr bwMode="auto">
                <a:xfrm>
                  <a:off x="4071" y="3194"/>
                  <a:ext cx="253" cy="107"/>
                </a:xfrm>
                <a:custGeom>
                  <a:avLst/>
                  <a:gdLst>
                    <a:gd name="T0" fmla="*/ 0 w 253"/>
                    <a:gd name="T1" fmla="*/ 0 h 107"/>
                    <a:gd name="T2" fmla="*/ 0 w 253"/>
                    <a:gd name="T3" fmla="*/ 107 h 107"/>
                    <a:gd name="T4" fmla="*/ 216 w 253"/>
                    <a:gd name="T5" fmla="*/ 107 h 107"/>
                    <a:gd name="T6" fmla="*/ 216 w 253"/>
                    <a:gd name="T7" fmla="*/ 36 h 107"/>
                    <a:gd name="T8" fmla="*/ 253 w 253"/>
                    <a:gd name="T9" fmla="*/ 36 h 10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3"/>
                    <a:gd name="T16" fmla="*/ 0 h 107"/>
                    <a:gd name="T17" fmla="*/ 253 w 253"/>
                    <a:gd name="T18" fmla="*/ 107 h 10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3" h="107">
                      <a:moveTo>
                        <a:pt x="0" y="0"/>
                      </a:moveTo>
                      <a:lnTo>
                        <a:pt x="0" y="107"/>
                      </a:lnTo>
                      <a:lnTo>
                        <a:pt x="216" y="107"/>
                      </a:lnTo>
                      <a:lnTo>
                        <a:pt x="216" y="36"/>
                      </a:lnTo>
                      <a:lnTo>
                        <a:pt x="253" y="36"/>
                      </a:ln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>
                    <a:latin typeface="+mj-lt"/>
                  </a:endParaRPr>
                </a:p>
              </p:txBody>
            </p:sp>
            <p:sp>
              <p:nvSpPr>
                <p:cNvPr id="277" name="Freeform 276"/>
                <p:cNvSpPr>
                  <a:spLocks/>
                </p:cNvSpPr>
                <p:nvPr/>
              </p:nvSpPr>
              <p:spPr bwMode="auto">
                <a:xfrm>
                  <a:off x="3298" y="3050"/>
                  <a:ext cx="54" cy="287"/>
                </a:xfrm>
                <a:custGeom>
                  <a:avLst/>
                  <a:gdLst>
                    <a:gd name="T0" fmla="*/ 54 w 54"/>
                    <a:gd name="T1" fmla="*/ 287 h 287"/>
                    <a:gd name="T2" fmla="*/ 54 w 54"/>
                    <a:gd name="T3" fmla="*/ 0 h 287"/>
                    <a:gd name="T4" fmla="*/ 0 w 54"/>
                    <a:gd name="T5" fmla="*/ 0 h 287"/>
                    <a:gd name="T6" fmla="*/ 0 w 54"/>
                    <a:gd name="T7" fmla="*/ 287 h 287"/>
                    <a:gd name="T8" fmla="*/ 54 w 54"/>
                    <a:gd name="T9" fmla="*/ 287 h 287"/>
                    <a:gd name="T10" fmla="*/ 54 w 54"/>
                    <a:gd name="T11" fmla="*/ 287 h 287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54"/>
                    <a:gd name="T19" fmla="*/ 0 h 287"/>
                    <a:gd name="T20" fmla="*/ 54 w 54"/>
                    <a:gd name="T21" fmla="*/ 287 h 287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54" h="287">
                      <a:moveTo>
                        <a:pt x="54" y="287"/>
                      </a:moveTo>
                      <a:lnTo>
                        <a:pt x="54" y="0"/>
                      </a:lnTo>
                      <a:lnTo>
                        <a:pt x="0" y="0"/>
                      </a:lnTo>
                      <a:lnTo>
                        <a:pt x="0" y="287"/>
                      </a:lnTo>
                      <a:lnTo>
                        <a:pt x="54" y="287"/>
                      </a:lnTo>
                      <a:close/>
                    </a:path>
                  </a:pathLst>
                </a:custGeom>
                <a:solidFill>
                  <a:srgbClr val="CCCCC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>
                    <a:latin typeface="+mj-lt"/>
                  </a:endParaRPr>
                </a:p>
              </p:txBody>
            </p:sp>
            <p:sp>
              <p:nvSpPr>
                <p:cNvPr id="278" name="Freeform 277"/>
                <p:cNvSpPr>
                  <a:spLocks/>
                </p:cNvSpPr>
                <p:nvPr/>
              </p:nvSpPr>
              <p:spPr bwMode="auto">
                <a:xfrm>
                  <a:off x="3298" y="3050"/>
                  <a:ext cx="54" cy="287"/>
                </a:xfrm>
                <a:custGeom>
                  <a:avLst/>
                  <a:gdLst>
                    <a:gd name="T0" fmla="*/ 54 w 54"/>
                    <a:gd name="T1" fmla="*/ 287 h 287"/>
                    <a:gd name="T2" fmla="*/ 54 w 54"/>
                    <a:gd name="T3" fmla="*/ 0 h 287"/>
                    <a:gd name="T4" fmla="*/ 0 w 54"/>
                    <a:gd name="T5" fmla="*/ 0 h 287"/>
                    <a:gd name="T6" fmla="*/ 0 w 54"/>
                    <a:gd name="T7" fmla="*/ 287 h 287"/>
                    <a:gd name="T8" fmla="*/ 54 w 54"/>
                    <a:gd name="T9" fmla="*/ 287 h 287"/>
                    <a:gd name="T10" fmla="*/ 54 w 54"/>
                    <a:gd name="T11" fmla="*/ 287 h 287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54"/>
                    <a:gd name="T19" fmla="*/ 0 h 287"/>
                    <a:gd name="T20" fmla="*/ 54 w 54"/>
                    <a:gd name="T21" fmla="*/ 287 h 287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54" h="287">
                      <a:moveTo>
                        <a:pt x="54" y="287"/>
                      </a:moveTo>
                      <a:lnTo>
                        <a:pt x="54" y="0"/>
                      </a:lnTo>
                      <a:lnTo>
                        <a:pt x="0" y="0"/>
                      </a:lnTo>
                      <a:lnTo>
                        <a:pt x="0" y="287"/>
                      </a:lnTo>
                      <a:lnTo>
                        <a:pt x="54" y="287"/>
                      </a:ln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>
                    <a:latin typeface="+mj-lt"/>
                  </a:endParaRPr>
                </a:p>
              </p:txBody>
            </p:sp>
            <p:sp>
              <p:nvSpPr>
                <p:cNvPr id="279" name="Freeform 278"/>
                <p:cNvSpPr>
                  <a:spLocks/>
                </p:cNvSpPr>
                <p:nvPr/>
              </p:nvSpPr>
              <p:spPr bwMode="auto">
                <a:xfrm>
                  <a:off x="3639" y="3050"/>
                  <a:ext cx="54" cy="287"/>
                </a:xfrm>
                <a:custGeom>
                  <a:avLst/>
                  <a:gdLst>
                    <a:gd name="T0" fmla="*/ 54 w 54"/>
                    <a:gd name="T1" fmla="*/ 287 h 287"/>
                    <a:gd name="T2" fmla="*/ 54 w 54"/>
                    <a:gd name="T3" fmla="*/ 0 h 287"/>
                    <a:gd name="T4" fmla="*/ 0 w 54"/>
                    <a:gd name="T5" fmla="*/ 0 h 287"/>
                    <a:gd name="T6" fmla="*/ 0 w 54"/>
                    <a:gd name="T7" fmla="*/ 287 h 287"/>
                    <a:gd name="T8" fmla="*/ 54 w 54"/>
                    <a:gd name="T9" fmla="*/ 287 h 287"/>
                    <a:gd name="T10" fmla="*/ 54 w 54"/>
                    <a:gd name="T11" fmla="*/ 287 h 287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54"/>
                    <a:gd name="T19" fmla="*/ 0 h 287"/>
                    <a:gd name="T20" fmla="*/ 54 w 54"/>
                    <a:gd name="T21" fmla="*/ 287 h 287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54" h="287">
                      <a:moveTo>
                        <a:pt x="54" y="287"/>
                      </a:moveTo>
                      <a:lnTo>
                        <a:pt x="54" y="0"/>
                      </a:lnTo>
                      <a:lnTo>
                        <a:pt x="0" y="0"/>
                      </a:lnTo>
                      <a:lnTo>
                        <a:pt x="0" y="287"/>
                      </a:lnTo>
                      <a:lnTo>
                        <a:pt x="54" y="287"/>
                      </a:lnTo>
                      <a:close/>
                    </a:path>
                  </a:pathLst>
                </a:custGeom>
                <a:solidFill>
                  <a:srgbClr val="CCCCC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>
                    <a:latin typeface="+mj-lt"/>
                  </a:endParaRPr>
                </a:p>
              </p:txBody>
            </p:sp>
            <p:sp>
              <p:nvSpPr>
                <p:cNvPr id="280" name="Freeform 279"/>
                <p:cNvSpPr>
                  <a:spLocks/>
                </p:cNvSpPr>
                <p:nvPr/>
              </p:nvSpPr>
              <p:spPr bwMode="auto">
                <a:xfrm>
                  <a:off x="3639" y="3050"/>
                  <a:ext cx="54" cy="287"/>
                </a:xfrm>
                <a:custGeom>
                  <a:avLst/>
                  <a:gdLst>
                    <a:gd name="T0" fmla="*/ 54 w 54"/>
                    <a:gd name="T1" fmla="*/ 287 h 287"/>
                    <a:gd name="T2" fmla="*/ 54 w 54"/>
                    <a:gd name="T3" fmla="*/ 0 h 287"/>
                    <a:gd name="T4" fmla="*/ 0 w 54"/>
                    <a:gd name="T5" fmla="*/ 0 h 287"/>
                    <a:gd name="T6" fmla="*/ 0 w 54"/>
                    <a:gd name="T7" fmla="*/ 287 h 287"/>
                    <a:gd name="T8" fmla="*/ 54 w 54"/>
                    <a:gd name="T9" fmla="*/ 287 h 287"/>
                    <a:gd name="T10" fmla="*/ 54 w 54"/>
                    <a:gd name="T11" fmla="*/ 287 h 287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54"/>
                    <a:gd name="T19" fmla="*/ 0 h 287"/>
                    <a:gd name="T20" fmla="*/ 54 w 54"/>
                    <a:gd name="T21" fmla="*/ 287 h 287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54" h="287">
                      <a:moveTo>
                        <a:pt x="54" y="287"/>
                      </a:moveTo>
                      <a:lnTo>
                        <a:pt x="54" y="0"/>
                      </a:lnTo>
                      <a:lnTo>
                        <a:pt x="0" y="0"/>
                      </a:lnTo>
                      <a:lnTo>
                        <a:pt x="0" y="287"/>
                      </a:lnTo>
                      <a:lnTo>
                        <a:pt x="54" y="287"/>
                      </a:ln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>
                    <a:latin typeface="+mj-lt"/>
                  </a:endParaRPr>
                </a:p>
              </p:txBody>
            </p:sp>
            <p:sp>
              <p:nvSpPr>
                <p:cNvPr id="281" name="Freeform 280"/>
                <p:cNvSpPr>
                  <a:spLocks/>
                </p:cNvSpPr>
                <p:nvPr/>
              </p:nvSpPr>
              <p:spPr bwMode="auto">
                <a:xfrm>
                  <a:off x="3981" y="3050"/>
                  <a:ext cx="55" cy="287"/>
                </a:xfrm>
                <a:custGeom>
                  <a:avLst/>
                  <a:gdLst>
                    <a:gd name="T0" fmla="*/ 53 w 55"/>
                    <a:gd name="T1" fmla="*/ 287 h 287"/>
                    <a:gd name="T2" fmla="*/ 55 w 55"/>
                    <a:gd name="T3" fmla="*/ 0 h 287"/>
                    <a:gd name="T4" fmla="*/ 0 w 55"/>
                    <a:gd name="T5" fmla="*/ 0 h 287"/>
                    <a:gd name="T6" fmla="*/ 0 w 55"/>
                    <a:gd name="T7" fmla="*/ 287 h 287"/>
                    <a:gd name="T8" fmla="*/ 55 w 55"/>
                    <a:gd name="T9" fmla="*/ 287 h 287"/>
                    <a:gd name="T10" fmla="*/ 55 w 55"/>
                    <a:gd name="T11" fmla="*/ 287 h 287"/>
                    <a:gd name="T12" fmla="*/ 53 w 55"/>
                    <a:gd name="T13" fmla="*/ 287 h 28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55"/>
                    <a:gd name="T22" fmla="*/ 0 h 287"/>
                    <a:gd name="T23" fmla="*/ 55 w 55"/>
                    <a:gd name="T24" fmla="*/ 287 h 28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55" h="287">
                      <a:moveTo>
                        <a:pt x="53" y="287"/>
                      </a:moveTo>
                      <a:lnTo>
                        <a:pt x="55" y="0"/>
                      </a:lnTo>
                      <a:lnTo>
                        <a:pt x="0" y="0"/>
                      </a:lnTo>
                      <a:lnTo>
                        <a:pt x="0" y="287"/>
                      </a:lnTo>
                      <a:lnTo>
                        <a:pt x="55" y="287"/>
                      </a:lnTo>
                      <a:lnTo>
                        <a:pt x="53" y="287"/>
                      </a:lnTo>
                      <a:close/>
                    </a:path>
                  </a:pathLst>
                </a:custGeom>
                <a:solidFill>
                  <a:srgbClr val="CCCCC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>
                    <a:latin typeface="+mj-lt"/>
                  </a:endParaRPr>
                </a:p>
              </p:txBody>
            </p:sp>
            <p:sp>
              <p:nvSpPr>
                <p:cNvPr id="282" name="Freeform 281"/>
                <p:cNvSpPr>
                  <a:spLocks/>
                </p:cNvSpPr>
                <p:nvPr/>
              </p:nvSpPr>
              <p:spPr bwMode="auto">
                <a:xfrm>
                  <a:off x="4324" y="3050"/>
                  <a:ext cx="53" cy="287"/>
                </a:xfrm>
                <a:custGeom>
                  <a:avLst/>
                  <a:gdLst>
                    <a:gd name="T0" fmla="*/ 51 w 53"/>
                    <a:gd name="T1" fmla="*/ 287 h 287"/>
                    <a:gd name="T2" fmla="*/ 53 w 53"/>
                    <a:gd name="T3" fmla="*/ 0 h 287"/>
                    <a:gd name="T4" fmla="*/ 0 w 53"/>
                    <a:gd name="T5" fmla="*/ 0 h 287"/>
                    <a:gd name="T6" fmla="*/ 0 w 53"/>
                    <a:gd name="T7" fmla="*/ 287 h 287"/>
                    <a:gd name="T8" fmla="*/ 53 w 53"/>
                    <a:gd name="T9" fmla="*/ 287 h 287"/>
                    <a:gd name="T10" fmla="*/ 53 w 53"/>
                    <a:gd name="T11" fmla="*/ 287 h 287"/>
                    <a:gd name="T12" fmla="*/ 51 w 53"/>
                    <a:gd name="T13" fmla="*/ 287 h 28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53"/>
                    <a:gd name="T22" fmla="*/ 0 h 287"/>
                    <a:gd name="T23" fmla="*/ 53 w 53"/>
                    <a:gd name="T24" fmla="*/ 287 h 28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53" h="287">
                      <a:moveTo>
                        <a:pt x="51" y="287"/>
                      </a:moveTo>
                      <a:lnTo>
                        <a:pt x="53" y="0"/>
                      </a:lnTo>
                      <a:lnTo>
                        <a:pt x="0" y="0"/>
                      </a:lnTo>
                      <a:lnTo>
                        <a:pt x="0" y="287"/>
                      </a:lnTo>
                      <a:lnTo>
                        <a:pt x="53" y="287"/>
                      </a:lnTo>
                      <a:lnTo>
                        <a:pt x="51" y="287"/>
                      </a:lnTo>
                      <a:close/>
                    </a:path>
                  </a:pathLst>
                </a:custGeom>
                <a:solidFill>
                  <a:srgbClr val="CCCCC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>
                    <a:latin typeface="+mj-lt"/>
                  </a:endParaRPr>
                </a:p>
              </p:txBody>
            </p:sp>
            <p:sp>
              <p:nvSpPr>
                <p:cNvPr id="283" name="Freeform 282"/>
                <p:cNvSpPr>
                  <a:spLocks/>
                </p:cNvSpPr>
                <p:nvPr/>
              </p:nvSpPr>
              <p:spPr bwMode="auto">
                <a:xfrm>
                  <a:off x="4324" y="3050"/>
                  <a:ext cx="53" cy="287"/>
                </a:xfrm>
                <a:custGeom>
                  <a:avLst/>
                  <a:gdLst>
                    <a:gd name="T0" fmla="*/ 51 w 53"/>
                    <a:gd name="T1" fmla="*/ 287 h 287"/>
                    <a:gd name="T2" fmla="*/ 53 w 53"/>
                    <a:gd name="T3" fmla="*/ 0 h 287"/>
                    <a:gd name="T4" fmla="*/ 0 w 53"/>
                    <a:gd name="T5" fmla="*/ 0 h 287"/>
                    <a:gd name="T6" fmla="*/ 0 w 53"/>
                    <a:gd name="T7" fmla="*/ 287 h 287"/>
                    <a:gd name="T8" fmla="*/ 53 w 53"/>
                    <a:gd name="T9" fmla="*/ 287 h 287"/>
                    <a:gd name="T10" fmla="*/ 53 w 53"/>
                    <a:gd name="T11" fmla="*/ 287 h 287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53"/>
                    <a:gd name="T19" fmla="*/ 0 h 287"/>
                    <a:gd name="T20" fmla="*/ 53 w 53"/>
                    <a:gd name="T21" fmla="*/ 287 h 287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53" h="287">
                      <a:moveTo>
                        <a:pt x="51" y="287"/>
                      </a:moveTo>
                      <a:lnTo>
                        <a:pt x="53" y="0"/>
                      </a:lnTo>
                      <a:lnTo>
                        <a:pt x="0" y="0"/>
                      </a:lnTo>
                      <a:lnTo>
                        <a:pt x="0" y="287"/>
                      </a:lnTo>
                      <a:lnTo>
                        <a:pt x="53" y="287"/>
                      </a:ln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>
                    <a:latin typeface="+mj-lt"/>
                  </a:endParaRPr>
                </a:p>
              </p:txBody>
            </p:sp>
            <p:sp>
              <p:nvSpPr>
                <p:cNvPr id="284" name="Freeform 283"/>
                <p:cNvSpPr>
                  <a:spLocks/>
                </p:cNvSpPr>
                <p:nvPr/>
              </p:nvSpPr>
              <p:spPr bwMode="auto">
                <a:xfrm>
                  <a:off x="4789" y="3444"/>
                  <a:ext cx="73" cy="144"/>
                </a:xfrm>
                <a:custGeom>
                  <a:avLst/>
                  <a:gdLst>
                    <a:gd name="T0" fmla="*/ 71 w 73"/>
                    <a:gd name="T1" fmla="*/ 144 h 144"/>
                    <a:gd name="T2" fmla="*/ 0 w 73"/>
                    <a:gd name="T3" fmla="*/ 144 h 144"/>
                    <a:gd name="T4" fmla="*/ 0 w 73"/>
                    <a:gd name="T5" fmla="*/ 0 h 144"/>
                    <a:gd name="T6" fmla="*/ 73 w 73"/>
                    <a:gd name="T7" fmla="*/ 0 h 144"/>
                    <a:gd name="T8" fmla="*/ 71 w 73"/>
                    <a:gd name="T9" fmla="*/ 144 h 14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3"/>
                    <a:gd name="T16" fmla="*/ 0 h 144"/>
                    <a:gd name="T17" fmla="*/ 73 w 73"/>
                    <a:gd name="T18" fmla="*/ 144 h 14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3" h="144">
                      <a:moveTo>
                        <a:pt x="71" y="144"/>
                      </a:moveTo>
                      <a:lnTo>
                        <a:pt x="0" y="144"/>
                      </a:lnTo>
                      <a:lnTo>
                        <a:pt x="0" y="0"/>
                      </a:lnTo>
                      <a:lnTo>
                        <a:pt x="73" y="0"/>
                      </a:lnTo>
                      <a:lnTo>
                        <a:pt x="71" y="144"/>
                      </a:lnTo>
                      <a:close/>
                    </a:path>
                  </a:pathLst>
                </a:custGeom>
                <a:solidFill>
                  <a:srgbClr val="CCCCC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>
                    <a:latin typeface="+mj-lt"/>
                  </a:endParaRPr>
                </a:p>
              </p:txBody>
            </p:sp>
            <p:sp>
              <p:nvSpPr>
                <p:cNvPr id="285" name="Freeform 284"/>
                <p:cNvSpPr>
                  <a:spLocks/>
                </p:cNvSpPr>
                <p:nvPr/>
              </p:nvSpPr>
              <p:spPr bwMode="auto">
                <a:xfrm>
                  <a:off x="4789" y="3444"/>
                  <a:ext cx="73" cy="144"/>
                </a:xfrm>
                <a:custGeom>
                  <a:avLst/>
                  <a:gdLst>
                    <a:gd name="T0" fmla="*/ 71 w 73"/>
                    <a:gd name="T1" fmla="*/ 144 h 144"/>
                    <a:gd name="T2" fmla="*/ 0 w 73"/>
                    <a:gd name="T3" fmla="*/ 144 h 144"/>
                    <a:gd name="T4" fmla="*/ 0 w 73"/>
                    <a:gd name="T5" fmla="*/ 0 h 144"/>
                    <a:gd name="T6" fmla="*/ 73 w 73"/>
                    <a:gd name="T7" fmla="*/ 0 h 144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73"/>
                    <a:gd name="T13" fmla="*/ 0 h 144"/>
                    <a:gd name="T14" fmla="*/ 73 w 73"/>
                    <a:gd name="T15" fmla="*/ 144 h 144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73" h="144">
                      <a:moveTo>
                        <a:pt x="71" y="144"/>
                      </a:moveTo>
                      <a:lnTo>
                        <a:pt x="0" y="144"/>
                      </a:lnTo>
                      <a:lnTo>
                        <a:pt x="0" y="0"/>
                      </a:lnTo>
                      <a:lnTo>
                        <a:pt x="73" y="0"/>
                      </a:ln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>
                    <a:latin typeface="+mj-lt"/>
                  </a:endParaRPr>
                </a:p>
              </p:txBody>
            </p:sp>
            <p:sp>
              <p:nvSpPr>
                <p:cNvPr id="286" name="Line 285"/>
                <p:cNvSpPr>
                  <a:spLocks noChangeShapeType="1"/>
                </p:cNvSpPr>
                <p:nvPr/>
              </p:nvSpPr>
              <p:spPr bwMode="auto">
                <a:xfrm flipV="1">
                  <a:off x="4933" y="3442"/>
                  <a:ext cx="1" cy="15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>
                    <a:latin typeface="+mj-lt"/>
                  </a:endParaRPr>
                </a:p>
              </p:txBody>
            </p:sp>
            <p:sp>
              <p:nvSpPr>
                <p:cNvPr id="287" name="Line 286"/>
                <p:cNvSpPr>
                  <a:spLocks noChangeShapeType="1"/>
                </p:cNvSpPr>
                <p:nvPr/>
              </p:nvSpPr>
              <p:spPr bwMode="auto">
                <a:xfrm flipH="1">
                  <a:off x="4858" y="3444"/>
                  <a:ext cx="75" cy="1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>
                    <a:latin typeface="+mj-lt"/>
                  </a:endParaRPr>
                </a:p>
              </p:txBody>
            </p:sp>
            <p:sp>
              <p:nvSpPr>
                <p:cNvPr id="288" name="Line 287"/>
                <p:cNvSpPr>
                  <a:spLocks noChangeShapeType="1"/>
                </p:cNvSpPr>
                <p:nvPr/>
              </p:nvSpPr>
              <p:spPr bwMode="auto">
                <a:xfrm flipH="1">
                  <a:off x="4858" y="3588"/>
                  <a:ext cx="75" cy="1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>
                    <a:latin typeface="+mj-lt"/>
                  </a:endParaRPr>
                </a:p>
              </p:txBody>
            </p:sp>
            <p:sp>
              <p:nvSpPr>
                <p:cNvPr id="289" name="Rectangle 288"/>
                <p:cNvSpPr>
                  <a:spLocks noChangeArrowheads="1"/>
                </p:cNvSpPr>
                <p:nvPr/>
              </p:nvSpPr>
              <p:spPr bwMode="auto">
                <a:xfrm>
                  <a:off x="3496" y="3444"/>
                  <a:ext cx="72" cy="144"/>
                </a:xfrm>
                <a:prstGeom prst="rect">
                  <a:avLst/>
                </a:prstGeom>
                <a:solidFill>
                  <a:srgbClr val="CCCCCC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>
                    <a:latin typeface="+mj-lt"/>
                  </a:endParaRPr>
                </a:p>
              </p:txBody>
            </p:sp>
            <p:sp>
              <p:nvSpPr>
                <p:cNvPr id="290" name="Rectangle 289"/>
                <p:cNvSpPr>
                  <a:spLocks noChangeArrowheads="1"/>
                </p:cNvSpPr>
                <p:nvPr/>
              </p:nvSpPr>
              <p:spPr bwMode="auto">
                <a:xfrm>
                  <a:off x="3496" y="3444"/>
                  <a:ext cx="72" cy="144"/>
                </a:xfrm>
                <a:prstGeom prst="rect">
                  <a:avLst/>
                </a:prstGeom>
                <a:noFill/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>
                    <a:latin typeface="+mj-lt"/>
                  </a:endParaRPr>
                </a:p>
              </p:txBody>
            </p:sp>
            <p:sp>
              <p:nvSpPr>
                <p:cNvPr id="291" name="Rectangle 290"/>
                <p:cNvSpPr>
                  <a:spLocks noChangeArrowheads="1"/>
                </p:cNvSpPr>
                <p:nvPr/>
              </p:nvSpPr>
              <p:spPr bwMode="auto">
                <a:xfrm>
                  <a:off x="3425" y="3444"/>
                  <a:ext cx="71" cy="144"/>
                </a:xfrm>
                <a:prstGeom prst="rect">
                  <a:avLst/>
                </a:prstGeom>
                <a:noFill/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>
                    <a:latin typeface="+mj-lt"/>
                  </a:endParaRPr>
                </a:p>
              </p:txBody>
            </p:sp>
            <p:sp>
              <p:nvSpPr>
                <p:cNvPr id="292" name="Rectangle 291"/>
                <p:cNvSpPr>
                  <a:spLocks noChangeArrowheads="1"/>
                </p:cNvSpPr>
                <p:nvPr/>
              </p:nvSpPr>
              <p:spPr bwMode="auto">
                <a:xfrm>
                  <a:off x="3461" y="3474"/>
                  <a:ext cx="17" cy="9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US" sz="800">
                      <a:solidFill>
                        <a:srgbClr val="000000"/>
                      </a:solidFill>
                      <a:latin typeface="+mj-lt"/>
                    </a:rPr>
                    <a:t>I</a:t>
                  </a:r>
                  <a:endParaRPr lang="en-US" sz="1200" b="1">
                    <a:latin typeface="+mj-lt"/>
                  </a:endParaRPr>
                </a:p>
              </p:txBody>
            </p:sp>
            <p:sp>
              <p:nvSpPr>
                <p:cNvPr id="293" name="Rectangle 292"/>
                <p:cNvSpPr>
                  <a:spLocks noChangeArrowheads="1"/>
                </p:cNvSpPr>
                <p:nvPr/>
              </p:nvSpPr>
              <p:spPr bwMode="auto">
                <a:xfrm>
                  <a:off x="3478" y="3474"/>
                  <a:ext cx="60" cy="9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US" sz="800">
                      <a:solidFill>
                        <a:srgbClr val="000000"/>
                      </a:solidFill>
                      <a:latin typeface="+mj-lt"/>
                    </a:rPr>
                    <a:t>M</a:t>
                  </a:r>
                  <a:endParaRPr lang="en-US" sz="1200" b="1">
                    <a:latin typeface="+mj-lt"/>
                  </a:endParaRPr>
                </a:p>
              </p:txBody>
            </p:sp>
            <p:sp>
              <p:nvSpPr>
                <p:cNvPr id="294" name="Rectangle 293"/>
                <p:cNvSpPr>
                  <a:spLocks noChangeArrowheads="1"/>
                </p:cNvSpPr>
                <p:nvPr/>
              </p:nvSpPr>
              <p:spPr bwMode="auto">
                <a:xfrm>
                  <a:off x="3837" y="3444"/>
                  <a:ext cx="73" cy="144"/>
                </a:xfrm>
                <a:prstGeom prst="rect">
                  <a:avLst/>
                </a:prstGeom>
                <a:solidFill>
                  <a:srgbClr val="FBE2C9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>
                    <a:latin typeface="+mj-lt"/>
                  </a:endParaRPr>
                </a:p>
              </p:txBody>
            </p:sp>
            <p:sp>
              <p:nvSpPr>
                <p:cNvPr id="295" name="Rectangle 294"/>
                <p:cNvSpPr>
                  <a:spLocks noChangeArrowheads="1"/>
                </p:cNvSpPr>
                <p:nvPr/>
              </p:nvSpPr>
              <p:spPr bwMode="auto">
                <a:xfrm>
                  <a:off x="3837" y="3444"/>
                  <a:ext cx="73" cy="144"/>
                </a:xfrm>
                <a:prstGeom prst="rect">
                  <a:avLst/>
                </a:prstGeom>
                <a:noFill/>
                <a:ln w="9525">
                  <a:solidFill>
                    <a:srgbClr val="EB75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>
                    <a:latin typeface="+mj-lt"/>
                  </a:endParaRPr>
                </a:p>
              </p:txBody>
            </p:sp>
            <p:sp>
              <p:nvSpPr>
                <p:cNvPr id="296" name="Line 295"/>
                <p:cNvSpPr>
                  <a:spLocks noChangeShapeType="1"/>
                </p:cNvSpPr>
                <p:nvPr/>
              </p:nvSpPr>
              <p:spPr bwMode="auto">
                <a:xfrm flipV="1">
                  <a:off x="3766" y="3442"/>
                  <a:ext cx="1" cy="15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>
                    <a:latin typeface="+mj-lt"/>
                  </a:endParaRPr>
                </a:p>
              </p:txBody>
            </p:sp>
            <p:sp>
              <p:nvSpPr>
                <p:cNvPr id="297" name="Line 296"/>
                <p:cNvSpPr>
                  <a:spLocks noChangeShapeType="1"/>
                </p:cNvSpPr>
                <p:nvPr/>
              </p:nvSpPr>
              <p:spPr bwMode="auto">
                <a:xfrm>
                  <a:off x="3766" y="3444"/>
                  <a:ext cx="71" cy="1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>
                    <a:latin typeface="+mj-lt"/>
                  </a:endParaRPr>
                </a:p>
              </p:txBody>
            </p:sp>
            <p:sp>
              <p:nvSpPr>
                <p:cNvPr id="298" name="Line 297"/>
                <p:cNvSpPr>
                  <a:spLocks noChangeShapeType="1"/>
                </p:cNvSpPr>
                <p:nvPr/>
              </p:nvSpPr>
              <p:spPr bwMode="auto">
                <a:xfrm>
                  <a:off x="3766" y="3588"/>
                  <a:ext cx="71" cy="1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>
                    <a:latin typeface="+mj-lt"/>
                  </a:endParaRPr>
                </a:p>
              </p:txBody>
            </p:sp>
            <p:sp>
              <p:nvSpPr>
                <p:cNvPr id="299" name="Freeform 298"/>
                <p:cNvSpPr>
                  <a:spLocks/>
                </p:cNvSpPr>
                <p:nvPr/>
              </p:nvSpPr>
              <p:spPr bwMode="auto">
                <a:xfrm>
                  <a:off x="4124" y="3374"/>
                  <a:ext cx="110" cy="285"/>
                </a:xfrm>
                <a:custGeom>
                  <a:avLst/>
                  <a:gdLst>
                    <a:gd name="T0" fmla="*/ 0 w 110"/>
                    <a:gd name="T1" fmla="*/ 0 h 285"/>
                    <a:gd name="T2" fmla="*/ 0 w 110"/>
                    <a:gd name="T3" fmla="*/ 116 h 285"/>
                    <a:gd name="T4" fmla="*/ 35 w 110"/>
                    <a:gd name="T5" fmla="*/ 143 h 285"/>
                    <a:gd name="T6" fmla="*/ 0 w 110"/>
                    <a:gd name="T7" fmla="*/ 170 h 285"/>
                    <a:gd name="T8" fmla="*/ 0 w 110"/>
                    <a:gd name="T9" fmla="*/ 285 h 285"/>
                    <a:gd name="T10" fmla="*/ 110 w 110"/>
                    <a:gd name="T11" fmla="*/ 199 h 285"/>
                    <a:gd name="T12" fmla="*/ 110 w 110"/>
                    <a:gd name="T13" fmla="*/ 88 h 285"/>
                    <a:gd name="T14" fmla="*/ 0 w 110"/>
                    <a:gd name="T15" fmla="*/ 0 h 285"/>
                    <a:gd name="T16" fmla="*/ 0 w 110"/>
                    <a:gd name="T17" fmla="*/ 0 h 285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110"/>
                    <a:gd name="T28" fmla="*/ 0 h 285"/>
                    <a:gd name="T29" fmla="*/ 110 w 110"/>
                    <a:gd name="T30" fmla="*/ 285 h 285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110" h="285">
                      <a:moveTo>
                        <a:pt x="0" y="0"/>
                      </a:moveTo>
                      <a:lnTo>
                        <a:pt x="0" y="116"/>
                      </a:lnTo>
                      <a:lnTo>
                        <a:pt x="35" y="143"/>
                      </a:lnTo>
                      <a:lnTo>
                        <a:pt x="0" y="170"/>
                      </a:lnTo>
                      <a:lnTo>
                        <a:pt x="0" y="285"/>
                      </a:lnTo>
                      <a:lnTo>
                        <a:pt x="110" y="199"/>
                      </a:lnTo>
                      <a:lnTo>
                        <a:pt x="110" y="8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CCCCC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>
                    <a:latin typeface="+mj-lt"/>
                  </a:endParaRPr>
                </a:p>
              </p:txBody>
            </p:sp>
            <p:sp>
              <p:nvSpPr>
                <p:cNvPr id="300" name="Rectangle 299"/>
                <p:cNvSpPr>
                  <a:spLocks noChangeArrowheads="1"/>
                </p:cNvSpPr>
                <p:nvPr/>
              </p:nvSpPr>
              <p:spPr bwMode="auto">
                <a:xfrm>
                  <a:off x="4473" y="3474"/>
                  <a:ext cx="43" cy="9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US" sz="800">
                      <a:solidFill>
                        <a:srgbClr val="000000"/>
                      </a:solidFill>
                      <a:latin typeface="+mj-lt"/>
                    </a:rPr>
                    <a:t>D</a:t>
                  </a:r>
                  <a:endParaRPr lang="en-US" sz="1200" b="1">
                    <a:latin typeface="+mj-lt"/>
                  </a:endParaRPr>
                </a:p>
              </p:txBody>
            </p:sp>
            <p:sp>
              <p:nvSpPr>
                <p:cNvPr id="301" name="Rectangle 300"/>
                <p:cNvSpPr>
                  <a:spLocks noChangeArrowheads="1"/>
                </p:cNvSpPr>
                <p:nvPr/>
              </p:nvSpPr>
              <p:spPr bwMode="auto">
                <a:xfrm>
                  <a:off x="4519" y="3474"/>
                  <a:ext cx="60" cy="9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US" sz="800">
                      <a:solidFill>
                        <a:srgbClr val="000000"/>
                      </a:solidFill>
                      <a:latin typeface="+mj-lt"/>
                    </a:rPr>
                    <a:t>M</a:t>
                  </a:r>
                  <a:endParaRPr lang="en-US" sz="1200" b="1">
                    <a:latin typeface="+mj-lt"/>
                  </a:endParaRPr>
                </a:p>
              </p:txBody>
            </p:sp>
            <p:sp>
              <p:nvSpPr>
                <p:cNvPr id="302" name="Rectangle 301"/>
                <p:cNvSpPr>
                  <a:spLocks noChangeArrowheads="1"/>
                </p:cNvSpPr>
                <p:nvPr/>
              </p:nvSpPr>
              <p:spPr bwMode="auto">
                <a:xfrm>
                  <a:off x="4809" y="3474"/>
                  <a:ext cx="38" cy="9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US" sz="800">
                      <a:solidFill>
                        <a:srgbClr val="000000"/>
                      </a:solidFill>
                      <a:latin typeface="+mj-lt"/>
                    </a:rPr>
                    <a:t>R</a:t>
                  </a:r>
                  <a:endParaRPr lang="en-US" sz="1200" b="1">
                    <a:latin typeface="+mj-lt"/>
                  </a:endParaRPr>
                </a:p>
              </p:txBody>
            </p:sp>
            <p:sp>
              <p:nvSpPr>
                <p:cNvPr id="303" name="Rectangle 302"/>
                <p:cNvSpPr>
                  <a:spLocks noChangeArrowheads="1"/>
                </p:cNvSpPr>
                <p:nvPr/>
              </p:nvSpPr>
              <p:spPr bwMode="auto">
                <a:xfrm>
                  <a:off x="4855" y="3474"/>
                  <a:ext cx="35" cy="9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US" sz="800">
                      <a:solidFill>
                        <a:srgbClr val="000000"/>
                      </a:solidFill>
                      <a:latin typeface="+mj-lt"/>
                    </a:rPr>
                    <a:t>e</a:t>
                  </a:r>
                  <a:endParaRPr lang="en-US" sz="1200" b="1">
                    <a:latin typeface="+mj-lt"/>
                  </a:endParaRPr>
                </a:p>
              </p:txBody>
            </p:sp>
            <p:sp>
              <p:nvSpPr>
                <p:cNvPr id="304" name="Rectangle 303"/>
                <p:cNvSpPr>
                  <a:spLocks noChangeArrowheads="1"/>
                </p:cNvSpPr>
                <p:nvPr/>
              </p:nvSpPr>
              <p:spPr bwMode="auto">
                <a:xfrm>
                  <a:off x="4889" y="3474"/>
                  <a:ext cx="33" cy="9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US" sz="800">
                      <a:solidFill>
                        <a:srgbClr val="000000"/>
                      </a:solidFill>
                      <a:latin typeface="+mj-lt"/>
                    </a:rPr>
                    <a:t>g</a:t>
                  </a:r>
                  <a:endParaRPr lang="en-US" sz="1200" b="1">
                    <a:latin typeface="+mj-lt"/>
                  </a:endParaRPr>
                </a:p>
              </p:txBody>
            </p:sp>
            <p:sp>
              <p:nvSpPr>
                <p:cNvPr id="305" name="Line 304"/>
                <p:cNvSpPr>
                  <a:spLocks noChangeShapeType="1"/>
                </p:cNvSpPr>
                <p:nvPr/>
              </p:nvSpPr>
              <p:spPr bwMode="auto">
                <a:xfrm>
                  <a:off x="3566" y="3517"/>
                  <a:ext cx="200" cy="1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>
                    <a:latin typeface="+mj-lt"/>
                  </a:endParaRPr>
                </a:p>
              </p:txBody>
            </p:sp>
            <p:sp>
              <p:nvSpPr>
                <p:cNvPr id="306" name="Line 305"/>
                <p:cNvSpPr>
                  <a:spLocks noChangeShapeType="1"/>
                </p:cNvSpPr>
                <p:nvPr/>
              </p:nvSpPr>
              <p:spPr bwMode="auto">
                <a:xfrm>
                  <a:off x="4232" y="3517"/>
                  <a:ext cx="216" cy="1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>
                    <a:latin typeface="+mj-lt"/>
                  </a:endParaRPr>
                </a:p>
              </p:txBody>
            </p:sp>
            <p:sp>
              <p:nvSpPr>
                <p:cNvPr id="307" name="Line 306"/>
                <p:cNvSpPr>
                  <a:spLocks noChangeShapeType="1"/>
                </p:cNvSpPr>
                <p:nvPr/>
              </p:nvSpPr>
              <p:spPr bwMode="auto">
                <a:xfrm>
                  <a:off x="4592" y="3517"/>
                  <a:ext cx="197" cy="1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>
                    <a:latin typeface="+mj-lt"/>
                  </a:endParaRPr>
                </a:p>
              </p:txBody>
            </p:sp>
            <p:sp>
              <p:nvSpPr>
                <p:cNvPr id="308" name="Freeform 307"/>
                <p:cNvSpPr>
                  <a:spLocks/>
                </p:cNvSpPr>
                <p:nvPr/>
              </p:nvSpPr>
              <p:spPr bwMode="auto">
                <a:xfrm>
                  <a:off x="3729" y="3481"/>
                  <a:ext cx="37" cy="36"/>
                </a:xfrm>
                <a:custGeom>
                  <a:avLst/>
                  <a:gdLst>
                    <a:gd name="T0" fmla="*/ 0 w 37"/>
                    <a:gd name="T1" fmla="*/ 36 h 36"/>
                    <a:gd name="T2" fmla="*/ 0 w 37"/>
                    <a:gd name="T3" fmla="*/ 0 h 36"/>
                    <a:gd name="T4" fmla="*/ 37 w 37"/>
                    <a:gd name="T5" fmla="*/ 0 h 36"/>
                    <a:gd name="T6" fmla="*/ 0 60000 65536"/>
                    <a:gd name="T7" fmla="*/ 0 60000 65536"/>
                    <a:gd name="T8" fmla="*/ 0 60000 65536"/>
                    <a:gd name="T9" fmla="*/ 0 w 37"/>
                    <a:gd name="T10" fmla="*/ 0 h 36"/>
                    <a:gd name="T11" fmla="*/ 37 w 37"/>
                    <a:gd name="T12" fmla="*/ 36 h 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7" h="36">
                      <a:moveTo>
                        <a:pt x="0" y="36"/>
                      </a:moveTo>
                      <a:lnTo>
                        <a:pt x="0" y="0"/>
                      </a:lnTo>
                      <a:lnTo>
                        <a:pt x="37" y="0"/>
                      </a:ln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>
                    <a:latin typeface="+mj-lt"/>
                  </a:endParaRPr>
                </a:p>
              </p:txBody>
            </p:sp>
            <p:sp>
              <p:nvSpPr>
                <p:cNvPr id="309" name="Freeform 308"/>
                <p:cNvSpPr>
                  <a:spLocks/>
                </p:cNvSpPr>
                <p:nvPr/>
              </p:nvSpPr>
              <p:spPr bwMode="auto">
                <a:xfrm>
                  <a:off x="4412" y="3517"/>
                  <a:ext cx="253" cy="107"/>
                </a:xfrm>
                <a:custGeom>
                  <a:avLst/>
                  <a:gdLst>
                    <a:gd name="T0" fmla="*/ 0 w 253"/>
                    <a:gd name="T1" fmla="*/ 0 h 107"/>
                    <a:gd name="T2" fmla="*/ 0 w 253"/>
                    <a:gd name="T3" fmla="*/ 107 h 107"/>
                    <a:gd name="T4" fmla="*/ 216 w 253"/>
                    <a:gd name="T5" fmla="*/ 107 h 107"/>
                    <a:gd name="T6" fmla="*/ 216 w 253"/>
                    <a:gd name="T7" fmla="*/ 37 h 107"/>
                    <a:gd name="T8" fmla="*/ 253 w 253"/>
                    <a:gd name="T9" fmla="*/ 37 h 10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3"/>
                    <a:gd name="T16" fmla="*/ 0 h 107"/>
                    <a:gd name="T17" fmla="*/ 253 w 253"/>
                    <a:gd name="T18" fmla="*/ 107 h 10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3" h="107">
                      <a:moveTo>
                        <a:pt x="0" y="0"/>
                      </a:moveTo>
                      <a:lnTo>
                        <a:pt x="0" y="107"/>
                      </a:lnTo>
                      <a:lnTo>
                        <a:pt x="216" y="107"/>
                      </a:lnTo>
                      <a:lnTo>
                        <a:pt x="216" y="37"/>
                      </a:lnTo>
                      <a:lnTo>
                        <a:pt x="253" y="37"/>
                      </a:ln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>
                    <a:latin typeface="+mj-lt"/>
                  </a:endParaRPr>
                </a:p>
              </p:txBody>
            </p:sp>
            <p:sp>
              <p:nvSpPr>
                <p:cNvPr id="310" name="Freeform 309"/>
                <p:cNvSpPr>
                  <a:spLocks/>
                </p:cNvSpPr>
                <p:nvPr/>
              </p:nvSpPr>
              <p:spPr bwMode="auto">
                <a:xfrm>
                  <a:off x="3639" y="3374"/>
                  <a:ext cx="54" cy="287"/>
                </a:xfrm>
                <a:custGeom>
                  <a:avLst/>
                  <a:gdLst>
                    <a:gd name="T0" fmla="*/ 54 w 54"/>
                    <a:gd name="T1" fmla="*/ 287 h 287"/>
                    <a:gd name="T2" fmla="*/ 54 w 54"/>
                    <a:gd name="T3" fmla="*/ 0 h 287"/>
                    <a:gd name="T4" fmla="*/ 0 w 54"/>
                    <a:gd name="T5" fmla="*/ 0 h 287"/>
                    <a:gd name="T6" fmla="*/ 0 w 54"/>
                    <a:gd name="T7" fmla="*/ 287 h 287"/>
                    <a:gd name="T8" fmla="*/ 54 w 54"/>
                    <a:gd name="T9" fmla="*/ 287 h 287"/>
                    <a:gd name="T10" fmla="*/ 54 w 54"/>
                    <a:gd name="T11" fmla="*/ 287 h 287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54"/>
                    <a:gd name="T19" fmla="*/ 0 h 287"/>
                    <a:gd name="T20" fmla="*/ 54 w 54"/>
                    <a:gd name="T21" fmla="*/ 287 h 287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54" h="287">
                      <a:moveTo>
                        <a:pt x="54" y="287"/>
                      </a:moveTo>
                      <a:lnTo>
                        <a:pt x="54" y="0"/>
                      </a:lnTo>
                      <a:lnTo>
                        <a:pt x="0" y="0"/>
                      </a:lnTo>
                      <a:lnTo>
                        <a:pt x="0" y="287"/>
                      </a:lnTo>
                      <a:lnTo>
                        <a:pt x="54" y="287"/>
                      </a:lnTo>
                      <a:close/>
                    </a:path>
                  </a:pathLst>
                </a:custGeom>
                <a:solidFill>
                  <a:srgbClr val="CCCCC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>
                    <a:latin typeface="+mj-lt"/>
                  </a:endParaRPr>
                </a:p>
              </p:txBody>
            </p:sp>
            <p:sp>
              <p:nvSpPr>
                <p:cNvPr id="311" name="Freeform 310"/>
                <p:cNvSpPr>
                  <a:spLocks/>
                </p:cNvSpPr>
                <p:nvPr/>
              </p:nvSpPr>
              <p:spPr bwMode="auto">
                <a:xfrm>
                  <a:off x="3639" y="3374"/>
                  <a:ext cx="54" cy="287"/>
                </a:xfrm>
                <a:custGeom>
                  <a:avLst/>
                  <a:gdLst>
                    <a:gd name="T0" fmla="*/ 54 w 54"/>
                    <a:gd name="T1" fmla="*/ 287 h 287"/>
                    <a:gd name="T2" fmla="*/ 54 w 54"/>
                    <a:gd name="T3" fmla="*/ 0 h 287"/>
                    <a:gd name="T4" fmla="*/ 0 w 54"/>
                    <a:gd name="T5" fmla="*/ 0 h 287"/>
                    <a:gd name="T6" fmla="*/ 0 w 54"/>
                    <a:gd name="T7" fmla="*/ 287 h 287"/>
                    <a:gd name="T8" fmla="*/ 54 w 54"/>
                    <a:gd name="T9" fmla="*/ 287 h 287"/>
                    <a:gd name="T10" fmla="*/ 54 w 54"/>
                    <a:gd name="T11" fmla="*/ 287 h 287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54"/>
                    <a:gd name="T19" fmla="*/ 0 h 287"/>
                    <a:gd name="T20" fmla="*/ 54 w 54"/>
                    <a:gd name="T21" fmla="*/ 287 h 287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54" h="287">
                      <a:moveTo>
                        <a:pt x="54" y="287"/>
                      </a:moveTo>
                      <a:lnTo>
                        <a:pt x="54" y="0"/>
                      </a:lnTo>
                      <a:lnTo>
                        <a:pt x="0" y="0"/>
                      </a:lnTo>
                      <a:lnTo>
                        <a:pt x="0" y="287"/>
                      </a:lnTo>
                      <a:lnTo>
                        <a:pt x="54" y="287"/>
                      </a:ln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>
                    <a:latin typeface="+mj-lt"/>
                  </a:endParaRPr>
                </a:p>
              </p:txBody>
            </p:sp>
            <p:sp>
              <p:nvSpPr>
                <p:cNvPr id="312" name="Freeform 311"/>
                <p:cNvSpPr>
                  <a:spLocks/>
                </p:cNvSpPr>
                <p:nvPr/>
              </p:nvSpPr>
              <p:spPr bwMode="auto">
                <a:xfrm>
                  <a:off x="3981" y="3374"/>
                  <a:ext cx="55" cy="287"/>
                </a:xfrm>
                <a:custGeom>
                  <a:avLst/>
                  <a:gdLst>
                    <a:gd name="T0" fmla="*/ 53 w 55"/>
                    <a:gd name="T1" fmla="*/ 287 h 287"/>
                    <a:gd name="T2" fmla="*/ 55 w 55"/>
                    <a:gd name="T3" fmla="*/ 0 h 287"/>
                    <a:gd name="T4" fmla="*/ 0 w 55"/>
                    <a:gd name="T5" fmla="*/ 0 h 287"/>
                    <a:gd name="T6" fmla="*/ 0 w 55"/>
                    <a:gd name="T7" fmla="*/ 287 h 287"/>
                    <a:gd name="T8" fmla="*/ 55 w 55"/>
                    <a:gd name="T9" fmla="*/ 287 h 287"/>
                    <a:gd name="T10" fmla="*/ 55 w 55"/>
                    <a:gd name="T11" fmla="*/ 287 h 287"/>
                    <a:gd name="T12" fmla="*/ 53 w 55"/>
                    <a:gd name="T13" fmla="*/ 287 h 28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55"/>
                    <a:gd name="T22" fmla="*/ 0 h 287"/>
                    <a:gd name="T23" fmla="*/ 55 w 55"/>
                    <a:gd name="T24" fmla="*/ 287 h 28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55" h="287">
                      <a:moveTo>
                        <a:pt x="53" y="287"/>
                      </a:moveTo>
                      <a:lnTo>
                        <a:pt x="55" y="0"/>
                      </a:lnTo>
                      <a:lnTo>
                        <a:pt x="0" y="0"/>
                      </a:lnTo>
                      <a:lnTo>
                        <a:pt x="0" y="287"/>
                      </a:lnTo>
                      <a:lnTo>
                        <a:pt x="55" y="287"/>
                      </a:lnTo>
                      <a:lnTo>
                        <a:pt x="53" y="287"/>
                      </a:lnTo>
                      <a:close/>
                    </a:path>
                  </a:pathLst>
                </a:custGeom>
                <a:solidFill>
                  <a:srgbClr val="CCCCC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>
                    <a:latin typeface="+mj-lt"/>
                  </a:endParaRPr>
                </a:p>
              </p:txBody>
            </p:sp>
            <p:sp>
              <p:nvSpPr>
                <p:cNvPr id="313" name="Freeform 312"/>
                <p:cNvSpPr>
                  <a:spLocks/>
                </p:cNvSpPr>
                <p:nvPr/>
              </p:nvSpPr>
              <p:spPr bwMode="auto">
                <a:xfrm>
                  <a:off x="3981" y="3374"/>
                  <a:ext cx="55" cy="287"/>
                </a:xfrm>
                <a:custGeom>
                  <a:avLst/>
                  <a:gdLst>
                    <a:gd name="T0" fmla="*/ 53 w 55"/>
                    <a:gd name="T1" fmla="*/ 287 h 287"/>
                    <a:gd name="T2" fmla="*/ 55 w 55"/>
                    <a:gd name="T3" fmla="*/ 0 h 287"/>
                    <a:gd name="T4" fmla="*/ 0 w 55"/>
                    <a:gd name="T5" fmla="*/ 0 h 287"/>
                    <a:gd name="T6" fmla="*/ 0 w 55"/>
                    <a:gd name="T7" fmla="*/ 287 h 287"/>
                    <a:gd name="T8" fmla="*/ 55 w 55"/>
                    <a:gd name="T9" fmla="*/ 287 h 287"/>
                    <a:gd name="T10" fmla="*/ 55 w 55"/>
                    <a:gd name="T11" fmla="*/ 287 h 287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55"/>
                    <a:gd name="T19" fmla="*/ 0 h 287"/>
                    <a:gd name="T20" fmla="*/ 55 w 55"/>
                    <a:gd name="T21" fmla="*/ 287 h 287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55" h="287">
                      <a:moveTo>
                        <a:pt x="53" y="287"/>
                      </a:moveTo>
                      <a:lnTo>
                        <a:pt x="55" y="0"/>
                      </a:lnTo>
                      <a:lnTo>
                        <a:pt x="0" y="0"/>
                      </a:lnTo>
                      <a:lnTo>
                        <a:pt x="0" y="287"/>
                      </a:lnTo>
                      <a:lnTo>
                        <a:pt x="55" y="287"/>
                      </a:ln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>
                    <a:latin typeface="+mj-lt"/>
                  </a:endParaRPr>
                </a:p>
              </p:txBody>
            </p:sp>
            <p:sp>
              <p:nvSpPr>
                <p:cNvPr id="314" name="Freeform 313"/>
                <p:cNvSpPr>
                  <a:spLocks/>
                </p:cNvSpPr>
                <p:nvPr/>
              </p:nvSpPr>
              <p:spPr bwMode="auto">
                <a:xfrm>
                  <a:off x="4324" y="3374"/>
                  <a:ext cx="53" cy="287"/>
                </a:xfrm>
                <a:custGeom>
                  <a:avLst/>
                  <a:gdLst>
                    <a:gd name="T0" fmla="*/ 51 w 53"/>
                    <a:gd name="T1" fmla="*/ 287 h 287"/>
                    <a:gd name="T2" fmla="*/ 53 w 53"/>
                    <a:gd name="T3" fmla="*/ 0 h 287"/>
                    <a:gd name="T4" fmla="*/ 0 w 53"/>
                    <a:gd name="T5" fmla="*/ 0 h 287"/>
                    <a:gd name="T6" fmla="*/ 0 w 53"/>
                    <a:gd name="T7" fmla="*/ 287 h 287"/>
                    <a:gd name="T8" fmla="*/ 53 w 53"/>
                    <a:gd name="T9" fmla="*/ 287 h 287"/>
                    <a:gd name="T10" fmla="*/ 53 w 53"/>
                    <a:gd name="T11" fmla="*/ 287 h 287"/>
                    <a:gd name="T12" fmla="*/ 51 w 53"/>
                    <a:gd name="T13" fmla="*/ 287 h 28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53"/>
                    <a:gd name="T22" fmla="*/ 0 h 287"/>
                    <a:gd name="T23" fmla="*/ 53 w 53"/>
                    <a:gd name="T24" fmla="*/ 287 h 28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53" h="287">
                      <a:moveTo>
                        <a:pt x="51" y="287"/>
                      </a:moveTo>
                      <a:lnTo>
                        <a:pt x="53" y="0"/>
                      </a:lnTo>
                      <a:lnTo>
                        <a:pt x="0" y="0"/>
                      </a:lnTo>
                      <a:lnTo>
                        <a:pt x="0" y="287"/>
                      </a:lnTo>
                      <a:lnTo>
                        <a:pt x="53" y="287"/>
                      </a:lnTo>
                      <a:lnTo>
                        <a:pt x="51" y="287"/>
                      </a:lnTo>
                      <a:close/>
                    </a:path>
                  </a:pathLst>
                </a:custGeom>
                <a:solidFill>
                  <a:srgbClr val="CCCCC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>
                    <a:latin typeface="+mj-lt"/>
                  </a:endParaRPr>
                </a:p>
              </p:txBody>
            </p:sp>
            <p:sp>
              <p:nvSpPr>
                <p:cNvPr id="315" name="Freeform 314"/>
                <p:cNvSpPr>
                  <a:spLocks/>
                </p:cNvSpPr>
                <p:nvPr/>
              </p:nvSpPr>
              <p:spPr bwMode="auto">
                <a:xfrm>
                  <a:off x="4324" y="3374"/>
                  <a:ext cx="53" cy="287"/>
                </a:xfrm>
                <a:custGeom>
                  <a:avLst/>
                  <a:gdLst>
                    <a:gd name="T0" fmla="*/ 51 w 53"/>
                    <a:gd name="T1" fmla="*/ 287 h 287"/>
                    <a:gd name="T2" fmla="*/ 53 w 53"/>
                    <a:gd name="T3" fmla="*/ 0 h 287"/>
                    <a:gd name="T4" fmla="*/ 0 w 53"/>
                    <a:gd name="T5" fmla="*/ 0 h 287"/>
                    <a:gd name="T6" fmla="*/ 0 w 53"/>
                    <a:gd name="T7" fmla="*/ 287 h 287"/>
                    <a:gd name="T8" fmla="*/ 53 w 53"/>
                    <a:gd name="T9" fmla="*/ 287 h 287"/>
                    <a:gd name="T10" fmla="*/ 53 w 53"/>
                    <a:gd name="T11" fmla="*/ 287 h 287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53"/>
                    <a:gd name="T19" fmla="*/ 0 h 287"/>
                    <a:gd name="T20" fmla="*/ 53 w 53"/>
                    <a:gd name="T21" fmla="*/ 287 h 287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53" h="287">
                      <a:moveTo>
                        <a:pt x="51" y="287"/>
                      </a:moveTo>
                      <a:lnTo>
                        <a:pt x="53" y="0"/>
                      </a:lnTo>
                      <a:lnTo>
                        <a:pt x="0" y="0"/>
                      </a:lnTo>
                      <a:lnTo>
                        <a:pt x="0" y="287"/>
                      </a:lnTo>
                      <a:lnTo>
                        <a:pt x="53" y="287"/>
                      </a:ln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>
                    <a:latin typeface="+mj-lt"/>
                  </a:endParaRPr>
                </a:p>
              </p:txBody>
            </p:sp>
            <p:sp>
              <p:nvSpPr>
                <p:cNvPr id="316" name="Freeform 315"/>
                <p:cNvSpPr>
                  <a:spLocks/>
                </p:cNvSpPr>
                <p:nvPr/>
              </p:nvSpPr>
              <p:spPr bwMode="auto">
                <a:xfrm>
                  <a:off x="4665" y="3374"/>
                  <a:ext cx="54" cy="287"/>
                </a:xfrm>
                <a:custGeom>
                  <a:avLst/>
                  <a:gdLst>
                    <a:gd name="T0" fmla="*/ 52 w 54"/>
                    <a:gd name="T1" fmla="*/ 287 h 287"/>
                    <a:gd name="T2" fmla="*/ 54 w 54"/>
                    <a:gd name="T3" fmla="*/ 0 h 287"/>
                    <a:gd name="T4" fmla="*/ 0 w 54"/>
                    <a:gd name="T5" fmla="*/ 0 h 287"/>
                    <a:gd name="T6" fmla="*/ 0 w 54"/>
                    <a:gd name="T7" fmla="*/ 287 h 287"/>
                    <a:gd name="T8" fmla="*/ 54 w 54"/>
                    <a:gd name="T9" fmla="*/ 287 h 287"/>
                    <a:gd name="T10" fmla="*/ 54 w 54"/>
                    <a:gd name="T11" fmla="*/ 287 h 287"/>
                    <a:gd name="T12" fmla="*/ 52 w 54"/>
                    <a:gd name="T13" fmla="*/ 287 h 28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54"/>
                    <a:gd name="T22" fmla="*/ 0 h 287"/>
                    <a:gd name="T23" fmla="*/ 54 w 54"/>
                    <a:gd name="T24" fmla="*/ 287 h 28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54" h="287">
                      <a:moveTo>
                        <a:pt x="52" y="287"/>
                      </a:moveTo>
                      <a:lnTo>
                        <a:pt x="54" y="0"/>
                      </a:lnTo>
                      <a:lnTo>
                        <a:pt x="0" y="0"/>
                      </a:lnTo>
                      <a:lnTo>
                        <a:pt x="0" y="287"/>
                      </a:lnTo>
                      <a:lnTo>
                        <a:pt x="54" y="287"/>
                      </a:lnTo>
                      <a:lnTo>
                        <a:pt x="52" y="287"/>
                      </a:lnTo>
                      <a:close/>
                    </a:path>
                  </a:pathLst>
                </a:custGeom>
                <a:solidFill>
                  <a:srgbClr val="CCCCC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>
                    <a:latin typeface="+mj-lt"/>
                  </a:endParaRPr>
                </a:p>
              </p:txBody>
            </p:sp>
            <p:sp>
              <p:nvSpPr>
                <p:cNvPr id="317" name="Freeform 316"/>
                <p:cNvSpPr>
                  <a:spLocks/>
                </p:cNvSpPr>
                <p:nvPr/>
              </p:nvSpPr>
              <p:spPr bwMode="auto">
                <a:xfrm>
                  <a:off x="4665" y="3374"/>
                  <a:ext cx="54" cy="287"/>
                </a:xfrm>
                <a:custGeom>
                  <a:avLst/>
                  <a:gdLst>
                    <a:gd name="T0" fmla="*/ 52 w 54"/>
                    <a:gd name="T1" fmla="*/ 287 h 287"/>
                    <a:gd name="T2" fmla="*/ 54 w 54"/>
                    <a:gd name="T3" fmla="*/ 0 h 287"/>
                    <a:gd name="T4" fmla="*/ 0 w 54"/>
                    <a:gd name="T5" fmla="*/ 0 h 287"/>
                    <a:gd name="T6" fmla="*/ 0 w 54"/>
                    <a:gd name="T7" fmla="*/ 287 h 287"/>
                    <a:gd name="T8" fmla="*/ 54 w 54"/>
                    <a:gd name="T9" fmla="*/ 287 h 287"/>
                    <a:gd name="T10" fmla="*/ 54 w 54"/>
                    <a:gd name="T11" fmla="*/ 287 h 287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54"/>
                    <a:gd name="T19" fmla="*/ 0 h 287"/>
                    <a:gd name="T20" fmla="*/ 54 w 54"/>
                    <a:gd name="T21" fmla="*/ 287 h 287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54" h="287">
                      <a:moveTo>
                        <a:pt x="52" y="287"/>
                      </a:moveTo>
                      <a:lnTo>
                        <a:pt x="54" y="0"/>
                      </a:lnTo>
                      <a:lnTo>
                        <a:pt x="0" y="0"/>
                      </a:lnTo>
                      <a:lnTo>
                        <a:pt x="0" y="287"/>
                      </a:lnTo>
                      <a:lnTo>
                        <a:pt x="54" y="287"/>
                      </a:ln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>
                    <a:latin typeface="+mj-lt"/>
                  </a:endParaRPr>
                </a:p>
              </p:txBody>
            </p:sp>
            <p:sp>
              <p:nvSpPr>
                <p:cNvPr id="318" name="Rectangle 317"/>
                <p:cNvSpPr>
                  <a:spLocks noChangeArrowheads="1"/>
                </p:cNvSpPr>
                <p:nvPr/>
              </p:nvSpPr>
              <p:spPr bwMode="auto">
                <a:xfrm>
                  <a:off x="3103" y="2851"/>
                  <a:ext cx="38" cy="9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US" sz="800">
                      <a:solidFill>
                        <a:srgbClr val="EB7500"/>
                      </a:solidFill>
                      <a:latin typeface="+mj-lt"/>
                    </a:rPr>
                    <a:t>R</a:t>
                  </a:r>
                  <a:endParaRPr lang="en-US" sz="1200" b="1">
                    <a:latin typeface="+mj-lt"/>
                  </a:endParaRPr>
                </a:p>
              </p:txBody>
            </p:sp>
            <p:sp>
              <p:nvSpPr>
                <p:cNvPr id="319" name="Rectangle 318"/>
                <p:cNvSpPr>
                  <a:spLocks noChangeArrowheads="1"/>
                </p:cNvSpPr>
                <p:nvPr/>
              </p:nvSpPr>
              <p:spPr bwMode="auto">
                <a:xfrm>
                  <a:off x="3149" y="2851"/>
                  <a:ext cx="36" cy="9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US" sz="800">
                      <a:solidFill>
                        <a:srgbClr val="EB7500"/>
                      </a:solidFill>
                      <a:latin typeface="+mj-lt"/>
                    </a:rPr>
                    <a:t>e</a:t>
                  </a:r>
                  <a:endParaRPr lang="en-US" sz="1200" b="1">
                    <a:latin typeface="+mj-lt"/>
                  </a:endParaRPr>
                </a:p>
              </p:txBody>
            </p:sp>
            <p:sp>
              <p:nvSpPr>
                <p:cNvPr id="320" name="Rectangle 319"/>
                <p:cNvSpPr>
                  <a:spLocks noChangeArrowheads="1"/>
                </p:cNvSpPr>
                <p:nvPr/>
              </p:nvSpPr>
              <p:spPr bwMode="auto">
                <a:xfrm>
                  <a:off x="3183" y="2851"/>
                  <a:ext cx="33" cy="9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US" sz="800">
                      <a:solidFill>
                        <a:srgbClr val="EB7500"/>
                      </a:solidFill>
                      <a:latin typeface="+mj-lt"/>
                    </a:rPr>
                    <a:t>g</a:t>
                  </a:r>
                  <a:endParaRPr lang="en-US" sz="1200" b="1">
                    <a:latin typeface="+mj-lt"/>
                  </a:endParaRPr>
                </a:p>
              </p:txBody>
            </p:sp>
            <p:sp>
              <p:nvSpPr>
                <p:cNvPr id="321" name="Line 320"/>
                <p:cNvSpPr>
                  <a:spLocks noChangeShapeType="1"/>
                </p:cNvSpPr>
                <p:nvPr/>
              </p:nvSpPr>
              <p:spPr bwMode="auto">
                <a:xfrm>
                  <a:off x="3352" y="2834"/>
                  <a:ext cx="90" cy="2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>
                    <a:latin typeface="+mj-lt"/>
                  </a:endParaRPr>
                </a:p>
              </p:txBody>
            </p:sp>
            <p:sp>
              <p:nvSpPr>
                <p:cNvPr id="322" name="Line 321"/>
                <p:cNvSpPr>
                  <a:spLocks noChangeShapeType="1"/>
                </p:cNvSpPr>
                <p:nvPr/>
              </p:nvSpPr>
              <p:spPr bwMode="auto">
                <a:xfrm>
                  <a:off x="3693" y="3230"/>
                  <a:ext cx="90" cy="1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>
                    <a:latin typeface="+mj-lt"/>
                  </a:endParaRPr>
                </a:p>
              </p:txBody>
            </p:sp>
            <p:sp>
              <p:nvSpPr>
                <p:cNvPr id="323" name="Rectangle 322"/>
                <p:cNvSpPr>
                  <a:spLocks noChangeArrowheads="1"/>
                </p:cNvSpPr>
                <p:nvPr/>
              </p:nvSpPr>
              <p:spPr bwMode="auto">
                <a:xfrm>
                  <a:off x="3783" y="3494"/>
                  <a:ext cx="38" cy="9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US" sz="800">
                      <a:solidFill>
                        <a:srgbClr val="EB7500"/>
                      </a:solidFill>
                      <a:latin typeface="+mj-lt"/>
                    </a:rPr>
                    <a:t>R</a:t>
                  </a:r>
                  <a:endParaRPr lang="en-US" sz="1200" b="1">
                    <a:latin typeface="+mj-lt"/>
                  </a:endParaRPr>
                </a:p>
              </p:txBody>
            </p:sp>
            <p:sp>
              <p:nvSpPr>
                <p:cNvPr id="324" name="Rectangle 323"/>
                <p:cNvSpPr>
                  <a:spLocks noChangeArrowheads="1"/>
                </p:cNvSpPr>
                <p:nvPr/>
              </p:nvSpPr>
              <p:spPr bwMode="auto">
                <a:xfrm>
                  <a:off x="3829" y="3494"/>
                  <a:ext cx="35" cy="9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US" sz="800">
                      <a:solidFill>
                        <a:srgbClr val="EB7500"/>
                      </a:solidFill>
                      <a:latin typeface="+mj-lt"/>
                    </a:rPr>
                    <a:t>e</a:t>
                  </a:r>
                  <a:endParaRPr lang="en-US" sz="1200" b="1">
                    <a:latin typeface="+mj-lt"/>
                  </a:endParaRPr>
                </a:p>
              </p:txBody>
            </p:sp>
            <p:sp>
              <p:nvSpPr>
                <p:cNvPr id="325" name="Rectangle 324"/>
                <p:cNvSpPr>
                  <a:spLocks noChangeArrowheads="1"/>
                </p:cNvSpPr>
                <p:nvPr/>
              </p:nvSpPr>
              <p:spPr bwMode="auto">
                <a:xfrm>
                  <a:off x="3865" y="3494"/>
                  <a:ext cx="33" cy="9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US" sz="800">
                      <a:solidFill>
                        <a:srgbClr val="EB7500"/>
                      </a:solidFill>
                      <a:latin typeface="+mj-lt"/>
                    </a:rPr>
                    <a:t>g</a:t>
                  </a:r>
                  <a:endParaRPr lang="en-US" sz="1200" b="1">
                    <a:latin typeface="+mj-lt"/>
                  </a:endParaRPr>
                </a:p>
              </p:txBody>
            </p:sp>
            <p:sp>
              <p:nvSpPr>
                <p:cNvPr id="326" name="Freeform 325"/>
                <p:cNvSpPr>
                  <a:spLocks/>
                </p:cNvSpPr>
                <p:nvPr/>
              </p:nvSpPr>
              <p:spPr bwMode="auto">
                <a:xfrm>
                  <a:off x="3139" y="2813"/>
                  <a:ext cx="29" cy="28"/>
                </a:xfrm>
                <a:custGeom>
                  <a:avLst/>
                  <a:gdLst>
                    <a:gd name="T0" fmla="*/ 13 w 29"/>
                    <a:gd name="T1" fmla="*/ 26 h 28"/>
                    <a:gd name="T2" fmla="*/ 17 w 29"/>
                    <a:gd name="T3" fmla="*/ 26 h 28"/>
                    <a:gd name="T4" fmla="*/ 19 w 29"/>
                    <a:gd name="T5" fmla="*/ 26 h 28"/>
                    <a:gd name="T6" fmla="*/ 21 w 29"/>
                    <a:gd name="T7" fmla="*/ 26 h 28"/>
                    <a:gd name="T8" fmla="*/ 23 w 29"/>
                    <a:gd name="T9" fmla="*/ 24 h 28"/>
                    <a:gd name="T10" fmla="*/ 25 w 29"/>
                    <a:gd name="T11" fmla="*/ 23 h 28"/>
                    <a:gd name="T12" fmla="*/ 27 w 29"/>
                    <a:gd name="T13" fmla="*/ 21 h 28"/>
                    <a:gd name="T14" fmla="*/ 27 w 29"/>
                    <a:gd name="T15" fmla="*/ 19 h 28"/>
                    <a:gd name="T16" fmla="*/ 29 w 29"/>
                    <a:gd name="T17" fmla="*/ 17 h 28"/>
                    <a:gd name="T18" fmla="*/ 29 w 29"/>
                    <a:gd name="T19" fmla="*/ 15 h 28"/>
                    <a:gd name="T20" fmla="*/ 29 w 29"/>
                    <a:gd name="T21" fmla="*/ 13 h 28"/>
                    <a:gd name="T22" fmla="*/ 29 w 29"/>
                    <a:gd name="T23" fmla="*/ 11 h 28"/>
                    <a:gd name="T24" fmla="*/ 29 w 29"/>
                    <a:gd name="T25" fmla="*/ 9 h 28"/>
                    <a:gd name="T26" fmla="*/ 27 w 29"/>
                    <a:gd name="T27" fmla="*/ 7 h 28"/>
                    <a:gd name="T28" fmla="*/ 27 w 29"/>
                    <a:gd name="T29" fmla="*/ 5 h 28"/>
                    <a:gd name="T30" fmla="*/ 25 w 29"/>
                    <a:gd name="T31" fmla="*/ 3 h 28"/>
                    <a:gd name="T32" fmla="*/ 23 w 29"/>
                    <a:gd name="T33" fmla="*/ 1 h 28"/>
                    <a:gd name="T34" fmla="*/ 21 w 29"/>
                    <a:gd name="T35" fmla="*/ 0 h 28"/>
                    <a:gd name="T36" fmla="*/ 19 w 29"/>
                    <a:gd name="T37" fmla="*/ 0 h 28"/>
                    <a:gd name="T38" fmla="*/ 17 w 29"/>
                    <a:gd name="T39" fmla="*/ 0 h 28"/>
                    <a:gd name="T40" fmla="*/ 13 w 29"/>
                    <a:gd name="T41" fmla="*/ 0 h 28"/>
                    <a:gd name="T42" fmla="*/ 11 w 29"/>
                    <a:gd name="T43" fmla="*/ 0 h 28"/>
                    <a:gd name="T44" fmla="*/ 10 w 29"/>
                    <a:gd name="T45" fmla="*/ 0 h 28"/>
                    <a:gd name="T46" fmla="*/ 8 w 29"/>
                    <a:gd name="T47" fmla="*/ 0 h 28"/>
                    <a:gd name="T48" fmla="*/ 6 w 29"/>
                    <a:gd name="T49" fmla="*/ 1 h 28"/>
                    <a:gd name="T50" fmla="*/ 4 w 29"/>
                    <a:gd name="T51" fmla="*/ 3 h 28"/>
                    <a:gd name="T52" fmla="*/ 2 w 29"/>
                    <a:gd name="T53" fmla="*/ 5 h 28"/>
                    <a:gd name="T54" fmla="*/ 2 w 29"/>
                    <a:gd name="T55" fmla="*/ 7 h 28"/>
                    <a:gd name="T56" fmla="*/ 0 w 29"/>
                    <a:gd name="T57" fmla="*/ 9 h 28"/>
                    <a:gd name="T58" fmla="*/ 0 w 29"/>
                    <a:gd name="T59" fmla="*/ 11 h 28"/>
                    <a:gd name="T60" fmla="*/ 0 w 29"/>
                    <a:gd name="T61" fmla="*/ 13 h 28"/>
                    <a:gd name="T62" fmla="*/ 0 w 29"/>
                    <a:gd name="T63" fmla="*/ 15 h 28"/>
                    <a:gd name="T64" fmla="*/ 0 w 29"/>
                    <a:gd name="T65" fmla="*/ 17 h 28"/>
                    <a:gd name="T66" fmla="*/ 2 w 29"/>
                    <a:gd name="T67" fmla="*/ 19 h 28"/>
                    <a:gd name="T68" fmla="*/ 2 w 29"/>
                    <a:gd name="T69" fmla="*/ 21 h 28"/>
                    <a:gd name="T70" fmla="*/ 4 w 29"/>
                    <a:gd name="T71" fmla="*/ 23 h 28"/>
                    <a:gd name="T72" fmla="*/ 6 w 29"/>
                    <a:gd name="T73" fmla="*/ 24 h 28"/>
                    <a:gd name="T74" fmla="*/ 8 w 29"/>
                    <a:gd name="T75" fmla="*/ 26 h 28"/>
                    <a:gd name="T76" fmla="*/ 10 w 29"/>
                    <a:gd name="T77" fmla="*/ 26 h 28"/>
                    <a:gd name="T78" fmla="*/ 11 w 29"/>
                    <a:gd name="T79" fmla="*/ 26 h 28"/>
                    <a:gd name="T80" fmla="*/ 13 w 29"/>
                    <a:gd name="T81" fmla="*/ 28 h 28"/>
                    <a:gd name="T82" fmla="*/ 13 w 29"/>
                    <a:gd name="T83" fmla="*/ 28 h 28"/>
                    <a:gd name="T84" fmla="*/ 13 w 29"/>
                    <a:gd name="T85" fmla="*/ 26 h 28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w 29"/>
                    <a:gd name="T130" fmla="*/ 0 h 28"/>
                    <a:gd name="T131" fmla="*/ 29 w 29"/>
                    <a:gd name="T132" fmla="*/ 28 h 28"/>
                  </a:gdLst>
                  <a:ahLst/>
                  <a:cxnLst>
                    <a:cxn ang="T86">
                      <a:pos x="T0" y="T1"/>
                    </a:cxn>
                    <a:cxn ang="T87">
                      <a:pos x="T2" y="T3"/>
                    </a:cxn>
                    <a:cxn ang="T88">
                      <a:pos x="T4" y="T5"/>
                    </a:cxn>
                    <a:cxn ang="T89">
                      <a:pos x="T6" y="T7"/>
                    </a:cxn>
                    <a:cxn ang="T90">
                      <a:pos x="T8" y="T9"/>
                    </a:cxn>
                    <a:cxn ang="T91">
                      <a:pos x="T10" y="T11"/>
                    </a:cxn>
                    <a:cxn ang="T92">
                      <a:pos x="T12" y="T13"/>
                    </a:cxn>
                    <a:cxn ang="T93">
                      <a:pos x="T14" y="T15"/>
                    </a:cxn>
                    <a:cxn ang="T94">
                      <a:pos x="T16" y="T17"/>
                    </a:cxn>
                    <a:cxn ang="T95">
                      <a:pos x="T18" y="T19"/>
                    </a:cxn>
                    <a:cxn ang="T96">
                      <a:pos x="T20" y="T21"/>
                    </a:cxn>
                    <a:cxn ang="T97">
                      <a:pos x="T22" y="T23"/>
                    </a:cxn>
                    <a:cxn ang="T98">
                      <a:pos x="T24" y="T25"/>
                    </a:cxn>
                    <a:cxn ang="T99">
                      <a:pos x="T26" y="T27"/>
                    </a:cxn>
                    <a:cxn ang="T100">
                      <a:pos x="T28" y="T29"/>
                    </a:cxn>
                    <a:cxn ang="T101">
                      <a:pos x="T30" y="T31"/>
                    </a:cxn>
                    <a:cxn ang="T102">
                      <a:pos x="T32" y="T33"/>
                    </a:cxn>
                    <a:cxn ang="T103">
                      <a:pos x="T34" y="T35"/>
                    </a:cxn>
                    <a:cxn ang="T104">
                      <a:pos x="T36" y="T37"/>
                    </a:cxn>
                    <a:cxn ang="T105">
                      <a:pos x="T38" y="T39"/>
                    </a:cxn>
                    <a:cxn ang="T106">
                      <a:pos x="T40" y="T41"/>
                    </a:cxn>
                    <a:cxn ang="T107">
                      <a:pos x="T42" y="T43"/>
                    </a:cxn>
                    <a:cxn ang="T108">
                      <a:pos x="T44" y="T45"/>
                    </a:cxn>
                    <a:cxn ang="T109">
                      <a:pos x="T46" y="T47"/>
                    </a:cxn>
                    <a:cxn ang="T110">
                      <a:pos x="T48" y="T49"/>
                    </a:cxn>
                    <a:cxn ang="T111">
                      <a:pos x="T50" y="T51"/>
                    </a:cxn>
                    <a:cxn ang="T112">
                      <a:pos x="T52" y="T53"/>
                    </a:cxn>
                    <a:cxn ang="T113">
                      <a:pos x="T54" y="T55"/>
                    </a:cxn>
                    <a:cxn ang="T114">
                      <a:pos x="T56" y="T57"/>
                    </a:cxn>
                    <a:cxn ang="T115">
                      <a:pos x="T58" y="T59"/>
                    </a:cxn>
                    <a:cxn ang="T116">
                      <a:pos x="T60" y="T61"/>
                    </a:cxn>
                    <a:cxn ang="T117">
                      <a:pos x="T62" y="T63"/>
                    </a:cxn>
                    <a:cxn ang="T118">
                      <a:pos x="T64" y="T65"/>
                    </a:cxn>
                    <a:cxn ang="T119">
                      <a:pos x="T66" y="T67"/>
                    </a:cxn>
                    <a:cxn ang="T120">
                      <a:pos x="T68" y="T69"/>
                    </a:cxn>
                    <a:cxn ang="T121">
                      <a:pos x="T70" y="T71"/>
                    </a:cxn>
                    <a:cxn ang="T122">
                      <a:pos x="T72" y="T73"/>
                    </a:cxn>
                    <a:cxn ang="T123">
                      <a:pos x="T74" y="T75"/>
                    </a:cxn>
                    <a:cxn ang="T124">
                      <a:pos x="T76" y="T77"/>
                    </a:cxn>
                    <a:cxn ang="T125">
                      <a:pos x="T78" y="T79"/>
                    </a:cxn>
                    <a:cxn ang="T126">
                      <a:pos x="T80" y="T81"/>
                    </a:cxn>
                    <a:cxn ang="T127">
                      <a:pos x="T82" y="T83"/>
                    </a:cxn>
                    <a:cxn ang="T128">
                      <a:pos x="T84" y="T85"/>
                    </a:cxn>
                  </a:cxnLst>
                  <a:rect l="T129" t="T130" r="T131" b="T132"/>
                  <a:pathLst>
                    <a:path w="29" h="28">
                      <a:moveTo>
                        <a:pt x="13" y="26"/>
                      </a:moveTo>
                      <a:lnTo>
                        <a:pt x="17" y="26"/>
                      </a:lnTo>
                      <a:lnTo>
                        <a:pt x="19" y="26"/>
                      </a:lnTo>
                      <a:lnTo>
                        <a:pt x="21" y="26"/>
                      </a:lnTo>
                      <a:lnTo>
                        <a:pt x="23" y="24"/>
                      </a:lnTo>
                      <a:lnTo>
                        <a:pt x="25" y="23"/>
                      </a:lnTo>
                      <a:lnTo>
                        <a:pt x="27" y="21"/>
                      </a:lnTo>
                      <a:lnTo>
                        <a:pt x="27" y="19"/>
                      </a:lnTo>
                      <a:lnTo>
                        <a:pt x="29" y="17"/>
                      </a:lnTo>
                      <a:lnTo>
                        <a:pt x="29" y="15"/>
                      </a:lnTo>
                      <a:lnTo>
                        <a:pt x="29" y="13"/>
                      </a:lnTo>
                      <a:lnTo>
                        <a:pt x="29" y="11"/>
                      </a:lnTo>
                      <a:lnTo>
                        <a:pt x="29" y="9"/>
                      </a:lnTo>
                      <a:lnTo>
                        <a:pt x="27" y="7"/>
                      </a:lnTo>
                      <a:lnTo>
                        <a:pt x="27" y="5"/>
                      </a:lnTo>
                      <a:lnTo>
                        <a:pt x="25" y="3"/>
                      </a:lnTo>
                      <a:lnTo>
                        <a:pt x="23" y="1"/>
                      </a:lnTo>
                      <a:lnTo>
                        <a:pt x="21" y="0"/>
                      </a:lnTo>
                      <a:lnTo>
                        <a:pt x="19" y="0"/>
                      </a:lnTo>
                      <a:lnTo>
                        <a:pt x="17" y="0"/>
                      </a:lnTo>
                      <a:lnTo>
                        <a:pt x="13" y="0"/>
                      </a:lnTo>
                      <a:lnTo>
                        <a:pt x="11" y="0"/>
                      </a:lnTo>
                      <a:lnTo>
                        <a:pt x="10" y="0"/>
                      </a:lnTo>
                      <a:lnTo>
                        <a:pt x="8" y="0"/>
                      </a:lnTo>
                      <a:lnTo>
                        <a:pt x="6" y="1"/>
                      </a:lnTo>
                      <a:lnTo>
                        <a:pt x="4" y="3"/>
                      </a:lnTo>
                      <a:lnTo>
                        <a:pt x="2" y="5"/>
                      </a:lnTo>
                      <a:lnTo>
                        <a:pt x="2" y="7"/>
                      </a:lnTo>
                      <a:lnTo>
                        <a:pt x="0" y="9"/>
                      </a:lnTo>
                      <a:lnTo>
                        <a:pt x="0" y="11"/>
                      </a:lnTo>
                      <a:lnTo>
                        <a:pt x="0" y="13"/>
                      </a:lnTo>
                      <a:lnTo>
                        <a:pt x="0" y="15"/>
                      </a:lnTo>
                      <a:lnTo>
                        <a:pt x="0" y="17"/>
                      </a:lnTo>
                      <a:lnTo>
                        <a:pt x="2" y="19"/>
                      </a:lnTo>
                      <a:lnTo>
                        <a:pt x="2" y="21"/>
                      </a:lnTo>
                      <a:lnTo>
                        <a:pt x="4" y="23"/>
                      </a:lnTo>
                      <a:lnTo>
                        <a:pt x="6" y="24"/>
                      </a:lnTo>
                      <a:lnTo>
                        <a:pt x="8" y="26"/>
                      </a:lnTo>
                      <a:lnTo>
                        <a:pt x="10" y="26"/>
                      </a:lnTo>
                      <a:lnTo>
                        <a:pt x="11" y="26"/>
                      </a:lnTo>
                      <a:lnTo>
                        <a:pt x="13" y="28"/>
                      </a:lnTo>
                      <a:lnTo>
                        <a:pt x="13" y="26"/>
                      </a:lnTo>
                      <a:close/>
                    </a:path>
                  </a:pathLst>
                </a:custGeom>
                <a:solidFill>
                  <a:srgbClr val="EB75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>
                    <a:latin typeface="+mj-lt"/>
                  </a:endParaRPr>
                </a:p>
              </p:txBody>
            </p:sp>
            <p:sp>
              <p:nvSpPr>
                <p:cNvPr id="327" name="Freeform 326"/>
                <p:cNvSpPr>
                  <a:spLocks/>
                </p:cNvSpPr>
                <p:nvPr/>
              </p:nvSpPr>
              <p:spPr bwMode="auto">
                <a:xfrm>
                  <a:off x="3469" y="3132"/>
                  <a:ext cx="28" cy="29"/>
                </a:xfrm>
                <a:custGeom>
                  <a:avLst/>
                  <a:gdLst>
                    <a:gd name="T0" fmla="*/ 13 w 28"/>
                    <a:gd name="T1" fmla="*/ 29 h 29"/>
                    <a:gd name="T2" fmla="*/ 17 w 28"/>
                    <a:gd name="T3" fmla="*/ 29 h 29"/>
                    <a:gd name="T4" fmla="*/ 19 w 28"/>
                    <a:gd name="T5" fmla="*/ 29 h 29"/>
                    <a:gd name="T6" fmla="*/ 21 w 28"/>
                    <a:gd name="T7" fmla="*/ 27 h 29"/>
                    <a:gd name="T8" fmla="*/ 23 w 28"/>
                    <a:gd name="T9" fmla="*/ 27 h 29"/>
                    <a:gd name="T10" fmla="*/ 25 w 28"/>
                    <a:gd name="T11" fmla="*/ 25 h 29"/>
                    <a:gd name="T12" fmla="*/ 27 w 28"/>
                    <a:gd name="T13" fmla="*/ 23 h 29"/>
                    <a:gd name="T14" fmla="*/ 27 w 28"/>
                    <a:gd name="T15" fmla="*/ 21 h 29"/>
                    <a:gd name="T16" fmla="*/ 28 w 28"/>
                    <a:gd name="T17" fmla="*/ 19 h 29"/>
                    <a:gd name="T18" fmla="*/ 28 w 28"/>
                    <a:gd name="T19" fmla="*/ 18 h 29"/>
                    <a:gd name="T20" fmla="*/ 28 w 28"/>
                    <a:gd name="T21" fmla="*/ 16 h 29"/>
                    <a:gd name="T22" fmla="*/ 28 w 28"/>
                    <a:gd name="T23" fmla="*/ 12 h 29"/>
                    <a:gd name="T24" fmla="*/ 28 w 28"/>
                    <a:gd name="T25" fmla="*/ 10 h 29"/>
                    <a:gd name="T26" fmla="*/ 27 w 28"/>
                    <a:gd name="T27" fmla="*/ 8 h 29"/>
                    <a:gd name="T28" fmla="*/ 27 w 28"/>
                    <a:gd name="T29" fmla="*/ 6 h 29"/>
                    <a:gd name="T30" fmla="*/ 25 w 28"/>
                    <a:gd name="T31" fmla="*/ 4 h 29"/>
                    <a:gd name="T32" fmla="*/ 23 w 28"/>
                    <a:gd name="T33" fmla="*/ 2 h 29"/>
                    <a:gd name="T34" fmla="*/ 21 w 28"/>
                    <a:gd name="T35" fmla="*/ 2 h 29"/>
                    <a:gd name="T36" fmla="*/ 19 w 28"/>
                    <a:gd name="T37" fmla="*/ 0 h 29"/>
                    <a:gd name="T38" fmla="*/ 17 w 28"/>
                    <a:gd name="T39" fmla="*/ 0 h 29"/>
                    <a:gd name="T40" fmla="*/ 15 w 28"/>
                    <a:gd name="T41" fmla="*/ 0 h 29"/>
                    <a:gd name="T42" fmla="*/ 13 w 28"/>
                    <a:gd name="T43" fmla="*/ 0 h 29"/>
                    <a:gd name="T44" fmla="*/ 9 w 28"/>
                    <a:gd name="T45" fmla="*/ 0 h 29"/>
                    <a:gd name="T46" fmla="*/ 7 w 28"/>
                    <a:gd name="T47" fmla="*/ 2 h 29"/>
                    <a:gd name="T48" fmla="*/ 5 w 28"/>
                    <a:gd name="T49" fmla="*/ 2 h 29"/>
                    <a:gd name="T50" fmla="*/ 4 w 28"/>
                    <a:gd name="T51" fmla="*/ 4 h 29"/>
                    <a:gd name="T52" fmla="*/ 4 w 28"/>
                    <a:gd name="T53" fmla="*/ 6 h 29"/>
                    <a:gd name="T54" fmla="*/ 2 w 28"/>
                    <a:gd name="T55" fmla="*/ 8 h 29"/>
                    <a:gd name="T56" fmla="*/ 2 w 28"/>
                    <a:gd name="T57" fmla="*/ 10 h 29"/>
                    <a:gd name="T58" fmla="*/ 0 w 28"/>
                    <a:gd name="T59" fmla="*/ 12 h 29"/>
                    <a:gd name="T60" fmla="*/ 0 w 28"/>
                    <a:gd name="T61" fmla="*/ 16 h 29"/>
                    <a:gd name="T62" fmla="*/ 0 w 28"/>
                    <a:gd name="T63" fmla="*/ 18 h 29"/>
                    <a:gd name="T64" fmla="*/ 2 w 28"/>
                    <a:gd name="T65" fmla="*/ 19 h 29"/>
                    <a:gd name="T66" fmla="*/ 2 w 28"/>
                    <a:gd name="T67" fmla="*/ 21 h 29"/>
                    <a:gd name="T68" fmla="*/ 4 w 28"/>
                    <a:gd name="T69" fmla="*/ 23 h 29"/>
                    <a:gd name="T70" fmla="*/ 4 w 28"/>
                    <a:gd name="T71" fmla="*/ 25 h 29"/>
                    <a:gd name="T72" fmla="*/ 5 w 28"/>
                    <a:gd name="T73" fmla="*/ 27 h 29"/>
                    <a:gd name="T74" fmla="*/ 7 w 28"/>
                    <a:gd name="T75" fmla="*/ 27 h 29"/>
                    <a:gd name="T76" fmla="*/ 9 w 28"/>
                    <a:gd name="T77" fmla="*/ 29 h 29"/>
                    <a:gd name="T78" fmla="*/ 13 w 28"/>
                    <a:gd name="T79" fmla="*/ 29 h 29"/>
                    <a:gd name="T80" fmla="*/ 15 w 28"/>
                    <a:gd name="T81" fmla="*/ 29 h 29"/>
                    <a:gd name="T82" fmla="*/ 15 w 28"/>
                    <a:gd name="T83" fmla="*/ 29 h 29"/>
                    <a:gd name="T84" fmla="*/ 13 w 28"/>
                    <a:gd name="T85" fmla="*/ 29 h 29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w 28"/>
                    <a:gd name="T130" fmla="*/ 0 h 29"/>
                    <a:gd name="T131" fmla="*/ 28 w 28"/>
                    <a:gd name="T132" fmla="*/ 29 h 29"/>
                  </a:gdLst>
                  <a:ahLst/>
                  <a:cxnLst>
                    <a:cxn ang="T86">
                      <a:pos x="T0" y="T1"/>
                    </a:cxn>
                    <a:cxn ang="T87">
                      <a:pos x="T2" y="T3"/>
                    </a:cxn>
                    <a:cxn ang="T88">
                      <a:pos x="T4" y="T5"/>
                    </a:cxn>
                    <a:cxn ang="T89">
                      <a:pos x="T6" y="T7"/>
                    </a:cxn>
                    <a:cxn ang="T90">
                      <a:pos x="T8" y="T9"/>
                    </a:cxn>
                    <a:cxn ang="T91">
                      <a:pos x="T10" y="T11"/>
                    </a:cxn>
                    <a:cxn ang="T92">
                      <a:pos x="T12" y="T13"/>
                    </a:cxn>
                    <a:cxn ang="T93">
                      <a:pos x="T14" y="T15"/>
                    </a:cxn>
                    <a:cxn ang="T94">
                      <a:pos x="T16" y="T17"/>
                    </a:cxn>
                    <a:cxn ang="T95">
                      <a:pos x="T18" y="T19"/>
                    </a:cxn>
                    <a:cxn ang="T96">
                      <a:pos x="T20" y="T21"/>
                    </a:cxn>
                    <a:cxn ang="T97">
                      <a:pos x="T22" y="T23"/>
                    </a:cxn>
                    <a:cxn ang="T98">
                      <a:pos x="T24" y="T25"/>
                    </a:cxn>
                    <a:cxn ang="T99">
                      <a:pos x="T26" y="T27"/>
                    </a:cxn>
                    <a:cxn ang="T100">
                      <a:pos x="T28" y="T29"/>
                    </a:cxn>
                    <a:cxn ang="T101">
                      <a:pos x="T30" y="T31"/>
                    </a:cxn>
                    <a:cxn ang="T102">
                      <a:pos x="T32" y="T33"/>
                    </a:cxn>
                    <a:cxn ang="T103">
                      <a:pos x="T34" y="T35"/>
                    </a:cxn>
                    <a:cxn ang="T104">
                      <a:pos x="T36" y="T37"/>
                    </a:cxn>
                    <a:cxn ang="T105">
                      <a:pos x="T38" y="T39"/>
                    </a:cxn>
                    <a:cxn ang="T106">
                      <a:pos x="T40" y="T41"/>
                    </a:cxn>
                    <a:cxn ang="T107">
                      <a:pos x="T42" y="T43"/>
                    </a:cxn>
                    <a:cxn ang="T108">
                      <a:pos x="T44" y="T45"/>
                    </a:cxn>
                    <a:cxn ang="T109">
                      <a:pos x="T46" y="T47"/>
                    </a:cxn>
                    <a:cxn ang="T110">
                      <a:pos x="T48" y="T49"/>
                    </a:cxn>
                    <a:cxn ang="T111">
                      <a:pos x="T50" y="T51"/>
                    </a:cxn>
                    <a:cxn ang="T112">
                      <a:pos x="T52" y="T53"/>
                    </a:cxn>
                    <a:cxn ang="T113">
                      <a:pos x="T54" y="T55"/>
                    </a:cxn>
                    <a:cxn ang="T114">
                      <a:pos x="T56" y="T57"/>
                    </a:cxn>
                    <a:cxn ang="T115">
                      <a:pos x="T58" y="T59"/>
                    </a:cxn>
                    <a:cxn ang="T116">
                      <a:pos x="T60" y="T61"/>
                    </a:cxn>
                    <a:cxn ang="T117">
                      <a:pos x="T62" y="T63"/>
                    </a:cxn>
                    <a:cxn ang="T118">
                      <a:pos x="T64" y="T65"/>
                    </a:cxn>
                    <a:cxn ang="T119">
                      <a:pos x="T66" y="T67"/>
                    </a:cxn>
                    <a:cxn ang="T120">
                      <a:pos x="T68" y="T69"/>
                    </a:cxn>
                    <a:cxn ang="T121">
                      <a:pos x="T70" y="T71"/>
                    </a:cxn>
                    <a:cxn ang="T122">
                      <a:pos x="T72" y="T73"/>
                    </a:cxn>
                    <a:cxn ang="T123">
                      <a:pos x="T74" y="T75"/>
                    </a:cxn>
                    <a:cxn ang="T124">
                      <a:pos x="T76" y="T77"/>
                    </a:cxn>
                    <a:cxn ang="T125">
                      <a:pos x="T78" y="T79"/>
                    </a:cxn>
                    <a:cxn ang="T126">
                      <a:pos x="T80" y="T81"/>
                    </a:cxn>
                    <a:cxn ang="T127">
                      <a:pos x="T82" y="T83"/>
                    </a:cxn>
                    <a:cxn ang="T128">
                      <a:pos x="T84" y="T85"/>
                    </a:cxn>
                  </a:cxnLst>
                  <a:rect l="T129" t="T130" r="T131" b="T132"/>
                  <a:pathLst>
                    <a:path w="28" h="29">
                      <a:moveTo>
                        <a:pt x="13" y="29"/>
                      </a:moveTo>
                      <a:lnTo>
                        <a:pt x="17" y="29"/>
                      </a:lnTo>
                      <a:lnTo>
                        <a:pt x="19" y="29"/>
                      </a:lnTo>
                      <a:lnTo>
                        <a:pt x="21" y="27"/>
                      </a:lnTo>
                      <a:lnTo>
                        <a:pt x="23" y="27"/>
                      </a:lnTo>
                      <a:lnTo>
                        <a:pt x="25" y="25"/>
                      </a:lnTo>
                      <a:lnTo>
                        <a:pt x="27" y="23"/>
                      </a:lnTo>
                      <a:lnTo>
                        <a:pt x="27" y="21"/>
                      </a:lnTo>
                      <a:lnTo>
                        <a:pt x="28" y="19"/>
                      </a:lnTo>
                      <a:lnTo>
                        <a:pt x="28" y="18"/>
                      </a:lnTo>
                      <a:lnTo>
                        <a:pt x="28" y="16"/>
                      </a:lnTo>
                      <a:lnTo>
                        <a:pt x="28" y="12"/>
                      </a:lnTo>
                      <a:lnTo>
                        <a:pt x="28" y="10"/>
                      </a:lnTo>
                      <a:lnTo>
                        <a:pt x="27" y="8"/>
                      </a:lnTo>
                      <a:lnTo>
                        <a:pt x="27" y="6"/>
                      </a:lnTo>
                      <a:lnTo>
                        <a:pt x="25" y="4"/>
                      </a:lnTo>
                      <a:lnTo>
                        <a:pt x="23" y="2"/>
                      </a:lnTo>
                      <a:lnTo>
                        <a:pt x="21" y="2"/>
                      </a:lnTo>
                      <a:lnTo>
                        <a:pt x="19" y="0"/>
                      </a:lnTo>
                      <a:lnTo>
                        <a:pt x="17" y="0"/>
                      </a:lnTo>
                      <a:lnTo>
                        <a:pt x="15" y="0"/>
                      </a:lnTo>
                      <a:lnTo>
                        <a:pt x="13" y="0"/>
                      </a:lnTo>
                      <a:lnTo>
                        <a:pt x="9" y="0"/>
                      </a:lnTo>
                      <a:lnTo>
                        <a:pt x="7" y="2"/>
                      </a:lnTo>
                      <a:lnTo>
                        <a:pt x="5" y="2"/>
                      </a:lnTo>
                      <a:lnTo>
                        <a:pt x="4" y="4"/>
                      </a:lnTo>
                      <a:lnTo>
                        <a:pt x="4" y="6"/>
                      </a:lnTo>
                      <a:lnTo>
                        <a:pt x="2" y="8"/>
                      </a:lnTo>
                      <a:lnTo>
                        <a:pt x="2" y="10"/>
                      </a:lnTo>
                      <a:lnTo>
                        <a:pt x="0" y="12"/>
                      </a:lnTo>
                      <a:lnTo>
                        <a:pt x="0" y="16"/>
                      </a:lnTo>
                      <a:lnTo>
                        <a:pt x="0" y="18"/>
                      </a:lnTo>
                      <a:lnTo>
                        <a:pt x="2" y="19"/>
                      </a:lnTo>
                      <a:lnTo>
                        <a:pt x="2" y="21"/>
                      </a:lnTo>
                      <a:lnTo>
                        <a:pt x="4" y="23"/>
                      </a:lnTo>
                      <a:lnTo>
                        <a:pt x="4" y="25"/>
                      </a:lnTo>
                      <a:lnTo>
                        <a:pt x="5" y="27"/>
                      </a:lnTo>
                      <a:lnTo>
                        <a:pt x="7" y="27"/>
                      </a:lnTo>
                      <a:lnTo>
                        <a:pt x="9" y="29"/>
                      </a:lnTo>
                      <a:lnTo>
                        <a:pt x="13" y="29"/>
                      </a:lnTo>
                      <a:lnTo>
                        <a:pt x="15" y="29"/>
                      </a:lnTo>
                      <a:lnTo>
                        <a:pt x="13" y="29"/>
                      </a:lnTo>
                      <a:close/>
                    </a:path>
                  </a:pathLst>
                </a:custGeom>
                <a:solidFill>
                  <a:srgbClr val="EB75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>
                    <a:latin typeface="+mj-lt"/>
                  </a:endParaRPr>
                </a:p>
              </p:txBody>
            </p:sp>
            <p:sp>
              <p:nvSpPr>
                <p:cNvPr id="328" name="Freeform 327"/>
                <p:cNvSpPr>
                  <a:spLocks/>
                </p:cNvSpPr>
                <p:nvPr/>
              </p:nvSpPr>
              <p:spPr bwMode="auto">
                <a:xfrm>
                  <a:off x="3823" y="3458"/>
                  <a:ext cx="29" cy="29"/>
                </a:xfrm>
                <a:custGeom>
                  <a:avLst/>
                  <a:gdLst>
                    <a:gd name="T0" fmla="*/ 14 w 29"/>
                    <a:gd name="T1" fmla="*/ 29 h 29"/>
                    <a:gd name="T2" fmla="*/ 18 w 29"/>
                    <a:gd name="T3" fmla="*/ 29 h 29"/>
                    <a:gd name="T4" fmla="*/ 19 w 29"/>
                    <a:gd name="T5" fmla="*/ 29 h 29"/>
                    <a:gd name="T6" fmla="*/ 21 w 29"/>
                    <a:gd name="T7" fmla="*/ 29 h 29"/>
                    <a:gd name="T8" fmla="*/ 23 w 29"/>
                    <a:gd name="T9" fmla="*/ 27 h 29"/>
                    <a:gd name="T10" fmla="*/ 25 w 29"/>
                    <a:gd name="T11" fmla="*/ 25 h 29"/>
                    <a:gd name="T12" fmla="*/ 25 w 29"/>
                    <a:gd name="T13" fmla="*/ 23 h 29"/>
                    <a:gd name="T14" fmla="*/ 27 w 29"/>
                    <a:gd name="T15" fmla="*/ 21 h 29"/>
                    <a:gd name="T16" fmla="*/ 29 w 29"/>
                    <a:gd name="T17" fmla="*/ 19 h 29"/>
                    <a:gd name="T18" fmla="*/ 29 w 29"/>
                    <a:gd name="T19" fmla="*/ 17 h 29"/>
                    <a:gd name="T20" fmla="*/ 29 w 29"/>
                    <a:gd name="T21" fmla="*/ 15 h 29"/>
                    <a:gd name="T22" fmla="*/ 29 w 29"/>
                    <a:gd name="T23" fmla="*/ 13 h 29"/>
                    <a:gd name="T24" fmla="*/ 29 w 29"/>
                    <a:gd name="T25" fmla="*/ 9 h 29"/>
                    <a:gd name="T26" fmla="*/ 27 w 29"/>
                    <a:gd name="T27" fmla="*/ 7 h 29"/>
                    <a:gd name="T28" fmla="*/ 25 w 29"/>
                    <a:gd name="T29" fmla="*/ 6 h 29"/>
                    <a:gd name="T30" fmla="*/ 25 w 29"/>
                    <a:gd name="T31" fmla="*/ 6 h 29"/>
                    <a:gd name="T32" fmla="*/ 23 w 29"/>
                    <a:gd name="T33" fmla="*/ 4 h 29"/>
                    <a:gd name="T34" fmla="*/ 21 w 29"/>
                    <a:gd name="T35" fmla="*/ 2 h 29"/>
                    <a:gd name="T36" fmla="*/ 19 w 29"/>
                    <a:gd name="T37" fmla="*/ 2 h 29"/>
                    <a:gd name="T38" fmla="*/ 18 w 29"/>
                    <a:gd name="T39" fmla="*/ 0 h 29"/>
                    <a:gd name="T40" fmla="*/ 14 w 29"/>
                    <a:gd name="T41" fmla="*/ 0 h 29"/>
                    <a:gd name="T42" fmla="*/ 12 w 29"/>
                    <a:gd name="T43" fmla="*/ 0 h 29"/>
                    <a:gd name="T44" fmla="*/ 10 w 29"/>
                    <a:gd name="T45" fmla="*/ 2 h 29"/>
                    <a:gd name="T46" fmla="*/ 8 w 29"/>
                    <a:gd name="T47" fmla="*/ 2 h 29"/>
                    <a:gd name="T48" fmla="*/ 6 w 29"/>
                    <a:gd name="T49" fmla="*/ 4 h 29"/>
                    <a:gd name="T50" fmla="*/ 4 w 29"/>
                    <a:gd name="T51" fmla="*/ 6 h 29"/>
                    <a:gd name="T52" fmla="*/ 2 w 29"/>
                    <a:gd name="T53" fmla="*/ 6 h 29"/>
                    <a:gd name="T54" fmla="*/ 2 w 29"/>
                    <a:gd name="T55" fmla="*/ 7 h 29"/>
                    <a:gd name="T56" fmla="*/ 0 w 29"/>
                    <a:gd name="T57" fmla="*/ 9 h 29"/>
                    <a:gd name="T58" fmla="*/ 0 w 29"/>
                    <a:gd name="T59" fmla="*/ 13 h 29"/>
                    <a:gd name="T60" fmla="*/ 0 w 29"/>
                    <a:gd name="T61" fmla="*/ 15 h 29"/>
                    <a:gd name="T62" fmla="*/ 0 w 29"/>
                    <a:gd name="T63" fmla="*/ 17 h 29"/>
                    <a:gd name="T64" fmla="*/ 0 w 29"/>
                    <a:gd name="T65" fmla="*/ 19 h 29"/>
                    <a:gd name="T66" fmla="*/ 2 w 29"/>
                    <a:gd name="T67" fmla="*/ 21 h 29"/>
                    <a:gd name="T68" fmla="*/ 2 w 29"/>
                    <a:gd name="T69" fmla="*/ 23 h 29"/>
                    <a:gd name="T70" fmla="*/ 4 w 29"/>
                    <a:gd name="T71" fmla="*/ 25 h 29"/>
                    <a:gd name="T72" fmla="*/ 6 w 29"/>
                    <a:gd name="T73" fmla="*/ 27 h 29"/>
                    <a:gd name="T74" fmla="*/ 8 w 29"/>
                    <a:gd name="T75" fmla="*/ 29 h 29"/>
                    <a:gd name="T76" fmla="*/ 10 w 29"/>
                    <a:gd name="T77" fmla="*/ 29 h 29"/>
                    <a:gd name="T78" fmla="*/ 12 w 29"/>
                    <a:gd name="T79" fmla="*/ 29 h 29"/>
                    <a:gd name="T80" fmla="*/ 14 w 29"/>
                    <a:gd name="T81" fmla="*/ 29 h 29"/>
                    <a:gd name="T82" fmla="*/ 14 w 29"/>
                    <a:gd name="T83" fmla="*/ 29 h 29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w 29"/>
                    <a:gd name="T127" fmla="*/ 0 h 29"/>
                    <a:gd name="T128" fmla="*/ 29 w 29"/>
                    <a:gd name="T129" fmla="*/ 29 h 29"/>
                  </a:gdLst>
                  <a:ahLst/>
                  <a:cxnLst>
                    <a:cxn ang="T84">
                      <a:pos x="T0" y="T1"/>
                    </a:cxn>
                    <a:cxn ang="T85">
                      <a:pos x="T2" y="T3"/>
                    </a:cxn>
                    <a:cxn ang="T86">
                      <a:pos x="T4" y="T5"/>
                    </a:cxn>
                    <a:cxn ang="T87">
                      <a:pos x="T6" y="T7"/>
                    </a:cxn>
                    <a:cxn ang="T88">
                      <a:pos x="T8" y="T9"/>
                    </a:cxn>
                    <a:cxn ang="T89">
                      <a:pos x="T10" y="T11"/>
                    </a:cxn>
                    <a:cxn ang="T90">
                      <a:pos x="T12" y="T13"/>
                    </a:cxn>
                    <a:cxn ang="T91">
                      <a:pos x="T14" y="T15"/>
                    </a:cxn>
                    <a:cxn ang="T92">
                      <a:pos x="T16" y="T17"/>
                    </a:cxn>
                    <a:cxn ang="T93">
                      <a:pos x="T18" y="T19"/>
                    </a:cxn>
                    <a:cxn ang="T94">
                      <a:pos x="T20" y="T21"/>
                    </a:cxn>
                    <a:cxn ang="T95">
                      <a:pos x="T22" y="T23"/>
                    </a:cxn>
                    <a:cxn ang="T96">
                      <a:pos x="T24" y="T25"/>
                    </a:cxn>
                    <a:cxn ang="T97">
                      <a:pos x="T26" y="T27"/>
                    </a:cxn>
                    <a:cxn ang="T98">
                      <a:pos x="T28" y="T29"/>
                    </a:cxn>
                    <a:cxn ang="T99">
                      <a:pos x="T30" y="T31"/>
                    </a:cxn>
                    <a:cxn ang="T100">
                      <a:pos x="T32" y="T33"/>
                    </a:cxn>
                    <a:cxn ang="T101">
                      <a:pos x="T34" y="T35"/>
                    </a:cxn>
                    <a:cxn ang="T102">
                      <a:pos x="T36" y="T37"/>
                    </a:cxn>
                    <a:cxn ang="T103">
                      <a:pos x="T38" y="T39"/>
                    </a:cxn>
                    <a:cxn ang="T104">
                      <a:pos x="T40" y="T41"/>
                    </a:cxn>
                    <a:cxn ang="T105">
                      <a:pos x="T42" y="T43"/>
                    </a:cxn>
                    <a:cxn ang="T106">
                      <a:pos x="T44" y="T45"/>
                    </a:cxn>
                    <a:cxn ang="T107">
                      <a:pos x="T46" y="T47"/>
                    </a:cxn>
                    <a:cxn ang="T108">
                      <a:pos x="T48" y="T49"/>
                    </a:cxn>
                    <a:cxn ang="T109">
                      <a:pos x="T50" y="T51"/>
                    </a:cxn>
                    <a:cxn ang="T110">
                      <a:pos x="T52" y="T53"/>
                    </a:cxn>
                    <a:cxn ang="T111">
                      <a:pos x="T54" y="T55"/>
                    </a:cxn>
                    <a:cxn ang="T112">
                      <a:pos x="T56" y="T57"/>
                    </a:cxn>
                    <a:cxn ang="T113">
                      <a:pos x="T58" y="T59"/>
                    </a:cxn>
                    <a:cxn ang="T114">
                      <a:pos x="T60" y="T61"/>
                    </a:cxn>
                    <a:cxn ang="T115">
                      <a:pos x="T62" y="T63"/>
                    </a:cxn>
                    <a:cxn ang="T116">
                      <a:pos x="T64" y="T65"/>
                    </a:cxn>
                    <a:cxn ang="T117">
                      <a:pos x="T66" y="T67"/>
                    </a:cxn>
                    <a:cxn ang="T118">
                      <a:pos x="T68" y="T69"/>
                    </a:cxn>
                    <a:cxn ang="T119">
                      <a:pos x="T70" y="T71"/>
                    </a:cxn>
                    <a:cxn ang="T120">
                      <a:pos x="T72" y="T73"/>
                    </a:cxn>
                    <a:cxn ang="T121">
                      <a:pos x="T74" y="T75"/>
                    </a:cxn>
                    <a:cxn ang="T122">
                      <a:pos x="T76" y="T77"/>
                    </a:cxn>
                    <a:cxn ang="T123">
                      <a:pos x="T78" y="T79"/>
                    </a:cxn>
                    <a:cxn ang="T124">
                      <a:pos x="T80" y="T81"/>
                    </a:cxn>
                    <a:cxn ang="T125">
                      <a:pos x="T82" y="T83"/>
                    </a:cxn>
                  </a:cxnLst>
                  <a:rect l="T126" t="T127" r="T128" b="T129"/>
                  <a:pathLst>
                    <a:path w="29" h="29">
                      <a:moveTo>
                        <a:pt x="14" y="29"/>
                      </a:moveTo>
                      <a:lnTo>
                        <a:pt x="18" y="29"/>
                      </a:lnTo>
                      <a:lnTo>
                        <a:pt x="19" y="29"/>
                      </a:lnTo>
                      <a:lnTo>
                        <a:pt x="21" y="29"/>
                      </a:lnTo>
                      <a:lnTo>
                        <a:pt x="23" y="27"/>
                      </a:lnTo>
                      <a:lnTo>
                        <a:pt x="25" y="25"/>
                      </a:lnTo>
                      <a:lnTo>
                        <a:pt x="25" y="23"/>
                      </a:lnTo>
                      <a:lnTo>
                        <a:pt x="27" y="21"/>
                      </a:lnTo>
                      <a:lnTo>
                        <a:pt x="29" y="19"/>
                      </a:lnTo>
                      <a:lnTo>
                        <a:pt x="29" y="17"/>
                      </a:lnTo>
                      <a:lnTo>
                        <a:pt x="29" y="15"/>
                      </a:lnTo>
                      <a:lnTo>
                        <a:pt x="29" y="13"/>
                      </a:lnTo>
                      <a:lnTo>
                        <a:pt x="29" y="9"/>
                      </a:lnTo>
                      <a:lnTo>
                        <a:pt x="27" y="7"/>
                      </a:lnTo>
                      <a:lnTo>
                        <a:pt x="25" y="6"/>
                      </a:lnTo>
                      <a:lnTo>
                        <a:pt x="23" y="4"/>
                      </a:lnTo>
                      <a:lnTo>
                        <a:pt x="21" y="2"/>
                      </a:lnTo>
                      <a:lnTo>
                        <a:pt x="19" y="2"/>
                      </a:lnTo>
                      <a:lnTo>
                        <a:pt x="18" y="0"/>
                      </a:lnTo>
                      <a:lnTo>
                        <a:pt x="14" y="0"/>
                      </a:lnTo>
                      <a:lnTo>
                        <a:pt x="12" y="0"/>
                      </a:lnTo>
                      <a:lnTo>
                        <a:pt x="10" y="2"/>
                      </a:lnTo>
                      <a:lnTo>
                        <a:pt x="8" y="2"/>
                      </a:lnTo>
                      <a:lnTo>
                        <a:pt x="6" y="4"/>
                      </a:lnTo>
                      <a:lnTo>
                        <a:pt x="4" y="6"/>
                      </a:lnTo>
                      <a:lnTo>
                        <a:pt x="2" y="6"/>
                      </a:lnTo>
                      <a:lnTo>
                        <a:pt x="2" y="7"/>
                      </a:lnTo>
                      <a:lnTo>
                        <a:pt x="0" y="9"/>
                      </a:lnTo>
                      <a:lnTo>
                        <a:pt x="0" y="13"/>
                      </a:lnTo>
                      <a:lnTo>
                        <a:pt x="0" y="15"/>
                      </a:lnTo>
                      <a:lnTo>
                        <a:pt x="0" y="17"/>
                      </a:lnTo>
                      <a:lnTo>
                        <a:pt x="0" y="19"/>
                      </a:lnTo>
                      <a:lnTo>
                        <a:pt x="2" y="21"/>
                      </a:lnTo>
                      <a:lnTo>
                        <a:pt x="2" y="23"/>
                      </a:lnTo>
                      <a:lnTo>
                        <a:pt x="4" y="25"/>
                      </a:lnTo>
                      <a:lnTo>
                        <a:pt x="6" y="27"/>
                      </a:lnTo>
                      <a:lnTo>
                        <a:pt x="8" y="29"/>
                      </a:lnTo>
                      <a:lnTo>
                        <a:pt x="10" y="29"/>
                      </a:lnTo>
                      <a:lnTo>
                        <a:pt x="12" y="29"/>
                      </a:lnTo>
                      <a:lnTo>
                        <a:pt x="14" y="29"/>
                      </a:lnTo>
                      <a:close/>
                    </a:path>
                  </a:pathLst>
                </a:custGeom>
                <a:solidFill>
                  <a:srgbClr val="EB75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>
                    <a:latin typeface="+mj-lt"/>
                  </a:endParaRPr>
                </a:p>
              </p:txBody>
            </p:sp>
            <p:sp>
              <p:nvSpPr>
                <p:cNvPr id="329" name="Line 328"/>
                <p:cNvSpPr>
                  <a:spLocks noChangeShapeType="1"/>
                </p:cNvSpPr>
                <p:nvPr/>
              </p:nvSpPr>
              <p:spPr bwMode="auto">
                <a:xfrm>
                  <a:off x="4034" y="3481"/>
                  <a:ext cx="90" cy="1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>
                    <a:latin typeface="+mj-lt"/>
                  </a:endParaRPr>
                </a:p>
              </p:txBody>
            </p:sp>
            <p:sp>
              <p:nvSpPr>
                <p:cNvPr id="330" name="Line 329"/>
                <p:cNvSpPr>
                  <a:spLocks noChangeShapeType="1"/>
                </p:cNvSpPr>
                <p:nvPr/>
              </p:nvSpPr>
              <p:spPr bwMode="auto">
                <a:xfrm>
                  <a:off x="4034" y="3552"/>
                  <a:ext cx="90" cy="2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>
                    <a:latin typeface="+mj-lt"/>
                  </a:endParaRPr>
                </a:p>
              </p:txBody>
            </p:sp>
            <p:sp>
              <p:nvSpPr>
                <p:cNvPr id="331" name="Freeform 330"/>
                <p:cNvSpPr>
                  <a:spLocks/>
                </p:cNvSpPr>
                <p:nvPr/>
              </p:nvSpPr>
              <p:spPr bwMode="auto">
                <a:xfrm>
                  <a:off x="3729" y="2870"/>
                  <a:ext cx="252" cy="109"/>
                </a:xfrm>
                <a:custGeom>
                  <a:avLst/>
                  <a:gdLst>
                    <a:gd name="T0" fmla="*/ 0 w 252"/>
                    <a:gd name="T1" fmla="*/ 0 h 109"/>
                    <a:gd name="T2" fmla="*/ 0 w 252"/>
                    <a:gd name="T3" fmla="*/ 109 h 109"/>
                    <a:gd name="T4" fmla="*/ 217 w 252"/>
                    <a:gd name="T5" fmla="*/ 109 h 109"/>
                    <a:gd name="T6" fmla="*/ 217 w 252"/>
                    <a:gd name="T7" fmla="*/ 36 h 109"/>
                    <a:gd name="T8" fmla="*/ 252 w 252"/>
                    <a:gd name="T9" fmla="*/ 36 h 10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2"/>
                    <a:gd name="T16" fmla="*/ 0 h 109"/>
                    <a:gd name="T17" fmla="*/ 252 w 252"/>
                    <a:gd name="T18" fmla="*/ 109 h 10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2" h="109">
                      <a:moveTo>
                        <a:pt x="0" y="0"/>
                      </a:moveTo>
                      <a:lnTo>
                        <a:pt x="0" y="109"/>
                      </a:lnTo>
                      <a:lnTo>
                        <a:pt x="217" y="109"/>
                      </a:lnTo>
                      <a:lnTo>
                        <a:pt x="217" y="36"/>
                      </a:lnTo>
                      <a:lnTo>
                        <a:pt x="252" y="36"/>
                      </a:ln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>
                    <a:latin typeface="+mj-lt"/>
                  </a:endParaRPr>
                </a:p>
              </p:txBody>
            </p:sp>
            <p:sp>
              <p:nvSpPr>
                <p:cNvPr id="332" name="Freeform 331"/>
                <p:cNvSpPr>
                  <a:spLocks/>
                </p:cNvSpPr>
                <p:nvPr/>
              </p:nvSpPr>
              <p:spPr bwMode="auto">
                <a:xfrm>
                  <a:off x="3298" y="2726"/>
                  <a:ext cx="56" cy="288"/>
                </a:xfrm>
                <a:custGeom>
                  <a:avLst/>
                  <a:gdLst>
                    <a:gd name="T0" fmla="*/ 54 w 56"/>
                    <a:gd name="T1" fmla="*/ 288 h 288"/>
                    <a:gd name="T2" fmla="*/ 56 w 56"/>
                    <a:gd name="T3" fmla="*/ 0 h 288"/>
                    <a:gd name="T4" fmla="*/ 0 w 56"/>
                    <a:gd name="T5" fmla="*/ 0 h 288"/>
                    <a:gd name="T6" fmla="*/ 0 w 56"/>
                    <a:gd name="T7" fmla="*/ 288 h 288"/>
                    <a:gd name="T8" fmla="*/ 56 w 56"/>
                    <a:gd name="T9" fmla="*/ 288 h 288"/>
                    <a:gd name="T10" fmla="*/ 56 w 56"/>
                    <a:gd name="T11" fmla="*/ 288 h 288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56"/>
                    <a:gd name="T19" fmla="*/ 0 h 288"/>
                    <a:gd name="T20" fmla="*/ 56 w 56"/>
                    <a:gd name="T21" fmla="*/ 288 h 288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56" h="288">
                      <a:moveTo>
                        <a:pt x="54" y="288"/>
                      </a:moveTo>
                      <a:lnTo>
                        <a:pt x="56" y="0"/>
                      </a:lnTo>
                      <a:lnTo>
                        <a:pt x="0" y="0"/>
                      </a:lnTo>
                      <a:lnTo>
                        <a:pt x="0" y="288"/>
                      </a:lnTo>
                      <a:lnTo>
                        <a:pt x="56" y="288"/>
                      </a:ln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>
                    <a:latin typeface="+mj-lt"/>
                  </a:endParaRPr>
                </a:p>
              </p:txBody>
            </p:sp>
            <p:sp>
              <p:nvSpPr>
                <p:cNvPr id="333" name="Freeform 332"/>
                <p:cNvSpPr>
                  <a:spLocks/>
                </p:cNvSpPr>
                <p:nvPr/>
              </p:nvSpPr>
              <p:spPr bwMode="auto">
                <a:xfrm>
                  <a:off x="3637" y="2726"/>
                  <a:ext cx="56" cy="288"/>
                </a:xfrm>
                <a:custGeom>
                  <a:avLst/>
                  <a:gdLst>
                    <a:gd name="T0" fmla="*/ 54 w 56"/>
                    <a:gd name="T1" fmla="*/ 288 h 288"/>
                    <a:gd name="T2" fmla="*/ 56 w 56"/>
                    <a:gd name="T3" fmla="*/ 0 h 288"/>
                    <a:gd name="T4" fmla="*/ 0 w 56"/>
                    <a:gd name="T5" fmla="*/ 0 h 288"/>
                    <a:gd name="T6" fmla="*/ 0 w 56"/>
                    <a:gd name="T7" fmla="*/ 288 h 288"/>
                    <a:gd name="T8" fmla="*/ 56 w 56"/>
                    <a:gd name="T9" fmla="*/ 288 h 288"/>
                    <a:gd name="T10" fmla="*/ 56 w 56"/>
                    <a:gd name="T11" fmla="*/ 288 h 288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56"/>
                    <a:gd name="T19" fmla="*/ 0 h 288"/>
                    <a:gd name="T20" fmla="*/ 56 w 56"/>
                    <a:gd name="T21" fmla="*/ 288 h 288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56" h="288">
                      <a:moveTo>
                        <a:pt x="54" y="288"/>
                      </a:moveTo>
                      <a:lnTo>
                        <a:pt x="56" y="0"/>
                      </a:lnTo>
                      <a:lnTo>
                        <a:pt x="0" y="0"/>
                      </a:lnTo>
                      <a:lnTo>
                        <a:pt x="0" y="288"/>
                      </a:lnTo>
                      <a:lnTo>
                        <a:pt x="56" y="288"/>
                      </a:ln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>
                    <a:latin typeface="+mj-lt"/>
                  </a:endParaRPr>
                </a:p>
              </p:txBody>
            </p:sp>
            <p:sp>
              <p:nvSpPr>
                <p:cNvPr id="334" name="Freeform 333"/>
                <p:cNvSpPr>
                  <a:spLocks/>
                </p:cNvSpPr>
                <p:nvPr/>
              </p:nvSpPr>
              <p:spPr bwMode="auto">
                <a:xfrm>
                  <a:off x="3766" y="2799"/>
                  <a:ext cx="144" cy="144"/>
                </a:xfrm>
                <a:custGeom>
                  <a:avLst/>
                  <a:gdLst>
                    <a:gd name="T0" fmla="*/ 144 w 144"/>
                    <a:gd name="T1" fmla="*/ 144 h 144"/>
                    <a:gd name="T2" fmla="*/ 144 w 144"/>
                    <a:gd name="T3" fmla="*/ 0 h 144"/>
                    <a:gd name="T4" fmla="*/ 0 w 144"/>
                    <a:gd name="T5" fmla="*/ 0 h 144"/>
                    <a:gd name="T6" fmla="*/ 0 w 144"/>
                    <a:gd name="T7" fmla="*/ 144 h 144"/>
                    <a:gd name="T8" fmla="*/ 144 w 144"/>
                    <a:gd name="T9" fmla="*/ 144 h 144"/>
                    <a:gd name="T10" fmla="*/ 144 w 144"/>
                    <a:gd name="T11" fmla="*/ 144 h 144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144"/>
                    <a:gd name="T19" fmla="*/ 0 h 144"/>
                    <a:gd name="T20" fmla="*/ 144 w 144"/>
                    <a:gd name="T21" fmla="*/ 144 h 144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144" h="144">
                      <a:moveTo>
                        <a:pt x="144" y="144"/>
                      </a:moveTo>
                      <a:lnTo>
                        <a:pt x="144" y="0"/>
                      </a:lnTo>
                      <a:lnTo>
                        <a:pt x="0" y="0"/>
                      </a:lnTo>
                      <a:lnTo>
                        <a:pt x="0" y="144"/>
                      </a:lnTo>
                      <a:lnTo>
                        <a:pt x="144" y="144"/>
                      </a:ln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>
                    <a:latin typeface="+mj-lt"/>
                  </a:endParaRPr>
                </a:p>
              </p:txBody>
            </p:sp>
            <p:sp>
              <p:nvSpPr>
                <p:cNvPr id="335" name="Rectangle 334"/>
                <p:cNvSpPr>
                  <a:spLocks noChangeArrowheads="1"/>
                </p:cNvSpPr>
                <p:nvPr/>
              </p:nvSpPr>
              <p:spPr bwMode="auto">
                <a:xfrm>
                  <a:off x="3789" y="2828"/>
                  <a:ext cx="43" cy="9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US" sz="800">
                      <a:solidFill>
                        <a:srgbClr val="000000"/>
                      </a:solidFill>
                      <a:latin typeface="+mj-lt"/>
                    </a:rPr>
                    <a:t>D</a:t>
                  </a:r>
                  <a:endParaRPr lang="en-US" sz="1200" b="1">
                    <a:latin typeface="+mj-lt"/>
                  </a:endParaRPr>
                </a:p>
              </p:txBody>
            </p:sp>
            <p:sp>
              <p:nvSpPr>
                <p:cNvPr id="336" name="Rectangle 335"/>
                <p:cNvSpPr>
                  <a:spLocks noChangeArrowheads="1"/>
                </p:cNvSpPr>
                <p:nvPr/>
              </p:nvSpPr>
              <p:spPr bwMode="auto">
                <a:xfrm>
                  <a:off x="3835" y="2828"/>
                  <a:ext cx="60" cy="9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US" sz="800">
                      <a:solidFill>
                        <a:srgbClr val="000000"/>
                      </a:solidFill>
                      <a:latin typeface="+mj-lt"/>
                    </a:rPr>
                    <a:t>M</a:t>
                  </a:r>
                  <a:endParaRPr lang="en-US" sz="1200" b="1">
                    <a:latin typeface="+mj-lt"/>
                  </a:endParaRPr>
                </a:p>
              </p:txBody>
            </p:sp>
            <p:sp>
              <p:nvSpPr>
                <p:cNvPr id="337" name="Freeform 336"/>
                <p:cNvSpPr>
                  <a:spLocks/>
                </p:cNvSpPr>
                <p:nvPr/>
              </p:nvSpPr>
              <p:spPr bwMode="auto">
                <a:xfrm>
                  <a:off x="3781" y="3050"/>
                  <a:ext cx="109" cy="285"/>
                </a:xfrm>
                <a:custGeom>
                  <a:avLst/>
                  <a:gdLst>
                    <a:gd name="T0" fmla="*/ 0 w 109"/>
                    <a:gd name="T1" fmla="*/ 0 h 285"/>
                    <a:gd name="T2" fmla="*/ 2 w 109"/>
                    <a:gd name="T3" fmla="*/ 117 h 285"/>
                    <a:gd name="T4" fmla="*/ 37 w 109"/>
                    <a:gd name="T5" fmla="*/ 144 h 285"/>
                    <a:gd name="T6" fmla="*/ 2 w 109"/>
                    <a:gd name="T7" fmla="*/ 170 h 285"/>
                    <a:gd name="T8" fmla="*/ 2 w 109"/>
                    <a:gd name="T9" fmla="*/ 285 h 285"/>
                    <a:gd name="T10" fmla="*/ 109 w 109"/>
                    <a:gd name="T11" fmla="*/ 199 h 285"/>
                    <a:gd name="T12" fmla="*/ 109 w 109"/>
                    <a:gd name="T13" fmla="*/ 88 h 285"/>
                    <a:gd name="T14" fmla="*/ 2 w 109"/>
                    <a:gd name="T15" fmla="*/ 2 h 285"/>
                    <a:gd name="T16" fmla="*/ 2 w 109"/>
                    <a:gd name="T17" fmla="*/ 2 h 285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109"/>
                    <a:gd name="T28" fmla="*/ 0 h 285"/>
                    <a:gd name="T29" fmla="*/ 109 w 109"/>
                    <a:gd name="T30" fmla="*/ 285 h 285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109" h="285">
                      <a:moveTo>
                        <a:pt x="0" y="0"/>
                      </a:moveTo>
                      <a:lnTo>
                        <a:pt x="2" y="117"/>
                      </a:lnTo>
                      <a:lnTo>
                        <a:pt x="37" y="144"/>
                      </a:lnTo>
                      <a:lnTo>
                        <a:pt x="2" y="170"/>
                      </a:lnTo>
                      <a:lnTo>
                        <a:pt x="2" y="285"/>
                      </a:lnTo>
                      <a:lnTo>
                        <a:pt x="109" y="199"/>
                      </a:lnTo>
                      <a:lnTo>
                        <a:pt x="109" y="88"/>
                      </a:lnTo>
                      <a:lnTo>
                        <a:pt x="2" y="2"/>
                      </a:ln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>
                    <a:latin typeface="+mj-lt"/>
                  </a:endParaRPr>
                </a:p>
              </p:txBody>
            </p:sp>
            <p:sp>
              <p:nvSpPr>
                <p:cNvPr id="338" name="Freeform 337"/>
                <p:cNvSpPr>
                  <a:spLocks/>
                </p:cNvSpPr>
                <p:nvPr/>
              </p:nvSpPr>
              <p:spPr bwMode="auto">
                <a:xfrm>
                  <a:off x="3981" y="3050"/>
                  <a:ext cx="55" cy="287"/>
                </a:xfrm>
                <a:custGeom>
                  <a:avLst/>
                  <a:gdLst>
                    <a:gd name="T0" fmla="*/ 53 w 55"/>
                    <a:gd name="T1" fmla="*/ 287 h 287"/>
                    <a:gd name="T2" fmla="*/ 55 w 55"/>
                    <a:gd name="T3" fmla="*/ 0 h 287"/>
                    <a:gd name="T4" fmla="*/ 0 w 55"/>
                    <a:gd name="T5" fmla="*/ 0 h 287"/>
                    <a:gd name="T6" fmla="*/ 0 w 55"/>
                    <a:gd name="T7" fmla="*/ 287 h 287"/>
                    <a:gd name="T8" fmla="*/ 55 w 55"/>
                    <a:gd name="T9" fmla="*/ 287 h 287"/>
                    <a:gd name="T10" fmla="*/ 55 w 55"/>
                    <a:gd name="T11" fmla="*/ 287 h 287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55"/>
                    <a:gd name="T19" fmla="*/ 0 h 287"/>
                    <a:gd name="T20" fmla="*/ 55 w 55"/>
                    <a:gd name="T21" fmla="*/ 287 h 287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55" h="287">
                      <a:moveTo>
                        <a:pt x="53" y="287"/>
                      </a:moveTo>
                      <a:lnTo>
                        <a:pt x="55" y="0"/>
                      </a:lnTo>
                      <a:lnTo>
                        <a:pt x="0" y="0"/>
                      </a:lnTo>
                      <a:lnTo>
                        <a:pt x="0" y="287"/>
                      </a:lnTo>
                      <a:lnTo>
                        <a:pt x="55" y="287"/>
                      </a:ln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>
                    <a:latin typeface="+mj-lt"/>
                  </a:endParaRPr>
                </a:p>
              </p:txBody>
            </p:sp>
            <p:sp>
              <p:nvSpPr>
                <p:cNvPr id="339" name="Freeform 338"/>
                <p:cNvSpPr>
                  <a:spLocks/>
                </p:cNvSpPr>
                <p:nvPr/>
              </p:nvSpPr>
              <p:spPr bwMode="auto">
                <a:xfrm>
                  <a:off x="4124" y="3374"/>
                  <a:ext cx="110" cy="285"/>
                </a:xfrm>
                <a:custGeom>
                  <a:avLst/>
                  <a:gdLst>
                    <a:gd name="T0" fmla="*/ 0 w 110"/>
                    <a:gd name="T1" fmla="*/ 0 h 285"/>
                    <a:gd name="T2" fmla="*/ 0 w 110"/>
                    <a:gd name="T3" fmla="*/ 116 h 285"/>
                    <a:gd name="T4" fmla="*/ 35 w 110"/>
                    <a:gd name="T5" fmla="*/ 143 h 285"/>
                    <a:gd name="T6" fmla="*/ 0 w 110"/>
                    <a:gd name="T7" fmla="*/ 170 h 285"/>
                    <a:gd name="T8" fmla="*/ 0 w 110"/>
                    <a:gd name="T9" fmla="*/ 285 h 285"/>
                    <a:gd name="T10" fmla="*/ 110 w 110"/>
                    <a:gd name="T11" fmla="*/ 199 h 285"/>
                    <a:gd name="T12" fmla="*/ 110 w 110"/>
                    <a:gd name="T13" fmla="*/ 88 h 285"/>
                    <a:gd name="T14" fmla="*/ 0 w 110"/>
                    <a:gd name="T15" fmla="*/ 0 h 285"/>
                    <a:gd name="T16" fmla="*/ 0 w 110"/>
                    <a:gd name="T17" fmla="*/ 0 h 285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110"/>
                    <a:gd name="T28" fmla="*/ 0 h 285"/>
                    <a:gd name="T29" fmla="*/ 110 w 110"/>
                    <a:gd name="T30" fmla="*/ 285 h 285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110" h="285">
                      <a:moveTo>
                        <a:pt x="0" y="0"/>
                      </a:moveTo>
                      <a:lnTo>
                        <a:pt x="0" y="116"/>
                      </a:lnTo>
                      <a:lnTo>
                        <a:pt x="35" y="143"/>
                      </a:lnTo>
                      <a:lnTo>
                        <a:pt x="0" y="170"/>
                      </a:lnTo>
                      <a:lnTo>
                        <a:pt x="0" y="285"/>
                      </a:lnTo>
                      <a:lnTo>
                        <a:pt x="110" y="199"/>
                      </a:lnTo>
                      <a:lnTo>
                        <a:pt x="110" y="88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>
                    <a:latin typeface="+mj-lt"/>
                  </a:endParaRPr>
                </a:p>
              </p:txBody>
            </p:sp>
          </p:grpSp>
        </p:grpSp>
        <p:sp>
          <p:nvSpPr>
            <p:cNvPr id="340" name="Rectangle 339"/>
            <p:cNvSpPr>
              <a:spLocks noChangeArrowheads="1"/>
            </p:cNvSpPr>
            <p:nvPr/>
          </p:nvSpPr>
          <p:spPr bwMode="auto">
            <a:xfrm>
              <a:off x="914400" y="2174875"/>
              <a:ext cx="2133600" cy="3503613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med" len="lg"/>
            </a:ln>
          </p:spPr>
          <p:txBody>
            <a:bodyPr>
              <a:spAutoFit/>
            </a:bodyPr>
            <a:lstStyle/>
            <a:p>
              <a:pPr>
                <a:spcBef>
                  <a:spcPct val="85000"/>
                </a:spcBef>
              </a:pPr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sub </a:t>
              </a:r>
              <a:r>
                <a:rPr lang="en-US" sz="1600" dirty="0">
                  <a:solidFill>
                    <a:schemeClr val="hlin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R2</a:t>
              </a:r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, R1, R3</a:t>
              </a:r>
            </a:p>
            <a:p>
              <a:pPr>
                <a:spcBef>
                  <a:spcPct val="85000"/>
                </a:spcBef>
              </a:pPr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stall</a:t>
              </a:r>
            </a:p>
            <a:p>
              <a:pPr>
                <a:spcBef>
                  <a:spcPct val="85000"/>
                </a:spcBef>
              </a:pPr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stall</a:t>
              </a:r>
            </a:p>
            <a:p>
              <a:pPr>
                <a:spcBef>
                  <a:spcPct val="85000"/>
                </a:spcBef>
              </a:pPr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stall</a:t>
              </a:r>
            </a:p>
            <a:p>
              <a:pPr>
                <a:spcBef>
                  <a:spcPct val="85000"/>
                </a:spcBef>
              </a:pPr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and R12,</a:t>
              </a:r>
              <a:r>
                <a:rPr lang="en-US" sz="1600" dirty="0">
                  <a:solidFill>
                    <a:schemeClr val="hlin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R2</a:t>
              </a:r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, R5</a:t>
              </a:r>
            </a:p>
            <a:p>
              <a:pPr>
                <a:spcBef>
                  <a:spcPct val="85000"/>
                </a:spcBef>
              </a:pPr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or  R13,R6, </a:t>
              </a:r>
              <a:r>
                <a:rPr lang="en-US" sz="1600" dirty="0">
                  <a:solidFill>
                    <a:schemeClr val="hlin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R2</a:t>
              </a:r>
            </a:p>
            <a:p>
              <a:pPr>
                <a:spcBef>
                  <a:spcPct val="85000"/>
                </a:spcBef>
              </a:pPr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add R14,R2, </a:t>
              </a:r>
              <a:r>
                <a:rPr lang="en-US" sz="1600" dirty="0">
                  <a:solidFill>
                    <a:schemeClr val="hlin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R2</a:t>
              </a:r>
            </a:p>
            <a:p>
              <a:pPr>
                <a:spcBef>
                  <a:spcPct val="85000"/>
                </a:spcBef>
              </a:pPr>
              <a:r>
                <a:rPr lang="en-US" sz="16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sw</a:t>
              </a:r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R15,100(</a:t>
              </a:r>
              <a:r>
                <a:rPr lang="en-US" sz="1600" dirty="0">
                  <a:solidFill>
                    <a:schemeClr val="hlin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R2</a:t>
              </a:r>
              <a:r>
                <a:rPr lang="en-US" sz="16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)</a:t>
              </a:r>
              <a:endParaRPr lang="en-US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41" name="Rectangle 340"/>
            <p:cNvSpPr>
              <a:spLocks noChangeArrowheads="1"/>
            </p:cNvSpPr>
            <p:nvPr/>
          </p:nvSpPr>
          <p:spPr bwMode="auto">
            <a:xfrm>
              <a:off x="119380" y="1760571"/>
              <a:ext cx="808555" cy="646331"/>
            </a:xfrm>
            <a:prstGeom prst="rect">
              <a:avLst/>
            </a:prstGeom>
            <a:solidFill>
              <a:schemeClr val="bg1"/>
            </a:solidFill>
            <a:ln w="12700">
              <a:noFill/>
              <a:miter lim="800000"/>
              <a:headEnd type="none" w="sm" len="sm"/>
              <a:tailEnd type="none" w="med" len="lg"/>
            </a:ln>
          </p:spPr>
          <p:txBody>
            <a:bodyPr wrap="none">
              <a:spAutoFit/>
            </a:bodyPr>
            <a:lstStyle/>
            <a:p>
              <a:r>
                <a:rPr lang="en-US" sz="1200" b="1" dirty="0">
                  <a:latin typeface="+mj-lt"/>
                </a:rPr>
                <a:t>Program</a:t>
              </a:r>
            </a:p>
            <a:p>
              <a:r>
                <a:rPr lang="en-US" sz="1200" b="1" dirty="0">
                  <a:latin typeface="+mj-lt"/>
                </a:rPr>
                <a:t>execution</a:t>
              </a:r>
            </a:p>
            <a:p>
              <a:r>
                <a:rPr lang="en-US" sz="1200" b="1" dirty="0">
                  <a:latin typeface="+mj-lt"/>
                </a:rPr>
                <a:t>order</a:t>
              </a:r>
            </a:p>
          </p:txBody>
        </p:sp>
        <p:sp>
          <p:nvSpPr>
            <p:cNvPr id="352" name="Rectangle 7"/>
            <p:cNvSpPr>
              <a:spLocks noChangeArrowheads="1"/>
            </p:cNvSpPr>
            <p:nvPr/>
          </p:nvSpPr>
          <p:spPr bwMode="auto">
            <a:xfrm>
              <a:off x="1310085" y="1363097"/>
              <a:ext cx="65" cy="1846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 sz="1200" b="1">
                <a:latin typeface="+mj-lt"/>
              </a:endParaRPr>
            </a:p>
          </p:txBody>
        </p:sp>
        <p:sp>
          <p:nvSpPr>
            <p:cNvPr id="353" name="Rectangle 241"/>
            <p:cNvSpPr>
              <a:spLocks noChangeArrowheads="1"/>
            </p:cNvSpPr>
            <p:nvPr/>
          </p:nvSpPr>
          <p:spPr bwMode="auto">
            <a:xfrm>
              <a:off x="2818367" y="1446751"/>
              <a:ext cx="32060" cy="1692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100" b="1">
                  <a:solidFill>
                    <a:srgbClr val="000000"/>
                  </a:solidFill>
                  <a:latin typeface="+mj-lt"/>
                </a:rPr>
                <a:t> </a:t>
              </a:r>
              <a:endParaRPr lang="en-US" sz="1100" b="1">
                <a:latin typeface="+mj-lt"/>
              </a:endParaRPr>
            </a:p>
          </p:txBody>
        </p:sp>
        <p:sp>
          <p:nvSpPr>
            <p:cNvPr id="354" name="Rectangle 242"/>
            <p:cNvSpPr>
              <a:spLocks noChangeArrowheads="1"/>
            </p:cNvSpPr>
            <p:nvPr/>
          </p:nvSpPr>
          <p:spPr bwMode="auto">
            <a:xfrm>
              <a:off x="2845543" y="1446751"/>
              <a:ext cx="72136" cy="1692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100" b="1" dirty="0">
                  <a:solidFill>
                    <a:srgbClr val="000000"/>
                  </a:solidFill>
                  <a:latin typeface="+mj-lt"/>
                </a:rPr>
                <a:t>1</a:t>
              </a:r>
              <a:endParaRPr lang="en-US" sz="1100" b="1" dirty="0">
                <a:latin typeface="+mj-lt"/>
              </a:endParaRPr>
            </a:p>
          </p:txBody>
        </p:sp>
        <p:sp>
          <p:nvSpPr>
            <p:cNvPr id="355" name="Rectangle 245"/>
            <p:cNvSpPr>
              <a:spLocks noChangeArrowheads="1"/>
            </p:cNvSpPr>
            <p:nvPr/>
          </p:nvSpPr>
          <p:spPr bwMode="auto">
            <a:xfrm>
              <a:off x="3363482" y="1446751"/>
              <a:ext cx="32060" cy="1692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100" b="1">
                  <a:solidFill>
                    <a:srgbClr val="000000"/>
                  </a:solidFill>
                  <a:latin typeface="+mj-lt"/>
                </a:rPr>
                <a:t> </a:t>
              </a:r>
              <a:endParaRPr lang="en-US" sz="1100" b="1">
                <a:latin typeface="+mj-lt"/>
              </a:endParaRPr>
            </a:p>
          </p:txBody>
        </p:sp>
        <p:sp>
          <p:nvSpPr>
            <p:cNvPr id="356" name="Rectangle 246"/>
            <p:cNvSpPr>
              <a:spLocks noChangeArrowheads="1"/>
            </p:cNvSpPr>
            <p:nvPr/>
          </p:nvSpPr>
          <p:spPr bwMode="auto">
            <a:xfrm>
              <a:off x="3390657" y="1446751"/>
              <a:ext cx="72136" cy="1692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100" b="1">
                  <a:solidFill>
                    <a:srgbClr val="000000"/>
                  </a:solidFill>
                  <a:latin typeface="+mj-lt"/>
                </a:rPr>
                <a:t>2</a:t>
              </a:r>
              <a:endParaRPr lang="en-US" sz="1100" b="1">
                <a:latin typeface="+mj-lt"/>
              </a:endParaRPr>
            </a:p>
          </p:txBody>
        </p:sp>
        <p:sp>
          <p:nvSpPr>
            <p:cNvPr id="357" name="Rectangle 249"/>
            <p:cNvSpPr>
              <a:spLocks noChangeArrowheads="1"/>
            </p:cNvSpPr>
            <p:nvPr/>
          </p:nvSpPr>
          <p:spPr bwMode="auto">
            <a:xfrm>
              <a:off x="3908597" y="1446751"/>
              <a:ext cx="32060" cy="1692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100" b="1">
                  <a:solidFill>
                    <a:srgbClr val="000000"/>
                  </a:solidFill>
                  <a:latin typeface="+mj-lt"/>
                </a:rPr>
                <a:t> </a:t>
              </a:r>
              <a:endParaRPr lang="en-US" sz="1100" b="1">
                <a:latin typeface="+mj-lt"/>
              </a:endParaRPr>
            </a:p>
          </p:txBody>
        </p:sp>
        <p:sp>
          <p:nvSpPr>
            <p:cNvPr id="358" name="Rectangle 250"/>
            <p:cNvSpPr>
              <a:spLocks noChangeArrowheads="1"/>
            </p:cNvSpPr>
            <p:nvPr/>
          </p:nvSpPr>
          <p:spPr bwMode="auto">
            <a:xfrm>
              <a:off x="3935772" y="1446751"/>
              <a:ext cx="72136" cy="1692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100" b="1" dirty="0">
                  <a:solidFill>
                    <a:srgbClr val="000000"/>
                  </a:solidFill>
                  <a:latin typeface="+mj-lt"/>
                </a:rPr>
                <a:t>3</a:t>
              </a:r>
              <a:endParaRPr lang="en-US" sz="1100" b="1" dirty="0">
                <a:latin typeface="+mj-lt"/>
              </a:endParaRPr>
            </a:p>
          </p:txBody>
        </p:sp>
        <p:sp>
          <p:nvSpPr>
            <p:cNvPr id="359" name="Rectangle 253"/>
            <p:cNvSpPr>
              <a:spLocks noChangeArrowheads="1"/>
            </p:cNvSpPr>
            <p:nvPr/>
          </p:nvSpPr>
          <p:spPr bwMode="auto">
            <a:xfrm>
              <a:off x="4453711" y="1446751"/>
              <a:ext cx="32060" cy="1692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100" b="1">
                  <a:solidFill>
                    <a:srgbClr val="000000"/>
                  </a:solidFill>
                  <a:latin typeface="+mj-lt"/>
                </a:rPr>
                <a:t> </a:t>
              </a:r>
              <a:endParaRPr lang="en-US" sz="1100" b="1">
                <a:latin typeface="+mj-lt"/>
              </a:endParaRPr>
            </a:p>
          </p:txBody>
        </p:sp>
        <p:sp>
          <p:nvSpPr>
            <p:cNvPr id="360" name="Rectangle 254"/>
            <p:cNvSpPr>
              <a:spLocks noChangeArrowheads="1"/>
            </p:cNvSpPr>
            <p:nvPr/>
          </p:nvSpPr>
          <p:spPr bwMode="auto">
            <a:xfrm>
              <a:off x="4485682" y="1446751"/>
              <a:ext cx="72136" cy="1692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100" b="1" dirty="0">
                  <a:solidFill>
                    <a:srgbClr val="000000"/>
                  </a:solidFill>
                  <a:latin typeface="+mj-lt"/>
                </a:rPr>
                <a:t>4</a:t>
              </a:r>
              <a:endParaRPr lang="en-US" sz="1100" b="1" dirty="0">
                <a:latin typeface="+mj-lt"/>
              </a:endParaRPr>
            </a:p>
          </p:txBody>
        </p:sp>
        <p:sp>
          <p:nvSpPr>
            <p:cNvPr id="361" name="Rectangle 257"/>
            <p:cNvSpPr>
              <a:spLocks noChangeArrowheads="1"/>
            </p:cNvSpPr>
            <p:nvPr/>
          </p:nvSpPr>
          <p:spPr bwMode="auto">
            <a:xfrm>
              <a:off x="4998825" y="1446751"/>
              <a:ext cx="32060" cy="1692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100" b="1">
                  <a:solidFill>
                    <a:srgbClr val="000000"/>
                  </a:solidFill>
                  <a:latin typeface="+mj-lt"/>
                </a:rPr>
                <a:t> </a:t>
              </a:r>
              <a:endParaRPr lang="en-US" sz="1100" b="1">
                <a:latin typeface="+mj-lt"/>
              </a:endParaRPr>
            </a:p>
          </p:txBody>
        </p:sp>
        <p:sp>
          <p:nvSpPr>
            <p:cNvPr id="362" name="Rectangle 258"/>
            <p:cNvSpPr>
              <a:spLocks noChangeArrowheads="1"/>
            </p:cNvSpPr>
            <p:nvPr/>
          </p:nvSpPr>
          <p:spPr bwMode="auto">
            <a:xfrm>
              <a:off x="5030796" y="1446751"/>
              <a:ext cx="72136" cy="1692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100" b="1" dirty="0">
                  <a:solidFill>
                    <a:srgbClr val="000000"/>
                  </a:solidFill>
                  <a:latin typeface="+mj-lt"/>
                </a:rPr>
                <a:t>5</a:t>
              </a:r>
              <a:endParaRPr lang="en-US" sz="1100" b="1" dirty="0">
                <a:latin typeface="+mj-lt"/>
              </a:endParaRPr>
            </a:p>
          </p:txBody>
        </p:sp>
        <p:sp>
          <p:nvSpPr>
            <p:cNvPr id="363" name="Rectangle 261"/>
            <p:cNvSpPr>
              <a:spLocks noChangeArrowheads="1"/>
            </p:cNvSpPr>
            <p:nvPr/>
          </p:nvSpPr>
          <p:spPr bwMode="auto">
            <a:xfrm>
              <a:off x="5548736" y="1446751"/>
              <a:ext cx="32060" cy="1692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100" b="1">
                  <a:solidFill>
                    <a:srgbClr val="000000"/>
                  </a:solidFill>
                  <a:latin typeface="+mj-lt"/>
                </a:rPr>
                <a:t> </a:t>
              </a:r>
              <a:endParaRPr lang="en-US" sz="1100" b="1">
                <a:latin typeface="+mj-lt"/>
              </a:endParaRPr>
            </a:p>
          </p:txBody>
        </p:sp>
        <p:sp>
          <p:nvSpPr>
            <p:cNvPr id="364" name="Rectangle 262"/>
            <p:cNvSpPr>
              <a:spLocks noChangeArrowheads="1"/>
            </p:cNvSpPr>
            <p:nvPr/>
          </p:nvSpPr>
          <p:spPr bwMode="auto">
            <a:xfrm>
              <a:off x="5575912" y="1446751"/>
              <a:ext cx="72136" cy="1692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100" b="1">
                  <a:solidFill>
                    <a:srgbClr val="000000"/>
                  </a:solidFill>
                  <a:latin typeface="+mj-lt"/>
                </a:rPr>
                <a:t>6</a:t>
              </a:r>
              <a:endParaRPr lang="en-US" sz="1100" b="1">
                <a:latin typeface="+mj-lt"/>
              </a:endParaRPr>
            </a:p>
          </p:txBody>
        </p:sp>
        <p:sp>
          <p:nvSpPr>
            <p:cNvPr id="365" name="Rectangle 263"/>
            <p:cNvSpPr>
              <a:spLocks noChangeArrowheads="1"/>
            </p:cNvSpPr>
            <p:nvPr/>
          </p:nvSpPr>
          <p:spPr bwMode="auto">
            <a:xfrm>
              <a:off x="975360" y="1394225"/>
              <a:ext cx="1379480" cy="2154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1" dirty="0">
                  <a:solidFill>
                    <a:srgbClr val="000000"/>
                  </a:solidFill>
                  <a:latin typeface="+mj-lt"/>
                </a:rPr>
                <a:t>Time (clock cycles)</a:t>
              </a:r>
              <a:endParaRPr lang="en-US" sz="2000" b="1" dirty="0">
                <a:latin typeface="+mj-lt"/>
              </a:endParaRPr>
            </a:p>
          </p:txBody>
        </p:sp>
        <p:sp>
          <p:nvSpPr>
            <p:cNvPr id="366" name="Rectangle 268"/>
            <p:cNvSpPr>
              <a:spLocks noChangeArrowheads="1"/>
            </p:cNvSpPr>
            <p:nvPr/>
          </p:nvSpPr>
          <p:spPr bwMode="auto">
            <a:xfrm>
              <a:off x="6093850" y="1446751"/>
              <a:ext cx="32060" cy="1692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100" b="1">
                  <a:solidFill>
                    <a:srgbClr val="000000"/>
                  </a:solidFill>
                  <a:latin typeface="+mj-lt"/>
                </a:rPr>
                <a:t> </a:t>
              </a:r>
              <a:endParaRPr lang="en-US" sz="1100" b="1">
                <a:latin typeface="+mj-lt"/>
              </a:endParaRPr>
            </a:p>
          </p:txBody>
        </p:sp>
        <p:sp>
          <p:nvSpPr>
            <p:cNvPr id="367" name="Rectangle 269"/>
            <p:cNvSpPr>
              <a:spLocks noChangeArrowheads="1"/>
            </p:cNvSpPr>
            <p:nvPr/>
          </p:nvSpPr>
          <p:spPr bwMode="auto">
            <a:xfrm>
              <a:off x="6121026" y="1446751"/>
              <a:ext cx="72136" cy="1692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100" b="1">
                  <a:solidFill>
                    <a:srgbClr val="000000"/>
                  </a:solidFill>
                  <a:latin typeface="+mj-lt"/>
                </a:rPr>
                <a:t>7</a:t>
              </a:r>
              <a:endParaRPr lang="en-US" sz="1100" b="1">
                <a:latin typeface="+mj-lt"/>
              </a:endParaRPr>
            </a:p>
          </p:txBody>
        </p:sp>
        <p:sp>
          <p:nvSpPr>
            <p:cNvPr id="368" name="Rectangle 272"/>
            <p:cNvSpPr>
              <a:spLocks noChangeArrowheads="1"/>
            </p:cNvSpPr>
            <p:nvPr/>
          </p:nvSpPr>
          <p:spPr bwMode="auto">
            <a:xfrm>
              <a:off x="6638965" y="1446751"/>
              <a:ext cx="32060" cy="1692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100" b="1">
                  <a:solidFill>
                    <a:srgbClr val="000000"/>
                  </a:solidFill>
                  <a:latin typeface="+mj-lt"/>
                </a:rPr>
                <a:t> </a:t>
              </a:r>
              <a:endParaRPr lang="en-US" sz="1100" b="1">
                <a:latin typeface="+mj-lt"/>
              </a:endParaRPr>
            </a:p>
          </p:txBody>
        </p:sp>
        <p:sp>
          <p:nvSpPr>
            <p:cNvPr id="369" name="Rectangle 273"/>
            <p:cNvSpPr>
              <a:spLocks noChangeArrowheads="1"/>
            </p:cNvSpPr>
            <p:nvPr/>
          </p:nvSpPr>
          <p:spPr bwMode="auto">
            <a:xfrm>
              <a:off x="6666140" y="1446751"/>
              <a:ext cx="72136" cy="1692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100" b="1">
                  <a:solidFill>
                    <a:srgbClr val="000000"/>
                  </a:solidFill>
                  <a:latin typeface="+mj-lt"/>
                </a:rPr>
                <a:t>8</a:t>
              </a:r>
              <a:endParaRPr lang="en-US" sz="1100" b="1">
                <a:latin typeface="+mj-lt"/>
              </a:endParaRPr>
            </a:p>
          </p:txBody>
        </p:sp>
        <p:sp>
          <p:nvSpPr>
            <p:cNvPr id="370" name="Rectangle 276"/>
            <p:cNvSpPr>
              <a:spLocks noChangeArrowheads="1"/>
            </p:cNvSpPr>
            <p:nvPr/>
          </p:nvSpPr>
          <p:spPr bwMode="auto">
            <a:xfrm>
              <a:off x="7182481" y="1446751"/>
              <a:ext cx="32060" cy="1692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100" b="1">
                  <a:solidFill>
                    <a:srgbClr val="000000"/>
                  </a:solidFill>
                  <a:latin typeface="+mj-lt"/>
                </a:rPr>
                <a:t> </a:t>
              </a:r>
              <a:endParaRPr lang="en-US" sz="1100" b="1">
                <a:latin typeface="+mj-lt"/>
              </a:endParaRPr>
            </a:p>
          </p:txBody>
        </p:sp>
        <p:sp>
          <p:nvSpPr>
            <p:cNvPr id="371" name="Rectangle 277"/>
            <p:cNvSpPr>
              <a:spLocks noChangeArrowheads="1"/>
            </p:cNvSpPr>
            <p:nvPr/>
          </p:nvSpPr>
          <p:spPr bwMode="auto">
            <a:xfrm>
              <a:off x="7212854" y="1446751"/>
              <a:ext cx="72136" cy="1692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100" b="1">
                  <a:solidFill>
                    <a:srgbClr val="000000"/>
                  </a:solidFill>
                  <a:latin typeface="+mj-lt"/>
                </a:rPr>
                <a:t>9</a:t>
              </a:r>
              <a:endParaRPr lang="en-US" sz="1100" b="1">
                <a:latin typeface="+mj-lt"/>
              </a:endParaRPr>
            </a:p>
          </p:txBody>
        </p:sp>
        <p:sp>
          <p:nvSpPr>
            <p:cNvPr id="372" name="Rectangle 278"/>
            <p:cNvSpPr>
              <a:spLocks noChangeArrowheads="1"/>
            </p:cNvSpPr>
            <p:nvPr/>
          </p:nvSpPr>
          <p:spPr bwMode="auto">
            <a:xfrm>
              <a:off x="2764971" y="1656852"/>
              <a:ext cx="144270" cy="1692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100" b="1">
                  <a:solidFill>
                    <a:srgbClr val="000000"/>
                  </a:solidFill>
                  <a:latin typeface="+mj-lt"/>
                </a:rPr>
                <a:t>10</a:t>
              </a:r>
              <a:endParaRPr lang="en-US" sz="1100" b="1">
                <a:latin typeface="+mj-lt"/>
              </a:endParaRPr>
            </a:p>
          </p:txBody>
        </p:sp>
        <p:sp>
          <p:nvSpPr>
            <p:cNvPr id="373" name="Rectangle 285"/>
            <p:cNvSpPr>
              <a:spLocks noChangeArrowheads="1"/>
            </p:cNvSpPr>
            <p:nvPr/>
          </p:nvSpPr>
          <p:spPr bwMode="auto">
            <a:xfrm>
              <a:off x="1573473" y="1664633"/>
              <a:ext cx="858605" cy="215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b="1" dirty="0">
                  <a:solidFill>
                    <a:srgbClr val="000000"/>
                  </a:solidFill>
                  <a:latin typeface="+mj-lt"/>
                </a:rPr>
                <a:t>Value of R2</a:t>
              </a:r>
              <a:endParaRPr lang="en-US" sz="2000" b="1" dirty="0">
                <a:latin typeface="+mj-lt"/>
              </a:endParaRPr>
            </a:p>
          </p:txBody>
        </p:sp>
        <p:sp>
          <p:nvSpPr>
            <p:cNvPr id="374" name="Rectangle 286"/>
            <p:cNvSpPr>
              <a:spLocks noChangeArrowheads="1"/>
            </p:cNvSpPr>
            <p:nvPr/>
          </p:nvSpPr>
          <p:spPr bwMode="auto">
            <a:xfrm>
              <a:off x="3308487" y="1666579"/>
              <a:ext cx="144270" cy="1692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100" b="1" dirty="0">
                  <a:solidFill>
                    <a:srgbClr val="000000"/>
                  </a:solidFill>
                  <a:latin typeface="+mj-lt"/>
                </a:rPr>
                <a:t>10</a:t>
              </a:r>
              <a:endParaRPr lang="en-US" sz="1100" b="1" dirty="0">
                <a:latin typeface="+mj-lt"/>
              </a:endParaRPr>
            </a:p>
          </p:txBody>
        </p:sp>
        <p:sp>
          <p:nvSpPr>
            <p:cNvPr id="375" name="Rectangle 287"/>
            <p:cNvSpPr>
              <a:spLocks noChangeArrowheads="1"/>
            </p:cNvSpPr>
            <p:nvPr/>
          </p:nvSpPr>
          <p:spPr bwMode="auto">
            <a:xfrm>
              <a:off x="3845609" y="1666579"/>
              <a:ext cx="144270" cy="1692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100" b="1">
                  <a:solidFill>
                    <a:srgbClr val="000000"/>
                  </a:solidFill>
                  <a:latin typeface="+mj-lt"/>
                </a:rPr>
                <a:t>10</a:t>
              </a:r>
              <a:endParaRPr lang="en-US" sz="1100" b="1">
                <a:latin typeface="+mj-lt"/>
              </a:endParaRPr>
            </a:p>
          </p:txBody>
        </p:sp>
        <p:sp>
          <p:nvSpPr>
            <p:cNvPr id="376" name="Rectangle 288"/>
            <p:cNvSpPr>
              <a:spLocks noChangeArrowheads="1"/>
            </p:cNvSpPr>
            <p:nvPr/>
          </p:nvSpPr>
          <p:spPr bwMode="auto">
            <a:xfrm>
              <a:off x="4382731" y="1666579"/>
              <a:ext cx="144270" cy="1692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100" b="1">
                  <a:solidFill>
                    <a:srgbClr val="000000"/>
                  </a:solidFill>
                  <a:latin typeface="+mj-lt"/>
                </a:rPr>
                <a:t>10</a:t>
              </a:r>
              <a:endParaRPr lang="en-US" sz="1100" b="1">
                <a:latin typeface="+mj-lt"/>
              </a:endParaRPr>
            </a:p>
          </p:txBody>
        </p:sp>
        <p:sp>
          <p:nvSpPr>
            <p:cNvPr id="377" name="Rectangle 289"/>
            <p:cNvSpPr>
              <a:spLocks noChangeArrowheads="1"/>
            </p:cNvSpPr>
            <p:nvPr/>
          </p:nvSpPr>
          <p:spPr bwMode="auto">
            <a:xfrm>
              <a:off x="5472959" y="1666579"/>
              <a:ext cx="187552" cy="1692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100" b="1">
                  <a:solidFill>
                    <a:srgbClr val="000000"/>
                  </a:solidFill>
                  <a:latin typeface="+mj-lt"/>
                </a:rPr>
                <a:t>-20</a:t>
              </a:r>
              <a:endParaRPr lang="en-US" sz="1100" b="1">
                <a:latin typeface="+mj-lt"/>
              </a:endParaRPr>
            </a:p>
          </p:txBody>
        </p:sp>
        <p:sp>
          <p:nvSpPr>
            <p:cNvPr id="378" name="Rectangle 290"/>
            <p:cNvSpPr>
              <a:spLocks noChangeArrowheads="1"/>
            </p:cNvSpPr>
            <p:nvPr/>
          </p:nvSpPr>
          <p:spPr bwMode="auto">
            <a:xfrm>
              <a:off x="6018074" y="1666579"/>
              <a:ext cx="187552" cy="1692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100" b="1" dirty="0">
                  <a:solidFill>
                    <a:srgbClr val="000000"/>
                  </a:solidFill>
                  <a:latin typeface="+mj-lt"/>
                </a:rPr>
                <a:t>-20</a:t>
              </a:r>
              <a:endParaRPr lang="en-US" sz="1100" b="1" dirty="0">
                <a:latin typeface="+mj-lt"/>
              </a:endParaRPr>
            </a:p>
          </p:txBody>
        </p:sp>
        <p:sp>
          <p:nvSpPr>
            <p:cNvPr id="379" name="Rectangle 291"/>
            <p:cNvSpPr>
              <a:spLocks noChangeArrowheads="1"/>
            </p:cNvSpPr>
            <p:nvPr/>
          </p:nvSpPr>
          <p:spPr bwMode="auto">
            <a:xfrm>
              <a:off x="6556794" y="1666579"/>
              <a:ext cx="187552" cy="1692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100" b="1">
                  <a:solidFill>
                    <a:srgbClr val="000000"/>
                  </a:solidFill>
                  <a:latin typeface="+mj-lt"/>
                </a:rPr>
                <a:t>-20</a:t>
              </a:r>
              <a:endParaRPr lang="en-US" sz="1100" b="1">
                <a:latin typeface="+mj-lt"/>
              </a:endParaRPr>
            </a:p>
          </p:txBody>
        </p:sp>
        <p:sp>
          <p:nvSpPr>
            <p:cNvPr id="380" name="Rectangle 292"/>
            <p:cNvSpPr>
              <a:spLocks noChangeArrowheads="1"/>
            </p:cNvSpPr>
            <p:nvPr/>
          </p:nvSpPr>
          <p:spPr bwMode="auto">
            <a:xfrm>
              <a:off x="7093916" y="1666579"/>
              <a:ext cx="187552" cy="1692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100" b="1" dirty="0">
                  <a:solidFill>
                    <a:srgbClr val="000000"/>
                  </a:solidFill>
                  <a:latin typeface="+mj-lt"/>
                </a:rPr>
                <a:t>-20</a:t>
              </a:r>
              <a:endParaRPr lang="en-US" sz="1100" b="1" dirty="0">
                <a:latin typeface="+mj-lt"/>
              </a:endParaRPr>
            </a:p>
          </p:txBody>
        </p:sp>
        <p:sp>
          <p:nvSpPr>
            <p:cNvPr id="381" name="Rectangle 258"/>
            <p:cNvSpPr>
              <a:spLocks noChangeArrowheads="1"/>
            </p:cNvSpPr>
            <p:nvPr/>
          </p:nvSpPr>
          <p:spPr bwMode="auto">
            <a:xfrm>
              <a:off x="4834070" y="1668812"/>
              <a:ext cx="456856" cy="1692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100" b="1" dirty="0" smtClean="0">
                  <a:solidFill>
                    <a:srgbClr val="000000"/>
                  </a:solidFill>
                  <a:latin typeface="+mj-lt"/>
                </a:rPr>
                <a:t>10 / -20</a:t>
              </a:r>
              <a:endParaRPr lang="en-US" sz="1100" b="1" dirty="0">
                <a:latin typeface="+mj-lt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288998597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9" grpId="0"/>
      <p:bldP spid="350" grpId="0"/>
    </p:bldLst>
  </p:timing>
  <p:extLst mod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>
                <a:solidFill>
                  <a:srgbClr val="0070C0"/>
                </a:solidFill>
              </a:rPr>
              <a:t>Data Hazard</a:t>
            </a:r>
            <a:r>
              <a:rPr lang="en-US" sz="3200" dirty="0">
                <a:solidFill>
                  <a:srgbClr val="0070C0"/>
                </a:solidFill>
              </a:rPr>
              <a:t>: HW Solution 2 - Forwarding</a:t>
            </a:r>
          </a:p>
        </p:txBody>
      </p:sp>
      <p:sp>
        <p:nvSpPr>
          <p:cNvPr id="3" name="Rectangle 348"/>
          <p:cNvSpPr>
            <a:spLocks noChangeArrowheads="1"/>
          </p:cNvSpPr>
          <p:nvPr/>
        </p:nvSpPr>
        <p:spPr bwMode="auto">
          <a:xfrm>
            <a:off x="476885" y="898367"/>
            <a:ext cx="8004992" cy="76944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med" len="lg"/>
          </a:ln>
        </p:spPr>
        <p:txBody>
          <a:bodyPr wrap="square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200" dirty="0" smtClean="0">
                <a:latin typeface="+mj-lt"/>
              </a:rPr>
              <a:t>Don’t </a:t>
            </a:r>
            <a:r>
              <a:rPr lang="en-US" sz="2200" dirty="0">
                <a:latin typeface="+mj-lt"/>
              </a:rPr>
              <a:t>wait for </a:t>
            </a:r>
            <a:r>
              <a:rPr lang="en-US" sz="2200" dirty="0" smtClean="0">
                <a:latin typeface="+mj-lt"/>
              </a:rPr>
              <a:t>results </a:t>
            </a:r>
            <a:r>
              <a:rPr lang="en-US" sz="2200" dirty="0">
                <a:latin typeface="+mj-lt"/>
              </a:rPr>
              <a:t>to be written </a:t>
            </a:r>
            <a:r>
              <a:rPr lang="en-US" sz="2200" dirty="0" smtClean="0">
                <a:latin typeface="+mj-lt"/>
              </a:rPr>
              <a:t>into </a:t>
            </a:r>
            <a:r>
              <a:rPr lang="en-US" sz="2200" dirty="0">
                <a:latin typeface="+mj-lt"/>
              </a:rPr>
              <a:t>the register </a:t>
            </a:r>
            <a:r>
              <a:rPr lang="en-US" sz="2200" dirty="0" smtClean="0">
                <a:latin typeface="+mj-lt"/>
              </a:rPr>
              <a:t>file, use it as soon as it is calculated</a:t>
            </a:r>
            <a:endParaRPr lang="en-US" sz="2200" dirty="0">
              <a:latin typeface="+mj-lt"/>
            </a:endParaRPr>
          </a:p>
        </p:txBody>
      </p:sp>
      <p:grpSp>
        <p:nvGrpSpPr>
          <p:cNvPr id="266" name="Группа 265"/>
          <p:cNvGrpSpPr/>
          <p:nvPr/>
        </p:nvGrpSpPr>
        <p:grpSpPr>
          <a:xfrm>
            <a:off x="623523" y="1981200"/>
            <a:ext cx="7885030" cy="3851605"/>
            <a:chOff x="623523" y="1981200"/>
            <a:chExt cx="7885030" cy="3851605"/>
          </a:xfrm>
        </p:grpSpPr>
        <p:grpSp>
          <p:nvGrpSpPr>
            <p:cNvPr id="5" name="Группа 4"/>
            <p:cNvGrpSpPr/>
            <p:nvPr/>
          </p:nvGrpSpPr>
          <p:grpSpPr>
            <a:xfrm>
              <a:off x="623523" y="2181573"/>
              <a:ext cx="3109787" cy="3648692"/>
              <a:chOff x="623523" y="2547598"/>
              <a:chExt cx="3109787" cy="3648692"/>
            </a:xfrm>
          </p:grpSpPr>
          <p:sp>
            <p:nvSpPr>
              <p:cNvPr id="254" name="Rectangle 6"/>
              <p:cNvSpPr>
                <a:spLocks noChangeArrowheads="1"/>
              </p:cNvSpPr>
              <p:nvPr/>
            </p:nvSpPr>
            <p:spPr bwMode="auto">
              <a:xfrm>
                <a:off x="1562305" y="2976173"/>
                <a:ext cx="65" cy="18466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 sz="1200" b="1">
                  <a:latin typeface="+mj-lt"/>
                </a:endParaRPr>
              </a:p>
            </p:txBody>
          </p:sp>
          <p:sp>
            <p:nvSpPr>
              <p:cNvPr id="255" name="Rectangle 233"/>
              <p:cNvSpPr>
                <a:spLocks noChangeArrowheads="1"/>
              </p:cNvSpPr>
              <p:nvPr/>
            </p:nvSpPr>
            <p:spPr bwMode="auto">
              <a:xfrm>
                <a:off x="1180416" y="3349088"/>
                <a:ext cx="2552894" cy="2847202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med" len="lg"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10000"/>
                  </a:spcBef>
                </a:pPr>
                <a:r>
                  <a:rPr lang="en-US" sz="19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sub </a:t>
                </a:r>
                <a:r>
                  <a:rPr lang="en-US" sz="1900" dirty="0">
                    <a:solidFill>
                      <a:srgbClr val="FF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R2</a:t>
                </a:r>
                <a:r>
                  <a:rPr lang="en-US" sz="19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, R1, R3</a:t>
                </a:r>
                <a:br>
                  <a:rPr lang="en-US" sz="19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</a:br>
                <a:endParaRPr lang="en-US" sz="19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>
                  <a:spcBef>
                    <a:spcPct val="10000"/>
                  </a:spcBef>
                </a:pPr>
                <a:r>
                  <a:rPr lang="en-US" sz="19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and R12,</a:t>
                </a:r>
                <a:r>
                  <a:rPr lang="en-US" sz="1900" dirty="0">
                    <a:solidFill>
                      <a:srgbClr val="FF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R2</a:t>
                </a:r>
                <a:r>
                  <a:rPr lang="en-US" sz="19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, R5</a:t>
                </a:r>
                <a:br>
                  <a:rPr lang="en-US" sz="19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</a:br>
                <a:endParaRPr lang="en-US" sz="19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>
                  <a:spcBef>
                    <a:spcPct val="10000"/>
                  </a:spcBef>
                </a:pPr>
                <a:r>
                  <a:rPr lang="en-US" sz="19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or  R13,R6, </a:t>
                </a:r>
                <a:r>
                  <a:rPr lang="en-US" sz="1900" dirty="0">
                    <a:solidFill>
                      <a:srgbClr val="FF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R2</a:t>
                </a:r>
                <a:r>
                  <a:rPr lang="en-US" sz="19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/>
                </a:r>
                <a:br>
                  <a:rPr lang="en-US" sz="19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</a:br>
                <a:endParaRPr lang="en-US" sz="19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>
                  <a:spcBef>
                    <a:spcPct val="10000"/>
                  </a:spcBef>
                </a:pPr>
                <a:r>
                  <a:rPr lang="en-US" sz="19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add R14,</a:t>
                </a:r>
                <a:r>
                  <a:rPr lang="en-US" sz="1900" dirty="0">
                    <a:solidFill>
                      <a:srgbClr val="FF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R2</a:t>
                </a:r>
                <a:r>
                  <a:rPr lang="en-US" sz="19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, </a:t>
                </a:r>
                <a:r>
                  <a:rPr lang="en-US" sz="1900" dirty="0">
                    <a:solidFill>
                      <a:srgbClr val="FF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R2</a:t>
                </a:r>
                <a:r>
                  <a:rPr lang="en-US" sz="19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/>
                </a:r>
                <a:br>
                  <a:rPr lang="en-US" sz="19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</a:br>
                <a:endParaRPr lang="en-US" sz="19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>
                  <a:spcBef>
                    <a:spcPct val="10000"/>
                  </a:spcBef>
                </a:pPr>
                <a:r>
                  <a:rPr lang="en-US" sz="19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sw</a:t>
                </a:r>
                <a:r>
                  <a:rPr lang="en-US" sz="19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 R15,100(</a:t>
                </a:r>
                <a:r>
                  <a:rPr lang="en-US" sz="1900" dirty="0">
                    <a:solidFill>
                      <a:srgbClr val="FF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R2</a:t>
                </a:r>
                <a:r>
                  <a:rPr lang="en-US" sz="19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)</a:t>
                </a:r>
              </a:p>
            </p:txBody>
          </p:sp>
          <p:grpSp>
            <p:nvGrpSpPr>
              <p:cNvPr id="256" name="Group 234"/>
              <p:cNvGrpSpPr>
                <a:grpSpLocks/>
              </p:cNvGrpSpPr>
              <p:nvPr/>
            </p:nvGrpSpPr>
            <p:grpSpPr bwMode="auto">
              <a:xfrm>
                <a:off x="623523" y="2547598"/>
                <a:ext cx="909383" cy="3564034"/>
                <a:chOff x="672" y="1680"/>
                <a:chExt cx="531" cy="1921"/>
              </a:xfrm>
            </p:grpSpPr>
            <p:sp>
              <p:nvSpPr>
                <p:cNvPr id="257" name="Line 235"/>
                <p:cNvSpPr>
                  <a:spLocks noChangeShapeType="1"/>
                </p:cNvSpPr>
                <p:nvPr/>
              </p:nvSpPr>
              <p:spPr bwMode="auto">
                <a:xfrm>
                  <a:off x="908" y="2140"/>
                  <a:ext cx="2" cy="1418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>
                    <a:latin typeface="+mj-lt"/>
                  </a:endParaRPr>
                </a:p>
              </p:txBody>
            </p:sp>
            <p:sp>
              <p:nvSpPr>
                <p:cNvPr id="258" name="Freeform 236"/>
                <p:cNvSpPr>
                  <a:spLocks/>
                </p:cNvSpPr>
                <p:nvPr/>
              </p:nvSpPr>
              <p:spPr bwMode="auto">
                <a:xfrm>
                  <a:off x="897" y="3551"/>
                  <a:ext cx="50" cy="50"/>
                </a:xfrm>
                <a:custGeom>
                  <a:avLst/>
                  <a:gdLst>
                    <a:gd name="T0" fmla="*/ 50 w 24"/>
                    <a:gd name="T1" fmla="*/ 0 h 25"/>
                    <a:gd name="T2" fmla="*/ 0 w 24"/>
                    <a:gd name="T3" fmla="*/ 4 h 25"/>
                    <a:gd name="T4" fmla="*/ 27 w 24"/>
                    <a:gd name="T5" fmla="*/ 50 h 25"/>
                    <a:gd name="T6" fmla="*/ 50 w 24"/>
                    <a:gd name="T7" fmla="*/ 4 h 25"/>
                    <a:gd name="T8" fmla="*/ 50 w 24"/>
                    <a:gd name="T9" fmla="*/ 4 h 25"/>
                    <a:gd name="T10" fmla="*/ 50 w 24"/>
                    <a:gd name="T11" fmla="*/ 0 h 25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4"/>
                    <a:gd name="T19" fmla="*/ 0 h 25"/>
                    <a:gd name="T20" fmla="*/ 24 w 24"/>
                    <a:gd name="T21" fmla="*/ 25 h 25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4" h="25">
                      <a:moveTo>
                        <a:pt x="24" y="0"/>
                      </a:moveTo>
                      <a:lnTo>
                        <a:pt x="0" y="2"/>
                      </a:lnTo>
                      <a:lnTo>
                        <a:pt x="13" y="25"/>
                      </a:lnTo>
                      <a:lnTo>
                        <a:pt x="24" y="2"/>
                      </a:lnTo>
                      <a:lnTo>
                        <a:pt x="24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>
                    <a:latin typeface="+mj-lt"/>
                  </a:endParaRPr>
                </a:p>
              </p:txBody>
            </p:sp>
            <p:sp>
              <p:nvSpPr>
                <p:cNvPr id="259" name="Rectangle 237"/>
                <p:cNvSpPr>
                  <a:spLocks noChangeArrowheads="1"/>
                </p:cNvSpPr>
                <p:nvPr/>
              </p:nvSpPr>
              <p:spPr bwMode="auto">
                <a:xfrm>
                  <a:off x="672" y="1680"/>
                  <a:ext cx="531" cy="398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med" len="lg"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1400" b="1" dirty="0">
                      <a:latin typeface="+mj-lt"/>
                    </a:rPr>
                    <a:t>Program</a:t>
                  </a:r>
                </a:p>
                <a:p>
                  <a:r>
                    <a:rPr lang="en-US" sz="1400" b="1" dirty="0">
                      <a:latin typeface="+mj-lt"/>
                    </a:rPr>
                    <a:t>execution</a:t>
                  </a:r>
                </a:p>
                <a:p>
                  <a:r>
                    <a:rPr lang="en-US" sz="1400" b="1" dirty="0">
                      <a:latin typeface="+mj-lt"/>
                    </a:rPr>
                    <a:t>order</a:t>
                  </a:r>
                </a:p>
              </p:txBody>
            </p:sp>
          </p:grpSp>
        </p:grpSp>
        <p:grpSp>
          <p:nvGrpSpPr>
            <p:cNvPr id="6" name="Группа 5"/>
            <p:cNvGrpSpPr/>
            <p:nvPr/>
          </p:nvGrpSpPr>
          <p:grpSpPr>
            <a:xfrm>
              <a:off x="1725572" y="1981200"/>
              <a:ext cx="6754725" cy="676321"/>
              <a:chOff x="1725572" y="2347225"/>
              <a:chExt cx="6754725" cy="676321"/>
            </a:xfrm>
          </p:grpSpPr>
          <p:sp>
            <p:nvSpPr>
              <p:cNvPr id="222" name="Rectangle 4"/>
              <p:cNvSpPr>
                <a:spLocks noChangeArrowheads="1"/>
              </p:cNvSpPr>
              <p:nvPr/>
            </p:nvSpPr>
            <p:spPr bwMode="auto">
              <a:xfrm>
                <a:off x="1725572" y="2696022"/>
                <a:ext cx="65" cy="18466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 sz="1200" b="1">
                  <a:latin typeface="+mj-lt"/>
                </a:endParaRPr>
              </a:p>
            </p:txBody>
          </p:sp>
          <p:sp>
            <p:nvSpPr>
              <p:cNvPr id="223" name="Rectangle 5"/>
              <p:cNvSpPr>
                <a:spLocks noChangeArrowheads="1"/>
              </p:cNvSpPr>
              <p:nvPr/>
            </p:nvSpPr>
            <p:spPr bwMode="auto">
              <a:xfrm>
                <a:off x="1775664" y="2838880"/>
                <a:ext cx="65" cy="18466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 sz="1200" b="1">
                  <a:latin typeface="+mj-lt"/>
                </a:endParaRPr>
              </a:p>
            </p:txBody>
          </p:sp>
          <p:sp>
            <p:nvSpPr>
              <p:cNvPr id="224" name="Rectangle 7"/>
              <p:cNvSpPr>
                <a:spLocks noChangeArrowheads="1"/>
              </p:cNvSpPr>
              <p:nvPr/>
            </p:nvSpPr>
            <p:spPr bwMode="auto">
              <a:xfrm>
                <a:off x="2082752" y="2347225"/>
                <a:ext cx="65" cy="18466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 sz="1200" b="1">
                  <a:latin typeface="+mj-lt"/>
                </a:endParaRPr>
              </a:p>
            </p:txBody>
          </p:sp>
          <p:sp>
            <p:nvSpPr>
              <p:cNvPr id="225" name="Rectangle 241"/>
              <p:cNvSpPr>
                <a:spLocks noChangeArrowheads="1"/>
              </p:cNvSpPr>
              <p:nvPr/>
            </p:nvSpPr>
            <p:spPr bwMode="auto">
              <a:xfrm>
                <a:off x="3699028" y="2427006"/>
                <a:ext cx="32060" cy="1692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100" b="1">
                    <a:solidFill>
                      <a:srgbClr val="000000"/>
                    </a:solidFill>
                    <a:latin typeface="+mj-lt"/>
                  </a:rPr>
                  <a:t> </a:t>
                </a:r>
                <a:endParaRPr lang="en-US" sz="1100" b="1">
                  <a:latin typeface="+mj-lt"/>
                </a:endParaRPr>
              </a:p>
            </p:txBody>
          </p:sp>
          <p:sp>
            <p:nvSpPr>
              <p:cNvPr id="226" name="Rectangle 242"/>
              <p:cNvSpPr>
                <a:spLocks noChangeArrowheads="1"/>
              </p:cNvSpPr>
              <p:nvPr/>
            </p:nvSpPr>
            <p:spPr bwMode="auto">
              <a:xfrm>
                <a:off x="3728150" y="2427006"/>
                <a:ext cx="72136" cy="1692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100" b="1" dirty="0">
                    <a:solidFill>
                      <a:srgbClr val="000000"/>
                    </a:solidFill>
                    <a:latin typeface="+mj-lt"/>
                  </a:rPr>
                  <a:t>1</a:t>
                </a:r>
                <a:endParaRPr lang="en-US" sz="1100" b="1" dirty="0">
                  <a:latin typeface="+mj-lt"/>
                </a:endParaRPr>
              </a:p>
            </p:txBody>
          </p:sp>
          <p:sp>
            <p:nvSpPr>
              <p:cNvPr id="227" name="Rectangle 245"/>
              <p:cNvSpPr>
                <a:spLocks noChangeArrowheads="1"/>
              </p:cNvSpPr>
              <p:nvPr/>
            </p:nvSpPr>
            <p:spPr bwMode="auto">
              <a:xfrm>
                <a:off x="4283173" y="2427006"/>
                <a:ext cx="32060" cy="1692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100" b="1">
                    <a:solidFill>
                      <a:srgbClr val="000000"/>
                    </a:solidFill>
                    <a:latin typeface="+mj-lt"/>
                  </a:rPr>
                  <a:t> </a:t>
                </a:r>
                <a:endParaRPr lang="en-US" sz="1100" b="1">
                  <a:latin typeface="+mj-lt"/>
                </a:endParaRPr>
              </a:p>
            </p:txBody>
          </p:sp>
          <p:sp>
            <p:nvSpPr>
              <p:cNvPr id="228" name="Rectangle 246"/>
              <p:cNvSpPr>
                <a:spLocks noChangeArrowheads="1"/>
              </p:cNvSpPr>
              <p:nvPr/>
            </p:nvSpPr>
            <p:spPr bwMode="auto">
              <a:xfrm>
                <a:off x="4312294" y="2427006"/>
                <a:ext cx="72136" cy="1692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100" b="1">
                    <a:solidFill>
                      <a:srgbClr val="000000"/>
                    </a:solidFill>
                    <a:latin typeface="+mj-lt"/>
                  </a:rPr>
                  <a:t>2</a:t>
                </a:r>
                <a:endParaRPr lang="en-US" sz="1100" b="1">
                  <a:latin typeface="+mj-lt"/>
                </a:endParaRPr>
              </a:p>
            </p:txBody>
          </p:sp>
          <p:sp>
            <p:nvSpPr>
              <p:cNvPr id="229" name="Rectangle 249"/>
              <p:cNvSpPr>
                <a:spLocks noChangeArrowheads="1"/>
              </p:cNvSpPr>
              <p:nvPr/>
            </p:nvSpPr>
            <p:spPr bwMode="auto">
              <a:xfrm>
                <a:off x="4867318" y="2427006"/>
                <a:ext cx="32060" cy="1692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100" b="1">
                    <a:solidFill>
                      <a:srgbClr val="000000"/>
                    </a:solidFill>
                    <a:latin typeface="+mj-lt"/>
                  </a:rPr>
                  <a:t> </a:t>
                </a:r>
                <a:endParaRPr lang="en-US" sz="1100" b="1">
                  <a:latin typeface="+mj-lt"/>
                </a:endParaRPr>
              </a:p>
            </p:txBody>
          </p:sp>
          <p:sp>
            <p:nvSpPr>
              <p:cNvPr id="230" name="Rectangle 250"/>
              <p:cNvSpPr>
                <a:spLocks noChangeArrowheads="1"/>
              </p:cNvSpPr>
              <p:nvPr/>
            </p:nvSpPr>
            <p:spPr bwMode="auto">
              <a:xfrm>
                <a:off x="4896440" y="2427006"/>
                <a:ext cx="72136" cy="1692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100" b="1" dirty="0">
                    <a:solidFill>
                      <a:srgbClr val="000000"/>
                    </a:solidFill>
                    <a:latin typeface="+mj-lt"/>
                  </a:rPr>
                  <a:t>3</a:t>
                </a:r>
                <a:endParaRPr lang="en-US" sz="1100" b="1" dirty="0">
                  <a:latin typeface="+mj-lt"/>
                </a:endParaRPr>
              </a:p>
            </p:txBody>
          </p:sp>
          <p:sp>
            <p:nvSpPr>
              <p:cNvPr id="231" name="Rectangle 253"/>
              <p:cNvSpPr>
                <a:spLocks noChangeArrowheads="1"/>
              </p:cNvSpPr>
              <p:nvPr/>
            </p:nvSpPr>
            <p:spPr bwMode="auto">
              <a:xfrm>
                <a:off x="5451463" y="2427006"/>
                <a:ext cx="32060" cy="1692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100" b="1">
                    <a:solidFill>
                      <a:srgbClr val="000000"/>
                    </a:solidFill>
                    <a:latin typeface="+mj-lt"/>
                  </a:rPr>
                  <a:t> </a:t>
                </a:r>
                <a:endParaRPr lang="en-US" sz="1100" b="1">
                  <a:latin typeface="+mj-lt"/>
                </a:endParaRPr>
              </a:p>
            </p:txBody>
          </p:sp>
          <p:sp>
            <p:nvSpPr>
              <p:cNvPr id="232" name="Rectangle 254"/>
              <p:cNvSpPr>
                <a:spLocks noChangeArrowheads="1"/>
              </p:cNvSpPr>
              <p:nvPr/>
            </p:nvSpPr>
            <p:spPr bwMode="auto">
              <a:xfrm>
                <a:off x="5485723" y="2427006"/>
                <a:ext cx="72136" cy="1692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100" b="1">
                    <a:solidFill>
                      <a:srgbClr val="000000"/>
                    </a:solidFill>
                    <a:latin typeface="+mj-lt"/>
                  </a:rPr>
                  <a:t>4</a:t>
                </a:r>
                <a:endParaRPr lang="en-US" sz="1100" b="1">
                  <a:latin typeface="+mj-lt"/>
                </a:endParaRPr>
              </a:p>
            </p:txBody>
          </p:sp>
          <p:sp>
            <p:nvSpPr>
              <p:cNvPr id="233" name="Rectangle 257"/>
              <p:cNvSpPr>
                <a:spLocks noChangeArrowheads="1"/>
              </p:cNvSpPr>
              <p:nvPr/>
            </p:nvSpPr>
            <p:spPr bwMode="auto">
              <a:xfrm>
                <a:off x="6035608" y="2427006"/>
                <a:ext cx="32060" cy="1692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100" b="1">
                    <a:solidFill>
                      <a:srgbClr val="000000"/>
                    </a:solidFill>
                    <a:latin typeface="+mj-lt"/>
                  </a:rPr>
                  <a:t> </a:t>
                </a:r>
                <a:endParaRPr lang="en-US" sz="1100" b="1">
                  <a:latin typeface="+mj-lt"/>
                </a:endParaRPr>
              </a:p>
            </p:txBody>
          </p:sp>
          <p:sp>
            <p:nvSpPr>
              <p:cNvPr id="234" name="Rectangle 258"/>
              <p:cNvSpPr>
                <a:spLocks noChangeArrowheads="1"/>
              </p:cNvSpPr>
              <p:nvPr/>
            </p:nvSpPr>
            <p:spPr bwMode="auto">
              <a:xfrm>
                <a:off x="6069868" y="2427006"/>
                <a:ext cx="72136" cy="1692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100" b="1" dirty="0">
                    <a:solidFill>
                      <a:srgbClr val="000000"/>
                    </a:solidFill>
                    <a:latin typeface="+mj-lt"/>
                  </a:rPr>
                  <a:t>5</a:t>
                </a:r>
                <a:endParaRPr lang="en-US" sz="1100" b="1" dirty="0">
                  <a:latin typeface="+mj-lt"/>
                </a:endParaRPr>
              </a:p>
            </p:txBody>
          </p:sp>
          <p:sp>
            <p:nvSpPr>
              <p:cNvPr id="235" name="Rectangle 261"/>
              <p:cNvSpPr>
                <a:spLocks noChangeArrowheads="1"/>
              </p:cNvSpPr>
              <p:nvPr/>
            </p:nvSpPr>
            <p:spPr bwMode="auto">
              <a:xfrm>
                <a:off x="6624892" y="2427006"/>
                <a:ext cx="32060" cy="1692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100" b="1">
                    <a:solidFill>
                      <a:srgbClr val="000000"/>
                    </a:solidFill>
                    <a:latin typeface="+mj-lt"/>
                  </a:rPr>
                  <a:t> </a:t>
                </a:r>
                <a:endParaRPr lang="en-US" sz="1100" b="1">
                  <a:latin typeface="+mj-lt"/>
                </a:endParaRPr>
              </a:p>
            </p:txBody>
          </p:sp>
          <p:sp>
            <p:nvSpPr>
              <p:cNvPr id="236" name="Rectangle 262"/>
              <p:cNvSpPr>
                <a:spLocks noChangeArrowheads="1"/>
              </p:cNvSpPr>
              <p:nvPr/>
            </p:nvSpPr>
            <p:spPr bwMode="auto">
              <a:xfrm>
                <a:off x="6654014" y="2427006"/>
                <a:ext cx="72136" cy="1692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100" b="1">
                    <a:solidFill>
                      <a:srgbClr val="000000"/>
                    </a:solidFill>
                    <a:latin typeface="+mj-lt"/>
                  </a:rPr>
                  <a:t>6</a:t>
                </a:r>
                <a:endParaRPr lang="en-US" sz="1100" b="1">
                  <a:latin typeface="+mj-lt"/>
                </a:endParaRPr>
              </a:p>
            </p:txBody>
          </p:sp>
          <p:sp>
            <p:nvSpPr>
              <p:cNvPr id="237" name="Rectangle 263"/>
              <p:cNvSpPr>
                <a:spLocks noChangeArrowheads="1"/>
              </p:cNvSpPr>
              <p:nvPr/>
            </p:nvSpPr>
            <p:spPr bwMode="auto">
              <a:xfrm>
                <a:off x="1925084" y="2376912"/>
                <a:ext cx="1379480" cy="21544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1" dirty="0">
                    <a:solidFill>
                      <a:srgbClr val="000000"/>
                    </a:solidFill>
                    <a:latin typeface="+mj-lt"/>
                  </a:rPr>
                  <a:t>Time (clock cycles)</a:t>
                </a:r>
                <a:endParaRPr lang="en-US" sz="2000" b="1" dirty="0">
                  <a:latin typeface="+mj-lt"/>
                </a:endParaRPr>
              </a:p>
            </p:txBody>
          </p:sp>
          <p:sp>
            <p:nvSpPr>
              <p:cNvPr id="238" name="Rectangle 268"/>
              <p:cNvSpPr>
                <a:spLocks noChangeArrowheads="1"/>
              </p:cNvSpPr>
              <p:nvPr/>
            </p:nvSpPr>
            <p:spPr bwMode="auto">
              <a:xfrm>
                <a:off x="7209037" y="2427006"/>
                <a:ext cx="32060" cy="1692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100" b="1">
                    <a:solidFill>
                      <a:srgbClr val="000000"/>
                    </a:solidFill>
                    <a:latin typeface="+mj-lt"/>
                  </a:rPr>
                  <a:t> </a:t>
                </a:r>
                <a:endParaRPr lang="en-US" sz="1100" b="1">
                  <a:latin typeface="+mj-lt"/>
                </a:endParaRPr>
              </a:p>
            </p:txBody>
          </p:sp>
          <p:sp>
            <p:nvSpPr>
              <p:cNvPr id="239" name="Rectangle 269"/>
              <p:cNvSpPr>
                <a:spLocks noChangeArrowheads="1"/>
              </p:cNvSpPr>
              <p:nvPr/>
            </p:nvSpPr>
            <p:spPr bwMode="auto">
              <a:xfrm>
                <a:off x="7238158" y="2427006"/>
                <a:ext cx="72136" cy="1692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100" b="1">
                    <a:solidFill>
                      <a:srgbClr val="000000"/>
                    </a:solidFill>
                    <a:latin typeface="+mj-lt"/>
                  </a:rPr>
                  <a:t>7</a:t>
                </a:r>
                <a:endParaRPr lang="en-US" sz="1100" b="1">
                  <a:latin typeface="+mj-lt"/>
                </a:endParaRPr>
              </a:p>
            </p:txBody>
          </p:sp>
          <p:sp>
            <p:nvSpPr>
              <p:cNvPr id="240" name="Rectangle 272"/>
              <p:cNvSpPr>
                <a:spLocks noChangeArrowheads="1"/>
              </p:cNvSpPr>
              <p:nvPr/>
            </p:nvSpPr>
            <p:spPr bwMode="auto">
              <a:xfrm>
                <a:off x="7793182" y="2427006"/>
                <a:ext cx="32060" cy="1692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100" b="1">
                    <a:solidFill>
                      <a:srgbClr val="000000"/>
                    </a:solidFill>
                    <a:latin typeface="+mj-lt"/>
                  </a:rPr>
                  <a:t> </a:t>
                </a:r>
                <a:endParaRPr lang="en-US" sz="1100" b="1">
                  <a:latin typeface="+mj-lt"/>
                </a:endParaRPr>
              </a:p>
            </p:txBody>
          </p:sp>
          <p:sp>
            <p:nvSpPr>
              <p:cNvPr id="241" name="Rectangle 273"/>
              <p:cNvSpPr>
                <a:spLocks noChangeArrowheads="1"/>
              </p:cNvSpPr>
              <p:nvPr/>
            </p:nvSpPr>
            <p:spPr bwMode="auto">
              <a:xfrm>
                <a:off x="7822303" y="2427006"/>
                <a:ext cx="72136" cy="1692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100" b="1" dirty="0">
                    <a:solidFill>
                      <a:srgbClr val="000000"/>
                    </a:solidFill>
                    <a:latin typeface="+mj-lt"/>
                  </a:rPr>
                  <a:t>8</a:t>
                </a:r>
                <a:endParaRPr lang="en-US" sz="1100" b="1" dirty="0">
                  <a:latin typeface="+mj-lt"/>
                </a:endParaRPr>
              </a:p>
            </p:txBody>
          </p:sp>
          <p:sp>
            <p:nvSpPr>
              <p:cNvPr id="242" name="Rectangle 276"/>
              <p:cNvSpPr>
                <a:spLocks noChangeArrowheads="1"/>
              </p:cNvSpPr>
              <p:nvPr/>
            </p:nvSpPr>
            <p:spPr bwMode="auto">
              <a:xfrm>
                <a:off x="8375614" y="2427006"/>
                <a:ext cx="32060" cy="1692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100" b="1" dirty="0">
                    <a:solidFill>
                      <a:srgbClr val="000000"/>
                    </a:solidFill>
                    <a:latin typeface="+mj-lt"/>
                  </a:rPr>
                  <a:t> </a:t>
                </a:r>
                <a:endParaRPr lang="en-US" sz="1100" b="1" dirty="0">
                  <a:latin typeface="+mj-lt"/>
                </a:endParaRPr>
              </a:p>
            </p:txBody>
          </p:sp>
          <p:sp>
            <p:nvSpPr>
              <p:cNvPr id="243" name="Rectangle 277"/>
              <p:cNvSpPr>
                <a:spLocks noChangeArrowheads="1"/>
              </p:cNvSpPr>
              <p:nvPr/>
            </p:nvSpPr>
            <p:spPr bwMode="auto">
              <a:xfrm>
                <a:off x="8408161" y="2427006"/>
                <a:ext cx="72136" cy="1692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100" b="1">
                    <a:solidFill>
                      <a:srgbClr val="000000"/>
                    </a:solidFill>
                    <a:latin typeface="+mj-lt"/>
                  </a:rPr>
                  <a:t>9</a:t>
                </a:r>
                <a:endParaRPr lang="en-US" sz="1100" b="1">
                  <a:latin typeface="+mj-lt"/>
                </a:endParaRPr>
              </a:p>
            </p:txBody>
          </p:sp>
          <p:sp>
            <p:nvSpPr>
              <p:cNvPr id="244" name="Rectangle 278"/>
              <p:cNvSpPr>
                <a:spLocks noChangeArrowheads="1"/>
              </p:cNvSpPr>
              <p:nvPr/>
            </p:nvSpPr>
            <p:spPr bwMode="auto">
              <a:xfrm>
                <a:off x="3641809" y="2627378"/>
                <a:ext cx="144270" cy="1692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100" b="1">
                    <a:solidFill>
                      <a:srgbClr val="000000"/>
                    </a:solidFill>
                    <a:latin typeface="+mj-lt"/>
                  </a:rPr>
                  <a:t>10</a:t>
                </a:r>
                <a:endParaRPr lang="en-US" sz="1100" b="1">
                  <a:latin typeface="+mj-lt"/>
                </a:endParaRPr>
              </a:p>
            </p:txBody>
          </p:sp>
          <p:sp>
            <p:nvSpPr>
              <p:cNvPr id="245" name="Rectangle 285"/>
              <p:cNvSpPr>
                <a:spLocks noChangeArrowheads="1"/>
              </p:cNvSpPr>
              <p:nvPr/>
            </p:nvSpPr>
            <p:spPr bwMode="auto">
              <a:xfrm>
                <a:off x="2566023" y="2634800"/>
                <a:ext cx="839717" cy="21544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1" dirty="0">
                    <a:solidFill>
                      <a:srgbClr val="000000"/>
                    </a:solidFill>
                    <a:latin typeface="+mj-lt"/>
                  </a:rPr>
                  <a:t>Value of R2</a:t>
                </a:r>
                <a:endParaRPr lang="en-US" sz="2000" b="1" dirty="0">
                  <a:latin typeface="+mj-lt"/>
                </a:endParaRPr>
              </a:p>
            </p:txBody>
          </p:sp>
          <p:sp>
            <p:nvSpPr>
              <p:cNvPr id="246" name="Rectangle 286"/>
              <p:cNvSpPr>
                <a:spLocks noChangeArrowheads="1"/>
              </p:cNvSpPr>
              <p:nvPr/>
            </p:nvSpPr>
            <p:spPr bwMode="auto">
              <a:xfrm>
                <a:off x="4224241" y="2636655"/>
                <a:ext cx="144270" cy="1692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100" b="1" dirty="0">
                    <a:solidFill>
                      <a:srgbClr val="000000"/>
                    </a:solidFill>
                    <a:latin typeface="+mj-lt"/>
                  </a:rPr>
                  <a:t>10</a:t>
                </a:r>
                <a:endParaRPr lang="en-US" sz="1100" b="1" dirty="0">
                  <a:latin typeface="+mj-lt"/>
                </a:endParaRPr>
              </a:p>
            </p:txBody>
          </p:sp>
          <p:sp>
            <p:nvSpPr>
              <p:cNvPr id="247" name="Rectangle 287"/>
              <p:cNvSpPr>
                <a:spLocks noChangeArrowheads="1"/>
              </p:cNvSpPr>
              <p:nvPr/>
            </p:nvSpPr>
            <p:spPr bwMode="auto">
              <a:xfrm>
                <a:off x="4799821" y="2636655"/>
                <a:ext cx="144270" cy="1692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100" b="1">
                    <a:solidFill>
                      <a:srgbClr val="000000"/>
                    </a:solidFill>
                    <a:latin typeface="+mj-lt"/>
                  </a:rPr>
                  <a:t>10</a:t>
                </a:r>
                <a:endParaRPr lang="en-US" sz="1100" b="1">
                  <a:latin typeface="+mj-lt"/>
                </a:endParaRPr>
              </a:p>
            </p:txBody>
          </p:sp>
          <p:sp>
            <p:nvSpPr>
              <p:cNvPr id="248" name="Rectangle 288"/>
              <p:cNvSpPr>
                <a:spLocks noChangeArrowheads="1"/>
              </p:cNvSpPr>
              <p:nvPr/>
            </p:nvSpPr>
            <p:spPr bwMode="auto">
              <a:xfrm>
                <a:off x="5375400" y="2636655"/>
                <a:ext cx="144270" cy="1692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100" b="1">
                    <a:solidFill>
                      <a:srgbClr val="000000"/>
                    </a:solidFill>
                    <a:latin typeface="+mj-lt"/>
                  </a:rPr>
                  <a:t>10</a:t>
                </a:r>
                <a:endParaRPr lang="en-US" sz="1100" b="1">
                  <a:latin typeface="+mj-lt"/>
                </a:endParaRPr>
              </a:p>
            </p:txBody>
          </p:sp>
          <p:sp>
            <p:nvSpPr>
              <p:cNvPr id="249" name="Rectangle 289"/>
              <p:cNvSpPr>
                <a:spLocks noChangeArrowheads="1"/>
              </p:cNvSpPr>
              <p:nvPr/>
            </p:nvSpPr>
            <p:spPr bwMode="auto">
              <a:xfrm>
                <a:off x="6543690" y="2636655"/>
                <a:ext cx="187552" cy="1692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100" b="1">
                    <a:solidFill>
                      <a:srgbClr val="000000"/>
                    </a:solidFill>
                    <a:latin typeface="+mj-lt"/>
                  </a:rPr>
                  <a:t>-20</a:t>
                </a:r>
                <a:endParaRPr lang="en-US" sz="1100" b="1">
                  <a:latin typeface="+mj-lt"/>
                </a:endParaRPr>
              </a:p>
            </p:txBody>
          </p:sp>
          <p:sp>
            <p:nvSpPr>
              <p:cNvPr id="250" name="Rectangle 290"/>
              <p:cNvSpPr>
                <a:spLocks noChangeArrowheads="1"/>
              </p:cNvSpPr>
              <p:nvPr/>
            </p:nvSpPr>
            <p:spPr bwMode="auto">
              <a:xfrm>
                <a:off x="7127835" y="2636655"/>
                <a:ext cx="187552" cy="1692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100" b="1" dirty="0">
                    <a:solidFill>
                      <a:srgbClr val="000000"/>
                    </a:solidFill>
                    <a:latin typeface="+mj-lt"/>
                  </a:rPr>
                  <a:t>-20</a:t>
                </a:r>
                <a:endParaRPr lang="en-US" sz="1100" b="1" dirty="0">
                  <a:latin typeface="+mj-lt"/>
                </a:endParaRPr>
              </a:p>
            </p:txBody>
          </p:sp>
          <p:sp>
            <p:nvSpPr>
              <p:cNvPr id="251" name="Rectangle 291"/>
              <p:cNvSpPr>
                <a:spLocks noChangeArrowheads="1"/>
              </p:cNvSpPr>
              <p:nvPr/>
            </p:nvSpPr>
            <p:spPr bwMode="auto">
              <a:xfrm>
                <a:off x="7705128" y="2636655"/>
                <a:ext cx="187552" cy="1692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100" b="1" dirty="0">
                    <a:solidFill>
                      <a:srgbClr val="000000"/>
                    </a:solidFill>
                    <a:latin typeface="+mj-lt"/>
                  </a:rPr>
                  <a:t>-20</a:t>
                </a:r>
                <a:endParaRPr lang="en-US" sz="1100" b="1" dirty="0">
                  <a:latin typeface="+mj-lt"/>
                </a:endParaRPr>
              </a:p>
            </p:txBody>
          </p:sp>
          <p:sp>
            <p:nvSpPr>
              <p:cNvPr id="252" name="Rectangle 292"/>
              <p:cNvSpPr>
                <a:spLocks noChangeArrowheads="1"/>
              </p:cNvSpPr>
              <p:nvPr/>
            </p:nvSpPr>
            <p:spPr bwMode="auto">
              <a:xfrm>
                <a:off x="8280708" y="2636655"/>
                <a:ext cx="187552" cy="1692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100" b="1" dirty="0">
                    <a:solidFill>
                      <a:srgbClr val="000000"/>
                    </a:solidFill>
                    <a:latin typeface="+mj-lt"/>
                  </a:rPr>
                  <a:t>-20</a:t>
                </a:r>
                <a:endParaRPr lang="en-US" sz="1100" b="1" dirty="0">
                  <a:latin typeface="+mj-lt"/>
                </a:endParaRPr>
              </a:p>
            </p:txBody>
          </p:sp>
          <p:sp>
            <p:nvSpPr>
              <p:cNvPr id="253" name="Rectangle 258"/>
              <p:cNvSpPr>
                <a:spLocks noChangeArrowheads="1"/>
              </p:cNvSpPr>
              <p:nvPr/>
            </p:nvSpPr>
            <p:spPr bwMode="auto">
              <a:xfrm>
                <a:off x="5859056" y="2638785"/>
                <a:ext cx="456856" cy="1692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100" b="1" dirty="0" smtClean="0">
                    <a:solidFill>
                      <a:srgbClr val="000000"/>
                    </a:solidFill>
                    <a:latin typeface="+mj-lt"/>
                  </a:rPr>
                  <a:t>10 / -20</a:t>
                </a:r>
                <a:endParaRPr lang="en-US" sz="1100" b="1" dirty="0">
                  <a:latin typeface="+mj-lt"/>
                </a:endParaRPr>
              </a:p>
            </p:txBody>
          </p:sp>
        </p:grpSp>
        <p:grpSp>
          <p:nvGrpSpPr>
            <p:cNvPr id="7" name="Группа 6"/>
            <p:cNvGrpSpPr/>
            <p:nvPr/>
          </p:nvGrpSpPr>
          <p:grpSpPr>
            <a:xfrm>
              <a:off x="3580873" y="2903285"/>
              <a:ext cx="4927680" cy="2929520"/>
              <a:chOff x="3580873" y="3269310"/>
              <a:chExt cx="4927680" cy="2929520"/>
            </a:xfrm>
          </p:grpSpPr>
          <p:sp>
            <p:nvSpPr>
              <p:cNvPr id="8" name="Freeform 11"/>
              <p:cNvSpPr>
                <a:spLocks/>
              </p:cNvSpPr>
              <p:nvPr/>
            </p:nvSpPr>
            <p:spPr bwMode="auto">
              <a:xfrm>
                <a:off x="7675850" y="5798085"/>
                <a:ext cx="125077" cy="267163"/>
              </a:xfrm>
              <a:custGeom>
                <a:avLst/>
                <a:gdLst>
                  <a:gd name="T0" fmla="*/ 71 w 73"/>
                  <a:gd name="T1" fmla="*/ 144 h 144"/>
                  <a:gd name="T2" fmla="*/ 0 w 73"/>
                  <a:gd name="T3" fmla="*/ 144 h 144"/>
                  <a:gd name="T4" fmla="*/ 0 w 73"/>
                  <a:gd name="T5" fmla="*/ 0 h 144"/>
                  <a:gd name="T6" fmla="*/ 73 w 73"/>
                  <a:gd name="T7" fmla="*/ 0 h 144"/>
                  <a:gd name="T8" fmla="*/ 71 w 73"/>
                  <a:gd name="T9" fmla="*/ 144 h 14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3"/>
                  <a:gd name="T16" fmla="*/ 0 h 144"/>
                  <a:gd name="T17" fmla="*/ 73 w 73"/>
                  <a:gd name="T18" fmla="*/ 144 h 14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3" h="144">
                    <a:moveTo>
                      <a:pt x="71" y="144"/>
                    </a:moveTo>
                    <a:lnTo>
                      <a:pt x="0" y="144"/>
                    </a:lnTo>
                    <a:lnTo>
                      <a:pt x="0" y="0"/>
                    </a:lnTo>
                    <a:lnTo>
                      <a:pt x="73" y="0"/>
                    </a:lnTo>
                    <a:lnTo>
                      <a:pt x="71" y="144"/>
                    </a:lnTo>
                    <a:close/>
                  </a:path>
                </a:pathLst>
              </a:custGeom>
              <a:solidFill>
                <a:srgbClr val="CCCC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9" name="Freeform 12"/>
              <p:cNvSpPr>
                <a:spLocks/>
              </p:cNvSpPr>
              <p:nvPr/>
            </p:nvSpPr>
            <p:spPr bwMode="auto">
              <a:xfrm>
                <a:off x="7675850" y="5798085"/>
                <a:ext cx="125077" cy="267163"/>
              </a:xfrm>
              <a:custGeom>
                <a:avLst/>
                <a:gdLst>
                  <a:gd name="T0" fmla="*/ 71 w 73"/>
                  <a:gd name="T1" fmla="*/ 144 h 144"/>
                  <a:gd name="T2" fmla="*/ 0 w 73"/>
                  <a:gd name="T3" fmla="*/ 144 h 144"/>
                  <a:gd name="T4" fmla="*/ 0 w 73"/>
                  <a:gd name="T5" fmla="*/ 0 h 144"/>
                  <a:gd name="T6" fmla="*/ 73 w 73"/>
                  <a:gd name="T7" fmla="*/ 0 h 14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3"/>
                  <a:gd name="T13" fmla="*/ 0 h 144"/>
                  <a:gd name="T14" fmla="*/ 73 w 73"/>
                  <a:gd name="T15" fmla="*/ 144 h 14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3" h="144">
                    <a:moveTo>
                      <a:pt x="71" y="144"/>
                    </a:moveTo>
                    <a:lnTo>
                      <a:pt x="0" y="144"/>
                    </a:lnTo>
                    <a:lnTo>
                      <a:pt x="0" y="0"/>
                    </a:lnTo>
                    <a:lnTo>
                      <a:pt x="73" y="0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0" name="Freeform 13"/>
              <p:cNvSpPr>
                <a:spLocks/>
              </p:cNvSpPr>
              <p:nvPr/>
            </p:nvSpPr>
            <p:spPr bwMode="auto">
              <a:xfrm>
                <a:off x="7797500" y="5798085"/>
                <a:ext cx="125077" cy="267163"/>
              </a:xfrm>
              <a:custGeom>
                <a:avLst/>
                <a:gdLst>
                  <a:gd name="T0" fmla="*/ 0 w 73"/>
                  <a:gd name="T1" fmla="*/ 0 h 144"/>
                  <a:gd name="T2" fmla="*/ 73 w 73"/>
                  <a:gd name="T3" fmla="*/ 0 h 144"/>
                  <a:gd name="T4" fmla="*/ 73 w 73"/>
                  <a:gd name="T5" fmla="*/ 144 h 144"/>
                  <a:gd name="T6" fmla="*/ 2 w 73"/>
                  <a:gd name="T7" fmla="*/ 144 h 14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3"/>
                  <a:gd name="T13" fmla="*/ 0 h 144"/>
                  <a:gd name="T14" fmla="*/ 73 w 73"/>
                  <a:gd name="T15" fmla="*/ 144 h 14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3" h="144">
                    <a:moveTo>
                      <a:pt x="0" y="0"/>
                    </a:moveTo>
                    <a:lnTo>
                      <a:pt x="73" y="0"/>
                    </a:lnTo>
                    <a:lnTo>
                      <a:pt x="73" y="144"/>
                    </a:lnTo>
                    <a:lnTo>
                      <a:pt x="2" y="144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1" name="Line 14"/>
              <p:cNvSpPr>
                <a:spLocks noChangeShapeType="1"/>
              </p:cNvSpPr>
              <p:nvPr/>
            </p:nvSpPr>
            <p:spPr bwMode="auto">
              <a:xfrm>
                <a:off x="6754052" y="5864876"/>
                <a:ext cx="125077" cy="1855"/>
              </a:xfrm>
              <a:prstGeom prst="line">
                <a:avLst/>
              </a:prstGeom>
              <a:noFill/>
              <a:ln w="15875">
                <a:solidFill>
                  <a:srgbClr val="EB75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2" name="Line 15"/>
              <p:cNvSpPr>
                <a:spLocks noChangeShapeType="1"/>
              </p:cNvSpPr>
              <p:nvPr/>
            </p:nvSpPr>
            <p:spPr bwMode="auto">
              <a:xfrm>
                <a:off x="6169790" y="5265614"/>
                <a:ext cx="121650" cy="1855"/>
              </a:xfrm>
              <a:prstGeom prst="line">
                <a:avLst/>
              </a:prstGeom>
              <a:noFill/>
              <a:ln w="15875">
                <a:solidFill>
                  <a:srgbClr val="EB75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3" name="Line 16"/>
              <p:cNvSpPr>
                <a:spLocks noChangeShapeType="1"/>
              </p:cNvSpPr>
              <p:nvPr/>
            </p:nvSpPr>
            <p:spPr bwMode="auto">
              <a:xfrm>
                <a:off x="6169790" y="5397340"/>
                <a:ext cx="121650" cy="3711"/>
              </a:xfrm>
              <a:prstGeom prst="line">
                <a:avLst/>
              </a:prstGeom>
              <a:noFill/>
              <a:ln w="15875">
                <a:solidFill>
                  <a:srgbClr val="EB75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4" name="Freeform 17"/>
              <p:cNvSpPr>
                <a:spLocks/>
              </p:cNvSpPr>
              <p:nvPr/>
            </p:nvSpPr>
            <p:spPr bwMode="auto">
              <a:xfrm>
                <a:off x="7213238" y="5196968"/>
                <a:ext cx="125077" cy="267163"/>
              </a:xfrm>
              <a:custGeom>
                <a:avLst/>
                <a:gdLst>
                  <a:gd name="T0" fmla="*/ 0 w 73"/>
                  <a:gd name="T1" fmla="*/ 144 h 144"/>
                  <a:gd name="T2" fmla="*/ 73 w 73"/>
                  <a:gd name="T3" fmla="*/ 144 h 144"/>
                  <a:gd name="T4" fmla="*/ 73 w 73"/>
                  <a:gd name="T5" fmla="*/ 0 h 144"/>
                  <a:gd name="T6" fmla="*/ 2 w 73"/>
                  <a:gd name="T7" fmla="*/ 0 h 14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3"/>
                  <a:gd name="T13" fmla="*/ 0 h 144"/>
                  <a:gd name="T14" fmla="*/ 73 w 73"/>
                  <a:gd name="T15" fmla="*/ 144 h 14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3" h="144">
                    <a:moveTo>
                      <a:pt x="0" y="144"/>
                    </a:moveTo>
                    <a:lnTo>
                      <a:pt x="73" y="144"/>
                    </a:lnTo>
                    <a:lnTo>
                      <a:pt x="73" y="0"/>
                    </a:lnTo>
                    <a:lnTo>
                      <a:pt x="2" y="0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5" name="Freeform 18"/>
              <p:cNvSpPr>
                <a:spLocks/>
              </p:cNvSpPr>
              <p:nvPr/>
            </p:nvSpPr>
            <p:spPr bwMode="auto">
              <a:xfrm>
                <a:off x="7091588" y="5196968"/>
                <a:ext cx="125077" cy="267163"/>
              </a:xfrm>
              <a:custGeom>
                <a:avLst/>
                <a:gdLst>
                  <a:gd name="T0" fmla="*/ 71 w 73"/>
                  <a:gd name="T1" fmla="*/ 0 h 144"/>
                  <a:gd name="T2" fmla="*/ 0 w 73"/>
                  <a:gd name="T3" fmla="*/ 0 h 144"/>
                  <a:gd name="T4" fmla="*/ 0 w 73"/>
                  <a:gd name="T5" fmla="*/ 144 h 144"/>
                  <a:gd name="T6" fmla="*/ 73 w 73"/>
                  <a:gd name="T7" fmla="*/ 144 h 14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3"/>
                  <a:gd name="T13" fmla="*/ 0 h 144"/>
                  <a:gd name="T14" fmla="*/ 73 w 73"/>
                  <a:gd name="T15" fmla="*/ 144 h 14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3" h="144">
                    <a:moveTo>
                      <a:pt x="71" y="0"/>
                    </a:moveTo>
                    <a:lnTo>
                      <a:pt x="0" y="0"/>
                    </a:lnTo>
                    <a:lnTo>
                      <a:pt x="0" y="144"/>
                    </a:lnTo>
                    <a:lnTo>
                      <a:pt x="73" y="144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6" name="Line 19"/>
              <p:cNvSpPr>
                <a:spLocks noChangeShapeType="1"/>
              </p:cNvSpPr>
              <p:nvPr/>
            </p:nvSpPr>
            <p:spPr bwMode="auto">
              <a:xfrm>
                <a:off x="5580387" y="4799933"/>
                <a:ext cx="125077" cy="1855"/>
              </a:xfrm>
              <a:prstGeom prst="line">
                <a:avLst/>
              </a:prstGeom>
              <a:noFill/>
              <a:ln w="15875">
                <a:solidFill>
                  <a:srgbClr val="EB75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7" name="Line 20"/>
              <p:cNvSpPr>
                <a:spLocks noChangeShapeType="1"/>
              </p:cNvSpPr>
              <p:nvPr/>
            </p:nvSpPr>
            <p:spPr bwMode="auto">
              <a:xfrm>
                <a:off x="5580387" y="4664496"/>
                <a:ext cx="371803" cy="185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8" name="Line 21"/>
              <p:cNvSpPr>
                <a:spLocks noChangeShapeType="1"/>
              </p:cNvSpPr>
              <p:nvPr/>
            </p:nvSpPr>
            <p:spPr bwMode="auto">
              <a:xfrm>
                <a:off x="4996125" y="4198816"/>
                <a:ext cx="371803" cy="185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9" name="Line 22"/>
              <p:cNvSpPr>
                <a:spLocks noChangeShapeType="1"/>
              </p:cNvSpPr>
              <p:nvPr/>
            </p:nvSpPr>
            <p:spPr bwMode="auto">
              <a:xfrm>
                <a:off x="4996125" y="4065234"/>
                <a:ext cx="125077" cy="3711"/>
              </a:xfrm>
              <a:prstGeom prst="line">
                <a:avLst/>
              </a:prstGeom>
              <a:noFill/>
              <a:ln w="15875">
                <a:solidFill>
                  <a:srgbClr val="EB75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20" name="Line 23"/>
              <p:cNvSpPr>
                <a:spLocks noChangeShapeType="1"/>
              </p:cNvSpPr>
              <p:nvPr/>
            </p:nvSpPr>
            <p:spPr bwMode="auto">
              <a:xfrm>
                <a:off x="5797986" y="3530907"/>
                <a:ext cx="125077" cy="3711"/>
              </a:xfrm>
              <a:prstGeom prst="line">
                <a:avLst/>
              </a:prstGeom>
              <a:noFill/>
              <a:ln w="15875">
                <a:solidFill>
                  <a:srgbClr val="EB75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21" name="Rectangle 24"/>
              <p:cNvSpPr>
                <a:spLocks noChangeArrowheads="1"/>
              </p:cNvSpPr>
              <p:nvPr/>
            </p:nvSpPr>
            <p:spPr bwMode="auto">
              <a:xfrm>
                <a:off x="5923063" y="3401036"/>
                <a:ext cx="121650" cy="265308"/>
              </a:xfrm>
              <a:prstGeom prst="rect">
                <a:avLst/>
              </a:prstGeom>
              <a:solidFill>
                <a:srgbClr val="FBE2C9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22" name="Rectangle 25"/>
              <p:cNvSpPr>
                <a:spLocks noChangeArrowheads="1"/>
              </p:cNvSpPr>
              <p:nvPr/>
            </p:nvSpPr>
            <p:spPr bwMode="auto">
              <a:xfrm>
                <a:off x="5923063" y="3401036"/>
                <a:ext cx="121650" cy="265308"/>
              </a:xfrm>
              <a:prstGeom prst="rect">
                <a:avLst/>
              </a:prstGeom>
              <a:noFill/>
              <a:ln w="9525">
                <a:solidFill>
                  <a:srgbClr val="EB75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23" name="Line 26"/>
              <p:cNvSpPr>
                <a:spLocks noChangeShapeType="1"/>
              </p:cNvSpPr>
              <p:nvPr/>
            </p:nvSpPr>
            <p:spPr bwMode="auto">
              <a:xfrm flipV="1">
                <a:off x="6169790" y="3397326"/>
                <a:ext cx="1713" cy="27272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24" name="Line 27"/>
              <p:cNvSpPr>
                <a:spLocks noChangeShapeType="1"/>
              </p:cNvSpPr>
              <p:nvPr/>
            </p:nvSpPr>
            <p:spPr bwMode="auto">
              <a:xfrm flipH="1">
                <a:off x="6044713" y="3401036"/>
                <a:ext cx="125077" cy="185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25" name="Line 28"/>
              <p:cNvSpPr>
                <a:spLocks noChangeShapeType="1"/>
              </p:cNvSpPr>
              <p:nvPr/>
            </p:nvSpPr>
            <p:spPr bwMode="auto">
              <a:xfrm flipH="1">
                <a:off x="6044713" y="3666344"/>
                <a:ext cx="125077" cy="185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26" name="Rectangle 29"/>
              <p:cNvSpPr>
                <a:spLocks noChangeArrowheads="1"/>
              </p:cNvSpPr>
              <p:nvPr/>
            </p:nvSpPr>
            <p:spPr bwMode="auto">
              <a:xfrm>
                <a:off x="4290212" y="3401036"/>
                <a:ext cx="125077" cy="265308"/>
              </a:xfrm>
              <a:prstGeom prst="rect">
                <a:avLst/>
              </a:prstGeom>
              <a:solidFill>
                <a:srgbClr val="CCCCCC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27" name="Rectangle 30"/>
              <p:cNvSpPr>
                <a:spLocks noChangeArrowheads="1"/>
              </p:cNvSpPr>
              <p:nvPr/>
            </p:nvSpPr>
            <p:spPr bwMode="auto">
              <a:xfrm>
                <a:off x="4290212" y="3401036"/>
                <a:ext cx="125077" cy="265308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28" name="Line 31"/>
              <p:cNvSpPr>
                <a:spLocks noChangeShapeType="1"/>
              </p:cNvSpPr>
              <p:nvPr/>
            </p:nvSpPr>
            <p:spPr bwMode="auto">
              <a:xfrm flipV="1">
                <a:off x="4165135" y="3397326"/>
                <a:ext cx="3427" cy="27272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29" name="Line 32"/>
              <p:cNvSpPr>
                <a:spLocks noChangeShapeType="1"/>
              </p:cNvSpPr>
              <p:nvPr/>
            </p:nvSpPr>
            <p:spPr bwMode="auto">
              <a:xfrm>
                <a:off x="4165135" y="3401036"/>
                <a:ext cx="131930" cy="185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30" name="Line 33"/>
              <p:cNvSpPr>
                <a:spLocks noChangeShapeType="1"/>
              </p:cNvSpPr>
              <p:nvPr/>
            </p:nvSpPr>
            <p:spPr bwMode="auto">
              <a:xfrm>
                <a:off x="4165135" y="3666344"/>
                <a:ext cx="131930" cy="185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31" name="Rectangle 34"/>
              <p:cNvSpPr>
                <a:spLocks noChangeArrowheads="1"/>
              </p:cNvSpPr>
              <p:nvPr/>
            </p:nvSpPr>
            <p:spPr bwMode="auto">
              <a:xfrm>
                <a:off x="3705950" y="3401036"/>
                <a:ext cx="121650" cy="265308"/>
              </a:xfrm>
              <a:prstGeom prst="rect">
                <a:avLst/>
              </a:prstGeom>
              <a:solidFill>
                <a:srgbClr val="CCCCCC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32" name="Rectangle 35"/>
              <p:cNvSpPr>
                <a:spLocks noChangeArrowheads="1"/>
              </p:cNvSpPr>
              <p:nvPr/>
            </p:nvSpPr>
            <p:spPr bwMode="auto">
              <a:xfrm>
                <a:off x="3705950" y="3401036"/>
                <a:ext cx="121650" cy="265308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33" name="Rectangle 36"/>
              <p:cNvSpPr>
                <a:spLocks noChangeArrowheads="1"/>
              </p:cNvSpPr>
              <p:nvPr/>
            </p:nvSpPr>
            <p:spPr bwMode="auto">
              <a:xfrm>
                <a:off x="3580873" y="3401036"/>
                <a:ext cx="125077" cy="265308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34" name="Rectangle 37"/>
              <p:cNvSpPr>
                <a:spLocks noChangeArrowheads="1"/>
              </p:cNvSpPr>
              <p:nvPr/>
            </p:nvSpPr>
            <p:spPr bwMode="auto">
              <a:xfrm>
                <a:off x="3645981" y="3454840"/>
                <a:ext cx="25648" cy="1231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I</a:t>
                </a:r>
                <a:endParaRPr lang="en-US" sz="1200" b="1">
                  <a:latin typeface="+mj-lt"/>
                </a:endParaRPr>
              </a:p>
            </p:txBody>
          </p:sp>
          <p:sp>
            <p:nvSpPr>
              <p:cNvPr id="35" name="Rectangle 38"/>
              <p:cNvSpPr>
                <a:spLocks noChangeArrowheads="1"/>
              </p:cNvSpPr>
              <p:nvPr/>
            </p:nvSpPr>
            <p:spPr bwMode="auto">
              <a:xfrm>
                <a:off x="3676822" y="3454840"/>
                <a:ext cx="88166" cy="1231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M</a:t>
                </a:r>
                <a:endParaRPr lang="en-US" sz="1200" b="1">
                  <a:latin typeface="+mj-lt"/>
                </a:endParaRPr>
              </a:p>
            </p:txBody>
          </p:sp>
          <p:sp>
            <p:nvSpPr>
              <p:cNvPr id="36" name="Rectangle 39"/>
              <p:cNvSpPr>
                <a:spLocks noChangeArrowheads="1"/>
              </p:cNvSpPr>
              <p:nvPr/>
            </p:nvSpPr>
            <p:spPr bwMode="auto">
              <a:xfrm>
                <a:off x="4197690" y="3454840"/>
                <a:ext cx="56106" cy="1231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R</a:t>
                </a:r>
                <a:endParaRPr lang="en-US" sz="1200" b="1">
                  <a:latin typeface="+mj-lt"/>
                </a:endParaRPr>
              </a:p>
            </p:txBody>
          </p:sp>
          <p:sp>
            <p:nvSpPr>
              <p:cNvPr id="37" name="Rectangle 40"/>
              <p:cNvSpPr>
                <a:spLocks noChangeArrowheads="1"/>
              </p:cNvSpPr>
              <p:nvPr/>
            </p:nvSpPr>
            <p:spPr bwMode="auto">
              <a:xfrm>
                <a:off x="4276505" y="3454840"/>
                <a:ext cx="51296" cy="1231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e</a:t>
                </a:r>
                <a:endParaRPr lang="en-US" sz="1200" b="1">
                  <a:latin typeface="+mj-lt"/>
                </a:endParaRPr>
              </a:p>
            </p:txBody>
          </p:sp>
          <p:sp>
            <p:nvSpPr>
              <p:cNvPr id="38" name="Rectangle 41"/>
              <p:cNvSpPr>
                <a:spLocks noChangeArrowheads="1"/>
              </p:cNvSpPr>
              <p:nvPr/>
            </p:nvSpPr>
            <p:spPr bwMode="auto">
              <a:xfrm>
                <a:off x="4339900" y="3454840"/>
                <a:ext cx="48090" cy="1231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g</a:t>
                </a:r>
                <a:endParaRPr lang="en-US" sz="1200" b="1">
                  <a:latin typeface="+mj-lt"/>
                </a:endParaRPr>
              </a:p>
            </p:txBody>
          </p:sp>
          <p:sp>
            <p:nvSpPr>
              <p:cNvPr id="39" name="Freeform 42"/>
              <p:cNvSpPr>
                <a:spLocks/>
              </p:cNvSpPr>
              <p:nvPr/>
            </p:nvSpPr>
            <p:spPr bwMode="auto">
              <a:xfrm>
                <a:off x="4780239" y="3269310"/>
                <a:ext cx="186758" cy="528761"/>
              </a:xfrm>
              <a:custGeom>
                <a:avLst/>
                <a:gdLst>
                  <a:gd name="T0" fmla="*/ 0 w 109"/>
                  <a:gd name="T1" fmla="*/ 0 h 285"/>
                  <a:gd name="T2" fmla="*/ 2 w 109"/>
                  <a:gd name="T3" fmla="*/ 115 h 285"/>
                  <a:gd name="T4" fmla="*/ 36 w 109"/>
                  <a:gd name="T5" fmla="*/ 143 h 285"/>
                  <a:gd name="T6" fmla="*/ 2 w 109"/>
                  <a:gd name="T7" fmla="*/ 170 h 285"/>
                  <a:gd name="T8" fmla="*/ 2 w 109"/>
                  <a:gd name="T9" fmla="*/ 285 h 285"/>
                  <a:gd name="T10" fmla="*/ 109 w 109"/>
                  <a:gd name="T11" fmla="*/ 197 h 285"/>
                  <a:gd name="T12" fmla="*/ 109 w 109"/>
                  <a:gd name="T13" fmla="*/ 88 h 285"/>
                  <a:gd name="T14" fmla="*/ 2 w 109"/>
                  <a:gd name="T15" fmla="*/ 0 h 285"/>
                  <a:gd name="T16" fmla="*/ 2 w 109"/>
                  <a:gd name="T17" fmla="*/ 0 h 285"/>
                  <a:gd name="T18" fmla="*/ 0 w 109"/>
                  <a:gd name="T19" fmla="*/ 0 h 28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09"/>
                  <a:gd name="T31" fmla="*/ 0 h 285"/>
                  <a:gd name="T32" fmla="*/ 109 w 109"/>
                  <a:gd name="T33" fmla="*/ 285 h 285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09" h="285">
                    <a:moveTo>
                      <a:pt x="0" y="0"/>
                    </a:moveTo>
                    <a:lnTo>
                      <a:pt x="2" y="115"/>
                    </a:lnTo>
                    <a:lnTo>
                      <a:pt x="36" y="143"/>
                    </a:lnTo>
                    <a:lnTo>
                      <a:pt x="2" y="170"/>
                    </a:lnTo>
                    <a:lnTo>
                      <a:pt x="2" y="285"/>
                    </a:lnTo>
                    <a:lnTo>
                      <a:pt x="109" y="197"/>
                    </a:lnTo>
                    <a:lnTo>
                      <a:pt x="109" y="88"/>
                    </a:lnTo>
                    <a:lnTo>
                      <a:pt x="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CCC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40" name="Freeform 43"/>
              <p:cNvSpPr>
                <a:spLocks/>
              </p:cNvSpPr>
              <p:nvPr/>
            </p:nvSpPr>
            <p:spPr bwMode="auto">
              <a:xfrm>
                <a:off x="4780239" y="3269310"/>
                <a:ext cx="186758" cy="528761"/>
              </a:xfrm>
              <a:custGeom>
                <a:avLst/>
                <a:gdLst>
                  <a:gd name="T0" fmla="*/ 0 w 109"/>
                  <a:gd name="T1" fmla="*/ 0 h 285"/>
                  <a:gd name="T2" fmla="*/ 2 w 109"/>
                  <a:gd name="T3" fmla="*/ 115 h 285"/>
                  <a:gd name="T4" fmla="*/ 36 w 109"/>
                  <a:gd name="T5" fmla="*/ 143 h 285"/>
                  <a:gd name="T6" fmla="*/ 2 w 109"/>
                  <a:gd name="T7" fmla="*/ 170 h 285"/>
                  <a:gd name="T8" fmla="*/ 2 w 109"/>
                  <a:gd name="T9" fmla="*/ 285 h 285"/>
                  <a:gd name="T10" fmla="*/ 109 w 109"/>
                  <a:gd name="T11" fmla="*/ 197 h 285"/>
                  <a:gd name="T12" fmla="*/ 109 w 109"/>
                  <a:gd name="T13" fmla="*/ 88 h 285"/>
                  <a:gd name="T14" fmla="*/ 2 w 109"/>
                  <a:gd name="T15" fmla="*/ 0 h 285"/>
                  <a:gd name="T16" fmla="*/ 2 w 109"/>
                  <a:gd name="T17" fmla="*/ 0 h 285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09"/>
                  <a:gd name="T28" fmla="*/ 0 h 285"/>
                  <a:gd name="T29" fmla="*/ 109 w 109"/>
                  <a:gd name="T30" fmla="*/ 285 h 285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09" h="285">
                    <a:moveTo>
                      <a:pt x="0" y="0"/>
                    </a:moveTo>
                    <a:lnTo>
                      <a:pt x="2" y="115"/>
                    </a:lnTo>
                    <a:lnTo>
                      <a:pt x="36" y="143"/>
                    </a:lnTo>
                    <a:lnTo>
                      <a:pt x="2" y="170"/>
                    </a:lnTo>
                    <a:lnTo>
                      <a:pt x="2" y="285"/>
                    </a:lnTo>
                    <a:lnTo>
                      <a:pt x="109" y="197"/>
                    </a:lnTo>
                    <a:lnTo>
                      <a:pt x="109" y="88"/>
                    </a:lnTo>
                    <a:lnTo>
                      <a:pt x="2" y="0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41" name="Line 44"/>
              <p:cNvSpPr>
                <a:spLocks noChangeShapeType="1"/>
              </p:cNvSpPr>
              <p:nvPr/>
            </p:nvSpPr>
            <p:spPr bwMode="auto">
              <a:xfrm>
                <a:off x="3827600" y="3530907"/>
                <a:ext cx="340963" cy="371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42" name="Line 45"/>
              <p:cNvSpPr>
                <a:spLocks noChangeShapeType="1"/>
              </p:cNvSpPr>
              <p:nvPr/>
            </p:nvSpPr>
            <p:spPr bwMode="auto">
              <a:xfrm>
                <a:off x="4411862" y="3467827"/>
                <a:ext cx="371803" cy="185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43" name="Line 46"/>
              <p:cNvSpPr>
                <a:spLocks noChangeShapeType="1"/>
              </p:cNvSpPr>
              <p:nvPr/>
            </p:nvSpPr>
            <p:spPr bwMode="auto">
              <a:xfrm>
                <a:off x="4966997" y="3530907"/>
                <a:ext cx="371803" cy="371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44" name="Line 47"/>
              <p:cNvSpPr>
                <a:spLocks noChangeShapeType="1"/>
              </p:cNvSpPr>
              <p:nvPr/>
            </p:nvSpPr>
            <p:spPr bwMode="auto">
              <a:xfrm>
                <a:off x="4411862" y="3599554"/>
                <a:ext cx="371803" cy="185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45" name="Freeform 48"/>
              <p:cNvSpPr>
                <a:spLocks/>
              </p:cNvSpPr>
              <p:nvPr/>
            </p:nvSpPr>
            <p:spPr bwMode="auto">
              <a:xfrm>
                <a:off x="4103454" y="3467827"/>
                <a:ext cx="61682" cy="63080"/>
              </a:xfrm>
              <a:custGeom>
                <a:avLst/>
                <a:gdLst>
                  <a:gd name="T0" fmla="*/ 0 w 36"/>
                  <a:gd name="T1" fmla="*/ 34 h 34"/>
                  <a:gd name="T2" fmla="*/ 2 w 36"/>
                  <a:gd name="T3" fmla="*/ 0 h 34"/>
                  <a:gd name="T4" fmla="*/ 36 w 36"/>
                  <a:gd name="T5" fmla="*/ 0 h 34"/>
                  <a:gd name="T6" fmla="*/ 0 60000 65536"/>
                  <a:gd name="T7" fmla="*/ 0 60000 65536"/>
                  <a:gd name="T8" fmla="*/ 0 60000 65536"/>
                  <a:gd name="T9" fmla="*/ 0 w 36"/>
                  <a:gd name="T10" fmla="*/ 0 h 34"/>
                  <a:gd name="T11" fmla="*/ 36 w 36"/>
                  <a:gd name="T12" fmla="*/ 34 h 3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6" h="34">
                    <a:moveTo>
                      <a:pt x="0" y="34"/>
                    </a:moveTo>
                    <a:lnTo>
                      <a:pt x="2" y="0"/>
                    </a:lnTo>
                    <a:lnTo>
                      <a:pt x="36" y="0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46" name="Freeform 49"/>
              <p:cNvSpPr>
                <a:spLocks/>
              </p:cNvSpPr>
              <p:nvPr/>
            </p:nvSpPr>
            <p:spPr bwMode="auto">
              <a:xfrm>
                <a:off x="6507326" y="4000299"/>
                <a:ext cx="125077" cy="267163"/>
              </a:xfrm>
              <a:custGeom>
                <a:avLst/>
                <a:gdLst>
                  <a:gd name="T0" fmla="*/ 71 w 73"/>
                  <a:gd name="T1" fmla="*/ 144 h 144"/>
                  <a:gd name="T2" fmla="*/ 0 w 73"/>
                  <a:gd name="T3" fmla="*/ 144 h 144"/>
                  <a:gd name="T4" fmla="*/ 0 w 73"/>
                  <a:gd name="T5" fmla="*/ 0 h 144"/>
                  <a:gd name="T6" fmla="*/ 73 w 73"/>
                  <a:gd name="T7" fmla="*/ 0 h 144"/>
                  <a:gd name="T8" fmla="*/ 71 w 73"/>
                  <a:gd name="T9" fmla="*/ 144 h 14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3"/>
                  <a:gd name="T16" fmla="*/ 0 h 144"/>
                  <a:gd name="T17" fmla="*/ 73 w 73"/>
                  <a:gd name="T18" fmla="*/ 144 h 14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3" h="144">
                    <a:moveTo>
                      <a:pt x="71" y="144"/>
                    </a:moveTo>
                    <a:lnTo>
                      <a:pt x="0" y="144"/>
                    </a:lnTo>
                    <a:lnTo>
                      <a:pt x="0" y="0"/>
                    </a:lnTo>
                    <a:lnTo>
                      <a:pt x="73" y="0"/>
                    </a:lnTo>
                    <a:lnTo>
                      <a:pt x="71" y="144"/>
                    </a:lnTo>
                    <a:close/>
                  </a:path>
                </a:pathLst>
              </a:custGeom>
              <a:solidFill>
                <a:srgbClr val="CCCC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47" name="Freeform 50"/>
              <p:cNvSpPr>
                <a:spLocks/>
              </p:cNvSpPr>
              <p:nvPr/>
            </p:nvSpPr>
            <p:spPr bwMode="auto">
              <a:xfrm>
                <a:off x="6507326" y="4000299"/>
                <a:ext cx="125077" cy="267163"/>
              </a:xfrm>
              <a:custGeom>
                <a:avLst/>
                <a:gdLst>
                  <a:gd name="T0" fmla="*/ 71 w 73"/>
                  <a:gd name="T1" fmla="*/ 144 h 144"/>
                  <a:gd name="T2" fmla="*/ 0 w 73"/>
                  <a:gd name="T3" fmla="*/ 144 h 144"/>
                  <a:gd name="T4" fmla="*/ 0 w 73"/>
                  <a:gd name="T5" fmla="*/ 0 h 144"/>
                  <a:gd name="T6" fmla="*/ 73 w 73"/>
                  <a:gd name="T7" fmla="*/ 0 h 14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3"/>
                  <a:gd name="T13" fmla="*/ 0 h 144"/>
                  <a:gd name="T14" fmla="*/ 73 w 73"/>
                  <a:gd name="T15" fmla="*/ 144 h 14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3" h="144">
                    <a:moveTo>
                      <a:pt x="71" y="144"/>
                    </a:moveTo>
                    <a:lnTo>
                      <a:pt x="0" y="144"/>
                    </a:lnTo>
                    <a:lnTo>
                      <a:pt x="0" y="0"/>
                    </a:lnTo>
                    <a:lnTo>
                      <a:pt x="73" y="0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48" name="Line 51"/>
              <p:cNvSpPr>
                <a:spLocks noChangeShapeType="1"/>
              </p:cNvSpPr>
              <p:nvPr/>
            </p:nvSpPr>
            <p:spPr bwMode="auto">
              <a:xfrm flipV="1">
                <a:off x="6754052" y="3992877"/>
                <a:ext cx="1713" cy="27829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49" name="Line 52"/>
              <p:cNvSpPr>
                <a:spLocks noChangeShapeType="1"/>
              </p:cNvSpPr>
              <p:nvPr/>
            </p:nvSpPr>
            <p:spPr bwMode="auto">
              <a:xfrm flipH="1">
                <a:off x="6625549" y="4000299"/>
                <a:ext cx="128503" cy="185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50" name="Line 53"/>
              <p:cNvSpPr>
                <a:spLocks noChangeShapeType="1"/>
              </p:cNvSpPr>
              <p:nvPr/>
            </p:nvSpPr>
            <p:spPr bwMode="auto">
              <a:xfrm flipH="1">
                <a:off x="6625549" y="4267462"/>
                <a:ext cx="128503" cy="185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51" name="Rectangle 54"/>
              <p:cNvSpPr>
                <a:spLocks noChangeArrowheads="1"/>
              </p:cNvSpPr>
              <p:nvPr/>
            </p:nvSpPr>
            <p:spPr bwMode="auto">
              <a:xfrm>
                <a:off x="4290212" y="4000299"/>
                <a:ext cx="125077" cy="267163"/>
              </a:xfrm>
              <a:prstGeom prst="rect">
                <a:avLst/>
              </a:prstGeom>
              <a:solidFill>
                <a:srgbClr val="CCCCCC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52" name="Rectangle 55"/>
              <p:cNvSpPr>
                <a:spLocks noChangeArrowheads="1"/>
              </p:cNvSpPr>
              <p:nvPr/>
            </p:nvSpPr>
            <p:spPr bwMode="auto">
              <a:xfrm>
                <a:off x="4290212" y="4000299"/>
                <a:ext cx="125077" cy="267163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53" name="Rectangle 56"/>
              <p:cNvSpPr>
                <a:spLocks noChangeArrowheads="1"/>
              </p:cNvSpPr>
              <p:nvPr/>
            </p:nvSpPr>
            <p:spPr bwMode="auto">
              <a:xfrm>
                <a:off x="4168562" y="4000299"/>
                <a:ext cx="121650" cy="267163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54" name="Rectangle 57"/>
              <p:cNvSpPr>
                <a:spLocks noChangeArrowheads="1"/>
              </p:cNvSpPr>
              <p:nvPr/>
            </p:nvSpPr>
            <p:spPr bwMode="auto">
              <a:xfrm>
                <a:off x="4231957" y="4054102"/>
                <a:ext cx="25648" cy="1231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I</a:t>
                </a:r>
                <a:endParaRPr lang="en-US" sz="1200" b="1">
                  <a:latin typeface="+mj-lt"/>
                </a:endParaRPr>
              </a:p>
            </p:txBody>
          </p:sp>
          <p:sp>
            <p:nvSpPr>
              <p:cNvPr id="55" name="Rectangle 58"/>
              <p:cNvSpPr>
                <a:spLocks noChangeArrowheads="1"/>
              </p:cNvSpPr>
              <p:nvPr/>
            </p:nvSpPr>
            <p:spPr bwMode="auto">
              <a:xfrm>
                <a:off x="4261085" y="4054102"/>
                <a:ext cx="88166" cy="1231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M</a:t>
                </a:r>
                <a:endParaRPr lang="en-US" sz="1200" b="1">
                  <a:latin typeface="+mj-lt"/>
                </a:endParaRPr>
              </a:p>
            </p:txBody>
          </p:sp>
          <p:sp>
            <p:nvSpPr>
              <p:cNvPr id="56" name="Rectangle 59"/>
              <p:cNvSpPr>
                <a:spLocks noChangeArrowheads="1"/>
              </p:cNvSpPr>
              <p:nvPr/>
            </p:nvSpPr>
            <p:spPr bwMode="auto">
              <a:xfrm>
                <a:off x="4874475" y="4000299"/>
                <a:ext cx="125077" cy="267163"/>
              </a:xfrm>
              <a:prstGeom prst="rect">
                <a:avLst/>
              </a:prstGeom>
              <a:solidFill>
                <a:srgbClr val="FBE2C9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57" name="Rectangle 60"/>
              <p:cNvSpPr>
                <a:spLocks noChangeArrowheads="1"/>
              </p:cNvSpPr>
              <p:nvPr/>
            </p:nvSpPr>
            <p:spPr bwMode="auto">
              <a:xfrm>
                <a:off x="4874475" y="4000299"/>
                <a:ext cx="125077" cy="267163"/>
              </a:xfrm>
              <a:prstGeom prst="rect">
                <a:avLst/>
              </a:prstGeom>
              <a:noFill/>
              <a:ln w="9525">
                <a:solidFill>
                  <a:srgbClr val="EB75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58" name="Line 61"/>
              <p:cNvSpPr>
                <a:spLocks noChangeShapeType="1"/>
              </p:cNvSpPr>
              <p:nvPr/>
            </p:nvSpPr>
            <p:spPr bwMode="auto">
              <a:xfrm flipV="1">
                <a:off x="4749398" y="3992877"/>
                <a:ext cx="3427" cy="27829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59" name="Line 62"/>
              <p:cNvSpPr>
                <a:spLocks noChangeShapeType="1"/>
              </p:cNvSpPr>
              <p:nvPr/>
            </p:nvSpPr>
            <p:spPr bwMode="auto">
              <a:xfrm>
                <a:off x="4749398" y="4000299"/>
                <a:ext cx="125077" cy="185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60" name="Line 63"/>
              <p:cNvSpPr>
                <a:spLocks noChangeShapeType="1"/>
              </p:cNvSpPr>
              <p:nvPr/>
            </p:nvSpPr>
            <p:spPr bwMode="auto">
              <a:xfrm>
                <a:off x="4749398" y="4267462"/>
                <a:ext cx="125077" cy="185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61" name="Freeform 64"/>
              <p:cNvSpPr>
                <a:spLocks/>
              </p:cNvSpPr>
              <p:nvPr/>
            </p:nvSpPr>
            <p:spPr bwMode="auto">
              <a:xfrm>
                <a:off x="5367928" y="3868572"/>
                <a:ext cx="186758" cy="530616"/>
              </a:xfrm>
              <a:custGeom>
                <a:avLst/>
                <a:gdLst>
                  <a:gd name="T0" fmla="*/ 0 w 109"/>
                  <a:gd name="T1" fmla="*/ 0 h 286"/>
                  <a:gd name="T2" fmla="*/ 0 w 109"/>
                  <a:gd name="T3" fmla="*/ 115 h 286"/>
                  <a:gd name="T4" fmla="*/ 34 w 109"/>
                  <a:gd name="T5" fmla="*/ 142 h 286"/>
                  <a:gd name="T6" fmla="*/ 0 w 109"/>
                  <a:gd name="T7" fmla="*/ 171 h 286"/>
                  <a:gd name="T8" fmla="*/ 0 w 109"/>
                  <a:gd name="T9" fmla="*/ 286 h 286"/>
                  <a:gd name="T10" fmla="*/ 109 w 109"/>
                  <a:gd name="T11" fmla="*/ 198 h 286"/>
                  <a:gd name="T12" fmla="*/ 109 w 109"/>
                  <a:gd name="T13" fmla="*/ 86 h 286"/>
                  <a:gd name="T14" fmla="*/ 0 w 109"/>
                  <a:gd name="T15" fmla="*/ 0 h 286"/>
                  <a:gd name="T16" fmla="*/ 0 w 109"/>
                  <a:gd name="T17" fmla="*/ 0 h 28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09"/>
                  <a:gd name="T28" fmla="*/ 0 h 286"/>
                  <a:gd name="T29" fmla="*/ 109 w 109"/>
                  <a:gd name="T30" fmla="*/ 286 h 28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09" h="286">
                    <a:moveTo>
                      <a:pt x="0" y="0"/>
                    </a:moveTo>
                    <a:lnTo>
                      <a:pt x="0" y="115"/>
                    </a:lnTo>
                    <a:lnTo>
                      <a:pt x="34" y="142"/>
                    </a:lnTo>
                    <a:lnTo>
                      <a:pt x="0" y="171"/>
                    </a:lnTo>
                    <a:lnTo>
                      <a:pt x="0" y="286"/>
                    </a:lnTo>
                    <a:lnTo>
                      <a:pt x="109" y="198"/>
                    </a:lnTo>
                    <a:lnTo>
                      <a:pt x="109" y="8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CCC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62" name="Freeform 65"/>
              <p:cNvSpPr>
                <a:spLocks/>
              </p:cNvSpPr>
              <p:nvPr/>
            </p:nvSpPr>
            <p:spPr bwMode="auto">
              <a:xfrm>
                <a:off x="5367928" y="3868572"/>
                <a:ext cx="186758" cy="530616"/>
              </a:xfrm>
              <a:custGeom>
                <a:avLst/>
                <a:gdLst>
                  <a:gd name="T0" fmla="*/ 0 w 109"/>
                  <a:gd name="T1" fmla="*/ 0 h 286"/>
                  <a:gd name="T2" fmla="*/ 0 w 109"/>
                  <a:gd name="T3" fmla="*/ 115 h 286"/>
                  <a:gd name="T4" fmla="*/ 34 w 109"/>
                  <a:gd name="T5" fmla="*/ 142 h 286"/>
                  <a:gd name="T6" fmla="*/ 0 w 109"/>
                  <a:gd name="T7" fmla="*/ 171 h 286"/>
                  <a:gd name="T8" fmla="*/ 0 w 109"/>
                  <a:gd name="T9" fmla="*/ 286 h 286"/>
                  <a:gd name="T10" fmla="*/ 109 w 109"/>
                  <a:gd name="T11" fmla="*/ 198 h 286"/>
                  <a:gd name="T12" fmla="*/ 109 w 109"/>
                  <a:gd name="T13" fmla="*/ 86 h 286"/>
                  <a:gd name="T14" fmla="*/ 0 w 109"/>
                  <a:gd name="T15" fmla="*/ 0 h 286"/>
                  <a:gd name="T16" fmla="*/ 0 w 109"/>
                  <a:gd name="T17" fmla="*/ 0 h 28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09"/>
                  <a:gd name="T28" fmla="*/ 0 h 286"/>
                  <a:gd name="T29" fmla="*/ 109 w 109"/>
                  <a:gd name="T30" fmla="*/ 286 h 28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09" h="286">
                    <a:moveTo>
                      <a:pt x="0" y="0"/>
                    </a:moveTo>
                    <a:lnTo>
                      <a:pt x="0" y="115"/>
                    </a:lnTo>
                    <a:lnTo>
                      <a:pt x="34" y="142"/>
                    </a:lnTo>
                    <a:lnTo>
                      <a:pt x="0" y="171"/>
                    </a:lnTo>
                    <a:lnTo>
                      <a:pt x="0" y="286"/>
                    </a:lnTo>
                    <a:lnTo>
                      <a:pt x="109" y="198"/>
                    </a:lnTo>
                    <a:lnTo>
                      <a:pt x="109" y="86"/>
                    </a:lnTo>
                    <a:lnTo>
                      <a:pt x="0" y="0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63" name="Rectangle 66"/>
              <p:cNvSpPr>
                <a:spLocks noChangeArrowheads="1"/>
              </p:cNvSpPr>
              <p:nvPr/>
            </p:nvSpPr>
            <p:spPr bwMode="auto">
              <a:xfrm>
                <a:off x="6536453" y="4054102"/>
                <a:ext cx="56106" cy="1231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R</a:t>
                </a:r>
                <a:endParaRPr lang="en-US" sz="1200" b="1">
                  <a:latin typeface="+mj-lt"/>
                </a:endParaRPr>
              </a:p>
            </p:txBody>
          </p:sp>
          <p:sp>
            <p:nvSpPr>
              <p:cNvPr id="64" name="Rectangle 67"/>
              <p:cNvSpPr>
                <a:spLocks noChangeArrowheads="1"/>
              </p:cNvSpPr>
              <p:nvPr/>
            </p:nvSpPr>
            <p:spPr bwMode="auto">
              <a:xfrm>
                <a:off x="6618695" y="4054102"/>
                <a:ext cx="51296" cy="1231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e</a:t>
                </a:r>
                <a:endParaRPr lang="en-US" sz="1200" b="1">
                  <a:latin typeface="+mj-lt"/>
                </a:endParaRPr>
              </a:p>
            </p:txBody>
          </p:sp>
          <p:sp>
            <p:nvSpPr>
              <p:cNvPr id="65" name="Rectangle 68"/>
              <p:cNvSpPr>
                <a:spLocks noChangeArrowheads="1"/>
              </p:cNvSpPr>
              <p:nvPr/>
            </p:nvSpPr>
            <p:spPr bwMode="auto">
              <a:xfrm>
                <a:off x="6678663" y="4054102"/>
                <a:ext cx="48090" cy="1231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g</a:t>
                </a:r>
                <a:endParaRPr lang="en-US" sz="1200" b="1">
                  <a:latin typeface="+mj-lt"/>
                </a:endParaRPr>
              </a:p>
            </p:txBody>
          </p:sp>
          <p:sp>
            <p:nvSpPr>
              <p:cNvPr id="66" name="Line 69"/>
              <p:cNvSpPr>
                <a:spLocks noChangeShapeType="1"/>
              </p:cNvSpPr>
              <p:nvPr/>
            </p:nvSpPr>
            <p:spPr bwMode="auto">
              <a:xfrm>
                <a:off x="4411862" y="4132025"/>
                <a:ext cx="340963" cy="185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67" name="Line 70"/>
              <p:cNvSpPr>
                <a:spLocks noChangeShapeType="1"/>
              </p:cNvSpPr>
              <p:nvPr/>
            </p:nvSpPr>
            <p:spPr bwMode="auto">
              <a:xfrm>
                <a:off x="5551260" y="4132025"/>
                <a:ext cx="371803" cy="185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68" name="Line 71"/>
              <p:cNvSpPr>
                <a:spLocks noChangeShapeType="1"/>
              </p:cNvSpPr>
              <p:nvPr/>
            </p:nvSpPr>
            <p:spPr bwMode="auto">
              <a:xfrm>
                <a:off x="6166363" y="4132025"/>
                <a:ext cx="340963" cy="185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69" name="Freeform 72"/>
              <p:cNvSpPr>
                <a:spLocks/>
              </p:cNvSpPr>
              <p:nvPr/>
            </p:nvSpPr>
            <p:spPr bwMode="auto">
              <a:xfrm>
                <a:off x="4691143" y="4068945"/>
                <a:ext cx="58255" cy="63080"/>
              </a:xfrm>
              <a:custGeom>
                <a:avLst/>
                <a:gdLst>
                  <a:gd name="T0" fmla="*/ 0 w 34"/>
                  <a:gd name="T1" fmla="*/ 34 h 34"/>
                  <a:gd name="T2" fmla="*/ 0 w 34"/>
                  <a:gd name="T3" fmla="*/ 0 h 34"/>
                  <a:gd name="T4" fmla="*/ 34 w 34"/>
                  <a:gd name="T5" fmla="*/ 0 h 34"/>
                  <a:gd name="T6" fmla="*/ 0 60000 65536"/>
                  <a:gd name="T7" fmla="*/ 0 60000 65536"/>
                  <a:gd name="T8" fmla="*/ 0 60000 65536"/>
                  <a:gd name="T9" fmla="*/ 0 w 34"/>
                  <a:gd name="T10" fmla="*/ 0 h 34"/>
                  <a:gd name="T11" fmla="*/ 34 w 34"/>
                  <a:gd name="T12" fmla="*/ 34 h 3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4" h="34">
                    <a:moveTo>
                      <a:pt x="0" y="34"/>
                    </a:moveTo>
                    <a:lnTo>
                      <a:pt x="0" y="0"/>
                    </a:lnTo>
                    <a:lnTo>
                      <a:pt x="34" y="0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70" name="Freeform 73"/>
              <p:cNvSpPr>
                <a:spLocks/>
              </p:cNvSpPr>
              <p:nvPr/>
            </p:nvSpPr>
            <p:spPr bwMode="auto">
              <a:xfrm>
                <a:off x="3952676" y="3269310"/>
                <a:ext cx="90809" cy="532471"/>
              </a:xfrm>
              <a:custGeom>
                <a:avLst/>
                <a:gdLst>
                  <a:gd name="T0" fmla="*/ 53 w 53"/>
                  <a:gd name="T1" fmla="*/ 285 h 287"/>
                  <a:gd name="T2" fmla="*/ 53 w 53"/>
                  <a:gd name="T3" fmla="*/ 0 h 287"/>
                  <a:gd name="T4" fmla="*/ 0 w 53"/>
                  <a:gd name="T5" fmla="*/ 0 h 287"/>
                  <a:gd name="T6" fmla="*/ 0 w 53"/>
                  <a:gd name="T7" fmla="*/ 287 h 287"/>
                  <a:gd name="T8" fmla="*/ 53 w 53"/>
                  <a:gd name="T9" fmla="*/ 287 h 287"/>
                  <a:gd name="T10" fmla="*/ 53 w 53"/>
                  <a:gd name="T11" fmla="*/ 287 h 287"/>
                  <a:gd name="T12" fmla="*/ 53 w 53"/>
                  <a:gd name="T13" fmla="*/ 285 h 28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53"/>
                  <a:gd name="T22" fmla="*/ 0 h 287"/>
                  <a:gd name="T23" fmla="*/ 53 w 53"/>
                  <a:gd name="T24" fmla="*/ 287 h 28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53" h="287">
                    <a:moveTo>
                      <a:pt x="53" y="285"/>
                    </a:moveTo>
                    <a:lnTo>
                      <a:pt x="53" y="0"/>
                    </a:lnTo>
                    <a:lnTo>
                      <a:pt x="0" y="0"/>
                    </a:lnTo>
                    <a:lnTo>
                      <a:pt x="0" y="287"/>
                    </a:lnTo>
                    <a:lnTo>
                      <a:pt x="53" y="287"/>
                    </a:lnTo>
                    <a:lnTo>
                      <a:pt x="53" y="285"/>
                    </a:lnTo>
                    <a:close/>
                  </a:path>
                </a:pathLst>
              </a:custGeom>
              <a:solidFill>
                <a:srgbClr val="CCCC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71" name="Freeform 74"/>
              <p:cNvSpPr>
                <a:spLocks/>
              </p:cNvSpPr>
              <p:nvPr/>
            </p:nvSpPr>
            <p:spPr bwMode="auto">
              <a:xfrm>
                <a:off x="3952676" y="3269310"/>
                <a:ext cx="90809" cy="532471"/>
              </a:xfrm>
              <a:custGeom>
                <a:avLst/>
                <a:gdLst>
                  <a:gd name="T0" fmla="*/ 53 w 53"/>
                  <a:gd name="T1" fmla="*/ 285 h 287"/>
                  <a:gd name="T2" fmla="*/ 53 w 53"/>
                  <a:gd name="T3" fmla="*/ 0 h 287"/>
                  <a:gd name="T4" fmla="*/ 0 w 53"/>
                  <a:gd name="T5" fmla="*/ 0 h 287"/>
                  <a:gd name="T6" fmla="*/ 0 w 53"/>
                  <a:gd name="T7" fmla="*/ 287 h 287"/>
                  <a:gd name="T8" fmla="*/ 53 w 53"/>
                  <a:gd name="T9" fmla="*/ 287 h 287"/>
                  <a:gd name="T10" fmla="*/ 53 w 53"/>
                  <a:gd name="T11" fmla="*/ 287 h 28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53"/>
                  <a:gd name="T19" fmla="*/ 0 h 287"/>
                  <a:gd name="T20" fmla="*/ 53 w 53"/>
                  <a:gd name="T21" fmla="*/ 287 h 28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53" h="287">
                    <a:moveTo>
                      <a:pt x="53" y="285"/>
                    </a:moveTo>
                    <a:lnTo>
                      <a:pt x="53" y="0"/>
                    </a:lnTo>
                    <a:lnTo>
                      <a:pt x="0" y="0"/>
                    </a:lnTo>
                    <a:lnTo>
                      <a:pt x="0" y="287"/>
                    </a:lnTo>
                    <a:lnTo>
                      <a:pt x="53" y="287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72" name="Freeform 75"/>
              <p:cNvSpPr>
                <a:spLocks/>
              </p:cNvSpPr>
              <p:nvPr/>
            </p:nvSpPr>
            <p:spPr bwMode="auto">
              <a:xfrm>
                <a:off x="4536939" y="3269310"/>
                <a:ext cx="92523" cy="532471"/>
              </a:xfrm>
              <a:custGeom>
                <a:avLst/>
                <a:gdLst>
                  <a:gd name="T0" fmla="*/ 54 w 54"/>
                  <a:gd name="T1" fmla="*/ 285 h 287"/>
                  <a:gd name="T2" fmla="*/ 54 w 54"/>
                  <a:gd name="T3" fmla="*/ 0 h 287"/>
                  <a:gd name="T4" fmla="*/ 0 w 54"/>
                  <a:gd name="T5" fmla="*/ 0 h 287"/>
                  <a:gd name="T6" fmla="*/ 0 w 54"/>
                  <a:gd name="T7" fmla="*/ 287 h 287"/>
                  <a:gd name="T8" fmla="*/ 54 w 54"/>
                  <a:gd name="T9" fmla="*/ 287 h 287"/>
                  <a:gd name="T10" fmla="*/ 54 w 54"/>
                  <a:gd name="T11" fmla="*/ 287 h 287"/>
                  <a:gd name="T12" fmla="*/ 54 w 54"/>
                  <a:gd name="T13" fmla="*/ 285 h 28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54"/>
                  <a:gd name="T22" fmla="*/ 0 h 287"/>
                  <a:gd name="T23" fmla="*/ 54 w 54"/>
                  <a:gd name="T24" fmla="*/ 287 h 28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54" h="287">
                    <a:moveTo>
                      <a:pt x="54" y="285"/>
                    </a:moveTo>
                    <a:lnTo>
                      <a:pt x="54" y="0"/>
                    </a:lnTo>
                    <a:lnTo>
                      <a:pt x="0" y="0"/>
                    </a:lnTo>
                    <a:lnTo>
                      <a:pt x="0" y="287"/>
                    </a:lnTo>
                    <a:lnTo>
                      <a:pt x="54" y="287"/>
                    </a:lnTo>
                    <a:lnTo>
                      <a:pt x="54" y="285"/>
                    </a:lnTo>
                    <a:close/>
                  </a:path>
                </a:pathLst>
              </a:custGeom>
              <a:solidFill>
                <a:srgbClr val="CCCC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73" name="Freeform 76"/>
              <p:cNvSpPr>
                <a:spLocks/>
              </p:cNvSpPr>
              <p:nvPr/>
            </p:nvSpPr>
            <p:spPr bwMode="auto">
              <a:xfrm>
                <a:off x="4536939" y="3269310"/>
                <a:ext cx="92523" cy="532471"/>
              </a:xfrm>
              <a:custGeom>
                <a:avLst/>
                <a:gdLst>
                  <a:gd name="T0" fmla="*/ 54 w 54"/>
                  <a:gd name="T1" fmla="*/ 285 h 287"/>
                  <a:gd name="T2" fmla="*/ 54 w 54"/>
                  <a:gd name="T3" fmla="*/ 0 h 287"/>
                  <a:gd name="T4" fmla="*/ 0 w 54"/>
                  <a:gd name="T5" fmla="*/ 0 h 287"/>
                  <a:gd name="T6" fmla="*/ 0 w 54"/>
                  <a:gd name="T7" fmla="*/ 287 h 287"/>
                  <a:gd name="T8" fmla="*/ 54 w 54"/>
                  <a:gd name="T9" fmla="*/ 287 h 287"/>
                  <a:gd name="T10" fmla="*/ 54 w 54"/>
                  <a:gd name="T11" fmla="*/ 287 h 28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54"/>
                  <a:gd name="T19" fmla="*/ 0 h 287"/>
                  <a:gd name="T20" fmla="*/ 54 w 54"/>
                  <a:gd name="T21" fmla="*/ 287 h 28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54" h="287">
                    <a:moveTo>
                      <a:pt x="54" y="285"/>
                    </a:moveTo>
                    <a:lnTo>
                      <a:pt x="54" y="0"/>
                    </a:lnTo>
                    <a:lnTo>
                      <a:pt x="0" y="0"/>
                    </a:lnTo>
                    <a:lnTo>
                      <a:pt x="0" y="287"/>
                    </a:lnTo>
                    <a:lnTo>
                      <a:pt x="54" y="287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74" name="Freeform 77"/>
              <p:cNvSpPr>
                <a:spLocks/>
              </p:cNvSpPr>
              <p:nvPr/>
            </p:nvSpPr>
            <p:spPr bwMode="auto">
              <a:xfrm>
                <a:off x="5121201" y="3269310"/>
                <a:ext cx="92523" cy="532471"/>
              </a:xfrm>
              <a:custGeom>
                <a:avLst/>
                <a:gdLst>
                  <a:gd name="T0" fmla="*/ 54 w 54"/>
                  <a:gd name="T1" fmla="*/ 285 h 287"/>
                  <a:gd name="T2" fmla="*/ 54 w 54"/>
                  <a:gd name="T3" fmla="*/ 0 h 287"/>
                  <a:gd name="T4" fmla="*/ 0 w 54"/>
                  <a:gd name="T5" fmla="*/ 0 h 287"/>
                  <a:gd name="T6" fmla="*/ 0 w 54"/>
                  <a:gd name="T7" fmla="*/ 287 h 287"/>
                  <a:gd name="T8" fmla="*/ 54 w 54"/>
                  <a:gd name="T9" fmla="*/ 287 h 287"/>
                  <a:gd name="T10" fmla="*/ 54 w 54"/>
                  <a:gd name="T11" fmla="*/ 287 h 287"/>
                  <a:gd name="T12" fmla="*/ 54 w 54"/>
                  <a:gd name="T13" fmla="*/ 285 h 28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54"/>
                  <a:gd name="T22" fmla="*/ 0 h 287"/>
                  <a:gd name="T23" fmla="*/ 54 w 54"/>
                  <a:gd name="T24" fmla="*/ 287 h 28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54" h="287">
                    <a:moveTo>
                      <a:pt x="54" y="285"/>
                    </a:moveTo>
                    <a:lnTo>
                      <a:pt x="54" y="0"/>
                    </a:lnTo>
                    <a:lnTo>
                      <a:pt x="0" y="0"/>
                    </a:lnTo>
                    <a:lnTo>
                      <a:pt x="0" y="287"/>
                    </a:lnTo>
                    <a:lnTo>
                      <a:pt x="54" y="287"/>
                    </a:lnTo>
                    <a:lnTo>
                      <a:pt x="54" y="285"/>
                    </a:lnTo>
                    <a:close/>
                  </a:path>
                </a:pathLst>
              </a:custGeom>
              <a:solidFill>
                <a:srgbClr val="CCCC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75" name="Freeform 78"/>
              <p:cNvSpPr>
                <a:spLocks/>
              </p:cNvSpPr>
              <p:nvPr/>
            </p:nvSpPr>
            <p:spPr bwMode="auto">
              <a:xfrm>
                <a:off x="5121201" y="3269310"/>
                <a:ext cx="92523" cy="532471"/>
              </a:xfrm>
              <a:custGeom>
                <a:avLst/>
                <a:gdLst>
                  <a:gd name="T0" fmla="*/ 54 w 54"/>
                  <a:gd name="T1" fmla="*/ 285 h 287"/>
                  <a:gd name="T2" fmla="*/ 54 w 54"/>
                  <a:gd name="T3" fmla="*/ 0 h 287"/>
                  <a:gd name="T4" fmla="*/ 0 w 54"/>
                  <a:gd name="T5" fmla="*/ 0 h 287"/>
                  <a:gd name="T6" fmla="*/ 0 w 54"/>
                  <a:gd name="T7" fmla="*/ 287 h 287"/>
                  <a:gd name="T8" fmla="*/ 54 w 54"/>
                  <a:gd name="T9" fmla="*/ 287 h 287"/>
                  <a:gd name="T10" fmla="*/ 54 w 54"/>
                  <a:gd name="T11" fmla="*/ 287 h 28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54"/>
                  <a:gd name="T19" fmla="*/ 0 h 287"/>
                  <a:gd name="T20" fmla="*/ 54 w 54"/>
                  <a:gd name="T21" fmla="*/ 287 h 28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54" h="287">
                    <a:moveTo>
                      <a:pt x="54" y="285"/>
                    </a:moveTo>
                    <a:lnTo>
                      <a:pt x="54" y="0"/>
                    </a:lnTo>
                    <a:lnTo>
                      <a:pt x="0" y="0"/>
                    </a:lnTo>
                    <a:lnTo>
                      <a:pt x="0" y="287"/>
                    </a:lnTo>
                    <a:lnTo>
                      <a:pt x="54" y="287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76" name="Freeform 79"/>
              <p:cNvSpPr>
                <a:spLocks/>
              </p:cNvSpPr>
              <p:nvPr/>
            </p:nvSpPr>
            <p:spPr bwMode="auto">
              <a:xfrm>
                <a:off x="5705464" y="3269310"/>
                <a:ext cx="92523" cy="532471"/>
              </a:xfrm>
              <a:custGeom>
                <a:avLst/>
                <a:gdLst>
                  <a:gd name="T0" fmla="*/ 54 w 54"/>
                  <a:gd name="T1" fmla="*/ 285 h 287"/>
                  <a:gd name="T2" fmla="*/ 54 w 54"/>
                  <a:gd name="T3" fmla="*/ 0 h 287"/>
                  <a:gd name="T4" fmla="*/ 0 w 54"/>
                  <a:gd name="T5" fmla="*/ 0 h 287"/>
                  <a:gd name="T6" fmla="*/ 0 w 54"/>
                  <a:gd name="T7" fmla="*/ 287 h 287"/>
                  <a:gd name="T8" fmla="*/ 54 w 54"/>
                  <a:gd name="T9" fmla="*/ 287 h 287"/>
                  <a:gd name="T10" fmla="*/ 54 w 54"/>
                  <a:gd name="T11" fmla="*/ 287 h 287"/>
                  <a:gd name="T12" fmla="*/ 54 w 54"/>
                  <a:gd name="T13" fmla="*/ 285 h 28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54"/>
                  <a:gd name="T22" fmla="*/ 0 h 287"/>
                  <a:gd name="T23" fmla="*/ 54 w 54"/>
                  <a:gd name="T24" fmla="*/ 287 h 28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54" h="287">
                    <a:moveTo>
                      <a:pt x="54" y="285"/>
                    </a:moveTo>
                    <a:lnTo>
                      <a:pt x="54" y="0"/>
                    </a:lnTo>
                    <a:lnTo>
                      <a:pt x="0" y="0"/>
                    </a:lnTo>
                    <a:lnTo>
                      <a:pt x="0" y="287"/>
                    </a:lnTo>
                    <a:lnTo>
                      <a:pt x="54" y="287"/>
                    </a:lnTo>
                    <a:lnTo>
                      <a:pt x="54" y="285"/>
                    </a:lnTo>
                    <a:close/>
                  </a:path>
                </a:pathLst>
              </a:custGeom>
              <a:solidFill>
                <a:srgbClr val="CCCC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77" name="Freeform 80"/>
              <p:cNvSpPr>
                <a:spLocks/>
              </p:cNvSpPr>
              <p:nvPr/>
            </p:nvSpPr>
            <p:spPr bwMode="auto">
              <a:xfrm>
                <a:off x="4536939" y="3864862"/>
                <a:ext cx="92523" cy="534327"/>
              </a:xfrm>
              <a:custGeom>
                <a:avLst/>
                <a:gdLst>
                  <a:gd name="T0" fmla="*/ 54 w 54"/>
                  <a:gd name="T1" fmla="*/ 288 h 288"/>
                  <a:gd name="T2" fmla="*/ 54 w 54"/>
                  <a:gd name="T3" fmla="*/ 0 h 288"/>
                  <a:gd name="T4" fmla="*/ 0 w 54"/>
                  <a:gd name="T5" fmla="*/ 0 h 288"/>
                  <a:gd name="T6" fmla="*/ 0 w 54"/>
                  <a:gd name="T7" fmla="*/ 288 h 288"/>
                  <a:gd name="T8" fmla="*/ 54 w 54"/>
                  <a:gd name="T9" fmla="*/ 288 h 288"/>
                  <a:gd name="T10" fmla="*/ 54 w 54"/>
                  <a:gd name="T11" fmla="*/ 288 h 28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54"/>
                  <a:gd name="T19" fmla="*/ 0 h 288"/>
                  <a:gd name="T20" fmla="*/ 54 w 54"/>
                  <a:gd name="T21" fmla="*/ 288 h 28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54" h="288">
                    <a:moveTo>
                      <a:pt x="54" y="288"/>
                    </a:moveTo>
                    <a:lnTo>
                      <a:pt x="54" y="0"/>
                    </a:lnTo>
                    <a:lnTo>
                      <a:pt x="0" y="0"/>
                    </a:lnTo>
                    <a:lnTo>
                      <a:pt x="0" y="288"/>
                    </a:lnTo>
                    <a:lnTo>
                      <a:pt x="54" y="288"/>
                    </a:lnTo>
                    <a:close/>
                  </a:path>
                </a:pathLst>
              </a:custGeom>
              <a:solidFill>
                <a:srgbClr val="CCCC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78" name="Freeform 81"/>
              <p:cNvSpPr>
                <a:spLocks/>
              </p:cNvSpPr>
              <p:nvPr/>
            </p:nvSpPr>
            <p:spPr bwMode="auto">
              <a:xfrm>
                <a:off x="4536939" y="3864862"/>
                <a:ext cx="92523" cy="534327"/>
              </a:xfrm>
              <a:custGeom>
                <a:avLst/>
                <a:gdLst>
                  <a:gd name="T0" fmla="*/ 54 w 54"/>
                  <a:gd name="T1" fmla="*/ 288 h 288"/>
                  <a:gd name="T2" fmla="*/ 54 w 54"/>
                  <a:gd name="T3" fmla="*/ 0 h 288"/>
                  <a:gd name="T4" fmla="*/ 0 w 54"/>
                  <a:gd name="T5" fmla="*/ 0 h 288"/>
                  <a:gd name="T6" fmla="*/ 0 w 54"/>
                  <a:gd name="T7" fmla="*/ 288 h 288"/>
                  <a:gd name="T8" fmla="*/ 54 w 54"/>
                  <a:gd name="T9" fmla="*/ 288 h 288"/>
                  <a:gd name="T10" fmla="*/ 54 w 54"/>
                  <a:gd name="T11" fmla="*/ 288 h 28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54"/>
                  <a:gd name="T19" fmla="*/ 0 h 288"/>
                  <a:gd name="T20" fmla="*/ 54 w 54"/>
                  <a:gd name="T21" fmla="*/ 288 h 28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54" h="288">
                    <a:moveTo>
                      <a:pt x="54" y="288"/>
                    </a:moveTo>
                    <a:lnTo>
                      <a:pt x="54" y="0"/>
                    </a:lnTo>
                    <a:lnTo>
                      <a:pt x="0" y="0"/>
                    </a:lnTo>
                    <a:lnTo>
                      <a:pt x="0" y="288"/>
                    </a:lnTo>
                    <a:lnTo>
                      <a:pt x="54" y="288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79" name="Freeform 82"/>
              <p:cNvSpPr>
                <a:spLocks/>
              </p:cNvSpPr>
              <p:nvPr/>
            </p:nvSpPr>
            <p:spPr bwMode="auto">
              <a:xfrm>
                <a:off x="5121201" y="3864862"/>
                <a:ext cx="92523" cy="534327"/>
              </a:xfrm>
              <a:custGeom>
                <a:avLst/>
                <a:gdLst>
                  <a:gd name="T0" fmla="*/ 54 w 54"/>
                  <a:gd name="T1" fmla="*/ 288 h 288"/>
                  <a:gd name="T2" fmla="*/ 54 w 54"/>
                  <a:gd name="T3" fmla="*/ 0 h 288"/>
                  <a:gd name="T4" fmla="*/ 0 w 54"/>
                  <a:gd name="T5" fmla="*/ 0 h 288"/>
                  <a:gd name="T6" fmla="*/ 0 w 54"/>
                  <a:gd name="T7" fmla="*/ 288 h 288"/>
                  <a:gd name="T8" fmla="*/ 54 w 54"/>
                  <a:gd name="T9" fmla="*/ 288 h 288"/>
                  <a:gd name="T10" fmla="*/ 54 w 54"/>
                  <a:gd name="T11" fmla="*/ 288 h 28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54"/>
                  <a:gd name="T19" fmla="*/ 0 h 288"/>
                  <a:gd name="T20" fmla="*/ 54 w 54"/>
                  <a:gd name="T21" fmla="*/ 288 h 28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54" h="288">
                    <a:moveTo>
                      <a:pt x="54" y="288"/>
                    </a:moveTo>
                    <a:lnTo>
                      <a:pt x="54" y="0"/>
                    </a:lnTo>
                    <a:lnTo>
                      <a:pt x="0" y="0"/>
                    </a:lnTo>
                    <a:lnTo>
                      <a:pt x="0" y="288"/>
                    </a:lnTo>
                    <a:lnTo>
                      <a:pt x="54" y="288"/>
                    </a:lnTo>
                    <a:close/>
                  </a:path>
                </a:pathLst>
              </a:custGeom>
              <a:solidFill>
                <a:srgbClr val="CCCC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80" name="Freeform 83"/>
              <p:cNvSpPr>
                <a:spLocks/>
              </p:cNvSpPr>
              <p:nvPr/>
            </p:nvSpPr>
            <p:spPr bwMode="auto">
              <a:xfrm>
                <a:off x="5705464" y="3864862"/>
                <a:ext cx="92523" cy="534327"/>
              </a:xfrm>
              <a:custGeom>
                <a:avLst/>
                <a:gdLst>
                  <a:gd name="T0" fmla="*/ 54 w 54"/>
                  <a:gd name="T1" fmla="*/ 288 h 288"/>
                  <a:gd name="T2" fmla="*/ 54 w 54"/>
                  <a:gd name="T3" fmla="*/ 0 h 288"/>
                  <a:gd name="T4" fmla="*/ 0 w 54"/>
                  <a:gd name="T5" fmla="*/ 0 h 288"/>
                  <a:gd name="T6" fmla="*/ 0 w 54"/>
                  <a:gd name="T7" fmla="*/ 288 h 288"/>
                  <a:gd name="T8" fmla="*/ 54 w 54"/>
                  <a:gd name="T9" fmla="*/ 288 h 288"/>
                  <a:gd name="T10" fmla="*/ 54 w 54"/>
                  <a:gd name="T11" fmla="*/ 288 h 28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54"/>
                  <a:gd name="T19" fmla="*/ 0 h 288"/>
                  <a:gd name="T20" fmla="*/ 54 w 54"/>
                  <a:gd name="T21" fmla="*/ 288 h 28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54" h="288">
                    <a:moveTo>
                      <a:pt x="54" y="288"/>
                    </a:moveTo>
                    <a:lnTo>
                      <a:pt x="54" y="0"/>
                    </a:lnTo>
                    <a:lnTo>
                      <a:pt x="0" y="0"/>
                    </a:lnTo>
                    <a:lnTo>
                      <a:pt x="0" y="288"/>
                    </a:lnTo>
                    <a:lnTo>
                      <a:pt x="54" y="288"/>
                    </a:lnTo>
                    <a:close/>
                  </a:path>
                </a:pathLst>
              </a:custGeom>
              <a:solidFill>
                <a:srgbClr val="CCCC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81" name="Freeform 84"/>
              <p:cNvSpPr>
                <a:spLocks/>
              </p:cNvSpPr>
              <p:nvPr/>
            </p:nvSpPr>
            <p:spPr bwMode="auto">
              <a:xfrm>
                <a:off x="6291440" y="3864862"/>
                <a:ext cx="94236" cy="534327"/>
              </a:xfrm>
              <a:custGeom>
                <a:avLst/>
                <a:gdLst>
                  <a:gd name="T0" fmla="*/ 53 w 55"/>
                  <a:gd name="T1" fmla="*/ 288 h 288"/>
                  <a:gd name="T2" fmla="*/ 55 w 55"/>
                  <a:gd name="T3" fmla="*/ 0 h 288"/>
                  <a:gd name="T4" fmla="*/ 0 w 55"/>
                  <a:gd name="T5" fmla="*/ 0 h 288"/>
                  <a:gd name="T6" fmla="*/ 0 w 55"/>
                  <a:gd name="T7" fmla="*/ 288 h 288"/>
                  <a:gd name="T8" fmla="*/ 55 w 55"/>
                  <a:gd name="T9" fmla="*/ 288 h 288"/>
                  <a:gd name="T10" fmla="*/ 55 w 55"/>
                  <a:gd name="T11" fmla="*/ 288 h 288"/>
                  <a:gd name="T12" fmla="*/ 53 w 55"/>
                  <a:gd name="T13" fmla="*/ 288 h 28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55"/>
                  <a:gd name="T22" fmla="*/ 0 h 288"/>
                  <a:gd name="T23" fmla="*/ 55 w 55"/>
                  <a:gd name="T24" fmla="*/ 288 h 28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55" h="288">
                    <a:moveTo>
                      <a:pt x="53" y="288"/>
                    </a:moveTo>
                    <a:lnTo>
                      <a:pt x="55" y="0"/>
                    </a:lnTo>
                    <a:lnTo>
                      <a:pt x="0" y="0"/>
                    </a:lnTo>
                    <a:lnTo>
                      <a:pt x="0" y="288"/>
                    </a:lnTo>
                    <a:lnTo>
                      <a:pt x="55" y="288"/>
                    </a:lnTo>
                    <a:lnTo>
                      <a:pt x="53" y="288"/>
                    </a:lnTo>
                    <a:close/>
                  </a:path>
                </a:pathLst>
              </a:custGeom>
              <a:solidFill>
                <a:srgbClr val="CCCC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82" name="Freeform 85"/>
              <p:cNvSpPr>
                <a:spLocks/>
              </p:cNvSpPr>
              <p:nvPr/>
            </p:nvSpPr>
            <p:spPr bwMode="auto">
              <a:xfrm>
                <a:off x="6291440" y="3864862"/>
                <a:ext cx="94236" cy="534327"/>
              </a:xfrm>
              <a:custGeom>
                <a:avLst/>
                <a:gdLst>
                  <a:gd name="T0" fmla="*/ 53 w 55"/>
                  <a:gd name="T1" fmla="*/ 288 h 288"/>
                  <a:gd name="T2" fmla="*/ 55 w 55"/>
                  <a:gd name="T3" fmla="*/ 0 h 288"/>
                  <a:gd name="T4" fmla="*/ 0 w 55"/>
                  <a:gd name="T5" fmla="*/ 0 h 288"/>
                  <a:gd name="T6" fmla="*/ 0 w 55"/>
                  <a:gd name="T7" fmla="*/ 288 h 288"/>
                  <a:gd name="T8" fmla="*/ 55 w 55"/>
                  <a:gd name="T9" fmla="*/ 288 h 288"/>
                  <a:gd name="T10" fmla="*/ 55 w 55"/>
                  <a:gd name="T11" fmla="*/ 288 h 28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55"/>
                  <a:gd name="T19" fmla="*/ 0 h 288"/>
                  <a:gd name="T20" fmla="*/ 55 w 55"/>
                  <a:gd name="T21" fmla="*/ 288 h 28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55" h="288">
                    <a:moveTo>
                      <a:pt x="53" y="288"/>
                    </a:moveTo>
                    <a:lnTo>
                      <a:pt x="55" y="0"/>
                    </a:lnTo>
                    <a:lnTo>
                      <a:pt x="0" y="0"/>
                    </a:lnTo>
                    <a:lnTo>
                      <a:pt x="0" y="288"/>
                    </a:lnTo>
                    <a:lnTo>
                      <a:pt x="55" y="288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83" name="Freeform 86"/>
              <p:cNvSpPr>
                <a:spLocks/>
              </p:cNvSpPr>
              <p:nvPr/>
            </p:nvSpPr>
            <p:spPr bwMode="auto">
              <a:xfrm>
                <a:off x="7091588" y="4601416"/>
                <a:ext cx="125077" cy="265308"/>
              </a:xfrm>
              <a:custGeom>
                <a:avLst/>
                <a:gdLst>
                  <a:gd name="T0" fmla="*/ 71 w 73"/>
                  <a:gd name="T1" fmla="*/ 141 h 143"/>
                  <a:gd name="T2" fmla="*/ 0 w 73"/>
                  <a:gd name="T3" fmla="*/ 143 h 143"/>
                  <a:gd name="T4" fmla="*/ 0 w 73"/>
                  <a:gd name="T5" fmla="*/ 0 h 143"/>
                  <a:gd name="T6" fmla="*/ 73 w 73"/>
                  <a:gd name="T7" fmla="*/ 0 h 143"/>
                  <a:gd name="T8" fmla="*/ 71 w 73"/>
                  <a:gd name="T9" fmla="*/ 141 h 14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3"/>
                  <a:gd name="T16" fmla="*/ 0 h 143"/>
                  <a:gd name="T17" fmla="*/ 73 w 73"/>
                  <a:gd name="T18" fmla="*/ 143 h 14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3" h="143">
                    <a:moveTo>
                      <a:pt x="71" y="141"/>
                    </a:moveTo>
                    <a:lnTo>
                      <a:pt x="0" y="143"/>
                    </a:lnTo>
                    <a:lnTo>
                      <a:pt x="0" y="0"/>
                    </a:lnTo>
                    <a:lnTo>
                      <a:pt x="73" y="0"/>
                    </a:lnTo>
                    <a:lnTo>
                      <a:pt x="71" y="141"/>
                    </a:lnTo>
                    <a:close/>
                  </a:path>
                </a:pathLst>
              </a:custGeom>
              <a:solidFill>
                <a:srgbClr val="CCCC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84" name="Freeform 87"/>
              <p:cNvSpPr>
                <a:spLocks/>
              </p:cNvSpPr>
              <p:nvPr/>
            </p:nvSpPr>
            <p:spPr bwMode="auto">
              <a:xfrm>
                <a:off x="7091588" y="4601416"/>
                <a:ext cx="125077" cy="265308"/>
              </a:xfrm>
              <a:custGeom>
                <a:avLst/>
                <a:gdLst>
                  <a:gd name="T0" fmla="*/ 71 w 73"/>
                  <a:gd name="T1" fmla="*/ 141 h 143"/>
                  <a:gd name="T2" fmla="*/ 0 w 73"/>
                  <a:gd name="T3" fmla="*/ 143 h 143"/>
                  <a:gd name="T4" fmla="*/ 0 w 73"/>
                  <a:gd name="T5" fmla="*/ 0 h 143"/>
                  <a:gd name="T6" fmla="*/ 73 w 73"/>
                  <a:gd name="T7" fmla="*/ 0 h 14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3"/>
                  <a:gd name="T13" fmla="*/ 0 h 143"/>
                  <a:gd name="T14" fmla="*/ 73 w 73"/>
                  <a:gd name="T15" fmla="*/ 143 h 14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3" h="143">
                    <a:moveTo>
                      <a:pt x="71" y="141"/>
                    </a:moveTo>
                    <a:lnTo>
                      <a:pt x="0" y="143"/>
                    </a:lnTo>
                    <a:lnTo>
                      <a:pt x="0" y="0"/>
                    </a:lnTo>
                    <a:lnTo>
                      <a:pt x="73" y="0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85" name="Line 88"/>
              <p:cNvSpPr>
                <a:spLocks noChangeShapeType="1"/>
              </p:cNvSpPr>
              <p:nvPr/>
            </p:nvSpPr>
            <p:spPr bwMode="auto">
              <a:xfrm flipV="1">
                <a:off x="7338315" y="4593995"/>
                <a:ext cx="1713" cy="27644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86" name="Line 89"/>
              <p:cNvSpPr>
                <a:spLocks noChangeShapeType="1"/>
              </p:cNvSpPr>
              <p:nvPr/>
            </p:nvSpPr>
            <p:spPr bwMode="auto">
              <a:xfrm flipH="1">
                <a:off x="7209811" y="4597705"/>
                <a:ext cx="128503" cy="371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87" name="Line 90"/>
              <p:cNvSpPr>
                <a:spLocks noChangeShapeType="1"/>
              </p:cNvSpPr>
              <p:nvPr/>
            </p:nvSpPr>
            <p:spPr bwMode="auto">
              <a:xfrm flipH="1">
                <a:off x="7209811" y="4863013"/>
                <a:ext cx="128503" cy="371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88" name="Freeform 91"/>
              <p:cNvSpPr>
                <a:spLocks/>
              </p:cNvSpPr>
              <p:nvPr/>
            </p:nvSpPr>
            <p:spPr bwMode="auto">
              <a:xfrm>
                <a:off x="4874475" y="4601416"/>
                <a:ext cx="125077" cy="265308"/>
              </a:xfrm>
              <a:custGeom>
                <a:avLst/>
                <a:gdLst>
                  <a:gd name="T0" fmla="*/ 0 w 73"/>
                  <a:gd name="T1" fmla="*/ 141 h 143"/>
                  <a:gd name="T2" fmla="*/ 73 w 73"/>
                  <a:gd name="T3" fmla="*/ 143 h 143"/>
                  <a:gd name="T4" fmla="*/ 73 w 73"/>
                  <a:gd name="T5" fmla="*/ 0 h 143"/>
                  <a:gd name="T6" fmla="*/ 0 w 73"/>
                  <a:gd name="T7" fmla="*/ 0 h 143"/>
                  <a:gd name="T8" fmla="*/ 0 w 73"/>
                  <a:gd name="T9" fmla="*/ 141 h 14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3"/>
                  <a:gd name="T16" fmla="*/ 0 h 143"/>
                  <a:gd name="T17" fmla="*/ 73 w 73"/>
                  <a:gd name="T18" fmla="*/ 143 h 14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3" h="143">
                    <a:moveTo>
                      <a:pt x="0" y="141"/>
                    </a:moveTo>
                    <a:lnTo>
                      <a:pt x="73" y="143"/>
                    </a:lnTo>
                    <a:lnTo>
                      <a:pt x="73" y="0"/>
                    </a:lnTo>
                    <a:lnTo>
                      <a:pt x="0" y="0"/>
                    </a:lnTo>
                    <a:lnTo>
                      <a:pt x="0" y="141"/>
                    </a:lnTo>
                    <a:close/>
                  </a:path>
                </a:pathLst>
              </a:custGeom>
              <a:solidFill>
                <a:srgbClr val="CCCC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89" name="Freeform 92"/>
              <p:cNvSpPr>
                <a:spLocks/>
              </p:cNvSpPr>
              <p:nvPr/>
            </p:nvSpPr>
            <p:spPr bwMode="auto">
              <a:xfrm>
                <a:off x="4874475" y="4601416"/>
                <a:ext cx="125077" cy="265308"/>
              </a:xfrm>
              <a:custGeom>
                <a:avLst/>
                <a:gdLst>
                  <a:gd name="T0" fmla="*/ 0 w 73"/>
                  <a:gd name="T1" fmla="*/ 141 h 143"/>
                  <a:gd name="T2" fmla="*/ 73 w 73"/>
                  <a:gd name="T3" fmla="*/ 143 h 143"/>
                  <a:gd name="T4" fmla="*/ 73 w 73"/>
                  <a:gd name="T5" fmla="*/ 0 h 143"/>
                  <a:gd name="T6" fmla="*/ 0 w 73"/>
                  <a:gd name="T7" fmla="*/ 0 h 14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3"/>
                  <a:gd name="T13" fmla="*/ 0 h 143"/>
                  <a:gd name="T14" fmla="*/ 73 w 73"/>
                  <a:gd name="T15" fmla="*/ 143 h 14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3" h="143">
                    <a:moveTo>
                      <a:pt x="0" y="141"/>
                    </a:moveTo>
                    <a:lnTo>
                      <a:pt x="73" y="143"/>
                    </a:lnTo>
                    <a:lnTo>
                      <a:pt x="73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90" name="Freeform 93"/>
              <p:cNvSpPr>
                <a:spLocks/>
              </p:cNvSpPr>
              <p:nvPr/>
            </p:nvSpPr>
            <p:spPr bwMode="auto">
              <a:xfrm>
                <a:off x="4752825" y="4597705"/>
                <a:ext cx="121650" cy="269019"/>
              </a:xfrm>
              <a:custGeom>
                <a:avLst/>
                <a:gdLst>
                  <a:gd name="T0" fmla="*/ 71 w 71"/>
                  <a:gd name="T1" fmla="*/ 0 h 145"/>
                  <a:gd name="T2" fmla="*/ 0 w 71"/>
                  <a:gd name="T3" fmla="*/ 2 h 145"/>
                  <a:gd name="T4" fmla="*/ 0 w 71"/>
                  <a:gd name="T5" fmla="*/ 145 h 145"/>
                  <a:gd name="T6" fmla="*/ 71 w 71"/>
                  <a:gd name="T7" fmla="*/ 145 h 14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1"/>
                  <a:gd name="T13" fmla="*/ 0 h 145"/>
                  <a:gd name="T14" fmla="*/ 71 w 71"/>
                  <a:gd name="T15" fmla="*/ 145 h 14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1" h="145">
                    <a:moveTo>
                      <a:pt x="71" y="0"/>
                    </a:moveTo>
                    <a:lnTo>
                      <a:pt x="0" y="2"/>
                    </a:lnTo>
                    <a:lnTo>
                      <a:pt x="0" y="145"/>
                    </a:lnTo>
                    <a:lnTo>
                      <a:pt x="71" y="145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91" name="Rectangle 94"/>
              <p:cNvSpPr>
                <a:spLocks noChangeArrowheads="1"/>
              </p:cNvSpPr>
              <p:nvPr/>
            </p:nvSpPr>
            <p:spPr bwMode="auto">
              <a:xfrm>
                <a:off x="4816220" y="4651509"/>
                <a:ext cx="25648" cy="1231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I</a:t>
                </a:r>
                <a:endParaRPr lang="en-US" sz="1200" b="1">
                  <a:latin typeface="+mj-lt"/>
                </a:endParaRPr>
              </a:p>
            </p:txBody>
          </p:sp>
          <p:sp>
            <p:nvSpPr>
              <p:cNvPr id="92" name="Rectangle 95"/>
              <p:cNvSpPr>
                <a:spLocks noChangeArrowheads="1"/>
              </p:cNvSpPr>
              <p:nvPr/>
            </p:nvSpPr>
            <p:spPr bwMode="auto">
              <a:xfrm>
                <a:off x="4845347" y="4651509"/>
                <a:ext cx="88166" cy="1231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M</a:t>
                </a:r>
                <a:endParaRPr lang="en-US" sz="1200" b="1">
                  <a:latin typeface="+mj-lt"/>
                </a:endParaRPr>
              </a:p>
            </p:txBody>
          </p:sp>
          <p:sp>
            <p:nvSpPr>
              <p:cNvPr id="93" name="Freeform 96"/>
              <p:cNvSpPr>
                <a:spLocks/>
              </p:cNvSpPr>
              <p:nvPr/>
            </p:nvSpPr>
            <p:spPr bwMode="auto">
              <a:xfrm>
                <a:off x="5460451" y="4601416"/>
                <a:ext cx="123363" cy="265308"/>
              </a:xfrm>
              <a:custGeom>
                <a:avLst/>
                <a:gdLst>
                  <a:gd name="T0" fmla="*/ 0 w 72"/>
                  <a:gd name="T1" fmla="*/ 141 h 143"/>
                  <a:gd name="T2" fmla="*/ 72 w 72"/>
                  <a:gd name="T3" fmla="*/ 143 h 143"/>
                  <a:gd name="T4" fmla="*/ 72 w 72"/>
                  <a:gd name="T5" fmla="*/ 0 h 143"/>
                  <a:gd name="T6" fmla="*/ 0 w 72"/>
                  <a:gd name="T7" fmla="*/ 0 h 143"/>
                  <a:gd name="T8" fmla="*/ 0 w 72"/>
                  <a:gd name="T9" fmla="*/ 141 h 14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"/>
                  <a:gd name="T16" fmla="*/ 0 h 143"/>
                  <a:gd name="T17" fmla="*/ 72 w 72"/>
                  <a:gd name="T18" fmla="*/ 143 h 14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" h="143">
                    <a:moveTo>
                      <a:pt x="0" y="141"/>
                    </a:moveTo>
                    <a:lnTo>
                      <a:pt x="72" y="143"/>
                    </a:lnTo>
                    <a:lnTo>
                      <a:pt x="72" y="0"/>
                    </a:lnTo>
                    <a:lnTo>
                      <a:pt x="0" y="0"/>
                    </a:lnTo>
                    <a:lnTo>
                      <a:pt x="0" y="141"/>
                    </a:lnTo>
                    <a:close/>
                  </a:path>
                </a:pathLst>
              </a:custGeom>
              <a:solidFill>
                <a:srgbClr val="FBE2C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94" name="Freeform 97"/>
              <p:cNvSpPr>
                <a:spLocks/>
              </p:cNvSpPr>
              <p:nvPr/>
            </p:nvSpPr>
            <p:spPr bwMode="auto">
              <a:xfrm>
                <a:off x="5460451" y="4601416"/>
                <a:ext cx="123363" cy="265308"/>
              </a:xfrm>
              <a:custGeom>
                <a:avLst/>
                <a:gdLst>
                  <a:gd name="T0" fmla="*/ 0 w 72"/>
                  <a:gd name="T1" fmla="*/ 141 h 143"/>
                  <a:gd name="T2" fmla="*/ 72 w 72"/>
                  <a:gd name="T3" fmla="*/ 143 h 143"/>
                  <a:gd name="T4" fmla="*/ 72 w 72"/>
                  <a:gd name="T5" fmla="*/ 0 h 143"/>
                  <a:gd name="T6" fmla="*/ 0 w 72"/>
                  <a:gd name="T7" fmla="*/ 0 h 14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2"/>
                  <a:gd name="T13" fmla="*/ 0 h 143"/>
                  <a:gd name="T14" fmla="*/ 72 w 72"/>
                  <a:gd name="T15" fmla="*/ 143 h 14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2" h="143">
                    <a:moveTo>
                      <a:pt x="0" y="141"/>
                    </a:moveTo>
                    <a:lnTo>
                      <a:pt x="72" y="143"/>
                    </a:lnTo>
                    <a:lnTo>
                      <a:pt x="72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>
                <a:solidFill>
                  <a:srgbClr val="EB75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95" name="Line 98"/>
              <p:cNvSpPr>
                <a:spLocks noChangeShapeType="1"/>
              </p:cNvSpPr>
              <p:nvPr/>
            </p:nvSpPr>
            <p:spPr bwMode="auto">
              <a:xfrm flipV="1">
                <a:off x="5335374" y="4593995"/>
                <a:ext cx="3427" cy="27644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96" name="Line 99"/>
              <p:cNvSpPr>
                <a:spLocks noChangeShapeType="1"/>
              </p:cNvSpPr>
              <p:nvPr/>
            </p:nvSpPr>
            <p:spPr bwMode="auto">
              <a:xfrm>
                <a:off x="5335374" y="4597705"/>
                <a:ext cx="125077" cy="371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97" name="Line 100"/>
              <p:cNvSpPr>
                <a:spLocks noChangeShapeType="1"/>
              </p:cNvSpPr>
              <p:nvPr/>
            </p:nvSpPr>
            <p:spPr bwMode="auto">
              <a:xfrm>
                <a:off x="5335374" y="4863013"/>
                <a:ext cx="125077" cy="371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98" name="Rectangle 101"/>
              <p:cNvSpPr>
                <a:spLocks noChangeArrowheads="1"/>
              </p:cNvSpPr>
              <p:nvPr/>
            </p:nvSpPr>
            <p:spPr bwMode="auto">
              <a:xfrm>
                <a:off x="5371355" y="4686760"/>
                <a:ext cx="56106" cy="1231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>
                    <a:solidFill>
                      <a:srgbClr val="EB7500"/>
                    </a:solidFill>
                    <a:latin typeface="+mj-lt"/>
                  </a:rPr>
                  <a:t>R</a:t>
                </a:r>
                <a:endParaRPr lang="en-US" sz="1200" b="1">
                  <a:latin typeface="+mj-lt"/>
                </a:endParaRPr>
              </a:p>
            </p:txBody>
          </p:sp>
          <p:sp>
            <p:nvSpPr>
              <p:cNvPr id="99" name="Rectangle 102"/>
              <p:cNvSpPr>
                <a:spLocks noChangeArrowheads="1"/>
              </p:cNvSpPr>
              <p:nvPr/>
            </p:nvSpPr>
            <p:spPr bwMode="auto">
              <a:xfrm>
                <a:off x="5450170" y="4686760"/>
                <a:ext cx="51296" cy="1231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>
                    <a:solidFill>
                      <a:srgbClr val="EB7500"/>
                    </a:solidFill>
                    <a:latin typeface="+mj-lt"/>
                  </a:rPr>
                  <a:t>e</a:t>
                </a:r>
                <a:endParaRPr lang="en-US" sz="1200" b="1">
                  <a:latin typeface="+mj-lt"/>
                </a:endParaRPr>
              </a:p>
            </p:txBody>
          </p:sp>
          <p:sp>
            <p:nvSpPr>
              <p:cNvPr id="100" name="Rectangle 103"/>
              <p:cNvSpPr>
                <a:spLocks noChangeArrowheads="1"/>
              </p:cNvSpPr>
              <p:nvPr/>
            </p:nvSpPr>
            <p:spPr bwMode="auto">
              <a:xfrm>
                <a:off x="5508425" y="4686760"/>
                <a:ext cx="48090" cy="1231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>
                    <a:solidFill>
                      <a:srgbClr val="EB7500"/>
                    </a:solidFill>
                    <a:latin typeface="+mj-lt"/>
                  </a:rPr>
                  <a:t>g</a:t>
                </a:r>
                <a:endParaRPr lang="en-US" sz="1200" b="1">
                  <a:latin typeface="+mj-lt"/>
                </a:endParaRPr>
              </a:p>
            </p:txBody>
          </p:sp>
          <p:sp>
            <p:nvSpPr>
              <p:cNvPr id="101" name="Freeform 104"/>
              <p:cNvSpPr>
                <a:spLocks/>
              </p:cNvSpPr>
              <p:nvPr/>
            </p:nvSpPr>
            <p:spPr bwMode="auto">
              <a:xfrm>
                <a:off x="5952190" y="4465979"/>
                <a:ext cx="186758" cy="528761"/>
              </a:xfrm>
              <a:custGeom>
                <a:avLst/>
                <a:gdLst>
                  <a:gd name="T0" fmla="*/ 0 w 109"/>
                  <a:gd name="T1" fmla="*/ 0 h 285"/>
                  <a:gd name="T2" fmla="*/ 0 w 109"/>
                  <a:gd name="T3" fmla="*/ 117 h 285"/>
                  <a:gd name="T4" fmla="*/ 35 w 109"/>
                  <a:gd name="T5" fmla="*/ 144 h 285"/>
                  <a:gd name="T6" fmla="*/ 0 w 109"/>
                  <a:gd name="T7" fmla="*/ 170 h 285"/>
                  <a:gd name="T8" fmla="*/ 0 w 109"/>
                  <a:gd name="T9" fmla="*/ 285 h 285"/>
                  <a:gd name="T10" fmla="*/ 109 w 109"/>
                  <a:gd name="T11" fmla="*/ 199 h 285"/>
                  <a:gd name="T12" fmla="*/ 109 w 109"/>
                  <a:gd name="T13" fmla="*/ 88 h 285"/>
                  <a:gd name="T14" fmla="*/ 0 w 109"/>
                  <a:gd name="T15" fmla="*/ 2 h 285"/>
                  <a:gd name="T16" fmla="*/ 0 w 109"/>
                  <a:gd name="T17" fmla="*/ 2 h 285"/>
                  <a:gd name="T18" fmla="*/ 0 w 109"/>
                  <a:gd name="T19" fmla="*/ 0 h 28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09"/>
                  <a:gd name="T31" fmla="*/ 0 h 285"/>
                  <a:gd name="T32" fmla="*/ 109 w 109"/>
                  <a:gd name="T33" fmla="*/ 285 h 285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09" h="285">
                    <a:moveTo>
                      <a:pt x="0" y="0"/>
                    </a:moveTo>
                    <a:lnTo>
                      <a:pt x="0" y="117"/>
                    </a:lnTo>
                    <a:lnTo>
                      <a:pt x="35" y="144"/>
                    </a:lnTo>
                    <a:lnTo>
                      <a:pt x="0" y="170"/>
                    </a:lnTo>
                    <a:lnTo>
                      <a:pt x="0" y="285"/>
                    </a:lnTo>
                    <a:lnTo>
                      <a:pt x="109" y="199"/>
                    </a:lnTo>
                    <a:lnTo>
                      <a:pt x="109" y="88"/>
                    </a:lnTo>
                    <a:lnTo>
                      <a:pt x="0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CCC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02" name="Freeform 105"/>
              <p:cNvSpPr>
                <a:spLocks/>
              </p:cNvSpPr>
              <p:nvPr/>
            </p:nvSpPr>
            <p:spPr bwMode="auto">
              <a:xfrm>
                <a:off x="6507326" y="4601416"/>
                <a:ext cx="246727" cy="265308"/>
              </a:xfrm>
              <a:custGeom>
                <a:avLst/>
                <a:gdLst>
                  <a:gd name="T0" fmla="*/ 144 w 144"/>
                  <a:gd name="T1" fmla="*/ 141 h 143"/>
                  <a:gd name="T2" fmla="*/ 144 w 144"/>
                  <a:gd name="T3" fmla="*/ 0 h 143"/>
                  <a:gd name="T4" fmla="*/ 0 w 144"/>
                  <a:gd name="T5" fmla="*/ 0 h 143"/>
                  <a:gd name="T6" fmla="*/ 0 w 144"/>
                  <a:gd name="T7" fmla="*/ 143 h 143"/>
                  <a:gd name="T8" fmla="*/ 144 w 144"/>
                  <a:gd name="T9" fmla="*/ 143 h 143"/>
                  <a:gd name="T10" fmla="*/ 144 w 144"/>
                  <a:gd name="T11" fmla="*/ 143 h 14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4"/>
                  <a:gd name="T19" fmla="*/ 0 h 143"/>
                  <a:gd name="T20" fmla="*/ 144 w 144"/>
                  <a:gd name="T21" fmla="*/ 143 h 14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4" h="143">
                    <a:moveTo>
                      <a:pt x="144" y="141"/>
                    </a:moveTo>
                    <a:lnTo>
                      <a:pt x="144" y="0"/>
                    </a:lnTo>
                    <a:lnTo>
                      <a:pt x="0" y="0"/>
                    </a:lnTo>
                    <a:lnTo>
                      <a:pt x="0" y="143"/>
                    </a:lnTo>
                    <a:lnTo>
                      <a:pt x="144" y="143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03" name="Rectangle 106"/>
              <p:cNvSpPr>
                <a:spLocks noChangeArrowheads="1"/>
              </p:cNvSpPr>
              <p:nvPr/>
            </p:nvSpPr>
            <p:spPr bwMode="auto">
              <a:xfrm>
                <a:off x="6546733" y="4651509"/>
                <a:ext cx="62518" cy="1231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D</a:t>
                </a:r>
                <a:endParaRPr lang="en-US" sz="1200" b="1">
                  <a:latin typeface="+mj-lt"/>
                </a:endParaRPr>
              </a:p>
            </p:txBody>
          </p:sp>
          <p:sp>
            <p:nvSpPr>
              <p:cNvPr id="104" name="Rectangle 107"/>
              <p:cNvSpPr>
                <a:spLocks noChangeArrowheads="1"/>
              </p:cNvSpPr>
              <p:nvPr/>
            </p:nvSpPr>
            <p:spPr bwMode="auto">
              <a:xfrm>
                <a:off x="6628975" y="4651509"/>
                <a:ext cx="88166" cy="1231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M</a:t>
                </a:r>
                <a:endParaRPr lang="en-US" sz="1200" b="1">
                  <a:latin typeface="+mj-lt"/>
                </a:endParaRPr>
              </a:p>
            </p:txBody>
          </p:sp>
          <p:sp>
            <p:nvSpPr>
              <p:cNvPr id="105" name="Rectangle 108"/>
              <p:cNvSpPr>
                <a:spLocks noChangeArrowheads="1"/>
              </p:cNvSpPr>
              <p:nvPr/>
            </p:nvSpPr>
            <p:spPr bwMode="auto">
              <a:xfrm>
                <a:off x="7124142" y="4651509"/>
                <a:ext cx="56106" cy="1231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R</a:t>
                </a:r>
                <a:endParaRPr lang="en-US" sz="1200" b="1">
                  <a:latin typeface="+mj-lt"/>
                </a:endParaRPr>
              </a:p>
            </p:txBody>
          </p:sp>
          <p:sp>
            <p:nvSpPr>
              <p:cNvPr id="106" name="Rectangle 109"/>
              <p:cNvSpPr>
                <a:spLocks noChangeArrowheads="1"/>
              </p:cNvSpPr>
              <p:nvPr/>
            </p:nvSpPr>
            <p:spPr bwMode="auto">
              <a:xfrm>
                <a:off x="7202958" y="4651509"/>
                <a:ext cx="51296" cy="1231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e</a:t>
                </a:r>
                <a:endParaRPr lang="en-US" sz="1200" b="1">
                  <a:latin typeface="+mj-lt"/>
                </a:endParaRPr>
              </a:p>
            </p:txBody>
          </p:sp>
          <p:sp>
            <p:nvSpPr>
              <p:cNvPr id="107" name="Rectangle 110"/>
              <p:cNvSpPr>
                <a:spLocks noChangeArrowheads="1"/>
              </p:cNvSpPr>
              <p:nvPr/>
            </p:nvSpPr>
            <p:spPr bwMode="auto">
              <a:xfrm>
                <a:off x="7262926" y="4651509"/>
                <a:ext cx="48090" cy="1231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g</a:t>
                </a:r>
                <a:endParaRPr lang="en-US" sz="1200" b="1">
                  <a:latin typeface="+mj-lt"/>
                </a:endParaRPr>
              </a:p>
            </p:txBody>
          </p:sp>
          <p:sp>
            <p:nvSpPr>
              <p:cNvPr id="108" name="Line 111"/>
              <p:cNvSpPr>
                <a:spLocks noChangeShapeType="1"/>
              </p:cNvSpPr>
              <p:nvPr/>
            </p:nvSpPr>
            <p:spPr bwMode="auto">
              <a:xfrm>
                <a:off x="4996125" y="4733142"/>
                <a:ext cx="342676" cy="185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09" name="Line 112"/>
              <p:cNvSpPr>
                <a:spLocks noChangeShapeType="1"/>
              </p:cNvSpPr>
              <p:nvPr/>
            </p:nvSpPr>
            <p:spPr bwMode="auto">
              <a:xfrm>
                <a:off x="6135522" y="4733142"/>
                <a:ext cx="371803" cy="185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10" name="Line 113"/>
              <p:cNvSpPr>
                <a:spLocks noChangeShapeType="1"/>
              </p:cNvSpPr>
              <p:nvPr/>
            </p:nvSpPr>
            <p:spPr bwMode="auto">
              <a:xfrm>
                <a:off x="6750625" y="4733142"/>
                <a:ext cx="340963" cy="185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11" name="Freeform 114"/>
              <p:cNvSpPr>
                <a:spLocks/>
              </p:cNvSpPr>
              <p:nvPr/>
            </p:nvSpPr>
            <p:spPr bwMode="auto">
              <a:xfrm>
                <a:off x="5275406" y="4664496"/>
                <a:ext cx="63395" cy="68646"/>
              </a:xfrm>
              <a:custGeom>
                <a:avLst/>
                <a:gdLst>
                  <a:gd name="T0" fmla="*/ 0 w 37"/>
                  <a:gd name="T1" fmla="*/ 37 h 37"/>
                  <a:gd name="T2" fmla="*/ 0 w 37"/>
                  <a:gd name="T3" fmla="*/ 0 h 37"/>
                  <a:gd name="T4" fmla="*/ 37 w 37"/>
                  <a:gd name="T5" fmla="*/ 0 h 37"/>
                  <a:gd name="T6" fmla="*/ 0 60000 65536"/>
                  <a:gd name="T7" fmla="*/ 0 60000 65536"/>
                  <a:gd name="T8" fmla="*/ 0 60000 65536"/>
                  <a:gd name="T9" fmla="*/ 0 w 37"/>
                  <a:gd name="T10" fmla="*/ 0 h 37"/>
                  <a:gd name="T11" fmla="*/ 37 w 37"/>
                  <a:gd name="T12" fmla="*/ 37 h 3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7" h="37">
                    <a:moveTo>
                      <a:pt x="0" y="37"/>
                    </a:moveTo>
                    <a:lnTo>
                      <a:pt x="0" y="0"/>
                    </a:lnTo>
                    <a:lnTo>
                      <a:pt x="37" y="0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12" name="Freeform 115"/>
              <p:cNvSpPr>
                <a:spLocks/>
              </p:cNvSpPr>
              <p:nvPr/>
            </p:nvSpPr>
            <p:spPr bwMode="auto">
              <a:xfrm>
                <a:off x="6445644" y="4733142"/>
                <a:ext cx="433485" cy="198517"/>
              </a:xfrm>
              <a:custGeom>
                <a:avLst/>
                <a:gdLst>
                  <a:gd name="T0" fmla="*/ 0 w 253"/>
                  <a:gd name="T1" fmla="*/ 0 h 107"/>
                  <a:gd name="T2" fmla="*/ 0 w 253"/>
                  <a:gd name="T3" fmla="*/ 107 h 107"/>
                  <a:gd name="T4" fmla="*/ 216 w 253"/>
                  <a:gd name="T5" fmla="*/ 107 h 107"/>
                  <a:gd name="T6" fmla="*/ 216 w 253"/>
                  <a:gd name="T7" fmla="*/ 36 h 107"/>
                  <a:gd name="T8" fmla="*/ 253 w 253"/>
                  <a:gd name="T9" fmla="*/ 36 h 10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3"/>
                  <a:gd name="T16" fmla="*/ 0 h 107"/>
                  <a:gd name="T17" fmla="*/ 253 w 253"/>
                  <a:gd name="T18" fmla="*/ 107 h 10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3" h="107">
                    <a:moveTo>
                      <a:pt x="0" y="0"/>
                    </a:moveTo>
                    <a:lnTo>
                      <a:pt x="0" y="107"/>
                    </a:lnTo>
                    <a:lnTo>
                      <a:pt x="216" y="107"/>
                    </a:lnTo>
                    <a:lnTo>
                      <a:pt x="216" y="36"/>
                    </a:lnTo>
                    <a:lnTo>
                      <a:pt x="253" y="36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13" name="Freeform 116"/>
              <p:cNvSpPr>
                <a:spLocks/>
              </p:cNvSpPr>
              <p:nvPr/>
            </p:nvSpPr>
            <p:spPr bwMode="auto">
              <a:xfrm>
                <a:off x="5121201" y="4465979"/>
                <a:ext cx="92523" cy="532471"/>
              </a:xfrm>
              <a:custGeom>
                <a:avLst/>
                <a:gdLst>
                  <a:gd name="T0" fmla="*/ 54 w 54"/>
                  <a:gd name="T1" fmla="*/ 287 h 287"/>
                  <a:gd name="T2" fmla="*/ 54 w 54"/>
                  <a:gd name="T3" fmla="*/ 0 h 287"/>
                  <a:gd name="T4" fmla="*/ 0 w 54"/>
                  <a:gd name="T5" fmla="*/ 0 h 287"/>
                  <a:gd name="T6" fmla="*/ 0 w 54"/>
                  <a:gd name="T7" fmla="*/ 287 h 287"/>
                  <a:gd name="T8" fmla="*/ 54 w 54"/>
                  <a:gd name="T9" fmla="*/ 287 h 287"/>
                  <a:gd name="T10" fmla="*/ 54 w 54"/>
                  <a:gd name="T11" fmla="*/ 287 h 28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54"/>
                  <a:gd name="T19" fmla="*/ 0 h 287"/>
                  <a:gd name="T20" fmla="*/ 54 w 54"/>
                  <a:gd name="T21" fmla="*/ 287 h 28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54" h="287">
                    <a:moveTo>
                      <a:pt x="54" y="287"/>
                    </a:moveTo>
                    <a:lnTo>
                      <a:pt x="54" y="0"/>
                    </a:lnTo>
                    <a:lnTo>
                      <a:pt x="0" y="0"/>
                    </a:lnTo>
                    <a:lnTo>
                      <a:pt x="0" y="287"/>
                    </a:lnTo>
                    <a:lnTo>
                      <a:pt x="54" y="287"/>
                    </a:lnTo>
                    <a:close/>
                  </a:path>
                </a:pathLst>
              </a:custGeom>
              <a:solidFill>
                <a:srgbClr val="CCCC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14" name="Freeform 117"/>
              <p:cNvSpPr>
                <a:spLocks/>
              </p:cNvSpPr>
              <p:nvPr/>
            </p:nvSpPr>
            <p:spPr bwMode="auto">
              <a:xfrm>
                <a:off x="5121201" y="4465979"/>
                <a:ext cx="92523" cy="532471"/>
              </a:xfrm>
              <a:custGeom>
                <a:avLst/>
                <a:gdLst>
                  <a:gd name="T0" fmla="*/ 54 w 54"/>
                  <a:gd name="T1" fmla="*/ 287 h 287"/>
                  <a:gd name="T2" fmla="*/ 54 w 54"/>
                  <a:gd name="T3" fmla="*/ 0 h 287"/>
                  <a:gd name="T4" fmla="*/ 0 w 54"/>
                  <a:gd name="T5" fmla="*/ 0 h 287"/>
                  <a:gd name="T6" fmla="*/ 0 w 54"/>
                  <a:gd name="T7" fmla="*/ 287 h 287"/>
                  <a:gd name="T8" fmla="*/ 54 w 54"/>
                  <a:gd name="T9" fmla="*/ 287 h 287"/>
                  <a:gd name="T10" fmla="*/ 54 w 54"/>
                  <a:gd name="T11" fmla="*/ 287 h 28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54"/>
                  <a:gd name="T19" fmla="*/ 0 h 287"/>
                  <a:gd name="T20" fmla="*/ 54 w 54"/>
                  <a:gd name="T21" fmla="*/ 287 h 28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54" h="287">
                    <a:moveTo>
                      <a:pt x="54" y="287"/>
                    </a:moveTo>
                    <a:lnTo>
                      <a:pt x="54" y="0"/>
                    </a:lnTo>
                    <a:lnTo>
                      <a:pt x="0" y="0"/>
                    </a:lnTo>
                    <a:lnTo>
                      <a:pt x="0" y="287"/>
                    </a:lnTo>
                    <a:lnTo>
                      <a:pt x="54" y="287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15" name="Freeform 118"/>
              <p:cNvSpPr>
                <a:spLocks/>
              </p:cNvSpPr>
              <p:nvPr/>
            </p:nvSpPr>
            <p:spPr bwMode="auto">
              <a:xfrm>
                <a:off x="5705464" y="4465979"/>
                <a:ext cx="92523" cy="532471"/>
              </a:xfrm>
              <a:custGeom>
                <a:avLst/>
                <a:gdLst>
                  <a:gd name="T0" fmla="*/ 54 w 54"/>
                  <a:gd name="T1" fmla="*/ 287 h 287"/>
                  <a:gd name="T2" fmla="*/ 54 w 54"/>
                  <a:gd name="T3" fmla="*/ 0 h 287"/>
                  <a:gd name="T4" fmla="*/ 0 w 54"/>
                  <a:gd name="T5" fmla="*/ 0 h 287"/>
                  <a:gd name="T6" fmla="*/ 0 w 54"/>
                  <a:gd name="T7" fmla="*/ 287 h 287"/>
                  <a:gd name="T8" fmla="*/ 54 w 54"/>
                  <a:gd name="T9" fmla="*/ 287 h 287"/>
                  <a:gd name="T10" fmla="*/ 54 w 54"/>
                  <a:gd name="T11" fmla="*/ 287 h 28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54"/>
                  <a:gd name="T19" fmla="*/ 0 h 287"/>
                  <a:gd name="T20" fmla="*/ 54 w 54"/>
                  <a:gd name="T21" fmla="*/ 287 h 28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54" h="287">
                    <a:moveTo>
                      <a:pt x="54" y="287"/>
                    </a:moveTo>
                    <a:lnTo>
                      <a:pt x="54" y="0"/>
                    </a:lnTo>
                    <a:lnTo>
                      <a:pt x="0" y="0"/>
                    </a:lnTo>
                    <a:lnTo>
                      <a:pt x="0" y="287"/>
                    </a:lnTo>
                    <a:lnTo>
                      <a:pt x="54" y="287"/>
                    </a:lnTo>
                    <a:close/>
                  </a:path>
                </a:pathLst>
              </a:custGeom>
              <a:solidFill>
                <a:srgbClr val="CCCC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16" name="Freeform 119"/>
              <p:cNvSpPr>
                <a:spLocks/>
              </p:cNvSpPr>
              <p:nvPr/>
            </p:nvSpPr>
            <p:spPr bwMode="auto">
              <a:xfrm>
                <a:off x="5705464" y="4465979"/>
                <a:ext cx="92523" cy="532471"/>
              </a:xfrm>
              <a:custGeom>
                <a:avLst/>
                <a:gdLst>
                  <a:gd name="T0" fmla="*/ 54 w 54"/>
                  <a:gd name="T1" fmla="*/ 287 h 287"/>
                  <a:gd name="T2" fmla="*/ 54 w 54"/>
                  <a:gd name="T3" fmla="*/ 0 h 287"/>
                  <a:gd name="T4" fmla="*/ 0 w 54"/>
                  <a:gd name="T5" fmla="*/ 0 h 287"/>
                  <a:gd name="T6" fmla="*/ 0 w 54"/>
                  <a:gd name="T7" fmla="*/ 287 h 287"/>
                  <a:gd name="T8" fmla="*/ 54 w 54"/>
                  <a:gd name="T9" fmla="*/ 287 h 287"/>
                  <a:gd name="T10" fmla="*/ 54 w 54"/>
                  <a:gd name="T11" fmla="*/ 287 h 28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54"/>
                  <a:gd name="T19" fmla="*/ 0 h 287"/>
                  <a:gd name="T20" fmla="*/ 54 w 54"/>
                  <a:gd name="T21" fmla="*/ 287 h 28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54" h="287">
                    <a:moveTo>
                      <a:pt x="54" y="287"/>
                    </a:moveTo>
                    <a:lnTo>
                      <a:pt x="54" y="0"/>
                    </a:lnTo>
                    <a:lnTo>
                      <a:pt x="0" y="0"/>
                    </a:lnTo>
                    <a:lnTo>
                      <a:pt x="0" y="287"/>
                    </a:lnTo>
                    <a:lnTo>
                      <a:pt x="54" y="287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17" name="Freeform 120"/>
              <p:cNvSpPr>
                <a:spLocks/>
              </p:cNvSpPr>
              <p:nvPr/>
            </p:nvSpPr>
            <p:spPr bwMode="auto">
              <a:xfrm>
                <a:off x="6291440" y="4465979"/>
                <a:ext cx="94236" cy="532471"/>
              </a:xfrm>
              <a:custGeom>
                <a:avLst/>
                <a:gdLst>
                  <a:gd name="T0" fmla="*/ 53 w 55"/>
                  <a:gd name="T1" fmla="*/ 287 h 287"/>
                  <a:gd name="T2" fmla="*/ 55 w 55"/>
                  <a:gd name="T3" fmla="*/ 0 h 287"/>
                  <a:gd name="T4" fmla="*/ 0 w 55"/>
                  <a:gd name="T5" fmla="*/ 0 h 287"/>
                  <a:gd name="T6" fmla="*/ 0 w 55"/>
                  <a:gd name="T7" fmla="*/ 287 h 287"/>
                  <a:gd name="T8" fmla="*/ 55 w 55"/>
                  <a:gd name="T9" fmla="*/ 287 h 287"/>
                  <a:gd name="T10" fmla="*/ 55 w 55"/>
                  <a:gd name="T11" fmla="*/ 287 h 287"/>
                  <a:gd name="T12" fmla="*/ 53 w 55"/>
                  <a:gd name="T13" fmla="*/ 287 h 28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55"/>
                  <a:gd name="T22" fmla="*/ 0 h 287"/>
                  <a:gd name="T23" fmla="*/ 55 w 55"/>
                  <a:gd name="T24" fmla="*/ 287 h 28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55" h="287">
                    <a:moveTo>
                      <a:pt x="53" y="287"/>
                    </a:moveTo>
                    <a:lnTo>
                      <a:pt x="55" y="0"/>
                    </a:lnTo>
                    <a:lnTo>
                      <a:pt x="0" y="0"/>
                    </a:lnTo>
                    <a:lnTo>
                      <a:pt x="0" y="287"/>
                    </a:lnTo>
                    <a:lnTo>
                      <a:pt x="55" y="287"/>
                    </a:lnTo>
                    <a:lnTo>
                      <a:pt x="53" y="287"/>
                    </a:lnTo>
                    <a:close/>
                  </a:path>
                </a:pathLst>
              </a:custGeom>
              <a:solidFill>
                <a:srgbClr val="CCCC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18" name="Freeform 121"/>
              <p:cNvSpPr>
                <a:spLocks/>
              </p:cNvSpPr>
              <p:nvPr/>
            </p:nvSpPr>
            <p:spPr bwMode="auto">
              <a:xfrm>
                <a:off x="6879129" y="4465979"/>
                <a:ext cx="90809" cy="532471"/>
              </a:xfrm>
              <a:custGeom>
                <a:avLst/>
                <a:gdLst>
                  <a:gd name="T0" fmla="*/ 51 w 53"/>
                  <a:gd name="T1" fmla="*/ 287 h 287"/>
                  <a:gd name="T2" fmla="*/ 53 w 53"/>
                  <a:gd name="T3" fmla="*/ 0 h 287"/>
                  <a:gd name="T4" fmla="*/ 0 w 53"/>
                  <a:gd name="T5" fmla="*/ 0 h 287"/>
                  <a:gd name="T6" fmla="*/ 0 w 53"/>
                  <a:gd name="T7" fmla="*/ 287 h 287"/>
                  <a:gd name="T8" fmla="*/ 53 w 53"/>
                  <a:gd name="T9" fmla="*/ 287 h 287"/>
                  <a:gd name="T10" fmla="*/ 53 w 53"/>
                  <a:gd name="T11" fmla="*/ 287 h 287"/>
                  <a:gd name="T12" fmla="*/ 51 w 53"/>
                  <a:gd name="T13" fmla="*/ 287 h 28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53"/>
                  <a:gd name="T22" fmla="*/ 0 h 287"/>
                  <a:gd name="T23" fmla="*/ 53 w 53"/>
                  <a:gd name="T24" fmla="*/ 287 h 28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53" h="287">
                    <a:moveTo>
                      <a:pt x="51" y="287"/>
                    </a:moveTo>
                    <a:lnTo>
                      <a:pt x="53" y="0"/>
                    </a:lnTo>
                    <a:lnTo>
                      <a:pt x="0" y="0"/>
                    </a:lnTo>
                    <a:lnTo>
                      <a:pt x="0" y="287"/>
                    </a:lnTo>
                    <a:lnTo>
                      <a:pt x="53" y="287"/>
                    </a:lnTo>
                    <a:lnTo>
                      <a:pt x="51" y="287"/>
                    </a:lnTo>
                    <a:close/>
                  </a:path>
                </a:pathLst>
              </a:custGeom>
              <a:solidFill>
                <a:srgbClr val="CCCC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19" name="Freeform 122"/>
              <p:cNvSpPr>
                <a:spLocks/>
              </p:cNvSpPr>
              <p:nvPr/>
            </p:nvSpPr>
            <p:spPr bwMode="auto">
              <a:xfrm>
                <a:off x="6879129" y="4465979"/>
                <a:ext cx="90809" cy="532471"/>
              </a:xfrm>
              <a:custGeom>
                <a:avLst/>
                <a:gdLst>
                  <a:gd name="T0" fmla="*/ 51 w 53"/>
                  <a:gd name="T1" fmla="*/ 287 h 287"/>
                  <a:gd name="T2" fmla="*/ 53 w 53"/>
                  <a:gd name="T3" fmla="*/ 0 h 287"/>
                  <a:gd name="T4" fmla="*/ 0 w 53"/>
                  <a:gd name="T5" fmla="*/ 0 h 287"/>
                  <a:gd name="T6" fmla="*/ 0 w 53"/>
                  <a:gd name="T7" fmla="*/ 287 h 287"/>
                  <a:gd name="T8" fmla="*/ 53 w 53"/>
                  <a:gd name="T9" fmla="*/ 287 h 287"/>
                  <a:gd name="T10" fmla="*/ 53 w 53"/>
                  <a:gd name="T11" fmla="*/ 287 h 28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53"/>
                  <a:gd name="T19" fmla="*/ 0 h 287"/>
                  <a:gd name="T20" fmla="*/ 53 w 53"/>
                  <a:gd name="T21" fmla="*/ 287 h 28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53" h="287">
                    <a:moveTo>
                      <a:pt x="51" y="287"/>
                    </a:moveTo>
                    <a:lnTo>
                      <a:pt x="53" y="0"/>
                    </a:lnTo>
                    <a:lnTo>
                      <a:pt x="0" y="0"/>
                    </a:lnTo>
                    <a:lnTo>
                      <a:pt x="0" y="287"/>
                    </a:lnTo>
                    <a:lnTo>
                      <a:pt x="53" y="287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20" name="Freeform 123"/>
              <p:cNvSpPr>
                <a:spLocks/>
              </p:cNvSpPr>
              <p:nvPr/>
            </p:nvSpPr>
            <p:spPr bwMode="auto">
              <a:xfrm>
                <a:off x="7675850" y="5196968"/>
                <a:ext cx="125077" cy="267163"/>
              </a:xfrm>
              <a:custGeom>
                <a:avLst/>
                <a:gdLst>
                  <a:gd name="T0" fmla="*/ 71 w 73"/>
                  <a:gd name="T1" fmla="*/ 144 h 144"/>
                  <a:gd name="T2" fmla="*/ 0 w 73"/>
                  <a:gd name="T3" fmla="*/ 144 h 144"/>
                  <a:gd name="T4" fmla="*/ 0 w 73"/>
                  <a:gd name="T5" fmla="*/ 0 h 144"/>
                  <a:gd name="T6" fmla="*/ 73 w 73"/>
                  <a:gd name="T7" fmla="*/ 0 h 144"/>
                  <a:gd name="T8" fmla="*/ 71 w 73"/>
                  <a:gd name="T9" fmla="*/ 144 h 14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3"/>
                  <a:gd name="T16" fmla="*/ 0 h 144"/>
                  <a:gd name="T17" fmla="*/ 73 w 73"/>
                  <a:gd name="T18" fmla="*/ 144 h 14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3" h="144">
                    <a:moveTo>
                      <a:pt x="71" y="144"/>
                    </a:moveTo>
                    <a:lnTo>
                      <a:pt x="0" y="144"/>
                    </a:lnTo>
                    <a:lnTo>
                      <a:pt x="0" y="0"/>
                    </a:lnTo>
                    <a:lnTo>
                      <a:pt x="73" y="0"/>
                    </a:lnTo>
                    <a:lnTo>
                      <a:pt x="71" y="144"/>
                    </a:lnTo>
                    <a:close/>
                  </a:path>
                </a:pathLst>
              </a:custGeom>
              <a:solidFill>
                <a:srgbClr val="CCCC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21" name="Freeform 124"/>
              <p:cNvSpPr>
                <a:spLocks/>
              </p:cNvSpPr>
              <p:nvPr/>
            </p:nvSpPr>
            <p:spPr bwMode="auto">
              <a:xfrm>
                <a:off x="7675850" y="5196968"/>
                <a:ext cx="125077" cy="267163"/>
              </a:xfrm>
              <a:custGeom>
                <a:avLst/>
                <a:gdLst>
                  <a:gd name="T0" fmla="*/ 71 w 73"/>
                  <a:gd name="T1" fmla="*/ 144 h 144"/>
                  <a:gd name="T2" fmla="*/ 0 w 73"/>
                  <a:gd name="T3" fmla="*/ 144 h 144"/>
                  <a:gd name="T4" fmla="*/ 0 w 73"/>
                  <a:gd name="T5" fmla="*/ 0 h 144"/>
                  <a:gd name="T6" fmla="*/ 73 w 73"/>
                  <a:gd name="T7" fmla="*/ 0 h 14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3"/>
                  <a:gd name="T13" fmla="*/ 0 h 144"/>
                  <a:gd name="T14" fmla="*/ 73 w 73"/>
                  <a:gd name="T15" fmla="*/ 144 h 14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3" h="144">
                    <a:moveTo>
                      <a:pt x="71" y="144"/>
                    </a:moveTo>
                    <a:lnTo>
                      <a:pt x="0" y="144"/>
                    </a:lnTo>
                    <a:lnTo>
                      <a:pt x="0" y="0"/>
                    </a:lnTo>
                    <a:lnTo>
                      <a:pt x="73" y="0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22" name="Line 125"/>
              <p:cNvSpPr>
                <a:spLocks noChangeShapeType="1"/>
              </p:cNvSpPr>
              <p:nvPr/>
            </p:nvSpPr>
            <p:spPr bwMode="auto">
              <a:xfrm flipV="1">
                <a:off x="7922577" y="5193257"/>
                <a:ext cx="1713" cy="27829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23" name="Line 126"/>
              <p:cNvSpPr>
                <a:spLocks noChangeShapeType="1"/>
              </p:cNvSpPr>
              <p:nvPr/>
            </p:nvSpPr>
            <p:spPr bwMode="auto">
              <a:xfrm flipH="1">
                <a:off x="7794074" y="5196968"/>
                <a:ext cx="128503" cy="185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24" name="Line 127"/>
              <p:cNvSpPr>
                <a:spLocks noChangeShapeType="1"/>
              </p:cNvSpPr>
              <p:nvPr/>
            </p:nvSpPr>
            <p:spPr bwMode="auto">
              <a:xfrm flipH="1">
                <a:off x="7794074" y="5464131"/>
                <a:ext cx="128503" cy="185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25" name="Rectangle 128"/>
              <p:cNvSpPr>
                <a:spLocks noChangeArrowheads="1"/>
              </p:cNvSpPr>
              <p:nvPr/>
            </p:nvSpPr>
            <p:spPr bwMode="auto">
              <a:xfrm>
                <a:off x="5460451" y="5196968"/>
                <a:ext cx="123363" cy="267163"/>
              </a:xfrm>
              <a:prstGeom prst="rect">
                <a:avLst/>
              </a:prstGeom>
              <a:solidFill>
                <a:srgbClr val="CCCCCC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26" name="Rectangle 129"/>
              <p:cNvSpPr>
                <a:spLocks noChangeArrowheads="1"/>
              </p:cNvSpPr>
              <p:nvPr/>
            </p:nvSpPr>
            <p:spPr bwMode="auto">
              <a:xfrm>
                <a:off x="5460451" y="5196968"/>
                <a:ext cx="123363" cy="267163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27" name="Rectangle 130"/>
              <p:cNvSpPr>
                <a:spLocks noChangeArrowheads="1"/>
              </p:cNvSpPr>
              <p:nvPr/>
            </p:nvSpPr>
            <p:spPr bwMode="auto">
              <a:xfrm>
                <a:off x="5338801" y="5196968"/>
                <a:ext cx="121650" cy="267163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28" name="Rectangle 131"/>
              <p:cNvSpPr>
                <a:spLocks noChangeArrowheads="1"/>
              </p:cNvSpPr>
              <p:nvPr/>
            </p:nvSpPr>
            <p:spPr bwMode="auto">
              <a:xfrm>
                <a:off x="5400482" y="5250771"/>
                <a:ext cx="25648" cy="1231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I</a:t>
                </a:r>
                <a:endParaRPr lang="en-US" sz="1200" b="1">
                  <a:latin typeface="+mj-lt"/>
                </a:endParaRPr>
              </a:p>
            </p:txBody>
          </p:sp>
          <p:sp>
            <p:nvSpPr>
              <p:cNvPr id="129" name="Rectangle 132"/>
              <p:cNvSpPr>
                <a:spLocks noChangeArrowheads="1"/>
              </p:cNvSpPr>
              <p:nvPr/>
            </p:nvSpPr>
            <p:spPr bwMode="auto">
              <a:xfrm>
                <a:off x="5429610" y="5250771"/>
                <a:ext cx="88166" cy="1231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M</a:t>
                </a:r>
                <a:endParaRPr lang="en-US" sz="1200" b="1">
                  <a:latin typeface="+mj-lt"/>
                </a:endParaRPr>
              </a:p>
            </p:txBody>
          </p:sp>
          <p:sp>
            <p:nvSpPr>
              <p:cNvPr id="130" name="Rectangle 133"/>
              <p:cNvSpPr>
                <a:spLocks noChangeArrowheads="1"/>
              </p:cNvSpPr>
              <p:nvPr/>
            </p:nvSpPr>
            <p:spPr bwMode="auto">
              <a:xfrm>
                <a:off x="6044713" y="5196968"/>
                <a:ext cx="125077" cy="267163"/>
              </a:xfrm>
              <a:prstGeom prst="rect">
                <a:avLst/>
              </a:prstGeom>
              <a:solidFill>
                <a:srgbClr val="FBE2C9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31" name="Rectangle 134"/>
              <p:cNvSpPr>
                <a:spLocks noChangeArrowheads="1"/>
              </p:cNvSpPr>
              <p:nvPr/>
            </p:nvSpPr>
            <p:spPr bwMode="auto">
              <a:xfrm>
                <a:off x="6044713" y="5196968"/>
                <a:ext cx="125077" cy="267163"/>
              </a:xfrm>
              <a:prstGeom prst="rect">
                <a:avLst/>
              </a:prstGeom>
              <a:noFill/>
              <a:ln w="9525">
                <a:solidFill>
                  <a:srgbClr val="EB75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32" name="Line 135"/>
              <p:cNvSpPr>
                <a:spLocks noChangeShapeType="1"/>
              </p:cNvSpPr>
              <p:nvPr/>
            </p:nvSpPr>
            <p:spPr bwMode="auto">
              <a:xfrm flipV="1">
                <a:off x="5923063" y="5193257"/>
                <a:ext cx="1713" cy="27829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33" name="Line 136"/>
              <p:cNvSpPr>
                <a:spLocks noChangeShapeType="1"/>
              </p:cNvSpPr>
              <p:nvPr/>
            </p:nvSpPr>
            <p:spPr bwMode="auto">
              <a:xfrm>
                <a:off x="5923063" y="5196968"/>
                <a:ext cx="121650" cy="185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34" name="Line 137"/>
              <p:cNvSpPr>
                <a:spLocks noChangeShapeType="1"/>
              </p:cNvSpPr>
              <p:nvPr/>
            </p:nvSpPr>
            <p:spPr bwMode="auto">
              <a:xfrm>
                <a:off x="5923063" y="5464131"/>
                <a:ext cx="121650" cy="185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35" name="Freeform 138"/>
              <p:cNvSpPr>
                <a:spLocks/>
              </p:cNvSpPr>
              <p:nvPr/>
            </p:nvSpPr>
            <p:spPr bwMode="auto">
              <a:xfrm>
                <a:off x="6536453" y="5067096"/>
                <a:ext cx="188472" cy="528761"/>
              </a:xfrm>
              <a:custGeom>
                <a:avLst/>
                <a:gdLst>
                  <a:gd name="T0" fmla="*/ 0 w 110"/>
                  <a:gd name="T1" fmla="*/ 0 h 285"/>
                  <a:gd name="T2" fmla="*/ 0 w 110"/>
                  <a:gd name="T3" fmla="*/ 116 h 285"/>
                  <a:gd name="T4" fmla="*/ 35 w 110"/>
                  <a:gd name="T5" fmla="*/ 143 h 285"/>
                  <a:gd name="T6" fmla="*/ 0 w 110"/>
                  <a:gd name="T7" fmla="*/ 170 h 285"/>
                  <a:gd name="T8" fmla="*/ 0 w 110"/>
                  <a:gd name="T9" fmla="*/ 285 h 285"/>
                  <a:gd name="T10" fmla="*/ 110 w 110"/>
                  <a:gd name="T11" fmla="*/ 199 h 285"/>
                  <a:gd name="T12" fmla="*/ 110 w 110"/>
                  <a:gd name="T13" fmla="*/ 88 h 285"/>
                  <a:gd name="T14" fmla="*/ 0 w 110"/>
                  <a:gd name="T15" fmla="*/ 0 h 285"/>
                  <a:gd name="T16" fmla="*/ 0 w 110"/>
                  <a:gd name="T17" fmla="*/ 0 h 285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10"/>
                  <a:gd name="T28" fmla="*/ 0 h 285"/>
                  <a:gd name="T29" fmla="*/ 110 w 110"/>
                  <a:gd name="T30" fmla="*/ 285 h 285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10" h="285">
                    <a:moveTo>
                      <a:pt x="0" y="0"/>
                    </a:moveTo>
                    <a:lnTo>
                      <a:pt x="0" y="116"/>
                    </a:lnTo>
                    <a:lnTo>
                      <a:pt x="35" y="143"/>
                    </a:lnTo>
                    <a:lnTo>
                      <a:pt x="0" y="170"/>
                    </a:lnTo>
                    <a:lnTo>
                      <a:pt x="0" y="285"/>
                    </a:lnTo>
                    <a:lnTo>
                      <a:pt x="110" y="199"/>
                    </a:lnTo>
                    <a:lnTo>
                      <a:pt x="110" y="8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CCC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36" name="Rectangle 139"/>
              <p:cNvSpPr>
                <a:spLocks noChangeArrowheads="1"/>
              </p:cNvSpPr>
              <p:nvPr/>
            </p:nvSpPr>
            <p:spPr bwMode="auto">
              <a:xfrm>
                <a:off x="7134422" y="5250771"/>
                <a:ext cx="62518" cy="1231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D</a:t>
                </a:r>
                <a:endParaRPr lang="en-US" sz="1200" b="1">
                  <a:latin typeface="+mj-lt"/>
                </a:endParaRPr>
              </a:p>
            </p:txBody>
          </p:sp>
          <p:sp>
            <p:nvSpPr>
              <p:cNvPr id="137" name="Rectangle 140"/>
              <p:cNvSpPr>
                <a:spLocks noChangeArrowheads="1"/>
              </p:cNvSpPr>
              <p:nvPr/>
            </p:nvSpPr>
            <p:spPr bwMode="auto">
              <a:xfrm>
                <a:off x="7213238" y="5250771"/>
                <a:ext cx="88166" cy="1231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M</a:t>
                </a:r>
                <a:endParaRPr lang="en-US" sz="1200" b="1">
                  <a:latin typeface="+mj-lt"/>
                </a:endParaRPr>
              </a:p>
            </p:txBody>
          </p:sp>
          <p:sp>
            <p:nvSpPr>
              <p:cNvPr id="138" name="Rectangle 141"/>
              <p:cNvSpPr>
                <a:spLocks noChangeArrowheads="1"/>
              </p:cNvSpPr>
              <p:nvPr/>
            </p:nvSpPr>
            <p:spPr bwMode="auto">
              <a:xfrm>
                <a:off x="7710118" y="5250771"/>
                <a:ext cx="56106" cy="1231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R</a:t>
                </a:r>
                <a:endParaRPr lang="en-US" sz="1200" b="1">
                  <a:latin typeface="+mj-lt"/>
                </a:endParaRPr>
              </a:p>
            </p:txBody>
          </p:sp>
          <p:sp>
            <p:nvSpPr>
              <p:cNvPr id="139" name="Rectangle 142"/>
              <p:cNvSpPr>
                <a:spLocks noChangeArrowheads="1"/>
              </p:cNvSpPr>
              <p:nvPr/>
            </p:nvSpPr>
            <p:spPr bwMode="auto">
              <a:xfrm>
                <a:off x="7788934" y="5250771"/>
                <a:ext cx="51296" cy="1231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e</a:t>
                </a:r>
                <a:endParaRPr lang="en-US" sz="1200" b="1">
                  <a:latin typeface="+mj-lt"/>
                </a:endParaRPr>
              </a:p>
            </p:txBody>
          </p:sp>
          <p:sp>
            <p:nvSpPr>
              <p:cNvPr id="140" name="Rectangle 143"/>
              <p:cNvSpPr>
                <a:spLocks noChangeArrowheads="1"/>
              </p:cNvSpPr>
              <p:nvPr/>
            </p:nvSpPr>
            <p:spPr bwMode="auto">
              <a:xfrm>
                <a:off x="7848902" y="5250771"/>
                <a:ext cx="48090" cy="1231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g</a:t>
                </a:r>
                <a:endParaRPr lang="en-US" sz="1200" b="1">
                  <a:latin typeface="+mj-lt"/>
                </a:endParaRPr>
              </a:p>
            </p:txBody>
          </p:sp>
          <p:sp>
            <p:nvSpPr>
              <p:cNvPr id="141" name="Line 144"/>
              <p:cNvSpPr>
                <a:spLocks noChangeShapeType="1"/>
              </p:cNvSpPr>
              <p:nvPr/>
            </p:nvSpPr>
            <p:spPr bwMode="auto">
              <a:xfrm>
                <a:off x="5580387" y="5332405"/>
                <a:ext cx="342676" cy="185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42" name="Line 145"/>
              <p:cNvSpPr>
                <a:spLocks noChangeShapeType="1"/>
              </p:cNvSpPr>
              <p:nvPr/>
            </p:nvSpPr>
            <p:spPr bwMode="auto">
              <a:xfrm>
                <a:off x="6721498" y="5332405"/>
                <a:ext cx="370090" cy="185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43" name="Line 146"/>
              <p:cNvSpPr>
                <a:spLocks noChangeShapeType="1"/>
              </p:cNvSpPr>
              <p:nvPr/>
            </p:nvSpPr>
            <p:spPr bwMode="auto">
              <a:xfrm>
                <a:off x="7338315" y="5332405"/>
                <a:ext cx="337536" cy="185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44" name="Freeform 147"/>
              <p:cNvSpPr>
                <a:spLocks/>
              </p:cNvSpPr>
              <p:nvPr/>
            </p:nvSpPr>
            <p:spPr bwMode="auto">
              <a:xfrm>
                <a:off x="5859668" y="5265614"/>
                <a:ext cx="63395" cy="66791"/>
              </a:xfrm>
              <a:custGeom>
                <a:avLst/>
                <a:gdLst>
                  <a:gd name="T0" fmla="*/ 0 w 37"/>
                  <a:gd name="T1" fmla="*/ 36 h 36"/>
                  <a:gd name="T2" fmla="*/ 0 w 37"/>
                  <a:gd name="T3" fmla="*/ 0 h 36"/>
                  <a:gd name="T4" fmla="*/ 37 w 37"/>
                  <a:gd name="T5" fmla="*/ 0 h 36"/>
                  <a:gd name="T6" fmla="*/ 0 60000 65536"/>
                  <a:gd name="T7" fmla="*/ 0 60000 65536"/>
                  <a:gd name="T8" fmla="*/ 0 60000 65536"/>
                  <a:gd name="T9" fmla="*/ 0 w 37"/>
                  <a:gd name="T10" fmla="*/ 0 h 36"/>
                  <a:gd name="T11" fmla="*/ 37 w 37"/>
                  <a:gd name="T12" fmla="*/ 36 h 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7" h="36">
                    <a:moveTo>
                      <a:pt x="0" y="36"/>
                    </a:moveTo>
                    <a:lnTo>
                      <a:pt x="0" y="0"/>
                    </a:lnTo>
                    <a:lnTo>
                      <a:pt x="37" y="0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45" name="Freeform 148"/>
              <p:cNvSpPr>
                <a:spLocks/>
              </p:cNvSpPr>
              <p:nvPr/>
            </p:nvSpPr>
            <p:spPr bwMode="auto">
              <a:xfrm>
                <a:off x="7029906" y="5332405"/>
                <a:ext cx="433485" cy="198517"/>
              </a:xfrm>
              <a:custGeom>
                <a:avLst/>
                <a:gdLst>
                  <a:gd name="T0" fmla="*/ 0 w 253"/>
                  <a:gd name="T1" fmla="*/ 0 h 107"/>
                  <a:gd name="T2" fmla="*/ 0 w 253"/>
                  <a:gd name="T3" fmla="*/ 107 h 107"/>
                  <a:gd name="T4" fmla="*/ 216 w 253"/>
                  <a:gd name="T5" fmla="*/ 107 h 107"/>
                  <a:gd name="T6" fmla="*/ 216 w 253"/>
                  <a:gd name="T7" fmla="*/ 37 h 107"/>
                  <a:gd name="T8" fmla="*/ 253 w 253"/>
                  <a:gd name="T9" fmla="*/ 37 h 10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3"/>
                  <a:gd name="T16" fmla="*/ 0 h 107"/>
                  <a:gd name="T17" fmla="*/ 253 w 253"/>
                  <a:gd name="T18" fmla="*/ 107 h 10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3" h="107">
                    <a:moveTo>
                      <a:pt x="0" y="0"/>
                    </a:moveTo>
                    <a:lnTo>
                      <a:pt x="0" y="107"/>
                    </a:lnTo>
                    <a:lnTo>
                      <a:pt x="216" y="107"/>
                    </a:lnTo>
                    <a:lnTo>
                      <a:pt x="216" y="37"/>
                    </a:lnTo>
                    <a:lnTo>
                      <a:pt x="253" y="37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46" name="Freeform 149"/>
              <p:cNvSpPr>
                <a:spLocks/>
              </p:cNvSpPr>
              <p:nvPr/>
            </p:nvSpPr>
            <p:spPr bwMode="auto">
              <a:xfrm>
                <a:off x="5705464" y="5067096"/>
                <a:ext cx="92523" cy="532471"/>
              </a:xfrm>
              <a:custGeom>
                <a:avLst/>
                <a:gdLst>
                  <a:gd name="T0" fmla="*/ 54 w 54"/>
                  <a:gd name="T1" fmla="*/ 287 h 287"/>
                  <a:gd name="T2" fmla="*/ 54 w 54"/>
                  <a:gd name="T3" fmla="*/ 0 h 287"/>
                  <a:gd name="T4" fmla="*/ 0 w 54"/>
                  <a:gd name="T5" fmla="*/ 0 h 287"/>
                  <a:gd name="T6" fmla="*/ 0 w 54"/>
                  <a:gd name="T7" fmla="*/ 287 h 287"/>
                  <a:gd name="T8" fmla="*/ 54 w 54"/>
                  <a:gd name="T9" fmla="*/ 287 h 287"/>
                  <a:gd name="T10" fmla="*/ 54 w 54"/>
                  <a:gd name="T11" fmla="*/ 287 h 28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54"/>
                  <a:gd name="T19" fmla="*/ 0 h 287"/>
                  <a:gd name="T20" fmla="*/ 54 w 54"/>
                  <a:gd name="T21" fmla="*/ 287 h 28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54" h="287">
                    <a:moveTo>
                      <a:pt x="54" y="287"/>
                    </a:moveTo>
                    <a:lnTo>
                      <a:pt x="54" y="0"/>
                    </a:lnTo>
                    <a:lnTo>
                      <a:pt x="0" y="0"/>
                    </a:lnTo>
                    <a:lnTo>
                      <a:pt x="0" y="287"/>
                    </a:lnTo>
                    <a:lnTo>
                      <a:pt x="54" y="287"/>
                    </a:lnTo>
                    <a:close/>
                  </a:path>
                </a:pathLst>
              </a:custGeom>
              <a:solidFill>
                <a:srgbClr val="CCCC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47" name="Freeform 150"/>
              <p:cNvSpPr>
                <a:spLocks/>
              </p:cNvSpPr>
              <p:nvPr/>
            </p:nvSpPr>
            <p:spPr bwMode="auto">
              <a:xfrm>
                <a:off x="5705464" y="5067096"/>
                <a:ext cx="92523" cy="532471"/>
              </a:xfrm>
              <a:custGeom>
                <a:avLst/>
                <a:gdLst>
                  <a:gd name="T0" fmla="*/ 54 w 54"/>
                  <a:gd name="T1" fmla="*/ 287 h 287"/>
                  <a:gd name="T2" fmla="*/ 54 w 54"/>
                  <a:gd name="T3" fmla="*/ 0 h 287"/>
                  <a:gd name="T4" fmla="*/ 0 w 54"/>
                  <a:gd name="T5" fmla="*/ 0 h 287"/>
                  <a:gd name="T6" fmla="*/ 0 w 54"/>
                  <a:gd name="T7" fmla="*/ 287 h 287"/>
                  <a:gd name="T8" fmla="*/ 54 w 54"/>
                  <a:gd name="T9" fmla="*/ 287 h 287"/>
                  <a:gd name="T10" fmla="*/ 54 w 54"/>
                  <a:gd name="T11" fmla="*/ 287 h 28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54"/>
                  <a:gd name="T19" fmla="*/ 0 h 287"/>
                  <a:gd name="T20" fmla="*/ 54 w 54"/>
                  <a:gd name="T21" fmla="*/ 287 h 28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54" h="287">
                    <a:moveTo>
                      <a:pt x="54" y="287"/>
                    </a:moveTo>
                    <a:lnTo>
                      <a:pt x="54" y="0"/>
                    </a:lnTo>
                    <a:lnTo>
                      <a:pt x="0" y="0"/>
                    </a:lnTo>
                    <a:lnTo>
                      <a:pt x="0" y="287"/>
                    </a:lnTo>
                    <a:lnTo>
                      <a:pt x="54" y="287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48" name="Freeform 151"/>
              <p:cNvSpPr>
                <a:spLocks/>
              </p:cNvSpPr>
              <p:nvPr/>
            </p:nvSpPr>
            <p:spPr bwMode="auto">
              <a:xfrm>
                <a:off x="6291440" y="5067096"/>
                <a:ext cx="94236" cy="532471"/>
              </a:xfrm>
              <a:custGeom>
                <a:avLst/>
                <a:gdLst>
                  <a:gd name="T0" fmla="*/ 53 w 55"/>
                  <a:gd name="T1" fmla="*/ 287 h 287"/>
                  <a:gd name="T2" fmla="*/ 55 w 55"/>
                  <a:gd name="T3" fmla="*/ 0 h 287"/>
                  <a:gd name="T4" fmla="*/ 0 w 55"/>
                  <a:gd name="T5" fmla="*/ 0 h 287"/>
                  <a:gd name="T6" fmla="*/ 0 w 55"/>
                  <a:gd name="T7" fmla="*/ 287 h 287"/>
                  <a:gd name="T8" fmla="*/ 55 w 55"/>
                  <a:gd name="T9" fmla="*/ 287 h 287"/>
                  <a:gd name="T10" fmla="*/ 55 w 55"/>
                  <a:gd name="T11" fmla="*/ 287 h 287"/>
                  <a:gd name="T12" fmla="*/ 53 w 55"/>
                  <a:gd name="T13" fmla="*/ 287 h 28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55"/>
                  <a:gd name="T22" fmla="*/ 0 h 287"/>
                  <a:gd name="T23" fmla="*/ 55 w 55"/>
                  <a:gd name="T24" fmla="*/ 287 h 28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55" h="287">
                    <a:moveTo>
                      <a:pt x="53" y="287"/>
                    </a:moveTo>
                    <a:lnTo>
                      <a:pt x="55" y="0"/>
                    </a:lnTo>
                    <a:lnTo>
                      <a:pt x="0" y="0"/>
                    </a:lnTo>
                    <a:lnTo>
                      <a:pt x="0" y="287"/>
                    </a:lnTo>
                    <a:lnTo>
                      <a:pt x="55" y="287"/>
                    </a:lnTo>
                    <a:lnTo>
                      <a:pt x="53" y="287"/>
                    </a:lnTo>
                    <a:close/>
                  </a:path>
                </a:pathLst>
              </a:custGeom>
              <a:solidFill>
                <a:srgbClr val="CCCC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49" name="Freeform 152"/>
              <p:cNvSpPr>
                <a:spLocks/>
              </p:cNvSpPr>
              <p:nvPr/>
            </p:nvSpPr>
            <p:spPr bwMode="auto">
              <a:xfrm>
                <a:off x="6291440" y="5067096"/>
                <a:ext cx="94236" cy="532471"/>
              </a:xfrm>
              <a:custGeom>
                <a:avLst/>
                <a:gdLst>
                  <a:gd name="T0" fmla="*/ 53 w 55"/>
                  <a:gd name="T1" fmla="*/ 287 h 287"/>
                  <a:gd name="T2" fmla="*/ 55 w 55"/>
                  <a:gd name="T3" fmla="*/ 0 h 287"/>
                  <a:gd name="T4" fmla="*/ 0 w 55"/>
                  <a:gd name="T5" fmla="*/ 0 h 287"/>
                  <a:gd name="T6" fmla="*/ 0 w 55"/>
                  <a:gd name="T7" fmla="*/ 287 h 287"/>
                  <a:gd name="T8" fmla="*/ 55 w 55"/>
                  <a:gd name="T9" fmla="*/ 287 h 287"/>
                  <a:gd name="T10" fmla="*/ 55 w 55"/>
                  <a:gd name="T11" fmla="*/ 287 h 28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55"/>
                  <a:gd name="T19" fmla="*/ 0 h 287"/>
                  <a:gd name="T20" fmla="*/ 55 w 55"/>
                  <a:gd name="T21" fmla="*/ 287 h 28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55" h="287">
                    <a:moveTo>
                      <a:pt x="53" y="287"/>
                    </a:moveTo>
                    <a:lnTo>
                      <a:pt x="55" y="0"/>
                    </a:lnTo>
                    <a:lnTo>
                      <a:pt x="0" y="0"/>
                    </a:lnTo>
                    <a:lnTo>
                      <a:pt x="0" y="287"/>
                    </a:lnTo>
                    <a:lnTo>
                      <a:pt x="55" y="287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50" name="Freeform 153"/>
              <p:cNvSpPr>
                <a:spLocks/>
              </p:cNvSpPr>
              <p:nvPr/>
            </p:nvSpPr>
            <p:spPr bwMode="auto">
              <a:xfrm>
                <a:off x="6879129" y="5067096"/>
                <a:ext cx="90809" cy="532471"/>
              </a:xfrm>
              <a:custGeom>
                <a:avLst/>
                <a:gdLst>
                  <a:gd name="T0" fmla="*/ 51 w 53"/>
                  <a:gd name="T1" fmla="*/ 287 h 287"/>
                  <a:gd name="T2" fmla="*/ 53 w 53"/>
                  <a:gd name="T3" fmla="*/ 0 h 287"/>
                  <a:gd name="T4" fmla="*/ 0 w 53"/>
                  <a:gd name="T5" fmla="*/ 0 h 287"/>
                  <a:gd name="T6" fmla="*/ 0 w 53"/>
                  <a:gd name="T7" fmla="*/ 287 h 287"/>
                  <a:gd name="T8" fmla="*/ 53 w 53"/>
                  <a:gd name="T9" fmla="*/ 287 h 287"/>
                  <a:gd name="T10" fmla="*/ 53 w 53"/>
                  <a:gd name="T11" fmla="*/ 287 h 287"/>
                  <a:gd name="T12" fmla="*/ 51 w 53"/>
                  <a:gd name="T13" fmla="*/ 287 h 28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53"/>
                  <a:gd name="T22" fmla="*/ 0 h 287"/>
                  <a:gd name="T23" fmla="*/ 53 w 53"/>
                  <a:gd name="T24" fmla="*/ 287 h 28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53" h="287">
                    <a:moveTo>
                      <a:pt x="51" y="287"/>
                    </a:moveTo>
                    <a:lnTo>
                      <a:pt x="53" y="0"/>
                    </a:lnTo>
                    <a:lnTo>
                      <a:pt x="0" y="0"/>
                    </a:lnTo>
                    <a:lnTo>
                      <a:pt x="0" y="287"/>
                    </a:lnTo>
                    <a:lnTo>
                      <a:pt x="53" y="287"/>
                    </a:lnTo>
                    <a:lnTo>
                      <a:pt x="51" y="287"/>
                    </a:lnTo>
                    <a:close/>
                  </a:path>
                </a:pathLst>
              </a:custGeom>
              <a:solidFill>
                <a:srgbClr val="CCCC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51" name="Freeform 154"/>
              <p:cNvSpPr>
                <a:spLocks/>
              </p:cNvSpPr>
              <p:nvPr/>
            </p:nvSpPr>
            <p:spPr bwMode="auto">
              <a:xfrm>
                <a:off x="6879129" y="5067096"/>
                <a:ext cx="90809" cy="532471"/>
              </a:xfrm>
              <a:custGeom>
                <a:avLst/>
                <a:gdLst>
                  <a:gd name="T0" fmla="*/ 51 w 53"/>
                  <a:gd name="T1" fmla="*/ 287 h 287"/>
                  <a:gd name="T2" fmla="*/ 53 w 53"/>
                  <a:gd name="T3" fmla="*/ 0 h 287"/>
                  <a:gd name="T4" fmla="*/ 0 w 53"/>
                  <a:gd name="T5" fmla="*/ 0 h 287"/>
                  <a:gd name="T6" fmla="*/ 0 w 53"/>
                  <a:gd name="T7" fmla="*/ 287 h 287"/>
                  <a:gd name="T8" fmla="*/ 53 w 53"/>
                  <a:gd name="T9" fmla="*/ 287 h 287"/>
                  <a:gd name="T10" fmla="*/ 53 w 53"/>
                  <a:gd name="T11" fmla="*/ 287 h 28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53"/>
                  <a:gd name="T19" fmla="*/ 0 h 287"/>
                  <a:gd name="T20" fmla="*/ 53 w 53"/>
                  <a:gd name="T21" fmla="*/ 287 h 28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53" h="287">
                    <a:moveTo>
                      <a:pt x="51" y="287"/>
                    </a:moveTo>
                    <a:lnTo>
                      <a:pt x="53" y="0"/>
                    </a:lnTo>
                    <a:lnTo>
                      <a:pt x="0" y="0"/>
                    </a:lnTo>
                    <a:lnTo>
                      <a:pt x="0" y="287"/>
                    </a:lnTo>
                    <a:lnTo>
                      <a:pt x="53" y="287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52" name="Freeform 155"/>
              <p:cNvSpPr>
                <a:spLocks/>
              </p:cNvSpPr>
              <p:nvPr/>
            </p:nvSpPr>
            <p:spPr bwMode="auto">
              <a:xfrm>
                <a:off x="7463391" y="5067096"/>
                <a:ext cx="92523" cy="532471"/>
              </a:xfrm>
              <a:custGeom>
                <a:avLst/>
                <a:gdLst>
                  <a:gd name="T0" fmla="*/ 52 w 54"/>
                  <a:gd name="T1" fmla="*/ 287 h 287"/>
                  <a:gd name="T2" fmla="*/ 54 w 54"/>
                  <a:gd name="T3" fmla="*/ 0 h 287"/>
                  <a:gd name="T4" fmla="*/ 0 w 54"/>
                  <a:gd name="T5" fmla="*/ 0 h 287"/>
                  <a:gd name="T6" fmla="*/ 0 w 54"/>
                  <a:gd name="T7" fmla="*/ 287 h 287"/>
                  <a:gd name="T8" fmla="*/ 54 w 54"/>
                  <a:gd name="T9" fmla="*/ 287 h 287"/>
                  <a:gd name="T10" fmla="*/ 54 w 54"/>
                  <a:gd name="T11" fmla="*/ 287 h 287"/>
                  <a:gd name="T12" fmla="*/ 52 w 54"/>
                  <a:gd name="T13" fmla="*/ 287 h 28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54"/>
                  <a:gd name="T22" fmla="*/ 0 h 287"/>
                  <a:gd name="T23" fmla="*/ 54 w 54"/>
                  <a:gd name="T24" fmla="*/ 287 h 28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54" h="287">
                    <a:moveTo>
                      <a:pt x="52" y="287"/>
                    </a:moveTo>
                    <a:lnTo>
                      <a:pt x="54" y="0"/>
                    </a:lnTo>
                    <a:lnTo>
                      <a:pt x="0" y="0"/>
                    </a:lnTo>
                    <a:lnTo>
                      <a:pt x="0" y="287"/>
                    </a:lnTo>
                    <a:lnTo>
                      <a:pt x="54" y="287"/>
                    </a:lnTo>
                    <a:lnTo>
                      <a:pt x="52" y="287"/>
                    </a:lnTo>
                    <a:close/>
                  </a:path>
                </a:pathLst>
              </a:custGeom>
              <a:solidFill>
                <a:srgbClr val="CCCC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53" name="Freeform 156"/>
              <p:cNvSpPr>
                <a:spLocks/>
              </p:cNvSpPr>
              <p:nvPr/>
            </p:nvSpPr>
            <p:spPr bwMode="auto">
              <a:xfrm>
                <a:off x="7463391" y="5067096"/>
                <a:ext cx="92523" cy="532471"/>
              </a:xfrm>
              <a:custGeom>
                <a:avLst/>
                <a:gdLst>
                  <a:gd name="T0" fmla="*/ 52 w 54"/>
                  <a:gd name="T1" fmla="*/ 287 h 287"/>
                  <a:gd name="T2" fmla="*/ 54 w 54"/>
                  <a:gd name="T3" fmla="*/ 0 h 287"/>
                  <a:gd name="T4" fmla="*/ 0 w 54"/>
                  <a:gd name="T5" fmla="*/ 0 h 287"/>
                  <a:gd name="T6" fmla="*/ 0 w 54"/>
                  <a:gd name="T7" fmla="*/ 287 h 287"/>
                  <a:gd name="T8" fmla="*/ 54 w 54"/>
                  <a:gd name="T9" fmla="*/ 287 h 287"/>
                  <a:gd name="T10" fmla="*/ 54 w 54"/>
                  <a:gd name="T11" fmla="*/ 287 h 28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54"/>
                  <a:gd name="T19" fmla="*/ 0 h 287"/>
                  <a:gd name="T20" fmla="*/ 54 w 54"/>
                  <a:gd name="T21" fmla="*/ 287 h 28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54" h="287">
                    <a:moveTo>
                      <a:pt x="52" y="287"/>
                    </a:moveTo>
                    <a:lnTo>
                      <a:pt x="54" y="0"/>
                    </a:lnTo>
                    <a:lnTo>
                      <a:pt x="0" y="0"/>
                    </a:lnTo>
                    <a:lnTo>
                      <a:pt x="0" y="287"/>
                    </a:lnTo>
                    <a:lnTo>
                      <a:pt x="54" y="287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54" name="Rectangle 157"/>
              <p:cNvSpPr>
                <a:spLocks noChangeArrowheads="1"/>
              </p:cNvSpPr>
              <p:nvPr/>
            </p:nvSpPr>
            <p:spPr bwMode="auto">
              <a:xfrm>
                <a:off x="8261826" y="5798085"/>
                <a:ext cx="123363" cy="267163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55" name="Line 158"/>
              <p:cNvSpPr>
                <a:spLocks noChangeShapeType="1"/>
              </p:cNvSpPr>
              <p:nvPr/>
            </p:nvSpPr>
            <p:spPr bwMode="auto">
              <a:xfrm flipV="1">
                <a:off x="8506840" y="5794374"/>
                <a:ext cx="1713" cy="27272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56" name="Line 159"/>
              <p:cNvSpPr>
                <a:spLocks noChangeShapeType="1"/>
              </p:cNvSpPr>
              <p:nvPr/>
            </p:nvSpPr>
            <p:spPr bwMode="auto">
              <a:xfrm flipH="1">
                <a:off x="8380050" y="5798085"/>
                <a:ext cx="126790" cy="185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57" name="Line 160"/>
              <p:cNvSpPr>
                <a:spLocks noChangeShapeType="1"/>
              </p:cNvSpPr>
              <p:nvPr/>
            </p:nvSpPr>
            <p:spPr bwMode="auto">
              <a:xfrm flipH="1">
                <a:off x="8380050" y="6065248"/>
                <a:ext cx="126790" cy="185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58" name="Rectangle 161"/>
              <p:cNvSpPr>
                <a:spLocks noChangeArrowheads="1"/>
              </p:cNvSpPr>
              <p:nvPr/>
            </p:nvSpPr>
            <p:spPr bwMode="auto">
              <a:xfrm>
                <a:off x="6044713" y="5798085"/>
                <a:ext cx="125077" cy="267163"/>
              </a:xfrm>
              <a:prstGeom prst="rect">
                <a:avLst/>
              </a:prstGeom>
              <a:solidFill>
                <a:srgbClr val="CCCCCC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59" name="Rectangle 162"/>
              <p:cNvSpPr>
                <a:spLocks noChangeArrowheads="1"/>
              </p:cNvSpPr>
              <p:nvPr/>
            </p:nvSpPr>
            <p:spPr bwMode="auto">
              <a:xfrm>
                <a:off x="6044713" y="5798085"/>
                <a:ext cx="125077" cy="267163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60" name="Rectangle 163"/>
              <p:cNvSpPr>
                <a:spLocks noChangeArrowheads="1"/>
              </p:cNvSpPr>
              <p:nvPr/>
            </p:nvSpPr>
            <p:spPr bwMode="auto">
              <a:xfrm>
                <a:off x="5923063" y="5798085"/>
                <a:ext cx="121650" cy="267163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61" name="Rectangle 164"/>
              <p:cNvSpPr>
                <a:spLocks noChangeArrowheads="1"/>
              </p:cNvSpPr>
              <p:nvPr/>
            </p:nvSpPr>
            <p:spPr bwMode="auto">
              <a:xfrm>
                <a:off x="5984745" y="5851889"/>
                <a:ext cx="25648" cy="1231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I</a:t>
                </a:r>
                <a:endParaRPr lang="en-US" sz="1200" b="1">
                  <a:latin typeface="+mj-lt"/>
                </a:endParaRPr>
              </a:p>
            </p:txBody>
          </p:sp>
          <p:sp>
            <p:nvSpPr>
              <p:cNvPr id="162" name="Rectangle 165"/>
              <p:cNvSpPr>
                <a:spLocks noChangeArrowheads="1"/>
              </p:cNvSpPr>
              <p:nvPr/>
            </p:nvSpPr>
            <p:spPr bwMode="auto">
              <a:xfrm>
                <a:off x="6013872" y="5851889"/>
                <a:ext cx="88166" cy="1231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M</a:t>
                </a:r>
                <a:endParaRPr lang="en-US" sz="1200" b="1">
                  <a:latin typeface="+mj-lt"/>
                </a:endParaRPr>
              </a:p>
            </p:txBody>
          </p:sp>
          <p:sp>
            <p:nvSpPr>
              <p:cNvPr id="163" name="Freeform 166"/>
              <p:cNvSpPr>
                <a:spLocks/>
              </p:cNvSpPr>
              <p:nvPr/>
            </p:nvSpPr>
            <p:spPr bwMode="auto">
              <a:xfrm>
                <a:off x="6628975" y="5798085"/>
                <a:ext cx="125077" cy="267163"/>
              </a:xfrm>
              <a:custGeom>
                <a:avLst/>
                <a:gdLst>
                  <a:gd name="T0" fmla="*/ 0 w 73"/>
                  <a:gd name="T1" fmla="*/ 144 h 144"/>
                  <a:gd name="T2" fmla="*/ 73 w 73"/>
                  <a:gd name="T3" fmla="*/ 144 h 144"/>
                  <a:gd name="T4" fmla="*/ 73 w 73"/>
                  <a:gd name="T5" fmla="*/ 0 h 144"/>
                  <a:gd name="T6" fmla="*/ 2 w 73"/>
                  <a:gd name="T7" fmla="*/ 0 h 144"/>
                  <a:gd name="T8" fmla="*/ 0 w 73"/>
                  <a:gd name="T9" fmla="*/ 144 h 14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3"/>
                  <a:gd name="T16" fmla="*/ 0 h 144"/>
                  <a:gd name="T17" fmla="*/ 73 w 73"/>
                  <a:gd name="T18" fmla="*/ 144 h 14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3" h="144">
                    <a:moveTo>
                      <a:pt x="0" y="144"/>
                    </a:moveTo>
                    <a:lnTo>
                      <a:pt x="73" y="144"/>
                    </a:lnTo>
                    <a:lnTo>
                      <a:pt x="73" y="0"/>
                    </a:lnTo>
                    <a:lnTo>
                      <a:pt x="2" y="0"/>
                    </a:lnTo>
                    <a:lnTo>
                      <a:pt x="0" y="144"/>
                    </a:lnTo>
                    <a:close/>
                  </a:path>
                </a:pathLst>
              </a:custGeom>
              <a:solidFill>
                <a:srgbClr val="FBE2C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64" name="Freeform 167"/>
              <p:cNvSpPr>
                <a:spLocks/>
              </p:cNvSpPr>
              <p:nvPr/>
            </p:nvSpPr>
            <p:spPr bwMode="auto">
              <a:xfrm>
                <a:off x="6628975" y="5798085"/>
                <a:ext cx="125077" cy="267163"/>
              </a:xfrm>
              <a:custGeom>
                <a:avLst/>
                <a:gdLst>
                  <a:gd name="T0" fmla="*/ 0 w 73"/>
                  <a:gd name="T1" fmla="*/ 144 h 144"/>
                  <a:gd name="T2" fmla="*/ 73 w 73"/>
                  <a:gd name="T3" fmla="*/ 144 h 144"/>
                  <a:gd name="T4" fmla="*/ 73 w 73"/>
                  <a:gd name="T5" fmla="*/ 0 h 144"/>
                  <a:gd name="T6" fmla="*/ 2 w 73"/>
                  <a:gd name="T7" fmla="*/ 0 h 14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3"/>
                  <a:gd name="T13" fmla="*/ 0 h 144"/>
                  <a:gd name="T14" fmla="*/ 73 w 73"/>
                  <a:gd name="T15" fmla="*/ 144 h 14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3" h="144">
                    <a:moveTo>
                      <a:pt x="0" y="144"/>
                    </a:moveTo>
                    <a:lnTo>
                      <a:pt x="73" y="144"/>
                    </a:lnTo>
                    <a:lnTo>
                      <a:pt x="73" y="0"/>
                    </a:lnTo>
                    <a:lnTo>
                      <a:pt x="2" y="0"/>
                    </a:lnTo>
                  </a:path>
                </a:pathLst>
              </a:custGeom>
              <a:noFill/>
              <a:ln w="9525">
                <a:solidFill>
                  <a:srgbClr val="EB75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65" name="Line 168"/>
              <p:cNvSpPr>
                <a:spLocks noChangeShapeType="1"/>
              </p:cNvSpPr>
              <p:nvPr/>
            </p:nvSpPr>
            <p:spPr bwMode="auto">
              <a:xfrm flipV="1">
                <a:off x="6507326" y="5794374"/>
                <a:ext cx="1713" cy="27272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66" name="Line 169"/>
              <p:cNvSpPr>
                <a:spLocks noChangeShapeType="1"/>
              </p:cNvSpPr>
              <p:nvPr/>
            </p:nvSpPr>
            <p:spPr bwMode="auto">
              <a:xfrm>
                <a:off x="6507326" y="5798085"/>
                <a:ext cx="125077" cy="185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67" name="Line 170"/>
              <p:cNvSpPr>
                <a:spLocks noChangeShapeType="1"/>
              </p:cNvSpPr>
              <p:nvPr/>
            </p:nvSpPr>
            <p:spPr bwMode="auto">
              <a:xfrm>
                <a:off x="6507326" y="6065248"/>
                <a:ext cx="125077" cy="185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68" name="Freeform 171"/>
              <p:cNvSpPr>
                <a:spLocks/>
              </p:cNvSpPr>
              <p:nvPr/>
            </p:nvSpPr>
            <p:spPr bwMode="auto">
              <a:xfrm>
                <a:off x="7120715" y="5666359"/>
                <a:ext cx="188472" cy="528761"/>
              </a:xfrm>
              <a:custGeom>
                <a:avLst/>
                <a:gdLst>
                  <a:gd name="T0" fmla="*/ 0 w 110"/>
                  <a:gd name="T1" fmla="*/ 0 h 285"/>
                  <a:gd name="T2" fmla="*/ 0 w 110"/>
                  <a:gd name="T3" fmla="*/ 115 h 285"/>
                  <a:gd name="T4" fmla="*/ 35 w 110"/>
                  <a:gd name="T5" fmla="*/ 144 h 285"/>
                  <a:gd name="T6" fmla="*/ 0 w 110"/>
                  <a:gd name="T7" fmla="*/ 171 h 285"/>
                  <a:gd name="T8" fmla="*/ 0 w 110"/>
                  <a:gd name="T9" fmla="*/ 285 h 285"/>
                  <a:gd name="T10" fmla="*/ 110 w 110"/>
                  <a:gd name="T11" fmla="*/ 197 h 285"/>
                  <a:gd name="T12" fmla="*/ 110 w 110"/>
                  <a:gd name="T13" fmla="*/ 88 h 285"/>
                  <a:gd name="T14" fmla="*/ 0 w 110"/>
                  <a:gd name="T15" fmla="*/ 0 h 285"/>
                  <a:gd name="T16" fmla="*/ 0 w 110"/>
                  <a:gd name="T17" fmla="*/ 0 h 285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10"/>
                  <a:gd name="T28" fmla="*/ 0 h 285"/>
                  <a:gd name="T29" fmla="*/ 110 w 110"/>
                  <a:gd name="T30" fmla="*/ 285 h 285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10" h="285">
                    <a:moveTo>
                      <a:pt x="0" y="0"/>
                    </a:moveTo>
                    <a:lnTo>
                      <a:pt x="0" y="115"/>
                    </a:lnTo>
                    <a:lnTo>
                      <a:pt x="35" y="144"/>
                    </a:lnTo>
                    <a:lnTo>
                      <a:pt x="0" y="171"/>
                    </a:lnTo>
                    <a:lnTo>
                      <a:pt x="0" y="285"/>
                    </a:lnTo>
                    <a:lnTo>
                      <a:pt x="110" y="197"/>
                    </a:lnTo>
                    <a:lnTo>
                      <a:pt x="110" y="8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CCC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69" name="Freeform 172"/>
              <p:cNvSpPr>
                <a:spLocks/>
              </p:cNvSpPr>
              <p:nvPr/>
            </p:nvSpPr>
            <p:spPr bwMode="auto">
              <a:xfrm>
                <a:off x="7120715" y="5666359"/>
                <a:ext cx="188472" cy="528761"/>
              </a:xfrm>
              <a:custGeom>
                <a:avLst/>
                <a:gdLst>
                  <a:gd name="T0" fmla="*/ 0 w 110"/>
                  <a:gd name="T1" fmla="*/ 0 h 285"/>
                  <a:gd name="T2" fmla="*/ 0 w 110"/>
                  <a:gd name="T3" fmla="*/ 115 h 285"/>
                  <a:gd name="T4" fmla="*/ 35 w 110"/>
                  <a:gd name="T5" fmla="*/ 144 h 285"/>
                  <a:gd name="T6" fmla="*/ 0 w 110"/>
                  <a:gd name="T7" fmla="*/ 171 h 285"/>
                  <a:gd name="T8" fmla="*/ 0 w 110"/>
                  <a:gd name="T9" fmla="*/ 285 h 285"/>
                  <a:gd name="T10" fmla="*/ 110 w 110"/>
                  <a:gd name="T11" fmla="*/ 197 h 285"/>
                  <a:gd name="T12" fmla="*/ 110 w 110"/>
                  <a:gd name="T13" fmla="*/ 88 h 285"/>
                  <a:gd name="T14" fmla="*/ 0 w 110"/>
                  <a:gd name="T15" fmla="*/ 0 h 285"/>
                  <a:gd name="T16" fmla="*/ 0 w 110"/>
                  <a:gd name="T17" fmla="*/ 0 h 285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10"/>
                  <a:gd name="T28" fmla="*/ 0 h 285"/>
                  <a:gd name="T29" fmla="*/ 110 w 110"/>
                  <a:gd name="T30" fmla="*/ 285 h 285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10" h="285">
                    <a:moveTo>
                      <a:pt x="0" y="0"/>
                    </a:moveTo>
                    <a:lnTo>
                      <a:pt x="0" y="115"/>
                    </a:lnTo>
                    <a:lnTo>
                      <a:pt x="35" y="144"/>
                    </a:lnTo>
                    <a:lnTo>
                      <a:pt x="0" y="171"/>
                    </a:lnTo>
                    <a:lnTo>
                      <a:pt x="0" y="285"/>
                    </a:lnTo>
                    <a:lnTo>
                      <a:pt x="110" y="197"/>
                    </a:lnTo>
                    <a:lnTo>
                      <a:pt x="110" y="88"/>
                    </a:lnTo>
                    <a:lnTo>
                      <a:pt x="0" y="0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70" name="Rectangle 173"/>
              <p:cNvSpPr>
                <a:spLocks noChangeArrowheads="1"/>
              </p:cNvSpPr>
              <p:nvPr/>
            </p:nvSpPr>
            <p:spPr bwMode="auto">
              <a:xfrm>
                <a:off x="7718685" y="5851889"/>
                <a:ext cx="62518" cy="1231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D</a:t>
                </a:r>
                <a:endParaRPr lang="en-US" sz="1200" b="1">
                  <a:latin typeface="+mj-lt"/>
                </a:endParaRPr>
              </a:p>
            </p:txBody>
          </p:sp>
          <p:sp>
            <p:nvSpPr>
              <p:cNvPr id="171" name="Rectangle 174"/>
              <p:cNvSpPr>
                <a:spLocks noChangeArrowheads="1"/>
              </p:cNvSpPr>
              <p:nvPr/>
            </p:nvSpPr>
            <p:spPr bwMode="auto">
              <a:xfrm>
                <a:off x="7797500" y="5851889"/>
                <a:ext cx="88166" cy="1231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M</a:t>
                </a:r>
                <a:endParaRPr lang="en-US" sz="1200" b="1">
                  <a:latin typeface="+mj-lt"/>
                </a:endParaRPr>
              </a:p>
            </p:txBody>
          </p:sp>
          <p:sp>
            <p:nvSpPr>
              <p:cNvPr id="172" name="Rectangle 175"/>
              <p:cNvSpPr>
                <a:spLocks noChangeArrowheads="1"/>
              </p:cNvSpPr>
              <p:nvPr/>
            </p:nvSpPr>
            <p:spPr bwMode="auto">
              <a:xfrm>
                <a:off x="8294381" y="5851889"/>
                <a:ext cx="56106" cy="1231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R</a:t>
                </a:r>
                <a:endParaRPr lang="en-US" sz="1200" b="1">
                  <a:latin typeface="+mj-lt"/>
                </a:endParaRPr>
              </a:p>
            </p:txBody>
          </p:sp>
          <p:sp>
            <p:nvSpPr>
              <p:cNvPr id="173" name="Rectangle 176"/>
              <p:cNvSpPr>
                <a:spLocks noChangeArrowheads="1"/>
              </p:cNvSpPr>
              <p:nvPr/>
            </p:nvSpPr>
            <p:spPr bwMode="auto">
              <a:xfrm>
                <a:off x="8373196" y="5851889"/>
                <a:ext cx="51296" cy="1231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e</a:t>
                </a:r>
                <a:endParaRPr lang="en-US" sz="1200" b="1">
                  <a:latin typeface="+mj-lt"/>
                </a:endParaRPr>
              </a:p>
            </p:txBody>
          </p:sp>
          <p:sp>
            <p:nvSpPr>
              <p:cNvPr id="174" name="Rectangle 177"/>
              <p:cNvSpPr>
                <a:spLocks noChangeArrowheads="1"/>
              </p:cNvSpPr>
              <p:nvPr/>
            </p:nvSpPr>
            <p:spPr bwMode="auto">
              <a:xfrm>
                <a:off x="8431451" y="5851889"/>
                <a:ext cx="48090" cy="1231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g</a:t>
                </a:r>
                <a:endParaRPr lang="en-US" sz="1200" b="1">
                  <a:latin typeface="+mj-lt"/>
                </a:endParaRPr>
              </a:p>
            </p:txBody>
          </p:sp>
          <p:sp>
            <p:nvSpPr>
              <p:cNvPr id="175" name="Line 178"/>
              <p:cNvSpPr>
                <a:spLocks noChangeShapeType="1"/>
              </p:cNvSpPr>
              <p:nvPr/>
            </p:nvSpPr>
            <p:spPr bwMode="auto">
              <a:xfrm>
                <a:off x="6169790" y="5929811"/>
                <a:ext cx="337536" cy="371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76" name="Line 179"/>
              <p:cNvSpPr>
                <a:spLocks noChangeShapeType="1"/>
              </p:cNvSpPr>
              <p:nvPr/>
            </p:nvSpPr>
            <p:spPr bwMode="auto">
              <a:xfrm>
                <a:off x="7309187" y="5929811"/>
                <a:ext cx="366663" cy="371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77" name="Line 180"/>
              <p:cNvSpPr>
                <a:spLocks noChangeShapeType="1"/>
              </p:cNvSpPr>
              <p:nvPr/>
            </p:nvSpPr>
            <p:spPr bwMode="auto">
              <a:xfrm>
                <a:off x="7922577" y="5929811"/>
                <a:ext cx="339249" cy="371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78" name="Line 181"/>
              <p:cNvSpPr>
                <a:spLocks noChangeShapeType="1"/>
              </p:cNvSpPr>
              <p:nvPr/>
            </p:nvSpPr>
            <p:spPr bwMode="auto">
              <a:xfrm>
                <a:off x="6754052" y="5996602"/>
                <a:ext cx="366663" cy="185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79" name="Freeform 182"/>
              <p:cNvSpPr>
                <a:spLocks/>
              </p:cNvSpPr>
              <p:nvPr/>
            </p:nvSpPr>
            <p:spPr bwMode="auto">
              <a:xfrm>
                <a:off x="6445644" y="5864876"/>
                <a:ext cx="61682" cy="64936"/>
              </a:xfrm>
              <a:custGeom>
                <a:avLst/>
                <a:gdLst>
                  <a:gd name="T0" fmla="*/ 0 w 36"/>
                  <a:gd name="T1" fmla="*/ 35 h 35"/>
                  <a:gd name="T2" fmla="*/ 0 w 36"/>
                  <a:gd name="T3" fmla="*/ 0 h 35"/>
                  <a:gd name="T4" fmla="*/ 36 w 36"/>
                  <a:gd name="T5" fmla="*/ 0 h 35"/>
                  <a:gd name="T6" fmla="*/ 0 60000 65536"/>
                  <a:gd name="T7" fmla="*/ 0 60000 65536"/>
                  <a:gd name="T8" fmla="*/ 0 60000 65536"/>
                  <a:gd name="T9" fmla="*/ 0 w 36"/>
                  <a:gd name="T10" fmla="*/ 0 h 35"/>
                  <a:gd name="T11" fmla="*/ 36 w 36"/>
                  <a:gd name="T12" fmla="*/ 35 h 3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6" h="35">
                    <a:moveTo>
                      <a:pt x="0" y="35"/>
                    </a:moveTo>
                    <a:lnTo>
                      <a:pt x="0" y="0"/>
                    </a:lnTo>
                    <a:lnTo>
                      <a:pt x="36" y="0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80" name="Freeform 183"/>
              <p:cNvSpPr>
                <a:spLocks/>
              </p:cNvSpPr>
              <p:nvPr/>
            </p:nvSpPr>
            <p:spPr bwMode="auto">
              <a:xfrm>
                <a:off x="7614169" y="5929811"/>
                <a:ext cx="433485" cy="202228"/>
              </a:xfrm>
              <a:custGeom>
                <a:avLst/>
                <a:gdLst>
                  <a:gd name="T0" fmla="*/ 0 w 253"/>
                  <a:gd name="T1" fmla="*/ 0 h 109"/>
                  <a:gd name="T2" fmla="*/ 2 w 253"/>
                  <a:gd name="T3" fmla="*/ 109 h 109"/>
                  <a:gd name="T4" fmla="*/ 217 w 253"/>
                  <a:gd name="T5" fmla="*/ 109 h 109"/>
                  <a:gd name="T6" fmla="*/ 217 w 253"/>
                  <a:gd name="T7" fmla="*/ 36 h 109"/>
                  <a:gd name="T8" fmla="*/ 253 w 253"/>
                  <a:gd name="T9" fmla="*/ 36 h 10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3"/>
                  <a:gd name="T16" fmla="*/ 0 h 109"/>
                  <a:gd name="T17" fmla="*/ 253 w 253"/>
                  <a:gd name="T18" fmla="*/ 109 h 10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3" h="109">
                    <a:moveTo>
                      <a:pt x="0" y="0"/>
                    </a:moveTo>
                    <a:lnTo>
                      <a:pt x="2" y="109"/>
                    </a:lnTo>
                    <a:lnTo>
                      <a:pt x="217" y="109"/>
                    </a:lnTo>
                    <a:lnTo>
                      <a:pt x="217" y="36"/>
                    </a:lnTo>
                    <a:lnTo>
                      <a:pt x="253" y="36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81" name="Freeform 184"/>
              <p:cNvSpPr>
                <a:spLocks/>
              </p:cNvSpPr>
              <p:nvPr/>
            </p:nvSpPr>
            <p:spPr bwMode="auto">
              <a:xfrm>
                <a:off x="6291440" y="5666359"/>
                <a:ext cx="94236" cy="532471"/>
              </a:xfrm>
              <a:custGeom>
                <a:avLst/>
                <a:gdLst>
                  <a:gd name="T0" fmla="*/ 53 w 55"/>
                  <a:gd name="T1" fmla="*/ 285 h 287"/>
                  <a:gd name="T2" fmla="*/ 55 w 55"/>
                  <a:gd name="T3" fmla="*/ 0 h 287"/>
                  <a:gd name="T4" fmla="*/ 0 w 55"/>
                  <a:gd name="T5" fmla="*/ 0 h 287"/>
                  <a:gd name="T6" fmla="*/ 0 w 55"/>
                  <a:gd name="T7" fmla="*/ 287 h 287"/>
                  <a:gd name="T8" fmla="*/ 55 w 55"/>
                  <a:gd name="T9" fmla="*/ 287 h 287"/>
                  <a:gd name="T10" fmla="*/ 55 w 55"/>
                  <a:gd name="T11" fmla="*/ 287 h 287"/>
                  <a:gd name="T12" fmla="*/ 53 w 55"/>
                  <a:gd name="T13" fmla="*/ 285 h 28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55"/>
                  <a:gd name="T22" fmla="*/ 0 h 287"/>
                  <a:gd name="T23" fmla="*/ 55 w 55"/>
                  <a:gd name="T24" fmla="*/ 287 h 28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55" h="287">
                    <a:moveTo>
                      <a:pt x="53" y="285"/>
                    </a:moveTo>
                    <a:lnTo>
                      <a:pt x="55" y="0"/>
                    </a:lnTo>
                    <a:lnTo>
                      <a:pt x="0" y="0"/>
                    </a:lnTo>
                    <a:lnTo>
                      <a:pt x="0" y="287"/>
                    </a:lnTo>
                    <a:lnTo>
                      <a:pt x="55" y="287"/>
                    </a:lnTo>
                    <a:lnTo>
                      <a:pt x="53" y="285"/>
                    </a:lnTo>
                    <a:close/>
                  </a:path>
                </a:pathLst>
              </a:custGeom>
              <a:solidFill>
                <a:srgbClr val="CCCC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82" name="Freeform 185"/>
              <p:cNvSpPr>
                <a:spLocks/>
              </p:cNvSpPr>
              <p:nvPr/>
            </p:nvSpPr>
            <p:spPr bwMode="auto">
              <a:xfrm>
                <a:off x="6291440" y="5666359"/>
                <a:ext cx="94236" cy="532471"/>
              </a:xfrm>
              <a:custGeom>
                <a:avLst/>
                <a:gdLst>
                  <a:gd name="T0" fmla="*/ 53 w 55"/>
                  <a:gd name="T1" fmla="*/ 285 h 287"/>
                  <a:gd name="T2" fmla="*/ 55 w 55"/>
                  <a:gd name="T3" fmla="*/ 0 h 287"/>
                  <a:gd name="T4" fmla="*/ 0 w 55"/>
                  <a:gd name="T5" fmla="*/ 0 h 287"/>
                  <a:gd name="T6" fmla="*/ 0 w 55"/>
                  <a:gd name="T7" fmla="*/ 287 h 287"/>
                  <a:gd name="T8" fmla="*/ 55 w 55"/>
                  <a:gd name="T9" fmla="*/ 287 h 287"/>
                  <a:gd name="T10" fmla="*/ 55 w 55"/>
                  <a:gd name="T11" fmla="*/ 287 h 28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55"/>
                  <a:gd name="T19" fmla="*/ 0 h 287"/>
                  <a:gd name="T20" fmla="*/ 55 w 55"/>
                  <a:gd name="T21" fmla="*/ 287 h 28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55" h="287">
                    <a:moveTo>
                      <a:pt x="53" y="285"/>
                    </a:moveTo>
                    <a:lnTo>
                      <a:pt x="55" y="0"/>
                    </a:lnTo>
                    <a:lnTo>
                      <a:pt x="0" y="0"/>
                    </a:lnTo>
                    <a:lnTo>
                      <a:pt x="0" y="287"/>
                    </a:lnTo>
                    <a:lnTo>
                      <a:pt x="55" y="287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83" name="Freeform 186"/>
              <p:cNvSpPr>
                <a:spLocks/>
              </p:cNvSpPr>
              <p:nvPr/>
            </p:nvSpPr>
            <p:spPr bwMode="auto">
              <a:xfrm>
                <a:off x="6879129" y="5666359"/>
                <a:ext cx="90809" cy="532471"/>
              </a:xfrm>
              <a:custGeom>
                <a:avLst/>
                <a:gdLst>
                  <a:gd name="T0" fmla="*/ 51 w 53"/>
                  <a:gd name="T1" fmla="*/ 285 h 287"/>
                  <a:gd name="T2" fmla="*/ 53 w 53"/>
                  <a:gd name="T3" fmla="*/ 0 h 287"/>
                  <a:gd name="T4" fmla="*/ 0 w 53"/>
                  <a:gd name="T5" fmla="*/ 0 h 287"/>
                  <a:gd name="T6" fmla="*/ 0 w 53"/>
                  <a:gd name="T7" fmla="*/ 287 h 287"/>
                  <a:gd name="T8" fmla="*/ 53 w 53"/>
                  <a:gd name="T9" fmla="*/ 287 h 287"/>
                  <a:gd name="T10" fmla="*/ 53 w 53"/>
                  <a:gd name="T11" fmla="*/ 287 h 287"/>
                  <a:gd name="T12" fmla="*/ 51 w 53"/>
                  <a:gd name="T13" fmla="*/ 285 h 28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53"/>
                  <a:gd name="T22" fmla="*/ 0 h 287"/>
                  <a:gd name="T23" fmla="*/ 53 w 53"/>
                  <a:gd name="T24" fmla="*/ 287 h 28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53" h="287">
                    <a:moveTo>
                      <a:pt x="51" y="285"/>
                    </a:moveTo>
                    <a:lnTo>
                      <a:pt x="53" y="0"/>
                    </a:lnTo>
                    <a:lnTo>
                      <a:pt x="0" y="0"/>
                    </a:lnTo>
                    <a:lnTo>
                      <a:pt x="0" y="287"/>
                    </a:lnTo>
                    <a:lnTo>
                      <a:pt x="53" y="287"/>
                    </a:lnTo>
                    <a:lnTo>
                      <a:pt x="51" y="285"/>
                    </a:lnTo>
                    <a:close/>
                  </a:path>
                </a:pathLst>
              </a:custGeom>
              <a:solidFill>
                <a:srgbClr val="CCCC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84" name="Freeform 187"/>
              <p:cNvSpPr>
                <a:spLocks/>
              </p:cNvSpPr>
              <p:nvPr/>
            </p:nvSpPr>
            <p:spPr bwMode="auto">
              <a:xfrm>
                <a:off x="6879129" y="5666359"/>
                <a:ext cx="90809" cy="532471"/>
              </a:xfrm>
              <a:custGeom>
                <a:avLst/>
                <a:gdLst>
                  <a:gd name="T0" fmla="*/ 51 w 53"/>
                  <a:gd name="T1" fmla="*/ 285 h 287"/>
                  <a:gd name="T2" fmla="*/ 53 w 53"/>
                  <a:gd name="T3" fmla="*/ 0 h 287"/>
                  <a:gd name="T4" fmla="*/ 0 w 53"/>
                  <a:gd name="T5" fmla="*/ 0 h 287"/>
                  <a:gd name="T6" fmla="*/ 0 w 53"/>
                  <a:gd name="T7" fmla="*/ 287 h 287"/>
                  <a:gd name="T8" fmla="*/ 53 w 53"/>
                  <a:gd name="T9" fmla="*/ 287 h 287"/>
                  <a:gd name="T10" fmla="*/ 53 w 53"/>
                  <a:gd name="T11" fmla="*/ 287 h 28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53"/>
                  <a:gd name="T19" fmla="*/ 0 h 287"/>
                  <a:gd name="T20" fmla="*/ 53 w 53"/>
                  <a:gd name="T21" fmla="*/ 287 h 28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53" h="287">
                    <a:moveTo>
                      <a:pt x="51" y="285"/>
                    </a:moveTo>
                    <a:lnTo>
                      <a:pt x="53" y="0"/>
                    </a:lnTo>
                    <a:lnTo>
                      <a:pt x="0" y="0"/>
                    </a:lnTo>
                    <a:lnTo>
                      <a:pt x="0" y="287"/>
                    </a:lnTo>
                    <a:lnTo>
                      <a:pt x="53" y="287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85" name="Freeform 188"/>
              <p:cNvSpPr>
                <a:spLocks/>
              </p:cNvSpPr>
              <p:nvPr/>
            </p:nvSpPr>
            <p:spPr bwMode="auto">
              <a:xfrm>
                <a:off x="7463391" y="5666359"/>
                <a:ext cx="92523" cy="532471"/>
              </a:xfrm>
              <a:custGeom>
                <a:avLst/>
                <a:gdLst>
                  <a:gd name="T0" fmla="*/ 52 w 54"/>
                  <a:gd name="T1" fmla="*/ 285 h 287"/>
                  <a:gd name="T2" fmla="*/ 54 w 54"/>
                  <a:gd name="T3" fmla="*/ 0 h 287"/>
                  <a:gd name="T4" fmla="*/ 0 w 54"/>
                  <a:gd name="T5" fmla="*/ 0 h 287"/>
                  <a:gd name="T6" fmla="*/ 0 w 54"/>
                  <a:gd name="T7" fmla="*/ 287 h 287"/>
                  <a:gd name="T8" fmla="*/ 54 w 54"/>
                  <a:gd name="T9" fmla="*/ 287 h 287"/>
                  <a:gd name="T10" fmla="*/ 54 w 54"/>
                  <a:gd name="T11" fmla="*/ 287 h 287"/>
                  <a:gd name="T12" fmla="*/ 52 w 54"/>
                  <a:gd name="T13" fmla="*/ 285 h 28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54"/>
                  <a:gd name="T22" fmla="*/ 0 h 287"/>
                  <a:gd name="T23" fmla="*/ 54 w 54"/>
                  <a:gd name="T24" fmla="*/ 287 h 28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54" h="287">
                    <a:moveTo>
                      <a:pt x="52" y="285"/>
                    </a:moveTo>
                    <a:lnTo>
                      <a:pt x="54" y="0"/>
                    </a:lnTo>
                    <a:lnTo>
                      <a:pt x="0" y="0"/>
                    </a:lnTo>
                    <a:lnTo>
                      <a:pt x="0" y="287"/>
                    </a:lnTo>
                    <a:lnTo>
                      <a:pt x="54" y="287"/>
                    </a:lnTo>
                    <a:lnTo>
                      <a:pt x="52" y="285"/>
                    </a:lnTo>
                    <a:close/>
                  </a:path>
                </a:pathLst>
              </a:custGeom>
              <a:solidFill>
                <a:srgbClr val="CCCC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86" name="Freeform 189"/>
              <p:cNvSpPr>
                <a:spLocks/>
              </p:cNvSpPr>
              <p:nvPr/>
            </p:nvSpPr>
            <p:spPr bwMode="auto">
              <a:xfrm>
                <a:off x="7463391" y="5666359"/>
                <a:ext cx="92523" cy="532471"/>
              </a:xfrm>
              <a:custGeom>
                <a:avLst/>
                <a:gdLst>
                  <a:gd name="T0" fmla="*/ 52 w 54"/>
                  <a:gd name="T1" fmla="*/ 285 h 287"/>
                  <a:gd name="T2" fmla="*/ 54 w 54"/>
                  <a:gd name="T3" fmla="*/ 0 h 287"/>
                  <a:gd name="T4" fmla="*/ 0 w 54"/>
                  <a:gd name="T5" fmla="*/ 0 h 287"/>
                  <a:gd name="T6" fmla="*/ 0 w 54"/>
                  <a:gd name="T7" fmla="*/ 287 h 287"/>
                  <a:gd name="T8" fmla="*/ 54 w 54"/>
                  <a:gd name="T9" fmla="*/ 287 h 287"/>
                  <a:gd name="T10" fmla="*/ 54 w 54"/>
                  <a:gd name="T11" fmla="*/ 287 h 28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54"/>
                  <a:gd name="T19" fmla="*/ 0 h 287"/>
                  <a:gd name="T20" fmla="*/ 54 w 54"/>
                  <a:gd name="T21" fmla="*/ 287 h 28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54" h="287">
                    <a:moveTo>
                      <a:pt x="52" y="285"/>
                    </a:moveTo>
                    <a:lnTo>
                      <a:pt x="54" y="0"/>
                    </a:lnTo>
                    <a:lnTo>
                      <a:pt x="0" y="0"/>
                    </a:lnTo>
                    <a:lnTo>
                      <a:pt x="0" y="287"/>
                    </a:lnTo>
                    <a:lnTo>
                      <a:pt x="54" y="287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87" name="Freeform 190"/>
              <p:cNvSpPr>
                <a:spLocks/>
              </p:cNvSpPr>
              <p:nvPr/>
            </p:nvSpPr>
            <p:spPr bwMode="auto">
              <a:xfrm>
                <a:off x="8047654" y="5666359"/>
                <a:ext cx="92523" cy="532471"/>
              </a:xfrm>
              <a:custGeom>
                <a:avLst/>
                <a:gdLst>
                  <a:gd name="T0" fmla="*/ 54 w 54"/>
                  <a:gd name="T1" fmla="*/ 285 h 287"/>
                  <a:gd name="T2" fmla="*/ 54 w 54"/>
                  <a:gd name="T3" fmla="*/ 0 h 287"/>
                  <a:gd name="T4" fmla="*/ 0 w 54"/>
                  <a:gd name="T5" fmla="*/ 0 h 287"/>
                  <a:gd name="T6" fmla="*/ 0 w 54"/>
                  <a:gd name="T7" fmla="*/ 287 h 287"/>
                  <a:gd name="T8" fmla="*/ 54 w 54"/>
                  <a:gd name="T9" fmla="*/ 287 h 287"/>
                  <a:gd name="T10" fmla="*/ 54 w 54"/>
                  <a:gd name="T11" fmla="*/ 287 h 287"/>
                  <a:gd name="T12" fmla="*/ 54 w 54"/>
                  <a:gd name="T13" fmla="*/ 285 h 28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54"/>
                  <a:gd name="T22" fmla="*/ 0 h 287"/>
                  <a:gd name="T23" fmla="*/ 54 w 54"/>
                  <a:gd name="T24" fmla="*/ 287 h 28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54" h="287">
                    <a:moveTo>
                      <a:pt x="54" y="285"/>
                    </a:moveTo>
                    <a:lnTo>
                      <a:pt x="54" y="0"/>
                    </a:lnTo>
                    <a:lnTo>
                      <a:pt x="0" y="0"/>
                    </a:lnTo>
                    <a:lnTo>
                      <a:pt x="0" y="287"/>
                    </a:lnTo>
                    <a:lnTo>
                      <a:pt x="54" y="287"/>
                    </a:lnTo>
                    <a:lnTo>
                      <a:pt x="54" y="285"/>
                    </a:lnTo>
                    <a:close/>
                  </a:path>
                </a:pathLst>
              </a:custGeom>
              <a:solidFill>
                <a:srgbClr val="CCCC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88" name="Freeform 191"/>
              <p:cNvSpPr>
                <a:spLocks/>
              </p:cNvSpPr>
              <p:nvPr/>
            </p:nvSpPr>
            <p:spPr bwMode="auto">
              <a:xfrm>
                <a:off x="8047654" y="5666359"/>
                <a:ext cx="92523" cy="532471"/>
              </a:xfrm>
              <a:custGeom>
                <a:avLst/>
                <a:gdLst>
                  <a:gd name="T0" fmla="*/ 54 w 54"/>
                  <a:gd name="T1" fmla="*/ 285 h 287"/>
                  <a:gd name="T2" fmla="*/ 54 w 54"/>
                  <a:gd name="T3" fmla="*/ 0 h 287"/>
                  <a:gd name="T4" fmla="*/ 0 w 54"/>
                  <a:gd name="T5" fmla="*/ 0 h 287"/>
                  <a:gd name="T6" fmla="*/ 0 w 54"/>
                  <a:gd name="T7" fmla="*/ 287 h 287"/>
                  <a:gd name="T8" fmla="*/ 54 w 54"/>
                  <a:gd name="T9" fmla="*/ 287 h 287"/>
                  <a:gd name="T10" fmla="*/ 54 w 54"/>
                  <a:gd name="T11" fmla="*/ 287 h 28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54"/>
                  <a:gd name="T19" fmla="*/ 0 h 287"/>
                  <a:gd name="T20" fmla="*/ 54 w 54"/>
                  <a:gd name="T21" fmla="*/ 287 h 28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54" h="287">
                    <a:moveTo>
                      <a:pt x="54" y="285"/>
                    </a:moveTo>
                    <a:lnTo>
                      <a:pt x="54" y="0"/>
                    </a:lnTo>
                    <a:lnTo>
                      <a:pt x="0" y="0"/>
                    </a:lnTo>
                    <a:lnTo>
                      <a:pt x="0" y="287"/>
                    </a:lnTo>
                    <a:lnTo>
                      <a:pt x="54" y="287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89" name="Freeform 192"/>
              <p:cNvSpPr>
                <a:spLocks/>
              </p:cNvSpPr>
              <p:nvPr/>
            </p:nvSpPr>
            <p:spPr bwMode="auto">
              <a:xfrm>
                <a:off x="5338801" y="3401036"/>
                <a:ext cx="245013" cy="265308"/>
              </a:xfrm>
              <a:custGeom>
                <a:avLst/>
                <a:gdLst>
                  <a:gd name="T0" fmla="*/ 141 w 143"/>
                  <a:gd name="T1" fmla="*/ 143 h 143"/>
                  <a:gd name="T2" fmla="*/ 143 w 143"/>
                  <a:gd name="T3" fmla="*/ 0 h 143"/>
                  <a:gd name="T4" fmla="*/ 0 w 143"/>
                  <a:gd name="T5" fmla="*/ 0 h 143"/>
                  <a:gd name="T6" fmla="*/ 0 w 143"/>
                  <a:gd name="T7" fmla="*/ 143 h 143"/>
                  <a:gd name="T8" fmla="*/ 143 w 143"/>
                  <a:gd name="T9" fmla="*/ 143 h 143"/>
                  <a:gd name="T10" fmla="*/ 143 w 143"/>
                  <a:gd name="T11" fmla="*/ 143 h 14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3"/>
                  <a:gd name="T19" fmla="*/ 0 h 143"/>
                  <a:gd name="T20" fmla="*/ 143 w 143"/>
                  <a:gd name="T21" fmla="*/ 143 h 14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3" h="143">
                    <a:moveTo>
                      <a:pt x="141" y="143"/>
                    </a:moveTo>
                    <a:lnTo>
                      <a:pt x="143" y="0"/>
                    </a:lnTo>
                    <a:lnTo>
                      <a:pt x="0" y="0"/>
                    </a:lnTo>
                    <a:lnTo>
                      <a:pt x="0" y="143"/>
                    </a:lnTo>
                    <a:lnTo>
                      <a:pt x="143" y="143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90" name="Rectangle 193"/>
              <p:cNvSpPr>
                <a:spLocks noChangeArrowheads="1"/>
              </p:cNvSpPr>
              <p:nvPr/>
            </p:nvSpPr>
            <p:spPr bwMode="auto">
              <a:xfrm>
                <a:off x="5378208" y="3454840"/>
                <a:ext cx="62518" cy="1231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D</a:t>
                </a:r>
                <a:endParaRPr lang="en-US" sz="1200" b="1">
                  <a:latin typeface="+mj-lt"/>
                </a:endParaRPr>
              </a:p>
            </p:txBody>
          </p:sp>
          <p:sp>
            <p:nvSpPr>
              <p:cNvPr id="191" name="Rectangle 194"/>
              <p:cNvSpPr>
                <a:spLocks noChangeArrowheads="1"/>
              </p:cNvSpPr>
              <p:nvPr/>
            </p:nvSpPr>
            <p:spPr bwMode="auto">
              <a:xfrm>
                <a:off x="5457024" y="3454840"/>
                <a:ext cx="88166" cy="1231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M</a:t>
                </a:r>
                <a:endParaRPr lang="en-US" sz="1200" b="1">
                  <a:latin typeface="+mj-lt"/>
                </a:endParaRPr>
              </a:p>
            </p:txBody>
          </p:sp>
          <p:sp>
            <p:nvSpPr>
              <p:cNvPr id="192" name="Line 195"/>
              <p:cNvSpPr>
                <a:spLocks noChangeShapeType="1"/>
              </p:cNvSpPr>
              <p:nvPr/>
            </p:nvSpPr>
            <p:spPr bwMode="auto">
              <a:xfrm>
                <a:off x="5580387" y="3530907"/>
                <a:ext cx="125077" cy="371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93" name="Rectangle 196"/>
              <p:cNvSpPr>
                <a:spLocks noChangeArrowheads="1"/>
              </p:cNvSpPr>
              <p:nvPr/>
            </p:nvSpPr>
            <p:spPr bwMode="auto">
              <a:xfrm>
                <a:off x="5955617" y="3408458"/>
                <a:ext cx="56106" cy="1231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>
                    <a:solidFill>
                      <a:srgbClr val="EB7500"/>
                    </a:solidFill>
                    <a:latin typeface="+mj-lt"/>
                  </a:rPr>
                  <a:t>R</a:t>
                </a:r>
                <a:endParaRPr lang="en-US" sz="1200" b="1">
                  <a:latin typeface="+mj-lt"/>
                </a:endParaRPr>
              </a:p>
            </p:txBody>
          </p:sp>
          <p:sp>
            <p:nvSpPr>
              <p:cNvPr id="194" name="Rectangle 197"/>
              <p:cNvSpPr>
                <a:spLocks noChangeArrowheads="1"/>
              </p:cNvSpPr>
              <p:nvPr/>
            </p:nvSpPr>
            <p:spPr bwMode="auto">
              <a:xfrm>
                <a:off x="6034433" y="3408458"/>
                <a:ext cx="51296" cy="1231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 dirty="0">
                    <a:solidFill>
                      <a:srgbClr val="EB7500"/>
                    </a:solidFill>
                    <a:latin typeface="+mj-lt"/>
                  </a:rPr>
                  <a:t>e</a:t>
                </a:r>
                <a:endParaRPr lang="en-US" sz="1200" b="1" dirty="0">
                  <a:latin typeface="+mj-lt"/>
                </a:endParaRPr>
              </a:p>
            </p:txBody>
          </p:sp>
          <p:sp>
            <p:nvSpPr>
              <p:cNvPr id="195" name="Rectangle 198"/>
              <p:cNvSpPr>
                <a:spLocks noChangeArrowheads="1"/>
              </p:cNvSpPr>
              <p:nvPr/>
            </p:nvSpPr>
            <p:spPr bwMode="auto">
              <a:xfrm>
                <a:off x="6096114" y="3408458"/>
                <a:ext cx="48090" cy="1231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>
                    <a:solidFill>
                      <a:srgbClr val="EB7500"/>
                    </a:solidFill>
                    <a:latin typeface="+mj-lt"/>
                  </a:rPr>
                  <a:t>g</a:t>
                </a:r>
                <a:endParaRPr lang="en-US" sz="1200" b="1">
                  <a:latin typeface="+mj-lt"/>
                </a:endParaRPr>
              </a:p>
            </p:txBody>
          </p:sp>
          <p:sp>
            <p:nvSpPr>
              <p:cNvPr id="196" name="Rectangle 199"/>
              <p:cNvSpPr>
                <a:spLocks noChangeArrowheads="1"/>
              </p:cNvSpPr>
              <p:nvPr/>
            </p:nvSpPr>
            <p:spPr bwMode="auto">
              <a:xfrm>
                <a:off x="4787092" y="4093064"/>
                <a:ext cx="56106" cy="1231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>
                    <a:solidFill>
                      <a:srgbClr val="EB7500"/>
                    </a:solidFill>
                    <a:latin typeface="+mj-lt"/>
                  </a:rPr>
                  <a:t>R</a:t>
                </a:r>
                <a:endParaRPr lang="en-US" sz="1200" b="1">
                  <a:latin typeface="+mj-lt"/>
                </a:endParaRPr>
              </a:p>
            </p:txBody>
          </p:sp>
          <p:sp>
            <p:nvSpPr>
              <p:cNvPr id="197" name="Rectangle 200"/>
              <p:cNvSpPr>
                <a:spLocks noChangeArrowheads="1"/>
              </p:cNvSpPr>
              <p:nvPr/>
            </p:nvSpPr>
            <p:spPr bwMode="auto">
              <a:xfrm>
                <a:off x="4865908" y="4093064"/>
                <a:ext cx="51296" cy="1231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>
                    <a:solidFill>
                      <a:srgbClr val="EB7500"/>
                    </a:solidFill>
                    <a:latin typeface="+mj-lt"/>
                  </a:rPr>
                  <a:t>e</a:t>
                </a:r>
                <a:endParaRPr lang="en-US" sz="1200" b="1">
                  <a:latin typeface="+mj-lt"/>
                </a:endParaRPr>
              </a:p>
            </p:txBody>
          </p:sp>
          <p:sp>
            <p:nvSpPr>
              <p:cNvPr id="198" name="Rectangle 201"/>
              <p:cNvSpPr>
                <a:spLocks noChangeArrowheads="1"/>
              </p:cNvSpPr>
              <p:nvPr/>
            </p:nvSpPr>
            <p:spPr bwMode="auto">
              <a:xfrm>
                <a:off x="4924163" y="4093064"/>
                <a:ext cx="48090" cy="1231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>
                    <a:solidFill>
                      <a:srgbClr val="EB7500"/>
                    </a:solidFill>
                    <a:latin typeface="+mj-lt"/>
                  </a:rPr>
                  <a:t>g</a:t>
                </a:r>
                <a:endParaRPr lang="en-US" sz="1200" b="1">
                  <a:latin typeface="+mj-lt"/>
                </a:endParaRPr>
              </a:p>
            </p:txBody>
          </p:sp>
          <p:sp>
            <p:nvSpPr>
              <p:cNvPr id="199" name="Line 202"/>
              <p:cNvSpPr>
                <a:spLocks noChangeShapeType="1"/>
              </p:cNvSpPr>
              <p:nvPr/>
            </p:nvSpPr>
            <p:spPr bwMode="auto">
              <a:xfrm>
                <a:off x="5213724" y="4065234"/>
                <a:ext cx="154204" cy="371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200" name="Line 203"/>
              <p:cNvSpPr>
                <a:spLocks noChangeShapeType="1"/>
              </p:cNvSpPr>
              <p:nvPr/>
            </p:nvSpPr>
            <p:spPr bwMode="auto">
              <a:xfrm>
                <a:off x="5797986" y="4799933"/>
                <a:ext cx="154204" cy="185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201" name="Rectangle 204"/>
              <p:cNvSpPr>
                <a:spLocks noChangeArrowheads="1"/>
              </p:cNvSpPr>
              <p:nvPr/>
            </p:nvSpPr>
            <p:spPr bwMode="auto">
              <a:xfrm>
                <a:off x="6536453" y="5879718"/>
                <a:ext cx="56106" cy="1231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>
                    <a:solidFill>
                      <a:srgbClr val="EB7500"/>
                    </a:solidFill>
                    <a:latin typeface="+mj-lt"/>
                  </a:rPr>
                  <a:t>R</a:t>
                </a:r>
                <a:endParaRPr lang="en-US" sz="1200" b="1">
                  <a:latin typeface="+mj-lt"/>
                </a:endParaRPr>
              </a:p>
            </p:txBody>
          </p:sp>
          <p:sp>
            <p:nvSpPr>
              <p:cNvPr id="202" name="Rectangle 205"/>
              <p:cNvSpPr>
                <a:spLocks noChangeArrowheads="1"/>
              </p:cNvSpPr>
              <p:nvPr/>
            </p:nvSpPr>
            <p:spPr bwMode="auto">
              <a:xfrm>
                <a:off x="6618695" y="5879718"/>
                <a:ext cx="51296" cy="1231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 dirty="0">
                    <a:solidFill>
                      <a:srgbClr val="EB7500"/>
                    </a:solidFill>
                    <a:latin typeface="+mj-lt"/>
                  </a:rPr>
                  <a:t>e</a:t>
                </a:r>
                <a:endParaRPr lang="en-US" sz="1200" b="1" dirty="0">
                  <a:latin typeface="+mj-lt"/>
                </a:endParaRPr>
              </a:p>
            </p:txBody>
          </p:sp>
          <p:sp>
            <p:nvSpPr>
              <p:cNvPr id="203" name="Rectangle 206"/>
              <p:cNvSpPr>
                <a:spLocks noChangeArrowheads="1"/>
              </p:cNvSpPr>
              <p:nvPr/>
            </p:nvSpPr>
            <p:spPr bwMode="auto">
              <a:xfrm>
                <a:off x="6678663" y="5879718"/>
                <a:ext cx="48090" cy="1231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>
                    <a:solidFill>
                      <a:srgbClr val="EB7500"/>
                    </a:solidFill>
                    <a:latin typeface="+mj-lt"/>
                  </a:rPr>
                  <a:t>g</a:t>
                </a:r>
                <a:endParaRPr lang="en-US" sz="1200" b="1">
                  <a:latin typeface="+mj-lt"/>
                </a:endParaRPr>
              </a:p>
            </p:txBody>
          </p:sp>
          <p:sp>
            <p:nvSpPr>
              <p:cNvPr id="204" name="Rectangle 207"/>
              <p:cNvSpPr>
                <a:spLocks noChangeArrowheads="1"/>
              </p:cNvSpPr>
              <p:nvPr/>
            </p:nvSpPr>
            <p:spPr bwMode="auto">
              <a:xfrm>
                <a:off x="5952190" y="5284167"/>
                <a:ext cx="56106" cy="1231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>
                    <a:solidFill>
                      <a:srgbClr val="EB7500"/>
                    </a:solidFill>
                    <a:latin typeface="+mj-lt"/>
                  </a:rPr>
                  <a:t>R</a:t>
                </a:r>
                <a:endParaRPr lang="en-US" sz="1200" b="1">
                  <a:latin typeface="+mj-lt"/>
                </a:endParaRPr>
              </a:p>
            </p:txBody>
          </p:sp>
          <p:sp>
            <p:nvSpPr>
              <p:cNvPr id="205" name="Rectangle 208"/>
              <p:cNvSpPr>
                <a:spLocks noChangeArrowheads="1"/>
              </p:cNvSpPr>
              <p:nvPr/>
            </p:nvSpPr>
            <p:spPr bwMode="auto">
              <a:xfrm>
                <a:off x="6031006" y="5284167"/>
                <a:ext cx="51296" cy="1231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>
                    <a:solidFill>
                      <a:srgbClr val="EB7500"/>
                    </a:solidFill>
                    <a:latin typeface="+mj-lt"/>
                  </a:rPr>
                  <a:t>e</a:t>
                </a:r>
                <a:endParaRPr lang="en-US" sz="1200" b="1">
                  <a:latin typeface="+mj-lt"/>
                </a:endParaRPr>
              </a:p>
            </p:txBody>
          </p:sp>
          <p:sp>
            <p:nvSpPr>
              <p:cNvPr id="206" name="Rectangle 209"/>
              <p:cNvSpPr>
                <a:spLocks noChangeArrowheads="1"/>
              </p:cNvSpPr>
              <p:nvPr/>
            </p:nvSpPr>
            <p:spPr bwMode="auto">
              <a:xfrm>
                <a:off x="6092688" y="5284167"/>
                <a:ext cx="48090" cy="1231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>
                    <a:solidFill>
                      <a:srgbClr val="EB7500"/>
                    </a:solidFill>
                    <a:latin typeface="+mj-lt"/>
                  </a:rPr>
                  <a:t>g</a:t>
                </a:r>
                <a:endParaRPr lang="en-US" sz="1200" b="1">
                  <a:latin typeface="+mj-lt"/>
                </a:endParaRPr>
              </a:p>
            </p:txBody>
          </p:sp>
          <p:sp>
            <p:nvSpPr>
              <p:cNvPr id="207" name="Line 210"/>
              <p:cNvSpPr>
                <a:spLocks noChangeShapeType="1"/>
              </p:cNvSpPr>
              <p:nvPr/>
            </p:nvSpPr>
            <p:spPr bwMode="auto">
              <a:xfrm>
                <a:off x="6966511" y="5864876"/>
                <a:ext cx="154204" cy="185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208" name="Freeform 219"/>
              <p:cNvSpPr>
                <a:spLocks/>
              </p:cNvSpPr>
              <p:nvPr/>
            </p:nvSpPr>
            <p:spPr bwMode="auto">
              <a:xfrm>
                <a:off x="6027579" y="3529052"/>
                <a:ext cx="49688" cy="51948"/>
              </a:xfrm>
              <a:custGeom>
                <a:avLst/>
                <a:gdLst>
                  <a:gd name="T0" fmla="*/ 14 w 29"/>
                  <a:gd name="T1" fmla="*/ 26 h 28"/>
                  <a:gd name="T2" fmla="*/ 17 w 29"/>
                  <a:gd name="T3" fmla="*/ 28 h 28"/>
                  <a:gd name="T4" fmla="*/ 19 w 29"/>
                  <a:gd name="T5" fmla="*/ 26 h 28"/>
                  <a:gd name="T6" fmla="*/ 21 w 29"/>
                  <a:gd name="T7" fmla="*/ 26 h 28"/>
                  <a:gd name="T8" fmla="*/ 23 w 29"/>
                  <a:gd name="T9" fmla="*/ 24 h 28"/>
                  <a:gd name="T10" fmla="*/ 25 w 29"/>
                  <a:gd name="T11" fmla="*/ 24 h 28"/>
                  <a:gd name="T12" fmla="*/ 27 w 29"/>
                  <a:gd name="T13" fmla="*/ 22 h 28"/>
                  <a:gd name="T14" fmla="*/ 27 w 29"/>
                  <a:gd name="T15" fmla="*/ 21 h 28"/>
                  <a:gd name="T16" fmla="*/ 29 w 29"/>
                  <a:gd name="T17" fmla="*/ 19 h 28"/>
                  <a:gd name="T18" fmla="*/ 29 w 29"/>
                  <a:gd name="T19" fmla="*/ 17 h 28"/>
                  <a:gd name="T20" fmla="*/ 29 w 29"/>
                  <a:gd name="T21" fmla="*/ 13 h 28"/>
                  <a:gd name="T22" fmla="*/ 29 w 29"/>
                  <a:gd name="T23" fmla="*/ 11 h 28"/>
                  <a:gd name="T24" fmla="*/ 29 w 29"/>
                  <a:gd name="T25" fmla="*/ 9 h 28"/>
                  <a:gd name="T26" fmla="*/ 27 w 29"/>
                  <a:gd name="T27" fmla="*/ 7 h 28"/>
                  <a:gd name="T28" fmla="*/ 27 w 29"/>
                  <a:gd name="T29" fmla="*/ 5 h 28"/>
                  <a:gd name="T30" fmla="*/ 25 w 29"/>
                  <a:gd name="T31" fmla="*/ 3 h 28"/>
                  <a:gd name="T32" fmla="*/ 23 w 29"/>
                  <a:gd name="T33" fmla="*/ 1 h 28"/>
                  <a:gd name="T34" fmla="*/ 21 w 29"/>
                  <a:gd name="T35" fmla="*/ 1 h 28"/>
                  <a:gd name="T36" fmla="*/ 19 w 29"/>
                  <a:gd name="T37" fmla="*/ 0 h 28"/>
                  <a:gd name="T38" fmla="*/ 17 w 29"/>
                  <a:gd name="T39" fmla="*/ 0 h 28"/>
                  <a:gd name="T40" fmla="*/ 15 w 29"/>
                  <a:gd name="T41" fmla="*/ 0 h 28"/>
                  <a:gd name="T42" fmla="*/ 12 w 29"/>
                  <a:gd name="T43" fmla="*/ 0 h 28"/>
                  <a:gd name="T44" fmla="*/ 10 w 29"/>
                  <a:gd name="T45" fmla="*/ 0 h 28"/>
                  <a:gd name="T46" fmla="*/ 8 w 29"/>
                  <a:gd name="T47" fmla="*/ 1 h 28"/>
                  <a:gd name="T48" fmla="*/ 6 w 29"/>
                  <a:gd name="T49" fmla="*/ 1 h 28"/>
                  <a:gd name="T50" fmla="*/ 4 w 29"/>
                  <a:gd name="T51" fmla="*/ 3 h 28"/>
                  <a:gd name="T52" fmla="*/ 4 w 29"/>
                  <a:gd name="T53" fmla="*/ 5 h 28"/>
                  <a:gd name="T54" fmla="*/ 2 w 29"/>
                  <a:gd name="T55" fmla="*/ 7 h 28"/>
                  <a:gd name="T56" fmla="*/ 2 w 29"/>
                  <a:gd name="T57" fmla="*/ 9 h 28"/>
                  <a:gd name="T58" fmla="*/ 0 w 29"/>
                  <a:gd name="T59" fmla="*/ 11 h 28"/>
                  <a:gd name="T60" fmla="*/ 0 w 29"/>
                  <a:gd name="T61" fmla="*/ 13 h 28"/>
                  <a:gd name="T62" fmla="*/ 0 w 29"/>
                  <a:gd name="T63" fmla="*/ 17 h 28"/>
                  <a:gd name="T64" fmla="*/ 2 w 29"/>
                  <a:gd name="T65" fmla="*/ 19 h 28"/>
                  <a:gd name="T66" fmla="*/ 2 w 29"/>
                  <a:gd name="T67" fmla="*/ 21 h 28"/>
                  <a:gd name="T68" fmla="*/ 4 w 29"/>
                  <a:gd name="T69" fmla="*/ 22 h 28"/>
                  <a:gd name="T70" fmla="*/ 4 w 29"/>
                  <a:gd name="T71" fmla="*/ 24 h 28"/>
                  <a:gd name="T72" fmla="*/ 6 w 29"/>
                  <a:gd name="T73" fmla="*/ 24 h 28"/>
                  <a:gd name="T74" fmla="*/ 8 w 29"/>
                  <a:gd name="T75" fmla="*/ 26 h 28"/>
                  <a:gd name="T76" fmla="*/ 10 w 29"/>
                  <a:gd name="T77" fmla="*/ 26 h 28"/>
                  <a:gd name="T78" fmla="*/ 12 w 29"/>
                  <a:gd name="T79" fmla="*/ 28 h 28"/>
                  <a:gd name="T80" fmla="*/ 15 w 29"/>
                  <a:gd name="T81" fmla="*/ 28 h 28"/>
                  <a:gd name="T82" fmla="*/ 15 w 29"/>
                  <a:gd name="T83" fmla="*/ 28 h 28"/>
                  <a:gd name="T84" fmla="*/ 14 w 29"/>
                  <a:gd name="T85" fmla="*/ 26 h 28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w 29"/>
                  <a:gd name="T130" fmla="*/ 0 h 28"/>
                  <a:gd name="T131" fmla="*/ 29 w 29"/>
                  <a:gd name="T132" fmla="*/ 28 h 28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T129" t="T130" r="T131" b="T132"/>
                <a:pathLst>
                  <a:path w="29" h="28">
                    <a:moveTo>
                      <a:pt x="14" y="26"/>
                    </a:moveTo>
                    <a:lnTo>
                      <a:pt x="17" y="28"/>
                    </a:lnTo>
                    <a:lnTo>
                      <a:pt x="19" y="26"/>
                    </a:lnTo>
                    <a:lnTo>
                      <a:pt x="21" y="26"/>
                    </a:lnTo>
                    <a:lnTo>
                      <a:pt x="23" y="24"/>
                    </a:lnTo>
                    <a:lnTo>
                      <a:pt x="25" y="24"/>
                    </a:lnTo>
                    <a:lnTo>
                      <a:pt x="27" y="22"/>
                    </a:lnTo>
                    <a:lnTo>
                      <a:pt x="27" y="21"/>
                    </a:lnTo>
                    <a:lnTo>
                      <a:pt x="29" y="19"/>
                    </a:lnTo>
                    <a:lnTo>
                      <a:pt x="29" y="17"/>
                    </a:lnTo>
                    <a:lnTo>
                      <a:pt x="29" y="13"/>
                    </a:lnTo>
                    <a:lnTo>
                      <a:pt x="29" y="11"/>
                    </a:lnTo>
                    <a:lnTo>
                      <a:pt x="29" y="9"/>
                    </a:lnTo>
                    <a:lnTo>
                      <a:pt x="27" y="7"/>
                    </a:lnTo>
                    <a:lnTo>
                      <a:pt x="27" y="5"/>
                    </a:lnTo>
                    <a:lnTo>
                      <a:pt x="25" y="3"/>
                    </a:lnTo>
                    <a:lnTo>
                      <a:pt x="23" y="1"/>
                    </a:lnTo>
                    <a:lnTo>
                      <a:pt x="21" y="1"/>
                    </a:lnTo>
                    <a:lnTo>
                      <a:pt x="19" y="0"/>
                    </a:lnTo>
                    <a:lnTo>
                      <a:pt x="17" y="0"/>
                    </a:lnTo>
                    <a:lnTo>
                      <a:pt x="15" y="0"/>
                    </a:lnTo>
                    <a:lnTo>
                      <a:pt x="12" y="0"/>
                    </a:lnTo>
                    <a:lnTo>
                      <a:pt x="10" y="0"/>
                    </a:lnTo>
                    <a:lnTo>
                      <a:pt x="8" y="1"/>
                    </a:lnTo>
                    <a:lnTo>
                      <a:pt x="6" y="1"/>
                    </a:lnTo>
                    <a:lnTo>
                      <a:pt x="4" y="3"/>
                    </a:lnTo>
                    <a:lnTo>
                      <a:pt x="4" y="5"/>
                    </a:lnTo>
                    <a:lnTo>
                      <a:pt x="2" y="7"/>
                    </a:lnTo>
                    <a:lnTo>
                      <a:pt x="2" y="9"/>
                    </a:lnTo>
                    <a:lnTo>
                      <a:pt x="0" y="11"/>
                    </a:lnTo>
                    <a:lnTo>
                      <a:pt x="0" y="13"/>
                    </a:lnTo>
                    <a:lnTo>
                      <a:pt x="0" y="17"/>
                    </a:lnTo>
                    <a:lnTo>
                      <a:pt x="2" y="19"/>
                    </a:lnTo>
                    <a:lnTo>
                      <a:pt x="2" y="21"/>
                    </a:lnTo>
                    <a:lnTo>
                      <a:pt x="4" y="22"/>
                    </a:lnTo>
                    <a:lnTo>
                      <a:pt x="4" y="24"/>
                    </a:lnTo>
                    <a:lnTo>
                      <a:pt x="6" y="24"/>
                    </a:lnTo>
                    <a:lnTo>
                      <a:pt x="8" y="26"/>
                    </a:lnTo>
                    <a:lnTo>
                      <a:pt x="10" y="26"/>
                    </a:lnTo>
                    <a:lnTo>
                      <a:pt x="12" y="28"/>
                    </a:lnTo>
                    <a:lnTo>
                      <a:pt x="15" y="28"/>
                    </a:lnTo>
                    <a:lnTo>
                      <a:pt x="14" y="26"/>
                    </a:lnTo>
                    <a:close/>
                  </a:path>
                </a:pathLst>
              </a:custGeom>
              <a:solidFill>
                <a:srgbClr val="EB75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209" name="Line 220"/>
              <p:cNvSpPr>
                <a:spLocks noChangeShapeType="1"/>
              </p:cNvSpPr>
              <p:nvPr/>
            </p:nvSpPr>
            <p:spPr bwMode="auto">
              <a:xfrm>
                <a:off x="6382249" y="5265614"/>
                <a:ext cx="154204" cy="185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210" name="Line 221"/>
              <p:cNvSpPr>
                <a:spLocks noChangeShapeType="1"/>
              </p:cNvSpPr>
              <p:nvPr/>
            </p:nvSpPr>
            <p:spPr bwMode="auto">
              <a:xfrm>
                <a:off x="6382249" y="5397340"/>
                <a:ext cx="154204" cy="371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211" name="Freeform 222"/>
              <p:cNvSpPr>
                <a:spLocks/>
              </p:cNvSpPr>
              <p:nvPr/>
            </p:nvSpPr>
            <p:spPr bwMode="auto">
              <a:xfrm>
                <a:off x="5859668" y="4132025"/>
                <a:ext cx="431772" cy="202228"/>
              </a:xfrm>
              <a:custGeom>
                <a:avLst/>
                <a:gdLst>
                  <a:gd name="T0" fmla="*/ 0 w 252"/>
                  <a:gd name="T1" fmla="*/ 0 h 109"/>
                  <a:gd name="T2" fmla="*/ 0 w 252"/>
                  <a:gd name="T3" fmla="*/ 109 h 109"/>
                  <a:gd name="T4" fmla="*/ 217 w 252"/>
                  <a:gd name="T5" fmla="*/ 109 h 109"/>
                  <a:gd name="T6" fmla="*/ 217 w 252"/>
                  <a:gd name="T7" fmla="*/ 36 h 109"/>
                  <a:gd name="T8" fmla="*/ 252 w 252"/>
                  <a:gd name="T9" fmla="*/ 36 h 10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"/>
                  <a:gd name="T16" fmla="*/ 0 h 109"/>
                  <a:gd name="T17" fmla="*/ 252 w 252"/>
                  <a:gd name="T18" fmla="*/ 109 h 10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" h="109">
                    <a:moveTo>
                      <a:pt x="0" y="0"/>
                    </a:moveTo>
                    <a:lnTo>
                      <a:pt x="0" y="109"/>
                    </a:lnTo>
                    <a:lnTo>
                      <a:pt x="217" y="109"/>
                    </a:lnTo>
                    <a:lnTo>
                      <a:pt x="217" y="36"/>
                    </a:lnTo>
                    <a:lnTo>
                      <a:pt x="252" y="36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212" name="Freeform 223"/>
              <p:cNvSpPr>
                <a:spLocks/>
              </p:cNvSpPr>
              <p:nvPr/>
            </p:nvSpPr>
            <p:spPr bwMode="auto">
              <a:xfrm>
                <a:off x="5275406" y="3530907"/>
                <a:ext cx="430058" cy="204083"/>
              </a:xfrm>
              <a:custGeom>
                <a:avLst/>
                <a:gdLst>
                  <a:gd name="T0" fmla="*/ 0 w 251"/>
                  <a:gd name="T1" fmla="*/ 0 h 110"/>
                  <a:gd name="T2" fmla="*/ 0 w 251"/>
                  <a:gd name="T3" fmla="*/ 110 h 110"/>
                  <a:gd name="T4" fmla="*/ 217 w 251"/>
                  <a:gd name="T5" fmla="*/ 110 h 110"/>
                  <a:gd name="T6" fmla="*/ 217 w 251"/>
                  <a:gd name="T7" fmla="*/ 37 h 110"/>
                  <a:gd name="T8" fmla="*/ 251 w 251"/>
                  <a:gd name="T9" fmla="*/ 37 h 1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1"/>
                  <a:gd name="T16" fmla="*/ 0 h 110"/>
                  <a:gd name="T17" fmla="*/ 251 w 251"/>
                  <a:gd name="T18" fmla="*/ 110 h 1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1" h="110">
                    <a:moveTo>
                      <a:pt x="0" y="0"/>
                    </a:moveTo>
                    <a:lnTo>
                      <a:pt x="0" y="110"/>
                    </a:lnTo>
                    <a:lnTo>
                      <a:pt x="217" y="110"/>
                    </a:lnTo>
                    <a:lnTo>
                      <a:pt x="217" y="37"/>
                    </a:lnTo>
                    <a:lnTo>
                      <a:pt x="251" y="37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213" name="Freeform 224"/>
              <p:cNvSpPr>
                <a:spLocks/>
              </p:cNvSpPr>
              <p:nvPr/>
            </p:nvSpPr>
            <p:spPr bwMode="auto">
              <a:xfrm>
                <a:off x="5121201" y="3864862"/>
                <a:ext cx="95949" cy="534327"/>
              </a:xfrm>
              <a:custGeom>
                <a:avLst/>
                <a:gdLst>
                  <a:gd name="T0" fmla="*/ 54 w 56"/>
                  <a:gd name="T1" fmla="*/ 288 h 288"/>
                  <a:gd name="T2" fmla="*/ 56 w 56"/>
                  <a:gd name="T3" fmla="*/ 0 h 288"/>
                  <a:gd name="T4" fmla="*/ 0 w 56"/>
                  <a:gd name="T5" fmla="*/ 0 h 288"/>
                  <a:gd name="T6" fmla="*/ 0 w 56"/>
                  <a:gd name="T7" fmla="*/ 288 h 288"/>
                  <a:gd name="T8" fmla="*/ 56 w 56"/>
                  <a:gd name="T9" fmla="*/ 288 h 288"/>
                  <a:gd name="T10" fmla="*/ 56 w 56"/>
                  <a:gd name="T11" fmla="*/ 288 h 28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56"/>
                  <a:gd name="T19" fmla="*/ 0 h 288"/>
                  <a:gd name="T20" fmla="*/ 56 w 56"/>
                  <a:gd name="T21" fmla="*/ 288 h 28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56" h="288">
                    <a:moveTo>
                      <a:pt x="54" y="288"/>
                    </a:moveTo>
                    <a:lnTo>
                      <a:pt x="56" y="0"/>
                    </a:lnTo>
                    <a:lnTo>
                      <a:pt x="0" y="0"/>
                    </a:lnTo>
                    <a:lnTo>
                      <a:pt x="0" y="288"/>
                    </a:lnTo>
                    <a:lnTo>
                      <a:pt x="56" y="288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214" name="Freeform 225"/>
              <p:cNvSpPr>
                <a:spLocks/>
              </p:cNvSpPr>
              <p:nvPr/>
            </p:nvSpPr>
            <p:spPr bwMode="auto">
              <a:xfrm>
                <a:off x="5702037" y="3269310"/>
                <a:ext cx="95949" cy="532471"/>
              </a:xfrm>
              <a:custGeom>
                <a:avLst/>
                <a:gdLst>
                  <a:gd name="T0" fmla="*/ 54 w 56"/>
                  <a:gd name="T1" fmla="*/ 285 h 287"/>
                  <a:gd name="T2" fmla="*/ 56 w 56"/>
                  <a:gd name="T3" fmla="*/ 0 h 287"/>
                  <a:gd name="T4" fmla="*/ 0 w 56"/>
                  <a:gd name="T5" fmla="*/ 0 h 287"/>
                  <a:gd name="T6" fmla="*/ 0 w 56"/>
                  <a:gd name="T7" fmla="*/ 287 h 287"/>
                  <a:gd name="T8" fmla="*/ 56 w 56"/>
                  <a:gd name="T9" fmla="*/ 287 h 287"/>
                  <a:gd name="T10" fmla="*/ 56 w 56"/>
                  <a:gd name="T11" fmla="*/ 287 h 28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56"/>
                  <a:gd name="T19" fmla="*/ 0 h 287"/>
                  <a:gd name="T20" fmla="*/ 56 w 56"/>
                  <a:gd name="T21" fmla="*/ 287 h 28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56" h="287">
                    <a:moveTo>
                      <a:pt x="54" y="285"/>
                    </a:moveTo>
                    <a:lnTo>
                      <a:pt x="56" y="0"/>
                    </a:lnTo>
                    <a:lnTo>
                      <a:pt x="0" y="0"/>
                    </a:lnTo>
                    <a:lnTo>
                      <a:pt x="0" y="287"/>
                    </a:lnTo>
                    <a:lnTo>
                      <a:pt x="56" y="287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215" name="Freeform 226"/>
              <p:cNvSpPr>
                <a:spLocks/>
              </p:cNvSpPr>
              <p:nvPr/>
            </p:nvSpPr>
            <p:spPr bwMode="auto">
              <a:xfrm>
                <a:off x="5702037" y="3864862"/>
                <a:ext cx="95949" cy="534327"/>
              </a:xfrm>
              <a:custGeom>
                <a:avLst/>
                <a:gdLst>
                  <a:gd name="T0" fmla="*/ 54 w 56"/>
                  <a:gd name="T1" fmla="*/ 288 h 288"/>
                  <a:gd name="T2" fmla="*/ 56 w 56"/>
                  <a:gd name="T3" fmla="*/ 0 h 288"/>
                  <a:gd name="T4" fmla="*/ 0 w 56"/>
                  <a:gd name="T5" fmla="*/ 0 h 288"/>
                  <a:gd name="T6" fmla="*/ 0 w 56"/>
                  <a:gd name="T7" fmla="*/ 288 h 288"/>
                  <a:gd name="T8" fmla="*/ 56 w 56"/>
                  <a:gd name="T9" fmla="*/ 288 h 288"/>
                  <a:gd name="T10" fmla="*/ 56 w 56"/>
                  <a:gd name="T11" fmla="*/ 288 h 28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56"/>
                  <a:gd name="T19" fmla="*/ 0 h 288"/>
                  <a:gd name="T20" fmla="*/ 56 w 56"/>
                  <a:gd name="T21" fmla="*/ 288 h 28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56" h="288">
                    <a:moveTo>
                      <a:pt x="54" y="288"/>
                    </a:moveTo>
                    <a:lnTo>
                      <a:pt x="56" y="0"/>
                    </a:lnTo>
                    <a:lnTo>
                      <a:pt x="0" y="0"/>
                    </a:lnTo>
                    <a:lnTo>
                      <a:pt x="0" y="288"/>
                    </a:lnTo>
                    <a:lnTo>
                      <a:pt x="56" y="288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216" name="Freeform 227"/>
              <p:cNvSpPr>
                <a:spLocks/>
              </p:cNvSpPr>
              <p:nvPr/>
            </p:nvSpPr>
            <p:spPr bwMode="auto">
              <a:xfrm>
                <a:off x="5923063" y="4000299"/>
                <a:ext cx="246727" cy="267163"/>
              </a:xfrm>
              <a:custGeom>
                <a:avLst/>
                <a:gdLst>
                  <a:gd name="T0" fmla="*/ 144 w 144"/>
                  <a:gd name="T1" fmla="*/ 144 h 144"/>
                  <a:gd name="T2" fmla="*/ 144 w 144"/>
                  <a:gd name="T3" fmla="*/ 0 h 144"/>
                  <a:gd name="T4" fmla="*/ 0 w 144"/>
                  <a:gd name="T5" fmla="*/ 0 h 144"/>
                  <a:gd name="T6" fmla="*/ 0 w 144"/>
                  <a:gd name="T7" fmla="*/ 144 h 144"/>
                  <a:gd name="T8" fmla="*/ 144 w 144"/>
                  <a:gd name="T9" fmla="*/ 144 h 144"/>
                  <a:gd name="T10" fmla="*/ 144 w 144"/>
                  <a:gd name="T11" fmla="*/ 144 h 14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4"/>
                  <a:gd name="T19" fmla="*/ 0 h 144"/>
                  <a:gd name="T20" fmla="*/ 144 w 144"/>
                  <a:gd name="T21" fmla="*/ 144 h 144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4" h="144">
                    <a:moveTo>
                      <a:pt x="144" y="144"/>
                    </a:moveTo>
                    <a:lnTo>
                      <a:pt x="144" y="0"/>
                    </a:lnTo>
                    <a:lnTo>
                      <a:pt x="0" y="0"/>
                    </a:lnTo>
                    <a:lnTo>
                      <a:pt x="0" y="144"/>
                    </a:lnTo>
                    <a:lnTo>
                      <a:pt x="144" y="144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217" name="Rectangle 228"/>
              <p:cNvSpPr>
                <a:spLocks noChangeArrowheads="1"/>
              </p:cNvSpPr>
              <p:nvPr/>
            </p:nvSpPr>
            <p:spPr bwMode="auto">
              <a:xfrm>
                <a:off x="5962471" y="4054102"/>
                <a:ext cx="62518" cy="1231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D</a:t>
                </a:r>
                <a:endParaRPr lang="en-US" sz="1200" b="1">
                  <a:latin typeface="+mj-lt"/>
                </a:endParaRPr>
              </a:p>
            </p:txBody>
          </p:sp>
          <p:sp>
            <p:nvSpPr>
              <p:cNvPr id="218" name="Rectangle 229"/>
              <p:cNvSpPr>
                <a:spLocks noChangeArrowheads="1"/>
              </p:cNvSpPr>
              <p:nvPr/>
            </p:nvSpPr>
            <p:spPr bwMode="auto">
              <a:xfrm>
                <a:off x="6041286" y="4054102"/>
                <a:ext cx="88166" cy="1231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M</a:t>
                </a:r>
                <a:endParaRPr lang="en-US" sz="1200" b="1">
                  <a:latin typeface="+mj-lt"/>
                </a:endParaRPr>
              </a:p>
            </p:txBody>
          </p:sp>
          <p:sp>
            <p:nvSpPr>
              <p:cNvPr id="219" name="Freeform 230"/>
              <p:cNvSpPr>
                <a:spLocks/>
              </p:cNvSpPr>
              <p:nvPr/>
            </p:nvSpPr>
            <p:spPr bwMode="auto">
              <a:xfrm>
                <a:off x="5948764" y="4465979"/>
                <a:ext cx="186758" cy="528761"/>
              </a:xfrm>
              <a:custGeom>
                <a:avLst/>
                <a:gdLst>
                  <a:gd name="T0" fmla="*/ 0 w 109"/>
                  <a:gd name="T1" fmla="*/ 0 h 285"/>
                  <a:gd name="T2" fmla="*/ 2 w 109"/>
                  <a:gd name="T3" fmla="*/ 117 h 285"/>
                  <a:gd name="T4" fmla="*/ 37 w 109"/>
                  <a:gd name="T5" fmla="*/ 144 h 285"/>
                  <a:gd name="T6" fmla="*/ 2 w 109"/>
                  <a:gd name="T7" fmla="*/ 170 h 285"/>
                  <a:gd name="T8" fmla="*/ 2 w 109"/>
                  <a:gd name="T9" fmla="*/ 285 h 285"/>
                  <a:gd name="T10" fmla="*/ 109 w 109"/>
                  <a:gd name="T11" fmla="*/ 199 h 285"/>
                  <a:gd name="T12" fmla="*/ 109 w 109"/>
                  <a:gd name="T13" fmla="*/ 88 h 285"/>
                  <a:gd name="T14" fmla="*/ 2 w 109"/>
                  <a:gd name="T15" fmla="*/ 2 h 285"/>
                  <a:gd name="T16" fmla="*/ 2 w 109"/>
                  <a:gd name="T17" fmla="*/ 2 h 285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09"/>
                  <a:gd name="T28" fmla="*/ 0 h 285"/>
                  <a:gd name="T29" fmla="*/ 109 w 109"/>
                  <a:gd name="T30" fmla="*/ 285 h 285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09" h="285">
                    <a:moveTo>
                      <a:pt x="0" y="0"/>
                    </a:moveTo>
                    <a:lnTo>
                      <a:pt x="2" y="117"/>
                    </a:lnTo>
                    <a:lnTo>
                      <a:pt x="37" y="144"/>
                    </a:lnTo>
                    <a:lnTo>
                      <a:pt x="2" y="170"/>
                    </a:lnTo>
                    <a:lnTo>
                      <a:pt x="2" y="285"/>
                    </a:lnTo>
                    <a:lnTo>
                      <a:pt x="109" y="199"/>
                    </a:lnTo>
                    <a:lnTo>
                      <a:pt x="109" y="88"/>
                    </a:lnTo>
                    <a:lnTo>
                      <a:pt x="2" y="2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220" name="Freeform 231"/>
              <p:cNvSpPr>
                <a:spLocks/>
              </p:cNvSpPr>
              <p:nvPr/>
            </p:nvSpPr>
            <p:spPr bwMode="auto">
              <a:xfrm>
                <a:off x="6291440" y="4465979"/>
                <a:ext cx="94236" cy="532471"/>
              </a:xfrm>
              <a:custGeom>
                <a:avLst/>
                <a:gdLst>
                  <a:gd name="T0" fmla="*/ 53 w 55"/>
                  <a:gd name="T1" fmla="*/ 287 h 287"/>
                  <a:gd name="T2" fmla="*/ 55 w 55"/>
                  <a:gd name="T3" fmla="*/ 0 h 287"/>
                  <a:gd name="T4" fmla="*/ 0 w 55"/>
                  <a:gd name="T5" fmla="*/ 0 h 287"/>
                  <a:gd name="T6" fmla="*/ 0 w 55"/>
                  <a:gd name="T7" fmla="*/ 287 h 287"/>
                  <a:gd name="T8" fmla="*/ 55 w 55"/>
                  <a:gd name="T9" fmla="*/ 287 h 287"/>
                  <a:gd name="T10" fmla="*/ 55 w 55"/>
                  <a:gd name="T11" fmla="*/ 287 h 28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55"/>
                  <a:gd name="T19" fmla="*/ 0 h 287"/>
                  <a:gd name="T20" fmla="*/ 55 w 55"/>
                  <a:gd name="T21" fmla="*/ 287 h 28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55" h="287">
                    <a:moveTo>
                      <a:pt x="53" y="287"/>
                    </a:moveTo>
                    <a:lnTo>
                      <a:pt x="55" y="0"/>
                    </a:lnTo>
                    <a:lnTo>
                      <a:pt x="0" y="0"/>
                    </a:lnTo>
                    <a:lnTo>
                      <a:pt x="0" y="287"/>
                    </a:lnTo>
                    <a:lnTo>
                      <a:pt x="55" y="287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221" name="Freeform 232"/>
              <p:cNvSpPr>
                <a:spLocks/>
              </p:cNvSpPr>
              <p:nvPr/>
            </p:nvSpPr>
            <p:spPr bwMode="auto">
              <a:xfrm>
                <a:off x="6536453" y="5067096"/>
                <a:ext cx="188472" cy="528761"/>
              </a:xfrm>
              <a:custGeom>
                <a:avLst/>
                <a:gdLst>
                  <a:gd name="T0" fmla="*/ 0 w 110"/>
                  <a:gd name="T1" fmla="*/ 0 h 285"/>
                  <a:gd name="T2" fmla="*/ 0 w 110"/>
                  <a:gd name="T3" fmla="*/ 116 h 285"/>
                  <a:gd name="T4" fmla="*/ 35 w 110"/>
                  <a:gd name="T5" fmla="*/ 143 h 285"/>
                  <a:gd name="T6" fmla="*/ 0 w 110"/>
                  <a:gd name="T7" fmla="*/ 170 h 285"/>
                  <a:gd name="T8" fmla="*/ 0 w 110"/>
                  <a:gd name="T9" fmla="*/ 285 h 285"/>
                  <a:gd name="T10" fmla="*/ 110 w 110"/>
                  <a:gd name="T11" fmla="*/ 199 h 285"/>
                  <a:gd name="T12" fmla="*/ 110 w 110"/>
                  <a:gd name="T13" fmla="*/ 88 h 285"/>
                  <a:gd name="T14" fmla="*/ 0 w 110"/>
                  <a:gd name="T15" fmla="*/ 0 h 285"/>
                  <a:gd name="T16" fmla="*/ 0 w 110"/>
                  <a:gd name="T17" fmla="*/ 0 h 285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10"/>
                  <a:gd name="T28" fmla="*/ 0 h 285"/>
                  <a:gd name="T29" fmla="*/ 110 w 110"/>
                  <a:gd name="T30" fmla="*/ 285 h 285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10" h="285">
                    <a:moveTo>
                      <a:pt x="0" y="0"/>
                    </a:moveTo>
                    <a:lnTo>
                      <a:pt x="0" y="116"/>
                    </a:lnTo>
                    <a:lnTo>
                      <a:pt x="35" y="143"/>
                    </a:lnTo>
                    <a:lnTo>
                      <a:pt x="0" y="170"/>
                    </a:lnTo>
                    <a:lnTo>
                      <a:pt x="0" y="285"/>
                    </a:lnTo>
                    <a:lnTo>
                      <a:pt x="110" y="199"/>
                    </a:lnTo>
                    <a:lnTo>
                      <a:pt x="110" y="88"/>
                    </a:lnTo>
                    <a:lnTo>
                      <a:pt x="0" y="0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</p:grpSp>
      </p:grpSp>
      <p:sp>
        <p:nvSpPr>
          <p:cNvPr id="262" name="Line 214"/>
          <p:cNvSpPr>
            <a:spLocks noChangeShapeType="1"/>
          </p:cNvSpPr>
          <p:nvPr/>
        </p:nvSpPr>
        <p:spPr bwMode="auto">
          <a:xfrm>
            <a:off x="5169174" y="3214974"/>
            <a:ext cx="121651" cy="519485"/>
          </a:xfrm>
          <a:prstGeom prst="line">
            <a:avLst/>
          </a:prstGeom>
          <a:noFill/>
          <a:ln w="38100">
            <a:solidFill>
              <a:srgbClr val="00B050"/>
            </a:solidFill>
            <a:prstDash val="solid"/>
            <a:round/>
            <a:headEnd type="diamond" w="med" len="med"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>
              <a:latin typeface="Neo Sans Intel"/>
            </a:endParaRPr>
          </a:p>
        </p:txBody>
      </p:sp>
      <p:sp>
        <p:nvSpPr>
          <p:cNvPr id="264" name="Line 214"/>
          <p:cNvSpPr>
            <a:spLocks noChangeShapeType="1"/>
          </p:cNvSpPr>
          <p:nvPr/>
        </p:nvSpPr>
        <p:spPr bwMode="auto">
          <a:xfrm>
            <a:off x="5759531" y="3185290"/>
            <a:ext cx="131834" cy="1100193"/>
          </a:xfrm>
          <a:prstGeom prst="line">
            <a:avLst/>
          </a:prstGeom>
          <a:noFill/>
          <a:ln w="38100">
            <a:solidFill>
              <a:srgbClr val="00B050"/>
            </a:solidFill>
            <a:prstDash val="solid"/>
            <a:round/>
            <a:headEnd type="diamond" w="med" len="med"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>
              <a:latin typeface="Neo Sans Intel"/>
            </a:endParaRPr>
          </a:p>
        </p:txBody>
      </p:sp>
      <p:sp>
        <p:nvSpPr>
          <p:cNvPr id="265" name="Line 214"/>
          <p:cNvSpPr>
            <a:spLocks noChangeShapeType="1"/>
          </p:cNvSpPr>
          <p:nvPr/>
        </p:nvSpPr>
        <p:spPr bwMode="auto">
          <a:xfrm>
            <a:off x="6044714" y="3185289"/>
            <a:ext cx="246726" cy="1699457"/>
          </a:xfrm>
          <a:prstGeom prst="line">
            <a:avLst/>
          </a:prstGeom>
          <a:noFill/>
          <a:ln w="38100">
            <a:solidFill>
              <a:srgbClr val="00B050"/>
            </a:solidFill>
            <a:prstDash val="sysDash"/>
            <a:round/>
            <a:headEnd type="diamond" w="med" len="med"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>
              <a:latin typeface="Neo Sans Intel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8050689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62" grpId="0" animBg="1"/>
      <p:bldP spid="264" grpId="0" animBg="1"/>
      <p:bldP spid="265" grpId="0" animBg="1"/>
    </p:bldLst>
  </p:timing>
  <p:extLst mod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8"/>
          <p:cNvSpPr>
            <a:spLocks noGrp="1" noChangeArrowheads="1"/>
          </p:cNvSpPr>
          <p:nvPr>
            <p:ph type="title"/>
          </p:nvPr>
        </p:nvSpPr>
        <p:spPr>
          <a:xfrm>
            <a:off x="869950" y="1587"/>
            <a:ext cx="7391400" cy="836613"/>
          </a:xfrm>
        </p:spPr>
        <p:txBody>
          <a:bodyPr/>
          <a:lstStyle/>
          <a:p>
            <a:r>
              <a:rPr lang="en-US" sz="3200" dirty="0" smtClean="0">
                <a:solidFill>
                  <a:srgbClr val="0070C0"/>
                </a:solidFill>
              </a:rPr>
              <a:t>Forwarding Hardware</a:t>
            </a:r>
          </a:p>
        </p:txBody>
      </p:sp>
      <p:grpSp>
        <p:nvGrpSpPr>
          <p:cNvPr id="4" name="Group 184"/>
          <p:cNvGrpSpPr>
            <a:grpSpLocks/>
          </p:cNvGrpSpPr>
          <p:nvPr/>
        </p:nvGrpSpPr>
        <p:grpSpPr bwMode="auto">
          <a:xfrm>
            <a:off x="439738" y="719216"/>
            <a:ext cx="8247062" cy="5452984"/>
            <a:chOff x="277" y="701"/>
            <a:chExt cx="4820" cy="3187"/>
          </a:xfrm>
        </p:grpSpPr>
        <p:sp>
          <p:nvSpPr>
            <p:cNvPr id="5" name="Rectangle 158"/>
            <p:cNvSpPr>
              <a:spLocks noChangeArrowheads="1"/>
            </p:cNvSpPr>
            <p:nvPr/>
          </p:nvSpPr>
          <p:spPr bwMode="auto">
            <a:xfrm>
              <a:off x="277" y="2121"/>
              <a:ext cx="177" cy="384"/>
            </a:xfrm>
            <a:prstGeom prst="rect">
              <a:avLst/>
            </a:prstGeom>
            <a:solidFill>
              <a:srgbClr val="FFE6CD"/>
            </a:solidFill>
            <a:ln w="19050">
              <a:solidFill>
                <a:schemeClr val="tx1"/>
              </a:solidFill>
              <a:miter lim="800000"/>
              <a:headEnd type="none" w="sm" len="sm"/>
              <a:tailEnd type="none" w="med" len="lg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" name="Rectangle 2"/>
            <p:cNvSpPr>
              <a:spLocks noChangeArrowheads="1"/>
            </p:cNvSpPr>
            <p:nvPr/>
          </p:nvSpPr>
          <p:spPr bwMode="auto">
            <a:xfrm>
              <a:off x="854" y="2034"/>
              <a:ext cx="0" cy="1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 sz="1200">
                <a:latin typeface="+mj-lt"/>
              </a:endParaRPr>
            </a:p>
          </p:txBody>
        </p:sp>
        <p:sp>
          <p:nvSpPr>
            <p:cNvPr id="7" name="Rectangle 3"/>
            <p:cNvSpPr>
              <a:spLocks noChangeArrowheads="1"/>
            </p:cNvSpPr>
            <p:nvPr/>
          </p:nvSpPr>
          <p:spPr bwMode="auto">
            <a:xfrm>
              <a:off x="5003" y="2113"/>
              <a:ext cx="0" cy="1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 sz="1200">
                <a:latin typeface="+mj-lt"/>
              </a:endParaRPr>
            </a:p>
          </p:txBody>
        </p:sp>
        <p:sp>
          <p:nvSpPr>
            <p:cNvPr id="8" name="Rectangle 4"/>
            <p:cNvSpPr>
              <a:spLocks noChangeArrowheads="1"/>
            </p:cNvSpPr>
            <p:nvPr/>
          </p:nvSpPr>
          <p:spPr bwMode="auto">
            <a:xfrm>
              <a:off x="4995" y="2186"/>
              <a:ext cx="0" cy="1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 sz="1200">
                <a:latin typeface="+mj-lt"/>
              </a:endParaRPr>
            </a:p>
          </p:txBody>
        </p:sp>
        <p:sp>
          <p:nvSpPr>
            <p:cNvPr id="9" name="Rectangle 5"/>
            <p:cNvSpPr>
              <a:spLocks noChangeArrowheads="1"/>
            </p:cNvSpPr>
            <p:nvPr/>
          </p:nvSpPr>
          <p:spPr bwMode="auto">
            <a:xfrm>
              <a:off x="4315" y="2005"/>
              <a:ext cx="0" cy="1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 sz="1200">
                <a:latin typeface="+mj-lt"/>
              </a:endParaRPr>
            </a:p>
          </p:txBody>
        </p:sp>
        <p:sp>
          <p:nvSpPr>
            <p:cNvPr id="10" name="Rectangle 6"/>
            <p:cNvSpPr>
              <a:spLocks noChangeArrowheads="1"/>
            </p:cNvSpPr>
            <p:nvPr/>
          </p:nvSpPr>
          <p:spPr bwMode="auto">
            <a:xfrm>
              <a:off x="3574" y="3197"/>
              <a:ext cx="0" cy="1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 sz="1200">
                <a:latin typeface="+mj-lt"/>
              </a:endParaRPr>
            </a:p>
          </p:txBody>
        </p:sp>
        <p:sp>
          <p:nvSpPr>
            <p:cNvPr id="11" name="Rectangle 7"/>
            <p:cNvSpPr>
              <a:spLocks noChangeArrowheads="1"/>
            </p:cNvSpPr>
            <p:nvPr/>
          </p:nvSpPr>
          <p:spPr bwMode="auto">
            <a:xfrm>
              <a:off x="3079" y="2986"/>
              <a:ext cx="0" cy="1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 sz="1200">
                <a:latin typeface="+mj-lt"/>
              </a:endParaRPr>
            </a:p>
          </p:txBody>
        </p:sp>
        <p:sp>
          <p:nvSpPr>
            <p:cNvPr id="12" name="Line 10"/>
            <p:cNvSpPr>
              <a:spLocks noChangeShapeType="1"/>
            </p:cNvSpPr>
            <p:nvPr/>
          </p:nvSpPr>
          <p:spPr bwMode="auto">
            <a:xfrm>
              <a:off x="1993" y="1267"/>
              <a:ext cx="469" cy="2"/>
            </a:xfrm>
            <a:prstGeom prst="line">
              <a:avLst/>
            </a:prstGeom>
            <a:noFill/>
            <a:ln w="15875">
              <a:solidFill>
                <a:srgbClr val="EB75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3" name="Freeform 11"/>
            <p:cNvSpPr>
              <a:spLocks/>
            </p:cNvSpPr>
            <p:nvPr/>
          </p:nvSpPr>
          <p:spPr bwMode="auto">
            <a:xfrm>
              <a:off x="3047" y="2790"/>
              <a:ext cx="30" cy="36"/>
            </a:xfrm>
            <a:custGeom>
              <a:avLst/>
              <a:gdLst>
                <a:gd name="T0" fmla="*/ 0 w 25"/>
                <a:gd name="T1" fmla="*/ 36 h 23"/>
                <a:gd name="T2" fmla="*/ 30 w 25"/>
                <a:gd name="T3" fmla="*/ 36 h 23"/>
                <a:gd name="T4" fmla="*/ 17 w 25"/>
                <a:gd name="T5" fmla="*/ 0 h 23"/>
                <a:gd name="T6" fmla="*/ 2 w 25"/>
                <a:gd name="T7" fmla="*/ 36 h 23"/>
                <a:gd name="T8" fmla="*/ 2 w 25"/>
                <a:gd name="T9" fmla="*/ 36 h 23"/>
                <a:gd name="T10" fmla="*/ 0 w 25"/>
                <a:gd name="T11" fmla="*/ 36 h 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"/>
                <a:gd name="T19" fmla="*/ 0 h 23"/>
                <a:gd name="T20" fmla="*/ 25 w 25"/>
                <a:gd name="T21" fmla="*/ 23 h 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" h="23">
                  <a:moveTo>
                    <a:pt x="0" y="23"/>
                  </a:moveTo>
                  <a:lnTo>
                    <a:pt x="25" y="23"/>
                  </a:lnTo>
                  <a:lnTo>
                    <a:pt x="14" y="0"/>
                  </a:lnTo>
                  <a:lnTo>
                    <a:pt x="2" y="23"/>
                  </a:lnTo>
                  <a:lnTo>
                    <a:pt x="0" y="23"/>
                  </a:lnTo>
                  <a:close/>
                </a:path>
              </a:pathLst>
            </a:custGeom>
            <a:solidFill>
              <a:srgbClr val="EB75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4" name="Freeform 12"/>
            <p:cNvSpPr>
              <a:spLocks/>
            </p:cNvSpPr>
            <p:nvPr/>
          </p:nvSpPr>
          <p:spPr bwMode="auto">
            <a:xfrm>
              <a:off x="3047" y="2206"/>
              <a:ext cx="30" cy="38"/>
            </a:xfrm>
            <a:custGeom>
              <a:avLst/>
              <a:gdLst>
                <a:gd name="T0" fmla="*/ 0 w 25"/>
                <a:gd name="T1" fmla="*/ 38 h 25"/>
                <a:gd name="T2" fmla="*/ 30 w 25"/>
                <a:gd name="T3" fmla="*/ 38 h 25"/>
                <a:gd name="T4" fmla="*/ 17 w 25"/>
                <a:gd name="T5" fmla="*/ 0 h 25"/>
                <a:gd name="T6" fmla="*/ 2 w 25"/>
                <a:gd name="T7" fmla="*/ 38 h 25"/>
                <a:gd name="T8" fmla="*/ 2 w 25"/>
                <a:gd name="T9" fmla="*/ 38 h 25"/>
                <a:gd name="T10" fmla="*/ 0 w 25"/>
                <a:gd name="T11" fmla="*/ 38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"/>
                <a:gd name="T19" fmla="*/ 0 h 25"/>
                <a:gd name="T20" fmla="*/ 25 w 25"/>
                <a:gd name="T21" fmla="*/ 25 h 2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" h="25">
                  <a:moveTo>
                    <a:pt x="0" y="25"/>
                  </a:moveTo>
                  <a:lnTo>
                    <a:pt x="25" y="25"/>
                  </a:lnTo>
                  <a:lnTo>
                    <a:pt x="14" y="0"/>
                  </a:lnTo>
                  <a:lnTo>
                    <a:pt x="2" y="25"/>
                  </a:lnTo>
                  <a:lnTo>
                    <a:pt x="0" y="25"/>
                  </a:lnTo>
                  <a:close/>
                </a:path>
              </a:pathLst>
            </a:custGeom>
            <a:solidFill>
              <a:srgbClr val="EB75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5" name="Freeform 13"/>
            <p:cNvSpPr>
              <a:spLocks/>
            </p:cNvSpPr>
            <p:nvPr/>
          </p:nvSpPr>
          <p:spPr bwMode="auto">
            <a:xfrm>
              <a:off x="3636" y="3567"/>
              <a:ext cx="29" cy="38"/>
            </a:xfrm>
            <a:custGeom>
              <a:avLst/>
              <a:gdLst>
                <a:gd name="T0" fmla="*/ 29 w 25"/>
                <a:gd name="T1" fmla="*/ 0 h 25"/>
                <a:gd name="T2" fmla="*/ 29 w 25"/>
                <a:gd name="T3" fmla="*/ 38 h 25"/>
                <a:gd name="T4" fmla="*/ 0 w 25"/>
                <a:gd name="T5" fmla="*/ 20 h 25"/>
                <a:gd name="T6" fmla="*/ 29 w 25"/>
                <a:gd name="T7" fmla="*/ 0 h 25"/>
                <a:gd name="T8" fmla="*/ 29 w 25"/>
                <a:gd name="T9" fmla="*/ 0 h 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"/>
                <a:gd name="T16" fmla="*/ 0 h 25"/>
                <a:gd name="T17" fmla="*/ 25 w 25"/>
                <a:gd name="T18" fmla="*/ 25 h 2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" h="25">
                  <a:moveTo>
                    <a:pt x="25" y="0"/>
                  </a:moveTo>
                  <a:lnTo>
                    <a:pt x="25" y="25"/>
                  </a:lnTo>
                  <a:lnTo>
                    <a:pt x="0" y="13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rgbClr val="EB75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6" name="Freeform 14"/>
            <p:cNvSpPr>
              <a:spLocks/>
            </p:cNvSpPr>
            <p:nvPr/>
          </p:nvSpPr>
          <p:spPr bwMode="auto">
            <a:xfrm>
              <a:off x="3663" y="1516"/>
              <a:ext cx="1117" cy="2071"/>
            </a:xfrm>
            <a:custGeom>
              <a:avLst/>
              <a:gdLst>
                <a:gd name="T0" fmla="*/ 1117 w 947"/>
                <a:gd name="T1" fmla="*/ 0 h 1357"/>
                <a:gd name="T2" fmla="*/ 1117 w 947"/>
                <a:gd name="T3" fmla="*/ 2071 h 1357"/>
                <a:gd name="T4" fmla="*/ 0 w 947"/>
                <a:gd name="T5" fmla="*/ 2071 h 1357"/>
                <a:gd name="T6" fmla="*/ 0 60000 65536"/>
                <a:gd name="T7" fmla="*/ 0 60000 65536"/>
                <a:gd name="T8" fmla="*/ 0 60000 65536"/>
                <a:gd name="T9" fmla="*/ 0 w 947"/>
                <a:gd name="T10" fmla="*/ 0 h 1357"/>
                <a:gd name="T11" fmla="*/ 947 w 947"/>
                <a:gd name="T12" fmla="*/ 1357 h 135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47" h="1357">
                  <a:moveTo>
                    <a:pt x="947" y="0"/>
                  </a:moveTo>
                  <a:lnTo>
                    <a:pt x="947" y="1357"/>
                  </a:lnTo>
                  <a:lnTo>
                    <a:pt x="0" y="1357"/>
                  </a:lnTo>
                </a:path>
              </a:pathLst>
            </a:custGeom>
            <a:noFill/>
            <a:ln w="9525">
              <a:solidFill>
                <a:srgbClr val="EB75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7" name="Line 15"/>
            <p:cNvSpPr>
              <a:spLocks noChangeShapeType="1"/>
            </p:cNvSpPr>
            <p:nvPr/>
          </p:nvSpPr>
          <p:spPr bwMode="auto">
            <a:xfrm>
              <a:off x="4650" y="1516"/>
              <a:ext cx="128" cy="3"/>
            </a:xfrm>
            <a:prstGeom prst="line">
              <a:avLst/>
            </a:prstGeom>
            <a:noFill/>
            <a:ln w="9525">
              <a:solidFill>
                <a:srgbClr val="EB75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8" name="Freeform 16"/>
            <p:cNvSpPr>
              <a:spLocks/>
            </p:cNvSpPr>
            <p:nvPr/>
          </p:nvSpPr>
          <p:spPr bwMode="auto">
            <a:xfrm>
              <a:off x="3670" y="1267"/>
              <a:ext cx="252" cy="2209"/>
            </a:xfrm>
            <a:custGeom>
              <a:avLst/>
              <a:gdLst>
                <a:gd name="T0" fmla="*/ 250 w 214"/>
                <a:gd name="T1" fmla="*/ 0 h 1447"/>
                <a:gd name="T2" fmla="*/ 252 w 214"/>
                <a:gd name="T3" fmla="*/ 2209 h 1447"/>
                <a:gd name="T4" fmla="*/ 0 w 214"/>
                <a:gd name="T5" fmla="*/ 2209 h 1447"/>
                <a:gd name="T6" fmla="*/ 0 60000 65536"/>
                <a:gd name="T7" fmla="*/ 0 60000 65536"/>
                <a:gd name="T8" fmla="*/ 0 60000 65536"/>
                <a:gd name="T9" fmla="*/ 0 w 214"/>
                <a:gd name="T10" fmla="*/ 0 h 1447"/>
                <a:gd name="T11" fmla="*/ 214 w 214"/>
                <a:gd name="T12" fmla="*/ 1447 h 144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4" h="1447">
                  <a:moveTo>
                    <a:pt x="212" y="0"/>
                  </a:moveTo>
                  <a:lnTo>
                    <a:pt x="214" y="1447"/>
                  </a:lnTo>
                  <a:lnTo>
                    <a:pt x="0" y="1447"/>
                  </a:lnTo>
                </a:path>
              </a:pathLst>
            </a:custGeom>
            <a:noFill/>
            <a:ln w="9525">
              <a:solidFill>
                <a:srgbClr val="EB75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9" name="Freeform 17"/>
            <p:cNvSpPr>
              <a:spLocks/>
            </p:cNvSpPr>
            <p:nvPr/>
          </p:nvSpPr>
          <p:spPr bwMode="auto">
            <a:xfrm>
              <a:off x="3061" y="2816"/>
              <a:ext cx="156" cy="576"/>
            </a:xfrm>
            <a:custGeom>
              <a:avLst/>
              <a:gdLst>
                <a:gd name="T0" fmla="*/ 0 w 132"/>
                <a:gd name="T1" fmla="*/ 0 h 377"/>
                <a:gd name="T2" fmla="*/ 2 w 132"/>
                <a:gd name="T3" fmla="*/ 79 h 377"/>
                <a:gd name="T4" fmla="*/ 84 w 132"/>
                <a:gd name="T5" fmla="*/ 79 h 377"/>
                <a:gd name="T6" fmla="*/ 84 w 132"/>
                <a:gd name="T7" fmla="*/ 576 h 377"/>
                <a:gd name="T8" fmla="*/ 156 w 132"/>
                <a:gd name="T9" fmla="*/ 576 h 37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2"/>
                <a:gd name="T16" fmla="*/ 0 h 377"/>
                <a:gd name="T17" fmla="*/ 132 w 132"/>
                <a:gd name="T18" fmla="*/ 377 h 37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2" h="377">
                  <a:moveTo>
                    <a:pt x="0" y="0"/>
                  </a:moveTo>
                  <a:lnTo>
                    <a:pt x="2" y="52"/>
                  </a:lnTo>
                  <a:lnTo>
                    <a:pt x="71" y="52"/>
                  </a:lnTo>
                  <a:lnTo>
                    <a:pt x="71" y="377"/>
                  </a:lnTo>
                  <a:lnTo>
                    <a:pt x="132" y="377"/>
                  </a:lnTo>
                </a:path>
              </a:pathLst>
            </a:custGeom>
            <a:noFill/>
            <a:ln w="9525">
              <a:solidFill>
                <a:srgbClr val="EB75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0" name="Freeform 18"/>
            <p:cNvSpPr>
              <a:spLocks/>
            </p:cNvSpPr>
            <p:nvPr/>
          </p:nvSpPr>
          <p:spPr bwMode="auto">
            <a:xfrm>
              <a:off x="3061" y="2232"/>
              <a:ext cx="183" cy="1105"/>
            </a:xfrm>
            <a:custGeom>
              <a:avLst/>
              <a:gdLst>
                <a:gd name="T0" fmla="*/ 0 w 155"/>
                <a:gd name="T1" fmla="*/ 0 h 724"/>
                <a:gd name="T2" fmla="*/ 2 w 155"/>
                <a:gd name="T3" fmla="*/ 79 h 724"/>
                <a:gd name="T4" fmla="*/ 119 w 155"/>
                <a:gd name="T5" fmla="*/ 79 h 724"/>
                <a:gd name="T6" fmla="*/ 119 w 155"/>
                <a:gd name="T7" fmla="*/ 1105 h 724"/>
                <a:gd name="T8" fmla="*/ 183 w 155"/>
                <a:gd name="T9" fmla="*/ 1105 h 7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5"/>
                <a:gd name="T16" fmla="*/ 0 h 724"/>
                <a:gd name="T17" fmla="*/ 155 w 155"/>
                <a:gd name="T18" fmla="*/ 724 h 72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5" h="724">
                  <a:moveTo>
                    <a:pt x="0" y="0"/>
                  </a:moveTo>
                  <a:lnTo>
                    <a:pt x="2" y="52"/>
                  </a:lnTo>
                  <a:lnTo>
                    <a:pt x="101" y="52"/>
                  </a:lnTo>
                  <a:lnTo>
                    <a:pt x="101" y="724"/>
                  </a:lnTo>
                  <a:lnTo>
                    <a:pt x="155" y="724"/>
                  </a:lnTo>
                </a:path>
              </a:pathLst>
            </a:custGeom>
            <a:noFill/>
            <a:ln w="9525">
              <a:solidFill>
                <a:srgbClr val="EB75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1" name="Freeform 19"/>
            <p:cNvSpPr>
              <a:spLocks/>
            </p:cNvSpPr>
            <p:nvPr/>
          </p:nvSpPr>
          <p:spPr bwMode="auto">
            <a:xfrm>
              <a:off x="2487" y="1394"/>
              <a:ext cx="115" cy="247"/>
            </a:xfrm>
            <a:custGeom>
              <a:avLst/>
              <a:gdLst>
                <a:gd name="T0" fmla="*/ 113 w 98"/>
                <a:gd name="T1" fmla="*/ 247 h 162"/>
                <a:gd name="T2" fmla="*/ 115 w 98"/>
                <a:gd name="T3" fmla="*/ 0 h 162"/>
                <a:gd name="T4" fmla="*/ 0 w 98"/>
                <a:gd name="T5" fmla="*/ 0 h 162"/>
                <a:gd name="T6" fmla="*/ 0 w 98"/>
                <a:gd name="T7" fmla="*/ 247 h 162"/>
                <a:gd name="T8" fmla="*/ 115 w 98"/>
                <a:gd name="T9" fmla="*/ 247 h 162"/>
                <a:gd name="T10" fmla="*/ 115 w 98"/>
                <a:gd name="T11" fmla="*/ 247 h 16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8"/>
                <a:gd name="T19" fmla="*/ 0 h 162"/>
                <a:gd name="T20" fmla="*/ 98 w 98"/>
                <a:gd name="T21" fmla="*/ 162 h 162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8" h="162">
                  <a:moveTo>
                    <a:pt x="96" y="162"/>
                  </a:moveTo>
                  <a:lnTo>
                    <a:pt x="98" y="0"/>
                  </a:lnTo>
                  <a:lnTo>
                    <a:pt x="0" y="0"/>
                  </a:lnTo>
                  <a:lnTo>
                    <a:pt x="0" y="162"/>
                  </a:lnTo>
                  <a:lnTo>
                    <a:pt x="98" y="162"/>
                  </a:lnTo>
                </a:path>
              </a:pathLst>
            </a:custGeom>
            <a:solidFill>
              <a:srgbClr val="FFE6CD"/>
            </a:solidFill>
            <a:ln w="28575" cap="flat" cmpd="sng">
              <a:solidFill>
                <a:srgbClr val="EB75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2" name="Freeform 20"/>
            <p:cNvSpPr>
              <a:spLocks/>
            </p:cNvSpPr>
            <p:nvPr/>
          </p:nvSpPr>
          <p:spPr bwMode="auto">
            <a:xfrm>
              <a:off x="1787" y="2279"/>
              <a:ext cx="28" cy="37"/>
            </a:xfrm>
            <a:custGeom>
              <a:avLst/>
              <a:gdLst>
                <a:gd name="T0" fmla="*/ 0 w 25"/>
                <a:gd name="T1" fmla="*/ 0 h 24"/>
                <a:gd name="T2" fmla="*/ 0 w 25"/>
                <a:gd name="T3" fmla="*/ 37 h 24"/>
                <a:gd name="T4" fmla="*/ 28 w 25"/>
                <a:gd name="T5" fmla="*/ 20 h 24"/>
                <a:gd name="T6" fmla="*/ 0 w 25"/>
                <a:gd name="T7" fmla="*/ 2 h 24"/>
                <a:gd name="T8" fmla="*/ 0 w 25"/>
                <a:gd name="T9" fmla="*/ 2 h 24"/>
                <a:gd name="T10" fmla="*/ 0 w 25"/>
                <a:gd name="T11" fmla="*/ 0 h 2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"/>
                <a:gd name="T19" fmla="*/ 0 h 24"/>
                <a:gd name="T20" fmla="*/ 25 w 25"/>
                <a:gd name="T21" fmla="*/ 24 h 2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" h="24">
                  <a:moveTo>
                    <a:pt x="0" y="0"/>
                  </a:moveTo>
                  <a:lnTo>
                    <a:pt x="0" y="24"/>
                  </a:lnTo>
                  <a:lnTo>
                    <a:pt x="25" y="13"/>
                  </a:ln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3" name="Freeform 21"/>
            <p:cNvSpPr>
              <a:spLocks/>
            </p:cNvSpPr>
            <p:nvPr/>
          </p:nvSpPr>
          <p:spPr bwMode="auto">
            <a:xfrm>
              <a:off x="549" y="1872"/>
              <a:ext cx="364" cy="868"/>
            </a:xfrm>
            <a:custGeom>
              <a:avLst/>
              <a:gdLst>
                <a:gd name="T0" fmla="*/ 364 w 308"/>
                <a:gd name="T1" fmla="*/ 868 h 569"/>
                <a:gd name="T2" fmla="*/ 364 w 308"/>
                <a:gd name="T3" fmla="*/ 0 h 569"/>
                <a:gd name="T4" fmla="*/ 0 w 308"/>
                <a:gd name="T5" fmla="*/ 0 h 569"/>
                <a:gd name="T6" fmla="*/ 0 w 308"/>
                <a:gd name="T7" fmla="*/ 868 h 569"/>
                <a:gd name="T8" fmla="*/ 364 w 308"/>
                <a:gd name="T9" fmla="*/ 868 h 569"/>
                <a:gd name="T10" fmla="*/ 364 w 308"/>
                <a:gd name="T11" fmla="*/ 868 h 56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08"/>
                <a:gd name="T19" fmla="*/ 0 h 569"/>
                <a:gd name="T20" fmla="*/ 308 w 308"/>
                <a:gd name="T21" fmla="*/ 569 h 56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08" h="569">
                  <a:moveTo>
                    <a:pt x="308" y="569"/>
                  </a:moveTo>
                  <a:lnTo>
                    <a:pt x="308" y="0"/>
                  </a:lnTo>
                  <a:lnTo>
                    <a:pt x="0" y="0"/>
                  </a:lnTo>
                  <a:lnTo>
                    <a:pt x="0" y="569"/>
                  </a:lnTo>
                  <a:lnTo>
                    <a:pt x="308" y="569"/>
                  </a:lnTo>
                </a:path>
              </a:pathLst>
            </a:custGeom>
            <a:solidFill>
              <a:srgbClr val="FFFFCC"/>
            </a:solidFill>
            <a:ln w="19050" cap="flat" cmpd="sng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4" name="Freeform 22"/>
            <p:cNvSpPr>
              <a:spLocks/>
            </p:cNvSpPr>
            <p:nvPr/>
          </p:nvSpPr>
          <p:spPr bwMode="auto">
            <a:xfrm>
              <a:off x="4072" y="1849"/>
              <a:ext cx="365" cy="871"/>
            </a:xfrm>
            <a:custGeom>
              <a:avLst/>
              <a:gdLst>
                <a:gd name="T0" fmla="*/ 365 w 309"/>
                <a:gd name="T1" fmla="*/ 868 h 571"/>
                <a:gd name="T2" fmla="*/ 365 w 309"/>
                <a:gd name="T3" fmla="*/ 0 h 571"/>
                <a:gd name="T4" fmla="*/ 0 w 309"/>
                <a:gd name="T5" fmla="*/ 0 h 571"/>
                <a:gd name="T6" fmla="*/ 0 w 309"/>
                <a:gd name="T7" fmla="*/ 871 h 571"/>
                <a:gd name="T8" fmla="*/ 365 w 309"/>
                <a:gd name="T9" fmla="*/ 871 h 571"/>
                <a:gd name="T10" fmla="*/ 365 w 309"/>
                <a:gd name="T11" fmla="*/ 871 h 57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09"/>
                <a:gd name="T19" fmla="*/ 0 h 571"/>
                <a:gd name="T20" fmla="*/ 309 w 309"/>
                <a:gd name="T21" fmla="*/ 571 h 57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09" h="571">
                  <a:moveTo>
                    <a:pt x="309" y="569"/>
                  </a:moveTo>
                  <a:lnTo>
                    <a:pt x="309" y="0"/>
                  </a:lnTo>
                  <a:lnTo>
                    <a:pt x="0" y="0"/>
                  </a:lnTo>
                  <a:lnTo>
                    <a:pt x="0" y="571"/>
                  </a:lnTo>
                  <a:lnTo>
                    <a:pt x="309" y="571"/>
                  </a:lnTo>
                </a:path>
              </a:pathLst>
            </a:custGeom>
            <a:solidFill>
              <a:srgbClr val="FFFFCC"/>
            </a:solidFill>
            <a:ln w="19050" cap="flat" cmpd="sng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5" name="Freeform 23"/>
            <p:cNvSpPr>
              <a:spLocks/>
            </p:cNvSpPr>
            <p:nvPr/>
          </p:nvSpPr>
          <p:spPr bwMode="auto">
            <a:xfrm>
              <a:off x="1787" y="1835"/>
              <a:ext cx="28" cy="37"/>
            </a:xfrm>
            <a:custGeom>
              <a:avLst/>
              <a:gdLst>
                <a:gd name="T0" fmla="*/ 0 w 25"/>
                <a:gd name="T1" fmla="*/ 0 h 24"/>
                <a:gd name="T2" fmla="*/ 0 w 25"/>
                <a:gd name="T3" fmla="*/ 37 h 24"/>
                <a:gd name="T4" fmla="*/ 28 w 25"/>
                <a:gd name="T5" fmla="*/ 20 h 24"/>
                <a:gd name="T6" fmla="*/ 0 w 25"/>
                <a:gd name="T7" fmla="*/ 3 h 24"/>
                <a:gd name="T8" fmla="*/ 0 w 25"/>
                <a:gd name="T9" fmla="*/ 3 h 24"/>
                <a:gd name="T10" fmla="*/ 0 w 25"/>
                <a:gd name="T11" fmla="*/ 0 h 2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"/>
                <a:gd name="T19" fmla="*/ 0 h 24"/>
                <a:gd name="T20" fmla="*/ 25 w 25"/>
                <a:gd name="T21" fmla="*/ 24 h 2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" h="24">
                  <a:moveTo>
                    <a:pt x="0" y="0"/>
                  </a:moveTo>
                  <a:lnTo>
                    <a:pt x="0" y="24"/>
                  </a:lnTo>
                  <a:lnTo>
                    <a:pt x="25" y="13"/>
                  </a:lnTo>
                  <a:lnTo>
                    <a:pt x="0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6" name="Freeform 24"/>
            <p:cNvSpPr>
              <a:spLocks/>
            </p:cNvSpPr>
            <p:nvPr/>
          </p:nvSpPr>
          <p:spPr bwMode="auto">
            <a:xfrm>
              <a:off x="1787" y="2500"/>
              <a:ext cx="28" cy="39"/>
            </a:xfrm>
            <a:custGeom>
              <a:avLst/>
              <a:gdLst>
                <a:gd name="T0" fmla="*/ 0 w 25"/>
                <a:gd name="T1" fmla="*/ 0 h 25"/>
                <a:gd name="T2" fmla="*/ 0 w 25"/>
                <a:gd name="T3" fmla="*/ 39 h 25"/>
                <a:gd name="T4" fmla="*/ 28 w 25"/>
                <a:gd name="T5" fmla="*/ 20 h 25"/>
                <a:gd name="T6" fmla="*/ 0 w 25"/>
                <a:gd name="T7" fmla="*/ 3 h 25"/>
                <a:gd name="T8" fmla="*/ 0 w 25"/>
                <a:gd name="T9" fmla="*/ 3 h 25"/>
                <a:gd name="T10" fmla="*/ 0 w 25"/>
                <a:gd name="T11" fmla="*/ 0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"/>
                <a:gd name="T19" fmla="*/ 0 h 25"/>
                <a:gd name="T20" fmla="*/ 25 w 25"/>
                <a:gd name="T21" fmla="*/ 25 h 2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" h="25">
                  <a:moveTo>
                    <a:pt x="0" y="0"/>
                  </a:moveTo>
                  <a:lnTo>
                    <a:pt x="0" y="25"/>
                  </a:lnTo>
                  <a:lnTo>
                    <a:pt x="25" y="13"/>
                  </a:lnTo>
                  <a:lnTo>
                    <a:pt x="0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7" name="Freeform 25"/>
            <p:cNvSpPr>
              <a:spLocks/>
            </p:cNvSpPr>
            <p:nvPr/>
          </p:nvSpPr>
          <p:spPr bwMode="auto">
            <a:xfrm>
              <a:off x="2975" y="2418"/>
              <a:ext cx="30" cy="38"/>
            </a:xfrm>
            <a:custGeom>
              <a:avLst/>
              <a:gdLst>
                <a:gd name="T0" fmla="*/ 0 w 25"/>
                <a:gd name="T1" fmla="*/ 0 h 25"/>
                <a:gd name="T2" fmla="*/ 0 w 25"/>
                <a:gd name="T3" fmla="*/ 38 h 25"/>
                <a:gd name="T4" fmla="*/ 30 w 25"/>
                <a:gd name="T5" fmla="*/ 18 h 25"/>
                <a:gd name="T6" fmla="*/ 0 w 25"/>
                <a:gd name="T7" fmla="*/ 0 h 25"/>
                <a:gd name="T8" fmla="*/ 0 w 25"/>
                <a:gd name="T9" fmla="*/ 0 h 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"/>
                <a:gd name="T16" fmla="*/ 0 h 25"/>
                <a:gd name="T17" fmla="*/ 25 w 25"/>
                <a:gd name="T18" fmla="*/ 25 h 2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" h="25">
                  <a:moveTo>
                    <a:pt x="0" y="0"/>
                  </a:moveTo>
                  <a:lnTo>
                    <a:pt x="0" y="25"/>
                  </a:lnTo>
                  <a:lnTo>
                    <a:pt x="25" y="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auto">
            <a:xfrm>
              <a:off x="2975" y="2555"/>
              <a:ext cx="30" cy="39"/>
            </a:xfrm>
            <a:custGeom>
              <a:avLst/>
              <a:gdLst>
                <a:gd name="T0" fmla="*/ 0 w 25"/>
                <a:gd name="T1" fmla="*/ 0 h 25"/>
                <a:gd name="T2" fmla="*/ 0 w 25"/>
                <a:gd name="T3" fmla="*/ 39 h 25"/>
                <a:gd name="T4" fmla="*/ 30 w 25"/>
                <a:gd name="T5" fmla="*/ 22 h 25"/>
                <a:gd name="T6" fmla="*/ 0 w 25"/>
                <a:gd name="T7" fmla="*/ 0 h 25"/>
                <a:gd name="T8" fmla="*/ 0 w 25"/>
                <a:gd name="T9" fmla="*/ 0 h 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"/>
                <a:gd name="T16" fmla="*/ 0 h 25"/>
                <a:gd name="T17" fmla="*/ 25 w 25"/>
                <a:gd name="T18" fmla="*/ 25 h 2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" h="25">
                  <a:moveTo>
                    <a:pt x="0" y="0"/>
                  </a:moveTo>
                  <a:lnTo>
                    <a:pt x="0" y="25"/>
                  </a:lnTo>
                  <a:lnTo>
                    <a:pt x="25" y="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9" name="Freeform 27"/>
            <p:cNvSpPr>
              <a:spLocks/>
            </p:cNvSpPr>
            <p:nvPr/>
          </p:nvSpPr>
          <p:spPr bwMode="auto">
            <a:xfrm>
              <a:off x="3276" y="2555"/>
              <a:ext cx="32" cy="39"/>
            </a:xfrm>
            <a:custGeom>
              <a:avLst/>
              <a:gdLst>
                <a:gd name="T0" fmla="*/ 0 w 27"/>
                <a:gd name="T1" fmla="*/ 0 h 25"/>
                <a:gd name="T2" fmla="*/ 2 w 27"/>
                <a:gd name="T3" fmla="*/ 39 h 25"/>
                <a:gd name="T4" fmla="*/ 32 w 27"/>
                <a:gd name="T5" fmla="*/ 22 h 25"/>
                <a:gd name="T6" fmla="*/ 2 w 27"/>
                <a:gd name="T7" fmla="*/ 0 h 25"/>
                <a:gd name="T8" fmla="*/ 2 w 27"/>
                <a:gd name="T9" fmla="*/ 0 h 25"/>
                <a:gd name="T10" fmla="*/ 0 w 27"/>
                <a:gd name="T11" fmla="*/ 0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7"/>
                <a:gd name="T19" fmla="*/ 0 h 25"/>
                <a:gd name="T20" fmla="*/ 27 w 27"/>
                <a:gd name="T21" fmla="*/ 25 h 2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7" h="25">
                  <a:moveTo>
                    <a:pt x="0" y="0"/>
                  </a:moveTo>
                  <a:lnTo>
                    <a:pt x="2" y="25"/>
                  </a:lnTo>
                  <a:lnTo>
                    <a:pt x="27" y="14"/>
                  </a:lnTo>
                  <a:lnTo>
                    <a:pt x="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0" name="Line 28"/>
            <p:cNvSpPr>
              <a:spLocks noChangeShapeType="1"/>
            </p:cNvSpPr>
            <p:nvPr/>
          </p:nvSpPr>
          <p:spPr bwMode="auto">
            <a:xfrm flipH="1">
              <a:off x="3117" y="2574"/>
              <a:ext cx="170" cy="3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1" name="Freeform 29"/>
            <p:cNvSpPr>
              <a:spLocks/>
            </p:cNvSpPr>
            <p:nvPr/>
          </p:nvSpPr>
          <p:spPr bwMode="auto">
            <a:xfrm>
              <a:off x="4894" y="2264"/>
              <a:ext cx="29" cy="38"/>
            </a:xfrm>
            <a:custGeom>
              <a:avLst/>
              <a:gdLst>
                <a:gd name="T0" fmla="*/ 0 w 25"/>
                <a:gd name="T1" fmla="*/ 0 h 25"/>
                <a:gd name="T2" fmla="*/ 0 w 25"/>
                <a:gd name="T3" fmla="*/ 38 h 25"/>
                <a:gd name="T4" fmla="*/ 29 w 25"/>
                <a:gd name="T5" fmla="*/ 20 h 25"/>
                <a:gd name="T6" fmla="*/ 0 w 25"/>
                <a:gd name="T7" fmla="*/ 3 h 25"/>
                <a:gd name="T8" fmla="*/ 0 w 25"/>
                <a:gd name="T9" fmla="*/ 3 h 25"/>
                <a:gd name="T10" fmla="*/ 0 w 25"/>
                <a:gd name="T11" fmla="*/ 0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"/>
                <a:gd name="T19" fmla="*/ 0 h 25"/>
                <a:gd name="T20" fmla="*/ 25 w 25"/>
                <a:gd name="T21" fmla="*/ 25 h 2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" h="25">
                  <a:moveTo>
                    <a:pt x="0" y="0"/>
                  </a:moveTo>
                  <a:lnTo>
                    <a:pt x="0" y="25"/>
                  </a:lnTo>
                  <a:lnTo>
                    <a:pt x="25" y="13"/>
                  </a:lnTo>
                  <a:lnTo>
                    <a:pt x="0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2" name="Freeform 30"/>
            <p:cNvSpPr>
              <a:spLocks/>
            </p:cNvSpPr>
            <p:nvPr/>
          </p:nvSpPr>
          <p:spPr bwMode="auto">
            <a:xfrm>
              <a:off x="4894" y="2542"/>
              <a:ext cx="29" cy="38"/>
            </a:xfrm>
            <a:custGeom>
              <a:avLst/>
              <a:gdLst>
                <a:gd name="T0" fmla="*/ 0 w 25"/>
                <a:gd name="T1" fmla="*/ 0 h 25"/>
                <a:gd name="T2" fmla="*/ 0 w 25"/>
                <a:gd name="T3" fmla="*/ 38 h 25"/>
                <a:gd name="T4" fmla="*/ 29 w 25"/>
                <a:gd name="T5" fmla="*/ 17 h 25"/>
                <a:gd name="T6" fmla="*/ 0 w 25"/>
                <a:gd name="T7" fmla="*/ 0 h 25"/>
                <a:gd name="T8" fmla="*/ 0 w 25"/>
                <a:gd name="T9" fmla="*/ 0 h 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"/>
                <a:gd name="T16" fmla="*/ 0 h 25"/>
                <a:gd name="T17" fmla="*/ 25 w 25"/>
                <a:gd name="T18" fmla="*/ 25 h 2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" h="25">
                  <a:moveTo>
                    <a:pt x="0" y="0"/>
                  </a:moveTo>
                  <a:lnTo>
                    <a:pt x="0" y="25"/>
                  </a:lnTo>
                  <a:lnTo>
                    <a:pt x="25" y="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3" name="Line 31"/>
            <p:cNvSpPr>
              <a:spLocks noChangeShapeType="1"/>
            </p:cNvSpPr>
            <p:nvPr/>
          </p:nvSpPr>
          <p:spPr bwMode="auto">
            <a:xfrm>
              <a:off x="461" y="2311"/>
              <a:ext cx="64" cy="3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4" name="Freeform 32"/>
            <p:cNvSpPr>
              <a:spLocks/>
            </p:cNvSpPr>
            <p:nvPr/>
          </p:nvSpPr>
          <p:spPr bwMode="auto">
            <a:xfrm>
              <a:off x="515" y="2293"/>
              <a:ext cx="30" cy="38"/>
            </a:xfrm>
            <a:custGeom>
              <a:avLst/>
              <a:gdLst>
                <a:gd name="T0" fmla="*/ 0 w 25"/>
                <a:gd name="T1" fmla="*/ 0 h 25"/>
                <a:gd name="T2" fmla="*/ 2 w 25"/>
                <a:gd name="T3" fmla="*/ 38 h 25"/>
                <a:gd name="T4" fmla="*/ 30 w 25"/>
                <a:gd name="T5" fmla="*/ 21 h 25"/>
                <a:gd name="T6" fmla="*/ 2 w 25"/>
                <a:gd name="T7" fmla="*/ 0 h 25"/>
                <a:gd name="T8" fmla="*/ 2 w 25"/>
                <a:gd name="T9" fmla="*/ 0 h 25"/>
                <a:gd name="T10" fmla="*/ 0 w 25"/>
                <a:gd name="T11" fmla="*/ 0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"/>
                <a:gd name="T19" fmla="*/ 0 h 25"/>
                <a:gd name="T20" fmla="*/ 25 w 25"/>
                <a:gd name="T21" fmla="*/ 25 h 2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" h="25">
                  <a:moveTo>
                    <a:pt x="0" y="0"/>
                  </a:moveTo>
                  <a:lnTo>
                    <a:pt x="2" y="25"/>
                  </a:lnTo>
                  <a:lnTo>
                    <a:pt x="25" y="14"/>
                  </a:lnTo>
                  <a:lnTo>
                    <a:pt x="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5" name="Freeform 33"/>
            <p:cNvSpPr>
              <a:spLocks/>
            </p:cNvSpPr>
            <p:nvPr/>
          </p:nvSpPr>
          <p:spPr bwMode="auto">
            <a:xfrm>
              <a:off x="1724" y="1247"/>
              <a:ext cx="29" cy="38"/>
            </a:xfrm>
            <a:custGeom>
              <a:avLst/>
              <a:gdLst>
                <a:gd name="T0" fmla="*/ 0 w 25"/>
                <a:gd name="T1" fmla="*/ 0 h 25"/>
                <a:gd name="T2" fmla="*/ 0 w 25"/>
                <a:gd name="T3" fmla="*/ 38 h 25"/>
                <a:gd name="T4" fmla="*/ 29 w 25"/>
                <a:gd name="T5" fmla="*/ 20 h 25"/>
                <a:gd name="T6" fmla="*/ 0 w 25"/>
                <a:gd name="T7" fmla="*/ 3 h 25"/>
                <a:gd name="T8" fmla="*/ 0 w 25"/>
                <a:gd name="T9" fmla="*/ 3 h 25"/>
                <a:gd name="T10" fmla="*/ 0 w 25"/>
                <a:gd name="T11" fmla="*/ 0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"/>
                <a:gd name="T19" fmla="*/ 0 h 25"/>
                <a:gd name="T20" fmla="*/ 25 w 25"/>
                <a:gd name="T21" fmla="*/ 25 h 2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" h="25">
                  <a:moveTo>
                    <a:pt x="0" y="0"/>
                  </a:moveTo>
                  <a:lnTo>
                    <a:pt x="0" y="25"/>
                  </a:lnTo>
                  <a:lnTo>
                    <a:pt x="25" y="13"/>
                  </a:lnTo>
                  <a:lnTo>
                    <a:pt x="0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6" name="Freeform 34"/>
            <p:cNvSpPr>
              <a:spLocks/>
            </p:cNvSpPr>
            <p:nvPr/>
          </p:nvSpPr>
          <p:spPr bwMode="auto">
            <a:xfrm>
              <a:off x="1787" y="2056"/>
              <a:ext cx="28" cy="38"/>
            </a:xfrm>
            <a:custGeom>
              <a:avLst/>
              <a:gdLst>
                <a:gd name="T0" fmla="*/ 0 w 25"/>
                <a:gd name="T1" fmla="*/ 0 h 25"/>
                <a:gd name="T2" fmla="*/ 0 w 25"/>
                <a:gd name="T3" fmla="*/ 38 h 25"/>
                <a:gd name="T4" fmla="*/ 28 w 25"/>
                <a:gd name="T5" fmla="*/ 20 h 25"/>
                <a:gd name="T6" fmla="*/ 0 w 25"/>
                <a:gd name="T7" fmla="*/ 3 h 25"/>
                <a:gd name="T8" fmla="*/ 0 w 25"/>
                <a:gd name="T9" fmla="*/ 3 h 25"/>
                <a:gd name="T10" fmla="*/ 0 w 25"/>
                <a:gd name="T11" fmla="*/ 0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"/>
                <a:gd name="T19" fmla="*/ 0 h 25"/>
                <a:gd name="T20" fmla="*/ 25 w 25"/>
                <a:gd name="T21" fmla="*/ 25 h 2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" h="25">
                  <a:moveTo>
                    <a:pt x="0" y="0"/>
                  </a:moveTo>
                  <a:lnTo>
                    <a:pt x="0" y="25"/>
                  </a:lnTo>
                  <a:lnTo>
                    <a:pt x="25" y="13"/>
                  </a:lnTo>
                  <a:lnTo>
                    <a:pt x="0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7" name="Freeform 35"/>
            <p:cNvSpPr>
              <a:spLocks/>
            </p:cNvSpPr>
            <p:nvPr/>
          </p:nvSpPr>
          <p:spPr bwMode="auto">
            <a:xfrm>
              <a:off x="1817" y="1752"/>
              <a:ext cx="430" cy="871"/>
            </a:xfrm>
            <a:custGeom>
              <a:avLst/>
              <a:gdLst>
                <a:gd name="T0" fmla="*/ 430 w 364"/>
                <a:gd name="T1" fmla="*/ 871 h 570"/>
                <a:gd name="T2" fmla="*/ 430 w 364"/>
                <a:gd name="T3" fmla="*/ 0 h 570"/>
                <a:gd name="T4" fmla="*/ 0 w 364"/>
                <a:gd name="T5" fmla="*/ 0 h 570"/>
                <a:gd name="T6" fmla="*/ 0 w 364"/>
                <a:gd name="T7" fmla="*/ 871 h 570"/>
                <a:gd name="T8" fmla="*/ 430 w 364"/>
                <a:gd name="T9" fmla="*/ 871 h 570"/>
                <a:gd name="T10" fmla="*/ 430 w 364"/>
                <a:gd name="T11" fmla="*/ 871 h 57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64"/>
                <a:gd name="T19" fmla="*/ 0 h 570"/>
                <a:gd name="T20" fmla="*/ 364 w 364"/>
                <a:gd name="T21" fmla="*/ 570 h 57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64" h="570">
                  <a:moveTo>
                    <a:pt x="364" y="570"/>
                  </a:moveTo>
                  <a:lnTo>
                    <a:pt x="364" y="0"/>
                  </a:lnTo>
                  <a:lnTo>
                    <a:pt x="0" y="0"/>
                  </a:lnTo>
                  <a:lnTo>
                    <a:pt x="0" y="570"/>
                  </a:lnTo>
                  <a:lnTo>
                    <a:pt x="364" y="570"/>
                  </a:lnTo>
                </a:path>
              </a:pathLst>
            </a:custGeom>
            <a:solidFill>
              <a:srgbClr val="CCFFFF"/>
            </a:solidFill>
            <a:ln w="190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8" name="Freeform 36"/>
            <p:cNvSpPr>
              <a:spLocks/>
            </p:cNvSpPr>
            <p:nvPr/>
          </p:nvSpPr>
          <p:spPr bwMode="auto">
            <a:xfrm>
              <a:off x="1497" y="2421"/>
              <a:ext cx="3600" cy="1389"/>
            </a:xfrm>
            <a:custGeom>
              <a:avLst/>
              <a:gdLst>
                <a:gd name="T0" fmla="*/ 299 w 3050"/>
                <a:gd name="T1" fmla="*/ 99 h 910"/>
                <a:gd name="T2" fmla="*/ 0 w 3050"/>
                <a:gd name="T3" fmla="*/ 99 h 910"/>
                <a:gd name="T4" fmla="*/ 0 w 3050"/>
                <a:gd name="T5" fmla="*/ 1389 h 910"/>
                <a:gd name="T6" fmla="*/ 3600 w 3050"/>
                <a:gd name="T7" fmla="*/ 1389 h 910"/>
                <a:gd name="T8" fmla="*/ 3600 w 3050"/>
                <a:gd name="T9" fmla="*/ 0 h 910"/>
                <a:gd name="T10" fmla="*/ 3537 w 3050"/>
                <a:gd name="T11" fmla="*/ 0 h 91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050"/>
                <a:gd name="T19" fmla="*/ 0 h 910"/>
                <a:gd name="T20" fmla="*/ 3050 w 3050"/>
                <a:gd name="T21" fmla="*/ 910 h 91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050" h="910">
                  <a:moveTo>
                    <a:pt x="253" y="65"/>
                  </a:moveTo>
                  <a:lnTo>
                    <a:pt x="0" y="65"/>
                  </a:lnTo>
                  <a:lnTo>
                    <a:pt x="0" y="910"/>
                  </a:lnTo>
                  <a:lnTo>
                    <a:pt x="3050" y="910"/>
                  </a:lnTo>
                  <a:lnTo>
                    <a:pt x="3050" y="0"/>
                  </a:lnTo>
                  <a:lnTo>
                    <a:pt x="2997" y="0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9" name="Line 37"/>
            <p:cNvSpPr>
              <a:spLocks noChangeShapeType="1"/>
            </p:cNvSpPr>
            <p:nvPr/>
          </p:nvSpPr>
          <p:spPr bwMode="auto">
            <a:xfrm flipH="1">
              <a:off x="1244" y="1855"/>
              <a:ext cx="552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0" name="Line 38"/>
            <p:cNvSpPr>
              <a:spLocks noChangeShapeType="1"/>
            </p:cNvSpPr>
            <p:nvPr/>
          </p:nvSpPr>
          <p:spPr bwMode="auto">
            <a:xfrm flipH="1">
              <a:off x="2922" y="2574"/>
              <a:ext cx="66" cy="3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1" name="Line 39"/>
            <p:cNvSpPr>
              <a:spLocks noChangeShapeType="1"/>
            </p:cNvSpPr>
            <p:nvPr/>
          </p:nvSpPr>
          <p:spPr bwMode="auto">
            <a:xfrm>
              <a:off x="1244" y="2076"/>
              <a:ext cx="554" cy="2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2" name="Freeform 40"/>
            <p:cNvSpPr>
              <a:spLocks/>
            </p:cNvSpPr>
            <p:nvPr/>
          </p:nvSpPr>
          <p:spPr bwMode="auto">
            <a:xfrm>
              <a:off x="2452" y="2418"/>
              <a:ext cx="29" cy="38"/>
            </a:xfrm>
            <a:custGeom>
              <a:avLst/>
              <a:gdLst>
                <a:gd name="T0" fmla="*/ 0 w 25"/>
                <a:gd name="T1" fmla="*/ 0 h 25"/>
                <a:gd name="T2" fmla="*/ 2 w 25"/>
                <a:gd name="T3" fmla="*/ 38 h 25"/>
                <a:gd name="T4" fmla="*/ 29 w 25"/>
                <a:gd name="T5" fmla="*/ 18 h 25"/>
                <a:gd name="T6" fmla="*/ 2 w 25"/>
                <a:gd name="T7" fmla="*/ 0 h 25"/>
                <a:gd name="T8" fmla="*/ 2 w 25"/>
                <a:gd name="T9" fmla="*/ 0 h 25"/>
                <a:gd name="T10" fmla="*/ 0 w 25"/>
                <a:gd name="T11" fmla="*/ 0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"/>
                <a:gd name="T19" fmla="*/ 0 h 25"/>
                <a:gd name="T20" fmla="*/ 25 w 25"/>
                <a:gd name="T21" fmla="*/ 25 h 2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" h="25">
                  <a:moveTo>
                    <a:pt x="0" y="0"/>
                  </a:moveTo>
                  <a:lnTo>
                    <a:pt x="2" y="25"/>
                  </a:lnTo>
                  <a:lnTo>
                    <a:pt x="25" y="12"/>
                  </a:lnTo>
                  <a:lnTo>
                    <a:pt x="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3" name="Line 41"/>
            <p:cNvSpPr>
              <a:spLocks noChangeShapeType="1"/>
            </p:cNvSpPr>
            <p:nvPr/>
          </p:nvSpPr>
          <p:spPr bwMode="auto">
            <a:xfrm flipH="1">
              <a:off x="2602" y="2436"/>
              <a:ext cx="386" cy="2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4" name="Line 42"/>
            <p:cNvSpPr>
              <a:spLocks noChangeShapeType="1"/>
            </p:cNvSpPr>
            <p:nvPr/>
          </p:nvSpPr>
          <p:spPr bwMode="auto">
            <a:xfrm flipH="1">
              <a:off x="2247" y="2436"/>
              <a:ext cx="212" cy="2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5" name="Freeform 43"/>
            <p:cNvSpPr>
              <a:spLocks/>
            </p:cNvSpPr>
            <p:nvPr/>
          </p:nvSpPr>
          <p:spPr bwMode="auto">
            <a:xfrm>
              <a:off x="3972" y="2267"/>
              <a:ext cx="29" cy="35"/>
            </a:xfrm>
            <a:custGeom>
              <a:avLst/>
              <a:gdLst>
                <a:gd name="T0" fmla="*/ 15 w 24"/>
                <a:gd name="T1" fmla="*/ 35 h 23"/>
                <a:gd name="T2" fmla="*/ 17 w 24"/>
                <a:gd name="T3" fmla="*/ 35 h 23"/>
                <a:gd name="T4" fmla="*/ 19 w 24"/>
                <a:gd name="T5" fmla="*/ 35 h 23"/>
                <a:gd name="T6" fmla="*/ 22 w 24"/>
                <a:gd name="T7" fmla="*/ 32 h 23"/>
                <a:gd name="T8" fmla="*/ 24 w 24"/>
                <a:gd name="T9" fmla="*/ 32 h 23"/>
                <a:gd name="T10" fmla="*/ 24 w 24"/>
                <a:gd name="T11" fmla="*/ 29 h 23"/>
                <a:gd name="T12" fmla="*/ 27 w 24"/>
                <a:gd name="T13" fmla="*/ 29 h 23"/>
                <a:gd name="T14" fmla="*/ 29 w 24"/>
                <a:gd name="T15" fmla="*/ 26 h 23"/>
                <a:gd name="T16" fmla="*/ 29 w 24"/>
                <a:gd name="T17" fmla="*/ 23 h 23"/>
                <a:gd name="T18" fmla="*/ 29 w 24"/>
                <a:gd name="T19" fmla="*/ 20 h 23"/>
                <a:gd name="T20" fmla="*/ 29 w 24"/>
                <a:gd name="T21" fmla="*/ 17 h 23"/>
                <a:gd name="T22" fmla="*/ 29 w 24"/>
                <a:gd name="T23" fmla="*/ 14 h 23"/>
                <a:gd name="T24" fmla="*/ 29 w 24"/>
                <a:gd name="T25" fmla="*/ 12 h 23"/>
                <a:gd name="T26" fmla="*/ 29 w 24"/>
                <a:gd name="T27" fmla="*/ 9 h 23"/>
                <a:gd name="T28" fmla="*/ 27 w 24"/>
                <a:gd name="T29" fmla="*/ 6 h 23"/>
                <a:gd name="T30" fmla="*/ 24 w 24"/>
                <a:gd name="T31" fmla="*/ 3 h 23"/>
                <a:gd name="T32" fmla="*/ 24 w 24"/>
                <a:gd name="T33" fmla="*/ 3 h 23"/>
                <a:gd name="T34" fmla="*/ 22 w 24"/>
                <a:gd name="T35" fmla="*/ 0 h 23"/>
                <a:gd name="T36" fmla="*/ 19 w 24"/>
                <a:gd name="T37" fmla="*/ 0 h 23"/>
                <a:gd name="T38" fmla="*/ 17 w 24"/>
                <a:gd name="T39" fmla="*/ 0 h 23"/>
                <a:gd name="T40" fmla="*/ 15 w 24"/>
                <a:gd name="T41" fmla="*/ 0 h 23"/>
                <a:gd name="T42" fmla="*/ 12 w 24"/>
                <a:gd name="T43" fmla="*/ 0 h 23"/>
                <a:gd name="T44" fmla="*/ 10 w 24"/>
                <a:gd name="T45" fmla="*/ 0 h 23"/>
                <a:gd name="T46" fmla="*/ 7 w 24"/>
                <a:gd name="T47" fmla="*/ 0 h 23"/>
                <a:gd name="T48" fmla="*/ 5 w 24"/>
                <a:gd name="T49" fmla="*/ 3 h 23"/>
                <a:gd name="T50" fmla="*/ 5 w 24"/>
                <a:gd name="T51" fmla="*/ 3 h 23"/>
                <a:gd name="T52" fmla="*/ 2 w 24"/>
                <a:gd name="T53" fmla="*/ 6 h 23"/>
                <a:gd name="T54" fmla="*/ 0 w 24"/>
                <a:gd name="T55" fmla="*/ 9 h 23"/>
                <a:gd name="T56" fmla="*/ 0 w 24"/>
                <a:gd name="T57" fmla="*/ 12 h 23"/>
                <a:gd name="T58" fmla="*/ 0 w 24"/>
                <a:gd name="T59" fmla="*/ 14 h 23"/>
                <a:gd name="T60" fmla="*/ 0 w 24"/>
                <a:gd name="T61" fmla="*/ 17 h 23"/>
                <a:gd name="T62" fmla="*/ 0 w 24"/>
                <a:gd name="T63" fmla="*/ 20 h 23"/>
                <a:gd name="T64" fmla="*/ 0 w 24"/>
                <a:gd name="T65" fmla="*/ 23 h 23"/>
                <a:gd name="T66" fmla="*/ 0 w 24"/>
                <a:gd name="T67" fmla="*/ 26 h 23"/>
                <a:gd name="T68" fmla="*/ 2 w 24"/>
                <a:gd name="T69" fmla="*/ 29 h 23"/>
                <a:gd name="T70" fmla="*/ 5 w 24"/>
                <a:gd name="T71" fmla="*/ 29 h 23"/>
                <a:gd name="T72" fmla="*/ 5 w 24"/>
                <a:gd name="T73" fmla="*/ 32 h 23"/>
                <a:gd name="T74" fmla="*/ 7 w 24"/>
                <a:gd name="T75" fmla="*/ 32 h 23"/>
                <a:gd name="T76" fmla="*/ 10 w 24"/>
                <a:gd name="T77" fmla="*/ 35 h 23"/>
                <a:gd name="T78" fmla="*/ 12 w 24"/>
                <a:gd name="T79" fmla="*/ 35 h 23"/>
                <a:gd name="T80" fmla="*/ 15 w 24"/>
                <a:gd name="T81" fmla="*/ 35 h 23"/>
                <a:gd name="T82" fmla="*/ 15 w 24"/>
                <a:gd name="T83" fmla="*/ 35 h 23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24"/>
                <a:gd name="T127" fmla="*/ 0 h 23"/>
                <a:gd name="T128" fmla="*/ 24 w 24"/>
                <a:gd name="T129" fmla="*/ 23 h 23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24" h="23">
                  <a:moveTo>
                    <a:pt x="12" y="23"/>
                  </a:moveTo>
                  <a:lnTo>
                    <a:pt x="14" y="23"/>
                  </a:lnTo>
                  <a:lnTo>
                    <a:pt x="16" y="23"/>
                  </a:lnTo>
                  <a:lnTo>
                    <a:pt x="18" y="21"/>
                  </a:lnTo>
                  <a:lnTo>
                    <a:pt x="20" y="21"/>
                  </a:lnTo>
                  <a:lnTo>
                    <a:pt x="20" y="19"/>
                  </a:lnTo>
                  <a:lnTo>
                    <a:pt x="22" y="19"/>
                  </a:lnTo>
                  <a:lnTo>
                    <a:pt x="24" y="17"/>
                  </a:lnTo>
                  <a:lnTo>
                    <a:pt x="24" y="15"/>
                  </a:lnTo>
                  <a:lnTo>
                    <a:pt x="24" y="13"/>
                  </a:lnTo>
                  <a:lnTo>
                    <a:pt x="24" y="11"/>
                  </a:lnTo>
                  <a:lnTo>
                    <a:pt x="24" y="9"/>
                  </a:lnTo>
                  <a:lnTo>
                    <a:pt x="24" y="8"/>
                  </a:lnTo>
                  <a:lnTo>
                    <a:pt x="24" y="6"/>
                  </a:lnTo>
                  <a:lnTo>
                    <a:pt x="22" y="4"/>
                  </a:lnTo>
                  <a:lnTo>
                    <a:pt x="20" y="2"/>
                  </a:lnTo>
                  <a:lnTo>
                    <a:pt x="18" y="0"/>
                  </a:lnTo>
                  <a:lnTo>
                    <a:pt x="16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8" y="0"/>
                  </a:lnTo>
                  <a:lnTo>
                    <a:pt x="6" y="0"/>
                  </a:lnTo>
                  <a:lnTo>
                    <a:pt x="4" y="2"/>
                  </a:lnTo>
                  <a:lnTo>
                    <a:pt x="2" y="4"/>
                  </a:lnTo>
                  <a:lnTo>
                    <a:pt x="0" y="6"/>
                  </a:lnTo>
                  <a:lnTo>
                    <a:pt x="0" y="8"/>
                  </a:lnTo>
                  <a:lnTo>
                    <a:pt x="0" y="9"/>
                  </a:lnTo>
                  <a:lnTo>
                    <a:pt x="0" y="11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0" y="17"/>
                  </a:lnTo>
                  <a:lnTo>
                    <a:pt x="2" y="19"/>
                  </a:lnTo>
                  <a:lnTo>
                    <a:pt x="4" y="19"/>
                  </a:lnTo>
                  <a:lnTo>
                    <a:pt x="4" y="21"/>
                  </a:lnTo>
                  <a:lnTo>
                    <a:pt x="6" y="21"/>
                  </a:lnTo>
                  <a:lnTo>
                    <a:pt x="8" y="23"/>
                  </a:lnTo>
                  <a:lnTo>
                    <a:pt x="10" y="23"/>
                  </a:lnTo>
                  <a:lnTo>
                    <a:pt x="12" y="2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6" name="Freeform 44"/>
            <p:cNvSpPr>
              <a:spLocks/>
            </p:cNvSpPr>
            <p:nvPr/>
          </p:nvSpPr>
          <p:spPr bwMode="auto">
            <a:xfrm>
              <a:off x="1757" y="944"/>
              <a:ext cx="236" cy="648"/>
            </a:xfrm>
            <a:custGeom>
              <a:avLst/>
              <a:gdLst>
                <a:gd name="T0" fmla="*/ 118 w 200"/>
                <a:gd name="T1" fmla="*/ 648 h 425"/>
                <a:gd name="T2" fmla="*/ 136 w 200"/>
                <a:gd name="T3" fmla="*/ 645 h 425"/>
                <a:gd name="T4" fmla="*/ 155 w 200"/>
                <a:gd name="T5" fmla="*/ 633 h 425"/>
                <a:gd name="T6" fmla="*/ 172 w 200"/>
                <a:gd name="T7" fmla="*/ 613 h 425"/>
                <a:gd name="T8" fmla="*/ 189 w 200"/>
                <a:gd name="T9" fmla="*/ 585 h 425"/>
                <a:gd name="T10" fmla="*/ 202 w 200"/>
                <a:gd name="T11" fmla="*/ 553 h 425"/>
                <a:gd name="T12" fmla="*/ 214 w 200"/>
                <a:gd name="T13" fmla="*/ 517 h 425"/>
                <a:gd name="T14" fmla="*/ 222 w 200"/>
                <a:gd name="T15" fmla="*/ 473 h 425"/>
                <a:gd name="T16" fmla="*/ 231 w 200"/>
                <a:gd name="T17" fmla="*/ 425 h 425"/>
                <a:gd name="T18" fmla="*/ 236 w 200"/>
                <a:gd name="T19" fmla="*/ 377 h 425"/>
                <a:gd name="T20" fmla="*/ 236 w 200"/>
                <a:gd name="T21" fmla="*/ 323 h 425"/>
                <a:gd name="T22" fmla="*/ 236 w 200"/>
                <a:gd name="T23" fmla="*/ 271 h 425"/>
                <a:gd name="T24" fmla="*/ 231 w 200"/>
                <a:gd name="T25" fmla="*/ 221 h 425"/>
                <a:gd name="T26" fmla="*/ 222 w 200"/>
                <a:gd name="T27" fmla="*/ 175 h 425"/>
                <a:gd name="T28" fmla="*/ 214 w 200"/>
                <a:gd name="T29" fmla="*/ 134 h 425"/>
                <a:gd name="T30" fmla="*/ 202 w 200"/>
                <a:gd name="T31" fmla="*/ 96 h 425"/>
                <a:gd name="T32" fmla="*/ 189 w 200"/>
                <a:gd name="T33" fmla="*/ 64 h 425"/>
                <a:gd name="T34" fmla="*/ 172 w 200"/>
                <a:gd name="T35" fmla="*/ 38 h 425"/>
                <a:gd name="T36" fmla="*/ 155 w 200"/>
                <a:gd name="T37" fmla="*/ 17 h 425"/>
                <a:gd name="T38" fmla="*/ 136 w 200"/>
                <a:gd name="T39" fmla="*/ 6 h 425"/>
                <a:gd name="T40" fmla="*/ 118 w 200"/>
                <a:gd name="T41" fmla="*/ 0 h 425"/>
                <a:gd name="T42" fmla="*/ 98 w 200"/>
                <a:gd name="T43" fmla="*/ 6 h 425"/>
                <a:gd name="T44" fmla="*/ 80 w 200"/>
                <a:gd name="T45" fmla="*/ 17 h 425"/>
                <a:gd name="T46" fmla="*/ 64 w 200"/>
                <a:gd name="T47" fmla="*/ 38 h 425"/>
                <a:gd name="T48" fmla="*/ 48 w 200"/>
                <a:gd name="T49" fmla="*/ 64 h 425"/>
                <a:gd name="T50" fmla="*/ 34 w 200"/>
                <a:gd name="T51" fmla="*/ 96 h 425"/>
                <a:gd name="T52" fmla="*/ 24 w 200"/>
                <a:gd name="T53" fmla="*/ 134 h 425"/>
                <a:gd name="T54" fmla="*/ 14 w 200"/>
                <a:gd name="T55" fmla="*/ 175 h 425"/>
                <a:gd name="T56" fmla="*/ 5 w 200"/>
                <a:gd name="T57" fmla="*/ 221 h 425"/>
                <a:gd name="T58" fmla="*/ 0 w 200"/>
                <a:gd name="T59" fmla="*/ 271 h 425"/>
                <a:gd name="T60" fmla="*/ 0 w 200"/>
                <a:gd name="T61" fmla="*/ 323 h 425"/>
                <a:gd name="T62" fmla="*/ 0 w 200"/>
                <a:gd name="T63" fmla="*/ 377 h 425"/>
                <a:gd name="T64" fmla="*/ 5 w 200"/>
                <a:gd name="T65" fmla="*/ 425 h 425"/>
                <a:gd name="T66" fmla="*/ 14 w 200"/>
                <a:gd name="T67" fmla="*/ 473 h 425"/>
                <a:gd name="T68" fmla="*/ 24 w 200"/>
                <a:gd name="T69" fmla="*/ 517 h 425"/>
                <a:gd name="T70" fmla="*/ 34 w 200"/>
                <a:gd name="T71" fmla="*/ 553 h 425"/>
                <a:gd name="T72" fmla="*/ 48 w 200"/>
                <a:gd name="T73" fmla="*/ 585 h 425"/>
                <a:gd name="T74" fmla="*/ 64 w 200"/>
                <a:gd name="T75" fmla="*/ 613 h 425"/>
                <a:gd name="T76" fmla="*/ 80 w 200"/>
                <a:gd name="T77" fmla="*/ 633 h 425"/>
                <a:gd name="T78" fmla="*/ 98 w 200"/>
                <a:gd name="T79" fmla="*/ 645 h 425"/>
                <a:gd name="T80" fmla="*/ 118 w 200"/>
                <a:gd name="T81" fmla="*/ 648 h 425"/>
                <a:gd name="T82" fmla="*/ 118 w 200"/>
                <a:gd name="T83" fmla="*/ 648 h 425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200"/>
                <a:gd name="T127" fmla="*/ 0 h 425"/>
                <a:gd name="T128" fmla="*/ 200 w 200"/>
                <a:gd name="T129" fmla="*/ 425 h 425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200" h="425">
                  <a:moveTo>
                    <a:pt x="100" y="425"/>
                  </a:moveTo>
                  <a:lnTo>
                    <a:pt x="115" y="423"/>
                  </a:lnTo>
                  <a:lnTo>
                    <a:pt x="131" y="415"/>
                  </a:lnTo>
                  <a:lnTo>
                    <a:pt x="146" y="402"/>
                  </a:lnTo>
                  <a:lnTo>
                    <a:pt x="160" y="384"/>
                  </a:lnTo>
                  <a:lnTo>
                    <a:pt x="171" y="363"/>
                  </a:lnTo>
                  <a:lnTo>
                    <a:pt x="181" y="339"/>
                  </a:lnTo>
                  <a:lnTo>
                    <a:pt x="188" y="310"/>
                  </a:lnTo>
                  <a:lnTo>
                    <a:pt x="196" y="279"/>
                  </a:lnTo>
                  <a:lnTo>
                    <a:pt x="200" y="247"/>
                  </a:lnTo>
                  <a:lnTo>
                    <a:pt x="200" y="212"/>
                  </a:lnTo>
                  <a:lnTo>
                    <a:pt x="200" y="178"/>
                  </a:lnTo>
                  <a:lnTo>
                    <a:pt x="196" y="145"/>
                  </a:lnTo>
                  <a:lnTo>
                    <a:pt x="188" y="115"/>
                  </a:lnTo>
                  <a:lnTo>
                    <a:pt x="181" y="88"/>
                  </a:lnTo>
                  <a:lnTo>
                    <a:pt x="171" y="63"/>
                  </a:lnTo>
                  <a:lnTo>
                    <a:pt x="160" y="42"/>
                  </a:lnTo>
                  <a:lnTo>
                    <a:pt x="146" y="25"/>
                  </a:lnTo>
                  <a:lnTo>
                    <a:pt x="131" y="11"/>
                  </a:lnTo>
                  <a:lnTo>
                    <a:pt x="115" y="4"/>
                  </a:lnTo>
                  <a:lnTo>
                    <a:pt x="100" y="0"/>
                  </a:lnTo>
                  <a:lnTo>
                    <a:pt x="83" y="4"/>
                  </a:lnTo>
                  <a:lnTo>
                    <a:pt x="68" y="11"/>
                  </a:lnTo>
                  <a:lnTo>
                    <a:pt x="54" y="25"/>
                  </a:lnTo>
                  <a:lnTo>
                    <a:pt x="41" y="42"/>
                  </a:lnTo>
                  <a:lnTo>
                    <a:pt x="29" y="63"/>
                  </a:lnTo>
                  <a:lnTo>
                    <a:pt x="20" y="88"/>
                  </a:lnTo>
                  <a:lnTo>
                    <a:pt x="12" y="115"/>
                  </a:lnTo>
                  <a:lnTo>
                    <a:pt x="4" y="145"/>
                  </a:lnTo>
                  <a:lnTo>
                    <a:pt x="0" y="178"/>
                  </a:lnTo>
                  <a:lnTo>
                    <a:pt x="0" y="212"/>
                  </a:lnTo>
                  <a:lnTo>
                    <a:pt x="0" y="247"/>
                  </a:lnTo>
                  <a:lnTo>
                    <a:pt x="4" y="279"/>
                  </a:lnTo>
                  <a:lnTo>
                    <a:pt x="12" y="310"/>
                  </a:lnTo>
                  <a:lnTo>
                    <a:pt x="20" y="339"/>
                  </a:lnTo>
                  <a:lnTo>
                    <a:pt x="29" y="363"/>
                  </a:lnTo>
                  <a:lnTo>
                    <a:pt x="41" y="384"/>
                  </a:lnTo>
                  <a:lnTo>
                    <a:pt x="54" y="402"/>
                  </a:lnTo>
                  <a:lnTo>
                    <a:pt x="68" y="415"/>
                  </a:lnTo>
                  <a:lnTo>
                    <a:pt x="83" y="423"/>
                  </a:lnTo>
                  <a:lnTo>
                    <a:pt x="100" y="425"/>
                  </a:lnTo>
                </a:path>
              </a:pathLst>
            </a:custGeom>
            <a:solidFill>
              <a:srgbClr val="FFE6CD"/>
            </a:solidFill>
            <a:ln w="28575" cmpd="sng">
              <a:solidFill>
                <a:srgbClr val="EB75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7" name="Rectangle 45"/>
            <p:cNvSpPr>
              <a:spLocks noChangeArrowheads="1"/>
            </p:cNvSpPr>
            <p:nvPr/>
          </p:nvSpPr>
          <p:spPr bwMode="auto">
            <a:xfrm rot="16200000" flipH="1">
              <a:off x="1731" y="1214"/>
              <a:ext cx="277" cy="1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>
                  <a:solidFill>
                    <a:srgbClr val="EB7500"/>
                  </a:solidFill>
                  <a:latin typeface="+mj-lt"/>
                </a:rPr>
                <a:t>Control</a:t>
              </a:r>
              <a:endParaRPr lang="en-US" sz="1200">
                <a:latin typeface="+mj-lt"/>
              </a:endParaRPr>
            </a:p>
          </p:txBody>
        </p:sp>
        <p:sp>
          <p:nvSpPr>
            <p:cNvPr id="48" name="Freeform 46"/>
            <p:cNvSpPr>
              <a:spLocks/>
            </p:cNvSpPr>
            <p:nvPr/>
          </p:nvSpPr>
          <p:spPr bwMode="auto">
            <a:xfrm>
              <a:off x="999" y="1641"/>
              <a:ext cx="115" cy="1725"/>
            </a:xfrm>
            <a:custGeom>
              <a:avLst/>
              <a:gdLst>
                <a:gd name="T0" fmla="*/ 113 w 98"/>
                <a:gd name="T1" fmla="*/ 1722 h 1130"/>
                <a:gd name="T2" fmla="*/ 115 w 98"/>
                <a:gd name="T3" fmla="*/ 0 h 1130"/>
                <a:gd name="T4" fmla="*/ 0 w 98"/>
                <a:gd name="T5" fmla="*/ 0 h 1130"/>
                <a:gd name="T6" fmla="*/ 0 w 98"/>
                <a:gd name="T7" fmla="*/ 1725 h 1130"/>
                <a:gd name="T8" fmla="*/ 115 w 98"/>
                <a:gd name="T9" fmla="*/ 1725 h 1130"/>
                <a:gd name="T10" fmla="*/ 115 w 98"/>
                <a:gd name="T11" fmla="*/ 1725 h 113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8"/>
                <a:gd name="T19" fmla="*/ 0 h 1130"/>
                <a:gd name="T20" fmla="*/ 98 w 98"/>
                <a:gd name="T21" fmla="*/ 1130 h 113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8" h="1130">
                  <a:moveTo>
                    <a:pt x="96" y="1128"/>
                  </a:moveTo>
                  <a:lnTo>
                    <a:pt x="98" y="0"/>
                  </a:lnTo>
                  <a:lnTo>
                    <a:pt x="0" y="0"/>
                  </a:lnTo>
                  <a:lnTo>
                    <a:pt x="0" y="1130"/>
                  </a:lnTo>
                  <a:lnTo>
                    <a:pt x="98" y="1130"/>
                  </a:lnTo>
                </a:path>
              </a:pathLst>
            </a:custGeom>
            <a:solidFill>
              <a:srgbClr val="CCEC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9" name="Freeform 47"/>
            <p:cNvSpPr>
              <a:spLocks/>
            </p:cNvSpPr>
            <p:nvPr/>
          </p:nvSpPr>
          <p:spPr bwMode="auto">
            <a:xfrm>
              <a:off x="2909" y="2555"/>
              <a:ext cx="29" cy="39"/>
            </a:xfrm>
            <a:custGeom>
              <a:avLst/>
              <a:gdLst>
                <a:gd name="T0" fmla="*/ 14 w 25"/>
                <a:gd name="T1" fmla="*/ 39 h 25"/>
                <a:gd name="T2" fmla="*/ 16 w 25"/>
                <a:gd name="T3" fmla="*/ 39 h 25"/>
                <a:gd name="T4" fmla="*/ 19 w 25"/>
                <a:gd name="T5" fmla="*/ 39 h 25"/>
                <a:gd name="T6" fmla="*/ 21 w 25"/>
                <a:gd name="T7" fmla="*/ 36 h 25"/>
                <a:gd name="T8" fmla="*/ 23 w 25"/>
                <a:gd name="T9" fmla="*/ 36 h 25"/>
                <a:gd name="T10" fmla="*/ 24 w 25"/>
                <a:gd name="T11" fmla="*/ 34 h 25"/>
                <a:gd name="T12" fmla="*/ 24 w 25"/>
                <a:gd name="T13" fmla="*/ 31 h 25"/>
                <a:gd name="T14" fmla="*/ 27 w 25"/>
                <a:gd name="T15" fmla="*/ 31 h 25"/>
                <a:gd name="T16" fmla="*/ 27 w 25"/>
                <a:gd name="T17" fmla="*/ 28 h 25"/>
                <a:gd name="T18" fmla="*/ 29 w 25"/>
                <a:gd name="T19" fmla="*/ 25 h 25"/>
                <a:gd name="T20" fmla="*/ 29 w 25"/>
                <a:gd name="T21" fmla="*/ 22 h 25"/>
                <a:gd name="T22" fmla="*/ 29 w 25"/>
                <a:gd name="T23" fmla="*/ 19 h 25"/>
                <a:gd name="T24" fmla="*/ 27 w 25"/>
                <a:gd name="T25" fmla="*/ 16 h 25"/>
                <a:gd name="T26" fmla="*/ 27 w 25"/>
                <a:gd name="T27" fmla="*/ 12 h 25"/>
                <a:gd name="T28" fmla="*/ 24 w 25"/>
                <a:gd name="T29" fmla="*/ 9 h 25"/>
                <a:gd name="T30" fmla="*/ 24 w 25"/>
                <a:gd name="T31" fmla="*/ 6 h 25"/>
                <a:gd name="T32" fmla="*/ 23 w 25"/>
                <a:gd name="T33" fmla="*/ 6 h 25"/>
                <a:gd name="T34" fmla="*/ 21 w 25"/>
                <a:gd name="T35" fmla="*/ 3 h 25"/>
                <a:gd name="T36" fmla="*/ 19 w 25"/>
                <a:gd name="T37" fmla="*/ 3 h 25"/>
                <a:gd name="T38" fmla="*/ 16 w 25"/>
                <a:gd name="T39" fmla="*/ 0 h 25"/>
                <a:gd name="T40" fmla="*/ 14 w 25"/>
                <a:gd name="T41" fmla="*/ 0 h 25"/>
                <a:gd name="T42" fmla="*/ 12 w 25"/>
                <a:gd name="T43" fmla="*/ 0 h 25"/>
                <a:gd name="T44" fmla="*/ 9 w 25"/>
                <a:gd name="T45" fmla="*/ 3 h 25"/>
                <a:gd name="T46" fmla="*/ 7 w 25"/>
                <a:gd name="T47" fmla="*/ 3 h 25"/>
                <a:gd name="T48" fmla="*/ 7 w 25"/>
                <a:gd name="T49" fmla="*/ 6 h 25"/>
                <a:gd name="T50" fmla="*/ 5 w 25"/>
                <a:gd name="T51" fmla="*/ 6 h 25"/>
                <a:gd name="T52" fmla="*/ 2 w 25"/>
                <a:gd name="T53" fmla="*/ 9 h 25"/>
                <a:gd name="T54" fmla="*/ 2 w 25"/>
                <a:gd name="T55" fmla="*/ 12 h 25"/>
                <a:gd name="T56" fmla="*/ 0 w 25"/>
                <a:gd name="T57" fmla="*/ 16 h 25"/>
                <a:gd name="T58" fmla="*/ 0 w 25"/>
                <a:gd name="T59" fmla="*/ 19 h 25"/>
                <a:gd name="T60" fmla="*/ 0 w 25"/>
                <a:gd name="T61" fmla="*/ 22 h 25"/>
                <a:gd name="T62" fmla="*/ 0 w 25"/>
                <a:gd name="T63" fmla="*/ 25 h 25"/>
                <a:gd name="T64" fmla="*/ 0 w 25"/>
                <a:gd name="T65" fmla="*/ 28 h 25"/>
                <a:gd name="T66" fmla="*/ 2 w 25"/>
                <a:gd name="T67" fmla="*/ 31 h 25"/>
                <a:gd name="T68" fmla="*/ 2 w 25"/>
                <a:gd name="T69" fmla="*/ 31 h 25"/>
                <a:gd name="T70" fmla="*/ 5 w 25"/>
                <a:gd name="T71" fmla="*/ 34 h 25"/>
                <a:gd name="T72" fmla="*/ 7 w 25"/>
                <a:gd name="T73" fmla="*/ 36 h 25"/>
                <a:gd name="T74" fmla="*/ 7 w 25"/>
                <a:gd name="T75" fmla="*/ 36 h 25"/>
                <a:gd name="T76" fmla="*/ 9 w 25"/>
                <a:gd name="T77" fmla="*/ 39 h 25"/>
                <a:gd name="T78" fmla="*/ 12 w 25"/>
                <a:gd name="T79" fmla="*/ 39 h 25"/>
                <a:gd name="T80" fmla="*/ 14 w 25"/>
                <a:gd name="T81" fmla="*/ 39 h 25"/>
                <a:gd name="T82" fmla="*/ 14 w 25"/>
                <a:gd name="T83" fmla="*/ 39 h 25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25"/>
                <a:gd name="T127" fmla="*/ 0 h 25"/>
                <a:gd name="T128" fmla="*/ 25 w 25"/>
                <a:gd name="T129" fmla="*/ 25 h 25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25" h="25">
                  <a:moveTo>
                    <a:pt x="12" y="25"/>
                  </a:moveTo>
                  <a:lnTo>
                    <a:pt x="14" y="25"/>
                  </a:lnTo>
                  <a:lnTo>
                    <a:pt x="16" y="25"/>
                  </a:lnTo>
                  <a:lnTo>
                    <a:pt x="18" y="23"/>
                  </a:lnTo>
                  <a:lnTo>
                    <a:pt x="20" y="23"/>
                  </a:lnTo>
                  <a:lnTo>
                    <a:pt x="21" y="22"/>
                  </a:lnTo>
                  <a:lnTo>
                    <a:pt x="21" y="20"/>
                  </a:lnTo>
                  <a:lnTo>
                    <a:pt x="23" y="20"/>
                  </a:lnTo>
                  <a:lnTo>
                    <a:pt x="23" y="18"/>
                  </a:lnTo>
                  <a:lnTo>
                    <a:pt x="25" y="16"/>
                  </a:lnTo>
                  <a:lnTo>
                    <a:pt x="25" y="14"/>
                  </a:lnTo>
                  <a:lnTo>
                    <a:pt x="25" y="12"/>
                  </a:lnTo>
                  <a:lnTo>
                    <a:pt x="23" y="10"/>
                  </a:lnTo>
                  <a:lnTo>
                    <a:pt x="23" y="8"/>
                  </a:lnTo>
                  <a:lnTo>
                    <a:pt x="21" y="6"/>
                  </a:lnTo>
                  <a:lnTo>
                    <a:pt x="21" y="4"/>
                  </a:lnTo>
                  <a:lnTo>
                    <a:pt x="20" y="4"/>
                  </a:lnTo>
                  <a:lnTo>
                    <a:pt x="18" y="2"/>
                  </a:lnTo>
                  <a:lnTo>
                    <a:pt x="16" y="2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8" y="2"/>
                  </a:lnTo>
                  <a:lnTo>
                    <a:pt x="6" y="2"/>
                  </a:lnTo>
                  <a:lnTo>
                    <a:pt x="6" y="4"/>
                  </a:lnTo>
                  <a:lnTo>
                    <a:pt x="4" y="4"/>
                  </a:lnTo>
                  <a:lnTo>
                    <a:pt x="2" y="6"/>
                  </a:lnTo>
                  <a:lnTo>
                    <a:pt x="2" y="8"/>
                  </a:lnTo>
                  <a:lnTo>
                    <a:pt x="0" y="10"/>
                  </a:lnTo>
                  <a:lnTo>
                    <a:pt x="0" y="12"/>
                  </a:lnTo>
                  <a:lnTo>
                    <a:pt x="0" y="14"/>
                  </a:lnTo>
                  <a:lnTo>
                    <a:pt x="0" y="16"/>
                  </a:lnTo>
                  <a:lnTo>
                    <a:pt x="0" y="18"/>
                  </a:lnTo>
                  <a:lnTo>
                    <a:pt x="2" y="20"/>
                  </a:lnTo>
                  <a:lnTo>
                    <a:pt x="4" y="22"/>
                  </a:lnTo>
                  <a:lnTo>
                    <a:pt x="6" y="23"/>
                  </a:lnTo>
                  <a:lnTo>
                    <a:pt x="8" y="25"/>
                  </a:lnTo>
                  <a:lnTo>
                    <a:pt x="10" y="25"/>
                  </a:lnTo>
                  <a:lnTo>
                    <a:pt x="12" y="25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0" name="Freeform 48"/>
            <p:cNvSpPr>
              <a:spLocks/>
            </p:cNvSpPr>
            <p:nvPr/>
          </p:nvSpPr>
          <p:spPr bwMode="auto">
            <a:xfrm>
              <a:off x="2482" y="1641"/>
              <a:ext cx="115" cy="1725"/>
            </a:xfrm>
            <a:custGeom>
              <a:avLst/>
              <a:gdLst>
                <a:gd name="T0" fmla="*/ 113 w 98"/>
                <a:gd name="T1" fmla="*/ 1722 h 1130"/>
                <a:gd name="T2" fmla="*/ 115 w 98"/>
                <a:gd name="T3" fmla="*/ 0 h 1130"/>
                <a:gd name="T4" fmla="*/ 0 w 98"/>
                <a:gd name="T5" fmla="*/ 0 h 1130"/>
                <a:gd name="T6" fmla="*/ 0 w 98"/>
                <a:gd name="T7" fmla="*/ 1725 h 1130"/>
                <a:gd name="T8" fmla="*/ 115 w 98"/>
                <a:gd name="T9" fmla="*/ 1725 h 1130"/>
                <a:gd name="T10" fmla="*/ 115 w 98"/>
                <a:gd name="T11" fmla="*/ 1725 h 113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8"/>
                <a:gd name="T19" fmla="*/ 0 h 1130"/>
                <a:gd name="T20" fmla="*/ 98 w 98"/>
                <a:gd name="T21" fmla="*/ 1130 h 113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8" h="1130">
                  <a:moveTo>
                    <a:pt x="96" y="1128"/>
                  </a:moveTo>
                  <a:lnTo>
                    <a:pt x="98" y="0"/>
                  </a:lnTo>
                  <a:lnTo>
                    <a:pt x="0" y="0"/>
                  </a:lnTo>
                  <a:lnTo>
                    <a:pt x="0" y="1130"/>
                  </a:lnTo>
                  <a:lnTo>
                    <a:pt x="98" y="1130"/>
                  </a:lnTo>
                </a:path>
              </a:pathLst>
            </a:custGeom>
            <a:solidFill>
              <a:srgbClr val="CCEC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1" name="Freeform 49"/>
            <p:cNvSpPr>
              <a:spLocks/>
            </p:cNvSpPr>
            <p:nvPr/>
          </p:nvSpPr>
          <p:spPr bwMode="auto">
            <a:xfrm>
              <a:off x="965" y="2293"/>
              <a:ext cx="29" cy="38"/>
            </a:xfrm>
            <a:custGeom>
              <a:avLst/>
              <a:gdLst>
                <a:gd name="T0" fmla="*/ 0 w 25"/>
                <a:gd name="T1" fmla="*/ 0 h 25"/>
                <a:gd name="T2" fmla="*/ 2 w 25"/>
                <a:gd name="T3" fmla="*/ 38 h 25"/>
                <a:gd name="T4" fmla="*/ 29 w 25"/>
                <a:gd name="T5" fmla="*/ 21 h 25"/>
                <a:gd name="T6" fmla="*/ 2 w 25"/>
                <a:gd name="T7" fmla="*/ 0 h 25"/>
                <a:gd name="T8" fmla="*/ 2 w 25"/>
                <a:gd name="T9" fmla="*/ 0 h 25"/>
                <a:gd name="T10" fmla="*/ 0 w 25"/>
                <a:gd name="T11" fmla="*/ 0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"/>
                <a:gd name="T19" fmla="*/ 0 h 25"/>
                <a:gd name="T20" fmla="*/ 25 w 25"/>
                <a:gd name="T21" fmla="*/ 25 h 2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" h="25">
                  <a:moveTo>
                    <a:pt x="0" y="0"/>
                  </a:moveTo>
                  <a:lnTo>
                    <a:pt x="2" y="25"/>
                  </a:lnTo>
                  <a:lnTo>
                    <a:pt x="25" y="14"/>
                  </a:lnTo>
                  <a:lnTo>
                    <a:pt x="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2" name="Line 50"/>
            <p:cNvSpPr>
              <a:spLocks noChangeShapeType="1"/>
            </p:cNvSpPr>
            <p:nvPr/>
          </p:nvSpPr>
          <p:spPr bwMode="auto">
            <a:xfrm>
              <a:off x="913" y="2311"/>
              <a:ext cx="61" cy="3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3" name="Freeform 51"/>
            <p:cNvSpPr>
              <a:spLocks/>
            </p:cNvSpPr>
            <p:nvPr/>
          </p:nvSpPr>
          <p:spPr bwMode="auto">
            <a:xfrm>
              <a:off x="2452" y="1835"/>
              <a:ext cx="29" cy="37"/>
            </a:xfrm>
            <a:custGeom>
              <a:avLst/>
              <a:gdLst>
                <a:gd name="T0" fmla="*/ 0 w 25"/>
                <a:gd name="T1" fmla="*/ 0 h 24"/>
                <a:gd name="T2" fmla="*/ 2 w 25"/>
                <a:gd name="T3" fmla="*/ 37 h 24"/>
                <a:gd name="T4" fmla="*/ 29 w 25"/>
                <a:gd name="T5" fmla="*/ 20 h 24"/>
                <a:gd name="T6" fmla="*/ 2 w 25"/>
                <a:gd name="T7" fmla="*/ 0 h 24"/>
                <a:gd name="T8" fmla="*/ 2 w 25"/>
                <a:gd name="T9" fmla="*/ 0 h 24"/>
                <a:gd name="T10" fmla="*/ 0 w 25"/>
                <a:gd name="T11" fmla="*/ 0 h 2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"/>
                <a:gd name="T19" fmla="*/ 0 h 24"/>
                <a:gd name="T20" fmla="*/ 25 w 25"/>
                <a:gd name="T21" fmla="*/ 24 h 2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" h="24">
                  <a:moveTo>
                    <a:pt x="0" y="0"/>
                  </a:moveTo>
                  <a:lnTo>
                    <a:pt x="2" y="24"/>
                  </a:lnTo>
                  <a:lnTo>
                    <a:pt x="25" y="13"/>
                  </a:lnTo>
                  <a:lnTo>
                    <a:pt x="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" name="Line 52"/>
            <p:cNvSpPr>
              <a:spLocks noChangeShapeType="1"/>
            </p:cNvSpPr>
            <p:nvPr/>
          </p:nvSpPr>
          <p:spPr bwMode="auto">
            <a:xfrm flipH="1">
              <a:off x="2250" y="1852"/>
              <a:ext cx="209" cy="3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5" name="Freeform 53"/>
            <p:cNvSpPr>
              <a:spLocks/>
            </p:cNvSpPr>
            <p:nvPr/>
          </p:nvSpPr>
          <p:spPr bwMode="auto">
            <a:xfrm>
              <a:off x="2452" y="2862"/>
              <a:ext cx="29" cy="38"/>
            </a:xfrm>
            <a:custGeom>
              <a:avLst/>
              <a:gdLst>
                <a:gd name="T0" fmla="*/ 0 w 25"/>
                <a:gd name="T1" fmla="*/ 0 h 25"/>
                <a:gd name="T2" fmla="*/ 2 w 25"/>
                <a:gd name="T3" fmla="*/ 38 h 25"/>
                <a:gd name="T4" fmla="*/ 29 w 25"/>
                <a:gd name="T5" fmla="*/ 21 h 25"/>
                <a:gd name="T6" fmla="*/ 2 w 25"/>
                <a:gd name="T7" fmla="*/ 0 h 25"/>
                <a:gd name="T8" fmla="*/ 2 w 25"/>
                <a:gd name="T9" fmla="*/ 0 h 25"/>
                <a:gd name="T10" fmla="*/ 0 w 25"/>
                <a:gd name="T11" fmla="*/ 0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"/>
                <a:gd name="T19" fmla="*/ 0 h 25"/>
                <a:gd name="T20" fmla="*/ 25 w 25"/>
                <a:gd name="T21" fmla="*/ 25 h 2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" h="25">
                  <a:moveTo>
                    <a:pt x="0" y="0"/>
                  </a:moveTo>
                  <a:lnTo>
                    <a:pt x="2" y="25"/>
                  </a:lnTo>
                  <a:lnTo>
                    <a:pt x="25" y="14"/>
                  </a:lnTo>
                  <a:lnTo>
                    <a:pt x="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6" name="Freeform 54"/>
            <p:cNvSpPr>
              <a:spLocks/>
            </p:cNvSpPr>
            <p:nvPr/>
          </p:nvSpPr>
          <p:spPr bwMode="auto">
            <a:xfrm>
              <a:off x="1307" y="1855"/>
              <a:ext cx="1155" cy="1029"/>
            </a:xfrm>
            <a:custGeom>
              <a:avLst/>
              <a:gdLst>
                <a:gd name="T0" fmla="*/ 1155 w 978"/>
                <a:gd name="T1" fmla="*/ 1026 h 674"/>
                <a:gd name="T2" fmla="*/ 0 w 978"/>
                <a:gd name="T3" fmla="*/ 1029 h 674"/>
                <a:gd name="T4" fmla="*/ 0 w 978"/>
                <a:gd name="T5" fmla="*/ 0 h 674"/>
                <a:gd name="T6" fmla="*/ 0 60000 65536"/>
                <a:gd name="T7" fmla="*/ 0 60000 65536"/>
                <a:gd name="T8" fmla="*/ 0 60000 65536"/>
                <a:gd name="T9" fmla="*/ 0 w 978"/>
                <a:gd name="T10" fmla="*/ 0 h 674"/>
                <a:gd name="T11" fmla="*/ 978 w 978"/>
                <a:gd name="T12" fmla="*/ 674 h 67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78" h="674">
                  <a:moveTo>
                    <a:pt x="978" y="672"/>
                  </a:moveTo>
                  <a:lnTo>
                    <a:pt x="0" y="674"/>
                  </a:lnTo>
                  <a:lnTo>
                    <a:pt x="0" y="0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7" name="Rectangle 55"/>
            <p:cNvSpPr>
              <a:spLocks noChangeArrowheads="1"/>
            </p:cNvSpPr>
            <p:nvPr/>
          </p:nvSpPr>
          <p:spPr bwMode="auto">
            <a:xfrm>
              <a:off x="2472" y="1469"/>
              <a:ext cx="94" cy="108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>
                  <a:solidFill>
                    <a:srgbClr val="EB7500"/>
                  </a:solidFill>
                  <a:latin typeface="+mj-lt"/>
                </a:rPr>
                <a:t>EX</a:t>
              </a:r>
              <a:endParaRPr lang="en-US" sz="1200">
                <a:latin typeface="+mj-lt"/>
              </a:endParaRPr>
            </a:p>
          </p:txBody>
        </p:sp>
        <p:sp>
          <p:nvSpPr>
            <p:cNvPr id="58" name="Freeform 56"/>
            <p:cNvSpPr>
              <a:spLocks/>
            </p:cNvSpPr>
            <p:nvPr/>
          </p:nvSpPr>
          <p:spPr bwMode="auto">
            <a:xfrm>
              <a:off x="2487" y="1142"/>
              <a:ext cx="115" cy="252"/>
            </a:xfrm>
            <a:custGeom>
              <a:avLst/>
              <a:gdLst>
                <a:gd name="T0" fmla="*/ 113 w 98"/>
                <a:gd name="T1" fmla="*/ 249 h 165"/>
                <a:gd name="T2" fmla="*/ 115 w 98"/>
                <a:gd name="T3" fmla="*/ 0 h 165"/>
                <a:gd name="T4" fmla="*/ 0 w 98"/>
                <a:gd name="T5" fmla="*/ 0 h 165"/>
                <a:gd name="T6" fmla="*/ 0 w 98"/>
                <a:gd name="T7" fmla="*/ 252 h 165"/>
                <a:gd name="T8" fmla="*/ 115 w 98"/>
                <a:gd name="T9" fmla="*/ 252 h 165"/>
                <a:gd name="T10" fmla="*/ 115 w 98"/>
                <a:gd name="T11" fmla="*/ 252 h 16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8"/>
                <a:gd name="T19" fmla="*/ 0 h 165"/>
                <a:gd name="T20" fmla="*/ 98 w 98"/>
                <a:gd name="T21" fmla="*/ 165 h 16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8" h="165">
                  <a:moveTo>
                    <a:pt x="96" y="163"/>
                  </a:moveTo>
                  <a:lnTo>
                    <a:pt x="98" y="0"/>
                  </a:lnTo>
                  <a:lnTo>
                    <a:pt x="0" y="0"/>
                  </a:lnTo>
                  <a:lnTo>
                    <a:pt x="0" y="165"/>
                  </a:lnTo>
                  <a:lnTo>
                    <a:pt x="98" y="165"/>
                  </a:lnTo>
                </a:path>
              </a:pathLst>
            </a:custGeom>
            <a:solidFill>
              <a:srgbClr val="FFE6CD"/>
            </a:solidFill>
            <a:ln w="28575" cap="flat" cmpd="sng">
              <a:solidFill>
                <a:srgbClr val="EB75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9" name="Rectangle 57"/>
            <p:cNvSpPr>
              <a:spLocks noChangeArrowheads="1"/>
            </p:cNvSpPr>
            <p:nvPr/>
          </p:nvSpPr>
          <p:spPr bwMode="auto">
            <a:xfrm>
              <a:off x="2503" y="1218"/>
              <a:ext cx="79" cy="108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>
                  <a:solidFill>
                    <a:srgbClr val="EB7500"/>
                  </a:solidFill>
                  <a:latin typeface="+mj-lt"/>
                </a:rPr>
                <a:t>M</a:t>
              </a:r>
              <a:endParaRPr lang="en-US" sz="1200">
                <a:latin typeface="+mj-lt"/>
              </a:endParaRPr>
            </a:p>
          </p:txBody>
        </p:sp>
        <p:sp>
          <p:nvSpPr>
            <p:cNvPr id="60" name="Freeform 58"/>
            <p:cNvSpPr>
              <a:spLocks/>
            </p:cNvSpPr>
            <p:nvPr/>
          </p:nvSpPr>
          <p:spPr bwMode="auto">
            <a:xfrm>
              <a:off x="2487" y="893"/>
              <a:ext cx="115" cy="249"/>
            </a:xfrm>
            <a:custGeom>
              <a:avLst/>
              <a:gdLst>
                <a:gd name="T0" fmla="*/ 113 w 98"/>
                <a:gd name="T1" fmla="*/ 249 h 163"/>
                <a:gd name="T2" fmla="*/ 115 w 98"/>
                <a:gd name="T3" fmla="*/ 0 h 163"/>
                <a:gd name="T4" fmla="*/ 0 w 98"/>
                <a:gd name="T5" fmla="*/ 0 h 163"/>
                <a:gd name="T6" fmla="*/ 0 w 98"/>
                <a:gd name="T7" fmla="*/ 249 h 163"/>
                <a:gd name="T8" fmla="*/ 115 w 98"/>
                <a:gd name="T9" fmla="*/ 249 h 163"/>
                <a:gd name="T10" fmla="*/ 115 w 98"/>
                <a:gd name="T11" fmla="*/ 249 h 16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8"/>
                <a:gd name="T19" fmla="*/ 0 h 163"/>
                <a:gd name="T20" fmla="*/ 98 w 98"/>
                <a:gd name="T21" fmla="*/ 163 h 16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8" h="163">
                  <a:moveTo>
                    <a:pt x="96" y="163"/>
                  </a:moveTo>
                  <a:lnTo>
                    <a:pt x="98" y="0"/>
                  </a:lnTo>
                  <a:lnTo>
                    <a:pt x="0" y="0"/>
                  </a:lnTo>
                  <a:lnTo>
                    <a:pt x="0" y="163"/>
                  </a:lnTo>
                  <a:lnTo>
                    <a:pt x="98" y="163"/>
                  </a:lnTo>
                </a:path>
              </a:pathLst>
            </a:custGeom>
            <a:solidFill>
              <a:srgbClr val="FFE6CD"/>
            </a:solidFill>
            <a:ln w="28575" cap="flat" cmpd="sng">
              <a:solidFill>
                <a:srgbClr val="EB75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1" name="Rectangle 59"/>
            <p:cNvSpPr>
              <a:spLocks noChangeArrowheads="1"/>
            </p:cNvSpPr>
            <p:nvPr/>
          </p:nvSpPr>
          <p:spPr bwMode="auto">
            <a:xfrm>
              <a:off x="2466" y="970"/>
              <a:ext cx="132" cy="108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>
                  <a:solidFill>
                    <a:srgbClr val="EB7500"/>
                  </a:solidFill>
                  <a:latin typeface="+mj-lt"/>
                </a:rPr>
                <a:t>WB</a:t>
              </a:r>
              <a:endParaRPr lang="en-US" sz="1200">
                <a:latin typeface="+mj-lt"/>
              </a:endParaRPr>
            </a:p>
          </p:txBody>
        </p:sp>
        <p:sp>
          <p:nvSpPr>
            <p:cNvPr id="62" name="Freeform 60"/>
            <p:cNvSpPr>
              <a:spLocks/>
            </p:cNvSpPr>
            <p:nvPr/>
          </p:nvSpPr>
          <p:spPr bwMode="auto">
            <a:xfrm>
              <a:off x="2452" y="1498"/>
              <a:ext cx="29" cy="38"/>
            </a:xfrm>
            <a:custGeom>
              <a:avLst/>
              <a:gdLst>
                <a:gd name="T0" fmla="*/ 0 w 25"/>
                <a:gd name="T1" fmla="*/ 0 h 25"/>
                <a:gd name="T2" fmla="*/ 2 w 25"/>
                <a:gd name="T3" fmla="*/ 38 h 25"/>
                <a:gd name="T4" fmla="*/ 29 w 25"/>
                <a:gd name="T5" fmla="*/ 21 h 25"/>
                <a:gd name="T6" fmla="*/ 2 w 25"/>
                <a:gd name="T7" fmla="*/ 0 h 25"/>
                <a:gd name="T8" fmla="*/ 2 w 25"/>
                <a:gd name="T9" fmla="*/ 0 h 25"/>
                <a:gd name="T10" fmla="*/ 0 w 25"/>
                <a:gd name="T11" fmla="*/ 0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"/>
                <a:gd name="T19" fmla="*/ 0 h 25"/>
                <a:gd name="T20" fmla="*/ 25 w 25"/>
                <a:gd name="T21" fmla="*/ 25 h 2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" h="25">
                  <a:moveTo>
                    <a:pt x="0" y="0"/>
                  </a:moveTo>
                  <a:lnTo>
                    <a:pt x="2" y="25"/>
                  </a:lnTo>
                  <a:lnTo>
                    <a:pt x="25" y="14"/>
                  </a:lnTo>
                  <a:lnTo>
                    <a:pt x="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B75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3" name="Freeform 61"/>
            <p:cNvSpPr>
              <a:spLocks/>
            </p:cNvSpPr>
            <p:nvPr/>
          </p:nvSpPr>
          <p:spPr bwMode="auto">
            <a:xfrm>
              <a:off x="2452" y="998"/>
              <a:ext cx="29" cy="39"/>
            </a:xfrm>
            <a:custGeom>
              <a:avLst/>
              <a:gdLst>
                <a:gd name="T0" fmla="*/ 0 w 25"/>
                <a:gd name="T1" fmla="*/ 0 h 25"/>
                <a:gd name="T2" fmla="*/ 2 w 25"/>
                <a:gd name="T3" fmla="*/ 39 h 25"/>
                <a:gd name="T4" fmla="*/ 29 w 25"/>
                <a:gd name="T5" fmla="*/ 20 h 25"/>
                <a:gd name="T6" fmla="*/ 2 w 25"/>
                <a:gd name="T7" fmla="*/ 0 h 25"/>
                <a:gd name="T8" fmla="*/ 2 w 25"/>
                <a:gd name="T9" fmla="*/ 0 h 25"/>
                <a:gd name="T10" fmla="*/ 0 w 25"/>
                <a:gd name="T11" fmla="*/ 0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"/>
                <a:gd name="T19" fmla="*/ 0 h 25"/>
                <a:gd name="T20" fmla="*/ 25 w 25"/>
                <a:gd name="T21" fmla="*/ 25 h 2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" h="25">
                  <a:moveTo>
                    <a:pt x="0" y="0"/>
                  </a:moveTo>
                  <a:lnTo>
                    <a:pt x="2" y="25"/>
                  </a:lnTo>
                  <a:lnTo>
                    <a:pt x="25" y="13"/>
                  </a:lnTo>
                  <a:lnTo>
                    <a:pt x="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B75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4" name="Freeform 62"/>
            <p:cNvSpPr>
              <a:spLocks/>
            </p:cNvSpPr>
            <p:nvPr/>
          </p:nvSpPr>
          <p:spPr bwMode="auto">
            <a:xfrm>
              <a:off x="2400" y="1017"/>
              <a:ext cx="62" cy="502"/>
            </a:xfrm>
            <a:custGeom>
              <a:avLst/>
              <a:gdLst>
                <a:gd name="T0" fmla="*/ 62 w 52"/>
                <a:gd name="T1" fmla="*/ 0 h 329"/>
                <a:gd name="T2" fmla="*/ 0 w 52"/>
                <a:gd name="T3" fmla="*/ 2 h 329"/>
                <a:gd name="T4" fmla="*/ 0 w 52"/>
                <a:gd name="T5" fmla="*/ 502 h 329"/>
                <a:gd name="T6" fmla="*/ 62 w 52"/>
                <a:gd name="T7" fmla="*/ 502 h 32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2"/>
                <a:gd name="T13" fmla="*/ 0 h 329"/>
                <a:gd name="T14" fmla="*/ 52 w 52"/>
                <a:gd name="T15" fmla="*/ 329 h 32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2" h="329">
                  <a:moveTo>
                    <a:pt x="52" y="0"/>
                  </a:moveTo>
                  <a:lnTo>
                    <a:pt x="0" y="1"/>
                  </a:lnTo>
                  <a:lnTo>
                    <a:pt x="0" y="329"/>
                  </a:lnTo>
                  <a:lnTo>
                    <a:pt x="52" y="329"/>
                  </a:lnTo>
                </a:path>
              </a:pathLst>
            </a:custGeom>
            <a:noFill/>
            <a:ln w="15875">
              <a:solidFill>
                <a:srgbClr val="EB75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5" name="Freeform 63"/>
            <p:cNvSpPr>
              <a:spLocks/>
            </p:cNvSpPr>
            <p:nvPr/>
          </p:nvSpPr>
          <p:spPr bwMode="auto">
            <a:xfrm>
              <a:off x="3679" y="1394"/>
              <a:ext cx="115" cy="247"/>
            </a:xfrm>
            <a:custGeom>
              <a:avLst/>
              <a:gdLst>
                <a:gd name="T0" fmla="*/ 113 w 98"/>
                <a:gd name="T1" fmla="*/ 247 h 162"/>
                <a:gd name="T2" fmla="*/ 115 w 98"/>
                <a:gd name="T3" fmla="*/ 0 h 162"/>
                <a:gd name="T4" fmla="*/ 0 w 98"/>
                <a:gd name="T5" fmla="*/ 0 h 162"/>
                <a:gd name="T6" fmla="*/ 0 w 98"/>
                <a:gd name="T7" fmla="*/ 247 h 162"/>
                <a:gd name="T8" fmla="*/ 115 w 98"/>
                <a:gd name="T9" fmla="*/ 247 h 162"/>
                <a:gd name="T10" fmla="*/ 115 w 98"/>
                <a:gd name="T11" fmla="*/ 247 h 16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8"/>
                <a:gd name="T19" fmla="*/ 0 h 162"/>
                <a:gd name="T20" fmla="*/ 98 w 98"/>
                <a:gd name="T21" fmla="*/ 162 h 162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8" h="162">
                  <a:moveTo>
                    <a:pt x="96" y="162"/>
                  </a:moveTo>
                  <a:lnTo>
                    <a:pt x="98" y="0"/>
                  </a:lnTo>
                  <a:lnTo>
                    <a:pt x="0" y="0"/>
                  </a:lnTo>
                  <a:lnTo>
                    <a:pt x="0" y="162"/>
                  </a:lnTo>
                  <a:lnTo>
                    <a:pt x="98" y="162"/>
                  </a:lnTo>
                </a:path>
              </a:pathLst>
            </a:custGeom>
            <a:solidFill>
              <a:srgbClr val="FFE6CD"/>
            </a:solidFill>
            <a:ln w="28575" cap="flat" cmpd="sng">
              <a:solidFill>
                <a:srgbClr val="EB75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6" name="Freeform 64"/>
            <p:cNvSpPr>
              <a:spLocks/>
            </p:cNvSpPr>
            <p:nvPr/>
          </p:nvSpPr>
          <p:spPr bwMode="auto">
            <a:xfrm>
              <a:off x="3679" y="1641"/>
              <a:ext cx="115" cy="1725"/>
            </a:xfrm>
            <a:custGeom>
              <a:avLst/>
              <a:gdLst>
                <a:gd name="T0" fmla="*/ 113 w 98"/>
                <a:gd name="T1" fmla="*/ 1722 h 1130"/>
                <a:gd name="T2" fmla="*/ 115 w 98"/>
                <a:gd name="T3" fmla="*/ 0 h 1130"/>
                <a:gd name="T4" fmla="*/ 0 w 98"/>
                <a:gd name="T5" fmla="*/ 0 h 1130"/>
                <a:gd name="T6" fmla="*/ 0 w 98"/>
                <a:gd name="T7" fmla="*/ 1725 h 1130"/>
                <a:gd name="T8" fmla="*/ 115 w 98"/>
                <a:gd name="T9" fmla="*/ 1725 h 1130"/>
                <a:gd name="T10" fmla="*/ 115 w 98"/>
                <a:gd name="T11" fmla="*/ 1725 h 113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8"/>
                <a:gd name="T19" fmla="*/ 0 h 1130"/>
                <a:gd name="T20" fmla="*/ 98 w 98"/>
                <a:gd name="T21" fmla="*/ 1130 h 113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8" h="1130">
                  <a:moveTo>
                    <a:pt x="96" y="1128"/>
                  </a:moveTo>
                  <a:lnTo>
                    <a:pt x="98" y="0"/>
                  </a:lnTo>
                  <a:lnTo>
                    <a:pt x="0" y="0"/>
                  </a:lnTo>
                  <a:lnTo>
                    <a:pt x="0" y="1130"/>
                  </a:lnTo>
                  <a:lnTo>
                    <a:pt x="98" y="1130"/>
                  </a:lnTo>
                </a:path>
              </a:pathLst>
            </a:custGeom>
            <a:solidFill>
              <a:srgbClr val="CCEC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7" name="Freeform 65"/>
            <p:cNvSpPr>
              <a:spLocks/>
            </p:cNvSpPr>
            <p:nvPr/>
          </p:nvSpPr>
          <p:spPr bwMode="auto">
            <a:xfrm>
              <a:off x="3679" y="1142"/>
              <a:ext cx="115" cy="252"/>
            </a:xfrm>
            <a:custGeom>
              <a:avLst/>
              <a:gdLst>
                <a:gd name="T0" fmla="*/ 113 w 98"/>
                <a:gd name="T1" fmla="*/ 249 h 165"/>
                <a:gd name="T2" fmla="*/ 115 w 98"/>
                <a:gd name="T3" fmla="*/ 0 h 165"/>
                <a:gd name="T4" fmla="*/ 0 w 98"/>
                <a:gd name="T5" fmla="*/ 0 h 165"/>
                <a:gd name="T6" fmla="*/ 0 w 98"/>
                <a:gd name="T7" fmla="*/ 252 h 165"/>
                <a:gd name="T8" fmla="*/ 115 w 98"/>
                <a:gd name="T9" fmla="*/ 252 h 165"/>
                <a:gd name="T10" fmla="*/ 115 w 98"/>
                <a:gd name="T11" fmla="*/ 252 h 16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8"/>
                <a:gd name="T19" fmla="*/ 0 h 165"/>
                <a:gd name="T20" fmla="*/ 98 w 98"/>
                <a:gd name="T21" fmla="*/ 165 h 16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8" h="165">
                  <a:moveTo>
                    <a:pt x="96" y="163"/>
                  </a:moveTo>
                  <a:lnTo>
                    <a:pt x="98" y="0"/>
                  </a:lnTo>
                  <a:lnTo>
                    <a:pt x="0" y="0"/>
                  </a:lnTo>
                  <a:lnTo>
                    <a:pt x="0" y="165"/>
                  </a:lnTo>
                  <a:lnTo>
                    <a:pt x="98" y="165"/>
                  </a:lnTo>
                </a:path>
              </a:pathLst>
            </a:custGeom>
            <a:solidFill>
              <a:srgbClr val="FFE6CD"/>
            </a:solidFill>
            <a:ln w="28575" cap="flat" cmpd="sng">
              <a:solidFill>
                <a:srgbClr val="EB75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8" name="Freeform 66"/>
            <p:cNvSpPr>
              <a:spLocks/>
            </p:cNvSpPr>
            <p:nvPr/>
          </p:nvSpPr>
          <p:spPr bwMode="auto">
            <a:xfrm>
              <a:off x="3644" y="1481"/>
              <a:ext cx="29" cy="38"/>
            </a:xfrm>
            <a:custGeom>
              <a:avLst/>
              <a:gdLst>
                <a:gd name="T0" fmla="*/ 0 w 25"/>
                <a:gd name="T1" fmla="*/ 0 h 25"/>
                <a:gd name="T2" fmla="*/ 2 w 25"/>
                <a:gd name="T3" fmla="*/ 38 h 25"/>
                <a:gd name="T4" fmla="*/ 29 w 25"/>
                <a:gd name="T5" fmla="*/ 20 h 25"/>
                <a:gd name="T6" fmla="*/ 2 w 25"/>
                <a:gd name="T7" fmla="*/ 0 h 25"/>
                <a:gd name="T8" fmla="*/ 2 w 25"/>
                <a:gd name="T9" fmla="*/ 0 h 25"/>
                <a:gd name="T10" fmla="*/ 0 w 25"/>
                <a:gd name="T11" fmla="*/ 0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"/>
                <a:gd name="T19" fmla="*/ 0 h 25"/>
                <a:gd name="T20" fmla="*/ 25 w 25"/>
                <a:gd name="T21" fmla="*/ 25 h 2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" h="25">
                  <a:moveTo>
                    <a:pt x="0" y="0"/>
                  </a:moveTo>
                  <a:lnTo>
                    <a:pt x="2" y="25"/>
                  </a:lnTo>
                  <a:lnTo>
                    <a:pt x="25" y="13"/>
                  </a:lnTo>
                  <a:lnTo>
                    <a:pt x="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B75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9" name="Freeform 67"/>
            <p:cNvSpPr>
              <a:spLocks/>
            </p:cNvSpPr>
            <p:nvPr/>
          </p:nvSpPr>
          <p:spPr bwMode="auto">
            <a:xfrm>
              <a:off x="2602" y="1267"/>
              <a:ext cx="1052" cy="234"/>
            </a:xfrm>
            <a:custGeom>
              <a:avLst/>
              <a:gdLst>
                <a:gd name="T0" fmla="*/ 1052 w 891"/>
                <a:gd name="T1" fmla="*/ 231 h 153"/>
                <a:gd name="T2" fmla="*/ 948 w 891"/>
                <a:gd name="T3" fmla="*/ 234 h 153"/>
                <a:gd name="T4" fmla="*/ 948 w 891"/>
                <a:gd name="T5" fmla="*/ 0 h 153"/>
                <a:gd name="T6" fmla="*/ 0 w 891"/>
                <a:gd name="T7" fmla="*/ 0 h 15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91"/>
                <a:gd name="T13" fmla="*/ 0 h 153"/>
                <a:gd name="T14" fmla="*/ 891 w 891"/>
                <a:gd name="T15" fmla="*/ 153 h 15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91" h="153">
                  <a:moveTo>
                    <a:pt x="891" y="151"/>
                  </a:moveTo>
                  <a:lnTo>
                    <a:pt x="803" y="153"/>
                  </a:lnTo>
                  <a:lnTo>
                    <a:pt x="803" y="0"/>
                  </a:lnTo>
                  <a:lnTo>
                    <a:pt x="0" y="0"/>
                  </a:lnTo>
                </a:path>
              </a:pathLst>
            </a:custGeom>
            <a:noFill/>
            <a:ln w="15875">
              <a:solidFill>
                <a:srgbClr val="EB75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70" name="Freeform 68"/>
            <p:cNvSpPr>
              <a:spLocks/>
            </p:cNvSpPr>
            <p:nvPr/>
          </p:nvSpPr>
          <p:spPr bwMode="auto">
            <a:xfrm>
              <a:off x="3644" y="1247"/>
              <a:ext cx="29" cy="38"/>
            </a:xfrm>
            <a:custGeom>
              <a:avLst/>
              <a:gdLst>
                <a:gd name="T0" fmla="*/ 0 w 25"/>
                <a:gd name="T1" fmla="*/ 0 h 25"/>
                <a:gd name="T2" fmla="*/ 2 w 25"/>
                <a:gd name="T3" fmla="*/ 38 h 25"/>
                <a:gd name="T4" fmla="*/ 29 w 25"/>
                <a:gd name="T5" fmla="*/ 20 h 25"/>
                <a:gd name="T6" fmla="*/ 2 w 25"/>
                <a:gd name="T7" fmla="*/ 3 h 25"/>
                <a:gd name="T8" fmla="*/ 2 w 25"/>
                <a:gd name="T9" fmla="*/ 3 h 25"/>
                <a:gd name="T10" fmla="*/ 0 w 25"/>
                <a:gd name="T11" fmla="*/ 0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"/>
                <a:gd name="T19" fmla="*/ 0 h 25"/>
                <a:gd name="T20" fmla="*/ 25 w 25"/>
                <a:gd name="T21" fmla="*/ 25 h 2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" h="25">
                  <a:moveTo>
                    <a:pt x="0" y="0"/>
                  </a:moveTo>
                  <a:lnTo>
                    <a:pt x="2" y="25"/>
                  </a:lnTo>
                  <a:lnTo>
                    <a:pt x="25" y="13"/>
                  </a:lnTo>
                  <a:lnTo>
                    <a:pt x="2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B75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71" name="Freeform 69"/>
            <p:cNvSpPr>
              <a:spLocks/>
            </p:cNvSpPr>
            <p:nvPr/>
          </p:nvSpPr>
          <p:spPr bwMode="auto">
            <a:xfrm>
              <a:off x="2599" y="1017"/>
              <a:ext cx="1055" cy="250"/>
            </a:xfrm>
            <a:custGeom>
              <a:avLst/>
              <a:gdLst>
                <a:gd name="T0" fmla="*/ 0 w 893"/>
                <a:gd name="T1" fmla="*/ 0 h 164"/>
                <a:gd name="T2" fmla="*/ 994 w 893"/>
                <a:gd name="T3" fmla="*/ 2 h 164"/>
                <a:gd name="T4" fmla="*/ 994 w 893"/>
                <a:gd name="T5" fmla="*/ 250 h 164"/>
                <a:gd name="T6" fmla="*/ 1055 w 893"/>
                <a:gd name="T7" fmla="*/ 250 h 16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93"/>
                <a:gd name="T13" fmla="*/ 0 h 164"/>
                <a:gd name="T14" fmla="*/ 893 w 893"/>
                <a:gd name="T15" fmla="*/ 164 h 16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93" h="164">
                  <a:moveTo>
                    <a:pt x="0" y="0"/>
                  </a:moveTo>
                  <a:lnTo>
                    <a:pt x="841" y="1"/>
                  </a:lnTo>
                  <a:lnTo>
                    <a:pt x="841" y="164"/>
                  </a:lnTo>
                  <a:lnTo>
                    <a:pt x="893" y="164"/>
                  </a:lnTo>
                </a:path>
              </a:pathLst>
            </a:custGeom>
            <a:noFill/>
            <a:ln w="15875">
              <a:solidFill>
                <a:srgbClr val="EB75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72" name="Freeform 70"/>
            <p:cNvSpPr>
              <a:spLocks/>
            </p:cNvSpPr>
            <p:nvPr/>
          </p:nvSpPr>
          <p:spPr bwMode="auto">
            <a:xfrm>
              <a:off x="4534" y="1394"/>
              <a:ext cx="116" cy="247"/>
            </a:xfrm>
            <a:custGeom>
              <a:avLst/>
              <a:gdLst>
                <a:gd name="T0" fmla="*/ 116 w 98"/>
                <a:gd name="T1" fmla="*/ 247 h 162"/>
                <a:gd name="T2" fmla="*/ 116 w 98"/>
                <a:gd name="T3" fmla="*/ 0 h 162"/>
                <a:gd name="T4" fmla="*/ 0 w 98"/>
                <a:gd name="T5" fmla="*/ 0 h 162"/>
                <a:gd name="T6" fmla="*/ 0 w 98"/>
                <a:gd name="T7" fmla="*/ 247 h 162"/>
                <a:gd name="T8" fmla="*/ 116 w 98"/>
                <a:gd name="T9" fmla="*/ 247 h 162"/>
                <a:gd name="T10" fmla="*/ 116 w 98"/>
                <a:gd name="T11" fmla="*/ 247 h 16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8"/>
                <a:gd name="T19" fmla="*/ 0 h 162"/>
                <a:gd name="T20" fmla="*/ 98 w 98"/>
                <a:gd name="T21" fmla="*/ 162 h 162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8" h="162">
                  <a:moveTo>
                    <a:pt x="98" y="162"/>
                  </a:moveTo>
                  <a:lnTo>
                    <a:pt x="98" y="0"/>
                  </a:lnTo>
                  <a:lnTo>
                    <a:pt x="0" y="0"/>
                  </a:lnTo>
                  <a:lnTo>
                    <a:pt x="0" y="162"/>
                  </a:lnTo>
                  <a:lnTo>
                    <a:pt x="98" y="162"/>
                  </a:lnTo>
                </a:path>
              </a:pathLst>
            </a:custGeom>
            <a:solidFill>
              <a:srgbClr val="FFE6CD"/>
            </a:solidFill>
            <a:ln w="28575" cap="flat" cmpd="sng">
              <a:solidFill>
                <a:srgbClr val="EB75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73" name="Freeform 71"/>
            <p:cNvSpPr>
              <a:spLocks/>
            </p:cNvSpPr>
            <p:nvPr/>
          </p:nvSpPr>
          <p:spPr bwMode="auto">
            <a:xfrm>
              <a:off x="4535" y="1641"/>
              <a:ext cx="116" cy="1725"/>
            </a:xfrm>
            <a:custGeom>
              <a:avLst/>
              <a:gdLst>
                <a:gd name="T0" fmla="*/ 116 w 98"/>
                <a:gd name="T1" fmla="*/ 1722 h 1130"/>
                <a:gd name="T2" fmla="*/ 116 w 98"/>
                <a:gd name="T3" fmla="*/ 0 h 1130"/>
                <a:gd name="T4" fmla="*/ 0 w 98"/>
                <a:gd name="T5" fmla="*/ 0 h 1130"/>
                <a:gd name="T6" fmla="*/ 0 w 98"/>
                <a:gd name="T7" fmla="*/ 1725 h 1130"/>
                <a:gd name="T8" fmla="*/ 116 w 98"/>
                <a:gd name="T9" fmla="*/ 1725 h 1130"/>
                <a:gd name="T10" fmla="*/ 116 w 98"/>
                <a:gd name="T11" fmla="*/ 1725 h 113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8"/>
                <a:gd name="T19" fmla="*/ 0 h 1130"/>
                <a:gd name="T20" fmla="*/ 98 w 98"/>
                <a:gd name="T21" fmla="*/ 1130 h 113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8" h="1130">
                  <a:moveTo>
                    <a:pt x="98" y="1128"/>
                  </a:moveTo>
                  <a:lnTo>
                    <a:pt x="98" y="0"/>
                  </a:lnTo>
                  <a:lnTo>
                    <a:pt x="0" y="0"/>
                  </a:lnTo>
                  <a:lnTo>
                    <a:pt x="0" y="1130"/>
                  </a:lnTo>
                  <a:lnTo>
                    <a:pt x="98" y="1130"/>
                  </a:lnTo>
                </a:path>
              </a:pathLst>
            </a:custGeom>
            <a:solidFill>
              <a:srgbClr val="CCECFF"/>
            </a:solidFill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74" name="Freeform 72"/>
            <p:cNvSpPr>
              <a:spLocks/>
            </p:cNvSpPr>
            <p:nvPr/>
          </p:nvSpPr>
          <p:spPr bwMode="auto">
            <a:xfrm>
              <a:off x="3644" y="2264"/>
              <a:ext cx="29" cy="38"/>
            </a:xfrm>
            <a:custGeom>
              <a:avLst/>
              <a:gdLst>
                <a:gd name="T0" fmla="*/ 0 w 25"/>
                <a:gd name="T1" fmla="*/ 0 h 25"/>
                <a:gd name="T2" fmla="*/ 2 w 25"/>
                <a:gd name="T3" fmla="*/ 38 h 25"/>
                <a:gd name="T4" fmla="*/ 29 w 25"/>
                <a:gd name="T5" fmla="*/ 20 h 25"/>
                <a:gd name="T6" fmla="*/ 2 w 25"/>
                <a:gd name="T7" fmla="*/ 3 h 25"/>
                <a:gd name="T8" fmla="*/ 2 w 25"/>
                <a:gd name="T9" fmla="*/ 3 h 25"/>
                <a:gd name="T10" fmla="*/ 0 w 25"/>
                <a:gd name="T11" fmla="*/ 0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"/>
                <a:gd name="T19" fmla="*/ 0 h 25"/>
                <a:gd name="T20" fmla="*/ 25 w 25"/>
                <a:gd name="T21" fmla="*/ 25 h 2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" h="25">
                  <a:moveTo>
                    <a:pt x="0" y="0"/>
                  </a:moveTo>
                  <a:lnTo>
                    <a:pt x="2" y="25"/>
                  </a:lnTo>
                  <a:lnTo>
                    <a:pt x="25" y="13"/>
                  </a:lnTo>
                  <a:lnTo>
                    <a:pt x="2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75" name="Line 73"/>
            <p:cNvSpPr>
              <a:spLocks noChangeShapeType="1"/>
            </p:cNvSpPr>
            <p:nvPr/>
          </p:nvSpPr>
          <p:spPr bwMode="auto">
            <a:xfrm flipH="1">
              <a:off x="3495" y="2281"/>
              <a:ext cx="156" cy="3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76" name="Freeform 74"/>
            <p:cNvSpPr>
              <a:spLocks/>
            </p:cNvSpPr>
            <p:nvPr/>
          </p:nvSpPr>
          <p:spPr bwMode="auto">
            <a:xfrm>
              <a:off x="4502" y="1498"/>
              <a:ext cx="30" cy="38"/>
            </a:xfrm>
            <a:custGeom>
              <a:avLst/>
              <a:gdLst>
                <a:gd name="T0" fmla="*/ 0 w 25"/>
                <a:gd name="T1" fmla="*/ 0 h 25"/>
                <a:gd name="T2" fmla="*/ 0 w 25"/>
                <a:gd name="T3" fmla="*/ 38 h 25"/>
                <a:gd name="T4" fmla="*/ 30 w 25"/>
                <a:gd name="T5" fmla="*/ 21 h 25"/>
                <a:gd name="T6" fmla="*/ 0 w 25"/>
                <a:gd name="T7" fmla="*/ 0 h 25"/>
                <a:gd name="T8" fmla="*/ 0 w 25"/>
                <a:gd name="T9" fmla="*/ 0 h 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"/>
                <a:gd name="T16" fmla="*/ 0 h 25"/>
                <a:gd name="T17" fmla="*/ 25 w 25"/>
                <a:gd name="T18" fmla="*/ 25 h 2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" h="25">
                  <a:moveTo>
                    <a:pt x="0" y="0"/>
                  </a:moveTo>
                  <a:lnTo>
                    <a:pt x="0" y="25"/>
                  </a:lnTo>
                  <a:lnTo>
                    <a:pt x="25" y="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B75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77" name="Freeform 75"/>
            <p:cNvSpPr>
              <a:spLocks/>
            </p:cNvSpPr>
            <p:nvPr/>
          </p:nvSpPr>
          <p:spPr bwMode="auto">
            <a:xfrm>
              <a:off x="3794" y="1267"/>
              <a:ext cx="715" cy="252"/>
            </a:xfrm>
            <a:custGeom>
              <a:avLst/>
              <a:gdLst>
                <a:gd name="T0" fmla="*/ 715 w 606"/>
                <a:gd name="T1" fmla="*/ 249 h 165"/>
                <a:gd name="T2" fmla="*/ 654 w 606"/>
                <a:gd name="T3" fmla="*/ 252 h 165"/>
                <a:gd name="T4" fmla="*/ 654 w 606"/>
                <a:gd name="T5" fmla="*/ 0 h 165"/>
                <a:gd name="T6" fmla="*/ 0 w 606"/>
                <a:gd name="T7" fmla="*/ 0 h 16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06"/>
                <a:gd name="T13" fmla="*/ 0 h 165"/>
                <a:gd name="T14" fmla="*/ 606 w 606"/>
                <a:gd name="T15" fmla="*/ 165 h 16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06" h="165">
                  <a:moveTo>
                    <a:pt x="606" y="163"/>
                  </a:moveTo>
                  <a:lnTo>
                    <a:pt x="554" y="165"/>
                  </a:lnTo>
                  <a:lnTo>
                    <a:pt x="554" y="0"/>
                  </a:lnTo>
                  <a:lnTo>
                    <a:pt x="0" y="0"/>
                  </a:lnTo>
                </a:path>
              </a:pathLst>
            </a:custGeom>
            <a:noFill/>
            <a:ln w="15875">
              <a:solidFill>
                <a:srgbClr val="EB75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78" name="Freeform 76"/>
            <p:cNvSpPr>
              <a:spLocks/>
            </p:cNvSpPr>
            <p:nvPr/>
          </p:nvSpPr>
          <p:spPr bwMode="auto">
            <a:xfrm>
              <a:off x="4500" y="2264"/>
              <a:ext cx="32" cy="38"/>
            </a:xfrm>
            <a:custGeom>
              <a:avLst/>
              <a:gdLst>
                <a:gd name="T0" fmla="*/ 0 w 27"/>
                <a:gd name="T1" fmla="*/ 0 h 25"/>
                <a:gd name="T2" fmla="*/ 2 w 27"/>
                <a:gd name="T3" fmla="*/ 38 h 25"/>
                <a:gd name="T4" fmla="*/ 32 w 27"/>
                <a:gd name="T5" fmla="*/ 20 h 25"/>
                <a:gd name="T6" fmla="*/ 2 w 27"/>
                <a:gd name="T7" fmla="*/ 3 h 25"/>
                <a:gd name="T8" fmla="*/ 2 w 27"/>
                <a:gd name="T9" fmla="*/ 3 h 25"/>
                <a:gd name="T10" fmla="*/ 0 w 27"/>
                <a:gd name="T11" fmla="*/ 0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7"/>
                <a:gd name="T19" fmla="*/ 0 h 25"/>
                <a:gd name="T20" fmla="*/ 27 w 27"/>
                <a:gd name="T21" fmla="*/ 25 h 2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7" h="25">
                  <a:moveTo>
                    <a:pt x="0" y="0"/>
                  </a:moveTo>
                  <a:lnTo>
                    <a:pt x="2" y="25"/>
                  </a:lnTo>
                  <a:lnTo>
                    <a:pt x="27" y="13"/>
                  </a:lnTo>
                  <a:lnTo>
                    <a:pt x="2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79" name="Line 77"/>
            <p:cNvSpPr>
              <a:spLocks noChangeShapeType="1"/>
            </p:cNvSpPr>
            <p:nvPr/>
          </p:nvSpPr>
          <p:spPr bwMode="auto">
            <a:xfrm flipH="1">
              <a:off x="4650" y="2281"/>
              <a:ext cx="257" cy="3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80" name="Line 78"/>
            <p:cNvSpPr>
              <a:spLocks noChangeShapeType="1"/>
            </p:cNvSpPr>
            <p:nvPr/>
          </p:nvSpPr>
          <p:spPr bwMode="auto">
            <a:xfrm flipH="1">
              <a:off x="4439" y="2281"/>
              <a:ext cx="68" cy="3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81" name="Freeform 79"/>
            <p:cNvSpPr>
              <a:spLocks/>
            </p:cNvSpPr>
            <p:nvPr/>
          </p:nvSpPr>
          <p:spPr bwMode="auto">
            <a:xfrm>
              <a:off x="4500" y="2784"/>
              <a:ext cx="32" cy="38"/>
            </a:xfrm>
            <a:custGeom>
              <a:avLst/>
              <a:gdLst>
                <a:gd name="T0" fmla="*/ 0 w 27"/>
                <a:gd name="T1" fmla="*/ 0 h 25"/>
                <a:gd name="T2" fmla="*/ 2 w 27"/>
                <a:gd name="T3" fmla="*/ 38 h 25"/>
                <a:gd name="T4" fmla="*/ 32 w 27"/>
                <a:gd name="T5" fmla="*/ 17 h 25"/>
                <a:gd name="T6" fmla="*/ 2 w 27"/>
                <a:gd name="T7" fmla="*/ 0 h 25"/>
                <a:gd name="T8" fmla="*/ 2 w 27"/>
                <a:gd name="T9" fmla="*/ 0 h 25"/>
                <a:gd name="T10" fmla="*/ 0 w 27"/>
                <a:gd name="T11" fmla="*/ 0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7"/>
                <a:gd name="T19" fmla="*/ 0 h 25"/>
                <a:gd name="T20" fmla="*/ 27 w 27"/>
                <a:gd name="T21" fmla="*/ 25 h 2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7" h="25">
                  <a:moveTo>
                    <a:pt x="0" y="0"/>
                  </a:moveTo>
                  <a:lnTo>
                    <a:pt x="2" y="25"/>
                  </a:lnTo>
                  <a:lnTo>
                    <a:pt x="27" y="11"/>
                  </a:lnTo>
                  <a:lnTo>
                    <a:pt x="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82" name="Freeform 80"/>
            <p:cNvSpPr>
              <a:spLocks/>
            </p:cNvSpPr>
            <p:nvPr/>
          </p:nvSpPr>
          <p:spPr bwMode="auto">
            <a:xfrm>
              <a:off x="4650" y="2558"/>
              <a:ext cx="257" cy="243"/>
            </a:xfrm>
            <a:custGeom>
              <a:avLst/>
              <a:gdLst>
                <a:gd name="T0" fmla="*/ 257 w 218"/>
                <a:gd name="T1" fmla="*/ 0 h 159"/>
                <a:gd name="T2" fmla="*/ 192 w 218"/>
                <a:gd name="T3" fmla="*/ 0 h 159"/>
                <a:gd name="T4" fmla="*/ 192 w 218"/>
                <a:gd name="T5" fmla="*/ 243 h 159"/>
                <a:gd name="T6" fmla="*/ 0 w 218"/>
                <a:gd name="T7" fmla="*/ 243 h 15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8"/>
                <a:gd name="T13" fmla="*/ 0 h 159"/>
                <a:gd name="T14" fmla="*/ 218 w 218"/>
                <a:gd name="T15" fmla="*/ 159 h 15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8" h="159">
                  <a:moveTo>
                    <a:pt x="218" y="0"/>
                  </a:moveTo>
                  <a:lnTo>
                    <a:pt x="163" y="0"/>
                  </a:lnTo>
                  <a:lnTo>
                    <a:pt x="163" y="159"/>
                  </a:lnTo>
                  <a:lnTo>
                    <a:pt x="0" y="159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83" name="Line 81"/>
            <p:cNvSpPr>
              <a:spLocks noChangeShapeType="1"/>
            </p:cNvSpPr>
            <p:nvPr/>
          </p:nvSpPr>
          <p:spPr bwMode="auto">
            <a:xfrm flipH="1">
              <a:off x="3986" y="2801"/>
              <a:ext cx="521" cy="2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84" name="Freeform 82"/>
            <p:cNvSpPr>
              <a:spLocks/>
            </p:cNvSpPr>
            <p:nvPr/>
          </p:nvSpPr>
          <p:spPr bwMode="auto">
            <a:xfrm>
              <a:off x="3317" y="1910"/>
              <a:ext cx="184" cy="746"/>
            </a:xfrm>
            <a:custGeom>
              <a:avLst/>
              <a:gdLst>
                <a:gd name="T0" fmla="*/ 0 w 157"/>
                <a:gd name="T1" fmla="*/ 0 h 489"/>
                <a:gd name="T2" fmla="*/ 0 w 157"/>
                <a:gd name="T3" fmla="*/ 302 h 489"/>
                <a:gd name="T4" fmla="*/ 59 w 157"/>
                <a:gd name="T5" fmla="*/ 374 h 489"/>
                <a:gd name="T6" fmla="*/ 0 w 157"/>
                <a:gd name="T7" fmla="*/ 444 h 489"/>
                <a:gd name="T8" fmla="*/ 0 w 157"/>
                <a:gd name="T9" fmla="*/ 746 h 489"/>
                <a:gd name="T10" fmla="*/ 184 w 157"/>
                <a:gd name="T11" fmla="*/ 517 h 489"/>
                <a:gd name="T12" fmla="*/ 184 w 157"/>
                <a:gd name="T13" fmla="*/ 229 h 489"/>
                <a:gd name="T14" fmla="*/ 0 w 157"/>
                <a:gd name="T15" fmla="*/ 0 h 489"/>
                <a:gd name="T16" fmla="*/ 0 w 157"/>
                <a:gd name="T17" fmla="*/ 0 h 48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57"/>
                <a:gd name="T28" fmla="*/ 0 h 489"/>
                <a:gd name="T29" fmla="*/ 157 w 157"/>
                <a:gd name="T30" fmla="*/ 489 h 489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57" h="489">
                  <a:moveTo>
                    <a:pt x="0" y="0"/>
                  </a:moveTo>
                  <a:lnTo>
                    <a:pt x="0" y="198"/>
                  </a:lnTo>
                  <a:lnTo>
                    <a:pt x="50" y="245"/>
                  </a:lnTo>
                  <a:lnTo>
                    <a:pt x="0" y="291"/>
                  </a:lnTo>
                  <a:lnTo>
                    <a:pt x="0" y="489"/>
                  </a:lnTo>
                  <a:lnTo>
                    <a:pt x="157" y="339"/>
                  </a:lnTo>
                  <a:lnTo>
                    <a:pt x="157" y="150"/>
                  </a:lnTo>
                  <a:lnTo>
                    <a:pt x="0" y="0"/>
                  </a:lnTo>
                </a:path>
              </a:pathLst>
            </a:custGeom>
            <a:solidFill>
              <a:srgbClr val="CCFF99"/>
            </a:solidFill>
            <a:ln w="190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85" name="Freeform 83"/>
            <p:cNvSpPr>
              <a:spLocks/>
            </p:cNvSpPr>
            <p:nvPr/>
          </p:nvSpPr>
          <p:spPr bwMode="auto">
            <a:xfrm>
              <a:off x="3214" y="3309"/>
              <a:ext cx="430" cy="335"/>
            </a:xfrm>
            <a:custGeom>
              <a:avLst/>
              <a:gdLst>
                <a:gd name="T0" fmla="*/ 343 w 364"/>
                <a:gd name="T1" fmla="*/ 332 h 219"/>
                <a:gd name="T2" fmla="*/ 358 w 364"/>
                <a:gd name="T3" fmla="*/ 332 h 219"/>
                <a:gd name="T4" fmla="*/ 372 w 364"/>
                <a:gd name="T5" fmla="*/ 329 h 219"/>
                <a:gd name="T6" fmla="*/ 383 w 364"/>
                <a:gd name="T7" fmla="*/ 323 h 219"/>
                <a:gd name="T8" fmla="*/ 395 w 364"/>
                <a:gd name="T9" fmla="*/ 311 h 219"/>
                <a:gd name="T10" fmla="*/ 405 w 364"/>
                <a:gd name="T11" fmla="*/ 303 h 219"/>
                <a:gd name="T12" fmla="*/ 412 w 364"/>
                <a:gd name="T13" fmla="*/ 288 h 219"/>
                <a:gd name="T14" fmla="*/ 422 w 364"/>
                <a:gd name="T15" fmla="*/ 272 h 219"/>
                <a:gd name="T16" fmla="*/ 426 w 364"/>
                <a:gd name="T17" fmla="*/ 259 h 219"/>
                <a:gd name="T18" fmla="*/ 429 w 364"/>
                <a:gd name="T19" fmla="*/ 240 h 219"/>
                <a:gd name="T20" fmla="*/ 430 w 364"/>
                <a:gd name="T21" fmla="*/ 223 h 219"/>
                <a:gd name="T22" fmla="*/ 430 w 364"/>
                <a:gd name="T23" fmla="*/ 112 h 219"/>
                <a:gd name="T24" fmla="*/ 429 w 364"/>
                <a:gd name="T25" fmla="*/ 95 h 219"/>
                <a:gd name="T26" fmla="*/ 426 w 364"/>
                <a:gd name="T27" fmla="*/ 76 h 219"/>
                <a:gd name="T28" fmla="*/ 422 w 364"/>
                <a:gd name="T29" fmla="*/ 60 h 219"/>
                <a:gd name="T30" fmla="*/ 412 w 364"/>
                <a:gd name="T31" fmla="*/ 44 h 219"/>
                <a:gd name="T32" fmla="*/ 405 w 364"/>
                <a:gd name="T33" fmla="*/ 32 h 219"/>
                <a:gd name="T34" fmla="*/ 395 w 364"/>
                <a:gd name="T35" fmla="*/ 21 h 219"/>
                <a:gd name="T36" fmla="*/ 383 w 364"/>
                <a:gd name="T37" fmla="*/ 12 h 219"/>
                <a:gd name="T38" fmla="*/ 372 w 364"/>
                <a:gd name="T39" fmla="*/ 6 h 219"/>
                <a:gd name="T40" fmla="*/ 358 w 364"/>
                <a:gd name="T41" fmla="*/ 0 h 219"/>
                <a:gd name="T42" fmla="*/ 345 w 364"/>
                <a:gd name="T43" fmla="*/ 0 h 219"/>
                <a:gd name="T44" fmla="*/ 86 w 364"/>
                <a:gd name="T45" fmla="*/ 0 h 219"/>
                <a:gd name="T46" fmla="*/ 73 w 364"/>
                <a:gd name="T47" fmla="*/ 0 h 219"/>
                <a:gd name="T48" fmla="*/ 59 w 364"/>
                <a:gd name="T49" fmla="*/ 6 h 219"/>
                <a:gd name="T50" fmla="*/ 46 w 364"/>
                <a:gd name="T51" fmla="*/ 12 h 219"/>
                <a:gd name="T52" fmla="*/ 34 w 364"/>
                <a:gd name="T53" fmla="*/ 21 h 219"/>
                <a:gd name="T54" fmla="*/ 25 w 364"/>
                <a:gd name="T55" fmla="*/ 32 h 219"/>
                <a:gd name="T56" fmla="*/ 17 w 364"/>
                <a:gd name="T57" fmla="*/ 44 h 219"/>
                <a:gd name="T58" fmla="*/ 9 w 364"/>
                <a:gd name="T59" fmla="*/ 60 h 219"/>
                <a:gd name="T60" fmla="*/ 5 w 364"/>
                <a:gd name="T61" fmla="*/ 76 h 219"/>
                <a:gd name="T62" fmla="*/ 0 w 364"/>
                <a:gd name="T63" fmla="*/ 95 h 219"/>
                <a:gd name="T64" fmla="*/ 0 w 364"/>
                <a:gd name="T65" fmla="*/ 112 h 219"/>
                <a:gd name="T66" fmla="*/ 0 w 364"/>
                <a:gd name="T67" fmla="*/ 223 h 219"/>
                <a:gd name="T68" fmla="*/ 0 w 364"/>
                <a:gd name="T69" fmla="*/ 240 h 219"/>
                <a:gd name="T70" fmla="*/ 5 w 364"/>
                <a:gd name="T71" fmla="*/ 259 h 219"/>
                <a:gd name="T72" fmla="*/ 9 w 364"/>
                <a:gd name="T73" fmla="*/ 272 h 219"/>
                <a:gd name="T74" fmla="*/ 17 w 364"/>
                <a:gd name="T75" fmla="*/ 288 h 219"/>
                <a:gd name="T76" fmla="*/ 25 w 364"/>
                <a:gd name="T77" fmla="*/ 303 h 219"/>
                <a:gd name="T78" fmla="*/ 34 w 364"/>
                <a:gd name="T79" fmla="*/ 311 h 219"/>
                <a:gd name="T80" fmla="*/ 46 w 364"/>
                <a:gd name="T81" fmla="*/ 323 h 219"/>
                <a:gd name="T82" fmla="*/ 59 w 364"/>
                <a:gd name="T83" fmla="*/ 329 h 219"/>
                <a:gd name="T84" fmla="*/ 73 w 364"/>
                <a:gd name="T85" fmla="*/ 332 h 219"/>
                <a:gd name="T86" fmla="*/ 86 w 364"/>
                <a:gd name="T87" fmla="*/ 335 h 219"/>
                <a:gd name="T88" fmla="*/ 345 w 364"/>
                <a:gd name="T89" fmla="*/ 335 h 219"/>
                <a:gd name="T90" fmla="*/ 345 w 364"/>
                <a:gd name="T91" fmla="*/ 335 h 219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w 364"/>
                <a:gd name="T139" fmla="*/ 0 h 219"/>
                <a:gd name="T140" fmla="*/ 364 w 364"/>
                <a:gd name="T141" fmla="*/ 219 h 219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T138" t="T139" r="T140" b="T141"/>
              <a:pathLst>
                <a:path w="364" h="219">
                  <a:moveTo>
                    <a:pt x="290" y="217"/>
                  </a:moveTo>
                  <a:lnTo>
                    <a:pt x="303" y="217"/>
                  </a:lnTo>
                  <a:lnTo>
                    <a:pt x="315" y="215"/>
                  </a:lnTo>
                  <a:lnTo>
                    <a:pt x="324" y="211"/>
                  </a:lnTo>
                  <a:lnTo>
                    <a:pt x="334" y="203"/>
                  </a:lnTo>
                  <a:lnTo>
                    <a:pt x="343" y="198"/>
                  </a:lnTo>
                  <a:lnTo>
                    <a:pt x="349" y="188"/>
                  </a:lnTo>
                  <a:lnTo>
                    <a:pt x="357" y="178"/>
                  </a:lnTo>
                  <a:lnTo>
                    <a:pt x="361" y="169"/>
                  </a:lnTo>
                  <a:lnTo>
                    <a:pt x="363" y="157"/>
                  </a:lnTo>
                  <a:lnTo>
                    <a:pt x="364" y="146"/>
                  </a:lnTo>
                  <a:lnTo>
                    <a:pt x="364" y="73"/>
                  </a:lnTo>
                  <a:lnTo>
                    <a:pt x="363" y="62"/>
                  </a:lnTo>
                  <a:lnTo>
                    <a:pt x="361" y="50"/>
                  </a:lnTo>
                  <a:lnTo>
                    <a:pt x="357" y="39"/>
                  </a:lnTo>
                  <a:lnTo>
                    <a:pt x="349" y="29"/>
                  </a:lnTo>
                  <a:lnTo>
                    <a:pt x="343" y="21"/>
                  </a:lnTo>
                  <a:lnTo>
                    <a:pt x="334" y="14"/>
                  </a:lnTo>
                  <a:lnTo>
                    <a:pt x="324" y="8"/>
                  </a:lnTo>
                  <a:lnTo>
                    <a:pt x="315" y="4"/>
                  </a:lnTo>
                  <a:lnTo>
                    <a:pt x="303" y="0"/>
                  </a:lnTo>
                  <a:lnTo>
                    <a:pt x="292" y="0"/>
                  </a:lnTo>
                  <a:lnTo>
                    <a:pt x="73" y="0"/>
                  </a:lnTo>
                  <a:lnTo>
                    <a:pt x="62" y="0"/>
                  </a:lnTo>
                  <a:lnTo>
                    <a:pt x="50" y="4"/>
                  </a:lnTo>
                  <a:lnTo>
                    <a:pt x="39" y="8"/>
                  </a:lnTo>
                  <a:lnTo>
                    <a:pt x="29" y="14"/>
                  </a:lnTo>
                  <a:lnTo>
                    <a:pt x="21" y="21"/>
                  </a:lnTo>
                  <a:lnTo>
                    <a:pt x="14" y="29"/>
                  </a:lnTo>
                  <a:lnTo>
                    <a:pt x="8" y="39"/>
                  </a:lnTo>
                  <a:lnTo>
                    <a:pt x="4" y="50"/>
                  </a:lnTo>
                  <a:lnTo>
                    <a:pt x="0" y="62"/>
                  </a:lnTo>
                  <a:lnTo>
                    <a:pt x="0" y="73"/>
                  </a:lnTo>
                  <a:lnTo>
                    <a:pt x="0" y="146"/>
                  </a:lnTo>
                  <a:lnTo>
                    <a:pt x="0" y="157"/>
                  </a:lnTo>
                  <a:lnTo>
                    <a:pt x="4" y="169"/>
                  </a:lnTo>
                  <a:lnTo>
                    <a:pt x="8" y="178"/>
                  </a:lnTo>
                  <a:lnTo>
                    <a:pt x="14" y="188"/>
                  </a:lnTo>
                  <a:lnTo>
                    <a:pt x="21" y="198"/>
                  </a:lnTo>
                  <a:lnTo>
                    <a:pt x="29" y="203"/>
                  </a:lnTo>
                  <a:lnTo>
                    <a:pt x="39" y="211"/>
                  </a:lnTo>
                  <a:lnTo>
                    <a:pt x="50" y="215"/>
                  </a:lnTo>
                  <a:lnTo>
                    <a:pt x="62" y="217"/>
                  </a:lnTo>
                  <a:lnTo>
                    <a:pt x="73" y="219"/>
                  </a:lnTo>
                  <a:lnTo>
                    <a:pt x="292" y="219"/>
                  </a:lnTo>
                </a:path>
              </a:pathLst>
            </a:custGeom>
            <a:solidFill>
              <a:srgbClr val="FFE6CD"/>
            </a:solidFill>
            <a:ln w="19050">
              <a:solidFill>
                <a:srgbClr val="EB75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86" name="Rectangle 84"/>
            <p:cNvSpPr>
              <a:spLocks noChangeArrowheads="1"/>
            </p:cNvSpPr>
            <p:nvPr/>
          </p:nvSpPr>
          <p:spPr bwMode="auto">
            <a:xfrm>
              <a:off x="3251" y="3386"/>
              <a:ext cx="355" cy="1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n-US" sz="1000">
                  <a:solidFill>
                    <a:srgbClr val="EB7500"/>
                  </a:solidFill>
                  <a:latin typeface="+mj-lt"/>
                </a:rPr>
                <a:t>Forwarding</a:t>
              </a:r>
            </a:p>
            <a:p>
              <a:pPr algn="ctr"/>
              <a:r>
                <a:rPr lang="en-US" sz="1000">
                  <a:solidFill>
                    <a:srgbClr val="EB7500"/>
                  </a:solidFill>
                  <a:latin typeface="+mj-lt"/>
                </a:rPr>
                <a:t>Unit</a:t>
              </a:r>
              <a:endParaRPr lang="en-US" sz="1000">
                <a:latin typeface="+mj-lt"/>
              </a:endParaRPr>
            </a:p>
          </p:txBody>
        </p:sp>
        <p:sp>
          <p:nvSpPr>
            <p:cNvPr id="87" name="Freeform 85"/>
            <p:cNvSpPr>
              <a:spLocks/>
            </p:cNvSpPr>
            <p:nvPr/>
          </p:nvSpPr>
          <p:spPr bwMode="auto">
            <a:xfrm>
              <a:off x="2975" y="2693"/>
              <a:ext cx="30" cy="38"/>
            </a:xfrm>
            <a:custGeom>
              <a:avLst/>
              <a:gdLst>
                <a:gd name="T0" fmla="*/ 0 w 25"/>
                <a:gd name="T1" fmla="*/ 0 h 25"/>
                <a:gd name="T2" fmla="*/ 0 w 25"/>
                <a:gd name="T3" fmla="*/ 38 h 25"/>
                <a:gd name="T4" fmla="*/ 30 w 25"/>
                <a:gd name="T5" fmla="*/ 21 h 25"/>
                <a:gd name="T6" fmla="*/ 0 w 25"/>
                <a:gd name="T7" fmla="*/ 0 h 25"/>
                <a:gd name="T8" fmla="*/ 0 w 25"/>
                <a:gd name="T9" fmla="*/ 0 h 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"/>
                <a:gd name="T16" fmla="*/ 0 h 25"/>
                <a:gd name="T17" fmla="*/ 25 w 25"/>
                <a:gd name="T18" fmla="*/ 25 h 2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" h="25">
                  <a:moveTo>
                    <a:pt x="0" y="0"/>
                  </a:moveTo>
                  <a:lnTo>
                    <a:pt x="0" y="25"/>
                  </a:lnTo>
                  <a:lnTo>
                    <a:pt x="25" y="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88" name="Freeform 86"/>
            <p:cNvSpPr>
              <a:spLocks/>
            </p:cNvSpPr>
            <p:nvPr/>
          </p:nvSpPr>
          <p:spPr bwMode="auto">
            <a:xfrm>
              <a:off x="2975" y="3132"/>
              <a:ext cx="30" cy="37"/>
            </a:xfrm>
            <a:custGeom>
              <a:avLst/>
              <a:gdLst>
                <a:gd name="T0" fmla="*/ 0 w 25"/>
                <a:gd name="T1" fmla="*/ 0 h 24"/>
                <a:gd name="T2" fmla="*/ 0 w 25"/>
                <a:gd name="T3" fmla="*/ 37 h 24"/>
                <a:gd name="T4" fmla="*/ 30 w 25"/>
                <a:gd name="T5" fmla="*/ 20 h 24"/>
                <a:gd name="T6" fmla="*/ 0 w 25"/>
                <a:gd name="T7" fmla="*/ 0 h 24"/>
                <a:gd name="T8" fmla="*/ 0 w 25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"/>
                <a:gd name="T16" fmla="*/ 0 h 24"/>
                <a:gd name="T17" fmla="*/ 25 w 25"/>
                <a:gd name="T18" fmla="*/ 24 h 2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" h="24">
                  <a:moveTo>
                    <a:pt x="0" y="0"/>
                  </a:moveTo>
                  <a:lnTo>
                    <a:pt x="0" y="24"/>
                  </a:lnTo>
                  <a:lnTo>
                    <a:pt x="25" y="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89" name="Freeform 87"/>
            <p:cNvSpPr>
              <a:spLocks/>
            </p:cNvSpPr>
            <p:nvPr/>
          </p:nvSpPr>
          <p:spPr bwMode="auto">
            <a:xfrm>
              <a:off x="2975" y="3267"/>
              <a:ext cx="30" cy="38"/>
            </a:xfrm>
            <a:custGeom>
              <a:avLst/>
              <a:gdLst>
                <a:gd name="T0" fmla="*/ 0 w 25"/>
                <a:gd name="T1" fmla="*/ 0 h 25"/>
                <a:gd name="T2" fmla="*/ 0 w 25"/>
                <a:gd name="T3" fmla="*/ 38 h 25"/>
                <a:gd name="T4" fmla="*/ 30 w 25"/>
                <a:gd name="T5" fmla="*/ 20 h 25"/>
                <a:gd name="T6" fmla="*/ 0 w 25"/>
                <a:gd name="T7" fmla="*/ 3 h 25"/>
                <a:gd name="T8" fmla="*/ 0 w 25"/>
                <a:gd name="T9" fmla="*/ 3 h 25"/>
                <a:gd name="T10" fmla="*/ 0 w 25"/>
                <a:gd name="T11" fmla="*/ 0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"/>
                <a:gd name="T19" fmla="*/ 0 h 25"/>
                <a:gd name="T20" fmla="*/ 25 w 25"/>
                <a:gd name="T21" fmla="*/ 25 h 2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" h="25">
                  <a:moveTo>
                    <a:pt x="0" y="0"/>
                  </a:moveTo>
                  <a:lnTo>
                    <a:pt x="0" y="25"/>
                  </a:lnTo>
                  <a:lnTo>
                    <a:pt x="25" y="13"/>
                  </a:lnTo>
                  <a:lnTo>
                    <a:pt x="0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90" name="Line 88"/>
            <p:cNvSpPr>
              <a:spLocks noChangeShapeType="1"/>
            </p:cNvSpPr>
            <p:nvPr/>
          </p:nvSpPr>
          <p:spPr bwMode="auto">
            <a:xfrm flipH="1">
              <a:off x="2859" y="2711"/>
              <a:ext cx="129" cy="3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91" name="Freeform 89"/>
            <p:cNvSpPr>
              <a:spLocks/>
            </p:cNvSpPr>
            <p:nvPr/>
          </p:nvSpPr>
          <p:spPr bwMode="auto">
            <a:xfrm>
              <a:off x="2975" y="2111"/>
              <a:ext cx="30" cy="38"/>
            </a:xfrm>
            <a:custGeom>
              <a:avLst/>
              <a:gdLst>
                <a:gd name="T0" fmla="*/ 0 w 25"/>
                <a:gd name="T1" fmla="*/ 0 h 25"/>
                <a:gd name="T2" fmla="*/ 0 w 25"/>
                <a:gd name="T3" fmla="*/ 38 h 25"/>
                <a:gd name="T4" fmla="*/ 30 w 25"/>
                <a:gd name="T5" fmla="*/ 18 h 25"/>
                <a:gd name="T6" fmla="*/ 0 w 25"/>
                <a:gd name="T7" fmla="*/ 0 h 25"/>
                <a:gd name="T8" fmla="*/ 0 w 25"/>
                <a:gd name="T9" fmla="*/ 0 h 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"/>
                <a:gd name="T16" fmla="*/ 0 h 25"/>
                <a:gd name="T17" fmla="*/ 25 w 25"/>
                <a:gd name="T18" fmla="*/ 25 h 2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" h="25">
                  <a:moveTo>
                    <a:pt x="0" y="0"/>
                  </a:moveTo>
                  <a:lnTo>
                    <a:pt x="0" y="25"/>
                  </a:lnTo>
                  <a:lnTo>
                    <a:pt x="25" y="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92" name="Freeform 90"/>
            <p:cNvSpPr>
              <a:spLocks/>
            </p:cNvSpPr>
            <p:nvPr/>
          </p:nvSpPr>
          <p:spPr bwMode="auto">
            <a:xfrm>
              <a:off x="3276" y="1972"/>
              <a:ext cx="32" cy="37"/>
            </a:xfrm>
            <a:custGeom>
              <a:avLst/>
              <a:gdLst>
                <a:gd name="T0" fmla="*/ 0 w 27"/>
                <a:gd name="T1" fmla="*/ 0 h 24"/>
                <a:gd name="T2" fmla="*/ 2 w 27"/>
                <a:gd name="T3" fmla="*/ 37 h 24"/>
                <a:gd name="T4" fmla="*/ 32 w 27"/>
                <a:gd name="T5" fmla="*/ 20 h 24"/>
                <a:gd name="T6" fmla="*/ 2 w 27"/>
                <a:gd name="T7" fmla="*/ 2 h 24"/>
                <a:gd name="T8" fmla="*/ 2 w 27"/>
                <a:gd name="T9" fmla="*/ 2 h 24"/>
                <a:gd name="T10" fmla="*/ 0 w 27"/>
                <a:gd name="T11" fmla="*/ 0 h 2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7"/>
                <a:gd name="T19" fmla="*/ 0 h 24"/>
                <a:gd name="T20" fmla="*/ 27 w 27"/>
                <a:gd name="T21" fmla="*/ 24 h 2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7" h="24">
                  <a:moveTo>
                    <a:pt x="0" y="0"/>
                  </a:moveTo>
                  <a:lnTo>
                    <a:pt x="2" y="24"/>
                  </a:lnTo>
                  <a:lnTo>
                    <a:pt x="27" y="13"/>
                  </a:lnTo>
                  <a:lnTo>
                    <a:pt x="2" y="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93" name="Line 91"/>
            <p:cNvSpPr>
              <a:spLocks noChangeShapeType="1"/>
            </p:cNvSpPr>
            <p:nvPr/>
          </p:nvSpPr>
          <p:spPr bwMode="auto">
            <a:xfrm flipH="1">
              <a:off x="3117" y="1992"/>
              <a:ext cx="170" cy="2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94" name="Freeform 92"/>
            <p:cNvSpPr>
              <a:spLocks/>
            </p:cNvSpPr>
            <p:nvPr/>
          </p:nvSpPr>
          <p:spPr bwMode="auto">
            <a:xfrm>
              <a:off x="2975" y="1972"/>
              <a:ext cx="30" cy="37"/>
            </a:xfrm>
            <a:custGeom>
              <a:avLst/>
              <a:gdLst>
                <a:gd name="T0" fmla="*/ 0 w 25"/>
                <a:gd name="T1" fmla="*/ 0 h 24"/>
                <a:gd name="T2" fmla="*/ 0 w 25"/>
                <a:gd name="T3" fmla="*/ 37 h 24"/>
                <a:gd name="T4" fmla="*/ 30 w 25"/>
                <a:gd name="T5" fmla="*/ 20 h 24"/>
                <a:gd name="T6" fmla="*/ 0 w 25"/>
                <a:gd name="T7" fmla="*/ 2 h 24"/>
                <a:gd name="T8" fmla="*/ 0 w 25"/>
                <a:gd name="T9" fmla="*/ 2 h 24"/>
                <a:gd name="T10" fmla="*/ 0 w 25"/>
                <a:gd name="T11" fmla="*/ 0 h 2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"/>
                <a:gd name="T19" fmla="*/ 0 h 24"/>
                <a:gd name="T20" fmla="*/ 25 w 25"/>
                <a:gd name="T21" fmla="*/ 24 h 2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" h="24">
                  <a:moveTo>
                    <a:pt x="0" y="0"/>
                  </a:moveTo>
                  <a:lnTo>
                    <a:pt x="0" y="24"/>
                  </a:lnTo>
                  <a:lnTo>
                    <a:pt x="25" y="13"/>
                  </a:ln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95" name="Freeform 93"/>
            <p:cNvSpPr>
              <a:spLocks/>
            </p:cNvSpPr>
            <p:nvPr/>
          </p:nvSpPr>
          <p:spPr bwMode="auto">
            <a:xfrm>
              <a:off x="2859" y="2130"/>
              <a:ext cx="129" cy="1680"/>
            </a:xfrm>
            <a:custGeom>
              <a:avLst/>
              <a:gdLst>
                <a:gd name="T0" fmla="*/ 129 w 109"/>
                <a:gd name="T1" fmla="*/ 0 h 1191"/>
                <a:gd name="T2" fmla="*/ 0 w 109"/>
                <a:gd name="T3" fmla="*/ 0 h 1191"/>
                <a:gd name="T4" fmla="*/ 0 w 109"/>
                <a:gd name="T5" fmla="*/ 1680 h 1191"/>
                <a:gd name="T6" fmla="*/ 0 60000 65536"/>
                <a:gd name="T7" fmla="*/ 0 60000 65536"/>
                <a:gd name="T8" fmla="*/ 0 60000 65536"/>
                <a:gd name="T9" fmla="*/ 0 w 109"/>
                <a:gd name="T10" fmla="*/ 0 h 1191"/>
                <a:gd name="T11" fmla="*/ 109 w 109"/>
                <a:gd name="T12" fmla="*/ 1191 h 119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9" h="1191">
                  <a:moveTo>
                    <a:pt x="109" y="0"/>
                  </a:moveTo>
                  <a:lnTo>
                    <a:pt x="0" y="0"/>
                  </a:lnTo>
                  <a:lnTo>
                    <a:pt x="0" y="1191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96" name="Freeform 94"/>
            <p:cNvSpPr>
              <a:spLocks/>
            </p:cNvSpPr>
            <p:nvPr/>
          </p:nvSpPr>
          <p:spPr bwMode="auto">
            <a:xfrm>
              <a:off x="2975" y="1835"/>
              <a:ext cx="30" cy="37"/>
            </a:xfrm>
            <a:custGeom>
              <a:avLst/>
              <a:gdLst>
                <a:gd name="T0" fmla="*/ 0 w 25"/>
                <a:gd name="T1" fmla="*/ 0 h 24"/>
                <a:gd name="T2" fmla="*/ 0 w 25"/>
                <a:gd name="T3" fmla="*/ 37 h 24"/>
                <a:gd name="T4" fmla="*/ 30 w 25"/>
                <a:gd name="T5" fmla="*/ 20 h 24"/>
                <a:gd name="T6" fmla="*/ 0 w 25"/>
                <a:gd name="T7" fmla="*/ 0 h 24"/>
                <a:gd name="T8" fmla="*/ 0 w 25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"/>
                <a:gd name="T16" fmla="*/ 0 h 24"/>
                <a:gd name="T17" fmla="*/ 25 w 25"/>
                <a:gd name="T18" fmla="*/ 24 h 2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" h="24">
                  <a:moveTo>
                    <a:pt x="0" y="0"/>
                  </a:moveTo>
                  <a:lnTo>
                    <a:pt x="0" y="24"/>
                  </a:lnTo>
                  <a:lnTo>
                    <a:pt x="25" y="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97" name="Line 95"/>
            <p:cNvSpPr>
              <a:spLocks noChangeShapeType="1"/>
            </p:cNvSpPr>
            <p:nvPr/>
          </p:nvSpPr>
          <p:spPr bwMode="auto">
            <a:xfrm flipH="1">
              <a:off x="2602" y="1852"/>
              <a:ext cx="386" cy="3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98" name="Freeform 96"/>
            <p:cNvSpPr>
              <a:spLocks/>
            </p:cNvSpPr>
            <p:nvPr/>
          </p:nvSpPr>
          <p:spPr bwMode="auto">
            <a:xfrm>
              <a:off x="2846" y="2693"/>
              <a:ext cx="28" cy="38"/>
            </a:xfrm>
            <a:custGeom>
              <a:avLst/>
              <a:gdLst>
                <a:gd name="T0" fmla="*/ 11 w 23"/>
                <a:gd name="T1" fmla="*/ 38 h 25"/>
                <a:gd name="T2" fmla="*/ 16 w 23"/>
                <a:gd name="T3" fmla="*/ 38 h 25"/>
                <a:gd name="T4" fmla="*/ 18 w 23"/>
                <a:gd name="T5" fmla="*/ 38 h 25"/>
                <a:gd name="T6" fmla="*/ 21 w 23"/>
                <a:gd name="T7" fmla="*/ 35 h 25"/>
                <a:gd name="T8" fmla="*/ 23 w 23"/>
                <a:gd name="T9" fmla="*/ 35 h 25"/>
                <a:gd name="T10" fmla="*/ 23 w 23"/>
                <a:gd name="T11" fmla="*/ 32 h 25"/>
                <a:gd name="T12" fmla="*/ 26 w 23"/>
                <a:gd name="T13" fmla="*/ 32 h 25"/>
                <a:gd name="T14" fmla="*/ 26 w 23"/>
                <a:gd name="T15" fmla="*/ 30 h 25"/>
                <a:gd name="T16" fmla="*/ 28 w 23"/>
                <a:gd name="T17" fmla="*/ 27 h 25"/>
                <a:gd name="T18" fmla="*/ 28 w 23"/>
                <a:gd name="T19" fmla="*/ 24 h 25"/>
                <a:gd name="T20" fmla="*/ 28 w 23"/>
                <a:gd name="T21" fmla="*/ 21 h 25"/>
                <a:gd name="T22" fmla="*/ 28 w 23"/>
                <a:gd name="T23" fmla="*/ 18 h 25"/>
                <a:gd name="T24" fmla="*/ 28 w 23"/>
                <a:gd name="T25" fmla="*/ 15 h 25"/>
                <a:gd name="T26" fmla="*/ 26 w 23"/>
                <a:gd name="T27" fmla="*/ 12 h 25"/>
                <a:gd name="T28" fmla="*/ 26 w 23"/>
                <a:gd name="T29" fmla="*/ 9 h 25"/>
                <a:gd name="T30" fmla="*/ 23 w 23"/>
                <a:gd name="T31" fmla="*/ 6 h 25"/>
                <a:gd name="T32" fmla="*/ 23 w 23"/>
                <a:gd name="T33" fmla="*/ 6 h 25"/>
                <a:gd name="T34" fmla="*/ 21 w 23"/>
                <a:gd name="T35" fmla="*/ 3 h 25"/>
                <a:gd name="T36" fmla="*/ 18 w 23"/>
                <a:gd name="T37" fmla="*/ 3 h 25"/>
                <a:gd name="T38" fmla="*/ 16 w 23"/>
                <a:gd name="T39" fmla="*/ 3 h 25"/>
                <a:gd name="T40" fmla="*/ 13 w 23"/>
                <a:gd name="T41" fmla="*/ 0 h 25"/>
                <a:gd name="T42" fmla="*/ 11 w 23"/>
                <a:gd name="T43" fmla="*/ 3 h 25"/>
                <a:gd name="T44" fmla="*/ 9 w 23"/>
                <a:gd name="T45" fmla="*/ 3 h 25"/>
                <a:gd name="T46" fmla="*/ 6 w 23"/>
                <a:gd name="T47" fmla="*/ 3 h 25"/>
                <a:gd name="T48" fmla="*/ 4 w 23"/>
                <a:gd name="T49" fmla="*/ 6 h 25"/>
                <a:gd name="T50" fmla="*/ 2 w 23"/>
                <a:gd name="T51" fmla="*/ 6 h 25"/>
                <a:gd name="T52" fmla="*/ 2 w 23"/>
                <a:gd name="T53" fmla="*/ 9 h 25"/>
                <a:gd name="T54" fmla="*/ 0 w 23"/>
                <a:gd name="T55" fmla="*/ 12 h 25"/>
                <a:gd name="T56" fmla="*/ 0 w 23"/>
                <a:gd name="T57" fmla="*/ 15 h 25"/>
                <a:gd name="T58" fmla="*/ 0 w 23"/>
                <a:gd name="T59" fmla="*/ 18 h 25"/>
                <a:gd name="T60" fmla="*/ 0 w 23"/>
                <a:gd name="T61" fmla="*/ 21 h 25"/>
                <a:gd name="T62" fmla="*/ 0 w 23"/>
                <a:gd name="T63" fmla="*/ 24 h 25"/>
                <a:gd name="T64" fmla="*/ 0 w 23"/>
                <a:gd name="T65" fmla="*/ 27 h 25"/>
                <a:gd name="T66" fmla="*/ 0 w 23"/>
                <a:gd name="T67" fmla="*/ 30 h 25"/>
                <a:gd name="T68" fmla="*/ 2 w 23"/>
                <a:gd name="T69" fmla="*/ 32 h 25"/>
                <a:gd name="T70" fmla="*/ 2 w 23"/>
                <a:gd name="T71" fmla="*/ 32 h 25"/>
                <a:gd name="T72" fmla="*/ 4 w 23"/>
                <a:gd name="T73" fmla="*/ 35 h 25"/>
                <a:gd name="T74" fmla="*/ 6 w 23"/>
                <a:gd name="T75" fmla="*/ 35 h 25"/>
                <a:gd name="T76" fmla="*/ 9 w 23"/>
                <a:gd name="T77" fmla="*/ 38 h 25"/>
                <a:gd name="T78" fmla="*/ 11 w 23"/>
                <a:gd name="T79" fmla="*/ 38 h 25"/>
                <a:gd name="T80" fmla="*/ 13 w 23"/>
                <a:gd name="T81" fmla="*/ 38 h 25"/>
                <a:gd name="T82" fmla="*/ 13 w 23"/>
                <a:gd name="T83" fmla="*/ 38 h 25"/>
                <a:gd name="T84" fmla="*/ 11 w 23"/>
                <a:gd name="T85" fmla="*/ 38 h 25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3"/>
                <a:gd name="T130" fmla="*/ 0 h 25"/>
                <a:gd name="T131" fmla="*/ 23 w 23"/>
                <a:gd name="T132" fmla="*/ 25 h 25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3" h="25">
                  <a:moveTo>
                    <a:pt x="9" y="25"/>
                  </a:moveTo>
                  <a:lnTo>
                    <a:pt x="13" y="25"/>
                  </a:lnTo>
                  <a:lnTo>
                    <a:pt x="15" y="25"/>
                  </a:lnTo>
                  <a:lnTo>
                    <a:pt x="17" y="23"/>
                  </a:lnTo>
                  <a:lnTo>
                    <a:pt x="19" y="23"/>
                  </a:lnTo>
                  <a:lnTo>
                    <a:pt x="19" y="21"/>
                  </a:lnTo>
                  <a:lnTo>
                    <a:pt x="21" y="21"/>
                  </a:lnTo>
                  <a:lnTo>
                    <a:pt x="21" y="20"/>
                  </a:lnTo>
                  <a:lnTo>
                    <a:pt x="23" y="18"/>
                  </a:lnTo>
                  <a:lnTo>
                    <a:pt x="23" y="16"/>
                  </a:lnTo>
                  <a:lnTo>
                    <a:pt x="23" y="14"/>
                  </a:lnTo>
                  <a:lnTo>
                    <a:pt x="23" y="12"/>
                  </a:lnTo>
                  <a:lnTo>
                    <a:pt x="23" y="10"/>
                  </a:lnTo>
                  <a:lnTo>
                    <a:pt x="21" y="8"/>
                  </a:lnTo>
                  <a:lnTo>
                    <a:pt x="21" y="6"/>
                  </a:lnTo>
                  <a:lnTo>
                    <a:pt x="19" y="4"/>
                  </a:lnTo>
                  <a:lnTo>
                    <a:pt x="17" y="2"/>
                  </a:lnTo>
                  <a:lnTo>
                    <a:pt x="15" y="2"/>
                  </a:lnTo>
                  <a:lnTo>
                    <a:pt x="13" y="2"/>
                  </a:lnTo>
                  <a:lnTo>
                    <a:pt x="11" y="0"/>
                  </a:lnTo>
                  <a:lnTo>
                    <a:pt x="9" y="2"/>
                  </a:lnTo>
                  <a:lnTo>
                    <a:pt x="7" y="2"/>
                  </a:lnTo>
                  <a:lnTo>
                    <a:pt x="5" y="2"/>
                  </a:lnTo>
                  <a:lnTo>
                    <a:pt x="3" y="4"/>
                  </a:lnTo>
                  <a:lnTo>
                    <a:pt x="2" y="4"/>
                  </a:lnTo>
                  <a:lnTo>
                    <a:pt x="2" y="6"/>
                  </a:lnTo>
                  <a:lnTo>
                    <a:pt x="0" y="8"/>
                  </a:lnTo>
                  <a:lnTo>
                    <a:pt x="0" y="10"/>
                  </a:lnTo>
                  <a:lnTo>
                    <a:pt x="0" y="12"/>
                  </a:lnTo>
                  <a:lnTo>
                    <a:pt x="0" y="14"/>
                  </a:lnTo>
                  <a:lnTo>
                    <a:pt x="0" y="16"/>
                  </a:lnTo>
                  <a:lnTo>
                    <a:pt x="0" y="18"/>
                  </a:lnTo>
                  <a:lnTo>
                    <a:pt x="0" y="20"/>
                  </a:lnTo>
                  <a:lnTo>
                    <a:pt x="2" y="21"/>
                  </a:lnTo>
                  <a:lnTo>
                    <a:pt x="3" y="23"/>
                  </a:lnTo>
                  <a:lnTo>
                    <a:pt x="5" y="23"/>
                  </a:lnTo>
                  <a:lnTo>
                    <a:pt x="7" y="25"/>
                  </a:lnTo>
                  <a:lnTo>
                    <a:pt x="9" y="25"/>
                  </a:lnTo>
                  <a:lnTo>
                    <a:pt x="11" y="25"/>
                  </a:lnTo>
                  <a:lnTo>
                    <a:pt x="9" y="25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99" name="Line 97"/>
            <p:cNvSpPr>
              <a:spLocks noChangeShapeType="1"/>
            </p:cNvSpPr>
            <p:nvPr/>
          </p:nvSpPr>
          <p:spPr bwMode="auto">
            <a:xfrm>
              <a:off x="1113" y="2311"/>
              <a:ext cx="131" cy="3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00" name="Freeform 98"/>
            <p:cNvSpPr>
              <a:spLocks/>
            </p:cNvSpPr>
            <p:nvPr/>
          </p:nvSpPr>
          <p:spPr bwMode="auto">
            <a:xfrm>
              <a:off x="1244" y="1267"/>
              <a:ext cx="1218" cy="2023"/>
            </a:xfrm>
            <a:custGeom>
              <a:avLst/>
              <a:gdLst>
                <a:gd name="T0" fmla="*/ 1218 w 1032"/>
                <a:gd name="T1" fmla="*/ 2020 h 1325"/>
                <a:gd name="T2" fmla="*/ 0 w 1032"/>
                <a:gd name="T3" fmla="*/ 2023 h 1325"/>
                <a:gd name="T4" fmla="*/ 0 w 1032"/>
                <a:gd name="T5" fmla="*/ 0 h 1325"/>
                <a:gd name="T6" fmla="*/ 486 w 1032"/>
                <a:gd name="T7" fmla="*/ 0 h 132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32"/>
                <a:gd name="T13" fmla="*/ 0 h 1325"/>
                <a:gd name="T14" fmla="*/ 1032 w 1032"/>
                <a:gd name="T15" fmla="*/ 1325 h 132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32" h="1325">
                  <a:moveTo>
                    <a:pt x="1032" y="1323"/>
                  </a:moveTo>
                  <a:lnTo>
                    <a:pt x="0" y="1325"/>
                  </a:lnTo>
                  <a:lnTo>
                    <a:pt x="0" y="0"/>
                  </a:lnTo>
                  <a:lnTo>
                    <a:pt x="412" y="0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01" name="Freeform 99"/>
            <p:cNvSpPr>
              <a:spLocks/>
            </p:cNvSpPr>
            <p:nvPr/>
          </p:nvSpPr>
          <p:spPr bwMode="auto">
            <a:xfrm>
              <a:off x="2452" y="3000"/>
              <a:ext cx="29" cy="38"/>
            </a:xfrm>
            <a:custGeom>
              <a:avLst/>
              <a:gdLst>
                <a:gd name="T0" fmla="*/ 0 w 25"/>
                <a:gd name="T1" fmla="*/ 0 h 25"/>
                <a:gd name="T2" fmla="*/ 2 w 25"/>
                <a:gd name="T3" fmla="*/ 38 h 25"/>
                <a:gd name="T4" fmla="*/ 29 w 25"/>
                <a:gd name="T5" fmla="*/ 18 h 25"/>
                <a:gd name="T6" fmla="*/ 2 w 25"/>
                <a:gd name="T7" fmla="*/ 0 h 25"/>
                <a:gd name="T8" fmla="*/ 2 w 25"/>
                <a:gd name="T9" fmla="*/ 0 h 25"/>
                <a:gd name="T10" fmla="*/ 0 w 25"/>
                <a:gd name="T11" fmla="*/ 0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"/>
                <a:gd name="T19" fmla="*/ 0 h 25"/>
                <a:gd name="T20" fmla="*/ 25 w 25"/>
                <a:gd name="T21" fmla="*/ 25 h 2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" h="25">
                  <a:moveTo>
                    <a:pt x="0" y="0"/>
                  </a:moveTo>
                  <a:lnTo>
                    <a:pt x="2" y="25"/>
                  </a:lnTo>
                  <a:lnTo>
                    <a:pt x="25" y="12"/>
                  </a:lnTo>
                  <a:lnTo>
                    <a:pt x="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02" name="Freeform 100"/>
            <p:cNvSpPr>
              <a:spLocks/>
            </p:cNvSpPr>
            <p:nvPr/>
          </p:nvSpPr>
          <p:spPr bwMode="auto">
            <a:xfrm>
              <a:off x="1372" y="2076"/>
              <a:ext cx="1090" cy="942"/>
            </a:xfrm>
            <a:custGeom>
              <a:avLst/>
              <a:gdLst>
                <a:gd name="T0" fmla="*/ 1090 w 923"/>
                <a:gd name="T1" fmla="*/ 942 h 617"/>
                <a:gd name="T2" fmla="*/ 0 w 923"/>
                <a:gd name="T3" fmla="*/ 942 h 617"/>
                <a:gd name="T4" fmla="*/ 0 w 923"/>
                <a:gd name="T5" fmla="*/ 0 h 617"/>
                <a:gd name="T6" fmla="*/ 0 60000 65536"/>
                <a:gd name="T7" fmla="*/ 0 60000 65536"/>
                <a:gd name="T8" fmla="*/ 0 60000 65536"/>
                <a:gd name="T9" fmla="*/ 0 w 923"/>
                <a:gd name="T10" fmla="*/ 0 h 617"/>
                <a:gd name="T11" fmla="*/ 923 w 923"/>
                <a:gd name="T12" fmla="*/ 617 h 61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23" h="617">
                  <a:moveTo>
                    <a:pt x="923" y="617"/>
                  </a:moveTo>
                  <a:lnTo>
                    <a:pt x="0" y="617"/>
                  </a:lnTo>
                  <a:lnTo>
                    <a:pt x="0" y="0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03" name="Freeform 101"/>
            <p:cNvSpPr>
              <a:spLocks/>
            </p:cNvSpPr>
            <p:nvPr/>
          </p:nvSpPr>
          <p:spPr bwMode="auto">
            <a:xfrm>
              <a:off x="2452" y="3132"/>
              <a:ext cx="29" cy="37"/>
            </a:xfrm>
            <a:custGeom>
              <a:avLst/>
              <a:gdLst>
                <a:gd name="T0" fmla="*/ 0 w 25"/>
                <a:gd name="T1" fmla="*/ 0 h 24"/>
                <a:gd name="T2" fmla="*/ 2 w 25"/>
                <a:gd name="T3" fmla="*/ 37 h 24"/>
                <a:gd name="T4" fmla="*/ 29 w 25"/>
                <a:gd name="T5" fmla="*/ 17 h 24"/>
                <a:gd name="T6" fmla="*/ 2 w 25"/>
                <a:gd name="T7" fmla="*/ 0 h 24"/>
                <a:gd name="T8" fmla="*/ 2 w 25"/>
                <a:gd name="T9" fmla="*/ 0 h 24"/>
                <a:gd name="T10" fmla="*/ 0 w 25"/>
                <a:gd name="T11" fmla="*/ 0 h 2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"/>
                <a:gd name="T19" fmla="*/ 0 h 24"/>
                <a:gd name="T20" fmla="*/ 25 w 25"/>
                <a:gd name="T21" fmla="*/ 24 h 2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" h="24">
                  <a:moveTo>
                    <a:pt x="0" y="0"/>
                  </a:moveTo>
                  <a:lnTo>
                    <a:pt x="2" y="24"/>
                  </a:lnTo>
                  <a:lnTo>
                    <a:pt x="25" y="11"/>
                  </a:lnTo>
                  <a:lnTo>
                    <a:pt x="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04" name="Line 102"/>
            <p:cNvSpPr>
              <a:spLocks noChangeShapeType="1"/>
            </p:cNvSpPr>
            <p:nvPr/>
          </p:nvSpPr>
          <p:spPr bwMode="auto">
            <a:xfrm>
              <a:off x="1244" y="3149"/>
              <a:ext cx="1220" cy="2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05" name="Freeform 103"/>
            <p:cNvSpPr>
              <a:spLocks/>
            </p:cNvSpPr>
            <p:nvPr/>
          </p:nvSpPr>
          <p:spPr bwMode="auto">
            <a:xfrm>
              <a:off x="2452" y="3270"/>
              <a:ext cx="29" cy="36"/>
            </a:xfrm>
            <a:custGeom>
              <a:avLst/>
              <a:gdLst>
                <a:gd name="T0" fmla="*/ 0 w 25"/>
                <a:gd name="T1" fmla="*/ 0 h 24"/>
                <a:gd name="T2" fmla="*/ 2 w 25"/>
                <a:gd name="T3" fmla="*/ 36 h 24"/>
                <a:gd name="T4" fmla="*/ 29 w 25"/>
                <a:gd name="T5" fmla="*/ 17 h 24"/>
                <a:gd name="T6" fmla="*/ 2 w 25"/>
                <a:gd name="T7" fmla="*/ 0 h 24"/>
                <a:gd name="T8" fmla="*/ 2 w 25"/>
                <a:gd name="T9" fmla="*/ 0 h 24"/>
                <a:gd name="T10" fmla="*/ 0 w 25"/>
                <a:gd name="T11" fmla="*/ 0 h 2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"/>
                <a:gd name="T19" fmla="*/ 0 h 24"/>
                <a:gd name="T20" fmla="*/ 25 w 25"/>
                <a:gd name="T21" fmla="*/ 24 h 2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" h="24">
                  <a:moveTo>
                    <a:pt x="0" y="0"/>
                  </a:moveTo>
                  <a:lnTo>
                    <a:pt x="2" y="24"/>
                  </a:lnTo>
                  <a:lnTo>
                    <a:pt x="25" y="11"/>
                  </a:lnTo>
                  <a:lnTo>
                    <a:pt x="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06" name="Freeform 104"/>
            <p:cNvSpPr>
              <a:spLocks/>
            </p:cNvSpPr>
            <p:nvPr/>
          </p:nvSpPr>
          <p:spPr bwMode="auto">
            <a:xfrm>
              <a:off x="1230" y="3132"/>
              <a:ext cx="29" cy="37"/>
            </a:xfrm>
            <a:custGeom>
              <a:avLst/>
              <a:gdLst>
                <a:gd name="T0" fmla="*/ 13 w 25"/>
                <a:gd name="T1" fmla="*/ 35 h 24"/>
                <a:gd name="T2" fmla="*/ 15 w 25"/>
                <a:gd name="T3" fmla="*/ 37 h 24"/>
                <a:gd name="T4" fmla="*/ 17 w 25"/>
                <a:gd name="T5" fmla="*/ 35 h 24"/>
                <a:gd name="T6" fmla="*/ 20 w 25"/>
                <a:gd name="T7" fmla="*/ 35 h 24"/>
                <a:gd name="T8" fmla="*/ 22 w 25"/>
                <a:gd name="T9" fmla="*/ 32 h 24"/>
                <a:gd name="T10" fmla="*/ 24 w 25"/>
                <a:gd name="T11" fmla="*/ 32 h 24"/>
                <a:gd name="T12" fmla="*/ 24 w 25"/>
                <a:gd name="T13" fmla="*/ 29 h 24"/>
                <a:gd name="T14" fmla="*/ 27 w 25"/>
                <a:gd name="T15" fmla="*/ 26 h 24"/>
                <a:gd name="T16" fmla="*/ 27 w 25"/>
                <a:gd name="T17" fmla="*/ 23 h 24"/>
                <a:gd name="T18" fmla="*/ 27 w 25"/>
                <a:gd name="T19" fmla="*/ 20 h 24"/>
                <a:gd name="T20" fmla="*/ 29 w 25"/>
                <a:gd name="T21" fmla="*/ 17 h 24"/>
                <a:gd name="T22" fmla="*/ 27 w 25"/>
                <a:gd name="T23" fmla="*/ 14 h 24"/>
                <a:gd name="T24" fmla="*/ 27 w 25"/>
                <a:gd name="T25" fmla="*/ 11 h 24"/>
                <a:gd name="T26" fmla="*/ 27 w 25"/>
                <a:gd name="T27" fmla="*/ 8 h 24"/>
                <a:gd name="T28" fmla="*/ 24 w 25"/>
                <a:gd name="T29" fmla="*/ 8 h 24"/>
                <a:gd name="T30" fmla="*/ 24 w 25"/>
                <a:gd name="T31" fmla="*/ 5 h 24"/>
                <a:gd name="T32" fmla="*/ 22 w 25"/>
                <a:gd name="T33" fmla="*/ 3 h 24"/>
                <a:gd name="T34" fmla="*/ 20 w 25"/>
                <a:gd name="T35" fmla="*/ 3 h 24"/>
                <a:gd name="T36" fmla="*/ 17 w 25"/>
                <a:gd name="T37" fmla="*/ 0 h 24"/>
                <a:gd name="T38" fmla="*/ 15 w 25"/>
                <a:gd name="T39" fmla="*/ 0 h 24"/>
                <a:gd name="T40" fmla="*/ 13 w 25"/>
                <a:gd name="T41" fmla="*/ 0 h 24"/>
                <a:gd name="T42" fmla="*/ 10 w 25"/>
                <a:gd name="T43" fmla="*/ 0 h 24"/>
                <a:gd name="T44" fmla="*/ 8 w 25"/>
                <a:gd name="T45" fmla="*/ 0 h 24"/>
                <a:gd name="T46" fmla="*/ 6 w 25"/>
                <a:gd name="T47" fmla="*/ 3 h 24"/>
                <a:gd name="T48" fmla="*/ 5 w 25"/>
                <a:gd name="T49" fmla="*/ 3 h 24"/>
                <a:gd name="T50" fmla="*/ 5 w 25"/>
                <a:gd name="T51" fmla="*/ 5 h 24"/>
                <a:gd name="T52" fmla="*/ 2 w 25"/>
                <a:gd name="T53" fmla="*/ 8 h 24"/>
                <a:gd name="T54" fmla="*/ 2 w 25"/>
                <a:gd name="T55" fmla="*/ 8 h 24"/>
                <a:gd name="T56" fmla="*/ 0 w 25"/>
                <a:gd name="T57" fmla="*/ 11 h 24"/>
                <a:gd name="T58" fmla="*/ 0 w 25"/>
                <a:gd name="T59" fmla="*/ 14 h 24"/>
                <a:gd name="T60" fmla="*/ 0 w 25"/>
                <a:gd name="T61" fmla="*/ 17 h 24"/>
                <a:gd name="T62" fmla="*/ 0 w 25"/>
                <a:gd name="T63" fmla="*/ 20 h 24"/>
                <a:gd name="T64" fmla="*/ 0 w 25"/>
                <a:gd name="T65" fmla="*/ 23 h 24"/>
                <a:gd name="T66" fmla="*/ 2 w 25"/>
                <a:gd name="T67" fmla="*/ 26 h 24"/>
                <a:gd name="T68" fmla="*/ 2 w 25"/>
                <a:gd name="T69" fmla="*/ 29 h 24"/>
                <a:gd name="T70" fmla="*/ 5 w 25"/>
                <a:gd name="T71" fmla="*/ 32 h 24"/>
                <a:gd name="T72" fmla="*/ 5 w 25"/>
                <a:gd name="T73" fmla="*/ 32 h 24"/>
                <a:gd name="T74" fmla="*/ 6 w 25"/>
                <a:gd name="T75" fmla="*/ 35 h 24"/>
                <a:gd name="T76" fmla="*/ 8 w 25"/>
                <a:gd name="T77" fmla="*/ 35 h 24"/>
                <a:gd name="T78" fmla="*/ 10 w 25"/>
                <a:gd name="T79" fmla="*/ 37 h 24"/>
                <a:gd name="T80" fmla="*/ 13 w 25"/>
                <a:gd name="T81" fmla="*/ 37 h 24"/>
                <a:gd name="T82" fmla="*/ 13 w 25"/>
                <a:gd name="T83" fmla="*/ 37 h 24"/>
                <a:gd name="T84" fmla="*/ 13 w 25"/>
                <a:gd name="T85" fmla="*/ 35 h 2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5"/>
                <a:gd name="T130" fmla="*/ 0 h 24"/>
                <a:gd name="T131" fmla="*/ 25 w 25"/>
                <a:gd name="T132" fmla="*/ 24 h 24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5" h="24">
                  <a:moveTo>
                    <a:pt x="11" y="23"/>
                  </a:moveTo>
                  <a:lnTo>
                    <a:pt x="13" y="24"/>
                  </a:lnTo>
                  <a:lnTo>
                    <a:pt x="15" y="23"/>
                  </a:lnTo>
                  <a:lnTo>
                    <a:pt x="17" y="23"/>
                  </a:lnTo>
                  <a:lnTo>
                    <a:pt x="19" y="21"/>
                  </a:lnTo>
                  <a:lnTo>
                    <a:pt x="21" y="21"/>
                  </a:lnTo>
                  <a:lnTo>
                    <a:pt x="21" y="19"/>
                  </a:lnTo>
                  <a:lnTo>
                    <a:pt x="23" y="17"/>
                  </a:lnTo>
                  <a:lnTo>
                    <a:pt x="23" y="15"/>
                  </a:lnTo>
                  <a:lnTo>
                    <a:pt x="23" y="13"/>
                  </a:lnTo>
                  <a:lnTo>
                    <a:pt x="25" y="11"/>
                  </a:lnTo>
                  <a:lnTo>
                    <a:pt x="23" y="9"/>
                  </a:lnTo>
                  <a:lnTo>
                    <a:pt x="23" y="7"/>
                  </a:lnTo>
                  <a:lnTo>
                    <a:pt x="23" y="5"/>
                  </a:lnTo>
                  <a:lnTo>
                    <a:pt x="21" y="5"/>
                  </a:lnTo>
                  <a:lnTo>
                    <a:pt x="21" y="3"/>
                  </a:lnTo>
                  <a:lnTo>
                    <a:pt x="19" y="2"/>
                  </a:lnTo>
                  <a:lnTo>
                    <a:pt x="17" y="2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1" y="0"/>
                  </a:lnTo>
                  <a:lnTo>
                    <a:pt x="9" y="0"/>
                  </a:lnTo>
                  <a:lnTo>
                    <a:pt x="7" y="0"/>
                  </a:lnTo>
                  <a:lnTo>
                    <a:pt x="5" y="2"/>
                  </a:lnTo>
                  <a:lnTo>
                    <a:pt x="4" y="2"/>
                  </a:lnTo>
                  <a:lnTo>
                    <a:pt x="4" y="3"/>
                  </a:lnTo>
                  <a:lnTo>
                    <a:pt x="2" y="5"/>
                  </a:lnTo>
                  <a:lnTo>
                    <a:pt x="0" y="7"/>
                  </a:lnTo>
                  <a:lnTo>
                    <a:pt x="0" y="9"/>
                  </a:lnTo>
                  <a:lnTo>
                    <a:pt x="0" y="11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2" y="17"/>
                  </a:lnTo>
                  <a:lnTo>
                    <a:pt x="2" y="19"/>
                  </a:lnTo>
                  <a:lnTo>
                    <a:pt x="4" y="21"/>
                  </a:lnTo>
                  <a:lnTo>
                    <a:pt x="5" y="23"/>
                  </a:lnTo>
                  <a:lnTo>
                    <a:pt x="7" y="23"/>
                  </a:lnTo>
                  <a:lnTo>
                    <a:pt x="9" y="24"/>
                  </a:lnTo>
                  <a:lnTo>
                    <a:pt x="11" y="24"/>
                  </a:lnTo>
                  <a:lnTo>
                    <a:pt x="11" y="2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07" name="Freeform 105"/>
            <p:cNvSpPr>
              <a:spLocks/>
            </p:cNvSpPr>
            <p:nvPr/>
          </p:nvSpPr>
          <p:spPr bwMode="auto">
            <a:xfrm>
              <a:off x="1293" y="1838"/>
              <a:ext cx="29" cy="37"/>
            </a:xfrm>
            <a:custGeom>
              <a:avLst/>
              <a:gdLst>
                <a:gd name="T0" fmla="*/ 14 w 25"/>
                <a:gd name="T1" fmla="*/ 34 h 24"/>
                <a:gd name="T2" fmla="*/ 16 w 25"/>
                <a:gd name="T3" fmla="*/ 34 h 24"/>
                <a:gd name="T4" fmla="*/ 19 w 25"/>
                <a:gd name="T5" fmla="*/ 34 h 24"/>
                <a:gd name="T6" fmla="*/ 21 w 25"/>
                <a:gd name="T7" fmla="*/ 34 h 24"/>
                <a:gd name="T8" fmla="*/ 23 w 25"/>
                <a:gd name="T9" fmla="*/ 32 h 24"/>
                <a:gd name="T10" fmla="*/ 24 w 25"/>
                <a:gd name="T11" fmla="*/ 32 h 24"/>
                <a:gd name="T12" fmla="*/ 24 w 25"/>
                <a:gd name="T13" fmla="*/ 29 h 24"/>
                <a:gd name="T14" fmla="*/ 27 w 25"/>
                <a:gd name="T15" fmla="*/ 26 h 24"/>
                <a:gd name="T16" fmla="*/ 27 w 25"/>
                <a:gd name="T17" fmla="*/ 23 h 24"/>
                <a:gd name="T18" fmla="*/ 29 w 25"/>
                <a:gd name="T19" fmla="*/ 20 h 24"/>
                <a:gd name="T20" fmla="*/ 29 w 25"/>
                <a:gd name="T21" fmla="*/ 17 h 24"/>
                <a:gd name="T22" fmla="*/ 29 w 25"/>
                <a:gd name="T23" fmla="*/ 14 h 24"/>
                <a:gd name="T24" fmla="*/ 27 w 25"/>
                <a:gd name="T25" fmla="*/ 11 h 24"/>
                <a:gd name="T26" fmla="*/ 27 w 25"/>
                <a:gd name="T27" fmla="*/ 8 h 24"/>
                <a:gd name="T28" fmla="*/ 24 w 25"/>
                <a:gd name="T29" fmla="*/ 5 h 24"/>
                <a:gd name="T30" fmla="*/ 24 w 25"/>
                <a:gd name="T31" fmla="*/ 5 h 24"/>
                <a:gd name="T32" fmla="*/ 23 w 25"/>
                <a:gd name="T33" fmla="*/ 2 h 24"/>
                <a:gd name="T34" fmla="*/ 21 w 25"/>
                <a:gd name="T35" fmla="*/ 2 h 24"/>
                <a:gd name="T36" fmla="*/ 19 w 25"/>
                <a:gd name="T37" fmla="*/ 0 h 24"/>
                <a:gd name="T38" fmla="*/ 16 w 25"/>
                <a:gd name="T39" fmla="*/ 0 h 24"/>
                <a:gd name="T40" fmla="*/ 14 w 25"/>
                <a:gd name="T41" fmla="*/ 0 h 24"/>
                <a:gd name="T42" fmla="*/ 12 w 25"/>
                <a:gd name="T43" fmla="*/ 0 h 24"/>
                <a:gd name="T44" fmla="*/ 9 w 25"/>
                <a:gd name="T45" fmla="*/ 0 h 24"/>
                <a:gd name="T46" fmla="*/ 7 w 25"/>
                <a:gd name="T47" fmla="*/ 2 h 24"/>
                <a:gd name="T48" fmla="*/ 7 w 25"/>
                <a:gd name="T49" fmla="*/ 2 h 24"/>
                <a:gd name="T50" fmla="*/ 5 w 25"/>
                <a:gd name="T51" fmla="*/ 5 h 24"/>
                <a:gd name="T52" fmla="*/ 2 w 25"/>
                <a:gd name="T53" fmla="*/ 5 h 24"/>
                <a:gd name="T54" fmla="*/ 2 w 25"/>
                <a:gd name="T55" fmla="*/ 8 h 24"/>
                <a:gd name="T56" fmla="*/ 0 w 25"/>
                <a:gd name="T57" fmla="*/ 11 h 24"/>
                <a:gd name="T58" fmla="*/ 0 w 25"/>
                <a:gd name="T59" fmla="*/ 14 h 24"/>
                <a:gd name="T60" fmla="*/ 0 w 25"/>
                <a:gd name="T61" fmla="*/ 17 h 24"/>
                <a:gd name="T62" fmla="*/ 0 w 25"/>
                <a:gd name="T63" fmla="*/ 20 h 24"/>
                <a:gd name="T64" fmla="*/ 0 w 25"/>
                <a:gd name="T65" fmla="*/ 23 h 24"/>
                <a:gd name="T66" fmla="*/ 2 w 25"/>
                <a:gd name="T67" fmla="*/ 26 h 24"/>
                <a:gd name="T68" fmla="*/ 2 w 25"/>
                <a:gd name="T69" fmla="*/ 29 h 24"/>
                <a:gd name="T70" fmla="*/ 5 w 25"/>
                <a:gd name="T71" fmla="*/ 32 h 24"/>
                <a:gd name="T72" fmla="*/ 7 w 25"/>
                <a:gd name="T73" fmla="*/ 32 h 24"/>
                <a:gd name="T74" fmla="*/ 7 w 25"/>
                <a:gd name="T75" fmla="*/ 34 h 24"/>
                <a:gd name="T76" fmla="*/ 9 w 25"/>
                <a:gd name="T77" fmla="*/ 34 h 24"/>
                <a:gd name="T78" fmla="*/ 12 w 25"/>
                <a:gd name="T79" fmla="*/ 34 h 24"/>
                <a:gd name="T80" fmla="*/ 14 w 25"/>
                <a:gd name="T81" fmla="*/ 37 h 24"/>
                <a:gd name="T82" fmla="*/ 14 w 25"/>
                <a:gd name="T83" fmla="*/ 37 h 24"/>
                <a:gd name="T84" fmla="*/ 14 w 25"/>
                <a:gd name="T85" fmla="*/ 34 h 2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5"/>
                <a:gd name="T130" fmla="*/ 0 h 24"/>
                <a:gd name="T131" fmla="*/ 25 w 25"/>
                <a:gd name="T132" fmla="*/ 24 h 24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5" h="24">
                  <a:moveTo>
                    <a:pt x="12" y="22"/>
                  </a:moveTo>
                  <a:lnTo>
                    <a:pt x="14" y="22"/>
                  </a:lnTo>
                  <a:lnTo>
                    <a:pt x="16" y="22"/>
                  </a:lnTo>
                  <a:lnTo>
                    <a:pt x="18" y="22"/>
                  </a:lnTo>
                  <a:lnTo>
                    <a:pt x="20" y="21"/>
                  </a:lnTo>
                  <a:lnTo>
                    <a:pt x="21" y="21"/>
                  </a:lnTo>
                  <a:lnTo>
                    <a:pt x="21" y="19"/>
                  </a:lnTo>
                  <a:lnTo>
                    <a:pt x="23" y="17"/>
                  </a:lnTo>
                  <a:lnTo>
                    <a:pt x="23" y="15"/>
                  </a:lnTo>
                  <a:lnTo>
                    <a:pt x="25" y="13"/>
                  </a:lnTo>
                  <a:lnTo>
                    <a:pt x="25" y="11"/>
                  </a:lnTo>
                  <a:lnTo>
                    <a:pt x="25" y="9"/>
                  </a:lnTo>
                  <a:lnTo>
                    <a:pt x="23" y="7"/>
                  </a:lnTo>
                  <a:lnTo>
                    <a:pt x="23" y="5"/>
                  </a:lnTo>
                  <a:lnTo>
                    <a:pt x="21" y="3"/>
                  </a:lnTo>
                  <a:lnTo>
                    <a:pt x="20" y="1"/>
                  </a:lnTo>
                  <a:lnTo>
                    <a:pt x="18" y="1"/>
                  </a:lnTo>
                  <a:lnTo>
                    <a:pt x="16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8" y="0"/>
                  </a:lnTo>
                  <a:lnTo>
                    <a:pt x="6" y="1"/>
                  </a:lnTo>
                  <a:lnTo>
                    <a:pt x="4" y="3"/>
                  </a:lnTo>
                  <a:lnTo>
                    <a:pt x="2" y="3"/>
                  </a:lnTo>
                  <a:lnTo>
                    <a:pt x="2" y="5"/>
                  </a:lnTo>
                  <a:lnTo>
                    <a:pt x="0" y="7"/>
                  </a:lnTo>
                  <a:lnTo>
                    <a:pt x="0" y="9"/>
                  </a:lnTo>
                  <a:lnTo>
                    <a:pt x="0" y="11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2" y="17"/>
                  </a:lnTo>
                  <a:lnTo>
                    <a:pt x="2" y="19"/>
                  </a:lnTo>
                  <a:lnTo>
                    <a:pt x="4" y="21"/>
                  </a:lnTo>
                  <a:lnTo>
                    <a:pt x="6" y="21"/>
                  </a:lnTo>
                  <a:lnTo>
                    <a:pt x="6" y="22"/>
                  </a:lnTo>
                  <a:lnTo>
                    <a:pt x="8" y="22"/>
                  </a:lnTo>
                  <a:lnTo>
                    <a:pt x="10" y="22"/>
                  </a:lnTo>
                  <a:lnTo>
                    <a:pt x="12" y="24"/>
                  </a:lnTo>
                  <a:lnTo>
                    <a:pt x="12" y="2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08" name="Freeform 106"/>
            <p:cNvSpPr>
              <a:spLocks/>
            </p:cNvSpPr>
            <p:nvPr/>
          </p:nvSpPr>
          <p:spPr bwMode="auto">
            <a:xfrm>
              <a:off x="1356" y="2059"/>
              <a:ext cx="30" cy="39"/>
            </a:xfrm>
            <a:custGeom>
              <a:avLst/>
              <a:gdLst>
                <a:gd name="T0" fmla="*/ 14 w 25"/>
                <a:gd name="T1" fmla="*/ 36 h 25"/>
                <a:gd name="T2" fmla="*/ 18 w 25"/>
                <a:gd name="T3" fmla="*/ 36 h 25"/>
                <a:gd name="T4" fmla="*/ 20 w 25"/>
                <a:gd name="T5" fmla="*/ 36 h 25"/>
                <a:gd name="T6" fmla="*/ 23 w 25"/>
                <a:gd name="T7" fmla="*/ 36 h 25"/>
                <a:gd name="T8" fmla="*/ 25 w 25"/>
                <a:gd name="T9" fmla="*/ 33 h 25"/>
                <a:gd name="T10" fmla="*/ 25 w 25"/>
                <a:gd name="T11" fmla="*/ 33 h 25"/>
                <a:gd name="T12" fmla="*/ 28 w 25"/>
                <a:gd name="T13" fmla="*/ 30 h 25"/>
                <a:gd name="T14" fmla="*/ 28 w 25"/>
                <a:gd name="T15" fmla="*/ 27 h 25"/>
                <a:gd name="T16" fmla="*/ 30 w 25"/>
                <a:gd name="T17" fmla="*/ 23 h 25"/>
                <a:gd name="T18" fmla="*/ 30 w 25"/>
                <a:gd name="T19" fmla="*/ 20 h 25"/>
                <a:gd name="T20" fmla="*/ 30 w 25"/>
                <a:gd name="T21" fmla="*/ 17 h 25"/>
                <a:gd name="T22" fmla="*/ 30 w 25"/>
                <a:gd name="T23" fmla="*/ 16 h 25"/>
                <a:gd name="T24" fmla="*/ 30 w 25"/>
                <a:gd name="T25" fmla="*/ 12 h 25"/>
                <a:gd name="T26" fmla="*/ 28 w 25"/>
                <a:gd name="T27" fmla="*/ 9 h 25"/>
                <a:gd name="T28" fmla="*/ 28 w 25"/>
                <a:gd name="T29" fmla="*/ 6 h 25"/>
                <a:gd name="T30" fmla="*/ 25 w 25"/>
                <a:gd name="T31" fmla="*/ 6 h 25"/>
                <a:gd name="T32" fmla="*/ 25 w 25"/>
                <a:gd name="T33" fmla="*/ 3 h 25"/>
                <a:gd name="T34" fmla="*/ 23 w 25"/>
                <a:gd name="T35" fmla="*/ 3 h 25"/>
                <a:gd name="T36" fmla="*/ 20 w 25"/>
                <a:gd name="T37" fmla="*/ 0 h 25"/>
                <a:gd name="T38" fmla="*/ 18 w 25"/>
                <a:gd name="T39" fmla="*/ 0 h 25"/>
                <a:gd name="T40" fmla="*/ 16 w 25"/>
                <a:gd name="T41" fmla="*/ 0 h 25"/>
                <a:gd name="T42" fmla="*/ 14 w 25"/>
                <a:gd name="T43" fmla="*/ 0 h 25"/>
                <a:gd name="T44" fmla="*/ 12 w 25"/>
                <a:gd name="T45" fmla="*/ 0 h 25"/>
                <a:gd name="T46" fmla="*/ 10 w 25"/>
                <a:gd name="T47" fmla="*/ 3 h 25"/>
                <a:gd name="T48" fmla="*/ 7 w 25"/>
                <a:gd name="T49" fmla="*/ 3 h 25"/>
                <a:gd name="T50" fmla="*/ 5 w 25"/>
                <a:gd name="T51" fmla="*/ 6 h 25"/>
                <a:gd name="T52" fmla="*/ 5 w 25"/>
                <a:gd name="T53" fmla="*/ 6 h 25"/>
                <a:gd name="T54" fmla="*/ 2 w 25"/>
                <a:gd name="T55" fmla="*/ 9 h 25"/>
                <a:gd name="T56" fmla="*/ 2 w 25"/>
                <a:gd name="T57" fmla="*/ 12 h 25"/>
                <a:gd name="T58" fmla="*/ 2 w 25"/>
                <a:gd name="T59" fmla="*/ 16 h 25"/>
                <a:gd name="T60" fmla="*/ 0 w 25"/>
                <a:gd name="T61" fmla="*/ 17 h 25"/>
                <a:gd name="T62" fmla="*/ 2 w 25"/>
                <a:gd name="T63" fmla="*/ 20 h 25"/>
                <a:gd name="T64" fmla="*/ 2 w 25"/>
                <a:gd name="T65" fmla="*/ 23 h 25"/>
                <a:gd name="T66" fmla="*/ 2 w 25"/>
                <a:gd name="T67" fmla="*/ 27 h 25"/>
                <a:gd name="T68" fmla="*/ 5 w 25"/>
                <a:gd name="T69" fmla="*/ 30 h 25"/>
                <a:gd name="T70" fmla="*/ 5 w 25"/>
                <a:gd name="T71" fmla="*/ 33 h 25"/>
                <a:gd name="T72" fmla="*/ 7 w 25"/>
                <a:gd name="T73" fmla="*/ 33 h 25"/>
                <a:gd name="T74" fmla="*/ 10 w 25"/>
                <a:gd name="T75" fmla="*/ 36 h 25"/>
                <a:gd name="T76" fmla="*/ 12 w 25"/>
                <a:gd name="T77" fmla="*/ 36 h 25"/>
                <a:gd name="T78" fmla="*/ 14 w 25"/>
                <a:gd name="T79" fmla="*/ 36 h 25"/>
                <a:gd name="T80" fmla="*/ 16 w 25"/>
                <a:gd name="T81" fmla="*/ 39 h 25"/>
                <a:gd name="T82" fmla="*/ 16 w 25"/>
                <a:gd name="T83" fmla="*/ 39 h 25"/>
                <a:gd name="T84" fmla="*/ 14 w 25"/>
                <a:gd name="T85" fmla="*/ 36 h 25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5"/>
                <a:gd name="T130" fmla="*/ 0 h 25"/>
                <a:gd name="T131" fmla="*/ 25 w 25"/>
                <a:gd name="T132" fmla="*/ 25 h 25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5" h="25">
                  <a:moveTo>
                    <a:pt x="12" y="23"/>
                  </a:moveTo>
                  <a:lnTo>
                    <a:pt x="15" y="23"/>
                  </a:lnTo>
                  <a:lnTo>
                    <a:pt x="17" y="23"/>
                  </a:lnTo>
                  <a:lnTo>
                    <a:pt x="19" y="23"/>
                  </a:lnTo>
                  <a:lnTo>
                    <a:pt x="21" y="21"/>
                  </a:lnTo>
                  <a:lnTo>
                    <a:pt x="23" y="19"/>
                  </a:lnTo>
                  <a:lnTo>
                    <a:pt x="23" y="17"/>
                  </a:lnTo>
                  <a:lnTo>
                    <a:pt x="25" y="15"/>
                  </a:lnTo>
                  <a:lnTo>
                    <a:pt x="25" y="13"/>
                  </a:lnTo>
                  <a:lnTo>
                    <a:pt x="25" y="11"/>
                  </a:lnTo>
                  <a:lnTo>
                    <a:pt x="25" y="10"/>
                  </a:lnTo>
                  <a:lnTo>
                    <a:pt x="25" y="8"/>
                  </a:lnTo>
                  <a:lnTo>
                    <a:pt x="23" y="6"/>
                  </a:lnTo>
                  <a:lnTo>
                    <a:pt x="23" y="4"/>
                  </a:lnTo>
                  <a:lnTo>
                    <a:pt x="21" y="4"/>
                  </a:lnTo>
                  <a:lnTo>
                    <a:pt x="21" y="2"/>
                  </a:lnTo>
                  <a:lnTo>
                    <a:pt x="19" y="2"/>
                  </a:lnTo>
                  <a:lnTo>
                    <a:pt x="17" y="0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8" y="2"/>
                  </a:lnTo>
                  <a:lnTo>
                    <a:pt x="6" y="2"/>
                  </a:lnTo>
                  <a:lnTo>
                    <a:pt x="4" y="4"/>
                  </a:lnTo>
                  <a:lnTo>
                    <a:pt x="2" y="6"/>
                  </a:lnTo>
                  <a:lnTo>
                    <a:pt x="2" y="8"/>
                  </a:lnTo>
                  <a:lnTo>
                    <a:pt x="2" y="10"/>
                  </a:lnTo>
                  <a:lnTo>
                    <a:pt x="0" y="11"/>
                  </a:lnTo>
                  <a:lnTo>
                    <a:pt x="2" y="13"/>
                  </a:lnTo>
                  <a:lnTo>
                    <a:pt x="2" y="15"/>
                  </a:lnTo>
                  <a:lnTo>
                    <a:pt x="2" y="17"/>
                  </a:lnTo>
                  <a:lnTo>
                    <a:pt x="4" y="19"/>
                  </a:lnTo>
                  <a:lnTo>
                    <a:pt x="4" y="21"/>
                  </a:lnTo>
                  <a:lnTo>
                    <a:pt x="6" y="21"/>
                  </a:lnTo>
                  <a:lnTo>
                    <a:pt x="8" y="23"/>
                  </a:lnTo>
                  <a:lnTo>
                    <a:pt x="10" y="23"/>
                  </a:lnTo>
                  <a:lnTo>
                    <a:pt x="12" y="23"/>
                  </a:lnTo>
                  <a:lnTo>
                    <a:pt x="13" y="25"/>
                  </a:lnTo>
                  <a:lnTo>
                    <a:pt x="12" y="2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09" name="Freeform 107"/>
            <p:cNvSpPr>
              <a:spLocks/>
            </p:cNvSpPr>
            <p:nvPr/>
          </p:nvSpPr>
          <p:spPr bwMode="auto">
            <a:xfrm>
              <a:off x="4500" y="3190"/>
              <a:ext cx="29" cy="39"/>
            </a:xfrm>
            <a:custGeom>
              <a:avLst/>
              <a:gdLst>
                <a:gd name="T0" fmla="*/ 0 w 25"/>
                <a:gd name="T1" fmla="*/ 0 h 25"/>
                <a:gd name="T2" fmla="*/ 2 w 25"/>
                <a:gd name="T3" fmla="*/ 39 h 25"/>
                <a:gd name="T4" fmla="*/ 29 w 25"/>
                <a:gd name="T5" fmla="*/ 20 h 25"/>
                <a:gd name="T6" fmla="*/ 2 w 25"/>
                <a:gd name="T7" fmla="*/ 3 h 25"/>
                <a:gd name="T8" fmla="*/ 2 w 25"/>
                <a:gd name="T9" fmla="*/ 3 h 25"/>
                <a:gd name="T10" fmla="*/ 0 w 25"/>
                <a:gd name="T11" fmla="*/ 0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"/>
                <a:gd name="T19" fmla="*/ 0 h 25"/>
                <a:gd name="T20" fmla="*/ 25 w 25"/>
                <a:gd name="T21" fmla="*/ 25 h 2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" h="25">
                  <a:moveTo>
                    <a:pt x="0" y="0"/>
                  </a:moveTo>
                  <a:lnTo>
                    <a:pt x="2" y="25"/>
                  </a:lnTo>
                  <a:lnTo>
                    <a:pt x="25" y="13"/>
                  </a:lnTo>
                  <a:lnTo>
                    <a:pt x="2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10" name="Line 108"/>
            <p:cNvSpPr>
              <a:spLocks noChangeShapeType="1"/>
            </p:cNvSpPr>
            <p:nvPr/>
          </p:nvSpPr>
          <p:spPr bwMode="auto">
            <a:xfrm flipH="1">
              <a:off x="3794" y="3210"/>
              <a:ext cx="710" cy="2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11" name="Freeform 109"/>
            <p:cNvSpPr>
              <a:spLocks/>
            </p:cNvSpPr>
            <p:nvPr/>
          </p:nvSpPr>
          <p:spPr bwMode="auto">
            <a:xfrm>
              <a:off x="3670" y="3210"/>
              <a:ext cx="188" cy="211"/>
            </a:xfrm>
            <a:custGeom>
              <a:avLst/>
              <a:gdLst>
                <a:gd name="T0" fmla="*/ 188 w 159"/>
                <a:gd name="T1" fmla="*/ 0 h 138"/>
                <a:gd name="T2" fmla="*/ 188 w 159"/>
                <a:gd name="T3" fmla="*/ 211 h 138"/>
                <a:gd name="T4" fmla="*/ 0 w 159"/>
                <a:gd name="T5" fmla="*/ 211 h 138"/>
                <a:gd name="T6" fmla="*/ 0 60000 65536"/>
                <a:gd name="T7" fmla="*/ 0 60000 65536"/>
                <a:gd name="T8" fmla="*/ 0 60000 65536"/>
                <a:gd name="T9" fmla="*/ 0 w 159"/>
                <a:gd name="T10" fmla="*/ 0 h 138"/>
                <a:gd name="T11" fmla="*/ 159 w 159"/>
                <a:gd name="T12" fmla="*/ 138 h 13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9" h="138">
                  <a:moveTo>
                    <a:pt x="159" y="0"/>
                  </a:moveTo>
                  <a:lnTo>
                    <a:pt x="159" y="138"/>
                  </a:lnTo>
                  <a:lnTo>
                    <a:pt x="0" y="138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12" name="Freeform 110"/>
            <p:cNvSpPr>
              <a:spLocks/>
            </p:cNvSpPr>
            <p:nvPr/>
          </p:nvSpPr>
          <p:spPr bwMode="auto">
            <a:xfrm>
              <a:off x="3844" y="3193"/>
              <a:ext cx="27" cy="36"/>
            </a:xfrm>
            <a:custGeom>
              <a:avLst/>
              <a:gdLst>
                <a:gd name="T0" fmla="*/ 14 w 23"/>
                <a:gd name="T1" fmla="*/ 36 h 23"/>
                <a:gd name="T2" fmla="*/ 16 w 23"/>
                <a:gd name="T3" fmla="*/ 36 h 23"/>
                <a:gd name="T4" fmla="*/ 19 w 23"/>
                <a:gd name="T5" fmla="*/ 36 h 23"/>
                <a:gd name="T6" fmla="*/ 20 w 23"/>
                <a:gd name="T7" fmla="*/ 36 h 23"/>
                <a:gd name="T8" fmla="*/ 22 w 23"/>
                <a:gd name="T9" fmla="*/ 33 h 23"/>
                <a:gd name="T10" fmla="*/ 22 w 23"/>
                <a:gd name="T11" fmla="*/ 33 h 23"/>
                <a:gd name="T12" fmla="*/ 25 w 23"/>
                <a:gd name="T13" fmla="*/ 30 h 23"/>
                <a:gd name="T14" fmla="*/ 27 w 23"/>
                <a:gd name="T15" fmla="*/ 27 h 23"/>
                <a:gd name="T16" fmla="*/ 27 w 23"/>
                <a:gd name="T17" fmla="*/ 23 h 23"/>
                <a:gd name="T18" fmla="*/ 27 w 23"/>
                <a:gd name="T19" fmla="*/ 20 h 23"/>
                <a:gd name="T20" fmla="*/ 27 w 23"/>
                <a:gd name="T21" fmla="*/ 17 h 23"/>
                <a:gd name="T22" fmla="*/ 27 w 23"/>
                <a:gd name="T23" fmla="*/ 14 h 23"/>
                <a:gd name="T24" fmla="*/ 27 w 23"/>
                <a:gd name="T25" fmla="*/ 11 h 23"/>
                <a:gd name="T26" fmla="*/ 27 w 23"/>
                <a:gd name="T27" fmla="*/ 9 h 23"/>
                <a:gd name="T28" fmla="*/ 25 w 23"/>
                <a:gd name="T29" fmla="*/ 6 h 23"/>
                <a:gd name="T30" fmla="*/ 22 w 23"/>
                <a:gd name="T31" fmla="*/ 6 h 23"/>
                <a:gd name="T32" fmla="*/ 22 w 23"/>
                <a:gd name="T33" fmla="*/ 3 h 23"/>
                <a:gd name="T34" fmla="*/ 20 w 23"/>
                <a:gd name="T35" fmla="*/ 0 h 23"/>
                <a:gd name="T36" fmla="*/ 19 w 23"/>
                <a:gd name="T37" fmla="*/ 0 h 23"/>
                <a:gd name="T38" fmla="*/ 16 w 23"/>
                <a:gd name="T39" fmla="*/ 0 h 23"/>
                <a:gd name="T40" fmla="*/ 14 w 23"/>
                <a:gd name="T41" fmla="*/ 0 h 23"/>
                <a:gd name="T42" fmla="*/ 12 w 23"/>
                <a:gd name="T43" fmla="*/ 0 h 23"/>
                <a:gd name="T44" fmla="*/ 9 w 23"/>
                <a:gd name="T45" fmla="*/ 0 h 23"/>
                <a:gd name="T46" fmla="*/ 7 w 23"/>
                <a:gd name="T47" fmla="*/ 0 h 23"/>
                <a:gd name="T48" fmla="*/ 5 w 23"/>
                <a:gd name="T49" fmla="*/ 3 h 23"/>
                <a:gd name="T50" fmla="*/ 5 w 23"/>
                <a:gd name="T51" fmla="*/ 6 h 23"/>
                <a:gd name="T52" fmla="*/ 2 w 23"/>
                <a:gd name="T53" fmla="*/ 6 h 23"/>
                <a:gd name="T54" fmla="*/ 0 w 23"/>
                <a:gd name="T55" fmla="*/ 9 h 23"/>
                <a:gd name="T56" fmla="*/ 0 w 23"/>
                <a:gd name="T57" fmla="*/ 11 h 23"/>
                <a:gd name="T58" fmla="*/ 0 w 23"/>
                <a:gd name="T59" fmla="*/ 14 h 23"/>
                <a:gd name="T60" fmla="*/ 0 w 23"/>
                <a:gd name="T61" fmla="*/ 17 h 23"/>
                <a:gd name="T62" fmla="*/ 0 w 23"/>
                <a:gd name="T63" fmla="*/ 20 h 23"/>
                <a:gd name="T64" fmla="*/ 0 w 23"/>
                <a:gd name="T65" fmla="*/ 23 h 23"/>
                <a:gd name="T66" fmla="*/ 0 w 23"/>
                <a:gd name="T67" fmla="*/ 27 h 23"/>
                <a:gd name="T68" fmla="*/ 2 w 23"/>
                <a:gd name="T69" fmla="*/ 30 h 23"/>
                <a:gd name="T70" fmla="*/ 5 w 23"/>
                <a:gd name="T71" fmla="*/ 33 h 23"/>
                <a:gd name="T72" fmla="*/ 5 w 23"/>
                <a:gd name="T73" fmla="*/ 33 h 23"/>
                <a:gd name="T74" fmla="*/ 7 w 23"/>
                <a:gd name="T75" fmla="*/ 36 h 23"/>
                <a:gd name="T76" fmla="*/ 9 w 23"/>
                <a:gd name="T77" fmla="*/ 36 h 23"/>
                <a:gd name="T78" fmla="*/ 12 w 23"/>
                <a:gd name="T79" fmla="*/ 36 h 23"/>
                <a:gd name="T80" fmla="*/ 14 w 23"/>
                <a:gd name="T81" fmla="*/ 36 h 23"/>
                <a:gd name="T82" fmla="*/ 14 w 23"/>
                <a:gd name="T83" fmla="*/ 36 h 23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23"/>
                <a:gd name="T127" fmla="*/ 0 h 23"/>
                <a:gd name="T128" fmla="*/ 23 w 23"/>
                <a:gd name="T129" fmla="*/ 23 h 23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23" h="23">
                  <a:moveTo>
                    <a:pt x="12" y="23"/>
                  </a:moveTo>
                  <a:lnTo>
                    <a:pt x="14" y="23"/>
                  </a:lnTo>
                  <a:lnTo>
                    <a:pt x="16" y="23"/>
                  </a:lnTo>
                  <a:lnTo>
                    <a:pt x="17" y="23"/>
                  </a:lnTo>
                  <a:lnTo>
                    <a:pt x="19" y="21"/>
                  </a:lnTo>
                  <a:lnTo>
                    <a:pt x="21" y="19"/>
                  </a:lnTo>
                  <a:lnTo>
                    <a:pt x="23" y="17"/>
                  </a:lnTo>
                  <a:lnTo>
                    <a:pt x="23" y="15"/>
                  </a:lnTo>
                  <a:lnTo>
                    <a:pt x="23" y="13"/>
                  </a:lnTo>
                  <a:lnTo>
                    <a:pt x="23" y="11"/>
                  </a:lnTo>
                  <a:lnTo>
                    <a:pt x="23" y="9"/>
                  </a:lnTo>
                  <a:lnTo>
                    <a:pt x="23" y="7"/>
                  </a:lnTo>
                  <a:lnTo>
                    <a:pt x="23" y="6"/>
                  </a:lnTo>
                  <a:lnTo>
                    <a:pt x="21" y="4"/>
                  </a:lnTo>
                  <a:lnTo>
                    <a:pt x="19" y="4"/>
                  </a:lnTo>
                  <a:lnTo>
                    <a:pt x="19" y="2"/>
                  </a:lnTo>
                  <a:lnTo>
                    <a:pt x="17" y="0"/>
                  </a:lnTo>
                  <a:lnTo>
                    <a:pt x="16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8" y="0"/>
                  </a:lnTo>
                  <a:lnTo>
                    <a:pt x="6" y="0"/>
                  </a:lnTo>
                  <a:lnTo>
                    <a:pt x="4" y="2"/>
                  </a:lnTo>
                  <a:lnTo>
                    <a:pt x="4" y="4"/>
                  </a:lnTo>
                  <a:lnTo>
                    <a:pt x="2" y="4"/>
                  </a:lnTo>
                  <a:lnTo>
                    <a:pt x="0" y="6"/>
                  </a:lnTo>
                  <a:lnTo>
                    <a:pt x="0" y="7"/>
                  </a:lnTo>
                  <a:lnTo>
                    <a:pt x="0" y="9"/>
                  </a:lnTo>
                  <a:lnTo>
                    <a:pt x="0" y="11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0" y="17"/>
                  </a:lnTo>
                  <a:lnTo>
                    <a:pt x="2" y="19"/>
                  </a:lnTo>
                  <a:lnTo>
                    <a:pt x="4" y="21"/>
                  </a:lnTo>
                  <a:lnTo>
                    <a:pt x="6" y="23"/>
                  </a:lnTo>
                  <a:lnTo>
                    <a:pt x="8" y="23"/>
                  </a:lnTo>
                  <a:lnTo>
                    <a:pt x="10" y="23"/>
                  </a:lnTo>
                  <a:lnTo>
                    <a:pt x="12" y="2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13" name="Freeform 111"/>
            <p:cNvSpPr>
              <a:spLocks/>
            </p:cNvSpPr>
            <p:nvPr/>
          </p:nvSpPr>
          <p:spPr bwMode="auto">
            <a:xfrm>
              <a:off x="3668" y="3210"/>
              <a:ext cx="1044" cy="322"/>
            </a:xfrm>
            <a:custGeom>
              <a:avLst/>
              <a:gdLst>
                <a:gd name="T0" fmla="*/ 0 w 885"/>
                <a:gd name="T1" fmla="*/ 319 h 211"/>
                <a:gd name="T2" fmla="*/ 1044 w 885"/>
                <a:gd name="T3" fmla="*/ 322 h 211"/>
                <a:gd name="T4" fmla="*/ 1044 w 885"/>
                <a:gd name="T5" fmla="*/ 0 h 211"/>
                <a:gd name="T6" fmla="*/ 981 w 885"/>
                <a:gd name="T7" fmla="*/ 0 h 21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85"/>
                <a:gd name="T13" fmla="*/ 0 h 211"/>
                <a:gd name="T14" fmla="*/ 885 w 885"/>
                <a:gd name="T15" fmla="*/ 211 h 21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85" h="211">
                  <a:moveTo>
                    <a:pt x="0" y="209"/>
                  </a:moveTo>
                  <a:lnTo>
                    <a:pt x="885" y="211"/>
                  </a:lnTo>
                  <a:lnTo>
                    <a:pt x="885" y="0"/>
                  </a:lnTo>
                  <a:lnTo>
                    <a:pt x="832" y="0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14" name="Freeform 112"/>
            <p:cNvSpPr>
              <a:spLocks/>
            </p:cNvSpPr>
            <p:nvPr/>
          </p:nvSpPr>
          <p:spPr bwMode="auto">
            <a:xfrm>
              <a:off x="3649" y="3511"/>
              <a:ext cx="27" cy="38"/>
            </a:xfrm>
            <a:custGeom>
              <a:avLst/>
              <a:gdLst>
                <a:gd name="T0" fmla="*/ 27 w 23"/>
                <a:gd name="T1" fmla="*/ 0 h 25"/>
                <a:gd name="T2" fmla="*/ 27 w 23"/>
                <a:gd name="T3" fmla="*/ 38 h 25"/>
                <a:gd name="T4" fmla="*/ 0 w 23"/>
                <a:gd name="T5" fmla="*/ 21 h 25"/>
                <a:gd name="T6" fmla="*/ 27 w 23"/>
                <a:gd name="T7" fmla="*/ 0 h 25"/>
                <a:gd name="T8" fmla="*/ 27 w 23"/>
                <a:gd name="T9" fmla="*/ 0 h 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"/>
                <a:gd name="T16" fmla="*/ 0 h 25"/>
                <a:gd name="T17" fmla="*/ 23 w 23"/>
                <a:gd name="T18" fmla="*/ 25 h 2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" h="25">
                  <a:moveTo>
                    <a:pt x="23" y="0"/>
                  </a:moveTo>
                  <a:lnTo>
                    <a:pt x="23" y="25"/>
                  </a:lnTo>
                  <a:lnTo>
                    <a:pt x="0" y="14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15" name="Freeform 113"/>
            <p:cNvSpPr>
              <a:spLocks/>
            </p:cNvSpPr>
            <p:nvPr/>
          </p:nvSpPr>
          <p:spPr bwMode="auto">
            <a:xfrm>
              <a:off x="3649" y="3401"/>
              <a:ext cx="27" cy="38"/>
            </a:xfrm>
            <a:custGeom>
              <a:avLst/>
              <a:gdLst>
                <a:gd name="T0" fmla="*/ 27 w 23"/>
                <a:gd name="T1" fmla="*/ 0 h 25"/>
                <a:gd name="T2" fmla="*/ 27 w 23"/>
                <a:gd name="T3" fmla="*/ 38 h 25"/>
                <a:gd name="T4" fmla="*/ 0 w 23"/>
                <a:gd name="T5" fmla="*/ 20 h 25"/>
                <a:gd name="T6" fmla="*/ 27 w 23"/>
                <a:gd name="T7" fmla="*/ 0 h 25"/>
                <a:gd name="T8" fmla="*/ 27 w 23"/>
                <a:gd name="T9" fmla="*/ 0 h 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"/>
                <a:gd name="T16" fmla="*/ 0 h 25"/>
                <a:gd name="T17" fmla="*/ 23 w 23"/>
                <a:gd name="T18" fmla="*/ 25 h 2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" h="25">
                  <a:moveTo>
                    <a:pt x="23" y="0"/>
                  </a:moveTo>
                  <a:lnTo>
                    <a:pt x="23" y="25"/>
                  </a:lnTo>
                  <a:lnTo>
                    <a:pt x="0" y="13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16" name="Freeform 114"/>
            <p:cNvSpPr>
              <a:spLocks/>
            </p:cNvSpPr>
            <p:nvPr/>
          </p:nvSpPr>
          <p:spPr bwMode="auto">
            <a:xfrm>
              <a:off x="3649" y="3456"/>
              <a:ext cx="27" cy="38"/>
            </a:xfrm>
            <a:custGeom>
              <a:avLst/>
              <a:gdLst>
                <a:gd name="T0" fmla="*/ 27 w 23"/>
                <a:gd name="T1" fmla="*/ 0 h 25"/>
                <a:gd name="T2" fmla="*/ 27 w 23"/>
                <a:gd name="T3" fmla="*/ 38 h 25"/>
                <a:gd name="T4" fmla="*/ 0 w 23"/>
                <a:gd name="T5" fmla="*/ 20 h 25"/>
                <a:gd name="T6" fmla="*/ 27 w 23"/>
                <a:gd name="T7" fmla="*/ 0 h 25"/>
                <a:gd name="T8" fmla="*/ 27 w 23"/>
                <a:gd name="T9" fmla="*/ 0 h 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"/>
                <a:gd name="T16" fmla="*/ 0 h 25"/>
                <a:gd name="T17" fmla="*/ 23 w 23"/>
                <a:gd name="T18" fmla="*/ 25 h 2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" h="25">
                  <a:moveTo>
                    <a:pt x="23" y="0"/>
                  </a:moveTo>
                  <a:lnTo>
                    <a:pt x="23" y="25"/>
                  </a:lnTo>
                  <a:lnTo>
                    <a:pt x="0" y="13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EB75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17" name="Freeform 115"/>
            <p:cNvSpPr>
              <a:spLocks/>
            </p:cNvSpPr>
            <p:nvPr/>
          </p:nvSpPr>
          <p:spPr bwMode="auto">
            <a:xfrm>
              <a:off x="4038" y="2264"/>
              <a:ext cx="29" cy="38"/>
            </a:xfrm>
            <a:custGeom>
              <a:avLst/>
              <a:gdLst>
                <a:gd name="T0" fmla="*/ 0 w 25"/>
                <a:gd name="T1" fmla="*/ 0 h 25"/>
                <a:gd name="T2" fmla="*/ 0 w 25"/>
                <a:gd name="T3" fmla="*/ 38 h 25"/>
                <a:gd name="T4" fmla="*/ 29 w 25"/>
                <a:gd name="T5" fmla="*/ 20 h 25"/>
                <a:gd name="T6" fmla="*/ 0 w 25"/>
                <a:gd name="T7" fmla="*/ 3 h 25"/>
                <a:gd name="T8" fmla="*/ 0 w 25"/>
                <a:gd name="T9" fmla="*/ 3 h 25"/>
                <a:gd name="T10" fmla="*/ 0 w 25"/>
                <a:gd name="T11" fmla="*/ 0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"/>
                <a:gd name="T19" fmla="*/ 0 h 25"/>
                <a:gd name="T20" fmla="*/ 25 w 25"/>
                <a:gd name="T21" fmla="*/ 25 h 2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" h="25">
                  <a:moveTo>
                    <a:pt x="0" y="0"/>
                  </a:moveTo>
                  <a:lnTo>
                    <a:pt x="0" y="25"/>
                  </a:lnTo>
                  <a:lnTo>
                    <a:pt x="25" y="13"/>
                  </a:lnTo>
                  <a:lnTo>
                    <a:pt x="0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18" name="Line 116"/>
            <p:cNvSpPr>
              <a:spLocks noChangeShapeType="1"/>
            </p:cNvSpPr>
            <p:nvPr/>
          </p:nvSpPr>
          <p:spPr bwMode="auto">
            <a:xfrm flipH="1">
              <a:off x="3794" y="2281"/>
              <a:ext cx="251" cy="3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19" name="Freeform 117"/>
            <p:cNvSpPr>
              <a:spLocks/>
            </p:cNvSpPr>
            <p:nvPr/>
          </p:nvSpPr>
          <p:spPr bwMode="auto">
            <a:xfrm>
              <a:off x="3972" y="2784"/>
              <a:ext cx="29" cy="39"/>
            </a:xfrm>
            <a:custGeom>
              <a:avLst/>
              <a:gdLst>
                <a:gd name="T0" fmla="*/ 15 w 24"/>
                <a:gd name="T1" fmla="*/ 36 h 25"/>
                <a:gd name="T2" fmla="*/ 17 w 24"/>
                <a:gd name="T3" fmla="*/ 39 h 25"/>
                <a:gd name="T4" fmla="*/ 19 w 24"/>
                <a:gd name="T5" fmla="*/ 36 h 25"/>
                <a:gd name="T6" fmla="*/ 22 w 24"/>
                <a:gd name="T7" fmla="*/ 36 h 25"/>
                <a:gd name="T8" fmla="*/ 24 w 24"/>
                <a:gd name="T9" fmla="*/ 36 h 25"/>
                <a:gd name="T10" fmla="*/ 24 w 24"/>
                <a:gd name="T11" fmla="*/ 33 h 25"/>
                <a:gd name="T12" fmla="*/ 27 w 24"/>
                <a:gd name="T13" fmla="*/ 30 h 25"/>
                <a:gd name="T14" fmla="*/ 29 w 24"/>
                <a:gd name="T15" fmla="*/ 27 h 25"/>
                <a:gd name="T16" fmla="*/ 29 w 24"/>
                <a:gd name="T17" fmla="*/ 23 h 25"/>
                <a:gd name="T18" fmla="*/ 29 w 24"/>
                <a:gd name="T19" fmla="*/ 20 h 25"/>
                <a:gd name="T20" fmla="*/ 29 w 24"/>
                <a:gd name="T21" fmla="*/ 17 h 25"/>
                <a:gd name="T22" fmla="*/ 29 w 24"/>
                <a:gd name="T23" fmla="*/ 14 h 25"/>
                <a:gd name="T24" fmla="*/ 29 w 24"/>
                <a:gd name="T25" fmla="*/ 11 h 25"/>
                <a:gd name="T26" fmla="*/ 29 w 24"/>
                <a:gd name="T27" fmla="*/ 9 h 25"/>
                <a:gd name="T28" fmla="*/ 27 w 24"/>
                <a:gd name="T29" fmla="*/ 9 h 25"/>
                <a:gd name="T30" fmla="*/ 24 w 24"/>
                <a:gd name="T31" fmla="*/ 6 h 25"/>
                <a:gd name="T32" fmla="*/ 24 w 24"/>
                <a:gd name="T33" fmla="*/ 3 h 25"/>
                <a:gd name="T34" fmla="*/ 22 w 24"/>
                <a:gd name="T35" fmla="*/ 3 h 25"/>
                <a:gd name="T36" fmla="*/ 19 w 24"/>
                <a:gd name="T37" fmla="*/ 0 h 25"/>
                <a:gd name="T38" fmla="*/ 17 w 24"/>
                <a:gd name="T39" fmla="*/ 0 h 25"/>
                <a:gd name="T40" fmla="*/ 15 w 24"/>
                <a:gd name="T41" fmla="*/ 0 h 25"/>
                <a:gd name="T42" fmla="*/ 12 w 24"/>
                <a:gd name="T43" fmla="*/ 0 h 25"/>
                <a:gd name="T44" fmla="*/ 10 w 24"/>
                <a:gd name="T45" fmla="*/ 0 h 25"/>
                <a:gd name="T46" fmla="*/ 7 w 24"/>
                <a:gd name="T47" fmla="*/ 3 h 25"/>
                <a:gd name="T48" fmla="*/ 5 w 24"/>
                <a:gd name="T49" fmla="*/ 3 h 25"/>
                <a:gd name="T50" fmla="*/ 5 w 24"/>
                <a:gd name="T51" fmla="*/ 6 h 25"/>
                <a:gd name="T52" fmla="*/ 2 w 24"/>
                <a:gd name="T53" fmla="*/ 9 h 25"/>
                <a:gd name="T54" fmla="*/ 0 w 24"/>
                <a:gd name="T55" fmla="*/ 9 h 25"/>
                <a:gd name="T56" fmla="*/ 0 w 24"/>
                <a:gd name="T57" fmla="*/ 11 h 25"/>
                <a:gd name="T58" fmla="*/ 0 w 24"/>
                <a:gd name="T59" fmla="*/ 14 h 25"/>
                <a:gd name="T60" fmla="*/ 0 w 24"/>
                <a:gd name="T61" fmla="*/ 17 h 25"/>
                <a:gd name="T62" fmla="*/ 0 w 24"/>
                <a:gd name="T63" fmla="*/ 20 h 25"/>
                <a:gd name="T64" fmla="*/ 0 w 24"/>
                <a:gd name="T65" fmla="*/ 23 h 25"/>
                <a:gd name="T66" fmla="*/ 0 w 24"/>
                <a:gd name="T67" fmla="*/ 27 h 25"/>
                <a:gd name="T68" fmla="*/ 2 w 24"/>
                <a:gd name="T69" fmla="*/ 30 h 25"/>
                <a:gd name="T70" fmla="*/ 5 w 24"/>
                <a:gd name="T71" fmla="*/ 33 h 25"/>
                <a:gd name="T72" fmla="*/ 5 w 24"/>
                <a:gd name="T73" fmla="*/ 36 h 25"/>
                <a:gd name="T74" fmla="*/ 7 w 24"/>
                <a:gd name="T75" fmla="*/ 36 h 25"/>
                <a:gd name="T76" fmla="*/ 10 w 24"/>
                <a:gd name="T77" fmla="*/ 36 h 25"/>
                <a:gd name="T78" fmla="*/ 12 w 24"/>
                <a:gd name="T79" fmla="*/ 39 h 25"/>
                <a:gd name="T80" fmla="*/ 15 w 24"/>
                <a:gd name="T81" fmla="*/ 39 h 25"/>
                <a:gd name="T82" fmla="*/ 15 w 24"/>
                <a:gd name="T83" fmla="*/ 39 h 25"/>
                <a:gd name="T84" fmla="*/ 15 w 24"/>
                <a:gd name="T85" fmla="*/ 36 h 25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4"/>
                <a:gd name="T130" fmla="*/ 0 h 25"/>
                <a:gd name="T131" fmla="*/ 24 w 24"/>
                <a:gd name="T132" fmla="*/ 25 h 25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4" h="25">
                  <a:moveTo>
                    <a:pt x="12" y="23"/>
                  </a:moveTo>
                  <a:lnTo>
                    <a:pt x="14" y="25"/>
                  </a:lnTo>
                  <a:lnTo>
                    <a:pt x="16" y="23"/>
                  </a:lnTo>
                  <a:lnTo>
                    <a:pt x="18" y="23"/>
                  </a:lnTo>
                  <a:lnTo>
                    <a:pt x="20" y="23"/>
                  </a:lnTo>
                  <a:lnTo>
                    <a:pt x="20" y="21"/>
                  </a:lnTo>
                  <a:lnTo>
                    <a:pt x="22" y="19"/>
                  </a:lnTo>
                  <a:lnTo>
                    <a:pt x="24" y="17"/>
                  </a:lnTo>
                  <a:lnTo>
                    <a:pt x="24" y="15"/>
                  </a:lnTo>
                  <a:lnTo>
                    <a:pt x="24" y="13"/>
                  </a:lnTo>
                  <a:lnTo>
                    <a:pt x="24" y="11"/>
                  </a:lnTo>
                  <a:lnTo>
                    <a:pt x="24" y="9"/>
                  </a:lnTo>
                  <a:lnTo>
                    <a:pt x="24" y="7"/>
                  </a:lnTo>
                  <a:lnTo>
                    <a:pt x="24" y="6"/>
                  </a:lnTo>
                  <a:lnTo>
                    <a:pt x="22" y="6"/>
                  </a:lnTo>
                  <a:lnTo>
                    <a:pt x="20" y="4"/>
                  </a:lnTo>
                  <a:lnTo>
                    <a:pt x="20" y="2"/>
                  </a:lnTo>
                  <a:lnTo>
                    <a:pt x="18" y="2"/>
                  </a:lnTo>
                  <a:lnTo>
                    <a:pt x="16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8" y="0"/>
                  </a:lnTo>
                  <a:lnTo>
                    <a:pt x="6" y="2"/>
                  </a:lnTo>
                  <a:lnTo>
                    <a:pt x="4" y="2"/>
                  </a:lnTo>
                  <a:lnTo>
                    <a:pt x="4" y="4"/>
                  </a:lnTo>
                  <a:lnTo>
                    <a:pt x="2" y="6"/>
                  </a:lnTo>
                  <a:lnTo>
                    <a:pt x="0" y="6"/>
                  </a:lnTo>
                  <a:lnTo>
                    <a:pt x="0" y="7"/>
                  </a:lnTo>
                  <a:lnTo>
                    <a:pt x="0" y="9"/>
                  </a:lnTo>
                  <a:lnTo>
                    <a:pt x="0" y="11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0" y="17"/>
                  </a:lnTo>
                  <a:lnTo>
                    <a:pt x="2" y="19"/>
                  </a:lnTo>
                  <a:lnTo>
                    <a:pt x="4" y="21"/>
                  </a:lnTo>
                  <a:lnTo>
                    <a:pt x="4" y="23"/>
                  </a:lnTo>
                  <a:lnTo>
                    <a:pt x="6" y="23"/>
                  </a:lnTo>
                  <a:lnTo>
                    <a:pt x="8" y="23"/>
                  </a:lnTo>
                  <a:lnTo>
                    <a:pt x="10" y="25"/>
                  </a:lnTo>
                  <a:lnTo>
                    <a:pt x="12" y="25"/>
                  </a:lnTo>
                  <a:lnTo>
                    <a:pt x="12" y="2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20" name="Freeform 118"/>
            <p:cNvSpPr>
              <a:spLocks/>
            </p:cNvSpPr>
            <p:nvPr/>
          </p:nvSpPr>
          <p:spPr bwMode="auto">
            <a:xfrm>
              <a:off x="2922" y="1992"/>
              <a:ext cx="1064" cy="1733"/>
            </a:xfrm>
            <a:custGeom>
              <a:avLst/>
              <a:gdLst>
                <a:gd name="T0" fmla="*/ 1064 w 901"/>
                <a:gd name="T1" fmla="*/ 164 h 1045"/>
                <a:gd name="T2" fmla="*/ 1064 w 901"/>
                <a:gd name="T3" fmla="*/ 1733 h 1045"/>
                <a:gd name="T4" fmla="*/ 0 w 901"/>
                <a:gd name="T5" fmla="*/ 1733 h 1045"/>
                <a:gd name="T6" fmla="*/ 0 w 901"/>
                <a:gd name="T7" fmla="*/ 0 h 1045"/>
                <a:gd name="T8" fmla="*/ 67 w 901"/>
                <a:gd name="T9" fmla="*/ 0 h 104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01"/>
                <a:gd name="T16" fmla="*/ 0 h 1045"/>
                <a:gd name="T17" fmla="*/ 901 w 901"/>
                <a:gd name="T18" fmla="*/ 1045 h 104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01" h="1045">
                  <a:moveTo>
                    <a:pt x="901" y="99"/>
                  </a:moveTo>
                  <a:lnTo>
                    <a:pt x="901" y="1045"/>
                  </a:lnTo>
                  <a:lnTo>
                    <a:pt x="0" y="1045"/>
                  </a:lnTo>
                  <a:lnTo>
                    <a:pt x="0" y="0"/>
                  </a:lnTo>
                  <a:lnTo>
                    <a:pt x="57" y="0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21" name="Freeform 119"/>
            <p:cNvSpPr>
              <a:spLocks/>
            </p:cNvSpPr>
            <p:nvPr/>
          </p:nvSpPr>
          <p:spPr bwMode="auto">
            <a:xfrm>
              <a:off x="2846" y="3789"/>
              <a:ext cx="28" cy="38"/>
            </a:xfrm>
            <a:custGeom>
              <a:avLst/>
              <a:gdLst>
                <a:gd name="T0" fmla="*/ 11 w 23"/>
                <a:gd name="T1" fmla="*/ 38 h 25"/>
                <a:gd name="T2" fmla="*/ 16 w 23"/>
                <a:gd name="T3" fmla="*/ 38 h 25"/>
                <a:gd name="T4" fmla="*/ 18 w 23"/>
                <a:gd name="T5" fmla="*/ 38 h 25"/>
                <a:gd name="T6" fmla="*/ 21 w 23"/>
                <a:gd name="T7" fmla="*/ 35 h 25"/>
                <a:gd name="T8" fmla="*/ 23 w 23"/>
                <a:gd name="T9" fmla="*/ 35 h 25"/>
                <a:gd name="T10" fmla="*/ 23 w 23"/>
                <a:gd name="T11" fmla="*/ 32 h 25"/>
                <a:gd name="T12" fmla="*/ 26 w 23"/>
                <a:gd name="T13" fmla="*/ 32 h 25"/>
                <a:gd name="T14" fmla="*/ 26 w 23"/>
                <a:gd name="T15" fmla="*/ 29 h 25"/>
                <a:gd name="T16" fmla="*/ 28 w 23"/>
                <a:gd name="T17" fmla="*/ 27 h 25"/>
                <a:gd name="T18" fmla="*/ 28 w 23"/>
                <a:gd name="T19" fmla="*/ 24 h 25"/>
                <a:gd name="T20" fmla="*/ 28 w 23"/>
                <a:gd name="T21" fmla="*/ 21 h 25"/>
                <a:gd name="T22" fmla="*/ 28 w 23"/>
                <a:gd name="T23" fmla="*/ 18 h 25"/>
                <a:gd name="T24" fmla="*/ 28 w 23"/>
                <a:gd name="T25" fmla="*/ 15 h 25"/>
                <a:gd name="T26" fmla="*/ 26 w 23"/>
                <a:gd name="T27" fmla="*/ 12 h 25"/>
                <a:gd name="T28" fmla="*/ 26 w 23"/>
                <a:gd name="T29" fmla="*/ 9 h 25"/>
                <a:gd name="T30" fmla="*/ 23 w 23"/>
                <a:gd name="T31" fmla="*/ 6 h 25"/>
                <a:gd name="T32" fmla="*/ 23 w 23"/>
                <a:gd name="T33" fmla="*/ 6 h 25"/>
                <a:gd name="T34" fmla="*/ 21 w 23"/>
                <a:gd name="T35" fmla="*/ 3 h 25"/>
                <a:gd name="T36" fmla="*/ 18 w 23"/>
                <a:gd name="T37" fmla="*/ 3 h 25"/>
                <a:gd name="T38" fmla="*/ 16 w 23"/>
                <a:gd name="T39" fmla="*/ 3 h 25"/>
                <a:gd name="T40" fmla="*/ 13 w 23"/>
                <a:gd name="T41" fmla="*/ 0 h 25"/>
                <a:gd name="T42" fmla="*/ 11 w 23"/>
                <a:gd name="T43" fmla="*/ 3 h 25"/>
                <a:gd name="T44" fmla="*/ 9 w 23"/>
                <a:gd name="T45" fmla="*/ 3 h 25"/>
                <a:gd name="T46" fmla="*/ 6 w 23"/>
                <a:gd name="T47" fmla="*/ 3 h 25"/>
                <a:gd name="T48" fmla="*/ 4 w 23"/>
                <a:gd name="T49" fmla="*/ 6 h 25"/>
                <a:gd name="T50" fmla="*/ 2 w 23"/>
                <a:gd name="T51" fmla="*/ 6 h 25"/>
                <a:gd name="T52" fmla="*/ 2 w 23"/>
                <a:gd name="T53" fmla="*/ 9 h 25"/>
                <a:gd name="T54" fmla="*/ 0 w 23"/>
                <a:gd name="T55" fmla="*/ 12 h 25"/>
                <a:gd name="T56" fmla="*/ 0 w 23"/>
                <a:gd name="T57" fmla="*/ 15 h 25"/>
                <a:gd name="T58" fmla="*/ 0 w 23"/>
                <a:gd name="T59" fmla="*/ 18 h 25"/>
                <a:gd name="T60" fmla="*/ 0 w 23"/>
                <a:gd name="T61" fmla="*/ 21 h 25"/>
                <a:gd name="T62" fmla="*/ 0 w 23"/>
                <a:gd name="T63" fmla="*/ 24 h 25"/>
                <a:gd name="T64" fmla="*/ 0 w 23"/>
                <a:gd name="T65" fmla="*/ 27 h 25"/>
                <a:gd name="T66" fmla="*/ 0 w 23"/>
                <a:gd name="T67" fmla="*/ 29 h 25"/>
                <a:gd name="T68" fmla="*/ 2 w 23"/>
                <a:gd name="T69" fmla="*/ 32 h 25"/>
                <a:gd name="T70" fmla="*/ 2 w 23"/>
                <a:gd name="T71" fmla="*/ 32 h 25"/>
                <a:gd name="T72" fmla="*/ 4 w 23"/>
                <a:gd name="T73" fmla="*/ 35 h 25"/>
                <a:gd name="T74" fmla="*/ 6 w 23"/>
                <a:gd name="T75" fmla="*/ 35 h 25"/>
                <a:gd name="T76" fmla="*/ 9 w 23"/>
                <a:gd name="T77" fmla="*/ 38 h 25"/>
                <a:gd name="T78" fmla="*/ 11 w 23"/>
                <a:gd name="T79" fmla="*/ 38 h 25"/>
                <a:gd name="T80" fmla="*/ 13 w 23"/>
                <a:gd name="T81" fmla="*/ 38 h 25"/>
                <a:gd name="T82" fmla="*/ 13 w 23"/>
                <a:gd name="T83" fmla="*/ 38 h 25"/>
                <a:gd name="T84" fmla="*/ 11 w 23"/>
                <a:gd name="T85" fmla="*/ 38 h 25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3"/>
                <a:gd name="T130" fmla="*/ 0 h 25"/>
                <a:gd name="T131" fmla="*/ 23 w 23"/>
                <a:gd name="T132" fmla="*/ 25 h 25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3" h="25">
                  <a:moveTo>
                    <a:pt x="9" y="25"/>
                  </a:moveTo>
                  <a:lnTo>
                    <a:pt x="13" y="25"/>
                  </a:lnTo>
                  <a:lnTo>
                    <a:pt x="15" y="25"/>
                  </a:lnTo>
                  <a:lnTo>
                    <a:pt x="17" y="23"/>
                  </a:lnTo>
                  <a:lnTo>
                    <a:pt x="19" y="23"/>
                  </a:lnTo>
                  <a:lnTo>
                    <a:pt x="19" y="21"/>
                  </a:lnTo>
                  <a:lnTo>
                    <a:pt x="21" y="21"/>
                  </a:lnTo>
                  <a:lnTo>
                    <a:pt x="21" y="19"/>
                  </a:lnTo>
                  <a:lnTo>
                    <a:pt x="23" y="18"/>
                  </a:lnTo>
                  <a:lnTo>
                    <a:pt x="23" y="16"/>
                  </a:lnTo>
                  <a:lnTo>
                    <a:pt x="23" y="14"/>
                  </a:lnTo>
                  <a:lnTo>
                    <a:pt x="23" y="12"/>
                  </a:lnTo>
                  <a:lnTo>
                    <a:pt x="23" y="10"/>
                  </a:lnTo>
                  <a:lnTo>
                    <a:pt x="21" y="8"/>
                  </a:lnTo>
                  <a:lnTo>
                    <a:pt x="21" y="6"/>
                  </a:lnTo>
                  <a:lnTo>
                    <a:pt x="19" y="4"/>
                  </a:lnTo>
                  <a:lnTo>
                    <a:pt x="17" y="2"/>
                  </a:lnTo>
                  <a:lnTo>
                    <a:pt x="15" y="2"/>
                  </a:lnTo>
                  <a:lnTo>
                    <a:pt x="13" y="2"/>
                  </a:lnTo>
                  <a:lnTo>
                    <a:pt x="11" y="0"/>
                  </a:lnTo>
                  <a:lnTo>
                    <a:pt x="9" y="2"/>
                  </a:lnTo>
                  <a:lnTo>
                    <a:pt x="7" y="2"/>
                  </a:lnTo>
                  <a:lnTo>
                    <a:pt x="5" y="2"/>
                  </a:lnTo>
                  <a:lnTo>
                    <a:pt x="3" y="4"/>
                  </a:lnTo>
                  <a:lnTo>
                    <a:pt x="2" y="4"/>
                  </a:lnTo>
                  <a:lnTo>
                    <a:pt x="2" y="6"/>
                  </a:lnTo>
                  <a:lnTo>
                    <a:pt x="0" y="8"/>
                  </a:lnTo>
                  <a:lnTo>
                    <a:pt x="0" y="10"/>
                  </a:lnTo>
                  <a:lnTo>
                    <a:pt x="0" y="12"/>
                  </a:lnTo>
                  <a:lnTo>
                    <a:pt x="0" y="14"/>
                  </a:lnTo>
                  <a:lnTo>
                    <a:pt x="0" y="16"/>
                  </a:lnTo>
                  <a:lnTo>
                    <a:pt x="0" y="18"/>
                  </a:lnTo>
                  <a:lnTo>
                    <a:pt x="0" y="19"/>
                  </a:lnTo>
                  <a:lnTo>
                    <a:pt x="2" y="21"/>
                  </a:lnTo>
                  <a:lnTo>
                    <a:pt x="3" y="23"/>
                  </a:lnTo>
                  <a:lnTo>
                    <a:pt x="5" y="23"/>
                  </a:lnTo>
                  <a:lnTo>
                    <a:pt x="7" y="25"/>
                  </a:lnTo>
                  <a:lnTo>
                    <a:pt x="9" y="25"/>
                  </a:lnTo>
                  <a:lnTo>
                    <a:pt x="11" y="25"/>
                  </a:lnTo>
                  <a:lnTo>
                    <a:pt x="9" y="25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22" name="Freeform 120"/>
            <p:cNvSpPr>
              <a:spLocks/>
            </p:cNvSpPr>
            <p:nvPr/>
          </p:nvSpPr>
          <p:spPr bwMode="auto">
            <a:xfrm>
              <a:off x="1431" y="2299"/>
              <a:ext cx="2825" cy="1589"/>
            </a:xfrm>
            <a:custGeom>
              <a:avLst/>
              <a:gdLst>
                <a:gd name="T0" fmla="*/ 2823 w 2393"/>
                <a:gd name="T1" fmla="*/ 1230 h 1041"/>
                <a:gd name="T2" fmla="*/ 2825 w 2393"/>
                <a:gd name="T3" fmla="*/ 1589 h 1041"/>
                <a:gd name="T4" fmla="*/ 0 w 2393"/>
                <a:gd name="T5" fmla="*/ 1589 h 1041"/>
                <a:gd name="T6" fmla="*/ 0 w 2393"/>
                <a:gd name="T7" fmla="*/ 0 h 1041"/>
                <a:gd name="T8" fmla="*/ 367 w 2393"/>
                <a:gd name="T9" fmla="*/ 0 h 10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93"/>
                <a:gd name="T16" fmla="*/ 0 h 1041"/>
                <a:gd name="T17" fmla="*/ 2393 w 2393"/>
                <a:gd name="T18" fmla="*/ 1041 h 104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93" h="1041">
                  <a:moveTo>
                    <a:pt x="2391" y="806"/>
                  </a:moveTo>
                  <a:lnTo>
                    <a:pt x="2393" y="1041"/>
                  </a:lnTo>
                  <a:lnTo>
                    <a:pt x="0" y="1041"/>
                  </a:lnTo>
                  <a:lnTo>
                    <a:pt x="0" y="0"/>
                  </a:lnTo>
                  <a:lnTo>
                    <a:pt x="311" y="0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23" name="Freeform 121"/>
            <p:cNvSpPr>
              <a:spLocks/>
            </p:cNvSpPr>
            <p:nvPr/>
          </p:nvSpPr>
          <p:spPr bwMode="auto">
            <a:xfrm>
              <a:off x="4240" y="3511"/>
              <a:ext cx="30" cy="38"/>
            </a:xfrm>
            <a:custGeom>
              <a:avLst/>
              <a:gdLst>
                <a:gd name="T0" fmla="*/ 13 w 25"/>
                <a:gd name="T1" fmla="*/ 38 h 25"/>
                <a:gd name="T2" fmla="*/ 18 w 25"/>
                <a:gd name="T3" fmla="*/ 38 h 25"/>
                <a:gd name="T4" fmla="*/ 20 w 25"/>
                <a:gd name="T5" fmla="*/ 38 h 25"/>
                <a:gd name="T6" fmla="*/ 23 w 25"/>
                <a:gd name="T7" fmla="*/ 35 h 25"/>
                <a:gd name="T8" fmla="*/ 25 w 25"/>
                <a:gd name="T9" fmla="*/ 35 h 25"/>
                <a:gd name="T10" fmla="*/ 25 w 25"/>
                <a:gd name="T11" fmla="*/ 33 h 25"/>
                <a:gd name="T12" fmla="*/ 28 w 25"/>
                <a:gd name="T13" fmla="*/ 33 h 25"/>
                <a:gd name="T14" fmla="*/ 28 w 25"/>
                <a:gd name="T15" fmla="*/ 30 h 25"/>
                <a:gd name="T16" fmla="*/ 30 w 25"/>
                <a:gd name="T17" fmla="*/ 27 h 25"/>
                <a:gd name="T18" fmla="*/ 30 w 25"/>
                <a:gd name="T19" fmla="*/ 24 h 25"/>
                <a:gd name="T20" fmla="*/ 30 w 25"/>
                <a:gd name="T21" fmla="*/ 21 h 25"/>
                <a:gd name="T22" fmla="*/ 30 w 25"/>
                <a:gd name="T23" fmla="*/ 18 h 25"/>
                <a:gd name="T24" fmla="*/ 30 w 25"/>
                <a:gd name="T25" fmla="*/ 15 h 25"/>
                <a:gd name="T26" fmla="*/ 28 w 25"/>
                <a:gd name="T27" fmla="*/ 12 h 25"/>
                <a:gd name="T28" fmla="*/ 28 w 25"/>
                <a:gd name="T29" fmla="*/ 9 h 25"/>
                <a:gd name="T30" fmla="*/ 25 w 25"/>
                <a:gd name="T31" fmla="*/ 6 h 25"/>
                <a:gd name="T32" fmla="*/ 25 w 25"/>
                <a:gd name="T33" fmla="*/ 6 h 25"/>
                <a:gd name="T34" fmla="*/ 23 w 25"/>
                <a:gd name="T35" fmla="*/ 3 h 25"/>
                <a:gd name="T36" fmla="*/ 20 w 25"/>
                <a:gd name="T37" fmla="*/ 3 h 25"/>
                <a:gd name="T38" fmla="*/ 18 w 25"/>
                <a:gd name="T39" fmla="*/ 3 h 25"/>
                <a:gd name="T40" fmla="*/ 16 w 25"/>
                <a:gd name="T41" fmla="*/ 0 h 25"/>
                <a:gd name="T42" fmla="*/ 13 w 25"/>
                <a:gd name="T43" fmla="*/ 3 h 25"/>
                <a:gd name="T44" fmla="*/ 11 w 25"/>
                <a:gd name="T45" fmla="*/ 3 h 25"/>
                <a:gd name="T46" fmla="*/ 8 w 25"/>
                <a:gd name="T47" fmla="*/ 3 h 25"/>
                <a:gd name="T48" fmla="*/ 6 w 25"/>
                <a:gd name="T49" fmla="*/ 6 h 25"/>
                <a:gd name="T50" fmla="*/ 5 w 25"/>
                <a:gd name="T51" fmla="*/ 6 h 25"/>
                <a:gd name="T52" fmla="*/ 5 w 25"/>
                <a:gd name="T53" fmla="*/ 9 h 25"/>
                <a:gd name="T54" fmla="*/ 2 w 25"/>
                <a:gd name="T55" fmla="*/ 12 h 25"/>
                <a:gd name="T56" fmla="*/ 2 w 25"/>
                <a:gd name="T57" fmla="*/ 15 h 25"/>
                <a:gd name="T58" fmla="*/ 2 w 25"/>
                <a:gd name="T59" fmla="*/ 18 h 25"/>
                <a:gd name="T60" fmla="*/ 0 w 25"/>
                <a:gd name="T61" fmla="*/ 21 h 25"/>
                <a:gd name="T62" fmla="*/ 2 w 25"/>
                <a:gd name="T63" fmla="*/ 24 h 25"/>
                <a:gd name="T64" fmla="*/ 2 w 25"/>
                <a:gd name="T65" fmla="*/ 27 h 25"/>
                <a:gd name="T66" fmla="*/ 2 w 25"/>
                <a:gd name="T67" fmla="*/ 30 h 25"/>
                <a:gd name="T68" fmla="*/ 5 w 25"/>
                <a:gd name="T69" fmla="*/ 33 h 25"/>
                <a:gd name="T70" fmla="*/ 5 w 25"/>
                <a:gd name="T71" fmla="*/ 33 h 25"/>
                <a:gd name="T72" fmla="*/ 6 w 25"/>
                <a:gd name="T73" fmla="*/ 35 h 25"/>
                <a:gd name="T74" fmla="*/ 8 w 25"/>
                <a:gd name="T75" fmla="*/ 35 h 25"/>
                <a:gd name="T76" fmla="*/ 11 w 25"/>
                <a:gd name="T77" fmla="*/ 38 h 25"/>
                <a:gd name="T78" fmla="*/ 13 w 25"/>
                <a:gd name="T79" fmla="*/ 38 h 25"/>
                <a:gd name="T80" fmla="*/ 16 w 25"/>
                <a:gd name="T81" fmla="*/ 38 h 25"/>
                <a:gd name="T82" fmla="*/ 16 w 25"/>
                <a:gd name="T83" fmla="*/ 38 h 25"/>
                <a:gd name="T84" fmla="*/ 13 w 25"/>
                <a:gd name="T85" fmla="*/ 38 h 25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5"/>
                <a:gd name="T130" fmla="*/ 0 h 25"/>
                <a:gd name="T131" fmla="*/ 25 w 25"/>
                <a:gd name="T132" fmla="*/ 25 h 25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5" h="25">
                  <a:moveTo>
                    <a:pt x="11" y="25"/>
                  </a:moveTo>
                  <a:lnTo>
                    <a:pt x="15" y="25"/>
                  </a:lnTo>
                  <a:lnTo>
                    <a:pt x="17" y="25"/>
                  </a:lnTo>
                  <a:lnTo>
                    <a:pt x="19" y="23"/>
                  </a:lnTo>
                  <a:lnTo>
                    <a:pt x="21" y="23"/>
                  </a:lnTo>
                  <a:lnTo>
                    <a:pt x="21" y="22"/>
                  </a:lnTo>
                  <a:lnTo>
                    <a:pt x="23" y="22"/>
                  </a:lnTo>
                  <a:lnTo>
                    <a:pt x="23" y="20"/>
                  </a:lnTo>
                  <a:lnTo>
                    <a:pt x="25" y="18"/>
                  </a:lnTo>
                  <a:lnTo>
                    <a:pt x="25" y="16"/>
                  </a:lnTo>
                  <a:lnTo>
                    <a:pt x="25" y="14"/>
                  </a:lnTo>
                  <a:lnTo>
                    <a:pt x="25" y="12"/>
                  </a:lnTo>
                  <a:lnTo>
                    <a:pt x="25" y="10"/>
                  </a:lnTo>
                  <a:lnTo>
                    <a:pt x="23" y="8"/>
                  </a:lnTo>
                  <a:lnTo>
                    <a:pt x="23" y="6"/>
                  </a:lnTo>
                  <a:lnTo>
                    <a:pt x="21" y="4"/>
                  </a:lnTo>
                  <a:lnTo>
                    <a:pt x="19" y="2"/>
                  </a:lnTo>
                  <a:lnTo>
                    <a:pt x="17" y="2"/>
                  </a:lnTo>
                  <a:lnTo>
                    <a:pt x="15" y="2"/>
                  </a:lnTo>
                  <a:lnTo>
                    <a:pt x="13" y="0"/>
                  </a:lnTo>
                  <a:lnTo>
                    <a:pt x="11" y="2"/>
                  </a:lnTo>
                  <a:lnTo>
                    <a:pt x="9" y="2"/>
                  </a:lnTo>
                  <a:lnTo>
                    <a:pt x="7" y="2"/>
                  </a:lnTo>
                  <a:lnTo>
                    <a:pt x="5" y="4"/>
                  </a:lnTo>
                  <a:lnTo>
                    <a:pt x="4" y="4"/>
                  </a:lnTo>
                  <a:lnTo>
                    <a:pt x="4" y="6"/>
                  </a:lnTo>
                  <a:lnTo>
                    <a:pt x="2" y="8"/>
                  </a:lnTo>
                  <a:lnTo>
                    <a:pt x="2" y="10"/>
                  </a:lnTo>
                  <a:lnTo>
                    <a:pt x="2" y="12"/>
                  </a:lnTo>
                  <a:lnTo>
                    <a:pt x="0" y="14"/>
                  </a:lnTo>
                  <a:lnTo>
                    <a:pt x="2" y="16"/>
                  </a:lnTo>
                  <a:lnTo>
                    <a:pt x="2" y="18"/>
                  </a:lnTo>
                  <a:lnTo>
                    <a:pt x="2" y="20"/>
                  </a:lnTo>
                  <a:lnTo>
                    <a:pt x="4" y="22"/>
                  </a:lnTo>
                  <a:lnTo>
                    <a:pt x="5" y="23"/>
                  </a:lnTo>
                  <a:lnTo>
                    <a:pt x="7" y="23"/>
                  </a:lnTo>
                  <a:lnTo>
                    <a:pt x="9" y="25"/>
                  </a:lnTo>
                  <a:lnTo>
                    <a:pt x="11" y="25"/>
                  </a:lnTo>
                  <a:lnTo>
                    <a:pt x="13" y="25"/>
                  </a:lnTo>
                  <a:lnTo>
                    <a:pt x="11" y="25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24" name="Freeform 122"/>
            <p:cNvSpPr>
              <a:spLocks/>
            </p:cNvSpPr>
            <p:nvPr/>
          </p:nvSpPr>
          <p:spPr bwMode="auto">
            <a:xfrm>
              <a:off x="2452" y="1247"/>
              <a:ext cx="29" cy="38"/>
            </a:xfrm>
            <a:custGeom>
              <a:avLst/>
              <a:gdLst>
                <a:gd name="T0" fmla="*/ 0 w 25"/>
                <a:gd name="T1" fmla="*/ 0 h 25"/>
                <a:gd name="T2" fmla="*/ 2 w 25"/>
                <a:gd name="T3" fmla="*/ 38 h 25"/>
                <a:gd name="T4" fmla="*/ 29 w 25"/>
                <a:gd name="T5" fmla="*/ 20 h 25"/>
                <a:gd name="T6" fmla="*/ 2 w 25"/>
                <a:gd name="T7" fmla="*/ 3 h 25"/>
                <a:gd name="T8" fmla="*/ 2 w 25"/>
                <a:gd name="T9" fmla="*/ 3 h 25"/>
                <a:gd name="T10" fmla="*/ 0 w 25"/>
                <a:gd name="T11" fmla="*/ 0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"/>
                <a:gd name="T19" fmla="*/ 0 h 25"/>
                <a:gd name="T20" fmla="*/ 25 w 25"/>
                <a:gd name="T21" fmla="*/ 25 h 2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" h="25">
                  <a:moveTo>
                    <a:pt x="0" y="0"/>
                  </a:moveTo>
                  <a:lnTo>
                    <a:pt x="2" y="25"/>
                  </a:lnTo>
                  <a:lnTo>
                    <a:pt x="25" y="13"/>
                  </a:lnTo>
                  <a:lnTo>
                    <a:pt x="2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B75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25" name="Freeform 123"/>
            <p:cNvSpPr>
              <a:spLocks/>
            </p:cNvSpPr>
            <p:nvPr/>
          </p:nvSpPr>
          <p:spPr bwMode="auto">
            <a:xfrm>
              <a:off x="3180" y="3485"/>
              <a:ext cx="30" cy="38"/>
            </a:xfrm>
            <a:custGeom>
              <a:avLst/>
              <a:gdLst>
                <a:gd name="T0" fmla="*/ 0 w 25"/>
                <a:gd name="T1" fmla="*/ 0 h 25"/>
                <a:gd name="T2" fmla="*/ 2 w 25"/>
                <a:gd name="T3" fmla="*/ 38 h 25"/>
                <a:gd name="T4" fmla="*/ 30 w 25"/>
                <a:gd name="T5" fmla="*/ 18 h 25"/>
                <a:gd name="T6" fmla="*/ 2 w 25"/>
                <a:gd name="T7" fmla="*/ 0 h 25"/>
                <a:gd name="T8" fmla="*/ 2 w 25"/>
                <a:gd name="T9" fmla="*/ 0 h 25"/>
                <a:gd name="T10" fmla="*/ 0 w 25"/>
                <a:gd name="T11" fmla="*/ 0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"/>
                <a:gd name="T19" fmla="*/ 0 h 25"/>
                <a:gd name="T20" fmla="*/ 25 w 25"/>
                <a:gd name="T21" fmla="*/ 25 h 2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" h="25">
                  <a:moveTo>
                    <a:pt x="0" y="0"/>
                  </a:moveTo>
                  <a:lnTo>
                    <a:pt x="2" y="25"/>
                  </a:lnTo>
                  <a:lnTo>
                    <a:pt x="25" y="12"/>
                  </a:lnTo>
                  <a:lnTo>
                    <a:pt x="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26" name="Freeform 124"/>
            <p:cNvSpPr>
              <a:spLocks/>
            </p:cNvSpPr>
            <p:nvPr/>
          </p:nvSpPr>
          <p:spPr bwMode="auto">
            <a:xfrm>
              <a:off x="3201" y="3581"/>
              <a:ext cx="30" cy="38"/>
            </a:xfrm>
            <a:custGeom>
              <a:avLst/>
              <a:gdLst>
                <a:gd name="T0" fmla="*/ 0 w 25"/>
                <a:gd name="T1" fmla="*/ 0 h 25"/>
                <a:gd name="T2" fmla="*/ 2 w 25"/>
                <a:gd name="T3" fmla="*/ 38 h 25"/>
                <a:gd name="T4" fmla="*/ 30 w 25"/>
                <a:gd name="T5" fmla="*/ 21 h 25"/>
                <a:gd name="T6" fmla="*/ 2 w 25"/>
                <a:gd name="T7" fmla="*/ 3 h 25"/>
                <a:gd name="T8" fmla="*/ 2 w 25"/>
                <a:gd name="T9" fmla="*/ 3 h 25"/>
                <a:gd name="T10" fmla="*/ 0 w 25"/>
                <a:gd name="T11" fmla="*/ 0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"/>
                <a:gd name="T19" fmla="*/ 0 h 25"/>
                <a:gd name="T20" fmla="*/ 25 w 25"/>
                <a:gd name="T21" fmla="*/ 25 h 2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" h="25">
                  <a:moveTo>
                    <a:pt x="0" y="0"/>
                  </a:moveTo>
                  <a:lnTo>
                    <a:pt x="2" y="25"/>
                  </a:lnTo>
                  <a:lnTo>
                    <a:pt x="25" y="14"/>
                  </a:lnTo>
                  <a:lnTo>
                    <a:pt x="2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27" name="Freeform 125"/>
            <p:cNvSpPr>
              <a:spLocks/>
            </p:cNvSpPr>
            <p:nvPr/>
          </p:nvSpPr>
          <p:spPr bwMode="auto">
            <a:xfrm>
              <a:off x="3646" y="3197"/>
              <a:ext cx="30" cy="38"/>
            </a:xfrm>
            <a:custGeom>
              <a:avLst/>
              <a:gdLst>
                <a:gd name="T0" fmla="*/ 0 w 25"/>
                <a:gd name="T1" fmla="*/ 0 h 25"/>
                <a:gd name="T2" fmla="*/ 2 w 25"/>
                <a:gd name="T3" fmla="*/ 38 h 25"/>
                <a:gd name="T4" fmla="*/ 30 w 25"/>
                <a:gd name="T5" fmla="*/ 17 h 25"/>
                <a:gd name="T6" fmla="*/ 2 w 25"/>
                <a:gd name="T7" fmla="*/ 0 h 25"/>
                <a:gd name="T8" fmla="*/ 2 w 25"/>
                <a:gd name="T9" fmla="*/ 0 h 25"/>
                <a:gd name="T10" fmla="*/ 0 w 25"/>
                <a:gd name="T11" fmla="*/ 0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"/>
                <a:gd name="T19" fmla="*/ 0 h 25"/>
                <a:gd name="T20" fmla="*/ 25 w 25"/>
                <a:gd name="T21" fmla="*/ 25 h 2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" h="25">
                  <a:moveTo>
                    <a:pt x="0" y="0"/>
                  </a:moveTo>
                  <a:lnTo>
                    <a:pt x="2" y="25"/>
                  </a:lnTo>
                  <a:lnTo>
                    <a:pt x="25" y="11"/>
                  </a:lnTo>
                  <a:lnTo>
                    <a:pt x="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28" name="Line 126"/>
            <p:cNvSpPr>
              <a:spLocks noChangeShapeType="1"/>
            </p:cNvSpPr>
            <p:nvPr/>
          </p:nvSpPr>
          <p:spPr bwMode="auto">
            <a:xfrm>
              <a:off x="3113" y="3210"/>
              <a:ext cx="536" cy="2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29" name="Line 127"/>
            <p:cNvSpPr>
              <a:spLocks noChangeShapeType="1"/>
            </p:cNvSpPr>
            <p:nvPr/>
          </p:nvSpPr>
          <p:spPr bwMode="auto">
            <a:xfrm>
              <a:off x="2604" y="3284"/>
              <a:ext cx="373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30" name="Line 128"/>
            <p:cNvSpPr>
              <a:spLocks noChangeShapeType="1"/>
            </p:cNvSpPr>
            <p:nvPr/>
          </p:nvSpPr>
          <p:spPr bwMode="auto">
            <a:xfrm>
              <a:off x="2602" y="3152"/>
              <a:ext cx="382" cy="2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31" name="Freeform 129"/>
            <p:cNvSpPr>
              <a:spLocks/>
            </p:cNvSpPr>
            <p:nvPr/>
          </p:nvSpPr>
          <p:spPr bwMode="auto">
            <a:xfrm>
              <a:off x="2604" y="2884"/>
              <a:ext cx="585" cy="619"/>
            </a:xfrm>
            <a:custGeom>
              <a:avLst/>
              <a:gdLst>
                <a:gd name="T0" fmla="*/ 0 w 496"/>
                <a:gd name="T1" fmla="*/ 0 h 406"/>
                <a:gd name="T2" fmla="*/ 183 w 496"/>
                <a:gd name="T3" fmla="*/ 0 h 406"/>
                <a:gd name="T4" fmla="*/ 183 w 496"/>
                <a:gd name="T5" fmla="*/ 619 h 406"/>
                <a:gd name="T6" fmla="*/ 585 w 496"/>
                <a:gd name="T7" fmla="*/ 619 h 40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96"/>
                <a:gd name="T13" fmla="*/ 0 h 406"/>
                <a:gd name="T14" fmla="*/ 496 w 496"/>
                <a:gd name="T15" fmla="*/ 406 h 40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96" h="406">
                  <a:moveTo>
                    <a:pt x="0" y="0"/>
                  </a:moveTo>
                  <a:lnTo>
                    <a:pt x="155" y="0"/>
                  </a:lnTo>
                  <a:lnTo>
                    <a:pt x="155" y="406"/>
                  </a:lnTo>
                  <a:lnTo>
                    <a:pt x="496" y="406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32" name="Freeform 130"/>
            <p:cNvSpPr>
              <a:spLocks/>
            </p:cNvSpPr>
            <p:nvPr/>
          </p:nvSpPr>
          <p:spPr bwMode="auto">
            <a:xfrm>
              <a:off x="2602" y="3018"/>
              <a:ext cx="608" cy="585"/>
            </a:xfrm>
            <a:custGeom>
              <a:avLst/>
              <a:gdLst>
                <a:gd name="T0" fmla="*/ 608 w 515"/>
                <a:gd name="T1" fmla="*/ 582 h 383"/>
                <a:gd name="T2" fmla="*/ 131 w 515"/>
                <a:gd name="T3" fmla="*/ 585 h 383"/>
                <a:gd name="T4" fmla="*/ 129 w 515"/>
                <a:gd name="T5" fmla="*/ 0 h 383"/>
                <a:gd name="T6" fmla="*/ 0 w 515"/>
                <a:gd name="T7" fmla="*/ 0 h 38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15"/>
                <a:gd name="T13" fmla="*/ 0 h 383"/>
                <a:gd name="T14" fmla="*/ 515 w 515"/>
                <a:gd name="T15" fmla="*/ 383 h 38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15" h="383">
                  <a:moveTo>
                    <a:pt x="515" y="381"/>
                  </a:moveTo>
                  <a:lnTo>
                    <a:pt x="111" y="383"/>
                  </a:lnTo>
                  <a:lnTo>
                    <a:pt x="109" y="0"/>
                  </a:lnTo>
                  <a:lnTo>
                    <a:pt x="0" y="0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grpSp>
          <p:nvGrpSpPr>
            <p:cNvPr id="133" name="Group 180"/>
            <p:cNvGrpSpPr>
              <a:grpSpLocks/>
            </p:cNvGrpSpPr>
            <p:nvPr/>
          </p:nvGrpSpPr>
          <p:grpSpPr bwMode="auto">
            <a:xfrm>
              <a:off x="4926" y="2220"/>
              <a:ext cx="117" cy="407"/>
              <a:chOff x="4926" y="2220"/>
              <a:chExt cx="117" cy="407"/>
            </a:xfrm>
          </p:grpSpPr>
          <p:sp>
            <p:nvSpPr>
              <p:cNvPr id="177" name="AutoShape 134"/>
              <p:cNvSpPr>
                <a:spLocks noChangeArrowheads="1"/>
              </p:cNvSpPr>
              <p:nvPr/>
            </p:nvSpPr>
            <p:spPr bwMode="auto">
              <a:xfrm rot="5400000">
                <a:off x="4781" y="2365"/>
                <a:ext cx="407" cy="117"/>
              </a:xfrm>
              <a:prstGeom prst="flowChartTerminator">
                <a:avLst/>
              </a:prstGeom>
              <a:solidFill>
                <a:srgbClr val="EAEAEA"/>
              </a:solidFill>
              <a:ln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78" name="Rectangle 132"/>
              <p:cNvSpPr>
                <a:spLocks noChangeArrowheads="1"/>
              </p:cNvSpPr>
              <p:nvPr/>
            </p:nvSpPr>
            <p:spPr bwMode="auto">
              <a:xfrm>
                <a:off x="4939" y="2256"/>
                <a:ext cx="26" cy="63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700">
                    <a:solidFill>
                      <a:srgbClr val="000000"/>
                    </a:solidFill>
                    <a:latin typeface="+mj-lt"/>
                  </a:rPr>
                  <a:t>1</a:t>
                </a:r>
                <a:endParaRPr lang="en-US" sz="600">
                  <a:solidFill>
                    <a:srgbClr val="000000"/>
                  </a:solidFill>
                  <a:latin typeface="+mj-lt"/>
                </a:endParaRPr>
              </a:p>
            </p:txBody>
          </p:sp>
          <p:sp>
            <p:nvSpPr>
              <p:cNvPr id="179" name="Rectangle 133"/>
              <p:cNvSpPr>
                <a:spLocks noChangeArrowheads="1"/>
              </p:cNvSpPr>
              <p:nvPr/>
            </p:nvSpPr>
            <p:spPr bwMode="auto">
              <a:xfrm>
                <a:off x="4961" y="2343"/>
                <a:ext cx="49" cy="151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>
                  <a:lnSpc>
                    <a:spcPct val="70000"/>
                  </a:lnSpc>
                </a:pPr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m</a:t>
                </a:r>
              </a:p>
              <a:p>
                <a:pPr algn="ctr">
                  <a:lnSpc>
                    <a:spcPct val="70000"/>
                  </a:lnSpc>
                </a:pPr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u</a:t>
                </a:r>
              </a:p>
              <a:p>
                <a:pPr algn="ctr">
                  <a:lnSpc>
                    <a:spcPct val="70000"/>
                  </a:lnSpc>
                </a:pPr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x</a:t>
                </a:r>
                <a:endParaRPr lang="en-US" sz="500">
                  <a:solidFill>
                    <a:srgbClr val="000000"/>
                  </a:solidFill>
                  <a:latin typeface="+mj-lt"/>
                </a:endParaRPr>
              </a:p>
            </p:txBody>
          </p:sp>
          <p:sp>
            <p:nvSpPr>
              <p:cNvPr id="180" name="Rectangle 135"/>
              <p:cNvSpPr>
                <a:spLocks noChangeArrowheads="1"/>
              </p:cNvSpPr>
              <p:nvPr/>
            </p:nvSpPr>
            <p:spPr bwMode="auto">
              <a:xfrm>
                <a:off x="4936" y="2525"/>
                <a:ext cx="26" cy="63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700">
                    <a:solidFill>
                      <a:srgbClr val="000000"/>
                    </a:solidFill>
                    <a:latin typeface="+mj-lt"/>
                  </a:rPr>
                  <a:t>0</a:t>
                </a:r>
                <a:endParaRPr lang="en-US" sz="600">
                  <a:solidFill>
                    <a:srgbClr val="000000"/>
                  </a:solidFill>
                  <a:latin typeface="+mj-lt"/>
                </a:endParaRPr>
              </a:p>
            </p:txBody>
          </p:sp>
        </p:grpSp>
        <p:grpSp>
          <p:nvGrpSpPr>
            <p:cNvPr id="134" name="Group 183"/>
            <p:cNvGrpSpPr>
              <a:grpSpLocks/>
            </p:cNvGrpSpPr>
            <p:nvPr/>
          </p:nvGrpSpPr>
          <p:grpSpPr bwMode="auto">
            <a:xfrm>
              <a:off x="3006" y="3009"/>
              <a:ext cx="116" cy="407"/>
              <a:chOff x="3006" y="3009"/>
              <a:chExt cx="116" cy="407"/>
            </a:xfrm>
          </p:grpSpPr>
          <p:sp>
            <p:nvSpPr>
              <p:cNvPr id="173" name="AutoShape 139"/>
              <p:cNvSpPr>
                <a:spLocks noChangeArrowheads="1"/>
              </p:cNvSpPr>
              <p:nvPr/>
            </p:nvSpPr>
            <p:spPr bwMode="auto">
              <a:xfrm rot="5400000">
                <a:off x="2860" y="3155"/>
                <a:ext cx="407" cy="116"/>
              </a:xfrm>
              <a:prstGeom prst="flowChartTerminator">
                <a:avLst/>
              </a:prstGeom>
              <a:solidFill>
                <a:srgbClr val="EAEAEA"/>
              </a:solidFill>
              <a:ln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74" name="Rectangle 137"/>
              <p:cNvSpPr>
                <a:spLocks noChangeArrowheads="1"/>
              </p:cNvSpPr>
              <p:nvPr/>
            </p:nvSpPr>
            <p:spPr bwMode="auto">
              <a:xfrm>
                <a:off x="3019" y="3045"/>
                <a:ext cx="26" cy="63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700">
                    <a:solidFill>
                      <a:srgbClr val="000000"/>
                    </a:solidFill>
                    <a:latin typeface="+mj-lt"/>
                  </a:rPr>
                  <a:t>0</a:t>
                </a:r>
                <a:endParaRPr lang="en-US" sz="600">
                  <a:solidFill>
                    <a:srgbClr val="000000"/>
                  </a:solidFill>
                  <a:latin typeface="+mj-lt"/>
                </a:endParaRPr>
              </a:p>
            </p:txBody>
          </p:sp>
          <p:sp>
            <p:nvSpPr>
              <p:cNvPr id="175" name="Rectangle 138"/>
              <p:cNvSpPr>
                <a:spLocks noChangeArrowheads="1"/>
              </p:cNvSpPr>
              <p:nvPr/>
            </p:nvSpPr>
            <p:spPr bwMode="auto">
              <a:xfrm>
                <a:off x="3040" y="3132"/>
                <a:ext cx="49" cy="151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>
                  <a:lnSpc>
                    <a:spcPct val="70000"/>
                  </a:lnSpc>
                </a:pPr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m</a:t>
                </a:r>
              </a:p>
              <a:p>
                <a:pPr algn="ctr">
                  <a:lnSpc>
                    <a:spcPct val="70000"/>
                  </a:lnSpc>
                </a:pPr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u</a:t>
                </a:r>
              </a:p>
              <a:p>
                <a:pPr algn="ctr">
                  <a:lnSpc>
                    <a:spcPct val="70000"/>
                  </a:lnSpc>
                </a:pPr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x</a:t>
                </a:r>
                <a:endParaRPr lang="en-US" sz="500">
                  <a:solidFill>
                    <a:srgbClr val="000000"/>
                  </a:solidFill>
                  <a:latin typeface="+mj-lt"/>
                </a:endParaRPr>
              </a:p>
            </p:txBody>
          </p:sp>
          <p:sp>
            <p:nvSpPr>
              <p:cNvPr id="176" name="Rectangle 140"/>
              <p:cNvSpPr>
                <a:spLocks noChangeArrowheads="1"/>
              </p:cNvSpPr>
              <p:nvPr/>
            </p:nvSpPr>
            <p:spPr bwMode="auto">
              <a:xfrm>
                <a:off x="3016" y="3314"/>
                <a:ext cx="26" cy="63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700">
                    <a:solidFill>
                      <a:srgbClr val="000000"/>
                    </a:solidFill>
                    <a:latin typeface="+mj-lt"/>
                  </a:rPr>
                  <a:t>1</a:t>
                </a:r>
                <a:endParaRPr lang="en-US" sz="600">
                  <a:solidFill>
                    <a:srgbClr val="000000"/>
                  </a:solidFill>
                  <a:latin typeface="+mj-lt"/>
                </a:endParaRPr>
              </a:p>
            </p:txBody>
          </p:sp>
        </p:grpSp>
        <p:grpSp>
          <p:nvGrpSpPr>
            <p:cNvPr id="135" name="Group 182"/>
            <p:cNvGrpSpPr>
              <a:grpSpLocks/>
            </p:cNvGrpSpPr>
            <p:nvPr/>
          </p:nvGrpSpPr>
          <p:grpSpPr bwMode="auto">
            <a:xfrm>
              <a:off x="3008" y="2377"/>
              <a:ext cx="117" cy="407"/>
              <a:chOff x="3008" y="2377"/>
              <a:chExt cx="117" cy="407"/>
            </a:xfrm>
          </p:grpSpPr>
          <p:sp>
            <p:nvSpPr>
              <p:cNvPr id="168" name="AutoShape 144"/>
              <p:cNvSpPr>
                <a:spLocks noChangeArrowheads="1"/>
              </p:cNvSpPr>
              <p:nvPr/>
            </p:nvSpPr>
            <p:spPr bwMode="auto">
              <a:xfrm rot="5400000">
                <a:off x="2863" y="2522"/>
                <a:ext cx="407" cy="117"/>
              </a:xfrm>
              <a:prstGeom prst="flowChartTerminator">
                <a:avLst/>
              </a:prstGeom>
              <a:solidFill>
                <a:srgbClr val="EAEAEA"/>
              </a:solidFill>
              <a:ln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69" name="Rectangle 142"/>
              <p:cNvSpPr>
                <a:spLocks noChangeArrowheads="1"/>
              </p:cNvSpPr>
              <p:nvPr/>
            </p:nvSpPr>
            <p:spPr bwMode="auto">
              <a:xfrm>
                <a:off x="3021" y="2413"/>
                <a:ext cx="26" cy="63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700">
                    <a:solidFill>
                      <a:srgbClr val="000000"/>
                    </a:solidFill>
                    <a:latin typeface="+mj-lt"/>
                  </a:rPr>
                  <a:t>0</a:t>
                </a:r>
                <a:endParaRPr lang="en-US" sz="600">
                  <a:solidFill>
                    <a:srgbClr val="000000"/>
                  </a:solidFill>
                  <a:latin typeface="+mj-lt"/>
                </a:endParaRPr>
              </a:p>
            </p:txBody>
          </p:sp>
          <p:sp>
            <p:nvSpPr>
              <p:cNvPr id="170" name="Rectangle 143"/>
              <p:cNvSpPr>
                <a:spLocks noChangeArrowheads="1"/>
              </p:cNvSpPr>
              <p:nvPr/>
            </p:nvSpPr>
            <p:spPr bwMode="auto">
              <a:xfrm>
                <a:off x="3052" y="2448"/>
                <a:ext cx="49" cy="252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>
                  <a:lnSpc>
                    <a:spcPct val="70000"/>
                  </a:lnSpc>
                </a:pPr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m</a:t>
                </a:r>
              </a:p>
              <a:p>
                <a:pPr algn="ctr">
                  <a:lnSpc>
                    <a:spcPct val="70000"/>
                  </a:lnSpc>
                </a:pPr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u</a:t>
                </a:r>
              </a:p>
              <a:p>
                <a:pPr algn="ctr">
                  <a:lnSpc>
                    <a:spcPct val="70000"/>
                  </a:lnSpc>
                </a:pPr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x</a:t>
                </a:r>
              </a:p>
              <a:p>
                <a:pPr algn="ctr">
                  <a:lnSpc>
                    <a:spcPct val="70000"/>
                  </a:lnSpc>
                </a:pPr>
                <a:endParaRPr lang="en-US" sz="800">
                  <a:solidFill>
                    <a:srgbClr val="000000"/>
                  </a:solidFill>
                  <a:latin typeface="+mj-lt"/>
                </a:endParaRPr>
              </a:p>
              <a:p>
                <a:pPr algn="ctr">
                  <a:lnSpc>
                    <a:spcPct val="70000"/>
                  </a:lnSpc>
                </a:pPr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B</a:t>
                </a:r>
                <a:endParaRPr lang="en-US" sz="500">
                  <a:solidFill>
                    <a:srgbClr val="000000"/>
                  </a:solidFill>
                  <a:latin typeface="+mj-lt"/>
                </a:endParaRPr>
              </a:p>
            </p:txBody>
          </p:sp>
          <p:sp>
            <p:nvSpPr>
              <p:cNvPr id="171" name="Rectangle 145"/>
              <p:cNvSpPr>
                <a:spLocks noChangeArrowheads="1"/>
              </p:cNvSpPr>
              <p:nvPr/>
            </p:nvSpPr>
            <p:spPr bwMode="auto">
              <a:xfrm>
                <a:off x="3018" y="2544"/>
                <a:ext cx="26" cy="63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700">
                    <a:solidFill>
                      <a:srgbClr val="000000"/>
                    </a:solidFill>
                    <a:latin typeface="+mj-lt"/>
                  </a:rPr>
                  <a:t>1</a:t>
                </a:r>
                <a:endParaRPr lang="en-US" sz="600">
                  <a:solidFill>
                    <a:srgbClr val="000000"/>
                  </a:solidFill>
                  <a:latin typeface="+mj-lt"/>
                </a:endParaRPr>
              </a:p>
            </p:txBody>
          </p:sp>
          <p:sp>
            <p:nvSpPr>
              <p:cNvPr id="172" name="Rectangle 146"/>
              <p:cNvSpPr>
                <a:spLocks noChangeArrowheads="1"/>
              </p:cNvSpPr>
              <p:nvPr/>
            </p:nvSpPr>
            <p:spPr bwMode="auto">
              <a:xfrm>
                <a:off x="3022" y="2678"/>
                <a:ext cx="26" cy="63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700">
                    <a:solidFill>
                      <a:srgbClr val="000000"/>
                    </a:solidFill>
                    <a:latin typeface="+mj-lt"/>
                  </a:rPr>
                  <a:t>2</a:t>
                </a:r>
                <a:endParaRPr lang="en-US" sz="600">
                  <a:solidFill>
                    <a:srgbClr val="000000"/>
                  </a:solidFill>
                  <a:latin typeface="+mj-lt"/>
                </a:endParaRPr>
              </a:p>
            </p:txBody>
          </p:sp>
        </p:grpSp>
        <p:grpSp>
          <p:nvGrpSpPr>
            <p:cNvPr id="136" name="Group 181"/>
            <p:cNvGrpSpPr>
              <a:grpSpLocks/>
            </p:cNvGrpSpPr>
            <p:nvPr/>
          </p:nvGrpSpPr>
          <p:grpSpPr bwMode="auto">
            <a:xfrm>
              <a:off x="3008" y="1788"/>
              <a:ext cx="117" cy="407"/>
              <a:chOff x="3008" y="1788"/>
              <a:chExt cx="117" cy="407"/>
            </a:xfrm>
          </p:grpSpPr>
          <p:sp>
            <p:nvSpPr>
              <p:cNvPr id="163" name="AutoShape 150"/>
              <p:cNvSpPr>
                <a:spLocks noChangeArrowheads="1"/>
              </p:cNvSpPr>
              <p:nvPr/>
            </p:nvSpPr>
            <p:spPr bwMode="auto">
              <a:xfrm rot="5400000">
                <a:off x="2863" y="1933"/>
                <a:ext cx="407" cy="117"/>
              </a:xfrm>
              <a:prstGeom prst="flowChartTerminator">
                <a:avLst/>
              </a:prstGeom>
              <a:solidFill>
                <a:srgbClr val="EAEAEA"/>
              </a:solidFill>
              <a:ln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64" name="Rectangle 148"/>
              <p:cNvSpPr>
                <a:spLocks noChangeArrowheads="1"/>
              </p:cNvSpPr>
              <p:nvPr/>
            </p:nvSpPr>
            <p:spPr bwMode="auto">
              <a:xfrm>
                <a:off x="3021" y="1824"/>
                <a:ext cx="26" cy="63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700">
                    <a:solidFill>
                      <a:srgbClr val="000000"/>
                    </a:solidFill>
                    <a:latin typeface="+mj-lt"/>
                  </a:rPr>
                  <a:t>0</a:t>
                </a:r>
                <a:endParaRPr lang="en-US" sz="600">
                  <a:solidFill>
                    <a:srgbClr val="000000"/>
                  </a:solidFill>
                  <a:latin typeface="+mj-lt"/>
                </a:endParaRPr>
              </a:p>
            </p:txBody>
          </p:sp>
          <p:sp>
            <p:nvSpPr>
              <p:cNvPr id="165" name="Rectangle 149"/>
              <p:cNvSpPr>
                <a:spLocks noChangeArrowheads="1"/>
              </p:cNvSpPr>
              <p:nvPr/>
            </p:nvSpPr>
            <p:spPr bwMode="auto">
              <a:xfrm>
                <a:off x="3052" y="1872"/>
                <a:ext cx="49" cy="252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>
                  <a:lnSpc>
                    <a:spcPct val="70000"/>
                  </a:lnSpc>
                </a:pPr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m</a:t>
                </a:r>
              </a:p>
              <a:p>
                <a:pPr algn="ctr">
                  <a:lnSpc>
                    <a:spcPct val="70000"/>
                  </a:lnSpc>
                </a:pPr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u</a:t>
                </a:r>
              </a:p>
              <a:p>
                <a:pPr algn="ctr">
                  <a:lnSpc>
                    <a:spcPct val="70000"/>
                  </a:lnSpc>
                </a:pPr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x</a:t>
                </a:r>
              </a:p>
              <a:p>
                <a:pPr algn="ctr">
                  <a:lnSpc>
                    <a:spcPct val="70000"/>
                  </a:lnSpc>
                </a:pPr>
                <a:endParaRPr lang="en-US" sz="800">
                  <a:solidFill>
                    <a:srgbClr val="000000"/>
                  </a:solidFill>
                  <a:latin typeface="+mj-lt"/>
                </a:endParaRPr>
              </a:p>
              <a:p>
                <a:pPr algn="ctr">
                  <a:lnSpc>
                    <a:spcPct val="70000"/>
                  </a:lnSpc>
                </a:pPr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A</a:t>
                </a:r>
                <a:endParaRPr lang="en-US" sz="500">
                  <a:solidFill>
                    <a:srgbClr val="000000"/>
                  </a:solidFill>
                  <a:latin typeface="+mj-lt"/>
                </a:endParaRPr>
              </a:p>
            </p:txBody>
          </p:sp>
          <p:sp>
            <p:nvSpPr>
              <p:cNvPr id="166" name="Rectangle 151"/>
              <p:cNvSpPr>
                <a:spLocks noChangeArrowheads="1"/>
              </p:cNvSpPr>
              <p:nvPr/>
            </p:nvSpPr>
            <p:spPr bwMode="auto">
              <a:xfrm>
                <a:off x="3018" y="1955"/>
                <a:ext cx="26" cy="63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700">
                    <a:solidFill>
                      <a:srgbClr val="000000"/>
                    </a:solidFill>
                    <a:latin typeface="+mj-lt"/>
                  </a:rPr>
                  <a:t>1</a:t>
                </a:r>
                <a:endParaRPr lang="en-US" sz="600">
                  <a:solidFill>
                    <a:srgbClr val="000000"/>
                  </a:solidFill>
                  <a:latin typeface="+mj-lt"/>
                </a:endParaRPr>
              </a:p>
            </p:txBody>
          </p:sp>
          <p:sp>
            <p:nvSpPr>
              <p:cNvPr id="167" name="Rectangle 152"/>
              <p:cNvSpPr>
                <a:spLocks noChangeArrowheads="1"/>
              </p:cNvSpPr>
              <p:nvPr/>
            </p:nvSpPr>
            <p:spPr bwMode="auto">
              <a:xfrm>
                <a:off x="3022" y="2089"/>
                <a:ext cx="26" cy="63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700">
                    <a:solidFill>
                      <a:srgbClr val="000000"/>
                    </a:solidFill>
                    <a:latin typeface="+mj-lt"/>
                  </a:rPr>
                  <a:t>2</a:t>
                </a:r>
                <a:endParaRPr lang="en-US" sz="600">
                  <a:solidFill>
                    <a:srgbClr val="000000"/>
                  </a:solidFill>
                  <a:latin typeface="+mj-lt"/>
                </a:endParaRPr>
              </a:p>
            </p:txBody>
          </p:sp>
        </p:grpSp>
        <p:sp>
          <p:nvSpPr>
            <p:cNvPr id="137" name="Rectangle 153"/>
            <p:cNvSpPr>
              <a:spLocks noChangeArrowheads="1"/>
            </p:cNvSpPr>
            <p:nvPr/>
          </p:nvSpPr>
          <p:spPr bwMode="auto">
            <a:xfrm>
              <a:off x="4093" y="2198"/>
              <a:ext cx="320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1200">
                  <a:solidFill>
                    <a:srgbClr val="000000"/>
                  </a:solidFill>
                  <a:latin typeface="+mj-lt"/>
                </a:rPr>
                <a:t>Data</a:t>
              </a:r>
            </a:p>
            <a:p>
              <a:pPr algn="ctr">
                <a:lnSpc>
                  <a:spcPct val="90000"/>
                </a:lnSpc>
              </a:pPr>
              <a:r>
                <a:rPr lang="en-US" sz="1200">
                  <a:solidFill>
                    <a:srgbClr val="000000"/>
                  </a:solidFill>
                  <a:latin typeface="+mj-lt"/>
                </a:rPr>
                <a:t>Memory</a:t>
              </a:r>
              <a:endParaRPr lang="en-US" sz="8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138" name="Rectangle 154"/>
            <p:cNvSpPr>
              <a:spLocks noChangeArrowheads="1"/>
            </p:cNvSpPr>
            <p:nvPr/>
          </p:nvSpPr>
          <p:spPr bwMode="auto">
            <a:xfrm rot="16200000">
              <a:off x="3366" y="2234"/>
              <a:ext cx="150" cy="1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>
                  <a:solidFill>
                    <a:srgbClr val="000000"/>
                  </a:solidFill>
                  <a:latin typeface="+mj-lt"/>
                </a:rPr>
                <a:t>ALU</a:t>
              </a:r>
            </a:p>
          </p:txBody>
        </p:sp>
        <p:sp>
          <p:nvSpPr>
            <p:cNvPr id="139" name="Rectangle 155"/>
            <p:cNvSpPr>
              <a:spLocks noChangeArrowheads="1"/>
            </p:cNvSpPr>
            <p:nvPr/>
          </p:nvSpPr>
          <p:spPr bwMode="auto">
            <a:xfrm>
              <a:off x="1890" y="2054"/>
              <a:ext cx="322" cy="2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n-US" sz="1200">
                  <a:solidFill>
                    <a:srgbClr val="000000"/>
                  </a:solidFill>
                  <a:latin typeface="+mj-lt"/>
                </a:rPr>
                <a:t>Register </a:t>
              </a:r>
            </a:p>
            <a:p>
              <a:pPr algn="ctr"/>
              <a:r>
                <a:rPr lang="en-US" sz="1200">
                  <a:solidFill>
                    <a:srgbClr val="000000"/>
                  </a:solidFill>
                  <a:latin typeface="+mj-lt"/>
                </a:rPr>
                <a:t>File</a:t>
              </a:r>
            </a:p>
          </p:txBody>
        </p:sp>
        <p:sp>
          <p:nvSpPr>
            <p:cNvPr id="140" name="Rectangle 156"/>
            <p:cNvSpPr>
              <a:spLocks noChangeArrowheads="1"/>
            </p:cNvSpPr>
            <p:nvPr/>
          </p:nvSpPr>
          <p:spPr bwMode="auto">
            <a:xfrm rot="16200000">
              <a:off x="522" y="2189"/>
              <a:ext cx="407" cy="2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n-US" sz="1200">
                  <a:solidFill>
                    <a:srgbClr val="000000"/>
                  </a:solidFill>
                  <a:latin typeface="+mj-lt"/>
                </a:rPr>
                <a:t>Instruction</a:t>
              </a:r>
            </a:p>
            <a:p>
              <a:pPr algn="ctr"/>
              <a:r>
                <a:rPr lang="en-US" sz="1200">
                  <a:solidFill>
                    <a:srgbClr val="000000"/>
                  </a:solidFill>
                  <a:latin typeface="+mj-lt"/>
                </a:rPr>
                <a:t>Memory</a:t>
              </a:r>
              <a:endParaRPr lang="en-US" sz="5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141" name="Rectangle 157"/>
            <p:cNvSpPr>
              <a:spLocks noChangeArrowheads="1"/>
            </p:cNvSpPr>
            <p:nvPr/>
          </p:nvSpPr>
          <p:spPr bwMode="auto">
            <a:xfrm>
              <a:off x="310" y="2256"/>
              <a:ext cx="96" cy="1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>
                  <a:solidFill>
                    <a:srgbClr val="000000"/>
                  </a:solidFill>
                  <a:latin typeface="+mj-lt"/>
                </a:rPr>
                <a:t>PC</a:t>
              </a:r>
              <a:endParaRPr lang="en-US" sz="5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142" name="Rectangle 159"/>
            <p:cNvSpPr>
              <a:spLocks noChangeArrowheads="1"/>
            </p:cNvSpPr>
            <p:nvPr/>
          </p:nvSpPr>
          <p:spPr bwMode="auto">
            <a:xfrm>
              <a:off x="2438" y="720"/>
              <a:ext cx="237" cy="1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latin typeface="+mj-lt"/>
                </a:rPr>
                <a:t>ID/EX</a:t>
              </a:r>
              <a:endParaRPr lang="en-US" sz="6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143" name="Rectangle 160"/>
            <p:cNvSpPr>
              <a:spLocks noChangeArrowheads="1"/>
            </p:cNvSpPr>
            <p:nvPr/>
          </p:nvSpPr>
          <p:spPr bwMode="auto">
            <a:xfrm>
              <a:off x="3546" y="720"/>
              <a:ext cx="390" cy="1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latin typeface="+mj-lt"/>
                </a:rPr>
                <a:t>EX/MEM</a:t>
              </a:r>
              <a:endParaRPr lang="en-US" sz="9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144" name="Rectangle 161"/>
            <p:cNvSpPr>
              <a:spLocks noChangeArrowheads="1"/>
            </p:cNvSpPr>
            <p:nvPr/>
          </p:nvSpPr>
          <p:spPr bwMode="auto">
            <a:xfrm>
              <a:off x="4388" y="701"/>
              <a:ext cx="423" cy="1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 dirty="0">
                  <a:solidFill>
                    <a:srgbClr val="000000"/>
                  </a:solidFill>
                  <a:latin typeface="+mj-lt"/>
                </a:rPr>
                <a:t>MEM/WB</a:t>
              </a:r>
            </a:p>
          </p:txBody>
        </p:sp>
        <p:sp>
          <p:nvSpPr>
            <p:cNvPr id="145" name="Rectangle 162"/>
            <p:cNvSpPr>
              <a:spLocks noChangeArrowheads="1"/>
            </p:cNvSpPr>
            <p:nvPr/>
          </p:nvSpPr>
          <p:spPr bwMode="auto">
            <a:xfrm>
              <a:off x="959" y="701"/>
              <a:ext cx="202" cy="1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latin typeface="+mj-lt"/>
                </a:rPr>
                <a:t>IF/ID</a:t>
              </a:r>
            </a:p>
          </p:txBody>
        </p:sp>
        <p:sp>
          <p:nvSpPr>
            <p:cNvPr id="146" name="Rectangle 163"/>
            <p:cNvSpPr>
              <a:spLocks noChangeArrowheads="1"/>
            </p:cNvSpPr>
            <p:nvPr/>
          </p:nvSpPr>
          <p:spPr bwMode="auto">
            <a:xfrm rot="16200000" flipH="1">
              <a:off x="1012" y="2033"/>
              <a:ext cx="339" cy="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1000">
                  <a:solidFill>
                    <a:srgbClr val="000000"/>
                  </a:solidFill>
                  <a:latin typeface="+mj-lt"/>
                </a:rPr>
                <a:t>Instruction</a:t>
              </a:r>
              <a:endParaRPr lang="en-US" sz="7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147" name="Rectangle 164"/>
            <p:cNvSpPr>
              <a:spLocks noChangeArrowheads="1"/>
            </p:cNvSpPr>
            <p:nvPr/>
          </p:nvSpPr>
          <p:spPr bwMode="auto">
            <a:xfrm>
              <a:off x="1729" y="2765"/>
              <a:ext cx="278" cy="1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>
                  <a:solidFill>
                    <a:srgbClr val="000000"/>
                  </a:solidFill>
                  <a:latin typeface="+mj-lt"/>
                </a:rPr>
                <a:t>IF/ID.Rs</a:t>
              </a:r>
            </a:p>
          </p:txBody>
        </p:sp>
        <p:sp>
          <p:nvSpPr>
            <p:cNvPr id="148" name="Rectangle 165"/>
            <p:cNvSpPr>
              <a:spLocks noChangeArrowheads="1"/>
            </p:cNvSpPr>
            <p:nvPr/>
          </p:nvSpPr>
          <p:spPr bwMode="auto">
            <a:xfrm>
              <a:off x="1729" y="2909"/>
              <a:ext cx="272" cy="1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>
                  <a:solidFill>
                    <a:srgbClr val="000000"/>
                  </a:solidFill>
                  <a:latin typeface="+mj-lt"/>
                </a:rPr>
                <a:t>IF/ID.Rt</a:t>
              </a:r>
            </a:p>
          </p:txBody>
        </p:sp>
        <p:sp>
          <p:nvSpPr>
            <p:cNvPr id="149" name="Rectangle 166"/>
            <p:cNvSpPr>
              <a:spLocks noChangeArrowheads="1"/>
            </p:cNvSpPr>
            <p:nvPr/>
          </p:nvSpPr>
          <p:spPr bwMode="auto">
            <a:xfrm>
              <a:off x="1729" y="3044"/>
              <a:ext cx="272" cy="1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>
                  <a:solidFill>
                    <a:srgbClr val="000000"/>
                  </a:solidFill>
                  <a:latin typeface="+mj-lt"/>
                </a:rPr>
                <a:t>IF/ID.Rt</a:t>
              </a:r>
            </a:p>
          </p:txBody>
        </p:sp>
        <p:sp>
          <p:nvSpPr>
            <p:cNvPr id="150" name="Rectangle 167"/>
            <p:cNvSpPr>
              <a:spLocks noChangeArrowheads="1"/>
            </p:cNvSpPr>
            <p:nvPr/>
          </p:nvSpPr>
          <p:spPr bwMode="auto">
            <a:xfrm>
              <a:off x="1729" y="3177"/>
              <a:ext cx="289" cy="1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>
                  <a:solidFill>
                    <a:srgbClr val="000000"/>
                  </a:solidFill>
                  <a:latin typeface="+mj-lt"/>
                </a:rPr>
                <a:t>IF/ID.Rd</a:t>
              </a:r>
            </a:p>
          </p:txBody>
        </p:sp>
        <p:sp>
          <p:nvSpPr>
            <p:cNvPr id="151" name="Rectangle 168"/>
            <p:cNvSpPr>
              <a:spLocks noChangeArrowheads="1"/>
            </p:cNvSpPr>
            <p:nvPr/>
          </p:nvSpPr>
          <p:spPr bwMode="auto">
            <a:xfrm>
              <a:off x="2607" y="2784"/>
              <a:ext cx="72" cy="9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>
                  <a:solidFill>
                    <a:srgbClr val="000000"/>
                  </a:solidFill>
                  <a:latin typeface="+mj-lt"/>
                </a:rPr>
                <a:t>Rs</a:t>
              </a:r>
              <a:endParaRPr lang="en-US" sz="12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152" name="Rectangle 169"/>
            <p:cNvSpPr>
              <a:spLocks noChangeArrowheads="1"/>
            </p:cNvSpPr>
            <p:nvPr/>
          </p:nvSpPr>
          <p:spPr bwMode="auto">
            <a:xfrm>
              <a:off x="2612" y="2928"/>
              <a:ext cx="68" cy="9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>
                  <a:solidFill>
                    <a:srgbClr val="000000"/>
                  </a:solidFill>
                  <a:latin typeface="+mj-lt"/>
                </a:rPr>
                <a:t>Rt</a:t>
              </a:r>
              <a:endParaRPr lang="en-US" sz="12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153" name="Rectangle 170"/>
            <p:cNvSpPr>
              <a:spLocks noChangeArrowheads="1"/>
            </p:cNvSpPr>
            <p:nvPr/>
          </p:nvSpPr>
          <p:spPr bwMode="auto">
            <a:xfrm>
              <a:off x="2609" y="3063"/>
              <a:ext cx="68" cy="9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>
                  <a:solidFill>
                    <a:srgbClr val="000000"/>
                  </a:solidFill>
                  <a:latin typeface="+mj-lt"/>
                </a:rPr>
                <a:t>Rt</a:t>
              </a:r>
              <a:endParaRPr lang="en-US" sz="12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154" name="Rectangle 171"/>
            <p:cNvSpPr>
              <a:spLocks noChangeArrowheads="1"/>
            </p:cNvSpPr>
            <p:nvPr/>
          </p:nvSpPr>
          <p:spPr bwMode="auto">
            <a:xfrm>
              <a:off x="2607" y="3186"/>
              <a:ext cx="82" cy="9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>
                  <a:solidFill>
                    <a:srgbClr val="000000"/>
                  </a:solidFill>
                  <a:latin typeface="+mj-lt"/>
                </a:rPr>
                <a:t>Rd</a:t>
              </a:r>
              <a:endParaRPr lang="en-US" sz="12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155" name="Rectangle 172"/>
            <p:cNvSpPr>
              <a:spLocks noChangeArrowheads="1"/>
            </p:cNvSpPr>
            <p:nvPr/>
          </p:nvSpPr>
          <p:spPr bwMode="auto">
            <a:xfrm>
              <a:off x="3657" y="1218"/>
              <a:ext cx="132" cy="108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>
                  <a:solidFill>
                    <a:srgbClr val="EB7500"/>
                  </a:solidFill>
                  <a:latin typeface="+mj-lt"/>
                </a:rPr>
                <a:t>WB</a:t>
              </a:r>
              <a:endParaRPr lang="en-US" sz="1200">
                <a:latin typeface="+mj-lt"/>
              </a:endParaRPr>
            </a:p>
          </p:txBody>
        </p:sp>
        <p:sp>
          <p:nvSpPr>
            <p:cNvPr id="156" name="Rectangle 173"/>
            <p:cNvSpPr>
              <a:spLocks noChangeArrowheads="1"/>
            </p:cNvSpPr>
            <p:nvPr/>
          </p:nvSpPr>
          <p:spPr bwMode="auto">
            <a:xfrm>
              <a:off x="3692" y="1458"/>
              <a:ext cx="79" cy="108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>
                  <a:solidFill>
                    <a:srgbClr val="EB7500"/>
                  </a:solidFill>
                  <a:latin typeface="+mj-lt"/>
                </a:rPr>
                <a:t>M</a:t>
              </a:r>
              <a:endParaRPr lang="en-US" sz="1200">
                <a:latin typeface="+mj-lt"/>
              </a:endParaRPr>
            </a:p>
          </p:txBody>
        </p:sp>
        <p:sp>
          <p:nvSpPr>
            <p:cNvPr id="157" name="Rectangle 174"/>
            <p:cNvSpPr>
              <a:spLocks noChangeArrowheads="1"/>
            </p:cNvSpPr>
            <p:nvPr/>
          </p:nvSpPr>
          <p:spPr bwMode="auto">
            <a:xfrm>
              <a:off x="4516" y="1473"/>
              <a:ext cx="132" cy="108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>
                  <a:solidFill>
                    <a:srgbClr val="EB7500"/>
                  </a:solidFill>
                  <a:latin typeface="+mj-lt"/>
                </a:rPr>
                <a:t>WB</a:t>
              </a:r>
              <a:endParaRPr lang="en-US" sz="1200">
                <a:latin typeface="+mj-lt"/>
              </a:endParaRPr>
            </a:p>
          </p:txBody>
        </p:sp>
        <p:sp>
          <p:nvSpPr>
            <p:cNvPr id="158" name="Rectangle 175"/>
            <p:cNvSpPr>
              <a:spLocks noChangeArrowheads="1"/>
            </p:cNvSpPr>
            <p:nvPr/>
          </p:nvSpPr>
          <p:spPr bwMode="auto">
            <a:xfrm>
              <a:off x="4033" y="3102"/>
              <a:ext cx="379" cy="9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>
                  <a:solidFill>
                    <a:srgbClr val="000000"/>
                  </a:solidFill>
                  <a:latin typeface="+mj-lt"/>
                </a:rPr>
                <a:t>EX/MEM.Rd</a:t>
              </a:r>
              <a:endParaRPr lang="en-US" sz="7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159" name="Rectangle 176"/>
            <p:cNvSpPr>
              <a:spLocks noChangeArrowheads="1"/>
            </p:cNvSpPr>
            <p:nvPr/>
          </p:nvSpPr>
          <p:spPr bwMode="auto">
            <a:xfrm>
              <a:off x="4033" y="3408"/>
              <a:ext cx="412" cy="9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>
                  <a:solidFill>
                    <a:srgbClr val="000000"/>
                  </a:solidFill>
                  <a:latin typeface="+mj-lt"/>
                </a:rPr>
                <a:t>MEM/WB.Rd</a:t>
              </a:r>
              <a:endParaRPr lang="en-US" sz="7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160" name="Rectangle 177"/>
            <p:cNvSpPr>
              <a:spLocks noChangeArrowheads="1"/>
            </p:cNvSpPr>
            <p:nvPr/>
          </p:nvSpPr>
          <p:spPr bwMode="auto">
            <a:xfrm>
              <a:off x="3945" y="2112"/>
              <a:ext cx="77" cy="156"/>
            </a:xfrm>
            <a:prstGeom prst="rect">
              <a:avLst/>
            </a:prstGeom>
            <a:solidFill>
              <a:schemeClr val="bg1"/>
            </a:solidFill>
            <a:ln w="12700">
              <a:noFill/>
              <a:miter lim="800000"/>
              <a:headEnd type="none" w="sm" len="sm"/>
              <a:tailEnd type="none" w="med" len="lg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61" name="Rectangle 178"/>
            <p:cNvSpPr>
              <a:spLocks noChangeArrowheads="1"/>
            </p:cNvSpPr>
            <p:nvPr/>
          </p:nvSpPr>
          <p:spPr bwMode="auto">
            <a:xfrm rot="16200000">
              <a:off x="3528" y="1711"/>
              <a:ext cx="703" cy="108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med" len="lg"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>
                  <a:latin typeface="+mj-lt"/>
                </a:rPr>
                <a:t>EX/MEM.RegWrite</a:t>
              </a:r>
            </a:p>
          </p:txBody>
        </p:sp>
        <p:sp>
          <p:nvSpPr>
            <p:cNvPr id="162" name="Rectangle 179"/>
            <p:cNvSpPr>
              <a:spLocks noChangeArrowheads="1"/>
            </p:cNvSpPr>
            <p:nvPr/>
          </p:nvSpPr>
          <p:spPr bwMode="auto">
            <a:xfrm rot="16200000">
              <a:off x="4358" y="1927"/>
              <a:ext cx="742" cy="108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med" len="lg"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>
                  <a:latin typeface="+mj-lt"/>
                </a:rPr>
                <a:t>MEM/WB.RegWrite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3504729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  <p:extLst mod="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762000"/>
          </a:xfrm>
        </p:spPr>
        <p:txBody>
          <a:bodyPr/>
          <a:lstStyle/>
          <a:p>
            <a:r>
              <a:rPr lang="en-US" sz="3200" dirty="0" smtClean="0">
                <a:solidFill>
                  <a:srgbClr val="0070C0"/>
                </a:solidFill>
              </a:rPr>
              <a:t>Forwarding Control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1" y="914400"/>
            <a:ext cx="9067800" cy="5638800"/>
          </a:xfrm>
          <a:prstGeom prst="rect">
            <a:avLst/>
          </a:prstGeom>
        </p:spPr>
        <p:txBody>
          <a:bodyPr/>
          <a:lstStyle>
            <a:lvl1pPr marL="0" indent="0" algn="l" rtl="0" eaLnBrk="1" fontAlgn="base" hangingPunct="1">
              <a:spcBef>
                <a:spcPct val="75000"/>
              </a:spcBef>
              <a:spcAft>
                <a:spcPct val="0"/>
              </a:spcAft>
              <a:defRPr sz="2400" b="0" i="0">
                <a:solidFill>
                  <a:schemeClr val="tx1"/>
                </a:solidFill>
                <a:latin typeface="Neo Sans Intel"/>
                <a:ea typeface="+mn-ea"/>
                <a:cs typeface="Neo Sans Intel"/>
              </a:defRPr>
            </a:lvl1pPr>
            <a:lvl2pPr marL="185738" indent="-184150" algn="l" rtl="0" eaLnBrk="1" fontAlgn="base" hangingPunct="1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Font typeface="Times" pitchFamily="18" charset="0"/>
              <a:buChar char="•"/>
              <a:defRPr sz="2200" b="0" i="0">
                <a:solidFill>
                  <a:schemeClr val="tx1"/>
                </a:solidFill>
                <a:latin typeface="Neo Sans Intel"/>
                <a:cs typeface="Neo Sans Intel"/>
              </a:defRPr>
            </a:lvl2pPr>
            <a:lvl3pPr marL="414338" indent="-2270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Neo Sans Intel" pitchFamily="34" charset="0"/>
              <a:buChar char="–"/>
              <a:defRPr sz="2000" b="0" i="0">
                <a:solidFill>
                  <a:schemeClr val="tx1"/>
                </a:solidFill>
                <a:latin typeface="Neo Sans Intel"/>
                <a:cs typeface="Neo Sans Intel"/>
              </a:defRPr>
            </a:lvl3pPr>
            <a:lvl4pPr marL="568325" indent="-1524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Neo Sans Intel" pitchFamily="34" charset="0"/>
              <a:buChar char="–"/>
              <a:defRPr sz="1800" b="0" i="0">
                <a:solidFill>
                  <a:schemeClr val="tx1"/>
                </a:solidFill>
                <a:latin typeface="Neo Sans Intel"/>
                <a:cs typeface="Neo Sans Intel"/>
              </a:defRPr>
            </a:lvl4pPr>
            <a:lvl5pPr marL="762000" indent="-19208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–"/>
              <a:defRPr sz="1800" b="0" i="0">
                <a:solidFill>
                  <a:schemeClr val="tx1"/>
                </a:solidFill>
                <a:latin typeface="Neo Sans Intel"/>
                <a:cs typeface="Neo Sans Intel"/>
              </a:defRPr>
            </a:lvl5pPr>
            <a:lvl6pPr marL="1219200" indent="-19208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+mn-lt"/>
                <a:cs typeface="+mn-cs"/>
              </a:defRPr>
            </a:lvl6pPr>
            <a:lvl7pPr marL="1676400" indent="-19208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+mn-lt"/>
                <a:cs typeface="+mn-cs"/>
              </a:defRPr>
            </a:lvl7pPr>
            <a:lvl8pPr marL="2133600" indent="-19208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+mn-lt"/>
                <a:cs typeface="+mn-cs"/>
              </a:defRPr>
            </a:lvl8pPr>
            <a:lvl9pPr marL="2590800" indent="-19208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230188" indent="-230188">
              <a:lnSpc>
                <a:spcPct val="90000"/>
              </a:lnSpc>
            </a:pPr>
            <a:r>
              <a:rPr lang="en-US" kern="0" dirty="0" smtClean="0">
                <a:latin typeface="+mj-lt"/>
              </a:rPr>
              <a:t>EXE Hazard:</a:t>
            </a:r>
          </a:p>
          <a:p>
            <a:pPr marL="569913" lvl="1" indent="-225425">
              <a:lnSpc>
                <a:spcPct val="90000"/>
              </a:lnSpc>
            </a:pPr>
            <a:r>
              <a:rPr lang="en-US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if (</a:t>
            </a:r>
            <a:r>
              <a:rPr lang="en-US" sz="1600" kern="0" dirty="0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EX/</a:t>
            </a:r>
            <a:r>
              <a:rPr lang="en-US" sz="1600" kern="0" dirty="0" err="1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MEM</a:t>
            </a:r>
            <a:r>
              <a:rPr lang="en-US" sz="1600" kern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.RegWri</a:t>
            </a:r>
            <a:r>
              <a:rPr lang="en-US" sz="1600" kern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</a:t>
            </a:r>
            <a:r>
              <a:rPr lang="en-US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&amp;&amp; (</a:t>
            </a:r>
            <a:r>
              <a:rPr lang="en-US" sz="1600" kern="0" dirty="0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EX/</a:t>
            </a:r>
            <a:r>
              <a:rPr lang="en-US" sz="1600" kern="0" dirty="0" err="1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MEM</a:t>
            </a:r>
            <a:r>
              <a:rPr lang="en-US" sz="1600" kern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.WriteReg</a:t>
            </a:r>
            <a:r>
              <a:rPr lang="en-US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== </a:t>
            </a:r>
            <a:r>
              <a:rPr lang="en-US" sz="1600" kern="0" dirty="0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ID/EX</a:t>
            </a:r>
            <a:r>
              <a:rPr lang="en-US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.ReadReg</a:t>
            </a:r>
            <a:r>
              <a:rPr lang="en-US" sz="16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))	</a:t>
            </a:r>
            <a:r>
              <a:rPr lang="en-US" sz="1600" kern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ALUSelA</a:t>
            </a:r>
            <a:r>
              <a:rPr lang="en-US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= 1</a:t>
            </a:r>
          </a:p>
          <a:p>
            <a:pPr marL="569913" lvl="1" indent="-225425">
              <a:lnSpc>
                <a:spcPct val="90000"/>
              </a:lnSpc>
            </a:pPr>
            <a:r>
              <a:rPr lang="en-US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if (</a:t>
            </a:r>
            <a:r>
              <a:rPr lang="en-US" sz="1600" kern="0" dirty="0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EX/</a:t>
            </a:r>
            <a:r>
              <a:rPr lang="en-US" sz="1600" kern="0" dirty="0" err="1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MEM</a:t>
            </a:r>
            <a:r>
              <a:rPr lang="en-US" sz="1600" kern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.RegWrite</a:t>
            </a:r>
            <a:r>
              <a:rPr lang="en-US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&amp;&amp; (</a:t>
            </a:r>
            <a:r>
              <a:rPr lang="en-US" sz="1600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EX/</a:t>
            </a:r>
            <a:r>
              <a:rPr lang="en-US" sz="1600" kern="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MEM</a:t>
            </a:r>
            <a:r>
              <a:rPr lang="en-US" sz="1600" kern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.WriteReg</a:t>
            </a:r>
            <a:r>
              <a:rPr lang="en-US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== </a:t>
            </a:r>
            <a:r>
              <a:rPr lang="en-US" sz="1600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ID/EX</a:t>
            </a:r>
            <a:r>
              <a:rPr lang="en-US" sz="16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.ReadReg2</a:t>
            </a:r>
            <a:r>
              <a:rPr lang="en-US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  <a:br>
              <a:rPr lang="en-US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600" kern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ALUSelB</a:t>
            </a:r>
            <a:r>
              <a:rPr lang="en-US" sz="16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= 1</a:t>
            </a:r>
          </a:p>
          <a:p>
            <a:pPr marL="230188" indent="-230188">
              <a:lnSpc>
                <a:spcPct val="90000"/>
              </a:lnSpc>
            </a:pPr>
            <a:r>
              <a:rPr lang="en-US" kern="0" dirty="0">
                <a:latin typeface="+mj-lt"/>
              </a:rPr>
              <a:t>MEM Hazard:</a:t>
            </a:r>
          </a:p>
          <a:p>
            <a:pPr marL="569913" lvl="1" indent="-225425">
              <a:lnSpc>
                <a:spcPct val="90000"/>
              </a:lnSpc>
            </a:pPr>
            <a:r>
              <a:rPr lang="en-US" sz="14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if (</a:t>
            </a:r>
            <a:r>
              <a:rPr lang="en-US" sz="1400" kern="0" dirty="0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MEM/</a:t>
            </a:r>
            <a:r>
              <a:rPr lang="en-US" sz="1400" kern="0" dirty="0" err="1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WB</a:t>
            </a:r>
            <a:r>
              <a:rPr lang="en-US" sz="1400" kern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.RegWrite</a:t>
            </a:r>
            <a:r>
              <a:rPr lang="en-US" sz="14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&amp;&amp; </a:t>
            </a:r>
            <a:r>
              <a:rPr lang="en-US" sz="1400" kern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ALUSelA</a:t>
            </a:r>
            <a:r>
              <a:rPr lang="en-US" sz="14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!= 1 &amp;&amp; (</a:t>
            </a:r>
            <a:r>
              <a:rPr lang="en-US" sz="1400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MEM/</a:t>
            </a:r>
            <a:r>
              <a:rPr lang="en-US" sz="1400" kern="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WB</a:t>
            </a:r>
            <a:r>
              <a:rPr lang="en-US" sz="1400" kern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.WriteReg</a:t>
            </a:r>
            <a:r>
              <a:rPr lang="en-US" sz="14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== </a:t>
            </a:r>
            <a:r>
              <a:rPr lang="en-US" sz="1400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ID/EX</a:t>
            </a:r>
            <a:r>
              <a:rPr lang="en-US" sz="14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.ReadReg1)) </a:t>
            </a:r>
          </a:p>
          <a:p>
            <a:pPr marL="569913" lvl="1" indent="-225425">
              <a:lnSpc>
                <a:spcPct val="90000"/>
              </a:lnSpc>
              <a:buNone/>
            </a:pPr>
            <a:r>
              <a:rPr lang="en-US" sz="14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1400" kern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ALUSelA</a:t>
            </a:r>
            <a:r>
              <a:rPr lang="en-US" sz="14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14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  <a:p>
            <a:pPr marL="569913" lvl="1" indent="-225425">
              <a:lnSpc>
                <a:spcPct val="90000"/>
              </a:lnSpc>
            </a:pPr>
            <a:r>
              <a:rPr lang="en-US" sz="14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if (</a:t>
            </a:r>
            <a:r>
              <a:rPr lang="en-US" sz="1400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MEM/</a:t>
            </a:r>
            <a:r>
              <a:rPr lang="en-US" sz="1400" kern="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WB</a:t>
            </a:r>
            <a:r>
              <a:rPr lang="en-US" sz="1400" kern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.RegWrite</a:t>
            </a:r>
            <a:r>
              <a:rPr lang="en-US" sz="14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&amp;&amp; </a:t>
            </a:r>
            <a:r>
              <a:rPr lang="en-US" sz="1400" kern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ALUSelB</a:t>
            </a:r>
            <a:r>
              <a:rPr lang="en-US" sz="14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!= </a:t>
            </a:r>
            <a:r>
              <a:rPr lang="en-US" sz="14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1 &amp;&amp; (</a:t>
            </a:r>
            <a:r>
              <a:rPr lang="en-US" sz="1400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MEM/</a:t>
            </a:r>
            <a:r>
              <a:rPr lang="en-US" sz="1400" kern="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WB</a:t>
            </a:r>
            <a:r>
              <a:rPr lang="en-US" sz="1400" kern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.WriteReg</a:t>
            </a:r>
            <a:r>
              <a:rPr lang="en-US" sz="14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== </a:t>
            </a:r>
            <a:r>
              <a:rPr lang="en-US" sz="1400" kern="0" dirty="0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ID/EX</a:t>
            </a:r>
            <a:r>
              <a:rPr lang="en-US" sz="14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.ReadReg2)) </a:t>
            </a:r>
            <a:endParaRPr lang="en-US" sz="1400" kern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569913" lvl="1" indent="-225425">
              <a:lnSpc>
                <a:spcPct val="90000"/>
              </a:lnSpc>
              <a:buNone/>
            </a:pPr>
            <a:r>
              <a:rPr lang="en-US" sz="14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1400" kern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ALUSelB</a:t>
            </a:r>
            <a:r>
              <a:rPr lang="en-US" sz="14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= 2</a:t>
            </a:r>
          </a:p>
          <a:p>
            <a:pPr marL="569913" lvl="1" indent="-225425">
              <a:lnSpc>
                <a:spcPct val="90000"/>
              </a:lnSpc>
              <a:buNone/>
            </a:pPr>
            <a:endParaRPr lang="en-US" kern="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4270408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 mod="1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>
          <a:xfrm>
            <a:off x="230188" y="77787"/>
            <a:ext cx="8610600" cy="836613"/>
          </a:xfrm>
        </p:spPr>
        <p:txBody>
          <a:bodyPr/>
          <a:lstStyle/>
          <a:p>
            <a:r>
              <a:rPr lang="en-US" sz="3200" dirty="0" smtClean="0">
                <a:solidFill>
                  <a:srgbClr val="0070C0"/>
                </a:solidFill>
              </a:rPr>
              <a:t>Forwarding Hardware Example: </a:t>
            </a:r>
            <a:br>
              <a:rPr lang="en-US" sz="3200" dirty="0" smtClean="0">
                <a:solidFill>
                  <a:srgbClr val="0070C0"/>
                </a:solidFill>
              </a:rPr>
            </a:br>
            <a:r>
              <a:rPr lang="en-US" sz="2400" dirty="0">
                <a:solidFill>
                  <a:srgbClr val="0070C0"/>
                </a:solidFill>
              </a:rPr>
              <a:t>b</a:t>
            </a:r>
            <a:r>
              <a:rPr lang="en-US" sz="2400" dirty="0" smtClean="0">
                <a:solidFill>
                  <a:srgbClr val="0070C0"/>
                </a:solidFill>
              </a:rPr>
              <a:t>ypassing from EXE to Src1 and from WB to Src2</a:t>
            </a:r>
            <a:endParaRPr lang="en-US" sz="2800" dirty="0" smtClean="0">
              <a:solidFill>
                <a:srgbClr val="0070C0"/>
              </a:solidFill>
            </a:endParaRPr>
          </a:p>
        </p:txBody>
      </p:sp>
      <p:sp>
        <p:nvSpPr>
          <p:cNvPr id="4" name="Rectangle 183"/>
          <p:cNvSpPr>
            <a:spLocks noChangeArrowheads="1"/>
          </p:cNvSpPr>
          <p:nvPr/>
        </p:nvSpPr>
        <p:spPr bwMode="auto">
          <a:xfrm>
            <a:off x="114301" y="5394325"/>
            <a:ext cx="2157412" cy="276999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med" len="lg"/>
          </a:ln>
        </p:spPr>
        <p:txBody>
          <a:bodyPr lIns="0" tIns="0" rIns="0" bIns="0">
            <a:spAutoFit/>
          </a:bodyPr>
          <a:lstStyle/>
          <a:p>
            <a:pPr>
              <a:spcBef>
                <a:spcPct val="10000"/>
              </a:spcBef>
            </a:pP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lw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800" dirty="0">
                <a:solidFill>
                  <a:schemeClr val="hlin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R11</a:t>
            </a: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, 9(R1)</a:t>
            </a: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Rectangle 152"/>
          <p:cNvSpPr>
            <a:spLocks noChangeArrowheads="1"/>
          </p:cNvSpPr>
          <p:nvPr/>
        </p:nvSpPr>
        <p:spPr bwMode="auto">
          <a:xfrm>
            <a:off x="439738" y="3244850"/>
            <a:ext cx="280987" cy="609600"/>
          </a:xfrm>
          <a:prstGeom prst="rect">
            <a:avLst/>
          </a:prstGeom>
          <a:solidFill>
            <a:srgbClr val="FFE6CD"/>
          </a:solidFill>
          <a:ln w="19050">
            <a:solidFill>
              <a:schemeClr val="tx1"/>
            </a:solidFill>
            <a:miter lim="800000"/>
            <a:headEnd type="none" w="sm" len="sm"/>
            <a:tailEnd type="none" w="med" len="lg"/>
          </a:ln>
        </p:spPr>
        <p:txBody>
          <a:bodyPr wrap="none" anchor="ctr"/>
          <a:lstStyle/>
          <a:p>
            <a:endParaRPr lang="en-US">
              <a:latin typeface="+mj-lt"/>
            </a:endParaRPr>
          </a:p>
        </p:txBody>
      </p:sp>
      <p:sp>
        <p:nvSpPr>
          <p:cNvPr id="7" name="AutoShape 128"/>
          <p:cNvSpPr>
            <a:spLocks noChangeArrowheads="1"/>
          </p:cNvSpPr>
          <p:nvPr/>
        </p:nvSpPr>
        <p:spPr bwMode="auto">
          <a:xfrm rot="5400000">
            <a:off x="7588250" y="3633788"/>
            <a:ext cx="646113" cy="184150"/>
          </a:xfrm>
          <a:prstGeom prst="flowChartTerminator">
            <a:avLst/>
          </a:prstGeom>
          <a:solidFill>
            <a:srgbClr val="EAEAEA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>
              <a:latin typeface="+mj-lt"/>
            </a:endParaRPr>
          </a:p>
        </p:txBody>
      </p:sp>
      <p:sp>
        <p:nvSpPr>
          <p:cNvPr id="8" name="AutoShape 133"/>
          <p:cNvSpPr>
            <a:spLocks noChangeArrowheads="1"/>
          </p:cNvSpPr>
          <p:nvPr/>
        </p:nvSpPr>
        <p:spPr bwMode="auto">
          <a:xfrm rot="5400000">
            <a:off x="4540250" y="4884738"/>
            <a:ext cx="646113" cy="185737"/>
          </a:xfrm>
          <a:prstGeom prst="flowChartTerminator">
            <a:avLst/>
          </a:prstGeom>
          <a:solidFill>
            <a:srgbClr val="EAEAEA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>
              <a:latin typeface="+mj-lt"/>
            </a:endParaRPr>
          </a:p>
        </p:txBody>
      </p:sp>
      <p:sp>
        <p:nvSpPr>
          <p:cNvPr id="9" name="AutoShape 138"/>
          <p:cNvSpPr>
            <a:spLocks noChangeArrowheads="1"/>
          </p:cNvSpPr>
          <p:nvPr/>
        </p:nvSpPr>
        <p:spPr bwMode="auto">
          <a:xfrm rot="5400000">
            <a:off x="4543425" y="3883025"/>
            <a:ext cx="646113" cy="184150"/>
          </a:xfrm>
          <a:prstGeom prst="flowChartTerminator">
            <a:avLst/>
          </a:prstGeom>
          <a:solidFill>
            <a:srgbClr val="EAEAEA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>
              <a:latin typeface="+mj-lt"/>
            </a:endParaRPr>
          </a:p>
        </p:txBody>
      </p:sp>
      <p:sp>
        <p:nvSpPr>
          <p:cNvPr id="10" name="AutoShape 144"/>
          <p:cNvSpPr>
            <a:spLocks noChangeArrowheads="1"/>
          </p:cNvSpPr>
          <p:nvPr/>
        </p:nvSpPr>
        <p:spPr bwMode="auto">
          <a:xfrm rot="5400000">
            <a:off x="4543425" y="2947988"/>
            <a:ext cx="646113" cy="184150"/>
          </a:xfrm>
          <a:prstGeom prst="flowChartTerminator">
            <a:avLst/>
          </a:prstGeom>
          <a:solidFill>
            <a:srgbClr val="EAEAEA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>
              <a:latin typeface="+mj-lt"/>
            </a:endParaRPr>
          </a:p>
        </p:txBody>
      </p:sp>
      <p:sp>
        <p:nvSpPr>
          <p:cNvPr id="11" name="Line 4"/>
          <p:cNvSpPr>
            <a:spLocks noChangeShapeType="1"/>
          </p:cNvSpPr>
          <p:nvPr/>
        </p:nvSpPr>
        <p:spPr bwMode="auto">
          <a:xfrm>
            <a:off x="3163888" y="1889125"/>
            <a:ext cx="744537" cy="3175"/>
          </a:xfrm>
          <a:prstGeom prst="line">
            <a:avLst/>
          </a:prstGeom>
          <a:noFill/>
          <a:ln w="15875">
            <a:solidFill>
              <a:srgbClr val="EB7500"/>
            </a:solidFill>
            <a:round/>
            <a:headEnd/>
            <a:tailEnd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12" name="Freeform 5"/>
          <p:cNvSpPr>
            <a:spLocks/>
          </p:cNvSpPr>
          <p:nvPr/>
        </p:nvSpPr>
        <p:spPr bwMode="auto">
          <a:xfrm>
            <a:off x="4837112" y="4306888"/>
            <a:ext cx="46037" cy="57150"/>
          </a:xfrm>
          <a:custGeom>
            <a:avLst/>
            <a:gdLst>
              <a:gd name="T0" fmla="*/ 0 w 25"/>
              <a:gd name="T1" fmla="*/ 36 h 23"/>
              <a:gd name="T2" fmla="*/ 29 w 25"/>
              <a:gd name="T3" fmla="*/ 36 h 23"/>
              <a:gd name="T4" fmla="*/ 16 w 25"/>
              <a:gd name="T5" fmla="*/ 0 h 23"/>
              <a:gd name="T6" fmla="*/ 2 w 25"/>
              <a:gd name="T7" fmla="*/ 36 h 23"/>
              <a:gd name="T8" fmla="*/ 2 w 25"/>
              <a:gd name="T9" fmla="*/ 36 h 23"/>
              <a:gd name="T10" fmla="*/ 0 w 25"/>
              <a:gd name="T11" fmla="*/ 36 h 2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"/>
              <a:gd name="T19" fmla="*/ 0 h 23"/>
              <a:gd name="T20" fmla="*/ 25 w 25"/>
              <a:gd name="T21" fmla="*/ 23 h 2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" h="23">
                <a:moveTo>
                  <a:pt x="0" y="23"/>
                </a:moveTo>
                <a:lnTo>
                  <a:pt x="25" y="23"/>
                </a:lnTo>
                <a:lnTo>
                  <a:pt x="14" y="0"/>
                </a:lnTo>
                <a:lnTo>
                  <a:pt x="2" y="23"/>
                </a:lnTo>
                <a:lnTo>
                  <a:pt x="0" y="23"/>
                </a:lnTo>
                <a:close/>
              </a:path>
            </a:pathLst>
          </a:custGeom>
          <a:solidFill>
            <a:srgbClr val="EB75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13" name="Freeform 6"/>
          <p:cNvSpPr>
            <a:spLocks/>
          </p:cNvSpPr>
          <p:nvPr/>
        </p:nvSpPr>
        <p:spPr bwMode="auto">
          <a:xfrm>
            <a:off x="4837112" y="3379788"/>
            <a:ext cx="46037" cy="60325"/>
          </a:xfrm>
          <a:custGeom>
            <a:avLst/>
            <a:gdLst>
              <a:gd name="T0" fmla="*/ 0 w 25"/>
              <a:gd name="T1" fmla="*/ 38 h 25"/>
              <a:gd name="T2" fmla="*/ 29 w 25"/>
              <a:gd name="T3" fmla="*/ 38 h 25"/>
              <a:gd name="T4" fmla="*/ 16 w 25"/>
              <a:gd name="T5" fmla="*/ 0 h 25"/>
              <a:gd name="T6" fmla="*/ 2 w 25"/>
              <a:gd name="T7" fmla="*/ 38 h 25"/>
              <a:gd name="T8" fmla="*/ 2 w 25"/>
              <a:gd name="T9" fmla="*/ 38 h 25"/>
              <a:gd name="T10" fmla="*/ 0 w 25"/>
              <a:gd name="T11" fmla="*/ 38 h 2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"/>
              <a:gd name="T19" fmla="*/ 0 h 25"/>
              <a:gd name="T20" fmla="*/ 25 w 25"/>
              <a:gd name="T21" fmla="*/ 25 h 2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" h="25">
                <a:moveTo>
                  <a:pt x="0" y="25"/>
                </a:moveTo>
                <a:lnTo>
                  <a:pt x="25" y="25"/>
                </a:lnTo>
                <a:lnTo>
                  <a:pt x="14" y="0"/>
                </a:lnTo>
                <a:lnTo>
                  <a:pt x="2" y="25"/>
                </a:lnTo>
                <a:lnTo>
                  <a:pt x="0" y="25"/>
                </a:lnTo>
                <a:close/>
              </a:path>
            </a:pathLst>
          </a:custGeom>
          <a:solidFill>
            <a:srgbClr val="EB75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14" name="Freeform 7"/>
          <p:cNvSpPr>
            <a:spLocks/>
          </p:cNvSpPr>
          <p:nvPr/>
        </p:nvSpPr>
        <p:spPr bwMode="auto">
          <a:xfrm>
            <a:off x="5772150" y="5540375"/>
            <a:ext cx="46037" cy="60325"/>
          </a:xfrm>
          <a:custGeom>
            <a:avLst/>
            <a:gdLst>
              <a:gd name="T0" fmla="*/ 29 w 25"/>
              <a:gd name="T1" fmla="*/ 0 h 25"/>
              <a:gd name="T2" fmla="*/ 29 w 25"/>
              <a:gd name="T3" fmla="*/ 38 h 25"/>
              <a:gd name="T4" fmla="*/ 0 w 25"/>
              <a:gd name="T5" fmla="*/ 20 h 25"/>
              <a:gd name="T6" fmla="*/ 29 w 25"/>
              <a:gd name="T7" fmla="*/ 0 h 25"/>
              <a:gd name="T8" fmla="*/ 29 w 25"/>
              <a:gd name="T9" fmla="*/ 0 h 2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5"/>
              <a:gd name="T16" fmla="*/ 0 h 25"/>
              <a:gd name="T17" fmla="*/ 25 w 25"/>
              <a:gd name="T18" fmla="*/ 25 h 2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5" h="25">
                <a:moveTo>
                  <a:pt x="25" y="0"/>
                </a:moveTo>
                <a:lnTo>
                  <a:pt x="25" y="25"/>
                </a:lnTo>
                <a:lnTo>
                  <a:pt x="0" y="13"/>
                </a:lnTo>
                <a:lnTo>
                  <a:pt x="25" y="0"/>
                </a:lnTo>
                <a:close/>
              </a:path>
            </a:pathLst>
          </a:custGeom>
          <a:solidFill>
            <a:srgbClr val="EB75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15" name="Freeform 8"/>
          <p:cNvSpPr>
            <a:spLocks/>
          </p:cNvSpPr>
          <p:nvPr/>
        </p:nvSpPr>
        <p:spPr bwMode="auto">
          <a:xfrm>
            <a:off x="5815012" y="2284413"/>
            <a:ext cx="1773237" cy="3287713"/>
          </a:xfrm>
          <a:custGeom>
            <a:avLst/>
            <a:gdLst>
              <a:gd name="T0" fmla="*/ 1117 w 947"/>
              <a:gd name="T1" fmla="*/ 0 h 1357"/>
              <a:gd name="T2" fmla="*/ 1117 w 947"/>
              <a:gd name="T3" fmla="*/ 2071 h 1357"/>
              <a:gd name="T4" fmla="*/ 0 w 947"/>
              <a:gd name="T5" fmla="*/ 2071 h 1357"/>
              <a:gd name="T6" fmla="*/ 0 60000 65536"/>
              <a:gd name="T7" fmla="*/ 0 60000 65536"/>
              <a:gd name="T8" fmla="*/ 0 60000 65536"/>
              <a:gd name="T9" fmla="*/ 0 w 947"/>
              <a:gd name="T10" fmla="*/ 0 h 1357"/>
              <a:gd name="T11" fmla="*/ 947 w 947"/>
              <a:gd name="T12" fmla="*/ 1357 h 135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47" h="1357">
                <a:moveTo>
                  <a:pt x="947" y="0"/>
                </a:moveTo>
                <a:lnTo>
                  <a:pt x="947" y="1357"/>
                </a:lnTo>
                <a:lnTo>
                  <a:pt x="0" y="1357"/>
                </a:lnTo>
              </a:path>
            </a:pathLst>
          </a:custGeom>
          <a:noFill/>
          <a:ln w="9525">
            <a:solidFill>
              <a:srgbClr val="EB75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16" name="Line 9"/>
          <p:cNvSpPr>
            <a:spLocks noChangeShapeType="1"/>
          </p:cNvSpPr>
          <p:nvPr/>
        </p:nvSpPr>
        <p:spPr bwMode="auto">
          <a:xfrm>
            <a:off x="7381875" y="2284413"/>
            <a:ext cx="203200" cy="4763"/>
          </a:xfrm>
          <a:prstGeom prst="line">
            <a:avLst/>
          </a:prstGeom>
          <a:noFill/>
          <a:ln w="9525">
            <a:solidFill>
              <a:srgbClr val="EB7500"/>
            </a:solidFill>
            <a:round/>
            <a:headEnd/>
            <a:tailEnd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17" name="Freeform 10"/>
          <p:cNvSpPr>
            <a:spLocks/>
          </p:cNvSpPr>
          <p:nvPr/>
        </p:nvSpPr>
        <p:spPr bwMode="auto">
          <a:xfrm>
            <a:off x="5826125" y="1889125"/>
            <a:ext cx="400050" cy="3506788"/>
          </a:xfrm>
          <a:custGeom>
            <a:avLst/>
            <a:gdLst>
              <a:gd name="T0" fmla="*/ 250 w 214"/>
              <a:gd name="T1" fmla="*/ 0 h 1447"/>
              <a:gd name="T2" fmla="*/ 252 w 214"/>
              <a:gd name="T3" fmla="*/ 2209 h 1447"/>
              <a:gd name="T4" fmla="*/ 0 w 214"/>
              <a:gd name="T5" fmla="*/ 2209 h 1447"/>
              <a:gd name="T6" fmla="*/ 0 60000 65536"/>
              <a:gd name="T7" fmla="*/ 0 60000 65536"/>
              <a:gd name="T8" fmla="*/ 0 60000 65536"/>
              <a:gd name="T9" fmla="*/ 0 w 214"/>
              <a:gd name="T10" fmla="*/ 0 h 1447"/>
              <a:gd name="T11" fmla="*/ 214 w 214"/>
              <a:gd name="T12" fmla="*/ 1447 h 144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4" h="1447">
                <a:moveTo>
                  <a:pt x="212" y="0"/>
                </a:moveTo>
                <a:lnTo>
                  <a:pt x="214" y="1447"/>
                </a:lnTo>
                <a:lnTo>
                  <a:pt x="0" y="1447"/>
                </a:lnTo>
              </a:path>
            </a:pathLst>
          </a:custGeom>
          <a:noFill/>
          <a:ln w="9525">
            <a:solidFill>
              <a:srgbClr val="EB75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18" name="Freeform 11"/>
          <p:cNvSpPr>
            <a:spLocks/>
          </p:cNvSpPr>
          <p:nvPr/>
        </p:nvSpPr>
        <p:spPr bwMode="auto">
          <a:xfrm>
            <a:off x="4859337" y="4348163"/>
            <a:ext cx="247650" cy="914400"/>
          </a:xfrm>
          <a:custGeom>
            <a:avLst/>
            <a:gdLst>
              <a:gd name="T0" fmla="*/ 0 w 132"/>
              <a:gd name="T1" fmla="*/ 0 h 377"/>
              <a:gd name="T2" fmla="*/ 2 w 132"/>
              <a:gd name="T3" fmla="*/ 79 h 377"/>
              <a:gd name="T4" fmla="*/ 84 w 132"/>
              <a:gd name="T5" fmla="*/ 79 h 377"/>
              <a:gd name="T6" fmla="*/ 84 w 132"/>
              <a:gd name="T7" fmla="*/ 576 h 377"/>
              <a:gd name="T8" fmla="*/ 156 w 132"/>
              <a:gd name="T9" fmla="*/ 576 h 37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32"/>
              <a:gd name="T16" fmla="*/ 0 h 377"/>
              <a:gd name="T17" fmla="*/ 132 w 132"/>
              <a:gd name="T18" fmla="*/ 377 h 37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32" h="377">
                <a:moveTo>
                  <a:pt x="0" y="0"/>
                </a:moveTo>
                <a:lnTo>
                  <a:pt x="2" y="52"/>
                </a:lnTo>
                <a:lnTo>
                  <a:pt x="71" y="52"/>
                </a:lnTo>
                <a:lnTo>
                  <a:pt x="71" y="377"/>
                </a:lnTo>
                <a:lnTo>
                  <a:pt x="132" y="377"/>
                </a:lnTo>
              </a:path>
            </a:pathLst>
          </a:custGeom>
          <a:noFill/>
          <a:ln w="9525">
            <a:solidFill>
              <a:srgbClr val="EB75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19" name="Freeform 12"/>
          <p:cNvSpPr>
            <a:spLocks/>
          </p:cNvSpPr>
          <p:nvPr/>
        </p:nvSpPr>
        <p:spPr bwMode="auto">
          <a:xfrm>
            <a:off x="4859337" y="3421063"/>
            <a:ext cx="290512" cy="1754188"/>
          </a:xfrm>
          <a:custGeom>
            <a:avLst/>
            <a:gdLst>
              <a:gd name="T0" fmla="*/ 0 w 155"/>
              <a:gd name="T1" fmla="*/ 0 h 724"/>
              <a:gd name="T2" fmla="*/ 2 w 155"/>
              <a:gd name="T3" fmla="*/ 79 h 724"/>
              <a:gd name="T4" fmla="*/ 119 w 155"/>
              <a:gd name="T5" fmla="*/ 79 h 724"/>
              <a:gd name="T6" fmla="*/ 119 w 155"/>
              <a:gd name="T7" fmla="*/ 1105 h 724"/>
              <a:gd name="T8" fmla="*/ 183 w 155"/>
              <a:gd name="T9" fmla="*/ 1105 h 72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5"/>
              <a:gd name="T16" fmla="*/ 0 h 724"/>
              <a:gd name="T17" fmla="*/ 155 w 155"/>
              <a:gd name="T18" fmla="*/ 724 h 72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5" h="724">
                <a:moveTo>
                  <a:pt x="0" y="0"/>
                </a:moveTo>
                <a:lnTo>
                  <a:pt x="2" y="52"/>
                </a:lnTo>
                <a:lnTo>
                  <a:pt x="101" y="52"/>
                </a:lnTo>
                <a:lnTo>
                  <a:pt x="101" y="724"/>
                </a:lnTo>
                <a:lnTo>
                  <a:pt x="155" y="724"/>
                </a:lnTo>
              </a:path>
            </a:pathLst>
          </a:custGeom>
          <a:noFill/>
          <a:ln w="9525">
            <a:solidFill>
              <a:srgbClr val="EB75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20" name="Freeform 13"/>
          <p:cNvSpPr>
            <a:spLocks/>
          </p:cNvSpPr>
          <p:nvPr/>
        </p:nvSpPr>
        <p:spPr bwMode="auto">
          <a:xfrm>
            <a:off x="3946525" y="2090738"/>
            <a:ext cx="184150" cy="392113"/>
          </a:xfrm>
          <a:custGeom>
            <a:avLst/>
            <a:gdLst>
              <a:gd name="T0" fmla="*/ 114 w 98"/>
              <a:gd name="T1" fmla="*/ 247 h 162"/>
              <a:gd name="T2" fmla="*/ 116 w 98"/>
              <a:gd name="T3" fmla="*/ 0 h 162"/>
              <a:gd name="T4" fmla="*/ 0 w 98"/>
              <a:gd name="T5" fmla="*/ 0 h 162"/>
              <a:gd name="T6" fmla="*/ 0 w 98"/>
              <a:gd name="T7" fmla="*/ 247 h 162"/>
              <a:gd name="T8" fmla="*/ 116 w 98"/>
              <a:gd name="T9" fmla="*/ 247 h 162"/>
              <a:gd name="T10" fmla="*/ 116 w 98"/>
              <a:gd name="T11" fmla="*/ 247 h 16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98"/>
              <a:gd name="T19" fmla="*/ 0 h 162"/>
              <a:gd name="T20" fmla="*/ 98 w 98"/>
              <a:gd name="T21" fmla="*/ 162 h 162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98" h="162">
                <a:moveTo>
                  <a:pt x="96" y="162"/>
                </a:moveTo>
                <a:lnTo>
                  <a:pt x="98" y="0"/>
                </a:lnTo>
                <a:lnTo>
                  <a:pt x="0" y="0"/>
                </a:lnTo>
                <a:lnTo>
                  <a:pt x="0" y="162"/>
                </a:lnTo>
                <a:lnTo>
                  <a:pt x="98" y="162"/>
                </a:lnTo>
              </a:path>
            </a:pathLst>
          </a:custGeom>
          <a:solidFill>
            <a:srgbClr val="FFE6CD"/>
          </a:solidFill>
          <a:ln w="28575" cap="flat" cmpd="sng">
            <a:solidFill>
              <a:srgbClr val="EB75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21" name="Freeform 14"/>
          <p:cNvSpPr>
            <a:spLocks/>
          </p:cNvSpPr>
          <p:nvPr/>
        </p:nvSpPr>
        <p:spPr bwMode="auto">
          <a:xfrm>
            <a:off x="2836863" y="3495675"/>
            <a:ext cx="44450" cy="58738"/>
          </a:xfrm>
          <a:custGeom>
            <a:avLst/>
            <a:gdLst>
              <a:gd name="T0" fmla="*/ 0 w 25"/>
              <a:gd name="T1" fmla="*/ 0 h 24"/>
              <a:gd name="T2" fmla="*/ 0 w 25"/>
              <a:gd name="T3" fmla="*/ 37 h 24"/>
              <a:gd name="T4" fmla="*/ 28 w 25"/>
              <a:gd name="T5" fmla="*/ 20 h 24"/>
              <a:gd name="T6" fmla="*/ 0 w 25"/>
              <a:gd name="T7" fmla="*/ 2 h 24"/>
              <a:gd name="T8" fmla="*/ 0 w 25"/>
              <a:gd name="T9" fmla="*/ 2 h 24"/>
              <a:gd name="T10" fmla="*/ 0 w 25"/>
              <a:gd name="T11" fmla="*/ 0 h 2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"/>
              <a:gd name="T19" fmla="*/ 0 h 24"/>
              <a:gd name="T20" fmla="*/ 25 w 25"/>
              <a:gd name="T21" fmla="*/ 24 h 2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" h="24">
                <a:moveTo>
                  <a:pt x="0" y="0"/>
                </a:moveTo>
                <a:lnTo>
                  <a:pt x="0" y="24"/>
                </a:lnTo>
                <a:lnTo>
                  <a:pt x="25" y="13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22" name="Freeform 15"/>
          <p:cNvSpPr>
            <a:spLocks/>
          </p:cNvSpPr>
          <p:nvPr/>
        </p:nvSpPr>
        <p:spPr bwMode="auto">
          <a:xfrm>
            <a:off x="871538" y="2849563"/>
            <a:ext cx="577850" cy="1377950"/>
          </a:xfrm>
          <a:custGeom>
            <a:avLst/>
            <a:gdLst>
              <a:gd name="T0" fmla="*/ 364 w 308"/>
              <a:gd name="T1" fmla="*/ 868 h 569"/>
              <a:gd name="T2" fmla="*/ 364 w 308"/>
              <a:gd name="T3" fmla="*/ 0 h 569"/>
              <a:gd name="T4" fmla="*/ 0 w 308"/>
              <a:gd name="T5" fmla="*/ 0 h 569"/>
              <a:gd name="T6" fmla="*/ 0 w 308"/>
              <a:gd name="T7" fmla="*/ 868 h 569"/>
              <a:gd name="T8" fmla="*/ 364 w 308"/>
              <a:gd name="T9" fmla="*/ 868 h 569"/>
              <a:gd name="T10" fmla="*/ 364 w 308"/>
              <a:gd name="T11" fmla="*/ 868 h 56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308"/>
              <a:gd name="T19" fmla="*/ 0 h 569"/>
              <a:gd name="T20" fmla="*/ 308 w 308"/>
              <a:gd name="T21" fmla="*/ 569 h 569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308" h="569">
                <a:moveTo>
                  <a:pt x="308" y="569"/>
                </a:moveTo>
                <a:lnTo>
                  <a:pt x="308" y="0"/>
                </a:lnTo>
                <a:lnTo>
                  <a:pt x="0" y="0"/>
                </a:lnTo>
                <a:lnTo>
                  <a:pt x="0" y="569"/>
                </a:lnTo>
                <a:lnTo>
                  <a:pt x="308" y="569"/>
                </a:lnTo>
              </a:path>
            </a:pathLst>
          </a:custGeom>
          <a:solidFill>
            <a:srgbClr val="FFFFCC"/>
          </a:solidFill>
          <a:ln w="19050" cap="flat" cmpd="sng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+mj-lt"/>
            </a:endParaRPr>
          </a:p>
        </p:txBody>
      </p:sp>
      <p:sp>
        <p:nvSpPr>
          <p:cNvPr id="23" name="Freeform 16"/>
          <p:cNvSpPr>
            <a:spLocks/>
          </p:cNvSpPr>
          <p:nvPr/>
        </p:nvSpPr>
        <p:spPr bwMode="auto">
          <a:xfrm>
            <a:off x="6464300" y="2813050"/>
            <a:ext cx="579437" cy="1382713"/>
          </a:xfrm>
          <a:custGeom>
            <a:avLst/>
            <a:gdLst>
              <a:gd name="T0" fmla="*/ 365 w 309"/>
              <a:gd name="T1" fmla="*/ 868 h 571"/>
              <a:gd name="T2" fmla="*/ 365 w 309"/>
              <a:gd name="T3" fmla="*/ 0 h 571"/>
              <a:gd name="T4" fmla="*/ 0 w 309"/>
              <a:gd name="T5" fmla="*/ 0 h 571"/>
              <a:gd name="T6" fmla="*/ 0 w 309"/>
              <a:gd name="T7" fmla="*/ 871 h 571"/>
              <a:gd name="T8" fmla="*/ 365 w 309"/>
              <a:gd name="T9" fmla="*/ 871 h 571"/>
              <a:gd name="T10" fmla="*/ 365 w 309"/>
              <a:gd name="T11" fmla="*/ 871 h 571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309"/>
              <a:gd name="T19" fmla="*/ 0 h 571"/>
              <a:gd name="T20" fmla="*/ 309 w 309"/>
              <a:gd name="T21" fmla="*/ 571 h 571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309" h="571">
                <a:moveTo>
                  <a:pt x="309" y="569"/>
                </a:moveTo>
                <a:lnTo>
                  <a:pt x="309" y="0"/>
                </a:lnTo>
                <a:lnTo>
                  <a:pt x="0" y="0"/>
                </a:lnTo>
                <a:lnTo>
                  <a:pt x="0" y="571"/>
                </a:lnTo>
                <a:lnTo>
                  <a:pt x="309" y="571"/>
                </a:lnTo>
              </a:path>
            </a:pathLst>
          </a:custGeom>
          <a:solidFill>
            <a:srgbClr val="FFFFCC"/>
          </a:solidFill>
          <a:ln w="19050" cap="flat" cmpd="sng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+mj-lt"/>
            </a:endParaRPr>
          </a:p>
        </p:txBody>
      </p:sp>
      <p:sp>
        <p:nvSpPr>
          <p:cNvPr id="24" name="Freeform 17"/>
          <p:cNvSpPr>
            <a:spLocks/>
          </p:cNvSpPr>
          <p:nvPr/>
        </p:nvSpPr>
        <p:spPr bwMode="auto">
          <a:xfrm>
            <a:off x="2836863" y="2790825"/>
            <a:ext cx="44450" cy="58738"/>
          </a:xfrm>
          <a:custGeom>
            <a:avLst/>
            <a:gdLst>
              <a:gd name="T0" fmla="*/ 0 w 25"/>
              <a:gd name="T1" fmla="*/ 0 h 24"/>
              <a:gd name="T2" fmla="*/ 0 w 25"/>
              <a:gd name="T3" fmla="*/ 37 h 24"/>
              <a:gd name="T4" fmla="*/ 28 w 25"/>
              <a:gd name="T5" fmla="*/ 20 h 24"/>
              <a:gd name="T6" fmla="*/ 0 w 25"/>
              <a:gd name="T7" fmla="*/ 3 h 24"/>
              <a:gd name="T8" fmla="*/ 0 w 25"/>
              <a:gd name="T9" fmla="*/ 3 h 24"/>
              <a:gd name="T10" fmla="*/ 0 w 25"/>
              <a:gd name="T11" fmla="*/ 0 h 2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"/>
              <a:gd name="T19" fmla="*/ 0 h 24"/>
              <a:gd name="T20" fmla="*/ 25 w 25"/>
              <a:gd name="T21" fmla="*/ 24 h 2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" h="24">
                <a:moveTo>
                  <a:pt x="0" y="0"/>
                </a:moveTo>
                <a:lnTo>
                  <a:pt x="0" y="24"/>
                </a:lnTo>
                <a:lnTo>
                  <a:pt x="25" y="13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25" name="Freeform 18"/>
          <p:cNvSpPr>
            <a:spLocks/>
          </p:cNvSpPr>
          <p:nvPr/>
        </p:nvSpPr>
        <p:spPr bwMode="auto">
          <a:xfrm>
            <a:off x="2836863" y="3846513"/>
            <a:ext cx="44450" cy="61913"/>
          </a:xfrm>
          <a:custGeom>
            <a:avLst/>
            <a:gdLst>
              <a:gd name="T0" fmla="*/ 0 w 25"/>
              <a:gd name="T1" fmla="*/ 0 h 25"/>
              <a:gd name="T2" fmla="*/ 0 w 25"/>
              <a:gd name="T3" fmla="*/ 39 h 25"/>
              <a:gd name="T4" fmla="*/ 28 w 25"/>
              <a:gd name="T5" fmla="*/ 20 h 25"/>
              <a:gd name="T6" fmla="*/ 0 w 25"/>
              <a:gd name="T7" fmla="*/ 3 h 25"/>
              <a:gd name="T8" fmla="*/ 0 w 25"/>
              <a:gd name="T9" fmla="*/ 3 h 25"/>
              <a:gd name="T10" fmla="*/ 0 w 25"/>
              <a:gd name="T11" fmla="*/ 0 h 2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"/>
              <a:gd name="T19" fmla="*/ 0 h 25"/>
              <a:gd name="T20" fmla="*/ 25 w 25"/>
              <a:gd name="T21" fmla="*/ 25 h 2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" h="25">
                <a:moveTo>
                  <a:pt x="0" y="0"/>
                </a:moveTo>
                <a:lnTo>
                  <a:pt x="0" y="25"/>
                </a:lnTo>
                <a:lnTo>
                  <a:pt x="25" y="13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26" name="Freeform 19"/>
          <p:cNvSpPr>
            <a:spLocks/>
          </p:cNvSpPr>
          <p:nvPr/>
        </p:nvSpPr>
        <p:spPr bwMode="auto">
          <a:xfrm>
            <a:off x="4722813" y="3716338"/>
            <a:ext cx="46037" cy="60325"/>
          </a:xfrm>
          <a:custGeom>
            <a:avLst/>
            <a:gdLst>
              <a:gd name="T0" fmla="*/ 0 w 25"/>
              <a:gd name="T1" fmla="*/ 0 h 25"/>
              <a:gd name="T2" fmla="*/ 0 w 25"/>
              <a:gd name="T3" fmla="*/ 38 h 25"/>
              <a:gd name="T4" fmla="*/ 29 w 25"/>
              <a:gd name="T5" fmla="*/ 18 h 25"/>
              <a:gd name="T6" fmla="*/ 0 w 25"/>
              <a:gd name="T7" fmla="*/ 0 h 25"/>
              <a:gd name="T8" fmla="*/ 0 w 25"/>
              <a:gd name="T9" fmla="*/ 0 h 2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5"/>
              <a:gd name="T16" fmla="*/ 0 h 25"/>
              <a:gd name="T17" fmla="*/ 25 w 25"/>
              <a:gd name="T18" fmla="*/ 25 h 2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5" h="25">
                <a:moveTo>
                  <a:pt x="0" y="0"/>
                </a:moveTo>
                <a:lnTo>
                  <a:pt x="0" y="25"/>
                </a:lnTo>
                <a:lnTo>
                  <a:pt x="25" y="1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27" name="Freeform 20"/>
          <p:cNvSpPr>
            <a:spLocks/>
          </p:cNvSpPr>
          <p:nvPr/>
        </p:nvSpPr>
        <p:spPr bwMode="auto">
          <a:xfrm>
            <a:off x="4722813" y="3933825"/>
            <a:ext cx="46037" cy="61913"/>
          </a:xfrm>
          <a:custGeom>
            <a:avLst/>
            <a:gdLst>
              <a:gd name="T0" fmla="*/ 0 w 25"/>
              <a:gd name="T1" fmla="*/ 0 h 25"/>
              <a:gd name="T2" fmla="*/ 0 w 25"/>
              <a:gd name="T3" fmla="*/ 39 h 25"/>
              <a:gd name="T4" fmla="*/ 29 w 25"/>
              <a:gd name="T5" fmla="*/ 22 h 25"/>
              <a:gd name="T6" fmla="*/ 0 w 25"/>
              <a:gd name="T7" fmla="*/ 0 h 25"/>
              <a:gd name="T8" fmla="*/ 0 w 25"/>
              <a:gd name="T9" fmla="*/ 0 h 2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5"/>
              <a:gd name="T16" fmla="*/ 0 h 25"/>
              <a:gd name="T17" fmla="*/ 25 w 25"/>
              <a:gd name="T18" fmla="*/ 25 h 2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5" h="25">
                <a:moveTo>
                  <a:pt x="0" y="0"/>
                </a:moveTo>
                <a:lnTo>
                  <a:pt x="0" y="25"/>
                </a:lnTo>
                <a:lnTo>
                  <a:pt x="25" y="1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28" name="Freeform 21"/>
          <p:cNvSpPr>
            <a:spLocks/>
          </p:cNvSpPr>
          <p:nvPr/>
        </p:nvSpPr>
        <p:spPr bwMode="auto">
          <a:xfrm>
            <a:off x="5200650" y="3933825"/>
            <a:ext cx="49212" cy="61913"/>
          </a:xfrm>
          <a:custGeom>
            <a:avLst/>
            <a:gdLst>
              <a:gd name="T0" fmla="*/ 0 w 27"/>
              <a:gd name="T1" fmla="*/ 0 h 25"/>
              <a:gd name="T2" fmla="*/ 2 w 27"/>
              <a:gd name="T3" fmla="*/ 39 h 25"/>
              <a:gd name="T4" fmla="*/ 31 w 27"/>
              <a:gd name="T5" fmla="*/ 22 h 25"/>
              <a:gd name="T6" fmla="*/ 2 w 27"/>
              <a:gd name="T7" fmla="*/ 0 h 25"/>
              <a:gd name="T8" fmla="*/ 2 w 27"/>
              <a:gd name="T9" fmla="*/ 0 h 25"/>
              <a:gd name="T10" fmla="*/ 0 w 27"/>
              <a:gd name="T11" fmla="*/ 0 h 2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7"/>
              <a:gd name="T19" fmla="*/ 0 h 25"/>
              <a:gd name="T20" fmla="*/ 27 w 27"/>
              <a:gd name="T21" fmla="*/ 25 h 2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7" h="25">
                <a:moveTo>
                  <a:pt x="0" y="0"/>
                </a:moveTo>
                <a:lnTo>
                  <a:pt x="2" y="25"/>
                </a:lnTo>
                <a:lnTo>
                  <a:pt x="27" y="14"/>
                </a:lnTo>
                <a:lnTo>
                  <a:pt x="2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29" name="Line 22"/>
          <p:cNvSpPr>
            <a:spLocks noChangeShapeType="1"/>
          </p:cNvSpPr>
          <p:nvPr/>
        </p:nvSpPr>
        <p:spPr bwMode="auto">
          <a:xfrm flipH="1">
            <a:off x="4948237" y="3963988"/>
            <a:ext cx="269875" cy="4763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30" name="Freeform 23"/>
          <p:cNvSpPr>
            <a:spLocks/>
          </p:cNvSpPr>
          <p:nvPr/>
        </p:nvSpPr>
        <p:spPr bwMode="auto">
          <a:xfrm>
            <a:off x="7769225" y="3471863"/>
            <a:ext cx="46037" cy="60325"/>
          </a:xfrm>
          <a:custGeom>
            <a:avLst/>
            <a:gdLst>
              <a:gd name="T0" fmla="*/ 0 w 25"/>
              <a:gd name="T1" fmla="*/ 0 h 25"/>
              <a:gd name="T2" fmla="*/ 0 w 25"/>
              <a:gd name="T3" fmla="*/ 38 h 25"/>
              <a:gd name="T4" fmla="*/ 29 w 25"/>
              <a:gd name="T5" fmla="*/ 20 h 25"/>
              <a:gd name="T6" fmla="*/ 0 w 25"/>
              <a:gd name="T7" fmla="*/ 3 h 25"/>
              <a:gd name="T8" fmla="*/ 0 w 25"/>
              <a:gd name="T9" fmla="*/ 3 h 25"/>
              <a:gd name="T10" fmla="*/ 0 w 25"/>
              <a:gd name="T11" fmla="*/ 0 h 2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"/>
              <a:gd name="T19" fmla="*/ 0 h 25"/>
              <a:gd name="T20" fmla="*/ 25 w 25"/>
              <a:gd name="T21" fmla="*/ 25 h 2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" h="25">
                <a:moveTo>
                  <a:pt x="0" y="0"/>
                </a:moveTo>
                <a:lnTo>
                  <a:pt x="0" y="25"/>
                </a:lnTo>
                <a:lnTo>
                  <a:pt x="25" y="13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31" name="Freeform 24"/>
          <p:cNvSpPr>
            <a:spLocks/>
          </p:cNvSpPr>
          <p:nvPr/>
        </p:nvSpPr>
        <p:spPr bwMode="auto">
          <a:xfrm>
            <a:off x="7769225" y="3913188"/>
            <a:ext cx="46037" cy="60325"/>
          </a:xfrm>
          <a:custGeom>
            <a:avLst/>
            <a:gdLst>
              <a:gd name="T0" fmla="*/ 0 w 25"/>
              <a:gd name="T1" fmla="*/ 0 h 25"/>
              <a:gd name="T2" fmla="*/ 0 w 25"/>
              <a:gd name="T3" fmla="*/ 38 h 25"/>
              <a:gd name="T4" fmla="*/ 29 w 25"/>
              <a:gd name="T5" fmla="*/ 17 h 25"/>
              <a:gd name="T6" fmla="*/ 0 w 25"/>
              <a:gd name="T7" fmla="*/ 0 h 25"/>
              <a:gd name="T8" fmla="*/ 0 w 25"/>
              <a:gd name="T9" fmla="*/ 0 h 2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5"/>
              <a:gd name="T16" fmla="*/ 0 h 25"/>
              <a:gd name="T17" fmla="*/ 25 w 25"/>
              <a:gd name="T18" fmla="*/ 25 h 2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5" h="25">
                <a:moveTo>
                  <a:pt x="0" y="0"/>
                </a:moveTo>
                <a:lnTo>
                  <a:pt x="0" y="25"/>
                </a:lnTo>
                <a:lnTo>
                  <a:pt x="25" y="1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32" name="Line 25"/>
          <p:cNvSpPr>
            <a:spLocks noChangeShapeType="1"/>
          </p:cNvSpPr>
          <p:nvPr/>
        </p:nvSpPr>
        <p:spPr bwMode="auto">
          <a:xfrm>
            <a:off x="731838" y="3546475"/>
            <a:ext cx="101600" cy="4763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33" name="Freeform 26"/>
          <p:cNvSpPr>
            <a:spLocks/>
          </p:cNvSpPr>
          <p:nvPr/>
        </p:nvSpPr>
        <p:spPr bwMode="auto">
          <a:xfrm>
            <a:off x="817563" y="3517900"/>
            <a:ext cx="47625" cy="60325"/>
          </a:xfrm>
          <a:custGeom>
            <a:avLst/>
            <a:gdLst>
              <a:gd name="T0" fmla="*/ 0 w 25"/>
              <a:gd name="T1" fmla="*/ 0 h 25"/>
              <a:gd name="T2" fmla="*/ 2 w 25"/>
              <a:gd name="T3" fmla="*/ 38 h 25"/>
              <a:gd name="T4" fmla="*/ 30 w 25"/>
              <a:gd name="T5" fmla="*/ 21 h 25"/>
              <a:gd name="T6" fmla="*/ 2 w 25"/>
              <a:gd name="T7" fmla="*/ 0 h 25"/>
              <a:gd name="T8" fmla="*/ 2 w 25"/>
              <a:gd name="T9" fmla="*/ 0 h 25"/>
              <a:gd name="T10" fmla="*/ 0 w 25"/>
              <a:gd name="T11" fmla="*/ 0 h 2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"/>
              <a:gd name="T19" fmla="*/ 0 h 25"/>
              <a:gd name="T20" fmla="*/ 25 w 25"/>
              <a:gd name="T21" fmla="*/ 25 h 2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" h="25">
                <a:moveTo>
                  <a:pt x="0" y="0"/>
                </a:moveTo>
                <a:lnTo>
                  <a:pt x="2" y="25"/>
                </a:lnTo>
                <a:lnTo>
                  <a:pt x="25" y="14"/>
                </a:lnTo>
                <a:lnTo>
                  <a:pt x="2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34" name="Freeform 27"/>
          <p:cNvSpPr>
            <a:spLocks/>
          </p:cNvSpPr>
          <p:nvPr/>
        </p:nvSpPr>
        <p:spPr bwMode="auto">
          <a:xfrm>
            <a:off x="2736850" y="1857375"/>
            <a:ext cx="46037" cy="60325"/>
          </a:xfrm>
          <a:custGeom>
            <a:avLst/>
            <a:gdLst>
              <a:gd name="T0" fmla="*/ 0 w 25"/>
              <a:gd name="T1" fmla="*/ 0 h 25"/>
              <a:gd name="T2" fmla="*/ 0 w 25"/>
              <a:gd name="T3" fmla="*/ 38 h 25"/>
              <a:gd name="T4" fmla="*/ 29 w 25"/>
              <a:gd name="T5" fmla="*/ 20 h 25"/>
              <a:gd name="T6" fmla="*/ 0 w 25"/>
              <a:gd name="T7" fmla="*/ 3 h 25"/>
              <a:gd name="T8" fmla="*/ 0 w 25"/>
              <a:gd name="T9" fmla="*/ 3 h 25"/>
              <a:gd name="T10" fmla="*/ 0 w 25"/>
              <a:gd name="T11" fmla="*/ 0 h 2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"/>
              <a:gd name="T19" fmla="*/ 0 h 25"/>
              <a:gd name="T20" fmla="*/ 25 w 25"/>
              <a:gd name="T21" fmla="*/ 25 h 2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" h="25">
                <a:moveTo>
                  <a:pt x="0" y="0"/>
                </a:moveTo>
                <a:lnTo>
                  <a:pt x="0" y="25"/>
                </a:lnTo>
                <a:lnTo>
                  <a:pt x="25" y="13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35" name="Freeform 28"/>
          <p:cNvSpPr>
            <a:spLocks/>
          </p:cNvSpPr>
          <p:nvPr/>
        </p:nvSpPr>
        <p:spPr bwMode="auto">
          <a:xfrm>
            <a:off x="2836863" y="3141663"/>
            <a:ext cx="44450" cy="60325"/>
          </a:xfrm>
          <a:custGeom>
            <a:avLst/>
            <a:gdLst>
              <a:gd name="T0" fmla="*/ 0 w 25"/>
              <a:gd name="T1" fmla="*/ 0 h 25"/>
              <a:gd name="T2" fmla="*/ 0 w 25"/>
              <a:gd name="T3" fmla="*/ 38 h 25"/>
              <a:gd name="T4" fmla="*/ 28 w 25"/>
              <a:gd name="T5" fmla="*/ 20 h 25"/>
              <a:gd name="T6" fmla="*/ 0 w 25"/>
              <a:gd name="T7" fmla="*/ 3 h 25"/>
              <a:gd name="T8" fmla="*/ 0 w 25"/>
              <a:gd name="T9" fmla="*/ 3 h 25"/>
              <a:gd name="T10" fmla="*/ 0 w 25"/>
              <a:gd name="T11" fmla="*/ 0 h 2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"/>
              <a:gd name="T19" fmla="*/ 0 h 25"/>
              <a:gd name="T20" fmla="*/ 25 w 25"/>
              <a:gd name="T21" fmla="*/ 25 h 2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" h="25">
                <a:moveTo>
                  <a:pt x="0" y="0"/>
                </a:moveTo>
                <a:lnTo>
                  <a:pt x="0" y="25"/>
                </a:lnTo>
                <a:lnTo>
                  <a:pt x="25" y="13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36" name="Freeform 29"/>
          <p:cNvSpPr>
            <a:spLocks/>
          </p:cNvSpPr>
          <p:nvPr/>
        </p:nvSpPr>
        <p:spPr bwMode="auto">
          <a:xfrm>
            <a:off x="2884488" y="2659063"/>
            <a:ext cx="681037" cy="1382713"/>
          </a:xfrm>
          <a:custGeom>
            <a:avLst/>
            <a:gdLst>
              <a:gd name="T0" fmla="*/ 429 w 364"/>
              <a:gd name="T1" fmla="*/ 871 h 570"/>
              <a:gd name="T2" fmla="*/ 429 w 364"/>
              <a:gd name="T3" fmla="*/ 0 h 570"/>
              <a:gd name="T4" fmla="*/ 0 w 364"/>
              <a:gd name="T5" fmla="*/ 0 h 570"/>
              <a:gd name="T6" fmla="*/ 0 w 364"/>
              <a:gd name="T7" fmla="*/ 871 h 570"/>
              <a:gd name="T8" fmla="*/ 429 w 364"/>
              <a:gd name="T9" fmla="*/ 871 h 570"/>
              <a:gd name="T10" fmla="*/ 429 w 364"/>
              <a:gd name="T11" fmla="*/ 871 h 57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364"/>
              <a:gd name="T19" fmla="*/ 0 h 570"/>
              <a:gd name="T20" fmla="*/ 364 w 364"/>
              <a:gd name="T21" fmla="*/ 570 h 57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364" h="570">
                <a:moveTo>
                  <a:pt x="364" y="570"/>
                </a:moveTo>
                <a:lnTo>
                  <a:pt x="364" y="0"/>
                </a:lnTo>
                <a:lnTo>
                  <a:pt x="0" y="0"/>
                </a:lnTo>
                <a:lnTo>
                  <a:pt x="0" y="570"/>
                </a:lnTo>
                <a:lnTo>
                  <a:pt x="364" y="570"/>
                </a:lnTo>
              </a:path>
            </a:pathLst>
          </a:custGeom>
          <a:solidFill>
            <a:srgbClr val="CCFFFF"/>
          </a:solidFill>
          <a:ln w="1905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37" name="Freeform 30"/>
          <p:cNvSpPr>
            <a:spLocks/>
          </p:cNvSpPr>
          <p:nvPr/>
        </p:nvSpPr>
        <p:spPr bwMode="auto">
          <a:xfrm>
            <a:off x="2384107" y="3723640"/>
            <a:ext cx="5714999" cy="2205038"/>
          </a:xfrm>
          <a:custGeom>
            <a:avLst/>
            <a:gdLst>
              <a:gd name="T0" fmla="*/ 299 w 3050"/>
              <a:gd name="T1" fmla="*/ 99 h 910"/>
              <a:gd name="T2" fmla="*/ 0 w 3050"/>
              <a:gd name="T3" fmla="*/ 99 h 910"/>
              <a:gd name="T4" fmla="*/ 0 w 3050"/>
              <a:gd name="T5" fmla="*/ 1389 h 910"/>
              <a:gd name="T6" fmla="*/ 3600 w 3050"/>
              <a:gd name="T7" fmla="*/ 1389 h 910"/>
              <a:gd name="T8" fmla="*/ 3600 w 3050"/>
              <a:gd name="T9" fmla="*/ 0 h 910"/>
              <a:gd name="T10" fmla="*/ 3537 w 3050"/>
              <a:gd name="T11" fmla="*/ 0 h 91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3050"/>
              <a:gd name="T19" fmla="*/ 0 h 910"/>
              <a:gd name="T20" fmla="*/ 3050 w 3050"/>
              <a:gd name="T21" fmla="*/ 910 h 91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3050" h="910">
                <a:moveTo>
                  <a:pt x="253" y="65"/>
                </a:moveTo>
                <a:lnTo>
                  <a:pt x="0" y="65"/>
                </a:lnTo>
                <a:lnTo>
                  <a:pt x="0" y="910"/>
                </a:lnTo>
                <a:lnTo>
                  <a:pt x="3050" y="910"/>
                </a:lnTo>
                <a:lnTo>
                  <a:pt x="3050" y="0"/>
                </a:lnTo>
                <a:lnTo>
                  <a:pt x="2997" y="0"/>
                </a:lnTo>
              </a:path>
            </a:pathLst>
          </a:custGeom>
          <a:noFill/>
          <a:ln w="15875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38" name="Line 31"/>
          <p:cNvSpPr>
            <a:spLocks noChangeShapeType="1"/>
          </p:cNvSpPr>
          <p:nvPr/>
        </p:nvSpPr>
        <p:spPr bwMode="auto">
          <a:xfrm flipH="1">
            <a:off x="1974850" y="2822575"/>
            <a:ext cx="876300" cy="1588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39" name="Line 32"/>
          <p:cNvSpPr>
            <a:spLocks noChangeShapeType="1"/>
          </p:cNvSpPr>
          <p:nvPr/>
        </p:nvSpPr>
        <p:spPr bwMode="auto">
          <a:xfrm flipH="1">
            <a:off x="4638675" y="3963988"/>
            <a:ext cx="104775" cy="4763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40" name="Line 33"/>
          <p:cNvSpPr>
            <a:spLocks noChangeShapeType="1"/>
          </p:cNvSpPr>
          <p:nvPr/>
        </p:nvSpPr>
        <p:spPr bwMode="auto">
          <a:xfrm>
            <a:off x="1974850" y="3173413"/>
            <a:ext cx="879475" cy="3175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42" name="Line 35"/>
          <p:cNvSpPr>
            <a:spLocks noChangeShapeType="1"/>
          </p:cNvSpPr>
          <p:nvPr/>
        </p:nvSpPr>
        <p:spPr bwMode="auto">
          <a:xfrm flipH="1">
            <a:off x="4130675" y="3744913"/>
            <a:ext cx="612775" cy="3175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43" name="Line 36"/>
          <p:cNvSpPr>
            <a:spLocks noChangeShapeType="1"/>
          </p:cNvSpPr>
          <p:nvPr/>
        </p:nvSpPr>
        <p:spPr bwMode="auto">
          <a:xfrm flipH="1">
            <a:off x="3567113" y="3744913"/>
            <a:ext cx="336550" cy="3175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45" name="Freeform 38"/>
          <p:cNvSpPr>
            <a:spLocks/>
          </p:cNvSpPr>
          <p:nvPr/>
        </p:nvSpPr>
        <p:spPr bwMode="auto">
          <a:xfrm>
            <a:off x="2789238" y="1376363"/>
            <a:ext cx="374650" cy="1028700"/>
          </a:xfrm>
          <a:custGeom>
            <a:avLst/>
            <a:gdLst>
              <a:gd name="T0" fmla="*/ 118 w 200"/>
              <a:gd name="T1" fmla="*/ 648 h 425"/>
              <a:gd name="T2" fmla="*/ 136 w 200"/>
              <a:gd name="T3" fmla="*/ 645 h 425"/>
              <a:gd name="T4" fmla="*/ 155 w 200"/>
              <a:gd name="T5" fmla="*/ 633 h 425"/>
              <a:gd name="T6" fmla="*/ 172 w 200"/>
              <a:gd name="T7" fmla="*/ 613 h 425"/>
              <a:gd name="T8" fmla="*/ 189 w 200"/>
              <a:gd name="T9" fmla="*/ 585 h 425"/>
              <a:gd name="T10" fmla="*/ 202 w 200"/>
              <a:gd name="T11" fmla="*/ 553 h 425"/>
              <a:gd name="T12" fmla="*/ 214 w 200"/>
              <a:gd name="T13" fmla="*/ 517 h 425"/>
              <a:gd name="T14" fmla="*/ 222 w 200"/>
              <a:gd name="T15" fmla="*/ 473 h 425"/>
              <a:gd name="T16" fmla="*/ 231 w 200"/>
              <a:gd name="T17" fmla="*/ 425 h 425"/>
              <a:gd name="T18" fmla="*/ 236 w 200"/>
              <a:gd name="T19" fmla="*/ 377 h 425"/>
              <a:gd name="T20" fmla="*/ 236 w 200"/>
              <a:gd name="T21" fmla="*/ 323 h 425"/>
              <a:gd name="T22" fmla="*/ 236 w 200"/>
              <a:gd name="T23" fmla="*/ 271 h 425"/>
              <a:gd name="T24" fmla="*/ 231 w 200"/>
              <a:gd name="T25" fmla="*/ 221 h 425"/>
              <a:gd name="T26" fmla="*/ 222 w 200"/>
              <a:gd name="T27" fmla="*/ 175 h 425"/>
              <a:gd name="T28" fmla="*/ 214 w 200"/>
              <a:gd name="T29" fmla="*/ 134 h 425"/>
              <a:gd name="T30" fmla="*/ 202 w 200"/>
              <a:gd name="T31" fmla="*/ 96 h 425"/>
              <a:gd name="T32" fmla="*/ 189 w 200"/>
              <a:gd name="T33" fmla="*/ 64 h 425"/>
              <a:gd name="T34" fmla="*/ 172 w 200"/>
              <a:gd name="T35" fmla="*/ 38 h 425"/>
              <a:gd name="T36" fmla="*/ 155 w 200"/>
              <a:gd name="T37" fmla="*/ 17 h 425"/>
              <a:gd name="T38" fmla="*/ 136 w 200"/>
              <a:gd name="T39" fmla="*/ 6 h 425"/>
              <a:gd name="T40" fmla="*/ 118 w 200"/>
              <a:gd name="T41" fmla="*/ 0 h 425"/>
              <a:gd name="T42" fmla="*/ 98 w 200"/>
              <a:gd name="T43" fmla="*/ 6 h 425"/>
              <a:gd name="T44" fmla="*/ 80 w 200"/>
              <a:gd name="T45" fmla="*/ 17 h 425"/>
              <a:gd name="T46" fmla="*/ 64 w 200"/>
              <a:gd name="T47" fmla="*/ 38 h 425"/>
              <a:gd name="T48" fmla="*/ 48 w 200"/>
              <a:gd name="T49" fmla="*/ 64 h 425"/>
              <a:gd name="T50" fmla="*/ 34 w 200"/>
              <a:gd name="T51" fmla="*/ 96 h 425"/>
              <a:gd name="T52" fmla="*/ 24 w 200"/>
              <a:gd name="T53" fmla="*/ 134 h 425"/>
              <a:gd name="T54" fmla="*/ 14 w 200"/>
              <a:gd name="T55" fmla="*/ 175 h 425"/>
              <a:gd name="T56" fmla="*/ 5 w 200"/>
              <a:gd name="T57" fmla="*/ 221 h 425"/>
              <a:gd name="T58" fmla="*/ 0 w 200"/>
              <a:gd name="T59" fmla="*/ 271 h 425"/>
              <a:gd name="T60" fmla="*/ 0 w 200"/>
              <a:gd name="T61" fmla="*/ 323 h 425"/>
              <a:gd name="T62" fmla="*/ 0 w 200"/>
              <a:gd name="T63" fmla="*/ 377 h 425"/>
              <a:gd name="T64" fmla="*/ 5 w 200"/>
              <a:gd name="T65" fmla="*/ 425 h 425"/>
              <a:gd name="T66" fmla="*/ 14 w 200"/>
              <a:gd name="T67" fmla="*/ 473 h 425"/>
              <a:gd name="T68" fmla="*/ 24 w 200"/>
              <a:gd name="T69" fmla="*/ 517 h 425"/>
              <a:gd name="T70" fmla="*/ 34 w 200"/>
              <a:gd name="T71" fmla="*/ 553 h 425"/>
              <a:gd name="T72" fmla="*/ 48 w 200"/>
              <a:gd name="T73" fmla="*/ 585 h 425"/>
              <a:gd name="T74" fmla="*/ 64 w 200"/>
              <a:gd name="T75" fmla="*/ 613 h 425"/>
              <a:gd name="T76" fmla="*/ 80 w 200"/>
              <a:gd name="T77" fmla="*/ 633 h 425"/>
              <a:gd name="T78" fmla="*/ 98 w 200"/>
              <a:gd name="T79" fmla="*/ 645 h 425"/>
              <a:gd name="T80" fmla="*/ 118 w 200"/>
              <a:gd name="T81" fmla="*/ 648 h 425"/>
              <a:gd name="T82" fmla="*/ 118 w 200"/>
              <a:gd name="T83" fmla="*/ 648 h 425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w 200"/>
              <a:gd name="T127" fmla="*/ 0 h 425"/>
              <a:gd name="T128" fmla="*/ 200 w 200"/>
              <a:gd name="T129" fmla="*/ 425 h 425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T126" t="T127" r="T128" b="T129"/>
            <a:pathLst>
              <a:path w="200" h="425">
                <a:moveTo>
                  <a:pt x="100" y="425"/>
                </a:moveTo>
                <a:lnTo>
                  <a:pt x="115" y="423"/>
                </a:lnTo>
                <a:lnTo>
                  <a:pt x="131" y="415"/>
                </a:lnTo>
                <a:lnTo>
                  <a:pt x="146" y="402"/>
                </a:lnTo>
                <a:lnTo>
                  <a:pt x="160" y="384"/>
                </a:lnTo>
                <a:lnTo>
                  <a:pt x="171" y="363"/>
                </a:lnTo>
                <a:lnTo>
                  <a:pt x="181" y="339"/>
                </a:lnTo>
                <a:lnTo>
                  <a:pt x="188" y="310"/>
                </a:lnTo>
                <a:lnTo>
                  <a:pt x="196" y="279"/>
                </a:lnTo>
                <a:lnTo>
                  <a:pt x="200" y="247"/>
                </a:lnTo>
                <a:lnTo>
                  <a:pt x="200" y="212"/>
                </a:lnTo>
                <a:lnTo>
                  <a:pt x="200" y="178"/>
                </a:lnTo>
                <a:lnTo>
                  <a:pt x="196" y="145"/>
                </a:lnTo>
                <a:lnTo>
                  <a:pt x="188" y="115"/>
                </a:lnTo>
                <a:lnTo>
                  <a:pt x="181" y="88"/>
                </a:lnTo>
                <a:lnTo>
                  <a:pt x="171" y="63"/>
                </a:lnTo>
                <a:lnTo>
                  <a:pt x="160" y="42"/>
                </a:lnTo>
                <a:lnTo>
                  <a:pt x="146" y="25"/>
                </a:lnTo>
                <a:lnTo>
                  <a:pt x="131" y="11"/>
                </a:lnTo>
                <a:lnTo>
                  <a:pt x="115" y="4"/>
                </a:lnTo>
                <a:lnTo>
                  <a:pt x="100" y="0"/>
                </a:lnTo>
                <a:lnTo>
                  <a:pt x="83" y="4"/>
                </a:lnTo>
                <a:lnTo>
                  <a:pt x="68" y="11"/>
                </a:lnTo>
                <a:lnTo>
                  <a:pt x="54" y="25"/>
                </a:lnTo>
                <a:lnTo>
                  <a:pt x="41" y="42"/>
                </a:lnTo>
                <a:lnTo>
                  <a:pt x="29" y="63"/>
                </a:lnTo>
                <a:lnTo>
                  <a:pt x="20" y="88"/>
                </a:lnTo>
                <a:lnTo>
                  <a:pt x="12" y="115"/>
                </a:lnTo>
                <a:lnTo>
                  <a:pt x="4" y="145"/>
                </a:lnTo>
                <a:lnTo>
                  <a:pt x="0" y="178"/>
                </a:lnTo>
                <a:lnTo>
                  <a:pt x="0" y="212"/>
                </a:lnTo>
                <a:lnTo>
                  <a:pt x="0" y="247"/>
                </a:lnTo>
                <a:lnTo>
                  <a:pt x="4" y="279"/>
                </a:lnTo>
                <a:lnTo>
                  <a:pt x="12" y="310"/>
                </a:lnTo>
                <a:lnTo>
                  <a:pt x="20" y="339"/>
                </a:lnTo>
                <a:lnTo>
                  <a:pt x="29" y="363"/>
                </a:lnTo>
                <a:lnTo>
                  <a:pt x="41" y="384"/>
                </a:lnTo>
                <a:lnTo>
                  <a:pt x="54" y="402"/>
                </a:lnTo>
                <a:lnTo>
                  <a:pt x="68" y="415"/>
                </a:lnTo>
                <a:lnTo>
                  <a:pt x="83" y="423"/>
                </a:lnTo>
                <a:lnTo>
                  <a:pt x="100" y="425"/>
                </a:lnTo>
              </a:path>
            </a:pathLst>
          </a:custGeom>
          <a:solidFill>
            <a:srgbClr val="FFE6CD"/>
          </a:solidFill>
          <a:ln w="28575" cap="flat" cmpd="sng">
            <a:solidFill>
              <a:srgbClr val="EB75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46" name="Rectangle 39"/>
          <p:cNvSpPr>
            <a:spLocks noChangeArrowheads="1"/>
          </p:cNvSpPr>
          <p:nvPr/>
        </p:nvSpPr>
        <p:spPr bwMode="auto">
          <a:xfrm rot="16200000" flipH="1">
            <a:off x="2730619" y="1798380"/>
            <a:ext cx="474425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200">
                <a:solidFill>
                  <a:srgbClr val="EB7500"/>
                </a:solidFill>
                <a:latin typeface="+mj-lt"/>
              </a:rPr>
              <a:t>Control</a:t>
            </a:r>
            <a:endParaRPr lang="en-US" sz="1200">
              <a:latin typeface="+mj-lt"/>
            </a:endParaRPr>
          </a:p>
        </p:txBody>
      </p:sp>
      <p:sp>
        <p:nvSpPr>
          <p:cNvPr id="47" name="Freeform 40"/>
          <p:cNvSpPr>
            <a:spLocks/>
          </p:cNvSpPr>
          <p:nvPr/>
        </p:nvSpPr>
        <p:spPr bwMode="auto">
          <a:xfrm>
            <a:off x="1585913" y="2482850"/>
            <a:ext cx="182562" cy="2738438"/>
          </a:xfrm>
          <a:custGeom>
            <a:avLst/>
            <a:gdLst>
              <a:gd name="T0" fmla="*/ 113 w 98"/>
              <a:gd name="T1" fmla="*/ 1722 h 1130"/>
              <a:gd name="T2" fmla="*/ 115 w 98"/>
              <a:gd name="T3" fmla="*/ 0 h 1130"/>
              <a:gd name="T4" fmla="*/ 0 w 98"/>
              <a:gd name="T5" fmla="*/ 0 h 1130"/>
              <a:gd name="T6" fmla="*/ 0 w 98"/>
              <a:gd name="T7" fmla="*/ 1725 h 1130"/>
              <a:gd name="T8" fmla="*/ 115 w 98"/>
              <a:gd name="T9" fmla="*/ 1725 h 1130"/>
              <a:gd name="T10" fmla="*/ 115 w 98"/>
              <a:gd name="T11" fmla="*/ 1725 h 113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98"/>
              <a:gd name="T19" fmla="*/ 0 h 1130"/>
              <a:gd name="T20" fmla="*/ 98 w 98"/>
              <a:gd name="T21" fmla="*/ 1130 h 113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98" h="1130">
                <a:moveTo>
                  <a:pt x="96" y="1128"/>
                </a:moveTo>
                <a:lnTo>
                  <a:pt x="98" y="0"/>
                </a:lnTo>
                <a:lnTo>
                  <a:pt x="0" y="0"/>
                </a:lnTo>
                <a:lnTo>
                  <a:pt x="0" y="1130"/>
                </a:lnTo>
                <a:lnTo>
                  <a:pt x="98" y="1130"/>
                </a:lnTo>
              </a:path>
            </a:pathLst>
          </a:custGeom>
          <a:solidFill>
            <a:srgbClr val="CCECFF"/>
          </a:solidFill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48" name="Freeform 41"/>
          <p:cNvSpPr>
            <a:spLocks/>
          </p:cNvSpPr>
          <p:nvPr/>
        </p:nvSpPr>
        <p:spPr bwMode="auto">
          <a:xfrm>
            <a:off x="4616450" y="3933825"/>
            <a:ext cx="47625" cy="61913"/>
          </a:xfrm>
          <a:custGeom>
            <a:avLst/>
            <a:gdLst>
              <a:gd name="T0" fmla="*/ 14 w 25"/>
              <a:gd name="T1" fmla="*/ 39 h 25"/>
              <a:gd name="T2" fmla="*/ 17 w 25"/>
              <a:gd name="T3" fmla="*/ 39 h 25"/>
              <a:gd name="T4" fmla="*/ 19 w 25"/>
              <a:gd name="T5" fmla="*/ 39 h 25"/>
              <a:gd name="T6" fmla="*/ 22 w 25"/>
              <a:gd name="T7" fmla="*/ 36 h 25"/>
              <a:gd name="T8" fmla="*/ 24 w 25"/>
              <a:gd name="T9" fmla="*/ 36 h 25"/>
              <a:gd name="T10" fmla="*/ 25 w 25"/>
              <a:gd name="T11" fmla="*/ 34 h 25"/>
              <a:gd name="T12" fmla="*/ 25 w 25"/>
              <a:gd name="T13" fmla="*/ 31 h 25"/>
              <a:gd name="T14" fmla="*/ 28 w 25"/>
              <a:gd name="T15" fmla="*/ 31 h 25"/>
              <a:gd name="T16" fmla="*/ 28 w 25"/>
              <a:gd name="T17" fmla="*/ 28 h 25"/>
              <a:gd name="T18" fmla="*/ 30 w 25"/>
              <a:gd name="T19" fmla="*/ 25 h 25"/>
              <a:gd name="T20" fmla="*/ 30 w 25"/>
              <a:gd name="T21" fmla="*/ 22 h 25"/>
              <a:gd name="T22" fmla="*/ 30 w 25"/>
              <a:gd name="T23" fmla="*/ 19 h 25"/>
              <a:gd name="T24" fmla="*/ 28 w 25"/>
              <a:gd name="T25" fmla="*/ 16 h 25"/>
              <a:gd name="T26" fmla="*/ 28 w 25"/>
              <a:gd name="T27" fmla="*/ 12 h 25"/>
              <a:gd name="T28" fmla="*/ 25 w 25"/>
              <a:gd name="T29" fmla="*/ 9 h 25"/>
              <a:gd name="T30" fmla="*/ 25 w 25"/>
              <a:gd name="T31" fmla="*/ 6 h 25"/>
              <a:gd name="T32" fmla="*/ 24 w 25"/>
              <a:gd name="T33" fmla="*/ 6 h 25"/>
              <a:gd name="T34" fmla="*/ 22 w 25"/>
              <a:gd name="T35" fmla="*/ 3 h 25"/>
              <a:gd name="T36" fmla="*/ 19 w 25"/>
              <a:gd name="T37" fmla="*/ 3 h 25"/>
              <a:gd name="T38" fmla="*/ 17 w 25"/>
              <a:gd name="T39" fmla="*/ 0 h 25"/>
              <a:gd name="T40" fmla="*/ 14 w 25"/>
              <a:gd name="T41" fmla="*/ 0 h 25"/>
              <a:gd name="T42" fmla="*/ 12 w 25"/>
              <a:gd name="T43" fmla="*/ 0 h 25"/>
              <a:gd name="T44" fmla="*/ 10 w 25"/>
              <a:gd name="T45" fmla="*/ 3 h 25"/>
              <a:gd name="T46" fmla="*/ 7 w 25"/>
              <a:gd name="T47" fmla="*/ 3 h 25"/>
              <a:gd name="T48" fmla="*/ 7 w 25"/>
              <a:gd name="T49" fmla="*/ 6 h 25"/>
              <a:gd name="T50" fmla="*/ 5 w 25"/>
              <a:gd name="T51" fmla="*/ 6 h 25"/>
              <a:gd name="T52" fmla="*/ 2 w 25"/>
              <a:gd name="T53" fmla="*/ 9 h 25"/>
              <a:gd name="T54" fmla="*/ 2 w 25"/>
              <a:gd name="T55" fmla="*/ 12 h 25"/>
              <a:gd name="T56" fmla="*/ 0 w 25"/>
              <a:gd name="T57" fmla="*/ 16 h 25"/>
              <a:gd name="T58" fmla="*/ 0 w 25"/>
              <a:gd name="T59" fmla="*/ 19 h 25"/>
              <a:gd name="T60" fmla="*/ 0 w 25"/>
              <a:gd name="T61" fmla="*/ 22 h 25"/>
              <a:gd name="T62" fmla="*/ 0 w 25"/>
              <a:gd name="T63" fmla="*/ 25 h 25"/>
              <a:gd name="T64" fmla="*/ 0 w 25"/>
              <a:gd name="T65" fmla="*/ 28 h 25"/>
              <a:gd name="T66" fmla="*/ 2 w 25"/>
              <a:gd name="T67" fmla="*/ 31 h 25"/>
              <a:gd name="T68" fmla="*/ 2 w 25"/>
              <a:gd name="T69" fmla="*/ 31 h 25"/>
              <a:gd name="T70" fmla="*/ 5 w 25"/>
              <a:gd name="T71" fmla="*/ 34 h 25"/>
              <a:gd name="T72" fmla="*/ 7 w 25"/>
              <a:gd name="T73" fmla="*/ 36 h 25"/>
              <a:gd name="T74" fmla="*/ 7 w 25"/>
              <a:gd name="T75" fmla="*/ 36 h 25"/>
              <a:gd name="T76" fmla="*/ 10 w 25"/>
              <a:gd name="T77" fmla="*/ 39 h 25"/>
              <a:gd name="T78" fmla="*/ 12 w 25"/>
              <a:gd name="T79" fmla="*/ 39 h 25"/>
              <a:gd name="T80" fmla="*/ 14 w 25"/>
              <a:gd name="T81" fmla="*/ 39 h 25"/>
              <a:gd name="T82" fmla="*/ 14 w 25"/>
              <a:gd name="T83" fmla="*/ 39 h 25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w 25"/>
              <a:gd name="T127" fmla="*/ 0 h 25"/>
              <a:gd name="T128" fmla="*/ 25 w 25"/>
              <a:gd name="T129" fmla="*/ 25 h 25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T126" t="T127" r="T128" b="T129"/>
            <a:pathLst>
              <a:path w="25" h="25">
                <a:moveTo>
                  <a:pt x="12" y="25"/>
                </a:moveTo>
                <a:lnTo>
                  <a:pt x="14" y="25"/>
                </a:lnTo>
                <a:lnTo>
                  <a:pt x="16" y="25"/>
                </a:lnTo>
                <a:lnTo>
                  <a:pt x="18" y="23"/>
                </a:lnTo>
                <a:lnTo>
                  <a:pt x="20" y="23"/>
                </a:lnTo>
                <a:lnTo>
                  <a:pt x="21" y="22"/>
                </a:lnTo>
                <a:lnTo>
                  <a:pt x="21" y="20"/>
                </a:lnTo>
                <a:lnTo>
                  <a:pt x="23" y="20"/>
                </a:lnTo>
                <a:lnTo>
                  <a:pt x="23" y="18"/>
                </a:lnTo>
                <a:lnTo>
                  <a:pt x="25" y="16"/>
                </a:lnTo>
                <a:lnTo>
                  <a:pt x="25" y="14"/>
                </a:lnTo>
                <a:lnTo>
                  <a:pt x="25" y="12"/>
                </a:lnTo>
                <a:lnTo>
                  <a:pt x="23" y="10"/>
                </a:lnTo>
                <a:lnTo>
                  <a:pt x="23" y="8"/>
                </a:lnTo>
                <a:lnTo>
                  <a:pt x="21" y="6"/>
                </a:lnTo>
                <a:lnTo>
                  <a:pt x="21" y="4"/>
                </a:lnTo>
                <a:lnTo>
                  <a:pt x="20" y="4"/>
                </a:lnTo>
                <a:lnTo>
                  <a:pt x="18" y="2"/>
                </a:lnTo>
                <a:lnTo>
                  <a:pt x="16" y="2"/>
                </a:lnTo>
                <a:lnTo>
                  <a:pt x="14" y="0"/>
                </a:lnTo>
                <a:lnTo>
                  <a:pt x="12" y="0"/>
                </a:lnTo>
                <a:lnTo>
                  <a:pt x="10" y="0"/>
                </a:lnTo>
                <a:lnTo>
                  <a:pt x="8" y="2"/>
                </a:lnTo>
                <a:lnTo>
                  <a:pt x="6" y="2"/>
                </a:lnTo>
                <a:lnTo>
                  <a:pt x="6" y="4"/>
                </a:lnTo>
                <a:lnTo>
                  <a:pt x="4" y="4"/>
                </a:lnTo>
                <a:lnTo>
                  <a:pt x="2" y="6"/>
                </a:lnTo>
                <a:lnTo>
                  <a:pt x="2" y="8"/>
                </a:lnTo>
                <a:lnTo>
                  <a:pt x="0" y="10"/>
                </a:lnTo>
                <a:lnTo>
                  <a:pt x="0" y="12"/>
                </a:lnTo>
                <a:lnTo>
                  <a:pt x="0" y="14"/>
                </a:lnTo>
                <a:lnTo>
                  <a:pt x="0" y="16"/>
                </a:lnTo>
                <a:lnTo>
                  <a:pt x="0" y="18"/>
                </a:lnTo>
                <a:lnTo>
                  <a:pt x="2" y="20"/>
                </a:lnTo>
                <a:lnTo>
                  <a:pt x="4" y="22"/>
                </a:lnTo>
                <a:lnTo>
                  <a:pt x="6" y="23"/>
                </a:lnTo>
                <a:lnTo>
                  <a:pt x="8" y="25"/>
                </a:lnTo>
                <a:lnTo>
                  <a:pt x="10" y="25"/>
                </a:lnTo>
                <a:lnTo>
                  <a:pt x="12" y="25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49" name="Freeform 42"/>
          <p:cNvSpPr>
            <a:spLocks/>
          </p:cNvSpPr>
          <p:nvPr/>
        </p:nvSpPr>
        <p:spPr bwMode="auto">
          <a:xfrm>
            <a:off x="3940175" y="2482850"/>
            <a:ext cx="182562" cy="2738438"/>
          </a:xfrm>
          <a:custGeom>
            <a:avLst/>
            <a:gdLst>
              <a:gd name="T0" fmla="*/ 113 w 98"/>
              <a:gd name="T1" fmla="*/ 1722 h 1130"/>
              <a:gd name="T2" fmla="*/ 115 w 98"/>
              <a:gd name="T3" fmla="*/ 0 h 1130"/>
              <a:gd name="T4" fmla="*/ 0 w 98"/>
              <a:gd name="T5" fmla="*/ 0 h 1130"/>
              <a:gd name="T6" fmla="*/ 0 w 98"/>
              <a:gd name="T7" fmla="*/ 1725 h 1130"/>
              <a:gd name="T8" fmla="*/ 115 w 98"/>
              <a:gd name="T9" fmla="*/ 1725 h 1130"/>
              <a:gd name="T10" fmla="*/ 115 w 98"/>
              <a:gd name="T11" fmla="*/ 1725 h 113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98"/>
              <a:gd name="T19" fmla="*/ 0 h 1130"/>
              <a:gd name="T20" fmla="*/ 98 w 98"/>
              <a:gd name="T21" fmla="*/ 1130 h 113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98" h="1130">
                <a:moveTo>
                  <a:pt x="96" y="1128"/>
                </a:moveTo>
                <a:lnTo>
                  <a:pt x="98" y="0"/>
                </a:lnTo>
                <a:lnTo>
                  <a:pt x="0" y="0"/>
                </a:lnTo>
                <a:lnTo>
                  <a:pt x="0" y="1130"/>
                </a:lnTo>
                <a:lnTo>
                  <a:pt x="98" y="1130"/>
                </a:lnTo>
              </a:path>
            </a:pathLst>
          </a:custGeom>
          <a:solidFill>
            <a:srgbClr val="CCECFF"/>
          </a:solidFill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50" name="Freeform 43"/>
          <p:cNvSpPr>
            <a:spLocks/>
          </p:cNvSpPr>
          <p:nvPr/>
        </p:nvSpPr>
        <p:spPr bwMode="auto">
          <a:xfrm>
            <a:off x="1531938" y="3517900"/>
            <a:ext cx="46037" cy="60325"/>
          </a:xfrm>
          <a:custGeom>
            <a:avLst/>
            <a:gdLst>
              <a:gd name="T0" fmla="*/ 0 w 25"/>
              <a:gd name="T1" fmla="*/ 0 h 25"/>
              <a:gd name="T2" fmla="*/ 2 w 25"/>
              <a:gd name="T3" fmla="*/ 38 h 25"/>
              <a:gd name="T4" fmla="*/ 29 w 25"/>
              <a:gd name="T5" fmla="*/ 21 h 25"/>
              <a:gd name="T6" fmla="*/ 2 w 25"/>
              <a:gd name="T7" fmla="*/ 0 h 25"/>
              <a:gd name="T8" fmla="*/ 2 w 25"/>
              <a:gd name="T9" fmla="*/ 0 h 25"/>
              <a:gd name="T10" fmla="*/ 0 w 25"/>
              <a:gd name="T11" fmla="*/ 0 h 2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"/>
              <a:gd name="T19" fmla="*/ 0 h 25"/>
              <a:gd name="T20" fmla="*/ 25 w 25"/>
              <a:gd name="T21" fmla="*/ 25 h 2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" h="25">
                <a:moveTo>
                  <a:pt x="0" y="0"/>
                </a:moveTo>
                <a:lnTo>
                  <a:pt x="2" y="25"/>
                </a:lnTo>
                <a:lnTo>
                  <a:pt x="25" y="14"/>
                </a:lnTo>
                <a:lnTo>
                  <a:pt x="2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51" name="Line 44"/>
          <p:cNvSpPr>
            <a:spLocks noChangeShapeType="1"/>
          </p:cNvSpPr>
          <p:nvPr/>
        </p:nvSpPr>
        <p:spPr bwMode="auto">
          <a:xfrm>
            <a:off x="1449388" y="3546475"/>
            <a:ext cx="96837" cy="4763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53" name="Line 46"/>
          <p:cNvSpPr>
            <a:spLocks noChangeShapeType="1"/>
          </p:cNvSpPr>
          <p:nvPr/>
        </p:nvSpPr>
        <p:spPr bwMode="auto">
          <a:xfrm flipH="1">
            <a:off x="3571875" y="2817813"/>
            <a:ext cx="331787" cy="4763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55" name="Freeform 48"/>
          <p:cNvSpPr>
            <a:spLocks/>
          </p:cNvSpPr>
          <p:nvPr/>
        </p:nvSpPr>
        <p:spPr bwMode="auto">
          <a:xfrm>
            <a:off x="2074863" y="2822575"/>
            <a:ext cx="1833562" cy="1633538"/>
          </a:xfrm>
          <a:custGeom>
            <a:avLst/>
            <a:gdLst>
              <a:gd name="T0" fmla="*/ 1155 w 978"/>
              <a:gd name="T1" fmla="*/ 1026 h 674"/>
              <a:gd name="T2" fmla="*/ 0 w 978"/>
              <a:gd name="T3" fmla="*/ 1029 h 674"/>
              <a:gd name="T4" fmla="*/ 0 w 978"/>
              <a:gd name="T5" fmla="*/ 0 h 674"/>
              <a:gd name="T6" fmla="*/ 0 60000 65536"/>
              <a:gd name="T7" fmla="*/ 0 60000 65536"/>
              <a:gd name="T8" fmla="*/ 0 60000 65536"/>
              <a:gd name="T9" fmla="*/ 0 w 978"/>
              <a:gd name="T10" fmla="*/ 0 h 674"/>
              <a:gd name="T11" fmla="*/ 978 w 978"/>
              <a:gd name="T12" fmla="*/ 674 h 67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78" h="674">
                <a:moveTo>
                  <a:pt x="978" y="672"/>
                </a:moveTo>
                <a:lnTo>
                  <a:pt x="0" y="674"/>
                </a:lnTo>
                <a:lnTo>
                  <a:pt x="0" y="0"/>
                </a:lnTo>
              </a:path>
            </a:pathLst>
          </a:custGeom>
          <a:noFill/>
          <a:ln w="15875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56" name="Rectangle 49"/>
          <p:cNvSpPr>
            <a:spLocks noChangeArrowheads="1"/>
          </p:cNvSpPr>
          <p:nvPr/>
        </p:nvSpPr>
        <p:spPr bwMode="auto">
          <a:xfrm>
            <a:off x="3971925" y="2219325"/>
            <a:ext cx="102592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>
                <a:solidFill>
                  <a:srgbClr val="EB7500"/>
                </a:solidFill>
                <a:latin typeface="+mj-lt"/>
              </a:rPr>
              <a:t>EX</a:t>
            </a:r>
            <a:endParaRPr lang="en-US" sz="800">
              <a:latin typeface="+mj-lt"/>
            </a:endParaRPr>
          </a:p>
        </p:txBody>
      </p:sp>
      <p:sp>
        <p:nvSpPr>
          <p:cNvPr id="57" name="Freeform 50"/>
          <p:cNvSpPr>
            <a:spLocks/>
          </p:cNvSpPr>
          <p:nvPr/>
        </p:nvSpPr>
        <p:spPr bwMode="auto">
          <a:xfrm>
            <a:off x="3946525" y="1690688"/>
            <a:ext cx="184150" cy="400050"/>
          </a:xfrm>
          <a:custGeom>
            <a:avLst/>
            <a:gdLst>
              <a:gd name="T0" fmla="*/ 114 w 98"/>
              <a:gd name="T1" fmla="*/ 249 h 165"/>
              <a:gd name="T2" fmla="*/ 116 w 98"/>
              <a:gd name="T3" fmla="*/ 0 h 165"/>
              <a:gd name="T4" fmla="*/ 0 w 98"/>
              <a:gd name="T5" fmla="*/ 0 h 165"/>
              <a:gd name="T6" fmla="*/ 0 w 98"/>
              <a:gd name="T7" fmla="*/ 252 h 165"/>
              <a:gd name="T8" fmla="*/ 116 w 98"/>
              <a:gd name="T9" fmla="*/ 252 h 165"/>
              <a:gd name="T10" fmla="*/ 116 w 98"/>
              <a:gd name="T11" fmla="*/ 252 h 16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98"/>
              <a:gd name="T19" fmla="*/ 0 h 165"/>
              <a:gd name="T20" fmla="*/ 98 w 98"/>
              <a:gd name="T21" fmla="*/ 165 h 16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98" h="165">
                <a:moveTo>
                  <a:pt x="96" y="163"/>
                </a:moveTo>
                <a:lnTo>
                  <a:pt x="98" y="0"/>
                </a:lnTo>
                <a:lnTo>
                  <a:pt x="0" y="0"/>
                </a:lnTo>
                <a:lnTo>
                  <a:pt x="0" y="165"/>
                </a:lnTo>
                <a:lnTo>
                  <a:pt x="98" y="165"/>
                </a:lnTo>
              </a:path>
            </a:pathLst>
          </a:custGeom>
          <a:solidFill>
            <a:srgbClr val="FFE6CD"/>
          </a:solidFill>
          <a:ln w="28575" cap="flat" cmpd="sng">
            <a:solidFill>
              <a:srgbClr val="EB75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58" name="Rectangle 51"/>
          <p:cNvSpPr>
            <a:spLocks noChangeArrowheads="1"/>
          </p:cNvSpPr>
          <p:nvPr/>
        </p:nvSpPr>
        <p:spPr bwMode="auto">
          <a:xfrm>
            <a:off x="4002088" y="1820863"/>
            <a:ext cx="88166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>
                <a:solidFill>
                  <a:srgbClr val="EB7500"/>
                </a:solidFill>
                <a:latin typeface="+mj-lt"/>
              </a:rPr>
              <a:t>M</a:t>
            </a:r>
            <a:endParaRPr lang="en-US" sz="1200">
              <a:latin typeface="+mj-lt"/>
            </a:endParaRPr>
          </a:p>
        </p:txBody>
      </p:sp>
      <p:sp>
        <p:nvSpPr>
          <p:cNvPr id="59" name="Freeform 52"/>
          <p:cNvSpPr>
            <a:spLocks/>
          </p:cNvSpPr>
          <p:nvPr/>
        </p:nvSpPr>
        <p:spPr bwMode="auto">
          <a:xfrm>
            <a:off x="3946525" y="1295400"/>
            <a:ext cx="184150" cy="395288"/>
          </a:xfrm>
          <a:custGeom>
            <a:avLst/>
            <a:gdLst>
              <a:gd name="T0" fmla="*/ 114 w 98"/>
              <a:gd name="T1" fmla="*/ 249 h 163"/>
              <a:gd name="T2" fmla="*/ 116 w 98"/>
              <a:gd name="T3" fmla="*/ 0 h 163"/>
              <a:gd name="T4" fmla="*/ 0 w 98"/>
              <a:gd name="T5" fmla="*/ 0 h 163"/>
              <a:gd name="T6" fmla="*/ 0 w 98"/>
              <a:gd name="T7" fmla="*/ 249 h 163"/>
              <a:gd name="T8" fmla="*/ 116 w 98"/>
              <a:gd name="T9" fmla="*/ 249 h 163"/>
              <a:gd name="T10" fmla="*/ 116 w 98"/>
              <a:gd name="T11" fmla="*/ 249 h 16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98"/>
              <a:gd name="T19" fmla="*/ 0 h 163"/>
              <a:gd name="T20" fmla="*/ 98 w 98"/>
              <a:gd name="T21" fmla="*/ 163 h 16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98" h="163">
                <a:moveTo>
                  <a:pt x="96" y="163"/>
                </a:moveTo>
                <a:lnTo>
                  <a:pt x="98" y="0"/>
                </a:lnTo>
                <a:lnTo>
                  <a:pt x="0" y="0"/>
                </a:lnTo>
                <a:lnTo>
                  <a:pt x="0" y="163"/>
                </a:lnTo>
                <a:lnTo>
                  <a:pt x="98" y="163"/>
                </a:lnTo>
              </a:path>
            </a:pathLst>
          </a:custGeom>
          <a:solidFill>
            <a:srgbClr val="FFE6CD"/>
          </a:solidFill>
          <a:ln w="28575" cap="flat" cmpd="sng">
            <a:solidFill>
              <a:srgbClr val="EB75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60" name="Rectangle 53"/>
          <p:cNvSpPr>
            <a:spLocks noChangeArrowheads="1"/>
          </p:cNvSpPr>
          <p:nvPr/>
        </p:nvSpPr>
        <p:spPr bwMode="auto">
          <a:xfrm>
            <a:off x="3962400" y="1427163"/>
            <a:ext cx="147476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>
                <a:solidFill>
                  <a:srgbClr val="EB7500"/>
                </a:solidFill>
                <a:latin typeface="+mj-lt"/>
              </a:rPr>
              <a:t>WB</a:t>
            </a:r>
            <a:endParaRPr lang="en-US" sz="1200">
              <a:latin typeface="+mj-lt"/>
            </a:endParaRPr>
          </a:p>
        </p:txBody>
      </p:sp>
      <p:sp>
        <p:nvSpPr>
          <p:cNvPr id="61" name="Freeform 54"/>
          <p:cNvSpPr>
            <a:spLocks/>
          </p:cNvSpPr>
          <p:nvPr/>
        </p:nvSpPr>
        <p:spPr bwMode="auto">
          <a:xfrm>
            <a:off x="3890963" y="2255838"/>
            <a:ext cx="47625" cy="60325"/>
          </a:xfrm>
          <a:custGeom>
            <a:avLst/>
            <a:gdLst>
              <a:gd name="T0" fmla="*/ 0 w 25"/>
              <a:gd name="T1" fmla="*/ 0 h 25"/>
              <a:gd name="T2" fmla="*/ 2 w 25"/>
              <a:gd name="T3" fmla="*/ 38 h 25"/>
              <a:gd name="T4" fmla="*/ 30 w 25"/>
              <a:gd name="T5" fmla="*/ 21 h 25"/>
              <a:gd name="T6" fmla="*/ 2 w 25"/>
              <a:gd name="T7" fmla="*/ 0 h 25"/>
              <a:gd name="T8" fmla="*/ 2 w 25"/>
              <a:gd name="T9" fmla="*/ 0 h 25"/>
              <a:gd name="T10" fmla="*/ 0 w 25"/>
              <a:gd name="T11" fmla="*/ 0 h 2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"/>
              <a:gd name="T19" fmla="*/ 0 h 25"/>
              <a:gd name="T20" fmla="*/ 25 w 25"/>
              <a:gd name="T21" fmla="*/ 25 h 2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" h="25">
                <a:moveTo>
                  <a:pt x="0" y="0"/>
                </a:moveTo>
                <a:lnTo>
                  <a:pt x="2" y="25"/>
                </a:lnTo>
                <a:lnTo>
                  <a:pt x="25" y="14"/>
                </a:lnTo>
                <a:lnTo>
                  <a:pt x="2" y="0"/>
                </a:lnTo>
                <a:lnTo>
                  <a:pt x="0" y="0"/>
                </a:lnTo>
                <a:close/>
              </a:path>
            </a:pathLst>
          </a:custGeom>
          <a:solidFill>
            <a:srgbClr val="EB75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62" name="Freeform 55"/>
          <p:cNvSpPr>
            <a:spLocks/>
          </p:cNvSpPr>
          <p:nvPr/>
        </p:nvSpPr>
        <p:spPr bwMode="auto">
          <a:xfrm>
            <a:off x="3890963" y="1462088"/>
            <a:ext cx="47625" cy="61913"/>
          </a:xfrm>
          <a:custGeom>
            <a:avLst/>
            <a:gdLst>
              <a:gd name="T0" fmla="*/ 0 w 25"/>
              <a:gd name="T1" fmla="*/ 0 h 25"/>
              <a:gd name="T2" fmla="*/ 2 w 25"/>
              <a:gd name="T3" fmla="*/ 39 h 25"/>
              <a:gd name="T4" fmla="*/ 30 w 25"/>
              <a:gd name="T5" fmla="*/ 20 h 25"/>
              <a:gd name="T6" fmla="*/ 2 w 25"/>
              <a:gd name="T7" fmla="*/ 0 h 25"/>
              <a:gd name="T8" fmla="*/ 2 w 25"/>
              <a:gd name="T9" fmla="*/ 0 h 25"/>
              <a:gd name="T10" fmla="*/ 0 w 25"/>
              <a:gd name="T11" fmla="*/ 0 h 2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"/>
              <a:gd name="T19" fmla="*/ 0 h 25"/>
              <a:gd name="T20" fmla="*/ 25 w 25"/>
              <a:gd name="T21" fmla="*/ 25 h 2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" h="25">
                <a:moveTo>
                  <a:pt x="0" y="0"/>
                </a:moveTo>
                <a:lnTo>
                  <a:pt x="2" y="25"/>
                </a:lnTo>
                <a:lnTo>
                  <a:pt x="25" y="13"/>
                </a:lnTo>
                <a:lnTo>
                  <a:pt x="2" y="0"/>
                </a:lnTo>
                <a:lnTo>
                  <a:pt x="0" y="0"/>
                </a:lnTo>
                <a:close/>
              </a:path>
            </a:pathLst>
          </a:custGeom>
          <a:solidFill>
            <a:srgbClr val="EB75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63" name="Freeform 56"/>
          <p:cNvSpPr>
            <a:spLocks/>
          </p:cNvSpPr>
          <p:nvPr/>
        </p:nvSpPr>
        <p:spPr bwMode="auto">
          <a:xfrm>
            <a:off x="3810000" y="1492250"/>
            <a:ext cx="98425" cy="796925"/>
          </a:xfrm>
          <a:custGeom>
            <a:avLst/>
            <a:gdLst>
              <a:gd name="T0" fmla="*/ 62 w 52"/>
              <a:gd name="T1" fmla="*/ 0 h 329"/>
              <a:gd name="T2" fmla="*/ 0 w 52"/>
              <a:gd name="T3" fmla="*/ 2 h 329"/>
              <a:gd name="T4" fmla="*/ 0 w 52"/>
              <a:gd name="T5" fmla="*/ 502 h 329"/>
              <a:gd name="T6" fmla="*/ 62 w 52"/>
              <a:gd name="T7" fmla="*/ 502 h 329"/>
              <a:gd name="T8" fmla="*/ 0 60000 65536"/>
              <a:gd name="T9" fmla="*/ 0 60000 65536"/>
              <a:gd name="T10" fmla="*/ 0 60000 65536"/>
              <a:gd name="T11" fmla="*/ 0 60000 65536"/>
              <a:gd name="T12" fmla="*/ 0 w 52"/>
              <a:gd name="T13" fmla="*/ 0 h 329"/>
              <a:gd name="T14" fmla="*/ 52 w 52"/>
              <a:gd name="T15" fmla="*/ 329 h 32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2" h="329">
                <a:moveTo>
                  <a:pt x="52" y="0"/>
                </a:moveTo>
                <a:lnTo>
                  <a:pt x="0" y="1"/>
                </a:lnTo>
                <a:lnTo>
                  <a:pt x="0" y="329"/>
                </a:lnTo>
                <a:lnTo>
                  <a:pt x="52" y="329"/>
                </a:lnTo>
              </a:path>
            </a:pathLst>
          </a:custGeom>
          <a:noFill/>
          <a:ln w="15875">
            <a:solidFill>
              <a:srgbClr val="EB75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64" name="Freeform 57"/>
          <p:cNvSpPr>
            <a:spLocks/>
          </p:cNvSpPr>
          <p:nvPr/>
        </p:nvSpPr>
        <p:spPr bwMode="auto">
          <a:xfrm>
            <a:off x="5838825" y="2090738"/>
            <a:ext cx="184150" cy="392113"/>
          </a:xfrm>
          <a:custGeom>
            <a:avLst/>
            <a:gdLst>
              <a:gd name="T0" fmla="*/ 114 w 98"/>
              <a:gd name="T1" fmla="*/ 247 h 162"/>
              <a:gd name="T2" fmla="*/ 116 w 98"/>
              <a:gd name="T3" fmla="*/ 0 h 162"/>
              <a:gd name="T4" fmla="*/ 0 w 98"/>
              <a:gd name="T5" fmla="*/ 0 h 162"/>
              <a:gd name="T6" fmla="*/ 0 w 98"/>
              <a:gd name="T7" fmla="*/ 247 h 162"/>
              <a:gd name="T8" fmla="*/ 116 w 98"/>
              <a:gd name="T9" fmla="*/ 247 h 162"/>
              <a:gd name="T10" fmla="*/ 116 w 98"/>
              <a:gd name="T11" fmla="*/ 247 h 16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98"/>
              <a:gd name="T19" fmla="*/ 0 h 162"/>
              <a:gd name="T20" fmla="*/ 98 w 98"/>
              <a:gd name="T21" fmla="*/ 162 h 162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98" h="162">
                <a:moveTo>
                  <a:pt x="96" y="162"/>
                </a:moveTo>
                <a:lnTo>
                  <a:pt x="98" y="0"/>
                </a:lnTo>
                <a:lnTo>
                  <a:pt x="0" y="0"/>
                </a:lnTo>
                <a:lnTo>
                  <a:pt x="0" y="162"/>
                </a:lnTo>
                <a:lnTo>
                  <a:pt x="98" y="162"/>
                </a:lnTo>
              </a:path>
            </a:pathLst>
          </a:custGeom>
          <a:solidFill>
            <a:srgbClr val="FFE6CD"/>
          </a:solidFill>
          <a:ln w="28575" cap="flat" cmpd="sng">
            <a:solidFill>
              <a:srgbClr val="EB75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65" name="Freeform 58"/>
          <p:cNvSpPr>
            <a:spLocks/>
          </p:cNvSpPr>
          <p:nvPr/>
        </p:nvSpPr>
        <p:spPr bwMode="auto">
          <a:xfrm>
            <a:off x="5838825" y="2482850"/>
            <a:ext cx="184150" cy="2738438"/>
          </a:xfrm>
          <a:custGeom>
            <a:avLst/>
            <a:gdLst>
              <a:gd name="T0" fmla="*/ 114 w 98"/>
              <a:gd name="T1" fmla="*/ 1722 h 1130"/>
              <a:gd name="T2" fmla="*/ 116 w 98"/>
              <a:gd name="T3" fmla="*/ 0 h 1130"/>
              <a:gd name="T4" fmla="*/ 0 w 98"/>
              <a:gd name="T5" fmla="*/ 0 h 1130"/>
              <a:gd name="T6" fmla="*/ 0 w 98"/>
              <a:gd name="T7" fmla="*/ 1725 h 1130"/>
              <a:gd name="T8" fmla="*/ 116 w 98"/>
              <a:gd name="T9" fmla="*/ 1725 h 1130"/>
              <a:gd name="T10" fmla="*/ 116 w 98"/>
              <a:gd name="T11" fmla="*/ 1725 h 113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98"/>
              <a:gd name="T19" fmla="*/ 0 h 1130"/>
              <a:gd name="T20" fmla="*/ 98 w 98"/>
              <a:gd name="T21" fmla="*/ 1130 h 113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98" h="1130">
                <a:moveTo>
                  <a:pt x="96" y="1128"/>
                </a:moveTo>
                <a:lnTo>
                  <a:pt x="98" y="0"/>
                </a:lnTo>
                <a:lnTo>
                  <a:pt x="0" y="0"/>
                </a:lnTo>
                <a:lnTo>
                  <a:pt x="0" y="1130"/>
                </a:lnTo>
                <a:lnTo>
                  <a:pt x="98" y="1130"/>
                </a:lnTo>
              </a:path>
            </a:pathLst>
          </a:custGeom>
          <a:solidFill>
            <a:srgbClr val="CCECFF"/>
          </a:solidFill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66" name="Freeform 59"/>
          <p:cNvSpPr>
            <a:spLocks/>
          </p:cNvSpPr>
          <p:nvPr/>
        </p:nvSpPr>
        <p:spPr bwMode="auto">
          <a:xfrm>
            <a:off x="5838825" y="1690688"/>
            <a:ext cx="184150" cy="400050"/>
          </a:xfrm>
          <a:custGeom>
            <a:avLst/>
            <a:gdLst>
              <a:gd name="T0" fmla="*/ 114 w 98"/>
              <a:gd name="T1" fmla="*/ 249 h 165"/>
              <a:gd name="T2" fmla="*/ 116 w 98"/>
              <a:gd name="T3" fmla="*/ 0 h 165"/>
              <a:gd name="T4" fmla="*/ 0 w 98"/>
              <a:gd name="T5" fmla="*/ 0 h 165"/>
              <a:gd name="T6" fmla="*/ 0 w 98"/>
              <a:gd name="T7" fmla="*/ 252 h 165"/>
              <a:gd name="T8" fmla="*/ 116 w 98"/>
              <a:gd name="T9" fmla="*/ 252 h 165"/>
              <a:gd name="T10" fmla="*/ 116 w 98"/>
              <a:gd name="T11" fmla="*/ 252 h 16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98"/>
              <a:gd name="T19" fmla="*/ 0 h 165"/>
              <a:gd name="T20" fmla="*/ 98 w 98"/>
              <a:gd name="T21" fmla="*/ 165 h 16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98" h="165">
                <a:moveTo>
                  <a:pt x="96" y="163"/>
                </a:moveTo>
                <a:lnTo>
                  <a:pt x="98" y="0"/>
                </a:lnTo>
                <a:lnTo>
                  <a:pt x="0" y="0"/>
                </a:lnTo>
                <a:lnTo>
                  <a:pt x="0" y="165"/>
                </a:lnTo>
                <a:lnTo>
                  <a:pt x="98" y="165"/>
                </a:lnTo>
              </a:path>
            </a:pathLst>
          </a:custGeom>
          <a:solidFill>
            <a:srgbClr val="FFE6CD"/>
          </a:solidFill>
          <a:ln w="28575" cap="flat" cmpd="sng">
            <a:solidFill>
              <a:srgbClr val="EB75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67" name="Freeform 60"/>
          <p:cNvSpPr>
            <a:spLocks/>
          </p:cNvSpPr>
          <p:nvPr/>
        </p:nvSpPr>
        <p:spPr bwMode="auto">
          <a:xfrm>
            <a:off x="5783262" y="2228850"/>
            <a:ext cx="47625" cy="60325"/>
          </a:xfrm>
          <a:custGeom>
            <a:avLst/>
            <a:gdLst>
              <a:gd name="T0" fmla="*/ 0 w 25"/>
              <a:gd name="T1" fmla="*/ 0 h 25"/>
              <a:gd name="T2" fmla="*/ 2 w 25"/>
              <a:gd name="T3" fmla="*/ 38 h 25"/>
              <a:gd name="T4" fmla="*/ 30 w 25"/>
              <a:gd name="T5" fmla="*/ 20 h 25"/>
              <a:gd name="T6" fmla="*/ 2 w 25"/>
              <a:gd name="T7" fmla="*/ 0 h 25"/>
              <a:gd name="T8" fmla="*/ 2 w 25"/>
              <a:gd name="T9" fmla="*/ 0 h 25"/>
              <a:gd name="T10" fmla="*/ 0 w 25"/>
              <a:gd name="T11" fmla="*/ 0 h 2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"/>
              <a:gd name="T19" fmla="*/ 0 h 25"/>
              <a:gd name="T20" fmla="*/ 25 w 25"/>
              <a:gd name="T21" fmla="*/ 25 h 2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" h="25">
                <a:moveTo>
                  <a:pt x="0" y="0"/>
                </a:moveTo>
                <a:lnTo>
                  <a:pt x="2" y="25"/>
                </a:lnTo>
                <a:lnTo>
                  <a:pt x="25" y="13"/>
                </a:lnTo>
                <a:lnTo>
                  <a:pt x="2" y="0"/>
                </a:lnTo>
                <a:lnTo>
                  <a:pt x="0" y="0"/>
                </a:lnTo>
                <a:close/>
              </a:path>
            </a:pathLst>
          </a:custGeom>
          <a:solidFill>
            <a:srgbClr val="EB75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68" name="Freeform 61"/>
          <p:cNvSpPr>
            <a:spLocks/>
          </p:cNvSpPr>
          <p:nvPr/>
        </p:nvSpPr>
        <p:spPr bwMode="auto">
          <a:xfrm>
            <a:off x="4130675" y="1889125"/>
            <a:ext cx="1670050" cy="371475"/>
          </a:xfrm>
          <a:custGeom>
            <a:avLst/>
            <a:gdLst>
              <a:gd name="T0" fmla="*/ 1052 w 891"/>
              <a:gd name="T1" fmla="*/ 231 h 153"/>
              <a:gd name="T2" fmla="*/ 948 w 891"/>
              <a:gd name="T3" fmla="*/ 234 h 153"/>
              <a:gd name="T4" fmla="*/ 948 w 891"/>
              <a:gd name="T5" fmla="*/ 0 h 153"/>
              <a:gd name="T6" fmla="*/ 0 w 891"/>
              <a:gd name="T7" fmla="*/ 0 h 153"/>
              <a:gd name="T8" fmla="*/ 0 60000 65536"/>
              <a:gd name="T9" fmla="*/ 0 60000 65536"/>
              <a:gd name="T10" fmla="*/ 0 60000 65536"/>
              <a:gd name="T11" fmla="*/ 0 60000 65536"/>
              <a:gd name="T12" fmla="*/ 0 w 891"/>
              <a:gd name="T13" fmla="*/ 0 h 153"/>
              <a:gd name="T14" fmla="*/ 891 w 891"/>
              <a:gd name="T15" fmla="*/ 153 h 153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91" h="153">
                <a:moveTo>
                  <a:pt x="891" y="151"/>
                </a:moveTo>
                <a:lnTo>
                  <a:pt x="803" y="153"/>
                </a:lnTo>
                <a:lnTo>
                  <a:pt x="803" y="0"/>
                </a:lnTo>
                <a:lnTo>
                  <a:pt x="0" y="0"/>
                </a:lnTo>
              </a:path>
            </a:pathLst>
          </a:custGeom>
          <a:noFill/>
          <a:ln w="15875">
            <a:solidFill>
              <a:srgbClr val="EB75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69" name="Freeform 62"/>
          <p:cNvSpPr>
            <a:spLocks/>
          </p:cNvSpPr>
          <p:nvPr/>
        </p:nvSpPr>
        <p:spPr bwMode="auto">
          <a:xfrm>
            <a:off x="5783262" y="1857375"/>
            <a:ext cx="47625" cy="60325"/>
          </a:xfrm>
          <a:custGeom>
            <a:avLst/>
            <a:gdLst>
              <a:gd name="T0" fmla="*/ 0 w 25"/>
              <a:gd name="T1" fmla="*/ 0 h 25"/>
              <a:gd name="T2" fmla="*/ 2 w 25"/>
              <a:gd name="T3" fmla="*/ 38 h 25"/>
              <a:gd name="T4" fmla="*/ 30 w 25"/>
              <a:gd name="T5" fmla="*/ 20 h 25"/>
              <a:gd name="T6" fmla="*/ 2 w 25"/>
              <a:gd name="T7" fmla="*/ 3 h 25"/>
              <a:gd name="T8" fmla="*/ 2 w 25"/>
              <a:gd name="T9" fmla="*/ 3 h 25"/>
              <a:gd name="T10" fmla="*/ 0 w 25"/>
              <a:gd name="T11" fmla="*/ 0 h 2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"/>
              <a:gd name="T19" fmla="*/ 0 h 25"/>
              <a:gd name="T20" fmla="*/ 25 w 25"/>
              <a:gd name="T21" fmla="*/ 25 h 2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" h="25">
                <a:moveTo>
                  <a:pt x="0" y="0"/>
                </a:moveTo>
                <a:lnTo>
                  <a:pt x="2" y="25"/>
                </a:lnTo>
                <a:lnTo>
                  <a:pt x="25" y="13"/>
                </a:lnTo>
                <a:lnTo>
                  <a:pt x="2" y="2"/>
                </a:lnTo>
                <a:lnTo>
                  <a:pt x="0" y="0"/>
                </a:lnTo>
                <a:close/>
              </a:path>
            </a:pathLst>
          </a:custGeom>
          <a:solidFill>
            <a:srgbClr val="EB75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70" name="Freeform 63"/>
          <p:cNvSpPr>
            <a:spLocks/>
          </p:cNvSpPr>
          <p:nvPr/>
        </p:nvSpPr>
        <p:spPr bwMode="auto">
          <a:xfrm>
            <a:off x="4125913" y="1492250"/>
            <a:ext cx="1674812" cy="396875"/>
          </a:xfrm>
          <a:custGeom>
            <a:avLst/>
            <a:gdLst>
              <a:gd name="T0" fmla="*/ 0 w 893"/>
              <a:gd name="T1" fmla="*/ 0 h 164"/>
              <a:gd name="T2" fmla="*/ 994 w 893"/>
              <a:gd name="T3" fmla="*/ 2 h 164"/>
              <a:gd name="T4" fmla="*/ 994 w 893"/>
              <a:gd name="T5" fmla="*/ 250 h 164"/>
              <a:gd name="T6" fmla="*/ 1055 w 893"/>
              <a:gd name="T7" fmla="*/ 250 h 164"/>
              <a:gd name="T8" fmla="*/ 0 60000 65536"/>
              <a:gd name="T9" fmla="*/ 0 60000 65536"/>
              <a:gd name="T10" fmla="*/ 0 60000 65536"/>
              <a:gd name="T11" fmla="*/ 0 60000 65536"/>
              <a:gd name="T12" fmla="*/ 0 w 893"/>
              <a:gd name="T13" fmla="*/ 0 h 164"/>
              <a:gd name="T14" fmla="*/ 893 w 893"/>
              <a:gd name="T15" fmla="*/ 164 h 16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93" h="164">
                <a:moveTo>
                  <a:pt x="0" y="0"/>
                </a:moveTo>
                <a:lnTo>
                  <a:pt x="841" y="1"/>
                </a:lnTo>
                <a:lnTo>
                  <a:pt x="841" y="164"/>
                </a:lnTo>
                <a:lnTo>
                  <a:pt x="893" y="164"/>
                </a:lnTo>
              </a:path>
            </a:pathLst>
          </a:custGeom>
          <a:noFill/>
          <a:ln w="15875">
            <a:solidFill>
              <a:srgbClr val="EB75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71" name="Freeform 64"/>
          <p:cNvSpPr>
            <a:spLocks/>
          </p:cNvSpPr>
          <p:nvPr/>
        </p:nvSpPr>
        <p:spPr bwMode="auto">
          <a:xfrm>
            <a:off x="7196137" y="2090738"/>
            <a:ext cx="185737" cy="392113"/>
          </a:xfrm>
          <a:custGeom>
            <a:avLst/>
            <a:gdLst>
              <a:gd name="T0" fmla="*/ 117 w 98"/>
              <a:gd name="T1" fmla="*/ 247 h 162"/>
              <a:gd name="T2" fmla="*/ 117 w 98"/>
              <a:gd name="T3" fmla="*/ 0 h 162"/>
              <a:gd name="T4" fmla="*/ 0 w 98"/>
              <a:gd name="T5" fmla="*/ 0 h 162"/>
              <a:gd name="T6" fmla="*/ 0 w 98"/>
              <a:gd name="T7" fmla="*/ 247 h 162"/>
              <a:gd name="T8" fmla="*/ 117 w 98"/>
              <a:gd name="T9" fmla="*/ 247 h 162"/>
              <a:gd name="T10" fmla="*/ 117 w 98"/>
              <a:gd name="T11" fmla="*/ 247 h 16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98"/>
              <a:gd name="T19" fmla="*/ 0 h 162"/>
              <a:gd name="T20" fmla="*/ 98 w 98"/>
              <a:gd name="T21" fmla="*/ 162 h 162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98" h="162">
                <a:moveTo>
                  <a:pt x="98" y="162"/>
                </a:moveTo>
                <a:lnTo>
                  <a:pt x="98" y="0"/>
                </a:lnTo>
                <a:lnTo>
                  <a:pt x="0" y="0"/>
                </a:lnTo>
                <a:lnTo>
                  <a:pt x="0" y="162"/>
                </a:lnTo>
                <a:lnTo>
                  <a:pt x="98" y="162"/>
                </a:lnTo>
              </a:path>
            </a:pathLst>
          </a:custGeom>
          <a:solidFill>
            <a:srgbClr val="FFE6CD"/>
          </a:solidFill>
          <a:ln w="28575" cap="flat" cmpd="sng">
            <a:solidFill>
              <a:srgbClr val="EB75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72" name="Freeform 65"/>
          <p:cNvSpPr>
            <a:spLocks/>
          </p:cNvSpPr>
          <p:nvPr/>
        </p:nvSpPr>
        <p:spPr bwMode="auto">
          <a:xfrm>
            <a:off x="7197725" y="2482850"/>
            <a:ext cx="185737" cy="2738438"/>
          </a:xfrm>
          <a:custGeom>
            <a:avLst/>
            <a:gdLst>
              <a:gd name="T0" fmla="*/ 117 w 98"/>
              <a:gd name="T1" fmla="*/ 1722 h 1130"/>
              <a:gd name="T2" fmla="*/ 117 w 98"/>
              <a:gd name="T3" fmla="*/ 0 h 1130"/>
              <a:gd name="T4" fmla="*/ 0 w 98"/>
              <a:gd name="T5" fmla="*/ 0 h 1130"/>
              <a:gd name="T6" fmla="*/ 0 w 98"/>
              <a:gd name="T7" fmla="*/ 1725 h 1130"/>
              <a:gd name="T8" fmla="*/ 117 w 98"/>
              <a:gd name="T9" fmla="*/ 1725 h 1130"/>
              <a:gd name="T10" fmla="*/ 117 w 98"/>
              <a:gd name="T11" fmla="*/ 1725 h 113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98"/>
              <a:gd name="T19" fmla="*/ 0 h 1130"/>
              <a:gd name="T20" fmla="*/ 98 w 98"/>
              <a:gd name="T21" fmla="*/ 1130 h 113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98" h="1130">
                <a:moveTo>
                  <a:pt x="98" y="1128"/>
                </a:moveTo>
                <a:lnTo>
                  <a:pt x="98" y="0"/>
                </a:lnTo>
                <a:lnTo>
                  <a:pt x="0" y="0"/>
                </a:lnTo>
                <a:lnTo>
                  <a:pt x="0" y="1130"/>
                </a:lnTo>
                <a:lnTo>
                  <a:pt x="98" y="1130"/>
                </a:lnTo>
              </a:path>
            </a:pathLst>
          </a:custGeom>
          <a:solidFill>
            <a:srgbClr val="CCECFF"/>
          </a:solidFill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75" name="Freeform 68"/>
          <p:cNvSpPr>
            <a:spLocks/>
          </p:cNvSpPr>
          <p:nvPr/>
        </p:nvSpPr>
        <p:spPr bwMode="auto">
          <a:xfrm>
            <a:off x="7146925" y="2255838"/>
            <a:ext cx="47625" cy="60325"/>
          </a:xfrm>
          <a:custGeom>
            <a:avLst/>
            <a:gdLst>
              <a:gd name="T0" fmla="*/ 0 w 25"/>
              <a:gd name="T1" fmla="*/ 0 h 25"/>
              <a:gd name="T2" fmla="*/ 0 w 25"/>
              <a:gd name="T3" fmla="*/ 38 h 25"/>
              <a:gd name="T4" fmla="*/ 30 w 25"/>
              <a:gd name="T5" fmla="*/ 21 h 25"/>
              <a:gd name="T6" fmla="*/ 0 w 25"/>
              <a:gd name="T7" fmla="*/ 0 h 25"/>
              <a:gd name="T8" fmla="*/ 0 w 25"/>
              <a:gd name="T9" fmla="*/ 0 h 2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5"/>
              <a:gd name="T16" fmla="*/ 0 h 25"/>
              <a:gd name="T17" fmla="*/ 25 w 25"/>
              <a:gd name="T18" fmla="*/ 25 h 2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5" h="25">
                <a:moveTo>
                  <a:pt x="0" y="0"/>
                </a:moveTo>
                <a:lnTo>
                  <a:pt x="0" y="25"/>
                </a:lnTo>
                <a:lnTo>
                  <a:pt x="25" y="14"/>
                </a:lnTo>
                <a:lnTo>
                  <a:pt x="0" y="0"/>
                </a:lnTo>
                <a:close/>
              </a:path>
            </a:pathLst>
          </a:custGeom>
          <a:solidFill>
            <a:srgbClr val="EB75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76" name="Freeform 69"/>
          <p:cNvSpPr>
            <a:spLocks/>
          </p:cNvSpPr>
          <p:nvPr/>
        </p:nvSpPr>
        <p:spPr bwMode="auto">
          <a:xfrm>
            <a:off x="6022975" y="1889125"/>
            <a:ext cx="1135062" cy="400050"/>
          </a:xfrm>
          <a:custGeom>
            <a:avLst/>
            <a:gdLst>
              <a:gd name="T0" fmla="*/ 715 w 606"/>
              <a:gd name="T1" fmla="*/ 249 h 165"/>
              <a:gd name="T2" fmla="*/ 654 w 606"/>
              <a:gd name="T3" fmla="*/ 252 h 165"/>
              <a:gd name="T4" fmla="*/ 654 w 606"/>
              <a:gd name="T5" fmla="*/ 0 h 165"/>
              <a:gd name="T6" fmla="*/ 0 w 606"/>
              <a:gd name="T7" fmla="*/ 0 h 165"/>
              <a:gd name="T8" fmla="*/ 0 60000 65536"/>
              <a:gd name="T9" fmla="*/ 0 60000 65536"/>
              <a:gd name="T10" fmla="*/ 0 60000 65536"/>
              <a:gd name="T11" fmla="*/ 0 60000 65536"/>
              <a:gd name="T12" fmla="*/ 0 w 606"/>
              <a:gd name="T13" fmla="*/ 0 h 165"/>
              <a:gd name="T14" fmla="*/ 606 w 606"/>
              <a:gd name="T15" fmla="*/ 165 h 16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06" h="165">
                <a:moveTo>
                  <a:pt x="606" y="163"/>
                </a:moveTo>
                <a:lnTo>
                  <a:pt x="554" y="165"/>
                </a:lnTo>
                <a:lnTo>
                  <a:pt x="554" y="0"/>
                </a:lnTo>
                <a:lnTo>
                  <a:pt x="0" y="0"/>
                </a:lnTo>
              </a:path>
            </a:pathLst>
          </a:custGeom>
          <a:noFill/>
          <a:ln w="15875">
            <a:solidFill>
              <a:srgbClr val="EB75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77" name="Freeform 70"/>
          <p:cNvSpPr>
            <a:spLocks/>
          </p:cNvSpPr>
          <p:nvPr/>
        </p:nvSpPr>
        <p:spPr bwMode="auto">
          <a:xfrm>
            <a:off x="7142162" y="3471863"/>
            <a:ext cx="52387" cy="60325"/>
          </a:xfrm>
          <a:custGeom>
            <a:avLst/>
            <a:gdLst>
              <a:gd name="T0" fmla="*/ 0 w 27"/>
              <a:gd name="T1" fmla="*/ 0 h 25"/>
              <a:gd name="T2" fmla="*/ 2 w 27"/>
              <a:gd name="T3" fmla="*/ 38 h 25"/>
              <a:gd name="T4" fmla="*/ 33 w 27"/>
              <a:gd name="T5" fmla="*/ 20 h 25"/>
              <a:gd name="T6" fmla="*/ 2 w 27"/>
              <a:gd name="T7" fmla="*/ 3 h 25"/>
              <a:gd name="T8" fmla="*/ 2 w 27"/>
              <a:gd name="T9" fmla="*/ 3 h 25"/>
              <a:gd name="T10" fmla="*/ 0 w 27"/>
              <a:gd name="T11" fmla="*/ 0 h 2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7"/>
              <a:gd name="T19" fmla="*/ 0 h 25"/>
              <a:gd name="T20" fmla="*/ 27 w 27"/>
              <a:gd name="T21" fmla="*/ 25 h 2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7" h="25">
                <a:moveTo>
                  <a:pt x="0" y="0"/>
                </a:moveTo>
                <a:lnTo>
                  <a:pt x="2" y="25"/>
                </a:lnTo>
                <a:lnTo>
                  <a:pt x="27" y="13"/>
                </a:lnTo>
                <a:lnTo>
                  <a:pt x="2" y="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78" name="Line 71"/>
          <p:cNvSpPr>
            <a:spLocks noChangeShapeType="1"/>
          </p:cNvSpPr>
          <p:nvPr/>
        </p:nvSpPr>
        <p:spPr bwMode="auto">
          <a:xfrm flipH="1">
            <a:off x="7381875" y="3498850"/>
            <a:ext cx="406400" cy="4763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79" name="Line 72"/>
          <p:cNvSpPr>
            <a:spLocks noChangeShapeType="1"/>
          </p:cNvSpPr>
          <p:nvPr/>
        </p:nvSpPr>
        <p:spPr bwMode="auto">
          <a:xfrm flipH="1">
            <a:off x="7045325" y="3498850"/>
            <a:ext cx="109537" cy="4763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80" name="Freeform 73"/>
          <p:cNvSpPr>
            <a:spLocks/>
          </p:cNvSpPr>
          <p:nvPr/>
        </p:nvSpPr>
        <p:spPr bwMode="auto">
          <a:xfrm>
            <a:off x="7142162" y="4297363"/>
            <a:ext cx="52387" cy="60325"/>
          </a:xfrm>
          <a:custGeom>
            <a:avLst/>
            <a:gdLst>
              <a:gd name="T0" fmla="*/ 0 w 27"/>
              <a:gd name="T1" fmla="*/ 0 h 25"/>
              <a:gd name="T2" fmla="*/ 2 w 27"/>
              <a:gd name="T3" fmla="*/ 38 h 25"/>
              <a:gd name="T4" fmla="*/ 33 w 27"/>
              <a:gd name="T5" fmla="*/ 17 h 25"/>
              <a:gd name="T6" fmla="*/ 2 w 27"/>
              <a:gd name="T7" fmla="*/ 0 h 25"/>
              <a:gd name="T8" fmla="*/ 2 w 27"/>
              <a:gd name="T9" fmla="*/ 0 h 25"/>
              <a:gd name="T10" fmla="*/ 0 w 27"/>
              <a:gd name="T11" fmla="*/ 0 h 2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7"/>
              <a:gd name="T19" fmla="*/ 0 h 25"/>
              <a:gd name="T20" fmla="*/ 27 w 27"/>
              <a:gd name="T21" fmla="*/ 25 h 2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7" h="25">
                <a:moveTo>
                  <a:pt x="0" y="0"/>
                </a:moveTo>
                <a:lnTo>
                  <a:pt x="2" y="25"/>
                </a:lnTo>
                <a:lnTo>
                  <a:pt x="27" y="11"/>
                </a:lnTo>
                <a:lnTo>
                  <a:pt x="2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81" name="Freeform 74"/>
          <p:cNvSpPr>
            <a:spLocks/>
          </p:cNvSpPr>
          <p:nvPr/>
        </p:nvSpPr>
        <p:spPr bwMode="auto">
          <a:xfrm>
            <a:off x="7381875" y="3938588"/>
            <a:ext cx="406400" cy="385763"/>
          </a:xfrm>
          <a:custGeom>
            <a:avLst/>
            <a:gdLst>
              <a:gd name="T0" fmla="*/ 256 w 218"/>
              <a:gd name="T1" fmla="*/ 0 h 159"/>
              <a:gd name="T2" fmla="*/ 191 w 218"/>
              <a:gd name="T3" fmla="*/ 0 h 159"/>
              <a:gd name="T4" fmla="*/ 191 w 218"/>
              <a:gd name="T5" fmla="*/ 243 h 159"/>
              <a:gd name="T6" fmla="*/ 0 w 218"/>
              <a:gd name="T7" fmla="*/ 243 h 159"/>
              <a:gd name="T8" fmla="*/ 0 60000 65536"/>
              <a:gd name="T9" fmla="*/ 0 60000 65536"/>
              <a:gd name="T10" fmla="*/ 0 60000 65536"/>
              <a:gd name="T11" fmla="*/ 0 60000 65536"/>
              <a:gd name="T12" fmla="*/ 0 w 218"/>
              <a:gd name="T13" fmla="*/ 0 h 159"/>
              <a:gd name="T14" fmla="*/ 218 w 218"/>
              <a:gd name="T15" fmla="*/ 159 h 15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8" h="159">
                <a:moveTo>
                  <a:pt x="218" y="0"/>
                </a:moveTo>
                <a:lnTo>
                  <a:pt x="163" y="0"/>
                </a:lnTo>
                <a:lnTo>
                  <a:pt x="163" y="159"/>
                </a:lnTo>
                <a:lnTo>
                  <a:pt x="0" y="159"/>
                </a:lnTo>
              </a:path>
            </a:pathLst>
          </a:custGeom>
          <a:noFill/>
          <a:ln w="15875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82" name="Line 75"/>
          <p:cNvSpPr>
            <a:spLocks noChangeShapeType="1"/>
          </p:cNvSpPr>
          <p:nvPr/>
        </p:nvSpPr>
        <p:spPr bwMode="auto">
          <a:xfrm flipH="1">
            <a:off x="6327775" y="4324350"/>
            <a:ext cx="827087" cy="3175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83" name="Freeform 76"/>
          <p:cNvSpPr>
            <a:spLocks/>
          </p:cNvSpPr>
          <p:nvPr/>
        </p:nvSpPr>
        <p:spPr bwMode="auto">
          <a:xfrm>
            <a:off x="5265737" y="2909888"/>
            <a:ext cx="292100" cy="1184275"/>
          </a:xfrm>
          <a:custGeom>
            <a:avLst/>
            <a:gdLst>
              <a:gd name="T0" fmla="*/ 0 w 157"/>
              <a:gd name="T1" fmla="*/ 0 h 489"/>
              <a:gd name="T2" fmla="*/ 0 w 157"/>
              <a:gd name="T3" fmla="*/ 302 h 489"/>
              <a:gd name="T4" fmla="*/ 59 w 157"/>
              <a:gd name="T5" fmla="*/ 374 h 489"/>
              <a:gd name="T6" fmla="*/ 0 w 157"/>
              <a:gd name="T7" fmla="*/ 444 h 489"/>
              <a:gd name="T8" fmla="*/ 0 w 157"/>
              <a:gd name="T9" fmla="*/ 746 h 489"/>
              <a:gd name="T10" fmla="*/ 184 w 157"/>
              <a:gd name="T11" fmla="*/ 517 h 489"/>
              <a:gd name="T12" fmla="*/ 184 w 157"/>
              <a:gd name="T13" fmla="*/ 229 h 489"/>
              <a:gd name="T14" fmla="*/ 0 w 157"/>
              <a:gd name="T15" fmla="*/ 0 h 489"/>
              <a:gd name="T16" fmla="*/ 0 w 157"/>
              <a:gd name="T17" fmla="*/ 0 h 489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57"/>
              <a:gd name="T28" fmla="*/ 0 h 489"/>
              <a:gd name="T29" fmla="*/ 157 w 157"/>
              <a:gd name="T30" fmla="*/ 489 h 489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57" h="489">
                <a:moveTo>
                  <a:pt x="0" y="0"/>
                </a:moveTo>
                <a:lnTo>
                  <a:pt x="0" y="198"/>
                </a:lnTo>
                <a:lnTo>
                  <a:pt x="50" y="245"/>
                </a:lnTo>
                <a:lnTo>
                  <a:pt x="0" y="291"/>
                </a:lnTo>
                <a:lnTo>
                  <a:pt x="0" y="489"/>
                </a:lnTo>
                <a:lnTo>
                  <a:pt x="157" y="339"/>
                </a:lnTo>
                <a:lnTo>
                  <a:pt x="157" y="150"/>
                </a:lnTo>
                <a:lnTo>
                  <a:pt x="0" y="0"/>
                </a:lnTo>
              </a:path>
            </a:pathLst>
          </a:custGeom>
          <a:solidFill>
            <a:srgbClr val="CCFF99"/>
          </a:solidFill>
          <a:ln w="1905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84" name="Freeform 77"/>
          <p:cNvSpPr>
            <a:spLocks/>
          </p:cNvSpPr>
          <p:nvPr/>
        </p:nvSpPr>
        <p:spPr bwMode="auto">
          <a:xfrm>
            <a:off x="5102225" y="5130800"/>
            <a:ext cx="681037" cy="531813"/>
          </a:xfrm>
          <a:custGeom>
            <a:avLst/>
            <a:gdLst>
              <a:gd name="T0" fmla="*/ 342 w 364"/>
              <a:gd name="T1" fmla="*/ 332 h 219"/>
              <a:gd name="T2" fmla="*/ 357 w 364"/>
              <a:gd name="T3" fmla="*/ 332 h 219"/>
              <a:gd name="T4" fmla="*/ 371 w 364"/>
              <a:gd name="T5" fmla="*/ 329 h 219"/>
              <a:gd name="T6" fmla="*/ 382 w 364"/>
              <a:gd name="T7" fmla="*/ 323 h 219"/>
              <a:gd name="T8" fmla="*/ 394 w 364"/>
              <a:gd name="T9" fmla="*/ 311 h 219"/>
              <a:gd name="T10" fmla="*/ 404 w 364"/>
              <a:gd name="T11" fmla="*/ 303 h 219"/>
              <a:gd name="T12" fmla="*/ 411 w 364"/>
              <a:gd name="T13" fmla="*/ 288 h 219"/>
              <a:gd name="T14" fmla="*/ 421 w 364"/>
              <a:gd name="T15" fmla="*/ 272 h 219"/>
              <a:gd name="T16" fmla="*/ 425 w 364"/>
              <a:gd name="T17" fmla="*/ 259 h 219"/>
              <a:gd name="T18" fmla="*/ 428 w 364"/>
              <a:gd name="T19" fmla="*/ 240 h 219"/>
              <a:gd name="T20" fmla="*/ 429 w 364"/>
              <a:gd name="T21" fmla="*/ 223 h 219"/>
              <a:gd name="T22" fmla="*/ 429 w 364"/>
              <a:gd name="T23" fmla="*/ 112 h 219"/>
              <a:gd name="T24" fmla="*/ 428 w 364"/>
              <a:gd name="T25" fmla="*/ 95 h 219"/>
              <a:gd name="T26" fmla="*/ 425 w 364"/>
              <a:gd name="T27" fmla="*/ 76 h 219"/>
              <a:gd name="T28" fmla="*/ 421 w 364"/>
              <a:gd name="T29" fmla="*/ 60 h 219"/>
              <a:gd name="T30" fmla="*/ 411 w 364"/>
              <a:gd name="T31" fmla="*/ 44 h 219"/>
              <a:gd name="T32" fmla="*/ 404 w 364"/>
              <a:gd name="T33" fmla="*/ 32 h 219"/>
              <a:gd name="T34" fmla="*/ 394 w 364"/>
              <a:gd name="T35" fmla="*/ 21 h 219"/>
              <a:gd name="T36" fmla="*/ 382 w 364"/>
              <a:gd name="T37" fmla="*/ 12 h 219"/>
              <a:gd name="T38" fmla="*/ 371 w 364"/>
              <a:gd name="T39" fmla="*/ 6 h 219"/>
              <a:gd name="T40" fmla="*/ 357 w 364"/>
              <a:gd name="T41" fmla="*/ 0 h 219"/>
              <a:gd name="T42" fmla="*/ 344 w 364"/>
              <a:gd name="T43" fmla="*/ 0 h 219"/>
              <a:gd name="T44" fmla="*/ 86 w 364"/>
              <a:gd name="T45" fmla="*/ 0 h 219"/>
              <a:gd name="T46" fmla="*/ 73 w 364"/>
              <a:gd name="T47" fmla="*/ 0 h 219"/>
              <a:gd name="T48" fmla="*/ 59 w 364"/>
              <a:gd name="T49" fmla="*/ 6 h 219"/>
              <a:gd name="T50" fmla="*/ 46 w 364"/>
              <a:gd name="T51" fmla="*/ 12 h 219"/>
              <a:gd name="T52" fmla="*/ 34 w 364"/>
              <a:gd name="T53" fmla="*/ 21 h 219"/>
              <a:gd name="T54" fmla="*/ 25 w 364"/>
              <a:gd name="T55" fmla="*/ 32 h 219"/>
              <a:gd name="T56" fmla="*/ 16 w 364"/>
              <a:gd name="T57" fmla="*/ 44 h 219"/>
              <a:gd name="T58" fmla="*/ 9 w 364"/>
              <a:gd name="T59" fmla="*/ 60 h 219"/>
              <a:gd name="T60" fmla="*/ 5 w 364"/>
              <a:gd name="T61" fmla="*/ 76 h 219"/>
              <a:gd name="T62" fmla="*/ 0 w 364"/>
              <a:gd name="T63" fmla="*/ 95 h 219"/>
              <a:gd name="T64" fmla="*/ 0 w 364"/>
              <a:gd name="T65" fmla="*/ 112 h 219"/>
              <a:gd name="T66" fmla="*/ 0 w 364"/>
              <a:gd name="T67" fmla="*/ 223 h 219"/>
              <a:gd name="T68" fmla="*/ 0 w 364"/>
              <a:gd name="T69" fmla="*/ 240 h 219"/>
              <a:gd name="T70" fmla="*/ 5 w 364"/>
              <a:gd name="T71" fmla="*/ 259 h 219"/>
              <a:gd name="T72" fmla="*/ 9 w 364"/>
              <a:gd name="T73" fmla="*/ 272 h 219"/>
              <a:gd name="T74" fmla="*/ 16 w 364"/>
              <a:gd name="T75" fmla="*/ 288 h 219"/>
              <a:gd name="T76" fmla="*/ 25 w 364"/>
              <a:gd name="T77" fmla="*/ 303 h 219"/>
              <a:gd name="T78" fmla="*/ 34 w 364"/>
              <a:gd name="T79" fmla="*/ 311 h 219"/>
              <a:gd name="T80" fmla="*/ 46 w 364"/>
              <a:gd name="T81" fmla="*/ 323 h 219"/>
              <a:gd name="T82" fmla="*/ 59 w 364"/>
              <a:gd name="T83" fmla="*/ 329 h 219"/>
              <a:gd name="T84" fmla="*/ 73 w 364"/>
              <a:gd name="T85" fmla="*/ 332 h 219"/>
              <a:gd name="T86" fmla="*/ 86 w 364"/>
              <a:gd name="T87" fmla="*/ 335 h 219"/>
              <a:gd name="T88" fmla="*/ 344 w 364"/>
              <a:gd name="T89" fmla="*/ 335 h 219"/>
              <a:gd name="T90" fmla="*/ 344 w 364"/>
              <a:gd name="T91" fmla="*/ 335 h 219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w 364"/>
              <a:gd name="T139" fmla="*/ 0 h 219"/>
              <a:gd name="T140" fmla="*/ 364 w 364"/>
              <a:gd name="T141" fmla="*/ 219 h 219"/>
            </a:gdLst>
            <a:ahLst/>
            <a:cxnLst>
              <a:cxn ang="T92">
                <a:pos x="T0" y="T1"/>
              </a:cxn>
              <a:cxn ang="T93">
                <a:pos x="T2" y="T3"/>
              </a:cxn>
              <a:cxn ang="T94">
                <a:pos x="T4" y="T5"/>
              </a:cxn>
              <a:cxn ang="T95">
                <a:pos x="T6" y="T7"/>
              </a:cxn>
              <a:cxn ang="T96">
                <a:pos x="T8" y="T9"/>
              </a:cxn>
              <a:cxn ang="T97">
                <a:pos x="T10" y="T11"/>
              </a:cxn>
              <a:cxn ang="T98">
                <a:pos x="T12" y="T13"/>
              </a:cxn>
              <a:cxn ang="T99">
                <a:pos x="T14" y="T15"/>
              </a:cxn>
              <a:cxn ang="T100">
                <a:pos x="T16" y="T17"/>
              </a:cxn>
              <a:cxn ang="T101">
                <a:pos x="T18" y="T19"/>
              </a:cxn>
              <a:cxn ang="T102">
                <a:pos x="T20" y="T21"/>
              </a:cxn>
              <a:cxn ang="T103">
                <a:pos x="T22" y="T23"/>
              </a:cxn>
              <a:cxn ang="T104">
                <a:pos x="T24" y="T25"/>
              </a:cxn>
              <a:cxn ang="T105">
                <a:pos x="T26" y="T27"/>
              </a:cxn>
              <a:cxn ang="T106">
                <a:pos x="T28" y="T29"/>
              </a:cxn>
              <a:cxn ang="T107">
                <a:pos x="T30" y="T31"/>
              </a:cxn>
              <a:cxn ang="T108">
                <a:pos x="T32" y="T33"/>
              </a:cxn>
              <a:cxn ang="T109">
                <a:pos x="T34" y="T35"/>
              </a:cxn>
              <a:cxn ang="T110">
                <a:pos x="T36" y="T37"/>
              </a:cxn>
              <a:cxn ang="T111">
                <a:pos x="T38" y="T39"/>
              </a:cxn>
              <a:cxn ang="T112">
                <a:pos x="T40" y="T41"/>
              </a:cxn>
              <a:cxn ang="T113">
                <a:pos x="T42" y="T43"/>
              </a:cxn>
              <a:cxn ang="T114">
                <a:pos x="T44" y="T45"/>
              </a:cxn>
              <a:cxn ang="T115">
                <a:pos x="T46" y="T47"/>
              </a:cxn>
              <a:cxn ang="T116">
                <a:pos x="T48" y="T49"/>
              </a:cxn>
              <a:cxn ang="T117">
                <a:pos x="T50" y="T51"/>
              </a:cxn>
              <a:cxn ang="T118">
                <a:pos x="T52" y="T53"/>
              </a:cxn>
              <a:cxn ang="T119">
                <a:pos x="T54" y="T55"/>
              </a:cxn>
              <a:cxn ang="T120">
                <a:pos x="T56" y="T57"/>
              </a:cxn>
              <a:cxn ang="T121">
                <a:pos x="T58" y="T59"/>
              </a:cxn>
              <a:cxn ang="T122">
                <a:pos x="T60" y="T61"/>
              </a:cxn>
              <a:cxn ang="T123">
                <a:pos x="T62" y="T63"/>
              </a:cxn>
              <a:cxn ang="T124">
                <a:pos x="T64" y="T65"/>
              </a:cxn>
              <a:cxn ang="T125">
                <a:pos x="T66" y="T67"/>
              </a:cxn>
              <a:cxn ang="T126">
                <a:pos x="T68" y="T69"/>
              </a:cxn>
              <a:cxn ang="T127">
                <a:pos x="T70" y="T71"/>
              </a:cxn>
              <a:cxn ang="T128">
                <a:pos x="T72" y="T73"/>
              </a:cxn>
              <a:cxn ang="T129">
                <a:pos x="T74" y="T75"/>
              </a:cxn>
              <a:cxn ang="T130">
                <a:pos x="T76" y="T77"/>
              </a:cxn>
              <a:cxn ang="T131">
                <a:pos x="T78" y="T79"/>
              </a:cxn>
              <a:cxn ang="T132">
                <a:pos x="T80" y="T81"/>
              </a:cxn>
              <a:cxn ang="T133">
                <a:pos x="T82" y="T83"/>
              </a:cxn>
              <a:cxn ang="T134">
                <a:pos x="T84" y="T85"/>
              </a:cxn>
              <a:cxn ang="T135">
                <a:pos x="T86" y="T87"/>
              </a:cxn>
              <a:cxn ang="T136">
                <a:pos x="T88" y="T89"/>
              </a:cxn>
              <a:cxn ang="T137">
                <a:pos x="T90" y="T91"/>
              </a:cxn>
            </a:cxnLst>
            <a:rect l="T138" t="T139" r="T140" b="T141"/>
            <a:pathLst>
              <a:path w="364" h="219">
                <a:moveTo>
                  <a:pt x="290" y="217"/>
                </a:moveTo>
                <a:lnTo>
                  <a:pt x="303" y="217"/>
                </a:lnTo>
                <a:lnTo>
                  <a:pt x="315" y="215"/>
                </a:lnTo>
                <a:lnTo>
                  <a:pt x="324" y="211"/>
                </a:lnTo>
                <a:lnTo>
                  <a:pt x="334" y="203"/>
                </a:lnTo>
                <a:lnTo>
                  <a:pt x="343" y="198"/>
                </a:lnTo>
                <a:lnTo>
                  <a:pt x="349" y="188"/>
                </a:lnTo>
                <a:lnTo>
                  <a:pt x="357" y="178"/>
                </a:lnTo>
                <a:lnTo>
                  <a:pt x="361" y="169"/>
                </a:lnTo>
                <a:lnTo>
                  <a:pt x="363" y="157"/>
                </a:lnTo>
                <a:lnTo>
                  <a:pt x="364" y="146"/>
                </a:lnTo>
                <a:lnTo>
                  <a:pt x="364" y="73"/>
                </a:lnTo>
                <a:lnTo>
                  <a:pt x="363" y="62"/>
                </a:lnTo>
                <a:lnTo>
                  <a:pt x="361" y="50"/>
                </a:lnTo>
                <a:lnTo>
                  <a:pt x="357" y="39"/>
                </a:lnTo>
                <a:lnTo>
                  <a:pt x="349" y="29"/>
                </a:lnTo>
                <a:lnTo>
                  <a:pt x="343" y="21"/>
                </a:lnTo>
                <a:lnTo>
                  <a:pt x="334" y="14"/>
                </a:lnTo>
                <a:lnTo>
                  <a:pt x="324" y="8"/>
                </a:lnTo>
                <a:lnTo>
                  <a:pt x="315" y="4"/>
                </a:lnTo>
                <a:lnTo>
                  <a:pt x="303" y="0"/>
                </a:lnTo>
                <a:lnTo>
                  <a:pt x="292" y="0"/>
                </a:lnTo>
                <a:lnTo>
                  <a:pt x="73" y="0"/>
                </a:lnTo>
                <a:lnTo>
                  <a:pt x="62" y="0"/>
                </a:lnTo>
                <a:lnTo>
                  <a:pt x="50" y="4"/>
                </a:lnTo>
                <a:lnTo>
                  <a:pt x="39" y="8"/>
                </a:lnTo>
                <a:lnTo>
                  <a:pt x="29" y="14"/>
                </a:lnTo>
                <a:lnTo>
                  <a:pt x="21" y="21"/>
                </a:lnTo>
                <a:lnTo>
                  <a:pt x="14" y="29"/>
                </a:lnTo>
                <a:lnTo>
                  <a:pt x="8" y="39"/>
                </a:lnTo>
                <a:lnTo>
                  <a:pt x="4" y="50"/>
                </a:lnTo>
                <a:lnTo>
                  <a:pt x="0" y="62"/>
                </a:lnTo>
                <a:lnTo>
                  <a:pt x="0" y="73"/>
                </a:lnTo>
                <a:lnTo>
                  <a:pt x="0" y="146"/>
                </a:lnTo>
                <a:lnTo>
                  <a:pt x="0" y="157"/>
                </a:lnTo>
                <a:lnTo>
                  <a:pt x="4" y="169"/>
                </a:lnTo>
                <a:lnTo>
                  <a:pt x="8" y="178"/>
                </a:lnTo>
                <a:lnTo>
                  <a:pt x="14" y="188"/>
                </a:lnTo>
                <a:lnTo>
                  <a:pt x="21" y="198"/>
                </a:lnTo>
                <a:lnTo>
                  <a:pt x="29" y="203"/>
                </a:lnTo>
                <a:lnTo>
                  <a:pt x="39" y="211"/>
                </a:lnTo>
                <a:lnTo>
                  <a:pt x="50" y="215"/>
                </a:lnTo>
                <a:lnTo>
                  <a:pt x="62" y="217"/>
                </a:lnTo>
                <a:lnTo>
                  <a:pt x="73" y="219"/>
                </a:lnTo>
                <a:lnTo>
                  <a:pt x="292" y="219"/>
                </a:lnTo>
              </a:path>
            </a:pathLst>
          </a:custGeom>
          <a:solidFill>
            <a:srgbClr val="FFE6CD"/>
          </a:solidFill>
          <a:ln w="28575" cap="flat" cmpd="sng">
            <a:solidFill>
              <a:srgbClr val="EB75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85" name="Rectangle 78"/>
          <p:cNvSpPr>
            <a:spLocks noChangeArrowheads="1"/>
          </p:cNvSpPr>
          <p:nvPr/>
        </p:nvSpPr>
        <p:spPr bwMode="auto">
          <a:xfrm>
            <a:off x="5138974" y="5253038"/>
            <a:ext cx="60753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/>
            <a:r>
              <a:rPr lang="en-US" sz="1000">
                <a:solidFill>
                  <a:srgbClr val="EB7500"/>
                </a:solidFill>
                <a:latin typeface="+mj-lt"/>
              </a:rPr>
              <a:t>Forwarding</a:t>
            </a:r>
          </a:p>
          <a:p>
            <a:pPr algn="ctr"/>
            <a:r>
              <a:rPr lang="en-US" sz="1000">
                <a:solidFill>
                  <a:srgbClr val="EB7500"/>
                </a:solidFill>
                <a:latin typeface="+mj-lt"/>
              </a:rPr>
              <a:t>Unit</a:t>
            </a:r>
            <a:endParaRPr lang="en-US" sz="1000">
              <a:latin typeface="+mj-lt"/>
            </a:endParaRPr>
          </a:p>
        </p:txBody>
      </p:sp>
      <p:sp>
        <p:nvSpPr>
          <p:cNvPr id="86" name="Freeform 79"/>
          <p:cNvSpPr>
            <a:spLocks/>
          </p:cNvSpPr>
          <p:nvPr/>
        </p:nvSpPr>
        <p:spPr bwMode="auto">
          <a:xfrm>
            <a:off x="4722813" y="4152900"/>
            <a:ext cx="46037" cy="60325"/>
          </a:xfrm>
          <a:custGeom>
            <a:avLst/>
            <a:gdLst>
              <a:gd name="T0" fmla="*/ 0 w 25"/>
              <a:gd name="T1" fmla="*/ 0 h 25"/>
              <a:gd name="T2" fmla="*/ 0 w 25"/>
              <a:gd name="T3" fmla="*/ 38 h 25"/>
              <a:gd name="T4" fmla="*/ 29 w 25"/>
              <a:gd name="T5" fmla="*/ 21 h 25"/>
              <a:gd name="T6" fmla="*/ 0 w 25"/>
              <a:gd name="T7" fmla="*/ 0 h 25"/>
              <a:gd name="T8" fmla="*/ 0 w 25"/>
              <a:gd name="T9" fmla="*/ 0 h 2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5"/>
              <a:gd name="T16" fmla="*/ 0 h 25"/>
              <a:gd name="T17" fmla="*/ 25 w 25"/>
              <a:gd name="T18" fmla="*/ 25 h 2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5" h="25">
                <a:moveTo>
                  <a:pt x="0" y="0"/>
                </a:moveTo>
                <a:lnTo>
                  <a:pt x="0" y="25"/>
                </a:lnTo>
                <a:lnTo>
                  <a:pt x="25" y="1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87" name="Freeform 80"/>
          <p:cNvSpPr>
            <a:spLocks/>
          </p:cNvSpPr>
          <p:nvPr/>
        </p:nvSpPr>
        <p:spPr bwMode="auto">
          <a:xfrm>
            <a:off x="4722813" y="4849813"/>
            <a:ext cx="46037" cy="58738"/>
          </a:xfrm>
          <a:custGeom>
            <a:avLst/>
            <a:gdLst>
              <a:gd name="T0" fmla="*/ 0 w 25"/>
              <a:gd name="T1" fmla="*/ 0 h 24"/>
              <a:gd name="T2" fmla="*/ 0 w 25"/>
              <a:gd name="T3" fmla="*/ 37 h 24"/>
              <a:gd name="T4" fmla="*/ 29 w 25"/>
              <a:gd name="T5" fmla="*/ 20 h 24"/>
              <a:gd name="T6" fmla="*/ 0 w 25"/>
              <a:gd name="T7" fmla="*/ 0 h 24"/>
              <a:gd name="T8" fmla="*/ 0 w 25"/>
              <a:gd name="T9" fmla="*/ 0 h 2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5"/>
              <a:gd name="T16" fmla="*/ 0 h 24"/>
              <a:gd name="T17" fmla="*/ 25 w 25"/>
              <a:gd name="T18" fmla="*/ 24 h 2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5" h="24">
                <a:moveTo>
                  <a:pt x="0" y="0"/>
                </a:moveTo>
                <a:lnTo>
                  <a:pt x="0" y="24"/>
                </a:lnTo>
                <a:lnTo>
                  <a:pt x="25" y="1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88" name="Freeform 81"/>
          <p:cNvSpPr>
            <a:spLocks/>
          </p:cNvSpPr>
          <p:nvPr/>
        </p:nvSpPr>
        <p:spPr bwMode="auto">
          <a:xfrm>
            <a:off x="4722813" y="5064125"/>
            <a:ext cx="46037" cy="60325"/>
          </a:xfrm>
          <a:custGeom>
            <a:avLst/>
            <a:gdLst>
              <a:gd name="T0" fmla="*/ 0 w 25"/>
              <a:gd name="T1" fmla="*/ 0 h 25"/>
              <a:gd name="T2" fmla="*/ 0 w 25"/>
              <a:gd name="T3" fmla="*/ 38 h 25"/>
              <a:gd name="T4" fmla="*/ 29 w 25"/>
              <a:gd name="T5" fmla="*/ 20 h 25"/>
              <a:gd name="T6" fmla="*/ 0 w 25"/>
              <a:gd name="T7" fmla="*/ 3 h 25"/>
              <a:gd name="T8" fmla="*/ 0 w 25"/>
              <a:gd name="T9" fmla="*/ 3 h 25"/>
              <a:gd name="T10" fmla="*/ 0 w 25"/>
              <a:gd name="T11" fmla="*/ 0 h 2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"/>
              <a:gd name="T19" fmla="*/ 0 h 25"/>
              <a:gd name="T20" fmla="*/ 25 w 25"/>
              <a:gd name="T21" fmla="*/ 25 h 2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" h="25">
                <a:moveTo>
                  <a:pt x="0" y="0"/>
                </a:moveTo>
                <a:lnTo>
                  <a:pt x="0" y="25"/>
                </a:lnTo>
                <a:lnTo>
                  <a:pt x="25" y="13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89" name="Line 82"/>
          <p:cNvSpPr>
            <a:spLocks noChangeShapeType="1"/>
          </p:cNvSpPr>
          <p:nvPr/>
        </p:nvSpPr>
        <p:spPr bwMode="auto">
          <a:xfrm flipH="1">
            <a:off x="4535488" y="4178300"/>
            <a:ext cx="204787" cy="4763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90" name="Freeform 83"/>
          <p:cNvSpPr>
            <a:spLocks/>
          </p:cNvSpPr>
          <p:nvPr/>
        </p:nvSpPr>
        <p:spPr bwMode="auto">
          <a:xfrm>
            <a:off x="4722813" y="3228975"/>
            <a:ext cx="46037" cy="60325"/>
          </a:xfrm>
          <a:custGeom>
            <a:avLst/>
            <a:gdLst>
              <a:gd name="T0" fmla="*/ 0 w 25"/>
              <a:gd name="T1" fmla="*/ 0 h 25"/>
              <a:gd name="T2" fmla="*/ 0 w 25"/>
              <a:gd name="T3" fmla="*/ 38 h 25"/>
              <a:gd name="T4" fmla="*/ 29 w 25"/>
              <a:gd name="T5" fmla="*/ 18 h 25"/>
              <a:gd name="T6" fmla="*/ 0 w 25"/>
              <a:gd name="T7" fmla="*/ 0 h 25"/>
              <a:gd name="T8" fmla="*/ 0 w 25"/>
              <a:gd name="T9" fmla="*/ 0 h 2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5"/>
              <a:gd name="T16" fmla="*/ 0 h 25"/>
              <a:gd name="T17" fmla="*/ 25 w 25"/>
              <a:gd name="T18" fmla="*/ 25 h 2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5" h="25">
                <a:moveTo>
                  <a:pt x="0" y="0"/>
                </a:moveTo>
                <a:lnTo>
                  <a:pt x="0" y="25"/>
                </a:lnTo>
                <a:lnTo>
                  <a:pt x="25" y="1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91" name="Freeform 84"/>
          <p:cNvSpPr>
            <a:spLocks/>
          </p:cNvSpPr>
          <p:nvPr/>
        </p:nvSpPr>
        <p:spPr bwMode="auto">
          <a:xfrm>
            <a:off x="5200650" y="3008313"/>
            <a:ext cx="49212" cy="58738"/>
          </a:xfrm>
          <a:custGeom>
            <a:avLst/>
            <a:gdLst>
              <a:gd name="T0" fmla="*/ 0 w 27"/>
              <a:gd name="T1" fmla="*/ 0 h 24"/>
              <a:gd name="T2" fmla="*/ 2 w 27"/>
              <a:gd name="T3" fmla="*/ 37 h 24"/>
              <a:gd name="T4" fmla="*/ 31 w 27"/>
              <a:gd name="T5" fmla="*/ 20 h 24"/>
              <a:gd name="T6" fmla="*/ 2 w 27"/>
              <a:gd name="T7" fmla="*/ 2 h 24"/>
              <a:gd name="T8" fmla="*/ 2 w 27"/>
              <a:gd name="T9" fmla="*/ 2 h 24"/>
              <a:gd name="T10" fmla="*/ 0 w 27"/>
              <a:gd name="T11" fmla="*/ 0 h 2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7"/>
              <a:gd name="T19" fmla="*/ 0 h 24"/>
              <a:gd name="T20" fmla="*/ 27 w 27"/>
              <a:gd name="T21" fmla="*/ 24 h 2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7" h="24">
                <a:moveTo>
                  <a:pt x="0" y="0"/>
                </a:moveTo>
                <a:lnTo>
                  <a:pt x="2" y="24"/>
                </a:lnTo>
                <a:lnTo>
                  <a:pt x="27" y="13"/>
                </a:ln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92" name="Line 85"/>
          <p:cNvSpPr>
            <a:spLocks noChangeShapeType="1"/>
          </p:cNvSpPr>
          <p:nvPr/>
        </p:nvSpPr>
        <p:spPr bwMode="auto">
          <a:xfrm flipH="1">
            <a:off x="4948237" y="3040063"/>
            <a:ext cx="269875" cy="3175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93" name="Freeform 86"/>
          <p:cNvSpPr>
            <a:spLocks/>
          </p:cNvSpPr>
          <p:nvPr/>
        </p:nvSpPr>
        <p:spPr bwMode="auto">
          <a:xfrm>
            <a:off x="4722813" y="3008313"/>
            <a:ext cx="46037" cy="58738"/>
          </a:xfrm>
          <a:custGeom>
            <a:avLst/>
            <a:gdLst>
              <a:gd name="T0" fmla="*/ 0 w 25"/>
              <a:gd name="T1" fmla="*/ 0 h 24"/>
              <a:gd name="T2" fmla="*/ 0 w 25"/>
              <a:gd name="T3" fmla="*/ 37 h 24"/>
              <a:gd name="T4" fmla="*/ 29 w 25"/>
              <a:gd name="T5" fmla="*/ 20 h 24"/>
              <a:gd name="T6" fmla="*/ 0 w 25"/>
              <a:gd name="T7" fmla="*/ 2 h 24"/>
              <a:gd name="T8" fmla="*/ 0 w 25"/>
              <a:gd name="T9" fmla="*/ 2 h 24"/>
              <a:gd name="T10" fmla="*/ 0 w 25"/>
              <a:gd name="T11" fmla="*/ 0 h 2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"/>
              <a:gd name="T19" fmla="*/ 0 h 24"/>
              <a:gd name="T20" fmla="*/ 25 w 25"/>
              <a:gd name="T21" fmla="*/ 24 h 2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" h="24">
                <a:moveTo>
                  <a:pt x="0" y="0"/>
                </a:moveTo>
                <a:lnTo>
                  <a:pt x="0" y="24"/>
                </a:lnTo>
                <a:lnTo>
                  <a:pt x="25" y="13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94" name="Freeform 87"/>
          <p:cNvSpPr>
            <a:spLocks/>
          </p:cNvSpPr>
          <p:nvPr/>
        </p:nvSpPr>
        <p:spPr bwMode="auto">
          <a:xfrm>
            <a:off x="4538663" y="3259138"/>
            <a:ext cx="204787" cy="2667000"/>
          </a:xfrm>
          <a:custGeom>
            <a:avLst/>
            <a:gdLst>
              <a:gd name="T0" fmla="*/ 129 w 109"/>
              <a:gd name="T1" fmla="*/ 0 h 1191"/>
              <a:gd name="T2" fmla="*/ 0 w 109"/>
              <a:gd name="T3" fmla="*/ 0 h 1191"/>
              <a:gd name="T4" fmla="*/ 0 w 109"/>
              <a:gd name="T5" fmla="*/ 1680 h 1191"/>
              <a:gd name="T6" fmla="*/ 0 60000 65536"/>
              <a:gd name="T7" fmla="*/ 0 60000 65536"/>
              <a:gd name="T8" fmla="*/ 0 60000 65536"/>
              <a:gd name="T9" fmla="*/ 0 w 109"/>
              <a:gd name="T10" fmla="*/ 0 h 1191"/>
              <a:gd name="T11" fmla="*/ 109 w 109"/>
              <a:gd name="T12" fmla="*/ 1191 h 119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09" h="1191">
                <a:moveTo>
                  <a:pt x="109" y="0"/>
                </a:moveTo>
                <a:lnTo>
                  <a:pt x="0" y="0"/>
                </a:lnTo>
                <a:lnTo>
                  <a:pt x="0" y="1191"/>
                </a:lnTo>
              </a:path>
            </a:pathLst>
          </a:custGeom>
          <a:noFill/>
          <a:ln w="15875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95" name="Freeform 88"/>
          <p:cNvSpPr>
            <a:spLocks/>
          </p:cNvSpPr>
          <p:nvPr/>
        </p:nvSpPr>
        <p:spPr bwMode="auto">
          <a:xfrm>
            <a:off x="4722813" y="2790825"/>
            <a:ext cx="46037" cy="58738"/>
          </a:xfrm>
          <a:custGeom>
            <a:avLst/>
            <a:gdLst>
              <a:gd name="T0" fmla="*/ 0 w 25"/>
              <a:gd name="T1" fmla="*/ 0 h 24"/>
              <a:gd name="T2" fmla="*/ 0 w 25"/>
              <a:gd name="T3" fmla="*/ 37 h 24"/>
              <a:gd name="T4" fmla="*/ 29 w 25"/>
              <a:gd name="T5" fmla="*/ 20 h 24"/>
              <a:gd name="T6" fmla="*/ 0 w 25"/>
              <a:gd name="T7" fmla="*/ 0 h 24"/>
              <a:gd name="T8" fmla="*/ 0 w 25"/>
              <a:gd name="T9" fmla="*/ 0 h 2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5"/>
              <a:gd name="T16" fmla="*/ 0 h 24"/>
              <a:gd name="T17" fmla="*/ 25 w 25"/>
              <a:gd name="T18" fmla="*/ 24 h 2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5" h="24">
                <a:moveTo>
                  <a:pt x="0" y="0"/>
                </a:moveTo>
                <a:lnTo>
                  <a:pt x="0" y="24"/>
                </a:lnTo>
                <a:lnTo>
                  <a:pt x="25" y="1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96" name="Line 89"/>
          <p:cNvSpPr>
            <a:spLocks noChangeShapeType="1"/>
          </p:cNvSpPr>
          <p:nvPr/>
        </p:nvSpPr>
        <p:spPr bwMode="auto">
          <a:xfrm flipH="1">
            <a:off x="4130675" y="2817813"/>
            <a:ext cx="612775" cy="4763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97" name="Freeform 90"/>
          <p:cNvSpPr>
            <a:spLocks/>
          </p:cNvSpPr>
          <p:nvPr/>
        </p:nvSpPr>
        <p:spPr bwMode="auto">
          <a:xfrm>
            <a:off x="4516438" y="4152900"/>
            <a:ext cx="42862" cy="60325"/>
          </a:xfrm>
          <a:custGeom>
            <a:avLst/>
            <a:gdLst>
              <a:gd name="T0" fmla="*/ 11 w 23"/>
              <a:gd name="T1" fmla="*/ 38 h 25"/>
              <a:gd name="T2" fmla="*/ 15 w 23"/>
              <a:gd name="T3" fmla="*/ 38 h 25"/>
              <a:gd name="T4" fmla="*/ 18 w 23"/>
              <a:gd name="T5" fmla="*/ 38 h 25"/>
              <a:gd name="T6" fmla="*/ 20 w 23"/>
              <a:gd name="T7" fmla="*/ 35 h 25"/>
              <a:gd name="T8" fmla="*/ 22 w 23"/>
              <a:gd name="T9" fmla="*/ 35 h 25"/>
              <a:gd name="T10" fmla="*/ 22 w 23"/>
              <a:gd name="T11" fmla="*/ 32 h 25"/>
              <a:gd name="T12" fmla="*/ 25 w 23"/>
              <a:gd name="T13" fmla="*/ 32 h 25"/>
              <a:gd name="T14" fmla="*/ 25 w 23"/>
              <a:gd name="T15" fmla="*/ 30 h 25"/>
              <a:gd name="T16" fmla="*/ 27 w 23"/>
              <a:gd name="T17" fmla="*/ 27 h 25"/>
              <a:gd name="T18" fmla="*/ 27 w 23"/>
              <a:gd name="T19" fmla="*/ 24 h 25"/>
              <a:gd name="T20" fmla="*/ 27 w 23"/>
              <a:gd name="T21" fmla="*/ 21 h 25"/>
              <a:gd name="T22" fmla="*/ 27 w 23"/>
              <a:gd name="T23" fmla="*/ 18 h 25"/>
              <a:gd name="T24" fmla="*/ 27 w 23"/>
              <a:gd name="T25" fmla="*/ 15 h 25"/>
              <a:gd name="T26" fmla="*/ 25 w 23"/>
              <a:gd name="T27" fmla="*/ 12 h 25"/>
              <a:gd name="T28" fmla="*/ 25 w 23"/>
              <a:gd name="T29" fmla="*/ 9 h 25"/>
              <a:gd name="T30" fmla="*/ 22 w 23"/>
              <a:gd name="T31" fmla="*/ 6 h 25"/>
              <a:gd name="T32" fmla="*/ 22 w 23"/>
              <a:gd name="T33" fmla="*/ 6 h 25"/>
              <a:gd name="T34" fmla="*/ 20 w 23"/>
              <a:gd name="T35" fmla="*/ 3 h 25"/>
              <a:gd name="T36" fmla="*/ 18 w 23"/>
              <a:gd name="T37" fmla="*/ 3 h 25"/>
              <a:gd name="T38" fmla="*/ 15 w 23"/>
              <a:gd name="T39" fmla="*/ 3 h 25"/>
              <a:gd name="T40" fmla="*/ 13 w 23"/>
              <a:gd name="T41" fmla="*/ 0 h 25"/>
              <a:gd name="T42" fmla="*/ 11 w 23"/>
              <a:gd name="T43" fmla="*/ 3 h 25"/>
              <a:gd name="T44" fmla="*/ 8 w 23"/>
              <a:gd name="T45" fmla="*/ 3 h 25"/>
              <a:gd name="T46" fmla="*/ 6 w 23"/>
              <a:gd name="T47" fmla="*/ 3 h 25"/>
              <a:gd name="T48" fmla="*/ 4 w 23"/>
              <a:gd name="T49" fmla="*/ 6 h 25"/>
              <a:gd name="T50" fmla="*/ 2 w 23"/>
              <a:gd name="T51" fmla="*/ 6 h 25"/>
              <a:gd name="T52" fmla="*/ 2 w 23"/>
              <a:gd name="T53" fmla="*/ 9 h 25"/>
              <a:gd name="T54" fmla="*/ 0 w 23"/>
              <a:gd name="T55" fmla="*/ 12 h 25"/>
              <a:gd name="T56" fmla="*/ 0 w 23"/>
              <a:gd name="T57" fmla="*/ 15 h 25"/>
              <a:gd name="T58" fmla="*/ 0 w 23"/>
              <a:gd name="T59" fmla="*/ 18 h 25"/>
              <a:gd name="T60" fmla="*/ 0 w 23"/>
              <a:gd name="T61" fmla="*/ 21 h 25"/>
              <a:gd name="T62" fmla="*/ 0 w 23"/>
              <a:gd name="T63" fmla="*/ 24 h 25"/>
              <a:gd name="T64" fmla="*/ 0 w 23"/>
              <a:gd name="T65" fmla="*/ 27 h 25"/>
              <a:gd name="T66" fmla="*/ 0 w 23"/>
              <a:gd name="T67" fmla="*/ 30 h 25"/>
              <a:gd name="T68" fmla="*/ 2 w 23"/>
              <a:gd name="T69" fmla="*/ 32 h 25"/>
              <a:gd name="T70" fmla="*/ 2 w 23"/>
              <a:gd name="T71" fmla="*/ 32 h 25"/>
              <a:gd name="T72" fmla="*/ 4 w 23"/>
              <a:gd name="T73" fmla="*/ 35 h 25"/>
              <a:gd name="T74" fmla="*/ 6 w 23"/>
              <a:gd name="T75" fmla="*/ 35 h 25"/>
              <a:gd name="T76" fmla="*/ 8 w 23"/>
              <a:gd name="T77" fmla="*/ 38 h 25"/>
              <a:gd name="T78" fmla="*/ 11 w 23"/>
              <a:gd name="T79" fmla="*/ 38 h 25"/>
              <a:gd name="T80" fmla="*/ 13 w 23"/>
              <a:gd name="T81" fmla="*/ 38 h 25"/>
              <a:gd name="T82" fmla="*/ 13 w 23"/>
              <a:gd name="T83" fmla="*/ 38 h 25"/>
              <a:gd name="T84" fmla="*/ 11 w 23"/>
              <a:gd name="T85" fmla="*/ 38 h 25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w 23"/>
              <a:gd name="T130" fmla="*/ 0 h 25"/>
              <a:gd name="T131" fmla="*/ 23 w 23"/>
              <a:gd name="T132" fmla="*/ 25 h 25"/>
            </a:gdLst>
            <a:ahLst/>
            <a:cxnLst>
              <a:cxn ang="T86">
                <a:pos x="T0" y="T1"/>
              </a:cxn>
              <a:cxn ang="T87">
                <a:pos x="T2" y="T3"/>
              </a:cxn>
              <a:cxn ang="T88">
                <a:pos x="T4" y="T5"/>
              </a:cxn>
              <a:cxn ang="T89">
                <a:pos x="T6" y="T7"/>
              </a:cxn>
              <a:cxn ang="T90">
                <a:pos x="T8" y="T9"/>
              </a:cxn>
              <a:cxn ang="T91">
                <a:pos x="T10" y="T11"/>
              </a:cxn>
              <a:cxn ang="T92">
                <a:pos x="T12" y="T13"/>
              </a:cxn>
              <a:cxn ang="T93">
                <a:pos x="T14" y="T15"/>
              </a:cxn>
              <a:cxn ang="T94">
                <a:pos x="T16" y="T17"/>
              </a:cxn>
              <a:cxn ang="T95">
                <a:pos x="T18" y="T19"/>
              </a:cxn>
              <a:cxn ang="T96">
                <a:pos x="T20" y="T21"/>
              </a:cxn>
              <a:cxn ang="T97">
                <a:pos x="T22" y="T23"/>
              </a:cxn>
              <a:cxn ang="T98">
                <a:pos x="T24" y="T25"/>
              </a:cxn>
              <a:cxn ang="T99">
                <a:pos x="T26" y="T27"/>
              </a:cxn>
              <a:cxn ang="T100">
                <a:pos x="T28" y="T29"/>
              </a:cxn>
              <a:cxn ang="T101">
                <a:pos x="T30" y="T31"/>
              </a:cxn>
              <a:cxn ang="T102">
                <a:pos x="T32" y="T33"/>
              </a:cxn>
              <a:cxn ang="T103">
                <a:pos x="T34" y="T35"/>
              </a:cxn>
              <a:cxn ang="T104">
                <a:pos x="T36" y="T37"/>
              </a:cxn>
              <a:cxn ang="T105">
                <a:pos x="T38" y="T39"/>
              </a:cxn>
              <a:cxn ang="T106">
                <a:pos x="T40" y="T41"/>
              </a:cxn>
              <a:cxn ang="T107">
                <a:pos x="T42" y="T43"/>
              </a:cxn>
              <a:cxn ang="T108">
                <a:pos x="T44" y="T45"/>
              </a:cxn>
              <a:cxn ang="T109">
                <a:pos x="T46" y="T47"/>
              </a:cxn>
              <a:cxn ang="T110">
                <a:pos x="T48" y="T49"/>
              </a:cxn>
              <a:cxn ang="T111">
                <a:pos x="T50" y="T51"/>
              </a:cxn>
              <a:cxn ang="T112">
                <a:pos x="T52" y="T53"/>
              </a:cxn>
              <a:cxn ang="T113">
                <a:pos x="T54" y="T55"/>
              </a:cxn>
              <a:cxn ang="T114">
                <a:pos x="T56" y="T57"/>
              </a:cxn>
              <a:cxn ang="T115">
                <a:pos x="T58" y="T59"/>
              </a:cxn>
              <a:cxn ang="T116">
                <a:pos x="T60" y="T61"/>
              </a:cxn>
              <a:cxn ang="T117">
                <a:pos x="T62" y="T63"/>
              </a:cxn>
              <a:cxn ang="T118">
                <a:pos x="T64" y="T65"/>
              </a:cxn>
              <a:cxn ang="T119">
                <a:pos x="T66" y="T67"/>
              </a:cxn>
              <a:cxn ang="T120">
                <a:pos x="T68" y="T69"/>
              </a:cxn>
              <a:cxn ang="T121">
                <a:pos x="T70" y="T71"/>
              </a:cxn>
              <a:cxn ang="T122">
                <a:pos x="T72" y="T73"/>
              </a:cxn>
              <a:cxn ang="T123">
                <a:pos x="T74" y="T75"/>
              </a:cxn>
              <a:cxn ang="T124">
                <a:pos x="T76" y="T77"/>
              </a:cxn>
              <a:cxn ang="T125">
                <a:pos x="T78" y="T79"/>
              </a:cxn>
              <a:cxn ang="T126">
                <a:pos x="T80" y="T81"/>
              </a:cxn>
              <a:cxn ang="T127">
                <a:pos x="T82" y="T83"/>
              </a:cxn>
              <a:cxn ang="T128">
                <a:pos x="T84" y="T85"/>
              </a:cxn>
            </a:cxnLst>
            <a:rect l="T129" t="T130" r="T131" b="T132"/>
            <a:pathLst>
              <a:path w="23" h="25">
                <a:moveTo>
                  <a:pt x="9" y="25"/>
                </a:moveTo>
                <a:lnTo>
                  <a:pt x="13" y="25"/>
                </a:lnTo>
                <a:lnTo>
                  <a:pt x="15" y="25"/>
                </a:lnTo>
                <a:lnTo>
                  <a:pt x="17" y="23"/>
                </a:lnTo>
                <a:lnTo>
                  <a:pt x="19" y="23"/>
                </a:lnTo>
                <a:lnTo>
                  <a:pt x="19" y="21"/>
                </a:lnTo>
                <a:lnTo>
                  <a:pt x="21" y="21"/>
                </a:lnTo>
                <a:lnTo>
                  <a:pt x="21" y="20"/>
                </a:lnTo>
                <a:lnTo>
                  <a:pt x="23" y="18"/>
                </a:lnTo>
                <a:lnTo>
                  <a:pt x="23" y="16"/>
                </a:lnTo>
                <a:lnTo>
                  <a:pt x="23" y="14"/>
                </a:lnTo>
                <a:lnTo>
                  <a:pt x="23" y="12"/>
                </a:lnTo>
                <a:lnTo>
                  <a:pt x="23" y="10"/>
                </a:lnTo>
                <a:lnTo>
                  <a:pt x="21" y="8"/>
                </a:lnTo>
                <a:lnTo>
                  <a:pt x="21" y="6"/>
                </a:lnTo>
                <a:lnTo>
                  <a:pt x="19" y="4"/>
                </a:lnTo>
                <a:lnTo>
                  <a:pt x="17" y="2"/>
                </a:lnTo>
                <a:lnTo>
                  <a:pt x="15" y="2"/>
                </a:lnTo>
                <a:lnTo>
                  <a:pt x="13" y="2"/>
                </a:lnTo>
                <a:lnTo>
                  <a:pt x="11" y="0"/>
                </a:lnTo>
                <a:lnTo>
                  <a:pt x="9" y="2"/>
                </a:lnTo>
                <a:lnTo>
                  <a:pt x="7" y="2"/>
                </a:lnTo>
                <a:lnTo>
                  <a:pt x="5" y="2"/>
                </a:lnTo>
                <a:lnTo>
                  <a:pt x="3" y="4"/>
                </a:lnTo>
                <a:lnTo>
                  <a:pt x="2" y="4"/>
                </a:lnTo>
                <a:lnTo>
                  <a:pt x="2" y="6"/>
                </a:lnTo>
                <a:lnTo>
                  <a:pt x="0" y="8"/>
                </a:lnTo>
                <a:lnTo>
                  <a:pt x="0" y="10"/>
                </a:lnTo>
                <a:lnTo>
                  <a:pt x="0" y="12"/>
                </a:lnTo>
                <a:lnTo>
                  <a:pt x="0" y="14"/>
                </a:lnTo>
                <a:lnTo>
                  <a:pt x="0" y="16"/>
                </a:lnTo>
                <a:lnTo>
                  <a:pt x="0" y="18"/>
                </a:lnTo>
                <a:lnTo>
                  <a:pt x="0" y="20"/>
                </a:lnTo>
                <a:lnTo>
                  <a:pt x="2" y="21"/>
                </a:lnTo>
                <a:lnTo>
                  <a:pt x="3" y="23"/>
                </a:lnTo>
                <a:lnTo>
                  <a:pt x="5" y="23"/>
                </a:lnTo>
                <a:lnTo>
                  <a:pt x="7" y="25"/>
                </a:lnTo>
                <a:lnTo>
                  <a:pt x="9" y="25"/>
                </a:lnTo>
                <a:lnTo>
                  <a:pt x="11" y="25"/>
                </a:lnTo>
                <a:lnTo>
                  <a:pt x="9" y="25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98" name="Line 91"/>
          <p:cNvSpPr>
            <a:spLocks noChangeShapeType="1"/>
          </p:cNvSpPr>
          <p:nvPr/>
        </p:nvSpPr>
        <p:spPr bwMode="auto">
          <a:xfrm>
            <a:off x="1766888" y="3546475"/>
            <a:ext cx="207962" cy="4763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99" name="Freeform 92"/>
          <p:cNvSpPr>
            <a:spLocks/>
          </p:cNvSpPr>
          <p:nvPr/>
        </p:nvSpPr>
        <p:spPr bwMode="auto">
          <a:xfrm>
            <a:off x="1974850" y="1889125"/>
            <a:ext cx="1933575" cy="3211513"/>
          </a:xfrm>
          <a:custGeom>
            <a:avLst/>
            <a:gdLst>
              <a:gd name="T0" fmla="*/ 1218 w 1032"/>
              <a:gd name="T1" fmla="*/ 2020 h 1325"/>
              <a:gd name="T2" fmla="*/ 0 w 1032"/>
              <a:gd name="T3" fmla="*/ 2023 h 1325"/>
              <a:gd name="T4" fmla="*/ 0 w 1032"/>
              <a:gd name="T5" fmla="*/ 0 h 1325"/>
              <a:gd name="T6" fmla="*/ 486 w 1032"/>
              <a:gd name="T7" fmla="*/ 0 h 1325"/>
              <a:gd name="T8" fmla="*/ 0 60000 65536"/>
              <a:gd name="T9" fmla="*/ 0 60000 65536"/>
              <a:gd name="T10" fmla="*/ 0 60000 65536"/>
              <a:gd name="T11" fmla="*/ 0 60000 65536"/>
              <a:gd name="T12" fmla="*/ 0 w 1032"/>
              <a:gd name="T13" fmla="*/ 0 h 1325"/>
              <a:gd name="T14" fmla="*/ 1032 w 1032"/>
              <a:gd name="T15" fmla="*/ 1325 h 132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32" h="1325">
                <a:moveTo>
                  <a:pt x="1032" y="1323"/>
                </a:moveTo>
                <a:lnTo>
                  <a:pt x="0" y="1325"/>
                </a:lnTo>
                <a:lnTo>
                  <a:pt x="0" y="0"/>
                </a:lnTo>
                <a:lnTo>
                  <a:pt x="412" y="0"/>
                </a:lnTo>
              </a:path>
            </a:pathLst>
          </a:custGeom>
          <a:noFill/>
          <a:ln w="15875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101" name="Freeform 94"/>
          <p:cNvSpPr>
            <a:spLocks/>
          </p:cNvSpPr>
          <p:nvPr/>
        </p:nvSpPr>
        <p:spPr bwMode="auto">
          <a:xfrm>
            <a:off x="2178050" y="3173413"/>
            <a:ext cx="1730375" cy="1495425"/>
          </a:xfrm>
          <a:custGeom>
            <a:avLst/>
            <a:gdLst>
              <a:gd name="T0" fmla="*/ 1090 w 923"/>
              <a:gd name="T1" fmla="*/ 942 h 617"/>
              <a:gd name="T2" fmla="*/ 0 w 923"/>
              <a:gd name="T3" fmla="*/ 942 h 617"/>
              <a:gd name="T4" fmla="*/ 0 w 923"/>
              <a:gd name="T5" fmla="*/ 0 h 617"/>
              <a:gd name="T6" fmla="*/ 0 60000 65536"/>
              <a:gd name="T7" fmla="*/ 0 60000 65536"/>
              <a:gd name="T8" fmla="*/ 0 60000 65536"/>
              <a:gd name="T9" fmla="*/ 0 w 923"/>
              <a:gd name="T10" fmla="*/ 0 h 617"/>
              <a:gd name="T11" fmla="*/ 923 w 923"/>
              <a:gd name="T12" fmla="*/ 617 h 61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23" h="617">
                <a:moveTo>
                  <a:pt x="923" y="617"/>
                </a:moveTo>
                <a:lnTo>
                  <a:pt x="0" y="617"/>
                </a:lnTo>
                <a:lnTo>
                  <a:pt x="0" y="0"/>
                </a:lnTo>
              </a:path>
            </a:pathLst>
          </a:custGeom>
          <a:noFill/>
          <a:ln w="15875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103" name="Line 96"/>
          <p:cNvSpPr>
            <a:spLocks noChangeShapeType="1"/>
          </p:cNvSpPr>
          <p:nvPr/>
        </p:nvSpPr>
        <p:spPr bwMode="auto">
          <a:xfrm>
            <a:off x="1974850" y="4876800"/>
            <a:ext cx="1935162" cy="3175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105" name="Freeform 98"/>
          <p:cNvSpPr>
            <a:spLocks/>
          </p:cNvSpPr>
          <p:nvPr/>
        </p:nvSpPr>
        <p:spPr bwMode="auto">
          <a:xfrm>
            <a:off x="1952625" y="4849813"/>
            <a:ext cx="46037" cy="58738"/>
          </a:xfrm>
          <a:custGeom>
            <a:avLst/>
            <a:gdLst>
              <a:gd name="T0" fmla="*/ 13 w 25"/>
              <a:gd name="T1" fmla="*/ 35 h 24"/>
              <a:gd name="T2" fmla="*/ 15 w 25"/>
              <a:gd name="T3" fmla="*/ 37 h 24"/>
              <a:gd name="T4" fmla="*/ 17 w 25"/>
              <a:gd name="T5" fmla="*/ 35 h 24"/>
              <a:gd name="T6" fmla="*/ 20 w 25"/>
              <a:gd name="T7" fmla="*/ 35 h 24"/>
              <a:gd name="T8" fmla="*/ 22 w 25"/>
              <a:gd name="T9" fmla="*/ 32 h 24"/>
              <a:gd name="T10" fmla="*/ 24 w 25"/>
              <a:gd name="T11" fmla="*/ 32 h 24"/>
              <a:gd name="T12" fmla="*/ 24 w 25"/>
              <a:gd name="T13" fmla="*/ 29 h 24"/>
              <a:gd name="T14" fmla="*/ 27 w 25"/>
              <a:gd name="T15" fmla="*/ 26 h 24"/>
              <a:gd name="T16" fmla="*/ 27 w 25"/>
              <a:gd name="T17" fmla="*/ 23 h 24"/>
              <a:gd name="T18" fmla="*/ 27 w 25"/>
              <a:gd name="T19" fmla="*/ 20 h 24"/>
              <a:gd name="T20" fmla="*/ 29 w 25"/>
              <a:gd name="T21" fmla="*/ 17 h 24"/>
              <a:gd name="T22" fmla="*/ 27 w 25"/>
              <a:gd name="T23" fmla="*/ 14 h 24"/>
              <a:gd name="T24" fmla="*/ 27 w 25"/>
              <a:gd name="T25" fmla="*/ 11 h 24"/>
              <a:gd name="T26" fmla="*/ 27 w 25"/>
              <a:gd name="T27" fmla="*/ 8 h 24"/>
              <a:gd name="T28" fmla="*/ 24 w 25"/>
              <a:gd name="T29" fmla="*/ 8 h 24"/>
              <a:gd name="T30" fmla="*/ 24 w 25"/>
              <a:gd name="T31" fmla="*/ 5 h 24"/>
              <a:gd name="T32" fmla="*/ 22 w 25"/>
              <a:gd name="T33" fmla="*/ 3 h 24"/>
              <a:gd name="T34" fmla="*/ 20 w 25"/>
              <a:gd name="T35" fmla="*/ 3 h 24"/>
              <a:gd name="T36" fmla="*/ 17 w 25"/>
              <a:gd name="T37" fmla="*/ 0 h 24"/>
              <a:gd name="T38" fmla="*/ 15 w 25"/>
              <a:gd name="T39" fmla="*/ 0 h 24"/>
              <a:gd name="T40" fmla="*/ 13 w 25"/>
              <a:gd name="T41" fmla="*/ 0 h 24"/>
              <a:gd name="T42" fmla="*/ 10 w 25"/>
              <a:gd name="T43" fmla="*/ 0 h 24"/>
              <a:gd name="T44" fmla="*/ 8 w 25"/>
              <a:gd name="T45" fmla="*/ 0 h 24"/>
              <a:gd name="T46" fmla="*/ 6 w 25"/>
              <a:gd name="T47" fmla="*/ 3 h 24"/>
              <a:gd name="T48" fmla="*/ 5 w 25"/>
              <a:gd name="T49" fmla="*/ 3 h 24"/>
              <a:gd name="T50" fmla="*/ 5 w 25"/>
              <a:gd name="T51" fmla="*/ 5 h 24"/>
              <a:gd name="T52" fmla="*/ 2 w 25"/>
              <a:gd name="T53" fmla="*/ 8 h 24"/>
              <a:gd name="T54" fmla="*/ 2 w 25"/>
              <a:gd name="T55" fmla="*/ 8 h 24"/>
              <a:gd name="T56" fmla="*/ 0 w 25"/>
              <a:gd name="T57" fmla="*/ 11 h 24"/>
              <a:gd name="T58" fmla="*/ 0 w 25"/>
              <a:gd name="T59" fmla="*/ 14 h 24"/>
              <a:gd name="T60" fmla="*/ 0 w 25"/>
              <a:gd name="T61" fmla="*/ 17 h 24"/>
              <a:gd name="T62" fmla="*/ 0 w 25"/>
              <a:gd name="T63" fmla="*/ 20 h 24"/>
              <a:gd name="T64" fmla="*/ 0 w 25"/>
              <a:gd name="T65" fmla="*/ 23 h 24"/>
              <a:gd name="T66" fmla="*/ 2 w 25"/>
              <a:gd name="T67" fmla="*/ 26 h 24"/>
              <a:gd name="T68" fmla="*/ 2 w 25"/>
              <a:gd name="T69" fmla="*/ 29 h 24"/>
              <a:gd name="T70" fmla="*/ 5 w 25"/>
              <a:gd name="T71" fmla="*/ 32 h 24"/>
              <a:gd name="T72" fmla="*/ 5 w 25"/>
              <a:gd name="T73" fmla="*/ 32 h 24"/>
              <a:gd name="T74" fmla="*/ 6 w 25"/>
              <a:gd name="T75" fmla="*/ 35 h 24"/>
              <a:gd name="T76" fmla="*/ 8 w 25"/>
              <a:gd name="T77" fmla="*/ 35 h 24"/>
              <a:gd name="T78" fmla="*/ 10 w 25"/>
              <a:gd name="T79" fmla="*/ 37 h 24"/>
              <a:gd name="T80" fmla="*/ 13 w 25"/>
              <a:gd name="T81" fmla="*/ 37 h 24"/>
              <a:gd name="T82" fmla="*/ 13 w 25"/>
              <a:gd name="T83" fmla="*/ 37 h 24"/>
              <a:gd name="T84" fmla="*/ 13 w 25"/>
              <a:gd name="T85" fmla="*/ 35 h 24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w 25"/>
              <a:gd name="T130" fmla="*/ 0 h 24"/>
              <a:gd name="T131" fmla="*/ 25 w 25"/>
              <a:gd name="T132" fmla="*/ 24 h 24"/>
            </a:gdLst>
            <a:ahLst/>
            <a:cxnLst>
              <a:cxn ang="T86">
                <a:pos x="T0" y="T1"/>
              </a:cxn>
              <a:cxn ang="T87">
                <a:pos x="T2" y="T3"/>
              </a:cxn>
              <a:cxn ang="T88">
                <a:pos x="T4" y="T5"/>
              </a:cxn>
              <a:cxn ang="T89">
                <a:pos x="T6" y="T7"/>
              </a:cxn>
              <a:cxn ang="T90">
                <a:pos x="T8" y="T9"/>
              </a:cxn>
              <a:cxn ang="T91">
                <a:pos x="T10" y="T11"/>
              </a:cxn>
              <a:cxn ang="T92">
                <a:pos x="T12" y="T13"/>
              </a:cxn>
              <a:cxn ang="T93">
                <a:pos x="T14" y="T15"/>
              </a:cxn>
              <a:cxn ang="T94">
                <a:pos x="T16" y="T17"/>
              </a:cxn>
              <a:cxn ang="T95">
                <a:pos x="T18" y="T19"/>
              </a:cxn>
              <a:cxn ang="T96">
                <a:pos x="T20" y="T21"/>
              </a:cxn>
              <a:cxn ang="T97">
                <a:pos x="T22" y="T23"/>
              </a:cxn>
              <a:cxn ang="T98">
                <a:pos x="T24" y="T25"/>
              </a:cxn>
              <a:cxn ang="T99">
                <a:pos x="T26" y="T27"/>
              </a:cxn>
              <a:cxn ang="T100">
                <a:pos x="T28" y="T29"/>
              </a:cxn>
              <a:cxn ang="T101">
                <a:pos x="T30" y="T31"/>
              </a:cxn>
              <a:cxn ang="T102">
                <a:pos x="T32" y="T33"/>
              </a:cxn>
              <a:cxn ang="T103">
                <a:pos x="T34" y="T35"/>
              </a:cxn>
              <a:cxn ang="T104">
                <a:pos x="T36" y="T37"/>
              </a:cxn>
              <a:cxn ang="T105">
                <a:pos x="T38" y="T39"/>
              </a:cxn>
              <a:cxn ang="T106">
                <a:pos x="T40" y="T41"/>
              </a:cxn>
              <a:cxn ang="T107">
                <a:pos x="T42" y="T43"/>
              </a:cxn>
              <a:cxn ang="T108">
                <a:pos x="T44" y="T45"/>
              </a:cxn>
              <a:cxn ang="T109">
                <a:pos x="T46" y="T47"/>
              </a:cxn>
              <a:cxn ang="T110">
                <a:pos x="T48" y="T49"/>
              </a:cxn>
              <a:cxn ang="T111">
                <a:pos x="T50" y="T51"/>
              </a:cxn>
              <a:cxn ang="T112">
                <a:pos x="T52" y="T53"/>
              </a:cxn>
              <a:cxn ang="T113">
                <a:pos x="T54" y="T55"/>
              </a:cxn>
              <a:cxn ang="T114">
                <a:pos x="T56" y="T57"/>
              </a:cxn>
              <a:cxn ang="T115">
                <a:pos x="T58" y="T59"/>
              </a:cxn>
              <a:cxn ang="T116">
                <a:pos x="T60" y="T61"/>
              </a:cxn>
              <a:cxn ang="T117">
                <a:pos x="T62" y="T63"/>
              </a:cxn>
              <a:cxn ang="T118">
                <a:pos x="T64" y="T65"/>
              </a:cxn>
              <a:cxn ang="T119">
                <a:pos x="T66" y="T67"/>
              </a:cxn>
              <a:cxn ang="T120">
                <a:pos x="T68" y="T69"/>
              </a:cxn>
              <a:cxn ang="T121">
                <a:pos x="T70" y="T71"/>
              </a:cxn>
              <a:cxn ang="T122">
                <a:pos x="T72" y="T73"/>
              </a:cxn>
              <a:cxn ang="T123">
                <a:pos x="T74" y="T75"/>
              </a:cxn>
              <a:cxn ang="T124">
                <a:pos x="T76" y="T77"/>
              </a:cxn>
              <a:cxn ang="T125">
                <a:pos x="T78" y="T79"/>
              </a:cxn>
              <a:cxn ang="T126">
                <a:pos x="T80" y="T81"/>
              </a:cxn>
              <a:cxn ang="T127">
                <a:pos x="T82" y="T83"/>
              </a:cxn>
              <a:cxn ang="T128">
                <a:pos x="T84" y="T85"/>
              </a:cxn>
            </a:cxnLst>
            <a:rect l="T129" t="T130" r="T131" b="T132"/>
            <a:pathLst>
              <a:path w="25" h="24">
                <a:moveTo>
                  <a:pt x="11" y="23"/>
                </a:moveTo>
                <a:lnTo>
                  <a:pt x="13" y="24"/>
                </a:lnTo>
                <a:lnTo>
                  <a:pt x="15" y="23"/>
                </a:lnTo>
                <a:lnTo>
                  <a:pt x="17" y="23"/>
                </a:lnTo>
                <a:lnTo>
                  <a:pt x="19" y="21"/>
                </a:lnTo>
                <a:lnTo>
                  <a:pt x="21" y="21"/>
                </a:lnTo>
                <a:lnTo>
                  <a:pt x="21" y="19"/>
                </a:lnTo>
                <a:lnTo>
                  <a:pt x="23" y="17"/>
                </a:lnTo>
                <a:lnTo>
                  <a:pt x="23" y="15"/>
                </a:lnTo>
                <a:lnTo>
                  <a:pt x="23" y="13"/>
                </a:lnTo>
                <a:lnTo>
                  <a:pt x="25" y="11"/>
                </a:lnTo>
                <a:lnTo>
                  <a:pt x="23" y="9"/>
                </a:lnTo>
                <a:lnTo>
                  <a:pt x="23" y="7"/>
                </a:lnTo>
                <a:lnTo>
                  <a:pt x="23" y="5"/>
                </a:lnTo>
                <a:lnTo>
                  <a:pt x="21" y="5"/>
                </a:lnTo>
                <a:lnTo>
                  <a:pt x="21" y="3"/>
                </a:lnTo>
                <a:lnTo>
                  <a:pt x="19" y="2"/>
                </a:lnTo>
                <a:lnTo>
                  <a:pt x="17" y="2"/>
                </a:lnTo>
                <a:lnTo>
                  <a:pt x="15" y="0"/>
                </a:lnTo>
                <a:lnTo>
                  <a:pt x="13" y="0"/>
                </a:lnTo>
                <a:lnTo>
                  <a:pt x="11" y="0"/>
                </a:lnTo>
                <a:lnTo>
                  <a:pt x="9" y="0"/>
                </a:lnTo>
                <a:lnTo>
                  <a:pt x="7" y="0"/>
                </a:lnTo>
                <a:lnTo>
                  <a:pt x="5" y="2"/>
                </a:lnTo>
                <a:lnTo>
                  <a:pt x="4" y="2"/>
                </a:lnTo>
                <a:lnTo>
                  <a:pt x="4" y="3"/>
                </a:lnTo>
                <a:lnTo>
                  <a:pt x="2" y="5"/>
                </a:lnTo>
                <a:lnTo>
                  <a:pt x="0" y="7"/>
                </a:lnTo>
                <a:lnTo>
                  <a:pt x="0" y="9"/>
                </a:lnTo>
                <a:lnTo>
                  <a:pt x="0" y="11"/>
                </a:lnTo>
                <a:lnTo>
                  <a:pt x="0" y="13"/>
                </a:lnTo>
                <a:lnTo>
                  <a:pt x="0" y="15"/>
                </a:lnTo>
                <a:lnTo>
                  <a:pt x="2" y="17"/>
                </a:lnTo>
                <a:lnTo>
                  <a:pt x="2" y="19"/>
                </a:lnTo>
                <a:lnTo>
                  <a:pt x="4" y="21"/>
                </a:lnTo>
                <a:lnTo>
                  <a:pt x="5" y="23"/>
                </a:lnTo>
                <a:lnTo>
                  <a:pt x="7" y="23"/>
                </a:lnTo>
                <a:lnTo>
                  <a:pt x="9" y="24"/>
                </a:lnTo>
                <a:lnTo>
                  <a:pt x="11" y="24"/>
                </a:lnTo>
                <a:lnTo>
                  <a:pt x="11" y="23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106" name="Freeform 99"/>
          <p:cNvSpPr>
            <a:spLocks/>
          </p:cNvSpPr>
          <p:nvPr/>
        </p:nvSpPr>
        <p:spPr bwMode="auto">
          <a:xfrm>
            <a:off x="2052638" y="2795588"/>
            <a:ext cx="46037" cy="58738"/>
          </a:xfrm>
          <a:custGeom>
            <a:avLst/>
            <a:gdLst>
              <a:gd name="T0" fmla="*/ 14 w 25"/>
              <a:gd name="T1" fmla="*/ 34 h 24"/>
              <a:gd name="T2" fmla="*/ 16 w 25"/>
              <a:gd name="T3" fmla="*/ 34 h 24"/>
              <a:gd name="T4" fmla="*/ 19 w 25"/>
              <a:gd name="T5" fmla="*/ 34 h 24"/>
              <a:gd name="T6" fmla="*/ 21 w 25"/>
              <a:gd name="T7" fmla="*/ 34 h 24"/>
              <a:gd name="T8" fmla="*/ 23 w 25"/>
              <a:gd name="T9" fmla="*/ 32 h 24"/>
              <a:gd name="T10" fmla="*/ 24 w 25"/>
              <a:gd name="T11" fmla="*/ 32 h 24"/>
              <a:gd name="T12" fmla="*/ 24 w 25"/>
              <a:gd name="T13" fmla="*/ 29 h 24"/>
              <a:gd name="T14" fmla="*/ 27 w 25"/>
              <a:gd name="T15" fmla="*/ 26 h 24"/>
              <a:gd name="T16" fmla="*/ 27 w 25"/>
              <a:gd name="T17" fmla="*/ 23 h 24"/>
              <a:gd name="T18" fmla="*/ 29 w 25"/>
              <a:gd name="T19" fmla="*/ 20 h 24"/>
              <a:gd name="T20" fmla="*/ 29 w 25"/>
              <a:gd name="T21" fmla="*/ 17 h 24"/>
              <a:gd name="T22" fmla="*/ 29 w 25"/>
              <a:gd name="T23" fmla="*/ 14 h 24"/>
              <a:gd name="T24" fmla="*/ 27 w 25"/>
              <a:gd name="T25" fmla="*/ 11 h 24"/>
              <a:gd name="T26" fmla="*/ 27 w 25"/>
              <a:gd name="T27" fmla="*/ 8 h 24"/>
              <a:gd name="T28" fmla="*/ 24 w 25"/>
              <a:gd name="T29" fmla="*/ 5 h 24"/>
              <a:gd name="T30" fmla="*/ 24 w 25"/>
              <a:gd name="T31" fmla="*/ 5 h 24"/>
              <a:gd name="T32" fmla="*/ 23 w 25"/>
              <a:gd name="T33" fmla="*/ 2 h 24"/>
              <a:gd name="T34" fmla="*/ 21 w 25"/>
              <a:gd name="T35" fmla="*/ 2 h 24"/>
              <a:gd name="T36" fmla="*/ 19 w 25"/>
              <a:gd name="T37" fmla="*/ 0 h 24"/>
              <a:gd name="T38" fmla="*/ 16 w 25"/>
              <a:gd name="T39" fmla="*/ 0 h 24"/>
              <a:gd name="T40" fmla="*/ 14 w 25"/>
              <a:gd name="T41" fmla="*/ 0 h 24"/>
              <a:gd name="T42" fmla="*/ 12 w 25"/>
              <a:gd name="T43" fmla="*/ 0 h 24"/>
              <a:gd name="T44" fmla="*/ 9 w 25"/>
              <a:gd name="T45" fmla="*/ 0 h 24"/>
              <a:gd name="T46" fmla="*/ 7 w 25"/>
              <a:gd name="T47" fmla="*/ 2 h 24"/>
              <a:gd name="T48" fmla="*/ 7 w 25"/>
              <a:gd name="T49" fmla="*/ 2 h 24"/>
              <a:gd name="T50" fmla="*/ 5 w 25"/>
              <a:gd name="T51" fmla="*/ 5 h 24"/>
              <a:gd name="T52" fmla="*/ 2 w 25"/>
              <a:gd name="T53" fmla="*/ 5 h 24"/>
              <a:gd name="T54" fmla="*/ 2 w 25"/>
              <a:gd name="T55" fmla="*/ 8 h 24"/>
              <a:gd name="T56" fmla="*/ 0 w 25"/>
              <a:gd name="T57" fmla="*/ 11 h 24"/>
              <a:gd name="T58" fmla="*/ 0 w 25"/>
              <a:gd name="T59" fmla="*/ 14 h 24"/>
              <a:gd name="T60" fmla="*/ 0 w 25"/>
              <a:gd name="T61" fmla="*/ 17 h 24"/>
              <a:gd name="T62" fmla="*/ 0 w 25"/>
              <a:gd name="T63" fmla="*/ 20 h 24"/>
              <a:gd name="T64" fmla="*/ 0 w 25"/>
              <a:gd name="T65" fmla="*/ 23 h 24"/>
              <a:gd name="T66" fmla="*/ 2 w 25"/>
              <a:gd name="T67" fmla="*/ 26 h 24"/>
              <a:gd name="T68" fmla="*/ 2 w 25"/>
              <a:gd name="T69" fmla="*/ 29 h 24"/>
              <a:gd name="T70" fmla="*/ 5 w 25"/>
              <a:gd name="T71" fmla="*/ 32 h 24"/>
              <a:gd name="T72" fmla="*/ 7 w 25"/>
              <a:gd name="T73" fmla="*/ 32 h 24"/>
              <a:gd name="T74" fmla="*/ 7 w 25"/>
              <a:gd name="T75" fmla="*/ 34 h 24"/>
              <a:gd name="T76" fmla="*/ 9 w 25"/>
              <a:gd name="T77" fmla="*/ 34 h 24"/>
              <a:gd name="T78" fmla="*/ 12 w 25"/>
              <a:gd name="T79" fmla="*/ 34 h 24"/>
              <a:gd name="T80" fmla="*/ 14 w 25"/>
              <a:gd name="T81" fmla="*/ 37 h 24"/>
              <a:gd name="T82" fmla="*/ 14 w 25"/>
              <a:gd name="T83" fmla="*/ 37 h 24"/>
              <a:gd name="T84" fmla="*/ 14 w 25"/>
              <a:gd name="T85" fmla="*/ 34 h 24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w 25"/>
              <a:gd name="T130" fmla="*/ 0 h 24"/>
              <a:gd name="T131" fmla="*/ 25 w 25"/>
              <a:gd name="T132" fmla="*/ 24 h 24"/>
            </a:gdLst>
            <a:ahLst/>
            <a:cxnLst>
              <a:cxn ang="T86">
                <a:pos x="T0" y="T1"/>
              </a:cxn>
              <a:cxn ang="T87">
                <a:pos x="T2" y="T3"/>
              </a:cxn>
              <a:cxn ang="T88">
                <a:pos x="T4" y="T5"/>
              </a:cxn>
              <a:cxn ang="T89">
                <a:pos x="T6" y="T7"/>
              </a:cxn>
              <a:cxn ang="T90">
                <a:pos x="T8" y="T9"/>
              </a:cxn>
              <a:cxn ang="T91">
                <a:pos x="T10" y="T11"/>
              </a:cxn>
              <a:cxn ang="T92">
                <a:pos x="T12" y="T13"/>
              </a:cxn>
              <a:cxn ang="T93">
                <a:pos x="T14" y="T15"/>
              </a:cxn>
              <a:cxn ang="T94">
                <a:pos x="T16" y="T17"/>
              </a:cxn>
              <a:cxn ang="T95">
                <a:pos x="T18" y="T19"/>
              </a:cxn>
              <a:cxn ang="T96">
                <a:pos x="T20" y="T21"/>
              </a:cxn>
              <a:cxn ang="T97">
                <a:pos x="T22" y="T23"/>
              </a:cxn>
              <a:cxn ang="T98">
                <a:pos x="T24" y="T25"/>
              </a:cxn>
              <a:cxn ang="T99">
                <a:pos x="T26" y="T27"/>
              </a:cxn>
              <a:cxn ang="T100">
                <a:pos x="T28" y="T29"/>
              </a:cxn>
              <a:cxn ang="T101">
                <a:pos x="T30" y="T31"/>
              </a:cxn>
              <a:cxn ang="T102">
                <a:pos x="T32" y="T33"/>
              </a:cxn>
              <a:cxn ang="T103">
                <a:pos x="T34" y="T35"/>
              </a:cxn>
              <a:cxn ang="T104">
                <a:pos x="T36" y="T37"/>
              </a:cxn>
              <a:cxn ang="T105">
                <a:pos x="T38" y="T39"/>
              </a:cxn>
              <a:cxn ang="T106">
                <a:pos x="T40" y="T41"/>
              </a:cxn>
              <a:cxn ang="T107">
                <a:pos x="T42" y="T43"/>
              </a:cxn>
              <a:cxn ang="T108">
                <a:pos x="T44" y="T45"/>
              </a:cxn>
              <a:cxn ang="T109">
                <a:pos x="T46" y="T47"/>
              </a:cxn>
              <a:cxn ang="T110">
                <a:pos x="T48" y="T49"/>
              </a:cxn>
              <a:cxn ang="T111">
                <a:pos x="T50" y="T51"/>
              </a:cxn>
              <a:cxn ang="T112">
                <a:pos x="T52" y="T53"/>
              </a:cxn>
              <a:cxn ang="T113">
                <a:pos x="T54" y="T55"/>
              </a:cxn>
              <a:cxn ang="T114">
                <a:pos x="T56" y="T57"/>
              </a:cxn>
              <a:cxn ang="T115">
                <a:pos x="T58" y="T59"/>
              </a:cxn>
              <a:cxn ang="T116">
                <a:pos x="T60" y="T61"/>
              </a:cxn>
              <a:cxn ang="T117">
                <a:pos x="T62" y="T63"/>
              </a:cxn>
              <a:cxn ang="T118">
                <a:pos x="T64" y="T65"/>
              </a:cxn>
              <a:cxn ang="T119">
                <a:pos x="T66" y="T67"/>
              </a:cxn>
              <a:cxn ang="T120">
                <a:pos x="T68" y="T69"/>
              </a:cxn>
              <a:cxn ang="T121">
                <a:pos x="T70" y="T71"/>
              </a:cxn>
              <a:cxn ang="T122">
                <a:pos x="T72" y="T73"/>
              </a:cxn>
              <a:cxn ang="T123">
                <a:pos x="T74" y="T75"/>
              </a:cxn>
              <a:cxn ang="T124">
                <a:pos x="T76" y="T77"/>
              </a:cxn>
              <a:cxn ang="T125">
                <a:pos x="T78" y="T79"/>
              </a:cxn>
              <a:cxn ang="T126">
                <a:pos x="T80" y="T81"/>
              </a:cxn>
              <a:cxn ang="T127">
                <a:pos x="T82" y="T83"/>
              </a:cxn>
              <a:cxn ang="T128">
                <a:pos x="T84" y="T85"/>
              </a:cxn>
            </a:cxnLst>
            <a:rect l="T129" t="T130" r="T131" b="T132"/>
            <a:pathLst>
              <a:path w="25" h="24">
                <a:moveTo>
                  <a:pt x="12" y="22"/>
                </a:moveTo>
                <a:lnTo>
                  <a:pt x="14" y="22"/>
                </a:lnTo>
                <a:lnTo>
                  <a:pt x="16" y="22"/>
                </a:lnTo>
                <a:lnTo>
                  <a:pt x="18" y="22"/>
                </a:lnTo>
                <a:lnTo>
                  <a:pt x="20" y="21"/>
                </a:lnTo>
                <a:lnTo>
                  <a:pt x="21" y="21"/>
                </a:lnTo>
                <a:lnTo>
                  <a:pt x="21" y="19"/>
                </a:lnTo>
                <a:lnTo>
                  <a:pt x="23" y="17"/>
                </a:lnTo>
                <a:lnTo>
                  <a:pt x="23" y="15"/>
                </a:lnTo>
                <a:lnTo>
                  <a:pt x="25" y="13"/>
                </a:lnTo>
                <a:lnTo>
                  <a:pt x="25" y="11"/>
                </a:lnTo>
                <a:lnTo>
                  <a:pt x="25" y="9"/>
                </a:lnTo>
                <a:lnTo>
                  <a:pt x="23" y="7"/>
                </a:lnTo>
                <a:lnTo>
                  <a:pt x="23" y="5"/>
                </a:lnTo>
                <a:lnTo>
                  <a:pt x="21" y="3"/>
                </a:lnTo>
                <a:lnTo>
                  <a:pt x="20" y="1"/>
                </a:lnTo>
                <a:lnTo>
                  <a:pt x="18" y="1"/>
                </a:lnTo>
                <a:lnTo>
                  <a:pt x="16" y="0"/>
                </a:lnTo>
                <a:lnTo>
                  <a:pt x="14" y="0"/>
                </a:lnTo>
                <a:lnTo>
                  <a:pt x="12" y="0"/>
                </a:lnTo>
                <a:lnTo>
                  <a:pt x="10" y="0"/>
                </a:lnTo>
                <a:lnTo>
                  <a:pt x="8" y="0"/>
                </a:lnTo>
                <a:lnTo>
                  <a:pt x="6" y="1"/>
                </a:lnTo>
                <a:lnTo>
                  <a:pt x="4" y="3"/>
                </a:lnTo>
                <a:lnTo>
                  <a:pt x="2" y="3"/>
                </a:lnTo>
                <a:lnTo>
                  <a:pt x="2" y="5"/>
                </a:lnTo>
                <a:lnTo>
                  <a:pt x="0" y="7"/>
                </a:lnTo>
                <a:lnTo>
                  <a:pt x="0" y="9"/>
                </a:lnTo>
                <a:lnTo>
                  <a:pt x="0" y="11"/>
                </a:lnTo>
                <a:lnTo>
                  <a:pt x="0" y="13"/>
                </a:lnTo>
                <a:lnTo>
                  <a:pt x="0" y="15"/>
                </a:lnTo>
                <a:lnTo>
                  <a:pt x="2" y="17"/>
                </a:lnTo>
                <a:lnTo>
                  <a:pt x="2" y="19"/>
                </a:lnTo>
                <a:lnTo>
                  <a:pt x="4" y="21"/>
                </a:lnTo>
                <a:lnTo>
                  <a:pt x="6" y="21"/>
                </a:lnTo>
                <a:lnTo>
                  <a:pt x="6" y="22"/>
                </a:lnTo>
                <a:lnTo>
                  <a:pt x="8" y="22"/>
                </a:lnTo>
                <a:lnTo>
                  <a:pt x="10" y="22"/>
                </a:lnTo>
                <a:lnTo>
                  <a:pt x="12" y="24"/>
                </a:lnTo>
                <a:lnTo>
                  <a:pt x="12" y="22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107" name="Freeform 100"/>
          <p:cNvSpPr>
            <a:spLocks/>
          </p:cNvSpPr>
          <p:nvPr/>
        </p:nvSpPr>
        <p:spPr bwMode="auto">
          <a:xfrm>
            <a:off x="2152650" y="3146425"/>
            <a:ext cx="47625" cy="61913"/>
          </a:xfrm>
          <a:custGeom>
            <a:avLst/>
            <a:gdLst>
              <a:gd name="T0" fmla="*/ 14 w 25"/>
              <a:gd name="T1" fmla="*/ 36 h 25"/>
              <a:gd name="T2" fmla="*/ 18 w 25"/>
              <a:gd name="T3" fmla="*/ 36 h 25"/>
              <a:gd name="T4" fmla="*/ 20 w 25"/>
              <a:gd name="T5" fmla="*/ 36 h 25"/>
              <a:gd name="T6" fmla="*/ 23 w 25"/>
              <a:gd name="T7" fmla="*/ 36 h 25"/>
              <a:gd name="T8" fmla="*/ 25 w 25"/>
              <a:gd name="T9" fmla="*/ 33 h 25"/>
              <a:gd name="T10" fmla="*/ 25 w 25"/>
              <a:gd name="T11" fmla="*/ 33 h 25"/>
              <a:gd name="T12" fmla="*/ 28 w 25"/>
              <a:gd name="T13" fmla="*/ 30 h 25"/>
              <a:gd name="T14" fmla="*/ 28 w 25"/>
              <a:gd name="T15" fmla="*/ 27 h 25"/>
              <a:gd name="T16" fmla="*/ 30 w 25"/>
              <a:gd name="T17" fmla="*/ 23 h 25"/>
              <a:gd name="T18" fmla="*/ 30 w 25"/>
              <a:gd name="T19" fmla="*/ 20 h 25"/>
              <a:gd name="T20" fmla="*/ 30 w 25"/>
              <a:gd name="T21" fmla="*/ 17 h 25"/>
              <a:gd name="T22" fmla="*/ 30 w 25"/>
              <a:gd name="T23" fmla="*/ 16 h 25"/>
              <a:gd name="T24" fmla="*/ 30 w 25"/>
              <a:gd name="T25" fmla="*/ 12 h 25"/>
              <a:gd name="T26" fmla="*/ 28 w 25"/>
              <a:gd name="T27" fmla="*/ 9 h 25"/>
              <a:gd name="T28" fmla="*/ 28 w 25"/>
              <a:gd name="T29" fmla="*/ 6 h 25"/>
              <a:gd name="T30" fmla="*/ 25 w 25"/>
              <a:gd name="T31" fmla="*/ 6 h 25"/>
              <a:gd name="T32" fmla="*/ 25 w 25"/>
              <a:gd name="T33" fmla="*/ 3 h 25"/>
              <a:gd name="T34" fmla="*/ 23 w 25"/>
              <a:gd name="T35" fmla="*/ 3 h 25"/>
              <a:gd name="T36" fmla="*/ 20 w 25"/>
              <a:gd name="T37" fmla="*/ 0 h 25"/>
              <a:gd name="T38" fmla="*/ 18 w 25"/>
              <a:gd name="T39" fmla="*/ 0 h 25"/>
              <a:gd name="T40" fmla="*/ 16 w 25"/>
              <a:gd name="T41" fmla="*/ 0 h 25"/>
              <a:gd name="T42" fmla="*/ 14 w 25"/>
              <a:gd name="T43" fmla="*/ 0 h 25"/>
              <a:gd name="T44" fmla="*/ 12 w 25"/>
              <a:gd name="T45" fmla="*/ 0 h 25"/>
              <a:gd name="T46" fmla="*/ 10 w 25"/>
              <a:gd name="T47" fmla="*/ 3 h 25"/>
              <a:gd name="T48" fmla="*/ 7 w 25"/>
              <a:gd name="T49" fmla="*/ 3 h 25"/>
              <a:gd name="T50" fmla="*/ 5 w 25"/>
              <a:gd name="T51" fmla="*/ 6 h 25"/>
              <a:gd name="T52" fmla="*/ 5 w 25"/>
              <a:gd name="T53" fmla="*/ 6 h 25"/>
              <a:gd name="T54" fmla="*/ 2 w 25"/>
              <a:gd name="T55" fmla="*/ 9 h 25"/>
              <a:gd name="T56" fmla="*/ 2 w 25"/>
              <a:gd name="T57" fmla="*/ 12 h 25"/>
              <a:gd name="T58" fmla="*/ 2 w 25"/>
              <a:gd name="T59" fmla="*/ 16 h 25"/>
              <a:gd name="T60" fmla="*/ 0 w 25"/>
              <a:gd name="T61" fmla="*/ 17 h 25"/>
              <a:gd name="T62" fmla="*/ 2 w 25"/>
              <a:gd name="T63" fmla="*/ 20 h 25"/>
              <a:gd name="T64" fmla="*/ 2 w 25"/>
              <a:gd name="T65" fmla="*/ 23 h 25"/>
              <a:gd name="T66" fmla="*/ 2 w 25"/>
              <a:gd name="T67" fmla="*/ 27 h 25"/>
              <a:gd name="T68" fmla="*/ 5 w 25"/>
              <a:gd name="T69" fmla="*/ 30 h 25"/>
              <a:gd name="T70" fmla="*/ 5 w 25"/>
              <a:gd name="T71" fmla="*/ 33 h 25"/>
              <a:gd name="T72" fmla="*/ 7 w 25"/>
              <a:gd name="T73" fmla="*/ 33 h 25"/>
              <a:gd name="T74" fmla="*/ 10 w 25"/>
              <a:gd name="T75" fmla="*/ 36 h 25"/>
              <a:gd name="T76" fmla="*/ 12 w 25"/>
              <a:gd name="T77" fmla="*/ 36 h 25"/>
              <a:gd name="T78" fmla="*/ 14 w 25"/>
              <a:gd name="T79" fmla="*/ 36 h 25"/>
              <a:gd name="T80" fmla="*/ 16 w 25"/>
              <a:gd name="T81" fmla="*/ 39 h 25"/>
              <a:gd name="T82" fmla="*/ 16 w 25"/>
              <a:gd name="T83" fmla="*/ 39 h 25"/>
              <a:gd name="T84" fmla="*/ 14 w 25"/>
              <a:gd name="T85" fmla="*/ 36 h 25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w 25"/>
              <a:gd name="T130" fmla="*/ 0 h 25"/>
              <a:gd name="T131" fmla="*/ 25 w 25"/>
              <a:gd name="T132" fmla="*/ 25 h 25"/>
            </a:gdLst>
            <a:ahLst/>
            <a:cxnLst>
              <a:cxn ang="T86">
                <a:pos x="T0" y="T1"/>
              </a:cxn>
              <a:cxn ang="T87">
                <a:pos x="T2" y="T3"/>
              </a:cxn>
              <a:cxn ang="T88">
                <a:pos x="T4" y="T5"/>
              </a:cxn>
              <a:cxn ang="T89">
                <a:pos x="T6" y="T7"/>
              </a:cxn>
              <a:cxn ang="T90">
                <a:pos x="T8" y="T9"/>
              </a:cxn>
              <a:cxn ang="T91">
                <a:pos x="T10" y="T11"/>
              </a:cxn>
              <a:cxn ang="T92">
                <a:pos x="T12" y="T13"/>
              </a:cxn>
              <a:cxn ang="T93">
                <a:pos x="T14" y="T15"/>
              </a:cxn>
              <a:cxn ang="T94">
                <a:pos x="T16" y="T17"/>
              </a:cxn>
              <a:cxn ang="T95">
                <a:pos x="T18" y="T19"/>
              </a:cxn>
              <a:cxn ang="T96">
                <a:pos x="T20" y="T21"/>
              </a:cxn>
              <a:cxn ang="T97">
                <a:pos x="T22" y="T23"/>
              </a:cxn>
              <a:cxn ang="T98">
                <a:pos x="T24" y="T25"/>
              </a:cxn>
              <a:cxn ang="T99">
                <a:pos x="T26" y="T27"/>
              </a:cxn>
              <a:cxn ang="T100">
                <a:pos x="T28" y="T29"/>
              </a:cxn>
              <a:cxn ang="T101">
                <a:pos x="T30" y="T31"/>
              </a:cxn>
              <a:cxn ang="T102">
                <a:pos x="T32" y="T33"/>
              </a:cxn>
              <a:cxn ang="T103">
                <a:pos x="T34" y="T35"/>
              </a:cxn>
              <a:cxn ang="T104">
                <a:pos x="T36" y="T37"/>
              </a:cxn>
              <a:cxn ang="T105">
                <a:pos x="T38" y="T39"/>
              </a:cxn>
              <a:cxn ang="T106">
                <a:pos x="T40" y="T41"/>
              </a:cxn>
              <a:cxn ang="T107">
                <a:pos x="T42" y="T43"/>
              </a:cxn>
              <a:cxn ang="T108">
                <a:pos x="T44" y="T45"/>
              </a:cxn>
              <a:cxn ang="T109">
                <a:pos x="T46" y="T47"/>
              </a:cxn>
              <a:cxn ang="T110">
                <a:pos x="T48" y="T49"/>
              </a:cxn>
              <a:cxn ang="T111">
                <a:pos x="T50" y="T51"/>
              </a:cxn>
              <a:cxn ang="T112">
                <a:pos x="T52" y="T53"/>
              </a:cxn>
              <a:cxn ang="T113">
                <a:pos x="T54" y="T55"/>
              </a:cxn>
              <a:cxn ang="T114">
                <a:pos x="T56" y="T57"/>
              </a:cxn>
              <a:cxn ang="T115">
                <a:pos x="T58" y="T59"/>
              </a:cxn>
              <a:cxn ang="T116">
                <a:pos x="T60" y="T61"/>
              </a:cxn>
              <a:cxn ang="T117">
                <a:pos x="T62" y="T63"/>
              </a:cxn>
              <a:cxn ang="T118">
                <a:pos x="T64" y="T65"/>
              </a:cxn>
              <a:cxn ang="T119">
                <a:pos x="T66" y="T67"/>
              </a:cxn>
              <a:cxn ang="T120">
                <a:pos x="T68" y="T69"/>
              </a:cxn>
              <a:cxn ang="T121">
                <a:pos x="T70" y="T71"/>
              </a:cxn>
              <a:cxn ang="T122">
                <a:pos x="T72" y="T73"/>
              </a:cxn>
              <a:cxn ang="T123">
                <a:pos x="T74" y="T75"/>
              </a:cxn>
              <a:cxn ang="T124">
                <a:pos x="T76" y="T77"/>
              </a:cxn>
              <a:cxn ang="T125">
                <a:pos x="T78" y="T79"/>
              </a:cxn>
              <a:cxn ang="T126">
                <a:pos x="T80" y="T81"/>
              </a:cxn>
              <a:cxn ang="T127">
                <a:pos x="T82" y="T83"/>
              </a:cxn>
              <a:cxn ang="T128">
                <a:pos x="T84" y="T85"/>
              </a:cxn>
            </a:cxnLst>
            <a:rect l="T129" t="T130" r="T131" b="T132"/>
            <a:pathLst>
              <a:path w="25" h="25">
                <a:moveTo>
                  <a:pt x="12" y="23"/>
                </a:moveTo>
                <a:lnTo>
                  <a:pt x="15" y="23"/>
                </a:lnTo>
                <a:lnTo>
                  <a:pt x="17" y="23"/>
                </a:lnTo>
                <a:lnTo>
                  <a:pt x="19" y="23"/>
                </a:lnTo>
                <a:lnTo>
                  <a:pt x="21" y="21"/>
                </a:lnTo>
                <a:lnTo>
                  <a:pt x="23" y="19"/>
                </a:lnTo>
                <a:lnTo>
                  <a:pt x="23" y="17"/>
                </a:lnTo>
                <a:lnTo>
                  <a:pt x="25" y="15"/>
                </a:lnTo>
                <a:lnTo>
                  <a:pt x="25" y="13"/>
                </a:lnTo>
                <a:lnTo>
                  <a:pt x="25" y="11"/>
                </a:lnTo>
                <a:lnTo>
                  <a:pt x="25" y="10"/>
                </a:lnTo>
                <a:lnTo>
                  <a:pt x="25" y="8"/>
                </a:lnTo>
                <a:lnTo>
                  <a:pt x="23" y="6"/>
                </a:lnTo>
                <a:lnTo>
                  <a:pt x="23" y="4"/>
                </a:lnTo>
                <a:lnTo>
                  <a:pt x="21" y="4"/>
                </a:lnTo>
                <a:lnTo>
                  <a:pt x="21" y="2"/>
                </a:lnTo>
                <a:lnTo>
                  <a:pt x="19" y="2"/>
                </a:lnTo>
                <a:lnTo>
                  <a:pt x="17" y="0"/>
                </a:lnTo>
                <a:lnTo>
                  <a:pt x="15" y="0"/>
                </a:lnTo>
                <a:lnTo>
                  <a:pt x="13" y="0"/>
                </a:lnTo>
                <a:lnTo>
                  <a:pt x="12" y="0"/>
                </a:lnTo>
                <a:lnTo>
                  <a:pt x="10" y="0"/>
                </a:lnTo>
                <a:lnTo>
                  <a:pt x="8" y="2"/>
                </a:lnTo>
                <a:lnTo>
                  <a:pt x="6" y="2"/>
                </a:lnTo>
                <a:lnTo>
                  <a:pt x="4" y="4"/>
                </a:lnTo>
                <a:lnTo>
                  <a:pt x="2" y="6"/>
                </a:lnTo>
                <a:lnTo>
                  <a:pt x="2" y="8"/>
                </a:lnTo>
                <a:lnTo>
                  <a:pt x="2" y="10"/>
                </a:lnTo>
                <a:lnTo>
                  <a:pt x="0" y="11"/>
                </a:lnTo>
                <a:lnTo>
                  <a:pt x="2" y="13"/>
                </a:lnTo>
                <a:lnTo>
                  <a:pt x="2" y="15"/>
                </a:lnTo>
                <a:lnTo>
                  <a:pt x="2" y="17"/>
                </a:lnTo>
                <a:lnTo>
                  <a:pt x="4" y="19"/>
                </a:lnTo>
                <a:lnTo>
                  <a:pt x="4" y="21"/>
                </a:lnTo>
                <a:lnTo>
                  <a:pt x="6" y="21"/>
                </a:lnTo>
                <a:lnTo>
                  <a:pt x="8" y="23"/>
                </a:lnTo>
                <a:lnTo>
                  <a:pt x="10" y="23"/>
                </a:lnTo>
                <a:lnTo>
                  <a:pt x="12" y="23"/>
                </a:lnTo>
                <a:lnTo>
                  <a:pt x="13" y="25"/>
                </a:lnTo>
                <a:lnTo>
                  <a:pt x="12" y="23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108" name="Freeform 101"/>
          <p:cNvSpPr>
            <a:spLocks/>
          </p:cNvSpPr>
          <p:nvPr/>
        </p:nvSpPr>
        <p:spPr bwMode="auto">
          <a:xfrm>
            <a:off x="7142162" y="4941888"/>
            <a:ext cx="47625" cy="61913"/>
          </a:xfrm>
          <a:custGeom>
            <a:avLst/>
            <a:gdLst>
              <a:gd name="T0" fmla="*/ 0 w 25"/>
              <a:gd name="T1" fmla="*/ 0 h 25"/>
              <a:gd name="T2" fmla="*/ 2 w 25"/>
              <a:gd name="T3" fmla="*/ 39 h 25"/>
              <a:gd name="T4" fmla="*/ 30 w 25"/>
              <a:gd name="T5" fmla="*/ 20 h 25"/>
              <a:gd name="T6" fmla="*/ 2 w 25"/>
              <a:gd name="T7" fmla="*/ 3 h 25"/>
              <a:gd name="T8" fmla="*/ 2 w 25"/>
              <a:gd name="T9" fmla="*/ 3 h 25"/>
              <a:gd name="T10" fmla="*/ 0 w 25"/>
              <a:gd name="T11" fmla="*/ 0 h 2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"/>
              <a:gd name="T19" fmla="*/ 0 h 25"/>
              <a:gd name="T20" fmla="*/ 25 w 25"/>
              <a:gd name="T21" fmla="*/ 25 h 2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" h="25">
                <a:moveTo>
                  <a:pt x="0" y="0"/>
                </a:moveTo>
                <a:lnTo>
                  <a:pt x="2" y="25"/>
                </a:lnTo>
                <a:lnTo>
                  <a:pt x="25" y="13"/>
                </a:lnTo>
                <a:lnTo>
                  <a:pt x="2" y="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109" name="Line 102"/>
          <p:cNvSpPr>
            <a:spLocks noChangeShapeType="1"/>
          </p:cNvSpPr>
          <p:nvPr/>
        </p:nvSpPr>
        <p:spPr bwMode="auto">
          <a:xfrm flipH="1">
            <a:off x="6022975" y="4973638"/>
            <a:ext cx="1127125" cy="3175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110" name="Freeform 103"/>
          <p:cNvSpPr>
            <a:spLocks/>
          </p:cNvSpPr>
          <p:nvPr/>
        </p:nvSpPr>
        <p:spPr bwMode="auto">
          <a:xfrm>
            <a:off x="5826125" y="4973638"/>
            <a:ext cx="298450" cy="334963"/>
          </a:xfrm>
          <a:custGeom>
            <a:avLst/>
            <a:gdLst>
              <a:gd name="T0" fmla="*/ 188 w 159"/>
              <a:gd name="T1" fmla="*/ 0 h 138"/>
              <a:gd name="T2" fmla="*/ 188 w 159"/>
              <a:gd name="T3" fmla="*/ 211 h 138"/>
              <a:gd name="T4" fmla="*/ 0 w 159"/>
              <a:gd name="T5" fmla="*/ 211 h 138"/>
              <a:gd name="T6" fmla="*/ 0 60000 65536"/>
              <a:gd name="T7" fmla="*/ 0 60000 65536"/>
              <a:gd name="T8" fmla="*/ 0 60000 65536"/>
              <a:gd name="T9" fmla="*/ 0 w 159"/>
              <a:gd name="T10" fmla="*/ 0 h 138"/>
              <a:gd name="T11" fmla="*/ 159 w 159"/>
              <a:gd name="T12" fmla="*/ 138 h 13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59" h="138">
                <a:moveTo>
                  <a:pt x="159" y="0"/>
                </a:moveTo>
                <a:lnTo>
                  <a:pt x="159" y="138"/>
                </a:lnTo>
                <a:lnTo>
                  <a:pt x="0" y="138"/>
                </a:lnTo>
              </a:path>
            </a:pathLst>
          </a:custGeom>
          <a:noFill/>
          <a:ln w="15875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112" name="Freeform 105"/>
          <p:cNvSpPr>
            <a:spLocks/>
          </p:cNvSpPr>
          <p:nvPr/>
        </p:nvSpPr>
        <p:spPr bwMode="auto">
          <a:xfrm>
            <a:off x="5821362" y="4973638"/>
            <a:ext cx="1658937" cy="511175"/>
          </a:xfrm>
          <a:custGeom>
            <a:avLst/>
            <a:gdLst>
              <a:gd name="T0" fmla="*/ 0 w 885"/>
              <a:gd name="T1" fmla="*/ 319 h 211"/>
              <a:gd name="T2" fmla="*/ 1045 w 885"/>
              <a:gd name="T3" fmla="*/ 322 h 211"/>
              <a:gd name="T4" fmla="*/ 1045 w 885"/>
              <a:gd name="T5" fmla="*/ 0 h 211"/>
              <a:gd name="T6" fmla="*/ 982 w 885"/>
              <a:gd name="T7" fmla="*/ 0 h 211"/>
              <a:gd name="T8" fmla="*/ 0 60000 65536"/>
              <a:gd name="T9" fmla="*/ 0 60000 65536"/>
              <a:gd name="T10" fmla="*/ 0 60000 65536"/>
              <a:gd name="T11" fmla="*/ 0 60000 65536"/>
              <a:gd name="T12" fmla="*/ 0 w 885"/>
              <a:gd name="T13" fmla="*/ 0 h 211"/>
              <a:gd name="T14" fmla="*/ 885 w 885"/>
              <a:gd name="T15" fmla="*/ 211 h 211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85" h="211">
                <a:moveTo>
                  <a:pt x="0" y="209"/>
                </a:moveTo>
                <a:lnTo>
                  <a:pt x="885" y="211"/>
                </a:lnTo>
                <a:lnTo>
                  <a:pt x="885" y="0"/>
                </a:lnTo>
                <a:lnTo>
                  <a:pt x="832" y="0"/>
                </a:lnTo>
              </a:path>
            </a:pathLst>
          </a:custGeom>
          <a:noFill/>
          <a:ln w="15875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113" name="Freeform 106"/>
          <p:cNvSpPr>
            <a:spLocks/>
          </p:cNvSpPr>
          <p:nvPr/>
        </p:nvSpPr>
        <p:spPr bwMode="auto">
          <a:xfrm>
            <a:off x="5792787" y="5451475"/>
            <a:ext cx="42862" cy="60325"/>
          </a:xfrm>
          <a:custGeom>
            <a:avLst/>
            <a:gdLst>
              <a:gd name="T0" fmla="*/ 27 w 23"/>
              <a:gd name="T1" fmla="*/ 0 h 25"/>
              <a:gd name="T2" fmla="*/ 27 w 23"/>
              <a:gd name="T3" fmla="*/ 38 h 25"/>
              <a:gd name="T4" fmla="*/ 0 w 23"/>
              <a:gd name="T5" fmla="*/ 21 h 25"/>
              <a:gd name="T6" fmla="*/ 27 w 23"/>
              <a:gd name="T7" fmla="*/ 0 h 25"/>
              <a:gd name="T8" fmla="*/ 27 w 23"/>
              <a:gd name="T9" fmla="*/ 0 h 2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3"/>
              <a:gd name="T16" fmla="*/ 0 h 25"/>
              <a:gd name="T17" fmla="*/ 23 w 23"/>
              <a:gd name="T18" fmla="*/ 25 h 2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3" h="25">
                <a:moveTo>
                  <a:pt x="23" y="0"/>
                </a:moveTo>
                <a:lnTo>
                  <a:pt x="23" y="25"/>
                </a:lnTo>
                <a:lnTo>
                  <a:pt x="0" y="14"/>
                </a:lnTo>
                <a:lnTo>
                  <a:pt x="23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114" name="Freeform 107"/>
          <p:cNvSpPr>
            <a:spLocks/>
          </p:cNvSpPr>
          <p:nvPr/>
        </p:nvSpPr>
        <p:spPr bwMode="auto">
          <a:xfrm>
            <a:off x="5792787" y="5276850"/>
            <a:ext cx="42862" cy="60325"/>
          </a:xfrm>
          <a:custGeom>
            <a:avLst/>
            <a:gdLst>
              <a:gd name="T0" fmla="*/ 27 w 23"/>
              <a:gd name="T1" fmla="*/ 0 h 25"/>
              <a:gd name="T2" fmla="*/ 27 w 23"/>
              <a:gd name="T3" fmla="*/ 38 h 25"/>
              <a:gd name="T4" fmla="*/ 0 w 23"/>
              <a:gd name="T5" fmla="*/ 20 h 25"/>
              <a:gd name="T6" fmla="*/ 27 w 23"/>
              <a:gd name="T7" fmla="*/ 0 h 25"/>
              <a:gd name="T8" fmla="*/ 27 w 23"/>
              <a:gd name="T9" fmla="*/ 0 h 2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3"/>
              <a:gd name="T16" fmla="*/ 0 h 25"/>
              <a:gd name="T17" fmla="*/ 23 w 23"/>
              <a:gd name="T18" fmla="*/ 25 h 2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3" h="25">
                <a:moveTo>
                  <a:pt x="23" y="0"/>
                </a:moveTo>
                <a:lnTo>
                  <a:pt x="23" y="25"/>
                </a:lnTo>
                <a:lnTo>
                  <a:pt x="0" y="13"/>
                </a:lnTo>
                <a:lnTo>
                  <a:pt x="23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115" name="Freeform 108"/>
          <p:cNvSpPr>
            <a:spLocks/>
          </p:cNvSpPr>
          <p:nvPr/>
        </p:nvSpPr>
        <p:spPr bwMode="auto">
          <a:xfrm>
            <a:off x="5792787" y="5364163"/>
            <a:ext cx="42862" cy="60325"/>
          </a:xfrm>
          <a:custGeom>
            <a:avLst/>
            <a:gdLst>
              <a:gd name="T0" fmla="*/ 27 w 23"/>
              <a:gd name="T1" fmla="*/ 0 h 25"/>
              <a:gd name="T2" fmla="*/ 27 w 23"/>
              <a:gd name="T3" fmla="*/ 38 h 25"/>
              <a:gd name="T4" fmla="*/ 0 w 23"/>
              <a:gd name="T5" fmla="*/ 20 h 25"/>
              <a:gd name="T6" fmla="*/ 27 w 23"/>
              <a:gd name="T7" fmla="*/ 0 h 25"/>
              <a:gd name="T8" fmla="*/ 27 w 23"/>
              <a:gd name="T9" fmla="*/ 0 h 2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3"/>
              <a:gd name="T16" fmla="*/ 0 h 25"/>
              <a:gd name="T17" fmla="*/ 23 w 23"/>
              <a:gd name="T18" fmla="*/ 25 h 2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3" h="25">
                <a:moveTo>
                  <a:pt x="23" y="0"/>
                </a:moveTo>
                <a:lnTo>
                  <a:pt x="23" y="25"/>
                </a:lnTo>
                <a:lnTo>
                  <a:pt x="0" y="13"/>
                </a:lnTo>
                <a:lnTo>
                  <a:pt x="23" y="0"/>
                </a:lnTo>
                <a:close/>
              </a:path>
            </a:pathLst>
          </a:custGeom>
          <a:solidFill>
            <a:srgbClr val="EB75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118" name="Freeform 111"/>
          <p:cNvSpPr>
            <a:spLocks/>
          </p:cNvSpPr>
          <p:nvPr/>
        </p:nvSpPr>
        <p:spPr bwMode="auto">
          <a:xfrm>
            <a:off x="6305550" y="4297363"/>
            <a:ext cx="46037" cy="61913"/>
          </a:xfrm>
          <a:custGeom>
            <a:avLst/>
            <a:gdLst>
              <a:gd name="T0" fmla="*/ 15 w 24"/>
              <a:gd name="T1" fmla="*/ 36 h 25"/>
              <a:gd name="T2" fmla="*/ 17 w 24"/>
              <a:gd name="T3" fmla="*/ 39 h 25"/>
              <a:gd name="T4" fmla="*/ 19 w 24"/>
              <a:gd name="T5" fmla="*/ 36 h 25"/>
              <a:gd name="T6" fmla="*/ 22 w 24"/>
              <a:gd name="T7" fmla="*/ 36 h 25"/>
              <a:gd name="T8" fmla="*/ 24 w 24"/>
              <a:gd name="T9" fmla="*/ 36 h 25"/>
              <a:gd name="T10" fmla="*/ 24 w 24"/>
              <a:gd name="T11" fmla="*/ 33 h 25"/>
              <a:gd name="T12" fmla="*/ 27 w 24"/>
              <a:gd name="T13" fmla="*/ 30 h 25"/>
              <a:gd name="T14" fmla="*/ 29 w 24"/>
              <a:gd name="T15" fmla="*/ 27 h 25"/>
              <a:gd name="T16" fmla="*/ 29 w 24"/>
              <a:gd name="T17" fmla="*/ 23 h 25"/>
              <a:gd name="T18" fmla="*/ 29 w 24"/>
              <a:gd name="T19" fmla="*/ 20 h 25"/>
              <a:gd name="T20" fmla="*/ 29 w 24"/>
              <a:gd name="T21" fmla="*/ 17 h 25"/>
              <a:gd name="T22" fmla="*/ 29 w 24"/>
              <a:gd name="T23" fmla="*/ 14 h 25"/>
              <a:gd name="T24" fmla="*/ 29 w 24"/>
              <a:gd name="T25" fmla="*/ 11 h 25"/>
              <a:gd name="T26" fmla="*/ 29 w 24"/>
              <a:gd name="T27" fmla="*/ 9 h 25"/>
              <a:gd name="T28" fmla="*/ 27 w 24"/>
              <a:gd name="T29" fmla="*/ 9 h 25"/>
              <a:gd name="T30" fmla="*/ 24 w 24"/>
              <a:gd name="T31" fmla="*/ 6 h 25"/>
              <a:gd name="T32" fmla="*/ 24 w 24"/>
              <a:gd name="T33" fmla="*/ 3 h 25"/>
              <a:gd name="T34" fmla="*/ 22 w 24"/>
              <a:gd name="T35" fmla="*/ 3 h 25"/>
              <a:gd name="T36" fmla="*/ 19 w 24"/>
              <a:gd name="T37" fmla="*/ 0 h 25"/>
              <a:gd name="T38" fmla="*/ 17 w 24"/>
              <a:gd name="T39" fmla="*/ 0 h 25"/>
              <a:gd name="T40" fmla="*/ 15 w 24"/>
              <a:gd name="T41" fmla="*/ 0 h 25"/>
              <a:gd name="T42" fmla="*/ 12 w 24"/>
              <a:gd name="T43" fmla="*/ 0 h 25"/>
              <a:gd name="T44" fmla="*/ 10 w 24"/>
              <a:gd name="T45" fmla="*/ 0 h 25"/>
              <a:gd name="T46" fmla="*/ 7 w 24"/>
              <a:gd name="T47" fmla="*/ 3 h 25"/>
              <a:gd name="T48" fmla="*/ 5 w 24"/>
              <a:gd name="T49" fmla="*/ 3 h 25"/>
              <a:gd name="T50" fmla="*/ 5 w 24"/>
              <a:gd name="T51" fmla="*/ 6 h 25"/>
              <a:gd name="T52" fmla="*/ 2 w 24"/>
              <a:gd name="T53" fmla="*/ 9 h 25"/>
              <a:gd name="T54" fmla="*/ 0 w 24"/>
              <a:gd name="T55" fmla="*/ 9 h 25"/>
              <a:gd name="T56" fmla="*/ 0 w 24"/>
              <a:gd name="T57" fmla="*/ 11 h 25"/>
              <a:gd name="T58" fmla="*/ 0 w 24"/>
              <a:gd name="T59" fmla="*/ 14 h 25"/>
              <a:gd name="T60" fmla="*/ 0 w 24"/>
              <a:gd name="T61" fmla="*/ 17 h 25"/>
              <a:gd name="T62" fmla="*/ 0 w 24"/>
              <a:gd name="T63" fmla="*/ 20 h 25"/>
              <a:gd name="T64" fmla="*/ 0 w 24"/>
              <a:gd name="T65" fmla="*/ 23 h 25"/>
              <a:gd name="T66" fmla="*/ 0 w 24"/>
              <a:gd name="T67" fmla="*/ 27 h 25"/>
              <a:gd name="T68" fmla="*/ 2 w 24"/>
              <a:gd name="T69" fmla="*/ 30 h 25"/>
              <a:gd name="T70" fmla="*/ 5 w 24"/>
              <a:gd name="T71" fmla="*/ 33 h 25"/>
              <a:gd name="T72" fmla="*/ 5 w 24"/>
              <a:gd name="T73" fmla="*/ 36 h 25"/>
              <a:gd name="T74" fmla="*/ 7 w 24"/>
              <a:gd name="T75" fmla="*/ 36 h 25"/>
              <a:gd name="T76" fmla="*/ 10 w 24"/>
              <a:gd name="T77" fmla="*/ 36 h 25"/>
              <a:gd name="T78" fmla="*/ 12 w 24"/>
              <a:gd name="T79" fmla="*/ 39 h 25"/>
              <a:gd name="T80" fmla="*/ 15 w 24"/>
              <a:gd name="T81" fmla="*/ 39 h 25"/>
              <a:gd name="T82" fmla="*/ 15 w 24"/>
              <a:gd name="T83" fmla="*/ 39 h 25"/>
              <a:gd name="T84" fmla="*/ 15 w 24"/>
              <a:gd name="T85" fmla="*/ 36 h 25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w 24"/>
              <a:gd name="T130" fmla="*/ 0 h 25"/>
              <a:gd name="T131" fmla="*/ 24 w 24"/>
              <a:gd name="T132" fmla="*/ 25 h 25"/>
            </a:gdLst>
            <a:ahLst/>
            <a:cxnLst>
              <a:cxn ang="T86">
                <a:pos x="T0" y="T1"/>
              </a:cxn>
              <a:cxn ang="T87">
                <a:pos x="T2" y="T3"/>
              </a:cxn>
              <a:cxn ang="T88">
                <a:pos x="T4" y="T5"/>
              </a:cxn>
              <a:cxn ang="T89">
                <a:pos x="T6" y="T7"/>
              </a:cxn>
              <a:cxn ang="T90">
                <a:pos x="T8" y="T9"/>
              </a:cxn>
              <a:cxn ang="T91">
                <a:pos x="T10" y="T11"/>
              </a:cxn>
              <a:cxn ang="T92">
                <a:pos x="T12" y="T13"/>
              </a:cxn>
              <a:cxn ang="T93">
                <a:pos x="T14" y="T15"/>
              </a:cxn>
              <a:cxn ang="T94">
                <a:pos x="T16" y="T17"/>
              </a:cxn>
              <a:cxn ang="T95">
                <a:pos x="T18" y="T19"/>
              </a:cxn>
              <a:cxn ang="T96">
                <a:pos x="T20" y="T21"/>
              </a:cxn>
              <a:cxn ang="T97">
                <a:pos x="T22" y="T23"/>
              </a:cxn>
              <a:cxn ang="T98">
                <a:pos x="T24" y="T25"/>
              </a:cxn>
              <a:cxn ang="T99">
                <a:pos x="T26" y="T27"/>
              </a:cxn>
              <a:cxn ang="T100">
                <a:pos x="T28" y="T29"/>
              </a:cxn>
              <a:cxn ang="T101">
                <a:pos x="T30" y="T31"/>
              </a:cxn>
              <a:cxn ang="T102">
                <a:pos x="T32" y="T33"/>
              </a:cxn>
              <a:cxn ang="T103">
                <a:pos x="T34" y="T35"/>
              </a:cxn>
              <a:cxn ang="T104">
                <a:pos x="T36" y="T37"/>
              </a:cxn>
              <a:cxn ang="T105">
                <a:pos x="T38" y="T39"/>
              </a:cxn>
              <a:cxn ang="T106">
                <a:pos x="T40" y="T41"/>
              </a:cxn>
              <a:cxn ang="T107">
                <a:pos x="T42" y="T43"/>
              </a:cxn>
              <a:cxn ang="T108">
                <a:pos x="T44" y="T45"/>
              </a:cxn>
              <a:cxn ang="T109">
                <a:pos x="T46" y="T47"/>
              </a:cxn>
              <a:cxn ang="T110">
                <a:pos x="T48" y="T49"/>
              </a:cxn>
              <a:cxn ang="T111">
                <a:pos x="T50" y="T51"/>
              </a:cxn>
              <a:cxn ang="T112">
                <a:pos x="T52" y="T53"/>
              </a:cxn>
              <a:cxn ang="T113">
                <a:pos x="T54" y="T55"/>
              </a:cxn>
              <a:cxn ang="T114">
                <a:pos x="T56" y="T57"/>
              </a:cxn>
              <a:cxn ang="T115">
                <a:pos x="T58" y="T59"/>
              </a:cxn>
              <a:cxn ang="T116">
                <a:pos x="T60" y="T61"/>
              </a:cxn>
              <a:cxn ang="T117">
                <a:pos x="T62" y="T63"/>
              </a:cxn>
              <a:cxn ang="T118">
                <a:pos x="T64" y="T65"/>
              </a:cxn>
              <a:cxn ang="T119">
                <a:pos x="T66" y="T67"/>
              </a:cxn>
              <a:cxn ang="T120">
                <a:pos x="T68" y="T69"/>
              </a:cxn>
              <a:cxn ang="T121">
                <a:pos x="T70" y="T71"/>
              </a:cxn>
              <a:cxn ang="T122">
                <a:pos x="T72" y="T73"/>
              </a:cxn>
              <a:cxn ang="T123">
                <a:pos x="T74" y="T75"/>
              </a:cxn>
              <a:cxn ang="T124">
                <a:pos x="T76" y="T77"/>
              </a:cxn>
              <a:cxn ang="T125">
                <a:pos x="T78" y="T79"/>
              </a:cxn>
              <a:cxn ang="T126">
                <a:pos x="T80" y="T81"/>
              </a:cxn>
              <a:cxn ang="T127">
                <a:pos x="T82" y="T83"/>
              </a:cxn>
              <a:cxn ang="T128">
                <a:pos x="T84" y="T85"/>
              </a:cxn>
            </a:cxnLst>
            <a:rect l="T129" t="T130" r="T131" b="T132"/>
            <a:pathLst>
              <a:path w="24" h="25">
                <a:moveTo>
                  <a:pt x="12" y="23"/>
                </a:moveTo>
                <a:lnTo>
                  <a:pt x="14" y="25"/>
                </a:lnTo>
                <a:lnTo>
                  <a:pt x="16" y="23"/>
                </a:lnTo>
                <a:lnTo>
                  <a:pt x="18" y="23"/>
                </a:lnTo>
                <a:lnTo>
                  <a:pt x="20" y="23"/>
                </a:lnTo>
                <a:lnTo>
                  <a:pt x="20" y="21"/>
                </a:lnTo>
                <a:lnTo>
                  <a:pt x="22" y="19"/>
                </a:lnTo>
                <a:lnTo>
                  <a:pt x="24" y="17"/>
                </a:lnTo>
                <a:lnTo>
                  <a:pt x="24" y="15"/>
                </a:lnTo>
                <a:lnTo>
                  <a:pt x="24" y="13"/>
                </a:lnTo>
                <a:lnTo>
                  <a:pt x="24" y="11"/>
                </a:lnTo>
                <a:lnTo>
                  <a:pt x="24" y="9"/>
                </a:lnTo>
                <a:lnTo>
                  <a:pt x="24" y="7"/>
                </a:lnTo>
                <a:lnTo>
                  <a:pt x="24" y="6"/>
                </a:lnTo>
                <a:lnTo>
                  <a:pt x="22" y="6"/>
                </a:lnTo>
                <a:lnTo>
                  <a:pt x="20" y="4"/>
                </a:lnTo>
                <a:lnTo>
                  <a:pt x="20" y="2"/>
                </a:lnTo>
                <a:lnTo>
                  <a:pt x="18" y="2"/>
                </a:lnTo>
                <a:lnTo>
                  <a:pt x="16" y="0"/>
                </a:lnTo>
                <a:lnTo>
                  <a:pt x="14" y="0"/>
                </a:lnTo>
                <a:lnTo>
                  <a:pt x="12" y="0"/>
                </a:lnTo>
                <a:lnTo>
                  <a:pt x="10" y="0"/>
                </a:lnTo>
                <a:lnTo>
                  <a:pt x="8" y="0"/>
                </a:lnTo>
                <a:lnTo>
                  <a:pt x="6" y="2"/>
                </a:lnTo>
                <a:lnTo>
                  <a:pt x="4" y="2"/>
                </a:lnTo>
                <a:lnTo>
                  <a:pt x="4" y="4"/>
                </a:lnTo>
                <a:lnTo>
                  <a:pt x="2" y="6"/>
                </a:lnTo>
                <a:lnTo>
                  <a:pt x="0" y="6"/>
                </a:lnTo>
                <a:lnTo>
                  <a:pt x="0" y="7"/>
                </a:lnTo>
                <a:lnTo>
                  <a:pt x="0" y="9"/>
                </a:lnTo>
                <a:lnTo>
                  <a:pt x="0" y="11"/>
                </a:lnTo>
                <a:lnTo>
                  <a:pt x="0" y="13"/>
                </a:lnTo>
                <a:lnTo>
                  <a:pt x="0" y="15"/>
                </a:lnTo>
                <a:lnTo>
                  <a:pt x="0" y="17"/>
                </a:lnTo>
                <a:lnTo>
                  <a:pt x="2" y="19"/>
                </a:lnTo>
                <a:lnTo>
                  <a:pt x="4" y="21"/>
                </a:lnTo>
                <a:lnTo>
                  <a:pt x="4" y="23"/>
                </a:lnTo>
                <a:lnTo>
                  <a:pt x="6" y="23"/>
                </a:lnTo>
                <a:lnTo>
                  <a:pt x="8" y="23"/>
                </a:lnTo>
                <a:lnTo>
                  <a:pt x="10" y="25"/>
                </a:lnTo>
                <a:lnTo>
                  <a:pt x="12" y="25"/>
                </a:lnTo>
                <a:lnTo>
                  <a:pt x="12" y="23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119" name="Freeform 112"/>
          <p:cNvSpPr>
            <a:spLocks/>
          </p:cNvSpPr>
          <p:nvPr/>
        </p:nvSpPr>
        <p:spPr bwMode="auto">
          <a:xfrm>
            <a:off x="4638675" y="3040063"/>
            <a:ext cx="1689100" cy="2751138"/>
          </a:xfrm>
          <a:custGeom>
            <a:avLst/>
            <a:gdLst>
              <a:gd name="T0" fmla="*/ 1064 w 901"/>
              <a:gd name="T1" fmla="*/ 164 h 1045"/>
              <a:gd name="T2" fmla="*/ 1064 w 901"/>
              <a:gd name="T3" fmla="*/ 1733 h 1045"/>
              <a:gd name="T4" fmla="*/ 0 w 901"/>
              <a:gd name="T5" fmla="*/ 1733 h 1045"/>
              <a:gd name="T6" fmla="*/ 0 w 901"/>
              <a:gd name="T7" fmla="*/ 0 h 1045"/>
              <a:gd name="T8" fmla="*/ 67 w 901"/>
              <a:gd name="T9" fmla="*/ 0 h 104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901"/>
              <a:gd name="T16" fmla="*/ 0 h 1045"/>
              <a:gd name="T17" fmla="*/ 901 w 901"/>
              <a:gd name="T18" fmla="*/ 1045 h 104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901" h="1045">
                <a:moveTo>
                  <a:pt x="901" y="99"/>
                </a:moveTo>
                <a:lnTo>
                  <a:pt x="901" y="1045"/>
                </a:lnTo>
                <a:lnTo>
                  <a:pt x="0" y="1045"/>
                </a:lnTo>
                <a:lnTo>
                  <a:pt x="0" y="0"/>
                </a:lnTo>
                <a:lnTo>
                  <a:pt x="57" y="0"/>
                </a:lnTo>
              </a:path>
            </a:pathLst>
          </a:custGeom>
          <a:noFill/>
          <a:ln w="15875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120" name="Freeform 113"/>
          <p:cNvSpPr>
            <a:spLocks/>
          </p:cNvSpPr>
          <p:nvPr/>
        </p:nvSpPr>
        <p:spPr bwMode="auto">
          <a:xfrm>
            <a:off x="4518025" y="5892800"/>
            <a:ext cx="42862" cy="60325"/>
          </a:xfrm>
          <a:custGeom>
            <a:avLst/>
            <a:gdLst>
              <a:gd name="T0" fmla="*/ 11 w 23"/>
              <a:gd name="T1" fmla="*/ 38 h 25"/>
              <a:gd name="T2" fmla="*/ 15 w 23"/>
              <a:gd name="T3" fmla="*/ 38 h 25"/>
              <a:gd name="T4" fmla="*/ 18 w 23"/>
              <a:gd name="T5" fmla="*/ 38 h 25"/>
              <a:gd name="T6" fmla="*/ 20 w 23"/>
              <a:gd name="T7" fmla="*/ 35 h 25"/>
              <a:gd name="T8" fmla="*/ 22 w 23"/>
              <a:gd name="T9" fmla="*/ 35 h 25"/>
              <a:gd name="T10" fmla="*/ 22 w 23"/>
              <a:gd name="T11" fmla="*/ 32 h 25"/>
              <a:gd name="T12" fmla="*/ 25 w 23"/>
              <a:gd name="T13" fmla="*/ 32 h 25"/>
              <a:gd name="T14" fmla="*/ 25 w 23"/>
              <a:gd name="T15" fmla="*/ 29 h 25"/>
              <a:gd name="T16" fmla="*/ 27 w 23"/>
              <a:gd name="T17" fmla="*/ 27 h 25"/>
              <a:gd name="T18" fmla="*/ 27 w 23"/>
              <a:gd name="T19" fmla="*/ 24 h 25"/>
              <a:gd name="T20" fmla="*/ 27 w 23"/>
              <a:gd name="T21" fmla="*/ 21 h 25"/>
              <a:gd name="T22" fmla="*/ 27 w 23"/>
              <a:gd name="T23" fmla="*/ 18 h 25"/>
              <a:gd name="T24" fmla="*/ 27 w 23"/>
              <a:gd name="T25" fmla="*/ 15 h 25"/>
              <a:gd name="T26" fmla="*/ 25 w 23"/>
              <a:gd name="T27" fmla="*/ 12 h 25"/>
              <a:gd name="T28" fmla="*/ 25 w 23"/>
              <a:gd name="T29" fmla="*/ 9 h 25"/>
              <a:gd name="T30" fmla="*/ 22 w 23"/>
              <a:gd name="T31" fmla="*/ 6 h 25"/>
              <a:gd name="T32" fmla="*/ 22 w 23"/>
              <a:gd name="T33" fmla="*/ 6 h 25"/>
              <a:gd name="T34" fmla="*/ 20 w 23"/>
              <a:gd name="T35" fmla="*/ 3 h 25"/>
              <a:gd name="T36" fmla="*/ 18 w 23"/>
              <a:gd name="T37" fmla="*/ 3 h 25"/>
              <a:gd name="T38" fmla="*/ 15 w 23"/>
              <a:gd name="T39" fmla="*/ 3 h 25"/>
              <a:gd name="T40" fmla="*/ 13 w 23"/>
              <a:gd name="T41" fmla="*/ 0 h 25"/>
              <a:gd name="T42" fmla="*/ 11 w 23"/>
              <a:gd name="T43" fmla="*/ 3 h 25"/>
              <a:gd name="T44" fmla="*/ 8 w 23"/>
              <a:gd name="T45" fmla="*/ 3 h 25"/>
              <a:gd name="T46" fmla="*/ 6 w 23"/>
              <a:gd name="T47" fmla="*/ 3 h 25"/>
              <a:gd name="T48" fmla="*/ 4 w 23"/>
              <a:gd name="T49" fmla="*/ 6 h 25"/>
              <a:gd name="T50" fmla="*/ 2 w 23"/>
              <a:gd name="T51" fmla="*/ 6 h 25"/>
              <a:gd name="T52" fmla="*/ 2 w 23"/>
              <a:gd name="T53" fmla="*/ 9 h 25"/>
              <a:gd name="T54" fmla="*/ 0 w 23"/>
              <a:gd name="T55" fmla="*/ 12 h 25"/>
              <a:gd name="T56" fmla="*/ 0 w 23"/>
              <a:gd name="T57" fmla="*/ 15 h 25"/>
              <a:gd name="T58" fmla="*/ 0 w 23"/>
              <a:gd name="T59" fmla="*/ 18 h 25"/>
              <a:gd name="T60" fmla="*/ 0 w 23"/>
              <a:gd name="T61" fmla="*/ 21 h 25"/>
              <a:gd name="T62" fmla="*/ 0 w 23"/>
              <a:gd name="T63" fmla="*/ 24 h 25"/>
              <a:gd name="T64" fmla="*/ 0 w 23"/>
              <a:gd name="T65" fmla="*/ 27 h 25"/>
              <a:gd name="T66" fmla="*/ 0 w 23"/>
              <a:gd name="T67" fmla="*/ 29 h 25"/>
              <a:gd name="T68" fmla="*/ 2 w 23"/>
              <a:gd name="T69" fmla="*/ 32 h 25"/>
              <a:gd name="T70" fmla="*/ 2 w 23"/>
              <a:gd name="T71" fmla="*/ 32 h 25"/>
              <a:gd name="T72" fmla="*/ 4 w 23"/>
              <a:gd name="T73" fmla="*/ 35 h 25"/>
              <a:gd name="T74" fmla="*/ 6 w 23"/>
              <a:gd name="T75" fmla="*/ 35 h 25"/>
              <a:gd name="T76" fmla="*/ 8 w 23"/>
              <a:gd name="T77" fmla="*/ 38 h 25"/>
              <a:gd name="T78" fmla="*/ 11 w 23"/>
              <a:gd name="T79" fmla="*/ 38 h 25"/>
              <a:gd name="T80" fmla="*/ 13 w 23"/>
              <a:gd name="T81" fmla="*/ 38 h 25"/>
              <a:gd name="T82" fmla="*/ 13 w 23"/>
              <a:gd name="T83" fmla="*/ 38 h 25"/>
              <a:gd name="T84" fmla="*/ 11 w 23"/>
              <a:gd name="T85" fmla="*/ 38 h 25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w 23"/>
              <a:gd name="T130" fmla="*/ 0 h 25"/>
              <a:gd name="T131" fmla="*/ 23 w 23"/>
              <a:gd name="T132" fmla="*/ 25 h 25"/>
            </a:gdLst>
            <a:ahLst/>
            <a:cxnLst>
              <a:cxn ang="T86">
                <a:pos x="T0" y="T1"/>
              </a:cxn>
              <a:cxn ang="T87">
                <a:pos x="T2" y="T3"/>
              </a:cxn>
              <a:cxn ang="T88">
                <a:pos x="T4" y="T5"/>
              </a:cxn>
              <a:cxn ang="T89">
                <a:pos x="T6" y="T7"/>
              </a:cxn>
              <a:cxn ang="T90">
                <a:pos x="T8" y="T9"/>
              </a:cxn>
              <a:cxn ang="T91">
                <a:pos x="T10" y="T11"/>
              </a:cxn>
              <a:cxn ang="T92">
                <a:pos x="T12" y="T13"/>
              </a:cxn>
              <a:cxn ang="T93">
                <a:pos x="T14" y="T15"/>
              </a:cxn>
              <a:cxn ang="T94">
                <a:pos x="T16" y="T17"/>
              </a:cxn>
              <a:cxn ang="T95">
                <a:pos x="T18" y="T19"/>
              </a:cxn>
              <a:cxn ang="T96">
                <a:pos x="T20" y="T21"/>
              </a:cxn>
              <a:cxn ang="T97">
                <a:pos x="T22" y="T23"/>
              </a:cxn>
              <a:cxn ang="T98">
                <a:pos x="T24" y="T25"/>
              </a:cxn>
              <a:cxn ang="T99">
                <a:pos x="T26" y="T27"/>
              </a:cxn>
              <a:cxn ang="T100">
                <a:pos x="T28" y="T29"/>
              </a:cxn>
              <a:cxn ang="T101">
                <a:pos x="T30" y="T31"/>
              </a:cxn>
              <a:cxn ang="T102">
                <a:pos x="T32" y="T33"/>
              </a:cxn>
              <a:cxn ang="T103">
                <a:pos x="T34" y="T35"/>
              </a:cxn>
              <a:cxn ang="T104">
                <a:pos x="T36" y="T37"/>
              </a:cxn>
              <a:cxn ang="T105">
                <a:pos x="T38" y="T39"/>
              </a:cxn>
              <a:cxn ang="T106">
                <a:pos x="T40" y="T41"/>
              </a:cxn>
              <a:cxn ang="T107">
                <a:pos x="T42" y="T43"/>
              </a:cxn>
              <a:cxn ang="T108">
                <a:pos x="T44" y="T45"/>
              </a:cxn>
              <a:cxn ang="T109">
                <a:pos x="T46" y="T47"/>
              </a:cxn>
              <a:cxn ang="T110">
                <a:pos x="T48" y="T49"/>
              </a:cxn>
              <a:cxn ang="T111">
                <a:pos x="T50" y="T51"/>
              </a:cxn>
              <a:cxn ang="T112">
                <a:pos x="T52" y="T53"/>
              </a:cxn>
              <a:cxn ang="T113">
                <a:pos x="T54" y="T55"/>
              </a:cxn>
              <a:cxn ang="T114">
                <a:pos x="T56" y="T57"/>
              </a:cxn>
              <a:cxn ang="T115">
                <a:pos x="T58" y="T59"/>
              </a:cxn>
              <a:cxn ang="T116">
                <a:pos x="T60" y="T61"/>
              </a:cxn>
              <a:cxn ang="T117">
                <a:pos x="T62" y="T63"/>
              </a:cxn>
              <a:cxn ang="T118">
                <a:pos x="T64" y="T65"/>
              </a:cxn>
              <a:cxn ang="T119">
                <a:pos x="T66" y="T67"/>
              </a:cxn>
              <a:cxn ang="T120">
                <a:pos x="T68" y="T69"/>
              </a:cxn>
              <a:cxn ang="T121">
                <a:pos x="T70" y="T71"/>
              </a:cxn>
              <a:cxn ang="T122">
                <a:pos x="T72" y="T73"/>
              </a:cxn>
              <a:cxn ang="T123">
                <a:pos x="T74" y="T75"/>
              </a:cxn>
              <a:cxn ang="T124">
                <a:pos x="T76" y="T77"/>
              </a:cxn>
              <a:cxn ang="T125">
                <a:pos x="T78" y="T79"/>
              </a:cxn>
              <a:cxn ang="T126">
                <a:pos x="T80" y="T81"/>
              </a:cxn>
              <a:cxn ang="T127">
                <a:pos x="T82" y="T83"/>
              </a:cxn>
              <a:cxn ang="T128">
                <a:pos x="T84" y="T85"/>
              </a:cxn>
            </a:cxnLst>
            <a:rect l="T129" t="T130" r="T131" b="T132"/>
            <a:pathLst>
              <a:path w="23" h="25">
                <a:moveTo>
                  <a:pt x="9" y="25"/>
                </a:moveTo>
                <a:lnTo>
                  <a:pt x="13" y="25"/>
                </a:lnTo>
                <a:lnTo>
                  <a:pt x="15" y="25"/>
                </a:lnTo>
                <a:lnTo>
                  <a:pt x="17" y="23"/>
                </a:lnTo>
                <a:lnTo>
                  <a:pt x="19" y="23"/>
                </a:lnTo>
                <a:lnTo>
                  <a:pt x="19" y="21"/>
                </a:lnTo>
                <a:lnTo>
                  <a:pt x="21" y="21"/>
                </a:lnTo>
                <a:lnTo>
                  <a:pt x="21" y="19"/>
                </a:lnTo>
                <a:lnTo>
                  <a:pt x="23" y="18"/>
                </a:lnTo>
                <a:lnTo>
                  <a:pt x="23" y="16"/>
                </a:lnTo>
                <a:lnTo>
                  <a:pt x="23" y="14"/>
                </a:lnTo>
                <a:lnTo>
                  <a:pt x="23" y="12"/>
                </a:lnTo>
                <a:lnTo>
                  <a:pt x="23" y="10"/>
                </a:lnTo>
                <a:lnTo>
                  <a:pt x="21" y="8"/>
                </a:lnTo>
                <a:lnTo>
                  <a:pt x="21" y="6"/>
                </a:lnTo>
                <a:lnTo>
                  <a:pt x="19" y="4"/>
                </a:lnTo>
                <a:lnTo>
                  <a:pt x="17" y="2"/>
                </a:lnTo>
                <a:lnTo>
                  <a:pt x="15" y="2"/>
                </a:lnTo>
                <a:lnTo>
                  <a:pt x="13" y="2"/>
                </a:lnTo>
                <a:lnTo>
                  <a:pt x="11" y="0"/>
                </a:lnTo>
                <a:lnTo>
                  <a:pt x="9" y="2"/>
                </a:lnTo>
                <a:lnTo>
                  <a:pt x="7" y="2"/>
                </a:lnTo>
                <a:lnTo>
                  <a:pt x="5" y="2"/>
                </a:lnTo>
                <a:lnTo>
                  <a:pt x="3" y="4"/>
                </a:lnTo>
                <a:lnTo>
                  <a:pt x="2" y="4"/>
                </a:lnTo>
                <a:lnTo>
                  <a:pt x="2" y="6"/>
                </a:lnTo>
                <a:lnTo>
                  <a:pt x="0" y="8"/>
                </a:lnTo>
                <a:lnTo>
                  <a:pt x="0" y="10"/>
                </a:lnTo>
                <a:lnTo>
                  <a:pt x="0" y="12"/>
                </a:lnTo>
                <a:lnTo>
                  <a:pt x="0" y="14"/>
                </a:lnTo>
                <a:lnTo>
                  <a:pt x="0" y="16"/>
                </a:lnTo>
                <a:lnTo>
                  <a:pt x="0" y="18"/>
                </a:lnTo>
                <a:lnTo>
                  <a:pt x="0" y="19"/>
                </a:lnTo>
                <a:lnTo>
                  <a:pt x="2" y="21"/>
                </a:lnTo>
                <a:lnTo>
                  <a:pt x="3" y="23"/>
                </a:lnTo>
                <a:lnTo>
                  <a:pt x="5" y="23"/>
                </a:lnTo>
                <a:lnTo>
                  <a:pt x="7" y="25"/>
                </a:lnTo>
                <a:lnTo>
                  <a:pt x="9" y="25"/>
                </a:lnTo>
                <a:lnTo>
                  <a:pt x="11" y="25"/>
                </a:lnTo>
                <a:lnTo>
                  <a:pt x="9" y="25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121" name="Freeform 114"/>
          <p:cNvSpPr>
            <a:spLocks/>
          </p:cNvSpPr>
          <p:nvPr/>
        </p:nvSpPr>
        <p:spPr bwMode="auto">
          <a:xfrm>
            <a:off x="2271713" y="3527425"/>
            <a:ext cx="4484687" cy="2522538"/>
          </a:xfrm>
          <a:custGeom>
            <a:avLst/>
            <a:gdLst>
              <a:gd name="T0" fmla="*/ 2823 w 2393"/>
              <a:gd name="T1" fmla="*/ 1230 h 1041"/>
              <a:gd name="T2" fmla="*/ 2825 w 2393"/>
              <a:gd name="T3" fmla="*/ 1589 h 1041"/>
              <a:gd name="T4" fmla="*/ 0 w 2393"/>
              <a:gd name="T5" fmla="*/ 1589 h 1041"/>
              <a:gd name="T6" fmla="*/ 0 w 2393"/>
              <a:gd name="T7" fmla="*/ 0 h 1041"/>
              <a:gd name="T8" fmla="*/ 367 w 2393"/>
              <a:gd name="T9" fmla="*/ 0 h 104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393"/>
              <a:gd name="T16" fmla="*/ 0 h 1041"/>
              <a:gd name="T17" fmla="*/ 2393 w 2393"/>
              <a:gd name="T18" fmla="*/ 1041 h 104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393" h="1041">
                <a:moveTo>
                  <a:pt x="2391" y="806"/>
                </a:moveTo>
                <a:lnTo>
                  <a:pt x="2393" y="1041"/>
                </a:lnTo>
                <a:lnTo>
                  <a:pt x="0" y="1041"/>
                </a:lnTo>
                <a:lnTo>
                  <a:pt x="0" y="0"/>
                </a:lnTo>
                <a:lnTo>
                  <a:pt x="311" y="0"/>
                </a:lnTo>
              </a:path>
            </a:pathLst>
          </a:custGeom>
          <a:noFill/>
          <a:ln w="15875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122" name="Freeform 115"/>
          <p:cNvSpPr>
            <a:spLocks/>
          </p:cNvSpPr>
          <p:nvPr/>
        </p:nvSpPr>
        <p:spPr bwMode="auto">
          <a:xfrm>
            <a:off x="6731000" y="5451475"/>
            <a:ext cx="46037" cy="60325"/>
          </a:xfrm>
          <a:custGeom>
            <a:avLst/>
            <a:gdLst>
              <a:gd name="T0" fmla="*/ 13 w 25"/>
              <a:gd name="T1" fmla="*/ 38 h 25"/>
              <a:gd name="T2" fmla="*/ 17 w 25"/>
              <a:gd name="T3" fmla="*/ 38 h 25"/>
              <a:gd name="T4" fmla="*/ 20 w 25"/>
              <a:gd name="T5" fmla="*/ 38 h 25"/>
              <a:gd name="T6" fmla="*/ 22 w 25"/>
              <a:gd name="T7" fmla="*/ 35 h 25"/>
              <a:gd name="T8" fmla="*/ 24 w 25"/>
              <a:gd name="T9" fmla="*/ 35 h 25"/>
              <a:gd name="T10" fmla="*/ 24 w 25"/>
              <a:gd name="T11" fmla="*/ 33 h 25"/>
              <a:gd name="T12" fmla="*/ 27 w 25"/>
              <a:gd name="T13" fmla="*/ 33 h 25"/>
              <a:gd name="T14" fmla="*/ 27 w 25"/>
              <a:gd name="T15" fmla="*/ 30 h 25"/>
              <a:gd name="T16" fmla="*/ 29 w 25"/>
              <a:gd name="T17" fmla="*/ 27 h 25"/>
              <a:gd name="T18" fmla="*/ 29 w 25"/>
              <a:gd name="T19" fmla="*/ 24 h 25"/>
              <a:gd name="T20" fmla="*/ 29 w 25"/>
              <a:gd name="T21" fmla="*/ 21 h 25"/>
              <a:gd name="T22" fmla="*/ 29 w 25"/>
              <a:gd name="T23" fmla="*/ 18 h 25"/>
              <a:gd name="T24" fmla="*/ 29 w 25"/>
              <a:gd name="T25" fmla="*/ 15 h 25"/>
              <a:gd name="T26" fmla="*/ 27 w 25"/>
              <a:gd name="T27" fmla="*/ 12 h 25"/>
              <a:gd name="T28" fmla="*/ 27 w 25"/>
              <a:gd name="T29" fmla="*/ 9 h 25"/>
              <a:gd name="T30" fmla="*/ 24 w 25"/>
              <a:gd name="T31" fmla="*/ 6 h 25"/>
              <a:gd name="T32" fmla="*/ 24 w 25"/>
              <a:gd name="T33" fmla="*/ 6 h 25"/>
              <a:gd name="T34" fmla="*/ 22 w 25"/>
              <a:gd name="T35" fmla="*/ 3 h 25"/>
              <a:gd name="T36" fmla="*/ 20 w 25"/>
              <a:gd name="T37" fmla="*/ 3 h 25"/>
              <a:gd name="T38" fmla="*/ 17 w 25"/>
              <a:gd name="T39" fmla="*/ 3 h 25"/>
              <a:gd name="T40" fmla="*/ 15 w 25"/>
              <a:gd name="T41" fmla="*/ 0 h 25"/>
              <a:gd name="T42" fmla="*/ 13 w 25"/>
              <a:gd name="T43" fmla="*/ 3 h 25"/>
              <a:gd name="T44" fmla="*/ 10 w 25"/>
              <a:gd name="T45" fmla="*/ 3 h 25"/>
              <a:gd name="T46" fmla="*/ 8 w 25"/>
              <a:gd name="T47" fmla="*/ 3 h 25"/>
              <a:gd name="T48" fmla="*/ 6 w 25"/>
              <a:gd name="T49" fmla="*/ 6 h 25"/>
              <a:gd name="T50" fmla="*/ 5 w 25"/>
              <a:gd name="T51" fmla="*/ 6 h 25"/>
              <a:gd name="T52" fmla="*/ 5 w 25"/>
              <a:gd name="T53" fmla="*/ 9 h 25"/>
              <a:gd name="T54" fmla="*/ 2 w 25"/>
              <a:gd name="T55" fmla="*/ 12 h 25"/>
              <a:gd name="T56" fmla="*/ 2 w 25"/>
              <a:gd name="T57" fmla="*/ 15 h 25"/>
              <a:gd name="T58" fmla="*/ 2 w 25"/>
              <a:gd name="T59" fmla="*/ 18 h 25"/>
              <a:gd name="T60" fmla="*/ 0 w 25"/>
              <a:gd name="T61" fmla="*/ 21 h 25"/>
              <a:gd name="T62" fmla="*/ 2 w 25"/>
              <a:gd name="T63" fmla="*/ 24 h 25"/>
              <a:gd name="T64" fmla="*/ 2 w 25"/>
              <a:gd name="T65" fmla="*/ 27 h 25"/>
              <a:gd name="T66" fmla="*/ 2 w 25"/>
              <a:gd name="T67" fmla="*/ 30 h 25"/>
              <a:gd name="T68" fmla="*/ 5 w 25"/>
              <a:gd name="T69" fmla="*/ 33 h 25"/>
              <a:gd name="T70" fmla="*/ 5 w 25"/>
              <a:gd name="T71" fmla="*/ 33 h 25"/>
              <a:gd name="T72" fmla="*/ 6 w 25"/>
              <a:gd name="T73" fmla="*/ 35 h 25"/>
              <a:gd name="T74" fmla="*/ 8 w 25"/>
              <a:gd name="T75" fmla="*/ 35 h 25"/>
              <a:gd name="T76" fmla="*/ 10 w 25"/>
              <a:gd name="T77" fmla="*/ 38 h 25"/>
              <a:gd name="T78" fmla="*/ 13 w 25"/>
              <a:gd name="T79" fmla="*/ 38 h 25"/>
              <a:gd name="T80" fmla="*/ 15 w 25"/>
              <a:gd name="T81" fmla="*/ 38 h 25"/>
              <a:gd name="T82" fmla="*/ 15 w 25"/>
              <a:gd name="T83" fmla="*/ 38 h 25"/>
              <a:gd name="T84" fmla="*/ 13 w 25"/>
              <a:gd name="T85" fmla="*/ 38 h 25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w 25"/>
              <a:gd name="T130" fmla="*/ 0 h 25"/>
              <a:gd name="T131" fmla="*/ 25 w 25"/>
              <a:gd name="T132" fmla="*/ 25 h 25"/>
            </a:gdLst>
            <a:ahLst/>
            <a:cxnLst>
              <a:cxn ang="T86">
                <a:pos x="T0" y="T1"/>
              </a:cxn>
              <a:cxn ang="T87">
                <a:pos x="T2" y="T3"/>
              </a:cxn>
              <a:cxn ang="T88">
                <a:pos x="T4" y="T5"/>
              </a:cxn>
              <a:cxn ang="T89">
                <a:pos x="T6" y="T7"/>
              </a:cxn>
              <a:cxn ang="T90">
                <a:pos x="T8" y="T9"/>
              </a:cxn>
              <a:cxn ang="T91">
                <a:pos x="T10" y="T11"/>
              </a:cxn>
              <a:cxn ang="T92">
                <a:pos x="T12" y="T13"/>
              </a:cxn>
              <a:cxn ang="T93">
                <a:pos x="T14" y="T15"/>
              </a:cxn>
              <a:cxn ang="T94">
                <a:pos x="T16" y="T17"/>
              </a:cxn>
              <a:cxn ang="T95">
                <a:pos x="T18" y="T19"/>
              </a:cxn>
              <a:cxn ang="T96">
                <a:pos x="T20" y="T21"/>
              </a:cxn>
              <a:cxn ang="T97">
                <a:pos x="T22" y="T23"/>
              </a:cxn>
              <a:cxn ang="T98">
                <a:pos x="T24" y="T25"/>
              </a:cxn>
              <a:cxn ang="T99">
                <a:pos x="T26" y="T27"/>
              </a:cxn>
              <a:cxn ang="T100">
                <a:pos x="T28" y="T29"/>
              </a:cxn>
              <a:cxn ang="T101">
                <a:pos x="T30" y="T31"/>
              </a:cxn>
              <a:cxn ang="T102">
                <a:pos x="T32" y="T33"/>
              </a:cxn>
              <a:cxn ang="T103">
                <a:pos x="T34" y="T35"/>
              </a:cxn>
              <a:cxn ang="T104">
                <a:pos x="T36" y="T37"/>
              </a:cxn>
              <a:cxn ang="T105">
                <a:pos x="T38" y="T39"/>
              </a:cxn>
              <a:cxn ang="T106">
                <a:pos x="T40" y="T41"/>
              </a:cxn>
              <a:cxn ang="T107">
                <a:pos x="T42" y="T43"/>
              </a:cxn>
              <a:cxn ang="T108">
                <a:pos x="T44" y="T45"/>
              </a:cxn>
              <a:cxn ang="T109">
                <a:pos x="T46" y="T47"/>
              </a:cxn>
              <a:cxn ang="T110">
                <a:pos x="T48" y="T49"/>
              </a:cxn>
              <a:cxn ang="T111">
                <a:pos x="T50" y="T51"/>
              </a:cxn>
              <a:cxn ang="T112">
                <a:pos x="T52" y="T53"/>
              </a:cxn>
              <a:cxn ang="T113">
                <a:pos x="T54" y="T55"/>
              </a:cxn>
              <a:cxn ang="T114">
                <a:pos x="T56" y="T57"/>
              </a:cxn>
              <a:cxn ang="T115">
                <a:pos x="T58" y="T59"/>
              </a:cxn>
              <a:cxn ang="T116">
                <a:pos x="T60" y="T61"/>
              </a:cxn>
              <a:cxn ang="T117">
                <a:pos x="T62" y="T63"/>
              </a:cxn>
              <a:cxn ang="T118">
                <a:pos x="T64" y="T65"/>
              </a:cxn>
              <a:cxn ang="T119">
                <a:pos x="T66" y="T67"/>
              </a:cxn>
              <a:cxn ang="T120">
                <a:pos x="T68" y="T69"/>
              </a:cxn>
              <a:cxn ang="T121">
                <a:pos x="T70" y="T71"/>
              </a:cxn>
              <a:cxn ang="T122">
                <a:pos x="T72" y="T73"/>
              </a:cxn>
              <a:cxn ang="T123">
                <a:pos x="T74" y="T75"/>
              </a:cxn>
              <a:cxn ang="T124">
                <a:pos x="T76" y="T77"/>
              </a:cxn>
              <a:cxn ang="T125">
                <a:pos x="T78" y="T79"/>
              </a:cxn>
              <a:cxn ang="T126">
                <a:pos x="T80" y="T81"/>
              </a:cxn>
              <a:cxn ang="T127">
                <a:pos x="T82" y="T83"/>
              </a:cxn>
              <a:cxn ang="T128">
                <a:pos x="T84" y="T85"/>
              </a:cxn>
            </a:cxnLst>
            <a:rect l="T129" t="T130" r="T131" b="T132"/>
            <a:pathLst>
              <a:path w="25" h="25">
                <a:moveTo>
                  <a:pt x="11" y="25"/>
                </a:moveTo>
                <a:lnTo>
                  <a:pt x="15" y="25"/>
                </a:lnTo>
                <a:lnTo>
                  <a:pt x="17" y="25"/>
                </a:lnTo>
                <a:lnTo>
                  <a:pt x="19" y="23"/>
                </a:lnTo>
                <a:lnTo>
                  <a:pt x="21" y="23"/>
                </a:lnTo>
                <a:lnTo>
                  <a:pt x="21" y="22"/>
                </a:lnTo>
                <a:lnTo>
                  <a:pt x="23" y="22"/>
                </a:lnTo>
                <a:lnTo>
                  <a:pt x="23" y="20"/>
                </a:lnTo>
                <a:lnTo>
                  <a:pt x="25" y="18"/>
                </a:lnTo>
                <a:lnTo>
                  <a:pt x="25" y="16"/>
                </a:lnTo>
                <a:lnTo>
                  <a:pt x="25" y="14"/>
                </a:lnTo>
                <a:lnTo>
                  <a:pt x="25" y="12"/>
                </a:lnTo>
                <a:lnTo>
                  <a:pt x="25" y="10"/>
                </a:lnTo>
                <a:lnTo>
                  <a:pt x="23" y="8"/>
                </a:lnTo>
                <a:lnTo>
                  <a:pt x="23" y="6"/>
                </a:lnTo>
                <a:lnTo>
                  <a:pt x="21" y="4"/>
                </a:lnTo>
                <a:lnTo>
                  <a:pt x="19" y="2"/>
                </a:lnTo>
                <a:lnTo>
                  <a:pt x="17" y="2"/>
                </a:lnTo>
                <a:lnTo>
                  <a:pt x="15" y="2"/>
                </a:lnTo>
                <a:lnTo>
                  <a:pt x="13" y="0"/>
                </a:lnTo>
                <a:lnTo>
                  <a:pt x="11" y="2"/>
                </a:lnTo>
                <a:lnTo>
                  <a:pt x="9" y="2"/>
                </a:lnTo>
                <a:lnTo>
                  <a:pt x="7" y="2"/>
                </a:lnTo>
                <a:lnTo>
                  <a:pt x="5" y="4"/>
                </a:lnTo>
                <a:lnTo>
                  <a:pt x="4" y="4"/>
                </a:lnTo>
                <a:lnTo>
                  <a:pt x="4" y="6"/>
                </a:lnTo>
                <a:lnTo>
                  <a:pt x="2" y="8"/>
                </a:lnTo>
                <a:lnTo>
                  <a:pt x="2" y="10"/>
                </a:lnTo>
                <a:lnTo>
                  <a:pt x="2" y="12"/>
                </a:lnTo>
                <a:lnTo>
                  <a:pt x="0" y="14"/>
                </a:lnTo>
                <a:lnTo>
                  <a:pt x="2" y="16"/>
                </a:lnTo>
                <a:lnTo>
                  <a:pt x="2" y="18"/>
                </a:lnTo>
                <a:lnTo>
                  <a:pt x="2" y="20"/>
                </a:lnTo>
                <a:lnTo>
                  <a:pt x="4" y="22"/>
                </a:lnTo>
                <a:lnTo>
                  <a:pt x="5" y="23"/>
                </a:lnTo>
                <a:lnTo>
                  <a:pt x="7" y="23"/>
                </a:lnTo>
                <a:lnTo>
                  <a:pt x="9" y="25"/>
                </a:lnTo>
                <a:lnTo>
                  <a:pt x="11" y="25"/>
                </a:lnTo>
                <a:lnTo>
                  <a:pt x="13" y="25"/>
                </a:lnTo>
                <a:lnTo>
                  <a:pt x="11" y="25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123" name="Freeform 116"/>
          <p:cNvSpPr>
            <a:spLocks/>
          </p:cNvSpPr>
          <p:nvPr/>
        </p:nvSpPr>
        <p:spPr bwMode="auto">
          <a:xfrm>
            <a:off x="3890963" y="1857375"/>
            <a:ext cx="47625" cy="60325"/>
          </a:xfrm>
          <a:custGeom>
            <a:avLst/>
            <a:gdLst>
              <a:gd name="T0" fmla="*/ 0 w 25"/>
              <a:gd name="T1" fmla="*/ 0 h 25"/>
              <a:gd name="T2" fmla="*/ 2 w 25"/>
              <a:gd name="T3" fmla="*/ 38 h 25"/>
              <a:gd name="T4" fmla="*/ 30 w 25"/>
              <a:gd name="T5" fmla="*/ 20 h 25"/>
              <a:gd name="T6" fmla="*/ 2 w 25"/>
              <a:gd name="T7" fmla="*/ 3 h 25"/>
              <a:gd name="T8" fmla="*/ 2 w 25"/>
              <a:gd name="T9" fmla="*/ 3 h 25"/>
              <a:gd name="T10" fmla="*/ 0 w 25"/>
              <a:gd name="T11" fmla="*/ 0 h 2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"/>
              <a:gd name="T19" fmla="*/ 0 h 25"/>
              <a:gd name="T20" fmla="*/ 25 w 25"/>
              <a:gd name="T21" fmla="*/ 25 h 2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" h="25">
                <a:moveTo>
                  <a:pt x="0" y="0"/>
                </a:moveTo>
                <a:lnTo>
                  <a:pt x="2" y="25"/>
                </a:lnTo>
                <a:lnTo>
                  <a:pt x="25" y="13"/>
                </a:lnTo>
                <a:lnTo>
                  <a:pt x="2" y="2"/>
                </a:lnTo>
                <a:lnTo>
                  <a:pt x="0" y="0"/>
                </a:lnTo>
                <a:close/>
              </a:path>
            </a:pathLst>
          </a:custGeom>
          <a:solidFill>
            <a:srgbClr val="EB75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124" name="Freeform 117"/>
          <p:cNvSpPr>
            <a:spLocks/>
          </p:cNvSpPr>
          <p:nvPr/>
        </p:nvSpPr>
        <p:spPr bwMode="auto">
          <a:xfrm>
            <a:off x="5048250" y="5410200"/>
            <a:ext cx="46037" cy="60325"/>
          </a:xfrm>
          <a:custGeom>
            <a:avLst/>
            <a:gdLst>
              <a:gd name="T0" fmla="*/ 0 w 25"/>
              <a:gd name="T1" fmla="*/ 0 h 25"/>
              <a:gd name="T2" fmla="*/ 2 w 25"/>
              <a:gd name="T3" fmla="*/ 38 h 25"/>
              <a:gd name="T4" fmla="*/ 29 w 25"/>
              <a:gd name="T5" fmla="*/ 18 h 25"/>
              <a:gd name="T6" fmla="*/ 2 w 25"/>
              <a:gd name="T7" fmla="*/ 0 h 25"/>
              <a:gd name="T8" fmla="*/ 2 w 25"/>
              <a:gd name="T9" fmla="*/ 0 h 25"/>
              <a:gd name="T10" fmla="*/ 0 w 25"/>
              <a:gd name="T11" fmla="*/ 0 h 2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"/>
              <a:gd name="T19" fmla="*/ 0 h 25"/>
              <a:gd name="T20" fmla="*/ 25 w 25"/>
              <a:gd name="T21" fmla="*/ 25 h 2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" h="25">
                <a:moveTo>
                  <a:pt x="0" y="0"/>
                </a:moveTo>
                <a:lnTo>
                  <a:pt x="2" y="25"/>
                </a:lnTo>
                <a:lnTo>
                  <a:pt x="25" y="12"/>
                </a:lnTo>
                <a:lnTo>
                  <a:pt x="2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125" name="Freeform 118"/>
          <p:cNvSpPr>
            <a:spLocks/>
          </p:cNvSpPr>
          <p:nvPr/>
        </p:nvSpPr>
        <p:spPr bwMode="auto">
          <a:xfrm>
            <a:off x="5081587" y="5562600"/>
            <a:ext cx="47625" cy="60325"/>
          </a:xfrm>
          <a:custGeom>
            <a:avLst/>
            <a:gdLst>
              <a:gd name="T0" fmla="*/ 0 w 25"/>
              <a:gd name="T1" fmla="*/ 0 h 25"/>
              <a:gd name="T2" fmla="*/ 2 w 25"/>
              <a:gd name="T3" fmla="*/ 38 h 25"/>
              <a:gd name="T4" fmla="*/ 30 w 25"/>
              <a:gd name="T5" fmla="*/ 21 h 25"/>
              <a:gd name="T6" fmla="*/ 2 w 25"/>
              <a:gd name="T7" fmla="*/ 3 h 25"/>
              <a:gd name="T8" fmla="*/ 2 w 25"/>
              <a:gd name="T9" fmla="*/ 3 h 25"/>
              <a:gd name="T10" fmla="*/ 0 w 25"/>
              <a:gd name="T11" fmla="*/ 0 h 2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"/>
              <a:gd name="T19" fmla="*/ 0 h 25"/>
              <a:gd name="T20" fmla="*/ 25 w 25"/>
              <a:gd name="T21" fmla="*/ 25 h 2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" h="25">
                <a:moveTo>
                  <a:pt x="0" y="0"/>
                </a:moveTo>
                <a:lnTo>
                  <a:pt x="2" y="25"/>
                </a:lnTo>
                <a:lnTo>
                  <a:pt x="25" y="14"/>
                </a:lnTo>
                <a:lnTo>
                  <a:pt x="2" y="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127" name="Line 120"/>
          <p:cNvSpPr>
            <a:spLocks noChangeShapeType="1"/>
          </p:cNvSpPr>
          <p:nvPr/>
        </p:nvSpPr>
        <p:spPr bwMode="auto">
          <a:xfrm>
            <a:off x="4940300" y="4973638"/>
            <a:ext cx="852487" cy="3175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128" name="Line 121"/>
          <p:cNvSpPr>
            <a:spLocks noChangeShapeType="1"/>
          </p:cNvSpPr>
          <p:nvPr/>
        </p:nvSpPr>
        <p:spPr bwMode="auto">
          <a:xfrm>
            <a:off x="4133850" y="5091113"/>
            <a:ext cx="592137" cy="1588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129" name="Line 122"/>
          <p:cNvSpPr>
            <a:spLocks noChangeShapeType="1"/>
          </p:cNvSpPr>
          <p:nvPr/>
        </p:nvSpPr>
        <p:spPr bwMode="auto">
          <a:xfrm>
            <a:off x="4130675" y="4881563"/>
            <a:ext cx="606425" cy="3175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130" name="Freeform 123"/>
          <p:cNvSpPr>
            <a:spLocks/>
          </p:cNvSpPr>
          <p:nvPr/>
        </p:nvSpPr>
        <p:spPr bwMode="auto">
          <a:xfrm>
            <a:off x="4133850" y="4456113"/>
            <a:ext cx="928687" cy="982663"/>
          </a:xfrm>
          <a:custGeom>
            <a:avLst/>
            <a:gdLst>
              <a:gd name="T0" fmla="*/ 0 w 496"/>
              <a:gd name="T1" fmla="*/ 0 h 406"/>
              <a:gd name="T2" fmla="*/ 183 w 496"/>
              <a:gd name="T3" fmla="*/ 0 h 406"/>
              <a:gd name="T4" fmla="*/ 183 w 496"/>
              <a:gd name="T5" fmla="*/ 619 h 406"/>
              <a:gd name="T6" fmla="*/ 585 w 496"/>
              <a:gd name="T7" fmla="*/ 619 h 406"/>
              <a:gd name="T8" fmla="*/ 0 60000 65536"/>
              <a:gd name="T9" fmla="*/ 0 60000 65536"/>
              <a:gd name="T10" fmla="*/ 0 60000 65536"/>
              <a:gd name="T11" fmla="*/ 0 60000 65536"/>
              <a:gd name="T12" fmla="*/ 0 w 496"/>
              <a:gd name="T13" fmla="*/ 0 h 406"/>
              <a:gd name="T14" fmla="*/ 496 w 496"/>
              <a:gd name="T15" fmla="*/ 406 h 40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96" h="406">
                <a:moveTo>
                  <a:pt x="0" y="0"/>
                </a:moveTo>
                <a:lnTo>
                  <a:pt x="155" y="0"/>
                </a:lnTo>
                <a:lnTo>
                  <a:pt x="155" y="406"/>
                </a:lnTo>
                <a:lnTo>
                  <a:pt x="496" y="406"/>
                </a:lnTo>
              </a:path>
            </a:pathLst>
          </a:custGeom>
          <a:noFill/>
          <a:ln w="15875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131" name="Freeform 124"/>
          <p:cNvSpPr>
            <a:spLocks/>
          </p:cNvSpPr>
          <p:nvPr/>
        </p:nvSpPr>
        <p:spPr bwMode="auto">
          <a:xfrm>
            <a:off x="4130675" y="4668838"/>
            <a:ext cx="963612" cy="928688"/>
          </a:xfrm>
          <a:custGeom>
            <a:avLst/>
            <a:gdLst>
              <a:gd name="T0" fmla="*/ 607 w 515"/>
              <a:gd name="T1" fmla="*/ 582 h 383"/>
              <a:gd name="T2" fmla="*/ 131 w 515"/>
              <a:gd name="T3" fmla="*/ 585 h 383"/>
              <a:gd name="T4" fmla="*/ 128 w 515"/>
              <a:gd name="T5" fmla="*/ 0 h 383"/>
              <a:gd name="T6" fmla="*/ 0 w 515"/>
              <a:gd name="T7" fmla="*/ 0 h 383"/>
              <a:gd name="T8" fmla="*/ 0 60000 65536"/>
              <a:gd name="T9" fmla="*/ 0 60000 65536"/>
              <a:gd name="T10" fmla="*/ 0 60000 65536"/>
              <a:gd name="T11" fmla="*/ 0 60000 65536"/>
              <a:gd name="T12" fmla="*/ 0 w 515"/>
              <a:gd name="T13" fmla="*/ 0 h 383"/>
              <a:gd name="T14" fmla="*/ 515 w 515"/>
              <a:gd name="T15" fmla="*/ 383 h 383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15" h="383">
                <a:moveTo>
                  <a:pt x="515" y="381"/>
                </a:moveTo>
                <a:lnTo>
                  <a:pt x="111" y="383"/>
                </a:lnTo>
                <a:lnTo>
                  <a:pt x="109" y="0"/>
                </a:lnTo>
                <a:lnTo>
                  <a:pt x="0" y="0"/>
                </a:lnTo>
              </a:path>
            </a:pathLst>
          </a:custGeom>
          <a:noFill/>
          <a:ln w="15875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132" name="Rectangle 126"/>
          <p:cNvSpPr>
            <a:spLocks noChangeArrowheads="1"/>
          </p:cNvSpPr>
          <p:nvPr/>
        </p:nvSpPr>
        <p:spPr bwMode="auto">
          <a:xfrm>
            <a:off x="7840662" y="3459163"/>
            <a:ext cx="44884" cy="10772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700">
                <a:solidFill>
                  <a:srgbClr val="000000"/>
                </a:solidFill>
                <a:latin typeface="+mj-lt"/>
              </a:rPr>
              <a:t>1</a:t>
            </a:r>
            <a:endParaRPr lang="en-US" sz="60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133" name="Rectangle 127"/>
          <p:cNvSpPr>
            <a:spLocks noChangeArrowheads="1"/>
          </p:cNvSpPr>
          <p:nvPr/>
        </p:nvSpPr>
        <p:spPr bwMode="auto">
          <a:xfrm>
            <a:off x="7872009" y="3597275"/>
            <a:ext cx="83356" cy="25853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lnSpc>
                <a:spcPct val="70000"/>
              </a:lnSpc>
            </a:pPr>
            <a:r>
              <a:rPr lang="en-US" sz="800">
                <a:solidFill>
                  <a:srgbClr val="000000"/>
                </a:solidFill>
                <a:latin typeface="+mj-lt"/>
              </a:rPr>
              <a:t>m</a:t>
            </a:r>
          </a:p>
          <a:p>
            <a:pPr algn="ctr">
              <a:lnSpc>
                <a:spcPct val="70000"/>
              </a:lnSpc>
            </a:pPr>
            <a:r>
              <a:rPr lang="en-US" sz="800">
                <a:solidFill>
                  <a:srgbClr val="000000"/>
                </a:solidFill>
                <a:latin typeface="+mj-lt"/>
              </a:rPr>
              <a:t>u</a:t>
            </a:r>
          </a:p>
          <a:p>
            <a:pPr algn="ctr">
              <a:lnSpc>
                <a:spcPct val="70000"/>
              </a:lnSpc>
            </a:pPr>
            <a:r>
              <a:rPr lang="en-US" sz="800">
                <a:solidFill>
                  <a:srgbClr val="000000"/>
                </a:solidFill>
                <a:latin typeface="+mj-lt"/>
              </a:rPr>
              <a:t>x</a:t>
            </a:r>
            <a:endParaRPr lang="en-US" sz="50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134" name="Rectangle 129"/>
          <p:cNvSpPr>
            <a:spLocks noChangeArrowheads="1"/>
          </p:cNvSpPr>
          <p:nvPr/>
        </p:nvSpPr>
        <p:spPr bwMode="auto">
          <a:xfrm>
            <a:off x="7835900" y="3886200"/>
            <a:ext cx="44884" cy="10772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700">
                <a:solidFill>
                  <a:srgbClr val="000000"/>
                </a:solidFill>
                <a:latin typeface="+mj-lt"/>
              </a:rPr>
              <a:t>0</a:t>
            </a:r>
            <a:endParaRPr lang="en-US" sz="60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135" name="Rectangle 131"/>
          <p:cNvSpPr>
            <a:spLocks noChangeArrowheads="1"/>
          </p:cNvSpPr>
          <p:nvPr/>
        </p:nvSpPr>
        <p:spPr bwMode="auto">
          <a:xfrm>
            <a:off x="4791075" y="4711700"/>
            <a:ext cx="44884" cy="10772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700">
                <a:solidFill>
                  <a:srgbClr val="000000"/>
                </a:solidFill>
                <a:latin typeface="+mj-lt"/>
              </a:rPr>
              <a:t>0</a:t>
            </a:r>
            <a:endParaRPr lang="en-US" sz="60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136" name="Rectangle 132"/>
          <p:cNvSpPr>
            <a:spLocks noChangeArrowheads="1"/>
          </p:cNvSpPr>
          <p:nvPr/>
        </p:nvSpPr>
        <p:spPr bwMode="auto">
          <a:xfrm>
            <a:off x="4824009" y="4849813"/>
            <a:ext cx="83356" cy="25853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lnSpc>
                <a:spcPct val="70000"/>
              </a:lnSpc>
            </a:pPr>
            <a:r>
              <a:rPr lang="en-US" sz="800">
                <a:solidFill>
                  <a:srgbClr val="000000"/>
                </a:solidFill>
                <a:latin typeface="+mj-lt"/>
              </a:rPr>
              <a:t>m</a:t>
            </a:r>
          </a:p>
          <a:p>
            <a:pPr algn="ctr">
              <a:lnSpc>
                <a:spcPct val="70000"/>
              </a:lnSpc>
            </a:pPr>
            <a:r>
              <a:rPr lang="en-US" sz="800">
                <a:solidFill>
                  <a:srgbClr val="000000"/>
                </a:solidFill>
                <a:latin typeface="+mj-lt"/>
              </a:rPr>
              <a:t>u</a:t>
            </a:r>
          </a:p>
          <a:p>
            <a:pPr algn="ctr">
              <a:lnSpc>
                <a:spcPct val="70000"/>
              </a:lnSpc>
            </a:pPr>
            <a:r>
              <a:rPr lang="en-US" sz="800">
                <a:solidFill>
                  <a:srgbClr val="000000"/>
                </a:solidFill>
                <a:latin typeface="+mj-lt"/>
              </a:rPr>
              <a:t>x</a:t>
            </a:r>
            <a:endParaRPr lang="en-US" sz="50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137" name="Rectangle 134"/>
          <p:cNvSpPr>
            <a:spLocks noChangeArrowheads="1"/>
          </p:cNvSpPr>
          <p:nvPr/>
        </p:nvSpPr>
        <p:spPr bwMode="auto">
          <a:xfrm>
            <a:off x="4786313" y="5138738"/>
            <a:ext cx="44884" cy="10772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700">
                <a:solidFill>
                  <a:srgbClr val="000000"/>
                </a:solidFill>
                <a:latin typeface="+mj-lt"/>
              </a:rPr>
              <a:t>1</a:t>
            </a:r>
            <a:endParaRPr lang="en-US" sz="60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138" name="Rectangle 136"/>
          <p:cNvSpPr>
            <a:spLocks noChangeArrowheads="1"/>
          </p:cNvSpPr>
          <p:nvPr/>
        </p:nvSpPr>
        <p:spPr bwMode="auto">
          <a:xfrm>
            <a:off x="4795838" y="3708400"/>
            <a:ext cx="44884" cy="10772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700">
                <a:solidFill>
                  <a:srgbClr val="000000"/>
                </a:solidFill>
                <a:latin typeface="+mj-lt"/>
              </a:rPr>
              <a:t>0</a:t>
            </a:r>
            <a:endParaRPr lang="en-US" sz="60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139" name="Rectangle 137"/>
          <p:cNvSpPr>
            <a:spLocks noChangeArrowheads="1"/>
          </p:cNvSpPr>
          <p:nvPr/>
        </p:nvSpPr>
        <p:spPr bwMode="auto">
          <a:xfrm>
            <a:off x="4841471" y="3846513"/>
            <a:ext cx="83356" cy="25853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lnSpc>
                <a:spcPct val="70000"/>
              </a:lnSpc>
            </a:pPr>
            <a:r>
              <a:rPr lang="en-US" sz="800">
                <a:solidFill>
                  <a:srgbClr val="000000"/>
                </a:solidFill>
                <a:latin typeface="+mj-lt"/>
              </a:rPr>
              <a:t>m</a:t>
            </a:r>
          </a:p>
          <a:p>
            <a:pPr algn="ctr">
              <a:lnSpc>
                <a:spcPct val="70000"/>
              </a:lnSpc>
            </a:pPr>
            <a:r>
              <a:rPr lang="en-US" sz="800">
                <a:solidFill>
                  <a:srgbClr val="000000"/>
                </a:solidFill>
                <a:latin typeface="+mj-lt"/>
              </a:rPr>
              <a:t>u</a:t>
            </a:r>
          </a:p>
          <a:p>
            <a:pPr algn="ctr">
              <a:lnSpc>
                <a:spcPct val="70000"/>
              </a:lnSpc>
            </a:pPr>
            <a:r>
              <a:rPr lang="en-US" sz="800">
                <a:solidFill>
                  <a:srgbClr val="000000"/>
                </a:solidFill>
                <a:latin typeface="+mj-lt"/>
              </a:rPr>
              <a:t>x</a:t>
            </a:r>
            <a:endParaRPr lang="en-US" sz="50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140" name="Rectangle 139"/>
          <p:cNvSpPr>
            <a:spLocks noChangeArrowheads="1"/>
          </p:cNvSpPr>
          <p:nvPr/>
        </p:nvSpPr>
        <p:spPr bwMode="auto">
          <a:xfrm>
            <a:off x="4791075" y="3916363"/>
            <a:ext cx="44884" cy="10772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700">
                <a:solidFill>
                  <a:srgbClr val="000000"/>
                </a:solidFill>
                <a:latin typeface="+mj-lt"/>
              </a:rPr>
              <a:t>1</a:t>
            </a:r>
            <a:endParaRPr lang="en-US" sz="60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141" name="Rectangle 140"/>
          <p:cNvSpPr>
            <a:spLocks noChangeArrowheads="1"/>
          </p:cNvSpPr>
          <p:nvPr/>
        </p:nvSpPr>
        <p:spPr bwMode="auto">
          <a:xfrm>
            <a:off x="4797425" y="4129088"/>
            <a:ext cx="44884" cy="10772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700">
                <a:solidFill>
                  <a:srgbClr val="000000"/>
                </a:solidFill>
                <a:latin typeface="+mj-lt"/>
              </a:rPr>
              <a:t>2</a:t>
            </a:r>
            <a:endParaRPr lang="en-US" sz="60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142" name="Rectangle 142"/>
          <p:cNvSpPr>
            <a:spLocks noChangeArrowheads="1"/>
          </p:cNvSpPr>
          <p:nvPr/>
        </p:nvSpPr>
        <p:spPr bwMode="auto">
          <a:xfrm>
            <a:off x="4795838" y="2773363"/>
            <a:ext cx="44884" cy="10772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700">
                <a:solidFill>
                  <a:srgbClr val="000000"/>
                </a:solidFill>
                <a:latin typeface="+mj-lt"/>
              </a:rPr>
              <a:t>0</a:t>
            </a:r>
            <a:endParaRPr lang="en-US" sz="60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143" name="Rectangle 143"/>
          <p:cNvSpPr>
            <a:spLocks noChangeArrowheads="1"/>
          </p:cNvSpPr>
          <p:nvPr/>
        </p:nvSpPr>
        <p:spPr bwMode="auto">
          <a:xfrm>
            <a:off x="4841471" y="2911475"/>
            <a:ext cx="83356" cy="25853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lnSpc>
                <a:spcPct val="70000"/>
              </a:lnSpc>
            </a:pPr>
            <a:r>
              <a:rPr lang="en-US" sz="800">
                <a:solidFill>
                  <a:srgbClr val="000000"/>
                </a:solidFill>
                <a:latin typeface="+mj-lt"/>
              </a:rPr>
              <a:t>m</a:t>
            </a:r>
          </a:p>
          <a:p>
            <a:pPr algn="ctr">
              <a:lnSpc>
                <a:spcPct val="70000"/>
              </a:lnSpc>
            </a:pPr>
            <a:r>
              <a:rPr lang="en-US" sz="800">
                <a:solidFill>
                  <a:srgbClr val="000000"/>
                </a:solidFill>
                <a:latin typeface="+mj-lt"/>
              </a:rPr>
              <a:t>u</a:t>
            </a:r>
          </a:p>
          <a:p>
            <a:pPr algn="ctr">
              <a:lnSpc>
                <a:spcPct val="70000"/>
              </a:lnSpc>
            </a:pPr>
            <a:r>
              <a:rPr lang="en-US" sz="800">
                <a:solidFill>
                  <a:srgbClr val="000000"/>
                </a:solidFill>
                <a:latin typeface="+mj-lt"/>
              </a:rPr>
              <a:t>x</a:t>
            </a:r>
            <a:endParaRPr lang="en-US" sz="50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144" name="Rectangle 145"/>
          <p:cNvSpPr>
            <a:spLocks noChangeArrowheads="1"/>
          </p:cNvSpPr>
          <p:nvPr/>
        </p:nvSpPr>
        <p:spPr bwMode="auto">
          <a:xfrm>
            <a:off x="4791075" y="2981325"/>
            <a:ext cx="44884" cy="10772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700">
                <a:solidFill>
                  <a:srgbClr val="000000"/>
                </a:solidFill>
                <a:latin typeface="+mj-lt"/>
              </a:rPr>
              <a:t>1</a:t>
            </a:r>
            <a:endParaRPr lang="en-US" sz="60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145" name="Rectangle 146"/>
          <p:cNvSpPr>
            <a:spLocks noChangeArrowheads="1"/>
          </p:cNvSpPr>
          <p:nvPr/>
        </p:nvSpPr>
        <p:spPr bwMode="auto">
          <a:xfrm>
            <a:off x="4797425" y="3194050"/>
            <a:ext cx="44884" cy="10772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700">
                <a:solidFill>
                  <a:srgbClr val="000000"/>
                </a:solidFill>
                <a:latin typeface="+mj-lt"/>
              </a:rPr>
              <a:t>2</a:t>
            </a:r>
            <a:endParaRPr lang="en-US" sz="60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146" name="Rectangle 147"/>
          <p:cNvSpPr>
            <a:spLocks noChangeArrowheads="1"/>
          </p:cNvSpPr>
          <p:nvPr/>
        </p:nvSpPr>
        <p:spPr bwMode="auto">
          <a:xfrm>
            <a:off x="6477178" y="3367088"/>
            <a:ext cx="547329" cy="3323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1200">
                <a:solidFill>
                  <a:srgbClr val="000000"/>
                </a:solidFill>
                <a:latin typeface="+mj-lt"/>
              </a:rPr>
              <a:t>Data</a:t>
            </a:r>
          </a:p>
          <a:p>
            <a:pPr algn="ctr">
              <a:lnSpc>
                <a:spcPct val="90000"/>
              </a:lnSpc>
            </a:pPr>
            <a:r>
              <a:rPr lang="en-US" sz="1200">
                <a:solidFill>
                  <a:srgbClr val="000000"/>
                </a:solidFill>
                <a:latin typeface="+mj-lt"/>
              </a:rPr>
              <a:t>Memory</a:t>
            </a:r>
            <a:endParaRPr lang="en-US" sz="80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148" name="Rectangle 149"/>
          <p:cNvSpPr>
            <a:spLocks noChangeArrowheads="1"/>
          </p:cNvSpPr>
          <p:nvPr/>
        </p:nvSpPr>
        <p:spPr bwMode="auto">
          <a:xfrm>
            <a:off x="2980759" y="3138488"/>
            <a:ext cx="55040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/>
            <a:r>
              <a:rPr lang="en-US" sz="1200">
                <a:solidFill>
                  <a:srgbClr val="000000"/>
                </a:solidFill>
                <a:latin typeface="+mj-lt"/>
              </a:rPr>
              <a:t>Register </a:t>
            </a:r>
          </a:p>
          <a:p>
            <a:pPr algn="ctr"/>
            <a:r>
              <a:rPr lang="en-US" sz="1200">
                <a:solidFill>
                  <a:srgbClr val="000000"/>
                </a:solidFill>
                <a:latin typeface="+mj-lt"/>
              </a:rPr>
              <a:t>File</a:t>
            </a:r>
          </a:p>
        </p:txBody>
      </p:sp>
      <p:sp>
        <p:nvSpPr>
          <p:cNvPr id="149" name="Rectangle 150"/>
          <p:cNvSpPr>
            <a:spLocks noChangeArrowheads="1"/>
          </p:cNvSpPr>
          <p:nvPr/>
        </p:nvSpPr>
        <p:spPr bwMode="auto">
          <a:xfrm rot="16200000">
            <a:off x="803936" y="3338790"/>
            <a:ext cx="69717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/>
            <a:r>
              <a:rPr lang="en-US" sz="1200">
                <a:solidFill>
                  <a:srgbClr val="000000"/>
                </a:solidFill>
                <a:latin typeface="+mj-lt"/>
              </a:rPr>
              <a:t>Instruction</a:t>
            </a:r>
          </a:p>
          <a:p>
            <a:pPr algn="ctr"/>
            <a:r>
              <a:rPr lang="en-US" sz="1200">
                <a:solidFill>
                  <a:srgbClr val="000000"/>
                </a:solidFill>
                <a:latin typeface="+mj-lt"/>
              </a:rPr>
              <a:t>Memory</a:t>
            </a:r>
            <a:endParaRPr lang="en-US" sz="50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150" name="Rectangle 151"/>
          <p:cNvSpPr>
            <a:spLocks noChangeArrowheads="1"/>
          </p:cNvSpPr>
          <p:nvPr/>
        </p:nvSpPr>
        <p:spPr bwMode="auto">
          <a:xfrm>
            <a:off x="492125" y="3459163"/>
            <a:ext cx="163506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200">
                <a:solidFill>
                  <a:srgbClr val="000000"/>
                </a:solidFill>
                <a:latin typeface="+mj-lt"/>
              </a:rPr>
              <a:t>PC</a:t>
            </a:r>
            <a:endParaRPr lang="en-US" sz="50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151" name="Rectangle 153"/>
          <p:cNvSpPr>
            <a:spLocks noChangeArrowheads="1"/>
          </p:cNvSpPr>
          <p:nvPr/>
        </p:nvSpPr>
        <p:spPr bwMode="auto">
          <a:xfrm>
            <a:off x="3870325" y="1020763"/>
            <a:ext cx="347852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200" dirty="0">
                <a:solidFill>
                  <a:srgbClr val="000000"/>
                </a:solidFill>
                <a:latin typeface="+mj-lt"/>
              </a:rPr>
              <a:t>ID/EX</a:t>
            </a:r>
            <a:endParaRPr lang="en-US" sz="500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152" name="Rectangle 154"/>
          <p:cNvSpPr>
            <a:spLocks noChangeArrowheads="1"/>
          </p:cNvSpPr>
          <p:nvPr/>
        </p:nvSpPr>
        <p:spPr bwMode="auto">
          <a:xfrm>
            <a:off x="5629275" y="1020763"/>
            <a:ext cx="570669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200">
                <a:solidFill>
                  <a:srgbClr val="000000"/>
                </a:solidFill>
                <a:latin typeface="+mj-lt"/>
              </a:rPr>
              <a:t>EX/MEM</a:t>
            </a:r>
            <a:endParaRPr lang="en-US" sz="80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153" name="Rectangle 155"/>
          <p:cNvSpPr>
            <a:spLocks noChangeArrowheads="1"/>
          </p:cNvSpPr>
          <p:nvPr/>
        </p:nvSpPr>
        <p:spPr bwMode="auto">
          <a:xfrm>
            <a:off x="6965950" y="990600"/>
            <a:ext cx="617157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200">
                <a:solidFill>
                  <a:srgbClr val="000000"/>
                </a:solidFill>
                <a:latin typeface="+mj-lt"/>
              </a:rPr>
              <a:t>MEM/WB</a:t>
            </a:r>
          </a:p>
        </p:txBody>
      </p:sp>
      <p:sp>
        <p:nvSpPr>
          <p:cNvPr id="154" name="Rectangle 156"/>
          <p:cNvSpPr>
            <a:spLocks noChangeArrowheads="1"/>
          </p:cNvSpPr>
          <p:nvPr/>
        </p:nvSpPr>
        <p:spPr bwMode="auto">
          <a:xfrm>
            <a:off x="1522413" y="990600"/>
            <a:ext cx="296491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200" dirty="0">
                <a:solidFill>
                  <a:srgbClr val="000000"/>
                </a:solidFill>
                <a:latin typeface="+mj-lt"/>
              </a:rPr>
              <a:t>IF/ID</a:t>
            </a:r>
          </a:p>
        </p:txBody>
      </p:sp>
      <p:sp>
        <p:nvSpPr>
          <p:cNvPr id="155" name="Rectangle 157"/>
          <p:cNvSpPr>
            <a:spLocks noChangeArrowheads="1"/>
          </p:cNvSpPr>
          <p:nvPr/>
        </p:nvSpPr>
        <p:spPr bwMode="auto">
          <a:xfrm rot="16200000" flipH="1">
            <a:off x="1585488" y="3100195"/>
            <a:ext cx="580287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000">
                <a:solidFill>
                  <a:srgbClr val="000000"/>
                </a:solidFill>
                <a:latin typeface="+mj-lt"/>
              </a:rPr>
              <a:t>Instruction</a:t>
            </a:r>
            <a:endParaRPr lang="en-US" sz="70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156" name="Rectangle 158"/>
          <p:cNvSpPr>
            <a:spLocks noChangeArrowheads="1"/>
          </p:cNvSpPr>
          <p:nvPr/>
        </p:nvSpPr>
        <p:spPr bwMode="auto">
          <a:xfrm>
            <a:off x="2743200" y="4267200"/>
            <a:ext cx="475643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200">
                <a:solidFill>
                  <a:srgbClr val="000000"/>
                </a:solidFill>
                <a:latin typeface="+mj-lt"/>
              </a:rPr>
              <a:t>IF/ID.Rs</a:t>
            </a:r>
          </a:p>
        </p:txBody>
      </p:sp>
      <p:sp>
        <p:nvSpPr>
          <p:cNvPr id="157" name="Rectangle 159"/>
          <p:cNvSpPr>
            <a:spLocks noChangeArrowheads="1"/>
          </p:cNvSpPr>
          <p:nvPr/>
        </p:nvSpPr>
        <p:spPr bwMode="auto">
          <a:xfrm>
            <a:off x="2743200" y="4495800"/>
            <a:ext cx="466025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200">
                <a:solidFill>
                  <a:srgbClr val="000000"/>
                </a:solidFill>
                <a:latin typeface="+mj-lt"/>
              </a:rPr>
              <a:t>IF/ID.Rt</a:t>
            </a:r>
          </a:p>
        </p:txBody>
      </p:sp>
      <p:sp>
        <p:nvSpPr>
          <p:cNvPr id="158" name="Rectangle 160"/>
          <p:cNvSpPr>
            <a:spLocks noChangeArrowheads="1"/>
          </p:cNvSpPr>
          <p:nvPr/>
        </p:nvSpPr>
        <p:spPr bwMode="auto">
          <a:xfrm>
            <a:off x="2743200" y="4710113"/>
            <a:ext cx="466025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200">
                <a:solidFill>
                  <a:srgbClr val="000000"/>
                </a:solidFill>
                <a:latin typeface="+mj-lt"/>
              </a:rPr>
              <a:t>IF/ID.Rt</a:t>
            </a:r>
          </a:p>
        </p:txBody>
      </p:sp>
      <p:sp>
        <p:nvSpPr>
          <p:cNvPr id="159" name="Rectangle 161"/>
          <p:cNvSpPr>
            <a:spLocks noChangeArrowheads="1"/>
          </p:cNvSpPr>
          <p:nvPr/>
        </p:nvSpPr>
        <p:spPr bwMode="auto">
          <a:xfrm>
            <a:off x="2743200" y="4921250"/>
            <a:ext cx="494879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200">
                <a:solidFill>
                  <a:srgbClr val="000000"/>
                </a:solidFill>
                <a:latin typeface="+mj-lt"/>
              </a:rPr>
              <a:t>IF/ID.Rd</a:t>
            </a:r>
          </a:p>
        </p:txBody>
      </p:sp>
      <p:sp>
        <p:nvSpPr>
          <p:cNvPr id="160" name="Rectangle 162"/>
          <p:cNvSpPr>
            <a:spLocks noChangeArrowheads="1"/>
          </p:cNvSpPr>
          <p:nvPr/>
        </p:nvSpPr>
        <p:spPr bwMode="auto">
          <a:xfrm>
            <a:off x="4138613" y="4297363"/>
            <a:ext cx="118622" cy="15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+mj-lt"/>
              </a:rPr>
              <a:t>Rs</a:t>
            </a:r>
            <a:endParaRPr lang="en-US" sz="120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161" name="Rectangle 163"/>
          <p:cNvSpPr>
            <a:spLocks noChangeArrowheads="1"/>
          </p:cNvSpPr>
          <p:nvPr/>
        </p:nvSpPr>
        <p:spPr bwMode="auto">
          <a:xfrm>
            <a:off x="4146550" y="4525963"/>
            <a:ext cx="112210" cy="15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+mj-lt"/>
              </a:rPr>
              <a:t>Rt</a:t>
            </a:r>
            <a:endParaRPr lang="en-US" sz="120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162" name="Rectangle 164"/>
          <p:cNvSpPr>
            <a:spLocks noChangeArrowheads="1"/>
          </p:cNvSpPr>
          <p:nvPr/>
        </p:nvSpPr>
        <p:spPr bwMode="auto">
          <a:xfrm>
            <a:off x="4141788" y="4740275"/>
            <a:ext cx="112210" cy="15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+mj-lt"/>
              </a:rPr>
              <a:t>Rt</a:t>
            </a:r>
            <a:endParaRPr lang="en-US" sz="120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163" name="Rectangle 165"/>
          <p:cNvSpPr>
            <a:spLocks noChangeArrowheads="1"/>
          </p:cNvSpPr>
          <p:nvPr/>
        </p:nvSpPr>
        <p:spPr bwMode="auto">
          <a:xfrm>
            <a:off x="4138613" y="4935538"/>
            <a:ext cx="141064" cy="15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+mj-lt"/>
              </a:rPr>
              <a:t>Rd</a:t>
            </a:r>
            <a:endParaRPr lang="en-US" sz="120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164" name="Rectangle 166"/>
          <p:cNvSpPr>
            <a:spLocks noChangeArrowheads="1"/>
          </p:cNvSpPr>
          <p:nvPr/>
        </p:nvSpPr>
        <p:spPr bwMode="auto">
          <a:xfrm>
            <a:off x="5853112" y="1820863"/>
            <a:ext cx="147476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>
                <a:solidFill>
                  <a:srgbClr val="EB7500"/>
                </a:solidFill>
                <a:latin typeface="+mj-lt"/>
              </a:rPr>
              <a:t>WB</a:t>
            </a:r>
            <a:endParaRPr lang="en-US" sz="1200">
              <a:latin typeface="+mj-lt"/>
            </a:endParaRPr>
          </a:p>
        </p:txBody>
      </p:sp>
      <p:sp>
        <p:nvSpPr>
          <p:cNvPr id="165" name="Rectangle 167"/>
          <p:cNvSpPr>
            <a:spLocks noChangeArrowheads="1"/>
          </p:cNvSpPr>
          <p:nvPr/>
        </p:nvSpPr>
        <p:spPr bwMode="auto">
          <a:xfrm>
            <a:off x="5889625" y="2201863"/>
            <a:ext cx="88166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>
                <a:solidFill>
                  <a:srgbClr val="EB7500"/>
                </a:solidFill>
                <a:latin typeface="+mj-lt"/>
              </a:rPr>
              <a:t>M</a:t>
            </a:r>
            <a:endParaRPr lang="en-US" sz="1200">
              <a:latin typeface="+mj-lt"/>
            </a:endParaRPr>
          </a:p>
        </p:txBody>
      </p:sp>
      <p:sp>
        <p:nvSpPr>
          <p:cNvPr id="166" name="Rectangle 168"/>
          <p:cNvSpPr>
            <a:spLocks noChangeArrowheads="1"/>
          </p:cNvSpPr>
          <p:nvPr/>
        </p:nvSpPr>
        <p:spPr bwMode="auto">
          <a:xfrm>
            <a:off x="7215187" y="2225675"/>
            <a:ext cx="147476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800">
                <a:solidFill>
                  <a:srgbClr val="EB7500"/>
                </a:solidFill>
                <a:latin typeface="+mj-lt"/>
              </a:rPr>
              <a:t>WB</a:t>
            </a:r>
            <a:endParaRPr lang="en-US" sz="1200">
              <a:latin typeface="+mj-lt"/>
            </a:endParaRPr>
          </a:p>
        </p:txBody>
      </p:sp>
      <p:sp>
        <p:nvSpPr>
          <p:cNvPr id="167" name="Rectangle 169"/>
          <p:cNvSpPr>
            <a:spLocks noChangeArrowheads="1"/>
          </p:cNvSpPr>
          <p:nvPr/>
        </p:nvSpPr>
        <p:spPr bwMode="auto">
          <a:xfrm>
            <a:off x="6402387" y="4802188"/>
            <a:ext cx="649217" cy="15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+mj-lt"/>
              </a:rPr>
              <a:t>EX/MEM.Rd</a:t>
            </a:r>
            <a:endParaRPr lang="en-US" sz="70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168" name="Rectangle 170"/>
          <p:cNvSpPr>
            <a:spLocks noChangeArrowheads="1"/>
          </p:cNvSpPr>
          <p:nvPr/>
        </p:nvSpPr>
        <p:spPr bwMode="auto">
          <a:xfrm>
            <a:off x="6402387" y="5287963"/>
            <a:ext cx="705321" cy="15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000">
                <a:solidFill>
                  <a:srgbClr val="000000"/>
                </a:solidFill>
                <a:latin typeface="+mj-lt"/>
              </a:rPr>
              <a:t>MEM/WB.Rd</a:t>
            </a:r>
            <a:endParaRPr lang="en-US" sz="700">
              <a:solidFill>
                <a:srgbClr val="000000"/>
              </a:solidFill>
              <a:latin typeface="+mj-lt"/>
            </a:endParaRPr>
          </a:p>
        </p:txBody>
      </p:sp>
      <p:grpSp>
        <p:nvGrpSpPr>
          <p:cNvPr id="275" name="Группа 274"/>
          <p:cNvGrpSpPr/>
          <p:nvPr/>
        </p:nvGrpSpPr>
        <p:grpSpPr>
          <a:xfrm>
            <a:off x="4620419" y="3028950"/>
            <a:ext cx="1706562" cy="2762250"/>
            <a:chOff x="4620419" y="3028950"/>
            <a:chExt cx="1706562" cy="2762250"/>
          </a:xfrm>
        </p:grpSpPr>
        <p:sp>
          <p:nvSpPr>
            <p:cNvPr id="169" name="Line 171"/>
            <p:cNvSpPr>
              <a:spLocks noChangeShapeType="1"/>
            </p:cNvSpPr>
            <p:nvPr/>
          </p:nvSpPr>
          <p:spPr bwMode="auto">
            <a:xfrm>
              <a:off x="6326187" y="3503613"/>
              <a:ext cx="0" cy="2286000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 type="none" w="sm" len="sm"/>
              <a:tailEnd type="none" w="med" len="lg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70" name="Line 172"/>
            <p:cNvSpPr>
              <a:spLocks noChangeShapeType="1"/>
            </p:cNvSpPr>
            <p:nvPr/>
          </p:nvSpPr>
          <p:spPr bwMode="auto">
            <a:xfrm rot="16200000">
              <a:off x="5473700" y="4937919"/>
              <a:ext cx="0" cy="1706562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 type="none" w="sm" len="sm"/>
              <a:tailEnd type="none" w="med" len="lg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71" name="Line 173"/>
            <p:cNvSpPr>
              <a:spLocks noChangeShapeType="1"/>
            </p:cNvSpPr>
            <p:nvPr/>
          </p:nvSpPr>
          <p:spPr bwMode="auto">
            <a:xfrm>
              <a:off x="4637088" y="3028950"/>
              <a:ext cx="0" cy="2741613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 type="none" w="sm" len="sm"/>
              <a:tailEnd type="none" w="med" len="lg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72" name="Line 174"/>
            <p:cNvSpPr>
              <a:spLocks noChangeShapeType="1"/>
            </p:cNvSpPr>
            <p:nvPr/>
          </p:nvSpPr>
          <p:spPr bwMode="auto">
            <a:xfrm rot="16200000" flipH="1" flipV="1">
              <a:off x="4940300" y="2716213"/>
              <a:ext cx="1588" cy="636587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 type="triangle" w="sm" len="sm"/>
              <a:tailEnd type="none" w="med" len="lg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</p:grpSp>
      <p:grpSp>
        <p:nvGrpSpPr>
          <p:cNvPr id="274" name="Группа 273"/>
          <p:cNvGrpSpPr/>
          <p:nvPr/>
        </p:nvGrpSpPr>
        <p:grpSpPr>
          <a:xfrm>
            <a:off x="4529931" y="3711575"/>
            <a:ext cx="3573463" cy="2233613"/>
            <a:chOff x="4529931" y="3711575"/>
            <a:chExt cx="3573463" cy="2233613"/>
          </a:xfrm>
        </p:grpSpPr>
        <p:sp>
          <p:nvSpPr>
            <p:cNvPr id="173" name="Line 175"/>
            <p:cNvSpPr>
              <a:spLocks noChangeShapeType="1"/>
            </p:cNvSpPr>
            <p:nvPr/>
          </p:nvSpPr>
          <p:spPr bwMode="auto">
            <a:xfrm rot="16200000">
              <a:off x="4764087" y="3978275"/>
              <a:ext cx="209550" cy="180975"/>
            </a:xfrm>
            <a:prstGeom prst="line">
              <a:avLst/>
            </a:prstGeom>
            <a:noFill/>
            <a:ln w="38100">
              <a:solidFill>
                <a:srgbClr val="993300"/>
              </a:solidFill>
              <a:round/>
              <a:headEnd type="none" w="sm" len="sm"/>
              <a:tailEnd type="none" w="med" len="lg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75" name="Line 177"/>
            <p:cNvSpPr>
              <a:spLocks noChangeShapeType="1"/>
            </p:cNvSpPr>
            <p:nvPr/>
          </p:nvSpPr>
          <p:spPr bwMode="auto">
            <a:xfrm rot="16200000" flipH="1" flipV="1">
              <a:off x="5103812" y="3817938"/>
              <a:ext cx="6350" cy="293687"/>
            </a:xfrm>
            <a:prstGeom prst="line">
              <a:avLst/>
            </a:prstGeom>
            <a:noFill/>
            <a:ln w="38100">
              <a:solidFill>
                <a:srgbClr val="993300"/>
              </a:solidFill>
              <a:round/>
              <a:headEnd type="triangle" w="sm" len="sm"/>
              <a:tailEnd type="none" w="med" len="lg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76" name="Line 178"/>
            <p:cNvSpPr>
              <a:spLocks noChangeShapeType="1"/>
            </p:cNvSpPr>
            <p:nvPr/>
          </p:nvSpPr>
          <p:spPr bwMode="auto">
            <a:xfrm>
              <a:off x="8091487" y="3711575"/>
              <a:ext cx="0" cy="2224088"/>
            </a:xfrm>
            <a:prstGeom prst="line">
              <a:avLst/>
            </a:prstGeom>
            <a:noFill/>
            <a:ln w="38100">
              <a:solidFill>
                <a:srgbClr val="993300"/>
              </a:solidFill>
              <a:round/>
              <a:headEnd type="none" w="sm" len="sm"/>
              <a:tailEnd type="none" w="med" len="lg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77" name="Line 179"/>
            <p:cNvSpPr>
              <a:spLocks noChangeShapeType="1"/>
            </p:cNvSpPr>
            <p:nvPr/>
          </p:nvSpPr>
          <p:spPr bwMode="auto">
            <a:xfrm rot="16200000">
              <a:off x="6318250" y="4146551"/>
              <a:ext cx="4763" cy="3565525"/>
            </a:xfrm>
            <a:prstGeom prst="line">
              <a:avLst/>
            </a:prstGeom>
            <a:noFill/>
            <a:ln w="38100">
              <a:solidFill>
                <a:srgbClr val="993300"/>
              </a:solidFill>
              <a:round/>
              <a:headEnd type="none" w="sm" len="sm"/>
              <a:tailEnd type="none" w="med" len="lg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78" name="Line 180"/>
            <p:cNvSpPr>
              <a:spLocks noChangeShapeType="1"/>
            </p:cNvSpPr>
            <p:nvPr/>
          </p:nvSpPr>
          <p:spPr bwMode="auto">
            <a:xfrm>
              <a:off x="4534218" y="4178300"/>
              <a:ext cx="0" cy="1766888"/>
            </a:xfrm>
            <a:prstGeom prst="line">
              <a:avLst/>
            </a:prstGeom>
            <a:noFill/>
            <a:ln w="38100">
              <a:solidFill>
                <a:srgbClr val="993300"/>
              </a:solidFill>
              <a:round/>
              <a:headEnd type="none" w="sm" len="sm"/>
              <a:tailEnd type="none" w="med" len="lg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79" name="Line 181"/>
            <p:cNvSpPr>
              <a:spLocks noChangeShapeType="1"/>
            </p:cNvSpPr>
            <p:nvPr/>
          </p:nvSpPr>
          <p:spPr bwMode="auto">
            <a:xfrm rot="16200000" flipH="1" flipV="1">
              <a:off x="4657725" y="4049713"/>
              <a:ext cx="1588" cy="257175"/>
            </a:xfrm>
            <a:prstGeom prst="line">
              <a:avLst/>
            </a:prstGeom>
            <a:noFill/>
            <a:ln w="38100">
              <a:solidFill>
                <a:srgbClr val="993300"/>
              </a:solidFill>
              <a:round/>
              <a:headEnd type="triangle" w="sm" len="sm"/>
              <a:tailEnd type="none" w="med" len="lg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</p:grpSp>
      <p:sp>
        <p:nvSpPr>
          <p:cNvPr id="180" name="Rectangle 182"/>
          <p:cNvSpPr>
            <a:spLocks noChangeArrowheads="1"/>
          </p:cNvSpPr>
          <p:nvPr/>
        </p:nvSpPr>
        <p:spPr bwMode="auto">
          <a:xfrm>
            <a:off x="6261100" y="3154363"/>
            <a:ext cx="141287" cy="323850"/>
          </a:xfrm>
          <a:prstGeom prst="rect">
            <a:avLst/>
          </a:prstGeom>
          <a:solidFill>
            <a:schemeClr val="bg1"/>
          </a:solidFill>
          <a:ln w="12700">
            <a:noFill/>
            <a:miter lim="800000"/>
            <a:headEnd type="none" w="sm" len="sm"/>
            <a:tailEnd type="none" w="med" len="lg"/>
          </a:ln>
        </p:spPr>
        <p:txBody>
          <a:bodyPr wrap="none" anchor="ctr"/>
          <a:lstStyle/>
          <a:p>
            <a:endParaRPr lang="en-US">
              <a:latin typeface="+mj-lt"/>
            </a:endParaRPr>
          </a:p>
        </p:txBody>
      </p:sp>
      <p:sp>
        <p:nvSpPr>
          <p:cNvPr id="186" name="Rectangle 189"/>
          <p:cNvSpPr>
            <a:spLocks noChangeArrowheads="1"/>
          </p:cNvSpPr>
          <p:nvPr/>
        </p:nvSpPr>
        <p:spPr bwMode="auto">
          <a:xfrm>
            <a:off x="5775815" y="4808173"/>
            <a:ext cx="300723" cy="338554"/>
          </a:xfrm>
          <a:prstGeom prst="rect">
            <a:avLst/>
          </a:prstGeom>
          <a:solidFill>
            <a:schemeClr val="bg1">
              <a:alpha val="85000"/>
            </a:schemeClr>
          </a:solidFill>
          <a:ln w="12700">
            <a:noFill/>
            <a:miter lim="800000"/>
            <a:headEnd type="none" w="sm" len="sm"/>
            <a:tailEnd type="none" w="lg" len="med"/>
          </a:ln>
        </p:spPr>
        <p:txBody>
          <a:bodyPr wrap="none" lIns="45720" tIns="45720" rIns="45720" bIns="4572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  <a:latin typeface="+mj-lt"/>
              </a:rPr>
              <a:t>10</a:t>
            </a:r>
          </a:p>
        </p:txBody>
      </p:sp>
      <p:sp>
        <p:nvSpPr>
          <p:cNvPr id="245" name="Freeform 34"/>
          <p:cNvSpPr>
            <a:spLocks/>
          </p:cNvSpPr>
          <p:nvPr/>
        </p:nvSpPr>
        <p:spPr bwMode="auto">
          <a:xfrm>
            <a:off x="3890963" y="3716338"/>
            <a:ext cx="47625" cy="60325"/>
          </a:xfrm>
          <a:custGeom>
            <a:avLst/>
            <a:gdLst>
              <a:gd name="T0" fmla="*/ 0 w 25"/>
              <a:gd name="T1" fmla="*/ 0 h 25"/>
              <a:gd name="T2" fmla="*/ 2 w 25"/>
              <a:gd name="T3" fmla="*/ 38 h 25"/>
              <a:gd name="T4" fmla="*/ 30 w 25"/>
              <a:gd name="T5" fmla="*/ 18 h 25"/>
              <a:gd name="T6" fmla="*/ 2 w 25"/>
              <a:gd name="T7" fmla="*/ 0 h 25"/>
              <a:gd name="T8" fmla="*/ 2 w 25"/>
              <a:gd name="T9" fmla="*/ 0 h 25"/>
              <a:gd name="T10" fmla="*/ 0 w 25"/>
              <a:gd name="T11" fmla="*/ 0 h 2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"/>
              <a:gd name="T19" fmla="*/ 0 h 25"/>
              <a:gd name="T20" fmla="*/ 25 w 25"/>
              <a:gd name="T21" fmla="*/ 25 h 2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" h="25">
                <a:moveTo>
                  <a:pt x="0" y="0"/>
                </a:moveTo>
                <a:lnTo>
                  <a:pt x="2" y="25"/>
                </a:lnTo>
                <a:lnTo>
                  <a:pt x="25" y="12"/>
                </a:lnTo>
                <a:lnTo>
                  <a:pt x="2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246" name="Freeform 37"/>
          <p:cNvSpPr>
            <a:spLocks/>
          </p:cNvSpPr>
          <p:nvPr/>
        </p:nvSpPr>
        <p:spPr bwMode="auto">
          <a:xfrm>
            <a:off x="6305550" y="3476625"/>
            <a:ext cx="46037" cy="55563"/>
          </a:xfrm>
          <a:custGeom>
            <a:avLst/>
            <a:gdLst>
              <a:gd name="T0" fmla="*/ 15 w 24"/>
              <a:gd name="T1" fmla="*/ 35 h 23"/>
              <a:gd name="T2" fmla="*/ 17 w 24"/>
              <a:gd name="T3" fmla="*/ 35 h 23"/>
              <a:gd name="T4" fmla="*/ 19 w 24"/>
              <a:gd name="T5" fmla="*/ 35 h 23"/>
              <a:gd name="T6" fmla="*/ 22 w 24"/>
              <a:gd name="T7" fmla="*/ 32 h 23"/>
              <a:gd name="T8" fmla="*/ 24 w 24"/>
              <a:gd name="T9" fmla="*/ 32 h 23"/>
              <a:gd name="T10" fmla="*/ 24 w 24"/>
              <a:gd name="T11" fmla="*/ 29 h 23"/>
              <a:gd name="T12" fmla="*/ 27 w 24"/>
              <a:gd name="T13" fmla="*/ 29 h 23"/>
              <a:gd name="T14" fmla="*/ 29 w 24"/>
              <a:gd name="T15" fmla="*/ 26 h 23"/>
              <a:gd name="T16" fmla="*/ 29 w 24"/>
              <a:gd name="T17" fmla="*/ 23 h 23"/>
              <a:gd name="T18" fmla="*/ 29 w 24"/>
              <a:gd name="T19" fmla="*/ 20 h 23"/>
              <a:gd name="T20" fmla="*/ 29 w 24"/>
              <a:gd name="T21" fmla="*/ 17 h 23"/>
              <a:gd name="T22" fmla="*/ 29 w 24"/>
              <a:gd name="T23" fmla="*/ 14 h 23"/>
              <a:gd name="T24" fmla="*/ 29 w 24"/>
              <a:gd name="T25" fmla="*/ 12 h 23"/>
              <a:gd name="T26" fmla="*/ 29 w 24"/>
              <a:gd name="T27" fmla="*/ 9 h 23"/>
              <a:gd name="T28" fmla="*/ 27 w 24"/>
              <a:gd name="T29" fmla="*/ 6 h 23"/>
              <a:gd name="T30" fmla="*/ 24 w 24"/>
              <a:gd name="T31" fmla="*/ 3 h 23"/>
              <a:gd name="T32" fmla="*/ 24 w 24"/>
              <a:gd name="T33" fmla="*/ 3 h 23"/>
              <a:gd name="T34" fmla="*/ 22 w 24"/>
              <a:gd name="T35" fmla="*/ 0 h 23"/>
              <a:gd name="T36" fmla="*/ 19 w 24"/>
              <a:gd name="T37" fmla="*/ 0 h 23"/>
              <a:gd name="T38" fmla="*/ 17 w 24"/>
              <a:gd name="T39" fmla="*/ 0 h 23"/>
              <a:gd name="T40" fmla="*/ 15 w 24"/>
              <a:gd name="T41" fmla="*/ 0 h 23"/>
              <a:gd name="T42" fmla="*/ 12 w 24"/>
              <a:gd name="T43" fmla="*/ 0 h 23"/>
              <a:gd name="T44" fmla="*/ 10 w 24"/>
              <a:gd name="T45" fmla="*/ 0 h 23"/>
              <a:gd name="T46" fmla="*/ 7 w 24"/>
              <a:gd name="T47" fmla="*/ 0 h 23"/>
              <a:gd name="T48" fmla="*/ 5 w 24"/>
              <a:gd name="T49" fmla="*/ 3 h 23"/>
              <a:gd name="T50" fmla="*/ 5 w 24"/>
              <a:gd name="T51" fmla="*/ 3 h 23"/>
              <a:gd name="T52" fmla="*/ 2 w 24"/>
              <a:gd name="T53" fmla="*/ 6 h 23"/>
              <a:gd name="T54" fmla="*/ 0 w 24"/>
              <a:gd name="T55" fmla="*/ 9 h 23"/>
              <a:gd name="T56" fmla="*/ 0 w 24"/>
              <a:gd name="T57" fmla="*/ 12 h 23"/>
              <a:gd name="T58" fmla="*/ 0 w 24"/>
              <a:gd name="T59" fmla="*/ 14 h 23"/>
              <a:gd name="T60" fmla="*/ 0 w 24"/>
              <a:gd name="T61" fmla="*/ 17 h 23"/>
              <a:gd name="T62" fmla="*/ 0 w 24"/>
              <a:gd name="T63" fmla="*/ 20 h 23"/>
              <a:gd name="T64" fmla="*/ 0 w 24"/>
              <a:gd name="T65" fmla="*/ 23 h 23"/>
              <a:gd name="T66" fmla="*/ 0 w 24"/>
              <a:gd name="T67" fmla="*/ 26 h 23"/>
              <a:gd name="T68" fmla="*/ 2 w 24"/>
              <a:gd name="T69" fmla="*/ 29 h 23"/>
              <a:gd name="T70" fmla="*/ 5 w 24"/>
              <a:gd name="T71" fmla="*/ 29 h 23"/>
              <a:gd name="T72" fmla="*/ 5 w 24"/>
              <a:gd name="T73" fmla="*/ 32 h 23"/>
              <a:gd name="T74" fmla="*/ 7 w 24"/>
              <a:gd name="T75" fmla="*/ 32 h 23"/>
              <a:gd name="T76" fmla="*/ 10 w 24"/>
              <a:gd name="T77" fmla="*/ 35 h 23"/>
              <a:gd name="T78" fmla="*/ 12 w 24"/>
              <a:gd name="T79" fmla="*/ 35 h 23"/>
              <a:gd name="T80" fmla="*/ 15 w 24"/>
              <a:gd name="T81" fmla="*/ 35 h 23"/>
              <a:gd name="T82" fmla="*/ 15 w 24"/>
              <a:gd name="T83" fmla="*/ 35 h 23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w 24"/>
              <a:gd name="T127" fmla="*/ 0 h 23"/>
              <a:gd name="T128" fmla="*/ 24 w 24"/>
              <a:gd name="T129" fmla="*/ 23 h 23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T126" t="T127" r="T128" b="T129"/>
            <a:pathLst>
              <a:path w="24" h="23">
                <a:moveTo>
                  <a:pt x="12" y="23"/>
                </a:moveTo>
                <a:lnTo>
                  <a:pt x="14" y="23"/>
                </a:lnTo>
                <a:lnTo>
                  <a:pt x="16" y="23"/>
                </a:lnTo>
                <a:lnTo>
                  <a:pt x="18" y="21"/>
                </a:lnTo>
                <a:lnTo>
                  <a:pt x="20" y="21"/>
                </a:lnTo>
                <a:lnTo>
                  <a:pt x="20" y="19"/>
                </a:lnTo>
                <a:lnTo>
                  <a:pt x="22" y="19"/>
                </a:lnTo>
                <a:lnTo>
                  <a:pt x="24" y="17"/>
                </a:lnTo>
                <a:lnTo>
                  <a:pt x="24" y="15"/>
                </a:lnTo>
                <a:lnTo>
                  <a:pt x="24" y="13"/>
                </a:lnTo>
                <a:lnTo>
                  <a:pt x="24" y="11"/>
                </a:lnTo>
                <a:lnTo>
                  <a:pt x="24" y="9"/>
                </a:lnTo>
                <a:lnTo>
                  <a:pt x="24" y="8"/>
                </a:lnTo>
                <a:lnTo>
                  <a:pt x="24" y="6"/>
                </a:lnTo>
                <a:lnTo>
                  <a:pt x="22" y="4"/>
                </a:lnTo>
                <a:lnTo>
                  <a:pt x="20" y="2"/>
                </a:lnTo>
                <a:lnTo>
                  <a:pt x="18" y="0"/>
                </a:lnTo>
                <a:lnTo>
                  <a:pt x="16" y="0"/>
                </a:lnTo>
                <a:lnTo>
                  <a:pt x="14" y="0"/>
                </a:lnTo>
                <a:lnTo>
                  <a:pt x="12" y="0"/>
                </a:lnTo>
                <a:lnTo>
                  <a:pt x="10" y="0"/>
                </a:lnTo>
                <a:lnTo>
                  <a:pt x="8" y="0"/>
                </a:lnTo>
                <a:lnTo>
                  <a:pt x="6" y="0"/>
                </a:lnTo>
                <a:lnTo>
                  <a:pt x="4" y="2"/>
                </a:lnTo>
                <a:lnTo>
                  <a:pt x="2" y="4"/>
                </a:lnTo>
                <a:lnTo>
                  <a:pt x="0" y="6"/>
                </a:lnTo>
                <a:lnTo>
                  <a:pt x="0" y="8"/>
                </a:lnTo>
                <a:lnTo>
                  <a:pt x="0" y="9"/>
                </a:lnTo>
                <a:lnTo>
                  <a:pt x="0" y="11"/>
                </a:lnTo>
                <a:lnTo>
                  <a:pt x="0" y="13"/>
                </a:lnTo>
                <a:lnTo>
                  <a:pt x="0" y="15"/>
                </a:lnTo>
                <a:lnTo>
                  <a:pt x="0" y="17"/>
                </a:lnTo>
                <a:lnTo>
                  <a:pt x="2" y="19"/>
                </a:lnTo>
                <a:lnTo>
                  <a:pt x="4" y="19"/>
                </a:lnTo>
                <a:lnTo>
                  <a:pt x="4" y="21"/>
                </a:lnTo>
                <a:lnTo>
                  <a:pt x="6" y="21"/>
                </a:lnTo>
                <a:lnTo>
                  <a:pt x="8" y="23"/>
                </a:lnTo>
                <a:lnTo>
                  <a:pt x="10" y="23"/>
                </a:lnTo>
                <a:lnTo>
                  <a:pt x="12" y="23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247" name="Freeform 45"/>
          <p:cNvSpPr>
            <a:spLocks/>
          </p:cNvSpPr>
          <p:nvPr/>
        </p:nvSpPr>
        <p:spPr bwMode="auto">
          <a:xfrm>
            <a:off x="3890963" y="2790825"/>
            <a:ext cx="47625" cy="58738"/>
          </a:xfrm>
          <a:custGeom>
            <a:avLst/>
            <a:gdLst>
              <a:gd name="T0" fmla="*/ 0 w 25"/>
              <a:gd name="T1" fmla="*/ 0 h 24"/>
              <a:gd name="T2" fmla="*/ 2 w 25"/>
              <a:gd name="T3" fmla="*/ 37 h 24"/>
              <a:gd name="T4" fmla="*/ 30 w 25"/>
              <a:gd name="T5" fmla="*/ 20 h 24"/>
              <a:gd name="T6" fmla="*/ 2 w 25"/>
              <a:gd name="T7" fmla="*/ 0 h 24"/>
              <a:gd name="T8" fmla="*/ 2 w 25"/>
              <a:gd name="T9" fmla="*/ 0 h 24"/>
              <a:gd name="T10" fmla="*/ 0 w 25"/>
              <a:gd name="T11" fmla="*/ 0 h 2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"/>
              <a:gd name="T19" fmla="*/ 0 h 24"/>
              <a:gd name="T20" fmla="*/ 25 w 25"/>
              <a:gd name="T21" fmla="*/ 24 h 2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" h="24">
                <a:moveTo>
                  <a:pt x="0" y="0"/>
                </a:moveTo>
                <a:lnTo>
                  <a:pt x="2" y="24"/>
                </a:lnTo>
                <a:lnTo>
                  <a:pt x="25" y="13"/>
                </a:lnTo>
                <a:lnTo>
                  <a:pt x="2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248" name="Freeform 47"/>
          <p:cNvSpPr>
            <a:spLocks/>
          </p:cNvSpPr>
          <p:nvPr/>
        </p:nvSpPr>
        <p:spPr bwMode="auto">
          <a:xfrm>
            <a:off x="3890963" y="4421188"/>
            <a:ext cx="47625" cy="60325"/>
          </a:xfrm>
          <a:custGeom>
            <a:avLst/>
            <a:gdLst>
              <a:gd name="T0" fmla="*/ 0 w 25"/>
              <a:gd name="T1" fmla="*/ 0 h 25"/>
              <a:gd name="T2" fmla="*/ 2 w 25"/>
              <a:gd name="T3" fmla="*/ 38 h 25"/>
              <a:gd name="T4" fmla="*/ 30 w 25"/>
              <a:gd name="T5" fmla="*/ 21 h 25"/>
              <a:gd name="T6" fmla="*/ 2 w 25"/>
              <a:gd name="T7" fmla="*/ 0 h 25"/>
              <a:gd name="T8" fmla="*/ 2 w 25"/>
              <a:gd name="T9" fmla="*/ 0 h 25"/>
              <a:gd name="T10" fmla="*/ 0 w 25"/>
              <a:gd name="T11" fmla="*/ 0 h 2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"/>
              <a:gd name="T19" fmla="*/ 0 h 25"/>
              <a:gd name="T20" fmla="*/ 25 w 25"/>
              <a:gd name="T21" fmla="*/ 25 h 2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" h="25">
                <a:moveTo>
                  <a:pt x="0" y="0"/>
                </a:moveTo>
                <a:lnTo>
                  <a:pt x="2" y="25"/>
                </a:lnTo>
                <a:lnTo>
                  <a:pt x="25" y="14"/>
                </a:lnTo>
                <a:lnTo>
                  <a:pt x="2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249" name="Freeform 66"/>
          <p:cNvSpPr>
            <a:spLocks/>
          </p:cNvSpPr>
          <p:nvPr/>
        </p:nvSpPr>
        <p:spPr bwMode="auto">
          <a:xfrm>
            <a:off x="5783262" y="3471863"/>
            <a:ext cx="47625" cy="60325"/>
          </a:xfrm>
          <a:custGeom>
            <a:avLst/>
            <a:gdLst>
              <a:gd name="T0" fmla="*/ 0 w 25"/>
              <a:gd name="T1" fmla="*/ 0 h 25"/>
              <a:gd name="T2" fmla="*/ 2 w 25"/>
              <a:gd name="T3" fmla="*/ 38 h 25"/>
              <a:gd name="T4" fmla="*/ 30 w 25"/>
              <a:gd name="T5" fmla="*/ 20 h 25"/>
              <a:gd name="T6" fmla="*/ 2 w 25"/>
              <a:gd name="T7" fmla="*/ 3 h 25"/>
              <a:gd name="T8" fmla="*/ 2 w 25"/>
              <a:gd name="T9" fmla="*/ 3 h 25"/>
              <a:gd name="T10" fmla="*/ 0 w 25"/>
              <a:gd name="T11" fmla="*/ 0 h 2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"/>
              <a:gd name="T19" fmla="*/ 0 h 25"/>
              <a:gd name="T20" fmla="*/ 25 w 25"/>
              <a:gd name="T21" fmla="*/ 25 h 2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" h="25">
                <a:moveTo>
                  <a:pt x="0" y="0"/>
                </a:moveTo>
                <a:lnTo>
                  <a:pt x="2" y="25"/>
                </a:lnTo>
                <a:lnTo>
                  <a:pt x="25" y="13"/>
                </a:lnTo>
                <a:lnTo>
                  <a:pt x="2" y="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250" name="Line 67"/>
          <p:cNvSpPr>
            <a:spLocks noChangeShapeType="1"/>
          </p:cNvSpPr>
          <p:nvPr/>
        </p:nvSpPr>
        <p:spPr bwMode="auto">
          <a:xfrm flipH="1">
            <a:off x="5548312" y="3498850"/>
            <a:ext cx="247650" cy="4763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251" name="Freeform 93"/>
          <p:cNvSpPr>
            <a:spLocks/>
          </p:cNvSpPr>
          <p:nvPr/>
        </p:nvSpPr>
        <p:spPr bwMode="auto">
          <a:xfrm>
            <a:off x="3890963" y="4640263"/>
            <a:ext cx="47625" cy="60325"/>
          </a:xfrm>
          <a:custGeom>
            <a:avLst/>
            <a:gdLst>
              <a:gd name="T0" fmla="*/ 0 w 25"/>
              <a:gd name="T1" fmla="*/ 0 h 25"/>
              <a:gd name="T2" fmla="*/ 2 w 25"/>
              <a:gd name="T3" fmla="*/ 38 h 25"/>
              <a:gd name="T4" fmla="*/ 30 w 25"/>
              <a:gd name="T5" fmla="*/ 18 h 25"/>
              <a:gd name="T6" fmla="*/ 2 w 25"/>
              <a:gd name="T7" fmla="*/ 0 h 25"/>
              <a:gd name="T8" fmla="*/ 2 w 25"/>
              <a:gd name="T9" fmla="*/ 0 h 25"/>
              <a:gd name="T10" fmla="*/ 0 w 25"/>
              <a:gd name="T11" fmla="*/ 0 h 2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"/>
              <a:gd name="T19" fmla="*/ 0 h 25"/>
              <a:gd name="T20" fmla="*/ 25 w 25"/>
              <a:gd name="T21" fmla="*/ 25 h 2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" h="25">
                <a:moveTo>
                  <a:pt x="0" y="0"/>
                </a:moveTo>
                <a:lnTo>
                  <a:pt x="2" y="25"/>
                </a:lnTo>
                <a:lnTo>
                  <a:pt x="25" y="12"/>
                </a:lnTo>
                <a:lnTo>
                  <a:pt x="2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252" name="Freeform 95"/>
          <p:cNvSpPr>
            <a:spLocks/>
          </p:cNvSpPr>
          <p:nvPr/>
        </p:nvSpPr>
        <p:spPr bwMode="auto">
          <a:xfrm>
            <a:off x="3890963" y="4849813"/>
            <a:ext cx="47625" cy="58738"/>
          </a:xfrm>
          <a:custGeom>
            <a:avLst/>
            <a:gdLst>
              <a:gd name="T0" fmla="*/ 0 w 25"/>
              <a:gd name="T1" fmla="*/ 0 h 24"/>
              <a:gd name="T2" fmla="*/ 2 w 25"/>
              <a:gd name="T3" fmla="*/ 37 h 24"/>
              <a:gd name="T4" fmla="*/ 30 w 25"/>
              <a:gd name="T5" fmla="*/ 17 h 24"/>
              <a:gd name="T6" fmla="*/ 2 w 25"/>
              <a:gd name="T7" fmla="*/ 0 h 24"/>
              <a:gd name="T8" fmla="*/ 2 w 25"/>
              <a:gd name="T9" fmla="*/ 0 h 24"/>
              <a:gd name="T10" fmla="*/ 0 w 25"/>
              <a:gd name="T11" fmla="*/ 0 h 2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"/>
              <a:gd name="T19" fmla="*/ 0 h 24"/>
              <a:gd name="T20" fmla="*/ 25 w 25"/>
              <a:gd name="T21" fmla="*/ 24 h 2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" h="24">
                <a:moveTo>
                  <a:pt x="0" y="0"/>
                </a:moveTo>
                <a:lnTo>
                  <a:pt x="2" y="24"/>
                </a:lnTo>
                <a:lnTo>
                  <a:pt x="25" y="11"/>
                </a:lnTo>
                <a:lnTo>
                  <a:pt x="2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253" name="Freeform 97"/>
          <p:cNvSpPr>
            <a:spLocks/>
          </p:cNvSpPr>
          <p:nvPr/>
        </p:nvSpPr>
        <p:spPr bwMode="auto">
          <a:xfrm>
            <a:off x="3890963" y="5068888"/>
            <a:ext cx="47625" cy="57150"/>
          </a:xfrm>
          <a:custGeom>
            <a:avLst/>
            <a:gdLst>
              <a:gd name="T0" fmla="*/ 0 w 25"/>
              <a:gd name="T1" fmla="*/ 0 h 24"/>
              <a:gd name="T2" fmla="*/ 2 w 25"/>
              <a:gd name="T3" fmla="*/ 36 h 24"/>
              <a:gd name="T4" fmla="*/ 30 w 25"/>
              <a:gd name="T5" fmla="*/ 17 h 24"/>
              <a:gd name="T6" fmla="*/ 2 w 25"/>
              <a:gd name="T7" fmla="*/ 0 h 24"/>
              <a:gd name="T8" fmla="*/ 2 w 25"/>
              <a:gd name="T9" fmla="*/ 0 h 24"/>
              <a:gd name="T10" fmla="*/ 0 w 25"/>
              <a:gd name="T11" fmla="*/ 0 h 2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"/>
              <a:gd name="T19" fmla="*/ 0 h 24"/>
              <a:gd name="T20" fmla="*/ 25 w 25"/>
              <a:gd name="T21" fmla="*/ 24 h 2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" h="24">
                <a:moveTo>
                  <a:pt x="0" y="0"/>
                </a:moveTo>
                <a:lnTo>
                  <a:pt x="2" y="24"/>
                </a:lnTo>
                <a:lnTo>
                  <a:pt x="25" y="11"/>
                </a:lnTo>
                <a:lnTo>
                  <a:pt x="2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254" name="Freeform 104"/>
          <p:cNvSpPr>
            <a:spLocks/>
          </p:cNvSpPr>
          <p:nvPr/>
        </p:nvSpPr>
        <p:spPr bwMode="auto">
          <a:xfrm>
            <a:off x="6102350" y="4946650"/>
            <a:ext cx="42862" cy="57150"/>
          </a:xfrm>
          <a:custGeom>
            <a:avLst/>
            <a:gdLst>
              <a:gd name="T0" fmla="*/ 14 w 23"/>
              <a:gd name="T1" fmla="*/ 36 h 23"/>
              <a:gd name="T2" fmla="*/ 16 w 23"/>
              <a:gd name="T3" fmla="*/ 36 h 23"/>
              <a:gd name="T4" fmla="*/ 19 w 23"/>
              <a:gd name="T5" fmla="*/ 36 h 23"/>
              <a:gd name="T6" fmla="*/ 20 w 23"/>
              <a:gd name="T7" fmla="*/ 36 h 23"/>
              <a:gd name="T8" fmla="*/ 22 w 23"/>
              <a:gd name="T9" fmla="*/ 33 h 23"/>
              <a:gd name="T10" fmla="*/ 22 w 23"/>
              <a:gd name="T11" fmla="*/ 33 h 23"/>
              <a:gd name="T12" fmla="*/ 25 w 23"/>
              <a:gd name="T13" fmla="*/ 30 h 23"/>
              <a:gd name="T14" fmla="*/ 27 w 23"/>
              <a:gd name="T15" fmla="*/ 27 h 23"/>
              <a:gd name="T16" fmla="*/ 27 w 23"/>
              <a:gd name="T17" fmla="*/ 23 h 23"/>
              <a:gd name="T18" fmla="*/ 27 w 23"/>
              <a:gd name="T19" fmla="*/ 20 h 23"/>
              <a:gd name="T20" fmla="*/ 27 w 23"/>
              <a:gd name="T21" fmla="*/ 17 h 23"/>
              <a:gd name="T22" fmla="*/ 27 w 23"/>
              <a:gd name="T23" fmla="*/ 14 h 23"/>
              <a:gd name="T24" fmla="*/ 27 w 23"/>
              <a:gd name="T25" fmla="*/ 11 h 23"/>
              <a:gd name="T26" fmla="*/ 27 w 23"/>
              <a:gd name="T27" fmla="*/ 9 h 23"/>
              <a:gd name="T28" fmla="*/ 25 w 23"/>
              <a:gd name="T29" fmla="*/ 6 h 23"/>
              <a:gd name="T30" fmla="*/ 22 w 23"/>
              <a:gd name="T31" fmla="*/ 6 h 23"/>
              <a:gd name="T32" fmla="*/ 22 w 23"/>
              <a:gd name="T33" fmla="*/ 3 h 23"/>
              <a:gd name="T34" fmla="*/ 20 w 23"/>
              <a:gd name="T35" fmla="*/ 0 h 23"/>
              <a:gd name="T36" fmla="*/ 19 w 23"/>
              <a:gd name="T37" fmla="*/ 0 h 23"/>
              <a:gd name="T38" fmla="*/ 16 w 23"/>
              <a:gd name="T39" fmla="*/ 0 h 23"/>
              <a:gd name="T40" fmla="*/ 14 w 23"/>
              <a:gd name="T41" fmla="*/ 0 h 23"/>
              <a:gd name="T42" fmla="*/ 12 w 23"/>
              <a:gd name="T43" fmla="*/ 0 h 23"/>
              <a:gd name="T44" fmla="*/ 9 w 23"/>
              <a:gd name="T45" fmla="*/ 0 h 23"/>
              <a:gd name="T46" fmla="*/ 7 w 23"/>
              <a:gd name="T47" fmla="*/ 0 h 23"/>
              <a:gd name="T48" fmla="*/ 5 w 23"/>
              <a:gd name="T49" fmla="*/ 3 h 23"/>
              <a:gd name="T50" fmla="*/ 5 w 23"/>
              <a:gd name="T51" fmla="*/ 6 h 23"/>
              <a:gd name="T52" fmla="*/ 2 w 23"/>
              <a:gd name="T53" fmla="*/ 6 h 23"/>
              <a:gd name="T54" fmla="*/ 0 w 23"/>
              <a:gd name="T55" fmla="*/ 9 h 23"/>
              <a:gd name="T56" fmla="*/ 0 w 23"/>
              <a:gd name="T57" fmla="*/ 11 h 23"/>
              <a:gd name="T58" fmla="*/ 0 w 23"/>
              <a:gd name="T59" fmla="*/ 14 h 23"/>
              <a:gd name="T60" fmla="*/ 0 w 23"/>
              <a:gd name="T61" fmla="*/ 17 h 23"/>
              <a:gd name="T62" fmla="*/ 0 w 23"/>
              <a:gd name="T63" fmla="*/ 20 h 23"/>
              <a:gd name="T64" fmla="*/ 0 w 23"/>
              <a:gd name="T65" fmla="*/ 23 h 23"/>
              <a:gd name="T66" fmla="*/ 0 w 23"/>
              <a:gd name="T67" fmla="*/ 27 h 23"/>
              <a:gd name="T68" fmla="*/ 2 w 23"/>
              <a:gd name="T69" fmla="*/ 30 h 23"/>
              <a:gd name="T70" fmla="*/ 5 w 23"/>
              <a:gd name="T71" fmla="*/ 33 h 23"/>
              <a:gd name="T72" fmla="*/ 5 w 23"/>
              <a:gd name="T73" fmla="*/ 33 h 23"/>
              <a:gd name="T74" fmla="*/ 7 w 23"/>
              <a:gd name="T75" fmla="*/ 36 h 23"/>
              <a:gd name="T76" fmla="*/ 9 w 23"/>
              <a:gd name="T77" fmla="*/ 36 h 23"/>
              <a:gd name="T78" fmla="*/ 12 w 23"/>
              <a:gd name="T79" fmla="*/ 36 h 23"/>
              <a:gd name="T80" fmla="*/ 14 w 23"/>
              <a:gd name="T81" fmla="*/ 36 h 23"/>
              <a:gd name="T82" fmla="*/ 14 w 23"/>
              <a:gd name="T83" fmla="*/ 36 h 23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w 23"/>
              <a:gd name="T127" fmla="*/ 0 h 23"/>
              <a:gd name="T128" fmla="*/ 23 w 23"/>
              <a:gd name="T129" fmla="*/ 23 h 23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T126" t="T127" r="T128" b="T129"/>
            <a:pathLst>
              <a:path w="23" h="23">
                <a:moveTo>
                  <a:pt x="12" y="23"/>
                </a:moveTo>
                <a:lnTo>
                  <a:pt x="14" y="23"/>
                </a:lnTo>
                <a:lnTo>
                  <a:pt x="16" y="23"/>
                </a:lnTo>
                <a:lnTo>
                  <a:pt x="17" y="23"/>
                </a:lnTo>
                <a:lnTo>
                  <a:pt x="19" y="21"/>
                </a:lnTo>
                <a:lnTo>
                  <a:pt x="21" y="19"/>
                </a:lnTo>
                <a:lnTo>
                  <a:pt x="23" y="17"/>
                </a:lnTo>
                <a:lnTo>
                  <a:pt x="23" y="15"/>
                </a:lnTo>
                <a:lnTo>
                  <a:pt x="23" y="13"/>
                </a:lnTo>
                <a:lnTo>
                  <a:pt x="23" y="11"/>
                </a:lnTo>
                <a:lnTo>
                  <a:pt x="23" y="9"/>
                </a:lnTo>
                <a:lnTo>
                  <a:pt x="23" y="7"/>
                </a:lnTo>
                <a:lnTo>
                  <a:pt x="23" y="6"/>
                </a:lnTo>
                <a:lnTo>
                  <a:pt x="21" y="4"/>
                </a:lnTo>
                <a:lnTo>
                  <a:pt x="19" y="4"/>
                </a:lnTo>
                <a:lnTo>
                  <a:pt x="19" y="2"/>
                </a:lnTo>
                <a:lnTo>
                  <a:pt x="17" y="0"/>
                </a:lnTo>
                <a:lnTo>
                  <a:pt x="16" y="0"/>
                </a:lnTo>
                <a:lnTo>
                  <a:pt x="14" y="0"/>
                </a:lnTo>
                <a:lnTo>
                  <a:pt x="12" y="0"/>
                </a:lnTo>
                <a:lnTo>
                  <a:pt x="10" y="0"/>
                </a:lnTo>
                <a:lnTo>
                  <a:pt x="8" y="0"/>
                </a:lnTo>
                <a:lnTo>
                  <a:pt x="6" y="0"/>
                </a:lnTo>
                <a:lnTo>
                  <a:pt x="4" y="2"/>
                </a:lnTo>
                <a:lnTo>
                  <a:pt x="4" y="4"/>
                </a:lnTo>
                <a:lnTo>
                  <a:pt x="2" y="4"/>
                </a:lnTo>
                <a:lnTo>
                  <a:pt x="0" y="6"/>
                </a:lnTo>
                <a:lnTo>
                  <a:pt x="0" y="7"/>
                </a:lnTo>
                <a:lnTo>
                  <a:pt x="0" y="9"/>
                </a:lnTo>
                <a:lnTo>
                  <a:pt x="0" y="11"/>
                </a:lnTo>
                <a:lnTo>
                  <a:pt x="0" y="13"/>
                </a:lnTo>
                <a:lnTo>
                  <a:pt x="0" y="15"/>
                </a:lnTo>
                <a:lnTo>
                  <a:pt x="0" y="17"/>
                </a:lnTo>
                <a:lnTo>
                  <a:pt x="2" y="19"/>
                </a:lnTo>
                <a:lnTo>
                  <a:pt x="4" y="21"/>
                </a:lnTo>
                <a:lnTo>
                  <a:pt x="6" y="23"/>
                </a:lnTo>
                <a:lnTo>
                  <a:pt x="8" y="23"/>
                </a:lnTo>
                <a:lnTo>
                  <a:pt x="10" y="23"/>
                </a:lnTo>
                <a:lnTo>
                  <a:pt x="12" y="23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255" name="Freeform 109"/>
          <p:cNvSpPr>
            <a:spLocks/>
          </p:cNvSpPr>
          <p:nvPr/>
        </p:nvSpPr>
        <p:spPr bwMode="auto">
          <a:xfrm>
            <a:off x="6410325" y="3471863"/>
            <a:ext cx="46037" cy="60325"/>
          </a:xfrm>
          <a:custGeom>
            <a:avLst/>
            <a:gdLst>
              <a:gd name="T0" fmla="*/ 0 w 25"/>
              <a:gd name="T1" fmla="*/ 0 h 25"/>
              <a:gd name="T2" fmla="*/ 0 w 25"/>
              <a:gd name="T3" fmla="*/ 38 h 25"/>
              <a:gd name="T4" fmla="*/ 29 w 25"/>
              <a:gd name="T5" fmla="*/ 20 h 25"/>
              <a:gd name="T6" fmla="*/ 0 w 25"/>
              <a:gd name="T7" fmla="*/ 3 h 25"/>
              <a:gd name="T8" fmla="*/ 0 w 25"/>
              <a:gd name="T9" fmla="*/ 3 h 25"/>
              <a:gd name="T10" fmla="*/ 0 w 25"/>
              <a:gd name="T11" fmla="*/ 0 h 2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"/>
              <a:gd name="T19" fmla="*/ 0 h 25"/>
              <a:gd name="T20" fmla="*/ 25 w 25"/>
              <a:gd name="T21" fmla="*/ 25 h 2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" h="25">
                <a:moveTo>
                  <a:pt x="0" y="0"/>
                </a:moveTo>
                <a:lnTo>
                  <a:pt x="0" y="25"/>
                </a:lnTo>
                <a:lnTo>
                  <a:pt x="25" y="13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256" name="Line 110"/>
          <p:cNvSpPr>
            <a:spLocks noChangeShapeType="1"/>
          </p:cNvSpPr>
          <p:nvPr/>
        </p:nvSpPr>
        <p:spPr bwMode="auto">
          <a:xfrm flipH="1">
            <a:off x="6022975" y="3498850"/>
            <a:ext cx="398462" cy="4763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257" name="Freeform 119"/>
          <p:cNvSpPr>
            <a:spLocks/>
          </p:cNvSpPr>
          <p:nvPr/>
        </p:nvSpPr>
        <p:spPr bwMode="auto">
          <a:xfrm>
            <a:off x="5788025" y="4953000"/>
            <a:ext cx="47625" cy="60325"/>
          </a:xfrm>
          <a:custGeom>
            <a:avLst/>
            <a:gdLst>
              <a:gd name="T0" fmla="*/ 0 w 25"/>
              <a:gd name="T1" fmla="*/ 0 h 25"/>
              <a:gd name="T2" fmla="*/ 2 w 25"/>
              <a:gd name="T3" fmla="*/ 38 h 25"/>
              <a:gd name="T4" fmla="*/ 30 w 25"/>
              <a:gd name="T5" fmla="*/ 17 h 25"/>
              <a:gd name="T6" fmla="*/ 2 w 25"/>
              <a:gd name="T7" fmla="*/ 0 h 25"/>
              <a:gd name="T8" fmla="*/ 2 w 25"/>
              <a:gd name="T9" fmla="*/ 0 h 25"/>
              <a:gd name="T10" fmla="*/ 0 w 25"/>
              <a:gd name="T11" fmla="*/ 0 h 2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5"/>
              <a:gd name="T19" fmla="*/ 0 h 25"/>
              <a:gd name="T20" fmla="*/ 25 w 25"/>
              <a:gd name="T21" fmla="*/ 25 h 2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5" h="25">
                <a:moveTo>
                  <a:pt x="0" y="0"/>
                </a:moveTo>
                <a:lnTo>
                  <a:pt x="2" y="25"/>
                </a:lnTo>
                <a:lnTo>
                  <a:pt x="25" y="11"/>
                </a:lnTo>
                <a:lnTo>
                  <a:pt x="2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258" name="Rectangle 148"/>
          <p:cNvSpPr>
            <a:spLocks noChangeArrowheads="1"/>
          </p:cNvSpPr>
          <p:nvPr/>
        </p:nvSpPr>
        <p:spPr bwMode="auto">
          <a:xfrm rot="16200000">
            <a:off x="5333841" y="3417630"/>
            <a:ext cx="255904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200">
                <a:solidFill>
                  <a:srgbClr val="000000"/>
                </a:solidFill>
                <a:latin typeface="+mj-lt"/>
              </a:rPr>
              <a:t>ALU</a:t>
            </a:r>
          </a:p>
        </p:txBody>
      </p:sp>
      <p:sp>
        <p:nvSpPr>
          <p:cNvPr id="259" name="Line 176"/>
          <p:cNvSpPr>
            <a:spLocks noChangeShapeType="1"/>
          </p:cNvSpPr>
          <p:nvPr/>
        </p:nvSpPr>
        <p:spPr bwMode="auto">
          <a:xfrm rot="16200000">
            <a:off x="6176962" y="3341688"/>
            <a:ext cx="6350" cy="30480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 type="none" w="sm" len="sm"/>
            <a:tailEnd type="none" w="med" len="lg"/>
          </a:ln>
        </p:spPr>
        <p:txBody>
          <a:bodyPr wrap="none" anchor="ctr"/>
          <a:lstStyle/>
          <a:p>
            <a:endParaRPr lang="en-US">
              <a:latin typeface="+mj-lt"/>
            </a:endParaRPr>
          </a:p>
        </p:txBody>
      </p:sp>
      <p:sp>
        <p:nvSpPr>
          <p:cNvPr id="260" name="Rectangle 184"/>
          <p:cNvSpPr>
            <a:spLocks noChangeArrowheads="1"/>
          </p:cNvSpPr>
          <p:nvPr/>
        </p:nvSpPr>
        <p:spPr bwMode="auto">
          <a:xfrm>
            <a:off x="7158649" y="2822332"/>
            <a:ext cx="294311" cy="338554"/>
          </a:xfrm>
          <a:prstGeom prst="rect">
            <a:avLst/>
          </a:prstGeom>
          <a:solidFill>
            <a:schemeClr val="bg1">
              <a:alpha val="85000"/>
            </a:schemeClr>
          </a:solidFill>
          <a:ln w="12700">
            <a:noFill/>
            <a:miter lim="800000"/>
            <a:headEnd type="none" w="sm" len="sm"/>
            <a:tailEnd type="none" w="lg" len="med"/>
          </a:ln>
        </p:spPr>
        <p:txBody>
          <a:bodyPr wrap="none" lIns="45720" tIns="45720" rIns="45720" bIns="45720">
            <a:spAutoFit/>
          </a:bodyPr>
          <a:lstStyle/>
          <a:p>
            <a:r>
              <a:rPr lang="en-US" sz="1600" dirty="0" err="1">
                <a:solidFill>
                  <a:srgbClr val="FF0000"/>
                </a:solidFill>
                <a:latin typeface="+mj-lt"/>
              </a:rPr>
              <a:t>lw</a:t>
            </a:r>
            <a:endParaRPr lang="en-US" sz="1600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261" name="Rectangle 185"/>
          <p:cNvSpPr>
            <a:spLocks noChangeArrowheads="1"/>
          </p:cNvSpPr>
          <p:nvPr/>
        </p:nvSpPr>
        <p:spPr bwMode="auto">
          <a:xfrm>
            <a:off x="3719144" y="2623040"/>
            <a:ext cx="537968" cy="338554"/>
          </a:xfrm>
          <a:prstGeom prst="rect">
            <a:avLst/>
          </a:prstGeom>
          <a:solidFill>
            <a:schemeClr val="bg1">
              <a:alpha val="85000"/>
            </a:schemeClr>
          </a:solidFill>
          <a:ln w="12700">
            <a:noFill/>
            <a:miter lim="800000"/>
            <a:headEnd type="none" w="sm" len="sm"/>
            <a:tailEnd type="none" w="lg" len="med"/>
          </a:ln>
        </p:spPr>
        <p:txBody>
          <a:bodyPr wrap="none" lIns="45720" tIns="45720" rIns="45720" bIns="4572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  <a:latin typeface="+mj-lt"/>
              </a:rPr>
              <a:t>[R10]</a:t>
            </a:r>
          </a:p>
        </p:txBody>
      </p:sp>
      <p:sp>
        <p:nvSpPr>
          <p:cNvPr id="262" name="Rectangle 186"/>
          <p:cNvSpPr>
            <a:spLocks noChangeArrowheads="1"/>
          </p:cNvSpPr>
          <p:nvPr/>
        </p:nvSpPr>
        <p:spPr bwMode="auto">
          <a:xfrm>
            <a:off x="8155477" y="3581400"/>
            <a:ext cx="960969" cy="1077218"/>
          </a:xfrm>
          <a:prstGeom prst="rect">
            <a:avLst/>
          </a:prstGeom>
          <a:solidFill>
            <a:schemeClr val="bg1">
              <a:alpha val="85000"/>
            </a:schemeClr>
          </a:solidFill>
          <a:ln w="12700">
            <a:noFill/>
            <a:miter lim="800000"/>
            <a:headEnd type="none" w="sm" len="sm"/>
            <a:tailEnd type="none" w="lg" len="med"/>
          </a:ln>
        </p:spPr>
        <p:txBody>
          <a:bodyPr wrap="none" lIns="45720" tIns="45720" rIns="45720" bIns="4572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  <a:latin typeface="+mj-lt"/>
              </a:rPr>
              <a:t>Data from</a:t>
            </a:r>
          </a:p>
          <a:p>
            <a:r>
              <a:rPr lang="en-US" sz="1600" dirty="0">
                <a:solidFill>
                  <a:srgbClr val="FF0000"/>
                </a:solidFill>
                <a:latin typeface="+mj-lt"/>
              </a:rPr>
              <a:t>memory</a:t>
            </a:r>
          </a:p>
          <a:p>
            <a:r>
              <a:rPr lang="en-US" sz="1600" dirty="0">
                <a:solidFill>
                  <a:srgbClr val="FF0000"/>
                </a:solidFill>
                <a:latin typeface="+mj-lt"/>
              </a:rPr>
              <a:t>address</a:t>
            </a:r>
          </a:p>
          <a:p>
            <a:r>
              <a:rPr lang="en-US" sz="1600" dirty="0">
                <a:solidFill>
                  <a:srgbClr val="FF0000"/>
                </a:solidFill>
                <a:latin typeface="+mj-lt"/>
              </a:rPr>
              <a:t>[R1]+9</a:t>
            </a:r>
          </a:p>
        </p:txBody>
      </p:sp>
      <p:sp>
        <p:nvSpPr>
          <p:cNvPr id="263" name="Rectangle 187"/>
          <p:cNvSpPr>
            <a:spLocks noChangeArrowheads="1"/>
          </p:cNvSpPr>
          <p:nvPr/>
        </p:nvSpPr>
        <p:spPr bwMode="auto">
          <a:xfrm>
            <a:off x="5765800" y="2816225"/>
            <a:ext cx="398507" cy="338554"/>
          </a:xfrm>
          <a:prstGeom prst="rect">
            <a:avLst/>
          </a:prstGeom>
          <a:solidFill>
            <a:schemeClr val="bg1">
              <a:alpha val="85000"/>
            </a:schemeClr>
          </a:solidFill>
          <a:ln w="12700">
            <a:noFill/>
            <a:miter lim="800000"/>
            <a:headEnd type="none" w="sm" len="sm"/>
            <a:tailEnd type="none" w="lg" len="med"/>
          </a:ln>
        </p:spPr>
        <p:txBody>
          <a:bodyPr wrap="none" lIns="45720" tIns="45720" rIns="45720" bIns="4572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  <a:latin typeface="+mj-lt"/>
              </a:rPr>
              <a:t>sub</a:t>
            </a:r>
          </a:p>
        </p:txBody>
      </p:sp>
      <p:sp>
        <p:nvSpPr>
          <p:cNvPr id="264" name="Rectangle 188"/>
          <p:cNvSpPr>
            <a:spLocks noChangeArrowheads="1"/>
          </p:cNvSpPr>
          <p:nvPr/>
        </p:nvSpPr>
        <p:spPr bwMode="auto">
          <a:xfrm>
            <a:off x="3719144" y="3558689"/>
            <a:ext cx="537968" cy="338554"/>
          </a:xfrm>
          <a:prstGeom prst="rect">
            <a:avLst/>
          </a:prstGeom>
          <a:solidFill>
            <a:schemeClr val="bg1">
              <a:alpha val="85000"/>
            </a:schemeClr>
          </a:solidFill>
          <a:ln w="12700">
            <a:noFill/>
            <a:miter lim="800000"/>
            <a:headEnd type="none" w="sm" len="sm"/>
            <a:tailEnd type="none" w="lg" len="med"/>
          </a:ln>
        </p:spPr>
        <p:txBody>
          <a:bodyPr wrap="none" lIns="45720" tIns="45720" rIns="45720" bIns="4572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  <a:latin typeface="+mj-lt"/>
              </a:rPr>
              <a:t>[R11]</a:t>
            </a:r>
          </a:p>
        </p:txBody>
      </p:sp>
      <p:sp>
        <p:nvSpPr>
          <p:cNvPr id="265" name="Rectangle 190"/>
          <p:cNvSpPr>
            <a:spLocks noChangeArrowheads="1"/>
          </p:cNvSpPr>
          <p:nvPr/>
        </p:nvSpPr>
        <p:spPr bwMode="auto">
          <a:xfrm>
            <a:off x="3859407" y="4935173"/>
            <a:ext cx="300723" cy="338554"/>
          </a:xfrm>
          <a:prstGeom prst="rect">
            <a:avLst/>
          </a:prstGeom>
          <a:solidFill>
            <a:schemeClr val="bg1">
              <a:alpha val="85000"/>
            </a:schemeClr>
          </a:solidFill>
          <a:ln w="12700">
            <a:noFill/>
            <a:miter lim="800000"/>
            <a:headEnd type="none" w="sm" len="sm"/>
            <a:tailEnd type="none" w="lg" len="med"/>
          </a:ln>
        </p:spPr>
        <p:txBody>
          <a:bodyPr wrap="none" lIns="45720" tIns="45720" rIns="45720" bIns="4572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  <a:latin typeface="+mj-lt"/>
              </a:rPr>
              <a:t>12</a:t>
            </a:r>
          </a:p>
        </p:txBody>
      </p:sp>
      <p:sp>
        <p:nvSpPr>
          <p:cNvPr id="266" name="Rectangle 191"/>
          <p:cNvSpPr>
            <a:spLocks noChangeArrowheads="1"/>
          </p:cNvSpPr>
          <p:nvPr/>
        </p:nvSpPr>
        <p:spPr bwMode="auto">
          <a:xfrm>
            <a:off x="3815324" y="3097824"/>
            <a:ext cx="409728" cy="338554"/>
          </a:xfrm>
          <a:prstGeom prst="rect">
            <a:avLst/>
          </a:prstGeom>
          <a:solidFill>
            <a:schemeClr val="bg1">
              <a:alpha val="85000"/>
            </a:schemeClr>
          </a:solidFill>
          <a:ln w="12700">
            <a:noFill/>
            <a:miter lim="800000"/>
            <a:headEnd type="none" w="sm" len="sm"/>
            <a:tailEnd type="none" w="lg" len="med"/>
          </a:ln>
        </p:spPr>
        <p:txBody>
          <a:bodyPr wrap="none" lIns="45720" tIns="45720" rIns="45720" bIns="4572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  <a:latin typeface="+mj-lt"/>
              </a:rPr>
              <a:t>and</a:t>
            </a:r>
          </a:p>
        </p:txBody>
      </p:sp>
      <p:sp>
        <p:nvSpPr>
          <p:cNvPr id="267" name="Rectangle 192"/>
          <p:cNvSpPr>
            <a:spLocks noChangeArrowheads="1"/>
          </p:cNvSpPr>
          <p:nvPr/>
        </p:nvSpPr>
        <p:spPr bwMode="auto">
          <a:xfrm>
            <a:off x="7159503" y="4808173"/>
            <a:ext cx="300723" cy="338554"/>
          </a:xfrm>
          <a:prstGeom prst="rect">
            <a:avLst/>
          </a:prstGeom>
          <a:solidFill>
            <a:schemeClr val="bg1">
              <a:alpha val="85000"/>
            </a:schemeClr>
          </a:solidFill>
          <a:ln w="12700">
            <a:noFill/>
            <a:miter lim="800000"/>
            <a:headEnd type="none" w="sm" len="sm"/>
            <a:tailEnd type="none" w="lg" len="med"/>
          </a:ln>
        </p:spPr>
        <p:txBody>
          <a:bodyPr wrap="none" lIns="45720" tIns="45720" rIns="45720" bIns="4572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  <a:latin typeface="+mj-lt"/>
              </a:rPr>
              <a:t>11</a:t>
            </a:r>
          </a:p>
        </p:txBody>
      </p:sp>
      <p:sp>
        <p:nvSpPr>
          <p:cNvPr id="268" name="Rectangle 193"/>
          <p:cNvSpPr>
            <a:spLocks noChangeArrowheads="1"/>
          </p:cNvSpPr>
          <p:nvPr/>
        </p:nvSpPr>
        <p:spPr bwMode="auto">
          <a:xfrm>
            <a:off x="5499100" y="3378200"/>
            <a:ext cx="837730" cy="338554"/>
          </a:xfrm>
          <a:prstGeom prst="rect">
            <a:avLst/>
          </a:prstGeom>
          <a:solidFill>
            <a:schemeClr val="bg1">
              <a:alpha val="85000"/>
            </a:schemeClr>
          </a:solidFill>
          <a:ln w="12700">
            <a:noFill/>
            <a:miter lim="800000"/>
            <a:headEnd type="none" w="sm" len="sm"/>
            <a:tailEnd type="none" w="lg" len="med"/>
          </a:ln>
        </p:spPr>
        <p:txBody>
          <a:bodyPr wrap="none" lIns="45720" tIns="45720" rIns="45720" bIns="4572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  <a:latin typeface="+mj-lt"/>
              </a:rPr>
              <a:t>[R2]-[R3]</a:t>
            </a:r>
          </a:p>
        </p:txBody>
      </p:sp>
      <p:sp>
        <p:nvSpPr>
          <p:cNvPr id="269" name="Rectangle 194"/>
          <p:cNvSpPr>
            <a:spLocks noChangeArrowheads="1"/>
          </p:cNvSpPr>
          <p:nvPr/>
        </p:nvSpPr>
        <p:spPr bwMode="auto">
          <a:xfrm>
            <a:off x="3859407" y="4467472"/>
            <a:ext cx="300723" cy="338554"/>
          </a:xfrm>
          <a:prstGeom prst="rect">
            <a:avLst/>
          </a:prstGeom>
          <a:solidFill>
            <a:schemeClr val="bg1">
              <a:alpha val="85000"/>
            </a:schemeClr>
          </a:solidFill>
          <a:ln w="12700">
            <a:noFill/>
            <a:miter lim="800000"/>
            <a:headEnd type="none" w="sm" len="sm"/>
            <a:tailEnd type="none" w="lg" len="med"/>
          </a:ln>
        </p:spPr>
        <p:txBody>
          <a:bodyPr wrap="none" lIns="45720" tIns="45720" rIns="45720" bIns="4572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  <a:latin typeface="+mj-lt"/>
              </a:rPr>
              <a:t>11</a:t>
            </a:r>
          </a:p>
        </p:txBody>
      </p:sp>
      <p:sp>
        <p:nvSpPr>
          <p:cNvPr id="270" name="Rectangle 195"/>
          <p:cNvSpPr>
            <a:spLocks noChangeArrowheads="1"/>
          </p:cNvSpPr>
          <p:nvPr/>
        </p:nvSpPr>
        <p:spPr bwMode="auto">
          <a:xfrm>
            <a:off x="3859407" y="4176292"/>
            <a:ext cx="300723" cy="338554"/>
          </a:xfrm>
          <a:prstGeom prst="rect">
            <a:avLst/>
          </a:prstGeom>
          <a:solidFill>
            <a:schemeClr val="bg1">
              <a:alpha val="85000"/>
            </a:schemeClr>
          </a:solidFill>
          <a:ln w="12700">
            <a:noFill/>
            <a:miter lim="800000"/>
            <a:headEnd type="none" w="sm" len="sm"/>
            <a:tailEnd type="none" w="lg" len="med"/>
          </a:ln>
        </p:spPr>
        <p:txBody>
          <a:bodyPr wrap="none" lIns="45720" tIns="45720" rIns="45720" bIns="4572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  <a:latin typeface="+mj-lt"/>
              </a:rPr>
              <a:t>10</a:t>
            </a:r>
          </a:p>
        </p:txBody>
      </p:sp>
      <p:sp>
        <p:nvSpPr>
          <p:cNvPr id="271" name="Прямоугольник 270"/>
          <p:cNvSpPr/>
          <p:nvPr/>
        </p:nvSpPr>
        <p:spPr>
          <a:xfrm>
            <a:off x="40481" y="5671324"/>
            <a:ext cx="223123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10000"/>
              </a:spcBef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sub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R10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, R2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R3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73" name="Прямоугольник 272"/>
          <p:cNvSpPr/>
          <p:nvPr/>
        </p:nvSpPr>
        <p:spPr>
          <a:xfrm>
            <a:off x="34725" y="6042304"/>
            <a:ext cx="25282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10000"/>
              </a:spcBef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and R12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R10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smtClean="0">
                <a:solidFill>
                  <a:schemeClr val="hlin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R11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5308645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6" presetClass="emph" presetSubtype="0" repeatCount="2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8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6" presetClass="emph" presetSubtype="0" repeatCount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 tmFilter="0, 0; .2, .5; .8, .5; 1, 0"/>
                                        <p:tgtEl>
                                          <p:spTgt spid="2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4" dur="250" autoRev="1" fill="hold"/>
                                        <p:tgtEl>
                                          <p:spTgt spid="2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6" presetClass="emph" presetSubtype="0" repeatCount="2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 tmFilter="0, 0; .2, .5; .8, .5; 1, 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0" dur="250" autoRev="1" fill="hold"/>
                                        <p:tgtEl>
                                          <p:spTgt spid="27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26" presetClass="emph" presetSubtype="0" repeatCount="2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 tmFilter="0, 0; .2, .5; .8, .5; 1, 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9" dur="250" autoRev="1" fill="hold"/>
                                        <p:tgtEl>
                                          <p:spTgt spid="27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"/>
                            </p:stCondLst>
                            <p:childTnLst>
                              <p:par>
                                <p:cTn id="86" presetID="26" presetClass="emph" presetSubtype="0" repeatCount="2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500" tmFilter="0, 0; .2, .5; .8, .5; 1, 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8" dur="250" autoRev="1" fill="hold"/>
                                        <p:tgtEl>
                                          <p:spTgt spid="27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186" grpId="0" animBg="1"/>
      <p:bldP spid="260" grpId="0" animBg="1"/>
      <p:bldP spid="261" grpId="0" animBg="1"/>
      <p:bldP spid="262" grpId="0" animBg="1"/>
      <p:bldP spid="263" grpId="0" animBg="1"/>
      <p:bldP spid="264" grpId="0" animBg="1"/>
      <p:bldP spid="265" grpId="0" animBg="1"/>
      <p:bldP spid="266" grpId="0" animBg="1"/>
      <p:bldP spid="267" grpId="0" animBg="1"/>
      <p:bldP spid="268" grpId="0" animBg="1"/>
      <p:bldP spid="269" grpId="0" animBg="1"/>
      <p:bldP spid="270" grpId="0" animBg="1"/>
      <p:bldP spid="271" grpId="0" build="allAtOnce"/>
      <p:bldP spid="273" grpId="0"/>
      <p:bldP spid="273" grpId="1"/>
    </p:bldLst>
  </p:timing>
  <p:extLst mod="1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207963" y="312738"/>
            <a:ext cx="2881312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+mj-lt"/>
            </a:endParaRPr>
          </a:p>
        </p:txBody>
      </p:sp>
      <p:sp>
        <p:nvSpPr>
          <p:cNvPr id="4" name="AutoShape 3"/>
          <p:cNvSpPr>
            <a:spLocks noChangeArrowheads="1"/>
          </p:cNvSpPr>
          <p:nvPr/>
        </p:nvSpPr>
        <p:spPr bwMode="auto">
          <a:xfrm>
            <a:off x="422275" y="836295"/>
            <a:ext cx="7739063" cy="1066800"/>
          </a:xfrm>
          <a:prstGeom prst="roundRect">
            <a:avLst>
              <a:gd name="adj" fmla="val 12486"/>
            </a:avLst>
          </a:prstGeom>
          <a:noFill/>
          <a:ln w="9525">
            <a:noFill/>
            <a:round/>
            <a:headEnd/>
            <a:tailEnd/>
          </a:ln>
        </p:spPr>
        <p:txBody>
          <a:bodyPr lIns="90488" tIns="44450" rIns="90488" bIns="44450"/>
          <a:lstStyle/>
          <a:p>
            <a:pPr>
              <a:spcBef>
                <a:spcPct val="20000"/>
              </a:spcBef>
              <a:buClr>
                <a:srgbClr val="0000FF"/>
              </a:buClr>
              <a:buSzPct val="80000"/>
            </a:pPr>
            <a:endParaRPr lang="en-US" sz="2000" dirty="0">
              <a:latin typeface="+mj-lt"/>
            </a:endParaRPr>
          </a:p>
        </p:txBody>
      </p:sp>
      <p:sp>
        <p:nvSpPr>
          <p:cNvPr id="8" name="AutoShape 7"/>
          <p:cNvSpPr>
            <a:spLocks noChangeArrowheads="1"/>
          </p:cNvSpPr>
          <p:nvPr/>
        </p:nvSpPr>
        <p:spPr bwMode="auto">
          <a:xfrm>
            <a:off x="422276" y="5676900"/>
            <a:ext cx="8569324" cy="533400"/>
          </a:xfrm>
          <a:prstGeom prst="roundRect">
            <a:avLst>
              <a:gd name="adj" fmla="val 12486"/>
            </a:avLst>
          </a:prstGeom>
          <a:noFill/>
          <a:ln w="9525">
            <a:noFill/>
            <a:round/>
            <a:headEnd/>
            <a:tailEnd/>
          </a:ln>
        </p:spPr>
        <p:txBody>
          <a:bodyPr lIns="90488" tIns="44450" rIns="90488" bIns="44450"/>
          <a:lstStyle/>
          <a:p>
            <a:pPr marL="230188" indent="-230188">
              <a:spcBef>
                <a:spcPct val="20000"/>
              </a:spcBef>
              <a:buClr>
                <a:srgbClr val="0000FF"/>
              </a:buClr>
              <a:buFont typeface="Symbol" pitchFamily="18" charset="2"/>
              <a:buChar char="Þ"/>
            </a:pPr>
            <a:r>
              <a:rPr lang="en-US" sz="2000" b="1" dirty="0">
                <a:latin typeface="+mj-lt"/>
              </a:rPr>
              <a:t> </a:t>
            </a:r>
            <a:r>
              <a:rPr lang="en-US" sz="2000" dirty="0">
                <a:latin typeface="+mj-lt"/>
              </a:rPr>
              <a:t>A hazard detection unit </a:t>
            </a:r>
            <a:r>
              <a:rPr lang="en-US" sz="2000" dirty="0" smtClean="0">
                <a:latin typeface="+mj-lt"/>
              </a:rPr>
              <a:t>has to </a:t>
            </a:r>
            <a:r>
              <a:rPr lang="en-US" sz="2000" dirty="0">
                <a:latin typeface="+mj-lt"/>
              </a:rPr>
              <a:t>“stall” </a:t>
            </a:r>
            <a:r>
              <a:rPr lang="en-US" sz="2000" dirty="0" smtClean="0">
                <a:latin typeface="+mj-lt"/>
              </a:rPr>
              <a:t>the instruction following the load</a:t>
            </a:r>
            <a:endParaRPr lang="en-US" sz="2000" dirty="0">
              <a:latin typeface="+mj-lt"/>
            </a:endParaRPr>
          </a:p>
        </p:txBody>
      </p:sp>
      <p:sp>
        <p:nvSpPr>
          <p:cNvPr id="9" name="Rectangle 8"/>
          <p:cNvSpPr>
            <a:spLocks noGrp="1" noChangeArrowheads="1"/>
          </p:cNvSpPr>
          <p:nvPr>
            <p:ph type="title"/>
          </p:nvPr>
        </p:nvSpPr>
        <p:spPr>
          <a:xfrm>
            <a:off x="869950" y="0"/>
            <a:ext cx="7391400" cy="836613"/>
          </a:xfrm>
        </p:spPr>
        <p:txBody>
          <a:bodyPr/>
          <a:lstStyle/>
          <a:p>
            <a:r>
              <a:rPr lang="en-US" dirty="0" smtClean="0">
                <a:solidFill>
                  <a:srgbClr val="0070C0"/>
                </a:solidFill>
              </a:rPr>
              <a:t>Can't always forward</a:t>
            </a:r>
          </a:p>
        </p:txBody>
      </p:sp>
      <p:sp>
        <p:nvSpPr>
          <p:cNvPr id="281" name="Прямоугольник 280"/>
          <p:cNvSpPr/>
          <p:nvPr/>
        </p:nvSpPr>
        <p:spPr>
          <a:xfrm>
            <a:off x="609600" y="670560"/>
            <a:ext cx="8001000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2200" dirty="0">
                <a:latin typeface="+mj-lt"/>
              </a:rPr>
              <a:t>Load word can still causes a hazard: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sz="2200" dirty="0">
                <a:latin typeface="+mj-lt"/>
              </a:rPr>
              <a:t>an </a:t>
            </a:r>
            <a:r>
              <a:rPr lang="en-US" sz="2200" dirty="0" smtClean="0">
                <a:latin typeface="+mj-lt"/>
              </a:rPr>
              <a:t>instruction follows </a:t>
            </a:r>
            <a:r>
              <a:rPr lang="en-US" sz="2200" dirty="0">
                <a:latin typeface="+mj-lt"/>
              </a:rPr>
              <a:t>a load </a:t>
            </a:r>
            <a:r>
              <a:rPr lang="en-US" sz="2200" dirty="0" smtClean="0">
                <a:latin typeface="+mj-lt"/>
              </a:rPr>
              <a:t>instruction and reads the same register that is written by the load.</a:t>
            </a:r>
            <a:endParaRPr lang="en-US" sz="2200" dirty="0">
              <a:latin typeface="+mj-lt"/>
            </a:endParaRPr>
          </a:p>
        </p:txBody>
      </p:sp>
      <p:grpSp>
        <p:nvGrpSpPr>
          <p:cNvPr id="320" name="Группа 319"/>
          <p:cNvGrpSpPr/>
          <p:nvPr/>
        </p:nvGrpSpPr>
        <p:grpSpPr>
          <a:xfrm>
            <a:off x="162657" y="2133603"/>
            <a:ext cx="8336214" cy="3227077"/>
            <a:chOff x="162657" y="2133603"/>
            <a:chExt cx="8336214" cy="3227077"/>
          </a:xfrm>
        </p:grpSpPr>
        <p:sp>
          <p:nvSpPr>
            <p:cNvPr id="71" name="Freeform 71"/>
            <p:cNvSpPr>
              <a:spLocks/>
            </p:cNvSpPr>
            <p:nvPr/>
          </p:nvSpPr>
          <p:spPr bwMode="auto">
            <a:xfrm>
              <a:off x="5358694" y="3114018"/>
              <a:ext cx="179017" cy="510198"/>
            </a:xfrm>
            <a:custGeom>
              <a:avLst/>
              <a:gdLst>
                <a:gd name="T0" fmla="*/ 0 w 109"/>
                <a:gd name="T1" fmla="*/ 0 h 285"/>
                <a:gd name="T2" fmla="*/ 0 w 109"/>
                <a:gd name="T3" fmla="*/ 182562 h 285"/>
                <a:gd name="T4" fmla="*/ 50975 w 109"/>
                <a:gd name="T5" fmla="*/ 228600 h 285"/>
                <a:gd name="T6" fmla="*/ 0 w 109"/>
                <a:gd name="T7" fmla="*/ 269875 h 285"/>
                <a:gd name="T8" fmla="*/ 0 w 109"/>
                <a:gd name="T9" fmla="*/ 452437 h 285"/>
                <a:gd name="T10" fmla="*/ 158750 w 109"/>
                <a:gd name="T11" fmla="*/ 315912 h 285"/>
                <a:gd name="T12" fmla="*/ 158750 w 109"/>
                <a:gd name="T13" fmla="*/ 139700 h 285"/>
                <a:gd name="T14" fmla="*/ 0 w 109"/>
                <a:gd name="T15" fmla="*/ 0 h 285"/>
                <a:gd name="T16" fmla="*/ 0 w 109"/>
                <a:gd name="T17" fmla="*/ 0 h 28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09"/>
                <a:gd name="T28" fmla="*/ 0 h 285"/>
                <a:gd name="T29" fmla="*/ 109 w 109"/>
                <a:gd name="T30" fmla="*/ 285 h 285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09" h="285">
                  <a:moveTo>
                    <a:pt x="0" y="0"/>
                  </a:moveTo>
                  <a:lnTo>
                    <a:pt x="0" y="115"/>
                  </a:lnTo>
                  <a:lnTo>
                    <a:pt x="35" y="144"/>
                  </a:lnTo>
                  <a:lnTo>
                    <a:pt x="0" y="170"/>
                  </a:lnTo>
                  <a:lnTo>
                    <a:pt x="0" y="285"/>
                  </a:lnTo>
                  <a:lnTo>
                    <a:pt x="109" y="199"/>
                  </a:lnTo>
                  <a:lnTo>
                    <a:pt x="109" y="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grpSp>
          <p:nvGrpSpPr>
            <p:cNvPr id="319" name="Группа 318"/>
            <p:cNvGrpSpPr/>
            <p:nvPr/>
          </p:nvGrpSpPr>
          <p:grpSpPr>
            <a:xfrm>
              <a:off x="162657" y="2133603"/>
              <a:ext cx="8336214" cy="3227077"/>
              <a:chOff x="162657" y="2133603"/>
              <a:chExt cx="8336214" cy="3227077"/>
            </a:xfrm>
          </p:grpSpPr>
          <p:sp>
            <p:nvSpPr>
              <p:cNvPr id="5" name="Rectangle 4"/>
              <p:cNvSpPr>
                <a:spLocks noChangeArrowheads="1"/>
              </p:cNvSpPr>
              <p:nvPr/>
            </p:nvSpPr>
            <p:spPr bwMode="auto">
              <a:xfrm>
                <a:off x="2467712" y="2292108"/>
                <a:ext cx="65" cy="18466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 sz="1200" b="1">
                  <a:latin typeface="+mj-lt"/>
                </a:endParaRPr>
              </a:p>
            </p:txBody>
          </p:sp>
          <p:sp>
            <p:nvSpPr>
              <p:cNvPr id="6" name="Rectangle 5"/>
              <p:cNvSpPr>
                <a:spLocks noChangeArrowheads="1"/>
              </p:cNvSpPr>
              <p:nvPr/>
            </p:nvSpPr>
            <p:spPr bwMode="auto">
              <a:xfrm>
                <a:off x="2510676" y="2428161"/>
                <a:ext cx="65" cy="18466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 sz="1200" b="1">
                  <a:latin typeface="+mj-lt"/>
                </a:endParaRPr>
              </a:p>
            </p:txBody>
          </p:sp>
          <p:sp>
            <p:nvSpPr>
              <p:cNvPr id="7" name="Rectangle 6"/>
              <p:cNvSpPr>
                <a:spLocks noChangeArrowheads="1"/>
              </p:cNvSpPr>
              <p:nvPr/>
            </p:nvSpPr>
            <p:spPr bwMode="auto">
              <a:xfrm>
                <a:off x="2308386" y="2562424"/>
                <a:ext cx="65" cy="18466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endParaRPr lang="en-US" sz="1200" b="1">
                  <a:latin typeface="+mj-lt"/>
                </a:endParaRPr>
              </a:p>
            </p:txBody>
          </p:sp>
          <p:sp>
            <p:nvSpPr>
              <p:cNvPr id="19" name="Line 19"/>
              <p:cNvSpPr>
                <a:spLocks noChangeShapeType="1"/>
              </p:cNvSpPr>
              <p:nvPr/>
            </p:nvSpPr>
            <p:spPr bwMode="auto">
              <a:xfrm>
                <a:off x="6339706" y="4460225"/>
                <a:ext cx="148583" cy="358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20" name="Line 20"/>
              <p:cNvSpPr>
                <a:spLocks noChangeShapeType="1"/>
              </p:cNvSpPr>
              <p:nvPr/>
            </p:nvSpPr>
            <p:spPr bwMode="auto">
              <a:xfrm>
                <a:off x="5772222" y="3898112"/>
                <a:ext cx="152165" cy="1790"/>
              </a:xfrm>
              <a:prstGeom prst="line">
                <a:avLst/>
              </a:prstGeom>
              <a:noFill/>
              <a:ln w="15875">
                <a:solidFill>
                  <a:srgbClr val="EB75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21" name="Line 21"/>
              <p:cNvSpPr>
                <a:spLocks noChangeShapeType="1"/>
              </p:cNvSpPr>
              <p:nvPr/>
            </p:nvSpPr>
            <p:spPr bwMode="auto">
              <a:xfrm>
                <a:off x="5208319" y="3305566"/>
                <a:ext cx="150374" cy="1791"/>
              </a:xfrm>
              <a:prstGeom prst="line">
                <a:avLst/>
              </a:prstGeom>
              <a:noFill/>
              <a:ln w="15875">
                <a:solidFill>
                  <a:srgbClr val="EB75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22" name="Freeform 22"/>
              <p:cNvSpPr>
                <a:spLocks/>
              </p:cNvSpPr>
              <p:nvPr/>
            </p:nvSpPr>
            <p:spPr bwMode="auto">
              <a:xfrm>
                <a:off x="7587454" y="4977584"/>
                <a:ext cx="118151" cy="257784"/>
              </a:xfrm>
              <a:custGeom>
                <a:avLst/>
                <a:gdLst>
                  <a:gd name="T0" fmla="*/ 104775 w 71"/>
                  <a:gd name="T1" fmla="*/ 225425 h 144"/>
                  <a:gd name="T2" fmla="*/ 0 w 71"/>
                  <a:gd name="T3" fmla="*/ 228600 h 144"/>
                  <a:gd name="T4" fmla="*/ 0 w 71"/>
                  <a:gd name="T5" fmla="*/ 0 h 144"/>
                  <a:gd name="T6" fmla="*/ 104775 w 71"/>
                  <a:gd name="T7" fmla="*/ 0 h 144"/>
                  <a:gd name="T8" fmla="*/ 104775 w 71"/>
                  <a:gd name="T9" fmla="*/ 225425 h 14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1"/>
                  <a:gd name="T16" fmla="*/ 0 h 144"/>
                  <a:gd name="T17" fmla="*/ 71 w 71"/>
                  <a:gd name="T18" fmla="*/ 144 h 14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1" h="144">
                    <a:moveTo>
                      <a:pt x="71" y="142"/>
                    </a:moveTo>
                    <a:lnTo>
                      <a:pt x="0" y="144"/>
                    </a:lnTo>
                    <a:lnTo>
                      <a:pt x="0" y="0"/>
                    </a:lnTo>
                    <a:lnTo>
                      <a:pt x="71" y="0"/>
                    </a:lnTo>
                    <a:lnTo>
                      <a:pt x="71" y="142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23" name="Freeform 23"/>
              <p:cNvSpPr>
                <a:spLocks/>
              </p:cNvSpPr>
              <p:nvPr/>
            </p:nvSpPr>
            <p:spPr bwMode="auto">
              <a:xfrm>
                <a:off x="7587454" y="4977584"/>
                <a:ext cx="118151" cy="257784"/>
              </a:xfrm>
              <a:custGeom>
                <a:avLst/>
                <a:gdLst>
                  <a:gd name="T0" fmla="*/ 104775 w 71"/>
                  <a:gd name="T1" fmla="*/ 225425 h 144"/>
                  <a:gd name="T2" fmla="*/ 0 w 71"/>
                  <a:gd name="T3" fmla="*/ 228600 h 144"/>
                  <a:gd name="T4" fmla="*/ 0 w 71"/>
                  <a:gd name="T5" fmla="*/ 0 h 144"/>
                  <a:gd name="T6" fmla="*/ 104775 w 71"/>
                  <a:gd name="T7" fmla="*/ 0 h 14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1"/>
                  <a:gd name="T13" fmla="*/ 0 h 144"/>
                  <a:gd name="T14" fmla="*/ 71 w 71"/>
                  <a:gd name="T15" fmla="*/ 144 h 14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1" h="144">
                    <a:moveTo>
                      <a:pt x="71" y="142"/>
                    </a:moveTo>
                    <a:lnTo>
                      <a:pt x="0" y="144"/>
                    </a:lnTo>
                    <a:lnTo>
                      <a:pt x="0" y="0"/>
                    </a:lnTo>
                    <a:lnTo>
                      <a:pt x="71" y="0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24" name="Freeform 24"/>
              <p:cNvSpPr>
                <a:spLocks/>
              </p:cNvSpPr>
              <p:nvPr/>
            </p:nvSpPr>
            <p:spPr bwMode="auto">
              <a:xfrm>
                <a:off x="7705605" y="4974003"/>
                <a:ext cx="119942" cy="261365"/>
              </a:xfrm>
              <a:custGeom>
                <a:avLst/>
                <a:gdLst>
                  <a:gd name="T0" fmla="*/ 0 w 73"/>
                  <a:gd name="T1" fmla="*/ 0 h 146"/>
                  <a:gd name="T2" fmla="*/ 106363 w 73"/>
                  <a:gd name="T3" fmla="*/ 3175 h 146"/>
                  <a:gd name="T4" fmla="*/ 106363 w 73"/>
                  <a:gd name="T5" fmla="*/ 231775 h 146"/>
                  <a:gd name="T6" fmla="*/ 0 w 73"/>
                  <a:gd name="T7" fmla="*/ 231775 h 14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3"/>
                  <a:gd name="T13" fmla="*/ 0 h 146"/>
                  <a:gd name="T14" fmla="*/ 73 w 73"/>
                  <a:gd name="T15" fmla="*/ 146 h 14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3" h="146">
                    <a:moveTo>
                      <a:pt x="0" y="0"/>
                    </a:moveTo>
                    <a:lnTo>
                      <a:pt x="73" y="2"/>
                    </a:lnTo>
                    <a:lnTo>
                      <a:pt x="73" y="146"/>
                    </a:lnTo>
                    <a:lnTo>
                      <a:pt x="0" y="146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25" name="Line 25"/>
              <p:cNvSpPr>
                <a:spLocks noChangeShapeType="1"/>
              </p:cNvSpPr>
              <p:nvPr/>
            </p:nvSpPr>
            <p:spPr bwMode="auto">
              <a:xfrm>
                <a:off x="6132047" y="4460225"/>
                <a:ext cx="119941" cy="358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26" name="Freeform 26"/>
              <p:cNvSpPr>
                <a:spLocks/>
              </p:cNvSpPr>
              <p:nvPr/>
            </p:nvSpPr>
            <p:spPr bwMode="auto">
              <a:xfrm>
                <a:off x="7141702" y="4399360"/>
                <a:ext cx="119941" cy="255994"/>
              </a:xfrm>
              <a:custGeom>
                <a:avLst/>
                <a:gdLst>
                  <a:gd name="T0" fmla="*/ 0 w 73"/>
                  <a:gd name="T1" fmla="*/ 223837 h 143"/>
                  <a:gd name="T2" fmla="*/ 106362 w 73"/>
                  <a:gd name="T3" fmla="*/ 227012 h 143"/>
                  <a:gd name="T4" fmla="*/ 106362 w 73"/>
                  <a:gd name="T5" fmla="*/ 0 h 143"/>
                  <a:gd name="T6" fmla="*/ 0 w 73"/>
                  <a:gd name="T7" fmla="*/ 0 h 14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3"/>
                  <a:gd name="T13" fmla="*/ 0 h 143"/>
                  <a:gd name="T14" fmla="*/ 73 w 73"/>
                  <a:gd name="T15" fmla="*/ 143 h 14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3" h="143">
                    <a:moveTo>
                      <a:pt x="0" y="141"/>
                    </a:moveTo>
                    <a:lnTo>
                      <a:pt x="73" y="143"/>
                    </a:lnTo>
                    <a:lnTo>
                      <a:pt x="73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27" name="Freeform 27"/>
              <p:cNvSpPr>
                <a:spLocks/>
              </p:cNvSpPr>
              <p:nvPr/>
            </p:nvSpPr>
            <p:spPr bwMode="auto">
              <a:xfrm>
                <a:off x="7023551" y="4395779"/>
                <a:ext cx="118151" cy="259574"/>
              </a:xfrm>
              <a:custGeom>
                <a:avLst/>
                <a:gdLst>
                  <a:gd name="T0" fmla="*/ 104775 w 71"/>
                  <a:gd name="T1" fmla="*/ 0 h 145"/>
                  <a:gd name="T2" fmla="*/ 0 w 71"/>
                  <a:gd name="T3" fmla="*/ 3175 h 145"/>
                  <a:gd name="T4" fmla="*/ 0 w 71"/>
                  <a:gd name="T5" fmla="*/ 230187 h 145"/>
                  <a:gd name="T6" fmla="*/ 104775 w 71"/>
                  <a:gd name="T7" fmla="*/ 230187 h 14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1"/>
                  <a:gd name="T13" fmla="*/ 0 h 145"/>
                  <a:gd name="T14" fmla="*/ 71 w 71"/>
                  <a:gd name="T15" fmla="*/ 145 h 14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1" h="145">
                    <a:moveTo>
                      <a:pt x="71" y="0"/>
                    </a:moveTo>
                    <a:lnTo>
                      <a:pt x="0" y="2"/>
                    </a:lnTo>
                    <a:lnTo>
                      <a:pt x="0" y="145"/>
                    </a:lnTo>
                    <a:lnTo>
                      <a:pt x="71" y="145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28" name="Line 28"/>
              <p:cNvSpPr>
                <a:spLocks noChangeShapeType="1"/>
              </p:cNvSpPr>
              <p:nvPr/>
            </p:nvSpPr>
            <p:spPr bwMode="auto">
              <a:xfrm>
                <a:off x="5568143" y="3885581"/>
                <a:ext cx="118151" cy="3580"/>
              </a:xfrm>
              <a:prstGeom prst="line">
                <a:avLst/>
              </a:prstGeom>
              <a:noFill/>
              <a:ln w="15875">
                <a:solidFill>
                  <a:srgbClr val="EB75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29" name="Line 29"/>
              <p:cNvSpPr>
                <a:spLocks noChangeShapeType="1"/>
              </p:cNvSpPr>
              <p:nvPr/>
            </p:nvSpPr>
            <p:spPr bwMode="auto">
              <a:xfrm>
                <a:off x="5568143" y="4028794"/>
                <a:ext cx="356244" cy="358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30" name="Line 30"/>
              <p:cNvSpPr>
                <a:spLocks noChangeShapeType="1"/>
              </p:cNvSpPr>
              <p:nvPr/>
            </p:nvSpPr>
            <p:spPr bwMode="auto">
              <a:xfrm>
                <a:off x="6135627" y="4594488"/>
                <a:ext cx="356243" cy="179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31" name="Line 31"/>
              <p:cNvSpPr>
                <a:spLocks noChangeShapeType="1"/>
              </p:cNvSpPr>
              <p:nvPr/>
            </p:nvSpPr>
            <p:spPr bwMode="auto">
              <a:xfrm>
                <a:off x="5002449" y="3432668"/>
                <a:ext cx="356244" cy="358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32" name="Line 32"/>
              <p:cNvSpPr>
                <a:spLocks noChangeShapeType="1"/>
              </p:cNvSpPr>
              <p:nvPr/>
            </p:nvSpPr>
            <p:spPr bwMode="auto">
              <a:xfrm>
                <a:off x="5002449" y="3305566"/>
                <a:ext cx="119942" cy="1791"/>
              </a:xfrm>
              <a:prstGeom prst="line">
                <a:avLst/>
              </a:prstGeom>
              <a:noFill/>
              <a:ln w="15875">
                <a:solidFill>
                  <a:srgbClr val="EB75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33" name="Freeform 33"/>
              <p:cNvSpPr>
                <a:spLocks/>
              </p:cNvSpPr>
              <p:nvPr/>
            </p:nvSpPr>
            <p:spPr bwMode="auto">
              <a:xfrm>
                <a:off x="3754702" y="2664685"/>
                <a:ext cx="119941" cy="257784"/>
              </a:xfrm>
              <a:custGeom>
                <a:avLst/>
                <a:gdLst>
                  <a:gd name="T0" fmla="*/ 0 w 73"/>
                  <a:gd name="T1" fmla="*/ 225425 h 144"/>
                  <a:gd name="T2" fmla="*/ 106362 w 73"/>
                  <a:gd name="T3" fmla="*/ 228600 h 144"/>
                  <a:gd name="T4" fmla="*/ 106362 w 73"/>
                  <a:gd name="T5" fmla="*/ 0 h 144"/>
                  <a:gd name="T6" fmla="*/ 0 w 73"/>
                  <a:gd name="T7" fmla="*/ 0 h 144"/>
                  <a:gd name="T8" fmla="*/ 0 w 73"/>
                  <a:gd name="T9" fmla="*/ 225425 h 14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3"/>
                  <a:gd name="T16" fmla="*/ 0 h 144"/>
                  <a:gd name="T17" fmla="*/ 73 w 73"/>
                  <a:gd name="T18" fmla="*/ 144 h 14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3" h="144">
                    <a:moveTo>
                      <a:pt x="0" y="142"/>
                    </a:moveTo>
                    <a:lnTo>
                      <a:pt x="73" y="144"/>
                    </a:lnTo>
                    <a:lnTo>
                      <a:pt x="73" y="0"/>
                    </a:lnTo>
                    <a:lnTo>
                      <a:pt x="0" y="0"/>
                    </a:lnTo>
                    <a:lnTo>
                      <a:pt x="0" y="142"/>
                    </a:lnTo>
                    <a:close/>
                  </a:path>
                </a:pathLst>
              </a:custGeom>
              <a:solidFill>
                <a:srgbClr val="CCCC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34" name="Freeform 34"/>
              <p:cNvSpPr>
                <a:spLocks/>
              </p:cNvSpPr>
              <p:nvPr/>
            </p:nvSpPr>
            <p:spPr bwMode="auto">
              <a:xfrm>
                <a:off x="3754702" y="2664685"/>
                <a:ext cx="119941" cy="257784"/>
              </a:xfrm>
              <a:custGeom>
                <a:avLst/>
                <a:gdLst>
                  <a:gd name="T0" fmla="*/ 0 w 73"/>
                  <a:gd name="T1" fmla="*/ 225425 h 144"/>
                  <a:gd name="T2" fmla="*/ 106362 w 73"/>
                  <a:gd name="T3" fmla="*/ 228600 h 144"/>
                  <a:gd name="T4" fmla="*/ 106362 w 73"/>
                  <a:gd name="T5" fmla="*/ 0 h 144"/>
                  <a:gd name="T6" fmla="*/ 0 w 73"/>
                  <a:gd name="T7" fmla="*/ 0 h 14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3"/>
                  <a:gd name="T13" fmla="*/ 0 h 144"/>
                  <a:gd name="T14" fmla="*/ 73 w 73"/>
                  <a:gd name="T15" fmla="*/ 144 h 14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3" h="144">
                    <a:moveTo>
                      <a:pt x="0" y="142"/>
                    </a:moveTo>
                    <a:lnTo>
                      <a:pt x="73" y="144"/>
                    </a:lnTo>
                    <a:lnTo>
                      <a:pt x="73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35" name="Freeform 35"/>
              <p:cNvSpPr>
                <a:spLocks/>
              </p:cNvSpPr>
              <p:nvPr/>
            </p:nvSpPr>
            <p:spPr bwMode="auto">
              <a:xfrm>
                <a:off x="3636551" y="2661105"/>
                <a:ext cx="118151" cy="261365"/>
              </a:xfrm>
              <a:custGeom>
                <a:avLst/>
                <a:gdLst>
                  <a:gd name="T0" fmla="*/ 104775 w 71"/>
                  <a:gd name="T1" fmla="*/ 0 h 146"/>
                  <a:gd name="T2" fmla="*/ 0 w 71"/>
                  <a:gd name="T3" fmla="*/ 3175 h 146"/>
                  <a:gd name="T4" fmla="*/ 0 w 71"/>
                  <a:gd name="T5" fmla="*/ 231775 h 146"/>
                  <a:gd name="T6" fmla="*/ 104775 w 71"/>
                  <a:gd name="T7" fmla="*/ 231775 h 14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1"/>
                  <a:gd name="T13" fmla="*/ 0 h 146"/>
                  <a:gd name="T14" fmla="*/ 71 w 71"/>
                  <a:gd name="T15" fmla="*/ 146 h 14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1" h="146">
                    <a:moveTo>
                      <a:pt x="71" y="0"/>
                    </a:moveTo>
                    <a:lnTo>
                      <a:pt x="0" y="2"/>
                    </a:lnTo>
                    <a:lnTo>
                      <a:pt x="0" y="146"/>
                    </a:lnTo>
                    <a:lnTo>
                      <a:pt x="71" y="146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36" name="Rectangle 36"/>
              <p:cNvSpPr>
                <a:spLocks noChangeArrowheads="1"/>
              </p:cNvSpPr>
              <p:nvPr/>
            </p:nvSpPr>
            <p:spPr bwMode="auto">
              <a:xfrm>
                <a:off x="3697417" y="2713020"/>
                <a:ext cx="25648" cy="1231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I</a:t>
                </a:r>
                <a:endParaRPr lang="en-US" sz="1200" b="1">
                  <a:latin typeface="+mj-lt"/>
                </a:endParaRPr>
              </a:p>
            </p:txBody>
          </p:sp>
          <p:sp>
            <p:nvSpPr>
              <p:cNvPr id="37" name="Rectangle 37"/>
              <p:cNvSpPr>
                <a:spLocks noChangeArrowheads="1"/>
              </p:cNvSpPr>
              <p:nvPr/>
            </p:nvSpPr>
            <p:spPr bwMode="auto">
              <a:xfrm>
                <a:off x="3726059" y="2713020"/>
                <a:ext cx="88166" cy="1231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M</a:t>
                </a:r>
                <a:endParaRPr lang="en-US" sz="1200" b="1">
                  <a:latin typeface="+mj-lt"/>
                </a:endParaRPr>
              </a:p>
            </p:txBody>
          </p:sp>
          <p:sp>
            <p:nvSpPr>
              <p:cNvPr id="38" name="Freeform 38"/>
              <p:cNvSpPr>
                <a:spLocks/>
              </p:cNvSpPr>
              <p:nvPr/>
            </p:nvSpPr>
            <p:spPr bwMode="auto">
              <a:xfrm>
                <a:off x="4794790" y="2535793"/>
                <a:ext cx="179017" cy="510199"/>
              </a:xfrm>
              <a:custGeom>
                <a:avLst/>
                <a:gdLst>
                  <a:gd name="T0" fmla="*/ 0 w 109"/>
                  <a:gd name="T1" fmla="*/ 0 h 285"/>
                  <a:gd name="T2" fmla="*/ 0 w 109"/>
                  <a:gd name="T3" fmla="*/ 184150 h 285"/>
                  <a:gd name="T4" fmla="*/ 49518 w 109"/>
                  <a:gd name="T5" fmla="*/ 227013 h 285"/>
                  <a:gd name="T6" fmla="*/ 0 w 109"/>
                  <a:gd name="T7" fmla="*/ 269875 h 285"/>
                  <a:gd name="T8" fmla="*/ 0 w 109"/>
                  <a:gd name="T9" fmla="*/ 452438 h 285"/>
                  <a:gd name="T10" fmla="*/ 158750 w 109"/>
                  <a:gd name="T11" fmla="*/ 315913 h 285"/>
                  <a:gd name="T12" fmla="*/ 158750 w 109"/>
                  <a:gd name="T13" fmla="*/ 139700 h 285"/>
                  <a:gd name="T14" fmla="*/ 0 w 109"/>
                  <a:gd name="T15" fmla="*/ 0 h 285"/>
                  <a:gd name="T16" fmla="*/ 0 w 109"/>
                  <a:gd name="T17" fmla="*/ 0 h 285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09"/>
                  <a:gd name="T28" fmla="*/ 0 h 285"/>
                  <a:gd name="T29" fmla="*/ 109 w 109"/>
                  <a:gd name="T30" fmla="*/ 285 h 285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09" h="285">
                    <a:moveTo>
                      <a:pt x="0" y="0"/>
                    </a:moveTo>
                    <a:lnTo>
                      <a:pt x="0" y="116"/>
                    </a:lnTo>
                    <a:lnTo>
                      <a:pt x="34" y="143"/>
                    </a:lnTo>
                    <a:lnTo>
                      <a:pt x="0" y="170"/>
                    </a:lnTo>
                    <a:lnTo>
                      <a:pt x="0" y="285"/>
                    </a:lnTo>
                    <a:lnTo>
                      <a:pt x="109" y="199"/>
                    </a:lnTo>
                    <a:lnTo>
                      <a:pt x="109" y="8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CCC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39" name="Freeform 39"/>
              <p:cNvSpPr>
                <a:spLocks/>
              </p:cNvSpPr>
              <p:nvPr/>
            </p:nvSpPr>
            <p:spPr bwMode="auto">
              <a:xfrm>
                <a:off x="4794790" y="2535793"/>
                <a:ext cx="179017" cy="510199"/>
              </a:xfrm>
              <a:custGeom>
                <a:avLst/>
                <a:gdLst>
                  <a:gd name="T0" fmla="*/ 0 w 109"/>
                  <a:gd name="T1" fmla="*/ 0 h 285"/>
                  <a:gd name="T2" fmla="*/ 0 w 109"/>
                  <a:gd name="T3" fmla="*/ 184150 h 285"/>
                  <a:gd name="T4" fmla="*/ 49518 w 109"/>
                  <a:gd name="T5" fmla="*/ 227013 h 285"/>
                  <a:gd name="T6" fmla="*/ 0 w 109"/>
                  <a:gd name="T7" fmla="*/ 269875 h 285"/>
                  <a:gd name="T8" fmla="*/ 0 w 109"/>
                  <a:gd name="T9" fmla="*/ 452438 h 285"/>
                  <a:gd name="T10" fmla="*/ 158750 w 109"/>
                  <a:gd name="T11" fmla="*/ 315913 h 285"/>
                  <a:gd name="T12" fmla="*/ 158750 w 109"/>
                  <a:gd name="T13" fmla="*/ 139700 h 285"/>
                  <a:gd name="T14" fmla="*/ 0 w 109"/>
                  <a:gd name="T15" fmla="*/ 0 h 285"/>
                  <a:gd name="T16" fmla="*/ 0 w 109"/>
                  <a:gd name="T17" fmla="*/ 0 h 285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09"/>
                  <a:gd name="T28" fmla="*/ 0 h 285"/>
                  <a:gd name="T29" fmla="*/ 109 w 109"/>
                  <a:gd name="T30" fmla="*/ 285 h 285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09" h="285">
                    <a:moveTo>
                      <a:pt x="0" y="0"/>
                    </a:moveTo>
                    <a:lnTo>
                      <a:pt x="0" y="116"/>
                    </a:lnTo>
                    <a:lnTo>
                      <a:pt x="34" y="143"/>
                    </a:lnTo>
                    <a:lnTo>
                      <a:pt x="0" y="170"/>
                    </a:lnTo>
                    <a:lnTo>
                      <a:pt x="0" y="285"/>
                    </a:lnTo>
                    <a:lnTo>
                      <a:pt x="109" y="199"/>
                    </a:lnTo>
                    <a:lnTo>
                      <a:pt x="109" y="88"/>
                    </a:lnTo>
                    <a:lnTo>
                      <a:pt x="0" y="0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40" name="Line 40"/>
              <p:cNvSpPr>
                <a:spLocks noChangeShapeType="1"/>
              </p:cNvSpPr>
              <p:nvPr/>
            </p:nvSpPr>
            <p:spPr bwMode="auto">
              <a:xfrm>
                <a:off x="3871062" y="2791788"/>
                <a:ext cx="329391" cy="179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41" name="Freeform 41"/>
              <p:cNvSpPr>
                <a:spLocks/>
              </p:cNvSpPr>
              <p:nvPr/>
            </p:nvSpPr>
            <p:spPr bwMode="auto">
              <a:xfrm>
                <a:off x="6565268" y="4988325"/>
                <a:ext cx="119941" cy="255995"/>
              </a:xfrm>
              <a:custGeom>
                <a:avLst/>
                <a:gdLst>
                  <a:gd name="T0" fmla="*/ 0 w 73"/>
                  <a:gd name="T1" fmla="*/ 223838 h 143"/>
                  <a:gd name="T2" fmla="*/ 106362 w 73"/>
                  <a:gd name="T3" fmla="*/ 227013 h 143"/>
                  <a:gd name="T4" fmla="*/ 106362 w 73"/>
                  <a:gd name="T5" fmla="*/ 0 h 143"/>
                  <a:gd name="T6" fmla="*/ 0 w 73"/>
                  <a:gd name="T7" fmla="*/ 0 h 143"/>
                  <a:gd name="T8" fmla="*/ 0 w 73"/>
                  <a:gd name="T9" fmla="*/ 223838 h 14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3"/>
                  <a:gd name="T16" fmla="*/ 0 h 143"/>
                  <a:gd name="T17" fmla="*/ 73 w 73"/>
                  <a:gd name="T18" fmla="*/ 143 h 14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3" h="143">
                    <a:moveTo>
                      <a:pt x="0" y="141"/>
                    </a:moveTo>
                    <a:lnTo>
                      <a:pt x="73" y="143"/>
                    </a:lnTo>
                    <a:lnTo>
                      <a:pt x="73" y="0"/>
                    </a:lnTo>
                    <a:lnTo>
                      <a:pt x="0" y="0"/>
                    </a:lnTo>
                    <a:lnTo>
                      <a:pt x="0" y="141"/>
                    </a:lnTo>
                    <a:close/>
                  </a:path>
                </a:pathLst>
              </a:custGeom>
              <a:solidFill>
                <a:srgbClr val="CCCC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42" name="Freeform 42"/>
              <p:cNvSpPr>
                <a:spLocks/>
              </p:cNvSpPr>
              <p:nvPr/>
            </p:nvSpPr>
            <p:spPr bwMode="auto">
              <a:xfrm>
                <a:off x="6565268" y="4988325"/>
                <a:ext cx="119941" cy="255995"/>
              </a:xfrm>
              <a:custGeom>
                <a:avLst/>
                <a:gdLst>
                  <a:gd name="T0" fmla="*/ 0 w 73"/>
                  <a:gd name="T1" fmla="*/ 223838 h 143"/>
                  <a:gd name="T2" fmla="*/ 106362 w 73"/>
                  <a:gd name="T3" fmla="*/ 227013 h 143"/>
                  <a:gd name="T4" fmla="*/ 106362 w 73"/>
                  <a:gd name="T5" fmla="*/ 0 h 143"/>
                  <a:gd name="T6" fmla="*/ 0 w 73"/>
                  <a:gd name="T7" fmla="*/ 0 h 14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3"/>
                  <a:gd name="T13" fmla="*/ 0 h 143"/>
                  <a:gd name="T14" fmla="*/ 73 w 73"/>
                  <a:gd name="T15" fmla="*/ 143 h 14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3" h="143">
                    <a:moveTo>
                      <a:pt x="0" y="141"/>
                    </a:moveTo>
                    <a:lnTo>
                      <a:pt x="73" y="143"/>
                    </a:lnTo>
                    <a:lnTo>
                      <a:pt x="73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43" name="Line 43"/>
              <p:cNvSpPr>
                <a:spLocks noChangeShapeType="1"/>
              </p:cNvSpPr>
              <p:nvPr/>
            </p:nvSpPr>
            <p:spPr bwMode="auto">
              <a:xfrm flipV="1">
                <a:off x="6443536" y="4981164"/>
                <a:ext cx="3580" cy="26673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44" name="Line 44"/>
              <p:cNvSpPr>
                <a:spLocks noChangeShapeType="1"/>
              </p:cNvSpPr>
              <p:nvPr/>
            </p:nvSpPr>
            <p:spPr bwMode="auto">
              <a:xfrm>
                <a:off x="6443536" y="4984744"/>
                <a:ext cx="127101" cy="358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45" name="Line 45"/>
              <p:cNvSpPr>
                <a:spLocks noChangeShapeType="1"/>
              </p:cNvSpPr>
              <p:nvPr/>
            </p:nvSpPr>
            <p:spPr bwMode="auto">
              <a:xfrm>
                <a:off x="6443536" y="5240739"/>
                <a:ext cx="127101" cy="358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46" name="Rectangle 46"/>
              <p:cNvSpPr>
                <a:spLocks noChangeArrowheads="1"/>
              </p:cNvSpPr>
              <p:nvPr/>
            </p:nvSpPr>
            <p:spPr bwMode="auto">
              <a:xfrm>
                <a:off x="6477549" y="5036660"/>
                <a:ext cx="56106" cy="1231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R</a:t>
                </a:r>
                <a:endParaRPr lang="en-US" sz="1200" b="1">
                  <a:latin typeface="+mj-lt"/>
                </a:endParaRPr>
              </a:p>
            </p:txBody>
          </p:sp>
          <p:sp>
            <p:nvSpPr>
              <p:cNvPr id="47" name="Rectangle 47"/>
              <p:cNvSpPr>
                <a:spLocks noChangeArrowheads="1"/>
              </p:cNvSpPr>
              <p:nvPr/>
            </p:nvSpPr>
            <p:spPr bwMode="auto">
              <a:xfrm>
                <a:off x="6552736" y="5036660"/>
                <a:ext cx="51296" cy="1231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e</a:t>
                </a:r>
                <a:endParaRPr lang="en-US" sz="1200" b="1">
                  <a:latin typeface="+mj-lt"/>
                </a:endParaRPr>
              </a:p>
            </p:txBody>
          </p:sp>
          <p:sp>
            <p:nvSpPr>
              <p:cNvPr id="48" name="Rectangle 48"/>
              <p:cNvSpPr>
                <a:spLocks noChangeArrowheads="1"/>
              </p:cNvSpPr>
              <p:nvPr/>
            </p:nvSpPr>
            <p:spPr bwMode="auto">
              <a:xfrm>
                <a:off x="6611812" y="5036660"/>
                <a:ext cx="48090" cy="1231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g</a:t>
                </a:r>
                <a:endParaRPr lang="en-US" sz="1200" b="1">
                  <a:latin typeface="+mj-lt"/>
                </a:endParaRPr>
              </a:p>
            </p:txBody>
          </p:sp>
          <p:sp>
            <p:nvSpPr>
              <p:cNvPr id="49" name="Line 49"/>
              <p:cNvSpPr>
                <a:spLocks noChangeShapeType="1"/>
              </p:cNvSpPr>
              <p:nvPr/>
            </p:nvSpPr>
            <p:spPr bwMode="auto">
              <a:xfrm>
                <a:off x="6681628" y="5049191"/>
                <a:ext cx="368775" cy="179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50" name="Freeform 50"/>
              <p:cNvSpPr>
                <a:spLocks/>
              </p:cNvSpPr>
              <p:nvPr/>
            </p:nvSpPr>
            <p:spPr bwMode="auto">
              <a:xfrm>
                <a:off x="4311444" y="2652154"/>
                <a:ext cx="119942" cy="255994"/>
              </a:xfrm>
              <a:custGeom>
                <a:avLst/>
                <a:gdLst>
                  <a:gd name="T0" fmla="*/ 0 w 73"/>
                  <a:gd name="T1" fmla="*/ 227012 h 143"/>
                  <a:gd name="T2" fmla="*/ 106363 w 73"/>
                  <a:gd name="T3" fmla="*/ 227012 h 143"/>
                  <a:gd name="T4" fmla="*/ 106363 w 73"/>
                  <a:gd name="T5" fmla="*/ 0 h 143"/>
                  <a:gd name="T6" fmla="*/ 2914 w 73"/>
                  <a:gd name="T7" fmla="*/ 0 h 143"/>
                  <a:gd name="T8" fmla="*/ 0 w 73"/>
                  <a:gd name="T9" fmla="*/ 227012 h 14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3"/>
                  <a:gd name="T16" fmla="*/ 0 h 143"/>
                  <a:gd name="T17" fmla="*/ 73 w 73"/>
                  <a:gd name="T18" fmla="*/ 143 h 14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3" h="143">
                    <a:moveTo>
                      <a:pt x="0" y="143"/>
                    </a:moveTo>
                    <a:lnTo>
                      <a:pt x="73" y="143"/>
                    </a:lnTo>
                    <a:lnTo>
                      <a:pt x="73" y="0"/>
                    </a:lnTo>
                    <a:lnTo>
                      <a:pt x="2" y="0"/>
                    </a:lnTo>
                    <a:lnTo>
                      <a:pt x="0" y="143"/>
                    </a:lnTo>
                    <a:close/>
                  </a:path>
                </a:pathLst>
              </a:custGeom>
              <a:solidFill>
                <a:srgbClr val="CCCC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51" name="Freeform 51"/>
              <p:cNvSpPr>
                <a:spLocks/>
              </p:cNvSpPr>
              <p:nvPr/>
            </p:nvSpPr>
            <p:spPr bwMode="auto">
              <a:xfrm>
                <a:off x="4311444" y="2652154"/>
                <a:ext cx="119942" cy="255994"/>
              </a:xfrm>
              <a:custGeom>
                <a:avLst/>
                <a:gdLst>
                  <a:gd name="T0" fmla="*/ 0 w 73"/>
                  <a:gd name="T1" fmla="*/ 227012 h 143"/>
                  <a:gd name="T2" fmla="*/ 106363 w 73"/>
                  <a:gd name="T3" fmla="*/ 227012 h 143"/>
                  <a:gd name="T4" fmla="*/ 106363 w 73"/>
                  <a:gd name="T5" fmla="*/ 0 h 143"/>
                  <a:gd name="T6" fmla="*/ 2914 w 73"/>
                  <a:gd name="T7" fmla="*/ 0 h 14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3"/>
                  <a:gd name="T13" fmla="*/ 0 h 143"/>
                  <a:gd name="T14" fmla="*/ 73 w 73"/>
                  <a:gd name="T15" fmla="*/ 143 h 14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3" h="143">
                    <a:moveTo>
                      <a:pt x="0" y="143"/>
                    </a:moveTo>
                    <a:lnTo>
                      <a:pt x="73" y="143"/>
                    </a:lnTo>
                    <a:lnTo>
                      <a:pt x="73" y="0"/>
                    </a:lnTo>
                    <a:lnTo>
                      <a:pt x="2" y="0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52" name="Line 52"/>
              <p:cNvSpPr>
                <a:spLocks noChangeShapeType="1"/>
              </p:cNvSpPr>
              <p:nvPr/>
            </p:nvSpPr>
            <p:spPr bwMode="auto">
              <a:xfrm flipV="1">
                <a:off x="4195084" y="2648574"/>
                <a:ext cx="1790" cy="26673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53" name="Line 53"/>
              <p:cNvSpPr>
                <a:spLocks noChangeShapeType="1"/>
              </p:cNvSpPr>
              <p:nvPr/>
            </p:nvSpPr>
            <p:spPr bwMode="auto">
              <a:xfrm>
                <a:off x="4195084" y="2652154"/>
                <a:ext cx="123521" cy="179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54" name="Line 54"/>
              <p:cNvSpPr>
                <a:spLocks noChangeShapeType="1"/>
              </p:cNvSpPr>
              <p:nvPr/>
            </p:nvSpPr>
            <p:spPr bwMode="auto">
              <a:xfrm>
                <a:off x="4195084" y="2908148"/>
                <a:ext cx="123521" cy="179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55" name="Rectangle 55"/>
              <p:cNvSpPr>
                <a:spLocks noChangeArrowheads="1"/>
              </p:cNvSpPr>
              <p:nvPr/>
            </p:nvSpPr>
            <p:spPr bwMode="auto">
              <a:xfrm>
                <a:off x="4227307" y="2704069"/>
                <a:ext cx="56106" cy="1231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R</a:t>
                </a:r>
                <a:endParaRPr lang="en-US" sz="1200" b="1">
                  <a:latin typeface="+mj-lt"/>
                </a:endParaRPr>
              </a:p>
            </p:txBody>
          </p:sp>
          <p:sp>
            <p:nvSpPr>
              <p:cNvPr id="56" name="Rectangle 56"/>
              <p:cNvSpPr>
                <a:spLocks noChangeArrowheads="1"/>
              </p:cNvSpPr>
              <p:nvPr/>
            </p:nvSpPr>
            <p:spPr bwMode="auto">
              <a:xfrm>
                <a:off x="4302494" y="2704069"/>
                <a:ext cx="51296" cy="1231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e</a:t>
                </a:r>
                <a:endParaRPr lang="en-US" sz="1200" b="1">
                  <a:latin typeface="+mj-lt"/>
                </a:endParaRPr>
              </a:p>
            </p:txBody>
          </p:sp>
          <p:sp>
            <p:nvSpPr>
              <p:cNvPr id="57" name="Rectangle 57"/>
              <p:cNvSpPr>
                <a:spLocks noChangeArrowheads="1"/>
              </p:cNvSpPr>
              <p:nvPr/>
            </p:nvSpPr>
            <p:spPr bwMode="auto">
              <a:xfrm>
                <a:off x="4359779" y="2704069"/>
                <a:ext cx="48090" cy="1231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g</a:t>
                </a:r>
                <a:endParaRPr lang="en-US" sz="1200" b="1">
                  <a:latin typeface="+mj-lt"/>
                </a:endParaRPr>
              </a:p>
            </p:txBody>
          </p:sp>
          <p:sp>
            <p:nvSpPr>
              <p:cNvPr id="58" name="Line 58"/>
              <p:cNvSpPr>
                <a:spLocks noChangeShapeType="1"/>
              </p:cNvSpPr>
              <p:nvPr/>
            </p:nvSpPr>
            <p:spPr bwMode="auto">
              <a:xfrm>
                <a:off x="4431386" y="2716601"/>
                <a:ext cx="359823" cy="179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59" name="Line 59"/>
              <p:cNvSpPr>
                <a:spLocks noChangeShapeType="1"/>
              </p:cNvSpPr>
              <p:nvPr/>
            </p:nvSpPr>
            <p:spPr bwMode="auto">
              <a:xfrm>
                <a:off x="4973807" y="2791788"/>
                <a:ext cx="356244" cy="179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60" name="Line 60"/>
              <p:cNvSpPr>
                <a:spLocks noChangeShapeType="1"/>
              </p:cNvSpPr>
              <p:nvPr/>
            </p:nvSpPr>
            <p:spPr bwMode="auto">
              <a:xfrm>
                <a:off x="4438547" y="2854443"/>
                <a:ext cx="356243" cy="179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61" name="Freeform 61"/>
              <p:cNvSpPr>
                <a:spLocks/>
              </p:cNvSpPr>
              <p:nvPr/>
            </p:nvSpPr>
            <p:spPr bwMode="auto">
              <a:xfrm>
                <a:off x="4141379" y="2727342"/>
                <a:ext cx="59075" cy="64446"/>
              </a:xfrm>
              <a:custGeom>
                <a:avLst/>
                <a:gdLst>
                  <a:gd name="T0" fmla="*/ 0 w 36"/>
                  <a:gd name="T1" fmla="*/ 57150 h 36"/>
                  <a:gd name="T2" fmla="*/ 0 w 36"/>
                  <a:gd name="T3" fmla="*/ 0 h 36"/>
                  <a:gd name="T4" fmla="*/ 52387 w 36"/>
                  <a:gd name="T5" fmla="*/ 0 h 36"/>
                  <a:gd name="T6" fmla="*/ 0 60000 65536"/>
                  <a:gd name="T7" fmla="*/ 0 60000 65536"/>
                  <a:gd name="T8" fmla="*/ 0 60000 65536"/>
                  <a:gd name="T9" fmla="*/ 0 w 36"/>
                  <a:gd name="T10" fmla="*/ 0 h 36"/>
                  <a:gd name="T11" fmla="*/ 36 w 36"/>
                  <a:gd name="T12" fmla="*/ 36 h 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6" h="36">
                    <a:moveTo>
                      <a:pt x="0" y="36"/>
                    </a:moveTo>
                    <a:lnTo>
                      <a:pt x="0" y="0"/>
                    </a:lnTo>
                    <a:lnTo>
                      <a:pt x="36" y="0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62" name="Freeform 62"/>
              <p:cNvSpPr>
                <a:spLocks/>
              </p:cNvSpPr>
              <p:nvPr/>
            </p:nvSpPr>
            <p:spPr bwMode="auto">
              <a:xfrm>
                <a:off x="4318605" y="3241120"/>
                <a:ext cx="119942" cy="255995"/>
              </a:xfrm>
              <a:custGeom>
                <a:avLst/>
                <a:gdLst>
                  <a:gd name="T0" fmla="*/ 0 w 73"/>
                  <a:gd name="T1" fmla="*/ 227013 h 143"/>
                  <a:gd name="T2" fmla="*/ 106363 w 73"/>
                  <a:gd name="T3" fmla="*/ 227013 h 143"/>
                  <a:gd name="T4" fmla="*/ 106363 w 73"/>
                  <a:gd name="T5" fmla="*/ 0 h 143"/>
                  <a:gd name="T6" fmla="*/ 2914 w 73"/>
                  <a:gd name="T7" fmla="*/ 0 h 143"/>
                  <a:gd name="T8" fmla="*/ 0 w 73"/>
                  <a:gd name="T9" fmla="*/ 227013 h 14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3"/>
                  <a:gd name="T16" fmla="*/ 0 h 143"/>
                  <a:gd name="T17" fmla="*/ 73 w 73"/>
                  <a:gd name="T18" fmla="*/ 143 h 14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3" h="143">
                    <a:moveTo>
                      <a:pt x="0" y="143"/>
                    </a:moveTo>
                    <a:lnTo>
                      <a:pt x="73" y="143"/>
                    </a:lnTo>
                    <a:lnTo>
                      <a:pt x="73" y="0"/>
                    </a:lnTo>
                    <a:lnTo>
                      <a:pt x="2" y="0"/>
                    </a:lnTo>
                    <a:lnTo>
                      <a:pt x="0" y="143"/>
                    </a:lnTo>
                    <a:close/>
                  </a:path>
                </a:pathLst>
              </a:custGeom>
              <a:solidFill>
                <a:srgbClr val="CCCC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63" name="Freeform 63"/>
              <p:cNvSpPr>
                <a:spLocks/>
              </p:cNvSpPr>
              <p:nvPr/>
            </p:nvSpPr>
            <p:spPr bwMode="auto">
              <a:xfrm>
                <a:off x="4318605" y="3241120"/>
                <a:ext cx="119942" cy="255995"/>
              </a:xfrm>
              <a:custGeom>
                <a:avLst/>
                <a:gdLst>
                  <a:gd name="T0" fmla="*/ 0 w 73"/>
                  <a:gd name="T1" fmla="*/ 227013 h 143"/>
                  <a:gd name="T2" fmla="*/ 106363 w 73"/>
                  <a:gd name="T3" fmla="*/ 227013 h 143"/>
                  <a:gd name="T4" fmla="*/ 106363 w 73"/>
                  <a:gd name="T5" fmla="*/ 0 h 143"/>
                  <a:gd name="T6" fmla="*/ 2914 w 73"/>
                  <a:gd name="T7" fmla="*/ 0 h 14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3"/>
                  <a:gd name="T13" fmla="*/ 0 h 143"/>
                  <a:gd name="T14" fmla="*/ 73 w 73"/>
                  <a:gd name="T15" fmla="*/ 143 h 14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3" h="143">
                    <a:moveTo>
                      <a:pt x="0" y="143"/>
                    </a:moveTo>
                    <a:lnTo>
                      <a:pt x="73" y="143"/>
                    </a:lnTo>
                    <a:lnTo>
                      <a:pt x="73" y="0"/>
                    </a:lnTo>
                    <a:lnTo>
                      <a:pt x="2" y="0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64" name="Freeform 64"/>
              <p:cNvSpPr>
                <a:spLocks/>
              </p:cNvSpPr>
              <p:nvPr/>
            </p:nvSpPr>
            <p:spPr bwMode="auto">
              <a:xfrm>
                <a:off x="4200454" y="3241120"/>
                <a:ext cx="121732" cy="255995"/>
              </a:xfrm>
              <a:custGeom>
                <a:avLst/>
                <a:gdLst>
                  <a:gd name="T0" fmla="*/ 104992 w 73"/>
                  <a:gd name="T1" fmla="*/ 0 h 143"/>
                  <a:gd name="T2" fmla="*/ 0 w 73"/>
                  <a:gd name="T3" fmla="*/ 0 h 143"/>
                  <a:gd name="T4" fmla="*/ 0 w 73"/>
                  <a:gd name="T5" fmla="*/ 227013 h 143"/>
                  <a:gd name="T6" fmla="*/ 107950 w 73"/>
                  <a:gd name="T7" fmla="*/ 227013 h 14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3"/>
                  <a:gd name="T13" fmla="*/ 0 h 143"/>
                  <a:gd name="T14" fmla="*/ 73 w 73"/>
                  <a:gd name="T15" fmla="*/ 143 h 14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3" h="143">
                    <a:moveTo>
                      <a:pt x="71" y="0"/>
                    </a:moveTo>
                    <a:lnTo>
                      <a:pt x="0" y="0"/>
                    </a:lnTo>
                    <a:lnTo>
                      <a:pt x="0" y="143"/>
                    </a:lnTo>
                    <a:lnTo>
                      <a:pt x="73" y="143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65" name="Rectangle 65"/>
              <p:cNvSpPr>
                <a:spLocks noChangeArrowheads="1"/>
              </p:cNvSpPr>
              <p:nvPr/>
            </p:nvSpPr>
            <p:spPr bwMode="auto">
              <a:xfrm>
                <a:off x="4261319" y="3293035"/>
                <a:ext cx="25648" cy="1231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I</a:t>
                </a:r>
                <a:endParaRPr lang="en-US" sz="1200" b="1">
                  <a:latin typeface="+mj-lt"/>
                </a:endParaRPr>
              </a:p>
            </p:txBody>
          </p:sp>
          <p:sp>
            <p:nvSpPr>
              <p:cNvPr id="66" name="Rectangle 66"/>
              <p:cNvSpPr>
                <a:spLocks noChangeArrowheads="1"/>
              </p:cNvSpPr>
              <p:nvPr/>
            </p:nvSpPr>
            <p:spPr bwMode="auto">
              <a:xfrm>
                <a:off x="4289962" y="3293035"/>
                <a:ext cx="88166" cy="1231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M</a:t>
                </a:r>
                <a:endParaRPr lang="en-US" sz="1200" b="1">
                  <a:latin typeface="+mj-lt"/>
                </a:endParaRPr>
              </a:p>
            </p:txBody>
          </p:sp>
          <p:sp>
            <p:nvSpPr>
              <p:cNvPr id="67" name="Freeform 67"/>
              <p:cNvSpPr>
                <a:spLocks/>
              </p:cNvSpPr>
              <p:nvPr/>
            </p:nvSpPr>
            <p:spPr bwMode="auto">
              <a:xfrm>
                <a:off x="4884298" y="3241120"/>
                <a:ext cx="118151" cy="255995"/>
              </a:xfrm>
              <a:custGeom>
                <a:avLst/>
                <a:gdLst>
                  <a:gd name="T0" fmla="*/ 0 w 72"/>
                  <a:gd name="T1" fmla="*/ 227013 h 143"/>
                  <a:gd name="T2" fmla="*/ 104775 w 72"/>
                  <a:gd name="T3" fmla="*/ 227013 h 143"/>
                  <a:gd name="T4" fmla="*/ 104775 w 72"/>
                  <a:gd name="T5" fmla="*/ 0 h 143"/>
                  <a:gd name="T6" fmla="*/ 1455 w 72"/>
                  <a:gd name="T7" fmla="*/ 0 h 14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2"/>
                  <a:gd name="T13" fmla="*/ 0 h 143"/>
                  <a:gd name="T14" fmla="*/ 72 w 72"/>
                  <a:gd name="T15" fmla="*/ 143 h 14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2" h="143">
                    <a:moveTo>
                      <a:pt x="0" y="143"/>
                    </a:moveTo>
                    <a:lnTo>
                      <a:pt x="72" y="143"/>
                    </a:lnTo>
                    <a:lnTo>
                      <a:pt x="72" y="0"/>
                    </a:lnTo>
                    <a:lnTo>
                      <a:pt x="1" y="0"/>
                    </a:lnTo>
                  </a:path>
                </a:pathLst>
              </a:custGeom>
              <a:noFill/>
              <a:ln w="9525">
                <a:solidFill>
                  <a:srgbClr val="EB75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68" name="Line 68"/>
              <p:cNvSpPr>
                <a:spLocks noChangeShapeType="1"/>
              </p:cNvSpPr>
              <p:nvPr/>
            </p:nvSpPr>
            <p:spPr bwMode="auto">
              <a:xfrm flipV="1">
                <a:off x="4766147" y="3237539"/>
                <a:ext cx="1791" cy="26315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69" name="Line 69"/>
              <p:cNvSpPr>
                <a:spLocks noChangeShapeType="1"/>
              </p:cNvSpPr>
              <p:nvPr/>
            </p:nvSpPr>
            <p:spPr bwMode="auto">
              <a:xfrm>
                <a:off x="4766147" y="3241120"/>
                <a:ext cx="118151" cy="179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70" name="Line 70"/>
              <p:cNvSpPr>
                <a:spLocks noChangeShapeType="1"/>
              </p:cNvSpPr>
              <p:nvPr/>
            </p:nvSpPr>
            <p:spPr bwMode="auto">
              <a:xfrm>
                <a:off x="4766147" y="3497114"/>
                <a:ext cx="118151" cy="179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72" name="Line 72"/>
              <p:cNvSpPr>
                <a:spLocks noChangeShapeType="1"/>
              </p:cNvSpPr>
              <p:nvPr/>
            </p:nvSpPr>
            <p:spPr bwMode="auto">
              <a:xfrm>
                <a:off x="4438547" y="3368222"/>
                <a:ext cx="327600" cy="358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73" name="Line 73"/>
              <p:cNvSpPr>
                <a:spLocks noChangeShapeType="1"/>
              </p:cNvSpPr>
              <p:nvPr/>
            </p:nvSpPr>
            <p:spPr bwMode="auto">
              <a:xfrm>
                <a:off x="6132047" y="3368222"/>
                <a:ext cx="116360" cy="358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74" name="Freeform 74"/>
              <p:cNvSpPr>
                <a:spLocks/>
              </p:cNvSpPr>
              <p:nvPr/>
            </p:nvSpPr>
            <p:spPr bwMode="auto">
              <a:xfrm>
                <a:off x="4705281" y="3305566"/>
                <a:ext cx="60866" cy="62656"/>
              </a:xfrm>
              <a:custGeom>
                <a:avLst/>
                <a:gdLst>
                  <a:gd name="T0" fmla="*/ 0 w 37"/>
                  <a:gd name="T1" fmla="*/ 55563 h 35"/>
                  <a:gd name="T2" fmla="*/ 0 w 37"/>
                  <a:gd name="T3" fmla="*/ 0 h 35"/>
                  <a:gd name="T4" fmla="*/ 53975 w 37"/>
                  <a:gd name="T5" fmla="*/ 0 h 35"/>
                  <a:gd name="T6" fmla="*/ 0 60000 65536"/>
                  <a:gd name="T7" fmla="*/ 0 60000 65536"/>
                  <a:gd name="T8" fmla="*/ 0 60000 65536"/>
                  <a:gd name="T9" fmla="*/ 0 w 37"/>
                  <a:gd name="T10" fmla="*/ 0 h 35"/>
                  <a:gd name="T11" fmla="*/ 37 w 37"/>
                  <a:gd name="T12" fmla="*/ 35 h 3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7" h="35">
                    <a:moveTo>
                      <a:pt x="0" y="35"/>
                    </a:moveTo>
                    <a:lnTo>
                      <a:pt x="0" y="0"/>
                    </a:lnTo>
                    <a:lnTo>
                      <a:pt x="37" y="0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75" name="Freeform 75"/>
              <p:cNvSpPr>
                <a:spLocks/>
              </p:cNvSpPr>
              <p:nvPr/>
            </p:nvSpPr>
            <p:spPr bwMode="auto">
              <a:xfrm>
                <a:off x="3992794" y="2535793"/>
                <a:ext cx="91299" cy="513779"/>
              </a:xfrm>
              <a:custGeom>
                <a:avLst/>
                <a:gdLst>
                  <a:gd name="T0" fmla="*/ 79491 w 55"/>
                  <a:gd name="T1" fmla="*/ 455613 h 287"/>
                  <a:gd name="T2" fmla="*/ 80963 w 55"/>
                  <a:gd name="T3" fmla="*/ 0 h 287"/>
                  <a:gd name="T4" fmla="*/ 0 w 55"/>
                  <a:gd name="T5" fmla="*/ 0 h 287"/>
                  <a:gd name="T6" fmla="*/ 0 w 55"/>
                  <a:gd name="T7" fmla="*/ 455613 h 287"/>
                  <a:gd name="T8" fmla="*/ 80963 w 55"/>
                  <a:gd name="T9" fmla="*/ 455613 h 287"/>
                  <a:gd name="T10" fmla="*/ 80963 w 55"/>
                  <a:gd name="T11" fmla="*/ 455613 h 287"/>
                  <a:gd name="T12" fmla="*/ 79491 w 55"/>
                  <a:gd name="T13" fmla="*/ 455613 h 28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55"/>
                  <a:gd name="T22" fmla="*/ 0 h 287"/>
                  <a:gd name="T23" fmla="*/ 55 w 55"/>
                  <a:gd name="T24" fmla="*/ 287 h 28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55" h="287">
                    <a:moveTo>
                      <a:pt x="54" y="287"/>
                    </a:moveTo>
                    <a:lnTo>
                      <a:pt x="55" y="0"/>
                    </a:lnTo>
                    <a:lnTo>
                      <a:pt x="0" y="0"/>
                    </a:lnTo>
                    <a:lnTo>
                      <a:pt x="0" y="287"/>
                    </a:lnTo>
                    <a:lnTo>
                      <a:pt x="55" y="287"/>
                    </a:lnTo>
                    <a:lnTo>
                      <a:pt x="54" y="287"/>
                    </a:lnTo>
                    <a:close/>
                  </a:path>
                </a:pathLst>
              </a:custGeom>
              <a:solidFill>
                <a:srgbClr val="CCCC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76" name="Freeform 76"/>
              <p:cNvSpPr>
                <a:spLocks/>
              </p:cNvSpPr>
              <p:nvPr/>
            </p:nvSpPr>
            <p:spPr bwMode="auto">
              <a:xfrm>
                <a:off x="3992794" y="2535793"/>
                <a:ext cx="91299" cy="513779"/>
              </a:xfrm>
              <a:custGeom>
                <a:avLst/>
                <a:gdLst>
                  <a:gd name="T0" fmla="*/ 79491 w 55"/>
                  <a:gd name="T1" fmla="*/ 455613 h 287"/>
                  <a:gd name="T2" fmla="*/ 80963 w 55"/>
                  <a:gd name="T3" fmla="*/ 0 h 287"/>
                  <a:gd name="T4" fmla="*/ 0 w 55"/>
                  <a:gd name="T5" fmla="*/ 0 h 287"/>
                  <a:gd name="T6" fmla="*/ 0 w 55"/>
                  <a:gd name="T7" fmla="*/ 455613 h 287"/>
                  <a:gd name="T8" fmla="*/ 80963 w 55"/>
                  <a:gd name="T9" fmla="*/ 455613 h 287"/>
                  <a:gd name="T10" fmla="*/ 80963 w 55"/>
                  <a:gd name="T11" fmla="*/ 455613 h 28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55"/>
                  <a:gd name="T19" fmla="*/ 0 h 287"/>
                  <a:gd name="T20" fmla="*/ 55 w 55"/>
                  <a:gd name="T21" fmla="*/ 287 h 28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55" h="287">
                    <a:moveTo>
                      <a:pt x="54" y="287"/>
                    </a:moveTo>
                    <a:lnTo>
                      <a:pt x="55" y="0"/>
                    </a:lnTo>
                    <a:lnTo>
                      <a:pt x="0" y="0"/>
                    </a:lnTo>
                    <a:lnTo>
                      <a:pt x="0" y="287"/>
                    </a:lnTo>
                    <a:lnTo>
                      <a:pt x="55" y="287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77" name="Freeform 77"/>
              <p:cNvSpPr>
                <a:spLocks/>
              </p:cNvSpPr>
              <p:nvPr/>
            </p:nvSpPr>
            <p:spPr bwMode="auto">
              <a:xfrm>
                <a:off x="4560278" y="2535793"/>
                <a:ext cx="87718" cy="513779"/>
              </a:xfrm>
              <a:custGeom>
                <a:avLst/>
                <a:gdLst>
                  <a:gd name="T0" fmla="*/ 74906 w 54"/>
                  <a:gd name="T1" fmla="*/ 455613 h 287"/>
                  <a:gd name="T2" fmla="*/ 77787 w 54"/>
                  <a:gd name="T3" fmla="*/ 0 h 287"/>
                  <a:gd name="T4" fmla="*/ 0 w 54"/>
                  <a:gd name="T5" fmla="*/ 0 h 287"/>
                  <a:gd name="T6" fmla="*/ 0 w 54"/>
                  <a:gd name="T7" fmla="*/ 455613 h 287"/>
                  <a:gd name="T8" fmla="*/ 77787 w 54"/>
                  <a:gd name="T9" fmla="*/ 455613 h 287"/>
                  <a:gd name="T10" fmla="*/ 77787 w 54"/>
                  <a:gd name="T11" fmla="*/ 455613 h 287"/>
                  <a:gd name="T12" fmla="*/ 74906 w 54"/>
                  <a:gd name="T13" fmla="*/ 455613 h 28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54"/>
                  <a:gd name="T22" fmla="*/ 0 h 287"/>
                  <a:gd name="T23" fmla="*/ 54 w 54"/>
                  <a:gd name="T24" fmla="*/ 287 h 28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54" h="287">
                    <a:moveTo>
                      <a:pt x="52" y="287"/>
                    </a:moveTo>
                    <a:lnTo>
                      <a:pt x="54" y="0"/>
                    </a:lnTo>
                    <a:lnTo>
                      <a:pt x="0" y="0"/>
                    </a:lnTo>
                    <a:lnTo>
                      <a:pt x="0" y="287"/>
                    </a:lnTo>
                    <a:lnTo>
                      <a:pt x="54" y="287"/>
                    </a:lnTo>
                    <a:lnTo>
                      <a:pt x="52" y="287"/>
                    </a:lnTo>
                    <a:close/>
                  </a:path>
                </a:pathLst>
              </a:custGeom>
              <a:solidFill>
                <a:srgbClr val="CCCC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78" name="Freeform 78"/>
              <p:cNvSpPr>
                <a:spLocks/>
              </p:cNvSpPr>
              <p:nvPr/>
            </p:nvSpPr>
            <p:spPr bwMode="auto">
              <a:xfrm>
                <a:off x="4560278" y="2535793"/>
                <a:ext cx="87718" cy="513779"/>
              </a:xfrm>
              <a:custGeom>
                <a:avLst/>
                <a:gdLst>
                  <a:gd name="T0" fmla="*/ 74906 w 54"/>
                  <a:gd name="T1" fmla="*/ 455613 h 287"/>
                  <a:gd name="T2" fmla="*/ 77787 w 54"/>
                  <a:gd name="T3" fmla="*/ 0 h 287"/>
                  <a:gd name="T4" fmla="*/ 0 w 54"/>
                  <a:gd name="T5" fmla="*/ 0 h 287"/>
                  <a:gd name="T6" fmla="*/ 0 w 54"/>
                  <a:gd name="T7" fmla="*/ 455613 h 287"/>
                  <a:gd name="T8" fmla="*/ 77787 w 54"/>
                  <a:gd name="T9" fmla="*/ 455613 h 287"/>
                  <a:gd name="T10" fmla="*/ 77787 w 54"/>
                  <a:gd name="T11" fmla="*/ 455613 h 28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54"/>
                  <a:gd name="T19" fmla="*/ 0 h 287"/>
                  <a:gd name="T20" fmla="*/ 54 w 54"/>
                  <a:gd name="T21" fmla="*/ 287 h 28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54" h="287">
                    <a:moveTo>
                      <a:pt x="52" y="287"/>
                    </a:moveTo>
                    <a:lnTo>
                      <a:pt x="54" y="0"/>
                    </a:lnTo>
                    <a:lnTo>
                      <a:pt x="0" y="0"/>
                    </a:lnTo>
                    <a:lnTo>
                      <a:pt x="0" y="287"/>
                    </a:lnTo>
                    <a:lnTo>
                      <a:pt x="54" y="287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79" name="Freeform 79"/>
              <p:cNvSpPr>
                <a:spLocks/>
              </p:cNvSpPr>
              <p:nvPr/>
            </p:nvSpPr>
            <p:spPr bwMode="auto">
              <a:xfrm>
                <a:off x="5122391" y="2535793"/>
                <a:ext cx="89508" cy="513779"/>
              </a:xfrm>
              <a:custGeom>
                <a:avLst/>
                <a:gdLst>
                  <a:gd name="T0" fmla="*/ 76435 w 54"/>
                  <a:gd name="T1" fmla="*/ 455613 h 287"/>
                  <a:gd name="T2" fmla="*/ 79375 w 54"/>
                  <a:gd name="T3" fmla="*/ 0 h 287"/>
                  <a:gd name="T4" fmla="*/ 0 w 54"/>
                  <a:gd name="T5" fmla="*/ 0 h 287"/>
                  <a:gd name="T6" fmla="*/ 0 w 54"/>
                  <a:gd name="T7" fmla="*/ 455613 h 287"/>
                  <a:gd name="T8" fmla="*/ 79375 w 54"/>
                  <a:gd name="T9" fmla="*/ 455613 h 287"/>
                  <a:gd name="T10" fmla="*/ 79375 w 54"/>
                  <a:gd name="T11" fmla="*/ 455613 h 287"/>
                  <a:gd name="T12" fmla="*/ 76435 w 54"/>
                  <a:gd name="T13" fmla="*/ 455613 h 28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54"/>
                  <a:gd name="T22" fmla="*/ 0 h 287"/>
                  <a:gd name="T23" fmla="*/ 54 w 54"/>
                  <a:gd name="T24" fmla="*/ 287 h 28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54" h="287">
                    <a:moveTo>
                      <a:pt x="52" y="287"/>
                    </a:moveTo>
                    <a:lnTo>
                      <a:pt x="54" y="0"/>
                    </a:lnTo>
                    <a:lnTo>
                      <a:pt x="0" y="0"/>
                    </a:lnTo>
                    <a:lnTo>
                      <a:pt x="0" y="287"/>
                    </a:lnTo>
                    <a:lnTo>
                      <a:pt x="54" y="287"/>
                    </a:lnTo>
                    <a:lnTo>
                      <a:pt x="52" y="287"/>
                    </a:lnTo>
                    <a:close/>
                  </a:path>
                </a:pathLst>
              </a:custGeom>
              <a:solidFill>
                <a:srgbClr val="CCCC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80" name="Freeform 80"/>
              <p:cNvSpPr>
                <a:spLocks/>
              </p:cNvSpPr>
              <p:nvPr/>
            </p:nvSpPr>
            <p:spPr bwMode="auto">
              <a:xfrm>
                <a:off x="5122391" y="2535793"/>
                <a:ext cx="89508" cy="513779"/>
              </a:xfrm>
              <a:custGeom>
                <a:avLst/>
                <a:gdLst>
                  <a:gd name="T0" fmla="*/ 76435 w 54"/>
                  <a:gd name="T1" fmla="*/ 455613 h 287"/>
                  <a:gd name="T2" fmla="*/ 79375 w 54"/>
                  <a:gd name="T3" fmla="*/ 0 h 287"/>
                  <a:gd name="T4" fmla="*/ 0 w 54"/>
                  <a:gd name="T5" fmla="*/ 0 h 287"/>
                  <a:gd name="T6" fmla="*/ 0 w 54"/>
                  <a:gd name="T7" fmla="*/ 455613 h 287"/>
                  <a:gd name="T8" fmla="*/ 79375 w 54"/>
                  <a:gd name="T9" fmla="*/ 455613 h 287"/>
                  <a:gd name="T10" fmla="*/ 79375 w 54"/>
                  <a:gd name="T11" fmla="*/ 455613 h 28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54"/>
                  <a:gd name="T19" fmla="*/ 0 h 287"/>
                  <a:gd name="T20" fmla="*/ 54 w 54"/>
                  <a:gd name="T21" fmla="*/ 287 h 28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54" h="287">
                    <a:moveTo>
                      <a:pt x="52" y="287"/>
                    </a:moveTo>
                    <a:lnTo>
                      <a:pt x="54" y="0"/>
                    </a:lnTo>
                    <a:lnTo>
                      <a:pt x="0" y="0"/>
                    </a:lnTo>
                    <a:lnTo>
                      <a:pt x="0" y="287"/>
                    </a:lnTo>
                    <a:lnTo>
                      <a:pt x="54" y="287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81" name="Freeform 81"/>
              <p:cNvSpPr>
                <a:spLocks/>
              </p:cNvSpPr>
              <p:nvPr/>
            </p:nvSpPr>
            <p:spPr bwMode="auto">
              <a:xfrm>
                <a:off x="5686294" y="2535793"/>
                <a:ext cx="89508" cy="513779"/>
              </a:xfrm>
              <a:custGeom>
                <a:avLst/>
                <a:gdLst>
                  <a:gd name="T0" fmla="*/ 76435 w 54"/>
                  <a:gd name="T1" fmla="*/ 455613 h 287"/>
                  <a:gd name="T2" fmla="*/ 79375 w 54"/>
                  <a:gd name="T3" fmla="*/ 0 h 287"/>
                  <a:gd name="T4" fmla="*/ 0 w 54"/>
                  <a:gd name="T5" fmla="*/ 0 h 287"/>
                  <a:gd name="T6" fmla="*/ 0 w 54"/>
                  <a:gd name="T7" fmla="*/ 455613 h 287"/>
                  <a:gd name="T8" fmla="*/ 79375 w 54"/>
                  <a:gd name="T9" fmla="*/ 455613 h 287"/>
                  <a:gd name="T10" fmla="*/ 79375 w 54"/>
                  <a:gd name="T11" fmla="*/ 455613 h 287"/>
                  <a:gd name="T12" fmla="*/ 76435 w 54"/>
                  <a:gd name="T13" fmla="*/ 455613 h 28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54"/>
                  <a:gd name="T22" fmla="*/ 0 h 287"/>
                  <a:gd name="T23" fmla="*/ 54 w 54"/>
                  <a:gd name="T24" fmla="*/ 287 h 28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54" h="287">
                    <a:moveTo>
                      <a:pt x="52" y="287"/>
                    </a:moveTo>
                    <a:lnTo>
                      <a:pt x="54" y="0"/>
                    </a:lnTo>
                    <a:lnTo>
                      <a:pt x="0" y="0"/>
                    </a:lnTo>
                    <a:lnTo>
                      <a:pt x="0" y="287"/>
                    </a:lnTo>
                    <a:lnTo>
                      <a:pt x="54" y="287"/>
                    </a:lnTo>
                    <a:lnTo>
                      <a:pt x="52" y="287"/>
                    </a:lnTo>
                    <a:close/>
                  </a:path>
                </a:pathLst>
              </a:custGeom>
              <a:solidFill>
                <a:srgbClr val="CCCC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82" name="Freeform 82"/>
              <p:cNvSpPr>
                <a:spLocks/>
              </p:cNvSpPr>
              <p:nvPr/>
            </p:nvSpPr>
            <p:spPr bwMode="auto">
              <a:xfrm>
                <a:off x="4560278" y="3114018"/>
                <a:ext cx="87718" cy="513778"/>
              </a:xfrm>
              <a:custGeom>
                <a:avLst/>
                <a:gdLst>
                  <a:gd name="T0" fmla="*/ 74906 w 54"/>
                  <a:gd name="T1" fmla="*/ 452437 h 287"/>
                  <a:gd name="T2" fmla="*/ 77787 w 54"/>
                  <a:gd name="T3" fmla="*/ 0 h 287"/>
                  <a:gd name="T4" fmla="*/ 0 w 54"/>
                  <a:gd name="T5" fmla="*/ 0 h 287"/>
                  <a:gd name="T6" fmla="*/ 0 w 54"/>
                  <a:gd name="T7" fmla="*/ 455612 h 287"/>
                  <a:gd name="T8" fmla="*/ 77787 w 54"/>
                  <a:gd name="T9" fmla="*/ 455612 h 287"/>
                  <a:gd name="T10" fmla="*/ 77787 w 54"/>
                  <a:gd name="T11" fmla="*/ 455612 h 287"/>
                  <a:gd name="T12" fmla="*/ 74906 w 54"/>
                  <a:gd name="T13" fmla="*/ 452437 h 28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54"/>
                  <a:gd name="T22" fmla="*/ 0 h 287"/>
                  <a:gd name="T23" fmla="*/ 54 w 54"/>
                  <a:gd name="T24" fmla="*/ 287 h 28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54" h="287">
                    <a:moveTo>
                      <a:pt x="52" y="285"/>
                    </a:moveTo>
                    <a:lnTo>
                      <a:pt x="54" y="0"/>
                    </a:lnTo>
                    <a:lnTo>
                      <a:pt x="0" y="0"/>
                    </a:lnTo>
                    <a:lnTo>
                      <a:pt x="0" y="287"/>
                    </a:lnTo>
                    <a:lnTo>
                      <a:pt x="54" y="287"/>
                    </a:lnTo>
                    <a:lnTo>
                      <a:pt x="52" y="285"/>
                    </a:lnTo>
                    <a:close/>
                  </a:path>
                </a:pathLst>
              </a:custGeom>
              <a:solidFill>
                <a:srgbClr val="CCCC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83" name="Freeform 83"/>
              <p:cNvSpPr>
                <a:spLocks/>
              </p:cNvSpPr>
              <p:nvPr/>
            </p:nvSpPr>
            <p:spPr bwMode="auto">
              <a:xfrm>
                <a:off x="4560278" y="3114018"/>
                <a:ext cx="87718" cy="513778"/>
              </a:xfrm>
              <a:custGeom>
                <a:avLst/>
                <a:gdLst>
                  <a:gd name="T0" fmla="*/ 74906 w 54"/>
                  <a:gd name="T1" fmla="*/ 452437 h 287"/>
                  <a:gd name="T2" fmla="*/ 77787 w 54"/>
                  <a:gd name="T3" fmla="*/ 0 h 287"/>
                  <a:gd name="T4" fmla="*/ 0 w 54"/>
                  <a:gd name="T5" fmla="*/ 0 h 287"/>
                  <a:gd name="T6" fmla="*/ 0 w 54"/>
                  <a:gd name="T7" fmla="*/ 455612 h 287"/>
                  <a:gd name="T8" fmla="*/ 77787 w 54"/>
                  <a:gd name="T9" fmla="*/ 455612 h 287"/>
                  <a:gd name="T10" fmla="*/ 77787 w 54"/>
                  <a:gd name="T11" fmla="*/ 455612 h 28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54"/>
                  <a:gd name="T19" fmla="*/ 0 h 287"/>
                  <a:gd name="T20" fmla="*/ 54 w 54"/>
                  <a:gd name="T21" fmla="*/ 287 h 28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54" h="287">
                    <a:moveTo>
                      <a:pt x="52" y="285"/>
                    </a:moveTo>
                    <a:lnTo>
                      <a:pt x="54" y="0"/>
                    </a:lnTo>
                    <a:lnTo>
                      <a:pt x="0" y="0"/>
                    </a:lnTo>
                    <a:lnTo>
                      <a:pt x="0" y="287"/>
                    </a:lnTo>
                    <a:lnTo>
                      <a:pt x="54" y="287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84" name="Freeform 84"/>
              <p:cNvSpPr>
                <a:spLocks/>
              </p:cNvSpPr>
              <p:nvPr/>
            </p:nvSpPr>
            <p:spPr bwMode="auto">
              <a:xfrm>
                <a:off x="5122391" y="3114018"/>
                <a:ext cx="89508" cy="513778"/>
              </a:xfrm>
              <a:custGeom>
                <a:avLst/>
                <a:gdLst>
                  <a:gd name="T0" fmla="*/ 76435 w 54"/>
                  <a:gd name="T1" fmla="*/ 452437 h 287"/>
                  <a:gd name="T2" fmla="*/ 79375 w 54"/>
                  <a:gd name="T3" fmla="*/ 0 h 287"/>
                  <a:gd name="T4" fmla="*/ 0 w 54"/>
                  <a:gd name="T5" fmla="*/ 0 h 287"/>
                  <a:gd name="T6" fmla="*/ 0 w 54"/>
                  <a:gd name="T7" fmla="*/ 455612 h 287"/>
                  <a:gd name="T8" fmla="*/ 79375 w 54"/>
                  <a:gd name="T9" fmla="*/ 455612 h 287"/>
                  <a:gd name="T10" fmla="*/ 79375 w 54"/>
                  <a:gd name="T11" fmla="*/ 455612 h 287"/>
                  <a:gd name="T12" fmla="*/ 76435 w 54"/>
                  <a:gd name="T13" fmla="*/ 452437 h 28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54"/>
                  <a:gd name="T22" fmla="*/ 0 h 287"/>
                  <a:gd name="T23" fmla="*/ 54 w 54"/>
                  <a:gd name="T24" fmla="*/ 287 h 28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54" h="287">
                    <a:moveTo>
                      <a:pt x="52" y="285"/>
                    </a:moveTo>
                    <a:lnTo>
                      <a:pt x="54" y="0"/>
                    </a:lnTo>
                    <a:lnTo>
                      <a:pt x="0" y="0"/>
                    </a:lnTo>
                    <a:lnTo>
                      <a:pt x="0" y="287"/>
                    </a:lnTo>
                    <a:lnTo>
                      <a:pt x="54" y="287"/>
                    </a:lnTo>
                    <a:lnTo>
                      <a:pt x="52" y="285"/>
                    </a:lnTo>
                    <a:close/>
                  </a:path>
                </a:pathLst>
              </a:custGeom>
              <a:solidFill>
                <a:srgbClr val="CCCC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85" name="Freeform 85"/>
              <p:cNvSpPr>
                <a:spLocks/>
              </p:cNvSpPr>
              <p:nvPr/>
            </p:nvSpPr>
            <p:spPr bwMode="auto">
              <a:xfrm>
                <a:off x="5122391" y="3114018"/>
                <a:ext cx="89508" cy="513778"/>
              </a:xfrm>
              <a:custGeom>
                <a:avLst/>
                <a:gdLst>
                  <a:gd name="T0" fmla="*/ 76435 w 54"/>
                  <a:gd name="T1" fmla="*/ 452437 h 287"/>
                  <a:gd name="T2" fmla="*/ 79375 w 54"/>
                  <a:gd name="T3" fmla="*/ 0 h 287"/>
                  <a:gd name="T4" fmla="*/ 0 w 54"/>
                  <a:gd name="T5" fmla="*/ 0 h 287"/>
                  <a:gd name="T6" fmla="*/ 0 w 54"/>
                  <a:gd name="T7" fmla="*/ 455612 h 287"/>
                  <a:gd name="T8" fmla="*/ 79375 w 54"/>
                  <a:gd name="T9" fmla="*/ 455612 h 287"/>
                  <a:gd name="T10" fmla="*/ 79375 w 54"/>
                  <a:gd name="T11" fmla="*/ 455612 h 28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54"/>
                  <a:gd name="T19" fmla="*/ 0 h 287"/>
                  <a:gd name="T20" fmla="*/ 54 w 54"/>
                  <a:gd name="T21" fmla="*/ 287 h 28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54" h="287">
                    <a:moveTo>
                      <a:pt x="52" y="285"/>
                    </a:moveTo>
                    <a:lnTo>
                      <a:pt x="54" y="0"/>
                    </a:lnTo>
                    <a:lnTo>
                      <a:pt x="0" y="0"/>
                    </a:lnTo>
                    <a:lnTo>
                      <a:pt x="0" y="287"/>
                    </a:lnTo>
                    <a:lnTo>
                      <a:pt x="54" y="287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86" name="Freeform 86"/>
              <p:cNvSpPr>
                <a:spLocks/>
              </p:cNvSpPr>
              <p:nvPr/>
            </p:nvSpPr>
            <p:spPr bwMode="auto">
              <a:xfrm>
                <a:off x="5686294" y="3114018"/>
                <a:ext cx="89508" cy="513778"/>
              </a:xfrm>
              <a:custGeom>
                <a:avLst/>
                <a:gdLst>
                  <a:gd name="T0" fmla="*/ 76435 w 54"/>
                  <a:gd name="T1" fmla="*/ 452437 h 287"/>
                  <a:gd name="T2" fmla="*/ 79375 w 54"/>
                  <a:gd name="T3" fmla="*/ 0 h 287"/>
                  <a:gd name="T4" fmla="*/ 0 w 54"/>
                  <a:gd name="T5" fmla="*/ 0 h 287"/>
                  <a:gd name="T6" fmla="*/ 0 w 54"/>
                  <a:gd name="T7" fmla="*/ 455612 h 287"/>
                  <a:gd name="T8" fmla="*/ 79375 w 54"/>
                  <a:gd name="T9" fmla="*/ 455612 h 287"/>
                  <a:gd name="T10" fmla="*/ 79375 w 54"/>
                  <a:gd name="T11" fmla="*/ 455612 h 287"/>
                  <a:gd name="T12" fmla="*/ 76435 w 54"/>
                  <a:gd name="T13" fmla="*/ 452437 h 28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54"/>
                  <a:gd name="T22" fmla="*/ 0 h 287"/>
                  <a:gd name="T23" fmla="*/ 54 w 54"/>
                  <a:gd name="T24" fmla="*/ 287 h 28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54" h="287">
                    <a:moveTo>
                      <a:pt x="52" y="285"/>
                    </a:moveTo>
                    <a:lnTo>
                      <a:pt x="54" y="0"/>
                    </a:lnTo>
                    <a:lnTo>
                      <a:pt x="0" y="0"/>
                    </a:lnTo>
                    <a:lnTo>
                      <a:pt x="0" y="287"/>
                    </a:lnTo>
                    <a:lnTo>
                      <a:pt x="54" y="287"/>
                    </a:lnTo>
                    <a:lnTo>
                      <a:pt x="52" y="285"/>
                    </a:lnTo>
                    <a:close/>
                  </a:path>
                </a:pathLst>
              </a:custGeom>
              <a:solidFill>
                <a:srgbClr val="CCCC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87" name="Freeform 87"/>
              <p:cNvSpPr>
                <a:spLocks/>
              </p:cNvSpPr>
              <p:nvPr/>
            </p:nvSpPr>
            <p:spPr bwMode="auto">
              <a:xfrm>
                <a:off x="6251988" y="3114018"/>
                <a:ext cx="87719" cy="513778"/>
              </a:xfrm>
              <a:custGeom>
                <a:avLst/>
                <a:gdLst>
                  <a:gd name="T0" fmla="*/ 77788 w 53"/>
                  <a:gd name="T1" fmla="*/ 452437 h 287"/>
                  <a:gd name="T2" fmla="*/ 77788 w 53"/>
                  <a:gd name="T3" fmla="*/ 0 h 287"/>
                  <a:gd name="T4" fmla="*/ 0 w 53"/>
                  <a:gd name="T5" fmla="*/ 0 h 287"/>
                  <a:gd name="T6" fmla="*/ 0 w 53"/>
                  <a:gd name="T7" fmla="*/ 455612 h 287"/>
                  <a:gd name="T8" fmla="*/ 77788 w 53"/>
                  <a:gd name="T9" fmla="*/ 455612 h 287"/>
                  <a:gd name="T10" fmla="*/ 77788 w 53"/>
                  <a:gd name="T11" fmla="*/ 455612 h 287"/>
                  <a:gd name="T12" fmla="*/ 77788 w 53"/>
                  <a:gd name="T13" fmla="*/ 452437 h 28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53"/>
                  <a:gd name="T22" fmla="*/ 0 h 287"/>
                  <a:gd name="T23" fmla="*/ 53 w 53"/>
                  <a:gd name="T24" fmla="*/ 287 h 28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53" h="287">
                    <a:moveTo>
                      <a:pt x="53" y="285"/>
                    </a:moveTo>
                    <a:lnTo>
                      <a:pt x="53" y="0"/>
                    </a:lnTo>
                    <a:lnTo>
                      <a:pt x="0" y="0"/>
                    </a:lnTo>
                    <a:lnTo>
                      <a:pt x="0" y="287"/>
                    </a:lnTo>
                    <a:lnTo>
                      <a:pt x="53" y="287"/>
                    </a:lnTo>
                    <a:lnTo>
                      <a:pt x="53" y="285"/>
                    </a:lnTo>
                    <a:close/>
                  </a:path>
                </a:pathLst>
              </a:custGeom>
              <a:solidFill>
                <a:srgbClr val="CCCC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88" name="Rectangle 88"/>
              <p:cNvSpPr>
                <a:spLocks noChangeArrowheads="1"/>
              </p:cNvSpPr>
              <p:nvPr/>
            </p:nvSpPr>
            <p:spPr bwMode="auto">
              <a:xfrm>
                <a:off x="7023551" y="3819345"/>
                <a:ext cx="118151" cy="257784"/>
              </a:xfrm>
              <a:prstGeom prst="rect">
                <a:avLst/>
              </a:prstGeom>
              <a:solidFill>
                <a:srgbClr val="CCCCCC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89" name="Rectangle 89"/>
              <p:cNvSpPr>
                <a:spLocks noChangeArrowheads="1"/>
              </p:cNvSpPr>
              <p:nvPr/>
            </p:nvSpPr>
            <p:spPr bwMode="auto">
              <a:xfrm>
                <a:off x="7023551" y="3819345"/>
                <a:ext cx="118151" cy="257784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90" name="Line 90"/>
              <p:cNvSpPr>
                <a:spLocks noChangeShapeType="1"/>
              </p:cNvSpPr>
              <p:nvPr/>
            </p:nvSpPr>
            <p:spPr bwMode="auto">
              <a:xfrm flipV="1">
                <a:off x="7258063" y="3815765"/>
                <a:ext cx="3580" cy="26494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91" name="Line 91"/>
              <p:cNvSpPr>
                <a:spLocks noChangeShapeType="1"/>
              </p:cNvSpPr>
              <p:nvPr/>
            </p:nvSpPr>
            <p:spPr bwMode="auto">
              <a:xfrm flipH="1">
                <a:off x="7138122" y="3819345"/>
                <a:ext cx="119941" cy="179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92" name="Line 92"/>
              <p:cNvSpPr>
                <a:spLocks noChangeShapeType="1"/>
              </p:cNvSpPr>
              <p:nvPr/>
            </p:nvSpPr>
            <p:spPr bwMode="auto">
              <a:xfrm flipH="1">
                <a:off x="7138122" y="4077129"/>
                <a:ext cx="119941" cy="179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93" name="Freeform 93"/>
              <p:cNvSpPr>
                <a:spLocks/>
              </p:cNvSpPr>
              <p:nvPr/>
            </p:nvSpPr>
            <p:spPr bwMode="auto">
              <a:xfrm>
                <a:off x="4884298" y="3819345"/>
                <a:ext cx="118151" cy="257784"/>
              </a:xfrm>
              <a:custGeom>
                <a:avLst/>
                <a:gdLst>
                  <a:gd name="T0" fmla="*/ 0 w 72"/>
                  <a:gd name="T1" fmla="*/ 228600 h 144"/>
                  <a:gd name="T2" fmla="*/ 104775 w 72"/>
                  <a:gd name="T3" fmla="*/ 228600 h 144"/>
                  <a:gd name="T4" fmla="*/ 104775 w 72"/>
                  <a:gd name="T5" fmla="*/ 0 h 144"/>
                  <a:gd name="T6" fmla="*/ 1455 w 72"/>
                  <a:gd name="T7" fmla="*/ 0 h 144"/>
                  <a:gd name="T8" fmla="*/ 0 w 72"/>
                  <a:gd name="T9" fmla="*/ 228600 h 14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"/>
                  <a:gd name="T16" fmla="*/ 0 h 144"/>
                  <a:gd name="T17" fmla="*/ 72 w 72"/>
                  <a:gd name="T18" fmla="*/ 144 h 14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" h="144">
                    <a:moveTo>
                      <a:pt x="0" y="144"/>
                    </a:moveTo>
                    <a:lnTo>
                      <a:pt x="72" y="144"/>
                    </a:lnTo>
                    <a:lnTo>
                      <a:pt x="72" y="0"/>
                    </a:lnTo>
                    <a:lnTo>
                      <a:pt x="1" y="0"/>
                    </a:lnTo>
                    <a:lnTo>
                      <a:pt x="0" y="144"/>
                    </a:lnTo>
                    <a:close/>
                  </a:path>
                </a:pathLst>
              </a:custGeom>
              <a:solidFill>
                <a:srgbClr val="CCCC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94" name="Freeform 94"/>
              <p:cNvSpPr>
                <a:spLocks/>
              </p:cNvSpPr>
              <p:nvPr/>
            </p:nvSpPr>
            <p:spPr bwMode="auto">
              <a:xfrm>
                <a:off x="4884298" y="3819345"/>
                <a:ext cx="118151" cy="257784"/>
              </a:xfrm>
              <a:custGeom>
                <a:avLst/>
                <a:gdLst>
                  <a:gd name="T0" fmla="*/ 0 w 72"/>
                  <a:gd name="T1" fmla="*/ 228600 h 144"/>
                  <a:gd name="T2" fmla="*/ 104775 w 72"/>
                  <a:gd name="T3" fmla="*/ 228600 h 144"/>
                  <a:gd name="T4" fmla="*/ 104775 w 72"/>
                  <a:gd name="T5" fmla="*/ 0 h 144"/>
                  <a:gd name="T6" fmla="*/ 1455 w 72"/>
                  <a:gd name="T7" fmla="*/ 0 h 14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2"/>
                  <a:gd name="T13" fmla="*/ 0 h 144"/>
                  <a:gd name="T14" fmla="*/ 72 w 72"/>
                  <a:gd name="T15" fmla="*/ 144 h 14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2" h="144">
                    <a:moveTo>
                      <a:pt x="0" y="144"/>
                    </a:moveTo>
                    <a:lnTo>
                      <a:pt x="72" y="144"/>
                    </a:lnTo>
                    <a:lnTo>
                      <a:pt x="72" y="0"/>
                    </a:lnTo>
                    <a:lnTo>
                      <a:pt x="1" y="0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95" name="Freeform 95"/>
              <p:cNvSpPr>
                <a:spLocks/>
              </p:cNvSpPr>
              <p:nvPr/>
            </p:nvSpPr>
            <p:spPr bwMode="auto">
              <a:xfrm>
                <a:off x="4766147" y="3819345"/>
                <a:ext cx="118151" cy="257784"/>
              </a:xfrm>
              <a:custGeom>
                <a:avLst/>
                <a:gdLst>
                  <a:gd name="T0" fmla="*/ 103320 w 72"/>
                  <a:gd name="T1" fmla="*/ 0 h 144"/>
                  <a:gd name="T2" fmla="*/ 0 w 72"/>
                  <a:gd name="T3" fmla="*/ 0 h 144"/>
                  <a:gd name="T4" fmla="*/ 0 w 72"/>
                  <a:gd name="T5" fmla="*/ 228600 h 144"/>
                  <a:gd name="T6" fmla="*/ 104775 w 72"/>
                  <a:gd name="T7" fmla="*/ 228600 h 14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2"/>
                  <a:gd name="T13" fmla="*/ 0 h 144"/>
                  <a:gd name="T14" fmla="*/ 72 w 72"/>
                  <a:gd name="T15" fmla="*/ 144 h 14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2" h="144">
                    <a:moveTo>
                      <a:pt x="71" y="0"/>
                    </a:moveTo>
                    <a:lnTo>
                      <a:pt x="0" y="0"/>
                    </a:lnTo>
                    <a:lnTo>
                      <a:pt x="0" y="144"/>
                    </a:lnTo>
                    <a:lnTo>
                      <a:pt x="72" y="144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96" name="Rectangle 96"/>
              <p:cNvSpPr>
                <a:spLocks noChangeArrowheads="1"/>
              </p:cNvSpPr>
              <p:nvPr/>
            </p:nvSpPr>
            <p:spPr bwMode="auto">
              <a:xfrm>
                <a:off x="4825223" y="3871259"/>
                <a:ext cx="25648" cy="1231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I</a:t>
                </a:r>
                <a:endParaRPr lang="en-US" sz="1200" b="1">
                  <a:latin typeface="+mj-lt"/>
                </a:endParaRPr>
              </a:p>
            </p:txBody>
          </p:sp>
          <p:sp>
            <p:nvSpPr>
              <p:cNvPr id="97" name="Rectangle 97"/>
              <p:cNvSpPr>
                <a:spLocks noChangeArrowheads="1"/>
              </p:cNvSpPr>
              <p:nvPr/>
            </p:nvSpPr>
            <p:spPr bwMode="auto">
              <a:xfrm>
                <a:off x="4853866" y="3871259"/>
                <a:ext cx="88166" cy="1231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M</a:t>
                </a:r>
                <a:endParaRPr lang="en-US" sz="1200" b="1">
                  <a:latin typeface="+mj-lt"/>
                </a:endParaRPr>
              </a:p>
            </p:txBody>
          </p:sp>
          <p:sp>
            <p:nvSpPr>
              <p:cNvPr id="98" name="Freeform 98"/>
              <p:cNvSpPr>
                <a:spLocks/>
              </p:cNvSpPr>
              <p:nvPr/>
            </p:nvSpPr>
            <p:spPr bwMode="auto">
              <a:xfrm>
                <a:off x="5446411" y="3819345"/>
                <a:ext cx="121732" cy="257784"/>
              </a:xfrm>
              <a:custGeom>
                <a:avLst/>
                <a:gdLst>
                  <a:gd name="T0" fmla="*/ 0 w 73"/>
                  <a:gd name="T1" fmla="*/ 228600 h 144"/>
                  <a:gd name="T2" fmla="*/ 107950 w 73"/>
                  <a:gd name="T3" fmla="*/ 228600 h 144"/>
                  <a:gd name="T4" fmla="*/ 107950 w 73"/>
                  <a:gd name="T5" fmla="*/ 0 h 144"/>
                  <a:gd name="T6" fmla="*/ 2958 w 73"/>
                  <a:gd name="T7" fmla="*/ 0 h 144"/>
                  <a:gd name="T8" fmla="*/ 0 w 73"/>
                  <a:gd name="T9" fmla="*/ 228600 h 14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3"/>
                  <a:gd name="T16" fmla="*/ 0 h 144"/>
                  <a:gd name="T17" fmla="*/ 73 w 73"/>
                  <a:gd name="T18" fmla="*/ 144 h 14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3" h="144">
                    <a:moveTo>
                      <a:pt x="0" y="144"/>
                    </a:moveTo>
                    <a:lnTo>
                      <a:pt x="73" y="144"/>
                    </a:lnTo>
                    <a:lnTo>
                      <a:pt x="73" y="0"/>
                    </a:lnTo>
                    <a:lnTo>
                      <a:pt x="2" y="0"/>
                    </a:lnTo>
                    <a:lnTo>
                      <a:pt x="0" y="144"/>
                    </a:lnTo>
                    <a:close/>
                  </a:path>
                </a:pathLst>
              </a:custGeom>
              <a:solidFill>
                <a:srgbClr val="FBE2C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99" name="Freeform 99"/>
              <p:cNvSpPr>
                <a:spLocks/>
              </p:cNvSpPr>
              <p:nvPr/>
            </p:nvSpPr>
            <p:spPr bwMode="auto">
              <a:xfrm>
                <a:off x="5446411" y="3819345"/>
                <a:ext cx="121732" cy="257784"/>
              </a:xfrm>
              <a:custGeom>
                <a:avLst/>
                <a:gdLst>
                  <a:gd name="T0" fmla="*/ 0 w 73"/>
                  <a:gd name="T1" fmla="*/ 228600 h 144"/>
                  <a:gd name="T2" fmla="*/ 107950 w 73"/>
                  <a:gd name="T3" fmla="*/ 228600 h 144"/>
                  <a:gd name="T4" fmla="*/ 107950 w 73"/>
                  <a:gd name="T5" fmla="*/ 0 h 144"/>
                  <a:gd name="T6" fmla="*/ 2958 w 73"/>
                  <a:gd name="T7" fmla="*/ 0 h 14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3"/>
                  <a:gd name="T13" fmla="*/ 0 h 144"/>
                  <a:gd name="T14" fmla="*/ 73 w 73"/>
                  <a:gd name="T15" fmla="*/ 144 h 14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3" h="144">
                    <a:moveTo>
                      <a:pt x="0" y="144"/>
                    </a:moveTo>
                    <a:lnTo>
                      <a:pt x="73" y="144"/>
                    </a:lnTo>
                    <a:lnTo>
                      <a:pt x="73" y="0"/>
                    </a:lnTo>
                    <a:lnTo>
                      <a:pt x="2" y="0"/>
                    </a:lnTo>
                  </a:path>
                </a:pathLst>
              </a:custGeom>
              <a:noFill/>
              <a:ln w="9525">
                <a:solidFill>
                  <a:srgbClr val="EB75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00" name="Line 100"/>
              <p:cNvSpPr>
                <a:spLocks noChangeShapeType="1"/>
              </p:cNvSpPr>
              <p:nvPr/>
            </p:nvSpPr>
            <p:spPr bwMode="auto">
              <a:xfrm flipV="1">
                <a:off x="5330051" y="3815765"/>
                <a:ext cx="1790" cy="26494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01" name="Line 101"/>
              <p:cNvSpPr>
                <a:spLocks noChangeShapeType="1"/>
              </p:cNvSpPr>
              <p:nvPr/>
            </p:nvSpPr>
            <p:spPr bwMode="auto">
              <a:xfrm>
                <a:off x="5330051" y="3819345"/>
                <a:ext cx="119941" cy="179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02" name="Line 102"/>
              <p:cNvSpPr>
                <a:spLocks noChangeShapeType="1"/>
              </p:cNvSpPr>
              <p:nvPr/>
            </p:nvSpPr>
            <p:spPr bwMode="auto">
              <a:xfrm>
                <a:off x="5330051" y="4077129"/>
                <a:ext cx="119941" cy="179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03" name="Rectangle 103"/>
              <p:cNvSpPr>
                <a:spLocks noChangeArrowheads="1"/>
              </p:cNvSpPr>
              <p:nvPr/>
            </p:nvSpPr>
            <p:spPr bwMode="auto">
              <a:xfrm>
                <a:off x="5360483" y="3871259"/>
                <a:ext cx="56106" cy="1231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>
                    <a:solidFill>
                      <a:srgbClr val="EB7500"/>
                    </a:solidFill>
                    <a:latin typeface="+mj-lt"/>
                  </a:rPr>
                  <a:t>R</a:t>
                </a:r>
                <a:endParaRPr lang="en-US" sz="1200" b="1">
                  <a:latin typeface="+mj-lt"/>
                </a:endParaRPr>
              </a:p>
            </p:txBody>
          </p:sp>
          <p:sp>
            <p:nvSpPr>
              <p:cNvPr id="104" name="Rectangle 104"/>
              <p:cNvSpPr>
                <a:spLocks noChangeArrowheads="1"/>
              </p:cNvSpPr>
              <p:nvPr/>
            </p:nvSpPr>
            <p:spPr bwMode="auto">
              <a:xfrm>
                <a:off x="5437461" y="3871259"/>
                <a:ext cx="51296" cy="1231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>
                    <a:solidFill>
                      <a:srgbClr val="EB7500"/>
                    </a:solidFill>
                    <a:latin typeface="+mj-lt"/>
                  </a:rPr>
                  <a:t>e</a:t>
                </a:r>
                <a:endParaRPr lang="en-US" sz="1200" b="1">
                  <a:latin typeface="+mj-lt"/>
                </a:endParaRPr>
              </a:p>
            </p:txBody>
          </p:sp>
          <p:sp>
            <p:nvSpPr>
              <p:cNvPr id="105" name="Rectangle 105"/>
              <p:cNvSpPr>
                <a:spLocks noChangeArrowheads="1"/>
              </p:cNvSpPr>
              <p:nvPr/>
            </p:nvSpPr>
            <p:spPr bwMode="auto">
              <a:xfrm>
                <a:off x="5492956" y="3871259"/>
                <a:ext cx="48090" cy="1231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>
                    <a:solidFill>
                      <a:srgbClr val="EB7500"/>
                    </a:solidFill>
                    <a:latin typeface="+mj-lt"/>
                  </a:rPr>
                  <a:t>g</a:t>
                </a:r>
                <a:endParaRPr lang="en-US" sz="1200" b="1">
                  <a:latin typeface="+mj-lt"/>
                </a:endParaRPr>
              </a:p>
            </p:txBody>
          </p:sp>
          <p:sp>
            <p:nvSpPr>
              <p:cNvPr id="106" name="Freeform 106"/>
              <p:cNvSpPr>
                <a:spLocks/>
              </p:cNvSpPr>
              <p:nvPr/>
            </p:nvSpPr>
            <p:spPr bwMode="auto">
              <a:xfrm>
                <a:off x="5920807" y="3692242"/>
                <a:ext cx="180807" cy="511988"/>
              </a:xfrm>
              <a:custGeom>
                <a:avLst/>
                <a:gdLst>
                  <a:gd name="T0" fmla="*/ 0 w 109"/>
                  <a:gd name="T1" fmla="*/ 0 h 286"/>
                  <a:gd name="T2" fmla="*/ 2942 w 109"/>
                  <a:gd name="T3" fmla="*/ 182562 h 286"/>
                  <a:gd name="T4" fmla="*/ 54426 w 109"/>
                  <a:gd name="T5" fmla="*/ 225425 h 286"/>
                  <a:gd name="T6" fmla="*/ 2942 w 109"/>
                  <a:gd name="T7" fmla="*/ 271462 h 286"/>
                  <a:gd name="T8" fmla="*/ 2942 w 109"/>
                  <a:gd name="T9" fmla="*/ 454025 h 286"/>
                  <a:gd name="T10" fmla="*/ 160337 w 109"/>
                  <a:gd name="T11" fmla="*/ 314325 h 286"/>
                  <a:gd name="T12" fmla="*/ 160337 w 109"/>
                  <a:gd name="T13" fmla="*/ 139700 h 286"/>
                  <a:gd name="T14" fmla="*/ 2942 w 109"/>
                  <a:gd name="T15" fmla="*/ 0 h 286"/>
                  <a:gd name="T16" fmla="*/ 2942 w 109"/>
                  <a:gd name="T17" fmla="*/ 0 h 286"/>
                  <a:gd name="T18" fmla="*/ 0 w 109"/>
                  <a:gd name="T19" fmla="*/ 0 h 28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09"/>
                  <a:gd name="T31" fmla="*/ 0 h 286"/>
                  <a:gd name="T32" fmla="*/ 109 w 109"/>
                  <a:gd name="T33" fmla="*/ 286 h 28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09" h="286">
                    <a:moveTo>
                      <a:pt x="0" y="0"/>
                    </a:moveTo>
                    <a:lnTo>
                      <a:pt x="2" y="115"/>
                    </a:lnTo>
                    <a:lnTo>
                      <a:pt x="37" y="142"/>
                    </a:lnTo>
                    <a:lnTo>
                      <a:pt x="2" y="171"/>
                    </a:lnTo>
                    <a:lnTo>
                      <a:pt x="2" y="286"/>
                    </a:lnTo>
                    <a:lnTo>
                      <a:pt x="109" y="198"/>
                    </a:lnTo>
                    <a:lnTo>
                      <a:pt x="109" y="88"/>
                    </a:lnTo>
                    <a:lnTo>
                      <a:pt x="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CCC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07" name="Freeform 107"/>
              <p:cNvSpPr>
                <a:spLocks/>
              </p:cNvSpPr>
              <p:nvPr/>
            </p:nvSpPr>
            <p:spPr bwMode="auto">
              <a:xfrm>
                <a:off x="6459647" y="3819345"/>
                <a:ext cx="238093" cy="257784"/>
              </a:xfrm>
              <a:custGeom>
                <a:avLst/>
                <a:gdLst>
                  <a:gd name="T0" fmla="*/ 208206 w 144"/>
                  <a:gd name="T1" fmla="*/ 228600 h 144"/>
                  <a:gd name="T2" fmla="*/ 211138 w 144"/>
                  <a:gd name="T3" fmla="*/ 0 h 144"/>
                  <a:gd name="T4" fmla="*/ 0 w 144"/>
                  <a:gd name="T5" fmla="*/ 0 h 144"/>
                  <a:gd name="T6" fmla="*/ 0 w 144"/>
                  <a:gd name="T7" fmla="*/ 228600 h 144"/>
                  <a:gd name="T8" fmla="*/ 211138 w 144"/>
                  <a:gd name="T9" fmla="*/ 228600 h 144"/>
                  <a:gd name="T10" fmla="*/ 211138 w 144"/>
                  <a:gd name="T11" fmla="*/ 228600 h 14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4"/>
                  <a:gd name="T19" fmla="*/ 0 h 144"/>
                  <a:gd name="T20" fmla="*/ 144 w 144"/>
                  <a:gd name="T21" fmla="*/ 144 h 144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4" h="144">
                    <a:moveTo>
                      <a:pt x="142" y="144"/>
                    </a:moveTo>
                    <a:lnTo>
                      <a:pt x="144" y="0"/>
                    </a:lnTo>
                    <a:lnTo>
                      <a:pt x="0" y="0"/>
                    </a:lnTo>
                    <a:lnTo>
                      <a:pt x="0" y="144"/>
                    </a:lnTo>
                    <a:lnTo>
                      <a:pt x="144" y="144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08" name="Rectangle 108"/>
              <p:cNvSpPr>
                <a:spLocks noChangeArrowheads="1"/>
              </p:cNvSpPr>
              <p:nvPr/>
            </p:nvSpPr>
            <p:spPr bwMode="auto">
              <a:xfrm>
                <a:off x="6499031" y="3871259"/>
                <a:ext cx="62518" cy="1231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D</a:t>
                </a:r>
                <a:endParaRPr lang="en-US" sz="1200" b="1">
                  <a:latin typeface="+mj-lt"/>
                </a:endParaRPr>
              </a:p>
            </p:txBody>
          </p:sp>
          <p:sp>
            <p:nvSpPr>
              <p:cNvPr id="109" name="Rectangle 109"/>
              <p:cNvSpPr>
                <a:spLocks noChangeArrowheads="1"/>
              </p:cNvSpPr>
              <p:nvPr/>
            </p:nvSpPr>
            <p:spPr bwMode="auto">
              <a:xfrm>
                <a:off x="6574218" y="3871259"/>
                <a:ext cx="88166" cy="1231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M</a:t>
                </a:r>
                <a:endParaRPr lang="en-US" sz="1200" b="1">
                  <a:latin typeface="+mj-lt"/>
                </a:endParaRPr>
              </a:p>
            </p:txBody>
          </p:sp>
          <p:sp>
            <p:nvSpPr>
              <p:cNvPr id="110" name="Rectangle 110"/>
              <p:cNvSpPr>
                <a:spLocks noChangeArrowheads="1"/>
              </p:cNvSpPr>
              <p:nvPr/>
            </p:nvSpPr>
            <p:spPr bwMode="auto">
              <a:xfrm>
                <a:off x="7053983" y="3871259"/>
                <a:ext cx="56106" cy="1231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R</a:t>
                </a:r>
                <a:endParaRPr lang="en-US" sz="1200" b="1">
                  <a:latin typeface="+mj-lt"/>
                </a:endParaRPr>
              </a:p>
            </p:txBody>
          </p:sp>
          <p:sp>
            <p:nvSpPr>
              <p:cNvPr id="111" name="Rectangle 111"/>
              <p:cNvSpPr>
                <a:spLocks noChangeArrowheads="1"/>
              </p:cNvSpPr>
              <p:nvPr/>
            </p:nvSpPr>
            <p:spPr bwMode="auto">
              <a:xfrm>
                <a:off x="7129171" y="3871259"/>
                <a:ext cx="51296" cy="1231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e</a:t>
                </a:r>
                <a:endParaRPr lang="en-US" sz="1200" b="1">
                  <a:latin typeface="+mj-lt"/>
                </a:endParaRPr>
              </a:p>
            </p:txBody>
          </p:sp>
          <p:sp>
            <p:nvSpPr>
              <p:cNvPr id="112" name="Rectangle 112"/>
              <p:cNvSpPr>
                <a:spLocks noChangeArrowheads="1"/>
              </p:cNvSpPr>
              <p:nvPr/>
            </p:nvSpPr>
            <p:spPr bwMode="auto">
              <a:xfrm>
                <a:off x="7190036" y="3871259"/>
                <a:ext cx="48090" cy="1231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g</a:t>
                </a:r>
                <a:endParaRPr lang="en-US" sz="1200" b="1">
                  <a:latin typeface="+mj-lt"/>
                </a:endParaRPr>
              </a:p>
            </p:txBody>
          </p:sp>
          <p:sp>
            <p:nvSpPr>
              <p:cNvPr id="113" name="Line 113"/>
              <p:cNvSpPr>
                <a:spLocks noChangeShapeType="1"/>
              </p:cNvSpPr>
              <p:nvPr/>
            </p:nvSpPr>
            <p:spPr bwMode="auto">
              <a:xfrm>
                <a:off x="5002449" y="3946446"/>
                <a:ext cx="327602" cy="358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14" name="Line 114"/>
              <p:cNvSpPr>
                <a:spLocks noChangeShapeType="1"/>
              </p:cNvSpPr>
              <p:nvPr/>
            </p:nvSpPr>
            <p:spPr bwMode="auto">
              <a:xfrm>
                <a:off x="6695950" y="3946446"/>
                <a:ext cx="324021" cy="358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15" name="Freeform 115"/>
              <p:cNvSpPr>
                <a:spLocks/>
              </p:cNvSpPr>
              <p:nvPr/>
            </p:nvSpPr>
            <p:spPr bwMode="auto">
              <a:xfrm>
                <a:off x="5269185" y="3885581"/>
                <a:ext cx="60866" cy="60866"/>
              </a:xfrm>
              <a:custGeom>
                <a:avLst/>
                <a:gdLst>
                  <a:gd name="T0" fmla="*/ 0 w 37"/>
                  <a:gd name="T1" fmla="*/ 53975 h 34"/>
                  <a:gd name="T2" fmla="*/ 2918 w 37"/>
                  <a:gd name="T3" fmla="*/ 0 h 34"/>
                  <a:gd name="T4" fmla="*/ 53975 w 37"/>
                  <a:gd name="T5" fmla="*/ 0 h 34"/>
                  <a:gd name="T6" fmla="*/ 0 60000 65536"/>
                  <a:gd name="T7" fmla="*/ 0 60000 65536"/>
                  <a:gd name="T8" fmla="*/ 0 60000 65536"/>
                  <a:gd name="T9" fmla="*/ 0 w 37"/>
                  <a:gd name="T10" fmla="*/ 0 h 34"/>
                  <a:gd name="T11" fmla="*/ 37 w 37"/>
                  <a:gd name="T12" fmla="*/ 34 h 3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7" h="34">
                    <a:moveTo>
                      <a:pt x="0" y="34"/>
                    </a:moveTo>
                    <a:lnTo>
                      <a:pt x="2" y="0"/>
                    </a:lnTo>
                    <a:lnTo>
                      <a:pt x="37" y="0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16" name="Freeform 116"/>
              <p:cNvSpPr>
                <a:spLocks/>
              </p:cNvSpPr>
              <p:nvPr/>
            </p:nvSpPr>
            <p:spPr bwMode="auto">
              <a:xfrm>
                <a:off x="6396992" y="3946446"/>
                <a:ext cx="418900" cy="195129"/>
              </a:xfrm>
              <a:custGeom>
                <a:avLst/>
                <a:gdLst>
                  <a:gd name="T0" fmla="*/ 0 w 253"/>
                  <a:gd name="T1" fmla="*/ 0 h 109"/>
                  <a:gd name="T2" fmla="*/ 2937 w 253"/>
                  <a:gd name="T3" fmla="*/ 173038 h 109"/>
                  <a:gd name="T4" fmla="*/ 317149 w 253"/>
                  <a:gd name="T5" fmla="*/ 173038 h 109"/>
                  <a:gd name="T6" fmla="*/ 317149 w 253"/>
                  <a:gd name="T7" fmla="*/ 57150 h 109"/>
                  <a:gd name="T8" fmla="*/ 371475 w 253"/>
                  <a:gd name="T9" fmla="*/ 57150 h 10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3"/>
                  <a:gd name="T16" fmla="*/ 0 h 109"/>
                  <a:gd name="T17" fmla="*/ 253 w 253"/>
                  <a:gd name="T18" fmla="*/ 109 h 10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3" h="109">
                    <a:moveTo>
                      <a:pt x="0" y="0"/>
                    </a:moveTo>
                    <a:lnTo>
                      <a:pt x="2" y="109"/>
                    </a:lnTo>
                    <a:lnTo>
                      <a:pt x="216" y="109"/>
                    </a:lnTo>
                    <a:lnTo>
                      <a:pt x="216" y="36"/>
                    </a:lnTo>
                    <a:lnTo>
                      <a:pt x="253" y="36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17" name="Freeform 117"/>
              <p:cNvSpPr>
                <a:spLocks/>
              </p:cNvSpPr>
              <p:nvPr/>
            </p:nvSpPr>
            <p:spPr bwMode="auto">
              <a:xfrm>
                <a:off x="5122391" y="3692242"/>
                <a:ext cx="89508" cy="513779"/>
              </a:xfrm>
              <a:custGeom>
                <a:avLst/>
                <a:gdLst>
                  <a:gd name="T0" fmla="*/ 76435 w 54"/>
                  <a:gd name="T1" fmla="*/ 454025 h 287"/>
                  <a:gd name="T2" fmla="*/ 79375 w 54"/>
                  <a:gd name="T3" fmla="*/ 0 h 287"/>
                  <a:gd name="T4" fmla="*/ 0 w 54"/>
                  <a:gd name="T5" fmla="*/ 0 h 287"/>
                  <a:gd name="T6" fmla="*/ 0 w 54"/>
                  <a:gd name="T7" fmla="*/ 455613 h 287"/>
                  <a:gd name="T8" fmla="*/ 79375 w 54"/>
                  <a:gd name="T9" fmla="*/ 455613 h 287"/>
                  <a:gd name="T10" fmla="*/ 79375 w 54"/>
                  <a:gd name="T11" fmla="*/ 455613 h 287"/>
                  <a:gd name="T12" fmla="*/ 76435 w 54"/>
                  <a:gd name="T13" fmla="*/ 454025 h 28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54"/>
                  <a:gd name="T22" fmla="*/ 0 h 287"/>
                  <a:gd name="T23" fmla="*/ 54 w 54"/>
                  <a:gd name="T24" fmla="*/ 287 h 28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54" h="287">
                    <a:moveTo>
                      <a:pt x="52" y="286"/>
                    </a:moveTo>
                    <a:lnTo>
                      <a:pt x="54" y="0"/>
                    </a:lnTo>
                    <a:lnTo>
                      <a:pt x="0" y="0"/>
                    </a:lnTo>
                    <a:lnTo>
                      <a:pt x="0" y="287"/>
                    </a:lnTo>
                    <a:lnTo>
                      <a:pt x="54" y="287"/>
                    </a:lnTo>
                    <a:lnTo>
                      <a:pt x="52" y="286"/>
                    </a:lnTo>
                    <a:close/>
                  </a:path>
                </a:pathLst>
              </a:custGeom>
              <a:solidFill>
                <a:srgbClr val="CCCC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18" name="Freeform 118"/>
              <p:cNvSpPr>
                <a:spLocks/>
              </p:cNvSpPr>
              <p:nvPr/>
            </p:nvSpPr>
            <p:spPr bwMode="auto">
              <a:xfrm>
                <a:off x="5122391" y="3692242"/>
                <a:ext cx="89508" cy="513779"/>
              </a:xfrm>
              <a:custGeom>
                <a:avLst/>
                <a:gdLst>
                  <a:gd name="T0" fmla="*/ 76435 w 54"/>
                  <a:gd name="T1" fmla="*/ 454025 h 287"/>
                  <a:gd name="T2" fmla="*/ 79375 w 54"/>
                  <a:gd name="T3" fmla="*/ 0 h 287"/>
                  <a:gd name="T4" fmla="*/ 0 w 54"/>
                  <a:gd name="T5" fmla="*/ 0 h 287"/>
                  <a:gd name="T6" fmla="*/ 0 w 54"/>
                  <a:gd name="T7" fmla="*/ 455613 h 287"/>
                  <a:gd name="T8" fmla="*/ 79375 w 54"/>
                  <a:gd name="T9" fmla="*/ 455613 h 287"/>
                  <a:gd name="T10" fmla="*/ 79375 w 54"/>
                  <a:gd name="T11" fmla="*/ 455613 h 28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54"/>
                  <a:gd name="T19" fmla="*/ 0 h 287"/>
                  <a:gd name="T20" fmla="*/ 54 w 54"/>
                  <a:gd name="T21" fmla="*/ 287 h 28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54" h="287">
                    <a:moveTo>
                      <a:pt x="52" y="286"/>
                    </a:moveTo>
                    <a:lnTo>
                      <a:pt x="54" y="0"/>
                    </a:lnTo>
                    <a:lnTo>
                      <a:pt x="0" y="0"/>
                    </a:lnTo>
                    <a:lnTo>
                      <a:pt x="0" y="287"/>
                    </a:lnTo>
                    <a:lnTo>
                      <a:pt x="54" y="287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19" name="Freeform 119"/>
              <p:cNvSpPr>
                <a:spLocks/>
              </p:cNvSpPr>
              <p:nvPr/>
            </p:nvSpPr>
            <p:spPr bwMode="auto">
              <a:xfrm>
                <a:off x="5686294" y="3692242"/>
                <a:ext cx="89508" cy="513779"/>
              </a:xfrm>
              <a:custGeom>
                <a:avLst/>
                <a:gdLst>
                  <a:gd name="T0" fmla="*/ 76435 w 54"/>
                  <a:gd name="T1" fmla="*/ 454025 h 287"/>
                  <a:gd name="T2" fmla="*/ 79375 w 54"/>
                  <a:gd name="T3" fmla="*/ 0 h 287"/>
                  <a:gd name="T4" fmla="*/ 0 w 54"/>
                  <a:gd name="T5" fmla="*/ 0 h 287"/>
                  <a:gd name="T6" fmla="*/ 0 w 54"/>
                  <a:gd name="T7" fmla="*/ 455613 h 287"/>
                  <a:gd name="T8" fmla="*/ 79375 w 54"/>
                  <a:gd name="T9" fmla="*/ 455613 h 287"/>
                  <a:gd name="T10" fmla="*/ 79375 w 54"/>
                  <a:gd name="T11" fmla="*/ 455613 h 287"/>
                  <a:gd name="T12" fmla="*/ 76435 w 54"/>
                  <a:gd name="T13" fmla="*/ 454025 h 28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54"/>
                  <a:gd name="T22" fmla="*/ 0 h 287"/>
                  <a:gd name="T23" fmla="*/ 54 w 54"/>
                  <a:gd name="T24" fmla="*/ 287 h 28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54" h="287">
                    <a:moveTo>
                      <a:pt x="52" y="286"/>
                    </a:moveTo>
                    <a:lnTo>
                      <a:pt x="54" y="0"/>
                    </a:lnTo>
                    <a:lnTo>
                      <a:pt x="0" y="0"/>
                    </a:lnTo>
                    <a:lnTo>
                      <a:pt x="0" y="287"/>
                    </a:lnTo>
                    <a:lnTo>
                      <a:pt x="54" y="287"/>
                    </a:lnTo>
                    <a:lnTo>
                      <a:pt x="52" y="286"/>
                    </a:lnTo>
                    <a:close/>
                  </a:path>
                </a:pathLst>
              </a:custGeom>
              <a:solidFill>
                <a:srgbClr val="CCCC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20" name="Freeform 120"/>
              <p:cNvSpPr>
                <a:spLocks/>
              </p:cNvSpPr>
              <p:nvPr/>
            </p:nvSpPr>
            <p:spPr bwMode="auto">
              <a:xfrm>
                <a:off x="5686294" y="3692242"/>
                <a:ext cx="89508" cy="513779"/>
              </a:xfrm>
              <a:custGeom>
                <a:avLst/>
                <a:gdLst>
                  <a:gd name="T0" fmla="*/ 76435 w 54"/>
                  <a:gd name="T1" fmla="*/ 454025 h 287"/>
                  <a:gd name="T2" fmla="*/ 79375 w 54"/>
                  <a:gd name="T3" fmla="*/ 0 h 287"/>
                  <a:gd name="T4" fmla="*/ 0 w 54"/>
                  <a:gd name="T5" fmla="*/ 0 h 287"/>
                  <a:gd name="T6" fmla="*/ 0 w 54"/>
                  <a:gd name="T7" fmla="*/ 455613 h 287"/>
                  <a:gd name="T8" fmla="*/ 79375 w 54"/>
                  <a:gd name="T9" fmla="*/ 455613 h 287"/>
                  <a:gd name="T10" fmla="*/ 79375 w 54"/>
                  <a:gd name="T11" fmla="*/ 455613 h 28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54"/>
                  <a:gd name="T19" fmla="*/ 0 h 287"/>
                  <a:gd name="T20" fmla="*/ 54 w 54"/>
                  <a:gd name="T21" fmla="*/ 287 h 28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54" h="287">
                    <a:moveTo>
                      <a:pt x="52" y="286"/>
                    </a:moveTo>
                    <a:lnTo>
                      <a:pt x="54" y="0"/>
                    </a:lnTo>
                    <a:lnTo>
                      <a:pt x="0" y="0"/>
                    </a:lnTo>
                    <a:lnTo>
                      <a:pt x="0" y="287"/>
                    </a:lnTo>
                    <a:lnTo>
                      <a:pt x="54" y="287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21" name="Freeform 121"/>
              <p:cNvSpPr>
                <a:spLocks/>
              </p:cNvSpPr>
              <p:nvPr/>
            </p:nvSpPr>
            <p:spPr bwMode="auto">
              <a:xfrm>
                <a:off x="6251988" y="3692242"/>
                <a:ext cx="87719" cy="513779"/>
              </a:xfrm>
              <a:custGeom>
                <a:avLst/>
                <a:gdLst>
                  <a:gd name="T0" fmla="*/ 77788 w 53"/>
                  <a:gd name="T1" fmla="*/ 454025 h 287"/>
                  <a:gd name="T2" fmla="*/ 77788 w 53"/>
                  <a:gd name="T3" fmla="*/ 0 h 287"/>
                  <a:gd name="T4" fmla="*/ 0 w 53"/>
                  <a:gd name="T5" fmla="*/ 0 h 287"/>
                  <a:gd name="T6" fmla="*/ 0 w 53"/>
                  <a:gd name="T7" fmla="*/ 455613 h 287"/>
                  <a:gd name="T8" fmla="*/ 77788 w 53"/>
                  <a:gd name="T9" fmla="*/ 455613 h 287"/>
                  <a:gd name="T10" fmla="*/ 77788 w 53"/>
                  <a:gd name="T11" fmla="*/ 455613 h 287"/>
                  <a:gd name="T12" fmla="*/ 77788 w 53"/>
                  <a:gd name="T13" fmla="*/ 454025 h 28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53"/>
                  <a:gd name="T22" fmla="*/ 0 h 287"/>
                  <a:gd name="T23" fmla="*/ 53 w 53"/>
                  <a:gd name="T24" fmla="*/ 287 h 28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53" h="287">
                    <a:moveTo>
                      <a:pt x="53" y="286"/>
                    </a:moveTo>
                    <a:lnTo>
                      <a:pt x="53" y="0"/>
                    </a:lnTo>
                    <a:lnTo>
                      <a:pt x="0" y="0"/>
                    </a:lnTo>
                    <a:lnTo>
                      <a:pt x="0" y="287"/>
                    </a:lnTo>
                    <a:lnTo>
                      <a:pt x="53" y="287"/>
                    </a:lnTo>
                    <a:lnTo>
                      <a:pt x="53" y="286"/>
                    </a:lnTo>
                    <a:close/>
                  </a:path>
                </a:pathLst>
              </a:custGeom>
              <a:solidFill>
                <a:srgbClr val="CCCC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22" name="Freeform 122"/>
              <p:cNvSpPr>
                <a:spLocks/>
              </p:cNvSpPr>
              <p:nvPr/>
            </p:nvSpPr>
            <p:spPr bwMode="auto">
              <a:xfrm>
                <a:off x="6815892" y="3692242"/>
                <a:ext cx="87718" cy="513779"/>
              </a:xfrm>
              <a:custGeom>
                <a:avLst/>
                <a:gdLst>
                  <a:gd name="T0" fmla="*/ 77787 w 53"/>
                  <a:gd name="T1" fmla="*/ 454025 h 287"/>
                  <a:gd name="T2" fmla="*/ 77787 w 53"/>
                  <a:gd name="T3" fmla="*/ 0 h 287"/>
                  <a:gd name="T4" fmla="*/ 0 w 53"/>
                  <a:gd name="T5" fmla="*/ 0 h 287"/>
                  <a:gd name="T6" fmla="*/ 0 w 53"/>
                  <a:gd name="T7" fmla="*/ 455613 h 287"/>
                  <a:gd name="T8" fmla="*/ 77787 w 53"/>
                  <a:gd name="T9" fmla="*/ 455613 h 287"/>
                  <a:gd name="T10" fmla="*/ 77787 w 53"/>
                  <a:gd name="T11" fmla="*/ 455613 h 287"/>
                  <a:gd name="T12" fmla="*/ 77787 w 53"/>
                  <a:gd name="T13" fmla="*/ 454025 h 28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53"/>
                  <a:gd name="T22" fmla="*/ 0 h 287"/>
                  <a:gd name="T23" fmla="*/ 53 w 53"/>
                  <a:gd name="T24" fmla="*/ 287 h 28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53" h="287">
                    <a:moveTo>
                      <a:pt x="53" y="286"/>
                    </a:moveTo>
                    <a:lnTo>
                      <a:pt x="53" y="0"/>
                    </a:lnTo>
                    <a:lnTo>
                      <a:pt x="0" y="0"/>
                    </a:lnTo>
                    <a:lnTo>
                      <a:pt x="0" y="287"/>
                    </a:lnTo>
                    <a:lnTo>
                      <a:pt x="53" y="287"/>
                    </a:lnTo>
                    <a:lnTo>
                      <a:pt x="53" y="286"/>
                    </a:lnTo>
                    <a:close/>
                  </a:path>
                </a:pathLst>
              </a:custGeom>
              <a:solidFill>
                <a:srgbClr val="CCCC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23" name="Freeform 123"/>
              <p:cNvSpPr>
                <a:spLocks/>
              </p:cNvSpPr>
              <p:nvPr/>
            </p:nvSpPr>
            <p:spPr bwMode="auto">
              <a:xfrm>
                <a:off x="6815892" y="3692242"/>
                <a:ext cx="87718" cy="513779"/>
              </a:xfrm>
              <a:custGeom>
                <a:avLst/>
                <a:gdLst>
                  <a:gd name="T0" fmla="*/ 77787 w 53"/>
                  <a:gd name="T1" fmla="*/ 454025 h 287"/>
                  <a:gd name="T2" fmla="*/ 77787 w 53"/>
                  <a:gd name="T3" fmla="*/ 0 h 287"/>
                  <a:gd name="T4" fmla="*/ 0 w 53"/>
                  <a:gd name="T5" fmla="*/ 0 h 287"/>
                  <a:gd name="T6" fmla="*/ 0 w 53"/>
                  <a:gd name="T7" fmla="*/ 455613 h 287"/>
                  <a:gd name="T8" fmla="*/ 77787 w 53"/>
                  <a:gd name="T9" fmla="*/ 455613 h 287"/>
                  <a:gd name="T10" fmla="*/ 77787 w 53"/>
                  <a:gd name="T11" fmla="*/ 455613 h 28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53"/>
                  <a:gd name="T19" fmla="*/ 0 h 287"/>
                  <a:gd name="T20" fmla="*/ 53 w 53"/>
                  <a:gd name="T21" fmla="*/ 287 h 28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53" h="287">
                    <a:moveTo>
                      <a:pt x="53" y="286"/>
                    </a:moveTo>
                    <a:lnTo>
                      <a:pt x="53" y="0"/>
                    </a:lnTo>
                    <a:lnTo>
                      <a:pt x="0" y="0"/>
                    </a:lnTo>
                    <a:lnTo>
                      <a:pt x="0" y="287"/>
                    </a:lnTo>
                    <a:lnTo>
                      <a:pt x="53" y="287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24" name="Freeform 124"/>
              <p:cNvSpPr>
                <a:spLocks/>
              </p:cNvSpPr>
              <p:nvPr/>
            </p:nvSpPr>
            <p:spPr bwMode="auto">
              <a:xfrm>
                <a:off x="7587454" y="4399360"/>
                <a:ext cx="118151" cy="255994"/>
              </a:xfrm>
              <a:custGeom>
                <a:avLst/>
                <a:gdLst>
                  <a:gd name="T0" fmla="*/ 104775 w 71"/>
                  <a:gd name="T1" fmla="*/ 223837 h 143"/>
                  <a:gd name="T2" fmla="*/ 0 w 71"/>
                  <a:gd name="T3" fmla="*/ 227012 h 143"/>
                  <a:gd name="T4" fmla="*/ 0 w 71"/>
                  <a:gd name="T5" fmla="*/ 0 h 143"/>
                  <a:gd name="T6" fmla="*/ 104775 w 71"/>
                  <a:gd name="T7" fmla="*/ 0 h 143"/>
                  <a:gd name="T8" fmla="*/ 104775 w 71"/>
                  <a:gd name="T9" fmla="*/ 223837 h 14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1"/>
                  <a:gd name="T16" fmla="*/ 0 h 143"/>
                  <a:gd name="T17" fmla="*/ 71 w 71"/>
                  <a:gd name="T18" fmla="*/ 143 h 14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1" h="143">
                    <a:moveTo>
                      <a:pt x="71" y="141"/>
                    </a:moveTo>
                    <a:lnTo>
                      <a:pt x="0" y="143"/>
                    </a:lnTo>
                    <a:lnTo>
                      <a:pt x="0" y="0"/>
                    </a:lnTo>
                    <a:lnTo>
                      <a:pt x="71" y="0"/>
                    </a:lnTo>
                    <a:lnTo>
                      <a:pt x="71" y="141"/>
                    </a:lnTo>
                    <a:close/>
                  </a:path>
                </a:pathLst>
              </a:custGeom>
              <a:solidFill>
                <a:srgbClr val="CCCC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25" name="Freeform 125"/>
              <p:cNvSpPr>
                <a:spLocks/>
              </p:cNvSpPr>
              <p:nvPr/>
            </p:nvSpPr>
            <p:spPr bwMode="auto">
              <a:xfrm>
                <a:off x="7587454" y="4399360"/>
                <a:ext cx="118151" cy="255994"/>
              </a:xfrm>
              <a:custGeom>
                <a:avLst/>
                <a:gdLst>
                  <a:gd name="T0" fmla="*/ 104775 w 71"/>
                  <a:gd name="T1" fmla="*/ 223837 h 143"/>
                  <a:gd name="T2" fmla="*/ 0 w 71"/>
                  <a:gd name="T3" fmla="*/ 227012 h 143"/>
                  <a:gd name="T4" fmla="*/ 0 w 71"/>
                  <a:gd name="T5" fmla="*/ 0 h 143"/>
                  <a:gd name="T6" fmla="*/ 104775 w 71"/>
                  <a:gd name="T7" fmla="*/ 0 h 14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1"/>
                  <a:gd name="T13" fmla="*/ 0 h 143"/>
                  <a:gd name="T14" fmla="*/ 71 w 71"/>
                  <a:gd name="T15" fmla="*/ 143 h 14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1" h="143">
                    <a:moveTo>
                      <a:pt x="71" y="141"/>
                    </a:moveTo>
                    <a:lnTo>
                      <a:pt x="0" y="143"/>
                    </a:lnTo>
                    <a:lnTo>
                      <a:pt x="0" y="0"/>
                    </a:lnTo>
                    <a:lnTo>
                      <a:pt x="71" y="0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26" name="Line 126"/>
              <p:cNvSpPr>
                <a:spLocks noChangeShapeType="1"/>
              </p:cNvSpPr>
              <p:nvPr/>
            </p:nvSpPr>
            <p:spPr bwMode="auto">
              <a:xfrm flipV="1">
                <a:off x="7821967" y="4392199"/>
                <a:ext cx="3580" cy="26673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27" name="Line 127"/>
              <p:cNvSpPr>
                <a:spLocks noChangeShapeType="1"/>
              </p:cNvSpPr>
              <p:nvPr/>
            </p:nvSpPr>
            <p:spPr bwMode="auto">
              <a:xfrm flipH="1">
                <a:off x="7702025" y="4395779"/>
                <a:ext cx="119942" cy="358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28" name="Line 128"/>
              <p:cNvSpPr>
                <a:spLocks noChangeShapeType="1"/>
              </p:cNvSpPr>
              <p:nvPr/>
            </p:nvSpPr>
            <p:spPr bwMode="auto">
              <a:xfrm flipH="1">
                <a:off x="7702025" y="4651773"/>
                <a:ext cx="119942" cy="358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29" name="Freeform 129"/>
              <p:cNvSpPr>
                <a:spLocks/>
              </p:cNvSpPr>
              <p:nvPr/>
            </p:nvSpPr>
            <p:spPr bwMode="auto">
              <a:xfrm>
                <a:off x="5446411" y="4399360"/>
                <a:ext cx="121732" cy="255994"/>
              </a:xfrm>
              <a:custGeom>
                <a:avLst/>
                <a:gdLst>
                  <a:gd name="T0" fmla="*/ 0 w 73"/>
                  <a:gd name="T1" fmla="*/ 223837 h 143"/>
                  <a:gd name="T2" fmla="*/ 107950 w 73"/>
                  <a:gd name="T3" fmla="*/ 227012 h 143"/>
                  <a:gd name="T4" fmla="*/ 107950 w 73"/>
                  <a:gd name="T5" fmla="*/ 0 h 143"/>
                  <a:gd name="T6" fmla="*/ 2958 w 73"/>
                  <a:gd name="T7" fmla="*/ 0 h 143"/>
                  <a:gd name="T8" fmla="*/ 0 w 73"/>
                  <a:gd name="T9" fmla="*/ 223837 h 14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3"/>
                  <a:gd name="T16" fmla="*/ 0 h 143"/>
                  <a:gd name="T17" fmla="*/ 73 w 73"/>
                  <a:gd name="T18" fmla="*/ 143 h 14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3" h="143">
                    <a:moveTo>
                      <a:pt x="0" y="141"/>
                    </a:moveTo>
                    <a:lnTo>
                      <a:pt x="73" y="143"/>
                    </a:lnTo>
                    <a:lnTo>
                      <a:pt x="73" y="0"/>
                    </a:lnTo>
                    <a:lnTo>
                      <a:pt x="2" y="0"/>
                    </a:lnTo>
                    <a:lnTo>
                      <a:pt x="0" y="141"/>
                    </a:lnTo>
                    <a:close/>
                  </a:path>
                </a:pathLst>
              </a:custGeom>
              <a:solidFill>
                <a:srgbClr val="CCCC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30" name="Freeform 130"/>
              <p:cNvSpPr>
                <a:spLocks/>
              </p:cNvSpPr>
              <p:nvPr/>
            </p:nvSpPr>
            <p:spPr bwMode="auto">
              <a:xfrm>
                <a:off x="5446411" y="4399360"/>
                <a:ext cx="121732" cy="255994"/>
              </a:xfrm>
              <a:custGeom>
                <a:avLst/>
                <a:gdLst>
                  <a:gd name="T0" fmla="*/ 0 w 73"/>
                  <a:gd name="T1" fmla="*/ 223837 h 143"/>
                  <a:gd name="T2" fmla="*/ 107950 w 73"/>
                  <a:gd name="T3" fmla="*/ 227012 h 143"/>
                  <a:gd name="T4" fmla="*/ 107950 w 73"/>
                  <a:gd name="T5" fmla="*/ 0 h 143"/>
                  <a:gd name="T6" fmla="*/ 2958 w 73"/>
                  <a:gd name="T7" fmla="*/ 0 h 14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3"/>
                  <a:gd name="T13" fmla="*/ 0 h 143"/>
                  <a:gd name="T14" fmla="*/ 73 w 73"/>
                  <a:gd name="T15" fmla="*/ 143 h 14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3" h="143">
                    <a:moveTo>
                      <a:pt x="0" y="141"/>
                    </a:moveTo>
                    <a:lnTo>
                      <a:pt x="73" y="143"/>
                    </a:lnTo>
                    <a:lnTo>
                      <a:pt x="73" y="0"/>
                    </a:lnTo>
                    <a:lnTo>
                      <a:pt x="2" y="0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31" name="Freeform 131"/>
              <p:cNvSpPr>
                <a:spLocks/>
              </p:cNvSpPr>
              <p:nvPr/>
            </p:nvSpPr>
            <p:spPr bwMode="auto">
              <a:xfrm>
                <a:off x="5330051" y="4395779"/>
                <a:ext cx="119941" cy="259574"/>
              </a:xfrm>
              <a:custGeom>
                <a:avLst/>
                <a:gdLst>
                  <a:gd name="T0" fmla="*/ 103448 w 73"/>
                  <a:gd name="T1" fmla="*/ 0 h 145"/>
                  <a:gd name="T2" fmla="*/ 0 w 73"/>
                  <a:gd name="T3" fmla="*/ 3175 h 145"/>
                  <a:gd name="T4" fmla="*/ 0 w 73"/>
                  <a:gd name="T5" fmla="*/ 230187 h 145"/>
                  <a:gd name="T6" fmla="*/ 106362 w 73"/>
                  <a:gd name="T7" fmla="*/ 230187 h 14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3"/>
                  <a:gd name="T13" fmla="*/ 0 h 145"/>
                  <a:gd name="T14" fmla="*/ 73 w 73"/>
                  <a:gd name="T15" fmla="*/ 145 h 14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3" h="145">
                    <a:moveTo>
                      <a:pt x="71" y="0"/>
                    </a:moveTo>
                    <a:lnTo>
                      <a:pt x="0" y="2"/>
                    </a:lnTo>
                    <a:lnTo>
                      <a:pt x="0" y="145"/>
                    </a:lnTo>
                    <a:lnTo>
                      <a:pt x="73" y="145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32" name="Rectangle 132"/>
              <p:cNvSpPr>
                <a:spLocks noChangeArrowheads="1"/>
              </p:cNvSpPr>
              <p:nvPr/>
            </p:nvSpPr>
            <p:spPr bwMode="auto">
              <a:xfrm>
                <a:off x="5389126" y="4451274"/>
                <a:ext cx="25648" cy="1231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I</a:t>
                </a:r>
                <a:endParaRPr lang="en-US" sz="1200" b="1">
                  <a:latin typeface="+mj-lt"/>
                </a:endParaRPr>
              </a:p>
            </p:txBody>
          </p:sp>
          <p:sp>
            <p:nvSpPr>
              <p:cNvPr id="133" name="Rectangle 133"/>
              <p:cNvSpPr>
                <a:spLocks noChangeArrowheads="1"/>
              </p:cNvSpPr>
              <p:nvPr/>
            </p:nvSpPr>
            <p:spPr bwMode="auto">
              <a:xfrm>
                <a:off x="5421349" y="4451274"/>
                <a:ext cx="88166" cy="1231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M</a:t>
                </a:r>
                <a:endParaRPr lang="en-US" sz="1200" b="1">
                  <a:latin typeface="+mj-lt"/>
                </a:endParaRPr>
              </a:p>
            </p:txBody>
          </p:sp>
          <p:sp>
            <p:nvSpPr>
              <p:cNvPr id="134" name="Freeform 134"/>
              <p:cNvSpPr>
                <a:spLocks/>
              </p:cNvSpPr>
              <p:nvPr/>
            </p:nvSpPr>
            <p:spPr bwMode="auto">
              <a:xfrm>
                <a:off x="6010315" y="4399360"/>
                <a:ext cx="121732" cy="255994"/>
              </a:xfrm>
              <a:custGeom>
                <a:avLst/>
                <a:gdLst>
                  <a:gd name="T0" fmla="*/ 0 w 73"/>
                  <a:gd name="T1" fmla="*/ 223837 h 143"/>
                  <a:gd name="T2" fmla="*/ 107950 w 73"/>
                  <a:gd name="T3" fmla="*/ 227012 h 143"/>
                  <a:gd name="T4" fmla="*/ 107950 w 73"/>
                  <a:gd name="T5" fmla="*/ 0 h 143"/>
                  <a:gd name="T6" fmla="*/ 2958 w 73"/>
                  <a:gd name="T7" fmla="*/ 0 h 143"/>
                  <a:gd name="T8" fmla="*/ 0 w 73"/>
                  <a:gd name="T9" fmla="*/ 223837 h 14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3"/>
                  <a:gd name="T16" fmla="*/ 0 h 143"/>
                  <a:gd name="T17" fmla="*/ 73 w 73"/>
                  <a:gd name="T18" fmla="*/ 143 h 14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3" h="143">
                    <a:moveTo>
                      <a:pt x="0" y="141"/>
                    </a:moveTo>
                    <a:lnTo>
                      <a:pt x="73" y="143"/>
                    </a:lnTo>
                    <a:lnTo>
                      <a:pt x="73" y="0"/>
                    </a:lnTo>
                    <a:lnTo>
                      <a:pt x="2" y="0"/>
                    </a:lnTo>
                    <a:lnTo>
                      <a:pt x="0" y="141"/>
                    </a:lnTo>
                    <a:close/>
                  </a:path>
                </a:pathLst>
              </a:custGeom>
              <a:solidFill>
                <a:srgbClr val="FBE2C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35" name="Freeform 135"/>
              <p:cNvSpPr>
                <a:spLocks/>
              </p:cNvSpPr>
              <p:nvPr/>
            </p:nvSpPr>
            <p:spPr bwMode="auto">
              <a:xfrm>
                <a:off x="6010315" y="4399360"/>
                <a:ext cx="121732" cy="255994"/>
              </a:xfrm>
              <a:custGeom>
                <a:avLst/>
                <a:gdLst>
                  <a:gd name="T0" fmla="*/ 0 w 73"/>
                  <a:gd name="T1" fmla="*/ 223837 h 143"/>
                  <a:gd name="T2" fmla="*/ 107950 w 73"/>
                  <a:gd name="T3" fmla="*/ 227012 h 143"/>
                  <a:gd name="T4" fmla="*/ 107950 w 73"/>
                  <a:gd name="T5" fmla="*/ 0 h 143"/>
                  <a:gd name="T6" fmla="*/ 2958 w 73"/>
                  <a:gd name="T7" fmla="*/ 0 h 14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3"/>
                  <a:gd name="T13" fmla="*/ 0 h 143"/>
                  <a:gd name="T14" fmla="*/ 73 w 73"/>
                  <a:gd name="T15" fmla="*/ 143 h 14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3" h="143">
                    <a:moveTo>
                      <a:pt x="0" y="141"/>
                    </a:moveTo>
                    <a:lnTo>
                      <a:pt x="73" y="143"/>
                    </a:lnTo>
                    <a:lnTo>
                      <a:pt x="73" y="0"/>
                    </a:lnTo>
                    <a:lnTo>
                      <a:pt x="2" y="0"/>
                    </a:lnTo>
                  </a:path>
                </a:pathLst>
              </a:custGeom>
              <a:noFill/>
              <a:ln w="9525">
                <a:solidFill>
                  <a:srgbClr val="EB75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36" name="Line 136"/>
              <p:cNvSpPr>
                <a:spLocks noChangeShapeType="1"/>
              </p:cNvSpPr>
              <p:nvPr/>
            </p:nvSpPr>
            <p:spPr bwMode="auto">
              <a:xfrm flipV="1">
                <a:off x="5893954" y="4392199"/>
                <a:ext cx="1791" cy="26673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37" name="Line 137"/>
              <p:cNvSpPr>
                <a:spLocks noChangeShapeType="1"/>
              </p:cNvSpPr>
              <p:nvPr/>
            </p:nvSpPr>
            <p:spPr bwMode="auto">
              <a:xfrm>
                <a:off x="5893954" y="4395779"/>
                <a:ext cx="119942" cy="358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38" name="Line 138"/>
              <p:cNvSpPr>
                <a:spLocks noChangeShapeType="1"/>
              </p:cNvSpPr>
              <p:nvPr/>
            </p:nvSpPr>
            <p:spPr bwMode="auto">
              <a:xfrm>
                <a:off x="5893954" y="4651773"/>
                <a:ext cx="119942" cy="358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39" name="Freeform 139"/>
              <p:cNvSpPr>
                <a:spLocks/>
              </p:cNvSpPr>
              <p:nvPr/>
            </p:nvSpPr>
            <p:spPr bwMode="auto">
              <a:xfrm>
                <a:off x="6484710" y="4268677"/>
                <a:ext cx="182597" cy="513779"/>
              </a:xfrm>
              <a:custGeom>
                <a:avLst/>
                <a:gdLst>
                  <a:gd name="T0" fmla="*/ 0 w 110"/>
                  <a:gd name="T1" fmla="*/ 0 h 287"/>
                  <a:gd name="T2" fmla="*/ 2944 w 110"/>
                  <a:gd name="T3" fmla="*/ 185738 h 287"/>
                  <a:gd name="T4" fmla="*/ 54466 w 110"/>
                  <a:gd name="T5" fmla="*/ 227013 h 287"/>
                  <a:gd name="T6" fmla="*/ 2944 w 110"/>
                  <a:gd name="T7" fmla="*/ 269875 h 287"/>
                  <a:gd name="T8" fmla="*/ 2944 w 110"/>
                  <a:gd name="T9" fmla="*/ 455613 h 287"/>
                  <a:gd name="T10" fmla="*/ 161925 w 110"/>
                  <a:gd name="T11" fmla="*/ 315913 h 287"/>
                  <a:gd name="T12" fmla="*/ 161925 w 110"/>
                  <a:gd name="T13" fmla="*/ 139700 h 287"/>
                  <a:gd name="T14" fmla="*/ 2944 w 110"/>
                  <a:gd name="T15" fmla="*/ 3175 h 287"/>
                  <a:gd name="T16" fmla="*/ 2944 w 110"/>
                  <a:gd name="T17" fmla="*/ 3175 h 287"/>
                  <a:gd name="T18" fmla="*/ 0 w 110"/>
                  <a:gd name="T19" fmla="*/ 0 h 287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10"/>
                  <a:gd name="T31" fmla="*/ 0 h 287"/>
                  <a:gd name="T32" fmla="*/ 110 w 110"/>
                  <a:gd name="T33" fmla="*/ 287 h 287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10" h="287">
                    <a:moveTo>
                      <a:pt x="0" y="0"/>
                    </a:moveTo>
                    <a:lnTo>
                      <a:pt x="2" y="117"/>
                    </a:lnTo>
                    <a:lnTo>
                      <a:pt x="37" y="143"/>
                    </a:lnTo>
                    <a:lnTo>
                      <a:pt x="2" y="170"/>
                    </a:lnTo>
                    <a:lnTo>
                      <a:pt x="2" y="287"/>
                    </a:lnTo>
                    <a:lnTo>
                      <a:pt x="110" y="199"/>
                    </a:lnTo>
                    <a:lnTo>
                      <a:pt x="110" y="88"/>
                    </a:lnTo>
                    <a:lnTo>
                      <a:pt x="2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CCC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40" name="Freeform 140"/>
              <p:cNvSpPr>
                <a:spLocks/>
              </p:cNvSpPr>
              <p:nvPr/>
            </p:nvSpPr>
            <p:spPr bwMode="auto">
              <a:xfrm>
                <a:off x="6484710" y="4268677"/>
                <a:ext cx="182597" cy="513779"/>
              </a:xfrm>
              <a:custGeom>
                <a:avLst/>
                <a:gdLst>
                  <a:gd name="T0" fmla="*/ 0 w 110"/>
                  <a:gd name="T1" fmla="*/ 0 h 287"/>
                  <a:gd name="T2" fmla="*/ 2944 w 110"/>
                  <a:gd name="T3" fmla="*/ 185738 h 287"/>
                  <a:gd name="T4" fmla="*/ 54466 w 110"/>
                  <a:gd name="T5" fmla="*/ 227013 h 287"/>
                  <a:gd name="T6" fmla="*/ 2944 w 110"/>
                  <a:gd name="T7" fmla="*/ 269875 h 287"/>
                  <a:gd name="T8" fmla="*/ 2944 w 110"/>
                  <a:gd name="T9" fmla="*/ 455613 h 287"/>
                  <a:gd name="T10" fmla="*/ 161925 w 110"/>
                  <a:gd name="T11" fmla="*/ 315913 h 287"/>
                  <a:gd name="T12" fmla="*/ 161925 w 110"/>
                  <a:gd name="T13" fmla="*/ 139700 h 287"/>
                  <a:gd name="T14" fmla="*/ 2944 w 110"/>
                  <a:gd name="T15" fmla="*/ 3175 h 287"/>
                  <a:gd name="T16" fmla="*/ 2944 w 110"/>
                  <a:gd name="T17" fmla="*/ 3175 h 287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10"/>
                  <a:gd name="T28" fmla="*/ 0 h 287"/>
                  <a:gd name="T29" fmla="*/ 110 w 110"/>
                  <a:gd name="T30" fmla="*/ 287 h 287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10" h="287">
                    <a:moveTo>
                      <a:pt x="0" y="0"/>
                    </a:moveTo>
                    <a:lnTo>
                      <a:pt x="2" y="117"/>
                    </a:lnTo>
                    <a:lnTo>
                      <a:pt x="37" y="143"/>
                    </a:lnTo>
                    <a:lnTo>
                      <a:pt x="2" y="170"/>
                    </a:lnTo>
                    <a:lnTo>
                      <a:pt x="2" y="287"/>
                    </a:lnTo>
                    <a:lnTo>
                      <a:pt x="110" y="199"/>
                    </a:lnTo>
                    <a:lnTo>
                      <a:pt x="110" y="88"/>
                    </a:lnTo>
                    <a:lnTo>
                      <a:pt x="2" y="2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41" name="Rectangle 141"/>
              <p:cNvSpPr>
                <a:spLocks noChangeArrowheads="1"/>
              </p:cNvSpPr>
              <p:nvPr/>
            </p:nvSpPr>
            <p:spPr bwMode="auto">
              <a:xfrm>
                <a:off x="7062935" y="4451274"/>
                <a:ext cx="62518" cy="1231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D</a:t>
                </a:r>
                <a:endParaRPr lang="en-US" sz="1200" b="1">
                  <a:latin typeface="+mj-lt"/>
                </a:endParaRPr>
              </a:p>
            </p:txBody>
          </p:sp>
          <p:sp>
            <p:nvSpPr>
              <p:cNvPr id="142" name="Rectangle 142"/>
              <p:cNvSpPr>
                <a:spLocks noChangeArrowheads="1"/>
              </p:cNvSpPr>
              <p:nvPr/>
            </p:nvSpPr>
            <p:spPr bwMode="auto">
              <a:xfrm>
                <a:off x="7138122" y="4451274"/>
                <a:ext cx="88166" cy="1231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M</a:t>
                </a:r>
                <a:endParaRPr lang="en-US" sz="1200" b="1">
                  <a:latin typeface="+mj-lt"/>
                </a:endParaRPr>
              </a:p>
            </p:txBody>
          </p:sp>
          <p:sp>
            <p:nvSpPr>
              <p:cNvPr id="143" name="Rectangle 143"/>
              <p:cNvSpPr>
                <a:spLocks noChangeArrowheads="1"/>
              </p:cNvSpPr>
              <p:nvPr/>
            </p:nvSpPr>
            <p:spPr bwMode="auto">
              <a:xfrm>
                <a:off x="7617887" y="4451274"/>
                <a:ext cx="56106" cy="1231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R</a:t>
                </a:r>
                <a:endParaRPr lang="en-US" sz="1200" b="1">
                  <a:latin typeface="+mj-lt"/>
                </a:endParaRPr>
              </a:p>
            </p:txBody>
          </p:sp>
          <p:sp>
            <p:nvSpPr>
              <p:cNvPr id="144" name="Rectangle 144"/>
              <p:cNvSpPr>
                <a:spLocks noChangeArrowheads="1"/>
              </p:cNvSpPr>
              <p:nvPr/>
            </p:nvSpPr>
            <p:spPr bwMode="auto">
              <a:xfrm>
                <a:off x="7693075" y="4451274"/>
                <a:ext cx="51296" cy="1231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e</a:t>
                </a:r>
                <a:endParaRPr lang="en-US" sz="1200" b="1">
                  <a:latin typeface="+mj-lt"/>
                </a:endParaRPr>
              </a:p>
            </p:txBody>
          </p:sp>
          <p:sp>
            <p:nvSpPr>
              <p:cNvPr id="145" name="Rectangle 145"/>
              <p:cNvSpPr>
                <a:spLocks noChangeArrowheads="1"/>
              </p:cNvSpPr>
              <p:nvPr/>
            </p:nvSpPr>
            <p:spPr bwMode="auto">
              <a:xfrm>
                <a:off x="7752150" y="4451274"/>
                <a:ext cx="48090" cy="1231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g</a:t>
                </a:r>
                <a:endParaRPr lang="en-US" sz="1200" b="1">
                  <a:latin typeface="+mj-lt"/>
                </a:endParaRPr>
              </a:p>
            </p:txBody>
          </p:sp>
          <p:sp>
            <p:nvSpPr>
              <p:cNvPr id="146" name="Line 146"/>
              <p:cNvSpPr>
                <a:spLocks noChangeShapeType="1"/>
              </p:cNvSpPr>
              <p:nvPr/>
            </p:nvSpPr>
            <p:spPr bwMode="auto">
              <a:xfrm>
                <a:off x="5568143" y="4524672"/>
                <a:ext cx="325811" cy="179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47" name="Line 147"/>
              <p:cNvSpPr>
                <a:spLocks noChangeShapeType="1"/>
              </p:cNvSpPr>
              <p:nvPr/>
            </p:nvSpPr>
            <p:spPr bwMode="auto">
              <a:xfrm>
                <a:off x="6667307" y="4524672"/>
                <a:ext cx="356244" cy="179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48" name="Line 148"/>
              <p:cNvSpPr>
                <a:spLocks noChangeShapeType="1"/>
              </p:cNvSpPr>
              <p:nvPr/>
            </p:nvSpPr>
            <p:spPr bwMode="auto">
              <a:xfrm>
                <a:off x="7258063" y="4524672"/>
                <a:ext cx="329391" cy="179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49" name="Freeform 149"/>
              <p:cNvSpPr>
                <a:spLocks/>
              </p:cNvSpPr>
              <p:nvPr/>
            </p:nvSpPr>
            <p:spPr bwMode="auto">
              <a:xfrm>
                <a:off x="5833088" y="4463806"/>
                <a:ext cx="60866" cy="60866"/>
              </a:xfrm>
              <a:custGeom>
                <a:avLst/>
                <a:gdLst>
                  <a:gd name="T0" fmla="*/ 0 w 36"/>
                  <a:gd name="T1" fmla="*/ 53975 h 34"/>
                  <a:gd name="T2" fmla="*/ 1499 w 36"/>
                  <a:gd name="T3" fmla="*/ 0 h 34"/>
                  <a:gd name="T4" fmla="*/ 53975 w 36"/>
                  <a:gd name="T5" fmla="*/ 0 h 34"/>
                  <a:gd name="T6" fmla="*/ 0 60000 65536"/>
                  <a:gd name="T7" fmla="*/ 0 60000 65536"/>
                  <a:gd name="T8" fmla="*/ 0 60000 65536"/>
                  <a:gd name="T9" fmla="*/ 0 w 36"/>
                  <a:gd name="T10" fmla="*/ 0 h 34"/>
                  <a:gd name="T11" fmla="*/ 36 w 36"/>
                  <a:gd name="T12" fmla="*/ 34 h 3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6" h="34">
                    <a:moveTo>
                      <a:pt x="0" y="34"/>
                    </a:moveTo>
                    <a:lnTo>
                      <a:pt x="1" y="0"/>
                    </a:lnTo>
                    <a:lnTo>
                      <a:pt x="36" y="0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50" name="Freeform 150"/>
              <p:cNvSpPr>
                <a:spLocks/>
              </p:cNvSpPr>
              <p:nvPr/>
            </p:nvSpPr>
            <p:spPr bwMode="auto">
              <a:xfrm>
                <a:off x="6960895" y="4524672"/>
                <a:ext cx="418900" cy="196919"/>
              </a:xfrm>
              <a:custGeom>
                <a:avLst/>
                <a:gdLst>
                  <a:gd name="T0" fmla="*/ 0 w 253"/>
                  <a:gd name="T1" fmla="*/ 0 h 110"/>
                  <a:gd name="T2" fmla="*/ 2937 w 253"/>
                  <a:gd name="T3" fmla="*/ 174625 h 110"/>
                  <a:gd name="T4" fmla="*/ 318617 w 253"/>
                  <a:gd name="T5" fmla="*/ 174625 h 110"/>
                  <a:gd name="T6" fmla="*/ 318617 w 253"/>
                  <a:gd name="T7" fmla="*/ 58738 h 110"/>
                  <a:gd name="T8" fmla="*/ 371475 w 253"/>
                  <a:gd name="T9" fmla="*/ 58738 h 1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3"/>
                  <a:gd name="T16" fmla="*/ 0 h 110"/>
                  <a:gd name="T17" fmla="*/ 253 w 253"/>
                  <a:gd name="T18" fmla="*/ 110 h 11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3" h="110">
                    <a:moveTo>
                      <a:pt x="0" y="0"/>
                    </a:moveTo>
                    <a:lnTo>
                      <a:pt x="2" y="110"/>
                    </a:lnTo>
                    <a:lnTo>
                      <a:pt x="217" y="110"/>
                    </a:lnTo>
                    <a:lnTo>
                      <a:pt x="217" y="37"/>
                    </a:lnTo>
                    <a:lnTo>
                      <a:pt x="253" y="37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51" name="Freeform 151"/>
              <p:cNvSpPr>
                <a:spLocks/>
              </p:cNvSpPr>
              <p:nvPr/>
            </p:nvSpPr>
            <p:spPr bwMode="auto">
              <a:xfrm>
                <a:off x="5686294" y="4268677"/>
                <a:ext cx="89508" cy="513779"/>
              </a:xfrm>
              <a:custGeom>
                <a:avLst/>
                <a:gdLst>
                  <a:gd name="T0" fmla="*/ 76435 w 54"/>
                  <a:gd name="T1" fmla="*/ 455613 h 287"/>
                  <a:gd name="T2" fmla="*/ 79375 w 54"/>
                  <a:gd name="T3" fmla="*/ 0 h 287"/>
                  <a:gd name="T4" fmla="*/ 0 w 54"/>
                  <a:gd name="T5" fmla="*/ 0 h 287"/>
                  <a:gd name="T6" fmla="*/ 0 w 54"/>
                  <a:gd name="T7" fmla="*/ 455613 h 287"/>
                  <a:gd name="T8" fmla="*/ 79375 w 54"/>
                  <a:gd name="T9" fmla="*/ 455613 h 287"/>
                  <a:gd name="T10" fmla="*/ 79375 w 54"/>
                  <a:gd name="T11" fmla="*/ 455613 h 287"/>
                  <a:gd name="T12" fmla="*/ 76435 w 54"/>
                  <a:gd name="T13" fmla="*/ 455613 h 28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54"/>
                  <a:gd name="T22" fmla="*/ 0 h 287"/>
                  <a:gd name="T23" fmla="*/ 54 w 54"/>
                  <a:gd name="T24" fmla="*/ 287 h 28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54" h="287">
                    <a:moveTo>
                      <a:pt x="52" y="287"/>
                    </a:moveTo>
                    <a:lnTo>
                      <a:pt x="54" y="0"/>
                    </a:lnTo>
                    <a:lnTo>
                      <a:pt x="0" y="0"/>
                    </a:lnTo>
                    <a:lnTo>
                      <a:pt x="0" y="287"/>
                    </a:lnTo>
                    <a:lnTo>
                      <a:pt x="54" y="287"/>
                    </a:lnTo>
                    <a:lnTo>
                      <a:pt x="52" y="287"/>
                    </a:lnTo>
                    <a:close/>
                  </a:path>
                </a:pathLst>
              </a:custGeom>
              <a:solidFill>
                <a:srgbClr val="CCCC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52" name="Freeform 152"/>
              <p:cNvSpPr>
                <a:spLocks/>
              </p:cNvSpPr>
              <p:nvPr/>
            </p:nvSpPr>
            <p:spPr bwMode="auto">
              <a:xfrm>
                <a:off x="5686294" y="4268677"/>
                <a:ext cx="89508" cy="513779"/>
              </a:xfrm>
              <a:custGeom>
                <a:avLst/>
                <a:gdLst>
                  <a:gd name="T0" fmla="*/ 76435 w 54"/>
                  <a:gd name="T1" fmla="*/ 455613 h 287"/>
                  <a:gd name="T2" fmla="*/ 79375 w 54"/>
                  <a:gd name="T3" fmla="*/ 0 h 287"/>
                  <a:gd name="T4" fmla="*/ 0 w 54"/>
                  <a:gd name="T5" fmla="*/ 0 h 287"/>
                  <a:gd name="T6" fmla="*/ 0 w 54"/>
                  <a:gd name="T7" fmla="*/ 455613 h 287"/>
                  <a:gd name="T8" fmla="*/ 79375 w 54"/>
                  <a:gd name="T9" fmla="*/ 455613 h 287"/>
                  <a:gd name="T10" fmla="*/ 79375 w 54"/>
                  <a:gd name="T11" fmla="*/ 455613 h 28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54"/>
                  <a:gd name="T19" fmla="*/ 0 h 287"/>
                  <a:gd name="T20" fmla="*/ 54 w 54"/>
                  <a:gd name="T21" fmla="*/ 287 h 28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54" h="287">
                    <a:moveTo>
                      <a:pt x="52" y="287"/>
                    </a:moveTo>
                    <a:lnTo>
                      <a:pt x="54" y="0"/>
                    </a:lnTo>
                    <a:lnTo>
                      <a:pt x="0" y="0"/>
                    </a:lnTo>
                    <a:lnTo>
                      <a:pt x="0" y="287"/>
                    </a:lnTo>
                    <a:lnTo>
                      <a:pt x="54" y="287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53" name="Freeform 153"/>
              <p:cNvSpPr>
                <a:spLocks/>
              </p:cNvSpPr>
              <p:nvPr/>
            </p:nvSpPr>
            <p:spPr bwMode="auto">
              <a:xfrm>
                <a:off x="6251988" y="4268677"/>
                <a:ext cx="87719" cy="513779"/>
              </a:xfrm>
              <a:custGeom>
                <a:avLst/>
                <a:gdLst>
                  <a:gd name="T0" fmla="*/ 77788 w 53"/>
                  <a:gd name="T1" fmla="*/ 455613 h 287"/>
                  <a:gd name="T2" fmla="*/ 77788 w 53"/>
                  <a:gd name="T3" fmla="*/ 0 h 287"/>
                  <a:gd name="T4" fmla="*/ 0 w 53"/>
                  <a:gd name="T5" fmla="*/ 0 h 287"/>
                  <a:gd name="T6" fmla="*/ 0 w 53"/>
                  <a:gd name="T7" fmla="*/ 455613 h 287"/>
                  <a:gd name="T8" fmla="*/ 77788 w 53"/>
                  <a:gd name="T9" fmla="*/ 455613 h 287"/>
                  <a:gd name="T10" fmla="*/ 77788 w 53"/>
                  <a:gd name="T11" fmla="*/ 455613 h 28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53"/>
                  <a:gd name="T19" fmla="*/ 0 h 287"/>
                  <a:gd name="T20" fmla="*/ 53 w 53"/>
                  <a:gd name="T21" fmla="*/ 287 h 28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53" h="287">
                    <a:moveTo>
                      <a:pt x="53" y="287"/>
                    </a:moveTo>
                    <a:lnTo>
                      <a:pt x="53" y="0"/>
                    </a:lnTo>
                    <a:lnTo>
                      <a:pt x="0" y="0"/>
                    </a:lnTo>
                    <a:lnTo>
                      <a:pt x="0" y="287"/>
                    </a:lnTo>
                    <a:lnTo>
                      <a:pt x="53" y="287"/>
                    </a:lnTo>
                    <a:close/>
                  </a:path>
                </a:pathLst>
              </a:custGeom>
              <a:solidFill>
                <a:srgbClr val="CCCC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54" name="Freeform 154"/>
              <p:cNvSpPr>
                <a:spLocks/>
              </p:cNvSpPr>
              <p:nvPr/>
            </p:nvSpPr>
            <p:spPr bwMode="auto">
              <a:xfrm>
                <a:off x="6251988" y="4268677"/>
                <a:ext cx="87719" cy="513779"/>
              </a:xfrm>
              <a:custGeom>
                <a:avLst/>
                <a:gdLst>
                  <a:gd name="T0" fmla="*/ 77788 w 53"/>
                  <a:gd name="T1" fmla="*/ 455613 h 287"/>
                  <a:gd name="T2" fmla="*/ 77788 w 53"/>
                  <a:gd name="T3" fmla="*/ 0 h 287"/>
                  <a:gd name="T4" fmla="*/ 0 w 53"/>
                  <a:gd name="T5" fmla="*/ 0 h 287"/>
                  <a:gd name="T6" fmla="*/ 0 w 53"/>
                  <a:gd name="T7" fmla="*/ 455613 h 287"/>
                  <a:gd name="T8" fmla="*/ 77788 w 53"/>
                  <a:gd name="T9" fmla="*/ 455613 h 287"/>
                  <a:gd name="T10" fmla="*/ 77788 w 53"/>
                  <a:gd name="T11" fmla="*/ 455613 h 28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53"/>
                  <a:gd name="T19" fmla="*/ 0 h 287"/>
                  <a:gd name="T20" fmla="*/ 53 w 53"/>
                  <a:gd name="T21" fmla="*/ 287 h 28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53" h="287">
                    <a:moveTo>
                      <a:pt x="53" y="287"/>
                    </a:moveTo>
                    <a:lnTo>
                      <a:pt x="53" y="0"/>
                    </a:lnTo>
                    <a:lnTo>
                      <a:pt x="0" y="0"/>
                    </a:lnTo>
                    <a:lnTo>
                      <a:pt x="0" y="287"/>
                    </a:lnTo>
                    <a:lnTo>
                      <a:pt x="53" y="287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55" name="Freeform 155"/>
              <p:cNvSpPr>
                <a:spLocks/>
              </p:cNvSpPr>
              <p:nvPr/>
            </p:nvSpPr>
            <p:spPr bwMode="auto">
              <a:xfrm>
                <a:off x="6815892" y="4268677"/>
                <a:ext cx="87718" cy="513779"/>
              </a:xfrm>
              <a:custGeom>
                <a:avLst/>
                <a:gdLst>
                  <a:gd name="T0" fmla="*/ 77787 w 53"/>
                  <a:gd name="T1" fmla="*/ 455613 h 287"/>
                  <a:gd name="T2" fmla="*/ 77787 w 53"/>
                  <a:gd name="T3" fmla="*/ 0 h 287"/>
                  <a:gd name="T4" fmla="*/ 0 w 53"/>
                  <a:gd name="T5" fmla="*/ 0 h 287"/>
                  <a:gd name="T6" fmla="*/ 0 w 53"/>
                  <a:gd name="T7" fmla="*/ 455613 h 287"/>
                  <a:gd name="T8" fmla="*/ 77787 w 53"/>
                  <a:gd name="T9" fmla="*/ 455613 h 287"/>
                  <a:gd name="T10" fmla="*/ 77787 w 53"/>
                  <a:gd name="T11" fmla="*/ 455613 h 28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53"/>
                  <a:gd name="T19" fmla="*/ 0 h 287"/>
                  <a:gd name="T20" fmla="*/ 53 w 53"/>
                  <a:gd name="T21" fmla="*/ 287 h 28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53" h="287">
                    <a:moveTo>
                      <a:pt x="53" y="287"/>
                    </a:moveTo>
                    <a:lnTo>
                      <a:pt x="53" y="0"/>
                    </a:lnTo>
                    <a:lnTo>
                      <a:pt x="0" y="0"/>
                    </a:lnTo>
                    <a:lnTo>
                      <a:pt x="0" y="287"/>
                    </a:lnTo>
                    <a:lnTo>
                      <a:pt x="53" y="287"/>
                    </a:lnTo>
                    <a:close/>
                  </a:path>
                </a:pathLst>
              </a:custGeom>
              <a:solidFill>
                <a:srgbClr val="CCCC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56" name="Freeform 156"/>
              <p:cNvSpPr>
                <a:spLocks/>
              </p:cNvSpPr>
              <p:nvPr/>
            </p:nvSpPr>
            <p:spPr bwMode="auto">
              <a:xfrm>
                <a:off x="6815892" y="4268677"/>
                <a:ext cx="87718" cy="513779"/>
              </a:xfrm>
              <a:custGeom>
                <a:avLst/>
                <a:gdLst>
                  <a:gd name="T0" fmla="*/ 77787 w 53"/>
                  <a:gd name="T1" fmla="*/ 455613 h 287"/>
                  <a:gd name="T2" fmla="*/ 77787 w 53"/>
                  <a:gd name="T3" fmla="*/ 0 h 287"/>
                  <a:gd name="T4" fmla="*/ 0 w 53"/>
                  <a:gd name="T5" fmla="*/ 0 h 287"/>
                  <a:gd name="T6" fmla="*/ 0 w 53"/>
                  <a:gd name="T7" fmla="*/ 455613 h 287"/>
                  <a:gd name="T8" fmla="*/ 77787 w 53"/>
                  <a:gd name="T9" fmla="*/ 455613 h 287"/>
                  <a:gd name="T10" fmla="*/ 77787 w 53"/>
                  <a:gd name="T11" fmla="*/ 455613 h 28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53"/>
                  <a:gd name="T19" fmla="*/ 0 h 287"/>
                  <a:gd name="T20" fmla="*/ 53 w 53"/>
                  <a:gd name="T21" fmla="*/ 287 h 28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53" h="287">
                    <a:moveTo>
                      <a:pt x="53" y="287"/>
                    </a:moveTo>
                    <a:lnTo>
                      <a:pt x="53" y="0"/>
                    </a:lnTo>
                    <a:lnTo>
                      <a:pt x="0" y="0"/>
                    </a:lnTo>
                    <a:lnTo>
                      <a:pt x="0" y="287"/>
                    </a:lnTo>
                    <a:lnTo>
                      <a:pt x="53" y="287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57" name="Freeform 157"/>
              <p:cNvSpPr>
                <a:spLocks/>
              </p:cNvSpPr>
              <p:nvPr/>
            </p:nvSpPr>
            <p:spPr bwMode="auto">
              <a:xfrm>
                <a:off x="7379794" y="4268677"/>
                <a:ext cx="89508" cy="513779"/>
              </a:xfrm>
              <a:custGeom>
                <a:avLst/>
                <a:gdLst>
                  <a:gd name="T0" fmla="*/ 79375 w 54"/>
                  <a:gd name="T1" fmla="*/ 455613 h 287"/>
                  <a:gd name="T2" fmla="*/ 79375 w 54"/>
                  <a:gd name="T3" fmla="*/ 0 h 287"/>
                  <a:gd name="T4" fmla="*/ 0 w 54"/>
                  <a:gd name="T5" fmla="*/ 0 h 287"/>
                  <a:gd name="T6" fmla="*/ 0 w 54"/>
                  <a:gd name="T7" fmla="*/ 455613 h 287"/>
                  <a:gd name="T8" fmla="*/ 79375 w 54"/>
                  <a:gd name="T9" fmla="*/ 455613 h 287"/>
                  <a:gd name="T10" fmla="*/ 79375 w 54"/>
                  <a:gd name="T11" fmla="*/ 455613 h 28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54"/>
                  <a:gd name="T19" fmla="*/ 0 h 287"/>
                  <a:gd name="T20" fmla="*/ 54 w 54"/>
                  <a:gd name="T21" fmla="*/ 287 h 28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54" h="287">
                    <a:moveTo>
                      <a:pt x="54" y="287"/>
                    </a:moveTo>
                    <a:lnTo>
                      <a:pt x="54" y="0"/>
                    </a:lnTo>
                    <a:lnTo>
                      <a:pt x="0" y="0"/>
                    </a:lnTo>
                    <a:lnTo>
                      <a:pt x="0" y="287"/>
                    </a:lnTo>
                    <a:lnTo>
                      <a:pt x="54" y="287"/>
                    </a:lnTo>
                    <a:close/>
                  </a:path>
                </a:pathLst>
              </a:custGeom>
              <a:solidFill>
                <a:srgbClr val="CCCC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58" name="Freeform 158"/>
              <p:cNvSpPr>
                <a:spLocks/>
              </p:cNvSpPr>
              <p:nvPr/>
            </p:nvSpPr>
            <p:spPr bwMode="auto">
              <a:xfrm>
                <a:off x="7379794" y="4268677"/>
                <a:ext cx="89508" cy="513779"/>
              </a:xfrm>
              <a:custGeom>
                <a:avLst/>
                <a:gdLst>
                  <a:gd name="T0" fmla="*/ 79375 w 54"/>
                  <a:gd name="T1" fmla="*/ 455613 h 287"/>
                  <a:gd name="T2" fmla="*/ 79375 w 54"/>
                  <a:gd name="T3" fmla="*/ 0 h 287"/>
                  <a:gd name="T4" fmla="*/ 0 w 54"/>
                  <a:gd name="T5" fmla="*/ 0 h 287"/>
                  <a:gd name="T6" fmla="*/ 0 w 54"/>
                  <a:gd name="T7" fmla="*/ 455613 h 287"/>
                  <a:gd name="T8" fmla="*/ 79375 w 54"/>
                  <a:gd name="T9" fmla="*/ 455613 h 287"/>
                  <a:gd name="T10" fmla="*/ 79375 w 54"/>
                  <a:gd name="T11" fmla="*/ 455613 h 28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54"/>
                  <a:gd name="T19" fmla="*/ 0 h 287"/>
                  <a:gd name="T20" fmla="*/ 54 w 54"/>
                  <a:gd name="T21" fmla="*/ 287 h 28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54" h="287">
                    <a:moveTo>
                      <a:pt x="54" y="287"/>
                    </a:moveTo>
                    <a:lnTo>
                      <a:pt x="54" y="0"/>
                    </a:lnTo>
                    <a:lnTo>
                      <a:pt x="0" y="0"/>
                    </a:lnTo>
                    <a:lnTo>
                      <a:pt x="0" y="287"/>
                    </a:lnTo>
                    <a:lnTo>
                      <a:pt x="54" y="287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59" name="Freeform 159"/>
              <p:cNvSpPr>
                <a:spLocks/>
              </p:cNvSpPr>
              <p:nvPr/>
            </p:nvSpPr>
            <p:spPr bwMode="auto">
              <a:xfrm>
                <a:off x="8153147" y="4977584"/>
                <a:ext cx="118151" cy="257784"/>
              </a:xfrm>
              <a:custGeom>
                <a:avLst/>
                <a:gdLst>
                  <a:gd name="T0" fmla="*/ 104775 w 71"/>
                  <a:gd name="T1" fmla="*/ 225425 h 144"/>
                  <a:gd name="T2" fmla="*/ 0 w 71"/>
                  <a:gd name="T3" fmla="*/ 228600 h 144"/>
                  <a:gd name="T4" fmla="*/ 0 w 71"/>
                  <a:gd name="T5" fmla="*/ 0 h 144"/>
                  <a:gd name="T6" fmla="*/ 104775 w 71"/>
                  <a:gd name="T7" fmla="*/ 0 h 144"/>
                  <a:gd name="T8" fmla="*/ 104775 w 71"/>
                  <a:gd name="T9" fmla="*/ 225425 h 14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1"/>
                  <a:gd name="T16" fmla="*/ 0 h 144"/>
                  <a:gd name="T17" fmla="*/ 71 w 71"/>
                  <a:gd name="T18" fmla="*/ 144 h 14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1" h="144">
                    <a:moveTo>
                      <a:pt x="71" y="142"/>
                    </a:moveTo>
                    <a:lnTo>
                      <a:pt x="0" y="144"/>
                    </a:lnTo>
                    <a:lnTo>
                      <a:pt x="0" y="0"/>
                    </a:lnTo>
                    <a:lnTo>
                      <a:pt x="71" y="0"/>
                    </a:lnTo>
                    <a:lnTo>
                      <a:pt x="71" y="142"/>
                    </a:lnTo>
                    <a:close/>
                  </a:path>
                </a:pathLst>
              </a:custGeom>
              <a:solidFill>
                <a:srgbClr val="CCCC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60" name="Freeform 160"/>
              <p:cNvSpPr>
                <a:spLocks/>
              </p:cNvSpPr>
              <p:nvPr/>
            </p:nvSpPr>
            <p:spPr bwMode="auto">
              <a:xfrm>
                <a:off x="8153147" y="4977584"/>
                <a:ext cx="118151" cy="257784"/>
              </a:xfrm>
              <a:custGeom>
                <a:avLst/>
                <a:gdLst>
                  <a:gd name="T0" fmla="*/ 104775 w 71"/>
                  <a:gd name="T1" fmla="*/ 225425 h 144"/>
                  <a:gd name="T2" fmla="*/ 0 w 71"/>
                  <a:gd name="T3" fmla="*/ 228600 h 144"/>
                  <a:gd name="T4" fmla="*/ 0 w 71"/>
                  <a:gd name="T5" fmla="*/ 0 h 144"/>
                  <a:gd name="T6" fmla="*/ 104775 w 71"/>
                  <a:gd name="T7" fmla="*/ 0 h 14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1"/>
                  <a:gd name="T13" fmla="*/ 0 h 144"/>
                  <a:gd name="T14" fmla="*/ 71 w 71"/>
                  <a:gd name="T15" fmla="*/ 144 h 14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1" h="144">
                    <a:moveTo>
                      <a:pt x="71" y="142"/>
                    </a:moveTo>
                    <a:lnTo>
                      <a:pt x="0" y="144"/>
                    </a:lnTo>
                    <a:lnTo>
                      <a:pt x="0" y="0"/>
                    </a:lnTo>
                    <a:lnTo>
                      <a:pt x="71" y="0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61" name="Line 161"/>
              <p:cNvSpPr>
                <a:spLocks noChangeShapeType="1"/>
              </p:cNvSpPr>
              <p:nvPr/>
            </p:nvSpPr>
            <p:spPr bwMode="auto">
              <a:xfrm flipV="1">
                <a:off x="8385869" y="4970423"/>
                <a:ext cx="3580" cy="26852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62" name="Line 162"/>
              <p:cNvSpPr>
                <a:spLocks noChangeShapeType="1"/>
              </p:cNvSpPr>
              <p:nvPr/>
            </p:nvSpPr>
            <p:spPr bwMode="auto">
              <a:xfrm flipH="1">
                <a:off x="8267718" y="4974003"/>
                <a:ext cx="118151" cy="358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63" name="Line 163"/>
              <p:cNvSpPr>
                <a:spLocks noChangeShapeType="1"/>
              </p:cNvSpPr>
              <p:nvPr/>
            </p:nvSpPr>
            <p:spPr bwMode="auto">
              <a:xfrm flipH="1">
                <a:off x="8267718" y="5231788"/>
                <a:ext cx="118151" cy="358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64" name="Freeform 164"/>
              <p:cNvSpPr>
                <a:spLocks/>
              </p:cNvSpPr>
              <p:nvPr/>
            </p:nvSpPr>
            <p:spPr bwMode="auto">
              <a:xfrm>
                <a:off x="6010315" y="4977584"/>
                <a:ext cx="121732" cy="257784"/>
              </a:xfrm>
              <a:custGeom>
                <a:avLst/>
                <a:gdLst>
                  <a:gd name="T0" fmla="*/ 0 w 73"/>
                  <a:gd name="T1" fmla="*/ 225425 h 144"/>
                  <a:gd name="T2" fmla="*/ 107950 w 73"/>
                  <a:gd name="T3" fmla="*/ 228600 h 144"/>
                  <a:gd name="T4" fmla="*/ 107950 w 73"/>
                  <a:gd name="T5" fmla="*/ 0 h 144"/>
                  <a:gd name="T6" fmla="*/ 2958 w 73"/>
                  <a:gd name="T7" fmla="*/ 0 h 144"/>
                  <a:gd name="T8" fmla="*/ 0 w 73"/>
                  <a:gd name="T9" fmla="*/ 225425 h 14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3"/>
                  <a:gd name="T16" fmla="*/ 0 h 144"/>
                  <a:gd name="T17" fmla="*/ 73 w 73"/>
                  <a:gd name="T18" fmla="*/ 144 h 14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3" h="144">
                    <a:moveTo>
                      <a:pt x="0" y="142"/>
                    </a:moveTo>
                    <a:lnTo>
                      <a:pt x="73" y="144"/>
                    </a:lnTo>
                    <a:lnTo>
                      <a:pt x="73" y="0"/>
                    </a:lnTo>
                    <a:lnTo>
                      <a:pt x="2" y="0"/>
                    </a:lnTo>
                    <a:lnTo>
                      <a:pt x="0" y="142"/>
                    </a:lnTo>
                    <a:close/>
                  </a:path>
                </a:pathLst>
              </a:custGeom>
              <a:solidFill>
                <a:srgbClr val="CCCC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65" name="Freeform 165"/>
              <p:cNvSpPr>
                <a:spLocks/>
              </p:cNvSpPr>
              <p:nvPr/>
            </p:nvSpPr>
            <p:spPr bwMode="auto">
              <a:xfrm>
                <a:off x="6010315" y="4977584"/>
                <a:ext cx="121732" cy="257784"/>
              </a:xfrm>
              <a:custGeom>
                <a:avLst/>
                <a:gdLst>
                  <a:gd name="T0" fmla="*/ 0 w 73"/>
                  <a:gd name="T1" fmla="*/ 225425 h 144"/>
                  <a:gd name="T2" fmla="*/ 107950 w 73"/>
                  <a:gd name="T3" fmla="*/ 228600 h 144"/>
                  <a:gd name="T4" fmla="*/ 107950 w 73"/>
                  <a:gd name="T5" fmla="*/ 0 h 144"/>
                  <a:gd name="T6" fmla="*/ 2958 w 73"/>
                  <a:gd name="T7" fmla="*/ 0 h 14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3"/>
                  <a:gd name="T13" fmla="*/ 0 h 144"/>
                  <a:gd name="T14" fmla="*/ 73 w 73"/>
                  <a:gd name="T15" fmla="*/ 144 h 14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3" h="144">
                    <a:moveTo>
                      <a:pt x="0" y="142"/>
                    </a:moveTo>
                    <a:lnTo>
                      <a:pt x="73" y="144"/>
                    </a:lnTo>
                    <a:lnTo>
                      <a:pt x="73" y="0"/>
                    </a:lnTo>
                    <a:lnTo>
                      <a:pt x="2" y="0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66" name="Freeform 166"/>
              <p:cNvSpPr>
                <a:spLocks/>
              </p:cNvSpPr>
              <p:nvPr/>
            </p:nvSpPr>
            <p:spPr bwMode="auto">
              <a:xfrm>
                <a:off x="5893954" y="4974003"/>
                <a:ext cx="119942" cy="261365"/>
              </a:xfrm>
              <a:custGeom>
                <a:avLst/>
                <a:gdLst>
                  <a:gd name="T0" fmla="*/ 103449 w 73"/>
                  <a:gd name="T1" fmla="*/ 0 h 146"/>
                  <a:gd name="T2" fmla="*/ 0 w 73"/>
                  <a:gd name="T3" fmla="*/ 3175 h 146"/>
                  <a:gd name="T4" fmla="*/ 0 w 73"/>
                  <a:gd name="T5" fmla="*/ 231775 h 146"/>
                  <a:gd name="T6" fmla="*/ 106363 w 73"/>
                  <a:gd name="T7" fmla="*/ 231775 h 14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3"/>
                  <a:gd name="T13" fmla="*/ 0 h 146"/>
                  <a:gd name="T14" fmla="*/ 73 w 73"/>
                  <a:gd name="T15" fmla="*/ 146 h 14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3" h="146">
                    <a:moveTo>
                      <a:pt x="71" y="0"/>
                    </a:moveTo>
                    <a:lnTo>
                      <a:pt x="0" y="2"/>
                    </a:lnTo>
                    <a:lnTo>
                      <a:pt x="0" y="146"/>
                    </a:lnTo>
                    <a:lnTo>
                      <a:pt x="73" y="146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67" name="Rectangle 167"/>
              <p:cNvSpPr>
                <a:spLocks noChangeArrowheads="1"/>
              </p:cNvSpPr>
              <p:nvPr/>
            </p:nvSpPr>
            <p:spPr bwMode="auto">
              <a:xfrm>
                <a:off x="5953030" y="5025919"/>
                <a:ext cx="25648" cy="1231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I</a:t>
                </a:r>
                <a:endParaRPr lang="en-US" sz="1200" b="1">
                  <a:latin typeface="+mj-lt"/>
                </a:endParaRPr>
              </a:p>
            </p:txBody>
          </p:sp>
          <p:sp>
            <p:nvSpPr>
              <p:cNvPr id="168" name="Rectangle 168"/>
              <p:cNvSpPr>
                <a:spLocks noChangeArrowheads="1"/>
              </p:cNvSpPr>
              <p:nvPr/>
            </p:nvSpPr>
            <p:spPr bwMode="auto">
              <a:xfrm>
                <a:off x="5985253" y="5025919"/>
                <a:ext cx="88166" cy="1231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M</a:t>
                </a:r>
                <a:endParaRPr lang="en-US" sz="1200" b="1">
                  <a:latin typeface="+mj-lt"/>
                </a:endParaRPr>
              </a:p>
            </p:txBody>
          </p:sp>
          <p:sp>
            <p:nvSpPr>
              <p:cNvPr id="169" name="Freeform 169"/>
              <p:cNvSpPr>
                <a:spLocks/>
              </p:cNvSpPr>
              <p:nvPr/>
            </p:nvSpPr>
            <p:spPr bwMode="auto">
              <a:xfrm>
                <a:off x="7050403" y="4846902"/>
                <a:ext cx="180808" cy="511988"/>
              </a:xfrm>
              <a:custGeom>
                <a:avLst/>
                <a:gdLst>
                  <a:gd name="T0" fmla="*/ 0 w 109"/>
                  <a:gd name="T1" fmla="*/ 0 h 286"/>
                  <a:gd name="T2" fmla="*/ 2942 w 109"/>
                  <a:gd name="T3" fmla="*/ 185737 h 286"/>
                  <a:gd name="T4" fmla="*/ 52956 w 109"/>
                  <a:gd name="T5" fmla="*/ 228600 h 286"/>
                  <a:gd name="T6" fmla="*/ 2942 w 109"/>
                  <a:gd name="T7" fmla="*/ 271462 h 286"/>
                  <a:gd name="T8" fmla="*/ 2942 w 109"/>
                  <a:gd name="T9" fmla="*/ 454025 h 286"/>
                  <a:gd name="T10" fmla="*/ 160338 w 109"/>
                  <a:gd name="T11" fmla="*/ 315912 h 286"/>
                  <a:gd name="T12" fmla="*/ 160338 w 109"/>
                  <a:gd name="T13" fmla="*/ 139700 h 286"/>
                  <a:gd name="T14" fmla="*/ 2942 w 109"/>
                  <a:gd name="T15" fmla="*/ 0 h 286"/>
                  <a:gd name="T16" fmla="*/ 2942 w 109"/>
                  <a:gd name="T17" fmla="*/ 0 h 286"/>
                  <a:gd name="T18" fmla="*/ 0 w 109"/>
                  <a:gd name="T19" fmla="*/ 0 h 28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09"/>
                  <a:gd name="T31" fmla="*/ 0 h 286"/>
                  <a:gd name="T32" fmla="*/ 109 w 109"/>
                  <a:gd name="T33" fmla="*/ 286 h 28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09" h="286">
                    <a:moveTo>
                      <a:pt x="0" y="0"/>
                    </a:moveTo>
                    <a:lnTo>
                      <a:pt x="2" y="117"/>
                    </a:lnTo>
                    <a:lnTo>
                      <a:pt x="36" y="144"/>
                    </a:lnTo>
                    <a:lnTo>
                      <a:pt x="2" y="171"/>
                    </a:lnTo>
                    <a:lnTo>
                      <a:pt x="2" y="286"/>
                    </a:lnTo>
                    <a:lnTo>
                      <a:pt x="109" y="199"/>
                    </a:lnTo>
                    <a:lnTo>
                      <a:pt x="109" y="88"/>
                    </a:lnTo>
                    <a:lnTo>
                      <a:pt x="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CCC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70" name="Freeform 170"/>
              <p:cNvSpPr>
                <a:spLocks/>
              </p:cNvSpPr>
              <p:nvPr/>
            </p:nvSpPr>
            <p:spPr bwMode="auto">
              <a:xfrm>
                <a:off x="7050403" y="4846902"/>
                <a:ext cx="180808" cy="511988"/>
              </a:xfrm>
              <a:custGeom>
                <a:avLst/>
                <a:gdLst>
                  <a:gd name="T0" fmla="*/ 0 w 109"/>
                  <a:gd name="T1" fmla="*/ 0 h 286"/>
                  <a:gd name="T2" fmla="*/ 2942 w 109"/>
                  <a:gd name="T3" fmla="*/ 185737 h 286"/>
                  <a:gd name="T4" fmla="*/ 52956 w 109"/>
                  <a:gd name="T5" fmla="*/ 228600 h 286"/>
                  <a:gd name="T6" fmla="*/ 2942 w 109"/>
                  <a:gd name="T7" fmla="*/ 271462 h 286"/>
                  <a:gd name="T8" fmla="*/ 2942 w 109"/>
                  <a:gd name="T9" fmla="*/ 454025 h 286"/>
                  <a:gd name="T10" fmla="*/ 160338 w 109"/>
                  <a:gd name="T11" fmla="*/ 315912 h 286"/>
                  <a:gd name="T12" fmla="*/ 160338 w 109"/>
                  <a:gd name="T13" fmla="*/ 139700 h 286"/>
                  <a:gd name="T14" fmla="*/ 2942 w 109"/>
                  <a:gd name="T15" fmla="*/ 0 h 286"/>
                  <a:gd name="T16" fmla="*/ 2942 w 109"/>
                  <a:gd name="T17" fmla="*/ 0 h 28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09"/>
                  <a:gd name="T28" fmla="*/ 0 h 286"/>
                  <a:gd name="T29" fmla="*/ 109 w 109"/>
                  <a:gd name="T30" fmla="*/ 286 h 28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09" h="286">
                    <a:moveTo>
                      <a:pt x="0" y="0"/>
                    </a:moveTo>
                    <a:lnTo>
                      <a:pt x="2" y="117"/>
                    </a:lnTo>
                    <a:lnTo>
                      <a:pt x="36" y="144"/>
                    </a:lnTo>
                    <a:lnTo>
                      <a:pt x="2" y="171"/>
                    </a:lnTo>
                    <a:lnTo>
                      <a:pt x="2" y="286"/>
                    </a:lnTo>
                    <a:lnTo>
                      <a:pt x="109" y="199"/>
                    </a:lnTo>
                    <a:lnTo>
                      <a:pt x="109" y="88"/>
                    </a:lnTo>
                    <a:lnTo>
                      <a:pt x="2" y="0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71" name="Rectangle 171"/>
              <p:cNvSpPr>
                <a:spLocks noChangeArrowheads="1"/>
              </p:cNvSpPr>
              <p:nvPr/>
            </p:nvSpPr>
            <p:spPr bwMode="auto">
              <a:xfrm>
                <a:off x="7625048" y="5025919"/>
                <a:ext cx="62518" cy="1231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D</a:t>
                </a:r>
                <a:endParaRPr lang="en-US" sz="1200" b="1">
                  <a:latin typeface="+mj-lt"/>
                </a:endParaRPr>
              </a:p>
            </p:txBody>
          </p:sp>
          <p:sp>
            <p:nvSpPr>
              <p:cNvPr id="172" name="Rectangle 172"/>
              <p:cNvSpPr>
                <a:spLocks noChangeArrowheads="1"/>
              </p:cNvSpPr>
              <p:nvPr/>
            </p:nvSpPr>
            <p:spPr bwMode="auto">
              <a:xfrm>
                <a:off x="7702025" y="5025919"/>
                <a:ext cx="88166" cy="1231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M</a:t>
                </a:r>
                <a:endParaRPr lang="en-US" sz="1200" b="1">
                  <a:latin typeface="+mj-lt"/>
                </a:endParaRPr>
              </a:p>
            </p:txBody>
          </p:sp>
          <p:sp>
            <p:nvSpPr>
              <p:cNvPr id="173" name="Rectangle 173"/>
              <p:cNvSpPr>
                <a:spLocks noChangeArrowheads="1"/>
              </p:cNvSpPr>
              <p:nvPr/>
            </p:nvSpPr>
            <p:spPr bwMode="auto">
              <a:xfrm>
                <a:off x="8181790" y="5025919"/>
                <a:ext cx="56106" cy="1231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R</a:t>
                </a:r>
                <a:endParaRPr lang="en-US" sz="1200" b="1">
                  <a:latin typeface="+mj-lt"/>
                </a:endParaRPr>
              </a:p>
            </p:txBody>
          </p:sp>
          <p:sp>
            <p:nvSpPr>
              <p:cNvPr id="174" name="Rectangle 174"/>
              <p:cNvSpPr>
                <a:spLocks noChangeArrowheads="1"/>
              </p:cNvSpPr>
              <p:nvPr/>
            </p:nvSpPr>
            <p:spPr bwMode="auto">
              <a:xfrm>
                <a:off x="8256977" y="5025919"/>
                <a:ext cx="51296" cy="1231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e</a:t>
                </a:r>
                <a:endParaRPr lang="en-US" sz="1200" b="1">
                  <a:latin typeface="+mj-lt"/>
                </a:endParaRPr>
              </a:p>
            </p:txBody>
          </p:sp>
          <p:sp>
            <p:nvSpPr>
              <p:cNvPr id="175" name="Rectangle 175"/>
              <p:cNvSpPr>
                <a:spLocks noChangeArrowheads="1"/>
              </p:cNvSpPr>
              <p:nvPr/>
            </p:nvSpPr>
            <p:spPr bwMode="auto">
              <a:xfrm>
                <a:off x="8316053" y="5025919"/>
                <a:ext cx="48090" cy="1231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g</a:t>
                </a:r>
                <a:endParaRPr lang="en-US" sz="1200" b="1">
                  <a:latin typeface="+mj-lt"/>
                </a:endParaRPr>
              </a:p>
            </p:txBody>
          </p:sp>
          <p:sp>
            <p:nvSpPr>
              <p:cNvPr id="176" name="Line 176"/>
              <p:cNvSpPr>
                <a:spLocks noChangeShapeType="1"/>
              </p:cNvSpPr>
              <p:nvPr/>
            </p:nvSpPr>
            <p:spPr bwMode="auto">
              <a:xfrm>
                <a:off x="6132047" y="5104686"/>
                <a:ext cx="315070" cy="179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77" name="Line 177"/>
              <p:cNvSpPr>
                <a:spLocks noChangeShapeType="1"/>
              </p:cNvSpPr>
              <p:nvPr/>
            </p:nvSpPr>
            <p:spPr bwMode="auto">
              <a:xfrm>
                <a:off x="7231211" y="5104686"/>
                <a:ext cx="356243" cy="179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78" name="Line 178"/>
              <p:cNvSpPr>
                <a:spLocks noChangeShapeType="1"/>
              </p:cNvSpPr>
              <p:nvPr/>
            </p:nvSpPr>
            <p:spPr bwMode="auto">
              <a:xfrm>
                <a:off x="7821967" y="5104686"/>
                <a:ext cx="331181" cy="179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79" name="Line 179"/>
              <p:cNvSpPr>
                <a:spLocks noChangeShapeType="1"/>
              </p:cNvSpPr>
              <p:nvPr/>
            </p:nvSpPr>
            <p:spPr bwMode="auto">
              <a:xfrm>
                <a:off x="6688789" y="5165552"/>
                <a:ext cx="365195" cy="358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80" name="Freeform 180"/>
              <p:cNvSpPr>
                <a:spLocks/>
              </p:cNvSpPr>
              <p:nvPr/>
            </p:nvSpPr>
            <p:spPr bwMode="auto">
              <a:xfrm>
                <a:off x="6396992" y="5040240"/>
                <a:ext cx="50125" cy="64446"/>
              </a:xfrm>
              <a:custGeom>
                <a:avLst/>
                <a:gdLst>
                  <a:gd name="T0" fmla="*/ 0 w 30"/>
                  <a:gd name="T1" fmla="*/ 57150 h 36"/>
                  <a:gd name="T2" fmla="*/ 2963 w 30"/>
                  <a:gd name="T3" fmla="*/ 0 h 36"/>
                  <a:gd name="T4" fmla="*/ 44450 w 30"/>
                  <a:gd name="T5" fmla="*/ 0 h 36"/>
                  <a:gd name="T6" fmla="*/ 0 60000 65536"/>
                  <a:gd name="T7" fmla="*/ 0 60000 65536"/>
                  <a:gd name="T8" fmla="*/ 0 60000 65536"/>
                  <a:gd name="T9" fmla="*/ 0 w 30"/>
                  <a:gd name="T10" fmla="*/ 0 h 36"/>
                  <a:gd name="T11" fmla="*/ 30 w 30"/>
                  <a:gd name="T12" fmla="*/ 36 h 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0" h="36">
                    <a:moveTo>
                      <a:pt x="0" y="36"/>
                    </a:moveTo>
                    <a:lnTo>
                      <a:pt x="2" y="0"/>
                    </a:lnTo>
                    <a:lnTo>
                      <a:pt x="30" y="0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81" name="Freeform 181"/>
              <p:cNvSpPr>
                <a:spLocks/>
              </p:cNvSpPr>
              <p:nvPr/>
            </p:nvSpPr>
            <p:spPr bwMode="auto">
              <a:xfrm>
                <a:off x="7528379" y="5104686"/>
                <a:ext cx="415319" cy="191548"/>
              </a:xfrm>
              <a:custGeom>
                <a:avLst/>
                <a:gdLst>
                  <a:gd name="T0" fmla="*/ 0 w 251"/>
                  <a:gd name="T1" fmla="*/ 0 h 107"/>
                  <a:gd name="T2" fmla="*/ 0 w 251"/>
                  <a:gd name="T3" fmla="*/ 169862 h 107"/>
                  <a:gd name="T4" fmla="*/ 318411 w 251"/>
                  <a:gd name="T5" fmla="*/ 169862 h 107"/>
                  <a:gd name="T6" fmla="*/ 318411 w 251"/>
                  <a:gd name="T7" fmla="*/ 57150 h 107"/>
                  <a:gd name="T8" fmla="*/ 368300 w 251"/>
                  <a:gd name="T9" fmla="*/ 57150 h 10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1"/>
                  <a:gd name="T16" fmla="*/ 0 h 107"/>
                  <a:gd name="T17" fmla="*/ 251 w 251"/>
                  <a:gd name="T18" fmla="*/ 107 h 10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1" h="107">
                    <a:moveTo>
                      <a:pt x="0" y="0"/>
                    </a:moveTo>
                    <a:lnTo>
                      <a:pt x="0" y="107"/>
                    </a:lnTo>
                    <a:lnTo>
                      <a:pt x="217" y="107"/>
                    </a:lnTo>
                    <a:lnTo>
                      <a:pt x="217" y="36"/>
                    </a:lnTo>
                    <a:lnTo>
                      <a:pt x="251" y="36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82" name="Freeform 182"/>
              <p:cNvSpPr>
                <a:spLocks/>
              </p:cNvSpPr>
              <p:nvPr/>
            </p:nvSpPr>
            <p:spPr bwMode="auto">
              <a:xfrm>
                <a:off x="6251988" y="4846902"/>
                <a:ext cx="87719" cy="513778"/>
              </a:xfrm>
              <a:custGeom>
                <a:avLst/>
                <a:gdLst>
                  <a:gd name="T0" fmla="*/ 77788 w 53"/>
                  <a:gd name="T1" fmla="*/ 455612 h 287"/>
                  <a:gd name="T2" fmla="*/ 77788 w 53"/>
                  <a:gd name="T3" fmla="*/ 0 h 287"/>
                  <a:gd name="T4" fmla="*/ 0 w 53"/>
                  <a:gd name="T5" fmla="*/ 0 h 287"/>
                  <a:gd name="T6" fmla="*/ 0 w 53"/>
                  <a:gd name="T7" fmla="*/ 455612 h 287"/>
                  <a:gd name="T8" fmla="*/ 77788 w 53"/>
                  <a:gd name="T9" fmla="*/ 455612 h 287"/>
                  <a:gd name="T10" fmla="*/ 77788 w 53"/>
                  <a:gd name="T11" fmla="*/ 455612 h 28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53"/>
                  <a:gd name="T19" fmla="*/ 0 h 287"/>
                  <a:gd name="T20" fmla="*/ 53 w 53"/>
                  <a:gd name="T21" fmla="*/ 287 h 28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53" h="287">
                    <a:moveTo>
                      <a:pt x="53" y="287"/>
                    </a:moveTo>
                    <a:lnTo>
                      <a:pt x="53" y="0"/>
                    </a:lnTo>
                    <a:lnTo>
                      <a:pt x="0" y="0"/>
                    </a:lnTo>
                    <a:lnTo>
                      <a:pt x="0" y="287"/>
                    </a:lnTo>
                    <a:lnTo>
                      <a:pt x="53" y="287"/>
                    </a:lnTo>
                    <a:close/>
                  </a:path>
                </a:pathLst>
              </a:custGeom>
              <a:solidFill>
                <a:srgbClr val="CCCC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83" name="Freeform 183"/>
              <p:cNvSpPr>
                <a:spLocks/>
              </p:cNvSpPr>
              <p:nvPr/>
            </p:nvSpPr>
            <p:spPr bwMode="auto">
              <a:xfrm>
                <a:off x="6251988" y="4846902"/>
                <a:ext cx="87719" cy="513778"/>
              </a:xfrm>
              <a:custGeom>
                <a:avLst/>
                <a:gdLst>
                  <a:gd name="T0" fmla="*/ 77788 w 53"/>
                  <a:gd name="T1" fmla="*/ 455612 h 287"/>
                  <a:gd name="T2" fmla="*/ 77788 w 53"/>
                  <a:gd name="T3" fmla="*/ 0 h 287"/>
                  <a:gd name="T4" fmla="*/ 0 w 53"/>
                  <a:gd name="T5" fmla="*/ 0 h 287"/>
                  <a:gd name="T6" fmla="*/ 0 w 53"/>
                  <a:gd name="T7" fmla="*/ 455612 h 287"/>
                  <a:gd name="T8" fmla="*/ 77788 w 53"/>
                  <a:gd name="T9" fmla="*/ 455612 h 287"/>
                  <a:gd name="T10" fmla="*/ 77788 w 53"/>
                  <a:gd name="T11" fmla="*/ 455612 h 28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53"/>
                  <a:gd name="T19" fmla="*/ 0 h 287"/>
                  <a:gd name="T20" fmla="*/ 53 w 53"/>
                  <a:gd name="T21" fmla="*/ 287 h 28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53" h="287">
                    <a:moveTo>
                      <a:pt x="53" y="287"/>
                    </a:moveTo>
                    <a:lnTo>
                      <a:pt x="53" y="0"/>
                    </a:lnTo>
                    <a:lnTo>
                      <a:pt x="0" y="0"/>
                    </a:lnTo>
                    <a:lnTo>
                      <a:pt x="0" y="287"/>
                    </a:lnTo>
                    <a:lnTo>
                      <a:pt x="53" y="287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84" name="Freeform 184"/>
              <p:cNvSpPr>
                <a:spLocks/>
              </p:cNvSpPr>
              <p:nvPr/>
            </p:nvSpPr>
            <p:spPr bwMode="auto">
              <a:xfrm>
                <a:off x="6815892" y="4846902"/>
                <a:ext cx="87718" cy="513778"/>
              </a:xfrm>
              <a:custGeom>
                <a:avLst/>
                <a:gdLst>
                  <a:gd name="T0" fmla="*/ 77787 w 53"/>
                  <a:gd name="T1" fmla="*/ 455612 h 287"/>
                  <a:gd name="T2" fmla="*/ 77787 w 53"/>
                  <a:gd name="T3" fmla="*/ 0 h 287"/>
                  <a:gd name="T4" fmla="*/ 0 w 53"/>
                  <a:gd name="T5" fmla="*/ 0 h 287"/>
                  <a:gd name="T6" fmla="*/ 0 w 53"/>
                  <a:gd name="T7" fmla="*/ 455612 h 287"/>
                  <a:gd name="T8" fmla="*/ 77787 w 53"/>
                  <a:gd name="T9" fmla="*/ 455612 h 287"/>
                  <a:gd name="T10" fmla="*/ 77787 w 53"/>
                  <a:gd name="T11" fmla="*/ 455612 h 28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53"/>
                  <a:gd name="T19" fmla="*/ 0 h 287"/>
                  <a:gd name="T20" fmla="*/ 53 w 53"/>
                  <a:gd name="T21" fmla="*/ 287 h 28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53" h="287">
                    <a:moveTo>
                      <a:pt x="53" y="287"/>
                    </a:moveTo>
                    <a:lnTo>
                      <a:pt x="53" y="0"/>
                    </a:lnTo>
                    <a:lnTo>
                      <a:pt x="0" y="0"/>
                    </a:lnTo>
                    <a:lnTo>
                      <a:pt x="0" y="287"/>
                    </a:lnTo>
                    <a:lnTo>
                      <a:pt x="53" y="287"/>
                    </a:lnTo>
                    <a:close/>
                  </a:path>
                </a:pathLst>
              </a:custGeom>
              <a:solidFill>
                <a:srgbClr val="CCCC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85" name="Freeform 185"/>
              <p:cNvSpPr>
                <a:spLocks/>
              </p:cNvSpPr>
              <p:nvPr/>
            </p:nvSpPr>
            <p:spPr bwMode="auto">
              <a:xfrm>
                <a:off x="6815892" y="4846902"/>
                <a:ext cx="87718" cy="513778"/>
              </a:xfrm>
              <a:custGeom>
                <a:avLst/>
                <a:gdLst>
                  <a:gd name="T0" fmla="*/ 77787 w 53"/>
                  <a:gd name="T1" fmla="*/ 455612 h 287"/>
                  <a:gd name="T2" fmla="*/ 77787 w 53"/>
                  <a:gd name="T3" fmla="*/ 0 h 287"/>
                  <a:gd name="T4" fmla="*/ 0 w 53"/>
                  <a:gd name="T5" fmla="*/ 0 h 287"/>
                  <a:gd name="T6" fmla="*/ 0 w 53"/>
                  <a:gd name="T7" fmla="*/ 455612 h 287"/>
                  <a:gd name="T8" fmla="*/ 77787 w 53"/>
                  <a:gd name="T9" fmla="*/ 455612 h 287"/>
                  <a:gd name="T10" fmla="*/ 77787 w 53"/>
                  <a:gd name="T11" fmla="*/ 455612 h 28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53"/>
                  <a:gd name="T19" fmla="*/ 0 h 287"/>
                  <a:gd name="T20" fmla="*/ 53 w 53"/>
                  <a:gd name="T21" fmla="*/ 287 h 28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53" h="287">
                    <a:moveTo>
                      <a:pt x="53" y="287"/>
                    </a:moveTo>
                    <a:lnTo>
                      <a:pt x="53" y="0"/>
                    </a:lnTo>
                    <a:lnTo>
                      <a:pt x="0" y="0"/>
                    </a:lnTo>
                    <a:lnTo>
                      <a:pt x="0" y="287"/>
                    </a:lnTo>
                    <a:lnTo>
                      <a:pt x="53" y="287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86" name="Freeform 186"/>
              <p:cNvSpPr>
                <a:spLocks/>
              </p:cNvSpPr>
              <p:nvPr/>
            </p:nvSpPr>
            <p:spPr bwMode="auto">
              <a:xfrm>
                <a:off x="7379794" y="4846902"/>
                <a:ext cx="89508" cy="513778"/>
              </a:xfrm>
              <a:custGeom>
                <a:avLst/>
                <a:gdLst>
                  <a:gd name="T0" fmla="*/ 79375 w 54"/>
                  <a:gd name="T1" fmla="*/ 455612 h 287"/>
                  <a:gd name="T2" fmla="*/ 79375 w 54"/>
                  <a:gd name="T3" fmla="*/ 0 h 287"/>
                  <a:gd name="T4" fmla="*/ 0 w 54"/>
                  <a:gd name="T5" fmla="*/ 0 h 287"/>
                  <a:gd name="T6" fmla="*/ 0 w 54"/>
                  <a:gd name="T7" fmla="*/ 455612 h 287"/>
                  <a:gd name="T8" fmla="*/ 79375 w 54"/>
                  <a:gd name="T9" fmla="*/ 455612 h 287"/>
                  <a:gd name="T10" fmla="*/ 79375 w 54"/>
                  <a:gd name="T11" fmla="*/ 455612 h 28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54"/>
                  <a:gd name="T19" fmla="*/ 0 h 287"/>
                  <a:gd name="T20" fmla="*/ 54 w 54"/>
                  <a:gd name="T21" fmla="*/ 287 h 28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54" h="287">
                    <a:moveTo>
                      <a:pt x="54" y="287"/>
                    </a:moveTo>
                    <a:lnTo>
                      <a:pt x="54" y="0"/>
                    </a:lnTo>
                    <a:lnTo>
                      <a:pt x="0" y="0"/>
                    </a:lnTo>
                    <a:lnTo>
                      <a:pt x="0" y="287"/>
                    </a:lnTo>
                    <a:lnTo>
                      <a:pt x="54" y="287"/>
                    </a:lnTo>
                    <a:close/>
                  </a:path>
                </a:pathLst>
              </a:custGeom>
              <a:solidFill>
                <a:srgbClr val="CCCC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87" name="Freeform 187"/>
              <p:cNvSpPr>
                <a:spLocks/>
              </p:cNvSpPr>
              <p:nvPr/>
            </p:nvSpPr>
            <p:spPr bwMode="auto">
              <a:xfrm>
                <a:off x="7379794" y="4846902"/>
                <a:ext cx="89508" cy="513778"/>
              </a:xfrm>
              <a:custGeom>
                <a:avLst/>
                <a:gdLst>
                  <a:gd name="T0" fmla="*/ 79375 w 54"/>
                  <a:gd name="T1" fmla="*/ 455612 h 287"/>
                  <a:gd name="T2" fmla="*/ 79375 w 54"/>
                  <a:gd name="T3" fmla="*/ 0 h 287"/>
                  <a:gd name="T4" fmla="*/ 0 w 54"/>
                  <a:gd name="T5" fmla="*/ 0 h 287"/>
                  <a:gd name="T6" fmla="*/ 0 w 54"/>
                  <a:gd name="T7" fmla="*/ 455612 h 287"/>
                  <a:gd name="T8" fmla="*/ 79375 w 54"/>
                  <a:gd name="T9" fmla="*/ 455612 h 287"/>
                  <a:gd name="T10" fmla="*/ 79375 w 54"/>
                  <a:gd name="T11" fmla="*/ 455612 h 28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54"/>
                  <a:gd name="T19" fmla="*/ 0 h 287"/>
                  <a:gd name="T20" fmla="*/ 54 w 54"/>
                  <a:gd name="T21" fmla="*/ 287 h 28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54" h="287">
                    <a:moveTo>
                      <a:pt x="54" y="287"/>
                    </a:moveTo>
                    <a:lnTo>
                      <a:pt x="54" y="0"/>
                    </a:lnTo>
                    <a:lnTo>
                      <a:pt x="0" y="0"/>
                    </a:lnTo>
                    <a:lnTo>
                      <a:pt x="0" y="287"/>
                    </a:lnTo>
                    <a:lnTo>
                      <a:pt x="54" y="287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88" name="Freeform 188"/>
              <p:cNvSpPr>
                <a:spLocks/>
              </p:cNvSpPr>
              <p:nvPr/>
            </p:nvSpPr>
            <p:spPr bwMode="auto">
              <a:xfrm>
                <a:off x="7943698" y="4846902"/>
                <a:ext cx="89508" cy="513778"/>
              </a:xfrm>
              <a:custGeom>
                <a:avLst/>
                <a:gdLst>
                  <a:gd name="T0" fmla="*/ 79375 w 54"/>
                  <a:gd name="T1" fmla="*/ 455612 h 287"/>
                  <a:gd name="T2" fmla="*/ 79375 w 54"/>
                  <a:gd name="T3" fmla="*/ 0 h 287"/>
                  <a:gd name="T4" fmla="*/ 0 w 54"/>
                  <a:gd name="T5" fmla="*/ 0 h 287"/>
                  <a:gd name="T6" fmla="*/ 0 w 54"/>
                  <a:gd name="T7" fmla="*/ 455612 h 287"/>
                  <a:gd name="T8" fmla="*/ 79375 w 54"/>
                  <a:gd name="T9" fmla="*/ 455612 h 287"/>
                  <a:gd name="T10" fmla="*/ 79375 w 54"/>
                  <a:gd name="T11" fmla="*/ 455612 h 28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54"/>
                  <a:gd name="T19" fmla="*/ 0 h 287"/>
                  <a:gd name="T20" fmla="*/ 54 w 54"/>
                  <a:gd name="T21" fmla="*/ 287 h 28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54" h="287">
                    <a:moveTo>
                      <a:pt x="54" y="287"/>
                    </a:moveTo>
                    <a:lnTo>
                      <a:pt x="54" y="0"/>
                    </a:lnTo>
                    <a:lnTo>
                      <a:pt x="0" y="0"/>
                    </a:lnTo>
                    <a:lnTo>
                      <a:pt x="0" y="287"/>
                    </a:lnTo>
                    <a:lnTo>
                      <a:pt x="54" y="287"/>
                    </a:lnTo>
                    <a:close/>
                  </a:path>
                </a:pathLst>
              </a:custGeom>
              <a:solidFill>
                <a:srgbClr val="CCCC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89" name="Freeform 189"/>
              <p:cNvSpPr>
                <a:spLocks/>
              </p:cNvSpPr>
              <p:nvPr/>
            </p:nvSpPr>
            <p:spPr bwMode="auto">
              <a:xfrm>
                <a:off x="7943698" y="4846902"/>
                <a:ext cx="89508" cy="513778"/>
              </a:xfrm>
              <a:custGeom>
                <a:avLst/>
                <a:gdLst>
                  <a:gd name="T0" fmla="*/ 79375 w 54"/>
                  <a:gd name="T1" fmla="*/ 455612 h 287"/>
                  <a:gd name="T2" fmla="*/ 79375 w 54"/>
                  <a:gd name="T3" fmla="*/ 0 h 287"/>
                  <a:gd name="T4" fmla="*/ 0 w 54"/>
                  <a:gd name="T5" fmla="*/ 0 h 287"/>
                  <a:gd name="T6" fmla="*/ 0 w 54"/>
                  <a:gd name="T7" fmla="*/ 455612 h 287"/>
                  <a:gd name="T8" fmla="*/ 79375 w 54"/>
                  <a:gd name="T9" fmla="*/ 455612 h 287"/>
                  <a:gd name="T10" fmla="*/ 79375 w 54"/>
                  <a:gd name="T11" fmla="*/ 455612 h 28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54"/>
                  <a:gd name="T19" fmla="*/ 0 h 287"/>
                  <a:gd name="T20" fmla="*/ 54 w 54"/>
                  <a:gd name="T21" fmla="*/ 287 h 28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54" h="287">
                    <a:moveTo>
                      <a:pt x="54" y="287"/>
                    </a:moveTo>
                    <a:lnTo>
                      <a:pt x="54" y="0"/>
                    </a:lnTo>
                    <a:lnTo>
                      <a:pt x="0" y="0"/>
                    </a:lnTo>
                    <a:lnTo>
                      <a:pt x="0" y="287"/>
                    </a:lnTo>
                    <a:lnTo>
                      <a:pt x="54" y="287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90" name="Freeform 190"/>
              <p:cNvSpPr>
                <a:spLocks/>
              </p:cNvSpPr>
              <p:nvPr/>
            </p:nvSpPr>
            <p:spPr bwMode="auto">
              <a:xfrm>
                <a:off x="5446411" y="2664685"/>
                <a:ext cx="121732" cy="257784"/>
              </a:xfrm>
              <a:custGeom>
                <a:avLst/>
                <a:gdLst>
                  <a:gd name="T0" fmla="*/ 0 w 73"/>
                  <a:gd name="T1" fmla="*/ 225425 h 144"/>
                  <a:gd name="T2" fmla="*/ 107950 w 73"/>
                  <a:gd name="T3" fmla="*/ 228600 h 144"/>
                  <a:gd name="T4" fmla="*/ 107950 w 73"/>
                  <a:gd name="T5" fmla="*/ 0 h 144"/>
                  <a:gd name="T6" fmla="*/ 2958 w 73"/>
                  <a:gd name="T7" fmla="*/ 0 h 144"/>
                  <a:gd name="T8" fmla="*/ 0 w 73"/>
                  <a:gd name="T9" fmla="*/ 225425 h 14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3"/>
                  <a:gd name="T16" fmla="*/ 0 h 144"/>
                  <a:gd name="T17" fmla="*/ 73 w 73"/>
                  <a:gd name="T18" fmla="*/ 144 h 14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3" h="144">
                    <a:moveTo>
                      <a:pt x="0" y="142"/>
                    </a:moveTo>
                    <a:lnTo>
                      <a:pt x="73" y="144"/>
                    </a:lnTo>
                    <a:lnTo>
                      <a:pt x="73" y="0"/>
                    </a:lnTo>
                    <a:lnTo>
                      <a:pt x="2" y="0"/>
                    </a:lnTo>
                    <a:lnTo>
                      <a:pt x="0" y="142"/>
                    </a:lnTo>
                    <a:close/>
                  </a:path>
                </a:pathLst>
              </a:custGeom>
              <a:solidFill>
                <a:srgbClr val="CCCCC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91" name="Freeform 191"/>
              <p:cNvSpPr>
                <a:spLocks/>
              </p:cNvSpPr>
              <p:nvPr/>
            </p:nvSpPr>
            <p:spPr bwMode="auto">
              <a:xfrm>
                <a:off x="5446411" y="2664685"/>
                <a:ext cx="121732" cy="257784"/>
              </a:xfrm>
              <a:custGeom>
                <a:avLst/>
                <a:gdLst>
                  <a:gd name="T0" fmla="*/ 0 w 73"/>
                  <a:gd name="T1" fmla="*/ 225425 h 144"/>
                  <a:gd name="T2" fmla="*/ 107950 w 73"/>
                  <a:gd name="T3" fmla="*/ 228600 h 144"/>
                  <a:gd name="T4" fmla="*/ 107950 w 73"/>
                  <a:gd name="T5" fmla="*/ 0 h 144"/>
                  <a:gd name="T6" fmla="*/ 2958 w 73"/>
                  <a:gd name="T7" fmla="*/ 0 h 14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3"/>
                  <a:gd name="T13" fmla="*/ 0 h 144"/>
                  <a:gd name="T14" fmla="*/ 73 w 73"/>
                  <a:gd name="T15" fmla="*/ 144 h 14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3" h="144">
                    <a:moveTo>
                      <a:pt x="0" y="142"/>
                    </a:moveTo>
                    <a:lnTo>
                      <a:pt x="73" y="144"/>
                    </a:lnTo>
                    <a:lnTo>
                      <a:pt x="73" y="0"/>
                    </a:lnTo>
                    <a:lnTo>
                      <a:pt x="2" y="0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92" name="Freeform 192"/>
              <p:cNvSpPr>
                <a:spLocks/>
              </p:cNvSpPr>
              <p:nvPr/>
            </p:nvSpPr>
            <p:spPr bwMode="auto">
              <a:xfrm>
                <a:off x="5330051" y="2661105"/>
                <a:ext cx="119941" cy="261365"/>
              </a:xfrm>
              <a:custGeom>
                <a:avLst/>
                <a:gdLst>
                  <a:gd name="T0" fmla="*/ 103448 w 73"/>
                  <a:gd name="T1" fmla="*/ 0 h 146"/>
                  <a:gd name="T2" fmla="*/ 0 w 73"/>
                  <a:gd name="T3" fmla="*/ 3175 h 146"/>
                  <a:gd name="T4" fmla="*/ 0 w 73"/>
                  <a:gd name="T5" fmla="*/ 231775 h 146"/>
                  <a:gd name="T6" fmla="*/ 106362 w 73"/>
                  <a:gd name="T7" fmla="*/ 231775 h 14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3"/>
                  <a:gd name="T13" fmla="*/ 0 h 146"/>
                  <a:gd name="T14" fmla="*/ 73 w 73"/>
                  <a:gd name="T15" fmla="*/ 146 h 14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3" h="146">
                    <a:moveTo>
                      <a:pt x="71" y="0"/>
                    </a:moveTo>
                    <a:lnTo>
                      <a:pt x="0" y="2"/>
                    </a:lnTo>
                    <a:lnTo>
                      <a:pt x="0" y="146"/>
                    </a:lnTo>
                    <a:lnTo>
                      <a:pt x="73" y="146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93" name="Rectangle 193"/>
              <p:cNvSpPr>
                <a:spLocks noChangeArrowheads="1"/>
              </p:cNvSpPr>
              <p:nvPr/>
            </p:nvSpPr>
            <p:spPr bwMode="auto">
              <a:xfrm>
                <a:off x="5371224" y="2713020"/>
                <a:ext cx="62518" cy="1231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D</a:t>
                </a:r>
                <a:endParaRPr lang="en-US" sz="1200" b="1">
                  <a:latin typeface="+mj-lt"/>
                </a:endParaRPr>
              </a:p>
            </p:txBody>
          </p:sp>
          <p:sp>
            <p:nvSpPr>
              <p:cNvPr id="194" name="Rectangle 194"/>
              <p:cNvSpPr>
                <a:spLocks noChangeArrowheads="1"/>
              </p:cNvSpPr>
              <p:nvPr/>
            </p:nvSpPr>
            <p:spPr bwMode="auto">
              <a:xfrm>
                <a:off x="5446411" y="2713020"/>
                <a:ext cx="88166" cy="1231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M</a:t>
                </a:r>
                <a:endParaRPr lang="en-US" sz="1200" b="1">
                  <a:latin typeface="+mj-lt"/>
                </a:endParaRPr>
              </a:p>
            </p:txBody>
          </p:sp>
          <p:sp>
            <p:nvSpPr>
              <p:cNvPr id="195" name="Line 195"/>
              <p:cNvSpPr>
                <a:spLocks noChangeShapeType="1"/>
              </p:cNvSpPr>
              <p:nvPr/>
            </p:nvSpPr>
            <p:spPr bwMode="auto">
              <a:xfrm>
                <a:off x="5568143" y="2791788"/>
                <a:ext cx="118151" cy="179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96" name="Line 196"/>
              <p:cNvSpPr>
                <a:spLocks noChangeShapeType="1"/>
              </p:cNvSpPr>
              <p:nvPr/>
            </p:nvSpPr>
            <p:spPr bwMode="auto">
              <a:xfrm>
                <a:off x="5779383" y="2791788"/>
                <a:ext cx="114571" cy="1790"/>
              </a:xfrm>
              <a:prstGeom prst="line">
                <a:avLst/>
              </a:prstGeom>
              <a:noFill/>
              <a:ln w="15875">
                <a:solidFill>
                  <a:srgbClr val="EB75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97" name="Freeform 197"/>
              <p:cNvSpPr>
                <a:spLocks/>
              </p:cNvSpPr>
              <p:nvPr/>
            </p:nvSpPr>
            <p:spPr bwMode="auto">
              <a:xfrm>
                <a:off x="5893954" y="2664685"/>
                <a:ext cx="119942" cy="257784"/>
              </a:xfrm>
              <a:custGeom>
                <a:avLst/>
                <a:gdLst>
                  <a:gd name="T0" fmla="*/ 103449 w 73"/>
                  <a:gd name="T1" fmla="*/ 225425 h 144"/>
                  <a:gd name="T2" fmla="*/ 0 w 73"/>
                  <a:gd name="T3" fmla="*/ 228600 h 144"/>
                  <a:gd name="T4" fmla="*/ 0 w 73"/>
                  <a:gd name="T5" fmla="*/ 0 h 144"/>
                  <a:gd name="T6" fmla="*/ 106363 w 73"/>
                  <a:gd name="T7" fmla="*/ 0 h 144"/>
                  <a:gd name="T8" fmla="*/ 103449 w 73"/>
                  <a:gd name="T9" fmla="*/ 225425 h 14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3"/>
                  <a:gd name="T16" fmla="*/ 0 h 144"/>
                  <a:gd name="T17" fmla="*/ 73 w 73"/>
                  <a:gd name="T18" fmla="*/ 144 h 14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3" h="144">
                    <a:moveTo>
                      <a:pt x="71" y="142"/>
                    </a:moveTo>
                    <a:lnTo>
                      <a:pt x="0" y="144"/>
                    </a:lnTo>
                    <a:lnTo>
                      <a:pt x="0" y="0"/>
                    </a:lnTo>
                    <a:lnTo>
                      <a:pt x="73" y="0"/>
                    </a:lnTo>
                    <a:lnTo>
                      <a:pt x="71" y="142"/>
                    </a:lnTo>
                    <a:close/>
                  </a:path>
                </a:pathLst>
              </a:custGeom>
              <a:solidFill>
                <a:srgbClr val="FBE2C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98" name="Freeform 198"/>
              <p:cNvSpPr>
                <a:spLocks/>
              </p:cNvSpPr>
              <p:nvPr/>
            </p:nvSpPr>
            <p:spPr bwMode="auto">
              <a:xfrm>
                <a:off x="5893954" y="2664685"/>
                <a:ext cx="119942" cy="257784"/>
              </a:xfrm>
              <a:custGeom>
                <a:avLst/>
                <a:gdLst>
                  <a:gd name="T0" fmla="*/ 103449 w 73"/>
                  <a:gd name="T1" fmla="*/ 225425 h 144"/>
                  <a:gd name="T2" fmla="*/ 0 w 73"/>
                  <a:gd name="T3" fmla="*/ 228600 h 144"/>
                  <a:gd name="T4" fmla="*/ 0 w 73"/>
                  <a:gd name="T5" fmla="*/ 0 h 144"/>
                  <a:gd name="T6" fmla="*/ 106363 w 73"/>
                  <a:gd name="T7" fmla="*/ 0 h 14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3"/>
                  <a:gd name="T13" fmla="*/ 0 h 144"/>
                  <a:gd name="T14" fmla="*/ 73 w 73"/>
                  <a:gd name="T15" fmla="*/ 144 h 14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3" h="144">
                    <a:moveTo>
                      <a:pt x="71" y="142"/>
                    </a:moveTo>
                    <a:lnTo>
                      <a:pt x="0" y="144"/>
                    </a:lnTo>
                    <a:lnTo>
                      <a:pt x="0" y="0"/>
                    </a:lnTo>
                    <a:lnTo>
                      <a:pt x="73" y="0"/>
                    </a:lnTo>
                  </a:path>
                </a:pathLst>
              </a:custGeom>
              <a:noFill/>
              <a:ln w="9525">
                <a:solidFill>
                  <a:srgbClr val="EB75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99" name="Line 199"/>
              <p:cNvSpPr>
                <a:spLocks noChangeShapeType="1"/>
              </p:cNvSpPr>
              <p:nvPr/>
            </p:nvSpPr>
            <p:spPr bwMode="auto">
              <a:xfrm flipV="1">
                <a:off x="6132047" y="2657524"/>
                <a:ext cx="1790" cy="26852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200" name="Line 200"/>
              <p:cNvSpPr>
                <a:spLocks noChangeShapeType="1"/>
              </p:cNvSpPr>
              <p:nvPr/>
            </p:nvSpPr>
            <p:spPr bwMode="auto">
              <a:xfrm flipH="1">
                <a:off x="6013896" y="2661105"/>
                <a:ext cx="118151" cy="358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201" name="Line 201"/>
              <p:cNvSpPr>
                <a:spLocks noChangeShapeType="1"/>
              </p:cNvSpPr>
              <p:nvPr/>
            </p:nvSpPr>
            <p:spPr bwMode="auto">
              <a:xfrm flipH="1">
                <a:off x="6013896" y="2918889"/>
                <a:ext cx="118151" cy="358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202" name="Rectangle 202"/>
              <p:cNvSpPr>
                <a:spLocks noChangeArrowheads="1"/>
              </p:cNvSpPr>
              <p:nvPr/>
            </p:nvSpPr>
            <p:spPr bwMode="auto">
              <a:xfrm>
                <a:off x="5924387" y="2713020"/>
                <a:ext cx="56106" cy="1231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>
                    <a:solidFill>
                      <a:srgbClr val="EB7500"/>
                    </a:solidFill>
                    <a:latin typeface="+mj-lt"/>
                  </a:rPr>
                  <a:t>R</a:t>
                </a:r>
                <a:endParaRPr lang="en-US" sz="1200" b="1">
                  <a:latin typeface="+mj-lt"/>
                </a:endParaRPr>
              </a:p>
            </p:txBody>
          </p:sp>
          <p:sp>
            <p:nvSpPr>
              <p:cNvPr id="203" name="Rectangle 203"/>
              <p:cNvSpPr>
                <a:spLocks noChangeArrowheads="1"/>
              </p:cNvSpPr>
              <p:nvPr/>
            </p:nvSpPr>
            <p:spPr bwMode="auto">
              <a:xfrm>
                <a:off x="6001364" y="2713020"/>
                <a:ext cx="51296" cy="1231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>
                    <a:solidFill>
                      <a:srgbClr val="EB7500"/>
                    </a:solidFill>
                    <a:latin typeface="+mj-lt"/>
                  </a:rPr>
                  <a:t>e</a:t>
                </a:r>
                <a:endParaRPr lang="en-US" sz="1200" b="1">
                  <a:latin typeface="+mj-lt"/>
                </a:endParaRPr>
              </a:p>
            </p:txBody>
          </p:sp>
          <p:sp>
            <p:nvSpPr>
              <p:cNvPr id="204" name="Rectangle 204"/>
              <p:cNvSpPr>
                <a:spLocks noChangeArrowheads="1"/>
              </p:cNvSpPr>
              <p:nvPr/>
            </p:nvSpPr>
            <p:spPr bwMode="auto">
              <a:xfrm>
                <a:off x="6058649" y="2713020"/>
                <a:ext cx="48090" cy="1231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>
                    <a:solidFill>
                      <a:srgbClr val="EB7500"/>
                    </a:solidFill>
                    <a:latin typeface="+mj-lt"/>
                  </a:rPr>
                  <a:t>g</a:t>
                </a:r>
                <a:endParaRPr lang="en-US" sz="1200" b="1">
                  <a:latin typeface="+mj-lt"/>
                </a:endParaRPr>
              </a:p>
            </p:txBody>
          </p:sp>
          <p:sp>
            <p:nvSpPr>
              <p:cNvPr id="205" name="Rectangle 205"/>
              <p:cNvSpPr>
                <a:spLocks noChangeArrowheads="1"/>
              </p:cNvSpPr>
              <p:nvPr/>
            </p:nvSpPr>
            <p:spPr bwMode="auto">
              <a:xfrm>
                <a:off x="4796581" y="3293035"/>
                <a:ext cx="56106" cy="1231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>
                    <a:solidFill>
                      <a:srgbClr val="EB7500"/>
                    </a:solidFill>
                    <a:latin typeface="+mj-lt"/>
                  </a:rPr>
                  <a:t>R</a:t>
                </a:r>
                <a:endParaRPr lang="en-US" sz="1200" b="1">
                  <a:latin typeface="+mj-lt"/>
                </a:endParaRPr>
              </a:p>
            </p:txBody>
          </p:sp>
          <p:sp>
            <p:nvSpPr>
              <p:cNvPr id="206" name="Rectangle 206"/>
              <p:cNvSpPr>
                <a:spLocks noChangeArrowheads="1"/>
              </p:cNvSpPr>
              <p:nvPr/>
            </p:nvSpPr>
            <p:spPr bwMode="auto">
              <a:xfrm>
                <a:off x="4873557" y="3293035"/>
                <a:ext cx="51296" cy="1231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>
                    <a:solidFill>
                      <a:srgbClr val="EB7500"/>
                    </a:solidFill>
                    <a:latin typeface="+mj-lt"/>
                  </a:rPr>
                  <a:t>e</a:t>
                </a:r>
                <a:endParaRPr lang="en-US" sz="1200" b="1">
                  <a:latin typeface="+mj-lt"/>
                </a:endParaRPr>
              </a:p>
            </p:txBody>
          </p:sp>
          <p:sp>
            <p:nvSpPr>
              <p:cNvPr id="207" name="Rectangle 207"/>
              <p:cNvSpPr>
                <a:spLocks noChangeArrowheads="1"/>
              </p:cNvSpPr>
              <p:nvPr/>
            </p:nvSpPr>
            <p:spPr bwMode="auto">
              <a:xfrm>
                <a:off x="4929053" y="3293035"/>
                <a:ext cx="48090" cy="1231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>
                    <a:solidFill>
                      <a:srgbClr val="EB7500"/>
                    </a:solidFill>
                    <a:latin typeface="+mj-lt"/>
                  </a:rPr>
                  <a:t>g</a:t>
                </a:r>
                <a:endParaRPr lang="en-US" sz="1200" b="1">
                  <a:latin typeface="+mj-lt"/>
                </a:endParaRPr>
              </a:p>
            </p:txBody>
          </p:sp>
          <p:sp>
            <p:nvSpPr>
              <p:cNvPr id="208" name="Rectangle 208"/>
              <p:cNvSpPr>
                <a:spLocks noChangeArrowheads="1"/>
              </p:cNvSpPr>
              <p:nvPr/>
            </p:nvSpPr>
            <p:spPr bwMode="auto">
              <a:xfrm>
                <a:off x="5924387" y="4451274"/>
                <a:ext cx="56106" cy="1231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>
                    <a:solidFill>
                      <a:srgbClr val="EB7500"/>
                    </a:solidFill>
                    <a:latin typeface="+mj-lt"/>
                  </a:rPr>
                  <a:t>R</a:t>
                </a:r>
                <a:endParaRPr lang="en-US" sz="1200" b="1">
                  <a:latin typeface="+mj-lt"/>
                </a:endParaRPr>
              </a:p>
            </p:txBody>
          </p:sp>
          <p:sp>
            <p:nvSpPr>
              <p:cNvPr id="209" name="Rectangle 209"/>
              <p:cNvSpPr>
                <a:spLocks noChangeArrowheads="1"/>
              </p:cNvSpPr>
              <p:nvPr/>
            </p:nvSpPr>
            <p:spPr bwMode="auto">
              <a:xfrm>
                <a:off x="6001364" y="4451274"/>
                <a:ext cx="51296" cy="1231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>
                    <a:solidFill>
                      <a:srgbClr val="EB7500"/>
                    </a:solidFill>
                    <a:latin typeface="+mj-lt"/>
                  </a:rPr>
                  <a:t>e</a:t>
                </a:r>
                <a:endParaRPr lang="en-US" sz="1200" b="1">
                  <a:latin typeface="+mj-lt"/>
                </a:endParaRPr>
              </a:p>
            </p:txBody>
          </p:sp>
          <p:sp>
            <p:nvSpPr>
              <p:cNvPr id="210" name="Rectangle 210"/>
              <p:cNvSpPr>
                <a:spLocks noChangeArrowheads="1"/>
              </p:cNvSpPr>
              <p:nvPr/>
            </p:nvSpPr>
            <p:spPr bwMode="auto">
              <a:xfrm>
                <a:off x="6058649" y="4451274"/>
                <a:ext cx="48090" cy="1231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>
                    <a:solidFill>
                      <a:srgbClr val="EB7500"/>
                    </a:solidFill>
                    <a:latin typeface="+mj-lt"/>
                  </a:rPr>
                  <a:t>g</a:t>
                </a:r>
                <a:endParaRPr lang="en-US" sz="1200" b="1">
                  <a:latin typeface="+mj-lt"/>
                </a:endParaRPr>
              </a:p>
            </p:txBody>
          </p:sp>
          <p:sp>
            <p:nvSpPr>
              <p:cNvPr id="213" name="Freeform 213"/>
              <p:cNvSpPr>
                <a:spLocks/>
              </p:cNvSpPr>
              <p:nvPr/>
            </p:nvSpPr>
            <p:spPr bwMode="auto">
              <a:xfrm>
                <a:off x="5990623" y="2840122"/>
                <a:ext cx="48335" cy="51915"/>
              </a:xfrm>
              <a:custGeom>
                <a:avLst/>
                <a:gdLst>
                  <a:gd name="T0" fmla="*/ 20692 w 29"/>
                  <a:gd name="T1" fmla="*/ 42863 h 29"/>
                  <a:gd name="T2" fmla="*/ 23649 w 29"/>
                  <a:gd name="T3" fmla="*/ 46038 h 29"/>
                  <a:gd name="T4" fmla="*/ 26605 w 29"/>
                  <a:gd name="T5" fmla="*/ 42863 h 29"/>
                  <a:gd name="T6" fmla="*/ 31039 w 29"/>
                  <a:gd name="T7" fmla="*/ 42863 h 29"/>
                  <a:gd name="T8" fmla="*/ 33995 w 29"/>
                  <a:gd name="T9" fmla="*/ 39688 h 29"/>
                  <a:gd name="T10" fmla="*/ 33995 w 29"/>
                  <a:gd name="T11" fmla="*/ 39688 h 29"/>
                  <a:gd name="T12" fmla="*/ 36951 w 29"/>
                  <a:gd name="T13" fmla="*/ 36513 h 29"/>
                  <a:gd name="T14" fmla="*/ 39907 w 29"/>
                  <a:gd name="T15" fmla="*/ 33338 h 29"/>
                  <a:gd name="T16" fmla="*/ 39907 w 29"/>
                  <a:gd name="T17" fmla="*/ 30163 h 29"/>
                  <a:gd name="T18" fmla="*/ 42863 w 29"/>
                  <a:gd name="T19" fmla="*/ 26988 h 29"/>
                  <a:gd name="T20" fmla="*/ 42863 w 29"/>
                  <a:gd name="T21" fmla="*/ 20638 h 29"/>
                  <a:gd name="T22" fmla="*/ 42863 w 29"/>
                  <a:gd name="T23" fmla="*/ 17463 h 29"/>
                  <a:gd name="T24" fmla="*/ 39907 w 29"/>
                  <a:gd name="T25" fmla="*/ 14288 h 29"/>
                  <a:gd name="T26" fmla="*/ 39907 w 29"/>
                  <a:gd name="T27" fmla="*/ 12700 h 29"/>
                  <a:gd name="T28" fmla="*/ 36951 w 29"/>
                  <a:gd name="T29" fmla="*/ 9525 h 29"/>
                  <a:gd name="T30" fmla="*/ 33995 w 29"/>
                  <a:gd name="T31" fmla="*/ 6350 h 29"/>
                  <a:gd name="T32" fmla="*/ 33995 w 29"/>
                  <a:gd name="T33" fmla="*/ 3175 h 29"/>
                  <a:gd name="T34" fmla="*/ 31039 w 29"/>
                  <a:gd name="T35" fmla="*/ 3175 h 29"/>
                  <a:gd name="T36" fmla="*/ 26605 w 29"/>
                  <a:gd name="T37" fmla="*/ 0 h 29"/>
                  <a:gd name="T38" fmla="*/ 23649 w 29"/>
                  <a:gd name="T39" fmla="*/ 0 h 29"/>
                  <a:gd name="T40" fmla="*/ 20692 w 29"/>
                  <a:gd name="T41" fmla="*/ 0 h 29"/>
                  <a:gd name="T42" fmla="*/ 17736 w 29"/>
                  <a:gd name="T43" fmla="*/ 0 h 29"/>
                  <a:gd name="T44" fmla="*/ 14780 w 29"/>
                  <a:gd name="T45" fmla="*/ 0 h 29"/>
                  <a:gd name="T46" fmla="*/ 11824 w 29"/>
                  <a:gd name="T47" fmla="*/ 3175 h 29"/>
                  <a:gd name="T48" fmla="*/ 8868 w 29"/>
                  <a:gd name="T49" fmla="*/ 3175 h 29"/>
                  <a:gd name="T50" fmla="*/ 5912 w 29"/>
                  <a:gd name="T51" fmla="*/ 6350 h 29"/>
                  <a:gd name="T52" fmla="*/ 2956 w 29"/>
                  <a:gd name="T53" fmla="*/ 9525 h 29"/>
                  <a:gd name="T54" fmla="*/ 0 w 29"/>
                  <a:gd name="T55" fmla="*/ 12700 h 29"/>
                  <a:gd name="T56" fmla="*/ 0 w 29"/>
                  <a:gd name="T57" fmla="*/ 14288 h 29"/>
                  <a:gd name="T58" fmla="*/ 0 w 29"/>
                  <a:gd name="T59" fmla="*/ 17463 h 29"/>
                  <a:gd name="T60" fmla="*/ 0 w 29"/>
                  <a:gd name="T61" fmla="*/ 20638 h 29"/>
                  <a:gd name="T62" fmla="*/ 0 w 29"/>
                  <a:gd name="T63" fmla="*/ 26988 h 29"/>
                  <a:gd name="T64" fmla="*/ 0 w 29"/>
                  <a:gd name="T65" fmla="*/ 30163 h 29"/>
                  <a:gd name="T66" fmla="*/ 0 w 29"/>
                  <a:gd name="T67" fmla="*/ 33338 h 29"/>
                  <a:gd name="T68" fmla="*/ 2956 w 29"/>
                  <a:gd name="T69" fmla="*/ 36513 h 29"/>
                  <a:gd name="T70" fmla="*/ 5912 w 29"/>
                  <a:gd name="T71" fmla="*/ 39688 h 29"/>
                  <a:gd name="T72" fmla="*/ 8868 w 29"/>
                  <a:gd name="T73" fmla="*/ 39688 h 29"/>
                  <a:gd name="T74" fmla="*/ 11824 w 29"/>
                  <a:gd name="T75" fmla="*/ 42863 h 29"/>
                  <a:gd name="T76" fmla="*/ 14780 w 29"/>
                  <a:gd name="T77" fmla="*/ 42863 h 29"/>
                  <a:gd name="T78" fmla="*/ 17736 w 29"/>
                  <a:gd name="T79" fmla="*/ 46038 h 29"/>
                  <a:gd name="T80" fmla="*/ 20692 w 29"/>
                  <a:gd name="T81" fmla="*/ 46038 h 29"/>
                  <a:gd name="T82" fmla="*/ 20692 w 29"/>
                  <a:gd name="T83" fmla="*/ 46038 h 29"/>
                  <a:gd name="T84" fmla="*/ 20692 w 29"/>
                  <a:gd name="T85" fmla="*/ 42863 h 29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w 29"/>
                  <a:gd name="T130" fmla="*/ 0 h 29"/>
                  <a:gd name="T131" fmla="*/ 29 w 29"/>
                  <a:gd name="T132" fmla="*/ 29 h 29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T129" t="T130" r="T131" b="T132"/>
                <a:pathLst>
                  <a:path w="29" h="29">
                    <a:moveTo>
                      <a:pt x="14" y="27"/>
                    </a:moveTo>
                    <a:lnTo>
                      <a:pt x="16" y="29"/>
                    </a:lnTo>
                    <a:lnTo>
                      <a:pt x="18" y="27"/>
                    </a:lnTo>
                    <a:lnTo>
                      <a:pt x="21" y="27"/>
                    </a:lnTo>
                    <a:lnTo>
                      <a:pt x="23" y="25"/>
                    </a:lnTo>
                    <a:lnTo>
                      <a:pt x="25" y="23"/>
                    </a:lnTo>
                    <a:lnTo>
                      <a:pt x="27" y="21"/>
                    </a:lnTo>
                    <a:lnTo>
                      <a:pt x="27" y="19"/>
                    </a:lnTo>
                    <a:lnTo>
                      <a:pt x="29" y="17"/>
                    </a:lnTo>
                    <a:lnTo>
                      <a:pt x="29" y="13"/>
                    </a:lnTo>
                    <a:lnTo>
                      <a:pt x="29" y="11"/>
                    </a:lnTo>
                    <a:lnTo>
                      <a:pt x="27" y="9"/>
                    </a:lnTo>
                    <a:lnTo>
                      <a:pt x="27" y="8"/>
                    </a:lnTo>
                    <a:lnTo>
                      <a:pt x="25" y="6"/>
                    </a:lnTo>
                    <a:lnTo>
                      <a:pt x="23" y="4"/>
                    </a:lnTo>
                    <a:lnTo>
                      <a:pt x="23" y="2"/>
                    </a:lnTo>
                    <a:lnTo>
                      <a:pt x="21" y="2"/>
                    </a:lnTo>
                    <a:lnTo>
                      <a:pt x="18" y="0"/>
                    </a:lnTo>
                    <a:lnTo>
                      <a:pt x="16" y="0"/>
                    </a:lnTo>
                    <a:lnTo>
                      <a:pt x="14" y="0"/>
                    </a:lnTo>
                    <a:lnTo>
                      <a:pt x="12" y="0"/>
                    </a:lnTo>
                    <a:lnTo>
                      <a:pt x="10" y="0"/>
                    </a:lnTo>
                    <a:lnTo>
                      <a:pt x="8" y="2"/>
                    </a:lnTo>
                    <a:lnTo>
                      <a:pt x="6" y="2"/>
                    </a:lnTo>
                    <a:lnTo>
                      <a:pt x="4" y="4"/>
                    </a:lnTo>
                    <a:lnTo>
                      <a:pt x="2" y="6"/>
                    </a:lnTo>
                    <a:lnTo>
                      <a:pt x="0" y="8"/>
                    </a:lnTo>
                    <a:lnTo>
                      <a:pt x="0" y="9"/>
                    </a:lnTo>
                    <a:lnTo>
                      <a:pt x="0" y="11"/>
                    </a:lnTo>
                    <a:lnTo>
                      <a:pt x="0" y="13"/>
                    </a:lnTo>
                    <a:lnTo>
                      <a:pt x="0" y="17"/>
                    </a:lnTo>
                    <a:lnTo>
                      <a:pt x="0" y="19"/>
                    </a:lnTo>
                    <a:lnTo>
                      <a:pt x="0" y="21"/>
                    </a:lnTo>
                    <a:lnTo>
                      <a:pt x="2" y="23"/>
                    </a:lnTo>
                    <a:lnTo>
                      <a:pt x="4" y="25"/>
                    </a:lnTo>
                    <a:lnTo>
                      <a:pt x="6" y="25"/>
                    </a:lnTo>
                    <a:lnTo>
                      <a:pt x="8" y="27"/>
                    </a:lnTo>
                    <a:lnTo>
                      <a:pt x="10" y="27"/>
                    </a:lnTo>
                    <a:lnTo>
                      <a:pt x="12" y="29"/>
                    </a:lnTo>
                    <a:lnTo>
                      <a:pt x="14" y="29"/>
                    </a:lnTo>
                    <a:lnTo>
                      <a:pt x="14" y="27"/>
                    </a:lnTo>
                    <a:close/>
                  </a:path>
                </a:pathLst>
              </a:custGeom>
              <a:solidFill>
                <a:srgbClr val="EB75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214" name="Freeform 214"/>
              <p:cNvSpPr>
                <a:spLocks/>
              </p:cNvSpPr>
              <p:nvPr/>
            </p:nvSpPr>
            <p:spPr bwMode="auto">
              <a:xfrm>
                <a:off x="5705987" y="2768515"/>
                <a:ext cx="48334" cy="50125"/>
              </a:xfrm>
              <a:custGeom>
                <a:avLst/>
                <a:gdLst>
                  <a:gd name="T0" fmla="*/ 19214 w 29"/>
                  <a:gd name="T1" fmla="*/ 41275 h 28"/>
                  <a:gd name="T2" fmla="*/ 25126 w 29"/>
                  <a:gd name="T3" fmla="*/ 41275 h 28"/>
                  <a:gd name="T4" fmla="*/ 28082 w 29"/>
                  <a:gd name="T5" fmla="*/ 41275 h 28"/>
                  <a:gd name="T6" fmla="*/ 31038 w 29"/>
                  <a:gd name="T7" fmla="*/ 41275 h 28"/>
                  <a:gd name="T8" fmla="*/ 33994 w 29"/>
                  <a:gd name="T9" fmla="*/ 39688 h 28"/>
                  <a:gd name="T10" fmla="*/ 36950 w 29"/>
                  <a:gd name="T11" fmla="*/ 36513 h 28"/>
                  <a:gd name="T12" fmla="*/ 39906 w 29"/>
                  <a:gd name="T13" fmla="*/ 33338 h 28"/>
                  <a:gd name="T14" fmla="*/ 39906 w 29"/>
                  <a:gd name="T15" fmla="*/ 33338 h 28"/>
                  <a:gd name="T16" fmla="*/ 42862 w 29"/>
                  <a:gd name="T17" fmla="*/ 26988 h 28"/>
                  <a:gd name="T18" fmla="*/ 42862 w 29"/>
                  <a:gd name="T19" fmla="*/ 23812 h 28"/>
                  <a:gd name="T20" fmla="*/ 42862 w 29"/>
                  <a:gd name="T21" fmla="*/ 20638 h 28"/>
                  <a:gd name="T22" fmla="*/ 42862 w 29"/>
                  <a:gd name="T23" fmla="*/ 17463 h 28"/>
                  <a:gd name="T24" fmla="*/ 42862 w 29"/>
                  <a:gd name="T25" fmla="*/ 14288 h 28"/>
                  <a:gd name="T26" fmla="*/ 39906 w 29"/>
                  <a:gd name="T27" fmla="*/ 11113 h 28"/>
                  <a:gd name="T28" fmla="*/ 39906 w 29"/>
                  <a:gd name="T29" fmla="*/ 7938 h 28"/>
                  <a:gd name="T30" fmla="*/ 36950 w 29"/>
                  <a:gd name="T31" fmla="*/ 6350 h 28"/>
                  <a:gd name="T32" fmla="*/ 33994 w 29"/>
                  <a:gd name="T33" fmla="*/ 3175 h 28"/>
                  <a:gd name="T34" fmla="*/ 31038 w 29"/>
                  <a:gd name="T35" fmla="*/ 0 h 28"/>
                  <a:gd name="T36" fmla="*/ 28082 w 29"/>
                  <a:gd name="T37" fmla="*/ 0 h 28"/>
                  <a:gd name="T38" fmla="*/ 25126 w 29"/>
                  <a:gd name="T39" fmla="*/ 0 h 28"/>
                  <a:gd name="T40" fmla="*/ 22170 w 29"/>
                  <a:gd name="T41" fmla="*/ 0 h 28"/>
                  <a:gd name="T42" fmla="*/ 19214 w 29"/>
                  <a:gd name="T43" fmla="*/ 0 h 28"/>
                  <a:gd name="T44" fmla="*/ 13302 w 29"/>
                  <a:gd name="T45" fmla="*/ 0 h 28"/>
                  <a:gd name="T46" fmla="*/ 11824 w 29"/>
                  <a:gd name="T47" fmla="*/ 0 h 28"/>
                  <a:gd name="T48" fmla="*/ 8868 w 29"/>
                  <a:gd name="T49" fmla="*/ 3175 h 28"/>
                  <a:gd name="T50" fmla="*/ 8868 w 29"/>
                  <a:gd name="T51" fmla="*/ 6350 h 28"/>
                  <a:gd name="T52" fmla="*/ 5912 w 29"/>
                  <a:gd name="T53" fmla="*/ 7938 h 28"/>
                  <a:gd name="T54" fmla="*/ 2956 w 29"/>
                  <a:gd name="T55" fmla="*/ 11113 h 28"/>
                  <a:gd name="T56" fmla="*/ 2956 w 29"/>
                  <a:gd name="T57" fmla="*/ 14288 h 28"/>
                  <a:gd name="T58" fmla="*/ 0 w 29"/>
                  <a:gd name="T59" fmla="*/ 17463 h 28"/>
                  <a:gd name="T60" fmla="*/ 0 w 29"/>
                  <a:gd name="T61" fmla="*/ 20638 h 28"/>
                  <a:gd name="T62" fmla="*/ 0 w 29"/>
                  <a:gd name="T63" fmla="*/ 23812 h 28"/>
                  <a:gd name="T64" fmla="*/ 2956 w 29"/>
                  <a:gd name="T65" fmla="*/ 26988 h 28"/>
                  <a:gd name="T66" fmla="*/ 2956 w 29"/>
                  <a:gd name="T67" fmla="*/ 33338 h 28"/>
                  <a:gd name="T68" fmla="*/ 5912 w 29"/>
                  <a:gd name="T69" fmla="*/ 33338 h 28"/>
                  <a:gd name="T70" fmla="*/ 8868 w 29"/>
                  <a:gd name="T71" fmla="*/ 36513 h 28"/>
                  <a:gd name="T72" fmla="*/ 8868 w 29"/>
                  <a:gd name="T73" fmla="*/ 39688 h 28"/>
                  <a:gd name="T74" fmla="*/ 11824 w 29"/>
                  <a:gd name="T75" fmla="*/ 41275 h 28"/>
                  <a:gd name="T76" fmla="*/ 13302 w 29"/>
                  <a:gd name="T77" fmla="*/ 41275 h 28"/>
                  <a:gd name="T78" fmla="*/ 19214 w 29"/>
                  <a:gd name="T79" fmla="*/ 41275 h 28"/>
                  <a:gd name="T80" fmla="*/ 22170 w 29"/>
                  <a:gd name="T81" fmla="*/ 44450 h 28"/>
                  <a:gd name="T82" fmla="*/ 22170 w 29"/>
                  <a:gd name="T83" fmla="*/ 44450 h 28"/>
                  <a:gd name="T84" fmla="*/ 19214 w 29"/>
                  <a:gd name="T85" fmla="*/ 41275 h 28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w 29"/>
                  <a:gd name="T130" fmla="*/ 0 h 28"/>
                  <a:gd name="T131" fmla="*/ 29 w 29"/>
                  <a:gd name="T132" fmla="*/ 28 h 28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T129" t="T130" r="T131" b="T132"/>
                <a:pathLst>
                  <a:path w="29" h="28">
                    <a:moveTo>
                      <a:pt x="13" y="26"/>
                    </a:moveTo>
                    <a:lnTo>
                      <a:pt x="17" y="26"/>
                    </a:lnTo>
                    <a:lnTo>
                      <a:pt x="19" y="26"/>
                    </a:lnTo>
                    <a:lnTo>
                      <a:pt x="21" y="26"/>
                    </a:lnTo>
                    <a:lnTo>
                      <a:pt x="23" y="25"/>
                    </a:lnTo>
                    <a:lnTo>
                      <a:pt x="25" y="23"/>
                    </a:lnTo>
                    <a:lnTo>
                      <a:pt x="27" y="21"/>
                    </a:lnTo>
                    <a:lnTo>
                      <a:pt x="29" y="17"/>
                    </a:lnTo>
                    <a:lnTo>
                      <a:pt x="29" y="15"/>
                    </a:lnTo>
                    <a:lnTo>
                      <a:pt x="29" y="13"/>
                    </a:lnTo>
                    <a:lnTo>
                      <a:pt x="29" y="11"/>
                    </a:lnTo>
                    <a:lnTo>
                      <a:pt x="29" y="9"/>
                    </a:lnTo>
                    <a:lnTo>
                      <a:pt x="27" y="7"/>
                    </a:lnTo>
                    <a:lnTo>
                      <a:pt x="27" y="5"/>
                    </a:lnTo>
                    <a:lnTo>
                      <a:pt x="25" y="4"/>
                    </a:lnTo>
                    <a:lnTo>
                      <a:pt x="23" y="2"/>
                    </a:lnTo>
                    <a:lnTo>
                      <a:pt x="21" y="0"/>
                    </a:lnTo>
                    <a:lnTo>
                      <a:pt x="19" y="0"/>
                    </a:lnTo>
                    <a:lnTo>
                      <a:pt x="17" y="0"/>
                    </a:lnTo>
                    <a:lnTo>
                      <a:pt x="15" y="0"/>
                    </a:lnTo>
                    <a:lnTo>
                      <a:pt x="13" y="0"/>
                    </a:lnTo>
                    <a:lnTo>
                      <a:pt x="9" y="0"/>
                    </a:lnTo>
                    <a:lnTo>
                      <a:pt x="8" y="0"/>
                    </a:lnTo>
                    <a:lnTo>
                      <a:pt x="6" y="2"/>
                    </a:lnTo>
                    <a:lnTo>
                      <a:pt x="6" y="4"/>
                    </a:lnTo>
                    <a:lnTo>
                      <a:pt x="4" y="5"/>
                    </a:lnTo>
                    <a:lnTo>
                      <a:pt x="2" y="7"/>
                    </a:lnTo>
                    <a:lnTo>
                      <a:pt x="2" y="9"/>
                    </a:lnTo>
                    <a:lnTo>
                      <a:pt x="0" y="11"/>
                    </a:lnTo>
                    <a:lnTo>
                      <a:pt x="0" y="13"/>
                    </a:lnTo>
                    <a:lnTo>
                      <a:pt x="0" y="15"/>
                    </a:lnTo>
                    <a:lnTo>
                      <a:pt x="2" y="17"/>
                    </a:lnTo>
                    <a:lnTo>
                      <a:pt x="2" y="21"/>
                    </a:lnTo>
                    <a:lnTo>
                      <a:pt x="4" y="21"/>
                    </a:lnTo>
                    <a:lnTo>
                      <a:pt x="6" y="23"/>
                    </a:lnTo>
                    <a:lnTo>
                      <a:pt x="6" y="25"/>
                    </a:lnTo>
                    <a:lnTo>
                      <a:pt x="8" y="26"/>
                    </a:lnTo>
                    <a:lnTo>
                      <a:pt x="9" y="26"/>
                    </a:lnTo>
                    <a:lnTo>
                      <a:pt x="13" y="26"/>
                    </a:lnTo>
                    <a:lnTo>
                      <a:pt x="15" y="28"/>
                    </a:lnTo>
                    <a:lnTo>
                      <a:pt x="13" y="26"/>
                    </a:lnTo>
                    <a:close/>
                  </a:path>
                </a:pathLst>
              </a:custGeom>
              <a:solidFill>
                <a:srgbClr val="EB75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222" name="Freeform 222"/>
              <p:cNvSpPr>
                <a:spLocks/>
              </p:cNvSpPr>
              <p:nvPr/>
            </p:nvSpPr>
            <p:spPr bwMode="auto">
              <a:xfrm>
                <a:off x="5355113" y="3114018"/>
                <a:ext cx="179017" cy="510198"/>
              </a:xfrm>
              <a:custGeom>
                <a:avLst/>
                <a:gdLst>
                  <a:gd name="T0" fmla="*/ 0 w 109"/>
                  <a:gd name="T1" fmla="*/ 0 h 285"/>
                  <a:gd name="T2" fmla="*/ 2913 w 109"/>
                  <a:gd name="T3" fmla="*/ 182562 h 285"/>
                  <a:gd name="T4" fmla="*/ 53888 w 109"/>
                  <a:gd name="T5" fmla="*/ 228600 h 285"/>
                  <a:gd name="T6" fmla="*/ 2913 w 109"/>
                  <a:gd name="T7" fmla="*/ 269875 h 285"/>
                  <a:gd name="T8" fmla="*/ 2913 w 109"/>
                  <a:gd name="T9" fmla="*/ 452437 h 285"/>
                  <a:gd name="T10" fmla="*/ 158750 w 109"/>
                  <a:gd name="T11" fmla="*/ 315912 h 285"/>
                  <a:gd name="T12" fmla="*/ 158750 w 109"/>
                  <a:gd name="T13" fmla="*/ 139700 h 285"/>
                  <a:gd name="T14" fmla="*/ 2913 w 109"/>
                  <a:gd name="T15" fmla="*/ 0 h 285"/>
                  <a:gd name="T16" fmla="*/ 2913 w 109"/>
                  <a:gd name="T17" fmla="*/ 0 h 285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09"/>
                  <a:gd name="T28" fmla="*/ 0 h 285"/>
                  <a:gd name="T29" fmla="*/ 109 w 109"/>
                  <a:gd name="T30" fmla="*/ 285 h 285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09" h="285">
                    <a:moveTo>
                      <a:pt x="0" y="0"/>
                    </a:moveTo>
                    <a:lnTo>
                      <a:pt x="2" y="115"/>
                    </a:lnTo>
                    <a:lnTo>
                      <a:pt x="37" y="144"/>
                    </a:lnTo>
                    <a:lnTo>
                      <a:pt x="2" y="170"/>
                    </a:lnTo>
                    <a:lnTo>
                      <a:pt x="2" y="285"/>
                    </a:lnTo>
                    <a:lnTo>
                      <a:pt x="109" y="199"/>
                    </a:lnTo>
                    <a:lnTo>
                      <a:pt x="109" y="88"/>
                    </a:lnTo>
                    <a:lnTo>
                      <a:pt x="2" y="0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223" name="Freeform 223"/>
              <p:cNvSpPr>
                <a:spLocks/>
              </p:cNvSpPr>
              <p:nvPr/>
            </p:nvSpPr>
            <p:spPr bwMode="auto">
              <a:xfrm>
                <a:off x="5682714" y="2535793"/>
                <a:ext cx="89508" cy="513779"/>
              </a:xfrm>
              <a:custGeom>
                <a:avLst/>
                <a:gdLst>
                  <a:gd name="T0" fmla="*/ 79375 w 54"/>
                  <a:gd name="T1" fmla="*/ 455613 h 287"/>
                  <a:gd name="T2" fmla="*/ 79375 w 54"/>
                  <a:gd name="T3" fmla="*/ 0 h 287"/>
                  <a:gd name="T4" fmla="*/ 0 w 54"/>
                  <a:gd name="T5" fmla="*/ 0 h 287"/>
                  <a:gd name="T6" fmla="*/ 0 w 54"/>
                  <a:gd name="T7" fmla="*/ 455613 h 287"/>
                  <a:gd name="T8" fmla="*/ 79375 w 54"/>
                  <a:gd name="T9" fmla="*/ 455613 h 287"/>
                  <a:gd name="T10" fmla="*/ 79375 w 54"/>
                  <a:gd name="T11" fmla="*/ 455613 h 28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54"/>
                  <a:gd name="T19" fmla="*/ 0 h 287"/>
                  <a:gd name="T20" fmla="*/ 54 w 54"/>
                  <a:gd name="T21" fmla="*/ 287 h 28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54" h="287">
                    <a:moveTo>
                      <a:pt x="54" y="287"/>
                    </a:moveTo>
                    <a:lnTo>
                      <a:pt x="54" y="0"/>
                    </a:lnTo>
                    <a:lnTo>
                      <a:pt x="0" y="0"/>
                    </a:lnTo>
                    <a:lnTo>
                      <a:pt x="0" y="287"/>
                    </a:lnTo>
                    <a:lnTo>
                      <a:pt x="54" y="287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224" name="Freeform 224"/>
              <p:cNvSpPr>
                <a:spLocks/>
              </p:cNvSpPr>
              <p:nvPr/>
            </p:nvSpPr>
            <p:spPr bwMode="auto">
              <a:xfrm>
                <a:off x="5682714" y="3114018"/>
                <a:ext cx="89508" cy="513778"/>
              </a:xfrm>
              <a:custGeom>
                <a:avLst/>
                <a:gdLst>
                  <a:gd name="T0" fmla="*/ 79375 w 54"/>
                  <a:gd name="T1" fmla="*/ 452437 h 287"/>
                  <a:gd name="T2" fmla="*/ 79375 w 54"/>
                  <a:gd name="T3" fmla="*/ 0 h 287"/>
                  <a:gd name="T4" fmla="*/ 0 w 54"/>
                  <a:gd name="T5" fmla="*/ 0 h 287"/>
                  <a:gd name="T6" fmla="*/ 0 w 54"/>
                  <a:gd name="T7" fmla="*/ 455612 h 287"/>
                  <a:gd name="T8" fmla="*/ 79375 w 54"/>
                  <a:gd name="T9" fmla="*/ 455612 h 287"/>
                  <a:gd name="T10" fmla="*/ 79375 w 54"/>
                  <a:gd name="T11" fmla="*/ 455612 h 28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54"/>
                  <a:gd name="T19" fmla="*/ 0 h 287"/>
                  <a:gd name="T20" fmla="*/ 54 w 54"/>
                  <a:gd name="T21" fmla="*/ 287 h 28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54" h="287">
                    <a:moveTo>
                      <a:pt x="54" y="285"/>
                    </a:moveTo>
                    <a:lnTo>
                      <a:pt x="54" y="0"/>
                    </a:lnTo>
                    <a:lnTo>
                      <a:pt x="0" y="0"/>
                    </a:lnTo>
                    <a:lnTo>
                      <a:pt x="0" y="287"/>
                    </a:lnTo>
                    <a:lnTo>
                      <a:pt x="54" y="287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225" name="Freeform 225"/>
              <p:cNvSpPr>
                <a:spLocks/>
              </p:cNvSpPr>
              <p:nvPr/>
            </p:nvSpPr>
            <p:spPr bwMode="auto">
              <a:xfrm>
                <a:off x="5919016" y="3692242"/>
                <a:ext cx="180808" cy="511988"/>
              </a:xfrm>
              <a:custGeom>
                <a:avLst/>
                <a:gdLst>
                  <a:gd name="T0" fmla="*/ 0 w 110"/>
                  <a:gd name="T1" fmla="*/ 0 h 286"/>
                  <a:gd name="T2" fmla="*/ 2915 w 110"/>
                  <a:gd name="T3" fmla="*/ 182562 h 286"/>
                  <a:gd name="T4" fmla="*/ 53932 w 110"/>
                  <a:gd name="T5" fmla="*/ 225425 h 286"/>
                  <a:gd name="T6" fmla="*/ 2915 w 110"/>
                  <a:gd name="T7" fmla="*/ 271462 h 286"/>
                  <a:gd name="T8" fmla="*/ 2915 w 110"/>
                  <a:gd name="T9" fmla="*/ 454025 h 286"/>
                  <a:gd name="T10" fmla="*/ 160338 w 110"/>
                  <a:gd name="T11" fmla="*/ 314325 h 286"/>
                  <a:gd name="T12" fmla="*/ 160338 w 110"/>
                  <a:gd name="T13" fmla="*/ 139700 h 286"/>
                  <a:gd name="T14" fmla="*/ 2915 w 110"/>
                  <a:gd name="T15" fmla="*/ 0 h 286"/>
                  <a:gd name="T16" fmla="*/ 2915 w 110"/>
                  <a:gd name="T17" fmla="*/ 0 h 28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10"/>
                  <a:gd name="T28" fmla="*/ 0 h 286"/>
                  <a:gd name="T29" fmla="*/ 110 w 110"/>
                  <a:gd name="T30" fmla="*/ 286 h 28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10" h="286">
                    <a:moveTo>
                      <a:pt x="0" y="0"/>
                    </a:moveTo>
                    <a:lnTo>
                      <a:pt x="2" y="115"/>
                    </a:lnTo>
                    <a:lnTo>
                      <a:pt x="37" y="142"/>
                    </a:lnTo>
                    <a:lnTo>
                      <a:pt x="2" y="171"/>
                    </a:lnTo>
                    <a:lnTo>
                      <a:pt x="2" y="286"/>
                    </a:lnTo>
                    <a:lnTo>
                      <a:pt x="110" y="198"/>
                    </a:lnTo>
                    <a:lnTo>
                      <a:pt x="110" y="88"/>
                    </a:lnTo>
                    <a:lnTo>
                      <a:pt x="2" y="0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226" name="Freeform 226"/>
              <p:cNvSpPr>
                <a:spLocks/>
              </p:cNvSpPr>
              <p:nvPr/>
            </p:nvSpPr>
            <p:spPr bwMode="auto">
              <a:xfrm>
                <a:off x="6248407" y="3692242"/>
                <a:ext cx="87719" cy="513779"/>
              </a:xfrm>
              <a:custGeom>
                <a:avLst/>
                <a:gdLst>
                  <a:gd name="T0" fmla="*/ 77788 w 53"/>
                  <a:gd name="T1" fmla="*/ 454025 h 287"/>
                  <a:gd name="T2" fmla="*/ 77788 w 53"/>
                  <a:gd name="T3" fmla="*/ 0 h 287"/>
                  <a:gd name="T4" fmla="*/ 0 w 53"/>
                  <a:gd name="T5" fmla="*/ 0 h 287"/>
                  <a:gd name="T6" fmla="*/ 0 w 53"/>
                  <a:gd name="T7" fmla="*/ 455613 h 287"/>
                  <a:gd name="T8" fmla="*/ 77788 w 53"/>
                  <a:gd name="T9" fmla="*/ 455613 h 287"/>
                  <a:gd name="T10" fmla="*/ 77788 w 53"/>
                  <a:gd name="T11" fmla="*/ 455613 h 28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53"/>
                  <a:gd name="T19" fmla="*/ 0 h 287"/>
                  <a:gd name="T20" fmla="*/ 53 w 53"/>
                  <a:gd name="T21" fmla="*/ 287 h 28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53" h="287">
                    <a:moveTo>
                      <a:pt x="53" y="286"/>
                    </a:moveTo>
                    <a:lnTo>
                      <a:pt x="53" y="0"/>
                    </a:lnTo>
                    <a:lnTo>
                      <a:pt x="0" y="0"/>
                    </a:lnTo>
                    <a:lnTo>
                      <a:pt x="0" y="287"/>
                    </a:lnTo>
                    <a:lnTo>
                      <a:pt x="53" y="287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227" name="Freeform 227"/>
              <p:cNvSpPr>
                <a:spLocks/>
              </p:cNvSpPr>
              <p:nvPr/>
            </p:nvSpPr>
            <p:spPr bwMode="auto">
              <a:xfrm>
                <a:off x="5269185" y="2791788"/>
                <a:ext cx="417109" cy="191548"/>
              </a:xfrm>
              <a:custGeom>
                <a:avLst/>
                <a:gdLst>
                  <a:gd name="T0" fmla="*/ 0 w 253"/>
                  <a:gd name="T1" fmla="*/ 0 h 107"/>
                  <a:gd name="T2" fmla="*/ 2924 w 253"/>
                  <a:gd name="T3" fmla="*/ 169862 h 107"/>
                  <a:gd name="T4" fmla="*/ 317255 w 253"/>
                  <a:gd name="T5" fmla="*/ 169862 h 107"/>
                  <a:gd name="T6" fmla="*/ 317255 w 253"/>
                  <a:gd name="T7" fmla="*/ 57150 h 107"/>
                  <a:gd name="T8" fmla="*/ 369887 w 253"/>
                  <a:gd name="T9" fmla="*/ 57150 h 10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3"/>
                  <a:gd name="T16" fmla="*/ 0 h 107"/>
                  <a:gd name="T17" fmla="*/ 253 w 253"/>
                  <a:gd name="T18" fmla="*/ 107 h 10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3" h="107">
                    <a:moveTo>
                      <a:pt x="0" y="0"/>
                    </a:moveTo>
                    <a:lnTo>
                      <a:pt x="2" y="107"/>
                    </a:lnTo>
                    <a:lnTo>
                      <a:pt x="217" y="107"/>
                    </a:lnTo>
                    <a:lnTo>
                      <a:pt x="217" y="36"/>
                    </a:lnTo>
                    <a:lnTo>
                      <a:pt x="253" y="36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228" name="Line 228"/>
              <p:cNvSpPr>
                <a:spLocks noChangeShapeType="1"/>
              </p:cNvSpPr>
              <p:nvPr/>
            </p:nvSpPr>
            <p:spPr bwMode="auto">
              <a:xfrm>
                <a:off x="5537711" y="3368222"/>
                <a:ext cx="143214" cy="358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229" name="Line 229"/>
              <p:cNvSpPr>
                <a:spLocks noChangeShapeType="1"/>
              </p:cNvSpPr>
              <p:nvPr/>
            </p:nvSpPr>
            <p:spPr bwMode="auto">
              <a:xfrm>
                <a:off x="5772222" y="3368222"/>
                <a:ext cx="121732" cy="358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230" name="Line 230"/>
              <p:cNvSpPr>
                <a:spLocks noChangeShapeType="1"/>
              </p:cNvSpPr>
              <p:nvPr/>
            </p:nvSpPr>
            <p:spPr bwMode="auto">
              <a:xfrm>
                <a:off x="6101613" y="3946446"/>
                <a:ext cx="146794" cy="358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231" name="Line 231"/>
              <p:cNvSpPr>
                <a:spLocks noChangeShapeType="1"/>
              </p:cNvSpPr>
              <p:nvPr/>
            </p:nvSpPr>
            <p:spPr bwMode="auto">
              <a:xfrm>
                <a:off x="6336126" y="3946446"/>
                <a:ext cx="123521" cy="358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232" name="Freeform 232"/>
              <p:cNvSpPr>
                <a:spLocks/>
              </p:cNvSpPr>
              <p:nvPr/>
            </p:nvSpPr>
            <p:spPr bwMode="auto">
              <a:xfrm>
                <a:off x="5833088" y="3368222"/>
                <a:ext cx="418900" cy="195128"/>
              </a:xfrm>
              <a:custGeom>
                <a:avLst/>
                <a:gdLst>
                  <a:gd name="T0" fmla="*/ 0 w 253"/>
                  <a:gd name="T1" fmla="*/ 0 h 109"/>
                  <a:gd name="T2" fmla="*/ 1468 w 253"/>
                  <a:gd name="T3" fmla="*/ 173037 h 109"/>
                  <a:gd name="T4" fmla="*/ 317149 w 253"/>
                  <a:gd name="T5" fmla="*/ 173037 h 109"/>
                  <a:gd name="T6" fmla="*/ 317149 w 253"/>
                  <a:gd name="T7" fmla="*/ 60325 h 109"/>
                  <a:gd name="T8" fmla="*/ 371475 w 253"/>
                  <a:gd name="T9" fmla="*/ 60325 h 10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3"/>
                  <a:gd name="T16" fmla="*/ 0 h 109"/>
                  <a:gd name="T17" fmla="*/ 253 w 253"/>
                  <a:gd name="T18" fmla="*/ 109 h 10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3" h="109">
                    <a:moveTo>
                      <a:pt x="0" y="0"/>
                    </a:moveTo>
                    <a:lnTo>
                      <a:pt x="1" y="109"/>
                    </a:lnTo>
                    <a:lnTo>
                      <a:pt x="216" y="109"/>
                    </a:lnTo>
                    <a:lnTo>
                      <a:pt x="216" y="38"/>
                    </a:lnTo>
                    <a:lnTo>
                      <a:pt x="253" y="38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233" name="Rectangle 233"/>
              <p:cNvSpPr>
                <a:spLocks noChangeArrowheads="1"/>
              </p:cNvSpPr>
              <p:nvPr/>
            </p:nvSpPr>
            <p:spPr bwMode="auto">
              <a:xfrm>
                <a:off x="5935128" y="3293035"/>
                <a:ext cx="62518" cy="1231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 dirty="0">
                    <a:solidFill>
                      <a:srgbClr val="000000"/>
                    </a:solidFill>
                    <a:latin typeface="+mj-lt"/>
                  </a:rPr>
                  <a:t>D</a:t>
                </a:r>
                <a:endParaRPr lang="en-US" sz="1200" b="1" dirty="0">
                  <a:latin typeface="+mj-lt"/>
                </a:endParaRPr>
              </a:p>
            </p:txBody>
          </p:sp>
          <p:sp>
            <p:nvSpPr>
              <p:cNvPr id="234" name="Rectangle 234"/>
              <p:cNvSpPr>
                <a:spLocks noChangeArrowheads="1"/>
              </p:cNvSpPr>
              <p:nvPr/>
            </p:nvSpPr>
            <p:spPr bwMode="auto">
              <a:xfrm>
                <a:off x="6010315" y="3293035"/>
                <a:ext cx="88166" cy="1231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M</a:t>
                </a:r>
                <a:endParaRPr lang="en-US" sz="1200" b="1">
                  <a:latin typeface="+mj-lt"/>
                </a:endParaRPr>
              </a:p>
            </p:txBody>
          </p:sp>
          <p:sp>
            <p:nvSpPr>
              <p:cNvPr id="235" name="Freeform 235"/>
              <p:cNvSpPr>
                <a:spLocks/>
              </p:cNvSpPr>
              <p:nvPr/>
            </p:nvSpPr>
            <p:spPr bwMode="auto">
              <a:xfrm>
                <a:off x="5893954" y="3241120"/>
                <a:ext cx="238093" cy="255995"/>
              </a:xfrm>
              <a:custGeom>
                <a:avLst/>
                <a:gdLst>
                  <a:gd name="T0" fmla="*/ 211138 w 144"/>
                  <a:gd name="T1" fmla="*/ 227013 h 143"/>
                  <a:gd name="T2" fmla="*/ 211138 w 144"/>
                  <a:gd name="T3" fmla="*/ 0 h 143"/>
                  <a:gd name="T4" fmla="*/ 0 w 144"/>
                  <a:gd name="T5" fmla="*/ 0 h 143"/>
                  <a:gd name="T6" fmla="*/ 0 w 144"/>
                  <a:gd name="T7" fmla="*/ 227013 h 143"/>
                  <a:gd name="T8" fmla="*/ 211138 w 144"/>
                  <a:gd name="T9" fmla="*/ 227013 h 143"/>
                  <a:gd name="T10" fmla="*/ 211138 w 144"/>
                  <a:gd name="T11" fmla="*/ 227013 h 14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44"/>
                  <a:gd name="T19" fmla="*/ 0 h 143"/>
                  <a:gd name="T20" fmla="*/ 144 w 144"/>
                  <a:gd name="T21" fmla="*/ 143 h 14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44" h="143">
                    <a:moveTo>
                      <a:pt x="144" y="143"/>
                    </a:moveTo>
                    <a:lnTo>
                      <a:pt x="144" y="0"/>
                    </a:lnTo>
                    <a:lnTo>
                      <a:pt x="0" y="0"/>
                    </a:lnTo>
                    <a:lnTo>
                      <a:pt x="0" y="143"/>
                    </a:lnTo>
                    <a:lnTo>
                      <a:pt x="144" y="143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236" name="Freeform 236"/>
              <p:cNvSpPr>
                <a:spLocks/>
              </p:cNvSpPr>
              <p:nvPr/>
            </p:nvSpPr>
            <p:spPr bwMode="auto">
              <a:xfrm>
                <a:off x="6251988" y="3114018"/>
                <a:ext cx="91299" cy="513778"/>
              </a:xfrm>
              <a:custGeom>
                <a:avLst/>
                <a:gdLst>
                  <a:gd name="T0" fmla="*/ 78019 w 55"/>
                  <a:gd name="T1" fmla="*/ 452437 h 287"/>
                  <a:gd name="T2" fmla="*/ 80963 w 55"/>
                  <a:gd name="T3" fmla="*/ 0 h 287"/>
                  <a:gd name="T4" fmla="*/ 0 w 55"/>
                  <a:gd name="T5" fmla="*/ 0 h 287"/>
                  <a:gd name="T6" fmla="*/ 0 w 55"/>
                  <a:gd name="T7" fmla="*/ 455612 h 287"/>
                  <a:gd name="T8" fmla="*/ 80963 w 55"/>
                  <a:gd name="T9" fmla="*/ 455612 h 287"/>
                  <a:gd name="T10" fmla="*/ 80963 w 55"/>
                  <a:gd name="T11" fmla="*/ 455612 h 28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55"/>
                  <a:gd name="T19" fmla="*/ 0 h 287"/>
                  <a:gd name="T20" fmla="*/ 55 w 55"/>
                  <a:gd name="T21" fmla="*/ 287 h 28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55" h="287">
                    <a:moveTo>
                      <a:pt x="53" y="285"/>
                    </a:moveTo>
                    <a:lnTo>
                      <a:pt x="55" y="0"/>
                    </a:lnTo>
                    <a:lnTo>
                      <a:pt x="0" y="0"/>
                    </a:lnTo>
                    <a:lnTo>
                      <a:pt x="0" y="287"/>
                    </a:lnTo>
                    <a:lnTo>
                      <a:pt x="55" y="287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grpSp>
            <p:nvGrpSpPr>
              <p:cNvPr id="276" name="Group 276"/>
              <p:cNvGrpSpPr>
                <a:grpSpLocks/>
              </p:cNvGrpSpPr>
              <p:nvPr/>
            </p:nvGrpSpPr>
            <p:grpSpPr bwMode="auto">
              <a:xfrm>
                <a:off x="162657" y="2143748"/>
                <a:ext cx="1216215" cy="3131007"/>
                <a:chOff x="211" y="1852"/>
                <a:chExt cx="736" cy="1749"/>
              </a:xfrm>
            </p:grpSpPr>
            <p:sp>
              <p:nvSpPr>
                <p:cNvPr id="277" name="Line 277"/>
                <p:cNvSpPr>
                  <a:spLocks noChangeShapeType="1"/>
                </p:cNvSpPr>
                <p:nvPr/>
              </p:nvSpPr>
              <p:spPr bwMode="auto">
                <a:xfrm>
                  <a:off x="908" y="2140"/>
                  <a:ext cx="2" cy="1418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>
                    <a:latin typeface="+mj-lt"/>
                  </a:endParaRPr>
                </a:p>
              </p:txBody>
            </p:sp>
            <p:sp>
              <p:nvSpPr>
                <p:cNvPr id="278" name="Freeform 278"/>
                <p:cNvSpPr>
                  <a:spLocks/>
                </p:cNvSpPr>
                <p:nvPr/>
              </p:nvSpPr>
              <p:spPr bwMode="auto">
                <a:xfrm>
                  <a:off x="897" y="3551"/>
                  <a:ext cx="50" cy="50"/>
                </a:xfrm>
                <a:custGeom>
                  <a:avLst/>
                  <a:gdLst>
                    <a:gd name="T0" fmla="*/ 50 w 24"/>
                    <a:gd name="T1" fmla="*/ 0 h 25"/>
                    <a:gd name="T2" fmla="*/ 0 w 24"/>
                    <a:gd name="T3" fmla="*/ 4 h 25"/>
                    <a:gd name="T4" fmla="*/ 27 w 24"/>
                    <a:gd name="T5" fmla="*/ 50 h 25"/>
                    <a:gd name="T6" fmla="*/ 50 w 24"/>
                    <a:gd name="T7" fmla="*/ 4 h 25"/>
                    <a:gd name="T8" fmla="*/ 50 w 24"/>
                    <a:gd name="T9" fmla="*/ 4 h 25"/>
                    <a:gd name="T10" fmla="*/ 50 w 24"/>
                    <a:gd name="T11" fmla="*/ 0 h 25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4"/>
                    <a:gd name="T19" fmla="*/ 0 h 25"/>
                    <a:gd name="T20" fmla="*/ 24 w 24"/>
                    <a:gd name="T21" fmla="*/ 25 h 25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4" h="25">
                      <a:moveTo>
                        <a:pt x="24" y="0"/>
                      </a:moveTo>
                      <a:lnTo>
                        <a:pt x="0" y="2"/>
                      </a:lnTo>
                      <a:lnTo>
                        <a:pt x="13" y="25"/>
                      </a:lnTo>
                      <a:lnTo>
                        <a:pt x="24" y="2"/>
                      </a:lnTo>
                      <a:lnTo>
                        <a:pt x="24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>
                    <a:latin typeface="+mj-lt"/>
                  </a:endParaRPr>
                </a:p>
              </p:txBody>
            </p:sp>
            <p:sp>
              <p:nvSpPr>
                <p:cNvPr id="279" name="Rectangle 279"/>
                <p:cNvSpPr>
                  <a:spLocks noChangeArrowheads="1"/>
                </p:cNvSpPr>
                <p:nvPr/>
              </p:nvSpPr>
              <p:spPr bwMode="auto">
                <a:xfrm>
                  <a:off x="211" y="1852"/>
                  <a:ext cx="489" cy="361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 type="none" w="sm" len="sm"/>
                  <a:tailEnd type="none" w="med" len="lg"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sz="1200" b="1" dirty="0">
                      <a:latin typeface="+mj-lt"/>
                    </a:rPr>
                    <a:t>Program</a:t>
                  </a:r>
                </a:p>
                <a:p>
                  <a:r>
                    <a:rPr lang="en-US" sz="1200" b="1" dirty="0">
                      <a:latin typeface="+mj-lt"/>
                    </a:rPr>
                    <a:t>execution</a:t>
                  </a:r>
                </a:p>
                <a:p>
                  <a:r>
                    <a:rPr lang="en-US" sz="1200" b="1" dirty="0">
                      <a:latin typeface="+mj-lt"/>
                    </a:rPr>
                    <a:t>order</a:t>
                  </a:r>
                </a:p>
              </p:txBody>
            </p:sp>
          </p:grpSp>
          <p:sp>
            <p:nvSpPr>
              <p:cNvPr id="280" name="Rectangle 280"/>
              <p:cNvSpPr>
                <a:spLocks noChangeArrowheads="1"/>
              </p:cNvSpPr>
              <p:nvPr/>
            </p:nvSpPr>
            <p:spPr bwMode="auto">
              <a:xfrm>
                <a:off x="1440012" y="2609190"/>
                <a:ext cx="2457903" cy="2696123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med" len="lg"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10000"/>
                  </a:spcBef>
                </a:pPr>
                <a:r>
                  <a:rPr lang="en-US" b="1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lw</a:t>
                </a:r>
                <a:r>
                  <a:rPr lang="en-US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 </a:t>
                </a:r>
                <a:r>
                  <a:rPr lang="en-US" b="1" dirty="0">
                    <a:solidFill>
                      <a:schemeClr val="hlin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R2</a:t>
                </a:r>
                <a:r>
                  <a:rPr lang="en-US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, 30(R1)</a:t>
                </a:r>
                <a:br>
                  <a:rPr lang="en-US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</a:br>
                <a:endParaRPr lang="en-US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>
                  <a:spcBef>
                    <a:spcPct val="10000"/>
                  </a:spcBef>
                </a:pPr>
                <a:r>
                  <a:rPr lang="en-US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and R12,</a:t>
                </a:r>
                <a:r>
                  <a:rPr lang="en-US" b="1" dirty="0">
                    <a:solidFill>
                      <a:schemeClr val="hlin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R2</a:t>
                </a:r>
                <a:r>
                  <a:rPr lang="en-US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, R5</a:t>
                </a:r>
                <a:br>
                  <a:rPr lang="en-US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</a:br>
                <a:endParaRPr lang="en-US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>
                  <a:spcBef>
                    <a:spcPct val="10000"/>
                  </a:spcBef>
                </a:pPr>
                <a:r>
                  <a:rPr lang="en-US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or  R13,R6, </a:t>
                </a:r>
                <a:r>
                  <a:rPr lang="en-US" b="1" dirty="0">
                    <a:solidFill>
                      <a:schemeClr val="hlin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R2</a:t>
                </a:r>
                <a:r>
                  <a:rPr lang="en-US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/>
                </a:r>
                <a:br>
                  <a:rPr lang="en-US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</a:br>
                <a:endParaRPr lang="en-US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>
                  <a:spcBef>
                    <a:spcPct val="10000"/>
                  </a:spcBef>
                </a:pPr>
                <a:r>
                  <a:rPr lang="en-US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add R14,</a:t>
                </a:r>
                <a:r>
                  <a:rPr lang="en-US" b="1" dirty="0">
                    <a:solidFill>
                      <a:schemeClr val="hlin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R2</a:t>
                </a:r>
                <a:r>
                  <a:rPr lang="en-US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, </a:t>
                </a:r>
                <a:r>
                  <a:rPr lang="en-US" b="1" dirty="0">
                    <a:solidFill>
                      <a:schemeClr val="hlin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R2</a:t>
                </a:r>
                <a:r>
                  <a:rPr lang="en-US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/>
                </a:r>
                <a:br>
                  <a:rPr lang="en-US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</a:br>
                <a:endParaRPr lang="en-US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>
                  <a:spcBef>
                    <a:spcPct val="10000"/>
                  </a:spcBef>
                </a:pPr>
                <a:r>
                  <a:rPr lang="en-US" b="1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sw</a:t>
                </a:r>
                <a:r>
                  <a:rPr lang="en-US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 R15,100(</a:t>
                </a:r>
                <a:r>
                  <a:rPr lang="en-US" b="1" dirty="0">
                    <a:solidFill>
                      <a:schemeClr val="hlink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R2</a:t>
                </a:r>
                <a:r>
                  <a:rPr lang="en-US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)</a:t>
                </a:r>
              </a:p>
            </p:txBody>
          </p:sp>
          <p:grpSp>
            <p:nvGrpSpPr>
              <p:cNvPr id="292" name="Группа 291"/>
              <p:cNvGrpSpPr/>
              <p:nvPr/>
            </p:nvGrpSpPr>
            <p:grpSpPr>
              <a:xfrm>
                <a:off x="1695535" y="2133603"/>
                <a:ext cx="6803336" cy="238885"/>
                <a:chOff x="1722562" y="2022646"/>
                <a:chExt cx="6757246" cy="131562"/>
              </a:xfrm>
            </p:grpSpPr>
            <p:sp>
              <p:nvSpPr>
                <p:cNvPr id="282" name="Rectangle 242"/>
                <p:cNvSpPr>
                  <a:spLocks noChangeArrowheads="1"/>
                </p:cNvSpPr>
                <p:nvPr/>
              </p:nvSpPr>
              <p:spPr bwMode="auto">
                <a:xfrm>
                  <a:off x="3728150" y="2060981"/>
                  <a:ext cx="71647" cy="9322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US" sz="1100" b="1" dirty="0">
                      <a:solidFill>
                        <a:srgbClr val="000000"/>
                      </a:solidFill>
                      <a:latin typeface="+mj-lt"/>
                    </a:rPr>
                    <a:t>1</a:t>
                  </a:r>
                  <a:endParaRPr lang="en-US" sz="1100" b="1" dirty="0">
                    <a:latin typeface="+mj-lt"/>
                  </a:endParaRPr>
                </a:p>
              </p:txBody>
            </p:sp>
            <p:sp>
              <p:nvSpPr>
                <p:cNvPr id="283" name="Rectangle 246"/>
                <p:cNvSpPr>
                  <a:spLocks noChangeArrowheads="1"/>
                </p:cNvSpPr>
                <p:nvPr/>
              </p:nvSpPr>
              <p:spPr bwMode="auto">
                <a:xfrm>
                  <a:off x="4312294" y="2060981"/>
                  <a:ext cx="71647" cy="9322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US" sz="1100" b="1">
                      <a:solidFill>
                        <a:srgbClr val="000000"/>
                      </a:solidFill>
                      <a:latin typeface="+mj-lt"/>
                    </a:rPr>
                    <a:t>2</a:t>
                  </a:r>
                  <a:endParaRPr lang="en-US" sz="1100" b="1">
                    <a:latin typeface="+mj-lt"/>
                  </a:endParaRPr>
                </a:p>
              </p:txBody>
            </p:sp>
            <p:sp>
              <p:nvSpPr>
                <p:cNvPr id="284" name="Rectangle 250"/>
                <p:cNvSpPr>
                  <a:spLocks noChangeArrowheads="1"/>
                </p:cNvSpPr>
                <p:nvPr/>
              </p:nvSpPr>
              <p:spPr bwMode="auto">
                <a:xfrm>
                  <a:off x="4896440" y="2060981"/>
                  <a:ext cx="71647" cy="9322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US" sz="1100" b="1" dirty="0">
                      <a:solidFill>
                        <a:srgbClr val="000000"/>
                      </a:solidFill>
                      <a:latin typeface="+mj-lt"/>
                    </a:rPr>
                    <a:t>3</a:t>
                  </a:r>
                  <a:endParaRPr lang="en-US" sz="1100" b="1" dirty="0">
                    <a:latin typeface="+mj-lt"/>
                  </a:endParaRPr>
                </a:p>
              </p:txBody>
            </p:sp>
            <p:sp>
              <p:nvSpPr>
                <p:cNvPr id="285" name="Rectangle 254"/>
                <p:cNvSpPr>
                  <a:spLocks noChangeArrowheads="1"/>
                </p:cNvSpPr>
                <p:nvPr/>
              </p:nvSpPr>
              <p:spPr bwMode="auto">
                <a:xfrm>
                  <a:off x="5485723" y="2060981"/>
                  <a:ext cx="71647" cy="9322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US" sz="1100" b="1">
                      <a:solidFill>
                        <a:srgbClr val="000000"/>
                      </a:solidFill>
                      <a:latin typeface="+mj-lt"/>
                    </a:rPr>
                    <a:t>4</a:t>
                  </a:r>
                  <a:endParaRPr lang="en-US" sz="1100" b="1">
                    <a:latin typeface="+mj-lt"/>
                  </a:endParaRPr>
                </a:p>
              </p:txBody>
            </p:sp>
            <p:sp>
              <p:nvSpPr>
                <p:cNvPr id="286" name="Rectangle 258"/>
                <p:cNvSpPr>
                  <a:spLocks noChangeArrowheads="1"/>
                </p:cNvSpPr>
                <p:nvPr/>
              </p:nvSpPr>
              <p:spPr bwMode="auto">
                <a:xfrm>
                  <a:off x="6069868" y="2060981"/>
                  <a:ext cx="71647" cy="9322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US" sz="1100" b="1" dirty="0">
                      <a:solidFill>
                        <a:srgbClr val="000000"/>
                      </a:solidFill>
                      <a:latin typeface="+mj-lt"/>
                    </a:rPr>
                    <a:t>5</a:t>
                  </a:r>
                  <a:endParaRPr lang="en-US" sz="1100" b="1" dirty="0">
                    <a:latin typeface="+mj-lt"/>
                  </a:endParaRPr>
                </a:p>
              </p:txBody>
            </p:sp>
            <p:sp>
              <p:nvSpPr>
                <p:cNvPr id="287" name="Rectangle 262"/>
                <p:cNvSpPr>
                  <a:spLocks noChangeArrowheads="1"/>
                </p:cNvSpPr>
                <p:nvPr/>
              </p:nvSpPr>
              <p:spPr bwMode="auto">
                <a:xfrm>
                  <a:off x="6654014" y="2060981"/>
                  <a:ext cx="71647" cy="9322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US" sz="1100" b="1">
                      <a:solidFill>
                        <a:srgbClr val="000000"/>
                      </a:solidFill>
                      <a:latin typeface="+mj-lt"/>
                    </a:rPr>
                    <a:t>6</a:t>
                  </a:r>
                  <a:endParaRPr lang="en-US" sz="1100" b="1">
                    <a:latin typeface="+mj-lt"/>
                  </a:endParaRPr>
                </a:p>
              </p:txBody>
            </p:sp>
            <p:sp>
              <p:nvSpPr>
                <p:cNvPr id="288" name="Rectangle 263"/>
                <p:cNvSpPr>
                  <a:spLocks noChangeArrowheads="1"/>
                </p:cNvSpPr>
                <p:nvPr/>
              </p:nvSpPr>
              <p:spPr bwMode="auto">
                <a:xfrm>
                  <a:off x="1722562" y="2022646"/>
                  <a:ext cx="1370135" cy="11865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US" sz="1400" b="1" dirty="0">
                      <a:solidFill>
                        <a:srgbClr val="000000"/>
                      </a:solidFill>
                      <a:latin typeface="+mj-lt"/>
                    </a:rPr>
                    <a:t>Time (clock cycles)</a:t>
                  </a:r>
                  <a:endParaRPr lang="en-US" sz="2000" b="1" dirty="0">
                    <a:latin typeface="+mj-lt"/>
                  </a:endParaRPr>
                </a:p>
              </p:txBody>
            </p:sp>
            <p:sp>
              <p:nvSpPr>
                <p:cNvPr id="289" name="Rectangle 269"/>
                <p:cNvSpPr>
                  <a:spLocks noChangeArrowheads="1"/>
                </p:cNvSpPr>
                <p:nvPr/>
              </p:nvSpPr>
              <p:spPr bwMode="auto">
                <a:xfrm>
                  <a:off x="7238158" y="2060981"/>
                  <a:ext cx="71647" cy="9322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US" sz="1100" b="1">
                      <a:solidFill>
                        <a:srgbClr val="000000"/>
                      </a:solidFill>
                      <a:latin typeface="+mj-lt"/>
                    </a:rPr>
                    <a:t>7</a:t>
                  </a:r>
                  <a:endParaRPr lang="en-US" sz="1100" b="1">
                    <a:latin typeface="+mj-lt"/>
                  </a:endParaRPr>
                </a:p>
              </p:txBody>
            </p:sp>
            <p:sp>
              <p:nvSpPr>
                <p:cNvPr id="290" name="Rectangle 273"/>
                <p:cNvSpPr>
                  <a:spLocks noChangeArrowheads="1"/>
                </p:cNvSpPr>
                <p:nvPr/>
              </p:nvSpPr>
              <p:spPr bwMode="auto">
                <a:xfrm>
                  <a:off x="7822303" y="2060981"/>
                  <a:ext cx="71647" cy="9322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US" sz="1100" b="1" dirty="0">
                      <a:solidFill>
                        <a:srgbClr val="000000"/>
                      </a:solidFill>
                      <a:latin typeface="+mj-lt"/>
                    </a:rPr>
                    <a:t>8</a:t>
                  </a:r>
                  <a:endParaRPr lang="en-US" sz="1100" b="1" dirty="0">
                    <a:latin typeface="+mj-lt"/>
                  </a:endParaRPr>
                </a:p>
              </p:txBody>
            </p:sp>
            <p:sp>
              <p:nvSpPr>
                <p:cNvPr id="291" name="Rectangle 277"/>
                <p:cNvSpPr>
                  <a:spLocks noChangeArrowheads="1"/>
                </p:cNvSpPr>
                <p:nvPr/>
              </p:nvSpPr>
              <p:spPr bwMode="auto">
                <a:xfrm>
                  <a:off x="8408161" y="2060981"/>
                  <a:ext cx="71647" cy="9322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r>
                    <a:rPr lang="en-US" sz="1100" b="1" dirty="0">
                      <a:solidFill>
                        <a:srgbClr val="000000"/>
                      </a:solidFill>
                      <a:latin typeface="+mj-lt"/>
                    </a:rPr>
                    <a:t>9</a:t>
                  </a:r>
                  <a:endParaRPr lang="en-US" sz="1100" b="1" dirty="0">
                    <a:latin typeface="+mj-lt"/>
                  </a:endParaRPr>
                </a:p>
              </p:txBody>
            </p:sp>
          </p:grpSp>
          <p:sp>
            <p:nvSpPr>
              <p:cNvPr id="303" name="Rectangle 88"/>
              <p:cNvSpPr>
                <a:spLocks noChangeArrowheads="1"/>
              </p:cNvSpPr>
              <p:nvPr/>
            </p:nvSpPr>
            <p:spPr bwMode="auto">
              <a:xfrm>
                <a:off x="6435945" y="3248280"/>
                <a:ext cx="118151" cy="257784"/>
              </a:xfrm>
              <a:prstGeom prst="rect">
                <a:avLst/>
              </a:prstGeom>
              <a:solidFill>
                <a:srgbClr val="CCCCCC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304" name="Rectangle 89"/>
              <p:cNvSpPr>
                <a:spLocks noChangeArrowheads="1"/>
              </p:cNvSpPr>
              <p:nvPr/>
            </p:nvSpPr>
            <p:spPr bwMode="auto">
              <a:xfrm>
                <a:off x="6435945" y="3248280"/>
                <a:ext cx="118151" cy="257784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305" name="Line 90"/>
              <p:cNvSpPr>
                <a:spLocks noChangeShapeType="1"/>
              </p:cNvSpPr>
              <p:nvPr/>
            </p:nvSpPr>
            <p:spPr bwMode="auto">
              <a:xfrm flipV="1">
                <a:off x="6670457" y="3244700"/>
                <a:ext cx="3580" cy="26494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306" name="Line 91"/>
              <p:cNvSpPr>
                <a:spLocks noChangeShapeType="1"/>
              </p:cNvSpPr>
              <p:nvPr/>
            </p:nvSpPr>
            <p:spPr bwMode="auto">
              <a:xfrm flipH="1">
                <a:off x="6550516" y="3248280"/>
                <a:ext cx="119941" cy="179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307" name="Line 92"/>
              <p:cNvSpPr>
                <a:spLocks noChangeShapeType="1"/>
              </p:cNvSpPr>
              <p:nvPr/>
            </p:nvSpPr>
            <p:spPr bwMode="auto">
              <a:xfrm flipH="1">
                <a:off x="6550516" y="3506064"/>
                <a:ext cx="119941" cy="179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308" name="Rectangle 110"/>
              <p:cNvSpPr>
                <a:spLocks noChangeArrowheads="1"/>
              </p:cNvSpPr>
              <p:nvPr/>
            </p:nvSpPr>
            <p:spPr bwMode="auto">
              <a:xfrm>
                <a:off x="6466377" y="3300194"/>
                <a:ext cx="56106" cy="1231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R</a:t>
                </a:r>
                <a:endParaRPr lang="en-US" sz="1200" b="1">
                  <a:latin typeface="+mj-lt"/>
                </a:endParaRPr>
              </a:p>
            </p:txBody>
          </p:sp>
          <p:sp>
            <p:nvSpPr>
              <p:cNvPr id="309" name="Rectangle 111"/>
              <p:cNvSpPr>
                <a:spLocks noChangeArrowheads="1"/>
              </p:cNvSpPr>
              <p:nvPr/>
            </p:nvSpPr>
            <p:spPr bwMode="auto">
              <a:xfrm>
                <a:off x="6541565" y="3300194"/>
                <a:ext cx="51296" cy="1231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e</a:t>
                </a:r>
                <a:endParaRPr lang="en-US" sz="1200" b="1">
                  <a:latin typeface="+mj-lt"/>
                </a:endParaRPr>
              </a:p>
            </p:txBody>
          </p:sp>
          <p:sp>
            <p:nvSpPr>
              <p:cNvPr id="310" name="Rectangle 112"/>
              <p:cNvSpPr>
                <a:spLocks noChangeArrowheads="1"/>
              </p:cNvSpPr>
              <p:nvPr/>
            </p:nvSpPr>
            <p:spPr bwMode="auto">
              <a:xfrm>
                <a:off x="6602430" y="3300194"/>
                <a:ext cx="48090" cy="12311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g</a:t>
                </a:r>
                <a:endParaRPr lang="en-US" sz="1200" b="1">
                  <a:latin typeface="+mj-lt"/>
                </a:endParaRPr>
              </a:p>
            </p:txBody>
          </p:sp>
          <p:sp>
            <p:nvSpPr>
              <p:cNvPr id="311" name="Line 114"/>
              <p:cNvSpPr>
                <a:spLocks noChangeShapeType="1"/>
              </p:cNvSpPr>
              <p:nvPr/>
            </p:nvSpPr>
            <p:spPr bwMode="auto">
              <a:xfrm>
                <a:off x="6334760" y="3378961"/>
                <a:ext cx="97605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</p:grpSp>
      </p:grpSp>
      <p:sp>
        <p:nvSpPr>
          <p:cNvPr id="312" name="Line 214"/>
          <p:cNvSpPr>
            <a:spLocks noChangeShapeType="1"/>
          </p:cNvSpPr>
          <p:nvPr/>
        </p:nvSpPr>
        <p:spPr bwMode="auto">
          <a:xfrm>
            <a:off x="5721552" y="2820121"/>
            <a:ext cx="131834" cy="1100193"/>
          </a:xfrm>
          <a:prstGeom prst="line">
            <a:avLst/>
          </a:prstGeom>
          <a:noFill/>
          <a:ln w="38100">
            <a:solidFill>
              <a:srgbClr val="00B050"/>
            </a:solidFill>
            <a:prstDash val="solid"/>
            <a:round/>
            <a:headEnd type="diamond" w="med" len="med"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313" name="Line 214"/>
          <p:cNvSpPr>
            <a:spLocks noChangeShapeType="1"/>
          </p:cNvSpPr>
          <p:nvPr/>
        </p:nvSpPr>
        <p:spPr bwMode="auto">
          <a:xfrm>
            <a:off x="6006735" y="2820120"/>
            <a:ext cx="246726" cy="1699457"/>
          </a:xfrm>
          <a:prstGeom prst="line">
            <a:avLst/>
          </a:prstGeom>
          <a:noFill/>
          <a:ln w="38100">
            <a:solidFill>
              <a:srgbClr val="00B050"/>
            </a:solidFill>
            <a:prstDash val="sysDash"/>
            <a:round/>
            <a:headEnd type="diamond" w="med" len="med"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>
              <a:latin typeface="+mj-lt"/>
            </a:endParaRPr>
          </a:p>
        </p:txBody>
      </p:sp>
      <p:grpSp>
        <p:nvGrpSpPr>
          <p:cNvPr id="318" name="Группа 317"/>
          <p:cNvGrpSpPr/>
          <p:nvPr/>
        </p:nvGrpSpPr>
        <p:grpSpPr>
          <a:xfrm>
            <a:off x="5065580" y="3073755"/>
            <a:ext cx="754501" cy="618487"/>
            <a:chOff x="7116076" y="2769444"/>
            <a:chExt cx="1065258" cy="749170"/>
          </a:xfrm>
        </p:grpSpPr>
        <p:sp>
          <p:nvSpPr>
            <p:cNvPr id="315" name="Пятно 2 314"/>
            <p:cNvSpPr/>
            <p:nvPr/>
          </p:nvSpPr>
          <p:spPr bwMode="auto">
            <a:xfrm rot="1153187">
              <a:off x="7116076" y="2769444"/>
              <a:ext cx="1065258" cy="749170"/>
            </a:xfrm>
            <a:prstGeom prst="irregularSeal2">
              <a:avLst/>
            </a:prstGeom>
            <a:solidFill>
              <a:srgbClr val="FF0000"/>
            </a:solidFill>
            <a:ln>
              <a:headEnd type="none" w="sm" len="sm"/>
              <a:tailEnd type="none" w="sm" len="sm"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endParaRPr lang="en-US" sz="1400" b="1" smtClean="0">
                <a:latin typeface="+mj-lt"/>
                <a:cs typeface="Arial" pitchFamily="34" charset="0"/>
              </a:endParaRPr>
            </a:p>
          </p:txBody>
        </p:sp>
        <p:sp>
          <p:nvSpPr>
            <p:cNvPr id="316" name="TextBox 315"/>
            <p:cNvSpPr txBox="1"/>
            <p:nvPr/>
          </p:nvSpPr>
          <p:spPr>
            <a:xfrm>
              <a:off x="7269481" y="2956479"/>
              <a:ext cx="674046" cy="37280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000" b="1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</a:rPr>
                <a:t>Need it here!</a:t>
              </a:r>
            </a:p>
          </p:txBody>
        </p:sp>
      </p:grpSp>
      <p:sp>
        <p:nvSpPr>
          <p:cNvPr id="321" name="Line 214"/>
          <p:cNvSpPr>
            <a:spLocks noChangeShapeType="1"/>
          </p:cNvSpPr>
          <p:nvPr/>
        </p:nvSpPr>
        <p:spPr bwMode="auto">
          <a:xfrm>
            <a:off x="5721552" y="2788531"/>
            <a:ext cx="131834" cy="1100193"/>
          </a:xfrm>
          <a:prstGeom prst="line">
            <a:avLst/>
          </a:prstGeom>
          <a:noFill/>
          <a:ln w="38100">
            <a:solidFill>
              <a:srgbClr val="00B050"/>
            </a:solidFill>
            <a:prstDash val="solid"/>
            <a:round/>
            <a:headEnd type="diamond" w="med" len="med"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322" name="Line 214"/>
          <p:cNvSpPr>
            <a:spLocks noChangeShapeType="1"/>
          </p:cNvSpPr>
          <p:nvPr/>
        </p:nvSpPr>
        <p:spPr bwMode="auto">
          <a:xfrm>
            <a:off x="6006735" y="2788530"/>
            <a:ext cx="246726" cy="1699457"/>
          </a:xfrm>
          <a:prstGeom prst="line">
            <a:avLst/>
          </a:prstGeom>
          <a:noFill/>
          <a:ln w="38100">
            <a:solidFill>
              <a:srgbClr val="00B050"/>
            </a:solidFill>
            <a:prstDash val="sysDash"/>
            <a:round/>
            <a:headEnd type="diamond" w="med" len="med"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>
              <a:latin typeface="+mj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9883095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312" grpId="0" animBg="1"/>
      <p:bldP spid="313" grpId="0" animBg="1"/>
      <p:bldP spid="321" grpId="0" animBg="1"/>
      <p:bldP spid="322" grpId="0" animBg="1"/>
    </p:bldLst>
  </p:timing>
  <p:extLst mod="1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/>
          <p:cNvSpPr>
            <a:spLocks noChangeArrowheads="1"/>
          </p:cNvSpPr>
          <p:nvPr/>
        </p:nvSpPr>
        <p:spPr bwMode="auto">
          <a:xfrm>
            <a:off x="211138" y="609600"/>
            <a:ext cx="8724900" cy="2209800"/>
          </a:xfrm>
          <a:prstGeom prst="roundRect">
            <a:avLst>
              <a:gd name="adj" fmla="val 12486"/>
            </a:avLst>
          </a:prstGeom>
          <a:noFill/>
          <a:ln w="9525">
            <a:noFill/>
            <a:round/>
            <a:headEnd/>
            <a:tailEnd/>
          </a:ln>
        </p:spPr>
        <p:txBody>
          <a:bodyPr lIns="90488" tIns="44450" rIns="90488" bIns="44450"/>
          <a:lstStyle/>
          <a:p>
            <a:pPr marL="342900" indent="-342900">
              <a:spcBef>
                <a:spcPct val="20000"/>
              </a:spcBef>
              <a:buClr>
                <a:srgbClr val="0000FF"/>
              </a:buClr>
              <a:buSzPct val="80000"/>
              <a:buFont typeface="Wingdings" pitchFamily="2" charset="2"/>
              <a:buChar char="u"/>
            </a:pPr>
            <a:endParaRPr lang="en-US" sz="2000" b="1" dirty="0">
              <a:latin typeface="Arial" charset="0"/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1803400" y="2338388"/>
            <a:ext cx="0" cy="182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endParaRPr lang="en-US" sz="1200" b="1">
              <a:latin typeface="Arial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846263" y="2460625"/>
            <a:ext cx="0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endParaRPr lang="en-US" sz="1200" b="1">
              <a:latin typeface="Arial" charset="0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662113" y="2578100"/>
            <a:ext cx="0" cy="18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endParaRPr lang="en-US" sz="1200" b="1">
              <a:latin typeface="Arial" charset="0"/>
            </a:endParaRPr>
          </a:p>
        </p:txBody>
      </p:sp>
      <p:sp>
        <p:nvSpPr>
          <p:cNvPr id="316" name="Rectangle 316"/>
          <p:cNvSpPr>
            <a:spLocks noGrp="1" noChangeArrowheads="1"/>
          </p:cNvSpPr>
          <p:nvPr>
            <p:ph type="title"/>
          </p:nvPr>
        </p:nvSpPr>
        <p:spPr>
          <a:xfrm>
            <a:off x="685800" y="114300"/>
            <a:ext cx="7772400" cy="495300"/>
          </a:xfrm>
        </p:spPr>
        <p:txBody>
          <a:bodyPr/>
          <a:lstStyle/>
          <a:p>
            <a:r>
              <a:rPr lang="en-US" dirty="0" smtClean="0">
                <a:solidFill>
                  <a:srgbClr val="0070C0"/>
                </a:solidFill>
              </a:rPr>
              <a:t>Stalling</a:t>
            </a:r>
          </a:p>
        </p:txBody>
      </p:sp>
      <p:sp>
        <p:nvSpPr>
          <p:cNvPr id="317" name="Прямоугольник 316"/>
          <p:cNvSpPr/>
          <p:nvPr/>
        </p:nvSpPr>
        <p:spPr>
          <a:xfrm>
            <a:off x="461010" y="533400"/>
            <a:ext cx="8682990" cy="23237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000" dirty="0" smtClean="0">
                <a:latin typeface="+mj-lt"/>
              </a:rPr>
              <a:t>De-assert the write enable to ID/EXE</a:t>
            </a:r>
          </a:p>
          <a:p>
            <a:pPr marL="800100" lvl="1" indent="-342900">
              <a:spcBef>
                <a:spcPts val="600"/>
              </a:spcBef>
              <a:buFont typeface="Arial" pitchFamily="34" charset="0"/>
              <a:buChar char="•"/>
            </a:pPr>
            <a:r>
              <a:rPr lang="en-US" dirty="0" smtClean="0">
                <a:latin typeface="+mj-lt"/>
              </a:rPr>
              <a:t>The dependent instruction (</a:t>
            </a:r>
            <a:r>
              <a:rPr lang="en-US" dirty="0" smtClean="0">
                <a:latin typeface="+mj-lt"/>
                <a:cs typeface="Courier New" pitchFamily="49" charset="0"/>
              </a:rPr>
              <a:t>and</a:t>
            </a:r>
            <a:r>
              <a:rPr lang="en-US" dirty="0" smtClean="0">
                <a:latin typeface="+mj-lt"/>
              </a:rPr>
              <a:t>) stays another cycle in IF/EXE</a:t>
            </a:r>
          </a:p>
          <a:p>
            <a:pPr marL="342900" indent="-34290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000" dirty="0" smtClean="0">
                <a:latin typeface="+mj-lt"/>
              </a:rPr>
              <a:t>De-assert the write enable to the IF/ID latch, and to the PC</a:t>
            </a:r>
          </a:p>
          <a:p>
            <a:pPr marL="800100" lvl="1" indent="-342900">
              <a:spcBef>
                <a:spcPts val="600"/>
              </a:spcBef>
              <a:buFont typeface="Arial" pitchFamily="34" charset="0"/>
              <a:buChar char="•"/>
            </a:pPr>
            <a:r>
              <a:rPr lang="en-US" dirty="0" smtClean="0">
                <a:latin typeface="+mj-lt"/>
              </a:rPr>
              <a:t>Freeze pipeline stages preceding the stalled instruction</a:t>
            </a:r>
          </a:p>
          <a:p>
            <a:pPr marL="342900" indent="-34290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000" dirty="0" smtClean="0">
                <a:latin typeface="+mj-lt"/>
              </a:rPr>
              <a:t>Issue a NOP into the EXE/MEM latch (instead of the stalled inst.)</a:t>
            </a:r>
          </a:p>
          <a:p>
            <a:pPr marL="342900" indent="-342900">
              <a:spcBef>
                <a:spcPts val="600"/>
              </a:spcBef>
              <a:buFont typeface="Arial" pitchFamily="34" charset="0"/>
              <a:buChar char="•"/>
            </a:pPr>
            <a:r>
              <a:rPr lang="en-US" sz="2000" dirty="0" smtClean="0">
                <a:latin typeface="+mj-lt"/>
              </a:rPr>
              <a:t>Allow the stalling instruction (</a:t>
            </a:r>
            <a:r>
              <a:rPr lang="en-US" sz="2000" dirty="0" err="1" smtClean="0">
                <a:latin typeface="+mj-lt"/>
              </a:rPr>
              <a:t>lw</a:t>
            </a:r>
            <a:r>
              <a:rPr lang="en-US" sz="2000" dirty="0" smtClean="0">
                <a:latin typeface="+mj-lt"/>
              </a:rPr>
              <a:t>) to move on</a:t>
            </a:r>
            <a:endParaRPr lang="en-US" sz="2000" dirty="0">
              <a:latin typeface="+mj-lt"/>
            </a:endParaRPr>
          </a:p>
        </p:txBody>
      </p:sp>
      <p:grpSp>
        <p:nvGrpSpPr>
          <p:cNvPr id="339" name="Группа 338"/>
          <p:cNvGrpSpPr/>
          <p:nvPr/>
        </p:nvGrpSpPr>
        <p:grpSpPr>
          <a:xfrm>
            <a:off x="228600" y="2819401"/>
            <a:ext cx="8595363" cy="3406675"/>
            <a:chOff x="228600" y="2819401"/>
            <a:chExt cx="8595363" cy="3406675"/>
          </a:xfrm>
        </p:grpSpPr>
        <p:sp>
          <p:nvSpPr>
            <p:cNvPr id="8" name="Line 7"/>
            <p:cNvSpPr>
              <a:spLocks noChangeShapeType="1"/>
            </p:cNvSpPr>
            <p:nvPr/>
          </p:nvSpPr>
          <p:spPr bwMode="auto">
            <a:xfrm>
              <a:off x="5646581" y="3665610"/>
              <a:ext cx="120107" cy="3640"/>
            </a:xfrm>
            <a:prstGeom prst="line">
              <a:avLst/>
            </a:prstGeom>
            <a:noFill/>
            <a:ln w="15875">
              <a:solidFill>
                <a:srgbClr val="EB75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9" name="Line 8"/>
            <p:cNvSpPr>
              <a:spLocks noChangeShapeType="1"/>
            </p:cNvSpPr>
            <p:nvPr/>
          </p:nvSpPr>
          <p:spPr bwMode="auto">
            <a:xfrm>
              <a:off x="6760302" y="4246128"/>
              <a:ext cx="120107" cy="1820"/>
            </a:xfrm>
            <a:prstGeom prst="line">
              <a:avLst/>
            </a:prstGeom>
            <a:noFill/>
            <a:ln w="15875">
              <a:solidFill>
                <a:srgbClr val="EB75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0" name="Rectangle 9"/>
            <p:cNvSpPr>
              <a:spLocks noChangeArrowheads="1"/>
            </p:cNvSpPr>
            <p:nvPr/>
          </p:nvSpPr>
          <p:spPr bwMode="auto">
            <a:xfrm>
              <a:off x="6865851" y="4096903"/>
              <a:ext cx="131026" cy="278431"/>
            </a:xfrm>
            <a:prstGeom prst="rect">
              <a:avLst/>
            </a:prstGeom>
            <a:solidFill>
              <a:srgbClr val="FBE2C9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1" name="Rectangle 10"/>
            <p:cNvSpPr>
              <a:spLocks noChangeArrowheads="1"/>
            </p:cNvSpPr>
            <p:nvPr/>
          </p:nvSpPr>
          <p:spPr bwMode="auto">
            <a:xfrm>
              <a:off x="6865851" y="4096903"/>
              <a:ext cx="131026" cy="278431"/>
            </a:xfrm>
            <a:prstGeom prst="rect">
              <a:avLst/>
            </a:prstGeom>
            <a:noFill/>
            <a:ln w="9525">
              <a:solidFill>
                <a:srgbClr val="EB75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2" name="Line 11"/>
            <p:cNvSpPr>
              <a:spLocks noChangeShapeType="1"/>
            </p:cNvSpPr>
            <p:nvPr/>
          </p:nvSpPr>
          <p:spPr bwMode="auto">
            <a:xfrm flipV="1">
              <a:off x="7124263" y="4089624"/>
              <a:ext cx="3640" cy="28935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3" name="Line 12"/>
            <p:cNvSpPr>
              <a:spLocks noChangeShapeType="1"/>
            </p:cNvSpPr>
            <p:nvPr/>
          </p:nvSpPr>
          <p:spPr bwMode="auto">
            <a:xfrm flipH="1">
              <a:off x="6996877" y="4093264"/>
              <a:ext cx="127386" cy="36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4" name="Line 13"/>
            <p:cNvSpPr>
              <a:spLocks noChangeShapeType="1"/>
            </p:cNvSpPr>
            <p:nvPr/>
          </p:nvSpPr>
          <p:spPr bwMode="auto">
            <a:xfrm flipH="1">
              <a:off x="6996877" y="4375334"/>
              <a:ext cx="127386" cy="18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5" name="Rectangle 14"/>
            <p:cNvSpPr>
              <a:spLocks noChangeArrowheads="1"/>
            </p:cNvSpPr>
            <p:nvPr/>
          </p:nvSpPr>
          <p:spPr bwMode="auto">
            <a:xfrm>
              <a:off x="6905887" y="4171516"/>
              <a:ext cx="56106" cy="1231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EB7500"/>
                  </a:solidFill>
                  <a:latin typeface="+mj-lt"/>
                </a:rPr>
                <a:t>R</a:t>
              </a:r>
              <a:endParaRPr lang="en-US" sz="1200" b="1">
                <a:latin typeface="+mj-lt"/>
              </a:endParaRPr>
            </a:p>
          </p:txBody>
        </p:sp>
        <p:sp>
          <p:nvSpPr>
            <p:cNvPr id="16" name="Rectangle 15"/>
            <p:cNvSpPr>
              <a:spLocks noChangeArrowheads="1"/>
            </p:cNvSpPr>
            <p:nvPr/>
          </p:nvSpPr>
          <p:spPr bwMode="auto">
            <a:xfrm>
              <a:off x="6982319" y="4171516"/>
              <a:ext cx="51296" cy="1231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EB7500"/>
                  </a:solidFill>
                  <a:latin typeface="+mj-lt"/>
                </a:rPr>
                <a:t>e</a:t>
              </a:r>
              <a:endParaRPr lang="en-US" sz="1200" b="1">
                <a:latin typeface="+mj-lt"/>
              </a:endParaRPr>
            </a:p>
          </p:txBody>
        </p:sp>
        <p:sp>
          <p:nvSpPr>
            <p:cNvPr id="17" name="Rectangle 16"/>
            <p:cNvSpPr>
              <a:spLocks noChangeArrowheads="1"/>
            </p:cNvSpPr>
            <p:nvPr/>
          </p:nvSpPr>
          <p:spPr bwMode="auto">
            <a:xfrm>
              <a:off x="7042373" y="4171516"/>
              <a:ext cx="48090" cy="1231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EB7500"/>
                  </a:solidFill>
                  <a:latin typeface="+mj-lt"/>
                </a:rPr>
                <a:t>g</a:t>
              </a:r>
              <a:endParaRPr lang="en-US" sz="1200" b="1">
                <a:latin typeface="+mj-lt"/>
              </a:endParaRPr>
            </a:p>
          </p:txBody>
        </p:sp>
        <p:sp>
          <p:nvSpPr>
            <p:cNvPr id="18" name="Line 17"/>
            <p:cNvSpPr>
              <a:spLocks noChangeShapeType="1"/>
            </p:cNvSpPr>
            <p:nvPr/>
          </p:nvSpPr>
          <p:spPr bwMode="auto">
            <a:xfrm>
              <a:off x="6756663" y="5323452"/>
              <a:ext cx="149224" cy="3640"/>
            </a:xfrm>
            <a:prstGeom prst="line">
              <a:avLst/>
            </a:prstGeom>
            <a:noFill/>
            <a:ln w="15875">
              <a:solidFill>
                <a:srgbClr val="EB75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9" name="Line 18"/>
            <p:cNvSpPr>
              <a:spLocks noChangeShapeType="1"/>
            </p:cNvSpPr>
            <p:nvPr/>
          </p:nvSpPr>
          <p:spPr bwMode="auto">
            <a:xfrm>
              <a:off x="5639302" y="4176975"/>
              <a:ext cx="145584" cy="3640"/>
            </a:xfrm>
            <a:prstGeom prst="line">
              <a:avLst/>
            </a:prstGeom>
            <a:noFill/>
            <a:ln w="15875">
              <a:solidFill>
                <a:srgbClr val="EB75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0" name="Freeform 19"/>
            <p:cNvSpPr>
              <a:spLocks/>
            </p:cNvSpPr>
            <p:nvPr/>
          </p:nvSpPr>
          <p:spPr bwMode="auto">
            <a:xfrm>
              <a:off x="7974113" y="5831179"/>
              <a:ext cx="129207" cy="282070"/>
            </a:xfrm>
            <a:custGeom>
              <a:avLst/>
              <a:gdLst>
                <a:gd name="T0" fmla="*/ 71 w 77"/>
                <a:gd name="T1" fmla="*/ 153 h 155"/>
                <a:gd name="T2" fmla="*/ 0 w 77"/>
                <a:gd name="T3" fmla="*/ 155 h 155"/>
                <a:gd name="T4" fmla="*/ 0 w 77"/>
                <a:gd name="T5" fmla="*/ 0 h 155"/>
                <a:gd name="T6" fmla="*/ 71 w 77"/>
                <a:gd name="T7" fmla="*/ 0 h 155"/>
                <a:gd name="T8" fmla="*/ 71 w 77"/>
                <a:gd name="T9" fmla="*/ 153 h 1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7"/>
                <a:gd name="T16" fmla="*/ 0 h 155"/>
                <a:gd name="T17" fmla="*/ 77 w 77"/>
                <a:gd name="T18" fmla="*/ 155 h 1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7" h="155">
                  <a:moveTo>
                    <a:pt x="77" y="153"/>
                  </a:moveTo>
                  <a:lnTo>
                    <a:pt x="0" y="155"/>
                  </a:lnTo>
                  <a:lnTo>
                    <a:pt x="0" y="0"/>
                  </a:lnTo>
                  <a:lnTo>
                    <a:pt x="77" y="0"/>
                  </a:lnTo>
                  <a:lnTo>
                    <a:pt x="77" y="153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1" name="Freeform 20"/>
            <p:cNvSpPr>
              <a:spLocks/>
            </p:cNvSpPr>
            <p:nvPr/>
          </p:nvSpPr>
          <p:spPr bwMode="auto">
            <a:xfrm>
              <a:off x="7974113" y="5831179"/>
              <a:ext cx="129207" cy="282070"/>
            </a:xfrm>
            <a:custGeom>
              <a:avLst/>
              <a:gdLst>
                <a:gd name="T0" fmla="*/ 71 w 77"/>
                <a:gd name="T1" fmla="*/ 153 h 155"/>
                <a:gd name="T2" fmla="*/ 0 w 77"/>
                <a:gd name="T3" fmla="*/ 155 h 155"/>
                <a:gd name="T4" fmla="*/ 0 w 77"/>
                <a:gd name="T5" fmla="*/ 0 h 155"/>
                <a:gd name="T6" fmla="*/ 71 w 77"/>
                <a:gd name="T7" fmla="*/ 0 h 15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7"/>
                <a:gd name="T13" fmla="*/ 0 h 155"/>
                <a:gd name="T14" fmla="*/ 77 w 77"/>
                <a:gd name="T15" fmla="*/ 155 h 15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7" h="155">
                  <a:moveTo>
                    <a:pt x="77" y="153"/>
                  </a:moveTo>
                  <a:lnTo>
                    <a:pt x="0" y="155"/>
                  </a:lnTo>
                  <a:lnTo>
                    <a:pt x="0" y="0"/>
                  </a:lnTo>
                  <a:lnTo>
                    <a:pt x="77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2" name="Rectangle 21"/>
            <p:cNvSpPr>
              <a:spLocks noChangeArrowheads="1"/>
            </p:cNvSpPr>
            <p:nvPr/>
          </p:nvSpPr>
          <p:spPr bwMode="auto">
            <a:xfrm>
              <a:off x="8103319" y="5831179"/>
              <a:ext cx="132846" cy="282070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3" name="Line 22"/>
            <p:cNvSpPr>
              <a:spLocks noChangeShapeType="1"/>
            </p:cNvSpPr>
            <p:nvPr/>
          </p:nvSpPr>
          <p:spPr bwMode="auto">
            <a:xfrm>
              <a:off x="6551025" y="5323452"/>
              <a:ext cx="118288" cy="3640"/>
            </a:xfrm>
            <a:prstGeom prst="line">
              <a:avLst/>
            </a:prstGeom>
            <a:noFill/>
            <a:ln w="15875">
              <a:solidFill>
                <a:srgbClr val="EB75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4" name="Freeform 23"/>
            <p:cNvSpPr>
              <a:spLocks/>
            </p:cNvSpPr>
            <p:nvPr/>
          </p:nvSpPr>
          <p:spPr bwMode="auto">
            <a:xfrm>
              <a:off x="7555558" y="5239741"/>
              <a:ext cx="129207" cy="282070"/>
            </a:xfrm>
            <a:custGeom>
              <a:avLst/>
              <a:gdLst>
                <a:gd name="T0" fmla="*/ 0 w 77"/>
                <a:gd name="T1" fmla="*/ 153 h 155"/>
                <a:gd name="T2" fmla="*/ 71 w 77"/>
                <a:gd name="T3" fmla="*/ 155 h 155"/>
                <a:gd name="T4" fmla="*/ 71 w 77"/>
                <a:gd name="T5" fmla="*/ 0 h 155"/>
                <a:gd name="T6" fmla="*/ 0 w 77"/>
                <a:gd name="T7" fmla="*/ 0 h 15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7"/>
                <a:gd name="T13" fmla="*/ 0 h 155"/>
                <a:gd name="T14" fmla="*/ 77 w 77"/>
                <a:gd name="T15" fmla="*/ 155 h 15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7" h="155">
                  <a:moveTo>
                    <a:pt x="0" y="153"/>
                  </a:moveTo>
                  <a:lnTo>
                    <a:pt x="77" y="155"/>
                  </a:lnTo>
                  <a:lnTo>
                    <a:pt x="77" y="0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5" name="Rectangle 24"/>
            <p:cNvSpPr>
              <a:spLocks noChangeArrowheads="1"/>
            </p:cNvSpPr>
            <p:nvPr/>
          </p:nvSpPr>
          <p:spPr bwMode="auto">
            <a:xfrm>
              <a:off x="7428172" y="5239741"/>
              <a:ext cx="127386" cy="282070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6" name="Line 25"/>
            <p:cNvSpPr>
              <a:spLocks noChangeShapeType="1"/>
            </p:cNvSpPr>
            <p:nvPr/>
          </p:nvSpPr>
          <p:spPr bwMode="auto">
            <a:xfrm>
              <a:off x="5990525" y="4755673"/>
              <a:ext cx="120107" cy="1820"/>
            </a:xfrm>
            <a:prstGeom prst="line">
              <a:avLst/>
            </a:prstGeom>
            <a:noFill/>
            <a:ln w="15875">
              <a:solidFill>
                <a:srgbClr val="EB75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7" name="Line 26"/>
            <p:cNvSpPr>
              <a:spLocks noChangeShapeType="1"/>
            </p:cNvSpPr>
            <p:nvPr/>
          </p:nvSpPr>
          <p:spPr bwMode="auto">
            <a:xfrm>
              <a:off x="5990525" y="4897618"/>
              <a:ext cx="354863" cy="18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8" name="Line 27"/>
            <p:cNvSpPr>
              <a:spLocks noChangeShapeType="1"/>
            </p:cNvSpPr>
            <p:nvPr/>
          </p:nvSpPr>
          <p:spPr bwMode="auto">
            <a:xfrm>
              <a:off x="6207081" y="4755673"/>
              <a:ext cx="132846" cy="18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9" name="Line 28"/>
            <p:cNvSpPr>
              <a:spLocks noChangeShapeType="1"/>
            </p:cNvSpPr>
            <p:nvPr/>
          </p:nvSpPr>
          <p:spPr bwMode="auto">
            <a:xfrm>
              <a:off x="6554665" y="5454478"/>
              <a:ext cx="354863" cy="18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0" name="Line 29"/>
            <p:cNvSpPr>
              <a:spLocks noChangeShapeType="1"/>
            </p:cNvSpPr>
            <p:nvPr/>
          </p:nvSpPr>
          <p:spPr bwMode="auto">
            <a:xfrm>
              <a:off x="5433665" y="4306182"/>
              <a:ext cx="351223" cy="18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1" name="Line 30"/>
            <p:cNvSpPr>
              <a:spLocks noChangeShapeType="1"/>
            </p:cNvSpPr>
            <p:nvPr/>
          </p:nvSpPr>
          <p:spPr bwMode="auto">
            <a:xfrm>
              <a:off x="5433665" y="4176975"/>
              <a:ext cx="118288" cy="3640"/>
            </a:xfrm>
            <a:prstGeom prst="line">
              <a:avLst/>
            </a:prstGeom>
            <a:noFill/>
            <a:ln w="15875">
              <a:solidFill>
                <a:srgbClr val="EB75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2" name="Freeform 31"/>
            <p:cNvSpPr>
              <a:spLocks/>
            </p:cNvSpPr>
            <p:nvPr/>
          </p:nvSpPr>
          <p:spPr bwMode="auto">
            <a:xfrm>
              <a:off x="3624778" y="3494548"/>
              <a:ext cx="132846" cy="282070"/>
            </a:xfrm>
            <a:custGeom>
              <a:avLst/>
              <a:gdLst>
                <a:gd name="T0" fmla="*/ 0 w 80"/>
                <a:gd name="T1" fmla="*/ 153 h 155"/>
                <a:gd name="T2" fmla="*/ 73 w 80"/>
                <a:gd name="T3" fmla="*/ 155 h 155"/>
                <a:gd name="T4" fmla="*/ 73 w 80"/>
                <a:gd name="T5" fmla="*/ 0 h 155"/>
                <a:gd name="T6" fmla="*/ 0 w 80"/>
                <a:gd name="T7" fmla="*/ 0 h 155"/>
                <a:gd name="T8" fmla="*/ 0 w 80"/>
                <a:gd name="T9" fmla="*/ 153 h 1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0"/>
                <a:gd name="T16" fmla="*/ 0 h 155"/>
                <a:gd name="T17" fmla="*/ 80 w 80"/>
                <a:gd name="T18" fmla="*/ 155 h 1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0" h="155">
                  <a:moveTo>
                    <a:pt x="0" y="153"/>
                  </a:moveTo>
                  <a:lnTo>
                    <a:pt x="80" y="155"/>
                  </a:lnTo>
                  <a:lnTo>
                    <a:pt x="80" y="0"/>
                  </a:lnTo>
                  <a:lnTo>
                    <a:pt x="0" y="0"/>
                  </a:lnTo>
                  <a:lnTo>
                    <a:pt x="0" y="153"/>
                  </a:lnTo>
                  <a:close/>
                </a:path>
              </a:pathLst>
            </a:custGeom>
            <a:solidFill>
              <a:srgbClr val="CCCC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3" name="Freeform 32"/>
            <p:cNvSpPr>
              <a:spLocks/>
            </p:cNvSpPr>
            <p:nvPr/>
          </p:nvSpPr>
          <p:spPr bwMode="auto">
            <a:xfrm>
              <a:off x="3624778" y="3494548"/>
              <a:ext cx="132846" cy="282070"/>
            </a:xfrm>
            <a:custGeom>
              <a:avLst/>
              <a:gdLst>
                <a:gd name="T0" fmla="*/ 0 w 80"/>
                <a:gd name="T1" fmla="*/ 153 h 155"/>
                <a:gd name="T2" fmla="*/ 73 w 80"/>
                <a:gd name="T3" fmla="*/ 155 h 155"/>
                <a:gd name="T4" fmla="*/ 73 w 80"/>
                <a:gd name="T5" fmla="*/ 0 h 155"/>
                <a:gd name="T6" fmla="*/ 0 w 80"/>
                <a:gd name="T7" fmla="*/ 0 h 15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0"/>
                <a:gd name="T13" fmla="*/ 0 h 155"/>
                <a:gd name="T14" fmla="*/ 80 w 80"/>
                <a:gd name="T15" fmla="*/ 155 h 15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0" h="155">
                  <a:moveTo>
                    <a:pt x="0" y="153"/>
                  </a:moveTo>
                  <a:lnTo>
                    <a:pt x="80" y="155"/>
                  </a:lnTo>
                  <a:lnTo>
                    <a:pt x="80" y="0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4" name="Rectangle 33"/>
            <p:cNvSpPr>
              <a:spLocks noChangeArrowheads="1"/>
            </p:cNvSpPr>
            <p:nvPr/>
          </p:nvSpPr>
          <p:spPr bwMode="auto">
            <a:xfrm>
              <a:off x="3491932" y="3494548"/>
              <a:ext cx="132846" cy="282070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5" name="Rectangle 34"/>
            <p:cNvSpPr>
              <a:spLocks noChangeArrowheads="1"/>
            </p:cNvSpPr>
            <p:nvPr/>
          </p:nvSpPr>
          <p:spPr bwMode="auto">
            <a:xfrm>
              <a:off x="3564724" y="3578259"/>
              <a:ext cx="25648" cy="1231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000000"/>
                  </a:solidFill>
                  <a:latin typeface="+mj-lt"/>
                </a:rPr>
                <a:t>I</a:t>
              </a:r>
              <a:endParaRPr lang="en-US" sz="1200" b="1">
                <a:latin typeface="+mj-lt"/>
              </a:endParaRPr>
            </a:p>
          </p:txBody>
        </p:sp>
        <p:sp>
          <p:nvSpPr>
            <p:cNvPr id="36" name="Rectangle 35"/>
            <p:cNvSpPr>
              <a:spLocks noChangeArrowheads="1"/>
            </p:cNvSpPr>
            <p:nvPr/>
          </p:nvSpPr>
          <p:spPr bwMode="auto">
            <a:xfrm>
              <a:off x="3595661" y="3578259"/>
              <a:ext cx="88166" cy="1231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000000"/>
                  </a:solidFill>
                  <a:latin typeface="+mj-lt"/>
                </a:rPr>
                <a:t>M</a:t>
              </a:r>
              <a:endParaRPr lang="en-US" sz="1200" b="1">
                <a:latin typeface="+mj-lt"/>
              </a:endParaRPr>
            </a:p>
          </p:txBody>
        </p:sp>
        <p:sp>
          <p:nvSpPr>
            <p:cNvPr id="37" name="Freeform 36"/>
            <p:cNvSpPr>
              <a:spLocks/>
            </p:cNvSpPr>
            <p:nvPr/>
          </p:nvSpPr>
          <p:spPr bwMode="auto">
            <a:xfrm>
              <a:off x="4667526" y="3410837"/>
              <a:ext cx="180161" cy="509546"/>
            </a:xfrm>
            <a:custGeom>
              <a:avLst/>
              <a:gdLst>
                <a:gd name="T0" fmla="*/ 0 w 107"/>
                <a:gd name="T1" fmla="*/ 0 h 280"/>
                <a:gd name="T2" fmla="*/ 2 w 107"/>
                <a:gd name="T3" fmla="*/ 113 h 280"/>
                <a:gd name="T4" fmla="*/ 31 w 107"/>
                <a:gd name="T5" fmla="*/ 140 h 280"/>
                <a:gd name="T6" fmla="*/ 2 w 107"/>
                <a:gd name="T7" fmla="*/ 167 h 280"/>
                <a:gd name="T8" fmla="*/ 2 w 107"/>
                <a:gd name="T9" fmla="*/ 280 h 280"/>
                <a:gd name="T10" fmla="*/ 99 w 107"/>
                <a:gd name="T11" fmla="*/ 195 h 280"/>
                <a:gd name="T12" fmla="*/ 99 w 107"/>
                <a:gd name="T13" fmla="*/ 86 h 280"/>
                <a:gd name="T14" fmla="*/ 2 w 107"/>
                <a:gd name="T15" fmla="*/ 2 h 280"/>
                <a:gd name="T16" fmla="*/ 2 w 107"/>
                <a:gd name="T17" fmla="*/ 2 h 280"/>
                <a:gd name="T18" fmla="*/ 0 w 107"/>
                <a:gd name="T19" fmla="*/ 0 h 28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07"/>
                <a:gd name="T31" fmla="*/ 0 h 280"/>
                <a:gd name="T32" fmla="*/ 107 w 107"/>
                <a:gd name="T33" fmla="*/ 280 h 280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07" h="280">
                  <a:moveTo>
                    <a:pt x="0" y="0"/>
                  </a:moveTo>
                  <a:lnTo>
                    <a:pt x="2" y="113"/>
                  </a:lnTo>
                  <a:lnTo>
                    <a:pt x="34" y="140"/>
                  </a:lnTo>
                  <a:lnTo>
                    <a:pt x="2" y="167"/>
                  </a:lnTo>
                  <a:lnTo>
                    <a:pt x="2" y="280"/>
                  </a:lnTo>
                  <a:lnTo>
                    <a:pt x="107" y="195"/>
                  </a:lnTo>
                  <a:lnTo>
                    <a:pt x="107" y="86"/>
                  </a:lnTo>
                  <a:lnTo>
                    <a:pt x="2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8" name="Freeform 37"/>
            <p:cNvSpPr>
              <a:spLocks/>
            </p:cNvSpPr>
            <p:nvPr/>
          </p:nvSpPr>
          <p:spPr bwMode="auto">
            <a:xfrm>
              <a:off x="4667526" y="3410837"/>
              <a:ext cx="180161" cy="509546"/>
            </a:xfrm>
            <a:custGeom>
              <a:avLst/>
              <a:gdLst>
                <a:gd name="T0" fmla="*/ 0 w 107"/>
                <a:gd name="T1" fmla="*/ 0 h 280"/>
                <a:gd name="T2" fmla="*/ 2 w 107"/>
                <a:gd name="T3" fmla="*/ 113 h 280"/>
                <a:gd name="T4" fmla="*/ 31 w 107"/>
                <a:gd name="T5" fmla="*/ 140 h 280"/>
                <a:gd name="T6" fmla="*/ 2 w 107"/>
                <a:gd name="T7" fmla="*/ 167 h 280"/>
                <a:gd name="T8" fmla="*/ 2 w 107"/>
                <a:gd name="T9" fmla="*/ 280 h 280"/>
                <a:gd name="T10" fmla="*/ 99 w 107"/>
                <a:gd name="T11" fmla="*/ 195 h 280"/>
                <a:gd name="T12" fmla="*/ 99 w 107"/>
                <a:gd name="T13" fmla="*/ 86 h 280"/>
                <a:gd name="T14" fmla="*/ 2 w 107"/>
                <a:gd name="T15" fmla="*/ 2 h 280"/>
                <a:gd name="T16" fmla="*/ 2 w 107"/>
                <a:gd name="T17" fmla="*/ 2 h 28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07"/>
                <a:gd name="T28" fmla="*/ 0 h 280"/>
                <a:gd name="T29" fmla="*/ 107 w 107"/>
                <a:gd name="T30" fmla="*/ 280 h 28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07" h="280">
                  <a:moveTo>
                    <a:pt x="0" y="0"/>
                  </a:moveTo>
                  <a:lnTo>
                    <a:pt x="2" y="113"/>
                  </a:lnTo>
                  <a:lnTo>
                    <a:pt x="34" y="140"/>
                  </a:lnTo>
                  <a:lnTo>
                    <a:pt x="2" y="167"/>
                  </a:lnTo>
                  <a:lnTo>
                    <a:pt x="2" y="280"/>
                  </a:lnTo>
                  <a:lnTo>
                    <a:pt x="107" y="195"/>
                  </a:lnTo>
                  <a:lnTo>
                    <a:pt x="107" y="86"/>
                  </a:lnTo>
                  <a:lnTo>
                    <a:pt x="2" y="2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9" name="Line 38"/>
            <p:cNvSpPr>
              <a:spLocks noChangeShapeType="1"/>
            </p:cNvSpPr>
            <p:nvPr/>
          </p:nvSpPr>
          <p:spPr bwMode="auto">
            <a:xfrm>
              <a:off x="3755804" y="3665610"/>
              <a:ext cx="296629" cy="36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0" name="Freeform 39"/>
            <p:cNvSpPr>
              <a:spLocks/>
            </p:cNvSpPr>
            <p:nvPr/>
          </p:nvSpPr>
          <p:spPr bwMode="auto">
            <a:xfrm>
              <a:off x="6973220" y="5834818"/>
              <a:ext cx="129207" cy="282070"/>
            </a:xfrm>
            <a:custGeom>
              <a:avLst/>
              <a:gdLst>
                <a:gd name="T0" fmla="*/ 0 w 77"/>
                <a:gd name="T1" fmla="*/ 153 h 155"/>
                <a:gd name="T2" fmla="*/ 71 w 77"/>
                <a:gd name="T3" fmla="*/ 155 h 155"/>
                <a:gd name="T4" fmla="*/ 71 w 77"/>
                <a:gd name="T5" fmla="*/ 0 h 155"/>
                <a:gd name="T6" fmla="*/ 0 w 77"/>
                <a:gd name="T7" fmla="*/ 0 h 155"/>
                <a:gd name="T8" fmla="*/ 0 w 77"/>
                <a:gd name="T9" fmla="*/ 153 h 1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7"/>
                <a:gd name="T16" fmla="*/ 0 h 155"/>
                <a:gd name="T17" fmla="*/ 77 w 77"/>
                <a:gd name="T18" fmla="*/ 155 h 1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7" h="155">
                  <a:moveTo>
                    <a:pt x="0" y="153"/>
                  </a:moveTo>
                  <a:lnTo>
                    <a:pt x="77" y="155"/>
                  </a:lnTo>
                  <a:lnTo>
                    <a:pt x="77" y="0"/>
                  </a:lnTo>
                  <a:lnTo>
                    <a:pt x="0" y="0"/>
                  </a:lnTo>
                  <a:lnTo>
                    <a:pt x="0" y="153"/>
                  </a:lnTo>
                  <a:close/>
                </a:path>
              </a:pathLst>
            </a:custGeom>
            <a:solidFill>
              <a:srgbClr val="CCCC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1" name="Freeform 40"/>
            <p:cNvSpPr>
              <a:spLocks/>
            </p:cNvSpPr>
            <p:nvPr/>
          </p:nvSpPr>
          <p:spPr bwMode="auto">
            <a:xfrm>
              <a:off x="6973220" y="5834818"/>
              <a:ext cx="129207" cy="282070"/>
            </a:xfrm>
            <a:custGeom>
              <a:avLst/>
              <a:gdLst>
                <a:gd name="T0" fmla="*/ 0 w 77"/>
                <a:gd name="T1" fmla="*/ 153 h 155"/>
                <a:gd name="T2" fmla="*/ 71 w 77"/>
                <a:gd name="T3" fmla="*/ 155 h 155"/>
                <a:gd name="T4" fmla="*/ 71 w 77"/>
                <a:gd name="T5" fmla="*/ 0 h 155"/>
                <a:gd name="T6" fmla="*/ 0 w 77"/>
                <a:gd name="T7" fmla="*/ 0 h 15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7"/>
                <a:gd name="T13" fmla="*/ 0 h 155"/>
                <a:gd name="T14" fmla="*/ 77 w 77"/>
                <a:gd name="T15" fmla="*/ 155 h 15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7" h="155">
                  <a:moveTo>
                    <a:pt x="0" y="153"/>
                  </a:moveTo>
                  <a:lnTo>
                    <a:pt x="77" y="155"/>
                  </a:lnTo>
                  <a:lnTo>
                    <a:pt x="77" y="0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2" name="Line 41"/>
            <p:cNvSpPr>
              <a:spLocks noChangeShapeType="1"/>
            </p:cNvSpPr>
            <p:nvPr/>
          </p:nvSpPr>
          <p:spPr bwMode="auto">
            <a:xfrm flipV="1">
              <a:off x="6842194" y="5831179"/>
              <a:ext cx="1820" cy="28935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3" name="Line 42"/>
            <p:cNvSpPr>
              <a:spLocks noChangeShapeType="1"/>
            </p:cNvSpPr>
            <p:nvPr/>
          </p:nvSpPr>
          <p:spPr bwMode="auto">
            <a:xfrm>
              <a:off x="6842194" y="5831179"/>
              <a:ext cx="136486" cy="36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4" name="Line 43"/>
            <p:cNvSpPr>
              <a:spLocks noChangeShapeType="1"/>
            </p:cNvSpPr>
            <p:nvPr/>
          </p:nvSpPr>
          <p:spPr bwMode="auto">
            <a:xfrm>
              <a:off x="6842194" y="6113248"/>
              <a:ext cx="136486" cy="36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5" name="Rectangle 44"/>
            <p:cNvSpPr>
              <a:spLocks noChangeArrowheads="1"/>
            </p:cNvSpPr>
            <p:nvPr/>
          </p:nvSpPr>
          <p:spPr bwMode="auto">
            <a:xfrm>
              <a:off x="6884049" y="5918529"/>
              <a:ext cx="56106" cy="1231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000000"/>
                  </a:solidFill>
                  <a:latin typeface="+mj-lt"/>
                </a:rPr>
                <a:t>R</a:t>
              </a:r>
              <a:endParaRPr lang="en-US" sz="1200" b="1">
                <a:latin typeface="+mj-lt"/>
              </a:endParaRPr>
            </a:p>
          </p:txBody>
        </p:sp>
        <p:sp>
          <p:nvSpPr>
            <p:cNvPr id="46" name="Rectangle 45"/>
            <p:cNvSpPr>
              <a:spLocks noChangeArrowheads="1"/>
            </p:cNvSpPr>
            <p:nvPr/>
          </p:nvSpPr>
          <p:spPr bwMode="auto">
            <a:xfrm>
              <a:off x="6960481" y="5918529"/>
              <a:ext cx="51296" cy="1231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000000"/>
                  </a:solidFill>
                  <a:latin typeface="+mj-lt"/>
                </a:rPr>
                <a:t>e</a:t>
              </a:r>
              <a:endParaRPr lang="en-US" sz="1200" b="1">
                <a:latin typeface="+mj-lt"/>
              </a:endParaRP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7018715" y="5918529"/>
              <a:ext cx="48090" cy="1231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000000"/>
                  </a:solidFill>
                  <a:latin typeface="+mj-lt"/>
                </a:rPr>
                <a:t>g</a:t>
              </a:r>
              <a:endParaRPr lang="en-US" sz="1200" b="1">
                <a:latin typeface="+mj-lt"/>
              </a:endParaRPr>
            </a:p>
          </p:txBody>
        </p:sp>
        <p:sp>
          <p:nvSpPr>
            <p:cNvPr id="48" name="Line 47"/>
            <p:cNvSpPr>
              <a:spLocks noChangeShapeType="1"/>
            </p:cNvSpPr>
            <p:nvPr/>
          </p:nvSpPr>
          <p:spPr bwMode="auto">
            <a:xfrm>
              <a:off x="7098786" y="5907611"/>
              <a:ext cx="360322" cy="18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9" name="Freeform 48"/>
            <p:cNvSpPr>
              <a:spLocks/>
            </p:cNvSpPr>
            <p:nvPr/>
          </p:nvSpPr>
          <p:spPr bwMode="auto">
            <a:xfrm>
              <a:off x="4194376" y="3498188"/>
              <a:ext cx="129207" cy="282070"/>
            </a:xfrm>
            <a:custGeom>
              <a:avLst/>
              <a:gdLst>
                <a:gd name="T0" fmla="*/ 0 w 77"/>
                <a:gd name="T1" fmla="*/ 153 h 155"/>
                <a:gd name="T2" fmla="*/ 71 w 77"/>
                <a:gd name="T3" fmla="*/ 155 h 155"/>
                <a:gd name="T4" fmla="*/ 71 w 77"/>
                <a:gd name="T5" fmla="*/ 0 h 155"/>
                <a:gd name="T6" fmla="*/ 0 w 77"/>
                <a:gd name="T7" fmla="*/ 0 h 155"/>
                <a:gd name="T8" fmla="*/ 0 w 77"/>
                <a:gd name="T9" fmla="*/ 153 h 1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7"/>
                <a:gd name="T16" fmla="*/ 0 h 155"/>
                <a:gd name="T17" fmla="*/ 77 w 77"/>
                <a:gd name="T18" fmla="*/ 155 h 1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7" h="155">
                  <a:moveTo>
                    <a:pt x="0" y="153"/>
                  </a:moveTo>
                  <a:lnTo>
                    <a:pt x="77" y="155"/>
                  </a:lnTo>
                  <a:lnTo>
                    <a:pt x="77" y="0"/>
                  </a:lnTo>
                  <a:lnTo>
                    <a:pt x="0" y="0"/>
                  </a:lnTo>
                  <a:lnTo>
                    <a:pt x="0" y="153"/>
                  </a:lnTo>
                  <a:close/>
                </a:path>
              </a:pathLst>
            </a:custGeom>
            <a:solidFill>
              <a:srgbClr val="CCCC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0" name="Freeform 49"/>
            <p:cNvSpPr>
              <a:spLocks/>
            </p:cNvSpPr>
            <p:nvPr/>
          </p:nvSpPr>
          <p:spPr bwMode="auto">
            <a:xfrm>
              <a:off x="4194376" y="3498188"/>
              <a:ext cx="129207" cy="282070"/>
            </a:xfrm>
            <a:custGeom>
              <a:avLst/>
              <a:gdLst>
                <a:gd name="T0" fmla="*/ 0 w 77"/>
                <a:gd name="T1" fmla="*/ 153 h 155"/>
                <a:gd name="T2" fmla="*/ 71 w 77"/>
                <a:gd name="T3" fmla="*/ 155 h 155"/>
                <a:gd name="T4" fmla="*/ 71 w 77"/>
                <a:gd name="T5" fmla="*/ 0 h 155"/>
                <a:gd name="T6" fmla="*/ 0 w 77"/>
                <a:gd name="T7" fmla="*/ 0 h 15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7"/>
                <a:gd name="T13" fmla="*/ 0 h 155"/>
                <a:gd name="T14" fmla="*/ 77 w 77"/>
                <a:gd name="T15" fmla="*/ 155 h 15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7" h="155">
                  <a:moveTo>
                    <a:pt x="0" y="153"/>
                  </a:moveTo>
                  <a:lnTo>
                    <a:pt x="77" y="155"/>
                  </a:lnTo>
                  <a:lnTo>
                    <a:pt x="77" y="0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1" name="Line 50"/>
            <p:cNvSpPr>
              <a:spLocks noChangeShapeType="1"/>
            </p:cNvSpPr>
            <p:nvPr/>
          </p:nvSpPr>
          <p:spPr bwMode="auto">
            <a:xfrm flipV="1">
              <a:off x="4063350" y="3494548"/>
              <a:ext cx="1820" cy="28207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2" name="Line 51"/>
            <p:cNvSpPr>
              <a:spLocks noChangeShapeType="1"/>
            </p:cNvSpPr>
            <p:nvPr/>
          </p:nvSpPr>
          <p:spPr bwMode="auto">
            <a:xfrm>
              <a:off x="4063350" y="3498188"/>
              <a:ext cx="136486" cy="18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3" name="Line 52"/>
            <p:cNvSpPr>
              <a:spLocks noChangeShapeType="1"/>
            </p:cNvSpPr>
            <p:nvPr/>
          </p:nvSpPr>
          <p:spPr bwMode="auto">
            <a:xfrm>
              <a:off x="4056071" y="3772978"/>
              <a:ext cx="134666" cy="36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4" name="Rectangle 53"/>
            <p:cNvSpPr>
              <a:spLocks noChangeArrowheads="1"/>
            </p:cNvSpPr>
            <p:nvPr/>
          </p:nvSpPr>
          <p:spPr bwMode="auto">
            <a:xfrm>
              <a:off x="4103386" y="3569160"/>
              <a:ext cx="56106" cy="1231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000000"/>
                  </a:solidFill>
                  <a:latin typeface="+mj-lt"/>
                </a:rPr>
                <a:t>R</a:t>
              </a:r>
              <a:endParaRPr lang="en-US" sz="1200" b="1">
                <a:latin typeface="+mj-lt"/>
              </a:endParaRPr>
            </a:p>
          </p:txBody>
        </p:sp>
        <p:sp>
          <p:nvSpPr>
            <p:cNvPr id="55" name="Rectangle 54"/>
            <p:cNvSpPr>
              <a:spLocks noChangeArrowheads="1"/>
            </p:cNvSpPr>
            <p:nvPr/>
          </p:nvSpPr>
          <p:spPr bwMode="auto">
            <a:xfrm>
              <a:off x="4179818" y="3569160"/>
              <a:ext cx="51296" cy="1231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000000"/>
                  </a:solidFill>
                  <a:latin typeface="+mj-lt"/>
                </a:rPr>
                <a:t>e</a:t>
              </a:r>
              <a:endParaRPr lang="en-US" sz="1200" b="1">
                <a:latin typeface="+mj-lt"/>
              </a:endParaRPr>
            </a:p>
          </p:txBody>
        </p:sp>
        <p:sp>
          <p:nvSpPr>
            <p:cNvPr id="56" name="Rectangle 55"/>
            <p:cNvSpPr>
              <a:spLocks noChangeArrowheads="1"/>
            </p:cNvSpPr>
            <p:nvPr/>
          </p:nvSpPr>
          <p:spPr bwMode="auto">
            <a:xfrm>
              <a:off x="4241691" y="3569160"/>
              <a:ext cx="48090" cy="1231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000000"/>
                  </a:solidFill>
                  <a:latin typeface="+mj-lt"/>
                </a:rPr>
                <a:t>g</a:t>
              </a:r>
              <a:endParaRPr lang="en-US" sz="1200" b="1">
                <a:latin typeface="+mj-lt"/>
              </a:endParaRPr>
            </a:p>
          </p:txBody>
        </p:sp>
        <p:sp>
          <p:nvSpPr>
            <p:cNvPr id="57" name="Line 56"/>
            <p:cNvSpPr>
              <a:spLocks noChangeShapeType="1"/>
            </p:cNvSpPr>
            <p:nvPr/>
          </p:nvSpPr>
          <p:spPr bwMode="auto">
            <a:xfrm>
              <a:off x="4325402" y="3592818"/>
              <a:ext cx="338484" cy="18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8" name="Line 57"/>
            <p:cNvSpPr>
              <a:spLocks noChangeShapeType="1"/>
            </p:cNvSpPr>
            <p:nvPr/>
          </p:nvSpPr>
          <p:spPr bwMode="auto">
            <a:xfrm>
              <a:off x="4847687" y="3665610"/>
              <a:ext cx="340304" cy="36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9" name="Line 58"/>
            <p:cNvSpPr>
              <a:spLocks noChangeShapeType="1"/>
            </p:cNvSpPr>
            <p:nvPr/>
          </p:nvSpPr>
          <p:spPr bwMode="auto">
            <a:xfrm>
              <a:off x="4325402" y="3727484"/>
              <a:ext cx="345763" cy="36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0" name="Freeform 59"/>
            <p:cNvSpPr>
              <a:spLocks/>
            </p:cNvSpPr>
            <p:nvPr/>
          </p:nvSpPr>
          <p:spPr bwMode="auto">
            <a:xfrm>
              <a:off x="4006937" y="3601916"/>
              <a:ext cx="56415" cy="63694"/>
            </a:xfrm>
            <a:custGeom>
              <a:avLst/>
              <a:gdLst>
                <a:gd name="T0" fmla="*/ 0 w 34"/>
                <a:gd name="T1" fmla="*/ 35 h 35"/>
                <a:gd name="T2" fmla="*/ 0 w 34"/>
                <a:gd name="T3" fmla="*/ 0 h 35"/>
                <a:gd name="T4" fmla="*/ 31 w 34"/>
                <a:gd name="T5" fmla="*/ 0 h 35"/>
                <a:gd name="T6" fmla="*/ 0 60000 65536"/>
                <a:gd name="T7" fmla="*/ 0 60000 65536"/>
                <a:gd name="T8" fmla="*/ 0 60000 65536"/>
                <a:gd name="T9" fmla="*/ 0 w 34"/>
                <a:gd name="T10" fmla="*/ 0 h 35"/>
                <a:gd name="T11" fmla="*/ 34 w 34"/>
                <a:gd name="T12" fmla="*/ 35 h 3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4" h="35">
                  <a:moveTo>
                    <a:pt x="0" y="35"/>
                  </a:moveTo>
                  <a:lnTo>
                    <a:pt x="0" y="0"/>
                  </a:lnTo>
                  <a:lnTo>
                    <a:pt x="34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1" name="Freeform 60"/>
            <p:cNvSpPr>
              <a:spLocks/>
            </p:cNvSpPr>
            <p:nvPr/>
          </p:nvSpPr>
          <p:spPr bwMode="auto">
            <a:xfrm>
              <a:off x="5140675" y="3665610"/>
              <a:ext cx="411276" cy="191080"/>
            </a:xfrm>
            <a:custGeom>
              <a:avLst/>
              <a:gdLst>
                <a:gd name="T0" fmla="*/ 0 w 245"/>
                <a:gd name="T1" fmla="*/ 0 h 105"/>
                <a:gd name="T2" fmla="*/ 0 w 245"/>
                <a:gd name="T3" fmla="*/ 105 h 105"/>
                <a:gd name="T4" fmla="*/ 194 w 245"/>
                <a:gd name="T5" fmla="*/ 105 h 105"/>
                <a:gd name="T6" fmla="*/ 194 w 245"/>
                <a:gd name="T7" fmla="*/ 36 h 105"/>
                <a:gd name="T8" fmla="*/ 226 w 245"/>
                <a:gd name="T9" fmla="*/ 36 h 10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5"/>
                <a:gd name="T16" fmla="*/ 0 h 105"/>
                <a:gd name="T17" fmla="*/ 245 w 245"/>
                <a:gd name="T18" fmla="*/ 105 h 10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5" h="105">
                  <a:moveTo>
                    <a:pt x="0" y="0"/>
                  </a:moveTo>
                  <a:lnTo>
                    <a:pt x="0" y="105"/>
                  </a:lnTo>
                  <a:lnTo>
                    <a:pt x="210" y="105"/>
                  </a:lnTo>
                  <a:lnTo>
                    <a:pt x="210" y="36"/>
                  </a:lnTo>
                  <a:lnTo>
                    <a:pt x="245" y="36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2" name="Rectangle 61"/>
            <p:cNvSpPr>
              <a:spLocks noChangeArrowheads="1"/>
            </p:cNvSpPr>
            <p:nvPr/>
          </p:nvSpPr>
          <p:spPr bwMode="auto">
            <a:xfrm>
              <a:off x="4183458" y="4100543"/>
              <a:ext cx="129207" cy="278431"/>
            </a:xfrm>
            <a:prstGeom prst="rect">
              <a:avLst/>
            </a:prstGeom>
            <a:solidFill>
              <a:srgbClr val="CCCCCC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3" name="Rectangle 62"/>
            <p:cNvSpPr>
              <a:spLocks noChangeArrowheads="1"/>
            </p:cNvSpPr>
            <p:nvPr/>
          </p:nvSpPr>
          <p:spPr bwMode="auto">
            <a:xfrm>
              <a:off x="4183458" y="4100543"/>
              <a:ext cx="129207" cy="27843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4" name="Freeform 63"/>
            <p:cNvSpPr>
              <a:spLocks/>
            </p:cNvSpPr>
            <p:nvPr/>
          </p:nvSpPr>
          <p:spPr bwMode="auto">
            <a:xfrm>
              <a:off x="4056071" y="4096903"/>
              <a:ext cx="127386" cy="282070"/>
            </a:xfrm>
            <a:custGeom>
              <a:avLst/>
              <a:gdLst>
                <a:gd name="T0" fmla="*/ 70 w 76"/>
                <a:gd name="T1" fmla="*/ 0 h 155"/>
                <a:gd name="T2" fmla="*/ 0 w 76"/>
                <a:gd name="T3" fmla="*/ 2 h 155"/>
                <a:gd name="T4" fmla="*/ 0 w 76"/>
                <a:gd name="T5" fmla="*/ 155 h 155"/>
                <a:gd name="T6" fmla="*/ 70 w 76"/>
                <a:gd name="T7" fmla="*/ 155 h 15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6"/>
                <a:gd name="T13" fmla="*/ 0 h 155"/>
                <a:gd name="T14" fmla="*/ 76 w 76"/>
                <a:gd name="T15" fmla="*/ 155 h 15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6" h="155">
                  <a:moveTo>
                    <a:pt x="76" y="0"/>
                  </a:moveTo>
                  <a:lnTo>
                    <a:pt x="0" y="2"/>
                  </a:lnTo>
                  <a:lnTo>
                    <a:pt x="0" y="155"/>
                  </a:lnTo>
                  <a:lnTo>
                    <a:pt x="76" y="155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5" name="Rectangle 64"/>
            <p:cNvSpPr>
              <a:spLocks noChangeArrowheads="1"/>
            </p:cNvSpPr>
            <p:nvPr/>
          </p:nvSpPr>
          <p:spPr bwMode="auto">
            <a:xfrm>
              <a:off x="4119765" y="4180615"/>
              <a:ext cx="25648" cy="1231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000000"/>
                  </a:solidFill>
                  <a:latin typeface="+mj-lt"/>
                </a:rPr>
                <a:t>I</a:t>
              </a:r>
              <a:endParaRPr lang="en-US" sz="1200" b="1">
                <a:latin typeface="+mj-lt"/>
              </a:endParaRPr>
            </a:p>
          </p:txBody>
        </p:sp>
        <p:sp>
          <p:nvSpPr>
            <p:cNvPr id="66" name="Rectangle 65"/>
            <p:cNvSpPr>
              <a:spLocks noChangeArrowheads="1"/>
            </p:cNvSpPr>
            <p:nvPr/>
          </p:nvSpPr>
          <p:spPr bwMode="auto">
            <a:xfrm>
              <a:off x="4148882" y="4180615"/>
              <a:ext cx="88166" cy="1231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000000"/>
                  </a:solidFill>
                  <a:latin typeface="+mj-lt"/>
                </a:rPr>
                <a:t>M</a:t>
              </a:r>
              <a:endParaRPr lang="en-US" sz="1200" b="1">
                <a:latin typeface="+mj-lt"/>
              </a:endParaRPr>
            </a:p>
          </p:txBody>
        </p:sp>
        <p:sp>
          <p:nvSpPr>
            <p:cNvPr id="67" name="Rectangle 66"/>
            <p:cNvSpPr>
              <a:spLocks noChangeArrowheads="1"/>
            </p:cNvSpPr>
            <p:nvPr/>
          </p:nvSpPr>
          <p:spPr bwMode="auto">
            <a:xfrm>
              <a:off x="5313557" y="4089624"/>
              <a:ext cx="132846" cy="292989"/>
            </a:xfrm>
            <a:prstGeom prst="rect">
              <a:avLst/>
            </a:prstGeom>
            <a:solidFill>
              <a:srgbClr val="FBE2C9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8" name="Rectangle 67"/>
            <p:cNvSpPr>
              <a:spLocks noChangeArrowheads="1"/>
            </p:cNvSpPr>
            <p:nvPr/>
          </p:nvSpPr>
          <p:spPr bwMode="auto">
            <a:xfrm>
              <a:off x="5313557" y="4089624"/>
              <a:ext cx="132846" cy="292989"/>
            </a:xfrm>
            <a:prstGeom prst="rect">
              <a:avLst/>
            </a:prstGeom>
            <a:noFill/>
            <a:ln w="9525">
              <a:solidFill>
                <a:srgbClr val="EB75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9" name="Line 68"/>
            <p:cNvSpPr>
              <a:spLocks noChangeShapeType="1"/>
            </p:cNvSpPr>
            <p:nvPr/>
          </p:nvSpPr>
          <p:spPr bwMode="auto">
            <a:xfrm flipV="1">
              <a:off x="5184351" y="4100543"/>
              <a:ext cx="3640" cy="26387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70" name="Line 69"/>
            <p:cNvSpPr>
              <a:spLocks noChangeShapeType="1"/>
            </p:cNvSpPr>
            <p:nvPr/>
          </p:nvSpPr>
          <p:spPr bwMode="auto">
            <a:xfrm>
              <a:off x="5184351" y="4382614"/>
              <a:ext cx="129207" cy="36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71" name="Freeform 70"/>
            <p:cNvSpPr>
              <a:spLocks/>
            </p:cNvSpPr>
            <p:nvPr/>
          </p:nvSpPr>
          <p:spPr bwMode="auto">
            <a:xfrm>
              <a:off x="6307171" y="4093264"/>
              <a:ext cx="260233" cy="278431"/>
            </a:xfrm>
            <a:custGeom>
              <a:avLst/>
              <a:gdLst>
                <a:gd name="T0" fmla="*/ 141 w 155"/>
                <a:gd name="T1" fmla="*/ 153 h 153"/>
                <a:gd name="T2" fmla="*/ 143 w 155"/>
                <a:gd name="T3" fmla="*/ 0 h 153"/>
                <a:gd name="T4" fmla="*/ 0 w 155"/>
                <a:gd name="T5" fmla="*/ 0 h 153"/>
                <a:gd name="T6" fmla="*/ 0 w 155"/>
                <a:gd name="T7" fmla="*/ 153 h 153"/>
                <a:gd name="T8" fmla="*/ 143 w 155"/>
                <a:gd name="T9" fmla="*/ 153 h 153"/>
                <a:gd name="T10" fmla="*/ 143 w 155"/>
                <a:gd name="T11" fmla="*/ 153 h 15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55"/>
                <a:gd name="T19" fmla="*/ 0 h 153"/>
                <a:gd name="T20" fmla="*/ 155 w 155"/>
                <a:gd name="T21" fmla="*/ 153 h 15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55" h="153">
                  <a:moveTo>
                    <a:pt x="153" y="153"/>
                  </a:moveTo>
                  <a:lnTo>
                    <a:pt x="155" y="0"/>
                  </a:lnTo>
                  <a:lnTo>
                    <a:pt x="0" y="0"/>
                  </a:lnTo>
                  <a:lnTo>
                    <a:pt x="0" y="153"/>
                  </a:lnTo>
                  <a:lnTo>
                    <a:pt x="155" y="153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72" name="Rectangle 71"/>
            <p:cNvSpPr>
              <a:spLocks noChangeArrowheads="1"/>
            </p:cNvSpPr>
            <p:nvPr/>
          </p:nvSpPr>
          <p:spPr bwMode="auto">
            <a:xfrm>
              <a:off x="6354486" y="4176975"/>
              <a:ext cx="62518" cy="1231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000000"/>
                  </a:solidFill>
                  <a:latin typeface="+mj-lt"/>
                </a:rPr>
                <a:t>D</a:t>
              </a:r>
              <a:endParaRPr lang="en-US" sz="1200" b="1">
                <a:latin typeface="+mj-lt"/>
              </a:endParaRPr>
            </a:p>
          </p:txBody>
        </p:sp>
        <p:sp>
          <p:nvSpPr>
            <p:cNvPr id="73" name="Rectangle 72"/>
            <p:cNvSpPr>
              <a:spLocks noChangeArrowheads="1"/>
            </p:cNvSpPr>
            <p:nvPr/>
          </p:nvSpPr>
          <p:spPr bwMode="auto">
            <a:xfrm>
              <a:off x="6430918" y="4176975"/>
              <a:ext cx="88166" cy="1231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000000"/>
                  </a:solidFill>
                  <a:latin typeface="+mj-lt"/>
                </a:rPr>
                <a:t>M</a:t>
              </a:r>
              <a:endParaRPr lang="en-US" sz="1200" b="1">
                <a:latin typeface="+mj-lt"/>
              </a:endParaRPr>
            </a:p>
          </p:txBody>
        </p:sp>
        <p:sp>
          <p:nvSpPr>
            <p:cNvPr id="74" name="Line 73"/>
            <p:cNvSpPr>
              <a:spLocks noChangeShapeType="1"/>
            </p:cNvSpPr>
            <p:nvPr/>
          </p:nvSpPr>
          <p:spPr bwMode="auto">
            <a:xfrm>
              <a:off x="4312664" y="4244308"/>
              <a:ext cx="325746" cy="18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75" name="Line 74"/>
            <p:cNvSpPr>
              <a:spLocks noChangeShapeType="1"/>
            </p:cNvSpPr>
            <p:nvPr/>
          </p:nvSpPr>
          <p:spPr bwMode="auto">
            <a:xfrm>
              <a:off x="5961408" y="4244308"/>
              <a:ext cx="354863" cy="18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76" name="Line 75"/>
            <p:cNvSpPr>
              <a:spLocks noChangeShapeType="1"/>
            </p:cNvSpPr>
            <p:nvPr/>
          </p:nvSpPr>
          <p:spPr bwMode="auto">
            <a:xfrm>
              <a:off x="6567403" y="4244308"/>
              <a:ext cx="100090" cy="18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77" name="Freeform 76"/>
            <p:cNvSpPr>
              <a:spLocks/>
            </p:cNvSpPr>
            <p:nvPr/>
          </p:nvSpPr>
          <p:spPr bwMode="auto">
            <a:xfrm>
              <a:off x="5127937" y="4169696"/>
              <a:ext cx="60054" cy="63694"/>
            </a:xfrm>
            <a:custGeom>
              <a:avLst/>
              <a:gdLst>
                <a:gd name="T0" fmla="*/ 0 w 36"/>
                <a:gd name="T1" fmla="*/ 35 h 35"/>
                <a:gd name="T2" fmla="*/ 0 w 36"/>
                <a:gd name="T3" fmla="*/ 0 h 35"/>
                <a:gd name="T4" fmla="*/ 33 w 36"/>
                <a:gd name="T5" fmla="*/ 0 h 35"/>
                <a:gd name="T6" fmla="*/ 0 60000 65536"/>
                <a:gd name="T7" fmla="*/ 0 60000 65536"/>
                <a:gd name="T8" fmla="*/ 0 60000 65536"/>
                <a:gd name="T9" fmla="*/ 0 w 36"/>
                <a:gd name="T10" fmla="*/ 0 h 35"/>
                <a:gd name="T11" fmla="*/ 36 w 36"/>
                <a:gd name="T12" fmla="*/ 35 h 3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6" h="35">
                  <a:moveTo>
                    <a:pt x="0" y="35"/>
                  </a:moveTo>
                  <a:lnTo>
                    <a:pt x="0" y="0"/>
                  </a:lnTo>
                  <a:lnTo>
                    <a:pt x="36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78" name="Freeform 77"/>
            <p:cNvSpPr>
              <a:spLocks/>
            </p:cNvSpPr>
            <p:nvPr/>
          </p:nvSpPr>
          <p:spPr bwMode="auto">
            <a:xfrm>
              <a:off x="6254396" y="4244308"/>
              <a:ext cx="414916" cy="191080"/>
            </a:xfrm>
            <a:custGeom>
              <a:avLst/>
              <a:gdLst>
                <a:gd name="T0" fmla="*/ 0 w 247"/>
                <a:gd name="T1" fmla="*/ 0 h 105"/>
                <a:gd name="T2" fmla="*/ 2 w 247"/>
                <a:gd name="T3" fmla="*/ 105 h 105"/>
                <a:gd name="T4" fmla="*/ 197 w 247"/>
                <a:gd name="T5" fmla="*/ 105 h 105"/>
                <a:gd name="T6" fmla="*/ 197 w 247"/>
                <a:gd name="T7" fmla="*/ 34 h 105"/>
                <a:gd name="T8" fmla="*/ 228 w 247"/>
                <a:gd name="T9" fmla="*/ 34 h 10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7"/>
                <a:gd name="T16" fmla="*/ 0 h 105"/>
                <a:gd name="T17" fmla="*/ 247 w 247"/>
                <a:gd name="T18" fmla="*/ 105 h 10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7" h="105">
                  <a:moveTo>
                    <a:pt x="0" y="0"/>
                  </a:moveTo>
                  <a:lnTo>
                    <a:pt x="2" y="105"/>
                  </a:lnTo>
                  <a:lnTo>
                    <a:pt x="213" y="105"/>
                  </a:lnTo>
                  <a:lnTo>
                    <a:pt x="213" y="34"/>
                  </a:lnTo>
                  <a:lnTo>
                    <a:pt x="247" y="34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79" name="Freeform 78"/>
            <p:cNvSpPr>
              <a:spLocks/>
            </p:cNvSpPr>
            <p:nvPr/>
          </p:nvSpPr>
          <p:spPr bwMode="auto">
            <a:xfrm>
              <a:off x="3874091" y="3410837"/>
              <a:ext cx="90990" cy="511366"/>
            </a:xfrm>
            <a:custGeom>
              <a:avLst/>
              <a:gdLst>
                <a:gd name="T0" fmla="*/ 48 w 54"/>
                <a:gd name="T1" fmla="*/ 280 h 281"/>
                <a:gd name="T2" fmla="*/ 50 w 54"/>
                <a:gd name="T3" fmla="*/ 0 h 281"/>
                <a:gd name="T4" fmla="*/ 0 w 54"/>
                <a:gd name="T5" fmla="*/ 0 h 281"/>
                <a:gd name="T6" fmla="*/ 0 w 54"/>
                <a:gd name="T7" fmla="*/ 281 h 281"/>
                <a:gd name="T8" fmla="*/ 50 w 54"/>
                <a:gd name="T9" fmla="*/ 281 h 281"/>
                <a:gd name="T10" fmla="*/ 50 w 54"/>
                <a:gd name="T11" fmla="*/ 281 h 281"/>
                <a:gd name="T12" fmla="*/ 48 w 54"/>
                <a:gd name="T13" fmla="*/ 280 h 28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54"/>
                <a:gd name="T22" fmla="*/ 0 h 281"/>
                <a:gd name="T23" fmla="*/ 54 w 54"/>
                <a:gd name="T24" fmla="*/ 281 h 28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54" h="281">
                  <a:moveTo>
                    <a:pt x="52" y="280"/>
                  </a:moveTo>
                  <a:lnTo>
                    <a:pt x="54" y="0"/>
                  </a:lnTo>
                  <a:lnTo>
                    <a:pt x="0" y="0"/>
                  </a:lnTo>
                  <a:lnTo>
                    <a:pt x="0" y="281"/>
                  </a:lnTo>
                  <a:lnTo>
                    <a:pt x="54" y="281"/>
                  </a:lnTo>
                  <a:lnTo>
                    <a:pt x="52" y="280"/>
                  </a:lnTo>
                  <a:close/>
                </a:path>
              </a:pathLst>
            </a:custGeom>
            <a:solidFill>
              <a:srgbClr val="CCCC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80" name="Freeform 79"/>
            <p:cNvSpPr>
              <a:spLocks/>
            </p:cNvSpPr>
            <p:nvPr/>
          </p:nvSpPr>
          <p:spPr bwMode="auto">
            <a:xfrm>
              <a:off x="3874091" y="3410837"/>
              <a:ext cx="90990" cy="511366"/>
            </a:xfrm>
            <a:custGeom>
              <a:avLst/>
              <a:gdLst>
                <a:gd name="T0" fmla="*/ 48 w 54"/>
                <a:gd name="T1" fmla="*/ 280 h 281"/>
                <a:gd name="T2" fmla="*/ 50 w 54"/>
                <a:gd name="T3" fmla="*/ 0 h 281"/>
                <a:gd name="T4" fmla="*/ 0 w 54"/>
                <a:gd name="T5" fmla="*/ 0 h 281"/>
                <a:gd name="T6" fmla="*/ 0 w 54"/>
                <a:gd name="T7" fmla="*/ 281 h 281"/>
                <a:gd name="T8" fmla="*/ 50 w 54"/>
                <a:gd name="T9" fmla="*/ 281 h 281"/>
                <a:gd name="T10" fmla="*/ 50 w 54"/>
                <a:gd name="T11" fmla="*/ 281 h 28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4"/>
                <a:gd name="T19" fmla="*/ 0 h 281"/>
                <a:gd name="T20" fmla="*/ 54 w 54"/>
                <a:gd name="T21" fmla="*/ 281 h 28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4" h="281">
                  <a:moveTo>
                    <a:pt x="52" y="280"/>
                  </a:moveTo>
                  <a:lnTo>
                    <a:pt x="54" y="0"/>
                  </a:lnTo>
                  <a:lnTo>
                    <a:pt x="0" y="0"/>
                  </a:lnTo>
                  <a:lnTo>
                    <a:pt x="0" y="281"/>
                  </a:lnTo>
                  <a:lnTo>
                    <a:pt x="54" y="281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81" name="Freeform 80"/>
            <p:cNvSpPr>
              <a:spLocks/>
            </p:cNvSpPr>
            <p:nvPr/>
          </p:nvSpPr>
          <p:spPr bwMode="auto">
            <a:xfrm>
              <a:off x="4436411" y="3410837"/>
              <a:ext cx="87351" cy="511366"/>
            </a:xfrm>
            <a:custGeom>
              <a:avLst/>
              <a:gdLst>
                <a:gd name="T0" fmla="*/ 48 w 52"/>
                <a:gd name="T1" fmla="*/ 280 h 281"/>
                <a:gd name="T2" fmla="*/ 48 w 52"/>
                <a:gd name="T3" fmla="*/ 0 h 281"/>
                <a:gd name="T4" fmla="*/ 0 w 52"/>
                <a:gd name="T5" fmla="*/ 0 h 281"/>
                <a:gd name="T6" fmla="*/ 0 w 52"/>
                <a:gd name="T7" fmla="*/ 281 h 281"/>
                <a:gd name="T8" fmla="*/ 48 w 52"/>
                <a:gd name="T9" fmla="*/ 281 h 281"/>
                <a:gd name="T10" fmla="*/ 48 w 52"/>
                <a:gd name="T11" fmla="*/ 281 h 281"/>
                <a:gd name="T12" fmla="*/ 48 w 52"/>
                <a:gd name="T13" fmla="*/ 280 h 28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52"/>
                <a:gd name="T22" fmla="*/ 0 h 281"/>
                <a:gd name="T23" fmla="*/ 52 w 52"/>
                <a:gd name="T24" fmla="*/ 281 h 28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52" h="281">
                  <a:moveTo>
                    <a:pt x="52" y="280"/>
                  </a:moveTo>
                  <a:lnTo>
                    <a:pt x="52" y="0"/>
                  </a:lnTo>
                  <a:lnTo>
                    <a:pt x="0" y="0"/>
                  </a:lnTo>
                  <a:lnTo>
                    <a:pt x="0" y="281"/>
                  </a:lnTo>
                  <a:lnTo>
                    <a:pt x="52" y="281"/>
                  </a:lnTo>
                  <a:lnTo>
                    <a:pt x="52" y="280"/>
                  </a:lnTo>
                  <a:close/>
                </a:path>
              </a:pathLst>
            </a:custGeom>
            <a:solidFill>
              <a:srgbClr val="CCCC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82" name="Freeform 81"/>
            <p:cNvSpPr>
              <a:spLocks/>
            </p:cNvSpPr>
            <p:nvPr/>
          </p:nvSpPr>
          <p:spPr bwMode="auto">
            <a:xfrm>
              <a:off x="4436411" y="3410837"/>
              <a:ext cx="87351" cy="511366"/>
            </a:xfrm>
            <a:custGeom>
              <a:avLst/>
              <a:gdLst>
                <a:gd name="T0" fmla="*/ 48 w 52"/>
                <a:gd name="T1" fmla="*/ 280 h 281"/>
                <a:gd name="T2" fmla="*/ 48 w 52"/>
                <a:gd name="T3" fmla="*/ 0 h 281"/>
                <a:gd name="T4" fmla="*/ 0 w 52"/>
                <a:gd name="T5" fmla="*/ 0 h 281"/>
                <a:gd name="T6" fmla="*/ 0 w 52"/>
                <a:gd name="T7" fmla="*/ 281 h 281"/>
                <a:gd name="T8" fmla="*/ 48 w 52"/>
                <a:gd name="T9" fmla="*/ 281 h 281"/>
                <a:gd name="T10" fmla="*/ 48 w 52"/>
                <a:gd name="T11" fmla="*/ 281 h 28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2"/>
                <a:gd name="T19" fmla="*/ 0 h 281"/>
                <a:gd name="T20" fmla="*/ 52 w 52"/>
                <a:gd name="T21" fmla="*/ 281 h 28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2" h="281">
                  <a:moveTo>
                    <a:pt x="52" y="280"/>
                  </a:moveTo>
                  <a:lnTo>
                    <a:pt x="52" y="0"/>
                  </a:lnTo>
                  <a:lnTo>
                    <a:pt x="0" y="0"/>
                  </a:lnTo>
                  <a:lnTo>
                    <a:pt x="0" y="281"/>
                  </a:lnTo>
                  <a:lnTo>
                    <a:pt x="52" y="281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83" name="Freeform 82"/>
            <p:cNvSpPr>
              <a:spLocks/>
            </p:cNvSpPr>
            <p:nvPr/>
          </p:nvSpPr>
          <p:spPr bwMode="auto">
            <a:xfrm>
              <a:off x="4991451" y="3410837"/>
              <a:ext cx="90990" cy="511366"/>
            </a:xfrm>
            <a:custGeom>
              <a:avLst/>
              <a:gdLst>
                <a:gd name="T0" fmla="*/ 48 w 54"/>
                <a:gd name="T1" fmla="*/ 280 h 281"/>
                <a:gd name="T2" fmla="*/ 50 w 54"/>
                <a:gd name="T3" fmla="*/ 0 h 281"/>
                <a:gd name="T4" fmla="*/ 0 w 54"/>
                <a:gd name="T5" fmla="*/ 0 h 281"/>
                <a:gd name="T6" fmla="*/ 0 w 54"/>
                <a:gd name="T7" fmla="*/ 281 h 281"/>
                <a:gd name="T8" fmla="*/ 50 w 54"/>
                <a:gd name="T9" fmla="*/ 281 h 281"/>
                <a:gd name="T10" fmla="*/ 50 w 54"/>
                <a:gd name="T11" fmla="*/ 281 h 281"/>
                <a:gd name="T12" fmla="*/ 48 w 54"/>
                <a:gd name="T13" fmla="*/ 280 h 28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54"/>
                <a:gd name="T22" fmla="*/ 0 h 281"/>
                <a:gd name="T23" fmla="*/ 54 w 54"/>
                <a:gd name="T24" fmla="*/ 281 h 28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54" h="281">
                  <a:moveTo>
                    <a:pt x="52" y="280"/>
                  </a:moveTo>
                  <a:lnTo>
                    <a:pt x="54" y="0"/>
                  </a:lnTo>
                  <a:lnTo>
                    <a:pt x="0" y="0"/>
                  </a:lnTo>
                  <a:lnTo>
                    <a:pt x="0" y="281"/>
                  </a:lnTo>
                  <a:lnTo>
                    <a:pt x="54" y="281"/>
                  </a:lnTo>
                  <a:lnTo>
                    <a:pt x="52" y="280"/>
                  </a:lnTo>
                  <a:close/>
                </a:path>
              </a:pathLst>
            </a:custGeom>
            <a:solidFill>
              <a:srgbClr val="CCCC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84" name="Freeform 83"/>
            <p:cNvSpPr>
              <a:spLocks/>
            </p:cNvSpPr>
            <p:nvPr/>
          </p:nvSpPr>
          <p:spPr bwMode="auto">
            <a:xfrm>
              <a:off x="4991451" y="3410837"/>
              <a:ext cx="90990" cy="511366"/>
            </a:xfrm>
            <a:custGeom>
              <a:avLst/>
              <a:gdLst>
                <a:gd name="T0" fmla="*/ 48 w 54"/>
                <a:gd name="T1" fmla="*/ 280 h 281"/>
                <a:gd name="T2" fmla="*/ 50 w 54"/>
                <a:gd name="T3" fmla="*/ 0 h 281"/>
                <a:gd name="T4" fmla="*/ 0 w 54"/>
                <a:gd name="T5" fmla="*/ 0 h 281"/>
                <a:gd name="T6" fmla="*/ 0 w 54"/>
                <a:gd name="T7" fmla="*/ 281 h 281"/>
                <a:gd name="T8" fmla="*/ 50 w 54"/>
                <a:gd name="T9" fmla="*/ 281 h 281"/>
                <a:gd name="T10" fmla="*/ 50 w 54"/>
                <a:gd name="T11" fmla="*/ 281 h 28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4"/>
                <a:gd name="T19" fmla="*/ 0 h 281"/>
                <a:gd name="T20" fmla="*/ 54 w 54"/>
                <a:gd name="T21" fmla="*/ 281 h 28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4" h="281">
                  <a:moveTo>
                    <a:pt x="52" y="280"/>
                  </a:moveTo>
                  <a:lnTo>
                    <a:pt x="54" y="0"/>
                  </a:lnTo>
                  <a:lnTo>
                    <a:pt x="0" y="0"/>
                  </a:lnTo>
                  <a:lnTo>
                    <a:pt x="0" y="281"/>
                  </a:lnTo>
                  <a:lnTo>
                    <a:pt x="54" y="281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85" name="Freeform 84"/>
            <p:cNvSpPr>
              <a:spLocks/>
            </p:cNvSpPr>
            <p:nvPr/>
          </p:nvSpPr>
          <p:spPr bwMode="auto">
            <a:xfrm>
              <a:off x="5551951" y="3410837"/>
              <a:ext cx="87351" cy="511366"/>
            </a:xfrm>
            <a:custGeom>
              <a:avLst/>
              <a:gdLst>
                <a:gd name="T0" fmla="*/ 48 w 52"/>
                <a:gd name="T1" fmla="*/ 280 h 281"/>
                <a:gd name="T2" fmla="*/ 48 w 52"/>
                <a:gd name="T3" fmla="*/ 0 h 281"/>
                <a:gd name="T4" fmla="*/ 0 w 52"/>
                <a:gd name="T5" fmla="*/ 0 h 281"/>
                <a:gd name="T6" fmla="*/ 0 w 52"/>
                <a:gd name="T7" fmla="*/ 281 h 281"/>
                <a:gd name="T8" fmla="*/ 48 w 52"/>
                <a:gd name="T9" fmla="*/ 281 h 281"/>
                <a:gd name="T10" fmla="*/ 48 w 52"/>
                <a:gd name="T11" fmla="*/ 281 h 281"/>
                <a:gd name="T12" fmla="*/ 48 w 52"/>
                <a:gd name="T13" fmla="*/ 280 h 28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52"/>
                <a:gd name="T22" fmla="*/ 0 h 281"/>
                <a:gd name="T23" fmla="*/ 52 w 52"/>
                <a:gd name="T24" fmla="*/ 281 h 28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52" h="281">
                  <a:moveTo>
                    <a:pt x="52" y="280"/>
                  </a:moveTo>
                  <a:lnTo>
                    <a:pt x="52" y="0"/>
                  </a:lnTo>
                  <a:lnTo>
                    <a:pt x="0" y="0"/>
                  </a:lnTo>
                  <a:lnTo>
                    <a:pt x="0" y="281"/>
                  </a:lnTo>
                  <a:lnTo>
                    <a:pt x="52" y="281"/>
                  </a:lnTo>
                  <a:lnTo>
                    <a:pt x="52" y="280"/>
                  </a:lnTo>
                  <a:close/>
                </a:path>
              </a:pathLst>
            </a:custGeom>
            <a:solidFill>
              <a:srgbClr val="CCCC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86" name="Freeform 85"/>
            <p:cNvSpPr>
              <a:spLocks/>
            </p:cNvSpPr>
            <p:nvPr/>
          </p:nvSpPr>
          <p:spPr bwMode="auto">
            <a:xfrm>
              <a:off x="4432772" y="3989536"/>
              <a:ext cx="90990" cy="507726"/>
            </a:xfrm>
            <a:custGeom>
              <a:avLst/>
              <a:gdLst>
                <a:gd name="T0" fmla="*/ 48 w 54"/>
                <a:gd name="T1" fmla="*/ 279 h 279"/>
                <a:gd name="T2" fmla="*/ 50 w 54"/>
                <a:gd name="T3" fmla="*/ 0 h 279"/>
                <a:gd name="T4" fmla="*/ 0 w 54"/>
                <a:gd name="T5" fmla="*/ 0 h 279"/>
                <a:gd name="T6" fmla="*/ 0 w 54"/>
                <a:gd name="T7" fmla="*/ 279 h 279"/>
                <a:gd name="T8" fmla="*/ 50 w 54"/>
                <a:gd name="T9" fmla="*/ 279 h 279"/>
                <a:gd name="T10" fmla="*/ 50 w 54"/>
                <a:gd name="T11" fmla="*/ 279 h 279"/>
                <a:gd name="T12" fmla="*/ 48 w 54"/>
                <a:gd name="T13" fmla="*/ 279 h 27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54"/>
                <a:gd name="T22" fmla="*/ 0 h 279"/>
                <a:gd name="T23" fmla="*/ 54 w 54"/>
                <a:gd name="T24" fmla="*/ 279 h 27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54" h="279">
                  <a:moveTo>
                    <a:pt x="52" y="279"/>
                  </a:moveTo>
                  <a:lnTo>
                    <a:pt x="54" y="0"/>
                  </a:lnTo>
                  <a:lnTo>
                    <a:pt x="0" y="0"/>
                  </a:lnTo>
                  <a:lnTo>
                    <a:pt x="0" y="279"/>
                  </a:lnTo>
                  <a:lnTo>
                    <a:pt x="54" y="279"/>
                  </a:lnTo>
                  <a:lnTo>
                    <a:pt x="52" y="279"/>
                  </a:lnTo>
                  <a:close/>
                </a:path>
              </a:pathLst>
            </a:custGeom>
            <a:solidFill>
              <a:srgbClr val="CCCC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87" name="Freeform 86"/>
            <p:cNvSpPr>
              <a:spLocks/>
            </p:cNvSpPr>
            <p:nvPr/>
          </p:nvSpPr>
          <p:spPr bwMode="auto">
            <a:xfrm>
              <a:off x="4432772" y="3989536"/>
              <a:ext cx="90990" cy="507726"/>
            </a:xfrm>
            <a:custGeom>
              <a:avLst/>
              <a:gdLst>
                <a:gd name="T0" fmla="*/ 48 w 54"/>
                <a:gd name="T1" fmla="*/ 279 h 279"/>
                <a:gd name="T2" fmla="*/ 50 w 54"/>
                <a:gd name="T3" fmla="*/ 0 h 279"/>
                <a:gd name="T4" fmla="*/ 0 w 54"/>
                <a:gd name="T5" fmla="*/ 0 h 279"/>
                <a:gd name="T6" fmla="*/ 0 w 54"/>
                <a:gd name="T7" fmla="*/ 279 h 279"/>
                <a:gd name="T8" fmla="*/ 50 w 54"/>
                <a:gd name="T9" fmla="*/ 279 h 279"/>
                <a:gd name="T10" fmla="*/ 50 w 54"/>
                <a:gd name="T11" fmla="*/ 279 h 27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4"/>
                <a:gd name="T19" fmla="*/ 0 h 279"/>
                <a:gd name="T20" fmla="*/ 54 w 54"/>
                <a:gd name="T21" fmla="*/ 279 h 27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4" h="279">
                  <a:moveTo>
                    <a:pt x="52" y="279"/>
                  </a:moveTo>
                  <a:lnTo>
                    <a:pt x="54" y="0"/>
                  </a:lnTo>
                  <a:lnTo>
                    <a:pt x="0" y="0"/>
                  </a:lnTo>
                  <a:lnTo>
                    <a:pt x="0" y="279"/>
                  </a:lnTo>
                  <a:lnTo>
                    <a:pt x="54" y="279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88" name="Freeform 87"/>
            <p:cNvSpPr>
              <a:spLocks/>
            </p:cNvSpPr>
            <p:nvPr/>
          </p:nvSpPr>
          <p:spPr bwMode="auto">
            <a:xfrm>
              <a:off x="5551951" y="3989536"/>
              <a:ext cx="87351" cy="507726"/>
            </a:xfrm>
            <a:custGeom>
              <a:avLst/>
              <a:gdLst>
                <a:gd name="T0" fmla="*/ 48 w 52"/>
                <a:gd name="T1" fmla="*/ 279 h 279"/>
                <a:gd name="T2" fmla="*/ 48 w 52"/>
                <a:gd name="T3" fmla="*/ 0 h 279"/>
                <a:gd name="T4" fmla="*/ 0 w 52"/>
                <a:gd name="T5" fmla="*/ 0 h 279"/>
                <a:gd name="T6" fmla="*/ 0 w 52"/>
                <a:gd name="T7" fmla="*/ 279 h 279"/>
                <a:gd name="T8" fmla="*/ 48 w 52"/>
                <a:gd name="T9" fmla="*/ 279 h 279"/>
                <a:gd name="T10" fmla="*/ 48 w 52"/>
                <a:gd name="T11" fmla="*/ 279 h 27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2"/>
                <a:gd name="T19" fmla="*/ 0 h 279"/>
                <a:gd name="T20" fmla="*/ 52 w 52"/>
                <a:gd name="T21" fmla="*/ 279 h 27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2" h="279">
                  <a:moveTo>
                    <a:pt x="52" y="279"/>
                  </a:moveTo>
                  <a:lnTo>
                    <a:pt x="52" y="0"/>
                  </a:lnTo>
                  <a:lnTo>
                    <a:pt x="0" y="0"/>
                  </a:lnTo>
                  <a:lnTo>
                    <a:pt x="0" y="279"/>
                  </a:lnTo>
                  <a:lnTo>
                    <a:pt x="52" y="279"/>
                  </a:lnTo>
                  <a:close/>
                </a:path>
              </a:pathLst>
            </a:custGeom>
            <a:solidFill>
              <a:srgbClr val="CCCC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89" name="Freeform 88"/>
            <p:cNvSpPr>
              <a:spLocks/>
            </p:cNvSpPr>
            <p:nvPr/>
          </p:nvSpPr>
          <p:spPr bwMode="auto">
            <a:xfrm>
              <a:off x="5551951" y="3989536"/>
              <a:ext cx="87351" cy="507726"/>
            </a:xfrm>
            <a:custGeom>
              <a:avLst/>
              <a:gdLst>
                <a:gd name="T0" fmla="*/ 48 w 52"/>
                <a:gd name="T1" fmla="*/ 279 h 279"/>
                <a:gd name="T2" fmla="*/ 48 w 52"/>
                <a:gd name="T3" fmla="*/ 0 h 279"/>
                <a:gd name="T4" fmla="*/ 0 w 52"/>
                <a:gd name="T5" fmla="*/ 0 h 279"/>
                <a:gd name="T6" fmla="*/ 0 w 52"/>
                <a:gd name="T7" fmla="*/ 279 h 279"/>
                <a:gd name="T8" fmla="*/ 48 w 52"/>
                <a:gd name="T9" fmla="*/ 279 h 279"/>
                <a:gd name="T10" fmla="*/ 48 w 52"/>
                <a:gd name="T11" fmla="*/ 279 h 27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2"/>
                <a:gd name="T19" fmla="*/ 0 h 279"/>
                <a:gd name="T20" fmla="*/ 52 w 52"/>
                <a:gd name="T21" fmla="*/ 279 h 27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2" h="279">
                  <a:moveTo>
                    <a:pt x="52" y="279"/>
                  </a:moveTo>
                  <a:lnTo>
                    <a:pt x="52" y="0"/>
                  </a:lnTo>
                  <a:lnTo>
                    <a:pt x="0" y="0"/>
                  </a:lnTo>
                  <a:lnTo>
                    <a:pt x="0" y="279"/>
                  </a:lnTo>
                  <a:lnTo>
                    <a:pt x="52" y="279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90" name="Freeform 89"/>
            <p:cNvSpPr>
              <a:spLocks/>
            </p:cNvSpPr>
            <p:nvPr/>
          </p:nvSpPr>
          <p:spPr bwMode="auto">
            <a:xfrm>
              <a:off x="6110632" y="3989536"/>
              <a:ext cx="89171" cy="507726"/>
            </a:xfrm>
            <a:custGeom>
              <a:avLst/>
              <a:gdLst>
                <a:gd name="T0" fmla="*/ 47 w 53"/>
                <a:gd name="T1" fmla="*/ 279 h 279"/>
                <a:gd name="T2" fmla="*/ 49 w 53"/>
                <a:gd name="T3" fmla="*/ 0 h 279"/>
                <a:gd name="T4" fmla="*/ 0 w 53"/>
                <a:gd name="T5" fmla="*/ 0 h 279"/>
                <a:gd name="T6" fmla="*/ 0 w 53"/>
                <a:gd name="T7" fmla="*/ 279 h 279"/>
                <a:gd name="T8" fmla="*/ 49 w 53"/>
                <a:gd name="T9" fmla="*/ 279 h 279"/>
                <a:gd name="T10" fmla="*/ 49 w 53"/>
                <a:gd name="T11" fmla="*/ 279 h 279"/>
                <a:gd name="T12" fmla="*/ 47 w 53"/>
                <a:gd name="T13" fmla="*/ 279 h 27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53"/>
                <a:gd name="T22" fmla="*/ 0 h 279"/>
                <a:gd name="T23" fmla="*/ 53 w 53"/>
                <a:gd name="T24" fmla="*/ 279 h 27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53" h="279">
                  <a:moveTo>
                    <a:pt x="51" y="279"/>
                  </a:moveTo>
                  <a:lnTo>
                    <a:pt x="53" y="0"/>
                  </a:lnTo>
                  <a:lnTo>
                    <a:pt x="0" y="0"/>
                  </a:lnTo>
                  <a:lnTo>
                    <a:pt x="0" y="279"/>
                  </a:lnTo>
                  <a:lnTo>
                    <a:pt x="53" y="279"/>
                  </a:lnTo>
                  <a:lnTo>
                    <a:pt x="51" y="279"/>
                  </a:lnTo>
                  <a:close/>
                </a:path>
              </a:pathLst>
            </a:custGeom>
            <a:solidFill>
              <a:srgbClr val="CCCC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91" name="Freeform 90"/>
            <p:cNvSpPr>
              <a:spLocks/>
            </p:cNvSpPr>
            <p:nvPr/>
          </p:nvSpPr>
          <p:spPr bwMode="auto">
            <a:xfrm>
              <a:off x="6110632" y="3989536"/>
              <a:ext cx="89171" cy="507726"/>
            </a:xfrm>
            <a:custGeom>
              <a:avLst/>
              <a:gdLst>
                <a:gd name="T0" fmla="*/ 47 w 53"/>
                <a:gd name="T1" fmla="*/ 279 h 279"/>
                <a:gd name="T2" fmla="*/ 49 w 53"/>
                <a:gd name="T3" fmla="*/ 0 h 279"/>
                <a:gd name="T4" fmla="*/ 0 w 53"/>
                <a:gd name="T5" fmla="*/ 0 h 279"/>
                <a:gd name="T6" fmla="*/ 0 w 53"/>
                <a:gd name="T7" fmla="*/ 279 h 279"/>
                <a:gd name="T8" fmla="*/ 49 w 53"/>
                <a:gd name="T9" fmla="*/ 279 h 279"/>
                <a:gd name="T10" fmla="*/ 49 w 53"/>
                <a:gd name="T11" fmla="*/ 279 h 27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3"/>
                <a:gd name="T19" fmla="*/ 0 h 279"/>
                <a:gd name="T20" fmla="*/ 53 w 53"/>
                <a:gd name="T21" fmla="*/ 279 h 27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3" h="279">
                  <a:moveTo>
                    <a:pt x="51" y="279"/>
                  </a:moveTo>
                  <a:lnTo>
                    <a:pt x="53" y="0"/>
                  </a:lnTo>
                  <a:lnTo>
                    <a:pt x="0" y="0"/>
                  </a:lnTo>
                  <a:lnTo>
                    <a:pt x="0" y="279"/>
                  </a:lnTo>
                  <a:lnTo>
                    <a:pt x="53" y="279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92" name="Freeform 91"/>
            <p:cNvSpPr>
              <a:spLocks/>
            </p:cNvSpPr>
            <p:nvPr/>
          </p:nvSpPr>
          <p:spPr bwMode="auto">
            <a:xfrm>
              <a:off x="6669312" y="3989536"/>
              <a:ext cx="87351" cy="507726"/>
            </a:xfrm>
            <a:custGeom>
              <a:avLst/>
              <a:gdLst>
                <a:gd name="T0" fmla="*/ 48 w 52"/>
                <a:gd name="T1" fmla="*/ 279 h 279"/>
                <a:gd name="T2" fmla="*/ 48 w 52"/>
                <a:gd name="T3" fmla="*/ 0 h 279"/>
                <a:gd name="T4" fmla="*/ 0 w 52"/>
                <a:gd name="T5" fmla="*/ 0 h 279"/>
                <a:gd name="T6" fmla="*/ 0 w 52"/>
                <a:gd name="T7" fmla="*/ 279 h 279"/>
                <a:gd name="T8" fmla="*/ 48 w 52"/>
                <a:gd name="T9" fmla="*/ 279 h 279"/>
                <a:gd name="T10" fmla="*/ 48 w 52"/>
                <a:gd name="T11" fmla="*/ 279 h 27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2"/>
                <a:gd name="T19" fmla="*/ 0 h 279"/>
                <a:gd name="T20" fmla="*/ 52 w 52"/>
                <a:gd name="T21" fmla="*/ 279 h 27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2" h="279">
                  <a:moveTo>
                    <a:pt x="52" y="279"/>
                  </a:moveTo>
                  <a:lnTo>
                    <a:pt x="52" y="0"/>
                  </a:lnTo>
                  <a:lnTo>
                    <a:pt x="0" y="0"/>
                  </a:lnTo>
                  <a:lnTo>
                    <a:pt x="0" y="279"/>
                  </a:lnTo>
                  <a:lnTo>
                    <a:pt x="52" y="279"/>
                  </a:lnTo>
                  <a:close/>
                </a:path>
              </a:pathLst>
            </a:custGeom>
            <a:solidFill>
              <a:srgbClr val="CCCC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93" name="Rectangle 92"/>
            <p:cNvSpPr>
              <a:spLocks noChangeArrowheads="1"/>
            </p:cNvSpPr>
            <p:nvPr/>
          </p:nvSpPr>
          <p:spPr bwMode="auto">
            <a:xfrm>
              <a:off x="7424532" y="4661043"/>
              <a:ext cx="127386" cy="278431"/>
            </a:xfrm>
            <a:prstGeom prst="rect">
              <a:avLst/>
            </a:prstGeom>
            <a:solidFill>
              <a:srgbClr val="CCCCCC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94" name="Rectangle 93"/>
            <p:cNvSpPr>
              <a:spLocks noChangeArrowheads="1"/>
            </p:cNvSpPr>
            <p:nvPr/>
          </p:nvSpPr>
          <p:spPr bwMode="auto">
            <a:xfrm>
              <a:off x="7424532" y="4661043"/>
              <a:ext cx="127386" cy="27843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95" name="Line 94"/>
            <p:cNvSpPr>
              <a:spLocks noChangeShapeType="1"/>
            </p:cNvSpPr>
            <p:nvPr/>
          </p:nvSpPr>
          <p:spPr bwMode="auto">
            <a:xfrm flipV="1">
              <a:off x="7681124" y="4653764"/>
              <a:ext cx="1820" cy="29298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96" name="Line 95"/>
            <p:cNvSpPr>
              <a:spLocks noChangeShapeType="1"/>
            </p:cNvSpPr>
            <p:nvPr/>
          </p:nvSpPr>
          <p:spPr bwMode="auto">
            <a:xfrm flipH="1">
              <a:off x="7546458" y="4661043"/>
              <a:ext cx="134666" cy="18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97" name="Line 96"/>
            <p:cNvSpPr>
              <a:spLocks noChangeShapeType="1"/>
            </p:cNvSpPr>
            <p:nvPr/>
          </p:nvSpPr>
          <p:spPr bwMode="auto">
            <a:xfrm flipH="1">
              <a:off x="7546458" y="4939474"/>
              <a:ext cx="134666" cy="18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98" name="Freeform 97"/>
            <p:cNvSpPr>
              <a:spLocks/>
            </p:cNvSpPr>
            <p:nvPr/>
          </p:nvSpPr>
          <p:spPr bwMode="auto">
            <a:xfrm>
              <a:off x="5308097" y="4661043"/>
              <a:ext cx="132846" cy="282070"/>
            </a:xfrm>
            <a:custGeom>
              <a:avLst/>
              <a:gdLst>
                <a:gd name="T0" fmla="*/ 0 w 79"/>
                <a:gd name="T1" fmla="*/ 153 h 155"/>
                <a:gd name="T2" fmla="*/ 73 w 79"/>
                <a:gd name="T3" fmla="*/ 155 h 155"/>
                <a:gd name="T4" fmla="*/ 73 w 79"/>
                <a:gd name="T5" fmla="*/ 0 h 155"/>
                <a:gd name="T6" fmla="*/ 0 w 79"/>
                <a:gd name="T7" fmla="*/ 0 h 155"/>
                <a:gd name="T8" fmla="*/ 0 w 79"/>
                <a:gd name="T9" fmla="*/ 153 h 1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9"/>
                <a:gd name="T16" fmla="*/ 0 h 155"/>
                <a:gd name="T17" fmla="*/ 79 w 79"/>
                <a:gd name="T18" fmla="*/ 155 h 1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9" h="155">
                  <a:moveTo>
                    <a:pt x="0" y="153"/>
                  </a:moveTo>
                  <a:lnTo>
                    <a:pt x="79" y="155"/>
                  </a:lnTo>
                  <a:lnTo>
                    <a:pt x="79" y="0"/>
                  </a:lnTo>
                  <a:lnTo>
                    <a:pt x="0" y="0"/>
                  </a:lnTo>
                  <a:lnTo>
                    <a:pt x="0" y="153"/>
                  </a:lnTo>
                  <a:close/>
                </a:path>
              </a:pathLst>
            </a:custGeom>
            <a:solidFill>
              <a:srgbClr val="CCCC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99" name="Freeform 98"/>
            <p:cNvSpPr>
              <a:spLocks/>
            </p:cNvSpPr>
            <p:nvPr/>
          </p:nvSpPr>
          <p:spPr bwMode="auto">
            <a:xfrm>
              <a:off x="5308097" y="4661043"/>
              <a:ext cx="132846" cy="282070"/>
            </a:xfrm>
            <a:custGeom>
              <a:avLst/>
              <a:gdLst>
                <a:gd name="T0" fmla="*/ 0 w 79"/>
                <a:gd name="T1" fmla="*/ 153 h 155"/>
                <a:gd name="T2" fmla="*/ 73 w 79"/>
                <a:gd name="T3" fmla="*/ 155 h 155"/>
                <a:gd name="T4" fmla="*/ 73 w 79"/>
                <a:gd name="T5" fmla="*/ 0 h 155"/>
                <a:gd name="T6" fmla="*/ 0 w 79"/>
                <a:gd name="T7" fmla="*/ 0 h 15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9"/>
                <a:gd name="T13" fmla="*/ 0 h 155"/>
                <a:gd name="T14" fmla="*/ 79 w 79"/>
                <a:gd name="T15" fmla="*/ 155 h 15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9" h="155">
                  <a:moveTo>
                    <a:pt x="0" y="153"/>
                  </a:moveTo>
                  <a:lnTo>
                    <a:pt x="79" y="155"/>
                  </a:lnTo>
                  <a:lnTo>
                    <a:pt x="79" y="0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00" name="Rectangle 99"/>
            <p:cNvSpPr>
              <a:spLocks noChangeArrowheads="1"/>
            </p:cNvSpPr>
            <p:nvPr/>
          </p:nvSpPr>
          <p:spPr bwMode="auto">
            <a:xfrm>
              <a:off x="5180711" y="4661043"/>
              <a:ext cx="127386" cy="282070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01" name="Rectangle 100"/>
            <p:cNvSpPr>
              <a:spLocks noChangeArrowheads="1"/>
            </p:cNvSpPr>
            <p:nvPr/>
          </p:nvSpPr>
          <p:spPr bwMode="auto">
            <a:xfrm>
              <a:off x="5257143" y="4739295"/>
              <a:ext cx="25648" cy="1231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000000"/>
                  </a:solidFill>
                  <a:latin typeface="+mj-lt"/>
                </a:rPr>
                <a:t>I</a:t>
              </a:r>
              <a:endParaRPr lang="en-US" sz="1200" b="1">
                <a:latin typeface="+mj-lt"/>
              </a:endParaRPr>
            </a:p>
          </p:txBody>
        </p:sp>
        <p:sp>
          <p:nvSpPr>
            <p:cNvPr id="102" name="Rectangle 101"/>
            <p:cNvSpPr>
              <a:spLocks noChangeArrowheads="1"/>
            </p:cNvSpPr>
            <p:nvPr/>
          </p:nvSpPr>
          <p:spPr bwMode="auto">
            <a:xfrm>
              <a:off x="5286260" y="4739295"/>
              <a:ext cx="88166" cy="1231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000000"/>
                  </a:solidFill>
                  <a:latin typeface="+mj-lt"/>
                </a:rPr>
                <a:t>M</a:t>
              </a:r>
              <a:endParaRPr lang="en-US" sz="1200" b="1">
                <a:latin typeface="+mj-lt"/>
              </a:endParaRPr>
            </a:p>
          </p:txBody>
        </p:sp>
        <p:sp>
          <p:nvSpPr>
            <p:cNvPr id="103" name="Rectangle 102"/>
            <p:cNvSpPr>
              <a:spLocks noChangeArrowheads="1"/>
            </p:cNvSpPr>
            <p:nvPr/>
          </p:nvSpPr>
          <p:spPr bwMode="auto">
            <a:xfrm>
              <a:off x="5875877" y="4661043"/>
              <a:ext cx="127386" cy="278431"/>
            </a:xfrm>
            <a:prstGeom prst="rect">
              <a:avLst/>
            </a:prstGeom>
            <a:solidFill>
              <a:srgbClr val="FBE2C9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04" name="Rectangle 103"/>
            <p:cNvSpPr>
              <a:spLocks noChangeArrowheads="1"/>
            </p:cNvSpPr>
            <p:nvPr/>
          </p:nvSpPr>
          <p:spPr bwMode="auto">
            <a:xfrm>
              <a:off x="5875877" y="4661043"/>
              <a:ext cx="127386" cy="278431"/>
            </a:xfrm>
            <a:prstGeom prst="rect">
              <a:avLst/>
            </a:prstGeom>
            <a:noFill/>
            <a:ln w="9525">
              <a:solidFill>
                <a:srgbClr val="EB75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05" name="Line 104"/>
            <p:cNvSpPr>
              <a:spLocks noChangeShapeType="1"/>
            </p:cNvSpPr>
            <p:nvPr/>
          </p:nvSpPr>
          <p:spPr bwMode="auto">
            <a:xfrm flipV="1">
              <a:off x="5743032" y="4653764"/>
              <a:ext cx="3640" cy="29298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06" name="Line 105"/>
            <p:cNvSpPr>
              <a:spLocks noChangeShapeType="1"/>
            </p:cNvSpPr>
            <p:nvPr/>
          </p:nvSpPr>
          <p:spPr bwMode="auto">
            <a:xfrm>
              <a:off x="5743032" y="4661043"/>
              <a:ext cx="132846" cy="18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07" name="Line 106"/>
            <p:cNvSpPr>
              <a:spLocks noChangeShapeType="1"/>
            </p:cNvSpPr>
            <p:nvPr/>
          </p:nvSpPr>
          <p:spPr bwMode="auto">
            <a:xfrm>
              <a:off x="5743032" y="4939474"/>
              <a:ext cx="132846" cy="18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08" name="Rectangle 107"/>
            <p:cNvSpPr>
              <a:spLocks noChangeArrowheads="1"/>
            </p:cNvSpPr>
            <p:nvPr/>
          </p:nvSpPr>
          <p:spPr bwMode="auto">
            <a:xfrm>
              <a:off x="5784887" y="4732016"/>
              <a:ext cx="56106" cy="1231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EB7500"/>
                  </a:solidFill>
                  <a:latin typeface="+mj-lt"/>
                </a:rPr>
                <a:t>R</a:t>
              </a:r>
              <a:endParaRPr lang="en-US" sz="1200" b="1">
                <a:latin typeface="+mj-lt"/>
              </a:endParaRPr>
            </a:p>
          </p:txBody>
        </p:sp>
        <p:sp>
          <p:nvSpPr>
            <p:cNvPr id="109" name="Rectangle 108"/>
            <p:cNvSpPr>
              <a:spLocks noChangeArrowheads="1"/>
            </p:cNvSpPr>
            <p:nvPr/>
          </p:nvSpPr>
          <p:spPr bwMode="auto">
            <a:xfrm>
              <a:off x="5861318" y="4732016"/>
              <a:ext cx="51296" cy="1231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EB7500"/>
                  </a:solidFill>
                  <a:latin typeface="+mj-lt"/>
                </a:rPr>
                <a:t>e</a:t>
              </a:r>
              <a:endParaRPr lang="en-US" sz="1200" b="1">
                <a:latin typeface="+mj-lt"/>
              </a:endParaRPr>
            </a:p>
          </p:txBody>
        </p:sp>
        <p:sp>
          <p:nvSpPr>
            <p:cNvPr id="110" name="Rectangle 109"/>
            <p:cNvSpPr>
              <a:spLocks noChangeArrowheads="1"/>
            </p:cNvSpPr>
            <p:nvPr/>
          </p:nvSpPr>
          <p:spPr bwMode="auto">
            <a:xfrm>
              <a:off x="5923192" y="4732016"/>
              <a:ext cx="48090" cy="1231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EB7500"/>
                  </a:solidFill>
                  <a:latin typeface="+mj-lt"/>
                </a:rPr>
                <a:t>g</a:t>
              </a:r>
              <a:endParaRPr lang="en-US" sz="1200" b="1">
                <a:latin typeface="+mj-lt"/>
              </a:endParaRPr>
            </a:p>
          </p:txBody>
        </p:sp>
        <p:sp>
          <p:nvSpPr>
            <p:cNvPr id="111" name="Freeform 110"/>
            <p:cNvSpPr>
              <a:spLocks/>
            </p:cNvSpPr>
            <p:nvPr/>
          </p:nvSpPr>
          <p:spPr bwMode="auto">
            <a:xfrm>
              <a:off x="6345387" y="4564594"/>
              <a:ext cx="176522" cy="504087"/>
            </a:xfrm>
            <a:custGeom>
              <a:avLst/>
              <a:gdLst>
                <a:gd name="T0" fmla="*/ 0 w 105"/>
                <a:gd name="T1" fmla="*/ 0 h 277"/>
                <a:gd name="T2" fmla="*/ 0 w 105"/>
                <a:gd name="T3" fmla="*/ 112 h 277"/>
                <a:gd name="T4" fmla="*/ 31 w 105"/>
                <a:gd name="T5" fmla="*/ 137 h 277"/>
                <a:gd name="T6" fmla="*/ 0 w 105"/>
                <a:gd name="T7" fmla="*/ 164 h 277"/>
                <a:gd name="T8" fmla="*/ 0 w 105"/>
                <a:gd name="T9" fmla="*/ 277 h 277"/>
                <a:gd name="T10" fmla="*/ 97 w 105"/>
                <a:gd name="T11" fmla="*/ 193 h 277"/>
                <a:gd name="T12" fmla="*/ 97 w 105"/>
                <a:gd name="T13" fmla="*/ 84 h 277"/>
                <a:gd name="T14" fmla="*/ 0 w 105"/>
                <a:gd name="T15" fmla="*/ 0 h 277"/>
                <a:gd name="T16" fmla="*/ 0 w 105"/>
                <a:gd name="T17" fmla="*/ 0 h 27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05"/>
                <a:gd name="T28" fmla="*/ 0 h 277"/>
                <a:gd name="T29" fmla="*/ 105 w 105"/>
                <a:gd name="T30" fmla="*/ 277 h 277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05" h="277">
                  <a:moveTo>
                    <a:pt x="0" y="0"/>
                  </a:moveTo>
                  <a:lnTo>
                    <a:pt x="0" y="112"/>
                  </a:lnTo>
                  <a:lnTo>
                    <a:pt x="34" y="137"/>
                  </a:lnTo>
                  <a:lnTo>
                    <a:pt x="0" y="164"/>
                  </a:lnTo>
                  <a:lnTo>
                    <a:pt x="0" y="277"/>
                  </a:lnTo>
                  <a:lnTo>
                    <a:pt x="105" y="193"/>
                  </a:lnTo>
                  <a:lnTo>
                    <a:pt x="105" y="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12" name="Freeform 111"/>
            <p:cNvSpPr>
              <a:spLocks/>
            </p:cNvSpPr>
            <p:nvPr/>
          </p:nvSpPr>
          <p:spPr bwMode="auto">
            <a:xfrm>
              <a:off x="6345387" y="4564594"/>
              <a:ext cx="176522" cy="504087"/>
            </a:xfrm>
            <a:custGeom>
              <a:avLst/>
              <a:gdLst>
                <a:gd name="T0" fmla="*/ 0 w 105"/>
                <a:gd name="T1" fmla="*/ 0 h 277"/>
                <a:gd name="T2" fmla="*/ 0 w 105"/>
                <a:gd name="T3" fmla="*/ 112 h 277"/>
                <a:gd name="T4" fmla="*/ 31 w 105"/>
                <a:gd name="T5" fmla="*/ 137 h 277"/>
                <a:gd name="T6" fmla="*/ 0 w 105"/>
                <a:gd name="T7" fmla="*/ 164 h 277"/>
                <a:gd name="T8" fmla="*/ 0 w 105"/>
                <a:gd name="T9" fmla="*/ 277 h 277"/>
                <a:gd name="T10" fmla="*/ 97 w 105"/>
                <a:gd name="T11" fmla="*/ 193 h 277"/>
                <a:gd name="T12" fmla="*/ 97 w 105"/>
                <a:gd name="T13" fmla="*/ 84 h 277"/>
                <a:gd name="T14" fmla="*/ 0 w 105"/>
                <a:gd name="T15" fmla="*/ 0 h 277"/>
                <a:gd name="T16" fmla="*/ 0 w 105"/>
                <a:gd name="T17" fmla="*/ 0 h 27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05"/>
                <a:gd name="T28" fmla="*/ 0 h 277"/>
                <a:gd name="T29" fmla="*/ 105 w 105"/>
                <a:gd name="T30" fmla="*/ 277 h 277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05" h="277">
                  <a:moveTo>
                    <a:pt x="0" y="0"/>
                  </a:moveTo>
                  <a:lnTo>
                    <a:pt x="0" y="112"/>
                  </a:lnTo>
                  <a:lnTo>
                    <a:pt x="34" y="137"/>
                  </a:lnTo>
                  <a:lnTo>
                    <a:pt x="0" y="164"/>
                  </a:lnTo>
                  <a:lnTo>
                    <a:pt x="0" y="277"/>
                  </a:lnTo>
                  <a:lnTo>
                    <a:pt x="105" y="193"/>
                  </a:lnTo>
                  <a:lnTo>
                    <a:pt x="105" y="84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13" name="Freeform 112"/>
            <p:cNvSpPr>
              <a:spLocks/>
            </p:cNvSpPr>
            <p:nvPr/>
          </p:nvSpPr>
          <p:spPr bwMode="auto">
            <a:xfrm>
              <a:off x="6876770" y="4650124"/>
              <a:ext cx="256593" cy="282070"/>
            </a:xfrm>
            <a:custGeom>
              <a:avLst/>
              <a:gdLst>
                <a:gd name="T0" fmla="*/ 141 w 153"/>
                <a:gd name="T1" fmla="*/ 153 h 155"/>
                <a:gd name="T2" fmla="*/ 141 w 153"/>
                <a:gd name="T3" fmla="*/ 0 h 155"/>
                <a:gd name="T4" fmla="*/ 0 w 153"/>
                <a:gd name="T5" fmla="*/ 0 h 155"/>
                <a:gd name="T6" fmla="*/ 0 w 153"/>
                <a:gd name="T7" fmla="*/ 155 h 155"/>
                <a:gd name="T8" fmla="*/ 141 w 153"/>
                <a:gd name="T9" fmla="*/ 155 h 155"/>
                <a:gd name="T10" fmla="*/ 141 w 153"/>
                <a:gd name="T11" fmla="*/ 155 h 15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53"/>
                <a:gd name="T19" fmla="*/ 0 h 155"/>
                <a:gd name="T20" fmla="*/ 153 w 153"/>
                <a:gd name="T21" fmla="*/ 155 h 15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53" h="155">
                  <a:moveTo>
                    <a:pt x="153" y="153"/>
                  </a:moveTo>
                  <a:lnTo>
                    <a:pt x="153" y="0"/>
                  </a:lnTo>
                  <a:lnTo>
                    <a:pt x="0" y="0"/>
                  </a:lnTo>
                  <a:lnTo>
                    <a:pt x="0" y="155"/>
                  </a:lnTo>
                  <a:lnTo>
                    <a:pt x="153" y="155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14" name="Rectangle 113"/>
            <p:cNvSpPr>
              <a:spLocks noChangeArrowheads="1"/>
            </p:cNvSpPr>
            <p:nvPr/>
          </p:nvSpPr>
          <p:spPr bwMode="auto">
            <a:xfrm>
              <a:off x="6925905" y="4735656"/>
              <a:ext cx="62518" cy="1231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000000"/>
                  </a:solidFill>
                  <a:latin typeface="+mj-lt"/>
                </a:rPr>
                <a:t>D</a:t>
              </a:r>
              <a:endParaRPr lang="en-US" sz="1200" b="1">
                <a:latin typeface="+mj-lt"/>
              </a:endParaRPr>
            </a:p>
          </p:txBody>
        </p:sp>
        <p:sp>
          <p:nvSpPr>
            <p:cNvPr id="115" name="Rectangle 114"/>
            <p:cNvSpPr>
              <a:spLocks noChangeArrowheads="1"/>
            </p:cNvSpPr>
            <p:nvPr/>
          </p:nvSpPr>
          <p:spPr bwMode="auto">
            <a:xfrm>
              <a:off x="7002337" y="4735656"/>
              <a:ext cx="88166" cy="1231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000000"/>
                  </a:solidFill>
                  <a:latin typeface="+mj-lt"/>
                </a:rPr>
                <a:t>M</a:t>
              </a:r>
              <a:endParaRPr lang="en-US" sz="1200" b="1">
                <a:latin typeface="+mj-lt"/>
              </a:endParaRPr>
            </a:p>
          </p:txBody>
        </p:sp>
        <p:sp>
          <p:nvSpPr>
            <p:cNvPr id="116" name="Rectangle 115"/>
            <p:cNvSpPr>
              <a:spLocks noChangeArrowheads="1"/>
            </p:cNvSpPr>
            <p:nvPr/>
          </p:nvSpPr>
          <p:spPr bwMode="auto">
            <a:xfrm>
              <a:off x="7453649" y="4735656"/>
              <a:ext cx="56106" cy="1231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000000"/>
                  </a:solidFill>
                  <a:latin typeface="+mj-lt"/>
                </a:rPr>
                <a:t>R</a:t>
              </a:r>
              <a:endParaRPr lang="en-US" sz="1200" b="1">
                <a:latin typeface="+mj-lt"/>
              </a:endParaRPr>
            </a:p>
          </p:txBody>
        </p:sp>
        <p:sp>
          <p:nvSpPr>
            <p:cNvPr id="117" name="Rectangle 116"/>
            <p:cNvSpPr>
              <a:spLocks noChangeArrowheads="1"/>
            </p:cNvSpPr>
            <p:nvPr/>
          </p:nvSpPr>
          <p:spPr bwMode="auto">
            <a:xfrm>
              <a:off x="7530081" y="4735656"/>
              <a:ext cx="51296" cy="1231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000000"/>
                  </a:solidFill>
                  <a:latin typeface="+mj-lt"/>
                </a:rPr>
                <a:t>e</a:t>
              </a:r>
              <a:endParaRPr lang="en-US" sz="1200" b="1">
                <a:latin typeface="+mj-lt"/>
              </a:endParaRPr>
            </a:p>
          </p:txBody>
        </p:sp>
        <p:sp>
          <p:nvSpPr>
            <p:cNvPr id="118" name="Rectangle 117"/>
            <p:cNvSpPr>
              <a:spLocks noChangeArrowheads="1"/>
            </p:cNvSpPr>
            <p:nvPr/>
          </p:nvSpPr>
          <p:spPr bwMode="auto">
            <a:xfrm>
              <a:off x="7590134" y="4735656"/>
              <a:ext cx="48090" cy="1231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000000"/>
                  </a:solidFill>
                  <a:latin typeface="+mj-lt"/>
                </a:rPr>
                <a:t>g</a:t>
              </a:r>
              <a:endParaRPr lang="en-US" sz="1200" b="1">
                <a:latin typeface="+mj-lt"/>
              </a:endParaRPr>
            </a:p>
          </p:txBody>
        </p:sp>
        <p:sp>
          <p:nvSpPr>
            <p:cNvPr id="119" name="Line 118"/>
            <p:cNvSpPr>
              <a:spLocks noChangeShapeType="1"/>
            </p:cNvSpPr>
            <p:nvPr/>
          </p:nvSpPr>
          <p:spPr bwMode="auto">
            <a:xfrm>
              <a:off x="5433665" y="4813907"/>
              <a:ext cx="325746" cy="36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20" name="Line 119"/>
            <p:cNvSpPr>
              <a:spLocks noChangeShapeType="1"/>
            </p:cNvSpPr>
            <p:nvPr/>
          </p:nvSpPr>
          <p:spPr bwMode="auto">
            <a:xfrm>
              <a:off x="6521908" y="4813907"/>
              <a:ext cx="232935" cy="36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21" name="Line 120"/>
            <p:cNvSpPr>
              <a:spLocks noChangeShapeType="1"/>
            </p:cNvSpPr>
            <p:nvPr/>
          </p:nvSpPr>
          <p:spPr bwMode="auto">
            <a:xfrm>
              <a:off x="7147921" y="4813907"/>
              <a:ext cx="276610" cy="36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22" name="Freeform 121"/>
            <p:cNvSpPr>
              <a:spLocks/>
            </p:cNvSpPr>
            <p:nvPr/>
          </p:nvSpPr>
          <p:spPr bwMode="auto">
            <a:xfrm>
              <a:off x="5686617" y="4752034"/>
              <a:ext cx="60054" cy="61873"/>
            </a:xfrm>
            <a:custGeom>
              <a:avLst/>
              <a:gdLst>
                <a:gd name="T0" fmla="*/ 0 w 35"/>
                <a:gd name="T1" fmla="*/ 34 h 34"/>
                <a:gd name="T2" fmla="*/ 0 w 35"/>
                <a:gd name="T3" fmla="*/ 0 h 34"/>
                <a:gd name="T4" fmla="*/ 33 w 35"/>
                <a:gd name="T5" fmla="*/ 0 h 34"/>
                <a:gd name="T6" fmla="*/ 0 60000 65536"/>
                <a:gd name="T7" fmla="*/ 0 60000 65536"/>
                <a:gd name="T8" fmla="*/ 0 60000 65536"/>
                <a:gd name="T9" fmla="*/ 0 w 35"/>
                <a:gd name="T10" fmla="*/ 0 h 34"/>
                <a:gd name="T11" fmla="*/ 35 w 35"/>
                <a:gd name="T12" fmla="*/ 34 h 3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5" h="34">
                  <a:moveTo>
                    <a:pt x="0" y="34"/>
                  </a:moveTo>
                  <a:lnTo>
                    <a:pt x="0" y="0"/>
                  </a:lnTo>
                  <a:lnTo>
                    <a:pt x="35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23" name="Freeform 122"/>
            <p:cNvSpPr>
              <a:spLocks/>
            </p:cNvSpPr>
            <p:nvPr/>
          </p:nvSpPr>
          <p:spPr bwMode="auto">
            <a:xfrm>
              <a:off x="6814897" y="4813907"/>
              <a:ext cx="413096" cy="192899"/>
            </a:xfrm>
            <a:custGeom>
              <a:avLst/>
              <a:gdLst>
                <a:gd name="T0" fmla="*/ 0 w 246"/>
                <a:gd name="T1" fmla="*/ 0 h 106"/>
                <a:gd name="T2" fmla="*/ 2 w 246"/>
                <a:gd name="T3" fmla="*/ 106 h 106"/>
                <a:gd name="T4" fmla="*/ 197 w 246"/>
                <a:gd name="T5" fmla="*/ 106 h 106"/>
                <a:gd name="T6" fmla="*/ 197 w 246"/>
                <a:gd name="T7" fmla="*/ 37 h 106"/>
                <a:gd name="T8" fmla="*/ 227 w 246"/>
                <a:gd name="T9" fmla="*/ 37 h 1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6"/>
                <a:gd name="T16" fmla="*/ 0 h 106"/>
                <a:gd name="T17" fmla="*/ 246 w 246"/>
                <a:gd name="T18" fmla="*/ 106 h 1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6" h="106">
                  <a:moveTo>
                    <a:pt x="0" y="0"/>
                  </a:moveTo>
                  <a:lnTo>
                    <a:pt x="2" y="106"/>
                  </a:lnTo>
                  <a:lnTo>
                    <a:pt x="213" y="106"/>
                  </a:lnTo>
                  <a:lnTo>
                    <a:pt x="213" y="37"/>
                  </a:lnTo>
                  <a:lnTo>
                    <a:pt x="246" y="37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24" name="Freeform 123"/>
            <p:cNvSpPr>
              <a:spLocks/>
            </p:cNvSpPr>
            <p:nvPr/>
          </p:nvSpPr>
          <p:spPr bwMode="auto">
            <a:xfrm>
              <a:off x="5551951" y="4564594"/>
              <a:ext cx="87351" cy="507726"/>
            </a:xfrm>
            <a:custGeom>
              <a:avLst/>
              <a:gdLst>
                <a:gd name="T0" fmla="*/ 48 w 52"/>
                <a:gd name="T1" fmla="*/ 277 h 279"/>
                <a:gd name="T2" fmla="*/ 48 w 52"/>
                <a:gd name="T3" fmla="*/ 0 h 279"/>
                <a:gd name="T4" fmla="*/ 0 w 52"/>
                <a:gd name="T5" fmla="*/ 0 h 279"/>
                <a:gd name="T6" fmla="*/ 0 w 52"/>
                <a:gd name="T7" fmla="*/ 279 h 279"/>
                <a:gd name="T8" fmla="*/ 48 w 52"/>
                <a:gd name="T9" fmla="*/ 279 h 279"/>
                <a:gd name="T10" fmla="*/ 48 w 52"/>
                <a:gd name="T11" fmla="*/ 279 h 279"/>
                <a:gd name="T12" fmla="*/ 48 w 52"/>
                <a:gd name="T13" fmla="*/ 277 h 27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52"/>
                <a:gd name="T22" fmla="*/ 0 h 279"/>
                <a:gd name="T23" fmla="*/ 52 w 52"/>
                <a:gd name="T24" fmla="*/ 279 h 27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52" h="279">
                  <a:moveTo>
                    <a:pt x="52" y="277"/>
                  </a:moveTo>
                  <a:lnTo>
                    <a:pt x="52" y="0"/>
                  </a:lnTo>
                  <a:lnTo>
                    <a:pt x="0" y="0"/>
                  </a:lnTo>
                  <a:lnTo>
                    <a:pt x="0" y="279"/>
                  </a:lnTo>
                  <a:lnTo>
                    <a:pt x="52" y="279"/>
                  </a:lnTo>
                  <a:lnTo>
                    <a:pt x="52" y="277"/>
                  </a:lnTo>
                  <a:close/>
                </a:path>
              </a:pathLst>
            </a:custGeom>
            <a:solidFill>
              <a:srgbClr val="CCCC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25" name="Freeform 124"/>
            <p:cNvSpPr>
              <a:spLocks/>
            </p:cNvSpPr>
            <p:nvPr/>
          </p:nvSpPr>
          <p:spPr bwMode="auto">
            <a:xfrm>
              <a:off x="5551951" y="4564594"/>
              <a:ext cx="87351" cy="507726"/>
            </a:xfrm>
            <a:custGeom>
              <a:avLst/>
              <a:gdLst>
                <a:gd name="T0" fmla="*/ 48 w 52"/>
                <a:gd name="T1" fmla="*/ 277 h 279"/>
                <a:gd name="T2" fmla="*/ 48 w 52"/>
                <a:gd name="T3" fmla="*/ 0 h 279"/>
                <a:gd name="T4" fmla="*/ 0 w 52"/>
                <a:gd name="T5" fmla="*/ 0 h 279"/>
                <a:gd name="T6" fmla="*/ 0 w 52"/>
                <a:gd name="T7" fmla="*/ 279 h 279"/>
                <a:gd name="T8" fmla="*/ 48 w 52"/>
                <a:gd name="T9" fmla="*/ 279 h 279"/>
                <a:gd name="T10" fmla="*/ 48 w 52"/>
                <a:gd name="T11" fmla="*/ 279 h 27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2"/>
                <a:gd name="T19" fmla="*/ 0 h 279"/>
                <a:gd name="T20" fmla="*/ 52 w 52"/>
                <a:gd name="T21" fmla="*/ 279 h 27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2" h="279">
                  <a:moveTo>
                    <a:pt x="52" y="277"/>
                  </a:moveTo>
                  <a:lnTo>
                    <a:pt x="52" y="0"/>
                  </a:lnTo>
                  <a:lnTo>
                    <a:pt x="0" y="0"/>
                  </a:lnTo>
                  <a:lnTo>
                    <a:pt x="0" y="279"/>
                  </a:lnTo>
                  <a:lnTo>
                    <a:pt x="52" y="279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26" name="Freeform 125"/>
            <p:cNvSpPr>
              <a:spLocks/>
            </p:cNvSpPr>
            <p:nvPr/>
          </p:nvSpPr>
          <p:spPr bwMode="auto">
            <a:xfrm>
              <a:off x="4727580" y="4653764"/>
              <a:ext cx="132846" cy="285710"/>
            </a:xfrm>
            <a:custGeom>
              <a:avLst/>
              <a:gdLst>
                <a:gd name="T0" fmla="*/ 0 w 79"/>
                <a:gd name="T1" fmla="*/ 157 h 157"/>
                <a:gd name="T2" fmla="*/ 73 w 79"/>
                <a:gd name="T3" fmla="*/ 157 h 157"/>
                <a:gd name="T4" fmla="*/ 73 w 79"/>
                <a:gd name="T5" fmla="*/ 0 h 157"/>
                <a:gd name="T6" fmla="*/ 2 w 79"/>
                <a:gd name="T7" fmla="*/ 0 h 157"/>
                <a:gd name="T8" fmla="*/ 0 w 79"/>
                <a:gd name="T9" fmla="*/ 157 h 15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9"/>
                <a:gd name="T16" fmla="*/ 0 h 157"/>
                <a:gd name="T17" fmla="*/ 79 w 79"/>
                <a:gd name="T18" fmla="*/ 157 h 15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9" h="157">
                  <a:moveTo>
                    <a:pt x="0" y="157"/>
                  </a:moveTo>
                  <a:lnTo>
                    <a:pt x="79" y="157"/>
                  </a:lnTo>
                  <a:lnTo>
                    <a:pt x="79" y="0"/>
                  </a:lnTo>
                  <a:lnTo>
                    <a:pt x="2" y="0"/>
                  </a:lnTo>
                  <a:lnTo>
                    <a:pt x="0" y="157"/>
                  </a:lnTo>
                  <a:close/>
                </a:path>
              </a:pathLst>
            </a:custGeom>
            <a:solidFill>
              <a:srgbClr val="CCCC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27" name="Freeform 126"/>
            <p:cNvSpPr>
              <a:spLocks/>
            </p:cNvSpPr>
            <p:nvPr/>
          </p:nvSpPr>
          <p:spPr bwMode="auto">
            <a:xfrm>
              <a:off x="4727580" y="4653764"/>
              <a:ext cx="132846" cy="285710"/>
            </a:xfrm>
            <a:custGeom>
              <a:avLst/>
              <a:gdLst>
                <a:gd name="T0" fmla="*/ 0 w 79"/>
                <a:gd name="T1" fmla="*/ 157 h 157"/>
                <a:gd name="T2" fmla="*/ 73 w 79"/>
                <a:gd name="T3" fmla="*/ 157 h 157"/>
                <a:gd name="T4" fmla="*/ 73 w 79"/>
                <a:gd name="T5" fmla="*/ 0 h 157"/>
                <a:gd name="T6" fmla="*/ 2 w 79"/>
                <a:gd name="T7" fmla="*/ 0 h 15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9"/>
                <a:gd name="T13" fmla="*/ 0 h 157"/>
                <a:gd name="T14" fmla="*/ 79 w 79"/>
                <a:gd name="T15" fmla="*/ 157 h 15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9" h="157">
                  <a:moveTo>
                    <a:pt x="0" y="157"/>
                  </a:moveTo>
                  <a:lnTo>
                    <a:pt x="79" y="157"/>
                  </a:lnTo>
                  <a:lnTo>
                    <a:pt x="79" y="0"/>
                  </a:lnTo>
                  <a:lnTo>
                    <a:pt x="2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28" name="Freeform 127"/>
            <p:cNvSpPr>
              <a:spLocks/>
            </p:cNvSpPr>
            <p:nvPr/>
          </p:nvSpPr>
          <p:spPr bwMode="auto">
            <a:xfrm>
              <a:off x="4600194" y="4653764"/>
              <a:ext cx="131026" cy="285710"/>
            </a:xfrm>
            <a:custGeom>
              <a:avLst/>
              <a:gdLst>
                <a:gd name="T0" fmla="*/ 70 w 78"/>
                <a:gd name="T1" fmla="*/ 0 h 157"/>
                <a:gd name="T2" fmla="*/ 0 w 78"/>
                <a:gd name="T3" fmla="*/ 0 h 157"/>
                <a:gd name="T4" fmla="*/ 0 w 78"/>
                <a:gd name="T5" fmla="*/ 157 h 157"/>
                <a:gd name="T6" fmla="*/ 72 w 78"/>
                <a:gd name="T7" fmla="*/ 157 h 15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8"/>
                <a:gd name="T13" fmla="*/ 0 h 157"/>
                <a:gd name="T14" fmla="*/ 78 w 78"/>
                <a:gd name="T15" fmla="*/ 157 h 15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8" h="157">
                  <a:moveTo>
                    <a:pt x="76" y="0"/>
                  </a:moveTo>
                  <a:lnTo>
                    <a:pt x="0" y="0"/>
                  </a:lnTo>
                  <a:lnTo>
                    <a:pt x="0" y="157"/>
                  </a:lnTo>
                  <a:lnTo>
                    <a:pt x="78" y="157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29" name="Rectangle 128"/>
            <p:cNvSpPr>
              <a:spLocks noChangeArrowheads="1"/>
            </p:cNvSpPr>
            <p:nvPr/>
          </p:nvSpPr>
          <p:spPr bwMode="auto">
            <a:xfrm>
              <a:off x="4671166" y="4744754"/>
              <a:ext cx="25648" cy="1231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000000"/>
                  </a:solidFill>
                  <a:latin typeface="+mj-lt"/>
                </a:rPr>
                <a:t>I</a:t>
              </a:r>
              <a:endParaRPr lang="en-US" sz="1200" b="1">
                <a:latin typeface="+mj-lt"/>
              </a:endParaRPr>
            </a:p>
          </p:txBody>
        </p:sp>
        <p:sp>
          <p:nvSpPr>
            <p:cNvPr id="130" name="Rectangle 129"/>
            <p:cNvSpPr>
              <a:spLocks noChangeArrowheads="1"/>
            </p:cNvSpPr>
            <p:nvPr/>
          </p:nvSpPr>
          <p:spPr bwMode="auto">
            <a:xfrm>
              <a:off x="4698463" y="4744754"/>
              <a:ext cx="88166" cy="1231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000000"/>
                  </a:solidFill>
                  <a:latin typeface="+mj-lt"/>
                </a:rPr>
                <a:t>M</a:t>
              </a:r>
              <a:endParaRPr lang="en-US" sz="1200" b="1">
                <a:latin typeface="+mj-lt"/>
              </a:endParaRPr>
            </a:p>
          </p:txBody>
        </p:sp>
        <p:sp>
          <p:nvSpPr>
            <p:cNvPr id="131" name="Line 130"/>
            <p:cNvSpPr>
              <a:spLocks noChangeShapeType="1"/>
            </p:cNvSpPr>
            <p:nvPr/>
          </p:nvSpPr>
          <p:spPr bwMode="auto">
            <a:xfrm>
              <a:off x="5440944" y="4813907"/>
              <a:ext cx="318467" cy="36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32" name="Line 131"/>
            <p:cNvSpPr>
              <a:spLocks noChangeShapeType="1"/>
            </p:cNvSpPr>
            <p:nvPr/>
          </p:nvSpPr>
          <p:spPr bwMode="auto">
            <a:xfrm>
              <a:off x="4867705" y="4813907"/>
              <a:ext cx="114648" cy="36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33" name="Freeform 132"/>
            <p:cNvSpPr>
              <a:spLocks/>
            </p:cNvSpPr>
            <p:nvPr/>
          </p:nvSpPr>
          <p:spPr bwMode="auto">
            <a:xfrm>
              <a:off x="4982353" y="4564594"/>
              <a:ext cx="87351" cy="507726"/>
            </a:xfrm>
            <a:custGeom>
              <a:avLst/>
              <a:gdLst>
                <a:gd name="T0" fmla="*/ 48 w 51"/>
                <a:gd name="T1" fmla="*/ 277 h 279"/>
                <a:gd name="T2" fmla="*/ 48 w 51"/>
                <a:gd name="T3" fmla="*/ 0 h 279"/>
                <a:gd name="T4" fmla="*/ 0 w 51"/>
                <a:gd name="T5" fmla="*/ 0 h 279"/>
                <a:gd name="T6" fmla="*/ 0 w 51"/>
                <a:gd name="T7" fmla="*/ 279 h 279"/>
                <a:gd name="T8" fmla="*/ 48 w 51"/>
                <a:gd name="T9" fmla="*/ 279 h 279"/>
                <a:gd name="T10" fmla="*/ 48 w 51"/>
                <a:gd name="T11" fmla="*/ 279 h 279"/>
                <a:gd name="T12" fmla="*/ 48 w 51"/>
                <a:gd name="T13" fmla="*/ 277 h 27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51"/>
                <a:gd name="T22" fmla="*/ 0 h 279"/>
                <a:gd name="T23" fmla="*/ 51 w 51"/>
                <a:gd name="T24" fmla="*/ 279 h 27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51" h="279">
                  <a:moveTo>
                    <a:pt x="51" y="277"/>
                  </a:moveTo>
                  <a:lnTo>
                    <a:pt x="51" y="0"/>
                  </a:lnTo>
                  <a:lnTo>
                    <a:pt x="0" y="0"/>
                  </a:lnTo>
                  <a:lnTo>
                    <a:pt x="0" y="279"/>
                  </a:lnTo>
                  <a:lnTo>
                    <a:pt x="51" y="279"/>
                  </a:lnTo>
                  <a:lnTo>
                    <a:pt x="51" y="277"/>
                  </a:lnTo>
                  <a:close/>
                </a:path>
              </a:pathLst>
            </a:custGeom>
            <a:solidFill>
              <a:srgbClr val="CCCC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34" name="Freeform 133"/>
            <p:cNvSpPr>
              <a:spLocks/>
            </p:cNvSpPr>
            <p:nvPr/>
          </p:nvSpPr>
          <p:spPr bwMode="auto">
            <a:xfrm>
              <a:off x="4982353" y="4564594"/>
              <a:ext cx="87351" cy="507726"/>
            </a:xfrm>
            <a:custGeom>
              <a:avLst/>
              <a:gdLst>
                <a:gd name="T0" fmla="*/ 48 w 51"/>
                <a:gd name="T1" fmla="*/ 277 h 279"/>
                <a:gd name="T2" fmla="*/ 48 w 51"/>
                <a:gd name="T3" fmla="*/ 0 h 279"/>
                <a:gd name="T4" fmla="*/ 0 w 51"/>
                <a:gd name="T5" fmla="*/ 0 h 279"/>
                <a:gd name="T6" fmla="*/ 0 w 51"/>
                <a:gd name="T7" fmla="*/ 279 h 279"/>
                <a:gd name="T8" fmla="*/ 48 w 51"/>
                <a:gd name="T9" fmla="*/ 279 h 279"/>
                <a:gd name="T10" fmla="*/ 48 w 51"/>
                <a:gd name="T11" fmla="*/ 279 h 27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1"/>
                <a:gd name="T19" fmla="*/ 0 h 279"/>
                <a:gd name="T20" fmla="*/ 51 w 51"/>
                <a:gd name="T21" fmla="*/ 279 h 27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1" h="279">
                  <a:moveTo>
                    <a:pt x="51" y="277"/>
                  </a:moveTo>
                  <a:lnTo>
                    <a:pt x="51" y="0"/>
                  </a:lnTo>
                  <a:lnTo>
                    <a:pt x="0" y="0"/>
                  </a:lnTo>
                  <a:lnTo>
                    <a:pt x="0" y="279"/>
                  </a:lnTo>
                  <a:lnTo>
                    <a:pt x="51" y="279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35" name="Freeform 134"/>
            <p:cNvSpPr>
              <a:spLocks/>
            </p:cNvSpPr>
            <p:nvPr/>
          </p:nvSpPr>
          <p:spPr bwMode="auto">
            <a:xfrm>
              <a:off x="6110632" y="4564594"/>
              <a:ext cx="89171" cy="507726"/>
            </a:xfrm>
            <a:custGeom>
              <a:avLst/>
              <a:gdLst>
                <a:gd name="T0" fmla="*/ 47 w 53"/>
                <a:gd name="T1" fmla="*/ 277 h 279"/>
                <a:gd name="T2" fmla="*/ 49 w 53"/>
                <a:gd name="T3" fmla="*/ 0 h 279"/>
                <a:gd name="T4" fmla="*/ 0 w 53"/>
                <a:gd name="T5" fmla="*/ 0 h 279"/>
                <a:gd name="T6" fmla="*/ 0 w 53"/>
                <a:gd name="T7" fmla="*/ 279 h 279"/>
                <a:gd name="T8" fmla="*/ 49 w 53"/>
                <a:gd name="T9" fmla="*/ 279 h 279"/>
                <a:gd name="T10" fmla="*/ 49 w 53"/>
                <a:gd name="T11" fmla="*/ 279 h 279"/>
                <a:gd name="T12" fmla="*/ 47 w 53"/>
                <a:gd name="T13" fmla="*/ 277 h 27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53"/>
                <a:gd name="T22" fmla="*/ 0 h 279"/>
                <a:gd name="T23" fmla="*/ 53 w 53"/>
                <a:gd name="T24" fmla="*/ 279 h 27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53" h="279">
                  <a:moveTo>
                    <a:pt x="51" y="277"/>
                  </a:moveTo>
                  <a:lnTo>
                    <a:pt x="53" y="0"/>
                  </a:lnTo>
                  <a:lnTo>
                    <a:pt x="0" y="0"/>
                  </a:lnTo>
                  <a:lnTo>
                    <a:pt x="0" y="279"/>
                  </a:lnTo>
                  <a:lnTo>
                    <a:pt x="53" y="279"/>
                  </a:lnTo>
                  <a:lnTo>
                    <a:pt x="51" y="277"/>
                  </a:lnTo>
                  <a:close/>
                </a:path>
              </a:pathLst>
            </a:custGeom>
            <a:solidFill>
              <a:srgbClr val="CCCC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36" name="Freeform 135"/>
            <p:cNvSpPr>
              <a:spLocks/>
            </p:cNvSpPr>
            <p:nvPr/>
          </p:nvSpPr>
          <p:spPr bwMode="auto">
            <a:xfrm>
              <a:off x="6110632" y="4564594"/>
              <a:ext cx="89171" cy="507726"/>
            </a:xfrm>
            <a:custGeom>
              <a:avLst/>
              <a:gdLst>
                <a:gd name="T0" fmla="*/ 47 w 53"/>
                <a:gd name="T1" fmla="*/ 277 h 279"/>
                <a:gd name="T2" fmla="*/ 49 w 53"/>
                <a:gd name="T3" fmla="*/ 0 h 279"/>
                <a:gd name="T4" fmla="*/ 0 w 53"/>
                <a:gd name="T5" fmla="*/ 0 h 279"/>
                <a:gd name="T6" fmla="*/ 0 w 53"/>
                <a:gd name="T7" fmla="*/ 279 h 279"/>
                <a:gd name="T8" fmla="*/ 49 w 53"/>
                <a:gd name="T9" fmla="*/ 279 h 279"/>
                <a:gd name="T10" fmla="*/ 49 w 53"/>
                <a:gd name="T11" fmla="*/ 279 h 27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3"/>
                <a:gd name="T19" fmla="*/ 0 h 279"/>
                <a:gd name="T20" fmla="*/ 53 w 53"/>
                <a:gd name="T21" fmla="*/ 279 h 27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3" h="279">
                  <a:moveTo>
                    <a:pt x="51" y="277"/>
                  </a:moveTo>
                  <a:lnTo>
                    <a:pt x="53" y="0"/>
                  </a:lnTo>
                  <a:lnTo>
                    <a:pt x="0" y="0"/>
                  </a:lnTo>
                  <a:lnTo>
                    <a:pt x="0" y="279"/>
                  </a:lnTo>
                  <a:lnTo>
                    <a:pt x="53" y="279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37" name="Freeform 136"/>
            <p:cNvSpPr>
              <a:spLocks/>
            </p:cNvSpPr>
            <p:nvPr/>
          </p:nvSpPr>
          <p:spPr bwMode="auto">
            <a:xfrm>
              <a:off x="6669312" y="4564594"/>
              <a:ext cx="87351" cy="507726"/>
            </a:xfrm>
            <a:custGeom>
              <a:avLst/>
              <a:gdLst>
                <a:gd name="T0" fmla="*/ 48 w 52"/>
                <a:gd name="T1" fmla="*/ 277 h 279"/>
                <a:gd name="T2" fmla="*/ 48 w 52"/>
                <a:gd name="T3" fmla="*/ 0 h 279"/>
                <a:gd name="T4" fmla="*/ 0 w 52"/>
                <a:gd name="T5" fmla="*/ 0 h 279"/>
                <a:gd name="T6" fmla="*/ 0 w 52"/>
                <a:gd name="T7" fmla="*/ 279 h 279"/>
                <a:gd name="T8" fmla="*/ 48 w 52"/>
                <a:gd name="T9" fmla="*/ 279 h 279"/>
                <a:gd name="T10" fmla="*/ 48 w 52"/>
                <a:gd name="T11" fmla="*/ 279 h 279"/>
                <a:gd name="T12" fmla="*/ 48 w 52"/>
                <a:gd name="T13" fmla="*/ 277 h 27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52"/>
                <a:gd name="T22" fmla="*/ 0 h 279"/>
                <a:gd name="T23" fmla="*/ 52 w 52"/>
                <a:gd name="T24" fmla="*/ 279 h 27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52" h="279">
                  <a:moveTo>
                    <a:pt x="52" y="277"/>
                  </a:moveTo>
                  <a:lnTo>
                    <a:pt x="52" y="0"/>
                  </a:lnTo>
                  <a:lnTo>
                    <a:pt x="0" y="0"/>
                  </a:lnTo>
                  <a:lnTo>
                    <a:pt x="0" y="279"/>
                  </a:lnTo>
                  <a:lnTo>
                    <a:pt x="52" y="279"/>
                  </a:lnTo>
                  <a:lnTo>
                    <a:pt x="52" y="277"/>
                  </a:lnTo>
                  <a:close/>
                </a:path>
              </a:pathLst>
            </a:custGeom>
            <a:solidFill>
              <a:srgbClr val="CCCC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38" name="Freeform 137"/>
            <p:cNvSpPr>
              <a:spLocks/>
            </p:cNvSpPr>
            <p:nvPr/>
          </p:nvSpPr>
          <p:spPr bwMode="auto">
            <a:xfrm>
              <a:off x="7227993" y="4564594"/>
              <a:ext cx="89171" cy="507726"/>
            </a:xfrm>
            <a:custGeom>
              <a:avLst/>
              <a:gdLst>
                <a:gd name="T0" fmla="*/ 47 w 53"/>
                <a:gd name="T1" fmla="*/ 277 h 279"/>
                <a:gd name="T2" fmla="*/ 49 w 53"/>
                <a:gd name="T3" fmla="*/ 0 h 279"/>
                <a:gd name="T4" fmla="*/ 0 w 53"/>
                <a:gd name="T5" fmla="*/ 0 h 279"/>
                <a:gd name="T6" fmla="*/ 0 w 53"/>
                <a:gd name="T7" fmla="*/ 279 h 279"/>
                <a:gd name="T8" fmla="*/ 49 w 53"/>
                <a:gd name="T9" fmla="*/ 279 h 279"/>
                <a:gd name="T10" fmla="*/ 49 w 53"/>
                <a:gd name="T11" fmla="*/ 279 h 279"/>
                <a:gd name="T12" fmla="*/ 47 w 53"/>
                <a:gd name="T13" fmla="*/ 277 h 27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53"/>
                <a:gd name="T22" fmla="*/ 0 h 279"/>
                <a:gd name="T23" fmla="*/ 53 w 53"/>
                <a:gd name="T24" fmla="*/ 279 h 27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53" h="279">
                  <a:moveTo>
                    <a:pt x="51" y="277"/>
                  </a:moveTo>
                  <a:lnTo>
                    <a:pt x="53" y="0"/>
                  </a:lnTo>
                  <a:lnTo>
                    <a:pt x="0" y="0"/>
                  </a:lnTo>
                  <a:lnTo>
                    <a:pt x="0" y="279"/>
                  </a:lnTo>
                  <a:lnTo>
                    <a:pt x="53" y="279"/>
                  </a:lnTo>
                  <a:lnTo>
                    <a:pt x="51" y="277"/>
                  </a:lnTo>
                  <a:close/>
                </a:path>
              </a:pathLst>
            </a:custGeom>
            <a:solidFill>
              <a:srgbClr val="CCCC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39" name="Freeform 138"/>
            <p:cNvSpPr>
              <a:spLocks/>
            </p:cNvSpPr>
            <p:nvPr/>
          </p:nvSpPr>
          <p:spPr bwMode="auto">
            <a:xfrm>
              <a:off x="7227993" y="4564594"/>
              <a:ext cx="89171" cy="507726"/>
            </a:xfrm>
            <a:custGeom>
              <a:avLst/>
              <a:gdLst>
                <a:gd name="T0" fmla="*/ 47 w 53"/>
                <a:gd name="T1" fmla="*/ 277 h 279"/>
                <a:gd name="T2" fmla="*/ 49 w 53"/>
                <a:gd name="T3" fmla="*/ 0 h 279"/>
                <a:gd name="T4" fmla="*/ 0 w 53"/>
                <a:gd name="T5" fmla="*/ 0 h 279"/>
                <a:gd name="T6" fmla="*/ 0 w 53"/>
                <a:gd name="T7" fmla="*/ 279 h 279"/>
                <a:gd name="T8" fmla="*/ 49 w 53"/>
                <a:gd name="T9" fmla="*/ 279 h 279"/>
                <a:gd name="T10" fmla="*/ 49 w 53"/>
                <a:gd name="T11" fmla="*/ 279 h 27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3"/>
                <a:gd name="T19" fmla="*/ 0 h 279"/>
                <a:gd name="T20" fmla="*/ 53 w 53"/>
                <a:gd name="T21" fmla="*/ 279 h 27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3" h="279">
                  <a:moveTo>
                    <a:pt x="51" y="277"/>
                  </a:moveTo>
                  <a:lnTo>
                    <a:pt x="53" y="0"/>
                  </a:lnTo>
                  <a:lnTo>
                    <a:pt x="0" y="0"/>
                  </a:lnTo>
                  <a:lnTo>
                    <a:pt x="0" y="279"/>
                  </a:lnTo>
                  <a:lnTo>
                    <a:pt x="53" y="279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40" name="Freeform 139"/>
            <p:cNvSpPr>
              <a:spLocks/>
            </p:cNvSpPr>
            <p:nvPr/>
          </p:nvSpPr>
          <p:spPr bwMode="auto">
            <a:xfrm>
              <a:off x="8006870" y="5232462"/>
              <a:ext cx="127386" cy="278431"/>
            </a:xfrm>
            <a:custGeom>
              <a:avLst/>
              <a:gdLst>
                <a:gd name="T0" fmla="*/ 68 w 76"/>
                <a:gd name="T1" fmla="*/ 153 h 153"/>
                <a:gd name="T2" fmla="*/ 0 w 76"/>
                <a:gd name="T3" fmla="*/ 153 h 153"/>
                <a:gd name="T4" fmla="*/ 0 w 76"/>
                <a:gd name="T5" fmla="*/ 0 h 153"/>
                <a:gd name="T6" fmla="*/ 70 w 76"/>
                <a:gd name="T7" fmla="*/ 0 h 153"/>
                <a:gd name="T8" fmla="*/ 68 w 76"/>
                <a:gd name="T9" fmla="*/ 153 h 15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6"/>
                <a:gd name="T16" fmla="*/ 0 h 153"/>
                <a:gd name="T17" fmla="*/ 76 w 76"/>
                <a:gd name="T18" fmla="*/ 153 h 15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6" h="153">
                  <a:moveTo>
                    <a:pt x="74" y="153"/>
                  </a:moveTo>
                  <a:lnTo>
                    <a:pt x="0" y="153"/>
                  </a:lnTo>
                  <a:lnTo>
                    <a:pt x="0" y="0"/>
                  </a:lnTo>
                  <a:lnTo>
                    <a:pt x="76" y="0"/>
                  </a:lnTo>
                  <a:lnTo>
                    <a:pt x="74" y="153"/>
                  </a:lnTo>
                  <a:close/>
                </a:path>
              </a:pathLst>
            </a:custGeom>
            <a:solidFill>
              <a:srgbClr val="CCCC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41" name="Freeform 140"/>
            <p:cNvSpPr>
              <a:spLocks/>
            </p:cNvSpPr>
            <p:nvPr/>
          </p:nvSpPr>
          <p:spPr bwMode="auto">
            <a:xfrm>
              <a:off x="8006870" y="5232462"/>
              <a:ext cx="127386" cy="278431"/>
            </a:xfrm>
            <a:custGeom>
              <a:avLst/>
              <a:gdLst>
                <a:gd name="T0" fmla="*/ 68 w 76"/>
                <a:gd name="T1" fmla="*/ 153 h 153"/>
                <a:gd name="T2" fmla="*/ 0 w 76"/>
                <a:gd name="T3" fmla="*/ 153 h 153"/>
                <a:gd name="T4" fmla="*/ 0 w 76"/>
                <a:gd name="T5" fmla="*/ 0 h 153"/>
                <a:gd name="T6" fmla="*/ 70 w 76"/>
                <a:gd name="T7" fmla="*/ 0 h 15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6"/>
                <a:gd name="T13" fmla="*/ 0 h 153"/>
                <a:gd name="T14" fmla="*/ 76 w 76"/>
                <a:gd name="T15" fmla="*/ 153 h 15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6" h="153">
                  <a:moveTo>
                    <a:pt x="74" y="153"/>
                  </a:moveTo>
                  <a:lnTo>
                    <a:pt x="0" y="153"/>
                  </a:lnTo>
                  <a:lnTo>
                    <a:pt x="0" y="0"/>
                  </a:lnTo>
                  <a:lnTo>
                    <a:pt x="76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42" name="Line 141"/>
            <p:cNvSpPr>
              <a:spLocks noChangeShapeType="1"/>
            </p:cNvSpPr>
            <p:nvPr/>
          </p:nvSpPr>
          <p:spPr bwMode="auto">
            <a:xfrm flipV="1">
              <a:off x="8265282" y="5225183"/>
              <a:ext cx="0" cy="28935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43" name="Line 142"/>
            <p:cNvSpPr>
              <a:spLocks noChangeShapeType="1"/>
            </p:cNvSpPr>
            <p:nvPr/>
          </p:nvSpPr>
          <p:spPr bwMode="auto">
            <a:xfrm flipH="1">
              <a:off x="8128796" y="5228823"/>
              <a:ext cx="136486" cy="36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44" name="Line 143"/>
            <p:cNvSpPr>
              <a:spLocks noChangeShapeType="1"/>
            </p:cNvSpPr>
            <p:nvPr/>
          </p:nvSpPr>
          <p:spPr bwMode="auto">
            <a:xfrm flipH="1">
              <a:off x="8128796" y="5510893"/>
              <a:ext cx="136486" cy="18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45" name="Freeform 144"/>
            <p:cNvSpPr>
              <a:spLocks/>
            </p:cNvSpPr>
            <p:nvPr/>
          </p:nvSpPr>
          <p:spPr bwMode="auto">
            <a:xfrm>
              <a:off x="5861318" y="5239741"/>
              <a:ext cx="129207" cy="282070"/>
            </a:xfrm>
            <a:custGeom>
              <a:avLst/>
              <a:gdLst>
                <a:gd name="T0" fmla="*/ 0 w 77"/>
                <a:gd name="T1" fmla="*/ 153 h 155"/>
                <a:gd name="T2" fmla="*/ 71 w 77"/>
                <a:gd name="T3" fmla="*/ 155 h 155"/>
                <a:gd name="T4" fmla="*/ 71 w 77"/>
                <a:gd name="T5" fmla="*/ 0 h 155"/>
                <a:gd name="T6" fmla="*/ 0 w 77"/>
                <a:gd name="T7" fmla="*/ 0 h 155"/>
                <a:gd name="T8" fmla="*/ 0 w 77"/>
                <a:gd name="T9" fmla="*/ 153 h 1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7"/>
                <a:gd name="T16" fmla="*/ 0 h 155"/>
                <a:gd name="T17" fmla="*/ 77 w 77"/>
                <a:gd name="T18" fmla="*/ 155 h 1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7" h="155">
                  <a:moveTo>
                    <a:pt x="0" y="153"/>
                  </a:moveTo>
                  <a:lnTo>
                    <a:pt x="77" y="155"/>
                  </a:lnTo>
                  <a:lnTo>
                    <a:pt x="77" y="0"/>
                  </a:lnTo>
                  <a:lnTo>
                    <a:pt x="0" y="0"/>
                  </a:lnTo>
                  <a:lnTo>
                    <a:pt x="0" y="153"/>
                  </a:lnTo>
                  <a:close/>
                </a:path>
              </a:pathLst>
            </a:custGeom>
            <a:solidFill>
              <a:srgbClr val="CCCC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46" name="Freeform 145"/>
            <p:cNvSpPr>
              <a:spLocks/>
            </p:cNvSpPr>
            <p:nvPr/>
          </p:nvSpPr>
          <p:spPr bwMode="auto">
            <a:xfrm>
              <a:off x="5861318" y="5239741"/>
              <a:ext cx="129207" cy="282070"/>
            </a:xfrm>
            <a:custGeom>
              <a:avLst/>
              <a:gdLst>
                <a:gd name="T0" fmla="*/ 0 w 77"/>
                <a:gd name="T1" fmla="*/ 153 h 155"/>
                <a:gd name="T2" fmla="*/ 71 w 77"/>
                <a:gd name="T3" fmla="*/ 155 h 155"/>
                <a:gd name="T4" fmla="*/ 71 w 77"/>
                <a:gd name="T5" fmla="*/ 0 h 155"/>
                <a:gd name="T6" fmla="*/ 0 w 77"/>
                <a:gd name="T7" fmla="*/ 0 h 15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7"/>
                <a:gd name="T13" fmla="*/ 0 h 155"/>
                <a:gd name="T14" fmla="*/ 77 w 77"/>
                <a:gd name="T15" fmla="*/ 155 h 15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7" h="155">
                  <a:moveTo>
                    <a:pt x="0" y="153"/>
                  </a:moveTo>
                  <a:lnTo>
                    <a:pt x="77" y="155"/>
                  </a:lnTo>
                  <a:lnTo>
                    <a:pt x="77" y="0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47" name="Rectangle 146"/>
            <p:cNvSpPr>
              <a:spLocks noChangeArrowheads="1"/>
            </p:cNvSpPr>
            <p:nvPr/>
          </p:nvSpPr>
          <p:spPr bwMode="auto">
            <a:xfrm>
              <a:off x="5732113" y="5239741"/>
              <a:ext cx="129207" cy="282070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48" name="Rectangle 147"/>
            <p:cNvSpPr>
              <a:spLocks noChangeArrowheads="1"/>
            </p:cNvSpPr>
            <p:nvPr/>
          </p:nvSpPr>
          <p:spPr bwMode="auto">
            <a:xfrm>
              <a:off x="5815824" y="5305254"/>
              <a:ext cx="25648" cy="1231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000000"/>
                  </a:solidFill>
                  <a:latin typeface="+mj-lt"/>
                </a:rPr>
                <a:t>I</a:t>
              </a:r>
              <a:endParaRPr lang="en-US" sz="1200" b="1">
                <a:latin typeface="+mj-lt"/>
              </a:endParaRPr>
            </a:p>
          </p:txBody>
        </p:sp>
        <p:sp>
          <p:nvSpPr>
            <p:cNvPr id="149" name="Rectangle 148"/>
            <p:cNvSpPr>
              <a:spLocks noChangeArrowheads="1"/>
            </p:cNvSpPr>
            <p:nvPr/>
          </p:nvSpPr>
          <p:spPr bwMode="auto">
            <a:xfrm>
              <a:off x="5844941" y="5305254"/>
              <a:ext cx="88166" cy="1231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000000"/>
                  </a:solidFill>
                  <a:latin typeface="+mj-lt"/>
                </a:rPr>
                <a:t>M</a:t>
              </a:r>
              <a:endParaRPr lang="en-US" sz="1200" b="1">
                <a:latin typeface="+mj-lt"/>
              </a:endParaRPr>
            </a:p>
          </p:txBody>
        </p:sp>
        <p:sp>
          <p:nvSpPr>
            <p:cNvPr id="150" name="Rectangle 149"/>
            <p:cNvSpPr>
              <a:spLocks noChangeArrowheads="1"/>
            </p:cNvSpPr>
            <p:nvPr/>
          </p:nvSpPr>
          <p:spPr bwMode="auto">
            <a:xfrm>
              <a:off x="6427278" y="5243381"/>
              <a:ext cx="131026" cy="278431"/>
            </a:xfrm>
            <a:prstGeom prst="rect">
              <a:avLst/>
            </a:prstGeom>
            <a:solidFill>
              <a:srgbClr val="FBE2C9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51" name="Rectangle 150"/>
            <p:cNvSpPr>
              <a:spLocks noChangeArrowheads="1"/>
            </p:cNvSpPr>
            <p:nvPr/>
          </p:nvSpPr>
          <p:spPr bwMode="auto">
            <a:xfrm>
              <a:off x="6427278" y="5243381"/>
              <a:ext cx="131026" cy="278431"/>
            </a:xfrm>
            <a:prstGeom prst="rect">
              <a:avLst/>
            </a:prstGeom>
            <a:noFill/>
            <a:ln w="9525">
              <a:solidFill>
                <a:srgbClr val="EB75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52" name="Line 151"/>
            <p:cNvSpPr>
              <a:spLocks noChangeShapeType="1"/>
            </p:cNvSpPr>
            <p:nvPr/>
          </p:nvSpPr>
          <p:spPr bwMode="auto">
            <a:xfrm flipV="1">
              <a:off x="6299892" y="5243381"/>
              <a:ext cx="1820" cy="28207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53" name="Line 152"/>
            <p:cNvSpPr>
              <a:spLocks noChangeShapeType="1"/>
            </p:cNvSpPr>
            <p:nvPr/>
          </p:nvSpPr>
          <p:spPr bwMode="auto">
            <a:xfrm>
              <a:off x="6299892" y="5239741"/>
              <a:ext cx="127386" cy="36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54" name="Line 153"/>
            <p:cNvSpPr>
              <a:spLocks noChangeShapeType="1"/>
            </p:cNvSpPr>
            <p:nvPr/>
          </p:nvSpPr>
          <p:spPr bwMode="auto">
            <a:xfrm>
              <a:off x="6299892" y="5521812"/>
              <a:ext cx="127386" cy="18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55" name="Freeform 154"/>
            <p:cNvSpPr>
              <a:spLocks/>
            </p:cNvSpPr>
            <p:nvPr/>
          </p:nvSpPr>
          <p:spPr bwMode="auto">
            <a:xfrm>
              <a:off x="6902247" y="5134193"/>
              <a:ext cx="180161" cy="505906"/>
            </a:xfrm>
            <a:custGeom>
              <a:avLst/>
              <a:gdLst>
                <a:gd name="T0" fmla="*/ 0 w 107"/>
                <a:gd name="T1" fmla="*/ 0 h 278"/>
                <a:gd name="T2" fmla="*/ 2 w 107"/>
                <a:gd name="T3" fmla="*/ 113 h 278"/>
                <a:gd name="T4" fmla="*/ 32 w 107"/>
                <a:gd name="T5" fmla="*/ 140 h 278"/>
                <a:gd name="T6" fmla="*/ 2 w 107"/>
                <a:gd name="T7" fmla="*/ 167 h 278"/>
                <a:gd name="T8" fmla="*/ 2 w 107"/>
                <a:gd name="T9" fmla="*/ 278 h 278"/>
                <a:gd name="T10" fmla="*/ 99 w 107"/>
                <a:gd name="T11" fmla="*/ 194 h 278"/>
                <a:gd name="T12" fmla="*/ 99 w 107"/>
                <a:gd name="T13" fmla="*/ 86 h 278"/>
                <a:gd name="T14" fmla="*/ 2 w 107"/>
                <a:gd name="T15" fmla="*/ 0 h 278"/>
                <a:gd name="T16" fmla="*/ 2 w 107"/>
                <a:gd name="T17" fmla="*/ 0 h 278"/>
                <a:gd name="T18" fmla="*/ 0 w 107"/>
                <a:gd name="T19" fmla="*/ 0 h 27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07"/>
                <a:gd name="T31" fmla="*/ 0 h 278"/>
                <a:gd name="T32" fmla="*/ 107 w 107"/>
                <a:gd name="T33" fmla="*/ 278 h 278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07" h="278">
                  <a:moveTo>
                    <a:pt x="0" y="0"/>
                  </a:moveTo>
                  <a:lnTo>
                    <a:pt x="2" y="113"/>
                  </a:lnTo>
                  <a:lnTo>
                    <a:pt x="35" y="140"/>
                  </a:lnTo>
                  <a:lnTo>
                    <a:pt x="2" y="167"/>
                  </a:lnTo>
                  <a:lnTo>
                    <a:pt x="2" y="278"/>
                  </a:lnTo>
                  <a:lnTo>
                    <a:pt x="107" y="194"/>
                  </a:lnTo>
                  <a:lnTo>
                    <a:pt x="107" y="86"/>
                  </a:lnTo>
                  <a:lnTo>
                    <a:pt x="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56" name="Freeform 155"/>
            <p:cNvSpPr>
              <a:spLocks/>
            </p:cNvSpPr>
            <p:nvPr/>
          </p:nvSpPr>
          <p:spPr bwMode="auto">
            <a:xfrm>
              <a:off x="6902247" y="5134193"/>
              <a:ext cx="180161" cy="505906"/>
            </a:xfrm>
            <a:custGeom>
              <a:avLst/>
              <a:gdLst>
                <a:gd name="T0" fmla="*/ 0 w 107"/>
                <a:gd name="T1" fmla="*/ 0 h 278"/>
                <a:gd name="T2" fmla="*/ 2 w 107"/>
                <a:gd name="T3" fmla="*/ 113 h 278"/>
                <a:gd name="T4" fmla="*/ 32 w 107"/>
                <a:gd name="T5" fmla="*/ 140 h 278"/>
                <a:gd name="T6" fmla="*/ 2 w 107"/>
                <a:gd name="T7" fmla="*/ 167 h 278"/>
                <a:gd name="T8" fmla="*/ 2 w 107"/>
                <a:gd name="T9" fmla="*/ 278 h 278"/>
                <a:gd name="T10" fmla="*/ 99 w 107"/>
                <a:gd name="T11" fmla="*/ 194 h 278"/>
                <a:gd name="T12" fmla="*/ 99 w 107"/>
                <a:gd name="T13" fmla="*/ 86 h 278"/>
                <a:gd name="T14" fmla="*/ 2 w 107"/>
                <a:gd name="T15" fmla="*/ 0 h 278"/>
                <a:gd name="T16" fmla="*/ 2 w 107"/>
                <a:gd name="T17" fmla="*/ 0 h 27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07"/>
                <a:gd name="T28" fmla="*/ 0 h 278"/>
                <a:gd name="T29" fmla="*/ 107 w 107"/>
                <a:gd name="T30" fmla="*/ 278 h 278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07" h="278">
                  <a:moveTo>
                    <a:pt x="0" y="0"/>
                  </a:moveTo>
                  <a:lnTo>
                    <a:pt x="2" y="113"/>
                  </a:lnTo>
                  <a:lnTo>
                    <a:pt x="35" y="140"/>
                  </a:lnTo>
                  <a:lnTo>
                    <a:pt x="2" y="167"/>
                  </a:lnTo>
                  <a:lnTo>
                    <a:pt x="2" y="278"/>
                  </a:lnTo>
                  <a:lnTo>
                    <a:pt x="107" y="194"/>
                  </a:lnTo>
                  <a:lnTo>
                    <a:pt x="107" y="86"/>
                  </a:lnTo>
                  <a:lnTo>
                    <a:pt x="2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57" name="Rectangle 156"/>
            <p:cNvSpPr>
              <a:spLocks noChangeArrowheads="1"/>
            </p:cNvSpPr>
            <p:nvPr/>
          </p:nvSpPr>
          <p:spPr bwMode="auto">
            <a:xfrm>
              <a:off x="7471847" y="5312534"/>
              <a:ext cx="62518" cy="1231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000000"/>
                  </a:solidFill>
                  <a:latin typeface="+mj-lt"/>
                </a:rPr>
                <a:t>D</a:t>
              </a:r>
              <a:endParaRPr lang="en-US" sz="1200" b="1">
                <a:latin typeface="+mj-lt"/>
              </a:endParaRPr>
            </a:p>
          </p:txBody>
        </p:sp>
        <p:sp>
          <p:nvSpPr>
            <p:cNvPr id="158" name="Rectangle 157"/>
            <p:cNvSpPr>
              <a:spLocks noChangeArrowheads="1"/>
            </p:cNvSpPr>
            <p:nvPr/>
          </p:nvSpPr>
          <p:spPr bwMode="auto">
            <a:xfrm>
              <a:off x="7548279" y="5312534"/>
              <a:ext cx="88166" cy="1231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000000"/>
                  </a:solidFill>
                  <a:latin typeface="+mj-lt"/>
                </a:rPr>
                <a:t>M</a:t>
              </a:r>
              <a:endParaRPr lang="en-US" sz="1200" b="1">
                <a:latin typeface="+mj-lt"/>
              </a:endParaRPr>
            </a:p>
          </p:txBody>
        </p:sp>
        <p:sp>
          <p:nvSpPr>
            <p:cNvPr id="159" name="Rectangle 158"/>
            <p:cNvSpPr>
              <a:spLocks noChangeArrowheads="1"/>
            </p:cNvSpPr>
            <p:nvPr/>
          </p:nvSpPr>
          <p:spPr bwMode="auto">
            <a:xfrm>
              <a:off x="8046905" y="5303435"/>
              <a:ext cx="56106" cy="1231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000000"/>
                  </a:solidFill>
                  <a:latin typeface="+mj-lt"/>
                </a:rPr>
                <a:t>R</a:t>
              </a:r>
              <a:endParaRPr lang="en-US" sz="1200" b="1">
                <a:latin typeface="+mj-lt"/>
              </a:endParaRPr>
            </a:p>
          </p:txBody>
        </p:sp>
        <p:sp>
          <p:nvSpPr>
            <p:cNvPr id="160" name="Rectangle 159"/>
            <p:cNvSpPr>
              <a:spLocks noChangeArrowheads="1"/>
            </p:cNvSpPr>
            <p:nvPr/>
          </p:nvSpPr>
          <p:spPr bwMode="auto">
            <a:xfrm>
              <a:off x="8123337" y="5303435"/>
              <a:ext cx="51296" cy="1231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000000"/>
                  </a:solidFill>
                  <a:latin typeface="+mj-lt"/>
                </a:rPr>
                <a:t>e</a:t>
              </a:r>
              <a:endParaRPr lang="en-US" sz="1200" b="1">
                <a:latin typeface="+mj-lt"/>
              </a:endParaRPr>
            </a:p>
          </p:txBody>
        </p:sp>
        <p:sp>
          <p:nvSpPr>
            <p:cNvPr id="161" name="Rectangle 160"/>
            <p:cNvSpPr>
              <a:spLocks noChangeArrowheads="1"/>
            </p:cNvSpPr>
            <p:nvPr/>
          </p:nvSpPr>
          <p:spPr bwMode="auto">
            <a:xfrm>
              <a:off x="8179751" y="5303435"/>
              <a:ext cx="48090" cy="1231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000000"/>
                  </a:solidFill>
                  <a:latin typeface="+mj-lt"/>
                </a:rPr>
                <a:t>g</a:t>
              </a:r>
              <a:endParaRPr lang="en-US" sz="1200" b="1">
                <a:latin typeface="+mj-lt"/>
              </a:endParaRPr>
            </a:p>
          </p:txBody>
        </p:sp>
        <p:sp>
          <p:nvSpPr>
            <p:cNvPr id="162" name="Line 161"/>
            <p:cNvSpPr>
              <a:spLocks noChangeShapeType="1"/>
            </p:cNvSpPr>
            <p:nvPr/>
          </p:nvSpPr>
          <p:spPr bwMode="auto">
            <a:xfrm>
              <a:off x="5990525" y="5388965"/>
              <a:ext cx="313007" cy="18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63" name="Line 162"/>
            <p:cNvSpPr>
              <a:spLocks noChangeShapeType="1"/>
            </p:cNvSpPr>
            <p:nvPr/>
          </p:nvSpPr>
          <p:spPr bwMode="auto">
            <a:xfrm>
              <a:off x="7082408" y="5388965"/>
              <a:ext cx="345763" cy="18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64" name="Line 163"/>
            <p:cNvSpPr>
              <a:spLocks noChangeShapeType="1"/>
            </p:cNvSpPr>
            <p:nvPr/>
          </p:nvSpPr>
          <p:spPr bwMode="auto">
            <a:xfrm>
              <a:off x="7701142" y="5388965"/>
              <a:ext cx="292989" cy="18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65" name="Freeform 164"/>
            <p:cNvSpPr>
              <a:spLocks/>
            </p:cNvSpPr>
            <p:nvPr/>
          </p:nvSpPr>
          <p:spPr bwMode="auto">
            <a:xfrm>
              <a:off x="6230739" y="5316173"/>
              <a:ext cx="63694" cy="61873"/>
            </a:xfrm>
            <a:custGeom>
              <a:avLst/>
              <a:gdLst>
                <a:gd name="T0" fmla="*/ 0 w 37"/>
                <a:gd name="T1" fmla="*/ 34 h 34"/>
                <a:gd name="T2" fmla="*/ 2 w 37"/>
                <a:gd name="T3" fmla="*/ 0 h 34"/>
                <a:gd name="T4" fmla="*/ 35 w 37"/>
                <a:gd name="T5" fmla="*/ 0 h 34"/>
                <a:gd name="T6" fmla="*/ 0 60000 65536"/>
                <a:gd name="T7" fmla="*/ 0 60000 65536"/>
                <a:gd name="T8" fmla="*/ 0 60000 65536"/>
                <a:gd name="T9" fmla="*/ 0 w 37"/>
                <a:gd name="T10" fmla="*/ 0 h 34"/>
                <a:gd name="T11" fmla="*/ 37 w 37"/>
                <a:gd name="T12" fmla="*/ 34 h 3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7" h="34">
                  <a:moveTo>
                    <a:pt x="0" y="34"/>
                  </a:moveTo>
                  <a:lnTo>
                    <a:pt x="2" y="0"/>
                  </a:lnTo>
                  <a:lnTo>
                    <a:pt x="37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66" name="Freeform 165"/>
            <p:cNvSpPr>
              <a:spLocks/>
            </p:cNvSpPr>
            <p:nvPr/>
          </p:nvSpPr>
          <p:spPr bwMode="auto">
            <a:xfrm>
              <a:off x="7375397" y="5388965"/>
              <a:ext cx="411276" cy="191080"/>
            </a:xfrm>
            <a:custGeom>
              <a:avLst/>
              <a:gdLst>
                <a:gd name="T0" fmla="*/ 0 w 245"/>
                <a:gd name="T1" fmla="*/ 0 h 105"/>
                <a:gd name="T2" fmla="*/ 0 w 245"/>
                <a:gd name="T3" fmla="*/ 105 h 105"/>
                <a:gd name="T4" fmla="*/ 195 w 245"/>
                <a:gd name="T5" fmla="*/ 105 h 105"/>
                <a:gd name="T6" fmla="*/ 195 w 245"/>
                <a:gd name="T7" fmla="*/ 34 h 105"/>
                <a:gd name="T8" fmla="*/ 226 w 245"/>
                <a:gd name="T9" fmla="*/ 34 h 10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5"/>
                <a:gd name="T16" fmla="*/ 0 h 105"/>
                <a:gd name="T17" fmla="*/ 245 w 245"/>
                <a:gd name="T18" fmla="*/ 105 h 10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5" h="105">
                  <a:moveTo>
                    <a:pt x="0" y="0"/>
                  </a:moveTo>
                  <a:lnTo>
                    <a:pt x="0" y="105"/>
                  </a:lnTo>
                  <a:lnTo>
                    <a:pt x="211" y="105"/>
                  </a:lnTo>
                  <a:lnTo>
                    <a:pt x="211" y="34"/>
                  </a:lnTo>
                  <a:lnTo>
                    <a:pt x="245" y="34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67" name="Freeform 166"/>
            <p:cNvSpPr>
              <a:spLocks/>
            </p:cNvSpPr>
            <p:nvPr/>
          </p:nvSpPr>
          <p:spPr bwMode="auto">
            <a:xfrm>
              <a:off x="6110632" y="5134193"/>
              <a:ext cx="89171" cy="509546"/>
            </a:xfrm>
            <a:custGeom>
              <a:avLst/>
              <a:gdLst>
                <a:gd name="T0" fmla="*/ 47 w 53"/>
                <a:gd name="T1" fmla="*/ 280 h 280"/>
                <a:gd name="T2" fmla="*/ 49 w 53"/>
                <a:gd name="T3" fmla="*/ 0 h 280"/>
                <a:gd name="T4" fmla="*/ 0 w 53"/>
                <a:gd name="T5" fmla="*/ 0 h 280"/>
                <a:gd name="T6" fmla="*/ 0 w 53"/>
                <a:gd name="T7" fmla="*/ 280 h 280"/>
                <a:gd name="T8" fmla="*/ 49 w 53"/>
                <a:gd name="T9" fmla="*/ 280 h 280"/>
                <a:gd name="T10" fmla="*/ 49 w 53"/>
                <a:gd name="T11" fmla="*/ 280 h 280"/>
                <a:gd name="T12" fmla="*/ 47 w 53"/>
                <a:gd name="T13" fmla="*/ 280 h 28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53"/>
                <a:gd name="T22" fmla="*/ 0 h 280"/>
                <a:gd name="T23" fmla="*/ 53 w 53"/>
                <a:gd name="T24" fmla="*/ 280 h 28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53" h="280">
                  <a:moveTo>
                    <a:pt x="51" y="280"/>
                  </a:moveTo>
                  <a:lnTo>
                    <a:pt x="53" y="0"/>
                  </a:lnTo>
                  <a:lnTo>
                    <a:pt x="0" y="0"/>
                  </a:lnTo>
                  <a:lnTo>
                    <a:pt x="0" y="280"/>
                  </a:lnTo>
                  <a:lnTo>
                    <a:pt x="53" y="280"/>
                  </a:lnTo>
                  <a:lnTo>
                    <a:pt x="51" y="280"/>
                  </a:lnTo>
                  <a:close/>
                </a:path>
              </a:pathLst>
            </a:custGeom>
            <a:solidFill>
              <a:srgbClr val="CCCC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68" name="Freeform 167"/>
            <p:cNvSpPr>
              <a:spLocks/>
            </p:cNvSpPr>
            <p:nvPr/>
          </p:nvSpPr>
          <p:spPr bwMode="auto">
            <a:xfrm>
              <a:off x="6110632" y="5134193"/>
              <a:ext cx="89171" cy="509546"/>
            </a:xfrm>
            <a:custGeom>
              <a:avLst/>
              <a:gdLst>
                <a:gd name="T0" fmla="*/ 47 w 53"/>
                <a:gd name="T1" fmla="*/ 280 h 280"/>
                <a:gd name="T2" fmla="*/ 49 w 53"/>
                <a:gd name="T3" fmla="*/ 0 h 280"/>
                <a:gd name="T4" fmla="*/ 0 w 53"/>
                <a:gd name="T5" fmla="*/ 0 h 280"/>
                <a:gd name="T6" fmla="*/ 0 w 53"/>
                <a:gd name="T7" fmla="*/ 280 h 280"/>
                <a:gd name="T8" fmla="*/ 49 w 53"/>
                <a:gd name="T9" fmla="*/ 280 h 280"/>
                <a:gd name="T10" fmla="*/ 49 w 53"/>
                <a:gd name="T11" fmla="*/ 280 h 28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3"/>
                <a:gd name="T19" fmla="*/ 0 h 280"/>
                <a:gd name="T20" fmla="*/ 53 w 53"/>
                <a:gd name="T21" fmla="*/ 280 h 28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3" h="280">
                  <a:moveTo>
                    <a:pt x="51" y="280"/>
                  </a:moveTo>
                  <a:lnTo>
                    <a:pt x="53" y="0"/>
                  </a:lnTo>
                  <a:lnTo>
                    <a:pt x="0" y="0"/>
                  </a:lnTo>
                  <a:lnTo>
                    <a:pt x="0" y="280"/>
                  </a:lnTo>
                  <a:lnTo>
                    <a:pt x="53" y="28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69" name="Freeform 168"/>
            <p:cNvSpPr>
              <a:spLocks/>
            </p:cNvSpPr>
            <p:nvPr/>
          </p:nvSpPr>
          <p:spPr bwMode="auto">
            <a:xfrm>
              <a:off x="6669312" y="5134193"/>
              <a:ext cx="87351" cy="509546"/>
            </a:xfrm>
            <a:custGeom>
              <a:avLst/>
              <a:gdLst>
                <a:gd name="T0" fmla="*/ 48 w 52"/>
                <a:gd name="T1" fmla="*/ 280 h 280"/>
                <a:gd name="T2" fmla="*/ 48 w 52"/>
                <a:gd name="T3" fmla="*/ 0 h 280"/>
                <a:gd name="T4" fmla="*/ 0 w 52"/>
                <a:gd name="T5" fmla="*/ 0 h 280"/>
                <a:gd name="T6" fmla="*/ 0 w 52"/>
                <a:gd name="T7" fmla="*/ 280 h 280"/>
                <a:gd name="T8" fmla="*/ 48 w 52"/>
                <a:gd name="T9" fmla="*/ 280 h 280"/>
                <a:gd name="T10" fmla="*/ 48 w 52"/>
                <a:gd name="T11" fmla="*/ 280 h 28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2"/>
                <a:gd name="T19" fmla="*/ 0 h 280"/>
                <a:gd name="T20" fmla="*/ 52 w 52"/>
                <a:gd name="T21" fmla="*/ 280 h 28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2" h="280">
                  <a:moveTo>
                    <a:pt x="52" y="280"/>
                  </a:moveTo>
                  <a:lnTo>
                    <a:pt x="52" y="0"/>
                  </a:lnTo>
                  <a:lnTo>
                    <a:pt x="0" y="0"/>
                  </a:lnTo>
                  <a:lnTo>
                    <a:pt x="0" y="280"/>
                  </a:lnTo>
                  <a:lnTo>
                    <a:pt x="52" y="280"/>
                  </a:lnTo>
                  <a:close/>
                </a:path>
              </a:pathLst>
            </a:custGeom>
            <a:solidFill>
              <a:srgbClr val="CCCC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70" name="Freeform 169"/>
            <p:cNvSpPr>
              <a:spLocks/>
            </p:cNvSpPr>
            <p:nvPr/>
          </p:nvSpPr>
          <p:spPr bwMode="auto">
            <a:xfrm>
              <a:off x="6669312" y="5134193"/>
              <a:ext cx="87351" cy="509546"/>
            </a:xfrm>
            <a:custGeom>
              <a:avLst/>
              <a:gdLst>
                <a:gd name="T0" fmla="*/ 48 w 52"/>
                <a:gd name="T1" fmla="*/ 280 h 280"/>
                <a:gd name="T2" fmla="*/ 48 w 52"/>
                <a:gd name="T3" fmla="*/ 0 h 280"/>
                <a:gd name="T4" fmla="*/ 0 w 52"/>
                <a:gd name="T5" fmla="*/ 0 h 280"/>
                <a:gd name="T6" fmla="*/ 0 w 52"/>
                <a:gd name="T7" fmla="*/ 280 h 280"/>
                <a:gd name="T8" fmla="*/ 48 w 52"/>
                <a:gd name="T9" fmla="*/ 280 h 280"/>
                <a:gd name="T10" fmla="*/ 48 w 52"/>
                <a:gd name="T11" fmla="*/ 280 h 28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2"/>
                <a:gd name="T19" fmla="*/ 0 h 280"/>
                <a:gd name="T20" fmla="*/ 52 w 52"/>
                <a:gd name="T21" fmla="*/ 280 h 28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2" h="280">
                  <a:moveTo>
                    <a:pt x="52" y="280"/>
                  </a:moveTo>
                  <a:lnTo>
                    <a:pt x="52" y="0"/>
                  </a:lnTo>
                  <a:lnTo>
                    <a:pt x="0" y="0"/>
                  </a:lnTo>
                  <a:lnTo>
                    <a:pt x="0" y="280"/>
                  </a:lnTo>
                  <a:lnTo>
                    <a:pt x="52" y="28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71" name="Freeform 170"/>
            <p:cNvSpPr>
              <a:spLocks/>
            </p:cNvSpPr>
            <p:nvPr/>
          </p:nvSpPr>
          <p:spPr bwMode="auto">
            <a:xfrm>
              <a:off x="7227993" y="5134193"/>
              <a:ext cx="89171" cy="509546"/>
            </a:xfrm>
            <a:custGeom>
              <a:avLst/>
              <a:gdLst>
                <a:gd name="T0" fmla="*/ 47 w 53"/>
                <a:gd name="T1" fmla="*/ 280 h 280"/>
                <a:gd name="T2" fmla="*/ 49 w 53"/>
                <a:gd name="T3" fmla="*/ 0 h 280"/>
                <a:gd name="T4" fmla="*/ 0 w 53"/>
                <a:gd name="T5" fmla="*/ 0 h 280"/>
                <a:gd name="T6" fmla="*/ 0 w 53"/>
                <a:gd name="T7" fmla="*/ 280 h 280"/>
                <a:gd name="T8" fmla="*/ 49 w 53"/>
                <a:gd name="T9" fmla="*/ 280 h 280"/>
                <a:gd name="T10" fmla="*/ 49 w 53"/>
                <a:gd name="T11" fmla="*/ 280 h 280"/>
                <a:gd name="T12" fmla="*/ 47 w 53"/>
                <a:gd name="T13" fmla="*/ 280 h 28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53"/>
                <a:gd name="T22" fmla="*/ 0 h 280"/>
                <a:gd name="T23" fmla="*/ 53 w 53"/>
                <a:gd name="T24" fmla="*/ 280 h 28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53" h="280">
                  <a:moveTo>
                    <a:pt x="51" y="280"/>
                  </a:moveTo>
                  <a:lnTo>
                    <a:pt x="53" y="0"/>
                  </a:lnTo>
                  <a:lnTo>
                    <a:pt x="0" y="0"/>
                  </a:lnTo>
                  <a:lnTo>
                    <a:pt x="0" y="280"/>
                  </a:lnTo>
                  <a:lnTo>
                    <a:pt x="53" y="280"/>
                  </a:lnTo>
                  <a:lnTo>
                    <a:pt x="51" y="280"/>
                  </a:lnTo>
                  <a:close/>
                </a:path>
              </a:pathLst>
            </a:custGeom>
            <a:solidFill>
              <a:srgbClr val="CCCC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72" name="Freeform 171"/>
            <p:cNvSpPr>
              <a:spLocks/>
            </p:cNvSpPr>
            <p:nvPr/>
          </p:nvSpPr>
          <p:spPr bwMode="auto">
            <a:xfrm>
              <a:off x="7227993" y="5134193"/>
              <a:ext cx="89171" cy="509546"/>
            </a:xfrm>
            <a:custGeom>
              <a:avLst/>
              <a:gdLst>
                <a:gd name="T0" fmla="*/ 47 w 53"/>
                <a:gd name="T1" fmla="*/ 280 h 280"/>
                <a:gd name="T2" fmla="*/ 49 w 53"/>
                <a:gd name="T3" fmla="*/ 0 h 280"/>
                <a:gd name="T4" fmla="*/ 0 w 53"/>
                <a:gd name="T5" fmla="*/ 0 h 280"/>
                <a:gd name="T6" fmla="*/ 0 w 53"/>
                <a:gd name="T7" fmla="*/ 280 h 280"/>
                <a:gd name="T8" fmla="*/ 49 w 53"/>
                <a:gd name="T9" fmla="*/ 280 h 280"/>
                <a:gd name="T10" fmla="*/ 49 w 53"/>
                <a:gd name="T11" fmla="*/ 280 h 28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3"/>
                <a:gd name="T19" fmla="*/ 0 h 280"/>
                <a:gd name="T20" fmla="*/ 53 w 53"/>
                <a:gd name="T21" fmla="*/ 280 h 28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3" h="280">
                  <a:moveTo>
                    <a:pt x="51" y="280"/>
                  </a:moveTo>
                  <a:lnTo>
                    <a:pt x="53" y="0"/>
                  </a:lnTo>
                  <a:lnTo>
                    <a:pt x="0" y="0"/>
                  </a:lnTo>
                  <a:lnTo>
                    <a:pt x="0" y="280"/>
                  </a:lnTo>
                  <a:lnTo>
                    <a:pt x="53" y="28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73" name="Freeform 172"/>
            <p:cNvSpPr>
              <a:spLocks/>
            </p:cNvSpPr>
            <p:nvPr/>
          </p:nvSpPr>
          <p:spPr bwMode="auto">
            <a:xfrm>
              <a:off x="7786673" y="5134193"/>
              <a:ext cx="87351" cy="509546"/>
            </a:xfrm>
            <a:custGeom>
              <a:avLst/>
              <a:gdLst>
                <a:gd name="T0" fmla="*/ 48 w 52"/>
                <a:gd name="T1" fmla="*/ 280 h 280"/>
                <a:gd name="T2" fmla="*/ 48 w 52"/>
                <a:gd name="T3" fmla="*/ 0 h 280"/>
                <a:gd name="T4" fmla="*/ 0 w 52"/>
                <a:gd name="T5" fmla="*/ 0 h 280"/>
                <a:gd name="T6" fmla="*/ 0 w 52"/>
                <a:gd name="T7" fmla="*/ 280 h 280"/>
                <a:gd name="T8" fmla="*/ 48 w 52"/>
                <a:gd name="T9" fmla="*/ 280 h 280"/>
                <a:gd name="T10" fmla="*/ 48 w 52"/>
                <a:gd name="T11" fmla="*/ 280 h 28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2"/>
                <a:gd name="T19" fmla="*/ 0 h 280"/>
                <a:gd name="T20" fmla="*/ 52 w 52"/>
                <a:gd name="T21" fmla="*/ 280 h 28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2" h="280">
                  <a:moveTo>
                    <a:pt x="52" y="280"/>
                  </a:moveTo>
                  <a:lnTo>
                    <a:pt x="52" y="0"/>
                  </a:lnTo>
                  <a:lnTo>
                    <a:pt x="0" y="0"/>
                  </a:lnTo>
                  <a:lnTo>
                    <a:pt x="0" y="280"/>
                  </a:lnTo>
                  <a:lnTo>
                    <a:pt x="52" y="280"/>
                  </a:lnTo>
                  <a:close/>
                </a:path>
              </a:pathLst>
            </a:custGeom>
            <a:solidFill>
              <a:srgbClr val="CCCC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74" name="Freeform 173"/>
            <p:cNvSpPr>
              <a:spLocks/>
            </p:cNvSpPr>
            <p:nvPr/>
          </p:nvSpPr>
          <p:spPr bwMode="auto">
            <a:xfrm>
              <a:off x="7786673" y="5134193"/>
              <a:ext cx="87351" cy="509546"/>
            </a:xfrm>
            <a:custGeom>
              <a:avLst/>
              <a:gdLst>
                <a:gd name="T0" fmla="*/ 48 w 52"/>
                <a:gd name="T1" fmla="*/ 280 h 280"/>
                <a:gd name="T2" fmla="*/ 48 w 52"/>
                <a:gd name="T3" fmla="*/ 0 h 280"/>
                <a:gd name="T4" fmla="*/ 0 w 52"/>
                <a:gd name="T5" fmla="*/ 0 h 280"/>
                <a:gd name="T6" fmla="*/ 0 w 52"/>
                <a:gd name="T7" fmla="*/ 280 h 280"/>
                <a:gd name="T8" fmla="*/ 48 w 52"/>
                <a:gd name="T9" fmla="*/ 280 h 280"/>
                <a:gd name="T10" fmla="*/ 48 w 52"/>
                <a:gd name="T11" fmla="*/ 280 h 28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2"/>
                <a:gd name="T19" fmla="*/ 0 h 280"/>
                <a:gd name="T20" fmla="*/ 52 w 52"/>
                <a:gd name="T21" fmla="*/ 280 h 28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2" h="280">
                  <a:moveTo>
                    <a:pt x="52" y="280"/>
                  </a:moveTo>
                  <a:lnTo>
                    <a:pt x="52" y="0"/>
                  </a:lnTo>
                  <a:lnTo>
                    <a:pt x="0" y="0"/>
                  </a:lnTo>
                  <a:lnTo>
                    <a:pt x="0" y="280"/>
                  </a:lnTo>
                  <a:lnTo>
                    <a:pt x="52" y="28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75" name="Rectangle 174"/>
            <p:cNvSpPr>
              <a:spLocks noChangeArrowheads="1"/>
            </p:cNvSpPr>
            <p:nvPr/>
          </p:nvSpPr>
          <p:spPr bwMode="auto">
            <a:xfrm>
              <a:off x="8563730" y="5827539"/>
              <a:ext cx="129207" cy="278431"/>
            </a:xfrm>
            <a:prstGeom prst="rect">
              <a:avLst/>
            </a:prstGeom>
            <a:solidFill>
              <a:srgbClr val="CCCCCC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76" name="Rectangle 175"/>
            <p:cNvSpPr>
              <a:spLocks noChangeArrowheads="1"/>
            </p:cNvSpPr>
            <p:nvPr/>
          </p:nvSpPr>
          <p:spPr bwMode="auto">
            <a:xfrm>
              <a:off x="8563730" y="5827539"/>
              <a:ext cx="129207" cy="27843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77" name="Line 176"/>
            <p:cNvSpPr>
              <a:spLocks noChangeShapeType="1"/>
            </p:cNvSpPr>
            <p:nvPr/>
          </p:nvSpPr>
          <p:spPr bwMode="auto">
            <a:xfrm flipV="1">
              <a:off x="8822143" y="5820260"/>
              <a:ext cx="1820" cy="28935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78" name="Line 177"/>
            <p:cNvSpPr>
              <a:spLocks noChangeShapeType="1"/>
            </p:cNvSpPr>
            <p:nvPr/>
          </p:nvSpPr>
          <p:spPr bwMode="auto">
            <a:xfrm flipH="1">
              <a:off x="8685657" y="5823900"/>
              <a:ext cx="136486" cy="36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79" name="Line 178"/>
            <p:cNvSpPr>
              <a:spLocks noChangeShapeType="1"/>
            </p:cNvSpPr>
            <p:nvPr/>
          </p:nvSpPr>
          <p:spPr bwMode="auto">
            <a:xfrm flipH="1">
              <a:off x="8685657" y="6105969"/>
              <a:ext cx="136486" cy="18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80" name="Rectangle 179"/>
            <p:cNvSpPr>
              <a:spLocks noChangeArrowheads="1"/>
            </p:cNvSpPr>
            <p:nvPr/>
          </p:nvSpPr>
          <p:spPr bwMode="auto">
            <a:xfrm>
              <a:off x="6416360" y="5838458"/>
              <a:ext cx="127386" cy="278431"/>
            </a:xfrm>
            <a:prstGeom prst="rect">
              <a:avLst/>
            </a:prstGeom>
            <a:solidFill>
              <a:srgbClr val="CCCCCC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81" name="Rectangle 180"/>
            <p:cNvSpPr>
              <a:spLocks noChangeArrowheads="1"/>
            </p:cNvSpPr>
            <p:nvPr/>
          </p:nvSpPr>
          <p:spPr bwMode="auto">
            <a:xfrm>
              <a:off x="6416360" y="5838458"/>
              <a:ext cx="127386" cy="27843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82" name="Freeform 181"/>
            <p:cNvSpPr>
              <a:spLocks/>
            </p:cNvSpPr>
            <p:nvPr/>
          </p:nvSpPr>
          <p:spPr bwMode="auto">
            <a:xfrm>
              <a:off x="6287153" y="5834818"/>
              <a:ext cx="129207" cy="282070"/>
            </a:xfrm>
            <a:custGeom>
              <a:avLst/>
              <a:gdLst>
                <a:gd name="T0" fmla="*/ 71 w 77"/>
                <a:gd name="T1" fmla="*/ 0 h 155"/>
                <a:gd name="T2" fmla="*/ 0 w 77"/>
                <a:gd name="T3" fmla="*/ 2 h 155"/>
                <a:gd name="T4" fmla="*/ 0 w 77"/>
                <a:gd name="T5" fmla="*/ 155 h 155"/>
                <a:gd name="T6" fmla="*/ 71 w 77"/>
                <a:gd name="T7" fmla="*/ 155 h 15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7"/>
                <a:gd name="T13" fmla="*/ 0 h 155"/>
                <a:gd name="T14" fmla="*/ 77 w 77"/>
                <a:gd name="T15" fmla="*/ 155 h 15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7" h="155">
                  <a:moveTo>
                    <a:pt x="77" y="0"/>
                  </a:moveTo>
                  <a:lnTo>
                    <a:pt x="0" y="2"/>
                  </a:lnTo>
                  <a:lnTo>
                    <a:pt x="0" y="155"/>
                  </a:lnTo>
                  <a:lnTo>
                    <a:pt x="77" y="155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83" name="Rectangle 182"/>
            <p:cNvSpPr>
              <a:spLocks noChangeArrowheads="1"/>
            </p:cNvSpPr>
            <p:nvPr/>
          </p:nvSpPr>
          <p:spPr bwMode="auto">
            <a:xfrm>
              <a:off x="6370864" y="5907611"/>
              <a:ext cx="25648" cy="1231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000000"/>
                  </a:solidFill>
                  <a:latin typeface="+mj-lt"/>
                </a:rPr>
                <a:t>I</a:t>
              </a:r>
              <a:endParaRPr lang="en-US" sz="1200" b="1">
                <a:latin typeface="+mj-lt"/>
              </a:endParaRPr>
            </a:p>
          </p:txBody>
        </p:sp>
        <p:sp>
          <p:nvSpPr>
            <p:cNvPr id="184" name="Rectangle 183"/>
            <p:cNvSpPr>
              <a:spLocks noChangeArrowheads="1"/>
            </p:cNvSpPr>
            <p:nvPr/>
          </p:nvSpPr>
          <p:spPr bwMode="auto">
            <a:xfrm>
              <a:off x="6399981" y="5907611"/>
              <a:ext cx="88166" cy="1231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000000"/>
                  </a:solidFill>
                  <a:latin typeface="+mj-lt"/>
                </a:rPr>
                <a:t>M</a:t>
              </a:r>
              <a:endParaRPr lang="en-US" sz="1200" b="1">
                <a:latin typeface="+mj-lt"/>
              </a:endParaRPr>
            </a:p>
          </p:txBody>
        </p:sp>
        <p:sp>
          <p:nvSpPr>
            <p:cNvPr id="185" name="Freeform 184"/>
            <p:cNvSpPr>
              <a:spLocks/>
            </p:cNvSpPr>
            <p:nvPr/>
          </p:nvSpPr>
          <p:spPr bwMode="auto">
            <a:xfrm>
              <a:off x="7462747" y="5712891"/>
              <a:ext cx="180161" cy="507726"/>
            </a:xfrm>
            <a:custGeom>
              <a:avLst/>
              <a:gdLst>
                <a:gd name="T0" fmla="*/ 0 w 107"/>
                <a:gd name="T1" fmla="*/ 0 h 279"/>
                <a:gd name="T2" fmla="*/ 0 w 107"/>
                <a:gd name="T3" fmla="*/ 113 h 279"/>
                <a:gd name="T4" fmla="*/ 31 w 107"/>
                <a:gd name="T5" fmla="*/ 140 h 279"/>
                <a:gd name="T6" fmla="*/ 0 w 107"/>
                <a:gd name="T7" fmla="*/ 166 h 279"/>
                <a:gd name="T8" fmla="*/ 0 w 107"/>
                <a:gd name="T9" fmla="*/ 279 h 279"/>
                <a:gd name="T10" fmla="*/ 99 w 107"/>
                <a:gd name="T11" fmla="*/ 193 h 279"/>
                <a:gd name="T12" fmla="*/ 99 w 107"/>
                <a:gd name="T13" fmla="*/ 86 h 279"/>
                <a:gd name="T14" fmla="*/ 0 w 107"/>
                <a:gd name="T15" fmla="*/ 2 h 279"/>
                <a:gd name="T16" fmla="*/ 0 w 107"/>
                <a:gd name="T17" fmla="*/ 2 h 279"/>
                <a:gd name="T18" fmla="*/ 0 w 107"/>
                <a:gd name="T19" fmla="*/ 0 h 27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07"/>
                <a:gd name="T31" fmla="*/ 0 h 279"/>
                <a:gd name="T32" fmla="*/ 107 w 107"/>
                <a:gd name="T33" fmla="*/ 279 h 279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07" h="279">
                  <a:moveTo>
                    <a:pt x="0" y="0"/>
                  </a:moveTo>
                  <a:lnTo>
                    <a:pt x="0" y="113"/>
                  </a:lnTo>
                  <a:lnTo>
                    <a:pt x="34" y="140"/>
                  </a:lnTo>
                  <a:lnTo>
                    <a:pt x="0" y="166"/>
                  </a:lnTo>
                  <a:lnTo>
                    <a:pt x="0" y="279"/>
                  </a:lnTo>
                  <a:lnTo>
                    <a:pt x="107" y="193"/>
                  </a:lnTo>
                  <a:lnTo>
                    <a:pt x="107" y="86"/>
                  </a:lnTo>
                  <a:lnTo>
                    <a:pt x="0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86" name="Freeform 185"/>
            <p:cNvSpPr>
              <a:spLocks/>
            </p:cNvSpPr>
            <p:nvPr/>
          </p:nvSpPr>
          <p:spPr bwMode="auto">
            <a:xfrm>
              <a:off x="7462747" y="5712891"/>
              <a:ext cx="180161" cy="507726"/>
            </a:xfrm>
            <a:custGeom>
              <a:avLst/>
              <a:gdLst>
                <a:gd name="T0" fmla="*/ 0 w 107"/>
                <a:gd name="T1" fmla="*/ 0 h 279"/>
                <a:gd name="T2" fmla="*/ 0 w 107"/>
                <a:gd name="T3" fmla="*/ 113 h 279"/>
                <a:gd name="T4" fmla="*/ 31 w 107"/>
                <a:gd name="T5" fmla="*/ 140 h 279"/>
                <a:gd name="T6" fmla="*/ 0 w 107"/>
                <a:gd name="T7" fmla="*/ 166 h 279"/>
                <a:gd name="T8" fmla="*/ 0 w 107"/>
                <a:gd name="T9" fmla="*/ 279 h 279"/>
                <a:gd name="T10" fmla="*/ 99 w 107"/>
                <a:gd name="T11" fmla="*/ 193 h 279"/>
                <a:gd name="T12" fmla="*/ 99 w 107"/>
                <a:gd name="T13" fmla="*/ 86 h 279"/>
                <a:gd name="T14" fmla="*/ 0 w 107"/>
                <a:gd name="T15" fmla="*/ 2 h 279"/>
                <a:gd name="T16" fmla="*/ 0 w 107"/>
                <a:gd name="T17" fmla="*/ 2 h 27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07"/>
                <a:gd name="T28" fmla="*/ 0 h 279"/>
                <a:gd name="T29" fmla="*/ 107 w 107"/>
                <a:gd name="T30" fmla="*/ 279 h 279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07" h="279">
                  <a:moveTo>
                    <a:pt x="0" y="0"/>
                  </a:moveTo>
                  <a:lnTo>
                    <a:pt x="0" y="113"/>
                  </a:lnTo>
                  <a:lnTo>
                    <a:pt x="34" y="140"/>
                  </a:lnTo>
                  <a:lnTo>
                    <a:pt x="0" y="166"/>
                  </a:lnTo>
                  <a:lnTo>
                    <a:pt x="0" y="279"/>
                  </a:lnTo>
                  <a:lnTo>
                    <a:pt x="107" y="193"/>
                  </a:lnTo>
                  <a:lnTo>
                    <a:pt x="107" y="86"/>
                  </a:lnTo>
                  <a:lnTo>
                    <a:pt x="0" y="2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87" name="Rectangle 186"/>
            <p:cNvSpPr>
              <a:spLocks noChangeArrowheads="1"/>
            </p:cNvSpPr>
            <p:nvPr/>
          </p:nvSpPr>
          <p:spPr bwMode="auto">
            <a:xfrm>
              <a:off x="8023247" y="5905790"/>
              <a:ext cx="62518" cy="1231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000000"/>
                  </a:solidFill>
                  <a:latin typeface="+mj-lt"/>
                </a:rPr>
                <a:t>D</a:t>
              </a:r>
              <a:endParaRPr lang="en-US" sz="1200" b="1">
                <a:latin typeface="+mj-lt"/>
              </a:endParaRPr>
            </a:p>
          </p:txBody>
        </p:sp>
        <p:sp>
          <p:nvSpPr>
            <p:cNvPr id="188" name="Rectangle 187"/>
            <p:cNvSpPr>
              <a:spLocks noChangeArrowheads="1"/>
            </p:cNvSpPr>
            <p:nvPr/>
          </p:nvSpPr>
          <p:spPr bwMode="auto">
            <a:xfrm>
              <a:off x="8099679" y="5905790"/>
              <a:ext cx="88166" cy="1231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000000"/>
                  </a:solidFill>
                  <a:latin typeface="+mj-lt"/>
                </a:rPr>
                <a:t>M</a:t>
              </a:r>
              <a:endParaRPr lang="en-US" sz="1200" b="1">
                <a:latin typeface="+mj-lt"/>
              </a:endParaRPr>
            </a:p>
          </p:txBody>
        </p:sp>
        <p:sp>
          <p:nvSpPr>
            <p:cNvPr id="189" name="Rectangle 188"/>
            <p:cNvSpPr>
              <a:spLocks noChangeArrowheads="1"/>
            </p:cNvSpPr>
            <p:nvPr/>
          </p:nvSpPr>
          <p:spPr bwMode="auto">
            <a:xfrm>
              <a:off x="8598306" y="5898511"/>
              <a:ext cx="56106" cy="1231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000000"/>
                  </a:solidFill>
                  <a:latin typeface="+mj-lt"/>
                </a:rPr>
                <a:t>R</a:t>
              </a:r>
              <a:endParaRPr lang="en-US" sz="1200" b="1">
                <a:latin typeface="+mj-lt"/>
              </a:endParaRPr>
            </a:p>
          </p:txBody>
        </p:sp>
        <p:sp>
          <p:nvSpPr>
            <p:cNvPr id="190" name="Rectangle 189"/>
            <p:cNvSpPr>
              <a:spLocks noChangeArrowheads="1"/>
            </p:cNvSpPr>
            <p:nvPr/>
          </p:nvSpPr>
          <p:spPr bwMode="auto">
            <a:xfrm>
              <a:off x="8676558" y="5898511"/>
              <a:ext cx="51296" cy="1231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000000"/>
                  </a:solidFill>
                  <a:latin typeface="+mj-lt"/>
                </a:rPr>
                <a:t>e</a:t>
              </a:r>
              <a:endParaRPr lang="en-US" sz="1200" b="1">
                <a:latin typeface="+mj-lt"/>
              </a:endParaRPr>
            </a:p>
          </p:txBody>
        </p:sp>
        <p:sp>
          <p:nvSpPr>
            <p:cNvPr id="191" name="Rectangle 190"/>
            <p:cNvSpPr>
              <a:spLocks noChangeArrowheads="1"/>
            </p:cNvSpPr>
            <p:nvPr/>
          </p:nvSpPr>
          <p:spPr bwMode="auto">
            <a:xfrm>
              <a:off x="8738432" y="5898511"/>
              <a:ext cx="48090" cy="1231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000000"/>
                  </a:solidFill>
                  <a:latin typeface="+mj-lt"/>
                </a:rPr>
                <a:t>g</a:t>
              </a:r>
              <a:endParaRPr lang="en-US" sz="1200" b="1">
                <a:latin typeface="+mj-lt"/>
              </a:endParaRPr>
            </a:p>
          </p:txBody>
        </p:sp>
        <p:sp>
          <p:nvSpPr>
            <p:cNvPr id="192" name="Line 191"/>
            <p:cNvSpPr>
              <a:spLocks noChangeShapeType="1"/>
            </p:cNvSpPr>
            <p:nvPr/>
          </p:nvSpPr>
          <p:spPr bwMode="auto">
            <a:xfrm>
              <a:off x="6551025" y="5960384"/>
              <a:ext cx="325746" cy="36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93" name="Line 192"/>
            <p:cNvSpPr>
              <a:spLocks noChangeShapeType="1"/>
            </p:cNvSpPr>
            <p:nvPr/>
          </p:nvSpPr>
          <p:spPr bwMode="auto">
            <a:xfrm>
              <a:off x="7639269" y="5960384"/>
              <a:ext cx="342123" cy="36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94" name="Line 193"/>
            <p:cNvSpPr>
              <a:spLocks noChangeShapeType="1"/>
            </p:cNvSpPr>
            <p:nvPr/>
          </p:nvSpPr>
          <p:spPr bwMode="auto">
            <a:xfrm>
              <a:off x="8243444" y="5960384"/>
              <a:ext cx="307548" cy="36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95" name="Line 194"/>
            <p:cNvSpPr>
              <a:spLocks noChangeShapeType="1"/>
            </p:cNvSpPr>
            <p:nvPr/>
          </p:nvSpPr>
          <p:spPr bwMode="auto">
            <a:xfrm>
              <a:off x="7107886" y="6022258"/>
              <a:ext cx="354863" cy="36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96" name="Freeform 195"/>
            <p:cNvSpPr>
              <a:spLocks/>
            </p:cNvSpPr>
            <p:nvPr/>
          </p:nvSpPr>
          <p:spPr bwMode="auto">
            <a:xfrm>
              <a:off x="6785780" y="5891232"/>
              <a:ext cx="61873" cy="61873"/>
            </a:xfrm>
            <a:custGeom>
              <a:avLst/>
              <a:gdLst>
                <a:gd name="T0" fmla="*/ 0 w 37"/>
                <a:gd name="T1" fmla="*/ 34 h 34"/>
                <a:gd name="T2" fmla="*/ 2 w 37"/>
                <a:gd name="T3" fmla="*/ 0 h 34"/>
                <a:gd name="T4" fmla="*/ 34 w 37"/>
                <a:gd name="T5" fmla="*/ 0 h 34"/>
                <a:gd name="T6" fmla="*/ 0 60000 65536"/>
                <a:gd name="T7" fmla="*/ 0 60000 65536"/>
                <a:gd name="T8" fmla="*/ 0 60000 65536"/>
                <a:gd name="T9" fmla="*/ 0 w 37"/>
                <a:gd name="T10" fmla="*/ 0 h 34"/>
                <a:gd name="T11" fmla="*/ 37 w 37"/>
                <a:gd name="T12" fmla="*/ 34 h 3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7" h="34">
                  <a:moveTo>
                    <a:pt x="0" y="34"/>
                  </a:moveTo>
                  <a:lnTo>
                    <a:pt x="2" y="0"/>
                  </a:lnTo>
                  <a:lnTo>
                    <a:pt x="37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97" name="Freeform 196"/>
            <p:cNvSpPr>
              <a:spLocks/>
            </p:cNvSpPr>
            <p:nvPr/>
          </p:nvSpPr>
          <p:spPr bwMode="auto">
            <a:xfrm>
              <a:off x="7934078" y="5960384"/>
              <a:ext cx="414916" cy="191080"/>
            </a:xfrm>
            <a:custGeom>
              <a:avLst/>
              <a:gdLst>
                <a:gd name="T0" fmla="*/ 0 w 247"/>
                <a:gd name="T1" fmla="*/ 0 h 105"/>
                <a:gd name="T2" fmla="*/ 1 w 247"/>
                <a:gd name="T3" fmla="*/ 105 h 105"/>
                <a:gd name="T4" fmla="*/ 194 w 247"/>
                <a:gd name="T5" fmla="*/ 105 h 105"/>
                <a:gd name="T6" fmla="*/ 194 w 247"/>
                <a:gd name="T7" fmla="*/ 36 h 105"/>
                <a:gd name="T8" fmla="*/ 228 w 247"/>
                <a:gd name="T9" fmla="*/ 36 h 10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7"/>
                <a:gd name="T16" fmla="*/ 0 h 105"/>
                <a:gd name="T17" fmla="*/ 247 w 247"/>
                <a:gd name="T18" fmla="*/ 105 h 10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7" h="105">
                  <a:moveTo>
                    <a:pt x="0" y="0"/>
                  </a:moveTo>
                  <a:lnTo>
                    <a:pt x="1" y="105"/>
                  </a:lnTo>
                  <a:lnTo>
                    <a:pt x="210" y="105"/>
                  </a:lnTo>
                  <a:lnTo>
                    <a:pt x="210" y="36"/>
                  </a:lnTo>
                  <a:lnTo>
                    <a:pt x="247" y="36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98" name="Freeform 197"/>
            <p:cNvSpPr>
              <a:spLocks/>
            </p:cNvSpPr>
            <p:nvPr/>
          </p:nvSpPr>
          <p:spPr bwMode="auto">
            <a:xfrm>
              <a:off x="6669312" y="5705612"/>
              <a:ext cx="87351" cy="511366"/>
            </a:xfrm>
            <a:custGeom>
              <a:avLst/>
              <a:gdLst>
                <a:gd name="T0" fmla="*/ 48 w 52"/>
                <a:gd name="T1" fmla="*/ 280 h 281"/>
                <a:gd name="T2" fmla="*/ 48 w 52"/>
                <a:gd name="T3" fmla="*/ 0 h 281"/>
                <a:gd name="T4" fmla="*/ 0 w 52"/>
                <a:gd name="T5" fmla="*/ 0 h 281"/>
                <a:gd name="T6" fmla="*/ 0 w 52"/>
                <a:gd name="T7" fmla="*/ 281 h 281"/>
                <a:gd name="T8" fmla="*/ 48 w 52"/>
                <a:gd name="T9" fmla="*/ 281 h 281"/>
                <a:gd name="T10" fmla="*/ 48 w 52"/>
                <a:gd name="T11" fmla="*/ 281 h 281"/>
                <a:gd name="T12" fmla="*/ 48 w 52"/>
                <a:gd name="T13" fmla="*/ 280 h 28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52"/>
                <a:gd name="T22" fmla="*/ 0 h 281"/>
                <a:gd name="T23" fmla="*/ 52 w 52"/>
                <a:gd name="T24" fmla="*/ 281 h 28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52" h="281">
                  <a:moveTo>
                    <a:pt x="52" y="280"/>
                  </a:moveTo>
                  <a:lnTo>
                    <a:pt x="52" y="0"/>
                  </a:lnTo>
                  <a:lnTo>
                    <a:pt x="0" y="0"/>
                  </a:lnTo>
                  <a:lnTo>
                    <a:pt x="0" y="281"/>
                  </a:lnTo>
                  <a:lnTo>
                    <a:pt x="52" y="281"/>
                  </a:lnTo>
                  <a:lnTo>
                    <a:pt x="52" y="280"/>
                  </a:lnTo>
                  <a:close/>
                </a:path>
              </a:pathLst>
            </a:custGeom>
            <a:solidFill>
              <a:srgbClr val="CCCC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99" name="Freeform 198"/>
            <p:cNvSpPr>
              <a:spLocks/>
            </p:cNvSpPr>
            <p:nvPr/>
          </p:nvSpPr>
          <p:spPr bwMode="auto">
            <a:xfrm>
              <a:off x="6669312" y="5705612"/>
              <a:ext cx="87351" cy="511366"/>
            </a:xfrm>
            <a:custGeom>
              <a:avLst/>
              <a:gdLst>
                <a:gd name="T0" fmla="*/ 48 w 52"/>
                <a:gd name="T1" fmla="*/ 280 h 281"/>
                <a:gd name="T2" fmla="*/ 48 w 52"/>
                <a:gd name="T3" fmla="*/ 0 h 281"/>
                <a:gd name="T4" fmla="*/ 0 w 52"/>
                <a:gd name="T5" fmla="*/ 0 h 281"/>
                <a:gd name="T6" fmla="*/ 0 w 52"/>
                <a:gd name="T7" fmla="*/ 281 h 281"/>
                <a:gd name="T8" fmla="*/ 48 w 52"/>
                <a:gd name="T9" fmla="*/ 281 h 281"/>
                <a:gd name="T10" fmla="*/ 48 w 52"/>
                <a:gd name="T11" fmla="*/ 281 h 28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2"/>
                <a:gd name="T19" fmla="*/ 0 h 281"/>
                <a:gd name="T20" fmla="*/ 52 w 52"/>
                <a:gd name="T21" fmla="*/ 281 h 28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2" h="281">
                  <a:moveTo>
                    <a:pt x="52" y="280"/>
                  </a:moveTo>
                  <a:lnTo>
                    <a:pt x="52" y="0"/>
                  </a:lnTo>
                  <a:lnTo>
                    <a:pt x="0" y="0"/>
                  </a:lnTo>
                  <a:lnTo>
                    <a:pt x="0" y="281"/>
                  </a:lnTo>
                  <a:lnTo>
                    <a:pt x="52" y="281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00" name="Freeform 199"/>
            <p:cNvSpPr>
              <a:spLocks/>
            </p:cNvSpPr>
            <p:nvPr/>
          </p:nvSpPr>
          <p:spPr bwMode="auto">
            <a:xfrm>
              <a:off x="7227993" y="5705612"/>
              <a:ext cx="89171" cy="511366"/>
            </a:xfrm>
            <a:custGeom>
              <a:avLst/>
              <a:gdLst>
                <a:gd name="T0" fmla="*/ 47 w 53"/>
                <a:gd name="T1" fmla="*/ 280 h 281"/>
                <a:gd name="T2" fmla="*/ 49 w 53"/>
                <a:gd name="T3" fmla="*/ 0 h 281"/>
                <a:gd name="T4" fmla="*/ 0 w 53"/>
                <a:gd name="T5" fmla="*/ 0 h 281"/>
                <a:gd name="T6" fmla="*/ 0 w 53"/>
                <a:gd name="T7" fmla="*/ 281 h 281"/>
                <a:gd name="T8" fmla="*/ 49 w 53"/>
                <a:gd name="T9" fmla="*/ 281 h 281"/>
                <a:gd name="T10" fmla="*/ 49 w 53"/>
                <a:gd name="T11" fmla="*/ 281 h 281"/>
                <a:gd name="T12" fmla="*/ 47 w 53"/>
                <a:gd name="T13" fmla="*/ 280 h 28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53"/>
                <a:gd name="T22" fmla="*/ 0 h 281"/>
                <a:gd name="T23" fmla="*/ 53 w 53"/>
                <a:gd name="T24" fmla="*/ 281 h 28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53" h="281">
                  <a:moveTo>
                    <a:pt x="51" y="280"/>
                  </a:moveTo>
                  <a:lnTo>
                    <a:pt x="53" y="0"/>
                  </a:lnTo>
                  <a:lnTo>
                    <a:pt x="0" y="0"/>
                  </a:lnTo>
                  <a:lnTo>
                    <a:pt x="0" y="281"/>
                  </a:lnTo>
                  <a:lnTo>
                    <a:pt x="53" y="281"/>
                  </a:lnTo>
                  <a:lnTo>
                    <a:pt x="51" y="280"/>
                  </a:lnTo>
                  <a:close/>
                </a:path>
              </a:pathLst>
            </a:custGeom>
            <a:solidFill>
              <a:srgbClr val="CCCC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01" name="Freeform 200"/>
            <p:cNvSpPr>
              <a:spLocks/>
            </p:cNvSpPr>
            <p:nvPr/>
          </p:nvSpPr>
          <p:spPr bwMode="auto">
            <a:xfrm>
              <a:off x="7227993" y="5705612"/>
              <a:ext cx="89171" cy="511366"/>
            </a:xfrm>
            <a:custGeom>
              <a:avLst/>
              <a:gdLst>
                <a:gd name="T0" fmla="*/ 47 w 53"/>
                <a:gd name="T1" fmla="*/ 280 h 281"/>
                <a:gd name="T2" fmla="*/ 49 w 53"/>
                <a:gd name="T3" fmla="*/ 0 h 281"/>
                <a:gd name="T4" fmla="*/ 0 w 53"/>
                <a:gd name="T5" fmla="*/ 0 h 281"/>
                <a:gd name="T6" fmla="*/ 0 w 53"/>
                <a:gd name="T7" fmla="*/ 281 h 281"/>
                <a:gd name="T8" fmla="*/ 49 w 53"/>
                <a:gd name="T9" fmla="*/ 281 h 281"/>
                <a:gd name="T10" fmla="*/ 49 w 53"/>
                <a:gd name="T11" fmla="*/ 281 h 28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3"/>
                <a:gd name="T19" fmla="*/ 0 h 281"/>
                <a:gd name="T20" fmla="*/ 53 w 53"/>
                <a:gd name="T21" fmla="*/ 281 h 28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3" h="281">
                  <a:moveTo>
                    <a:pt x="51" y="280"/>
                  </a:moveTo>
                  <a:lnTo>
                    <a:pt x="53" y="0"/>
                  </a:lnTo>
                  <a:lnTo>
                    <a:pt x="0" y="0"/>
                  </a:lnTo>
                  <a:lnTo>
                    <a:pt x="0" y="281"/>
                  </a:lnTo>
                  <a:lnTo>
                    <a:pt x="53" y="281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02" name="Freeform 201"/>
            <p:cNvSpPr>
              <a:spLocks/>
            </p:cNvSpPr>
            <p:nvPr/>
          </p:nvSpPr>
          <p:spPr bwMode="auto">
            <a:xfrm>
              <a:off x="7786673" y="5705612"/>
              <a:ext cx="87351" cy="511366"/>
            </a:xfrm>
            <a:custGeom>
              <a:avLst/>
              <a:gdLst>
                <a:gd name="T0" fmla="*/ 48 w 52"/>
                <a:gd name="T1" fmla="*/ 280 h 281"/>
                <a:gd name="T2" fmla="*/ 48 w 52"/>
                <a:gd name="T3" fmla="*/ 0 h 281"/>
                <a:gd name="T4" fmla="*/ 0 w 52"/>
                <a:gd name="T5" fmla="*/ 0 h 281"/>
                <a:gd name="T6" fmla="*/ 0 w 52"/>
                <a:gd name="T7" fmla="*/ 281 h 281"/>
                <a:gd name="T8" fmla="*/ 48 w 52"/>
                <a:gd name="T9" fmla="*/ 281 h 281"/>
                <a:gd name="T10" fmla="*/ 48 w 52"/>
                <a:gd name="T11" fmla="*/ 281 h 281"/>
                <a:gd name="T12" fmla="*/ 48 w 52"/>
                <a:gd name="T13" fmla="*/ 280 h 28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52"/>
                <a:gd name="T22" fmla="*/ 0 h 281"/>
                <a:gd name="T23" fmla="*/ 52 w 52"/>
                <a:gd name="T24" fmla="*/ 281 h 28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52" h="281">
                  <a:moveTo>
                    <a:pt x="52" y="280"/>
                  </a:moveTo>
                  <a:lnTo>
                    <a:pt x="52" y="0"/>
                  </a:lnTo>
                  <a:lnTo>
                    <a:pt x="0" y="0"/>
                  </a:lnTo>
                  <a:lnTo>
                    <a:pt x="0" y="281"/>
                  </a:lnTo>
                  <a:lnTo>
                    <a:pt x="52" y="281"/>
                  </a:lnTo>
                  <a:lnTo>
                    <a:pt x="52" y="280"/>
                  </a:lnTo>
                  <a:close/>
                </a:path>
              </a:pathLst>
            </a:custGeom>
            <a:solidFill>
              <a:srgbClr val="CCCC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03" name="Freeform 202"/>
            <p:cNvSpPr>
              <a:spLocks/>
            </p:cNvSpPr>
            <p:nvPr/>
          </p:nvSpPr>
          <p:spPr bwMode="auto">
            <a:xfrm>
              <a:off x="7786673" y="5705612"/>
              <a:ext cx="87351" cy="511366"/>
            </a:xfrm>
            <a:custGeom>
              <a:avLst/>
              <a:gdLst>
                <a:gd name="T0" fmla="*/ 48 w 52"/>
                <a:gd name="T1" fmla="*/ 280 h 281"/>
                <a:gd name="T2" fmla="*/ 48 w 52"/>
                <a:gd name="T3" fmla="*/ 0 h 281"/>
                <a:gd name="T4" fmla="*/ 0 w 52"/>
                <a:gd name="T5" fmla="*/ 0 h 281"/>
                <a:gd name="T6" fmla="*/ 0 w 52"/>
                <a:gd name="T7" fmla="*/ 281 h 281"/>
                <a:gd name="T8" fmla="*/ 48 w 52"/>
                <a:gd name="T9" fmla="*/ 281 h 281"/>
                <a:gd name="T10" fmla="*/ 48 w 52"/>
                <a:gd name="T11" fmla="*/ 281 h 28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2"/>
                <a:gd name="T19" fmla="*/ 0 h 281"/>
                <a:gd name="T20" fmla="*/ 52 w 52"/>
                <a:gd name="T21" fmla="*/ 281 h 28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2" h="281">
                  <a:moveTo>
                    <a:pt x="52" y="280"/>
                  </a:moveTo>
                  <a:lnTo>
                    <a:pt x="52" y="0"/>
                  </a:lnTo>
                  <a:lnTo>
                    <a:pt x="0" y="0"/>
                  </a:lnTo>
                  <a:lnTo>
                    <a:pt x="0" y="281"/>
                  </a:lnTo>
                  <a:lnTo>
                    <a:pt x="52" y="281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04" name="Freeform 203"/>
            <p:cNvSpPr>
              <a:spLocks/>
            </p:cNvSpPr>
            <p:nvPr/>
          </p:nvSpPr>
          <p:spPr bwMode="auto">
            <a:xfrm>
              <a:off x="8348993" y="5705612"/>
              <a:ext cx="87351" cy="511366"/>
            </a:xfrm>
            <a:custGeom>
              <a:avLst/>
              <a:gdLst>
                <a:gd name="T0" fmla="*/ 48 w 52"/>
                <a:gd name="T1" fmla="*/ 280 h 281"/>
                <a:gd name="T2" fmla="*/ 48 w 52"/>
                <a:gd name="T3" fmla="*/ 0 h 281"/>
                <a:gd name="T4" fmla="*/ 0 w 52"/>
                <a:gd name="T5" fmla="*/ 0 h 281"/>
                <a:gd name="T6" fmla="*/ 0 w 52"/>
                <a:gd name="T7" fmla="*/ 281 h 281"/>
                <a:gd name="T8" fmla="*/ 48 w 52"/>
                <a:gd name="T9" fmla="*/ 281 h 281"/>
                <a:gd name="T10" fmla="*/ 48 w 52"/>
                <a:gd name="T11" fmla="*/ 281 h 281"/>
                <a:gd name="T12" fmla="*/ 48 w 52"/>
                <a:gd name="T13" fmla="*/ 280 h 28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52"/>
                <a:gd name="T22" fmla="*/ 0 h 281"/>
                <a:gd name="T23" fmla="*/ 52 w 52"/>
                <a:gd name="T24" fmla="*/ 281 h 28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52" h="281">
                  <a:moveTo>
                    <a:pt x="52" y="280"/>
                  </a:moveTo>
                  <a:lnTo>
                    <a:pt x="52" y="0"/>
                  </a:lnTo>
                  <a:lnTo>
                    <a:pt x="0" y="0"/>
                  </a:lnTo>
                  <a:lnTo>
                    <a:pt x="0" y="281"/>
                  </a:lnTo>
                  <a:lnTo>
                    <a:pt x="52" y="281"/>
                  </a:lnTo>
                  <a:lnTo>
                    <a:pt x="52" y="280"/>
                  </a:lnTo>
                  <a:close/>
                </a:path>
              </a:pathLst>
            </a:custGeom>
            <a:solidFill>
              <a:srgbClr val="CCCC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05" name="Freeform 204"/>
            <p:cNvSpPr>
              <a:spLocks/>
            </p:cNvSpPr>
            <p:nvPr/>
          </p:nvSpPr>
          <p:spPr bwMode="auto">
            <a:xfrm>
              <a:off x="8348993" y="5705612"/>
              <a:ext cx="87351" cy="511366"/>
            </a:xfrm>
            <a:custGeom>
              <a:avLst/>
              <a:gdLst>
                <a:gd name="T0" fmla="*/ 48 w 52"/>
                <a:gd name="T1" fmla="*/ 280 h 281"/>
                <a:gd name="T2" fmla="*/ 48 w 52"/>
                <a:gd name="T3" fmla="*/ 0 h 281"/>
                <a:gd name="T4" fmla="*/ 0 w 52"/>
                <a:gd name="T5" fmla="*/ 0 h 281"/>
                <a:gd name="T6" fmla="*/ 0 w 52"/>
                <a:gd name="T7" fmla="*/ 281 h 281"/>
                <a:gd name="T8" fmla="*/ 48 w 52"/>
                <a:gd name="T9" fmla="*/ 281 h 281"/>
                <a:gd name="T10" fmla="*/ 48 w 52"/>
                <a:gd name="T11" fmla="*/ 281 h 28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2"/>
                <a:gd name="T19" fmla="*/ 0 h 281"/>
                <a:gd name="T20" fmla="*/ 52 w 52"/>
                <a:gd name="T21" fmla="*/ 281 h 28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2" h="281">
                  <a:moveTo>
                    <a:pt x="52" y="280"/>
                  </a:moveTo>
                  <a:lnTo>
                    <a:pt x="52" y="0"/>
                  </a:lnTo>
                  <a:lnTo>
                    <a:pt x="0" y="0"/>
                  </a:lnTo>
                  <a:lnTo>
                    <a:pt x="0" y="281"/>
                  </a:lnTo>
                  <a:lnTo>
                    <a:pt x="52" y="281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06" name="Rectangle 205"/>
            <p:cNvSpPr>
              <a:spLocks noChangeArrowheads="1"/>
            </p:cNvSpPr>
            <p:nvPr/>
          </p:nvSpPr>
          <p:spPr bwMode="auto">
            <a:xfrm>
              <a:off x="5317197" y="3494548"/>
              <a:ext cx="132846" cy="278431"/>
            </a:xfrm>
            <a:prstGeom prst="rect">
              <a:avLst/>
            </a:prstGeom>
            <a:solidFill>
              <a:srgbClr val="CCCCCC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07" name="Rectangle 206"/>
            <p:cNvSpPr>
              <a:spLocks noChangeArrowheads="1"/>
            </p:cNvSpPr>
            <p:nvPr/>
          </p:nvSpPr>
          <p:spPr bwMode="auto">
            <a:xfrm>
              <a:off x="5317197" y="3494548"/>
              <a:ext cx="132846" cy="27843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08" name="Rectangle 207"/>
            <p:cNvSpPr>
              <a:spLocks noChangeArrowheads="1"/>
            </p:cNvSpPr>
            <p:nvPr/>
          </p:nvSpPr>
          <p:spPr bwMode="auto">
            <a:xfrm>
              <a:off x="5187990" y="3494548"/>
              <a:ext cx="129207" cy="27843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09" name="Rectangle 208"/>
            <p:cNvSpPr>
              <a:spLocks noChangeArrowheads="1"/>
            </p:cNvSpPr>
            <p:nvPr/>
          </p:nvSpPr>
          <p:spPr bwMode="auto">
            <a:xfrm>
              <a:off x="5237126" y="3561881"/>
              <a:ext cx="62518" cy="1231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000000"/>
                  </a:solidFill>
                  <a:latin typeface="+mj-lt"/>
                </a:rPr>
                <a:t>D</a:t>
              </a:r>
              <a:endParaRPr lang="en-US" sz="1200" b="1">
                <a:latin typeface="+mj-lt"/>
              </a:endParaRPr>
            </a:p>
          </p:txBody>
        </p:sp>
        <p:sp>
          <p:nvSpPr>
            <p:cNvPr id="210" name="Rectangle 209"/>
            <p:cNvSpPr>
              <a:spLocks noChangeArrowheads="1"/>
            </p:cNvSpPr>
            <p:nvPr/>
          </p:nvSpPr>
          <p:spPr bwMode="auto">
            <a:xfrm>
              <a:off x="5313557" y="3561881"/>
              <a:ext cx="88166" cy="1231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000000"/>
                  </a:solidFill>
                  <a:latin typeface="+mj-lt"/>
                </a:rPr>
                <a:t>M</a:t>
              </a:r>
              <a:endParaRPr lang="en-US" sz="1200" b="1">
                <a:latin typeface="+mj-lt"/>
              </a:endParaRPr>
            </a:p>
          </p:txBody>
        </p:sp>
        <p:sp>
          <p:nvSpPr>
            <p:cNvPr id="211" name="Line 210"/>
            <p:cNvSpPr>
              <a:spLocks noChangeShapeType="1"/>
            </p:cNvSpPr>
            <p:nvPr/>
          </p:nvSpPr>
          <p:spPr bwMode="auto">
            <a:xfrm>
              <a:off x="5433665" y="3665610"/>
              <a:ext cx="118288" cy="36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12" name="Rectangle 211"/>
            <p:cNvSpPr>
              <a:spLocks noChangeArrowheads="1"/>
            </p:cNvSpPr>
            <p:nvPr/>
          </p:nvSpPr>
          <p:spPr bwMode="auto">
            <a:xfrm>
              <a:off x="5766688" y="3501828"/>
              <a:ext cx="127386" cy="278431"/>
            </a:xfrm>
            <a:prstGeom prst="rect">
              <a:avLst/>
            </a:prstGeom>
            <a:solidFill>
              <a:srgbClr val="FBE2C9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13" name="Rectangle 212"/>
            <p:cNvSpPr>
              <a:spLocks noChangeArrowheads="1"/>
            </p:cNvSpPr>
            <p:nvPr/>
          </p:nvSpPr>
          <p:spPr bwMode="auto">
            <a:xfrm>
              <a:off x="5766688" y="3501828"/>
              <a:ext cx="127386" cy="278431"/>
            </a:xfrm>
            <a:prstGeom prst="rect">
              <a:avLst/>
            </a:prstGeom>
            <a:noFill/>
            <a:ln w="9525">
              <a:solidFill>
                <a:srgbClr val="EB75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14" name="Line 213"/>
            <p:cNvSpPr>
              <a:spLocks noChangeShapeType="1"/>
            </p:cNvSpPr>
            <p:nvPr/>
          </p:nvSpPr>
          <p:spPr bwMode="auto">
            <a:xfrm flipV="1">
              <a:off x="6023282" y="3494548"/>
              <a:ext cx="3640" cy="28935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15" name="Line 214"/>
            <p:cNvSpPr>
              <a:spLocks noChangeShapeType="1"/>
            </p:cNvSpPr>
            <p:nvPr/>
          </p:nvSpPr>
          <p:spPr bwMode="auto">
            <a:xfrm flipH="1">
              <a:off x="5894075" y="3498188"/>
              <a:ext cx="129207" cy="36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16" name="Line 215"/>
            <p:cNvSpPr>
              <a:spLocks noChangeShapeType="1"/>
            </p:cNvSpPr>
            <p:nvPr/>
          </p:nvSpPr>
          <p:spPr bwMode="auto">
            <a:xfrm flipH="1">
              <a:off x="5894075" y="3780257"/>
              <a:ext cx="129207" cy="18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17" name="Rectangle 216"/>
            <p:cNvSpPr>
              <a:spLocks noChangeArrowheads="1"/>
            </p:cNvSpPr>
            <p:nvPr/>
          </p:nvSpPr>
          <p:spPr bwMode="auto">
            <a:xfrm>
              <a:off x="5804905" y="3558241"/>
              <a:ext cx="56106" cy="1231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EB7500"/>
                  </a:solidFill>
                  <a:latin typeface="+mj-lt"/>
                </a:rPr>
                <a:t>R</a:t>
              </a:r>
              <a:endParaRPr lang="en-US" sz="1200" b="1">
                <a:latin typeface="+mj-lt"/>
              </a:endParaRPr>
            </a:p>
          </p:txBody>
        </p:sp>
        <p:sp>
          <p:nvSpPr>
            <p:cNvPr id="218" name="Rectangle 217"/>
            <p:cNvSpPr>
              <a:spLocks noChangeArrowheads="1"/>
            </p:cNvSpPr>
            <p:nvPr/>
          </p:nvSpPr>
          <p:spPr bwMode="auto">
            <a:xfrm>
              <a:off x="5881337" y="3558241"/>
              <a:ext cx="51296" cy="1231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EB7500"/>
                  </a:solidFill>
                  <a:latin typeface="+mj-lt"/>
                </a:rPr>
                <a:t>e</a:t>
              </a:r>
              <a:endParaRPr lang="en-US" sz="1200" b="1">
                <a:latin typeface="+mj-lt"/>
              </a:endParaRPr>
            </a:p>
          </p:txBody>
        </p:sp>
        <p:sp>
          <p:nvSpPr>
            <p:cNvPr id="219" name="Rectangle 218"/>
            <p:cNvSpPr>
              <a:spLocks noChangeArrowheads="1"/>
            </p:cNvSpPr>
            <p:nvPr/>
          </p:nvSpPr>
          <p:spPr bwMode="auto">
            <a:xfrm>
              <a:off x="5943210" y="3558241"/>
              <a:ext cx="48090" cy="1231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EB7500"/>
                  </a:solidFill>
                  <a:latin typeface="+mj-lt"/>
                </a:rPr>
                <a:t>g</a:t>
              </a:r>
              <a:endParaRPr lang="en-US" sz="1200" b="1">
                <a:latin typeface="+mj-lt"/>
              </a:endParaRPr>
            </a:p>
          </p:txBody>
        </p:sp>
        <p:sp>
          <p:nvSpPr>
            <p:cNvPr id="220" name="Rectangle 219"/>
            <p:cNvSpPr>
              <a:spLocks noChangeArrowheads="1"/>
            </p:cNvSpPr>
            <p:nvPr/>
          </p:nvSpPr>
          <p:spPr bwMode="auto">
            <a:xfrm>
              <a:off x="5224386" y="4180615"/>
              <a:ext cx="56106" cy="1231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EB7500"/>
                  </a:solidFill>
                  <a:latin typeface="+mj-lt"/>
                </a:rPr>
                <a:t>R</a:t>
              </a:r>
              <a:endParaRPr lang="en-US" sz="1200" b="1">
                <a:latin typeface="+mj-lt"/>
              </a:endParaRPr>
            </a:p>
          </p:txBody>
        </p:sp>
        <p:sp>
          <p:nvSpPr>
            <p:cNvPr id="221" name="Rectangle 220"/>
            <p:cNvSpPr>
              <a:spLocks noChangeArrowheads="1"/>
            </p:cNvSpPr>
            <p:nvPr/>
          </p:nvSpPr>
          <p:spPr bwMode="auto">
            <a:xfrm>
              <a:off x="5300818" y="4180615"/>
              <a:ext cx="51296" cy="1231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EB7500"/>
                  </a:solidFill>
                  <a:latin typeface="+mj-lt"/>
                </a:rPr>
                <a:t>e</a:t>
              </a:r>
              <a:endParaRPr lang="en-US" sz="1200" b="1">
                <a:latin typeface="+mj-lt"/>
              </a:endParaRPr>
            </a:p>
          </p:txBody>
        </p:sp>
        <p:sp>
          <p:nvSpPr>
            <p:cNvPr id="222" name="Rectangle 221"/>
            <p:cNvSpPr>
              <a:spLocks noChangeArrowheads="1"/>
            </p:cNvSpPr>
            <p:nvPr/>
          </p:nvSpPr>
          <p:spPr bwMode="auto">
            <a:xfrm>
              <a:off x="5362692" y="4180615"/>
              <a:ext cx="48090" cy="1231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EB7500"/>
                  </a:solidFill>
                  <a:latin typeface="+mj-lt"/>
                </a:rPr>
                <a:t>g</a:t>
              </a:r>
              <a:endParaRPr lang="en-US" sz="1200" b="1">
                <a:latin typeface="+mj-lt"/>
              </a:endParaRPr>
            </a:p>
          </p:txBody>
        </p:sp>
        <p:sp>
          <p:nvSpPr>
            <p:cNvPr id="223" name="Line 222"/>
            <p:cNvSpPr>
              <a:spLocks noChangeShapeType="1"/>
            </p:cNvSpPr>
            <p:nvPr/>
          </p:nvSpPr>
          <p:spPr bwMode="auto">
            <a:xfrm>
              <a:off x="4873165" y="4306182"/>
              <a:ext cx="129207" cy="18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24" name="Line 223"/>
            <p:cNvSpPr>
              <a:spLocks noChangeShapeType="1"/>
            </p:cNvSpPr>
            <p:nvPr/>
          </p:nvSpPr>
          <p:spPr bwMode="auto">
            <a:xfrm>
              <a:off x="4873165" y="4176975"/>
              <a:ext cx="118288" cy="3640"/>
            </a:xfrm>
            <a:prstGeom prst="line">
              <a:avLst/>
            </a:prstGeom>
            <a:noFill/>
            <a:ln w="15875">
              <a:solidFill>
                <a:srgbClr val="EB75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25" name="Rectangle 224"/>
            <p:cNvSpPr>
              <a:spLocks noChangeArrowheads="1"/>
            </p:cNvSpPr>
            <p:nvPr/>
          </p:nvSpPr>
          <p:spPr bwMode="auto">
            <a:xfrm>
              <a:off x="4758516" y="4104183"/>
              <a:ext cx="127386" cy="278431"/>
            </a:xfrm>
            <a:prstGeom prst="rect">
              <a:avLst/>
            </a:prstGeom>
            <a:solidFill>
              <a:srgbClr val="FBE2C9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26" name="Rectangle 225"/>
            <p:cNvSpPr>
              <a:spLocks noChangeArrowheads="1"/>
            </p:cNvSpPr>
            <p:nvPr/>
          </p:nvSpPr>
          <p:spPr bwMode="auto">
            <a:xfrm>
              <a:off x="4758516" y="4104183"/>
              <a:ext cx="127386" cy="278431"/>
            </a:xfrm>
            <a:prstGeom prst="rect">
              <a:avLst/>
            </a:prstGeom>
            <a:noFill/>
            <a:ln w="9525">
              <a:solidFill>
                <a:srgbClr val="EB75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27" name="Line 226"/>
            <p:cNvSpPr>
              <a:spLocks noChangeShapeType="1"/>
            </p:cNvSpPr>
            <p:nvPr/>
          </p:nvSpPr>
          <p:spPr bwMode="auto">
            <a:xfrm flipV="1">
              <a:off x="4629311" y="4111462"/>
              <a:ext cx="1820" cy="26387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28" name="Line 227"/>
            <p:cNvSpPr>
              <a:spLocks noChangeShapeType="1"/>
            </p:cNvSpPr>
            <p:nvPr/>
          </p:nvSpPr>
          <p:spPr bwMode="auto">
            <a:xfrm>
              <a:off x="4625671" y="4382614"/>
              <a:ext cx="132846" cy="18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29" name="Freeform 228"/>
            <p:cNvSpPr>
              <a:spLocks/>
            </p:cNvSpPr>
            <p:nvPr/>
          </p:nvSpPr>
          <p:spPr bwMode="auto">
            <a:xfrm>
              <a:off x="4569256" y="4180615"/>
              <a:ext cx="60054" cy="63694"/>
            </a:xfrm>
            <a:custGeom>
              <a:avLst/>
              <a:gdLst>
                <a:gd name="T0" fmla="*/ 0 w 35"/>
                <a:gd name="T1" fmla="*/ 35 h 35"/>
                <a:gd name="T2" fmla="*/ 0 w 35"/>
                <a:gd name="T3" fmla="*/ 0 h 35"/>
                <a:gd name="T4" fmla="*/ 33 w 35"/>
                <a:gd name="T5" fmla="*/ 0 h 35"/>
                <a:gd name="T6" fmla="*/ 0 60000 65536"/>
                <a:gd name="T7" fmla="*/ 0 60000 65536"/>
                <a:gd name="T8" fmla="*/ 0 60000 65536"/>
                <a:gd name="T9" fmla="*/ 0 w 35"/>
                <a:gd name="T10" fmla="*/ 0 h 35"/>
                <a:gd name="T11" fmla="*/ 35 w 35"/>
                <a:gd name="T12" fmla="*/ 35 h 3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5" h="35">
                  <a:moveTo>
                    <a:pt x="0" y="35"/>
                  </a:moveTo>
                  <a:lnTo>
                    <a:pt x="0" y="0"/>
                  </a:lnTo>
                  <a:lnTo>
                    <a:pt x="35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30" name="Freeform 229"/>
            <p:cNvSpPr>
              <a:spLocks/>
            </p:cNvSpPr>
            <p:nvPr/>
          </p:nvSpPr>
          <p:spPr bwMode="auto">
            <a:xfrm>
              <a:off x="4991451" y="3989536"/>
              <a:ext cx="90990" cy="507726"/>
            </a:xfrm>
            <a:custGeom>
              <a:avLst/>
              <a:gdLst>
                <a:gd name="T0" fmla="*/ 48 w 54"/>
                <a:gd name="T1" fmla="*/ 279 h 279"/>
                <a:gd name="T2" fmla="*/ 50 w 54"/>
                <a:gd name="T3" fmla="*/ 0 h 279"/>
                <a:gd name="T4" fmla="*/ 0 w 54"/>
                <a:gd name="T5" fmla="*/ 0 h 279"/>
                <a:gd name="T6" fmla="*/ 0 w 54"/>
                <a:gd name="T7" fmla="*/ 279 h 279"/>
                <a:gd name="T8" fmla="*/ 50 w 54"/>
                <a:gd name="T9" fmla="*/ 279 h 279"/>
                <a:gd name="T10" fmla="*/ 50 w 54"/>
                <a:gd name="T11" fmla="*/ 279 h 279"/>
                <a:gd name="T12" fmla="*/ 48 w 54"/>
                <a:gd name="T13" fmla="*/ 279 h 27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54"/>
                <a:gd name="T22" fmla="*/ 0 h 279"/>
                <a:gd name="T23" fmla="*/ 54 w 54"/>
                <a:gd name="T24" fmla="*/ 279 h 27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54" h="279">
                  <a:moveTo>
                    <a:pt x="52" y="279"/>
                  </a:moveTo>
                  <a:lnTo>
                    <a:pt x="54" y="0"/>
                  </a:lnTo>
                  <a:lnTo>
                    <a:pt x="0" y="0"/>
                  </a:lnTo>
                  <a:lnTo>
                    <a:pt x="0" y="279"/>
                  </a:lnTo>
                  <a:lnTo>
                    <a:pt x="54" y="279"/>
                  </a:lnTo>
                  <a:lnTo>
                    <a:pt x="52" y="279"/>
                  </a:lnTo>
                  <a:close/>
                </a:path>
              </a:pathLst>
            </a:custGeom>
            <a:solidFill>
              <a:srgbClr val="CCCC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31" name="Freeform 230"/>
            <p:cNvSpPr>
              <a:spLocks/>
            </p:cNvSpPr>
            <p:nvPr/>
          </p:nvSpPr>
          <p:spPr bwMode="auto">
            <a:xfrm>
              <a:off x="4991451" y="3989536"/>
              <a:ext cx="90990" cy="507726"/>
            </a:xfrm>
            <a:custGeom>
              <a:avLst/>
              <a:gdLst>
                <a:gd name="T0" fmla="*/ 48 w 54"/>
                <a:gd name="T1" fmla="*/ 279 h 279"/>
                <a:gd name="T2" fmla="*/ 50 w 54"/>
                <a:gd name="T3" fmla="*/ 0 h 279"/>
                <a:gd name="T4" fmla="*/ 0 w 54"/>
                <a:gd name="T5" fmla="*/ 0 h 279"/>
                <a:gd name="T6" fmla="*/ 0 w 54"/>
                <a:gd name="T7" fmla="*/ 279 h 279"/>
                <a:gd name="T8" fmla="*/ 50 w 54"/>
                <a:gd name="T9" fmla="*/ 279 h 279"/>
                <a:gd name="T10" fmla="*/ 50 w 54"/>
                <a:gd name="T11" fmla="*/ 279 h 27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4"/>
                <a:gd name="T19" fmla="*/ 0 h 279"/>
                <a:gd name="T20" fmla="*/ 54 w 54"/>
                <a:gd name="T21" fmla="*/ 279 h 27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4" h="279">
                  <a:moveTo>
                    <a:pt x="52" y="279"/>
                  </a:moveTo>
                  <a:lnTo>
                    <a:pt x="54" y="0"/>
                  </a:lnTo>
                  <a:lnTo>
                    <a:pt x="0" y="0"/>
                  </a:lnTo>
                  <a:lnTo>
                    <a:pt x="0" y="279"/>
                  </a:lnTo>
                  <a:lnTo>
                    <a:pt x="54" y="279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32" name="Rectangle 231"/>
            <p:cNvSpPr>
              <a:spLocks noChangeArrowheads="1"/>
            </p:cNvSpPr>
            <p:nvPr/>
          </p:nvSpPr>
          <p:spPr bwMode="auto">
            <a:xfrm>
              <a:off x="4667526" y="4180615"/>
              <a:ext cx="56106" cy="1231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EB7500"/>
                  </a:solidFill>
                  <a:latin typeface="+mj-lt"/>
                </a:rPr>
                <a:t>R</a:t>
              </a:r>
              <a:endParaRPr lang="en-US" sz="1200" b="1">
                <a:latin typeface="+mj-lt"/>
              </a:endParaRPr>
            </a:p>
          </p:txBody>
        </p:sp>
        <p:sp>
          <p:nvSpPr>
            <p:cNvPr id="233" name="Rectangle 232"/>
            <p:cNvSpPr>
              <a:spLocks noChangeArrowheads="1"/>
            </p:cNvSpPr>
            <p:nvPr/>
          </p:nvSpPr>
          <p:spPr bwMode="auto">
            <a:xfrm>
              <a:off x="4743958" y="4180615"/>
              <a:ext cx="51296" cy="1231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EB7500"/>
                  </a:solidFill>
                  <a:latin typeface="+mj-lt"/>
                </a:rPr>
                <a:t>e</a:t>
              </a:r>
              <a:endParaRPr lang="en-US" sz="1200" b="1">
                <a:latin typeface="+mj-lt"/>
              </a:endParaRPr>
            </a:p>
          </p:txBody>
        </p:sp>
        <p:sp>
          <p:nvSpPr>
            <p:cNvPr id="234" name="Rectangle 233"/>
            <p:cNvSpPr>
              <a:spLocks noChangeArrowheads="1"/>
            </p:cNvSpPr>
            <p:nvPr/>
          </p:nvSpPr>
          <p:spPr bwMode="auto">
            <a:xfrm>
              <a:off x="4805831" y="4180615"/>
              <a:ext cx="48090" cy="1231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EB7500"/>
                  </a:solidFill>
                  <a:latin typeface="+mj-lt"/>
                </a:rPr>
                <a:t>g</a:t>
              </a:r>
              <a:endParaRPr lang="en-US" sz="1200" b="1">
                <a:latin typeface="+mj-lt"/>
              </a:endParaRPr>
            </a:p>
          </p:txBody>
        </p:sp>
        <p:sp>
          <p:nvSpPr>
            <p:cNvPr id="235" name="Rectangle 234"/>
            <p:cNvSpPr>
              <a:spLocks noChangeArrowheads="1"/>
            </p:cNvSpPr>
            <p:nvPr/>
          </p:nvSpPr>
          <p:spPr bwMode="auto">
            <a:xfrm>
              <a:off x="6339928" y="5316173"/>
              <a:ext cx="56106" cy="1231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EB7500"/>
                  </a:solidFill>
                  <a:latin typeface="+mj-lt"/>
                </a:rPr>
                <a:t>R</a:t>
              </a:r>
              <a:endParaRPr lang="en-US" sz="1200" b="1">
                <a:latin typeface="+mj-lt"/>
              </a:endParaRPr>
            </a:p>
          </p:txBody>
        </p:sp>
        <p:sp>
          <p:nvSpPr>
            <p:cNvPr id="236" name="Rectangle 235"/>
            <p:cNvSpPr>
              <a:spLocks noChangeArrowheads="1"/>
            </p:cNvSpPr>
            <p:nvPr/>
          </p:nvSpPr>
          <p:spPr bwMode="auto">
            <a:xfrm>
              <a:off x="6416360" y="5316173"/>
              <a:ext cx="51296" cy="1231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EB7500"/>
                  </a:solidFill>
                  <a:latin typeface="+mj-lt"/>
                </a:rPr>
                <a:t>e</a:t>
              </a:r>
              <a:endParaRPr lang="en-US" sz="1200" b="1">
                <a:latin typeface="+mj-lt"/>
              </a:endParaRPr>
            </a:p>
          </p:txBody>
        </p:sp>
        <p:sp>
          <p:nvSpPr>
            <p:cNvPr id="237" name="Rectangle 236"/>
            <p:cNvSpPr>
              <a:spLocks noChangeArrowheads="1"/>
            </p:cNvSpPr>
            <p:nvPr/>
          </p:nvSpPr>
          <p:spPr bwMode="auto">
            <a:xfrm>
              <a:off x="6476413" y="5316173"/>
              <a:ext cx="48090" cy="1231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EB7500"/>
                  </a:solidFill>
                  <a:latin typeface="+mj-lt"/>
                </a:rPr>
                <a:t>g</a:t>
              </a:r>
              <a:endParaRPr lang="en-US" sz="1200" b="1">
                <a:latin typeface="+mj-lt"/>
              </a:endParaRPr>
            </a:p>
          </p:txBody>
        </p:sp>
        <p:sp>
          <p:nvSpPr>
            <p:cNvPr id="239" name="Line 238"/>
            <p:cNvSpPr>
              <a:spLocks noChangeShapeType="1"/>
            </p:cNvSpPr>
            <p:nvPr/>
          </p:nvSpPr>
          <p:spPr bwMode="auto">
            <a:xfrm>
              <a:off x="5078802" y="4244308"/>
              <a:ext cx="109188" cy="18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40" name="Line 239"/>
            <p:cNvSpPr>
              <a:spLocks noChangeShapeType="1"/>
            </p:cNvSpPr>
            <p:nvPr/>
          </p:nvSpPr>
          <p:spPr bwMode="auto">
            <a:xfrm>
              <a:off x="5184351" y="4085985"/>
              <a:ext cx="129207" cy="18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41" name="Line 240"/>
            <p:cNvSpPr>
              <a:spLocks noChangeShapeType="1"/>
            </p:cNvSpPr>
            <p:nvPr/>
          </p:nvSpPr>
          <p:spPr bwMode="auto">
            <a:xfrm>
              <a:off x="4625671" y="4104183"/>
              <a:ext cx="132846" cy="18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61" name="Freeform 260"/>
            <p:cNvSpPr>
              <a:spLocks/>
            </p:cNvSpPr>
            <p:nvPr/>
          </p:nvSpPr>
          <p:spPr bwMode="auto">
            <a:xfrm>
              <a:off x="5684798" y="4149678"/>
              <a:ext cx="54594" cy="58234"/>
            </a:xfrm>
            <a:custGeom>
              <a:avLst/>
              <a:gdLst>
                <a:gd name="T0" fmla="*/ 14 w 32"/>
                <a:gd name="T1" fmla="*/ 32 h 32"/>
                <a:gd name="T2" fmla="*/ 18 w 32"/>
                <a:gd name="T3" fmla="*/ 32 h 32"/>
                <a:gd name="T4" fmla="*/ 20 w 32"/>
                <a:gd name="T5" fmla="*/ 32 h 32"/>
                <a:gd name="T6" fmla="*/ 23 w 32"/>
                <a:gd name="T7" fmla="*/ 32 h 32"/>
                <a:gd name="T8" fmla="*/ 24 w 32"/>
                <a:gd name="T9" fmla="*/ 30 h 32"/>
                <a:gd name="T10" fmla="*/ 26 w 32"/>
                <a:gd name="T11" fmla="*/ 29 h 32"/>
                <a:gd name="T12" fmla="*/ 28 w 32"/>
                <a:gd name="T13" fmla="*/ 27 h 32"/>
                <a:gd name="T14" fmla="*/ 28 w 32"/>
                <a:gd name="T15" fmla="*/ 25 h 32"/>
                <a:gd name="T16" fmla="*/ 30 w 32"/>
                <a:gd name="T17" fmla="*/ 23 h 32"/>
                <a:gd name="T18" fmla="*/ 30 w 32"/>
                <a:gd name="T19" fmla="*/ 19 h 32"/>
                <a:gd name="T20" fmla="*/ 30 w 32"/>
                <a:gd name="T21" fmla="*/ 17 h 32"/>
                <a:gd name="T22" fmla="*/ 30 w 32"/>
                <a:gd name="T23" fmla="*/ 13 h 32"/>
                <a:gd name="T24" fmla="*/ 30 w 32"/>
                <a:gd name="T25" fmla="*/ 11 h 32"/>
                <a:gd name="T26" fmla="*/ 28 w 32"/>
                <a:gd name="T27" fmla="*/ 9 h 32"/>
                <a:gd name="T28" fmla="*/ 28 w 32"/>
                <a:gd name="T29" fmla="*/ 7 h 32"/>
                <a:gd name="T30" fmla="*/ 26 w 32"/>
                <a:gd name="T31" fmla="*/ 6 h 32"/>
                <a:gd name="T32" fmla="*/ 24 w 32"/>
                <a:gd name="T33" fmla="*/ 4 h 32"/>
                <a:gd name="T34" fmla="*/ 23 w 32"/>
                <a:gd name="T35" fmla="*/ 2 h 32"/>
                <a:gd name="T36" fmla="*/ 20 w 32"/>
                <a:gd name="T37" fmla="*/ 2 h 32"/>
                <a:gd name="T38" fmla="*/ 18 w 32"/>
                <a:gd name="T39" fmla="*/ 0 h 32"/>
                <a:gd name="T40" fmla="*/ 16 w 32"/>
                <a:gd name="T41" fmla="*/ 0 h 32"/>
                <a:gd name="T42" fmla="*/ 12 w 32"/>
                <a:gd name="T43" fmla="*/ 0 h 32"/>
                <a:gd name="T44" fmla="*/ 10 w 32"/>
                <a:gd name="T45" fmla="*/ 2 h 32"/>
                <a:gd name="T46" fmla="*/ 8 w 32"/>
                <a:gd name="T47" fmla="*/ 2 h 32"/>
                <a:gd name="T48" fmla="*/ 5 w 32"/>
                <a:gd name="T49" fmla="*/ 4 h 32"/>
                <a:gd name="T50" fmla="*/ 3 w 32"/>
                <a:gd name="T51" fmla="*/ 6 h 32"/>
                <a:gd name="T52" fmla="*/ 3 w 32"/>
                <a:gd name="T53" fmla="*/ 7 h 32"/>
                <a:gd name="T54" fmla="*/ 1 w 32"/>
                <a:gd name="T55" fmla="*/ 9 h 32"/>
                <a:gd name="T56" fmla="*/ 0 w 32"/>
                <a:gd name="T57" fmla="*/ 11 h 32"/>
                <a:gd name="T58" fmla="*/ 0 w 32"/>
                <a:gd name="T59" fmla="*/ 13 h 32"/>
                <a:gd name="T60" fmla="*/ 0 w 32"/>
                <a:gd name="T61" fmla="*/ 17 h 32"/>
                <a:gd name="T62" fmla="*/ 0 w 32"/>
                <a:gd name="T63" fmla="*/ 19 h 32"/>
                <a:gd name="T64" fmla="*/ 0 w 32"/>
                <a:gd name="T65" fmla="*/ 23 h 32"/>
                <a:gd name="T66" fmla="*/ 1 w 32"/>
                <a:gd name="T67" fmla="*/ 25 h 32"/>
                <a:gd name="T68" fmla="*/ 3 w 32"/>
                <a:gd name="T69" fmla="*/ 27 h 32"/>
                <a:gd name="T70" fmla="*/ 3 w 32"/>
                <a:gd name="T71" fmla="*/ 29 h 32"/>
                <a:gd name="T72" fmla="*/ 5 w 32"/>
                <a:gd name="T73" fmla="*/ 30 h 32"/>
                <a:gd name="T74" fmla="*/ 8 w 32"/>
                <a:gd name="T75" fmla="*/ 32 h 32"/>
                <a:gd name="T76" fmla="*/ 10 w 32"/>
                <a:gd name="T77" fmla="*/ 32 h 32"/>
                <a:gd name="T78" fmla="*/ 12 w 32"/>
                <a:gd name="T79" fmla="*/ 32 h 32"/>
                <a:gd name="T80" fmla="*/ 16 w 32"/>
                <a:gd name="T81" fmla="*/ 32 h 32"/>
                <a:gd name="T82" fmla="*/ 16 w 32"/>
                <a:gd name="T83" fmla="*/ 32 h 32"/>
                <a:gd name="T84" fmla="*/ 14 w 32"/>
                <a:gd name="T85" fmla="*/ 32 h 32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32"/>
                <a:gd name="T130" fmla="*/ 0 h 32"/>
                <a:gd name="T131" fmla="*/ 32 w 32"/>
                <a:gd name="T132" fmla="*/ 32 h 32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32" h="32">
                  <a:moveTo>
                    <a:pt x="15" y="32"/>
                  </a:moveTo>
                  <a:lnTo>
                    <a:pt x="19" y="32"/>
                  </a:lnTo>
                  <a:lnTo>
                    <a:pt x="21" y="32"/>
                  </a:lnTo>
                  <a:lnTo>
                    <a:pt x="25" y="32"/>
                  </a:lnTo>
                  <a:lnTo>
                    <a:pt x="26" y="30"/>
                  </a:lnTo>
                  <a:lnTo>
                    <a:pt x="28" y="29"/>
                  </a:lnTo>
                  <a:lnTo>
                    <a:pt x="30" y="27"/>
                  </a:lnTo>
                  <a:lnTo>
                    <a:pt x="30" y="25"/>
                  </a:lnTo>
                  <a:lnTo>
                    <a:pt x="32" y="23"/>
                  </a:lnTo>
                  <a:lnTo>
                    <a:pt x="32" y="19"/>
                  </a:lnTo>
                  <a:lnTo>
                    <a:pt x="32" y="17"/>
                  </a:lnTo>
                  <a:lnTo>
                    <a:pt x="32" y="13"/>
                  </a:lnTo>
                  <a:lnTo>
                    <a:pt x="32" y="11"/>
                  </a:lnTo>
                  <a:lnTo>
                    <a:pt x="30" y="9"/>
                  </a:lnTo>
                  <a:lnTo>
                    <a:pt x="30" y="7"/>
                  </a:lnTo>
                  <a:lnTo>
                    <a:pt x="28" y="6"/>
                  </a:lnTo>
                  <a:lnTo>
                    <a:pt x="26" y="4"/>
                  </a:lnTo>
                  <a:lnTo>
                    <a:pt x="25" y="2"/>
                  </a:lnTo>
                  <a:lnTo>
                    <a:pt x="21" y="2"/>
                  </a:lnTo>
                  <a:lnTo>
                    <a:pt x="19" y="0"/>
                  </a:lnTo>
                  <a:lnTo>
                    <a:pt x="17" y="0"/>
                  </a:lnTo>
                  <a:lnTo>
                    <a:pt x="13" y="0"/>
                  </a:lnTo>
                  <a:lnTo>
                    <a:pt x="11" y="2"/>
                  </a:lnTo>
                  <a:lnTo>
                    <a:pt x="9" y="2"/>
                  </a:lnTo>
                  <a:lnTo>
                    <a:pt x="5" y="4"/>
                  </a:lnTo>
                  <a:lnTo>
                    <a:pt x="3" y="6"/>
                  </a:lnTo>
                  <a:lnTo>
                    <a:pt x="3" y="7"/>
                  </a:lnTo>
                  <a:lnTo>
                    <a:pt x="1" y="9"/>
                  </a:lnTo>
                  <a:lnTo>
                    <a:pt x="0" y="11"/>
                  </a:lnTo>
                  <a:lnTo>
                    <a:pt x="0" y="13"/>
                  </a:lnTo>
                  <a:lnTo>
                    <a:pt x="0" y="17"/>
                  </a:lnTo>
                  <a:lnTo>
                    <a:pt x="0" y="19"/>
                  </a:lnTo>
                  <a:lnTo>
                    <a:pt x="0" y="23"/>
                  </a:lnTo>
                  <a:lnTo>
                    <a:pt x="1" y="25"/>
                  </a:lnTo>
                  <a:lnTo>
                    <a:pt x="3" y="27"/>
                  </a:lnTo>
                  <a:lnTo>
                    <a:pt x="3" y="29"/>
                  </a:lnTo>
                  <a:lnTo>
                    <a:pt x="5" y="30"/>
                  </a:lnTo>
                  <a:lnTo>
                    <a:pt x="9" y="32"/>
                  </a:lnTo>
                  <a:lnTo>
                    <a:pt x="11" y="32"/>
                  </a:lnTo>
                  <a:lnTo>
                    <a:pt x="13" y="32"/>
                  </a:lnTo>
                  <a:lnTo>
                    <a:pt x="17" y="32"/>
                  </a:lnTo>
                  <a:lnTo>
                    <a:pt x="15" y="32"/>
                  </a:lnTo>
                  <a:close/>
                </a:path>
              </a:pathLst>
            </a:custGeom>
            <a:solidFill>
              <a:srgbClr val="EB75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62" name="Freeform 261"/>
            <p:cNvSpPr>
              <a:spLocks/>
            </p:cNvSpPr>
            <p:nvPr/>
          </p:nvSpPr>
          <p:spPr bwMode="auto">
            <a:xfrm>
              <a:off x="5684798" y="4149678"/>
              <a:ext cx="54594" cy="58234"/>
            </a:xfrm>
            <a:custGeom>
              <a:avLst/>
              <a:gdLst>
                <a:gd name="T0" fmla="*/ 14 w 32"/>
                <a:gd name="T1" fmla="*/ 32 h 32"/>
                <a:gd name="T2" fmla="*/ 18 w 32"/>
                <a:gd name="T3" fmla="*/ 32 h 32"/>
                <a:gd name="T4" fmla="*/ 20 w 32"/>
                <a:gd name="T5" fmla="*/ 32 h 32"/>
                <a:gd name="T6" fmla="*/ 23 w 32"/>
                <a:gd name="T7" fmla="*/ 32 h 32"/>
                <a:gd name="T8" fmla="*/ 24 w 32"/>
                <a:gd name="T9" fmla="*/ 30 h 32"/>
                <a:gd name="T10" fmla="*/ 26 w 32"/>
                <a:gd name="T11" fmla="*/ 29 h 32"/>
                <a:gd name="T12" fmla="*/ 28 w 32"/>
                <a:gd name="T13" fmla="*/ 27 h 32"/>
                <a:gd name="T14" fmla="*/ 28 w 32"/>
                <a:gd name="T15" fmla="*/ 25 h 32"/>
                <a:gd name="T16" fmla="*/ 30 w 32"/>
                <a:gd name="T17" fmla="*/ 23 h 32"/>
                <a:gd name="T18" fmla="*/ 30 w 32"/>
                <a:gd name="T19" fmla="*/ 19 h 32"/>
                <a:gd name="T20" fmla="*/ 30 w 32"/>
                <a:gd name="T21" fmla="*/ 17 h 32"/>
                <a:gd name="T22" fmla="*/ 30 w 32"/>
                <a:gd name="T23" fmla="*/ 13 h 32"/>
                <a:gd name="T24" fmla="*/ 30 w 32"/>
                <a:gd name="T25" fmla="*/ 11 h 32"/>
                <a:gd name="T26" fmla="*/ 28 w 32"/>
                <a:gd name="T27" fmla="*/ 9 h 32"/>
                <a:gd name="T28" fmla="*/ 28 w 32"/>
                <a:gd name="T29" fmla="*/ 7 h 32"/>
                <a:gd name="T30" fmla="*/ 26 w 32"/>
                <a:gd name="T31" fmla="*/ 6 h 32"/>
                <a:gd name="T32" fmla="*/ 24 w 32"/>
                <a:gd name="T33" fmla="*/ 4 h 32"/>
                <a:gd name="T34" fmla="*/ 23 w 32"/>
                <a:gd name="T35" fmla="*/ 2 h 32"/>
                <a:gd name="T36" fmla="*/ 20 w 32"/>
                <a:gd name="T37" fmla="*/ 2 h 32"/>
                <a:gd name="T38" fmla="*/ 18 w 32"/>
                <a:gd name="T39" fmla="*/ 0 h 32"/>
                <a:gd name="T40" fmla="*/ 16 w 32"/>
                <a:gd name="T41" fmla="*/ 0 h 32"/>
                <a:gd name="T42" fmla="*/ 12 w 32"/>
                <a:gd name="T43" fmla="*/ 0 h 32"/>
                <a:gd name="T44" fmla="*/ 10 w 32"/>
                <a:gd name="T45" fmla="*/ 2 h 32"/>
                <a:gd name="T46" fmla="*/ 8 w 32"/>
                <a:gd name="T47" fmla="*/ 2 h 32"/>
                <a:gd name="T48" fmla="*/ 5 w 32"/>
                <a:gd name="T49" fmla="*/ 4 h 32"/>
                <a:gd name="T50" fmla="*/ 3 w 32"/>
                <a:gd name="T51" fmla="*/ 6 h 32"/>
                <a:gd name="T52" fmla="*/ 3 w 32"/>
                <a:gd name="T53" fmla="*/ 7 h 32"/>
                <a:gd name="T54" fmla="*/ 1 w 32"/>
                <a:gd name="T55" fmla="*/ 9 h 32"/>
                <a:gd name="T56" fmla="*/ 0 w 32"/>
                <a:gd name="T57" fmla="*/ 11 h 32"/>
                <a:gd name="T58" fmla="*/ 0 w 32"/>
                <a:gd name="T59" fmla="*/ 13 h 32"/>
                <a:gd name="T60" fmla="*/ 0 w 32"/>
                <a:gd name="T61" fmla="*/ 17 h 32"/>
                <a:gd name="T62" fmla="*/ 0 w 32"/>
                <a:gd name="T63" fmla="*/ 19 h 32"/>
                <a:gd name="T64" fmla="*/ 0 w 32"/>
                <a:gd name="T65" fmla="*/ 23 h 32"/>
                <a:gd name="T66" fmla="*/ 1 w 32"/>
                <a:gd name="T67" fmla="*/ 25 h 32"/>
                <a:gd name="T68" fmla="*/ 3 w 32"/>
                <a:gd name="T69" fmla="*/ 27 h 32"/>
                <a:gd name="T70" fmla="*/ 3 w 32"/>
                <a:gd name="T71" fmla="*/ 29 h 32"/>
                <a:gd name="T72" fmla="*/ 5 w 32"/>
                <a:gd name="T73" fmla="*/ 30 h 32"/>
                <a:gd name="T74" fmla="*/ 8 w 32"/>
                <a:gd name="T75" fmla="*/ 32 h 32"/>
                <a:gd name="T76" fmla="*/ 10 w 32"/>
                <a:gd name="T77" fmla="*/ 32 h 32"/>
                <a:gd name="T78" fmla="*/ 12 w 32"/>
                <a:gd name="T79" fmla="*/ 32 h 32"/>
                <a:gd name="T80" fmla="*/ 16 w 32"/>
                <a:gd name="T81" fmla="*/ 32 h 32"/>
                <a:gd name="T82" fmla="*/ 16 w 32"/>
                <a:gd name="T83" fmla="*/ 32 h 32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32"/>
                <a:gd name="T127" fmla="*/ 0 h 32"/>
                <a:gd name="T128" fmla="*/ 32 w 32"/>
                <a:gd name="T129" fmla="*/ 32 h 32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32" h="32">
                  <a:moveTo>
                    <a:pt x="15" y="32"/>
                  </a:moveTo>
                  <a:lnTo>
                    <a:pt x="19" y="32"/>
                  </a:lnTo>
                  <a:lnTo>
                    <a:pt x="21" y="32"/>
                  </a:lnTo>
                  <a:lnTo>
                    <a:pt x="25" y="32"/>
                  </a:lnTo>
                  <a:lnTo>
                    <a:pt x="26" y="30"/>
                  </a:lnTo>
                  <a:lnTo>
                    <a:pt x="28" y="29"/>
                  </a:lnTo>
                  <a:lnTo>
                    <a:pt x="30" y="27"/>
                  </a:lnTo>
                  <a:lnTo>
                    <a:pt x="30" y="25"/>
                  </a:lnTo>
                  <a:lnTo>
                    <a:pt x="32" y="23"/>
                  </a:lnTo>
                  <a:lnTo>
                    <a:pt x="32" y="19"/>
                  </a:lnTo>
                  <a:lnTo>
                    <a:pt x="32" y="17"/>
                  </a:lnTo>
                  <a:lnTo>
                    <a:pt x="32" y="13"/>
                  </a:lnTo>
                  <a:lnTo>
                    <a:pt x="32" y="11"/>
                  </a:lnTo>
                  <a:lnTo>
                    <a:pt x="30" y="9"/>
                  </a:lnTo>
                  <a:lnTo>
                    <a:pt x="30" y="7"/>
                  </a:lnTo>
                  <a:lnTo>
                    <a:pt x="28" y="6"/>
                  </a:lnTo>
                  <a:lnTo>
                    <a:pt x="26" y="4"/>
                  </a:lnTo>
                  <a:lnTo>
                    <a:pt x="25" y="2"/>
                  </a:lnTo>
                  <a:lnTo>
                    <a:pt x="21" y="2"/>
                  </a:lnTo>
                  <a:lnTo>
                    <a:pt x="19" y="0"/>
                  </a:lnTo>
                  <a:lnTo>
                    <a:pt x="17" y="0"/>
                  </a:lnTo>
                  <a:lnTo>
                    <a:pt x="13" y="0"/>
                  </a:lnTo>
                  <a:lnTo>
                    <a:pt x="11" y="2"/>
                  </a:lnTo>
                  <a:lnTo>
                    <a:pt x="9" y="2"/>
                  </a:lnTo>
                  <a:lnTo>
                    <a:pt x="5" y="4"/>
                  </a:lnTo>
                  <a:lnTo>
                    <a:pt x="3" y="6"/>
                  </a:lnTo>
                  <a:lnTo>
                    <a:pt x="3" y="7"/>
                  </a:lnTo>
                  <a:lnTo>
                    <a:pt x="1" y="9"/>
                  </a:lnTo>
                  <a:lnTo>
                    <a:pt x="0" y="11"/>
                  </a:lnTo>
                  <a:lnTo>
                    <a:pt x="0" y="13"/>
                  </a:lnTo>
                  <a:lnTo>
                    <a:pt x="0" y="17"/>
                  </a:lnTo>
                  <a:lnTo>
                    <a:pt x="0" y="19"/>
                  </a:lnTo>
                  <a:lnTo>
                    <a:pt x="0" y="23"/>
                  </a:lnTo>
                  <a:lnTo>
                    <a:pt x="1" y="25"/>
                  </a:lnTo>
                  <a:lnTo>
                    <a:pt x="3" y="27"/>
                  </a:lnTo>
                  <a:lnTo>
                    <a:pt x="3" y="29"/>
                  </a:lnTo>
                  <a:lnTo>
                    <a:pt x="5" y="30"/>
                  </a:lnTo>
                  <a:lnTo>
                    <a:pt x="9" y="32"/>
                  </a:lnTo>
                  <a:lnTo>
                    <a:pt x="11" y="32"/>
                  </a:lnTo>
                  <a:lnTo>
                    <a:pt x="13" y="32"/>
                  </a:lnTo>
                  <a:lnTo>
                    <a:pt x="17" y="32"/>
                  </a:lnTo>
                </a:path>
              </a:pathLst>
            </a:custGeom>
            <a:noFill/>
            <a:ln w="3175">
              <a:solidFill>
                <a:srgbClr val="EB75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63" name="Line 262"/>
            <p:cNvSpPr>
              <a:spLocks noChangeShapeType="1"/>
            </p:cNvSpPr>
            <p:nvPr/>
          </p:nvSpPr>
          <p:spPr bwMode="auto">
            <a:xfrm>
              <a:off x="6754843" y="4813907"/>
              <a:ext cx="121928" cy="36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66" name="Freeform 265"/>
            <p:cNvSpPr>
              <a:spLocks/>
            </p:cNvSpPr>
            <p:nvPr/>
          </p:nvSpPr>
          <p:spPr bwMode="auto">
            <a:xfrm>
              <a:off x="6667493" y="3989536"/>
              <a:ext cx="89171" cy="507726"/>
            </a:xfrm>
            <a:custGeom>
              <a:avLst/>
              <a:gdLst>
                <a:gd name="T0" fmla="*/ 47 w 54"/>
                <a:gd name="T1" fmla="*/ 279 h 279"/>
                <a:gd name="T2" fmla="*/ 49 w 54"/>
                <a:gd name="T3" fmla="*/ 0 h 279"/>
                <a:gd name="T4" fmla="*/ 0 w 54"/>
                <a:gd name="T5" fmla="*/ 0 h 279"/>
                <a:gd name="T6" fmla="*/ 0 w 54"/>
                <a:gd name="T7" fmla="*/ 279 h 279"/>
                <a:gd name="T8" fmla="*/ 49 w 54"/>
                <a:gd name="T9" fmla="*/ 279 h 279"/>
                <a:gd name="T10" fmla="*/ 49 w 54"/>
                <a:gd name="T11" fmla="*/ 279 h 27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4"/>
                <a:gd name="T19" fmla="*/ 0 h 279"/>
                <a:gd name="T20" fmla="*/ 54 w 54"/>
                <a:gd name="T21" fmla="*/ 279 h 27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4" h="279">
                  <a:moveTo>
                    <a:pt x="52" y="279"/>
                  </a:moveTo>
                  <a:lnTo>
                    <a:pt x="54" y="0"/>
                  </a:lnTo>
                  <a:lnTo>
                    <a:pt x="0" y="0"/>
                  </a:lnTo>
                  <a:lnTo>
                    <a:pt x="0" y="279"/>
                  </a:lnTo>
                  <a:lnTo>
                    <a:pt x="54" y="279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67" name="Freeform 266"/>
            <p:cNvSpPr>
              <a:spLocks/>
            </p:cNvSpPr>
            <p:nvPr/>
          </p:nvSpPr>
          <p:spPr bwMode="auto">
            <a:xfrm>
              <a:off x="6667493" y="4564594"/>
              <a:ext cx="89171" cy="507726"/>
            </a:xfrm>
            <a:custGeom>
              <a:avLst/>
              <a:gdLst>
                <a:gd name="T0" fmla="*/ 47 w 54"/>
                <a:gd name="T1" fmla="*/ 277 h 279"/>
                <a:gd name="T2" fmla="*/ 49 w 54"/>
                <a:gd name="T3" fmla="*/ 0 h 279"/>
                <a:gd name="T4" fmla="*/ 0 w 54"/>
                <a:gd name="T5" fmla="*/ 0 h 279"/>
                <a:gd name="T6" fmla="*/ 0 w 54"/>
                <a:gd name="T7" fmla="*/ 279 h 279"/>
                <a:gd name="T8" fmla="*/ 49 w 54"/>
                <a:gd name="T9" fmla="*/ 279 h 279"/>
                <a:gd name="T10" fmla="*/ 49 w 54"/>
                <a:gd name="T11" fmla="*/ 279 h 27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4"/>
                <a:gd name="T19" fmla="*/ 0 h 279"/>
                <a:gd name="T20" fmla="*/ 54 w 54"/>
                <a:gd name="T21" fmla="*/ 279 h 27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4" h="279">
                  <a:moveTo>
                    <a:pt x="52" y="277"/>
                  </a:moveTo>
                  <a:lnTo>
                    <a:pt x="54" y="0"/>
                  </a:lnTo>
                  <a:lnTo>
                    <a:pt x="0" y="0"/>
                  </a:lnTo>
                  <a:lnTo>
                    <a:pt x="0" y="279"/>
                  </a:lnTo>
                  <a:lnTo>
                    <a:pt x="54" y="279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68" name="Freeform 267"/>
            <p:cNvSpPr>
              <a:spLocks/>
            </p:cNvSpPr>
            <p:nvPr/>
          </p:nvSpPr>
          <p:spPr bwMode="auto">
            <a:xfrm>
              <a:off x="5784887" y="3989536"/>
              <a:ext cx="180161" cy="507726"/>
            </a:xfrm>
            <a:custGeom>
              <a:avLst/>
              <a:gdLst>
                <a:gd name="T0" fmla="*/ 0 w 107"/>
                <a:gd name="T1" fmla="*/ 0 h 279"/>
                <a:gd name="T2" fmla="*/ 2 w 107"/>
                <a:gd name="T3" fmla="*/ 113 h 279"/>
                <a:gd name="T4" fmla="*/ 32 w 107"/>
                <a:gd name="T5" fmla="*/ 140 h 279"/>
                <a:gd name="T6" fmla="*/ 2 w 107"/>
                <a:gd name="T7" fmla="*/ 166 h 279"/>
                <a:gd name="T8" fmla="*/ 2 w 107"/>
                <a:gd name="T9" fmla="*/ 279 h 279"/>
                <a:gd name="T10" fmla="*/ 99 w 107"/>
                <a:gd name="T11" fmla="*/ 193 h 279"/>
                <a:gd name="T12" fmla="*/ 99 w 107"/>
                <a:gd name="T13" fmla="*/ 86 h 279"/>
                <a:gd name="T14" fmla="*/ 2 w 107"/>
                <a:gd name="T15" fmla="*/ 0 h 279"/>
                <a:gd name="T16" fmla="*/ 2 w 107"/>
                <a:gd name="T17" fmla="*/ 0 h 279"/>
                <a:gd name="T18" fmla="*/ 0 w 107"/>
                <a:gd name="T19" fmla="*/ 0 h 27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07"/>
                <a:gd name="T31" fmla="*/ 0 h 279"/>
                <a:gd name="T32" fmla="*/ 107 w 107"/>
                <a:gd name="T33" fmla="*/ 279 h 279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07" h="279">
                  <a:moveTo>
                    <a:pt x="0" y="0"/>
                  </a:moveTo>
                  <a:lnTo>
                    <a:pt x="2" y="113"/>
                  </a:lnTo>
                  <a:lnTo>
                    <a:pt x="35" y="140"/>
                  </a:lnTo>
                  <a:lnTo>
                    <a:pt x="2" y="166"/>
                  </a:lnTo>
                  <a:lnTo>
                    <a:pt x="2" y="279"/>
                  </a:lnTo>
                  <a:lnTo>
                    <a:pt x="107" y="193"/>
                  </a:lnTo>
                  <a:lnTo>
                    <a:pt x="107" y="86"/>
                  </a:lnTo>
                  <a:lnTo>
                    <a:pt x="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69" name="Freeform 268"/>
            <p:cNvSpPr>
              <a:spLocks/>
            </p:cNvSpPr>
            <p:nvPr/>
          </p:nvSpPr>
          <p:spPr bwMode="auto">
            <a:xfrm>
              <a:off x="5551951" y="3410837"/>
              <a:ext cx="90990" cy="511366"/>
            </a:xfrm>
            <a:custGeom>
              <a:avLst/>
              <a:gdLst>
                <a:gd name="T0" fmla="*/ 48 w 54"/>
                <a:gd name="T1" fmla="*/ 280 h 281"/>
                <a:gd name="T2" fmla="*/ 50 w 54"/>
                <a:gd name="T3" fmla="*/ 0 h 281"/>
                <a:gd name="T4" fmla="*/ 0 w 54"/>
                <a:gd name="T5" fmla="*/ 0 h 281"/>
                <a:gd name="T6" fmla="*/ 0 w 54"/>
                <a:gd name="T7" fmla="*/ 281 h 281"/>
                <a:gd name="T8" fmla="*/ 50 w 54"/>
                <a:gd name="T9" fmla="*/ 281 h 281"/>
                <a:gd name="T10" fmla="*/ 50 w 54"/>
                <a:gd name="T11" fmla="*/ 281 h 28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4"/>
                <a:gd name="T19" fmla="*/ 0 h 281"/>
                <a:gd name="T20" fmla="*/ 54 w 54"/>
                <a:gd name="T21" fmla="*/ 281 h 28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4" h="281">
                  <a:moveTo>
                    <a:pt x="52" y="280"/>
                  </a:moveTo>
                  <a:lnTo>
                    <a:pt x="54" y="0"/>
                  </a:lnTo>
                  <a:lnTo>
                    <a:pt x="0" y="0"/>
                  </a:lnTo>
                  <a:lnTo>
                    <a:pt x="0" y="281"/>
                  </a:lnTo>
                  <a:lnTo>
                    <a:pt x="54" y="281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71" name="Freeform 270"/>
            <p:cNvSpPr>
              <a:spLocks/>
            </p:cNvSpPr>
            <p:nvPr/>
          </p:nvSpPr>
          <p:spPr bwMode="auto">
            <a:xfrm>
              <a:off x="5788526" y="3989536"/>
              <a:ext cx="176522" cy="507726"/>
            </a:xfrm>
            <a:custGeom>
              <a:avLst/>
              <a:gdLst>
                <a:gd name="T0" fmla="*/ 0 w 105"/>
                <a:gd name="T1" fmla="*/ 0 h 279"/>
                <a:gd name="T2" fmla="*/ 0 w 105"/>
                <a:gd name="T3" fmla="*/ 113 h 279"/>
                <a:gd name="T4" fmla="*/ 31 w 105"/>
                <a:gd name="T5" fmla="*/ 140 h 279"/>
                <a:gd name="T6" fmla="*/ 0 w 105"/>
                <a:gd name="T7" fmla="*/ 166 h 279"/>
                <a:gd name="T8" fmla="*/ 0 w 105"/>
                <a:gd name="T9" fmla="*/ 279 h 279"/>
                <a:gd name="T10" fmla="*/ 97 w 105"/>
                <a:gd name="T11" fmla="*/ 193 h 279"/>
                <a:gd name="T12" fmla="*/ 97 w 105"/>
                <a:gd name="T13" fmla="*/ 86 h 279"/>
                <a:gd name="T14" fmla="*/ 0 w 105"/>
                <a:gd name="T15" fmla="*/ 0 h 279"/>
                <a:gd name="T16" fmla="*/ 0 w 105"/>
                <a:gd name="T17" fmla="*/ 0 h 27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05"/>
                <a:gd name="T28" fmla="*/ 0 h 279"/>
                <a:gd name="T29" fmla="*/ 105 w 105"/>
                <a:gd name="T30" fmla="*/ 279 h 279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05" h="279">
                  <a:moveTo>
                    <a:pt x="0" y="0"/>
                  </a:moveTo>
                  <a:lnTo>
                    <a:pt x="0" y="113"/>
                  </a:lnTo>
                  <a:lnTo>
                    <a:pt x="34" y="140"/>
                  </a:lnTo>
                  <a:lnTo>
                    <a:pt x="0" y="166"/>
                  </a:lnTo>
                  <a:lnTo>
                    <a:pt x="0" y="279"/>
                  </a:lnTo>
                  <a:lnTo>
                    <a:pt x="105" y="193"/>
                  </a:lnTo>
                  <a:lnTo>
                    <a:pt x="105" y="86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grpSp>
          <p:nvGrpSpPr>
            <p:cNvPr id="311" name="Group 311"/>
            <p:cNvGrpSpPr>
              <a:grpSpLocks/>
            </p:cNvGrpSpPr>
            <p:nvPr/>
          </p:nvGrpSpPr>
          <p:grpSpPr bwMode="auto">
            <a:xfrm>
              <a:off x="228600" y="2997741"/>
              <a:ext cx="959177" cy="3201039"/>
              <a:chOff x="376" y="1842"/>
              <a:chExt cx="571" cy="1759"/>
            </a:xfrm>
          </p:grpSpPr>
          <p:sp>
            <p:nvSpPr>
              <p:cNvPr id="313" name="Line 312"/>
              <p:cNvSpPr>
                <a:spLocks noChangeShapeType="1"/>
              </p:cNvSpPr>
              <p:nvPr/>
            </p:nvSpPr>
            <p:spPr bwMode="auto">
              <a:xfrm>
                <a:off x="908" y="2140"/>
                <a:ext cx="2" cy="1418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314" name="Freeform 313"/>
              <p:cNvSpPr>
                <a:spLocks/>
              </p:cNvSpPr>
              <p:nvPr/>
            </p:nvSpPr>
            <p:spPr bwMode="auto">
              <a:xfrm>
                <a:off x="897" y="3551"/>
                <a:ext cx="50" cy="50"/>
              </a:xfrm>
              <a:custGeom>
                <a:avLst/>
                <a:gdLst>
                  <a:gd name="T0" fmla="*/ 50 w 24"/>
                  <a:gd name="T1" fmla="*/ 0 h 25"/>
                  <a:gd name="T2" fmla="*/ 0 w 24"/>
                  <a:gd name="T3" fmla="*/ 4 h 25"/>
                  <a:gd name="T4" fmla="*/ 27 w 24"/>
                  <a:gd name="T5" fmla="*/ 50 h 25"/>
                  <a:gd name="T6" fmla="*/ 50 w 24"/>
                  <a:gd name="T7" fmla="*/ 4 h 25"/>
                  <a:gd name="T8" fmla="*/ 50 w 24"/>
                  <a:gd name="T9" fmla="*/ 4 h 25"/>
                  <a:gd name="T10" fmla="*/ 50 w 24"/>
                  <a:gd name="T11" fmla="*/ 0 h 2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4"/>
                  <a:gd name="T19" fmla="*/ 0 h 25"/>
                  <a:gd name="T20" fmla="*/ 24 w 24"/>
                  <a:gd name="T21" fmla="*/ 25 h 25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4" h="25">
                    <a:moveTo>
                      <a:pt x="24" y="0"/>
                    </a:moveTo>
                    <a:lnTo>
                      <a:pt x="0" y="2"/>
                    </a:lnTo>
                    <a:lnTo>
                      <a:pt x="13" y="25"/>
                    </a:lnTo>
                    <a:lnTo>
                      <a:pt x="24" y="2"/>
                    </a:lnTo>
                    <a:lnTo>
                      <a:pt x="24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315" name="Rectangle 314"/>
              <p:cNvSpPr>
                <a:spLocks noChangeArrowheads="1"/>
              </p:cNvSpPr>
              <p:nvPr/>
            </p:nvSpPr>
            <p:spPr bwMode="auto">
              <a:xfrm>
                <a:off x="376" y="1842"/>
                <a:ext cx="481" cy="355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med" len="lg"/>
              </a:ln>
            </p:spPr>
            <p:txBody>
              <a:bodyPr wrap="none">
                <a:spAutoFit/>
              </a:bodyPr>
              <a:lstStyle/>
              <a:p>
                <a:r>
                  <a:rPr lang="en-US" sz="1200" b="1" dirty="0">
                    <a:latin typeface="+mj-lt"/>
                  </a:rPr>
                  <a:t>Program</a:t>
                </a:r>
              </a:p>
              <a:p>
                <a:r>
                  <a:rPr lang="en-US" sz="1200" b="1" dirty="0">
                    <a:latin typeface="+mj-lt"/>
                  </a:rPr>
                  <a:t>execution</a:t>
                </a:r>
              </a:p>
              <a:p>
                <a:r>
                  <a:rPr lang="en-US" sz="1200" b="1" dirty="0">
                    <a:latin typeface="+mj-lt"/>
                  </a:rPr>
                  <a:t>order</a:t>
                </a:r>
              </a:p>
            </p:txBody>
          </p:sp>
        </p:grpSp>
        <p:sp>
          <p:nvSpPr>
            <p:cNvPr id="312" name="Rectangle 315"/>
            <p:cNvSpPr>
              <a:spLocks noChangeArrowheads="1"/>
            </p:cNvSpPr>
            <p:nvPr/>
          </p:nvSpPr>
          <p:spPr bwMode="auto">
            <a:xfrm>
              <a:off x="1255391" y="3489088"/>
              <a:ext cx="2416702" cy="2736988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med" len="lg"/>
            </a:ln>
          </p:spPr>
          <p:txBody>
            <a:bodyPr>
              <a:spAutoFit/>
            </a:bodyPr>
            <a:lstStyle/>
            <a:p>
              <a:pPr>
                <a:spcBef>
                  <a:spcPct val="10000"/>
                </a:spcBef>
              </a:pPr>
              <a:r>
                <a:rPr lang="en-US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lw</a:t>
              </a:r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</a:t>
              </a:r>
              <a:r>
                <a:rPr lang="en-US" dirty="0">
                  <a:solidFill>
                    <a:schemeClr val="hlin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R2</a:t>
              </a:r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, 30(R1)</a:t>
              </a:r>
              <a:b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</a:br>
              <a:endParaRPr lang="en-US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pPr>
                <a:spcBef>
                  <a:spcPct val="10000"/>
                </a:spcBef>
              </a:pPr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and R12,</a:t>
              </a:r>
              <a:r>
                <a:rPr lang="en-US" dirty="0">
                  <a:solidFill>
                    <a:schemeClr val="hlin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R2</a:t>
              </a:r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, R5</a:t>
              </a:r>
              <a:b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</a:br>
              <a:endParaRPr lang="en-US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pPr>
                <a:spcBef>
                  <a:spcPct val="10000"/>
                </a:spcBef>
              </a:pPr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or  R13,R6, </a:t>
              </a:r>
              <a:r>
                <a:rPr lang="en-US" dirty="0">
                  <a:solidFill>
                    <a:schemeClr val="hlin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R2</a:t>
              </a:r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/>
              </a:r>
              <a:b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</a:br>
              <a:endParaRPr lang="en-US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pPr>
                <a:spcBef>
                  <a:spcPct val="10000"/>
                </a:spcBef>
              </a:pPr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add R14,R2, </a:t>
              </a:r>
              <a:r>
                <a:rPr lang="en-US" dirty="0">
                  <a:solidFill>
                    <a:schemeClr val="hlin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R2</a:t>
              </a:r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/>
              </a:r>
              <a:b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</a:br>
              <a:endParaRPr lang="en-US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pPr>
                <a:spcBef>
                  <a:spcPct val="10000"/>
                </a:spcBef>
              </a:pPr>
              <a:r>
                <a:rPr lang="en-US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sw</a:t>
              </a:r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R15,100(</a:t>
              </a:r>
              <a:r>
                <a:rPr lang="en-US" dirty="0">
                  <a:solidFill>
                    <a:schemeClr val="hlink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R2</a:t>
              </a:r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)</a:t>
              </a:r>
              <a:endParaRPr lang="en-US" sz="20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grpSp>
          <p:nvGrpSpPr>
            <p:cNvPr id="328" name="Группа 327"/>
            <p:cNvGrpSpPr/>
            <p:nvPr/>
          </p:nvGrpSpPr>
          <p:grpSpPr>
            <a:xfrm>
              <a:off x="1387011" y="2819401"/>
              <a:ext cx="6857242" cy="249070"/>
              <a:chOff x="1589699" y="3086060"/>
              <a:chExt cx="6802763" cy="217275"/>
            </a:xfrm>
          </p:grpSpPr>
          <p:sp>
            <p:nvSpPr>
              <p:cNvPr id="318" name="Rectangle 242"/>
              <p:cNvSpPr>
                <a:spLocks noChangeArrowheads="1"/>
              </p:cNvSpPr>
              <p:nvPr/>
            </p:nvSpPr>
            <p:spPr bwMode="auto">
              <a:xfrm>
                <a:off x="3608967" y="3155667"/>
                <a:ext cx="71563" cy="14766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100" b="1" dirty="0">
                    <a:solidFill>
                      <a:srgbClr val="000000"/>
                    </a:solidFill>
                    <a:latin typeface="+mj-lt"/>
                  </a:rPr>
                  <a:t>1</a:t>
                </a:r>
                <a:endParaRPr lang="en-US" sz="1100" b="1" dirty="0">
                  <a:latin typeface="+mj-lt"/>
                </a:endParaRPr>
              </a:p>
            </p:txBody>
          </p:sp>
          <p:sp>
            <p:nvSpPr>
              <p:cNvPr id="319" name="Rectangle 246"/>
              <p:cNvSpPr>
                <a:spLocks noChangeArrowheads="1"/>
              </p:cNvSpPr>
              <p:nvPr/>
            </p:nvSpPr>
            <p:spPr bwMode="auto">
              <a:xfrm>
                <a:off x="4197095" y="3155667"/>
                <a:ext cx="71563" cy="14766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100" b="1">
                    <a:solidFill>
                      <a:srgbClr val="000000"/>
                    </a:solidFill>
                    <a:latin typeface="+mj-lt"/>
                  </a:rPr>
                  <a:t>2</a:t>
                </a:r>
                <a:endParaRPr lang="en-US" sz="1100" b="1">
                  <a:latin typeface="+mj-lt"/>
                </a:endParaRPr>
              </a:p>
            </p:txBody>
          </p:sp>
          <p:sp>
            <p:nvSpPr>
              <p:cNvPr id="320" name="Rectangle 250"/>
              <p:cNvSpPr>
                <a:spLocks noChangeArrowheads="1"/>
              </p:cNvSpPr>
              <p:nvPr/>
            </p:nvSpPr>
            <p:spPr bwMode="auto">
              <a:xfrm>
                <a:off x="4785225" y="3155667"/>
                <a:ext cx="71563" cy="14766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100" b="1" dirty="0">
                    <a:solidFill>
                      <a:srgbClr val="000000"/>
                    </a:solidFill>
                    <a:latin typeface="+mj-lt"/>
                  </a:rPr>
                  <a:t>3</a:t>
                </a:r>
                <a:endParaRPr lang="en-US" sz="1100" b="1" dirty="0">
                  <a:latin typeface="+mj-lt"/>
                </a:endParaRPr>
              </a:p>
            </p:txBody>
          </p:sp>
          <p:sp>
            <p:nvSpPr>
              <p:cNvPr id="321" name="Rectangle 254"/>
              <p:cNvSpPr>
                <a:spLocks noChangeArrowheads="1"/>
              </p:cNvSpPr>
              <p:nvPr/>
            </p:nvSpPr>
            <p:spPr bwMode="auto">
              <a:xfrm>
                <a:off x="5378528" y="3155667"/>
                <a:ext cx="71563" cy="14766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100" b="1">
                    <a:solidFill>
                      <a:srgbClr val="000000"/>
                    </a:solidFill>
                    <a:latin typeface="+mj-lt"/>
                  </a:rPr>
                  <a:t>4</a:t>
                </a:r>
                <a:endParaRPr lang="en-US" sz="1100" b="1">
                  <a:latin typeface="+mj-lt"/>
                </a:endParaRPr>
              </a:p>
            </p:txBody>
          </p:sp>
          <p:sp>
            <p:nvSpPr>
              <p:cNvPr id="322" name="Rectangle 258"/>
              <p:cNvSpPr>
                <a:spLocks noChangeArrowheads="1"/>
              </p:cNvSpPr>
              <p:nvPr/>
            </p:nvSpPr>
            <p:spPr bwMode="auto">
              <a:xfrm>
                <a:off x="5966657" y="3155667"/>
                <a:ext cx="71563" cy="14766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100" b="1" dirty="0">
                    <a:solidFill>
                      <a:srgbClr val="000000"/>
                    </a:solidFill>
                    <a:latin typeface="+mj-lt"/>
                  </a:rPr>
                  <a:t>5</a:t>
                </a:r>
                <a:endParaRPr lang="en-US" sz="1100" b="1" dirty="0">
                  <a:latin typeface="+mj-lt"/>
                </a:endParaRPr>
              </a:p>
            </p:txBody>
          </p:sp>
          <p:sp>
            <p:nvSpPr>
              <p:cNvPr id="323" name="Rectangle 262"/>
              <p:cNvSpPr>
                <a:spLocks noChangeArrowheads="1"/>
              </p:cNvSpPr>
              <p:nvPr/>
            </p:nvSpPr>
            <p:spPr bwMode="auto">
              <a:xfrm>
                <a:off x="6554787" y="3155667"/>
                <a:ext cx="71563" cy="14766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100" b="1">
                    <a:solidFill>
                      <a:srgbClr val="000000"/>
                    </a:solidFill>
                    <a:latin typeface="+mj-lt"/>
                  </a:rPr>
                  <a:t>6</a:t>
                </a:r>
                <a:endParaRPr lang="en-US" sz="1100" b="1">
                  <a:latin typeface="+mj-lt"/>
                </a:endParaRPr>
              </a:p>
            </p:txBody>
          </p:sp>
          <p:sp>
            <p:nvSpPr>
              <p:cNvPr id="324" name="Rectangle 263"/>
              <p:cNvSpPr>
                <a:spLocks noChangeArrowheads="1"/>
              </p:cNvSpPr>
              <p:nvPr/>
            </p:nvSpPr>
            <p:spPr bwMode="auto">
              <a:xfrm>
                <a:off x="1589699" y="3086060"/>
                <a:ext cx="1368520" cy="18794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400" b="1" dirty="0">
                    <a:solidFill>
                      <a:srgbClr val="000000"/>
                    </a:solidFill>
                    <a:latin typeface="+mj-lt"/>
                  </a:rPr>
                  <a:t>Time (clock cycles)</a:t>
                </a:r>
                <a:endParaRPr lang="en-US" sz="2000" b="1" dirty="0">
                  <a:latin typeface="+mj-lt"/>
                </a:endParaRPr>
              </a:p>
            </p:txBody>
          </p:sp>
          <p:sp>
            <p:nvSpPr>
              <p:cNvPr id="325" name="Rectangle 269"/>
              <p:cNvSpPr>
                <a:spLocks noChangeArrowheads="1"/>
              </p:cNvSpPr>
              <p:nvPr/>
            </p:nvSpPr>
            <p:spPr bwMode="auto">
              <a:xfrm>
                <a:off x="7142916" y="3155667"/>
                <a:ext cx="71563" cy="14766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100" b="1">
                    <a:solidFill>
                      <a:srgbClr val="000000"/>
                    </a:solidFill>
                    <a:latin typeface="+mj-lt"/>
                  </a:rPr>
                  <a:t>7</a:t>
                </a:r>
                <a:endParaRPr lang="en-US" sz="1100" b="1">
                  <a:latin typeface="+mj-lt"/>
                </a:endParaRPr>
              </a:p>
            </p:txBody>
          </p:sp>
          <p:sp>
            <p:nvSpPr>
              <p:cNvPr id="326" name="Rectangle 273"/>
              <p:cNvSpPr>
                <a:spLocks noChangeArrowheads="1"/>
              </p:cNvSpPr>
              <p:nvPr/>
            </p:nvSpPr>
            <p:spPr bwMode="auto">
              <a:xfrm>
                <a:off x="7731045" y="3155667"/>
                <a:ext cx="71563" cy="14766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100" b="1" dirty="0">
                    <a:solidFill>
                      <a:srgbClr val="000000"/>
                    </a:solidFill>
                    <a:latin typeface="+mj-lt"/>
                  </a:rPr>
                  <a:t>8</a:t>
                </a:r>
                <a:endParaRPr lang="en-US" sz="1100" b="1" dirty="0">
                  <a:latin typeface="+mj-lt"/>
                </a:endParaRPr>
              </a:p>
            </p:txBody>
          </p:sp>
          <p:sp>
            <p:nvSpPr>
              <p:cNvPr id="327" name="Rectangle 277"/>
              <p:cNvSpPr>
                <a:spLocks noChangeArrowheads="1"/>
              </p:cNvSpPr>
              <p:nvPr/>
            </p:nvSpPr>
            <p:spPr bwMode="auto">
              <a:xfrm>
                <a:off x="8320899" y="3155667"/>
                <a:ext cx="71563" cy="14766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1100" b="1" dirty="0">
                    <a:solidFill>
                      <a:srgbClr val="000000"/>
                    </a:solidFill>
                    <a:latin typeface="+mj-lt"/>
                  </a:rPr>
                  <a:t>9</a:t>
                </a:r>
                <a:endParaRPr lang="en-US" sz="1100" b="1" dirty="0">
                  <a:latin typeface="+mj-lt"/>
                </a:endParaRPr>
              </a:p>
            </p:txBody>
          </p:sp>
        </p:grpSp>
      </p:grpSp>
      <p:grpSp>
        <p:nvGrpSpPr>
          <p:cNvPr id="340" name="Группа 339"/>
          <p:cNvGrpSpPr/>
          <p:nvPr/>
        </p:nvGrpSpPr>
        <p:grpSpPr>
          <a:xfrm>
            <a:off x="4836266" y="3905825"/>
            <a:ext cx="898984" cy="1659752"/>
            <a:chOff x="4836266" y="3905825"/>
            <a:chExt cx="898984" cy="1659752"/>
          </a:xfrm>
        </p:grpSpPr>
        <p:sp>
          <p:nvSpPr>
            <p:cNvPr id="248" name="Freeform 247"/>
            <p:cNvSpPr>
              <a:spLocks/>
            </p:cNvSpPr>
            <p:nvPr/>
          </p:nvSpPr>
          <p:spPr bwMode="auto">
            <a:xfrm>
              <a:off x="4836266" y="3905825"/>
              <a:ext cx="898984" cy="1375773"/>
            </a:xfrm>
            <a:custGeom>
              <a:avLst/>
              <a:gdLst>
                <a:gd name="T0" fmla="*/ 34 w 535"/>
                <a:gd name="T1" fmla="*/ 471 h 756"/>
                <a:gd name="T2" fmla="*/ 40 w 535"/>
                <a:gd name="T3" fmla="*/ 501 h 756"/>
                <a:gd name="T4" fmla="*/ 42 w 535"/>
                <a:gd name="T5" fmla="*/ 536 h 756"/>
                <a:gd name="T6" fmla="*/ 55 w 535"/>
                <a:gd name="T7" fmla="*/ 553 h 756"/>
                <a:gd name="T8" fmla="*/ 64 w 535"/>
                <a:gd name="T9" fmla="*/ 559 h 756"/>
                <a:gd name="T10" fmla="*/ 25 w 535"/>
                <a:gd name="T11" fmla="*/ 582 h 756"/>
                <a:gd name="T12" fmla="*/ 11 w 535"/>
                <a:gd name="T13" fmla="*/ 628 h 756"/>
                <a:gd name="T14" fmla="*/ 57 w 535"/>
                <a:gd name="T15" fmla="*/ 689 h 756"/>
                <a:gd name="T16" fmla="*/ 112 w 535"/>
                <a:gd name="T17" fmla="*/ 696 h 756"/>
                <a:gd name="T18" fmla="*/ 121 w 535"/>
                <a:gd name="T19" fmla="*/ 729 h 756"/>
                <a:gd name="T20" fmla="*/ 174 w 535"/>
                <a:gd name="T21" fmla="*/ 756 h 756"/>
                <a:gd name="T22" fmla="*/ 241 w 535"/>
                <a:gd name="T23" fmla="*/ 723 h 756"/>
                <a:gd name="T24" fmla="*/ 318 w 535"/>
                <a:gd name="T25" fmla="*/ 714 h 756"/>
                <a:gd name="T26" fmla="*/ 415 w 535"/>
                <a:gd name="T27" fmla="*/ 687 h 756"/>
                <a:gd name="T28" fmla="*/ 418 w 535"/>
                <a:gd name="T29" fmla="*/ 635 h 756"/>
                <a:gd name="T30" fmla="*/ 413 w 535"/>
                <a:gd name="T31" fmla="*/ 631 h 756"/>
                <a:gd name="T32" fmla="*/ 432 w 535"/>
                <a:gd name="T33" fmla="*/ 628 h 756"/>
                <a:gd name="T34" fmla="*/ 461 w 535"/>
                <a:gd name="T35" fmla="*/ 612 h 756"/>
                <a:gd name="T36" fmla="*/ 469 w 535"/>
                <a:gd name="T37" fmla="*/ 561 h 756"/>
                <a:gd name="T38" fmla="*/ 436 w 535"/>
                <a:gd name="T39" fmla="*/ 509 h 756"/>
                <a:gd name="T40" fmla="*/ 399 w 535"/>
                <a:gd name="T41" fmla="*/ 497 h 756"/>
                <a:gd name="T42" fmla="*/ 378 w 535"/>
                <a:gd name="T43" fmla="*/ 507 h 756"/>
                <a:gd name="T44" fmla="*/ 370 w 535"/>
                <a:gd name="T45" fmla="*/ 507 h 756"/>
                <a:gd name="T46" fmla="*/ 360 w 535"/>
                <a:gd name="T47" fmla="*/ 469 h 756"/>
                <a:gd name="T48" fmla="*/ 351 w 535"/>
                <a:gd name="T49" fmla="*/ 442 h 756"/>
                <a:gd name="T50" fmla="*/ 351 w 535"/>
                <a:gd name="T51" fmla="*/ 421 h 756"/>
                <a:gd name="T52" fmla="*/ 347 w 535"/>
                <a:gd name="T53" fmla="*/ 411 h 756"/>
                <a:gd name="T54" fmla="*/ 342 w 535"/>
                <a:gd name="T55" fmla="*/ 406 h 756"/>
                <a:gd name="T56" fmla="*/ 360 w 535"/>
                <a:gd name="T57" fmla="*/ 402 h 756"/>
                <a:gd name="T58" fmla="*/ 390 w 535"/>
                <a:gd name="T59" fmla="*/ 386 h 756"/>
                <a:gd name="T60" fmla="*/ 401 w 535"/>
                <a:gd name="T61" fmla="*/ 344 h 756"/>
                <a:gd name="T62" fmla="*/ 384 w 535"/>
                <a:gd name="T63" fmla="*/ 302 h 756"/>
                <a:gd name="T64" fmla="*/ 409 w 535"/>
                <a:gd name="T65" fmla="*/ 283 h 756"/>
                <a:gd name="T66" fmla="*/ 443 w 535"/>
                <a:gd name="T67" fmla="*/ 241 h 756"/>
                <a:gd name="T68" fmla="*/ 441 w 535"/>
                <a:gd name="T69" fmla="*/ 207 h 756"/>
                <a:gd name="T70" fmla="*/ 436 w 535"/>
                <a:gd name="T71" fmla="*/ 203 h 756"/>
                <a:gd name="T72" fmla="*/ 453 w 535"/>
                <a:gd name="T73" fmla="*/ 199 h 756"/>
                <a:gd name="T74" fmla="*/ 484 w 535"/>
                <a:gd name="T75" fmla="*/ 184 h 756"/>
                <a:gd name="T76" fmla="*/ 492 w 535"/>
                <a:gd name="T77" fmla="*/ 132 h 756"/>
                <a:gd name="T78" fmla="*/ 457 w 535"/>
                <a:gd name="T79" fmla="*/ 80 h 756"/>
                <a:gd name="T80" fmla="*/ 422 w 535"/>
                <a:gd name="T81" fmla="*/ 69 h 756"/>
                <a:gd name="T82" fmla="*/ 401 w 535"/>
                <a:gd name="T83" fmla="*/ 78 h 756"/>
                <a:gd name="T84" fmla="*/ 392 w 535"/>
                <a:gd name="T85" fmla="*/ 67 h 756"/>
                <a:gd name="T86" fmla="*/ 349 w 535"/>
                <a:gd name="T87" fmla="*/ 8 h 756"/>
                <a:gd name="T88" fmla="*/ 285 w 535"/>
                <a:gd name="T89" fmla="*/ 2 h 756"/>
                <a:gd name="T90" fmla="*/ 223 w 535"/>
                <a:gd name="T91" fmla="*/ 42 h 756"/>
                <a:gd name="T92" fmla="*/ 199 w 535"/>
                <a:gd name="T93" fmla="*/ 25 h 756"/>
                <a:gd name="T94" fmla="*/ 146 w 535"/>
                <a:gd name="T95" fmla="*/ 4 h 756"/>
                <a:gd name="T96" fmla="*/ 92 w 535"/>
                <a:gd name="T97" fmla="*/ 31 h 756"/>
                <a:gd name="T98" fmla="*/ 75 w 535"/>
                <a:gd name="T99" fmla="*/ 90 h 756"/>
                <a:gd name="T100" fmla="*/ 96 w 535"/>
                <a:gd name="T101" fmla="*/ 130 h 756"/>
                <a:gd name="T102" fmla="*/ 63 w 535"/>
                <a:gd name="T103" fmla="*/ 140 h 756"/>
                <a:gd name="T104" fmla="*/ 36 w 535"/>
                <a:gd name="T105" fmla="*/ 174 h 756"/>
                <a:gd name="T106" fmla="*/ 34 w 535"/>
                <a:gd name="T107" fmla="*/ 189 h 756"/>
                <a:gd name="T108" fmla="*/ 34 w 535"/>
                <a:gd name="T109" fmla="*/ 210 h 756"/>
                <a:gd name="T110" fmla="*/ 18 w 535"/>
                <a:gd name="T111" fmla="*/ 239 h 756"/>
                <a:gd name="T112" fmla="*/ 13 w 535"/>
                <a:gd name="T113" fmla="*/ 287 h 756"/>
                <a:gd name="T114" fmla="*/ 0 w 535"/>
                <a:gd name="T115" fmla="*/ 331 h 756"/>
                <a:gd name="T116" fmla="*/ 20 w 535"/>
                <a:gd name="T117" fmla="*/ 383 h 756"/>
                <a:gd name="T118" fmla="*/ 17 w 535"/>
                <a:gd name="T119" fmla="*/ 417 h 75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w 535"/>
                <a:gd name="T181" fmla="*/ 0 h 756"/>
                <a:gd name="T182" fmla="*/ 535 w 535"/>
                <a:gd name="T183" fmla="*/ 756 h 75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T180" t="T181" r="T182" b="T183"/>
              <a:pathLst>
                <a:path w="535" h="756">
                  <a:moveTo>
                    <a:pt x="45" y="448"/>
                  </a:moveTo>
                  <a:lnTo>
                    <a:pt x="43" y="453"/>
                  </a:lnTo>
                  <a:lnTo>
                    <a:pt x="41" y="459"/>
                  </a:lnTo>
                  <a:lnTo>
                    <a:pt x="39" y="465"/>
                  </a:lnTo>
                  <a:lnTo>
                    <a:pt x="37" y="471"/>
                  </a:lnTo>
                  <a:lnTo>
                    <a:pt x="35" y="476"/>
                  </a:lnTo>
                  <a:lnTo>
                    <a:pt x="35" y="482"/>
                  </a:lnTo>
                  <a:lnTo>
                    <a:pt x="35" y="488"/>
                  </a:lnTo>
                  <a:lnTo>
                    <a:pt x="39" y="494"/>
                  </a:lnTo>
                  <a:lnTo>
                    <a:pt x="43" y="501"/>
                  </a:lnTo>
                  <a:lnTo>
                    <a:pt x="50" y="509"/>
                  </a:lnTo>
                  <a:lnTo>
                    <a:pt x="46" y="517"/>
                  </a:lnTo>
                  <a:lnTo>
                    <a:pt x="45" y="524"/>
                  </a:lnTo>
                  <a:lnTo>
                    <a:pt x="45" y="530"/>
                  </a:lnTo>
                  <a:lnTo>
                    <a:pt x="45" y="536"/>
                  </a:lnTo>
                  <a:lnTo>
                    <a:pt x="45" y="540"/>
                  </a:lnTo>
                  <a:lnTo>
                    <a:pt x="48" y="543"/>
                  </a:lnTo>
                  <a:lnTo>
                    <a:pt x="50" y="547"/>
                  </a:lnTo>
                  <a:lnTo>
                    <a:pt x="56" y="551"/>
                  </a:lnTo>
                  <a:lnTo>
                    <a:pt x="60" y="553"/>
                  </a:lnTo>
                  <a:lnTo>
                    <a:pt x="66" y="555"/>
                  </a:lnTo>
                  <a:lnTo>
                    <a:pt x="81" y="559"/>
                  </a:lnTo>
                  <a:lnTo>
                    <a:pt x="79" y="559"/>
                  </a:lnTo>
                  <a:lnTo>
                    <a:pt x="75" y="559"/>
                  </a:lnTo>
                  <a:lnTo>
                    <a:pt x="69" y="559"/>
                  </a:lnTo>
                  <a:lnTo>
                    <a:pt x="62" y="563"/>
                  </a:lnTo>
                  <a:lnTo>
                    <a:pt x="52" y="564"/>
                  </a:lnTo>
                  <a:lnTo>
                    <a:pt x="45" y="568"/>
                  </a:lnTo>
                  <a:lnTo>
                    <a:pt x="35" y="574"/>
                  </a:lnTo>
                  <a:lnTo>
                    <a:pt x="27" y="582"/>
                  </a:lnTo>
                  <a:lnTo>
                    <a:pt x="20" y="591"/>
                  </a:lnTo>
                  <a:lnTo>
                    <a:pt x="14" y="603"/>
                  </a:lnTo>
                  <a:lnTo>
                    <a:pt x="14" y="605"/>
                  </a:lnTo>
                  <a:lnTo>
                    <a:pt x="12" y="614"/>
                  </a:lnTo>
                  <a:lnTo>
                    <a:pt x="12" y="628"/>
                  </a:lnTo>
                  <a:lnTo>
                    <a:pt x="14" y="643"/>
                  </a:lnTo>
                  <a:lnTo>
                    <a:pt x="20" y="660"/>
                  </a:lnTo>
                  <a:lnTo>
                    <a:pt x="27" y="673"/>
                  </a:lnTo>
                  <a:lnTo>
                    <a:pt x="41" y="685"/>
                  </a:lnTo>
                  <a:lnTo>
                    <a:pt x="62" y="689"/>
                  </a:lnTo>
                  <a:lnTo>
                    <a:pt x="89" y="687"/>
                  </a:lnTo>
                  <a:lnTo>
                    <a:pt x="123" y="675"/>
                  </a:lnTo>
                  <a:lnTo>
                    <a:pt x="123" y="683"/>
                  </a:lnTo>
                  <a:lnTo>
                    <a:pt x="121" y="691"/>
                  </a:lnTo>
                  <a:lnTo>
                    <a:pt x="121" y="696"/>
                  </a:lnTo>
                  <a:lnTo>
                    <a:pt x="123" y="704"/>
                  </a:lnTo>
                  <a:lnTo>
                    <a:pt x="123" y="712"/>
                  </a:lnTo>
                  <a:lnTo>
                    <a:pt x="125" y="717"/>
                  </a:lnTo>
                  <a:lnTo>
                    <a:pt x="127" y="723"/>
                  </a:lnTo>
                  <a:lnTo>
                    <a:pt x="131" y="729"/>
                  </a:lnTo>
                  <a:lnTo>
                    <a:pt x="135" y="735"/>
                  </a:lnTo>
                  <a:lnTo>
                    <a:pt x="140" y="740"/>
                  </a:lnTo>
                  <a:lnTo>
                    <a:pt x="156" y="748"/>
                  </a:lnTo>
                  <a:lnTo>
                    <a:pt x="171" y="754"/>
                  </a:lnTo>
                  <a:lnTo>
                    <a:pt x="188" y="756"/>
                  </a:lnTo>
                  <a:lnTo>
                    <a:pt x="204" y="756"/>
                  </a:lnTo>
                  <a:lnTo>
                    <a:pt x="221" y="752"/>
                  </a:lnTo>
                  <a:lnTo>
                    <a:pt x="236" y="746"/>
                  </a:lnTo>
                  <a:lnTo>
                    <a:pt x="250" y="735"/>
                  </a:lnTo>
                  <a:lnTo>
                    <a:pt x="261" y="723"/>
                  </a:lnTo>
                  <a:lnTo>
                    <a:pt x="271" y="706"/>
                  </a:lnTo>
                  <a:lnTo>
                    <a:pt x="276" y="685"/>
                  </a:lnTo>
                  <a:lnTo>
                    <a:pt x="294" y="696"/>
                  </a:lnTo>
                  <a:lnTo>
                    <a:pt x="317" y="706"/>
                  </a:lnTo>
                  <a:lnTo>
                    <a:pt x="344" y="714"/>
                  </a:lnTo>
                  <a:lnTo>
                    <a:pt x="368" y="717"/>
                  </a:lnTo>
                  <a:lnTo>
                    <a:pt x="393" y="717"/>
                  </a:lnTo>
                  <a:lnTo>
                    <a:pt x="416" y="712"/>
                  </a:lnTo>
                  <a:lnTo>
                    <a:pt x="436" y="702"/>
                  </a:lnTo>
                  <a:lnTo>
                    <a:pt x="449" y="687"/>
                  </a:lnTo>
                  <a:lnTo>
                    <a:pt x="457" y="666"/>
                  </a:lnTo>
                  <a:lnTo>
                    <a:pt x="455" y="637"/>
                  </a:lnTo>
                  <a:lnTo>
                    <a:pt x="453" y="635"/>
                  </a:lnTo>
                  <a:lnTo>
                    <a:pt x="453" y="633"/>
                  </a:lnTo>
                  <a:lnTo>
                    <a:pt x="451" y="633"/>
                  </a:lnTo>
                  <a:lnTo>
                    <a:pt x="449" y="631"/>
                  </a:lnTo>
                  <a:lnTo>
                    <a:pt x="447" y="631"/>
                  </a:lnTo>
                  <a:lnTo>
                    <a:pt x="445" y="629"/>
                  </a:lnTo>
                  <a:lnTo>
                    <a:pt x="443" y="629"/>
                  </a:lnTo>
                  <a:lnTo>
                    <a:pt x="451" y="629"/>
                  </a:lnTo>
                  <a:lnTo>
                    <a:pt x="460" y="629"/>
                  </a:lnTo>
                  <a:lnTo>
                    <a:pt x="468" y="628"/>
                  </a:lnTo>
                  <a:lnTo>
                    <a:pt x="476" y="626"/>
                  </a:lnTo>
                  <a:lnTo>
                    <a:pt x="482" y="624"/>
                  </a:lnTo>
                  <a:lnTo>
                    <a:pt x="489" y="620"/>
                  </a:lnTo>
                  <a:lnTo>
                    <a:pt x="495" y="616"/>
                  </a:lnTo>
                  <a:lnTo>
                    <a:pt x="499" y="612"/>
                  </a:lnTo>
                  <a:lnTo>
                    <a:pt x="505" y="607"/>
                  </a:lnTo>
                  <a:lnTo>
                    <a:pt x="507" y="599"/>
                  </a:lnTo>
                  <a:lnTo>
                    <a:pt x="510" y="585"/>
                  </a:lnTo>
                  <a:lnTo>
                    <a:pt x="510" y="572"/>
                  </a:lnTo>
                  <a:lnTo>
                    <a:pt x="508" y="561"/>
                  </a:lnTo>
                  <a:lnTo>
                    <a:pt x="505" y="547"/>
                  </a:lnTo>
                  <a:lnTo>
                    <a:pt x="499" y="536"/>
                  </a:lnTo>
                  <a:lnTo>
                    <a:pt x="491" y="526"/>
                  </a:lnTo>
                  <a:lnTo>
                    <a:pt x="482" y="517"/>
                  </a:lnTo>
                  <a:lnTo>
                    <a:pt x="472" y="509"/>
                  </a:lnTo>
                  <a:lnTo>
                    <a:pt x="459" y="503"/>
                  </a:lnTo>
                  <a:lnTo>
                    <a:pt x="447" y="497"/>
                  </a:lnTo>
                  <a:lnTo>
                    <a:pt x="441" y="497"/>
                  </a:lnTo>
                  <a:lnTo>
                    <a:pt x="437" y="497"/>
                  </a:lnTo>
                  <a:lnTo>
                    <a:pt x="432" y="497"/>
                  </a:lnTo>
                  <a:lnTo>
                    <a:pt x="428" y="497"/>
                  </a:lnTo>
                  <a:lnTo>
                    <a:pt x="422" y="499"/>
                  </a:lnTo>
                  <a:lnTo>
                    <a:pt x="418" y="501"/>
                  </a:lnTo>
                  <a:lnTo>
                    <a:pt x="413" y="503"/>
                  </a:lnTo>
                  <a:lnTo>
                    <a:pt x="409" y="507"/>
                  </a:lnTo>
                  <a:lnTo>
                    <a:pt x="405" y="511"/>
                  </a:lnTo>
                  <a:lnTo>
                    <a:pt x="401" y="515"/>
                  </a:lnTo>
                  <a:lnTo>
                    <a:pt x="401" y="511"/>
                  </a:lnTo>
                  <a:lnTo>
                    <a:pt x="401" y="507"/>
                  </a:lnTo>
                  <a:lnTo>
                    <a:pt x="401" y="501"/>
                  </a:lnTo>
                  <a:lnTo>
                    <a:pt x="399" y="494"/>
                  </a:lnTo>
                  <a:lnTo>
                    <a:pt x="397" y="486"/>
                  </a:lnTo>
                  <a:lnTo>
                    <a:pt x="393" y="478"/>
                  </a:lnTo>
                  <a:lnTo>
                    <a:pt x="390" y="469"/>
                  </a:lnTo>
                  <a:lnTo>
                    <a:pt x="384" y="461"/>
                  </a:lnTo>
                  <a:lnTo>
                    <a:pt x="376" y="453"/>
                  </a:lnTo>
                  <a:lnTo>
                    <a:pt x="378" y="450"/>
                  </a:lnTo>
                  <a:lnTo>
                    <a:pt x="378" y="446"/>
                  </a:lnTo>
                  <a:lnTo>
                    <a:pt x="380" y="442"/>
                  </a:lnTo>
                  <a:lnTo>
                    <a:pt x="380" y="438"/>
                  </a:lnTo>
                  <a:lnTo>
                    <a:pt x="380" y="434"/>
                  </a:lnTo>
                  <a:lnTo>
                    <a:pt x="380" y="430"/>
                  </a:lnTo>
                  <a:lnTo>
                    <a:pt x="380" y="427"/>
                  </a:lnTo>
                  <a:lnTo>
                    <a:pt x="380" y="421"/>
                  </a:lnTo>
                  <a:lnTo>
                    <a:pt x="378" y="417"/>
                  </a:lnTo>
                  <a:lnTo>
                    <a:pt x="378" y="413"/>
                  </a:lnTo>
                  <a:lnTo>
                    <a:pt x="378" y="411"/>
                  </a:lnTo>
                  <a:lnTo>
                    <a:pt x="376" y="411"/>
                  </a:lnTo>
                  <a:lnTo>
                    <a:pt x="376" y="409"/>
                  </a:lnTo>
                  <a:lnTo>
                    <a:pt x="374" y="408"/>
                  </a:lnTo>
                  <a:lnTo>
                    <a:pt x="372" y="406"/>
                  </a:lnTo>
                  <a:lnTo>
                    <a:pt x="370" y="406"/>
                  </a:lnTo>
                  <a:lnTo>
                    <a:pt x="368" y="404"/>
                  </a:lnTo>
                  <a:lnTo>
                    <a:pt x="367" y="404"/>
                  </a:lnTo>
                  <a:lnTo>
                    <a:pt x="374" y="404"/>
                  </a:lnTo>
                  <a:lnTo>
                    <a:pt x="382" y="404"/>
                  </a:lnTo>
                  <a:lnTo>
                    <a:pt x="390" y="402"/>
                  </a:lnTo>
                  <a:lnTo>
                    <a:pt x="397" y="402"/>
                  </a:lnTo>
                  <a:lnTo>
                    <a:pt x="405" y="398"/>
                  </a:lnTo>
                  <a:lnTo>
                    <a:pt x="411" y="396"/>
                  </a:lnTo>
                  <a:lnTo>
                    <a:pt x="418" y="392"/>
                  </a:lnTo>
                  <a:lnTo>
                    <a:pt x="422" y="386"/>
                  </a:lnTo>
                  <a:lnTo>
                    <a:pt x="426" y="381"/>
                  </a:lnTo>
                  <a:lnTo>
                    <a:pt x="430" y="373"/>
                  </a:lnTo>
                  <a:lnTo>
                    <a:pt x="432" y="364"/>
                  </a:lnTo>
                  <a:lnTo>
                    <a:pt x="434" y="354"/>
                  </a:lnTo>
                  <a:lnTo>
                    <a:pt x="434" y="344"/>
                  </a:lnTo>
                  <a:lnTo>
                    <a:pt x="432" y="335"/>
                  </a:lnTo>
                  <a:lnTo>
                    <a:pt x="430" y="327"/>
                  </a:lnTo>
                  <a:lnTo>
                    <a:pt x="426" y="318"/>
                  </a:lnTo>
                  <a:lnTo>
                    <a:pt x="420" y="310"/>
                  </a:lnTo>
                  <a:lnTo>
                    <a:pt x="416" y="302"/>
                  </a:lnTo>
                  <a:lnTo>
                    <a:pt x="409" y="295"/>
                  </a:lnTo>
                  <a:lnTo>
                    <a:pt x="401" y="289"/>
                  </a:lnTo>
                  <a:lnTo>
                    <a:pt x="416" y="289"/>
                  </a:lnTo>
                  <a:lnTo>
                    <a:pt x="430" y="287"/>
                  </a:lnTo>
                  <a:lnTo>
                    <a:pt x="443" y="283"/>
                  </a:lnTo>
                  <a:lnTo>
                    <a:pt x="453" y="279"/>
                  </a:lnTo>
                  <a:lnTo>
                    <a:pt x="464" y="272"/>
                  </a:lnTo>
                  <a:lnTo>
                    <a:pt x="472" y="264"/>
                  </a:lnTo>
                  <a:lnTo>
                    <a:pt x="478" y="253"/>
                  </a:lnTo>
                  <a:lnTo>
                    <a:pt x="480" y="241"/>
                  </a:lnTo>
                  <a:lnTo>
                    <a:pt x="482" y="226"/>
                  </a:lnTo>
                  <a:lnTo>
                    <a:pt x="480" y="209"/>
                  </a:lnTo>
                  <a:lnTo>
                    <a:pt x="478" y="209"/>
                  </a:lnTo>
                  <a:lnTo>
                    <a:pt x="478" y="207"/>
                  </a:lnTo>
                  <a:lnTo>
                    <a:pt x="476" y="205"/>
                  </a:lnTo>
                  <a:lnTo>
                    <a:pt x="474" y="203"/>
                  </a:lnTo>
                  <a:lnTo>
                    <a:pt x="472" y="203"/>
                  </a:lnTo>
                  <a:lnTo>
                    <a:pt x="470" y="201"/>
                  </a:lnTo>
                  <a:lnTo>
                    <a:pt x="468" y="201"/>
                  </a:lnTo>
                  <a:lnTo>
                    <a:pt x="476" y="201"/>
                  </a:lnTo>
                  <a:lnTo>
                    <a:pt x="483" y="201"/>
                  </a:lnTo>
                  <a:lnTo>
                    <a:pt x="491" y="199"/>
                  </a:lnTo>
                  <a:lnTo>
                    <a:pt x="499" y="199"/>
                  </a:lnTo>
                  <a:lnTo>
                    <a:pt x="507" y="195"/>
                  </a:lnTo>
                  <a:lnTo>
                    <a:pt x="512" y="193"/>
                  </a:lnTo>
                  <a:lnTo>
                    <a:pt x="518" y="187"/>
                  </a:lnTo>
                  <a:lnTo>
                    <a:pt x="524" y="184"/>
                  </a:lnTo>
                  <a:lnTo>
                    <a:pt x="528" y="178"/>
                  </a:lnTo>
                  <a:lnTo>
                    <a:pt x="531" y="170"/>
                  </a:lnTo>
                  <a:lnTo>
                    <a:pt x="535" y="157"/>
                  </a:lnTo>
                  <a:lnTo>
                    <a:pt x="535" y="143"/>
                  </a:lnTo>
                  <a:lnTo>
                    <a:pt x="533" y="132"/>
                  </a:lnTo>
                  <a:lnTo>
                    <a:pt x="530" y="119"/>
                  </a:lnTo>
                  <a:lnTo>
                    <a:pt x="524" y="107"/>
                  </a:lnTo>
                  <a:lnTo>
                    <a:pt x="516" y="98"/>
                  </a:lnTo>
                  <a:lnTo>
                    <a:pt x="507" y="88"/>
                  </a:lnTo>
                  <a:lnTo>
                    <a:pt x="495" y="80"/>
                  </a:lnTo>
                  <a:lnTo>
                    <a:pt x="483" y="75"/>
                  </a:lnTo>
                  <a:lnTo>
                    <a:pt x="470" y="69"/>
                  </a:lnTo>
                  <a:lnTo>
                    <a:pt x="466" y="69"/>
                  </a:lnTo>
                  <a:lnTo>
                    <a:pt x="460" y="69"/>
                  </a:lnTo>
                  <a:lnTo>
                    <a:pt x="457" y="69"/>
                  </a:lnTo>
                  <a:lnTo>
                    <a:pt x="451" y="69"/>
                  </a:lnTo>
                  <a:lnTo>
                    <a:pt x="447" y="71"/>
                  </a:lnTo>
                  <a:lnTo>
                    <a:pt x="443" y="73"/>
                  </a:lnTo>
                  <a:lnTo>
                    <a:pt x="437" y="75"/>
                  </a:lnTo>
                  <a:lnTo>
                    <a:pt x="434" y="78"/>
                  </a:lnTo>
                  <a:lnTo>
                    <a:pt x="430" y="82"/>
                  </a:lnTo>
                  <a:lnTo>
                    <a:pt x="426" y="86"/>
                  </a:lnTo>
                  <a:lnTo>
                    <a:pt x="426" y="84"/>
                  </a:lnTo>
                  <a:lnTo>
                    <a:pt x="426" y="76"/>
                  </a:lnTo>
                  <a:lnTo>
                    <a:pt x="424" y="67"/>
                  </a:lnTo>
                  <a:lnTo>
                    <a:pt x="420" y="55"/>
                  </a:lnTo>
                  <a:lnTo>
                    <a:pt x="414" y="42"/>
                  </a:lnTo>
                  <a:lnTo>
                    <a:pt x="407" y="29"/>
                  </a:lnTo>
                  <a:lnTo>
                    <a:pt x="393" y="17"/>
                  </a:lnTo>
                  <a:lnTo>
                    <a:pt x="378" y="8"/>
                  </a:lnTo>
                  <a:lnTo>
                    <a:pt x="355" y="2"/>
                  </a:lnTo>
                  <a:lnTo>
                    <a:pt x="328" y="2"/>
                  </a:lnTo>
                  <a:lnTo>
                    <a:pt x="326" y="0"/>
                  </a:lnTo>
                  <a:lnTo>
                    <a:pt x="321" y="2"/>
                  </a:lnTo>
                  <a:lnTo>
                    <a:pt x="309" y="2"/>
                  </a:lnTo>
                  <a:lnTo>
                    <a:pt x="298" y="6"/>
                  </a:lnTo>
                  <a:lnTo>
                    <a:pt x="282" y="10"/>
                  </a:lnTo>
                  <a:lnTo>
                    <a:pt x="269" y="17"/>
                  </a:lnTo>
                  <a:lnTo>
                    <a:pt x="255" y="29"/>
                  </a:lnTo>
                  <a:lnTo>
                    <a:pt x="242" y="42"/>
                  </a:lnTo>
                  <a:lnTo>
                    <a:pt x="232" y="61"/>
                  </a:lnTo>
                  <a:lnTo>
                    <a:pt x="227" y="86"/>
                  </a:lnTo>
                  <a:lnTo>
                    <a:pt x="232" y="44"/>
                  </a:lnTo>
                  <a:lnTo>
                    <a:pt x="225" y="34"/>
                  </a:lnTo>
                  <a:lnTo>
                    <a:pt x="215" y="25"/>
                  </a:lnTo>
                  <a:lnTo>
                    <a:pt x="206" y="17"/>
                  </a:lnTo>
                  <a:lnTo>
                    <a:pt x="194" y="11"/>
                  </a:lnTo>
                  <a:lnTo>
                    <a:pt x="183" y="8"/>
                  </a:lnTo>
                  <a:lnTo>
                    <a:pt x="171" y="4"/>
                  </a:lnTo>
                  <a:lnTo>
                    <a:pt x="158" y="4"/>
                  </a:lnTo>
                  <a:lnTo>
                    <a:pt x="146" y="6"/>
                  </a:lnTo>
                  <a:lnTo>
                    <a:pt x="133" y="10"/>
                  </a:lnTo>
                  <a:lnTo>
                    <a:pt x="121" y="15"/>
                  </a:lnTo>
                  <a:lnTo>
                    <a:pt x="110" y="23"/>
                  </a:lnTo>
                  <a:lnTo>
                    <a:pt x="100" y="31"/>
                  </a:lnTo>
                  <a:lnTo>
                    <a:pt x="92" y="42"/>
                  </a:lnTo>
                  <a:lnTo>
                    <a:pt x="87" y="52"/>
                  </a:lnTo>
                  <a:lnTo>
                    <a:pt x="83" y="65"/>
                  </a:lnTo>
                  <a:lnTo>
                    <a:pt x="81" y="76"/>
                  </a:lnTo>
                  <a:lnTo>
                    <a:pt x="81" y="90"/>
                  </a:lnTo>
                  <a:lnTo>
                    <a:pt x="81" y="101"/>
                  </a:lnTo>
                  <a:lnTo>
                    <a:pt x="85" y="115"/>
                  </a:lnTo>
                  <a:lnTo>
                    <a:pt x="91" y="126"/>
                  </a:lnTo>
                  <a:lnTo>
                    <a:pt x="104" y="130"/>
                  </a:lnTo>
                  <a:lnTo>
                    <a:pt x="100" y="130"/>
                  </a:lnTo>
                  <a:lnTo>
                    <a:pt x="92" y="132"/>
                  </a:lnTo>
                  <a:lnTo>
                    <a:pt x="87" y="134"/>
                  </a:lnTo>
                  <a:lnTo>
                    <a:pt x="77" y="136"/>
                  </a:lnTo>
                  <a:lnTo>
                    <a:pt x="68" y="140"/>
                  </a:lnTo>
                  <a:lnTo>
                    <a:pt x="60" y="145"/>
                  </a:lnTo>
                  <a:lnTo>
                    <a:pt x="50" y="153"/>
                  </a:lnTo>
                  <a:lnTo>
                    <a:pt x="45" y="163"/>
                  </a:lnTo>
                  <a:lnTo>
                    <a:pt x="39" y="174"/>
                  </a:lnTo>
                  <a:lnTo>
                    <a:pt x="39" y="176"/>
                  </a:lnTo>
                  <a:lnTo>
                    <a:pt x="39" y="178"/>
                  </a:lnTo>
                  <a:lnTo>
                    <a:pt x="37" y="180"/>
                  </a:lnTo>
                  <a:lnTo>
                    <a:pt x="37" y="184"/>
                  </a:lnTo>
                  <a:lnTo>
                    <a:pt x="37" y="189"/>
                  </a:lnTo>
                  <a:lnTo>
                    <a:pt x="37" y="193"/>
                  </a:lnTo>
                  <a:lnTo>
                    <a:pt x="37" y="199"/>
                  </a:lnTo>
                  <a:lnTo>
                    <a:pt x="37" y="205"/>
                  </a:lnTo>
                  <a:lnTo>
                    <a:pt x="39" y="210"/>
                  </a:lnTo>
                  <a:lnTo>
                    <a:pt x="37" y="210"/>
                  </a:lnTo>
                  <a:lnTo>
                    <a:pt x="35" y="212"/>
                  </a:lnTo>
                  <a:lnTo>
                    <a:pt x="31" y="218"/>
                  </a:lnTo>
                  <a:lnTo>
                    <a:pt x="27" y="224"/>
                  </a:lnTo>
                  <a:lnTo>
                    <a:pt x="23" y="230"/>
                  </a:lnTo>
                  <a:lnTo>
                    <a:pt x="20" y="239"/>
                  </a:lnTo>
                  <a:lnTo>
                    <a:pt x="16" y="249"/>
                  </a:lnTo>
                  <a:lnTo>
                    <a:pt x="14" y="260"/>
                  </a:lnTo>
                  <a:lnTo>
                    <a:pt x="12" y="272"/>
                  </a:lnTo>
                  <a:lnTo>
                    <a:pt x="14" y="287"/>
                  </a:lnTo>
                  <a:lnTo>
                    <a:pt x="10" y="293"/>
                  </a:lnTo>
                  <a:lnTo>
                    <a:pt x="8" y="298"/>
                  </a:lnTo>
                  <a:lnTo>
                    <a:pt x="4" y="308"/>
                  </a:lnTo>
                  <a:lnTo>
                    <a:pt x="2" y="319"/>
                  </a:lnTo>
                  <a:lnTo>
                    <a:pt x="0" y="331"/>
                  </a:lnTo>
                  <a:lnTo>
                    <a:pt x="2" y="342"/>
                  </a:lnTo>
                  <a:lnTo>
                    <a:pt x="6" y="356"/>
                  </a:lnTo>
                  <a:lnTo>
                    <a:pt x="12" y="369"/>
                  </a:lnTo>
                  <a:lnTo>
                    <a:pt x="23" y="381"/>
                  </a:lnTo>
                  <a:lnTo>
                    <a:pt x="22" y="383"/>
                  </a:lnTo>
                  <a:lnTo>
                    <a:pt x="22" y="386"/>
                  </a:lnTo>
                  <a:lnTo>
                    <a:pt x="20" y="392"/>
                  </a:lnTo>
                  <a:lnTo>
                    <a:pt x="18" y="400"/>
                  </a:lnTo>
                  <a:lnTo>
                    <a:pt x="18" y="408"/>
                  </a:lnTo>
                  <a:lnTo>
                    <a:pt x="18" y="417"/>
                  </a:lnTo>
                  <a:lnTo>
                    <a:pt x="20" y="425"/>
                  </a:lnTo>
                  <a:lnTo>
                    <a:pt x="25" y="434"/>
                  </a:lnTo>
                  <a:lnTo>
                    <a:pt x="33" y="442"/>
                  </a:lnTo>
                  <a:lnTo>
                    <a:pt x="46" y="448"/>
                  </a:lnTo>
                </a:path>
              </a:pathLst>
            </a:custGeom>
            <a:solidFill>
              <a:srgbClr val="FF0000">
                <a:alpha val="30000"/>
              </a:srgbClr>
            </a:solidFill>
            <a:ln w="19050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5" name="TextBox 334"/>
            <p:cNvSpPr txBox="1"/>
            <p:nvPr/>
          </p:nvSpPr>
          <p:spPr>
            <a:xfrm>
              <a:off x="4939049" y="5257800"/>
              <a:ext cx="69442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</a:rPr>
                <a:t>bubble</a:t>
              </a:r>
            </a:p>
          </p:txBody>
        </p:sp>
      </p:grpSp>
      <p:sp>
        <p:nvSpPr>
          <p:cNvPr id="336" name="Line 214"/>
          <p:cNvSpPr>
            <a:spLocks noChangeShapeType="1"/>
          </p:cNvSpPr>
          <p:nvPr/>
        </p:nvSpPr>
        <p:spPr bwMode="auto">
          <a:xfrm>
            <a:off x="5591604" y="3652335"/>
            <a:ext cx="95013" cy="560127"/>
          </a:xfrm>
          <a:prstGeom prst="line">
            <a:avLst/>
          </a:prstGeom>
          <a:noFill/>
          <a:ln w="38100">
            <a:solidFill>
              <a:srgbClr val="00B050"/>
            </a:solidFill>
            <a:prstDash val="solid"/>
            <a:round/>
            <a:headEnd type="diamond" w="med" len="med"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>
              <a:latin typeface="Neo Sans Intel"/>
            </a:endParaRPr>
          </a:p>
        </p:txBody>
      </p:sp>
      <p:sp>
        <p:nvSpPr>
          <p:cNvPr id="337" name="Line 214"/>
          <p:cNvSpPr>
            <a:spLocks noChangeShapeType="1"/>
          </p:cNvSpPr>
          <p:nvPr/>
        </p:nvSpPr>
        <p:spPr bwMode="auto">
          <a:xfrm>
            <a:off x="5876787" y="3652335"/>
            <a:ext cx="233845" cy="1130636"/>
          </a:xfrm>
          <a:prstGeom prst="line">
            <a:avLst/>
          </a:prstGeom>
          <a:noFill/>
          <a:ln w="38100">
            <a:solidFill>
              <a:srgbClr val="00B050"/>
            </a:solidFill>
            <a:prstDash val="sysDash"/>
            <a:round/>
            <a:headEnd type="diamond" w="med" len="med"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>
              <a:latin typeface="Neo Sans Intel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8574264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6" grpId="0" animBg="1"/>
      <p:bldP spid="337" grpId="0" animBg="1"/>
    </p:bldLst>
  </p:timing>
  <p:extLst mod="1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762000"/>
          </a:xfrm>
        </p:spPr>
        <p:txBody>
          <a:bodyPr/>
          <a:lstStyle/>
          <a:p>
            <a:r>
              <a:rPr lang="en-US" dirty="0" smtClean="0">
                <a:solidFill>
                  <a:srgbClr val="0070C0"/>
                </a:solidFill>
              </a:rPr>
              <a:t>Hazard Detection (Stall) Logic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1" y="1295400"/>
            <a:ext cx="9144000" cy="4779963"/>
          </a:xfrm>
          <a:prstGeom prst="rect">
            <a:avLst/>
          </a:prstGeom>
        </p:spPr>
        <p:txBody>
          <a:bodyPr/>
          <a:lstStyle>
            <a:lvl1pPr marL="0" indent="0" algn="l" rtl="0" eaLnBrk="1" fontAlgn="base" hangingPunct="1">
              <a:spcBef>
                <a:spcPct val="75000"/>
              </a:spcBef>
              <a:spcAft>
                <a:spcPct val="0"/>
              </a:spcAft>
              <a:defRPr sz="2400" b="0" i="0">
                <a:solidFill>
                  <a:schemeClr val="tx1"/>
                </a:solidFill>
                <a:latin typeface="Neo Sans Intel"/>
                <a:ea typeface="+mn-ea"/>
                <a:cs typeface="Neo Sans Intel"/>
              </a:defRPr>
            </a:lvl1pPr>
            <a:lvl2pPr marL="185738" indent="-184150" algn="l" rtl="0" eaLnBrk="1" fontAlgn="base" hangingPunct="1">
              <a:spcBef>
                <a:spcPct val="40000"/>
              </a:spcBef>
              <a:spcAft>
                <a:spcPct val="0"/>
              </a:spcAft>
              <a:buClr>
                <a:schemeClr val="tx1"/>
              </a:buClr>
              <a:buFont typeface="Times" pitchFamily="18" charset="0"/>
              <a:buChar char="•"/>
              <a:defRPr sz="2200" b="0" i="0">
                <a:solidFill>
                  <a:schemeClr val="tx1"/>
                </a:solidFill>
                <a:latin typeface="Neo Sans Intel"/>
                <a:cs typeface="Neo Sans Intel"/>
              </a:defRPr>
            </a:lvl2pPr>
            <a:lvl3pPr marL="414338" indent="-2270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Neo Sans Intel" pitchFamily="34" charset="0"/>
              <a:buChar char="–"/>
              <a:defRPr sz="2000" b="0" i="0">
                <a:solidFill>
                  <a:schemeClr val="tx1"/>
                </a:solidFill>
                <a:latin typeface="Neo Sans Intel"/>
                <a:cs typeface="Neo Sans Intel"/>
              </a:defRPr>
            </a:lvl3pPr>
            <a:lvl4pPr marL="568325" indent="-1524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Neo Sans Intel" pitchFamily="34" charset="0"/>
              <a:buChar char="–"/>
              <a:defRPr sz="1800" b="0" i="0">
                <a:solidFill>
                  <a:schemeClr val="tx1"/>
                </a:solidFill>
                <a:latin typeface="Neo Sans Intel"/>
                <a:cs typeface="Neo Sans Intel"/>
              </a:defRPr>
            </a:lvl4pPr>
            <a:lvl5pPr marL="762000" indent="-19208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–"/>
              <a:defRPr sz="1800" b="0" i="0">
                <a:solidFill>
                  <a:schemeClr val="tx1"/>
                </a:solidFill>
                <a:latin typeface="Neo Sans Intel"/>
                <a:cs typeface="Neo Sans Intel"/>
              </a:defRPr>
            </a:lvl5pPr>
            <a:lvl6pPr marL="1219200" indent="-19208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+mn-lt"/>
                <a:cs typeface="+mn-cs"/>
              </a:defRPr>
            </a:lvl6pPr>
            <a:lvl7pPr marL="1676400" indent="-19208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+mn-lt"/>
                <a:cs typeface="+mn-cs"/>
              </a:defRPr>
            </a:lvl7pPr>
            <a:lvl8pPr marL="2133600" indent="-19208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+mn-lt"/>
                <a:cs typeface="+mn-cs"/>
              </a:defRPr>
            </a:lvl8pPr>
            <a:lvl9pPr marL="2590800" indent="-19208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230188" indent="-230188">
              <a:buFont typeface="Wingdings" pitchFamily="2" charset="2"/>
              <a:buNone/>
            </a:pPr>
            <a:r>
              <a:rPr lang="en-US" sz="14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if (ID/</a:t>
            </a:r>
            <a:r>
              <a:rPr lang="en-US" sz="1400" kern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EX.RegWrite</a:t>
            </a:r>
            <a:r>
              <a:rPr lang="en-US" sz="14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&amp;&amp; ID/</a:t>
            </a:r>
            <a:r>
              <a:rPr lang="en-US" sz="1400" kern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EX.opcode</a:t>
            </a:r>
            <a:r>
              <a:rPr lang="en-US" sz="14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== </a:t>
            </a:r>
            <a:r>
              <a:rPr lang="en-US" sz="1400" kern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lw</a:t>
            </a:r>
            <a:r>
              <a:rPr lang="en-US" sz="14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&amp;&amp;</a:t>
            </a:r>
            <a:br>
              <a:rPr lang="en-US" sz="14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4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(ID/</a:t>
            </a:r>
            <a:r>
              <a:rPr lang="en-US" sz="1400" kern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EX.WriteReg</a:t>
            </a:r>
            <a:r>
              <a:rPr lang="en-US" sz="14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== IF/ID.ReadReg1 || ID/</a:t>
            </a:r>
            <a:r>
              <a:rPr lang="en-US" sz="1400" kern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EX.WriteReg</a:t>
            </a:r>
            <a:r>
              <a:rPr lang="en-US" sz="14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== IF/ID.ReadReg2)</a:t>
            </a:r>
          </a:p>
          <a:p>
            <a:pPr marL="230188" indent="-230188">
              <a:buFont typeface="Wingdings" pitchFamily="2" charset="2"/>
              <a:buNone/>
            </a:pPr>
            <a:r>
              <a:rPr lang="en-US" sz="14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stall = 1</a:t>
            </a:r>
          </a:p>
          <a:p>
            <a:pPr marL="230188" indent="-230188">
              <a:buFont typeface="Wingdings" pitchFamily="2" charset="2"/>
              <a:buNone/>
            </a:pPr>
            <a:endParaRPr lang="en-US" sz="1800" kern="0" dirty="0" smtClean="0"/>
          </a:p>
        </p:txBody>
      </p:sp>
    </p:spTree>
    <p:extLst>
      <p:ext uri="{BB962C8B-B14F-4D97-AF65-F5344CB8AC3E}">
        <p14:creationId xmlns:p14="http://schemas.microsoft.com/office/powerpoint/2010/main" val="201706597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  <p:extLst mod="1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305800" cy="457200"/>
          </a:xfrm>
        </p:spPr>
        <p:txBody>
          <a:bodyPr/>
          <a:lstStyle/>
          <a:p>
            <a:r>
              <a:rPr lang="en-US" smtClean="0">
                <a:solidFill>
                  <a:srgbClr val="0070C0"/>
                </a:solidFill>
              </a:rPr>
              <a:t>Forwarding + Hazard Detection Unit</a:t>
            </a:r>
          </a:p>
        </p:txBody>
      </p:sp>
      <p:grpSp>
        <p:nvGrpSpPr>
          <p:cNvPr id="4" name="Group 207"/>
          <p:cNvGrpSpPr>
            <a:grpSpLocks/>
          </p:cNvGrpSpPr>
          <p:nvPr/>
        </p:nvGrpSpPr>
        <p:grpSpPr bwMode="auto">
          <a:xfrm>
            <a:off x="422276" y="838200"/>
            <a:ext cx="7669213" cy="5486400"/>
            <a:chOff x="266" y="624"/>
            <a:chExt cx="4831" cy="3456"/>
          </a:xfrm>
        </p:grpSpPr>
        <p:sp>
          <p:nvSpPr>
            <p:cNvPr id="5" name="Rectangle 151"/>
            <p:cNvSpPr>
              <a:spLocks noChangeArrowheads="1"/>
            </p:cNvSpPr>
            <p:nvPr/>
          </p:nvSpPr>
          <p:spPr bwMode="auto">
            <a:xfrm>
              <a:off x="277" y="2313"/>
              <a:ext cx="177" cy="384"/>
            </a:xfrm>
            <a:prstGeom prst="rect">
              <a:avLst/>
            </a:prstGeom>
            <a:solidFill>
              <a:srgbClr val="FFE6CD"/>
            </a:solidFill>
            <a:ln w="28575">
              <a:solidFill>
                <a:schemeClr val="tx1"/>
              </a:solidFill>
              <a:miter lim="800000"/>
              <a:headEnd type="none" w="sm" len="sm"/>
              <a:tailEnd type="none" w="med" len="lg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" name="Line 2"/>
            <p:cNvSpPr>
              <a:spLocks noChangeShapeType="1"/>
            </p:cNvSpPr>
            <p:nvPr/>
          </p:nvSpPr>
          <p:spPr bwMode="auto">
            <a:xfrm>
              <a:off x="1993" y="1459"/>
              <a:ext cx="469" cy="2"/>
            </a:xfrm>
            <a:prstGeom prst="line">
              <a:avLst/>
            </a:prstGeom>
            <a:noFill/>
            <a:ln w="15875">
              <a:solidFill>
                <a:srgbClr val="EB75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7" name="Freeform 4"/>
            <p:cNvSpPr>
              <a:spLocks/>
            </p:cNvSpPr>
            <p:nvPr/>
          </p:nvSpPr>
          <p:spPr bwMode="auto">
            <a:xfrm>
              <a:off x="3047" y="2982"/>
              <a:ext cx="30" cy="36"/>
            </a:xfrm>
            <a:custGeom>
              <a:avLst/>
              <a:gdLst>
                <a:gd name="T0" fmla="*/ 0 w 25"/>
                <a:gd name="T1" fmla="*/ 36 h 23"/>
                <a:gd name="T2" fmla="*/ 30 w 25"/>
                <a:gd name="T3" fmla="*/ 36 h 23"/>
                <a:gd name="T4" fmla="*/ 17 w 25"/>
                <a:gd name="T5" fmla="*/ 0 h 23"/>
                <a:gd name="T6" fmla="*/ 2 w 25"/>
                <a:gd name="T7" fmla="*/ 36 h 23"/>
                <a:gd name="T8" fmla="*/ 2 w 25"/>
                <a:gd name="T9" fmla="*/ 36 h 23"/>
                <a:gd name="T10" fmla="*/ 0 w 25"/>
                <a:gd name="T11" fmla="*/ 36 h 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"/>
                <a:gd name="T19" fmla="*/ 0 h 23"/>
                <a:gd name="T20" fmla="*/ 25 w 25"/>
                <a:gd name="T21" fmla="*/ 23 h 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" h="23">
                  <a:moveTo>
                    <a:pt x="0" y="23"/>
                  </a:moveTo>
                  <a:lnTo>
                    <a:pt x="25" y="23"/>
                  </a:lnTo>
                  <a:lnTo>
                    <a:pt x="14" y="0"/>
                  </a:lnTo>
                  <a:lnTo>
                    <a:pt x="2" y="23"/>
                  </a:lnTo>
                  <a:lnTo>
                    <a:pt x="0" y="23"/>
                  </a:lnTo>
                  <a:close/>
                </a:path>
              </a:pathLst>
            </a:custGeom>
            <a:solidFill>
              <a:srgbClr val="EB75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8" name="Freeform 5"/>
            <p:cNvSpPr>
              <a:spLocks/>
            </p:cNvSpPr>
            <p:nvPr/>
          </p:nvSpPr>
          <p:spPr bwMode="auto">
            <a:xfrm>
              <a:off x="3047" y="2398"/>
              <a:ext cx="30" cy="38"/>
            </a:xfrm>
            <a:custGeom>
              <a:avLst/>
              <a:gdLst>
                <a:gd name="T0" fmla="*/ 0 w 25"/>
                <a:gd name="T1" fmla="*/ 38 h 25"/>
                <a:gd name="T2" fmla="*/ 30 w 25"/>
                <a:gd name="T3" fmla="*/ 38 h 25"/>
                <a:gd name="T4" fmla="*/ 17 w 25"/>
                <a:gd name="T5" fmla="*/ 0 h 25"/>
                <a:gd name="T6" fmla="*/ 2 w 25"/>
                <a:gd name="T7" fmla="*/ 38 h 25"/>
                <a:gd name="T8" fmla="*/ 2 w 25"/>
                <a:gd name="T9" fmla="*/ 38 h 25"/>
                <a:gd name="T10" fmla="*/ 0 w 25"/>
                <a:gd name="T11" fmla="*/ 38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"/>
                <a:gd name="T19" fmla="*/ 0 h 25"/>
                <a:gd name="T20" fmla="*/ 25 w 25"/>
                <a:gd name="T21" fmla="*/ 25 h 2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" h="25">
                  <a:moveTo>
                    <a:pt x="0" y="25"/>
                  </a:moveTo>
                  <a:lnTo>
                    <a:pt x="25" y="25"/>
                  </a:lnTo>
                  <a:lnTo>
                    <a:pt x="14" y="0"/>
                  </a:lnTo>
                  <a:lnTo>
                    <a:pt x="2" y="25"/>
                  </a:lnTo>
                  <a:lnTo>
                    <a:pt x="0" y="25"/>
                  </a:lnTo>
                  <a:close/>
                </a:path>
              </a:pathLst>
            </a:custGeom>
            <a:solidFill>
              <a:srgbClr val="EB75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9" name="Freeform 6"/>
            <p:cNvSpPr>
              <a:spLocks/>
            </p:cNvSpPr>
            <p:nvPr/>
          </p:nvSpPr>
          <p:spPr bwMode="auto">
            <a:xfrm>
              <a:off x="3636" y="3759"/>
              <a:ext cx="29" cy="38"/>
            </a:xfrm>
            <a:custGeom>
              <a:avLst/>
              <a:gdLst>
                <a:gd name="T0" fmla="*/ 29 w 25"/>
                <a:gd name="T1" fmla="*/ 0 h 25"/>
                <a:gd name="T2" fmla="*/ 29 w 25"/>
                <a:gd name="T3" fmla="*/ 38 h 25"/>
                <a:gd name="T4" fmla="*/ 0 w 25"/>
                <a:gd name="T5" fmla="*/ 20 h 25"/>
                <a:gd name="T6" fmla="*/ 29 w 25"/>
                <a:gd name="T7" fmla="*/ 0 h 25"/>
                <a:gd name="T8" fmla="*/ 29 w 25"/>
                <a:gd name="T9" fmla="*/ 0 h 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"/>
                <a:gd name="T16" fmla="*/ 0 h 25"/>
                <a:gd name="T17" fmla="*/ 25 w 25"/>
                <a:gd name="T18" fmla="*/ 25 h 2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" h="25">
                  <a:moveTo>
                    <a:pt x="25" y="0"/>
                  </a:moveTo>
                  <a:lnTo>
                    <a:pt x="25" y="25"/>
                  </a:lnTo>
                  <a:lnTo>
                    <a:pt x="0" y="13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rgbClr val="EB75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0" name="Freeform 7"/>
            <p:cNvSpPr>
              <a:spLocks/>
            </p:cNvSpPr>
            <p:nvPr/>
          </p:nvSpPr>
          <p:spPr bwMode="auto">
            <a:xfrm>
              <a:off x="3663" y="1708"/>
              <a:ext cx="1117" cy="2071"/>
            </a:xfrm>
            <a:custGeom>
              <a:avLst/>
              <a:gdLst>
                <a:gd name="T0" fmla="*/ 1117 w 947"/>
                <a:gd name="T1" fmla="*/ 0 h 1357"/>
                <a:gd name="T2" fmla="*/ 1117 w 947"/>
                <a:gd name="T3" fmla="*/ 2071 h 1357"/>
                <a:gd name="T4" fmla="*/ 0 w 947"/>
                <a:gd name="T5" fmla="*/ 2071 h 1357"/>
                <a:gd name="T6" fmla="*/ 0 60000 65536"/>
                <a:gd name="T7" fmla="*/ 0 60000 65536"/>
                <a:gd name="T8" fmla="*/ 0 60000 65536"/>
                <a:gd name="T9" fmla="*/ 0 w 947"/>
                <a:gd name="T10" fmla="*/ 0 h 1357"/>
                <a:gd name="T11" fmla="*/ 947 w 947"/>
                <a:gd name="T12" fmla="*/ 1357 h 135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47" h="1357">
                  <a:moveTo>
                    <a:pt x="947" y="0"/>
                  </a:moveTo>
                  <a:lnTo>
                    <a:pt x="947" y="1357"/>
                  </a:lnTo>
                  <a:lnTo>
                    <a:pt x="0" y="1357"/>
                  </a:lnTo>
                </a:path>
              </a:pathLst>
            </a:custGeom>
            <a:noFill/>
            <a:ln w="9525">
              <a:solidFill>
                <a:srgbClr val="EB75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1" name="Line 8"/>
            <p:cNvSpPr>
              <a:spLocks noChangeShapeType="1"/>
            </p:cNvSpPr>
            <p:nvPr/>
          </p:nvSpPr>
          <p:spPr bwMode="auto">
            <a:xfrm>
              <a:off x="4650" y="1708"/>
              <a:ext cx="128" cy="3"/>
            </a:xfrm>
            <a:prstGeom prst="line">
              <a:avLst/>
            </a:prstGeom>
            <a:noFill/>
            <a:ln w="9525">
              <a:solidFill>
                <a:srgbClr val="EB75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2" name="Freeform 9"/>
            <p:cNvSpPr>
              <a:spLocks/>
            </p:cNvSpPr>
            <p:nvPr/>
          </p:nvSpPr>
          <p:spPr bwMode="auto">
            <a:xfrm>
              <a:off x="3670" y="1459"/>
              <a:ext cx="252" cy="2209"/>
            </a:xfrm>
            <a:custGeom>
              <a:avLst/>
              <a:gdLst>
                <a:gd name="T0" fmla="*/ 250 w 214"/>
                <a:gd name="T1" fmla="*/ 0 h 1447"/>
                <a:gd name="T2" fmla="*/ 252 w 214"/>
                <a:gd name="T3" fmla="*/ 2209 h 1447"/>
                <a:gd name="T4" fmla="*/ 0 w 214"/>
                <a:gd name="T5" fmla="*/ 2209 h 1447"/>
                <a:gd name="T6" fmla="*/ 0 60000 65536"/>
                <a:gd name="T7" fmla="*/ 0 60000 65536"/>
                <a:gd name="T8" fmla="*/ 0 60000 65536"/>
                <a:gd name="T9" fmla="*/ 0 w 214"/>
                <a:gd name="T10" fmla="*/ 0 h 1447"/>
                <a:gd name="T11" fmla="*/ 214 w 214"/>
                <a:gd name="T12" fmla="*/ 1447 h 144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4" h="1447">
                  <a:moveTo>
                    <a:pt x="212" y="0"/>
                  </a:moveTo>
                  <a:lnTo>
                    <a:pt x="214" y="1447"/>
                  </a:lnTo>
                  <a:lnTo>
                    <a:pt x="0" y="1447"/>
                  </a:lnTo>
                </a:path>
              </a:pathLst>
            </a:custGeom>
            <a:noFill/>
            <a:ln w="9525">
              <a:solidFill>
                <a:srgbClr val="EB75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3" name="Freeform 10"/>
            <p:cNvSpPr>
              <a:spLocks/>
            </p:cNvSpPr>
            <p:nvPr/>
          </p:nvSpPr>
          <p:spPr bwMode="auto">
            <a:xfrm>
              <a:off x="3061" y="3008"/>
              <a:ext cx="156" cy="576"/>
            </a:xfrm>
            <a:custGeom>
              <a:avLst/>
              <a:gdLst>
                <a:gd name="T0" fmla="*/ 0 w 132"/>
                <a:gd name="T1" fmla="*/ 0 h 377"/>
                <a:gd name="T2" fmla="*/ 2 w 132"/>
                <a:gd name="T3" fmla="*/ 79 h 377"/>
                <a:gd name="T4" fmla="*/ 84 w 132"/>
                <a:gd name="T5" fmla="*/ 79 h 377"/>
                <a:gd name="T6" fmla="*/ 84 w 132"/>
                <a:gd name="T7" fmla="*/ 576 h 377"/>
                <a:gd name="T8" fmla="*/ 156 w 132"/>
                <a:gd name="T9" fmla="*/ 576 h 37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2"/>
                <a:gd name="T16" fmla="*/ 0 h 377"/>
                <a:gd name="T17" fmla="*/ 132 w 132"/>
                <a:gd name="T18" fmla="*/ 377 h 37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2" h="377">
                  <a:moveTo>
                    <a:pt x="0" y="0"/>
                  </a:moveTo>
                  <a:lnTo>
                    <a:pt x="2" y="52"/>
                  </a:lnTo>
                  <a:lnTo>
                    <a:pt x="71" y="52"/>
                  </a:lnTo>
                  <a:lnTo>
                    <a:pt x="71" y="377"/>
                  </a:lnTo>
                  <a:lnTo>
                    <a:pt x="132" y="377"/>
                  </a:lnTo>
                </a:path>
              </a:pathLst>
            </a:custGeom>
            <a:noFill/>
            <a:ln w="9525">
              <a:solidFill>
                <a:srgbClr val="EB75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4" name="Freeform 11"/>
            <p:cNvSpPr>
              <a:spLocks/>
            </p:cNvSpPr>
            <p:nvPr/>
          </p:nvSpPr>
          <p:spPr bwMode="auto">
            <a:xfrm>
              <a:off x="3061" y="2424"/>
              <a:ext cx="183" cy="1105"/>
            </a:xfrm>
            <a:custGeom>
              <a:avLst/>
              <a:gdLst>
                <a:gd name="T0" fmla="*/ 0 w 155"/>
                <a:gd name="T1" fmla="*/ 0 h 724"/>
                <a:gd name="T2" fmla="*/ 2 w 155"/>
                <a:gd name="T3" fmla="*/ 79 h 724"/>
                <a:gd name="T4" fmla="*/ 119 w 155"/>
                <a:gd name="T5" fmla="*/ 79 h 724"/>
                <a:gd name="T6" fmla="*/ 119 w 155"/>
                <a:gd name="T7" fmla="*/ 1105 h 724"/>
                <a:gd name="T8" fmla="*/ 183 w 155"/>
                <a:gd name="T9" fmla="*/ 1105 h 7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5"/>
                <a:gd name="T16" fmla="*/ 0 h 724"/>
                <a:gd name="T17" fmla="*/ 155 w 155"/>
                <a:gd name="T18" fmla="*/ 724 h 72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5" h="724">
                  <a:moveTo>
                    <a:pt x="0" y="0"/>
                  </a:moveTo>
                  <a:lnTo>
                    <a:pt x="2" y="52"/>
                  </a:lnTo>
                  <a:lnTo>
                    <a:pt x="101" y="52"/>
                  </a:lnTo>
                  <a:lnTo>
                    <a:pt x="101" y="724"/>
                  </a:lnTo>
                  <a:lnTo>
                    <a:pt x="155" y="724"/>
                  </a:lnTo>
                </a:path>
              </a:pathLst>
            </a:custGeom>
            <a:noFill/>
            <a:ln w="9525">
              <a:solidFill>
                <a:srgbClr val="EB75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5" name="Freeform 12"/>
            <p:cNvSpPr>
              <a:spLocks/>
            </p:cNvSpPr>
            <p:nvPr/>
          </p:nvSpPr>
          <p:spPr bwMode="auto">
            <a:xfrm>
              <a:off x="2487" y="1586"/>
              <a:ext cx="115" cy="247"/>
            </a:xfrm>
            <a:custGeom>
              <a:avLst/>
              <a:gdLst>
                <a:gd name="T0" fmla="*/ 113 w 98"/>
                <a:gd name="T1" fmla="*/ 247 h 162"/>
                <a:gd name="T2" fmla="*/ 115 w 98"/>
                <a:gd name="T3" fmla="*/ 0 h 162"/>
                <a:gd name="T4" fmla="*/ 0 w 98"/>
                <a:gd name="T5" fmla="*/ 0 h 162"/>
                <a:gd name="T6" fmla="*/ 0 w 98"/>
                <a:gd name="T7" fmla="*/ 247 h 162"/>
                <a:gd name="T8" fmla="*/ 115 w 98"/>
                <a:gd name="T9" fmla="*/ 247 h 162"/>
                <a:gd name="T10" fmla="*/ 115 w 98"/>
                <a:gd name="T11" fmla="*/ 247 h 16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8"/>
                <a:gd name="T19" fmla="*/ 0 h 162"/>
                <a:gd name="T20" fmla="*/ 98 w 98"/>
                <a:gd name="T21" fmla="*/ 162 h 162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8" h="162">
                  <a:moveTo>
                    <a:pt x="96" y="162"/>
                  </a:moveTo>
                  <a:lnTo>
                    <a:pt x="98" y="0"/>
                  </a:lnTo>
                  <a:lnTo>
                    <a:pt x="0" y="0"/>
                  </a:lnTo>
                  <a:lnTo>
                    <a:pt x="0" y="162"/>
                  </a:lnTo>
                  <a:lnTo>
                    <a:pt x="98" y="162"/>
                  </a:lnTo>
                </a:path>
              </a:pathLst>
            </a:custGeom>
            <a:solidFill>
              <a:srgbClr val="FFE6CD"/>
            </a:solidFill>
            <a:ln w="28575" cap="flat" cmpd="sng">
              <a:solidFill>
                <a:srgbClr val="EB75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6" name="Freeform 13"/>
            <p:cNvSpPr>
              <a:spLocks/>
            </p:cNvSpPr>
            <p:nvPr/>
          </p:nvSpPr>
          <p:spPr bwMode="auto">
            <a:xfrm>
              <a:off x="1787" y="2471"/>
              <a:ext cx="28" cy="37"/>
            </a:xfrm>
            <a:custGeom>
              <a:avLst/>
              <a:gdLst>
                <a:gd name="T0" fmla="*/ 0 w 25"/>
                <a:gd name="T1" fmla="*/ 0 h 24"/>
                <a:gd name="T2" fmla="*/ 0 w 25"/>
                <a:gd name="T3" fmla="*/ 37 h 24"/>
                <a:gd name="T4" fmla="*/ 28 w 25"/>
                <a:gd name="T5" fmla="*/ 20 h 24"/>
                <a:gd name="T6" fmla="*/ 0 w 25"/>
                <a:gd name="T7" fmla="*/ 2 h 24"/>
                <a:gd name="T8" fmla="*/ 0 w 25"/>
                <a:gd name="T9" fmla="*/ 2 h 24"/>
                <a:gd name="T10" fmla="*/ 0 w 25"/>
                <a:gd name="T11" fmla="*/ 0 h 2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"/>
                <a:gd name="T19" fmla="*/ 0 h 24"/>
                <a:gd name="T20" fmla="*/ 25 w 25"/>
                <a:gd name="T21" fmla="*/ 24 h 2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" h="24">
                  <a:moveTo>
                    <a:pt x="0" y="0"/>
                  </a:moveTo>
                  <a:lnTo>
                    <a:pt x="0" y="24"/>
                  </a:lnTo>
                  <a:lnTo>
                    <a:pt x="25" y="13"/>
                  </a:ln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7" name="Freeform 14"/>
            <p:cNvSpPr>
              <a:spLocks/>
            </p:cNvSpPr>
            <p:nvPr/>
          </p:nvSpPr>
          <p:spPr bwMode="auto">
            <a:xfrm>
              <a:off x="549" y="2064"/>
              <a:ext cx="364" cy="868"/>
            </a:xfrm>
            <a:custGeom>
              <a:avLst/>
              <a:gdLst>
                <a:gd name="T0" fmla="*/ 364 w 308"/>
                <a:gd name="T1" fmla="*/ 868 h 569"/>
                <a:gd name="T2" fmla="*/ 364 w 308"/>
                <a:gd name="T3" fmla="*/ 0 h 569"/>
                <a:gd name="T4" fmla="*/ 0 w 308"/>
                <a:gd name="T5" fmla="*/ 0 h 569"/>
                <a:gd name="T6" fmla="*/ 0 w 308"/>
                <a:gd name="T7" fmla="*/ 868 h 569"/>
                <a:gd name="T8" fmla="*/ 364 w 308"/>
                <a:gd name="T9" fmla="*/ 868 h 569"/>
                <a:gd name="T10" fmla="*/ 364 w 308"/>
                <a:gd name="T11" fmla="*/ 868 h 56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08"/>
                <a:gd name="T19" fmla="*/ 0 h 569"/>
                <a:gd name="T20" fmla="*/ 308 w 308"/>
                <a:gd name="T21" fmla="*/ 569 h 56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08" h="569">
                  <a:moveTo>
                    <a:pt x="308" y="569"/>
                  </a:moveTo>
                  <a:lnTo>
                    <a:pt x="308" y="0"/>
                  </a:lnTo>
                  <a:lnTo>
                    <a:pt x="0" y="0"/>
                  </a:lnTo>
                  <a:lnTo>
                    <a:pt x="0" y="569"/>
                  </a:lnTo>
                  <a:lnTo>
                    <a:pt x="308" y="569"/>
                  </a:lnTo>
                </a:path>
              </a:pathLst>
            </a:custGeom>
            <a:solidFill>
              <a:srgbClr val="FFFFCC"/>
            </a:solidFill>
            <a:ln w="19050" cap="flat" cmpd="sng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8" name="Freeform 15"/>
            <p:cNvSpPr>
              <a:spLocks/>
            </p:cNvSpPr>
            <p:nvPr/>
          </p:nvSpPr>
          <p:spPr bwMode="auto">
            <a:xfrm>
              <a:off x="4072" y="2041"/>
              <a:ext cx="365" cy="871"/>
            </a:xfrm>
            <a:custGeom>
              <a:avLst/>
              <a:gdLst>
                <a:gd name="T0" fmla="*/ 365 w 309"/>
                <a:gd name="T1" fmla="*/ 868 h 571"/>
                <a:gd name="T2" fmla="*/ 365 w 309"/>
                <a:gd name="T3" fmla="*/ 0 h 571"/>
                <a:gd name="T4" fmla="*/ 0 w 309"/>
                <a:gd name="T5" fmla="*/ 0 h 571"/>
                <a:gd name="T6" fmla="*/ 0 w 309"/>
                <a:gd name="T7" fmla="*/ 871 h 571"/>
                <a:gd name="T8" fmla="*/ 365 w 309"/>
                <a:gd name="T9" fmla="*/ 871 h 571"/>
                <a:gd name="T10" fmla="*/ 365 w 309"/>
                <a:gd name="T11" fmla="*/ 871 h 57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09"/>
                <a:gd name="T19" fmla="*/ 0 h 571"/>
                <a:gd name="T20" fmla="*/ 309 w 309"/>
                <a:gd name="T21" fmla="*/ 571 h 57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09" h="571">
                  <a:moveTo>
                    <a:pt x="309" y="569"/>
                  </a:moveTo>
                  <a:lnTo>
                    <a:pt x="309" y="0"/>
                  </a:lnTo>
                  <a:lnTo>
                    <a:pt x="0" y="0"/>
                  </a:lnTo>
                  <a:lnTo>
                    <a:pt x="0" y="571"/>
                  </a:lnTo>
                  <a:lnTo>
                    <a:pt x="309" y="571"/>
                  </a:lnTo>
                </a:path>
              </a:pathLst>
            </a:custGeom>
            <a:solidFill>
              <a:srgbClr val="FFFFCC"/>
            </a:solidFill>
            <a:ln w="19050" cap="flat" cmpd="sng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9" name="Freeform 16"/>
            <p:cNvSpPr>
              <a:spLocks/>
            </p:cNvSpPr>
            <p:nvPr/>
          </p:nvSpPr>
          <p:spPr bwMode="auto">
            <a:xfrm>
              <a:off x="1787" y="2027"/>
              <a:ext cx="28" cy="37"/>
            </a:xfrm>
            <a:custGeom>
              <a:avLst/>
              <a:gdLst>
                <a:gd name="T0" fmla="*/ 0 w 25"/>
                <a:gd name="T1" fmla="*/ 0 h 24"/>
                <a:gd name="T2" fmla="*/ 0 w 25"/>
                <a:gd name="T3" fmla="*/ 37 h 24"/>
                <a:gd name="T4" fmla="*/ 28 w 25"/>
                <a:gd name="T5" fmla="*/ 20 h 24"/>
                <a:gd name="T6" fmla="*/ 0 w 25"/>
                <a:gd name="T7" fmla="*/ 3 h 24"/>
                <a:gd name="T8" fmla="*/ 0 w 25"/>
                <a:gd name="T9" fmla="*/ 3 h 24"/>
                <a:gd name="T10" fmla="*/ 0 w 25"/>
                <a:gd name="T11" fmla="*/ 0 h 2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"/>
                <a:gd name="T19" fmla="*/ 0 h 24"/>
                <a:gd name="T20" fmla="*/ 25 w 25"/>
                <a:gd name="T21" fmla="*/ 24 h 2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" h="24">
                  <a:moveTo>
                    <a:pt x="0" y="0"/>
                  </a:moveTo>
                  <a:lnTo>
                    <a:pt x="0" y="24"/>
                  </a:lnTo>
                  <a:lnTo>
                    <a:pt x="25" y="13"/>
                  </a:lnTo>
                  <a:lnTo>
                    <a:pt x="0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0" name="Freeform 17"/>
            <p:cNvSpPr>
              <a:spLocks/>
            </p:cNvSpPr>
            <p:nvPr/>
          </p:nvSpPr>
          <p:spPr bwMode="auto">
            <a:xfrm>
              <a:off x="1787" y="2692"/>
              <a:ext cx="28" cy="39"/>
            </a:xfrm>
            <a:custGeom>
              <a:avLst/>
              <a:gdLst>
                <a:gd name="T0" fmla="*/ 0 w 25"/>
                <a:gd name="T1" fmla="*/ 0 h 25"/>
                <a:gd name="T2" fmla="*/ 0 w 25"/>
                <a:gd name="T3" fmla="*/ 39 h 25"/>
                <a:gd name="T4" fmla="*/ 28 w 25"/>
                <a:gd name="T5" fmla="*/ 20 h 25"/>
                <a:gd name="T6" fmla="*/ 0 w 25"/>
                <a:gd name="T7" fmla="*/ 3 h 25"/>
                <a:gd name="T8" fmla="*/ 0 w 25"/>
                <a:gd name="T9" fmla="*/ 3 h 25"/>
                <a:gd name="T10" fmla="*/ 0 w 25"/>
                <a:gd name="T11" fmla="*/ 0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"/>
                <a:gd name="T19" fmla="*/ 0 h 25"/>
                <a:gd name="T20" fmla="*/ 25 w 25"/>
                <a:gd name="T21" fmla="*/ 25 h 2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" h="25">
                  <a:moveTo>
                    <a:pt x="0" y="0"/>
                  </a:moveTo>
                  <a:lnTo>
                    <a:pt x="0" y="25"/>
                  </a:lnTo>
                  <a:lnTo>
                    <a:pt x="25" y="13"/>
                  </a:lnTo>
                  <a:lnTo>
                    <a:pt x="0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1" name="Freeform 18"/>
            <p:cNvSpPr>
              <a:spLocks/>
            </p:cNvSpPr>
            <p:nvPr/>
          </p:nvSpPr>
          <p:spPr bwMode="auto">
            <a:xfrm>
              <a:off x="2975" y="2610"/>
              <a:ext cx="30" cy="38"/>
            </a:xfrm>
            <a:custGeom>
              <a:avLst/>
              <a:gdLst>
                <a:gd name="T0" fmla="*/ 0 w 25"/>
                <a:gd name="T1" fmla="*/ 0 h 25"/>
                <a:gd name="T2" fmla="*/ 0 w 25"/>
                <a:gd name="T3" fmla="*/ 38 h 25"/>
                <a:gd name="T4" fmla="*/ 30 w 25"/>
                <a:gd name="T5" fmla="*/ 18 h 25"/>
                <a:gd name="T6" fmla="*/ 0 w 25"/>
                <a:gd name="T7" fmla="*/ 0 h 25"/>
                <a:gd name="T8" fmla="*/ 0 w 25"/>
                <a:gd name="T9" fmla="*/ 0 h 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"/>
                <a:gd name="T16" fmla="*/ 0 h 25"/>
                <a:gd name="T17" fmla="*/ 25 w 25"/>
                <a:gd name="T18" fmla="*/ 25 h 2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" h="25">
                  <a:moveTo>
                    <a:pt x="0" y="0"/>
                  </a:moveTo>
                  <a:lnTo>
                    <a:pt x="0" y="25"/>
                  </a:lnTo>
                  <a:lnTo>
                    <a:pt x="25" y="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2" name="Freeform 19"/>
            <p:cNvSpPr>
              <a:spLocks/>
            </p:cNvSpPr>
            <p:nvPr/>
          </p:nvSpPr>
          <p:spPr bwMode="auto">
            <a:xfrm>
              <a:off x="2975" y="2747"/>
              <a:ext cx="30" cy="39"/>
            </a:xfrm>
            <a:custGeom>
              <a:avLst/>
              <a:gdLst>
                <a:gd name="T0" fmla="*/ 0 w 25"/>
                <a:gd name="T1" fmla="*/ 0 h 25"/>
                <a:gd name="T2" fmla="*/ 0 w 25"/>
                <a:gd name="T3" fmla="*/ 39 h 25"/>
                <a:gd name="T4" fmla="*/ 30 w 25"/>
                <a:gd name="T5" fmla="*/ 22 h 25"/>
                <a:gd name="T6" fmla="*/ 0 w 25"/>
                <a:gd name="T7" fmla="*/ 0 h 25"/>
                <a:gd name="T8" fmla="*/ 0 w 25"/>
                <a:gd name="T9" fmla="*/ 0 h 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"/>
                <a:gd name="T16" fmla="*/ 0 h 25"/>
                <a:gd name="T17" fmla="*/ 25 w 25"/>
                <a:gd name="T18" fmla="*/ 25 h 2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" h="25">
                  <a:moveTo>
                    <a:pt x="0" y="0"/>
                  </a:moveTo>
                  <a:lnTo>
                    <a:pt x="0" y="25"/>
                  </a:lnTo>
                  <a:lnTo>
                    <a:pt x="25" y="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3" name="Freeform 20"/>
            <p:cNvSpPr>
              <a:spLocks/>
            </p:cNvSpPr>
            <p:nvPr/>
          </p:nvSpPr>
          <p:spPr bwMode="auto">
            <a:xfrm>
              <a:off x="3276" y="2747"/>
              <a:ext cx="32" cy="39"/>
            </a:xfrm>
            <a:custGeom>
              <a:avLst/>
              <a:gdLst>
                <a:gd name="T0" fmla="*/ 0 w 27"/>
                <a:gd name="T1" fmla="*/ 0 h 25"/>
                <a:gd name="T2" fmla="*/ 2 w 27"/>
                <a:gd name="T3" fmla="*/ 39 h 25"/>
                <a:gd name="T4" fmla="*/ 32 w 27"/>
                <a:gd name="T5" fmla="*/ 22 h 25"/>
                <a:gd name="T6" fmla="*/ 2 w 27"/>
                <a:gd name="T7" fmla="*/ 0 h 25"/>
                <a:gd name="T8" fmla="*/ 2 w 27"/>
                <a:gd name="T9" fmla="*/ 0 h 25"/>
                <a:gd name="T10" fmla="*/ 0 w 27"/>
                <a:gd name="T11" fmla="*/ 0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7"/>
                <a:gd name="T19" fmla="*/ 0 h 25"/>
                <a:gd name="T20" fmla="*/ 27 w 27"/>
                <a:gd name="T21" fmla="*/ 25 h 2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7" h="25">
                  <a:moveTo>
                    <a:pt x="0" y="0"/>
                  </a:moveTo>
                  <a:lnTo>
                    <a:pt x="2" y="25"/>
                  </a:lnTo>
                  <a:lnTo>
                    <a:pt x="27" y="14"/>
                  </a:lnTo>
                  <a:lnTo>
                    <a:pt x="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4" name="Line 21"/>
            <p:cNvSpPr>
              <a:spLocks noChangeShapeType="1"/>
            </p:cNvSpPr>
            <p:nvPr/>
          </p:nvSpPr>
          <p:spPr bwMode="auto">
            <a:xfrm flipH="1">
              <a:off x="3117" y="2766"/>
              <a:ext cx="170" cy="3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5" name="Freeform 22"/>
            <p:cNvSpPr>
              <a:spLocks/>
            </p:cNvSpPr>
            <p:nvPr/>
          </p:nvSpPr>
          <p:spPr bwMode="auto">
            <a:xfrm>
              <a:off x="4894" y="2456"/>
              <a:ext cx="29" cy="38"/>
            </a:xfrm>
            <a:custGeom>
              <a:avLst/>
              <a:gdLst>
                <a:gd name="T0" fmla="*/ 0 w 25"/>
                <a:gd name="T1" fmla="*/ 0 h 25"/>
                <a:gd name="T2" fmla="*/ 0 w 25"/>
                <a:gd name="T3" fmla="*/ 38 h 25"/>
                <a:gd name="T4" fmla="*/ 29 w 25"/>
                <a:gd name="T5" fmla="*/ 20 h 25"/>
                <a:gd name="T6" fmla="*/ 0 w 25"/>
                <a:gd name="T7" fmla="*/ 3 h 25"/>
                <a:gd name="T8" fmla="*/ 0 w 25"/>
                <a:gd name="T9" fmla="*/ 3 h 25"/>
                <a:gd name="T10" fmla="*/ 0 w 25"/>
                <a:gd name="T11" fmla="*/ 0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"/>
                <a:gd name="T19" fmla="*/ 0 h 25"/>
                <a:gd name="T20" fmla="*/ 25 w 25"/>
                <a:gd name="T21" fmla="*/ 25 h 2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" h="25">
                  <a:moveTo>
                    <a:pt x="0" y="0"/>
                  </a:moveTo>
                  <a:lnTo>
                    <a:pt x="0" y="25"/>
                  </a:lnTo>
                  <a:lnTo>
                    <a:pt x="25" y="13"/>
                  </a:lnTo>
                  <a:lnTo>
                    <a:pt x="0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6" name="Freeform 23"/>
            <p:cNvSpPr>
              <a:spLocks/>
            </p:cNvSpPr>
            <p:nvPr/>
          </p:nvSpPr>
          <p:spPr bwMode="auto">
            <a:xfrm>
              <a:off x="4894" y="2734"/>
              <a:ext cx="29" cy="38"/>
            </a:xfrm>
            <a:custGeom>
              <a:avLst/>
              <a:gdLst>
                <a:gd name="T0" fmla="*/ 0 w 25"/>
                <a:gd name="T1" fmla="*/ 0 h 25"/>
                <a:gd name="T2" fmla="*/ 0 w 25"/>
                <a:gd name="T3" fmla="*/ 38 h 25"/>
                <a:gd name="T4" fmla="*/ 29 w 25"/>
                <a:gd name="T5" fmla="*/ 17 h 25"/>
                <a:gd name="T6" fmla="*/ 0 w 25"/>
                <a:gd name="T7" fmla="*/ 0 h 25"/>
                <a:gd name="T8" fmla="*/ 0 w 25"/>
                <a:gd name="T9" fmla="*/ 0 h 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"/>
                <a:gd name="T16" fmla="*/ 0 h 25"/>
                <a:gd name="T17" fmla="*/ 25 w 25"/>
                <a:gd name="T18" fmla="*/ 25 h 2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" h="25">
                  <a:moveTo>
                    <a:pt x="0" y="0"/>
                  </a:moveTo>
                  <a:lnTo>
                    <a:pt x="0" y="25"/>
                  </a:lnTo>
                  <a:lnTo>
                    <a:pt x="25" y="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7" name="Line 24"/>
            <p:cNvSpPr>
              <a:spLocks noChangeShapeType="1"/>
            </p:cNvSpPr>
            <p:nvPr/>
          </p:nvSpPr>
          <p:spPr bwMode="auto">
            <a:xfrm>
              <a:off x="461" y="2503"/>
              <a:ext cx="64" cy="3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8" name="Freeform 25"/>
            <p:cNvSpPr>
              <a:spLocks/>
            </p:cNvSpPr>
            <p:nvPr/>
          </p:nvSpPr>
          <p:spPr bwMode="auto">
            <a:xfrm>
              <a:off x="515" y="2485"/>
              <a:ext cx="30" cy="38"/>
            </a:xfrm>
            <a:custGeom>
              <a:avLst/>
              <a:gdLst>
                <a:gd name="T0" fmla="*/ 0 w 25"/>
                <a:gd name="T1" fmla="*/ 0 h 25"/>
                <a:gd name="T2" fmla="*/ 2 w 25"/>
                <a:gd name="T3" fmla="*/ 38 h 25"/>
                <a:gd name="T4" fmla="*/ 30 w 25"/>
                <a:gd name="T5" fmla="*/ 21 h 25"/>
                <a:gd name="T6" fmla="*/ 2 w 25"/>
                <a:gd name="T7" fmla="*/ 0 h 25"/>
                <a:gd name="T8" fmla="*/ 2 w 25"/>
                <a:gd name="T9" fmla="*/ 0 h 25"/>
                <a:gd name="T10" fmla="*/ 0 w 25"/>
                <a:gd name="T11" fmla="*/ 0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"/>
                <a:gd name="T19" fmla="*/ 0 h 25"/>
                <a:gd name="T20" fmla="*/ 25 w 25"/>
                <a:gd name="T21" fmla="*/ 25 h 2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" h="25">
                  <a:moveTo>
                    <a:pt x="0" y="0"/>
                  </a:moveTo>
                  <a:lnTo>
                    <a:pt x="2" y="25"/>
                  </a:lnTo>
                  <a:lnTo>
                    <a:pt x="25" y="14"/>
                  </a:lnTo>
                  <a:lnTo>
                    <a:pt x="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29" name="Freeform 26"/>
            <p:cNvSpPr>
              <a:spLocks/>
            </p:cNvSpPr>
            <p:nvPr/>
          </p:nvSpPr>
          <p:spPr bwMode="auto">
            <a:xfrm>
              <a:off x="1724" y="1439"/>
              <a:ext cx="29" cy="38"/>
            </a:xfrm>
            <a:custGeom>
              <a:avLst/>
              <a:gdLst>
                <a:gd name="T0" fmla="*/ 0 w 25"/>
                <a:gd name="T1" fmla="*/ 0 h 25"/>
                <a:gd name="T2" fmla="*/ 0 w 25"/>
                <a:gd name="T3" fmla="*/ 38 h 25"/>
                <a:gd name="T4" fmla="*/ 29 w 25"/>
                <a:gd name="T5" fmla="*/ 20 h 25"/>
                <a:gd name="T6" fmla="*/ 0 w 25"/>
                <a:gd name="T7" fmla="*/ 3 h 25"/>
                <a:gd name="T8" fmla="*/ 0 w 25"/>
                <a:gd name="T9" fmla="*/ 3 h 25"/>
                <a:gd name="T10" fmla="*/ 0 w 25"/>
                <a:gd name="T11" fmla="*/ 0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"/>
                <a:gd name="T19" fmla="*/ 0 h 25"/>
                <a:gd name="T20" fmla="*/ 25 w 25"/>
                <a:gd name="T21" fmla="*/ 25 h 2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" h="25">
                  <a:moveTo>
                    <a:pt x="0" y="0"/>
                  </a:moveTo>
                  <a:lnTo>
                    <a:pt x="0" y="25"/>
                  </a:lnTo>
                  <a:lnTo>
                    <a:pt x="25" y="13"/>
                  </a:lnTo>
                  <a:lnTo>
                    <a:pt x="0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0" name="Freeform 27"/>
            <p:cNvSpPr>
              <a:spLocks/>
            </p:cNvSpPr>
            <p:nvPr/>
          </p:nvSpPr>
          <p:spPr bwMode="auto">
            <a:xfrm>
              <a:off x="1787" y="2248"/>
              <a:ext cx="28" cy="38"/>
            </a:xfrm>
            <a:custGeom>
              <a:avLst/>
              <a:gdLst>
                <a:gd name="T0" fmla="*/ 0 w 25"/>
                <a:gd name="T1" fmla="*/ 0 h 25"/>
                <a:gd name="T2" fmla="*/ 0 w 25"/>
                <a:gd name="T3" fmla="*/ 38 h 25"/>
                <a:gd name="T4" fmla="*/ 28 w 25"/>
                <a:gd name="T5" fmla="*/ 20 h 25"/>
                <a:gd name="T6" fmla="*/ 0 w 25"/>
                <a:gd name="T7" fmla="*/ 3 h 25"/>
                <a:gd name="T8" fmla="*/ 0 w 25"/>
                <a:gd name="T9" fmla="*/ 3 h 25"/>
                <a:gd name="T10" fmla="*/ 0 w 25"/>
                <a:gd name="T11" fmla="*/ 0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"/>
                <a:gd name="T19" fmla="*/ 0 h 25"/>
                <a:gd name="T20" fmla="*/ 25 w 25"/>
                <a:gd name="T21" fmla="*/ 25 h 2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" h="25">
                  <a:moveTo>
                    <a:pt x="0" y="0"/>
                  </a:moveTo>
                  <a:lnTo>
                    <a:pt x="0" y="25"/>
                  </a:lnTo>
                  <a:lnTo>
                    <a:pt x="25" y="13"/>
                  </a:lnTo>
                  <a:lnTo>
                    <a:pt x="0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1" name="Freeform 28"/>
            <p:cNvSpPr>
              <a:spLocks/>
            </p:cNvSpPr>
            <p:nvPr/>
          </p:nvSpPr>
          <p:spPr bwMode="auto">
            <a:xfrm>
              <a:off x="1817" y="1944"/>
              <a:ext cx="430" cy="871"/>
            </a:xfrm>
            <a:custGeom>
              <a:avLst/>
              <a:gdLst>
                <a:gd name="T0" fmla="*/ 430 w 364"/>
                <a:gd name="T1" fmla="*/ 871 h 570"/>
                <a:gd name="T2" fmla="*/ 430 w 364"/>
                <a:gd name="T3" fmla="*/ 0 h 570"/>
                <a:gd name="T4" fmla="*/ 0 w 364"/>
                <a:gd name="T5" fmla="*/ 0 h 570"/>
                <a:gd name="T6" fmla="*/ 0 w 364"/>
                <a:gd name="T7" fmla="*/ 871 h 570"/>
                <a:gd name="T8" fmla="*/ 430 w 364"/>
                <a:gd name="T9" fmla="*/ 871 h 570"/>
                <a:gd name="T10" fmla="*/ 430 w 364"/>
                <a:gd name="T11" fmla="*/ 871 h 57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64"/>
                <a:gd name="T19" fmla="*/ 0 h 570"/>
                <a:gd name="T20" fmla="*/ 364 w 364"/>
                <a:gd name="T21" fmla="*/ 570 h 57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64" h="570">
                  <a:moveTo>
                    <a:pt x="364" y="570"/>
                  </a:moveTo>
                  <a:lnTo>
                    <a:pt x="364" y="0"/>
                  </a:lnTo>
                  <a:lnTo>
                    <a:pt x="0" y="0"/>
                  </a:lnTo>
                  <a:lnTo>
                    <a:pt x="0" y="570"/>
                  </a:lnTo>
                  <a:lnTo>
                    <a:pt x="364" y="570"/>
                  </a:lnTo>
                </a:path>
              </a:pathLst>
            </a:custGeom>
            <a:solidFill>
              <a:srgbClr val="CCFFFF"/>
            </a:solidFill>
            <a:ln w="190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2" name="Freeform 29"/>
            <p:cNvSpPr>
              <a:spLocks/>
            </p:cNvSpPr>
            <p:nvPr/>
          </p:nvSpPr>
          <p:spPr bwMode="auto">
            <a:xfrm>
              <a:off x="1497" y="2613"/>
              <a:ext cx="3600" cy="1389"/>
            </a:xfrm>
            <a:custGeom>
              <a:avLst/>
              <a:gdLst>
                <a:gd name="T0" fmla="*/ 299 w 3050"/>
                <a:gd name="T1" fmla="*/ 99 h 910"/>
                <a:gd name="T2" fmla="*/ 0 w 3050"/>
                <a:gd name="T3" fmla="*/ 99 h 910"/>
                <a:gd name="T4" fmla="*/ 0 w 3050"/>
                <a:gd name="T5" fmla="*/ 1389 h 910"/>
                <a:gd name="T6" fmla="*/ 3600 w 3050"/>
                <a:gd name="T7" fmla="*/ 1389 h 910"/>
                <a:gd name="T8" fmla="*/ 3600 w 3050"/>
                <a:gd name="T9" fmla="*/ 0 h 910"/>
                <a:gd name="T10" fmla="*/ 3537 w 3050"/>
                <a:gd name="T11" fmla="*/ 0 h 91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050"/>
                <a:gd name="T19" fmla="*/ 0 h 910"/>
                <a:gd name="T20" fmla="*/ 3050 w 3050"/>
                <a:gd name="T21" fmla="*/ 910 h 91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050" h="910">
                  <a:moveTo>
                    <a:pt x="253" y="65"/>
                  </a:moveTo>
                  <a:lnTo>
                    <a:pt x="0" y="65"/>
                  </a:lnTo>
                  <a:lnTo>
                    <a:pt x="0" y="910"/>
                  </a:lnTo>
                  <a:lnTo>
                    <a:pt x="3050" y="910"/>
                  </a:lnTo>
                  <a:lnTo>
                    <a:pt x="3050" y="0"/>
                  </a:lnTo>
                  <a:lnTo>
                    <a:pt x="2997" y="0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3" name="Line 30"/>
            <p:cNvSpPr>
              <a:spLocks noChangeShapeType="1"/>
            </p:cNvSpPr>
            <p:nvPr/>
          </p:nvSpPr>
          <p:spPr bwMode="auto">
            <a:xfrm flipH="1">
              <a:off x="1244" y="2047"/>
              <a:ext cx="552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4" name="Line 31"/>
            <p:cNvSpPr>
              <a:spLocks noChangeShapeType="1"/>
            </p:cNvSpPr>
            <p:nvPr/>
          </p:nvSpPr>
          <p:spPr bwMode="auto">
            <a:xfrm flipH="1">
              <a:off x="2922" y="2766"/>
              <a:ext cx="66" cy="3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5" name="Line 32"/>
            <p:cNvSpPr>
              <a:spLocks noChangeShapeType="1"/>
            </p:cNvSpPr>
            <p:nvPr/>
          </p:nvSpPr>
          <p:spPr bwMode="auto">
            <a:xfrm>
              <a:off x="1244" y="2268"/>
              <a:ext cx="554" cy="2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6" name="Freeform 33"/>
            <p:cNvSpPr>
              <a:spLocks/>
            </p:cNvSpPr>
            <p:nvPr/>
          </p:nvSpPr>
          <p:spPr bwMode="auto">
            <a:xfrm>
              <a:off x="2452" y="2610"/>
              <a:ext cx="29" cy="38"/>
            </a:xfrm>
            <a:custGeom>
              <a:avLst/>
              <a:gdLst>
                <a:gd name="T0" fmla="*/ 0 w 25"/>
                <a:gd name="T1" fmla="*/ 0 h 25"/>
                <a:gd name="T2" fmla="*/ 2 w 25"/>
                <a:gd name="T3" fmla="*/ 38 h 25"/>
                <a:gd name="T4" fmla="*/ 29 w 25"/>
                <a:gd name="T5" fmla="*/ 18 h 25"/>
                <a:gd name="T6" fmla="*/ 2 w 25"/>
                <a:gd name="T7" fmla="*/ 0 h 25"/>
                <a:gd name="T8" fmla="*/ 2 w 25"/>
                <a:gd name="T9" fmla="*/ 0 h 25"/>
                <a:gd name="T10" fmla="*/ 0 w 25"/>
                <a:gd name="T11" fmla="*/ 0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"/>
                <a:gd name="T19" fmla="*/ 0 h 25"/>
                <a:gd name="T20" fmla="*/ 25 w 25"/>
                <a:gd name="T21" fmla="*/ 25 h 2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" h="25">
                  <a:moveTo>
                    <a:pt x="0" y="0"/>
                  </a:moveTo>
                  <a:lnTo>
                    <a:pt x="2" y="25"/>
                  </a:lnTo>
                  <a:lnTo>
                    <a:pt x="25" y="12"/>
                  </a:lnTo>
                  <a:lnTo>
                    <a:pt x="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7" name="Line 34"/>
            <p:cNvSpPr>
              <a:spLocks noChangeShapeType="1"/>
            </p:cNvSpPr>
            <p:nvPr/>
          </p:nvSpPr>
          <p:spPr bwMode="auto">
            <a:xfrm flipH="1">
              <a:off x="2602" y="2628"/>
              <a:ext cx="386" cy="2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8" name="Line 35"/>
            <p:cNvSpPr>
              <a:spLocks noChangeShapeType="1"/>
            </p:cNvSpPr>
            <p:nvPr/>
          </p:nvSpPr>
          <p:spPr bwMode="auto">
            <a:xfrm flipH="1">
              <a:off x="2247" y="2628"/>
              <a:ext cx="212" cy="2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39" name="Freeform 36"/>
            <p:cNvSpPr>
              <a:spLocks/>
            </p:cNvSpPr>
            <p:nvPr/>
          </p:nvSpPr>
          <p:spPr bwMode="auto">
            <a:xfrm>
              <a:off x="3972" y="2459"/>
              <a:ext cx="29" cy="35"/>
            </a:xfrm>
            <a:custGeom>
              <a:avLst/>
              <a:gdLst>
                <a:gd name="T0" fmla="*/ 15 w 24"/>
                <a:gd name="T1" fmla="*/ 35 h 23"/>
                <a:gd name="T2" fmla="*/ 17 w 24"/>
                <a:gd name="T3" fmla="*/ 35 h 23"/>
                <a:gd name="T4" fmla="*/ 19 w 24"/>
                <a:gd name="T5" fmla="*/ 35 h 23"/>
                <a:gd name="T6" fmla="*/ 22 w 24"/>
                <a:gd name="T7" fmla="*/ 32 h 23"/>
                <a:gd name="T8" fmla="*/ 24 w 24"/>
                <a:gd name="T9" fmla="*/ 32 h 23"/>
                <a:gd name="T10" fmla="*/ 24 w 24"/>
                <a:gd name="T11" fmla="*/ 29 h 23"/>
                <a:gd name="T12" fmla="*/ 27 w 24"/>
                <a:gd name="T13" fmla="*/ 29 h 23"/>
                <a:gd name="T14" fmla="*/ 29 w 24"/>
                <a:gd name="T15" fmla="*/ 26 h 23"/>
                <a:gd name="T16" fmla="*/ 29 w 24"/>
                <a:gd name="T17" fmla="*/ 23 h 23"/>
                <a:gd name="T18" fmla="*/ 29 w 24"/>
                <a:gd name="T19" fmla="*/ 20 h 23"/>
                <a:gd name="T20" fmla="*/ 29 w 24"/>
                <a:gd name="T21" fmla="*/ 17 h 23"/>
                <a:gd name="T22" fmla="*/ 29 w 24"/>
                <a:gd name="T23" fmla="*/ 14 h 23"/>
                <a:gd name="T24" fmla="*/ 29 w 24"/>
                <a:gd name="T25" fmla="*/ 12 h 23"/>
                <a:gd name="T26" fmla="*/ 29 w 24"/>
                <a:gd name="T27" fmla="*/ 9 h 23"/>
                <a:gd name="T28" fmla="*/ 27 w 24"/>
                <a:gd name="T29" fmla="*/ 6 h 23"/>
                <a:gd name="T30" fmla="*/ 24 w 24"/>
                <a:gd name="T31" fmla="*/ 3 h 23"/>
                <a:gd name="T32" fmla="*/ 24 w 24"/>
                <a:gd name="T33" fmla="*/ 3 h 23"/>
                <a:gd name="T34" fmla="*/ 22 w 24"/>
                <a:gd name="T35" fmla="*/ 0 h 23"/>
                <a:gd name="T36" fmla="*/ 19 w 24"/>
                <a:gd name="T37" fmla="*/ 0 h 23"/>
                <a:gd name="T38" fmla="*/ 17 w 24"/>
                <a:gd name="T39" fmla="*/ 0 h 23"/>
                <a:gd name="T40" fmla="*/ 15 w 24"/>
                <a:gd name="T41" fmla="*/ 0 h 23"/>
                <a:gd name="T42" fmla="*/ 12 w 24"/>
                <a:gd name="T43" fmla="*/ 0 h 23"/>
                <a:gd name="T44" fmla="*/ 10 w 24"/>
                <a:gd name="T45" fmla="*/ 0 h 23"/>
                <a:gd name="T46" fmla="*/ 7 w 24"/>
                <a:gd name="T47" fmla="*/ 0 h 23"/>
                <a:gd name="T48" fmla="*/ 5 w 24"/>
                <a:gd name="T49" fmla="*/ 3 h 23"/>
                <a:gd name="T50" fmla="*/ 5 w 24"/>
                <a:gd name="T51" fmla="*/ 3 h 23"/>
                <a:gd name="T52" fmla="*/ 2 w 24"/>
                <a:gd name="T53" fmla="*/ 6 h 23"/>
                <a:gd name="T54" fmla="*/ 0 w 24"/>
                <a:gd name="T55" fmla="*/ 9 h 23"/>
                <a:gd name="T56" fmla="*/ 0 w 24"/>
                <a:gd name="T57" fmla="*/ 12 h 23"/>
                <a:gd name="T58" fmla="*/ 0 w 24"/>
                <a:gd name="T59" fmla="*/ 14 h 23"/>
                <a:gd name="T60" fmla="*/ 0 w 24"/>
                <a:gd name="T61" fmla="*/ 17 h 23"/>
                <a:gd name="T62" fmla="*/ 0 w 24"/>
                <a:gd name="T63" fmla="*/ 20 h 23"/>
                <a:gd name="T64" fmla="*/ 0 w 24"/>
                <a:gd name="T65" fmla="*/ 23 h 23"/>
                <a:gd name="T66" fmla="*/ 0 w 24"/>
                <a:gd name="T67" fmla="*/ 26 h 23"/>
                <a:gd name="T68" fmla="*/ 2 w 24"/>
                <a:gd name="T69" fmla="*/ 29 h 23"/>
                <a:gd name="T70" fmla="*/ 5 w 24"/>
                <a:gd name="T71" fmla="*/ 29 h 23"/>
                <a:gd name="T72" fmla="*/ 5 w 24"/>
                <a:gd name="T73" fmla="*/ 32 h 23"/>
                <a:gd name="T74" fmla="*/ 7 w 24"/>
                <a:gd name="T75" fmla="*/ 32 h 23"/>
                <a:gd name="T76" fmla="*/ 10 w 24"/>
                <a:gd name="T77" fmla="*/ 35 h 23"/>
                <a:gd name="T78" fmla="*/ 12 w 24"/>
                <a:gd name="T79" fmla="*/ 35 h 23"/>
                <a:gd name="T80" fmla="*/ 15 w 24"/>
                <a:gd name="T81" fmla="*/ 35 h 23"/>
                <a:gd name="T82" fmla="*/ 15 w 24"/>
                <a:gd name="T83" fmla="*/ 35 h 23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24"/>
                <a:gd name="T127" fmla="*/ 0 h 23"/>
                <a:gd name="T128" fmla="*/ 24 w 24"/>
                <a:gd name="T129" fmla="*/ 23 h 23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24" h="23">
                  <a:moveTo>
                    <a:pt x="12" y="23"/>
                  </a:moveTo>
                  <a:lnTo>
                    <a:pt x="14" y="23"/>
                  </a:lnTo>
                  <a:lnTo>
                    <a:pt x="16" y="23"/>
                  </a:lnTo>
                  <a:lnTo>
                    <a:pt x="18" y="21"/>
                  </a:lnTo>
                  <a:lnTo>
                    <a:pt x="20" y="21"/>
                  </a:lnTo>
                  <a:lnTo>
                    <a:pt x="20" y="19"/>
                  </a:lnTo>
                  <a:lnTo>
                    <a:pt x="22" y="19"/>
                  </a:lnTo>
                  <a:lnTo>
                    <a:pt x="24" y="17"/>
                  </a:lnTo>
                  <a:lnTo>
                    <a:pt x="24" y="15"/>
                  </a:lnTo>
                  <a:lnTo>
                    <a:pt x="24" y="13"/>
                  </a:lnTo>
                  <a:lnTo>
                    <a:pt x="24" y="11"/>
                  </a:lnTo>
                  <a:lnTo>
                    <a:pt x="24" y="9"/>
                  </a:lnTo>
                  <a:lnTo>
                    <a:pt x="24" y="8"/>
                  </a:lnTo>
                  <a:lnTo>
                    <a:pt x="24" y="6"/>
                  </a:lnTo>
                  <a:lnTo>
                    <a:pt x="22" y="4"/>
                  </a:lnTo>
                  <a:lnTo>
                    <a:pt x="20" y="2"/>
                  </a:lnTo>
                  <a:lnTo>
                    <a:pt x="18" y="0"/>
                  </a:lnTo>
                  <a:lnTo>
                    <a:pt x="16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8" y="0"/>
                  </a:lnTo>
                  <a:lnTo>
                    <a:pt x="6" y="0"/>
                  </a:lnTo>
                  <a:lnTo>
                    <a:pt x="4" y="2"/>
                  </a:lnTo>
                  <a:lnTo>
                    <a:pt x="2" y="4"/>
                  </a:lnTo>
                  <a:lnTo>
                    <a:pt x="0" y="6"/>
                  </a:lnTo>
                  <a:lnTo>
                    <a:pt x="0" y="8"/>
                  </a:lnTo>
                  <a:lnTo>
                    <a:pt x="0" y="9"/>
                  </a:lnTo>
                  <a:lnTo>
                    <a:pt x="0" y="11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0" y="17"/>
                  </a:lnTo>
                  <a:lnTo>
                    <a:pt x="2" y="19"/>
                  </a:lnTo>
                  <a:lnTo>
                    <a:pt x="4" y="19"/>
                  </a:lnTo>
                  <a:lnTo>
                    <a:pt x="4" y="21"/>
                  </a:lnTo>
                  <a:lnTo>
                    <a:pt x="6" y="21"/>
                  </a:lnTo>
                  <a:lnTo>
                    <a:pt x="8" y="23"/>
                  </a:lnTo>
                  <a:lnTo>
                    <a:pt x="10" y="23"/>
                  </a:lnTo>
                  <a:lnTo>
                    <a:pt x="12" y="2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0" name="Freeform 37"/>
            <p:cNvSpPr>
              <a:spLocks/>
            </p:cNvSpPr>
            <p:nvPr/>
          </p:nvSpPr>
          <p:spPr bwMode="auto">
            <a:xfrm>
              <a:off x="1757" y="1136"/>
              <a:ext cx="236" cy="648"/>
            </a:xfrm>
            <a:custGeom>
              <a:avLst/>
              <a:gdLst>
                <a:gd name="T0" fmla="*/ 118 w 200"/>
                <a:gd name="T1" fmla="*/ 648 h 425"/>
                <a:gd name="T2" fmla="*/ 136 w 200"/>
                <a:gd name="T3" fmla="*/ 645 h 425"/>
                <a:gd name="T4" fmla="*/ 155 w 200"/>
                <a:gd name="T5" fmla="*/ 633 h 425"/>
                <a:gd name="T6" fmla="*/ 172 w 200"/>
                <a:gd name="T7" fmla="*/ 613 h 425"/>
                <a:gd name="T8" fmla="*/ 189 w 200"/>
                <a:gd name="T9" fmla="*/ 585 h 425"/>
                <a:gd name="T10" fmla="*/ 202 w 200"/>
                <a:gd name="T11" fmla="*/ 553 h 425"/>
                <a:gd name="T12" fmla="*/ 214 w 200"/>
                <a:gd name="T13" fmla="*/ 517 h 425"/>
                <a:gd name="T14" fmla="*/ 222 w 200"/>
                <a:gd name="T15" fmla="*/ 473 h 425"/>
                <a:gd name="T16" fmla="*/ 231 w 200"/>
                <a:gd name="T17" fmla="*/ 425 h 425"/>
                <a:gd name="T18" fmla="*/ 236 w 200"/>
                <a:gd name="T19" fmla="*/ 377 h 425"/>
                <a:gd name="T20" fmla="*/ 236 w 200"/>
                <a:gd name="T21" fmla="*/ 323 h 425"/>
                <a:gd name="T22" fmla="*/ 236 w 200"/>
                <a:gd name="T23" fmla="*/ 271 h 425"/>
                <a:gd name="T24" fmla="*/ 231 w 200"/>
                <a:gd name="T25" fmla="*/ 221 h 425"/>
                <a:gd name="T26" fmla="*/ 222 w 200"/>
                <a:gd name="T27" fmla="*/ 175 h 425"/>
                <a:gd name="T28" fmla="*/ 214 w 200"/>
                <a:gd name="T29" fmla="*/ 134 h 425"/>
                <a:gd name="T30" fmla="*/ 202 w 200"/>
                <a:gd name="T31" fmla="*/ 96 h 425"/>
                <a:gd name="T32" fmla="*/ 189 w 200"/>
                <a:gd name="T33" fmla="*/ 64 h 425"/>
                <a:gd name="T34" fmla="*/ 172 w 200"/>
                <a:gd name="T35" fmla="*/ 38 h 425"/>
                <a:gd name="T36" fmla="*/ 155 w 200"/>
                <a:gd name="T37" fmla="*/ 17 h 425"/>
                <a:gd name="T38" fmla="*/ 136 w 200"/>
                <a:gd name="T39" fmla="*/ 6 h 425"/>
                <a:gd name="T40" fmla="*/ 118 w 200"/>
                <a:gd name="T41" fmla="*/ 0 h 425"/>
                <a:gd name="T42" fmla="*/ 98 w 200"/>
                <a:gd name="T43" fmla="*/ 6 h 425"/>
                <a:gd name="T44" fmla="*/ 80 w 200"/>
                <a:gd name="T45" fmla="*/ 17 h 425"/>
                <a:gd name="T46" fmla="*/ 64 w 200"/>
                <a:gd name="T47" fmla="*/ 38 h 425"/>
                <a:gd name="T48" fmla="*/ 48 w 200"/>
                <a:gd name="T49" fmla="*/ 64 h 425"/>
                <a:gd name="T50" fmla="*/ 34 w 200"/>
                <a:gd name="T51" fmla="*/ 96 h 425"/>
                <a:gd name="T52" fmla="*/ 24 w 200"/>
                <a:gd name="T53" fmla="*/ 134 h 425"/>
                <a:gd name="T54" fmla="*/ 14 w 200"/>
                <a:gd name="T55" fmla="*/ 175 h 425"/>
                <a:gd name="T56" fmla="*/ 5 w 200"/>
                <a:gd name="T57" fmla="*/ 221 h 425"/>
                <a:gd name="T58" fmla="*/ 0 w 200"/>
                <a:gd name="T59" fmla="*/ 271 h 425"/>
                <a:gd name="T60" fmla="*/ 0 w 200"/>
                <a:gd name="T61" fmla="*/ 323 h 425"/>
                <a:gd name="T62" fmla="*/ 0 w 200"/>
                <a:gd name="T63" fmla="*/ 377 h 425"/>
                <a:gd name="T64" fmla="*/ 5 w 200"/>
                <a:gd name="T65" fmla="*/ 425 h 425"/>
                <a:gd name="T66" fmla="*/ 14 w 200"/>
                <a:gd name="T67" fmla="*/ 473 h 425"/>
                <a:gd name="T68" fmla="*/ 24 w 200"/>
                <a:gd name="T69" fmla="*/ 517 h 425"/>
                <a:gd name="T70" fmla="*/ 34 w 200"/>
                <a:gd name="T71" fmla="*/ 553 h 425"/>
                <a:gd name="T72" fmla="*/ 48 w 200"/>
                <a:gd name="T73" fmla="*/ 585 h 425"/>
                <a:gd name="T74" fmla="*/ 64 w 200"/>
                <a:gd name="T75" fmla="*/ 613 h 425"/>
                <a:gd name="T76" fmla="*/ 80 w 200"/>
                <a:gd name="T77" fmla="*/ 633 h 425"/>
                <a:gd name="T78" fmla="*/ 98 w 200"/>
                <a:gd name="T79" fmla="*/ 645 h 425"/>
                <a:gd name="T80" fmla="*/ 118 w 200"/>
                <a:gd name="T81" fmla="*/ 648 h 425"/>
                <a:gd name="T82" fmla="*/ 118 w 200"/>
                <a:gd name="T83" fmla="*/ 648 h 425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200"/>
                <a:gd name="T127" fmla="*/ 0 h 425"/>
                <a:gd name="T128" fmla="*/ 200 w 200"/>
                <a:gd name="T129" fmla="*/ 425 h 425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200" h="425">
                  <a:moveTo>
                    <a:pt x="100" y="425"/>
                  </a:moveTo>
                  <a:lnTo>
                    <a:pt x="115" y="423"/>
                  </a:lnTo>
                  <a:lnTo>
                    <a:pt x="131" y="415"/>
                  </a:lnTo>
                  <a:lnTo>
                    <a:pt x="146" y="402"/>
                  </a:lnTo>
                  <a:lnTo>
                    <a:pt x="160" y="384"/>
                  </a:lnTo>
                  <a:lnTo>
                    <a:pt x="171" y="363"/>
                  </a:lnTo>
                  <a:lnTo>
                    <a:pt x="181" y="339"/>
                  </a:lnTo>
                  <a:lnTo>
                    <a:pt x="188" y="310"/>
                  </a:lnTo>
                  <a:lnTo>
                    <a:pt x="196" y="279"/>
                  </a:lnTo>
                  <a:lnTo>
                    <a:pt x="200" y="247"/>
                  </a:lnTo>
                  <a:lnTo>
                    <a:pt x="200" y="212"/>
                  </a:lnTo>
                  <a:lnTo>
                    <a:pt x="200" y="178"/>
                  </a:lnTo>
                  <a:lnTo>
                    <a:pt x="196" y="145"/>
                  </a:lnTo>
                  <a:lnTo>
                    <a:pt x="188" y="115"/>
                  </a:lnTo>
                  <a:lnTo>
                    <a:pt x="181" y="88"/>
                  </a:lnTo>
                  <a:lnTo>
                    <a:pt x="171" y="63"/>
                  </a:lnTo>
                  <a:lnTo>
                    <a:pt x="160" y="42"/>
                  </a:lnTo>
                  <a:lnTo>
                    <a:pt x="146" y="25"/>
                  </a:lnTo>
                  <a:lnTo>
                    <a:pt x="131" y="11"/>
                  </a:lnTo>
                  <a:lnTo>
                    <a:pt x="115" y="4"/>
                  </a:lnTo>
                  <a:lnTo>
                    <a:pt x="100" y="0"/>
                  </a:lnTo>
                  <a:lnTo>
                    <a:pt x="83" y="4"/>
                  </a:lnTo>
                  <a:lnTo>
                    <a:pt x="68" y="11"/>
                  </a:lnTo>
                  <a:lnTo>
                    <a:pt x="54" y="25"/>
                  </a:lnTo>
                  <a:lnTo>
                    <a:pt x="41" y="42"/>
                  </a:lnTo>
                  <a:lnTo>
                    <a:pt x="29" y="63"/>
                  </a:lnTo>
                  <a:lnTo>
                    <a:pt x="20" y="88"/>
                  </a:lnTo>
                  <a:lnTo>
                    <a:pt x="12" y="115"/>
                  </a:lnTo>
                  <a:lnTo>
                    <a:pt x="4" y="145"/>
                  </a:lnTo>
                  <a:lnTo>
                    <a:pt x="0" y="178"/>
                  </a:lnTo>
                  <a:lnTo>
                    <a:pt x="0" y="212"/>
                  </a:lnTo>
                  <a:lnTo>
                    <a:pt x="0" y="247"/>
                  </a:lnTo>
                  <a:lnTo>
                    <a:pt x="4" y="279"/>
                  </a:lnTo>
                  <a:lnTo>
                    <a:pt x="12" y="310"/>
                  </a:lnTo>
                  <a:lnTo>
                    <a:pt x="20" y="339"/>
                  </a:lnTo>
                  <a:lnTo>
                    <a:pt x="29" y="363"/>
                  </a:lnTo>
                  <a:lnTo>
                    <a:pt x="41" y="384"/>
                  </a:lnTo>
                  <a:lnTo>
                    <a:pt x="54" y="402"/>
                  </a:lnTo>
                  <a:lnTo>
                    <a:pt x="68" y="415"/>
                  </a:lnTo>
                  <a:lnTo>
                    <a:pt x="83" y="423"/>
                  </a:lnTo>
                  <a:lnTo>
                    <a:pt x="100" y="425"/>
                  </a:lnTo>
                </a:path>
              </a:pathLst>
            </a:custGeom>
            <a:solidFill>
              <a:srgbClr val="FFE6CD"/>
            </a:solidFill>
            <a:ln w="28575" cap="flat" cmpd="sng">
              <a:solidFill>
                <a:srgbClr val="EB75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1" name="Rectangle 38"/>
            <p:cNvSpPr>
              <a:spLocks noChangeArrowheads="1"/>
            </p:cNvSpPr>
            <p:nvPr/>
          </p:nvSpPr>
          <p:spPr bwMode="auto">
            <a:xfrm rot="16200000" flipH="1">
              <a:off x="1721" y="1402"/>
              <a:ext cx="299" cy="1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>
                  <a:solidFill>
                    <a:srgbClr val="EB7500"/>
                  </a:solidFill>
                  <a:latin typeface="+mj-lt"/>
                </a:rPr>
                <a:t>Control</a:t>
              </a:r>
              <a:endParaRPr lang="en-US" sz="1200">
                <a:latin typeface="+mj-lt"/>
              </a:endParaRPr>
            </a:p>
          </p:txBody>
        </p:sp>
        <p:sp>
          <p:nvSpPr>
            <p:cNvPr id="42" name="Freeform 39"/>
            <p:cNvSpPr>
              <a:spLocks/>
            </p:cNvSpPr>
            <p:nvPr/>
          </p:nvSpPr>
          <p:spPr bwMode="auto">
            <a:xfrm>
              <a:off x="999" y="1833"/>
              <a:ext cx="116" cy="1725"/>
            </a:xfrm>
            <a:custGeom>
              <a:avLst/>
              <a:gdLst>
                <a:gd name="T0" fmla="*/ 114 w 98"/>
                <a:gd name="T1" fmla="*/ 1722 h 1130"/>
                <a:gd name="T2" fmla="*/ 116 w 98"/>
                <a:gd name="T3" fmla="*/ 0 h 1130"/>
                <a:gd name="T4" fmla="*/ 0 w 98"/>
                <a:gd name="T5" fmla="*/ 0 h 1130"/>
                <a:gd name="T6" fmla="*/ 0 w 98"/>
                <a:gd name="T7" fmla="*/ 1725 h 1130"/>
                <a:gd name="T8" fmla="*/ 116 w 98"/>
                <a:gd name="T9" fmla="*/ 1725 h 1130"/>
                <a:gd name="T10" fmla="*/ 116 w 98"/>
                <a:gd name="T11" fmla="*/ 1725 h 113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8"/>
                <a:gd name="T19" fmla="*/ 0 h 1130"/>
                <a:gd name="T20" fmla="*/ 98 w 98"/>
                <a:gd name="T21" fmla="*/ 1130 h 113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8" h="1130">
                  <a:moveTo>
                    <a:pt x="96" y="1128"/>
                  </a:moveTo>
                  <a:lnTo>
                    <a:pt x="98" y="0"/>
                  </a:lnTo>
                  <a:lnTo>
                    <a:pt x="0" y="0"/>
                  </a:lnTo>
                  <a:lnTo>
                    <a:pt x="0" y="1130"/>
                  </a:lnTo>
                  <a:lnTo>
                    <a:pt x="98" y="1130"/>
                  </a:lnTo>
                </a:path>
              </a:pathLst>
            </a:custGeom>
            <a:solidFill>
              <a:srgbClr val="CCECFF"/>
            </a:solidFill>
            <a:ln w="285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3" name="Freeform 40"/>
            <p:cNvSpPr>
              <a:spLocks/>
            </p:cNvSpPr>
            <p:nvPr/>
          </p:nvSpPr>
          <p:spPr bwMode="auto">
            <a:xfrm>
              <a:off x="2909" y="2747"/>
              <a:ext cx="29" cy="39"/>
            </a:xfrm>
            <a:custGeom>
              <a:avLst/>
              <a:gdLst>
                <a:gd name="T0" fmla="*/ 14 w 25"/>
                <a:gd name="T1" fmla="*/ 39 h 25"/>
                <a:gd name="T2" fmla="*/ 16 w 25"/>
                <a:gd name="T3" fmla="*/ 39 h 25"/>
                <a:gd name="T4" fmla="*/ 19 w 25"/>
                <a:gd name="T5" fmla="*/ 39 h 25"/>
                <a:gd name="T6" fmla="*/ 21 w 25"/>
                <a:gd name="T7" fmla="*/ 36 h 25"/>
                <a:gd name="T8" fmla="*/ 23 w 25"/>
                <a:gd name="T9" fmla="*/ 36 h 25"/>
                <a:gd name="T10" fmla="*/ 24 w 25"/>
                <a:gd name="T11" fmla="*/ 34 h 25"/>
                <a:gd name="T12" fmla="*/ 24 w 25"/>
                <a:gd name="T13" fmla="*/ 31 h 25"/>
                <a:gd name="T14" fmla="*/ 27 w 25"/>
                <a:gd name="T15" fmla="*/ 31 h 25"/>
                <a:gd name="T16" fmla="*/ 27 w 25"/>
                <a:gd name="T17" fmla="*/ 28 h 25"/>
                <a:gd name="T18" fmla="*/ 29 w 25"/>
                <a:gd name="T19" fmla="*/ 25 h 25"/>
                <a:gd name="T20" fmla="*/ 29 w 25"/>
                <a:gd name="T21" fmla="*/ 22 h 25"/>
                <a:gd name="T22" fmla="*/ 29 w 25"/>
                <a:gd name="T23" fmla="*/ 19 h 25"/>
                <a:gd name="T24" fmla="*/ 27 w 25"/>
                <a:gd name="T25" fmla="*/ 16 h 25"/>
                <a:gd name="T26" fmla="*/ 27 w 25"/>
                <a:gd name="T27" fmla="*/ 12 h 25"/>
                <a:gd name="T28" fmla="*/ 24 w 25"/>
                <a:gd name="T29" fmla="*/ 9 h 25"/>
                <a:gd name="T30" fmla="*/ 24 w 25"/>
                <a:gd name="T31" fmla="*/ 6 h 25"/>
                <a:gd name="T32" fmla="*/ 23 w 25"/>
                <a:gd name="T33" fmla="*/ 6 h 25"/>
                <a:gd name="T34" fmla="*/ 21 w 25"/>
                <a:gd name="T35" fmla="*/ 3 h 25"/>
                <a:gd name="T36" fmla="*/ 19 w 25"/>
                <a:gd name="T37" fmla="*/ 3 h 25"/>
                <a:gd name="T38" fmla="*/ 16 w 25"/>
                <a:gd name="T39" fmla="*/ 0 h 25"/>
                <a:gd name="T40" fmla="*/ 14 w 25"/>
                <a:gd name="T41" fmla="*/ 0 h 25"/>
                <a:gd name="T42" fmla="*/ 12 w 25"/>
                <a:gd name="T43" fmla="*/ 0 h 25"/>
                <a:gd name="T44" fmla="*/ 9 w 25"/>
                <a:gd name="T45" fmla="*/ 3 h 25"/>
                <a:gd name="T46" fmla="*/ 7 w 25"/>
                <a:gd name="T47" fmla="*/ 3 h 25"/>
                <a:gd name="T48" fmla="*/ 7 w 25"/>
                <a:gd name="T49" fmla="*/ 6 h 25"/>
                <a:gd name="T50" fmla="*/ 5 w 25"/>
                <a:gd name="T51" fmla="*/ 6 h 25"/>
                <a:gd name="T52" fmla="*/ 2 w 25"/>
                <a:gd name="T53" fmla="*/ 9 h 25"/>
                <a:gd name="T54" fmla="*/ 2 w 25"/>
                <a:gd name="T55" fmla="*/ 12 h 25"/>
                <a:gd name="T56" fmla="*/ 0 w 25"/>
                <a:gd name="T57" fmla="*/ 16 h 25"/>
                <a:gd name="T58" fmla="*/ 0 w 25"/>
                <a:gd name="T59" fmla="*/ 19 h 25"/>
                <a:gd name="T60" fmla="*/ 0 w 25"/>
                <a:gd name="T61" fmla="*/ 22 h 25"/>
                <a:gd name="T62" fmla="*/ 0 w 25"/>
                <a:gd name="T63" fmla="*/ 25 h 25"/>
                <a:gd name="T64" fmla="*/ 0 w 25"/>
                <a:gd name="T65" fmla="*/ 28 h 25"/>
                <a:gd name="T66" fmla="*/ 2 w 25"/>
                <a:gd name="T67" fmla="*/ 31 h 25"/>
                <a:gd name="T68" fmla="*/ 2 w 25"/>
                <a:gd name="T69" fmla="*/ 31 h 25"/>
                <a:gd name="T70" fmla="*/ 5 w 25"/>
                <a:gd name="T71" fmla="*/ 34 h 25"/>
                <a:gd name="T72" fmla="*/ 7 w 25"/>
                <a:gd name="T73" fmla="*/ 36 h 25"/>
                <a:gd name="T74" fmla="*/ 7 w 25"/>
                <a:gd name="T75" fmla="*/ 36 h 25"/>
                <a:gd name="T76" fmla="*/ 9 w 25"/>
                <a:gd name="T77" fmla="*/ 39 h 25"/>
                <a:gd name="T78" fmla="*/ 12 w 25"/>
                <a:gd name="T79" fmla="*/ 39 h 25"/>
                <a:gd name="T80" fmla="*/ 14 w 25"/>
                <a:gd name="T81" fmla="*/ 39 h 25"/>
                <a:gd name="T82" fmla="*/ 14 w 25"/>
                <a:gd name="T83" fmla="*/ 39 h 25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25"/>
                <a:gd name="T127" fmla="*/ 0 h 25"/>
                <a:gd name="T128" fmla="*/ 25 w 25"/>
                <a:gd name="T129" fmla="*/ 25 h 25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25" h="25">
                  <a:moveTo>
                    <a:pt x="12" y="25"/>
                  </a:moveTo>
                  <a:lnTo>
                    <a:pt x="14" y="25"/>
                  </a:lnTo>
                  <a:lnTo>
                    <a:pt x="16" y="25"/>
                  </a:lnTo>
                  <a:lnTo>
                    <a:pt x="18" y="23"/>
                  </a:lnTo>
                  <a:lnTo>
                    <a:pt x="20" y="23"/>
                  </a:lnTo>
                  <a:lnTo>
                    <a:pt x="21" y="22"/>
                  </a:lnTo>
                  <a:lnTo>
                    <a:pt x="21" y="20"/>
                  </a:lnTo>
                  <a:lnTo>
                    <a:pt x="23" y="20"/>
                  </a:lnTo>
                  <a:lnTo>
                    <a:pt x="23" y="18"/>
                  </a:lnTo>
                  <a:lnTo>
                    <a:pt x="25" y="16"/>
                  </a:lnTo>
                  <a:lnTo>
                    <a:pt x="25" y="14"/>
                  </a:lnTo>
                  <a:lnTo>
                    <a:pt x="25" y="12"/>
                  </a:lnTo>
                  <a:lnTo>
                    <a:pt x="23" y="10"/>
                  </a:lnTo>
                  <a:lnTo>
                    <a:pt x="23" y="8"/>
                  </a:lnTo>
                  <a:lnTo>
                    <a:pt x="21" y="6"/>
                  </a:lnTo>
                  <a:lnTo>
                    <a:pt x="21" y="4"/>
                  </a:lnTo>
                  <a:lnTo>
                    <a:pt x="20" y="4"/>
                  </a:lnTo>
                  <a:lnTo>
                    <a:pt x="18" y="2"/>
                  </a:lnTo>
                  <a:lnTo>
                    <a:pt x="16" y="2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8" y="2"/>
                  </a:lnTo>
                  <a:lnTo>
                    <a:pt x="6" y="2"/>
                  </a:lnTo>
                  <a:lnTo>
                    <a:pt x="6" y="4"/>
                  </a:lnTo>
                  <a:lnTo>
                    <a:pt x="4" y="4"/>
                  </a:lnTo>
                  <a:lnTo>
                    <a:pt x="2" y="6"/>
                  </a:lnTo>
                  <a:lnTo>
                    <a:pt x="2" y="8"/>
                  </a:lnTo>
                  <a:lnTo>
                    <a:pt x="0" y="10"/>
                  </a:lnTo>
                  <a:lnTo>
                    <a:pt x="0" y="12"/>
                  </a:lnTo>
                  <a:lnTo>
                    <a:pt x="0" y="14"/>
                  </a:lnTo>
                  <a:lnTo>
                    <a:pt x="0" y="16"/>
                  </a:lnTo>
                  <a:lnTo>
                    <a:pt x="0" y="18"/>
                  </a:lnTo>
                  <a:lnTo>
                    <a:pt x="2" y="20"/>
                  </a:lnTo>
                  <a:lnTo>
                    <a:pt x="4" y="22"/>
                  </a:lnTo>
                  <a:lnTo>
                    <a:pt x="6" y="23"/>
                  </a:lnTo>
                  <a:lnTo>
                    <a:pt x="8" y="25"/>
                  </a:lnTo>
                  <a:lnTo>
                    <a:pt x="10" y="25"/>
                  </a:lnTo>
                  <a:lnTo>
                    <a:pt x="12" y="25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4" name="Freeform 41"/>
            <p:cNvSpPr>
              <a:spLocks/>
            </p:cNvSpPr>
            <p:nvPr/>
          </p:nvSpPr>
          <p:spPr bwMode="auto">
            <a:xfrm>
              <a:off x="2482" y="1833"/>
              <a:ext cx="115" cy="1725"/>
            </a:xfrm>
            <a:custGeom>
              <a:avLst/>
              <a:gdLst>
                <a:gd name="T0" fmla="*/ 113 w 98"/>
                <a:gd name="T1" fmla="*/ 1722 h 1130"/>
                <a:gd name="T2" fmla="*/ 115 w 98"/>
                <a:gd name="T3" fmla="*/ 0 h 1130"/>
                <a:gd name="T4" fmla="*/ 0 w 98"/>
                <a:gd name="T5" fmla="*/ 0 h 1130"/>
                <a:gd name="T6" fmla="*/ 0 w 98"/>
                <a:gd name="T7" fmla="*/ 1725 h 1130"/>
                <a:gd name="T8" fmla="*/ 115 w 98"/>
                <a:gd name="T9" fmla="*/ 1725 h 1130"/>
                <a:gd name="T10" fmla="*/ 115 w 98"/>
                <a:gd name="T11" fmla="*/ 1725 h 113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8"/>
                <a:gd name="T19" fmla="*/ 0 h 1130"/>
                <a:gd name="T20" fmla="*/ 98 w 98"/>
                <a:gd name="T21" fmla="*/ 1130 h 113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8" h="1130">
                  <a:moveTo>
                    <a:pt x="96" y="1128"/>
                  </a:moveTo>
                  <a:lnTo>
                    <a:pt x="98" y="0"/>
                  </a:lnTo>
                  <a:lnTo>
                    <a:pt x="0" y="0"/>
                  </a:lnTo>
                  <a:lnTo>
                    <a:pt x="0" y="1130"/>
                  </a:lnTo>
                  <a:lnTo>
                    <a:pt x="98" y="1130"/>
                  </a:lnTo>
                </a:path>
              </a:pathLst>
            </a:custGeom>
            <a:solidFill>
              <a:srgbClr val="CCECFF"/>
            </a:solidFill>
            <a:ln w="28575" cmpd="sng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5" name="Freeform 42"/>
            <p:cNvSpPr>
              <a:spLocks/>
            </p:cNvSpPr>
            <p:nvPr/>
          </p:nvSpPr>
          <p:spPr bwMode="auto">
            <a:xfrm>
              <a:off x="965" y="2485"/>
              <a:ext cx="29" cy="38"/>
            </a:xfrm>
            <a:custGeom>
              <a:avLst/>
              <a:gdLst>
                <a:gd name="T0" fmla="*/ 0 w 25"/>
                <a:gd name="T1" fmla="*/ 0 h 25"/>
                <a:gd name="T2" fmla="*/ 2 w 25"/>
                <a:gd name="T3" fmla="*/ 38 h 25"/>
                <a:gd name="T4" fmla="*/ 29 w 25"/>
                <a:gd name="T5" fmla="*/ 21 h 25"/>
                <a:gd name="T6" fmla="*/ 2 w 25"/>
                <a:gd name="T7" fmla="*/ 0 h 25"/>
                <a:gd name="T8" fmla="*/ 2 w 25"/>
                <a:gd name="T9" fmla="*/ 0 h 25"/>
                <a:gd name="T10" fmla="*/ 0 w 25"/>
                <a:gd name="T11" fmla="*/ 0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"/>
                <a:gd name="T19" fmla="*/ 0 h 25"/>
                <a:gd name="T20" fmla="*/ 25 w 25"/>
                <a:gd name="T21" fmla="*/ 25 h 2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" h="25">
                  <a:moveTo>
                    <a:pt x="0" y="0"/>
                  </a:moveTo>
                  <a:lnTo>
                    <a:pt x="2" y="25"/>
                  </a:lnTo>
                  <a:lnTo>
                    <a:pt x="25" y="14"/>
                  </a:lnTo>
                  <a:lnTo>
                    <a:pt x="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6" name="Line 43"/>
            <p:cNvSpPr>
              <a:spLocks noChangeShapeType="1"/>
            </p:cNvSpPr>
            <p:nvPr/>
          </p:nvSpPr>
          <p:spPr bwMode="auto">
            <a:xfrm>
              <a:off x="913" y="2503"/>
              <a:ext cx="61" cy="3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7" name="Freeform 44"/>
            <p:cNvSpPr>
              <a:spLocks/>
            </p:cNvSpPr>
            <p:nvPr/>
          </p:nvSpPr>
          <p:spPr bwMode="auto">
            <a:xfrm>
              <a:off x="2452" y="2027"/>
              <a:ext cx="29" cy="37"/>
            </a:xfrm>
            <a:custGeom>
              <a:avLst/>
              <a:gdLst>
                <a:gd name="T0" fmla="*/ 0 w 25"/>
                <a:gd name="T1" fmla="*/ 0 h 24"/>
                <a:gd name="T2" fmla="*/ 2 w 25"/>
                <a:gd name="T3" fmla="*/ 37 h 24"/>
                <a:gd name="T4" fmla="*/ 29 w 25"/>
                <a:gd name="T5" fmla="*/ 20 h 24"/>
                <a:gd name="T6" fmla="*/ 2 w 25"/>
                <a:gd name="T7" fmla="*/ 0 h 24"/>
                <a:gd name="T8" fmla="*/ 2 w 25"/>
                <a:gd name="T9" fmla="*/ 0 h 24"/>
                <a:gd name="T10" fmla="*/ 0 w 25"/>
                <a:gd name="T11" fmla="*/ 0 h 2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"/>
                <a:gd name="T19" fmla="*/ 0 h 24"/>
                <a:gd name="T20" fmla="*/ 25 w 25"/>
                <a:gd name="T21" fmla="*/ 24 h 2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" h="24">
                  <a:moveTo>
                    <a:pt x="0" y="0"/>
                  </a:moveTo>
                  <a:lnTo>
                    <a:pt x="2" y="24"/>
                  </a:lnTo>
                  <a:lnTo>
                    <a:pt x="25" y="13"/>
                  </a:lnTo>
                  <a:lnTo>
                    <a:pt x="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8" name="Line 45"/>
            <p:cNvSpPr>
              <a:spLocks noChangeShapeType="1"/>
            </p:cNvSpPr>
            <p:nvPr/>
          </p:nvSpPr>
          <p:spPr bwMode="auto">
            <a:xfrm flipH="1">
              <a:off x="2250" y="2044"/>
              <a:ext cx="209" cy="3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49" name="Freeform 46"/>
            <p:cNvSpPr>
              <a:spLocks/>
            </p:cNvSpPr>
            <p:nvPr/>
          </p:nvSpPr>
          <p:spPr bwMode="auto">
            <a:xfrm>
              <a:off x="2452" y="3054"/>
              <a:ext cx="29" cy="38"/>
            </a:xfrm>
            <a:custGeom>
              <a:avLst/>
              <a:gdLst>
                <a:gd name="T0" fmla="*/ 0 w 25"/>
                <a:gd name="T1" fmla="*/ 0 h 25"/>
                <a:gd name="T2" fmla="*/ 2 w 25"/>
                <a:gd name="T3" fmla="*/ 38 h 25"/>
                <a:gd name="T4" fmla="*/ 29 w 25"/>
                <a:gd name="T5" fmla="*/ 21 h 25"/>
                <a:gd name="T6" fmla="*/ 2 w 25"/>
                <a:gd name="T7" fmla="*/ 0 h 25"/>
                <a:gd name="T8" fmla="*/ 2 w 25"/>
                <a:gd name="T9" fmla="*/ 0 h 25"/>
                <a:gd name="T10" fmla="*/ 0 w 25"/>
                <a:gd name="T11" fmla="*/ 0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"/>
                <a:gd name="T19" fmla="*/ 0 h 25"/>
                <a:gd name="T20" fmla="*/ 25 w 25"/>
                <a:gd name="T21" fmla="*/ 25 h 2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" h="25">
                  <a:moveTo>
                    <a:pt x="0" y="0"/>
                  </a:moveTo>
                  <a:lnTo>
                    <a:pt x="2" y="25"/>
                  </a:lnTo>
                  <a:lnTo>
                    <a:pt x="25" y="14"/>
                  </a:lnTo>
                  <a:lnTo>
                    <a:pt x="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0" name="Freeform 47"/>
            <p:cNvSpPr>
              <a:spLocks/>
            </p:cNvSpPr>
            <p:nvPr/>
          </p:nvSpPr>
          <p:spPr bwMode="auto">
            <a:xfrm>
              <a:off x="1307" y="2047"/>
              <a:ext cx="1155" cy="1029"/>
            </a:xfrm>
            <a:custGeom>
              <a:avLst/>
              <a:gdLst>
                <a:gd name="T0" fmla="*/ 1155 w 978"/>
                <a:gd name="T1" fmla="*/ 1026 h 674"/>
                <a:gd name="T2" fmla="*/ 0 w 978"/>
                <a:gd name="T3" fmla="*/ 1029 h 674"/>
                <a:gd name="T4" fmla="*/ 0 w 978"/>
                <a:gd name="T5" fmla="*/ 0 h 674"/>
                <a:gd name="T6" fmla="*/ 0 60000 65536"/>
                <a:gd name="T7" fmla="*/ 0 60000 65536"/>
                <a:gd name="T8" fmla="*/ 0 60000 65536"/>
                <a:gd name="T9" fmla="*/ 0 w 978"/>
                <a:gd name="T10" fmla="*/ 0 h 674"/>
                <a:gd name="T11" fmla="*/ 978 w 978"/>
                <a:gd name="T12" fmla="*/ 674 h 67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78" h="674">
                  <a:moveTo>
                    <a:pt x="978" y="672"/>
                  </a:moveTo>
                  <a:lnTo>
                    <a:pt x="0" y="674"/>
                  </a:lnTo>
                  <a:lnTo>
                    <a:pt x="0" y="0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1" name="Rectangle 48"/>
            <p:cNvSpPr>
              <a:spLocks noChangeArrowheads="1"/>
            </p:cNvSpPr>
            <p:nvPr/>
          </p:nvSpPr>
          <p:spPr bwMode="auto">
            <a:xfrm>
              <a:off x="2502" y="1667"/>
              <a:ext cx="67" cy="7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EB7500"/>
                  </a:solidFill>
                  <a:latin typeface="+mj-lt"/>
                </a:rPr>
                <a:t>EX</a:t>
              </a:r>
              <a:endParaRPr lang="en-US" sz="800">
                <a:latin typeface="+mj-lt"/>
              </a:endParaRPr>
            </a:p>
          </p:txBody>
        </p:sp>
        <p:sp>
          <p:nvSpPr>
            <p:cNvPr id="52" name="Freeform 49"/>
            <p:cNvSpPr>
              <a:spLocks/>
            </p:cNvSpPr>
            <p:nvPr/>
          </p:nvSpPr>
          <p:spPr bwMode="auto">
            <a:xfrm>
              <a:off x="2487" y="1334"/>
              <a:ext cx="115" cy="252"/>
            </a:xfrm>
            <a:custGeom>
              <a:avLst/>
              <a:gdLst>
                <a:gd name="T0" fmla="*/ 113 w 98"/>
                <a:gd name="T1" fmla="*/ 249 h 165"/>
                <a:gd name="T2" fmla="*/ 115 w 98"/>
                <a:gd name="T3" fmla="*/ 0 h 165"/>
                <a:gd name="T4" fmla="*/ 0 w 98"/>
                <a:gd name="T5" fmla="*/ 0 h 165"/>
                <a:gd name="T6" fmla="*/ 0 w 98"/>
                <a:gd name="T7" fmla="*/ 252 h 165"/>
                <a:gd name="T8" fmla="*/ 115 w 98"/>
                <a:gd name="T9" fmla="*/ 252 h 165"/>
                <a:gd name="T10" fmla="*/ 115 w 98"/>
                <a:gd name="T11" fmla="*/ 252 h 16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8"/>
                <a:gd name="T19" fmla="*/ 0 h 165"/>
                <a:gd name="T20" fmla="*/ 98 w 98"/>
                <a:gd name="T21" fmla="*/ 165 h 16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8" h="165">
                  <a:moveTo>
                    <a:pt x="96" y="163"/>
                  </a:moveTo>
                  <a:lnTo>
                    <a:pt x="98" y="0"/>
                  </a:lnTo>
                  <a:lnTo>
                    <a:pt x="0" y="0"/>
                  </a:lnTo>
                  <a:lnTo>
                    <a:pt x="0" y="165"/>
                  </a:lnTo>
                  <a:lnTo>
                    <a:pt x="98" y="165"/>
                  </a:lnTo>
                </a:path>
              </a:pathLst>
            </a:custGeom>
            <a:solidFill>
              <a:srgbClr val="FFE6CD"/>
            </a:solidFill>
            <a:ln w="28575" cap="flat" cmpd="sng">
              <a:solidFill>
                <a:srgbClr val="EB75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3" name="Rectangle 50"/>
            <p:cNvSpPr>
              <a:spLocks noChangeArrowheads="1"/>
            </p:cNvSpPr>
            <p:nvPr/>
          </p:nvSpPr>
          <p:spPr bwMode="auto">
            <a:xfrm>
              <a:off x="2521" y="1416"/>
              <a:ext cx="57" cy="7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EB7500"/>
                  </a:solidFill>
                  <a:latin typeface="+mj-lt"/>
                </a:rPr>
                <a:t>M</a:t>
              </a:r>
              <a:endParaRPr lang="en-US" sz="1200">
                <a:latin typeface="+mj-lt"/>
              </a:endParaRPr>
            </a:p>
          </p:txBody>
        </p:sp>
        <p:sp>
          <p:nvSpPr>
            <p:cNvPr id="54" name="Freeform 51"/>
            <p:cNvSpPr>
              <a:spLocks/>
            </p:cNvSpPr>
            <p:nvPr/>
          </p:nvSpPr>
          <p:spPr bwMode="auto">
            <a:xfrm>
              <a:off x="2487" y="1089"/>
              <a:ext cx="115" cy="249"/>
            </a:xfrm>
            <a:custGeom>
              <a:avLst/>
              <a:gdLst>
                <a:gd name="T0" fmla="*/ 113 w 98"/>
                <a:gd name="T1" fmla="*/ 249 h 163"/>
                <a:gd name="T2" fmla="*/ 115 w 98"/>
                <a:gd name="T3" fmla="*/ 0 h 163"/>
                <a:gd name="T4" fmla="*/ 0 w 98"/>
                <a:gd name="T5" fmla="*/ 0 h 163"/>
                <a:gd name="T6" fmla="*/ 0 w 98"/>
                <a:gd name="T7" fmla="*/ 249 h 163"/>
                <a:gd name="T8" fmla="*/ 115 w 98"/>
                <a:gd name="T9" fmla="*/ 249 h 163"/>
                <a:gd name="T10" fmla="*/ 115 w 98"/>
                <a:gd name="T11" fmla="*/ 249 h 16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8"/>
                <a:gd name="T19" fmla="*/ 0 h 163"/>
                <a:gd name="T20" fmla="*/ 98 w 98"/>
                <a:gd name="T21" fmla="*/ 163 h 16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8" h="163">
                  <a:moveTo>
                    <a:pt x="96" y="163"/>
                  </a:moveTo>
                  <a:lnTo>
                    <a:pt x="98" y="0"/>
                  </a:lnTo>
                  <a:lnTo>
                    <a:pt x="0" y="0"/>
                  </a:lnTo>
                  <a:lnTo>
                    <a:pt x="0" y="163"/>
                  </a:lnTo>
                  <a:lnTo>
                    <a:pt x="98" y="163"/>
                  </a:lnTo>
                </a:path>
              </a:pathLst>
            </a:custGeom>
            <a:solidFill>
              <a:srgbClr val="FFE6CD"/>
            </a:solidFill>
            <a:ln w="28575" cap="flat" cmpd="sng">
              <a:solidFill>
                <a:srgbClr val="EB75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5" name="Rectangle 52"/>
            <p:cNvSpPr>
              <a:spLocks noChangeArrowheads="1"/>
            </p:cNvSpPr>
            <p:nvPr/>
          </p:nvSpPr>
          <p:spPr bwMode="auto">
            <a:xfrm>
              <a:off x="2496" y="1168"/>
              <a:ext cx="95" cy="7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EB7500"/>
                  </a:solidFill>
                  <a:latin typeface="+mj-lt"/>
                </a:rPr>
                <a:t>WB</a:t>
              </a:r>
              <a:endParaRPr lang="en-US" sz="1200">
                <a:latin typeface="+mj-lt"/>
              </a:endParaRPr>
            </a:p>
          </p:txBody>
        </p:sp>
        <p:sp>
          <p:nvSpPr>
            <p:cNvPr id="56" name="Freeform 53"/>
            <p:cNvSpPr>
              <a:spLocks/>
            </p:cNvSpPr>
            <p:nvPr/>
          </p:nvSpPr>
          <p:spPr bwMode="auto">
            <a:xfrm>
              <a:off x="2452" y="1690"/>
              <a:ext cx="29" cy="38"/>
            </a:xfrm>
            <a:custGeom>
              <a:avLst/>
              <a:gdLst>
                <a:gd name="T0" fmla="*/ 0 w 25"/>
                <a:gd name="T1" fmla="*/ 0 h 25"/>
                <a:gd name="T2" fmla="*/ 2 w 25"/>
                <a:gd name="T3" fmla="*/ 38 h 25"/>
                <a:gd name="T4" fmla="*/ 29 w 25"/>
                <a:gd name="T5" fmla="*/ 21 h 25"/>
                <a:gd name="T6" fmla="*/ 2 w 25"/>
                <a:gd name="T7" fmla="*/ 0 h 25"/>
                <a:gd name="T8" fmla="*/ 2 w 25"/>
                <a:gd name="T9" fmla="*/ 0 h 25"/>
                <a:gd name="T10" fmla="*/ 0 w 25"/>
                <a:gd name="T11" fmla="*/ 0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"/>
                <a:gd name="T19" fmla="*/ 0 h 25"/>
                <a:gd name="T20" fmla="*/ 25 w 25"/>
                <a:gd name="T21" fmla="*/ 25 h 2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" h="25">
                  <a:moveTo>
                    <a:pt x="0" y="0"/>
                  </a:moveTo>
                  <a:lnTo>
                    <a:pt x="2" y="25"/>
                  </a:lnTo>
                  <a:lnTo>
                    <a:pt x="25" y="14"/>
                  </a:lnTo>
                  <a:lnTo>
                    <a:pt x="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B75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7" name="Freeform 54"/>
            <p:cNvSpPr>
              <a:spLocks/>
            </p:cNvSpPr>
            <p:nvPr/>
          </p:nvSpPr>
          <p:spPr bwMode="auto">
            <a:xfrm>
              <a:off x="2452" y="1190"/>
              <a:ext cx="29" cy="39"/>
            </a:xfrm>
            <a:custGeom>
              <a:avLst/>
              <a:gdLst>
                <a:gd name="T0" fmla="*/ 0 w 25"/>
                <a:gd name="T1" fmla="*/ 0 h 25"/>
                <a:gd name="T2" fmla="*/ 2 w 25"/>
                <a:gd name="T3" fmla="*/ 39 h 25"/>
                <a:gd name="T4" fmla="*/ 29 w 25"/>
                <a:gd name="T5" fmla="*/ 20 h 25"/>
                <a:gd name="T6" fmla="*/ 2 w 25"/>
                <a:gd name="T7" fmla="*/ 0 h 25"/>
                <a:gd name="T8" fmla="*/ 2 w 25"/>
                <a:gd name="T9" fmla="*/ 0 h 25"/>
                <a:gd name="T10" fmla="*/ 0 w 25"/>
                <a:gd name="T11" fmla="*/ 0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"/>
                <a:gd name="T19" fmla="*/ 0 h 25"/>
                <a:gd name="T20" fmla="*/ 25 w 25"/>
                <a:gd name="T21" fmla="*/ 25 h 2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" h="25">
                  <a:moveTo>
                    <a:pt x="0" y="0"/>
                  </a:moveTo>
                  <a:lnTo>
                    <a:pt x="2" y="25"/>
                  </a:lnTo>
                  <a:lnTo>
                    <a:pt x="25" y="13"/>
                  </a:lnTo>
                  <a:lnTo>
                    <a:pt x="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B75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8" name="Freeform 55"/>
            <p:cNvSpPr>
              <a:spLocks/>
            </p:cNvSpPr>
            <p:nvPr/>
          </p:nvSpPr>
          <p:spPr bwMode="auto">
            <a:xfrm>
              <a:off x="2400" y="1209"/>
              <a:ext cx="62" cy="502"/>
            </a:xfrm>
            <a:custGeom>
              <a:avLst/>
              <a:gdLst>
                <a:gd name="T0" fmla="*/ 62 w 52"/>
                <a:gd name="T1" fmla="*/ 0 h 329"/>
                <a:gd name="T2" fmla="*/ 0 w 52"/>
                <a:gd name="T3" fmla="*/ 2 h 329"/>
                <a:gd name="T4" fmla="*/ 0 w 52"/>
                <a:gd name="T5" fmla="*/ 502 h 329"/>
                <a:gd name="T6" fmla="*/ 62 w 52"/>
                <a:gd name="T7" fmla="*/ 502 h 32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2"/>
                <a:gd name="T13" fmla="*/ 0 h 329"/>
                <a:gd name="T14" fmla="*/ 52 w 52"/>
                <a:gd name="T15" fmla="*/ 329 h 32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2" h="329">
                  <a:moveTo>
                    <a:pt x="52" y="0"/>
                  </a:moveTo>
                  <a:lnTo>
                    <a:pt x="0" y="1"/>
                  </a:lnTo>
                  <a:lnTo>
                    <a:pt x="0" y="329"/>
                  </a:lnTo>
                  <a:lnTo>
                    <a:pt x="52" y="329"/>
                  </a:lnTo>
                </a:path>
              </a:pathLst>
            </a:custGeom>
            <a:noFill/>
            <a:ln w="15875">
              <a:solidFill>
                <a:srgbClr val="EB75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59" name="Freeform 56"/>
            <p:cNvSpPr>
              <a:spLocks/>
            </p:cNvSpPr>
            <p:nvPr/>
          </p:nvSpPr>
          <p:spPr bwMode="auto">
            <a:xfrm>
              <a:off x="3679" y="1586"/>
              <a:ext cx="115" cy="247"/>
            </a:xfrm>
            <a:custGeom>
              <a:avLst/>
              <a:gdLst>
                <a:gd name="T0" fmla="*/ 113 w 98"/>
                <a:gd name="T1" fmla="*/ 247 h 162"/>
                <a:gd name="T2" fmla="*/ 115 w 98"/>
                <a:gd name="T3" fmla="*/ 0 h 162"/>
                <a:gd name="T4" fmla="*/ 0 w 98"/>
                <a:gd name="T5" fmla="*/ 0 h 162"/>
                <a:gd name="T6" fmla="*/ 0 w 98"/>
                <a:gd name="T7" fmla="*/ 247 h 162"/>
                <a:gd name="T8" fmla="*/ 115 w 98"/>
                <a:gd name="T9" fmla="*/ 247 h 162"/>
                <a:gd name="T10" fmla="*/ 115 w 98"/>
                <a:gd name="T11" fmla="*/ 247 h 16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8"/>
                <a:gd name="T19" fmla="*/ 0 h 162"/>
                <a:gd name="T20" fmla="*/ 98 w 98"/>
                <a:gd name="T21" fmla="*/ 162 h 162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8" h="162">
                  <a:moveTo>
                    <a:pt x="96" y="162"/>
                  </a:moveTo>
                  <a:lnTo>
                    <a:pt x="98" y="0"/>
                  </a:lnTo>
                  <a:lnTo>
                    <a:pt x="0" y="0"/>
                  </a:lnTo>
                  <a:lnTo>
                    <a:pt x="0" y="162"/>
                  </a:lnTo>
                  <a:lnTo>
                    <a:pt x="98" y="162"/>
                  </a:lnTo>
                </a:path>
              </a:pathLst>
            </a:custGeom>
            <a:solidFill>
              <a:srgbClr val="FFE6CD"/>
            </a:solidFill>
            <a:ln w="28575" cap="flat" cmpd="sng">
              <a:solidFill>
                <a:srgbClr val="EB75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0" name="Freeform 57"/>
            <p:cNvSpPr>
              <a:spLocks/>
            </p:cNvSpPr>
            <p:nvPr/>
          </p:nvSpPr>
          <p:spPr bwMode="auto">
            <a:xfrm>
              <a:off x="3679" y="1833"/>
              <a:ext cx="115" cy="1725"/>
            </a:xfrm>
            <a:custGeom>
              <a:avLst/>
              <a:gdLst>
                <a:gd name="T0" fmla="*/ 113 w 98"/>
                <a:gd name="T1" fmla="*/ 1722 h 1130"/>
                <a:gd name="T2" fmla="*/ 115 w 98"/>
                <a:gd name="T3" fmla="*/ 0 h 1130"/>
                <a:gd name="T4" fmla="*/ 0 w 98"/>
                <a:gd name="T5" fmla="*/ 0 h 1130"/>
                <a:gd name="T6" fmla="*/ 0 w 98"/>
                <a:gd name="T7" fmla="*/ 1725 h 1130"/>
                <a:gd name="T8" fmla="*/ 115 w 98"/>
                <a:gd name="T9" fmla="*/ 1725 h 1130"/>
                <a:gd name="T10" fmla="*/ 115 w 98"/>
                <a:gd name="T11" fmla="*/ 1725 h 113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8"/>
                <a:gd name="T19" fmla="*/ 0 h 1130"/>
                <a:gd name="T20" fmla="*/ 98 w 98"/>
                <a:gd name="T21" fmla="*/ 1130 h 113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8" h="1130">
                  <a:moveTo>
                    <a:pt x="96" y="1128"/>
                  </a:moveTo>
                  <a:lnTo>
                    <a:pt x="98" y="0"/>
                  </a:lnTo>
                  <a:lnTo>
                    <a:pt x="0" y="0"/>
                  </a:lnTo>
                  <a:lnTo>
                    <a:pt x="0" y="1130"/>
                  </a:lnTo>
                  <a:lnTo>
                    <a:pt x="98" y="1130"/>
                  </a:lnTo>
                </a:path>
              </a:pathLst>
            </a:custGeom>
            <a:solidFill>
              <a:srgbClr val="CCECFF"/>
            </a:solidFill>
            <a:ln w="28575" cmpd="sng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1" name="Freeform 58"/>
            <p:cNvSpPr>
              <a:spLocks/>
            </p:cNvSpPr>
            <p:nvPr/>
          </p:nvSpPr>
          <p:spPr bwMode="auto">
            <a:xfrm>
              <a:off x="3679" y="1338"/>
              <a:ext cx="115" cy="252"/>
            </a:xfrm>
            <a:custGeom>
              <a:avLst/>
              <a:gdLst>
                <a:gd name="T0" fmla="*/ 113 w 98"/>
                <a:gd name="T1" fmla="*/ 249 h 165"/>
                <a:gd name="T2" fmla="*/ 115 w 98"/>
                <a:gd name="T3" fmla="*/ 0 h 165"/>
                <a:gd name="T4" fmla="*/ 0 w 98"/>
                <a:gd name="T5" fmla="*/ 0 h 165"/>
                <a:gd name="T6" fmla="*/ 0 w 98"/>
                <a:gd name="T7" fmla="*/ 252 h 165"/>
                <a:gd name="T8" fmla="*/ 115 w 98"/>
                <a:gd name="T9" fmla="*/ 252 h 165"/>
                <a:gd name="T10" fmla="*/ 115 w 98"/>
                <a:gd name="T11" fmla="*/ 252 h 16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8"/>
                <a:gd name="T19" fmla="*/ 0 h 165"/>
                <a:gd name="T20" fmla="*/ 98 w 98"/>
                <a:gd name="T21" fmla="*/ 165 h 16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8" h="165">
                  <a:moveTo>
                    <a:pt x="96" y="163"/>
                  </a:moveTo>
                  <a:lnTo>
                    <a:pt x="98" y="0"/>
                  </a:lnTo>
                  <a:lnTo>
                    <a:pt x="0" y="0"/>
                  </a:lnTo>
                  <a:lnTo>
                    <a:pt x="0" y="165"/>
                  </a:lnTo>
                  <a:lnTo>
                    <a:pt x="98" y="165"/>
                  </a:lnTo>
                </a:path>
              </a:pathLst>
            </a:custGeom>
            <a:solidFill>
              <a:srgbClr val="FFE6CD"/>
            </a:solidFill>
            <a:ln w="28575" cap="flat" cmpd="sng">
              <a:solidFill>
                <a:srgbClr val="EB75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2" name="Freeform 59"/>
            <p:cNvSpPr>
              <a:spLocks/>
            </p:cNvSpPr>
            <p:nvPr/>
          </p:nvSpPr>
          <p:spPr bwMode="auto">
            <a:xfrm>
              <a:off x="3644" y="1673"/>
              <a:ext cx="29" cy="38"/>
            </a:xfrm>
            <a:custGeom>
              <a:avLst/>
              <a:gdLst>
                <a:gd name="T0" fmla="*/ 0 w 25"/>
                <a:gd name="T1" fmla="*/ 0 h 25"/>
                <a:gd name="T2" fmla="*/ 2 w 25"/>
                <a:gd name="T3" fmla="*/ 38 h 25"/>
                <a:gd name="T4" fmla="*/ 29 w 25"/>
                <a:gd name="T5" fmla="*/ 20 h 25"/>
                <a:gd name="T6" fmla="*/ 2 w 25"/>
                <a:gd name="T7" fmla="*/ 0 h 25"/>
                <a:gd name="T8" fmla="*/ 2 w 25"/>
                <a:gd name="T9" fmla="*/ 0 h 25"/>
                <a:gd name="T10" fmla="*/ 0 w 25"/>
                <a:gd name="T11" fmla="*/ 0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"/>
                <a:gd name="T19" fmla="*/ 0 h 25"/>
                <a:gd name="T20" fmla="*/ 25 w 25"/>
                <a:gd name="T21" fmla="*/ 25 h 2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" h="25">
                  <a:moveTo>
                    <a:pt x="0" y="0"/>
                  </a:moveTo>
                  <a:lnTo>
                    <a:pt x="2" y="25"/>
                  </a:lnTo>
                  <a:lnTo>
                    <a:pt x="25" y="13"/>
                  </a:lnTo>
                  <a:lnTo>
                    <a:pt x="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B75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3" name="Freeform 60"/>
            <p:cNvSpPr>
              <a:spLocks/>
            </p:cNvSpPr>
            <p:nvPr/>
          </p:nvSpPr>
          <p:spPr bwMode="auto">
            <a:xfrm>
              <a:off x="2602" y="1459"/>
              <a:ext cx="1052" cy="234"/>
            </a:xfrm>
            <a:custGeom>
              <a:avLst/>
              <a:gdLst>
                <a:gd name="T0" fmla="*/ 1052 w 891"/>
                <a:gd name="T1" fmla="*/ 231 h 153"/>
                <a:gd name="T2" fmla="*/ 948 w 891"/>
                <a:gd name="T3" fmla="*/ 234 h 153"/>
                <a:gd name="T4" fmla="*/ 948 w 891"/>
                <a:gd name="T5" fmla="*/ 0 h 153"/>
                <a:gd name="T6" fmla="*/ 0 w 891"/>
                <a:gd name="T7" fmla="*/ 0 h 15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91"/>
                <a:gd name="T13" fmla="*/ 0 h 153"/>
                <a:gd name="T14" fmla="*/ 891 w 891"/>
                <a:gd name="T15" fmla="*/ 153 h 15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91" h="153">
                  <a:moveTo>
                    <a:pt x="891" y="151"/>
                  </a:moveTo>
                  <a:lnTo>
                    <a:pt x="803" y="153"/>
                  </a:lnTo>
                  <a:lnTo>
                    <a:pt x="803" y="0"/>
                  </a:lnTo>
                  <a:lnTo>
                    <a:pt x="0" y="0"/>
                  </a:lnTo>
                </a:path>
              </a:pathLst>
            </a:custGeom>
            <a:noFill/>
            <a:ln w="15875">
              <a:solidFill>
                <a:srgbClr val="EB75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4" name="Freeform 61"/>
            <p:cNvSpPr>
              <a:spLocks/>
            </p:cNvSpPr>
            <p:nvPr/>
          </p:nvSpPr>
          <p:spPr bwMode="auto">
            <a:xfrm>
              <a:off x="3644" y="1439"/>
              <a:ext cx="29" cy="38"/>
            </a:xfrm>
            <a:custGeom>
              <a:avLst/>
              <a:gdLst>
                <a:gd name="T0" fmla="*/ 0 w 25"/>
                <a:gd name="T1" fmla="*/ 0 h 25"/>
                <a:gd name="T2" fmla="*/ 2 w 25"/>
                <a:gd name="T3" fmla="*/ 38 h 25"/>
                <a:gd name="T4" fmla="*/ 29 w 25"/>
                <a:gd name="T5" fmla="*/ 20 h 25"/>
                <a:gd name="T6" fmla="*/ 2 w 25"/>
                <a:gd name="T7" fmla="*/ 3 h 25"/>
                <a:gd name="T8" fmla="*/ 2 w 25"/>
                <a:gd name="T9" fmla="*/ 3 h 25"/>
                <a:gd name="T10" fmla="*/ 0 w 25"/>
                <a:gd name="T11" fmla="*/ 0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"/>
                <a:gd name="T19" fmla="*/ 0 h 25"/>
                <a:gd name="T20" fmla="*/ 25 w 25"/>
                <a:gd name="T21" fmla="*/ 25 h 2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" h="25">
                  <a:moveTo>
                    <a:pt x="0" y="0"/>
                  </a:moveTo>
                  <a:lnTo>
                    <a:pt x="2" y="25"/>
                  </a:lnTo>
                  <a:lnTo>
                    <a:pt x="25" y="13"/>
                  </a:lnTo>
                  <a:lnTo>
                    <a:pt x="2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B75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5" name="Freeform 62"/>
            <p:cNvSpPr>
              <a:spLocks/>
            </p:cNvSpPr>
            <p:nvPr/>
          </p:nvSpPr>
          <p:spPr bwMode="auto">
            <a:xfrm>
              <a:off x="2599" y="1209"/>
              <a:ext cx="1055" cy="250"/>
            </a:xfrm>
            <a:custGeom>
              <a:avLst/>
              <a:gdLst>
                <a:gd name="T0" fmla="*/ 0 w 893"/>
                <a:gd name="T1" fmla="*/ 0 h 164"/>
                <a:gd name="T2" fmla="*/ 994 w 893"/>
                <a:gd name="T3" fmla="*/ 2 h 164"/>
                <a:gd name="T4" fmla="*/ 994 w 893"/>
                <a:gd name="T5" fmla="*/ 250 h 164"/>
                <a:gd name="T6" fmla="*/ 1055 w 893"/>
                <a:gd name="T7" fmla="*/ 250 h 16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93"/>
                <a:gd name="T13" fmla="*/ 0 h 164"/>
                <a:gd name="T14" fmla="*/ 893 w 893"/>
                <a:gd name="T15" fmla="*/ 164 h 16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93" h="164">
                  <a:moveTo>
                    <a:pt x="0" y="0"/>
                  </a:moveTo>
                  <a:lnTo>
                    <a:pt x="841" y="1"/>
                  </a:lnTo>
                  <a:lnTo>
                    <a:pt x="841" y="164"/>
                  </a:lnTo>
                  <a:lnTo>
                    <a:pt x="893" y="164"/>
                  </a:lnTo>
                </a:path>
              </a:pathLst>
            </a:custGeom>
            <a:noFill/>
            <a:ln w="15875">
              <a:solidFill>
                <a:srgbClr val="EB75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6" name="Freeform 63"/>
            <p:cNvSpPr>
              <a:spLocks/>
            </p:cNvSpPr>
            <p:nvPr/>
          </p:nvSpPr>
          <p:spPr bwMode="auto">
            <a:xfrm>
              <a:off x="4534" y="1586"/>
              <a:ext cx="116" cy="247"/>
            </a:xfrm>
            <a:custGeom>
              <a:avLst/>
              <a:gdLst>
                <a:gd name="T0" fmla="*/ 116 w 98"/>
                <a:gd name="T1" fmla="*/ 247 h 162"/>
                <a:gd name="T2" fmla="*/ 116 w 98"/>
                <a:gd name="T3" fmla="*/ 0 h 162"/>
                <a:gd name="T4" fmla="*/ 0 w 98"/>
                <a:gd name="T5" fmla="*/ 0 h 162"/>
                <a:gd name="T6" fmla="*/ 0 w 98"/>
                <a:gd name="T7" fmla="*/ 247 h 162"/>
                <a:gd name="T8" fmla="*/ 116 w 98"/>
                <a:gd name="T9" fmla="*/ 247 h 162"/>
                <a:gd name="T10" fmla="*/ 116 w 98"/>
                <a:gd name="T11" fmla="*/ 247 h 16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8"/>
                <a:gd name="T19" fmla="*/ 0 h 162"/>
                <a:gd name="T20" fmla="*/ 98 w 98"/>
                <a:gd name="T21" fmla="*/ 162 h 162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8" h="162">
                  <a:moveTo>
                    <a:pt x="98" y="162"/>
                  </a:moveTo>
                  <a:lnTo>
                    <a:pt x="98" y="0"/>
                  </a:lnTo>
                  <a:lnTo>
                    <a:pt x="0" y="0"/>
                  </a:lnTo>
                  <a:lnTo>
                    <a:pt x="0" y="162"/>
                  </a:lnTo>
                  <a:lnTo>
                    <a:pt x="98" y="162"/>
                  </a:lnTo>
                </a:path>
              </a:pathLst>
            </a:custGeom>
            <a:solidFill>
              <a:srgbClr val="FFE6CD"/>
            </a:solidFill>
            <a:ln w="28575" cap="flat" cmpd="sng">
              <a:solidFill>
                <a:srgbClr val="EB75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7" name="Freeform 64"/>
            <p:cNvSpPr>
              <a:spLocks/>
            </p:cNvSpPr>
            <p:nvPr/>
          </p:nvSpPr>
          <p:spPr bwMode="auto">
            <a:xfrm>
              <a:off x="4535" y="1833"/>
              <a:ext cx="116" cy="1725"/>
            </a:xfrm>
            <a:custGeom>
              <a:avLst/>
              <a:gdLst>
                <a:gd name="T0" fmla="*/ 116 w 98"/>
                <a:gd name="T1" fmla="*/ 1722 h 1130"/>
                <a:gd name="T2" fmla="*/ 116 w 98"/>
                <a:gd name="T3" fmla="*/ 0 h 1130"/>
                <a:gd name="T4" fmla="*/ 0 w 98"/>
                <a:gd name="T5" fmla="*/ 0 h 1130"/>
                <a:gd name="T6" fmla="*/ 0 w 98"/>
                <a:gd name="T7" fmla="*/ 1725 h 1130"/>
                <a:gd name="T8" fmla="*/ 116 w 98"/>
                <a:gd name="T9" fmla="*/ 1725 h 1130"/>
                <a:gd name="T10" fmla="*/ 116 w 98"/>
                <a:gd name="T11" fmla="*/ 1725 h 113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8"/>
                <a:gd name="T19" fmla="*/ 0 h 1130"/>
                <a:gd name="T20" fmla="*/ 98 w 98"/>
                <a:gd name="T21" fmla="*/ 1130 h 113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8" h="1130">
                  <a:moveTo>
                    <a:pt x="98" y="1128"/>
                  </a:moveTo>
                  <a:lnTo>
                    <a:pt x="98" y="0"/>
                  </a:lnTo>
                  <a:lnTo>
                    <a:pt x="0" y="0"/>
                  </a:lnTo>
                  <a:lnTo>
                    <a:pt x="0" y="1130"/>
                  </a:lnTo>
                  <a:lnTo>
                    <a:pt x="98" y="1130"/>
                  </a:lnTo>
                </a:path>
              </a:pathLst>
            </a:custGeom>
            <a:solidFill>
              <a:srgbClr val="CCECFF"/>
            </a:solidFill>
            <a:ln w="28575" cmpd="sng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8" name="Freeform 65"/>
            <p:cNvSpPr>
              <a:spLocks/>
            </p:cNvSpPr>
            <p:nvPr/>
          </p:nvSpPr>
          <p:spPr bwMode="auto">
            <a:xfrm>
              <a:off x="3644" y="2456"/>
              <a:ext cx="29" cy="38"/>
            </a:xfrm>
            <a:custGeom>
              <a:avLst/>
              <a:gdLst>
                <a:gd name="T0" fmla="*/ 0 w 25"/>
                <a:gd name="T1" fmla="*/ 0 h 25"/>
                <a:gd name="T2" fmla="*/ 2 w 25"/>
                <a:gd name="T3" fmla="*/ 38 h 25"/>
                <a:gd name="T4" fmla="*/ 29 w 25"/>
                <a:gd name="T5" fmla="*/ 20 h 25"/>
                <a:gd name="T6" fmla="*/ 2 w 25"/>
                <a:gd name="T7" fmla="*/ 3 h 25"/>
                <a:gd name="T8" fmla="*/ 2 w 25"/>
                <a:gd name="T9" fmla="*/ 3 h 25"/>
                <a:gd name="T10" fmla="*/ 0 w 25"/>
                <a:gd name="T11" fmla="*/ 0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"/>
                <a:gd name="T19" fmla="*/ 0 h 25"/>
                <a:gd name="T20" fmla="*/ 25 w 25"/>
                <a:gd name="T21" fmla="*/ 25 h 2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" h="25">
                  <a:moveTo>
                    <a:pt x="0" y="0"/>
                  </a:moveTo>
                  <a:lnTo>
                    <a:pt x="2" y="25"/>
                  </a:lnTo>
                  <a:lnTo>
                    <a:pt x="25" y="13"/>
                  </a:lnTo>
                  <a:lnTo>
                    <a:pt x="2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69" name="Line 66"/>
            <p:cNvSpPr>
              <a:spLocks noChangeShapeType="1"/>
            </p:cNvSpPr>
            <p:nvPr/>
          </p:nvSpPr>
          <p:spPr bwMode="auto">
            <a:xfrm flipH="1">
              <a:off x="3495" y="2473"/>
              <a:ext cx="156" cy="3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70" name="Freeform 67"/>
            <p:cNvSpPr>
              <a:spLocks/>
            </p:cNvSpPr>
            <p:nvPr/>
          </p:nvSpPr>
          <p:spPr bwMode="auto">
            <a:xfrm>
              <a:off x="4502" y="1690"/>
              <a:ext cx="30" cy="38"/>
            </a:xfrm>
            <a:custGeom>
              <a:avLst/>
              <a:gdLst>
                <a:gd name="T0" fmla="*/ 0 w 25"/>
                <a:gd name="T1" fmla="*/ 0 h 25"/>
                <a:gd name="T2" fmla="*/ 0 w 25"/>
                <a:gd name="T3" fmla="*/ 38 h 25"/>
                <a:gd name="T4" fmla="*/ 30 w 25"/>
                <a:gd name="T5" fmla="*/ 21 h 25"/>
                <a:gd name="T6" fmla="*/ 0 w 25"/>
                <a:gd name="T7" fmla="*/ 0 h 25"/>
                <a:gd name="T8" fmla="*/ 0 w 25"/>
                <a:gd name="T9" fmla="*/ 0 h 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"/>
                <a:gd name="T16" fmla="*/ 0 h 25"/>
                <a:gd name="T17" fmla="*/ 25 w 25"/>
                <a:gd name="T18" fmla="*/ 25 h 2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" h="25">
                  <a:moveTo>
                    <a:pt x="0" y="0"/>
                  </a:moveTo>
                  <a:lnTo>
                    <a:pt x="0" y="25"/>
                  </a:lnTo>
                  <a:lnTo>
                    <a:pt x="25" y="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B75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71" name="Freeform 68"/>
            <p:cNvSpPr>
              <a:spLocks/>
            </p:cNvSpPr>
            <p:nvPr/>
          </p:nvSpPr>
          <p:spPr bwMode="auto">
            <a:xfrm>
              <a:off x="3794" y="1459"/>
              <a:ext cx="715" cy="252"/>
            </a:xfrm>
            <a:custGeom>
              <a:avLst/>
              <a:gdLst>
                <a:gd name="T0" fmla="*/ 715 w 606"/>
                <a:gd name="T1" fmla="*/ 249 h 165"/>
                <a:gd name="T2" fmla="*/ 654 w 606"/>
                <a:gd name="T3" fmla="*/ 252 h 165"/>
                <a:gd name="T4" fmla="*/ 654 w 606"/>
                <a:gd name="T5" fmla="*/ 0 h 165"/>
                <a:gd name="T6" fmla="*/ 0 w 606"/>
                <a:gd name="T7" fmla="*/ 0 h 16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06"/>
                <a:gd name="T13" fmla="*/ 0 h 165"/>
                <a:gd name="T14" fmla="*/ 606 w 606"/>
                <a:gd name="T15" fmla="*/ 165 h 16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06" h="165">
                  <a:moveTo>
                    <a:pt x="606" y="163"/>
                  </a:moveTo>
                  <a:lnTo>
                    <a:pt x="554" y="165"/>
                  </a:lnTo>
                  <a:lnTo>
                    <a:pt x="554" y="0"/>
                  </a:lnTo>
                  <a:lnTo>
                    <a:pt x="0" y="0"/>
                  </a:lnTo>
                </a:path>
              </a:pathLst>
            </a:custGeom>
            <a:noFill/>
            <a:ln w="15875">
              <a:solidFill>
                <a:srgbClr val="EB75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72" name="Freeform 69"/>
            <p:cNvSpPr>
              <a:spLocks/>
            </p:cNvSpPr>
            <p:nvPr/>
          </p:nvSpPr>
          <p:spPr bwMode="auto">
            <a:xfrm>
              <a:off x="4500" y="2456"/>
              <a:ext cx="32" cy="38"/>
            </a:xfrm>
            <a:custGeom>
              <a:avLst/>
              <a:gdLst>
                <a:gd name="T0" fmla="*/ 0 w 27"/>
                <a:gd name="T1" fmla="*/ 0 h 25"/>
                <a:gd name="T2" fmla="*/ 2 w 27"/>
                <a:gd name="T3" fmla="*/ 38 h 25"/>
                <a:gd name="T4" fmla="*/ 32 w 27"/>
                <a:gd name="T5" fmla="*/ 20 h 25"/>
                <a:gd name="T6" fmla="*/ 2 w 27"/>
                <a:gd name="T7" fmla="*/ 3 h 25"/>
                <a:gd name="T8" fmla="*/ 2 w 27"/>
                <a:gd name="T9" fmla="*/ 3 h 25"/>
                <a:gd name="T10" fmla="*/ 0 w 27"/>
                <a:gd name="T11" fmla="*/ 0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7"/>
                <a:gd name="T19" fmla="*/ 0 h 25"/>
                <a:gd name="T20" fmla="*/ 27 w 27"/>
                <a:gd name="T21" fmla="*/ 25 h 2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7" h="25">
                  <a:moveTo>
                    <a:pt x="0" y="0"/>
                  </a:moveTo>
                  <a:lnTo>
                    <a:pt x="2" y="25"/>
                  </a:lnTo>
                  <a:lnTo>
                    <a:pt x="27" y="13"/>
                  </a:lnTo>
                  <a:lnTo>
                    <a:pt x="2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73" name="Line 70"/>
            <p:cNvSpPr>
              <a:spLocks noChangeShapeType="1"/>
            </p:cNvSpPr>
            <p:nvPr/>
          </p:nvSpPr>
          <p:spPr bwMode="auto">
            <a:xfrm flipH="1">
              <a:off x="4650" y="2473"/>
              <a:ext cx="257" cy="3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74" name="Line 71"/>
            <p:cNvSpPr>
              <a:spLocks noChangeShapeType="1"/>
            </p:cNvSpPr>
            <p:nvPr/>
          </p:nvSpPr>
          <p:spPr bwMode="auto">
            <a:xfrm flipH="1">
              <a:off x="4439" y="2473"/>
              <a:ext cx="68" cy="3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75" name="Freeform 72"/>
            <p:cNvSpPr>
              <a:spLocks/>
            </p:cNvSpPr>
            <p:nvPr/>
          </p:nvSpPr>
          <p:spPr bwMode="auto">
            <a:xfrm>
              <a:off x="4500" y="2976"/>
              <a:ext cx="32" cy="38"/>
            </a:xfrm>
            <a:custGeom>
              <a:avLst/>
              <a:gdLst>
                <a:gd name="T0" fmla="*/ 0 w 27"/>
                <a:gd name="T1" fmla="*/ 0 h 25"/>
                <a:gd name="T2" fmla="*/ 2 w 27"/>
                <a:gd name="T3" fmla="*/ 38 h 25"/>
                <a:gd name="T4" fmla="*/ 32 w 27"/>
                <a:gd name="T5" fmla="*/ 17 h 25"/>
                <a:gd name="T6" fmla="*/ 2 w 27"/>
                <a:gd name="T7" fmla="*/ 0 h 25"/>
                <a:gd name="T8" fmla="*/ 2 w 27"/>
                <a:gd name="T9" fmla="*/ 0 h 25"/>
                <a:gd name="T10" fmla="*/ 0 w 27"/>
                <a:gd name="T11" fmla="*/ 0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7"/>
                <a:gd name="T19" fmla="*/ 0 h 25"/>
                <a:gd name="T20" fmla="*/ 27 w 27"/>
                <a:gd name="T21" fmla="*/ 25 h 2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7" h="25">
                  <a:moveTo>
                    <a:pt x="0" y="0"/>
                  </a:moveTo>
                  <a:lnTo>
                    <a:pt x="2" y="25"/>
                  </a:lnTo>
                  <a:lnTo>
                    <a:pt x="27" y="11"/>
                  </a:lnTo>
                  <a:lnTo>
                    <a:pt x="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76" name="Freeform 73"/>
            <p:cNvSpPr>
              <a:spLocks/>
            </p:cNvSpPr>
            <p:nvPr/>
          </p:nvSpPr>
          <p:spPr bwMode="auto">
            <a:xfrm>
              <a:off x="4650" y="2750"/>
              <a:ext cx="257" cy="243"/>
            </a:xfrm>
            <a:custGeom>
              <a:avLst/>
              <a:gdLst>
                <a:gd name="T0" fmla="*/ 257 w 218"/>
                <a:gd name="T1" fmla="*/ 0 h 159"/>
                <a:gd name="T2" fmla="*/ 192 w 218"/>
                <a:gd name="T3" fmla="*/ 0 h 159"/>
                <a:gd name="T4" fmla="*/ 192 w 218"/>
                <a:gd name="T5" fmla="*/ 243 h 159"/>
                <a:gd name="T6" fmla="*/ 0 w 218"/>
                <a:gd name="T7" fmla="*/ 243 h 15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8"/>
                <a:gd name="T13" fmla="*/ 0 h 159"/>
                <a:gd name="T14" fmla="*/ 218 w 218"/>
                <a:gd name="T15" fmla="*/ 159 h 15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8" h="159">
                  <a:moveTo>
                    <a:pt x="218" y="0"/>
                  </a:moveTo>
                  <a:lnTo>
                    <a:pt x="163" y="0"/>
                  </a:lnTo>
                  <a:lnTo>
                    <a:pt x="163" y="159"/>
                  </a:lnTo>
                  <a:lnTo>
                    <a:pt x="0" y="159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77" name="Line 74"/>
            <p:cNvSpPr>
              <a:spLocks noChangeShapeType="1"/>
            </p:cNvSpPr>
            <p:nvPr/>
          </p:nvSpPr>
          <p:spPr bwMode="auto">
            <a:xfrm flipH="1">
              <a:off x="3986" y="2993"/>
              <a:ext cx="521" cy="2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78" name="Freeform 75"/>
            <p:cNvSpPr>
              <a:spLocks/>
            </p:cNvSpPr>
            <p:nvPr/>
          </p:nvSpPr>
          <p:spPr bwMode="auto">
            <a:xfrm>
              <a:off x="3317" y="2102"/>
              <a:ext cx="184" cy="746"/>
            </a:xfrm>
            <a:custGeom>
              <a:avLst/>
              <a:gdLst>
                <a:gd name="T0" fmla="*/ 0 w 157"/>
                <a:gd name="T1" fmla="*/ 0 h 489"/>
                <a:gd name="T2" fmla="*/ 0 w 157"/>
                <a:gd name="T3" fmla="*/ 302 h 489"/>
                <a:gd name="T4" fmla="*/ 59 w 157"/>
                <a:gd name="T5" fmla="*/ 374 h 489"/>
                <a:gd name="T6" fmla="*/ 0 w 157"/>
                <a:gd name="T7" fmla="*/ 444 h 489"/>
                <a:gd name="T8" fmla="*/ 0 w 157"/>
                <a:gd name="T9" fmla="*/ 746 h 489"/>
                <a:gd name="T10" fmla="*/ 184 w 157"/>
                <a:gd name="T11" fmla="*/ 517 h 489"/>
                <a:gd name="T12" fmla="*/ 184 w 157"/>
                <a:gd name="T13" fmla="*/ 229 h 489"/>
                <a:gd name="T14" fmla="*/ 0 w 157"/>
                <a:gd name="T15" fmla="*/ 0 h 489"/>
                <a:gd name="T16" fmla="*/ 0 w 157"/>
                <a:gd name="T17" fmla="*/ 0 h 48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57"/>
                <a:gd name="T28" fmla="*/ 0 h 489"/>
                <a:gd name="T29" fmla="*/ 157 w 157"/>
                <a:gd name="T30" fmla="*/ 489 h 489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57" h="489">
                  <a:moveTo>
                    <a:pt x="0" y="0"/>
                  </a:moveTo>
                  <a:lnTo>
                    <a:pt x="0" y="198"/>
                  </a:lnTo>
                  <a:lnTo>
                    <a:pt x="50" y="245"/>
                  </a:lnTo>
                  <a:lnTo>
                    <a:pt x="0" y="291"/>
                  </a:lnTo>
                  <a:lnTo>
                    <a:pt x="0" y="489"/>
                  </a:lnTo>
                  <a:lnTo>
                    <a:pt x="157" y="339"/>
                  </a:lnTo>
                  <a:lnTo>
                    <a:pt x="157" y="150"/>
                  </a:lnTo>
                  <a:lnTo>
                    <a:pt x="0" y="0"/>
                  </a:lnTo>
                </a:path>
              </a:pathLst>
            </a:custGeom>
            <a:solidFill>
              <a:srgbClr val="CCFF99"/>
            </a:solidFill>
            <a:ln w="190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79" name="Freeform 76"/>
            <p:cNvSpPr>
              <a:spLocks/>
            </p:cNvSpPr>
            <p:nvPr/>
          </p:nvSpPr>
          <p:spPr bwMode="auto">
            <a:xfrm>
              <a:off x="3214" y="3501"/>
              <a:ext cx="430" cy="335"/>
            </a:xfrm>
            <a:custGeom>
              <a:avLst/>
              <a:gdLst>
                <a:gd name="T0" fmla="*/ 343 w 364"/>
                <a:gd name="T1" fmla="*/ 332 h 219"/>
                <a:gd name="T2" fmla="*/ 358 w 364"/>
                <a:gd name="T3" fmla="*/ 332 h 219"/>
                <a:gd name="T4" fmla="*/ 372 w 364"/>
                <a:gd name="T5" fmla="*/ 329 h 219"/>
                <a:gd name="T6" fmla="*/ 383 w 364"/>
                <a:gd name="T7" fmla="*/ 323 h 219"/>
                <a:gd name="T8" fmla="*/ 395 w 364"/>
                <a:gd name="T9" fmla="*/ 311 h 219"/>
                <a:gd name="T10" fmla="*/ 405 w 364"/>
                <a:gd name="T11" fmla="*/ 303 h 219"/>
                <a:gd name="T12" fmla="*/ 412 w 364"/>
                <a:gd name="T13" fmla="*/ 288 h 219"/>
                <a:gd name="T14" fmla="*/ 422 w 364"/>
                <a:gd name="T15" fmla="*/ 272 h 219"/>
                <a:gd name="T16" fmla="*/ 426 w 364"/>
                <a:gd name="T17" fmla="*/ 259 h 219"/>
                <a:gd name="T18" fmla="*/ 429 w 364"/>
                <a:gd name="T19" fmla="*/ 240 h 219"/>
                <a:gd name="T20" fmla="*/ 430 w 364"/>
                <a:gd name="T21" fmla="*/ 223 h 219"/>
                <a:gd name="T22" fmla="*/ 430 w 364"/>
                <a:gd name="T23" fmla="*/ 112 h 219"/>
                <a:gd name="T24" fmla="*/ 429 w 364"/>
                <a:gd name="T25" fmla="*/ 95 h 219"/>
                <a:gd name="T26" fmla="*/ 426 w 364"/>
                <a:gd name="T27" fmla="*/ 76 h 219"/>
                <a:gd name="T28" fmla="*/ 422 w 364"/>
                <a:gd name="T29" fmla="*/ 60 h 219"/>
                <a:gd name="T30" fmla="*/ 412 w 364"/>
                <a:gd name="T31" fmla="*/ 44 h 219"/>
                <a:gd name="T32" fmla="*/ 405 w 364"/>
                <a:gd name="T33" fmla="*/ 32 h 219"/>
                <a:gd name="T34" fmla="*/ 395 w 364"/>
                <a:gd name="T35" fmla="*/ 21 h 219"/>
                <a:gd name="T36" fmla="*/ 383 w 364"/>
                <a:gd name="T37" fmla="*/ 12 h 219"/>
                <a:gd name="T38" fmla="*/ 372 w 364"/>
                <a:gd name="T39" fmla="*/ 6 h 219"/>
                <a:gd name="T40" fmla="*/ 358 w 364"/>
                <a:gd name="T41" fmla="*/ 0 h 219"/>
                <a:gd name="T42" fmla="*/ 345 w 364"/>
                <a:gd name="T43" fmla="*/ 0 h 219"/>
                <a:gd name="T44" fmla="*/ 86 w 364"/>
                <a:gd name="T45" fmla="*/ 0 h 219"/>
                <a:gd name="T46" fmla="*/ 73 w 364"/>
                <a:gd name="T47" fmla="*/ 0 h 219"/>
                <a:gd name="T48" fmla="*/ 59 w 364"/>
                <a:gd name="T49" fmla="*/ 6 h 219"/>
                <a:gd name="T50" fmla="*/ 46 w 364"/>
                <a:gd name="T51" fmla="*/ 12 h 219"/>
                <a:gd name="T52" fmla="*/ 34 w 364"/>
                <a:gd name="T53" fmla="*/ 21 h 219"/>
                <a:gd name="T54" fmla="*/ 25 w 364"/>
                <a:gd name="T55" fmla="*/ 32 h 219"/>
                <a:gd name="T56" fmla="*/ 17 w 364"/>
                <a:gd name="T57" fmla="*/ 44 h 219"/>
                <a:gd name="T58" fmla="*/ 9 w 364"/>
                <a:gd name="T59" fmla="*/ 60 h 219"/>
                <a:gd name="T60" fmla="*/ 5 w 364"/>
                <a:gd name="T61" fmla="*/ 76 h 219"/>
                <a:gd name="T62" fmla="*/ 0 w 364"/>
                <a:gd name="T63" fmla="*/ 95 h 219"/>
                <a:gd name="T64" fmla="*/ 0 w 364"/>
                <a:gd name="T65" fmla="*/ 112 h 219"/>
                <a:gd name="T66" fmla="*/ 0 w 364"/>
                <a:gd name="T67" fmla="*/ 223 h 219"/>
                <a:gd name="T68" fmla="*/ 0 w 364"/>
                <a:gd name="T69" fmla="*/ 240 h 219"/>
                <a:gd name="T70" fmla="*/ 5 w 364"/>
                <a:gd name="T71" fmla="*/ 259 h 219"/>
                <a:gd name="T72" fmla="*/ 9 w 364"/>
                <a:gd name="T73" fmla="*/ 272 h 219"/>
                <a:gd name="T74" fmla="*/ 17 w 364"/>
                <a:gd name="T75" fmla="*/ 288 h 219"/>
                <a:gd name="T76" fmla="*/ 25 w 364"/>
                <a:gd name="T77" fmla="*/ 303 h 219"/>
                <a:gd name="T78" fmla="*/ 34 w 364"/>
                <a:gd name="T79" fmla="*/ 311 h 219"/>
                <a:gd name="T80" fmla="*/ 46 w 364"/>
                <a:gd name="T81" fmla="*/ 323 h 219"/>
                <a:gd name="T82" fmla="*/ 59 w 364"/>
                <a:gd name="T83" fmla="*/ 329 h 219"/>
                <a:gd name="T84" fmla="*/ 73 w 364"/>
                <a:gd name="T85" fmla="*/ 332 h 219"/>
                <a:gd name="T86" fmla="*/ 86 w 364"/>
                <a:gd name="T87" fmla="*/ 335 h 219"/>
                <a:gd name="T88" fmla="*/ 345 w 364"/>
                <a:gd name="T89" fmla="*/ 335 h 219"/>
                <a:gd name="T90" fmla="*/ 345 w 364"/>
                <a:gd name="T91" fmla="*/ 335 h 219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w 364"/>
                <a:gd name="T139" fmla="*/ 0 h 219"/>
                <a:gd name="T140" fmla="*/ 364 w 364"/>
                <a:gd name="T141" fmla="*/ 219 h 219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T138" t="T139" r="T140" b="T141"/>
              <a:pathLst>
                <a:path w="364" h="219">
                  <a:moveTo>
                    <a:pt x="290" y="217"/>
                  </a:moveTo>
                  <a:lnTo>
                    <a:pt x="303" y="217"/>
                  </a:lnTo>
                  <a:lnTo>
                    <a:pt x="315" y="215"/>
                  </a:lnTo>
                  <a:lnTo>
                    <a:pt x="324" y="211"/>
                  </a:lnTo>
                  <a:lnTo>
                    <a:pt x="334" y="203"/>
                  </a:lnTo>
                  <a:lnTo>
                    <a:pt x="343" y="198"/>
                  </a:lnTo>
                  <a:lnTo>
                    <a:pt x="349" y="188"/>
                  </a:lnTo>
                  <a:lnTo>
                    <a:pt x="357" y="178"/>
                  </a:lnTo>
                  <a:lnTo>
                    <a:pt x="361" y="169"/>
                  </a:lnTo>
                  <a:lnTo>
                    <a:pt x="363" y="157"/>
                  </a:lnTo>
                  <a:lnTo>
                    <a:pt x="364" y="146"/>
                  </a:lnTo>
                  <a:lnTo>
                    <a:pt x="364" y="73"/>
                  </a:lnTo>
                  <a:lnTo>
                    <a:pt x="363" y="62"/>
                  </a:lnTo>
                  <a:lnTo>
                    <a:pt x="361" y="50"/>
                  </a:lnTo>
                  <a:lnTo>
                    <a:pt x="357" y="39"/>
                  </a:lnTo>
                  <a:lnTo>
                    <a:pt x="349" y="29"/>
                  </a:lnTo>
                  <a:lnTo>
                    <a:pt x="343" y="21"/>
                  </a:lnTo>
                  <a:lnTo>
                    <a:pt x="334" y="14"/>
                  </a:lnTo>
                  <a:lnTo>
                    <a:pt x="324" y="8"/>
                  </a:lnTo>
                  <a:lnTo>
                    <a:pt x="315" y="4"/>
                  </a:lnTo>
                  <a:lnTo>
                    <a:pt x="303" y="0"/>
                  </a:lnTo>
                  <a:lnTo>
                    <a:pt x="292" y="0"/>
                  </a:lnTo>
                  <a:lnTo>
                    <a:pt x="73" y="0"/>
                  </a:lnTo>
                  <a:lnTo>
                    <a:pt x="62" y="0"/>
                  </a:lnTo>
                  <a:lnTo>
                    <a:pt x="50" y="4"/>
                  </a:lnTo>
                  <a:lnTo>
                    <a:pt x="39" y="8"/>
                  </a:lnTo>
                  <a:lnTo>
                    <a:pt x="29" y="14"/>
                  </a:lnTo>
                  <a:lnTo>
                    <a:pt x="21" y="21"/>
                  </a:lnTo>
                  <a:lnTo>
                    <a:pt x="14" y="29"/>
                  </a:lnTo>
                  <a:lnTo>
                    <a:pt x="8" y="39"/>
                  </a:lnTo>
                  <a:lnTo>
                    <a:pt x="4" y="50"/>
                  </a:lnTo>
                  <a:lnTo>
                    <a:pt x="0" y="62"/>
                  </a:lnTo>
                  <a:lnTo>
                    <a:pt x="0" y="73"/>
                  </a:lnTo>
                  <a:lnTo>
                    <a:pt x="0" y="146"/>
                  </a:lnTo>
                  <a:lnTo>
                    <a:pt x="0" y="157"/>
                  </a:lnTo>
                  <a:lnTo>
                    <a:pt x="4" y="169"/>
                  </a:lnTo>
                  <a:lnTo>
                    <a:pt x="8" y="178"/>
                  </a:lnTo>
                  <a:lnTo>
                    <a:pt x="14" y="188"/>
                  </a:lnTo>
                  <a:lnTo>
                    <a:pt x="21" y="198"/>
                  </a:lnTo>
                  <a:lnTo>
                    <a:pt x="29" y="203"/>
                  </a:lnTo>
                  <a:lnTo>
                    <a:pt x="39" y="211"/>
                  </a:lnTo>
                  <a:lnTo>
                    <a:pt x="50" y="215"/>
                  </a:lnTo>
                  <a:lnTo>
                    <a:pt x="62" y="217"/>
                  </a:lnTo>
                  <a:lnTo>
                    <a:pt x="73" y="219"/>
                  </a:lnTo>
                  <a:lnTo>
                    <a:pt x="292" y="219"/>
                  </a:lnTo>
                </a:path>
              </a:pathLst>
            </a:custGeom>
            <a:solidFill>
              <a:srgbClr val="FFE6CD"/>
            </a:solidFill>
            <a:ln w="28575" cap="flat" cmpd="sng">
              <a:solidFill>
                <a:srgbClr val="EB75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80" name="Rectangle 77"/>
            <p:cNvSpPr>
              <a:spLocks noChangeArrowheads="1"/>
            </p:cNvSpPr>
            <p:nvPr/>
          </p:nvSpPr>
          <p:spPr bwMode="auto">
            <a:xfrm>
              <a:off x="3237" y="3578"/>
              <a:ext cx="383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n-US" sz="1000">
                  <a:solidFill>
                    <a:srgbClr val="EB7500"/>
                  </a:solidFill>
                  <a:latin typeface="+mj-lt"/>
                </a:rPr>
                <a:t>Forwarding</a:t>
              </a:r>
            </a:p>
            <a:p>
              <a:pPr algn="ctr"/>
              <a:r>
                <a:rPr lang="en-US" sz="1000">
                  <a:solidFill>
                    <a:srgbClr val="EB7500"/>
                  </a:solidFill>
                  <a:latin typeface="+mj-lt"/>
                </a:rPr>
                <a:t>Unit</a:t>
              </a:r>
              <a:endParaRPr lang="en-US" sz="1000">
                <a:latin typeface="+mj-lt"/>
              </a:endParaRPr>
            </a:p>
          </p:txBody>
        </p:sp>
        <p:sp>
          <p:nvSpPr>
            <p:cNvPr id="81" name="Freeform 78"/>
            <p:cNvSpPr>
              <a:spLocks/>
            </p:cNvSpPr>
            <p:nvPr/>
          </p:nvSpPr>
          <p:spPr bwMode="auto">
            <a:xfrm>
              <a:off x="2975" y="2885"/>
              <a:ext cx="30" cy="38"/>
            </a:xfrm>
            <a:custGeom>
              <a:avLst/>
              <a:gdLst>
                <a:gd name="T0" fmla="*/ 0 w 25"/>
                <a:gd name="T1" fmla="*/ 0 h 25"/>
                <a:gd name="T2" fmla="*/ 0 w 25"/>
                <a:gd name="T3" fmla="*/ 38 h 25"/>
                <a:gd name="T4" fmla="*/ 30 w 25"/>
                <a:gd name="T5" fmla="*/ 21 h 25"/>
                <a:gd name="T6" fmla="*/ 0 w 25"/>
                <a:gd name="T7" fmla="*/ 0 h 25"/>
                <a:gd name="T8" fmla="*/ 0 w 25"/>
                <a:gd name="T9" fmla="*/ 0 h 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"/>
                <a:gd name="T16" fmla="*/ 0 h 25"/>
                <a:gd name="T17" fmla="*/ 25 w 25"/>
                <a:gd name="T18" fmla="*/ 25 h 2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" h="25">
                  <a:moveTo>
                    <a:pt x="0" y="0"/>
                  </a:moveTo>
                  <a:lnTo>
                    <a:pt x="0" y="25"/>
                  </a:lnTo>
                  <a:lnTo>
                    <a:pt x="25" y="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82" name="Freeform 79"/>
            <p:cNvSpPr>
              <a:spLocks/>
            </p:cNvSpPr>
            <p:nvPr/>
          </p:nvSpPr>
          <p:spPr bwMode="auto">
            <a:xfrm>
              <a:off x="2975" y="3324"/>
              <a:ext cx="30" cy="37"/>
            </a:xfrm>
            <a:custGeom>
              <a:avLst/>
              <a:gdLst>
                <a:gd name="T0" fmla="*/ 0 w 25"/>
                <a:gd name="T1" fmla="*/ 0 h 24"/>
                <a:gd name="T2" fmla="*/ 0 w 25"/>
                <a:gd name="T3" fmla="*/ 37 h 24"/>
                <a:gd name="T4" fmla="*/ 30 w 25"/>
                <a:gd name="T5" fmla="*/ 20 h 24"/>
                <a:gd name="T6" fmla="*/ 0 w 25"/>
                <a:gd name="T7" fmla="*/ 0 h 24"/>
                <a:gd name="T8" fmla="*/ 0 w 25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"/>
                <a:gd name="T16" fmla="*/ 0 h 24"/>
                <a:gd name="T17" fmla="*/ 25 w 25"/>
                <a:gd name="T18" fmla="*/ 24 h 2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" h="24">
                  <a:moveTo>
                    <a:pt x="0" y="0"/>
                  </a:moveTo>
                  <a:lnTo>
                    <a:pt x="0" y="24"/>
                  </a:lnTo>
                  <a:lnTo>
                    <a:pt x="25" y="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83" name="Freeform 80"/>
            <p:cNvSpPr>
              <a:spLocks/>
            </p:cNvSpPr>
            <p:nvPr/>
          </p:nvSpPr>
          <p:spPr bwMode="auto">
            <a:xfrm>
              <a:off x="2975" y="3459"/>
              <a:ext cx="30" cy="38"/>
            </a:xfrm>
            <a:custGeom>
              <a:avLst/>
              <a:gdLst>
                <a:gd name="T0" fmla="*/ 0 w 25"/>
                <a:gd name="T1" fmla="*/ 0 h 25"/>
                <a:gd name="T2" fmla="*/ 0 w 25"/>
                <a:gd name="T3" fmla="*/ 38 h 25"/>
                <a:gd name="T4" fmla="*/ 30 w 25"/>
                <a:gd name="T5" fmla="*/ 20 h 25"/>
                <a:gd name="T6" fmla="*/ 0 w 25"/>
                <a:gd name="T7" fmla="*/ 3 h 25"/>
                <a:gd name="T8" fmla="*/ 0 w 25"/>
                <a:gd name="T9" fmla="*/ 3 h 25"/>
                <a:gd name="T10" fmla="*/ 0 w 25"/>
                <a:gd name="T11" fmla="*/ 0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"/>
                <a:gd name="T19" fmla="*/ 0 h 25"/>
                <a:gd name="T20" fmla="*/ 25 w 25"/>
                <a:gd name="T21" fmla="*/ 25 h 2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" h="25">
                  <a:moveTo>
                    <a:pt x="0" y="0"/>
                  </a:moveTo>
                  <a:lnTo>
                    <a:pt x="0" y="25"/>
                  </a:lnTo>
                  <a:lnTo>
                    <a:pt x="25" y="13"/>
                  </a:lnTo>
                  <a:lnTo>
                    <a:pt x="0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84" name="Line 81"/>
            <p:cNvSpPr>
              <a:spLocks noChangeShapeType="1"/>
            </p:cNvSpPr>
            <p:nvPr/>
          </p:nvSpPr>
          <p:spPr bwMode="auto">
            <a:xfrm flipH="1">
              <a:off x="2859" y="2903"/>
              <a:ext cx="129" cy="3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85" name="Freeform 82"/>
            <p:cNvSpPr>
              <a:spLocks/>
            </p:cNvSpPr>
            <p:nvPr/>
          </p:nvSpPr>
          <p:spPr bwMode="auto">
            <a:xfrm>
              <a:off x="2975" y="2303"/>
              <a:ext cx="30" cy="38"/>
            </a:xfrm>
            <a:custGeom>
              <a:avLst/>
              <a:gdLst>
                <a:gd name="T0" fmla="*/ 0 w 25"/>
                <a:gd name="T1" fmla="*/ 0 h 25"/>
                <a:gd name="T2" fmla="*/ 0 w 25"/>
                <a:gd name="T3" fmla="*/ 38 h 25"/>
                <a:gd name="T4" fmla="*/ 30 w 25"/>
                <a:gd name="T5" fmla="*/ 18 h 25"/>
                <a:gd name="T6" fmla="*/ 0 w 25"/>
                <a:gd name="T7" fmla="*/ 0 h 25"/>
                <a:gd name="T8" fmla="*/ 0 w 25"/>
                <a:gd name="T9" fmla="*/ 0 h 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"/>
                <a:gd name="T16" fmla="*/ 0 h 25"/>
                <a:gd name="T17" fmla="*/ 25 w 25"/>
                <a:gd name="T18" fmla="*/ 25 h 2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" h="25">
                  <a:moveTo>
                    <a:pt x="0" y="0"/>
                  </a:moveTo>
                  <a:lnTo>
                    <a:pt x="0" y="25"/>
                  </a:lnTo>
                  <a:lnTo>
                    <a:pt x="25" y="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86" name="Freeform 83"/>
            <p:cNvSpPr>
              <a:spLocks/>
            </p:cNvSpPr>
            <p:nvPr/>
          </p:nvSpPr>
          <p:spPr bwMode="auto">
            <a:xfrm>
              <a:off x="3276" y="2164"/>
              <a:ext cx="32" cy="37"/>
            </a:xfrm>
            <a:custGeom>
              <a:avLst/>
              <a:gdLst>
                <a:gd name="T0" fmla="*/ 0 w 27"/>
                <a:gd name="T1" fmla="*/ 0 h 24"/>
                <a:gd name="T2" fmla="*/ 2 w 27"/>
                <a:gd name="T3" fmla="*/ 37 h 24"/>
                <a:gd name="T4" fmla="*/ 32 w 27"/>
                <a:gd name="T5" fmla="*/ 20 h 24"/>
                <a:gd name="T6" fmla="*/ 2 w 27"/>
                <a:gd name="T7" fmla="*/ 2 h 24"/>
                <a:gd name="T8" fmla="*/ 2 w 27"/>
                <a:gd name="T9" fmla="*/ 2 h 24"/>
                <a:gd name="T10" fmla="*/ 0 w 27"/>
                <a:gd name="T11" fmla="*/ 0 h 2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7"/>
                <a:gd name="T19" fmla="*/ 0 h 24"/>
                <a:gd name="T20" fmla="*/ 27 w 27"/>
                <a:gd name="T21" fmla="*/ 24 h 2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7" h="24">
                  <a:moveTo>
                    <a:pt x="0" y="0"/>
                  </a:moveTo>
                  <a:lnTo>
                    <a:pt x="2" y="24"/>
                  </a:lnTo>
                  <a:lnTo>
                    <a:pt x="27" y="13"/>
                  </a:lnTo>
                  <a:lnTo>
                    <a:pt x="2" y="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87" name="Line 84"/>
            <p:cNvSpPr>
              <a:spLocks noChangeShapeType="1"/>
            </p:cNvSpPr>
            <p:nvPr/>
          </p:nvSpPr>
          <p:spPr bwMode="auto">
            <a:xfrm flipH="1">
              <a:off x="3117" y="2184"/>
              <a:ext cx="170" cy="2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88" name="Freeform 85"/>
            <p:cNvSpPr>
              <a:spLocks/>
            </p:cNvSpPr>
            <p:nvPr/>
          </p:nvSpPr>
          <p:spPr bwMode="auto">
            <a:xfrm>
              <a:off x="2975" y="2164"/>
              <a:ext cx="30" cy="37"/>
            </a:xfrm>
            <a:custGeom>
              <a:avLst/>
              <a:gdLst>
                <a:gd name="T0" fmla="*/ 0 w 25"/>
                <a:gd name="T1" fmla="*/ 0 h 24"/>
                <a:gd name="T2" fmla="*/ 0 w 25"/>
                <a:gd name="T3" fmla="*/ 37 h 24"/>
                <a:gd name="T4" fmla="*/ 30 w 25"/>
                <a:gd name="T5" fmla="*/ 20 h 24"/>
                <a:gd name="T6" fmla="*/ 0 w 25"/>
                <a:gd name="T7" fmla="*/ 2 h 24"/>
                <a:gd name="T8" fmla="*/ 0 w 25"/>
                <a:gd name="T9" fmla="*/ 2 h 24"/>
                <a:gd name="T10" fmla="*/ 0 w 25"/>
                <a:gd name="T11" fmla="*/ 0 h 2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"/>
                <a:gd name="T19" fmla="*/ 0 h 24"/>
                <a:gd name="T20" fmla="*/ 25 w 25"/>
                <a:gd name="T21" fmla="*/ 24 h 2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" h="24">
                  <a:moveTo>
                    <a:pt x="0" y="0"/>
                  </a:moveTo>
                  <a:lnTo>
                    <a:pt x="0" y="24"/>
                  </a:lnTo>
                  <a:lnTo>
                    <a:pt x="25" y="13"/>
                  </a:ln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89" name="Freeform 86"/>
            <p:cNvSpPr>
              <a:spLocks/>
            </p:cNvSpPr>
            <p:nvPr/>
          </p:nvSpPr>
          <p:spPr bwMode="auto">
            <a:xfrm>
              <a:off x="2859" y="2322"/>
              <a:ext cx="129" cy="1680"/>
            </a:xfrm>
            <a:custGeom>
              <a:avLst/>
              <a:gdLst>
                <a:gd name="T0" fmla="*/ 129 w 109"/>
                <a:gd name="T1" fmla="*/ 0 h 1191"/>
                <a:gd name="T2" fmla="*/ 0 w 109"/>
                <a:gd name="T3" fmla="*/ 0 h 1191"/>
                <a:gd name="T4" fmla="*/ 0 w 109"/>
                <a:gd name="T5" fmla="*/ 1680 h 1191"/>
                <a:gd name="T6" fmla="*/ 0 60000 65536"/>
                <a:gd name="T7" fmla="*/ 0 60000 65536"/>
                <a:gd name="T8" fmla="*/ 0 60000 65536"/>
                <a:gd name="T9" fmla="*/ 0 w 109"/>
                <a:gd name="T10" fmla="*/ 0 h 1191"/>
                <a:gd name="T11" fmla="*/ 109 w 109"/>
                <a:gd name="T12" fmla="*/ 1191 h 119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9" h="1191">
                  <a:moveTo>
                    <a:pt x="109" y="0"/>
                  </a:moveTo>
                  <a:lnTo>
                    <a:pt x="0" y="0"/>
                  </a:lnTo>
                  <a:lnTo>
                    <a:pt x="0" y="1191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90" name="Freeform 87"/>
            <p:cNvSpPr>
              <a:spLocks/>
            </p:cNvSpPr>
            <p:nvPr/>
          </p:nvSpPr>
          <p:spPr bwMode="auto">
            <a:xfrm>
              <a:off x="2975" y="2027"/>
              <a:ext cx="30" cy="37"/>
            </a:xfrm>
            <a:custGeom>
              <a:avLst/>
              <a:gdLst>
                <a:gd name="T0" fmla="*/ 0 w 25"/>
                <a:gd name="T1" fmla="*/ 0 h 24"/>
                <a:gd name="T2" fmla="*/ 0 w 25"/>
                <a:gd name="T3" fmla="*/ 37 h 24"/>
                <a:gd name="T4" fmla="*/ 30 w 25"/>
                <a:gd name="T5" fmla="*/ 20 h 24"/>
                <a:gd name="T6" fmla="*/ 0 w 25"/>
                <a:gd name="T7" fmla="*/ 0 h 24"/>
                <a:gd name="T8" fmla="*/ 0 w 25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"/>
                <a:gd name="T16" fmla="*/ 0 h 24"/>
                <a:gd name="T17" fmla="*/ 25 w 25"/>
                <a:gd name="T18" fmla="*/ 24 h 2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" h="24">
                  <a:moveTo>
                    <a:pt x="0" y="0"/>
                  </a:moveTo>
                  <a:lnTo>
                    <a:pt x="0" y="24"/>
                  </a:lnTo>
                  <a:lnTo>
                    <a:pt x="25" y="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91" name="Line 88"/>
            <p:cNvSpPr>
              <a:spLocks noChangeShapeType="1"/>
            </p:cNvSpPr>
            <p:nvPr/>
          </p:nvSpPr>
          <p:spPr bwMode="auto">
            <a:xfrm flipH="1">
              <a:off x="2602" y="2044"/>
              <a:ext cx="386" cy="3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92" name="Freeform 89"/>
            <p:cNvSpPr>
              <a:spLocks/>
            </p:cNvSpPr>
            <p:nvPr/>
          </p:nvSpPr>
          <p:spPr bwMode="auto">
            <a:xfrm>
              <a:off x="2846" y="2885"/>
              <a:ext cx="28" cy="38"/>
            </a:xfrm>
            <a:custGeom>
              <a:avLst/>
              <a:gdLst>
                <a:gd name="T0" fmla="*/ 11 w 23"/>
                <a:gd name="T1" fmla="*/ 38 h 25"/>
                <a:gd name="T2" fmla="*/ 16 w 23"/>
                <a:gd name="T3" fmla="*/ 38 h 25"/>
                <a:gd name="T4" fmla="*/ 18 w 23"/>
                <a:gd name="T5" fmla="*/ 38 h 25"/>
                <a:gd name="T6" fmla="*/ 21 w 23"/>
                <a:gd name="T7" fmla="*/ 35 h 25"/>
                <a:gd name="T8" fmla="*/ 23 w 23"/>
                <a:gd name="T9" fmla="*/ 35 h 25"/>
                <a:gd name="T10" fmla="*/ 23 w 23"/>
                <a:gd name="T11" fmla="*/ 32 h 25"/>
                <a:gd name="T12" fmla="*/ 26 w 23"/>
                <a:gd name="T13" fmla="*/ 32 h 25"/>
                <a:gd name="T14" fmla="*/ 26 w 23"/>
                <a:gd name="T15" fmla="*/ 30 h 25"/>
                <a:gd name="T16" fmla="*/ 28 w 23"/>
                <a:gd name="T17" fmla="*/ 27 h 25"/>
                <a:gd name="T18" fmla="*/ 28 w 23"/>
                <a:gd name="T19" fmla="*/ 24 h 25"/>
                <a:gd name="T20" fmla="*/ 28 w 23"/>
                <a:gd name="T21" fmla="*/ 21 h 25"/>
                <a:gd name="T22" fmla="*/ 28 w 23"/>
                <a:gd name="T23" fmla="*/ 18 h 25"/>
                <a:gd name="T24" fmla="*/ 28 w 23"/>
                <a:gd name="T25" fmla="*/ 15 h 25"/>
                <a:gd name="T26" fmla="*/ 26 w 23"/>
                <a:gd name="T27" fmla="*/ 12 h 25"/>
                <a:gd name="T28" fmla="*/ 26 w 23"/>
                <a:gd name="T29" fmla="*/ 9 h 25"/>
                <a:gd name="T30" fmla="*/ 23 w 23"/>
                <a:gd name="T31" fmla="*/ 6 h 25"/>
                <a:gd name="T32" fmla="*/ 23 w 23"/>
                <a:gd name="T33" fmla="*/ 6 h 25"/>
                <a:gd name="T34" fmla="*/ 21 w 23"/>
                <a:gd name="T35" fmla="*/ 3 h 25"/>
                <a:gd name="T36" fmla="*/ 18 w 23"/>
                <a:gd name="T37" fmla="*/ 3 h 25"/>
                <a:gd name="T38" fmla="*/ 16 w 23"/>
                <a:gd name="T39" fmla="*/ 3 h 25"/>
                <a:gd name="T40" fmla="*/ 13 w 23"/>
                <a:gd name="T41" fmla="*/ 0 h 25"/>
                <a:gd name="T42" fmla="*/ 11 w 23"/>
                <a:gd name="T43" fmla="*/ 3 h 25"/>
                <a:gd name="T44" fmla="*/ 9 w 23"/>
                <a:gd name="T45" fmla="*/ 3 h 25"/>
                <a:gd name="T46" fmla="*/ 6 w 23"/>
                <a:gd name="T47" fmla="*/ 3 h 25"/>
                <a:gd name="T48" fmla="*/ 4 w 23"/>
                <a:gd name="T49" fmla="*/ 6 h 25"/>
                <a:gd name="T50" fmla="*/ 2 w 23"/>
                <a:gd name="T51" fmla="*/ 6 h 25"/>
                <a:gd name="T52" fmla="*/ 2 w 23"/>
                <a:gd name="T53" fmla="*/ 9 h 25"/>
                <a:gd name="T54" fmla="*/ 0 w 23"/>
                <a:gd name="T55" fmla="*/ 12 h 25"/>
                <a:gd name="T56" fmla="*/ 0 w 23"/>
                <a:gd name="T57" fmla="*/ 15 h 25"/>
                <a:gd name="T58" fmla="*/ 0 w 23"/>
                <a:gd name="T59" fmla="*/ 18 h 25"/>
                <a:gd name="T60" fmla="*/ 0 w 23"/>
                <a:gd name="T61" fmla="*/ 21 h 25"/>
                <a:gd name="T62" fmla="*/ 0 w 23"/>
                <a:gd name="T63" fmla="*/ 24 h 25"/>
                <a:gd name="T64" fmla="*/ 0 w 23"/>
                <a:gd name="T65" fmla="*/ 27 h 25"/>
                <a:gd name="T66" fmla="*/ 0 w 23"/>
                <a:gd name="T67" fmla="*/ 30 h 25"/>
                <a:gd name="T68" fmla="*/ 2 w 23"/>
                <a:gd name="T69" fmla="*/ 32 h 25"/>
                <a:gd name="T70" fmla="*/ 2 w 23"/>
                <a:gd name="T71" fmla="*/ 32 h 25"/>
                <a:gd name="T72" fmla="*/ 4 w 23"/>
                <a:gd name="T73" fmla="*/ 35 h 25"/>
                <a:gd name="T74" fmla="*/ 6 w 23"/>
                <a:gd name="T75" fmla="*/ 35 h 25"/>
                <a:gd name="T76" fmla="*/ 9 w 23"/>
                <a:gd name="T77" fmla="*/ 38 h 25"/>
                <a:gd name="T78" fmla="*/ 11 w 23"/>
                <a:gd name="T79" fmla="*/ 38 h 25"/>
                <a:gd name="T80" fmla="*/ 13 w 23"/>
                <a:gd name="T81" fmla="*/ 38 h 25"/>
                <a:gd name="T82" fmla="*/ 13 w 23"/>
                <a:gd name="T83" fmla="*/ 38 h 25"/>
                <a:gd name="T84" fmla="*/ 11 w 23"/>
                <a:gd name="T85" fmla="*/ 38 h 25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3"/>
                <a:gd name="T130" fmla="*/ 0 h 25"/>
                <a:gd name="T131" fmla="*/ 23 w 23"/>
                <a:gd name="T132" fmla="*/ 25 h 25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3" h="25">
                  <a:moveTo>
                    <a:pt x="9" y="25"/>
                  </a:moveTo>
                  <a:lnTo>
                    <a:pt x="13" y="25"/>
                  </a:lnTo>
                  <a:lnTo>
                    <a:pt x="15" y="25"/>
                  </a:lnTo>
                  <a:lnTo>
                    <a:pt x="17" y="23"/>
                  </a:lnTo>
                  <a:lnTo>
                    <a:pt x="19" y="23"/>
                  </a:lnTo>
                  <a:lnTo>
                    <a:pt x="19" y="21"/>
                  </a:lnTo>
                  <a:lnTo>
                    <a:pt x="21" y="21"/>
                  </a:lnTo>
                  <a:lnTo>
                    <a:pt x="21" y="20"/>
                  </a:lnTo>
                  <a:lnTo>
                    <a:pt x="23" y="18"/>
                  </a:lnTo>
                  <a:lnTo>
                    <a:pt x="23" y="16"/>
                  </a:lnTo>
                  <a:lnTo>
                    <a:pt x="23" y="14"/>
                  </a:lnTo>
                  <a:lnTo>
                    <a:pt x="23" y="12"/>
                  </a:lnTo>
                  <a:lnTo>
                    <a:pt x="23" y="10"/>
                  </a:lnTo>
                  <a:lnTo>
                    <a:pt x="21" y="8"/>
                  </a:lnTo>
                  <a:lnTo>
                    <a:pt x="21" y="6"/>
                  </a:lnTo>
                  <a:lnTo>
                    <a:pt x="19" y="4"/>
                  </a:lnTo>
                  <a:lnTo>
                    <a:pt x="17" y="2"/>
                  </a:lnTo>
                  <a:lnTo>
                    <a:pt x="15" y="2"/>
                  </a:lnTo>
                  <a:lnTo>
                    <a:pt x="13" y="2"/>
                  </a:lnTo>
                  <a:lnTo>
                    <a:pt x="11" y="0"/>
                  </a:lnTo>
                  <a:lnTo>
                    <a:pt x="9" y="2"/>
                  </a:lnTo>
                  <a:lnTo>
                    <a:pt x="7" y="2"/>
                  </a:lnTo>
                  <a:lnTo>
                    <a:pt x="5" y="2"/>
                  </a:lnTo>
                  <a:lnTo>
                    <a:pt x="3" y="4"/>
                  </a:lnTo>
                  <a:lnTo>
                    <a:pt x="2" y="4"/>
                  </a:lnTo>
                  <a:lnTo>
                    <a:pt x="2" y="6"/>
                  </a:lnTo>
                  <a:lnTo>
                    <a:pt x="0" y="8"/>
                  </a:lnTo>
                  <a:lnTo>
                    <a:pt x="0" y="10"/>
                  </a:lnTo>
                  <a:lnTo>
                    <a:pt x="0" y="12"/>
                  </a:lnTo>
                  <a:lnTo>
                    <a:pt x="0" y="14"/>
                  </a:lnTo>
                  <a:lnTo>
                    <a:pt x="0" y="16"/>
                  </a:lnTo>
                  <a:lnTo>
                    <a:pt x="0" y="18"/>
                  </a:lnTo>
                  <a:lnTo>
                    <a:pt x="0" y="20"/>
                  </a:lnTo>
                  <a:lnTo>
                    <a:pt x="2" y="21"/>
                  </a:lnTo>
                  <a:lnTo>
                    <a:pt x="3" y="23"/>
                  </a:lnTo>
                  <a:lnTo>
                    <a:pt x="5" y="23"/>
                  </a:lnTo>
                  <a:lnTo>
                    <a:pt x="7" y="25"/>
                  </a:lnTo>
                  <a:lnTo>
                    <a:pt x="9" y="25"/>
                  </a:lnTo>
                  <a:lnTo>
                    <a:pt x="11" y="25"/>
                  </a:lnTo>
                  <a:lnTo>
                    <a:pt x="9" y="25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93" name="Line 90"/>
            <p:cNvSpPr>
              <a:spLocks noChangeShapeType="1"/>
            </p:cNvSpPr>
            <p:nvPr/>
          </p:nvSpPr>
          <p:spPr bwMode="auto">
            <a:xfrm>
              <a:off x="1113" y="2503"/>
              <a:ext cx="131" cy="3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94" name="Freeform 91"/>
            <p:cNvSpPr>
              <a:spLocks/>
            </p:cNvSpPr>
            <p:nvPr/>
          </p:nvSpPr>
          <p:spPr bwMode="auto">
            <a:xfrm>
              <a:off x="1244" y="1459"/>
              <a:ext cx="1218" cy="2023"/>
            </a:xfrm>
            <a:custGeom>
              <a:avLst/>
              <a:gdLst>
                <a:gd name="T0" fmla="*/ 1218 w 1032"/>
                <a:gd name="T1" fmla="*/ 2020 h 1325"/>
                <a:gd name="T2" fmla="*/ 0 w 1032"/>
                <a:gd name="T3" fmla="*/ 2023 h 1325"/>
                <a:gd name="T4" fmla="*/ 0 w 1032"/>
                <a:gd name="T5" fmla="*/ 0 h 1325"/>
                <a:gd name="T6" fmla="*/ 486 w 1032"/>
                <a:gd name="T7" fmla="*/ 0 h 132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32"/>
                <a:gd name="T13" fmla="*/ 0 h 1325"/>
                <a:gd name="T14" fmla="*/ 1032 w 1032"/>
                <a:gd name="T15" fmla="*/ 1325 h 132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32" h="1325">
                  <a:moveTo>
                    <a:pt x="1032" y="1323"/>
                  </a:moveTo>
                  <a:lnTo>
                    <a:pt x="0" y="1325"/>
                  </a:lnTo>
                  <a:lnTo>
                    <a:pt x="0" y="0"/>
                  </a:lnTo>
                  <a:lnTo>
                    <a:pt x="412" y="0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95" name="Freeform 92"/>
            <p:cNvSpPr>
              <a:spLocks/>
            </p:cNvSpPr>
            <p:nvPr/>
          </p:nvSpPr>
          <p:spPr bwMode="auto">
            <a:xfrm>
              <a:off x="2452" y="3192"/>
              <a:ext cx="29" cy="38"/>
            </a:xfrm>
            <a:custGeom>
              <a:avLst/>
              <a:gdLst>
                <a:gd name="T0" fmla="*/ 0 w 25"/>
                <a:gd name="T1" fmla="*/ 0 h 25"/>
                <a:gd name="T2" fmla="*/ 2 w 25"/>
                <a:gd name="T3" fmla="*/ 38 h 25"/>
                <a:gd name="T4" fmla="*/ 29 w 25"/>
                <a:gd name="T5" fmla="*/ 18 h 25"/>
                <a:gd name="T6" fmla="*/ 2 w 25"/>
                <a:gd name="T7" fmla="*/ 0 h 25"/>
                <a:gd name="T8" fmla="*/ 2 w 25"/>
                <a:gd name="T9" fmla="*/ 0 h 25"/>
                <a:gd name="T10" fmla="*/ 0 w 25"/>
                <a:gd name="T11" fmla="*/ 0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"/>
                <a:gd name="T19" fmla="*/ 0 h 25"/>
                <a:gd name="T20" fmla="*/ 25 w 25"/>
                <a:gd name="T21" fmla="*/ 25 h 2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" h="25">
                  <a:moveTo>
                    <a:pt x="0" y="0"/>
                  </a:moveTo>
                  <a:lnTo>
                    <a:pt x="2" y="25"/>
                  </a:lnTo>
                  <a:lnTo>
                    <a:pt x="25" y="12"/>
                  </a:lnTo>
                  <a:lnTo>
                    <a:pt x="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96" name="Freeform 93"/>
            <p:cNvSpPr>
              <a:spLocks/>
            </p:cNvSpPr>
            <p:nvPr/>
          </p:nvSpPr>
          <p:spPr bwMode="auto">
            <a:xfrm>
              <a:off x="1372" y="2268"/>
              <a:ext cx="1090" cy="942"/>
            </a:xfrm>
            <a:custGeom>
              <a:avLst/>
              <a:gdLst>
                <a:gd name="T0" fmla="*/ 1090 w 923"/>
                <a:gd name="T1" fmla="*/ 942 h 617"/>
                <a:gd name="T2" fmla="*/ 0 w 923"/>
                <a:gd name="T3" fmla="*/ 942 h 617"/>
                <a:gd name="T4" fmla="*/ 0 w 923"/>
                <a:gd name="T5" fmla="*/ 0 h 617"/>
                <a:gd name="T6" fmla="*/ 0 60000 65536"/>
                <a:gd name="T7" fmla="*/ 0 60000 65536"/>
                <a:gd name="T8" fmla="*/ 0 60000 65536"/>
                <a:gd name="T9" fmla="*/ 0 w 923"/>
                <a:gd name="T10" fmla="*/ 0 h 617"/>
                <a:gd name="T11" fmla="*/ 923 w 923"/>
                <a:gd name="T12" fmla="*/ 617 h 61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23" h="617">
                  <a:moveTo>
                    <a:pt x="923" y="617"/>
                  </a:moveTo>
                  <a:lnTo>
                    <a:pt x="0" y="617"/>
                  </a:lnTo>
                  <a:lnTo>
                    <a:pt x="0" y="0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97" name="Freeform 94"/>
            <p:cNvSpPr>
              <a:spLocks/>
            </p:cNvSpPr>
            <p:nvPr/>
          </p:nvSpPr>
          <p:spPr bwMode="auto">
            <a:xfrm>
              <a:off x="2452" y="3324"/>
              <a:ext cx="29" cy="37"/>
            </a:xfrm>
            <a:custGeom>
              <a:avLst/>
              <a:gdLst>
                <a:gd name="T0" fmla="*/ 0 w 25"/>
                <a:gd name="T1" fmla="*/ 0 h 24"/>
                <a:gd name="T2" fmla="*/ 2 w 25"/>
                <a:gd name="T3" fmla="*/ 37 h 24"/>
                <a:gd name="T4" fmla="*/ 29 w 25"/>
                <a:gd name="T5" fmla="*/ 17 h 24"/>
                <a:gd name="T6" fmla="*/ 2 w 25"/>
                <a:gd name="T7" fmla="*/ 0 h 24"/>
                <a:gd name="T8" fmla="*/ 2 w 25"/>
                <a:gd name="T9" fmla="*/ 0 h 24"/>
                <a:gd name="T10" fmla="*/ 0 w 25"/>
                <a:gd name="T11" fmla="*/ 0 h 2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"/>
                <a:gd name="T19" fmla="*/ 0 h 24"/>
                <a:gd name="T20" fmla="*/ 25 w 25"/>
                <a:gd name="T21" fmla="*/ 24 h 2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" h="24">
                  <a:moveTo>
                    <a:pt x="0" y="0"/>
                  </a:moveTo>
                  <a:lnTo>
                    <a:pt x="2" y="24"/>
                  </a:lnTo>
                  <a:lnTo>
                    <a:pt x="25" y="11"/>
                  </a:lnTo>
                  <a:lnTo>
                    <a:pt x="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98" name="Line 95"/>
            <p:cNvSpPr>
              <a:spLocks noChangeShapeType="1"/>
            </p:cNvSpPr>
            <p:nvPr/>
          </p:nvSpPr>
          <p:spPr bwMode="auto">
            <a:xfrm>
              <a:off x="1244" y="3341"/>
              <a:ext cx="1220" cy="2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99" name="Freeform 96"/>
            <p:cNvSpPr>
              <a:spLocks/>
            </p:cNvSpPr>
            <p:nvPr/>
          </p:nvSpPr>
          <p:spPr bwMode="auto">
            <a:xfrm>
              <a:off x="2452" y="3462"/>
              <a:ext cx="29" cy="36"/>
            </a:xfrm>
            <a:custGeom>
              <a:avLst/>
              <a:gdLst>
                <a:gd name="T0" fmla="*/ 0 w 25"/>
                <a:gd name="T1" fmla="*/ 0 h 24"/>
                <a:gd name="T2" fmla="*/ 2 w 25"/>
                <a:gd name="T3" fmla="*/ 36 h 24"/>
                <a:gd name="T4" fmla="*/ 29 w 25"/>
                <a:gd name="T5" fmla="*/ 17 h 24"/>
                <a:gd name="T6" fmla="*/ 2 w 25"/>
                <a:gd name="T7" fmla="*/ 0 h 24"/>
                <a:gd name="T8" fmla="*/ 2 w 25"/>
                <a:gd name="T9" fmla="*/ 0 h 24"/>
                <a:gd name="T10" fmla="*/ 0 w 25"/>
                <a:gd name="T11" fmla="*/ 0 h 2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"/>
                <a:gd name="T19" fmla="*/ 0 h 24"/>
                <a:gd name="T20" fmla="*/ 25 w 25"/>
                <a:gd name="T21" fmla="*/ 24 h 2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" h="24">
                  <a:moveTo>
                    <a:pt x="0" y="0"/>
                  </a:moveTo>
                  <a:lnTo>
                    <a:pt x="2" y="24"/>
                  </a:lnTo>
                  <a:lnTo>
                    <a:pt x="25" y="11"/>
                  </a:lnTo>
                  <a:lnTo>
                    <a:pt x="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00" name="Freeform 97"/>
            <p:cNvSpPr>
              <a:spLocks/>
            </p:cNvSpPr>
            <p:nvPr/>
          </p:nvSpPr>
          <p:spPr bwMode="auto">
            <a:xfrm>
              <a:off x="1230" y="3324"/>
              <a:ext cx="29" cy="37"/>
            </a:xfrm>
            <a:custGeom>
              <a:avLst/>
              <a:gdLst>
                <a:gd name="T0" fmla="*/ 13 w 25"/>
                <a:gd name="T1" fmla="*/ 35 h 24"/>
                <a:gd name="T2" fmla="*/ 15 w 25"/>
                <a:gd name="T3" fmla="*/ 37 h 24"/>
                <a:gd name="T4" fmla="*/ 17 w 25"/>
                <a:gd name="T5" fmla="*/ 35 h 24"/>
                <a:gd name="T6" fmla="*/ 20 w 25"/>
                <a:gd name="T7" fmla="*/ 35 h 24"/>
                <a:gd name="T8" fmla="*/ 22 w 25"/>
                <a:gd name="T9" fmla="*/ 32 h 24"/>
                <a:gd name="T10" fmla="*/ 24 w 25"/>
                <a:gd name="T11" fmla="*/ 32 h 24"/>
                <a:gd name="T12" fmla="*/ 24 w 25"/>
                <a:gd name="T13" fmla="*/ 29 h 24"/>
                <a:gd name="T14" fmla="*/ 27 w 25"/>
                <a:gd name="T15" fmla="*/ 26 h 24"/>
                <a:gd name="T16" fmla="*/ 27 w 25"/>
                <a:gd name="T17" fmla="*/ 23 h 24"/>
                <a:gd name="T18" fmla="*/ 27 w 25"/>
                <a:gd name="T19" fmla="*/ 20 h 24"/>
                <a:gd name="T20" fmla="*/ 29 w 25"/>
                <a:gd name="T21" fmla="*/ 17 h 24"/>
                <a:gd name="T22" fmla="*/ 27 w 25"/>
                <a:gd name="T23" fmla="*/ 14 h 24"/>
                <a:gd name="T24" fmla="*/ 27 w 25"/>
                <a:gd name="T25" fmla="*/ 11 h 24"/>
                <a:gd name="T26" fmla="*/ 27 w 25"/>
                <a:gd name="T27" fmla="*/ 8 h 24"/>
                <a:gd name="T28" fmla="*/ 24 w 25"/>
                <a:gd name="T29" fmla="*/ 8 h 24"/>
                <a:gd name="T30" fmla="*/ 24 w 25"/>
                <a:gd name="T31" fmla="*/ 5 h 24"/>
                <a:gd name="T32" fmla="*/ 22 w 25"/>
                <a:gd name="T33" fmla="*/ 3 h 24"/>
                <a:gd name="T34" fmla="*/ 20 w 25"/>
                <a:gd name="T35" fmla="*/ 3 h 24"/>
                <a:gd name="T36" fmla="*/ 17 w 25"/>
                <a:gd name="T37" fmla="*/ 0 h 24"/>
                <a:gd name="T38" fmla="*/ 15 w 25"/>
                <a:gd name="T39" fmla="*/ 0 h 24"/>
                <a:gd name="T40" fmla="*/ 13 w 25"/>
                <a:gd name="T41" fmla="*/ 0 h 24"/>
                <a:gd name="T42" fmla="*/ 10 w 25"/>
                <a:gd name="T43" fmla="*/ 0 h 24"/>
                <a:gd name="T44" fmla="*/ 8 w 25"/>
                <a:gd name="T45" fmla="*/ 0 h 24"/>
                <a:gd name="T46" fmla="*/ 6 w 25"/>
                <a:gd name="T47" fmla="*/ 3 h 24"/>
                <a:gd name="T48" fmla="*/ 5 w 25"/>
                <a:gd name="T49" fmla="*/ 3 h 24"/>
                <a:gd name="T50" fmla="*/ 5 w 25"/>
                <a:gd name="T51" fmla="*/ 5 h 24"/>
                <a:gd name="T52" fmla="*/ 2 w 25"/>
                <a:gd name="T53" fmla="*/ 8 h 24"/>
                <a:gd name="T54" fmla="*/ 2 w 25"/>
                <a:gd name="T55" fmla="*/ 8 h 24"/>
                <a:gd name="T56" fmla="*/ 0 w 25"/>
                <a:gd name="T57" fmla="*/ 11 h 24"/>
                <a:gd name="T58" fmla="*/ 0 w 25"/>
                <a:gd name="T59" fmla="*/ 14 h 24"/>
                <a:gd name="T60" fmla="*/ 0 w 25"/>
                <a:gd name="T61" fmla="*/ 17 h 24"/>
                <a:gd name="T62" fmla="*/ 0 w 25"/>
                <a:gd name="T63" fmla="*/ 20 h 24"/>
                <a:gd name="T64" fmla="*/ 0 w 25"/>
                <a:gd name="T65" fmla="*/ 23 h 24"/>
                <a:gd name="T66" fmla="*/ 2 w 25"/>
                <a:gd name="T67" fmla="*/ 26 h 24"/>
                <a:gd name="T68" fmla="*/ 2 w 25"/>
                <a:gd name="T69" fmla="*/ 29 h 24"/>
                <a:gd name="T70" fmla="*/ 5 w 25"/>
                <a:gd name="T71" fmla="*/ 32 h 24"/>
                <a:gd name="T72" fmla="*/ 5 w 25"/>
                <a:gd name="T73" fmla="*/ 32 h 24"/>
                <a:gd name="T74" fmla="*/ 6 w 25"/>
                <a:gd name="T75" fmla="*/ 35 h 24"/>
                <a:gd name="T76" fmla="*/ 8 w 25"/>
                <a:gd name="T77" fmla="*/ 35 h 24"/>
                <a:gd name="T78" fmla="*/ 10 w 25"/>
                <a:gd name="T79" fmla="*/ 37 h 24"/>
                <a:gd name="T80" fmla="*/ 13 w 25"/>
                <a:gd name="T81" fmla="*/ 37 h 24"/>
                <a:gd name="T82" fmla="*/ 13 w 25"/>
                <a:gd name="T83" fmla="*/ 37 h 24"/>
                <a:gd name="T84" fmla="*/ 13 w 25"/>
                <a:gd name="T85" fmla="*/ 35 h 2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5"/>
                <a:gd name="T130" fmla="*/ 0 h 24"/>
                <a:gd name="T131" fmla="*/ 25 w 25"/>
                <a:gd name="T132" fmla="*/ 24 h 24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5" h="24">
                  <a:moveTo>
                    <a:pt x="11" y="23"/>
                  </a:moveTo>
                  <a:lnTo>
                    <a:pt x="13" y="24"/>
                  </a:lnTo>
                  <a:lnTo>
                    <a:pt x="15" y="23"/>
                  </a:lnTo>
                  <a:lnTo>
                    <a:pt x="17" y="23"/>
                  </a:lnTo>
                  <a:lnTo>
                    <a:pt x="19" y="21"/>
                  </a:lnTo>
                  <a:lnTo>
                    <a:pt x="21" y="21"/>
                  </a:lnTo>
                  <a:lnTo>
                    <a:pt x="21" y="19"/>
                  </a:lnTo>
                  <a:lnTo>
                    <a:pt x="23" y="17"/>
                  </a:lnTo>
                  <a:lnTo>
                    <a:pt x="23" y="15"/>
                  </a:lnTo>
                  <a:lnTo>
                    <a:pt x="23" y="13"/>
                  </a:lnTo>
                  <a:lnTo>
                    <a:pt x="25" y="11"/>
                  </a:lnTo>
                  <a:lnTo>
                    <a:pt x="23" y="9"/>
                  </a:lnTo>
                  <a:lnTo>
                    <a:pt x="23" y="7"/>
                  </a:lnTo>
                  <a:lnTo>
                    <a:pt x="23" y="5"/>
                  </a:lnTo>
                  <a:lnTo>
                    <a:pt x="21" y="5"/>
                  </a:lnTo>
                  <a:lnTo>
                    <a:pt x="21" y="3"/>
                  </a:lnTo>
                  <a:lnTo>
                    <a:pt x="19" y="2"/>
                  </a:lnTo>
                  <a:lnTo>
                    <a:pt x="17" y="2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1" y="0"/>
                  </a:lnTo>
                  <a:lnTo>
                    <a:pt x="9" y="0"/>
                  </a:lnTo>
                  <a:lnTo>
                    <a:pt x="7" y="0"/>
                  </a:lnTo>
                  <a:lnTo>
                    <a:pt x="5" y="2"/>
                  </a:lnTo>
                  <a:lnTo>
                    <a:pt x="4" y="2"/>
                  </a:lnTo>
                  <a:lnTo>
                    <a:pt x="4" y="3"/>
                  </a:lnTo>
                  <a:lnTo>
                    <a:pt x="2" y="5"/>
                  </a:lnTo>
                  <a:lnTo>
                    <a:pt x="0" y="7"/>
                  </a:lnTo>
                  <a:lnTo>
                    <a:pt x="0" y="9"/>
                  </a:lnTo>
                  <a:lnTo>
                    <a:pt x="0" y="11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2" y="17"/>
                  </a:lnTo>
                  <a:lnTo>
                    <a:pt x="2" y="19"/>
                  </a:lnTo>
                  <a:lnTo>
                    <a:pt x="4" y="21"/>
                  </a:lnTo>
                  <a:lnTo>
                    <a:pt x="5" y="23"/>
                  </a:lnTo>
                  <a:lnTo>
                    <a:pt x="7" y="23"/>
                  </a:lnTo>
                  <a:lnTo>
                    <a:pt x="9" y="24"/>
                  </a:lnTo>
                  <a:lnTo>
                    <a:pt x="11" y="24"/>
                  </a:lnTo>
                  <a:lnTo>
                    <a:pt x="11" y="2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01" name="Freeform 98"/>
            <p:cNvSpPr>
              <a:spLocks/>
            </p:cNvSpPr>
            <p:nvPr/>
          </p:nvSpPr>
          <p:spPr bwMode="auto">
            <a:xfrm>
              <a:off x="1293" y="2030"/>
              <a:ext cx="29" cy="37"/>
            </a:xfrm>
            <a:custGeom>
              <a:avLst/>
              <a:gdLst>
                <a:gd name="T0" fmla="*/ 14 w 25"/>
                <a:gd name="T1" fmla="*/ 34 h 24"/>
                <a:gd name="T2" fmla="*/ 16 w 25"/>
                <a:gd name="T3" fmla="*/ 34 h 24"/>
                <a:gd name="T4" fmla="*/ 19 w 25"/>
                <a:gd name="T5" fmla="*/ 34 h 24"/>
                <a:gd name="T6" fmla="*/ 21 w 25"/>
                <a:gd name="T7" fmla="*/ 34 h 24"/>
                <a:gd name="T8" fmla="*/ 23 w 25"/>
                <a:gd name="T9" fmla="*/ 32 h 24"/>
                <a:gd name="T10" fmla="*/ 24 w 25"/>
                <a:gd name="T11" fmla="*/ 32 h 24"/>
                <a:gd name="T12" fmla="*/ 24 w 25"/>
                <a:gd name="T13" fmla="*/ 29 h 24"/>
                <a:gd name="T14" fmla="*/ 27 w 25"/>
                <a:gd name="T15" fmla="*/ 26 h 24"/>
                <a:gd name="T16" fmla="*/ 27 w 25"/>
                <a:gd name="T17" fmla="*/ 23 h 24"/>
                <a:gd name="T18" fmla="*/ 29 w 25"/>
                <a:gd name="T19" fmla="*/ 20 h 24"/>
                <a:gd name="T20" fmla="*/ 29 w 25"/>
                <a:gd name="T21" fmla="*/ 17 h 24"/>
                <a:gd name="T22" fmla="*/ 29 w 25"/>
                <a:gd name="T23" fmla="*/ 14 h 24"/>
                <a:gd name="T24" fmla="*/ 27 w 25"/>
                <a:gd name="T25" fmla="*/ 11 h 24"/>
                <a:gd name="T26" fmla="*/ 27 w 25"/>
                <a:gd name="T27" fmla="*/ 8 h 24"/>
                <a:gd name="T28" fmla="*/ 24 w 25"/>
                <a:gd name="T29" fmla="*/ 5 h 24"/>
                <a:gd name="T30" fmla="*/ 24 w 25"/>
                <a:gd name="T31" fmla="*/ 5 h 24"/>
                <a:gd name="T32" fmla="*/ 23 w 25"/>
                <a:gd name="T33" fmla="*/ 2 h 24"/>
                <a:gd name="T34" fmla="*/ 21 w 25"/>
                <a:gd name="T35" fmla="*/ 2 h 24"/>
                <a:gd name="T36" fmla="*/ 19 w 25"/>
                <a:gd name="T37" fmla="*/ 0 h 24"/>
                <a:gd name="T38" fmla="*/ 16 w 25"/>
                <a:gd name="T39" fmla="*/ 0 h 24"/>
                <a:gd name="T40" fmla="*/ 14 w 25"/>
                <a:gd name="T41" fmla="*/ 0 h 24"/>
                <a:gd name="T42" fmla="*/ 12 w 25"/>
                <a:gd name="T43" fmla="*/ 0 h 24"/>
                <a:gd name="T44" fmla="*/ 9 w 25"/>
                <a:gd name="T45" fmla="*/ 0 h 24"/>
                <a:gd name="T46" fmla="*/ 7 w 25"/>
                <a:gd name="T47" fmla="*/ 2 h 24"/>
                <a:gd name="T48" fmla="*/ 7 w 25"/>
                <a:gd name="T49" fmla="*/ 2 h 24"/>
                <a:gd name="T50" fmla="*/ 5 w 25"/>
                <a:gd name="T51" fmla="*/ 5 h 24"/>
                <a:gd name="T52" fmla="*/ 2 w 25"/>
                <a:gd name="T53" fmla="*/ 5 h 24"/>
                <a:gd name="T54" fmla="*/ 2 w 25"/>
                <a:gd name="T55" fmla="*/ 8 h 24"/>
                <a:gd name="T56" fmla="*/ 0 w 25"/>
                <a:gd name="T57" fmla="*/ 11 h 24"/>
                <a:gd name="T58" fmla="*/ 0 w 25"/>
                <a:gd name="T59" fmla="*/ 14 h 24"/>
                <a:gd name="T60" fmla="*/ 0 w 25"/>
                <a:gd name="T61" fmla="*/ 17 h 24"/>
                <a:gd name="T62" fmla="*/ 0 w 25"/>
                <a:gd name="T63" fmla="*/ 20 h 24"/>
                <a:gd name="T64" fmla="*/ 0 w 25"/>
                <a:gd name="T65" fmla="*/ 23 h 24"/>
                <a:gd name="T66" fmla="*/ 2 w 25"/>
                <a:gd name="T67" fmla="*/ 26 h 24"/>
                <a:gd name="T68" fmla="*/ 2 w 25"/>
                <a:gd name="T69" fmla="*/ 29 h 24"/>
                <a:gd name="T70" fmla="*/ 5 w 25"/>
                <a:gd name="T71" fmla="*/ 32 h 24"/>
                <a:gd name="T72" fmla="*/ 7 w 25"/>
                <a:gd name="T73" fmla="*/ 32 h 24"/>
                <a:gd name="T74" fmla="*/ 7 w 25"/>
                <a:gd name="T75" fmla="*/ 34 h 24"/>
                <a:gd name="T76" fmla="*/ 9 w 25"/>
                <a:gd name="T77" fmla="*/ 34 h 24"/>
                <a:gd name="T78" fmla="*/ 12 w 25"/>
                <a:gd name="T79" fmla="*/ 34 h 24"/>
                <a:gd name="T80" fmla="*/ 14 w 25"/>
                <a:gd name="T81" fmla="*/ 37 h 24"/>
                <a:gd name="T82" fmla="*/ 14 w 25"/>
                <a:gd name="T83" fmla="*/ 37 h 24"/>
                <a:gd name="T84" fmla="*/ 14 w 25"/>
                <a:gd name="T85" fmla="*/ 34 h 2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5"/>
                <a:gd name="T130" fmla="*/ 0 h 24"/>
                <a:gd name="T131" fmla="*/ 25 w 25"/>
                <a:gd name="T132" fmla="*/ 24 h 24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5" h="24">
                  <a:moveTo>
                    <a:pt x="12" y="22"/>
                  </a:moveTo>
                  <a:lnTo>
                    <a:pt x="14" y="22"/>
                  </a:lnTo>
                  <a:lnTo>
                    <a:pt x="16" y="22"/>
                  </a:lnTo>
                  <a:lnTo>
                    <a:pt x="18" y="22"/>
                  </a:lnTo>
                  <a:lnTo>
                    <a:pt x="20" y="21"/>
                  </a:lnTo>
                  <a:lnTo>
                    <a:pt x="21" y="21"/>
                  </a:lnTo>
                  <a:lnTo>
                    <a:pt x="21" y="19"/>
                  </a:lnTo>
                  <a:lnTo>
                    <a:pt x="23" y="17"/>
                  </a:lnTo>
                  <a:lnTo>
                    <a:pt x="23" y="15"/>
                  </a:lnTo>
                  <a:lnTo>
                    <a:pt x="25" y="13"/>
                  </a:lnTo>
                  <a:lnTo>
                    <a:pt x="25" y="11"/>
                  </a:lnTo>
                  <a:lnTo>
                    <a:pt x="25" y="9"/>
                  </a:lnTo>
                  <a:lnTo>
                    <a:pt x="23" y="7"/>
                  </a:lnTo>
                  <a:lnTo>
                    <a:pt x="23" y="5"/>
                  </a:lnTo>
                  <a:lnTo>
                    <a:pt x="21" y="3"/>
                  </a:lnTo>
                  <a:lnTo>
                    <a:pt x="20" y="1"/>
                  </a:lnTo>
                  <a:lnTo>
                    <a:pt x="18" y="1"/>
                  </a:lnTo>
                  <a:lnTo>
                    <a:pt x="16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8" y="0"/>
                  </a:lnTo>
                  <a:lnTo>
                    <a:pt x="6" y="1"/>
                  </a:lnTo>
                  <a:lnTo>
                    <a:pt x="4" y="3"/>
                  </a:lnTo>
                  <a:lnTo>
                    <a:pt x="2" y="3"/>
                  </a:lnTo>
                  <a:lnTo>
                    <a:pt x="2" y="5"/>
                  </a:lnTo>
                  <a:lnTo>
                    <a:pt x="0" y="7"/>
                  </a:lnTo>
                  <a:lnTo>
                    <a:pt x="0" y="9"/>
                  </a:lnTo>
                  <a:lnTo>
                    <a:pt x="0" y="11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2" y="17"/>
                  </a:lnTo>
                  <a:lnTo>
                    <a:pt x="2" y="19"/>
                  </a:lnTo>
                  <a:lnTo>
                    <a:pt x="4" y="21"/>
                  </a:lnTo>
                  <a:lnTo>
                    <a:pt x="6" y="21"/>
                  </a:lnTo>
                  <a:lnTo>
                    <a:pt x="6" y="22"/>
                  </a:lnTo>
                  <a:lnTo>
                    <a:pt x="8" y="22"/>
                  </a:lnTo>
                  <a:lnTo>
                    <a:pt x="10" y="22"/>
                  </a:lnTo>
                  <a:lnTo>
                    <a:pt x="12" y="24"/>
                  </a:lnTo>
                  <a:lnTo>
                    <a:pt x="12" y="2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02" name="Freeform 99"/>
            <p:cNvSpPr>
              <a:spLocks/>
            </p:cNvSpPr>
            <p:nvPr/>
          </p:nvSpPr>
          <p:spPr bwMode="auto">
            <a:xfrm>
              <a:off x="1356" y="2251"/>
              <a:ext cx="30" cy="39"/>
            </a:xfrm>
            <a:custGeom>
              <a:avLst/>
              <a:gdLst>
                <a:gd name="T0" fmla="*/ 14 w 25"/>
                <a:gd name="T1" fmla="*/ 36 h 25"/>
                <a:gd name="T2" fmla="*/ 18 w 25"/>
                <a:gd name="T3" fmla="*/ 36 h 25"/>
                <a:gd name="T4" fmla="*/ 20 w 25"/>
                <a:gd name="T5" fmla="*/ 36 h 25"/>
                <a:gd name="T6" fmla="*/ 23 w 25"/>
                <a:gd name="T7" fmla="*/ 36 h 25"/>
                <a:gd name="T8" fmla="*/ 25 w 25"/>
                <a:gd name="T9" fmla="*/ 33 h 25"/>
                <a:gd name="T10" fmla="*/ 25 w 25"/>
                <a:gd name="T11" fmla="*/ 33 h 25"/>
                <a:gd name="T12" fmla="*/ 28 w 25"/>
                <a:gd name="T13" fmla="*/ 30 h 25"/>
                <a:gd name="T14" fmla="*/ 28 w 25"/>
                <a:gd name="T15" fmla="*/ 27 h 25"/>
                <a:gd name="T16" fmla="*/ 30 w 25"/>
                <a:gd name="T17" fmla="*/ 23 h 25"/>
                <a:gd name="T18" fmla="*/ 30 w 25"/>
                <a:gd name="T19" fmla="*/ 20 h 25"/>
                <a:gd name="T20" fmla="*/ 30 w 25"/>
                <a:gd name="T21" fmla="*/ 17 h 25"/>
                <a:gd name="T22" fmla="*/ 30 w 25"/>
                <a:gd name="T23" fmla="*/ 16 h 25"/>
                <a:gd name="T24" fmla="*/ 30 w 25"/>
                <a:gd name="T25" fmla="*/ 12 h 25"/>
                <a:gd name="T26" fmla="*/ 28 w 25"/>
                <a:gd name="T27" fmla="*/ 9 h 25"/>
                <a:gd name="T28" fmla="*/ 28 w 25"/>
                <a:gd name="T29" fmla="*/ 6 h 25"/>
                <a:gd name="T30" fmla="*/ 25 w 25"/>
                <a:gd name="T31" fmla="*/ 6 h 25"/>
                <a:gd name="T32" fmla="*/ 25 w 25"/>
                <a:gd name="T33" fmla="*/ 3 h 25"/>
                <a:gd name="T34" fmla="*/ 23 w 25"/>
                <a:gd name="T35" fmla="*/ 3 h 25"/>
                <a:gd name="T36" fmla="*/ 20 w 25"/>
                <a:gd name="T37" fmla="*/ 0 h 25"/>
                <a:gd name="T38" fmla="*/ 18 w 25"/>
                <a:gd name="T39" fmla="*/ 0 h 25"/>
                <a:gd name="T40" fmla="*/ 16 w 25"/>
                <a:gd name="T41" fmla="*/ 0 h 25"/>
                <a:gd name="T42" fmla="*/ 14 w 25"/>
                <a:gd name="T43" fmla="*/ 0 h 25"/>
                <a:gd name="T44" fmla="*/ 12 w 25"/>
                <a:gd name="T45" fmla="*/ 0 h 25"/>
                <a:gd name="T46" fmla="*/ 10 w 25"/>
                <a:gd name="T47" fmla="*/ 3 h 25"/>
                <a:gd name="T48" fmla="*/ 7 w 25"/>
                <a:gd name="T49" fmla="*/ 3 h 25"/>
                <a:gd name="T50" fmla="*/ 5 w 25"/>
                <a:gd name="T51" fmla="*/ 6 h 25"/>
                <a:gd name="T52" fmla="*/ 5 w 25"/>
                <a:gd name="T53" fmla="*/ 6 h 25"/>
                <a:gd name="T54" fmla="*/ 2 w 25"/>
                <a:gd name="T55" fmla="*/ 9 h 25"/>
                <a:gd name="T56" fmla="*/ 2 w 25"/>
                <a:gd name="T57" fmla="*/ 12 h 25"/>
                <a:gd name="T58" fmla="*/ 2 w 25"/>
                <a:gd name="T59" fmla="*/ 16 h 25"/>
                <a:gd name="T60" fmla="*/ 0 w 25"/>
                <a:gd name="T61" fmla="*/ 17 h 25"/>
                <a:gd name="T62" fmla="*/ 2 w 25"/>
                <a:gd name="T63" fmla="*/ 20 h 25"/>
                <a:gd name="T64" fmla="*/ 2 w 25"/>
                <a:gd name="T65" fmla="*/ 23 h 25"/>
                <a:gd name="T66" fmla="*/ 2 w 25"/>
                <a:gd name="T67" fmla="*/ 27 h 25"/>
                <a:gd name="T68" fmla="*/ 5 w 25"/>
                <a:gd name="T69" fmla="*/ 30 h 25"/>
                <a:gd name="T70" fmla="*/ 5 w 25"/>
                <a:gd name="T71" fmla="*/ 33 h 25"/>
                <a:gd name="T72" fmla="*/ 7 w 25"/>
                <a:gd name="T73" fmla="*/ 33 h 25"/>
                <a:gd name="T74" fmla="*/ 10 w 25"/>
                <a:gd name="T75" fmla="*/ 36 h 25"/>
                <a:gd name="T76" fmla="*/ 12 w 25"/>
                <a:gd name="T77" fmla="*/ 36 h 25"/>
                <a:gd name="T78" fmla="*/ 14 w 25"/>
                <a:gd name="T79" fmla="*/ 36 h 25"/>
                <a:gd name="T80" fmla="*/ 16 w 25"/>
                <a:gd name="T81" fmla="*/ 39 h 25"/>
                <a:gd name="T82" fmla="*/ 16 w 25"/>
                <a:gd name="T83" fmla="*/ 39 h 25"/>
                <a:gd name="T84" fmla="*/ 14 w 25"/>
                <a:gd name="T85" fmla="*/ 36 h 25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5"/>
                <a:gd name="T130" fmla="*/ 0 h 25"/>
                <a:gd name="T131" fmla="*/ 25 w 25"/>
                <a:gd name="T132" fmla="*/ 25 h 25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5" h="25">
                  <a:moveTo>
                    <a:pt x="12" y="23"/>
                  </a:moveTo>
                  <a:lnTo>
                    <a:pt x="15" y="23"/>
                  </a:lnTo>
                  <a:lnTo>
                    <a:pt x="17" y="23"/>
                  </a:lnTo>
                  <a:lnTo>
                    <a:pt x="19" y="23"/>
                  </a:lnTo>
                  <a:lnTo>
                    <a:pt x="21" y="21"/>
                  </a:lnTo>
                  <a:lnTo>
                    <a:pt x="23" y="19"/>
                  </a:lnTo>
                  <a:lnTo>
                    <a:pt x="23" y="17"/>
                  </a:lnTo>
                  <a:lnTo>
                    <a:pt x="25" y="15"/>
                  </a:lnTo>
                  <a:lnTo>
                    <a:pt x="25" y="13"/>
                  </a:lnTo>
                  <a:lnTo>
                    <a:pt x="25" y="11"/>
                  </a:lnTo>
                  <a:lnTo>
                    <a:pt x="25" y="10"/>
                  </a:lnTo>
                  <a:lnTo>
                    <a:pt x="25" y="8"/>
                  </a:lnTo>
                  <a:lnTo>
                    <a:pt x="23" y="6"/>
                  </a:lnTo>
                  <a:lnTo>
                    <a:pt x="23" y="4"/>
                  </a:lnTo>
                  <a:lnTo>
                    <a:pt x="21" y="4"/>
                  </a:lnTo>
                  <a:lnTo>
                    <a:pt x="21" y="2"/>
                  </a:lnTo>
                  <a:lnTo>
                    <a:pt x="19" y="2"/>
                  </a:lnTo>
                  <a:lnTo>
                    <a:pt x="17" y="0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8" y="2"/>
                  </a:lnTo>
                  <a:lnTo>
                    <a:pt x="6" y="2"/>
                  </a:lnTo>
                  <a:lnTo>
                    <a:pt x="4" y="4"/>
                  </a:lnTo>
                  <a:lnTo>
                    <a:pt x="2" y="6"/>
                  </a:lnTo>
                  <a:lnTo>
                    <a:pt x="2" y="8"/>
                  </a:lnTo>
                  <a:lnTo>
                    <a:pt x="2" y="10"/>
                  </a:lnTo>
                  <a:lnTo>
                    <a:pt x="0" y="11"/>
                  </a:lnTo>
                  <a:lnTo>
                    <a:pt x="2" y="13"/>
                  </a:lnTo>
                  <a:lnTo>
                    <a:pt x="2" y="15"/>
                  </a:lnTo>
                  <a:lnTo>
                    <a:pt x="2" y="17"/>
                  </a:lnTo>
                  <a:lnTo>
                    <a:pt x="4" y="19"/>
                  </a:lnTo>
                  <a:lnTo>
                    <a:pt x="4" y="21"/>
                  </a:lnTo>
                  <a:lnTo>
                    <a:pt x="6" y="21"/>
                  </a:lnTo>
                  <a:lnTo>
                    <a:pt x="8" y="23"/>
                  </a:lnTo>
                  <a:lnTo>
                    <a:pt x="10" y="23"/>
                  </a:lnTo>
                  <a:lnTo>
                    <a:pt x="12" y="23"/>
                  </a:lnTo>
                  <a:lnTo>
                    <a:pt x="13" y="25"/>
                  </a:lnTo>
                  <a:lnTo>
                    <a:pt x="12" y="2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03" name="Freeform 100"/>
            <p:cNvSpPr>
              <a:spLocks/>
            </p:cNvSpPr>
            <p:nvPr/>
          </p:nvSpPr>
          <p:spPr bwMode="auto">
            <a:xfrm>
              <a:off x="4500" y="3382"/>
              <a:ext cx="29" cy="39"/>
            </a:xfrm>
            <a:custGeom>
              <a:avLst/>
              <a:gdLst>
                <a:gd name="T0" fmla="*/ 0 w 25"/>
                <a:gd name="T1" fmla="*/ 0 h 25"/>
                <a:gd name="T2" fmla="*/ 2 w 25"/>
                <a:gd name="T3" fmla="*/ 39 h 25"/>
                <a:gd name="T4" fmla="*/ 29 w 25"/>
                <a:gd name="T5" fmla="*/ 20 h 25"/>
                <a:gd name="T6" fmla="*/ 2 w 25"/>
                <a:gd name="T7" fmla="*/ 3 h 25"/>
                <a:gd name="T8" fmla="*/ 2 w 25"/>
                <a:gd name="T9" fmla="*/ 3 h 25"/>
                <a:gd name="T10" fmla="*/ 0 w 25"/>
                <a:gd name="T11" fmla="*/ 0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"/>
                <a:gd name="T19" fmla="*/ 0 h 25"/>
                <a:gd name="T20" fmla="*/ 25 w 25"/>
                <a:gd name="T21" fmla="*/ 25 h 2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" h="25">
                  <a:moveTo>
                    <a:pt x="0" y="0"/>
                  </a:moveTo>
                  <a:lnTo>
                    <a:pt x="2" y="25"/>
                  </a:lnTo>
                  <a:lnTo>
                    <a:pt x="25" y="13"/>
                  </a:lnTo>
                  <a:lnTo>
                    <a:pt x="2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04" name="Line 101"/>
            <p:cNvSpPr>
              <a:spLocks noChangeShapeType="1"/>
            </p:cNvSpPr>
            <p:nvPr/>
          </p:nvSpPr>
          <p:spPr bwMode="auto">
            <a:xfrm flipH="1">
              <a:off x="3794" y="3402"/>
              <a:ext cx="710" cy="2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05" name="Freeform 102"/>
            <p:cNvSpPr>
              <a:spLocks/>
            </p:cNvSpPr>
            <p:nvPr/>
          </p:nvSpPr>
          <p:spPr bwMode="auto">
            <a:xfrm>
              <a:off x="3670" y="3402"/>
              <a:ext cx="188" cy="211"/>
            </a:xfrm>
            <a:custGeom>
              <a:avLst/>
              <a:gdLst>
                <a:gd name="T0" fmla="*/ 188 w 159"/>
                <a:gd name="T1" fmla="*/ 0 h 138"/>
                <a:gd name="T2" fmla="*/ 188 w 159"/>
                <a:gd name="T3" fmla="*/ 211 h 138"/>
                <a:gd name="T4" fmla="*/ 0 w 159"/>
                <a:gd name="T5" fmla="*/ 211 h 138"/>
                <a:gd name="T6" fmla="*/ 0 60000 65536"/>
                <a:gd name="T7" fmla="*/ 0 60000 65536"/>
                <a:gd name="T8" fmla="*/ 0 60000 65536"/>
                <a:gd name="T9" fmla="*/ 0 w 159"/>
                <a:gd name="T10" fmla="*/ 0 h 138"/>
                <a:gd name="T11" fmla="*/ 159 w 159"/>
                <a:gd name="T12" fmla="*/ 138 h 13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9" h="138">
                  <a:moveTo>
                    <a:pt x="159" y="0"/>
                  </a:moveTo>
                  <a:lnTo>
                    <a:pt x="159" y="138"/>
                  </a:lnTo>
                  <a:lnTo>
                    <a:pt x="0" y="138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06" name="Freeform 103"/>
            <p:cNvSpPr>
              <a:spLocks/>
            </p:cNvSpPr>
            <p:nvPr/>
          </p:nvSpPr>
          <p:spPr bwMode="auto">
            <a:xfrm>
              <a:off x="3844" y="3385"/>
              <a:ext cx="27" cy="36"/>
            </a:xfrm>
            <a:custGeom>
              <a:avLst/>
              <a:gdLst>
                <a:gd name="T0" fmla="*/ 14 w 23"/>
                <a:gd name="T1" fmla="*/ 36 h 23"/>
                <a:gd name="T2" fmla="*/ 16 w 23"/>
                <a:gd name="T3" fmla="*/ 36 h 23"/>
                <a:gd name="T4" fmla="*/ 19 w 23"/>
                <a:gd name="T5" fmla="*/ 36 h 23"/>
                <a:gd name="T6" fmla="*/ 20 w 23"/>
                <a:gd name="T7" fmla="*/ 36 h 23"/>
                <a:gd name="T8" fmla="*/ 22 w 23"/>
                <a:gd name="T9" fmla="*/ 33 h 23"/>
                <a:gd name="T10" fmla="*/ 22 w 23"/>
                <a:gd name="T11" fmla="*/ 33 h 23"/>
                <a:gd name="T12" fmla="*/ 25 w 23"/>
                <a:gd name="T13" fmla="*/ 30 h 23"/>
                <a:gd name="T14" fmla="*/ 27 w 23"/>
                <a:gd name="T15" fmla="*/ 27 h 23"/>
                <a:gd name="T16" fmla="*/ 27 w 23"/>
                <a:gd name="T17" fmla="*/ 23 h 23"/>
                <a:gd name="T18" fmla="*/ 27 w 23"/>
                <a:gd name="T19" fmla="*/ 20 h 23"/>
                <a:gd name="T20" fmla="*/ 27 w 23"/>
                <a:gd name="T21" fmla="*/ 17 h 23"/>
                <a:gd name="T22" fmla="*/ 27 w 23"/>
                <a:gd name="T23" fmla="*/ 14 h 23"/>
                <a:gd name="T24" fmla="*/ 27 w 23"/>
                <a:gd name="T25" fmla="*/ 11 h 23"/>
                <a:gd name="T26" fmla="*/ 27 w 23"/>
                <a:gd name="T27" fmla="*/ 9 h 23"/>
                <a:gd name="T28" fmla="*/ 25 w 23"/>
                <a:gd name="T29" fmla="*/ 6 h 23"/>
                <a:gd name="T30" fmla="*/ 22 w 23"/>
                <a:gd name="T31" fmla="*/ 6 h 23"/>
                <a:gd name="T32" fmla="*/ 22 w 23"/>
                <a:gd name="T33" fmla="*/ 3 h 23"/>
                <a:gd name="T34" fmla="*/ 20 w 23"/>
                <a:gd name="T35" fmla="*/ 0 h 23"/>
                <a:gd name="T36" fmla="*/ 19 w 23"/>
                <a:gd name="T37" fmla="*/ 0 h 23"/>
                <a:gd name="T38" fmla="*/ 16 w 23"/>
                <a:gd name="T39" fmla="*/ 0 h 23"/>
                <a:gd name="T40" fmla="*/ 14 w 23"/>
                <a:gd name="T41" fmla="*/ 0 h 23"/>
                <a:gd name="T42" fmla="*/ 12 w 23"/>
                <a:gd name="T43" fmla="*/ 0 h 23"/>
                <a:gd name="T44" fmla="*/ 9 w 23"/>
                <a:gd name="T45" fmla="*/ 0 h 23"/>
                <a:gd name="T46" fmla="*/ 7 w 23"/>
                <a:gd name="T47" fmla="*/ 0 h 23"/>
                <a:gd name="T48" fmla="*/ 5 w 23"/>
                <a:gd name="T49" fmla="*/ 3 h 23"/>
                <a:gd name="T50" fmla="*/ 5 w 23"/>
                <a:gd name="T51" fmla="*/ 6 h 23"/>
                <a:gd name="T52" fmla="*/ 2 w 23"/>
                <a:gd name="T53" fmla="*/ 6 h 23"/>
                <a:gd name="T54" fmla="*/ 0 w 23"/>
                <a:gd name="T55" fmla="*/ 9 h 23"/>
                <a:gd name="T56" fmla="*/ 0 w 23"/>
                <a:gd name="T57" fmla="*/ 11 h 23"/>
                <a:gd name="T58" fmla="*/ 0 w 23"/>
                <a:gd name="T59" fmla="*/ 14 h 23"/>
                <a:gd name="T60" fmla="*/ 0 w 23"/>
                <a:gd name="T61" fmla="*/ 17 h 23"/>
                <a:gd name="T62" fmla="*/ 0 w 23"/>
                <a:gd name="T63" fmla="*/ 20 h 23"/>
                <a:gd name="T64" fmla="*/ 0 w 23"/>
                <a:gd name="T65" fmla="*/ 23 h 23"/>
                <a:gd name="T66" fmla="*/ 0 w 23"/>
                <a:gd name="T67" fmla="*/ 27 h 23"/>
                <a:gd name="T68" fmla="*/ 2 w 23"/>
                <a:gd name="T69" fmla="*/ 30 h 23"/>
                <a:gd name="T70" fmla="*/ 5 w 23"/>
                <a:gd name="T71" fmla="*/ 33 h 23"/>
                <a:gd name="T72" fmla="*/ 5 w 23"/>
                <a:gd name="T73" fmla="*/ 33 h 23"/>
                <a:gd name="T74" fmla="*/ 7 w 23"/>
                <a:gd name="T75" fmla="*/ 36 h 23"/>
                <a:gd name="T76" fmla="*/ 9 w 23"/>
                <a:gd name="T77" fmla="*/ 36 h 23"/>
                <a:gd name="T78" fmla="*/ 12 w 23"/>
                <a:gd name="T79" fmla="*/ 36 h 23"/>
                <a:gd name="T80" fmla="*/ 14 w 23"/>
                <a:gd name="T81" fmla="*/ 36 h 23"/>
                <a:gd name="T82" fmla="*/ 14 w 23"/>
                <a:gd name="T83" fmla="*/ 36 h 23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23"/>
                <a:gd name="T127" fmla="*/ 0 h 23"/>
                <a:gd name="T128" fmla="*/ 23 w 23"/>
                <a:gd name="T129" fmla="*/ 23 h 23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23" h="23">
                  <a:moveTo>
                    <a:pt x="12" y="23"/>
                  </a:moveTo>
                  <a:lnTo>
                    <a:pt x="14" y="23"/>
                  </a:lnTo>
                  <a:lnTo>
                    <a:pt x="16" y="23"/>
                  </a:lnTo>
                  <a:lnTo>
                    <a:pt x="17" y="23"/>
                  </a:lnTo>
                  <a:lnTo>
                    <a:pt x="19" y="21"/>
                  </a:lnTo>
                  <a:lnTo>
                    <a:pt x="21" y="19"/>
                  </a:lnTo>
                  <a:lnTo>
                    <a:pt x="23" y="17"/>
                  </a:lnTo>
                  <a:lnTo>
                    <a:pt x="23" y="15"/>
                  </a:lnTo>
                  <a:lnTo>
                    <a:pt x="23" y="13"/>
                  </a:lnTo>
                  <a:lnTo>
                    <a:pt x="23" y="11"/>
                  </a:lnTo>
                  <a:lnTo>
                    <a:pt x="23" y="9"/>
                  </a:lnTo>
                  <a:lnTo>
                    <a:pt x="23" y="7"/>
                  </a:lnTo>
                  <a:lnTo>
                    <a:pt x="23" y="6"/>
                  </a:lnTo>
                  <a:lnTo>
                    <a:pt x="21" y="4"/>
                  </a:lnTo>
                  <a:lnTo>
                    <a:pt x="19" y="4"/>
                  </a:lnTo>
                  <a:lnTo>
                    <a:pt x="19" y="2"/>
                  </a:lnTo>
                  <a:lnTo>
                    <a:pt x="17" y="0"/>
                  </a:lnTo>
                  <a:lnTo>
                    <a:pt x="16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8" y="0"/>
                  </a:lnTo>
                  <a:lnTo>
                    <a:pt x="6" y="0"/>
                  </a:lnTo>
                  <a:lnTo>
                    <a:pt x="4" y="2"/>
                  </a:lnTo>
                  <a:lnTo>
                    <a:pt x="4" y="4"/>
                  </a:lnTo>
                  <a:lnTo>
                    <a:pt x="2" y="4"/>
                  </a:lnTo>
                  <a:lnTo>
                    <a:pt x="0" y="6"/>
                  </a:lnTo>
                  <a:lnTo>
                    <a:pt x="0" y="7"/>
                  </a:lnTo>
                  <a:lnTo>
                    <a:pt x="0" y="9"/>
                  </a:lnTo>
                  <a:lnTo>
                    <a:pt x="0" y="11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0" y="17"/>
                  </a:lnTo>
                  <a:lnTo>
                    <a:pt x="2" y="19"/>
                  </a:lnTo>
                  <a:lnTo>
                    <a:pt x="4" y="21"/>
                  </a:lnTo>
                  <a:lnTo>
                    <a:pt x="6" y="23"/>
                  </a:lnTo>
                  <a:lnTo>
                    <a:pt x="8" y="23"/>
                  </a:lnTo>
                  <a:lnTo>
                    <a:pt x="10" y="23"/>
                  </a:lnTo>
                  <a:lnTo>
                    <a:pt x="12" y="2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07" name="Freeform 104"/>
            <p:cNvSpPr>
              <a:spLocks/>
            </p:cNvSpPr>
            <p:nvPr/>
          </p:nvSpPr>
          <p:spPr bwMode="auto">
            <a:xfrm>
              <a:off x="3668" y="3402"/>
              <a:ext cx="1044" cy="322"/>
            </a:xfrm>
            <a:custGeom>
              <a:avLst/>
              <a:gdLst>
                <a:gd name="T0" fmla="*/ 0 w 885"/>
                <a:gd name="T1" fmla="*/ 319 h 211"/>
                <a:gd name="T2" fmla="*/ 1044 w 885"/>
                <a:gd name="T3" fmla="*/ 322 h 211"/>
                <a:gd name="T4" fmla="*/ 1044 w 885"/>
                <a:gd name="T5" fmla="*/ 0 h 211"/>
                <a:gd name="T6" fmla="*/ 981 w 885"/>
                <a:gd name="T7" fmla="*/ 0 h 21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85"/>
                <a:gd name="T13" fmla="*/ 0 h 211"/>
                <a:gd name="T14" fmla="*/ 885 w 885"/>
                <a:gd name="T15" fmla="*/ 211 h 21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85" h="211">
                  <a:moveTo>
                    <a:pt x="0" y="209"/>
                  </a:moveTo>
                  <a:lnTo>
                    <a:pt x="885" y="211"/>
                  </a:lnTo>
                  <a:lnTo>
                    <a:pt x="885" y="0"/>
                  </a:lnTo>
                  <a:lnTo>
                    <a:pt x="832" y="0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08" name="Freeform 105"/>
            <p:cNvSpPr>
              <a:spLocks/>
            </p:cNvSpPr>
            <p:nvPr/>
          </p:nvSpPr>
          <p:spPr bwMode="auto">
            <a:xfrm>
              <a:off x="3649" y="3703"/>
              <a:ext cx="27" cy="38"/>
            </a:xfrm>
            <a:custGeom>
              <a:avLst/>
              <a:gdLst>
                <a:gd name="T0" fmla="*/ 27 w 23"/>
                <a:gd name="T1" fmla="*/ 0 h 25"/>
                <a:gd name="T2" fmla="*/ 27 w 23"/>
                <a:gd name="T3" fmla="*/ 38 h 25"/>
                <a:gd name="T4" fmla="*/ 0 w 23"/>
                <a:gd name="T5" fmla="*/ 21 h 25"/>
                <a:gd name="T6" fmla="*/ 27 w 23"/>
                <a:gd name="T7" fmla="*/ 0 h 25"/>
                <a:gd name="T8" fmla="*/ 27 w 23"/>
                <a:gd name="T9" fmla="*/ 0 h 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"/>
                <a:gd name="T16" fmla="*/ 0 h 25"/>
                <a:gd name="T17" fmla="*/ 23 w 23"/>
                <a:gd name="T18" fmla="*/ 25 h 2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" h="25">
                  <a:moveTo>
                    <a:pt x="23" y="0"/>
                  </a:moveTo>
                  <a:lnTo>
                    <a:pt x="23" y="25"/>
                  </a:lnTo>
                  <a:lnTo>
                    <a:pt x="0" y="14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09" name="Freeform 106"/>
            <p:cNvSpPr>
              <a:spLocks/>
            </p:cNvSpPr>
            <p:nvPr/>
          </p:nvSpPr>
          <p:spPr bwMode="auto">
            <a:xfrm>
              <a:off x="3649" y="3593"/>
              <a:ext cx="27" cy="38"/>
            </a:xfrm>
            <a:custGeom>
              <a:avLst/>
              <a:gdLst>
                <a:gd name="T0" fmla="*/ 27 w 23"/>
                <a:gd name="T1" fmla="*/ 0 h 25"/>
                <a:gd name="T2" fmla="*/ 27 w 23"/>
                <a:gd name="T3" fmla="*/ 38 h 25"/>
                <a:gd name="T4" fmla="*/ 0 w 23"/>
                <a:gd name="T5" fmla="*/ 20 h 25"/>
                <a:gd name="T6" fmla="*/ 27 w 23"/>
                <a:gd name="T7" fmla="*/ 0 h 25"/>
                <a:gd name="T8" fmla="*/ 27 w 23"/>
                <a:gd name="T9" fmla="*/ 0 h 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"/>
                <a:gd name="T16" fmla="*/ 0 h 25"/>
                <a:gd name="T17" fmla="*/ 23 w 23"/>
                <a:gd name="T18" fmla="*/ 25 h 2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" h="25">
                  <a:moveTo>
                    <a:pt x="23" y="0"/>
                  </a:moveTo>
                  <a:lnTo>
                    <a:pt x="23" y="25"/>
                  </a:lnTo>
                  <a:lnTo>
                    <a:pt x="0" y="13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10" name="Freeform 107"/>
            <p:cNvSpPr>
              <a:spLocks/>
            </p:cNvSpPr>
            <p:nvPr/>
          </p:nvSpPr>
          <p:spPr bwMode="auto">
            <a:xfrm>
              <a:off x="3649" y="3648"/>
              <a:ext cx="27" cy="38"/>
            </a:xfrm>
            <a:custGeom>
              <a:avLst/>
              <a:gdLst>
                <a:gd name="T0" fmla="*/ 27 w 23"/>
                <a:gd name="T1" fmla="*/ 0 h 25"/>
                <a:gd name="T2" fmla="*/ 27 w 23"/>
                <a:gd name="T3" fmla="*/ 38 h 25"/>
                <a:gd name="T4" fmla="*/ 0 w 23"/>
                <a:gd name="T5" fmla="*/ 20 h 25"/>
                <a:gd name="T6" fmla="*/ 27 w 23"/>
                <a:gd name="T7" fmla="*/ 0 h 25"/>
                <a:gd name="T8" fmla="*/ 27 w 23"/>
                <a:gd name="T9" fmla="*/ 0 h 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"/>
                <a:gd name="T16" fmla="*/ 0 h 25"/>
                <a:gd name="T17" fmla="*/ 23 w 23"/>
                <a:gd name="T18" fmla="*/ 25 h 2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" h="25">
                  <a:moveTo>
                    <a:pt x="23" y="0"/>
                  </a:moveTo>
                  <a:lnTo>
                    <a:pt x="23" y="25"/>
                  </a:lnTo>
                  <a:lnTo>
                    <a:pt x="0" y="13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EB75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11" name="Freeform 108"/>
            <p:cNvSpPr>
              <a:spLocks/>
            </p:cNvSpPr>
            <p:nvPr/>
          </p:nvSpPr>
          <p:spPr bwMode="auto">
            <a:xfrm>
              <a:off x="4038" y="2456"/>
              <a:ext cx="29" cy="38"/>
            </a:xfrm>
            <a:custGeom>
              <a:avLst/>
              <a:gdLst>
                <a:gd name="T0" fmla="*/ 0 w 25"/>
                <a:gd name="T1" fmla="*/ 0 h 25"/>
                <a:gd name="T2" fmla="*/ 0 w 25"/>
                <a:gd name="T3" fmla="*/ 38 h 25"/>
                <a:gd name="T4" fmla="*/ 29 w 25"/>
                <a:gd name="T5" fmla="*/ 20 h 25"/>
                <a:gd name="T6" fmla="*/ 0 w 25"/>
                <a:gd name="T7" fmla="*/ 3 h 25"/>
                <a:gd name="T8" fmla="*/ 0 w 25"/>
                <a:gd name="T9" fmla="*/ 3 h 25"/>
                <a:gd name="T10" fmla="*/ 0 w 25"/>
                <a:gd name="T11" fmla="*/ 0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"/>
                <a:gd name="T19" fmla="*/ 0 h 25"/>
                <a:gd name="T20" fmla="*/ 25 w 25"/>
                <a:gd name="T21" fmla="*/ 25 h 2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" h="25">
                  <a:moveTo>
                    <a:pt x="0" y="0"/>
                  </a:moveTo>
                  <a:lnTo>
                    <a:pt x="0" y="25"/>
                  </a:lnTo>
                  <a:lnTo>
                    <a:pt x="25" y="13"/>
                  </a:lnTo>
                  <a:lnTo>
                    <a:pt x="0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12" name="Line 109"/>
            <p:cNvSpPr>
              <a:spLocks noChangeShapeType="1"/>
            </p:cNvSpPr>
            <p:nvPr/>
          </p:nvSpPr>
          <p:spPr bwMode="auto">
            <a:xfrm flipH="1">
              <a:off x="3794" y="2473"/>
              <a:ext cx="251" cy="3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13" name="Freeform 110"/>
            <p:cNvSpPr>
              <a:spLocks/>
            </p:cNvSpPr>
            <p:nvPr/>
          </p:nvSpPr>
          <p:spPr bwMode="auto">
            <a:xfrm>
              <a:off x="3972" y="2976"/>
              <a:ext cx="29" cy="39"/>
            </a:xfrm>
            <a:custGeom>
              <a:avLst/>
              <a:gdLst>
                <a:gd name="T0" fmla="*/ 15 w 24"/>
                <a:gd name="T1" fmla="*/ 36 h 25"/>
                <a:gd name="T2" fmla="*/ 17 w 24"/>
                <a:gd name="T3" fmla="*/ 39 h 25"/>
                <a:gd name="T4" fmla="*/ 19 w 24"/>
                <a:gd name="T5" fmla="*/ 36 h 25"/>
                <a:gd name="T6" fmla="*/ 22 w 24"/>
                <a:gd name="T7" fmla="*/ 36 h 25"/>
                <a:gd name="T8" fmla="*/ 24 w 24"/>
                <a:gd name="T9" fmla="*/ 36 h 25"/>
                <a:gd name="T10" fmla="*/ 24 w 24"/>
                <a:gd name="T11" fmla="*/ 33 h 25"/>
                <a:gd name="T12" fmla="*/ 27 w 24"/>
                <a:gd name="T13" fmla="*/ 30 h 25"/>
                <a:gd name="T14" fmla="*/ 29 w 24"/>
                <a:gd name="T15" fmla="*/ 27 h 25"/>
                <a:gd name="T16" fmla="*/ 29 w 24"/>
                <a:gd name="T17" fmla="*/ 23 h 25"/>
                <a:gd name="T18" fmla="*/ 29 w 24"/>
                <a:gd name="T19" fmla="*/ 20 h 25"/>
                <a:gd name="T20" fmla="*/ 29 w 24"/>
                <a:gd name="T21" fmla="*/ 17 h 25"/>
                <a:gd name="T22" fmla="*/ 29 w 24"/>
                <a:gd name="T23" fmla="*/ 14 h 25"/>
                <a:gd name="T24" fmla="*/ 29 w 24"/>
                <a:gd name="T25" fmla="*/ 11 h 25"/>
                <a:gd name="T26" fmla="*/ 29 w 24"/>
                <a:gd name="T27" fmla="*/ 9 h 25"/>
                <a:gd name="T28" fmla="*/ 27 w 24"/>
                <a:gd name="T29" fmla="*/ 9 h 25"/>
                <a:gd name="T30" fmla="*/ 24 w 24"/>
                <a:gd name="T31" fmla="*/ 6 h 25"/>
                <a:gd name="T32" fmla="*/ 24 w 24"/>
                <a:gd name="T33" fmla="*/ 3 h 25"/>
                <a:gd name="T34" fmla="*/ 22 w 24"/>
                <a:gd name="T35" fmla="*/ 3 h 25"/>
                <a:gd name="T36" fmla="*/ 19 w 24"/>
                <a:gd name="T37" fmla="*/ 0 h 25"/>
                <a:gd name="T38" fmla="*/ 17 w 24"/>
                <a:gd name="T39" fmla="*/ 0 h 25"/>
                <a:gd name="T40" fmla="*/ 15 w 24"/>
                <a:gd name="T41" fmla="*/ 0 h 25"/>
                <a:gd name="T42" fmla="*/ 12 w 24"/>
                <a:gd name="T43" fmla="*/ 0 h 25"/>
                <a:gd name="T44" fmla="*/ 10 w 24"/>
                <a:gd name="T45" fmla="*/ 0 h 25"/>
                <a:gd name="T46" fmla="*/ 7 w 24"/>
                <a:gd name="T47" fmla="*/ 3 h 25"/>
                <a:gd name="T48" fmla="*/ 5 w 24"/>
                <a:gd name="T49" fmla="*/ 3 h 25"/>
                <a:gd name="T50" fmla="*/ 5 w 24"/>
                <a:gd name="T51" fmla="*/ 6 h 25"/>
                <a:gd name="T52" fmla="*/ 2 w 24"/>
                <a:gd name="T53" fmla="*/ 9 h 25"/>
                <a:gd name="T54" fmla="*/ 0 w 24"/>
                <a:gd name="T55" fmla="*/ 9 h 25"/>
                <a:gd name="T56" fmla="*/ 0 w 24"/>
                <a:gd name="T57" fmla="*/ 11 h 25"/>
                <a:gd name="T58" fmla="*/ 0 w 24"/>
                <a:gd name="T59" fmla="*/ 14 h 25"/>
                <a:gd name="T60" fmla="*/ 0 w 24"/>
                <a:gd name="T61" fmla="*/ 17 h 25"/>
                <a:gd name="T62" fmla="*/ 0 w 24"/>
                <a:gd name="T63" fmla="*/ 20 h 25"/>
                <a:gd name="T64" fmla="*/ 0 w 24"/>
                <a:gd name="T65" fmla="*/ 23 h 25"/>
                <a:gd name="T66" fmla="*/ 0 w 24"/>
                <a:gd name="T67" fmla="*/ 27 h 25"/>
                <a:gd name="T68" fmla="*/ 2 w 24"/>
                <a:gd name="T69" fmla="*/ 30 h 25"/>
                <a:gd name="T70" fmla="*/ 5 w 24"/>
                <a:gd name="T71" fmla="*/ 33 h 25"/>
                <a:gd name="T72" fmla="*/ 5 w 24"/>
                <a:gd name="T73" fmla="*/ 36 h 25"/>
                <a:gd name="T74" fmla="*/ 7 w 24"/>
                <a:gd name="T75" fmla="*/ 36 h 25"/>
                <a:gd name="T76" fmla="*/ 10 w 24"/>
                <a:gd name="T77" fmla="*/ 36 h 25"/>
                <a:gd name="T78" fmla="*/ 12 w 24"/>
                <a:gd name="T79" fmla="*/ 39 h 25"/>
                <a:gd name="T80" fmla="*/ 15 w 24"/>
                <a:gd name="T81" fmla="*/ 39 h 25"/>
                <a:gd name="T82" fmla="*/ 15 w 24"/>
                <a:gd name="T83" fmla="*/ 39 h 25"/>
                <a:gd name="T84" fmla="*/ 15 w 24"/>
                <a:gd name="T85" fmla="*/ 36 h 25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4"/>
                <a:gd name="T130" fmla="*/ 0 h 25"/>
                <a:gd name="T131" fmla="*/ 24 w 24"/>
                <a:gd name="T132" fmla="*/ 25 h 25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4" h="25">
                  <a:moveTo>
                    <a:pt x="12" y="23"/>
                  </a:moveTo>
                  <a:lnTo>
                    <a:pt x="14" y="25"/>
                  </a:lnTo>
                  <a:lnTo>
                    <a:pt x="16" y="23"/>
                  </a:lnTo>
                  <a:lnTo>
                    <a:pt x="18" y="23"/>
                  </a:lnTo>
                  <a:lnTo>
                    <a:pt x="20" y="23"/>
                  </a:lnTo>
                  <a:lnTo>
                    <a:pt x="20" y="21"/>
                  </a:lnTo>
                  <a:lnTo>
                    <a:pt x="22" y="19"/>
                  </a:lnTo>
                  <a:lnTo>
                    <a:pt x="24" y="17"/>
                  </a:lnTo>
                  <a:lnTo>
                    <a:pt x="24" y="15"/>
                  </a:lnTo>
                  <a:lnTo>
                    <a:pt x="24" y="13"/>
                  </a:lnTo>
                  <a:lnTo>
                    <a:pt x="24" y="11"/>
                  </a:lnTo>
                  <a:lnTo>
                    <a:pt x="24" y="9"/>
                  </a:lnTo>
                  <a:lnTo>
                    <a:pt x="24" y="7"/>
                  </a:lnTo>
                  <a:lnTo>
                    <a:pt x="24" y="6"/>
                  </a:lnTo>
                  <a:lnTo>
                    <a:pt x="22" y="6"/>
                  </a:lnTo>
                  <a:lnTo>
                    <a:pt x="20" y="4"/>
                  </a:lnTo>
                  <a:lnTo>
                    <a:pt x="20" y="2"/>
                  </a:lnTo>
                  <a:lnTo>
                    <a:pt x="18" y="2"/>
                  </a:lnTo>
                  <a:lnTo>
                    <a:pt x="16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8" y="0"/>
                  </a:lnTo>
                  <a:lnTo>
                    <a:pt x="6" y="2"/>
                  </a:lnTo>
                  <a:lnTo>
                    <a:pt x="4" y="2"/>
                  </a:lnTo>
                  <a:lnTo>
                    <a:pt x="4" y="4"/>
                  </a:lnTo>
                  <a:lnTo>
                    <a:pt x="2" y="6"/>
                  </a:lnTo>
                  <a:lnTo>
                    <a:pt x="0" y="6"/>
                  </a:lnTo>
                  <a:lnTo>
                    <a:pt x="0" y="7"/>
                  </a:lnTo>
                  <a:lnTo>
                    <a:pt x="0" y="9"/>
                  </a:lnTo>
                  <a:lnTo>
                    <a:pt x="0" y="11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0" y="17"/>
                  </a:lnTo>
                  <a:lnTo>
                    <a:pt x="2" y="19"/>
                  </a:lnTo>
                  <a:lnTo>
                    <a:pt x="4" y="21"/>
                  </a:lnTo>
                  <a:lnTo>
                    <a:pt x="4" y="23"/>
                  </a:lnTo>
                  <a:lnTo>
                    <a:pt x="6" y="23"/>
                  </a:lnTo>
                  <a:lnTo>
                    <a:pt x="8" y="23"/>
                  </a:lnTo>
                  <a:lnTo>
                    <a:pt x="10" y="25"/>
                  </a:lnTo>
                  <a:lnTo>
                    <a:pt x="12" y="25"/>
                  </a:lnTo>
                  <a:lnTo>
                    <a:pt x="12" y="2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14" name="Freeform 111"/>
            <p:cNvSpPr>
              <a:spLocks/>
            </p:cNvSpPr>
            <p:nvPr/>
          </p:nvSpPr>
          <p:spPr bwMode="auto">
            <a:xfrm>
              <a:off x="2922" y="2184"/>
              <a:ext cx="1064" cy="1733"/>
            </a:xfrm>
            <a:custGeom>
              <a:avLst/>
              <a:gdLst>
                <a:gd name="T0" fmla="*/ 1064 w 901"/>
                <a:gd name="T1" fmla="*/ 164 h 1045"/>
                <a:gd name="T2" fmla="*/ 1064 w 901"/>
                <a:gd name="T3" fmla="*/ 1733 h 1045"/>
                <a:gd name="T4" fmla="*/ 0 w 901"/>
                <a:gd name="T5" fmla="*/ 1733 h 1045"/>
                <a:gd name="T6" fmla="*/ 0 w 901"/>
                <a:gd name="T7" fmla="*/ 0 h 1045"/>
                <a:gd name="T8" fmla="*/ 67 w 901"/>
                <a:gd name="T9" fmla="*/ 0 h 104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01"/>
                <a:gd name="T16" fmla="*/ 0 h 1045"/>
                <a:gd name="T17" fmla="*/ 901 w 901"/>
                <a:gd name="T18" fmla="*/ 1045 h 104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01" h="1045">
                  <a:moveTo>
                    <a:pt x="901" y="99"/>
                  </a:moveTo>
                  <a:lnTo>
                    <a:pt x="901" y="1045"/>
                  </a:lnTo>
                  <a:lnTo>
                    <a:pt x="0" y="1045"/>
                  </a:lnTo>
                  <a:lnTo>
                    <a:pt x="0" y="0"/>
                  </a:lnTo>
                  <a:lnTo>
                    <a:pt x="57" y="0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15" name="Freeform 112"/>
            <p:cNvSpPr>
              <a:spLocks/>
            </p:cNvSpPr>
            <p:nvPr/>
          </p:nvSpPr>
          <p:spPr bwMode="auto">
            <a:xfrm>
              <a:off x="2846" y="3981"/>
              <a:ext cx="28" cy="38"/>
            </a:xfrm>
            <a:custGeom>
              <a:avLst/>
              <a:gdLst>
                <a:gd name="T0" fmla="*/ 11 w 23"/>
                <a:gd name="T1" fmla="*/ 38 h 25"/>
                <a:gd name="T2" fmla="*/ 16 w 23"/>
                <a:gd name="T3" fmla="*/ 38 h 25"/>
                <a:gd name="T4" fmla="*/ 18 w 23"/>
                <a:gd name="T5" fmla="*/ 38 h 25"/>
                <a:gd name="T6" fmla="*/ 21 w 23"/>
                <a:gd name="T7" fmla="*/ 35 h 25"/>
                <a:gd name="T8" fmla="*/ 23 w 23"/>
                <a:gd name="T9" fmla="*/ 35 h 25"/>
                <a:gd name="T10" fmla="*/ 23 w 23"/>
                <a:gd name="T11" fmla="*/ 32 h 25"/>
                <a:gd name="T12" fmla="*/ 26 w 23"/>
                <a:gd name="T13" fmla="*/ 32 h 25"/>
                <a:gd name="T14" fmla="*/ 26 w 23"/>
                <a:gd name="T15" fmla="*/ 29 h 25"/>
                <a:gd name="T16" fmla="*/ 28 w 23"/>
                <a:gd name="T17" fmla="*/ 27 h 25"/>
                <a:gd name="T18" fmla="*/ 28 w 23"/>
                <a:gd name="T19" fmla="*/ 24 h 25"/>
                <a:gd name="T20" fmla="*/ 28 w 23"/>
                <a:gd name="T21" fmla="*/ 21 h 25"/>
                <a:gd name="T22" fmla="*/ 28 w 23"/>
                <a:gd name="T23" fmla="*/ 18 h 25"/>
                <a:gd name="T24" fmla="*/ 28 w 23"/>
                <a:gd name="T25" fmla="*/ 15 h 25"/>
                <a:gd name="T26" fmla="*/ 26 w 23"/>
                <a:gd name="T27" fmla="*/ 12 h 25"/>
                <a:gd name="T28" fmla="*/ 26 w 23"/>
                <a:gd name="T29" fmla="*/ 9 h 25"/>
                <a:gd name="T30" fmla="*/ 23 w 23"/>
                <a:gd name="T31" fmla="*/ 6 h 25"/>
                <a:gd name="T32" fmla="*/ 23 w 23"/>
                <a:gd name="T33" fmla="*/ 6 h 25"/>
                <a:gd name="T34" fmla="*/ 21 w 23"/>
                <a:gd name="T35" fmla="*/ 3 h 25"/>
                <a:gd name="T36" fmla="*/ 18 w 23"/>
                <a:gd name="T37" fmla="*/ 3 h 25"/>
                <a:gd name="T38" fmla="*/ 16 w 23"/>
                <a:gd name="T39" fmla="*/ 3 h 25"/>
                <a:gd name="T40" fmla="*/ 13 w 23"/>
                <a:gd name="T41" fmla="*/ 0 h 25"/>
                <a:gd name="T42" fmla="*/ 11 w 23"/>
                <a:gd name="T43" fmla="*/ 3 h 25"/>
                <a:gd name="T44" fmla="*/ 9 w 23"/>
                <a:gd name="T45" fmla="*/ 3 h 25"/>
                <a:gd name="T46" fmla="*/ 6 w 23"/>
                <a:gd name="T47" fmla="*/ 3 h 25"/>
                <a:gd name="T48" fmla="*/ 4 w 23"/>
                <a:gd name="T49" fmla="*/ 6 h 25"/>
                <a:gd name="T50" fmla="*/ 2 w 23"/>
                <a:gd name="T51" fmla="*/ 6 h 25"/>
                <a:gd name="T52" fmla="*/ 2 w 23"/>
                <a:gd name="T53" fmla="*/ 9 h 25"/>
                <a:gd name="T54" fmla="*/ 0 w 23"/>
                <a:gd name="T55" fmla="*/ 12 h 25"/>
                <a:gd name="T56" fmla="*/ 0 w 23"/>
                <a:gd name="T57" fmla="*/ 15 h 25"/>
                <a:gd name="T58" fmla="*/ 0 w 23"/>
                <a:gd name="T59" fmla="*/ 18 h 25"/>
                <a:gd name="T60" fmla="*/ 0 w 23"/>
                <a:gd name="T61" fmla="*/ 21 h 25"/>
                <a:gd name="T62" fmla="*/ 0 w 23"/>
                <a:gd name="T63" fmla="*/ 24 h 25"/>
                <a:gd name="T64" fmla="*/ 0 w 23"/>
                <a:gd name="T65" fmla="*/ 27 h 25"/>
                <a:gd name="T66" fmla="*/ 0 w 23"/>
                <a:gd name="T67" fmla="*/ 29 h 25"/>
                <a:gd name="T68" fmla="*/ 2 w 23"/>
                <a:gd name="T69" fmla="*/ 32 h 25"/>
                <a:gd name="T70" fmla="*/ 2 w 23"/>
                <a:gd name="T71" fmla="*/ 32 h 25"/>
                <a:gd name="T72" fmla="*/ 4 w 23"/>
                <a:gd name="T73" fmla="*/ 35 h 25"/>
                <a:gd name="T74" fmla="*/ 6 w 23"/>
                <a:gd name="T75" fmla="*/ 35 h 25"/>
                <a:gd name="T76" fmla="*/ 9 w 23"/>
                <a:gd name="T77" fmla="*/ 38 h 25"/>
                <a:gd name="T78" fmla="*/ 11 w 23"/>
                <a:gd name="T79" fmla="*/ 38 h 25"/>
                <a:gd name="T80" fmla="*/ 13 w 23"/>
                <a:gd name="T81" fmla="*/ 38 h 25"/>
                <a:gd name="T82" fmla="*/ 13 w 23"/>
                <a:gd name="T83" fmla="*/ 38 h 25"/>
                <a:gd name="T84" fmla="*/ 11 w 23"/>
                <a:gd name="T85" fmla="*/ 38 h 25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3"/>
                <a:gd name="T130" fmla="*/ 0 h 25"/>
                <a:gd name="T131" fmla="*/ 23 w 23"/>
                <a:gd name="T132" fmla="*/ 25 h 25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3" h="25">
                  <a:moveTo>
                    <a:pt x="9" y="25"/>
                  </a:moveTo>
                  <a:lnTo>
                    <a:pt x="13" y="25"/>
                  </a:lnTo>
                  <a:lnTo>
                    <a:pt x="15" y="25"/>
                  </a:lnTo>
                  <a:lnTo>
                    <a:pt x="17" y="23"/>
                  </a:lnTo>
                  <a:lnTo>
                    <a:pt x="19" y="23"/>
                  </a:lnTo>
                  <a:lnTo>
                    <a:pt x="19" y="21"/>
                  </a:lnTo>
                  <a:lnTo>
                    <a:pt x="21" y="21"/>
                  </a:lnTo>
                  <a:lnTo>
                    <a:pt x="21" y="19"/>
                  </a:lnTo>
                  <a:lnTo>
                    <a:pt x="23" y="18"/>
                  </a:lnTo>
                  <a:lnTo>
                    <a:pt x="23" y="16"/>
                  </a:lnTo>
                  <a:lnTo>
                    <a:pt x="23" y="14"/>
                  </a:lnTo>
                  <a:lnTo>
                    <a:pt x="23" y="12"/>
                  </a:lnTo>
                  <a:lnTo>
                    <a:pt x="23" y="10"/>
                  </a:lnTo>
                  <a:lnTo>
                    <a:pt x="21" y="8"/>
                  </a:lnTo>
                  <a:lnTo>
                    <a:pt x="21" y="6"/>
                  </a:lnTo>
                  <a:lnTo>
                    <a:pt x="19" y="4"/>
                  </a:lnTo>
                  <a:lnTo>
                    <a:pt x="17" y="2"/>
                  </a:lnTo>
                  <a:lnTo>
                    <a:pt x="15" y="2"/>
                  </a:lnTo>
                  <a:lnTo>
                    <a:pt x="13" y="2"/>
                  </a:lnTo>
                  <a:lnTo>
                    <a:pt x="11" y="0"/>
                  </a:lnTo>
                  <a:lnTo>
                    <a:pt x="9" y="2"/>
                  </a:lnTo>
                  <a:lnTo>
                    <a:pt x="7" y="2"/>
                  </a:lnTo>
                  <a:lnTo>
                    <a:pt x="5" y="2"/>
                  </a:lnTo>
                  <a:lnTo>
                    <a:pt x="3" y="4"/>
                  </a:lnTo>
                  <a:lnTo>
                    <a:pt x="2" y="4"/>
                  </a:lnTo>
                  <a:lnTo>
                    <a:pt x="2" y="6"/>
                  </a:lnTo>
                  <a:lnTo>
                    <a:pt x="0" y="8"/>
                  </a:lnTo>
                  <a:lnTo>
                    <a:pt x="0" y="10"/>
                  </a:lnTo>
                  <a:lnTo>
                    <a:pt x="0" y="12"/>
                  </a:lnTo>
                  <a:lnTo>
                    <a:pt x="0" y="14"/>
                  </a:lnTo>
                  <a:lnTo>
                    <a:pt x="0" y="16"/>
                  </a:lnTo>
                  <a:lnTo>
                    <a:pt x="0" y="18"/>
                  </a:lnTo>
                  <a:lnTo>
                    <a:pt x="0" y="19"/>
                  </a:lnTo>
                  <a:lnTo>
                    <a:pt x="2" y="21"/>
                  </a:lnTo>
                  <a:lnTo>
                    <a:pt x="3" y="23"/>
                  </a:lnTo>
                  <a:lnTo>
                    <a:pt x="5" y="23"/>
                  </a:lnTo>
                  <a:lnTo>
                    <a:pt x="7" y="25"/>
                  </a:lnTo>
                  <a:lnTo>
                    <a:pt x="9" y="25"/>
                  </a:lnTo>
                  <a:lnTo>
                    <a:pt x="11" y="25"/>
                  </a:lnTo>
                  <a:lnTo>
                    <a:pt x="9" y="25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16" name="Freeform 113"/>
            <p:cNvSpPr>
              <a:spLocks/>
            </p:cNvSpPr>
            <p:nvPr/>
          </p:nvSpPr>
          <p:spPr bwMode="auto">
            <a:xfrm>
              <a:off x="1431" y="2491"/>
              <a:ext cx="2825" cy="1589"/>
            </a:xfrm>
            <a:custGeom>
              <a:avLst/>
              <a:gdLst>
                <a:gd name="T0" fmla="*/ 2823 w 2393"/>
                <a:gd name="T1" fmla="*/ 1230 h 1041"/>
                <a:gd name="T2" fmla="*/ 2825 w 2393"/>
                <a:gd name="T3" fmla="*/ 1589 h 1041"/>
                <a:gd name="T4" fmla="*/ 0 w 2393"/>
                <a:gd name="T5" fmla="*/ 1589 h 1041"/>
                <a:gd name="T6" fmla="*/ 0 w 2393"/>
                <a:gd name="T7" fmla="*/ 0 h 1041"/>
                <a:gd name="T8" fmla="*/ 367 w 2393"/>
                <a:gd name="T9" fmla="*/ 0 h 10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93"/>
                <a:gd name="T16" fmla="*/ 0 h 1041"/>
                <a:gd name="T17" fmla="*/ 2393 w 2393"/>
                <a:gd name="T18" fmla="*/ 1041 h 104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93" h="1041">
                  <a:moveTo>
                    <a:pt x="2391" y="806"/>
                  </a:moveTo>
                  <a:lnTo>
                    <a:pt x="2393" y="1041"/>
                  </a:lnTo>
                  <a:lnTo>
                    <a:pt x="0" y="1041"/>
                  </a:lnTo>
                  <a:lnTo>
                    <a:pt x="0" y="0"/>
                  </a:lnTo>
                  <a:lnTo>
                    <a:pt x="311" y="0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17" name="Freeform 114"/>
            <p:cNvSpPr>
              <a:spLocks/>
            </p:cNvSpPr>
            <p:nvPr/>
          </p:nvSpPr>
          <p:spPr bwMode="auto">
            <a:xfrm>
              <a:off x="4240" y="3703"/>
              <a:ext cx="30" cy="38"/>
            </a:xfrm>
            <a:custGeom>
              <a:avLst/>
              <a:gdLst>
                <a:gd name="T0" fmla="*/ 13 w 25"/>
                <a:gd name="T1" fmla="*/ 38 h 25"/>
                <a:gd name="T2" fmla="*/ 18 w 25"/>
                <a:gd name="T3" fmla="*/ 38 h 25"/>
                <a:gd name="T4" fmla="*/ 20 w 25"/>
                <a:gd name="T5" fmla="*/ 38 h 25"/>
                <a:gd name="T6" fmla="*/ 23 w 25"/>
                <a:gd name="T7" fmla="*/ 35 h 25"/>
                <a:gd name="T8" fmla="*/ 25 w 25"/>
                <a:gd name="T9" fmla="*/ 35 h 25"/>
                <a:gd name="T10" fmla="*/ 25 w 25"/>
                <a:gd name="T11" fmla="*/ 33 h 25"/>
                <a:gd name="T12" fmla="*/ 28 w 25"/>
                <a:gd name="T13" fmla="*/ 33 h 25"/>
                <a:gd name="T14" fmla="*/ 28 w 25"/>
                <a:gd name="T15" fmla="*/ 30 h 25"/>
                <a:gd name="T16" fmla="*/ 30 w 25"/>
                <a:gd name="T17" fmla="*/ 27 h 25"/>
                <a:gd name="T18" fmla="*/ 30 w 25"/>
                <a:gd name="T19" fmla="*/ 24 h 25"/>
                <a:gd name="T20" fmla="*/ 30 w 25"/>
                <a:gd name="T21" fmla="*/ 21 h 25"/>
                <a:gd name="T22" fmla="*/ 30 w 25"/>
                <a:gd name="T23" fmla="*/ 18 h 25"/>
                <a:gd name="T24" fmla="*/ 30 w 25"/>
                <a:gd name="T25" fmla="*/ 15 h 25"/>
                <a:gd name="T26" fmla="*/ 28 w 25"/>
                <a:gd name="T27" fmla="*/ 12 h 25"/>
                <a:gd name="T28" fmla="*/ 28 w 25"/>
                <a:gd name="T29" fmla="*/ 9 h 25"/>
                <a:gd name="T30" fmla="*/ 25 w 25"/>
                <a:gd name="T31" fmla="*/ 6 h 25"/>
                <a:gd name="T32" fmla="*/ 25 w 25"/>
                <a:gd name="T33" fmla="*/ 6 h 25"/>
                <a:gd name="T34" fmla="*/ 23 w 25"/>
                <a:gd name="T35" fmla="*/ 3 h 25"/>
                <a:gd name="T36" fmla="*/ 20 w 25"/>
                <a:gd name="T37" fmla="*/ 3 h 25"/>
                <a:gd name="T38" fmla="*/ 18 w 25"/>
                <a:gd name="T39" fmla="*/ 3 h 25"/>
                <a:gd name="T40" fmla="*/ 16 w 25"/>
                <a:gd name="T41" fmla="*/ 0 h 25"/>
                <a:gd name="T42" fmla="*/ 13 w 25"/>
                <a:gd name="T43" fmla="*/ 3 h 25"/>
                <a:gd name="T44" fmla="*/ 11 w 25"/>
                <a:gd name="T45" fmla="*/ 3 h 25"/>
                <a:gd name="T46" fmla="*/ 8 w 25"/>
                <a:gd name="T47" fmla="*/ 3 h 25"/>
                <a:gd name="T48" fmla="*/ 6 w 25"/>
                <a:gd name="T49" fmla="*/ 6 h 25"/>
                <a:gd name="T50" fmla="*/ 5 w 25"/>
                <a:gd name="T51" fmla="*/ 6 h 25"/>
                <a:gd name="T52" fmla="*/ 5 w 25"/>
                <a:gd name="T53" fmla="*/ 9 h 25"/>
                <a:gd name="T54" fmla="*/ 2 w 25"/>
                <a:gd name="T55" fmla="*/ 12 h 25"/>
                <a:gd name="T56" fmla="*/ 2 w 25"/>
                <a:gd name="T57" fmla="*/ 15 h 25"/>
                <a:gd name="T58" fmla="*/ 2 w 25"/>
                <a:gd name="T59" fmla="*/ 18 h 25"/>
                <a:gd name="T60" fmla="*/ 0 w 25"/>
                <a:gd name="T61" fmla="*/ 21 h 25"/>
                <a:gd name="T62" fmla="*/ 2 w 25"/>
                <a:gd name="T63" fmla="*/ 24 h 25"/>
                <a:gd name="T64" fmla="*/ 2 w 25"/>
                <a:gd name="T65" fmla="*/ 27 h 25"/>
                <a:gd name="T66" fmla="*/ 2 w 25"/>
                <a:gd name="T67" fmla="*/ 30 h 25"/>
                <a:gd name="T68" fmla="*/ 5 w 25"/>
                <a:gd name="T69" fmla="*/ 33 h 25"/>
                <a:gd name="T70" fmla="*/ 5 w 25"/>
                <a:gd name="T71" fmla="*/ 33 h 25"/>
                <a:gd name="T72" fmla="*/ 6 w 25"/>
                <a:gd name="T73" fmla="*/ 35 h 25"/>
                <a:gd name="T74" fmla="*/ 8 w 25"/>
                <a:gd name="T75" fmla="*/ 35 h 25"/>
                <a:gd name="T76" fmla="*/ 11 w 25"/>
                <a:gd name="T77" fmla="*/ 38 h 25"/>
                <a:gd name="T78" fmla="*/ 13 w 25"/>
                <a:gd name="T79" fmla="*/ 38 h 25"/>
                <a:gd name="T80" fmla="*/ 16 w 25"/>
                <a:gd name="T81" fmla="*/ 38 h 25"/>
                <a:gd name="T82" fmla="*/ 16 w 25"/>
                <a:gd name="T83" fmla="*/ 38 h 25"/>
                <a:gd name="T84" fmla="*/ 13 w 25"/>
                <a:gd name="T85" fmla="*/ 38 h 25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5"/>
                <a:gd name="T130" fmla="*/ 0 h 25"/>
                <a:gd name="T131" fmla="*/ 25 w 25"/>
                <a:gd name="T132" fmla="*/ 25 h 25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5" h="25">
                  <a:moveTo>
                    <a:pt x="11" y="25"/>
                  </a:moveTo>
                  <a:lnTo>
                    <a:pt x="15" y="25"/>
                  </a:lnTo>
                  <a:lnTo>
                    <a:pt x="17" y="25"/>
                  </a:lnTo>
                  <a:lnTo>
                    <a:pt x="19" y="23"/>
                  </a:lnTo>
                  <a:lnTo>
                    <a:pt x="21" y="23"/>
                  </a:lnTo>
                  <a:lnTo>
                    <a:pt x="21" y="22"/>
                  </a:lnTo>
                  <a:lnTo>
                    <a:pt x="23" y="22"/>
                  </a:lnTo>
                  <a:lnTo>
                    <a:pt x="23" y="20"/>
                  </a:lnTo>
                  <a:lnTo>
                    <a:pt x="25" y="18"/>
                  </a:lnTo>
                  <a:lnTo>
                    <a:pt x="25" y="16"/>
                  </a:lnTo>
                  <a:lnTo>
                    <a:pt x="25" y="14"/>
                  </a:lnTo>
                  <a:lnTo>
                    <a:pt x="25" y="12"/>
                  </a:lnTo>
                  <a:lnTo>
                    <a:pt x="25" y="10"/>
                  </a:lnTo>
                  <a:lnTo>
                    <a:pt x="23" y="8"/>
                  </a:lnTo>
                  <a:lnTo>
                    <a:pt x="23" y="6"/>
                  </a:lnTo>
                  <a:lnTo>
                    <a:pt x="21" y="4"/>
                  </a:lnTo>
                  <a:lnTo>
                    <a:pt x="19" y="2"/>
                  </a:lnTo>
                  <a:lnTo>
                    <a:pt x="17" y="2"/>
                  </a:lnTo>
                  <a:lnTo>
                    <a:pt x="15" y="2"/>
                  </a:lnTo>
                  <a:lnTo>
                    <a:pt x="13" y="0"/>
                  </a:lnTo>
                  <a:lnTo>
                    <a:pt x="11" y="2"/>
                  </a:lnTo>
                  <a:lnTo>
                    <a:pt x="9" y="2"/>
                  </a:lnTo>
                  <a:lnTo>
                    <a:pt x="7" y="2"/>
                  </a:lnTo>
                  <a:lnTo>
                    <a:pt x="5" y="4"/>
                  </a:lnTo>
                  <a:lnTo>
                    <a:pt x="4" y="4"/>
                  </a:lnTo>
                  <a:lnTo>
                    <a:pt x="4" y="6"/>
                  </a:lnTo>
                  <a:lnTo>
                    <a:pt x="2" y="8"/>
                  </a:lnTo>
                  <a:lnTo>
                    <a:pt x="2" y="10"/>
                  </a:lnTo>
                  <a:lnTo>
                    <a:pt x="2" y="12"/>
                  </a:lnTo>
                  <a:lnTo>
                    <a:pt x="0" y="14"/>
                  </a:lnTo>
                  <a:lnTo>
                    <a:pt x="2" y="16"/>
                  </a:lnTo>
                  <a:lnTo>
                    <a:pt x="2" y="18"/>
                  </a:lnTo>
                  <a:lnTo>
                    <a:pt x="2" y="20"/>
                  </a:lnTo>
                  <a:lnTo>
                    <a:pt x="4" y="22"/>
                  </a:lnTo>
                  <a:lnTo>
                    <a:pt x="5" y="23"/>
                  </a:lnTo>
                  <a:lnTo>
                    <a:pt x="7" y="23"/>
                  </a:lnTo>
                  <a:lnTo>
                    <a:pt x="9" y="25"/>
                  </a:lnTo>
                  <a:lnTo>
                    <a:pt x="11" y="25"/>
                  </a:lnTo>
                  <a:lnTo>
                    <a:pt x="13" y="25"/>
                  </a:lnTo>
                  <a:lnTo>
                    <a:pt x="11" y="25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18" name="Freeform 115"/>
            <p:cNvSpPr>
              <a:spLocks/>
            </p:cNvSpPr>
            <p:nvPr/>
          </p:nvSpPr>
          <p:spPr bwMode="auto">
            <a:xfrm>
              <a:off x="2452" y="1439"/>
              <a:ext cx="29" cy="38"/>
            </a:xfrm>
            <a:custGeom>
              <a:avLst/>
              <a:gdLst>
                <a:gd name="T0" fmla="*/ 0 w 25"/>
                <a:gd name="T1" fmla="*/ 0 h 25"/>
                <a:gd name="T2" fmla="*/ 2 w 25"/>
                <a:gd name="T3" fmla="*/ 38 h 25"/>
                <a:gd name="T4" fmla="*/ 29 w 25"/>
                <a:gd name="T5" fmla="*/ 20 h 25"/>
                <a:gd name="T6" fmla="*/ 2 w 25"/>
                <a:gd name="T7" fmla="*/ 3 h 25"/>
                <a:gd name="T8" fmla="*/ 2 w 25"/>
                <a:gd name="T9" fmla="*/ 3 h 25"/>
                <a:gd name="T10" fmla="*/ 0 w 25"/>
                <a:gd name="T11" fmla="*/ 0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"/>
                <a:gd name="T19" fmla="*/ 0 h 25"/>
                <a:gd name="T20" fmla="*/ 25 w 25"/>
                <a:gd name="T21" fmla="*/ 25 h 2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" h="25">
                  <a:moveTo>
                    <a:pt x="0" y="0"/>
                  </a:moveTo>
                  <a:lnTo>
                    <a:pt x="2" y="25"/>
                  </a:lnTo>
                  <a:lnTo>
                    <a:pt x="25" y="13"/>
                  </a:lnTo>
                  <a:lnTo>
                    <a:pt x="2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B75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19" name="Freeform 116"/>
            <p:cNvSpPr>
              <a:spLocks/>
            </p:cNvSpPr>
            <p:nvPr/>
          </p:nvSpPr>
          <p:spPr bwMode="auto">
            <a:xfrm>
              <a:off x="3180" y="3677"/>
              <a:ext cx="30" cy="38"/>
            </a:xfrm>
            <a:custGeom>
              <a:avLst/>
              <a:gdLst>
                <a:gd name="T0" fmla="*/ 0 w 25"/>
                <a:gd name="T1" fmla="*/ 0 h 25"/>
                <a:gd name="T2" fmla="*/ 2 w 25"/>
                <a:gd name="T3" fmla="*/ 38 h 25"/>
                <a:gd name="T4" fmla="*/ 30 w 25"/>
                <a:gd name="T5" fmla="*/ 18 h 25"/>
                <a:gd name="T6" fmla="*/ 2 w 25"/>
                <a:gd name="T7" fmla="*/ 0 h 25"/>
                <a:gd name="T8" fmla="*/ 2 w 25"/>
                <a:gd name="T9" fmla="*/ 0 h 25"/>
                <a:gd name="T10" fmla="*/ 0 w 25"/>
                <a:gd name="T11" fmla="*/ 0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"/>
                <a:gd name="T19" fmla="*/ 0 h 25"/>
                <a:gd name="T20" fmla="*/ 25 w 25"/>
                <a:gd name="T21" fmla="*/ 25 h 2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" h="25">
                  <a:moveTo>
                    <a:pt x="0" y="0"/>
                  </a:moveTo>
                  <a:lnTo>
                    <a:pt x="2" y="25"/>
                  </a:lnTo>
                  <a:lnTo>
                    <a:pt x="25" y="12"/>
                  </a:lnTo>
                  <a:lnTo>
                    <a:pt x="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20" name="Freeform 117"/>
            <p:cNvSpPr>
              <a:spLocks/>
            </p:cNvSpPr>
            <p:nvPr/>
          </p:nvSpPr>
          <p:spPr bwMode="auto">
            <a:xfrm>
              <a:off x="3201" y="3773"/>
              <a:ext cx="30" cy="38"/>
            </a:xfrm>
            <a:custGeom>
              <a:avLst/>
              <a:gdLst>
                <a:gd name="T0" fmla="*/ 0 w 25"/>
                <a:gd name="T1" fmla="*/ 0 h 25"/>
                <a:gd name="T2" fmla="*/ 2 w 25"/>
                <a:gd name="T3" fmla="*/ 38 h 25"/>
                <a:gd name="T4" fmla="*/ 30 w 25"/>
                <a:gd name="T5" fmla="*/ 21 h 25"/>
                <a:gd name="T6" fmla="*/ 2 w 25"/>
                <a:gd name="T7" fmla="*/ 3 h 25"/>
                <a:gd name="T8" fmla="*/ 2 w 25"/>
                <a:gd name="T9" fmla="*/ 3 h 25"/>
                <a:gd name="T10" fmla="*/ 0 w 25"/>
                <a:gd name="T11" fmla="*/ 0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"/>
                <a:gd name="T19" fmla="*/ 0 h 25"/>
                <a:gd name="T20" fmla="*/ 25 w 25"/>
                <a:gd name="T21" fmla="*/ 25 h 2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" h="25">
                  <a:moveTo>
                    <a:pt x="0" y="0"/>
                  </a:moveTo>
                  <a:lnTo>
                    <a:pt x="2" y="25"/>
                  </a:lnTo>
                  <a:lnTo>
                    <a:pt x="25" y="14"/>
                  </a:lnTo>
                  <a:lnTo>
                    <a:pt x="2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21" name="Freeform 118"/>
            <p:cNvSpPr>
              <a:spLocks/>
            </p:cNvSpPr>
            <p:nvPr/>
          </p:nvSpPr>
          <p:spPr bwMode="auto">
            <a:xfrm>
              <a:off x="3646" y="3389"/>
              <a:ext cx="30" cy="38"/>
            </a:xfrm>
            <a:custGeom>
              <a:avLst/>
              <a:gdLst>
                <a:gd name="T0" fmla="*/ 0 w 25"/>
                <a:gd name="T1" fmla="*/ 0 h 25"/>
                <a:gd name="T2" fmla="*/ 2 w 25"/>
                <a:gd name="T3" fmla="*/ 38 h 25"/>
                <a:gd name="T4" fmla="*/ 30 w 25"/>
                <a:gd name="T5" fmla="*/ 17 h 25"/>
                <a:gd name="T6" fmla="*/ 2 w 25"/>
                <a:gd name="T7" fmla="*/ 0 h 25"/>
                <a:gd name="T8" fmla="*/ 2 w 25"/>
                <a:gd name="T9" fmla="*/ 0 h 25"/>
                <a:gd name="T10" fmla="*/ 0 w 25"/>
                <a:gd name="T11" fmla="*/ 0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"/>
                <a:gd name="T19" fmla="*/ 0 h 25"/>
                <a:gd name="T20" fmla="*/ 25 w 25"/>
                <a:gd name="T21" fmla="*/ 25 h 2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" h="25">
                  <a:moveTo>
                    <a:pt x="0" y="0"/>
                  </a:moveTo>
                  <a:lnTo>
                    <a:pt x="2" y="25"/>
                  </a:lnTo>
                  <a:lnTo>
                    <a:pt x="25" y="11"/>
                  </a:lnTo>
                  <a:lnTo>
                    <a:pt x="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22" name="Line 119"/>
            <p:cNvSpPr>
              <a:spLocks noChangeShapeType="1"/>
            </p:cNvSpPr>
            <p:nvPr/>
          </p:nvSpPr>
          <p:spPr bwMode="auto">
            <a:xfrm>
              <a:off x="3113" y="3402"/>
              <a:ext cx="536" cy="2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23" name="Line 120"/>
            <p:cNvSpPr>
              <a:spLocks noChangeShapeType="1"/>
            </p:cNvSpPr>
            <p:nvPr/>
          </p:nvSpPr>
          <p:spPr bwMode="auto">
            <a:xfrm>
              <a:off x="2604" y="3476"/>
              <a:ext cx="373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24" name="Line 121"/>
            <p:cNvSpPr>
              <a:spLocks noChangeShapeType="1"/>
            </p:cNvSpPr>
            <p:nvPr/>
          </p:nvSpPr>
          <p:spPr bwMode="auto">
            <a:xfrm>
              <a:off x="2602" y="3344"/>
              <a:ext cx="382" cy="2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25" name="Freeform 122"/>
            <p:cNvSpPr>
              <a:spLocks/>
            </p:cNvSpPr>
            <p:nvPr/>
          </p:nvSpPr>
          <p:spPr bwMode="auto">
            <a:xfrm>
              <a:off x="2604" y="3076"/>
              <a:ext cx="585" cy="619"/>
            </a:xfrm>
            <a:custGeom>
              <a:avLst/>
              <a:gdLst>
                <a:gd name="T0" fmla="*/ 0 w 496"/>
                <a:gd name="T1" fmla="*/ 0 h 406"/>
                <a:gd name="T2" fmla="*/ 183 w 496"/>
                <a:gd name="T3" fmla="*/ 0 h 406"/>
                <a:gd name="T4" fmla="*/ 183 w 496"/>
                <a:gd name="T5" fmla="*/ 619 h 406"/>
                <a:gd name="T6" fmla="*/ 585 w 496"/>
                <a:gd name="T7" fmla="*/ 619 h 40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96"/>
                <a:gd name="T13" fmla="*/ 0 h 406"/>
                <a:gd name="T14" fmla="*/ 496 w 496"/>
                <a:gd name="T15" fmla="*/ 406 h 40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96" h="406">
                  <a:moveTo>
                    <a:pt x="0" y="0"/>
                  </a:moveTo>
                  <a:lnTo>
                    <a:pt x="155" y="0"/>
                  </a:lnTo>
                  <a:lnTo>
                    <a:pt x="155" y="406"/>
                  </a:lnTo>
                  <a:lnTo>
                    <a:pt x="496" y="406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26" name="Freeform 123"/>
            <p:cNvSpPr>
              <a:spLocks/>
            </p:cNvSpPr>
            <p:nvPr/>
          </p:nvSpPr>
          <p:spPr bwMode="auto">
            <a:xfrm>
              <a:off x="2602" y="3210"/>
              <a:ext cx="608" cy="585"/>
            </a:xfrm>
            <a:custGeom>
              <a:avLst/>
              <a:gdLst>
                <a:gd name="T0" fmla="*/ 608 w 515"/>
                <a:gd name="T1" fmla="*/ 582 h 383"/>
                <a:gd name="T2" fmla="*/ 131 w 515"/>
                <a:gd name="T3" fmla="*/ 585 h 383"/>
                <a:gd name="T4" fmla="*/ 129 w 515"/>
                <a:gd name="T5" fmla="*/ 0 h 383"/>
                <a:gd name="T6" fmla="*/ 0 w 515"/>
                <a:gd name="T7" fmla="*/ 0 h 38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15"/>
                <a:gd name="T13" fmla="*/ 0 h 383"/>
                <a:gd name="T14" fmla="*/ 515 w 515"/>
                <a:gd name="T15" fmla="*/ 383 h 38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15" h="383">
                  <a:moveTo>
                    <a:pt x="515" y="381"/>
                  </a:moveTo>
                  <a:lnTo>
                    <a:pt x="111" y="383"/>
                  </a:lnTo>
                  <a:lnTo>
                    <a:pt x="109" y="0"/>
                  </a:lnTo>
                  <a:lnTo>
                    <a:pt x="0" y="0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grpSp>
          <p:nvGrpSpPr>
            <p:cNvPr id="127" name="Group 206"/>
            <p:cNvGrpSpPr>
              <a:grpSpLocks/>
            </p:cNvGrpSpPr>
            <p:nvPr/>
          </p:nvGrpSpPr>
          <p:grpSpPr bwMode="auto">
            <a:xfrm>
              <a:off x="4926" y="2412"/>
              <a:ext cx="117" cy="407"/>
              <a:chOff x="4926" y="2412"/>
              <a:chExt cx="117" cy="407"/>
            </a:xfrm>
          </p:grpSpPr>
          <p:sp>
            <p:nvSpPr>
              <p:cNvPr id="199" name="AutoShape 127"/>
              <p:cNvSpPr>
                <a:spLocks noChangeArrowheads="1"/>
              </p:cNvSpPr>
              <p:nvPr/>
            </p:nvSpPr>
            <p:spPr bwMode="auto">
              <a:xfrm rot="5400000">
                <a:off x="4781" y="2557"/>
                <a:ext cx="407" cy="117"/>
              </a:xfrm>
              <a:prstGeom prst="flowChartTerminator">
                <a:avLst/>
              </a:prstGeom>
              <a:solidFill>
                <a:srgbClr val="EAEAEA"/>
              </a:solidFill>
              <a:ln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200" name="Rectangle 125"/>
              <p:cNvSpPr>
                <a:spLocks noChangeArrowheads="1"/>
              </p:cNvSpPr>
              <p:nvPr/>
            </p:nvSpPr>
            <p:spPr bwMode="auto">
              <a:xfrm>
                <a:off x="4939" y="2448"/>
                <a:ext cx="28" cy="68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700">
                    <a:solidFill>
                      <a:srgbClr val="000000"/>
                    </a:solidFill>
                    <a:latin typeface="+mj-lt"/>
                  </a:rPr>
                  <a:t>1</a:t>
                </a:r>
                <a:endParaRPr lang="en-US" sz="600">
                  <a:solidFill>
                    <a:srgbClr val="000000"/>
                  </a:solidFill>
                  <a:latin typeface="+mj-lt"/>
                </a:endParaRPr>
              </a:p>
            </p:txBody>
          </p:sp>
          <p:sp>
            <p:nvSpPr>
              <p:cNvPr id="201" name="Rectangle 126"/>
              <p:cNvSpPr>
                <a:spLocks noChangeArrowheads="1"/>
              </p:cNvSpPr>
              <p:nvPr/>
            </p:nvSpPr>
            <p:spPr bwMode="auto">
              <a:xfrm>
                <a:off x="4959" y="2535"/>
                <a:ext cx="53" cy="163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>
                  <a:lnSpc>
                    <a:spcPct val="70000"/>
                  </a:lnSpc>
                </a:pPr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m</a:t>
                </a:r>
              </a:p>
              <a:p>
                <a:pPr algn="ctr">
                  <a:lnSpc>
                    <a:spcPct val="70000"/>
                  </a:lnSpc>
                </a:pPr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u</a:t>
                </a:r>
              </a:p>
              <a:p>
                <a:pPr algn="ctr">
                  <a:lnSpc>
                    <a:spcPct val="70000"/>
                  </a:lnSpc>
                </a:pPr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x</a:t>
                </a:r>
                <a:endParaRPr lang="en-US" sz="500">
                  <a:solidFill>
                    <a:srgbClr val="000000"/>
                  </a:solidFill>
                  <a:latin typeface="+mj-lt"/>
                </a:endParaRPr>
              </a:p>
            </p:txBody>
          </p:sp>
          <p:sp>
            <p:nvSpPr>
              <p:cNvPr id="202" name="Rectangle 128"/>
              <p:cNvSpPr>
                <a:spLocks noChangeArrowheads="1"/>
              </p:cNvSpPr>
              <p:nvPr/>
            </p:nvSpPr>
            <p:spPr bwMode="auto">
              <a:xfrm>
                <a:off x="4936" y="2717"/>
                <a:ext cx="28" cy="68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700">
                    <a:solidFill>
                      <a:srgbClr val="000000"/>
                    </a:solidFill>
                    <a:latin typeface="+mj-lt"/>
                  </a:rPr>
                  <a:t>0</a:t>
                </a:r>
                <a:endParaRPr lang="en-US" sz="600">
                  <a:solidFill>
                    <a:srgbClr val="000000"/>
                  </a:solidFill>
                  <a:latin typeface="+mj-lt"/>
                </a:endParaRPr>
              </a:p>
            </p:txBody>
          </p:sp>
        </p:grpSp>
        <p:grpSp>
          <p:nvGrpSpPr>
            <p:cNvPr id="128" name="Group 205"/>
            <p:cNvGrpSpPr>
              <a:grpSpLocks/>
            </p:cNvGrpSpPr>
            <p:nvPr/>
          </p:nvGrpSpPr>
          <p:grpSpPr bwMode="auto">
            <a:xfrm>
              <a:off x="3006" y="3201"/>
              <a:ext cx="116" cy="407"/>
              <a:chOff x="3006" y="3201"/>
              <a:chExt cx="116" cy="407"/>
            </a:xfrm>
          </p:grpSpPr>
          <p:sp>
            <p:nvSpPr>
              <p:cNvPr id="195" name="AutoShape 132"/>
              <p:cNvSpPr>
                <a:spLocks noChangeArrowheads="1"/>
              </p:cNvSpPr>
              <p:nvPr/>
            </p:nvSpPr>
            <p:spPr bwMode="auto">
              <a:xfrm rot="5400000">
                <a:off x="2860" y="3347"/>
                <a:ext cx="407" cy="116"/>
              </a:xfrm>
              <a:prstGeom prst="flowChartTerminator">
                <a:avLst/>
              </a:prstGeom>
              <a:solidFill>
                <a:srgbClr val="EAEAEA"/>
              </a:solidFill>
              <a:ln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96" name="Rectangle 130"/>
              <p:cNvSpPr>
                <a:spLocks noChangeArrowheads="1"/>
              </p:cNvSpPr>
              <p:nvPr/>
            </p:nvSpPr>
            <p:spPr bwMode="auto">
              <a:xfrm>
                <a:off x="3019" y="3237"/>
                <a:ext cx="28" cy="68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700">
                    <a:solidFill>
                      <a:srgbClr val="000000"/>
                    </a:solidFill>
                    <a:latin typeface="+mj-lt"/>
                  </a:rPr>
                  <a:t>0</a:t>
                </a:r>
                <a:endParaRPr lang="en-US" sz="600">
                  <a:solidFill>
                    <a:srgbClr val="000000"/>
                  </a:solidFill>
                  <a:latin typeface="+mj-lt"/>
                </a:endParaRPr>
              </a:p>
            </p:txBody>
          </p:sp>
          <p:sp>
            <p:nvSpPr>
              <p:cNvPr id="197" name="Rectangle 131"/>
              <p:cNvSpPr>
                <a:spLocks noChangeArrowheads="1"/>
              </p:cNvSpPr>
              <p:nvPr/>
            </p:nvSpPr>
            <p:spPr bwMode="auto">
              <a:xfrm>
                <a:off x="3038" y="3324"/>
                <a:ext cx="53" cy="163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>
                  <a:lnSpc>
                    <a:spcPct val="70000"/>
                  </a:lnSpc>
                </a:pPr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m</a:t>
                </a:r>
              </a:p>
              <a:p>
                <a:pPr algn="ctr">
                  <a:lnSpc>
                    <a:spcPct val="70000"/>
                  </a:lnSpc>
                </a:pPr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u</a:t>
                </a:r>
              </a:p>
              <a:p>
                <a:pPr algn="ctr">
                  <a:lnSpc>
                    <a:spcPct val="70000"/>
                  </a:lnSpc>
                </a:pPr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x</a:t>
                </a:r>
                <a:endParaRPr lang="en-US" sz="500">
                  <a:solidFill>
                    <a:srgbClr val="000000"/>
                  </a:solidFill>
                  <a:latin typeface="+mj-lt"/>
                </a:endParaRPr>
              </a:p>
            </p:txBody>
          </p:sp>
          <p:sp>
            <p:nvSpPr>
              <p:cNvPr id="198" name="Rectangle 133"/>
              <p:cNvSpPr>
                <a:spLocks noChangeArrowheads="1"/>
              </p:cNvSpPr>
              <p:nvPr/>
            </p:nvSpPr>
            <p:spPr bwMode="auto">
              <a:xfrm>
                <a:off x="3016" y="3506"/>
                <a:ext cx="28" cy="68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700">
                    <a:solidFill>
                      <a:srgbClr val="000000"/>
                    </a:solidFill>
                    <a:latin typeface="+mj-lt"/>
                  </a:rPr>
                  <a:t>1</a:t>
                </a:r>
                <a:endParaRPr lang="en-US" sz="600">
                  <a:solidFill>
                    <a:srgbClr val="000000"/>
                  </a:solidFill>
                  <a:latin typeface="+mj-lt"/>
                </a:endParaRPr>
              </a:p>
            </p:txBody>
          </p:sp>
        </p:grpSp>
        <p:grpSp>
          <p:nvGrpSpPr>
            <p:cNvPr id="129" name="Group 204"/>
            <p:cNvGrpSpPr>
              <a:grpSpLocks/>
            </p:cNvGrpSpPr>
            <p:nvPr/>
          </p:nvGrpSpPr>
          <p:grpSpPr bwMode="auto">
            <a:xfrm>
              <a:off x="3008" y="2569"/>
              <a:ext cx="117" cy="407"/>
              <a:chOff x="3008" y="2569"/>
              <a:chExt cx="117" cy="407"/>
            </a:xfrm>
          </p:grpSpPr>
          <p:sp>
            <p:nvSpPr>
              <p:cNvPr id="190" name="AutoShape 137"/>
              <p:cNvSpPr>
                <a:spLocks noChangeArrowheads="1"/>
              </p:cNvSpPr>
              <p:nvPr/>
            </p:nvSpPr>
            <p:spPr bwMode="auto">
              <a:xfrm rot="5400000">
                <a:off x="2863" y="2714"/>
                <a:ext cx="407" cy="117"/>
              </a:xfrm>
              <a:prstGeom prst="flowChartTerminator">
                <a:avLst/>
              </a:prstGeom>
              <a:solidFill>
                <a:srgbClr val="EAEAEA"/>
              </a:solidFill>
              <a:ln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91" name="Rectangle 135"/>
              <p:cNvSpPr>
                <a:spLocks noChangeArrowheads="1"/>
              </p:cNvSpPr>
              <p:nvPr/>
            </p:nvSpPr>
            <p:spPr bwMode="auto">
              <a:xfrm>
                <a:off x="3021" y="2605"/>
                <a:ext cx="28" cy="68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700">
                    <a:solidFill>
                      <a:srgbClr val="000000"/>
                    </a:solidFill>
                    <a:latin typeface="+mj-lt"/>
                  </a:rPr>
                  <a:t>0</a:t>
                </a:r>
                <a:endParaRPr lang="en-US" sz="600">
                  <a:solidFill>
                    <a:srgbClr val="000000"/>
                  </a:solidFill>
                  <a:latin typeface="+mj-lt"/>
                </a:endParaRPr>
              </a:p>
            </p:txBody>
          </p:sp>
          <p:sp>
            <p:nvSpPr>
              <p:cNvPr id="192" name="Rectangle 136"/>
              <p:cNvSpPr>
                <a:spLocks noChangeArrowheads="1"/>
              </p:cNvSpPr>
              <p:nvPr/>
            </p:nvSpPr>
            <p:spPr bwMode="auto">
              <a:xfrm>
                <a:off x="3050" y="2692"/>
                <a:ext cx="53" cy="163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>
                  <a:lnSpc>
                    <a:spcPct val="70000"/>
                  </a:lnSpc>
                </a:pPr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m</a:t>
                </a:r>
              </a:p>
              <a:p>
                <a:pPr algn="ctr">
                  <a:lnSpc>
                    <a:spcPct val="70000"/>
                  </a:lnSpc>
                </a:pPr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u</a:t>
                </a:r>
              </a:p>
              <a:p>
                <a:pPr algn="ctr">
                  <a:lnSpc>
                    <a:spcPct val="70000"/>
                  </a:lnSpc>
                </a:pPr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x</a:t>
                </a:r>
                <a:endParaRPr lang="en-US" sz="500">
                  <a:solidFill>
                    <a:srgbClr val="000000"/>
                  </a:solidFill>
                  <a:latin typeface="+mj-lt"/>
                </a:endParaRPr>
              </a:p>
            </p:txBody>
          </p:sp>
          <p:sp>
            <p:nvSpPr>
              <p:cNvPr id="193" name="Rectangle 138"/>
              <p:cNvSpPr>
                <a:spLocks noChangeArrowheads="1"/>
              </p:cNvSpPr>
              <p:nvPr/>
            </p:nvSpPr>
            <p:spPr bwMode="auto">
              <a:xfrm>
                <a:off x="3018" y="2736"/>
                <a:ext cx="28" cy="68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700">
                    <a:solidFill>
                      <a:srgbClr val="000000"/>
                    </a:solidFill>
                    <a:latin typeface="+mj-lt"/>
                  </a:rPr>
                  <a:t>1</a:t>
                </a:r>
                <a:endParaRPr lang="en-US" sz="600">
                  <a:solidFill>
                    <a:srgbClr val="000000"/>
                  </a:solidFill>
                  <a:latin typeface="+mj-lt"/>
                </a:endParaRPr>
              </a:p>
            </p:txBody>
          </p:sp>
          <p:sp>
            <p:nvSpPr>
              <p:cNvPr id="194" name="Rectangle 139"/>
              <p:cNvSpPr>
                <a:spLocks noChangeArrowheads="1"/>
              </p:cNvSpPr>
              <p:nvPr/>
            </p:nvSpPr>
            <p:spPr bwMode="auto">
              <a:xfrm>
                <a:off x="3022" y="2870"/>
                <a:ext cx="28" cy="68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700">
                    <a:solidFill>
                      <a:srgbClr val="000000"/>
                    </a:solidFill>
                    <a:latin typeface="+mj-lt"/>
                  </a:rPr>
                  <a:t>2</a:t>
                </a:r>
                <a:endParaRPr lang="en-US" sz="600">
                  <a:solidFill>
                    <a:srgbClr val="000000"/>
                  </a:solidFill>
                  <a:latin typeface="+mj-lt"/>
                </a:endParaRPr>
              </a:p>
            </p:txBody>
          </p:sp>
        </p:grpSp>
        <p:grpSp>
          <p:nvGrpSpPr>
            <p:cNvPr id="130" name="Group 203"/>
            <p:cNvGrpSpPr>
              <a:grpSpLocks/>
            </p:cNvGrpSpPr>
            <p:nvPr/>
          </p:nvGrpSpPr>
          <p:grpSpPr bwMode="auto">
            <a:xfrm>
              <a:off x="3008" y="1980"/>
              <a:ext cx="117" cy="407"/>
              <a:chOff x="3008" y="1980"/>
              <a:chExt cx="117" cy="407"/>
            </a:xfrm>
          </p:grpSpPr>
          <p:sp>
            <p:nvSpPr>
              <p:cNvPr id="185" name="AutoShape 143"/>
              <p:cNvSpPr>
                <a:spLocks noChangeArrowheads="1"/>
              </p:cNvSpPr>
              <p:nvPr/>
            </p:nvSpPr>
            <p:spPr bwMode="auto">
              <a:xfrm rot="5400000">
                <a:off x="2863" y="2125"/>
                <a:ext cx="407" cy="117"/>
              </a:xfrm>
              <a:prstGeom prst="flowChartTerminator">
                <a:avLst/>
              </a:prstGeom>
              <a:solidFill>
                <a:srgbClr val="EAEAEA"/>
              </a:solidFill>
              <a:ln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86" name="Rectangle 141"/>
              <p:cNvSpPr>
                <a:spLocks noChangeArrowheads="1"/>
              </p:cNvSpPr>
              <p:nvPr/>
            </p:nvSpPr>
            <p:spPr bwMode="auto">
              <a:xfrm>
                <a:off x="3021" y="2016"/>
                <a:ext cx="28" cy="68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700">
                    <a:solidFill>
                      <a:srgbClr val="000000"/>
                    </a:solidFill>
                    <a:latin typeface="+mj-lt"/>
                  </a:rPr>
                  <a:t>0</a:t>
                </a:r>
                <a:endParaRPr lang="en-US" sz="600">
                  <a:solidFill>
                    <a:srgbClr val="000000"/>
                  </a:solidFill>
                  <a:latin typeface="+mj-lt"/>
                </a:endParaRPr>
              </a:p>
            </p:txBody>
          </p:sp>
          <p:sp>
            <p:nvSpPr>
              <p:cNvPr id="187" name="Rectangle 142"/>
              <p:cNvSpPr>
                <a:spLocks noChangeArrowheads="1"/>
              </p:cNvSpPr>
              <p:nvPr/>
            </p:nvSpPr>
            <p:spPr bwMode="auto">
              <a:xfrm>
                <a:off x="3050" y="2103"/>
                <a:ext cx="53" cy="163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>
                  <a:lnSpc>
                    <a:spcPct val="70000"/>
                  </a:lnSpc>
                </a:pPr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m</a:t>
                </a:r>
              </a:p>
              <a:p>
                <a:pPr algn="ctr">
                  <a:lnSpc>
                    <a:spcPct val="70000"/>
                  </a:lnSpc>
                </a:pPr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u</a:t>
                </a:r>
              </a:p>
              <a:p>
                <a:pPr algn="ctr">
                  <a:lnSpc>
                    <a:spcPct val="70000"/>
                  </a:lnSpc>
                </a:pPr>
                <a:r>
                  <a:rPr lang="en-US" sz="800">
                    <a:solidFill>
                      <a:srgbClr val="000000"/>
                    </a:solidFill>
                    <a:latin typeface="+mj-lt"/>
                  </a:rPr>
                  <a:t>x</a:t>
                </a:r>
                <a:endParaRPr lang="en-US" sz="500">
                  <a:solidFill>
                    <a:srgbClr val="000000"/>
                  </a:solidFill>
                  <a:latin typeface="+mj-lt"/>
                </a:endParaRPr>
              </a:p>
            </p:txBody>
          </p:sp>
          <p:sp>
            <p:nvSpPr>
              <p:cNvPr id="188" name="Rectangle 144"/>
              <p:cNvSpPr>
                <a:spLocks noChangeArrowheads="1"/>
              </p:cNvSpPr>
              <p:nvPr/>
            </p:nvSpPr>
            <p:spPr bwMode="auto">
              <a:xfrm>
                <a:off x="3018" y="2147"/>
                <a:ext cx="28" cy="68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700">
                    <a:solidFill>
                      <a:srgbClr val="000000"/>
                    </a:solidFill>
                    <a:latin typeface="+mj-lt"/>
                  </a:rPr>
                  <a:t>1</a:t>
                </a:r>
                <a:endParaRPr lang="en-US" sz="600">
                  <a:solidFill>
                    <a:srgbClr val="000000"/>
                  </a:solidFill>
                  <a:latin typeface="+mj-lt"/>
                </a:endParaRPr>
              </a:p>
            </p:txBody>
          </p:sp>
          <p:sp>
            <p:nvSpPr>
              <p:cNvPr id="189" name="Rectangle 145"/>
              <p:cNvSpPr>
                <a:spLocks noChangeArrowheads="1"/>
              </p:cNvSpPr>
              <p:nvPr/>
            </p:nvSpPr>
            <p:spPr bwMode="auto">
              <a:xfrm>
                <a:off x="3022" y="2281"/>
                <a:ext cx="28" cy="68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700">
                    <a:solidFill>
                      <a:srgbClr val="000000"/>
                    </a:solidFill>
                    <a:latin typeface="+mj-lt"/>
                  </a:rPr>
                  <a:t>2</a:t>
                </a:r>
                <a:endParaRPr lang="en-US" sz="600">
                  <a:solidFill>
                    <a:srgbClr val="000000"/>
                  </a:solidFill>
                  <a:latin typeface="+mj-lt"/>
                </a:endParaRPr>
              </a:p>
            </p:txBody>
          </p:sp>
        </p:grpSp>
        <p:sp>
          <p:nvSpPr>
            <p:cNvPr id="131" name="Rectangle 146"/>
            <p:cNvSpPr>
              <a:spLocks noChangeArrowheads="1"/>
            </p:cNvSpPr>
            <p:nvPr/>
          </p:nvSpPr>
          <p:spPr bwMode="auto">
            <a:xfrm>
              <a:off x="4080" y="2390"/>
              <a:ext cx="345" cy="2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1200">
                  <a:solidFill>
                    <a:srgbClr val="000000"/>
                  </a:solidFill>
                  <a:latin typeface="+mj-lt"/>
                </a:rPr>
                <a:t>Data</a:t>
              </a:r>
            </a:p>
            <a:p>
              <a:pPr algn="ctr">
                <a:lnSpc>
                  <a:spcPct val="90000"/>
                </a:lnSpc>
              </a:pPr>
              <a:r>
                <a:rPr lang="en-US" sz="1200">
                  <a:solidFill>
                    <a:srgbClr val="000000"/>
                  </a:solidFill>
                  <a:latin typeface="+mj-lt"/>
                </a:rPr>
                <a:t>Memory</a:t>
              </a:r>
              <a:endParaRPr lang="en-US" sz="8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132" name="Rectangle 147"/>
            <p:cNvSpPr>
              <a:spLocks noChangeArrowheads="1"/>
            </p:cNvSpPr>
            <p:nvPr/>
          </p:nvSpPr>
          <p:spPr bwMode="auto">
            <a:xfrm rot="16200000">
              <a:off x="3360" y="2422"/>
              <a:ext cx="161" cy="1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>
                  <a:solidFill>
                    <a:srgbClr val="000000"/>
                  </a:solidFill>
                  <a:latin typeface="+mj-lt"/>
                </a:rPr>
                <a:t>ALU</a:t>
              </a:r>
            </a:p>
          </p:txBody>
        </p:sp>
        <p:sp>
          <p:nvSpPr>
            <p:cNvPr id="133" name="Rectangle 148"/>
            <p:cNvSpPr>
              <a:spLocks noChangeArrowheads="1"/>
            </p:cNvSpPr>
            <p:nvPr/>
          </p:nvSpPr>
          <p:spPr bwMode="auto">
            <a:xfrm>
              <a:off x="1878" y="2246"/>
              <a:ext cx="347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n-US" sz="1200">
                  <a:solidFill>
                    <a:srgbClr val="000000"/>
                  </a:solidFill>
                  <a:latin typeface="+mj-lt"/>
                </a:rPr>
                <a:t>Register </a:t>
              </a:r>
            </a:p>
            <a:p>
              <a:pPr algn="ctr"/>
              <a:r>
                <a:rPr lang="en-US" sz="1200">
                  <a:solidFill>
                    <a:srgbClr val="000000"/>
                  </a:solidFill>
                  <a:latin typeface="+mj-lt"/>
                </a:rPr>
                <a:t>File</a:t>
              </a:r>
            </a:p>
          </p:txBody>
        </p:sp>
        <p:sp>
          <p:nvSpPr>
            <p:cNvPr id="134" name="Rectangle 149"/>
            <p:cNvSpPr>
              <a:spLocks noChangeArrowheads="1"/>
            </p:cNvSpPr>
            <p:nvPr/>
          </p:nvSpPr>
          <p:spPr bwMode="auto">
            <a:xfrm rot="16200000">
              <a:off x="506" y="2372"/>
              <a:ext cx="439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n-US" sz="1200">
                  <a:solidFill>
                    <a:srgbClr val="000000"/>
                  </a:solidFill>
                  <a:latin typeface="+mj-lt"/>
                </a:rPr>
                <a:t>Instruction</a:t>
              </a:r>
            </a:p>
            <a:p>
              <a:pPr algn="ctr"/>
              <a:r>
                <a:rPr lang="en-US" sz="1200">
                  <a:solidFill>
                    <a:srgbClr val="000000"/>
                  </a:solidFill>
                  <a:latin typeface="+mj-lt"/>
                </a:rPr>
                <a:t>Memory</a:t>
              </a:r>
              <a:endParaRPr lang="en-US" sz="5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135" name="Rectangle 150"/>
            <p:cNvSpPr>
              <a:spLocks noChangeArrowheads="1"/>
            </p:cNvSpPr>
            <p:nvPr/>
          </p:nvSpPr>
          <p:spPr bwMode="auto">
            <a:xfrm>
              <a:off x="310" y="2448"/>
              <a:ext cx="103" cy="1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>
                  <a:solidFill>
                    <a:srgbClr val="000000"/>
                  </a:solidFill>
                  <a:latin typeface="+mj-lt"/>
                </a:rPr>
                <a:t>PC</a:t>
              </a:r>
              <a:endParaRPr lang="en-US" sz="5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136" name="Rectangle 152"/>
            <p:cNvSpPr>
              <a:spLocks noChangeArrowheads="1"/>
            </p:cNvSpPr>
            <p:nvPr/>
          </p:nvSpPr>
          <p:spPr bwMode="auto">
            <a:xfrm>
              <a:off x="2438" y="912"/>
              <a:ext cx="219" cy="1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>
                  <a:solidFill>
                    <a:srgbClr val="000000"/>
                  </a:solidFill>
                  <a:latin typeface="+mj-lt"/>
                </a:rPr>
                <a:t>ID/EX</a:t>
              </a:r>
              <a:endParaRPr lang="en-US" sz="5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137" name="Rectangle 153"/>
            <p:cNvSpPr>
              <a:spLocks noChangeArrowheads="1"/>
            </p:cNvSpPr>
            <p:nvPr/>
          </p:nvSpPr>
          <p:spPr bwMode="auto">
            <a:xfrm>
              <a:off x="3546" y="912"/>
              <a:ext cx="359" cy="1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>
                  <a:solidFill>
                    <a:srgbClr val="000000"/>
                  </a:solidFill>
                  <a:latin typeface="+mj-lt"/>
                </a:rPr>
                <a:t>EX/MEM</a:t>
              </a:r>
              <a:endParaRPr lang="en-US" sz="8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138" name="Rectangle 154"/>
            <p:cNvSpPr>
              <a:spLocks noChangeArrowheads="1"/>
            </p:cNvSpPr>
            <p:nvPr/>
          </p:nvSpPr>
          <p:spPr bwMode="auto">
            <a:xfrm>
              <a:off x="4388" y="893"/>
              <a:ext cx="401" cy="1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>
                  <a:solidFill>
                    <a:srgbClr val="000000"/>
                  </a:solidFill>
                  <a:latin typeface="+mj-lt"/>
                </a:rPr>
                <a:t>MEM/WB</a:t>
              </a:r>
            </a:p>
          </p:txBody>
        </p:sp>
        <p:sp>
          <p:nvSpPr>
            <p:cNvPr id="139" name="Rectangle 155"/>
            <p:cNvSpPr>
              <a:spLocks noChangeArrowheads="1"/>
            </p:cNvSpPr>
            <p:nvPr/>
          </p:nvSpPr>
          <p:spPr bwMode="auto">
            <a:xfrm>
              <a:off x="959" y="893"/>
              <a:ext cx="187" cy="1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>
                  <a:solidFill>
                    <a:srgbClr val="000000"/>
                  </a:solidFill>
                  <a:latin typeface="+mj-lt"/>
                </a:rPr>
                <a:t>IF/ID</a:t>
              </a:r>
            </a:p>
          </p:txBody>
        </p:sp>
        <p:sp>
          <p:nvSpPr>
            <p:cNvPr id="140" name="Rectangle 156"/>
            <p:cNvSpPr>
              <a:spLocks noChangeArrowheads="1"/>
            </p:cNvSpPr>
            <p:nvPr/>
          </p:nvSpPr>
          <p:spPr bwMode="auto">
            <a:xfrm rot="16200000" flipH="1">
              <a:off x="999" y="2222"/>
              <a:ext cx="366" cy="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1000">
                  <a:solidFill>
                    <a:srgbClr val="000000"/>
                  </a:solidFill>
                  <a:latin typeface="+mj-lt"/>
                </a:rPr>
                <a:t>Instruction</a:t>
              </a:r>
              <a:endParaRPr lang="en-US" sz="7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141" name="Rectangle 157"/>
            <p:cNvSpPr>
              <a:spLocks noChangeArrowheads="1"/>
            </p:cNvSpPr>
            <p:nvPr/>
          </p:nvSpPr>
          <p:spPr bwMode="auto">
            <a:xfrm>
              <a:off x="1729" y="2957"/>
              <a:ext cx="300" cy="1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 dirty="0">
                  <a:solidFill>
                    <a:srgbClr val="000000"/>
                  </a:solidFill>
                  <a:latin typeface="+mj-lt"/>
                </a:rPr>
                <a:t>IF/ID.Rs</a:t>
              </a:r>
            </a:p>
          </p:txBody>
        </p:sp>
        <p:sp>
          <p:nvSpPr>
            <p:cNvPr id="142" name="Rectangle 158"/>
            <p:cNvSpPr>
              <a:spLocks noChangeArrowheads="1"/>
            </p:cNvSpPr>
            <p:nvPr/>
          </p:nvSpPr>
          <p:spPr bwMode="auto">
            <a:xfrm>
              <a:off x="1729" y="3101"/>
              <a:ext cx="294" cy="1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>
                  <a:solidFill>
                    <a:srgbClr val="000000"/>
                  </a:solidFill>
                  <a:latin typeface="+mj-lt"/>
                </a:rPr>
                <a:t>IF/ID.Rt</a:t>
              </a:r>
            </a:p>
          </p:txBody>
        </p:sp>
        <p:sp>
          <p:nvSpPr>
            <p:cNvPr id="143" name="Rectangle 159"/>
            <p:cNvSpPr>
              <a:spLocks noChangeArrowheads="1"/>
            </p:cNvSpPr>
            <p:nvPr/>
          </p:nvSpPr>
          <p:spPr bwMode="auto">
            <a:xfrm>
              <a:off x="1729" y="3236"/>
              <a:ext cx="294" cy="1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>
                  <a:solidFill>
                    <a:srgbClr val="000000"/>
                  </a:solidFill>
                  <a:latin typeface="+mj-lt"/>
                </a:rPr>
                <a:t>IF/ID.Rt</a:t>
              </a:r>
            </a:p>
          </p:txBody>
        </p:sp>
        <p:sp>
          <p:nvSpPr>
            <p:cNvPr id="144" name="Rectangle 160"/>
            <p:cNvSpPr>
              <a:spLocks noChangeArrowheads="1"/>
            </p:cNvSpPr>
            <p:nvPr/>
          </p:nvSpPr>
          <p:spPr bwMode="auto">
            <a:xfrm>
              <a:off x="1729" y="3369"/>
              <a:ext cx="312" cy="1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>
                  <a:solidFill>
                    <a:srgbClr val="000000"/>
                  </a:solidFill>
                  <a:latin typeface="+mj-lt"/>
                </a:rPr>
                <a:t>IF/ID.Rd</a:t>
              </a:r>
            </a:p>
          </p:txBody>
        </p:sp>
        <p:sp>
          <p:nvSpPr>
            <p:cNvPr id="145" name="Rectangle 161"/>
            <p:cNvSpPr>
              <a:spLocks noChangeArrowheads="1"/>
            </p:cNvSpPr>
            <p:nvPr/>
          </p:nvSpPr>
          <p:spPr bwMode="auto">
            <a:xfrm>
              <a:off x="2607" y="2976"/>
              <a:ext cx="75" cy="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>
                  <a:solidFill>
                    <a:srgbClr val="000000"/>
                  </a:solidFill>
                  <a:latin typeface="+mj-lt"/>
                </a:rPr>
                <a:t>Rs</a:t>
              </a:r>
              <a:endParaRPr lang="en-US" sz="12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146" name="Rectangle 162"/>
            <p:cNvSpPr>
              <a:spLocks noChangeArrowheads="1"/>
            </p:cNvSpPr>
            <p:nvPr/>
          </p:nvSpPr>
          <p:spPr bwMode="auto">
            <a:xfrm>
              <a:off x="2612" y="3120"/>
              <a:ext cx="71" cy="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>
                  <a:solidFill>
                    <a:srgbClr val="000000"/>
                  </a:solidFill>
                  <a:latin typeface="+mj-lt"/>
                </a:rPr>
                <a:t>Rt</a:t>
              </a:r>
              <a:endParaRPr lang="en-US" sz="12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147" name="Rectangle 163"/>
            <p:cNvSpPr>
              <a:spLocks noChangeArrowheads="1"/>
            </p:cNvSpPr>
            <p:nvPr/>
          </p:nvSpPr>
          <p:spPr bwMode="auto">
            <a:xfrm>
              <a:off x="2609" y="3255"/>
              <a:ext cx="71" cy="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>
                  <a:solidFill>
                    <a:srgbClr val="000000"/>
                  </a:solidFill>
                  <a:latin typeface="+mj-lt"/>
                </a:rPr>
                <a:t>Rt</a:t>
              </a:r>
              <a:endParaRPr lang="en-US" sz="12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148" name="Rectangle 164"/>
            <p:cNvSpPr>
              <a:spLocks noChangeArrowheads="1"/>
            </p:cNvSpPr>
            <p:nvPr/>
          </p:nvSpPr>
          <p:spPr bwMode="auto">
            <a:xfrm>
              <a:off x="2607" y="3378"/>
              <a:ext cx="89" cy="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>
                  <a:solidFill>
                    <a:srgbClr val="000000"/>
                  </a:solidFill>
                  <a:latin typeface="+mj-lt"/>
                </a:rPr>
                <a:t>Rd</a:t>
              </a:r>
              <a:endParaRPr lang="en-US" sz="12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149" name="Rectangle 165"/>
            <p:cNvSpPr>
              <a:spLocks noChangeArrowheads="1"/>
            </p:cNvSpPr>
            <p:nvPr/>
          </p:nvSpPr>
          <p:spPr bwMode="auto">
            <a:xfrm>
              <a:off x="3687" y="1416"/>
              <a:ext cx="95" cy="7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EB7500"/>
                  </a:solidFill>
                  <a:latin typeface="+mj-lt"/>
                </a:rPr>
                <a:t>WB</a:t>
              </a:r>
              <a:endParaRPr lang="en-US" sz="1200">
                <a:latin typeface="+mj-lt"/>
              </a:endParaRPr>
            </a:p>
          </p:txBody>
        </p:sp>
        <p:sp>
          <p:nvSpPr>
            <p:cNvPr id="150" name="Rectangle 166"/>
            <p:cNvSpPr>
              <a:spLocks noChangeArrowheads="1"/>
            </p:cNvSpPr>
            <p:nvPr/>
          </p:nvSpPr>
          <p:spPr bwMode="auto">
            <a:xfrm>
              <a:off x="3710" y="1656"/>
              <a:ext cx="57" cy="7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EB7500"/>
                  </a:solidFill>
                  <a:latin typeface="+mj-lt"/>
                </a:rPr>
                <a:t>M</a:t>
              </a:r>
              <a:endParaRPr lang="en-US" sz="1200">
                <a:latin typeface="+mj-lt"/>
              </a:endParaRPr>
            </a:p>
          </p:txBody>
        </p:sp>
        <p:sp>
          <p:nvSpPr>
            <p:cNvPr id="151" name="Rectangle 167"/>
            <p:cNvSpPr>
              <a:spLocks noChangeArrowheads="1"/>
            </p:cNvSpPr>
            <p:nvPr/>
          </p:nvSpPr>
          <p:spPr bwMode="auto">
            <a:xfrm>
              <a:off x="4546" y="1671"/>
              <a:ext cx="95" cy="7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EB7500"/>
                  </a:solidFill>
                  <a:latin typeface="+mj-lt"/>
                </a:rPr>
                <a:t>WB</a:t>
              </a:r>
              <a:endParaRPr lang="en-US" sz="1200">
                <a:latin typeface="+mj-lt"/>
              </a:endParaRPr>
            </a:p>
          </p:txBody>
        </p:sp>
        <p:sp>
          <p:nvSpPr>
            <p:cNvPr id="152" name="Rectangle 168"/>
            <p:cNvSpPr>
              <a:spLocks noChangeArrowheads="1"/>
            </p:cNvSpPr>
            <p:nvPr/>
          </p:nvSpPr>
          <p:spPr bwMode="auto">
            <a:xfrm>
              <a:off x="4033" y="3294"/>
              <a:ext cx="409" cy="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>
                  <a:solidFill>
                    <a:srgbClr val="000000"/>
                  </a:solidFill>
                  <a:latin typeface="+mj-lt"/>
                </a:rPr>
                <a:t>EX/MEM.Rd</a:t>
              </a:r>
              <a:endParaRPr lang="en-US" sz="7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153" name="Rectangle 169"/>
            <p:cNvSpPr>
              <a:spLocks noChangeArrowheads="1"/>
            </p:cNvSpPr>
            <p:nvPr/>
          </p:nvSpPr>
          <p:spPr bwMode="auto">
            <a:xfrm>
              <a:off x="4033" y="3600"/>
              <a:ext cx="444" cy="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>
                  <a:solidFill>
                    <a:srgbClr val="000000"/>
                  </a:solidFill>
                  <a:latin typeface="+mj-lt"/>
                </a:rPr>
                <a:t>MEM/WB.Rd</a:t>
              </a:r>
              <a:endParaRPr lang="en-US" sz="70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154" name="Rectangle 170"/>
            <p:cNvSpPr>
              <a:spLocks noChangeArrowheads="1"/>
            </p:cNvSpPr>
            <p:nvPr/>
          </p:nvSpPr>
          <p:spPr bwMode="auto">
            <a:xfrm>
              <a:off x="3945" y="2304"/>
              <a:ext cx="77" cy="156"/>
            </a:xfrm>
            <a:prstGeom prst="rect">
              <a:avLst/>
            </a:prstGeom>
            <a:solidFill>
              <a:schemeClr val="bg1"/>
            </a:solidFill>
            <a:ln w="12700">
              <a:noFill/>
              <a:miter lim="800000"/>
              <a:headEnd type="none" w="sm" len="sm"/>
              <a:tailEnd type="none" w="med" len="lg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55" name="Freeform 171"/>
            <p:cNvSpPr>
              <a:spLocks/>
            </p:cNvSpPr>
            <p:nvPr/>
          </p:nvSpPr>
          <p:spPr bwMode="auto">
            <a:xfrm>
              <a:off x="1817" y="816"/>
              <a:ext cx="411" cy="576"/>
            </a:xfrm>
            <a:custGeom>
              <a:avLst/>
              <a:gdLst>
                <a:gd name="T0" fmla="*/ 411 w 429"/>
                <a:gd name="T1" fmla="*/ 576 h 195"/>
                <a:gd name="T2" fmla="*/ 411 w 429"/>
                <a:gd name="T3" fmla="*/ 0 h 195"/>
                <a:gd name="T4" fmla="*/ 0 w 429"/>
                <a:gd name="T5" fmla="*/ 0 h 195"/>
                <a:gd name="T6" fmla="*/ 0 60000 65536"/>
                <a:gd name="T7" fmla="*/ 0 60000 65536"/>
                <a:gd name="T8" fmla="*/ 0 60000 65536"/>
                <a:gd name="T9" fmla="*/ 0 w 429"/>
                <a:gd name="T10" fmla="*/ 0 h 195"/>
                <a:gd name="T11" fmla="*/ 429 w 429"/>
                <a:gd name="T12" fmla="*/ 195 h 19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29" h="195">
                  <a:moveTo>
                    <a:pt x="429" y="195"/>
                  </a:moveTo>
                  <a:lnTo>
                    <a:pt x="429" y="0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EB75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56" name="Freeform 172"/>
            <p:cNvSpPr>
              <a:spLocks/>
            </p:cNvSpPr>
            <p:nvPr/>
          </p:nvSpPr>
          <p:spPr bwMode="auto">
            <a:xfrm>
              <a:off x="1064" y="779"/>
              <a:ext cx="316" cy="1045"/>
            </a:xfrm>
            <a:custGeom>
              <a:avLst/>
              <a:gdLst>
                <a:gd name="T0" fmla="*/ 0 w 246"/>
                <a:gd name="T1" fmla="*/ 1045 h 576"/>
                <a:gd name="T2" fmla="*/ 0 w 246"/>
                <a:gd name="T3" fmla="*/ 0 h 576"/>
                <a:gd name="T4" fmla="*/ 316 w 246"/>
                <a:gd name="T5" fmla="*/ 0 h 576"/>
                <a:gd name="T6" fmla="*/ 0 60000 65536"/>
                <a:gd name="T7" fmla="*/ 0 60000 65536"/>
                <a:gd name="T8" fmla="*/ 0 60000 65536"/>
                <a:gd name="T9" fmla="*/ 0 w 246"/>
                <a:gd name="T10" fmla="*/ 0 h 576"/>
                <a:gd name="T11" fmla="*/ 246 w 246"/>
                <a:gd name="T12" fmla="*/ 576 h 57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46" h="576">
                  <a:moveTo>
                    <a:pt x="0" y="576"/>
                  </a:moveTo>
                  <a:lnTo>
                    <a:pt x="0" y="0"/>
                  </a:lnTo>
                  <a:lnTo>
                    <a:pt x="246" y="0"/>
                  </a:lnTo>
                </a:path>
              </a:pathLst>
            </a:custGeom>
            <a:noFill/>
            <a:ln w="12700">
              <a:solidFill>
                <a:srgbClr val="EB75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57" name="Freeform 173"/>
            <p:cNvSpPr>
              <a:spLocks/>
            </p:cNvSpPr>
            <p:nvPr/>
          </p:nvSpPr>
          <p:spPr bwMode="auto">
            <a:xfrm>
              <a:off x="355" y="703"/>
              <a:ext cx="1021" cy="1601"/>
            </a:xfrm>
            <a:custGeom>
              <a:avLst/>
              <a:gdLst>
                <a:gd name="T0" fmla="*/ 0 w 794"/>
                <a:gd name="T1" fmla="*/ 1601 h 925"/>
                <a:gd name="T2" fmla="*/ 0 w 794"/>
                <a:gd name="T3" fmla="*/ 0 h 925"/>
                <a:gd name="T4" fmla="*/ 1021 w 794"/>
                <a:gd name="T5" fmla="*/ 0 h 925"/>
                <a:gd name="T6" fmla="*/ 0 60000 65536"/>
                <a:gd name="T7" fmla="*/ 0 60000 65536"/>
                <a:gd name="T8" fmla="*/ 0 60000 65536"/>
                <a:gd name="T9" fmla="*/ 0 w 794"/>
                <a:gd name="T10" fmla="*/ 0 h 925"/>
                <a:gd name="T11" fmla="*/ 794 w 794"/>
                <a:gd name="T12" fmla="*/ 925 h 92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94" h="925">
                  <a:moveTo>
                    <a:pt x="0" y="925"/>
                  </a:moveTo>
                  <a:lnTo>
                    <a:pt x="0" y="0"/>
                  </a:lnTo>
                  <a:lnTo>
                    <a:pt x="794" y="0"/>
                  </a:lnTo>
                </a:path>
              </a:pathLst>
            </a:custGeom>
            <a:noFill/>
            <a:ln w="12700">
              <a:solidFill>
                <a:srgbClr val="EB75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grpSp>
          <p:nvGrpSpPr>
            <p:cNvPr id="158" name="Group 201"/>
            <p:cNvGrpSpPr>
              <a:grpSpLocks/>
            </p:cNvGrpSpPr>
            <p:nvPr/>
          </p:nvGrpSpPr>
          <p:grpSpPr bwMode="auto">
            <a:xfrm>
              <a:off x="1374" y="624"/>
              <a:ext cx="443" cy="314"/>
              <a:chOff x="1374" y="624"/>
              <a:chExt cx="443" cy="314"/>
            </a:xfrm>
          </p:grpSpPr>
          <p:sp>
            <p:nvSpPr>
              <p:cNvPr id="183" name="Freeform 175"/>
              <p:cNvSpPr>
                <a:spLocks/>
              </p:cNvSpPr>
              <p:nvPr/>
            </p:nvSpPr>
            <p:spPr bwMode="auto">
              <a:xfrm>
                <a:off x="1374" y="624"/>
                <a:ext cx="443" cy="314"/>
              </a:xfrm>
              <a:custGeom>
                <a:avLst/>
                <a:gdLst>
                  <a:gd name="T0" fmla="*/ 354 w 364"/>
                  <a:gd name="T1" fmla="*/ 314 h 218"/>
                  <a:gd name="T2" fmla="*/ 369 w 364"/>
                  <a:gd name="T3" fmla="*/ 314 h 218"/>
                  <a:gd name="T4" fmla="*/ 382 w 364"/>
                  <a:gd name="T5" fmla="*/ 308 h 218"/>
                  <a:gd name="T6" fmla="*/ 397 w 364"/>
                  <a:gd name="T7" fmla="*/ 302 h 218"/>
                  <a:gd name="T8" fmla="*/ 408 w 364"/>
                  <a:gd name="T9" fmla="*/ 295 h 218"/>
                  <a:gd name="T10" fmla="*/ 417 w 364"/>
                  <a:gd name="T11" fmla="*/ 284 h 218"/>
                  <a:gd name="T12" fmla="*/ 427 w 364"/>
                  <a:gd name="T13" fmla="*/ 272 h 218"/>
                  <a:gd name="T14" fmla="*/ 433 w 364"/>
                  <a:gd name="T15" fmla="*/ 259 h 218"/>
                  <a:gd name="T16" fmla="*/ 438 w 364"/>
                  <a:gd name="T17" fmla="*/ 242 h 218"/>
                  <a:gd name="T18" fmla="*/ 443 w 364"/>
                  <a:gd name="T19" fmla="*/ 226 h 218"/>
                  <a:gd name="T20" fmla="*/ 443 w 364"/>
                  <a:gd name="T21" fmla="*/ 209 h 218"/>
                  <a:gd name="T22" fmla="*/ 443 w 364"/>
                  <a:gd name="T23" fmla="*/ 104 h 218"/>
                  <a:gd name="T24" fmla="*/ 443 w 364"/>
                  <a:gd name="T25" fmla="*/ 88 h 218"/>
                  <a:gd name="T26" fmla="*/ 438 w 364"/>
                  <a:gd name="T27" fmla="*/ 72 h 218"/>
                  <a:gd name="T28" fmla="*/ 433 w 364"/>
                  <a:gd name="T29" fmla="*/ 58 h 218"/>
                  <a:gd name="T30" fmla="*/ 427 w 364"/>
                  <a:gd name="T31" fmla="*/ 43 h 218"/>
                  <a:gd name="T32" fmla="*/ 417 w 364"/>
                  <a:gd name="T33" fmla="*/ 30 h 218"/>
                  <a:gd name="T34" fmla="*/ 408 w 364"/>
                  <a:gd name="T35" fmla="*/ 22 h 218"/>
                  <a:gd name="T36" fmla="*/ 397 w 364"/>
                  <a:gd name="T37" fmla="*/ 13 h 218"/>
                  <a:gd name="T38" fmla="*/ 382 w 364"/>
                  <a:gd name="T39" fmla="*/ 6 h 218"/>
                  <a:gd name="T40" fmla="*/ 369 w 364"/>
                  <a:gd name="T41" fmla="*/ 3 h 218"/>
                  <a:gd name="T42" fmla="*/ 354 w 364"/>
                  <a:gd name="T43" fmla="*/ 0 h 218"/>
                  <a:gd name="T44" fmla="*/ 89 w 364"/>
                  <a:gd name="T45" fmla="*/ 0 h 218"/>
                  <a:gd name="T46" fmla="*/ 74 w 364"/>
                  <a:gd name="T47" fmla="*/ 3 h 218"/>
                  <a:gd name="T48" fmla="*/ 61 w 364"/>
                  <a:gd name="T49" fmla="*/ 6 h 218"/>
                  <a:gd name="T50" fmla="*/ 49 w 364"/>
                  <a:gd name="T51" fmla="*/ 13 h 218"/>
                  <a:gd name="T52" fmla="*/ 37 w 364"/>
                  <a:gd name="T53" fmla="*/ 22 h 218"/>
                  <a:gd name="T54" fmla="*/ 26 w 364"/>
                  <a:gd name="T55" fmla="*/ 30 h 218"/>
                  <a:gd name="T56" fmla="*/ 16 w 364"/>
                  <a:gd name="T57" fmla="*/ 43 h 218"/>
                  <a:gd name="T58" fmla="*/ 9 w 364"/>
                  <a:gd name="T59" fmla="*/ 58 h 218"/>
                  <a:gd name="T60" fmla="*/ 5 w 364"/>
                  <a:gd name="T61" fmla="*/ 72 h 218"/>
                  <a:gd name="T62" fmla="*/ 2 w 364"/>
                  <a:gd name="T63" fmla="*/ 88 h 218"/>
                  <a:gd name="T64" fmla="*/ 0 w 364"/>
                  <a:gd name="T65" fmla="*/ 104 h 218"/>
                  <a:gd name="T66" fmla="*/ 0 w 364"/>
                  <a:gd name="T67" fmla="*/ 209 h 218"/>
                  <a:gd name="T68" fmla="*/ 2 w 364"/>
                  <a:gd name="T69" fmla="*/ 226 h 218"/>
                  <a:gd name="T70" fmla="*/ 5 w 364"/>
                  <a:gd name="T71" fmla="*/ 242 h 218"/>
                  <a:gd name="T72" fmla="*/ 9 w 364"/>
                  <a:gd name="T73" fmla="*/ 259 h 218"/>
                  <a:gd name="T74" fmla="*/ 16 w 364"/>
                  <a:gd name="T75" fmla="*/ 272 h 218"/>
                  <a:gd name="T76" fmla="*/ 26 w 364"/>
                  <a:gd name="T77" fmla="*/ 284 h 218"/>
                  <a:gd name="T78" fmla="*/ 37 w 364"/>
                  <a:gd name="T79" fmla="*/ 295 h 218"/>
                  <a:gd name="T80" fmla="*/ 49 w 364"/>
                  <a:gd name="T81" fmla="*/ 302 h 218"/>
                  <a:gd name="T82" fmla="*/ 61 w 364"/>
                  <a:gd name="T83" fmla="*/ 308 h 218"/>
                  <a:gd name="T84" fmla="*/ 74 w 364"/>
                  <a:gd name="T85" fmla="*/ 314 h 218"/>
                  <a:gd name="T86" fmla="*/ 89 w 364"/>
                  <a:gd name="T87" fmla="*/ 314 h 218"/>
                  <a:gd name="T88" fmla="*/ 354 w 364"/>
                  <a:gd name="T89" fmla="*/ 314 h 218"/>
                  <a:gd name="T90" fmla="*/ 354 w 364"/>
                  <a:gd name="T91" fmla="*/ 314 h 218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w 364"/>
                  <a:gd name="T139" fmla="*/ 0 h 218"/>
                  <a:gd name="T140" fmla="*/ 364 w 364"/>
                  <a:gd name="T141" fmla="*/ 218 h 218"/>
                </a:gdLst>
                <a:ahLst/>
                <a:cxnLst>
                  <a:cxn ang="T92">
                    <a:pos x="T0" y="T1"/>
                  </a:cxn>
                  <a:cxn ang="T93">
                    <a:pos x="T2" y="T3"/>
                  </a:cxn>
                  <a:cxn ang="T94">
                    <a:pos x="T4" y="T5"/>
                  </a:cxn>
                  <a:cxn ang="T95">
                    <a:pos x="T6" y="T7"/>
                  </a:cxn>
                  <a:cxn ang="T96">
                    <a:pos x="T8" y="T9"/>
                  </a:cxn>
                  <a:cxn ang="T97">
                    <a:pos x="T10" y="T11"/>
                  </a:cxn>
                  <a:cxn ang="T98">
                    <a:pos x="T12" y="T13"/>
                  </a:cxn>
                  <a:cxn ang="T99">
                    <a:pos x="T14" y="T15"/>
                  </a:cxn>
                  <a:cxn ang="T100">
                    <a:pos x="T16" y="T17"/>
                  </a:cxn>
                  <a:cxn ang="T101">
                    <a:pos x="T18" y="T19"/>
                  </a:cxn>
                  <a:cxn ang="T102">
                    <a:pos x="T20" y="T21"/>
                  </a:cxn>
                  <a:cxn ang="T103">
                    <a:pos x="T22" y="T23"/>
                  </a:cxn>
                  <a:cxn ang="T104">
                    <a:pos x="T24" y="T25"/>
                  </a:cxn>
                  <a:cxn ang="T105">
                    <a:pos x="T26" y="T27"/>
                  </a:cxn>
                  <a:cxn ang="T106">
                    <a:pos x="T28" y="T29"/>
                  </a:cxn>
                  <a:cxn ang="T107">
                    <a:pos x="T30" y="T31"/>
                  </a:cxn>
                  <a:cxn ang="T108">
                    <a:pos x="T32" y="T33"/>
                  </a:cxn>
                  <a:cxn ang="T109">
                    <a:pos x="T34" y="T35"/>
                  </a:cxn>
                  <a:cxn ang="T110">
                    <a:pos x="T36" y="T37"/>
                  </a:cxn>
                  <a:cxn ang="T111">
                    <a:pos x="T38" y="T39"/>
                  </a:cxn>
                  <a:cxn ang="T112">
                    <a:pos x="T40" y="T41"/>
                  </a:cxn>
                  <a:cxn ang="T113">
                    <a:pos x="T42" y="T43"/>
                  </a:cxn>
                  <a:cxn ang="T114">
                    <a:pos x="T44" y="T45"/>
                  </a:cxn>
                  <a:cxn ang="T115">
                    <a:pos x="T46" y="T47"/>
                  </a:cxn>
                  <a:cxn ang="T116">
                    <a:pos x="T48" y="T49"/>
                  </a:cxn>
                  <a:cxn ang="T117">
                    <a:pos x="T50" y="T51"/>
                  </a:cxn>
                  <a:cxn ang="T118">
                    <a:pos x="T52" y="T53"/>
                  </a:cxn>
                  <a:cxn ang="T119">
                    <a:pos x="T54" y="T55"/>
                  </a:cxn>
                  <a:cxn ang="T120">
                    <a:pos x="T56" y="T57"/>
                  </a:cxn>
                  <a:cxn ang="T121">
                    <a:pos x="T58" y="T59"/>
                  </a:cxn>
                  <a:cxn ang="T122">
                    <a:pos x="T60" y="T61"/>
                  </a:cxn>
                  <a:cxn ang="T123">
                    <a:pos x="T62" y="T63"/>
                  </a:cxn>
                  <a:cxn ang="T124">
                    <a:pos x="T64" y="T65"/>
                  </a:cxn>
                  <a:cxn ang="T125">
                    <a:pos x="T66" y="T67"/>
                  </a:cxn>
                  <a:cxn ang="T126">
                    <a:pos x="T68" y="T69"/>
                  </a:cxn>
                  <a:cxn ang="T127">
                    <a:pos x="T70" y="T71"/>
                  </a:cxn>
                  <a:cxn ang="T128">
                    <a:pos x="T72" y="T73"/>
                  </a:cxn>
                  <a:cxn ang="T129">
                    <a:pos x="T74" y="T75"/>
                  </a:cxn>
                  <a:cxn ang="T130">
                    <a:pos x="T76" y="T77"/>
                  </a:cxn>
                  <a:cxn ang="T131">
                    <a:pos x="T78" y="T79"/>
                  </a:cxn>
                  <a:cxn ang="T132">
                    <a:pos x="T80" y="T81"/>
                  </a:cxn>
                  <a:cxn ang="T133">
                    <a:pos x="T82" y="T83"/>
                  </a:cxn>
                  <a:cxn ang="T134">
                    <a:pos x="T84" y="T85"/>
                  </a:cxn>
                  <a:cxn ang="T135">
                    <a:pos x="T86" y="T87"/>
                  </a:cxn>
                  <a:cxn ang="T136">
                    <a:pos x="T88" y="T89"/>
                  </a:cxn>
                  <a:cxn ang="T137">
                    <a:pos x="T90" y="T91"/>
                  </a:cxn>
                </a:cxnLst>
                <a:rect l="T138" t="T139" r="T140" b="T141"/>
                <a:pathLst>
                  <a:path w="364" h="218">
                    <a:moveTo>
                      <a:pt x="291" y="218"/>
                    </a:moveTo>
                    <a:lnTo>
                      <a:pt x="303" y="218"/>
                    </a:lnTo>
                    <a:lnTo>
                      <a:pt x="314" y="214"/>
                    </a:lnTo>
                    <a:lnTo>
                      <a:pt x="326" y="210"/>
                    </a:lnTo>
                    <a:lnTo>
                      <a:pt x="335" y="205"/>
                    </a:lnTo>
                    <a:lnTo>
                      <a:pt x="343" y="197"/>
                    </a:lnTo>
                    <a:lnTo>
                      <a:pt x="351" y="189"/>
                    </a:lnTo>
                    <a:lnTo>
                      <a:pt x="356" y="180"/>
                    </a:lnTo>
                    <a:lnTo>
                      <a:pt x="360" y="168"/>
                    </a:lnTo>
                    <a:lnTo>
                      <a:pt x="364" y="157"/>
                    </a:lnTo>
                    <a:lnTo>
                      <a:pt x="364" y="145"/>
                    </a:lnTo>
                    <a:lnTo>
                      <a:pt x="364" y="72"/>
                    </a:lnTo>
                    <a:lnTo>
                      <a:pt x="364" y="61"/>
                    </a:lnTo>
                    <a:lnTo>
                      <a:pt x="360" y="50"/>
                    </a:lnTo>
                    <a:lnTo>
                      <a:pt x="356" y="40"/>
                    </a:lnTo>
                    <a:lnTo>
                      <a:pt x="351" y="30"/>
                    </a:lnTo>
                    <a:lnTo>
                      <a:pt x="343" y="21"/>
                    </a:lnTo>
                    <a:lnTo>
                      <a:pt x="335" y="15"/>
                    </a:lnTo>
                    <a:lnTo>
                      <a:pt x="326" y="9"/>
                    </a:lnTo>
                    <a:lnTo>
                      <a:pt x="314" y="4"/>
                    </a:lnTo>
                    <a:lnTo>
                      <a:pt x="303" y="2"/>
                    </a:lnTo>
                    <a:lnTo>
                      <a:pt x="291" y="0"/>
                    </a:lnTo>
                    <a:lnTo>
                      <a:pt x="73" y="0"/>
                    </a:lnTo>
                    <a:lnTo>
                      <a:pt x="61" y="2"/>
                    </a:lnTo>
                    <a:lnTo>
                      <a:pt x="50" y="4"/>
                    </a:lnTo>
                    <a:lnTo>
                      <a:pt x="40" y="9"/>
                    </a:lnTo>
                    <a:lnTo>
                      <a:pt x="30" y="15"/>
                    </a:lnTo>
                    <a:lnTo>
                      <a:pt x="21" y="21"/>
                    </a:lnTo>
                    <a:lnTo>
                      <a:pt x="13" y="30"/>
                    </a:lnTo>
                    <a:lnTo>
                      <a:pt x="7" y="40"/>
                    </a:lnTo>
                    <a:lnTo>
                      <a:pt x="4" y="50"/>
                    </a:lnTo>
                    <a:lnTo>
                      <a:pt x="2" y="61"/>
                    </a:lnTo>
                    <a:lnTo>
                      <a:pt x="0" y="72"/>
                    </a:lnTo>
                    <a:lnTo>
                      <a:pt x="0" y="145"/>
                    </a:lnTo>
                    <a:lnTo>
                      <a:pt x="2" y="157"/>
                    </a:lnTo>
                    <a:lnTo>
                      <a:pt x="4" y="168"/>
                    </a:lnTo>
                    <a:lnTo>
                      <a:pt x="7" y="180"/>
                    </a:lnTo>
                    <a:lnTo>
                      <a:pt x="13" y="189"/>
                    </a:lnTo>
                    <a:lnTo>
                      <a:pt x="21" y="197"/>
                    </a:lnTo>
                    <a:lnTo>
                      <a:pt x="30" y="205"/>
                    </a:lnTo>
                    <a:lnTo>
                      <a:pt x="40" y="210"/>
                    </a:lnTo>
                    <a:lnTo>
                      <a:pt x="50" y="214"/>
                    </a:lnTo>
                    <a:lnTo>
                      <a:pt x="61" y="218"/>
                    </a:lnTo>
                    <a:lnTo>
                      <a:pt x="73" y="218"/>
                    </a:lnTo>
                    <a:lnTo>
                      <a:pt x="291" y="218"/>
                    </a:lnTo>
                  </a:path>
                </a:pathLst>
              </a:custGeom>
              <a:solidFill>
                <a:srgbClr val="FFE6CD"/>
              </a:solidFill>
              <a:ln w="19050">
                <a:solidFill>
                  <a:srgbClr val="EB75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84" name="Rectangle 176"/>
              <p:cNvSpPr>
                <a:spLocks noChangeArrowheads="1"/>
              </p:cNvSpPr>
              <p:nvPr/>
            </p:nvSpPr>
            <p:spPr bwMode="auto">
              <a:xfrm>
                <a:off x="1448" y="660"/>
                <a:ext cx="296" cy="262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/>
                <a:r>
                  <a:rPr lang="en-US" sz="900">
                    <a:solidFill>
                      <a:srgbClr val="EB7500"/>
                    </a:solidFill>
                    <a:latin typeface="+mj-lt"/>
                  </a:rPr>
                  <a:t>Hazard</a:t>
                </a:r>
              </a:p>
              <a:p>
                <a:pPr algn="ctr"/>
                <a:r>
                  <a:rPr lang="en-US" sz="900">
                    <a:solidFill>
                      <a:srgbClr val="EB7500"/>
                    </a:solidFill>
                    <a:latin typeface="+mj-lt"/>
                  </a:rPr>
                  <a:t>Detection</a:t>
                </a:r>
              </a:p>
              <a:p>
                <a:pPr algn="ctr"/>
                <a:r>
                  <a:rPr lang="en-US" sz="900">
                    <a:solidFill>
                      <a:srgbClr val="EB7500"/>
                    </a:solidFill>
                    <a:latin typeface="+mj-lt"/>
                  </a:rPr>
                  <a:t>Unit</a:t>
                </a:r>
                <a:endParaRPr lang="en-US" sz="1200">
                  <a:latin typeface="+mj-lt"/>
                </a:endParaRPr>
              </a:p>
            </p:txBody>
          </p:sp>
        </p:grpSp>
        <p:sp>
          <p:nvSpPr>
            <p:cNvPr id="159" name="Freeform 177"/>
            <p:cNvSpPr>
              <a:spLocks/>
            </p:cNvSpPr>
            <p:nvPr/>
          </p:nvSpPr>
          <p:spPr bwMode="auto">
            <a:xfrm>
              <a:off x="2132" y="1703"/>
              <a:ext cx="37" cy="34"/>
            </a:xfrm>
            <a:custGeom>
              <a:avLst/>
              <a:gdLst>
                <a:gd name="T0" fmla="*/ 0 w 25"/>
                <a:gd name="T1" fmla="*/ 0 h 24"/>
                <a:gd name="T2" fmla="*/ 0 w 25"/>
                <a:gd name="T3" fmla="*/ 34 h 24"/>
                <a:gd name="T4" fmla="*/ 37 w 25"/>
                <a:gd name="T5" fmla="*/ 18 h 24"/>
                <a:gd name="T6" fmla="*/ 0 w 25"/>
                <a:gd name="T7" fmla="*/ 0 h 24"/>
                <a:gd name="T8" fmla="*/ 0 w 25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"/>
                <a:gd name="T16" fmla="*/ 0 h 24"/>
                <a:gd name="T17" fmla="*/ 25 w 25"/>
                <a:gd name="T18" fmla="*/ 24 h 2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" h="24">
                  <a:moveTo>
                    <a:pt x="0" y="0"/>
                  </a:moveTo>
                  <a:lnTo>
                    <a:pt x="0" y="24"/>
                  </a:lnTo>
                  <a:lnTo>
                    <a:pt x="25" y="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B75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60" name="Line 178"/>
            <p:cNvSpPr>
              <a:spLocks noChangeShapeType="1"/>
            </p:cNvSpPr>
            <p:nvPr/>
          </p:nvSpPr>
          <p:spPr bwMode="auto">
            <a:xfrm flipH="1">
              <a:off x="2067" y="1718"/>
              <a:ext cx="81" cy="3"/>
            </a:xfrm>
            <a:prstGeom prst="line">
              <a:avLst/>
            </a:prstGeom>
            <a:noFill/>
            <a:ln w="12700">
              <a:solidFill>
                <a:srgbClr val="EB75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61" name="Rectangle 179"/>
            <p:cNvSpPr>
              <a:spLocks noChangeArrowheads="1"/>
            </p:cNvSpPr>
            <p:nvPr/>
          </p:nvSpPr>
          <p:spPr bwMode="auto">
            <a:xfrm>
              <a:off x="2017" y="1683"/>
              <a:ext cx="32" cy="7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800">
                  <a:solidFill>
                    <a:srgbClr val="EB7500"/>
                  </a:solidFill>
                  <a:latin typeface="+mj-lt"/>
                </a:rPr>
                <a:t>0</a:t>
              </a:r>
              <a:endParaRPr lang="en-US" sz="1200">
                <a:latin typeface="+mj-lt"/>
              </a:endParaRPr>
            </a:p>
          </p:txBody>
        </p:sp>
        <p:sp>
          <p:nvSpPr>
            <p:cNvPr id="162" name="Freeform 180"/>
            <p:cNvSpPr>
              <a:spLocks/>
            </p:cNvSpPr>
            <p:nvPr/>
          </p:nvSpPr>
          <p:spPr bwMode="auto">
            <a:xfrm>
              <a:off x="2212" y="1359"/>
              <a:ext cx="30" cy="36"/>
            </a:xfrm>
            <a:custGeom>
              <a:avLst/>
              <a:gdLst>
                <a:gd name="T0" fmla="*/ 30 w 23"/>
                <a:gd name="T1" fmla="*/ 0 h 25"/>
                <a:gd name="T2" fmla="*/ 0 w 23"/>
                <a:gd name="T3" fmla="*/ 0 h 25"/>
                <a:gd name="T4" fmla="*/ 14 w 23"/>
                <a:gd name="T5" fmla="*/ 36 h 25"/>
                <a:gd name="T6" fmla="*/ 30 w 23"/>
                <a:gd name="T7" fmla="*/ 0 h 25"/>
                <a:gd name="T8" fmla="*/ 30 w 23"/>
                <a:gd name="T9" fmla="*/ 0 h 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"/>
                <a:gd name="T16" fmla="*/ 0 h 25"/>
                <a:gd name="T17" fmla="*/ 23 w 23"/>
                <a:gd name="T18" fmla="*/ 25 h 2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" h="25">
                  <a:moveTo>
                    <a:pt x="23" y="0"/>
                  </a:moveTo>
                  <a:lnTo>
                    <a:pt x="0" y="0"/>
                  </a:lnTo>
                  <a:lnTo>
                    <a:pt x="11" y="25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EB75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63" name="Freeform 181"/>
            <p:cNvSpPr>
              <a:spLocks/>
            </p:cNvSpPr>
            <p:nvPr/>
          </p:nvSpPr>
          <p:spPr bwMode="auto">
            <a:xfrm>
              <a:off x="1843" y="720"/>
              <a:ext cx="949" cy="720"/>
            </a:xfrm>
            <a:custGeom>
              <a:avLst/>
              <a:gdLst>
                <a:gd name="T0" fmla="*/ 949 w 732"/>
                <a:gd name="T1" fmla="*/ 720 h 391"/>
                <a:gd name="T2" fmla="*/ 949 w 732"/>
                <a:gd name="T3" fmla="*/ 0 h 391"/>
                <a:gd name="T4" fmla="*/ 0 w 732"/>
                <a:gd name="T5" fmla="*/ 0 h 391"/>
                <a:gd name="T6" fmla="*/ 0 60000 65536"/>
                <a:gd name="T7" fmla="*/ 0 60000 65536"/>
                <a:gd name="T8" fmla="*/ 0 60000 65536"/>
                <a:gd name="T9" fmla="*/ 0 w 732"/>
                <a:gd name="T10" fmla="*/ 0 h 391"/>
                <a:gd name="T11" fmla="*/ 732 w 732"/>
                <a:gd name="T12" fmla="*/ 391 h 39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32" h="391">
                  <a:moveTo>
                    <a:pt x="732" y="391"/>
                  </a:moveTo>
                  <a:lnTo>
                    <a:pt x="732" y="0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EB75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64" name="Freeform 182"/>
            <p:cNvSpPr>
              <a:spLocks/>
            </p:cNvSpPr>
            <p:nvPr/>
          </p:nvSpPr>
          <p:spPr bwMode="auto">
            <a:xfrm>
              <a:off x="2778" y="1439"/>
              <a:ext cx="35" cy="41"/>
            </a:xfrm>
            <a:custGeom>
              <a:avLst/>
              <a:gdLst>
                <a:gd name="T0" fmla="*/ 17 w 23"/>
                <a:gd name="T1" fmla="*/ 41 h 24"/>
                <a:gd name="T2" fmla="*/ 20 w 23"/>
                <a:gd name="T3" fmla="*/ 41 h 24"/>
                <a:gd name="T4" fmla="*/ 23 w 23"/>
                <a:gd name="T5" fmla="*/ 41 h 24"/>
                <a:gd name="T6" fmla="*/ 26 w 23"/>
                <a:gd name="T7" fmla="*/ 39 h 24"/>
                <a:gd name="T8" fmla="*/ 29 w 23"/>
                <a:gd name="T9" fmla="*/ 39 h 24"/>
                <a:gd name="T10" fmla="*/ 32 w 23"/>
                <a:gd name="T11" fmla="*/ 36 h 24"/>
                <a:gd name="T12" fmla="*/ 32 w 23"/>
                <a:gd name="T13" fmla="*/ 32 h 24"/>
                <a:gd name="T14" fmla="*/ 35 w 23"/>
                <a:gd name="T15" fmla="*/ 32 h 24"/>
                <a:gd name="T16" fmla="*/ 35 w 23"/>
                <a:gd name="T17" fmla="*/ 29 h 24"/>
                <a:gd name="T18" fmla="*/ 35 w 23"/>
                <a:gd name="T19" fmla="*/ 26 h 24"/>
                <a:gd name="T20" fmla="*/ 35 w 23"/>
                <a:gd name="T21" fmla="*/ 22 h 24"/>
                <a:gd name="T22" fmla="*/ 35 w 23"/>
                <a:gd name="T23" fmla="*/ 19 h 24"/>
                <a:gd name="T24" fmla="*/ 35 w 23"/>
                <a:gd name="T25" fmla="*/ 15 h 24"/>
                <a:gd name="T26" fmla="*/ 35 w 23"/>
                <a:gd name="T27" fmla="*/ 12 h 24"/>
                <a:gd name="T28" fmla="*/ 32 w 23"/>
                <a:gd name="T29" fmla="*/ 9 h 24"/>
                <a:gd name="T30" fmla="*/ 32 w 23"/>
                <a:gd name="T31" fmla="*/ 5 h 24"/>
                <a:gd name="T32" fmla="*/ 29 w 23"/>
                <a:gd name="T33" fmla="*/ 5 h 24"/>
                <a:gd name="T34" fmla="*/ 26 w 23"/>
                <a:gd name="T35" fmla="*/ 2 h 24"/>
                <a:gd name="T36" fmla="*/ 23 w 23"/>
                <a:gd name="T37" fmla="*/ 2 h 24"/>
                <a:gd name="T38" fmla="*/ 20 w 23"/>
                <a:gd name="T39" fmla="*/ 0 h 24"/>
                <a:gd name="T40" fmla="*/ 17 w 23"/>
                <a:gd name="T41" fmla="*/ 0 h 24"/>
                <a:gd name="T42" fmla="*/ 15 w 23"/>
                <a:gd name="T43" fmla="*/ 0 h 24"/>
                <a:gd name="T44" fmla="*/ 12 w 23"/>
                <a:gd name="T45" fmla="*/ 2 h 24"/>
                <a:gd name="T46" fmla="*/ 9 w 23"/>
                <a:gd name="T47" fmla="*/ 2 h 24"/>
                <a:gd name="T48" fmla="*/ 6 w 23"/>
                <a:gd name="T49" fmla="*/ 5 h 24"/>
                <a:gd name="T50" fmla="*/ 6 w 23"/>
                <a:gd name="T51" fmla="*/ 5 h 24"/>
                <a:gd name="T52" fmla="*/ 3 w 23"/>
                <a:gd name="T53" fmla="*/ 9 h 24"/>
                <a:gd name="T54" fmla="*/ 3 w 23"/>
                <a:gd name="T55" fmla="*/ 12 h 24"/>
                <a:gd name="T56" fmla="*/ 0 w 23"/>
                <a:gd name="T57" fmla="*/ 15 h 24"/>
                <a:gd name="T58" fmla="*/ 0 w 23"/>
                <a:gd name="T59" fmla="*/ 19 h 24"/>
                <a:gd name="T60" fmla="*/ 0 w 23"/>
                <a:gd name="T61" fmla="*/ 22 h 24"/>
                <a:gd name="T62" fmla="*/ 0 w 23"/>
                <a:gd name="T63" fmla="*/ 26 h 24"/>
                <a:gd name="T64" fmla="*/ 0 w 23"/>
                <a:gd name="T65" fmla="*/ 29 h 24"/>
                <a:gd name="T66" fmla="*/ 3 w 23"/>
                <a:gd name="T67" fmla="*/ 32 h 24"/>
                <a:gd name="T68" fmla="*/ 3 w 23"/>
                <a:gd name="T69" fmla="*/ 32 h 24"/>
                <a:gd name="T70" fmla="*/ 6 w 23"/>
                <a:gd name="T71" fmla="*/ 36 h 24"/>
                <a:gd name="T72" fmla="*/ 6 w 23"/>
                <a:gd name="T73" fmla="*/ 39 h 24"/>
                <a:gd name="T74" fmla="*/ 9 w 23"/>
                <a:gd name="T75" fmla="*/ 39 h 24"/>
                <a:gd name="T76" fmla="*/ 12 w 23"/>
                <a:gd name="T77" fmla="*/ 41 h 24"/>
                <a:gd name="T78" fmla="*/ 15 w 23"/>
                <a:gd name="T79" fmla="*/ 41 h 24"/>
                <a:gd name="T80" fmla="*/ 17 w 23"/>
                <a:gd name="T81" fmla="*/ 41 h 24"/>
                <a:gd name="T82" fmla="*/ 17 w 23"/>
                <a:gd name="T83" fmla="*/ 41 h 24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23"/>
                <a:gd name="T127" fmla="*/ 0 h 24"/>
                <a:gd name="T128" fmla="*/ 23 w 23"/>
                <a:gd name="T129" fmla="*/ 24 h 24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23" h="24">
                  <a:moveTo>
                    <a:pt x="11" y="24"/>
                  </a:moveTo>
                  <a:lnTo>
                    <a:pt x="13" y="24"/>
                  </a:lnTo>
                  <a:lnTo>
                    <a:pt x="15" y="24"/>
                  </a:lnTo>
                  <a:lnTo>
                    <a:pt x="17" y="23"/>
                  </a:lnTo>
                  <a:lnTo>
                    <a:pt x="19" y="23"/>
                  </a:lnTo>
                  <a:lnTo>
                    <a:pt x="21" y="21"/>
                  </a:lnTo>
                  <a:lnTo>
                    <a:pt x="21" y="19"/>
                  </a:lnTo>
                  <a:lnTo>
                    <a:pt x="23" y="19"/>
                  </a:lnTo>
                  <a:lnTo>
                    <a:pt x="23" y="17"/>
                  </a:lnTo>
                  <a:lnTo>
                    <a:pt x="23" y="15"/>
                  </a:lnTo>
                  <a:lnTo>
                    <a:pt x="23" y="13"/>
                  </a:lnTo>
                  <a:lnTo>
                    <a:pt x="23" y="11"/>
                  </a:lnTo>
                  <a:lnTo>
                    <a:pt x="23" y="9"/>
                  </a:lnTo>
                  <a:lnTo>
                    <a:pt x="23" y="7"/>
                  </a:lnTo>
                  <a:lnTo>
                    <a:pt x="21" y="5"/>
                  </a:lnTo>
                  <a:lnTo>
                    <a:pt x="21" y="3"/>
                  </a:lnTo>
                  <a:lnTo>
                    <a:pt x="19" y="3"/>
                  </a:lnTo>
                  <a:lnTo>
                    <a:pt x="17" y="1"/>
                  </a:lnTo>
                  <a:lnTo>
                    <a:pt x="15" y="1"/>
                  </a:lnTo>
                  <a:lnTo>
                    <a:pt x="13" y="0"/>
                  </a:lnTo>
                  <a:lnTo>
                    <a:pt x="11" y="0"/>
                  </a:lnTo>
                  <a:lnTo>
                    <a:pt x="10" y="0"/>
                  </a:lnTo>
                  <a:lnTo>
                    <a:pt x="8" y="1"/>
                  </a:lnTo>
                  <a:lnTo>
                    <a:pt x="6" y="1"/>
                  </a:lnTo>
                  <a:lnTo>
                    <a:pt x="4" y="3"/>
                  </a:lnTo>
                  <a:lnTo>
                    <a:pt x="2" y="5"/>
                  </a:lnTo>
                  <a:lnTo>
                    <a:pt x="2" y="7"/>
                  </a:lnTo>
                  <a:lnTo>
                    <a:pt x="0" y="9"/>
                  </a:lnTo>
                  <a:lnTo>
                    <a:pt x="0" y="11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0" y="17"/>
                  </a:lnTo>
                  <a:lnTo>
                    <a:pt x="2" y="19"/>
                  </a:lnTo>
                  <a:lnTo>
                    <a:pt x="4" y="21"/>
                  </a:lnTo>
                  <a:lnTo>
                    <a:pt x="4" y="23"/>
                  </a:lnTo>
                  <a:lnTo>
                    <a:pt x="6" y="23"/>
                  </a:lnTo>
                  <a:lnTo>
                    <a:pt x="8" y="24"/>
                  </a:lnTo>
                  <a:lnTo>
                    <a:pt x="10" y="24"/>
                  </a:lnTo>
                  <a:lnTo>
                    <a:pt x="11" y="24"/>
                  </a:lnTo>
                  <a:close/>
                </a:path>
              </a:pathLst>
            </a:custGeom>
            <a:solidFill>
              <a:srgbClr val="EB75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65" name="Freeform 183"/>
            <p:cNvSpPr>
              <a:spLocks/>
            </p:cNvSpPr>
            <p:nvPr/>
          </p:nvSpPr>
          <p:spPr bwMode="auto">
            <a:xfrm>
              <a:off x="1817" y="698"/>
              <a:ext cx="35" cy="42"/>
            </a:xfrm>
            <a:custGeom>
              <a:avLst/>
              <a:gdLst>
                <a:gd name="T0" fmla="*/ 35 w 23"/>
                <a:gd name="T1" fmla="*/ 39 h 25"/>
                <a:gd name="T2" fmla="*/ 35 w 23"/>
                <a:gd name="T3" fmla="*/ 0 h 25"/>
                <a:gd name="T4" fmla="*/ 0 w 23"/>
                <a:gd name="T5" fmla="*/ 18 h 25"/>
                <a:gd name="T6" fmla="*/ 35 w 23"/>
                <a:gd name="T7" fmla="*/ 42 h 25"/>
                <a:gd name="T8" fmla="*/ 35 w 23"/>
                <a:gd name="T9" fmla="*/ 42 h 25"/>
                <a:gd name="T10" fmla="*/ 35 w 23"/>
                <a:gd name="T11" fmla="*/ 39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3"/>
                <a:gd name="T19" fmla="*/ 0 h 25"/>
                <a:gd name="T20" fmla="*/ 23 w 23"/>
                <a:gd name="T21" fmla="*/ 25 h 2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3" h="25">
                  <a:moveTo>
                    <a:pt x="23" y="23"/>
                  </a:moveTo>
                  <a:lnTo>
                    <a:pt x="23" y="0"/>
                  </a:lnTo>
                  <a:lnTo>
                    <a:pt x="0" y="11"/>
                  </a:lnTo>
                  <a:lnTo>
                    <a:pt x="23" y="25"/>
                  </a:lnTo>
                  <a:lnTo>
                    <a:pt x="23" y="23"/>
                  </a:lnTo>
                  <a:close/>
                </a:path>
              </a:pathLst>
            </a:custGeom>
            <a:solidFill>
              <a:srgbClr val="EB75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66" name="Rectangle 184"/>
            <p:cNvSpPr>
              <a:spLocks noChangeArrowheads="1"/>
            </p:cNvSpPr>
            <p:nvPr/>
          </p:nvSpPr>
          <p:spPr bwMode="auto">
            <a:xfrm>
              <a:off x="1994" y="624"/>
              <a:ext cx="556" cy="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 dirty="0">
                  <a:solidFill>
                    <a:srgbClr val="EB7500"/>
                  </a:solidFill>
                  <a:latin typeface="+mj-lt"/>
                </a:rPr>
                <a:t>ID/</a:t>
              </a:r>
              <a:r>
                <a:rPr lang="en-US" sz="1000" dirty="0" err="1">
                  <a:solidFill>
                    <a:srgbClr val="EB7500"/>
                  </a:solidFill>
                  <a:latin typeface="+mj-lt"/>
                </a:rPr>
                <a:t>EX.MemRead</a:t>
              </a:r>
              <a:endParaRPr lang="en-US" sz="1000" dirty="0">
                <a:latin typeface="+mj-lt"/>
              </a:endParaRPr>
            </a:p>
          </p:txBody>
        </p:sp>
        <p:sp>
          <p:nvSpPr>
            <p:cNvPr id="167" name="Rectangle 185"/>
            <p:cNvSpPr>
              <a:spLocks noChangeArrowheads="1"/>
            </p:cNvSpPr>
            <p:nvPr/>
          </p:nvSpPr>
          <p:spPr bwMode="auto">
            <a:xfrm rot="16200000">
              <a:off x="167" y="1453"/>
              <a:ext cx="295" cy="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>
                  <a:solidFill>
                    <a:srgbClr val="EB7500"/>
                  </a:solidFill>
                  <a:latin typeface="+mj-lt"/>
                </a:rPr>
                <a:t>PC Write</a:t>
              </a:r>
              <a:endParaRPr lang="en-US" sz="1000">
                <a:latin typeface="+mj-lt"/>
              </a:endParaRPr>
            </a:p>
          </p:txBody>
        </p:sp>
        <p:grpSp>
          <p:nvGrpSpPr>
            <p:cNvPr id="168" name="Group 202"/>
            <p:cNvGrpSpPr>
              <a:grpSpLocks/>
            </p:cNvGrpSpPr>
            <p:nvPr/>
          </p:nvGrpSpPr>
          <p:grpSpPr bwMode="auto">
            <a:xfrm>
              <a:off x="2172" y="1389"/>
              <a:ext cx="116" cy="407"/>
              <a:chOff x="2172" y="1389"/>
              <a:chExt cx="116" cy="407"/>
            </a:xfrm>
          </p:grpSpPr>
          <p:sp>
            <p:nvSpPr>
              <p:cNvPr id="179" name="AutoShape 187"/>
              <p:cNvSpPr>
                <a:spLocks noChangeArrowheads="1"/>
              </p:cNvSpPr>
              <p:nvPr/>
            </p:nvSpPr>
            <p:spPr bwMode="auto">
              <a:xfrm rot="5400000">
                <a:off x="2026" y="1535"/>
                <a:ext cx="407" cy="116"/>
              </a:xfrm>
              <a:prstGeom prst="flowChartTerminator">
                <a:avLst/>
              </a:prstGeom>
              <a:solidFill>
                <a:srgbClr val="FFE6CD"/>
              </a:solidFill>
              <a:ln w="19050">
                <a:solidFill>
                  <a:srgbClr val="FF6600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>
                  <a:latin typeface="+mj-lt"/>
                </a:endParaRPr>
              </a:p>
            </p:txBody>
          </p:sp>
          <p:sp>
            <p:nvSpPr>
              <p:cNvPr id="180" name="Rectangle 188"/>
              <p:cNvSpPr>
                <a:spLocks noChangeArrowheads="1"/>
              </p:cNvSpPr>
              <p:nvPr/>
            </p:nvSpPr>
            <p:spPr bwMode="auto">
              <a:xfrm>
                <a:off x="2185" y="1425"/>
                <a:ext cx="28" cy="68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700">
                    <a:solidFill>
                      <a:srgbClr val="FF6600"/>
                    </a:solidFill>
                    <a:latin typeface="+mj-lt"/>
                  </a:rPr>
                  <a:t>0</a:t>
                </a:r>
                <a:endParaRPr lang="en-US" sz="600">
                  <a:solidFill>
                    <a:srgbClr val="FF6600"/>
                  </a:solidFill>
                  <a:latin typeface="+mj-lt"/>
                </a:endParaRPr>
              </a:p>
            </p:txBody>
          </p:sp>
          <p:sp>
            <p:nvSpPr>
              <p:cNvPr id="181" name="Rectangle 189"/>
              <p:cNvSpPr>
                <a:spLocks noChangeArrowheads="1"/>
              </p:cNvSpPr>
              <p:nvPr/>
            </p:nvSpPr>
            <p:spPr bwMode="auto">
              <a:xfrm>
                <a:off x="2213" y="1512"/>
                <a:ext cx="53" cy="163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 algn="ctr">
                  <a:lnSpc>
                    <a:spcPct val="70000"/>
                  </a:lnSpc>
                </a:pPr>
                <a:r>
                  <a:rPr lang="en-US" sz="800">
                    <a:solidFill>
                      <a:srgbClr val="FF6600"/>
                    </a:solidFill>
                    <a:latin typeface="+mj-lt"/>
                  </a:rPr>
                  <a:t>m</a:t>
                </a:r>
              </a:p>
              <a:p>
                <a:pPr algn="ctr">
                  <a:lnSpc>
                    <a:spcPct val="70000"/>
                  </a:lnSpc>
                </a:pPr>
                <a:r>
                  <a:rPr lang="en-US" sz="800">
                    <a:solidFill>
                      <a:srgbClr val="FF6600"/>
                    </a:solidFill>
                    <a:latin typeface="+mj-lt"/>
                  </a:rPr>
                  <a:t>u</a:t>
                </a:r>
              </a:p>
              <a:p>
                <a:pPr algn="ctr">
                  <a:lnSpc>
                    <a:spcPct val="70000"/>
                  </a:lnSpc>
                </a:pPr>
                <a:r>
                  <a:rPr lang="en-US" sz="800">
                    <a:solidFill>
                      <a:srgbClr val="FF6600"/>
                    </a:solidFill>
                    <a:latin typeface="+mj-lt"/>
                  </a:rPr>
                  <a:t>x</a:t>
                </a:r>
                <a:endParaRPr lang="en-US" sz="500">
                  <a:solidFill>
                    <a:srgbClr val="FF6600"/>
                  </a:solidFill>
                  <a:latin typeface="+mj-lt"/>
                </a:endParaRPr>
              </a:p>
            </p:txBody>
          </p:sp>
          <p:sp>
            <p:nvSpPr>
              <p:cNvPr id="182" name="Rectangle 190"/>
              <p:cNvSpPr>
                <a:spLocks noChangeArrowheads="1"/>
              </p:cNvSpPr>
              <p:nvPr/>
            </p:nvSpPr>
            <p:spPr bwMode="auto">
              <a:xfrm>
                <a:off x="2186" y="1690"/>
                <a:ext cx="28" cy="68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sz="700">
                    <a:solidFill>
                      <a:srgbClr val="FF6600"/>
                    </a:solidFill>
                    <a:latin typeface="+mj-lt"/>
                  </a:rPr>
                  <a:t>1</a:t>
                </a:r>
                <a:endParaRPr lang="en-US" sz="600">
                  <a:solidFill>
                    <a:srgbClr val="FF6600"/>
                  </a:solidFill>
                  <a:latin typeface="+mj-lt"/>
                </a:endParaRPr>
              </a:p>
            </p:txBody>
          </p:sp>
        </p:grpSp>
        <p:sp>
          <p:nvSpPr>
            <p:cNvPr id="169" name="Freeform 191"/>
            <p:cNvSpPr>
              <a:spLocks/>
            </p:cNvSpPr>
            <p:nvPr/>
          </p:nvSpPr>
          <p:spPr bwMode="auto">
            <a:xfrm>
              <a:off x="1045" y="1796"/>
              <a:ext cx="30" cy="36"/>
            </a:xfrm>
            <a:custGeom>
              <a:avLst/>
              <a:gdLst>
                <a:gd name="T0" fmla="*/ 30 w 23"/>
                <a:gd name="T1" fmla="*/ 0 h 25"/>
                <a:gd name="T2" fmla="*/ 0 w 23"/>
                <a:gd name="T3" fmla="*/ 0 h 25"/>
                <a:gd name="T4" fmla="*/ 14 w 23"/>
                <a:gd name="T5" fmla="*/ 36 h 25"/>
                <a:gd name="T6" fmla="*/ 30 w 23"/>
                <a:gd name="T7" fmla="*/ 0 h 25"/>
                <a:gd name="T8" fmla="*/ 30 w 23"/>
                <a:gd name="T9" fmla="*/ 0 h 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"/>
                <a:gd name="T16" fmla="*/ 0 h 25"/>
                <a:gd name="T17" fmla="*/ 23 w 23"/>
                <a:gd name="T18" fmla="*/ 25 h 2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" h="25">
                  <a:moveTo>
                    <a:pt x="23" y="0"/>
                  </a:moveTo>
                  <a:lnTo>
                    <a:pt x="0" y="0"/>
                  </a:lnTo>
                  <a:lnTo>
                    <a:pt x="11" y="25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EB75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70" name="Freeform 192"/>
            <p:cNvSpPr>
              <a:spLocks/>
            </p:cNvSpPr>
            <p:nvPr/>
          </p:nvSpPr>
          <p:spPr bwMode="auto">
            <a:xfrm>
              <a:off x="340" y="2272"/>
              <a:ext cx="29" cy="36"/>
            </a:xfrm>
            <a:custGeom>
              <a:avLst/>
              <a:gdLst>
                <a:gd name="T0" fmla="*/ 29 w 23"/>
                <a:gd name="T1" fmla="*/ 0 h 25"/>
                <a:gd name="T2" fmla="*/ 0 w 23"/>
                <a:gd name="T3" fmla="*/ 0 h 25"/>
                <a:gd name="T4" fmla="*/ 14 w 23"/>
                <a:gd name="T5" fmla="*/ 36 h 25"/>
                <a:gd name="T6" fmla="*/ 29 w 23"/>
                <a:gd name="T7" fmla="*/ 0 h 25"/>
                <a:gd name="T8" fmla="*/ 29 w 23"/>
                <a:gd name="T9" fmla="*/ 0 h 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"/>
                <a:gd name="T16" fmla="*/ 0 h 25"/>
                <a:gd name="T17" fmla="*/ 23 w 23"/>
                <a:gd name="T18" fmla="*/ 25 h 2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" h="25">
                  <a:moveTo>
                    <a:pt x="23" y="0"/>
                  </a:moveTo>
                  <a:lnTo>
                    <a:pt x="0" y="0"/>
                  </a:lnTo>
                  <a:lnTo>
                    <a:pt x="11" y="25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EB75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71" name="Rectangle 193"/>
            <p:cNvSpPr>
              <a:spLocks noChangeArrowheads="1"/>
            </p:cNvSpPr>
            <p:nvPr/>
          </p:nvSpPr>
          <p:spPr bwMode="auto">
            <a:xfrm rot="16200000">
              <a:off x="837" y="1397"/>
              <a:ext cx="374" cy="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000">
                  <a:solidFill>
                    <a:srgbClr val="EB7500"/>
                  </a:solidFill>
                  <a:latin typeface="+mj-lt"/>
                </a:rPr>
                <a:t>IF/ID Write</a:t>
              </a:r>
              <a:endParaRPr lang="en-US" sz="1000">
                <a:latin typeface="+mj-lt"/>
              </a:endParaRPr>
            </a:p>
          </p:txBody>
        </p:sp>
        <p:sp>
          <p:nvSpPr>
            <p:cNvPr id="172" name="Line 194"/>
            <p:cNvSpPr>
              <a:spLocks noChangeShapeType="1"/>
            </p:cNvSpPr>
            <p:nvPr/>
          </p:nvSpPr>
          <p:spPr bwMode="auto">
            <a:xfrm>
              <a:off x="2659" y="3339"/>
              <a:ext cx="0" cy="50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med" len="lg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73" name="Line 195"/>
            <p:cNvSpPr>
              <a:spLocks noChangeShapeType="1"/>
            </p:cNvSpPr>
            <p:nvPr/>
          </p:nvSpPr>
          <p:spPr bwMode="auto">
            <a:xfrm flipH="1">
              <a:off x="1596" y="3840"/>
              <a:ext cx="106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med" len="lg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74" name="Line 196"/>
            <p:cNvSpPr>
              <a:spLocks noChangeShapeType="1"/>
            </p:cNvSpPr>
            <p:nvPr/>
          </p:nvSpPr>
          <p:spPr bwMode="auto">
            <a:xfrm flipV="1">
              <a:off x="1596" y="945"/>
              <a:ext cx="0" cy="289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75" name="Freeform 197"/>
            <p:cNvSpPr>
              <a:spLocks/>
            </p:cNvSpPr>
            <p:nvPr/>
          </p:nvSpPr>
          <p:spPr bwMode="auto">
            <a:xfrm>
              <a:off x="2645" y="3324"/>
              <a:ext cx="28" cy="38"/>
            </a:xfrm>
            <a:custGeom>
              <a:avLst/>
              <a:gdLst>
                <a:gd name="T0" fmla="*/ 11 w 23"/>
                <a:gd name="T1" fmla="*/ 38 h 25"/>
                <a:gd name="T2" fmla="*/ 16 w 23"/>
                <a:gd name="T3" fmla="*/ 38 h 25"/>
                <a:gd name="T4" fmla="*/ 18 w 23"/>
                <a:gd name="T5" fmla="*/ 38 h 25"/>
                <a:gd name="T6" fmla="*/ 21 w 23"/>
                <a:gd name="T7" fmla="*/ 35 h 25"/>
                <a:gd name="T8" fmla="*/ 23 w 23"/>
                <a:gd name="T9" fmla="*/ 35 h 25"/>
                <a:gd name="T10" fmla="*/ 23 w 23"/>
                <a:gd name="T11" fmla="*/ 32 h 25"/>
                <a:gd name="T12" fmla="*/ 26 w 23"/>
                <a:gd name="T13" fmla="*/ 32 h 25"/>
                <a:gd name="T14" fmla="*/ 26 w 23"/>
                <a:gd name="T15" fmla="*/ 29 h 25"/>
                <a:gd name="T16" fmla="*/ 28 w 23"/>
                <a:gd name="T17" fmla="*/ 27 h 25"/>
                <a:gd name="T18" fmla="*/ 28 w 23"/>
                <a:gd name="T19" fmla="*/ 24 h 25"/>
                <a:gd name="T20" fmla="*/ 28 w 23"/>
                <a:gd name="T21" fmla="*/ 21 h 25"/>
                <a:gd name="T22" fmla="*/ 28 w 23"/>
                <a:gd name="T23" fmla="*/ 18 h 25"/>
                <a:gd name="T24" fmla="*/ 28 w 23"/>
                <a:gd name="T25" fmla="*/ 15 h 25"/>
                <a:gd name="T26" fmla="*/ 26 w 23"/>
                <a:gd name="T27" fmla="*/ 12 h 25"/>
                <a:gd name="T28" fmla="*/ 26 w 23"/>
                <a:gd name="T29" fmla="*/ 9 h 25"/>
                <a:gd name="T30" fmla="*/ 23 w 23"/>
                <a:gd name="T31" fmla="*/ 6 h 25"/>
                <a:gd name="T32" fmla="*/ 23 w 23"/>
                <a:gd name="T33" fmla="*/ 6 h 25"/>
                <a:gd name="T34" fmla="*/ 21 w 23"/>
                <a:gd name="T35" fmla="*/ 3 h 25"/>
                <a:gd name="T36" fmla="*/ 18 w 23"/>
                <a:gd name="T37" fmla="*/ 3 h 25"/>
                <a:gd name="T38" fmla="*/ 16 w 23"/>
                <a:gd name="T39" fmla="*/ 3 h 25"/>
                <a:gd name="T40" fmla="*/ 13 w 23"/>
                <a:gd name="T41" fmla="*/ 0 h 25"/>
                <a:gd name="T42" fmla="*/ 11 w 23"/>
                <a:gd name="T43" fmla="*/ 3 h 25"/>
                <a:gd name="T44" fmla="*/ 9 w 23"/>
                <a:gd name="T45" fmla="*/ 3 h 25"/>
                <a:gd name="T46" fmla="*/ 6 w 23"/>
                <a:gd name="T47" fmla="*/ 3 h 25"/>
                <a:gd name="T48" fmla="*/ 4 w 23"/>
                <a:gd name="T49" fmla="*/ 6 h 25"/>
                <a:gd name="T50" fmla="*/ 2 w 23"/>
                <a:gd name="T51" fmla="*/ 6 h 25"/>
                <a:gd name="T52" fmla="*/ 2 w 23"/>
                <a:gd name="T53" fmla="*/ 9 h 25"/>
                <a:gd name="T54" fmla="*/ 0 w 23"/>
                <a:gd name="T55" fmla="*/ 12 h 25"/>
                <a:gd name="T56" fmla="*/ 0 w 23"/>
                <a:gd name="T57" fmla="*/ 15 h 25"/>
                <a:gd name="T58" fmla="*/ 0 w 23"/>
                <a:gd name="T59" fmla="*/ 18 h 25"/>
                <a:gd name="T60" fmla="*/ 0 w 23"/>
                <a:gd name="T61" fmla="*/ 21 h 25"/>
                <a:gd name="T62" fmla="*/ 0 w 23"/>
                <a:gd name="T63" fmla="*/ 24 h 25"/>
                <a:gd name="T64" fmla="*/ 0 w 23"/>
                <a:gd name="T65" fmla="*/ 27 h 25"/>
                <a:gd name="T66" fmla="*/ 0 w 23"/>
                <a:gd name="T67" fmla="*/ 29 h 25"/>
                <a:gd name="T68" fmla="*/ 2 w 23"/>
                <a:gd name="T69" fmla="*/ 32 h 25"/>
                <a:gd name="T70" fmla="*/ 2 w 23"/>
                <a:gd name="T71" fmla="*/ 32 h 25"/>
                <a:gd name="T72" fmla="*/ 4 w 23"/>
                <a:gd name="T73" fmla="*/ 35 h 25"/>
                <a:gd name="T74" fmla="*/ 6 w 23"/>
                <a:gd name="T75" fmla="*/ 35 h 25"/>
                <a:gd name="T76" fmla="*/ 9 w 23"/>
                <a:gd name="T77" fmla="*/ 38 h 25"/>
                <a:gd name="T78" fmla="*/ 11 w 23"/>
                <a:gd name="T79" fmla="*/ 38 h 25"/>
                <a:gd name="T80" fmla="*/ 13 w 23"/>
                <a:gd name="T81" fmla="*/ 38 h 25"/>
                <a:gd name="T82" fmla="*/ 13 w 23"/>
                <a:gd name="T83" fmla="*/ 38 h 25"/>
                <a:gd name="T84" fmla="*/ 11 w 23"/>
                <a:gd name="T85" fmla="*/ 38 h 25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3"/>
                <a:gd name="T130" fmla="*/ 0 h 25"/>
                <a:gd name="T131" fmla="*/ 23 w 23"/>
                <a:gd name="T132" fmla="*/ 25 h 25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3" h="25">
                  <a:moveTo>
                    <a:pt x="9" y="25"/>
                  </a:moveTo>
                  <a:lnTo>
                    <a:pt x="13" y="25"/>
                  </a:lnTo>
                  <a:lnTo>
                    <a:pt x="15" y="25"/>
                  </a:lnTo>
                  <a:lnTo>
                    <a:pt x="17" y="23"/>
                  </a:lnTo>
                  <a:lnTo>
                    <a:pt x="19" y="23"/>
                  </a:lnTo>
                  <a:lnTo>
                    <a:pt x="19" y="21"/>
                  </a:lnTo>
                  <a:lnTo>
                    <a:pt x="21" y="21"/>
                  </a:lnTo>
                  <a:lnTo>
                    <a:pt x="21" y="19"/>
                  </a:lnTo>
                  <a:lnTo>
                    <a:pt x="23" y="18"/>
                  </a:lnTo>
                  <a:lnTo>
                    <a:pt x="23" y="16"/>
                  </a:lnTo>
                  <a:lnTo>
                    <a:pt x="23" y="14"/>
                  </a:lnTo>
                  <a:lnTo>
                    <a:pt x="23" y="12"/>
                  </a:lnTo>
                  <a:lnTo>
                    <a:pt x="23" y="10"/>
                  </a:lnTo>
                  <a:lnTo>
                    <a:pt x="21" y="8"/>
                  </a:lnTo>
                  <a:lnTo>
                    <a:pt x="21" y="6"/>
                  </a:lnTo>
                  <a:lnTo>
                    <a:pt x="19" y="4"/>
                  </a:lnTo>
                  <a:lnTo>
                    <a:pt x="17" y="2"/>
                  </a:lnTo>
                  <a:lnTo>
                    <a:pt x="15" y="2"/>
                  </a:lnTo>
                  <a:lnTo>
                    <a:pt x="13" y="2"/>
                  </a:lnTo>
                  <a:lnTo>
                    <a:pt x="11" y="0"/>
                  </a:lnTo>
                  <a:lnTo>
                    <a:pt x="9" y="2"/>
                  </a:lnTo>
                  <a:lnTo>
                    <a:pt x="7" y="2"/>
                  </a:lnTo>
                  <a:lnTo>
                    <a:pt x="5" y="2"/>
                  </a:lnTo>
                  <a:lnTo>
                    <a:pt x="3" y="4"/>
                  </a:lnTo>
                  <a:lnTo>
                    <a:pt x="2" y="4"/>
                  </a:lnTo>
                  <a:lnTo>
                    <a:pt x="2" y="6"/>
                  </a:lnTo>
                  <a:lnTo>
                    <a:pt x="0" y="8"/>
                  </a:lnTo>
                  <a:lnTo>
                    <a:pt x="0" y="10"/>
                  </a:lnTo>
                  <a:lnTo>
                    <a:pt x="0" y="12"/>
                  </a:lnTo>
                  <a:lnTo>
                    <a:pt x="0" y="14"/>
                  </a:lnTo>
                  <a:lnTo>
                    <a:pt x="0" y="16"/>
                  </a:lnTo>
                  <a:lnTo>
                    <a:pt x="0" y="18"/>
                  </a:lnTo>
                  <a:lnTo>
                    <a:pt x="0" y="19"/>
                  </a:lnTo>
                  <a:lnTo>
                    <a:pt x="2" y="21"/>
                  </a:lnTo>
                  <a:lnTo>
                    <a:pt x="3" y="23"/>
                  </a:lnTo>
                  <a:lnTo>
                    <a:pt x="5" y="23"/>
                  </a:lnTo>
                  <a:lnTo>
                    <a:pt x="7" y="25"/>
                  </a:lnTo>
                  <a:lnTo>
                    <a:pt x="9" y="25"/>
                  </a:lnTo>
                  <a:lnTo>
                    <a:pt x="11" y="25"/>
                  </a:lnTo>
                  <a:lnTo>
                    <a:pt x="9" y="25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76" name="Rectangle 198"/>
            <p:cNvSpPr>
              <a:spLocks noChangeArrowheads="1"/>
            </p:cNvSpPr>
            <p:nvPr/>
          </p:nvSpPr>
          <p:spPr bwMode="auto">
            <a:xfrm>
              <a:off x="1958" y="3728"/>
              <a:ext cx="328" cy="1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>
                  <a:solidFill>
                    <a:srgbClr val="000000"/>
                  </a:solidFill>
                  <a:latin typeface="+mj-lt"/>
                </a:rPr>
                <a:t>ID/EX.Rt</a:t>
              </a:r>
            </a:p>
          </p:txBody>
        </p:sp>
        <p:sp>
          <p:nvSpPr>
            <p:cNvPr id="177" name="Line 199"/>
            <p:cNvSpPr>
              <a:spLocks noChangeShapeType="1"/>
            </p:cNvSpPr>
            <p:nvPr/>
          </p:nvSpPr>
          <p:spPr bwMode="auto">
            <a:xfrm flipV="1">
              <a:off x="1244" y="867"/>
              <a:ext cx="0" cy="59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med" len="lg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  <p:sp>
          <p:nvSpPr>
            <p:cNvPr id="178" name="Line 200"/>
            <p:cNvSpPr>
              <a:spLocks noChangeShapeType="1"/>
            </p:cNvSpPr>
            <p:nvPr/>
          </p:nvSpPr>
          <p:spPr bwMode="auto">
            <a:xfrm>
              <a:off x="1241" y="864"/>
              <a:ext cx="13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</p:spPr>
          <p:txBody>
            <a:bodyPr wrap="none" anchor="ctr"/>
            <a:lstStyle/>
            <a:p>
              <a:endParaRPr lang="en-US">
                <a:latin typeface="+mj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7887021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  <p:extLst mod="1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381000" y="990600"/>
            <a:ext cx="8229600" cy="5257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/>
          <a:lstStyle/>
          <a:p>
            <a:pPr marL="285750" indent="-285750">
              <a:lnSpc>
                <a:spcPct val="90000"/>
              </a:lnSpc>
              <a:spcBef>
                <a:spcPct val="30000"/>
              </a:spcBef>
            </a:pPr>
            <a:r>
              <a:rPr lang="en-US" dirty="0">
                <a:latin typeface="+mj-lt"/>
                <a:cs typeface="Times New Roman" pitchFamily="18" charset="0"/>
              </a:rPr>
              <a:t>Example: code for (assume all variables are in memory):</a:t>
            </a:r>
          </a:p>
          <a:p>
            <a:pPr marL="285750" indent="-285750">
              <a:lnSpc>
                <a:spcPct val="90000"/>
              </a:lnSpc>
              <a:spcBef>
                <a:spcPct val="30000"/>
              </a:spcBef>
            </a:pPr>
            <a:r>
              <a:rPr lang="en-US" b="1" dirty="0">
                <a:latin typeface="Arial" charset="0"/>
                <a:cs typeface="Times New Roman" pitchFamily="18" charset="0"/>
              </a:rPr>
              <a:t>		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a = b + c;</a:t>
            </a:r>
          </a:p>
          <a:p>
            <a:pPr marL="285750" indent="-285750">
              <a:lnSpc>
                <a:spcPct val="90000"/>
              </a:lnSpc>
              <a:spcBef>
                <a:spcPct val="30000"/>
              </a:spcBef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		d = e – f;</a:t>
            </a:r>
          </a:p>
          <a:p>
            <a:pPr marL="285750" indent="-285750">
              <a:lnSpc>
                <a:spcPct val="90000"/>
              </a:lnSpc>
              <a:spcBef>
                <a:spcPct val="30000"/>
              </a:spcBef>
            </a:pPr>
            <a:r>
              <a:rPr lang="en-US" sz="1800" b="1" u="sng" dirty="0">
                <a:latin typeface="+mj-lt"/>
                <a:cs typeface="Times New Roman" pitchFamily="18" charset="0"/>
              </a:rPr>
              <a:t>Slow code</a:t>
            </a:r>
            <a:endParaRPr lang="en-US" sz="1800" b="1" dirty="0">
              <a:latin typeface="+mj-lt"/>
              <a:cs typeface="Times New Roman" pitchFamily="18" charset="0"/>
            </a:endParaRPr>
          </a:p>
          <a:p>
            <a:pPr marL="285750" indent="-285750">
              <a:lnSpc>
                <a:spcPct val="90000"/>
              </a:lnSpc>
              <a:spcBef>
                <a:spcPct val="30000"/>
              </a:spcBef>
            </a:pPr>
            <a:r>
              <a:rPr lang="en-US" sz="1800" b="1" dirty="0">
                <a:latin typeface="Arial" charset="0"/>
                <a:cs typeface="Times New Roman" pitchFamily="18" charset="0"/>
              </a:rPr>
              <a:t>	</a:t>
            </a:r>
            <a:r>
              <a:rPr lang="en-US" sz="1800" dirty="0">
                <a:latin typeface="Arial" charset="0"/>
                <a:cs typeface="Times New Roman" pitchFamily="18" charset="0"/>
              </a:rPr>
              <a:t>	</a:t>
            </a:r>
            <a:r>
              <a:rPr lang="en-US" sz="1800" dirty="0">
                <a:latin typeface="Courier New" pitchFamily="49" charset="0"/>
                <a:cs typeface="Courier New" pitchFamily="49" charset="0"/>
              </a:rPr>
              <a:t>LW 	</a:t>
            </a:r>
            <a:r>
              <a:rPr lang="en-US" sz="1800" dirty="0" err="1">
                <a:latin typeface="Courier New" pitchFamily="49" charset="0"/>
                <a:cs typeface="Courier New" pitchFamily="49" charset="0"/>
              </a:rPr>
              <a:t>Rb,b</a:t>
            </a:r>
            <a:endParaRPr lang="en-US" sz="1800" dirty="0">
              <a:latin typeface="Courier New" pitchFamily="49" charset="0"/>
              <a:cs typeface="Courier New" pitchFamily="49" charset="0"/>
            </a:endParaRPr>
          </a:p>
          <a:p>
            <a:pPr marL="285750" indent="-285750">
              <a:lnSpc>
                <a:spcPct val="90000"/>
              </a:lnSpc>
              <a:spcBef>
                <a:spcPct val="30000"/>
              </a:spcBef>
            </a:pPr>
            <a:r>
              <a:rPr lang="en-US" sz="1800" dirty="0">
                <a:latin typeface="Courier New" pitchFamily="49" charset="0"/>
                <a:cs typeface="Courier New" pitchFamily="49" charset="0"/>
              </a:rPr>
              <a:t>		LW 	</a:t>
            </a:r>
            <a:r>
              <a:rPr lang="en-US" sz="1800" dirty="0" err="1">
                <a:solidFill>
                  <a:schemeClr val="hlink"/>
                </a:solidFill>
                <a:latin typeface="Courier New" pitchFamily="49" charset="0"/>
                <a:cs typeface="Courier New" pitchFamily="49" charset="0"/>
              </a:rPr>
              <a:t>Rc</a:t>
            </a:r>
            <a:r>
              <a:rPr lang="en-US" sz="1800" dirty="0" err="1">
                <a:latin typeface="Courier New" pitchFamily="49" charset="0"/>
                <a:cs typeface="Courier New" pitchFamily="49" charset="0"/>
              </a:rPr>
              <a:t>,c</a:t>
            </a:r>
            <a:endParaRPr lang="en-US" sz="1800" dirty="0">
              <a:latin typeface="Courier New" pitchFamily="49" charset="0"/>
              <a:cs typeface="Courier New" pitchFamily="49" charset="0"/>
            </a:endParaRPr>
          </a:p>
          <a:p>
            <a:pPr marL="285750" indent="-285750">
              <a:lnSpc>
                <a:spcPct val="90000"/>
              </a:lnSpc>
              <a:spcBef>
                <a:spcPct val="30000"/>
              </a:spcBef>
            </a:pPr>
            <a:r>
              <a:rPr lang="en-US" sz="1800" dirty="0">
                <a:solidFill>
                  <a:schemeClr val="hlink"/>
                </a:solidFill>
                <a:latin typeface="+mj-lt"/>
                <a:cs typeface="Arial" charset="0"/>
              </a:rPr>
              <a:t>Stall</a:t>
            </a:r>
            <a:r>
              <a:rPr lang="en-US" sz="1800" dirty="0">
                <a:latin typeface="Courier New" pitchFamily="49" charset="0"/>
                <a:cs typeface="Courier New" pitchFamily="49" charset="0"/>
              </a:rPr>
              <a:t> 	ADD 	</a:t>
            </a:r>
            <a:r>
              <a:rPr lang="en-US" sz="1800" dirty="0" err="1">
                <a:latin typeface="Courier New" pitchFamily="49" charset="0"/>
                <a:cs typeface="Courier New" pitchFamily="49" charset="0"/>
              </a:rPr>
              <a:t>Ra,Rb,</a:t>
            </a:r>
            <a:r>
              <a:rPr lang="en-US" sz="1800" dirty="0" err="1">
                <a:solidFill>
                  <a:schemeClr val="hlink"/>
                </a:solidFill>
                <a:latin typeface="Courier New" pitchFamily="49" charset="0"/>
                <a:cs typeface="Courier New" pitchFamily="49" charset="0"/>
              </a:rPr>
              <a:t>Rc</a:t>
            </a:r>
            <a:endParaRPr lang="en-US" sz="1800" dirty="0">
              <a:latin typeface="Courier New" pitchFamily="49" charset="0"/>
              <a:cs typeface="Courier New" pitchFamily="49" charset="0"/>
            </a:endParaRPr>
          </a:p>
          <a:p>
            <a:pPr marL="285750" indent="-285750">
              <a:lnSpc>
                <a:spcPct val="90000"/>
              </a:lnSpc>
              <a:spcBef>
                <a:spcPct val="30000"/>
              </a:spcBef>
            </a:pPr>
            <a:r>
              <a:rPr lang="en-US" sz="1800" dirty="0">
                <a:latin typeface="Courier New" pitchFamily="49" charset="0"/>
                <a:cs typeface="Courier New" pitchFamily="49" charset="0"/>
              </a:rPr>
              <a:t>		SW  	</a:t>
            </a:r>
            <a:r>
              <a:rPr lang="en-US" sz="1800" dirty="0" err="1">
                <a:latin typeface="Courier New" pitchFamily="49" charset="0"/>
                <a:cs typeface="Courier New" pitchFamily="49" charset="0"/>
              </a:rPr>
              <a:t>a,Ra</a:t>
            </a:r>
            <a:r>
              <a:rPr lang="en-US" sz="1800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pPr marL="285750" indent="-285750">
              <a:lnSpc>
                <a:spcPct val="90000"/>
              </a:lnSpc>
              <a:spcBef>
                <a:spcPct val="30000"/>
              </a:spcBef>
            </a:pPr>
            <a:r>
              <a:rPr lang="en-US" sz="1800" dirty="0">
                <a:latin typeface="Courier New" pitchFamily="49" charset="0"/>
                <a:cs typeface="Courier New" pitchFamily="49" charset="0"/>
              </a:rPr>
              <a:t>		LW 	</a:t>
            </a:r>
            <a:r>
              <a:rPr lang="en-US" sz="1800" dirty="0" err="1">
                <a:latin typeface="Courier New" pitchFamily="49" charset="0"/>
                <a:cs typeface="Courier New" pitchFamily="49" charset="0"/>
              </a:rPr>
              <a:t>Re,e</a:t>
            </a:r>
            <a:r>
              <a:rPr lang="en-US" sz="1800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pPr marL="285750" indent="-285750">
              <a:lnSpc>
                <a:spcPct val="90000"/>
              </a:lnSpc>
              <a:spcBef>
                <a:spcPct val="30000"/>
              </a:spcBef>
            </a:pPr>
            <a:r>
              <a:rPr lang="en-US" sz="1800" dirty="0">
                <a:latin typeface="Courier New" pitchFamily="49" charset="0"/>
                <a:cs typeface="Courier New" pitchFamily="49" charset="0"/>
              </a:rPr>
              <a:t>		LW 	</a:t>
            </a:r>
            <a:r>
              <a:rPr lang="en-US" sz="1800" dirty="0" err="1">
                <a:solidFill>
                  <a:schemeClr val="hlink"/>
                </a:solidFill>
                <a:latin typeface="Courier New" pitchFamily="49" charset="0"/>
                <a:cs typeface="Courier New" pitchFamily="49" charset="0"/>
              </a:rPr>
              <a:t>Rf</a:t>
            </a:r>
            <a:r>
              <a:rPr lang="en-US" sz="1800" dirty="0" err="1">
                <a:latin typeface="Courier New" pitchFamily="49" charset="0"/>
                <a:cs typeface="Courier New" pitchFamily="49" charset="0"/>
              </a:rPr>
              <a:t>,f</a:t>
            </a:r>
            <a:endParaRPr lang="en-US" sz="1800" dirty="0">
              <a:latin typeface="Courier New" pitchFamily="49" charset="0"/>
              <a:cs typeface="Courier New" pitchFamily="49" charset="0"/>
            </a:endParaRPr>
          </a:p>
          <a:p>
            <a:pPr marL="285750" indent="-285750">
              <a:lnSpc>
                <a:spcPct val="90000"/>
              </a:lnSpc>
              <a:spcBef>
                <a:spcPct val="30000"/>
              </a:spcBef>
            </a:pPr>
            <a:r>
              <a:rPr lang="en-US" sz="1800" dirty="0">
                <a:solidFill>
                  <a:schemeClr val="hlink"/>
                </a:solidFill>
                <a:latin typeface="+mj-lt"/>
                <a:cs typeface="Arial" charset="0"/>
              </a:rPr>
              <a:t>Stall</a:t>
            </a:r>
            <a:r>
              <a:rPr lang="en-US" sz="1800" dirty="0">
                <a:latin typeface="Courier New" pitchFamily="49" charset="0"/>
                <a:cs typeface="Courier New" pitchFamily="49" charset="0"/>
              </a:rPr>
              <a:t> 	SUB 	</a:t>
            </a:r>
            <a:r>
              <a:rPr lang="en-US" sz="1800" dirty="0" err="1">
                <a:latin typeface="Courier New" pitchFamily="49" charset="0"/>
                <a:cs typeface="Courier New" pitchFamily="49" charset="0"/>
              </a:rPr>
              <a:t>Rd,Re,</a:t>
            </a:r>
            <a:r>
              <a:rPr lang="en-US" sz="1800" dirty="0" err="1">
                <a:solidFill>
                  <a:schemeClr val="hlink"/>
                </a:solidFill>
                <a:latin typeface="Courier New" pitchFamily="49" charset="0"/>
                <a:cs typeface="Courier New" pitchFamily="49" charset="0"/>
              </a:rPr>
              <a:t>Rf</a:t>
            </a:r>
            <a:endParaRPr lang="en-US" sz="1800" dirty="0">
              <a:latin typeface="Courier New" pitchFamily="49" charset="0"/>
              <a:cs typeface="Courier New" pitchFamily="49" charset="0"/>
            </a:endParaRPr>
          </a:p>
          <a:p>
            <a:pPr marL="285750" indent="-285750">
              <a:lnSpc>
                <a:spcPct val="90000"/>
              </a:lnSpc>
              <a:spcBef>
                <a:spcPct val="30000"/>
              </a:spcBef>
            </a:pPr>
            <a:r>
              <a:rPr lang="en-US" sz="1800" dirty="0">
                <a:latin typeface="Courier New" pitchFamily="49" charset="0"/>
                <a:cs typeface="Courier New" pitchFamily="49" charset="0"/>
              </a:rPr>
              <a:t>		SW	</a:t>
            </a:r>
            <a:r>
              <a:rPr lang="en-US" sz="1800" dirty="0" err="1">
                <a:latin typeface="Courier New" pitchFamily="49" charset="0"/>
                <a:cs typeface="Courier New" pitchFamily="49" charset="0"/>
              </a:rPr>
              <a:t>d,Rd</a:t>
            </a:r>
            <a:endParaRPr lang="en-US" sz="1800" dirty="0">
              <a:latin typeface="Courier New" pitchFamily="49" charset="0"/>
              <a:cs typeface="Courier New" pitchFamily="49" charset="0"/>
            </a:endParaRPr>
          </a:p>
          <a:p>
            <a:pPr marL="285750" indent="-285750">
              <a:lnSpc>
                <a:spcPct val="90000"/>
              </a:lnSpc>
              <a:spcBef>
                <a:spcPct val="30000"/>
              </a:spcBef>
            </a:pPr>
            <a:endParaRPr lang="en-US" dirty="0">
              <a:solidFill>
                <a:srgbClr val="008000"/>
              </a:solidFill>
              <a:latin typeface="Arial" charset="0"/>
              <a:cs typeface="Arial" charset="0"/>
            </a:endParaRPr>
          </a:p>
          <a:p>
            <a:pPr marL="285750" indent="-285750" algn="ctr">
              <a:lnSpc>
                <a:spcPct val="90000"/>
              </a:lnSpc>
              <a:spcBef>
                <a:spcPct val="30000"/>
              </a:spcBef>
            </a:pPr>
            <a:r>
              <a:rPr lang="en-US" b="1" dirty="0">
                <a:solidFill>
                  <a:srgbClr val="008000"/>
                </a:solidFill>
                <a:latin typeface="+mj-lt"/>
                <a:cs typeface="Arial" charset="0"/>
              </a:rPr>
              <a:t>Instruction order can be changed as long as the correctness is kept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title"/>
          </p:nvPr>
        </p:nvSpPr>
        <p:spPr>
          <a:xfrm>
            <a:off x="152400" y="152400"/>
            <a:ext cx="8839200" cy="762000"/>
          </a:xfrm>
          <a:noFill/>
        </p:spPr>
        <p:txBody>
          <a:bodyPr/>
          <a:lstStyle/>
          <a:p>
            <a:r>
              <a:rPr lang="en-US" sz="3200" dirty="0" smtClean="0">
                <a:solidFill>
                  <a:srgbClr val="0070C0"/>
                </a:solidFill>
              </a:rPr>
              <a:t>Software Scheduling to Avoid Load Hazards</a:t>
            </a:r>
          </a:p>
        </p:txBody>
      </p:sp>
      <p:sp>
        <p:nvSpPr>
          <p:cNvPr id="6" name="Line 5"/>
          <p:cNvSpPr>
            <a:spLocks noChangeShapeType="1"/>
          </p:cNvSpPr>
          <p:nvPr/>
        </p:nvSpPr>
        <p:spPr bwMode="auto">
          <a:xfrm flipV="1">
            <a:off x="2989326" y="3200400"/>
            <a:ext cx="1792224" cy="638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7" name="Line 6"/>
          <p:cNvSpPr>
            <a:spLocks noChangeShapeType="1"/>
          </p:cNvSpPr>
          <p:nvPr/>
        </p:nvSpPr>
        <p:spPr bwMode="auto">
          <a:xfrm>
            <a:off x="3200400" y="3566922"/>
            <a:ext cx="1581150" cy="543306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8" name="Прямоугольник 7"/>
          <p:cNvSpPr/>
          <p:nvPr/>
        </p:nvSpPr>
        <p:spPr>
          <a:xfrm>
            <a:off x="3979028" y="2356501"/>
            <a:ext cx="4572000" cy="2554545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Wingdings" pitchFamily="2" charset="2"/>
              <a:buNone/>
            </a:pPr>
            <a:r>
              <a:rPr lang="en-US" sz="2000" kern="0" dirty="0">
                <a:latin typeface="Courier New" pitchFamily="49" charset="0"/>
                <a:cs typeface="Courier New" pitchFamily="49" charset="0"/>
              </a:rPr>
              <a:t>LW 	</a:t>
            </a:r>
            <a:r>
              <a:rPr lang="en-US" sz="2000" kern="0" dirty="0" err="1">
                <a:latin typeface="Courier New" pitchFamily="49" charset="0"/>
                <a:cs typeface="Courier New" pitchFamily="49" charset="0"/>
              </a:rPr>
              <a:t>Rb,b</a:t>
            </a:r>
            <a:endParaRPr lang="en-US" sz="2000" kern="0" dirty="0">
              <a:latin typeface="Courier New" pitchFamily="49" charset="0"/>
              <a:cs typeface="Courier New" pitchFamily="49" charset="0"/>
            </a:endParaRPr>
          </a:p>
          <a:p>
            <a:pPr marL="285750" indent="-285750">
              <a:buFont typeface="Wingdings" pitchFamily="2" charset="2"/>
              <a:buNone/>
            </a:pPr>
            <a:r>
              <a:rPr lang="en-US" sz="2000" kern="0" dirty="0">
                <a:latin typeface="Courier New" pitchFamily="49" charset="0"/>
                <a:cs typeface="Courier New" pitchFamily="49" charset="0"/>
              </a:rPr>
              <a:t>		LW 	</a:t>
            </a:r>
            <a:r>
              <a:rPr lang="en-US" sz="2000" kern="0" dirty="0" err="1">
                <a:latin typeface="Courier New" pitchFamily="49" charset="0"/>
                <a:cs typeface="Courier New" pitchFamily="49" charset="0"/>
              </a:rPr>
              <a:t>Rc,c</a:t>
            </a:r>
            <a:endParaRPr lang="en-US" sz="2000" kern="0" dirty="0">
              <a:latin typeface="Courier New" pitchFamily="49" charset="0"/>
              <a:cs typeface="Courier New" pitchFamily="49" charset="0"/>
            </a:endParaRPr>
          </a:p>
          <a:p>
            <a:pPr marL="285750" indent="-285750">
              <a:buFont typeface="Wingdings" pitchFamily="2" charset="2"/>
              <a:buNone/>
            </a:pPr>
            <a:r>
              <a:rPr lang="en-US" sz="2000" kern="0" dirty="0">
                <a:solidFill>
                  <a:schemeClr val="hlink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2000" kern="0" dirty="0">
                <a:solidFill>
                  <a:srgbClr val="008000"/>
                </a:solidFill>
                <a:latin typeface="Courier New" pitchFamily="49" charset="0"/>
                <a:cs typeface="Courier New" pitchFamily="49" charset="0"/>
              </a:rPr>
              <a:t>LW 	</a:t>
            </a:r>
            <a:r>
              <a:rPr lang="en-US" sz="2000" kern="0" dirty="0" err="1">
                <a:solidFill>
                  <a:srgbClr val="008000"/>
                </a:solidFill>
                <a:latin typeface="Courier New" pitchFamily="49" charset="0"/>
                <a:cs typeface="Courier New" pitchFamily="49" charset="0"/>
              </a:rPr>
              <a:t>Re,e</a:t>
            </a:r>
            <a:r>
              <a:rPr lang="en-US" sz="2000" kern="0" dirty="0">
                <a:solidFill>
                  <a:srgbClr val="008000"/>
                </a:solidFill>
                <a:latin typeface="Courier New" pitchFamily="49" charset="0"/>
                <a:cs typeface="Courier New" pitchFamily="49" charset="0"/>
              </a:rPr>
              <a:t> </a:t>
            </a:r>
          </a:p>
          <a:p>
            <a:pPr marL="285750" indent="-285750">
              <a:buFont typeface="Wingdings" pitchFamily="2" charset="2"/>
              <a:buNone/>
            </a:pPr>
            <a:r>
              <a:rPr lang="en-US" sz="2000" kern="0" dirty="0">
                <a:latin typeface="Courier New" pitchFamily="49" charset="0"/>
                <a:cs typeface="Courier New" pitchFamily="49" charset="0"/>
              </a:rPr>
              <a:t>		ADD 	</a:t>
            </a:r>
            <a:r>
              <a:rPr lang="en-US" sz="2000" kern="0" dirty="0" err="1">
                <a:latin typeface="Courier New" pitchFamily="49" charset="0"/>
                <a:cs typeface="Courier New" pitchFamily="49" charset="0"/>
              </a:rPr>
              <a:t>Ra,Rb,Rc</a:t>
            </a:r>
            <a:endParaRPr lang="en-US" sz="2000" kern="0" dirty="0">
              <a:latin typeface="Courier New" pitchFamily="49" charset="0"/>
              <a:cs typeface="Courier New" pitchFamily="49" charset="0"/>
            </a:endParaRPr>
          </a:p>
          <a:p>
            <a:pPr marL="285750" indent="-285750">
              <a:buFont typeface="Wingdings" pitchFamily="2" charset="2"/>
              <a:buNone/>
            </a:pPr>
            <a:r>
              <a:rPr lang="en-US" sz="2000" kern="0" dirty="0">
                <a:latin typeface="Courier New" pitchFamily="49" charset="0"/>
                <a:cs typeface="Courier New" pitchFamily="49" charset="0"/>
              </a:rPr>
              <a:t>		LW 	</a:t>
            </a:r>
            <a:r>
              <a:rPr lang="en-US" sz="2000" kern="0" dirty="0" err="1">
                <a:latin typeface="Courier New" pitchFamily="49" charset="0"/>
                <a:cs typeface="Courier New" pitchFamily="49" charset="0"/>
              </a:rPr>
              <a:t>Rf,f</a:t>
            </a:r>
            <a:endParaRPr lang="en-US" sz="2000" kern="0" dirty="0">
              <a:latin typeface="Courier New" pitchFamily="49" charset="0"/>
              <a:cs typeface="Courier New" pitchFamily="49" charset="0"/>
            </a:endParaRPr>
          </a:p>
          <a:p>
            <a:pPr marL="285750" indent="-285750">
              <a:buFont typeface="Wingdings" pitchFamily="2" charset="2"/>
              <a:buNone/>
            </a:pPr>
            <a:r>
              <a:rPr lang="en-US" sz="2000" kern="0" dirty="0">
                <a:solidFill>
                  <a:schemeClr val="hlink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2000" kern="0" dirty="0">
                <a:solidFill>
                  <a:srgbClr val="008000"/>
                </a:solidFill>
                <a:latin typeface="Courier New" pitchFamily="49" charset="0"/>
                <a:cs typeface="Courier New" pitchFamily="49" charset="0"/>
              </a:rPr>
              <a:t>SW  	</a:t>
            </a:r>
            <a:r>
              <a:rPr lang="en-US" sz="2000" kern="0" dirty="0" err="1">
                <a:solidFill>
                  <a:srgbClr val="008000"/>
                </a:solidFill>
                <a:latin typeface="Courier New" pitchFamily="49" charset="0"/>
                <a:cs typeface="Courier New" pitchFamily="49" charset="0"/>
              </a:rPr>
              <a:t>a,Ra</a:t>
            </a:r>
            <a:r>
              <a:rPr lang="en-US" sz="2000" kern="0" dirty="0">
                <a:solidFill>
                  <a:srgbClr val="008000"/>
                </a:solidFill>
                <a:latin typeface="Courier New" pitchFamily="49" charset="0"/>
                <a:cs typeface="Courier New" pitchFamily="49" charset="0"/>
              </a:rPr>
              <a:t> </a:t>
            </a:r>
          </a:p>
          <a:p>
            <a:pPr marL="285750" indent="-285750">
              <a:buFont typeface="Wingdings" pitchFamily="2" charset="2"/>
              <a:buNone/>
            </a:pPr>
            <a:r>
              <a:rPr lang="en-US" sz="2000" kern="0" dirty="0">
                <a:latin typeface="Courier New" pitchFamily="49" charset="0"/>
                <a:cs typeface="Courier New" pitchFamily="49" charset="0"/>
              </a:rPr>
              <a:t>		SUB 	</a:t>
            </a:r>
            <a:r>
              <a:rPr lang="en-US" sz="2000" kern="0" dirty="0" err="1">
                <a:latin typeface="Courier New" pitchFamily="49" charset="0"/>
                <a:cs typeface="Courier New" pitchFamily="49" charset="0"/>
              </a:rPr>
              <a:t>Rd,Re,Rf</a:t>
            </a:r>
            <a:endParaRPr lang="en-US" sz="2000" kern="0" dirty="0">
              <a:latin typeface="Courier New" pitchFamily="49" charset="0"/>
              <a:cs typeface="Courier New" pitchFamily="49" charset="0"/>
            </a:endParaRPr>
          </a:p>
          <a:p>
            <a:pPr marL="285750" indent="-285750">
              <a:buFont typeface="Wingdings" pitchFamily="2" charset="2"/>
              <a:buNone/>
            </a:pPr>
            <a:r>
              <a:rPr lang="en-US" sz="2000" kern="0" dirty="0">
                <a:latin typeface="Courier New" pitchFamily="49" charset="0"/>
                <a:cs typeface="Courier New" pitchFamily="49" charset="0"/>
              </a:rPr>
              <a:t>		SW	</a:t>
            </a:r>
            <a:r>
              <a:rPr lang="en-US" sz="2000" kern="0" dirty="0" err="1">
                <a:latin typeface="Courier New" pitchFamily="49" charset="0"/>
                <a:cs typeface="Courier New" pitchFamily="49" charset="0"/>
              </a:rPr>
              <a:t>d,Rd</a:t>
            </a:r>
            <a:endParaRPr lang="en-US" sz="2000" kern="0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002079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  <p:extLst mod="1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Pipeline modeling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923880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140676" y="3623485"/>
            <a:ext cx="8870462" cy="2677656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MIPS::run(</a:t>
            </a:r>
            <a:r>
              <a:rPr lang="en-US" sz="1400" dirty="0" err="1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string&amp; </a:t>
            </a:r>
            <a:r>
              <a:rPr lang="en-US" sz="1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tr</a:t>
            </a:r>
            <a:r>
              <a:rPr lang="en-U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... </a:t>
            </a:r>
            <a:r>
              <a:rPr lang="en-US" sz="14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</a:t>
            </a:r>
            <a:r>
              <a:rPr lang="en-US" sz="14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oad trace</a:t>
            </a:r>
          </a:p>
          <a:p>
            <a:r>
              <a:rPr lang="en-US" sz="14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this-&gt;PC = </a:t>
            </a:r>
            <a:r>
              <a:rPr lang="en-US" sz="1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startPC</a:t>
            </a:r>
            <a:r>
              <a:rPr lang="en-U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(</a:t>
            </a:r>
            <a:r>
              <a:rPr lang="en-US" sz="1400" dirty="0" err="1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uint</a:t>
            </a:r>
            <a:r>
              <a:rPr lang="en-U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= 0</a:t>
            </a:r>
            <a:r>
              <a:rPr lang="en-US" sz="1400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sz="1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&lt; </a:t>
            </a:r>
            <a:r>
              <a:rPr lang="en-US" sz="1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instr_to_run</a:t>
            </a:r>
            <a:r>
              <a:rPr lang="en-U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 ++</a:t>
            </a:r>
            <a:r>
              <a:rPr lang="en-US" sz="1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r>
              <a:rPr lang="en-US" sz="14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400" dirty="0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uint32</a:t>
            </a:r>
            <a:r>
              <a:rPr lang="en-U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bytes = fetch(); </a:t>
            </a:r>
            <a:r>
              <a:rPr lang="en-US" sz="14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fetch() { return mem-&gt;read(PC); }</a:t>
            </a:r>
          </a:p>
          <a:p>
            <a:r>
              <a:rPr lang="en-US" sz="14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FuncInstr</a:t>
            </a:r>
            <a:r>
              <a:rPr lang="en-U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instr</a:t>
            </a:r>
            <a:r>
              <a:rPr lang="en-U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(bytes);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read_src</a:t>
            </a:r>
            <a:r>
              <a:rPr lang="en-U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instr</a:t>
            </a:r>
            <a:r>
              <a:rPr lang="en-U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  <a:r>
              <a:rPr lang="en-US" sz="14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en-US" sz="1400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read_src</a:t>
            </a:r>
            <a:r>
              <a:rPr lang="en-US" sz="14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{ </a:t>
            </a:r>
            <a:r>
              <a:rPr lang="en-US" sz="1400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instr</a:t>
            </a:r>
            <a:r>
              <a:rPr lang="en-US" sz="14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-&gt;v_src1 = </a:t>
            </a:r>
            <a:r>
              <a:rPr lang="en-US" sz="1400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rf</a:t>
            </a:r>
            <a:r>
              <a:rPr lang="en-US" sz="14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-&gt;read(</a:t>
            </a:r>
            <a:r>
              <a:rPr lang="en-US" sz="1400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instr</a:t>
            </a:r>
            <a:r>
              <a:rPr lang="en-US" sz="14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-&gt;</a:t>
            </a:r>
            <a:r>
              <a:rPr lang="en-US" sz="1400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rs</a:t>
            </a:r>
            <a:r>
              <a:rPr lang="en-US" sz="14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 …}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instr</a:t>
            </a:r>
            <a:r>
              <a:rPr lang="en-U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-&gt;execute(); </a:t>
            </a:r>
            <a:r>
              <a:rPr lang="en-US" sz="14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en-US" sz="1400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execute_add</a:t>
            </a:r>
            <a:r>
              <a:rPr lang="en-US" sz="14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{ </a:t>
            </a:r>
            <a:r>
              <a:rPr lang="en-US" sz="1400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v_dst</a:t>
            </a:r>
            <a:r>
              <a:rPr lang="en-US" sz="14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v_src1 + v_src2; }</a:t>
            </a:r>
          </a:p>
          <a:p>
            <a:r>
              <a:rPr lang="en-US" sz="14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ld_st</a:t>
            </a:r>
            <a:r>
              <a:rPr lang="en-U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instr</a:t>
            </a:r>
            <a:r>
              <a:rPr lang="en-U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wb</a:t>
            </a:r>
            <a:r>
              <a:rPr lang="en-U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instr</a:t>
            </a:r>
            <a:r>
              <a:rPr lang="en-U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  <a:r>
              <a:rPr lang="en-US" sz="14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en-US" sz="1400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wb</a:t>
            </a:r>
            <a:r>
              <a:rPr lang="en-US" sz="14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{ </a:t>
            </a:r>
            <a:r>
              <a:rPr lang="en-US" sz="1400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rf</a:t>
            </a:r>
            <a:r>
              <a:rPr lang="en-US" sz="14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-&gt;write(</a:t>
            </a:r>
            <a:r>
              <a:rPr lang="en-US" sz="1400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instr</a:t>
            </a:r>
            <a:r>
              <a:rPr lang="en-US" sz="14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-&gt;</a:t>
            </a:r>
            <a:r>
              <a:rPr lang="en-US" sz="1400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rd</a:t>
            </a:r>
            <a:r>
              <a:rPr lang="en-US" sz="14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400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instr</a:t>
            </a:r>
            <a:r>
              <a:rPr lang="en-US" sz="14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-&gt;</a:t>
            </a:r>
            <a:r>
              <a:rPr lang="en-US" sz="1400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v_dst</a:t>
            </a:r>
            <a:r>
              <a:rPr lang="en-US" sz="14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 }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  PC = </a:t>
            </a:r>
            <a:r>
              <a:rPr lang="en-US" sz="1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update_pc</a:t>
            </a:r>
            <a:r>
              <a:rPr lang="en-U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instr</a:t>
            </a:r>
            <a:r>
              <a:rPr lang="en-U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Single-Cycle Implementation modeling</a:t>
            </a:r>
            <a:endParaRPr lang="ru-RU" dirty="0"/>
          </a:p>
        </p:txBody>
      </p:sp>
      <p:grpSp>
        <p:nvGrpSpPr>
          <p:cNvPr id="4" name="Group 182"/>
          <p:cNvGrpSpPr/>
          <p:nvPr/>
        </p:nvGrpSpPr>
        <p:grpSpPr>
          <a:xfrm rot="5400000">
            <a:off x="-27258" y="4918882"/>
            <a:ext cx="1476777" cy="627376"/>
            <a:chOff x="6132760" y="5539299"/>
            <a:chExt cx="1476777" cy="627376"/>
          </a:xfrm>
        </p:grpSpPr>
        <p:sp>
          <p:nvSpPr>
            <p:cNvPr id="5" name="Rectangle 165"/>
            <p:cNvSpPr/>
            <p:nvPr/>
          </p:nvSpPr>
          <p:spPr bwMode="auto">
            <a:xfrm>
              <a:off x="6132760" y="5539299"/>
              <a:ext cx="205347" cy="627363"/>
            </a:xfrm>
            <a:prstGeom prst="rect">
              <a:avLst/>
            </a:prstGeom>
            <a:solidFill>
              <a:srgbClr val="FFCC99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vert270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1600" b="1" dirty="0" smtClean="0">
                  <a:latin typeface="Neo Sans Intel" pitchFamily="34" charset="0"/>
                  <a:cs typeface="Arial" pitchFamily="34" charset="0"/>
                </a:rPr>
                <a:t>F</a:t>
              </a:r>
              <a:endParaRPr lang="ru-RU" sz="1600" b="1" dirty="0" smtClean="0">
                <a:latin typeface="Neo Sans Intel" pitchFamily="34" charset="0"/>
                <a:cs typeface="Arial" pitchFamily="34" charset="0"/>
              </a:endParaRPr>
            </a:p>
          </p:txBody>
        </p:sp>
        <p:sp>
          <p:nvSpPr>
            <p:cNvPr id="6" name="Rectangle 166"/>
            <p:cNvSpPr/>
            <p:nvPr/>
          </p:nvSpPr>
          <p:spPr bwMode="auto">
            <a:xfrm>
              <a:off x="6338109" y="5539303"/>
              <a:ext cx="450685" cy="62736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vert270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1600" b="1" dirty="0">
                  <a:latin typeface="Neo Sans Intel" pitchFamily="34" charset="0"/>
                  <a:cs typeface="Arial" pitchFamily="34" charset="0"/>
                </a:rPr>
                <a:t>D</a:t>
              </a:r>
              <a:endParaRPr lang="ru-RU" sz="1600" b="1" dirty="0" smtClean="0">
                <a:latin typeface="Neo Sans Intel" pitchFamily="34" charset="0"/>
                <a:cs typeface="Arial" pitchFamily="34" charset="0"/>
              </a:endParaRPr>
            </a:p>
          </p:txBody>
        </p:sp>
        <p:sp>
          <p:nvSpPr>
            <p:cNvPr id="7" name="Rectangle 167"/>
            <p:cNvSpPr/>
            <p:nvPr/>
          </p:nvSpPr>
          <p:spPr bwMode="auto">
            <a:xfrm>
              <a:off x="6788794" y="5539306"/>
              <a:ext cx="187694" cy="627363"/>
            </a:xfrm>
            <a:prstGeom prst="rect">
              <a:avLst/>
            </a:prstGeom>
            <a:solidFill>
              <a:srgbClr val="92D050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vert270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1600" b="1" dirty="0">
                  <a:latin typeface="Neo Sans Intel" pitchFamily="34" charset="0"/>
                  <a:cs typeface="Arial" pitchFamily="34" charset="0"/>
                </a:rPr>
                <a:t>E</a:t>
              </a:r>
              <a:endParaRPr lang="ru-RU" sz="1600" b="1" dirty="0" smtClean="0">
                <a:latin typeface="Neo Sans Intel" pitchFamily="34" charset="0"/>
                <a:cs typeface="Arial" pitchFamily="34" charset="0"/>
              </a:endParaRPr>
            </a:p>
          </p:txBody>
        </p:sp>
        <p:sp>
          <p:nvSpPr>
            <p:cNvPr id="8" name="Rectangle 168"/>
            <p:cNvSpPr/>
            <p:nvPr/>
          </p:nvSpPr>
          <p:spPr bwMode="auto">
            <a:xfrm>
              <a:off x="6976489" y="5539307"/>
              <a:ext cx="259716" cy="627363"/>
            </a:xfrm>
            <a:prstGeom prst="rect">
              <a:avLst/>
            </a:prstGeom>
            <a:solidFill>
              <a:schemeClr val="accent4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vert270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1600" b="1" dirty="0" smtClean="0">
                  <a:latin typeface="Neo Sans Intel" pitchFamily="34" charset="0"/>
                  <a:cs typeface="Arial" pitchFamily="34" charset="0"/>
                </a:rPr>
                <a:t>M</a:t>
              </a:r>
              <a:endParaRPr lang="ru-RU" sz="1600" b="1" dirty="0" smtClean="0">
                <a:latin typeface="Neo Sans Intel" pitchFamily="34" charset="0"/>
                <a:cs typeface="Arial" pitchFamily="34" charset="0"/>
              </a:endParaRPr>
            </a:p>
          </p:txBody>
        </p:sp>
        <p:sp>
          <p:nvSpPr>
            <p:cNvPr id="9" name="Rectangle 169"/>
            <p:cNvSpPr/>
            <p:nvPr/>
          </p:nvSpPr>
          <p:spPr bwMode="auto">
            <a:xfrm>
              <a:off x="7241902" y="5539312"/>
              <a:ext cx="367635" cy="627363"/>
            </a:xfrm>
            <a:prstGeom prst="rect">
              <a:avLst/>
            </a:prstGeom>
            <a:solidFill>
              <a:schemeClr val="bg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vert270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hangingPunct="0"/>
              <a:r>
                <a:rPr lang="en-US" sz="1600" b="1" dirty="0">
                  <a:latin typeface="Neo Sans Intel" pitchFamily="34" charset="0"/>
                  <a:cs typeface="Arial" pitchFamily="34" charset="0"/>
                </a:rPr>
                <a:t>W</a:t>
              </a:r>
              <a:endParaRPr lang="ru-RU" sz="1600" b="1" dirty="0" smtClean="0">
                <a:latin typeface="Neo Sans Intel" pitchFamily="34" charset="0"/>
                <a:cs typeface="Arial" pitchFamily="34" charset="0"/>
              </a:endParaRPr>
            </a:p>
          </p:txBody>
        </p:sp>
      </p:grpSp>
      <p:sp>
        <p:nvSpPr>
          <p:cNvPr id="16" name="TextBox 15"/>
          <p:cNvSpPr txBox="1"/>
          <p:nvPr/>
        </p:nvSpPr>
        <p:spPr>
          <a:xfrm>
            <a:off x="203199" y="850136"/>
            <a:ext cx="6869724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MIPS {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storages of internal state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RF* </a:t>
            </a:r>
            <a:r>
              <a:rPr lang="en-US" sz="1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rf</a:t>
            </a:r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uint32</a:t>
            </a:r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PC;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Memory* mem;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ld_st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FuncInstr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&amp;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sz="16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wb</a:t>
            </a:r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FuncInstr</a:t>
            </a:r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&amp; </a:t>
            </a:r>
            <a:r>
              <a:rPr lang="en-US" sz="1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1600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MIPS();</a:t>
            </a:r>
          </a:p>
          <a:p>
            <a:r>
              <a:rPr lang="en-US" sz="1600" dirty="0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void</a:t>
            </a:r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run(</a:t>
            </a:r>
            <a:r>
              <a:rPr lang="en-US" sz="1600" dirty="0" err="1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string&amp;, </a:t>
            </a:r>
            <a:r>
              <a:rPr lang="en-US" sz="1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uint</a:t>
            </a:r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instr_to_run</a:t>
            </a:r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  <a:endParaRPr lang="ru-RU" sz="1600" dirty="0" err="1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5659070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build="p" animBg="1"/>
      <p:bldP spid="16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Performance modeling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5613" y="1125415"/>
            <a:ext cx="8493002" cy="4791199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In single-cycled MIPS every instruction is executed in 1 cycle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To get pipelined MIPS performance, we have to model timing of each pipeline stage of instruction due to stalls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In HW, pipeline stages are divided by latches that are updated every cycle.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Modeling of latch is possible, but its interface is complicated</a:t>
            </a: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The more convenient solution is called </a:t>
            </a:r>
            <a:r>
              <a:rPr lang="en-US" i="1" dirty="0" smtClean="0"/>
              <a:t>ports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2451869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Ports</a:t>
            </a:r>
            <a:endParaRPr lang="ru-RU" dirty="0"/>
          </a:p>
        </p:txBody>
      </p:sp>
      <p:sp>
        <p:nvSpPr>
          <p:cNvPr id="8" name="Объект 7"/>
          <p:cNvSpPr>
            <a:spLocks noGrp="1"/>
          </p:cNvSpPr>
          <p:nvPr>
            <p:ph idx="1"/>
          </p:nvPr>
        </p:nvSpPr>
        <p:spPr>
          <a:xfrm>
            <a:off x="455613" y="859693"/>
            <a:ext cx="8228012" cy="851876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From interface port of view, one port consists of two parts, implemented in classes </a:t>
            </a:r>
            <a:r>
              <a:rPr lang="en-US" dirty="0" err="1" smtClean="0"/>
              <a:t>ReadPort</a:t>
            </a:r>
            <a:r>
              <a:rPr lang="en-US" dirty="0" smtClean="0"/>
              <a:t> and </a:t>
            </a:r>
            <a:r>
              <a:rPr lang="en-US" dirty="0" err="1" smtClean="0"/>
              <a:t>WritePort</a:t>
            </a:r>
            <a:r>
              <a:rPr lang="en-US" dirty="0" smtClean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 smtClean="0"/>
          </a:p>
        </p:txBody>
      </p:sp>
      <p:sp>
        <p:nvSpPr>
          <p:cNvPr id="9" name="TextBox 8"/>
          <p:cNvSpPr txBox="1"/>
          <p:nvPr/>
        </p:nvSpPr>
        <p:spPr>
          <a:xfrm>
            <a:off x="0" y="1748188"/>
            <a:ext cx="468923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Module1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WritePort</a:t>
            </a:r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1200" dirty="0" err="1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uint</a:t>
            </a:r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&gt;*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</a:t>
            </a:r>
            <a:r>
              <a:rPr lang="en-US" sz="12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Module1()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2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wp</a:t>
            </a:r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200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WritePort</a:t>
            </a:r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12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uint</a:t>
            </a:r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&gt;(“DATA_PORT”);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2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wp</a:t>
            </a:r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-&gt;</a:t>
            </a:r>
            <a:r>
              <a:rPr lang="en-US" sz="12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set_bandwidth</a:t>
            </a:r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(1);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}</a:t>
            </a:r>
          </a:p>
          <a:p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32922" y="1748188"/>
            <a:ext cx="461107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Module2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ReadPort</a:t>
            </a:r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1200" dirty="0" err="1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uint</a:t>
            </a:r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&gt;*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r>
              <a:rPr lang="en-US" sz="12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Module2()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2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rp</a:t>
            </a:r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200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ReadPort</a:t>
            </a:r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12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uint</a:t>
            </a:r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&gt;(“DATA_PORT”);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2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rp</a:t>
            </a:r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-&gt;</a:t>
            </a:r>
            <a:r>
              <a:rPr lang="en-US" sz="12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set_latency</a:t>
            </a:r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(5);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}</a:t>
            </a:r>
          </a:p>
          <a:p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8825" y="3017524"/>
            <a:ext cx="38920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+mn-lt"/>
              </a:rPr>
              <a:t>Ports are connected by equal string key</a:t>
            </a:r>
            <a:endParaRPr lang="ru-RU" dirty="0" err="1" smtClean="0">
              <a:latin typeface="+mn-lt"/>
            </a:endParaRPr>
          </a:p>
        </p:txBody>
      </p:sp>
      <p:sp>
        <p:nvSpPr>
          <p:cNvPr id="24" name="Скругленный прямоугольник 23"/>
          <p:cNvSpPr/>
          <p:nvPr/>
        </p:nvSpPr>
        <p:spPr bwMode="auto">
          <a:xfrm>
            <a:off x="2655276" y="2282925"/>
            <a:ext cx="1355969" cy="274372"/>
          </a:xfrm>
          <a:prstGeom prst="roundRect">
            <a:avLst/>
          </a:prstGeom>
          <a:noFill/>
          <a:ln>
            <a:headEnd type="none" w="sm" len="sm"/>
            <a:tailEnd type="none" w="sm" len="sm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ru-RU" sz="2000" b="1">
              <a:solidFill>
                <a:schemeClr val="dk1"/>
              </a:solidFill>
              <a:latin typeface="Neo Sans Intel" pitchFamily="34" charset="0"/>
              <a:cs typeface="Arial" pitchFamily="34" charset="0"/>
            </a:endParaRPr>
          </a:p>
        </p:txBody>
      </p:sp>
      <p:sp>
        <p:nvSpPr>
          <p:cNvPr id="25" name="Скругленный прямоугольник 24"/>
          <p:cNvSpPr/>
          <p:nvPr/>
        </p:nvSpPr>
        <p:spPr bwMode="auto">
          <a:xfrm>
            <a:off x="7074876" y="2298139"/>
            <a:ext cx="1355969" cy="274372"/>
          </a:xfrm>
          <a:prstGeom prst="roundRect">
            <a:avLst/>
          </a:prstGeom>
          <a:noFill/>
          <a:ln>
            <a:headEnd type="none" w="sm" len="sm"/>
            <a:tailEnd type="none" w="sm" len="sm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ru-RU" sz="2000" b="1">
              <a:solidFill>
                <a:schemeClr val="dk1"/>
              </a:solidFill>
              <a:latin typeface="Neo Sans Intel" pitchFamily="34" charset="0"/>
              <a:cs typeface="Arial" pitchFamily="3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-27254" y="3225366"/>
            <a:ext cx="46892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Module1::</a:t>
            </a:r>
            <a:r>
              <a:rPr lang="en-US" sz="12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do_action</a:t>
            </a:r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dirty="0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uint64</a:t>
            </a:r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cycle)  {</a:t>
            </a:r>
          </a:p>
          <a:p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// … 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2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wp</a:t>
            </a:r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-&gt;write(data, cycle);</a:t>
            </a:r>
          </a:p>
          <a:p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545063" y="3313351"/>
            <a:ext cx="403273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this method must be run every cycle</a:t>
            </a:r>
            <a:r>
              <a:rPr lang="en-US" sz="12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!</a:t>
            </a:r>
            <a:endParaRPr lang="en-US" sz="1200" dirty="0" smtClean="0">
              <a:solidFill>
                <a:srgbClr val="06192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/>
            <a:r>
              <a:rPr lang="en-US" sz="1200" dirty="0" smtClean="0">
                <a:solidFill>
                  <a:srgbClr val="06192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Module2::clock(</a:t>
            </a:r>
            <a:r>
              <a:rPr lang="en-US" sz="1200" dirty="0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uint64</a:t>
            </a:r>
            <a:r>
              <a:rPr lang="en-US" sz="1200" dirty="0" smtClean="0">
                <a:solidFill>
                  <a:srgbClr val="06192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cycle)</a:t>
            </a:r>
            <a:endParaRPr lang="en-US" sz="1200" dirty="0">
              <a:solidFill>
                <a:srgbClr val="06192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/>
            <a:r>
              <a:rPr lang="en-US" sz="1200" dirty="0">
                <a:solidFill>
                  <a:srgbClr val="06192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200" dirty="0" err="1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uint</a:t>
            </a:r>
            <a:r>
              <a:rPr lang="en-US" sz="1200" dirty="0" smtClean="0">
                <a:solidFill>
                  <a:srgbClr val="06192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data;</a:t>
            </a:r>
            <a:endParaRPr lang="en-US" sz="1200" dirty="0">
              <a:solidFill>
                <a:srgbClr val="06192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/>
            <a:r>
              <a:rPr lang="en-US" sz="1200" dirty="0">
                <a:solidFill>
                  <a:srgbClr val="06192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en-US" sz="1200" dirty="0">
                <a:solidFill>
                  <a:srgbClr val="06192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sz="1200" dirty="0" err="1">
                <a:solidFill>
                  <a:srgbClr val="06192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rp</a:t>
            </a:r>
            <a:r>
              <a:rPr lang="en-US" sz="1200" dirty="0">
                <a:solidFill>
                  <a:srgbClr val="06192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sz="1200" dirty="0" smtClean="0">
                <a:solidFill>
                  <a:srgbClr val="06192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US" sz="1200" dirty="0" err="1" smtClean="0">
                <a:solidFill>
                  <a:srgbClr val="06192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is_ready</a:t>
            </a:r>
            <a:r>
              <a:rPr lang="en-US" sz="1200" dirty="0" smtClean="0">
                <a:solidFill>
                  <a:srgbClr val="06192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(cycle</a:t>
            </a:r>
            <a:r>
              <a:rPr lang="en-US" sz="1200" dirty="0">
                <a:solidFill>
                  <a:srgbClr val="06192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 {</a:t>
            </a:r>
          </a:p>
          <a:p>
            <a:pPr lvl="0"/>
            <a:r>
              <a:rPr lang="en-US" sz="1200" dirty="0">
                <a:solidFill>
                  <a:srgbClr val="06192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// </a:t>
            </a:r>
            <a:r>
              <a:rPr lang="en-US" sz="1200" dirty="0" smtClean="0">
                <a:solidFill>
                  <a:srgbClr val="06192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pPr lvl="0"/>
            <a:r>
              <a:rPr lang="en-US" sz="1200" dirty="0">
                <a:solidFill>
                  <a:srgbClr val="06192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smtClean="0">
                <a:solidFill>
                  <a:srgbClr val="06192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}</a:t>
            </a:r>
            <a:endParaRPr lang="en-US" sz="1200" dirty="0">
              <a:solidFill>
                <a:srgbClr val="06192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/>
            <a:r>
              <a:rPr lang="en-US" sz="1200" dirty="0" smtClean="0">
                <a:solidFill>
                  <a:srgbClr val="06192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200" dirty="0">
              <a:solidFill>
                <a:srgbClr val="06192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29" name="Прямая соединительная линия 28"/>
          <p:cNvCxnSpPr/>
          <p:nvPr/>
        </p:nvCxnSpPr>
        <p:spPr bwMode="auto">
          <a:xfrm>
            <a:off x="4238045" y="1820849"/>
            <a:ext cx="0" cy="4500438"/>
          </a:xfrm>
          <a:prstGeom prst="line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32" name="TextBox 31"/>
          <p:cNvSpPr txBox="1"/>
          <p:nvPr/>
        </p:nvSpPr>
        <p:spPr>
          <a:xfrm>
            <a:off x="0" y="4563710"/>
            <a:ext cx="46892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+mn-lt"/>
                <a:cs typeface="Courier New" panose="02070309020205020404" pitchFamily="49" charset="0"/>
              </a:rPr>
              <a:t>Imagine that here we following functions:</a:t>
            </a:r>
          </a:p>
          <a:p>
            <a:r>
              <a:rPr lang="en-US" sz="12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wp</a:t>
            </a:r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-&gt;write(8, 0);</a:t>
            </a:r>
          </a:p>
          <a:p>
            <a:r>
              <a:rPr lang="en-US" sz="12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wp</a:t>
            </a:r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-&gt;write(9, 2);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38045" y="4566521"/>
            <a:ext cx="490595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latin typeface="+mn-lt"/>
                <a:cs typeface="Courier New" panose="02070309020205020404" pitchFamily="49" charset="0"/>
              </a:rPr>
              <a:t>Let’s look how it will be executed here:</a:t>
            </a:r>
          </a:p>
          <a:p>
            <a:r>
              <a:rPr lang="en-US" sz="12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rp</a:t>
            </a:r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-&gt;</a:t>
            </a:r>
            <a:r>
              <a:rPr lang="en-US" sz="12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is_ready</a:t>
            </a:r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(0); // data is trash, returns false</a:t>
            </a:r>
          </a:p>
          <a:p>
            <a:r>
              <a:rPr lang="en-US" sz="12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rp</a:t>
            </a:r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US" sz="12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is_ready</a:t>
            </a:r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(1);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// data is trash, returns false</a:t>
            </a:r>
          </a:p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rp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-&gt;</a:t>
            </a:r>
            <a:r>
              <a:rPr lang="en-US" sz="12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is_ready</a:t>
            </a:r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(2);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// data is trash, returns false</a:t>
            </a:r>
          </a:p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rp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-&gt;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is_ready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(3</a:t>
            </a:r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// data is trash, returns false</a:t>
            </a:r>
          </a:p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rp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-&gt;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is_ready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(4</a:t>
            </a:r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// data is trash, returns false</a:t>
            </a:r>
          </a:p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rp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-&gt;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is_ready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(5</a:t>
            </a:r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// data is 8</a:t>
            </a:r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returns </a:t>
            </a:r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true!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rp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-&gt;</a:t>
            </a:r>
            <a:r>
              <a:rPr lang="en-US" sz="12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is_ready</a:t>
            </a:r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(6);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// data is trash, returns </a:t>
            </a:r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</a:p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rp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-&gt;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is_ready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(7</a:t>
            </a:r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// data is 9</a:t>
            </a:r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returns </a:t>
            </a:r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true!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2896418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  <p:bldP spid="9" grpId="0"/>
      <p:bldP spid="10" grpId="0"/>
      <p:bldP spid="20" grpId="0"/>
      <p:bldP spid="20" grpId="1"/>
      <p:bldP spid="24" grpId="0" animBg="1"/>
      <p:bldP spid="24" grpId="1" animBg="1"/>
      <p:bldP spid="25" grpId="0" animBg="1"/>
      <p:bldP spid="25" grpId="1" animBg="1"/>
      <p:bldP spid="26" grpId="0"/>
      <p:bldP spid="27" grpId="0"/>
      <p:bldP spid="32" grpId="0"/>
      <p:bldP spid="34" grpId="0" build="p"/>
    </p:bldLst>
  </p:timing>
  <p:extLst mod="1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Example: decoder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5613" y="696059"/>
            <a:ext cx="8228012" cy="5049106"/>
          </a:xfrm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sz="1400" kern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Decoder::clock(</a:t>
            </a:r>
            <a:r>
              <a:rPr lang="en-US" sz="1400" kern="1200" dirty="0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uint64</a:t>
            </a:r>
            <a:r>
              <a:rPr lang="en-US" sz="1400" kern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kern="12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cyc</a:t>
            </a:r>
            <a:r>
              <a:rPr lang="en-US" sz="1400" kern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  <a:endParaRPr lang="en-US" sz="1400" kern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ct val="0"/>
              </a:spcBef>
            </a:pPr>
            <a:r>
              <a:rPr lang="en-US" sz="1400" kern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400" kern="1200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1400" kern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kern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kern="12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rp_fetch_to_decoder</a:t>
            </a:r>
            <a:r>
              <a:rPr lang="en-US" sz="1400" kern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-&gt;</a:t>
            </a:r>
            <a:r>
              <a:rPr lang="en-US" sz="1400" kern="12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is_ready</a:t>
            </a:r>
            <a:r>
              <a:rPr lang="en-US" sz="1400" kern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kern="12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cyc</a:t>
            </a:r>
            <a:r>
              <a:rPr lang="en-US" sz="1400" kern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)) {</a:t>
            </a:r>
          </a:p>
          <a:p>
            <a:pPr>
              <a:spcBef>
                <a:spcPct val="0"/>
              </a:spcBef>
            </a:pPr>
            <a:r>
              <a:rPr lang="en-US" sz="1400" kern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sz="1400" kern="1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</a:t>
            </a:r>
            <a:r>
              <a:rPr lang="en-US" sz="1400" kern="1200" dirty="0">
                <a:latin typeface="Courier New" panose="02070309020205020404" pitchFamily="49" charset="0"/>
                <a:cs typeface="Courier New" panose="02070309020205020404" pitchFamily="49" charset="0"/>
              </a:rPr>
              <a:t>-&gt;</a:t>
            </a:r>
            <a:r>
              <a:rPr lang="en-US" sz="1400" kern="12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dec_bytes</a:t>
            </a:r>
            <a:r>
              <a:rPr lang="en-US" sz="1400" kern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400" kern="12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rp_fetch_to_decoder</a:t>
            </a:r>
            <a:r>
              <a:rPr lang="en-US" sz="1400" kern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-&gt;read(</a:t>
            </a:r>
            <a:r>
              <a:rPr lang="en-US" sz="1400" kern="12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cyc</a:t>
            </a:r>
            <a:r>
              <a:rPr lang="en-US" sz="1400" kern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>
              <a:spcBef>
                <a:spcPct val="0"/>
              </a:spcBef>
            </a:pPr>
            <a:r>
              <a:rPr lang="en-US" sz="1400" kern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kern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kern="1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</a:t>
            </a:r>
            <a:r>
              <a:rPr lang="en-US" sz="1400" kern="1200" dirty="0">
                <a:latin typeface="Courier New" panose="02070309020205020404" pitchFamily="49" charset="0"/>
                <a:cs typeface="Courier New" panose="02070309020205020404" pitchFamily="49" charset="0"/>
              </a:rPr>
              <a:t>-&gt;</a:t>
            </a:r>
            <a:r>
              <a:rPr lang="en-US" sz="1400" kern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instr</a:t>
            </a:r>
            <a:r>
              <a:rPr lang="en-US" sz="1400" kern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kern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1400" kern="12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FuncInstr</a:t>
            </a:r>
            <a:r>
              <a:rPr lang="en-US" sz="1400" kern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kern="12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dec_bytes</a:t>
            </a:r>
            <a:r>
              <a:rPr lang="en-US" sz="1400" kern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>
              <a:spcBef>
                <a:spcPct val="0"/>
              </a:spcBef>
            </a:pPr>
            <a:r>
              <a:rPr lang="en-US" sz="1400" kern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>
              <a:spcBef>
                <a:spcPct val="0"/>
              </a:spcBef>
            </a:pPr>
            <a:r>
              <a:rPr lang="en-US" sz="1400" kern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kern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kern="12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read_src</a:t>
            </a:r>
            <a:r>
              <a:rPr lang="en-US" sz="1400" kern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kern="1200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</a:t>
            </a:r>
            <a:r>
              <a:rPr lang="en-US" sz="1400" kern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-&gt;</a:t>
            </a:r>
            <a:r>
              <a:rPr lang="en-US" sz="1400" kern="12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instr</a:t>
            </a:r>
            <a:r>
              <a:rPr lang="en-US" sz="1400" kern="12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>
              <a:spcBef>
                <a:spcPct val="0"/>
              </a:spcBef>
            </a:pPr>
            <a:r>
              <a:rPr lang="en-US" sz="1400" kern="12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400" kern="1200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1400" kern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sz="1400" kern="1200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</a:t>
            </a:r>
            <a:r>
              <a:rPr lang="en-US" sz="1400" kern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-&gt;</a:t>
            </a:r>
            <a:r>
              <a:rPr lang="en-US" sz="1400" kern="12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instr.srcs_ready</a:t>
            </a:r>
            <a:r>
              <a:rPr lang="en-US" sz="1400" kern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){</a:t>
            </a:r>
            <a:endParaRPr lang="en-US" sz="1400" kern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ct val="0"/>
              </a:spcBef>
            </a:pPr>
            <a:r>
              <a:rPr lang="en-US" sz="1400" kern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kern="12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wp_decoder_to_execute</a:t>
            </a:r>
            <a:r>
              <a:rPr lang="en-US" sz="1400" kern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sz="1400" kern="1200" dirty="0">
                <a:latin typeface="Courier New" panose="02070309020205020404" pitchFamily="49" charset="0"/>
                <a:cs typeface="Courier New" panose="02070309020205020404" pitchFamily="49" charset="0"/>
              </a:rPr>
              <a:t>&gt;write(</a:t>
            </a:r>
            <a:r>
              <a:rPr lang="en-US" sz="1400" kern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instr</a:t>
            </a:r>
            <a:r>
              <a:rPr lang="en-US" sz="1400" kern="12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400" kern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cyc</a:t>
            </a:r>
            <a:r>
              <a:rPr lang="en-US" sz="1400" kern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>
              <a:spcBef>
                <a:spcPct val="0"/>
              </a:spcBef>
            </a:pPr>
            <a:r>
              <a:rPr lang="en-US" sz="1400" kern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kern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400" kern="12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wp_decoder_to_fetch</a:t>
            </a:r>
            <a:r>
              <a:rPr lang="en-US" sz="1400" kern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-&gt;write(</a:t>
            </a:r>
            <a:r>
              <a:rPr lang="en-US" sz="1400" kern="1200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  <a:r>
              <a:rPr lang="en-US" sz="1400" kern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400" kern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cyc</a:t>
            </a:r>
            <a:r>
              <a:rPr lang="en-US" sz="1400" kern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>
              <a:spcBef>
                <a:spcPct val="0"/>
              </a:spcBef>
            </a:pPr>
            <a:r>
              <a:rPr lang="en-US" sz="1400" kern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>
              <a:spcBef>
                <a:spcPct val="0"/>
              </a:spcBef>
            </a:pPr>
            <a:r>
              <a:rPr lang="en-US" sz="1400" kern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kern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kern="1200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 </a:t>
            </a:r>
            <a:r>
              <a:rPr lang="en-US" sz="1400" kern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>
              <a:spcBef>
                <a:spcPct val="0"/>
              </a:spcBef>
            </a:pPr>
            <a:r>
              <a:rPr lang="en-US" sz="1400" kern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kern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400" kern="12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wp_decoder_to_fetch</a:t>
            </a:r>
            <a:r>
              <a:rPr lang="en-US" sz="1400" kern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-&gt;write(</a:t>
            </a:r>
            <a:r>
              <a:rPr lang="en-US" sz="1400" kern="1200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en-US" sz="1400" kern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400" kern="12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cyc</a:t>
            </a:r>
            <a:r>
              <a:rPr lang="en-US" sz="1400" kern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>
              <a:spcBef>
                <a:spcPct val="0"/>
              </a:spcBef>
            </a:pPr>
            <a:r>
              <a:rPr lang="en-US" sz="1400" kern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kern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}</a:t>
            </a:r>
          </a:p>
          <a:p>
            <a:pPr>
              <a:spcBef>
                <a:spcPct val="0"/>
              </a:spcBef>
            </a:pPr>
            <a:r>
              <a:rPr lang="en-US" sz="1400" kern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>
              <a:spcBef>
                <a:spcPct val="0"/>
              </a:spcBef>
            </a:pPr>
            <a:endParaRPr lang="en-US" sz="1400" kern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ct val="0"/>
              </a:spcBef>
            </a:pPr>
            <a:r>
              <a:rPr lang="en-US" sz="1400" kern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Executor::clock(</a:t>
            </a:r>
            <a:r>
              <a:rPr lang="en-US" sz="1400" kern="1200" dirty="0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uint64</a:t>
            </a:r>
            <a:r>
              <a:rPr lang="en-US" sz="1400" kern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kern="12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cyc</a:t>
            </a:r>
            <a:r>
              <a:rPr lang="en-US" sz="1400" kern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>
              <a:spcBef>
                <a:spcPct val="0"/>
              </a:spcBef>
            </a:pPr>
            <a:r>
              <a:rPr lang="en-US" sz="1400" kern="1200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while</a:t>
            </a:r>
            <a:r>
              <a:rPr lang="en-US" sz="1400" kern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sz="1400" kern="12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rp_decoder_to_execute</a:t>
            </a:r>
            <a:r>
              <a:rPr lang="en-US" sz="1400" kern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-&gt;read(</a:t>
            </a:r>
            <a:r>
              <a:rPr lang="en-US" sz="1400" kern="12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cyc</a:t>
            </a:r>
            <a:r>
              <a:rPr lang="en-US" sz="1400" kern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)) {</a:t>
            </a:r>
          </a:p>
          <a:p>
            <a:pPr>
              <a:spcBef>
                <a:spcPct val="0"/>
              </a:spcBef>
            </a:pPr>
            <a:r>
              <a:rPr lang="en-US" sz="1400" kern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kern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kern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FuncInstr</a:t>
            </a:r>
            <a:r>
              <a:rPr lang="en-US" sz="1400" kern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kern="12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instr</a:t>
            </a:r>
            <a:r>
              <a:rPr lang="en-US" sz="1400" kern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kern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1400" kern="12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rp_decoder_to_execute</a:t>
            </a:r>
            <a:r>
              <a:rPr lang="en-US" sz="1400" kern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-&gt;read(</a:t>
            </a:r>
            <a:r>
              <a:rPr lang="en-US" sz="1400" kern="12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cyc</a:t>
            </a:r>
            <a:r>
              <a:rPr lang="en-US" sz="1400" kern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>
              <a:spcBef>
                <a:spcPct val="0"/>
              </a:spcBef>
            </a:pPr>
            <a:r>
              <a:rPr lang="en-US" sz="1400" kern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kern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kern="12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instr</a:t>
            </a:r>
            <a:r>
              <a:rPr lang="en-US" sz="1400" kern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-&gt;execute();</a:t>
            </a:r>
          </a:p>
          <a:p>
            <a:pPr>
              <a:spcBef>
                <a:spcPct val="0"/>
              </a:spcBef>
            </a:pPr>
            <a:r>
              <a:rPr lang="en-US" sz="1400" kern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kern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kern="12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… to </a:t>
            </a:r>
            <a:r>
              <a:rPr lang="en-US" sz="1400" kern="1200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ldst</a:t>
            </a:r>
            <a:r>
              <a:rPr lang="en-US" sz="1400" kern="12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and </a:t>
            </a:r>
            <a:r>
              <a:rPr lang="en-US" sz="1400" kern="1200" dirty="0" err="1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writeback</a:t>
            </a:r>
            <a:endParaRPr lang="en-US" sz="1400" kern="1200" dirty="0" smtClean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ct val="0"/>
              </a:spcBef>
            </a:pPr>
            <a:r>
              <a:rPr lang="en-US" sz="1400" kern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kern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}</a:t>
            </a:r>
          </a:p>
          <a:p>
            <a:pPr>
              <a:spcBef>
                <a:spcPct val="0"/>
              </a:spcBef>
            </a:pPr>
            <a:r>
              <a:rPr lang="en-US" sz="1400" kern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>
              <a:spcBef>
                <a:spcPct val="0"/>
              </a:spcBef>
            </a:pPr>
            <a:endParaRPr lang="en-US" sz="1400" kern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ct val="0"/>
              </a:spcBef>
            </a:pPr>
            <a:r>
              <a:rPr lang="en-US" sz="1400" kern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MIPS::clock(</a:t>
            </a:r>
            <a:r>
              <a:rPr lang="en-US" sz="1400" kern="1200" dirty="0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uint64</a:t>
            </a:r>
            <a:r>
              <a:rPr lang="en-US" sz="1400" kern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kern="12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cyc</a:t>
            </a:r>
            <a:r>
              <a:rPr lang="en-US" sz="1400" kern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>
              <a:spcBef>
                <a:spcPct val="0"/>
              </a:spcBef>
            </a:pPr>
            <a:r>
              <a:rPr lang="en-US" sz="1400" kern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kern="1200" dirty="0" smtClean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</a:t>
            </a:r>
            <a:r>
              <a:rPr lang="en-US" sz="1400" kern="1200" dirty="0" smtClean="0">
                <a:solidFill>
                  <a:srgbClr val="06192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-&gt;</a:t>
            </a:r>
            <a:r>
              <a:rPr lang="en-US" sz="1400" kern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decoder-&gt;clock(</a:t>
            </a:r>
            <a:r>
              <a:rPr lang="en-US" sz="1400" kern="12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cyc</a:t>
            </a:r>
            <a:r>
              <a:rPr lang="en-US" sz="1400" kern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>
              <a:spcBef>
                <a:spcPct val="0"/>
              </a:spcBef>
            </a:pPr>
            <a:r>
              <a:rPr lang="en-US" sz="1400" kern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kern="1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</a:t>
            </a:r>
            <a:r>
              <a:rPr lang="en-US" sz="1400" kern="1200" dirty="0">
                <a:solidFill>
                  <a:srgbClr val="06192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sz="1400" kern="1200" dirty="0" smtClean="0">
                <a:solidFill>
                  <a:srgbClr val="06192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US" sz="1400" kern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executor-&gt;clock(</a:t>
            </a:r>
            <a:r>
              <a:rPr lang="en-US" sz="1400" kern="12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cyc</a:t>
            </a:r>
            <a:r>
              <a:rPr lang="en-US" sz="1400" kern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>
              <a:spcBef>
                <a:spcPct val="0"/>
              </a:spcBef>
            </a:pPr>
            <a:r>
              <a:rPr lang="en-US" sz="1400" kern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ru-RU" sz="1400" kern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6748358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3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3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3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  <p:extLst mod="1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Extra reading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 smtClean="0"/>
              <a:t>Asim: A Performance Model </a:t>
            </a:r>
            <a:r>
              <a:rPr lang="de-DE" dirty="0"/>
              <a:t>Framework </a:t>
            </a:r>
            <a:r>
              <a:rPr lang="de-DE" sz="1400" dirty="0">
                <a:hlinkClick r:id="rId2"/>
              </a:rPr>
              <a:t>http://</a:t>
            </a:r>
            <a:r>
              <a:rPr lang="de-DE" sz="1400" dirty="0" smtClean="0">
                <a:hlinkClick r:id="rId2"/>
              </a:rPr>
              <a:t>www.ckluk.org/ck/papers/asim_ieeecomputer.pdf</a:t>
            </a:r>
            <a:endParaRPr lang="de-DE" sz="14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 smtClean="0"/>
              <a:t>Manual on MIPT-MIPS Ports</a:t>
            </a:r>
            <a:r>
              <a:rPr lang="de-DE" dirty="0"/>
              <a:t/>
            </a:r>
            <a:br>
              <a:rPr lang="de-DE" dirty="0"/>
            </a:br>
            <a:r>
              <a:rPr lang="de-DE" sz="1400" dirty="0">
                <a:hlinkClick r:id="rId3"/>
              </a:rPr>
              <a:t>https://</a:t>
            </a:r>
            <a:r>
              <a:rPr lang="de-DE" sz="1400" dirty="0" smtClean="0">
                <a:hlinkClick r:id="rId3"/>
              </a:rPr>
              <a:t>github.com/MIPT-ILab/mipt-mips/wiki/Communication-between-modules-through-ports</a:t>
            </a:r>
            <a:endParaRPr lang="de-DE" sz="1400" dirty="0" smtClean="0"/>
          </a:p>
        </p:txBody>
      </p:sp>
    </p:spTree>
    <p:extLst>
      <p:ext uri="{BB962C8B-B14F-4D97-AF65-F5344CB8AC3E}">
        <p14:creationId xmlns:p14="http://schemas.microsoft.com/office/powerpoint/2010/main" val="325406849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|39.7|92.3|66.3|20|57.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6|30.7|6.2|42.7|70.2|21.3|48|135.3|13.3|62.9|65.6|3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9.4|57.3|72.6|5.5|37.1|49.9|5|15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2|40.2|52.4|20.7|22.5|53.2|121.6|79.9|94.6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7|1|0.8|8.4|0.8|0.5|0.5|0.4|1|15.6|8.9|8.5|0.8|116.7|0.6|0.5|0.5|0.5|0.4|6|19|2.8|12.1|0.4|0.4|0.2|0.2|0.2|0.2|0.2|0.1|0.3|0.2|0.1|0.1|0.3|0.2|0.5|36.8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3.1|2.3|3.2|12.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43.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4|40.3|4.5|27.6|2.8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2|20.5|214.6|38.4|2.8|41.9|357.5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6|39.4|64.4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|0.2|0.2|1.1|0.4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5|2|77.5|9.7|11.4|19.9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|2.3|1.8|41.6|1.9|7.1|1.8|25.1|30.6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7|29.2|17.8|76|6.7|5.6|1.7|1.9|1.7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8.2|6.4|7.1|6.5|1.2|0.6|0.4|0.3|0.7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|33.7|1.7|1.7|2.4|2.9|5|4.8|7.2|7.5|6.3|7.8|8|15.1|1.3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.5|5.5|40.6|31.6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1|35.5|0.9|39.3|13.3|1.1|8.3|203.2|15.1|1.4|0.1|2.2|8.2|4.8|4.3|415.9|0.9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9|2.5|43.2|23.4|0.9|12.5|3.6|13.8|9.3|1|22.6|41.3|0.8|4.5|2.4|9.1|1.6|2.6|1|3.2|6.6|1.7|9.3"/>
</p:tagLst>
</file>

<file path=ppt/theme/theme1.xml><?xml version="1.0" encoding="utf-8"?>
<a:theme xmlns:a="http://schemas.openxmlformats.org/drawingml/2006/main" name="mdsp_2011">
  <a:themeElements>
    <a:clrScheme name="intel2011">
      <a:dk1>
        <a:srgbClr val="061922"/>
      </a:dk1>
      <a:lt1>
        <a:srgbClr val="FFFFFF"/>
      </a:lt1>
      <a:dk2>
        <a:srgbClr val="939598"/>
      </a:dk2>
      <a:lt2>
        <a:srgbClr val="B4BABD"/>
      </a:lt2>
      <a:accent1>
        <a:srgbClr val="0071C5"/>
      </a:accent1>
      <a:accent2>
        <a:srgbClr val="00AEEF"/>
      </a:accent2>
      <a:accent3>
        <a:srgbClr val="004280"/>
      </a:accent3>
      <a:accent4>
        <a:srgbClr val="FFDA00"/>
      </a:accent4>
      <a:accent5>
        <a:srgbClr val="A6CE39"/>
      </a:accent5>
      <a:accent6>
        <a:srgbClr val="FDB813"/>
      </a:accent6>
      <a:hlink>
        <a:srgbClr val="0071C5"/>
      </a:hlink>
      <a:folHlink>
        <a:srgbClr val="00AEE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gradFill flip="none" rotWithShape="1">
          <a:gsLst>
            <a:gs pos="5000">
              <a:schemeClr val="accent2"/>
            </a:gs>
            <a:gs pos="95000">
              <a:schemeClr val="accent1"/>
            </a:gs>
          </a:gsLst>
          <a:lin ang="16200000" scaled="0"/>
          <a:tileRect/>
        </a:gradFill>
        <a:ln w="3175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rtlCol="0" anchor="ctr" anchorCtr="0" compatLnSpc="1">
        <a:prstTxWarp prst="textNoShape">
          <a:avLst/>
        </a:prstTxWarp>
      </a:bodyPr>
      <a:lstStyle>
        <a:defPPr eaLnBrk="0" hangingPunct="0">
          <a:defRPr sz="2000" b="1" smtClean="0">
            <a:latin typeface="Neo Sans Intel" pitchFamily="34" charset="0"/>
            <a:cs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Neo Sans Intel" pitchFamily="34" charset="0"/>
            <a:cs typeface="Arial" pitchFamily="34" charset="0"/>
          </a:defRPr>
        </a:defPPr>
      </a:lstStyle>
    </a:lnDef>
    <a:txDef>
      <a:spPr>
        <a:noFill/>
      </a:spPr>
      <a:bodyPr wrap="none" rtlCol="0">
        <a:spAutoFit/>
      </a:bodyPr>
      <a:lstStyle>
        <a:defPPr>
          <a:defRPr dirty="0" err="1" smtClean="0">
            <a:latin typeface="+mn-lt"/>
          </a:defRPr>
        </a:defPPr>
      </a:lstStyle>
    </a:txDef>
  </a:objectDefaults>
  <a:extraClrSchemeLst>
    <a:extraClrScheme>
      <a:clrScheme name="2_intel_template_1_111605_BLUE 1">
        <a:dk1>
          <a:srgbClr val="FF5C00"/>
        </a:dk1>
        <a:lt1>
          <a:srgbClr val="FFFFFF"/>
        </a:lt1>
        <a:dk2>
          <a:srgbClr val="0C2E86"/>
        </a:dk2>
        <a:lt2>
          <a:srgbClr val="F5E647"/>
        </a:lt2>
        <a:accent1>
          <a:srgbClr val="A6CAE1"/>
        </a:accent1>
        <a:accent2>
          <a:srgbClr val="567EB9"/>
        </a:accent2>
        <a:accent3>
          <a:srgbClr val="AAADC3"/>
        </a:accent3>
        <a:accent4>
          <a:srgbClr val="DADADA"/>
        </a:accent4>
        <a:accent5>
          <a:srgbClr val="D0E1EE"/>
        </a:accent5>
        <a:accent6>
          <a:srgbClr val="4D72A7"/>
        </a:accent6>
        <a:hlink>
          <a:srgbClr val="0860A8"/>
        </a:hlink>
        <a:folHlink>
          <a:srgbClr val="AA014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intel_template_1_111605_BLUE 2">
        <a:dk1>
          <a:srgbClr val="0860A8"/>
        </a:dk1>
        <a:lt1>
          <a:srgbClr val="FFFFFF"/>
        </a:lt1>
        <a:dk2>
          <a:srgbClr val="F5E647"/>
        </a:dk2>
        <a:lt2>
          <a:srgbClr val="FF5C47"/>
        </a:lt2>
        <a:accent1>
          <a:srgbClr val="A6CAE1"/>
        </a:accent1>
        <a:accent2>
          <a:srgbClr val="567EB9"/>
        </a:accent2>
        <a:accent3>
          <a:srgbClr val="FFFFFF"/>
        </a:accent3>
        <a:accent4>
          <a:srgbClr val="06518F"/>
        </a:accent4>
        <a:accent5>
          <a:srgbClr val="D0E1EE"/>
        </a:accent5>
        <a:accent6>
          <a:srgbClr val="4D72A7"/>
        </a:accent6>
        <a:hlink>
          <a:srgbClr val="0C2E86"/>
        </a:hlink>
        <a:folHlink>
          <a:srgbClr val="AA014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intel_template_1_111605_BLUE 3">
        <a:dk1>
          <a:srgbClr val="000000"/>
        </a:dk1>
        <a:lt1>
          <a:srgbClr val="FFFFFF"/>
        </a:lt1>
        <a:dk2>
          <a:srgbClr val="DDDDDD"/>
        </a:dk2>
        <a:lt2>
          <a:srgbClr val="5F5F5F"/>
        </a:lt2>
        <a:accent1>
          <a:srgbClr val="A6CAE1"/>
        </a:accent1>
        <a:accent2>
          <a:srgbClr val="567EB9"/>
        </a:accent2>
        <a:accent3>
          <a:srgbClr val="FFFFFF"/>
        </a:accent3>
        <a:accent4>
          <a:srgbClr val="000000"/>
        </a:accent4>
        <a:accent5>
          <a:srgbClr val="D0E1EE"/>
        </a:accent5>
        <a:accent6>
          <a:srgbClr val="4D72A7"/>
        </a:accent6>
        <a:hlink>
          <a:srgbClr val="0860A8"/>
        </a:hlink>
        <a:folHlink>
          <a:srgbClr val="0C2E8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>
  <documentManagement>
    <PublishingExpirationDate xmlns="http://schemas.microsoft.com/sharepoint/v3" xsi:nil="true"/>
    <PublishingStartDate xmlns="http://schemas.microsoft.com/sharepoint/v3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F401C71F511A342A8CE5D878AC6A5A2" ma:contentTypeVersion="1" ma:contentTypeDescription="Create a new document." ma:contentTypeScope="" ma:versionID="7780538ac0ddf0014d7399d2d91bbce0">
  <xsd:schema xmlns:xsd="http://www.w3.org/2001/XMLSchema" xmlns:p="http://schemas.microsoft.com/office/2006/metadata/properties" xmlns:ns1="http://schemas.microsoft.com/sharepoint/v3" targetNamespace="http://schemas.microsoft.com/office/2006/metadata/properties" ma:root="true" ma:fieldsID="ddb0c952b897a810c8a4e377cff6bff8" ns1:_="">
    <xsd:import namespace="http://schemas.microsoft.com/sharepoint/v3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</xsd:all>
            </xsd:complexType>
          </xsd:element>
        </xsd:sequence>
      </xsd:complexType>
    </xsd:element>
  </xsd:schema>
  <xsd:schema xmlns:xsd="http://www.w3.org/2001/XMLSchema" xmlns:dms="http://schemas.microsoft.com/office/2006/documentManagement/types" targetNamespace="http://schemas.microsoft.com/sharepoint/v3" elementFormDefault="qualified">
    <xsd:import namespace="http://schemas.microsoft.com/office/2006/documentManagement/types"/>
    <xsd:element name="PublishingStartDate" ma:index="8" nillable="true" ma:displayName="Scheduling Start Date" ma:description="" ma:hidden="true" ma:internalName="PublishingStartDate">
      <xsd:simpleType>
        <xsd:restriction base="dms:Unknown"/>
      </xsd:simpleType>
    </xsd:element>
    <xsd:element name="PublishingExpirationDate" ma:index="9" nillable="true" ma:displayName="Scheduling End Date" ma:description="" ma:hidden="true" ma:internalName="PublishingExpirationDat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office/internal/2005/internalDocumentation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 ma:readOnly="tru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lastPrinted" minOccurs="0" maxOccurs="1" type="xsd:dateTime"/>
        <xsd:element name="contentStatus" minOccurs="0" maxOccurs="1" type="xsd:string"/>
      </xsd:all>
    </xsd:complexType>
  </xsd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4A94C8E-3E2B-4AD9-8D67-7815198BE085}">
  <ds:schemaRefs>
    <ds:schemaRef ds:uri="http://schemas.microsoft.com/office/2006/metadata/properties"/>
    <ds:schemaRef ds:uri="http://schemas.microsoft.com/sharepoint/v3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purl.org/dc/elements/1.1/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82E76FF6-93BD-4804-AFC1-4178155785E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ternal/2005/internalDocumentation"/>
  </ds:schemaRefs>
</ds:datastoreItem>
</file>

<file path=customXml/itemProps3.xml><?xml version="1.0" encoding="utf-8"?>
<ds:datastoreItem xmlns:ds="http://schemas.openxmlformats.org/officeDocument/2006/customXml" ds:itemID="{C5CC5FB6-44E0-47C0-972B-EBB94824D4B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mdsp_2011</Template>
  <TotalTime>2569</TotalTime>
  <Words>3638</Words>
  <Application>Microsoft Office PowerPoint</Application>
  <PresentationFormat>On-screen Show (4:3)</PresentationFormat>
  <Paragraphs>2170</Paragraphs>
  <Slides>39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54" baseType="lpstr">
      <vt:lpstr>MS PGothic</vt:lpstr>
      <vt:lpstr>MS PGothic</vt:lpstr>
      <vt:lpstr>Arial</vt:lpstr>
      <vt:lpstr>Calibri</vt:lpstr>
      <vt:lpstr>Cambria Math</vt:lpstr>
      <vt:lpstr>Courier New</vt:lpstr>
      <vt:lpstr>Neo Sans Intel</vt:lpstr>
      <vt:lpstr>Neo Sans Intel Light</vt:lpstr>
      <vt:lpstr>Neo Sans Intel Medium</vt:lpstr>
      <vt:lpstr>Symbol</vt:lpstr>
      <vt:lpstr>Times</vt:lpstr>
      <vt:lpstr>Times New Roman</vt:lpstr>
      <vt:lpstr>Verdana</vt:lpstr>
      <vt:lpstr>Wingdings</vt:lpstr>
      <vt:lpstr>mdsp_2011</vt:lpstr>
      <vt:lpstr>Pipelining</vt:lpstr>
      <vt:lpstr>Acknowledgments</vt:lpstr>
      <vt:lpstr>Refresher: MIPS Single-Cycle Implementation</vt:lpstr>
      <vt:lpstr>Refresher: MIPS Single-Cycle Implementation</vt:lpstr>
      <vt:lpstr>Drawback of Single-Cycle Implementation</vt:lpstr>
      <vt:lpstr>What is pipelining?</vt:lpstr>
      <vt:lpstr>Processor Pipeline</vt:lpstr>
      <vt:lpstr>Pipelined vs. Non-Pipelined MIPS</vt:lpstr>
      <vt:lpstr>Pipelining MIPS</vt:lpstr>
      <vt:lpstr>PowerPoint Presentation</vt:lpstr>
      <vt:lpstr>Stages</vt:lpstr>
      <vt:lpstr>Pipelined CPU with Control</vt:lpstr>
      <vt:lpstr>Pipelined execution: Load (cycle 1 – Fetch)</vt:lpstr>
      <vt:lpstr>Pipelined execution: Load (cycle 2 – Dec)</vt:lpstr>
      <vt:lpstr>Pipelined execution: Load (cycle 3 – EXE)</vt:lpstr>
      <vt:lpstr>Pipelined execution: Load (cycle 4 – MEM)</vt:lpstr>
      <vt:lpstr>Pipelined execution: Load (cycle 5 – WB)</vt:lpstr>
      <vt:lpstr>Pipelined execution: cycle 1</vt:lpstr>
      <vt:lpstr>Pipelined execution: cycle 2</vt:lpstr>
      <vt:lpstr>Pipelined execution: cycle 3</vt:lpstr>
      <vt:lpstr>Pipelined execution: cycle 4</vt:lpstr>
      <vt:lpstr>Pipeline hazards: Data Hazard</vt:lpstr>
      <vt:lpstr>Data Hazard</vt:lpstr>
      <vt:lpstr>Data Hazard: HW Solution 1 - Add Stalls</vt:lpstr>
      <vt:lpstr>Data Hazard: HW Solution 2 - Forwarding</vt:lpstr>
      <vt:lpstr>Forwarding Hardware</vt:lpstr>
      <vt:lpstr>Forwarding Control</vt:lpstr>
      <vt:lpstr>Forwarding Hardware Example:  bypassing from EXE to Src1 and from WB to Src2</vt:lpstr>
      <vt:lpstr>Can't always forward</vt:lpstr>
      <vt:lpstr>Stalling</vt:lpstr>
      <vt:lpstr>Hazard Detection (Stall) Logic</vt:lpstr>
      <vt:lpstr>Forwarding + Hazard Detection Unit</vt:lpstr>
      <vt:lpstr>Software Scheduling to Avoid Load Hazards</vt:lpstr>
      <vt:lpstr>Pipeline modeling</vt:lpstr>
      <vt:lpstr>Single-Cycle Implementation modeling</vt:lpstr>
      <vt:lpstr>Performance modeling</vt:lpstr>
      <vt:lpstr>Ports</vt:lpstr>
      <vt:lpstr>Example: decoder</vt:lpstr>
      <vt:lpstr>Extra reading</vt:lpstr>
    </vt:vector>
  </TitlesOfParts>
  <Company>Intel Corporation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MDSP 2011 Intro</dc:title>
  <dc:creator>atitov</dc:creator>
  <cp:keywords>CTPClassification=CTP_NWR:VisualMarkings=, CTPClassification=:VisualMarkings=, CTPClassification=CTP_PUBLIC:VisualMarkings=</cp:keywords>
  <cp:lastModifiedBy>Kryukov, Pavel I</cp:lastModifiedBy>
  <cp:revision>219</cp:revision>
  <dcterms:created xsi:type="dcterms:W3CDTF">2011-10-24T08:13:52Z</dcterms:created>
  <dcterms:modified xsi:type="dcterms:W3CDTF">2017-11-10T17:49:39Z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0x0101006F401C71F511A342A8CE5D878AC6A5A2</vt:lpwstr>
  </property>
  <property fmtid="{D5CDD505-2E9C-101B-9397-08002B2CF9AE}" pid="3" name="TitusGUID">
    <vt:lpwstr>6edd68e8-8c66-4b1f-913b-524aface4a21</vt:lpwstr>
  </property>
  <property fmtid="{D5CDD505-2E9C-101B-9397-08002B2CF9AE}" pid="4" name="CTP_TimeStamp">
    <vt:lpwstr>2017-11-10 17:49:38Z</vt:lpwstr>
  </property>
  <property fmtid="{D5CDD505-2E9C-101B-9397-08002B2CF9AE}" pid="5" name="CTP_BU">
    <vt:lpwstr>NA</vt:lpwstr>
  </property>
  <property fmtid="{D5CDD505-2E9C-101B-9397-08002B2CF9AE}" pid="6" name="CTP_IDSID">
    <vt:lpwstr>NA</vt:lpwstr>
  </property>
  <property fmtid="{D5CDD505-2E9C-101B-9397-08002B2CF9AE}" pid="7" name="CTP_WWID">
    <vt:lpwstr>NA</vt:lpwstr>
  </property>
  <property fmtid="{D5CDD505-2E9C-101B-9397-08002B2CF9AE}" pid="8" name="CTPClassification">
    <vt:lpwstr>CTP_PUBLIC</vt:lpwstr>
  </property>
</Properties>
</file>