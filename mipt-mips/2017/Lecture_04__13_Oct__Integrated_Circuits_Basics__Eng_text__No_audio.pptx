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handoutMasterIdLst>
    <p:handoutMasterId r:id="rId40"/>
  </p:handoutMasterIdLst>
  <p:sldIdLst>
    <p:sldId id="349" r:id="rId5"/>
    <p:sldId id="350" r:id="rId6"/>
    <p:sldId id="352" r:id="rId7"/>
    <p:sldId id="351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4" r:id="rId29"/>
    <p:sldId id="373" r:id="rId30"/>
    <p:sldId id="382" r:id="rId31"/>
    <p:sldId id="375" r:id="rId32"/>
    <p:sldId id="376" r:id="rId33"/>
    <p:sldId id="377" r:id="rId34"/>
    <p:sldId id="378" r:id="rId35"/>
    <p:sldId id="379" r:id="rId36"/>
    <p:sldId id="380" r:id="rId37"/>
    <p:sldId id="381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9207" autoAdjust="0"/>
    <p:restoredTop sz="99700" autoAdjust="0"/>
  </p:normalViewPr>
  <p:slideViewPr>
    <p:cSldViewPr snapToGrid="0">
      <p:cViewPr varScale="1">
        <p:scale>
          <a:sx n="134" d="100"/>
          <a:sy n="134" d="100"/>
        </p:scale>
        <p:origin x="1074" y="132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10/13/2017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10/13/2017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9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NIAC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9.png"/><Relationship Id="rId7" Type="http://schemas.openxmlformats.org/officeDocument/2006/relationships/image" Target="NUL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11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0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6" Type="http://schemas.openxmlformats.org/officeDocument/2006/relationships/image" Target="NULL"/><Relationship Id="rId11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0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6" Type="http://schemas.openxmlformats.org/officeDocument/2006/relationships/image" Target="NULL"/><Relationship Id="rId11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9SWNLZvA8g" TargetMode="External"/><Relationship Id="rId2" Type="http://schemas.openxmlformats.org/officeDocument/2006/relationships/hyperlink" Target="http://www.youtube.com/watch?v=qm67wbB5GmI" TargetMode="Externa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Integrated Circuits Basics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492443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/>
              <a:t>Pavel Kryukov</a:t>
            </a:r>
            <a:br>
              <a:rPr lang="en-US" dirty="0" smtClean="0"/>
            </a:br>
            <a:r>
              <a:rPr lang="en-US" dirty="0" smtClean="0"/>
              <a:t>13/10/2017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6119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141"/>
            <a:ext cx="8229600" cy="384718"/>
          </a:xfrm>
        </p:spPr>
        <p:txBody>
          <a:bodyPr/>
          <a:lstStyle/>
          <a:p>
            <a:r>
              <a:rPr lang="en-US" dirty="0" smtClean="0"/>
              <a:t>Layers of Abstraction in Computer Science (CS)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085375" y="1039903"/>
            <a:ext cx="4632576" cy="3257794"/>
            <a:chOff x="2300535" y="1039903"/>
            <a:chExt cx="4632576" cy="3257794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2300535" y="103990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Application</a:t>
              </a:r>
            </a:p>
          </p:txBody>
        </p:sp>
        <p:sp>
          <p:nvSpPr>
            <p:cNvPr id="5" name="Rounded Rectangle 4"/>
            <p:cNvSpPr/>
            <p:nvPr/>
          </p:nvSpPr>
          <p:spPr bwMode="auto">
            <a:xfrm>
              <a:off x="2300535" y="158668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Algorithms</a:t>
              </a:r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2300535" y="213347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Programming Language</a:t>
              </a:r>
            </a:p>
          </p:txBody>
        </p:sp>
        <p:sp>
          <p:nvSpPr>
            <p:cNvPr id="7" name="Rounded Rectangle 6"/>
            <p:cNvSpPr/>
            <p:nvPr/>
          </p:nvSpPr>
          <p:spPr bwMode="auto">
            <a:xfrm>
              <a:off x="2300535" y="2680261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Operating System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>
              <a:off x="2300535" y="3227047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Instruction Set Architecture</a:t>
              </a:r>
            </a:p>
          </p:txBody>
        </p:sp>
        <p:sp>
          <p:nvSpPr>
            <p:cNvPr id="12" name="Rounded Rectangle 11"/>
            <p:cNvSpPr/>
            <p:nvPr/>
          </p:nvSpPr>
          <p:spPr bwMode="auto">
            <a:xfrm>
              <a:off x="2300535" y="377383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Microarchitecture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85375" y="4320619"/>
            <a:ext cx="4632576" cy="1617435"/>
            <a:chOff x="2300535" y="4320619"/>
            <a:chExt cx="4632576" cy="1617435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2300535" y="432061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Gates/Register-Transfer Level (RTL)</a:t>
              </a: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2300535" y="486740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Circuits</a:t>
              </a: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2300535" y="5414190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Physics</a:t>
              </a:r>
            </a:p>
          </p:txBody>
        </p:sp>
      </p:grpSp>
      <p:sp>
        <p:nvSpPr>
          <p:cNvPr id="15" name="Rectangle 14"/>
          <p:cNvSpPr/>
          <p:nvPr/>
        </p:nvSpPr>
        <p:spPr bwMode="auto">
          <a:xfrm>
            <a:off x="1995605" y="964216"/>
            <a:ext cx="4736759" cy="3903189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033283" y="4867405"/>
            <a:ext cx="4736759" cy="13482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0"/>
            <a:tileRect/>
          </a:gra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6" name="Left Brace 15"/>
          <p:cNvSpPr/>
          <p:nvPr/>
        </p:nvSpPr>
        <p:spPr bwMode="auto">
          <a:xfrm>
            <a:off x="1833559" y="4867405"/>
            <a:ext cx="162046" cy="1070649"/>
          </a:xfrm>
          <a:prstGeom prst="leftBrace">
            <a:avLst>
              <a:gd name="adj1" fmla="val 38114"/>
              <a:gd name="adj2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26901" y="5080753"/>
            <a:ext cx="1766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Topics of </a:t>
            </a:r>
          </a:p>
          <a:p>
            <a:pPr algn="r"/>
            <a:r>
              <a:rPr lang="en-US" sz="2000" dirty="0" smtClean="0">
                <a:latin typeface="+mj-lt"/>
              </a:rPr>
              <a:t>this lecture</a:t>
            </a:r>
          </a:p>
        </p:txBody>
      </p:sp>
      <p:sp>
        <p:nvSpPr>
          <p:cNvPr id="45" name="Right Arrow 44"/>
          <p:cNvSpPr/>
          <p:nvPr/>
        </p:nvSpPr>
        <p:spPr bwMode="auto">
          <a:xfrm rot="16200000">
            <a:off x="6252216" y="4933808"/>
            <a:ext cx="1613647" cy="512305"/>
          </a:xfrm>
          <a:prstGeom prst="rightArrow">
            <a:avLst/>
          </a:prstGeom>
          <a:gradFill flip="none" rotWithShape="1">
            <a:gsLst>
              <a:gs pos="5000">
                <a:schemeClr val="bg1"/>
              </a:gs>
              <a:gs pos="95000">
                <a:schemeClr val="accent1"/>
              </a:gs>
            </a:gsLst>
            <a:lin ang="0" scaled="0"/>
            <a:tileRect/>
          </a:gra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15192" y="5247238"/>
            <a:ext cx="176604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>
                <a:solidFill>
                  <a:schemeClr val="accent1"/>
                </a:solidFill>
                <a:latin typeface="+mj-lt"/>
              </a:rPr>
              <a:t>Less</a:t>
            </a:r>
            <a:r>
              <a:rPr lang="en-US" sz="1700" dirty="0" smtClean="0">
                <a:latin typeface="+mj-lt"/>
              </a:rPr>
              <a:t> about electrons, semiconductors…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192" y="4345789"/>
            <a:ext cx="17660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1"/>
                </a:solidFill>
                <a:latin typeface="+mj-lt"/>
              </a:rPr>
              <a:t>More </a:t>
            </a:r>
            <a:r>
              <a:rPr lang="en-US" sz="1700" dirty="0" smtClean="0">
                <a:latin typeface="+mj-lt"/>
              </a:rPr>
              <a:t>about voltages, </a:t>
            </a:r>
            <a:r>
              <a:rPr lang="en-US" sz="1700" dirty="0">
                <a:latin typeface="+mj-lt"/>
              </a:rPr>
              <a:t>wires </a:t>
            </a:r>
            <a:r>
              <a:rPr lang="en-US" sz="1700" dirty="0" smtClean="0">
                <a:latin typeface="+mj-lt"/>
              </a:rPr>
              <a:t>and </a:t>
            </a:r>
            <a:r>
              <a:rPr lang="en-US" sz="1700" dirty="0">
                <a:latin typeface="+mj-lt"/>
              </a:rPr>
              <a:t>transistors…</a:t>
            </a:r>
          </a:p>
          <a:p>
            <a:endParaRPr lang="en-US" sz="17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0929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8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2" grpId="0" animBg="1"/>
      <p:bldP spid="16" grpId="0" animBg="1"/>
      <p:bldP spid="17" grpId="0"/>
      <p:bldP spid="45" grpId="0" animBg="1"/>
      <p:bldP spid="46" grpId="0"/>
      <p:bldP spid="47" grpId="0"/>
    </p:bld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Semiconductors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027353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Transistor?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dirty="0"/>
              <a:t>T</a:t>
            </a:r>
            <a:r>
              <a:rPr lang="en-US" dirty="0" smtClean="0"/>
              <a:t>ransistors are the </a:t>
            </a:r>
            <a:r>
              <a:rPr lang="en-US" dirty="0"/>
              <a:t>fundamental building blocks for all digital </a:t>
            </a:r>
            <a:r>
              <a:rPr lang="en-US" dirty="0" smtClean="0"/>
              <a:t>circuits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US" dirty="0" smtClean="0"/>
              <a:t>The main advantage of transistors over other devices (i.e., vacuum tubes) is that they are: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2200" dirty="0" smtClean="0"/>
              <a:t>very small </a:t>
            </a:r>
            <a:r>
              <a:rPr lang="en-US" dirty="0" smtClean="0">
                <a:solidFill>
                  <a:schemeClr val="tx2"/>
                </a:solidFill>
              </a:rPr>
              <a:t>(&lt; 22nm)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2200" dirty="0"/>
              <a:t>r</a:t>
            </a:r>
            <a:r>
              <a:rPr lang="en-US" sz="2200" dirty="0" smtClean="0"/>
              <a:t>eliable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/>
                </a:solidFill>
              </a:rPr>
              <a:t>(the </a:t>
            </a:r>
            <a:r>
              <a:rPr lang="en-US" dirty="0">
                <a:solidFill>
                  <a:schemeClr val="tx2"/>
                </a:solidFill>
              </a:rPr>
              <a:t>1946 </a:t>
            </a:r>
            <a:r>
              <a:rPr lang="en-US" dirty="0">
                <a:solidFill>
                  <a:schemeClr val="tx2"/>
                </a:solidFill>
                <a:hlinkClick r:id="rId3" tooltip="ENIAC"/>
              </a:rPr>
              <a:t>ENIAC</a:t>
            </a:r>
            <a:r>
              <a:rPr lang="en-US" dirty="0">
                <a:solidFill>
                  <a:schemeClr val="tx2"/>
                </a:solidFill>
              </a:rPr>
              <a:t>, with over 17,000 </a:t>
            </a:r>
            <a:r>
              <a:rPr lang="en-US" dirty="0" smtClean="0">
                <a:solidFill>
                  <a:schemeClr val="tx2"/>
                </a:solidFill>
              </a:rPr>
              <a:t>vacuum tubes</a:t>
            </a:r>
            <a:r>
              <a:rPr lang="en-US" dirty="0">
                <a:solidFill>
                  <a:schemeClr val="tx2"/>
                </a:solidFill>
              </a:rPr>
              <a:t>, had a tube failure </a:t>
            </a:r>
            <a:r>
              <a:rPr lang="en-US" dirty="0" smtClean="0">
                <a:solidFill>
                  <a:schemeClr val="tx2"/>
                </a:solidFill>
              </a:rPr>
              <a:t>on </a:t>
            </a:r>
            <a:r>
              <a:rPr lang="en-US" dirty="0">
                <a:solidFill>
                  <a:schemeClr val="tx2"/>
                </a:solidFill>
              </a:rPr>
              <a:t>average every two days</a:t>
            </a:r>
            <a:r>
              <a:rPr lang="en-US" dirty="0" smtClean="0">
                <a:solidFill>
                  <a:schemeClr val="tx2"/>
                </a:solidFill>
              </a:rPr>
              <a:t>)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2200" dirty="0" smtClean="0"/>
              <a:t>power efficient </a:t>
            </a:r>
            <a:r>
              <a:rPr lang="en-US" dirty="0">
                <a:solidFill>
                  <a:schemeClr val="tx2"/>
                </a:solidFill>
              </a:rPr>
              <a:t>(almost don’t </a:t>
            </a:r>
            <a:r>
              <a:rPr lang="en-US" dirty="0" smtClean="0">
                <a:solidFill>
                  <a:schemeClr val="tx2"/>
                </a:solidFill>
              </a:rPr>
              <a:t>consume energy </a:t>
            </a:r>
            <a:r>
              <a:rPr lang="en-US" dirty="0">
                <a:solidFill>
                  <a:schemeClr val="tx2"/>
                </a:solidFill>
              </a:rPr>
              <a:t>when the state is not changed)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sz="2200" dirty="0" smtClean="0"/>
              <a:t>cheap </a:t>
            </a:r>
            <a:r>
              <a:rPr lang="en-US" dirty="0">
                <a:solidFill>
                  <a:schemeClr val="tx2"/>
                </a:solidFill>
              </a:rPr>
              <a:t>(production cost of a processor is about several dollars, but it contains billions of transistors)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225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344" y="144229"/>
            <a:ext cx="8229600" cy="889000"/>
          </a:xfrm>
        </p:spPr>
        <p:txBody>
          <a:bodyPr/>
          <a:lstStyle/>
          <a:p>
            <a:pPr algn="ctr"/>
            <a:r>
              <a:rPr lang="en-US" sz="3600" dirty="0" smtClean="0"/>
              <a:t>Silicon</a:t>
            </a:r>
            <a:endParaRPr lang="ru-RU" sz="3600" dirty="0"/>
          </a:p>
        </p:txBody>
      </p:sp>
      <p:grpSp>
        <p:nvGrpSpPr>
          <p:cNvPr id="62" name="Group 61"/>
          <p:cNvGrpSpPr/>
          <p:nvPr/>
        </p:nvGrpSpPr>
        <p:grpSpPr>
          <a:xfrm rot="17976105">
            <a:off x="5037537" y="3866298"/>
            <a:ext cx="1173203" cy="962893"/>
            <a:chOff x="3692236" y="2507670"/>
            <a:chExt cx="1173203" cy="962893"/>
          </a:xfrm>
        </p:grpSpPr>
        <p:cxnSp>
          <p:nvCxnSpPr>
            <p:cNvPr id="63" name="Straight Connector 62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 flipH="1" flipV="1">
              <a:off x="4369225" y="3177722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6" name="Oval 65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 rot="18036933">
            <a:off x="6419679" y="3872730"/>
            <a:ext cx="1173203" cy="962893"/>
            <a:chOff x="3692236" y="2507670"/>
            <a:chExt cx="1173203" cy="962893"/>
          </a:xfrm>
        </p:grpSpPr>
        <p:cxnSp>
          <p:nvCxnSpPr>
            <p:cNvPr id="68" name="Straight Connector 67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 flipH="1" flipV="1">
              <a:off x="4369225" y="3177722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1" name="Oval 70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 rot="17991915">
            <a:off x="5725047" y="2676910"/>
            <a:ext cx="1173203" cy="962893"/>
            <a:chOff x="3692236" y="2507670"/>
            <a:chExt cx="1173203" cy="962893"/>
          </a:xfrm>
        </p:grpSpPr>
        <p:cxnSp>
          <p:nvCxnSpPr>
            <p:cNvPr id="73" name="Straight Connector 72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5" name="Straight Connector 74"/>
            <p:cNvCxnSpPr/>
            <p:nvPr/>
          </p:nvCxnSpPr>
          <p:spPr bwMode="auto">
            <a:xfrm flipH="1" flipV="1">
              <a:off x="4369225" y="3177722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6" name="Oval 75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846620" y="3395958"/>
            <a:ext cx="1173203" cy="962893"/>
            <a:chOff x="3692236" y="2507670"/>
            <a:chExt cx="1173203" cy="962893"/>
          </a:xfrm>
        </p:grpSpPr>
        <p:cxnSp>
          <p:nvCxnSpPr>
            <p:cNvPr id="54" name="Straight Connector 53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 flipH="1" flipV="1">
              <a:off x="4369225" y="3177722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0" name="Oval 59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79" name="Straight Connector 78"/>
          <p:cNvCxnSpPr/>
          <p:nvPr/>
        </p:nvCxnSpPr>
        <p:spPr bwMode="auto">
          <a:xfrm flipV="1">
            <a:off x="5855970" y="4083146"/>
            <a:ext cx="466725" cy="262890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5" name="Straight Connector 84"/>
          <p:cNvCxnSpPr/>
          <p:nvPr/>
        </p:nvCxnSpPr>
        <p:spPr bwMode="auto">
          <a:xfrm flipV="1">
            <a:off x="6429375" y="3353533"/>
            <a:ext cx="7621" cy="527683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2" name="Straight Connector 91"/>
          <p:cNvCxnSpPr/>
          <p:nvPr/>
        </p:nvCxnSpPr>
        <p:spPr bwMode="auto">
          <a:xfrm flipH="1" flipV="1">
            <a:off x="6549391" y="4077431"/>
            <a:ext cx="462914" cy="278130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95" name="Group 94"/>
          <p:cNvGrpSpPr/>
          <p:nvPr/>
        </p:nvGrpSpPr>
        <p:grpSpPr>
          <a:xfrm rot="3608085" flipV="1">
            <a:off x="6413514" y="4799080"/>
            <a:ext cx="1173203" cy="962893"/>
            <a:chOff x="3692236" y="2507670"/>
            <a:chExt cx="1173203" cy="962893"/>
          </a:xfrm>
        </p:grpSpPr>
        <p:cxnSp>
          <p:nvCxnSpPr>
            <p:cNvPr id="96" name="Straight Connector 95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8" name="Straight Connector 97"/>
            <p:cNvCxnSpPr/>
            <p:nvPr/>
          </p:nvCxnSpPr>
          <p:spPr bwMode="auto">
            <a:xfrm flipH="1" flipV="1">
              <a:off x="4369225" y="3177722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9" name="Oval 98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7248986" y="3331306"/>
            <a:ext cx="1055806" cy="1151454"/>
            <a:chOff x="7248986" y="3073400"/>
            <a:chExt cx="1055806" cy="1151454"/>
          </a:xfrm>
        </p:grpSpPr>
        <p:cxnSp>
          <p:nvCxnSpPr>
            <p:cNvPr id="103" name="Straight Connector 102"/>
            <p:cNvCxnSpPr/>
            <p:nvPr/>
          </p:nvCxnSpPr>
          <p:spPr bwMode="auto">
            <a:xfrm rot="3657667" flipH="1">
              <a:off x="7500717" y="3702522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4" name="Straight Connector 103"/>
            <p:cNvCxnSpPr/>
            <p:nvPr/>
          </p:nvCxnSpPr>
          <p:spPr bwMode="auto">
            <a:xfrm flipH="1" flipV="1">
              <a:off x="7818120" y="3073400"/>
              <a:ext cx="7620" cy="58166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5" name="Straight Connector 104"/>
            <p:cNvCxnSpPr/>
            <p:nvPr/>
          </p:nvCxnSpPr>
          <p:spPr bwMode="auto">
            <a:xfrm rot="3657667" flipH="1">
              <a:off x="7910265" y="3830326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06" name="Oval 105"/>
            <p:cNvSpPr/>
            <p:nvPr/>
          </p:nvSpPr>
          <p:spPr bwMode="auto">
            <a:xfrm rot="3657667" flipV="1">
              <a:off x="7695632" y="3655111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107" name="Straight Connector 106"/>
          <p:cNvCxnSpPr/>
          <p:nvPr/>
        </p:nvCxnSpPr>
        <p:spPr bwMode="auto">
          <a:xfrm flipV="1">
            <a:off x="7233920" y="4095846"/>
            <a:ext cx="476250" cy="268255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56" name="Group 155"/>
          <p:cNvGrpSpPr/>
          <p:nvPr/>
        </p:nvGrpSpPr>
        <p:grpSpPr>
          <a:xfrm>
            <a:off x="5185163" y="4564519"/>
            <a:ext cx="1056144" cy="1079299"/>
            <a:chOff x="5185163" y="4306613"/>
            <a:chExt cx="1056144" cy="1079299"/>
          </a:xfrm>
        </p:grpSpPr>
        <p:cxnSp>
          <p:nvCxnSpPr>
            <p:cNvPr id="109" name="Straight Connector 108"/>
            <p:cNvCxnSpPr/>
            <p:nvPr/>
          </p:nvCxnSpPr>
          <p:spPr bwMode="auto">
            <a:xfrm rot="3564635" flipH="1">
              <a:off x="5436894" y="4881354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0" name="Straight Connector 109"/>
            <p:cNvCxnSpPr/>
            <p:nvPr/>
          </p:nvCxnSpPr>
          <p:spPr bwMode="auto">
            <a:xfrm rot="3564635" flipH="1" flipV="1">
              <a:off x="5501183" y="4410517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/>
            <p:nvPr/>
          </p:nvCxnSpPr>
          <p:spPr bwMode="auto">
            <a:xfrm rot="3564635" flipH="1">
              <a:off x="5846780" y="4991384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2" name="Oval 111"/>
            <p:cNvSpPr/>
            <p:nvPr/>
          </p:nvSpPr>
          <p:spPr bwMode="auto">
            <a:xfrm rot="3564635" flipV="1">
              <a:off x="5626942" y="4825388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5876355" y="5168598"/>
            <a:ext cx="1038266" cy="1065812"/>
            <a:chOff x="5868735" y="4913232"/>
            <a:chExt cx="1038266" cy="1065812"/>
          </a:xfrm>
        </p:grpSpPr>
        <p:cxnSp>
          <p:nvCxnSpPr>
            <p:cNvPr id="114" name="Straight Connector 113"/>
            <p:cNvCxnSpPr/>
            <p:nvPr/>
          </p:nvCxnSpPr>
          <p:spPr bwMode="auto">
            <a:xfrm rot="17991915" flipH="1" flipV="1">
              <a:off x="6120466" y="4902631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5" name="Straight Connector 114"/>
            <p:cNvCxnSpPr/>
            <p:nvPr/>
          </p:nvCxnSpPr>
          <p:spPr bwMode="auto">
            <a:xfrm rot="17991915" flipH="1">
              <a:off x="6192026" y="5582299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6" name="Straight Connector 115"/>
            <p:cNvCxnSpPr/>
            <p:nvPr/>
          </p:nvCxnSpPr>
          <p:spPr bwMode="auto">
            <a:xfrm rot="17991915" flipH="1" flipV="1">
              <a:off x="6512474" y="5014918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7" name="Oval 116"/>
            <p:cNvSpPr/>
            <p:nvPr/>
          </p:nvSpPr>
          <p:spPr bwMode="auto">
            <a:xfrm rot="17991915">
              <a:off x="6312816" y="521091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130" name="Straight Connector 129"/>
          <p:cNvCxnSpPr/>
          <p:nvPr/>
        </p:nvCxnSpPr>
        <p:spPr bwMode="auto">
          <a:xfrm flipV="1">
            <a:off x="7122795" y="4540346"/>
            <a:ext cx="0" cy="552451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132" name="Group 131"/>
          <p:cNvGrpSpPr/>
          <p:nvPr/>
        </p:nvGrpSpPr>
        <p:grpSpPr>
          <a:xfrm rot="3608085" flipV="1">
            <a:off x="6417324" y="2414020"/>
            <a:ext cx="1173203" cy="962893"/>
            <a:chOff x="3692236" y="2507670"/>
            <a:chExt cx="1173203" cy="962893"/>
          </a:xfrm>
        </p:grpSpPr>
        <p:cxnSp>
          <p:nvCxnSpPr>
            <p:cNvPr id="133" name="Straight Connector 132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4" name="Straight Connector 133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5" name="Straight Connector 134"/>
            <p:cNvCxnSpPr/>
            <p:nvPr/>
          </p:nvCxnSpPr>
          <p:spPr bwMode="auto">
            <a:xfrm flipH="1" flipV="1">
              <a:off x="4369225" y="3177722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6" name="Oval 135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7" name="Group 136"/>
          <p:cNvGrpSpPr/>
          <p:nvPr/>
        </p:nvGrpSpPr>
        <p:grpSpPr>
          <a:xfrm rot="17972080">
            <a:off x="7111575" y="2676389"/>
            <a:ext cx="1173203" cy="962893"/>
            <a:chOff x="3692236" y="2507670"/>
            <a:chExt cx="1173203" cy="962893"/>
          </a:xfrm>
        </p:grpSpPr>
        <p:cxnSp>
          <p:nvCxnSpPr>
            <p:cNvPr id="138" name="Straight Connector 137"/>
            <p:cNvCxnSpPr/>
            <p:nvPr/>
          </p:nvCxnSpPr>
          <p:spPr bwMode="auto">
            <a:xfrm flipH="1" flipV="1">
              <a:off x="4278838" y="2507670"/>
              <a:ext cx="2217" cy="505680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39" name="Straight Connector 138"/>
            <p:cNvCxnSpPr/>
            <p:nvPr/>
          </p:nvCxnSpPr>
          <p:spPr bwMode="auto">
            <a:xfrm flipH="1">
              <a:off x="3692236" y="3177722"/>
              <a:ext cx="500649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40" name="Straight Connector 139"/>
            <p:cNvCxnSpPr/>
            <p:nvPr/>
          </p:nvCxnSpPr>
          <p:spPr bwMode="auto">
            <a:xfrm flipH="1" flipV="1">
              <a:off x="4369225" y="3177721"/>
              <a:ext cx="496214" cy="292841"/>
            </a:xfrm>
            <a:prstGeom prst="line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41" name="Oval 140"/>
            <p:cNvSpPr/>
            <p:nvPr/>
          </p:nvSpPr>
          <p:spPr bwMode="auto">
            <a:xfrm>
              <a:off x="4156364" y="2999496"/>
              <a:ext cx="249382" cy="2493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146" name="Straight Connector 145"/>
          <p:cNvCxnSpPr/>
          <p:nvPr/>
        </p:nvCxnSpPr>
        <p:spPr bwMode="auto">
          <a:xfrm flipH="1" flipV="1">
            <a:off x="7231380" y="2894426"/>
            <a:ext cx="475615" cy="271780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7" name="Straight Connector 146"/>
          <p:cNvCxnSpPr/>
          <p:nvPr/>
        </p:nvCxnSpPr>
        <p:spPr bwMode="auto">
          <a:xfrm flipV="1">
            <a:off x="7821295" y="3347818"/>
            <a:ext cx="0" cy="567688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8" name="Straight Connector 147"/>
          <p:cNvCxnSpPr/>
          <p:nvPr/>
        </p:nvCxnSpPr>
        <p:spPr bwMode="auto">
          <a:xfrm flipV="1">
            <a:off x="6532880" y="2886806"/>
            <a:ext cx="476250" cy="268255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0" name="Straight Connector 99"/>
          <p:cNvCxnSpPr/>
          <p:nvPr/>
        </p:nvCxnSpPr>
        <p:spPr bwMode="auto">
          <a:xfrm>
            <a:off x="5750560" y="4535266"/>
            <a:ext cx="0" cy="548640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9" name="Straight Connector 118"/>
          <p:cNvCxnSpPr/>
          <p:nvPr/>
        </p:nvCxnSpPr>
        <p:spPr bwMode="auto">
          <a:xfrm flipH="1" flipV="1">
            <a:off x="5854066" y="5263612"/>
            <a:ext cx="482622" cy="269874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4" name="Straight Connector 123"/>
          <p:cNvCxnSpPr/>
          <p:nvPr/>
        </p:nvCxnSpPr>
        <p:spPr bwMode="auto">
          <a:xfrm flipV="1">
            <a:off x="6553200" y="5273136"/>
            <a:ext cx="466725" cy="262890"/>
          </a:xfrm>
          <a:prstGeom prst="line">
            <a:avLst/>
          </a:prstGeom>
          <a:solidFill>
            <a:schemeClr val="bg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38" name="Group 237"/>
          <p:cNvGrpSpPr/>
          <p:nvPr/>
        </p:nvGrpSpPr>
        <p:grpSpPr>
          <a:xfrm>
            <a:off x="4500880" y="1802226"/>
            <a:ext cx="4226560" cy="4524772"/>
            <a:chOff x="4500880" y="1544320"/>
            <a:chExt cx="4226560" cy="4524772"/>
          </a:xfrm>
        </p:grpSpPr>
        <p:sp>
          <p:nvSpPr>
            <p:cNvPr id="227" name="Rectangle 226"/>
            <p:cNvSpPr/>
            <p:nvPr/>
          </p:nvSpPr>
          <p:spPr bwMode="auto">
            <a:xfrm>
              <a:off x="4500880" y="1544320"/>
              <a:ext cx="4226560" cy="4460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grpSp>
          <p:nvGrpSpPr>
            <p:cNvPr id="226" name="Group 225"/>
            <p:cNvGrpSpPr/>
            <p:nvPr/>
          </p:nvGrpSpPr>
          <p:grpSpPr>
            <a:xfrm>
              <a:off x="4589144" y="1883410"/>
              <a:ext cx="4117417" cy="3737876"/>
              <a:chOff x="9171304" y="3509010"/>
              <a:chExt cx="4117417" cy="3737876"/>
            </a:xfrm>
            <a:solidFill>
              <a:schemeClr val="bg1"/>
            </a:solidFill>
          </p:grpSpPr>
          <p:grpSp>
            <p:nvGrpSpPr>
              <p:cNvPr id="177" name="Group 176"/>
              <p:cNvGrpSpPr/>
              <p:nvPr/>
            </p:nvGrpSpPr>
            <p:grpSpPr>
              <a:xfrm>
                <a:off x="9171304" y="3964145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159" name="Hexagon 158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60" name="Hexagon 159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61" name="Hexagon 160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62" name="Hexagon 161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64" name="Hexagon 163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65" name="Hexagon 164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66" name="Hexagon 165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178" name="Group 177"/>
              <p:cNvGrpSpPr/>
              <p:nvPr/>
            </p:nvGrpSpPr>
            <p:grpSpPr>
              <a:xfrm>
                <a:off x="11489340" y="3511397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179" name="Hexagon 178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0" name="Hexagon 179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1" name="Hexagon 180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2" name="Hexagon 181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3" name="Hexagon 182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4" name="Hexagon 183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5" name="Hexagon 184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186" name="Group 185"/>
              <p:cNvGrpSpPr/>
              <p:nvPr/>
            </p:nvGrpSpPr>
            <p:grpSpPr>
              <a:xfrm>
                <a:off x="10456752" y="4409734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187" name="Hexagon 186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8" name="Hexagon 187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89" name="Hexagon 188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0" name="Hexagon 189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1" name="Hexagon 190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2" name="Hexagon 191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3" name="Hexagon 192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194" name="Group 193"/>
              <p:cNvGrpSpPr/>
              <p:nvPr/>
            </p:nvGrpSpPr>
            <p:grpSpPr>
              <a:xfrm>
                <a:off x="10200263" y="3509010"/>
                <a:ext cx="1288162" cy="1047445"/>
                <a:chOff x="9145904" y="4432741"/>
                <a:chExt cx="1288162" cy="1047445"/>
              </a:xfrm>
              <a:grpFill/>
            </p:grpSpPr>
            <p:sp>
              <p:nvSpPr>
                <p:cNvPr id="195" name="Hexagon 194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6" name="Hexagon 195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8" name="Hexagon 197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1" name="Hexagon 200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202" name="Group 201"/>
              <p:cNvGrpSpPr/>
              <p:nvPr/>
            </p:nvGrpSpPr>
            <p:grpSpPr>
              <a:xfrm>
                <a:off x="10720044" y="5751165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203" name="Hexagon 202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4" name="Hexagon 203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5" name="Hexagon 204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6" name="Hexagon 205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7" name="Hexagon 206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8" name="Hexagon 207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9" name="Hexagon 208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210" name="Group 209"/>
              <p:cNvGrpSpPr/>
              <p:nvPr/>
            </p:nvGrpSpPr>
            <p:grpSpPr>
              <a:xfrm>
                <a:off x="9432043" y="5311479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211" name="Hexagon 210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2" name="Hexagon 211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3" name="Hexagon 212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4" name="Hexagon 213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5" name="Hexagon 214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6" name="Hexagon 215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17" name="Hexagon 216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218" name="Group 217"/>
              <p:cNvGrpSpPr/>
              <p:nvPr/>
            </p:nvGrpSpPr>
            <p:grpSpPr>
              <a:xfrm>
                <a:off x="11744752" y="4856255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219" name="Hexagon 218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0" name="Hexagon 219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1" name="Hexagon 220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2" name="Hexagon 221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3" name="Hexagon 222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4" name="Hexagon 223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5" name="Hexagon 224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229" name="TextBox 228"/>
            <p:cNvSpPr txBox="1"/>
            <p:nvPr/>
          </p:nvSpPr>
          <p:spPr>
            <a:xfrm>
              <a:off x="5039360" y="5699760"/>
              <a:ext cx="335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Planar structure of silicon crystal</a:t>
              </a:r>
              <a:endParaRPr lang="ru-RU" dirty="0" err="1" smtClean="0">
                <a:latin typeface="+mj-lt"/>
              </a:endParaRPr>
            </a:p>
          </p:txBody>
        </p:sp>
      </p:grpSp>
      <p:grpSp>
        <p:nvGrpSpPr>
          <p:cNvPr id="239" name="Group 238"/>
          <p:cNvGrpSpPr/>
          <p:nvPr/>
        </p:nvGrpSpPr>
        <p:grpSpPr>
          <a:xfrm>
            <a:off x="995680" y="2707933"/>
            <a:ext cx="3484880" cy="3547945"/>
            <a:chOff x="995680" y="2450027"/>
            <a:chExt cx="3484880" cy="3547945"/>
          </a:xfrm>
        </p:grpSpPr>
        <p:grpSp>
          <p:nvGrpSpPr>
            <p:cNvPr id="231" name="Group 230"/>
            <p:cNvGrpSpPr/>
            <p:nvPr/>
          </p:nvGrpSpPr>
          <p:grpSpPr>
            <a:xfrm>
              <a:off x="1093284" y="2450027"/>
              <a:ext cx="2495740" cy="3002258"/>
              <a:chOff x="1225364" y="2521147"/>
              <a:chExt cx="2495740" cy="3002258"/>
            </a:xfrm>
          </p:grpSpPr>
          <p:grpSp>
            <p:nvGrpSpPr>
              <p:cNvPr id="33" name="Group 32"/>
              <p:cNvGrpSpPr/>
              <p:nvPr/>
            </p:nvGrpSpPr>
            <p:grpSpPr>
              <a:xfrm rot="9736035">
                <a:off x="2717057" y="3555715"/>
                <a:ext cx="1004047" cy="1298058"/>
                <a:chOff x="3059953" y="4087243"/>
                <a:chExt cx="1004047" cy="1298058"/>
              </a:xfrm>
            </p:grpSpPr>
            <p:cxnSp>
              <p:nvCxnSpPr>
                <p:cNvPr id="34" name="Straight Connector 33"/>
                <p:cNvCxnSpPr/>
                <p:nvPr/>
              </p:nvCxnSpPr>
              <p:spPr bwMode="auto">
                <a:xfrm>
                  <a:off x="3059953" y="43269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5" name="Straight Connector 34"/>
                <p:cNvCxnSpPr/>
                <p:nvPr/>
              </p:nvCxnSpPr>
              <p:spPr bwMode="auto">
                <a:xfrm>
                  <a:off x="3161553" y="42380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36" name="Oval 35"/>
                <p:cNvSpPr>
                  <a:spLocks noChangeAspect="1"/>
                </p:cNvSpPr>
                <p:nvPr/>
              </p:nvSpPr>
              <p:spPr bwMode="auto">
                <a:xfrm rot="18729421">
                  <a:off x="3042856" y="4258605"/>
                  <a:ext cx="137160" cy="53526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/>
              </p:nvSpPr>
              <p:spPr bwMode="auto">
                <a:xfrm rot="18904787">
                  <a:off x="3504271" y="4087243"/>
                  <a:ext cx="120162" cy="129805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38" name="Oval 37"/>
                <p:cNvSpPr>
                  <a:spLocks noChangeAspect="1"/>
                </p:cNvSpPr>
                <p:nvPr/>
              </p:nvSpPr>
              <p:spPr bwMode="auto">
                <a:xfrm rot="18729421">
                  <a:off x="3945542" y="5161283"/>
                  <a:ext cx="137160" cy="53526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 rot="17173963">
                <a:off x="1372369" y="3626858"/>
                <a:ext cx="1004047" cy="1298058"/>
                <a:chOff x="3059953" y="4087243"/>
                <a:chExt cx="1004047" cy="1298058"/>
              </a:xfrm>
            </p:grpSpPr>
            <p:cxnSp>
              <p:nvCxnSpPr>
                <p:cNvPr id="16" name="Straight Connector 15"/>
                <p:cNvCxnSpPr/>
                <p:nvPr/>
              </p:nvCxnSpPr>
              <p:spPr bwMode="auto">
                <a:xfrm>
                  <a:off x="3059953" y="43269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" name="Straight Connector 16"/>
                <p:cNvCxnSpPr/>
                <p:nvPr/>
              </p:nvCxnSpPr>
              <p:spPr bwMode="auto">
                <a:xfrm>
                  <a:off x="3161553" y="42380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8" name="Oval 17"/>
                <p:cNvSpPr>
                  <a:spLocks noChangeAspect="1"/>
                </p:cNvSpPr>
                <p:nvPr/>
              </p:nvSpPr>
              <p:spPr bwMode="auto">
                <a:xfrm rot="18729421">
                  <a:off x="3042856" y="4258605"/>
                  <a:ext cx="137160" cy="53526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9" name="Rectangle 18"/>
                <p:cNvSpPr/>
                <p:nvPr/>
              </p:nvSpPr>
              <p:spPr bwMode="auto">
                <a:xfrm rot="18904787">
                  <a:off x="3504271" y="4087243"/>
                  <a:ext cx="120162" cy="129805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" name="Oval 19"/>
                <p:cNvSpPr>
                  <a:spLocks noChangeAspect="1"/>
                </p:cNvSpPr>
                <p:nvPr/>
              </p:nvSpPr>
              <p:spPr bwMode="auto">
                <a:xfrm rot="18729421">
                  <a:off x="3945542" y="5161283"/>
                  <a:ext cx="137160" cy="53526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4" name="Oval 3"/>
              <p:cNvSpPr/>
              <p:nvPr/>
            </p:nvSpPr>
            <p:spPr bwMode="auto">
              <a:xfrm>
                <a:off x="2247296" y="3653121"/>
                <a:ext cx="645458" cy="645458"/>
              </a:xfrm>
              <a:prstGeom prst="ellipse">
                <a:avLst/>
              </a:prstGeom>
              <a:solidFill>
                <a:srgbClr val="FF6600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+mj-lt"/>
                  <a:cs typeface="Arial" pitchFamily="34" charset="0"/>
                </a:endParaRPr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 rot="1664321">
                <a:off x="2311591" y="4225347"/>
                <a:ext cx="1004047" cy="1298058"/>
                <a:chOff x="3059953" y="4087243"/>
                <a:chExt cx="1004047" cy="1298058"/>
              </a:xfrm>
            </p:grpSpPr>
            <p:cxnSp>
              <p:nvCxnSpPr>
                <p:cNvPr id="7" name="Straight Connector 6"/>
                <p:cNvCxnSpPr/>
                <p:nvPr/>
              </p:nvCxnSpPr>
              <p:spPr bwMode="auto">
                <a:xfrm>
                  <a:off x="3059953" y="43269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" name="Straight Connector 8"/>
                <p:cNvCxnSpPr/>
                <p:nvPr/>
              </p:nvCxnSpPr>
              <p:spPr bwMode="auto">
                <a:xfrm>
                  <a:off x="3161553" y="42380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1" name="Oval 10"/>
                <p:cNvSpPr>
                  <a:spLocks noChangeAspect="1"/>
                </p:cNvSpPr>
                <p:nvPr/>
              </p:nvSpPr>
              <p:spPr bwMode="auto">
                <a:xfrm rot="18729421">
                  <a:off x="3042856" y="4258605"/>
                  <a:ext cx="137160" cy="53526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 bwMode="auto">
                <a:xfrm rot="18904787">
                  <a:off x="3504272" y="4087243"/>
                  <a:ext cx="120162" cy="129805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0" name="Oval 9"/>
                <p:cNvSpPr>
                  <a:spLocks noChangeAspect="1"/>
                </p:cNvSpPr>
                <p:nvPr/>
              </p:nvSpPr>
              <p:spPr bwMode="auto">
                <a:xfrm rot="18729421">
                  <a:off x="3945542" y="5161283"/>
                  <a:ext cx="137160" cy="53526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grpSp>
            <p:nvGrpSpPr>
              <p:cNvPr id="21" name="Group 20"/>
              <p:cNvGrpSpPr/>
              <p:nvPr/>
            </p:nvGrpSpPr>
            <p:grpSpPr>
              <a:xfrm rot="13471393">
                <a:off x="2123259" y="2521147"/>
                <a:ext cx="903368" cy="1179800"/>
                <a:chOff x="3059953" y="4087243"/>
                <a:chExt cx="1004047" cy="1298058"/>
              </a:xfrm>
            </p:grpSpPr>
            <p:cxnSp>
              <p:nvCxnSpPr>
                <p:cNvPr id="22" name="Straight Connector 21"/>
                <p:cNvCxnSpPr/>
                <p:nvPr/>
              </p:nvCxnSpPr>
              <p:spPr bwMode="auto">
                <a:xfrm>
                  <a:off x="3059953" y="43269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3" name="Straight Connector 22"/>
                <p:cNvCxnSpPr/>
                <p:nvPr/>
              </p:nvCxnSpPr>
              <p:spPr bwMode="auto">
                <a:xfrm>
                  <a:off x="3161553" y="4238065"/>
                  <a:ext cx="902447" cy="905435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24" name="Oval 23"/>
                <p:cNvSpPr>
                  <a:spLocks noChangeAspect="1"/>
                </p:cNvSpPr>
                <p:nvPr/>
              </p:nvSpPr>
              <p:spPr bwMode="auto">
                <a:xfrm rot="18729421">
                  <a:off x="3042856" y="4258605"/>
                  <a:ext cx="137160" cy="53526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5" name="Rectangle 24"/>
                <p:cNvSpPr/>
                <p:nvPr/>
              </p:nvSpPr>
              <p:spPr bwMode="auto">
                <a:xfrm rot="18904787">
                  <a:off x="3504271" y="4087243"/>
                  <a:ext cx="120162" cy="129805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6" name="Oval 25"/>
                <p:cNvSpPr>
                  <a:spLocks noChangeAspect="1"/>
                </p:cNvSpPr>
                <p:nvPr/>
              </p:nvSpPr>
              <p:spPr bwMode="auto">
                <a:xfrm rot="18729421">
                  <a:off x="3945542" y="5161283"/>
                  <a:ext cx="137160" cy="53526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232" name="TextBox 231"/>
            <p:cNvSpPr txBox="1"/>
            <p:nvPr/>
          </p:nvSpPr>
          <p:spPr>
            <a:xfrm>
              <a:off x="995680" y="5628640"/>
              <a:ext cx="3484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Stick model of a silicon atom</a:t>
              </a:r>
              <a:endParaRPr lang="ru-RU" dirty="0" err="1" smtClean="0">
                <a:latin typeface="+mj-lt"/>
              </a:endParaRPr>
            </a:p>
          </p:txBody>
        </p:sp>
      </p:grpSp>
      <p:grpSp>
        <p:nvGrpSpPr>
          <p:cNvPr id="237" name="Group 236"/>
          <p:cNvGrpSpPr/>
          <p:nvPr/>
        </p:nvGrpSpPr>
        <p:grpSpPr>
          <a:xfrm>
            <a:off x="4439920" y="1436466"/>
            <a:ext cx="4460240" cy="4897120"/>
            <a:chOff x="4439920" y="1178560"/>
            <a:chExt cx="4460240" cy="4897120"/>
          </a:xfrm>
        </p:grpSpPr>
        <p:sp>
          <p:nvSpPr>
            <p:cNvPr id="235" name="Rectangle 234"/>
            <p:cNvSpPr/>
            <p:nvPr/>
          </p:nvSpPr>
          <p:spPr bwMode="auto">
            <a:xfrm>
              <a:off x="4439920" y="1178560"/>
              <a:ext cx="4460240" cy="489712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482534" y="2286000"/>
              <a:ext cx="4400230" cy="3058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6" name="TextBox 235"/>
            <p:cNvSpPr txBox="1"/>
            <p:nvPr/>
          </p:nvSpPr>
          <p:spPr>
            <a:xfrm>
              <a:off x="4785360" y="5638800"/>
              <a:ext cx="401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+mj-lt"/>
                </a:rPr>
                <a:t>Purified silicon</a:t>
              </a:r>
              <a:endParaRPr lang="ru-RU" dirty="0" err="1" smtClean="0">
                <a:latin typeface="+mj-lt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253" y="826478"/>
            <a:ext cx="8464868" cy="963246"/>
          </a:xfrm>
        </p:spPr>
        <p:txBody>
          <a:bodyPr/>
          <a:lstStyle/>
          <a:p>
            <a:pPr marL="233363" indent="-233363">
              <a:buFont typeface="Arial" pitchFamily="34" charset="0"/>
              <a:buChar char="•"/>
            </a:pPr>
            <a:r>
              <a:rPr lang="en-US" sz="2000" b="1" dirty="0" smtClean="0"/>
              <a:t>Silicon</a:t>
            </a:r>
            <a:r>
              <a:rPr lang="en-US" sz="2000" dirty="0" smtClean="0"/>
              <a:t> (Si) is a chemical element with atomic number 14</a:t>
            </a:r>
          </a:p>
          <a:p>
            <a:pPr marL="233363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I</a:t>
            </a:r>
            <a:r>
              <a:rPr lang="en-US" sz="2000" dirty="0" smtClean="0"/>
              <a:t>t has four electrons in the outermost shell available for covalent chemical bonding:</a:t>
            </a:r>
            <a:endParaRPr lang="ru-RU" sz="2000" dirty="0" smtClean="0"/>
          </a:p>
          <a:p>
            <a:pPr indent="233363">
              <a:buFont typeface="Arial" pitchFamily="34" charset="0"/>
              <a:buChar char="•"/>
            </a:pPr>
            <a:endParaRPr lang="ru-RU" sz="2000" dirty="0"/>
          </a:p>
        </p:txBody>
      </p:sp>
      <p:grpSp>
        <p:nvGrpSpPr>
          <p:cNvPr id="157" name="Group 156"/>
          <p:cNvGrpSpPr/>
          <p:nvPr/>
        </p:nvGrpSpPr>
        <p:grpSpPr>
          <a:xfrm>
            <a:off x="1650388" y="1631347"/>
            <a:ext cx="3789911" cy="596357"/>
            <a:chOff x="2767536" y="835151"/>
            <a:chExt cx="3789911" cy="596357"/>
          </a:xfrm>
        </p:grpSpPr>
        <p:grpSp>
          <p:nvGrpSpPr>
            <p:cNvPr id="158" name="Group 157"/>
            <p:cNvGrpSpPr/>
            <p:nvPr/>
          </p:nvGrpSpPr>
          <p:grpSpPr>
            <a:xfrm>
              <a:off x="3686556" y="835151"/>
              <a:ext cx="2870891" cy="562865"/>
              <a:chOff x="3686556" y="835151"/>
              <a:chExt cx="2870891" cy="562865"/>
            </a:xfrm>
          </p:grpSpPr>
          <p:grpSp>
            <p:nvGrpSpPr>
              <p:cNvPr id="167" name="Group 166"/>
              <p:cNvGrpSpPr/>
              <p:nvPr/>
            </p:nvGrpSpPr>
            <p:grpSpPr>
              <a:xfrm>
                <a:off x="3686556" y="835152"/>
                <a:ext cx="302390" cy="561848"/>
                <a:chOff x="3686556" y="835152"/>
                <a:chExt cx="302390" cy="561848"/>
              </a:xfrm>
            </p:grpSpPr>
            <p:sp>
              <p:nvSpPr>
                <p:cNvPr id="240" name="Rectangle 239"/>
                <p:cNvSpPr/>
                <p:nvPr/>
              </p:nvSpPr>
              <p:spPr bwMode="auto">
                <a:xfrm>
                  <a:off x="374142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>
                      <a:latin typeface="+mj-lt"/>
                      <a:cs typeface="Arial" pitchFamily="34" charset="0"/>
                    </a:rPr>
                    <a:t>↑↓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1" name="TextBox 240"/>
                    <p:cNvSpPr txBox="1"/>
                    <p:nvPr/>
                  </p:nvSpPr>
                  <p:spPr>
                    <a:xfrm>
                      <a:off x="3686556" y="835152"/>
                      <a:ext cx="302390" cy="23525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sz="1400" dirty="0" err="1" smtClean="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41" name="TextBox 24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7"/>
                      <a:stretch>
                        <a:fillRect l="-11940" t="-4444" r="-746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8" name="Group 167"/>
              <p:cNvGrpSpPr/>
              <p:nvPr/>
            </p:nvGrpSpPr>
            <p:grpSpPr>
              <a:xfrm>
                <a:off x="4158996" y="835152"/>
                <a:ext cx="302390" cy="561848"/>
                <a:chOff x="4091940" y="835152"/>
                <a:chExt cx="302390" cy="561848"/>
              </a:xfrm>
            </p:grpSpPr>
            <p:sp>
              <p:nvSpPr>
                <p:cNvPr id="233" name="Rectangle 232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>
                      <a:latin typeface="+mj-lt"/>
                      <a:cs typeface="Arial" pitchFamily="34" charset="0"/>
                    </a:rPr>
                    <a:t>↑↓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4" name="TextBox 233"/>
                    <p:cNvSpPr txBox="1"/>
                    <p:nvPr/>
                  </p:nvSpPr>
                  <p:spPr>
                    <a:xfrm>
                      <a:off x="4091940" y="835152"/>
                      <a:ext cx="302390" cy="23525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sz="1400" dirty="0" err="1" smtClean="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34" name="TextBox 23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 l="-13433" t="-4444" r="-597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69" name="Group 168"/>
              <p:cNvGrpSpPr/>
              <p:nvPr/>
            </p:nvGrpSpPr>
            <p:grpSpPr>
              <a:xfrm>
                <a:off x="4553647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99" name="Rectangle 198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>
                      <a:latin typeface="+mj-lt"/>
                      <a:cs typeface="Arial" pitchFamily="34" charset="0"/>
                    </a:rPr>
                    <a:t>↑↓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00" name="Rectangle 199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>
                      <a:latin typeface="+mj-lt"/>
                      <a:cs typeface="Arial" pitchFamily="34" charset="0"/>
                    </a:rPr>
                    <a:t>↑↓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228" name="Rectangle 227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>
                      <a:latin typeface="+mj-lt"/>
                      <a:cs typeface="Arial" pitchFamily="34" charset="0"/>
                    </a:rPr>
                    <a:t>↑↓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0" name="TextBox 229"/>
                    <p:cNvSpPr txBox="1"/>
                    <p:nvPr/>
                  </p:nvSpPr>
                  <p:spPr>
                    <a:xfrm>
                      <a:off x="4735310" y="835151"/>
                      <a:ext cx="318421" cy="23525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ru-RU" sz="1400" dirty="0" err="1" smtClean="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230" name="TextBox 2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9"/>
                      <a:stretch>
                        <a:fillRect l="-18841" t="-4444" r="-4348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0" name="Group 169"/>
              <p:cNvGrpSpPr/>
              <p:nvPr/>
            </p:nvGrpSpPr>
            <p:grpSpPr>
              <a:xfrm>
                <a:off x="5457444" y="835152"/>
                <a:ext cx="302390" cy="561848"/>
                <a:chOff x="4091940" y="835152"/>
                <a:chExt cx="302390" cy="561848"/>
              </a:xfrm>
            </p:grpSpPr>
            <p:sp>
              <p:nvSpPr>
                <p:cNvPr id="176" name="Rectangle 175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 smtClean="0">
                      <a:latin typeface="+mj-lt"/>
                      <a:cs typeface="Arial" pitchFamily="34" charset="0"/>
                    </a:rPr>
                    <a:t>↑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7" name="TextBox 196"/>
                    <p:cNvSpPr txBox="1"/>
                    <p:nvPr/>
                  </p:nvSpPr>
                  <p:spPr>
                    <a:xfrm>
                      <a:off x="4091940" y="835152"/>
                      <a:ext cx="302390" cy="23525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oMath>
                        </m:oMathPara>
                      </a14:m>
                      <a:endParaRPr lang="ru-RU" sz="1400" dirty="0" err="1" smtClean="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197" name="TextBox 19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blipFill rotWithShape="0">
                      <a:blip r:embed="rId10"/>
                      <a:stretch>
                        <a:fillRect l="-13636" t="-4444" r="-6061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1" name="Group 170"/>
              <p:cNvGrpSpPr/>
              <p:nvPr/>
            </p:nvGrpSpPr>
            <p:grpSpPr>
              <a:xfrm>
                <a:off x="5852095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72" name="Rectangle 171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 smtClean="0">
                      <a:latin typeface="+mj-lt"/>
                      <a:cs typeface="Arial" pitchFamily="34" charset="0"/>
                    </a:rPr>
                    <a:t>↑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73" name="Rectangle 172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 smtClean="0">
                      <a:latin typeface="+mj-lt"/>
                      <a:cs typeface="Arial" pitchFamily="34" charset="0"/>
                    </a:rPr>
                    <a:t>↑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100" b="1" dirty="0" smtClean="0">
                      <a:latin typeface="+mj-lt"/>
                      <a:cs typeface="Arial" pitchFamily="34" charset="0"/>
                    </a:rPr>
                    <a:t>↑</a:t>
                  </a:r>
                  <a:endParaRPr lang="ru-RU" sz="1100" b="1" dirty="0">
                    <a:latin typeface="+mj-lt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5" name="TextBox 174"/>
                    <p:cNvSpPr txBox="1"/>
                    <p:nvPr/>
                  </p:nvSpPr>
                  <p:spPr>
                    <a:xfrm>
                      <a:off x="4735310" y="835151"/>
                      <a:ext cx="318421" cy="23525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oMath>
                        </m:oMathPara>
                      </a14:m>
                      <a:endParaRPr lang="ru-RU" sz="1400" dirty="0" err="1" smtClean="0">
                        <a:latin typeface="+mj-lt"/>
                      </a:endParaRPr>
                    </a:p>
                  </p:txBody>
                </p:sp>
              </mc:Choice>
              <mc:Fallback xmlns="">
                <p:sp>
                  <p:nvSpPr>
                    <p:cNvPr id="175" name="TextBox 17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1"/>
                      <a:stretch>
                        <a:fillRect l="-18841" t="-4444" r="-4348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63" name="TextBox 162"/>
            <p:cNvSpPr txBox="1"/>
            <p:nvPr/>
          </p:nvSpPr>
          <p:spPr>
            <a:xfrm>
              <a:off x="2767536" y="1092954"/>
              <a:ext cx="8082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Si (+14)</a:t>
              </a:r>
              <a:endParaRPr lang="ru-RU" sz="1600" dirty="0" err="1" smtClean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86677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0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060" y="293032"/>
            <a:ext cx="8229600" cy="889000"/>
          </a:xfrm>
        </p:spPr>
        <p:txBody>
          <a:bodyPr/>
          <a:lstStyle/>
          <a:p>
            <a:pPr algn="ctr"/>
            <a:r>
              <a:rPr lang="en-US" dirty="0" smtClean="0"/>
              <a:t>Conduction properties</a:t>
            </a:r>
            <a:endParaRPr lang="ru-RU" dirty="0"/>
          </a:p>
        </p:txBody>
      </p:sp>
      <p:grpSp>
        <p:nvGrpSpPr>
          <p:cNvPr id="61" name="Group 60"/>
          <p:cNvGrpSpPr/>
          <p:nvPr/>
        </p:nvGrpSpPr>
        <p:grpSpPr>
          <a:xfrm>
            <a:off x="2326605" y="1502485"/>
            <a:ext cx="4226560" cy="4493994"/>
            <a:chOff x="3393440" y="1493520"/>
            <a:chExt cx="4226560" cy="4493994"/>
          </a:xfrm>
        </p:grpSpPr>
        <p:sp>
          <p:nvSpPr>
            <p:cNvPr id="5" name="Rectangle 4"/>
            <p:cNvSpPr/>
            <p:nvPr/>
          </p:nvSpPr>
          <p:spPr bwMode="auto">
            <a:xfrm>
              <a:off x="3393440" y="1493520"/>
              <a:ext cx="4226560" cy="446024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6" name="Group 225"/>
            <p:cNvGrpSpPr/>
            <p:nvPr/>
          </p:nvGrpSpPr>
          <p:grpSpPr>
            <a:xfrm>
              <a:off x="3481704" y="1832610"/>
              <a:ext cx="4117417" cy="3737876"/>
              <a:chOff x="9171304" y="3509010"/>
              <a:chExt cx="4117417" cy="3737876"/>
            </a:xfrm>
            <a:solidFill>
              <a:schemeClr val="bg1"/>
            </a:solidFill>
          </p:grpSpPr>
          <p:grpSp>
            <p:nvGrpSpPr>
              <p:cNvPr id="8" name="Group 176"/>
              <p:cNvGrpSpPr/>
              <p:nvPr/>
            </p:nvGrpSpPr>
            <p:grpSpPr>
              <a:xfrm>
                <a:off x="9171304" y="3964145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54" name="Hexagon 53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5" name="Hexagon 54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6" name="Hexagon 55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7" name="Hexagon 56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8" name="Hexagon 57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9" name="Hexagon 58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0" name="Hexagon 59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9" name="Group 177"/>
              <p:cNvGrpSpPr/>
              <p:nvPr/>
            </p:nvGrpSpPr>
            <p:grpSpPr>
              <a:xfrm>
                <a:off x="11489340" y="3511397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47" name="Hexagon 46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8" name="Hexagon 47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9" name="Hexagon 48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0" name="Hexagon 49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1" name="Hexagon 50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2" name="Hexagon 51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3" name="Hexagon 52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0" name="Group 185"/>
              <p:cNvGrpSpPr/>
              <p:nvPr/>
            </p:nvGrpSpPr>
            <p:grpSpPr>
              <a:xfrm>
                <a:off x="10456752" y="4409734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40" name="Hexagon 39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1" name="Hexagon 40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2" name="Hexagon 41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3" name="Hexagon 42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4" name="Hexagon 43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5" name="Hexagon 44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6" name="Hexagon 45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1" name="Group 193"/>
              <p:cNvGrpSpPr/>
              <p:nvPr/>
            </p:nvGrpSpPr>
            <p:grpSpPr>
              <a:xfrm>
                <a:off x="10200263" y="3509010"/>
                <a:ext cx="1288162" cy="1047445"/>
                <a:chOff x="9145904" y="4432741"/>
                <a:chExt cx="1288162" cy="1047445"/>
              </a:xfrm>
              <a:grpFill/>
            </p:grpSpPr>
            <p:sp>
              <p:nvSpPr>
                <p:cNvPr id="36" name="Hexagon 35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7" name="Hexagon 36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8" name="Hexagon 37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9" name="Hexagon 38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2" name="Group 201"/>
              <p:cNvGrpSpPr/>
              <p:nvPr/>
            </p:nvGrpSpPr>
            <p:grpSpPr>
              <a:xfrm>
                <a:off x="10720044" y="5751165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29" name="Hexagon 28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0" name="Hexagon 29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1" name="Hexagon 30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2" name="Hexagon 31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3" name="Hexagon 32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4" name="Hexagon 33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5" name="Hexagon 34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3" name="Group 209"/>
              <p:cNvGrpSpPr/>
              <p:nvPr/>
            </p:nvGrpSpPr>
            <p:grpSpPr>
              <a:xfrm>
                <a:off x="9432043" y="5311479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22" name="Hexagon 21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3" name="Hexagon 22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4" name="Hexagon 23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5" name="Hexagon 24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6" name="Hexagon 25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7" name="Hexagon 26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8" name="Hexagon 27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4" name="Group 217"/>
              <p:cNvGrpSpPr/>
              <p:nvPr/>
            </p:nvGrpSpPr>
            <p:grpSpPr>
              <a:xfrm>
                <a:off x="11744752" y="4856255"/>
                <a:ext cx="1543969" cy="1495721"/>
                <a:chOff x="9145904" y="3984465"/>
                <a:chExt cx="1543969" cy="1495721"/>
              </a:xfrm>
              <a:grpFill/>
            </p:grpSpPr>
            <p:sp>
              <p:nvSpPr>
                <p:cNvPr id="15" name="Hexagon 14"/>
                <p:cNvSpPr/>
                <p:nvPr/>
              </p:nvSpPr>
              <p:spPr bwMode="auto">
                <a:xfrm rot="16200000">
                  <a:off x="9618372" y="4473931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6" name="Hexagon 15"/>
                <p:cNvSpPr/>
                <p:nvPr/>
              </p:nvSpPr>
              <p:spPr bwMode="auto">
                <a:xfrm rot="16200000">
                  <a:off x="9104714" y="4475700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7" name="Hexagon 16"/>
                <p:cNvSpPr/>
                <p:nvPr/>
              </p:nvSpPr>
              <p:spPr bwMode="auto">
                <a:xfrm rot="16200000">
                  <a:off x="9360659" y="4025655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8" name="Hexagon 17"/>
                <p:cNvSpPr/>
                <p:nvPr/>
              </p:nvSpPr>
              <p:spPr bwMode="auto">
                <a:xfrm rot="16200000">
                  <a:off x="9362427" y="4923977"/>
                  <a:ext cx="597264" cy="514883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" name="Hexagon 18"/>
                <p:cNvSpPr/>
                <p:nvPr/>
              </p:nvSpPr>
              <p:spPr bwMode="auto">
                <a:xfrm rot="5400000" flipH="1">
                  <a:off x="10133800" y="4475837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" name="Hexagon 19"/>
                <p:cNvSpPr/>
                <p:nvPr/>
              </p:nvSpPr>
              <p:spPr bwMode="auto">
                <a:xfrm rot="5400000" flipH="1">
                  <a:off x="9875951" y="4025791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" name="Hexagon 20"/>
                <p:cNvSpPr/>
                <p:nvPr/>
              </p:nvSpPr>
              <p:spPr bwMode="auto">
                <a:xfrm rot="5400000" flipH="1">
                  <a:off x="9877993" y="4924113"/>
                  <a:ext cx="597264" cy="514882"/>
                </a:xfrm>
                <a:prstGeom prst="hexagon">
                  <a:avLst>
                    <a:gd name="adj" fmla="val 28303"/>
                    <a:gd name="vf" fmla="val 115470"/>
                  </a:avLst>
                </a:prstGeom>
                <a:grp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7" name="TextBox 6"/>
            <p:cNvSpPr txBox="1"/>
            <p:nvPr/>
          </p:nvSpPr>
          <p:spPr>
            <a:xfrm>
              <a:off x="3514199" y="5648960"/>
              <a:ext cx="40341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Spontaneous electron-ion par creation </a:t>
              </a:r>
              <a:endParaRPr lang="ru-RU" sz="1600" dirty="0" err="1" smtClean="0">
                <a:latin typeface="+mj-lt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614385" y="3180080"/>
            <a:ext cx="347980" cy="214674"/>
            <a:chOff x="4681220" y="3180080"/>
            <a:chExt cx="347980" cy="214674"/>
          </a:xfrm>
        </p:grpSpPr>
        <p:sp>
          <p:nvSpPr>
            <p:cNvPr id="63" name="Rectangle 62"/>
            <p:cNvSpPr/>
            <p:nvPr/>
          </p:nvSpPr>
          <p:spPr bwMode="auto">
            <a:xfrm rot="19871626">
              <a:off x="4818380" y="3215641"/>
              <a:ext cx="210820" cy="45719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4681220" y="3241040"/>
              <a:ext cx="165100" cy="153714"/>
            </a:xfrm>
            <a:prstGeom prst="ellipse">
              <a:avLst/>
            </a:prstGeom>
            <a:solidFill>
              <a:srgbClr val="FF33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 flipH="1">
              <a:off x="4940300" y="3180080"/>
              <a:ext cx="78740" cy="5334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71" name="Oval 70"/>
          <p:cNvSpPr/>
          <p:nvPr/>
        </p:nvSpPr>
        <p:spPr bwMode="auto">
          <a:xfrm>
            <a:off x="3714080" y="3228625"/>
            <a:ext cx="86360" cy="80404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72" name="Explosion 2 71"/>
          <p:cNvSpPr/>
          <p:nvPr/>
        </p:nvSpPr>
        <p:spPr bwMode="auto">
          <a:xfrm>
            <a:off x="3518500" y="3103245"/>
            <a:ext cx="422910" cy="394335"/>
          </a:xfrm>
          <a:prstGeom prst="irregularSeal2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73" name="Explosion 2 72"/>
          <p:cNvSpPr/>
          <p:nvPr/>
        </p:nvSpPr>
        <p:spPr bwMode="auto">
          <a:xfrm>
            <a:off x="3520406" y="3112210"/>
            <a:ext cx="422910" cy="394335"/>
          </a:xfrm>
          <a:prstGeom prst="irregularSeal2">
            <a:avLst/>
          </a:prstGeom>
          <a:solidFill>
            <a:srgbClr val="00B05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75" name="Content Placeholder 2"/>
          <p:cNvSpPr>
            <a:spLocks noGrp="1"/>
          </p:cNvSpPr>
          <p:nvPr>
            <p:ph idx="1"/>
          </p:nvPr>
        </p:nvSpPr>
        <p:spPr>
          <a:xfrm>
            <a:off x="415571" y="1045022"/>
            <a:ext cx="8464868" cy="963246"/>
          </a:xfrm>
        </p:spPr>
        <p:txBody>
          <a:bodyPr/>
          <a:lstStyle/>
          <a:p>
            <a:pPr marL="233363" indent="-233363">
              <a:buFont typeface="Arial" pitchFamily="34" charset="0"/>
              <a:buChar char="•"/>
            </a:pPr>
            <a:r>
              <a:rPr lang="en-US" sz="2000" b="1" dirty="0" smtClean="0"/>
              <a:t>Pure silicon is a semiconductor</a:t>
            </a:r>
            <a:r>
              <a:rPr lang="en-US" sz="2000" dirty="0" smtClean="0"/>
              <a:t>: is doesn’t conduct strong electrical current, because it has few free charge carriers</a:t>
            </a:r>
            <a:endParaRPr lang="ru-RU" sz="2000" dirty="0" smtClean="0"/>
          </a:p>
        </p:txBody>
      </p:sp>
      <p:sp>
        <p:nvSpPr>
          <p:cNvPr id="68" name="Content Placeholder 2"/>
          <p:cNvSpPr txBox="1">
            <a:spLocks/>
          </p:cNvSpPr>
          <p:nvPr/>
        </p:nvSpPr>
        <p:spPr bwMode="auto">
          <a:xfrm>
            <a:off x="411591" y="5989213"/>
            <a:ext cx="8464868" cy="963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+mj-lt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+mj-lt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+mj-lt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+mj-lt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+mj-lt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33363" indent="-233363">
              <a:buFont typeface="Arial" pitchFamily="34" charset="0"/>
              <a:buChar char="•"/>
            </a:pPr>
            <a:r>
              <a:rPr lang="en-US" sz="2000" b="1" kern="0" dirty="0" smtClean="0"/>
              <a:t>Silicon oxide (SiO</a:t>
            </a:r>
            <a:r>
              <a:rPr lang="en-US" sz="2000" b="1" kern="0" baseline="-25000" dirty="0" smtClean="0"/>
              <a:t>2</a:t>
            </a:r>
            <a:r>
              <a:rPr lang="en-US" sz="2000" b="1" kern="0" dirty="0" smtClean="0"/>
              <a:t>) is an insulator</a:t>
            </a:r>
            <a:r>
              <a:rPr lang="en-US" sz="2000" kern="0" dirty="0" smtClean="0"/>
              <a:t>: sand doesn’t conduct any electrical current.</a:t>
            </a:r>
            <a:endParaRPr lang="ru-RU" sz="2000" kern="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2422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51 -0.01018 C 0.0073 -0.01551 0.00782 -0.01319 0.00695 -0.0169 C 0.0066 -0.01852 0.00469 -0.0213 0.00469 -0.02106 C 0.0033 -0.02731 -0.00191 -0.03495 -0.0059 -0.03843 C -0.01024 -0.04213 -0.00763 -0.04074 -0.01093 -0.04213 C -0.01197 -0.04259 -0.01423 -0.04352 -0.01423 -0.04329 C -0.01892 -0.05093 -0.03142 -0.04931 -0.03593 -0.04143 C -0.04027 -0.0338 -0.03628 -0.03935 -0.03923 -0.03542 C -0.04045 -0.03171 -0.04253 -0.02801 -0.04479 -0.025 C -0.04548 -0.02199 -0.04618 -0.01898 -0.04704 -0.0162 C -0.04774 -0.00532 -0.05225 0.01343 -0.04583 0.02083 C -0.04531 0.02431 -0.04513 0.02593 -0.04305 0.02824 C -0.04079 0.03796 -0.03368 0.04583 -0.02812 0.05185 C -0.02604 0.05394 -0.02447 0.05671 -0.02204 0.05787 C -0.02048 0.05972 -0.0184 0.06134 -0.01649 0.06227 C -0.01458 0.06482 -0.01215 0.06505 -0.00972 0.06597 C -0.00468 0.06782 -0.00052 0.07083 0.00469 0.07199 C 0.01511 0.07153 0.02553 0.07199 0.03525 0.06667 C 0.04011 0.06088 0.04584 0.05694 0.05018 0.05046 C 0.05035 0.04977 0.05053 0.04884 0.05087 0.04815 C 0.05122 0.04745 0.05209 0.04745 0.05243 0.04676 C 0.05521 0.04074 0.05469 0.03125 0.05921 0.02523 C 0.0599 0.02107 0.06059 0.0169 0.0625 0.01343 C 0.06389 -0.00301 0.06268 -0.01806 0.05921 -0.03333 C 0.05799 -0.03866 0.05487 -0.04398 0.05243 -0.04815 C 0.05122 -0.05023 0.04914 -0.05463 0.04914 -0.0544 C 0.04827 -0.0588 0.0474 -0.06412 0.04532 -0.06736 C 0.04323 -0.08079 0.04341 -0.10393 0.05573 -0.10949 C 0.05747 -0.11273 0.06112 -0.11389 0.06407 -0.11481 C 0.06598 -0.11551 0.06962 -0.1162 0.06962 -0.11597 C 0.07466 -0.11574 0.07691 -0.11505 0.08143 -0.11389 C 0.0849 -0.11088 0.08803 -0.10602 0.09184 -0.1044 C 0.09219 -0.10393 0.09254 -0.10324 0.09306 -0.10278 C 0.09358 -0.10231 0.09428 -0.10255 0.09462 -0.10208 C 0.09549 -0.10116 0.09688 -0.09838 0.09688 -0.09815 C 0.09705 -0.09768 0.09705 -0.09699 0.0974 -0.0963 C 0.09775 -0.0956 0.09844 -0.09537 0.09862 -0.09468 C 0.09983 -0.09167 0.10018 -0.08681 0.10087 -0.08356 C 0.10053 -0.0794 0.10122 -0.07477 0.09966 -0.07106 C 0.09601 -0.0625 0.08855 -0.06018 0.08195 -0.05833 C 0.07761 -0.05856 0.07344 -0.0588 0.0691 -0.05926 C 0.06094 -0.06018 0.05539 -0.07153 0.05018 -0.07847 C 0.04948 -0.08102 0.04879 -0.08194 0.0474 -0.08356 C 0.04653 -0.08704 0.04532 -0.08889 0.04306 -0.09097 C 0.04289 -0.09167 0.04289 -0.09282 0.04254 -0.09329 C 0.04219 -0.09375 0.04132 -0.09352 0.0408 -0.09398 C 0.03803 -0.09606 0.03542 -0.10023 0.03247 -0.10139 C 0.02848 -0.10671 0.02014 -0.1081 0.01476 -0.1088 C 0.00348 -0.11227 -0.00642 -0.1081 -0.01701 -0.10579 C -0.01979 -0.10463 -0.02257 -0.10324 -0.02534 -0.10208 C -0.02812 -0.09977 -0.03159 -0.09792 -0.03472 -0.09699 C -0.03715 -0.09375 -0.04079 -0.0919 -0.04357 -0.08889 C -0.04548 -0.08681 -0.04652 -0.0838 -0.04809 -0.08148 C -0.04947 -0.0794 -0.05121 -0.07801 -0.0526 -0.07616 C -0.05382 -0.0713 -0.05694 -0.06782 -0.0592 -0.06366 C -0.06024 -0.06181 -0.0625 -0.05833 -0.0625 -0.0581 C -0.06336 -0.05463 -0.06597 -0.05208 -0.06753 -0.04884 C -0.06944 -0.04051 -0.06632 -0.05278 -0.06927 -0.04444 C -0.07083 -0.03981 -0.07118 -0.03356 -0.07204 -0.0287 C -0.07291 -0.01366 -0.0743 0.00069 -0.07204 0.01574 C -0.07135 0.02083 -0.07118 0.02894 -0.06805 0.03264 C -0.06684 0.03958 -0.06458 0.04375 -0.06197 0.04977 C -0.06111 0.0544 -0.05902 0.05995 -0.05694 0.06389 C -0.05572 0.06898 -0.05277 0.07245 -0.05034 0.07639 C -0.0434 0.0875 -0.03507 0.09954 -0.02413 0.10301 C -0.02118 0.10602 -0.01736 0.10671 -0.01371 0.10741 C -0.00902 0.10995 -0.00364 0.11042 0.00139 0.11111 C 0.01094 0.11435 0.02066 0.11111 0.03021 0.10972 C 0.03247 0.10903 0.03473 0.10903 0.03698 0.10833 C 0.04202 0.10648 0.0474 0.10324 0.05243 0.10093 C 0.05608 0.09769 0.06615 0.0956 0.07084 0.09421 C 0.08195 0.09468 0.08577 0.09468 0.09462 0.0963 C 0.09688 0.09838 0.09566 0.09769 0.09809 0.09861 C 0.09914 0.09907 0.10139 0.1 0.10139 0.10023 C 0.10348 0.10208 0.10573 0.10278 0.10799 0.10463 C 0.1099 0.10625 0.10955 0.1081 0.11198 0.10903 C 0.11684 0.11343 0.12084 0.11944 0.12466 0.12523 C 0.12587 0.12708 0.12761 0.12847 0.12865 0.13056 C 0.13143 0.13588 0.13455 0.14167 0.13855 0.14537 C 0.14115 0.14769 0.14514 0.14884 0.14809 0.15046 C 0.15 0.15162 0.15417 0.15278 0.15417 0.15301 C 0.16684 0.15162 0.18039 0.14931 0.18803 0.13426 C 0.18907 0.13009 0.19011 0.12593 0.1908 0.12153 C 0.19046 0.10556 0.19254 0.1 0.1875 0.08982 C 0.18612 0.08357 0.17848 0.07477 0.17414 0.07199 C 0.17292 0.07014 0.17223 0.06921 0.17032 0.06829 C 0.16823 0.06551 0.16962 0.0669 0.1658 0.06528 C 0.16528 0.06505 0.16407 0.06458 0.16407 0.06482 C 0.16112 0.06019 0.15556 0.06065 0.15191 0.05787 C 0.14879 0.05532 0.14601 0.05139 0.14254 0.04977 C 0.14115 0.04722 0.14028 0.0463 0.13803 0.04537 C 0.13577 0.0419 0.13282 0.03912 0.13073 0.03565 C 0.12952 0.03357 0.12917 0.03102 0.12796 0.02894 C 0.12743 0.02523 0.12674 0.02153 0.12587 0.01782 C 0.12605 0.0125 0.125 -0.00255 0.12865 -0.00741 C 0.12934 -0.01273 0.13056 -0.01458 0.13299 -0.01921 C 0.13368 -0.0206 0.13577 -0.02222 0.13577 -0.02199 C 0.1375 -0.0294 0.13455 -0.01944 0.13803 -0.025 C 0.13855 -0.02569 0.1382 -0.02708 0.13855 -0.02801 C 0.13941 -0.03056 0.14497 -0.03472 0.14688 -0.03542 C 0.14896 -0.03819 0.15278 -0.03843 0.15573 -0.03912 C 0.15816 -0.03889 0.16059 -0.03889 0.16303 -0.03843 C 0.16459 -0.03819 0.16754 -0.03704 0.16754 -0.03681 C 0.1698 -0.03472 0.17205 -0.03495 0.17466 -0.03333 C 0.17657 -0.03218 0.17813 -0.03056 0.18021 -0.02963 C 0.18178 -0.02755 0.18421 -0.02523 0.18629 -0.02431 C 0.18959 -0.0206 0.19462 -0.01875 0.1974 -0.01389 C 0.19775 -0.01319 0.19827 -0.0125 0.19862 -0.01181 C 0.19896 -0.01111 0.19931 -0.01018 0.19966 -0.00949 C 0.20035 -0.0081 0.20191 -0.00579 0.20191 -0.00556 C 0.20243 -0.00347 0.20365 -0.00231 0.20417 -3.7037E-7 C 0.20452 0.00162 0.20521 0.00463 0.20521 0.00486 C 0.20504 0.01458 0.20591 0.02732 0.20139 0.03634 C 0.20053 0.04005 0.19827 0.04236 0.19636 0.04537 C 0.19566 0.04815 0.19462 0.04884 0.19254 0.04977 C 0.1908 0.05185 0.18855 0.05255 0.18629 0.05347 C 0.17362 0.06482 0.15608 0.05764 0.1408 0.05787 C 0.13612 0.05857 0.1316 0.06019 0.12691 0.06088 C 0.12431 0.06181 0.11598 0.06944 0.11407 0.07269 C 0.1132 0.07407 0.11285 0.07593 0.11198 0.07708 C 0.1099 0.07986 0.11094 0.07824 0.10851 0.0831 C 0.10816 0.0838 0.10747 0.08519 0.10747 0.08542 C 0.10643 0.08982 0.10556 0.09444 0.10365 0.09861 C 0.104 0.11921 0.1007 0.13403 0.11198 0.14676 C 0.1125 0.14931 0.12066 0.16019 0.1224 0.16088 C 0.12431 0.16435 0.12587 0.16736 0.12865 0.16968 C 0.13021 0.17292 0.13195 0.17755 0.13421 0.18009 C 0.13507 0.18519 0.13716 0.18982 0.13803 0.19491 C 0.1375 0.20579 0.13872 0.20579 0.13473 0.21204 C 0.13334 0.21736 0.12622 0.22269 0.1224 0.22384 C 0.11997 0.22454 0.11528 0.22593 0.11528 0.22616 C 0.10816 0.22546 0.10469 0.22546 0.09862 0.22384 C 0.09601 0.22315 0.09757 0.22315 0.09462 0.22153 C 0.09358 0.22107 0.09132 0.22014 0.09132 0.22037 C 0.09011 0.21829 0.08907 0.21713 0.0875 0.21574 C 0.08559 0.21204 0.08421 0.20833 0.08247 0.20463 C 0.08091 0.19583 0.08004 0.18426 0.08629 0.1787 C 0.08941 0.17292 0.09289 0.17153 0.09809 0.17037 C 0.13299 0.1713 0.13542 0.17199 0.16806 0.17037 C 0.17431 0.17014 0.18073 0.1669 0.18698 0.16597 C 0.19167 0.16273 0.19705 0.16204 0.20191 0.15857 C 0.20018 0.16111 0.2007 0.15995 0.20243 0.15926 C 0.20382 0.1588 0.20504 0.15833 0.20643 0.15787 C 0.20955 0.15324 0.21337 0.15046 0.21754 0.14815 C 0.21893 0.14537 0.22553 0.13935 0.22796 0.13704 C 0.229 0.13611 0.23056 0.13565 0.23143 0.13426 C 0.23473 0.12917 0.2375 0.12361 0.2408 0.11852 C 0.24219 0.11296 0.24028 0.11968 0.24254 0.11482 C 0.24375 0.11227 0.2441 0.1088 0.24532 0.10602 C 0.24601 0.1044 0.2474 0.10162 0.2474 0.10185 C 0.24827 0.09769 0.24966 0.09352 0.25087 0.08982 C 0.25139 0.07732 0.25296 0.06528 0.25417 0.05278 C 0.25382 0.04421 0.2533 0.03588 0.25191 0.02755 C 0.25139 0.01968 0.24914 0.00463 0.24584 -0.00208 C 0.24532 -0.00532 0.2441 -0.00926 0.24184 -0.01018 C 0.2408 -0.01481 0.23803 -0.01829 0.23577 -0.02222 C 0.23264 -0.02778 0.22969 -0.03565 0.22518 -0.03912 C 0.22362 -0.04282 0.21945 -0.04768 0.21632 -0.04884 C 0.21476 -0.05023 0.21389 -0.05324 0.21198 -0.05393 C 0.20782 -0.05556 0.20417 -0.0588 0.20018 -0.06065 C 0.19584 -0.06273 0.1908 -0.06319 0.18629 -0.06366 C 0.17657 -0.06319 0.17362 -0.06273 0.1658 -0.06134 C 0.16389 -0.06065 0.16303 -0.05949 0.16129 -0.05833 C 0.16025 -0.05764 0.15799 -0.05694 0.15799 -0.05671 C 0.15591 -0.05509 0.15382 -0.0544 0.15139 -0.05324 C 0.14983 -0.05139 0.14775 -0.04977 0.14584 -0.04884 C 0.14358 -0.04583 0.13941 -0.04028 0.13629 -0.03912 C 0.13316 -0.03495 0.129 -0.02893 0.12466 -0.02731 C 0.12292 -0.02477 0.12066 -0.02245 0.1191 -0.01991 C 0.11493 -0.01319 0.11164 -0.00579 0.10747 0.00093 C 0.104 0.00671 0.10018 0.0169 0.09584 0.02083 C 0.0948 0.02708 0.09028 0.0331 0.08698 0.03796 C 0.08542 0.04398 0.0823 0.04815 0.07917 0.05278 C 0.07796 0.05741 0.07518 0.06088 0.07362 0.06528 C 0.07223 0.06944 0.07136 0.07384 0.06962 0.07778 C 0.06893 0.08241 0.06823 0.08681 0.0658 0.09051 C 0.06476 0.09676 0.06077 0.11134 0.05747 0.11574 C 0.05678 0.11875 0.05625 0.1213 0.05469 0.12384 C 0.054 0.12824 0.05261 0.13102 0.05018 0.13426 C 0.04757 0.14444 0.03559 0.15648 0.02865 0.16088 C 0.02657 0.16227 0.02362 0.16482 0.02136 0.16528 C 0.01945 0.16574 0.0158 0.16667 0.0158 0.1669 C 0.00053 0.1662 -0.00225 0.1662 -0.01371 0.16157 C -0.01527 0.16019 -0.01684 0.15926 -0.01857 0.15857 C -0.02013 0.15694 -0.02222 0.15579 -0.02413 0.15486 C -0.02517 0.15417 -0.0276 0.15347 -0.0276 0.1537 C -0.02916 0.15116 -0.03107 0.14838 -0.03316 0.14676 C -0.03559 0.14167 -0.0342 0.14329 -0.03697 0.14074 C -0.03871 0.13727 -0.04079 0.13472 -0.04253 0.13125 C -0.0427 0.13056 -0.0427 0.12963 -0.04305 0.12894 C -0.0434 0.12824 -0.04444 0.12824 -0.04479 0.12755 C -0.04618 0.12431 -0.04566 0.12153 -0.04757 0.11782 C -0.04913 0.11134 -0.05069 0.1037 -0.05364 0.09792 C -0.05451 0.09375 -0.05572 0.08958 -0.05642 0.08519 C -0.05607 0.07662 -0.05694 0.05857 -0.05138 0.05116 C -0.05052 0.04745 -0.04791 0.04491 -0.04635 0.04167 C -0.04305 0.03495 -0.03836 0.02685 -0.03246 0.02454 C -0.02951 0.02199 -0.02673 0.02107 -0.02361 0.01944 C -0.02187 0.01852 -0.01857 0.01713 -0.01857 0.01736 C -0.01614 0.01505 -0.01267 0.01273 -0.00972 0.01273 " pathEditMode="relative" rAng="0" ptsTypes="fffffffffffffffffffffffffffffffffffffffffffffffffffffffffffffffffffffffffffffffffffffffffffffffffffffffffffffffffffffffffffffffffffffffffffffffffffffffffffffffffffffffffffffffffffffffffffffffffffffffA">
                                      <p:cBhvr>
                                        <p:cTn id="19" dur="1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00" y="6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  <p:bldP spid="71" grpId="2" animBg="1"/>
      <p:bldP spid="72" grpId="0" animBg="1"/>
      <p:bldP spid="72" grpId="1" animBg="1"/>
      <p:bldP spid="73" grpId="0" animBg="1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" y="538479"/>
            <a:ext cx="8056880" cy="5247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6" name="Group 65"/>
          <p:cNvGrpSpPr/>
          <p:nvPr/>
        </p:nvGrpSpPr>
        <p:grpSpPr>
          <a:xfrm>
            <a:off x="441960" y="769620"/>
            <a:ext cx="8351520" cy="5097780"/>
            <a:chOff x="441960" y="769620"/>
            <a:chExt cx="8351520" cy="5097780"/>
          </a:xfrm>
        </p:grpSpPr>
        <p:sp>
          <p:nvSpPr>
            <p:cNvPr id="62" name="Rectangle 61"/>
            <p:cNvSpPr/>
            <p:nvPr/>
          </p:nvSpPr>
          <p:spPr bwMode="auto">
            <a:xfrm>
              <a:off x="441960" y="792480"/>
              <a:ext cx="6065520" cy="507492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6461760" y="2522220"/>
              <a:ext cx="2331720" cy="334518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6858000" y="769620"/>
              <a:ext cx="1935480" cy="17526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461760" y="784860"/>
              <a:ext cx="441960" cy="127254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76819" t="28993" r="17960" b="62179"/>
          <a:stretch/>
        </p:blipFill>
        <p:spPr bwMode="auto">
          <a:xfrm>
            <a:off x="6903720" y="2057400"/>
            <a:ext cx="420624" cy="46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auto">
          <a:xfrm>
            <a:off x="524741" y="1021080"/>
            <a:ext cx="4608272" cy="4772592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13" name="Group 225"/>
          <p:cNvGrpSpPr/>
          <p:nvPr/>
        </p:nvGrpSpPr>
        <p:grpSpPr>
          <a:xfrm>
            <a:off x="850264" y="1532523"/>
            <a:ext cx="4117417" cy="3737876"/>
            <a:chOff x="9171304" y="3509010"/>
            <a:chExt cx="4117417" cy="3737876"/>
          </a:xfrm>
          <a:solidFill>
            <a:schemeClr val="bg1"/>
          </a:solidFill>
        </p:grpSpPr>
        <p:grpSp>
          <p:nvGrpSpPr>
            <p:cNvPr id="15" name="Group 176"/>
            <p:cNvGrpSpPr/>
            <p:nvPr/>
          </p:nvGrpSpPr>
          <p:grpSpPr>
            <a:xfrm>
              <a:off x="9171304" y="3964145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61" name="Hexagon 60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7" name="Hexagon 66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8" name="Hexagon 67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9" name="Hexagon 68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0" name="Hexagon 69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1" name="Hexagon 70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2" name="Hexagon 71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6" name="Group 177"/>
            <p:cNvGrpSpPr/>
            <p:nvPr/>
          </p:nvGrpSpPr>
          <p:grpSpPr>
            <a:xfrm>
              <a:off x="11489340" y="3511397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54" name="Hexagon 53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5" name="Hexagon 54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6" name="Hexagon 55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7" name="Hexagon 56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8" name="Hexagon 57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9" name="Hexagon 58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0" name="Hexagon 59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7" name="Group 185"/>
            <p:cNvGrpSpPr/>
            <p:nvPr/>
          </p:nvGrpSpPr>
          <p:grpSpPr>
            <a:xfrm>
              <a:off x="10456752" y="4409734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47" name="Hexagon 46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8" name="Hexagon 47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9" name="Hexagon 48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0" name="Hexagon 49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1" name="Hexagon 50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2" name="Hexagon 51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3" name="Hexagon 52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8" name="Group 193"/>
            <p:cNvGrpSpPr/>
            <p:nvPr/>
          </p:nvGrpSpPr>
          <p:grpSpPr>
            <a:xfrm>
              <a:off x="10200263" y="3509010"/>
              <a:ext cx="1288162" cy="1047445"/>
              <a:chOff x="9145904" y="4432741"/>
              <a:chExt cx="1288162" cy="1047445"/>
            </a:xfrm>
            <a:grpFill/>
          </p:grpSpPr>
          <p:sp>
            <p:nvSpPr>
              <p:cNvPr id="43" name="Hexagon 42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4" name="Hexagon 43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5" name="Hexagon 44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6" name="Hexagon 45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" name="Group 201"/>
            <p:cNvGrpSpPr/>
            <p:nvPr/>
          </p:nvGrpSpPr>
          <p:grpSpPr>
            <a:xfrm>
              <a:off x="10720044" y="5751165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36" name="Hexagon 35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7" name="Hexagon 36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8" name="Hexagon 37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9" name="Hexagon 38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0" name="Hexagon 39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1" name="Hexagon 40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2" name="Hexagon 41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" name="Group 209"/>
            <p:cNvGrpSpPr/>
            <p:nvPr/>
          </p:nvGrpSpPr>
          <p:grpSpPr>
            <a:xfrm>
              <a:off x="9432043" y="5311479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29" name="Hexagon 28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0" name="Hexagon 29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1" name="Hexagon 30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2" name="Hexagon 31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3" name="Hexagon 32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4" name="Hexagon 33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5" name="Hexagon 34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1" name="Group 217"/>
            <p:cNvGrpSpPr/>
            <p:nvPr/>
          </p:nvGrpSpPr>
          <p:grpSpPr>
            <a:xfrm>
              <a:off x="11744752" y="4856255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22" name="Hexagon 21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3" name="Hexagon 22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4" name="Hexagon 23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5" name="Hexagon 24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6" name="Hexagon 25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7" name="Hexagon 26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8" name="Hexagon 27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992543" y="5359637"/>
            <a:ext cx="4034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Neo Sans Intel" pitchFamily="34" charset="0"/>
              </a:rPr>
              <a:t>N</a:t>
            </a:r>
            <a:r>
              <a:rPr lang="en-US" sz="1600" dirty="0" smtClean="0">
                <a:latin typeface="Neo Sans Intel" pitchFamily="34" charset="0"/>
              </a:rPr>
              <a:t>-type semiconductor (Si doped by P atoms)</a:t>
            </a:r>
            <a:endParaRPr lang="ru-RU" sz="1600" dirty="0" err="1" smtClean="0">
              <a:latin typeface="+mn-lt"/>
            </a:endParaRPr>
          </a:p>
        </p:txBody>
      </p:sp>
      <p:grpSp>
        <p:nvGrpSpPr>
          <p:cNvPr id="2051" name="Group 2050"/>
          <p:cNvGrpSpPr/>
          <p:nvPr/>
        </p:nvGrpSpPr>
        <p:grpSpPr>
          <a:xfrm rot="14342894">
            <a:off x="1608213" y="3806391"/>
            <a:ext cx="563870" cy="597264"/>
            <a:chOff x="555836" y="1513617"/>
            <a:chExt cx="563870" cy="597264"/>
          </a:xfrm>
        </p:grpSpPr>
        <p:sp>
          <p:nvSpPr>
            <p:cNvPr id="2049" name="Rectangle 2048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2048" name="Group 2047"/>
            <p:cNvGrpSpPr/>
            <p:nvPr/>
          </p:nvGrpSpPr>
          <p:grpSpPr>
            <a:xfrm>
              <a:off x="559931" y="1513617"/>
              <a:ext cx="559775" cy="597264"/>
              <a:chOff x="559931" y="1513617"/>
              <a:chExt cx="559775" cy="597264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73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" name="Rectangle 2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5" name="Straight Connector 4"/>
                <p:cNvCxnSpPr>
                  <a:stCxn id="3" idx="0"/>
                  <a:endCxn id="73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" name="Oval 7"/>
              <p:cNvSpPr/>
              <p:nvPr/>
            </p:nvSpPr>
            <p:spPr bwMode="auto">
              <a:xfrm>
                <a:off x="559931" y="1926898"/>
                <a:ext cx="91751" cy="91751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0" name="Group 89"/>
          <p:cNvGrpSpPr/>
          <p:nvPr/>
        </p:nvGrpSpPr>
        <p:grpSpPr>
          <a:xfrm>
            <a:off x="2866195" y="2437729"/>
            <a:ext cx="563870" cy="597264"/>
            <a:chOff x="555836" y="1513617"/>
            <a:chExt cx="563870" cy="597264"/>
          </a:xfrm>
        </p:grpSpPr>
        <p:sp>
          <p:nvSpPr>
            <p:cNvPr id="91" name="Rectangle 90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559931" y="1513617"/>
              <a:ext cx="559775" cy="597264"/>
              <a:chOff x="559931" y="1513617"/>
              <a:chExt cx="559775" cy="597264"/>
            </a:xfrm>
          </p:grpSpPr>
          <p:grpSp>
            <p:nvGrpSpPr>
              <p:cNvPr id="93" name="Group 92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95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6" name="Rectangle 95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97" name="Straight Connector 96"/>
                <p:cNvCxnSpPr>
                  <a:stCxn id="96" idx="0"/>
                  <a:endCxn id="95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94" name="Oval 93"/>
              <p:cNvSpPr/>
              <p:nvPr/>
            </p:nvSpPr>
            <p:spPr bwMode="auto">
              <a:xfrm>
                <a:off x="559931" y="1926898"/>
                <a:ext cx="91751" cy="91751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 rot="7141084">
            <a:off x="3667669" y="3760403"/>
            <a:ext cx="563870" cy="597264"/>
            <a:chOff x="555836" y="1513617"/>
            <a:chExt cx="563870" cy="597264"/>
          </a:xfrm>
        </p:grpSpPr>
        <p:sp>
          <p:nvSpPr>
            <p:cNvPr id="99" name="Rectangle 98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559931" y="1513617"/>
              <a:ext cx="559775" cy="597264"/>
              <a:chOff x="559931" y="1513617"/>
              <a:chExt cx="559775" cy="597264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103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" name="Rectangle 103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05" name="Straight Connector 104"/>
                <p:cNvCxnSpPr>
                  <a:stCxn id="104" idx="0"/>
                  <a:endCxn id="103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2" name="Oval 101"/>
              <p:cNvSpPr/>
              <p:nvPr/>
            </p:nvSpPr>
            <p:spPr bwMode="auto">
              <a:xfrm>
                <a:off x="559931" y="1926898"/>
                <a:ext cx="91751" cy="91751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06" name="TextBox 105"/>
          <p:cNvSpPr txBox="1"/>
          <p:nvPr/>
        </p:nvSpPr>
        <p:spPr>
          <a:xfrm>
            <a:off x="2581457" y="260205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Neo Sans Intel Medium" panose="020B0604020202020204" pitchFamily="34" charset="0"/>
              </a:rPr>
              <a:t>P</a:t>
            </a:r>
            <a:endParaRPr lang="ru-RU" dirty="0" err="1" smtClean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631916" y="350068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Neo Sans Intel Medium" panose="020B0604020202020204" pitchFamily="34" charset="0"/>
              </a:rPr>
              <a:t>P</a:t>
            </a:r>
            <a:endParaRPr lang="ru-RU" dirty="0" err="1" smtClean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145971" y="391930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Neo Sans Intel Medium" panose="020B0604020202020204" pitchFamily="34" charset="0"/>
              </a:rPr>
              <a:t>P</a:t>
            </a:r>
            <a:endParaRPr lang="ru-RU" dirty="0" err="1" smtClean="0">
              <a:solidFill>
                <a:srgbClr val="7030A0"/>
              </a:solidFill>
              <a:latin typeface="+mn-lt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2822534" y="2439095"/>
            <a:ext cx="602448" cy="597264"/>
            <a:chOff x="517258" y="1513617"/>
            <a:chExt cx="602448" cy="597264"/>
          </a:xfrm>
        </p:grpSpPr>
        <p:sp>
          <p:nvSpPr>
            <p:cNvPr id="110" name="Rectangle 109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111" name="Group 110"/>
            <p:cNvGrpSpPr/>
            <p:nvPr/>
          </p:nvGrpSpPr>
          <p:grpSpPr>
            <a:xfrm>
              <a:off x="517258" y="1513617"/>
              <a:ext cx="602448" cy="597264"/>
              <a:chOff x="517258" y="1513617"/>
              <a:chExt cx="602448" cy="597264"/>
            </a:xfrm>
          </p:grpSpPr>
          <p:grpSp>
            <p:nvGrpSpPr>
              <p:cNvPr id="112" name="Group 111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114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15" name="Rectangle 114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16" name="Straight Connector 115"/>
                <p:cNvCxnSpPr>
                  <a:stCxn id="115" idx="0"/>
                  <a:endCxn id="114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13" name="Oval 112"/>
              <p:cNvSpPr/>
              <p:nvPr/>
            </p:nvSpPr>
            <p:spPr bwMode="auto">
              <a:xfrm>
                <a:off x="517258" y="1853745"/>
                <a:ext cx="182880" cy="182880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solidFill>
                      <a:srgbClr val="FF0000"/>
                    </a:solidFill>
                    <a:latin typeface="Neo Sans Intel" pitchFamily="34" charset="0"/>
                    <a:cs typeface="Arial" pitchFamily="34" charset="0"/>
                  </a:rPr>
                  <a:t>+</a:t>
                </a:r>
                <a:endParaRPr lang="ru-RU" sz="2000" b="1" dirty="0" smtClean="0">
                  <a:solidFill>
                    <a:srgbClr val="FF0000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4" name="Oval 3"/>
          <p:cNvSpPr/>
          <p:nvPr/>
        </p:nvSpPr>
        <p:spPr bwMode="auto">
          <a:xfrm>
            <a:off x="2637333" y="2723381"/>
            <a:ext cx="91440" cy="91440"/>
          </a:xfrm>
          <a:prstGeom prst="ellipse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Neo Sans Intel" pitchFamily="34" charset="0"/>
                <a:cs typeface="Arial" pitchFamily="34" charset="0"/>
              </a:rPr>
              <a:t>-</a:t>
            </a:r>
            <a:endParaRPr lang="ru-RU" sz="2000" b="1" dirty="0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117" name="Group 116"/>
          <p:cNvGrpSpPr/>
          <p:nvPr/>
        </p:nvGrpSpPr>
        <p:grpSpPr>
          <a:xfrm>
            <a:off x="5219651" y="3447994"/>
            <a:ext cx="3759431" cy="657913"/>
            <a:chOff x="2798016" y="835151"/>
            <a:chExt cx="3759431" cy="657913"/>
          </a:xfrm>
        </p:grpSpPr>
        <p:grpSp>
          <p:nvGrpSpPr>
            <p:cNvPr id="118" name="Group 117"/>
            <p:cNvGrpSpPr/>
            <p:nvPr/>
          </p:nvGrpSpPr>
          <p:grpSpPr>
            <a:xfrm>
              <a:off x="3686556" y="835151"/>
              <a:ext cx="2870891" cy="562865"/>
              <a:chOff x="3686556" y="835151"/>
              <a:chExt cx="2870891" cy="562865"/>
            </a:xfrm>
          </p:grpSpPr>
          <p:grpSp>
            <p:nvGrpSpPr>
              <p:cNvPr id="120" name="Group 119"/>
              <p:cNvGrpSpPr/>
              <p:nvPr/>
            </p:nvGrpSpPr>
            <p:grpSpPr>
              <a:xfrm>
                <a:off x="3686556" y="835152"/>
                <a:ext cx="406843" cy="561848"/>
                <a:chOff x="3686556" y="835152"/>
                <a:chExt cx="406843" cy="561848"/>
              </a:xfrm>
            </p:grpSpPr>
            <p:sp>
              <p:nvSpPr>
                <p:cNvPr id="137" name="Rectangle 136"/>
                <p:cNvSpPr/>
                <p:nvPr/>
              </p:nvSpPr>
              <p:spPr bwMode="auto">
                <a:xfrm>
                  <a:off x="374142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/>
                    <p:cNvSpPr txBox="1"/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38" name="TextBox 13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l="-11940" t="-4444" r="-5970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1" name="Group 120"/>
              <p:cNvGrpSpPr/>
              <p:nvPr/>
            </p:nvGrpSpPr>
            <p:grpSpPr>
              <a:xfrm>
                <a:off x="4158996" y="835152"/>
                <a:ext cx="406843" cy="561848"/>
                <a:chOff x="4091940" y="835152"/>
                <a:chExt cx="406843" cy="561848"/>
              </a:xfrm>
            </p:grpSpPr>
            <p:sp>
              <p:nvSpPr>
                <p:cNvPr id="135" name="Rectangle 134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35"/>
                    <p:cNvSpPr txBox="1"/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36" name="TextBox 1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7"/>
                      <a:stretch>
                        <a:fillRect l="-11940" t="-4444" r="-746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2" name="Group 121"/>
              <p:cNvGrpSpPr/>
              <p:nvPr/>
            </p:nvGrpSpPr>
            <p:grpSpPr>
              <a:xfrm>
                <a:off x="4553647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31" name="Rectangle 130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2" name="Rectangle 131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3" name="Rectangle 132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33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34" name="TextBox 13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 l="-17391" t="-4444" r="-5797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3" name="Group 122"/>
              <p:cNvGrpSpPr/>
              <p:nvPr/>
            </p:nvGrpSpPr>
            <p:grpSpPr>
              <a:xfrm>
                <a:off x="5457444" y="835152"/>
                <a:ext cx="406843" cy="561848"/>
                <a:chOff x="4091940" y="835152"/>
                <a:chExt cx="406843" cy="561848"/>
              </a:xfrm>
            </p:grpSpPr>
            <p:sp>
              <p:nvSpPr>
                <p:cNvPr id="129" name="Rectangle 128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0" name="TextBox 129"/>
                    <p:cNvSpPr txBox="1"/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30" name="TextBox 1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9"/>
                      <a:stretch>
                        <a:fillRect l="-11940" t="-4444" r="-746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4" name="Group 123"/>
              <p:cNvGrpSpPr/>
              <p:nvPr/>
            </p:nvGrpSpPr>
            <p:grpSpPr>
              <a:xfrm>
                <a:off x="5852095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25" name="Rectangle 124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6" name="Rectangle 125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7" name="Rectangle 126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28" name="TextBox 1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0"/>
                      <a:stretch>
                        <a:fillRect l="-17391" t="-4444" r="-5797" b="-3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19" name="TextBox 118"/>
            <p:cNvSpPr txBox="1"/>
            <p:nvPr/>
          </p:nvSpPr>
          <p:spPr>
            <a:xfrm>
              <a:off x="2798016" y="1092954"/>
              <a:ext cx="9204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n-lt"/>
                </a:rPr>
                <a:t>P (+15)</a:t>
              </a:r>
              <a:endParaRPr lang="ru-RU" sz="2000" dirty="0" err="1" smtClean="0">
                <a:latin typeface="+mn-lt"/>
              </a:endParaRPr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5169277" y="2788557"/>
            <a:ext cx="3789911" cy="657913"/>
            <a:chOff x="2767536" y="835151"/>
            <a:chExt cx="3789911" cy="657913"/>
          </a:xfrm>
        </p:grpSpPr>
        <p:grpSp>
          <p:nvGrpSpPr>
            <p:cNvPr id="141" name="Group 140"/>
            <p:cNvGrpSpPr/>
            <p:nvPr/>
          </p:nvGrpSpPr>
          <p:grpSpPr>
            <a:xfrm>
              <a:off x="3686556" y="835151"/>
              <a:ext cx="2870891" cy="562865"/>
              <a:chOff x="3686556" y="835151"/>
              <a:chExt cx="2870891" cy="562865"/>
            </a:xfrm>
          </p:grpSpPr>
          <p:grpSp>
            <p:nvGrpSpPr>
              <p:cNvPr id="143" name="Group 142"/>
              <p:cNvGrpSpPr/>
              <p:nvPr/>
            </p:nvGrpSpPr>
            <p:grpSpPr>
              <a:xfrm>
                <a:off x="3686556" y="835152"/>
                <a:ext cx="406843" cy="561848"/>
                <a:chOff x="3686556" y="835152"/>
                <a:chExt cx="406843" cy="561848"/>
              </a:xfrm>
            </p:grpSpPr>
            <p:sp>
              <p:nvSpPr>
                <p:cNvPr id="160" name="Rectangle 159"/>
                <p:cNvSpPr/>
                <p:nvPr/>
              </p:nvSpPr>
              <p:spPr bwMode="auto">
                <a:xfrm>
                  <a:off x="374142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1" name="TextBox 160"/>
                    <p:cNvSpPr txBox="1"/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61" name="TextBox 16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11"/>
                      <a:stretch>
                        <a:fillRect l="-13636" t="-4348" r="-757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4" name="Group 143"/>
              <p:cNvGrpSpPr/>
              <p:nvPr/>
            </p:nvGrpSpPr>
            <p:grpSpPr>
              <a:xfrm>
                <a:off x="4158996" y="835152"/>
                <a:ext cx="406843" cy="561848"/>
                <a:chOff x="4091940" y="835152"/>
                <a:chExt cx="406843" cy="561848"/>
              </a:xfrm>
            </p:grpSpPr>
            <p:sp>
              <p:nvSpPr>
                <p:cNvPr id="158" name="Rectangle 157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9" name="TextBox 158"/>
                    <p:cNvSpPr txBox="1"/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9" name="TextBox 15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12"/>
                      <a:stretch>
                        <a:fillRect l="-11940" t="-4348" r="-746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5" name="Group 144"/>
              <p:cNvGrpSpPr/>
              <p:nvPr/>
            </p:nvGrpSpPr>
            <p:grpSpPr>
              <a:xfrm>
                <a:off x="4553647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54" name="Rectangle 153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5" name="Rectangle 154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6" name="Rectangle 155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7" name="TextBox 15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3"/>
                      <a:stretch>
                        <a:fillRect l="-18841" t="-4348" r="-4348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6" name="Group 145"/>
              <p:cNvGrpSpPr/>
              <p:nvPr/>
            </p:nvGrpSpPr>
            <p:grpSpPr>
              <a:xfrm>
                <a:off x="5457444" y="835152"/>
                <a:ext cx="401905" cy="561848"/>
                <a:chOff x="4091940" y="835152"/>
                <a:chExt cx="401905" cy="561848"/>
              </a:xfrm>
            </p:grpSpPr>
            <p:sp>
              <p:nvSpPr>
                <p:cNvPr id="152" name="Rectangle 151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TextBox 152"/>
                    <p:cNvSpPr txBox="1"/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TextBox 15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blipFill rotWithShape="0">
                      <a:blip r:embed="rId14"/>
                      <a:stretch>
                        <a:fillRect l="-12121" t="-4348" r="-757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7" name="Group 146"/>
              <p:cNvGrpSpPr/>
              <p:nvPr/>
            </p:nvGrpSpPr>
            <p:grpSpPr>
              <a:xfrm>
                <a:off x="5852095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48" name="Rectangle 147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1" name="TextBox 150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1" name="TextBox 15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5"/>
                      <a:stretch>
                        <a:fillRect l="-18841" t="-4348" r="-4348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42" name="TextBox 141"/>
            <p:cNvSpPr txBox="1"/>
            <p:nvPr/>
          </p:nvSpPr>
          <p:spPr>
            <a:xfrm>
              <a:off x="2767536" y="1092954"/>
              <a:ext cx="9653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n-lt"/>
                </a:rPr>
                <a:t>Si (+14)</a:t>
              </a:r>
              <a:endParaRPr lang="ru-RU" sz="2000" dirty="0" err="1" smtClean="0">
                <a:latin typeface="+mn-lt"/>
              </a:endParaRP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3848694" y="3333175"/>
            <a:ext cx="602448" cy="597264"/>
            <a:chOff x="517258" y="1513617"/>
            <a:chExt cx="602448" cy="597264"/>
          </a:xfrm>
        </p:grpSpPr>
        <p:sp>
          <p:nvSpPr>
            <p:cNvPr id="163" name="Rectangle 162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164" name="Group 163"/>
            <p:cNvGrpSpPr/>
            <p:nvPr/>
          </p:nvGrpSpPr>
          <p:grpSpPr>
            <a:xfrm>
              <a:off x="517258" y="1513617"/>
              <a:ext cx="602448" cy="597264"/>
              <a:chOff x="517258" y="1513617"/>
              <a:chExt cx="602448" cy="597264"/>
            </a:xfrm>
          </p:grpSpPr>
          <p:grpSp>
            <p:nvGrpSpPr>
              <p:cNvPr id="165" name="Group 164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167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68" name="Rectangle 167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69" name="Straight Connector 168"/>
                <p:cNvCxnSpPr>
                  <a:stCxn id="168" idx="0"/>
                  <a:endCxn id="167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66" name="Oval 165"/>
              <p:cNvSpPr/>
              <p:nvPr/>
            </p:nvSpPr>
            <p:spPr bwMode="auto">
              <a:xfrm>
                <a:off x="517258" y="1853745"/>
                <a:ext cx="182880" cy="182880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solidFill>
                      <a:srgbClr val="FF0000"/>
                    </a:solidFill>
                    <a:latin typeface="Neo Sans Intel" pitchFamily="34" charset="0"/>
                    <a:cs typeface="Arial" pitchFamily="34" charset="0"/>
                  </a:rPr>
                  <a:t>+</a:t>
                </a:r>
                <a:endParaRPr lang="ru-RU" sz="2000" b="1" dirty="0" smtClean="0">
                  <a:solidFill>
                    <a:srgbClr val="FF0000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70" name="Oval 169"/>
          <p:cNvSpPr/>
          <p:nvPr/>
        </p:nvSpPr>
        <p:spPr bwMode="auto">
          <a:xfrm>
            <a:off x="3663493" y="3617461"/>
            <a:ext cx="91440" cy="91440"/>
          </a:xfrm>
          <a:prstGeom prst="ellipse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Neo Sans Intel" pitchFamily="34" charset="0"/>
                <a:cs typeface="Arial" pitchFamily="34" charset="0"/>
              </a:rPr>
              <a:t>-</a:t>
            </a:r>
            <a:endParaRPr lang="ru-RU" sz="2000" b="1" dirty="0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171" name="Group 170"/>
          <p:cNvGrpSpPr/>
          <p:nvPr/>
        </p:nvGrpSpPr>
        <p:grpSpPr>
          <a:xfrm flipH="1">
            <a:off x="1623228" y="3791778"/>
            <a:ext cx="602448" cy="597264"/>
            <a:chOff x="517258" y="1513617"/>
            <a:chExt cx="602448" cy="597264"/>
          </a:xfrm>
        </p:grpSpPr>
        <p:sp>
          <p:nvSpPr>
            <p:cNvPr id="172" name="Rectangle 171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173" name="Group 172"/>
            <p:cNvGrpSpPr/>
            <p:nvPr/>
          </p:nvGrpSpPr>
          <p:grpSpPr>
            <a:xfrm>
              <a:off x="517258" y="1513617"/>
              <a:ext cx="602448" cy="597264"/>
              <a:chOff x="517258" y="1513617"/>
              <a:chExt cx="602448" cy="597264"/>
            </a:xfrm>
          </p:grpSpPr>
          <p:grpSp>
            <p:nvGrpSpPr>
              <p:cNvPr id="174" name="Group 173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176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77" name="Rectangle 176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78" name="Straight Connector 177"/>
                <p:cNvCxnSpPr>
                  <a:stCxn id="177" idx="0"/>
                  <a:endCxn id="176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75" name="Oval 174"/>
              <p:cNvSpPr/>
              <p:nvPr/>
            </p:nvSpPr>
            <p:spPr bwMode="auto">
              <a:xfrm>
                <a:off x="517258" y="1853745"/>
                <a:ext cx="182880" cy="182880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solidFill>
                      <a:srgbClr val="FF0000"/>
                    </a:solidFill>
                    <a:latin typeface="Neo Sans Intel" pitchFamily="34" charset="0"/>
                    <a:cs typeface="Arial" pitchFamily="34" charset="0"/>
                  </a:rPr>
                  <a:t>+</a:t>
                </a:r>
                <a:endParaRPr lang="ru-RU" sz="2000" b="1" dirty="0" smtClean="0">
                  <a:solidFill>
                    <a:srgbClr val="FF0000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79" name="Oval 178"/>
          <p:cNvSpPr/>
          <p:nvPr/>
        </p:nvSpPr>
        <p:spPr bwMode="auto">
          <a:xfrm flipH="1">
            <a:off x="2371117" y="4152005"/>
            <a:ext cx="91440" cy="91440"/>
          </a:xfrm>
          <a:prstGeom prst="ellipse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Neo Sans Intel" pitchFamily="34" charset="0"/>
                <a:cs typeface="Arial" pitchFamily="34" charset="0"/>
              </a:rPr>
              <a:t>-</a:t>
            </a:r>
            <a:endParaRPr lang="ru-RU" sz="2000" b="1" dirty="0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409575"/>
            <a:ext cx="8229600" cy="60388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N</a:t>
            </a:r>
            <a:r>
              <a:rPr lang="en-US" dirty="0" smtClean="0"/>
              <a:t>-type Doping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24500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pat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64 0.00973 C -0.01041 -0.00347 0.00157 -0.00972 0.00729 -0.01759 C 0.01337 -0.02546 0.02101 -0.03842 0.02795 -0.03819 L 0.04497 -0.00833 C 0.05018 0.00047 0.06337 0.00024 0.05886 0.01598 C 0.0592 0.02524 0.05139 0.02963 0.04532 0.03727 C 0.03941 0.04514 0.03177 0.06922 0.02257 0.06297 C 0.01632 0.06551 0.0033 0.0669 -0.00173 0.05811 C -0.00659 0.05371 -0.01562 0.04375 -0.01649 0.03565 C -0.01771 0.02755 -0.01007 0.01852 -0.00764 0.00973 Z " pathEditMode="relative" rAng="16440000" ptsTypes="AAAAAAAAAA">
                                      <p:cBhvr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394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035 0.00023 C -0.00313 -0.01297 0.00885 -0.01922 0.01458 -0.02709 C 0.02066 -0.03496 0.02829 -0.04792 0.03524 -0.04769 L 0.05225 -0.01783 C 0.05746 -0.00903 0.07066 -0.00926 0.06614 0.00648 C 0.06649 0.01574 0.05868 0.02014 0.0526 0.02778 C 0.0467 0.03565 0.03906 0.05972 0.02986 0.05347 C 0.02361 0.05602 0.01059 0.05741 0.00555 0.04861 C 0.00069 0.04421 -0.00834 0.03426 -0.00921 0.02616 C -0.01042 0.01805 -0.00278 0.00903 -0.00035 0.00023 Z " pathEditMode="relative" rAng="16440000" ptsTypes="AAAAAAAAAA">
                                      <p:cBhvr>
                                        <p:cTn id="80" dur="2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394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" presetClass="path" presetSubtype="0" repeatCount="indefinite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3.88889E-6 1.48148E-6 C 0.00364 -0.01134 -0.00643 -0.01898 -0.01094 -0.02685 C -0.01546 -0.03472 -0.02118 -0.04746 -0.02743 -0.04861 L -0.04532 -0.025 C -0.05087 -0.01806 -0.06268 -0.02037 -0.06007 -0.00556 C -0.06129 0.00231 -0.05469 0.00764 -0.05 0.01528 C -0.04549 0.02338 -0.0408 0.04583 -0.03212 0.04167 C -0.02674 0.04514 -0.01511 0.04838 -0.0099 0.04143 C -0.00504 0.03842 0.00382 0.03125 0.00555 0.02407 C 0.00729 0.01736 0.00139 0.0081 3.88889E-6 1.48148E-6 Z " pathEditMode="relative" rAng="16440000" ptsTypes="AAAAAAAAAA">
                                      <p:cBhvr>
                                        <p:cTn id="82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06" grpId="0"/>
      <p:bldP spid="107" grpId="0"/>
      <p:bldP spid="108" grpId="0"/>
      <p:bldP spid="4" grpId="0" animBg="1"/>
      <p:bldP spid="4" grpId="1" animBg="1"/>
      <p:bldP spid="170" grpId="0" animBg="1"/>
      <p:bldP spid="170" grpId="1" animBg="1"/>
      <p:bldP spid="179" grpId="0" animBg="1"/>
      <p:bldP spid="179" grpId="1" animBg="1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" y="538479"/>
            <a:ext cx="8056880" cy="5247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6" name="Group 65"/>
          <p:cNvGrpSpPr/>
          <p:nvPr/>
        </p:nvGrpSpPr>
        <p:grpSpPr>
          <a:xfrm>
            <a:off x="441960" y="769620"/>
            <a:ext cx="8351520" cy="5097780"/>
            <a:chOff x="441960" y="769620"/>
            <a:chExt cx="8351520" cy="5097780"/>
          </a:xfrm>
        </p:grpSpPr>
        <p:sp>
          <p:nvSpPr>
            <p:cNvPr id="62" name="Rectangle 61"/>
            <p:cNvSpPr/>
            <p:nvPr/>
          </p:nvSpPr>
          <p:spPr bwMode="auto">
            <a:xfrm>
              <a:off x="441960" y="792480"/>
              <a:ext cx="6065520" cy="507492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6461760" y="2522220"/>
              <a:ext cx="2331720" cy="334518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6858000" y="769620"/>
              <a:ext cx="1935480" cy="175260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6461760" y="784860"/>
              <a:ext cx="441960" cy="1272540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l="65884" t="28992" r="28868" b="62202"/>
          <a:stretch/>
        </p:blipFill>
        <p:spPr bwMode="auto">
          <a:xfrm>
            <a:off x="6025700" y="2060104"/>
            <a:ext cx="422787" cy="462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 bwMode="auto">
          <a:xfrm>
            <a:off x="555171" y="1013460"/>
            <a:ext cx="5120009" cy="477259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dirty="0" smtClean="0">
              <a:latin typeface="Neo Sans Intel" pitchFamily="34" charset="0"/>
              <a:cs typeface="Arial" pitchFamily="34" charset="0"/>
            </a:endParaRPr>
          </a:p>
        </p:txBody>
      </p:sp>
      <p:grpSp>
        <p:nvGrpSpPr>
          <p:cNvPr id="13" name="Group 225"/>
          <p:cNvGrpSpPr/>
          <p:nvPr/>
        </p:nvGrpSpPr>
        <p:grpSpPr>
          <a:xfrm>
            <a:off x="850264" y="1532523"/>
            <a:ext cx="4117417" cy="3737876"/>
            <a:chOff x="9171304" y="3509010"/>
            <a:chExt cx="4117417" cy="3737876"/>
          </a:xfrm>
          <a:solidFill>
            <a:schemeClr val="bg1"/>
          </a:solidFill>
        </p:grpSpPr>
        <p:grpSp>
          <p:nvGrpSpPr>
            <p:cNvPr id="15" name="Group 176"/>
            <p:cNvGrpSpPr/>
            <p:nvPr/>
          </p:nvGrpSpPr>
          <p:grpSpPr>
            <a:xfrm>
              <a:off x="9171304" y="3964145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61" name="Hexagon 60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7" name="Hexagon 66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8" name="Hexagon 67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9" name="Hexagon 68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0" name="Hexagon 69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1" name="Hexagon 70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2" name="Hexagon 71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6" name="Group 177"/>
            <p:cNvGrpSpPr/>
            <p:nvPr/>
          </p:nvGrpSpPr>
          <p:grpSpPr>
            <a:xfrm>
              <a:off x="11489340" y="3511397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54" name="Hexagon 53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5" name="Hexagon 54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6" name="Hexagon 55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7" name="Hexagon 56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8" name="Hexagon 57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9" name="Hexagon 58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0" name="Hexagon 59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7" name="Group 185"/>
            <p:cNvGrpSpPr/>
            <p:nvPr/>
          </p:nvGrpSpPr>
          <p:grpSpPr>
            <a:xfrm>
              <a:off x="10456752" y="4409734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47" name="Hexagon 46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8" name="Hexagon 47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9" name="Hexagon 48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0" name="Hexagon 49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1" name="Hexagon 50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2" name="Hexagon 51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53" name="Hexagon 52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8" name="Group 193"/>
            <p:cNvGrpSpPr/>
            <p:nvPr/>
          </p:nvGrpSpPr>
          <p:grpSpPr>
            <a:xfrm>
              <a:off x="10200263" y="3509010"/>
              <a:ext cx="1288162" cy="1047445"/>
              <a:chOff x="9145904" y="4432741"/>
              <a:chExt cx="1288162" cy="1047445"/>
            </a:xfrm>
            <a:grpFill/>
          </p:grpSpPr>
          <p:sp>
            <p:nvSpPr>
              <p:cNvPr id="43" name="Hexagon 42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4" name="Hexagon 43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5" name="Hexagon 44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6" name="Hexagon 45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" name="Group 201"/>
            <p:cNvGrpSpPr/>
            <p:nvPr/>
          </p:nvGrpSpPr>
          <p:grpSpPr>
            <a:xfrm>
              <a:off x="10720044" y="5751165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36" name="Hexagon 35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7" name="Hexagon 36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8" name="Hexagon 37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9" name="Hexagon 38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0" name="Hexagon 39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1" name="Hexagon 40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2" name="Hexagon 41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" name="Group 209"/>
            <p:cNvGrpSpPr/>
            <p:nvPr/>
          </p:nvGrpSpPr>
          <p:grpSpPr>
            <a:xfrm>
              <a:off x="9432043" y="5311479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29" name="Hexagon 28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0" name="Hexagon 29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1" name="Hexagon 30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2" name="Hexagon 31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3" name="Hexagon 32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4" name="Hexagon 33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5" name="Hexagon 34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1" name="Group 217"/>
            <p:cNvGrpSpPr/>
            <p:nvPr/>
          </p:nvGrpSpPr>
          <p:grpSpPr>
            <a:xfrm>
              <a:off x="11744752" y="4856255"/>
              <a:ext cx="1543969" cy="1495721"/>
              <a:chOff x="9145904" y="3984465"/>
              <a:chExt cx="1543969" cy="1495721"/>
            </a:xfrm>
            <a:grpFill/>
          </p:grpSpPr>
          <p:sp>
            <p:nvSpPr>
              <p:cNvPr id="22" name="Hexagon 21"/>
              <p:cNvSpPr/>
              <p:nvPr/>
            </p:nvSpPr>
            <p:spPr bwMode="auto">
              <a:xfrm rot="16200000">
                <a:off x="9618372" y="4473931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3" name="Hexagon 22"/>
              <p:cNvSpPr/>
              <p:nvPr/>
            </p:nvSpPr>
            <p:spPr bwMode="auto">
              <a:xfrm rot="16200000">
                <a:off x="9104714" y="4475700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4" name="Hexagon 23"/>
              <p:cNvSpPr/>
              <p:nvPr/>
            </p:nvSpPr>
            <p:spPr bwMode="auto">
              <a:xfrm rot="16200000">
                <a:off x="9360659" y="4025655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5" name="Hexagon 24"/>
              <p:cNvSpPr/>
              <p:nvPr/>
            </p:nvSpPr>
            <p:spPr bwMode="auto">
              <a:xfrm rot="16200000">
                <a:off x="9362427" y="4923977"/>
                <a:ext cx="597264" cy="514883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6" name="Hexagon 25"/>
              <p:cNvSpPr/>
              <p:nvPr/>
            </p:nvSpPr>
            <p:spPr bwMode="auto">
              <a:xfrm rot="5400000" flipH="1">
                <a:off x="10133800" y="4475837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7" name="Hexagon 26"/>
              <p:cNvSpPr/>
              <p:nvPr/>
            </p:nvSpPr>
            <p:spPr bwMode="auto">
              <a:xfrm rot="5400000" flipH="1">
                <a:off x="9875951" y="4025791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8" name="Hexagon 27"/>
              <p:cNvSpPr/>
              <p:nvPr/>
            </p:nvSpPr>
            <p:spPr bwMode="auto">
              <a:xfrm rot="5400000" flipH="1">
                <a:off x="9877993" y="4924113"/>
                <a:ext cx="597264" cy="514882"/>
              </a:xfrm>
              <a:prstGeom prst="hexagon">
                <a:avLst>
                  <a:gd name="adj" fmla="val 28303"/>
                  <a:gd name="vf" fmla="val 115470"/>
                </a:avLst>
              </a:prstGeom>
              <a:grp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992543" y="5359637"/>
            <a:ext cx="4034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Neo Sans Intel" pitchFamily="34" charset="0"/>
              </a:rPr>
              <a:t>P-type semiconductor (Si doped by Al atoms)</a:t>
            </a:r>
            <a:endParaRPr lang="ru-RU" sz="1600" dirty="0" err="1" smtClean="0">
              <a:latin typeface="+mn-lt"/>
            </a:endParaRPr>
          </a:p>
        </p:txBody>
      </p:sp>
      <p:grpSp>
        <p:nvGrpSpPr>
          <p:cNvPr id="2051" name="Group 2050"/>
          <p:cNvGrpSpPr/>
          <p:nvPr/>
        </p:nvGrpSpPr>
        <p:grpSpPr>
          <a:xfrm rot="14342894">
            <a:off x="1608213" y="3806391"/>
            <a:ext cx="563870" cy="597264"/>
            <a:chOff x="555836" y="1513617"/>
            <a:chExt cx="563870" cy="597264"/>
          </a:xfrm>
        </p:grpSpPr>
        <p:sp>
          <p:nvSpPr>
            <p:cNvPr id="2049" name="Rectangle 2048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2048" name="Group 2047"/>
            <p:cNvGrpSpPr/>
            <p:nvPr/>
          </p:nvGrpSpPr>
          <p:grpSpPr>
            <a:xfrm>
              <a:off x="559931" y="1513617"/>
              <a:ext cx="559775" cy="597264"/>
              <a:chOff x="559931" y="1513617"/>
              <a:chExt cx="559775" cy="597264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73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" name="Rectangle 2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5" name="Straight Connector 4"/>
                <p:cNvCxnSpPr>
                  <a:stCxn id="3" idx="0"/>
                  <a:endCxn id="73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" name="Oval 7"/>
              <p:cNvSpPr/>
              <p:nvPr/>
            </p:nvSpPr>
            <p:spPr bwMode="auto">
              <a:xfrm>
                <a:off x="559931" y="1926898"/>
                <a:ext cx="91751" cy="91751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0" name="Group 89"/>
          <p:cNvGrpSpPr/>
          <p:nvPr/>
        </p:nvGrpSpPr>
        <p:grpSpPr>
          <a:xfrm>
            <a:off x="2866195" y="2437729"/>
            <a:ext cx="563870" cy="597264"/>
            <a:chOff x="555836" y="1513617"/>
            <a:chExt cx="563870" cy="597264"/>
          </a:xfrm>
        </p:grpSpPr>
        <p:sp>
          <p:nvSpPr>
            <p:cNvPr id="91" name="Rectangle 90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559931" y="1513617"/>
              <a:ext cx="559775" cy="597264"/>
              <a:chOff x="559931" y="1513617"/>
              <a:chExt cx="559775" cy="597264"/>
            </a:xfrm>
          </p:grpSpPr>
          <p:grpSp>
            <p:nvGrpSpPr>
              <p:cNvPr id="93" name="Group 92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95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6" name="Rectangle 95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97" name="Straight Connector 96"/>
                <p:cNvCxnSpPr>
                  <a:stCxn id="96" idx="0"/>
                  <a:endCxn id="95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94" name="Oval 93"/>
              <p:cNvSpPr/>
              <p:nvPr/>
            </p:nvSpPr>
            <p:spPr bwMode="auto">
              <a:xfrm>
                <a:off x="559931" y="1926898"/>
                <a:ext cx="91751" cy="91751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8" name="Group 97"/>
          <p:cNvGrpSpPr/>
          <p:nvPr/>
        </p:nvGrpSpPr>
        <p:grpSpPr>
          <a:xfrm rot="7141084">
            <a:off x="3667669" y="3760403"/>
            <a:ext cx="563870" cy="597264"/>
            <a:chOff x="555836" y="1513617"/>
            <a:chExt cx="563870" cy="597264"/>
          </a:xfrm>
        </p:grpSpPr>
        <p:sp>
          <p:nvSpPr>
            <p:cNvPr id="99" name="Rectangle 98"/>
            <p:cNvSpPr/>
            <p:nvPr/>
          </p:nvSpPr>
          <p:spPr bwMode="auto">
            <a:xfrm>
              <a:off x="555836" y="1662681"/>
              <a:ext cx="97155" cy="319887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559931" y="1513617"/>
              <a:ext cx="559775" cy="597264"/>
              <a:chOff x="559931" y="1513617"/>
              <a:chExt cx="559775" cy="597264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571919" y="1513617"/>
                <a:ext cx="547787" cy="597264"/>
                <a:chOff x="571919" y="1513617"/>
                <a:chExt cx="547787" cy="597264"/>
              </a:xfrm>
            </p:grpSpPr>
            <p:sp>
              <p:nvSpPr>
                <p:cNvPr id="103" name="Hexagon 72"/>
                <p:cNvSpPr/>
                <p:nvPr/>
              </p:nvSpPr>
              <p:spPr bwMode="auto">
                <a:xfrm rot="16200000">
                  <a:off x="563633" y="1554807"/>
                  <a:ext cx="597264" cy="514883"/>
                </a:xfrm>
                <a:custGeom>
                  <a:avLst/>
                  <a:gdLst>
                    <a:gd name="connsiteX0" fmla="*/ 0 w 597264"/>
                    <a:gd name="connsiteY0" fmla="*/ 257442 h 514883"/>
                    <a:gd name="connsiteX1" fmla="*/ 145727 w 597264"/>
                    <a:gd name="connsiteY1" fmla="*/ 0 h 514883"/>
                    <a:gd name="connsiteX2" fmla="*/ 451537 w 597264"/>
                    <a:gd name="connsiteY2" fmla="*/ 0 h 514883"/>
                    <a:gd name="connsiteX3" fmla="*/ 597264 w 597264"/>
                    <a:gd name="connsiteY3" fmla="*/ 257442 h 514883"/>
                    <a:gd name="connsiteX4" fmla="*/ 451537 w 597264"/>
                    <a:gd name="connsiteY4" fmla="*/ 514883 h 514883"/>
                    <a:gd name="connsiteX5" fmla="*/ 145727 w 597264"/>
                    <a:gd name="connsiteY5" fmla="*/ 514883 h 514883"/>
                    <a:gd name="connsiteX6" fmla="*/ 0 w 597264"/>
                    <a:gd name="connsiteY6" fmla="*/ 257442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  <a:gd name="connsiteX6" fmla="*/ 542977 w 597264"/>
                    <a:gd name="connsiteY6" fmla="*/ 91440 h 514883"/>
                    <a:gd name="connsiteX0" fmla="*/ 451537 w 597264"/>
                    <a:gd name="connsiteY0" fmla="*/ 0 h 514883"/>
                    <a:gd name="connsiteX1" fmla="*/ 597264 w 597264"/>
                    <a:gd name="connsiteY1" fmla="*/ 257442 h 514883"/>
                    <a:gd name="connsiteX2" fmla="*/ 451537 w 597264"/>
                    <a:gd name="connsiteY2" fmla="*/ 514883 h 514883"/>
                    <a:gd name="connsiteX3" fmla="*/ 145727 w 597264"/>
                    <a:gd name="connsiteY3" fmla="*/ 514883 h 514883"/>
                    <a:gd name="connsiteX4" fmla="*/ 0 w 597264"/>
                    <a:gd name="connsiteY4" fmla="*/ 257442 h 514883"/>
                    <a:gd name="connsiteX5" fmla="*/ 145727 w 597264"/>
                    <a:gd name="connsiteY5" fmla="*/ 0 h 514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7264" h="514883">
                      <a:moveTo>
                        <a:pt x="451537" y="0"/>
                      </a:moveTo>
                      <a:lnTo>
                        <a:pt x="597264" y="257442"/>
                      </a:lnTo>
                      <a:lnTo>
                        <a:pt x="451537" y="514883"/>
                      </a:lnTo>
                      <a:lnTo>
                        <a:pt x="145727" y="514883"/>
                      </a:lnTo>
                      <a:lnTo>
                        <a:pt x="0" y="257442"/>
                      </a:lnTo>
                      <a:lnTo>
                        <a:pt x="145727" y="0"/>
                      </a:ln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" name="Rectangle 103"/>
                <p:cNvSpPr/>
                <p:nvPr/>
              </p:nvSpPr>
              <p:spPr bwMode="auto">
                <a:xfrm>
                  <a:off x="571919" y="1659255"/>
                  <a:ext cx="70104" cy="306706"/>
                </a:xfrm>
                <a:prstGeom prst="rect">
                  <a:avLst/>
                </a:prstGeom>
                <a:noFill/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05" name="Straight Connector 104"/>
                <p:cNvCxnSpPr>
                  <a:stCxn id="104" idx="0"/>
                  <a:endCxn id="103" idx="5"/>
                </p:cNvCxnSpPr>
                <p:nvPr/>
              </p:nvCxnSpPr>
              <p:spPr bwMode="auto">
                <a:xfrm flipH="1">
                  <a:off x="604824" y="1659255"/>
                  <a:ext cx="2147" cy="305899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2" name="Oval 101"/>
              <p:cNvSpPr/>
              <p:nvPr/>
            </p:nvSpPr>
            <p:spPr bwMode="auto">
              <a:xfrm>
                <a:off x="559931" y="1926898"/>
                <a:ext cx="91751" cy="91751"/>
              </a:xfrm>
              <a:prstGeom prst="ellipse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2052" name="TextBox 2051"/>
          <p:cNvSpPr txBox="1"/>
          <p:nvPr/>
        </p:nvSpPr>
        <p:spPr>
          <a:xfrm>
            <a:off x="2510337" y="2602053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Neo Sans Intel Medium" panose="020B0604020202020204" pitchFamily="34" charset="0"/>
              </a:rPr>
              <a:t>Al</a:t>
            </a:r>
            <a:endParaRPr lang="ru-RU" dirty="0" err="1" smtClean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135633" y="393344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Neo Sans Intel Medium" panose="020B0604020202020204" pitchFamily="34" charset="0"/>
              </a:rPr>
              <a:t>Al</a:t>
            </a:r>
            <a:endParaRPr lang="ru-RU" dirty="0" err="1" smtClean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528079" y="348675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Neo Sans Intel Medium" panose="020B0604020202020204" pitchFamily="34" charset="0"/>
              </a:rPr>
              <a:t>Al</a:t>
            </a:r>
            <a:endParaRPr lang="ru-RU" dirty="0" err="1" smtClean="0">
              <a:solidFill>
                <a:srgbClr val="7030A0"/>
              </a:solidFill>
              <a:latin typeface="+mn-lt"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5169277" y="2788557"/>
            <a:ext cx="3789911" cy="657913"/>
            <a:chOff x="2767536" y="835151"/>
            <a:chExt cx="3789911" cy="657913"/>
          </a:xfrm>
        </p:grpSpPr>
        <p:grpSp>
          <p:nvGrpSpPr>
            <p:cNvPr id="110" name="Group 109"/>
            <p:cNvGrpSpPr/>
            <p:nvPr/>
          </p:nvGrpSpPr>
          <p:grpSpPr>
            <a:xfrm>
              <a:off x="3686556" y="835151"/>
              <a:ext cx="2870891" cy="562865"/>
              <a:chOff x="3686556" y="835151"/>
              <a:chExt cx="2870891" cy="562865"/>
            </a:xfrm>
          </p:grpSpPr>
          <p:grpSp>
            <p:nvGrpSpPr>
              <p:cNvPr id="112" name="Group 111"/>
              <p:cNvGrpSpPr/>
              <p:nvPr/>
            </p:nvGrpSpPr>
            <p:grpSpPr>
              <a:xfrm>
                <a:off x="3686556" y="835152"/>
                <a:ext cx="406843" cy="561848"/>
                <a:chOff x="3686556" y="835152"/>
                <a:chExt cx="406843" cy="561848"/>
              </a:xfrm>
            </p:grpSpPr>
            <p:sp>
              <p:nvSpPr>
                <p:cNvPr id="129" name="Rectangle 128"/>
                <p:cNvSpPr/>
                <p:nvPr/>
              </p:nvSpPr>
              <p:spPr bwMode="auto">
                <a:xfrm>
                  <a:off x="374142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0" name="TextBox 129"/>
                    <p:cNvSpPr txBox="1"/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30" name="TextBox 1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l="-13636" t="-4348" r="-757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3" name="Group 112"/>
              <p:cNvGrpSpPr/>
              <p:nvPr/>
            </p:nvGrpSpPr>
            <p:grpSpPr>
              <a:xfrm>
                <a:off x="4158996" y="835152"/>
                <a:ext cx="406843" cy="561848"/>
                <a:chOff x="4091940" y="835152"/>
                <a:chExt cx="406843" cy="561848"/>
              </a:xfrm>
            </p:grpSpPr>
            <p:sp>
              <p:nvSpPr>
                <p:cNvPr id="127" name="Rectangle 126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TextBox 127"/>
                    <p:cNvSpPr txBox="1"/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28" name="TextBox 1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7"/>
                      <a:stretch>
                        <a:fillRect l="-11940" t="-4348" r="-746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4" name="Group 113"/>
              <p:cNvGrpSpPr/>
              <p:nvPr/>
            </p:nvGrpSpPr>
            <p:grpSpPr>
              <a:xfrm>
                <a:off x="4553647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23" name="Rectangle 122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4" name="Rectangle 123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5" name="Rectangle 124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26" name="TextBox 1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 l="-18841" t="-4348" r="-4348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5" name="Group 114"/>
              <p:cNvGrpSpPr/>
              <p:nvPr/>
            </p:nvGrpSpPr>
            <p:grpSpPr>
              <a:xfrm>
                <a:off x="5457444" y="835152"/>
                <a:ext cx="401905" cy="561848"/>
                <a:chOff x="4091940" y="835152"/>
                <a:chExt cx="401905" cy="561848"/>
              </a:xfrm>
            </p:grpSpPr>
            <p:sp>
              <p:nvSpPr>
                <p:cNvPr id="121" name="Rectangle 120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Box 121"/>
                    <p:cNvSpPr txBox="1"/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22" name="TextBox 1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blipFill rotWithShape="0">
                      <a:blip r:embed="rId9"/>
                      <a:stretch>
                        <a:fillRect l="-12121" t="-4348" r="-757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6" name="Group 115"/>
              <p:cNvGrpSpPr/>
              <p:nvPr/>
            </p:nvGrpSpPr>
            <p:grpSpPr>
              <a:xfrm>
                <a:off x="5852095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17" name="Rectangle 116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18" name="Rectangle 117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19" name="Rectangle 118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20" name="TextBox 1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0"/>
                      <a:stretch>
                        <a:fillRect l="-18841" t="-4348" r="-4348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11" name="TextBox 110"/>
            <p:cNvSpPr txBox="1"/>
            <p:nvPr/>
          </p:nvSpPr>
          <p:spPr>
            <a:xfrm>
              <a:off x="2767536" y="1092954"/>
              <a:ext cx="9653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n-lt"/>
                </a:rPr>
                <a:t>Si (+14)</a:t>
              </a:r>
              <a:endParaRPr lang="ru-RU" sz="2000" dirty="0" err="1" smtClean="0">
                <a:latin typeface="+mn-lt"/>
              </a:endParaRP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5181454" y="3426801"/>
            <a:ext cx="3789911" cy="657913"/>
            <a:chOff x="2767536" y="835151"/>
            <a:chExt cx="3789911" cy="657913"/>
          </a:xfrm>
        </p:grpSpPr>
        <p:grpSp>
          <p:nvGrpSpPr>
            <p:cNvPr id="132" name="Group 131"/>
            <p:cNvGrpSpPr/>
            <p:nvPr/>
          </p:nvGrpSpPr>
          <p:grpSpPr>
            <a:xfrm>
              <a:off x="3686556" y="835151"/>
              <a:ext cx="2870891" cy="562865"/>
              <a:chOff x="3686556" y="835151"/>
              <a:chExt cx="2870891" cy="562865"/>
            </a:xfrm>
          </p:grpSpPr>
          <p:grpSp>
            <p:nvGrpSpPr>
              <p:cNvPr id="134" name="Group 133"/>
              <p:cNvGrpSpPr/>
              <p:nvPr/>
            </p:nvGrpSpPr>
            <p:grpSpPr>
              <a:xfrm>
                <a:off x="3686556" y="835152"/>
                <a:ext cx="406843" cy="561848"/>
                <a:chOff x="3686556" y="835152"/>
                <a:chExt cx="406843" cy="561848"/>
              </a:xfrm>
            </p:grpSpPr>
            <p:sp>
              <p:nvSpPr>
                <p:cNvPr id="151" name="Rectangle 150"/>
                <p:cNvSpPr/>
                <p:nvPr/>
              </p:nvSpPr>
              <p:spPr bwMode="auto">
                <a:xfrm>
                  <a:off x="374142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2" name="TextBox 151"/>
                    <p:cNvSpPr txBox="1"/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2" name="TextBox 15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6556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11"/>
                      <a:stretch>
                        <a:fillRect l="-13636" t="-4348" r="-757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5" name="Group 134"/>
              <p:cNvGrpSpPr/>
              <p:nvPr/>
            </p:nvGrpSpPr>
            <p:grpSpPr>
              <a:xfrm>
                <a:off x="4158996" y="835152"/>
                <a:ext cx="406843" cy="561848"/>
                <a:chOff x="4091940" y="835152"/>
                <a:chExt cx="406843" cy="561848"/>
              </a:xfrm>
            </p:grpSpPr>
            <p:sp>
              <p:nvSpPr>
                <p:cNvPr id="149" name="Rectangle 148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TextBox 149"/>
                    <p:cNvSpPr txBox="1"/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0" name="TextBox 14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6843" cy="276999"/>
                    </a:xfrm>
                    <a:prstGeom prst="rect">
                      <a:avLst/>
                    </a:prstGeom>
                    <a:blipFill rotWithShape="0">
                      <a:blip r:embed="rId12"/>
                      <a:stretch>
                        <a:fillRect l="-11940" t="-4348" r="-7463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6" name="Group 135"/>
              <p:cNvGrpSpPr/>
              <p:nvPr/>
            </p:nvGrpSpPr>
            <p:grpSpPr>
              <a:xfrm>
                <a:off x="4553647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45" name="Rectangle 144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6" name="Rectangle 145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7" name="Rectangle 146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>
                      <a:latin typeface="Neo Sans Intel" pitchFamily="34" charset="0"/>
                      <a:cs typeface="Arial" pitchFamily="34" charset="0"/>
                    </a:rPr>
                    <a:t>↑↓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8" name="TextBox 147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48" name="TextBox 14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3"/>
                      <a:stretch>
                        <a:fillRect l="-18841" t="-4348" r="-4348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7" name="Group 136"/>
              <p:cNvGrpSpPr/>
              <p:nvPr/>
            </p:nvGrpSpPr>
            <p:grpSpPr>
              <a:xfrm>
                <a:off x="5457444" y="835152"/>
                <a:ext cx="401905" cy="561848"/>
                <a:chOff x="4091940" y="835152"/>
                <a:chExt cx="401905" cy="561848"/>
              </a:xfrm>
            </p:grpSpPr>
            <p:sp>
              <p:nvSpPr>
                <p:cNvPr id="143" name="Rectangle 142"/>
                <p:cNvSpPr/>
                <p:nvPr/>
              </p:nvSpPr>
              <p:spPr bwMode="auto">
                <a:xfrm>
                  <a:off x="4091940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4" name="TextBox 143"/>
                    <p:cNvSpPr txBox="1"/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44" name="TextBox 14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1940" y="835152"/>
                      <a:ext cx="401905" cy="276999"/>
                    </a:xfrm>
                    <a:prstGeom prst="rect">
                      <a:avLst/>
                    </a:prstGeom>
                    <a:blipFill rotWithShape="0">
                      <a:blip r:embed="rId14"/>
                      <a:stretch>
                        <a:fillRect l="-12121" t="-4348" r="-7576"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8" name="Group 137"/>
              <p:cNvGrpSpPr/>
              <p:nvPr/>
            </p:nvGrpSpPr>
            <p:grpSpPr>
              <a:xfrm>
                <a:off x="5852095" y="835151"/>
                <a:ext cx="705352" cy="562865"/>
                <a:chOff x="4553647" y="835151"/>
                <a:chExt cx="705352" cy="562865"/>
              </a:xfrm>
            </p:grpSpPr>
            <p:sp>
              <p:nvSpPr>
                <p:cNvPr id="139" name="Rectangle 138"/>
                <p:cNvSpPr/>
                <p:nvPr/>
              </p:nvSpPr>
              <p:spPr bwMode="auto">
                <a:xfrm>
                  <a:off x="4553647" y="1159256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0" name="Rectangle 139"/>
                <p:cNvSpPr/>
                <p:nvPr/>
              </p:nvSpPr>
              <p:spPr bwMode="auto">
                <a:xfrm>
                  <a:off x="4788213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1400" b="1" dirty="0" smtClean="0">
                      <a:latin typeface="Neo Sans Intel" pitchFamily="34" charset="0"/>
                      <a:cs typeface="Arial" pitchFamily="34" charset="0"/>
                    </a:rPr>
                    <a:t>↑</a:t>
                  </a:r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1" name="Rectangle 140"/>
                <p:cNvSpPr/>
                <p:nvPr/>
              </p:nvSpPr>
              <p:spPr bwMode="auto">
                <a:xfrm>
                  <a:off x="5022779" y="1158240"/>
                  <a:ext cx="236220" cy="238760"/>
                </a:xfrm>
                <a:prstGeom prst="rect">
                  <a:avLst/>
                </a:prstGeom>
                <a:ln>
                  <a:headEnd type="none" w="sm" len="sm"/>
                  <a:tailEnd type="none" w="sm" len="sm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1400" b="1" dirty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ru-RU" dirty="0" err="1" smtClean="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5310" y="835151"/>
                      <a:ext cx="421782" cy="276999"/>
                    </a:xfrm>
                    <a:prstGeom prst="rect">
                      <a:avLst/>
                    </a:prstGeom>
                    <a:blipFill rotWithShape="0">
                      <a:blip r:embed="rId15"/>
                      <a:stretch>
                        <a:fillRect l="-18841" t="-4348" r="-4348" b="-326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ru-RU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33" name="TextBox 132"/>
            <p:cNvSpPr txBox="1"/>
            <p:nvPr/>
          </p:nvSpPr>
          <p:spPr>
            <a:xfrm>
              <a:off x="2767536" y="1092954"/>
              <a:ext cx="9957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n-lt"/>
                </a:rPr>
                <a:t>Al (+13)</a:t>
              </a:r>
              <a:endParaRPr lang="ru-RU" sz="2000" dirty="0" err="1" smtClean="0">
                <a:latin typeface="+mn-lt"/>
              </a:endParaRPr>
            </a:p>
          </p:txBody>
        </p:sp>
      </p:grpSp>
      <p:sp>
        <p:nvSpPr>
          <p:cNvPr id="153" name="Oval 152"/>
          <p:cNvSpPr/>
          <p:nvPr/>
        </p:nvSpPr>
        <p:spPr bwMode="auto">
          <a:xfrm>
            <a:off x="3590630" y="2364695"/>
            <a:ext cx="182880" cy="18288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rgbClr val="FF0000"/>
                </a:solidFill>
                <a:latin typeface="Neo Sans Intel" pitchFamily="34" charset="0"/>
                <a:cs typeface="Arial" pitchFamily="34" charset="0"/>
              </a:rPr>
              <a:t>+</a:t>
            </a:r>
            <a:endParaRPr lang="ru-RU" sz="2000" b="1" dirty="0" smtClean="0">
              <a:solidFill>
                <a:srgbClr val="FF0000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154" name="Oval 153"/>
          <p:cNvSpPr/>
          <p:nvPr/>
        </p:nvSpPr>
        <p:spPr bwMode="auto">
          <a:xfrm>
            <a:off x="3588105" y="2539337"/>
            <a:ext cx="91440" cy="91440"/>
          </a:xfrm>
          <a:prstGeom prst="ellipse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Neo Sans Intel" pitchFamily="34" charset="0"/>
                <a:cs typeface="Arial" pitchFamily="34" charset="0"/>
              </a:rPr>
              <a:t>-</a:t>
            </a:r>
            <a:endParaRPr lang="ru-RU" sz="2000" b="1" dirty="0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155" name="Oval 154"/>
          <p:cNvSpPr/>
          <p:nvPr/>
        </p:nvSpPr>
        <p:spPr bwMode="auto">
          <a:xfrm>
            <a:off x="2826014" y="2812995"/>
            <a:ext cx="182880" cy="182880"/>
          </a:xfrm>
          <a:prstGeom prst="ellipse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400" b="1" dirty="0" smtClean="0">
                <a:latin typeface="Neo Sans Intel" pitchFamily="34" charset="0"/>
                <a:cs typeface="Arial" pitchFamily="34" charset="0"/>
              </a:rPr>
              <a:t>-</a:t>
            </a:r>
            <a:endParaRPr lang="ru-RU" sz="3200" b="1" dirty="0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054" name="Straight Connector 2053"/>
          <p:cNvCxnSpPr>
            <a:stCxn id="95" idx="0"/>
            <a:endCxn id="155" idx="0"/>
          </p:cNvCxnSpPr>
          <p:nvPr/>
        </p:nvCxnSpPr>
        <p:spPr bwMode="auto">
          <a:xfrm>
            <a:off x="2915183" y="2583456"/>
            <a:ext cx="2271" cy="229539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409575"/>
            <a:ext cx="8229600" cy="60388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/>
              <a:t>P-type Doping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5944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0.01296 0.00069 0.00602 0.00069 0.02129 L -0.00191 0.03032 L -0.00799 0.03565 L -0.01598 0.03727 L -0.02535 0.03472 L -0.03264 0.02662 L -0.04132 0.0125 L -0.05608 -0.00162 L -0.06545 0.00278 L -0.06875 0.0081 L -0.07275 0.01435 L -0.07275 0.025 L -0.07604 0.03472 L -0.07865 0.04282 " pathEditMode="relative" ptsTypes="AAAAAAAAAAAAAAAA">
                                      <p:cBhvr>
                                        <p:cTn id="54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2052" grpId="0"/>
      <p:bldP spid="107" grpId="0"/>
      <p:bldP spid="108" grpId="0"/>
      <p:bldP spid="153" grpId="0" animBg="1"/>
      <p:bldP spid="154" grpId="0" animBg="1"/>
      <p:bldP spid="154" grpId="1" animBg="1"/>
      <p:bldP spid="155" grpId="0" animBg="1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auto">
          <a:xfrm>
            <a:off x="3993776" y="1793389"/>
            <a:ext cx="4213412" cy="416858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800" b="1" smtClean="0">
              <a:latin typeface="+mj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19" y="7171"/>
            <a:ext cx="8229600" cy="889000"/>
          </a:xfrm>
        </p:spPr>
        <p:txBody>
          <a:bodyPr/>
          <a:lstStyle/>
          <a:p>
            <a:pPr algn="ctr"/>
            <a:r>
              <a:rPr lang="en-US" sz="3600" dirty="0" smtClean="0"/>
              <a:t>“Holes” concepts</a:t>
            </a:r>
            <a:endParaRPr lang="ru-R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373" y="838520"/>
            <a:ext cx="8228012" cy="1531300"/>
          </a:xfrm>
        </p:spPr>
        <p:txBody>
          <a:bodyPr/>
          <a:lstStyle/>
          <a:p>
            <a:pPr marL="228600" indent="-228600">
              <a:buFont typeface="Arial" pitchFamily="34" charset="0"/>
              <a:buChar char="•"/>
            </a:pPr>
            <a:r>
              <a:rPr lang="en-US" sz="1800" dirty="0" smtClean="0"/>
              <a:t>An </a:t>
            </a:r>
            <a:r>
              <a:rPr lang="en-US" sz="1800" b="1" dirty="0" smtClean="0"/>
              <a:t>electron hole</a:t>
            </a:r>
            <a:r>
              <a:rPr lang="en-US" sz="1800" dirty="0" smtClean="0"/>
              <a:t> is the conceptual and mathematical opposite of an electron. The concept describes the lack of an electron at a position where one could exist in an atom or atomic lattice.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en-US" sz="1800" dirty="0" smtClean="0"/>
              <a:t>Tag-game example:</a:t>
            </a:r>
            <a:endParaRPr lang="ru-RU" dirty="0" smtClean="0"/>
          </a:p>
        </p:txBody>
      </p:sp>
      <p:sp>
        <p:nvSpPr>
          <p:cNvPr id="4" name="Rectangle 3"/>
          <p:cNvSpPr/>
          <p:nvPr/>
        </p:nvSpPr>
        <p:spPr bwMode="auto">
          <a:xfrm>
            <a:off x="4092388" y="1883036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114364" y="1874072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5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127375" y="1865108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12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092388" y="2896048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14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114364" y="2887084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9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127375" y="2878120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3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4101352" y="3909060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11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123328" y="3900096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7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136339" y="3891132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8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158316" y="1856144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10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158316" y="2869156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15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167280" y="3882168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4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101352" y="4931036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13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5123328" y="4922072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2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6136339" y="4913108"/>
            <a:ext cx="941294" cy="941294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6</a:t>
            </a:r>
            <a:endParaRPr lang="ru-RU" sz="2800" b="1" dirty="0" smtClean="0">
              <a:latin typeface="+mj-lt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3993776" y="1801009"/>
            <a:ext cx="4213412" cy="4168589"/>
          </a:xfrm>
          <a:prstGeom prst="rect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800" b="1" smtClean="0">
              <a:latin typeface="+mj-lt"/>
              <a:cs typeface="Arial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165936" y="4919384"/>
            <a:ext cx="941294" cy="9412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800" b="1" dirty="0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97044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1.11111E-6 L 3.61111E-6 0.152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139 L 0.11284 -0.00139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-0.00254 L 0.11233 -0.0025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023 L 0.00018 0.1451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11129 0.000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0185 L -1.11111E-6 0.1479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047 L 0.11076 0.0004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0"/>
                            </p:stCondLst>
                            <p:childTnLst>
                              <p:par>
                                <p:cTn id="26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0.00092 L 0.11215 -0.00092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33333E-6 C 0.00035 -0.04421 -0.00104 -0.09004 0.0007 -0.13449 C -0.00017 -0.15764 0.00365 -0.15393 -0.00677 -0.15116 C -0.0092 -0.15162 -0.0118 -0.15185 -0.01423 -0.15231 C -0.01927 -0.15301 -0.02916 -0.1544 -0.02916 -0.1544 C -0.05816 -0.15301 -0.08871 -0.15903 -0.11666 -0.15116 C -0.125 -0.15162 -0.13333 -0.15185 -0.14166 -0.15231 C -0.15121 -0.15278 -0.17014 -0.1544 -0.17014 -0.1544 C -0.18455 -0.15347 -0.2217 -0.14143 -0.225 -0.15787 C -0.22552 -0.17662 -0.2283 -0.19954 -0.22343 -0.21782 C -0.22482 -0.24421 -0.22534 -0.26319 -0.22587 -0.29236 C -0.22448 -0.30416 -0.22708 -0.29884 -0.22014 -0.29884 C -0.18559 -0.29884 -0.15121 -0.29954 -0.11666 -0.3 C -0.11041 -0.31389 -0.1158 -0.33125 -0.11337 -0.34676 C -0.11475 -0.37963 -0.1151 -0.41273 -0.11597 -0.4456 C -0.15816 -0.44514 -0.20034 -0.44259 -0.24253 -0.44444 C -0.26128 -0.44699 -0.27986 -0.44537 -0.29843 -0.44236 C -0.31232 -0.44329 -0.32118 -0.44444 -0.33593 -0.44444 " pathEditMode="relative" ptsTypes="fffffffffffffffffA">
                                      <p:cBhvr>
                                        <p:cTn id="39" dur="1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2" grpId="0" animBg="1"/>
      <p:bldP spid="14" grpId="0" animBg="1"/>
      <p:bldP spid="15" grpId="0" animBg="1"/>
      <p:bldP spid="18" grpId="0" animBg="1"/>
      <p:bldP spid="24" grpId="0" animBg="1"/>
      <p:bldP spid="25" grpId="0" animBg="1"/>
      <p:bldP spid="25" grpId="1" animBg="1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MOSFET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391223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MOSFET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" y="934523"/>
            <a:ext cx="8210868" cy="1084873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000" dirty="0"/>
              <a:t>The metal-oxide-semiconductor field-effect transistor (MOSFET) acts as a voltage-controlled switch with </a:t>
            </a:r>
            <a:r>
              <a:rPr lang="en-US" sz="2000" dirty="0" smtClean="0"/>
              <a:t>three terminals: </a:t>
            </a:r>
            <a:r>
              <a:rPr lang="en-US" sz="2000" b="1" dirty="0" smtClean="0"/>
              <a:t>source</a:t>
            </a:r>
            <a:r>
              <a:rPr lang="en-US" sz="2000" dirty="0" smtClean="0"/>
              <a:t>, </a:t>
            </a:r>
            <a:r>
              <a:rPr lang="en-US" sz="2000" b="1" dirty="0" smtClean="0"/>
              <a:t>drain</a:t>
            </a:r>
            <a:r>
              <a:rPr lang="en-US" sz="2000" dirty="0" smtClean="0"/>
              <a:t>, and </a:t>
            </a:r>
            <a:r>
              <a:rPr lang="en-US" sz="2000" b="1" dirty="0" smtClean="0"/>
              <a:t>gate</a:t>
            </a:r>
          </a:p>
          <a:p>
            <a:pPr marL="741363" lvl="2" indent="-327025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/>
              <a:t>The gate controls whether current can pass from </a:t>
            </a:r>
            <a:r>
              <a:rPr lang="en-US" sz="1800" dirty="0" smtClean="0"/>
              <a:t>source </a:t>
            </a:r>
            <a:r>
              <a:rPr lang="en-US" sz="1800" dirty="0"/>
              <a:t>to </a:t>
            </a:r>
            <a:r>
              <a:rPr lang="en-US" sz="1800" dirty="0" smtClean="0"/>
              <a:t>drain </a:t>
            </a:r>
            <a:r>
              <a:rPr lang="en-US" sz="1800" dirty="0"/>
              <a:t>or </a:t>
            </a:r>
            <a:r>
              <a:rPr lang="en-US" sz="1800" dirty="0" smtClean="0"/>
              <a:t>not</a:t>
            </a:r>
          </a:p>
          <a:p>
            <a:pPr marL="342900" indent="-34290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000" dirty="0"/>
              <a:t>There are two variations of the MOSFET: the </a:t>
            </a:r>
            <a:r>
              <a:rPr lang="en-US" sz="2000" i="1" dirty="0"/>
              <a:t>n</a:t>
            </a:r>
            <a:r>
              <a:rPr lang="en-US" sz="2000" dirty="0"/>
              <a:t>-channel </a:t>
            </a:r>
            <a:r>
              <a:rPr lang="en-US" sz="2000" dirty="0" smtClean="0">
                <a:solidFill>
                  <a:schemeClr val="tx2"/>
                </a:solidFill>
              </a:rPr>
              <a:t>(this slide) </a:t>
            </a:r>
            <a:r>
              <a:rPr lang="en-US" sz="2000" dirty="0" smtClean="0"/>
              <a:t>and </a:t>
            </a:r>
            <a:r>
              <a:rPr lang="en-US" sz="2000" dirty="0"/>
              <a:t>the </a:t>
            </a:r>
            <a:r>
              <a:rPr lang="en-US" sz="2000" i="1" dirty="0"/>
              <a:t>p</a:t>
            </a:r>
            <a:r>
              <a:rPr lang="en-US" sz="2000" dirty="0"/>
              <a:t>-channel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458411" y="2651760"/>
            <a:ext cx="5905542" cy="3520440"/>
            <a:chOff x="1458411" y="2651760"/>
            <a:chExt cx="5905542" cy="3520440"/>
          </a:xfrm>
        </p:grpSpPr>
        <p:grpSp>
          <p:nvGrpSpPr>
            <p:cNvPr id="13" name="Group 12"/>
            <p:cNvGrpSpPr/>
            <p:nvPr/>
          </p:nvGrpSpPr>
          <p:grpSpPr>
            <a:xfrm>
              <a:off x="1458411" y="3649980"/>
              <a:ext cx="5905542" cy="2024701"/>
              <a:chOff x="1458411" y="2887980"/>
              <a:chExt cx="5905542" cy="2024701"/>
            </a:xfrm>
          </p:grpSpPr>
          <p:sp>
            <p:nvSpPr>
              <p:cNvPr id="12" name="Rectangle 11"/>
              <p:cNvSpPr/>
              <p:nvPr/>
            </p:nvSpPr>
            <p:spPr bwMode="auto">
              <a:xfrm>
                <a:off x="3871297" y="2887981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2268640" y="2887980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" name="Rectangle 3"/>
              <p:cNvSpPr/>
              <p:nvPr/>
            </p:nvSpPr>
            <p:spPr bwMode="auto">
              <a:xfrm>
                <a:off x="1458411" y="3639468"/>
                <a:ext cx="5905542" cy="1273213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 bwMode="auto">
              <a:xfrm>
                <a:off x="2268640" y="3639467"/>
                <a:ext cx="1099595" cy="60188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 bwMode="auto">
              <a:xfrm>
                <a:off x="1458411" y="3176479"/>
                <a:ext cx="1064870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>
                <a:off x="5451679" y="2887981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6299083" y="3176479"/>
                <a:ext cx="1064870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3124201" y="3176479"/>
                <a:ext cx="2593788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 bwMode="auto">
              <a:xfrm>
                <a:off x="5451679" y="3639467"/>
                <a:ext cx="1099595" cy="60188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15" name="Straight Connector 14"/>
            <p:cNvCxnSpPr>
              <a:stCxn id="10" idx="0"/>
            </p:cNvCxnSpPr>
            <p:nvPr/>
          </p:nvCxnSpPr>
          <p:spPr bwMode="auto">
            <a:xfrm flipH="1" flipV="1">
              <a:off x="2818437" y="3048000"/>
              <a:ext cx="1" cy="60198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7" name="Straight Connector 16"/>
            <p:cNvCxnSpPr>
              <a:stCxn id="12" idx="0"/>
            </p:cNvCxnSpPr>
            <p:nvPr/>
          </p:nvCxnSpPr>
          <p:spPr bwMode="auto">
            <a:xfrm flipV="1">
              <a:off x="4421095" y="3116580"/>
              <a:ext cx="0" cy="53340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9" name="Straight Connector 18"/>
            <p:cNvCxnSpPr>
              <a:stCxn id="11" idx="0"/>
            </p:cNvCxnSpPr>
            <p:nvPr/>
          </p:nvCxnSpPr>
          <p:spPr bwMode="auto">
            <a:xfrm flipH="1" flipV="1">
              <a:off x="6001476" y="3116580"/>
              <a:ext cx="1" cy="53340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1" name="Straight Connector 20"/>
            <p:cNvCxnSpPr>
              <a:stCxn id="4" idx="2"/>
            </p:cNvCxnSpPr>
            <p:nvPr/>
          </p:nvCxnSpPr>
          <p:spPr bwMode="auto">
            <a:xfrm>
              <a:off x="4411182" y="5674681"/>
              <a:ext cx="0" cy="497519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2393385" y="2651760"/>
              <a:ext cx="9249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Source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02722" y="2651760"/>
              <a:ext cx="6892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Gate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62177" y="2651760"/>
              <a:ext cx="749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Drain</a:t>
              </a:r>
            </a:p>
          </p:txBody>
        </p:sp>
      </p:grpSp>
      <p:sp>
        <p:nvSpPr>
          <p:cNvPr id="27" name="Oval 26"/>
          <p:cNvSpPr/>
          <p:nvPr/>
        </p:nvSpPr>
        <p:spPr bwMode="auto">
          <a:xfrm>
            <a:off x="5463821" y="533400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3048001" y="4684776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31" name="Oval 30"/>
          <p:cNvSpPr/>
          <p:nvPr/>
        </p:nvSpPr>
        <p:spPr bwMode="auto">
          <a:xfrm>
            <a:off x="2370881" y="4532376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32" name="Oval 31"/>
          <p:cNvSpPr/>
          <p:nvPr/>
        </p:nvSpPr>
        <p:spPr bwMode="auto">
          <a:xfrm>
            <a:off x="2742238" y="4468368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35" name="Oval 34"/>
          <p:cNvSpPr/>
          <p:nvPr/>
        </p:nvSpPr>
        <p:spPr bwMode="auto">
          <a:xfrm>
            <a:off x="3363909" y="538480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6259469" y="523240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2218481" y="5310632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6263097" y="4758690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39" name="Oval 38"/>
          <p:cNvSpPr/>
          <p:nvPr/>
        </p:nvSpPr>
        <p:spPr bwMode="auto">
          <a:xfrm>
            <a:off x="5585977" y="4606290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40" name="Oval 39"/>
          <p:cNvSpPr/>
          <p:nvPr/>
        </p:nvSpPr>
        <p:spPr bwMode="auto">
          <a:xfrm>
            <a:off x="5957334" y="4542282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42" name="Line Callout 2 (No Border) 41"/>
          <p:cNvSpPr/>
          <p:nvPr/>
        </p:nvSpPr>
        <p:spPr>
          <a:xfrm>
            <a:off x="6916569" y="2703621"/>
            <a:ext cx="876151" cy="412959"/>
          </a:xfrm>
          <a:prstGeom prst="callout2">
            <a:avLst>
              <a:gd name="adj1" fmla="val 54267"/>
              <a:gd name="adj2" fmla="val 1970"/>
              <a:gd name="adj3" fmla="val 80304"/>
              <a:gd name="adj4" fmla="val -18194"/>
              <a:gd name="adj5" fmla="val 202620"/>
              <a:gd name="adj6" fmla="val -44722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5888" indent="-115888"/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Metal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3" name="Line Callout 2 (No Border) 42"/>
          <p:cNvSpPr/>
          <p:nvPr/>
        </p:nvSpPr>
        <p:spPr>
          <a:xfrm>
            <a:off x="7354644" y="3224590"/>
            <a:ext cx="1433756" cy="412959"/>
          </a:xfrm>
          <a:prstGeom prst="callout2">
            <a:avLst>
              <a:gd name="adj1" fmla="val 54267"/>
              <a:gd name="adj2" fmla="val 1970"/>
              <a:gd name="adj3" fmla="val 85225"/>
              <a:gd name="adj4" fmla="val -12525"/>
              <a:gd name="adj5" fmla="val 165716"/>
              <a:gd name="adj6" fmla="val -24172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Oxide layer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4" name="Line Callout 2 (No Border) 43"/>
          <p:cNvSpPr/>
          <p:nvPr/>
        </p:nvSpPr>
        <p:spPr>
          <a:xfrm>
            <a:off x="7547684" y="4488202"/>
            <a:ext cx="1697916" cy="412959"/>
          </a:xfrm>
          <a:prstGeom prst="callout2">
            <a:avLst>
              <a:gd name="adj1" fmla="val 118234"/>
              <a:gd name="adj2" fmla="val 773"/>
              <a:gd name="adj3" fmla="val 163955"/>
              <a:gd name="adj4" fmla="val -4132"/>
              <a:gd name="adj5" fmla="val 195239"/>
              <a:gd name="adj6" fmla="val -18188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P-type 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semiconductor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5" name="Line Callout 2 (No Border) 44"/>
          <p:cNvSpPr/>
          <p:nvPr/>
        </p:nvSpPr>
        <p:spPr>
          <a:xfrm flipH="1">
            <a:off x="-389708" y="4530344"/>
            <a:ext cx="1697916" cy="412959"/>
          </a:xfrm>
          <a:prstGeom prst="callout2">
            <a:avLst>
              <a:gd name="adj1" fmla="val 86250"/>
              <a:gd name="adj2" fmla="val -2817"/>
              <a:gd name="adj3" fmla="val 87686"/>
              <a:gd name="adj4" fmla="val -26272"/>
              <a:gd name="adj5" fmla="val 75370"/>
              <a:gd name="adj6" fmla="val -64597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-type 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semiconductor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858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45 -0.00949 C 0.03715 0.00046 0.03593 0.02361 0.04427 0.02893 C 0.05451 0.03518 0.06197 0.01319 0.06545 0.00903 L 0.07413 -0.00162 C 0.07743 -0.00625 0.08437 -0.00394 0.09583 0.00301 C 0.10312 0.00741 0.10885 0.02037 0.10555 0.03009 C 0.10225 0.04005 0.09097 0.04282 0.08368 0.03843 C 0.07239 0.03148 0.06909 0.0338 0.06927 0.02755 L 0.07256 0.00579 C 0.07274 -0.00046 0.06822 -0.00417 0.05816 -0.01042 C 0.04947 -0.01528 0.04375 -0.01921 0.04045 -0.00949 Z " pathEditMode="relative" rAng="0" ptsTypes="ffFffffFfff">
                                      <p:cBhvr>
                                        <p:cTn id="8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4" y="2130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26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17 -0.00023 C -0.00347 0.00972 -0.03542 0.02662 -0.02708 0.03194 C -0.01684 0.03819 -0.00104 0.04792 0.00417 0.04699 L 0.01701 0.04653 C 0.02205 0.04398 0.03906 0.00301 0.05052 0.00995 C 0.05781 0.01435 0.05937 0.03218 0.05608 0.0419 C 0.05278 0.05185 0.04514 0.05833 0.03785 0.05394 C 0.02656 0.04699 0.02847 0.04306 0.02865 0.03681 L 0.03194 0.01505 C 0.03212 0.0088 0.02969 -0.00069 0.01962 -0.00694 C 0.01094 -0.01181 0.00312 -0.00995 -0.00017 -0.00023 Z " pathEditMode="relative" rAng="0" ptsTypes="ffFffffFfff">
                                      <p:cBhvr>
                                        <p:cTn id="8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5" y="2338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26" presetClass="path" presetSubtype="0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0052 -0.00046 C 0.00277 -0.01065 0.0217 -0.01921 0.01805 -0.03217 C 0.01059 -0.04236 0.00034 -0.04861 -0.00486 -0.04768 L -0.01771 -0.04722 C -0.02275 -0.04467 -0.04497 0.0044 -0.05625 -0.00208 C -0.06354 -0.00694 -0.06736 -0.02685 -0.06372 -0.0368 C -0.06077 -0.04653 -0.05 -0.04861 -0.04306 -0.04444 C -0.03177 -0.03704 -0.03039 -0.03657 -0.03056 -0.03032 L -0.03264 -0.01574 C -0.03247 -0.00949 -0.03039 -1.85185E-6 -0.02032 0.00625 C -0.01164 0.01111 -0.00348 0.00903 -0.00052 -0.00046 Z " pathEditMode="relative" rAng="0" ptsTypes="ffFffffFfff">
                                      <p:cBhvr>
                                        <p:cTn id="8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0" y="-1829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26" presetClass="path" presetSubtype="0" repeatCount="indefinite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0017 -0.00023 C -0.00347 0.00972 -0.00468 0.03287 0.00365 0.03819 C 0.01389 0.04444 0.02136 0.02245 0.02483 0.01829 L 0.03351 0.00764 C 0.03681 0.00301 0.04375 0.00532 0.05521 0.01227 C 0.0625 0.01667 0.06823 0.02963 0.06494 0.03935 C 0.06164 0.04931 0.05035 0.05208 0.04306 0.04768 C 0.03178 0.04074 0.02848 0.04306 0.02865 0.03681 L 0.03195 0.01505 C 0.03212 0.0088 0.02761 0.00509 0.01754 -0.00116 C 0.00886 -0.00602 0.00313 -0.00995 -0.00017 -0.00023 Z " pathEditMode="relative" rAng="0" ptsTypes="ffFffffFfff">
                                      <p:cBhvr>
                                        <p:cTn id="89" dur="20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94" y="213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26" presetClass="path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0017 -0.00023 C -0.00347 0.00972 -0.03542 0.02662 -0.02708 0.03194 C -0.01684 0.03819 -0.00104 0.04792 0.00417 0.04699 L 0.01701 0.04653 C 0.02205 0.04398 0.03906 0.00301 0.05052 0.00995 C 0.05781 0.01435 0.05937 0.03218 0.05608 0.0419 C 0.05278 0.05185 0.04514 0.05833 0.03785 0.05394 C 0.02656 0.04699 0.02847 0.04306 0.02865 0.03681 L 0.03194 0.01505 C 0.03212 0.0088 0.02969 -0.00069 0.01962 -0.00694 C 0.01094 -0.01181 0.00312 -0.00995 -0.00017 -0.00023 Z " pathEditMode="relative" rAng="0" ptsTypes="ffFffffFfff">
                                      <p:cBhvr>
                                        <p:cTn id="9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5" y="2338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26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46 C 0.00277 -0.01065 0.0217 -0.01921 0.01805 -0.03217 C 0.01059 -0.04236 0.00034 -0.04861 -0.00486 -0.04768 L -0.01771 -0.04722 C -0.02275 -0.04467 -0.04497 0.0044 -0.05625 -0.00208 C -0.06354 -0.00694 -0.06736 -0.02685 -0.06372 -0.0368 C -0.06077 -0.04653 -0.05 -0.04861 -0.04306 -0.04444 C -0.03177 -0.03704 -0.03039 -0.03657 -0.03056 -0.03032 L -0.03264 -0.01574 C -0.03247 -0.00949 -0.03039 -1.85185E-6 -0.02032 0.00625 C -0.01164 0.01111 -0.00348 0.00903 -0.00052 -0.00046 Z " pathEditMode="relative" rAng="0" ptsTypes="ffFffffFfff">
                                      <p:cBhvr>
                                        <p:cTn id="93" dur="20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0" y="-1829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26" presetClass="path" presetSubtype="0" repeatCount="indefinite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0018 -0.00024 C -0.00347 0.00972 -0.02969 0.02777 -0.02136 0.0331 C -0.01111 0.03935 0.01892 0.03495 0.02239 0.03078 L 0.05139 0.00787 C 0.05469 0.00324 0.0743 -0.02801 0.08576 -0.02107 C 0.09305 -0.01667 0.11684 -0.03797 0.12691 -0.03056 C 0.13906 -0.02246 0.16024 0.03009 0.15295 0.02569 C 0.14357 0.03541 0.0368 0.04166 0.03698 0.03541 L 0.03194 0.01504 C 0.03038 0.00902 0.04045 -0.01899 0.03802 -0.02176 C 0.03559 -0.02454 0.02344 0.00185 0.01753 -0.00116 C 0.01389 0.00208 0.00538 -0.03982 0.00243 -0.03959 C -0.00052 -0.03936 0.00035 -0.00834 -0.00018 -0.00024 Z " pathEditMode="relative" rAng="0" ptsTypes="ffFffffFfafaf">
                                      <p:cBhvr>
                                        <p:cTn id="9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5" y="116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26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C -0.00347 0.00972 -0.00208 0.02083 0.00625 0.02616 C 0.0165 0.03241 0.01893 0.03495 0.0224 0.03078 L 0.05139 0.00787 C 0.05469 0.00324 0.07743 -0.04722 0.08889 -0.04028 C 0.09618 -0.03588 0.12691 -0.05556 0.13698 -0.04815 C 0.14723 -0.04931 0.17344 -0.07176 0.17604 -0.05949 C 0.17934 -0.05486 0.15729 -0.03357 0.15695 -0.02084 C 0.1566 -0.0081 0.17813 0.0125 0.17344 0.01713 C 0.16997 0.025 0.14479 0.00463 0.1283 0.00671 C 0.11181 0.00879 0.08768 0.02708 0.07413 0.02916 L 0.04688 0.01898 C 0.04532 0.01296 0.04098 -0.01158 0.03802 -0.02176 C 0.03507 -0.03195 0.0382 -0.04028 0.02969 -0.04213 C 0.02604 -0.03889 -0.00833 -0.04028 -0.01337 -0.03334 C -0.0184 -0.02639 -0.00295 -0.00718 -0.00017 -0.00023 Z " pathEditMode="relative" rAng="0" ptsTypes="ffFfffaafaFfafaf">
                                      <p:cBhvr>
                                        <p:cTn id="9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56" y="-182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26" presetClass="path" presetSubtype="0" repeatCount="indefinite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0018 0.00023 C 0.00104 0.01041 0.00677 0.01898 0.01579 0.01736 C 0.02708 0.01574 0.03003 0.01574 0.03142 0.00949 L 0.03923 -0.04399 C 0.04027 -0.05024 0.04618 -0.09514 0.05868 -0.09792 C 0.06666 -0.09908 0.08437 -0.13797 0.096 -0.13913 C 0.10416 -0.14746 0.09826 -0.11945 0.10295 -0.11806 C 0.10763 -0.11667 0.12118 -0.1375 0.12395 -0.1301 C 0.12673 -0.12269 0.11267 -0.09167 0.11927 -0.07362 C 0.11961 -0.06482 0.17048 -0.02871 0.16302 -0.0213 C 0.15555 -0.01389 0.09236 -0.03125 0.0743 -0.02848 L 0.05416 -0.0051 C 0.05034 -0.00903 0.03107 -0.03681 0.02343 -0.04538 C 0.01579 -0.05394 0.01614 -0.06112 0.00816 -0.05672 C 0.00642 -0.05163 -0.02327 -0.02825 -0.02466 -0.01852 C -0.02605 -0.00926 -0.00539 -0.00417 -0.00018 0.00023 Z " pathEditMode="relative" rAng="0" ptsTypes="ffFfffaafaFfafaf">
                                      <p:cBhvr>
                                        <p:cTn id="9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40" y="-6458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26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23 C 0.00243 -0.00902 0.00122 -0.02037 -0.00712 -0.02592 C -0.01719 -0.03287 -0.01996 -0.03449 -0.02326 -0.03032 L -0.04878 0.02917 C -0.05208 0.0331 -0.0783 0.04723 -0.08993 0.04028 C -0.09705 0.03588 -0.11927 0.03935 -0.12951 0.03195 C -0.13975 0.0331 -0.16198 0.04121 -0.16666 0.03935 C -0.17135 0.0375 -0.15555 0.0375 -0.15781 0.02014 C -0.16007 0.00278 -0.18194 -0.0493 -0.18038 -0.06527 C -0.17691 -0.07291 -0.15937 -0.0794 -0.14826 -0.07523 C -0.14028 -0.07199 -0.14479 -0.05347 -0.13246 -0.04583 C -0.12014 -0.03819 -0.08871 -0.03125 -0.07465 -0.0294 L -0.04844 -0.03426 C -0.04687 -0.02824 -0.04184 0.0088 -0.03923 0.02153 C -0.03594 0.03449 -0.0441 0.03889 -0.03055 0.0419 C -0.02708 0.03912 0.03663 0.04723 0.04167 0.04028 C 0.0467 0.03334 0.00834 0.00857 -0.00052 0.00023 Z " pathEditMode="relative" rAng="0" ptsTypes="ffFfffaafaaFfafaf">
                                      <p:cBhvr>
                                        <p:cTn id="10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19" y="-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9" grpId="0" animBg="1"/>
      <p:bldP spid="29" grpId="1" animBg="1"/>
      <p:bldP spid="31" grpId="0" animBg="1"/>
      <p:bldP spid="31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2" grpId="0" animBg="1"/>
      <p:bldP spid="43" grpId="0" animBg="1"/>
      <p:bldP spid="44" grpId="0" animBg="1"/>
      <p:bldP spid="45" grpId="0" animBg="1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1458411" y="4409088"/>
            <a:ext cx="5905542" cy="127321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871297" y="3657601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268640" y="3657600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451679" y="3657601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5269032" y="4409086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451679" y="4409087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5634325" y="4404008"/>
            <a:ext cx="734302" cy="401935"/>
          </a:xfrm>
          <a:prstGeom prst="rect">
            <a:avLst/>
          </a:prstGeom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5451678" y="4414167"/>
            <a:ext cx="1099595" cy="60188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Diffusion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75" y="896423"/>
            <a:ext cx="8228012" cy="1084873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dirty="0" smtClean="0"/>
              <a:t>Holes and electrons diffuse into the n-type and p-type semiconductors correspondently</a:t>
            </a:r>
          </a:p>
          <a:p>
            <a:pPr marL="342900" indent="-342900">
              <a:spcBef>
                <a:spcPts val="1200"/>
              </a:spcBef>
              <a:buFont typeface="Courier New" pitchFamily="49" charset="0"/>
              <a:buChar char="o"/>
            </a:pPr>
            <a:r>
              <a:rPr lang="en-US" dirty="0" smtClean="0"/>
              <a:t>The diffusion process creates the balancing field (E</a:t>
            </a:r>
            <a:r>
              <a:rPr lang="en-US" sz="1800" dirty="0" smtClean="0"/>
              <a:t>d</a:t>
            </a:r>
            <a:r>
              <a:rPr lang="en-US" dirty="0" smtClean="0"/>
              <a:t>) that prevents deeper diffusion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6299083" y="3946099"/>
            <a:ext cx="1064870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5" name="Straight Connector 14"/>
          <p:cNvCxnSpPr>
            <a:stCxn id="10" idx="0"/>
          </p:cNvCxnSpPr>
          <p:nvPr/>
        </p:nvCxnSpPr>
        <p:spPr bwMode="auto">
          <a:xfrm flipH="1" flipV="1">
            <a:off x="2818437" y="3055620"/>
            <a:ext cx="1" cy="60198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Straight Connector 16"/>
          <p:cNvCxnSpPr>
            <a:stCxn id="12" idx="0"/>
          </p:cNvCxnSpPr>
          <p:nvPr/>
        </p:nvCxnSpPr>
        <p:spPr bwMode="auto">
          <a:xfrm flipV="1">
            <a:off x="4421095" y="3124200"/>
            <a:ext cx="0" cy="533401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aight Connector 18"/>
          <p:cNvCxnSpPr>
            <a:stCxn id="11" idx="0"/>
          </p:cNvCxnSpPr>
          <p:nvPr/>
        </p:nvCxnSpPr>
        <p:spPr bwMode="auto">
          <a:xfrm flipH="1" flipV="1">
            <a:off x="6001476" y="3124200"/>
            <a:ext cx="1" cy="533401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" name="Straight Connector 20"/>
          <p:cNvCxnSpPr>
            <a:stCxn id="4" idx="2"/>
          </p:cNvCxnSpPr>
          <p:nvPr/>
        </p:nvCxnSpPr>
        <p:spPr bwMode="auto">
          <a:xfrm>
            <a:off x="4411182" y="5682301"/>
            <a:ext cx="0" cy="497519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393385" y="2659380"/>
            <a:ext cx="92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2722" y="2659380"/>
            <a:ext cx="689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2177" y="2659380"/>
            <a:ext cx="749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Drain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5469740" y="4623240"/>
            <a:ext cx="1051287" cy="367431"/>
            <a:chOff x="5469740" y="4623240"/>
            <a:chExt cx="1051287" cy="367431"/>
          </a:xfrm>
        </p:grpSpPr>
        <p:sp>
          <p:nvSpPr>
            <p:cNvPr id="42" name="Oval 41"/>
            <p:cNvSpPr/>
            <p:nvPr/>
          </p:nvSpPr>
          <p:spPr bwMode="auto">
            <a:xfrm>
              <a:off x="5469740" y="4645615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5721046" y="4838252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6149740" y="4838271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7" name="Oval 46"/>
            <p:cNvSpPr/>
            <p:nvPr/>
          </p:nvSpPr>
          <p:spPr bwMode="auto">
            <a:xfrm>
              <a:off x="6368627" y="4623240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284041" y="4679120"/>
            <a:ext cx="1425552" cy="513836"/>
            <a:chOff x="5284041" y="4679120"/>
            <a:chExt cx="1425552" cy="513836"/>
          </a:xfrm>
        </p:grpSpPr>
        <p:sp>
          <p:nvSpPr>
            <p:cNvPr id="48" name="Oval 47"/>
            <p:cNvSpPr/>
            <p:nvPr/>
          </p:nvSpPr>
          <p:spPr bwMode="auto">
            <a:xfrm>
              <a:off x="5284041" y="4710029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5338501" y="5020684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50" name="Oval 49"/>
            <p:cNvSpPr/>
            <p:nvPr/>
          </p:nvSpPr>
          <p:spPr bwMode="auto">
            <a:xfrm>
              <a:off x="5671758" y="5020684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6216227" y="5040556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6551274" y="4679120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6557193" y="5029052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</p:grpSp>
      <p:cxnSp>
        <p:nvCxnSpPr>
          <p:cNvPr id="16" name="Straight Arrow Connector 15"/>
          <p:cNvCxnSpPr>
            <a:stCxn id="34" idx="2"/>
          </p:cNvCxnSpPr>
          <p:nvPr/>
        </p:nvCxnSpPr>
        <p:spPr bwMode="auto">
          <a:xfrm>
            <a:off x="6001476" y="4805943"/>
            <a:ext cx="1" cy="439157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flipH="1" flipV="1">
            <a:off x="5212080" y="4589735"/>
            <a:ext cx="422245" cy="1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5" name="Straight Arrow Connector 54"/>
          <p:cNvCxnSpPr/>
          <p:nvPr/>
        </p:nvCxnSpPr>
        <p:spPr bwMode="auto">
          <a:xfrm flipV="1">
            <a:off x="6385891" y="4584654"/>
            <a:ext cx="365429" cy="2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pSp>
        <p:nvGrpSpPr>
          <p:cNvPr id="61" name="Group 60"/>
          <p:cNvGrpSpPr/>
          <p:nvPr/>
        </p:nvGrpSpPr>
        <p:grpSpPr>
          <a:xfrm>
            <a:off x="4954992" y="4518068"/>
            <a:ext cx="2106502" cy="965920"/>
            <a:chOff x="4954992" y="4518068"/>
            <a:chExt cx="2106502" cy="965920"/>
          </a:xfrm>
        </p:grpSpPr>
        <p:sp>
          <p:nvSpPr>
            <p:cNvPr id="30" name="TextBox 29"/>
            <p:cNvSpPr txBox="1"/>
            <p:nvPr/>
          </p:nvSpPr>
          <p:spPr>
            <a:xfrm>
              <a:off x="6670040" y="45180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E</a:t>
              </a:r>
              <a:r>
                <a:rPr lang="en-US" sz="1200" dirty="0" smtClean="0">
                  <a:latin typeface="+mj-lt"/>
                </a:rPr>
                <a:t>d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961916" y="5114656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E</a:t>
              </a:r>
              <a:r>
                <a:rPr lang="en-US" sz="1100" dirty="0" smtClean="0">
                  <a:latin typeface="+mj-lt"/>
                </a:rPr>
                <a:t>d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954992" y="4537149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E</a:t>
              </a:r>
              <a:r>
                <a:rPr lang="en-US" sz="1200" dirty="0" smtClean="0">
                  <a:latin typeface="+mj-lt"/>
                </a:rPr>
                <a:t>d</a:t>
              </a:r>
            </a:p>
          </p:txBody>
        </p:sp>
      </p:grpSp>
      <p:sp>
        <p:nvSpPr>
          <p:cNvPr id="62" name="Rectangle 61"/>
          <p:cNvSpPr/>
          <p:nvPr/>
        </p:nvSpPr>
        <p:spPr bwMode="auto">
          <a:xfrm>
            <a:off x="2078835" y="4416490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2261482" y="4416491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2444128" y="4411412"/>
            <a:ext cx="734302" cy="401935"/>
          </a:xfrm>
          <a:prstGeom prst="rect">
            <a:avLst/>
          </a:prstGeom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2261481" y="4421571"/>
            <a:ext cx="1099595" cy="60188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2279543" y="4630644"/>
            <a:ext cx="1051287" cy="367431"/>
            <a:chOff x="5469740" y="4623240"/>
            <a:chExt cx="1051287" cy="367431"/>
          </a:xfrm>
        </p:grpSpPr>
        <p:sp>
          <p:nvSpPr>
            <p:cNvPr id="67" name="Oval 66"/>
            <p:cNvSpPr/>
            <p:nvPr/>
          </p:nvSpPr>
          <p:spPr bwMode="auto">
            <a:xfrm>
              <a:off x="5469740" y="4645615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8" name="Oval 67"/>
            <p:cNvSpPr/>
            <p:nvPr/>
          </p:nvSpPr>
          <p:spPr bwMode="auto">
            <a:xfrm>
              <a:off x="5721046" y="4838252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69" name="Oval 68"/>
            <p:cNvSpPr/>
            <p:nvPr/>
          </p:nvSpPr>
          <p:spPr bwMode="auto">
            <a:xfrm>
              <a:off x="6149740" y="4838271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0" name="Oval 69"/>
            <p:cNvSpPr/>
            <p:nvPr/>
          </p:nvSpPr>
          <p:spPr bwMode="auto">
            <a:xfrm>
              <a:off x="6368627" y="4623240"/>
              <a:ext cx="152400" cy="152400"/>
            </a:xfrm>
            <a:prstGeom prst="ellipse">
              <a:avLst/>
            </a:prstGeom>
            <a:ln>
              <a:solidFill>
                <a:srgbClr val="FF4F25"/>
              </a:solidFill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18288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+mj-lt"/>
                  <a:cs typeface="Arial" pitchFamily="34" charset="0"/>
                </a:rPr>
                <a:t>+</a:t>
              </a:r>
              <a:endParaRPr lang="en-US" sz="1600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093844" y="4686524"/>
            <a:ext cx="1425552" cy="513836"/>
            <a:chOff x="5284041" y="4679120"/>
            <a:chExt cx="1425552" cy="513836"/>
          </a:xfrm>
        </p:grpSpPr>
        <p:sp>
          <p:nvSpPr>
            <p:cNvPr id="72" name="Oval 71"/>
            <p:cNvSpPr/>
            <p:nvPr/>
          </p:nvSpPr>
          <p:spPr bwMode="auto">
            <a:xfrm>
              <a:off x="5284041" y="4710029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73" name="Oval 72"/>
            <p:cNvSpPr/>
            <p:nvPr/>
          </p:nvSpPr>
          <p:spPr bwMode="auto">
            <a:xfrm>
              <a:off x="5338501" y="5020684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74" name="Oval 73"/>
            <p:cNvSpPr/>
            <p:nvPr/>
          </p:nvSpPr>
          <p:spPr bwMode="auto">
            <a:xfrm>
              <a:off x="5671758" y="5020684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75" name="Oval 74"/>
            <p:cNvSpPr/>
            <p:nvPr/>
          </p:nvSpPr>
          <p:spPr bwMode="auto">
            <a:xfrm>
              <a:off x="6216227" y="5040556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76" name="Oval 75"/>
            <p:cNvSpPr/>
            <p:nvPr/>
          </p:nvSpPr>
          <p:spPr bwMode="auto">
            <a:xfrm>
              <a:off x="6551274" y="4679120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  <p:sp>
          <p:nvSpPr>
            <p:cNvPr id="77" name="Oval 76"/>
            <p:cNvSpPr/>
            <p:nvPr/>
          </p:nvSpPr>
          <p:spPr bwMode="auto">
            <a:xfrm>
              <a:off x="6557193" y="5029052"/>
              <a:ext cx="152400" cy="152400"/>
            </a:xfrm>
            <a:prstGeom prst="ellipse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0" tIns="0" rIns="0" bIns="27432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+mj-lt"/>
                  <a:cs typeface="Arial" pitchFamily="34" charset="0"/>
                </a:rPr>
                <a:t>-</a:t>
              </a:r>
            </a:p>
          </p:txBody>
        </p:sp>
      </p:grpSp>
      <p:cxnSp>
        <p:nvCxnSpPr>
          <p:cNvPr id="78" name="Straight Arrow Connector 77"/>
          <p:cNvCxnSpPr>
            <a:stCxn id="64" idx="2"/>
          </p:cNvCxnSpPr>
          <p:nvPr/>
        </p:nvCxnSpPr>
        <p:spPr bwMode="auto">
          <a:xfrm>
            <a:off x="2811279" y="4813347"/>
            <a:ext cx="1" cy="439157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79" name="Straight Arrow Connector 78"/>
          <p:cNvCxnSpPr/>
          <p:nvPr/>
        </p:nvCxnSpPr>
        <p:spPr bwMode="auto">
          <a:xfrm flipH="1" flipV="1">
            <a:off x="2021883" y="4597139"/>
            <a:ext cx="422245" cy="1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 flipV="1">
            <a:off x="3195694" y="4592058"/>
            <a:ext cx="365429" cy="2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pSp>
        <p:nvGrpSpPr>
          <p:cNvPr id="81" name="Group 80"/>
          <p:cNvGrpSpPr/>
          <p:nvPr/>
        </p:nvGrpSpPr>
        <p:grpSpPr>
          <a:xfrm>
            <a:off x="1764795" y="4525472"/>
            <a:ext cx="2106502" cy="965920"/>
            <a:chOff x="4954992" y="4518068"/>
            <a:chExt cx="2106502" cy="965920"/>
          </a:xfrm>
        </p:grpSpPr>
        <p:sp>
          <p:nvSpPr>
            <p:cNvPr id="82" name="TextBox 81"/>
            <p:cNvSpPr txBox="1"/>
            <p:nvPr/>
          </p:nvSpPr>
          <p:spPr>
            <a:xfrm>
              <a:off x="6670040" y="45180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E</a:t>
              </a:r>
              <a:r>
                <a:rPr lang="en-US" sz="1200" dirty="0" smtClean="0">
                  <a:latin typeface="+mj-lt"/>
                </a:rPr>
                <a:t>d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961916" y="5114656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E</a:t>
              </a:r>
              <a:r>
                <a:rPr lang="en-US" sz="1100" dirty="0" smtClean="0">
                  <a:latin typeface="+mj-lt"/>
                </a:rPr>
                <a:t>d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954992" y="4537149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E</a:t>
              </a:r>
              <a:r>
                <a:rPr lang="en-US" sz="1200" dirty="0" smtClean="0">
                  <a:latin typeface="+mj-lt"/>
                </a:rPr>
                <a:t>d</a:t>
              </a: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1458411" y="3946099"/>
            <a:ext cx="1064870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124201" y="3946099"/>
            <a:ext cx="2593788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41803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xit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4" presetClass="path" presetSubtype="0" accel="50000" decel="5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1.11022E-16 1.11022E-16 L 1.11022E-16 -0.02824 " pathEditMode="relative" rAng="0" ptsTypes="AA">
                                      <p:cBhvr>
                                        <p:cTn id="17" dur="11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12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1.11022E-16 1.11022E-16 L 1.11022E-16 -0.02824 " pathEditMode="relative" rAng="0" ptsTypes="AA">
                                      <p:cBhvr>
                                        <p:cTn id="19" dur="11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1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0" grpId="0" animBg="1"/>
      <p:bldP spid="60" grpId="1" animBg="1"/>
      <p:bldP spid="62" grpId="0" animBg="1"/>
      <p:bldP spid="65" grpId="0" animBg="1"/>
      <p:bldP spid="65" grpId="1" animBg="1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Closed State for N-type MOSFET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11618"/>
            <a:ext cx="8228012" cy="1000957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dirty="0" smtClean="0"/>
              <a:t>For </a:t>
            </a:r>
            <a:r>
              <a:rPr lang="en-US" dirty="0" smtClean="0">
                <a:solidFill>
                  <a:schemeClr val="accent1"/>
                </a:solidFill>
              </a:rPr>
              <a:t>N</a:t>
            </a:r>
            <a:r>
              <a:rPr lang="en-US" dirty="0" smtClean="0"/>
              <a:t>-type MOSFET if </a:t>
            </a:r>
            <a:r>
              <a:rPr lang="en-US" b="1" dirty="0" smtClean="0"/>
              <a:t>the gate </a:t>
            </a:r>
            <a:r>
              <a:rPr lang="en-US" dirty="0" smtClean="0"/>
              <a:t>is not connected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(high-impedance state, Z) </a:t>
            </a:r>
            <a:r>
              <a:rPr lang="en-US" dirty="0" smtClean="0"/>
              <a:t>or equal to </a:t>
            </a:r>
            <a:r>
              <a:rPr lang="en-US" dirty="0" smtClean="0">
                <a:solidFill>
                  <a:schemeClr val="accent1"/>
                </a:solidFill>
                <a:cs typeface="Consolas" pitchFamily="49" charset="0"/>
              </a:rPr>
              <a:t>0</a:t>
            </a:r>
            <a:r>
              <a:rPr lang="en-US" dirty="0">
                <a:cs typeface="Consolas" pitchFamily="49" charset="0"/>
              </a:rPr>
              <a:t> </a:t>
            </a:r>
            <a:r>
              <a:rPr lang="en-US" dirty="0"/>
              <a:t>there is not current through </a:t>
            </a:r>
            <a:r>
              <a:rPr lang="en-US" b="1" dirty="0"/>
              <a:t>the </a:t>
            </a:r>
            <a:r>
              <a:rPr lang="en-US" b="1" dirty="0" smtClean="0"/>
              <a:t>drain</a:t>
            </a:r>
          </a:p>
          <a:p>
            <a:pPr marL="757238" lvl="2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/>
              <a:t>One of n-p junction is always closed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444331" y="4411110"/>
            <a:ext cx="5905542" cy="127321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71914" y="4420072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54561" y="4420073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3" name="Straight Connector 12"/>
          <p:cNvCxnSpPr>
            <a:stCxn id="7" idx="0"/>
          </p:cNvCxnSpPr>
          <p:nvPr/>
        </p:nvCxnSpPr>
        <p:spPr bwMode="auto">
          <a:xfrm flipH="1" flipV="1">
            <a:off x="2804357" y="3057642"/>
            <a:ext cx="1" cy="60198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aight Connector 13"/>
          <p:cNvCxnSpPr>
            <a:stCxn id="6" idx="0"/>
          </p:cNvCxnSpPr>
          <p:nvPr/>
        </p:nvCxnSpPr>
        <p:spPr bwMode="auto">
          <a:xfrm flipV="1">
            <a:off x="4407015" y="3126222"/>
            <a:ext cx="0" cy="533401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Straight Connector 14"/>
          <p:cNvCxnSpPr>
            <a:stCxn id="9" idx="0"/>
          </p:cNvCxnSpPr>
          <p:nvPr/>
        </p:nvCxnSpPr>
        <p:spPr bwMode="auto">
          <a:xfrm flipH="1" flipV="1">
            <a:off x="5987396" y="3126222"/>
            <a:ext cx="1" cy="533401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Straight Connector 15"/>
          <p:cNvCxnSpPr>
            <a:stCxn id="4" idx="2"/>
          </p:cNvCxnSpPr>
          <p:nvPr/>
        </p:nvCxnSpPr>
        <p:spPr bwMode="auto">
          <a:xfrm>
            <a:off x="4397102" y="5684323"/>
            <a:ext cx="0" cy="497519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379305" y="2661402"/>
            <a:ext cx="92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8642" y="2661402"/>
            <a:ext cx="689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8097" y="2661402"/>
            <a:ext cx="749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Drain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2437207" y="4420074"/>
            <a:ext cx="734302" cy="40193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12495" y="2953997"/>
            <a:ext cx="1063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+mj-lt"/>
                <a:cs typeface="Consolas" pitchFamily="49" charset="0"/>
              </a:rPr>
              <a:t>0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+mj-lt"/>
                <a:cs typeface="Consolas" pitchFamily="49" charset="0"/>
              </a:rPr>
              <a:t>/Z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69922" y="2953997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+mj-lt"/>
                <a:cs typeface="Consolas" pitchFamily="49" charset="0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 bwMode="auto">
          <a:xfrm>
            <a:off x="5254953" y="4430692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5437600" y="4430693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5620246" y="4430694"/>
            <a:ext cx="734302" cy="40193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38533" y="2946729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+mj-lt"/>
                <a:cs typeface="Consolas" pitchFamily="49" charset="0"/>
              </a:rPr>
              <a:t>Z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857217" y="3659623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254560" y="3659622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437599" y="3659623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444331" y="3957086"/>
            <a:ext cx="1064870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285003" y="3957086"/>
            <a:ext cx="1064870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110121" y="3957086"/>
            <a:ext cx="2593788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4009070" y="4712051"/>
            <a:ext cx="707543" cy="392615"/>
            <a:chOff x="4009070" y="4712051"/>
            <a:chExt cx="707543" cy="392615"/>
          </a:xfrm>
        </p:grpSpPr>
        <p:cxnSp>
          <p:nvCxnSpPr>
            <p:cNvPr id="46" name="Straight Arrow Connector 45"/>
            <p:cNvCxnSpPr/>
            <p:nvPr/>
          </p:nvCxnSpPr>
          <p:spPr bwMode="auto">
            <a:xfrm flipH="1">
              <a:off x="4087900" y="4712051"/>
              <a:ext cx="628713" cy="0"/>
            </a:xfrm>
            <a:prstGeom prst="straightConnector1">
              <a:avLst/>
            </a:prstGeom>
            <a:ln>
              <a:headEnd type="none" w="sm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4009070" y="4735334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</a:t>
              </a:r>
              <a:r>
                <a:rPr lang="en-US" sz="1400" dirty="0" err="1" smtClean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cc</a:t>
              </a:r>
              <a:endParaRPr lang="en-US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069229" y="4724868"/>
            <a:ext cx="743755" cy="379798"/>
            <a:chOff x="3069229" y="4724868"/>
            <a:chExt cx="743755" cy="379798"/>
          </a:xfrm>
        </p:grpSpPr>
        <p:cxnSp>
          <p:nvCxnSpPr>
            <p:cNvPr id="54" name="Straight Arrow Connector 53"/>
            <p:cNvCxnSpPr/>
            <p:nvPr/>
          </p:nvCxnSpPr>
          <p:spPr bwMode="auto">
            <a:xfrm>
              <a:off x="3069229" y="4724868"/>
              <a:ext cx="628713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sm" len="sm"/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3421530" y="4735334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</a:t>
              </a:r>
              <a:r>
                <a:rPr lang="en-US" sz="1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d</a:t>
              </a:r>
              <a:endParaRPr lang="en-US" sz="1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</p:grpSp>
      <p:sp>
        <p:nvSpPr>
          <p:cNvPr id="56" name="Line Callout 2 (No Border) 55"/>
          <p:cNvSpPr/>
          <p:nvPr/>
        </p:nvSpPr>
        <p:spPr>
          <a:xfrm>
            <a:off x="290056" y="5771272"/>
            <a:ext cx="3238891" cy="412959"/>
          </a:xfrm>
          <a:prstGeom prst="callout2">
            <a:avLst>
              <a:gd name="adj1" fmla="val 1125"/>
              <a:gd name="adj2" fmla="val 50247"/>
              <a:gd name="adj3" fmla="val -58702"/>
              <a:gd name="adj4" fmla="val 69065"/>
              <a:gd name="adj5" fmla="val -108853"/>
              <a:gd name="adj6" fmla="val 73793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tx1"/>
                </a:solidFill>
                <a:latin typeface="+mj-lt"/>
              </a:rPr>
              <a:t>This p-n junction is closed: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its field balances the field of the supply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9" name="Line Callout 2 (No Border) 58"/>
          <p:cNvSpPr/>
          <p:nvPr/>
        </p:nvSpPr>
        <p:spPr>
          <a:xfrm>
            <a:off x="4716613" y="5784502"/>
            <a:ext cx="3238891" cy="412959"/>
          </a:xfrm>
          <a:prstGeom prst="callout2">
            <a:avLst>
              <a:gd name="adj1" fmla="val -5387"/>
              <a:gd name="adj2" fmla="val 6516"/>
              <a:gd name="adj3" fmla="val -93435"/>
              <a:gd name="adj4" fmla="val -5390"/>
              <a:gd name="adj5" fmla="val -150099"/>
              <a:gd name="adj6" fmla="val -30277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tx1"/>
                </a:solidFill>
                <a:latin typeface="+mj-lt"/>
              </a:rPr>
              <a:t>No current through this p-n junction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817438" y="2319513"/>
            <a:ext cx="2194215" cy="748585"/>
            <a:chOff x="6817438" y="2319513"/>
            <a:chExt cx="2194215" cy="748585"/>
          </a:xfrm>
        </p:grpSpPr>
        <p:grpSp>
          <p:nvGrpSpPr>
            <p:cNvPr id="30" name="Group 29"/>
            <p:cNvGrpSpPr/>
            <p:nvPr/>
          </p:nvGrpSpPr>
          <p:grpSpPr>
            <a:xfrm>
              <a:off x="7184964" y="2319513"/>
              <a:ext cx="517353" cy="746648"/>
              <a:chOff x="7184964" y="2319513"/>
              <a:chExt cx="517353" cy="746648"/>
            </a:xfrm>
          </p:grpSpPr>
          <p:sp>
            <p:nvSpPr>
              <p:cNvPr id="20" name="Isosceles Triangle 19"/>
              <p:cNvSpPr/>
              <p:nvPr/>
            </p:nvSpPr>
            <p:spPr bwMode="auto">
              <a:xfrm rot="5400000">
                <a:off x="7067447" y="2437030"/>
                <a:ext cx="746648" cy="511614"/>
              </a:xfrm>
              <a:prstGeom prst="triangl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 bwMode="auto">
              <a:xfrm flipV="1">
                <a:off x="7702317" y="2319513"/>
                <a:ext cx="0" cy="746648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45" name="Group 44"/>
            <p:cNvGrpSpPr/>
            <p:nvPr/>
          </p:nvGrpSpPr>
          <p:grpSpPr>
            <a:xfrm rot="10800000">
              <a:off x="8141306" y="2321450"/>
              <a:ext cx="517353" cy="746648"/>
              <a:chOff x="7184964" y="2319513"/>
              <a:chExt cx="517353" cy="746648"/>
            </a:xfrm>
          </p:grpSpPr>
          <p:sp>
            <p:nvSpPr>
              <p:cNvPr id="47" name="Isosceles Triangle 46"/>
              <p:cNvSpPr/>
              <p:nvPr/>
            </p:nvSpPr>
            <p:spPr bwMode="auto">
              <a:xfrm rot="5400000">
                <a:off x="7067447" y="2437030"/>
                <a:ext cx="746648" cy="511614"/>
              </a:xfrm>
              <a:prstGeom prst="triangl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7702317" y="2319513"/>
                <a:ext cx="0" cy="746648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32" name="Straight Connector 31"/>
            <p:cNvCxnSpPr>
              <a:stCxn id="20" idx="0"/>
              <a:endCxn id="47" idx="0"/>
            </p:cNvCxnSpPr>
            <p:nvPr/>
          </p:nvCxnSpPr>
          <p:spPr bwMode="auto">
            <a:xfrm>
              <a:off x="7696578" y="2692837"/>
              <a:ext cx="450467" cy="193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" name="Straight Connector 33"/>
            <p:cNvCxnSpPr>
              <a:stCxn id="20" idx="3"/>
            </p:cNvCxnSpPr>
            <p:nvPr/>
          </p:nvCxnSpPr>
          <p:spPr bwMode="auto">
            <a:xfrm flipH="1">
              <a:off x="6817438" y="2692837"/>
              <a:ext cx="36752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6" name="Straight Connector 35"/>
            <p:cNvCxnSpPr>
              <a:stCxn id="47" idx="3"/>
            </p:cNvCxnSpPr>
            <p:nvPr/>
          </p:nvCxnSpPr>
          <p:spPr bwMode="auto">
            <a:xfrm flipV="1">
              <a:off x="8658659" y="2692837"/>
              <a:ext cx="352994" cy="193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032971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4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0.02407 L 2.22222E-6 1.11111E-6 " pathEditMode="relative" rAng="0" ptsTypes="AA">
                                      <p:cBhvr>
                                        <p:cTn id="33" dur="2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04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44444E-6 L -0.00018 -0.0076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9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4.44444E-6 L -0.00018 -0.00763 " pathEditMode="relative" rAng="0" ptsTypes="AA">
                                      <p:cBhvr>
                                        <p:cTn id="49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2" grpId="0" animBg="1"/>
      <p:bldP spid="22" grpId="1" animBg="1"/>
      <p:bldP spid="39" grpId="0"/>
      <p:bldP spid="40" grpId="0"/>
      <p:bldP spid="42" grpId="0" animBg="1"/>
      <p:bldP spid="43" grpId="0" animBg="1"/>
      <p:bldP spid="44" grpId="0" animBg="1"/>
      <p:bldP spid="44" grpId="1" animBg="1"/>
      <p:bldP spid="50" grpId="0"/>
      <p:bldP spid="50" grpId="1"/>
      <p:bldP spid="56" grpId="0" animBg="1"/>
      <p:bldP spid="5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State for N-type MOSFET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84723"/>
            <a:ext cx="7912883" cy="1000957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000" dirty="0"/>
              <a:t>For </a:t>
            </a:r>
            <a:r>
              <a:rPr lang="en-US" sz="2000" dirty="0">
                <a:solidFill>
                  <a:schemeClr val="accent1"/>
                </a:solidFill>
              </a:rPr>
              <a:t>N</a:t>
            </a:r>
            <a:r>
              <a:rPr lang="en-US" sz="2000" dirty="0"/>
              <a:t>-type MOSFET if </a:t>
            </a:r>
            <a:r>
              <a:rPr lang="en-US" sz="2000" b="1" dirty="0"/>
              <a:t>the gate </a:t>
            </a:r>
            <a:r>
              <a:rPr lang="en-US" sz="2000" dirty="0"/>
              <a:t>is </a:t>
            </a:r>
            <a:r>
              <a:rPr lang="en-US" sz="2000" dirty="0" smtClean="0"/>
              <a:t>equal </a:t>
            </a:r>
            <a:r>
              <a:rPr lang="en-US" sz="2000" dirty="0"/>
              <a:t>to </a:t>
            </a:r>
            <a:r>
              <a:rPr lang="en-US" dirty="0" err="1" smtClean="0">
                <a:solidFill>
                  <a:srgbClr val="FF0000"/>
                </a:solidFill>
                <a:cs typeface="Consolas" pitchFamily="49" charset="0"/>
              </a:rPr>
              <a:t>V</a:t>
            </a:r>
            <a:r>
              <a:rPr lang="en-US" baseline="-25000" dirty="0" err="1" smtClean="0">
                <a:solidFill>
                  <a:srgbClr val="FF0000"/>
                </a:solidFill>
                <a:cs typeface="Consolas" pitchFamily="49" charset="0"/>
              </a:rPr>
              <a:t>t</a:t>
            </a:r>
            <a:r>
              <a:rPr lang="en-US" sz="2000" dirty="0" smtClean="0"/>
              <a:t> </a:t>
            </a:r>
            <a:r>
              <a:rPr lang="en-US" sz="2000" dirty="0"/>
              <a:t>then the transistor is open: the source value pass to </a:t>
            </a:r>
            <a:r>
              <a:rPr lang="en-US" sz="2000" dirty="0" smtClean="0"/>
              <a:t>the drain</a:t>
            </a:r>
          </a:p>
          <a:p>
            <a:pPr marL="342900" indent="-342900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000" dirty="0" smtClean="0"/>
              <a:t>The current passes though the small channel created by the gate field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(more detailed explanation is out of scope of our course) 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432416" y="4417805"/>
            <a:ext cx="5905542" cy="1273213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243037" y="4417803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425684" y="4417804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13" name="Straight Connector 12"/>
          <p:cNvCxnSpPr>
            <a:stCxn id="7" idx="0"/>
          </p:cNvCxnSpPr>
          <p:nvPr/>
        </p:nvCxnSpPr>
        <p:spPr bwMode="auto">
          <a:xfrm flipH="1" flipV="1">
            <a:off x="2792442" y="3064337"/>
            <a:ext cx="1" cy="60198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aight Connector 13"/>
          <p:cNvCxnSpPr>
            <a:stCxn id="6" idx="0"/>
          </p:cNvCxnSpPr>
          <p:nvPr/>
        </p:nvCxnSpPr>
        <p:spPr bwMode="auto">
          <a:xfrm flipV="1">
            <a:off x="4395100" y="3132917"/>
            <a:ext cx="0" cy="533401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Straight Connector 14"/>
          <p:cNvCxnSpPr>
            <a:stCxn id="9" idx="0"/>
          </p:cNvCxnSpPr>
          <p:nvPr/>
        </p:nvCxnSpPr>
        <p:spPr bwMode="auto">
          <a:xfrm flipH="1" flipV="1">
            <a:off x="5975481" y="3132917"/>
            <a:ext cx="1" cy="533401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Straight Connector 15"/>
          <p:cNvCxnSpPr>
            <a:stCxn id="4" idx="2"/>
          </p:cNvCxnSpPr>
          <p:nvPr/>
        </p:nvCxnSpPr>
        <p:spPr bwMode="auto">
          <a:xfrm>
            <a:off x="4385187" y="5691018"/>
            <a:ext cx="0" cy="497519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367390" y="2668097"/>
            <a:ext cx="92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6727" y="2668097"/>
            <a:ext cx="689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6182" y="2668097"/>
            <a:ext cx="749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j-lt"/>
              </a:rPr>
              <a:t>Drain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5608330" y="4417805"/>
            <a:ext cx="734302" cy="40193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059999" y="4417803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242646" y="4417804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2425292" y="4417805"/>
            <a:ext cx="734302" cy="40193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845302" y="3666318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242645" y="3666317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425684" y="3666318"/>
            <a:ext cx="1099595" cy="75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432416" y="3954816"/>
            <a:ext cx="1064870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273088" y="3954816"/>
            <a:ext cx="1064870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098206" y="3954816"/>
            <a:ext cx="2593788" cy="462988"/>
          </a:xfrm>
          <a:prstGeom prst="rect">
            <a:avLst/>
          </a:prstGeom>
          <a:pattFill prst="wdUpDiag">
            <a:fgClr>
              <a:schemeClr val="tx2">
                <a:lumMod val="75000"/>
              </a:schemeClr>
            </a:fgClr>
            <a:bgClr>
              <a:schemeClr val="bg1"/>
            </a:bgClr>
          </a:patt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3924327" y="373704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4197490" y="373704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4470653" y="373704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4743817" y="373704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171934" y="4432202"/>
            <a:ext cx="2426393" cy="233816"/>
            <a:chOff x="3171934" y="4432202"/>
            <a:chExt cx="2426393" cy="233816"/>
          </a:xfrm>
        </p:grpSpPr>
        <p:sp>
          <p:nvSpPr>
            <p:cNvPr id="36" name="Rectangle 35"/>
            <p:cNvSpPr/>
            <p:nvPr/>
          </p:nvSpPr>
          <p:spPr bwMode="auto">
            <a:xfrm>
              <a:off x="3176324" y="4432202"/>
              <a:ext cx="2390761" cy="230005"/>
            </a:xfrm>
            <a:prstGeom prst="rect">
              <a:avLst/>
            </a:prstGeom>
            <a:pattFill prst="lgConfetti">
              <a:fgClr>
                <a:schemeClr val="accent1"/>
              </a:fgClr>
              <a:bgClr>
                <a:schemeClr val="accent6"/>
              </a:bgClr>
            </a:pattFill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5433735" y="4432202"/>
              <a:ext cx="164592" cy="233816"/>
            </a:xfrm>
            <a:prstGeom prst="rect">
              <a:avLst/>
            </a:prstGeom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lt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171934" y="4432202"/>
              <a:ext cx="164592" cy="233816"/>
            </a:xfrm>
            <a:prstGeom prst="rect">
              <a:avLst/>
            </a:prstGeom>
            <a:ln>
              <a:noFill/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lt1"/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41" name="Oval 40"/>
          <p:cNvSpPr/>
          <p:nvPr/>
        </p:nvSpPr>
        <p:spPr bwMode="auto">
          <a:xfrm>
            <a:off x="3960904" y="4447548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45" name="Oval 44"/>
          <p:cNvSpPr/>
          <p:nvPr/>
        </p:nvSpPr>
        <p:spPr bwMode="auto">
          <a:xfrm>
            <a:off x="4698098" y="4447548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2495" y="3025717"/>
            <a:ext cx="1063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  <a:latin typeface="+mj-lt"/>
                <a:cs typeface="Consolas" pitchFamily="49" charset="0"/>
              </a:rPr>
              <a:t>V</a:t>
            </a:r>
            <a:r>
              <a:rPr lang="en-US" sz="2800" baseline="-25000" dirty="0" err="1">
                <a:solidFill>
                  <a:srgbClr val="FF0000"/>
                </a:solidFill>
                <a:latin typeface="+mj-lt"/>
                <a:cs typeface="Consolas" pitchFamily="49" charset="0"/>
              </a:rPr>
              <a:t>t</a:t>
            </a:r>
            <a:endParaRPr lang="en-US" sz="2800" dirty="0" smtClean="0">
              <a:solidFill>
                <a:srgbClr val="FF0000"/>
              </a:solidFill>
              <a:latin typeface="+mj-lt"/>
              <a:cs typeface="Consolas" pitchFamily="49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869922" y="3025717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  <a:latin typeface="+mj-lt"/>
                <a:cs typeface="Consolas" pitchFamily="49" charset="0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8533" y="301844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  <a:cs typeface="Consolas" pitchFamily="49" charset="0"/>
              </a:rPr>
              <a:t>0</a:t>
            </a:r>
            <a:endParaRPr lang="en-US" sz="2800" dirty="0">
              <a:solidFill>
                <a:schemeClr val="tx2">
                  <a:lumMod val="50000"/>
                </a:schemeClr>
              </a:solidFill>
              <a:latin typeface="+mj-lt"/>
              <a:cs typeface="Consolas" pitchFamily="49" charset="0"/>
            </a:endParaRPr>
          </a:p>
        </p:txBody>
      </p:sp>
      <p:sp>
        <p:nvSpPr>
          <p:cNvPr id="51" name="Line Callout 2 (No Border) 50"/>
          <p:cNvSpPr/>
          <p:nvPr/>
        </p:nvSpPr>
        <p:spPr>
          <a:xfrm>
            <a:off x="776553" y="5782544"/>
            <a:ext cx="3238891" cy="412959"/>
          </a:xfrm>
          <a:prstGeom prst="callout2">
            <a:avLst>
              <a:gd name="adj1" fmla="val 9808"/>
              <a:gd name="adj2" fmla="val 71559"/>
              <a:gd name="adj3" fmla="val -69556"/>
              <a:gd name="adj4" fmla="val 87056"/>
              <a:gd name="adj5" fmla="val -260812"/>
              <a:gd name="adj6" fmla="val 98980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tx1"/>
                </a:solidFill>
                <a:latin typeface="+mj-lt"/>
              </a:rPr>
              <a:t>N-type channel with free conductors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(electrons)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385187" y="4914235"/>
            <a:ext cx="425212" cy="474786"/>
            <a:chOff x="4385187" y="4914235"/>
            <a:chExt cx="425212" cy="474786"/>
          </a:xfrm>
        </p:grpSpPr>
        <p:cxnSp>
          <p:nvCxnSpPr>
            <p:cNvPr id="46" name="Straight Arrow Connector 45"/>
            <p:cNvCxnSpPr/>
            <p:nvPr/>
          </p:nvCxnSpPr>
          <p:spPr bwMode="auto">
            <a:xfrm flipH="1">
              <a:off x="4385187" y="4914235"/>
              <a:ext cx="4958" cy="295463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sm" len="sm"/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4428563" y="5019689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E</a:t>
              </a:r>
              <a:r>
                <a:rPr lang="en-US" sz="1400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g</a:t>
              </a:r>
              <a:endParaRPr lang="en-US" sz="1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793227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6" presetClass="pat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C -3.05556E-6 0.00695 0.00625 0.00648 0.01337 0.00648 C 0.01754 0.00602 0.02552 0.0044 0.02552 -2.22222E-6 C 0.02535 -0.00416 0.02118 -0.0081 0.01268 -0.0081 C 0.00556 -0.0081 -3.05556E-6 -0.00717 -3.05556E-6 -2.22222E-6 Z " pathEditMode="relative" rAng="0" ptsTypes="fffff">
                                      <p:cBhvr>
                                        <p:cTn id="47" dur="2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-6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6" presetClass="path" presetSubtype="0" repeatCount="indefinite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3.05556E-6 -2.22222E-6 C -3.05556E-6 0.00695 0.00625 0.00648 0.01337 0.00648 C 0.01754 0.00602 0.02552 0.0044 0.02552 -2.22222E-6 C 0.02535 -0.00416 0.02118 -0.0081 0.01268 -0.0081 C 0.00556 -0.0081 -3.05556E-6 -0.00717 -3.05556E-6 -2.22222E-6 Z " pathEditMode="relative" rAng="0" ptsTypes="fffff">
                                      <p:cBhvr>
                                        <p:cTn id="4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41" grpId="0" animBg="1"/>
      <p:bldP spid="41" grpId="1" animBg="1"/>
      <p:bldP spid="45" grpId="0" animBg="1"/>
      <p:bldP spid="45" grpId="1" animBg="1"/>
      <p:bldP spid="47" grpId="0"/>
      <p:bldP spid="48" grpId="0"/>
      <p:bldP spid="49" grpId="0"/>
      <p:bldP spid="49" grpId="1"/>
      <p:bldP spid="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>
            <a:off x="3307080" y="4464336"/>
            <a:ext cx="1847088" cy="85953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dirty="0" smtClean="0">
              <a:solidFill>
                <a:schemeClr val="accent6">
                  <a:lumMod val="50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Refresher: Physical </a:t>
            </a:r>
            <a:r>
              <a:rPr lang="en-US" b="1" dirty="0"/>
              <a:t>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6443"/>
            <a:ext cx="8228012" cy="2052517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dirty="0" smtClean="0"/>
              <a:t>Real physical </a:t>
            </a:r>
            <a:r>
              <a:rPr lang="en-US" dirty="0"/>
              <a:t>circuits deal with physical properties, such as </a:t>
            </a:r>
            <a:r>
              <a:rPr lang="en-US" i="1" dirty="0"/>
              <a:t>voltages</a:t>
            </a:r>
            <a:r>
              <a:rPr lang="en-US" dirty="0"/>
              <a:t> and </a:t>
            </a:r>
            <a:r>
              <a:rPr lang="en-US" i="1" dirty="0" smtClean="0"/>
              <a:t>currents</a:t>
            </a:r>
          </a:p>
          <a:p>
            <a:pPr marL="342900" indent="-342900">
              <a:spcBef>
                <a:spcPts val="1800"/>
              </a:spcBef>
              <a:buFont typeface="Courier New" pitchFamily="49" charset="0"/>
              <a:buChar char="o"/>
            </a:pPr>
            <a:r>
              <a:rPr lang="en-US" dirty="0"/>
              <a:t>Digital circuits use the abstractions of </a:t>
            </a:r>
            <a:r>
              <a:rPr lang="en-US" sz="2800" dirty="0">
                <a:cs typeface="Consolas" pitchFamily="49" charset="0"/>
              </a:rPr>
              <a:t>0</a:t>
            </a:r>
            <a:r>
              <a:rPr lang="en-US" dirty="0"/>
              <a:t> and </a:t>
            </a:r>
            <a:r>
              <a:rPr lang="en-US" sz="2800" dirty="0">
                <a:cs typeface="Consolas" pitchFamily="49" charset="0"/>
              </a:rPr>
              <a:t>1</a:t>
            </a:r>
            <a:r>
              <a:rPr lang="en-US" dirty="0"/>
              <a:t> to represent the presence or absence of these physical properties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307080" y="3703320"/>
            <a:ext cx="1844040" cy="75438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chemeClr val="tx1"/>
                </a:solidFill>
                <a:latin typeface="+mj-lt"/>
                <a:cs typeface="Arial" pitchFamily="34" charset="0"/>
              </a:rPr>
              <a:t>Logic </a:t>
            </a:r>
            <a:r>
              <a:rPr lang="en-US" sz="2800" b="1" dirty="0" smtClean="0">
                <a:solidFill>
                  <a:schemeClr val="tx1"/>
                </a:solidFill>
                <a:latin typeface="+mj-lt"/>
                <a:cs typeface="Consolas" pitchFamily="49" charset="0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307080" y="5312664"/>
            <a:ext cx="1844040" cy="75438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>
                <a:solidFill>
                  <a:schemeClr val="tx1"/>
                </a:solidFill>
                <a:latin typeface="+mj-lt"/>
                <a:cs typeface="Arial" pitchFamily="34" charset="0"/>
              </a:rPr>
              <a:t>Logic </a:t>
            </a:r>
            <a:r>
              <a:rPr lang="en-US" sz="2800" b="1" dirty="0">
                <a:solidFill>
                  <a:schemeClr val="tx1"/>
                </a:solidFill>
                <a:latin typeface="+mj-lt"/>
                <a:cs typeface="Consolas" pitchFamily="49" charset="0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307080" y="4457700"/>
            <a:ext cx="1844040" cy="43129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cs typeface="Arial" pitchFamily="34" charset="0"/>
              </a:rPr>
              <a:t>Weak 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307080" y="4888992"/>
            <a:ext cx="1844040" cy="42976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cs typeface="Arial" pitchFamily="34" charset="0"/>
              </a:rPr>
              <a:t>Weak 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  <a:latin typeface="+mj-lt"/>
                <a:cs typeface="Consolas" pitchFamily="49" charset="0"/>
              </a:rPr>
              <a:t>0</a:t>
            </a:r>
            <a:endParaRPr lang="en-US" sz="2000" b="1" dirty="0" smtClean="0">
              <a:solidFill>
                <a:schemeClr val="accent6">
                  <a:lumMod val="50000"/>
                </a:schemeClr>
              </a:solidFill>
              <a:latin typeface="+mj-lt"/>
              <a:cs typeface="Consolas" pitchFamily="49" charset="0"/>
            </a:endParaRPr>
          </a:p>
        </p:txBody>
      </p:sp>
      <p:sp>
        <p:nvSpPr>
          <p:cNvPr id="10" name="Right Brace 9"/>
          <p:cNvSpPr/>
          <p:nvPr/>
        </p:nvSpPr>
        <p:spPr bwMode="auto">
          <a:xfrm>
            <a:off x="5271247" y="4457700"/>
            <a:ext cx="206188" cy="854964"/>
          </a:xfrm>
          <a:prstGeom prst="rightBrace">
            <a:avLst>
              <a:gd name="adj1" fmla="val 40362"/>
              <a:gd name="adj2" fmla="val 50000"/>
            </a:avLst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77435" y="4661154"/>
            <a:ext cx="1250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undefined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3097" y="3392670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5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9318" y="4151130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3.5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2204" y="5010388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1.5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960" y="5758672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0 V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745494" y="2936431"/>
            <a:ext cx="1182491" cy="3130614"/>
            <a:chOff x="648214" y="2936431"/>
            <a:chExt cx="1182491" cy="3130614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V="1">
              <a:off x="1828800" y="3068320"/>
              <a:ext cx="1905" cy="2998725"/>
            </a:xfrm>
            <a:prstGeom prst="straightConnector1">
              <a:avLst/>
            </a:prstGeom>
            <a:ln>
              <a:headEnd type="none" w="sm" len="sm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48214" y="2936431"/>
              <a:ext cx="10955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smtClean="0">
                  <a:latin typeface="+mj-lt"/>
                </a:rPr>
                <a:t>voltage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 bwMode="auto">
          <a:xfrm>
            <a:off x="2773680" y="6067044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Line Callout 2 (No Border) 24"/>
          <p:cNvSpPr/>
          <p:nvPr/>
        </p:nvSpPr>
        <p:spPr>
          <a:xfrm>
            <a:off x="5961529" y="3167264"/>
            <a:ext cx="3047999" cy="1360759"/>
          </a:xfrm>
          <a:prstGeom prst="callout2">
            <a:avLst>
              <a:gd name="adj1" fmla="val 78870"/>
              <a:gd name="adj2" fmla="val 3651"/>
              <a:gd name="adj3" fmla="val 102446"/>
              <a:gd name="adj4" fmla="val 1229"/>
              <a:gd name="adj5" fmla="val 114050"/>
              <a:gd name="adj6" fmla="val -7586"/>
            </a:avLst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5888" indent="-115888"/>
            <a:r>
              <a:rPr lang="en-US" sz="1600" dirty="0" smtClean="0">
                <a:solidFill>
                  <a:schemeClr val="tx1"/>
                </a:solidFill>
                <a:latin typeface="+mj-lt"/>
              </a:rPr>
              <a:t>It could not be a stable state: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should not occur in the circuit except during transitions from one state </a:t>
            </a:r>
            <a:r>
              <a:rPr lang="en-US" sz="16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to he other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 bwMode="auto">
          <a:xfrm>
            <a:off x="2773680" y="5312664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 bwMode="auto">
          <a:xfrm>
            <a:off x="2773680" y="4464336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 bwMode="auto">
          <a:xfrm>
            <a:off x="2771775" y="3703320"/>
            <a:ext cx="30861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 bwMode="auto">
          <a:xfrm flipH="1">
            <a:off x="1311442" y="4888992"/>
            <a:ext cx="3959805" cy="0"/>
          </a:xfrm>
          <a:prstGeom prst="line">
            <a:avLst/>
          </a:prstGeom>
          <a:ln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3218" y="4599599"/>
            <a:ext cx="441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C00000"/>
                </a:solidFill>
                <a:latin typeface="+mj-lt"/>
              </a:rPr>
              <a:t>V</a:t>
            </a:r>
            <a:r>
              <a:rPr lang="en-US" sz="2400" baseline="-25000" dirty="0" err="1" smtClean="0">
                <a:solidFill>
                  <a:srgbClr val="C00000"/>
                </a:solidFill>
                <a:latin typeface="+mj-lt"/>
              </a:rPr>
              <a:t>t</a:t>
            </a:r>
            <a:endParaRPr lang="ru-RU" sz="2400" baseline="-25000" dirty="0" err="1" smtClean="0">
              <a:solidFill>
                <a:srgbClr val="C00000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7814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  <p:bldP spid="25" grpId="0" animBg="1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N-type MOSFET logical scheme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457200" y="1126747"/>
            <a:ext cx="1243593" cy="1816769"/>
            <a:chOff x="9063488" y="3192084"/>
            <a:chExt cx="1243593" cy="1816769"/>
          </a:xfrm>
        </p:grpSpPr>
        <p:grpSp>
          <p:nvGrpSpPr>
            <p:cNvPr id="23" name="Group 22"/>
            <p:cNvGrpSpPr/>
            <p:nvPr/>
          </p:nvGrpSpPr>
          <p:grpSpPr>
            <a:xfrm>
              <a:off x="9063488" y="3192084"/>
              <a:ext cx="1197514" cy="1816769"/>
              <a:chOff x="7550246" y="3192088"/>
              <a:chExt cx="1197514" cy="1816769"/>
            </a:xfrm>
          </p:grpSpPr>
          <p:cxnSp>
            <p:nvCxnSpPr>
              <p:cNvPr id="24" name="Straight Connector 23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" name="Straight Connector 25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7" name="Straight Connector 26"/>
              <p:cNvCxnSpPr/>
              <p:nvPr/>
            </p:nvCxnSpPr>
            <p:spPr bwMode="auto">
              <a:xfrm>
                <a:off x="8747760" y="3192088"/>
                <a:ext cx="0" cy="72847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8" name="Straight Connector 27"/>
              <p:cNvCxnSpPr/>
              <p:nvPr/>
            </p:nvCxnSpPr>
            <p:spPr bwMode="auto">
              <a:xfrm>
                <a:off x="8747760" y="4297082"/>
                <a:ext cx="0" cy="711775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0" name="Straight Connector 29"/>
              <p:cNvCxnSpPr/>
              <p:nvPr/>
            </p:nvCxnSpPr>
            <p:spPr bwMode="auto">
              <a:xfrm flipH="1">
                <a:off x="7550246" y="4108824"/>
                <a:ext cx="9536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32" name="TextBox 31"/>
            <p:cNvSpPr txBox="1"/>
            <p:nvPr/>
          </p:nvSpPr>
          <p:spPr>
            <a:xfrm>
              <a:off x="9421218" y="380777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Gate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727242" y="3445507"/>
              <a:ext cx="579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Drain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578505" y="4310533"/>
              <a:ext cx="7036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Source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22073" y="1667423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/>
                </a:solidFill>
                <a:latin typeface="+mj-lt"/>
              </a:rPr>
              <a:t>0</a:t>
            </a:r>
            <a:endParaRPr lang="ru-RU" b="1" dirty="0" err="1" smtClean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19261" y="2618677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/>
                </a:solidFill>
                <a:latin typeface="+mj-lt"/>
              </a:rPr>
              <a:t>X</a:t>
            </a:r>
            <a:endParaRPr lang="ru-RU" b="1" dirty="0" err="1" smtClean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327399" y="1050000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/>
                </a:solidFill>
                <a:latin typeface="+mj-lt"/>
              </a:rPr>
              <a:t>Z</a:t>
            </a:r>
            <a:endParaRPr lang="ru-RU" b="1" dirty="0" err="1" smtClean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189" y="3124343"/>
            <a:ext cx="2803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When the gate is “closed”, transistor does not conduct</a:t>
            </a:r>
            <a:endParaRPr lang="ru-RU" dirty="0" err="1" smtClean="0">
              <a:latin typeface="+mj-lt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3232456" y="1126747"/>
            <a:ext cx="1218671" cy="1816769"/>
            <a:chOff x="9063488" y="3192084"/>
            <a:chExt cx="1218671" cy="1816769"/>
          </a:xfrm>
        </p:grpSpPr>
        <p:grpSp>
          <p:nvGrpSpPr>
            <p:cNvPr id="59" name="Group 58"/>
            <p:cNvGrpSpPr/>
            <p:nvPr/>
          </p:nvGrpSpPr>
          <p:grpSpPr>
            <a:xfrm>
              <a:off x="9063488" y="3192084"/>
              <a:ext cx="1197514" cy="1816769"/>
              <a:chOff x="7550246" y="3192088"/>
              <a:chExt cx="1197514" cy="1816769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5" name="Straight Connector 64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8747760" y="3192088"/>
                <a:ext cx="0" cy="72847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8747760" y="4297082"/>
                <a:ext cx="0" cy="711775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9" name="Straight Connector 68"/>
              <p:cNvCxnSpPr/>
              <p:nvPr/>
            </p:nvCxnSpPr>
            <p:spPr bwMode="auto">
              <a:xfrm flipH="1">
                <a:off x="7550246" y="4108824"/>
                <a:ext cx="9536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60" name="TextBox 59"/>
            <p:cNvSpPr txBox="1"/>
            <p:nvPr/>
          </p:nvSpPr>
          <p:spPr>
            <a:xfrm>
              <a:off x="9217006" y="380777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Gate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640412" y="3530017"/>
              <a:ext cx="579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Drain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578505" y="4310533"/>
              <a:ext cx="7036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Source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197329" y="1667423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3300"/>
                </a:solidFill>
                <a:latin typeface="+mj-lt"/>
              </a:rPr>
              <a:t>1</a:t>
            </a:r>
            <a:endParaRPr lang="ru-RU" b="1" dirty="0" err="1" smtClean="0">
              <a:solidFill>
                <a:srgbClr val="FF3300"/>
              </a:solidFill>
              <a:latin typeface="+mj-lt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094517" y="2618677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/>
                </a:solidFill>
                <a:latin typeface="+mj-lt"/>
              </a:rPr>
              <a:t>0</a:t>
            </a:r>
            <a:endParaRPr lang="ru-RU" b="1" dirty="0" err="1" smtClean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02655" y="1050000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/>
                </a:solidFill>
                <a:latin typeface="+mj-lt"/>
              </a:rPr>
              <a:t>0</a:t>
            </a:r>
            <a:endParaRPr lang="ru-RU" b="1" dirty="0" err="1" smtClean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47445" y="3124343"/>
            <a:ext cx="2803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When the gate is “open”, transistor can conduct “0”</a:t>
            </a:r>
            <a:endParaRPr lang="ru-RU" dirty="0" err="1" smtClean="0">
              <a:latin typeface="+mj-lt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5874261" y="1126747"/>
            <a:ext cx="1218671" cy="1816769"/>
            <a:chOff x="9063488" y="3192084"/>
            <a:chExt cx="1218671" cy="1816769"/>
          </a:xfrm>
        </p:grpSpPr>
        <p:grpSp>
          <p:nvGrpSpPr>
            <p:cNvPr id="75" name="Group 74"/>
            <p:cNvGrpSpPr/>
            <p:nvPr/>
          </p:nvGrpSpPr>
          <p:grpSpPr>
            <a:xfrm>
              <a:off x="9063488" y="3192084"/>
              <a:ext cx="1197514" cy="1816769"/>
              <a:chOff x="7550246" y="3192088"/>
              <a:chExt cx="1197514" cy="1816769"/>
            </a:xfrm>
          </p:grpSpPr>
          <p:cxnSp>
            <p:nvCxnSpPr>
              <p:cNvPr id="79" name="Straight Connector 78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0" name="Straight Connector 79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1" name="Straight Connector 80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2" name="Straight Connector 81"/>
              <p:cNvCxnSpPr/>
              <p:nvPr/>
            </p:nvCxnSpPr>
            <p:spPr bwMode="auto">
              <a:xfrm>
                <a:off x="8747760" y="3192088"/>
                <a:ext cx="0" cy="72847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3" name="Straight Connector 82"/>
              <p:cNvCxnSpPr/>
              <p:nvPr/>
            </p:nvCxnSpPr>
            <p:spPr bwMode="auto">
              <a:xfrm>
                <a:off x="8747760" y="4297082"/>
                <a:ext cx="0" cy="711775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4" name="Straight Connector 83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5" name="Straight Connector 84"/>
              <p:cNvCxnSpPr/>
              <p:nvPr/>
            </p:nvCxnSpPr>
            <p:spPr bwMode="auto">
              <a:xfrm flipH="1">
                <a:off x="7550246" y="4108824"/>
                <a:ext cx="9536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76" name="TextBox 75"/>
            <p:cNvSpPr txBox="1"/>
            <p:nvPr/>
          </p:nvSpPr>
          <p:spPr>
            <a:xfrm>
              <a:off x="9217006" y="3807772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Gate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40412" y="3530017"/>
              <a:ext cx="579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Drain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578505" y="4310533"/>
              <a:ext cx="7036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Source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839134" y="1667423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3300"/>
                </a:solidFill>
                <a:latin typeface="+mj-lt"/>
              </a:rPr>
              <a:t>1</a:t>
            </a:r>
            <a:endParaRPr lang="ru-RU" b="1" dirty="0" err="1" smtClean="0">
              <a:solidFill>
                <a:srgbClr val="FF3300"/>
              </a:solidFill>
              <a:latin typeface="+mj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736322" y="2618677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FF3300"/>
                </a:solidFill>
                <a:latin typeface="+mj-lt"/>
              </a:defRPr>
            </a:lvl1pPr>
          </a:lstStyle>
          <a:p>
            <a:r>
              <a:rPr lang="en-US" dirty="0" smtClean="0"/>
              <a:t>1</a:t>
            </a:r>
            <a:endParaRPr lang="ru-RU" dirty="0" err="1"/>
          </a:p>
        </p:txBody>
      </p:sp>
      <p:sp>
        <p:nvSpPr>
          <p:cNvPr id="88" name="TextBox 87"/>
          <p:cNvSpPr txBox="1"/>
          <p:nvPr/>
        </p:nvSpPr>
        <p:spPr>
          <a:xfrm>
            <a:off x="6110073" y="1050000"/>
            <a:ext cx="105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  <a:latin typeface="+mj-lt"/>
              </a:rPr>
              <a:t>Weak 1</a:t>
            </a:r>
            <a:endParaRPr lang="ru-RU" b="1" i="1" dirty="0" err="1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89250" y="3124343"/>
            <a:ext cx="2803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When the gate is “open”, transistor conducts “1”, but:</a:t>
            </a:r>
            <a:endParaRPr lang="ru-RU" dirty="0" err="1" smtClean="0">
              <a:latin typeface="+mj-lt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3733970" y="3927766"/>
            <a:ext cx="4952830" cy="2810534"/>
            <a:chOff x="1458411" y="2651760"/>
            <a:chExt cx="5905542" cy="3520440"/>
          </a:xfrm>
        </p:grpSpPr>
        <p:grpSp>
          <p:nvGrpSpPr>
            <p:cNvPr id="91" name="Group 90"/>
            <p:cNvGrpSpPr/>
            <p:nvPr/>
          </p:nvGrpSpPr>
          <p:grpSpPr>
            <a:xfrm>
              <a:off x="1458411" y="3649980"/>
              <a:ext cx="5905542" cy="2024701"/>
              <a:chOff x="1458411" y="2887980"/>
              <a:chExt cx="5905542" cy="2024701"/>
            </a:xfrm>
          </p:grpSpPr>
          <p:sp>
            <p:nvSpPr>
              <p:cNvPr id="99" name="Rectangle 98"/>
              <p:cNvSpPr/>
              <p:nvPr/>
            </p:nvSpPr>
            <p:spPr bwMode="auto">
              <a:xfrm>
                <a:off x="3871297" y="2887981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0" name="Rectangle 99"/>
              <p:cNvSpPr/>
              <p:nvPr/>
            </p:nvSpPr>
            <p:spPr bwMode="auto">
              <a:xfrm>
                <a:off x="2268640" y="2887980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 bwMode="auto">
              <a:xfrm>
                <a:off x="1458411" y="3639468"/>
                <a:ext cx="5905542" cy="1273213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2268640" y="3639467"/>
                <a:ext cx="1099595" cy="60188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 bwMode="auto">
              <a:xfrm>
                <a:off x="1458411" y="3176479"/>
                <a:ext cx="1064870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4" name="Rectangle 103"/>
              <p:cNvSpPr/>
              <p:nvPr/>
            </p:nvSpPr>
            <p:spPr bwMode="auto">
              <a:xfrm>
                <a:off x="5451679" y="2887981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 bwMode="auto">
              <a:xfrm>
                <a:off x="6299083" y="3176479"/>
                <a:ext cx="1064870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 bwMode="auto">
              <a:xfrm>
                <a:off x="3124201" y="3176479"/>
                <a:ext cx="2593788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 bwMode="auto">
              <a:xfrm>
                <a:off x="5451679" y="3639467"/>
                <a:ext cx="1099595" cy="60188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92" name="Straight Connector 91"/>
            <p:cNvCxnSpPr>
              <a:stCxn id="100" idx="0"/>
            </p:cNvCxnSpPr>
            <p:nvPr/>
          </p:nvCxnSpPr>
          <p:spPr bwMode="auto">
            <a:xfrm flipH="1" flipV="1">
              <a:off x="2818437" y="3048000"/>
              <a:ext cx="1" cy="60198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3" name="Straight Connector 92"/>
            <p:cNvCxnSpPr>
              <a:stCxn id="99" idx="0"/>
            </p:cNvCxnSpPr>
            <p:nvPr/>
          </p:nvCxnSpPr>
          <p:spPr bwMode="auto">
            <a:xfrm flipV="1">
              <a:off x="4421095" y="3116580"/>
              <a:ext cx="0" cy="53340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4" name="Straight Connector 93"/>
            <p:cNvCxnSpPr>
              <a:stCxn id="104" idx="0"/>
            </p:cNvCxnSpPr>
            <p:nvPr/>
          </p:nvCxnSpPr>
          <p:spPr bwMode="auto">
            <a:xfrm flipH="1" flipV="1">
              <a:off x="6001476" y="3116580"/>
              <a:ext cx="1" cy="53340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5" name="Straight Connector 94"/>
            <p:cNvCxnSpPr>
              <a:stCxn id="101" idx="2"/>
            </p:cNvCxnSpPr>
            <p:nvPr/>
          </p:nvCxnSpPr>
          <p:spPr bwMode="auto">
            <a:xfrm>
              <a:off x="4411182" y="5674681"/>
              <a:ext cx="0" cy="497519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6" name="TextBox 95"/>
            <p:cNvSpPr txBox="1"/>
            <p:nvPr/>
          </p:nvSpPr>
          <p:spPr>
            <a:xfrm>
              <a:off x="2393385" y="2651760"/>
              <a:ext cx="9249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Source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102722" y="2651760"/>
              <a:ext cx="6892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Gate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662177" y="2651760"/>
              <a:ext cx="7496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latin typeface="+mj-lt"/>
                </a:rPr>
                <a:t>Drain</a:t>
              </a: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4929522" y="4298854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3300"/>
                </a:solidFill>
                <a:latin typeface="+mj-lt"/>
              </a:rPr>
              <a:t>1</a:t>
            </a:r>
            <a:endParaRPr lang="ru-RU" b="1" dirty="0" err="1" smtClean="0">
              <a:solidFill>
                <a:srgbClr val="FF3300"/>
              </a:solidFill>
              <a:latin typeface="+mj-lt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850383" y="4298854"/>
            <a:ext cx="29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3300"/>
                </a:solidFill>
                <a:latin typeface="+mj-lt"/>
              </a:rPr>
              <a:t>1</a:t>
            </a:r>
            <a:endParaRPr lang="ru-RU" b="1" dirty="0" err="1" smtClean="0">
              <a:solidFill>
                <a:srgbClr val="FF3300"/>
              </a:solidFill>
              <a:latin typeface="+mj-lt"/>
            </a:endParaRPr>
          </a:p>
        </p:txBody>
      </p:sp>
      <p:cxnSp>
        <p:nvCxnSpPr>
          <p:cNvPr id="10" name="Straight Arrow Connector 9"/>
          <p:cNvCxnSpPr>
            <a:endCxn id="122" idx="1"/>
          </p:cNvCxnSpPr>
          <p:nvPr/>
        </p:nvCxnSpPr>
        <p:spPr bwMode="auto">
          <a:xfrm>
            <a:off x="5262079" y="4483520"/>
            <a:ext cx="588304" cy="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170360" y="4858262"/>
            <a:ext cx="3175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Voltage between source and gate is 0, so p-n is not fully “open”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(details are beyond the scope of our course)</a:t>
            </a:r>
            <a:endParaRPr lang="ru-RU" dirty="0" err="1" smtClean="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929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0" grpId="0"/>
      <p:bldP spid="51" grpId="0"/>
      <p:bldP spid="8" grpId="0"/>
      <p:bldP spid="70" grpId="0"/>
      <p:bldP spid="71" grpId="0"/>
      <p:bldP spid="72" grpId="0"/>
      <p:bldP spid="73" grpId="0"/>
      <p:bldP spid="86" grpId="0"/>
      <p:bldP spid="87" grpId="0"/>
      <p:bldP spid="88" grpId="0"/>
      <p:bldP spid="89" grpId="0"/>
      <p:bldP spid="121" grpId="0"/>
      <p:bldP spid="122" grpId="0"/>
      <p:bldP spid="11" grpId="0"/>
    </p:bld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CMOS Circuits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347218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CMOS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b="1" dirty="0"/>
              <a:t>Complementary metal–oxide–semiconductor</a:t>
            </a:r>
            <a:r>
              <a:rPr lang="en-US" dirty="0"/>
              <a:t> (</a:t>
            </a:r>
            <a:r>
              <a:rPr lang="en-US" b="1" dirty="0" smtClean="0"/>
              <a:t>CMOS</a:t>
            </a:r>
            <a:r>
              <a:rPr lang="en-US" dirty="0" smtClean="0"/>
              <a:t>)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a technology for </a:t>
            </a:r>
            <a:r>
              <a:rPr lang="en-US" dirty="0" smtClean="0"/>
              <a:t>constructing</a:t>
            </a:r>
            <a:r>
              <a:rPr lang="en-US" dirty="0"/>
              <a:t> integrated </a:t>
            </a:r>
            <a:r>
              <a:rPr lang="en-US" dirty="0" smtClean="0"/>
              <a:t>circuits</a:t>
            </a:r>
          </a:p>
          <a:p>
            <a:pPr marL="342900" indent="-342900">
              <a:spcBef>
                <a:spcPts val="1200"/>
              </a:spcBef>
              <a:buFont typeface="Courier New" pitchFamily="49" charset="0"/>
              <a:buChar char="o"/>
            </a:pPr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dirty="0" smtClean="0"/>
              <a:t>main </a:t>
            </a:r>
            <a:r>
              <a:rPr lang="en-US" dirty="0"/>
              <a:t>characteristics of CMOS devices </a:t>
            </a:r>
            <a:r>
              <a:rPr lang="en-US" dirty="0" smtClean="0"/>
              <a:t>is low </a:t>
            </a:r>
            <a:r>
              <a:rPr lang="en-US" dirty="0"/>
              <a:t>static power </a:t>
            </a:r>
            <a:r>
              <a:rPr lang="en-US" dirty="0" smtClean="0"/>
              <a:t>consumption</a:t>
            </a:r>
            <a:endParaRPr lang="en-US" dirty="0"/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 smtClean="0"/>
              <a:t>There is no current in static state of the scheme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(i.e. the power supply is never connected to the ground)</a:t>
            </a:r>
          </a:p>
          <a:p>
            <a:pPr marL="342900" indent="-342900">
              <a:spcBef>
                <a:spcPts val="1200"/>
              </a:spcBef>
              <a:buFont typeface="Courier New" pitchFamily="49" charset="0"/>
              <a:buChar char="o"/>
            </a:pPr>
            <a:r>
              <a:rPr lang="en-US" dirty="0"/>
              <a:t>CMOS schemes </a:t>
            </a:r>
            <a:r>
              <a:rPr lang="en-US" b="1" dirty="0"/>
              <a:t>always</a:t>
            </a:r>
            <a:r>
              <a:rPr lang="en-US" dirty="0"/>
              <a:t> </a:t>
            </a:r>
            <a:r>
              <a:rPr lang="en-US" dirty="0" smtClean="0"/>
              <a:t>contain two </a:t>
            </a:r>
            <a:r>
              <a:rPr lang="en-US" dirty="0"/>
              <a:t>complementary </a:t>
            </a:r>
            <a:r>
              <a:rPr lang="en-US" dirty="0" smtClean="0"/>
              <a:t>parts</a:t>
            </a:r>
            <a:endParaRPr lang="en-US" dirty="0"/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/>
              <a:t>One </a:t>
            </a:r>
            <a:r>
              <a:rPr lang="en-US" dirty="0" smtClean="0"/>
              <a:t>part consists of P-type transistors and is </a:t>
            </a:r>
            <a:r>
              <a:rPr lang="en-US" dirty="0"/>
              <a:t>connected to the power supply and provides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to the output</a:t>
            </a:r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/>
              <a:t>The other </a:t>
            </a:r>
            <a:r>
              <a:rPr lang="en-US" dirty="0" smtClean="0"/>
              <a:t>consists of N-type transistors and is </a:t>
            </a:r>
            <a:r>
              <a:rPr lang="en-US" dirty="0"/>
              <a:t>connected to the ground and provides </a:t>
            </a:r>
            <a:r>
              <a:rPr lang="en-US" dirty="0">
                <a:solidFill>
                  <a:schemeClr val="accent1"/>
                </a:solidFill>
              </a:rPr>
              <a:t>0</a:t>
            </a:r>
            <a:r>
              <a:rPr lang="en-US" dirty="0"/>
              <a:t> to output</a:t>
            </a:r>
          </a:p>
          <a:p>
            <a:pPr marL="757238" lvl="2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en-US" dirty="0"/>
              <a:t>When one part is turned on the other part is disabled (provides Z)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5301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 and P-type MOSFET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337059" y="1578684"/>
          <a:ext cx="5351928" cy="173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133"/>
                <a:gridCol w="1219924"/>
                <a:gridCol w="1282889"/>
                <a:gridCol w="1337982"/>
              </a:tblGrid>
              <a:tr h="47986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Gate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State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Input (Source)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Output (Drain)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</a:tr>
              <a:tr h="321116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+mj-lt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solidFill>
                          <a:srgbClr val="FF0000"/>
                        </a:solidFill>
                        <a:latin typeface="+mj-lt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On</a:t>
                      </a:r>
                    </a:p>
                    <a:p>
                      <a:pPr algn="ctr"/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(conduct)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 smtClean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b="1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</a:tr>
              <a:tr h="32111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600" kern="1200" dirty="0">
                        <a:solidFill>
                          <a:srgbClr val="FF0000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j-lt"/>
                        </a:rPr>
                        <a:t>weak </a:t>
                      </a:r>
                      <a:r>
                        <a:rPr lang="en-US" sz="1600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600" kern="1200" dirty="0">
                        <a:solidFill>
                          <a:srgbClr val="FF0000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</a:tr>
              <a:tr h="6040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0</a:t>
                      </a:r>
                    </a:p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(any other</a:t>
                      </a:r>
                      <a:r>
                        <a:rPr lang="en-US" sz="1000" baseline="0" dirty="0" smtClean="0">
                          <a:latin typeface="+mj-lt"/>
                        </a:rPr>
                        <a:t> value than 1)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Off</a:t>
                      </a:r>
                    </a:p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(not conduct)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any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Z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</a:tr>
            </a:tbl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853598" y="1568113"/>
            <a:ext cx="1546071" cy="1809343"/>
            <a:chOff x="9074875" y="3172029"/>
            <a:chExt cx="1546071" cy="1809343"/>
          </a:xfrm>
        </p:grpSpPr>
        <p:grpSp>
          <p:nvGrpSpPr>
            <p:cNvPr id="23" name="Group 22"/>
            <p:cNvGrpSpPr/>
            <p:nvPr/>
          </p:nvGrpSpPr>
          <p:grpSpPr>
            <a:xfrm>
              <a:off x="9640644" y="3544044"/>
              <a:ext cx="620358" cy="1129551"/>
              <a:chOff x="8127402" y="3544048"/>
              <a:chExt cx="620358" cy="1129551"/>
            </a:xfrm>
          </p:grpSpPr>
          <p:cxnSp>
            <p:nvCxnSpPr>
              <p:cNvPr id="24" name="Straight Connector 23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" name="Straight Connector 24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6" name="Straight Connector 25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7" name="Straight Connector 26"/>
              <p:cNvCxnSpPr/>
              <p:nvPr/>
            </p:nvCxnSpPr>
            <p:spPr bwMode="auto">
              <a:xfrm>
                <a:off x="8747760" y="3544048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8" name="Straight Connector 27"/>
              <p:cNvCxnSpPr/>
              <p:nvPr/>
            </p:nvCxnSpPr>
            <p:spPr bwMode="auto">
              <a:xfrm>
                <a:off x="8747760" y="4297082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0" name="Straight Connector 29"/>
              <p:cNvCxnSpPr/>
              <p:nvPr/>
            </p:nvCxnSpPr>
            <p:spPr bwMode="auto">
              <a:xfrm rot="5400000">
                <a:off x="8315661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32" name="TextBox 31"/>
            <p:cNvSpPr txBox="1"/>
            <p:nvPr/>
          </p:nvSpPr>
          <p:spPr>
            <a:xfrm>
              <a:off x="9074875" y="3954935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Gate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964834" y="3172029"/>
              <a:ext cx="579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Drain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17292" y="4673595"/>
              <a:ext cx="7036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Source</a:t>
              </a:r>
            </a:p>
          </p:txBody>
        </p:sp>
      </p:grpSp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3337059" y="4408544"/>
          <a:ext cx="5351928" cy="173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133"/>
                <a:gridCol w="1219924"/>
                <a:gridCol w="1282889"/>
                <a:gridCol w="1337982"/>
              </a:tblGrid>
              <a:tr h="47986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Gate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State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Input (Source)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Output (Drain)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</a:tr>
              <a:tr h="321116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solidFill>
                          <a:srgbClr val="FF0000"/>
                        </a:solidFill>
                        <a:latin typeface="+mj-lt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On</a:t>
                      </a:r>
                    </a:p>
                    <a:p>
                      <a:pPr algn="ctr"/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(conduct)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dirty="0" smtClean="0">
                          <a:latin typeface="+mj-lt"/>
                        </a:rPr>
                        <a:t>weak </a:t>
                      </a:r>
                      <a:r>
                        <a:rPr lang="en-US" sz="1600" kern="1200" dirty="0" smtClean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kern="1200" dirty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</a:tr>
              <a:tr h="32111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 smtClean="0">
                          <a:solidFill>
                            <a:srgbClr val="FF0000"/>
                          </a:solidFill>
                          <a:latin typeface="+mj-lt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600" b="1" kern="1200" dirty="0">
                        <a:solidFill>
                          <a:srgbClr val="FF0000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</a:txBody>
                  <a:tcPr marL="80279" marR="80279" marT="40139" marB="40139" anchor="ctr"/>
                </a:tc>
              </a:tr>
              <a:tr h="6040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+mj-lt"/>
                          <a:cs typeface="Consolas" pitchFamily="49" charset="0"/>
                        </a:rPr>
                        <a:t>1</a:t>
                      </a:r>
                      <a:endParaRPr lang="en-US" sz="1600" kern="1200" dirty="0" smtClean="0">
                        <a:solidFill>
                          <a:schemeClr val="accent1"/>
                        </a:solidFill>
                        <a:latin typeface="+mj-lt"/>
                        <a:ea typeface="+mn-ea"/>
                        <a:cs typeface="Consolas" pitchFamily="49" charset="0"/>
                      </a:endParaRPr>
                    </a:p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(any other</a:t>
                      </a:r>
                      <a:r>
                        <a:rPr lang="en-US" sz="1000" baseline="0" dirty="0" smtClean="0">
                          <a:latin typeface="+mj-lt"/>
                        </a:rPr>
                        <a:t> value than 0)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Off</a:t>
                      </a:r>
                    </a:p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(not conduct)</a:t>
                      </a:r>
                      <a:endParaRPr lang="en-US" sz="10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any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j-lt"/>
                        </a:rPr>
                        <a:t>Z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80279" marR="80279" marT="40139" marB="40139" anchor="ctr"/>
                </a:tc>
              </a:tr>
            </a:tbl>
          </a:graphicData>
        </a:graphic>
      </p:graphicFrame>
      <p:grpSp>
        <p:nvGrpSpPr>
          <p:cNvPr id="53" name="Group 52"/>
          <p:cNvGrpSpPr/>
          <p:nvPr/>
        </p:nvGrpSpPr>
        <p:grpSpPr>
          <a:xfrm>
            <a:off x="899318" y="4204587"/>
            <a:ext cx="1529135" cy="1800597"/>
            <a:chOff x="528918" y="4204587"/>
            <a:chExt cx="1529135" cy="1800597"/>
          </a:xfrm>
        </p:grpSpPr>
        <p:grpSp>
          <p:nvGrpSpPr>
            <p:cNvPr id="38" name="Group 37"/>
            <p:cNvGrpSpPr/>
            <p:nvPr/>
          </p:nvGrpSpPr>
          <p:grpSpPr>
            <a:xfrm>
              <a:off x="528918" y="4204587"/>
              <a:ext cx="1529135" cy="1800597"/>
              <a:chOff x="9074875" y="3209372"/>
              <a:chExt cx="1529135" cy="1800597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9640644" y="3544044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43" name="Straight Connector 42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4" name="Straight Connector 43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5" name="Straight Connector 44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6" name="Straight Connector 45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7" name="Straight Connector 46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8" name="Straight Connector 47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9" name="Straight Connector 48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40" name="TextBox 39"/>
              <p:cNvSpPr txBox="1"/>
              <p:nvPr/>
            </p:nvSpPr>
            <p:spPr>
              <a:xfrm>
                <a:off x="9074875" y="3954935"/>
                <a:ext cx="5385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+mj-lt"/>
                  </a:rPr>
                  <a:t>Gate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9962263" y="4702192"/>
                <a:ext cx="5798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+mj-lt"/>
                  </a:rPr>
                  <a:t>Drain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9900356" y="3209372"/>
                <a:ext cx="7036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+mj-lt"/>
                  </a:rPr>
                  <a:t>Source</a:t>
                </a:r>
              </a:p>
            </p:txBody>
          </p:sp>
        </p:grpSp>
        <p:sp>
          <p:nvSpPr>
            <p:cNvPr id="52" name="Oval 51"/>
            <p:cNvSpPr>
              <a:spLocks noChangeAspect="1"/>
            </p:cNvSpPr>
            <p:nvPr/>
          </p:nvSpPr>
          <p:spPr bwMode="auto">
            <a:xfrm>
              <a:off x="1330011" y="5033441"/>
              <a:ext cx="141194" cy="141194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83198" y="961034"/>
            <a:ext cx="2585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400" dirty="0" smtClean="0">
                <a:latin typeface="+mj-lt"/>
              </a:rPr>
              <a:t>N-type MOSFET: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918" y="3614591"/>
            <a:ext cx="7120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400" dirty="0">
                <a:latin typeface="+mj-lt"/>
              </a:rPr>
              <a:t>P</a:t>
            </a:r>
            <a:r>
              <a:rPr lang="en-US" sz="2400" dirty="0" smtClean="0">
                <a:latin typeface="+mj-lt"/>
              </a:rPr>
              <a:t>-type MOSFET </a:t>
            </a: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(similar to N-type, but all is inverted)</a:t>
            </a:r>
            <a:r>
              <a:rPr lang="en-US" sz="2400" dirty="0" smtClean="0">
                <a:latin typeface="+mj-lt"/>
              </a:rPr>
              <a:t>:</a:t>
            </a:r>
          </a:p>
        </p:txBody>
      </p:sp>
      <p:sp>
        <p:nvSpPr>
          <p:cNvPr id="56" name="Rounded Rectangle 55"/>
          <p:cNvSpPr/>
          <p:nvPr/>
        </p:nvSpPr>
        <p:spPr bwMode="auto">
          <a:xfrm>
            <a:off x="6132103" y="2064752"/>
            <a:ext cx="2500558" cy="301752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57" name="Rounded Rectangle 56"/>
          <p:cNvSpPr/>
          <p:nvPr/>
        </p:nvSpPr>
        <p:spPr bwMode="auto">
          <a:xfrm>
            <a:off x="6160843" y="5233275"/>
            <a:ext cx="2500558" cy="301752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75352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 animBg="1"/>
      <p:bldP spid="57" grpId="0" animBg="1"/>
    </p:bld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Mix of </a:t>
            </a:r>
            <a:r>
              <a:rPr lang="en-US" dirty="0"/>
              <a:t>S</a:t>
            </a:r>
            <a:r>
              <a:rPr lang="en-US" dirty="0" smtClean="0"/>
              <a:t>tates in Schemes with MOSFETs</a:t>
            </a:r>
            <a:endParaRPr lang="en-US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>
            <p:extLst/>
          </p:nvPr>
        </p:nvGraphicFramePr>
        <p:xfrm>
          <a:off x="2093976" y="1161288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2"/>
          <p:cNvGraphicFramePr>
            <a:graphicFrameLocks noGrp="1"/>
          </p:cNvGraphicFramePr>
          <p:nvPr>
            <p:extLst/>
          </p:nvPr>
        </p:nvGraphicFramePr>
        <p:xfrm>
          <a:off x="2093976" y="1161288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3" name="Table 4"/>
          <p:cNvGraphicFramePr>
            <a:graphicFrameLocks noGrp="1"/>
          </p:cNvGraphicFramePr>
          <p:nvPr>
            <p:extLst/>
          </p:nvPr>
        </p:nvGraphicFramePr>
        <p:xfrm>
          <a:off x="2090775" y="1161414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weak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 0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Neo Sans Intel" pitchFamily="34" charset="0"/>
                        </a:rPr>
                        <a:t> 1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089941" y="1158499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0</a:t>
                      </a:r>
                      <a:endParaRPr lang="en-US" sz="1800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0</a:t>
                      </a:r>
                      <a:endParaRPr lang="en-US" sz="1600" dirty="0" smtClean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1</a:t>
                      </a:r>
                      <a:endParaRPr lang="en-US" sz="1600" dirty="0" smtClean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2" name="Table 6"/>
          <p:cNvGraphicFramePr>
            <a:graphicFrameLocks noGrp="1"/>
          </p:cNvGraphicFramePr>
          <p:nvPr>
            <p:extLst/>
          </p:nvPr>
        </p:nvGraphicFramePr>
        <p:xfrm>
          <a:off x="2093976" y="1161288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0</a:t>
                      </a:r>
                      <a:endParaRPr lang="en-US" sz="1800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0</a:t>
                      </a:r>
                      <a:endParaRPr lang="en-US" sz="1600" dirty="0" smtClean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latin typeface="Neo Sans Intel" pitchFamily="34" charset="0"/>
                        </a:rPr>
                        <a:t> 1</a:t>
                      </a:r>
                      <a:endParaRPr lang="en-US" sz="1600" dirty="0" smtClean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Table 7"/>
          <p:cNvGraphicFramePr>
            <a:graphicFrameLocks noGrp="1"/>
          </p:cNvGraphicFramePr>
          <p:nvPr>
            <p:extLst/>
          </p:nvPr>
        </p:nvGraphicFramePr>
        <p:xfrm>
          <a:off x="2089941" y="1158499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weak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 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Neo Sans Intel" pitchFamily="34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Z</a:t>
                      </a:r>
                      <a:endParaRPr lang="en-US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weak 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0</a:t>
                      </a:r>
                      <a:endParaRPr lang="en-US" sz="1800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0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 0</a:t>
                      </a:r>
                      <a:endParaRPr lang="en-US" sz="1600" dirty="0" smtClean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Neo Sans Intel" pitchFamily="34" charset="0"/>
                        </a:rPr>
                        <a:t>weak </a:t>
                      </a:r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1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Neo Sans Intel" pitchFamily="34" charset="0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Neo Sans Intel" pitchFamily="34" charset="0"/>
                        </a:rPr>
                        <a:t> 1</a:t>
                      </a:r>
                      <a:endParaRPr lang="en-US" sz="1600" dirty="0" smtClean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/>
          </p:nvPr>
        </p:nvGraphicFramePr>
        <p:xfrm>
          <a:off x="2089941" y="1158499"/>
          <a:ext cx="4937760" cy="4937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+mj-lt"/>
                        </a:rPr>
                        <a:t>0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+mj-lt"/>
                        </a:rPr>
                        <a:t>1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+mj-lt"/>
                        </a:rPr>
                        <a:t>Z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weak</a:t>
                      </a:r>
                      <a:r>
                        <a:rPr lang="en-US" dirty="0" smtClean="0">
                          <a:latin typeface="+mj-lt"/>
                        </a:rPr>
                        <a:t> 0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weak</a:t>
                      </a:r>
                      <a:r>
                        <a:rPr lang="en-US" dirty="0" smtClean="0">
                          <a:latin typeface="+mj-lt"/>
                        </a:rPr>
                        <a:t> 1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j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0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0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0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  <a:endParaRPr lang="en-US" dirty="0">
                        <a:solidFill>
                          <a:srgbClr val="FF4F25"/>
                        </a:solidFill>
                        <a:latin typeface="+mj-lt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1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1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1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+mj-lt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0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1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Z</a:t>
                      </a:r>
                      <a:endParaRPr lang="en-US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weak 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0</a:t>
                      </a:r>
                      <a:endParaRPr lang="en-US" sz="1800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 1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weak </a:t>
                      </a:r>
                      <a:r>
                        <a:rPr lang="en-US" dirty="0" smtClean="0">
                          <a:latin typeface="+mj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0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 0</a:t>
                      </a:r>
                      <a:endParaRPr lang="en-US" sz="1600" dirty="0" smtClean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weak </a:t>
                      </a:r>
                      <a:r>
                        <a:rPr lang="en-US" dirty="0" smtClean="0">
                          <a:latin typeface="+mj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  <a:latin typeface="+mj-lt"/>
                        </a:rPr>
                        <a:t>1</a:t>
                      </a:r>
                      <a:endParaRPr lang="en-US" sz="24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4F25"/>
                          </a:solidFill>
                          <a:latin typeface="+mj-lt"/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ea typeface="+mn-ea"/>
                          <a:cs typeface="+mn-cs"/>
                        </a:rPr>
                        <a:t>weak</a:t>
                      </a:r>
                      <a:r>
                        <a:rPr lang="en-US" sz="1800" dirty="0" smtClean="0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 1</a:t>
                      </a:r>
                      <a:endParaRPr lang="en-US" sz="1600" dirty="0" smtClean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32681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1654" y="161000"/>
            <a:ext cx="3780692" cy="889000"/>
          </a:xfrm>
        </p:spPr>
        <p:txBody>
          <a:bodyPr/>
          <a:lstStyle/>
          <a:p>
            <a:r>
              <a:rPr lang="en-US" dirty="0" smtClean="0"/>
              <a:t>CMOS Inverter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517829" y="1015035"/>
          <a:ext cx="1994704" cy="114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352"/>
                <a:gridCol w="997352"/>
              </a:tblGrid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Input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Output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</a:tr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97611" y="4262996"/>
            <a:ext cx="1966051" cy="1501566"/>
            <a:chOff x="9074875" y="3172029"/>
            <a:chExt cx="1966051" cy="1501566"/>
          </a:xfrm>
        </p:grpSpPr>
        <p:grpSp>
          <p:nvGrpSpPr>
            <p:cNvPr id="6" name="Group 5"/>
            <p:cNvGrpSpPr/>
            <p:nvPr/>
          </p:nvGrpSpPr>
          <p:grpSpPr>
            <a:xfrm>
              <a:off x="9640644" y="3544044"/>
              <a:ext cx="620358" cy="1129551"/>
              <a:chOff x="8127402" y="3544048"/>
              <a:chExt cx="620358" cy="1129551"/>
            </a:xfrm>
          </p:grpSpPr>
          <p:cxnSp>
            <p:nvCxnSpPr>
              <p:cNvPr id="10" name="Straight Connector 9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1" name="Straight Connector 10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" name="Straight Connector 11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" name="Straight Connector 12"/>
              <p:cNvCxnSpPr/>
              <p:nvPr/>
            </p:nvCxnSpPr>
            <p:spPr bwMode="auto">
              <a:xfrm>
                <a:off x="8747760" y="3544048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4" name="Straight Connector 13"/>
              <p:cNvCxnSpPr/>
              <p:nvPr/>
            </p:nvCxnSpPr>
            <p:spPr bwMode="auto">
              <a:xfrm>
                <a:off x="8747760" y="4297082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5" name="Straight Connector 14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6" name="Straight Connector 15"/>
              <p:cNvCxnSpPr/>
              <p:nvPr/>
            </p:nvCxnSpPr>
            <p:spPr bwMode="auto">
              <a:xfrm rot="5400000">
                <a:off x="8315661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7" name="TextBox 6"/>
            <p:cNvSpPr txBox="1"/>
            <p:nvPr/>
          </p:nvSpPr>
          <p:spPr>
            <a:xfrm>
              <a:off x="9074875" y="3954935"/>
              <a:ext cx="5385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Gate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964834" y="3172029"/>
              <a:ext cx="5798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Drain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337272" y="4358335"/>
              <a:ext cx="7036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+mj-lt"/>
                </a:rPr>
                <a:t>Source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357377" y="2795713"/>
            <a:ext cx="1467227" cy="1492820"/>
            <a:chOff x="528918" y="4512364"/>
            <a:chExt cx="1467227" cy="1492820"/>
          </a:xfrm>
        </p:grpSpPr>
        <p:grpSp>
          <p:nvGrpSpPr>
            <p:cNvPr id="18" name="Group 17"/>
            <p:cNvGrpSpPr/>
            <p:nvPr/>
          </p:nvGrpSpPr>
          <p:grpSpPr>
            <a:xfrm>
              <a:off x="528918" y="4512364"/>
              <a:ext cx="1467227" cy="1492820"/>
              <a:chOff x="9074875" y="3517149"/>
              <a:chExt cx="1467227" cy="1492820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9640644" y="3544044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24" name="Straight Connector 23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5" name="Straight Connector 24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6" name="Straight Connector 25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7" name="Straight Connector 26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8" name="Straight Connector 27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29" name="Straight Connector 28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30" name="Straight Connector 29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21" name="TextBox 20"/>
              <p:cNvSpPr txBox="1"/>
              <p:nvPr/>
            </p:nvSpPr>
            <p:spPr>
              <a:xfrm>
                <a:off x="9074875" y="3954935"/>
                <a:ext cx="5385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+mj-lt"/>
                  </a:rPr>
                  <a:t>Gate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962263" y="4702192"/>
                <a:ext cx="5798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+mj-lt"/>
                  </a:rPr>
                  <a:t>Drain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477076" y="3517149"/>
                <a:ext cx="7036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latin typeface="+mj-lt"/>
                  </a:rPr>
                  <a:t>Source</a:t>
                </a:r>
              </a:p>
            </p:txBody>
          </p:sp>
        </p:grpSp>
        <p:sp>
          <p:nvSpPr>
            <p:cNvPr id="19" name="Oval 18"/>
            <p:cNvSpPr>
              <a:spLocks noChangeAspect="1"/>
            </p:cNvSpPr>
            <p:nvPr/>
          </p:nvSpPr>
          <p:spPr bwMode="auto">
            <a:xfrm>
              <a:off x="1330011" y="5033441"/>
              <a:ext cx="141194" cy="141194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573555" y="5757079"/>
            <a:ext cx="224790" cy="106680"/>
            <a:chOff x="3539490" y="4938999"/>
            <a:chExt cx="224790" cy="106680"/>
          </a:xfrm>
        </p:grpSpPr>
        <p:cxnSp>
          <p:nvCxnSpPr>
            <p:cNvPr id="32" name="Straight Connector 31"/>
            <p:cNvCxnSpPr/>
            <p:nvPr/>
          </p:nvCxnSpPr>
          <p:spPr bwMode="auto">
            <a:xfrm>
              <a:off x="3539490" y="4938999"/>
              <a:ext cx="224790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3583152" y="4992339"/>
              <a:ext cx="137467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3630055" y="5045679"/>
              <a:ext cx="4366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40" name="TextBox 39"/>
          <p:cNvSpPr txBox="1"/>
          <p:nvPr/>
        </p:nvSpPr>
        <p:spPr>
          <a:xfrm>
            <a:off x="1352943" y="54582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  <a:latin typeface="+mj-lt"/>
                <a:cs typeface="Consolas" pitchFamily="49" charset="0"/>
              </a:rPr>
              <a:t>0</a:t>
            </a:r>
          </a:p>
        </p:txBody>
      </p:sp>
      <p:cxnSp>
        <p:nvCxnSpPr>
          <p:cNvPr id="42" name="Straight Arrow Connector 41"/>
          <p:cNvCxnSpPr/>
          <p:nvPr/>
        </p:nvCxnSpPr>
        <p:spPr bwMode="auto">
          <a:xfrm>
            <a:off x="1685950" y="4635011"/>
            <a:ext cx="425885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4300871" y="236360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+mj-lt"/>
              </a:rPr>
              <a:t>V</a:t>
            </a:r>
            <a:r>
              <a:rPr lang="en-US" sz="1600" dirty="0" err="1" smtClean="0">
                <a:latin typeface="+mj-lt"/>
              </a:rPr>
              <a:t>cc</a:t>
            </a:r>
            <a:endParaRPr lang="en-US" sz="1600" dirty="0" smtClean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66330" y="27329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  <a:cs typeface="Consolas" pitchFamily="49" charset="0"/>
              </a:rPr>
              <a:t>1</a:t>
            </a:r>
            <a:endParaRPr lang="en-US" dirty="0" smtClean="0">
              <a:solidFill>
                <a:srgbClr val="FF0000"/>
              </a:solidFill>
              <a:latin typeface="+mj-lt"/>
              <a:cs typeface="Consolas" pitchFamily="49" charset="0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4534684" y="3952159"/>
            <a:ext cx="425885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669529" y="1003460"/>
          <a:ext cx="1994704" cy="114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352"/>
                <a:gridCol w="997352"/>
              </a:tblGrid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Input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Output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</a:tr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/>
          </p:nvPr>
        </p:nvGraphicFramePr>
        <p:xfrm>
          <a:off x="3610414" y="1015034"/>
          <a:ext cx="1994704" cy="114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352"/>
                <a:gridCol w="997352"/>
              </a:tblGrid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Input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Neo Sans Intel" pitchFamily="34" charset="0"/>
                        </a:rPr>
                        <a:t>Output</a:t>
                      </a:r>
                      <a:endParaRPr lang="en-US" dirty="0">
                        <a:latin typeface="Neo Sans Intel" pitchFamily="34" charset="0"/>
                      </a:endParaRPr>
                    </a:p>
                  </a:txBody>
                  <a:tcPr anchor="ctr"/>
                </a:tc>
              </a:tr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dirty="0">
                        <a:solidFill>
                          <a:schemeClr val="accent1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</a:tr>
              <a:tr h="3831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Z</a:t>
                      </a:r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110" name="Group 109"/>
          <p:cNvGrpSpPr/>
          <p:nvPr/>
        </p:nvGrpSpPr>
        <p:grpSpPr>
          <a:xfrm>
            <a:off x="7185543" y="4644563"/>
            <a:ext cx="734965" cy="1228748"/>
            <a:chOff x="7185543" y="4644563"/>
            <a:chExt cx="734965" cy="1228748"/>
          </a:xfrm>
        </p:grpSpPr>
        <p:grpSp>
          <p:nvGrpSpPr>
            <p:cNvPr id="49" name="Group 48"/>
            <p:cNvGrpSpPr/>
            <p:nvPr/>
          </p:nvGrpSpPr>
          <p:grpSpPr>
            <a:xfrm>
              <a:off x="7185543" y="4644563"/>
              <a:ext cx="620358" cy="1129551"/>
              <a:chOff x="8127402" y="3544048"/>
              <a:chExt cx="620358" cy="1129551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6" name="Straight Connector 55"/>
              <p:cNvCxnSpPr/>
              <p:nvPr/>
            </p:nvCxnSpPr>
            <p:spPr bwMode="auto">
              <a:xfrm>
                <a:off x="8747760" y="3544048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8747760" y="4297082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8" name="Straight Connector 57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59" name="Straight Connector 58"/>
              <p:cNvCxnSpPr/>
              <p:nvPr/>
            </p:nvCxnSpPr>
            <p:spPr bwMode="auto">
              <a:xfrm rot="5400000">
                <a:off x="8315661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74" name="Group 73"/>
            <p:cNvGrpSpPr/>
            <p:nvPr/>
          </p:nvGrpSpPr>
          <p:grpSpPr>
            <a:xfrm>
              <a:off x="7695718" y="5766631"/>
              <a:ext cx="224790" cy="106680"/>
              <a:chOff x="3539490" y="4938999"/>
              <a:chExt cx="224790" cy="106680"/>
            </a:xfrm>
          </p:grpSpPr>
          <p:cxnSp>
            <p:nvCxnSpPr>
              <p:cNvPr id="75" name="Straight Connector 74"/>
              <p:cNvCxnSpPr/>
              <p:nvPr/>
            </p:nvCxnSpPr>
            <p:spPr bwMode="auto">
              <a:xfrm>
                <a:off x="3539490" y="4938999"/>
                <a:ext cx="224790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76" name="Straight Connector 75"/>
              <p:cNvCxnSpPr/>
              <p:nvPr/>
            </p:nvCxnSpPr>
            <p:spPr bwMode="auto">
              <a:xfrm>
                <a:off x="3583152" y="4992339"/>
                <a:ext cx="137467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77" name="Straight Connector 76"/>
              <p:cNvCxnSpPr/>
              <p:nvPr/>
            </p:nvCxnSpPr>
            <p:spPr bwMode="auto">
              <a:xfrm>
                <a:off x="3630055" y="5045679"/>
                <a:ext cx="43661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78" name="TextBox 77"/>
            <p:cNvSpPr txBox="1"/>
            <p:nvPr/>
          </p:nvSpPr>
          <p:spPr>
            <a:xfrm>
              <a:off x="7475106" y="546781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accent1"/>
                  </a:solidFill>
                  <a:latin typeface="+mj-lt"/>
                  <a:cs typeface="Consolas" pitchFamily="49" charset="0"/>
                </a:rPr>
                <a:t>0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183844" y="2370200"/>
            <a:ext cx="954488" cy="1588556"/>
            <a:chOff x="7183844" y="2370200"/>
            <a:chExt cx="954488" cy="1588556"/>
          </a:xfrm>
        </p:grpSpPr>
        <p:grpSp>
          <p:nvGrpSpPr>
            <p:cNvPr id="60" name="Group 59"/>
            <p:cNvGrpSpPr/>
            <p:nvPr/>
          </p:nvGrpSpPr>
          <p:grpSpPr>
            <a:xfrm>
              <a:off x="7183844" y="2829205"/>
              <a:ext cx="620358" cy="1129551"/>
              <a:chOff x="1094687" y="4539259"/>
              <a:chExt cx="620358" cy="1129551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1094687" y="4539259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67" name="Straight Connector 66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8" name="Straight Connector 67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69" name="Straight Connector 68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70" name="Straight Connector 69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71" name="Straight Connector 70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72" name="Straight Connector 71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73" name="Straight Connector 72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62" name="Oval 61"/>
              <p:cNvSpPr>
                <a:spLocks noChangeAspect="1"/>
              </p:cNvSpPr>
              <p:nvPr/>
            </p:nvSpPr>
            <p:spPr bwMode="auto">
              <a:xfrm>
                <a:off x="1330011" y="5033441"/>
                <a:ext cx="141194" cy="14119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80" name="TextBox 79"/>
            <p:cNvSpPr txBox="1"/>
            <p:nvPr/>
          </p:nvSpPr>
          <p:spPr>
            <a:xfrm>
              <a:off x="7561569" y="2370200"/>
              <a:ext cx="489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latin typeface="+mj-lt"/>
                </a:rPr>
                <a:t>V</a:t>
              </a:r>
              <a:r>
                <a:rPr lang="en-US" sz="1600" dirty="0" err="1" smtClean="0">
                  <a:latin typeface="+mj-lt"/>
                </a:rPr>
                <a:t>cc</a:t>
              </a:r>
              <a:endParaRPr lang="en-US" sz="1600" dirty="0" smtClean="0">
                <a:latin typeface="+mj-lt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827028" y="273953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j-lt"/>
                  <a:cs typeface="Consolas" pitchFamily="49" charset="0"/>
                </a:rPr>
                <a:t>1</a:t>
              </a:r>
              <a:endParaRPr lang="en-US" dirty="0" smtClean="0">
                <a:solidFill>
                  <a:srgbClr val="FF0000"/>
                </a:solidFill>
                <a:latin typeface="+mj-lt"/>
                <a:cs typeface="Consolas" pitchFamily="49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5961888" y="3393978"/>
            <a:ext cx="1234147" cy="1815361"/>
            <a:chOff x="5961888" y="3393979"/>
            <a:chExt cx="1234147" cy="1144798"/>
          </a:xfrm>
        </p:grpSpPr>
        <p:cxnSp>
          <p:nvCxnSpPr>
            <p:cNvPr id="85" name="Straight Connector 84"/>
            <p:cNvCxnSpPr/>
            <p:nvPr/>
          </p:nvCxnSpPr>
          <p:spPr bwMode="auto">
            <a:xfrm flipH="1">
              <a:off x="6790944" y="4538777"/>
              <a:ext cx="40509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86" name="Straight Connector 85"/>
            <p:cNvCxnSpPr/>
            <p:nvPr/>
          </p:nvCxnSpPr>
          <p:spPr bwMode="auto">
            <a:xfrm flipH="1">
              <a:off x="6790944" y="3393979"/>
              <a:ext cx="40509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88" name="Straight Connector 87"/>
            <p:cNvCxnSpPr/>
            <p:nvPr/>
          </p:nvCxnSpPr>
          <p:spPr bwMode="auto">
            <a:xfrm>
              <a:off x="6790944" y="3393984"/>
              <a:ext cx="0" cy="1144793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0" name="Straight Arrow Connector 89"/>
            <p:cNvCxnSpPr/>
            <p:nvPr/>
          </p:nvCxnSpPr>
          <p:spPr bwMode="auto">
            <a:xfrm>
              <a:off x="6297168" y="3966380"/>
              <a:ext cx="493776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5961888" y="3737083"/>
              <a:ext cx="689612" cy="23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Input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7795382" y="3883166"/>
            <a:ext cx="1263995" cy="761397"/>
            <a:chOff x="7795382" y="3883166"/>
            <a:chExt cx="1263995" cy="761397"/>
          </a:xfrm>
        </p:grpSpPr>
        <p:cxnSp>
          <p:nvCxnSpPr>
            <p:cNvPr id="82" name="Straight Arrow Connector 81"/>
            <p:cNvCxnSpPr/>
            <p:nvPr/>
          </p:nvCxnSpPr>
          <p:spPr bwMode="auto">
            <a:xfrm>
              <a:off x="7795382" y="4290461"/>
              <a:ext cx="790443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93" name="TextBox 92"/>
            <p:cNvSpPr txBox="1"/>
            <p:nvPr/>
          </p:nvSpPr>
          <p:spPr>
            <a:xfrm>
              <a:off x="8190228" y="3883166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Output</a:t>
              </a:r>
            </a:p>
          </p:txBody>
        </p:sp>
        <p:cxnSp>
          <p:nvCxnSpPr>
            <p:cNvPr id="98" name="Straight Connector 97"/>
            <p:cNvCxnSpPr/>
            <p:nvPr/>
          </p:nvCxnSpPr>
          <p:spPr bwMode="auto">
            <a:xfrm>
              <a:off x="7804202" y="3952159"/>
              <a:ext cx="0" cy="692404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00" name="TextBox 99"/>
          <p:cNvSpPr txBox="1"/>
          <p:nvPr/>
        </p:nvSpPr>
        <p:spPr>
          <a:xfrm>
            <a:off x="6151042" y="435953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  <a:cs typeface="Consolas" pitchFamily="49" charset="0"/>
              </a:rPr>
              <a:t>1</a:t>
            </a:r>
            <a:endParaRPr lang="en-US" dirty="0" smtClean="0">
              <a:solidFill>
                <a:srgbClr val="FF0000"/>
              </a:solidFill>
              <a:latin typeface="+mj-lt"/>
              <a:cs typeface="Consolas" pitchFamily="49" charset="0"/>
            </a:endParaRPr>
          </a:p>
        </p:txBody>
      </p:sp>
      <p:sp>
        <p:nvSpPr>
          <p:cNvPr id="102" name="Multiply 101"/>
          <p:cNvSpPr/>
          <p:nvPr/>
        </p:nvSpPr>
        <p:spPr bwMode="auto">
          <a:xfrm>
            <a:off x="7364034" y="3046134"/>
            <a:ext cx="695704" cy="695704"/>
          </a:xfrm>
          <a:prstGeom prst="mathMultiply">
            <a:avLst>
              <a:gd name="adj1" fmla="val 8030"/>
            </a:avLst>
          </a:prstGeom>
          <a:solidFill>
            <a:srgbClr val="FF3300"/>
          </a:solidFill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403182" y="43595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  <a:latin typeface="+mj-lt"/>
                <a:cs typeface="Consolas" pitchFamily="49" charset="0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08822" y="3919091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+mj-lt"/>
                <a:cs typeface="Consolas" pitchFamily="49" charset="0"/>
              </a:rPr>
              <a:t>Z</a:t>
            </a:r>
            <a:endParaRPr lang="en-US" dirty="0" smtClean="0">
              <a:solidFill>
                <a:schemeClr val="bg2">
                  <a:lumMod val="75000"/>
                </a:schemeClr>
              </a:solidFill>
              <a:latin typeface="+mj-lt"/>
              <a:cs typeface="Consolas" pitchFamily="49" charset="0"/>
            </a:endParaRPr>
          </a:p>
        </p:txBody>
      </p:sp>
      <p:sp>
        <p:nvSpPr>
          <p:cNvPr id="105" name="Freeform 104"/>
          <p:cNvSpPr/>
          <p:nvPr/>
        </p:nvSpPr>
        <p:spPr bwMode="auto">
          <a:xfrm>
            <a:off x="7796784" y="4297681"/>
            <a:ext cx="737616" cy="1469136"/>
          </a:xfrm>
          <a:custGeom>
            <a:avLst/>
            <a:gdLst>
              <a:gd name="connsiteX0" fmla="*/ 83402 w 851498"/>
              <a:gd name="connsiteY0" fmla="*/ 1577960 h 1577960"/>
              <a:gd name="connsiteX1" fmla="*/ 71210 w 851498"/>
              <a:gd name="connsiteY1" fmla="*/ 108824 h 1577960"/>
              <a:gd name="connsiteX2" fmla="*/ 851498 w 851498"/>
              <a:gd name="connsiteY2" fmla="*/ 108824 h 1577960"/>
              <a:gd name="connsiteX3" fmla="*/ 851498 w 851498"/>
              <a:gd name="connsiteY3" fmla="*/ 108824 h 1577960"/>
              <a:gd name="connsiteX4" fmla="*/ 851498 w 851498"/>
              <a:gd name="connsiteY4" fmla="*/ 108824 h 1577960"/>
              <a:gd name="connsiteX0" fmla="*/ 123259 w 891355"/>
              <a:gd name="connsiteY0" fmla="*/ 1475007 h 1475007"/>
              <a:gd name="connsiteX1" fmla="*/ 111067 w 891355"/>
              <a:gd name="connsiteY1" fmla="*/ 5871 h 1475007"/>
              <a:gd name="connsiteX2" fmla="*/ 891355 w 891355"/>
              <a:gd name="connsiteY2" fmla="*/ 5871 h 1475007"/>
              <a:gd name="connsiteX3" fmla="*/ 891355 w 891355"/>
              <a:gd name="connsiteY3" fmla="*/ 5871 h 1475007"/>
              <a:gd name="connsiteX4" fmla="*/ 891355 w 891355"/>
              <a:gd name="connsiteY4" fmla="*/ 5871 h 1475007"/>
              <a:gd name="connsiteX0" fmla="*/ 123259 w 891355"/>
              <a:gd name="connsiteY0" fmla="*/ 1475007 h 1475007"/>
              <a:gd name="connsiteX1" fmla="*/ 111067 w 891355"/>
              <a:gd name="connsiteY1" fmla="*/ 5871 h 1475007"/>
              <a:gd name="connsiteX2" fmla="*/ 891355 w 891355"/>
              <a:gd name="connsiteY2" fmla="*/ 5871 h 1475007"/>
              <a:gd name="connsiteX3" fmla="*/ 891355 w 891355"/>
              <a:gd name="connsiteY3" fmla="*/ 5871 h 1475007"/>
              <a:gd name="connsiteX4" fmla="*/ 891355 w 891355"/>
              <a:gd name="connsiteY4" fmla="*/ 5871 h 1475007"/>
              <a:gd name="connsiteX0" fmla="*/ 31630 w 799726"/>
              <a:gd name="connsiteY0" fmla="*/ 1475007 h 1475007"/>
              <a:gd name="connsiteX1" fmla="*/ 19438 w 799726"/>
              <a:gd name="connsiteY1" fmla="*/ 5871 h 1475007"/>
              <a:gd name="connsiteX2" fmla="*/ 799726 w 799726"/>
              <a:gd name="connsiteY2" fmla="*/ 5871 h 1475007"/>
              <a:gd name="connsiteX3" fmla="*/ 799726 w 799726"/>
              <a:gd name="connsiteY3" fmla="*/ 5871 h 1475007"/>
              <a:gd name="connsiteX4" fmla="*/ 799726 w 799726"/>
              <a:gd name="connsiteY4" fmla="*/ 5871 h 1475007"/>
              <a:gd name="connsiteX0" fmla="*/ 31630 w 799726"/>
              <a:gd name="connsiteY0" fmla="*/ 1475007 h 1475007"/>
              <a:gd name="connsiteX1" fmla="*/ 19438 w 799726"/>
              <a:gd name="connsiteY1" fmla="*/ 5871 h 1475007"/>
              <a:gd name="connsiteX2" fmla="*/ 799726 w 799726"/>
              <a:gd name="connsiteY2" fmla="*/ 5871 h 1475007"/>
              <a:gd name="connsiteX3" fmla="*/ 799726 w 799726"/>
              <a:gd name="connsiteY3" fmla="*/ 5871 h 1475007"/>
              <a:gd name="connsiteX4" fmla="*/ 799726 w 799726"/>
              <a:gd name="connsiteY4" fmla="*/ 5871 h 1475007"/>
              <a:gd name="connsiteX0" fmla="*/ 12192 w 780288"/>
              <a:gd name="connsiteY0" fmla="*/ 1475007 h 1475007"/>
              <a:gd name="connsiteX1" fmla="*/ 0 w 780288"/>
              <a:gd name="connsiteY1" fmla="*/ 5871 h 1475007"/>
              <a:gd name="connsiteX2" fmla="*/ 780288 w 780288"/>
              <a:gd name="connsiteY2" fmla="*/ 5871 h 1475007"/>
              <a:gd name="connsiteX3" fmla="*/ 780288 w 780288"/>
              <a:gd name="connsiteY3" fmla="*/ 5871 h 1475007"/>
              <a:gd name="connsiteX4" fmla="*/ 780288 w 780288"/>
              <a:gd name="connsiteY4" fmla="*/ 5871 h 1475007"/>
              <a:gd name="connsiteX0" fmla="*/ 12192 w 780288"/>
              <a:gd name="connsiteY0" fmla="*/ 1469136 h 1469136"/>
              <a:gd name="connsiteX1" fmla="*/ 0 w 780288"/>
              <a:gd name="connsiteY1" fmla="*/ 0 h 1469136"/>
              <a:gd name="connsiteX2" fmla="*/ 780288 w 780288"/>
              <a:gd name="connsiteY2" fmla="*/ 0 h 1469136"/>
              <a:gd name="connsiteX3" fmla="*/ 780288 w 780288"/>
              <a:gd name="connsiteY3" fmla="*/ 0 h 1469136"/>
              <a:gd name="connsiteX4" fmla="*/ 780288 w 780288"/>
              <a:gd name="connsiteY4" fmla="*/ 0 h 1469136"/>
              <a:gd name="connsiteX0" fmla="*/ 12192 w 780288"/>
              <a:gd name="connsiteY0" fmla="*/ 1469136 h 1469136"/>
              <a:gd name="connsiteX1" fmla="*/ 0 w 780288"/>
              <a:gd name="connsiteY1" fmla="*/ 0 h 1469136"/>
              <a:gd name="connsiteX2" fmla="*/ 780288 w 780288"/>
              <a:gd name="connsiteY2" fmla="*/ 0 h 1469136"/>
              <a:gd name="connsiteX3" fmla="*/ 780288 w 780288"/>
              <a:gd name="connsiteY3" fmla="*/ 0 h 1469136"/>
              <a:gd name="connsiteX4" fmla="*/ 780288 w 780288"/>
              <a:gd name="connsiteY4" fmla="*/ 0 h 146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288" h="1469136">
                <a:moveTo>
                  <a:pt x="12192" y="1469136"/>
                </a:moveTo>
                <a:cubicBezTo>
                  <a:pt x="3048" y="844804"/>
                  <a:pt x="4572" y="250952"/>
                  <a:pt x="0" y="0"/>
                </a:cubicBezTo>
                <a:lnTo>
                  <a:pt x="780288" y="0"/>
                </a:lnTo>
                <a:lnTo>
                  <a:pt x="780288" y="0"/>
                </a:lnTo>
                <a:lnTo>
                  <a:pt x="780288" y="0"/>
                </a:lnTo>
              </a:path>
            </a:pathLst>
          </a:cu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101" name="Half Frame 100"/>
          <p:cNvSpPr/>
          <p:nvPr/>
        </p:nvSpPr>
        <p:spPr bwMode="auto">
          <a:xfrm rot="13374752">
            <a:off x="7447811" y="4907183"/>
            <a:ext cx="432895" cy="331228"/>
          </a:xfrm>
          <a:prstGeom prst="halfFrame">
            <a:avLst>
              <a:gd name="adj1" fmla="val 19004"/>
              <a:gd name="adj2" fmla="val 17526"/>
            </a:avLst>
          </a:prstGeom>
          <a:solidFill>
            <a:srgbClr val="00B050"/>
          </a:solidFill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15800" y="5936066"/>
            <a:ext cx="1742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b="1" dirty="0" smtClean="0">
                <a:latin typeface="+mj-lt"/>
              </a:rPr>
              <a:t>bottom </a:t>
            </a:r>
            <a:r>
              <a:rPr lang="en-US" dirty="0" smtClean="0">
                <a:latin typeface="+mj-lt"/>
              </a:rPr>
              <a:t>part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90935" y="5936066"/>
            <a:ext cx="1406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b="1" dirty="0" smtClean="0">
                <a:latin typeface="+mj-lt"/>
              </a:rPr>
              <a:t>top </a:t>
            </a:r>
            <a:r>
              <a:rPr lang="en-US" dirty="0" smtClean="0">
                <a:latin typeface="+mj-lt"/>
              </a:rPr>
              <a:t>part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57935" y="5936066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b="1" dirty="0" smtClean="0">
                <a:latin typeface="+mj-lt"/>
              </a:rPr>
              <a:t>full </a:t>
            </a:r>
            <a:r>
              <a:rPr lang="en-US" dirty="0" smtClean="0">
                <a:latin typeface="+mj-lt"/>
              </a:rPr>
              <a:t>scheme</a:t>
            </a:r>
          </a:p>
        </p:txBody>
      </p:sp>
      <p:sp>
        <p:nvSpPr>
          <p:cNvPr id="109" name="Rounded Rectangle 108"/>
          <p:cNvSpPr/>
          <p:nvPr/>
        </p:nvSpPr>
        <p:spPr bwMode="auto">
          <a:xfrm>
            <a:off x="7574804" y="1816340"/>
            <a:ext cx="856725" cy="301752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126" name="Group 125"/>
          <p:cNvGrpSpPr/>
          <p:nvPr/>
        </p:nvGrpSpPr>
        <p:grpSpPr>
          <a:xfrm>
            <a:off x="6293104" y="282776"/>
            <a:ext cx="2588219" cy="468064"/>
            <a:chOff x="6293104" y="282776"/>
            <a:chExt cx="2588219" cy="468064"/>
          </a:xfrm>
        </p:grpSpPr>
        <p:grpSp>
          <p:nvGrpSpPr>
            <p:cNvPr id="123" name="Group 122"/>
            <p:cNvGrpSpPr/>
            <p:nvPr/>
          </p:nvGrpSpPr>
          <p:grpSpPr>
            <a:xfrm>
              <a:off x="6976579" y="282776"/>
              <a:ext cx="1049763" cy="444404"/>
              <a:chOff x="7196035" y="203528"/>
              <a:chExt cx="1049763" cy="444404"/>
            </a:xfrm>
          </p:grpSpPr>
          <p:sp>
            <p:nvSpPr>
              <p:cNvPr id="112" name="Isosceles Triangle 111"/>
              <p:cNvSpPr/>
              <p:nvPr/>
            </p:nvSpPr>
            <p:spPr bwMode="auto">
              <a:xfrm rot="19758681">
                <a:off x="7371657" y="203528"/>
                <a:ext cx="515509" cy="444404"/>
              </a:xfrm>
              <a:prstGeom prst="triangl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13" name="Oval 112"/>
              <p:cNvSpPr/>
              <p:nvPr/>
            </p:nvSpPr>
            <p:spPr bwMode="auto">
              <a:xfrm>
                <a:off x="7886313" y="435552"/>
                <a:ext cx="98467" cy="98467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118" name="Straight Connector 117"/>
              <p:cNvCxnSpPr/>
              <p:nvPr/>
            </p:nvCxnSpPr>
            <p:spPr bwMode="auto">
              <a:xfrm flipH="1">
                <a:off x="7982681" y="486523"/>
                <a:ext cx="263117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0" name="Straight Connector 119"/>
              <p:cNvCxnSpPr/>
              <p:nvPr/>
            </p:nvCxnSpPr>
            <p:spPr bwMode="auto">
              <a:xfrm flipH="1">
                <a:off x="7196035" y="489343"/>
                <a:ext cx="314649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124" name="TextBox 123"/>
            <p:cNvSpPr txBox="1"/>
            <p:nvPr/>
          </p:nvSpPr>
          <p:spPr>
            <a:xfrm>
              <a:off x="6293104" y="381508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Input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012174" y="379367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Output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651117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0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44444E-6 L -3.61111E-6 -0.05718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44" grpId="0"/>
      <p:bldP spid="100" grpId="0"/>
      <p:bldP spid="102" grpId="0" animBg="1"/>
      <p:bldP spid="103" grpId="0"/>
      <p:bldP spid="104" grpId="0"/>
      <p:bldP spid="105" grpId="0" animBg="1"/>
      <p:bldP spid="101" grpId="0" animBg="1"/>
      <p:bldP spid="106" grpId="0"/>
      <p:bldP spid="107" grpId="0"/>
      <p:bldP spid="108" grpId="0"/>
      <p:bldP spid="109" grpId="0" animBg="1"/>
      <p:bldP spid="109" grpId="1" animBg="1"/>
      <p:bldP spid="109" grpId="2" animBg="1"/>
      <p:bldP spid="109" grpId="3" animBg="1"/>
    </p:bldLst>
  </p:timing>
  <p:extLst mod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CMOS NAND Circuit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452464" y="1505386"/>
          <a:ext cx="222542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891"/>
                <a:gridCol w="662473"/>
                <a:gridCol w="933060"/>
              </a:tblGrid>
              <a:tr h="3348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A</a:t>
                      </a:r>
                      <a:endParaRPr lang="en-US" sz="1600" dirty="0">
                        <a:latin typeface="Neo Sans Int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B</a:t>
                      </a:r>
                      <a:endParaRPr lang="en-US" sz="1600" dirty="0">
                        <a:latin typeface="Neo Sans Intel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Neo Sans Intel" pitchFamily="34" charset="0"/>
                        </a:rPr>
                        <a:t>Output</a:t>
                      </a:r>
                      <a:endParaRPr lang="en-US" sz="1600" dirty="0">
                        <a:latin typeface="Neo Sans Inte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34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solidFill>
                          <a:schemeClr val="accent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solidFill>
                          <a:srgbClr val="FF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34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solidFill>
                          <a:srgbClr val="FF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34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348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accent1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446936" y="657816"/>
            <a:ext cx="2331175" cy="710719"/>
            <a:chOff x="526184" y="499320"/>
            <a:chExt cx="2331175" cy="710719"/>
          </a:xfrm>
        </p:grpSpPr>
        <p:grpSp>
          <p:nvGrpSpPr>
            <p:cNvPr id="3" name="Group 2"/>
            <p:cNvGrpSpPr/>
            <p:nvPr/>
          </p:nvGrpSpPr>
          <p:grpSpPr>
            <a:xfrm>
              <a:off x="526184" y="499320"/>
              <a:ext cx="637448" cy="369332"/>
              <a:chOff x="654200" y="718776"/>
              <a:chExt cx="637448" cy="369332"/>
            </a:xfrm>
          </p:grpSpPr>
          <p:cxnSp>
            <p:nvCxnSpPr>
              <p:cNvPr id="17" name="Straight Connector 16"/>
              <p:cNvCxnSpPr/>
              <p:nvPr/>
            </p:nvCxnSpPr>
            <p:spPr bwMode="auto">
              <a:xfrm flipH="1">
                <a:off x="976999" y="905859"/>
                <a:ext cx="314649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2" name="TextBox 11"/>
              <p:cNvSpPr txBox="1"/>
              <p:nvPr/>
            </p:nvSpPr>
            <p:spPr>
              <a:xfrm>
                <a:off x="654200" y="718776"/>
                <a:ext cx="328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 smtClean="0">
                    <a:latin typeface="+mj-lt"/>
                  </a:rPr>
                  <a:t>A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34198" y="840707"/>
              <a:ext cx="629434" cy="369332"/>
              <a:chOff x="662214" y="718776"/>
              <a:chExt cx="629434" cy="369332"/>
            </a:xfrm>
          </p:grpSpPr>
          <p:cxnSp>
            <p:nvCxnSpPr>
              <p:cNvPr id="19" name="Straight Connector 18"/>
              <p:cNvCxnSpPr/>
              <p:nvPr/>
            </p:nvCxnSpPr>
            <p:spPr bwMode="auto">
              <a:xfrm flipH="1">
                <a:off x="976999" y="905859"/>
                <a:ext cx="314649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20" name="TextBox 19"/>
              <p:cNvSpPr txBox="1"/>
              <p:nvPr/>
            </p:nvSpPr>
            <p:spPr>
              <a:xfrm>
                <a:off x="662214" y="718776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dirty="0">
                    <a:latin typeface="+mj-lt"/>
                  </a:rPr>
                  <a:t>B</a:t>
                </a:r>
                <a:endParaRPr lang="en-US" dirty="0" smtClean="0">
                  <a:latin typeface="+mj-lt"/>
                </a:endParaRPr>
              </a:p>
            </p:txBody>
          </p:sp>
        </p:grpSp>
        <p:sp>
          <p:nvSpPr>
            <p:cNvPr id="21" name="Flowchart: Delay 20"/>
            <p:cNvSpPr/>
            <p:nvPr/>
          </p:nvSpPr>
          <p:spPr bwMode="auto">
            <a:xfrm>
              <a:off x="1163631" y="609131"/>
              <a:ext cx="503645" cy="518188"/>
            </a:xfrm>
            <a:prstGeom prst="flowChartDelay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1642893" y="821588"/>
              <a:ext cx="98467" cy="98467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 flipH="1">
              <a:off x="1739261" y="872559"/>
              <a:ext cx="263117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1988210" y="686155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Output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895467" y="3549485"/>
            <a:ext cx="1353993" cy="2318018"/>
            <a:chOff x="895467" y="3549485"/>
            <a:chExt cx="1353993" cy="2318018"/>
          </a:xfrm>
        </p:grpSpPr>
        <p:grpSp>
          <p:nvGrpSpPr>
            <p:cNvPr id="62" name="Group 61"/>
            <p:cNvGrpSpPr/>
            <p:nvPr/>
          </p:nvGrpSpPr>
          <p:grpSpPr>
            <a:xfrm>
              <a:off x="1169032" y="4854741"/>
              <a:ext cx="605776" cy="1012762"/>
              <a:chOff x="7185543" y="4644563"/>
              <a:chExt cx="734965" cy="1228748"/>
            </a:xfrm>
          </p:grpSpPr>
          <p:grpSp>
            <p:nvGrpSpPr>
              <p:cNvPr id="85" name="Group 84"/>
              <p:cNvGrpSpPr/>
              <p:nvPr/>
            </p:nvGrpSpPr>
            <p:grpSpPr>
              <a:xfrm>
                <a:off x="7185543" y="4644563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91" name="Straight Connector 90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2" name="Straight Connector 91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3" name="Straight Connector 92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4" name="Straight Connector 93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5" name="Straight Connector 94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6" name="Straight Connector 95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7" name="Straight Connector 96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86" name="Group 85"/>
              <p:cNvGrpSpPr/>
              <p:nvPr/>
            </p:nvGrpSpPr>
            <p:grpSpPr>
              <a:xfrm>
                <a:off x="7695718" y="5766631"/>
                <a:ext cx="224790" cy="106680"/>
                <a:chOff x="3539490" y="4938999"/>
                <a:chExt cx="224790" cy="106680"/>
              </a:xfrm>
            </p:grpSpPr>
            <p:cxnSp>
              <p:nvCxnSpPr>
                <p:cNvPr id="88" name="Straight Connector 87"/>
                <p:cNvCxnSpPr/>
                <p:nvPr/>
              </p:nvCxnSpPr>
              <p:spPr bwMode="auto">
                <a:xfrm>
                  <a:off x="3539490" y="4938999"/>
                  <a:ext cx="224790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9" name="Straight Connector 88"/>
                <p:cNvCxnSpPr/>
                <p:nvPr/>
              </p:nvCxnSpPr>
              <p:spPr bwMode="auto">
                <a:xfrm>
                  <a:off x="3583152" y="4992339"/>
                  <a:ext cx="137467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0" name="Straight Connector 89"/>
                <p:cNvCxnSpPr/>
                <p:nvPr/>
              </p:nvCxnSpPr>
              <p:spPr bwMode="auto">
                <a:xfrm>
                  <a:off x="3630055" y="5045679"/>
                  <a:ext cx="43661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7" name="TextBox 86"/>
              <p:cNvSpPr txBox="1"/>
              <p:nvPr/>
            </p:nvSpPr>
            <p:spPr>
              <a:xfrm>
                <a:off x="7431599" y="5446065"/>
                <a:ext cx="350465" cy="410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chemeClr val="accent1"/>
                    </a:solidFill>
                    <a:latin typeface="+mj-lt"/>
                    <a:cs typeface="Consolas" pitchFamily="49" charset="0"/>
                  </a:rPr>
                  <a:t>0</a:t>
                </a:r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1167641" y="3929469"/>
              <a:ext cx="511320" cy="931001"/>
              <a:chOff x="8127396" y="3544048"/>
              <a:chExt cx="620364" cy="1129551"/>
            </a:xfrm>
          </p:grpSpPr>
          <p:cxnSp>
            <p:nvCxnSpPr>
              <p:cNvPr id="78" name="Straight Connector 77"/>
              <p:cNvCxnSpPr/>
              <p:nvPr/>
            </p:nvCxnSpPr>
            <p:spPr bwMode="auto">
              <a:xfrm>
                <a:off x="8606118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79" name="Straight Connector 78"/>
              <p:cNvCxnSpPr/>
              <p:nvPr/>
            </p:nvCxnSpPr>
            <p:spPr bwMode="auto">
              <a:xfrm>
                <a:off x="8606118" y="3920565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0" name="Straight Connector 79"/>
              <p:cNvCxnSpPr/>
              <p:nvPr/>
            </p:nvCxnSpPr>
            <p:spPr bwMode="auto">
              <a:xfrm>
                <a:off x="8606118" y="4297082"/>
                <a:ext cx="14164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1" name="Straight Connector 80"/>
              <p:cNvCxnSpPr/>
              <p:nvPr/>
            </p:nvCxnSpPr>
            <p:spPr bwMode="auto">
              <a:xfrm>
                <a:off x="8747760" y="3544048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2" name="Straight Connector 81"/>
              <p:cNvCxnSpPr/>
              <p:nvPr/>
            </p:nvCxnSpPr>
            <p:spPr bwMode="auto">
              <a:xfrm>
                <a:off x="8747760" y="4297082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3" name="Straight Connector 82"/>
              <p:cNvCxnSpPr/>
              <p:nvPr/>
            </p:nvCxnSpPr>
            <p:spPr bwMode="auto">
              <a:xfrm>
                <a:off x="8503920" y="3920564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84" name="Straight Connector 83"/>
              <p:cNvCxnSpPr/>
              <p:nvPr/>
            </p:nvCxnSpPr>
            <p:spPr bwMode="auto">
              <a:xfrm rot="5400000">
                <a:off x="8315661" y="3920565"/>
                <a:ext cx="0" cy="37651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4" name="Group 63"/>
            <p:cNvGrpSpPr/>
            <p:nvPr/>
          </p:nvGrpSpPr>
          <p:grpSpPr>
            <a:xfrm>
              <a:off x="895467" y="4231678"/>
              <a:ext cx="312908" cy="1229533"/>
              <a:chOff x="6326646" y="2986836"/>
              <a:chExt cx="666843" cy="1478631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6326648" y="2986836"/>
                <a:ext cx="666841" cy="407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A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6326646" y="4058324"/>
                <a:ext cx="653177" cy="407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+mj-lt"/>
                  </a:rPr>
                  <a:t>B</a:t>
                </a:r>
                <a:endParaRPr lang="en-US" sz="1600" dirty="0" smtClean="0">
                  <a:latin typeface="+mj-lt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1468477" y="3549485"/>
              <a:ext cx="780983" cy="387413"/>
              <a:chOff x="7461542" y="2683144"/>
              <a:chExt cx="1283081" cy="470035"/>
            </a:xfrm>
          </p:grpSpPr>
          <p:cxnSp>
            <p:nvCxnSpPr>
              <p:cNvPr id="66" name="Straight Arrow Connector 65"/>
              <p:cNvCxnSpPr/>
              <p:nvPr/>
            </p:nvCxnSpPr>
            <p:spPr bwMode="auto">
              <a:xfrm>
                <a:off x="7795382" y="3153179"/>
                <a:ext cx="790443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arrow"/>
              </a:ln>
              <a:effectLst/>
            </p:spPr>
          </p:cxnSp>
          <p:sp>
            <p:nvSpPr>
              <p:cNvPr id="67" name="TextBox 66"/>
              <p:cNvSpPr txBox="1"/>
              <p:nvPr/>
            </p:nvSpPr>
            <p:spPr>
              <a:xfrm>
                <a:off x="7461542" y="2683144"/>
                <a:ext cx="1283081" cy="4107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Output</a:t>
                </a:r>
              </a:p>
            </p:txBody>
          </p:sp>
        </p:grpSp>
      </p:grpSp>
      <p:grpSp>
        <p:nvGrpSpPr>
          <p:cNvPr id="121" name="Group 120"/>
          <p:cNvGrpSpPr/>
          <p:nvPr/>
        </p:nvGrpSpPr>
        <p:grpSpPr>
          <a:xfrm>
            <a:off x="3365755" y="1046890"/>
            <a:ext cx="2227583" cy="2185018"/>
            <a:chOff x="3365755" y="1046890"/>
            <a:chExt cx="2227583" cy="2185018"/>
          </a:xfrm>
        </p:grpSpPr>
        <p:grpSp>
          <p:nvGrpSpPr>
            <p:cNvPr id="36" name="Group 35"/>
            <p:cNvGrpSpPr/>
            <p:nvPr/>
          </p:nvGrpSpPr>
          <p:grpSpPr>
            <a:xfrm>
              <a:off x="3696427" y="1651790"/>
              <a:ext cx="511313" cy="931001"/>
              <a:chOff x="1094687" y="4539259"/>
              <a:chExt cx="620358" cy="1129551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1094687" y="4539259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41" name="Straight Connector 40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2" name="Straight Connector 41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3" name="Straight Connector 42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4" name="Straight Connector 43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5" name="Straight Connector 44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6" name="Straight Connector 45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47" name="Straight Connector 46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40" name="Oval 39"/>
              <p:cNvSpPr>
                <a:spLocks noChangeAspect="1"/>
              </p:cNvSpPr>
              <p:nvPr/>
            </p:nvSpPr>
            <p:spPr bwMode="auto">
              <a:xfrm>
                <a:off x="1330011" y="5033441"/>
                <a:ext cx="141194" cy="14119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b="1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4599566" y="1046890"/>
              <a:ext cx="4523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>
                  <a:latin typeface="+mj-lt"/>
                </a:rPr>
                <a:t>V</a:t>
              </a:r>
              <a:r>
                <a:rPr lang="en-US" sz="1400" dirty="0" err="1" smtClean="0">
                  <a:latin typeface="+mj-lt"/>
                </a:rPr>
                <a:t>cc</a:t>
              </a:r>
              <a:endParaRPr lang="en-US" sz="1400" dirty="0" smtClean="0">
                <a:latin typeface="+mj-lt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23971" y="1283650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+mj-lt"/>
                  <a:cs typeface="Consolas" pitchFamily="49" charset="0"/>
                </a:rPr>
                <a:t>1</a:t>
              </a:r>
              <a:endParaRPr lang="en-US" sz="1600" dirty="0" smtClean="0">
                <a:solidFill>
                  <a:srgbClr val="FF0000"/>
                </a:solidFill>
                <a:latin typeface="+mj-lt"/>
                <a:cs typeface="Consolas" pitchFamily="49" charset="0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flipV="1">
              <a:off x="4814670" y="2575171"/>
              <a:ext cx="1" cy="300109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4207740" y="2573067"/>
              <a:ext cx="122548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3365755" y="1923820"/>
              <a:ext cx="3129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 smtClean="0">
                  <a:latin typeface="+mj-lt"/>
                </a:rPr>
                <a:t>A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4805660" y="2875283"/>
              <a:ext cx="787678" cy="356625"/>
              <a:chOff x="8083195" y="3883166"/>
              <a:chExt cx="1294084" cy="432680"/>
            </a:xfrm>
          </p:grpSpPr>
          <p:cxnSp>
            <p:nvCxnSpPr>
              <p:cNvPr id="29" name="Straight Arrow Connector 28"/>
              <p:cNvCxnSpPr/>
              <p:nvPr/>
            </p:nvCxnSpPr>
            <p:spPr bwMode="auto">
              <a:xfrm>
                <a:off x="8083195" y="3883166"/>
                <a:ext cx="790443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arrow"/>
              </a:ln>
              <a:effectLst/>
            </p:spPr>
          </p:cxnSp>
          <p:sp>
            <p:nvSpPr>
              <p:cNvPr id="30" name="TextBox 29"/>
              <p:cNvSpPr txBox="1"/>
              <p:nvPr/>
            </p:nvSpPr>
            <p:spPr>
              <a:xfrm>
                <a:off x="8094194" y="3905091"/>
                <a:ext cx="1283085" cy="410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Output</a:t>
                </a: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4921910" y="1651790"/>
              <a:ext cx="511313" cy="931001"/>
              <a:chOff x="1094687" y="4539259"/>
              <a:chExt cx="620358" cy="1129551"/>
            </a:xfrm>
          </p:grpSpPr>
          <p:grpSp>
            <p:nvGrpSpPr>
              <p:cNvPr id="100" name="Group 99"/>
              <p:cNvGrpSpPr/>
              <p:nvPr/>
            </p:nvGrpSpPr>
            <p:grpSpPr>
              <a:xfrm>
                <a:off x="1094687" y="4539259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102" name="Straight Connector 101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3" name="Straight Connector 102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4" name="Straight Connector 103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5" name="Straight Connector 104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101" name="Oval 100"/>
              <p:cNvSpPr>
                <a:spLocks noChangeAspect="1"/>
              </p:cNvSpPr>
              <p:nvPr/>
            </p:nvSpPr>
            <p:spPr bwMode="auto">
              <a:xfrm>
                <a:off x="1330011" y="5033441"/>
                <a:ext cx="141194" cy="141194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b="1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111" name="TextBox 110"/>
            <p:cNvSpPr txBox="1"/>
            <p:nvPr/>
          </p:nvSpPr>
          <p:spPr>
            <a:xfrm>
              <a:off x="4615416" y="1935610"/>
              <a:ext cx="3064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latin typeface="+mj-lt"/>
                </a:rPr>
                <a:t>B</a:t>
              </a:r>
              <a:endParaRPr lang="en-US" sz="1600" dirty="0" smtClean="0">
                <a:latin typeface="+mj-lt"/>
              </a:endParaRPr>
            </a:p>
          </p:txBody>
        </p:sp>
        <p:cxnSp>
          <p:nvCxnSpPr>
            <p:cNvPr id="115" name="Straight Connector 114"/>
            <p:cNvCxnSpPr/>
            <p:nvPr/>
          </p:nvCxnSpPr>
          <p:spPr bwMode="auto">
            <a:xfrm>
              <a:off x="4201930" y="1657886"/>
              <a:ext cx="122548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9" name="Straight Connector 118"/>
            <p:cNvCxnSpPr/>
            <p:nvPr/>
          </p:nvCxnSpPr>
          <p:spPr bwMode="auto">
            <a:xfrm flipV="1">
              <a:off x="4814670" y="1368535"/>
              <a:ext cx="1" cy="300109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88" name="Group 187"/>
          <p:cNvGrpSpPr/>
          <p:nvPr/>
        </p:nvGrpSpPr>
        <p:grpSpPr>
          <a:xfrm>
            <a:off x="6282575" y="1046890"/>
            <a:ext cx="2227583" cy="4755131"/>
            <a:chOff x="6282575" y="1046890"/>
            <a:chExt cx="2227583" cy="4755131"/>
          </a:xfrm>
        </p:grpSpPr>
        <p:grpSp>
          <p:nvGrpSpPr>
            <p:cNvPr id="122" name="Group 121"/>
            <p:cNvGrpSpPr/>
            <p:nvPr/>
          </p:nvGrpSpPr>
          <p:grpSpPr>
            <a:xfrm>
              <a:off x="6282575" y="1046890"/>
              <a:ext cx="2227583" cy="2855578"/>
              <a:chOff x="3365755" y="1046890"/>
              <a:chExt cx="2227583" cy="2855578"/>
            </a:xfrm>
          </p:grpSpPr>
          <p:grpSp>
            <p:nvGrpSpPr>
              <p:cNvPr id="123" name="Group 122"/>
              <p:cNvGrpSpPr/>
              <p:nvPr/>
            </p:nvGrpSpPr>
            <p:grpSpPr>
              <a:xfrm>
                <a:off x="3696427" y="1651790"/>
                <a:ext cx="511313" cy="931001"/>
                <a:chOff x="1094687" y="4539259"/>
                <a:chExt cx="620358" cy="1129551"/>
              </a:xfrm>
            </p:grpSpPr>
            <p:grpSp>
              <p:nvGrpSpPr>
                <p:cNvPr id="145" name="Group 144"/>
                <p:cNvGrpSpPr/>
                <p:nvPr/>
              </p:nvGrpSpPr>
              <p:grpSpPr>
                <a:xfrm>
                  <a:off x="1094687" y="4539259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147" name="Straight Connector 146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8" name="Straight Connector 147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9" name="Straight Connector 148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50" name="Straight Connector 149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51" name="Straight Connector 150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52" name="Straight Connector 151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53" name="Straight Connector 152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46" name="Oval 145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124" name="TextBox 123"/>
              <p:cNvSpPr txBox="1"/>
              <p:nvPr/>
            </p:nvSpPr>
            <p:spPr>
              <a:xfrm>
                <a:off x="4599566" y="1046890"/>
                <a:ext cx="4523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 smtClean="0">
                    <a:latin typeface="+mj-lt"/>
                  </a:rPr>
                  <a:t>V</a:t>
                </a:r>
                <a:r>
                  <a:rPr lang="en-US" sz="1400" dirty="0" err="1" smtClean="0">
                    <a:latin typeface="+mj-lt"/>
                  </a:rPr>
                  <a:t>cc</a:t>
                </a:r>
                <a:endParaRPr lang="en-US" sz="1400" dirty="0" smtClean="0">
                  <a:latin typeface="+mj-lt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4523971" y="1283650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+mj-lt"/>
                    <a:cs typeface="Consolas" pitchFamily="49" charset="0"/>
                  </a:rPr>
                  <a:t>1</a:t>
                </a:r>
                <a:endParaRPr lang="en-US" sz="1600" dirty="0" smtClean="0">
                  <a:solidFill>
                    <a:srgbClr val="FF0000"/>
                  </a:solidFill>
                  <a:latin typeface="+mj-lt"/>
                  <a:cs typeface="Consolas" pitchFamily="49" charset="0"/>
                </a:endParaRPr>
              </a:p>
            </p:txBody>
          </p:sp>
          <p:cxnSp>
            <p:nvCxnSpPr>
              <p:cNvPr id="126" name="Straight Connector 125"/>
              <p:cNvCxnSpPr/>
              <p:nvPr/>
            </p:nvCxnSpPr>
            <p:spPr bwMode="auto">
              <a:xfrm flipV="1">
                <a:off x="4814671" y="2575172"/>
                <a:ext cx="0" cy="970668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7" name="Straight Connector 126"/>
              <p:cNvCxnSpPr/>
              <p:nvPr/>
            </p:nvCxnSpPr>
            <p:spPr bwMode="auto">
              <a:xfrm>
                <a:off x="4207740" y="2573067"/>
                <a:ext cx="122548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28" name="TextBox 127"/>
              <p:cNvSpPr txBox="1"/>
              <p:nvPr/>
            </p:nvSpPr>
            <p:spPr>
              <a:xfrm>
                <a:off x="3365755" y="1923820"/>
                <a:ext cx="3129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 smtClean="0">
                    <a:latin typeface="+mj-lt"/>
                  </a:rPr>
                  <a:t>A</a:t>
                </a:r>
              </a:p>
            </p:txBody>
          </p:sp>
          <p:grpSp>
            <p:nvGrpSpPr>
              <p:cNvPr id="129" name="Group 128"/>
              <p:cNvGrpSpPr/>
              <p:nvPr/>
            </p:nvGrpSpPr>
            <p:grpSpPr>
              <a:xfrm>
                <a:off x="4805660" y="3545843"/>
                <a:ext cx="787678" cy="356625"/>
                <a:chOff x="8083195" y="4696726"/>
                <a:chExt cx="1294084" cy="432680"/>
              </a:xfrm>
            </p:grpSpPr>
            <p:cxnSp>
              <p:nvCxnSpPr>
                <p:cNvPr id="143" name="Straight Arrow Connector 142"/>
                <p:cNvCxnSpPr/>
                <p:nvPr/>
              </p:nvCxnSpPr>
              <p:spPr bwMode="auto">
                <a:xfrm>
                  <a:off x="8083195" y="4696726"/>
                  <a:ext cx="790443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arrow"/>
                </a:ln>
                <a:effectLst/>
              </p:spPr>
            </p:cxnSp>
            <p:sp>
              <p:nvSpPr>
                <p:cNvPr id="144" name="TextBox 143"/>
                <p:cNvSpPr txBox="1"/>
                <p:nvPr/>
              </p:nvSpPr>
              <p:spPr>
                <a:xfrm>
                  <a:off x="8094194" y="4718651"/>
                  <a:ext cx="1283085" cy="4107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latin typeface="+mj-lt"/>
                    </a:rPr>
                    <a:t>Output</a:t>
                  </a:r>
                </a:p>
              </p:txBody>
            </p:sp>
          </p:grpSp>
          <p:grpSp>
            <p:nvGrpSpPr>
              <p:cNvPr id="130" name="Group 129"/>
              <p:cNvGrpSpPr/>
              <p:nvPr/>
            </p:nvGrpSpPr>
            <p:grpSpPr>
              <a:xfrm>
                <a:off x="4921910" y="1651790"/>
                <a:ext cx="511313" cy="931001"/>
                <a:chOff x="1094687" y="4539259"/>
                <a:chExt cx="620358" cy="1129551"/>
              </a:xfrm>
            </p:grpSpPr>
            <p:grpSp>
              <p:nvGrpSpPr>
                <p:cNvPr id="134" name="Group 133"/>
                <p:cNvGrpSpPr/>
                <p:nvPr/>
              </p:nvGrpSpPr>
              <p:grpSpPr>
                <a:xfrm>
                  <a:off x="1094687" y="4539259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136" name="Straight Connector 135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37" name="Straight Connector 136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38" name="Straight Connector 137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39" name="Straight Connector 138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0" name="Straight Connector 139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1" name="Straight Connector 140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42" name="Straight Connector 141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35" name="Oval 134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131" name="TextBox 130"/>
              <p:cNvSpPr txBox="1"/>
              <p:nvPr/>
            </p:nvSpPr>
            <p:spPr>
              <a:xfrm>
                <a:off x="4615416" y="1935610"/>
                <a:ext cx="3064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600" dirty="0">
                    <a:latin typeface="+mj-lt"/>
                  </a:rPr>
                  <a:t>B</a:t>
                </a:r>
                <a:endParaRPr lang="en-US" sz="1600" dirty="0" smtClean="0">
                  <a:latin typeface="+mj-lt"/>
                </a:endParaRPr>
              </a:p>
            </p:txBody>
          </p:sp>
          <p:cxnSp>
            <p:nvCxnSpPr>
              <p:cNvPr id="132" name="Straight Connector 131"/>
              <p:cNvCxnSpPr/>
              <p:nvPr/>
            </p:nvCxnSpPr>
            <p:spPr bwMode="auto">
              <a:xfrm>
                <a:off x="4201930" y="1657886"/>
                <a:ext cx="122548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33" name="Straight Connector 132"/>
              <p:cNvCxnSpPr/>
              <p:nvPr/>
            </p:nvCxnSpPr>
            <p:spPr bwMode="auto">
              <a:xfrm flipV="1">
                <a:off x="4814670" y="1368535"/>
                <a:ext cx="1" cy="300109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54" name="Group 153"/>
            <p:cNvGrpSpPr/>
            <p:nvPr/>
          </p:nvGrpSpPr>
          <p:grpSpPr>
            <a:xfrm>
              <a:off x="6948531" y="3549486"/>
              <a:ext cx="879341" cy="2252535"/>
              <a:chOff x="895467" y="3614968"/>
              <a:chExt cx="879341" cy="2252535"/>
            </a:xfrm>
          </p:grpSpPr>
          <p:grpSp>
            <p:nvGrpSpPr>
              <p:cNvPr id="155" name="Group 154"/>
              <p:cNvGrpSpPr/>
              <p:nvPr/>
            </p:nvGrpSpPr>
            <p:grpSpPr>
              <a:xfrm>
                <a:off x="1169032" y="4854741"/>
                <a:ext cx="605776" cy="1012762"/>
                <a:chOff x="7185543" y="4644563"/>
                <a:chExt cx="734965" cy="1228748"/>
              </a:xfrm>
            </p:grpSpPr>
            <p:grpSp>
              <p:nvGrpSpPr>
                <p:cNvPr id="170" name="Group 169"/>
                <p:cNvGrpSpPr/>
                <p:nvPr/>
              </p:nvGrpSpPr>
              <p:grpSpPr>
                <a:xfrm>
                  <a:off x="7185543" y="4644563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176" name="Straight Connector 175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7" name="Straight Connector 176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8" name="Straight Connector 177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9" name="Straight Connector 178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0" name="Straight Connector 179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1" name="Straight Connector 180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82" name="Straight Connector 181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grpSp>
              <p:nvGrpSpPr>
                <p:cNvPr id="171" name="Group 170"/>
                <p:cNvGrpSpPr/>
                <p:nvPr/>
              </p:nvGrpSpPr>
              <p:grpSpPr>
                <a:xfrm>
                  <a:off x="7695718" y="5766631"/>
                  <a:ext cx="224790" cy="106680"/>
                  <a:chOff x="3539490" y="4938999"/>
                  <a:chExt cx="224790" cy="106680"/>
                </a:xfrm>
              </p:grpSpPr>
              <p:cxnSp>
                <p:nvCxnSpPr>
                  <p:cNvPr id="173" name="Straight Connector 172"/>
                  <p:cNvCxnSpPr/>
                  <p:nvPr/>
                </p:nvCxnSpPr>
                <p:spPr bwMode="auto">
                  <a:xfrm>
                    <a:off x="3539490" y="4938999"/>
                    <a:ext cx="224790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4" name="Straight Connector 173"/>
                  <p:cNvCxnSpPr/>
                  <p:nvPr/>
                </p:nvCxnSpPr>
                <p:spPr bwMode="auto">
                  <a:xfrm>
                    <a:off x="3583152" y="4992339"/>
                    <a:ext cx="13746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75" name="Straight Connector 174"/>
                  <p:cNvCxnSpPr/>
                  <p:nvPr/>
                </p:nvCxnSpPr>
                <p:spPr bwMode="auto">
                  <a:xfrm>
                    <a:off x="3630055" y="5045679"/>
                    <a:ext cx="4366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72" name="TextBox 171"/>
                <p:cNvSpPr txBox="1"/>
                <p:nvPr/>
              </p:nvSpPr>
              <p:spPr>
                <a:xfrm>
                  <a:off x="7431599" y="5446065"/>
                  <a:ext cx="350465" cy="4107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solidFill>
                        <a:schemeClr val="accent1"/>
                      </a:solidFill>
                      <a:latin typeface="+mj-lt"/>
                      <a:cs typeface="Consolas" pitchFamily="49" charset="0"/>
                    </a:rPr>
                    <a:t>0</a:t>
                  </a:r>
                </a:p>
              </p:txBody>
            </p:sp>
          </p:grpSp>
          <p:grpSp>
            <p:nvGrpSpPr>
              <p:cNvPr id="156" name="Group 155"/>
              <p:cNvGrpSpPr/>
              <p:nvPr/>
            </p:nvGrpSpPr>
            <p:grpSpPr>
              <a:xfrm>
                <a:off x="1167645" y="3614968"/>
                <a:ext cx="511315" cy="1245503"/>
                <a:chOff x="8127402" y="3162474"/>
                <a:chExt cx="620358" cy="1511125"/>
              </a:xfrm>
            </p:grpSpPr>
            <p:cxnSp>
              <p:nvCxnSpPr>
                <p:cNvPr id="163" name="Straight Connector 162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4" name="Straight Connector 163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5" name="Straight Connector 164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6" name="Straight Connector 165"/>
                <p:cNvCxnSpPr/>
                <p:nvPr/>
              </p:nvCxnSpPr>
              <p:spPr bwMode="auto">
                <a:xfrm>
                  <a:off x="8747760" y="3162474"/>
                  <a:ext cx="0" cy="758092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7" name="Straight Connector 166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8" name="Straight Connector 167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9" name="Straight Connector 168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57" name="Group 156"/>
              <p:cNvGrpSpPr/>
              <p:nvPr/>
            </p:nvGrpSpPr>
            <p:grpSpPr>
              <a:xfrm>
                <a:off x="895467" y="4231678"/>
                <a:ext cx="312908" cy="1229533"/>
                <a:chOff x="6326646" y="2986836"/>
                <a:chExt cx="666843" cy="1478631"/>
              </a:xfrm>
            </p:grpSpPr>
            <p:sp>
              <p:nvSpPr>
                <p:cNvPr id="161" name="TextBox 160"/>
                <p:cNvSpPr txBox="1"/>
                <p:nvPr/>
              </p:nvSpPr>
              <p:spPr>
                <a:xfrm>
                  <a:off x="6326648" y="2986836"/>
                  <a:ext cx="666841" cy="4071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latin typeface="+mj-lt"/>
                    </a:rPr>
                    <a:t>A</a:t>
                  </a:r>
                </a:p>
              </p:txBody>
            </p:sp>
            <p:sp>
              <p:nvSpPr>
                <p:cNvPr id="162" name="TextBox 161"/>
                <p:cNvSpPr txBox="1"/>
                <p:nvPr/>
              </p:nvSpPr>
              <p:spPr>
                <a:xfrm>
                  <a:off x="6326646" y="4058324"/>
                  <a:ext cx="653177" cy="4071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+mj-lt"/>
                    </a:rPr>
                    <a:t>B</a:t>
                  </a:r>
                  <a:endParaRPr lang="en-US" sz="1600" dirty="0" smtClean="0">
                    <a:latin typeface="+mj-lt"/>
                  </a:endParaRPr>
                </a:p>
              </p:txBody>
            </p:sp>
          </p:grpSp>
        </p:grpSp>
      </p:grpSp>
      <p:sp>
        <p:nvSpPr>
          <p:cNvPr id="185" name="TextBox 184"/>
          <p:cNvSpPr txBox="1"/>
          <p:nvPr/>
        </p:nvSpPr>
        <p:spPr>
          <a:xfrm>
            <a:off x="735115" y="5936066"/>
            <a:ext cx="1742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b="1" dirty="0" smtClean="0">
                <a:latin typeface="+mj-lt"/>
              </a:rPr>
              <a:t>bottom </a:t>
            </a:r>
            <a:r>
              <a:rPr lang="en-US" dirty="0" smtClean="0">
                <a:latin typeface="+mj-lt"/>
              </a:rPr>
              <a:t>part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941955" y="5936066"/>
            <a:ext cx="1406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b="1" dirty="0" smtClean="0">
                <a:latin typeface="+mj-lt"/>
              </a:rPr>
              <a:t>top </a:t>
            </a:r>
            <a:r>
              <a:rPr lang="en-US" dirty="0" smtClean="0">
                <a:latin typeface="+mj-lt"/>
              </a:rPr>
              <a:t>part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557935" y="5936066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The </a:t>
            </a:r>
            <a:r>
              <a:rPr lang="en-US" b="1" dirty="0" smtClean="0">
                <a:latin typeface="+mj-lt"/>
              </a:rPr>
              <a:t>full </a:t>
            </a:r>
            <a:r>
              <a:rPr lang="en-US" dirty="0" smtClean="0">
                <a:latin typeface="+mj-lt"/>
              </a:rPr>
              <a:t>scheme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1894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186" grpId="0"/>
      <p:bldP spid="187" grpId="0"/>
    </p:bld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and Power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357797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Transistor equivalent scheme</a:t>
            </a:r>
            <a:endParaRPr lang="ru-RU" dirty="0"/>
          </a:p>
        </p:txBody>
      </p:sp>
      <p:grpSp>
        <p:nvGrpSpPr>
          <p:cNvPr id="4" name="Group 3"/>
          <p:cNvGrpSpPr/>
          <p:nvPr/>
        </p:nvGrpSpPr>
        <p:grpSpPr>
          <a:xfrm>
            <a:off x="1460002" y="1119917"/>
            <a:ext cx="5795040" cy="3115199"/>
            <a:chOff x="1458411" y="3116580"/>
            <a:chExt cx="5905542" cy="3055620"/>
          </a:xfrm>
        </p:grpSpPr>
        <p:grpSp>
          <p:nvGrpSpPr>
            <p:cNvPr id="5" name="Group 4"/>
            <p:cNvGrpSpPr/>
            <p:nvPr/>
          </p:nvGrpSpPr>
          <p:grpSpPr>
            <a:xfrm>
              <a:off x="1458411" y="3649980"/>
              <a:ext cx="5905542" cy="2024701"/>
              <a:chOff x="1458411" y="2887980"/>
              <a:chExt cx="5905542" cy="2024701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3871297" y="2887981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 bwMode="auto">
              <a:xfrm>
                <a:off x="2268640" y="2887980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 bwMode="auto">
              <a:xfrm>
                <a:off x="1458411" y="3639468"/>
                <a:ext cx="5905542" cy="1273213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 bwMode="auto">
              <a:xfrm>
                <a:off x="2268640" y="3639467"/>
                <a:ext cx="1099595" cy="60188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 bwMode="auto">
              <a:xfrm>
                <a:off x="1458411" y="3176479"/>
                <a:ext cx="1064870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 bwMode="auto">
              <a:xfrm>
                <a:off x="5451679" y="2887981"/>
                <a:ext cx="1099595" cy="751487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 bwMode="auto">
              <a:xfrm>
                <a:off x="6299083" y="3176479"/>
                <a:ext cx="1064870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 bwMode="auto">
              <a:xfrm>
                <a:off x="3124201" y="3176479"/>
                <a:ext cx="2593788" cy="462988"/>
              </a:xfrm>
              <a:prstGeom prst="rect">
                <a:avLst/>
              </a:prstGeom>
              <a:pattFill prst="wdUpDiag">
                <a:fgClr>
                  <a:schemeClr val="tx2">
                    <a:lumMod val="75000"/>
                  </a:schemeClr>
                </a:fgClr>
                <a:bgClr>
                  <a:schemeClr val="bg1"/>
                </a:bgClr>
              </a:pattFill>
              <a:ln w="19050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 bwMode="auto">
              <a:xfrm>
                <a:off x="5451679" y="3639467"/>
                <a:ext cx="1099595" cy="60188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6" name="Straight Connector 5"/>
            <p:cNvCxnSpPr>
              <a:stCxn id="14" idx="0"/>
            </p:cNvCxnSpPr>
            <p:nvPr/>
          </p:nvCxnSpPr>
          <p:spPr bwMode="auto">
            <a:xfrm flipV="1">
              <a:off x="2818437" y="3296089"/>
              <a:ext cx="15105" cy="35389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" name="Straight Connector 6"/>
            <p:cNvCxnSpPr>
              <a:stCxn id="13" idx="0"/>
            </p:cNvCxnSpPr>
            <p:nvPr/>
          </p:nvCxnSpPr>
          <p:spPr bwMode="auto">
            <a:xfrm flipV="1">
              <a:off x="4421095" y="3116580"/>
              <a:ext cx="0" cy="533401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8" name="Straight Connector 7"/>
            <p:cNvCxnSpPr>
              <a:stCxn id="18" idx="0"/>
            </p:cNvCxnSpPr>
            <p:nvPr/>
          </p:nvCxnSpPr>
          <p:spPr bwMode="auto">
            <a:xfrm flipV="1">
              <a:off x="6001477" y="3296089"/>
              <a:ext cx="26027" cy="35389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" name="Straight Connector 8"/>
            <p:cNvCxnSpPr>
              <a:stCxn id="15" idx="2"/>
            </p:cNvCxnSpPr>
            <p:nvPr/>
          </p:nvCxnSpPr>
          <p:spPr bwMode="auto">
            <a:xfrm>
              <a:off x="4411182" y="5674681"/>
              <a:ext cx="0" cy="497519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22" name="Rectangle 21"/>
          <p:cNvSpPr/>
          <p:nvPr/>
        </p:nvSpPr>
        <p:spPr bwMode="auto">
          <a:xfrm>
            <a:off x="5195903" y="2441592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5378550" y="2441593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012865" y="2441592"/>
            <a:ext cx="1446728" cy="791895"/>
          </a:xfrm>
          <a:prstGeom prst="rect">
            <a:avLst/>
          </a:prstGeom>
          <a:pattFill prst="lgConfetti">
            <a:fgClr>
              <a:schemeClr val="accent1"/>
            </a:fgClr>
            <a:bgClr>
              <a:schemeClr val="accent6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195512" y="2441593"/>
            <a:ext cx="1099595" cy="601885"/>
          </a:xfrm>
          <a:prstGeom prst="rect">
            <a:avLst/>
          </a:prstGeom>
          <a:pattFill prst="lgConfetti">
            <a:fgClr>
              <a:schemeClr val="accent6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5195903" y="3404937"/>
            <a:ext cx="443973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FF33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3856125" y="4759571"/>
            <a:ext cx="1241759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1" name="Straight Connector 30"/>
          <p:cNvCxnSpPr/>
          <p:nvPr/>
        </p:nvCxnSpPr>
        <p:spPr bwMode="auto">
          <a:xfrm>
            <a:off x="6128404" y="4755558"/>
            <a:ext cx="2025443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7" name="Straight Connector 36"/>
          <p:cNvCxnSpPr/>
          <p:nvPr/>
        </p:nvCxnSpPr>
        <p:spPr bwMode="auto">
          <a:xfrm>
            <a:off x="5097884" y="4755558"/>
            <a:ext cx="885452" cy="328862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9" name="Straight Connector 38"/>
          <p:cNvCxnSpPr/>
          <p:nvPr/>
        </p:nvCxnSpPr>
        <p:spPr bwMode="auto">
          <a:xfrm>
            <a:off x="5687079" y="4985530"/>
            <a:ext cx="0" cy="97719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0" name="Straight Arrow Connector 39"/>
          <p:cNvCxnSpPr/>
          <p:nvPr/>
        </p:nvCxnSpPr>
        <p:spPr bwMode="auto">
          <a:xfrm>
            <a:off x="3027551" y="3404937"/>
            <a:ext cx="443973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1" name="Straight Arrow Connector 40"/>
          <p:cNvCxnSpPr/>
          <p:nvPr/>
        </p:nvCxnSpPr>
        <p:spPr bwMode="auto">
          <a:xfrm flipV="1">
            <a:off x="7475814" y="1957841"/>
            <a:ext cx="7828" cy="1770056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FF33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7060160" y="4755558"/>
            <a:ext cx="496871" cy="655718"/>
            <a:chOff x="5116410" y="4904874"/>
            <a:chExt cx="496871" cy="6557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46" name="Straight Connector 45"/>
            <p:cNvCxnSpPr/>
            <p:nvPr/>
          </p:nvCxnSpPr>
          <p:spPr bwMode="auto">
            <a:xfrm>
              <a:off x="5378550" y="4904874"/>
              <a:ext cx="0" cy="32886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 flipH="1" flipV="1">
              <a:off x="5116410" y="5231731"/>
              <a:ext cx="496871" cy="40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 flipH="1" flipV="1">
              <a:off x="5116410" y="5335002"/>
              <a:ext cx="496871" cy="40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5381116" y="5335002"/>
              <a:ext cx="0" cy="22559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56" name="Group 55"/>
          <p:cNvGrpSpPr/>
          <p:nvPr/>
        </p:nvGrpSpPr>
        <p:grpSpPr>
          <a:xfrm>
            <a:off x="4197364" y="4755558"/>
            <a:ext cx="496871" cy="655718"/>
            <a:chOff x="5116410" y="4904874"/>
            <a:chExt cx="496871" cy="6557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57" name="Straight Connector 56"/>
            <p:cNvCxnSpPr/>
            <p:nvPr/>
          </p:nvCxnSpPr>
          <p:spPr bwMode="auto">
            <a:xfrm>
              <a:off x="5378550" y="4904874"/>
              <a:ext cx="0" cy="32886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8" name="Straight Connector 57"/>
            <p:cNvCxnSpPr/>
            <p:nvPr/>
          </p:nvCxnSpPr>
          <p:spPr bwMode="auto">
            <a:xfrm flipH="1" flipV="1">
              <a:off x="5116410" y="5231731"/>
              <a:ext cx="496871" cy="40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 flipH="1" flipV="1">
              <a:off x="5116410" y="5335002"/>
              <a:ext cx="496871" cy="40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 bwMode="auto">
            <a:xfrm>
              <a:off x="5381116" y="5335002"/>
              <a:ext cx="0" cy="22559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61" name="Group 60"/>
          <p:cNvGrpSpPr/>
          <p:nvPr/>
        </p:nvGrpSpPr>
        <p:grpSpPr>
          <a:xfrm>
            <a:off x="4930481" y="5718083"/>
            <a:ext cx="496871" cy="655718"/>
            <a:chOff x="5116410" y="4904874"/>
            <a:chExt cx="496871" cy="6557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2" name="Straight Connector 61"/>
            <p:cNvCxnSpPr/>
            <p:nvPr/>
          </p:nvCxnSpPr>
          <p:spPr bwMode="auto">
            <a:xfrm>
              <a:off x="5378550" y="4904874"/>
              <a:ext cx="0" cy="32886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 flipH="1" flipV="1">
              <a:off x="5116410" y="5231731"/>
              <a:ext cx="496871" cy="40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 flipH="1" flipV="1">
              <a:off x="5116410" y="5335002"/>
              <a:ext cx="496871" cy="401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>
              <a:off x="5381116" y="5335002"/>
              <a:ext cx="0" cy="22559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67" name="Straight Connector 66"/>
          <p:cNvCxnSpPr/>
          <p:nvPr/>
        </p:nvCxnSpPr>
        <p:spPr bwMode="auto">
          <a:xfrm>
            <a:off x="5192621" y="5718083"/>
            <a:ext cx="494458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70" name="Straight Arrow Connector 69"/>
          <p:cNvCxnSpPr/>
          <p:nvPr/>
        </p:nvCxnSpPr>
        <p:spPr bwMode="auto">
          <a:xfrm>
            <a:off x="260492" y="2177806"/>
            <a:ext cx="790470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FF33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60492" y="1549184"/>
                <a:ext cx="914400" cy="644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ru-RU" sz="3200" dirty="0" err="1" smtClean="0">
                  <a:latin typeface="Neo Sans Intel" pitchFamily="34" charset="0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92" y="1549184"/>
                <a:ext cx="914400" cy="64466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Freeform 74"/>
          <p:cNvSpPr/>
          <p:nvPr/>
        </p:nvSpPr>
        <p:spPr bwMode="auto">
          <a:xfrm>
            <a:off x="2779295" y="1041218"/>
            <a:ext cx="3164305" cy="1738077"/>
          </a:xfrm>
          <a:custGeom>
            <a:avLst/>
            <a:gdLst>
              <a:gd name="connsiteX0" fmla="*/ 24063 w 3164305"/>
              <a:gd name="connsiteY0" fmla="*/ 0 h 1732548"/>
              <a:gd name="connsiteX1" fmla="*/ 0 w 3164305"/>
              <a:gd name="connsiteY1" fmla="*/ 1720516 h 1732548"/>
              <a:gd name="connsiteX2" fmla="*/ 3104147 w 3164305"/>
              <a:gd name="connsiteY2" fmla="*/ 1732548 h 1732548"/>
              <a:gd name="connsiteX3" fmla="*/ 3164305 w 3164305"/>
              <a:gd name="connsiteY3" fmla="*/ 84221 h 173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4305" h="1732548">
                <a:moveTo>
                  <a:pt x="24063" y="0"/>
                </a:moveTo>
                <a:lnTo>
                  <a:pt x="0" y="1720516"/>
                </a:lnTo>
                <a:lnTo>
                  <a:pt x="3104147" y="1732548"/>
                </a:lnTo>
                <a:lnTo>
                  <a:pt x="3164305" y="84221"/>
                </a:lnTo>
              </a:path>
            </a:pathLst>
          </a:custGeom>
          <a:noFill/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6347784" y="4660678"/>
            <a:ext cx="564304" cy="21656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86" name="Straight Arrow Connector 85"/>
          <p:cNvCxnSpPr/>
          <p:nvPr/>
        </p:nvCxnSpPr>
        <p:spPr bwMode="auto">
          <a:xfrm>
            <a:off x="268738" y="3128760"/>
            <a:ext cx="790470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68738" y="2500138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ru-RU" sz="3200" dirty="0" err="1" smtClean="0">
                  <a:latin typeface="Neo Sans Intel" pitchFamily="34" charset="0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38" y="2500138"/>
                <a:ext cx="91440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268118" y="4603934"/>
            <a:ext cx="3286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+mj-lt"/>
              </a:rPr>
              <a:t>MOSFET has some parasitic capacities...</a:t>
            </a:r>
            <a:endParaRPr lang="ru-RU" sz="2400" dirty="0" err="1" smtClean="0">
              <a:latin typeface="+mj-lt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08030" y="5349762"/>
            <a:ext cx="246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</a:rPr>
              <a:t>and resistivity </a:t>
            </a:r>
            <a:endParaRPr lang="ru-RU" sz="2400" dirty="0" err="1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54021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73" grpId="0"/>
      <p:bldP spid="75" grpId="0" animBg="1"/>
      <p:bldP spid="78" grpId="0" animBg="1"/>
      <p:bldP spid="87" grpId="0"/>
      <p:bldP spid="88" grpId="0"/>
      <p:bldP spid="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Timing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5613" y="1056443"/>
                <a:ext cx="5315649" cy="4860171"/>
              </a:xfrm>
            </p:spPr>
            <p:txBody>
              <a:bodyPr/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Capacities are not charged or discharged immediately: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Time of charge or discharge can be calculated: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endParaRPr lang="en-US" dirty="0" smtClean="0"/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It is a source of voltage delays in circuits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613" y="1056443"/>
                <a:ext cx="5315649" cy="4860171"/>
              </a:xfrm>
              <a:blipFill rotWithShape="0">
                <a:blip r:embed="rId2"/>
                <a:stretch>
                  <a:fillRect l="-3326" t="-1880" r="-2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075947" y="1046890"/>
            <a:ext cx="2434211" cy="4755131"/>
            <a:chOff x="6075947" y="1046890"/>
            <a:chExt cx="2434211" cy="4755131"/>
          </a:xfrm>
        </p:grpSpPr>
        <p:grpSp>
          <p:nvGrpSpPr>
            <p:cNvPr id="5" name="Group 4"/>
            <p:cNvGrpSpPr/>
            <p:nvPr/>
          </p:nvGrpSpPr>
          <p:grpSpPr>
            <a:xfrm>
              <a:off x="6075947" y="1046890"/>
              <a:ext cx="2434211" cy="2855578"/>
              <a:chOff x="3159127" y="1046890"/>
              <a:chExt cx="2434211" cy="2855578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3159127" y="1651790"/>
                <a:ext cx="1048613" cy="931001"/>
                <a:chOff x="442800" y="4539259"/>
                <a:chExt cx="1272245" cy="1129551"/>
              </a:xfrm>
            </p:grpSpPr>
            <p:grpSp>
              <p:nvGrpSpPr>
                <p:cNvPr id="54" name="Group 53"/>
                <p:cNvGrpSpPr/>
                <p:nvPr/>
              </p:nvGrpSpPr>
              <p:grpSpPr>
                <a:xfrm>
                  <a:off x="442800" y="4539259"/>
                  <a:ext cx="1272245" cy="1129551"/>
                  <a:chOff x="7475515" y="3544048"/>
                  <a:chExt cx="1272245" cy="1129551"/>
                </a:xfrm>
              </p:grpSpPr>
              <p:cxnSp>
                <p:nvCxnSpPr>
                  <p:cNvPr id="56" name="Straight Connector 55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7" name="Straight Connector 56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8" name="Straight Connector 57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9" name="Straight Connector 58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60" name="Straight Connector 59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61" name="Straight Connector 60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 flipH="1">
                    <a:off x="7475515" y="4108824"/>
                    <a:ext cx="1028404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55" name="Oval 54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4599566" y="1046890"/>
                <a:ext cx="4523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 smtClean="0">
                    <a:latin typeface="+mj-lt"/>
                  </a:rPr>
                  <a:t>V</a:t>
                </a:r>
                <a:r>
                  <a:rPr lang="en-US" sz="1400" dirty="0" err="1" smtClean="0">
                    <a:latin typeface="+mj-lt"/>
                  </a:rPr>
                  <a:t>cc</a:t>
                </a:r>
                <a:endParaRPr lang="en-US" sz="1400" dirty="0" smtClean="0">
                  <a:latin typeface="+mj-lt"/>
                </a:endParaRPr>
              </a:p>
            </p:txBody>
          </p:sp>
          <p:cxnSp>
            <p:nvCxnSpPr>
              <p:cNvPr id="35" name="Straight Connector 34"/>
              <p:cNvCxnSpPr/>
              <p:nvPr/>
            </p:nvCxnSpPr>
            <p:spPr bwMode="auto">
              <a:xfrm flipV="1">
                <a:off x="4814671" y="2575172"/>
                <a:ext cx="0" cy="970668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" name="Straight Connector 35"/>
              <p:cNvCxnSpPr/>
              <p:nvPr/>
            </p:nvCxnSpPr>
            <p:spPr bwMode="auto">
              <a:xfrm>
                <a:off x="4207740" y="2573067"/>
                <a:ext cx="122548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38" name="Group 37"/>
              <p:cNvGrpSpPr/>
              <p:nvPr/>
            </p:nvGrpSpPr>
            <p:grpSpPr>
              <a:xfrm>
                <a:off x="4805660" y="3545843"/>
                <a:ext cx="787678" cy="356625"/>
                <a:chOff x="8083195" y="4696726"/>
                <a:chExt cx="1294084" cy="432680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 bwMode="auto">
                <a:xfrm>
                  <a:off x="8083195" y="4696726"/>
                  <a:ext cx="790443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arrow"/>
                </a:ln>
                <a:effectLst/>
              </p:spPr>
            </p:cxnSp>
            <p:sp>
              <p:nvSpPr>
                <p:cNvPr id="53" name="TextBox 52"/>
                <p:cNvSpPr txBox="1"/>
                <p:nvPr/>
              </p:nvSpPr>
              <p:spPr>
                <a:xfrm>
                  <a:off x="8094194" y="4718651"/>
                  <a:ext cx="1283085" cy="4107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latin typeface="+mj-lt"/>
                    </a:rPr>
                    <a:t>Output</a:t>
                  </a:r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4921910" y="1651790"/>
                <a:ext cx="511313" cy="931001"/>
                <a:chOff x="1094687" y="4539259"/>
                <a:chExt cx="620358" cy="1129551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1094687" y="4539259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45" name="Straight Connector 44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6" name="Straight Connector 45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7" name="Straight Connector 46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8" name="Straight Connector 47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9" name="Straight Connector 48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0" name="Straight Connector 49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1" name="Straight Connector 50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44" name="Oval 43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40" name="TextBox 39"/>
              <p:cNvSpPr txBox="1"/>
              <p:nvPr/>
            </p:nvSpPr>
            <p:spPr>
              <a:xfrm>
                <a:off x="4633048" y="1935610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ru-RU" sz="1600" dirty="0">
                    <a:latin typeface="+mj-lt"/>
                  </a:rPr>
                  <a:t>1</a:t>
                </a:r>
                <a:endParaRPr lang="en-US" sz="1600" dirty="0" smtClean="0">
                  <a:latin typeface="+mj-lt"/>
                </a:endParaRPr>
              </a:p>
            </p:txBody>
          </p:sp>
          <p:cxnSp>
            <p:nvCxnSpPr>
              <p:cNvPr id="41" name="Straight Connector 40"/>
              <p:cNvCxnSpPr/>
              <p:nvPr/>
            </p:nvCxnSpPr>
            <p:spPr bwMode="auto">
              <a:xfrm>
                <a:off x="4201930" y="1657886"/>
                <a:ext cx="122548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2" name="Straight Connector 41"/>
              <p:cNvCxnSpPr/>
              <p:nvPr/>
            </p:nvCxnSpPr>
            <p:spPr bwMode="auto">
              <a:xfrm flipV="1">
                <a:off x="4814670" y="1368535"/>
                <a:ext cx="1" cy="300109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" name="Group 5"/>
            <p:cNvGrpSpPr/>
            <p:nvPr/>
          </p:nvGrpSpPr>
          <p:grpSpPr>
            <a:xfrm>
              <a:off x="6948522" y="3549486"/>
              <a:ext cx="879350" cy="2252535"/>
              <a:chOff x="895458" y="3614968"/>
              <a:chExt cx="879350" cy="2252535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169032" y="4854741"/>
                <a:ext cx="605776" cy="1012762"/>
                <a:chOff x="7185543" y="4644563"/>
                <a:chExt cx="734965" cy="1228748"/>
              </a:xfrm>
            </p:grpSpPr>
            <p:grpSp>
              <p:nvGrpSpPr>
                <p:cNvPr id="19" name="Group 18"/>
                <p:cNvGrpSpPr/>
                <p:nvPr/>
              </p:nvGrpSpPr>
              <p:grpSpPr>
                <a:xfrm>
                  <a:off x="7185543" y="4644563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25" name="Straight Connector 24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6" name="Straight Connector 25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7" name="Straight Connector 26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8" name="Straight Connector 27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30" name="Straight Connector 29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31" name="Straight Connector 30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grpSp>
              <p:nvGrpSpPr>
                <p:cNvPr id="20" name="Group 19"/>
                <p:cNvGrpSpPr/>
                <p:nvPr/>
              </p:nvGrpSpPr>
              <p:grpSpPr>
                <a:xfrm>
                  <a:off x="7695718" y="5766631"/>
                  <a:ext cx="224790" cy="106680"/>
                  <a:chOff x="3539490" y="4938999"/>
                  <a:chExt cx="224790" cy="106680"/>
                </a:xfrm>
              </p:grpSpPr>
              <p:cxnSp>
                <p:nvCxnSpPr>
                  <p:cNvPr id="22" name="Straight Connector 21"/>
                  <p:cNvCxnSpPr/>
                  <p:nvPr/>
                </p:nvCxnSpPr>
                <p:spPr bwMode="auto">
                  <a:xfrm>
                    <a:off x="3539490" y="4938999"/>
                    <a:ext cx="224790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" name="Straight Connector 22"/>
                  <p:cNvCxnSpPr/>
                  <p:nvPr/>
                </p:nvCxnSpPr>
                <p:spPr bwMode="auto">
                  <a:xfrm>
                    <a:off x="3583152" y="4992339"/>
                    <a:ext cx="13746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4" name="Straight Connector 23"/>
                  <p:cNvCxnSpPr/>
                  <p:nvPr/>
                </p:nvCxnSpPr>
                <p:spPr bwMode="auto">
                  <a:xfrm>
                    <a:off x="3630055" y="5045679"/>
                    <a:ext cx="4366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21" name="TextBox 20"/>
                <p:cNvSpPr txBox="1"/>
                <p:nvPr/>
              </p:nvSpPr>
              <p:spPr>
                <a:xfrm>
                  <a:off x="7431599" y="5446065"/>
                  <a:ext cx="350465" cy="4107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solidFill>
                        <a:schemeClr val="accent1"/>
                      </a:solidFill>
                      <a:latin typeface="+mj-lt"/>
                      <a:cs typeface="Consolas" pitchFamily="49" charset="0"/>
                    </a:rPr>
                    <a:t>0</a:t>
                  </a:r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1167645" y="3614968"/>
                <a:ext cx="511315" cy="1245503"/>
                <a:chOff x="8127402" y="3162474"/>
                <a:chExt cx="620358" cy="1511125"/>
              </a:xfrm>
            </p:grpSpPr>
            <p:cxnSp>
              <p:nvCxnSpPr>
                <p:cNvPr id="12" name="Straight Connector 11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" name="Straight Connector 12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" name="Straight Connector 13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" name="Straight Connector 14"/>
                <p:cNvCxnSpPr/>
                <p:nvPr/>
              </p:nvCxnSpPr>
              <p:spPr bwMode="auto">
                <a:xfrm>
                  <a:off x="8747760" y="3162474"/>
                  <a:ext cx="0" cy="758092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" name="Straight Connector 15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" name="Straight Connector 16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" name="Straight Connector 17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9" name="Group 8"/>
              <p:cNvGrpSpPr/>
              <p:nvPr/>
            </p:nvGrpSpPr>
            <p:grpSpPr>
              <a:xfrm>
                <a:off x="895458" y="4231678"/>
                <a:ext cx="288862" cy="1229533"/>
                <a:chOff x="6326646" y="2986836"/>
                <a:chExt cx="615600" cy="1478631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6326648" y="2986836"/>
                  <a:ext cx="615598" cy="4071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600" dirty="0" smtClean="0">
                      <a:latin typeface="+mj-lt"/>
                    </a:rPr>
                    <a:t>1</a:t>
                  </a:r>
                  <a:endParaRPr lang="en-US" sz="1600" dirty="0" smtClean="0">
                    <a:latin typeface="+mj-lt"/>
                  </a:endParaRP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6326646" y="4058323"/>
                  <a:ext cx="615599" cy="4071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600" dirty="0" smtClean="0">
                      <a:latin typeface="+mj-lt"/>
                    </a:rPr>
                    <a:t>1</a:t>
                  </a:r>
                  <a:endParaRPr lang="en-US" sz="1600" dirty="0" smtClean="0">
                    <a:latin typeface="+mj-lt"/>
                  </a:endParaRPr>
                </a:p>
              </p:txBody>
            </p:sp>
          </p:grpSp>
        </p:grpSp>
      </p:grpSp>
      <p:grpSp>
        <p:nvGrpSpPr>
          <p:cNvPr id="77" name="Group 76"/>
          <p:cNvGrpSpPr/>
          <p:nvPr/>
        </p:nvGrpSpPr>
        <p:grpSpPr>
          <a:xfrm>
            <a:off x="6220326" y="1452927"/>
            <a:ext cx="1509327" cy="771042"/>
            <a:chOff x="6220326" y="1452927"/>
            <a:chExt cx="1509327" cy="771042"/>
          </a:xfrm>
        </p:grpSpPr>
        <p:grpSp>
          <p:nvGrpSpPr>
            <p:cNvPr id="67" name="Group 66"/>
            <p:cNvGrpSpPr/>
            <p:nvPr/>
          </p:nvGrpSpPr>
          <p:grpSpPr>
            <a:xfrm>
              <a:off x="6544081" y="1668644"/>
              <a:ext cx="310343" cy="72191"/>
              <a:chOff x="6652030" y="2728234"/>
              <a:chExt cx="310343" cy="72191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rot="5400000">
                <a:off x="6807206" y="2573067"/>
                <a:ext cx="0" cy="31033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rot="5400000">
                <a:off x="6807197" y="2645258"/>
                <a:ext cx="0" cy="31033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69" name="Straight Connector 68"/>
            <p:cNvCxnSpPr/>
            <p:nvPr/>
          </p:nvCxnSpPr>
          <p:spPr bwMode="auto">
            <a:xfrm flipV="1">
              <a:off x="6699248" y="1740835"/>
              <a:ext cx="0" cy="37645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 flipV="1">
              <a:off x="6699248" y="1452928"/>
              <a:ext cx="0" cy="19886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>
              <a:off x="6699248" y="1452927"/>
              <a:ext cx="1030405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5" name="Rectangle 74"/>
            <p:cNvSpPr/>
            <p:nvPr/>
          </p:nvSpPr>
          <p:spPr bwMode="auto">
            <a:xfrm>
              <a:off x="6220326" y="2010611"/>
              <a:ext cx="323755" cy="213358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829932" y="1909915"/>
            <a:ext cx="30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0</a:t>
            </a:r>
            <a:endParaRPr lang="ru-RU" dirty="0" err="1" smtClean="0">
              <a:latin typeface="+mj-lt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693412" y="192382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dirty="0" smtClean="0">
                <a:latin typeface="+mj-lt"/>
              </a:rPr>
              <a:t>1</a:t>
            </a:r>
            <a:endParaRPr lang="en-US" sz="1600" dirty="0" smtClean="0">
              <a:latin typeface="+mj-lt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332040" y="1385444"/>
            <a:ext cx="4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eo Sans Intel" pitchFamily="34" charset="0"/>
              </a:rPr>
              <a:t>+</a:t>
            </a:r>
            <a:br>
              <a:rPr lang="en-US" dirty="0" smtClean="0">
                <a:latin typeface="Neo Sans Intel" pitchFamily="34" charset="0"/>
              </a:rPr>
            </a:br>
            <a:r>
              <a:rPr lang="en-US" dirty="0" smtClean="0">
                <a:latin typeface="Neo Sans Intel" pitchFamily="34" charset="0"/>
              </a:rPr>
              <a:t>−</a:t>
            </a:r>
            <a:endParaRPr lang="ru-RU" dirty="0" err="1" smtClean="0">
              <a:latin typeface="Neo Sans Int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90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8" grpId="0"/>
      <p:bldP spid="79" grpId="0"/>
      <p:bldP spid="79" grpId="1"/>
      <p:bldP spid="8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2946863" y="5134177"/>
            <a:ext cx="3208583" cy="1084508"/>
            <a:chOff x="2946863" y="5134177"/>
            <a:chExt cx="3208583" cy="1084508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4257826" y="5810389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3387074" y="5810388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5116474" y="5810389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2946863" y="5967134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5576884" y="5967134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3851915" y="5967134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045" name="Straight Arrow Connector 1044"/>
            <p:cNvCxnSpPr/>
            <p:nvPr/>
          </p:nvCxnSpPr>
          <p:spPr bwMode="auto">
            <a:xfrm>
              <a:off x="4599465" y="5134177"/>
              <a:ext cx="0" cy="68361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3984283" y="5451622"/>
              <a:ext cx="5877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Gate</a:t>
              </a:r>
            </a:p>
          </p:txBody>
        </p:sp>
      </p:grpSp>
      <p:sp>
        <p:nvSpPr>
          <p:cNvPr id="1041" name="Rectangle 1040"/>
          <p:cNvSpPr/>
          <p:nvPr/>
        </p:nvSpPr>
        <p:spPr bwMode="auto">
          <a:xfrm>
            <a:off x="2903959" y="5810388"/>
            <a:ext cx="3352129" cy="514212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38000">
                <a:schemeClr val="bg1"/>
              </a:gs>
            </a:gsLst>
            <a:lin ang="16200000" scaled="0"/>
          </a:gra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22404" y="2466282"/>
            <a:ext cx="8404471" cy="2965278"/>
            <a:chOff x="522404" y="2466282"/>
            <a:chExt cx="8404471" cy="2965278"/>
          </a:xfrm>
        </p:grpSpPr>
        <p:sp>
          <p:nvSpPr>
            <p:cNvPr id="13" name="Rectangle 12"/>
            <p:cNvSpPr/>
            <p:nvPr/>
          </p:nvSpPr>
          <p:spPr bwMode="auto">
            <a:xfrm>
              <a:off x="2349434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038471" y="4326970"/>
              <a:ext cx="3208583" cy="69175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208082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6" name="Straight Connector 5"/>
            <p:cNvCxnSpPr>
              <a:stCxn id="14" idx="0"/>
            </p:cNvCxnSpPr>
            <p:nvPr/>
          </p:nvCxnSpPr>
          <p:spPr bwMode="auto">
            <a:xfrm flipH="1" flipV="1">
              <a:off x="1777397" y="3591608"/>
              <a:ext cx="1" cy="32706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8" name="Straight Connector 7"/>
            <p:cNvCxnSpPr>
              <a:stCxn id="18" idx="0"/>
            </p:cNvCxnSpPr>
            <p:nvPr/>
          </p:nvCxnSpPr>
          <p:spPr bwMode="auto">
            <a:xfrm flipH="1" flipV="1">
              <a:off x="3506797" y="3628869"/>
              <a:ext cx="1" cy="28980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1433319" y="3275360"/>
              <a:ext cx="7768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Source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3472" y="3275360"/>
              <a:ext cx="637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Drain</a:t>
              </a: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6256088" y="3930101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5385336" y="3930100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4945125" y="4327605"/>
              <a:ext cx="3208583" cy="69175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114736" y="3930101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37" name="Straight Connector 36"/>
            <p:cNvCxnSpPr>
              <a:stCxn id="45" idx="0"/>
            </p:cNvCxnSpPr>
            <p:nvPr/>
          </p:nvCxnSpPr>
          <p:spPr bwMode="auto">
            <a:xfrm flipV="1">
              <a:off x="5684051" y="3628869"/>
              <a:ext cx="1" cy="30123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" name="Straight Connector 6"/>
            <p:cNvCxnSpPr>
              <a:stCxn id="13" idx="0"/>
            </p:cNvCxnSpPr>
            <p:nvPr/>
          </p:nvCxnSpPr>
          <p:spPr bwMode="auto">
            <a:xfrm flipV="1">
              <a:off x="2648148" y="2940419"/>
              <a:ext cx="0" cy="95214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8" name="Straight Connector 37"/>
            <p:cNvCxnSpPr>
              <a:stCxn id="44" idx="0"/>
            </p:cNvCxnSpPr>
            <p:nvPr/>
          </p:nvCxnSpPr>
          <p:spPr bwMode="auto">
            <a:xfrm flipH="1" flipV="1">
              <a:off x="6554802" y="2940419"/>
              <a:ext cx="1" cy="98968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9" name="Straight Connector 38"/>
            <p:cNvCxnSpPr>
              <a:stCxn id="49" idx="0"/>
            </p:cNvCxnSpPr>
            <p:nvPr/>
          </p:nvCxnSpPr>
          <p:spPr bwMode="auto">
            <a:xfrm flipH="1" flipV="1">
              <a:off x="7413451" y="3640295"/>
              <a:ext cx="1" cy="28980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1" name="TextBox 40"/>
            <p:cNvSpPr txBox="1"/>
            <p:nvPr/>
          </p:nvSpPr>
          <p:spPr>
            <a:xfrm>
              <a:off x="7059718" y="3275360"/>
              <a:ext cx="7768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Source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72811" y="3275360"/>
              <a:ext cx="637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Drain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943523" y="4075420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668492" y="4075420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1478682" y="3918674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2341553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3200201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 bwMode="auto">
            <a:xfrm>
              <a:off x="3515591" y="3628869"/>
              <a:ext cx="216846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30" name="Straight Connector 1029"/>
            <p:cNvCxnSpPr/>
            <p:nvPr/>
          </p:nvCxnSpPr>
          <p:spPr bwMode="auto">
            <a:xfrm flipH="1">
              <a:off x="904240" y="3598418"/>
              <a:ext cx="87315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1" name="TextBox 70"/>
            <p:cNvSpPr txBox="1"/>
            <p:nvPr/>
          </p:nvSpPr>
          <p:spPr>
            <a:xfrm>
              <a:off x="522404" y="3222153"/>
              <a:ext cx="381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chemeClr val="accent1"/>
                  </a:solidFill>
                  <a:latin typeface="+mj-lt"/>
                  <a:cs typeface="Consolas" pitchFamily="49" charset="0"/>
                </a:rPr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395374" y="3231921"/>
              <a:ext cx="5315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  <a:latin typeface="+mj-lt"/>
                  <a:cs typeface="Consolas" pitchFamily="49" charset="0"/>
                </a:rPr>
                <a:t>1</a:t>
              </a:r>
            </a:p>
          </p:txBody>
        </p:sp>
        <p:cxnSp>
          <p:nvCxnSpPr>
            <p:cNvPr id="73" name="Straight Connector 72"/>
            <p:cNvCxnSpPr/>
            <p:nvPr/>
          </p:nvCxnSpPr>
          <p:spPr bwMode="auto">
            <a:xfrm flipH="1">
              <a:off x="7411545" y="3635565"/>
              <a:ext cx="87315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4" name="Rectangle 73"/>
            <p:cNvSpPr/>
            <p:nvPr/>
          </p:nvSpPr>
          <p:spPr bwMode="auto">
            <a:xfrm>
              <a:off x="1473102" y="4326970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3202502" y="4326970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5390850" y="4327605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78" name="Rectangle 77"/>
            <p:cNvSpPr/>
            <p:nvPr/>
          </p:nvSpPr>
          <p:spPr bwMode="auto">
            <a:xfrm>
              <a:off x="7120250" y="4327605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4945125" y="4086846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7575146" y="4086846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5850177" y="4086846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038471" y="4075420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1935642" y="4080500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3660611" y="4075420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032" name="Straight Arrow Connector 1031"/>
            <p:cNvCxnSpPr/>
            <p:nvPr/>
          </p:nvCxnSpPr>
          <p:spPr bwMode="auto">
            <a:xfrm>
              <a:off x="4599820" y="3625996"/>
              <a:ext cx="0" cy="166490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1035" name="Straight Connector 1034"/>
            <p:cNvCxnSpPr/>
            <p:nvPr/>
          </p:nvCxnSpPr>
          <p:spPr bwMode="auto">
            <a:xfrm>
              <a:off x="2642762" y="2940419"/>
              <a:ext cx="3913407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38" name="Straight Arrow Connector 1037"/>
            <p:cNvCxnSpPr/>
            <p:nvPr/>
          </p:nvCxnSpPr>
          <p:spPr bwMode="auto">
            <a:xfrm flipH="1">
              <a:off x="4589307" y="2543311"/>
              <a:ext cx="356" cy="39710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88" name="TextBox 87"/>
            <p:cNvSpPr txBox="1"/>
            <p:nvPr/>
          </p:nvSpPr>
          <p:spPr>
            <a:xfrm>
              <a:off x="6043302" y="3275360"/>
              <a:ext cx="5877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Gate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634687" y="3275360"/>
              <a:ext cx="5877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Gate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660655" y="5093006"/>
              <a:ext cx="7938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Output</a:t>
              </a:r>
            </a:p>
          </p:txBody>
        </p:sp>
        <p:sp>
          <p:nvSpPr>
            <p:cNvPr id="1040" name="TextBox 1039"/>
            <p:cNvSpPr txBox="1"/>
            <p:nvPr/>
          </p:nvSpPr>
          <p:spPr>
            <a:xfrm>
              <a:off x="6396169" y="4623996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n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62660" y="4266858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n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625487" y="4283621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n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475028" y="4618619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p</a:t>
              </a:r>
              <a:endParaRPr lang="en-US" sz="2000" dirty="0" smtClean="0">
                <a:latin typeface="+mj-lt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531205" y="4290422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p</a:t>
              </a:r>
              <a:endParaRPr lang="en-US" sz="2000" dirty="0" smtClean="0">
                <a:latin typeface="+mj-lt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7259483" y="4275325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p</a:t>
              </a:r>
              <a:endParaRPr lang="en-US" sz="2000" dirty="0" smtClean="0">
                <a:latin typeface="+mj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97630" y="2466282"/>
              <a:ext cx="6896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Input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524" y="-32510"/>
            <a:ext cx="8229600" cy="889000"/>
          </a:xfrm>
        </p:spPr>
        <p:txBody>
          <a:bodyPr/>
          <a:lstStyle/>
          <a:p>
            <a:r>
              <a:rPr lang="en-US" dirty="0" smtClean="0"/>
              <a:t>Power </a:t>
            </a:r>
            <a:r>
              <a:rPr lang="en-US" dirty="0"/>
              <a:t>C</a:t>
            </a:r>
            <a:r>
              <a:rPr lang="en-US" dirty="0" smtClean="0"/>
              <a:t>onsumption in CMOS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 bwMode="auto">
          <a:xfrm>
            <a:off x="2068702" y="4326970"/>
            <a:ext cx="1131971" cy="78661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625226" y="2399498"/>
            <a:ext cx="531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+mj-lt"/>
                <a:cs typeface="Consolas" pitchFamily="49" charset="0"/>
              </a:rPr>
              <a:t>1</a:t>
            </a:r>
          </a:p>
        </p:txBody>
      </p:sp>
      <p:sp>
        <p:nvSpPr>
          <p:cNvPr id="101" name="Oval 100"/>
          <p:cNvSpPr/>
          <p:nvPr/>
        </p:nvSpPr>
        <p:spPr bwMode="auto">
          <a:xfrm>
            <a:off x="4506967" y="2588424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02" name="Oval 101"/>
          <p:cNvSpPr/>
          <p:nvPr/>
        </p:nvSpPr>
        <p:spPr bwMode="auto">
          <a:xfrm>
            <a:off x="4516595" y="259430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06" name="Oval 105"/>
          <p:cNvSpPr/>
          <p:nvPr/>
        </p:nvSpPr>
        <p:spPr bwMode="auto">
          <a:xfrm>
            <a:off x="886071" y="3515408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127" name="Oval 126"/>
          <p:cNvSpPr/>
          <p:nvPr/>
        </p:nvSpPr>
        <p:spPr bwMode="auto">
          <a:xfrm>
            <a:off x="894532" y="3523869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681763" y="288586"/>
            <a:ext cx="2371823" cy="2295324"/>
            <a:chOff x="7059717" y="-578060"/>
            <a:chExt cx="2877650" cy="2784836"/>
          </a:xfrm>
        </p:grpSpPr>
        <p:grpSp>
          <p:nvGrpSpPr>
            <p:cNvPr id="69" name="Group 68"/>
            <p:cNvGrpSpPr/>
            <p:nvPr/>
          </p:nvGrpSpPr>
          <p:grpSpPr>
            <a:xfrm>
              <a:off x="8111259" y="978028"/>
              <a:ext cx="734965" cy="1228748"/>
              <a:chOff x="7185543" y="4644563"/>
              <a:chExt cx="734965" cy="1228748"/>
            </a:xfrm>
          </p:grpSpPr>
          <p:grpSp>
            <p:nvGrpSpPr>
              <p:cNvPr id="70" name="Group 69"/>
              <p:cNvGrpSpPr/>
              <p:nvPr/>
            </p:nvGrpSpPr>
            <p:grpSpPr>
              <a:xfrm>
                <a:off x="7185543" y="4644563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84" name="Straight Connector 83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5" name="Straight Connector 84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0" name="Straight Connector 89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3" name="Straight Connector 92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8" name="Straight Connector 97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79" name="Group 78"/>
              <p:cNvGrpSpPr/>
              <p:nvPr/>
            </p:nvGrpSpPr>
            <p:grpSpPr>
              <a:xfrm>
                <a:off x="7695718" y="5766631"/>
                <a:ext cx="224790" cy="106680"/>
                <a:chOff x="3539490" y="4938999"/>
                <a:chExt cx="224790" cy="106680"/>
              </a:xfrm>
            </p:grpSpPr>
            <p:cxnSp>
              <p:nvCxnSpPr>
                <p:cNvPr id="81" name="Straight Connector 80"/>
                <p:cNvCxnSpPr/>
                <p:nvPr/>
              </p:nvCxnSpPr>
              <p:spPr bwMode="auto">
                <a:xfrm>
                  <a:off x="3539490" y="4938999"/>
                  <a:ext cx="224790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2" name="Straight Connector 81"/>
                <p:cNvCxnSpPr/>
                <p:nvPr/>
              </p:nvCxnSpPr>
              <p:spPr bwMode="auto">
                <a:xfrm>
                  <a:off x="3583152" y="4992339"/>
                  <a:ext cx="137467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3" name="Straight Connector 82"/>
                <p:cNvCxnSpPr/>
                <p:nvPr/>
              </p:nvCxnSpPr>
              <p:spPr bwMode="auto">
                <a:xfrm>
                  <a:off x="3630055" y="5045679"/>
                  <a:ext cx="43661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7431598" y="5446065"/>
                <a:ext cx="350466" cy="410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chemeClr val="accent1"/>
                    </a:solidFill>
                    <a:latin typeface="+mj-lt"/>
                    <a:cs typeface="Consolas" pitchFamily="49" charset="0"/>
                  </a:rPr>
                  <a:t>0</a:t>
                </a: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8109560" y="-578060"/>
              <a:ext cx="926567" cy="1530681"/>
              <a:chOff x="7183844" y="2428075"/>
              <a:chExt cx="926567" cy="1530681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7183844" y="2829205"/>
                <a:ext cx="620358" cy="1129551"/>
                <a:chOff x="1094687" y="4539259"/>
                <a:chExt cx="620358" cy="1129551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1094687" y="4539259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3" name="Straight Connector 112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7" name="Straight Connector 116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8" name="Straight Connector 117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9" name="Straight Connector 118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20" name="Straight Connector 119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21" name="Straight Connector 120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11" name="Oval 110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104" name="TextBox 103"/>
              <p:cNvSpPr txBox="1"/>
              <p:nvPr/>
            </p:nvSpPr>
            <p:spPr>
              <a:xfrm>
                <a:off x="7561569" y="2428075"/>
                <a:ext cx="548842" cy="4107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 smtClean="0">
                    <a:latin typeface="+mj-lt"/>
                  </a:rPr>
                  <a:t>V</a:t>
                </a:r>
                <a:r>
                  <a:rPr lang="en-US" sz="1400" dirty="0" err="1" smtClean="0">
                    <a:latin typeface="+mj-lt"/>
                  </a:rPr>
                  <a:t>cc</a:t>
                </a:r>
                <a:endParaRPr lang="en-US" sz="1400" dirty="0" smtClean="0">
                  <a:latin typeface="+mj-lt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7470190" y="2739532"/>
                <a:ext cx="350466" cy="4107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+mj-lt"/>
                    <a:cs typeface="Consolas" pitchFamily="49" charset="0"/>
                  </a:rPr>
                  <a:t>1</a:t>
                </a:r>
                <a:endParaRPr lang="en-US" sz="1600" dirty="0" smtClean="0">
                  <a:solidFill>
                    <a:srgbClr val="FF0000"/>
                  </a:solidFill>
                  <a:latin typeface="+mj-lt"/>
                  <a:cs typeface="Consolas" pitchFamily="49" charset="0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7059717" y="387849"/>
              <a:ext cx="1062036" cy="1154955"/>
              <a:chOff x="5330548" y="3393979"/>
              <a:chExt cx="1865487" cy="1144798"/>
            </a:xfrm>
          </p:grpSpPr>
          <p:cxnSp>
            <p:nvCxnSpPr>
              <p:cNvPr id="123" name="Straight Connector 122"/>
              <p:cNvCxnSpPr/>
              <p:nvPr/>
            </p:nvCxnSpPr>
            <p:spPr bwMode="auto">
              <a:xfrm flipH="1">
                <a:off x="6790944" y="4538777"/>
                <a:ext cx="405091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4" name="Straight Connector 123"/>
              <p:cNvCxnSpPr/>
              <p:nvPr/>
            </p:nvCxnSpPr>
            <p:spPr bwMode="auto">
              <a:xfrm flipH="1">
                <a:off x="6790944" y="3393979"/>
                <a:ext cx="405091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>
                <a:off x="6790944" y="3393984"/>
                <a:ext cx="0" cy="1144793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8" name="Straight Arrow Connector 127"/>
              <p:cNvCxnSpPr/>
              <p:nvPr/>
            </p:nvCxnSpPr>
            <p:spPr bwMode="auto">
              <a:xfrm>
                <a:off x="5948544" y="3966380"/>
                <a:ext cx="842399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arrow"/>
              </a:ln>
              <a:effectLst/>
            </p:spPr>
          </p:cxnSp>
          <p:sp>
            <p:nvSpPr>
              <p:cNvPr id="129" name="TextBox 128"/>
              <p:cNvSpPr txBox="1"/>
              <p:nvPr/>
            </p:nvSpPr>
            <p:spPr>
              <a:xfrm>
                <a:off x="5330548" y="3566668"/>
                <a:ext cx="1336417" cy="407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Input</a:t>
                </a:r>
              </a:p>
            </p:txBody>
          </p:sp>
        </p:grpSp>
        <p:grpSp>
          <p:nvGrpSpPr>
            <p:cNvPr id="130" name="Group 129"/>
            <p:cNvGrpSpPr/>
            <p:nvPr/>
          </p:nvGrpSpPr>
          <p:grpSpPr>
            <a:xfrm>
              <a:off x="8721099" y="562071"/>
              <a:ext cx="1216268" cy="410755"/>
              <a:chOff x="7795382" y="3883166"/>
              <a:chExt cx="1646976" cy="410755"/>
            </a:xfrm>
          </p:grpSpPr>
          <p:cxnSp>
            <p:nvCxnSpPr>
              <p:cNvPr id="131" name="Straight Arrow Connector 130"/>
              <p:cNvCxnSpPr/>
              <p:nvPr/>
            </p:nvCxnSpPr>
            <p:spPr bwMode="auto">
              <a:xfrm>
                <a:off x="7795382" y="4290461"/>
                <a:ext cx="790443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arrow"/>
              </a:ln>
              <a:effectLst/>
            </p:spPr>
          </p:cxnSp>
          <p:sp>
            <p:nvSpPr>
              <p:cNvPr id="132" name="TextBox 131"/>
              <p:cNvSpPr txBox="1"/>
              <p:nvPr/>
            </p:nvSpPr>
            <p:spPr>
              <a:xfrm>
                <a:off x="8159273" y="3883166"/>
                <a:ext cx="1283085" cy="410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Output</a:t>
                </a:r>
              </a:p>
            </p:txBody>
          </p:sp>
        </p:grpSp>
      </p:grpSp>
      <p:sp>
        <p:nvSpPr>
          <p:cNvPr id="140" name="Content Placeholder 2"/>
          <p:cNvSpPr>
            <a:spLocks noGrp="1"/>
          </p:cNvSpPr>
          <p:nvPr>
            <p:ph idx="1"/>
          </p:nvPr>
        </p:nvSpPr>
        <p:spPr>
          <a:xfrm>
            <a:off x="398738" y="800005"/>
            <a:ext cx="6100556" cy="1175321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200" dirty="0" smtClean="0"/>
              <a:t>No current in static state, i.e. there is no power consumption</a:t>
            </a:r>
          </a:p>
          <a:p>
            <a:pPr marL="342900" indent="-34290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200" dirty="0" smtClean="0"/>
              <a:t>Current exists only at switch from one state to another to recharge the capacities</a:t>
            </a:r>
          </a:p>
        </p:txBody>
      </p:sp>
      <p:sp>
        <p:nvSpPr>
          <p:cNvPr id="141" name="Line Callout 2 (No Border) 140"/>
          <p:cNvSpPr/>
          <p:nvPr/>
        </p:nvSpPr>
        <p:spPr>
          <a:xfrm>
            <a:off x="12829" y="5223153"/>
            <a:ext cx="2940457" cy="412959"/>
          </a:xfrm>
          <a:prstGeom prst="callout2">
            <a:avLst>
              <a:gd name="adj1" fmla="val 45410"/>
              <a:gd name="adj2" fmla="val 103458"/>
              <a:gd name="adj3" fmla="val 52011"/>
              <a:gd name="adj4" fmla="val 116402"/>
              <a:gd name="adj5" fmla="val 63368"/>
              <a:gd name="adj6" fmla="val 134951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600" dirty="0" smtClean="0">
                <a:solidFill>
                  <a:schemeClr val="tx1"/>
                </a:solidFill>
                <a:latin typeface="+mj-lt"/>
              </a:rPr>
              <a:t>No connection between the power supply and the ground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5475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7 L 0.00156 0.0426 L 0.21458 0.0426 L 0.21545 0.18079 L 0.21545 0.19329 " pathEditMode="relative" rAng="0" ptsTypes="AAAAA">
                                      <p:cBhvr>
                                        <p:cTn id="45" dur="28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81" y="963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7 L -0.00243 0.04259 L -0.21163 0.04259 L -0.21233 0.18079 L -0.21233 0.19329 " pathEditMode="relative" rAng="0" ptsTypes="AAAAA">
                                      <p:cBhvr>
                                        <p:cTn id="47" dur="28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08" y="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8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300"/>
                            </p:stCondLst>
                            <p:childTnLst>
                              <p:par>
                                <p:cTn id="53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0 L 0.08801 0 L 0.08888 0.11227 L 0.27499 0.11227 L 0.27777 0.0037 L 0.39548 0.0037 L 0.39635 0.32222 L 0.3769 0.33819 " pathEditMode="relative" ptsTypes="AAAAAAAA">
                                      <p:cBhvr>
                                        <p:cTn id="63" dur="3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grpId="1" nodeType="click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3.61111E-6 1.11111E-6 L 0.08802 1.11111E-6 L 0.08889 0.11227 L 0.275 0.11227 L 0.27777 0.0037 L 0.39548 0.0037 L 0.39635 0.32222 L 0.4125 0.33194 " pathEditMode="relative" rAng="0" ptsTypes="AAAAAAAA">
                                      <p:cBhvr>
                                        <p:cTn id="70" dur="3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1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  <p:bldP spid="92" grpId="0"/>
      <p:bldP spid="101" grpId="0" animBg="1"/>
      <p:bldP spid="101" grpId="1" animBg="1"/>
      <p:bldP spid="102" grpId="0" animBg="1"/>
      <p:bldP spid="102" grpId="1" animBg="1"/>
      <p:bldP spid="106" grpId="0" animBg="1"/>
      <p:bldP spid="106" grpId="1" animBg="1"/>
      <p:bldP spid="127" grpId="0" animBg="1"/>
      <p:bldP spid="127" grpId="1" animBg="1"/>
      <p:bldP spid="141" grpId="0" animBg="1"/>
    </p:bldLst>
  </p:timing>
  <p:extLst mod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Recharging Power</a:t>
            </a:r>
            <a:endParaRPr lang="ru-RU" dirty="0"/>
          </a:p>
        </p:txBody>
      </p:sp>
      <p:grpSp>
        <p:nvGrpSpPr>
          <p:cNvPr id="52" name="Group 51"/>
          <p:cNvGrpSpPr/>
          <p:nvPr/>
        </p:nvGrpSpPr>
        <p:grpSpPr>
          <a:xfrm>
            <a:off x="1558344" y="1378039"/>
            <a:ext cx="1803042" cy="4228565"/>
            <a:chOff x="1558344" y="1378039"/>
            <a:chExt cx="1803042" cy="4228565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1558344" y="1378039"/>
              <a:ext cx="123637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 flipV="1">
              <a:off x="2112136" y="1378039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 8"/>
            <p:cNvSpPr/>
            <p:nvPr/>
          </p:nvSpPr>
          <p:spPr bwMode="auto">
            <a:xfrm>
              <a:off x="1918953" y="1867366"/>
              <a:ext cx="386366" cy="1017431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 bwMode="auto">
            <a:xfrm flipV="1">
              <a:off x="2112136" y="2884797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 bwMode="auto">
            <a:xfrm flipV="1">
              <a:off x="2112136" y="3129460"/>
              <a:ext cx="1032455" cy="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ctangle 12"/>
            <p:cNvSpPr/>
            <p:nvPr/>
          </p:nvSpPr>
          <p:spPr bwMode="auto">
            <a:xfrm>
              <a:off x="1918953" y="3354735"/>
              <a:ext cx="386366" cy="1017431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 flipV="1">
              <a:off x="3161762" y="3129460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/>
            <p:nvPr/>
          </p:nvCxnSpPr>
          <p:spPr bwMode="auto">
            <a:xfrm flipV="1">
              <a:off x="1918953" y="4626524"/>
              <a:ext cx="192108" cy="215934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 flipV="1">
              <a:off x="2112136" y="4880881"/>
              <a:ext cx="0" cy="47029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1918953" y="5351173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/>
            <p:cNvCxnSpPr/>
            <p:nvPr/>
          </p:nvCxnSpPr>
          <p:spPr bwMode="auto">
            <a:xfrm>
              <a:off x="1962955" y="5477816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2045596" y="5606604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>
              <a:endCxn id="13" idx="2"/>
            </p:cNvCxnSpPr>
            <p:nvPr/>
          </p:nvCxnSpPr>
          <p:spPr bwMode="auto">
            <a:xfrm flipV="1">
              <a:off x="2111061" y="4372166"/>
              <a:ext cx="1075" cy="24510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2936383" y="3618787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2936381" y="3758308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 flipV="1">
              <a:off x="3144591" y="3758308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975018" y="4247635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3019020" y="4374278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3101661" y="4503066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3" name="Group 52"/>
          <p:cNvGrpSpPr/>
          <p:nvPr/>
        </p:nvGrpSpPr>
        <p:grpSpPr>
          <a:xfrm>
            <a:off x="6936581" y="3155112"/>
            <a:ext cx="1442433" cy="2477144"/>
            <a:chOff x="1918953" y="3129460"/>
            <a:chExt cx="1442433" cy="2477144"/>
          </a:xfrm>
        </p:grpSpPr>
        <p:cxnSp>
          <p:nvCxnSpPr>
            <p:cNvPr id="57" name="Straight Connector 56"/>
            <p:cNvCxnSpPr/>
            <p:nvPr/>
          </p:nvCxnSpPr>
          <p:spPr bwMode="auto">
            <a:xfrm flipH="1" flipV="1">
              <a:off x="2111061" y="3129460"/>
              <a:ext cx="1075" cy="244665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/>
            <p:cNvCxnSpPr/>
            <p:nvPr/>
          </p:nvCxnSpPr>
          <p:spPr bwMode="auto">
            <a:xfrm flipV="1">
              <a:off x="2112136" y="3129460"/>
              <a:ext cx="1032455" cy="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Rectangle 58"/>
            <p:cNvSpPr/>
            <p:nvPr/>
          </p:nvSpPr>
          <p:spPr bwMode="auto">
            <a:xfrm>
              <a:off x="1918953" y="3354735"/>
              <a:ext cx="386366" cy="1017431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 bwMode="auto">
            <a:xfrm flipV="1">
              <a:off x="3161762" y="3129460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>
              <a:stCxn id="59" idx="2"/>
            </p:cNvCxnSpPr>
            <p:nvPr/>
          </p:nvCxnSpPr>
          <p:spPr bwMode="auto">
            <a:xfrm flipH="1">
              <a:off x="2111061" y="4372166"/>
              <a:ext cx="1075" cy="74386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 flipV="1">
              <a:off x="2112136" y="4880881"/>
              <a:ext cx="0" cy="47029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1918953" y="5351173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1962955" y="5477816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>
              <a:off x="2045596" y="5606604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>
              <a:endCxn id="59" idx="2"/>
            </p:cNvCxnSpPr>
            <p:nvPr/>
          </p:nvCxnSpPr>
          <p:spPr bwMode="auto">
            <a:xfrm flipV="1">
              <a:off x="2111061" y="4372166"/>
              <a:ext cx="1075" cy="24510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2936383" y="3618787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>
              <a:off x="2936381" y="3758308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V="1">
              <a:off x="3144591" y="3758308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2975018" y="4247635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3019020" y="4374278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>
              <a:off x="3101661" y="4503066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78" name="Straight Arrow Connector 77"/>
          <p:cNvCxnSpPr/>
          <p:nvPr/>
        </p:nvCxnSpPr>
        <p:spPr bwMode="auto">
          <a:xfrm>
            <a:off x="2628363" y="1736035"/>
            <a:ext cx="0" cy="114876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787524" y="1946615"/>
                <a:ext cx="10346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524" y="1946615"/>
                <a:ext cx="1034642" cy="5539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444061" y="3374123"/>
                <a:ext cx="102502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061" y="3374123"/>
                <a:ext cx="1025024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521074" y="3586451"/>
                <a:ext cx="10346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074" y="3586451"/>
                <a:ext cx="1034642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/>
          <p:nvPr/>
        </p:nvCxnSpPr>
        <p:spPr bwMode="auto">
          <a:xfrm>
            <a:off x="6695941" y="3277444"/>
            <a:ext cx="0" cy="114876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937826" y="5305992"/>
                <a:ext cx="2119170" cy="55399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3600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826" y="5305992"/>
                <a:ext cx="2119170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738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Critical paths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28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07743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critical path of scheme?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Critical path is the slowest </a:t>
            </a:r>
            <a:r>
              <a:rPr lang="en-US" dirty="0"/>
              <a:t>logic path in the </a:t>
            </a:r>
            <a:r>
              <a:rPr lang="en-US" dirty="0" smtClean="0"/>
              <a:t>circuit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Reliable</a:t>
            </a:r>
            <a:r>
              <a:rPr lang="en-US" dirty="0" smtClean="0"/>
              <a:t> result of whole logic path can not be ready until critical path is passed by signal</a:t>
            </a:r>
            <a:endParaRPr lang="ru-RU" dirty="0"/>
          </a:p>
        </p:txBody>
      </p:sp>
      <p:grpSp>
        <p:nvGrpSpPr>
          <p:cNvPr id="4" name="Group 7"/>
          <p:cNvGrpSpPr/>
          <p:nvPr/>
        </p:nvGrpSpPr>
        <p:grpSpPr>
          <a:xfrm>
            <a:off x="2892265" y="4127313"/>
            <a:ext cx="424236" cy="406400"/>
            <a:chOff x="1607464" y="2009795"/>
            <a:chExt cx="720577" cy="690282"/>
          </a:xfrm>
        </p:grpSpPr>
        <p:sp>
          <p:nvSpPr>
            <p:cNvPr id="5" name="Isosceles Triangle 8"/>
            <p:cNvSpPr/>
            <p:nvPr/>
          </p:nvSpPr>
          <p:spPr bwMode="auto">
            <a:xfrm rot="5400000">
              <a:off x="1559859" y="2057400"/>
              <a:ext cx="690282" cy="595071"/>
            </a:xfrm>
            <a:prstGeom prst="triangl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" name="Oval 9"/>
            <p:cNvSpPr/>
            <p:nvPr/>
          </p:nvSpPr>
          <p:spPr bwMode="auto">
            <a:xfrm>
              <a:off x="2193570" y="2287699"/>
              <a:ext cx="134471" cy="134471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7" name="Flowchart: Delay 10"/>
          <p:cNvSpPr/>
          <p:nvPr/>
        </p:nvSpPr>
        <p:spPr bwMode="auto">
          <a:xfrm>
            <a:off x="3670859" y="4131123"/>
            <a:ext cx="663742" cy="812800"/>
          </a:xfrm>
          <a:custGeom>
            <a:avLst/>
            <a:gdLst>
              <a:gd name="connsiteX0" fmla="*/ 0 w 658964"/>
              <a:gd name="connsiteY0" fmla="*/ 0 h 812800"/>
              <a:gd name="connsiteX1" fmla="*/ 329482 w 658964"/>
              <a:gd name="connsiteY1" fmla="*/ 0 h 812800"/>
              <a:gd name="connsiteX2" fmla="*/ 658964 w 658964"/>
              <a:gd name="connsiteY2" fmla="*/ 406400 h 812800"/>
              <a:gd name="connsiteX3" fmla="*/ 329482 w 658964"/>
              <a:gd name="connsiteY3" fmla="*/ 812800 h 812800"/>
              <a:gd name="connsiteX4" fmla="*/ 0 w 658964"/>
              <a:gd name="connsiteY4" fmla="*/ 812800 h 812800"/>
              <a:gd name="connsiteX5" fmla="*/ 0 w 658964"/>
              <a:gd name="connsiteY5" fmla="*/ 0 h 812800"/>
              <a:gd name="connsiteX0" fmla="*/ 969 w 659933"/>
              <a:gd name="connsiteY0" fmla="*/ 0 h 812800"/>
              <a:gd name="connsiteX1" fmla="*/ 330451 w 659933"/>
              <a:gd name="connsiteY1" fmla="*/ 0 h 812800"/>
              <a:gd name="connsiteX2" fmla="*/ 659933 w 659933"/>
              <a:gd name="connsiteY2" fmla="*/ 406400 h 812800"/>
              <a:gd name="connsiteX3" fmla="*/ 330451 w 659933"/>
              <a:gd name="connsiteY3" fmla="*/ 812800 h 812800"/>
              <a:gd name="connsiteX4" fmla="*/ 969 w 659933"/>
              <a:gd name="connsiteY4" fmla="*/ 812800 h 812800"/>
              <a:gd name="connsiteX5" fmla="*/ 0 w 659933"/>
              <a:gd name="connsiteY5" fmla="*/ 199987 h 812800"/>
              <a:gd name="connsiteX6" fmla="*/ 969 w 659933"/>
              <a:gd name="connsiteY6" fmla="*/ 0 h 812800"/>
              <a:gd name="connsiteX0" fmla="*/ 4778 w 663742"/>
              <a:gd name="connsiteY0" fmla="*/ 0 h 812800"/>
              <a:gd name="connsiteX1" fmla="*/ 334260 w 663742"/>
              <a:gd name="connsiteY1" fmla="*/ 0 h 812800"/>
              <a:gd name="connsiteX2" fmla="*/ 663742 w 663742"/>
              <a:gd name="connsiteY2" fmla="*/ 406400 h 812800"/>
              <a:gd name="connsiteX3" fmla="*/ 334260 w 663742"/>
              <a:gd name="connsiteY3" fmla="*/ 812800 h 812800"/>
              <a:gd name="connsiteX4" fmla="*/ 4778 w 663742"/>
              <a:gd name="connsiteY4" fmla="*/ 812800 h 812800"/>
              <a:gd name="connsiteX5" fmla="*/ 0 w 663742"/>
              <a:gd name="connsiteY5" fmla="*/ 653377 h 812800"/>
              <a:gd name="connsiteX6" fmla="*/ 3809 w 663742"/>
              <a:gd name="connsiteY6" fmla="*/ 199987 h 812800"/>
              <a:gd name="connsiteX7" fmla="*/ 4778 w 663742"/>
              <a:gd name="connsiteY7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3742" h="812800">
                <a:moveTo>
                  <a:pt x="4778" y="0"/>
                </a:moveTo>
                <a:lnTo>
                  <a:pt x="334260" y="0"/>
                </a:lnTo>
                <a:cubicBezTo>
                  <a:pt x="516228" y="0"/>
                  <a:pt x="663742" y="181951"/>
                  <a:pt x="663742" y="406400"/>
                </a:cubicBezTo>
                <a:cubicBezTo>
                  <a:pt x="663742" y="630849"/>
                  <a:pt x="516228" y="812800"/>
                  <a:pt x="334260" y="812800"/>
                </a:cubicBezTo>
                <a:lnTo>
                  <a:pt x="4778" y="812800"/>
                </a:lnTo>
                <a:lnTo>
                  <a:pt x="0" y="653377"/>
                </a:lnTo>
                <a:cubicBezTo>
                  <a:pt x="1270" y="502247"/>
                  <a:pt x="2539" y="351117"/>
                  <a:pt x="3809" y="199987"/>
                </a:cubicBezTo>
                <a:lnTo>
                  <a:pt x="4778" y="0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8" name="Flowchart: Delay 18"/>
          <p:cNvSpPr/>
          <p:nvPr/>
        </p:nvSpPr>
        <p:spPr bwMode="auto">
          <a:xfrm flipH="1">
            <a:off x="4923119" y="3512855"/>
            <a:ext cx="632999" cy="82045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3276 w 10041"/>
              <a:gd name="connsiteY0" fmla="*/ 0 h 10023"/>
              <a:gd name="connsiteX1" fmla="*/ 10041 w 10041"/>
              <a:gd name="connsiteY1" fmla="*/ 23 h 10023"/>
              <a:gd name="connsiteX2" fmla="*/ 8374 w 10041"/>
              <a:gd name="connsiteY2" fmla="*/ 5023 h 10023"/>
              <a:gd name="connsiteX3" fmla="*/ 10041 w 10041"/>
              <a:gd name="connsiteY3" fmla="*/ 10023 h 10023"/>
              <a:gd name="connsiteX4" fmla="*/ 1708 w 10041"/>
              <a:gd name="connsiteY4" fmla="*/ 10023 h 10023"/>
              <a:gd name="connsiteX5" fmla="*/ 41 w 10041"/>
              <a:gd name="connsiteY5" fmla="*/ 5023 h 10023"/>
              <a:gd name="connsiteX6" fmla="*/ 3276 w 10041"/>
              <a:gd name="connsiteY6" fmla="*/ 0 h 10023"/>
              <a:gd name="connsiteX0" fmla="*/ 3237 w 10002"/>
              <a:gd name="connsiteY0" fmla="*/ 0 h 10070"/>
              <a:gd name="connsiteX1" fmla="*/ 10002 w 10002"/>
              <a:gd name="connsiteY1" fmla="*/ 23 h 10070"/>
              <a:gd name="connsiteX2" fmla="*/ 8335 w 10002"/>
              <a:gd name="connsiteY2" fmla="*/ 5023 h 10070"/>
              <a:gd name="connsiteX3" fmla="*/ 10002 w 10002"/>
              <a:gd name="connsiteY3" fmla="*/ 10023 h 10070"/>
              <a:gd name="connsiteX4" fmla="*/ 3656 w 10002"/>
              <a:gd name="connsiteY4" fmla="*/ 10070 h 10070"/>
              <a:gd name="connsiteX5" fmla="*/ 2 w 10002"/>
              <a:gd name="connsiteY5" fmla="*/ 5023 h 10070"/>
              <a:gd name="connsiteX6" fmla="*/ 3237 w 10002"/>
              <a:gd name="connsiteY6" fmla="*/ 0 h 10070"/>
              <a:gd name="connsiteX0" fmla="*/ 3237 w 10002"/>
              <a:gd name="connsiteY0" fmla="*/ 0 h 10070"/>
              <a:gd name="connsiteX1" fmla="*/ 10002 w 10002"/>
              <a:gd name="connsiteY1" fmla="*/ 23 h 10070"/>
              <a:gd name="connsiteX2" fmla="*/ 7439 w 10002"/>
              <a:gd name="connsiteY2" fmla="*/ 5023 h 10070"/>
              <a:gd name="connsiteX3" fmla="*/ 10002 w 10002"/>
              <a:gd name="connsiteY3" fmla="*/ 10023 h 10070"/>
              <a:gd name="connsiteX4" fmla="*/ 3656 w 10002"/>
              <a:gd name="connsiteY4" fmla="*/ 10070 h 10070"/>
              <a:gd name="connsiteX5" fmla="*/ 2 w 10002"/>
              <a:gd name="connsiteY5" fmla="*/ 5023 h 10070"/>
              <a:gd name="connsiteX6" fmla="*/ 3237 w 10002"/>
              <a:gd name="connsiteY6" fmla="*/ 0 h 10070"/>
              <a:gd name="connsiteX0" fmla="*/ 2761 w 9526"/>
              <a:gd name="connsiteY0" fmla="*/ 0 h 10070"/>
              <a:gd name="connsiteX1" fmla="*/ 9526 w 9526"/>
              <a:gd name="connsiteY1" fmla="*/ 23 h 10070"/>
              <a:gd name="connsiteX2" fmla="*/ 6963 w 9526"/>
              <a:gd name="connsiteY2" fmla="*/ 5023 h 10070"/>
              <a:gd name="connsiteX3" fmla="*/ 9526 w 9526"/>
              <a:gd name="connsiteY3" fmla="*/ 10023 h 10070"/>
              <a:gd name="connsiteX4" fmla="*/ 3180 w 9526"/>
              <a:gd name="connsiteY4" fmla="*/ 10070 h 10070"/>
              <a:gd name="connsiteX5" fmla="*/ 2 w 9526"/>
              <a:gd name="connsiteY5" fmla="*/ 5023 h 10070"/>
              <a:gd name="connsiteX6" fmla="*/ 2761 w 9526"/>
              <a:gd name="connsiteY6" fmla="*/ 0 h 10070"/>
              <a:gd name="connsiteX0" fmla="*/ 2898 w 10000"/>
              <a:gd name="connsiteY0" fmla="*/ 0 h 10000"/>
              <a:gd name="connsiteX1" fmla="*/ 10000 w 10000"/>
              <a:gd name="connsiteY1" fmla="*/ 23 h 10000"/>
              <a:gd name="connsiteX2" fmla="*/ 7309 w 10000"/>
              <a:gd name="connsiteY2" fmla="*/ 4988 h 10000"/>
              <a:gd name="connsiteX3" fmla="*/ 10000 w 10000"/>
              <a:gd name="connsiteY3" fmla="*/ 9953 h 10000"/>
              <a:gd name="connsiteX4" fmla="*/ 3338 w 10000"/>
              <a:gd name="connsiteY4" fmla="*/ 10000 h 10000"/>
              <a:gd name="connsiteX5" fmla="*/ 2 w 10000"/>
              <a:gd name="connsiteY5" fmla="*/ 4988 h 10000"/>
              <a:gd name="connsiteX6" fmla="*/ 2898 w 10000"/>
              <a:gd name="connsiteY6" fmla="*/ 0 h 10000"/>
              <a:gd name="connsiteX0" fmla="*/ 4522 w 10008"/>
              <a:gd name="connsiteY0" fmla="*/ 0 h 10000"/>
              <a:gd name="connsiteX1" fmla="*/ 10008 w 10008"/>
              <a:gd name="connsiteY1" fmla="*/ 23 h 10000"/>
              <a:gd name="connsiteX2" fmla="*/ 7317 w 10008"/>
              <a:gd name="connsiteY2" fmla="*/ 4988 h 10000"/>
              <a:gd name="connsiteX3" fmla="*/ 10008 w 10008"/>
              <a:gd name="connsiteY3" fmla="*/ 9953 h 10000"/>
              <a:gd name="connsiteX4" fmla="*/ 3346 w 10008"/>
              <a:gd name="connsiteY4" fmla="*/ 10000 h 10000"/>
              <a:gd name="connsiteX5" fmla="*/ 10 w 10008"/>
              <a:gd name="connsiteY5" fmla="*/ 4988 h 10000"/>
              <a:gd name="connsiteX6" fmla="*/ 4522 w 10008"/>
              <a:gd name="connsiteY6" fmla="*/ 0 h 10000"/>
              <a:gd name="connsiteX0" fmla="*/ 4518 w 10004"/>
              <a:gd name="connsiteY0" fmla="*/ 0 h 10000"/>
              <a:gd name="connsiteX1" fmla="*/ 10004 w 10004"/>
              <a:gd name="connsiteY1" fmla="*/ 23 h 10000"/>
              <a:gd name="connsiteX2" fmla="*/ 7313 w 10004"/>
              <a:gd name="connsiteY2" fmla="*/ 4988 h 10000"/>
              <a:gd name="connsiteX3" fmla="*/ 10004 w 10004"/>
              <a:gd name="connsiteY3" fmla="*/ 9953 h 10000"/>
              <a:gd name="connsiteX4" fmla="*/ 5516 w 10004"/>
              <a:gd name="connsiteY4" fmla="*/ 10000 h 10000"/>
              <a:gd name="connsiteX5" fmla="*/ 6 w 10004"/>
              <a:gd name="connsiteY5" fmla="*/ 4988 h 10000"/>
              <a:gd name="connsiteX6" fmla="*/ 4518 w 10004"/>
              <a:gd name="connsiteY6" fmla="*/ 0 h 10000"/>
              <a:gd name="connsiteX0" fmla="*/ 4530 w 10016"/>
              <a:gd name="connsiteY0" fmla="*/ 0 h 10047"/>
              <a:gd name="connsiteX1" fmla="*/ 10016 w 10016"/>
              <a:gd name="connsiteY1" fmla="*/ 23 h 10047"/>
              <a:gd name="connsiteX2" fmla="*/ 7325 w 10016"/>
              <a:gd name="connsiteY2" fmla="*/ 4988 h 10047"/>
              <a:gd name="connsiteX3" fmla="*/ 10016 w 10016"/>
              <a:gd name="connsiteY3" fmla="*/ 9953 h 10047"/>
              <a:gd name="connsiteX4" fmla="*/ 6439 w 10016"/>
              <a:gd name="connsiteY4" fmla="*/ 10047 h 10047"/>
              <a:gd name="connsiteX5" fmla="*/ 18 w 10016"/>
              <a:gd name="connsiteY5" fmla="*/ 4988 h 10047"/>
              <a:gd name="connsiteX6" fmla="*/ 4530 w 10016"/>
              <a:gd name="connsiteY6" fmla="*/ 0 h 10047"/>
              <a:gd name="connsiteX0" fmla="*/ 5602 w 10001"/>
              <a:gd name="connsiteY0" fmla="*/ 0 h 10024"/>
              <a:gd name="connsiteX1" fmla="*/ 10001 w 10001"/>
              <a:gd name="connsiteY1" fmla="*/ 0 h 10024"/>
              <a:gd name="connsiteX2" fmla="*/ 7310 w 10001"/>
              <a:gd name="connsiteY2" fmla="*/ 4965 h 10024"/>
              <a:gd name="connsiteX3" fmla="*/ 10001 w 10001"/>
              <a:gd name="connsiteY3" fmla="*/ 9930 h 10024"/>
              <a:gd name="connsiteX4" fmla="*/ 6424 w 10001"/>
              <a:gd name="connsiteY4" fmla="*/ 10024 h 10024"/>
              <a:gd name="connsiteX5" fmla="*/ 3 w 10001"/>
              <a:gd name="connsiteY5" fmla="*/ 4965 h 10024"/>
              <a:gd name="connsiteX6" fmla="*/ 5602 w 10001"/>
              <a:gd name="connsiteY6" fmla="*/ 0 h 10024"/>
              <a:gd name="connsiteX0" fmla="*/ 6158 w 9999"/>
              <a:gd name="connsiteY0" fmla="*/ 0 h 10024"/>
              <a:gd name="connsiteX1" fmla="*/ 9999 w 9999"/>
              <a:gd name="connsiteY1" fmla="*/ 0 h 10024"/>
              <a:gd name="connsiteX2" fmla="*/ 7308 w 9999"/>
              <a:gd name="connsiteY2" fmla="*/ 4965 h 10024"/>
              <a:gd name="connsiteX3" fmla="*/ 9999 w 9999"/>
              <a:gd name="connsiteY3" fmla="*/ 9930 h 10024"/>
              <a:gd name="connsiteX4" fmla="*/ 6422 w 9999"/>
              <a:gd name="connsiteY4" fmla="*/ 10024 h 10024"/>
              <a:gd name="connsiteX5" fmla="*/ 1 w 9999"/>
              <a:gd name="connsiteY5" fmla="*/ 4965 h 10024"/>
              <a:gd name="connsiteX6" fmla="*/ 6158 w 9999"/>
              <a:gd name="connsiteY6" fmla="*/ 0 h 10024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6159 w 10000"/>
              <a:gd name="connsiteY0" fmla="*/ 0 h 10000"/>
              <a:gd name="connsiteX1" fmla="*/ 10000 w 10000"/>
              <a:gd name="connsiteY1" fmla="*/ 0 h 10000"/>
              <a:gd name="connsiteX2" fmla="*/ 7309 w 10000"/>
              <a:gd name="connsiteY2" fmla="*/ 4953 h 10000"/>
              <a:gd name="connsiteX3" fmla="*/ 10000 w 10000"/>
              <a:gd name="connsiteY3" fmla="*/ 9906 h 10000"/>
              <a:gd name="connsiteX4" fmla="*/ 6423 w 10000"/>
              <a:gd name="connsiteY4" fmla="*/ 10000 h 10000"/>
              <a:gd name="connsiteX5" fmla="*/ 1 w 10000"/>
              <a:gd name="connsiteY5" fmla="*/ 4953 h 10000"/>
              <a:gd name="connsiteX6" fmla="*/ 6159 w 10000"/>
              <a:gd name="connsiteY6" fmla="*/ 0 h 10000"/>
              <a:gd name="connsiteX0" fmla="*/ 5924 w 9765"/>
              <a:gd name="connsiteY0" fmla="*/ 0 h 10000"/>
              <a:gd name="connsiteX1" fmla="*/ 9765 w 9765"/>
              <a:gd name="connsiteY1" fmla="*/ 0 h 10000"/>
              <a:gd name="connsiteX2" fmla="*/ 7074 w 9765"/>
              <a:gd name="connsiteY2" fmla="*/ 4953 h 10000"/>
              <a:gd name="connsiteX3" fmla="*/ 9765 w 9765"/>
              <a:gd name="connsiteY3" fmla="*/ 9906 h 10000"/>
              <a:gd name="connsiteX4" fmla="*/ 6188 w 9765"/>
              <a:gd name="connsiteY4" fmla="*/ 10000 h 10000"/>
              <a:gd name="connsiteX5" fmla="*/ 1 w 9765"/>
              <a:gd name="connsiteY5" fmla="*/ 4953 h 10000"/>
              <a:gd name="connsiteX6" fmla="*/ 5924 w 9765"/>
              <a:gd name="connsiteY6" fmla="*/ 0 h 10000"/>
              <a:gd name="connsiteX0" fmla="*/ 6067 w 10039"/>
              <a:gd name="connsiteY0" fmla="*/ 0 h 10000"/>
              <a:gd name="connsiteX1" fmla="*/ 10000 w 10039"/>
              <a:gd name="connsiteY1" fmla="*/ 0 h 10000"/>
              <a:gd name="connsiteX2" fmla="*/ 8034 w 10039"/>
              <a:gd name="connsiteY2" fmla="*/ 1970 h 10000"/>
              <a:gd name="connsiteX3" fmla="*/ 7244 w 10039"/>
              <a:gd name="connsiteY3" fmla="*/ 4953 h 10000"/>
              <a:gd name="connsiteX4" fmla="*/ 10000 w 10039"/>
              <a:gd name="connsiteY4" fmla="*/ 9906 h 10000"/>
              <a:gd name="connsiteX5" fmla="*/ 6337 w 10039"/>
              <a:gd name="connsiteY5" fmla="*/ 10000 h 10000"/>
              <a:gd name="connsiteX6" fmla="*/ 1 w 10039"/>
              <a:gd name="connsiteY6" fmla="*/ 4953 h 10000"/>
              <a:gd name="connsiteX7" fmla="*/ 6067 w 10039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034 w 10000"/>
              <a:gd name="connsiteY2" fmla="*/ 1970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10000 w 10000"/>
              <a:gd name="connsiteY4" fmla="*/ 9906 h 10000"/>
              <a:gd name="connsiteX5" fmla="*/ 6337 w 10000"/>
              <a:gd name="connsiteY5" fmla="*/ 10000 h 10000"/>
              <a:gd name="connsiteX6" fmla="*/ 1 w 10000"/>
              <a:gd name="connsiteY6" fmla="*/ 4953 h 10000"/>
              <a:gd name="connsiteX7" fmla="*/ 6067 w 10000"/>
              <a:gd name="connsiteY7" fmla="*/ 0 h 10000"/>
              <a:gd name="connsiteX0" fmla="*/ 6067 w 10064"/>
              <a:gd name="connsiteY0" fmla="*/ 0 h 10000"/>
              <a:gd name="connsiteX1" fmla="*/ 10000 w 10064"/>
              <a:gd name="connsiteY1" fmla="*/ 0 h 10000"/>
              <a:gd name="connsiteX2" fmla="*/ 7914 w 10064"/>
              <a:gd name="connsiteY2" fmla="*/ 2179 h 10000"/>
              <a:gd name="connsiteX3" fmla="*/ 7244 w 10064"/>
              <a:gd name="connsiteY3" fmla="*/ 4953 h 10000"/>
              <a:gd name="connsiteX4" fmla="*/ 8566 w 10064"/>
              <a:gd name="connsiteY4" fmla="*/ 8000 h 10000"/>
              <a:gd name="connsiteX5" fmla="*/ 10000 w 10064"/>
              <a:gd name="connsiteY5" fmla="*/ 9906 h 10000"/>
              <a:gd name="connsiteX6" fmla="*/ 6337 w 10064"/>
              <a:gd name="connsiteY6" fmla="*/ 10000 h 10000"/>
              <a:gd name="connsiteX7" fmla="*/ 1 w 10064"/>
              <a:gd name="connsiteY7" fmla="*/ 4953 h 10000"/>
              <a:gd name="connsiteX8" fmla="*/ 6067 w 10064"/>
              <a:gd name="connsiteY8" fmla="*/ 0 h 10000"/>
              <a:gd name="connsiteX0" fmla="*/ 6067 w 10055"/>
              <a:gd name="connsiteY0" fmla="*/ 0 h 10000"/>
              <a:gd name="connsiteX1" fmla="*/ 10000 w 10055"/>
              <a:gd name="connsiteY1" fmla="*/ 0 h 10000"/>
              <a:gd name="connsiteX2" fmla="*/ 7914 w 10055"/>
              <a:gd name="connsiteY2" fmla="*/ 2179 h 10000"/>
              <a:gd name="connsiteX3" fmla="*/ 7244 w 10055"/>
              <a:gd name="connsiteY3" fmla="*/ 4953 h 10000"/>
              <a:gd name="connsiteX4" fmla="*/ 8566 w 10055"/>
              <a:gd name="connsiteY4" fmla="*/ 8000 h 10000"/>
              <a:gd name="connsiteX5" fmla="*/ 10000 w 10055"/>
              <a:gd name="connsiteY5" fmla="*/ 9906 h 10000"/>
              <a:gd name="connsiteX6" fmla="*/ 6337 w 10055"/>
              <a:gd name="connsiteY6" fmla="*/ 10000 h 10000"/>
              <a:gd name="connsiteX7" fmla="*/ 1 w 10055"/>
              <a:gd name="connsiteY7" fmla="*/ 4953 h 10000"/>
              <a:gd name="connsiteX8" fmla="*/ 6067 w 10055"/>
              <a:gd name="connsiteY8" fmla="*/ 0 h 10000"/>
              <a:gd name="connsiteX0" fmla="*/ 6067 w 10055"/>
              <a:gd name="connsiteY0" fmla="*/ 0 h 10000"/>
              <a:gd name="connsiteX1" fmla="*/ 10000 w 10055"/>
              <a:gd name="connsiteY1" fmla="*/ 0 h 10000"/>
              <a:gd name="connsiteX2" fmla="*/ 7914 w 10055"/>
              <a:gd name="connsiteY2" fmla="*/ 2179 h 10000"/>
              <a:gd name="connsiteX3" fmla="*/ 7244 w 10055"/>
              <a:gd name="connsiteY3" fmla="*/ 4953 h 10000"/>
              <a:gd name="connsiteX4" fmla="*/ 8566 w 10055"/>
              <a:gd name="connsiteY4" fmla="*/ 8000 h 10000"/>
              <a:gd name="connsiteX5" fmla="*/ 10000 w 10055"/>
              <a:gd name="connsiteY5" fmla="*/ 9906 h 10000"/>
              <a:gd name="connsiteX6" fmla="*/ 6337 w 10055"/>
              <a:gd name="connsiteY6" fmla="*/ 10000 h 10000"/>
              <a:gd name="connsiteX7" fmla="*/ 1 w 10055"/>
              <a:gd name="connsiteY7" fmla="*/ 4953 h 10000"/>
              <a:gd name="connsiteX8" fmla="*/ 6067 w 10055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44 w 10000"/>
              <a:gd name="connsiteY3" fmla="*/ 4953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7914 w 10000"/>
              <a:gd name="connsiteY2" fmla="*/ 2179 h 10000"/>
              <a:gd name="connsiteX3" fmla="*/ 7214 w 10000"/>
              <a:gd name="connsiteY3" fmla="*/ 4837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125 w 10000"/>
              <a:gd name="connsiteY2" fmla="*/ 2063 h 10000"/>
              <a:gd name="connsiteX3" fmla="*/ 7214 w 10000"/>
              <a:gd name="connsiteY3" fmla="*/ 4837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  <a:gd name="connsiteX0" fmla="*/ 6067 w 10000"/>
              <a:gd name="connsiteY0" fmla="*/ 0 h 10000"/>
              <a:gd name="connsiteX1" fmla="*/ 10000 w 10000"/>
              <a:gd name="connsiteY1" fmla="*/ 0 h 10000"/>
              <a:gd name="connsiteX2" fmla="*/ 8125 w 10000"/>
              <a:gd name="connsiteY2" fmla="*/ 2063 h 10000"/>
              <a:gd name="connsiteX3" fmla="*/ 7214 w 10000"/>
              <a:gd name="connsiteY3" fmla="*/ 4837 h 10000"/>
              <a:gd name="connsiteX4" fmla="*/ 8566 w 10000"/>
              <a:gd name="connsiteY4" fmla="*/ 8000 h 10000"/>
              <a:gd name="connsiteX5" fmla="*/ 10000 w 10000"/>
              <a:gd name="connsiteY5" fmla="*/ 9906 h 10000"/>
              <a:gd name="connsiteX6" fmla="*/ 6337 w 10000"/>
              <a:gd name="connsiteY6" fmla="*/ 10000 h 10000"/>
              <a:gd name="connsiteX7" fmla="*/ 1 w 10000"/>
              <a:gd name="connsiteY7" fmla="*/ 4953 h 10000"/>
              <a:gd name="connsiteX8" fmla="*/ 6067 w 10000"/>
              <a:gd name="connsiteY8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00" h="10000">
                <a:moveTo>
                  <a:pt x="6067" y="0"/>
                </a:moveTo>
                <a:lnTo>
                  <a:pt x="10000" y="0"/>
                </a:lnTo>
                <a:cubicBezTo>
                  <a:pt x="9586" y="448"/>
                  <a:pt x="8389" y="1731"/>
                  <a:pt x="8125" y="2063"/>
                </a:cubicBezTo>
                <a:cubicBezTo>
                  <a:pt x="7877" y="2448"/>
                  <a:pt x="7141" y="3848"/>
                  <a:pt x="7214" y="4837"/>
                </a:cubicBezTo>
                <a:cubicBezTo>
                  <a:pt x="7287" y="5826"/>
                  <a:pt x="8348" y="7639"/>
                  <a:pt x="8566" y="8000"/>
                </a:cubicBezTo>
                <a:cubicBezTo>
                  <a:pt x="8754" y="8315"/>
                  <a:pt x="9710" y="9480"/>
                  <a:pt x="10000" y="9906"/>
                </a:cubicBezTo>
                <a:lnTo>
                  <a:pt x="6337" y="10000"/>
                </a:lnTo>
                <a:cubicBezTo>
                  <a:pt x="2638" y="10046"/>
                  <a:pt x="46" y="6620"/>
                  <a:pt x="1" y="4953"/>
                </a:cubicBezTo>
                <a:cubicBezTo>
                  <a:pt x="-44" y="3286"/>
                  <a:pt x="1797" y="0"/>
                  <a:pt x="6067" y="0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9" name="Elbow Connector 18"/>
          <p:cNvCxnSpPr>
            <a:stCxn id="6" idx="6"/>
            <a:endCxn id="7" idx="6"/>
          </p:cNvCxnSpPr>
          <p:nvPr/>
        </p:nvCxnSpPr>
        <p:spPr bwMode="auto">
          <a:xfrm>
            <a:off x="3316501" y="4330513"/>
            <a:ext cx="358167" cy="5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10" name="Elbow Connector 22"/>
          <p:cNvCxnSpPr>
            <a:stCxn id="7" idx="2"/>
            <a:endCxn id="8" idx="4"/>
          </p:cNvCxnSpPr>
          <p:nvPr/>
        </p:nvCxnSpPr>
        <p:spPr bwMode="auto">
          <a:xfrm flipV="1">
            <a:off x="4334601" y="4169217"/>
            <a:ext cx="679290" cy="368306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12" name="Elbow Connector 25"/>
          <p:cNvCxnSpPr>
            <a:stCxn id="8" idx="2"/>
          </p:cNvCxnSpPr>
          <p:nvPr/>
        </p:nvCxnSpPr>
        <p:spPr bwMode="auto">
          <a:xfrm flipH="1" flipV="1">
            <a:off x="2532931" y="3679794"/>
            <a:ext cx="2508875" cy="232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14" name="Straight Connector 29"/>
          <p:cNvCxnSpPr>
            <a:stCxn id="5" idx="3"/>
          </p:cNvCxnSpPr>
          <p:nvPr/>
        </p:nvCxnSpPr>
        <p:spPr bwMode="auto">
          <a:xfrm flipH="1">
            <a:off x="2529725" y="4330513"/>
            <a:ext cx="362541" cy="344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16" name="Straight Connector 33"/>
          <p:cNvCxnSpPr>
            <a:stCxn id="7" idx="5"/>
          </p:cNvCxnSpPr>
          <p:nvPr/>
        </p:nvCxnSpPr>
        <p:spPr bwMode="auto">
          <a:xfrm flipH="1" flipV="1">
            <a:off x="2515297" y="4782270"/>
            <a:ext cx="1155562" cy="223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cxnSp>
        <p:nvCxnSpPr>
          <p:cNvPr id="17" name="Straight Connector 36"/>
          <p:cNvCxnSpPr>
            <a:stCxn id="8" idx="7"/>
          </p:cNvCxnSpPr>
          <p:nvPr/>
        </p:nvCxnSpPr>
        <p:spPr bwMode="auto">
          <a:xfrm>
            <a:off x="5556055" y="3919225"/>
            <a:ext cx="339180" cy="3856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oval" w="sm" len="sm"/>
            <a:tailEnd type="oval" w="sm" len="sm"/>
          </a:ln>
          <a:effectLst/>
        </p:spPr>
      </p:cxnSp>
      <p:sp>
        <p:nvSpPr>
          <p:cNvPr id="19" name="Овал 18"/>
          <p:cNvSpPr/>
          <p:nvPr/>
        </p:nvSpPr>
        <p:spPr bwMode="auto">
          <a:xfrm>
            <a:off x="2008786" y="3512855"/>
            <a:ext cx="328013" cy="311000"/>
          </a:xfrm>
          <a:prstGeom prst="ellips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0" name="Овал 19"/>
          <p:cNvSpPr/>
          <p:nvPr/>
        </p:nvSpPr>
        <p:spPr bwMode="auto">
          <a:xfrm>
            <a:off x="2008786" y="4169217"/>
            <a:ext cx="328013" cy="311000"/>
          </a:xfrm>
          <a:prstGeom prst="ellips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1" name="Овал 20"/>
          <p:cNvSpPr/>
          <p:nvPr/>
        </p:nvSpPr>
        <p:spPr bwMode="auto">
          <a:xfrm>
            <a:off x="2008786" y="4632923"/>
            <a:ext cx="328013" cy="311000"/>
          </a:xfrm>
          <a:prstGeom prst="ellips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2" name="Овал 21"/>
          <p:cNvSpPr/>
          <p:nvPr/>
        </p:nvSpPr>
        <p:spPr bwMode="auto">
          <a:xfrm>
            <a:off x="4170594" y="4370097"/>
            <a:ext cx="328013" cy="311000"/>
          </a:xfrm>
          <a:prstGeom prst="ellips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3" name="Овал 22"/>
          <p:cNvSpPr/>
          <p:nvPr/>
        </p:nvSpPr>
        <p:spPr bwMode="auto">
          <a:xfrm>
            <a:off x="5351449" y="3763725"/>
            <a:ext cx="328013" cy="311000"/>
          </a:xfrm>
          <a:prstGeom prst="ellips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75745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46588E-6 L 0.31632 -0.00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16" y="-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02637E-6 L 0.07691 -0.0002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37" y="-2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6595E-6 L 0.16563 -0.0002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8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91 -0.00023 L 0.16285 -0.0004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8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27944E-6 L 0.07482 -0.0527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3" y="-26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46588E-6 L 0.31632 -0.00023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  <p:bldP spid="19" grpId="1" animBg="1"/>
      <p:bldP spid="20" grpId="0" animBg="1"/>
      <p:bldP spid="20" grpId="1" animBg="1"/>
      <p:bldP spid="20" grpId="2" animBg="1"/>
      <p:bldP spid="21" grpId="0" animBg="1"/>
      <p:bldP spid="21" grpId="1" animBg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</p:bldLst>
  </p:timing>
  <p:extLst mod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Example of critical path finding:</a:t>
            </a:r>
            <a:br>
              <a:rPr lang="en-US" dirty="0" smtClean="0"/>
            </a:br>
            <a:r>
              <a:rPr lang="en-US" dirty="0" smtClean="0"/>
              <a:t>Multiplexer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99349" y="636583"/>
            <a:ext cx="3617226" cy="5965465"/>
          </a:xfrm>
        </p:spPr>
      </p:pic>
      <p:sp>
        <p:nvSpPr>
          <p:cNvPr id="5" name="Полилиния 4"/>
          <p:cNvSpPr/>
          <p:nvPr/>
        </p:nvSpPr>
        <p:spPr bwMode="auto">
          <a:xfrm>
            <a:off x="2438400" y="2576263"/>
            <a:ext cx="4969164" cy="2032681"/>
          </a:xfrm>
          <a:custGeom>
            <a:avLst/>
            <a:gdLst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444027 h 2041918"/>
              <a:gd name="connsiteX19" fmla="*/ 2346036 w 4969164"/>
              <a:gd name="connsiteY19" fmla="*/ 425554 h 2041918"/>
              <a:gd name="connsiteX20" fmla="*/ 2512291 w 4969164"/>
              <a:gd name="connsiteY20" fmla="*/ 407081 h 2041918"/>
              <a:gd name="connsiteX21" fmla="*/ 2595418 w 4969164"/>
              <a:gd name="connsiteY21" fmla="*/ 397845 h 2041918"/>
              <a:gd name="connsiteX22" fmla="*/ 2706255 w 4969164"/>
              <a:gd name="connsiteY22" fmla="*/ 379372 h 2041918"/>
              <a:gd name="connsiteX23" fmla="*/ 2789382 w 4969164"/>
              <a:gd name="connsiteY23" fmla="*/ 360900 h 2041918"/>
              <a:gd name="connsiteX24" fmla="*/ 2946400 w 4969164"/>
              <a:gd name="connsiteY24" fmla="*/ 351663 h 2041918"/>
              <a:gd name="connsiteX25" fmla="*/ 2992582 w 4969164"/>
              <a:gd name="connsiteY25" fmla="*/ 342427 h 2041918"/>
              <a:gd name="connsiteX26" fmla="*/ 3057236 w 4969164"/>
              <a:gd name="connsiteY26" fmla="*/ 333191 h 2041918"/>
              <a:gd name="connsiteX27" fmla="*/ 3094182 w 4969164"/>
              <a:gd name="connsiteY27" fmla="*/ 323954 h 2041918"/>
              <a:gd name="connsiteX28" fmla="*/ 3205018 w 4969164"/>
              <a:gd name="connsiteY28" fmla="*/ 305481 h 2041918"/>
              <a:gd name="connsiteX29" fmla="*/ 3297382 w 4969164"/>
              <a:gd name="connsiteY29" fmla="*/ 287009 h 2041918"/>
              <a:gd name="connsiteX30" fmla="*/ 3352800 w 4969164"/>
              <a:gd name="connsiteY30" fmla="*/ 259300 h 2041918"/>
              <a:gd name="connsiteX31" fmla="*/ 3389745 w 4969164"/>
              <a:gd name="connsiteY31" fmla="*/ 203881 h 2041918"/>
              <a:gd name="connsiteX32" fmla="*/ 3417455 w 4969164"/>
              <a:gd name="connsiteY32" fmla="*/ 185409 h 2041918"/>
              <a:gd name="connsiteX33" fmla="*/ 3491345 w 4969164"/>
              <a:gd name="connsiteY33" fmla="*/ 129991 h 2041918"/>
              <a:gd name="connsiteX34" fmla="*/ 3537527 w 4969164"/>
              <a:gd name="connsiteY34" fmla="*/ 111518 h 2041918"/>
              <a:gd name="connsiteX35" fmla="*/ 3620655 w 4969164"/>
              <a:gd name="connsiteY35" fmla="*/ 83809 h 2041918"/>
              <a:gd name="connsiteX36" fmla="*/ 3694545 w 4969164"/>
              <a:gd name="connsiteY36" fmla="*/ 56100 h 2041918"/>
              <a:gd name="connsiteX37" fmla="*/ 3823855 w 4969164"/>
              <a:gd name="connsiteY37" fmla="*/ 19154 h 2041918"/>
              <a:gd name="connsiteX38" fmla="*/ 4756727 w 4969164"/>
              <a:gd name="connsiteY38" fmla="*/ 19154 h 2041918"/>
              <a:gd name="connsiteX39" fmla="*/ 4913745 w 4969164"/>
              <a:gd name="connsiteY39" fmla="*/ 681 h 2041918"/>
              <a:gd name="connsiteX40" fmla="*/ 4969164 w 4969164"/>
              <a:gd name="connsiteY40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111518 h 2041918"/>
              <a:gd name="connsiteX19" fmla="*/ 2346036 w 4969164"/>
              <a:gd name="connsiteY19" fmla="*/ 425554 h 2041918"/>
              <a:gd name="connsiteX20" fmla="*/ 2512291 w 4969164"/>
              <a:gd name="connsiteY20" fmla="*/ 407081 h 2041918"/>
              <a:gd name="connsiteX21" fmla="*/ 2595418 w 4969164"/>
              <a:gd name="connsiteY21" fmla="*/ 397845 h 2041918"/>
              <a:gd name="connsiteX22" fmla="*/ 2706255 w 4969164"/>
              <a:gd name="connsiteY22" fmla="*/ 379372 h 2041918"/>
              <a:gd name="connsiteX23" fmla="*/ 2789382 w 4969164"/>
              <a:gd name="connsiteY23" fmla="*/ 360900 h 2041918"/>
              <a:gd name="connsiteX24" fmla="*/ 2946400 w 4969164"/>
              <a:gd name="connsiteY24" fmla="*/ 351663 h 2041918"/>
              <a:gd name="connsiteX25" fmla="*/ 2992582 w 4969164"/>
              <a:gd name="connsiteY25" fmla="*/ 342427 h 2041918"/>
              <a:gd name="connsiteX26" fmla="*/ 3057236 w 4969164"/>
              <a:gd name="connsiteY26" fmla="*/ 333191 h 2041918"/>
              <a:gd name="connsiteX27" fmla="*/ 3094182 w 4969164"/>
              <a:gd name="connsiteY27" fmla="*/ 323954 h 2041918"/>
              <a:gd name="connsiteX28" fmla="*/ 3205018 w 4969164"/>
              <a:gd name="connsiteY28" fmla="*/ 305481 h 2041918"/>
              <a:gd name="connsiteX29" fmla="*/ 3297382 w 4969164"/>
              <a:gd name="connsiteY29" fmla="*/ 287009 h 2041918"/>
              <a:gd name="connsiteX30" fmla="*/ 3352800 w 4969164"/>
              <a:gd name="connsiteY30" fmla="*/ 259300 h 2041918"/>
              <a:gd name="connsiteX31" fmla="*/ 3389745 w 4969164"/>
              <a:gd name="connsiteY31" fmla="*/ 203881 h 2041918"/>
              <a:gd name="connsiteX32" fmla="*/ 3417455 w 4969164"/>
              <a:gd name="connsiteY32" fmla="*/ 185409 h 2041918"/>
              <a:gd name="connsiteX33" fmla="*/ 3491345 w 4969164"/>
              <a:gd name="connsiteY33" fmla="*/ 129991 h 2041918"/>
              <a:gd name="connsiteX34" fmla="*/ 3537527 w 4969164"/>
              <a:gd name="connsiteY34" fmla="*/ 111518 h 2041918"/>
              <a:gd name="connsiteX35" fmla="*/ 3620655 w 4969164"/>
              <a:gd name="connsiteY35" fmla="*/ 83809 h 2041918"/>
              <a:gd name="connsiteX36" fmla="*/ 3694545 w 4969164"/>
              <a:gd name="connsiteY36" fmla="*/ 56100 h 2041918"/>
              <a:gd name="connsiteX37" fmla="*/ 3823855 w 4969164"/>
              <a:gd name="connsiteY37" fmla="*/ 19154 h 2041918"/>
              <a:gd name="connsiteX38" fmla="*/ 4756727 w 4969164"/>
              <a:gd name="connsiteY38" fmla="*/ 19154 h 2041918"/>
              <a:gd name="connsiteX39" fmla="*/ 4913745 w 4969164"/>
              <a:gd name="connsiteY39" fmla="*/ 681 h 2041918"/>
              <a:gd name="connsiteX40" fmla="*/ 4969164 w 4969164"/>
              <a:gd name="connsiteY40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111518 h 2041918"/>
              <a:gd name="connsiteX19" fmla="*/ 2641600 w 4969164"/>
              <a:gd name="connsiteY19" fmla="*/ 120754 h 2041918"/>
              <a:gd name="connsiteX20" fmla="*/ 2346036 w 4969164"/>
              <a:gd name="connsiteY20" fmla="*/ 425554 h 2041918"/>
              <a:gd name="connsiteX21" fmla="*/ 2512291 w 4969164"/>
              <a:gd name="connsiteY21" fmla="*/ 407081 h 2041918"/>
              <a:gd name="connsiteX22" fmla="*/ 2595418 w 4969164"/>
              <a:gd name="connsiteY22" fmla="*/ 397845 h 2041918"/>
              <a:gd name="connsiteX23" fmla="*/ 2706255 w 4969164"/>
              <a:gd name="connsiteY23" fmla="*/ 379372 h 2041918"/>
              <a:gd name="connsiteX24" fmla="*/ 2789382 w 4969164"/>
              <a:gd name="connsiteY24" fmla="*/ 360900 h 2041918"/>
              <a:gd name="connsiteX25" fmla="*/ 2946400 w 4969164"/>
              <a:gd name="connsiteY25" fmla="*/ 351663 h 2041918"/>
              <a:gd name="connsiteX26" fmla="*/ 2992582 w 4969164"/>
              <a:gd name="connsiteY26" fmla="*/ 342427 h 2041918"/>
              <a:gd name="connsiteX27" fmla="*/ 3057236 w 4969164"/>
              <a:gd name="connsiteY27" fmla="*/ 333191 h 2041918"/>
              <a:gd name="connsiteX28" fmla="*/ 3094182 w 4969164"/>
              <a:gd name="connsiteY28" fmla="*/ 323954 h 2041918"/>
              <a:gd name="connsiteX29" fmla="*/ 3205018 w 4969164"/>
              <a:gd name="connsiteY29" fmla="*/ 305481 h 2041918"/>
              <a:gd name="connsiteX30" fmla="*/ 3297382 w 4969164"/>
              <a:gd name="connsiteY30" fmla="*/ 287009 h 2041918"/>
              <a:gd name="connsiteX31" fmla="*/ 3352800 w 4969164"/>
              <a:gd name="connsiteY31" fmla="*/ 259300 h 2041918"/>
              <a:gd name="connsiteX32" fmla="*/ 3389745 w 4969164"/>
              <a:gd name="connsiteY32" fmla="*/ 203881 h 2041918"/>
              <a:gd name="connsiteX33" fmla="*/ 3417455 w 4969164"/>
              <a:gd name="connsiteY33" fmla="*/ 185409 h 2041918"/>
              <a:gd name="connsiteX34" fmla="*/ 3491345 w 4969164"/>
              <a:gd name="connsiteY34" fmla="*/ 129991 h 2041918"/>
              <a:gd name="connsiteX35" fmla="*/ 3537527 w 4969164"/>
              <a:gd name="connsiteY35" fmla="*/ 111518 h 2041918"/>
              <a:gd name="connsiteX36" fmla="*/ 3620655 w 4969164"/>
              <a:gd name="connsiteY36" fmla="*/ 83809 h 2041918"/>
              <a:gd name="connsiteX37" fmla="*/ 3694545 w 4969164"/>
              <a:gd name="connsiteY37" fmla="*/ 56100 h 2041918"/>
              <a:gd name="connsiteX38" fmla="*/ 3823855 w 4969164"/>
              <a:gd name="connsiteY38" fmla="*/ 19154 h 2041918"/>
              <a:gd name="connsiteX39" fmla="*/ 4756727 w 4969164"/>
              <a:gd name="connsiteY39" fmla="*/ 19154 h 2041918"/>
              <a:gd name="connsiteX40" fmla="*/ 4913745 w 4969164"/>
              <a:gd name="connsiteY40" fmla="*/ 681 h 2041918"/>
              <a:gd name="connsiteX41" fmla="*/ 4969164 w 4969164"/>
              <a:gd name="connsiteY41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111518 h 2041918"/>
              <a:gd name="connsiteX19" fmla="*/ 2346036 w 4969164"/>
              <a:gd name="connsiteY19" fmla="*/ 425554 h 2041918"/>
              <a:gd name="connsiteX20" fmla="*/ 2512291 w 4969164"/>
              <a:gd name="connsiteY20" fmla="*/ 407081 h 2041918"/>
              <a:gd name="connsiteX21" fmla="*/ 2595418 w 4969164"/>
              <a:gd name="connsiteY21" fmla="*/ 397845 h 2041918"/>
              <a:gd name="connsiteX22" fmla="*/ 2706255 w 4969164"/>
              <a:gd name="connsiteY22" fmla="*/ 379372 h 2041918"/>
              <a:gd name="connsiteX23" fmla="*/ 2789382 w 4969164"/>
              <a:gd name="connsiteY23" fmla="*/ 360900 h 2041918"/>
              <a:gd name="connsiteX24" fmla="*/ 2946400 w 4969164"/>
              <a:gd name="connsiteY24" fmla="*/ 351663 h 2041918"/>
              <a:gd name="connsiteX25" fmla="*/ 2992582 w 4969164"/>
              <a:gd name="connsiteY25" fmla="*/ 342427 h 2041918"/>
              <a:gd name="connsiteX26" fmla="*/ 3057236 w 4969164"/>
              <a:gd name="connsiteY26" fmla="*/ 333191 h 2041918"/>
              <a:gd name="connsiteX27" fmla="*/ 3094182 w 4969164"/>
              <a:gd name="connsiteY27" fmla="*/ 323954 h 2041918"/>
              <a:gd name="connsiteX28" fmla="*/ 3205018 w 4969164"/>
              <a:gd name="connsiteY28" fmla="*/ 305481 h 2041918"/>
              <a:gd name="connsiteX29" fmla="*/ 3297382 w 4969164"/>
              <a:gd name="connsiteY29" fmla="*/ 287009 h 2041918"/>
              <a:gd name="connsiteX30" fmla="*/ 3352800 w 4969164"/>
              <a:gd name="connsiteY30" fmla="*/ 259300 h 2041918"/>
              <a:gd name="connsiteX31" fmla="*/ 3389745 w 4969164"/>
              <a:gd name="connsiteY31" fmla="*/ 203881 h 2041918"/>
              <a:gd name="connsiteX32" fmla="*/ 3417455 w 4969164"/>
              <a:gd name="connsiteY32" fmla="*/ 185409 h 2041918"/>
              <a:gd name="connsiteX33" fmla="*/ 3491345 w 4969164"/>
              <a:gd name="connsiteY33" fmla="*/ 129991 h 2041918"/>
              <a:gd name="connsiteX34" fmla="*/ 3537527 w 4969164"/>
              <a:gd name="connsiteY34" fmla="*/ 111518 h 2041918"/>
              <a:gd name="connsiteX35" fmla="*/ 3620655 w 4969164"/>
              <a:gd name="connsiteY35" fmla="*/ 83809 h 2041918"/>
              <a:gd name="connsiteX36" fmla="*/ 3694545 w 4969164"/>
              <a:gd name="connsiteY36" fmla="*/ 56100 h 2041918"/>
              <a:gd name="connsiteX37" fmla="*/ 3823855 w 4969164"/>
              <a:gd name="connsiteY37" fmla="*/ 19154 h 2041918"/>
              <a:gd name="connsiteX38" fmla="*/ 4756727 w 4969164"/>
              <a:gd name="connsiteY38" fmla="*/ 19154 h 2041918"/>
              <a:gd name="connsiteX39" fmla="*/ 4913745 w 4969164"/>
              <a:gd name="connsiteY39" fmla="*/ 681 h 2041918"/>
              <a:gd name="connsiteX40" fmla="*/ 4969164 w 4969164"/>
              <a:gd name="connsiteY40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111518 h 2041918"/>
              <a:gd name="connsiteX19" fmla="*/ 2346036 w 4969164"/>
              <a:gd name="connsiteY19" fmla="*/ 425554 h 2041918"/>
              <a:gd name="connsiteX20" fmla="*/ 2512291 w 4969164"/>
              <a:gd name="connsiteY20" fmla="*/ 407081 h 2041918"/>
              <a:gd name="connsiteX21" fmla="*/ 2595418 w 4969164"/>
              <a:gd name="connsiteY21" fmla="*/ 397845 h 2041918"/>
              <a:gd name="connsiteX22" fmla="*/ 2706255 w 4969164"/>
              <a:gd name="connsiteY22" fmla="*/ 379372 h 2041918"/>
              <a:gd name="connsiteX23" fmla="*/ 2789382 w 4969164"/>
              <a:gd name="connsiteY23" fmla="*/ 360900 h 2041918"/>
              <a:gd name="connsiteX24" fmla="*/ 2946400 w 4969164"/>
              <a:gd name="connsiteY24" fmla="*/ 351663 h 2041918"/>
              <a:gd name="connsiteX25" fmla="*/ 2992582 w 4969164"/>
              <a:gd name="connsiteY25" fmla="*/ 342427 h 2041918"/>
              <a:gd name="connsiteX26" fmla="*/ 3057236 w 4969164"/>
              <a:gd name="connsiteY26" fmla="*/ 333191 h 2041918"/>
              <a:gd name="connsiteX27" fmla="*/ 3094182 w 4969164"/>
              <a:gd name="connsiteY27" fmla="*/ 323954 h 2041918"/>
              <a:gd name="connsiteX28" fmla="*/ 3205018 w 4969164"/>
              <a:gd name="connsiteY28" fmla="*/ 305481 h 2041918"/>
              <a:gd name="connsiteX29" fmla="*/ 3297382 w 4969164"/>
              <a:gd name="connsiteY29" fmla="*/ 287009 h 2041918"/>
              <a:gd name="connsiteX30" fmla="*/ 3352800 w 4969164"/>
              <a:gd name="connsiteY30" fmla="*/ 259300 h 2041918"/>
              <a:gd name="connsiteX31" fmla="*/ 3389745 w 4969164"/>
              <a:gd name="connsiteY31" fmla="*/ 203881 h 2041918"/>
              <a:gd name="connsiteX32" fmla="*/ 3417455 w 4969164"/>
              <a:gd name="connsiteY32" fmla="*/ 185409 h 2041918"/>
              <a:gd name="connsiteX33" fmla="*/ 3491345 w 4969164"/>
              <a:gd name="connsiteY33" fmla="*/ 129991 h 2041918"/>
              <a:gd name="connsiteX34" fmla="*/ 3537527 w 4969164"/>
              <a:gd name="connsiteY34" fmla="*/ 111518 h 2041918"/>
              <a:gd name="connsiteX35" fmla="*/ 3620655 w 4969164"/>
              <a:gd name="connsiteY35" fmla="*/ 83809 h 2041918"/>
              <a:gd name="connsiteX36" fmla="*/ 3694545 w 4969164"/>
              <a:gd name="connsiteY36" fmla="*/ 56100 h 2041918"/>
              <a:gd name="connsiteX37" fmla="*/ 3823855 w 4969164"/>
              <a:gd name="connsiteY37" fmla="*/ 19154 h 2041918"/>
              <a:gd name="connsiteX38" fmla="*/ 4756727 w 4969164"/>
              <a:gd name="connsiteY38" fmla="*/ 19154 h 2041918"/>
              <a:gd name="connsiteX39" fmla="*/ 4913745 w 4969164"/>
              <a:gd name="connsiteY39" fmla="*/ 681 h 2041918"/>
              <a:gd name="connsiteX40" fmla="*/ 4969164 w 4969164"/>
              <a:gd name="connsiteY40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111518 h 2041918"/>
              <a:gd name="connsiteX19" fmla="*/ 2512291 w 4969164"/>
              <a:gd name="connsiteY19" fmla="*/ 407081 h 2041918"/>
              <a:gd name="connsiteX20" fmla="*/ 2595418 w 4969164"/>
              <a:gd name="connsiteY20" fmla="*/ 397845 h 2041918"/>
              <a:gd name="connsiteX21" fmla="*/ 2706255 w 4969164"/>
              <a:gd name="connsiteY21" fmla="*/ 379372 h 2041918"/>
              <a:gd name="connsiteX22" fmla="*/ 2789382 w 4969164"/>
              <a:gd name="connsiteY22" fmla="*/ 360900 h 2041918"/>
              <a:gd name="connsiteX23" fmla="*/ 2946400 w 4969164"/>
              <a:gd name="connsiteY23" fmla="*/ 351663 h 2041918"/>
              <a:gd name="connsiteX24" fmla="*/ 2992582 w 4969164"/>
              <a:gd name="connsiteY24" fmla="*/ 342427 h 2041918"/>
              <a:gd name="connsiteX25" fmla="*/ 3057236 w 4969164"/>
              <a:gd name="connsiteY25" fmla="*/ 333191 h 2041918"/>
              <a:gd name="connsiteX26" fmla="*/ 3094182 w 4969164"/>
              <a:gd name="connsiteY26" fmla="*/ 323954 h 2041918"/>
              <a:gd name="connsiteX27" fmla="*/ 3205018 w 4969164"/>
              <a:gd name="connsiteY27" fmla="*/ 305481 h 2041918"/>
              <a:gd name="connsiteX28" fmla="*/ 3297382 w 4969164"/>
              <a:gd name="connsiteY28" fmla="*/ 287009 h 2041918"/>
              <a:gd name="connsiteX29" fmla="*/ 3352800 w 4969164"/>
              <a:gd name="connsiteY29" fmla="*/ 259300 h 2041918"/>
              <a:gd name="connsiteX30" fmla="*/ 3389745 w 4969164"/>
              <a:gd name="connsiteY30" fmla="*/ 203881 h 2041918"/>
              <a:gd name="connsiteX31" fmla="*/ 3417455 w 4969164"/>
              <a:gd name="connsiteY31" fmla="*/ 185409 h 2041918"/>
              <a:gd name="connsiteX32" fmla="*/ 3491345 w 4969164"/>
              <a:gd name="connsiteY32" fmla="*/ 129991 h 2041918"/>
              <a:gd name="connsiteX33" fmla="*/ 3537527 w 4969164"/>
              <a:gd name="connsiteY33" fmla="*/ 111518 h 2041918"/>
              <a:gd name="connsiteX34" fmla="*/ 3620655 w 4969164"/>
              <a:gd name="connsiteY34" fmla="*/ 83809 h 2041918"/>
              <a:gd name="connsiteX35" fmla="*/ 3694545 w 4969164"/>
              <a:gd name="connsiteY35" fmla="*/ 56100 h 2041918"/>
              <a:gd name="connsiteX36" fmla="*/ 3823855 w 4969164"/>
              <a:gd name="connsiteY36" fmla="*/ 19154 h 2041918"/>
              <a:gd name="connsiteX37" fmla="*/ 4756727 w 4969164"/>
              <a:gd name="connsiteY37" fmla="*/ 19154 h 2041918"/>
              <a:gd name="connsiteX38" fmla="*/ 4913745 w 4969164"/>
              <a:gd name="connsiteY38" fmla="*/ 681 h 2041918"/>
              <a:gd name="connsiteX39" fmla="*/ 4969164 w 4969164"/>
              <a:gd name="connsiteY39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111518 h 2041918"/>
              <a:gd name="connsiteX19" fmla="*/ 2595418 w 4969164"/>
              <a:gd name="connsiteY19" fmla="*/ 397845 h 2041918"/>
              <a:gd name="connsiteX20" fmla="*/ 2706255 w 4969164"/>
              <a:gd name="connsiteY20" fmla="*/ 379372 h 2041918"/>
              <a:gd name="connsiteX21" fmla="*/ 2789382 w 4969164"/>
              <a:gd name="connsiteY21" fmla="*/ 360900 h 2041918"/>
              <a:gd name="connsiteX22" fmla="*/ 2946400 w 4969164"/>
              <a:gd name="connsiteY22" fmla="*/ 351663 h 2041918"/>
              <a:gd name="connsiteX23" fmla="*/ 2992582 w 4969164"/>
              <a:gd name="connsiteY23" fmla="*/ 342427 h 2041918"/>
              <a:gd name="connsiteX24" fmla="*/ 3057236 w 4969164"/>
              <a:gd name="connsiteY24" fmla="*/ 333191 h 2041918"/>
              <a:gd name="connsiteX25" fmla="*/ 3094182 w 4969164"/>
              <a:gd name="connsiteY25" fmla="*/ 323954 h 2041918"/>
              <a:gd name="connsiteX26" fmla="*/ 3205018 w 4969164"/>
              <a:gd name="connsiteY26" fmla="*/ 305481 h 2041918"/>
              <a:gd name="connsiteX27" fmla="*/ 3297382 w 4969164"/>
              <a:gd name="connsiteY27" fmla="*/ 287009 h 2041918"/>
              <a:gd name="connsiteX28" fmla="*/ 3352800 w 4969164"/>
              <a:gd name="connsiteY28" fmla="*/ 259300 h 2041918"/>
              <a:gd name="connsiteX29" fmla="*/ 3389745 w 4969164"/>
              <a:gd name="connsiteY29" fmla="*/ 203881 h 2041918"/>
              <a:gd name="connsiteX30" fmla="*/ 3417455 w 4969164"/>
              <a:gd name="connsiteY30" fmla="*/ 185409 h 2041918"/>
              <a:gd name="connsiteX31" fmla="*/ 3491345 w 4969164"/>
              <a:gd name="connsiteY31" fmla="*/ 129991 h 2041918"/>
              <a:gd name="connsiteX32" fmla="*/ 3537527 w 4969164"/>
              <a:gd name="connsiteY32" fmla="*/ 111518 h 2041918"/>
              <a:gd name="connsiteX33" fmla="*/ 3620655 w 4969164"/>
              <a:gd name="connsiteY33" fmla="*/ 83809 h 2041918"/>
              <a:gd name="connsiteX34" fmla="*/ 3694545 w 4969164"/>
              <a:gd name="connsiteY34" fmla="*/ 56100 h 2041918"/>
              <a:gd name="connsiteX35" fmla="*/ 3823855 w 4969164"/>
              <a:gd name="connsiteY35" fmla="*/ 19154 h 2041918"/>
              <a:gd name="connsiteX36" fmla="*/ 4756727 w 4969164"/>
              <a:gd name="connsiteY36" fmla="*/ 19154 h 2041918"/>
              <a:gd name="connsiteX37" fmla="*/ 4913745 w 4969164"/>
              <a:gd name="connsiteY37" fmla="*/ 681 h 2041918"/>
              <a:gd name="connsiteX38" fmla="*/ 4969164 w 4969164"/>
              <a:gd name="connsiteY38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351664 h 2041918"/>
              <a:gd name="connsiteX19" fmla="*/ 2595418 w 4969164"/>
              <a:gd name="connsiteY19" fmla="*/ 397845 h 2041918"/>
              <a:gd name="connsiteX20" fmla="*/ 2706255 w 4969164"/>
              <a:gd name="connsiteY20" fmla="*/ 379372 h 2041918"/>
              <a:gd name="connsiteX21" fmla="*/ 2789382 w 4969164"/>
              <a:gd name="connsiteY21" fmla="*/ 360900 h 2041918"/>
              <a:gd name="connsiteX22" fmla="*/ 2946400 w 4969164"/>
              <a:gd name="connsiteY22" fmla="*/ 351663 h 2041918"/>
              <a:gd name="connsiteX23" fmla="*/ 2992582 w 4969164"/>
              <a:gd name="connsiteY23" fmla="*/ 342427 h 2041918"/>
              <a:gd name="connsiteX24" fmla="*/ 3057236 w 4969164"/>
              <a:gd name="connsiteY24" fmla="*/ 333191 h 2041918"/>
              <a:gd name="connsiteX25" fmla="*/ 3094182 w 4969164"/>
              <a:gd name="connsiteY25" fmla="*/ 323954 h 2041918"/>
              <a:gd name="connsiteX26" fmla="*/ 3205018 w 4969164"/>
              <a:gd name="connsiteY26" fmla="*/ 305481 h 2041918"/>
              <a:gd name="connsiteX27" fmla="*/ 3297382 w 4969164"/>
              <a:gd name="connsiteY27" fmla="*/ 287009 h 2041918"/>
              <a:gd name="connsiteX28" fmla="*/ 3352800 w 4969164"/>
              <a:gd name="connsiteY28" fmla="*/ 259300 h 2041918"/>
              <a:gd name="connsiteX29" fmla="*/ 3389745 w 4969164"/>
              <a:gd name="connsiteY29" fmla="*/ 203881 h 2041918"/>
              <a:gd name="connsiteX30" fmla="*/ 3417455 w 4969164"/>
              <a:gd name="connsiteY30" fmla="*/ 185409 h 2041918"/>
              <a:gd name="connsiteX31" fmla="*/ 3491345 w 4969164"/>
              <a:gd name="connsiteY31" fmla="*/ 129991 h 2041918"/>
              <a:gd name="connsiteX32" fmla="*/ 3537527 w 4969164"/>
              <a:gd name="connsiteY32" fmla="*/ 111518 h 2041918"/>
              <a:gd name="connsiteX33" fmla="*/ 3620655 w 4969164"/>
              <a:gd name="connsiteY33" fmla="*/ 83809 h 2041918"/>
              <a:gd name="connsiteX34" fmla="*/ 3694545 w 4969164"/>
              <a:gd name="connsiteY34" fmla="*/ 56100 h 2041918"/>
              <a:gd name="connsiteX35" fmla="*/ 3823855 w 4969164"/>
              <a:gd name="connsiteY35" fmla="*/ 19154 h 2041918"/>
              <a:gd name="connsiteX36" fmla="*/ 4756727 w 4969164"/>
              <a:gd name="connsiteY36" fmla="*/ 19154 h 2041918"/>
              <a:gd name="connsiteX37" fmla="*/ 4913745 w 4969164"/>
              <a:gd name="connsiteY37" fmla="*/ 681 h 2041918"/>
              <a:gd name="connsiteX38" fmla="*/ 4969164 w 4969164"/>
              <a:gd name="connsiteY38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351664 h 2041918"/>
              <a:gd name="connsiteX19" fmla="*/ 2595418 w 4969164"/>
              <a:gd name="connsiteY19" fmla="*/ 370136 h 2041918"/>
              <a:gd name="connsiteX20" fmla="*/ 2706255 w 4969164"/>
              <a:gd name="connsiteY20" fmla="*/ 379372 h 2041918"/>
              <a:gd name="connsiteX21" fmla="*/ 2789382 w 4969164"/>
              <a:gd name="connsiteY21" fmla="*/ 360900 h 2041918"/>
              <a:gd name="connsiteX22" fmla="*/ 2946400 w 4969164"/>
              <a:gd name="connsiteY22" fmla="*/ 351663 h 2041918"/>
              <a:gd name="connsiteX23" fmla="*/ 2992582 w 4969164"/>
              <a:gd name="connsiteY23" fmla="*/ 342427 h 2041918"/>
              <a:gd name="connsiteX24" fmla="*/ 3057236 w 4969164"/>
              <a:gd name="connsiteY24" fmla="*/ 333191 h 2041918"/>
              <a:gd name="connsiteX25" fmla="*/ 3094182 w 4969164"/>
              <a:gd name="connsiteY25" fmla="*/ 323954 h 2041918"/>
              <a:gd name="connsiteX26" fmla="*/ 3205018 w 4969164"/>
              <a:gd name="connsiteY26" fmla="*/ 305481 h 2041918"/>
              <a:gd name="connsiteX27" fmla="*/ 3297382 w 4969164"/>
              <a:gd name="connsiteY27" fmla="*/ 287009 h 2041918"/>
              <a:gd name="connsiteX28" fmla="*/ 3352800 w 4969164"/>
              <a:gd name="connsiteY28" fmla="*/ 259300 h 2041918"/>
              <a:gd name="connsiteX29" fmla="*/ 3389745 w 4969164"/>
              <a:gd name="connsiteY29" fmla="*/ 203881 h 2041918"/>
              <a:gd name="connsiteX30" fmla="*/ 3417455 w 4969164"/>
              <a:gd name="connsiteY30" fmla="*/ 185409 h 2041918"/>
              <a:gd name="connsiteX31" fmla="*/ 3491345 w 4969164"/>
              <a:gd name="connsiteY31" fmla="*/ 129991 h 2041918"/>
              <a:gd name="connsiteX32" fmla="*/ 3537527 w 4969164"/>
              <a:gd name="connsiteY32" fmla="*/ 111518 h 2041918"/>
              <a:gd name="connsiteX33" fmla="*/ 3620655 w 4969164"/>
              <a:gd name="connsiteY33" fmla="*/ 83809 h 2041918"/>
              <a:gd name="connsiteX34" fmla="*/ 3694545 w 4969164"/>
              <a:gd name="connsiteY34" fmla="*/ 56100 h 2041918"/>
              <a:gd name="connsiteX35" fmla="*/ 3823855 w 4969164"/>
              <a:gd name="connsiteY35" fmla="*/ 19154 h 2041918"/>
              <a:gd name="connsiteX36" fmla="*/ 4756727 w 4969164"/>
              <a:gd name="connsiteY36" fmla="*/ 19154 h 2041918"/>
              <a:gd name="connsiteX37" fmla="*/ 4913745 w 4969164"/>
              <a:gd name="connsiteY37" fmla="*/ 681 h 2041918"/>
              <a:gd name="connsiteX38" fmla="*/ 4969164 w 4969164"/>
              <a:gd name="connsiteY38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351664 h 2041918"/>
              <a:gd name="connsiteX19" fmla="*/ 2706255 w 4969164"/>
              <a:gd name="connsiteY19" fmla="*/ 379372 h 2041918"/>
              <a:gd name="connsiteX20" fmla="*/ 2789382 w 4969164"/>
              <a:gd name="connsiteY20" fmla="*/ 360900 h 2041918"/>
              <a:gd name="connsiteX21" fmla="*/ 2946400 w 4969164"/>
              <a:gd name="connsiteY21" fmla="*/ 351663 h 2041918"/>
              <a:gd name="connsiteX22" fmla="*/ 2992582 w 4969164"/>
              <a:gd name="connsiteY22" fmla="*/ 342427 h 2041918"/>
              <a:gd name="connsiteX23" fmla="*/ 3057236 w 4969164"/>
              <a:gd name="connsiteY23" fmla="*/ 333191 h 2041918"/>
              <a:gd name="connsiteX24" fmla="*/ 3094182 w 4969164"/>
              <a:gd name="connsiteY24" fmla="*/ 323954 h 2041918"/>
              <a:gd name="connsiteX25" fmla="*/ 3205018 w 4969164"/>
              <a:gd name="connsiteY25" fmla="*/ 305481 h 2041918"/>
              <a:gd name="connsiteX26" fmla="*/ 3297382 w 4969164"/>
              <a:gd name="connsiteY26" fmla="*/ 287009 h 2041918"/>
              <a:gd name="connsiteX27" fmla="*/ 3352800 w 4969164"/>
              <a:gd name="connsiteY27" fmla="*/ 259300 h 2041918"/>
              <a:gd name="connsiteX28" fmla="*/ 3389745 w 4969164"/>
              <a:gd name="connsiteY28" fmla="*/ 203881 h 2041918"/>
              <a:gd name="connsiteX29" fmla="*/ 3417455 w 4969164"/>
              <a:gd name="connsiteY29" fmla="*/ 185409 h 2041918"/>
              <a:gd name="connsiteX30" fmla="*/ 3491345 w 4969164"/>
              <a:gd name="connsiteY30" fmla="*/ 129991 h 2041918"/>
              <a:gd name="connsiteX31" fmla="*/ 3537527 w 4969164"/>
              <a:gd name="connsiteY31" fmla="*/ 111518 h 2041918"/>
              <a:gd name="connsiteX32" fmla="*/ 3620655 w 4969164"/>
              <a:gd name="connsiteY32" fmla="*/ 83809 h 2041918"/>
              <a:gd name="connsiteX33" fmla="*/ 3694545 w 4969164"/>
              <a:gd name="connsiteY33" fmla="*/ 56100 h 2041918"/>
              <a:gd name="connsiteX34" fmla="*/ 3823855 w 4969164"/>
              <a:gd name="connsiteY34" fmla="*/ 19154 h 2041918"/>
              <a:gd name="connsiteX35" fmla="*/ 4756727 w 4969164"/>
              <a:gd name="connsiteY35" fmla="*/ 19154 h 2041918"/>
              <a:gd name="connsiteX36" fmla="*/ 4913745 w 4969164"/>
              <a:gd name="connsiteY36" fmla="*/ 681 h 2041918"/>
              <a:gd name="connsiteX37" fmla="*/ 4969164 w 4969164"/>
              <a:gd name="connsiteY37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351664 h 2041918"/>
              <a:gd name="connsiteX19" fmla="*/ 2789382 w 4969164"/>
              <a:gd name="connsiteY19" fmla="*/ 360900 h 2041918"/>
              <a:gd name="connsiteX20" fmla="*/ 2946400 w 4969164"/>
              <a:gd name="connsiteY20" fmla="*/ 351663 h 2041918"/>
              <a:gd name="connsiteX21" fmla="*/ 2992582 w 4969164"/>
              <a:gd name="connsiteY21" fmla="*/ 342427 h 2041918"/>
              <a:gd name="connsiteX22" fmla="*/ 3057236 w 4969164"/>
              <a:gd name="connsiteY22" fmla="*/ 333191 h 2041918"/>
              <a:gd name="connsiteX23" fmla="*/ 3094182 w 4969164"/>
              <a:gd name="connsiteY23" fmla="*/ 323954 h 2041918"/>
              <a:gd name="connsiteX24" fmla="*/ 3205018 w 4969164"/>
              <a:gd name="connsiteY24" fmla="*/ 305481 h 2041918"/>
              <a:gd name="connsiteX25" fmla="*/ 3297382 w 4969164"/>
              <a:gd name="connsiteY25" fmla="*/ 287009 h 2041918"/>
              <a:gd name="connsiteX26" fmla="*/ 3352800 w 4969164"/>
              <a:gd name="connsiteY26" fmla="*/ 259300 h 2041918"/>
              <a:gd name="connsiteX27" fmla="*/ 3389745 w 4969164"/>
              <a:gd name="connsiteY27" fmla="*/ 203881 h 2041918"/>
              <a:gd name="connsiteX28" fmla="*/ 3417455 w 4969164"/>
              <a:gd name="connsiteY28" fmla="*/ 185409 h 2041918"/>
              <a:gd name="connsiteX29" fmla="*/ 3491345 w 4969164"/>
              <a:gd name="connsiteY29" fmla="*/ 129991 h 2041918"/>
              <a:gd name="connsiteX30" fmla="*/ 3537527 w 4969164"/>
              <a:gd name="connsiteY30" fmla="*/ 111518 h 2041918"/>
              <a:gd name="connsiteX31" fmla="*/ 3620655 w 4969164"/>
              <a:gd name="connsiteY31" fmla="*/ 83809 h 2041918"/>
              <a:gd name="connsiteX32" fmla="*/ 3694545 w 4969164"/>
              <a:gd name="connsiteY32" fmla="*/ 56100 h 2041918"/>
              <a:gd name="connsiteX33" fmla="*/ 3823855 w 4969164"/>
              <a:gd name="connsiteY33" fmla="*/ 19154 h 2041918"/>
              <a:gd name="connsiteX34" fmla="*/ 4756727 w 4969164"/>
              <a:gd name="connsiteY34" fmla="*/ 19154 h 2041918"/>
              <a:gd name="connsiteX35" fmla="*/ 4913745 w 4969164"/>
              <a:gd name="connsiteY35" fmla="*/ 681 h 2041918"/>
              <a:gd name="connsiteX36" fmla="*/ 4969164 w 4969164"/>
              <a:gd name="connsiteY36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53673 w 4969164"/>
              <a:gd name="connsiteY17" fmla="*/ 471736 h 2041918"/>
              <a:gd name="connsiteX18" fmla="*/ 2272145 w 4969164"/>
              <a:gd name="connsiteY18" fmla="*/ 351664 h 2041918"/>
              <a:gd name="connsiteX19" fmla="*/ 2946400 w 4969164"/>
              <a:gd name="connsiteY19" fmla="*/ 351663 h 2041918"/>
              <a:gd name="connsiteX20" fmla="*/ 2992582 w 4969164"/>
              <a:gd name="connsiteY20" fmla="*/ 342427 h 2041918"/>
              <a:gd name="connsiteX21" fmla="*/ 3057236 w 4969164"/>
              <a:gd name="connsiteY21" fmla="*/ 333191 h 2041918"/>
              <a:gd name="connsiteX22" fmla="*/ 3094182 w 4969164"/>
              <a:gd name="connsiteY22" fmla="*/ 323954 h 2041918"/>
              <a:gd name="connsiteX23" fmla="*/ 3205018 w 4969164"/>
              <a:gd name="connsiteY23" fmla="*/ 305481 h 2041918"/>
              <a:gd name="connsiteX24" fmla="*/ 3297382 w 4969164"/>
              <a:gd name="connsiteY24" fmla="*/ 287009 h 2041918"/>
              <a:gd name="connsiteX25" fmla="*/ 3352800 w 4969164"/>
              <a:gd name="connsiteY25" fmla="*/ 259300 h 2041918"/>
              <a:gd name="connsiteX26" fmla="*/ 3389745 w 4969164"/>
              <a:gd name="connsiteY26" fmla="*/ 203881 h 2041918"/>
              <a:gd name="connsiteX27" fmla="*/ 3417455 w 4969164"/>
              <a:gd name="connsiteY27" fmla="*/ 185409 h 2041918"/>
              <a:gd name="connsiteX28" fmla="*/ 3491345 w 4969164"/>
              <a:gd name="connsiteY28" fmla="*/ 129991 h 2041918"/>
              <a:gd name="connsiteX29" fmla="*/ 3537527 w 4969164"/>
              <a:gd name="connsiteY29" fmla="*/ 111518 h 2041918"/>
              <a:gd name="connsiteX30" fmla="*/ 3620655 w 4969164"/>
              <a:gd name="connsiteY30" fmla="*/ 83809 h 2041918"/>
              <a:gd name="connsiteX31" fmla="*/ 3694545 w 4969164"/>
              <a:gd name="connsiteY31" fmla="*/ 56100 h 2041918"/>
              <a:gd name="connsiteX32" fmla="*/ 3823855 w 4969164"/>
              <a:gd name="connsiteY32" fmla="*/ 19154 h 2041918"/>
              <a:gd name="connsiteX33" fmla="*/ 4756727 w 4969164"/>
              <a:gd name="connsiteY33" fmla="*/ 19154 h 2041918"/>
              <a:gd name="connsiteX34" fmla="*/ 4913745 w 4969164"/>
              <a:gd name="connsiteY34" fmla="*/ 681 h 2041918"/>
              <a:gd name="connsiteX35" fmla="*/ 4969164 w 4969164"/>
              <a:gd name="connsiteY35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44436 w 4969164"/>
              <a:gd name="connsiteY16" fmla="*/ 804245 h 2041918"/>
              <a:gd name="connsiteX17" fmla="*/ 2272145 w 4969164"/>
              <a:gd name="connsiteY17" fmla="*/ 351664 h 2041918"/>
              <a:gd name="connsiteX18" fmla="*/ 2946400 w 4969164"/>
              <a:gd name="connsiteY18" fmla="*/ 351663 h 2041918"/>
              <a:gd name="connsiteX19" fmla="*/ 2992582 w 4969164"/>
              <a:gd name="connsiteY19" fmla="*/ 342427 h 2041918"/>
              <a:gd name="connsiteX20" fmla="*/ 3057236 w 4969164"/>
              <a:gd name="connsiteY20" fmla="*/ 333191 h 2041918"/>
              <a:gd name="connsiteX21" fmla="*/ 3094182 w 4969164"/>
              <a:gd name="connsiteY21" fmla="*/ 323954 h 2041918"/>
              <a:gd name="connsiteX22" fmla="*/ 3205018 w 4969164"/>
              <a:gd name="connsiteY22" fmla="*/ 305481 h 2041918"/>
              <a:gd name="connsiteX23" fmla="*/ 3297382 w 4969164"/>
              <a:gd name="connsiteY23" fmla="*/ 287009 h 2041918"/>
              <a:gd name="connsiteX24" fmla="*/ 3352800 w 4969164"/>
              <a:gd name="connsiteY24" fmla="*/ 259300 h 2041918"/>
              <a:gd name="connsiteX25" fmla="*/ 3389745 w 4969164"/>
              <a:gd name="connsiteY25" fmla="*/ 203881 h 2041918"/>
              <a:gd name="connsiteX26" fmla="*/ 3417455 w 4969164"/>
              <a:gd name="connsiteY26" fmla="*/ 185409 h 2041918"/>
              <a:gd name="connsiteX27" fmla="*/ 3491345 w 4969164"/>
              <a:gd name="connsiteY27" fmla="*/ 129991 h 2041918"/>
              <a:gd name="connsiteX28" fmla="*/ 3537527 w 4969164"/>
              <a:gd name="connsiteY28" fmla="*/ 111518 h 2041918"/>
              <a:gd name="connsiteX29" fmla="*/ 3620655 w 4969164"/>
              <a:gd name="connsiteY29" fmla="*/ 83809 h 2041918"/>
              <a:gd name="connsiteX30" fmla="*/ 3694545 w 4969164"/>
              <a:gd name="connsiteY30" fmla="*/ 56100 h 2041918"/>
              <a:gd name="connsiteX31" fmla="*/ 3823855 w 4969164"/>
              <a:gd name="connsiteY31" fmla="*/ 19154 h 2041918"/>
              <a:gd name="connsiteX32" fmla="*/ 4756727 w 4969164"/>
              <a:gd name="connsiteY32" fmla="*/ 19154 h 2041918"/>
              <a:gd name="connsiteX33" fmla="*/ 4913745 w 4969164"/>
              <a:gd name="connsiteY33" fmla="*/ 681 h 2041918"/>
              <a:gd name="connsiteX34" fmla="*/ 4969164 w 4969164"/>
              <a:gd name="connsiteY34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53673 w 4969164"/>
              <a:gd name="connsiteY15" fmla="*/ 905845 h 2041918"/>
              <a:gd name="connsiteX16" fmla="*/ 2272145 w 4969164"/>
              <a:gd name="connsiteY16" fmla="*/ 351664 h 2041918"/>
              <a:gd name="connsiteX17" fmla="*/ 2946400 w 4969164"/>
              <a:gd name="connsiteY17" fmla="*/ 351663 h 2041918"/>
              <a:gd name="connsiteX18" fmla="*/ 2992582 w 4969164"/>
              <a:gd name="connsiteY18" fmla="*/ 342427 h 2041918"/>
              <a:gd name="connsiteX19" fmla="*/ 3057236 w 4969164"/>
              <a:gd name="connsiteY19" fmla="*/ 333191 h 2041918"/>
              <a:gd name="connsiteX20" fmla="*/ 3094182 w 4969164"/>
              <a:gd name="connsiteY20" fmla="*/ 323954 h 2041918"/>
              <a:gd name="connsiteX21" fmla="*/ 3205018 w 4969164"/>
              <a:gd name="connsiteY21" fmla="*/ 305481 h 2041918"/>
              <a:gd name="connsiteX22" fmla="*/ 3297382 w 4969164"/>
              <a:gd name="connsiteY22" fmla="*/ 287009 h 2041918"/>
              <a:gd name="connsiteX23" fmla="*/ 3352800 w 4969164"/>
              <a:gd name="connsiteY23" fmla="*/ 259300 h 2041918"/>
              <a:gd name="connsiteX24" fmla="*/ 3389745 w 4969164"/>
              <a:gd name="connsiteY24" fmla="*/ 203881 h 2041918"/>
              <a:gd name="connsiteX25" fmla="*/ 3417455 w 4969164"/>
              <a:gd name="connsiteY25" fmla="*/ 185409 h 2041918"/>
              <a:gd name="connsiteX26" fmla="*/ 3491345 w 4969164"/>
              <a:gd name="connsiteY26" fmla="*/ 129991 h 2041918"/>
              <a:gd name="connsiteX27" fmla="*/ 3537527 w 4969164"/>
              <a:gd name="connsiteY27" fmla="*/ 111518 h 2041918"/>
              <a:gd name="connsiteX28" fmla="*/ 3620655 w 4969164"/>
              <a:gd name="connsiteY28" fmla="*/ 83809 h 2041918"/>
              <a:gd name="connsiteX29" fmla="*/ 3694545 w 4969164"/>
              <a:gd name="connsiteY29" fmla="*/ 56100 h 2041918"/>
              <a:gd name="connsiteX30" fmla="*/ 3823855 w 4969164"/>
              <a:gd name="connsiteY30" fmla="*/ 19154 h 2041918"/>
              <a:gd name="connsiteX31" fmla="*/ 4756727 w 4969164"/>
              <a:gd name="connsiteY31" fmla="*/ 19154 h 2041918"/>
              <a:gd name="connsiteX32" fmla="*/ 4913745 w 4969164"/>
              <a:gd name="connsiteY32" fmla="*/ 681 h 2041918"/>
              <a:gd name="connsiteX33" fmla="*/ 4969164 w 4969164"/>
              <a:gd name="connsiteY33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62909 w 4969164"/>
              <a:gd name="connsiteY14" fmla="*/ 1192172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244436 w 4969164"/>
              <a:gd name="connsiteY13" fmla="*/ 1450791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216727 w 4969164"/>
              <a:gd name="connsiteY12" fmla="*/ 1995736 h 2041918"/>
              <a:gd name="connsiteX13" fmla="*/ 2198254 w 4969164"/>
              <a:gd name="connsiteY13" fmla="*/ 1644754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179782 w 4969164"/>
              <a:gd name="connsiteY12" fmla="*/ 1995736 h 2041918"/>
              <a:gd name="connsiteX13" fmla="*/ 2198254 w 4969164"/>
              <a:gd name="connsiteY13" fmla="*/ 1644754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179782 w 4969164"/>
              <a:gd name="connsiteY12" fmla="*/ 1995736 h 2041918"/>
              <a:gd name="connsiteX13" fmla="*/ 2198254 w 4969164"/>
              <a:gd name="connsiteY13" fmla="*/ 1644754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041236 w 4969164"/>
              <a:gd name="connsiteY11" fmla="*/ 1995736 h 2041918"/>
              <a:gd name="connsiteX12" fmla="*/ 2179782 w 4969164"/>
              <a:gd name="connsiteY12" fmla="*/ 1995736 h 2041918"/>
              <a:gd name="connsiteX13" fmla="*/ 2198254 w 4969164"/>
              <a:gd name="connsiteY13" fmla="*/ 1644754 h 2041918"/>
              <a:gd name="connsiteX14" fmla="*/ 2272146 w 4969164"/>
              <a:gd name="connsiteY14" fmla="*/ 1275300 h 2041918"/>
              <a:gd name="connsiteX15" fmla="*/ 2272145 w 4969164"/>
              <a:gd name="connsiteY15" fmla="*/ 351664 h 2041918"/>
              <a:gd name="connsiteX16" fmla="*/ 2946400 w 4969164"/>
              <a:gd name="connsiteY16" fmla="*/ 351663 h 2041918"/>
              <a:gd name="connsiteX17" fmla="*/ 2992582 w 4969164"/>
              <a:gd name="connsiteY17" fmla="*/ 342427 h 2041918"/>
              <a:gd name="connsiteX18" fmla="*/ 3057236 w 4969164"/>
              <a:gd name="connsiteY18" fmla="*/ 333191 h 2041918"/>
              <a:gd name="connsiteX19" fmla="*/ 3094182 w 4969164"/>
              <a:gd name="connsiteY19" fmla="*/ 323954 h 2041918"/>
              <a:gd name="connsiteX20" fmla="*/ 3205018 w 4969164"/>
              <a:gd name="connsiteY20" fmla="*/ 305481 h 2041918"/>
              <a:gd name="connsiteX21" fmla="*/ 3297382 w 4969164"/>
              <a:gd name="connsiteY21" fmla="*/ 287009 h 2041918"/>
              <a:gd name="connsiteX22" fmla="*/ 3352800 w 4969164"/>
              <a:gd name="connsiteY22" fmla="*/ 259300 h 2041918"/>
              <a:gd name="connsiteX23" fmla="*/ 3389745 w 4969164"/>
              <a:gd name="connsiteY23" fmla="*/ 203881 h 2041918"/>
              <a:gd name="connsiteX24" fmla="*/ 3417455 w 4969164"/>
              <a:gd name="connsiteY24" fmla="*/ 185409 h 2041918"/>
              <a:gd name="connsiteX25" fmla="*/ 3491345 w 4969164"/>
              <a:gd name="connsiteY25" fmla="*/ 129991 h 2041918"/>
              <a:gd name="connsiteX26" fmla="*/ 3537527 w 4969164"/>
              <a:gd name="connsiteY26" fmla="*/ 111518 h 2041918"/>
              <a:gd name="connsiteX27" fmla="*/ 3620655 w 4969164"/>
              <a:gd name="connsiteY27" fmla="*/ 83809 h 2041918"/>
              <a:gd name="connsiteX28" fmla="*/ 3694545 w 4969164"/>
              <a:gd name="connsiteY28" fmla="*/ 56100 h 2041918"/>
              <a:gd name="connsiteX29" fmla="*/ 3823855 w 4969164"/>
              <a:gd name="connsiteY29" fmla="*/ 19154 h 2041918"/>
              <a:gd name="connsiteX30" fmla="*/ 4756727 w 4969164"/>
              <a:gd name="connsiteY30" fmla="*/ 19154 h 2041918"/>
              <a:gd name="connsiteX31" fmla="*/ 4913745 w 4969164"/>
              <a:gd name="connsiteY31" fmla="*/ 681 h 2041918"/>
              <a:gd name="connsiteX32" fmla="*/ 4969164 w 4969164"/>
              <a:gd name="connsiteY32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1986500 h 2041918"/>
              <a:gd name="connsiteX11" fmla="*/ 2179782 w 4969164"/>
              <a:gd name="connsiteY11" fmla="*/ 1995736 h 2041918"/>
              <a:gd name="connsiteX12" fmla="*/ 2198254 w 4969164"/>
              <a:gd name="connsiteY12" fmla="*/ 1644754 h 2041918"/>
              <a:gd name="connsiteX13" fmla="*/ 2272146 w 4969164"/>
              <a:gd name="connsiteY13" fmla="*/ 1275300 h 2041918"/>
              <a:gd name="connsiteX14" fmla="*/ 2272145 w 4969164"/>
              <a:gd name="connsiteY14" fmla="*/ 351664 h 2041918"/>
              <a:gd name="connsiteX15" fmla="*/ 2946400 w 4969164"/>
              <a:gd name="connsiteY15" fmla="*/ 351663 h 2041918"/>
              <a:gd name="connsiteX16" fmla="*/ 2992582 w 4969164"/>
              <a:gd name="connsiteY16" fmla="*/ 342427 h 2041918"/>
              <a:gd name="connsiteX17" fmla="*/ 3057236 w 4969164"/>
              <a:gd name="connsiteY17" fmla="*/ 333191 h 2041918"/>
              <a:gd name="connsiteX18" fmla="*/ 3094182 w 4969164"/>
              <a:gd name="connsiteY18" fmla="*/ 323954 h 2041918"/>
              <a:gd name="connsiteX19" fmla="*/ 3205018 w 4969164"/>
              <a:gd name="connsiteY19" fmla="*/ 305481 h 2041918"/>
              <a:gd name="connsiteX20" fmla="*/ 3297382 w 4969164"/>
              <a:gd name="connsiteY20" fmla="*/ 287009 h 2041918"/>
              <a:gd name="connsiteX21" fmla="*/ 3352800 w 4969164"/>
              <a:gd name="connsiteY21" fmla="*/ 259300 h 2041918"/>
              <a:gd name="connsiteX22" fmla="*/ 3389745 w 4969164"/>
              <a:gd name="connsiteY22" fmla="*/ 203881 h 2041918"/>
              <a:gd name="connsiteX23" fmla="*/ 3417455 w 4969164"/>
              <a:gd name="connsiteY23" fmla="*/ 185409 h 2041918"/>
              <a:gd name="connsiteX24" fmla="*/ 3491345 w 4969164"/>
              <a:gd name="connsiteY24" fmla="*/ 129991 h 2041918"/>
              <a:gd name="connsiteX25" fmla="*/ 3537527 w 4969164"/>
              <a:gd name="connsiteY25" fmla="*/ 111518 h 2041918"/>
              <a:gd name="connsiteX26" fmla="*/ 3620655 w 4969164"/>
              <a:gd name="connsiteY26" fmla="*/ 83809 h 2041918"/>
              <a:gd name="connsiteX27" fmla="*/ 3694545 w 4969164"/>
              <a:gd name="connsiteY27" fmla="*/ 56100 h 2041918"/>
              <a:gd name="connsiteX28" fmla="*/ 3823855 w 4969164"/>
              <a:gd name="connsiteY28" fmla="*/ 19154 h 2041918"/>
              <a:gd name="connsiteX29" fmla="*/ 4756727 w 4969164"/>
              <a:gd name="connsiteY29" fmla="*/ 19154 h 2041918"/>
              <a:gd name="connsiteX30" fmla="*/ 4913745 w 4969164"/>
              <a:gd name="connsiteY30" fmla="*/ 681 h 2041918"/>
              <a:gd name="connsiteX31" fmla="*/ 4969164 w 4969164"/>
              <a:gd name="connsiteY31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034473 w 4969164"/>
              <a:gd name="connsiteY9" fmla="*/ 1995736 h 2041918"/>
              <a:gd name="connsiteX10" fmla="*/ 1136073 w 4969164"/>
              <a:gd name="connsiteY10" fmla="*/ 2004973 h 2041918"/>
              <a:gd name="connsiteX11" fmla="*/ 2179782 w 4969164"/>
              <a:gd name="connsiteY11" fmla="*/ 1995736 h 2041918"/>
              <a:gd name="connsiteX12" fmla="*/ 2198254 w 4969164"/>
              <a:gd name="connsiteY12" fmla="*/ 1644754 h 2041918"/>
              <a:gd name="connsiteX13" fmla="*/ 2272146 w 4969164"/>
              <a:gd name="connsiteY13" fmla="*/ 1275300 h 2041918"/>
              <a:gd name="connsiteX14" fmla="*/ 2272145 w 4969164"/>
              <a:gd name="connsiteY14" fmla="*/ 351664 h 2041918"/>
              <a:gd name="connsiteX15" fmla="*/ 2946400 w 4969164"/>
              <a:gd name="connsiteY15" fmla="*/ 351663 h 2041918"/>
              <a:gd name="connsiteX16" fmla="*/ 2992582 w 4969164"/>
              <a:gd name="connsiteY16" fmla="*/ 342427 h 2041918"/>
              <a:gd name="connsiteX17" fmla="*/ 3057236 w 4969164"/>
              <a:gd name="connsiteY17" fmla="*/ 333191 h 2041918"/>
              <a:gd name="connsiteX18" fmla="*/ 3094182 w 4969164"/>
              <a:gd name="connsiteY18" fmla="*/ 323954 h 2041918"/>
              <a:gd name="connsiteX19" fmla="*/ 3205018 w 4969164"/>
              <a:gd name="connsiteY19" fmla="*/ 305481 h 2041918"/>
              <a:gd name="connsiteX20" fmla="*/ 3297382 w 4969164"/>
              <a:gd name="connsiteY20" fmla="*/ 287009 h 2041918"/>
              <a:gd name="connsiteX21" fmla="*/ 3352800 w 4969164"/>
              <a:gd name="connsiteY21" fmla="*/ 259300 h 2041918"/>
              <a:gd name="connsiteX22" fmla="*/ 3389745 w 4969164"/>
              <a:gd name="connsiteY22" fmla="*/ 203881 h 2041918"/>
              <a:gd name="connsiteX23" fmla="*/ 3417455 w 4969164"/>
              <a:gd name="connsiteY23" fmla="*/ 185409 h 2041918"/>
              <a:gd name="connsiteX24" fmla="*/ 3491345 w 4969164"/>
              <a:gd name="connsiteY24" fmla="*/ 129991 h 2041918"/>
              <a:gd name="connsiteX25" fmla="*/ 3537527 w 4969164"/>
              <a:gd name="connsiteY25" fmla="*/ 111518 h 2041918"/>
              <a:gd name="connsiteX26" fmla="*/ 3620655 w 4969164"/>
              <a:gd name="connsiteY26" fmla="*/ 83809 h 2041918"/>
              <a:gd name="connsiteX27" fmla="*/ 3694545 w 4969164"/>
              <a:gd name="connsiteY27" fmla="*/ 56100 h 2041918"/>
              <a:gd name="connsiteX28" fmla="*/ 3823855 w 4969164"/>
              <a:gd name="connsiteY28" fmla="*/ 19154 h 2041918"/>
              <a:gd name="connsiteX29" fmla="*/ 4756727 w 4969164"/>
              <a:gd name="connsiteY29" fmla="*/ 19154 h 2041918"/>
              <a:gd name="connsiteX30" fmla="*/ 4913745 w 4969164"/>
              <a:gd name="connsiteY30" fmla="*/ 681 h 2041918"/>
              <a:gd name="connsiteX31" fmla="*/ 4969164 w 4969164"/>
              <a:gd name="connsiteY31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738909 w 4969164"/>
              <a:gd name="connsiteY7" fmla="*/ 2023445 h 2041918"/>
              <a:gd name="connsiteX8" fmla="*/ 840509 w 4969164"/>
              <a:gd name="connsiteY8" fmla="*/ 2014209 h 2041918"/>
              <a:gd name="connsiteX9" fmla="*/ 1136073 w 4969164"/>
              <a:gd name="connsiteY9" fmla="*/ 2004973 h 2041918"/>
              <a:gd name="connsiteX10" fmla="*/ 2179782 w 4969164"/>
              <a:gd name="connsiteY10" fmla="*/ 1995736 h 2041918"/>
              <a:gd name="connsiteX11" fmla="*/ 2198254 w 4969164"/>
              <a:gd name="connsiteY11" fmla="*/ 1644754 h 2041918"/>
              <a:gd name="connsiteX12" fmla="*/ 2272146 w 4969164"/>
              <a:gd name="connsiteY12" fmla="*/ 1275300 h 2041918"/>
              <a:gd name="connsiteX13" fmla="*/ 2272145 w 4969164"/>
              <a:gd name="connsiteY13" fmla="*/ 351664 h 2041918"/>
              <a:gd name="connsiteX14" fmla="*/ 2946400 w 4969164"/>
              <a:gd name="connsiteY14" fmla="*/ 351663 h 2041918"/>
              <a:gd name="connsiteX15" fmla="*/ 2992582 w 4969164"/>
              <a:gd name="connsiteY15" fmla="*/ 342427 h 2041918"/>
              <a:gd name="connsiteX16" fmla="*/ 3057236 w 4969164"/>
              <a:gd name="connsiteY16" fmla="*/ 333191 h 2041918"/>
              <a:gd name="connsiteX17" fmla="*/ 3094182 w 4969164"/>
              <a:gd name="connsiteY17" fmla="*/ 323954 h 2041918"/>
              <a:gd name="connsiteX18" fmla="*/ 3205018 w 4969164"/>
              <a:gd name="connsiteY18" fmla="*/ 305481 h 2041918"/>
              <a:gd name="connsiteX19" fmla="*/ 3297382 w 4969164"/>
              <a:gd name="connsiteY19" fmla="*/ 287009 h 2041918"/>
              <a:gd name="connsiteX20" fmla="*/ 3352800 w 4969164"/>
              <a:gd name="connsiteY20" fmla="*/ 259300 h 2041918"/>
              <a:gd name="connsiteX21" fmla="*/ 3389745 w 4969164"/>
              <a:gd name="connsiteY21" fmla="*/ 203881 h 2041918"/>
              <a:gd name="connsiteX22" fmla="*/ 3417455 w 4969164"/>
              <a:gd name="connsiteY22" fmla="*/ 185409 h 2041918"/>
              <a:gd name="connsiteX23" fmla="*/ 3491345 w 4969164"/>
              <a:gd name="connsiteY23" fmla="*/ 129991 h 2041918"/>
              <a:gd name="connsiteX24" fmla="*/ 3537527 w 4969164"/>
              <a:gd name="connsiteY24" fmla="*/ 111518 h 2041918"/>
              <a:gd name="connsiteX25" fmla="*/ 3620655 w 4969164"/>
              <a:gd name="connsiteY25" fmla="*/ 83809 h 2041918"/>
              <a:gd name="connsiteX26" fmla="*/ 3694545 w 4969164"/>
              <a:gd name="connsiteY26" fmla="*/ 56100 h 2041918"/>
              <a:gd name="connsiteX27" fmla="*/ 3823855 w 4969164"/>
              <a:gd name="connsiteY27" fmla="*/ 19154 h 2041918"/>
              <a:gd name="connsiteX28" fmla="*/ 4756727 w 4969164"/>
              <a:gd name="connsiteY28" fmla="*/ 19154 h 2041918"/>
              <a:gd name="connsiteX29" fmla="*/ 4913745 w 4969164"/>
              <a:gd name="connsiteY29" fmla="*/ 681 h 2041918"/>
              <a:gd name="connsiteX30" fmla="*/ 4969164 w 4969164"/>
              <a:gd name="connsiteY30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683491 w 4969164"/>
              <a:gd name="connsiteY6" fmla="*/ 2032681 h 2041918"/>
              <a:gd name="connsiteX7" fmla="*/ 840509 w 4969164"/>
              <a:gd name="connsiteY7" fmla="*/ 2014209 h 2041918"/>
              <a:gd name="connsiteX8" fmla="*/ 1136073 w 4969164"/>
              <a:gd name="connsiteY8" fmla="*/ 2004973 h 2041918"/>
              <a:gd name="connsiteX9" fmla="*/ 2179782 w 4969164"/>
              <a:gd name="connsiteY9" fmla="*/ 1995736 h 2041918"/>
              <a:gd name="connsiteX10" fmla="*/ 2198254 w 4969164"/>
              <a:gd name="connsiteY10" fmla="*/ 1644754 h 2041918"/>
              <a:gd name="connsiteX11" fmla="*/ 2272146 w 4969164"/>
              <a:gd name="connsiteY11" fmla="*/ 1275300 h 2041918"/>
              <a:gd name="connsiteX12" fmla="*/ 2272145 w 4969164"/>
              <a:gd name="connsiteY12" fmla="*/ 351664 h 2041918"/>
              <a:gd name="connsiteX13" fmla="*/ 2946400 w 4969164"/>
              <a:gd name="connsiteY13" fmla="*/ 351663 h 2041918"/>
              <a:gd name="connsiteX14" fmla="*/ 2992582 w 4969164"/>
              <a:gd name="connsiteY14" fmla="*/ 342427 h 2041918"/>
              <a:gd name="connsiteX15" fmla="*/ 3057236 w 4969164"/>
              <a:gd name="connsiteY15" fmla="*/ 333191 h 2041918"/>
              <a:gd name="connsiteX16" fmla="*/ 3094182 w 4969164"/>
              <a:gd name="connsiteY16" fmla="*/ 323954 h 2041918"/>
              <a:gd name="connsiteX17" fmla="*/ 3205018 w 4969164"/>
              <a:gd name="connsiteY17" fmla="*/ 305481 h 2041918"/>
              <a:gd name="connsiteX18" fmla="*/ 3297382 w 4969164"/>
              <a:gd name="connsiteY18" fmla="*/ 287009 h 2041918"/>
              <a:gd name="connsiteX19" fmla="*/ 3352800 w 4969164"/>
              <a:gd name="connsiteY19" fmla="*/ 259300 h 2041918"/>
              <a:gd name="connsiteX20" fmla="*/ 3389745 w 4969164"/>
              <a:gd name="connsiteY20" fmla="*/ 203881 h 2041918"/>
              <a:gd name="connsiteX21" fmla="*/ 3417455 w 4969164"/>
              <a:gd name="connsiteY21" fmla="*/ 185409 h 2041918"/>
              <a:gd name="connsiteX22" fmla="*/ 3491345 w 4969164"/>
              <a:gd name="connsiteY22" fmla="*/ 129991 h 2041918"/>
              <a:gd name="connsiteX23" fmla="*/ 3537527 w 4969164"/>
              <a:gd name="connsiteY23" fmla="*/ 111518 h 2041918"/>
              <a:gd name="connsiteX24" fmla="*/ 3620655 w 4969164"/>
              <a:gd name="connsiteY24" fmla="*/ 83809 h 2041918"/>
              <a:gd name="connsiteX25" fmla="*/ 3694545 w 4969164"/>
              <a:gd name="connsiteY25" fmla="*/ 56100 h 2041918"/>
              <a:gd name="connsiteX26" fmla="*/ 3823855 w 4969164"/>
              <a:gd name="connsiteY26" fmla="*/ 19154 h 2041918"/>
              <a:gd name="connsiteX27" fmla="*/ 4756727 w 4969164"/>
              <a:gd name="connsiteY27" fmla="*/ 19154 h 2041918"/>
              <a:gd name="connsiteX28" fmla="*/ 4913745 w 4969164"/>
              <a:gd name="connsiteY28" fmla="*/ 681 h 2041918"/>
              <a:gd name="connsiteX29" fmla="*/ 4969164 w 4969164"/>
              <a:gd name="connsiteY29" fmla="*/ 681 h 2041918"/>
              <a:gd name="connsiteX0" fmla="*/ 0 w 4969164"/>
              <a:gd name="connsiteY0" fmla="*/ 1774063 h 2041918"/>
              <a:gd name="connsiteX1" fmla="*/ 489527 w 4969164"/>
              <a:gd name="connsiteY1" fmla="*/ 1774063 h 2041918"/>
              <a:gd name="connsiteX2" fmla="*/ 508000 w 4969164"/>
              <a:gd name="connsiteY2" fmla="*/ 1801772 h 2041918"/>
              <a:gd name="connsiteX3" fmla="*/ 517236 w 4969164"/>
              <a:gd name="connsiteY3" fmla="*/ 1829481 h 2041918"/>
              <a:gd name="connsiteX4" fmla="*/ 526473 w 4969164"/>
              <a:gd name="connsiteY4" fmla="*/ 2032681 h 2041918"/>
              <a:gd name="connsiteX5" fmla="*/ 554182 w 4969164"/>
              <a:gd name="connsiteY5" fmla="*/ 2041918 h 2041918"/>
              <a:gd name="connsiteX6" fmla="*/ 840509 w 4969164"/>
              <a:gd name="connsiteY6" fmla="*/ 2014209 h 2041918"/>
              <a:gd name="connsiteX7" fmla="*/ 1136073 w 4969164"/>
              <a:gd name="connsiteY7" fmla="*/ 2004973 h 2041918"/>
              <a:gd name="connsiteX8" fmla="*/ 2179782 w 4969164"/>
              <a:gd name="connsiteY8" fmla="*/ 1995736 h 2041918"/>
              <a:gd name="connsiteX9" fmla="*/ 2198254 w 4969164"/>
              <a:gd name="connsiteY9" fmla="*/ 1644754 h 2041918"/>
              <a:gd name="connsiteX10" fmla="*/ 2272146 w 4969164"/>
              <a:gd name="connsiteY10" fmla="*/ 1275300 h 2041918"/>
              <a:gd name="connsiteX11" fmla="*/ 2272145 w 4969164"/>
              <a:gd name="connsiteY11" fmla="*/ 351664 h 2041918"/>
              <a:gd name="connsiteX12" fmla="*/ 2946400 w 4969164"/>
              <a:gd name="connsiteY12" fmla="*/ 351663 h 2041918"/>
              <a:gd name="connsiteX13" fmla="*/ 2992582 w 4969164"/>
              <a:gd name="connsiteY13" fmla="*/ 342427 h 2041918"/>
              <a:gd name="connsiteX14" fmla="*/ 3057236 w 4969164"/>
              <a:gd name="connsiteY14" fmla="*/ 333191 h 2041918"/>
              <a:gd name="connsiteX15" fmla="*/ 3094182 w 4969164"/>
              <a:gd name="connsiteY15" fmla="*/ 323954 h 2041918"/>
              <a:gd name="connsiteX16" fmla="*/ 3205018 w 4969164"/>
              <a:gd name="connsiteY16" fmla="*/ 305481 h 2041918"/>
              <a:gd name="connsiteX17" fmla="*/ 3297382 w 4969164"/>
              <a:gd name="connsiteY17" fmla="*/ 287009 h 2041918"/>
              <a:gd name="connsiteX18" fmla="*/ 3352800 w 4969164"/>
              <a:gd name="connsiteY18" fmla="*/ 259300 h 2041918"/>
              <a:gd name="connsiteX19" fmla="*/ 3389745 w 4969164"/>
              <a:gd name="connsiteY19" fmla="*/ 203881 h 2041918"/>
              <a:gd name="connsiteX20" fmla="*/ 3417455 w 4969164"/>
              <a:gd name="connsiteY20" fmla="*/ 185409 h 2041918"/>
              <a:gd name="connsiteX21" fmla="*/ 3491345 w 4969164"/>
              <a:gd name="connsiteY21" fmla="*/ 129991 h 2041918"/>
              <a:gd name="connsiteX22" fmla="*/ 3537527 w 4969164"/>
              <a:gd name="connsiteY22" fmla="*/ 111518 h 2041918"/>
              <a:gd name="connsiteX23" fmla="*/ 3620655 w 4969164"/>
              <a:gd name="connsiteY23" fmla="*/ 83809 h 2041918"/>
              <a:gd name="connsiteX24" fmla="*/ 3694545 w 4969164"/>
              <a:gd name="connsiteY24" fmla="*/ 56100 h 2041918"/>
              <a:gd name="connsiteX25" fmla="*/ 3823855 w 4969164"/>
              <a:gd name="connsiteY25" fmla="*/ 19154 h 2041918"/>
              <a:gd name="connsiteX26" fmla="*/ 4756727 w 4969164"/>
              <a:gd name="connsiteY26" fmla="*/ 19154 h 2041918"/>
              <a:gd name="connsiteX27" fmla="*/ 4913745 w 4969164"/>
              <a:gd name="connsiteY27" fmla="*/ 681 h 2041918"/>
              <a:gd name="connsiteX28" fmla="*/ 4969164 w 4969164"/>
              <a:gd name="connsiteY28" fmla="*/ 681 h 2041918"/>
              <a:gd name="connsiteX0" fmla="*/ 0 w 4969164"/>
              <a:gd name="connsiteY0" fmla="*/ 1774063 h 2043434"/>
              <a:gd name="connsiteX1" fmla="*/ 489527 w 4969164"/>
              <a:gd name="connsiteY1" fmla="*/ 1774063 h 2043434"/>
              <a:gd name="connsiteX2" fmla="*/ 508000 w 4969164"/>
              <a:gd name="connsiteY2" fmla="*/ 1801772 h 2043434"/>
              <a:gd name="connsiteX3" fmla="*/ 517236 w 4969164"/>
              <a:gd name="connsiteY3" fmla="*/ 1829481 h 2043434"/>
              <a:gd name="connsiteX4" fmla="*/ 526473 w 4969164"/>
              <a:gd name="connsiteY4" fmla="*/ 2032681 h 2043434"/>
              <a:gd name="connsiteX5" fmla="*/ 840509 w 4969164"/>
              <a:gd name="connsiteY5" fmla="*/ 2014209 h 2043434"/>
              <a:gd name="connsiteX6" fmla="*/ 1136073 w 4969164"/>
              <a:gd name="connsiteY6" fmla="*/ 2004973 h 2043434"/>
              <a:gd name="connsiteX7" fmla="*/ 2179782 w 4969164"/>
              <a:gd name="connsiteY7" fmla="*/ 1995736 h 2043434"/>
              <a:gd name="connsiteX8" fmla="*/ 2198254 w 4969164"/>
              <a:gd name="connsiteY8" fmla="*/ 1644754 h 2043434"/>
              <a:gd name="connsiteX9" fmla="*/ 2272146 w 4969164"/>
              <a:gd name="connsiteY9" fmla="*/ 1275300 h 2043434"/>
              <a:gd name="connsiteX10" fmla="*/ 2272145 w 4969164"/>
              <a:gd name="connsiteY10" fmla="*/ 351664 h 2043434"/>
              <a:gd name="connsiteX11" fmla="*/ 2946400 w 4969164"/>
              <a:gd name="connsiteY11" fmla="*/ 351663 h 2043434"/>
              <a:gd name="connsiteX12" fmla="*/ 2992582 w 4969164"/>
              <a:gd name="connsiteY12" fmla="*/ 342427 h 2043434"/>
              <a:gd name="connsiteX13" fmla="*/ 3057236 w 4969164"/>
              <a:gd name="connsiteY13" fmla="*/ 333191 h 2043434"/>
              <a:gd name="connsiteX14" fmla="*/ 3094182 w 4969164"/>
              <a:gd name="connsiteY14" fmla="*/ 323954 h 2043434"/>
              <a:gd name="connsiteX15" fmla="*/ 3205018 w 4969164"/>
              <a:gd name="connsiteY15" fmla="*/ 305481 h 2043434"/>
              <a:gd name="connsiteX16" fmla="*/ 3297382 w 4969164"/>
              <a:gd name="connsiteY16" fmla="*/ 287009 h 2043434"/>
              <a:gd name="connsiteX17" fmla="*/ 3352800 w 4969164"/>
              <a:gd name="connsiteY17" fmla="*/ 259300 h 2043434"/>
              <a:gd name="connsiteX18" fmla="*/ 3389745 w 4969164"/>
              <a:gd name="connsiteY18" fmla="*/ 203881 h 2043434"/>
              <a:gd name="connsiteX19" fmla="*/ 3417455 w 4969164"/>
              <a:gd name="connsiteY19" fmla="*/ 185409 h 2043434"/>
              <a:gd name="connsiteX20" fmla="*/ 3491345 w 4969164"/>
              <a:gd name="connsiteY20" fmla="*/ 129991 h 2043434"/>
              <a:gd name="connsiteX21" fmla="*/ 3537527 w 4969164"/>
              <a:gd name="connsiteY21" fmla="*/ 111518 h 2043434"/>
              <a:gd name="connsiteX22" fmla="*/ 3620655 w 4969164"/>
              <a:gd name="connsiteY22" fmla="*/ 83809 h 2043434"/>
              <a:gd name="connsiteX23" fmla="*/ 3694545 w 4969164"/>
              <a:gd name="connsiteY23" fmla="*/ 56100 h 2043434"/>
              <a:gd name="connsiteX24" fmla="*/ 3823855 w 4969164"/>
              <a:gd name="connsiteY24" fmla="*/ 19154 h 2043434"/>
              <a:gd name="connsiteX25" fmla="*/ 4756727 w 4969164"/>
              <a:gd name="connsiteY25" fmla="*/ 19154 h 2043434"/>
              <a:gd name="connsiteX26" fmla="*/ 4913745 w 4969164"/>
              <a:gd name="connsiteY26" fmla="*/ 681 h 2043434"/>
              <a:gd name="connsiteX27" fmla="*/ 4969164 w 4969164"/>
              <a:gd name="connsiteY27" fmla="*/ 681 h 2043434"/>
              <a:gd name="connsiteX0" fmla="*/ 0 w 4969164"/>
              <a:gd name="connsiteY0" fmla="*/ 1774063 h 2045400"/>
              <a:gd name="connsiteX1" fmla="*/ 489527 w 4969164"/>
              <a:gd name="connsiteY1" fmla="*/ 1774063 h 2045400"/>
              <a:gd name="connsiteX2" fmla="*/ 508000 w 4969164"/>
              <a:gd name="connsiteY2" fmla="*/ 1801772 h 2045400"/>
              <a:gd name="connsiteX3" fmla="*/ 526473 w 4969164"/>
              <a:gd name="connsiteY3" fmla="*/ 2032681 h 2045400"/>
              <a:gd name="connsiteX4" fmla="*/ 840509 w 4969164"/>
              <a:gd name="connsiteY4" fmla="*/ 2014209 h 2045400"/>
              <a:gd name="connsiteX5" fmla="*/ 1136073 w 4969164"/>
              <a:gd name="connsiteY5" fmla="*/ 2004973 h 2045400"/>
              <a:gd name="connsiteX6" fmla="*/ 2179782 w 4969164"/>
              <a:gd name="connsiteY6" fmla="*/ 1995736 h 2045400"/>
              <a:gd name="connsiteX7" fmla="*/ 2198254 w 4969164"/>
              <a:gd name="connsiteY7" fmla="*/ 1644754 h 2045400"/>
              <a:gd name="connsiteX8" fmla="*/ 2272146 w 4969164"/>
              <a:gd name="connsiteY8" fmla="*/ 1275300 h 2045400"/>
              <a:gd name="connsiteX9" fmla="*/ 2272145 w 4969164"/>
              <a:gd name="connsiteY9" fmla="*/ 351664 h 2045400"/>
              <a:gd name="connsiteX10" fmla="*/ 2946400 w 4969164"/>
              <a:gd name="connsiteY10" fmla="*/ 351663 h 2045400"/>
              <a:gd name="connsiteX11" fmla="*/ 2992582 w 4969164"/>
              <a:gd name="connsiteY11" fmla="*/ 342427 h 2045400"/>
              <a:gd name="connsiteX12" fmla="*/ 3057236 w 4969164"/>
              <a:gd name="connsiteY12" fmla="*/ 333191 h 2045400"/>
              <a:gd name="connsiteX13" fmla="*/ 3094182 w 4969164"/>
              <a:gd name="connsiteY13" fmla="*/ 323954 h 2045400"/>
              <a:gd name="connsiteX14" fmla="*/ 3205018 w 4969164"/>
              <a:gd name="connsiteY14" fmla="*/ 305481 h 2045400"/>
              <a:gd name="connsiteX15" fmla="*/ 3297382 w 4969164"/>
              <a:gd name="connsiteY15" fmla="*/ 287009 h 2045400"/>
              <a:gd name="connsiteX16" fmla="*/ 3352800 w 4969164"/>
              <a:gd name="connsiteY16" fmla="*/ 259300 h 2045400"/>
              <a:gd name="connsiteX17" fmla="*/ 3389745 w 4969164"/>
              <a:gd name="connsiteY17" fmla="*/ 203881 h 2045400"/>
              <a:gd name="connsiteX18" fmla="*/ 3417455 w 4969164"/>
              <a:gd name="connsiteY18" fmla="*/ 185409 h 2045400"/>
              <a:gd name="connsiteX19" fmla="*/ 3491345 w 4969164"/>
              <a:gd name="connsiteY19" fmla="*/ 129991 h 2045400"/>
              <a:gd name="connsiteX20" fmla="*/ 3537527 w 4969164"/>
              <a:gd name="connsiteY20" fmla="*/ 111518 h 2045400"/>
              <a:gd name="connsiteX21" fmla="*/ 3620655 w 4969164"/>
              <a:gd name="connsiteY21" fmla="*/ 83809 h 2045400"/>
              <a:gd name="connsiteX22" fmla="*/ 3694545 w 4969164"/>
              <a:gd name="connsiteY22" fmla="*/ 56100 h 2045400"/>
              <a:gd name="connsiteX23" fmla="*/ 3823855 w 4969164"/>
              <a:gd name="connsiteY23" fmla="*/ 19154 h 2045400"/>
              <a:gd name="connsiteX24" fmla="*/ 4756727 w 4969164"/>
              <a:gd name="connsiteY24" fmla="*/ 19154 h 2045400"/>
              <a:gd name="connsiteX25" fmla="*/ 4913745 w 4969164"/>
              <a:gd name="connsiteY25" fmla="*/ 681 h 2045400"/>
              <a:gd name="connsiteX26" fmla="*/ 4969164 w 4969164"/>
              <a:gd name="connsiteY2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2992582 w 4969164"/>
              <a:gd name="connsiteY10" fmla="*/ 342427 h 2045400"/>
              <a:gd name="connsiteX11" fmla="*/ 3057236 w 4969164"/>
              <a:gd name="connsiteY11" fmla="*/ 333191 h 2045400"/>
              <a:gd name="connsiteX12" fmla="*/ 3094182 w 4969164"/>
              <a:gd name="connsiteY12" fmla="*/ 323954 h 2045400"/>
              <a:gd name="connsiteX13" fmla="*/ 3205018 w 4969164"/>
              <a:gd name="connsiteY13" fmla="*/ 305481 h 2045400"/>
              <a:gd name="connsiteX14" fmla="*/ 3297382 w 4969164"/>
              <a:gd name="connsiteY14" fmla="*/ 287009 h 2045400"/>
              <a:gd name="connsiteX15" fmla="*/ 3352800 w 4969164"/>
              <a:gd name="connsiteY15" fmla="*/ 259300 h 2045400"/>
              <a:gd name="connsiteX16" fmla="*/ 3389745 w 4969164"/>
              <a:gd name="connsiteY16" fmla="*/ 203881 h 2045400"/>
              <a:gd name="connsiteX17" fmla="*/ 3417455 w 4969164"/>
              <a:gd name="connsiteY17" fmla="*/ 185409 h 2045400"/>
              <a:gd name="connsiteX18" fmla="*/ 3491345 w 4969164"/>
              <a:gd name="connsiteY18" fmla="*/ 129991 h 2045400"/>
              <a:gd name="connsiteX19" fmla="*/ 3537527 w 4969164"/>
              <a:gd name="connsiteY19" fmla="*/ 111518 h 2045400"/>
              <a:gd name="connsiteX20" fmla="*/ 3620655 w 4969164"/>
              <a:gd name="connsiteY20" fmla="*/ 83809 h 2045400"/>
              <a:gd name="connsiteX21" fmla="*/ 3694545 w 4969164"/>
              <a:gd name="connsiteY21" fmla="*/ 56100 h 2045400"/>
              <a:gd name="connsiteX22" fmla="*/ 3823855 w 4969164"/>
              <a:gd name="connsiteY22" fmla="*/ 19154 h 2045400"/>
              <a:gd name="connsiteX23" fmla="*/ 4756727 w 4969164"/>
              <a:gd name="connsiteY23" fmla="*/ 19154 h 2045400"/>
              <a:gd name="connsiteX24" fmla="*/ 4913745 w 4969164"/>
              <a:gd name="connsiteY24" fmla="*/ 681 h 2045400"/>
              <a:gd name="connsiteX25" fmla="*/ 4969164 w 4969164"/>
              <a:gd name="connsiteY25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057236 w 4969164"/>
              <a:gd name="connsiteY10" fmla="*/ 333191 h 2045400"/>
              <a:gd name="connsiteX11" fmla="*/ 3094182 w 4969164"/>
              <a:gd name="connsiteY11" fmla="*/ 323954 h 2045400"/>
              <a:gd name="connsiteX12" fmla="*/ 3205018 w 4969164"/>
              <a:gd name="connsiteY12" fmla="*/ 305481 h 2045400"/>
              <a:gd name="connsiteX13" fmla="*/ 3297382 w 4969164"/>
              <a:gd name="connsiteY13" fmla="*/ 287009 h 2045400"/>
              <a:gd name="connsiteX14" fmla="*/ 3352800 w 4969164"/>
              <a:gd name="connsiteY14" fmla="*/ 259300 h 2045400"/>
              <a:gd name="connsiteX15" fmla="*/ 3389745 w 4969164"/>
              <a:gd name="connsiteY15" fmla="*/ 203881 h 2045400"/>
              <a:gd name="connsiteX16" fmla="*/ 3417455 w 4969164"/>
              <a:gd name="connsiteY16" fmla="*/ 185409 h 2045400"/>
              <a:gd name="connsiteX17" fmla="*/ 3491345 w 4969164"/>
              <a:gd name="connsiteY17" fmla="*/ 129991 h 2045400"/>
              <a:gd name="connsiteX18" fmla="*/ 3537527 w 4969164"/>
              <a:gd name="connsiteY18" fmla="*/ 111518 h 2045400"/>
              <a:gd name="connsiteX19" fmla="*/ 3620655 w 4969164"/>
              <a:gd name="connsiteY19" fmla="*/ 83809 h 2045400"/>
              <a:gd name="connsiteX20" fmla="*/ 3694545 w 4969164"/>
              <a:gd name="connsiteY20" fmla="*/ 56100 h 2045400"/>
              <a:gd name="connsiteX21" fmla="*/ 3823855 w 4969164"/>
              <a:gd name="connsiteY21" fmla="*/ 19154 h 2045400"/>
              <a:gd name="connsiteX22" fmla="*/ 4756727 w 4969164"/>
              <a:gd name="connsiteY22" fmla="*/ 19154 h 2045400"/>
              <a:gd name="connsiteX23" fmla="*/ 4913745 w 4969164"/>
              <a:gd name="connsiteY23" fmla="*/ 681 h 2045400"/>
              <a:gd name="connsiteX24" fmla="*/ 4969164 w 4969164"/>
              <a:gd name="connsiteY24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094182 w 4969164"/>
              <a:gd name="connsiteY10" fmla="*/ 323954 h 2045400"/>
              <a:gd name="connsiteX11" fmla="*/ 3205018 w 4969164"/>
              <a:gd name="connsiteY11" fmla="*/ 305481 h 2045400"/>
              <a:gd name="connsiteX12" fmla="*/ 3297382 w 4969164"/>
              <a:gd name="connsiteY12" fmla="*/ 287009 h 2045400"/>
              <a:gd name="connsiteX13" fmla="*/ 3352800 w 4969164"/>
              <a:gd name="connsiteY13" fmla="*/ 259300 h 2045400"/>
              <a:gd name="connsiteX14" fmla="*/ 3389745 w 4969164"/>
              <a:gd name="connsiteY14" fmla="*/ 203881 h 2045400"/>
              <a:gd name="connsiteX15" fmla="*/ 3417455 w 4969164"/>
              <a:gd name="connsiteY15" fmla="*/ 185409 h 2045400"/>
              <a:gd name="connsiteX16" fmla="*/ 3491345 w 4969164"/>
              <a:gd name="connsiteY16" fmla="*/ 129991 h 2045400"/>
              <a:gd name="connsiteX17" fmla="*/ 3537527 w 4969164"/>
              <a:gd name="connsiteY17" fmla="*/ 111518 h 2045400"/>
              <a:gd name="connsiteX18" fmla="*/ 3620655 w 4969164"/>
              <a:gd name="connsiteY18" fmla="*/ 83809 h 2045400"/>
              <a:gd name="connsiteX19" fmla="*/ 3694545 w 4969164"/>
              <a:gd name="connsiteY19" fmla="*/ 56100 h 2045400"/>
              <a:gd name="connsiteX20" fmla="*/ 3823855 w 4969164"/>
              <a:gd name="connsiteY20" fmla="*/ 19154 h 2045400"/>
              <a:gd name="connsiteX21" fmla="*/ 4756727 w 4969164"/>
              <a:gd name="connsiteY21" fmla="*/ 19154 h 2045400"/>
              <a:gd name="connsiteX22" fmla="*/ 4913745 w 4969164"/>
              <a:gd name="connsiteY22" fmla="*/ 681 h 2045400"/>
              <a:gd name="connsiteX23" fmla="*/ 4969164 w 4969164"/>
              <a:gd name="connsiteY23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05018 w 4969164"/>
              <a:gd name="connsiteY10" fmla="*/ 305481 h 2045400"/>
              <a:gd name="connsiteX11" fmla="*/ 3297382 w 4969164"/>
              <a:gd name="connsiteY11" fmla="*/ 287009 h 2045400"/>
              <a:gd name="connsiteX12" fmla="*/ 3352800 w 4969164"/>
              <a:gd name="connsiteY12" fmla="*/ 259300 h 2045400"/>
              <a:gd name="connsiteX13" fmla="*/ 3389745 w 4969164"/>
              <a:gd name="connsiteY13" fmla="*/ 203881 h 2045400"/>
              <a:gd name="connsiteX14" fmla="*/ 3417455 w 4969164"/>
              <a:gd name="connsiteY14" fmla="*/ 185409 h 2045400"/>
              <a:gd name="connsiteX15" fmla="*/ 3491345 w 4969164"/>
              <a:gd name="connsiteY15" fmla="*/ 129991 h 2045400"/>
              <a:gd name="connsiteX16" fmla="*/ 3537527 w 4969164"/>
              <a:gd name="connsiteY16" fmla="*/ 111518 h 2045400"/>
              <a:gd name="connsiteX17" fmla="*/ 3620655 w 4969164"/>
              <a:gd name="connsiteY17" fmla="*/ 83809 h 2045400"/>
              <a:gd name="connsiteX18" fmla="*/ 3694545 w 4969164"/>
              <a:gd name="connsiteY18" fmla="*/ 56100 h 2045400"/>
              <a:gd name="connsiteX19" fmla="*/ 3823855 w 4969164"/>
              <a:gd name="connsiteY19" fmla="*/ 19154 h 2045400"/>
              <a:gd name="connsiteX20" fmla="*/ 4756727 w 4969164"/>
              <a:gd name="connsiteY20" fmla="*/ 19154 h 2045400"/>
              <a:gd name="connsiteX21" fmla="*/ 4913745 w 4969164"/>
              <a:gd name="connsiteY21" fmla="*/ 681 h 2045400"/>
              <a:gd name="connsiteX22" fmla="*/ 4969164 w 4969164"/>
              <a:gd name="connsiteY22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352800 w 4969164"/>
              <a:gd name="connsiteY11" fmla="*/ 259300 h 2045400"/>
              <a:gd name="connsiteX12" fmla="*/ 3389745 w 4969164"/>
              <a:gd name="connsiteY12" fmla="*/ 203881 h 2045400"/>
              <a:gd name="connsiteX13" fmla="*/ 3417455 w 4969164"/>
              <a:gd name="connsiteY13" fmla="*/ 185409 h 2045400"/>
              <a:gd name="connsiteX14" fmla="*/ 3491345 w 4969164"/>
              <a:gd name="connsiteY14" fmla="*/ 129991 h 2045400"/>
              <a:gd name="connsiteX15" fmla="*/ 3537527 w 4969164"/>
              <a:gd name="connsiteY15" fmla="*/ 111518 h 2045400"/>
              <a:gd name="connsiteX16" fmla="*/ 3620655 w 4969164"/>
              <a:gd name="connsiteY16" fmla="*/ 83809 h 2045400"/>
              <a:gd name="connsiteX17" fmla="*/ 3694545 w 4969164"/>
              <a:gd name="connsiteY17" fmla="*/ 56100 h 2045400"/>
              <a:gd name="connsiteX18" fmla="*/ 3823855 w 4969164"/>
              <a:gd name="connsiteY18" fmla="*/ 19154 h 2045400"/>
              <a:gd name="connsiteX19" fmla="*/ 4756727 w 4969164"/>
              <a:gd name="connsiteY19" fmla="*/ 19154 h 2045400"/>
              <a:gd name="connsiteX20" fmla="*/ 4913745 w 4969164"/>
              <a:gd name="connsiteY20" fmla="*/ 681 h 2045400"/>
              <a:gd name="connsiteX21" fmla="*/ 4969164 w 4969164"/>
              <a:gd name="connsiteY21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389745 w 4969164"/>
              <a:gd name="connsiteY11" fmla="*/ 203881 h 2045400"/>
              <a:gd name="connsiteX12" fmla="*/ 3417455 w 4969164"/>
              <a:gd name="connsiteY12" fmla="*/ 185409 h 2045400"/>
              <a:gd name="connsiteX13" fmla="*/ 3491345 w 4969164"/>
              <a:gd name="connsiteY13" fmla="*/ 129991 h 2045400"/>
              <a:gd name="connsiteX14" fmla="*/ 3537527 w 4969164"/>
              <a:gd name="connsiteY14" fmla="*/ 111518 h 2045400"/>
              <a:gd name="connsiteX15" fmla="*/ 3620655 w 4969164"/>
              <a:gd name="connsiteY15" fmla="*/ 83809 h 2045400"/>
              <a:gd name="connsiteX16" fmla="*/ 3694545 w 4969164"/>
              <a:gd name="connsiteY16" fmla="*/ 56100 h 2045400"/>
              <a:gd name="connsiteX17" fmla="*/ 3823855 w 4969164"/>
              <a:gd name="connsiteY17" fmla="*/ 19154 h 2045400"/>
              <a:gd name="connsiteX18" fmla="*/ 4756727 w 4969164"/>
              <a:gd name="connsiteY18" fmla="*/ 19154 h 2045400"/>
              <a:gd name="connsiteX19" fmla="*/ 4913745 w 4969164"/>
              <a:gd name="connsiteY19" fmla="*/ 681 h 2045400"/>
              <a:gd name="connsiteX20" fmla="*/ 4969164 w 4969164"/>
              <a:gd name="connsiteY20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389745 w 4969164"/>
              <a:gd name="connsiteY11" fmla="*/ 203881 h 2045400"/>
              <a:gd name="connsiteX12" fmla="*/ 3491345 w 4969164"/>
              <a:gd name="connsiteY12" fmla="*/ 129991 h 2045400"/>
              <a:gd name="connsiteX13" fmla="*/ 3537527 w 4969164"/>
              <a:gd name="connsiteY13" fmla="*/ 111518 h 2045400"/>
              <a:gd name="connsiteX14" fmla="*/ 3620655 w 4969164"/>
              <a:gd name="connsiteY14" fmla="*/ 83809 h 2045400"/>
              <a:gd name="connsiteX15" fmla="*/ 3694545 w 4969164"/>
              <a:gd name="connsiteY15" fmla="*/ 56100 h 2045400"/>
              <a:gd name="connsiteX16" fmla="*/ 3823855 w 4969164"/>
              <a:gd name="connsiteY16" fmla="*/ 19154 h 2045400"/>
              <a:gd name="connsiteX17" fmla="*/ 4756727 w 4969164"/>
              <a:gd name="connsiteY17" fmla="*/ 19154 h 2045400"/>
              <a:gd name="connsiteX18" fmla="*/ 4913745 w 4969164"/>
              <a:gd name="connsiteY18" fmla="*/ 681 h 2045400"/>
              <a:gd name="connsiteX19" fmla="*/ 4969164 w 4969164"/>
              <a:gd name="connsiteY19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93045 h 2045400"/>
              <a:gd name="connsiteX12" fmla="*/ 3491345 w 4969164"/>
              <a:gd name="connsiteY12" fmla="*/ 129991 h 2045400"/>
              <a:gd name="connsiteX13" fmla="*/ 3537527 w 4969164"/>
              <a:gd name="connsiteY13" fmla="*/ 111518 h 2045400"/>
              <a:gd name="connsiteX14" fmla="*/ 3620655 w 4969164"/>
              <a:gd name="connsiteY14" fmla="*/ 83809 h 2045400"/>
              <a:gd name="connsiteX15" fmla="*/ 3694545 w 4969164"/>
              <a:gd name="connsiteY15" fmla="*/ 56100 h 2045400"/>
              <a:gd name="connsiteX16" fmla="*/ 3823855 w 4969164"/>
              <a:gd name="connsiteY16" fmla="*/ 19154 h 2045400"/>
              <a:gd name="connsiteX17" fmla="*/ 4756727 w 4969164"/>
              <a:gd name="connsiteY17" fmla="*/ 19154 h 2045400"/>
              <a:gd name="connsiteX18" fmla="*/ 4913745 w 4969164"/>
              <a:gd name="connsiteY18" fmla="*/ 681 h 2045400"/>
              <a:gd name="connsiteX19" fmla="*/ 4969164 w 4969164"/>
              <a:gd name="connsiteY19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91345 w 4969164"/>
              <a:gd name="connsiteY12" fmla="*/ 129991 h 2045400"/>
              <a:gd name="connsiteX13" fmla="*/ 3537527 w 4969164"/>
              <a:gd name="connsiteY13" fmla="*/ 111518 h 2045400"/>
              <a:gd name="connsiteX14" fmla="*/ 3620655 w 4969164"/>
              <a:gd name="connsiteY14" fmla="*/ 83809 h 2045400"/>
              <a:gd name="connsiteX15" fmla="*/ 3694545 w 4969164"/>
              <a:gd name="connsiteY15" fmla="*/ 56100 h 2045400"/>
              <a:gd name="connsiteX16" fmla="*/ 3823855 w 4969164"/>
              <a:gd name="connsiteY16" fmla="*/ 19154 h 2045400"/>
              <a:gd name="connsiteX17" fmla="*/ 4756727 w 4969164"/>
              <a:gd name="connsiteY17" fmla="*/ 19154 h 2045400"/>
              <a:gd name="connsiteX18" fmla="*/ 4913745 w 4969164"/>
              <a:gd name="connsiteY18" fmla="*/ 681 h 2045400"/>
              <a:gd name="connsiteX19" fmla="*/ 4969164 w 4969164"/>
              <a:gd name="connsiteY19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537527 w 4969164"/>
              <a:gd name="connsiteY13" fmla="*/ 111518 h 2045400"/>
              <a:gd name="connsiteX14" fmla="*/ 3620655 w 4969164"/>
              <a:gd name="connsiteY14" fmla="*/ 83809 h 2045400"/>
              <a:gd name="connsiteX15" fmla="*/ 3694545 w 4969164"/>
              <a:gd name="connsiteY15" fmla="*/ 56100 h 2045400"/>
              <a:gd name="connsiteX16" fmla="*/ 3823855 w 4969164"/>
              <a:gd name="connsiteY16" fmla="*/ 19154 h 2045400"/>
              <a:gd name="connsiteX17" fmla="*/ 4756727 w 4969164"/>
              <a:gd name="connsiteY17" fmla="*/ 19154 h 2045400"/>
              <a:gd name="connsiteX18" fmla="*/ 4913745 w 4969164"/>
              <a:gd name="connsiteY18" fmla="*/ 681 h 2045400"/>
              <a:gd name="connsiteX19" fmla="*/ 4969164 w 4969164"/>
              <a:gd name="connsiteY19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620655 w 4969164"/>
              <a:gd name="connsiteY13" fmla="*/ 83809 h 2045400"/>
              <a:gd name="connsiteX14" fmla="*/ 3694545 w 4969164"/>
              <a:gd name="connsiteY14" fmla="*/ 56100 h 2045400"/>
              <a:gd name="connsiteX15" fmla="*/ 3823855 w 4969164"/>
              <a:gd name="connsiteY15" fmla="*/ 19154 h 2045400"/>
              <a:gd name="connsiteX16" fmla="*/ 4756727 w 4969164"/>
              <a:gd name="connsiteY16" fmla="*/ 19154 h 2045400"/>
              <a:gd name="connsiteX17" fmla="*/ 4913745 w 4969164"/>
              <a:gd name="connsiteY17" fmla="*/ 681 h 2045400"/>
              <a:gd name="connsiteX18" fmla="*/ 4969164 w 4969164"/>
              <a:gd name="connsiteY18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620655 w 4969164"/>
              <a:gd name="connsiteY13" fmla="*/ 83809 h 2045400"/>
              <a:gd name="connsiteX14" fmla="*/ 3694545 w 4969164"/>
              <a:gd name="connsiteY14" fmla="*/ 56100 h 2045400"/>
              <a:gd name="connsiteX15" fmla="*/ 3860801 w 4969164"/>
              <a:gd name="connsiteY15" fmla="*/ 93045 h 2045400"/>
              <a:gd name="connsiteX16" fmla="*/ 4756727 w 4969164"/>
              <a:gd name="connsiteY16" fmla="*/ 19154 h 2045400"/>
              <a:gd name="connsiteX17" fmla="*/ 4913745 w 4969164"/>
              <a:gd name="connsiteY17" fmla="*/ 681 h 2045400"/>
              <a:gd name="connsiteX18" fmla="*/ 4969164 w 4969164"/>
              <a:gd name="connsiteY18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620655 w 4969164"/>
              <a:gd name="connsiteY13" fmla="*/ 83809 h 2045400"/>
              <a:gd name="connsiteX14" fmla="*/ 3860801 w 4969164"/>
              <a:gd name="connsiteY14" fmla="*/ 93045 h 2045400"/>
              <a:gd name="connsiteX15" fmla="*/ 4756727 w 4969164"/>
              <a:gd name="connsiteY15" fmla="*/ 19154 h 2045400"/>
              <a:gd name="connsiteX16" fmla="*/ 4913745 w 4969164"/>
              <a:gd name="connsiteY16" fmla="*/ 681 h 2045400"/>
              <a:gd name="connsiteX17" fmla="*/ 4969164 w 4969164"/>
              <a:gd name="connsiteY17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45400"/>
              <a:gd name="connsiteX1" fmla="*/ 508000 w 4969164"/>
              <a:gd name="connsiteY1" fmla="*/ 1801772 h 2045400"/>
              <a:gd name="connsiteX2" fmla="*/ 526473 w 4969164"/>
              <a:gd name="connsiteY2" fmla="*/ 2032681 h 2045400"/>
              <a:gd name="connsiteX3" fmla="*/ 840509 w 4969164"/>
              <a:gd name="connsiteY3" fmla="*/ 2014209 h 2045400"/>
              <a:gd name="connsiteX4" fmla="*/ 1136073 w 4969164"/>
              <a:gd name="connsiteY4" fmla="*/ 2004973 h 2045400"/>
              <a:gd name="connsiteX5" fmla="*/ 2179782 w 4969164"/>
              <a:gd name="connsiteY5" fmla="*/ 1995736 h 2045400"/>
              <a:gd name="connsiteX6" fmla="*/ 2198254 w 4969164"/>
              <a:gd name="connsiteY6" fmla="*/ 1644754 h 2045400"/>
              <a:gd name="connsiteX7" fmla="*/ 2272146 w 4969164"/>
              <a:gd name="connsiteY7" fmla="*/ 1275300 h 2045400"/>
              <a:gd name="connsiteX8" fmla="*/ 2272145 w 4969164"/>
              <a:gd name="connsiteY8" fmla="*/ 351664 h 2045400"/>
              <a:gd name="connsiteX9" fmla="*/ 2946400 w 4969164"/>
              <a:gd name="connsiteY9" fmla="*/ 351663 h 2045400"/>
              <a:gd name="connsiteX10" fmla="*/ 3297382 w 4969164"/>
              <a:gd name="connsiteY10" fmla="*/ 287009 h 2045400"/>
              <a:gd name="connsiteX11" fmla="*/ 3408218 w 4969164"/>
              <a:gd name="connsiteY11" fmla="*/ 268536 h 2045400"/>
              <a:gd name="connsiteX12" fmla="*/ 3417454 w 4969164"/>
              <a:gd name="connsiteY12" fmla="*/ 102281 h 2045400"/>
              <a:gd name="connsiteX13" fmla="*/ 3860801 w 4969164"/>
              <a:gd name="connsiteY13" fmla="*/ 93045 h 2045400"/>
              <a:gd name="connsiteX14" fmla="*/ 4756727 w 4969164"/>
              <a:gd name="connsiteY14" fmla="*/ 19154 h 2045400"/>
              <a:gd name="connsiteX15" fmla="*/ 4913745 w 4969164"/>
              <a:gd name="connsiteY15" fmla="*/ 681 h 2045400"/>
              <a:gd name="connsiteX16" fmla="*/ 4969164 w 4969164"/>
              <a:gd name="connsiteY16" fmla="*/ 681 h 2045400"/>
              <a:gd name="connsiteX0" fmla="*/ 0 w 4969164"/>
              <a:gd name="connsiteY0" fmla="*/ 1774063 h 2032681"/>
              <a:gd name="connsiteX1" fmla="*/ 508000 w 4969164"/>
              <a:gd name="connsiteY1" fmla="*/ 1801772 h 2032681"/>
              <a:gd name="connsiteX2" fmla="*/ 526473 w 4969164"/>
              <a:gd name="connsiteY2" fmla="*/ 2032681 h 2032681"/>
              <a:gd name="connsiteX3" fmla="*/ 840509 w 4969164"/>
              <a:gd name="connsiteY3" fmla="*/ 2014209 h 2032681"/>
              <a:gd name="connsiteX4" fmla="*/ 1136073 w 4969164"/>
              <a:gd name="connsiteY4" fmla="*/ 2004973 h 2032681"/>
              <a:gd name="connsiteX5" fmla="*/ 2179782 w 4969164"/>
              <a:gd name="connsiteY5" fmla="*/ 1995736 h 2032681"/>
              <a:gd name="connsiteX6" fmla="*/ 2198254 w 4969164"/>
              <a:gd name="connsiteY6" fmla="*/ 1644754 h 2032681"/>
              <a:gd name="connsiteX7" fmla="*/ 2272146 w 4969164"/>
              <a:gd name="connsiteY7" fmla="*/ 1275300 h 2032681"/>
              <a:gd name="connsiteX8" fmla="*/ 2272145 w 4969164"/>
              <a:gd name="connsiteY8" fmla="*/ 351664 h 2032681"/>
              <a:gd name="connsiteX9" fmla="*/ 2946400 w 4969164"/>
              <a:gd name="connsiteY9" fmla="*/ 351663 h 2032681"/>
              <a:gd name="connsiteX10" fmla="*/ 3297382 w 4969164"/>
              <a:gd name="connsiteY10" fmla="*/ 287009 h 2032681"/>
              <a:gd name="connsiteX11" fmla="*/ 3408218 w 4969164"/>
              <a:gd name="connsiteY11" fmla="*/ 268536 h 2032681"/>
              <a:gd name="connsiteX12" fmla="*/ 3417454 w 4969164"/>
              <a:gd name="connsiteY12" fmla="*/ 102281 h 2032681"/>
              <a:gd name="connsiteX13" fmla="*/ 3860801 w 4969164"/>
              <a:gd name="connsiteY13" fmla="*/ 93045 h 2032681"/>
              <a:gd name="connsiteX14" fmla="*/ 4756727 w 4969164"/>
              <a:gd name="connsiteY14" fmla="*/ 19154 h 2032681"/>
              <a:gd name="connsiteX15" fmla="*/ 4913745 w 4969164"/>
              <a:gd name="connsiteY15" fmla="*/ 681 h 2032681"/>
              <a:gd name="connsiteX16" fmla="*/ 4969164 w 4969164"/>
              <a:gd name="connsiteY16" fmla="*/ 681 h 2032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969164" h="2032681">
                <a:moveTo>
                  <a:pt x="0" y="1774063"/>
                </a:moveTo>
                <a:lnTo>
                  <a:pt x="508000" y="1801772"/>
                </a:lnTo>
                <a:cubicBezTo>
                  <a:pt x="499931" y="1964050"/>
                  <a:pt x="517236" y="1917226"/>
                  <a:pt x="526473" y="2032681"/>
                </a:cubicBezTo>
                <a:lnTo>
                  <a:pt x="840509" y="2014209"/>
                </a:lnTo>
                <a:cubicBezTo>
                  <a:pt x="906703" y="2011130"/>
                  <a:pt x="912861" y="2008052"/>
                  <a:pt x="1136073" y="2004973"/>
                </a:cubicBezTo>
                <a:lnTo>
                  <a:pt x="2179782" y="1995736"/>
                </a:lnTo>
                <a:cubicBezTo>
                  <a:pt x="2204329" y="1774318"/>
                  <a:pt x="2182860" y="1764826"/>
                  <a:pt x="2198254" y="1644754"/>
                </a:cubicBezTo>
                <a:cubicBezTo>
                  <a:pt x="2213648" y="1524682"/>
                  <a:pt x="2263629" y="1368995"/>
                  <a:pt x="2272146" y="1275300"/>
                </a:cubicBezTo>
                <a:cubicBezTo>
                  <a:pt x="2276764" y="1092112"/>
                  <a:pt x="2258311" y="404914"/>
                  <a:pt x="2272145" y="351664"/>
                </a:cubicBezTo>
                <a:cubicBezTo>
                  <a:pt x="2282036" y="313591"/>
                  <a:pt x="2826327" y="353202"/>
                  <a:pt x="2946400" y="351663"/>
                </a:cubicBezTo>
                <a:cubicBezTo>
                  <a:pt x="3117273" y="340887"/>
                  <a:pt x="3121891" y="330112"/>
                  <a:pt x="3297382" y="287009"/>
                </a:cubicBezTo>
                <a:cubicBezTo>
                  <a:pt x="3472873" y="243906"/>
                  <a:pt x="3388206" y="299324"/>
                  <a:pt x="3408218" y="268536"/>
                </a:cubicBezTo>
                <a:cubicBezTo>
                  <a:pt x="3428230" y="237748"/>
                  <a:pt x="3415914" y="279312"/>
                  <a:pt x="3417454" y="102281"/>
                </a:cubicBezTo>
                <a:lnTo>
                  <a:pt x="3860801" y="93045"/>
                </a:lnTo>
                <a:cubicBezTo>
                  <a:pt x="4084013" y="79190"/>
                  <a:pt x="4581236" y="34548"/>
                  <a:pt x="4756727" y="19154"/>
                </a:cubicBezTo>
                <a:cubicBezTo>
                  <a:pt x="4932218" y="3760"/>
                  <a:pt x="4773734" y="12349"/>
                  <a:pt x="4913745" y="681"/>
                </a:cubicBezTo>
                <a:cubicBezTo>
                  <a:pt x="4932154" y="-853"/>
                  <a:pt x="4950691" y="681"/>
                  <a:pt x="4969164" y="681"/>
                </a:cubicBezTo>
              </a:path>
            </a:pathLst>
          </a:cu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19926" y="4054642"/>
            <a:ext cx="43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+mj-lt"/>
              </a:rPr>
              <a:t>1t</a:t>
            </a:r>
            <a:endParaRPr lang="ru-RU" b="1" dirty="0" err="1" smtClean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1430" y="3592603"/>
            <a:ext cx="44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+mj-lt"/>
              </a:rPr>
              <a:t>1t</a:t>
            </a:r>
            <a:endParaRPr lang="ru-RU" b="1" dirty="0" err="1" smtClean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898" y="2830603"/>
            <a:ext cx="38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+mj-lt"/>
              </a:rPr>
              <a:t>1t</a:t>
            </a:r>
            <a:endParaRPr lang="ru-RU" b="1" dirty="0" err="1" smtClean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6069" y="2830603"/>
            <a:ext cx="38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+mj-lt"/>
              </a:rPr>
              <a:t>2t</a:t>
            </a:r>
            <a:endParaRPr lang="ru-RU" b="1" dirty="0" err="1" smtClean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36584" y="2391597"/>
            <a:ext cx="73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+mj-lt"/>
              </a:rPr>
              <a:t>= 5t</a:t>
            </a:r>
            <a:endParaRPr lang="ru-RU" b="1" dirty="0" err="1" smtClean="0">
              <a:solidFill>
                <a:srgbClr val="C00000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53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6" grpId="0"/>
      <p:bldP spid="7" grpId="0"/>
      <p:bldP spid="8" grpId="0"/>
      <p:bldP spid="9" grpId="0"/>
    </p:bldLst>
  </p:timing>
  <p:extLst mod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Production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31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767585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YouTube videos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 smtClean="0">
                <a:hlinkClick r:id="rId2"/>
              </a:rPr>
              <a:t>“How a CPU is made“</a:t>
            </a:r>
            <a:r>
              <a:rPr lang="en-US" dirty="0"/>
              <a:t> </a:t>
            </a:r>
            <a:r>
              <a:rPr lang="en-US" dirty="0" smtClean="0"/>
              <a:t>explains </a:t>
            </a:r>
            <a:r>
              <a:rPr lang="en-US" dirty="0"/>
              <a:t>how integrated circuits (IC) are </a:t>
            </a:r>
            <a:r>
              <a:rPr lang="en-US" dirty="0" smtClean="0"/>
              <a:t>created</a:t>
            </a: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hlinkClick r:id="rId3"/>
              </a:rPr>
              <a:t>“Intel: The Making of a Chip with 22nm/3D Transistors“</a:t>
            </a:r>
            <a:r>
              <a:rPr lang="en-US" dirty="0" smtClean="0"/>
              <a:t> shows the whole process shortly, but, unfortunately, without any description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559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1"/>
            <a:ext cx="82296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33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037013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993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8|180.3|1.4|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3|82.8|22.9|174.5|128.7|49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2|44.7|2.2|22.2|86|6.9|1.8|107.5|7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5.7|1.3|4.9|48.9|2.2|4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9.6|7.5|1.6|47.6|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31.3|6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107.4|117.6|1.8|1.7|20.1|5.1|6|5.2|3.8|4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3|9.7|13.6|3.1|1.8|2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7.6|1.3|5.4|41.9|4.8|51.1|41.7|80|2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7|6.9|3.2|119|2.4|59.4|2.1|5.5|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2|25.9|2.4|0.7|2.1|12.2|1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8|97.2|150.4|1.4|5.8|2.2|80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38.8|165.8|118.4|5.6|61.1|34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8|97.2|150.4|1.4|5.8|2.2|80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3|101.1|7.1|15.6|32.9|22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3|3.5|12.9|25|7|2.3|1.6|7.7|12.1|3.6|13.3|16.7|1.6|11.7|11.7|19.6|23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|1.7|7.8|23.9|20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64.8|2|64.1|31.9|0.6|80.8|245.6|5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38.1|23.1|4.3|2.2|1.2|17.4|32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2292</TotalTime>
  <Words>1413</Words>
  <Application>Microsoft Office PowerPoint</Application>
  <PresentationFormat>On-screen Show (4:3)</PresentationFormat>
  <Paragraphs>683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MS PGothic</vt:lpstr>
      <vt:lpstr>MS PGothic</vt:lpstr>
      <vt:lpstr>Arial</vt:lpstr>
      <vt:lpstr>Calibri</vt:lpstr>
      <vt:lpstr>Cambria Math</vt:lpstr>
      <vt:lpstr>Consolas</vt:lpstr>
      <vt:lpstr>Courier New</vt:lpstr>
      <vt:lpstr>Neo Sans Intel</vt:lpstr>
      <vt:lpstr>Neo Sans Intel Light</vt:lpstr>
      <vt:lpstr>Neo Sans Intel Medium</vt:lpstr>
      <vt:lpstr>Times</vt:lpstr>
      <vt:lpstr>Verdana</vt:lpstr>
      <vt:lpstr>mdsp_2011</vt:lpstr>
      <vt:lpstr>Integrated Circuits Basics</vt:lpstr>
      <vt:lpstr>Layers of Abstraction in Computer Science (CS)</vt:lpstr>
      <vt:lpstr>Semiconductors</vt:lpstr>
      <vt:lpstr>Why Transistor?</vt:lpstr>
      <vt:lpstr>Silicon</vt:lpstr>
      <vt:lpstr>Conduction properties</vt:lpstr>
      <vt:lpstr>N-type Doping</vt:lpstr>
      <vt:lpstr>P-type Doping</vt:lpstr>
      <vt:lpstr>“Holes” concepts</vt:lpstr>
      <vt:lpstr>MOSFET</vt:lpstr>
      <vt:lpstr>MOSFET</vt:lpstr>
      <vt:lpstr>Diffusion process</vt:lpstr>
      <vt:lpstr>Closed State for N-type MOSFET</vt:lpstr>
      <vt:lpstr>Open State for N-type MOSFET</vt:lpstr>
      <vt:lpstr>Refresher: Physical Abstraction</vt:lpstr>
      <vt:lpstr>N-type MOSFET logical scheme</vt:lpstr>
      <vt:lpstr>CMOS Circuits</vt:lpstr>
      <vt:lpstr>CMOS Circuits</vt:lpstr>
      <vt:lpstr>N and P-type MOSFET</vt:lpstr>
      <vt:lpstr>Mix of States in Schemes with MOSFETs</vt:lpstr>
      <vt:lpstr>CMOS Inverter</vt:lpstr>
      <vt:lpstr>CMOS NAND Circuit</vt:lpstr>
      <vt:lpstr>Time and Power</vt:lpstr>
      <vt:lpstr>Transistor equivalent scheme</vt:lpstr>
      <vt:lpstr>Timing</vt:lpstr>
      <vt:lpstr>Power Consumption in CMOS</vt:lpstr>
      <vt:lpstr>Recharging Power</vt:lpstr>
      <vt:lpstr>Critical paths</vt:lpstr>
      <vt:lpstr>What is a critical path of scheme?</vt:lpstr>
      <vt:lpstr>Example of critical path finding: Multiplexer</vt:lpstr>
      <vt:lpstr>Production</vt:lpstr>
      <vt:lpstr>YouTube videos</vt:lpstr>
      <vt:lpstr>Thank You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CTPClassification=CTP_NWR:VisualMarkings=, CTPClassification=:VisualMarkings=, CTPClassification=CTP_PUBLIC:VisualMarkings=</cp:keywords>
  <cp:lastModifiedBy>Kryukov, Pavel I</cp:lastModifiedBy>
  <cp:revision>182</cp:revision>
  <dcterms:created xsi:type="dcterms:W3CDTF">2011-10-24T08:13:52Z</dcterms:created>
  <dcterms:modified xsi:type="dcterms:W3CDTF">2017-10-13T09:07:38Z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5674424d-5764-4ee2-b4be-dc6512ec3448</vt:lpwstr>
  </property>
  <property fmtid="{D5CDD505-2E9C-101B-9397-08002B2CF9AE}" pid="4" name="CTP_TimeStamp">
    <vt:lpwstr>2017-10-13 09:07:33Z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CTP_PUBLIC</vt:lpwstr>
  </property>
</Properties>
</file>