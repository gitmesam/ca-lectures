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handoutMasterIdLst>
    <p:handoutMasterId r:id="rId36"/>
  </p:handoutMasterIdLst>
  <p:sldIdLst>
    <p:sldId id="283" r:id="rId5"/>
    <p:sldId id="310" r:id="rId6"/>
    <p:sldId id="325" r:id="rId7"/>
    <p:sldId id="312" r:id="rId8"/>
    <p:sldId id="326" r:id="rId9"/>
    <p:sldId id="311" r:id="rId10"/>
    <p:sldId id="314" r:id="rId11"/>
    <p:sldId id="315" r:id="rId12"/>
    <p:sldId id="342" r:id="rId13"/>
    <p:sldId id="327" r:id="rId14"/>
    <p:sldId id="328" r:id="rId15"/>
    <p:sldId id="348" r:id="rId16"/>
    <p:sldId id="329" r:id="rId17"/>
    <p:sldId id="330" r:id="rId18"/>
    <p:sldId id="331" r:id="rId19"/>
    <p:sldId id="332" r:id="rId20"/>
    <p:sldId id="346" r:id="rId21"/>
    <p:sldId id="347" r:id="rId22"/>
    <p:sldId id="333" r:id="rId23"/>
    <p:sldId id="343" r:id="rId24"/>
    <p:sldId id="334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288" r:id="rId33"/>
    <p:sldId id="287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3522" autoAdjust="0"/>
    <p:restoredTop sz="99700" autoAdjust="0"/>
  </p:normalViewPr>
  <p:slideViewPr>
    <p:cSldViewPr snapToGrid="0">
      <p:cViewPr varScale="1">
        <p:scale>
          <a:sx n="76" d="100"/>
          <a:sy n="76" d="100"/>
        </p:scale>
        <p:origin x="1074" y="90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9/23/2017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9/23/2017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6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409575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379539"/>
            <a:ext cx="8228012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s.google.com/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PT-ILab/mipt-mips/wiki/Code-guidelines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PT-ILab/mipt-mips-2015/wiki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hyperlink" Target="mailto:@phystech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:MIPT-ILab/mipt-mips-2015.git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PT-ILab/mipt-mips/wiki/Git-&amp;-GitHub-cheat-sheet" TargetMode="Externa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Relationship Id="rId4" Type="http://schemas.openxmlformats.org/officeDocument/2006/relationships/hyperlink" Target="https://github.com/MIPT-ILab/mipt-mips/issue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mipt-ilab.github.io/mipt-mips/" TargetMode="External"/><Relationship Id="rId7" Type="http://schemas.openxmlformats.org/officeDocument/2006/relationships/hyperlink" Target="http://www.eqqon.com/index.php/Collaborative_Github_Workflow" TargetMode="External"/><Relationship Id="rId2" Type="http://schemas.openxmlformats.org/officeDocument/2006/relationships/hyperlink" Target="https://github.com/MIPT-ILab/mipt-mips/wiki/Git-&amp;-GitHub-cheat-sheet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gun.io/blog/how-to-github-fork-branch-and-pull-request/" TargetMode="External"/><Relationship Id="rId5" Type="http://schemas.openxmlformats.org/officeDocument/2006/relationships/hyperlink" Target="http://git-scm.com/doc" TargetMode="External"/><Relationship Id="rId4" Type="http://schemas.openxmlformats.org/officeDocument/2006/relationships/hyperlink" Target="http://git-scm.com/book/en/v2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2716666"/>
            <a:ext cx="7924800" cy="1231106"/>
          </a:xfrm>
        </p:spPr>
        <p:txBody>
          <a:bodyPr/>
          <a:lstStyle/>
          <a:p>
            <a:r>
              <a:rPr lang="en-US" sz="4000" dirty="0" smtClean="0">
                <a:latin typeface="+mj-lt"/>
              </a:rPr>
              <a:t>Introduction</a:t>
            </a:r>
            <a:br>
              <a:rPr lang="en-US" sz="4000" dirty="0" smtClean="0">
                <a:latin typeface="+mj-lt"/>
              </a:rPr>
            </a:br>
            <a:r>
              <a:rPr lang="en-US" sz="4000" dirty="0" smtClean="0">
                <a:latin typeface="+mj-lt"/>
              </a:rPr>
              <a:t>Basics of Simulator Development</a:t>
            </a:r>
            <a:endParaRPr lang="en-US" sz="4000" dirty="0">
              <a:latin typeface="+mj-lt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4032047"/>
            <a:ext cx="4343400" cy="601190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Pavel Kryukov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09/22/2017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84836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4000" dirty="0" smtClean="0"/>
              <a:t>Цели и задачи курса</a:t>
            </a:r>
            <a:r>
              <a:rPr lang="en-US" sz="4000" dirty="0" smtClean="0"/>
              <a:t> </a:t>
            </a:r>
            <a:r>
              <a:rPr lang="en-US" sz="3600" dirty="0" smtClean="0"/>
              <a:t>(1)</a:t>
            </a:r>
            <a:endParaRPr lang="ru-R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379539"/>
            <a:ext cx="8228012" cy="4037003"/>
          </a:xfrm>
        </p:spPr>
        <p:txBody>
          <a:bodyPr>
            <a:spAutoFit/>
          </a:bodyPr>
          <a:lstStyle/>
          <a:p>
            <a:pPr marL="231775" indent="-231775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600" dirty="0" smtClean="0"/>
              <a:t>MIPT-MIPS – </a:t>
            </a:r>
            <a:r>
              <a:rPr lang="ru-RU" sz="2600" dirty="0" smtClean="0"/>
              <a:t>это </a:t>
            </a:r>
            <a:r>
              <a:rPr lang="ru-RU" sz="2600" dirty="0" smtClean="0">
                <a:solidFill>
                  <a:srgbClr val="0070C0"/>
                </a:solidFill>
              </a:rPr>
              <a:t>образовательный</a:t>
            </a:r>
            <a:r>
              <a:rPr lang="ru-RU" sz="2600" dirty="0" smtClean="0"/>
              <a:t> проект</a:t>
            </a:r>
          </a:p>
          <a:p>
            <a:pPr marL="231775" indent="-231775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 smtClean="0"/>
              <a:t>Обзорное изучение компьютерной архитектуры</a:t>
            </a:r>
          </a:p>
          <a:p>
            <a:pPr marL="646113" lvl="2" indent="-231775">
              <a:spcBef>
                <a:spcPts val="600"/>
              </a:spcBef>
              <a:buFont typeface="Arial" pitchFamily="34" charset="0"/>
              <a:buChar char="•"/>
            </a:pPr>
            <a:r>
              <a:rPr lang="ru-RU" sz="2200" dirty="0" smtClean="0"/>
              <a:t>Наибольший фокус на микроархитектуру процессоров</a:t>
            </a:r>
            <a:endParaRPr lang="en-US" sz="2200" dirty="0" smtClean="0"/>
          </a:p>
          <a:p>
            <a:pPr marL="231775" indent="-231775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 smtClean="0"/>
              <a:t>Обучение программированию на С++, </a:t>
            </a:r>
            <a:r>
              <a:rPr lang="en-US" sz="2600" dirty="0" smtClean="0">
                <a:solidFill>
                  <a:schemeClr val="bg2">
                    <a:lumMod val="75000"/>
                  </a:schemeClr>
                </a:solidFill>
              </a:rPr>
              <a:t>make, shell ...</a:t>
            </a:r>
            <a:endParaRPr lang="ru-RU" sz="26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231775" indent="-231775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 smtClean="0"/>
              <a:t>Навыки разработки в крупном командном проекте</a:t>
            </a:r>
          </a:p>
          <a:p>
            <a:pPr marL="646113" lvl="2" indent="-231775">
              <a:spcBef>
                <a:spcPts val="400"/>
              </a:spcBef>
              <a:buFont typeface="Arial" pitchFamily="34" charset="0"/>
              <a:buChar char="•"/>
            </a:pPr>
            <a:r>
              <a:rPr lang="ru-RU" sz="2200" dirty="0" smtClean="0"/>
              <a:t>Системы контроля версий (</a:t>
            </a:r>
            <a:r>
              <a:rPr lang="en-US" sz="2200" dirty="0" err="1" smtClean="0"/>
              <a:t>git</a:t>
            </a:r>
            <a:r>
              <a:rPr lang="en-US" sz="2200" dirty="0" smtClean="0"/>
              <a:t>)</a:t>
            </a:r>
            <a:endParaRPr lang="ru-RU" sz="2200" dirty="0" smtClean="0"/>
          </a:p>
          <a:p>
            <a:pPr marL="646113" lvl="2" indent="-231775">
              <a:spcBef>
                <a:spcPts val="400"/>
              </a:spcBef>
              <a:buFont typeface="Arial" pitchFamily="34" charset="0"/>
              <a:buChar char="•"/>
            </a:pPr>
            <a:r>
              <a:rPr lang="ru-RU" sz="2200" dirty="0" smtClean="0"/>
              <a:t>Инфраструктура и системы тестирования</a:t>
            </a:r>
            <a:r>
              <a:rPr lang="en-US" sz="2200" dirty="0" smtClean="0"/>
              <a:t> </a:t>
            </a:r>
            <a:endParaRPr lang="ru-RU" sz="2200" dirty="0" smtClean="0"/>
          </a:p>
          <a:p>
            <a:pPr marL="646113" lvl="2" indent="-231775">
              <a:spcBef>
                <a:spcPts val="400"/>
              </a:spcBef>
              <a:buFont typeface="Arial" pitchFamily="34" charset="0"/>
              <a:buChar char="•"/>
            </a:pPr>
            <a:r>
              <a:rPr lang="ru-RU" sz="2200" dirty="0" smtClean="0"/>
              <a:t>Внутренние правила структурирования кода</a:t>
            </a:r>
          </a:p>
          <a:p>
            <a:pPr marL="646113" lvl="2" indent="-231775">
              <a:spcBef>
                <a:spcPts val="400"/>
              </a:spcBef>
              <a:buFont typeface="Arial" pitchFamily="34" charset="0"/>
              <a:buChar char="•"/>
            </a:pPr>
            <a:r>
              <a:rPr lang="ru-RU" sz="2200" dirty="0" smtClean="0"/>
              <a:t>Документация и коммуникация</a:t>
            </a:r>
            <a:r>
              <a:rPr lang="en-US" sz="2200" dirty="0" smtClean="0"/>
              <a:t>: email, wiki, </a:t>
            </a:r>
            <a:r>
              <a:rPr lang="ru-RU" sz="2200" dirty="0" smtClean="0"/>
              <a:t>презентации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4000" dirty="0" smtClean="0"/>
              <a:t>Цели и задачи курса</a:t>
            </a:r>
            <a:r>
              <a:rPr lang="en-US" sz="4000" dirty="0" smtClean="0"/>
              <a:t> </a:t>
            </a:r>
            <a:r>
              <a:rPr lang="en-US" sz="3600" dirty="0" smtClean="0"/>
              <a:t>(2)</a:t>
            </a:r>
            <a:endParaRPr lang="ru-R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379539"/>
            <a:ext cx="8228012" cy="4116512"/>
          </a:xfrm>
        </p:spPr>
        <p:txBody>
          <a:bodyPr>
            <a:spAutoFit/>
          </a:bodyPr>
          <a:lstStyle/>
          <a:p>
            <a:pPr marL="231775" indent="-231775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600" dirty="0" smtClean="0"/>
              <a:t>MIPT-MIPS – </a:t>
            </a:r>
            <a:r>
              <a:rPr lang="ru-RU" sz="2600" dirty="0" smtClean="0"/>
              <a:t>это </a:t>
            </a:r>
            <a:r>
              <a:rPr lang="ru-RU" sz="2600" dirty="0" smtClean="0">
                <a:solidFill>
                  <a:srgbClr val="0070C0"/>
                </a:solidFill>
              </a:rPr>
              <a:t>подготовка студентов к работе</a:t>
            </a:r>
            <a:r>
              <a:rPr lang="ru-RU" sz="2600" dirty="0" smtClean="0"/>
              <a:t> в реальных проектах компании </a:t>
            </a:r>
            <a:r>
              <a:rPr lang="en-US" sz="2600" dirty="0" smtClean="0"/>
              <a:t>Intel</a:t>
            </a:r>
          </a:p>
          <a:p>
            <a:pPr marL="231775" indent="-231775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600" dirty="0" smtClean="0"/>
              <a:t>Как попасть в </a:t>
            </a:r>
            <a:r>
              <a:rPr lang="en-US" sz="2600" dirty="0" smtClean="0"/>
              <a:t>Intel?</a:t>
            </a:r>
          </a:p>
          <a:p>
            <a:pPr marL="914400" lvl="1" indent="-514350"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Курс </a:t>
            </a:r>
            <a:r>
              <a:rPr lang="en-US" dirty="0" smtClean="0"/>
              <a:t>MIPT-MIPS (</a:t>
            </a:r>
            <a:r>
              <a:rPr lang="ru-RU" dirty="0" smtClean="0"/>
              <a:t>или другой курс лаборатории </a:t>
            </a:r>
            <a:r>
              <a:rPr lang="en-US" dirty="0" smtClean="0"/>
              <a:t>Intel)</a:t>
            </a:r>
          </a:p>
          <a:p>
            <a:pPr marL="914400" lvl="1" indent="-514350"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Кафедра </a:t>
            </a:r>
            <a:r>
              <a:rPr lang="ru-RU" dirty="0"/>
              <a:t>«</a:t>
            </a:r>
            <a:r>
              <a:rPr lang="ru-RU" dirty="0" smtClean="0"/>
              <a:t>Микропроцессорны</a:t>
            </a:r>
            <a:r>
              <a:rPr lang="ru-RU" dirty="0"/>
              <a:t>е</a:t>
            </a:r>
            <a:r>
              <a:rPr lang="ru-RU" dirty="0" smtClean="0"/>
              <a:t> </a:t>
            </a:r>
            <a:r>
              <a:rPr lang="ru-RU" dirty="0"/>
              <a:t>технологии»</a:t>
            </a:r>
            <a:r>
              <a:rPr lang="en-US" dirty="0"/>
              <a:t> </a:t>
            </a:r>
            <a:r>
              <a:rPr lang="ru-RU" dirty="0" smtClean="0"/>
              <a:t>ФРТК</a:t>
            </a:r>
          </a:p>
          <a:p>
            <a:pPr marL="914400" lvl="1" indent="-514350"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Успешная стажировка в </a:t>
            </a:r>
            <a:r>
              <a:rPr lang="en-US" dirty="0" smtClean="0"/>
              <a:t>Intel </a:t>
            </a:r>
            <a:r>
              <a:rPr lang="ru-RU" dirty="0" smtClean="0"/>
              <a:t>с 3 по 6 курс</a:t>
            </a:r>
          </a:p>
          <a:p>
            <a:pPr marL="914400" lvl="1" indent="-514350">
              <a:spcBef>
                <a:spcPts val="600"/>
              </a:spcBef>
              <a:buFont typeface="+mj-lt"/>
              <a:buAutoNum type="arabicPeriod"/>
            </a:pPr>
            <a:r>
              <a:rPr lang="ru-RU" dirty="0" smtClean="0"/>
              <a:t>Перевод на должность постоянного сотрудника</a:t>
            </a:r>
            <a:endParaRPr lang="ru-RU" dirty="0"/>
          </a:p>
          <a:p>
            <a:pPr marL="231775" indent="-231775">
              <a:buFont typeface="Arial" pitchFamily="34" charset="0"/>
              <a:buChar char="•"/>
            </a:pPr>
            <a:r>
              <a:rPr lang="ru-RU" sz="2600" dirty="0"/>
              <a:t>У</a:t>
            </a:r>
            <a:r>
              <a:rPr lang="ru-RU" sz="2600" dirty="0" smtClean="0"/>
              <a:t>частие </a:t>
            </a:r>
            <a:r>
              <a:rPr lang="ru-RU" sz="2600" dirty="0"/>
              <a:t>в проекте </a:t>
            </a:r>
            <a:r>
              <a:rPr lang="ru-RU" sz="2600" b="1" dirty="0"/>
              <a:t>не гарантирует </a:t>
            </a:r>
            <a:r>
              <a:rPr lang="ru-RU" sz="2600" dirty="0"/>
              <a:t>поступление на кафедру, однако, серьезно повышает ваши </a:t>
            </a:r>
            <a:r>
              <a:rPr lang="ru-RU" sz="2600" dirty="0" smtClean="0"/>
              <a:t>шансы</a:t>
            </a:r>
            <a:endParaRPr lang="en-US" sz="26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87730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4000" dirty="0" smtClean="0"/>
              <a:t>Мотивация</a:t>
            </a:r>
            <a:endParaRPr lang="ru-R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1775" indent="-231775">
              <a:buFont typeface="Arial" pitchFamily="34" charset="0"/>
              <a:buChar char="•"/>
            </a:pPr>
            <a:r>
              <a:rPr lang="ru-RU" sz="2800" dirty="0" smtClean="0"/>
              <a:t>Для студентов:</a:t>
            </a:r>
          </a:p>
          <a:p>
            <a:pPr marL="623888" lvl="1" indent="-282575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dirty="0" smtClean="0"/>
              <a:t>Самообразование и самоопределение</a:t>
            </a:r>
          </a:p>
          <a:p>
            <a:pPr marL="623888" lvl="1" indent="-282575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dirty="0" smtClean="0"/>
              <a:t>Уникальные знания (отсутствие аналогичных курсов не только в МФТИ, но и в других российских университетах)</a:t>
            </a:r>
          </a:p>
          <a:p>
            <a:pPr marL="623888" lvl="1" indent="-282575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dirty="0" smtClean="0"/>
              <a:t>Поступление на кафедру →</a:t>
            </a:r>
            <a:r>
              <a:rPr lang="en-US" sz="2000" dirty="0" smtClean="0"/>
              <a:t> </a:t>
            </a:r>
            <a:r>
              <a:rPr lang="ru-RU" sz="2000" dirty="0" smtClean="0"/>
              <a:t>стажировка в </a:t>
            </a:r>
            <a:r>
              <a:rPr lang="en-US" sz="2000" dirty="0" smtClean="0"/>
              <a:t>Intel </a:t>
            </a:r>
            <a:r>
              <a:rPr lang="ru-RU" sz="2000" dirty="0" smtClean="0"/>
              <a:t>→</a:t>
            </a:r>
            <a:r>
              <a:rPr lang="en-US" sz="2000" dirty="0" smtClean="0"/>
              <a:t> </a:t>
            </a:r>
            <a:r>
              <a:rPr lang="ru-RU" sz="2000" dirty="0" smtClean="0"/>
              <a:t>работа в </a:t>
            </a:r>
            <a:r>
              <a:rPr lang="en-US" sz="2000" dirty="0" smtClean="0"/>
              <a:t>Intel</a:t>
            </a:r>
            <a:endParaRPr lang="ru-RU" sz="2000" dirty="0" smtClean="0"/>
          </a:p>
          <a:p>
            <a:pPr marL="623888" lvl="1" indent="-282575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dirty="0" smtClean="0"/>
              <a:t>Стипендия (максимальная стипендия </a:t>
            </a:r>
            <a:r>
              <a:rPr lang="en-US" sz="2000" dirty="0" smtClean="0"/>
              <a:t>&gt; 10000</a:t>
            </a:r>
            <a:r>
              <a:rPr lang="ru-RU" sz="2000" dirty="0" smtClean="0"/>
              <a:t> руб. в семестр)</a:t>
            </a:r>
          </a:p>
          <a:p>
            <a:pPr marL="231775" indent="-231775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800" dirty="0" smtClean="0"/>
              <a:t>Для преподавателей:</a:t>
            </a:r>
          </a:p>
          <a:p>
            <a:pPr marL="627063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dirty="0" smtClean="0"/>
              <a:t>Никакой материальной заинтересованности </a:t>
            </a:r>
            <a:r>
              <a:rPr lang="ru-RU" sz="2000" dirty="0" smtClean="0">
                <a:sym typeface="Wingdings" pitchFamily="2" charset="2"/>
              </a:rPr>
              <a:t>(участие в проектах только на волонтерской основе)</a:t>
            </a:r>
          </a:p>
          <a:p>
            <a:pPr marL="627063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dirty="0"/>
              <a:t>Опыт управление проектом</a:t>
            </a:r>
          </a:p>
          <a:p>
            <a:pPr marL="627063" lvl="1" indent="-285750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dirty="0"/>
              <a:t>Обновление и расширение </a:t>
            </a:r>
            <a:r>
              <a:rPr lang="ru-RU" sz="2000" dirty="0" smtClean="0"/>
              <a:t>знаний</a:t>
            </a:r>
            <a:endParaRPr lang="ru-RU" sz="2000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4400" dirty="0" smtClean="0"/>
              <a:t>Практические задания</a:t>
            </a:r>
            <a:endParaRPr lang="ru-RU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3363" indent="-233363">
              <a:buFont typeface="Arial" pitchFamily="34" charset="0"/>
              <a:buChar char="•"/>
            </a:pPr>
            <a:r>
              <a:rPr lang="ru-RU" sz="2800" dirty="0" smtClean="0"/>
              <a:t>Вся разработка ведется на основе </a:t>
            </a:r>
            <a:r>
              <a:rPr lang="en-US" sz="2800" dirty="0" smtClean="0"/>
              <a:t>GitHub</a:t>
            </a:r>
            <a:endParaRPr lang="ru-RU" sz="2800" dirty="0" smtClean="0"/>
          </a:p>
          <a:p>
            <a:pPr marL="419101" lvl="1" indent="-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/>
              <a:t>GitHub </a:t>
            </a:r>
            <a:r>
              <a:rPr lang="ru-RU" dirty="0" smtClean="0"/>
              <a:t>включает в себя полный спектр необходимых инструментов: </a:t>
            </a:r>
            <a:r>
              <a:rPr lang="ru-RU" sz="2000" dirty="0" smtClean="0"/>
              <a:t>контроль версий, хранилище данных, контроль задач, </a:t>
            </a:r>
            <a:r>
              <a:rPr lang="en-US" sz="2000" dirty="0" smtClean="0"/>
              <a:t>wiki </a:t>
            </a:r>
            <a:r>
              <a:rPr lang="ru-RU" sz="2000" dirty="0" smtClean="0"/>
              <a:t>и т.д.</a:t>
            </a:r>
            <a:endParaRPr lang="ru-RU" dirty="0" smtClean="0"/>
          </a:p>
          <a:p>
            <a:pPr marL="233363" indent="-233363">
              <a:buFont typeface="Arial" pitchFamily="34" charset="0"/>
              <a:buChar char="•"/>
            </a:pPr>
            <a:r>
              <a:rPr lang="ru-RU" sz="2800" dirty="0" smtClean="0"/>
              <a:t>Индивидуальные задания для студентов</a:t>
            </a:r>
          </a:p>
          <a:p>
            <a:pPr marL="419101" lvl="1" indent="-233363">
              <a:spcBef>
                <a:spcPts val="600"/>
              </a:spcBef>
              <a:buFont typeface="Arial" pitchFamily="34" charset="0"/>
              <a:buChar char="•"/>
            </a:pPr>
            <a:r>
              <a:rPr lang="ru-RU" dirty="0" smtClean="0"/>
              <a:t>Задачи выполняются самостоятельно, вне семинаров</a:t>
            </a:r>
          </a:p>
          <a:p>
            <a:pPr marL="419101" lvl="1" indent="-233363">
              <a:spcBef>
                <a:spcPts val="600"/>
              </a:spcBef>
              <a:buFont typeface="Arial" pitchFamily="34" charset="0"/>
              <a:buChar char="•"/>
            </a:pPr>
            <a:r>
              <a:rPr lang="ru-RU" dirty="0" smtClean="0"/>
              <a:t>Консультации по задачам проводятся по почте, по телефону, после семинаров</a:t>
            </a:r>
          </a:p>
          <a:p>
            <a:pPr marL="419101" lvl="1" indent="-233363">
              <a:spcBef>
                <a:spcPts val="600"/>
              </a:spcBef>
              <a:buFont typeface="Arial" pitchFamily="34" charset="0"/>
              <a:buChar char="•"/>
            </a:pPr>
            <a:r>
              <a:rPr lang="ru-RU" dirty="0" smtClean="0"/>
              <a:t>Большинство задач напрямую связаны с микроархитектурой</a:t>
            </a:r>
          </a:p>
          <a:p>
            <a:pPr marL="419101" lvl="1" indent="-233363">
              <a:spcBef>
                <a:spcPts val="600"/>
              </a:spcBef>
              <a:buFont typeface="Arial" pitchFamily="34" charset="0"/>
              <a:buChar char="•"/>
            </a:pPr>
            <a:r>
              <a:rPr lang="ru-RU" dirty="0" smtClean="0"/>
              <a:t>Задачи отслеживаются через систему контроля задач</a:t>
            </a:r>
            <a:endParaRPr lang="en-US" dirty="0" smtClean="0"/>
          </a:p>
          <a:p>
            <a:pPr marL="419101" lvl="1" indent="-233363">
              <a:spcBef>
                <a:spcPts val="600"/>
              </a:spcBef>
              <a:buFont typeface="Arial" pitchFamily="34" charset="0"/>
              <a:buChar char="•"/>
            </a:pPr>
            <a:r>
              <a:rPr lang="ru-RU" dirty="0" smtClean="0"/>
              <a:t>За каждую выполненную задачу начисляются баллы</a:t>
            </a:r>
          </a:p>
          <a:p>
            <a:pPr marL="419101" lvl="1" indent="-233363">
              <a:buFont typeface="Arial" pitchFamily="34" charset="0"/>
              <a:buChar char="•"/>
            </a:pPr>
            <a:endParaRPr lang="ru-RU" dirty="0" smtClean="0"/>
          </a:p>
          <a:p>
            <a:pPr marL="419101" lvl="1" indent="-233363">
              <a:buFont typeface="Arial" pitchFamily="34" charset="0"/>
              <a:buChar char="•"/>
            </a:pP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74501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sz="3600" dirty="0" smtClean="0"/>
              <a:t>Теоретические занятия</a:t>
            </a:r>
            <a:endParaRPr lang="ru-R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Теоретические </a:t>
            </a:r>
            <a:r>
              <a:rPr lang="ru-RU" dirty="0"/>
              <a:t>с</a:t>
            </a:r>
            <a:r>
              <a:rPr lang="ru-RU" dirty="0" smtClean="0"/>
              <a:t>еминары</a:t>
            </a:r>
          </a:p>
          <a:p>
            <a:pPr marL="457200" lvl="1" indent="-287338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/>
              <a:t>Время:  </a:t>
            </a:r>
            <a:r>
              <a:rPr lang="ru-RU" sz="2000" dirty="0" smtClean="0"/>
              <a:t>по пятницам с 18:30 – 19:00,  длительностью до 1.5 часов</a:t>
            </a:r>
          </a:p>
          <a:p>
            <a:pPr marL="457200" lvl="1" indent="-287338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/>
              <a:t>Место: </a:t>
            </a:r>
            <a:r>
              <a:rPr lang="ru-RU" sz="2000" dirty="0" smtClean="0"/>
              <a:t>108 РТ</a:t>
            </a:r>
          </a:p>
          <a:p>
            <a:pPr marL="457200" lvl="1" indent="-287338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/>
              <a:t>Язык: </a:t>
            </a:r>
            <a:r>
              <a:rPr lang="ru-RU" sz="2000" dirty="0" smtClean="0"/>
              <a:t>текст презентаций – английский, материал читается на русском</a:t>
            </a:r>
          </a:p>
          <a:p>
            <a:pPr marL="457200" lvl="1" indent="-287338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/>
              <a:t>Тематика: </a:t>
            </a:r>
            <a:r>
              <a:rPr lang="ru-RU" sz="2000" dirty="0" smtClean="0"/>
              <a:t>общее устройство микропроцессорных систем</a:t>
            </a:r>
          </a:p>
          <a:p>
            <a:pPr marL="271462" indent="-287338">
              <a:spcBef>
                <a:spcPts val="1200"/>
              </a:spcBef>
              <a:buFont typeface="Arial" pitchFamily="34" charset="0"/>
              <a:buChar char="•"/>
            </a:pPr>
            <a:r>
              <a:rPr lang="ru-RU" dirty="0" smtClean="0"/>
              <a:t>Контроль успеваемости (тестирование)</a:t>
            </a:r>
          </a:p>
          <a:p>
            <a:pPr marL="457200" lvl="1" indent="-287338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/>
              <a:t>Когда: </a:t>
            </a:r>
            <a:r>
              <a:rPr lang="ru-RU" sz="1800" dirty="0" smtClean="0"/>
              <a:t>примерно каждые полтора-два месяца</a:t>
            </a:r>
          </a:p>
          <a:p>
            <a:pPr marL="457200" lvl="1" indent="-287338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/>
              <a:t>Тематика:</a:t>
            </a:r>
            <a:r>
              <a:rPr lang="ru-RU" sz="1800" b="1" dirty="0" smtClean="0"/>
              <a:t>  </a:t>
            </a:r>
            <a:r>
              <a:rPr lang="ru-RU" sz="1800" dirty="0" smtClean="0"/>
              <a:t>весь пройденный материал за указанный период (как практическая, так и теоретическая часть)</a:t>
            </a:r>
          </a:p>
          <a:p>
            <a:pPr marL="457200" lvl="1" indent="-287338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/>
              <a:t>Структура:</a:t>
            </a:r>
            <a:r>
              <a:rPr lang="ru-RU" sz="1800" b="1" dirty="0" smtClean="0"/>
              <a:t> </a:t>
            </a:r>
            <a:r>
              <a:rPr lang="ru-RU" sz="1800" dirty="0" smtClean="0"/>
              <a:t>тестовые вопросы и развернутые ответы</a:t>
            </a:r>
          </a:p>
          <a:p>
            <a:pPr marL="457200" lvl="1" indent="-287338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 smtClean="0"/>
              <a:t>Длительность:</a:t>
            </a:r>
            <a:r>
              <a:rPr lang="ru-RU" sz="1800" b="1" dirty="0" smtClean="0"/>
              <a:t> </a:t>
            </a:r>
            <a:r>
              <a:rPr lang="ru-RU" sz="1800" dirty="0" smtClean="0"/>
              <a:t>одно занятие</a:t>
            </a:r>
            <a:endParaRPr lang="ru-RU" sz="2000" dirty="0" smtClean="0"/>
          </a:p>
          <a:p>
            <a:pPr lvl="1" indent="233363">
              <a:buFont typeface="Arial" pitchFamily="34" charset="0"/>
              <a:buChar char="•"/>
            </a:pPr>
            <a:endParaRPr lang="ru-RU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smtClean="0"/>
              <a:t>Критерии оценки </a:t>
            </a:r>
            <a:r>
              <a:rPr lang="ru-RU" sz="4000" u="sng" dirty="0" smtClean="0"/>
              <a:t>студента</a:t>
            </a:r>
            <a:endParaRPr lang="ru-RU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1775" indent="-231775">
              <a:buFont typeface="Arial" pitchFamily="34" charset="0"/>
              <a:buChar char="•"/>
            </a:pPr>
            <a:r>
              <a:rPr lang="ru-RU" sz="2000" dirty="0" smtClean="0"/>
              <a:t>Формула расчета рейтинга успеваемости:</a:t>
            </a:r>
            <a:endParaRPr lang="ru-RU" sz="2000" dirty="0"/>
          </a:p>
          <a:p>
            <a:endParaRPr lang="ru-RU" sz="400" dirty="0" smtClean="0"/>
          </a:p>
          <a:p>
            <a:pPr marL="233363" lvl="2" indent="-1588">
              <a:buNone/>
            </a:pPr>
            <a:r>
              <a:rPr lang="ru-RU" dirty="0" smtClean="0"/>
              <a:t>Посещаемость (20%)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Результаты тестирования (30%)</a:t>
            </a:r>
            <a:br>
              <a:rPr lang="ru-RU" dirty="0" smtClean="0"/>
            </a:br>
            <a:r>
              <a:rPr lang="ru-RU" dirty="0" smtClean="0"/>
              <a:t>Практическая работа (50%)</a:t>
            </a:r>
          </a:p>
          <a:p>
            <a:pPr marL="233363" lvl="2" indent="-1588" algn="ctr">
              <a:buNone/>
            </a:pPr>
            <a:endParaRPr lang="ru-RU" sz="1200" dirty="0" smtClean="0"/>
          </a:p>
          <a:p>
            <a:pPr marL="231775" lvl="1" indent="-228600"/>
            <a:r>
              <a:rPr lang="ru-RU" sz="2000" dirty="0" smtClean="0"/>
              <a:t>При поступлении на кафедру используются те же критерии, плюс добавляется «общее впечатление»: </a:t>
            </a:r>
            <a:r>
              <a:rPr lang="ru-RU" sz="2000" dirty="0" smtClean="0">
                <a:solidFill>
                  <a:schemeClr val="tx2">
                    <a:lumMod val="75000"/>
                  </a:schemeClr>
                </a:solidFill>
              </a:rPr>
              <a:t>мотивированность, аккуратность, исполнительность, креативность и т.д.</a:t>
            </a:r>
          </a:p>
          <a:p>
            <a:pPr marL="231775" lvl="1" indent="-228600"/>
            <a:r>
              <a:rPr lang="ru-RU" sz="2000" dirty="0" smtClean="0"/>
              <a:t>Преподаватель не решает, какие студенты будут взяты на кафедру (стажировку). Финальное решение принимает менеджер компании.</a:t>
            </a:r>
          </a:p>
          <a:p>
            <a:pPr marL="231775" lvl="1" indent="-228600"/>
            <a:r>
              <a:rPr lang="ru-RU" sz="2000" dirty="0" smtClean="0"/>
              <a:t>Обучение на проекте не гарантирует поступления на кафедру!</a:t>
            </a:r>
            <a:endParaRPr lang="ru-RU" sz="2000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Дисциплина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379539"/>
            <a:ext cx="8228012" cy="4235449"/>
          </a:xfrm>
        </p:spPr>
        <p:txBody>
          <a:bodyPr/>
          <a:lstStyle/>
          <a:p>
            <a:pPr marL="233363" indent="-233363">
              <a:buFont typeface="Arial" pitchFamily="34" charset="0"/>
              <a:buChar char="•"/>
            </a:pPr>
            <a:r>
              <a:rPr lang="ru-RU" sz="2000" dirty="0" smtClean="0"/>
              <a:t>Пропуск занятия возможен, но крайне нежелателен.</a:t>
            </a:r>
          </a:p>
          <a:p>
            <a:pPr marL="647701" lvl="2" indent="-233363">
              <a:buFont typeface="Arial" pitchFamily="34" charset="0"/>
              <a:buChar char="•"/>
            </a:pPr>
            <a:r>
              <a:rPr lang="ru-RU" sz="1800" dirty="0" smtClean="0"/>
              <a:t>О пропуске лучше предупреждать за несколько дней.</a:t>
            </a:r>
          </a:p>
          <a:p>
            <a:pPr marL="233363" indent="-233363">
              <a:buFont typeface="Arial" pitchFamily="34" charset="0"/>
              <a:buChar char="•"/>
            </a:pPr>
            <a:r>
              <a:rPr lang="ru-RU" sz="2000" dirty="0" smtClean="0"/>
              <a:t>Не забывайте проверять почту!</a:t>
            </a:r>
          </a:p>
          <a:p>
            <a:pPr marL="647701" lvl="2" indent="-233363">
              <a:buFont typeface="Arial" pitchFamily="34" charset="0"/>
              <a:buChar char="•"/>
            </a:pPr>
            <a:r>
              <a:rPr lang="ru-RU" sz="1800" dirty="0" smtClean="0"/>
              <a:t>Предполагается, что вы проверяете почту хотя бы раз в сутки.</a:t>
            </a:r>
          </a:p>
          <a:p>
            <a:pPr marL="647701" lvl="2" indent="-233363">
              <a:buFont typeface="Arial" pitchFamily="34" charset="0"/>
              <a:buChar char="•"/>
            </a:pPr>
            <a:r>
              <a:rPr lang="ru-RU" sz="1800" dirty="0" smtClean="0"/>
              <a:t>На письма, которые требуют какого-то действия, лучше отвечать сразу. </a:t>
            </a:r>
          </a:p>
          <a:p>
            <a:pPr marL="647701" lvl="2" indent="-233363">
              <a:buFont typeface="Arial" pitchFamily="34" charset="0"/>
              <a:buChar char="•"/>
            </a:pPr>
            <a:r>
              <a:rPr lang="ru-RU" sz="1800" dirty="0" smtClean="0"/>
              <a:t>Если вы не можете сделать то, что от вас требуется сразу, то просто напишите, когда вы будите готовы начать эту задачу.</a:t>
            </a:r>
          </a:p>
          <a:p>
            <a:pPr marL="233363" indent="-233363">
              <a:buFont typeface="Arial" pitchFamily="34" charset="0"/>
              <a:buChar char="•"/>
            </a:pPr>
            <a:r>
              <a:rPr lang="ru-RU" sz="2000" dirty="0" smtClean="0"/>
              <a:t>Соблюдайте внутренние правила работы</a:t>
            </a:r>
          </a:p>
          <a:p>
            <a:pPr marL="647701" lvl="2" indent="-233363">
              <a:buFont typeface="Arial" pitchFamily="34" charset="0"/>
              <a:buChar char="•"/>
            </a:pPr>
            <a:r>
              <a:rPr lang="ru-RU" sz="1800" dirty="0" smtClean="0"/>
              <a:t>Делайте все правильно с первого раза, а не ждите пока вас поправят.</a:t>
            </a:r>
          </a:p>
          <a:p>
            <a:pPr marL="233363" indent="-233363">
              <a:buFont typeface="Arial" pitchFamily="34" charset="0"/>
              <a:buChar char="•"/>
            </a:pPr>
            <a:r>
              <a:rPr lang="ru-RU" sz="2000" dirty="0" smtClean="0"/>
              <a:t>Все эти правила не относятся к преподавателям </a:t>
            </a:r>
            <a:r>
              <a:rPr lang="ru-RU" sz="2000" dirty="0" smtClean="0">
                <a:sym typeface="Wingdings" pitchFamily="2" charset="2"/>
              </a:rPr>
              <a:t></a:t>
            </a:r>
          </a:p>
          <a:p>
            <a:pPr marL="647701" lvl="2" indent="-233363">
              <a:buFont typeface="Arial" pitchFamily="34" charset="0"/>
              <a:buChar char="•"/>
            </a:pPr>
            <a:r>
              <a:rPr lang="ru-RU" sz="1800" dirty="0" smtClean="0">
                <a:sym typeface="Wingdings" pitchFamily="2" charset="2"/>
              </a:rPr>
              <a:t>Отнеситесь к этом с пониманием: вас много, а нас мало</a:t>
            </a:r>
            <a:endParaRPr lang="ru-RU" sz="1800" dirty="0" smtClean="0"/>
          </a:p>
          <a:p>
            <a:pPr marL="647701" lvl="2" indent="-233363">
              <a:buFont typeface="Arial" pitchFamily="34" charset="0"/>
              <a:buChar char="•"/>
            </a:pPr>
            <a:endParaRPr lang="ru-RU" sz="1800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simulator?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93037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Why do we need to make CPU simulator?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Before providing a new CPU to customers, we need to ensure that it: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doesn’t contain functional errors;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shows stable required performance and power consumption.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Fixing an error in chip is very expensive. We need to have instruments to find errors and make experiments </a:t>
            </a:r>
            <a:r>
              <a:rPr lang="en-US" sz="2000" i="1" dirty="0" smtClean="0"/>
              <a:t>before </a:t>
            </a:r>
            <a:r>
              <a:rPr lang="en-US" sz="2000" dirty="0" smtClean="0"/>
              <a:t>production.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These instruments are simulators.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We’re going to talk about </a:t>
            </a:r>
            <a:r>
              <a:rPr lang="en-US" sz="2000" i="1" dirty="0" smtClean="0"/>
              <a:t>software-based</a:t>
            </a:r>
            <a:r>
              <a:rPr lang="en-US" sz="2000" dirty="0" smtClean="0"/>
              <a:t> simulators.</a:t>
            </a:r>
          </a:p>
          <a:p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7901367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dirty="0" smtClean="0"/>
              <a:t>Types of CPU simulators</a:t>
            </a:r>
            <a:endParaRPr lang="ru-RU" dirty="0"/>
          </a:p>
        </p:txBody>
      </p:sp>
      <p:sp>
        <p:nvSpPr>
          <p:cNvPr id="18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Functional simulator:</a:t>
            </a:r>
            <a:endParaRPr lang="en-US" dirty="0"/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/>
              <a:t>e</a:t>
            </a:r>
            <a:r>
              <a:rPr lang="en-US" dirty="0" smtClean="0"/>
              <a:t>mulates behavior of CPU as it seen from programmer;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doesn’t emulate internal structure of CPU: caches, pipelines etc.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therefore, cannot show performance of CPU.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is written on “classic” programming language — C, C++, Java, Python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Performance simulator: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/>
              <a:t>u</a:t>
            </a:r>
            <a:r>
              <a:rPr lang="en-US" dirty="0" smtClean="0"/>
              <a:t>sually based on functional simulator (feeder);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emulates internal structure of CPU as much as it required for performance analysis;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emulates internal states of CPU clock by clock;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doesn’t emulate hardware with 100% precision, some “hacks” are OK;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is written on “classic” programming language with higher requirements on performance (so it’s usually C++).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RTL simulator: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is very close to the real chip;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is written on Hardware Description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anguage (HDL): VHDL, Verilog, 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</a:rPr>
              <a:t>SystemVerilog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can be run on computer, synthesized on FPGA, or printed to chip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903061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04541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Basics of Simulator </a:t>
            </a:r>
            <a:r>
              <a:rPr lang="en-US" sz="3200" dirty="0" smtClean="0"/>
              <a:t>Development in Team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Software </a:t>
            </a:r>
            <a:r>
              <a:rPr lang="en-US" sz="2000" dirty="0"/>
              <a:t>s</a:t>
            </a:r>
            <a:r>
              <a:rPr lang="en-US" sz="2000" dirty="0" smtClean="0"/>
              <a:t>imulator of modern CPU is a complicated program.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One or two persons cannot keep in mind all modules of CPU — development of simulator is </a:t>
            </a:r>
            <a:r>
              <a:rPr lang="en-US" sz="2000" i="1" dirty="0" smtClean="0"/>
              <a:t>team</a:t>
            </a:r>
            <a:r>
              <a:rPr lang="en-US" sz="2000" dirty="0" smtClean="0"/>
              <a:t> 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Team work can be assisted by many software tools.</a:t>
            </a:r>
            <a:br>
              <a:rPr lang="en-US" sz="2000" dirty="0" smtClean="0"/>
            </a:br>
            <a:r>
              <a:rPr lang="en-US" sz="2000" dirty="0" smtClean="0"/>
              <a:t>It’s better to know how to use them right.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835361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E-mail </a:t>
            </a:r>
            <a:r>
              <a:rPr lang="en-US" dirty="0" smtClean="0"/>
              <a:t>address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379539"/>
            <a:ext cx="8228012" cy="3077766"/>
          </a:xfrm>
        </p:spPr>
        <p:txBody>
          <a:bodyPr wrap="square">
            <a:spAutoFit/>
          </a:bodyPr>
          <a:lstStyle/>
          <a:p>
            <a:pPr marL="231775" indent="-231775">
              <a:buFont typeface="Arial" pitchFamily="34" charset="0"/>
              <a:buChar char="•"/>
            </a:pPr>
            <a:r>
              <a:rPr lang="en-US" sz="2000" dirty="0" smtClean="0"/>
              <a:t>Good e-mail address is useful. It can be easily spelled verbally or by phone. If it is written, chance of mistake become less.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dirty="0" smtClean="0"/>
              <a:t>Unreadable e-mail address may create unnecessary preconceptions.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dirty="0" smtClean="0"/>
              <a:t>You can always understand, who is sender or receiver of e-mail without lookups to address book.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dirty="0" smtClean="0"/>
              <a:t>It’s easy to set up mail redirection from your old address.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b="1" dirty="0" smtClean="0"/>
              <a:t>Same thing for GitHub account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24605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E-mail basics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1775" indent="-231775">
              <a:buFont typeface="Arial" pitchFamily="34" charset="0"/>
              <a:buChar char="•"/>
            </a:pPr>
            <a:r>
              <a:rPr lang="en-US" sz="1800" dirty="0" smtClean="0"/>
              <a:t>Make </a:t>
            </a:r>
            <a:r>
              <a:rPr lang="en-US" sz="1800" b="1" dirty="0" smtClean="0"/>
              <a:t>‘Reply All’ </a:t>
            </a:r>
            <a:r>
              <a:rPr lang="en-US" sz="1800" dirty="0" smtClean="0"/>
              <a:t>instead of </a:t>
            </a:r>
            <a:r>
              <a:rPr lang="en-US" sz="1800" b="1" dirty="0" smtClean="0"/>
              <a:t>‘Reply’</a:t>
            </a:r>
            <a:r>
              <a:rPr lang="en-US" sz="1800" b="1" dirty="0"/>
              <a:t> </a:t>
            </a:r>
            <a:r>
              <a:rPr lang="en-US" sz="1800" dirty="0" smtClean="0"/>
              <a:t>if it is necessary. Previous participants of conversations will be added to CC list, so they will be in the know.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1800" dirty="0" smtClean="0"/>
              <a:t>Do not use ‘Reply All’ if you started to discuss something private. Others usually do not want to listen your conversation</a:t>
            </a:r>
            <a:r>
              <a:rPr lang="en-US" sz="1800" dirty="0"/>
              <a:t>. </a:t>
            </a:r>
            <a:endParaRPr lang="en-US" sz="1800" dirty="0" smtClean="0"/>
          </a:p>
          <a:p>
            <a:pPr marL="231775" indent="-231775">
              <a:buFont typeface="Arial" pitchFamily="34" charset="0"/>
              <a:buChar char="•"/>
            </a:pPr>
            <a:r>
              <a:rPr lang="en-US" sz="1800" dirty="0" smtClean="0"/>
              <a:t>In </a:t>
            </a:r>
            <a:r>
              <a:rPr lang="en-US" sz="1800" dirty="0"/>
              <a:t>short, always look at ‘To:’ and ‘Cc:’ fields of your message</a:t>
            </a:r>
            <a:r>
              <a:rPr lang="en-US" sz="1800" dirty="0" smtClean="0"/>
              <a:t>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1800" dirty="0" smtClean="0"/>
              <a:t>Never use local language prefixes instead of ‘RE’ and ‘FW’.</a:t>
            </a:r>
            <a:endParaRPr lang="en-US" sz="1800" dirty="0"/>
          </a:p>
          <a:p>
            <a:pPr marL="231775" indent="-231775">
              <a:buFont typeface="Arial" pitchFamily="34" charset="0"/>
              <a:buChar char="•"/>
            </a:pPr>
            <a:r>
              <a:rPr lang="en-US" sz="1800" dirty="0" smtClean="0"/>
              <a:t>Never change topic on reply! Such letters are difficult for classification by people and mail clients.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1800" dirty="0" smtClean="0"/>
              <a:t>Do not create silly topics to message (e. g. ‘hello’ or ‘patch’). Try to explain what is in the message, respect the recipient!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1800" dirty="0" smtClean="0"/>
              <a:t>If your message consist only of topic, add ‘&lt;</a:t>
            </a:r>
            <a:r>
              <a:rPr lang="en-US" sz="1800" dirty="0" err="1" smtClean="0"/>
              <a:t>eom</a:t>
            </a:r>
            <a:r>
              <a:rPr lang="en-US" sz="1800" dirty="0" smtClean="0"/>
              <a:t>&gt;’ in the end of message. Recipient won’t spend time on downloading message.</a:t>
            </a:r>
          </a:p>
          <a:p>
            <a:pPr marL="231775" indent="-231775">
              <a:buFont typeface="Arial" pitchFamily="34" charset="0"/>
              <a:buChar char="•"/>
            </a:pPr>
            <a:endParaRPr lang="en-US" sz="20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3248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Google-groups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1775" indent="-231775">
              <a:buFont typeface="Arial" pitchFamily="34" charset="0"/>
              <a:buChar char="•"/>
            </a:pPr>
            <a:r>
              <a:rPr lang="en-US" sz="2000" dirty="0" smtClean="0"/>
              <a:t>Google group is, firstly, a special e-mail address. When you send a message on this address, it is received by all subscribers.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dirty="0" smtClean="0"/>
              <a:t>You can view groups through </a:t>
            </a:r>
            <a:r>
              <a:rPr lang="en-US" sz="2000" dirty="0"/>
              <a:t>web interface: </a:t>
            </a:r>
            <a:r>
              <a:rPr lang="en-US" sz="2000" dirty="0">
                <a:solidFill>
                  <a:schemeClr val="accent1"/>
                </a:solidFill>
                <a:hlinkClick r:id="rId3"/>
              </a:rPr>
              <a:t>https://</a:t>
            </a:r>
            <a:r>
              <a:rPr lang="en-US" sz="2000" dirty="0" smtClean="0">
                <a:solidFill>
                  <a:schemeClr val="accent1"/>
                </a:solidFill>
                <a:hlinkClick r:id="rId3"/>
              </a:rPr>
              <a:t>groups.google.com/</a:t>
            </a:r>
            <a:endParaRPr lang="en-US" sz="2000" dirty="0" smtClean="0">
              <a:solidFill>
                <a:schemeClr val="accent1"/>
              </a:solidFill>
            </a:endParaRPr>
          </a:p>
          <a:p>
            <a:pPr marL="231775" indent="-231775">
              <a:buFont typeface="Arial" pitchFamily="34" charset="0"/>
              <a:buChar char="•"/>
            </a:pPr>
            <a:r>
              <a:rPr lang="en-US" sz="2000" dirty="0" smtClean="0"/>
              <a:t>Always check presence</a:t>
            </a:r>
            <a:r>
              <a:rPr lang="ru-RU" sz="2000" dirty="0" smtClean="0"/>
              <a:t>/</a:t>
            </a:r>
            <a:r>
              <a:rPr lang="en-US" sz="2000" dirty="0" smtClean="0"/>
              <a:t>absence of </a:t>
            </a:r>
            <a:r>
              <a:rPr lang="en-US" sz="2000" dirty="0"/>
              <a:t>G</a:t>
            </a:r>
            <a:r>
              <a:rPr lang="en-US" sz="2000" dirty="0" smtClean="0"/>
              <a:t>oogle-group e-mail address in ‘To:’ field!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dirty="0" smtClean="0"/>
              <a:t>Remember, we use only English language in our conversation.</a:t>
            </a:r>
          </a:p>
          <a:p>
            <a:pPr marL="231775" indent="-231775">
              <a:buFont typeface="Arial" pitchFamily="34" charset="0"/>
              <a:buChar char="•"/>
            </a:pPr>
            <a:endParaRPr lang="en-US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28584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C++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6870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Teach Yourself C++</a:t>
            </a:r>
            <a:endParaRPr lang="ru-R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We are </a:t>
            </a:r>
            <a:r>
              <a:rPr lang="en-US" sz="2000" dirty="0"/>
              <a:t>asking you to read about </a:t>
            </a:r>
            <a:r>
              <a:rPr lang="en-US" sz="2000" b="1" dirty="0"/>
              <a:t>C++ programming language</a:t>
            </a:r>
            <a:r>
              <a:rPr lang="en-US" sz="2000" dirty="0"/>
              <a:t>. </a:t>
            </a:r>
            <a:r>
              <a:rPr lang="en-US" sz="2000" dirty="0" smtClean="0"/>
              <a:t>This month you need </a:t>
            </a:r>
            <a:r>
              <a:rPr lang="en-US" sz="2000" dirty="0"/>
              <a:t>to read first 2 chapters of </a:t>
            </a:r>
            <a:r>
              <a:rPr lang="en-US" sz="2000" i="1" dirty="0"/>
              <a:t>"Teach yourself C++"</a:t>
            </a:r>
            <a:r>
              <a:rPr lang="en-US" sz="2000" dirty="0"/>
              <a:t> by Herbert </a:t>
            </a:r>
            <a:r>
              <a:rPr lang="en-US" sz="2000" dirty="0" err="1"/>
              <a:t>Shildt</a:t>
            </a:r>
            <a:r>
              <a:rPr lang="en-US" sz="2000" dirty="0"/>
              <a:t>: 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2000" i="1" dirty="0"/>
              <a:t>An overview of C++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2000" i="1" dirty="0"/>
              <a:t>Introducing Classes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Note, that material from this chapters could be included in </a:t>
            </a:r>
            <a:r>
              <a:rPr lang="en-US" sz="2000" dirty="0" smtClean="0"/>
              <a:t>the 1</a:t>
            </a:r>
            <a:r>
              <a:rPr lang="en-US" sz="2000" baseline="30000" dirty="0" smtClean="0"/>
              <a:t>st</a:t>
            </a:r>
            <a:r>
              <a:rPr lang="en-US" sz="2000" dirty="0" smtClean="0"/>
              <a:t> test.</a:t>
            </a:r>
            <a:endParaRPr lang="en-US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2751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style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33363">
              <a:buFont typeface="Arial" pitchFamily="34" charset="0"/>
              <a:buChar char="•"/>
            </a:pPr>
            <a:r>
              <a:rPr lang="en-US" sz="1800" dirty="0" smtClean="0"/>
              <a:t>Everybody has (I hope) its own style of writing code. It can be extremely practical, but what happens when you work in team?</a:t>
            </a:r>
          </a:p>
          <a:p>
            <a:pPr>
              <a:spcBef>
                <a:spcPts val="0"/>
              </a:spcBef>
            </a:pPr>
            <a:endParaRPr lang="en-US" sz="1800" dirty="0" smtClean="0">
              <a:solidFill>
                <a:schemeClr val="accent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(a == b) {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 a!=c)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(c &gt; 0)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{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    x*=*y;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 }</a:t>
            </a:r>
          </a:p>
          <a:p>
            <a:pPr>
              <a:spcBef>
                <a:spcPts val="0"/>
              </a:spcBef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400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{ statement2(); }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1400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statement3();</a:t>
            </a:r>
          </a:p>
          <a:p>
            <a:pPr>
              <a:spcBef>
                <a:spcPts val="0"/>
              </a:spcBef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To avoid horror like this, code style should be unified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Please, </a:t>
            </a:r>
            <a:r>
              <a:rPr lang="en-US" sz="1800" b="1" dirty="0" smtClean="0"/>
              <a:t>follow our code guidelines:</a:t>
            </a:r>
            <a:br>
              <a:rPr lang="en-US" sz="1800" b="1" dirty="0" smtClean="0"/>
            </a:br>
            <a:r>
              <a:rPr lang="en-US" sz="1800" dirty="0" smtClean="0">
                <a:hlinkClick r:id="rId3"/>
              </a:rPr>
              <a:t>https</a:t>
            </a:r>
            <a:r>
              <a:rPr lang="en-US" sz="1800" dirty="0">
                <a:hlinkClick r:id="rId3"/>
              </a:rPr>
              <a:t>://</a:t>
            </a:r>
            <a:r>
              <a:rPr lang="en-US" sz="1800" dirty="0" smtClean="0">
                <a:hlinkClick r:id="rId3"/>
              </a:rPr>
              <a:t>github.com/MIPT-ILab/mipt-mips/wiki/Code-guidelines</a:t>
            </a:r>
            <a:endParaRPr lang="en-US" sz="1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85915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115131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 smtClean="0"/>
              <a:t>One of the way to simplify collaboration between team members is to use </a:t>
            </a:r>
            <a:r>
              <a:rPr lang="en-US" sz="2000" b="1" dirty="0" smtClean="0"/>
              <a:t>Version Control System</a:t>
            </a:r>
            <a:r>
              <a:rPr lang="en-US" sz="2000" dirty="0" smtClean="0"/>
              <a:t> (</a:t>
            </a:r>
            <a:r>
              <a:rPr lang="en-US" sz="2000" b="1" dirty="0" smtClean="0"/>
              <a:t>VCS</a:t>
            </a:r>
            <a:r>
              <a:rPr lang="en-US" sz="2000" dirty="0" smtClean="0"/>
              <a:t>). In our project we use </a:t>
            </a:r>
            <a:r>
              <a:rPr lang="en-US" sz="2000" b="1" dirty="0" smtClean="0"/>
              <a:t>GIT</a:t>
            </a:r>
            <a:r>
              <a:rPr lang="en-US" sz="2000" dirty="0" smtClean="0"/>
              <a:t> – cross-platform distributed VCS.</a:t>
            </a: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 smtClean="0"/>
              <a:t>VCS creates storage which saves all versions of project files. This storage is called ‘</a:t>
            </a:r>
            <a:r>
              <a:rPr lang="en-US" sz="2000" b="1" dirty="0" smtClean="0"/>
              <a:t>repository</a:t>
            </a:r>
            <a:r>
              <a:rPr lang="en-US" sz="2000" dirty="0" smtClean="0"/>
              <a:t>’</a:t>
            </a: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 smtClean="0"/>
              <a:t>Members can download this repository to own computer (‘working directory’), this is called ‘</a:t>
            </a:r>
            <a:r>
              <a:rPr lang="en-US" sz="2000" b="1" dirty="0" smtClean="0"/>
              <a:t>cloning’</a:t>
            </a:r>
            <a:r>
              <a:rPr lang="en-US" sz="2000" dirty="0" smtClean="0"/>
              <a:t>.</a:t>
            </a: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 smtClean="0"/>
              <a:t>Members of team can</a:t>
            </a:r>
            <a:r>
              <a:rPr lang="en-US" sz="2000" b="1" dirty="0"/>
              <a:t> commit </a:t>
            </a:r>
            <a:r>
              <a:rPr lang="en-US" sz="2000" dirty="0" smtClean="0"/>
              <a:t>changes to their local repository, </a:t>
            </a:r>
            <a:r>
              <a:rPr lang="en-US" sz="2000" b="1" dirty="0" smtClean="0"/>
              <a:t>push</a:t>
            </a:r>
            <a:r>
              <a:rPr lang="en-US" sz="2000" dirty="0" smtClean="0"/>
              <a:t> changes to main repo and </a:t>
            </a:r>
            <a:r>
              <a:rPr lang="en-US" sz="2000" b="1" dirty="0" smtClean="0"/>
              <a:t>update </a:t>
            </a:r>
            <a:r>
              <a:rPr lang="en-US" sz="2000" dirty="0" smtClean="0"/>
              <a:t>it by changes of other users.</a:t>
            </a: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 smtClean="0"/>
              <a:t>GIT has special interface if your changes conflict with changes of other people in team (</a:t>
            </a:r>
            <a:r>
              <a:rPr lang="en-US" sz="2000" b="1" dirty="0" smtClean="0"/>
              <a:t>merge-conflict</a:t>
            </a:r>
            <a:r>
              <a:rPr lang="en-US" sz="2000" dirty="0" smtClean="0"/>
              <a:t>).</a:t>
            </a: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/>
              <a:t>Most operations in </a:t>
            </a:r>
            <a:r>
              <a:rPr lang="en-US" sz="2000" dirty="0" err="1"/>
              <a:t>Git</a:t>
            </a:r>
            <a:r>
              <a:rPr lang="en-US" sz="2000" dirty="0"/>
              <a:t> only need local files and resources to </a:t>
            </a:r>
            <a:r>
              <a:rPr lang="en-US" sz="2000" dirty="0" smtClean="0"/>
              <a:t>operate</a:t>
            </a: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 smtClean="0"/>
              <a:t>GIT repository saves </a:t>
            </a:r>
            <a:r>
              <a:rPr lang="en-US" sz="2000" b="1" dirty="0" smtClean="0"/>
              <a:t>all </a:t>
            </a:r>
            <a:r>
              <a:rPr lang="en-US" sz="2000" dirty="0" smtClean="0"/>
              <a:t>committed changes.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87933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workflow</a:t>
            </a:r>
            <a:endParaRPr lang="ru-RU" dirty="0"/>
          </a:p>
        </p:txBody>
      </p:sp>
      <p:sp>
        <p:nvSpPr>
          <p:cNvPr id="14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The basic </a:t>
            </a:r>
            <a:r>
              <a:rPr lang="en-US" sz="2000" dirty="0" err="1"/>
              <a:t>Git</a:t>
            </a:r>
            <a:r>
              <a:rPr lang="en-US" sz="2000" dirty="0"/>
              <a:t> workflow goes something like </a:t>
            </a:r>
            <a:r>
              <a:rPr lang="en-US" sz="2000" dirty="0" smtClean="0"/>
              <a:t>this: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You </a:t>
            </a:r>
            <a:r>
              <a:rPr lang="en-US" sz="2000" b="1" dirty="0"/>
              <a:t>modify</a:t>
            </a:r>
            <a:r>
              <a:rPr lang="en-US" sz="2000" dirty="0"/>
              <a:t> files in your working </a:t>
            </a:r>
            <a:r>
              <a:rPr lang="en-US" sz="2000" dirty="0" smtClean="0"/>
              <a:t>directory.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You </a:t>
            </a:r>
            <a:r>
              <a:rPr lang="en-US" sz="2000" b="1" dirty="0"/>
              <a:t>stage</a:t>
            </a:r>
            <a:r>
              <a:rPr lang="en-US" sz="2000" dirty="0"/>
              <a:t> the files, adding snapshots of them to your staging </a:t>
            </a:r>
            <a:r>
              <a:rPr lang="en-US" sz="2000" dirty="0" smtClean="0"/>
              <a:t>area.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You </a:t>
            </a:r>
            <a:r>
              <a:rPr lang="en-US" sz="2000" dirty="0"/>
              <a:t>do a </a:t>
            </a:r>
            <a:r>
              <a:rPr lang="en-US" sz="2000" b="1" dirty="0"/>
              <a:t>commit</a:t>
            </a:r>
            <a:r>
              <a:rPr lang="en-US" sz="2000" dirty="0"/>
              <a:t>, which takes the files as they are in the staging area and stores that snapshot permanently to your </a:t>
            </a:r>
            <a:r>
              <a:rPr lang="en-US" sz="2000" dirty="0" err="1"/>
              <a:t>Git</a:t>
            </a:r>
            <a:r>
              <a:rPr lang="en-US" sz="2000" dirty="0"/>
              <a:t> directory.</a:t>
            </a:r>
          </a:p>
          <a:p>
            <a:r>
              <a:rPr lang="en-US" sz="2000" dirty="0" smtClean="0"/>
              <a:t> </a:t>
            </a: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1790319"/>
            <a:ext cx="4038600" cy="37155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6760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948" y="3572570"/>
            <a:ext cx="4037845" cy="2631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started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To start using GIT follow </a:t>
            </a:r>
            <a:r>
              <a:rPr lang="en-US" sz="2000" dirty="0"/>
              <a:t>this </a:t>
            </a:r>
            <a:r>
              <a:rPr lang="en-US" sz="2000" dirty="0" smtClean="0"/>
              <a:t>steps: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Read </a:t>
            </a:r>
            <a:r>
              <a:rPr lang="en-US" sz="2000" dirty="0" err="1" smtClean="0"/>
              <a:t>mipt-mips</a:t>
            </a:r>
            <a:r>
              <a:rPr lang="en-US" sz="2000" dirty="0" smtClean="0"/>
              <a:t> </a:t>
            </a:r>
            <a:r>
              <a:rPr lang="en-US" sz="2000" b="1" dirty="0" smtClean="0"/>
              <a:t>wiki</a:t>
            </a:r>
            <a:r>
              <a:rPr lang="en-US" sz="2000" dirty="0"/>
              <a:t>: </a:t>
            </a:r>
            <a:r>
              <a:rPr lang="en-US" sz="2000" dirty="0">
                <a:hlinkClick r:id="rId3"/>
              </a:rPr>
              <a:t>https://</a:t>
            </a:r>
            <a:r>
              <a:rPr lang="en-US" sz="2000" dirty="0" smtClean="0">
                <a:hlinkClick r:id="rId3"/>
              </a:rPr>
              <a:t>github.com/MIPT-ILab/mipt-mips/wiki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Sign </a:t>
            </a:r>
            <a:r>
              <a:rPr lang="en-US" sz="2000" dirty="0"/>
              <a:t>up at GitHub with your </a:t>
            </a:r>
            <a:r>
              <a:rPr lang="en-US" sz="2000" dirty="0">
                <a:hlinkClick r:id="rId4"/>
              </a:rPr>
              <a:t>@</a:t>
            </a:r>
            <a:r>
              <a:rPr lang="en-US" sz="2000" dirty="0" smtClean="0">
                <a:hlinkClick r:id="rId4"/>
              </a:rPr>
              <a:t>phystech.edu </a:t>
            </a:r>
            <a:r>
              <a:rPr lang="en-US" sz="2000" dirty="0"/>
              <a:t>e-mail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Download and install GIT distribution (or GitHub app)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Configure GIT: setup </a:t>
            </a:r>
            <a:r>
              <a:rPr lang="en-US" sz="2000" dirty="0" err="1" smtClean="0"/>
              <a:t>gitconfig</a:t>
            </a:r>
            <a:r>
              <a:rPr lang="en-US" sz="2000" dirty="0" smtClean="0"/>
              <a:t> and RSA keys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Clone </a:t>
            </a:r>
            <a:r>
              <a:rPr lang="en-US" sz="2000" b="1" dirty="0" err="1" smtClean="0"/>
              <a:t>mipt-mips</a:t>
            </a:r>
            <a:r>
              <a:rPr lang="en-US" sz="2000" dirty="0" smtClean="0"/>
              <a:t> repository</a:t>
            </a:r>
          </a:p>
        </p:txBody>
      </p:sp>
    </p:spTree>
    <p:extLst>
      <p:ext uri="{BB962C8B-B14F-4D97-AF65-F5344CB8AC3E}">
        <p14:creationId xmlns:p14="http://schemas.microsoft.com/office/powerpoint/2010/main" val="19437331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- Main commands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1600" dirty="0" smtClean="0"/>
              <a:t>Cloning an existing repository</a:t>
            </a:r>
          </a:p>
          <a:p>
            <a:pPr>
              <a:spcBef>
                <a:spcPts val="1200"/>
              </a:spcBef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clone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  <a:hlinkClick r:id="rId3"/>
              </a:rPr>
              <a:t>git@github.com:MIPT-ILab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  <a:hlinkClick r:id="rId3"/>
              </a:rPr>
              <a:t>/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  <a:hlinkClick r:id="rId3"/>
              </a:rPr>
              <a:t>mipt-mips.git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1600" dirty="0" smtClean="0"/>
              <a:t>Add changes to index</a:t>
            </a:r>
          </a:p>
          <a:p>
            <a:pPr>
              <a:spcBef>
                <a:spcPts val="1200"/>
              </a:spcBef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add &lt;path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1600" dirty="0" smtClean="0"/>
              <a:t>Track repository status</a:t>
            </a:r>
            <a:endParaRPr lang="en-US" sz="1600" dirty="0"/>
          </a:p>
          <a:p>
            <a:pPr>
              <a:spcBef>
                <a:spcPts val="1200"/>
              </a:spcBef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status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1600" dirty="0" smtClean="0"/>
              <a:t>Redo changes</a:t>
            </a:r>
          </a:p>
          <a:p>
            <a:pPr>
              <a:spcBef>
                <a:spcPts val="1200"/>
              </a:spcBef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checkout -- &lt;path&gt;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1600" dirty="0" smtClean="0"/>
              <a:t>Commit changes</a:t>
            </a:r>
            <a:endParaRPr lang="en-US" sz="1600" dirty="0"/>
          </a:p>
          <a:p>
            <a:pPr>
              <a:spcBef>
                <a:spcPts val="1200"/>
              </a:spcBef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commit [-a] -m &lt;message&gt;</a:t>
            </a:r>
          </a:p>
          <a:p>
            <a:pPr indent="233363">
              <a:spcBef>
                <a:spcPts val="1200"/>
              </a:spcBef>
              <a:buFont typeface="Arial" pitchFamily="34" charset="0"/>
              <a:buChar char="•"/>
            </a:pPr>
            <a:r>
              <a:rPr lang="en-US" sz="1600" dirty="0" smtClean="0"/>
              <a:t>Push changes to repository</a:t>
            </a:r>
            <a:endParaRPr lang="en-US" sz="1600" dirty="0"/>
          </a:p>
          <a:p>
            <a:pPr>
              <a:spcBef>
                <a:spcPts val="1200"/>
              </a:spcBef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push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077" y="2274880"/>
            <a:ext cx="4869180" cy="320033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89893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- Patches 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379540"/>
            <a:ext cx="8228012" cy="4185442"/>
          </a:xfrm>
        </p:spPr>
        <p:txBody>
          <a:bodyPr/>
          <a:lstStyle/>
          <a:p>
            <a:pPr indent="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>
                <a:cs typeface="Courier New" pitchFamily="49" charset="0"/>
              </a:rPr>
              <a:t>You can create patch with command</a:t>
            </a:r>
          </a:p>
          <a:p>
            <a:pPr>
              <a:spcBef>
                <a:spcPts val="600"/>
              </a:spcBef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diff &gt;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my.patch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indent="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>
                <a:cs typeface="Courier New" pitchFamily="49" charset="0"/>
              </a:rPr>
              <a:t>…or just look at it with</a:t>
            </a:r>
            <a:endParaRPr lang="en-US" sz="1800" dirty="0"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diff | vim –</a:t>
            </a:r>
          </a:p>
          <a:p>
            <a:pPr indent="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>
                <a:cs typeface="Courier New" pitchFamily="49" charset="0"/>
              </a:rPr>
              <a:t>To apply a patch, run command</a:t>
            </a:r>
            <a:endParaRPr lang="en-US" sz="1800" dirty="0"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it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apply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my.patch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indent="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>
                <a:cs typeface="Courier New" pitchFamily="49" charset="0"/>
              </a:rPr>
              <a:t>You may revert changes using</a:t>
            </a:r>
            <a:endParaRPr lang="en-US" sz="1800" dirty="0"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checkout -- &lt;file&gt;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indent="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>
                <a:cs typeface="Courier New" pitchFamily="49" charset="0"/>
              </a:rPr>
              <a:t>To make your changes visible to others you should </a:t>
            </a:r>
            <a:r>
              <a:rPr lang="en-US" sz="1800" b="1" dirty="0" smtClean="0">
                <a:cs typeface="Courier New" pitchFamily="49" charset="0"/>
              </a:rPr>
              <a:t>push</a:t>
            </a:r>
            <a:r>
              <a:rPr lang="en-US" sz="1800" dirty="0" smtClean="0">
                <a:cs typeface="Courier New" pitchFamily="49" charset="0"/>
              </a:rPr>
              <a:t> them to main repo</a:t>
            </a:r>
          </a:p>
          <a:p>
            <a:pPr>
              <a:spcBef>
                <a:spcPts val="600"/>
              </a:spcBef>
            </a:pP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push</a:t>
            </a:r>
          </a:p>
          <a:p>
            <a:pPr indent="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>
                <a:cs typeface="Courier New" pitchFamily="49" charset="0"/>
              </a:rPr>
              <a:t>To </a:t>
            </a:r>
            <a:r>
              <a:rPr lang="en-US" sz="1800" dirty="0" smtClean="0">
                <a:cs typeface="Courier New" pitchFamily="49" charset="0"/>
              </a:rPr>
              <a:t>receive latest version of repo use</a:t>
            </a:r>
            <a:endParaRPr lang="en-US" sz="1800" dirty="0"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pull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indent="233363">
              <a:spcBef>
                <a:spcPts val="600"/>
              </a:spcBef>
              <a:buFont typeface="Arial" pitchFamily="34" charset="0"/>
              <a:buChar char="•"/>
            </a:pPr>
            <a:r>
              <a:rPr lang="en-US" sz="1800" dirty="0" smtClean="0">
                <a:cs typeface="Courier New" pitchFamily="49" charset="0"/>
              </a:rPr>
              <a:t>If you’ve had some changes before repository’s update </a:t>
            </a:r>
            <a:r>
              <a:rPr lang="en-US" sz="1800" dirty="0">
                <a:cs typeface="Courier New" pitchFamily="49" charset="0"/>
              </a:rPr>
              <a:t>use</a:t>
            </a:r>
          </a:p>
          <a:p>
            <a:pPr>
              <a:spcBef>
                <a:spcPts val="600"/>
              </a:spcBef>
            </a:pP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pull --rebase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39389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- Add and delete files 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33363">
              <a:buFont typeface="Arial" pitchFamily="34" charset="0"/>
              <a:buChar char="•"/>
            </a:pPr>
            <a:r>
              <a:rPr lang="en-US" sz="2000" dirty="0" smtClean="0">
                <a:cs typeface="Courier New" pitchFamily="49" charset="0"/>
              </a:rPr>
              <a:t>If you add new file to working directory, GIT will suggest to add this file, e.g. on commit. If you want to move new file under GIT control use: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add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newfile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indent="233363">
              <a:buFont typeface="Arial" pitchFamily="34" charset="0"/>
              <a:buChar char="•"/>
            </a:pPr>
            <a:r>
              <a:rPr lang="en-US" sz="2000" dirty="0" smtClean="0">
                <a:cs typeface="Courier New" pitchFamily="49" charset="0"/>
              </a:rPr>
              <a:t>The same thing happens with deletion. If you delete some file with ‘</a:t>
            </a:r>
            <a:r>
              <a:rPr lang="en-US" sz="2000" dirty="0" err="1" smtClean="0">
                <a:cs typeface="Courier New" pitchFamily="49" charset="0"/>
              </a:rPr>
              <a:t>rm</a:t>
            </a:r>
            <a:r>
              <a:rPr lang="en-US" sz="2000" dirty="0" smtClean="0">
                <a:cs typeface="Courier New" pitchFamily="49" charset="0"/>
              </a:rPr>
              <a:t>’ command, after next GIT update it will be restored. To delete file from repository, run command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git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rm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oldfile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indent="233363">
              <a:buFont typeface="Arial" pitchFamily="34" charset="0"/>
              <a:buChar char="•"/>
            </a:pPr>
            <a:r>
              <a:rPr lang="en-US" sz="2000" dirty="0" smtClean="0">
                <a:cs typeface="Courier New" pitchFamily="49" charset="0"/>
              </a:rPr>
              <a:t>…and on next your commit file will be deleted.</a:t>
            </a:r>
            <a:endParaRPr lang="en-US" sz="2000" dirty="0"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27760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</a:t>
            </a:r>
            <a:r>
              <a:rPr lang="en-US" dirty="0" err="1" smtClean="0"/>
              <a:t>hometask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33363">
              <a:buFont typeface="Arial" pitchFamily="34" charset="0"/>
              <a:buChar char="•"/>
            </a:pPr>
            <a:r>
              <a:rPr lang="en-US" dirty="0" smtClean="0">
                <a:cs typeface="Courier New" pitchFamily="49" charset="0"/>
              </a:rPr>
              <a:t>Please, start with a tiny exercise with </a:t>
            </a:r>
            <a:r>
              <a:rPr lang="en-US" dirty="0" err="1" smtClean="0">
                <a:cs typeface="Courier New" pitchFamily="49" charset="0"/>
              </a:rPr>
              <a:t>Git</a:t>
            </a:r>
            <a:r>
              <a:rPr lang="en-US" dirty="0" smtClean="0">
                <a:cs typeface="Courier New" pitchFamily="49" charset="0"/>
              </a:rPr>
              <a:t> &amp; </a:t>
            </a:r>
            <a:r>
              <a:rPr lang="en-US" dirty="0" err="1" smtClean="0">
                <a:cs typeface="Courier New" pitchFamily="49" charset="0"/>
              </a:rPr>
              <a:t>Github</a:t>
            </a:r>
            <a:r>
              <a:rPr lang="en-US" dirty="0" smtClean="0">
                <a:cs typeface="Courier New" pitchFamily="49" charset="0"/>
              </a:rPr>
              <a:t>:</a:t>
            </a:r>
          </a:p>
          <a:p>
            <a:pPr lvl="1" indent="233363">
              <a:buFont typeface="Arial" pitchFamily="34" charset="0"/>
              <a:buChar char="•"/>
            </a:pPr>
            <a:r>
              <a:rPr lang="en-US" sz="2000" dirty="0" smtClean="0">
                <a:cs typeface="Courier New" pitchFamily="49" charset="0"/>
              </a:rPr>
              <a:t>There is </a:t>
            </a:r>
            <a:r>
              <a:rPr lang="en-US" sz="2000" dirty="0" err="1" smtClean="0">
                <a:cs typeface="Courier New" pitchFamily="49" charset="0"/>
              </a:rPr>
              <a:t>Git</a:t>
            </a:r>
            <a:r>
              <a:rPr lang="en-US" sz="2000" dirty="0" smtClean="0">
                <a:cs typeface="Courier New" pitchFamily="49" charset="0"/>
              </a:rPr>
              <a:t> &amp; </a:t>
            </a:r>
            <a:r>
              <a:rPr lang="en-US" sz="2000" dirty="0" err="1" smtClean="0">
                <a:cs typeface="Courier New" pitchFamily="49" charset="0"/>
              </a:rPr>
              <a:t>Github</a:t>
            </a:r>
            <a:r>
              <a:rPr lang="en-US" sz="2000" dirty="0" smtClean="0">
                <a:cs typeface="Courier New" pitchFamily="49" charset="0"/>
              </a:rPr>
              <a:t> </a:t>
            </a:r>
            <a:r>
              <a:rPr lang="en-US" sz="2000" dirty="0" err="1" smtClean="0">
                <a:cs typeface="Courier New" pitchFamily="49" charset="0"/>
              </a:rPr>
              <a:t>CheatSheet</a:t>
            </a:r>
            <a:r>
              <a:rPr lang="en-US" sz="2000" dirty="0" smtClean="0">
                <a:cs typeface="Courier New" pitchFamily="49" charset="0"/>
              </a:rPr>
              <a:t> in </a:t>
            </a:r>
            <a:r>
              <a:rPr lang="en-US" sz="2000" dirty="0">
                <a:cs typeface="Courier New" pitchFamily="49" charset="0"/>
              </a:rPr>
              <a:t>our </a:t>
            </a:r>
            <a:r>
              <a:rPr lang="en-US" sz="2000" dirty="0" smtClean="0">
                <a:cs typeface="Courier New" pitchFamily="49" charset="0"/>
              </a:rPr>
              <a:t>wiki:</a:t>
            </a:r>
            <a:br>
              <a:rPr lang="en-US" sz="2000" dirty="0" smtClean="0">
                <a:cs typeface="Courier New" pitchFamily="49" charset="0"/>
              </a:rPr>
            </a:br>
            <a:r>
              <a:rPr lang="en-US" sz="2000" dirty="0">
                <a:cs typeface="Courier New" pitchFamily="49" charset="0"/>
                <a:hlinkClick r:id="rId3"/>
              </a:rPr>
              <a:t>https://</a:t>
            </a:r>
            <a:r>
              <a:rPr lang="en-US" sz="2000" dirty="0" smtClean="0">
                <a:cs typeface="Courier New" pitchFamily="49" charset="0"/>
                <a:hlinkClick r:id="rId3"/>
              </a:rPr>
              <a:t>github.com/MIPT-ILab/mipt-mips/wiki/Git-</a:t>
            </a:r>
            <a:r>
              <a:rPr lang="en-US" sz="2000" dirty="0">
                <a:cs typeface="Courier New" pitchFamily="49" charset="0"/>
                <a:hlinkClick r:id="rId3"/>
              </a:rPr>
              <a:t>&amp;-GitHub-cheat-sheet</a:t>
            </a:r>
            <a:endParaRPr lang="en-US" sz="2000" u="sng" dirty="0" smtClean="0">
              <a:solidFill>
                <a:schemeClr val="accent1"/>
              </a:solidFill>
              <a:cs typeface="Courier New" pitchFamily="49" charset="0"/>
            </a:endParaRPr>
          </a:p>
          <a:p>
            <a:pPr lvl="1" indent="233363">
              <a:buFont typeface="Arial" pitchFamily="34" charset="0"/>
              <a:buChar char="•"/>
            </a:pPr>
            <a:r>
              <a:rPr lang="en-US" sz="2000" dirty="0" err="1" smtClean="0">
                <a:cs typeface="Courier New" pitchFamily="49" charset="0"/>
              </a:rPr>
              <a:t>Git</a:t>
            </a:r>
            <a:r>
              <a:rPr lang="en-US" sz="2000" dirty="0" smtClean="0">
                <a:cs typeface="Courier New" pitchFamily="49" charset="0"/>
              </a:rPr>
              <a:t> </a:t>
            </a:r>
            <a:r>
              <a:rPr lang="en-US" sz="2000" dirty="0" err="1" smtClean="0">
                <a:cs typeface="Courier New" pitchFamily="49" charset="0"/>
              </a:rPr>
              <a:t>CheatSheet</a:t>
            </a:r>
            <a:r>
              <a:rPr lang="en-US" sz="2000" dirty="0" smtClean="0">
                <a:cs typeface="Courier New" pitchFamily="49" charset="0"/>
              </a:rPr>
              <a:t> contains an example of flow (addition of your name to ‘members.txt’). Do this exercise as a practice with </a:t>
            </a:r>
            <a:r>
              <a:rPr lang="en-US" sz="2000" dirty="0" err="1" smtClean="0">
                <a:cs typeface="Courier New" pitchFamily="49" charset="0"/>
              </a:rPr>
              <a:t>Git</a:t>
            </a:r>
            <a:r>
              <a:rPr lang="en-US" sz="2000" dirty="0" smtClean="0">
                <a:cs typeface="Courier New" pitchFamily="49" charset="0"/>
              </a:rPr>
              <a:t>.</a:t>
            </a:r>
            <a:endParaRPr lang="en-US" sz="2400" dirty="0">
              <a:cs typeface="Courier New" pitchFamily="49" charset="0"/>
            </a:endParaRPr>
          </a:p>
          <a:p>
            <a:pPr lvl="1" indent="233363">
              <a:buFont typeface="Arial" pitchFamily="34" charset="0"/>
              <a:buChar char="•"/>
            </a:pPr>
            <a:r>
              <a:rPr lang="en-US" sz="2000" dirty="0" smtClean="0">
                <a:cs typeface="Courier New" pitchFamily="49" charset="0"/>
              </a:rPr>
              <a:t>Deadline is </a:t>
            </a:r>
            <a:r>
              <a:rPr lang="en-US" sz="2000" smtClean="0">
                <a:cs typeface="Courier New" pitchFamily="49" charset="0"/>
              </a:rPr>
              <a:t>29 </a:t>
            </a:r>
            <a:r>
              <a:rPr lang="en-US" sz="2000" smtClean="0">
                <a:cs typeface="Courier New" pitchFamily="49" charset="0"/>
              </a:rPr>
              <a:t>Sep</a:t>
            </a:r>
            <a:endParaRPr lang="en-US" sz="2000" dirty="0">
              <a:cs typeface="Courier New" pitchFamily="49" charset="0"/>
            </a:endParaRPr>
          </a:p>
          <a:p>
            <a:pPr indent="233363">
              <a:buFont typeface="Arial" pitchFamily="34" charset="0"/>
              <a:buChar char="•"/>
            </a:pPr>
            <a:r>
              <a:rPr lang="en-US" dirty="0" smtClean="0">
                <a:cs typeface="Courier New" pitchFamily="49" charset="0"/>
              </a:rPr>
              <a:t>After completion of this task, you may start assignments</a:t>
            </a:r>
          </a:p>
          <a:p>
            <a:pPr lvl="1" indent="233363">
              <a:buFont typeface="Arial" pitchFamily="34" charset="0"/>
              <a:buChar char="•"/>
            </a:pPr>
            <a:r>
              <a:rPr lang="en-US" sz="2000" dirty="0" smtClean="0">
                <a:cs typeface="Courier New" pitchFamily="49" charset="0"/>
              </a:rPr>
              <a:t>All necessary information will be available on </a:t>
            </a:r>
            <a:r>
              <a:rPr lang="en-US" sz="2000" dirty="0">
                <a:cs typeface="Courier New" pitchFamily="49" charset="0"/>
              </a:rPr>
              <a:t>our wiki:</a:t>
            </a:r>
            <a:br>
              <a:rPr lang="en-US" sz="2000" dirty="0">
                <a:cs typeface="Courier New" pitchFamily="49" charset="0"/>
              </a:rPr>
            </a:br>
            <a:r>
              <a:rPr lang="en-US" sz="2000" dirty="0" smtClean="0">
                <a:cs typeface="Courier New" pitchFamily="49" charset="0"/>
                <a:hlinkClick r:id="rId4"/>
              </a:rPr>
              <a:t>https://github.com/MIPT-ILab/mipt-mips/issues</a:t>
            </a:r>
            <a:endParaRPr lang="en-US" sz="2000" dirty="0" smtClean="0">
              <a:cs typeface="Courier New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29043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Project wiki:</a:t>
            </a:r>
            <a:br>
              <a:rPr lang="en-US" sz="2000" dirty="0" smtClean="0"/>
            </a:br>
            <a:r>
              <a:rPr lang="en-US" sz="2000" dirty="0" smtClean="0">
                <a:hlinkClick r:id="rId2"/>
              </a:rPr>
              <a:t>https</a:t>
            </a:r>
            <a:r>
              <a:rPr lang="en-US" sz="2000" dirty="0">
                <a:hlinkClick r:id="rId2"/>
              </a:rPr>
              <a:t>://</a:t>
            </a:r>
            <a:r>
              <a:rPr lang="en-US" sz="2000" dirty="0" smtClean="0">
                <a:hlinkClick r:id="rId2"/>
              </a:rPr>
              <a:t>github.com/MIPT-ILab/mipt-mips/wiki/Git-</a:t>
            </a:r>
            <a:r>
              <a:rPr lang="en-US" sz="2000" dirty="0">
                <a:hlinkClick r:id="rId2"/>
              </a:rPr>
              <a:t>&amp;-GitHub-cheat-sheet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Our site (where all materials will </a:t>
            </a:r>
            <a:r>
              <a:rPr lang="en-US" sz="2000" dirty="0"/>
              <a:t>be published</a:t>
            </a:r>
            <a:r>
              <a:rPr lang="en-US" sz="2000" dirty="0" smtClean="0"/>
              <a:t>):</a:t>
            </a:r>
            <a:br>
              <a:rPr lang="en-US" sz="2000" dirty="0" smtClean="0"/>
            </a:br>
            <a:r>
              <a:rPr lang="en-US" sz="2000" dirty="0" smtClean="0">
                <a:hlinkClick r:id="rId3"/>
              </a:rPr>
              <a:t>http</a:t>
            </a:r>
            <a:r>
              <a:rPr lang="en-US" sz="2000" dirty="0">
                <a:hlinkClick r:id="rId3"/>
              </a:rPr>
              <a:t>://mipt-ilab.github.io/mipt-mips</a:t>
            </a:r>
            <a:r>
              <a:rPr lang="en-US" sz="2000" dirty="0" smtClean="0">
                <a:hlinkClick r:id="rId3"/>
              </a:rPr>
              <a:t>/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Pro </a:t>
            </a:r>
            <a:r>
              <a:rPr lang="en-US" sz="2000" dirty="0" err="1" smtClean="0"/>
              <a:t>Git</a:t>
            </a:r>
            <a:r>
              <a:rPr lang="en-US" sz="2000" dirty="0" smtClean="0"/>
              <a:t> &amp; official </a:t>
            </a:r>
            <a:r>
              <a:rPr lang="en-US" sz="2000" dirty="0" err="1" smtClean="0"/>
              <a:t>Git</a:t>
            </a:r>
            <a:r>
              <a:rPr lang="en-US" sz="2000" dirty="0" smtClean="0"/>
              <a:t> documentation: 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hlinkClick r:id="rId4"/>
              </a:rPr>
              <a:t>http://</a:t>
            </a:r>
            <a:r>
              <a:rPr lang="en-US" sz="1800" dirty="0" smtClean="0">
                <a:hlinkClick r:id="rId4"/>
              </a:rPr>
              <a:t>git-scm.com/book/en/v2</a:t>
            </a:r>
            <a:endParaRPr lang="en-US" sz="1800" dirty="0" smtClean="0"/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hlinkClick r:id="rId5"/>
              </a:rPr>
              <a:t>http://</a:t>
            </a:r>
            <a:r>
              <a:rPr lang="en-US" sz="1800" dirty="0" smtClean="0">
                <a:hlinkClick r:id="rId5"/>
              </a:rPr>
              <a:t>git-scm.com/doc</a:t>
            </a:r>
            <a:endParaRPr lang="en-US" sz="1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Git</a:t>
            </a:r>
            <a:r>
              <a:rPr lang="en-US" sz="2000" dirty="0" smtClean="0"/>
              <a:t> &amp; GitHub blogs:</a:t>
            </a:r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How </a:t>
            </a:r>
            <a:r>
              <a:rPr lang="en-US" sz="1800" dirty="0"/>
              <a:t>to GitHub: </a:t>
            </a:r>
            <a:r>
              <a:rPr lang="en-US" sz="1800" dirty="0">
                <a:hlinkClick r:id="rId6"/>
              </a:rPr>
              <a:t>https://gun.io/blog/how-to-github-fork-branch-and-pull-request</a:t>
            </a:r>
            <a:r>
              <a:rPr lang="en-US" sz="1800" dirty="0" smtClean="0">
                <a:hlinkClick r:id="rId6"/>
              </a:rPr>
              <a:t>/</a:t>
            </a:r>
            <a:endParaRPr lang="en-US" sz="1800" dirty="0" smtClean="0"/>
          </a:p>
          <a:p>
            <a:pPr marL="528638" lvl="1" indent="-342900">
              <a:buFont typeface="Arial" panose="020B0604020202020204" pitchFamily="34" charset="0"/>
              <a:buChar char="•"/>
            </a:pPr>
            <a:r>
              <a:rPr lang="en-US" sz="1800" dirty="0" smtClean="0"/>
              <a:t>GitHub </a:t>
            </a:r>
            <a:r>
              <a:rPr lang="en-US" sz="1800" dirty="0"/>
              <a:t>collaborative workflow: </a:t>
            </a:r>
            <a:r>
              <a:rPr lang="en-US" sz="1800" dirty="0">
                <a:hlinkClick r:id="rId7"/>
              </a:rPr>
              <a:t>http://</a:t>
            </a:r>
            <a:r>
              <a:rPr lang="en-US" sz="1800" dirty="0" smtClean="0">
                <a:hlinkClick r:id="rId7"/>
              </a:rPr>
              <a:t>www.eqqon.com/index.php/Collaborative_Github_Workflow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0709393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Thank You</a:t>
            </a:r>
            <a:endParaRPr lang="en-US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29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788593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6974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15.1|39.5|47.3|15.1|42.7|33.9|118.2|44.5|16.7|44.2|1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15.1|39.5|47.3|15.1|42.7|33.9|118.2|44.5|16.7|44.2|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2.3|6.4|160.7|63.3|54.5|8.7|108|39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6|11.2|15.6|41.9|34.8|56.8|65.3|2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1|6.8|48.4|22.4|195.5|20.9|62.9|105.2|5|5.9|8.3|14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11.1|65.3|225|44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3|7.7|28.4|49.9|4.3|42.8|98.5|15.9|59.4|7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18.7|9.7|13.2|10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60.3|21.1|10.3|19.2|3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7.1|18|45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|1.2|0.3|0.2|0.2|0.3|0.2|0.2|0.3|0.2|0.3|0.6|0.4|12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7|46.5|15.2|14.5|16.8|66.4|5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1.9|8.1|1|0.5|32.3|1.4|16.5|11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42.2|14.1|17.4|147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17|8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4A94C8E-3E2B-4AD9-8D67-7815198BE085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2047</TotalTime>
  <Words>1661</Words>
  <Application>Microsoft Office PowerPoint</Application>
  <PresentationFormat>On-screen Show (4:3)</PresentationFormat>
  <Paragraphs>217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ＭＳ Ｐゴシック</vt:lpstr>
      <vt:lpstr>ＭＳ Ｐゴシック</vt:lpstr>
      <vt:lpstr>Arial</vt:lpstr>
      <vt:lpstr>Calibri</vt:lpstr>
      <vt:lpstr>Courier New</vt:lpstr>
      <vt:lpstr>Neo Sans Intel</vt:lpstr>
      <vt:lpstr>Neo Sans Intel Light</vt:lpstr>
      <vt:lpstr>Neo Sans Intel Medium</vt:lpstr>
      <vt:lpstr>Times</vt:lpstr>
      <vt:lpstr>Verdana</vt:lpstr>
      <vt:lpstr>Wingdings</vt:lpstr>
      <vt:lpstr>mdsp_2011</vt:lpstr>
      <vt:lpstr>Introduction Basics of Simulator Development</vt:lpstr>
      <vt:lpstr>Цели и задачи курса (1)</vt:lpstr>
      <vt:lpstr>Цели и задачи курса (2)</vt:lpstr>
      <vt:lpstr>Мотивация</vt:lpstr>
      <vt:lpstr>Практические задания</vt:lpstr>
      <vt:lpstr>Теоретические занятия</vt:lpstr>
      <vt:lpstr>Критерии оценки студента</vt:lpstr>
      <vt:lpstr>Дисциплина</vt:lpstr>
      <vt:lpstr>Why simulator?</vt:lpstr>
      <vt:lpstr>Why do we need to make CPU simulator?</vt:lpstr>
      <vt:lpstr>Types of CPU simulators</vt:lpstr>
      <vt:lpstr>Communication</vt:lpstr>
      <vt:lpstr>Basics of Simulator Development in Team</vt:lpstr>
      <vt:lpstr>E-mail address</vt:lpstr>
      <vt:lpstr>E-mail basics</vt:lpstr>
      <vt:lpstr>Using Google-groups</vt:lpstr>
      <vt:lpstr>C++</vt:lpstr>
      <vt:lpstr>Teach Yourself C++</vt:lpstr>
      <vt:lpstr>Code style</vt:lpstr>
      <vt:lpstr>GIT</vt:lpstr>
      <vt:lpstr>GIT</vt:lpstr>
      <vt:lpstr>GIT workflow</vt:lpstr>
      <vt:lpstr>Getting started</vt:lpstr>
      <vt:lpstr>Git - Main commands</vt:lpstr>
      <vt:lpstr>Git - Patches </vt:lpstr>
      <vt:lpstr>Git - Add and delete files </vt:lpstr>
      <vt:lpstr>Your hometask</vt:lpstr>
      <vt:lpstr>Sources</vt:lpstr>
      <vt:lpstr>Thank You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CTPClassification=CTP_NWR:VisualMarkings=</cp:keywords>
  <cp:lastModifiedBy>Kryukov, Pavel I</cp:lastModifiedBy>
  <cp:revision>114</cp:revision>
  <dcterms:created xsi:type="dcterms:W3CDTF">2011-10-24T08:13:52Z</dcterms:created>
  <dcterms:modified xsi:type="dcterms:W3CDTF">2017-09-23T09:11:34Z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5674424d-5764-4ee2-b4be-dc6512ec3448</vt:lpwstr>
  </property>
  <property fmtid="{D5CDD505-2E9C-101B-9397-08002B2CF9AE}" pid="4" name="CTP_TimeStamp">
    <vt:lpwstr>2017-09-23 09:11:31Z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CTP_NWR</vt:lpwstr>
  </property>
</Properties>
</file>