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2"/>
  </p:notesMasterIdLst>
  <p:handoutMasterIdLst>
    <p:handoutMasterId r:id="rId3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83" r:id="rId17"/>
    <p:sldId id="284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80">
          <p15:clr>
            <a:srgbClr val="A4A3A4"/>
          </p15:clr>
        </p15:guide>
        <p15:guide id="2" pos="288">
          <p15:clr>
            <a:srgbClr val="A4A3A4"/>
          </p15:clr>
        </p15:guide>
        <p15:guide id="3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wdeaner" initials="" lastIdx="9" clrIdx="0"/>
  <p:cmAuthor id="1" name="Kister, Merlin D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4008"/>
    <a:srgbClr val="F37021"/>
    <a:srgbClr val="FFC000"/>
    <a:srgbClr val="061922"/>
    <a:srgbClr val="B4BABD"/>
    <a:srgbClr val="D7DF23"/>
    <a:srgbClr val="8DC63F"/>
    <a:srgbClr val="0071C5"/>
    <a:srgbClr val="DDDDDD"/>
    <a:srgbClr val="F1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9700" autoAdjust="0"/>
  </p:normalViewPr>
  <p:slideViewPr>
    <p:cSldViewPr snapToGrid="0">
      <p:cViewPr varScale="1">
        <p:scale>
          <a:sx n="131" d="100"/>
          <a:sy n="131" d="100"/>
        </p:scale>
        <p:origin x="101" y="206"/>
      </p:cViewPr>
      <p:guideLst>
        <p:guide orient="horz" pos="880"/>
        <p:guide pos="288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5" d="100"/>
        <a:sy n="105" d="100"/>
      </p:scale>
      <p:origin x="0" y="0"/>
    </p:cViewPr>
  </p:sorterViewPr>
  <p:notesViewPr>
    <p:cSldViewPr>
      <p:cViewPr>
        <p:scale>
          <a:sx n="100" d="100"/>
          <a:sy n="100" d="100"/>
        </p:scale>
        <p:origin x="3552" y="22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92827215693517"/>
          <c:y val="0.12120915032679738"/>
          <c:w val="0.83153932391616858"/>
          <c:h val="0.78874177756525943"/>
        </c:manualLayout>
      </c:layout>
      <c:scatterChart>
        <c:scatterStyle val="smooth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Freq</c:v>
                </c:pt>
              </c:strCache>
            </c:strRef>
          </c:tx>
          <c:spPr>
            <a:ln w="571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57150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Sheet1!$A$2:$A$17</c:f>
              <c:numCache>
                <c:formatCode>General</c:formatCode>
                <c:ptCount val="16"/>
                <c:pt idx="0">
                  <c:v>1978</c:v>
                </c:pt>
                <c:pt idx="1">
                  <c:v>1982</c:v>
                </c:pt>
                <c:pt idx="2">
                  <c:v>1985</c:v>
                </c:pt>
                <c:pt idx="3">
                  <c:v>1989</c:v>
                </c:pt>
                <c:pt idx="4">
                  <c:v>1993</c:v>
                </c:pt>
                <c:pt idx="5">
                  <c:v>1995</c:v>
                </c:pt>
                <c:pt idx="6">
                  <c:v>1997</c:v>
                </c:pt>
                <c:pt idx="7">
                  <c:v>1999</c:v>
                </c:pt>
                <c:pt idx="8">
                  <c:v>2000</c:v>
                </c:pt>
                <c:pt idx="9">
                  <c:v>2002</c:v>
                </c:pt>
                <c:pt idx="10">
                  <c:v>2004</c:v>
                </c:pt>
                <c:pt idx="11">
                  <c:v>2006</c:v>
                </c:pt>
                <c:pt idx="12">
                  <c:v>2008</c:v>
                </c:pt>
                <c:pt idx="13">
                  <c:v>2011</c:v>
                </c:pt>
                <c:pt idx="14">
                  <c:v>2013</c:v>
                </c:pt>
              </c:numCache>
            </c:numRef>
          </c:xVal>
          <c:yVal>
            <c:numRef>
              <c:f>Sheet1!$C$2:$C$17</c:f>
              <c:numCache>
                <c:formatCode>General</c:formatCode>
                <c:ptCount val="16"/>
                <c:pt idx="0">
                  <c:v>0</c:v>
                </c:pt>
                <c:pt idx="1">
                  <c:v>8</c:v>
                </c:pt>
                <c:pt idx="2">
                  <c:v>16</c:v>
                </c:pt>
                <c:pt idx="3">
                  <c:v>25</c:v>
                </c:pt>
                <c:pt idx="4">
                  <c:v>60</c:v>
                </c:pt>
                <c:pt idx="5">
                  <c:v>150</c:v>
                </c:pt>
                <c:pt idx="6">
                  <c:v>233</c:v>
                </c:pt>
                <c:pt idx="7">
                  <c:v>450</c:v>
                </c:pt>
                <c:pt idx="8">
                  <c:v>1400</c:v>
                </c:pt>
                <c:pt idx="9">
                  <c:v>2000</c:v>
                </c:pt>
                <c:pt idx="10">
                  <c:v>3400</c:v>
                </c:pt>
                <c:pt idx="11">
                  <c:v>3000</c:v>
                </c:pt>
                <c:pt idx="12">
                  <c:v>3000</c:v>
                </c:pt>
                <c:pt idx="13">
                  <c:v>3000</c:v>
                </c:pt>
                <c:pt idx="14">
                  <c:v>3000</c:v>
                </c:pt>
              </c:numCache>
            </c:numRef>
          </c:yVal>
          <c:smooth val="1"/>
        </c:ser>
        <c:ser>
          <c:idx val="2"/>
          <c:order val="1"/>
          <c:tx>
            <c:strRef>
              <c:f>Sheet1!$E$1</c:f>
              <c:strCache>
                <c:ptCount val="1"/>
                <c:pt idx="0">
                  <c:v>Process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Sheet1!$A$2:$A$17</c:f>
              <c:numCache>
                <c:formatCode>General</c:formatCode>
                <c:ptCount val="16"/>
                <c:pt idx="0">
                  <c:v>1978</c:v>
                </c:pt>
                <c:pt idx="1">
                  <c:v>1982</c:v>
                </c:pt>
                <c:pt idx="2">
                  <c:v>1985</c:v>
                </c:pt>
                <c:pt idx="3">
                  <c:v>1989</c:v>
                </c:pt>
                <c:pt idx="4">
                  <c:v>1993</c:v>
                </c:pt>
                <c:pt idx="5">
                  <c:v>1995</c:v>
                </c:pt>
                <c:pt idx="6">
                  <c:v>1997</c:v>
                </c:pt>
                <c:pt idx="7">
                  <c:v>1999</c:v>
                </c:pt>
                <c:pt idx="8">
                  <c:v>2000</c:v>
                </c:pt>
                <c:pt idx="9">
                  <c:v>2002</c:v>
                </c:pt>
                <c:pt idx="10">
                  <c:v>2004</c:v>
                </c:pt>
                <c:pt idx="11">
                  <c:v>2006</c:v>
                </c:pt>
                <c:pt idx="12">
                  <c:v>2008</c:v>
                </c:pt>
                <c:pt idx="13">
                  <c:v>2011</c:v>
                </c:pt>
                <c:pt idx="14">
                  <c:v>2013</c:v>
                </c:pt>
              </c:numCache>
            </c:numRef>
          </c:xVal>
          <c:yVal>
            <c:numRef>
              <c:f>Sheet1!$E$2:$E$17</c:f>
              <c:numCache>
                <c:formatCode>General</c:formatCode>
                <c:ptCount val="16"/>
                <c:pt idx="0">
                  <c:v>3000</c:v>
                </c:pt>
                <c:pt idx="1">
                  <c:v>1500</c:v>
                </c:pt>
                <c:pt idx="2">
                  <c:v>1000</c:v>
                </c:pt>
                <c:pt idx="3">
                  <c:v>1000</c:v>
                </c:pt>
                <c:pt idx="4">
                  <c:v>800</c:v>
                </c:pt>
                <c:pt idx="5">
                  <c:v>600</c:v>
                </c:pt>
                <c:pt idx="6">
                  <c:v>350</c:v>
                </c:pt>
                <c:pt idx="7">
                  <c:v>250</c:v>
                </c:pt>
                <c:pt idx="8">
                  <c:v>180</c:v>
                </c:pt>
                <c:pt idx="9">
                  <c:v>130</c:v>
                </c:pt>
                <c:pt idx="10">
                  <c:v>90</c:v>
                </c:pt>
                <c:pt idx="11">
                  <c:v>65</c:v>
                </c:pt>
                <c:pt idx="12">
                  <c:v>45</c:v>
                </c:pt>
                <c:pt idx="13">
                  <c:v>22</c:v>
                </c:pt>
                <c:pt idx="14">
                  <c:v>22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05251296"/>
        <c:axId val="405249728"/>
      </c:scatterChart>
      <c:scatterChart>
        <c:scatterStyle val="smoothMarker"/>
        <c:varyColors val="0"/>
        <c:ser>
          <c:idx val="3"/>
          <c:order val="2"/>
          <c:tx>
            <c:strRef>
              <c:f>Sheet1!$G$1</c:f>
              <c:strCache>
                <c:ptCount val="1"/>
                <c:pt idx="0">
                  <c:v>Pipeline Depth</c:v>
                </c:pt>
              </c:strCache>
            </c:strRef>
          </c:tx>
          <c:spPr>
            <a:ln w="571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57150">
                <a:solidFill>
                  <a:schemeClr val="accent4"/>
                </a:solidFill>
              </a:ln>
              <a:effectLst/>
            </c:spPr>
          </c:marker>
          <c:xVal>
            <c:numRef>
              <c:f>Sheet1!$A$2:$A$17</c:f>
              <c:numCache>
                <c:formatCode>General</c:formatCode>
                <c:ptCount val="16"/>
                <c:pt idx="0">
                  <c:v>1978</c:v>
                </c:pt>
                <c:pt idx="1">
                  <c:v>1982</c:v>
                </c:pt>
                <c:pt idx="2">
                  <c:v>1985</c:v>
                </c:pt>
                <c:pt idx="3">
                  <c:v>1989</c:v>
                </c:pt>
                <c:pt idx="4">
                  <c:v>1993</c:v>
                </c:pt>
                <c:pt idx="5">
                  <c:v>1995</c:v>
                </c:pt>
                <c:pt idx="6">
                  <c:v>1997</c:v>
                </c:pt>
                <c:pt idx="7">
                  <c:v>1999</c:v>
                </c:pt>
                <c:pt idx="8">
                  <c:v>2000</c:v>
                </c:pt>
                <c:pt idx="9">
                  <c:v>2002</c:v>
                </c:pt>
                <c:pt idx="10">
                  <c:v>2004</c:v>
                </c:pt>
                <c:pt idx="11">
                  <c:v>2006</c:v>
                </c:pt>
                <c:pt idx="12">
                  <c:v>2008</c:v>
                </c:pt>
                <c:pt idx="13">
                  <c:v>2011</c:v>
                </c:pt>
                <c:pt idx="14">
                  <c:v>2013</c:v>
                </c:pt>
              </c:numCache>
            </c:numRef>
          </c:xVal>
          <c:yVal>
            <c:numRef>
              <c:f>Sheet1!$G$2:$G$17</c:f>
              <c:numCache>
                <c:formatCode>General</c:formatCode>
                <c:ptCount val="16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  <c:pt idx="5">
                  <c:v>12</c:v>
                </c:pt>
                <c:pt idx="6">
                  <c:v>12</c:v>
                </c:pt>
                <c:pt idx="7">
                  <c:v>12</c:v>
                </c:pt>
                <c:pt idx="8">
                  <c:v>20</c:v>
                </c:pt>
                <c:pt idx="9">
                  <c:v>20</c:v>
                </c:pt>
                <c:pt idx="10">
                  <c:v>31</c:v>
                </c:pt>
                <c:pt idx="11">
                  <c:v>12</c:v>
                </c:pt>
                <c:pt idx="12">
                  <c:v>20</c:v>
                </c:pt>
                <c:pt idx="13">
                  <c:v>14</c:v>
                </c:pt>
                <c:pt idx="14">
                  <c:v>14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05254040"/>
        <c:axId val="405255216"/>
      </c:scatterChart>
      <c:valAx>
        <c:axId val="4052512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5249728"/>
        <c:crosses val="autoZero"/>
        <c:crossBetween val="midCat"/>
      </c:valAx>
      <c:valAx>
        <c:axId val="405249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nm/MHz</a:t>
                </a:r>
              </a:p>
            </c:rich>
          </c:tx>
          <c:layout>
            <c:manualLayout>
              <c:xMode val="edge"/>
              <c:yMode val="edge"/>
              <c:x val="3.1267448352875489E-2"/>
              <c:y val="2.2567804024496933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5251296"/>
        <c:crosses val="autoZero"/>
        <c:crossBetween val="midCat"/>
      </c:valAx>
      <c:valAx>
        <c:axId val="405255216"/>
        <c:scaling>
          <c:orientation val="minMax"/>
        </c:scaling>
        <c:delete val="0"/>
        <c:axPos val="r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Stages</a:t>
                </a:r>
              </a:p>
            </c:rich>
          </c:tx>
          <c:layout>
            <c:manualLayout>
              <c:xMode val="edge"/>
              <c:yMode val="edge"/>
              <c:x val="0.92360683557771361"/>
              <c:y val="3.70042715248829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5254040"/>
        <c:crosses val="max"/>
        <c:crossBetween val="midCat"/>
      </c:valAx>
      <c:valAx>
        <c:axId val="4052540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0525521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6387442829279131"/>
          <c:y val="0.1416849377256697"/>
          <c:w val="0.47256897915327273"/>
          <c:h val="6.4603031269948416E-2"/>
        </c:manualLayout>
      </c:layout>
      <c:overlay val="0"/>
      <c:spPr>
        <a:solidFill>
          <a:schemeClr val="bg1"/>
        </a:solidFill>
        <a:ln>
          <a:solidFill>
            <a:schemeClr val="tx1">
              <a:lumMod val="25000"/>
              <a:lumOff val="7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914B7C32-9169-49F6-BD7A-5067B8DB0A44}" type="datetimeFigureOut">
              <a:rPr lang="en-US"/>
              <a:pPr>
                <a:defRPr/>
              </a:pPr>
              <a:t>12/8/2017</a:t>
            </a:fld>
            <a:endParaRPr lang="en-US" dirty="0"/>
          </a:p>
        </p:txBody>
      </p:sp>
      <p:sp>
        <p:nvSpPr>
          <p:cNvPr id="833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8375B05B-E607-4D82-B97C-98BFBC6612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46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991E29C4-32EF-49E6-A487-83605AD0B038}" type="datetimeFigureOut">
              <a:rPr lang="en-US"/>
              <a:pPr>
                <a:defRPr/>
              </a:pPr>
              <a:t>12/8/2017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C6B57032-B76D-4852-ACCF-DA5A3151FA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90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62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F36EE-84AE-4E24-B4E8-B5883ED37FF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84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707"/>
            <a:ext cx="8269500" cy="382232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624998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4353385"/>
            <a:ext cx="4466738" cy="933589"/>
          </a:xfrm>
        </p:spPr>
        <p:txBody>
          <a:bodyPr wrap="square">
            <a:sp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dirty="0" smtClean="0">
                <a:latin typeface="Verdana" charset="0"/>
              </a:rPr>
              <a:t>Additional Info</a:t>
            </a:r>
            <a:endParaRPr lang="en-US" dirty="0" smtClean="0">
              <a:latin typeface="Verdana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600"/>
            <a:ext cx="8257308" cy="410274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363972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3264183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388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534"/>
            <a:ext cx="8342654" cy="290484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782553"/>
            <a:ext cx="6754008" cy="5847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+mj-lt"/>
                <a:cs typeface="Neo Sans Intel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3750107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58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543"/>
            <a:ext cx="8495059" cy="3724780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1" y="2727579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3649814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5986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+mj-lt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-7684"/>
            <a:ext cx="914400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5842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6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9539"/>
            <a:ext cx="4037012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379539"/>
            <a:ext cx="4038600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400994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mipt.ru/upload/medialibrary/d39/eng_tex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12" y="0"/>
            <a:ext cx="7988965" cy="433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tel_rgb_3000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70" y="4190460"/>
            <a:ext cx="2898648" cy="19111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75690"/>
            <a:ext cx="82296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995929"/>
            <a:ext cx="8228012" cy="49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0" y="6362701"/>
            <a:ext cx="91440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59639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1050" b="1" i="0" smtClean="0">
                <a:solidFill>
                  <a:schemeClr val="bg1"/>
                </a:solidFill>
                <a:latin typeface="+mj-lt"/>
                <a:ea typeface="Verdana" pitchFamily="34" charset="0"/>
                <a:cs typeface="Neo Sans Intel"/>
              </a:rPr>
              <a:pPr/>
              <a:t>‹#›</a:t>
            </a:fld>
            <a:endParaRPr lang="en-US" sz="1050" b="1" i="0" dirty="0">
              <a:solidFill>
                <a:schemeClr val="bg1"/>
              </a:solidFill>
              <a:latin typeface="+mj-lt"/>
              <a:ea typeface="Verdana" pitchFamily="34" charset="0"/>
              <a:cs typeface="Neo Sans Intel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60996" y="6488794"/>
            <a:ext cx="4571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kern="900" spc="120" dirty="0" smtClean="0">
                <a:solidFill>
                  <a:schemeClr val="bg1"/>
                </a:solidFill>
                <a:latin typeface="+mj-lt"/>
              </a:rPr>
              <a:t>MIPT-MIPS</a:t>
            </a:r>
            <a:r>
              <a:rPr lang="en-US" sz="1000" b="1" kern="900" spc="120" baseline="0" dirty="0" smtClean="0">
                <a:solidFill>
                  <a:schemeClr val="bg1"/>
                </a:solidFill>
                <a:latin typeface="+mj-lt"/>
              </a:rPr>
              <a:t> 2017</a:t>
            </a:r>
            <a:endParaRPr lang="ru-RU" sz="1000" b="1" kern="900" spc="12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8" name="Picture 4" descr="https://mipt.ru/upload/medialibrary/056/eng_inversion.jpg"/>
          <p:cNvPicPr>
            <a:picLocks noChangeAspect="1" noChangeArrowheads="1"/>
          </p:cNvPicPr>
          <p:nvPr userDrawn="1"/>
        </p:nvPicPr>
        <p:blipFill>
          <a:blip r:embed="rId17" cstate="print">
            <a:clrChange>
              <a:clrFrom>
                <a:srgbClr val="4C79BC"/>
              </a:clrFrom>
              <a:clrTo>
                <a:srgbClr val="4C79B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143" y="6331463"/>
            <a:ext cx="1077432" cy="55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56" r:id="rId1"/>
    <p:sldLayoutId id="2147485972" r:id="rId2"/>
    <p:sldLayoutId id="2147485973" r:id="rId3"/>
    <p:sldLayoutId id="2147485974" r:id="rId4"/>
    <p:sldLayoutId id="2147485963" r:id="rId5"/>
    <p:sldLayoutId id="2147485976" r:id="rId6"/>
    <p:sldLayoutId id="2147485977" r:id="rId7"/>
    <p:sldLayoutId id="2147485957" r:id="rId8"/>
    <p:sldLayoutId id="2147485959" r:id="rId9"/>
    <p:sldLayoutId id="2147485961" r:id="rId10"/>
    <p:sldLayoutId id="2147485962" r:id="rId11"/>
    <p:sldLayoutId id="2147485975" r:id="rId12"/>
    <p:sldLayoutId id="2147485964" r:id="rId13"/>
    <p:sldLayoutId id="2147485971" r:id="rId14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3000" b="0" i="0">
          <a:solidFill>
            <a:schemeClr val="accent1"/>
          </a:solidFill>
          <a:latin typeface="+mj-lt"/>
          <a:ea typeface="+mj-ea"/>
          <a:cs typeface="Neo Sans Intel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2400" b="0" i="0">
          <a:solidFill>
            <a:schemeClr val="tx1"/>
          </a:solidFill>
          <a:latin typeface="+mj-lt"/>
          <a:ea typeface="+mn-ea"/>
          <a:cs typeface="Neo Sans Intel"/>
        </a:defRPr>
      </a:lvl1pPr>
      <a:lvl2pPr marL="185738" indent="-184150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2200" b="0" i="0">
          <a:solidFill>
            <a:schemeClr val="tx1"/>
          </a:solidFill>
          <a:latin typeface="+mj-lt"/>
          <a:cs typeface="Neo Sans Intel"/>
        </a:defRPr>
      </a:lvl2pPr>
      <a:lvl3pPr marL="414338" indent="-227013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2000" b="0" i="0">
          <a:solidFill>
            <a:schemeClr val="tx1"/>
          </a:solidFill>
          <a:latin typeface="+mj-lt"/>
          <a:cs typeface="Neo Sans Intel"/>
        </a:defRPr>
      </a:lvl3pPr>
      <a:lvl4pPr marL="568325" indent="-1524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800" b="0" i="0">
          <a:solidFill>
            <a:schemeClr val="tx1"/>
          </a:solidFill>
          <a:latin typeface="+mj-lt"/>
          <a:cs typeface="Neo Sans Intel"/>
        </a:defRPr>
      </a:lvl4pPr>
      <a:lvl5pPr marL="7620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800" b="0" i="0">
          <a:solidFill>
            <a:schemeClr val="tx1"/>
          </a:solidFill>
          <a:latin typeface="+mj-lt"/>
          <a:cs typeface="Neo Sans Intel"/>
        </a:defRPr>
      </a:lvl5pPr>
      <a:lvl6pPr marL="12192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6pPr>
      <a:lvl7pPr marL="16764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7pPr>
      <a:lvl8pPr marL="21336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8pPr>
      <a:lvl9pPr marL="25908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9.png"/><Relationship Id="rId7" Type="http://schemas.openxmlformats.org/officeDocument/2006/relationships/image" Target="NUL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11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../media/image10.png"/><Relationship Id="rId9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Relationship Id="rId5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8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8.xml"/><Relationship Id="rId4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8.xml"/><Relationship Id="rId4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8.xm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8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8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1" y="2363972"/>
            <a:ext cx="4804200" cy="584775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dirty="0" smtClean="0">
                <a:latin typeface="+mj-lt"/>
              </a:rPr>
              <a:t>Performance and Power</a:t>
            </a:r>
            <a:endParaRPr lang="en-US" sz="2800" dirty="0">
              <a:latin typeface="+mj-lt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60188" y="3264183"/>
            <a:ext cx="4343400" cy="595035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+mj-lt"/>
              </a:rPr>
              <a:t>Pavel Kryukov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+mj-lt"/>
              </a:rPr>
              <a:t>08/12/2017</a:t>
            </a:r>
          </a:p>
        </p:txBody>
      </p:sp>
    </p:spTree>
    <p:extLst>
      <p:ext uri="{BB962C8B-B14F-4D97-AF65-F5344CB8AC3E}">
        <p14:creationId xmlns:p14="http://schemas.microsoft.com/office/powerpoint/2010/main" val="25020851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Basic Design Tradeoffs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4269730"/>
            <a:ext cx="7886700" cy="126365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50" dirty="0"/>
              <a:t>All three are very important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50" dirty="0"/>
              <a:t>It is extremely hard to create a feature that improves all factors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50" dirty="0"/>
              <a:t>Different products (mobile, desktop, etc.) require different balance</a:t>
            </a:r>
            <a:endParaRPr lang="ru-RU" sz="2250" dirty="0"/>
          </a:p>
        </p:txBody>
      </p:sp>
      <p:sp>
        <p:nvSpPr>
          <p:cNvPr id="7" name="TextBox 6"/>
          <p:cNvSpPr txBox="1"/>
          <p:nvPr/>
        </p:nvSpPr>
        <p:spPr>
          <a:xfrm>
            <a:off x="3674863" y="1725350"/>
            <a:ext cx="179427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Performance</a:t>
            </a:r>
          </a:p>
          <a:p>
            <a:pPr algn="ctr"/>
            <a:r>
              <a:rPr lang="en-US" dirty="0">
                <a:latin typeface="+mj-lt"/>
              </a:rPr>
              <a:t>(speed)</a:t>
            </a:r>
            <a:endParaRPr lang="ru-RU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96633" y="3242586"/>
            <a:ext cx="22488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Cost</a:t>
            </a:r>
          </a:p>
          <a:p>
            <a:pPr algn="ctr"/>
            <a:r>
              <a:rPr lang="en-US" dirty="0">
                <a:latin typeface="+mj-lt"/>
              </a:rPr>
              <a:t>(complexity,</a:t>
            </a:r>
            <a:r>
              <a:rPr lang="ru-RU" dirty="0">
                <a:latin typeface="+mj-lt"/>
              </a:rPr>
              <a:t> </a:t>
            </a:r>
            <a:r>
              <a:rPr lang="en-US" dirty="0">
                <a:latin typeface="+mj-lt"/>
              </a:rPr>
              <a:t>area)</a:t>
            </a:r>
            <a:endParaRPr lang="ru-RU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73210" y="3242587"/>
            <a:ext cx="22488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Power</a:t>
            </a:r>
          </a:p>
          <a:p>
            <a:pPr algn="ctr"/>
            <a:r>
              <a:rPr lang="en-US" dirty="0">
                <a:latin typeface="+mj-lt"/>
              </a:rPr>
              <a:t>(energy consumption and dissipation)</a:t>
            </a:r>
            <a:endParaRPr lang="ru-RU" dirty="0">
              <a:latin typeface="+mj-lt"/>
            </a:endParaRPr>
          </a:p>
        </p:txBody>
      </p:sp>
      <p:sp>
        <p:nvSpPr>
          <p:cNvPr id="20" name="Up-Down Arrow 19"/>
          <p:cNvSpPr/>
          <p:nvPr/>
        </p:nvSpPr>
        <p:spPr>
          <a:xfrm rot="19153632">
            <a:off x="5201870" y="2373920"/>
            <a:ext cx="274320" cy="977265"/>
          </a:xfrm>
          <a:prstGeom prst="upDownArrow">
            <a:avLst>
              <a:gd name="adj1" fmla="val 28261"/>
              <a:gd name="adj2" fmla="val 5746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Up-Down Arrow 20"/>
          <p:cNvSpPr/>
          <p:nvPr/>
        </p:nvSpPr>
        <p:spPr>
          <a:xfrm rot="2446368" flipH="1">
            <a:off x="3635918" y="2345857"/>
            <a:ext cx="274320" cy="977265"/>
          </a:xfrm>
          <a:prstGeom prst="upDownArrow">
            <a:avLst>
              <a:gd name="adj1" fmla="val 28261"/>
              <a:gd name="adj2" fmla="val 5746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Up-Down Arrow 21"/>
          <p:cNvSpPr/>
          <p:nvPr/>
        </p:nvSpPr>
        <p:spPr>
          <a:xfrm rot="5400000" flipH="1">
            <a:off x="4434840" y="3142039"/>
            <a:ext cx="274320" cy="1033029"/>
          </a:xfrm>
          <a:prstGeom prst="upDownArrow">
            <a:avLst>
              <a:gd name="adj1" fmla="val 28261"/>
              <a:gd name="adj2" fmla="val 5746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47586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744445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774770"/>
            <a:ext cx="1710077" cy="91905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0548" y="2594203"/>
            <a:ext cx="2363929" cy="12162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33883"/>
            <a:ext cx="7886700" cy="57276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+mj-lt"/>
              </a:rPr>
              <a:t>What does performance depend on?</a:t>
            </a:r>
            <a:endParaRPr lang="ru-RU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956907" y="2920623"/>
                <a:ext cx="2421138" cy="5981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𝑖𝑛𝑠𝑡𝑟𝑠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𝐶𝑃𝐼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𝑐𝑦𝑐𝑙𝑒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543" y="2751163"/>
                <a:ext cx="3228184" cy="79752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358376" y="2884096"/>
                <a:ext cx="2187907" cy="6596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𝑖𝑛𝑠𝑡𝑟𝑠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𝐼𝑃𝐶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4500" y="2702461"/>
                <a:ext cx="2837700" cy="84863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97539" y="2899193"/>
                <a:ext cx="2589068" cy="6127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𝑃𝑒𝑟𝑓𝑜𝑟𝑚𝑎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𝑐𝑒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𝑇𝑖𝑚𝑒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39" y="2899193"/>
                <a:ext cx="2589068" cy="6127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69956" y="3878865"/>
                <a:ext cx="2516651" cy="3912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𝐶𝑦𝑐𝑙𝑒𝑠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𝑐𝑦𝑐𝑙𝑒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941" y="4028820"/>
                <a:ext cx="3273140" cy="490840"/>
              </a:xfrm>
              <a:prstGeom prst="rect">
                <a:avLst/>
              </a:prstGeom>
              <a:blipFill rotWithShape="0">
                <a:blip r:embed="rId10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2913234" y="3878865"/>
                <a:ext cx="2504788" cy="3912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𝑖𝑛𝑠𝑡𝑟𝑠</m:t>
                          </m:r>
                        </m:sub>
                      </m:sSub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𝐶𝑃𝐼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𝑐𝑦𝑐𝑙𝑒</m:t>
                          </m:r>
                        </m:sub>
                      </m:sSub>
                    </m:oMath>
                  </m:oMathPara>
                </a14:m>
                <a:endParaRPr lang="ru-RU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312" y="4028820"/>
                <a:ext cx="3260188" cy="490840"/>
              </a:xfrm>
              <a:prstGeom prst="rect">
                <a:avLst/>
              </a:prstGeom>
              <a:blipFill rotWithShape="0">
                <a:blip r:embed="rId11"/>
                <a:stretch>
                  <a:fillRect b="-112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Line Callout 1 (No Border) 22"/>
          <p:cNvSpPr/>
          <p:nvPr/>
        </p:nvSpPr>
        <p:spPr>
          <a:xfrm>
            <a:off x="6252355" y="4164396"/>
            <a:ext cx="2431270" cy="451049"/>
          </a:xfrm>
          <a:prstGeom prst="callout1">
            <a:avLst>
              <a:gd name="adj1" fmla="val 136"/>
              <a:gd name="adj2" fmla="val 29689"/>
              <a:gd name="adj3" fmla="val -99708"/>
              <a:gd name="adj4" fmla="val 1129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solidFill>
                  <a:schemeClr val="accent3"/>
                </a:solidFill>
                <a:latin typeface="+mj-lt"/>
              </a:rPr>
              <a:t>Golden rule of CS</a:t>
            </a:r>
            <a:endParaRPr lang="ru-RU" sz="2100" dirty="0">
              <a:solidFill>
                <a:schemeClr val="accent3"/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24600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10" grpId="0"/>
      <p:bldP spid="12" grpId="0"/>
      <p:bldP spid="19" grpId="0"/>
      <p:bldP spid="20" grpId="0"/>
      <p:bldP spid="23" grpId="0" animBg="1"/>
    </p:bldLst>
  </p:timing>
  <p:extLst mod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Increasing Performance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03666"/>
            <a:ext cx="7886700" cy="57276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+mj-lt"/>
              </a:rPr>
              <a:t>How can we increase it?</a:t>
            </a:r>
            <a:endParaRPr lang="ru-RU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075168" y="3139339"/>
                <a:ext cx="3523465" cy="6596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𝑃𝑒𝑟𝑓𝑜𝑟𝑚𝑎𝑐𝑒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𝑖𝑛𝑠𝑡𝑟𝑠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𝐼𝑃𝐶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6890" y="3042785"/>
                <a:ext cx="4621073" cy="84863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ine Callout 1 (No Border) 13"/>
          <p:cNvSpPr/>
          <p:nvPr/>
        </p:nvSpPr>
        <p:spPr>
          <a:xfrm>
            <a:off x="1319515" y="2485114"/>
            <a:ext cx="2779733" cy="451049"/>
          </a:xfrm>
          <a:prstGeom prst="callout1">
            <a:avLst>
              <a:gd name="adj1" fmla="val 123312"/>
              <a:gd name="adj2" fmla="val 64602"/>
              <a:gd name="adj3" fmla="val 183213"/>
              <a:gd name="adj4" fmla="val 85738"/>
            </a:avLst>
          </a:pr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Better SW: </a:t>
            </a:r>
            <a:r>
              <a:rPr lang="en-US" sz="1500" dirty="0">
                <a:solidFill>
                  <a:schemeClr val="tx1"/>
                </a:solidFill>
                <a:latin typeface="+mj-lt"/>
              </a:rPr>
              <a:t>algorithms, optimizations, ISA, etc.</a:t>
            </a:r>
            <a:endParaRPr lang="ru-RU" sz="15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5" name="Line Callout 1 (No Border) 14"/>
          <p:cNvSpPr/>
          <p:nvPr/>
        </p:nvSpPr>
        <p:spPr>
          <a:xfrm>
            <a:off x="4919240" y="2485114"/>
            <a:ext cx="2779733" cy="451049"/>
          </a:xfrm>
          <a:prstGeom prst="callout1">
            <a:avLst>
              <a:gd name="adj1" fmla="val 125237"/>
              <a:gd name="adj2" fmla="val 40243"/>
              <a:gd name="adj3" fmla="val 188986"/>
              <a:gd name="adj4" fmla="val 21405"/>
            </a:avLst>
          </a:pr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Better CD: </a:t>
            </a:r>
            <a:r>
              <a:rPr lang="en-US" sz="1500" dirty="0">
                <a:solidFill>
                  <a:schemeClr val="tx1"/>
                </a:solidFill>
                <a:latin typeface="+mj-lt"/>
              </a:rPr>
              <a:t>faster circuits, smaller transistors, etc.</a:t>
            </a:r>
            <a:endParaRPr lang="ru-RU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Line Callout 1 (No Border) 15"/>
          <p:cNvSpPr/>
          <p:nvPr/>
        </p:nvSpPr>
        <p:spPr>
          <a:xfrm>
            <a:off x="2873416" y="4156941"/>
            <a:ext cx="2779733" cy="451049"/>
          </a:xfrm>
          <a:prstGeom prst="callout1">
            <a:avLst>
              <a:gd name="adj1" fmla="val -15261"/>
              <a:gd name="adj2" fmla="val 60854"/>
              <a:gd name="adj3" fmla="val -103556"/>
              <a:gd name="adj4" fmla="val 67312"/>
            </a:avLst>
          </a:pr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Better uArch: </a:t>
            </a:r>
            <a:r>
              <a:rPr lang="en-US" sz="1500" dirty="0">
                <a:solidFill>
                  <a:schemeClr val="tx1"/>
                </a:solidFill>
                <a:latin typeface="+mj-lt"/>
              </a:rPr>
              <a:t>pipelining, caching, prediction, etc.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1752" y="4677495"/>
            <a:ext cx="30484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+mj-lt"/>
              </a:rPr>
              <a:t>But, need better CD to enable these approaches</a:t>
            </a:r>
          </a:p>
          <a:p>
            <a:pPr algn="ctr"/>
            <a:r>
              <a:rPr lang="en-US" dirty="0">
                <a:latin typeface="+mj-lt"/>
              </a:rPr>
              <a:t>(e.g., more transistors)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36349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  <p:bldP spid="14" grpId="0" animBg="1"/>
      <p:bldP spid="15" grpId="0" animBg="1"/>
      <p:bldP spid="16" grpId="0" animBg="1"/>
      <p:bldP spid="7" grpId="0"/>
    </p:bldLst>
  </p:timing>
  <p:extLst mod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89000"/>
          </a:xfrm>
        </p:spPr>
        <p:txBody>
          <a:bodyPr/>
          <a:lstStyle/>
          <a:p>
            <a:r>
              <a:rPr lang="en-US" sz="3200" dirty="0" smtClean="0"/>
              <a:t>Refresher: Pipeline speedup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5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762000"/>
                <a:ext cx="8228012" cy="5562600"/>
              </a:xfrm>
            </p:spPr>
            <p:txBody>
              <a:bodyPr/>
              <a:lstStyle/>
              <a:p>
                <a:pPr marL="342900" indent="-342900">
                  <a:lnSpc>
                    <a:spcPct val="110000"/>
                  </a:lnSpc>
                  <a:spcBef>
                    <a:spcPts val="1200"/>
                  </a:spcBef>
                  <a:buFont typeface="Courier New" panose="02070309020205020404" pitchFamily="49" charset="0"/>
                  <a:buChar char="o"/>
                </a:pPr>
                <a:r>
                  <a:rPr lang="en-US" sz="2000" dirty="0" smtClean="0"/>
                  <a:t>Pipelining does not reduce the </a:t>
                </a:r>
                <a:r>
                  <a:rPr lang="en-US" sz="2000" dirty="0" smtClean="0">
                    <a:solidFill>
                      <a:schemeClr val="accent1"/>
                    </a:solidFill>
                  </a:rPr>
                  <a:t>latency </a:t>
                </a:r>
                <a:r>
                  <a:rPr lang="en-US" sz="2000" dirty="0" smtClean="0"/>
                  <a:t>of a single workload, it increases the total </a:t>
                </a:r>
                <a:r>
                  <a:rPr lang="en-US" sz="2000" dirty="0" smtClean="0">
                    <a:solidFill>
                      <a:schemeClr val="accent1"/>
                    </a:solidFill>
                  </a:rPr>
                  <a:t>throughput </a:t>
                </a:r>
                <a:r>
                  <a:rPr lang="en-US" sz="2000" dirty="0"/>
                  <a:t>(number of completed workload per time unit)</a:t>
                </a:r>
              </a:p>
              <a:p>
                <a:pPr marL="342900" indent="-342900">
                  <a:lnSpc>
                    <a:spcPct val="110000"/>
                  </a:lnSpc>
                  <a:spcBef>
                    <a:spcPts val="1200"/>
                  </a:spcBef>
                  <a:buFont typeface="Courier New" panose="02070309020205020404" pitchFamily="49" charset="0"/>
                  <a:buChar char="o"/>
                </a:pPr>
                <a:r>
                  <a:rPr lang="en-US" sz="2000" dirty="0" smtClean="0"/>
                  <a:t>Pipeline throughput(=rate) is limited by the </a:t>
                </a:r>
                <a:r>
                  <a:rPr lang="en-US" sz="2000" dirty="0" smtClean="0">
                    <a:solidFill>
                      <a:schemeClr val="accent1"/>
                    </a:solidFill>
                  </a:rPr>
                  <a:t>slowest</a:t>
                </a:r>
                <a:r>
                  <a:rPr lang="en-US" sz="2000" dirty="0" smtClean="0"/>
                  <a:t> stage</a:t>
                </a:r>
              </a:p>
              <a:p>
                <a:pPr marL="342900" indent="-342900">
                  <a:lnSpc>
                    <a:spcPct val="110000"/>
                  </a:lnSpc>
                  <a:spcBef>
                    <a:spcPts val="1200"/>
                  </a:spcBef>
                  <a:buFont typeface="Courier New" panose="02070309020205020404" pitchFamily="49" charset="0"/>
                  <a:buChar char="o"/>
                </a:pPr>
                <a:r>
                  <a:rPr lang="en-US" sz="2000" dirty="0" smtClean="0"/>
                  <a:t>Potential speedup is:</a:t>
                </a:r>
              </a:p>
              <a:p>
                <a:pPr marL="625475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Speedup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Throughput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Non</m:t>
                              </m:r>
                              <m:r>
                                <a:rPr lang="en-US" sz="18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Pipelined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Throughput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Pipelined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 smtClean="0"/>
              </a:p>
              <a:p>
                <a:pPr marL="182563" indent="-342900">
                  <a:lnSpc>
                    <a:spcPct val="110000"/>
                  </a:lnSpc>
                  <a:buFont typeface="Courier New" panose="02070309020205020404" pitchFamily="49" charset="0"/>
                  <a:buChar char="o"/>
                </a:pPr>
                <a:r>
                  <a:rPr lang="en-US" sz="2000" dirty="0"/>
                  <a:t>In ideal </a:t>
                </a:r>
                <a:r>
                  <a:rPr lang="en-US" sz="2000" dirty="0" smtClean="0"/>
                  <a:t>case, all stages have the same length:</a:t>
                </a:r>
                <a:endParaRPr lang="en-US" sz="2000" dirty="0"/>
              </a:p>
              <a:p>
                <a:pPr marL="185738" lvl="1" indent="0">
                  <a:lnSpc>
                    <a:spcPct val="110000"/>
                  </a:lnSpc>
                  <a:buNone/>
                </a:pPr>
                <a:endParaRPr lang="en-US" sz="1800" dirty="0" smtClean="0"/>
              </a:p>
              <a:p>
                <a:pPr marL="471488" lvl="1" indent="-285750">
                  <a:lnSpc>
                    <a:spcPct val="110000"/>
                  </a:lnSpc>
                  <a:buFont typeface="Arial" pitchFamily="34" charset="0"/>
                  <a:buChar char="•"/>
                </a:pPr>
                <a:endParaRPr lang="en-US" sz="1800" dirty="0"/>
              </a:p>
            </p:txBody>
          </p:sp>
        </mc:Choice>
        <mc:Fallback xmlns="">
          <p:sp>
            <p:nvSpPr>
              <p:cNvPr id="4" name="Rectangle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62000"/>
                <a:ext cx="8228012" cy="5562600"/>
              </a:xfrm>
              <a:blipFill rotWithShape="0">
                <a:blip r:embed="rId3"/>
                <a:stretch>
                  <a:fillRect l="-1778" t="-1205" r="-11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698522" y="2429535"/>
                <a:ext cx="3262367" cy="7091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6192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6192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Wor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load</m:t>
                              </m:r>
                              <m: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Time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071C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Non</m:t>
                              </m:r>
                              <m:r>
                                <a:rPr lang="en-US" smtClean="0">
                                  <a:solidFill>
                                    <a:srgbClr val="0071C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071C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Pipelined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Slowest</m:t>
                              </m:r>
                              <m: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Stage</m:t>
                              </m:r>
                              <m: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Time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071C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Pipelined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dirty="0">
                  <a:solidFill>
                    <a:srgbClr val="06192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522" y="2429535"/>
                <a:ext cx="3262367" cy="70916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961829" y="3669957"/>
                <a:ext cx="6514860" cy="7091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061922"/>
                          </a:solidFill>
                          <a:latin typeface="Cambria Math" panose="02040503050406030204" pitchFamily="18" charset="0"/>
                        </a:rPr>
                        <m:t>Speedup</m:t>
                      </m:r>
                      <m:r>
                        <a:rPr lang="en-US" smtClean="0">
                          <a:solidFill>
                            <a:srgbClr val="0619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6192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Wor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load</m:t>
                              </m:r>
                              <m: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Time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071C5"/>
                                  </a:solidFill>
                                  <a:latin typeface="Cambria Math" panose="02040503050406030204" pitchFamily="18" charset="0"/>
                                </a:rPr>
                                <m:t>Non</m:t>
                              </m:r>
                              <m:r>
                                <a:rPr lang="en-US" smtClean="0">
                                  <a:solidFill>
                                    <a:srgbClr val="0071C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071C5"/>
                                  </a:solidFill>
                                  <a:latin typeface="Cambria Math" panose="02040503050406030204" pitchFamily="18" charset="0"/>
                                </a:rPr>
                                <m:t>Pipelined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Slowest</m:t>
                              </m:r>
                              <m: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Stage</m:t>
                              </m:r>
                              <m: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Time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071C5"/>
                                  </a:solidFill>
                                  <a:latin typeface="Cambria Math" panose="02040503050406030204" pitchFamily="18" charset="0"/>
                                </a:rPr>
                                <m:t>Pipelined</m:t>
                              </m:r>
                            </m:sub>
                          </m:sSub>
                        </m:den>
                      </m:f>
                      <m:r>
                        <a:rPr lang="en-US" smtClean="0">
                          <a:solidFill>
                            <a:srgbClr val="0619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solidFill>
                            <a:srgbClr val="061922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b="1" i="0" smtClean="0">
                          <a:solidFill>
                            <a:srgbClr val="0619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smtClean="0">
                          <a:solidFill>
                            <a:srgbClr val="061922"/>
                          </a:solidFill>
                          <a:latin typeface="Cambria Math" panose="02040503050406030204" pitchFamily="18" charset="0"/>
                        </a:rPr>
                        <m:t>𝐍𝐮𝐦</m:t>
                      </m:r>
                      <m:r>
                        <a:rPr lang="en-US" b="1" smtClean="0">
                          <a:solidFill>
                            <a:srgbClr val="061922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1" smtClean="0">
                          <a:solidFill>
                            <a:srgbClr val="061922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US" b="1" smtClean="0">
                          <a:solidFill>
                            <a:srgbClr val="061922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1" smtClean="0">
                          <a:solidFill>
                            <a:srgbClr val="061922"/>
                          </a:solidFill>
                          <a:latin typeface="Cambria Math" panose="02040503050406030204" pitchFamily="18" charset="0"/>
                        </a:rPr>
                        <m:t>𝐬𝐭𝐚𝐠𝐞𝐬</m:t>
                      </m:r>
                    </m:oMath>
                  </m:oMathPara>
                </a14:m>
                <a:endParaRPr lang="ru-RU" b="1" dirty="0">
                  <a:solidFill>
                    <a:srgbClr val="061922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829" y="3669957"/>
                <a:ext cx="6514860" cy="70916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1675223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Ways to increase speedup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503" y="979389"/>
            <a:ext cx="8228012" cy="5101172"/>
          </a:xfrm>
        </p:spPr>
        <p:txBody>
          <a:bodyPr/>
          <a:lstStyle/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sz="2000" dirty="0" smtClean="0"/>
              <a:t>Partition </a:t>
            </a:r>
            <a:r>
              <a:rPr lang="en-US" sz="2000" dirty="0"/>
              <a:t>the pipe to many pipe </a:t>
            </a:r>
            <a:r>
              <a:rPr lang="en-US" sz="2000" dirty="0" smtClean="0"/>
              <a:t>stages</a:t>
            </a:r>
            <a:endParaRPr lang="en-US" sz="2000" dirty="0"/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sz="2000" dirty="0"/>
              <a:t>Balance the work in the pipe stages: make the longest pipe stage to be as short as possible 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169636" y="2354799"/>
            <a:ext cx="5897548" cy="3949357"/>
            <a:chOff x="1169636" y="2354799"/>
            <a:chExt cx="5298074" cy="3547913"/>
          </a:xfrm>
        </p:grpSpPr>
        <p:pic>
          <p:nvPicPr>
            <p:cNvPr id="5" name="Picture 3" descr="C:\Users\pikryuko\AppData\Local\Temp\1bit_multiplexer_4_in_1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67" t="11531"/>
            <a:stretch/>
          </p:blipFill>
          <p:spPr bwMode="auto">
            <a:xfrm rot="16200000">
              <a:off x="2015238" y="1509197"/>
              <a:ext cx="3547913" cy="52391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/>
            <p:cNvSpPr/>
            <p:nvPr/>
          </p:nvSpPr>
          <p:spPr bwMode="auto">
            <a:xfrm rot="16200000">
              <a:off x="4746280" y="4181282"/>
              <a:ext cx="1803799" cy="1639061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513078" y="2155903"/>
            <a:ext cx="106863" cy="2444931"/>
            <a:chOff x="7056576" y="2252544"/>
            <a:chExt cx="206586" cy="3114909"/>
          </a:xfrm>
        </p:grpSpPr>
        <p:sp>
          <p:nvSpPr>
            <p:cNvPr id="9" name="Rectangle 8"/>
            <p:cNvSpPr/>
            <p:nvPr/>
          </p:nvSpPr>
          <p:spPr bwMode="auto">
            <a:xfrm>
              <a:off x="7056576" y="2252544"/>
              <a:ext cx="206586" cy="3114909"/>
            </a:xfrm>
            <a:prstGeom prst="rect">
              <a:avLst/>
            </a:prstGeom>
            <a:solidFill>
              <a:schemeClr val="accent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2" name="Isosceles Triangle 11"/>
            <p:cNvSpPr/>
            <p:nvPr/>
          </p:nvSpPr>
          <p:spPr bwMode="auto">
            <a:xfrm>
              <a:off x="7067183" y="5254947"/>
              <a:ext cx="195979" cy="112506"/>
            </a:xfrm>
            <a:prstGeom prst="triangle">
              <a:avLst/>
            </a:prstGeom>
            <a:solidFill>
              <a:schemeClr val="accent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555324" y="2155903"/>
            <a:ext cx="112464" cy="4005200"/>
            <a:chOff x="7056576" y="2252544"/>
            <a:chExt cx="206586" cy="3114909"/>
          </a:xfrm>
        </p:grpSpPr>
        <p:sp>
          <p:nvSpPr>
            <p:cNvPr id="15" name="Rectangle 14"/>
            <p:cNvSpPr/>
            <p:nvPr/>
          </p:nvSpPr>
          <p:spPr bwMode="auto">
            <a:xfrm>
              <a:off x="7056576" y="2252544"/>
              <a:ext cx="206586" cy="3114909"/>
            </a:xfrm>
            <a:prstGeom prst="rect">
              <a:avLst/>
            </a:prstGeom>
            <a:solidFill>
              <a:schemeClr val="accent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6" name="Isosceles Triangle 15"/>
            <p:cNvSpPr/>
            <p:nvPr/>
          </p:nvSpPr>
          <p:spPr bwMode="auto">
            <a:xfrm>
              <a:off x="7067184" y="5241659"/>
              <a:ext cx="195978" cy="125793"/>
            </a:xfrm>
            <a:prstGeom prst="triangle">
              <a:avLst/>
            </a:prstGeom>
            <a:solidFill>
              <a:schemeClr val="accent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382766" y="2155903"/>
            <a:ext cx="106863" cy="2444931"/>
            <a:chOff x="7056576" y="2252544"/>
            <a:chExt cx="206586" cy="3114909"/>
          </a:xfrm>
        </p:grpSpPr>
        <p:sp>
          <p:nvSpPr>
            <p:cNvPr id="18" name="Rectangle 17"/>
            <p:cNvSpPr/>
            <p:nvPr/>
          </p:nvSpPr>
          <p:spPr bwMode="auto">
            <a:xfrm>
              <a:off x="7056576" y="2252544"/>
              <a:ext cx="206586" cy="3114909"/>
            </a:xfrm>
            <a:prstGeom prst="rect">
              <a:avLst/>
            </a:prstGeom>
            <a:solidFill>
              <a:schemeClr val="accent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9" name="Isosceles Triangle 18"/>
            <p:cNvSpPr/>
            <p:nvPr/>
          </p:nvSpPr>
          <p:spPr bwMode="auto">
            <a:xfrm>
              <a:off x="7067183" y="5254947"/>
              <a:ext cx="195979" cy="112506"/>
            </a:xfrm>
            <a:prstGeom prst="triangle">
              <a:avLst/>
            </a:prstGeom>
            <a:solidFill>
              <a:schemeClr val="accent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386590" y="4936273"/>
            <a:ext cx="1992351" cy="64633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Latches increase overall latency</a:t>
            </a:r>
            <a:endParaRPr lang="ru-RU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918091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Pipeline Timing Model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Assuming that instructions are executed in </a:t>
                </a:r>
                <a:r>
                  <a:rPr lang="en-US" b="1" i="1" dirty="0" smtClean="0"/>
                  <a:t>L</a:t>
                </a:r>
                <a:r>
                  <a:rPr lang="en-US" dirty="0" smtClean="0"/>
                  <a:t> seconds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Each latch adds </a:t>
                </a:r>
                <a:r>
                  <a:rPr lang="en-US" b="1" i="1" dirty="0" smtClean="0"/>
                  <a:t>s</a:t>
                </a:r>
                <a:r>
                  <a:rPr lang="en-US" i="1" dirty="0" smtClean="0"/>
                  <a:t> </a:t>
                </a:r>
                <a:r>
                  <a:rPr lang="en-US" dirty="0" smtClean="0"/>
                  <a:t>delay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i="1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If pipeline has N stages, overall execution time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𝑁𝑠</m:t>
                    </m:r>
                  </m:oMath>
                </a14:m>
                <a:endParaRPr lang="en-US" dirty="0" smtClean="0">
                  <a:latin typeface="Neo Sans Intel" panose="020B05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Each stage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>
                    <a:latin typeface="Neo Sans Intel" panose="020B0504020202020204" pitchFamily="34" charset="0"/>
                  </a:rPr>
                  <a:t> </a:t>
                </a:r>
                <a:r>
                  <a:rPr lang="en-US" dirty="0" smtClean="0"/>
                  <a:t>seconds long</a:t>
                </a: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ru-RU" dirty="0">
                  <a:latin typeface="Neo Sans Intel" panose="020B05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ru-R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150" t="-1912" b="-31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2341344" y="1554596"/>
            <a:ext cx="2865791" cy="627363"/>
            <a:chOff x="6132758" y="5539298"/>
            <a:chExt cx="2865791" cy="627363"/>
          </a:xfrm>
        </p:grpSpPr>
        <p:sp>
          <p:nvSpPr>
            <p:cNvPr id="6" name="Rectangle 5"/>
            <p:cNvSpPr/>
            <p:nvPr/>
          </p:nvSpPr>
          <p:spPr bwMode="auto">
            <a:xfrm>
              <a:off x="6132758" y="5539298"/>
              <a:ext cx="707161" cy="627363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Neo Sans Intel" pitchFamily="34" charset="0"/>
                  <a:cs typeface="Arial" pitchFamily="34" charset="0"/>
                </a:rPr>
                <a:t>F</a:t>
              </a:r>
              <a:endParaRPr lang="ru-RU" sz="2000" b="1" dirty="0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6835669" y="5539298"/>
              <a:ext cx="381872" cy="6273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Neo Sans Intel" pitchFamily="34" charset="0"/>
                  <a:cs typeface="Arial" pitchFamily="34" charset="0"/>
                </a:rPr>
                <a:t>D</a:t>
              </a:r>
              <a:endParaRPr lang="ru-RU" sz="2000" b="1" dirty="0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7213291" y="5539298"/>
              <a:ext cx="707161" cy="627363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Neo Sans Intel" pitchFamily="34" charset="0"/>
                  <a:cs typeface="Arial" pitchFamily="34" charset="0"/>
                </a:rPr>
                <a:t>E</a:t>
              </a:r>
              <a:endParaRPr lang="ru-RU" sz="2000" b="1" dirty="0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7916202" y="5539298"/>
              <a:ext cx="707161" cy="627363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Neo Sans Intel" pitchFamily="34" charset="0"/>
                  <a:cs typeface="Arial" pitchFamily="34" charset="0"/>
                </a:rPr>
                <a:t>M</a:t>
              </a:r>
              <a:endParaRPr lang="ru-RU" sz="2000" b="1" dirty="0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8619114" y="5539298"/>
              <a:ext cx="379435" cy="627363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Neo Sans Intel" pitchFamily="34" charset="0"/>
                  <a:cs typeface="Arial" pitchFamily="34" charset="0"/>
                </a:rPr>
                <a:t>W</a:t>
              </a:r>
              <a:endParaRPr lang="ru-RU" sz="2000" b="1" dirty="0" smtClean="0">
                <a:latin typeface="Neo Sans Intel" pitchFamily="34" charset="0"/>
                <a:cs typeface="Arial" pitchFamily="34" charset="0"/>
              </a:endParaRPr>
            </a:p>
          </p:txBody>
        </p:sp>
      </p:grpSp>
      <p:sp>
        <p:nvSpPr>
          <p:cNvPr id="18" name="Rectangle 17"/>
          <p:cNvSpPr/>
          <p:nvPr/>
        </p:nvSpPr>
        <p:spPr bwMode="auto">
          <a:xfrm>
            <a:off x="2341344" y="1554596"/>
            <a:ext cx="2865791" cy="627363"/>
          </a:xfrm>
          <a:prstGeom prst="rect">
            <a:avLst/>
          </a:prstGeom>
          <a:solidFill>
            <a:srgbClr val="FFCC66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+mj-lt"/>
                <a:cs typeface="Arial" pitchFamily="34" charset="0"/>
              </a:rPr>
              <a:t>L</a:t>
            </a:r>
            <a:endParaRPr lang="ru-RU" sz="2000" b="1" dirty="0" smtClean="0">
              <a:latin typeface="+mj-lt"/>
              <a:cs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58360" y="3055589"/>
            <a:ext cx="154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= </a:t>
            </a:r>
            <a:r>
              <a:rPr lang="en-US" i="1" dirty="0" smtClean="0">
                <a:latin typeface="+mj-lt"/>
              </a:rPr>
              <a:t>L</a:t>
            </a:r>
            <a:r>
              <a:rPr lang="en-US" dirty="0" smtClean="0">
                <a:latin typeface="+mj-lt"/>
              </a:rPr>
              <a:t> + 2</a:t>
            </a:r>
            <a:r>
              <a:rPr lang="en-US" i="1" dirty="0" smtClean="0">
                <a:latin typeface="+mj-lt"/>
              </a:rPr>
              <a:t>s</a:t>
            </a:r>
            <a:endParaRPr lang="ru-RU" i="1" dirty="0" smtClean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64815" y="3899364"/>
            <a:ext cx="154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= </a:t>
            </a:r>
            <a:r>
              <a:rPr lang="en-US" i="1" dirty="0" smtClean="0">
                <a:latin typeface="+mj-lt"/>
              </a:rPr>
              <a:t>L</a:t>
            </a:r>
            <a:r>
              <a:rPr lang="en-US" dirty="0" smtClean="0">
                <a:latin typeface="+mj-lt"/>
              </a:rPr>
              <a:t> + 3</a:t>
            </a:r>
            <a:r>
              <a:rPr lang="en-US" i="1" dirty="0" smtClean="0">
                <a:latin typeface="+mj-lt"/>
              </a:rPr>
              <a:t>s</a:t>
            </a:r>
            <a:endParaRPr lang="ru-RU" i="1" dirty="0" smtClean="0">
              <a:latin typeface="+mj-lt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1873302" y="1544092"/>
            <a:ext cx="315615" cy="627363"/>
          </a:xfrm>
          <a:prstGeom prst="rect">
            <a:avLst/>
          </a:prstGeom>
          <a:solidFill>
            <a:srgbClr val="CBD5EA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+mj-lt"/>
                <a:cs typeface="Arial" pitchFamily="34" charset="0"/>
              </a:rPr>
              <a:t>s</a:t>
            </a:r>
            <a:endParaRPr lang="ru-RU" sz="2000" b="1" dirty="0" smtClean="0">
              <a:latin typeface="+mj-lt"/>
              <a:cs typeface="Arial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873302" y="3762796"/>
            <a:ext cx="4839602" cy="634916"/>
            <a:chOff x="1873302" y="3762796"/>
            <a:chExt cx="4839602" cy="634916"/>
          </a:xfrm>
        </p:grpSpPr>
        <p:sp>
          <p:nvSpPr>
            <p:cNvPr id="22" name="Rectangle 21"/>
            <p:cNvSpPr/>
            <p:nvPr/>
          </p:nvSpPr>
          <p:spPr bwMode="auto">
            <a:xfrm>
              <a:off x="2315730" y="3770347"/>
              <a:ext cx="1076273" cy="627363"/>
            </a:xfrm>
            <a:prstGeom prst="rect">
              <a:avLst/>
            </a:prstGeom>
            <a:solidFill>
              <a:srgbClr val="FFCC66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L/3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3533752" y="3762796"/>
              <a:ext cx="315615" cy="627363"/>
            </a:xfrm>
            <a:prstGeom prst="rect">
              <a:avLst/>
            </a:prstGeom>
            <a:solidFill>
              <a:srgbClr val="CBD5EA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s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 bwMode="auto">
            <a:xfrm>
              <a:off x="3991117" y="3770349"/>
              <a:ext cx="1076273" cy="627363"/>
            </a:xfrm>
            <a:prstGeom prst="rect">
              <a:avLst/>
            </a:prstGeom>
            <a:solidFill>
              <a:srgbClr val="FFCC66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L/3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5194203" y="3770349"/>
              <a:ext cx="315615" cy="627363"/>
            </a:xfrm>
            <a:prstGeom prst="rect">
              <a:avLst/>
            </a:prstGeom>
            <a:solidFill>
              <a:srgbClr val="CBD5EA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s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5636631" y="3770349"/>
              <a:ext cx="1076273" cy="627363"/>
            </a:xfrm>
            <a:prstGeom prst="rect">
              <a:avLst/>
            </a:prstGeom>
            <a:solidFill>
              <a:srgbClr val="FFCC66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L/3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1873302" y="3770348"/>
              <a:ext cx="315615" cy="627363"/>
            </a:xfrm>
            <a:prstGeom prst="rect">
              <a:avLst/>
            </a:prstGeom>
            <a:solidFill>
              <a:srgbClr val="CBD5EA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s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873302" y="2926571"/>
            <a:ext cx="3843131" cy="627367"/>
            <a:chOff x="1873302" y="2926571"/>
            <a:chExt cx="3843131" cy="627367"/>
          </a:xfrm>
        </p:grpSpPr>
        <p:sp>
          <p:nvSpPr>
            <p:cNvPr id="19" name="Rectangle 18"/>
            <p:cNvSpPr/>
            <p:nvPr/>
          </p:nvSpPr>
          <p:spPr bwMode="auto">
            <a:xfrm>
              <a:off x="2323956" y="2926572"/>
              <a:ext cx="1398032" cy="627363"/>
            </a:xfrm>
            <a:prstGeom prst="rect">
              <a:avLst/>
            </a:prstGeom>
            <a:solidFill>
              <a:srgbClr val="FFCC66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L/2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3862374" y="2926575"/>
              <a:ext cx="315615" cy="627363"/>
            </a:xfrm>
            <a:prstGeom prst="rect">
              <a:avLst/>
            </a:prstGeom>
            <a:solidFill>
              <a:srgbClr val="CBD5EA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s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4318401" y="2926571"/>
              <a:ext cx="1398032" cy="627363"/>
            </a:xfrm>
            <a:prstGeom prst="rect">
              <a:avLst/>
            </a:prstGeom>
            <a:solidFill>
              <a:srgbClr val="FFCC66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L/2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1873302" y="2926573"/>
              <a:ext cx="315615" cy="627363"/>
            </a:xfrm>
            <a:prstGeom prst="rect">
              <a:avLst/>
            </a:prstGeom>
            <a:solidFill>
              <a:srgbClr val="CBD5EA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s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0047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8" grpId="0" animBg="1"/>
      <p:bldP spid="28" grpId="0"/>
      <p:bldP spid="29" grpId="0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with Latches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Every </a:t>
                </a:r>
                <a:r>
                  <a:rPr lang="en-US" dirty="0"/>
                  <a:t>cycle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>
                    <a:latin typeface="Neo Sans Intel" panose="020B0504020202020204" pitchFamily="34" charset="0"/>
                  </a:rPr>
                  <a:t> </a:t>
                </a:r>
                <a:r>
                  <a:rPr lang="en-US" dirty="0" smtClean="0"/>
                  <a:t>long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In ideal case, </a:t>
                </a:r>
                <a:r>
                  <a:rPr lang="en-US" i="1" dirty="0" smtClean="0"/>
                  <a:t>IPC</a:t>
                </a:r>
                <a:r>
                  <a:rPr lang="en-US" dirty="0" smtClean="0"/>
                  <a:t> = 1 for pipeline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Performance is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Infinite performance is impossible</a:t>
                </a:r>
              </a:p>
              <a:p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The best result is achieved if cycle contains nothing but latches</a:t>
                </a:r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150" r="-8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09469" y="2767191"/>
                <a:ext cx="2742417" cy="7402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𝐼𝑃𝑆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𝐼𝑃𝐶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469" y="2767191"/>
                <a:ext cx="2742417" cy="74026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90291" y="4313817"/>
                <a:ext cx="1682768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𝐼𝑃𝑆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291" y="4313817"/>
                <a:ext cx="1682768" cy="5204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28406" y="5692890"/>
                <a:ext cx="1406539" cy="3591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8406" y="5692890"/>
                <a:ext cx="1406539" cy="359137"/>
              </a:xfrm>
              <a:prstGeom prst="rect">
                <a:avLst/>
              </a:prstGeom>
              <a:blipFill rotWithShape="0">
                <a:blip r:embed="rId5"/>
                <a:stretch>
                  <a:fillRect l="-1299" r="-1299" b="-152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42266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Hardware cost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059931"/>
            <a:ext cx="8228012" cy="356410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Furthermore, </a:t>
            </a:r>
            <a:r>
              <a:rPr lang="en-US" dirty="0"/>
              <a:t>l</a:t>
            </a:r>
            <a:r>
              <a:rPr lang="en-US" dirty="0" smtClean="0"/>
              <a:t>atches require additional HW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Overall cost is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2341344" y="1554596"/>
            <a:ext cx="2865791" cy="627363"/>
          </a:xfrm>
          <a:prstGeom prst="rect">
            <a:avLst/>
          </a:prstGeom>
          <a:solidFill>
            <a:srgbClr val="FFCC66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+mj-lt"/>
                <a:cs typeface="Arial" pitchFamily="34" charset="0"/>
              </a:rPr>
              <a:t>G</a:t>
            </a:r>
            <a:endParaRPr lang="ru-RU" sz="2000" b="1" dirty="0" smtClean="0">
              <a:latin typeface="+mj-lt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873302" y="1544092"/>
            <a:ext cx="315615" cy="627363"/>
          </a:xfrm>
          <a:prstGeom prst="rect">
            <a:avLst/>
          </a:prstGeom>
          <a:solidFill>
            <a:srgbClr val="CBD5EA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>
                <a:latin typeface="+mj-lt"/>
                <a:cs typeface="Arial" pitchFamily="34" charset="0"/>
              </a:rPr>
              <a:t>Q</a:t>
            </a:r>
            <a:endParaRPr lang="ru-RU" sz="2000" b="1" dirty="0" smtClean="0">
              <a:latin typeface="+mj-lt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2323956" y="2443353"/>
            <a:ext cx="1398032" cy="627363"/>
          </a:xfrm>
          <a:prstGeom prst="rect">
            <a:avLst/>
          </a:prstGeom>
          <a:solidFill>
            <a:srgbClr val="FFCC66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+mj-lt"/>
                <a:cs typeface="Arial" pitchFamily="34" charset="0"/>
              </a:rPr>
              <a:t>G/2</a:t>
            </a:r>
            <a:endParaRPr lang="ru-RU" sz="2000" b="1" dirty="0" smtClean="0">
              <a:latin typeface="+mj-lt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862374" y="2443356"/>
            <a:ext cx="315615" cy="627363"/>
          </a:xfrm>
          <a:prstGeom prst="rect">
            <a:avLst/>
          </a:prstGeom>
          <a:solidFill>
            <a:srgbClr val="CBD5EA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+mj-lt"/>
                <a:cs typeface="Arial" pitchFamily="34" charset="0"/>
              </a:rPr>
              <a:t>Q</a:t>
            </a:r>
            <a:endParaRPr lang="ru-RU" sz="2000" b="1" dirty="0" smtClean="0">
              <a:latin typeface="+mj-lt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4318401" y="2443352"/>
            <a:ext cx="1398032" cy="627363"/>
          </a:xfrm>
          <a:prstGeom prst="rect">
            <a:avLst/>
          </a:prstGeom>
          <a:solidFill>
            <a:srgbClr val="FFCC66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+mj-lt"/>
                <a:cs typeface="Arial" pitchFamily="34" charset="0"/>
              </a:rPr>
              <a:t>G/2</a:t>
            </a:r>
            <a:endParaRPr lang="ru-RU" sz="2000" b="1" dirty="0" smtClean="0">
              <a:latin typeface="+mj-lt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2315730" y="3287128"/>
            <a:ext cx="1076273" cy="627363"/>
          </a:xfrm>
          <a:prstGeom prst="rect">
            <a:avLst/>
          </a:prstGeom>
          <a:solidFill>
            <a:srgbClr val="FFCC66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+mj-lt"/>
                <a:cs typeface="Arial" pitchFamily="34" charset="0"/>
              </a:rPr>
              <a:t>G/3</a:t>
            </a:r>
            <a:endParaRPr lang="ru-RU" sz="20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533752" y="3279577"/>
            <a:ext cx="315615" cy="627363"/>
          </a:xfrm>
          <a:prstGeom prst="rect">
            <a:avLst/>
          </a:prstGeom>
          <a:solidFill>
            <a:srgbClr val="CBD5EA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+mj-lt"/>
                <a:cs typeface="Arial" pitchFamily="34" charset="0"/>
              </a:rPr>
              <a:t>Q</a:t>
            </a:r>
            <a:endParaRPr lang="ru-RU" sz="20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3991117" y="3287130"/>
            <a:ext cx="1076273" cy="627363"/>
          </a:xfrm>
          <a:prstGeom prst="rect">
            <a:avLst/>
          </a:prstGeom>
          <a:solidFill>
            <a:srgbClr val="FFCC66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+mj-lt"/>
                <a:cs typeface="Arial" pitchFamily="34" charset="0"/>
              </a:rPr>
              <a:t>G/3</a:t>
            </a:r>
            <a:endParaRPr lang="ru-RU" sz="20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5636631" y="3287130"/>
            <a:ext cx="1076273" cy="627363"/>
          </a:xfrm>
          <a:prstGeom prst="rect">
            <a:avLst/>
          </a:prstGeom>
          <a:solidFill>
            <a:srgbClr val="FFCC66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+mj-lt"/>
                <a:cs typeface="Arial" pitchFamily="34" charset="0"/>
              </a:rPr>
              <a:t>G/3</a:t>
            </a:r>
            <a:endParaRPr lang="ru-RU" sz="20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873302" y="2443354"/>
            <a:ext cx="315615" cy="627363"/>
          </a:xfrm>
          <a:prstGeom prst="rect">
            <a:avLst/>
          </a:prstGeom>
          <a:solidFill>
            <a:srgbClr val="CBD5EA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+mj-lt"/>
                <a:cs typeface="Arial" pitchFamily="34" charset="0"/>
              </a:rPr>
              <a:t>Q</a:t>
            </a:r>
            <a:endParaRPr lang="ru-RU" sz="20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1873302" y="3287129"/>
            <a:ext cx="315615" cy="627363"/>
          </a:xfrm>
          <a:prstGeom prst="rect">
            <a:avLst/>
          </a:prstGeom>
          <a:solidFill>
            <a:srgbClr val="CBD5EA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+mj-lt"/>
                <a:cs typeface="Arial" pitchFamily="34" charset="0"/>
              </a:rPr>
              <a:t>Q</a:t>
            </a:r>
            <a:endParaRPr lang="ru-RU" sz="20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195545" y="3296835"/>
            <a:ext cx="315615" cy="627363"/>
          </a:xfrm>
          <a:prstGeom prst="rect">
            <a:avLst/>
          </a:prstGeom>
          <a:solidFill>
            <a:srgbClr val="CBD5EA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000" b="1" dirty="0" smtClean="0">
                <a:latin typeface="+mj-lt"/>
                <a:cs typeface="Arial" pitchFamily="34" charset="0"/>
              </a:rPr>
              <a:t>Q</a:t>
            </a:r>
            <a:endParaRPr lang="ru-RU" sz="2000" b="1" dirty="0" smtClean="0">
              <a:latin typeface="+mj-lt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533752" y="4727559"/>
                <a:ext cx="12408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752" y="4727559"/>
                <a:ext cx="1240853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1970" r="-2956" b="-3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50693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Cost/Performance Trade-off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2" y="1059931"/>
            <a:ext cx="8688388" cy="510117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In 1981, </a:t>
            </a:r>
            <a:r>
              <a:rPr lang="en-US" b="1" dirty="0" smtClean="0"/>
              <a:t>Peter </a:t>
            </a:r>
            <a:r>
              <a:rPr lang="en-US" b="1" dirty="0"/>
              <a:t>M. </a:t>
            </a:r>
            <a:r>
              <a:rPr lang="en-US" b="1" dirty="0" err="1" smtClean="0"/>
              <a:t>Kogge</a:t>
            </a:r>
            <a:r>
              <a:rPr lang="en-US" b="1" dirty="0" smtClean="0"/>
              <a:t> </a:t>
            </a:r>
            <a:r>
              <a:rPr lang="en-US" dirty="0" smtClean="0"/>
              <a:t>used following metric to find optimal pipeline: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Derivation by </a:t>
            </a:r>
            <a:r>
              <a:rPr lang="en-US" i="1" dirty="0" smtClean="0"/>
              <a:t>N</a:t>
            </a:r>
            <a:r>
              <a:rPr lang="en-US" dirty="0"/>
              <a:t> </a:t>
            </a:r>
            <a:r>
              <a:rPr lang="en-US" dirty="0" smtClean="0"/>
              <a:t>can be used to find minimum: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HW cost is not very important today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Most of CPUs are superscalar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561064" y="1977482"/>
                <a:ext cx="4559004" cy="5670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𝑁𝑄𝑠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064" y="1977482"/>
                <a:ext cx="4559004" cy="56707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21259" y="3245003"/>
                <a:ext cx="3255891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𝐺𝐿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opt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𝐺𝐿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𝑄𝑠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b="0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259" y="3245003"/>
                <a:ext cx="3255891" cy="818366"/>
              </a:xfrm>
              <a:prstGeom prst="rect">
                <a:avLst/>
              </a:prstGeom>
              <a:blipFill rotWithShape="0">
                <a:blip r:embed="rId3"/>
                <a:stretch>
                  <a:fillRect b="-7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56517" y="4247256"/>
                <a:ext cx="1750479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opt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𝑄𝐿𝑠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b="0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517" y="4247256"/>
                <a:ext cx="1750479" cy="81836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390366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Improving model: adding BTB Impact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Branch </a:t>
            </a:r>
            <a:r>
              <a:rPr lang="en-US" dirty="0" err="1" smtClean="0"/>
              <a:t>mispredicts</a:t>
            </a:r>
            <a:r>
              <a:rPr lang="en-US" dirty="0" smtClean="0"/>
              <a:t> stall some fraction </a:t>
            </a:r>
            <a:r>
              <a:rPr lang="ru-RU" dirty="0" smtClean="0"/>
              <a:t>(</a:t>
            </a:r>
            <a:r>
              <a:rPr lang="el-GR" i="1" dirty="0" smtClean="0"/>
              <a:t>γ</a:t>
            </a:r>
            <a:r>
              <a:rPr lang="ru-RU" dirty="0" smtClean="0"/>
              <a:t>)</a:t>
            </a:r>
            <a:r>
              <a:rPr lang="ru-RU" i="1" dirty="0" smtClean="0"/>
              <a:t> </a:t>
            </a:r>
            <a:r>
              <a:rPr lang="en-US" dirty="0" smtClean="0"/>
              <a:t>of pipeline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Since they are rare, in average CPI delta is lower: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In general, “alpha” parameter is a function of selected </a:t>
            </a:r>
            <a:r>
              <a:rPr lang="en-US" dirty="0" err="1" smtClean="0"/>
              <a:t>uArch</a:t>
            </a:r>
            <a:r>
              <a:rPr lang="en-US" dirty="0" smtClean="0"/>
              <a:t>:</a:t>
            </a:r>
          </a:p>
          <a:p>
            <a:pPr marL="1027113" lvl="2" indent="-342900">
              <a:buFont typeface="Calibri" panose="020F0502020204030204" pitchFamily="34" charset="0"/>
              <a:buChar char="—"/>
            </a:pPr>
            <a:r>
              <a:rPr lang="en-US" dirty="0" smtClean="0"/>
              <a:t>how good branches are predicted;</a:t>
            </a:r>
          </a:p>
          <a:p>
            <a:pPr marL="1027113" lvl="2" indent="-342900">
              <a:buFont typeface="Calibri" panose="020F0502020204030204" pitchFamily="34" charset="0"/>
              <a:buChar char="—"/>
            </a:pPr>
            <a:r>
              <a:rPr lang="en-US" dirty="0" smtClean="0"/>
              <a:t>how </a:t>
            </a:r>
            <a:r>
              <a:rPr lang="en-US" dirty="0" err="1" smtClean="0"/>
              <a:t>mispredicts</a:t>
            </a:r>
            <a:r>
              <a:rPr lang="en-US" dirty="0" smtClean="0"/>
              <a:t> affect pipeline;</a:t>
            </a:r>
          </a:p>
          <a:p>
            <a:pPr marL="1027113" lvl="2" indent="-342900">
              <a:buFont typeface="Calibri" panose="020F0502020204030204" pitchFamily="34" charset="0"/>
              <a:buChar char="—"/>
            </a:pPr>
            <a:r>
              <a:rPr lang="en-US" dirty="0" smtClean="0"/>
              <a:t>bypassing levels;</a:t>
            </a:r>
          </a:p>
          <a:p>
            <a:pPr marL="1027113" lvl="2" indent="-342900">
              <a:buFont typeface="Calibri" panose="020F0502020204030204" pitchFamily="34" charset="0"/>
              <a:buChar char="—"/>
            </a:pP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cache hit rate, out-of-order effects etc.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981259" y="1780938"/>
                <a:ext cx="11751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𝐶𝑃𝐼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259" y="1780938"/>
                <a:ext cx="1175129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3627" r="-4145" b="-239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604937" y="3012791"/>
                <a:ext cx="1988685" cy="2775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𝐶𝑃𝐼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937" y="3012791"/>
                <a:ext cx="1988685" cy="277576"/>
              </a:xfrm>
              <a:prstGeom prst="rect">
                <a:avLst/>
              </a:prstGeom>
              <a:blipFill rotWithShape="0">
                <a:blip r:embed="rId3"/>
                <a:stretch>
                  <a:fillRect l="-306" r="-306" b="-3478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194" y="3532691"/>
                <a:ext cx="1457258" cy="2775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𝐶𝑃𝐼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194" y="3532691"/>
                <a:ext cx="1457258" cy="277576"/>
              </a:xfrm>
              <a:prstGeom prst="rect">
                <a:avLst/>
              </a:prstGeom>
              <a:blipFill rotWithShape="0">
                <a:blip r:embed="rId4"/>
                <a:stretch>
                  <a:fillRect l="-3347" r="-2929"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10676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40" name="Group 20"/>
          <p:cNvGrpSpPr>
            <a:grpSpLocks/>
          </p:cNvGrpSpPr>
          <p:nvPr/>
        </p:nvGrpSpPr>
        <p:grpSpPr bwMode="auto">
          <a:xfrm>
            <a:off x="2096692" y="2138518"/>
            <a:ext cx="4728215" cy="276225"/>
            <a:chOff x="867" y="1588"/>
            <a:chExt cx="4301" cy="232"/>
          </a:xfrm>
        </p:grpSpPr>
        <p:sp>
          <p:nvSpPr>
            <p:cNvPr id="14352" name="Rectangle 21"/>
            <p:cNvSpPr>
              <a:spLocks noChangeArrowheads="1"/>
            </p:cNvSpPr>
            <p:nvPr/>
          </p:nvSpPr>
          <p:spPr bwMode="auto">
            <a:xfrm>
              <a:off x="867" y="1588"/>
              <a:ext cx="664" cy="23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3" name="Rectangle 22" descr="Light downward diagonal"/>
            <p:cNvSpPr>
              <a:spLocks noChangeArrowheads="1"/>
            </p:cNvSpPr>
            <p:nvPr/>
          </p:nvSpPr>
          <p:spPr bwMode="auto">
            <a:xfrm>
              <a:off x="1539" y="1588"/>
              <a:ext cx="664" cy="2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4" name="Rectangle 23"/>
            <p:cNvSpPr>
              <a:spLocks noChangeArrowheads="1"/>
            </p:cNvSpPr>
            <p:nvPr/>
          </p:nvSpPr>
          <p:spPr bwMode="auto">
            <a:xfrm>
              <a:off x="2211" y="1588"/>
              <a:ext cx="664" cy="23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5" name="Rectangle 24"/>
            <p:cNvSpPr>
              <a:spLocks noChangeArrowheads="1"/>
            </p:cNvSpPr>
            <p:nvPr/>
          </p:nvSpPr>
          <p:spPr bwMode="auto">
            <a:xfrm>
              <a:off x="3555" y="1588"/>
              <a:ext cx="664" cy="23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6" name="Rectangle 25" descr="Light downward diagonal"/>
            <p:cNvSpPr>
              <a:spLocks noChangeArrowheads="1"/>
            </p:cNvSpPr>
            <p:nvPr/>
          </p:nvSpPr>
          <p:spPr bwMode="auto">
            <a:xfrm>
              <a:off x="4227" y="1588"/>
              <a:ext cx="269" cy="2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7" name="Rectangle 26"/>
            <p:cNvSpPr>
              <a:spLocks noChangeArrowheads="1"/>
            </p:cNvSpPr>
            <p:nvPr/>
          </p:nvSpPr>
          <p:spPr bwMode="auto">
            <a:xfrm>
              <a:off x="4504" y="1588"/>
              <a:ext cx="664" cy="23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8" name="Line 27"/>
            <p:cNvSpPr>
              <a:spLocks noChangeShapeType="1"/>
            </p:cNvSpPr>
            <p:nvPr/>
          </p:nvSpPr>
          <p:spPr bwMode="auto">
            <a:xfrm>
              <a:off x="3023" y="1728"/>
              <a:ext cx="336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prstDash val="solid"/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53116" name="Rectangle 28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69056" tIns="34529" rIns="69056" bIns="34529" numCol="1" rtlCol="0" anchor="ctr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en-US" dirty="0" smtClean="0"/>
              <a:t>Amdahl’s Law</a:t>
            </a:r>
            <a:endParaRPr lang="en-US" dirty="0" smtClean="0">
              <a:solidFill>
                <a:schemeClr val="hlin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spcBef>
                    <a:spcPct val="30000"/>
                  </a:spcBef>
                  <a:buFont typeface="Arial" panose="020B0604020202020204" pitchFamily="34" charset="0"/>
                  <a:buChar char="•"/>
                </a:pPr>
                <a:r>
                  <a:rPr lang="en-US" sz="1950" dirty="0"/>
                  <a:t>If a fraction F of the program is accelerated by a factor S, and the remainder of the program is unaffected, then:</a:t>
                </a:r>
              </a:p>
              <a:p>
                <a:pPr marL="342900" indent="-342900">
                  <a:spcBef>
                    <a:spcPct val="30000"/>
                  </a:spcBef>
                  <a:buFont typeface="Arial" panose="020B0604020202020204" pitchFamily="34" charset="0"/>
                  <a:buChar char="•"/>
                </a:pPr>
                <a:endParaRPr lang="en-US" sz="1950" dirty="0" smtClean="0"/>
              </a:p>
              <a:p>
                <a:pPr marL="342900" indent="-342900">
                  <a:spcBef>
                    <a:spcPct val="30000"/>
                  </a:spcBef>
                  <a:buFont typeface="Arial" panose="020B0604020202020204" pitchFamily="34" charset="0"/>
                  <a:buChar char="•"/>
                </a:pPr>
                <a:endParaRPr lang="en-US" sz="1950" dirty="0"/>
              </a:p>
              <a:p>
                <a:pPr marL="342900" indent="-342900">
                  <a:spcBef>
                    <a:spcPct val="30000"/>
                  </a:spcBef>
                  <a:buFont typeface="Arial" panose="020B0604020202020204" pitchFamily="34" charset="0"/>
                  <a:buChar char="•"/>
                </a:pPr>
                <a:endParaRPr lang="en-US" sz="1950" dirty="0" smtClean="0"/>
              </a:p>
              <a:p>
                <a:pPr marL="342900" indent="-342900">
                  <a:spcBef>
                    <a:spcPct val="30000"/>
                  </a:spcBef>
                  <a:buFont typeface="Arial" panose="020B0604020202020204" pitchFamily="34" charset="0"/>
                  <a:buChar char="•"/>
                </a:pPr>
                <a:r>
                  <a:rPr lang="en-US" sz="1950" dirty="0" smtClean="0"/>
                  <a:t>T</a:t>
                </a:r>
                <a:r>
                  <a:rPr lang="en-US" sz="1950" dirty="0"/>
                  <a:t>’=T x [ (1-F)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9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950">
                            <a:latin typeface="Cambria Math" panose="02040503050406030204" pitchFamily="18" charset="0"/>
                          </a:rPr>
                          <m:t>F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950">
                            <a:latin typeface="Cambria Math" panose="02040503050406030204" pitchFamily="18" charset="0"/>
                          </a:rPr>
                          <m:t>S</m:t>
                        </m:r>
                      </m:den>
                    </m:f>
                  </m:oMath>
                </a14:m>
                <a:r>
                  <a:rPr lang="en-US" sz="1950" dirty="0"/>
                  <a:t> ]</a:t>
                </a:r>
              </a:p>
              <a:p>
                <a:pPr marL="342900" indent="-342900">
                  <a:spcBef>
                    <a:spcPct val="30000"/>
                  </a:spcBef>
                  <a:buFont typeface="Arial" panose="020B0604020202020204" pitchFamily="34" charset="0"/>
                  <a:buChar char="•"/>
                </a:pPr>
                <a:r>
                  <a:rPr lang="en-US" sz="1950" dirty="0"/>
                  <a:t>Speedup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9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950">
                            <a:latin typeface="Cambria Math" panose="02040503050406030204" pitchFamily="18" charset="0"/>
                          </a:rPr>
                          <m:t>T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95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950">
                            <a:latin typeface="Cambria Math" panose="02040503050406030204" pitchFamily="18" charset="0"/>
                          </a:rPr>
                          <m:t>′</m:t>
                        </m:r>
                      </m:den>
                    </m:f>
                    <m:r>
                      <a:rPr lang="en-US" sz="195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5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sz="195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5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m:rPr>
                                <m:sty m:val="p"/>
                              </m:rPr>
                              <a:rPr lang="en-US" sz="1950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</m:d>
                        <m:r>
                          <a:rPr lang="en-US" sz="195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95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1950">
                                <a:latin typeface="Cambria Math" panose="02040503050406030204" pitchFamily="18" charset="0"/>
                              </a:rPr>
                              <m:t>F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1950">
                                <a:latin typeface="Cambria Math" panose="02040503050406030204" pitchFamily="18" charset="0"/>
                              </a:rPr>
                              <m:t>S</m:t>
                            </m:r>
                          </m:den>
                        </m:f>
                      </m:den>
                    </m:f>
                  </m:oMath>
                </a14:m>
                <a:endParaRPr lang="en-US" sz="1950" dirty="0"/>
              </a:p>
              <a:p>
                <a:pPr marL="342900" indent="-342900">
                  <a:spcBef>
                    <a:spcPct val="30000"/>
                  </a:spcBef>
                  <a:buFont typeface="Arial" panose="020B0604020202020204" pitchFamily="34" charset="0"/>
                  <a:buChar char="•"/>
                </a:pPr>
                <a:r>
                  <a:rPr lang="en-US" sz="1950" dirty="0"/>
                  <a:t>Corollaries:</a:t>
                </a:r>
              </a:p>
              <a:p>
                <a:pPr marL="685800" lvl="1" indent="-342900">
                  <a:spcBef>
                    <a:spcPct val="30000"/>
                  </a:spcBef>
                  <a:buFont typeface="Arial" panose="020B0604020202020204" pitchFamily="34" charset="0"/>
                  <a:buChar char="•"/>
                </a:pPr>
                <a:r>
                  <a:rPr lang="en-US" sz="1950" dirty="0"/>
                  <a:t>There is a limit of how much speedup is achieved</a:t>
                </a:r>
              </a:p>
              <a:p>
                <a:pPr marL="1028700" lvl="2" indent="-342900">
                  <a:spcBef>
                    <a:spcPct val="30000"/>
                  </a:spcBef>
                  <a:buFont typeface="Arial" panose="020B0604020202020204" pitchFamily="34" charset="0"/>
                  <a:buChar char="•"/>
                </a:pPr>
                <a:r>
                  <a:rPr lang="en-US" sz="1950" dirty="0"/>
                  <a:t>Speedup</a:t>
                </a:r>
                <a:r>
                  <a:rPr lang="en-US" sz="1950" baseline="-25000" dirty="0"/>
                  <a:t>max</a:t>
                </a:r>
                <a:r>
                  <a:rPr lang="en-US" sz="195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9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950">
                            <a:latin typeface="Cambria Math" panose="02040503050406030204" pitchFamily="18" charset="0"/>
                          </a:rPr>
                          <m:t>T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95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950">
                            <a:latin typeface="Cambria Math" panose="02040503050406030204" pitchFamily="18" charset="0"/>
                          </a:rPr>
                          <m:t>′</m:t>
                        </m:r>
                      </m:den>
                    </m:f>
                    <m:r>
                      <a:rPr lang="en-US" sz="195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5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95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US" sz="1950">
                            <a:latin typeface="Cambria Math" panose="02040503050406030204" pitchFamily="18" charset="0"/>
                          </a:rPr>
                          <m:t>F</m:t>
                        </m:r>
                      </m:den>
                    </m:f>
                  </m:oMath>
                </a14:m>
                <a:endParaRPr lang="en-US" sz="1950" dirty="0"/>
              </a:p>
              <a:p>
                <a:pPr marL="685800" lvl="1" indent="-342900">
                  <a:spcBef>
                    <a:spcPct val="30000"/>
                  </a:spcBef>
                  <a:buFont typeface="Arial" panose="020B0604020202020204" pitchFamily="34" charset="0"/>
                  <a:buChar char="•"/>
                </a:pPr>
                <a:r>
                  <a:rPr lang="en-US" sz="1950" dirty="0"/>
                  <a:t>Diminishing returns</a:t>
                </a:r>
              </a:p>
              <a:p>
                <a:pPr marL="685800" lvl="1" indent="-342900">
                  <a:spcBef>
                    <a:spcPct val="30000"/>
                  </a:spcBef>
                  <a:buFont typeface="Arial" panose="020B0604020202020204" pitchFamily="34" charset="0"/>
                  <a:buChar char="•"/>
                </a:pPr>
                <a:r>
                  <a:rPr lang="en-US" sz="1950" b="1" dirty="0"/>
                  <a:t>Make common case </a:t>
                </a:r>
                <a:r>
                  <a:rPr lang="en-US" sz="1950" b="1" dirty="0" smtClean="0"/>
                  <a:t>fast</a:t>
                </a:r>
                <a:endParaRPr lang="en-US" sz="1950" b="1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779" t="-1485" b="-7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/>
          <p:cNvCxnSpPr/>
          <p:nvPr/>
        </p:nvCxnSpPr>
        <p:spPr bwMode="auto">
          <a:xfrm>
            <a:off x="2096692" y="2652868"/>
            <a:ext cx="220745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5" name="Rectangle 4"/>
          <p:cNvSpPr/>
          <p:nvPr/>
        </p:nvSpPr>
        <p:spPr>
          <a:xfrm>
            <a:off x="2987548" y="2537638"/>
            <a:ext cx="32573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latin typeface="Arial" charset="0"/>
              </a:rPr>
              <a:t>T</a:t>
            </a:r>
            <a:endParaRPr lang="en-US" dirty="0"/>
          </a:p>
        </p:txBody>
      </p:sp>
      <p:cxnSp>
        <p:nvCxnSpPr>
          <p:cNvPr id="37" name="Straight Connector 36"/>
          <p:cNvCxnSpPr/>
          <p:nvPr/>
        </p:nvCxnSpPr>
        <p:spPr bwMode="auto">
          <a:xfrm>
            <a:off x="5050597" y="2653798"/>
            <a:ext cx="177431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38" name="Rectangle 37"/>
          <p:cNvSpPr/>
          <p:nvPr/>
        </p:nvSpPr>
        <p:spPr>
          <a:xfrm>
            <a:off x="5793894" y="2538568"/>
            <a:ext cx="38985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latin typeface="Arial" charset="0"/>
              </a:rPr>
              <a:t>T</a:t>
            </a:r>
            <a:r>
              <a:rPr lang="en-US" b="1" dirty="0" smtClean="0">
                <a:latin typeface="Arial" charset="0"/>
              </a:rPr>
              <a:t>’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588" y="2260946"/>
            <a:ext cx="826925" cy="103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8317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3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</a:t>
            </a:r>
            <a:r>
              <a:rPr lang="en-US" dirty="0" err="1" smtClean="0"/>
              <a:t>Amhdal’s</a:t>
            </a:r>
            <a:r>
              <a:rPr lang="en-US" dirty="0" smtClean="0"/>
              <a:t> Law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Assuming branch prediction accuracy is 50%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20% of instructions are branches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Increasing BPU accuracy to 90%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Improving BPU accuracy by 40% → CPI increase is only 18%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901253" y="2315432"/>
                <a:ext cx="3335144" cy="2775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𝐶𝑃𝐼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20% ∗50% ∗3=1.3</m:t>
                      </m:r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253" y="2315432"/>
                <a:ext cx="3335144" cy="277576"/>
              </a:xfrm>
              <a:prstGeom prst="rect">
                <a:avLst/>
              </a:prstGeom>
              <a:blipFill rotWithShape="0">
                <a:blip r:embed="rId2"/>
                <a:stretch>
                  <a:fillRect l="-1097" r="-1097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969380" y="3634935"/>
                <a:ext cx="5855064" cy="2775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𝐶𝑃𝐼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20% ∗90% ∗3=1.54=1.3 ∗(100%+18%)</m:t>
                      </m:r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380" y="3634935"/>
                <a:ext cx="5855064" cy="277576"/>
              </a:xfrm>
              <a:prstGeom prst="rect">
                <a:avLst/>
              </a:prstGeom>
              <a:blipFill rotWithShape="0">
                <a:blip r:embed="rId3"/>
                <a:stretch>
                  <a:fillRect l="-312" r="-937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78058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Improving model: adding superscalar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In superscalar CPUs ideal CPI depends on width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Overall, we have an equation for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Let’s use clock time for simplicity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723885" y="1607247"/>
                <a:ext cx="1557671" cy="5200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𝐶𝑃𝐼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885" y="1607247"/>
                <a:ext cx="1557671" cy="52007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97914" y="2870250"/>
                <a:ext cx="3292376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𝐼𝑃𝑆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𝐶𝑃𝐼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914" y="2870250"/>
                <a:ext cx="3292376" cy="62235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58552" y="4235524"/>
                <a:ext cx="2278444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𝐼𝑃𝑆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552" y="4235524"/>
                <a:ext cx="2278444" cy="62235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1647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Maximum performance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Performing derivation by </a:t>
            </a:r>
            <a:r>
              <a:rPr lang="en-US" i="1" dirty="0" smtClean="0"/>
              <a:t>t</a:t>
            </a:r>
            <a:r>
              <a:rPr lang="en-US" dirty="0" smtClean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Finding maximum performance: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525170" y="1608233"/>
                <a:ext cx="3618748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𝐼𝑃𝑆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170" y="1608233"/>
                <a:ext cx="3618748" cy="62235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74263" y="2778885"/>
                <a:ext cx="5212453" cy="5558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opt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𝑊𝐿</m:t>
                          </m:r>
                        </m:e>
                      </m:rad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263" y="2778885"/>
                <a:ext cx="5212453" cy="55585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96490" y="3883045"/>
                <a:ext cx="5719899" cy="6770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𝐼𝑃𝑆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</m:rad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den>
                                  </m:f>
                                </m:e>
                              </m:ra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490" y="3883045"/>
                <a:ext cx="5719899" cy="67704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54751" y="5033118"/>
                <a:ext cx="2828147" cy="8715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𝐼𝑃𝑆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den>
                                      </m:f>
                                    </m:e>
                                  </m:rad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751" y="5033118"/>
                <a:ext cx="2828147" cy="871585"/>
              </a:xfrm>
              <a:prstGeom prst="rect">
                <a:avLst/>
              </a:prstGeom>
              <a:blipFill rotWithShape="0">
                <a:blip r:embed="rId5"/>
                <a:stretch>
                  <a:fillRect l="-7991" t="-185315" r="-20950" b="-2538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30860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Intel CPUs timeline</a:t>
            </a:r>
            <a:endParaRPr lang="ru-R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53797" y="789992"/>
          <a:ext cx="8649751" cy="54562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365160" y="5035640"/>
            <a:ext cx="682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latin typeface="+mj-lt"/>
              </a:rPr>
              <a:t>8086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2" y="5035639"/>
            <a:ext cx="783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latin typeface="+mj-lt"/>
              </a:rPr>
              <a:t>80286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0325" y="4893312"/>
            <a:ext cx="656820" cy="30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latin typeface="+mj-lt"/>
              </a:rPr>
              <a:t>80386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8510" y="4808611"/>
            <a:ext cx="656820" cy="309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latin typeface="+mj-lt"/>
              </a:rPr>
              <a:t>80486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4772" y="5189527"/>
            <a:ext cx="808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Pentium</a:t>
            </a:r>
            <a:endParaRPr lang="ru-RU" sz="1400" dirty="0" smtClean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86389" y="3899493"/>
            <a:ext cx="1096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Pentium Pro</a:t>
            </a:r>
            <a:endParaRPr lang="ru-RU" sz="1400" dirty="0" smtClean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82724" y="3899337"/>
            <a:ext cx="392718" cy="307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PII</a:t>
            </a:r>
            <a:endParaRPr lang="ru-RU" sz="1400" dirty="0" smtClean="0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19996" y="4233027"/>
            <a:ext cx="425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PIII</a:t>
            </a:r>
            <a:endParaRPr lang="ru-RU" sz="1400" dirty="0" smtClean="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547619" y="2884487"/>
            <a:ext cx="425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P4</a:t>
            </a:r>
            <a:endParaRPr lang="ru-RU" sz="1400" dirty="0" smtClean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21236" y="1808911"/>
            <a:ext cx="1203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j-lt"/>
              </a:rPr>
              <a:t>Prescott P4</a:t>
            </a:r>
            <a:endParaRPr lang="ru-RU" sz="1400" dirty="0" smtClean="0">
              <a:latin typeface="+mj-lt"/>
            </a:endParaRPr>
          </a:p>
        </p:txBody>
      </p:sp>
      <p:sp>
        <p:nvSpPr>
          <p:cNvPr id="15" name="Rounded Rectangular Callout 14"/>
          <p:cNvSpPr/>
          <p:nvPr/>
        </p:nvSpPr>
        <p:spPr bwMode="auto">
          <a:xfrm>
            <a:off x="3348510" y="2451390"/>
            <a:ext cx="1867436" cy="637879"/>
          </a:xfrm>
          <a:prstGeom prst="wedgeRoundRectCallout">
            <a:avLst>
              <a:gd name="adj1" fmla="val 105230"/>
              <a:gd name="adj2" fmla="val -101040"/>
              <a:gd name="adj3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b="1" dirty="0" smtClean="0">
                <a:latin typeface="+mj-lt"/>
                <a:cs typeface="Arial" pitchFamily="34" charset="0"/>
              </a:rPr>
              <a:t>What happened?</a:t>
            </a:r>
            <a:endParaRPr lang="ru-RU" b="1" dirty="0" smtClean="0"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7926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</a:t>
            </a:r>
            <a:endParaRPr lang="ru-R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B44C7BE5-B578-44C2-B697-AD60B2F34A37}" type="slidenum">
              <a:rPr lang="ja-JP" altLang="en-US" smtClean="0">
                <a:solidFill>
                  <a:srgbClr val="FFFFFF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18</a:t>
            </a:fld>
            <a:endParaRPr lang="en-US" altLang="ja-JP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31855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45" y="1711534"/>
            <a:ext cx="8196373" cy="362572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+mj-lt"/>
              </a:rPr>
              <a:t>Why is power important?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/>
              <a:t>Less power -&gt; smaller battery -&gt; smaller/cheaper devices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/>
              <a:t>Less power -&gt; less money for electricity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+mj-lt"/>
              </a:rPr>
              <a:t>Power Wall </a:t>
            </a:r>
            <a:r>
              <a:rPr lang="en-US" dirty="0" smtClean="0">
                <a:latin typeface="+mj-lt"/>
              </a:rPr>
              <a:t>is reached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/>
              <a:t>The maximum power dissipation that cooling systems can handle is reached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/>
              <a:t>We cannot spend more power </a:t>
            </a:r>
            <a:r>
              <a:rPr lang="en-US" sz="1600" dirty="0" smtClean="0"/>
              <a:t>even if </a:t>
            </a:r>
            <a:r>
              <a:rPr lang="en-US" sz="1600" dirty="0"/>
              <a:t>we want</a:t>
            </a:r>
          </a:p>
          <a:p>
            <a:pPr lvl="1"/>
            <a:endParaRPr lang="ru-RU" sz="1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15437" r="6034"/>
          <a:stretch/>
        </p:blipFill>
        <p:spPr>
          <a:xfrm>
            <a:off x="6980583" y="1852420"/>
            <a:ext cx="1849093" cy="1248035"/>
          </a:xfrm>
          <a:prstGeom prst="rect">
            <a:avLst/>
          </a:prstGeom>
        </p:spPr>
      </p:pic>
      <p:sp>
        <p:nvSpPr>
          <p:cNvPr id="8" name="Line Callout 1 (No Border) 7"/>
          <p:cNvSpPr/>
          <p:nvPr/>
        </p:nvSpPr>
        <p:spPr>
          <a:xfrm>
            <a:off x="6885091" y="1040230"/>
            <a:ext cx="2163418" cy="451049"/>
          </a:xfrm>
          <a:prstGeom prst="callout1">
            <a:avLst>
              <a:gd name="adj1" fmla="val 113689"/>
              <a:gd name="adj2" fmla="val 49924"/>
              <a:gd name="adj3" fmla="val 169740"/>
              <a:gd name="adj4" fmla="val 46389"/>
            </a:avLst>
          </a:pr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j-lt"/>
              </a:rPr>
              <a:t>Nuclear reactor? No, power supply for a large data center</a:t>
            </a:r>
            <a:endParaRPr lang="ru-RU" sz="105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783" y="3574407"/>
            <a:ext cx="3877217" cy="19176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89320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  <p:extLst mod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2946863" y="5134177"/>
            <a:ext cx="3208583" cy="1084508"/>
            <a:chOff x="2946863" y="5134177"/>
            <a:chExt cx="3208583" cy="1084508"/>
          </a:xfrm>
        </p:grpSpPr>
        <p:sp>
          <p:nvSpPr>
            <p:cNvPr id="107" name="Rectangle 106"/>
            <p:cNvSpPr/>
            <p:nvPr/>
          </p:nvSpPr>
          <p:spPr bwMode="auto">
            <a:xfrm>
              <a:off x="4257826" y="5810389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08" name="Rectangle 107"/>
            <p:cNvSpPr/>
            <p:nvPr/>
          </p:nvSpPr>
          <p:spPr bwMode="auto">
            <a:xfrm>
              <a:off x="3387074" y="5810388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10" name="Rectangle 109"/>
            <p:cNvSpPr/>
            <p:nvPr/>
          </p:nvSpPr>
          <p:spPr bwMode="auto">
            <a:xfrm>
              <a:off x="5116474" y="5810389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14" name="Rectangle 113"/>
            <p:cNvSpPr/>
            <p:nvPr/>
          </p:nvSpPr>
          <p:spPr bwMode="auto">
            <a:xfrm>
              <a:off x="2946863" y="5967134"/>
              <a:ext cx="578562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15" name="Rectangle 114"/>
            <p:cNvSpPr/>
            <p:nvPr/>
          </p:nvSpPr>
          <p:spPr bwMode="auto">
            <a:xfrm>
              <a:off x="5576884" y="5967134"/>
              <a:ext cx="578562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16" name="Rectangle 115"/>
            <p:cNvSpPr/>
            <p:nvPr/>
          </p:nvSpPr>
          <p:spPr bwMode="auto">
            <a:xfrm>
              <a:off x="3851915" y="5967134"/>
              <a:ext cx="1409250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1045" name="Straight Arrow Connector 1044"/>
            <p:cNvCxnSpPr/>
            <p:nvPr/>
          </p:nvCxnSpPr>
          <p:spPr bwMode="auto">
            <a:xfrm>
              <a:off x="4599465" y="5134177"/>
              <a:ext cx="0" cy="683611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6" name="TextBox 125"/>
            <p:cNvSpPr txBox="1"/>
            <p:nvPr/>
          </p:nvSpPr>
          <p:spPr>
            <a:xfrm>
              <a:off x="3984283" y="5451622"/>
              <a:ext cx="5877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latin typeface="+mj-lt"/>
                </a:rPr>
                <a:t>Gate</a:t>
              </a:r>
            </a:p>
          </p:txBody>
        </p:sp>
      </p:grpSp>
      <p:sp>
        <p:nvSpPr>
          <p:cNvPr id="1041" name="Rectangle 1040"/>
          <p:cNvSpPr/>
          <p:nvPr/>
        </p:nvSpPr>
        <p:spPr bwMode="auto">
          <a:xfrm>
            <a:off x="2903959" y="5810388"/>
            <a:ext cx="3352129" cy="514212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38000">
                <a:schemeClr val="bg1"/>
              </a:gs>
            </a:gsLst>
            <a:lin ang="16200000" scaled="0"/>
          </a:gra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522404" y="2466282"/>
            <a:ext cx="8404471" cy="2965278"/>
            <a:chOff x="522404" y="2466282"/>
            <a:chExt cx="8404471" cy="2965278"/>
          </a:xfrm>
        </p:grpSpPr>
        <p:sp>
          <p:nvSpPr>
            <p:cNvPr id="13" name="Rectangle 12"/>
            <p:cNvSpPr/>
            <p:nvPr/>
          </p:nvSpPr>
          <p:spPr bwMode="auto">
            <a:xfrm>
              <a:off x="2349434" y="3918675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1038471" y="4326970"/>
              <a:ext cx="3208583" cy="69175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latin typeface="+mj-lt"/>
                <a:cs typeface="Arial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3208082" y="3918675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6" name="Straight Connector 5"/>
            <p:cNvCxnSpPr>
              <a:stCxn id="14" idx="0"/>
            </p:cNvCxnSpPr>
            <p:nvPr/>
          </p:nvCxnSpPr>
          <p:spPr bwMode="auto">
            <a:xfrm flipH="1" flipV="1">
              <a:off x="1777397" y="3591608"/>
              <a:ext cx="1" cy="327066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8" name="Straight Connector 7"/>
            <p:cNvCxnSpPr>
              <a:stCxn id="18" idx="0"/>
            </p:cNvCxnSpPr>
            <p:nvPr/>
          </p:nvCxnSpPr>
          <p:spPr bwMode="auto">
            <a:xfrm flipH="1" flipV="1">
              <a:off x="3506797" y="3628869"/>
              <a:ext cx="1" cy="289806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0" name="TextBox 9"/>
            <p:cNvSpPr txBox="1"/>
            <p:nvPr/>
          </p:nvSpPr>
          <p:spPr>
            <a:xfrm>
              <a:off x="1433319" y="3275360"/>
              <a:ext cx="7768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Source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503472" y="3275360"/>
              <a:ext cx="6370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Drain</a:t>
              </a: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6256088" y="3930101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5385336" y="3930100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4945125" y="4327605"/>
              <a:ext cx="3208583" cy="69175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latin typeface="+mj-lt"/>
                <a:cs typeface="Arial" pitchFamily="34" charset="0"/>
              </a:endParaRPr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7114736" y="3930101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37" name="Straight Connector 36"/>
            <p:cNvCxnSpPr>
              <a:stCxn id="45" idx="0"/>
            </p:cNvCxnSpPr>
            <p:nvPr/>
          </p:nvCxnSpPr>
          <p:spPr bwMode="auto">
            <a:xfrm flipV="1">
              <a:off x="5684051" y="3628869"/>
              <a:ext cx="1" cy="301231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" name="Straight Connector 6"/>
            <p:cNvCxnSpPr>
              <a:stCxn id="13" idx="0"/>
            </p:cNvCxnSpPr>
            <p:nvPr/>
          </p:nvCxnSpPr>
          <p:spPr bwMode="auto">
            <a:xfrm flipV="1">
              <a:off x="2648148" y="2940419"/>
              <a:ext cx="0" cy="952142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8" name="Straight Connector 37"/>
            <p:cNvCxnSpPr>
              <a:stCxn id="44" idx="0"/>
            </p:cNvCxnSpPr>
            <p:nvPr/>
          </p:nvCxnSpPr>
          <p:spPr bwMode="auto">
            <a:xfrm flipH="1" flipV="1">
              <a:off x="6554802" y="2940419"/>
              <a:ext cx="1" cy="989682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9" name="Straight Connector 38"/>
            <p:cNvCxnSpPr>
              <a:stCxn id="49" idx="0"/>
            </p:cNvCxnSpPr>
            <p:nvPr/>
          </p:nvCxnSpPr>
          <p:spPr bwMode="auto">
            <a:xfrm flipH="1" flipV="1">
              <a:off x="7413451" y="3640295"/>
              <a:ext cx="1" cy="289806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41" name="TextBox 40"/>
            <p:cNvSpPr txBox="1"/>
            <p:nvPr/>
          </p:nvSpPr>
          <p:spPr>
            <a:xfrm>
              <a:off x="7059718" y="3275360"/>
              <a:ext cx="7768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Source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072811" y="3275360"/>
              <a:ext cx="6370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Drain</a:t>
              </a: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1943523" y="4075420"/>
              <a:ext cx="1409250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3668492" y="4075420"/>
              <a:ext cx="578562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1478682" y="3918674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5" name="Rectangle 54"/>
            <p:cNvSpPr/>
            <p:nvPr/>
          </p:nvSpPr>
          <p:spPr bwMode="auto">
            <a:xfrm>
              <a:off x="2341553" y="3918675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3200201" y="3918675"/>
              <a:ext cx="597429" cy="40829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 bwMode="auto">
            <a:xfrm>
              <a:off x="3515591" y="3628869"/>
              <a:ext cx="2168461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030" name="Straight Connector 1029"/>
            <p:cNvCxnSpPr/>
            <p:nvPr/>
          </p:nvCxnSpPr>
          <p:spPr bwMode="auto">
            <a:xfrm flipH="1">
              <a:off x="904240" y="3598418"/>
              <a:ext cx="873156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71" name="TextBox 70"/>
            <p:cNvSpPr txBox="1"/>
            <p:nvPr/>
          </p:nvSpPr>
          <p:spPr>
            <a:xfrm>
              <a:off x="522404" y="3222153"/>
              <a:ext cx="3818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solidFill>
                    <a:schemeClr val="accent1"/>
                  </a:solidFill>
                  <a:latin typeface="+mj-lt"/>
                  <a:cs typeface="Consolas" pitchFamily="49" charset="0"/>
                </a:rPr>
                <a:t>0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8395374" y="3231921"/>
              <a:ext cx="5315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solidFill>
                    <a:srgbClr val="FF0000"/>
                  </a:solidFill>
                  <a:latin typeface="+mj-lt"/>
                  <a:cs typeface="Consolas" pitchFamily="49" charset="0"/>
                </a:rPr>
                <a:t>1</a:t>
              </a:r>
            </a:p>
          </p:txBody>
        </p:sp>
        <p:cxnSp>
          <p:nvCxnSpPr>
            <p:cNvPr id="73" name="Straight Connector 72"/>
            <p:cNvCxnSpPr/>
            <p:nvPr/>
          </p:nvCxnSpPr>
          <p:spPr bwMode="auto">
            <a:xfrm flipH="1">
              <a:off x="7411545" y="3635565"/>
              <a:ext cx="873156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74" name="Rectangle 73"/>
            <p:cNvSpPr/>
            <p:nvPr/>
          </p:nvSpPr>
          <p:spPr bwMode="auto">
            <a:xfrm>
              <a:off x="1473102" y="4326970"/>
              <a:ext cx="597429" cy="327015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5" name="Rectangle 74"/>
            <p:cNvSpPr/>
            <p:nvPr/>
          </p:nvSpPr>
          <p:spPr bwMode="auto">
            <a:xfrm>
              <a:off x="3202502" y="4326970"/>
              <a:ext cx="597429" cy="327015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7" name="Rectangle 76"/>
            <p:cNvSpPr/>
            <p:nvPr/>
          </p:nvSpPr>
          <p:spPr bwMode="auto">
            <a:xfrm>
              <a:off x="5390850" y="4327605"/>
              <a:ext cx="597429" cy="327015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latin typeface="+mj-lt"/>
                <a:cs typeface="Arial" pitchFamily="34" charset="0"/>
              </a:endParaRPr>
            </a:p>
          </p:txBody>
        </p:sp>
        <p:sp>
          <p:nvSpPr>
            <p:cNvPr id="78" name="Rectangle 77"/>
            <p:cNvSpPr/>
            <p:nvPr/>
          </p:nvSpPr>
          <p:spPr bwMode="auto">
            <a:xfrm>
              <a:off x="7120250" y="4327605"/>
              <a:ext cx="597429" cy="327015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latin typeface="+mj-lt"/>
                <a:cs typeface="Arial" pitchFamily="34" charset="0"/>
              </a:endParaRPr>
            </a:p>
          </p:txBody>
        </p:sp>
        <p:sp>
          <p:nvSpPr>
            <p:cNvPr id="48" name="Rectangle 47"/>
            <p:cNvSpPr/>
            <p:nvPr/>
          </p:nvSpPr>
          <p:spPr bwMode="auto">
            <a:xfrm>
              <a:off x="4945125" y="4086846"/>
              <a:ext cx="578562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7575146" y="4086846"/>
              <a:ext cx="578562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1" name="Rectangle 50"/>
            <p:cNvSpPr/>
            <p:nvPr/>
          </p:nvSpPr>
          <p:spPr bwMode="auto">
            <a:xfrm>
              <a:off x="5850177" y="4086846"/>
              <a:ext cx="1409250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1038471" y="4075420"/>
              <a:ext cx="578562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7" name="Rectangle 56"/>
            <p:cNvSpPr/>
            <p:nvPr/>
          </p:nvSpPr>
          <p:spPr bwMode="auto">
            <a:xfrm>
              <a:off x="1935642" y="4080500"/>
              <a:ext cx="1409250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58" name="Rectangle 57"/>
            <p:cNvSpPr/>
            <p:nvPr/>
          </p:nvSpPr>
          <p:spPr bwMode="auto">
            <a:xfrm>
              <a:off x="3660611" y="4075420"/>
              <a:ext cx="578562" cy="251549"/>
            </a:xfrm>
            <a:prstGeom prst="rect">
              <a:avLst/>
            </a:prstGeom>
            <a:pattFill prst="wdUpDiag">
              <a:fgClr>
                <a:schemeClr val="tx2">
                  <a:lumMod val="75000"/>
                </a:schemeClr>
              </a:fgClr>
              <a:bgClr>
                <a:schemeClr val="bg1"/>
              </a:bgClr>
            </a:pattFill>
            <a:ln w="19050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1032" name="Straight Arrow Connector 1031"/>
            <p:cNvCxnSpPr/>
            <p:nvPr/>
          </p:nvCxnSpPr>
          <p:spPr bwMode="auto">
            <a:xfrm>
              <a:off x="4599820" y="3625996"/>
              <a:ext cx="0" cy="166490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cxnSp>
          <p:nvCxnSpPr>
            <p:cNvPr id="1035" name="Straight Connector 1034"/>
            <p:cNvCxnSpPr/>
            <p:nvPr/>
          </p:nvCxnSpPr>
          <p:spPr bwMode="auto">
            <a:xfrm>
              <a:off x="2642762" y="2940419"/>
              <a:ext cx="3913407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038" name="Straight Arrow Connector 1037"/>
            <p:cNvCxnSpPr/>
            <p:nvPr/>
          </p:nvCxnSpPr>
          <p:spPr bwMode="auto">
            <a:xfrm flipH="1">
              <a:off x="4589307" y="2543311"/>
              <a:ext cx="356" cy="397108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sp>
          <p:nvSpPr>
            <p:cNvPr id="88" name="TextBox 87"/>
            <p:cNvSpPr txBox="1"/>
            <p:nvPr/>
          </p:nvSpPr>
          <p:spPr>
            <a:xfrm>
              <a:off x="6043302" y="3275360"/>
              <a:ext cx="5877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Gate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634687" y="3275360"/>
              <a:ext cx="5877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Gate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4660655" y="5093006"/>
              <a:ext cx="79380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latin typeface="+mj-lt"/>
                </a:rPr>
                <a:t>Output</a:t>
              </a:r>
            </a:p>
          </p:txBody>
        </p:sp>
        <p:sp>
          <p:nvSpPr>
            <p:cNvPr id="1040" name="TextBox 1039"/>
            <p:cNvSpPr txBox="1"/>
            <p:nvPr/>
          </p:nvSpPr>
          <p:spPr>
            <a:xfrm>
              <a:off x="6396169" y="4623996"/>
              <a:ext cx="319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chemeClr val="bg1"/>
                  </a:solidFill>
                  <a:latin typeface="+mj-lt"/>
                </a:rPr>
                <a:t>n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362660" y="4266858"/>
              <a:ext cx="319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chemeClr val="bg1"/>
                  </a:solidFill>
                  <a:latin typeface="+mj-lt"/>
                </a:rPr>
                <a:t>n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625487" y="4283621"/>
              <a:ext cx="319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chemeClr val="bg1"/>
                  </a:solidFill>
                  <a:latin typeface="+mj-lt"/>
                </a:rPr>
                <a:t>n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2475028" y="4618619"/>
              <a:ext cx="319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p</a:t>
              </a:r>
              <a:endParaRPr lang="en-US" sz="2000" dirty="0" smtClean="0">
                <a:latin typeface="+mj-lt"/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5531205" y="4290422"/>
              <a:ext cx="319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p</a:t>
              </a:r>
              <a:endParaRPr lang="en-US" sz="2000" dirty="0" smtClean="0">
                <a:latin typeface="+mj-lt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7259483" y="4275325"/>
              <a:ext cx="319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+mj-lt"/>
                </a:rPr>
                <a:t>p</a:t>
              </a:r>
              <a:endParaRPr lang="en-US" sz="2000" dirty="0" smtClean="0">
                <a:latin typeface="+mj-lt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3797630" y="2466282"/>
              <a:ext cx="6896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latin typeface="+mj-lt"/>
                </a:rPr>
                <a:t>Input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524" y="-32510"/>
            <a:ext cx="8229600" cy="889000"/>
          </a:xfrm>
        </p:spPr>
        <p:txBody>
          <a:bodyPr/>
          <a:lstStyle/>
          <a:p>
            <a:r>
              <a:rPr lang="en-US" dirty="0" smtClean="0"/>
              <a:t>Power </a:t>
            </a:r>
            <a:r>
              <a:rPr lang="en-US" dirty="0"/>
              <a:t>C</a:t>
            </a:r>
            <a:r>
              <a:rPr lang="en-US" dirty="0" smtClean="0"/>
              <a:t>onsumption in CMOS</a:t>
            </a:r>
            <a:endParaRPr lang="en-US" dirty="0"/>
          </a:p>
        </p:txBody>
      </p:sp>
      <p:sp>
        <p:nvSpPr>
          <p:cNvPr id="76" name="Rectangle 75"/>
          <p:cNvSpPr/>
          <p:nvPr/>
        </p:nvSpPr>
        <p:spPr bwMode="auto">
          <a:xfrm>
            <a:off x="2068702" y="4326970"/>
            <a:ext cx="1131971" cy="78661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accent1"/>
            </a:bgClr>
          </a:pattFill>
          <a:ln>
            <a:noFill/>
            <a:headEnd type="none" w="sm" len="sm"/>
            <a:tailEnd type="none" w="sm" len="sm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>
              <a:latin typeface="+mj-lt"/>
              <a:cs typeface="Arial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4625226" y="2399498"/>
            <a:ext cx="5315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+mj-lt"/>
                <a:cs typeface="Consolas" pitchFamily="49" charset="0"/>
              </a:rPr>
              <a:t>1</a:t>
            </a:r>
          </a:p>
        </p:txBody>
      </p:sp>
      <p:sp>
        <p:nvSpPr>
          <p:cNvPr id="101" name="Oval 100"/>
          <p:cNvSpPr/>
          <p:nvPr/>
        </p:nvSpPr>
        <p:spPr bwMode="auto">
          <a:xfrm>
            <a:off x="4506967" y="2588424"/>
            <a:ext cx="152400" cy="152400"/>
          </a:xfrm>
          <a:prstGeom prst="ellipse">
            <a:avLst/>
          </a:prstGeom>
          <a:ln>
            <a:solidFill>
              <a:srgbClr val="FF4F25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18288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>
                <a:latin typeface="+mj-lt"/>
                <a:cs typeface="Arial" pitchFamily="34" charset="0"/>
              </a:rPr>
              <a:t>+</a:t>
            </a:r>
            <a:endParaRPr lang="en-US" sz="16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02" name="Oval 101"/>
          <p:cNvSpPr/>
          <p:nvPr/>
        </p:nvSpPr>
        <p:spPr bwMode="auto">
          <a:xfrm>
            <a:off x="4516595" y="2594300"/>
            <a:ext cx="152400" cy="152400"/>
          </a:xfrm>
          <a:prstGeom prst="ellipse">
            <a:avLst/>
          </a:prstGeom>
          <a:ln>
            <a:solidFill>
              <a:srgbClr val="FF4F25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18288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>
                <a:latin typeface="+mj-lt"/>
                <a:cs typeface="Arial" pitchFamily="34" charset="0"/>
              </a:rPr>
              <a:t>+</a:t>
            </a:r>
            <a:endParaRPr lang="en-US" sz="1600" b="1" dirty="0" smtClean="0">
              <a:latin typeface="+mj-lt"/>
              <a:cs typeface="Arial" pitchFamily="34" charset="0"/>
            </a:endParaRPr>
          </a:p>
        </p:txBody>
      </p:sp>
      <p:sp>
        <p:nvSpPr>
          <p:cNvPr id="106" name="Oval 105"/>
          <p:cNvSpPr/>
          <p:nvPr/>
        </p:nvSpPr>
        <p:spPr bwMode="auto">
          <a:xfrm>
            <a:off x="886071" y="3515408"/>
            <a:ext cx="152400" cy="1524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27432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 smtClean="0">
                <a:latin typeface="+mj-lt"/>
                <a:cs typeface="Arial" pitchFamily="34" charset="0"/>
              </a:rPr>
              <a:t>-</a:t>
            </a:r>
          </a:p>
        </p:txBody>
      </p:sp>
      <p:sp>
        <p:nvSpPr>
          <p:cNvPr id="127" name="Oval 126"/>
          <p:cNvSpPr/>
          <p:nvPr/>
        </p:nvSpPr>
        <p:spPr bwMode="auto">
          <a:xfrm>
            <a:off x="894532" y="3523869"/>
            <a:ext cx="152400" cy="1524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0" tIns="0" rIns="0" bIns="27432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b="1" dirty="0" smtClean="0">
                <a:latin typeface="+mj-lt"/>
                <a:cs typeface="Arial" pitchFamily="34" charset="0"/>
              </a:rPr>
              <a:t>-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681763" y="288586"/>
            <a:ext cx="2371823" cy="2295324"/>
            <a:chOff x="7059717" y="-578060"/>
            <a:chExt cx="2877650" cy="2784836"/>
          </a:xfrm>
        </p:grpSpPr>
        <p:grpSp>
          <p:nvGrpSpPr>
            <p:cNvPr id="69" name="Group 68"/>
            <p:cNvGrpSpPr/>
            <p:nvPr/>
          </p:nvGrpSpPr>
          <p:grpSpPr>
            <a:xfrm>
              <a:off x="8111259" y="978028"/>
              <a:ext cx="734965" cy="1228748"/>
              <a:chOff x="7185543" y="4644563"/>
              <a:chExt cx="734965" cy="1228748"/>
            </a:xfrm>
          </p:grpSpPr>
          <p:grpSp>
            <p:nvGrpSpPr>
              <p:cNvPr id="70" name="Group 69"/>
              <p:cNvGrpSpPr/>
              <p:nvPr/>
            </p:nvGrpSpPr>
            <p:grpSpPr>
              <a:xfrm>
                <a:off x="7185543" y="4644563"/>
                <a:ext cx="620358" cy="1129551"/>
                <a:chOff x="8127402" y="3544048"/>
                <a:chExt cx="620358" cy="1129551"/>
              </a:xfrm>
            </p:grpSpPr>
            <p:cxnSp>
              <p:nvCxnSpPr>
                <p:cNvPr id="84" name="Straight Connector 83"/>
                <p:cNvCxnSpPr/>
                <p:nvPr/>
              </p:nvCxnSpPr>
              <p:spPr bwMode="auto">
                <a:xfrm>
                  <a:off x="8606118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5" name="Straight Connector 84"/>
                <p:cNvCxnSpPr/>
                <p:nvPr/>
              </p:nvCxnSpPr>
              <p:spPr bwMode="auto">
                <a:xfrm>
                  <a:off x="8606118" y="3920565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6" name="Straight Connector 85"/>
                <p:cNvCxnSpPr/>
                <p:nvPr/>
              </p:nvCxnSpPr>
              <p:spPr bwMode="auto">
                <a:xfrm>
                  <a:off x="8606118" y="4297082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7" name="Straight Connector 86"/>
                <p:cNvCxnSpPr/>
                <p:nvPr/>
              </p:nvCxnSpPr>
              <p:spPr bwMode="auto">
                <a:xfrm>
                  <a:off x="8747760" y="3544048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0" name="Straight Connector 89"/>
                <p:cNvCxnSpPr/>
                <p:nvPr/>
              </p:nvCxnSpPr>
              <p:spPr bwMode="auto">
                <a:xfrm>
                  <a:off x="8747760" y="4297082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3" name="Straight Connector 92"/>
                <p:cNvCxnSpPr/>
                <p:nvPr/>
              </p:nvCxnSpPr>
              <p:spPr bwMode="auto">
                <a:xfrm>
                  <a:off x="8503920" y="3920564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8" name="Straight Connector 97"/>
                <p:cNvCxnSpPr/>
                <p:nvPr/>
              </p:nvCxnSpPr>
              <p:spPr bwMode="auto">
                <a:xfrm rot="5400000">
                  <a:off x="8315661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grpSp>
            <p:nvGrpSpPr>
              <p:cNvPr id="79" name="Group 78"/>
              <p:cNvGrpSpPr/>
              <p:nvPr/>
            </p:nvGrpSpPr>
            <p:grpSpPr>
              <a:xfrm>
                <a:off x="7695718" y="5766631"/>
                <a:ext cx="224790" cy="106680"/>
                <a:chOff x="3539490" y="4938999"/>
                <a:chExt cx="224790" cy="106680"/>
              </a:xfrm>
            </p:grpSpPr>
            <p:cxnSp>
              <p:nvCxnSpPr>
                <p:cNvPr id="81" name="Straight Connector 80"/>
                <p:cNvCxnSpPr/>
                <p:nvPr/>
              </p:nvCxnSpPr>
              <p:spPr bwMode="auto">
                <a:xfrm>
                  <a:off x="3539490" y="4938999"/>
                  <a:ext cx="224790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2" name="Straight Connector 81"/>
                <p:cNvCxnSpPr/>
                <p:nvPr/>
              </p:nvCxnSpPr>
              <p:spPr bwMode="auto">
                <a:xfrm>
                  <a:off x="3583152" y="4992339"/>
                  <a:ext cx="137467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83" name="Straight Connector 82"/>
                <p:cNvCxnSpPr/>
                <p:nvPr/>
              </p:nvCxnSpPr>
              <p:spPr bwMode="auto">
                <a:xfrm>
                  <a:off x="3630055" y="5045679"/>
                  <a:ext cx="43661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80" name="TextBox 79"/>
              <p:cNvSpPr txBox="1"/>
              <p:nvPr/>
            </p:nvSpPr>
            <p:spPr>
              <a:xfrm>
                <a:off x="7431598" y="5446065"/>
                <a:ext cx="350466" cy="4107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solidFill>
                      <a:schemeClr val="accent1"/>
                    </a:solidFill>
                    <a:latin typeface="+mj-lt"/>
                    <a:cs typeface="Consolas" pitchFamily="49" charset="0"/>
                  </a:rPr>
                  <a:t>0</a:t>
                </a: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8109560" y="-578060"/>
              <a:ext cx="926567" cy="1530681"/>
              <a:chOff x="7183844" y="2428075"/>
              <a:chExt cx="926567" cy="1530681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7183844" y="2829205"/>
                <a:ext cx="620358" cy="1129551"/>
                <a:chOff x="1094687" y="4539259"/>
                <a:chExt cx="620358" cy="1129551"/>
              </a:xfrm>
            </p:grpSpPr>
            <p:grpSp>
              <p:nvGrpSpPr>
                <p:cNvPr id="109" name="Group 108"/>
                <p:cNvGrpSpPr/>
                <p:nvPr/>
              </p:nvGrpSpPr>
              <p:grpSpPr>
                <a:xfrm>
                  <a:off x="1094687" y="4539259"/>
                  <a:ext cx="620358" cy="1129551"/>
                  <a:chOff x="8127402" y="3544048"/>
                  <a:chExt cx="620358" cy="1129551"/>
                </a:xfrm>
              </p:grpSpPr>
              <p:cxnSp>
                <p:nvCxnSpPr>
                  <p:cNvPr id="112" name="Straight Connector 111"/>
                  <p:cNvCxnSpPr/>
                  <p:nvPr/>
                </p:nvCxnSpPr>
                <p:spPr bwMode="auto">
                  <a:xfrm>
                    <a:off x="8606118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13" name="Straight Connector 112"/>
                  <p:cNvCxnSpPr/>
                  <p:nvPr/>
                </p:nvCxnSpPr>
                <p:spPr bwMode="auto">
                  <a:xfrm>
                    <a:off x="8606118" y="3920565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17" name="Straight Connector 116"/>
                  <p:cNvCxnSpPr/>
                  <p:nvPr/>
                </p:nvCxnSpPr>
                <p:spPr bwMode="auto">
                  <a:xfrm>
                    <a:off x="8606118" y="4297082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18" name="Straight Connector 117"/>
                  <p:cNvCxnSpPr/>
                  <p:nvPr/>
                </p:nvCxnSpPr>
                <p:spPr bwMode="auto">
                  <a:xfrm>
                    <a:off x="8747760" y="3544048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19" name="Straight Connector 118"/>
                  <p:cNvCxnSpPr/>
                  <p:nvPr/>
                </p:nvCxnSpPr>
                <p:spPr bwMode="auto">
                  <a:xfrm>
                    <a:off x="8747760" y="4297082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20" name="Straight Connector 119"/>
                  <p:cNvCxnSpPr/>
                  <p:nvPr/>
                </p:nvCxnSpPr>
                <p:spPr bwMode="auto">
                  <a:xfrm>
                    <a:off x="8503920" y="3920564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121" name="Straight Connector 120"/>
                  <p:cNvCxnSpPr/>
                  <p:nvPr/>
                </p:nvCxnSpPr>
                <p:spPr bwMode="auto">
                  <a:xfrm rot="5400000">
                    <a:off x="8315661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111" name="Oval 110"/>
                <p:cNvSpPr>
                  <a:spLocks noChangeAspect="1"/>
                </p:cNvSpPr>
                <p:nvPr/>
              </p:nvSpPr>
              <p:spPr bwMode="auto">
                <a:xfrm>
                  <a:off x="1330011" y="5033441"/>
                  <a:ext cx="141194" cy="141194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b="1" smtClean="0">
                    <a:latin typeface="+mj-lt"/>
                    <a:cs typeface="Arial" pitchFamily="34" charset="0"/>
                  </a:endParaRPr>
                </a:p>
              </p:txBody>
            </p:sp>
          </p:grpSp>
          <p:sp>
            <p:nvSpPr>
              <p:cNvPr id="104" name="TextBox 103"/>
              <p:cNvSpPr txBox="1"/>
              <p:nvPr/>
            </p:nvSpPr>
            <p:spPr>
              <a:xfrm>
                <a:off x="7561569" y="2428075"/>
                <a:ext cx="548842" cy="4107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err="1" smtClean="0">
                    <a:latin typeface="+mj-lt"/>
                  </a:rPr>
                  <a:t>V</a:t>
                </a:r>
                <a:r>
                  <a:rPr lang="en-US" sz="1400" dirty="0" err="1" smtClean="0">
                    <a:latin typeface="+mj-lt"/>
                  </a:rPr>
                  <a:t>cc</a:t>
                </a:r>
                <a:endParaRPr lang="en-US" sz="1400" dirty="0" smtClean="0">
                  <a:latin typeface="+mj-lt"/>
                </a:endParaRP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7470190" y="2739532"/>
                <a:ext cx="350466" cy="4107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FF0000"/>
                    </a:solidFill>
                    <a:latin typeface="+mj-lt"/>
                    <a:cs typeface="Consolas" pitchFamily="49" charset="0"/>
                  </a:rPr>
                  <a:t>1</a:t>
                </a:r>
                <a:endParaRPr lang="en-US" sz="1600" dirty="0" smtClean="0">
                  <a:solidFill>
                    <a:srgbClr val="FF0000"/>
                  </a:solidFill>
                  <a:latin typeface="+mj-lt"/>
                  <a:cs typeface="Consolas" pitchFamily="49" charset="0"/>
                </a:endParaRPr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7059717" y="387849"/>
              <a:ext cx="1062036" cy="1154955"/>
              <a:chOff x="5330548" y="3393979"/>
              <a:chExt cx="1865487" cy="1144798"/>
            </a:xfrm>
          </p:grpSpPr>
          <p:cxnSp>
            <p:nvCxnSpPr>
              <p:cNvPr id="123" name="Straight Connector 122"/>
              <p:cNvCxnSpPr/>
              <p:nvPr/>
            </p:nvCxnSpPr>
            <p:spPr bwMode="auto">
              <a:xfrm flipH="1">
                <a:off x="6790944" y="4538777"/>
                <a:ext cx="405091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4" name="Straight Connector 123"/>
              <p:cNvCxnSpPr/>
              <p:nvPr/>
            </p:nvCxnSpPr>
            <p:spPr bwMode="auto">
              <a:xfrm flipH="1">
                <a:off x="6790944" y="3393979"/>
                <a:ext cx="405091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5" name="Straight Connector 124"/>
              <p:cNvCxnSpPr/>
              <p:nvPr/>
            </p:nvCxnSpPr>
            <p:spPr bwMode="auto">
              <a:xfrm>
                <a:off x="6790944" y="3393984"/>
                <a:ext cx="0" cy="1144793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128" name="Straight Arrow Connector 127"/>
              <p:cNvCxnSpPr/>
              <p:nvPr/>
            </p:nvCxnSpPr>
            <p:spPr bwMode="auto">
              <a:xfrm>
                <a:off x="5948544" y="3966380"/>
                <a:ext cx="842399" cy="0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arrow"/>
              </a:ln>
              <a:effectLst/>
            </p:spPr>
          </p:cxnSp>
          <p:sp>
            <p:nvSpPr>
              <p:cNvPr id="129" name="TextBox 128"/>
              <p:cNvSpPr txBox="1"/>
              <p:nvPr/>
            </p:nvSpPr>
            <p:spPr>
              <a:xfrm>
                <a:off x="5330548" y="3566668"/>
                <a:ext cx="1336417" cy="4071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latin typeface="+mj-lt"/>
                  </a:rPr>
                  <a:t>Input</a:t>
                </a:r>
              </a:p>
            </p:txBody>
          </p:sp>
        </p:grpSp>
        <p:grpSp>
          <p:nvGrpSpPr>
            <p:cNvPr id="130" name="Group 129"/>
            <p:cNvGrpSpPr/>
            <p:nvPr/>
          </p:nvGrpSpPr>
          <p:grpSpPr>
            <a:xfrm>
              <a:off x="8721099" y="562071"/>
              <a:ext cx="1216268" cy="410755"/>
              <a:chOff x="7795382" y="3883166"/>
              <a:chExt cx="1646976" cy="410755"/>
            </a:xfrm>
          </p:grpSpPr>
          <p:cxnSp>
            <p:nvCxnSpPr>
              <p:cNvPr id="131" name="Straight Arrow Connector 130"/>
              <p:cNvCxnSpPr/>
              <p:nvPr/>
            </p:nvCxnSpPr>
            <p:spPr bwMode="auto">
              <a:xfrm>
                <a:off x="7795382" y="4290461"/>
                <a:ext cx="790443" cy="0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arrow"/>
              </a:ln>
              <a:effectLst/>
            </p:spPr>
          </p:cxnSp>
          <p:sp>
            <p:nvSpPr>
              <p:cNvPr id="132" name="TextBox 131"/>
              <p:cNvSpPr txBox="1"/>
              <p:nvPr/>
            </p:nvSpPr>
            <p:spPr>
              <a:xfrm>
                <a:off x="8159273" y="3883166"/>
                <a:ext cx="1283085" cy="4107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latin typeface="+mj-lt"/>
                  </a:rPr>
                  <a:t>Output</a:t>
                </a:r>
              </a:p>
            </p:txBody>
          </p:sp>
        </p:grpSp>
      </p:grpSp>
      <p:sp>
        <p:nvSpPr>
          <p:cNvPr id="140" name="Content Placeholder 2"/>
          <p:cNvSpPr>
            <a:spLocks noGrp="1"/>
          </p:cNvSpPr>
          <p:nvPr>
            <p:ph idx="1"/>
          </p:nvPr>
        </p:nvSpPr>
        <p:spPr>
          <a:xfrm>
            <a:off x="398738" y="800005"/>
            <a:ext cx="6100556" cy="1175321"/>
          </a:xfrm>
        </p:spPr>
        <p:txBody>
          <a:bodyPr/>
          <a:lstStyle/>
          <a:p>
            <a:pPr marL="342900" indent="-342900">
              <a:buFont typeface="Courier New" pitchFamily="49" charset="0"/>
              <a:buChar char="o"/>
            </a:pPr>
            <a:r>
              <a:rPr lang="en-US" sz="2200" dirty="0" smtClean="0"/>
              <a:t>No current in static state, i.e. there is no power consumption</a:t>
            </a:r>
          </a:p>
          <a:p>
            <a:pPr marL="342900" indent="-342900"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2200" dirty="0" smtClean="0"/>
              <a:t>Current exists only at switch from one state to another to recharge the capacities</a:t>
            </a:r>
          </a:p>
        </p:txBody>
      </p:sp>
      <p:sp>
        <p:nvSpPr>
          <p:cNvPr id="141" name="Line Callout 2 (No Border) 140"/>
          <p:cNvSpPr/>
          <p:nvPr/>
        </p:nvSpPr>
        <p:spPr>
          <a:xfrm>
            <a:off x="12829" y="5223153"/>
            <a:ext cx="2940457" cy="412959"/>
          </a:xfrm>
          <a:prstGeom prst="callout2">
            <a:avLst>
              <a:gd name="adj1" fmla="val 45410"/>
              <a:gd name="adj2" fmla="val 103458"/>
              <a:gd name="adj3" fmla="val 52011"/>
              <a:gd name="adj4" fmla="val 116402"/>
              <a:gd name="adj5" fmla="val 63368"/>
              <a:gd name="adj6" fmla="val 134951"/>
            </a:avLst>
          </a:prstGeom>
          <a:noFill/>
          <a:ln w="6350">
            <a:solidFill>
              <a:schemeClr val="tx1"/>
            </a:solidFill>
            <a:prstDash val="dash"/>
            <a:tailEnd type="stealth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600" dirty="0" smtClean="0">
                <a:solidFill>
                  <a:schemeClr val="tx1"/>
                </a:solidFill>
                <a:latin typeface="+mj-lt"/>
              </a:rPr>
              <a:t>No connection between the power supply and the ground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51407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0.0007 L 0.00156 0.0426 L 0.21458 0.0426 L 0.21545 0.18079 L 0.21545 0.19329 " pathEditMode="relative" rAng="0" ptsTypes="AAAAA">
                                      <p:cBhvr>
                                        <p:cTn id="45" dur="28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81" y="963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0.0007 L -0.00243 0.04259 L -0.21163 0.04259 L -0.21233 0.18079 L -0.21233 0.19329 " pathEditMode="relative" rAng="0" ptsTypes="AAAAA">
                                      <p:cBhvr>
                                        <p:cTn id="47" dur="28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08" y="9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8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300"/>
                            </p:stCondLst>
                            <p:childTnLst>
                              <p:par>
                                <p:cTn id="53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27778E-6 0 L 0.08801 0 L 0.08888 0.11227 L 0.27499 0.11227 L 0.27777 0.0037 L 0.39548 0.0037 L 0.39635 0.32222 L 0.3769 0.33819 " pathEditMode="relative" ptsTypes="AAAAAAAA">
                                      <p:cBhvr>
                                        <p:cTn id="63" dur="3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accel="50000" decel="50000" fill="hold" grpId="1" nodeType="click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3.61111E-6 1.11111E-6 L 0.08802 1.11111E-6 L 0.08889 0.11227 L 0.275 0.11227 L 0.27777 0.0037 L 0.39548 0.0037 L 0.39635 0.32222 L 0.4125 0.33194 " pathEditMode="relative" rAng="0" ptsTypes="AAAAAAAA">
                                      <p:cBhvr>
                                        <p:cTn id="70" dur="3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25" y="16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6" grpId="1" animBg="1"/>
      <p:bldP spid="92" grpId="0"/>
      <p:bldP spid="101" grpId="0" animBg="1"/>
      <p:bldP spid="101" grpId="1" animBg="1"/>
      <p:bldP spid="102" grpId="0" animBg="1"/>
      <p:bldP spid="102" grpId="1" animBg="1"/>
      <p:bldP spid="106" grpId="0" animBg="1"/>
      <p:bldP spid="106" grpId="1" animBg="1"/>
      <p:bldP spid="127" grpId="0" animBg="1"/>
      <p:bldP spid="127" grpId="1" animBg="1"/>
      <p:bldP spid="141" grpId="0" animBg="1"/>
    </p:bldLst>
  </p:timing>
  <p:extLst mod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Recharging Power</a:t>
            </a:r>
            <a:endParaRPr lang="ru-RU" dirty="0"/>
          </a:p>
        </p:txBody>
      </p:sp>
      <p:grpSp>
        <p:nvGrpSpPr>
          <p:cNvPr id="52" name="Group 51"/>
          <p:cNvGrpSpPr/>
          <p:nvPr/>
        </p:nvGrpSpPr>
        <p:grpSpPr>
          <a:xfrm>
            <a:off x="1558344" y="1378039"/>
            <a:ext cx="1803042" cy="4228565"/>
            <a:chOff x="1558344" y="1378039"/>
            <a:chExt cx="1803042" cy="4228565"/>
          </a:xfrm>
        </p:grpSpPr>
        <p:cxnSp>
          <p:nvCxnSpPr>
            <p:cNvPr id="7" name="Straight Connector 6"/>
            <p:cNvCxnSpPr/>
            <p:nvPr/>
          </p:nvCxnSpPr>
          <p:spPr bwMode="auto">
            <a:xfrm>
              <a:off x="1558344" y="1378039"/>
              <a:ext cx="1236371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/>
            <p:cNvCxnSpPr/>
            <p:nvPr/>
          </p:nvCxnSpPr>
          <p:spPr bwMode="auto">
            <a:xfrm flipV="1">
              <a:off x="2112136" y="1378039"/>
              <a:ext cx="0" cy="489327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Rectangle 8"/>
            <p:cNvSpPr/>
            <p:nvPr/>
          </p:nvSpPr>
          <p:spPr bwMode="auto">
            <a:xfrm>
              <a:off x="1918953" y="1867366"/>
              <a:ext cx="386366" cy="1017431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 bwMode="auto">
            <a:xfrm flipV="1">
              <a:off x="2112136" y="2884797"/>
              <a:ext cx="0" cy="489327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Straight Connector 11"/>
            <p:cNvCxnSpPr/>
            <p:nvPr/>
          </p:nvCxnSpPr>
          <p:spPr bwMode="auto">
            <a:xfrm flipV="1">
              <a:off x="2112136" y="3129460"/>
              <a:ext cx="1032455" cy="1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Rectangle 12"/>
            <p:cNvSpPr/>
            <p:nvPr/>
          </p:nvSpPr>
          <p:spPr bwMode="auto">
            <a:xfrm>
              <a:off x="1918953" y="3354735"/>
              <a:ext cx="386366" cy="1017431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 flipV="1">
              <a:off x="3161762" y="3129460"/>
              <a:ext cx="0" cy="489327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/>
            <p:cNvCxnSpPr/>
            <p:nvPr/>
          </p:nvCxnSpPr>
          <p:spPr bwMode="auto">
            <a:xfrm flipV="1">
              <a:off x="1918953" y="4626524"/>
              <a:ext cx="192108" cy="215934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/>
            <p:nvPr/>
          </p:nvCxnSpPr>
          <p:spPr bwMode="auto">
            <a:xfrm flipV="1">
              <a:off x="2112136" y="4880881"/>
              <a:ext cx="0" cy="470292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/>
            <p:nvPr/>
          </p:nvCxnSpPr>
          <p:spPr bwMode="auto">
            <a:xfrm>
              <a:off x="1918953" y="5351173"/>
              <a:ext cx="386366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Straight Connector 30"/>
            <p:cNvCxnSpPr/>
            <p:nvPr/>
          </p:nvCxnSpPr>
          <p:spPr bwMode="auto">
            <a:xfrm>
              <a:off x="1962955" y="5477816"/>
              <a:ext cx="296213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Straight Connector 32"/>
            <p:cNvCxnSpPr/>
            <p:nvPr/>
          </p:nvCxnSpPr>
          <p:spPr bwMode="auto">
            <a:xfrm>
              <a:off x="2045596" y="5606604"/>
              <a:ext cx="130933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/>
            <p:cNvCxnSpPr>
              <a:endCxn id="13" idx="2"/>
            </p:cNvCxnSpPr>
            <p:nvPr/>
          </p:nvCxnSpPr>
          <p:spPr bwMode="auto">
            <a:xfrm flipV="1">
              <a:off x="2111061" y="4372166"/>
              <a:ext cx="1075" cy="245107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/>
            <p:cNvCxnSpPr/>
            <p:nvPr/>
          </p:nvCxnSpPr>
          <p:spPr bwMode="auto">
            <a:xfrm>
              <a:off x="2936383" y="3618787"/>
              <a:ext cx="42500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7" name="Straight Connector 46"/>
            <p:cNvCxnSpPr/>
            <p:nvPr/>
          </p:nvCxnSpPr>
          <p:spPr bwMode="auto">
            <a:xfrm>
              <a:off x="2936381" y="3758308"/>
              <a:ext cx="42500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8" name="Straight Connector 47"/>
            <p:cNvCxnSpPr/>
            <p:nvPr/>
          </p:nvCxnSpPr>
          <p:spPr bwMode="auto">
            <a:xfrm flipV="1">
              <a:off x="3144591" y="3758308"/>
              <a:ext cx="0" cy="489327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>
              <a:off x="2975018" y="4247635"/>
              <a:ext cx="386366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Straight Connector 49"/>
            <p:cNvCxnSpPr/>
            <p:nvPr/>
          </p:nvCxnSpPr>
          <p:spPr bwMode="auto">
            <a:xfrm>
              <a:off x="3019020" y="4374278"/>
              <a:ext cx="296213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>
              <a:off x="3101661" y="4503066"/>
              <a:ext cx="130933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3" name="Group 52"/>
          <p:cNvGrpSpPr/>
          <p:nvPr/>
        </p:nvGrpSpPr>
        <p:grpSpPr>
          <a:xfrm>
            <a:off x="6936581" y="3155112"/>
            <a:ext cx="1442433" cy="2477144"/>
            <a:chOff x="1918953" y="3129460"/>
            <a:chExt cx="1442433" cy="2477144"/>
          </a:xfrm>
        </p:grpSpPr>
        <p:cxnSp>
          <p:nvCxnSpPr>
            <p:cNvPr id="57" name="Straight Connector 56"/>
            <p:cNvCxnSpPr/>
            <p:nvPr/>
          </p:nvCxnSpPr>
          <p:spPr bwMode="auto">
            <a:xfrm flipH="1" flipV="1">
              <a:off x="2111061" y="3129460"/>
              <a:ext cx="1075" cy="244665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Straight Connector 57"/>
            <p:cNvCxnSpPr/>
            <p:nvPr/>
          </p:nvCxnSpPr>
          <p:spPr bwMode="auto">
            <a:xfrm flipV="1">
              <a:off x="2112136" y="3129460"/>
              <a:ext cx="1032455" cy="1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9" name="Rectangle 58"/>
            <p:cNvSpPr/>
            <p:nvPr/>
          </p:nvSpPr>
          <p:spPr bwMode="auto">
            <a:xfrm>
              <a:off x="1918953" y="3354735"/>
              <a:ext cx="386366" cy="1017431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cxnSp>
          <p:nvCxnSpPr>
            <p:cNvPr id="60" name="Straight Connector 59"/>
            <p:cNvCxnSpPr/>
            <p:nvPr/>
          </p:nvCxnSpPr>
          <p:spPr bwMode="auto">
            <a:xfrm flipV="1">
              <a:off x="3161762" y="3129460"/>
              <a:ext cx="0" cy="489327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Straight Connector 60"/>
            <p:cNvCxnSpPr>
              <a:stCxn id="59" idx="2"/>
            </p:cNvCxnSpPr>
            <p:nvPr/>
          </p:nvCxnSpPr>
          <p:spPr bwMode="auto">
            <a:xfrm flipH="1">
              <a:off x="2111061" y="4372166"/>
              <a:ext cx="1075" cy="743861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Straight Connector 61"/>
            <p:cNvCxnSpPr/>
            <p:nvPr/>
          </p:nvCxnSpPr>
          <p:spPr bwMode="auto">
            <a:xfrm flipV="1">
              <a:off x="2112136" y="4880881"/>
              <a:ext cx="0" cy="470292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Straight Connector 62"/>
            <p:cNvCxnSpPr/>
            <p:nvPr/>
          </p:nvCxnSpPr>
          <p:spPr bwMode="auto">
            <a:xfrm>
              <a:off x="1918953" y="5351173"/>
              <a:ext cx="386366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Straight Connector 63"/>
            <p:cNvCxnSpPr/>
            <p:nvPr/>
          </p:nvCxnSpPr>
          <p:spPr bwMode="auto">
            <a:xfrm>
              <a:off x="1962955" y="5477816"/>
              <a:ext cx="296213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Straight Connector 64"/>
            <p:cNvCxnSpPr/>
            <p:nvPr/>
          </p:nvCxnSpPr>
          <p:spPr bwMode="auto">
            <a:xfrm>
              <a:off x="2045596" y="5606604"/>
              <a:ext cx="130933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Straight Connector 65"/>
            <p:cNvCxnSpPr>
              <a:endCxn id="59" idx="2"/>
            </p:cNvCxnSpPr>
            <p:nvPr/>
          </p:nvCxnSpPr>
          <p:spPr bwMode="auto">
            <a:xfrm flipV="1">
              <a:off x="2111061" y="4372166"/>
              <a:ext cx="1075" cy="245107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Straight Connector 66"/>
            <p:cNvCxnSpPr/>
            <p:nvPr/>
          </p:nvCxnSpPr>
          <p:spPr bwMode="auto">
            <a:xfrm>
              <a:off x="2936383" y="3618787"/>
              <a:ext cx="42500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8" name="Straight Connector 67"/>
            <p:cNvCxnSpPr/>
            <p:nvPr/>
          </p:nvCxnSpPr>
          <p:spPr bwMode="auto">
            <a:xfrm>
              <a:off x="2936381" y="3758308"/>
              <a:ext cx="42500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9" name="Straight Connector 68"/>
            <p:cNvCxnSpPr/>
            <p:nvPr/>
          </p:nvCxnSpPr>
          <p:spPr bwMode="auto">
            <a:xfrm flipV="1">
              <a:off x="3144591" y="3758308"/>
              <a:ext cx="0" cy="489327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Straight Connector 69"/>
            <p:cNvCxnSpPr/>
            <p:nvPr/>
          </p:nvCxnSpPr>
          <p:spPr bwMode="auto">
            <a:xfrm>
              <a:off x="2975018" y="4247635"/>
              <a:ext cx="386366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Straight Connector 70"/>
            <p:cNvCxnSpPr/>
            <p:nvPr/>
          </p:nvCxnSpPr>
          <p:spPr bwMode="auto">
            <a:xfrm>
              <a:off x="3019020" y="4374278"/>
              <a:ext cx="296213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Straight Connector 71"/>
            <p:cNvCxnSpPr/>
            <p:nvPr/>
          </p:nvCxnSpPr>
          <p:spPr bwMode="auto">
            <a:xfrm>
              <a:off x="3101661" y="4503066"/>
              <a:ext cx="130933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78" name="Straight Arrow Connector 77"/>
          <p:cNvCxnSpPr/>
          <p:nvPr/>
        </p:nvCxnSpPr>
        <p:spPr bwMode="auto">
          <a:xfrm>
            <a:off x="2628363" y="1736035"/>
            <a:ext cx="0" cy="114876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2787524" y="1946615"/>
                <a:ext cx="103464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524" y="1946615"/>
                <a:ext cx="1034642" cy="55399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3444061" y="3374123"/>
                <a:ext cx="102502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061" y="3374123"/>
                <a:ext cx="1025024" cy="55399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5521074" y="3586451"/>
                <a:ext cx="103464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1074" y="3586451"/>
                <a:ext cx="1034642" cy="5539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/>
          <p:cNvCxnSpPr/>
          <p:nvPr/>
        </p:nvCxnSpPr>
        <p:spPr bwMode="auto">
          <a:xfrm>
            <a:off x="6695941" y="3277444"/>
            <a:ext cx="0" cy="114876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3937826" y="5305992"/>
                <a:ext cx="2119170" cy="553998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sz="3600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826" y="5305992"/>
                <a:ext cx="2119170" cy="5539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04078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  <p:bldP spid="81" grpId="0"/>
      <p:bldP spid="8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power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Dynamic </a:t>
            </a:r>
            <a:r>
              <a:rPr lang="en-US" dirty="0" smtClean="0"/>
              <a:t>power in consumed since transistors change state: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Keep in mind that clock signals are included in dynamic power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Some power is lost due to “crowbars”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~80% of consumed power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659926" y="2237679"/>
                <a:ext cx="12974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𝑎𝐶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926" y="2237679"/>
                <a:ext cx="1297406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3286" t="-2174" r="-5164" b="-3478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/>
          <p:cNvGrpSpPr/>
          <p:nvPr/>
        </p:nvGrpSpPr>
        <p:grpSpPr>
          <a:xfrm>
            <a:off x="2614411" y="2514678"/>
            <a:ext cx="1842902" cy="956224"/>
            <a:chOff x="3773371" y="2514678"/>
            <a:chExt cx="683942" cy="956224"/>
          </a:xfrm>
        </p:grpSpPr>
        <p:cxnSp>
          <p:nvCxnSpPr>
            <p:cNvPr id="6" name="Straight Arrow Connector 5"/>
            <p:cNvCxnSpPr/>
            <p:nvPr/>
          </p:nvCxnSpPr>
          <p:spPr bwMode="auto">
            <a:xfrm flipV="1">
              <a:off x="4115342" y="2514678"/>
              <a:ext cx="257940" cy="494559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9" name="TextBox 8"/>
            <p:cNvSpPr txBox="1"/>
            <p:nvPr/>
          </p:nvSpPr>
          <p:spPr>
            <a:xfrm>
              <a:off x="3773371" y="3009237"/>
              <a:ext cx="6839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+mj-lt"/>
                </a:rPr>
                <a:t>average amount of transistors</a:t>
              </a:r>
              <a:endParaRPr lang="ru-RU" sz="1200" dirty="0" smtClean="0">
                <a:latin typeface="+mj-lt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400866" y="1664322"/>
            <a:ext cx="1056447" cy="615657"/>
            <a:chOff x="3400866" y="1664322"/>
            <a:chExt cx="1056447" cy="615657"/>
          </a:xfrm>
        </p:grpSpPr>
        <p:cxnSp>
          <p:nvCxnSpPr>
            <p:cNvPr id="14" name="Straight Arrow Connector 13"/>
            <p:cNvCxnSpPr/>
            <p:nvPr/>
          </p:nvCxnSpPr>
          <p:spPr bwMode="auto">
            <a:xfrm>
              <a:off x="4115342" y="1932878"/>
              <a:ext cx="308891" cy="347101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19" name="TextBox 18"/>
            <p:cNvSpPr txBox="1"/>
            <p:nvPr/>
          </p:nvSpPr>
          <p:spPr>
            <a:xfrm>
              <a:off x="3400866" y="1664322"/>
              <a:ext cx="10564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+mj-lt"/>
                </a:rPr>
                <a:t>dynamic</a:t>
              </a:r>
              <a:br>
                <a:rPr lang="en-US" sz="1200" dirty="0" smtClean="0">
                  <a:latin typeface="+mj-lt"/>
                </a:rPr>
              </a:br>
              <a:r>
                <a:rPr lang="en-US" sz="1200" dirty="0" smtClean="0">
                  <a:latin typeface="+mj-lt"/>
                </a:rPr>
                <a:t>capacity</a:t>
              </a:r>
              <a:endParaRPr lang="ru-RU" sz="1200" dirty="0" smtClean="0">
                <a:latin typeface="+mj-lt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481975" y="2514678"/>
            <a:ext cx="683942" cy="771227"/>
            <a:chOff x="4502151" y="2468843"/>
            <a:chExt cx="683942" cy="771227"/>
          </a:xfrm>
        </p:grpSpPr>
        <p:sp>
          <p:nvSpPr>
            <p:cNvPr id="20" name="TextBox 19"/>
            <p:cNvSpPr txBox="1"/>
            <p:nvPr/>
          </p:nvSpPr>
          <p:spPr>
            <a:xfrm>
              <a:off x="4502151" y="2963071"/>
              <a:ext cx="6839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+mj-lt"/>
                </a:rPr>
                <a:t>Voltage</a:t>
              </a:r>
              <a:endParaRPr lang="ru-RU" sz="1200" dirty="0" smtClean="0">
                <a:latin typeface="+mj-lt"/>
              </a:endParaRPr>
            </a:p>
          </p:txBody>
        </p:sp>
        <p:cxnSp>
          <p:nvCxnSpPr>
            <p:cNvPr id="21" name="Straight Arrow Connector 20"/>
            <p:cNvCxnSpPr/>
            <p:nvPr/>
          </p:nvCxnSpPr>
          <p:spPr bwMode="auto">
            <a:xfrm flipH="1" flipV="1">
              <a:off x="4631389" y="2468843"/>
              <a:ext cx="95034" cy="483305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grpSp>
        <p:nvGrpSpPr>
          <p:cNvPr id="41" name="Group 40"/>
          <p:cNvGrpSpPr/>
          <p:nvPr/>
        </p:nvGrpSpPr>
        <p:grpSpPr>
          <a:xfrm>
            <a:off x="4706247" y="1664322"/>
            <a:ext cx="923209" cy="595573"/>
            <a:chOff x="4924581" y="1652311"/>
            <a:chExt cx="683942" cy="595573"/>
          </a:xfrm>
        </p:grpSpPr>
        <p:sp>
          <p:nvSpPr>
            <p:cNvPr id="25" name="TextBox 24"/>
            <p:cNvSpPr txBox="1"/>
            <p:nvPr/>
          </p:nvSpPr>
          <p:spPr>
            <a:xfrm>
              <a:off x="4924581" y="1652311"/>
              <a:ext cx="6839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+mj-lt"/>
                </a:rPr>
                <a:t>frequency</a:t>
              </a:r>
              <a:endParaRPr lang="ru-RU" sz="1200" dirty="0" smtClean="0">
                <a:latin typeface="+mj-lt"/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 bwMode="auto">
            <a:xfrm flipH="1">
              <a:off x="5115736" y="1920867"/>
              <a:ext cx="86768" cy="327017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grpSp>
        <p:nvGrpSpPr>
          <p:cNvPr id="5" name="Group 4"/>
          <p:cNvGrpSpPr/>
          <p:nvPr/>
        </p:nvGrpSpPr>
        <p:grpSpPr>
          <a:xfrm>
            <a:off x="5925014" y="3978977"/>
            <a:ext cx="2616820" cy="1304993"/>
            <a:chOff x="5925014" y="3978977"/>
            <a:chExt cx="2616820" cy="1304993"/>
          </a:xfrm>
        </p:grpSpPr>
        <p:cxnSp>
          <p:nvCxnSpPr>
            <p:cNvPr id="31" name="Straight Connector 30"/>
            <p:cNvCxnSpPr/>
            <p:nvPr/>
          </p:nvCxnSpPr>
          <p:spPr bwMode="auto">
            <a:xfrm>
              <a:off x="6192644" y="4148254"/>
              <a:ext cx="639336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Straight Connector 31"/>
            <p:cNvCxnSpPr/>
            <p:nvPr/>
          </p:nvCxnSpPr>
          <p:spPr bwMode="auto">
            <a:xfrm>
              <a:off x="6831980" y="4148254"/>
              <a:ext cx="631903" cy="966439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/>
            <p:cNvCxnSpPr/>
            <p:nvPr/>
          </p:nvCxnSpPr>
          <p:spPr bwMode="auto">
            <a:xfrm>
              <a:off x="7463883" y="5114693"/>
              <a:ext cx="906966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6" name="TextBox 35"/>
            <p:cNvSpPr txBox="1"/>
            <p:nvPr/>
          </p:nvSpPr>
          <p:spPr>
            <a:xfrm>
              <a:off x="5925014" y="3978977"/>
              <a:ext cx="1709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1</a:t>
              </a:r>
              <a:endParaRPr lang="ru-RU" sz="1600" dirty="0" smtClean="0">
                <a:latin typeface="+mj-lt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370849" y="4945416"/>
              <a:ext cx="1709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0</a:t>
              </a:r>
              <a:endParaRPr lang="ru-RU" sz="1600" dirty="0" smtClean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65310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power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Static </a:t>
            </a:r>
            <a:r>
              <a:rPr lang="en-US" dirty="0" smtClean="0"/>
              <a:t>power is consumed by leakage</a:t>
            </a:r>
          </a:p>
          <a:p>
            <a:endParaRPr lang="en-US" dirty="0" smtClean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Area </a:t>
            </a:r>
            <a:r>
              <a:rPr lang="en-US" i="1" dirty="0" smtClean="0">
                <a:solidFill>
                  <a:srgbClr val="FF0000"/>
                </a:solidFill>
              </a:rPr>
              <a:t>S</a:t>
            </a:r>
            <a:r>
              <a:rPr lang="en-US" dirty="0" smtClean="0"/>
              <a:t> depends on: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number of pipeline stages </a:t>
            </a:r>
            <a:r>
              <a:rPr lang="en-US" i="1" dirty="0" smtClean="0">
                <a:solidFill>
                  <a:srgbClr val="FF0000"/>
                </a:solidFill>
              </a:rPr>
              <a:t>N</a:t>
            </a:r>
            <a:r>
              <a:rPr lang="en-US" dirty="0" smtClean="0"/>
              <a:t> (more latches required)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issue width </a:t>
            </a:r>
            <a:r>
              <a:rPr lang="en-US" i="1" dirty="0" smtClean="0">
                <a:solidFill>
                  <a:srgbClr val="FF0000"/>
                </a:solidFill>
              </a:rPr>
              <a:t>W</a:t>
            </a:r>
            <a:endParaRPr lang="en-US" dirty="0" smtClean="0">
              <a:solidFill>
                <a:srgbClr val="FF0000"/>
              </a:solidFill>
            </a:endParaRP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branch prediction, caches etc. — </a:t>
            </a:r>
            <a:r>
              <a:rPr lang="el-GR" i="1" dirty="0" smtClean="0">
                <a:solidFill>
                  <a:srgbClr val="FF0000"/>
                </a:solidFill>
              </a:rPr>
              <a:t>α</a:t>
            </a:r>
            <a:endParaRPr lang="en-US" i="1" dirty="0" smtClean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Leakage current </a:t>
            </a:r>
            <a:r>
              <a:rPr lang="en-US" i="1" dirty="0" smtClean="0">
                <a:solidFill>
                  <a:srgbClr val="FF0000"/>
                </a:solidFill>
              </a:rPr>
              <a:t>j</a:t>
            </a:r>
            <a:r>
              <a:rPr lang="en-US" i="1" dirty="0" smtClean="0"/>
              <a:t> </a:t>
            </a:r>
            <a:r>
              <a:rPr lang="en-US" dirty="0" smtClean="0"/>
              <a:t>depends on technical process</a:t>
            </a:r>
            <a:endParaRPr lang="en-US" i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~20% of consumed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65834" y="1694986"/>
                <a:ext cx="9111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𝑗𝑆𝑉</m:t>
                      </m:r>
                    </m:oMath>
                  </m:oMathPara>
                </a14:m>
                <a:endParaRPr lang="ru-RU" dirty="0" smtClean="0">
                  <a:latin typeface="Neo Sans Intel" panose="020B05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834" y="1694986"/>
                <a:ext cx="911147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4667" r="-7333" b="-3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3865834" y="1990803"/>
            <a:ext cx="683942" cy="983243"/>
            <a:chOff x="3773371" y="2487659"/>
            <a:chExt cx="683942" cy="983243"/>
          </a:xfrm>
        </p:grpSpPr>
        <p:cxnSp>
          <p:nvCxnSpPr>
            <p:cNvPr id="6" name="Straight Arrow Connector 5"/>
            <p:cNvCxnSpPr/>
            <p:nvPr/>
          </p:nvCxnSpPr>
          <p:spPr bwMode="auto">
            <a:xfrm flipV="1">
              <a:off x="4115342" y="2487659"/>
              <a:ext cx="193287" cy="521578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7" name="TextBox 6"/>
            <p:cNvSpPr txBox="1"/>
            <p:nvPr/>
          </p:nvSpPr>
          <p:spPr>
            <a:xfrm>
              <a:off x="3773371" y="3009237"/>
              <a:ext cx="6839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+mj-lt"/>
                </a:rPr>
                <a:t>leakage current</a:t>
              </a:r>
              <a:endParaRPr lang="ru-RU" sz="1200" dirty="0" smtClean="0">
                <a:latin typeface="+mj-lt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549776" y="1971985"/>
            <a:ext cx="639103" cy="586563"/>
            <a:chOff x="4549776" y="1971985"/>
            <a:chExt cx="639103" cy="586563"/>
          </a:xfrm>
        </p:grpSpPr>
        <p:cxnSp>
          <p:nvCxnSpPr>
            <p:cNvPr id="11" name="Straight Arrow Connector 10"/>
            <p:cNvCxnSpPr/>
            <p:nvPr/>
          </p:nvCxnSpPr>
          <p:spPr bwMode="auto">
            <a:xfrm flipH="1" flipV="1">
              <a:off x="4549776" y="1971985"/>
              <a:ext cx="341971" cy="33260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12" name="TextBox 11"/>
            <p:cNvSpPr txBox="1"/>
            <p:nvPr/>
          </p:nvSpPr>
          <p:spPr>
            <a:xfrm>
              <a:off x="4717585" y="2281549"/>
              <a:ext cx="4712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+mj-lt"/>
                </a:rPr>
                <a:t>area</a:t>
              </a:r>
              <a:endParaRPr lang="ru-RU" sz="1200" dirty="0" smtClean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06648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Performance/Power balance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059931"/>
            <a:ext cx="8228012" cy="469409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Depending on market target, we may optimize:</a:t>
            </a:r>
          </a:p>
          <a:p>
            <a:pPr marL="1027113" lvl="2" indent="-342900"/>
            <a:r>
              <a:rPr lang="en-US" sz="1800" dirty="0" smtClean="0"/>
              <a:t>performance (IPS)</a:t>
            </a:r>
          </a:p>
          <a:p>
            <a:pPr marL="1027113" lvl="2" indent="-342900"/>
            <a:r>
              <a:rPr lang="en-US" sz="1800" dirty="0" smtClean="0"/>
              <a:t>power (Watts)</a:t>
            </a:r>
          </a:p>
          <a:p>
            <a:pPr marL="1027113" lvl="2" indent="-342900"/>
            <a:r>
              <a:rPr lang="en-US" sz="1800" dirty="0" smtClean="0"/>
              <a:t>energy = power </a:t>
            </a:r>
            <a:r>
              <a:rPr lang="en-US" sz="1800" dirty="0"/>
              <a:t>/</a:t>
            </a:r>
            <a:r>
              <a:rPr lang="en-US" sz="1800" dirty="0" smtClean="0"/>
              <a:t> IPS (Joules)</a:t>
            </a:r>
          </a:p>
          <a:p>
            <a:pPr marL="1027113" lvl="2" indent="-342900"/>
            <a:r>
              <a:rPr lang="en-US" sz="1800" dirty="0" smtClean="0"/>
              <a:t>dissipation = power / area (Watts / cm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New features are added to CPU regarding to select target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Example 1:</a:t>
            </a:r>
            <a:r>
              <a:rPr lang="en-US" dirty="0" smtClean="0"/>
              <a:t> deeper pipelining</a:t>
            </a:r>
            <a:r>
              <a:rPr lang="en-US" dirty="0"/>
              <a:t> </a:t>
            </a:r>
            <a:r>
              <a:rPr lang="en-US" dirty="0" smtClean="0"/>
              <a:t>increases power consumption:</a:t>
            </a:r>
          </a:p>
          <a:p>
            <a:pPr marL="1027113" lvl="2" indent="-342900"/>
            <a:r>
              <a:rPr lang="en-US" dirty="0" smtClean="0"/>
              <a:t>higher frequency increases dynamic power</a:t>
            </a:r>
          </a:p>
          <a:p>
            <a:pPr marL="1027113" lvl="2" indent="-342900"/>
            <a:r>
              <a:rPr lang="en-US" dirty="0" smtClean="0"/>
              <a:t>new latches increase both static and dynamic power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Example 2: </a:t>
            </a:r>
            <a:r>
              <a:rPr lang="en-US" dirty="0" smtClean="0"/>
              <a:t>issue width increases power in </a:t>
            </a:r>
            <a:r>
              <a:rPr lang="en-US" dirty="0"/>
              <a:t>~</a:t>
            </a:r>
            <a:r>
              <a:rPr lang="en-US" i="1" dirty="0" smtClean="0"/>
              <a:t>W </a:t>
            </a:r>
            <a:r>
              <a:rPr lang="en-US" dirty="0" smtClean="0"/>
              <a:t>times</a:t>
            </a:r>
            <a:endParaRPr lang="en-US" b="1" i="1" dirty="0" smtClean="0"/>
          </a:p>
        </p:txBody>
      </p:sp>
    </p:spTree>
    <p:extLst>
      <p:ext uri="{BB962C8B-B14F-4D97-AF65-F5344CB8AC3E}">
        <p14:creationId xmlns:p14="http://schemas.microsoft.com/office/powerpoint/2010/main" val="4524405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Overcoming Power Wall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059931"/>
            <a:ext cx="8228012" cy="343479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Power saving features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slow down performance, but save energy/power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Multicore systems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shrink the core, but put them on single chip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Simultaneous multithreading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do more tasks on the same area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7232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727961"/>
            <a:ext cx="6477000" cy="1362075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br>
              <a:rPr lang="en-US" dirty="0" smtClean="0"/>
            </a:br>
            <a:r>
              <a:rPr lang="en-US" dirty="0" smtClean="0"/>
              <a:t>Q/A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26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395345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04816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2|24.9|17.4|61.8|34.1|21.7|7.6|7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4.1|5.6|115.7|100.1|117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8.4|13|1.5|15.5|39.3|24.6|31.3|16.9|15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37.9|83.1|16.6|12.1|63.2|83.7|107.5|84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64.8|2|64.1|31.9|0.6|80.8|245.6|5.5"/>
</p:tagLst>
</file>

<file path=ppt/theme/theme1.xml><?xml version="1.0" encoding="utf-8"?>
<a:theme xmlns:a="http://schemas.openxmlformats.org/drawingml/2006/main" name="mdsp_2011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401C71F511A342A8CE5D878AC6A5A2" ma:contentTypeVersion="1" ma:contentTypeDescription="Create a new document." ma:contentTypeScope="" ma:versionID="7780538ac0ddf0014d7399d2d91bbce0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ddb0c952b897a810c8a4e377cff6bff8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C5CC5FB6-44E0-47C0-972B-EBB94824D4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E76FF6-93BD-4804-AFC1-4178155785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14A94C8E-3E2B-4AD9-8D67-7815198BE085}">
  <ds:schemaRefs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mdsp_2011</Template>
  <TotalTime>2669</TotalTime>
  <Words>893</Words>
  <Application>Microsoft Office PowerPoint</Application>
  <PresentationFormat>On-screen Show (4:3)</PresentationFormat>
  <Paragraphs>276</Paragraphs>
  <Slides>27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0" baseType="lpstr">
      <vt:lpstr>MS PGothic</vt:lpstr>
      <vt:lpstr>MS PGothic</vt:lpstr>
      <vt:lpstr>Arial</vt:lpstr>
      <vt:lpstr>Calibri</vt:lpstr>
      <vt:lpstr>Cambria Math</vt:lpstr>
      <vt:lpstr>Consolas</vt:lpstr>
      <vt:lpstr>Courier New</vt:lpstr>
      <vt:lpstr>Neo Sans Intel</vt:lpstr>
      <vt:lpstr>Neo Sans Intel Light</vt:lpstr>
      <vt:lpstr>Neo Sans Intel Medium</vt:lpstr>
      <vt:lpstr>Times</vt:lpstr>
      <vt:lpstr>Verdana</vt:lpstr>
      <vt:lpstr>mdsp_2011</vt:lpstr>
      <vt:lpstr>Performance and Power</vt:lpstr>
      <vt:lpstr>Refresher: Basic Design Tradeoffs</vt:lpstr>
      <vt:lpstr>Performance</vt:lpstr>
      <vt:lpstr>Performance</vt:lpstr>
      <vt:lpstr>Increasing Performance</vt:lpstr>
      <vt:lpstr>Refresher: Pipeline speedup</vt:lpstr>
      <vt:lpstr>Ways to increase speedup</vt:lpstr>
      <vt:lpstr>Pipeline Timing Model</vt:lpstr>
      <vt:lpstr>Performance with Latches</vt:lpstr>
      <vt:lpstr>Hardware cost</vt:lpstr>
      <vt:lpstr>Cost/Performance Trade-off</vt:lpstr>
      <vt:lpstr>Improving model: adding BTB Impact</vt:lpstr>
      <vt:lpstr>Amdahl’s Law</vt:lpstr>
      <vt:lpstr>Examples of Amhdal’s Law</vt:lpstr>
      <vt:lpstr>Improving model: adding superscalar</vt:lpstr>
      <vt:lpstr>Maximum performance</vt:lpstr>
      <vt:lpstr>Intel CPUs timeline</vt:lpstr>
      <vt:lpstr>Power</vt:lpstr>
      <vt:lpstr>Power</vt:lpstr>
      <vt:lpstr>Power Consumption in CMOS</vt:lpstr>
      <vt:lpstr>Recharging Power</vt:lpstr>
      <vt:lpstr>Dynamic power</vt:lpstr>
      <vt:lpstr>Static power</vt:lpstr>
      <vt:lpstr>Performance/Power balance</vt:lpstr>
      <vt:lpstr>Overcoming Power Wall</vt:lpstr>
      <vt:lpstr>Thank You Q/A</vt:lpstr>
      <vt:lpstr>PowerPoint Presentation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MDSP 2011 Intro</dc:title>
  <dc:creator>atitov</dc:creator>
  <cp:keywords>CTPClassification=CTP_PUBLIC:VisualMarkings=, CTPClassification=:VisualMarkings=, CTPClassification=CTP_NWR:VisualMarkings=</cp:keywords>
  <cp:lastModifiedBy>Kryukov, Pavel I</cp:lastModifiedBy>
  <cp:revision>263</cp:revision>
  <dcterms:created xsi:type="dcterms:W3CDTF">2011-10-24T08:13:52Z</dcterms:created>
  <dcterms:modified xsi:type="dcterms:W3CDTF">2017-12-08T12:51:45Z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0x0101006F401C71F511A342A8CE5D878AC6A5A2</vt:lpwstr>
  </property>
  <property fmtid="{D5CDD505-2E9C-101B-9397-08002B2CF9AE}" pid="3" name="TitusGUID">
    <vt:lpwstr>6edd68e8-8c66-4b1f-913b-524aface4a21</vt:lpwstr>
  </property>
  <property fmtid="{D5CDD505-2E9C-101B-9397-08002B2CF9AE}" pid="4" name="CTP_TimeStamp">
    <vt:lpwstr>2017-12-08 12:51:43Z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CTP_NWR</vt:lpwstr>
  </property>
</Properties>
</file>