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>
        <p:scale>
          <a:sx n="100" d="100"/>
          <a:sy n="100" d="100"/>
        </p:scale>
        <p:origin x="1722" y="810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3/31/2018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3/31/2018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943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556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68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59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6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ebcourse.cs.technion.ac.il/234267/Winter2017-2018/en/ho_Lectures.html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5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Ins="0" anchor="b"/>
          <a:lstStyle/>
          <a:p>
            <a:pPr>
              <a:spcAft>
                <a:spcPts val="1200"/>
              </a:spcAft>
            </a:pPr>
            <a:r>
              <a:rPr lang="en-US" sz="3700" dirty="0" smtClean="0"/>
              <a:t>Virtual Memory</a:t>
            </a:r>
            <a:endParaRPr lang="en-US" sz="37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Neo Sans Intel"/>
              </a:rPr>
              <a:t>Igor Smirnov</a:t>
            </a:r>
            <a:endParaRPr lang="en-US" dirty="0" smtClean="0">
              <a:latin typeface="Neo Sans Intel"/>
            </a:endParaRP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Neo Sans Intel"/>
              </a:rPr>
              <a:t>31</a:t>
            </a:r>
            <a:r>
              <a:rPr lang="en-US" dirty="0" smtClean="0">
                <a:latin typeface="Neo Sans Intel"/>
              </a:rPr>
              <a:t> </a:t>
            </a:r>
            <a:r>
              <a:rPr lang="en-US" dirty="0" smtClean="0">
                <a:latin typeface="Neo Sans Intel"/>
              </a:rPr>
              <a:t>March </a:t>
            </a:r>
            <a:r>
              <a:rPr lang="en-US" dirty="0" smtClean="0">
                <a:latin typeface="Neo Sans Intel"/>
              </a:rPr>
              <a:t>2018</a:t>
            </a:r>
            <a:endParaRPr lang="en-US" dirty="0" smtClean="0">
              <a:latin typeface="Neo Sans Intel"/>
            </a:endParaRPr>
          </a:p>
        </p:txBody>
      </p:sp>
    </p:spTree>
    <p:extLst>
      <p:ext uri="{BB962C8B-B14F-4D97-AF65-F5344CB8AC3E}">
        <p14:creationId xmlns:p14="http://schemas.microsoft.com/office/powerpoint/2010/main" val="2776847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Acknowledgments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5613" y="1056443"/>
            <a:ext cx="82280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These </a:t>
            </a:r>
            <a:r>
              <a:rPr lang="en-US" dirty="0"/>
              <a:t>slides contain material developed and copyright by</a:t>
            </a:r>
            <a:r>
              <a:rPr lang="en-US" dirty="0" smtClean="0"/>
              <a:t>:</a:t>
            </a:r>
            <a:endParaRPr lang="en-US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Lihu Rappoport (MAMAS/Intel), </a:t>
            </a:r>
            <a:r>
              <a:rPr lang="en-US" dirty="0" smtClean="0">
                <a:solidFill>
                  <a:schemeClr val="tx2"/>
                </a:solidFill>
                <a:hlinkClick r:id="rId2"/>
              </a:rPr>
              <a:t>234267</a:t>
            </a:r>
            <a:r>
              <a:rPr lang="en-US" dirty="0"/>
              <a:t>,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>
                <a:solidFill>
                  <a:schemeClr val="tx2"/>
                </a:solidFill>
              </a:rPr>
              <a:t>L6-7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9436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141"/>
            <a:ext cx="8229600" cy="384718"/>
          </a:xfrm>
        </p:spPr>
        <p:txBody>
          <a:bodyPr/>
          <a:lstStyle/>
          <a:p>
            <a:r>
              <a:rPr lang="en-US" dirty="0" smtClean="0"/>
              <a:t>Layers of Abstraction in Computer Science (CS)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085375" y="1039903"/>
            <a:ext cx="4632576" cy="3257794"/>
            <a:chOff x="2300535" y="1039903"/>
            <a:chExt cx="4632576" cy="3257794"/>
          </a:xfrm>
        </p:grpSpPr>
        <p:sp>
          <p:nvSpPr>
            <p:cNvPr id="4" name="Rounded Rectangle 3"/>
            <p:cNvSpPr/>
            <p:nvPr/>
          </p:nvSpPr>
          <p:spPr bwMode="auto">
            <a:xfrm>
              <a:off x="2300535" y="103990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Application</a:t>
              </a:r>
            </a:p>
          </p:txBody>
        </p:sp>
        <p:sp>
          <p:nvSpPr>
            <p:cNvPr id="5" name="Rounded Rectangle 4"/>
            <p:cNvSpPr/>
            <p:nvPr/>
          </p:nvSpPr>
          <p:spPr bwMode="auto">
            <a:xfrm>
              <a:off x="2300535" y="158668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Algorithms</a:t>
              </a:r>
            </a:p>
          </p:txBody>
        </p:sp>
        <p:sp>
          <p:nvSpPr>
            <p:cNvPr id="6" name="Rounded Rectangle 5"/>
            <p:cNvSpPr/>
            <p:nvPr/>
          </p:nvSpPr>
          <p:spPr bwMode="auto">
            <a:xfrm>
              <a:off x="2300535" y="213347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Programming Language</a:t>
              </a:r>
            </a:p>
          </p:txBody>
        </p:sp>
        <p:sp>
          <p:nvSpPr>
            <p:cNvPr id="7" name="Rounded Rectangle 6"/>
            <p:cNvSpPr/>
            <p:nvPr/>
          </p:nvSpPr>
          <p:spPr bwMode="auto">
            <a:xfrm>
              <a:off x="2300535" y="2680261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Operating System</a:t>
              </a:r>
            </a:p>
          </p:txBody>
        </p:sp>
        <p:sp>
          <p:nvSpPr>
            <p:cNvPr id="8" name="Rounded Rectangle 7"/>
            <p:cNvSpPr/>
            <p:nvPr/>
          </p:nvSpPr>
          <p:spPr bwMode="auto">
            <a:xfrm>
              <a:off x="2300535" y="3227047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Instruction Set Architecture</a:t>
              </a:r>
            </a:p>
          </p:txBody>
        </p:sp>
        <p:sp>
          <p:nvSpPr>
            <p:cNvPr id="12" name="Rounded Rectangle 11"/>
            <p:cNvSpPr/>
            <p:nvPr/>
          </p:nvSpPr>
          <p:spPr bwMode="auto">
            <a:xfrm>
              <a:off x="2300535" y="377383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Microarchitecture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085375" y="4320619"/>
            <a:ext cx="4632576" cy="1617435"/>
            <a:chOff x="2300535" y="4320619"/>
            <a:chExt cx="4632576" cy="1617435"/>
          </a:xfrm>
        </p:grpSpPr>
        <p:sp>
          <p:nvSpPr>
            <p:cNvPr id="9" name="Rounded Rectangle 8"/>
            <p:cNvSpPr/>
            <p:nvPr/>
          </p:nvSpPr>
          <p:spPr bwMode="auto">
            <a:xfrm>
              <a:off x="2300535" y="432061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Gates/Register-Transfer Level (RTL)</a:t>
              </a:r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2300535" y="486740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Circuits</a:t>
              </a:r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2300535" y="5414190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Physics</a:t>
              </a:r>
            </a:p>
          </p:txBody>
        </p:sp>
      </p:grpSp>
      <p:sp>
        <p:nvSpPr>
          <p:cNvPr id="15" name="Rectangle 14"/>
          <p:cNvSpPr/>
          <p:nvPr/>
        </p:nvSpPr>
        <p:spPr bwMode="auto">
          <a:xfrm>
            <a:off x="2040550" y="935579"/>
            <a:ext cx="4736759" cy="1744682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152" y="3135036"/>
            <a:ext cx="1766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Topics of </a:t>
            </a:r>
          </a:p>
          <a:p>
            <a:pPr algn="r"/>
            <a:r>
              <a:rPr lang="en-US" sz="2000" dirty="0" smtClean="0">
                <a:latin typeface="+mj-lt"/>
              </a:rPr>
              <a:t>this lecture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2040550" y="4297697"/>
            <a:ext cx="4736759" cy="182116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2083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21" grpId="0" animBg="1"/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04108" y="4038494"/>
            <a:ext cx="7979308" cy="990711"/>
            <a:chOff x="604108" y="4038494"/>
            <a:chExt cx="7979308" cy="990711"/>
          </a:xfrm>
        </p:grpSpPr>
        <p:sp>
          <p:nvSpPr>
            <p:cNvPr id="6" name="Rectangle 5"/>
            <p:cNvSpPr/>
            <p:nvPr/>
          </p:nvSpPr>
          <p:spPr bwMode="auto">
            <a:xfrm>
              <a:off x="1110731" y="4547067"/>
              <a:ext cx="6916187" cy="4821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70419" y="4038494"/>
              <a:ext cx="1112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address N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4108" y="4038494"/>
              <a:ext cx="1112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address 0</a:t>
              </a:r>
              <a:endParaRPr lang="ru-RU" dirty="0" smtClean="0">
                <a:latin typeface="+mj-lt"/>
              </a:endParaRPr>
            </a:p>
          </p:txBody>
        </p:sp>
        <p:cxnSp>
          <p:nvCxnSpPr>
            <p:cNvPr id="15" name="Straight Arrow Connector 14"/>
            <p:cNvCxnSpPr>
              <a:stCxn id="13" idx="2"/>
            </p:cNvCxnSpPr>
            <p:nvPr/>
          </p:nvCxnSpPr>
          <p:spPr bwMode="auto">
            <a:xfrm>
              <a:off x="1160607" y="4407825"/>
              <a:ext cx="0" cy="168337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7" name="Straight Arrow Connector 16"/>
            <p:cNvCxnSpPr>
              <a:stCxn id="12" idx="2"/>
            </p:cNvCxnSpPr>
            <p:nvPr/>
          </p:nvCxnSpPr>
          <p:spPr bwMode="auto">
            <a:xfrm flipH="1">
              <a:off x="8026917" y="4407826"/>
              <a:ext cx="1" cy="168336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managing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5612" y="918610"/>
            <a:ext cx="8297689" cy="5101172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Initially, resources was managed manually by SW developer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One program </a:t>
            </a:r>
            <a:r>
              <a:rPr lang="en-US" sz="2000" kern="1200" dirty="0" smtClean="0">
                <a:solidFill>
                  <a:schemeClr val="bg1">
                    <a:lumMod val="65000"/>
                  </a:schemeClr>
                </a:solidFill>
                <a:latin typeface="Calibri"/>
                <a:ea typeface="+mn-ea"/>
                <a:cs typeface="Arial" charset="0"/>
              </a:rPr>
              <a:t>(= process)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occupied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 whole machine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recourses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There was no “external” programs with unknown code/requirements</a:t>
            </a: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Modern requirements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Multi-tasking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Arial" charset="0"/>
              </a:rPr>
              <a:t>→ not effective to give all resources to one process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Many SW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→ cannot plan their co-existents anymore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How multiple process share the memory?</a:t>
            </a:r>
          </a:p>
          <a:p>
            <a:pPr>
              <a:spcBef>
                <a:spcPts val="1200"/>
              </a:spcBef>
              <a:defRPr/>
            </a:pP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>
              <a:spcBef>
                <a:spcPts val="1200"/>
              </a:spcBef>
              <a:defRPr/>
            </a:pPr>
            <a:endParaRPr lang="en-US" kern="1200" dirty="0" smtClean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>
              <a:spcBef>
                <a:spcPts val="1200"/>
              </a:spcBef>
              <a:defRPr/>
            </a:pPr>
            <a:endParaRPr lang="en-US" sz="1050" kern="1200" dirty="0" smtClean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What happens if a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process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tries to access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memory of another process?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What happens if processes need more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memory and there is no free one?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What happens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if a new process is spawned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?</a:t>
            </a: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endParaRPr lang="ru-RU" dirty="0"/>
          </a:p>
        </p:txBody>
      </p:sp>
      <p:sp>
        <p:nvSpPr>
          <p:cNvPr id="7" name="Rectangle 6"/>
          <p:cNvSpPr/>
          <p:nvPr/>
        </p:nvSpPr>
        <p:spPr bwMode="auto">
          <a:xfrm>
            <a:off x="1110731" y="4576162"/>
            <a:ext cx="1856913" cy="423949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160607" y="4576162"/>
            <a:ext cx="1856913" cy="4239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softEdge rad="25400"/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Process A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085331" y="4576162"/>
            <a:ext cx="13466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softEdge rad="25400"/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Process B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499804" y="4576162"/>
            <a:ext cx="2466916" cy="4239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softEdge rad="25400"/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Process C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56224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Memory (primary)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Virtual Memory (VM) is an approach that enables flexible, secure memory management</a:t>
            </a:r>
          </a:p>
          <a:p>
            <a:pPr marL="342900" indent="-342900">
              <a:spcBef>
                <a:spcPts val="24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Provides </a:t>
            </a:r>
            <a:r>
              <a:rPr lang="en-US" b="1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isolation between processes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Processes can concurrently run on a single machine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VM prevents them from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illegal accessing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 memory of one another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Allows convenient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sharing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of memory for communication when required</a:t>
            </a:r>
            <a:endParaRPr lang="en-US" dirty="0">
              <a:latin typeface="+mj-lt"/>
            </a:endParaRPr>
          </a:p>
          <a:p>
            <a:pPr marL="342900" indent="-342900">
              <a:spcBef>
                <a:spcPts val="1800"/>
              </a:spcBef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Provides </a:t>
            </a:r>
            <a:r>
              <a:rPr lang="en-US" b="1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illusion of  large memory for each process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VM size can be bigger than physical memory size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VM decouples program from real size (can differ across machines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)</a:t>
            </a:r>
            <a:endParaRPr lang="en-US" dirty="0">
              <a:latin typeface="+mj-lt"/>
            </a:endParaRPr>
          </a:p>
          <a:p>
            <a:pPr marL="342900" indent="-342900">
              <a:spcBef>
                <a:spcPts val="1800"/>
              </a:spcBef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Provides </a:t>
            </a:r>
            <a:r>
              <a:rPr lang="en-US" b="1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illusion of  contiguous memory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Programmers need not worry about where data is placed exactly</a:t>
            </a:r>
          </a:p>
          <a:p>
            <a:endParaRPr lang="ru-RU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67399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</a:t>
            </a:r>
            <a:r>
              <a:rPr lang="en-US" dirty="0" smtClean="0"/>
              <a:t>(secondary)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Allows </a:t>
            </a: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for memory </a:t>
            </a:r>
            <a:r>
              <a:rPr lang="en-US" b="1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dynamic growth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Can add memory to processes at runtime as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needed</a:t>
            </a:r>
            <a:endParaRPr lang="en-US" dirty="0"/>
          </a:p>
          <a:p>
            <a:pPr marL="342900" indent="-342900">
              <a:spcBef>
                <a:spcPts val="1800"/>
              </a:spcBef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Allows for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memory </a:t>
            </a:r>
            <a:r>
              <a:rPr lang="en-US" b="1" kern="1200" dirty="0" err="1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overcommitment</a:t>
            </a:r>
            <a:endParaRPr lang="en-US" b="1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Sum of VM spaces (across all processes) can be 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&gt;&gt; physical space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Memory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often one of the most costly parts in the system</a:t>
            </a:r>
          </a:p>
          <a:p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35076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and Physical Address Space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Virtual </a:t>
            </a: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address space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Space used by the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programmer</a:t>
            </a:r>
            <a:r>
              <a:rPr lang="ru-RU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(part of program visible state)</a:t>
            </a:r>
            <a:endParaRPr lang="en-US" sz="2000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Perfect abstraction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=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contiguous and completely belongs to the process</a:t>
            </a:r>
            <a:endParaRPr lang="en-US" sz="2000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342900" lvl="1" indent="-342900">
              <a:spcBef>
                <a:spcPts val="1200"/>
              </a:spcBef>
              <a:buClrTx/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Physical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address space</a:t>
            </a:r>
            <a:endParaRPr lang="en-US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The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real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physical memory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(e.g., DRAM) available in the computer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Not</a:t>
            </a:r>
            <a:r>
              <a:rPr lang="ru-RU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known by the programmer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(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c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ompletely hidden by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OS/HW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)</a:t>
            </a:r>
          </a:p>
          <a:p>
            <a:pPr marL="342900" lvl="1" indent="-342900">
              <a:spcBef>
                <a:spcPts val="12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How to map virtual space to physical one?</a:t>
            </a:r>
            <a:endParaRPr lang="en-US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457200" lvl="1" indent="0">
              <a:spcBef>
                <a:spcPts val="600"/>
              </a:spcBef>
              <a:buClrTx/>
              <a:buNone/>
              <a:defRPr/>
            </a:pPr>
            <a:endParaRPr lang="en-US" sz="2000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89171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Idea of VM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85114"/>
            <a:ext cx="8228012" cy="1766396"/>
          </a:xfrm>
        </p:spPr>
        <p:txBody>
          <a:bodyPr/>
          <a:lstStyle/>
          <a:p>
            <a:pPr marL="342900" lvl="1" indent="-342900">
              <a:spcBef>
                <a:spcPts val="12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Split both virtual and physical spaces </a:t>
            </a:r>
            <a:r>
              <a:rPr lang="en-US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into fixed size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blocks called </a:t>
            </a: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pages </a:t>
            </a:r>
            <a:r>
              <a:rPr lang="en-US" kern="1200" dirty="0" smtClean="0">
                <a:solidFill>
                  <a:schemeClr val="bg1">
                    <a:lumMod val="65000"/>
                  </a:schemeClr>
                </a:solidFill>
                <a:latin typeface="Calibri"/>
                <a:ea typeface="+mn-ea"/>
                <a:cs typeface="Arial" charset="0"/>
              </a:rPr>
              <a:t>(commonly 4KB)</a:t>
            </a:r>
          </a:p>
          <a:p>
            <a:pPr marL="342900" lvl="1" indent="-342900">
              <a:spcBef>
                <a:spcPts val="1200"/>
              </a:spcBef>
              <a:buClrTx/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Not need to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place the whole virtual </a:t>
            </a: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space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into the computer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→ </a:t>
            </a:r>
            <a:r>
              <a:rPr lang="en-US" kern="1200" dirty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only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pages used by the process</a:t>
            </a:r>
            <a:endParaRPr lang="en-US" kern="1200" dirty="0" smtClean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endParaRPr lang="ru-RU" dirty="0"/>
          </a:p>
        </p:txBody>
      </p:sp>
      <p:sp>
        <p:nvSpPr>
          <p:cNvPr id="4" name="Rectangle 3"/>
          <p:cNvSpPr/>
          <p:nvPr/>
        </p:nvSpPr>
        <p:spPr>
          <a:xfrm>
            <a:off x="374073" y="2844702"/>
            <a:ext cx="4572000" cy="31854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1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Pages can be in physical memory or disk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Memory acts as a cache for the secondary storage (disk)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Process can use more pages that can be stored by physical 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memory</a:t>
            </a:r>
          </a:p>
          <a:p>
            <a:pPr marL="342900" lvl="1" indent="-342900">
              <a:spcBef>
                <a:spcPts val="18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Each process can access only their pages</a:t>
            </a:r>
          </a:p>
        </p:txBody>
      </p:sp>
      <p:graphicFrame>
        <p:nvGraphicFramePr>
          <p:cNvPr id="5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7774401"/>
              </p:ext>
            </p:extLst>
          </p:nvPr>
        </p:nvGraphicFramePr>
        <p:xfrm>
          <a:off x="5956797" y="2907591"/>
          <a:ext cx="609600" cy="279654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21992" y="2242798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Virtual Space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63866" y="3184646"/>
            <a:ext cx="2020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Physical Space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7465" y="2585970"/>
            <a:ext cx="689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#page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84595" y="3541669"/>
            <a:ext cx="689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#page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623165" y="3424170"/>
            <a:ext cx="749300" cy="1336655"/>
            <a:chOff x="6972300" y="4044639"/>
            <a:chExt cx="749300" cy="1336655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6972300" y="4044639"/>
              <a:ext cx="749300" cy="52893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2" name="Straight Arrow Connector 11"/>
            <p:cNvCxnSpPr/>
            <p:nvPr/>
          </p:nvCxnSpPr>
          <p:spPr>
            <a:xfrm>
              <a:off x="6972300" y="4438797"/>
              <a:ext cx="749300" cy="52893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>
            <a:xfrm>
              <a:off x="6972300" y="4626882"/>
              <a:ext cx="749300" cy="52893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4" name="Straight Arrow Connector 13"/>
            <p:cNvCxnSpPr/>
            <p:nvPr/>
          </p:nvCxnSpPr>
          <p:spPr>
            <a:xfrm flipV="1">
              <a:off x="6972300" y="4771694"/>
              <a:ext cx="749300" cy="609600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graphicFrame>
        <p:nvGraphicFramePr>
          <p:cNvPr id="15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3959366"/>
              </p:ext>
            </p:extLst>
          </p:nvPr>
        </p:nvGraphicFramePr>
        <p:xfrm>
          <a:off x="5956797" y="2907591"/>
          <a:ext cx="609600" cy="279654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719010"/>
              </p:ext>
            </p:extLst>
          </p:nvPr>
        </p:nvGraphicFramePr>
        <p:xfrm>
          <a:off x="5639297" y="2907591"/>
          <a:ext cx="927100" cy="2796540"/>
        </p:xfrm>
        <a:graphic>
          <a:graphicData uri="http://schemas.openxmlformats.org/drawingml/2006/table">
            <a:tbl>
              <a:tblPr/>
              <a:tblGrid>
                <a:gridCol w="3175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691175"/>
              </p:ext>
            </p:extLst>
          </p:nvPr>
        </p:nvGraphicFramePr>
        <p:xfrm>
          <a:off x="7773221" y="3872936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536857"/>
              </p:ext>
            </p:extLst>
          </p:nvPr>
        </p:nvGraphicFramePr>
        <p:xfrm>
          <a:off x="7773221" y="3872936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1797"/>
              </p:ext>
            </p:extLst>
          </p:nvPr>
        </p:nvGraphicFramePr>
        <p:xfrm>
          <a:off x="7773221" y="3872936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49667"/>
              </p:ext>
            </p:extLst>
          </p:nvPr>
        </p:nvGraphicFramePr>
        <p:xfrm>
          <a:off x="7417621" y="3872936"/>
          <a:ext cx="965200" cy="800100"/>
        </p:xfrm>
        <a:graphic>
          <a:graphicData uri="http://schemas.openxmlformats.org/drawingml/2006/table">
            <a:tbl>
              <a:tblPr/>
              <a:tblGrid>
                <a:gridCol w="3556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21257" y="4880795"/>
            <a:ext cx="724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Disk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8544" y="5187589"/>
            <a:ext cx="689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#page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66429"/>
              </p:ext>
            </p:extLst>
          </p:nvPr>
        </p:nvGraphicFramePr>
        <p:xfrm>
          <a:off x="7807170" y="5518856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080143"/>
              </p:ext>
            </p:extLst>
          </p:nvPr>
        </p:nvGraphicFramePr>
        <p:xfrm>
          <a:off x="7807170" y="5518856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36225"/>
              </p:ext>
            </p:extLst>
          </p:nvPr>
        </p:nvGraphicFramePr>
        <p:xfrm>
          <a:off x="7807170" y="5518856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580904"/>
              </p:ext>
            </p:extLst>
          </p:nvPr>
        </p:nvGraphicFramePr>
        <p:xfrm>
          <a:off x="7451570" y="5518856"/>
          <a:ext cx="965200" cy="800100"/>
        </p:xfrm>
        <a:graphic>
          <a:graphicData uri="http://schemas.openxmlformats.org/drawingml/2006/table">
            <a:tbl>
              <a:tblPr/>
              <a:tblGrid>
                <a:gridCol w="3556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9598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AFFF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 bwMode="auto">
          <a:xfrm>
            <a:off x="6623165" y="4211121"/>
            <a:ext cx="749300" cy="1315022"/>
          </a:xfrm>
          <a:prstGeom prst="straightConnector1">
            <a:avLst/>
          </a:prstGeom>
          <a:noFill/>
          <a:ln w="9525" cap="flat" cmpd="sng" algn="ctr">
            <a:solidFill>
              <a:srgbClr val="D21E1E"/>
            </a:solidFill>
            <a:prstDash val="solid"/>
            <a:tailEnd type="triangle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>
            <a:off x="6623165" y="5187589"/>
            <a:ext cx="749300" cy="578012"/>
          </a:xfrm>
          <a:prstGeom prst="straightConnector1">
            <a:avLst/>
          </a:prstGeom>
          <a:noFill/>
          <a:ln w="9525" cap="flat" cmpd="sng" algn="ctr">
            <a:solidFill>
              <a:srgbClr val="D21E1E"/>
            </a:solidFill>
            <a:prstDash val="soli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5025490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21" grpId="0"/>
      <p:bldP spid="22" grpId="0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" y="10793"/>
            <a:ext cx="8229600" cy="889000"/>
          </a:xfrm>
        </p:spPr>
        <p:txBody>
          <a:bodyPr/>
          <a:lstStyle/>
          <a:p>
            <a:r>
              <a:rPr lang="en-US" dirty="0" smtClean="0"/>
              <a:t>Page Table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768979"/>
            <a:ext cx="8228012" cy="5101172"/>
          </a:xfrm>
        </p:spPr>
        <p:txBody>
          <a:bodyPr/>
          <a:lstStyle/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To perform translation of virtual address into physical one, the special structure called Page Table (PT) is used</a:t>
            </a:r>
          </a:p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It contains the flowing information for each page: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Whether the page is in memory or on the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disc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Physical address of the page (if it is in memory)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Was its data modified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? </a:t>
            </a:r>
            <a:r>
              <a:rPr lang="en-US" sz="2000" kern="1200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Arial" charset="0"/>
              </a:rPr>
              <a:t>→ need for evictions</a:t>
            </a:r>
            <a:endParaRPr lang="en-US" sz="2000" kern="1200" dirty="0">
              <a:solidFill>
                <a:schemeClr val="bg1">
                  <a:lumMod val="65000"/>
                </a:schemeClr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Access rights (</a:t>
            </a:r>
            <a:r>
              <a:rPr lang="en-US" sz="2000" kern="1200" dirty="0" err="1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readonly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, read-write, etc.) </a:t>
            </a:r>
            <a:r>
              <a:rPr lang="en-US" sz="2000" kern="1200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Arial" charset="0"/>
              </a:rPr>
              <a:t>→ security</a:t>
            </a:r>
            <a:endParaRPr lang="en-US" sz="2000" kern="1200" dirty="0" smtClean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Each process has its own PT</a:t>
            </a:r>
          </a:p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HW can use PT to translate addresses </a:t>
            </a:r>
            <a:r>
              <a:rPr lang="en-US" kern="1200" dirty="0" smtClean="0">
                <a:solidFill>
                  <a:schemeClr val="bg1">
                    <a:lumMod val="65000"/>
                  </a:schemeClr>
                </a:solidFill>
                <a:latin typeface="Calibri"/>
                <a:ea typeface="+mn-ea"/>
                <a:cs typeface="Arial" charset="0"/>
              </a:rPr>
              <a:t>(= hit the table)</a:t>
            </a:r>
            <a:endParaRPr lang="en-US" kern="1200" dirty="0" smtClean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But, all complex tasks </a:t>
            </a:r>
            <a:r>
              <a:rPr lang="en-US" kern="1200" dirty="0" smtClean="0">
                <a:solidFill>
                  <a:schemeClr val="bg1">
                    <a:lumMod val="65000"/>
                  </a:schemeClr>
                </a:solidFill>
                <a:latin typeface="Calibri"/>
                <a:ea typeface="+mn-ea"/>
                <a:cs typeface="Arial" charset="0"/>
              </a:rPr>
              <a:t>(initialization, misses, evictions, etc.)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 are performed by OS</a:t>
            </a:r>
          </a:p>
          <a:p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65716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Translation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255222" y="2643071"/>
              <a:ext cx="4655802" cy="1885621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689956"/>
                    <a:gridCol w="864524"/>
                    <a:gridCol w="884256"/>
                    <a:gridCol w="822828"/>
                    <a:gridCol w="1394238"/>
                  </a:tblGrid>
                  <a:tr h="5357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Disc or memory?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Modified?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Access</a:t>
                          </a:r>
                          <a:r>
                            <a:rPr lang="en-US" sz="1400" b="0" baseline="0" dirty="0" smtClean="0">
                              <a:latin typeface="+mj-lt"/>
                            </a:rPr>
                            <a:t> Rights?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Physical</a:t>
                          </a:r>
                          <a:r>
                            <a:rPr lang="en-US" sz="1400" b="0" baseline="0" dirty="0" smtClean="0">
                              <a:latin typeface="+mj-lt"/>
                            </a:rPr>
                            <a:t> page number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0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1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…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…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  <m:t>52</m:t>
                                    </m:r>
                                  </m:sup>
                                </m:sSup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009477"/>
                  </p:ext>
                </p:extLst>
              </p:nvPr>
            </p:nvGraphicFramePr>
            <p:xfrm>
              <a:off x="1255222" y="2643071"/>
              <a:ext cx="4655802" cy="1885621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689956"/>
                    <a:gridCol w="864524"/>
                    <a:gridCol w="884256"/>
                    <a:gridCol w="822828"/>
                    <a:gridCol w="1394238"/>
                  </a:tblGrid>
                  <a:tr h="5357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Disc or memory?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Modified?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Access</a:t>
                          </a:r>
                          <a:r>
                            <a:rPr lang="en-US" sz="1400" b="0" baseline="0" dirty="0" smtClean="0">
                              <a:latin typeface="+mj-lt"/>
                            </a:rPr>
                            <a:t> Rights?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latin typeface="+mj-lt"/>
                            </a:rPr>
                            <a:t>Physical</a:t>
                          </a:r>
                          <a:r>
                            <a:rPr lang="en-US" sz="1400" b="0" baseline="0" dirty="0" smtClean="0">
                              <a:latin typeface="+mj-lt"/>
                            </a:rPr>
                            <a:t> page number</a:t>
                          </a:r>
                          <a:endParaRPr lang="ru-RU" sz="1400" b="0" dirty="0" smtClean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0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1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…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+mj-lt"/>
                            </a:rPr>
                            <a:t>…</a:t>
                          </a:r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  <a:tr h="26996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 rotWithShape="0">
                          <a:blip r:embed="rId5"/>
                          <a:stretch>
                            <a:fillRect l="-885" t="-606818" r="-580531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600" dirty="0">
                            <a:latin typeface="+mj-lt"/>
                          </a:endParaRPr>
                        </a:p>
                      </a:txBody>
                      <a:tcPr marL="0" marR="0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3209457" y="2194560"/>
            <a:ext cx="1290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Page Table</a:t>
            </a:r>
            <a:endParaRPr lang="ru-RU" sz="2000" dirty="0" smtClean="0">
              <a:latin typeface="+mj-lt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168363" y="1219749"/>
          <a:ext cx="6495972" cy="584685"/>
        </p:xfrm>
        <a:graphic>
          <a:graphicData uri="http://schemas.openxmlformats.org/drawingml/2006/table">
            <a:tbl>
              <a:tblPr/>
              <a:tblGrid>
                <a:gridCol w="5153889"/>
                <a:gridCol w="772737"/>
                <a:gridCol w="569346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33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Virtual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Page Number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Page Offset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86001" y="905759"/>
            <a:ext cx="4213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Virtual Address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4089861" y="5300727"/>
          <a:ext cx="3607724" cy="584685"/>
        </p:xfrm>
        <a:graphic>
          <a:graphicData uri="http://schemas.openxmlformats.org/drawingml/2006/table">
            <a:tbl>
              <a:tblPr/>
              <a:tblGrid>
                <a:gridCol w="2241445"/>
                <a:gridCol w="772737"/>
                <a:gridCol w="593542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33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Physical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Page Number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Page Offset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021113" y="5967638"/>
            <a:ext cx="4213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Physical Address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920239" y="3699164"/>
            <a:ext cx="4006735" cy="315883"/>
          </a:xfrm>
          <a:prstGeom prst="roundRect">
            <a:avLst/>
          </a:prstGeom>
          <a:noFill/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5203767" y="3857105"/>
            <a:ext cx="0" cy="1629295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accent1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5" name="Elbow Connector 14"/>
          <p:cNvCxnSpPr>
            <a:endCxn id="11" idx="1"/>
          </p:cNvCxnSpPr>
          <p:nvPr/>
        </p:nvCxnSpPr>
        <p:spPr bwMode="auto">
          <a:xfrm rot="5400000">
            <a:off x="1791392" y="1932709"/>
            <a:ext cx="2053244" cy="1795550"/>
          </a:xfrm>
          <a:prstGeom prst="bentConnector4">
            <a:avLst>
              <a:gd name="adj1" fmla="val 14575"/>
              <a:gd name="adj2" fmla="val 147453"/>
            </a:avLst>
          </a:prstGeom>
          <a:solidFill>
            <a:schemeClr val="bg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7015942" y="1803862"/>
            <a:ext cx="0" cy="3682538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accent5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8629490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 animBg="1"/>
      <p:bldP spid="11" grpId="1" animBg="1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TLB (translation lookaside buffer)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76801"/>
            <a:ext cx="8228012" cy="1907715"/>
          </a:xfrm>
        </p:spPr>
        <p:txBody>
          <a:bodyPr/>
          <a:lstStyle/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 PT is too huge to be in HW → it is stored in memory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There are multiple methods to compact it</a:t>
            </a:r>
          </a:p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Each translation requires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several memory access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Needed for every load or store → too many!</a:t>
            </a:r>
          </a:p>
          <a:p>
            <a:pPr marL="342900" lvl="1" indent="-342900">
              <a:spcBef>
                <a:spcPts val="1800"/>
              </a:spcBef>
              <a:buClrTx/>
              <a:buFont typeface="Arial" charset="0"/>
              <a:buChar char="•"/>
              <a:defRPr/>
            </a:pPr>
            <a:endParaRPr lang="en-US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endParaRPr lang="ru-RU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685506" y="2347625"/>
            <a:ext cx="3254378" cy="3908426"/>
            <a:chOff x="3293" y="1138"/>
            <a:chExt cx="2050" cy="2462"/>
          </a:xfrm>
        </p:grpSpPr>
        <p:sp>
          <p:nvSpPr>
            <p:cNvPr id="5" name="Rectangle 4"/>
            <p:cNvSpPr>
              <a:spLocks noChangeAspect="1" noChangeArrowheads="1"/>
            </p:cNvSpPr>
            <p:nvPr/>
          </p:nvSpPr>
          <p:spPr bwMode="auto">
            <a:xfrm>
              <a:off x="4851" y="2868"/>
              <a:ext cx="291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 panose="020B0604020202020204" pitchFamily="34" charset="0"/>
                </a:rPr>
                <a:t>Yes</a:t>
              </a:r>
            </a:p>
          </p:txBody>
        </p:sp>
        <p:sp>
          <p:nvSpPr>
            <p:cNvPr id="6" name="Rectangle 5"/>
            <p:cNvSpPr>
              <a:spLocks noChangeAspect="1" noChangeArrowheads="1"/>
            </p:cNvSpPr>
            <p:nvPr/>
          </p:nvSpPr>
          <p:spPr bwMode="auto">
            <a:xfrm>
              <a:off x="4139" y="2393"/>
              <a:ext cx="272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 panose="020B0604020202020204" pitchFamily="34" charset="0"/>
                </a:rPr>
                <a:t>No</a:t>
              </a:r>
            </a:p>
          </p:txBody>
        </p:sp>
        <p:grpSp>
          <p:nvGrpSpPr>
            <p:cNvPr id="7" name="Group 6"/>
            <p:cNvGrpSpPr>
              <a:grpSpLocks noChangeAspect="1"/>
            </p:cNvGrpSpPr>
            <p:nvPr/>
          </p:nvGrpSpPr>
          <p:grpSpPr bwMode="auto">
            <a:xfrm>
              <a:off x="4393" y="2307"/>
              <a:ext cx="745" cy="554"/>
              <a:chOff x="1940" y="1887"/>
              <a:chExt cx="735" cy="504"/>
            </a:xfrm>
          </p:grpSpPr>
          <p:grpSp>
            <p:nvGrpSpPr>
              <p:cNvPr id="26" name="Group 25"/>
              <p:cNvGrpSpPr>
                <a:grpSpLocks noChangeAspect="1"/>
              </p:cNvGrpSpPr>
              <p:nvPr/>
            </p:nvGrpSpPr>
            <p:grpSpPr bwMode="auto">
              <a:xfrm>
                <a:off x="1940" y="1887"/>
                <a:ext cx="735" cy="504"/>
                <a:chOff x="1940" y="1887"/>
                <a:chExt cx="735" cy="504"/>
              </a:xfrm>
            </p:grpSpPr>
            <p:sp>
              <p:nvSpPr>
                <p:cNvPr id="28" name="Freeform 27"/>
                <p:cNvSpPr>
                  <a:spLocks noChangeAspect="1"/>
                </p:cNvSpPr>
                <p:nvPr/>
              </p:nvSpPr>
              <p:spPr bwMode="auto">
                <a:xfrm>
                  <a:off x="1940" y="1887"/>
                  <a:ext cx="735" cy="504"/>
                </a:xfrm>
                <a:custGeom>
                  <a:avLst/>
                  <a:gdLst>
                    <a:gd name="T0" fmla="*/ 365 w 735"/>
                    <a:gd name="T1" fmla="*/ 0 h 504"/>
                    <a:gd name="T2" fmla="*/ 0 w 735"/>
                    <a:gd name="T3" fmla="*/ 250 h 504"/>
                    <a:gd name="T4" fmla="*/ 368 w 735"/>
                    <a:gd name="T5" fmla="*/ 503 h 504"/>
                    <a:gd name="T6" fmla="*/ 734 w 735"/>
                    <a:gd name="T7" fmla="*/ 250 h 504"/>
                    <a:gd name="T8" fmla="*/ 368 w 735"/>
                    <a:gd name="T9" fmla="*/ 0 h 504"/>
                    <a:gd name="T10" fmla="*/ 368 w 735"/>
                    <a:gd name="T11" fmla="*/ 0 h 504"/>
                    <a:gd name="T12" fmla="*/ 365 w 735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5"/>
                    <a:gd name="T22" fmla="*/ 0 h 504"/>
                    <a:gd name="T23" fmla="*/ 735 w 735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5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4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28"/>
                <p:cNvSpPr>
                  <a:spLocks noChangeAspect="1"/>
                </p:cNvSpPr>
                <p:nvPr/>
              </p:nvSpPr>
              <p:spPr bwMode="auto">
                <a:xfrm>
                  <a:off x="1940" y="1887"/>
                  <a:ext cx="735" cy="504"/>
                </a:xfrm>
                <a:custGeom>
                  <a:avLst/>
                  <a:gdLst>
                    <a:gd name="T0" fmla="*/ 365 w 735"/>
                    <a:gd name="T1" fmla="*/ 0 h 504"/>
                    <a:gd name="T2" fmla="*/ 0 w 735"/>
                    <a:gd name="T3" fmla="*/ 250 h 504"/>
                    <a:gd name="T4" fmla="*/ 368 w 735"/>
                    <a:gd name="T5" fmla="*/ 503 h 504"/>
                    <a:gd name="T6" fmla="*/ 734 w 735"/>
                    <a:gd name="T7" fmla="*/ 250 h 504"/>
                    <a:gd name="T8" fmla="*/ 368 w 735"/>
                    <a:gd name="T9" fmla="*/ 0 h 504"/>
                    <a:gd name="T10" fmla="*/ 368 w 735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5"/>
                    <a:gd name="T19" fmla="*/ 0 h 504"/>
                    <a:gd name="T20" fmla="*/ 735 w 735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5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4" y="250"/>
                      </a:lnTo>
                      <a:lnTo>
                        <a:pt x="368" y="0"/>
                      </a:lnTo>
                    </a:path>
                  </a:pathLst>
                </a:custGeom>
                <a:noFill/>
                <a:ln w="25400" cap="rnd">
                  <a:noFill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7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2025" y="2049"/>
                <a:ext cx="576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TLB Hit ?</a:t>
                </a:r>
              </a:p>
            </p:txBody>
          </p:sp>
        </p:grpSp>
        <p:sp>
          <p:nvSpPr>
            <p:cNvPr id="24" name="Freeform 23"/>
            <p:cNvSpPr>
              <a:spLocks noChangeAspect="1"/>
            </p:cNvSpPr>
            <p:nvPr/>
          </p:nvSpPr>
          <p:spPr bwMode="auto">
            <a:xfrm>
              <a:off x="3293" y="2366"/>
              <a:ext cx="751" cy="415"/>
            </a:xfrm>
            <a:custGeom>
              <a:avLst/>
              <a:gdLst>
                <a:gd name="T0" fmla="*/ 0 w 739"/>
                <a:gd name="T1" fmla="*/ 374 h 378"/>
                <a:gd name="T2" fmla="*/ 2 w 739"/>
                <a:gd name="T3" fmla="*/ 0 h 378"/>
                <a:gd name="T4" fmla="*/ 738 w 739"/>
                <a:gd name="T5" fmla="*/ 0 h 378"/>
                <a:gd name="T6" fmla="*/ 738 w 739"/>
                <a:gd name="T7" fmla="*/ 377 h 378"/>
                <a:gd name="T8" fmla="*/ 2 w 739"/>
                <a:gd name="T9" fmla="*/ 377 h 378"/>
                <a:gd name="T10" fmla="*/ 2 w 739"/>
                <a:gd name="T11" fmla="*/ 377 h 378"/>
                <a:gd name="T12" fmla="*/ 0 w 739"/>
                <a:gd name="T13" fmla="*/ 374 h 3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9"/>
                <a:gd name="T22" fmla="*/ 0 h 378"/>
                <a:gd name="T23" fmla="*/ 739 w 739"/>
                <a:gd name="T24" fmla="*/ 378 h 3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9" h="378">
                  <a:moveTo>
                    <a:pt x="0" y="374"/>
                  </a:moveTo>
                  <a:lnTo>
                    <a:pt x="2" y="0"/>
                  </a:lnTo>
                  <a:lnTo>
                    <a:pt x="738" y="0"/>
                  </a:lnTo>
                  <a:lnTo>
                    <a:pt x="738" y="377"/>
                  </a:lnTo>
                  <a:lnTo>
                    <a:pt x="2" y="377"/>
                  </a:lnTo>
                  <a:lnTo>
                    <a:pt x="0" y="374"/>
                  </a:lnTo>
                </a:path>
              </a:pathLst>
            </a:custGeom>
            <a:solidFill>
              <a:srgbClr val="F4B084"/>
            </a:solidFill>
            <a:ln w="9525" cap="rnd">
              <a:noFill/>
              <a:round/>
              <a:headEnd/>
              <a:tailEnd/>
            </a:ln>
            <a:extLst/>
          </p:spPr>
          <p:txBody>
            <a:bodyPr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" name="Rectangle 8"/>
            <p:cNvSpPr>
              <a:spLocks noChangeAspect="1" noChangeArrowheads="1"/>
            </p:cNvSpPr>
            <p:nvPr/>
          </p:nvSpPr>
          <p:spPr bwMode="auto">
            <a:xfrm>
              <a:off x="3304" y="2396"/>
              <a:ext cx="68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 panose="020B0604020202020204" pitchFamily="34" charset="0"/>
                </a:rPr>
                <a:t>Access</a:t>
              </a: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 panose="020B0604020202020204" pitchFamily="34" charset="0"/>
                </a:rPr>
                <a:t>Page Table</a:t>
              </a:r>
            </a:p>
          </p:txBody>
        </p:sp>
        <p:sp>
          <p:nvSpPr>
            <p:cNvPr id="10" name="Line 23"/>
            <p:cNvSpPr>
              <a:spLocks noChangeAspect="1" noChangeShapeType="1"/>
            </p:cNvSpPr>
            <p:nvPr/>
          </p:nvSpPr>
          <p:spPr bwMode="auto">
            <a:xfrm flipH="1">
              <a:off x="4052" y="2580"/>
              <a:ext cx="34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Line 29"/>
            <p:cNvSpPr>
              <a:spLocks noChangeAspect="1" noChangeShapeType="1"/>
            </p:cNvSpPr>
            <p:nvPr/>
          </p:nvSpPr>
          <p:spPr bwMode="auto">
            <a:xfrm>
              <a:off x="4767" y="2870"/>
              <a:ext cx="0" cy="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Line 30"/>
            <p:cNvSpPr>
              <a:spLocks noChangeAspect="1" noChangeShapeType="1"/>
            </p:cNvSpPr>
            <p:nvPr/>
          </p:nvSpPr>
          <p:spPr bwMode="auto">
            <a:xfrm>
              <a:off x="4767" y="2049"/>
              <a:ext cx="0" cy="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Line 31"/>
            <p:cNvSpPr>
              <a:spLocks noChangeAspect="1" noChangeShapeType="1"/>
            </p:cNvSpPr>
            <p:nvPr/>
          </p:nvSpPr>
          <p:spPr bwMode="auto">
            <a:xfrm flipH="1">
              <a:off x="3641" y="2781"/>
              <a:ext cx="1" cy="1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Line 32"/>
            <p:cNvSpPr>
              <a:spLocks noChangeAspect="1" noChangeShapeType="1"/>
            </p:cNvSpPr>
            <p:nvPr/>
          </p:nvSpPr>
          <p:spPr bwMode="auto">
            <a:xfrm flipH="1">
              <a:off x="3642" y="2976"/>
              <a:ext cx="77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5" name="Group 14"/>
            <p:cNvGrpSpPr>
              <a:grpSpLocks noChangeAspect="1"/>
            </p:cNvGrpSpPr>
            <p:nvPr/>
          </p:nvGrpSpPr>
          <p:grpSpPr bwMode="auto">
            <a:xfrm>
              <a:off x="3902" y="1138"/>
              <a:ext cx="1441" cy="331"/>
              <a:chOff x="1612" y="824"/>
              <a:chExt cx="1236" cy="301"/>
            </a:xfrm>
          </p:grpSpPr>
          <p:sp>
            <p:nvSpPr>
              <p:cNvPr id="22" name="Oval 21"/>
              <p:cNvSpPr>
                <a:spLocks noChangeAspect="1" noChangeArrowheads="1"/>
              </p:cNvSpPr>
              <p:nvPr/>
            </p:nvSpPr>
            <p:spPr bwMode="auto">
              <a:xfrm>
                <a:off x="1760" y="824"/>
                <a:ext cx="1088" cy="301"/>
              </a:xfrm>
              <a:prstGeom prst="ellipse">
                <a:avLst/>
              </a:prstGeom>
              <a:noFill/>
              <a:ln w="25400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12" y="870"/>
                <a:ext cx="1163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Virtual Address</a:t>
                </a:r>
              </a:p>
            </p:txBody>
          </p:sp>
        </p:grpSp>
        <p:sp>
          <p:nvSpPr>
            <p:cNvPr id="16" name="Line 36"/>
            <p:cNvSpPr>
              <a:spLocks noChangeAspect="1" noChangeShapeType="1"/>
            </p:cNvSpPr>
            <p:nvPr/>
          </p:nvSpPr>
          <p:spPr bwMode="auto">
            <a:xfrm>
              <a:off x="4765" y="1463"/>
              <a:ext cx="0" cy="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Line 42"/>
            <p:cNvSpPr>
              <a:spLocks noChangeAspect="1" noChangeShapeType="1"/>
            </p:cNvSpPr>
            <p:nvPr/>
          </p:nvSpPr>
          <p:spPr bwMode="auto">
            <a:xfrm>
              <a:off x="4420" y="2976"/>
              <a:ext cx="0" cy="1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8" name="Group 17"/>
            <p:cNvGrpSpPr>
              <a:grpSpLocks noChangeAspect="1"/>
            </p:cNvGrpSpPr>
            <p:nvPr/>
          </p:nvGrpSpPr>
          <p:grpSpPr bwMode="auto">
            <a:xfrm>
              <a:off x="4016" y="3143"/>
              <a:ext cx="1104" cy="457"/>
              <a:chOff x="1568" y="2648"/>
              <a:chExt cx="1088" cy="416"/>
            </a:xfrm>
          </p:grpSpPr>
          <p:sp>
            <p:nvSpPr>
              <p:cNvPr id="20" name="Oval 19"/>
              <p:cNvSpPr>
                <a:spLocks noChangeAspect="1" noChangeArrowheads="1"/>
              </p:cNvSpPr>
              <p:nvPr/>
            </p:nvSpPr>
            <p:spPr bwMode="auto">
              <a:xfrm>
                <a:off x="1568" y="2648"/>
                <a:ext cx="1088" cy="416"/>
              </a:xfrm>
              <a:prstGeom prst="ellipse">
                <a:avLst/>
              </a:prstGeom>
              <a:noFill/>
              <a:ln w="25400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1763" y="2678"/>
                <a:ext cx="718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Physical </a:t>
                </a:r>
              </a:p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Addresses</a:t>
                </a:r>
              </a:p>
            </p:txBody>
          </p:sp>
        </p:grp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4272" y="1728"/>
              <a:ext cx="972" cy="33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 cap="rnd" algn="ctr">
              <a:noFill/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 panose="020B0604020202020204" pitchFamily="34" charset="0"/>
                </a:rPr>
                <a:t>TLB Access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398339" y="3073113"/>
            <a:ext cx="507920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spcBef>
                <a:spcPts val="18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TLB caches recently used PT entries 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speed up translation 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typically 64 to 256 entries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usually 2 to 8 way associative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TLB access time 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is 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faster than L1 cache access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06125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PT, TLB and Cache</a:t>
            </a:r>
            <a:endParaRPr lang="ru-RU" sz="3200" dirty="0"/>
          </a:p>
        </p:txBody>
      </p:sp>
      <p:grpSp>
        <p:nvGrpSpPr>
          <p:cNvPr id="87" name="Group 86"/>
          <p:cNvGrpSpPr/>
          <p:nvPr/>
        </p:nvGrpSpPr>
        <p:grpSpPr>
          <a:xfrm>
            <a:off x="162813" y="1140959"/>
            <a:ext cx="4099886" cy="4334512"/>
            <a:chOff x="162813" y="1140959"/>
            <a:chExt cx="4099886" cy="4334512"/>
          </a:xfrm>
        </p:grpSpPr>
        <p:sp>
          <p:nvSpPr>
            <p:cNvPr id="6" name="Rectangle 5"/>
            <p:cNvSpPr>
              <a:spLocks noChangeAspect="1" noChangeArrowheads="1"/>
            </p:cNvSpPr>
            <p:nvPr/>
          </p:nvSpPr>
          <p:spPr bwMode="auto">
            <a:xfrm>
              <a:off x="3762941" y="4072092"/>
              <a:ext cx="46128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+mj-lt"/>
                </a:rPr>
                <a:t>Yes</a:t>
              </a:r>
            </a:p>
          </p:txBody>
        </p:sp>
        <p:grpSp>
          <p:nvGrpSpPr>
            <p:cNvPr id="7" name="Group 6"/>
            <p:cNvGrpSpPr>
              <a:grpSpLocks noChangeAspect="1"/>
            </p:cNvGrpSpPr>
            <p:nvPr/>
          </p:nvGrpSpPr>
          <p:grpSpPr bwMode="auto">
            <a:xfrm>
              <a:off x="3076700" y="2244782"/>
              <a:ext cx="1185999" cy="536605"/>
              <a:chOff x="1939" y="1351"/>
              <a:chExt cx="737" cy="307"/>
            </a:xfrm>
          </p:grpSpPr>
          <p:sp>
            <p:nvSpPr>
              <p:cNvPr id="81" name="Freeform 80"/>
              <p:cNvSpPr>
                <a:spLocks noChangeAspect="1"/>
              </p:cNvSpPr>
              <p:nvPr/>
            </p:nvSpPr>
            <p:spPr bwMode="auto">
              <a:xfrm>
                <a:off x="1939" y="1351"/>
                <a:ext cx="737" cy="307"/>
              </a:xfrm>
              <a:custGeom>
                <a:avLst/>
                <a:gdLst>
                  <a:gd name="T0" fmla="*/ 0 w 737"/>
                  <a:gd name="T1" fmla="*/ 304 h 307"/>
                  <a:gd name="T2" fmla="*/ 1 w 737"/>
                  <a:gd name="T3" fmla="*/ 0 h 307"/>
                  <a:gd name="T4" fmla="*/ 736 w 737"/>
                  <a:gd name="T5" fmla="*/ 0 h 307"/>
                  <a:gd name="T6" fmla="*/ 736 w 737"/>
                  <a:gd name="T7" fmla="*/ 306 h 307"/>
                  <a:gd name="T8" fmla="*/ 1 w 737"/>
                  <a:gd name="T9" fmla="*/ 306 h 307"/>
                  <a:gd name="T10" fmla="*/ 1 w 737"/>
                  <a:gd name="T11" fmla="*/ 306 h 307"/>
                  <a:gd name="T12" fmla="*/ 0 w 737"/>
                  <a:gd name="T13" fmla="*/ 304 h 3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7"/>
                  <a:gd name="T22" fmla="*/ 0 h 307"/>
                  <a:gd name="T23" fmla="*/ 737 w 737"/>
                  <a:gd name="T24" fmla="*/ 307 h 3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7" h="307">
                    <a:moveTo>
                      <a:pt x="0" y="304"/>
                    </a:moveTo>
                    <a:lnTo>
                      <a:pt x="1" y="0"/>
                    </a:lnTo>
                    <a:lnTo>
                      <a:pt x="736" y="0"/>
                    </a:lnTo>
                    <a:lnTo>
                      <a:pt x="736" y="306"/>
                    </a:lnTo>
                    <a:lnTo>
                      <a:pt x="1" y="306"/>
                    </a:lnTo>
                    <a:lnTo>
                      <a:pt x="0" y="304"/>
                    </a:lnTo>
                  </a:path>
                </a:pathLst>
              </a:custGeom>
              <a:solidFill>
                <a:srgbClr val="FCE9D6"/>
              </a:solidFill>
              <a:ln w="9525" cap="rnd">
                <a:noFill/>
                <a:round/>
                <a:headEnd/>
                <a:tailEnd/>
              </a:ln>
              <a:extLst/>
            </p:spPr>
            <p:txBody>
              <a:bodyPr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ru-RU" b="0">
                  <a:latin typeface="+mj-lt"/>
                </a:endParaRPr>
              </a:p>
            </p:txBody>
          </p:sp>
          <p:sp>
            <p:nvSpPr>
              <p:cNvPr id="82" name="Freeform 81"/>
              <p:cNvSpPr>
                <a:spLocks noChangeAspect="1"/>
              </p:cNvSpPr>
              <p:nvPr/>
            </p:nvSpPr>
            <p:spPr bwMode="auto">
              <a:xfrm>
                <a:off x="1939" y="1351"/>
                <a:ext cx="737" cy="307"/>
              </a:xfrm>
              <a:custGeom>
                <a:avLst/>
                <a:gdLst>
                  <a:gd name="T0" fmla="*/ 0 w 737"/>
                  <a:gd name="T1" fmla="*/ 304 h 307"/>
                  <a:gd name="T2" fmla="*/ 1 w 737"/>
                  <a:gd name="T3" fmla="*/ 0 h 307"/>
                  <a:gd name="T4" fmla="*/ 736 w 737"/>
                  <a:gd name="T5" fmla="*/ 0 h 307"/>
                  <a:gd name="T6" fmla="*/ 736 w 737"/>
                  <a:gd name="T7" fmla="*/ 306 h 307"/>
                  <a:gd name="T8" fmla="*/ 1 w 737"/>
                  <a:gd name="T9" fmla="*/ 306 h 307"/>
                  <a:gd name="T10" fmla="*/ 1 w 737"/>
                  <a:gd name="T11" fmla="*/ 306 h 3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37"/>
                  <a:gd name="T19" fmla="*/ 0 h 307"/>
                  <a:gd name="T20" fmla="*/ 737 w 737"/>
                  <a:gd name="T21" fmla="*/ 307 h 3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37" h="307">
                    <a:moveTo>
                      <a:pt x="0" y="304"/>
                    </a:moveTo>
                    <a:lnTo>
                      <a:pt x="1" y="0"/>
                    </a:lnTo>
                    <a:lnTo>
                      <a:pt x="736" y="0"/>
                    </a:lnTo>
                    <a:lnTo>
                      <a:pt x="736" y="306"/>
                    </a:lnTo>
                    <a:lnTo>
                      <a:pt x="1" y="306"/>
                    </a:lnTo>
                  </a:path>
                </a:pathLst>
              </a:custGeom>
              <a:noFill/>
              <a:ln w="25400" cap="rnd">
                <a:noFill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ru-RU" b="0">
                  <a:latin typeface="+mj-lt"/>
                </a:endParaRPr>
              </a:p>
            </p:txBody>
          </p:sp>
        </p:grpSp>
        <p:sp>
          <p:nvSpPr>
            <p:cNvPr id="8" name="Rectangle 7"/>
            <p:cNvSpPr>
              <a:spLocks noChangeAspect="1" noChangeArrowheads="1"/>
            </p:cNvSpPr>
            <p:nvPr/>
          </p:nvSpPr>
          <p:spPr bwMode="auto">
            <a:xfrm>
              <a:off x="2808209" y="3317989"/>
              <a:ext cx="431207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+mj-lt"/>
                </a:rPr>
                <a:t>No</a:t>
              </a:r>
            </a:p>
          </p:txBody>
        </p:sp>
        <p:sp>
          <p:nvSpPr>
            <p:cNvPr id="9" name="Rectangle 8"/>
            <p:cNvSpPr>
              <a:spLocks noChangeAspect="1" noChangeArrowheads="1"/>
            </p:cNvSpPr>
            <p:nvPr/>
          </p:nvSpPr>
          <p:spPr bwMode="auto">
            <a:xfrm>
              <a:off x="3315257" y="2211880"/>
              <a:ext cx="750205" cy="585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 dirty="0">
                  <a:latin typeface="+mj-lt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 dirty="0">
                  <a:latin typeface="+mj-lt"/>
                </a:rPr>
                <a:t>TLB </a:t>
              </a:r>
            </a:p>
          </p:txBody>
        </p:sp>
        <p:sp>
          <p:nvSpPr>
            <p:cNvPr id="10" name="Freeform 9"/>
            <p:cNvSpPr>
              <a:spLocks noChangeAspect="1"/>
            </p:cNvSpPr>
            <p:nvPr/>
          </p:nvSpPr>
          <p:spPr bwMode="auto">
            <a:xfrm>
              <a:off x="162813" y="3230671"/>
              <a:ext cx="1189174" cy="838245"/>
            </a:xfrm>
            <a:custGeom>
              <a:avLst/>
              <a:gdLst>
                <a:gd name="T0" fmla="*/ 0 w 739"/>
                <a:gd name="T1" fmla="*/ 2147483647 h 378"/>
                <a:gd name="T2" fmla="*/ 2147483647 w 739"/>
                <a:gd name="T3" fmla="*/ 0 h 378"/>
                <a:gd name="T4" fmla="*/ 2147483647 w 739"/>
                <a:gd name="T5" fmla="*/ 0 h 378"/>
                <a:gd name="T6" fmla="*/ 2147483647 w 739"/>
                <a:gd name="T7" fmla="*/ 2147483647 h 378"/>
                <a:gd name="T8" fmla="*/ 2147483647 w 739"/>
                <a:gd name="T9" fmla="*/ 2147483647 h 378"/>
                <a:gd name="T10" fmla="*/ 2147483647 w 739"/>
                <a:gd name="T11" fmla="*/ 2147483647 h 378"/>
                <a:gd name="T12" fmla="*/ 0 w 739"/>
                <a:gd name="T13" fmla="*/ 2147483647 h 3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9"/>
                <a:gd name="T22" fmla="*/ 0 h 378"/>
                <a:gd name="T23" fmla="*/ 739 w 739"/>
                <a:gd name="T24" fmla="*/ 378 h 3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9" h="378">
                  <a:moveTo>
                    <a:pt x="0" y="374"/>
                  </a:moveTo>
                  <a:lnTo>
                    <a:pt x="2" y="0"/>
                  </a:lnTo>
                  <a:lnTo>
                    <a:pt x="738" y="0"/>
                  </a:lnTo>
                  <a:lnTo>
                    <a:pt x="738" y="377"/>
                  </a:lnTo>
                  <a:lnTo>
                    <a:pt x="2" y="377"/>
                  </a:lnTo>
                  <a:lnTo>
                    <a:pt x="0" y="374"/>
                  </a:lnTo>
                </a:path>
              </a:pathLst>
            </a:custGeom>
            <a:solidFill>
              <a:srgbClr val="FCE9D6"/>
            </a:solidFill>
            <a:ln w="9525" cap="rnd">
              <a:noFill/>
              <a:round/>
              <a:headEnd/>
              <a:tailEnd/>
            </a:ln>
            <a:extLst/>
          </p:spPr>
          <p:txBody>
            <a:bodyPr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12" name="Rectangle 11"/>
            <p:cNvSpPr>
              <a:spLocks noChangeAspect="1" noChangeArrowheads="1"/>
            </p:cNvSpPr>
            <p:nvPr/>
          </p:nvSpPr>
          <p:spPr bwMode="auto">
            <a:xfrm>
              <a:off x="189517" y="3217304"/>
              <a:ext cx="1129412" cy="831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latin typeface="+mj-lt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latin typeface="+mj-lt"/>
                </a:rPr>
                <a:t>Page Table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latin typeface="+mj-lt"/>
                </a:rPr>
                <a:t>In Memory</a:t>
              </a:r>
            </a:p>
          </p:txBody>
        </p:sp>
        <p:sp>
          <p:nvSpPr>
            <p:cNvPr id="13" name="Line 21"/>
            <p:cNvSpPr>
              <a:spLocks noChangeAspect="1" noChangeShapeType="1"/>
            </p:cNvSpPr>
            <p:nvPr/>
          </p:nvSpPr>
          <p:spPr bwMode="auto">
            <a:xfrm flipH="1">
              <a:off x="2793599" y="3659758"/>
              <a:ext cx="3810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15" name="Line 27"/>
            <p:cNvSpPr>
              <a:spLocks noChangeAspect="1" noChangeShapeType="1"/>
            </p:cNvSpPr>
            <p:nvPr/>
          </p:nvSpPr>
          <p:spPr bwMode="auto">
            <a:xfrm>
              <a:off x="3672076" y="4075267"/>
              <a:ext cx="0" cy="6255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16" name="Line 28"/>
            <p:cNvSpPr>
              <a:spLocks noChangeAspect="1" noChangeShapeType="1"/>
            </p:cNvSpPr>
            <p:nvPr/>
          </p:nvSpPr>
          <p:spPr bwMode="auto">
            <a:xfrm>
              <a:off x="3672076" y="2771859"/>
              <a:ext cx="0" cy="419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17" name="Line 29"/>
            <p:cNvSpPr>
              <a:spLocks noChangeAspect="1" noChangeShapeType="1"/>
            </p:cNvSpPr>
            <p:nvPr/>
          </p:nvSpPr>
          <p:spPr bwMode="auto">
            <a:xfrm flipH="1">
              <a:off x="2278313" y="4153304"/>
              <a:ext cx="1588" cy="3095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18" name="Line 30"/>
            <p:cNvSpPr>
              <a:spLocks noChangeAspect="1" noChangeShapeType="1"/>
            </p:cNvSpPr>
            <p:nvPr/>
          </p:nvSpPr>
          <p:spPr bwMode="auto">
            <a:xfrm flipH="1">
              <a:off x="2279900" y="4462883"/>
              <a:ext cx="10968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20" name="Rectangle 19"/>
            <p:cNvSpPr>
              <a:spLocks noChangeAspect="1" noChangeArrowheads="1"/>
            </p:cNvSpPr>
            <p:nvPr/>
          </p:nvSpPr>
          <p:spPr bwMode="auto">
            <a:xfrm>
              <a:off x="3128019" y="1140959"/>
              <a:ext cx="1057983" cy="708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 anchorCtr="1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0" dirty="0">
                  <a:latin typeface="+mj-lt"/>
                </a:rPr>
                <a:t>  Virtual </a:t>
              </a:r>
              <a:br>
                <a:rPr lang="en-US" altLang="en-US" sz="2000" b="0" dirty="0">
                  <a:latin typeface="+mj-lt"/>
                </a:rPr>
              </a:br>
              <a:r>
                <a:rPr lang="en-US" altLang="en-US" sz="2000" b="0" dirty="0">
                  <a:latin typeface="+mj-lt"/>
                </a:rPr>
                <a:t>Address</a:t>
              </a:r>
            </a:p>
          </p:txBody>
        </p:sp>
        <p:sp>
          <p:nvSpPr>
            <p:cNvPr id="21" name="Line 34"/>
            <p:cNvSpPr>
              <a:spLocks noChangeAspect="1" noChangeShapeType="1"/>
            </p:cNvSpPr>
            <p:nvPr/>
          </p:nvSpPr>
          <p:spPr bwMode="auto">
            <a:xfrm>
              <a:off x="3668901" y="1841534"/>
              <a:ext cx="0" cy="419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23" name="Line 40"/>
            <p:cNvSpPr>
              <a:spLocks noChangeAspect="1" noChangeShapeType="1"/>
            </p:cNvSpPr>
            <p:nvPr/>
          </p:nvSpPr>
          <p:spPr bwMode="auto">
            <a:xfrm>
              <a:off x="3376768" y="4462883"/>
              <a:ext cx="0" cy="250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grpSp>
          <p:nvGrpSpPr>
            <p:cNvPr id="35" name="Group 34"/>
            <p:cNvGrpSpPr>
              <a:grpSpLocks noChangeAspect="1"/>
            </p:cNvGrpSpPr>
            <p:nvPr/>
          </p:nvGrpSpPr>
          <p:grpSpPr bwMode="auto">
            <a:xfrm>
              <a:off x="2478143" y="4715063"/>
              <a:ext cx="1752801" cy="760408"/>
              <a:chOff x="1568" y="2648"/>
              <a:chExt cx="1088" cy="436"/>
            </a:xfrm>
            <a:noFill/>
          </p:grpSpPr>
          <p:sp>
            <p:nvSpPr>
              <p:cNvPr id="71" name="Oval 70"/>
              <p:cNvSpPr>
                <a:spLocks noChangeAspect="1" noChangeArrowheads="1"/>
              </p:cNvSpPr>
              <p:nvPr/>
            </p:nvSpPr>
            <p:spPr bwMode="auto">
              <a:xfrm>
                <a:off x="1568" y="2648"/>
                <a:ext cx="1088" cy="416"/>
              </a:xfrm>
              <a:prstGeom prst="ellipse">
                <a:avLst/>
              </a:prstGeom>
              <a:grpFill/>
              <a:ln w="25400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he-IL" altLang="en-US" sz="1600" b="0">
                  <a:latin typeface="+mj-lt"/>
                </a:endParaRPr>
              </a:p>
            </p:txBody>
          </p:sp>
          <p:sp>
            <p:nvSpPr>
              <p:cNvPr id="72" name="Rectangle 71"/>
              <p:cNvSpPr>
                <a:spLocks noChangeAspect="1" noChangeArrowheads="1"/>
              </p:cNvSpPr>
              <p:nvPr/>
            </p:nvSpPr>
            <p:spPr bwMode="auto">
              <a:xfrm>
                <a:off x="1733" y="2678"/>
                <a:ext cx="776" cy="40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xtLst/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b="0" dirty="0">
                    <a:latin typeface="+mj-lt"/>
                  </a:rPr>
                  <a:t>Physical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b="0" dirty="0">
                    <a:latin typeface="+mj-lt"/>
                  </a:rPr>
                  <a:t>Addresses</a:t>
                </a:r>
              </a:p>
            </p:txBody>
          </p:sp>
        </p:grpSp>
        <p:grpSp>
          <p:nvGrpSpPr>
            <p:cNvPr id="46" name="Group 45"/>
            <p:cNvGrpSpPr>
              <a:grpSpLocks/>
            </p:cNvGrpSpPr>
            <p:nvPr/>
          </p:nvGrpSpPr>
          <p:grpSpPr bwMode="auto">
            <a:xfrm>
              <a:off x="3174642" y="3154467"/>
              <a:ext cx="1011360" cy="1006434"/>
              <a:chOff x="4724400" y="2987774"/>
              <a:chExt cx="1011245" cy="1006380"/>
            </a:xfrm>
          </p:grpSpPr>
          <p:grpSp>
            <p:nvGrpSpPr>
              <p:cNvPr id="57" name="Group 56"/>
              <p:cNvGrpSpPr>
                <a:grpSpLocks noChangeAspect="1"/>
              </p:cNvGrpSpPr>
              <p:nvPr/>
            </p:nvGrpSpPr>
            <p:grpSpPr bwMode="auto">
              <a:xfrm>
                <a:off x="4724400" y="2987774"/>
                <a:ext cx="1011245" cy="1006380"/>
                <a:chOff x="3546" y="1869"/>
                <a:chExt cx="734" cy="504"/>
              </a:xfrm>
            </p:grpSpPr>
            <p:sp>
              <p:nvSpPr>
                <p:cNvPr id="59" name="Freeform 58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CE9D6"/>
                </a:solidFill>
                <a:ln w="9525" cap="rnd">
                  <a:noFill/>
                  <a:round/>
                  <a:headEnd/>
                  <a:tailEnd/>
                </a:ln>
                <a:extLst/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  <p:sp>
              <p:nvSpPr>
                <p:cNvPr id="60" name="Freeform 59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4"/>
                    <a:gd name="T19" fmla="*/ 0 h 504"/>
                    <a:gd name="T20" fmla="*/ 734 w 734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</a:path>
                  </a:pathLst>
                </a:custGeom>
                <a:noFill/>
                <a:ln w="25400" cap="rnd">
                  <a:noFill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</p:grpSp>
          <p:sp>
            <p:nvSpPr>
              <p:cNvPr id="58" name="Rectangle 57"/>
              <p:cNvSpPr>
                <a:spLocks noChangeAspect="1" noChangeArrowheads="1"/>
              </p:cNvSpPr>
              <p:nvPr/>
            </p:nvSpPr>
            <p:spPr bwMode="auto">
              <a:xfrm>
                <a:off x="4968126" y="3164356"/>
                <a:ext cx="577015" cy="585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TLB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Hit ?</a:t>
                </a:r>
              </a:p>
            </p:txBody>
          </p:sp>
        </p:grpSp>
        <p:grpSp>
          <p:nvGrpSpPr>
            <p:cNvPr id="47" name="Group 46"/>
            <p:cNvGrpSpPr>
              <a:grpSpLocks/>
            </p:cNvGrpSpPr>
            <p:nvPr/>
          </p:nvGrpSpPr>
          <p:grpSpPr bwMode="auto">
            <a:xfrm>
              <a:off x="1775204" y="3168536"/>
              <a:ext cx="1011360" cy="1006434"/>
              <a:chOff x="4724400" y="2987774"/>
              <a:chExt cx="1011245" cy="1006380"/>
            </a:xfrm>
          </p:grpSpPr>
          <p:grpSp>
            <p:nvGrpSpPr>
              <p:cNvPr id="53" name="Group 52"/>
              <p:cNvGrpSpPr>
                <a:grpSpLocks noChangeAspect="1"/>
              </p:cNvGrpSpPr>
              <p:nvPr/>
            </p:nvGrpSpPr>
            <p:grpSpPr bwMode="auto">
              <a:xfrm>
                <a:off x="4724400" y="2987774"/>
                <a:ext cx="1011245" cy="1006380"/>
                <a:chOff x="3546" y="1869"/>
                <a:chExt cx="734" cy="504"/>
              </a:xfrm>
            </p:grpSpPr>
            <p:sp>
              <p:nvSpPr>
                <p:cNvPr id="55" name="Freeform 54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CE9D6"/>
                </a:solidFill>
                <a:ln w="9525" cap="rnd">
                  <a:noFill/>
                  <a:round/>
                  <a:headEnd/>
                  <a:tailEnd/>
                </a:ln>
                <a:extLst/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  <p:sp>
              <p:nvSpPr>
                <p:cNvPr id="56" name="Freeform 55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4"/>
                    <a:gd name="T19" fmla="*/ 0 h 504"/>
                    <a:gd name="T20" fmla="*/ 734 w 734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</a:path>
                  </a:pathLst>
                </a:custGeom>
                <a:noFill/>
                <a:ln w="25400" cap="rnd">
                  <a:noFill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</p:grpSp>
          <p:sp>
            <p:nvSpPr>
              <p:cNvPr id="54" name="Rectangle 53"/>
              <p:cNvSpPr>
                <a:spLocks noChangeAspect="1" noChangeArrowheads="1"/>
              </p:cNvSpPr>
              <p:nvPr/>
            </p:nvSpPr>
            <p:spPr bwMode="auto">
              <a:xfrm>
                <a:off x="4885583" y="3029861"/>
                <a:ext cx="742106" cy="8315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L2</a:t>
                </a:r>
                <a:br>
                  <a:rPr lang="en-US" altLang="en-US" sz="1600" b="0">
                    <a:latin typeface="+mj-lt"/>
                  </a:rPr>
                </a:br>
                <a:r>
                  <a:rPr lang="en-US" altLang="en-US" sz="1600" b="0">
                    <a:latin typeface="+mj-lt"/>
                  </a:rPr>
                  <a:t>Cache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Hit ?</a:t>
                </a:r>
              </a:p>
            </p:txBody>
          </p:sp>
        </p:grpSp>
        <p:sp>
          <p:nvSpPr>
            <p:cNvPr id="48" name="Rectangle 47"/>
            <p:cNvSpPr>
              <a:spLocks noChangeAspect="1" noChangeArrowheads="1"/>
            </p:cNvSpPr>
            <p:nvPr/>
          </p:nvSpPr>
          <p:spPr bwMode="auto">
            <a:xfrm>
              <a:off x="1395419" y="3327979"/>
              <a:ext cx="431207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+mj-lt"/>
                </a:rPr>
                <a:t>No</a:t>
              </a:r>
            </a:p>
          </p:txBody>
        </p:sp>
        <p:sp>
          <p:nvSpPr>
            <p:cNvPr id="49" name="Line 21"/>
            <p:cNvSpPr>
              <a:spLocks noChangeAspect="1" noChangeShapeType="1"/>
            </p:cNvSpPr>
            <p:nvPr/>
          </p:nvSpPr>
          <p:spPr bwMode="auto">
            <a:xfrm flipH="1">
              <a:off x="1380808" y="3669748"/>
              <a:ext cx="3810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50" name="Line 29"/>
            <p:cNvSpPr>
              <a:spLocks noChangeAspect="1" noChangeShapeType="1"/>
            </p:cNvSpPr>
            <p:nvPr/>
          </p:nvSpPr>
          <p:spPr bwMode="auto">
            <a:xfrm flipH="1">
              <a:off x="785674" y="4068917"/>
              <a:ext cx="0" cy="538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51" name="Line 30"/>
            <p:cNvSpPr>
              <a:spLocks noChangeAspect="1" noChangeShapeType="1"/>
            </p:cNvSpPr>
            <p:nvPr/>
          </p:nvSpPr>
          <p:spPr bwMode="auto">
            <a:xfrm flipH="1">
              <a:off x="785674" y="4602345"/>
              <a:ext cx="22030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52" name="Line 40"/>
            <p:cNvSpPr>
              <a:spLocks noChangeAspect="1" noChangeShapeType="1"/>
            </p:cNvSpPr>
            <p:nvPr/>
          </p:nvSpPr>
          <p:spPr bwMode="auto">
            <a:xfrm>
              <a:off x="2995725" y="4602345"/>
              <a:ext cx="0" cy="152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3352952" y="1744472"/>
            <a:ext cx="5663256" cy="3940362"/>
            <a:chOff x="3352952" y="1744472"/>
            <a:chExt cx="5663256" cy="3940362"/>
          </a:xfrm>
        </p:grpSpPr>
        <p:grpSp>
          <p:nvGrpSpPr>
            <p:cNvPr id="22" name="Group 21"/>
            <p:cNvGrpSpPr>
              <a:grpSpLocks/>
            </p:cNvGrpSpPr>
            <p:nvPr/>
          </p:nvGrpSpPr>
          <p:grpSpPr bwMode="auto">
            <a:xfrm>
              <a:off x="5262054" y="3145721"/>
              <a:ext cx="1011360" cy="1006434"/>
              <a:chOff x="4724400" y="2987774"/>
              <a:chExt cx="1011245" cy="1006380"/>
            </a:xfrm>
          </p:grpSpPr>
          <p:grpSp>
            <p:nvGrpSpPr>
              <p:cNvPr id="73" name="Group 72"/>
              <p:cNvGrpSpPr>
                <a:grpSpLocks noChangeAspect="1"/>
              </p:cNvGrpSpPr>
              <p:nvPr/>
            </p:nvGrpSpPr>
            <p:grpSpPr bwMode="auto">
              <a:xfrm>
                <a:off x="4724400" y="2987774"/>
                <a:ext cx="1011245" cy="1006380"/>
                <a:chOff x="3546" y="1869"/>
                <a:chExt cx="734" cy="504"/>
              </a:xfrm>
            </p:grpSpPr>
            <p:sp>
              <p:nvSpPr>
                <p:cNvPr id="75" name="Freeform 74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CE9D6"/>
                </a:solidFill>
                <a:ln w="9525" cap="rnd">
                  <a:noFill/>
                  <a:round/>
                  <a:headEnd/>
                  <a:tailEnd/>
                </a:ln>
                <a:extLst/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  <p:sp>
              <p:nvSpPr>
                <p:cNvPr id="76" name="Freeform 75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4"/>
                    <a:gd name="T19" fmla="*/ 0 h 504"/>
                    <a:gd name="T20" fmla="*/ 734 w 734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</a:path>
                  </a:pathLst>
                </a:custGeom>
                <a:noFill/>
                <a:ln w="25400" cap="rnd">
                  <a:noFill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</p:grpSp>
          <p:sp>
            <p:nvSpPr>
              <p:cNvPr id="74" name="Rectangle 73"/>
              <p:cNvSpPr>
                <a:spLocks noChangeAspect="1" noChangeArrowheads="1"/>
              </p:cNvSpPr>
              <p:nvPr/>
            </p:nvSpPr>
            <p:spPr bwMode="auto">
              <a:xfrm>
                <a:off x="4885582" y="3029861"/>
                <a:ext cx="742106" cy="8315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L1</a:t>
                </a:r>
                <a:br>
                  <a:rPr lang="en-US" altLang="en-US" sz="1600" b="0">
                    <a:latin typeface="+mj-lt"/>
                  </a:rPr>
                </a:br>
                <a:r>
                  <a:rPr lang="en-US" altLang="en-US" sz="1600" b="0">
                    <a:latin typeface="+mj-lt"/>
                  </a:rPr>
                  <a:t>Cache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Hit ?</a:t>
                </a:r>
              </a:p>
            </p:txBody>
          </p:sp>
        </p:grpSp>
        <p:sp>
          <p:nvSpPr>
            <p:cNvPr id="24" name="Line 41"/>
            <p:cNvSpPr>
              <a:spLocks noChangeAspect="1" noChangeShapeType="1"/>
            </p:cNvSpPr>
            <p:nvPr/>
          </p:nvSpPr>
          <p:spPr bwMode="auto">
            <a:xfrm>
              <a:off x="5768304" y="2724232"/>
              <a:ext cx="0" cy="4175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25" name="Line 42"/>
            <p:cNvSpPr>
              <a:spLocks noChangeAspect="1" noChangeShapeType="1"/>
            </p:cNvSpPr>
            <p:nvPr/>
          </p:nvSpPr>
          <p:spPr bwMode="auto">
            <a:xfrm>
              <a:off x="3352952" y="5440590"/>
              <a:ext cx="0" cy="2286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26" name="Line 43"/>
            <p:cNvSpPr>
              <a:spLocks noChangeAspect="1" noChangeShapeType="1"/>
            </p:cNvSpPr>
            <p:nvPr/>
          </p:nvSpPr>
          <p:spPr bwMode="auto">
            <a:xfrm>
              <a:off x="3352952" y="5681685"/>
              <a:ext cx="14717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27" name="Line 45"/>
            <p:cNvSpPr>
              <a:spLocks noChangeAspect="1" noChangeShapeType="1"/>
            </p:cNvSpPr>
            <p:nvPr/>
          </p:nvSpPr>
          <p:spPr bwMode="auto">
            <a:xfrm flipV="1">
              <a:off x="4824732" y="1747621"/>
              <a:ext cx="0" cy="39372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28" name="Line 46"/>
            <p:cNvSpPr>
              <a:spLocks noChangeAspect="1" noChangeShapeType="1"/>
            </p:cNvSpPr>
            <p:nvPr/>
          </p:nvSpPr>
          <p:spPr bwMode="auto">
            <a:xfrm>
              <a:off x="4824732" y="1744472"/>
              <a:ext cx="914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29" name="Line 47"/>
            <p:cNvSpPr>
              <a:spLocks noChangeAspect="1" noChangeShapeType="1"/>
            </p:cNvSpPr>
            <p:nvPr/>
          </p:nvSpPr>
          <p:spPr bwMode="auto">
            <a:xfrm flipH="1">
              <a:off x="5739726" y="1744691"/>
              <a:ext cx="4764" cy="4556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30" name="Line 48"/>
            <p:cNvSpPr>
              <a:spLocks noChangeAspect="1" noChangeShapeType="1"/>
            </p:cNvSpPr>
            <p:nvPr/>
          </p:nvSpPr>
          <p:spPr bwMode="auto">
            <a:xfrm flipH="1">
              <a:off x="5767375" y="4145121"/>
              <a:ext cx="0" cy="71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31" name="Rectangle 30"/>
            <p:cNvSpPr>
              <a:spLocks noChangeAspect="1" noChangeArrowheads="1"/>
            </p:cNvSpPr>
            <p:nvPr/>
          </p:nvSpPr>
          <p:spPr bwMode="auto">
            <a:xfrm>
              <a:off x="5328065" y="4122895"/>
              <a:ext cx="46128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+mj-lt"/>
                </a:rPr>
                <a:t>Yes</a:t>
              </a:r>
            </a:p>
          </p:txBody>
        </p:sp>
        <p:sp>
          <p:nvSpPr>
            <p:cNvPr id="32" name="Line 50"/>
            <p:cNvSpPr>
              <a:spLocks noChangeAspect="1" noChangeShapeType="1"/>
            </p:cNvSpPr>
            <p:nvPr/>
          </p:nvSpPr>
          <p:spPr bwMode="auto">
            <a:xfrm>
              <a:off x="6284030" y="3654801"/>
              <a:ext cx="3572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33" name="Rectangle 32"/>
            <p:cNvSpPr>
              <a:spLocks noChangeAspect="1" noChangeArrowheads="1"/>
            </p:cNvSpPr>
            <p:nvPr/>
          </p:nvSpPr>
          <p:spPr bwMode="auto">
            <a:xfrm>
              <a:off x="6238063" y="3342705"/>
              <a:ext cx="431207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+mj-lt"/>
                </a:rPr>
                <a:t>No</a:t>
              </a:r>
            </a:p>
          </p:txBody>
        </p:sp>
        <p:sp>
          <p:nvSpPr>
            <p:cNvPr id="34" name="Line 53"/>
            <p:cNvSpPr>
              <a:spLocks noChangeAspect="1" noChangeShapeType="1"/>
            </p:cNvSpPr>
            <p:nvPr/>
          </p:nvSpPr>
          <p:spPr bwMode="auto">
            <a:xfrm>
              <a:off x="6114419" y="4297529"/>
              <a:ext cx="0" cy="5334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36" name="Line 57"/>
            <p:cNvSpPr>
              <a:spLocks noChangeAspect="1" noChangeShapeType="1"/>
            </p:cNvSpPr>
            <p:nvPr/>
          </p:nvSpPr>
          <p:spPr bwMode="auto">
            <a:xfrm flipH="1">
              <a:off x="7160235" y="4145121"/>
              <a:ext cx="0" cy="152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37" name="Line 58"/>
            <p:cNvSpPr>
              <a:spLocks noChangeAspect="1" noChangeShapeType="1"/>
            </p:cNvSpPr>
            <p:nvPr/>
          </p:nvSpPr>
          <p:spPr bwMode="auto">
            <a:xfrm flipH="1">
              <a:off x="6114419" y="4297529"/>
              <a:ext cx="10653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grpSp>
          <p:nvGrpSpPr>
            <p:cNvPr id="38" name="Group 37"/>
            <p:cNvGrpSpPr>
              <a:grpSpLocks/>
            </p:cNvGrpSpPr>
            <p:nvPr/>
          </p:nvGrpSpPr>
          <p:grpSpPr bwMode="auto">
            <a:xfrm>
              <a:off x="5242124" y="4838898"/>
              <a:ext cx="1752799" cy="556194"/>
              <a:chOff x="4559300" y="4581525"/>
              <a:chExt cx="1752600" cy="556164"/>
            </a:xfrm>
            <a:noFill/>
          </p:grpSpPr>
          <p:sp>
            <p:nvSpPr>
              <p:cNvPr id="69" name="Oval 68"/>
              <p:cNvSpPr>
                <a:spLocks noChangeAspect="1" noChangeArrowheads="1"/>
              </p:cNvSpPr>
              <p:nvPr/>
            </p:nvSpPr>
            <p:spPr bwMode="auto">
              <a:xfrm>
                <a:off x="4559300" y="4581525"/>
                <a:ext cx="1752600" cy="525463"/>
              </a:xfrm>
              <a:prstGeom prst="ellipse">
                <a:avLst/>
              </a:prstGeom>
              <a:grpFill/>
              <a:ln w="25400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he-IL" altLang="en-US" sz="1600" b="0">
                  <a:latin typeface="+mj-lt"/>
                </a:endParaRPr>
              </a:p>
            </p:txBody>
          </p:sp>
          <p:sp>
            <p:nvSpPr>
              <p:cNvPr id="70" name="Rectangle 69"/>
              <p:cNvSpPr>
                <a:spLocks noChangeAspect="1" noChangeArrowheads="1"/>
              </p:cNvSpPr>
              <p:nvPr/>
            </p:nvSpPr>
            <p:spPr bwMode="auto">
              <a:xfrm>
                <a:off x="5033715" y="4675407"/>
                <a:ext cx="765892" cy="4622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xtLst/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b="0" dirty="0">
                    <a:latin typeface="+mj-lt"/>
                  </a:rPr>
                  <a:t>Data</a:t>
                </a:r>
              </a:p>
            </p:txBody>
          </p:sp>
        </p:grpSp>
        <p:sp>
          <p:nvSpPr>
            <p:cNvPr id="39" name="Line 53"/>
            <p:cNvSpPr>
              <a:spLocks noChangeAspect="1" noChangeShapeType="1"/>
            </p:cNvSpPr>
            <p:nvPr/>
          </p:nvSpPr>
          <p:spPr bwMode="auto">
            <a:xfrm>
              <a:off x="6571671" y="4526141"/>
              <a:ext cx="0" cy="38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40" name="Line 58"/>
            <p:cNvSpPr>
              <a:spLocks noChangeAspect="1" noChangeShapeType="1"/>
            </p:cNvSpPr>
            <p:nvPr/>
          </p:nvSpPr>
          <p:spPr bwMode="auto">
            <a:xfrm flipH="1">
              <a:off x="6573259" y="4526141"/>
              <a:ext cx="19798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41" name="Line 50"/>
            <p:cNvSpPr>
              <a:spLocks noChangeAspect="1" noChangeShapeType="1"/>
            </p:cNvSpPr>
            <p:nvPr/>
          </p:nvSpPr>
          <p:spPr bwMode="auto">
            <a:xfrm>
              <a:off x="7662407" y="3640487"/>
              <a:ext cx="3572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sp>
          <p:nvSpPr>
            <p:cNvPr id="42" name="Rectangle 41"/>
            <p:cNvSpPr>
              <a:spLocks noChangeAspect="1" noChangeArrowheads="1"/>
            </p:cNvSpPr>
            <p:nvPr/>
          </p:nvSpPr>
          <p:spPr bwMode="auto">
            <a:xfrm>
              <a:off x="7587888" y="3328637"/>
              <a:ext cx="431207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+mj-lt"/>
                </a:rPr>
                <a:t>No</a:t>
              </a:r>
            </a:p>
          </p:txBody>
        </p:sp>
        <p:sp>
          <p:nvSpPr>
            <p:cNvPr id="43" name="Line 57"/>
            <p:cNvSpPr>
              <a:spLocks noChangeAspect="1" noChangeShapeType="1"/>
            </p:cNvSpPr>
            <p:nvPr/>
          </p:nvSpPr>
          <p:spPr bwMode="auto">
            <a:xfrm flipH="1">
              <a:off x="8553095" y="3916508"/>
              <a:ext cx="0" cy="6096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endParaRPr lang="ru-RU" b="0">
                <a:latin typeface="+mj-lt"/>
              </a:endParaRPr>
            </a:p>
          </p:txBody>
        </p:sp>
        <p:grpSp>
          <p:nvGrpSpPr>
            <p:cNvPr id="44" name="Group 43"/>
            <p:cNvGrpSpPr>
              <a:grpSpLocks/>
            </p:cNvGrpSpPr>
            <p:nvPr/>
          </p:nvGrpSpPr>
          <p:grpSpPr bwMode="auto">
            <a:xfrm>
              <a:off x="7999624" y="3340898"/>
              <a:ext cx="1016584" cy="585418"/>
              <a:chOff x="7441731" y="3303587"/>
              <a:chExt cx="1016469" cy="585386"/>
            </a:xfrm>
          </p:grpSpPr>
          <p:grpSp>
            <p:nvGrpSpPr>
              <p:cNvPr id="65" name="Group 64"/>
              <p:cNvGrpSpPr>
                <a:grpSpLocks noChangeAspect="1"/>
              </p:cNvGrpSpPr>
              <p:nvPr/>
            </p:nvGrpSpPr>
            <p:grpSpPr bwMode="auto">
              <a:xfrm>
                <a:off x="7467601" y="3339664"/>
                <a:ext cx="990599" cy="534988"/>
                <a:chOff x="4638" y="1971"/>
                <a:chExt cx="738" cy="307"/>
              </a:xfrm>
            </p:grpSpPr>
            <p:sp>
              <p:nvSpPr>
                <p:cNvPr id="67" name="Freeform 66"/>
                <p:cNvSpPr>
                  <a:spLocks noChangeAspect="1"/>
                </p:cNvSpPr>
                <p:nvPr/>
              </p:nvSpPr>
              <p:spPr bwMode="auto">
                <a:xfrm>
                  <a:off x="4638" y="1971"/>
                  <a:ext cx="738" cy="307"/>
                </a:xfrm>
                <a:custGeom>
                  <a:avLst/>
                  <a:gdLst>
                    <a:gd name="T0" fmla="*/ 0 w 738"/>
                    <a:gd name="T1" fmla="*/ 304 h 307"/>
                    <a:gd name="T2" fmla="*/ 2 w 738"/>
                    <a:gd name="T3" fmla="*/ 0 h 307"/>
                    <a:gd name="T4" fmla="*/ 737 w 738"/>
                    <a:gd name="T5" fmla="*/ 0 h 307"/>
                    <a:gd name="T6" fmla="*/ 737 w 738"/>
                    <a:gd name="T7" fmla="*/ 306 h 307"/>
                    <a:gd name="T8" fmla="*/ 2 w 738"/>
                    <a:gd name="T9" fmla="*/ 306 h 307"/>
                    <a:gd name="T10" fmla="*/ 2 w 738"/>
                    <a:gd name="T11" fmla="*/ 306 h 307"/>
                    <a:gd name="T12" fmla="*/ 0 w 738"/>
                    <a:gd name="T13" fmla="*/ 304 h 3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8"/>
                    <a:gd name="T22" fmla="*/ 0 h 307"/>
                    <a:gd name="T23" fmla="*/ 738 w 738"/>
                    <a:gd name="T24" fmla="*/ 307 h 3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8" h="307">
                      <a:moveTo>
                        <a:pt x="0" y="304"/>
                      </a:moveTo>
                      <a:lnTo>
                        <a:pt x="2" y="0"/>
                      </a:lnTo>
                      <a:lnTo>
                        <a:pt x="737" y="0"/>
                      </a:lnTo>
                      <a:lnTo>
                        <a:pt x="737" y="306"/>
                      </a:lnTo>
                      <a:lnTo>
                        <a:pt x="2" y="306"/>
                      </a:lnTo>
                      <a:lnTo>
                        <a:pt x="0" y="304"/>
                      </a:lnTo>
                    </a:path>
                  </a:pathLst>
                </a:custGeom>
                <a:solidFill>
                  <a:srgbClr val="FCE9D6"/>
                </a:solidFill>
                <a:ln w="9525" cap="rnd">
                  <a:noFill/>
                  <a:round/>
                  <a:headEnd/>
                  <a:tailEnd/>
                </a:ln>
                <a:extLst/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  <p:sp>
              <p:nvSpPr>
                <p:cNvPr id="68" name="Freeform 67"/>
                <p:cNvSpPr>
                  <a:spLocks noChangeAspect="1"/>
                </p:cNvSpPr>
                <p:nvPr/>
              </p:nvSpPr>
              <p:spPr bwMode="auto">
                <a:xfrm>
                  <a:off x="4638" y="1971"/>
                  <a:ext cx="738" cy="307"/>
                </a:xfrm>
                <a:custGeom>
                  <a:avLst/>
                  <a:gdLst>
                    <a:gd name="T0" fmla="*/ 0 w 738"/>
                    <a:gd name="T1" fmla="*/ 304 h 307"/>
                    <a:gd name="T2" fmla="*/ 2 w 738"/>
                    <a:gd name="T3" fmla="*/ 0 h 307"/>
                    <a:gd name="T4" fmla="*/ 737 w 738"/>
                    <a:gd name="T5" fmla="*/ 0 h 307"/>
                    <a:gd name="T6" fmla="*/ 737 w 738"/>
                    <a:gd name="T7" fmla="*/ 306 h 307"/>
                    <a:gd name="T8" fmla="*/ 2 w 738"/>
                    <a:gd name="T9" fmla="*/ 306 h 307"/>
                    <a:gd name="T10" fmla="*/ 2 w 738"/>
                    <a:gd name="T11" fmla="*/ 306 h 30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8"/>
                    <a:gd name="T19" fmla="*/ 0 h 307"/>
                    <a:gd name="T20" fmla="*/ 738 w 738"/>
                    <a:gd name="T21" fmla="*/ 307 h 30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8" h="307">
                      <a:moveTo>
                        <a:pt x="0" y="304"/>
                      </a:moveTo>
                      <a:lnTo>
                        <a:pt x="2" y="0"/>
                      </a:lnTo>
                      <a:lnTo>
                        <a:pt x="737" y="0"/>
                      </a:lnTo>
                      <a:lnTo>
                        <a:pt x="737" y="306"/>
                      </a:lnTo>
                      <a:lnTo>
                        <a:pt x="2" y="306"/>
                      </a:lnTo>
                    </a:path>
                  </a:pathLst>
                </a:custGeom>
                <a:noFill/>
                <a:ln w="25400" cap="rnd">
                  <a:noFill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</p:grpSp>
          <p:sp>
            <p:nvSpPr>
              <p:cNvPr id="66" name="Rectangle 65"/>
              <p:cNvSpPr>
                <a:spLocks noChangeAspect="1" noChangeArrowheads="1"/>
              </p:cNvSpPr>
              <p:nvPr/>
            </p:nvSpPr>
            <p:spPr bwMode="auto">
              <a:xfrm>
                <a:off x="7441731" y="3303587"/>
                <a:ext cx="917710" cy="5853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Access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Memory</a:t>
                </a:r>
              </a:p>
            </p:txBody>
          </p:sp>
        </p:grpSp>
        <p:grpSp>
          <p:nvGrpSpPr>
            <p:cNvPr id="45" name="Group 44"/>
            <p:cNvGrpSpPr>
              <a:grpSpLocks/>
            </p:cNvGrpSpPr>
            <p:nvPr/>
          </p:nvGrpSpPr>
          <p:grpSpPr bwMode="auto">
            <a:xfrm>
              <a:off x="6647879" y="3154467"/>
              <a:ext cx="1011360" cy="1006434"/>
              <a:chOff x="4724400" y="2987774"/>
              <a:chExt cx="1011245" cy="1006380"/>
            </a:xfrm>
          </p:grpSpPr>
          <p:grpSp>
            <p:nvGrpSpPr>
              <p:cNvPr id="61" name="Group 60"/>
              <p:cNvGrpSpPr>
                <a:grpSpLocks noChangeAspect="1"/>
              </p:cNvGrpSpPr>
              <p:nvPr/>
            </p:nvGrpSpPr>
            <p:grpSpPr bwMode="auto">
              <a:xfrm>
                <a:off x="4724400" y="2987774"/>
                <a:ext cx="1011245" cy="1006380"/>
                <a:chOff x="3546" y="1869"/>
                <a:chExt cx="734" cy="504"/>
              </a:xfrm>
            </p:grpSpPr>
            <p:sp>
              <p:nvSpPr>
                <p:cNvPr id="63" name="Freeform 62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CE9D6"/>
                </a:solidFill>
                <a:ln w="9525" cap="rnd">
                  <a:noFill/>
                  <a:round/>
                  <a:headEnd/>
                  <a:tailEnd/>
                </a:ln>
                <a:extLst/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  <p:sp>
              <p:nvSpPr>
                <p:cNvPr id="64" name="Freeform 63"/>
                <p:cNvSpPr>
                  <a:spLocks noChangeAspect="1"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4"/>
                    <a:gd name="T19" fmla="*/ 0 h 504"/>
                    <a:gd name="T20" fmla="*/ 734 w 734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</a:path>
                  </a:pathLst>
                </a:custGeom>
                <a:noFill/>
                <a:ln w="25400" cap="rnd">
                  <a:noFill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r" rtl="1" fontAlgn="base">
                    <a:spcBef>
                      <a:spcPct val="0"/>
                    </a:spcBef>
                    <a:spcAft>
                      <a:spcPct val="0"/>
                    </a:spcAft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sz="12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ru-RU" b="0">
                    <a:latin typeface="+mj-lt"/>
                  </a:endParaRPr>
                </a:p>
              </p:txBody>
            </p:sp>
          </p:grpSp>
          <p:sp>
            <p:nvSpPr>
              <p:cNvPr id="62" name="Rectangle 61"/>
              <p:cNvSpPr>
                <a:spLocks noChangeAspect="1" noChangeArrowheads="1"/>
              </p:cNvSpPr>
              <p:nvPr/>
            </p:nvSpPr>
            <p:spPr bwMode="auto">
              <a:xfrm>
                <a:off x="4885583" y="3029861"/>
                <a:ext cx="742106" cy="8315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L2</a:t>
                </a:r>
                <a:br>
                  <a:rPr lang="en-US" altLang="en-US" sz="1600" b="0">
                    <a:latin typeface="+mj-lt"/>
                  </a:rPr>
                </a:br>
                <a:r>
                  <a:rPr lang="en-US" altLang="en-US" sz="1600" b="0">
                    <a:latin typeface="+mj-lt"/>
                  </a:rPr>
                  <a:t>Cache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+mj-lt"/>
                  </a:rPr>
                  <a:t>Hit ?</a:t>
                </a:r>
              </a:p>
            </p:txBody>
          </p:sp>
        </p:grpSp>
        <p:grpSp>
          <p:nvGrpSpPr>
            <p:cNvPr id="83" name="Group 82"/>
            <p:cNvGrpSpPr>
              <a:grpSpLocks noChangeAspect="1"/>
            </p:cNvGrpSpPr>
            <p:nvPr/>
          </p:nvGrpSpPr>
          <p:grpSpPr bwMode="auto">
            <a:xfrm>
              <a:off x="5146236" y="2187626"/>
              <a:ext cx="1185999" cy="536605"/>
              <a:chOff x="1939" y="1351"/>
              <a:chExt cx="737" cy="307"/>
            </a:xfrm>
          </p:grpSpPr>
          <p:sp>
            <p:nvSpPr>
              <p:cNvPr id="84" name="Freeform 83"/>
              <p:cNvSpPr>
                <a:spLocks noChangeAspect="1"/>
              </p:cNvSpPr>
              <p:nvPr/>
            </p:nvSpPr>
            <p:spPr bwMode="auto">
              <a:xfrm>
                <a:off x="1939" y="1351"/>
                <a:ext cx="737" cy="307"/>
              </a:xfrm>
              <a:custGeom>
                <a:avLst/>
                <a:gdLst>
                  <a:gd name="T0" fmla="*/ 0 w 737"/>
                  <a:gd name="T1" fmla="*/ 304 h 307"/>
                  <a:gd name="T2" fmla="*/ 1 w 737"/>
                  <a:gd name="T3" fmla="*/ 0 h 307"/>
                  <a:gd name="T4" fmla="*/ 736 w 737"/>
                  <a:gd name="T5" fmla="*/ 0 h 307"/>
                  <a:gd name="T6" fmla="*/ 736 w 737"/>
                  <a:gd name="T7" fmla="*/ 306 h 307"/>
                  <a:gd name="T8" fmla="*/ 1 w 737"/>
                  <a:gd name="T9" fmla="*/ 306 h 307"/>
                  <a:gd name="T10" fmla="*/ 1 w 737"/>
                  <a:gd name="T11" fmla="*/ 306 h 307"/>
                  <a:gd name="T12" fmla="*/ 0 w 737"/>
                  <a:gd name="T13" fmla="*/ 304 h 3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7"/>
                  <a:gd name="T22" fmla="*/ 0 h 307"/>
                  <a:gd name="T23" fmla="*/ 737 w 737"/>
                  <a:gd name="T24" fmla="*/ 307 h 3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7" h="307">
                    <a:moveTo>
                      <a:pt x="0" y="304"/>
                    </a:moveTo>
                    <a:lnTo>
                      <a:pt x="1" y="0"/>
                    </a:lnTo>
                    <a:lnTo>
                      <a:pt x="736" y="0"/>
                    </a:lnTo>
                    <a:lnTo>
                      <a:pt x="736" y="306"/>
                    </a:lnTo>
                    <a:lnTo>
                      <a:pt x="1" y="306"/>
                    </a:lnTo>
                    <a:lnTo>
                      <a:pt x="0" y="304"/>
                    </a:lnTo>
                  </a:path>
                </a:pathLst>
              </a:custGeom>
              <a:solidFill>
                <a:srgbClr val="FCE9D6"/>
              </a:solidFill>
              <a:ln w="9525" cap="rnd">
                <a:noFill/>
                <a:round/>
                <a:headEnd/>
                <a:tailEnd/>
              </a:ln>
              <a:extLst/>
            </p:spPr>
            <p:txBody>
              <a:bodyPr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ru-RU" b="0">
                  <a:latin typeface="+mj-lt"/>
                </a:endParaRPr>
              </a:p>
            </p:txBody>
          </p:sp>
          <p:sp>
            <p:nvSpPr>
              <p:cNvPr id="85" name="Freeform 84"/>
              <p:cNvSpPr>
                <a:spLocks noChangeAspect="1"/>
              </p:cNvSpPr>
              <p:nvPr/>
            </p:nvSpPr>
            <p:spPr bwMode="auto">
              <a:xfrm>
                <a:off x="1939" y="1351"/>
                <a:ext cx="737" cy="307"/>
              </a:xfrm>
              <a:custGeom>
                <a:avLst/>
                <a:gdLst>
                  <a:gd name="T0" fmla="*/ 0 w 737"/>
                  <a:gd name="T1" fmla="*/ 304 h 307"/>
                  <a:gd name="T2" fmla="*/ 1 w 737"/>
                  <a:gd name="T3" fmla="*/ 0 h 307"/>
                  <a:gd name="T4" fmla="*/ 736 w 737"/>
                  <a:gd name="T5" fmla="*/ 0 h 307"/>
                  <a:gd name="T6" fmla="*/ 736 w 737"/>
                  <a:gd name="T7" fmla="*/ 306 h 307"/>
                  <a:gd name="T8" fmla="*/ 1 w 737"/>
                  <a:gd name="T9" fmla="*/ 306 h 307"/>
                  <a:gd name="T10" fmla="*/ 1 w 737"/>
                  <a:gd name="T11" fmla="*/ 306 h 3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37"/>
                  <a:gd name="T19" fmla="*/ 0 h 307"/>
                  <a:gd name="T20" fmla="*/ 737 w 737"/>
                  <a:gd name="T21" fmla="*/ 307 h 3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37" h="307">
                    <a:moveTo>
                      <a:pt x="0" y="304"/>
                    </a:moveTo>
                    <a:lnTo>
                      <a:pt x="1" y="0"/>
                    </a:lnTo>
                    <a:lnTo>
                      <a:pt x="736" y="0"/>
                    </a:lnTo>
                    <a:lnTo>
                      <a:pt x="736" y="306"/>
                    </a:lnTo>
                    <a:lnTo>
                      <a:pt x="1" y="306"/>
                    </a:lnTo>
                  </a:path>
                </a:pathLst>
              </a:custGeom>
              <a:noFill/>
              <a:ln w="25400" cap="rnd">
                <a:noFill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r" rtl="1" fontAlgn="base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1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ru-RU" b="0">
                  <a:latin typeface="+mj-lt"/>
                </a:endParaRPr>
              </a:p>
            </p:txBody>
          </p:sp>
        </p:grpSp>
        <p:sp>
          <p:nvSpPr>
            <p:cNvPr id="86" name="Rectangle 85"/>
            <p:cNvSpPr>
              <a:spLocks noChangeAspect="1" noChangeArrowheads="1"/>
            </p:cNvSpPr>
            <p:nvPr/>
          </p:nvSpPr>
          <p:spPr bwMode="auto">
            <a:xfrm>
              <a:off x="5384750" y="2169571"/>
              <a:ext cx="750205" cy="585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r" rtl="1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 dirty="0">
                  <a:latin typeface="+mj-lt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0" dirty="0" smtClean="0">
                  <a:latin typeface="+mj-lt"/>
                </a:rPr>
                <a:t>Cache </a:t>
              </a:r>
              <a:endParaRPr lang="en-US" altLang="en-US" sz="1600" b="0" dirty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370816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3987"/>
            <a:ext cx="9144000" cy="608013"/>
          </a:xfrm>
        </p:spPr>
        <p:txBody>
          <a:bodyPr lIns="92075" tIns="46038" rIns="92075" bIns="46038"/>
          <a:lstStyle/>
          <a:p>
            <a:r>
              <a:rPr lang="en-US" dirty="0" smtClean="0"/>
              <a:t>Overlapped TLB &amp; Cache Access</a:t>
            </a:r>
          </a:p>
        </p:txBody>
      </p:sp>
      <p:sp>
        <p:nvSpPr>
          <p:cNvPr id="18435" name="Rectangle 15"/>
          <p:cNvSpPr>
            <a:spLocks noChangeArrowheads="1"/>
          </p:cNvSpPr>
          <p:nvPr/>
        </p:nvSpPr>
        <p:spPr bwMode="auto">
          <a:xfrm>
            <a:off x="422275" y="3621156"/>
            <a:ext cx="8308236" cy="2862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marL="342900" indent="-3429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#</a:t>
            </a:r>
            <a:r>
              <a:rPr lang="en-US" sz="2400" dirty="0">
                <a:latin typeface="+mj-lt"/>
              </a:rPr>
              <a:t>Set is contained within the Page Offset</a:t>
            </a:r>
          </a:p>
          <a:p>
            <a:pPr marL="800100" lvl="1" indent="-3429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dirty="0" smtClean="0">
                <a:latin typeface="+mj-lt"/>
              </a:rPr>
              <a:t>The </a:t>
            </a:r>
            <a:r>
              <a:rPr lang="en-US" sz="2400" b="0" dirty="0">
                <a:latin typeface="+mj-lt"/>
              </a:rPr>
              <a:t>#Set is known immediately</a:t>
            </a:r>
          </a:p>
          <a:p>
            <a:pPr marL="800100" lvl="1" indent="-3429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dirty="0" smtClean="0">
                <a:latin typeface="+mj-lt"/>
              </a:rPr>
              <a:t>Cache </a:t>
            </a:r>
            <a:r>
              <a:rPr lang="en-US" sz="2400" b="0" dirty="0">
                <a:latin typeface="+mj-lt"/>
              </a:rPr>
              <a:t>can be accessed in parallel with address translation</a:t>
            </a:r>
          </a:p>
          <a:p>
            <a:pPr marL="800100" lvl="1" indent="-3429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dirty="0" smtClean="0">
                <a:latin typeface="+mj-lt"/>
              </a:rPr>
              <a:t>Once </a:t>
            </a:r>
            <a:r>
              <a:rPr lang="en-US" sz="2400" b="0" dirty="0">
                <a:latin typeface="+mj-lt"/>
              </a:rPr>
              <a:t>translation is done, match upper bits with tags</a:t>
            </a:r>
          </a:p>
          <a:p>
            <a:pPr marL="342900" indent="-3429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hlink"/>
                </a:solidFill>
                <a:latin typeface="+mj-lt"/>
              </a:rPr>
              <a:t>Limitation: Cache ≤ (page size × associativity)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85800" y="914400"/>
            <a:ext cx="7106783" cy="2765425"/>
            <a:chOff x="685800" y="914400"/>
            <a:chExt cx="7106783" cy="2765425"/>
          </a:xfrm>
        </p:grpSpPr>
        <p:sp>
          <p:nvSpPr>
            <p:cNvPr id="18436" name="Rectangle 368"/>
            <p:cNvSpPr>
              <a:spLocks noChangeArrowheads="1"/>
            </p:cNvSpPr>
            <p:nvPr/>
          </p:nvSpPr>
          <p:spPr bwMode="auto">
            <a:xfrm>
              <a:off x="685800" y="914400"/>
              <a:ext cx="4953472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342900" indent="-342900" eaLnBrk="0" hangingPunct="0"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+mj-lt"/>
                </a:rPr>
                <a:t>Virtual Memory view of a Physical Address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696913" y="1295400"/>
              <a:ext cx="7095670" cy="2384425"/>
              <a:chOff x="696913" y="1295400"/>
              <a:chExt cx="7095670" cy="2384425"/>
            </a:xfrm>
          </p:grpSpPr>
          <p:sp>
            <p:nvSpPr>
              <p:cNvPr id="18437" name="Rectangle 369"/>
              <p:cNvSpPr>
                <a:spLocks noChangeArrowheads="1"/>
              </p:cNvSpPr>
              <p:nvPr/>
            </p:nvSpPr>
            <p:spPr bwMode="auto">
              <a:xfrm>
                <a:off x="696913" y="2514600"/>
                <a:ext cx="3934282" cy="4007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342900" indent="-342900" eaLnBrk="0" hangingPunct="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Cache view of a Physical Address</a:t>
                </a:r>
              </a:p>
            </p:txBody>
          </p:sp>
          <p:sp>
            <p:nvSpPr>
              <p:cNvPr id="18438" name="Rectangle 371"/>
              <p:cNvSpPr>
                <a:spLocks noChangeArrowheads="1"/>
              </p:cNvSpPr>
              <p:nvPr/>
            </p:nvSpPr>
            <p:spPr bwMode="auto">
              <a:xfrm>
                <a:off x="7667625" y="1295400"/>
                <a:ext cx="11702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18439" name="Rectangle 372"/>
              <p:cNvSpPr>
                <a:spLocks noChangeArrowheads="1"/>
              </p:cNvSpPr>
              <p:nvPr/>
            </p:nvSpPr>
            <p:spPr bwMode="auto">
              <a:xfrm>
                <a:off x="5588000" y="1622425"/>
                <a:ext cx="2178050" cy="434975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</p:spPr>
            <p:txBody>
              <a:bodyPr wrap="none" lIns="0" tIns="0" rIns="0" bIns="0" anchor="ctr"/>
              <a:lstStyle/>
              <a:p>
                <a:pPr algn="ctr" eaLnBrk="0" hangingPunct="0"/>
                <a:r>
                  <a:rPr lang="en-US" sz="2000" b="0">
                    <a:latin typeface="+mj-lt"/>
                  </a:rPr>
                  <a:t>Page offset</a:t>
                </a:r>
              </a:p>
            </p:txBody>
          </p:sp>
          <p:sp>
            <p:nvSpPr>
              <p:cNvPr id="18440" name="Rectangle 373"/>
              <p:cNvSpPr>
                <a:spLocks noChangeArrowheads="1"/>
              </p:cNvSpPr>
              <p:nvPr/>
            </p:nvSpPr>
            <p:spPr bwMode="auto">
              <a:xfrm>
                <a:off x="5638800" y="1295400"/>
                <a:ext cx="23403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 dirty="0">
                    <a:solidFill>
                      <a:srgbClr val="000000"/>
                    </a:solidFill>
                    <a:latin typeface="+mj-lt"/>
                  </a:rPr>
                  <a:t>11</a:t>
                </a:r>
              </a:p>
            </p:txBody>
          </p:sp>
          <p:sp>
            <p:nvSpPr>
              <p:cNvPr id="18441" name="Rectangle 374"/>
              <p:cNvSpPr>
                <a:spLocks noChangeArrowheads="1"/>
              </p:cNvSpPr>
              <p:nvPr/>
            </p:nvSpPr>
            <p:spPr bwMode="auto">
              <a:xfrm>
                <a:off x="1371600" y="1622425"/>
                <a:ext cx="4216400" cy="43497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</p:spPr>
            <p:txBody>
              <a:bodyPr wrap="none" lIns="0" tIns="0" rIns="0" bIns="0" anchor="ctr"/>
              <a:lstStyle/>
              <a:p>
                <a:pPr algn="ctr" eaLnBrk="0" hangingPunct="0"/>
                <a:r>
                  <a:rPr lang="en-US" sz="2000" b="0" dirty="0">
                    <a:latin typeface="+mj-lt"/>
                  </a:rPr>
                  <a:t>Physical Page Number</a:t>
                </a:r>
              </a:p>
            </p:txBody>
          </p:sp>
          <p:sp>
            <p:nvSpPr>
              <p:cNvPr id="18442" name="Rectangle 375"/>
              <p:cNvSpPr>
                <a:spLocks noChangeArrowheads="1"/>
              </p:cNvSpPr>
              <p:nvPr/>
            </p:nvSpPr>
            <p:spPr bwMode="auto">
              <a:xfrm>
                <a:off x="5319713" y="1295400"/>
                <a:ext cx="23403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>
                    <a:solidFill>
                      <a:srgbClr val="000000"/>
                    </a:solidFill>
                    <a:latin typeface="+mj-lt"/>
                  </a:rPr>
                  <a:t>12</a:t>
                </a:r>
              </a:p>
            </p:txBody>
          </p:sp>
          <p:sp>
            <p:nvSpPr>
              <p:cNvPr id="18443" name="Rectangle 376"/>
              <p:cNvSpPr>
                <a:spLocks noChangeArrowheads="1"/>
              </p:cNvSpPr>
              <p:nvPr/>
            </p:nvSpPr>
            <p:spPr bwMode="auto">
              <a:xfrm>
                <a:off x="1371600" y="1295400"/>
                <a:ext cx="23403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 dirty="0" smtClean="0">
                    <a:solidFill>
                      <a:srgbClr val="000000"/>
                    </a:solidFill>
                    <a:latin typeface="+mj-lt"/>
                  </a:rPr>
                  <a:t>38</a:t>
                </a:r>
                <a:endParaRPr lang="en-US" sz="1800" b="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8444" name="Rectangle 378"/>
              <p:cNvSpPr>
                <a:spLocks noChangeArrowheads="1"/>
              </p:cNvSpPr>
              <p:nvPr/>
            </p:nvSpPr>
            <p:spPr bwMode="auto">
              <a:xfrm>
                <a:off x="7675563" y="2895600"/>
                <a:ext cx="11702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18445" name="Rectangle 383"/>
              <p:cNvSpPr>
                <a:spLocks noChangeArrowheads="1"/>
              </p:cNvSpPr>
              <p:nvPr/>
            </p:nvSpPr>
            <p:spPr bwMode="auto">
              <a:xfrm>
                <a:off x="1371600" y="2895600"/>
                <a:ext cx="23403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 dirty="0" smtClean="0">
                    <a:solidFill>
                      <a:srgbClr val="000000"/>
                    </a:solidFill>
                    <a:latin typeface="+mj-lt"/>
                  </a:rPr>
                  <a:t>38</a:t>
                </a:r>
                <a:endParaRPr lang="en-US" sz="1800" b="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8446" name="Rectangle 384"/>
              <p:cNvSpPr>
                <a:spLocks noChangeArrowheads="1"/>
              </p:cNvSpPr>
              <p:nvPr/>
            </p:nvSpPr>
            <p:spPr bwMode="auto">
              <a:xfrm>
                <a:off x="6837363" y="2895600"/>
                <a:ext cx="11702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>
                    <a:solidFill>
                      <a:srgbClr val="000000"/>
                    </a:solidFill>
                    <a:latin typeface="+mj-lt"/>
                  </a:rPr>
                  <a:t>5</a:t>
                </a:r>
              </a:p>
            </p:txBody>
          </p:sp>
          <p:grpSp>
            <p:nvGrpSpPr>
              <p:cNvPr id="18447" name="Group 390"/>
              <p:cNvGrpSpPr>
                <a:grpSpLocks/>
              </p:cNvGrpSpPr>
              <p:nvPr/>
            </p:nvGrpSpPr>
            <p:grpSpPr bwMode="auto">
              <a:xfrm>
                <a:off x="1371600" y="3200400"/>
                <a:ext cx="6381750" cy="479425"/>
                <a:chOff x="864" y="2050"/>
                <a:chExt cx="4013" cy="302"/>
              </a:xfrm>
            </p:grpSpPr>
            <p:sp>
              <p:nvSpPr>
                <p:cNvPr id="18452" name="Rectangle 379"/>
                <p:cNvSpPr>
                  <a:spLocks noChangeArrowheads="1"/>
                </p:cNvSpPr>
                <p:nvPr/>
              </p:nvSpPr>
              <p:spPr bwMode="auto">
                <a:xfrm>
                  <a:off x="4278" y="2050"/>
                  <a:ext cx="599" cy="30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28575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:ln>
              </p:spPr>
              <p:txBody>
                <a:bodyPr wrap="none" lIns="0" tIns="0" rIns="0" bIns="0" anchor="ctr"/>
                <a:lstStyle/>
                <a:p>
                  <a:pPr algn="ctr" eaLnBrk="0" hangingPunct="0"/>
                  <a:r>
                    <a:rPr lang="en-US" sz="2000" b="0">
                      <a:latin typeface="+mj-lt"/>
                    </a:rPr>
                    <a:t>disp</a:t>
                  </a:r>
                </a:p>
              </p:txBody>
            </p:sp>
            <p:sp>
              <p:nvSpPr>
                <p:cNvPr id="18453" name="Rectangle 381"/>
                <p:cNvSpPr>
                  <a:spLocks noChangeArrowheads="1"/>
                </p:cNvSpPr>
                <p:nvPr/>
              </p:nvSpPr>
              <p:spPr bwMode="auto">
                <a:xfrm>
                  <a:off x="864" y="2050"/>
                  <a:ext cx="2651" cy="302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28575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:ln>
              </p:spPr>
              <p:txBody>
                <a:bodyPr wrap="none" lIns="0" tIns="0" rIns="0" bIns="0" anchor="ctr"/>
                <a:lstStyle/>
                <a:p>
                  <a:pPr algn="ctr" eaLnBrk="0" hangingPunct="0"/>
                  <a:r>
                    <a:rPr lang="en-US" sz="2000" b="0">
                      <a:latin typeface="+mj-lt"/>
                    </a:rPr>
                    <a:t>tag</a:t>
                  </a:r>
                </a:p>
              </p:txBody>
            </p:sp>
            <p:sp>
              <p:nvSpPr>
                <p:cNvPr id="18454" name="Rectangle 385"/>
                <p:cNvSpPr>
                  <a:spLocks noChangeArrowheads="1"/>
                </p:cNvSpPr>
                <p:nvPr/>
              </p:nvSpPr>
              <p:spPr bwMode="auto">
                <a:xfrm>
                  <a:off x="3511" y="2050"/>
                  <a:ext cx="767" cy="30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28575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:ln>
              </p:spPr>
              <p:txBody>
                <a:bodyPr wrap="none" lIns="0" tIns="0" rIns="0" bIns="0" anchor="ctr"/>
                <a:lstStyle/>
                <a:p>
                  <a:pPr algn="ctr" eaLnBrk="0" hangingPunct="0"/>
                  <a:r>
                    <a:rPr lang="en-US" sz="2000" b="0">
                      <a:latin typeface="+mj-lt"/>
                    </a:rPr>
                    <a:t>set</a:t>
                  </a:r>
                </a:p>
              </p:txBody>
            </p:sp>
          </p:grpSp>
          <p:sp>
            <p:nvSpPr>
              <p:cNvPr id="18448" name="Rectangle 386"/>
              <p:cNvSpPr>
                <a:spLocks noChangeArrowheads="1"/>
              </p:cNvSpPr>
              <p:nvPr/>
            </p:nvSpPr>
            <p:spPr bwMode="auto">
              <a:xfrm>
                <a:off x="6638925" y="2895600"/>
                <a:ext cx="11702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>
                    <a:solidFill>
                      <a:srgbClr val="000000"/>
                    </a:solidFill>
                    <a:latin typeface="+mj-lt"/>
                  </a:rPr>
                  <a:t>6</a:t>
                </a:r>
              </a:p>
            </p:txBody>
          </p:sp>
          <p:sp>
            <p:nvSpPr>
              <p:cNvPr id="18450" name="Rectangle 388"/>
              <p:cNvSpPr>
                <a:spLocks noChangeArrowheads="1"/>
              </p:cNvSpPr>
              <p:nvPr/>
            </p:nvSpPr>
            <p:spPr bwMode="auto">
              <a:xfrm>
                <a:off x="5640388" y="2913063"/>
                <a:ext cx="23403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>
                    <a:solidFill>
                      <a:srgbClr val="000000"/>
                    </a:solidFill>
                    <a:latin typeface="+mj-lt"/>
                  </a:rPr>
                  <a:t>11</a:t>
                </a:r>
              </a:p>
            </p:txBody>
          </p:sp>
          <p:sp>
            <p:nvSpPr>
              <p:cNvPr id="18451" name="Rectangle 389"/>
              <p:cNvSpPr>
                <a:spLocks noChangeArrowheads="1"/>
              </p:cNvSpPr>
              <p:nvPr/>
            </p:nvSpPr>
            <p:spPr bwMode="auto">
              <a:xfrm>
                <a:off x="5321300" y="2913063"/>
                <a:ext cx="23403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800" b="0">
                    <a:solidFill>
                      <a:srgbClr val="000000"/>
                    </a:solidFill>
                    <a:latin typeface="+mj-lt"/>
                  </a:rPr>
                  <a:t>12</a:t>
                </a:r>
              </a:p>
            </p:txBody>
          </p:sp>
        </p:grpSp>
      </p:grpSp>
      <p:sp>
        <p:nvSpPr>
          <p:cNvPr id="26" name="Line 387"/>
          <p:cNvSpPr>
            <a:spLocks noChangeShapeType="1"/>
          </p:cNvSpPr>
          <p:nvPr/>
        </p:nvSpPr>
        <p:spPr bwMode="auto">
          <a:xfrm>
            <a:off x="5588000" y="20574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med" len="lg"/>
          </a:ln>
        </p:spPr>
        <p:txBody>
          <a:bodyPr/>
          <a:lstStyle/>
          <a:p>
            <a:endParaRPr lang="en-US" b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7579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26" grpId="0" animBg="1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Virtually-Addressed Cache</a:t>
            </a:r>
          </a:p>
        </p:txBody>
      </p:sp>
      <p:sp>
        <p:nvSpPr>
          <p:cNvPr id="23555" name="Rectangle 37"/>
          <p:cNvSpPr>
            <a:spLocks noGrp="1" noChangeArrowheads="1"/>
          </p:cNvSpPr>
          <p:nvPr>
            <p:ph type="body" idx="1"/>
          </p:nvPr>
        </p:nvSpPr>
        <p:spPr>
          <a:xfrm>
            <a:off x="381000" y="785611"/>
            <a:ext cx="8458200" cy="569138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Cache uses virtual addresses (tags are virtual)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Address translation only done on a cache miss</a:t>
            </a:r>
          </a:p>
          <a:p>
            <a:pPr lvl="2"/>
            <a:r>
              <a:rPr lang="en-US" dirty="0" smtClean="0"/>
              <a:t>TLB is not in the path to cache hit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Two virtual pages mapped to the same physical page </a:t>
            </a:r>
          </a:p>
          <a:p>
            <a:pPr lvl="2"/>
            <a:r>
              <a:rPr lang="en-US" dirty="0" smtClean="0"/>
              <a:t>Must not reside in the cache together</a:t>
            </a:r>
          </a:p>
          <a:p>
            <a:pPr lvl="2">
              <a:spcAft>
                <a:spcPts val="1200"/>
              </a:spcAft>
            </a:pPr>
            <a:r>
              <a:rPr lang="en-US" dirty="0" smtClean="0"/>
              <a:t>On a cache miss, use a reverse TLB to verify that no other cache line already in the cache mapped to the missed physical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Flush cache on context switch</a:t>
            </a:r>
          </a:p>
          <a:p>
            <a:pPr lvl="2"/>
            <a:r>
              <a:rPr lang="en-US" dirty="0" smtClean="0"/>
              <a:t>Alternatively: add process </a:t>
            </a:r>
            <a:r>
              <a:rPr lang="en-US" dirty="0"/>
              <a:t>ID </a:t>
            </a:r>
            <a:r>
              <a:rPr lang="en-US" dirty="0" smtClean="0"/>
              <a:t>as part of the tag</a:t>
            </a:r>
            <a:endParaRPr lang="en-US" dirty="0"/>
          </a:p>
          <a:p>
            <a:pPr lvl="1"/>
            <a:endParaRPr lang="en-US" dirty="0" smtClean="0"/>
          </a:p>
        </p:txBody>
      </p:sp>
      <p:grpSp>
        <p:nvGrpSpPr>
          <p:cNvPr id="23556" name="Group 33"/>
          <p:cNvGrpSpPr>
            <a:grpSpLocks/>
          </p:cNvGrpSpPr>
          <p:nvPr/>
        </p:nvGrpSpPr>
        <p:grpSpPr bwMode="auto">
          <a:xfrm>
            <a:off x="1651515" y="2143811"/>
            <a:ext cx="5892285" cy="1590675"/>
            <a:chOff x="945" y="982"/>
            <a:chExt cx="4020" cy="1002"/>
          </a:xfrm>
        </p:grpSpPr>
        <p:sp>
          <p:nvSpPr>
            <p:cNvPr id="23558" name="Rectangle 9"/>
            <p:cNvSpPr>
              <a:spLocks noChangeArrowheads="1"/>
            </p:cNvSpPr>
            <p:nvPr/>
          </p:nvSpPr>
          <p:spPr bwMode="auto">
            <a:xfrm>
              <a:off x="2666" y="1056"/>
              <a:ext cx="695" cy="42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1800" b="0" dirty="0" smtClean="0">
                  <a:latin typeface="+mj-lt"/>
                </a:rPr>
                <a:t>Cache</a:t>
              </a:r>
              <a:endParaRPr lang="en-US" sz="1800" b="0" dirty="0">
                <a:latin typeface="+mj-lt"/>
              </a:endParaRPr>
            </a:p>
          </p:txBody>
        </p:sp>
        <p:sp>
          <p:nvSpPr>
            <p:cNvPr id="23559" name="Rectangle 10"/>
            <p:cNvSpPr>
              <a:spLocks noChangeArrowheads="1"/>
            </p:cNvSpPr>
            <p:nvPr/>
          </p:nvSpPr>
          <p:spPr bwMode="auto">
            <a:xfrm>
              <a:off x="2666" y="1558"/>
              <a:ext cx="695" cy="42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1800" b="0" dirty="0" smtClean="0">
                  <a:latin typeface="+mj-lt"/>
                </a:rPr>
                <a:t>TLB</a:t>
              </a:r>
              <a:endParaRPr lang="en-US" sz="1800" b="0" dirty="0">
                <a:latin typeface="+mj-lt"/>
              </a:endParaRPr>
            </a:p>
          </p:txBody>
        </p:sp>
        <p:sp>
          <p:nvSpPr>
            <p:cNvPr id="23560" name="Rectangle 11"/>
            <p:cNvSpPr>
              <a:spLocks noChangeArrowheads="1"/>
            </p:cNvSpPr>
            <p:nvPr/>
          </p:nvSpPr>
          <p:spPr bwMode="auto">
            <a:xfrm>
              <a:off x="4272" y="1056"/>
              <a:ext cx="693" cy="4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1800" b="0" dirty="0">
                  <a:latin typeface="+mj-lt"/>
                </a:rPr>
                <a:t>Main</a:t>
              </a:r>
            </a:p>
            <a:p>
              <a:pPr algn="ctr" eaLnBrk="0" hangingPunct="0"/>
              <a:r>
                <a:rPr lang="en-US" sz="1800" b="0" dirty="0">
                  <a:latin typeface="+mj-lt"/>
                </a:rPr>
                <a:t>Memory</a:t>
              </a:r>
            </a:p>
          </p:txBody>
        </p:sp>
        <p:sp>
          <p:nvSpPr>
            <p:cNvPr id="23561" name="Line 12"/>
            <p:cNvSpPr>
              <a:spLocks noChangeShapeType="1"/>
            </p:cNvSpPr>
            <p:nvPr/>
          </p:nvSpPr>
          <p:spPr bwMode="auto">
            <a:xfrm>
              <a:off x="1640" y="1407"/>
              <a:ext cx="10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62" name="Line 13"/>
            <p:cNvSpPr>
              <a:spLocks noChangeShapeType="1"/>
            </p:cNvSpPr>
            <p:nvPr/>
          </p:nvSpPr>
          <p:spPr bwMode="auto">
            <a:xfrm>
              <a:off x="1952" y="1770"/>
              <a:ext cx="71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63" name="Line 14"/>
            <p:cNvSpPr>
              <a:spLocks noChangeShapeType="1"/>
            </p:cNvSpPr>
            <p:nvPr/>
          </p:nvSpPr>
          <p:spPr bwMode="auto">
            <a:xfrm>
              <a:off x="3792" y="1386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64" name="Line 15"/>
            <p:cNvSpPr>
              <a:spLocks noChangeShapeType="1"/>
            </p:cNvSpPr>
            <p:nvPr/>
          </p:nvSpPr>
          <p:spPr bwMode="auto">
            <a:xfrm flipH="1">
              <a:off x="3365" y="1768"/>
              <a:ext cx="4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65" name="Line 16"/>
            <p:cNvSpPr>
              <a:spLocks noChangeShapeType="1"/>
            </p:cNvSpPr>
            <p:nvPr/>
          </p:nvSpPr>
          <p:spPr bwMode="auto">
            <a:xfrm flipH="1">
              <a:off x="3792" y="1386"/>
              <a:ext cx="0" cy="3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72" name="Rectangle 24"/>
            <p:cNvSpPr>
              <a:spLocks noChangeArrowheads="1"/>
            </p:cNvSpPr>
            <p:nvPr/>
          </p:nvSpPr>
          <p:spPr bwMode="auto">
            <a:xfrm>
              <a:off x="1820" y="1247"/>
              <a:ext cx="242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sz="1600" b="0" dirty="0">
                  <a:latin typeface="+mj-lt"/>
                </a:rPr>
                <a:t>VA</a:t>
              </a:r>
            </a:p>
          </p:txBody>
        </p:sp>
        <p:sp>
          <p:nvSpPr>
            <p:cNvPr id="23574" name="Line 26"/>
            <p:cNvSpPr>
              <a:spLocks noChangeShapeType="1"/>
            </p:cNvSpPr>
            <p:nvPr/>
          </p:nvSpPr>
          <p:spPr bwMode="auto">
            <a:xfrm flipV="1">
              <a:off x="1952" y="1407"/>
              <a:ext cx="0" cy="3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75" name="Rectangle 27"/>
            <p:cNvSpPr>
              <a:spLocks noChangeArrowheads="1"/>
            </p:cNvSpPr>
            <p:nvPr/>
          </p:nvSpPr>
          <p:spPr bwMode="auto">
            <a:xfrm>
              <a:off x="3447" y="1582"/>
              <a:ext cx="230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sz="1600" b="0" dirty="0">
                  <a:latin typeface="+mj-lt"/>
                </a:rPr>
                <a:t>PA</a:t>
              </a:r>
            </a:p>
          </p:txBody>
        </p:sp>
        <p:sp>
          <p:nvSpPr>
            <p:cNvPr id="23576" name="Rectangle 30"/>
            <p:cNvSpPr>
              <a:spLocks noChangeArrowheads="1"/>
            </p:cNvSpPr>
            <p:nvPr/>
          </p:nvSpPr>
          <p:spPr bwMode="auto">
            <a:xfrm>
              <a:off x="945" y="1056"/>
              <a:ext cx="695" cy="4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1800" b="0" dirty="0">
                  <a:latin typeface="+mj-lt"/>
                </a:rPr>
                <a:t>CPU</a:t>
              </a:r>
            </a:p>
          </p:txBody>
        </p:sp>
        <p:sp>
          <p:nvSpPr>
            <p:cNvPr id="23578" name="Oval 32"/>
            <p:cNvSpPr>
              <a:spLocks noChangeAspect="1" noChangeArrowheads="1"/>
            </p:cNvSpPr>
            <p:nvPr/>
          </p:nvSpPr>
          <p:spPr bwMode="auto">
            <a:xfrm>
              <a:off x="1927" y="1386"/>
              <a:ext cx="46" cy="4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latin typeface="+mj-lt"/>
              </a:endParaRPr>
            </a:p>
          </p:txBody>
        </p:sp>
        <p:sp>
          <p:nvSpPr>
            <p:cNvPr id="27" name="Line 12"/>
            <p:cNvSpPr>
              <a:spLocks noChangeShapeType="1"/>
            </p:cNvSpPr>
            <p:nvPr/>
          </p:nvSpPr>
          <p:spPr bwMode="auto">
            <a:xfrm flipH="1">
              <a:off x="1635" y="1146"/>
              <a:ext cx="10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1981" y="982"/>
              <a:ext cx="33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sz="1600" b="0" dirty="0" smtClean="0">
                  <a:latin typeface="+mj-lt"/>
                </a:rPr>
                <a:t>data</a:t>
              </a:r>
              <a:endParaRPr lang="en-US" sz="1600" b="0" dirty="0">
                <a:latin typeface="+mj-lt"/>
              </a:endParaRPr>
            </a:p>
          </p:txBody>
        </p:sp>
        <p:sp>
          <p:nvSpPr>
            <p:cNvPr id="30" name="Line 14"/>
            <p:cNvSpPr>
              <a:spLocks noChangeShapeType="1"/>
            </p:cNvSpPr>
            <p:nvPr/>
          </p:nvSpPr>
          <p:spPr bwMode="auto">
            <a:xfrm flipH="1">
              <a:off x="3365" y="1146"/>
              <a:ext cx="8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3704" y="982"/>
              <a:ext cx="33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sz="1600" b="0" dirty="0" smtClean="0">
                  <a:latin typeface="+mj-lt"/>
                </a:rPr>
                <a:t>data</a:t>
              </a:r>
              <a:endParaRPr lang="en-US" sz="1600" b="0" dirty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224557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255335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2885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3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12.2|16.3|1.3|13|13.8|4.1|0.8|2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8.7|6.3|9.8|10.7|23|10.8|6.8|5.1|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.4|13|3.4|47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0.6|51.4|17.5|1.5|12.2|27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5.7|40.3|2|57.3|20.7|6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9.9|1.1|7.7|4.9|18|25.2|5.4|23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9.8|1.6|43.3|11.2|11.3|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3|2.8|1.4|1.5|0.7|17.5|38|2.6|19.1|20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5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21|4|8.5|0|21.7|22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0.7|26.8|15.7|55.5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10997</TotalTime>
  <Words>931</Words>
  <Application>Microsoft Office PowerPoint</Application>
  <PresentationFormat>On-screen Show (4:3)</PresentationFormat>
  <Paragraphs>273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ＭＳ Ｐゴシック</vt:lpstr>
      <vt:lpstr>ＭＳ Ｐゴシック</vt:lpstr>
      <vt:lpstr>Arial</vt:lpstr>
      <vt:lpstr>Calibri</vt:lpstr>
      <vt:lpstr>Cambria Math</vt:lpstr>
      <vt:lpstr>Neo Sans Intel</vt:lpstr>
      <vt:lpstr>Neo Sans Intel Light</vt:lpstr>
      <vt:lpstr>Neo Sans Intel Medium</vt:lpstr>
      <vt:lpstr>Times</vt:lpstr>
      <vt:lpstr>Verdana</vt:lpstr>
      <vt:lpstr>mdsp_2011</vt:lpstr>
      <vt:lpstr>Virtual Memory</vt:lpstr>
      <vt:lpstr>Acknowledgments</vt:lpstr>
      <vt:lpstr>Layers of Abstraction in Computer Science (CS)</vt:lpstr>
      <vt:lpstr>Memory managing</vt:lpstr>
      <vt:lpstr>Virtual Memory (primary)</vt:lpstr>
      <vt:lpstr>Virtual Memory (secondary)</vt:lpstr>
      <vt:lpstr>Virtual and Physical Address Space</vt:lpstr>
      <vt:lpstr>Basic Idea of VM</vt:lpstr>
      <vt:lpstr>Page Table</vt:lpstr>
      <vt:lpstr>Translation</vt:lpstr>
      <vt:lpstr>TLB (translation lookaside buffer)</vt:lpstr>
      <vt:lpstr>PT, TLB and Cache</vt:lpstr>
      <vt:lpstr>Overlapped TLB &amp; Cache Access</vt:lpstr>
      <vt:lpstr>Virtually-Addressed Cache</vt:lpstr>
      <vt:lpstr>The End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Smirnov, Igor</cp:lastModifiedBy>
  <cp:revision>307</cp:revision>
  <dcterms:created xsi:type="dcterms:W3CDTF">2011-10-24T08:13:52Z</dcterms:created>
  <dcterms:modified xsi:type="dcterms:W3CDTF">2018-04-02T11:41:51Z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2018-04-02 11:41:50Z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