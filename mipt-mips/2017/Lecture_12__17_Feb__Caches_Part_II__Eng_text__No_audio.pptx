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6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 varScale="1">
        <p:scale>
          <a:sx n="116" d="100"/>
          <a:sy n="116" d="100"/>
        </p:scale>
        <p:origin x="3006" y="108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2/21/2018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2/21/2018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353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1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49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49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637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07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1000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Caches, part II</a:t>
            </a:r>
            <a:endParaRPr lang="en-US" sz="2800" dirty="0">
              <a:latin typeface="+mn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n-lt"/>
              </a:rPr>
              <a:t>Igor Smirnov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n-lt"/>
              </a:rPr>
              <a:t>17 February 2018</a:t>
            </a:r>
          </a:p>
        </p:txBody>
      </p:sp>
    </p:spTree>
    <p:extLst>
      <p:ext uri="{BB962C8B-B14F-4D97-AF65-F5344CB8AC3E}">
        <p14:creationId xmlns:p14="http://schemas.microsoft.com/office/powerpoint/2010/main" val="4795361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Improving Cache Performance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90903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Memory Hierarchy</a:t>
            </a:r>
            <a:endParaRPr lang="ru-RU" dirty="0"/>
          </a:p>
        </p:txBody>
      </p:sp>
      <p:sp>
        <p:nvSpPr>
          <p:cNvPr id="44" name="Content Placeholder 2"/>
          <p:cNvSpPr txBox="1">
            <a:spLocks/>
          </p:cNvSpPr>
          <p:nvPr/>
        </p:nvSpPr>
        <p:spPr bwMode="auto">
          <a:xfrm>
            <a:off x="457200" y="1032201"/>
            <a:ext cx="5721175" cy="1565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Main memory is large, but too slow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Luckily, there are </a:t>
            </a: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temporal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spatial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locality in our workloads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030" y="1087192"/>
            <a:ext cx="2752212" cy="1622989"/>
          </a:xfrm>
          <a:prstGeom prst="rect">
            <a:avLst/>
          </a:prstGeom>
        </p:spPr>
      </p:pic>
      <p:sp>
        <p:nvSpPr>
          <p:cNvPr id="46" name="Content Placeholder 2"/>
          <p:cNvSpPr txBox="1">
            <a:spLocks/>
          </p:cNvSpPr>
          <p:nvPr/>
        </p:nvSpPr>
        <p:spPr bwMode="auto">
          <a:xfrm>
            <a:off x="457200" y="2762564"/>
            <a:ext cx="7924800" cy="991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 hierarchy provides visibility that memory is usually fast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2148225" y="3656458"/>
            <a:ext cx="5633544" cy="1761291"/>
            <a:chOff x="2148225" y="3742183"/>
            <a:chExt cx="5633544" cy="1761291"/>
          </a:xfrm>
        </p:grpSpPr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3014876" y="4376155"/>
              <a:ext cx="615340" cy="569571"/>
            </a:xfrm>
            <a:prstGeom prst="rect">
              <a:avLst/>
            </a:prstGeom>
            <a:solidFill>
              <a:srgbClr val="99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L1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9" name="Rectangle 13"/>
            <p:cNvSpPr>
              <a:spLocks noChangeArrowheads="1"/>
            </p:cNvSpPr>
            <p:nvPr/>
          </p:nvSpPr>
          <p:spPr bwMode="auto">
            <a:xfrm>
              <a:off x="2347322" y="4309490"/>
              <a:ext cx="444095" cy="743699"/>
            </a:xfrm>
            <a:custGeom>
              <a:avLst/>
              <a:gdLst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  <a:gd name="connsiteX4" fmla="*/ 0 w 530861"/>
                <a:gd name="connsiteY4" fmla="*/ 0 h 889000"/>
                <a:gd name="connsiteX0" fmla="*/ 71191 w 602052"/>
                <a:gd name="connsiteY0" fmla="*/ 0 h 889000"/>
                <a:gd name="connsiteX1" fmla="*/ 602052 w 602052"/>
                <a:gd name="connsiteY1" fmla="*/ 0 h 889000"/>
                <a:gd name="connsiteX2" fmla="*/ 602052 w 602052"/>
                <a:gd name="connsiteY2" fmla="*/ 889000 h 889000"/>
                <a:gd name="connsiteX3" fmla="*/ 71191 w 602052"/>
                <a:gd name="connsiteY3" fmla="*/ 889000 h 889000"/>
                <a:gd name="connsiteX4" fmla="*/ 1 w 602052"/>
                <a:gd name="connsiteY4" fmla="*/ 422897 h 889000"/>
                <a:gd name="connsiteX5" fmla="*/ 71191 w 602052"/>
                <a:gd name="connsiteY5" fmla="*/ 0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5" fmla="*/ 91440 w 602051"/>
                <a:gd name="connsiteY5" fmla="*/ 514337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61" h="889000">
                  <a:moveTo>
                    <a:pt x="0" y="0"/>
                  </a:moveTo>
                  <a:lnTo>
                    <a:pt x="530861" y="0"/>
                  </a:lnTo>
                  <a:lnTo>
                    <a:pt x="530861" y="889000"/>
                  </a:lnTo>
                  <a:lnTo>
                    <a:pt x="0" y="889000"/>
                  </a:lnTo>
                </a:path>
              </a:pathLst>
            </a:custGeom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0" scaled="0"/>
            </a:gra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3927286" y="4289091"/>
              <a:ext cx="803460" cy="743699"/>
            </a:xfrm>
            <a:prstGeom prst="rect">
              <a:avLst/>
            </a:prstGeom>
            <a:solidFill>
              <a:srgbClr val="CC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L2</a:t>
              </a:r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5066157" y="4128262"/>
              <a:ext cx="1100529" cy="1018672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L3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Cache</a:t>
              </a: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802341" y="4545338"/>
              <a:ext cx="210799" cy="254982"/>
              <a:chOff x="2138998" y="4419600"/>
              <a:chExt cx="437515" cy="304800"/>
            </a:xfrm>
          </p:grpSpPr>
          <p:sp>
            <p:nvSpPr>
              <p:cNvPr id="65" name="Line 17"/>
              <p:cNvSpPr>
                <a:spLocks noChangeShapeType="1"/>
              </p:cNvSpPr>
              <p:nvPr/>
            </p:nvSpPr>
            <p:spPr bwMode="auto">
              <a:xfrm>
                <a:off x="2138998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66" name="Line 17"/>
              <p:cNvSpPr>
                <a:spLocks noChangeShapeType="1"/>
              </p:cNvSpPr>
              <p:nvPr/>
            </p:nvSpPr>
            <p:spPr bwMode="auto">
              <a:xfrm>
                <a:off x="2154238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3638122" y="4545338"/>
              <a:ext cx="275302" cy="254982"/>
              <a:chOff x="3558052" y="4419600"/>
              <a:chExt cx="432435" cy="304800"/>
            </a:xfrm>
          </p:grpSpPr>
          <p:sp>
            <p:nvSpPr>
              <p:cNvPr id="63" name="Line 17"/>
              <p:cNvSpPr>
                <a:spLocks noChangeShapeType="1"/>
              </p:cNvSpPr>
              <p:nvPr/>
            </p:nvSpPr>
            <p:spPr bwMode="auto">
              <a:xfrm>
                <a:off x="3558052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64" name="Line 17"/>
              <p:cNvSpPr>
                <a:spLocks noChangeShapeType="1"/>
              </p:cNvSpPr>
              <p:nvPr/>
            </p:nvSpPr>
            <p:spPr bwMode="auto">
              <a:xfrm>
                <a:off x="3568212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4730745" y="4545338"/>
              <a:ext cx="329955" cy="254982"/>
              <a:chOff x="4619539" y="4419600"/>
              <a:chExt cx="432435" cy="304800"/>
            </a:xfrm>
          </p:grpSpPr>
          <p:sp>
            <p:nvSpPr>
              <p:cNvPr id="61" name="Line 17"/>
              <p:cNvSpPr>
                <a:spLocks noChangeShapeType="1"/>
              </p:cNvSpPr>
              <p:nvPr/>
            </p:nvSpPr>
            <p:spPr bwMode="auto">
              <a:xfrm>
                <a:off x="4619539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62" name="Line 17"/>
              <p:cNvSpPr>
                <a:spLocks noChangeShapeType="1"/>
              </p:cNvSpPr>
              <p:nvPr/>
            </p:nvSpPr>
            <p:spPr bwMode="auto">
              <a:xfrm>
                <a:off x="4629699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2148225" y="4494879"/>
              <a:ext cx="57419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CPU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166686" y="4533449"/>
              <a:ext cx="329955" cy="254982"/>
              <a:chOff x="4619539" y="4419600"/>
              <a:chExt cx="432435" cy="304800"/>
            </a:xfrm>
          </p:grpSpPr>
          <p:sp>
            <p:nvSpPr>
              <p:cNvPr id="59" name="Line 17"/>
              <p:cNvSpPr>
                <a:spLocks noChangeShapeType="1"/>
              </p:cNvSpPr>
              <p:nvPr/>
            </p:nvSpPr>
            <p:spPr bwMode="auto">
              <a:xfrm>
                <a:off x="4619539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60" name="Line 17"/>
              <p:cNvSpPr>
                <a:spLocks noChangeShapeType="1"/>
              </p:cNvSpPr>
              <p:nvPr/>
            </p:nvSpPr>
            <p:spPr bwMode="auto">
              <a:xfrm>
                <a:off x="4629699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sp>
          <p:nvSpPr>
            <p:cNvPr id="57" name="Rectangle 13"/>
            <p:cNvSpPr>
              <a:spLocks noChangeArrowheads="1"/>
            </p:cNvSpPr>
            <p:nvPr/>
          </p:nvSpPr>
          <p:spPr bwMode="auto">
            <a:xfrm rot="10800000">
              <a:off x="6502094" y="3742183"/>
              <a:ext cx="833346" cy="1761291"/>
            </a:xfrm>
            <a:custGeom>
              <a:avLst/>
              <a:gdLst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  <a:gd name="connsiteX4" fmla="*/ 0 w 530861"/>
                <a:gd name="connsiteY4" fmla="*/ 0 h 889000"/>
                <a:gd name="connsiteX0" fmla="*/ 71191 w 602052"/>
                <a:gd name="connsiteY0" fmla="*/ 0 h 889000"/>
                <a:gd name="connsiteX1" fmla="*/ 602052 w 602052"/>
                <a:gd name="connsiteY1" fmla="*/ 0 h 889000"/>
                <a:gd name="connsiteX2" fmla="*/ 602052 w 602052"/>
                <a:gd name="connsiteY2" fmla="*/ 889000 h 889000"/>
                <a:gd name="connsiteX3" fmla="*/ 71191 w 602052"/>
                <a:gd name="connsiteY3" fmla="*/ 889000 h 889000"/>
                <a:gd name="connsiteX4" fmla="*/ 1 w 602052"/>
                <a:gd name="connsiteY4" fmla="*/ 422897 h 889000"/>
                <a:gd name="connsiteX5" fmla="*/ 71191 w 602052"/>
                <a:gd name="connsiteY5" fmla="*/ 0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5" fmla="*/ 91440 w 602051"/>
                <a:gd name="connsiteY5" fmla="*/ 514337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61" h="889000">
                  <a:moveTo>
                    <a:pt x="0" y="0"/>
                  </a:moveTo>
                  <a:lnTo>
                    <a:pt x="530861" y="0"/>
                  </a:lnTo>
                  <a:lnTo>
                    <a:pt x="530861" y="889000"/>
                  </a:lnTo>
                  <a:lnTo>
                    <a:pt x="0" y="889000"/>
                  </a:lnTo>
                </a:path>
              </a:pathLst>
            </a:custGeom>
            <a:gradFill>
              <a:gsLst>
                <a:gs pos="0">
                  <a:sysClr val="window" lastClr="FFFFFF"/>
                </a:gs>
                <a:gs pos="74000">
                  <a:srgbClr val="F79646">
                    <a:lumMod val="40000"/>
                    <a:lumOff val="60000"/>
                  </a:srgbClr>
                </a:gs>
                <a:gs pos="100000">
                  <a:srgbClr val="F79646">
                    <a:lumMod val="60000"/>
                    <a:lumOff val="40000"/>
                  </a:srgbClr>
                </a:gs>
              </a:gsLst>
              <a:lin ang="0" scaled="0"/>
            </a:gra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659730" y="4223395"/>
              <a:ext cx="11220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Main Memory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67" name="Rounded Rectangular Callout 66"/>
          <p:cNvSpPr/>
          <p:nvPr/>
        </p:nvSpPr>
        <p:spPr>
          <a:xfrm>
            <a:off x="2385164" y="5119529"/>
            <a:ext cx="1259426" cy="642702"/>
          </a:xfrm>
          <a:prstGeom prst="wedgeRoundRectCallout">
            <a:avLst>
              <a:gd name="adj1" fmla="val 23536"/>
              <a:gd name="adj2" fmla="val -111240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smallest, but fastest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ounded Rectangular Callout 67"/>
          <p:cNvSpPr/>
          <p:nvPr/>
        </p:nvSpPr>
        <p:spPr>
          <a:xfrm>
            <a:off x="5645971" y="5623776"/>
            <a:ext cx="1469204" cy="642702"/>
          </a:xfrm>
          <a:prstGeom prst="wedgeRoundRectCallout">
            <a:avLst>
              <a:gd name="adj1" fmla="val 23536"/>
              <a:gd name="adj2" fmla="val -111240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slowest, but largest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57727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Caches</a:t>
            </a:r>
            <a:endParaRPr lang="ru-RU" dirty="0"/>
          </a:p>
        </p:txBody>
      </p:sp>
      <p:sp>
        <p:nvSpPr>
          <p:cNvPr id="74" name="Content Placeholder 2"/>
          <p:cNvSpPr txBox="1">
            <a:spLocks/>
          </p:cNvSpPr>
          <p:nvPr/>
        </p:nvSpPr>
        <p:spPr bwMode="auto">
          <a:xfrm>
            <a:off x="457200" y="11430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solidFill>
                  <a:sysClr val="windowText" lastClr="000000"/>
                </a:solidFill>
              </a:rPr>
              <a:t>Three types of caches</a:t>
            </a:r>
          </a:p>
          <a:p>
            <a:pPr lvl="1">
              <a:spcBef>
                <a:spcPts val="600"/>
              </a:spcBef>
            </a:pPr>
            <a:r>
              <a:rPr lang="en-US" sz="2400" b="1" dirty="0" smtClean="0">
                <a:solidFill>
                  <a:sysClr val="windowText" lastClr="000000"/>
                </a:solidFill>
              </a:rPr>
              <a:t>Fully Associative</a:t>
            </a:r>
            <a:r>
              <a:rPr lang="en-US" sz="2400" dirty="0" smtClean="0">
                <a:solidFill>
                  <a:sysClr val="windowText" lastClr="000000"/>
                </a:solidFill>
              </a:rPr>
              <a:t>: no conflict, but slow and complex HW</a:t>
            </a:r>
          </a:p>
          <a:p>
            <a:pPr lvl="1">
              <a:spcBef>
                <a:spcPts val="600"/>
              </a:spcBef>
            </a:pPr>
            <a:r>
              <a:rPr lang="en-US" sz="2400" b="1" dirty="0" smtClean="0">
                <a:solidFill>
                  <a:sysClr val="windowText" lastClr="000000"/>
                </a:solidFill>
              </a:rPr>
              <a:t>Direct MAP</a:t>
            </a:r>
            <a:r>
              <a:rPr lang="en-US" sz="2400" dirty="0" smtClean="0">
                <a:solidFill>
                  <a:sysClr val="windowText" lastClr="000000"/>
                </a:solidFill>
              </a:rPr>
              <a:t>: fast and simple HW, but many conflicts</a:t>
            </a:r>
          </a:p>
          <a:p>
            <a:pPr lvl="1">
              <a:spcBef>
                <a:spcPts val="600"/>
              </a:spcBef>
            </a:pPr>
            <a:r>
              <a:rPr lang="en-US" sz="2400" b="1" dirty="0" smtClean="0">
                <a:solidFill>
                  <a:sysClr val="windowText" lastClr="000000"/>
                </a:solidFill>
              </a:rPr>
              <a:t>Multi-Way</a:t>
            </a:r>
            <a:r>
              <a:rPr lang="en-US" sz="2400" dirty="0" smtClean="0">
                <a:solidFill>
                  <a:sysClr val="windowText" lastClr="000000"/>
                </a:solidFill>
              </a:rPr>
              <a:t>: something in between (more ways → closer to fully associative)</a:t>
            </a:r>
          </a:p>
          <a:p>
            <a:pPr marL="457200" lvl="1" indent="0">
              <a:spcBef>
                <a:spcPts val="600"/>
              </a:spcBef>
              <a:buFont typeface="Arial" charset="0"/>
              <a:buNone/>
            </a:pPr>
            <a:r>
              <a:rPr lang="en-US" sz="1050" dirty="0" smtClean="0">
                <a:solidFill>
                  <a:sysClr val="windowText" lastClr="000000"/>
                </a:solidFill>
              </a:rPr>
              <a:t> </a:t>
            </a:r>
            <a:endParaRPr lang="en-US" sz="2000" dirty="0" smtClean="0">
              <a:solidFill>
                <a:sysClr val="windowText" lastClr="000000"/>
              </a:solidFill>
            </a:endParaRPr>
          </a:p>
          <a:p>
            <a:pPr>
              <a:spcBef>
                <a:spcPts val="1800"/>
              </a:spcBef>
            </a:pPr>
            <a:r>
              <a:rPr lang="en-US" sz="2800" dirty="0" smtClean="0">
                <a:solidFill>
                  <a:sysClr val="windowText" lastClr="000000"/>
                </a:solidFill>
              </a:rPr>
              <a:t>Example: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32KB, 8 ways, 64B line</a:t>
            </a:r>
          </a:p>
          <a:p>
            <a:pPr marL="0" indent="0">
              <a:spcBef>
                <a:spcPts val="1800"/>
              </a:spcBef>
              <a:buNone/>
            </a:pPr>
            <a:endParaRPr lang="en-US" sz="1800" dirty="0" smtClean="0">
              <a:solidFill>
                <a:sysClr val="windowText" lastClr="000000"/>
              </a:solidFill>
            </a:endParaRPr>
          </a:p>
          <a:p>
            <a:pPr>
              <a:spcBef>
                <a:spcPts val="3600"/>
              </a:spcBef>
            </a:pPr>
            <a:r>
              <a:rPr lang="en-US" sz="2800" dirty="0" smtClean="0">
                <a:solidFill>
                  <a:sysClr val="windowText" lastClr="000000"/>
                </a:solidFill>
              </a:rPr>
              <a:t>To estimate performance use average access time</a:t>
            </a:r>
          </a:p>
          <a:p>
            <a:pPr marL="742950" lvl="2" indent="-342900">
              <a:spcBef>
                <a:spcPts val="600"/>
              </a:spcBef>
            </a:pPr>
            <a:r>
              <a:rPr lang="ru-RU" dirty="0">
                <a:solidFill>
                  <a:sysClr val="windowText" lastClr="000000"/>
                </a:solidFill>
              </a:rPr>
              <a:t>AMAT = </a:t>
            </a:r>
            <a:r>
              <a:rPr lang="en-US" dirty="0">
                <a:solidFill>
                  <a:sysClr val="windowText" lastClr="000000"/>
                </a:solidFill>
              </a:rPr>
              <a:t>Hit Rate * </a:t>
            </a:r>
            <a:r>
              <a:rPr lang="ru-RU" dirty="0" err="1">
                <a:solidFill>
                  <a:sysClr val="windowText" lastClr="000000"/>
                </a:solidFill>
              </a:rPr>
              <a:t>Hit</a:t>
            </a:r>
            <a:r>
              <a:rPr lang="ru-RU" dirty="0">
                <a:solidFill>
                  <a:sysClr val="windowText" lastClr="000000"/>
                </a:solidFill>
              </a:rPr>
              <a:t> </a:t>
            </a:r>
            <a:r>
              <a:rPr lang="ru-RU" dirty="0" err="1">
                <a:solidFill>
                  <a:sysClr val="windowText" lastClr="000000"/>
                </a:solidFill>
              </a:rPr>
              <a:t>Time</a:t>
            </a:r>
            <a:r>
              <a:rPr lang="ru-RU" dirty="0">
                <a:solidFill>
                  <a:sysClr val="windowText" lastClr="000000"/>
                </a:solidFill>
              </a:rPr>
              <a:t> + </a:t>
            </a:r>
            <a:r>
              <a:rPr lang="ru-RU" dirty="0" err="1">
                <a:solidFill>
                  <a:sysClr val="windowText" lastClr="000000"/>
                </a:solidFill>
              </a:rPr>
              <a:t>Miss</a:t>
            </a:r>
            <a:r>
              <a:rPr lang="ru-RU" dirty="0">
                <a:solidFill>
                  <a:sysClr val="windowText" lastClr="000000"/>
                </a:solidFill>
              </a:rPr>
              <a:t> </a:t>
            </a:r>
            <a:r>
              <a:rPr lang="ru-RU" dirty="0" err="1">
                <a:solidFill>
                  <a:sysClr val="windowText" lastClr="000000"/>
                </a:solidFill>
              </a:rPr>
              <a:t>Rate</a:t>
            </a:r>
            <a:r>
              <a:rPr lang="ru-RU" dirty="0">
                <a:solidFill>
                  <a:sysClr val="windowText" lastClr="000000"/>
                </a:solidFill>
              </a:rPr>
              <a:t> * </a:t>
            </a:r>
            <a:r>
              <a:rPr lang="ru-RU" dirty="0" err="1">
                <a:solidFill>
                  <a:sysClr val="windowText" lastClr="000000"/>
                </a:solidFill>
              </a:rPr>
              <a:t>Miss</a:t>
            </a:r>
            <a:r>
              <a:rPr lang="ru-RU" dirty="0">
                <a:solidFill>
                  <a:sysClr val="windowText" lastClr="000000"/>
                </a:solidFill>
              </a:rPr>
              <a:t> </a:t>
            </a:r>
            <a:r>
              <a:rPr lang="ru-RU" dirty="0" err="1">
                <a:solidFill>
                  <a:sysClr val="windowText" lastClr="000000"/>
                </a:solidFill>
              </a:rPr>
              <a:t>Penalt</a:t>
            </a:r>
            <a:r>
              <a:rPr lang="en-GB" dirty="0">
                <a:solidFill>
                  <a:sysClr val="windowText" lastClr="000000"/>
                </a:solidFill>
              </a:rPr>
              <a:t>y</a:t>
            </a:r>
          </a:p>
          <a:p>
            <a:pPr marL="0" indent="0">
              <a:spcBef>
                <a:spcPts val="2400"/>
              </a:spcBef>
              <a:buNone/>
            </a:pPr>
            <a:endParaRPr lang="en-US" sz="2800" dirty="0" smtClean="0">
              <a:solidFill>
                <a:sysClr val="windowText" lastClr="000000"/>
              </a:solidFill>
            </a:endParaRPr>
          </a:p>
        </p:txBody>
      </p:sp>
      <p:graphicFrame>
        <p:nvGraphicFramePr>
          <p:cNvPr id="75" name="Table 74"/>
          <p:cNvGraphicFramePr>
            <a:graphicFrameLocks noGrp="1"/>
          </p:cNvGraphicFramePr>
          <p:nvPr>
            <p:extLst/>
          </p:nvPr>
        </p:nvGraphicFramePr>
        <p:xfrm>
          <a:off x="5562600" y="3601998"/>
          <a:ext cx="3101195" cy="594360"/>
        </p:xfrm>
        <a:graphic>
          <a:graphicData uri="http://schemas.openxmlformats.org/drawingml/2006/table">
            <a:tbl>
              <a:tblPr/>
              <a:tblGrid>
                <a:gridCol w="1436401"/>
                <a:gridCol w="496753"/>
                <a:gridCol w="496753"/>
                <a:gridCol w="335644"/>
                <a:gridCol w="335644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5691135" y="4233684"/>
            <a:ext cx="28202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ay size = 32KB / 8 = 4KB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# of sets = 4KB / 64B = 64</a:t>
            </a:r>
            <a:endParaRPr lang="ru-RU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604269" y="3233061"/>
            <a:ext cx="101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</a:rPr>
              <a:t>address</a:t>
            </a:r>
            <a:endParaRPr lang="ru-RU" sz="2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029200" y="3787194"/>
            <a:ext cx="4635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</a:rPr>
              <a:t>→</a:t>
            </a:r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13697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Three Types of Cache Misses (3-C)</a:t>
            </a:r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5613" y="1068000"/>
            <a:ext cx="3306762" cy="3932625"/>
          </a:xfrm>
        </p:spPr>
        <p:txBody>
          <a:bodyPr/>
          <a:lstStyle/>
          <a:p>
            <a:pPr marL="342900" lvl="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Compulsory</a:t>
            </a:r>
            <a:r>
              <a:rPr lang="en-US" dirty="0" smtClean="0"/>
              <a:t> </a:t>
            </a:r>
            <a:r>
              <a:rPr lang="en-US" dirty="0"/>
              <a:t>misses</a:t>
            </a:r>
          </a:p>
          <a:p>
            <a:pPr marL="688975" lvl="1" indent="-342900">
              <a:spcBef>
                <a:spcPts val="600"/>
              </a:spcBef>
              <a:buClrTx/>
              <a:buFont typeface="Calibri" panose="020F0502020204030204" pitchFamily="34" charset="0"/>
              <a:buChar char="–"/>
            </a:pPr>
            <a:r>
              <a:rPr lang="en-US" sz="2000" dirty="0"/>
              <a:t>Those that occurs even in a infinite </a:t>
            </a:r>
            <a:r>
              <a:rPr lang="en-US" sz="2000" dirty="0" smtClean="0"/>
              <a:t>cache</a:t>
            </a:r>
          </a:p>
          <a:p>
            <a:pPr marL="688975" lvl="1" indent="-342900">
              <a:spcBef>
                <a:spcPts val="600"/>
              </a:spcBef>
              <a:buClrTx/>
              <a:buFont typeface="Calibri" panose="020F0502020204030204" pitchFamily="34" charset="0"/>
              <a:buChar char="–"/>
            </a:pPr>
            <a:r>
              <a:rPr lang="en-US" sz="2000" dirty="0" smtClean="0"/>
              <a:t>First access to data</a:t>
            </a:r>
            <a:endParaRPr lang="en-US" sz="2000" dirty="0"/>
          </a:p>
          <a:p>
            <a:pPr marL="688975" lvl="1" indent="-342900">
              <a:spcBef>
                <a:spcPts val="600"/>
              </a:spcBef>
              <a:buClrTx/>
              <a:buFont typeface="Calibri" panose="020F0502020204030204" pitchFamily="34" charset="0"/>
              <a:buChar char="–"/>
            </a:pPr>
            <a:r>
              <a:rPr lang="en-US" sz="2000" dirty="0"/>
              <a:t>So-called cold misses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6"/>
                </a:solidFill>
              </a:rPr>
              <a:t>Capacity</a:t>
            </a:r>
            <a:r>
              <a:rPr lang="en-US" dirty="0" smtClean="0"/>
              <a:t> misses</a:t>
            </a:r>
          </a:p>
          <a:p>
            <a:pPr marL="688975" lvl="1" indent="-342900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sz="2000" dirty="0" smtClean="0"/>
              <a:t>Those that occurs in an fully associative cache</a:t>
            </a:r>
            <a:endParaRPr lang="ru-RU" sz="2000" dirty="0" smtClean="0"/>
          </a:p>
          <a:p>
            <a:pPr marL="688975" lvl="1" indent="-342900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sz="2000" dirty="0" err="1" smtClean="0"/>
              <a:t>Workset</a:t>
            </a:r>
            <a:r>
              <a:rPr lang="en-US" sz="2000" dirty="0" smtClean="0"/>
              <a:t> is larger than the cache size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454025" y="5147386"/>
            <a:ext cx="8375015" cy="121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346075" indent="-344488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6842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1030288" indent="-2841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1314450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lvl="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C00000"/>
                </a:solidFill>
                <a:latin typeface="+mn-lt"/>
              </a:rPr>
              <a:t>Conflict</a:t>
            </a:r>
            <a:r>
              <a:rPr lang="en-US" kern="0" dirty="0">
                <a:solidFill>
                  <a:srgbClr val="061922"/>
                </a:solidFill>
                <a:latin typeface="+mn-lt"/>
              </a:rPr>
              <a:t> misses</a:t>
            </a:r>
          </a:p>
          <a:p>
            <a:pPr marL="688975" lvl="1" indent="-342900">
              <a:spcBef>
                <a:spcPts val="600"/>
              </a:spcBef>
              <a:buClr>
                <a:srgbClr val="061922"/>
              </a:buClr>
              <a:buFont typeface="Calibri" panose="020F0502020204030204" pitchFamily="34" charset="0"/>
              <a:buChar char="–"/>
            </a:pPr>
            <a:r>
              <a:rPr lang="en-US" sz="2000" kern="0" dirty="0">
                <a:solidFill>
                  <a:srgbClr val="061922"/>
                </a:solidFill>
                <a:latin typeface="+mn-lt"/>
              </a:rPr>
              <a:t>Difference between fully associate and direct mapped cache</a:t>
            </a:r>
          </a:p>
          <a:p>
            <a:pPr marL="688975" lvl="1" indent="-342900">
              <a:spcBef>
                <a:spcPts val="600"/>
              </a:spcBef>
              <a:buClr>
                <a:srgbClr val="061922"/>
              </a:buClr>
              <a:buFont typeface="Calibri" panose="020F0502020204030204" pitchFamily="34" charset="0"/>
              <a:buChar char="–"/>
            </a:pPr>
            <a:r>
              <a:rPr lang="en-US" sz="2000" kern="0" dirty="0">
                <a:solidFill>
                  <a:srgbClr val="061922"/>
                </a:solidFill>
                <a:latin typeface="+mn-lt"/>
              </a:rPr>
              <a:t>The size of the cache is enough, but the problem is in line mapping to sets</a:t>
            </a:r>
            <a:endParaRPr lang="ru-RU" sz="2000" kern="0" dirty="0">
              <a:solidFill>
                <a:srgbClr val="06192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kern="0" dirty="0" smtClean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213" y="1479019"/>
            <a:ext cx="5227449" cy="3997856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 bwMode="auto">
          <a:xfrm>
            <a:off x="4487950" y="4412222"/>
            <a:ext cx="4308736" cy="238858"/>
          </a:xfrm>
          <a:prstGeom prst="roundRect">
            <a:avLst/>
          </a:prstGeom>
          <a:noFill/>
          <a:ln w="190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n-lt"/>
              <a:cs typeface="Arial" pitchFamily="34" charset="0"/>
            </a:endParaRPr>
          </a:p>
        </p:txBody>
      </p:sp>
      <p:sp>
        <p:nvSpPr>
          <p:cNvPr id="11" name="Freeform 10"/>
          <p:cNvSpPr/>
          <p:nvPr/>
        </p:nvSpPr>
        <p:spPr bwMode="auto">
          <a:xfrm>
            <a:off x="5670299" y="2533204"/>
            <a:ext cx="1889634" cy="1613620"/>
          </a:xfrm>
          <a:custGeom>
            <a:avLst/>
            <a:gdLst>
              <a:gd name="connsiteX0" fmla="*/ 0 w 1808480"/>
              <a:gd name="connsiteY0" fmla="*/ 5080 h 1544320"/>
              <a:gd name="connsiteX1" fmla="*/ 0 w 1808480"/>
              <a:gd name="connsiteY1" fmla="*/ 294640 h 1544320"/>
              <a:gd name="connsiteX2" fmla="*/ 579120 w 1808480"/>
              <a:gd name="connsiteY2" fmla="*/ 294640 h 1544320"/>
              <a:gd name="connsiteX3" fmla="*/ 579120 w 1808480"/>
              <a:gd name="connsiteY3" fmla="*/ 1285240 h 1544320"/>
              <a:gd name="connsiteX4" fmla="*/ 1158240 w 1808480"/>
              <a:gd name="connsiteY4" fmla="*/ 1285240 h 1544320"/>
              <a:gd name="connsiteX5" fmla="*/ 1158240 w 1808480"/>
              <a:gd name="connsiteY5" fmla="*/ 1544320 h 1544320"/>
              <a:gd name="connsiteX6" fmla="*/ 1808480 w 1808480"/>
              <a:gd name="connsiteY6" fmla="*/ 1544320 h 1544320"/>
              <a:gd name="connsiteX7" fmla="*/ 1808480 w 1808480"/>
              <a:gd name="connsiteY7" fmla="*/ 1102360 h 1544320"/>
              <a:gd name="connsiteX8" fmla="*/ 1234440 w 1808480"/>
              <a:gd name="connsiteY8" fmla="*/ 1102360 h 1544320"/>
              <a:gd name="connsiteX9" fmla="*/ 1234440 w 1808480"/>
              <a:gd name="connsiteY9" fmla="*/ 353060 h 1544320"/>
              <a:gd name="connsiteX10" fmla="*/ 647700 w 1808480"/>
              <a:gd name="connsiteY10" fmla="*/ 353060 h 1544320"/>
              <a:gd name="connsiteX11" fmla="*/ 647700 w 1808480"/>
              <a:gd name="connsiteY11" fmla="*/ 0 h 1544320"/>
              <a:gd name="connsiteX12" fmla="*/ 0 w 1808480"/>
              <a:gd name="connsiteY12" fmla="*/ 5080 h 154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08480" h="1544320">
                <a:moveTo>
                  <a:pt x="0" y="5080"/>
                </a:moveTo>
                <a:lnTo>
                  <a:pt x="0" y="294640"/>
                </a:lnTo>
                <a:lnTo>
                  <a:pt x="579120" y="294640"/>
                </a:lnTo>
                <a:lnTo>
                  <a:pt x="579120" y="1285240"/>
                </a:lnTo>
                <a:lnTo>
                  <a:pt x="1158240" y="1285240"/>
                </a:lnTo>
                <a:lnTo>
                  <a:pt x="1158240" y="1544320"/>
                </a:lnTo>
                <a:lnTo>
                  <a:pt x="1808480" y="1544320"/>
                </a:lnTo>
                <a:lnTo>
                  <a:pt x="1808480" y="1102360"/>
                </a:lnTo>
                <a:lnTo>
                  <a:pt x="1234440" y="1102360"/>
                </a:lnTo>
                <a:lnTo>
                  <a:pt x="1234440" y="353060"/>
                </a:lnTo>
                <a:lnTo>
                  <a:pt x="647700" y="353060"/>
                </a:lnTo>
                <a:lnTo>
                  <a:pt x="647700" y="0"/>
                </a:lnTo>
                <a:lnTo>
                  <a:pt x="0" y="5080"/>
                </a:lnTo>
                <a:close/>
              </a:path>
            </a:pathLst>
          </a:custGeom>
          <a:noFill/>
          <a:ln w="12700" cap="rnd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glow rad="63500">
              <a:srgbClr val="F37021">
                <a:alpha val="40000"/>
              </a:srgb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n-lt"/>
              <a:cs typeface="Arial" pitchFamily="34" charset="0"/>
            </a:endParaRPr>
          </a:p>
        </p:txBody>
      </p:sp>
      <p:sp>
        <p:nvSpPr>
          <p:cNvPr id="13" name="Line Callout 1 (No Border) 12"/>
          <p:cNvSpPr/>
          <p:nvPr/>
        </p:nvSpPr>
        <p:spPr bwMode="auto">
          <a:xfrm flipH="1">
            <a:off x="7706042" y="3020505"/>
            <a:ext cx="1057275" cy="851611"/>
          </a:xfrm>
          <a:prstGeom prst="callout1">
            <a:avLst>
              <a:gd name="adj1" fmla="val 80266"/>
              <a:gd name="adj2" fmla="val 51127"/>
              <a:gd name="adj3" fmla="val 152765"/>
              <a:gd name="adj4" fmla="val 61667"/>
            </a:avLst>
          </a:prstGeom>
          <a:noFill/>
          <a:ln w="190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lg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n-lt"/>
                <a:cs typeface="Arial" pitchFamily="34" charset="0"/>
              </a:rPr>
              <a:t>Compulsory</a:t>
            </a:r>
            <a:endParaRPr lang="ru-RU" sz="2000" dirty="0" smtClean="0">
              <a:solidFill>
                <a:schemeClr val="accent3">
                  <a:lumMod val="60000"/>
                  <a:lumOff val="40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Line Callout 1 (No Border) 13"/>
          <p:cNvSpPr/>
          <p:nvPr/>
        </p:nvSpPr>
        <p:spPr bwMode="auto">
          <a:xfrm flipH="1">
            <a:off x="6270937" y="1621652"/>
            <a:ext cx="1057275" cy="851611"/>
          </a:xfrm>
          <a:prstGeom prst="callout1">
            <a:avLst>
              <a:gd name="adj1" fmla="val 72436"/>
              <a:gd name="adj2" fmla="val 52928"/>
              <a:gd name="adj3" fmla="val 141580"/>
              <a:gd name="adj4" fmla="val 6256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lg" len="lg"/>
          </a:ln>
          <a:effectLst>
            <a:glow rad="63500">
              <a:srgbClr val="F37021">
                <a:alpha val="40000"/>
              </a:srgb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solidFill>
                  <a:srgbClr val="C00000"/>
                </a:solidFill>
                <a:latin typeface="+mn-lt"/>
                <a:cs typeface="Arial" pitchFamily="34" charset="0"/>
              </a:rPr>
              <a:t>Conflict</a:t>
            </a:r>
            <a:endParaRPr lang="ru-RU" sz="2000" dirty="0" smtClean="0">
              <a:solidFill>
                <a:srgbClr val="C00000"/>
              </a:solidFill>
              <a:latin typeface="+mn-lt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56050" y="3446310"/>
            <a:ext cx="115768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solidFill>
                  <a:schemeClr val="accent6"/>
                </a:solidFill>
                <a:effectLst>
                  <a:glow rad="101600">
                    <a:schemeClr val="tx1">
                      <a:alpha val="39000"/>
                    </a:schemeClr>
                  </a:glow>
                </a:effectLst>
                <a:latin typeface="+mn-lt"/>
              </a:rPr>
              <a:t>Capacity</a:t>
            </a:r>
            <a:endParaRPr lang="en-US" sz="2200" dirty="0">
              <a:solidFill>
                <a:schemeClr val="accent6"/>
              </a:solidFill>
              <a:effectLst>
                <a:glow rad="101600">
                  <a:schemeClr val="tx1">
                    <a:alpha val="39000"/>
                  </a:schemeClr>
                </a:glow>
              </a:effectLst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90877" y="1421597"/>
            <a:ext cx="4693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Miss Rate = F(Cache Capacity, Associativity)</a:t>
            </a:r>
            <a:endParaRPr lang="ru-RU" sz="2000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04626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3" grpId="0" animBg="1"/>
      <p:bldP spid="14" grpId="0" animBg="1"/>
      <p:bldP spid="15" grpId="0"/>
      <p:bldP spid="16" grpId="0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Multi-Level Caches</a:t>
            </a:r>
            <a:endParaRPr lang="ru-RU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85344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dirty="0" smtClean="0">
                <a:solidFill>
                  <a:sysClr val="windowText" lastClr="000000"/>
                </a:solidFill>
              </a:rPr>
              <a:t>L1 cache: </a:t>
            </a:r>
            <a:r>
              <a:rPr lang="it-IT" sz="2000" dirty="0" smtClean="0">
                <a:solidFill>
                  <a:sysClr val="windowText" lastClr="000000"/>
                </a:solidFill>
              </a:rPr>
              <a:t>AMAT ≈ </a:t>
            </a:r>
            <a:r>
              <a:rPr lang="it-IT" sz="2000" dirty="0">
                <a:solidFill>
                  <a:sysClr val="windowText" lastClr="000000"/>
                </a:solidFill>
              </a:rPr>
              <a:t>HitTimeL1 + MissRateL1 * </a:t>
            </a:r>
            <a:r>
              <a:rPr lang="it-IT" sz="2000" dirty="0" smtClean="0">
                <a:solidFill>
                  <a:sysClr val="windowText" lastClr="000000"/>
                </a:solidFill>
              </a:rPr>
              <a:t>MissPenaltyL1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  <a:p>
            <a:pPr>
              <a:spcBef>
                <a:spcPts val="1200"/>
              </a:spcBef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L2 </a:t>
            </a:r>
            <a:r>
              <a:rPr lang="en-US" sz="2400" noProof="0" dirty="0" smtClean="0"/>
              <a:t>r</a:t>
            </a:r>
            <a:r>
              <a:rPr lang="en-US" sz="2400" dirty="0" smtClean="0"/>
              <a:t>educes </a:t>
            </a:r>
            <a:r>
              <a:rPr lang="en-US" sz="2400" dirty="0"/>
              <a:t>L1 </a:t>
            </a:r>
            <a:r>
              <a:rPr lang="en-US" sz="2400" dirty="0" smtClean="0"/>
              <a:t>miss </a:t>
            </a:r>
            <a:r>
              <a:rPr lang="en-US" sz="2400" dirty="0"/>
              <a:t>penalty – saves access to </a:t>
            </a:r>
            <a:r>
              <a:rPr lang="en-US" sz="2400" dirty="0" smtClean="0"/>
              <a:t>memory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Now, on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L1 miss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access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L2, but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not memory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MissPenaltyL1 ≈ HitTimeL2 + MissRateL2 * MissPenaltyL2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ysClr val="windowText" lastClr="000000"/>
                </a:solidFill>
              </a:rPr>
              <a:t>L2 Cache is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larger (better </a:t>
            </a:r>
            <a:r>
              <a:rPr lang="en-US" sz="2400" dirty="0" err="1" smtClean="0">
                <a:solidFill>
                  <a:sysClr val="windowText" lastClr="000000"/>
                </a:solidFill>
              </a:rPr>
              <a:t>HitRate</a:t>
            </a:r>
            <a:r>
              <a:rPr lang="en-US" sz="2400" dirty="0" smtClean="0">
                <a:solidFill>
                  <a:sysClr val="windowText" lastClr="000000"/>
                </a:solidFill>
              </a:rPr>
              <a:t>), </a:t>
            </a:r>
            <a:r>
              <a:rPr lang="en-US" sz="2400" dirty="0">
                <a:solidFill>
                  <a:sysClr val="windowText" lastClr="000000"/>
                </a:solidFill>
              </a:rPr>
              <a:t>but has higher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latency</a:t>
            </a:r>
            <a:endParaRPr lang="en-US" sz="2400" dirty="0">
              <a:solidFill>
                <a:sysClr val="windowText" lastClr="000000"/>
              </a:solidFill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10" y="3800311"/>
            <a:ext cx="6509518" cy="25396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1295400" y="4815840"/>
            <a:ext cx="5090160" cy="7620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295400" y="5587525"/>
            <a:ext cx="5090160" cy="462755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295400" y="6050281"/>
            <a:ext cx="5090160" cy="299404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6973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Prefetching</a:t>
            </a:r>
            <a:endParaRPr lang="ru-RU" dirty="0"/>
          </a:p>
        </p:txBody>
      </p:sp>
      <p:sp>
        <p:nvSpPr>
          <p:cNvPr id="3" name="Content Placeholder 6"/>
          <p:cNvSpPr txBox="1">
            <a:spLocks/>
          </p:cNvSpPr>
          <p:nvPr/>
        </p:nvSpPr>
        <p:spPr bwMode="auto">
          <a:xfrm>
            <a:off x="457200" y="82105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Prefetching – predict future memory accesses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Instruction Prefetching </a:t>
            </a:r>
          </a:p>
          <a:p>
            <a:pPr lvl="1"/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On a cache miss, prefetch sequential cache line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Data Prefetching </a:t>
            </a:r>
          </a:p>
          <a:p>
            <a:pPr lvl="1"/>
            <a:r>
              <a:rPr lang="en-US" sz="2000" b="1" dirty="0">
                <a:solidFill>
                  <a:sysClr val="windowText" lastClr="000000"/>
                </a:solidFill>
                <a:latin typeface="Calibri"/>
              </a:rPr>
              <a:t>Next sequential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: on a cache miss, prefetch sequential cache line</a:t>
            </a:r>
          </a:p>
          <a:p>
            <a:pPr lvl="1"/>
            <a:r>
              <a:rPr lang="en-US" sz="2000" b="1" dirty="0">
                <a:solidFill>
                  <a:sysClr val="windowText" lastClr="000000"/>
                </a:solidFill>
                <a:latin typeface="Calibri"/>
              </a:rPr>
              <a:t>Stride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: remember the repetitive step of a load and prefetch data in advance</a:t>
            </a:r>
          </a:p>
          <a:p>
            <a:pPr lvl="1"/>
            <a:r>
              <a:rPr lang="en-US" sz="2000" b="1" dirty="0">
                <a:solidFill>
                  <a:sysClr val="windowText" lastClr="000000"/>
                </a:solidFill>
                <a:latin typeface="Calibri"/>
              </a:rPr>
              <a:t>General </a:t>
            </a:r>
            <a:r>
              <a:rPr lang="en-US" sz="2000" b="1" dirty="0" smtClean="0">
                <a:solidFill>
                  <a:sysClr val="windowText" lastClr="000000"/>
                </a:solidFill>
                <a:latin typeface="Calibri"/>
              </a:rPr>
              <a:t>direction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: 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even if there is no fixed stride can understand general direction and prefetch along it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Software 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Prefetching: 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special 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prefetching instructions </a:t>
            </a:r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Prefetch Limitations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Prefetching relies on extra memory bandwidth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Too aggressive / inaccurate prefetching slows down demand fetches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4105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</a:t>
            </a:r>
            <a:endParaRPr lang="ru-RU" dirty="0"/>
          </a:p>
        </p:txBody>
      </p:sp>
      <p:sp>
        <p:nvSpPr>
          <p:cNvPr id="3" name="Content Placeholder 6"/>
          <p:cNvSpPr txBox="1">
            <a:spLocks/>
          </p:cNvSpPr>
          <p:nvPr/>
        </p:nvSpPr>
        <p:spPr bwMode="auto">
          <a:xfrm>
            <a:off x="457200" y="82105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Accuracy</a:t>
            </a:r>
            <a:endParaRPr lang="en-US" sz="24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Portion of </a:t>
            </a:r>
            <a:r>
              <a:rPr lang="en-US" sz="2000" dirty="0" err="1" smtClean="0">
                <a:solidFill>
                  <a:sysClr val="windowText" lastClr="000000"/>
                </a:solidFill>
                <a:latin typeface="Calibri"/>
              </a:rPr>
              <a:t>prefetched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 lines which eventually become demand-hits</a:t>
            </a: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Coverage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Reduction of number of demand misses</a:t>
            </a: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Timeliness</a:t>
            </a:r>
            <a:endParaRPr lang="ru-RU" sz="2400" dirty="0" smtClean="0">
              <a:solidFill>
                <a:sysClr val="windowText" lastClr="000000"/>
              </a:solidFill>
              <a:latin typeface="Calibri"/>
            </a:endParaRP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Reduction of demand miss time</a:t>
            </a:r>
          </a:p>
          <a:p>
            <a:pPr lvl="1"/>
            <a:endParaRPr lang="en-US" sz="2000" dirty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For L1 cache </a:t>
            </a:r>
            <a:r>
              <a:rPr lang="en-US" sz="2400" dirty="0" err="1" smtClean="0">
                <a:solidFill>
                  <a:sysClr val="windowText" lastClr="000000"/>
                </a:solidFill>
                <a:latin typeface="Calibri"/>
              </a:rPr>
              <a:t>prefetch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 schemes with high accuracy are used</a:t>
            </a: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Bigger caches usually leverage schemes with higher coverage</a:t>
            </a:r>
            <a:endParaRPr lang="en-US" sz="2400" dirty="0">
              <a:solidFill>
                <a:sysClr val="windowText" lastClr="000000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37927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</a:t>
            </a:r>
            <a:r>
              <a:rPr lang="en-US" dirty="0" err="1" smtClean="0"/>
              <a:t>sequantial</a:t>
            </a:r>
            <a:endParaRPr lang="ru-RU" dirty="0"/>
          </a:p>
        </p:txBody>
      </p:sp>
      <p:sp>
        <p:nvSpPr>
          <p:cNvPr id="3" name="Content Placeholder 6"/>
          <p:cNvSpPr txBox="1">
            <a:spLocks/>
          </p:cNvSpPr>
          <p:nvPr/>
        </p:nvSpPr>
        <p:spPr bwMode="auto">
          <a:xfrm>
            <a:off x="457200" y="82105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ysClr val="windowText" lastClr="000000"/>
                </a:solidFill>
              </a:rPr>
              <a:t>On </a:t>
            </a:r>
            <a:r>
              <a:rPr lang="en-US" sz="2400" dirty="0">
                <a:solidFill>
                  <a:sysClr val="windowText" lastClr="000000"/>
                </a:solidFill>
              </a:rPr>
              <a:t>a cache miss, </a:t>
            </a:r>
            <a:r>
              <a:rPr lang="en-US" sz="2400" dirty="0" err="1">
                <a:solidFill>
                  <a:sysClr val="windowText" lastClr="000000"/>
                </a:solidFill>
              </a:rPr>
              <a:t>prefetch</a:t>
            </a:r>
            <a:r>
              <a:rPr lang="en-US" sz="2400" dirty="0">
                <a:solidFill>
                  <a:sysClr val="windowText" lastClr="000000"/>
                </a:solidFill>
              </a:rPr>
              <a:t> sequential cache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line (± 64 bytes)</a:t>
            </a:r>
            <a:endParaRPr lang="en-US" sz="24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err="1" smtClean="0">
                <a:solidFill>
                  <a:sysClr val="windowText" lastClr="000000"/>
                </a:solidFill>
                <a:latin typeface="Calibri"/>
              </a:rPr>
              <a:t>Prefetch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 metrics: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Moderate accuracy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Low coverage</a:t>
            </a:r>
          </a:p>
          <a:p>
            <a:pPr lvl="1"/>
            <a:r>
              <a:rPr lang="en-US" sz="2000" dirty="0">
                <a:solidFill>
                  <a:sysClr val="windowText" lastClr="000000"/>
                </a:solidFill>
              </a:rPr>
              <a:t>Lack </a:t>
            </a:r>
            <a:r>
              <a:rPr lang="en-US" sz="2000" dirty="0" smtClean="0">
                <a:solidFill>
                  <a:sysClr val="windowText" lastClr="000000"/>
                </a:solidFill>
              </a:rPr>
              <a:t>of timeliness (</a:t>
            </a:r>
            <a:r>
              <a:rPr lang="en-US" sz="2000" dirty="0" err="1" smtClean="0">
                <a:solidFill>
                  <a:sysClr val="windowText" lastClr="000000"/>
                </a:solidFill>
              </a:rPr>
              <a:t>prefetch</a:t>
            </a:r>
            <a:r>
              <a:rPr lang="en-US" sz="2000" dirty="0" smtClean="0">
                <a:solidFill>
                  <a:sysClr val="windowText" lastClr="000000"/>
                </a:solidFill>
              </a:rPr>
              <a:t> performed too late)</a:t>
            </a:r>
            <a:endParaRPr lang="en-US" sz="2000" dirty="0">
              <a:solidFill>
                <a:sysClr val="windowText" lastClr="000000"/>
              </a:solidFill>
            </a:endParaRPr>
          </a:p>
          <a:p>
            <a:endParaRPr lang="en-US" sz="2400" dirty="0" smtClean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Simple HW</a:t>
            </a: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Works well for instructions </a:t>
            </a:r>
            <a:r>
              <a:rPr lang="en-US" sz="2400" dirty="0" err="1" smtClean="0">
                <a:solidFill>
                  <a:sysClr val="windowText" lastClr="000000"/>
                </a:solidFill>
                <a:latin typeface="Calibri"/>
              </a:rPr>
              <a:t>prefetch</a:t>
            </a:r>
            <a:endParaRPr lang="en-US" sz="2400" dirty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smtClean="0">
                <a:solidFill>
                  <a:sysClr val="windowText" lastClr="000000"/>
                </a:solidFill>
              </a:rPr>
              <a:t>“Fallback" </a:t>
            </a:r>
            <a:r>
              <a:rPr lang="en-US" sz="2400" dirty="0">
                <a:solidFill>
                  <a:sysClr val="windowText" lastClr="000000"/>
                </a:solidFill>
              </a:rPr>
              <a:t>if more complex methods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not available</a:t>
            </a:r>
            <a:endParaRPr lang="en-US" sz="2400" dirty="0" smtClea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05797" y="1616143"/>
            <a:ext cx="2257425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1600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$t0, 0x0($t1)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5898" y="1583776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prefetch</a:t>
            </a:r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  0x</a:t>
            </a:r>
            <a:r>
              <a:rPr lang="ru-RU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40(</a:t>
            </a:r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$t1)</a:t>
            </a:r>
          </a:p>
        </p:txBody>
      </p:sp>
      <p:sp>
        <p:nvSpPr>
          <p:cNvPr id="7" name="Стрелка вправо 7"/>
          <p:cNvSpPr/>
          <p:nvPr/>
        </p:nvSpPr>
        <p:spPr>
          <a:xfrm>
            <a:off x="4434685" y="1583776"/>
            <a:ext cx="40005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52230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Stride detection</a:t>
            </a:r>
            <a:endParaRPr lang="ru-RU" dirty="0"/>
          </a:p>
        </p:txBody>
      </p:sp>
      <p:sp>
        <p:nvSpPr>
          <p:cNvPr id="3" name="Content Placeholder 6"/>
          <p:cNvSpPr txBox="1">
            <a:spLocks/>
          </p:cNvSpPr>
          <p:nvPr/>
        </p:nvSpPr>
        <p:spPr bwMode="auto">
          <a:xfrm>
            <a:off x="457200" y="82105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ysClr val="windowText" lastClr="000000"/>
                </a:solidFill>
              </a:rPr>
              <a:t>HW detects </a:t>
            </a:r>
            <a:r>
              <a:rPr lang="en-US" sz="2400" dirty="0">
                <a:solidFill>
                  <a:sysClr val="windowText" lastClr="000000"/>
                </a:solidFill>
              </a:rPr>
              <a:t>the repetitive step of a load and </a:t>
            </a:r>
            <a:r>
              <a:rPr lang="en-US" sz="2400" dirty="0" err="1">
                <a:solidFill>
                  <a:sysClr val="windowText" lastClr="000000"/>
                </a:solidFill>
              </a:rPr>
              <a:t>prefetch</a:t>
            </a:r>
            <a:r>
              <a:rPr lang="en-US" sz="2400" dirty="0">
                <a:solidFill>
                  <a:sysClr val="windowText" lastClr="000000"/>
                </a:solidFill>
              </a:rPr>
              <a:t> data in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advance</a:t>
            </a:r>
            <a:endParaRPr lang="en-US" sz="2400" dirty="0">
              <a:solidFill>
                <a:sysClr val="windowText" lastClr="000000"/>
              </a:solidFill>
            </a:endParaRPr>
          </a:p>
          <a:p>
            <a:pPr>
              <a:spcBef>
                <a:spcPts val="1200"/>
              </a:spcBef>
            </a:pPr>
            <a:endParaRPr lang="en-US" sz="24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err="1" smtClean="0">
                <a:solidFill>
                  <a:sysClr val="windowText" lastClr="000000"/>
                </a:solidFill>
                <a:latin typeface="Calibri"/>
              </a:rPr>
              <a:t>Prefetch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 metrics: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High accuracy (for long loops)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Low coverage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Highly</a:t>
            </a:r>
            <a:r>
              <a:rPr lang="en-US" sz="2000" dirty="0" smtClean="0">
                <a:solidFill>
                  <a:sysClr val="windowText" lastClr="000000"/>
                </a:solidFill>
              </a:rPr>
              <a:t> timeliness</a:t>
            </a:r>
            <a:endParaRPr lang="en-US" sz="2000" dirty="0">
              <a:solidFill>
                <a:sysClr val="windowText" lastClr="000000"/>
              </a:solidFill>
            </a:endParaRPr>
          </a:p>
          <a:p>
            <a:endParaRPr lang="en-US" sz="2400" dirty="0" smtClean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Issues with unrolled loops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Initially single load operation occupies multiple entries in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227" y="1671933"/>
            <a:ext cx="3657598" cy="13080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0x00402f0: </a:t>
            </a:r>
            <a:r>
              <a:rPr lang="en-US" sz="1600" kern="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1600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$t0, 0x20($t1)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0x00402f4: </a:t>
            </a:r>
            <a:r>
              <a:rPr lang="en-US" sz="1600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add  $t2, $t2, $t0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0x00402f8: </a:t>
            </a:r>
            <a:r>
              <a:rPr lang="en-US" sz="1600" kern="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sz="1600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 $t1, $t1, 0x100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0x00402fc: </a:t>
            </a:r>
            <a:r>
              <a:rPr lang="en-US" sz="1600" kern="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1600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$t1, $t3, -4</a:t>
            </a:r>
            <a:endParaRPr lang="en-US" sz="1600" kern="0" dirty="0" smtClean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Стрелка вправо 7"/>
          <p:cNvSpPr/>
          <p:nvPr/>
        </p:nvSpPr>
        <p:spPr>
          <a:xfrm>
            <a:off x="4038600" y="2105025"/>
            <a:ext cx="40005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4505326" y="1898004"/>
          <a:ext cx="3938918" cy="1214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/>
                <a:gridCol w="1136274"/>
                <a:gridCol w="1438664"/>
              </a:tblGrid>
              <a:tr h="404714">
                <a:tc>
                  <a:txBody>
                    <a:bodyPr/>
                    <a:lstStyle/>
                    <a:p>
                      <a:r>
                        <a:rPr lang="en-US" dirty="0" smtClean="0"/>
                        <a:t>IP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Stride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Last address</a:t>
                      </a:r>
                      <a:endParaRPr lang="ru-RU" dirty="0"/>
                    </a:p>
                  </a:txBody>
                  <a:tcPr/>
                </a:tc>
              </a:tr>
              <a:tr h="404714">
                <a:tc>
                  <a:txBody>
                    <a:bodyPr/>
                    <a:lstStyle/>
                    <a:p>
                      <a:r>
                        <a:rPr lang="en-US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0x00402f0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0x100</a:t>
                      </a:r>
                      <a:endParaRPr lang="ru-RU" sz="1800" kern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0x00f4180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471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Стрелка вправо 10"/>
          <p:cNvSpPr/>
          <p:nvPr/>
        </p:nvSpPr>
        <p:spPr>
          <a:xfrm rot="5400000">
            <a:off x="6896100" y="2900092"/>
            <a:ext cx="40005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5864057" y="3277401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prefetch</a:t>
            </a:r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 0x00f4280</a:t>
            </a:r>
          </a:p>
          <a:p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prefetch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0x00f4380</a:t>
            </a:r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60708" y="1534116"/>
            <a:ext cx="101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j-lt"/>
              </a:rPr>
              <a:t>Detector</a:t>
            </a:r>
            <a:endParaRPr lang="ru-RU" b="1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64452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/>
      <p:bldP spid="13" grpId="0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detection (1)</a:t>
            </a:r>
            <a:endParaRPr lang="ru-RU" dirty="0"/>
          </a:p>
        </p:txBody>
      </p:sp>
      <p:sp>
        <p:nvSpPr>
          <p:cNvPr id="3" name="Content Placeholder 6"/>
          <p:cNvSpPr txBox="1">
            <a:spLocks/>
          </p:cNvSpPr>
          <p:nvPr/>
        </p:nvSpPr>
        <p:spPr bwMode="auto">
          <a:xfrm>
            <a:off x="457200" y="82105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ysClr val="windowText" lastClr="000000"/>
                </a:solidFill>
              </a:rPr>
              <a:t>HW detects stream with the </a:t>
            </a:r>
            <a:r>
              <a:rPr lang="en-US" sz="2400" dirty="0">
                <a:solidFill>
                  <a:sysClr val="windowText" lastClr="000000"/>
                </a:solidFill>
              </a:rPr>
              <a:t>repetitive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step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>
                <a:solidFill>
                  <a:sysClr val="windowText" lastClr="000000"/>
                </a:solidFill>
              </a:rPr>
              <a:t>Similar to the previous technique, but without reference to IP</a:t>
            </a:r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endParaRPr lang="en-US" sz="2400" dirty="0" smtClean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Example: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3174" y="2954634"/>
            <a:ext cx="132440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0xba202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0x3cf1140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ru-RU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ru-RU" kern="0" dirty="0" smtClean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0x3cf1100</a:t>
            </a: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0x3cf10c0</a:t>
            </a: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0x3cf1080</a:t>
            </a:r>
            <a:endParaRPr lang="en-US" kern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ru-RU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ru-RU" kern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ru-RU" kern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94346" y="4686807"/>
            <a:ext cx="2590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prefetch  </a:t>
            </a:r>
            <a:r>
              <a:rPr lang="en-US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0xba20ac0</a:t>
            </a:r>
            <a:endParaRPr lang="en-US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prefetch  </a:t>
            </a:r>
            <a:r>
              <a:rPr lang="en-US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0x3cf10c0</a:t>
            </a:r>
            <a:endParaRPr lang="ru-RU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Стрелка вправо 7"/>
          <p:cNvSpPr/>
          <p:nvPr/>
        </p:nvSpPr>
        <p:spPr>
          <a:xfrm>
            <a:off x="3114192" y="3472697"/>
            <a:ext cx="40005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7" name="Таблица 9"/>
          <p:cNvGraphicFramePr>
            <a:graphicFrameLocks noGrp="1"/>
          </p:cNvGraphicFramePr>
          <p:nvPr>
            <p:extLst/>
          </p:nvPr>
        </p:nvGraphicFramePr>
        <p:xfrm>
          <a:off x="3660857" y="3033153"/>
          <a:ext cx="4620877" cy="1214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211"/>
                <a:gridCol w="1348239"/>
                <a:gridCol w="1795427"/>
              </a:tblGrid>
              <a:tr h="404714">
                <a:tc>
                  <a:txBody>
                    <a:bodyPr/>
                    <a:lstStyle/>
                    <a:p>
                      <a:r>
                        <a:rPr lang="en-US" dirty="0" smtClean="0"/>
                        <a:t>Base address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Stride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Last address</a:t>
                      </a:r>
                      <a:endParaRPr lang="ru-RU" dirty="0"/>
                    </a:p>
                  </a:txBody>
                  <a:tcPr/>
                </a:tc>
              </a:tr>
              <a:tr h="404714">
                <a:tc>
                  <a:txBody>
                    <a:bodyPr/>
                    <a:lstStyle/>
                    <a:p>
                      <a:r>
                        <a:rPr lang="en-US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0xba20200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+0x1c0</a:t>
                      </a:r>
                      <a:endParaRPr lang="ru-RU" sz="1800" kern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ern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0xba20</a:t>
                      </a:r>
                      <a:r>
                        <a:rPr lang="ru-RU" kern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90</a:t>
                      </a:r>
                      <a:r>
                        <a:rPr lang="en-US" kern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</a:tr>
              <a:tr h="4047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0x3cf1140</a:t>
                      </a:r>
                      <a:endParaRPr lang="ru-RU" sz="1800" kern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−0x40</a:t>
                      </a:r>
                      <a:endParaRPr lang="ru-RU" sz="1800" kern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0x3cf1080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Стрелка вправо 7"/>
          <p:cNvSpPr/>
          <p:nvPr/>
        </p:nvSpPr>
        <p:spPr>
          <a:xfrm rot="5400000">
            <a:off x="4834703" y="4286757"/>
            <a:ext cx="40005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44288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8" grpId="0" animBg="1"/>
    </p:bld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detection (2)</a:t>
            </a:r>
            <a:endParaRPr lang="ru-RU" dirty="0"/>
          </a:p>
        </p:txBody>
      </p:sp>
      <p:sp>
        <p:nvSpPr>
          <p:cNvPr id="3" name="Content Placeholder 6"/>
          <p:cNvSpPr txBox="1">
            <a:spLocks/>
          </p:cNvSpPr>
          <p:nvPr/>
        </p:nvSpPr>
        <p:spPr bwMode="auto">
          <a:xfrm>
            <a:off x="457200" y="82105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ysClr val="windowText" lastClr="000000"/>
                </a:solidFill>
              </a:rPr>
              <a:t>Stream detection without repetitive step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>
                <a:solidFill>
                  <a:sysClr val="windowText" lastClr="000000"/>
                </a:solidFill>
              </a:rPr>
              <a:t>In case load pattern not found, but the direction was predicted – load everything following this direction</a:t>
            </a:r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pPr marL="457200" lvl="1" indent="0">
              <a:buNone/>
            </a:pPr>
            <a:endParaRPr lang="en-US" sz="2000" dirty="0">
              <a:solidFill>
                <a:sysClr val="windowText" lastClr="000000"/>
              </a:solidFill>
              <a:latin typeface="Calibri"/>
            </a:endParaRPr>
          </a:p>
          <a:p>
            <a:pPr lvl="1"/>
            <a:endParaRPr lang="en-US" sz="2000" dirty="0" smtClean="0">
              <a:solidFill>
                <a:sysClr val="windowText" lastClr="000000"/>
              </a:solidFill>
              <a:latin typeface="Calibri"/>
            </a:endParaRPr>
          </a:p>
          <a:p>
            <a:r>
              <a:rPr lang="en-US" sz="2400" dirty="0" err="1" smtClean="0">
                <a:solidFill>
                  <a:sysClr val="windowText" lastClr="000000"/>
                </a:solidFill>
                <a:latin typeface="Calibri"/>
              </a:rPr>
              <a:t>Prefetch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 metrics: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Low accuracy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High coverage</a:t>
            </a:r>
          </a:p>
          <a:p>
            <a:pPr lvl="1"/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Highly</a:t>
            </a:r>
            <a:r>
              <a:rPr lang="en-US" sz="2000" dirty="0" smtClean="0">
                <a:solidFill>
                  <a:sysClr val="windowText" lastClr="000000"/>
                </a:solidFill>
              </a:rPr>
              <a:t> timeliness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0346" y="2428081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0xba202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endParaRPr lang="ru-RU" kern="0" dirty="0" smtClean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a0</a:t>
            </a:r>
            <a:endParaRPr lang="ru-RU" kern="0" dirty="0" smtClean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4с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ru-RU" kern="0" dirty="0" smtClean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0xba20</a:t>
            </a:r>
            <a:r>
              <a:rPr lang="ru-RU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52</a:t>
            </a:r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ru-RU" kern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kern="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ru-RU" kern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95375" y="4257458"/>
            <a:ext cx="2590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prefetch  </a:t>
            </a:r>
            <a:r>
              <a:rPr lang="en-US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0xba20ac0</a:t>
            </a:r>
            <a:endParaRPr lang="en-US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prefetch  </a:t>
            </a:r>
            <a:r>
              <a:rPr lang="en-US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0x3cf10c0</a:t>
            </a:r>
            <a:endParaRPr lang="ru-RU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Стрелка вправо 7"/>
          <p:cNvSpPr/>
          <p:nvPr/>
        </p:nvSpPr>
        <p:spPr>
          <a:xfrm>
            <a:off x="2694817" y="3025657"/>
            <a:ext cx="40005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7" name="Таблица 9"/>
          <p:cNvGraphicFramePr>
            <a:graphicFrameLocks noGrp="1"/>
          </p:cNvGraphicFramePr>
          <p:nvPr>
            <p:extLst/>
          </p:nvPr>
        </p:nvGraphicFramePr>
        <p:xfrm>
          <a:off x="3284937" y="2586113"/>
          <a:ext cx="4620877" cy="1214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211"/>
                <a:gridCol w="1348239"/>
                <a:gridCol w="1795427"/>
              </a:tblGrid>
              <a:tr h="404714">
                <a:tc>
                  <a:txBody>
                    <a:bodyPr/>
                    <a:lstStyle/>
                    <a:p>
                      <a:r>
                        <a:rPr lang="en-US" dirty="0" smtClean="0"/>
                        <a:t>Base address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Stride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Last address</a:t>
                      </a:r>
                      <a:endParaRPr lang="ru-RU" dirty="0"/>
                    </a:p>
                  </a:txBody>
                  <a:tcPr/>
                </a:tc>
              </a:tr>
              <a:tr h="404714">
                <a:tc>
                  <a:txBody>
                    <a:bodyPr/>
                    <a:lstStyle/>
                    <a:p>
                      <a:r>
                        <a:rPr lang="en-US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0xba20200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????</a:t>
                      </a:r>
                      <a:endParaRPr lang="ru-RU" sz="1800" kern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kern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4047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kern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Стрелка вправо 7"/>
          <p:cNvSpPr/>
          <p:nvPr/>
        </p:nvSpPr>
        <p:spPr>
          <a:xfrm rot="5400000">
            <a:off x="6929120" y="3861524"/>
            <a:ext cx="40005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25618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8" grpId="0" animBg="1"/>
    </p:bld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Writing and Replacement Policies</a:t>
            </a:r>
            <a:endParaRPr lang="ru-RU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221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Line Replacement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93256"/>
            <a:ext cx="8228012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1200" dirty="0" smtClean="0">
                <a:solidFill>
                  <a:prstClr val="black"/>
                </a:solidFill>
                <a:latin typeface="Calibri"/>
                <a:cs typeface="+mn-cs"/>
              </a:rPr>
              <a:t>When miss occurs need to free space in a cache for a new line</a:t>
            </a:r>
            <a:endParaRPr lang="en-US" kern="1200" dirty="0">
              <a:solidFill>
                <a:prstClr val="black"/>
              </a:solidFill>
              <a:latin typeface="Calibri"/>
              <a:cs typeface="+mn-cs"/>
            </a:endParaRPr>
          </a:p>
          <a:p>
            <a:pPr marL="342900" lvl="0" indent="-342900">
              <a:spcBef>
                <a:spcPts val="1800"/>
              </a:spcBef>
              <a:buFont typeface="Arial" charset="0"/>
              <a:buChar char="•"/>
            </a:pPr>
            <a:r>
              <a:rPr lang="en-US" kern="1200" dirty="0" smtClean="0">
                <a:solidFill>
                  <a:prstClr val="black"/>
                </a:solidFill>
                <a:latin typeface="Calibri"/>
                <a:cs typeface="+mn-cs"/>
              </a:rPr>
              <a:t>Direct mapped cache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new 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line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is mapped to a single entry 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→ evict old line from the entry</a:t>
            </a:r>
            <a:endParaRPr lang="en-US" sz="2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342900" lvl="0" indent="-342900">
              <a:lnSpc>
                <a:spcPct val="120000"/>
              </a:lnSpc>
              <a:spcBef>
                <a:spcPts val="1800"/>
              </a:spcBef>
              <a:buFont typeface="Arial" charset="0"/>
              <a:buChar char="•"/>
            </a:pPr>
            <a:r>
              <a:rPr lang="en-US" kern="1200" dirty="0" smtClean="0">
                <a:solidFill>
                  <a:prstClr val="black"/>
                </a:solidFill>
                <a:latin typeface="Calibri"/>
                <a:cs typeface="+mn-cs"/>
              </a:rPr>
              <a:t>N-way </a:t>
            </a:r>
            <a:r>
              <a:rPr lang="en-US" kern="1200" dirty="0">
                <a:solidFill>
                  <a:prstClr val="black"/>
                </a:solidFill>
                <a:latin typeface="Calibri"/>
                <a:cs typeface="+mn-cs"/>
              </a:rPr>
              <a:t>set associative cache</a:t>
            </a:r>
          </a:p>
          <a:p>
            <a:pPr marL="742950" lvl="1" indent="-285750">
              <a:spcBef>
                <a:spcPct val="20000"/>
              </a:spcBef>
              <a:buClrTx/>
              <a:buFont typeface="Arial" charset="0"/>
              <a:buChar char="–"/>
            </a:pP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Choose a victim from all ways in the appropriate 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set, but how?</a:t>
            </a:r>
            <a:endParaRPr lang="en-US" sz="2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342900" indent="-342900">
              <a:lnSpc>
                <a:spcPct val="120000"/>
              </a:lnSpc>
              <a:spcBef>
                <a:spcPts val="1800"/>
              </a:spcBef>
              <a:buFont typeface="Arial" charset="0"/>
              <a:buChar char="•"/>
            </a:pPr>
            <a:r>
              <a:rPr lang="en-US" b="1" kern="1200" dirty="0">
                <a:solidFill>
                  <a:prstClr val="black"/>
                </a:solidFill>
                <a:latin typeface="Calibri"/>
                <a:cs typeface="+mn-cs"/>
              </a:rPr>
              <a:t>FIFO</a:t>
            </a:r>
            <a:r>
              <a:rPr lang="en-US" kern="1200" dirty="0">
                <a:solidFill>
                  <a:prstClr val="black"/>
                </a:solidFill>
                <a:latin typeface="Calibri"/>
                <a:cs typeface="+mn-cs"/>
              </a:rPr>
              <a:t> (First In First Out</a:t>
            </a:r>
            <a:r>
              <a:rPr lang="en-US" kern="1200" dirty="0" smtClean="0">
                <a:solidFill>
                  <a:prstClr val="black"/>
                </a:solidFill>
                <a:latin typeface="Calibri"/>
                <a:cs typeface="+mn-cs"/>
              </a:rPr>
              <a:t>) replacement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lrTx/>
              <a:buFont typeface="Arial" charset="0"/>
              <a:buChar char="–"/>
            </a:pP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Easy to implement in HW, 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but can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v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iolate temporal locality</a:t>
            </a:r>
            <a:endParaRPr lang="en-US" sz="2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342900" indent="-342900">
              <a:lnSpc>
                <a:spcPct val="120000"/>
              </a:lnSpc>
              <a:spcBef>
                <a:spcPts val="1800"/>
              </a:spcBef>
              <a:buFont typeface="Arial" charset="0"/>
              <a:buChar char="•"/>
            </a:pPr>
            <a:r>
              <a:rPr lang="en-US" b="1" kern="1200" dirty="0" smtClean="0">
                <a:solidFill>
                  <a:prstClr val="black"/>
                </a:solidFill>
                <a:latin typeface="Calibri"/>
                <a:cs typeface="+mn-cs"/>
              </a:rPr>
              <a:t>LRU</a:t>
            </a:r>
            <a:r>
              <a:rPr lang="en-US" kern="1200" dirty="0" smtClean="0">
                <a:solidFill>
                  <a:prstClr val="black"/>
                </a:solidFill>
                <a:latin typeface="Calibri"/>
                <a:cs typeface="+mn-cs"/>
              </a:rPr>
              <a:t> (Least Recently Used) replacement</a:t>
            </a:r>
            <a:endParaRPr lang="ru-RU" kern="1200" dirty="0" smtClean="0">
              <a:solidFill>
                <a:prstClr val="black"/>
              </a:solidFill>
              <a:latin typeface="Calibri"/>
              <a:cs typeface="+mn-cs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lrTx/>
              <a:buFont typeface="Arial" charset="0"/>
              <a:buChar char="–"/>
            </a:pP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Evict the 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most unused line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was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not accessed longer than 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other)</a:t>
            </a: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Good temporal locality, but complex HW 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</a:rPr>
              <a:t>→ use simplified </a:t>
            </a:r>
            <a:r>
              <a:rPr lang="en-US" sz="2000" b="1" kern="1200" dirty="0" smtClean="0">
                <a:solidFill>
                  <a:prstClr val="black"/>
                </a:solidFill>
                <a:latin typeface="Calibri"/>
              </a:rPr>
              <a:t>pseudo-LRU</a:t>
            </a:r>
            <a:endParaRPr lang="en-US" b="1" dirty="0" smtClean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15318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Pseudo-LRU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93256"/>
            <a:ext cx="8228012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1200" dirty="0" smtClean="0">
                <a:solidFill>
                  <a:prstClr val="black"/>
                </a:solidFill>
                <a:latin typeface="Calibri"/>
                <a:cs typeface="+mn-cs"/>
              </a:rPr>
              <a:t>Pseudo-LRU is a good approximation of LRU with a binary 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prstClr val="black"/>
                </a:solidFill>
                <a:cs typeface="+mn-cs"/>
              </a:rPr>
              <a:t>Each node stores information about which of the descendants was </a:t>
            </a:r>
            <a:r>
              <a:rPr lang="en-US" kern="1200" dirty="0" smtClean="0">
                <a:solidFill>
                  <a:prstClr val="black"/>
                </a:solidFill>
                <a:cs typeface="+mn-cs"/>
              </a:rPr>
              <a:t>recently used</a:t>
            </a:r>
            <a:endParaRPr lang="ru-RU" kern="1200" dirty="0" smtClean="0">
              <a:solidFill>
                <a:prstClr val="black"/>
              </a:solidFill>
              <a:cs typeface="+mn-cs"/>
            </a:endParaRPr>
          </a:p>
          <a:p>
            <a:pPr>
              <a:spcBef>
                <a:spcPts val="1200"/>
              </a:spcBef>
            </a:pPr>
            <a:endParaRPr lang="ru-RU" dirty="0">
              <a:latin typeface="+mj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0556" y="3574249"/>
            <a:ext cx="1448109" cy="1390509"/>
            <a:chOff x="789828" y="2522858"/>
            <a:chExt cx="1448109" cy="1390509"/>
          </a:xfrm>
        </p:grpSpPr>
        <p:sp>
          <p:nvSpPr>
            <p:cNvPr id="57" name="Овал 4"/>
            <p:cNvSpPr/>
            <p:nvPr/>
          </p:nvSpPr>
          <p:spPr>
            <a:xfrm>
              <a:off x="1369562" y="2522858"/>
              <a:ext cx="310101" cy="31010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L</a:t>
              </a:r>
              <a:endParaRPr lang="ru-RU" dirty="0"/>
            </a:p>
          </p:txBody>
        </p:sp>
        <p:sp>
          <p:nvSpPr>
            <p:cNvPr id="58" name="Овал 5"/>
            <p:cNvSpPr/>
            <p:nvPr/>
          </p:nvSpPr>
          <p:spPr>
            <a:xfrm>
              <a:off x="982777" y="3045445"/>
              <a:ext cx="310101" cy="31010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R</a:t>
              </a:r>
              <a:endParaRPr lang="ru-RU" dirty="0"/>
            </a:p>
          </p:txBody>
        </p:sp>
        <p:sp>
          <p:nvSpPr>
            <p:cNvPr id="59" name="Овал 6"/>
            <p:cNvSpPr/>
            <p:nvPr/>
          </p:nvSpPr>
          <p:spPr>
            <a:xfrm>
              <a:off x="1737974" y="3019556"/>
              <a:ext cx="310101" cy="31010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L</a:t>
              </a:r>
              <a:endParaRPr lang="ru-RU" dirty="0"/>
            </a:p>
          </p:txBody>
        </p:sp>
        <p:sp>
          <p:nvSpPr>
            <p:cNvPr id="60" name="Прямоугольник 7"/>
            <p:cNvSpPr/>
            <p:nvPr/>
          </p:nvSpPr>
          <p:spPr>
            <a:xfrm>
              <a:off x="789828" y="3609892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A</a:t>
              </a:r>
              <a:endParaRPr lang="ru-RU" dirty="0"/>
            </a:p>
          </p:txBody>
        </p:sp>
        <p:sp>
          <p:nvSpPr>
            <p:cNvPr id="61" name="Прямоугольник 10"/>
            <p:cNvSpPr/>
            <p:nvPr/>
          </p:nvSpPr>
          <p:spPr>
            <a:xfrm>
              <a:off x="1164510" y="3611217"/>
              <a:ext cx="302150" cy="3021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B</a:t>
              </a:r>
              <a:endParaRPr lang="ru-RU" dirty="0"/>
            </a:p>
          </p:txBody>
        </p:sp>
        <p:sp>
          <p:nvSpPr>
            <p:cNvPr id="62" name="Прямоугольник 11"/>
            <p:cNvSpPr/>
            <p:nvPr/>
          </p:nvSpPr>
          <p:spPr>
            <a:xfrm>
              <a:off x="1551473" y="3611217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C</a:t>
              </a:r>
              <a:endParaRPr lang="ru-RU" dirty="0"/>
            </a:p>
          </p:txBody>
        </p:sp>
        <p:sp>
          <p:nvSpPr>
            <p:cNvPr id="63" name="Прямоугольник 12"/>
            <p:cNvSpPr/>
            <p:nvPr/>
          </p:nvSpPr>
          <p:spPr>
            <a:xfrm>
              <a:off x="1935787" y="3611217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D</a:t>
              </a:r>
              <a:endParaRPr lang="ru-RU" dirty="0"/>
            </a:p>
          </p:txBody>
        </p:sp>
        <p:cxnSp>
          <p:nvCxnSpPr>
            <p:cNvPr id="64" name="Прямая со стрелкой 14"/>
            <p:cNvCxnSpPr>
              <a:stCxn id="57" idx="3"/>
              <a:endCxn id="58" idx="7"/>
            </p:cNvCxnSpPr>
            <p:nvPr/>
          </p:nvCxnSpPr>
          <p:spPr>
            <a:xfrm flipH="1">
              <a:off x="1247465" y="2787546"/>
              <a:ext cx="167510" cy="30331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Прямая со стрелкой 16"/>
            <p:cNvCxnSpPr>
              <a:stCxn id="57" idx="5"/>
              <a:endCxn id="59" idx="1"/>
            </p:cNvCxnSpPr>
            <p:nvPr/>
          </p:nvCxnSpPr>
          <p:spPr>
            <a:xfrm>
              <a:off x="1634250" y="2787546"/>
              <a:ext cx="149137" cy="2774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6" name="Прямая со стрелкой 18"/>
            <p:cNvCxnSpPr>
              <a:stCxn id="59" idx="3"/>
              <a:endCxn id="62" idx="0"/>
            </p:cNvCxnSpPr>
            <p:nvPr/>
          </p:nvCxnSpPr>
          <p:spPr>
            <a:xfrm flipH="1">
              <a:off x="1702548" y="3284244"/>
              <a:ext cx="80839" cy="32697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Прямая со стрелкой 20"/>
            <p:cNvCxnSpPr>
              <a:stCxn id="59" idx="5"/>
              <a:endCxn id="63" idx="0"/>
            </p:cNvCxnSpPr>
            <p:nvPr/>
          </p:nvCxnSpPr>
          <p:spPr>
            <a:xfrm>
              <a:off x="2002662" y="3284244"/>
              <a:ext cx="84200" cy="32697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Прямая со стрелкой 23"/>
            <p:cNvCxnSpPr>
              <a:stCxn id="58" idx="5"/>
              <a:endCxn id="61" idx="0"/>
            </p:cNvCxnSpPr>
            <p:nvPr/>
          </p:nvCxnSpPr>
          <p:spPr>
            <a:xfrm>
              <a:off x="1247465" y="3310133"/>
              <a:ext cx="68120" cy="301084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9" name="Прямая со стрелкой 25"/>
            <p:cNvCxnSpPr>
              <a:stCxn id="58" idx="3"/>
              <a:endCxn id="60" idx="0"/>
            </p:cNvCxnSpPr>
            <p:nvPr/>
          </p:nvCxnSpPr>
          <p:spPr>
            <a:xfrm flipH="1">
              <a:off x="940903" y="3310133"/>
              <a:ext cx="87287" cy="2997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2566447" y="3573610"/>
            <a:ext cx="1448109" cy="1390509"/>
            <a:chOff x="2825719" y="2522219"/>
            <a:chExt cx="1448109" cy="1390509"/>
          </a:xfrm>
        </p:grpSpPr>
        <p:sp>
          <p:nvSpPr>
            <p:cNvPr id="44" name="Овал 50"/>
            <p:cNvSpPr/>
            <p:nvPr/>
          </p:nvSpPr>
          <p:spPr>
            <a:xfrm>
              <a:off x="3405453" y="2522219"/>
              <a:ext cx="310101" cy="310101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R</a:t>
              </a:r>
              <a:endParaRPr lang="ru-RU" dirty="0"/>
            </a:p>
          </p:txBody>
        </p:sp>
        <p:sp>
          <p:nvSpPr>
            <p:cNvPr id="45" name="Овал 51"/>
            <p:cNvSpPr/>
            <p:nvPr/>
          </p:nvSpPr>
          <p:spPr>
            <a:xfrm>
              <a:off x="3018668" y="3044806"/>
              <a:ext cx="310101" cy="310101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L</a:t>
              </a:r>
              <a:endParaRPr lang="ru-RU" dirty="0"/>
            </a:p>
          </p:txBody>
        </p:sp>
        <p:sp>
          <p:nvSpPr>
            <p:cNvPr id="46" name="Овал 52"/>
            <p:cNvSpPr/>
            <p:nvPr/>
          </p:nvSpPr>
          <p:spPr>
            <a:xfrm>
              <a:off x="3773865" y="3018917"/>
              <a:ext cx="310101" cy="31010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L</a:t>
              </a:r>
              <a:endParaRPr lang="ru-RU" dirty="0"/>
            </a:p>
          </p:txBody>
        </p:sp>
        <p:sp>
          <p:nvSpPr>
            <p:cNvPr id="47" name="Прямоугольник 53"/>
            <p:cNvSpPr/>
            <p:nvPr/>
          </p:nvSpPr>
          <p:spPr>
            <a:xfrm>
              <a:off x="2825719" y="3609253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A</a:t>
              </a:r>
              <a:endParaRPr lang="ru-RU" dirty="0"/>
            </a:p>
          </p:txBody>
        </p:sp>
        <p:sp>
          <p:nvSpPr>
            <p:cNvPr id="48" name="Прямоугольник 54"/>
            <p:cNvSpPr/>
            <p:nvPr/>
          </p:nvSpPr>
          <p:spPr>
            <a:xfrm>
              <a:off x="3200401" y="3610578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B</a:t>
              </a:r>
              <a:endParaRPr lang="ru-RU" dirty="0"/>
            </a:p>
          </p:txBody>
        </p:sp>
        <p:sp>
          <p:nvSpPr>
            <p:cNvPr id="49" name="Прямоугольник 55"/>
            <p:cNvSpPr/>
            <p:nvPr/>
          </p:nvSpPr>
          <p:spPr>
            <a:xfrm>
              <a:off x="3587364" y="3610578"/>
              <a:ext cx="302150" cy="3021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C</a:t>
              </a:r>
              <a:endParaRPr lang="ru-RU" dirty="0"/>
            </a:p>
          </p:txBody>
        </p:sp>
        <p:sp>
          <p:nvSpPr>
            <p:cNvPr id="50" name="Прямоугольник 56"/>
            <p:cNvSpPr/>
            <p:nvPr/>
          </p:nvSpPr>
          <p:spPr>
            <a:xfrm>
              <a:off x="3971678" y="3610578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D</a:t>
              </a:r>
              <a:endParaRPr lang="ru-RU" dirty="0"/>
            </a:p>
          </p:txBody>
        </p:sp>
        <p:cxnSp>
          <p:nvCxnSpPr>
            <p:cNvPr id="51" name="Прямая со стрелкой 57"/>
            <p:cNvCxnSpPr>
              <a:stCxn id="44" idx="3"/>
              <a:endCxn id="45" idx="7"/>
            </p:cNvCxnSpPr>
            <p:nvPr/>
          </p:nvCxnSpPr>
          <p:spPr>
            <a:xfrm flipH="1">
              <a:off x="3283356" y="2786907"/>
              <a:ext cx="167510" cy="3033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Прямая со стрелкой 58"/>
            <p:cNvCxnSpPr>
              <a:stCxn id="44" idx="5"/>
              <a:endCxn id="46" idx="1"/>
            </p:cNvCxnSpPr>
            <p:nvPr/>
          </p:nvCxnSpPr>
          <p:spPr>
            <a:xfrm>
              <a:off x="3670141" y="2786907"/>
              <a:ext cx="149137" cy="277423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3" name="Прямая со стрелкой 59"/>
            <p:cNvCxnSpPr>
              <a:stCxn id="46" idx="3"/>
              <a:endCxn id="49" idx="0"/>
            </p:cNvCxnSpPr>
            <p:nvPr/>
          </p:nvCxnSpPr>
          <p:spPr>
            <a:xfrm flipH="1">
              <a:off x="3738439" y="3283605"/>
              <a:ext cx="80839" cy="326973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4" name="Прямая со стрелкой 60"/>
            <p:cNvCxnSpPr>
              <a:stCxn id="46" idx="5"/>
              <a:endCxn id="50" idx="0"/>
            </p:cNvCxnSpPr>
            <p:nvPr/>
          </p:nvCxnSpPr>
          <p:spPr>
            <a:xfrm>
              <a:off x="4038553" y="3283605"/>
              <a:ext cx="84200" cy="32697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Прямая со стрелкой 61"/>
            <p:cNvCxnSpPr>
              <a:stCxn id="45" idx="5"/>
              <a:endCxn id="48" idx="0"/>
            </p:cNvCxnSpPr>
            <p:nvPr/>
          </p:nvCxnSpPr>
          <p:spPr>
            <a:xfrm>
              <a:off x="3283356" y="3309494"/>
              <a:ext cx="68120" cy="3010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Прямая со стрелкой 62"/>
            <p:cNvCxnSpPr>
              <a:stCxn id="45" idx="3"/>
              <a:endCxn id="47" idx="0"/>
            </p:cNvCxnSpPr>
            <p:nvPr/>
          </p:nvCxnSpPr>
          <p:spPr>
            <a:xfrm flipH="1">
              <a:off x="2976794" y="3309494"/>
              <a:ext cx="87287" cy="2997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1702749" y="3200994"/>
            <a:ext cx="1341136" cy="758043"/>
            <a:chOff x="1962021" y="2149603"/>
            <a:chExt cx="1341136" cy="758043"/>
          </a:xfrm>
        </p:grpSpPr>
        <p:sp>
          <p:nvSpPr>
            <p:cNvPr id="42" name="Стрелка вправо 63"/>
            <p:cNvSpPr/>
            <p:nvPr/>
          </p:nvSpPr>
          <p:spPr>
            <a:xfrm>
              <a:off x="2237937" y="2465888"/>
              <a:ext cx="724917" cy="4417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 dirty="0"/>
            </a:p>
          </p:txBody>
        </p:sp>
        <p:sp>
          <p:nvSpPr>
            <p:cNvPr id="43" name="TextBox 64"/>
            <p:cNvSpPr txBox="1"/>
            <p:nvPr/>
          </p:nvSpPr>
          <p:spPr>
            <a:xfrm>
              <a:off x="1962021" y="2149603"/>
              <a:ext cx="1341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dirty="0" smtClean="0">
                  <a:latin typeface="+mj-lt"/>
                </a:rPr>
                <a:t>Request</a:t>
              </a:r>
              <a:r>
                <a:rPr lang="ru-RU" dirty="0" smtClean="0">
                  <a:latin typeface="+mj-lt"/>
                </a:rPr>
                <a:t> «</a:t>
              </a:r>
              <a:r>
                <a:rPr lang="en-US" dirty="0" smtClean="0">
                  <a:latin typeface="+mj-lt"/>
                </a:rPr>
                <a:t>B»</a:t>
              </a:r>
              <a:endParaRPr lang="ru-RU" dirty="0">
                <a:latin typeface="+mj-lt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165335" y="3589671"/>
            <a:ext cx="1448109" cy="1390509"/>
            <a:chOff x="7424607" y="2538280"/>
            <a:chExt cx="1448109" cy="1390509"/>
          </a:xfrm>
        </p:grpSpPr>
        <p:sp>
          <p:nvSpPr>
            <p:cNvPr id="29" name="Овал 67"/>
            <p:cNvSpPr/>
            <p:nvPr/>
          </p:nvSpPr>
          <p:spPr>
            <a:xfrm>
              <a:off x="8004341" y="2538280"/>
              <a:ext cx="310101" cy="310101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L</a:t>
              </a:r>
              <a:endParaRPr lang="ru-RU" dirty="0"/>
            </a:p>
          </p:txBody>
        </p:sp>
        <p:sp>
          <p:nvSpPr>
            <p:cNvPr id="30" name="Овал 68"/>
            <p:cNvSpPr/>
            <p:nvPr/>
          </p:nvSpPr>
          <p:spPr>
            <a:xfrm>
              <a:off x="7617556" y="3060867"/>
              <a:ext cx="310101" cy="31010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R</a:t>
              </a:r>
              <a:endParaRPr lang="ru-RU" dirty="0"/>
            </a:p>
          </p:txBody>
        </p:sp>
        <p:sp>
          <p:nvSpPr>
            <p:cNvPr id="31" name="Овал 69"/>
            <p:cNvSpPr/>
            <p:nvPr/>
          </p:nvSpPr>
          <p:spPr>
            <a:xfrm>
              <a:off x="8372753" y="3034978"/>
              <a:ext cx="310101" cy="310101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R</a:t>
              </a:r>
              <a:endParaRPr lang="ru-RU" dirty="0"/>
            </a:p>
          </p:txBody>
        </p:sp>
        <p:sp>
          <p:nvSpPr>
            <p:cNvPr id="32" name="Прямоугольник 70"/>
            <p:cNvSpPr/>
            <p:nvPr/>
          </p:nvSpPr>
          <p:spPr>
            <a:xfrm>
              <a:off x="7424607" y="3625314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A</a:t>
              </a:r>
              <a:endParaRPr lang="ru-RU" dirty="0"/>
            </a:p>
          </p:txBody>
        </p:sp>
        <p:sp>
          <p:nvSpPr>
            <p:cNvPr id="33" name="Прямоугольник 71"/>
            <p:cNvSpPr/>
            <p:nvPr/>
          </p:nvSpPr>
          <p:spPr>
            <a:xfrm>
              <a:off x="7799289" y="3626639"/>
              <a:ext cx="302150" cy="3021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B</a:t>
              </a:r>
              <a:endParaRPr lang="ru-RU" dirty="0"/>
            </a:p>
          </p:txBody>
        </p:sp>
        <p:sp>
          <p:nvSpPr>
            <p:cNvPr id="34" name="Прямоугольник 72"/>
            <p:cNvSpPr/>
            <p:nvPr/>
          </p:nvSpPr>
          <p:spPr>
            <a:xfrm>
              <a:off x="8186252" y="3626639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E</a:t>
              </a:r>
              <a:endParaRPr lang="ru-RU" dirty="0"/>
            </a:p>
          </p:txBody>
        </p:sp>
        <p:sp>
          <p:nvSpPr>
            <p:cNvPr id="35" name="Прямоугольник 73"/>
            <p:cNvSpPr/>
            <p:nvPr/>
          </p:nvSpPr>
          <p:spPr>
            <a:xfrm>
              <a:off x="8570566" y="3626639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D</a:t>
              </a:r>
              <a:endParaRPr lang="ru-RU" dirty="0"/>
            </a:p>
          </p:txBody>
        </p:sp>
        <p:cxnSp>
          <p:nvCxnSpPr>
            <p:cNvPr id="36" name="Прямая со стрелкой 74"/>
            <p:cNvCxnSpPr>
              <a:stCxn id="29" idx="3"/>
              <a:endCxn id="30" idx="7"/>
            </p:cNvCxnSpPr>
            <p:nvPr/>
          </p:nvCxnSpPr>
          <p:spPr>
            <a:xfrm flipH="1">
              <a:off x="7882244" y="2802968"/>
              <a:ext cx="167510" cy="30331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7" name="Прямая со стрелкой 75"/>
            <p:cNvCxnSpPr>
              <a:stCxn id="29" idx="5"/>
              <a:endCxn id="31" idx="1"/>
            </p:cNvCxnSpPr>
            <p:nvPr/>
          </p:nvCxnSpPr>
          <p:spPr>
            <a:xfrm>
              <a:off x="8269029" y="2802968"/>
              <a:ext cx="149137" cy="2774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8" name="Прямая со стрелкой 76"/>
            <p:cNvCxnSpPr>
              <a:stCxn id="31" idx="3"/>
              <a:endCxn id="34" idx="0"/>
            </p:cNvCxnSpPr>
            <p:nvPr/>
          </p:nvCxnSpPr>
          <p:spPr>
            <a:xfrm flipH="1">
              <a:off x="8337327" y="3299666"/>
              <a:ext cx="80839" cy="32697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Прямая со стрелкой 77"/>
            <p:cNvCxnSpPr>
              <a:stCxn id="31" idx="5"/>
              <a:endCxn id="35" idx="0"/>
            </p:cNvCxnSpPr>
            <p:nvPr/>
          </p:nvCxnSpPr>
          <p:spPr>
            <a:xfrm>
              <a:off x="8637441" y="3299666"/>
              <a:ext cx="84200" cy="32697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Прямая со стрелкой 78"/>
            <p:cNvCxnSpPr>
              <a:stCxn id="30" idx="5"/>
              <a:endCxn id="33" idx="0"/>
            </p:cNvCxnSpPr>
            <p:nvPr/>
          </p:nvCxnSpPr>
          <p:spPr>
            <a:xfrm>
              <a:off x="7882244" y="3325555"/>
              <a:ext cx="68120" cy="301084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Прямая со стрелкой 79"/>
            <p:cNvCxnSpPr>
              <a:stCxn id="30" idx="3"/>
              <a:endCxn id="32" idx="0"/>
            </p:cNvCxnSpPr>
            <p:nvPr/>
          </p:nvCxnSpPr>
          <p:spPr>
            <a:xfrm flipH="1">
              <a:off x="7575682" y="3325555"/>
              <a:ext cx="87287" cy="29975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877296" y="3579204"/>
            <a:ext cx="1448109" cy="1390509"/>
            <a:chOff x="5136568" y="2527813"/>
            <a:chExt cx="1448109" cy="1390509"/>
          </a:xfrm>
        </p:grpSpPr>
        <p:sp>
          <p:nvSpPr>
            <p:cNvPr id="16" name="Овал 81"/>
            <p:cNvSpPr/>
            <p:nvPr/>
          </p:nvSpPr>
          <p:spPr>
            <a:xfrm>
              <a:off x="5716302" y="2527813"/>
              <a:ext cx="310101" cy="31010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R</a:t>
              </a:r>
              <a:endParaRPr lang="ru-RU" dirty="0"/>
            </a:p>
          </p:txBody>
        </p:sp>
        <p:sp>
          <p:nvSpPr>
            <p:cNvPr id="17" name="Овал 82"/>
            <p:cNvSpPr/>
            <p:nvPr/>
          </p:nvSpPr>
          <p:spPr>
            <a:xfrm>
              <a:off x="5329517" y="3050400"/>
              <a:ext cx="310101" cy="310101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R</a:t>
              </a:r>
              <a:endParaRPr lang="ru-RU" dirty="0"/>
            </a:p>
          </p:txBody>
        </p:sp>
        <p:sp>
          <p:nvSpPr>
            <p:cNvPr id="18" name="Овал 83"/>
            <p:cNvSpPr/>
            <p:nvPr/>
          </p:nvSpPr>
          <p:spPr>
            <a:xfrm>
              <a:off x="6084714" y="3024511"/>
              <a:ext cx="310101" cy="31010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L</a:t>
              </a:r>
              <a:endParaRPr lang="ru-RU" dirty="0"/>
            </a:p>
          </p:txBody>
        </p:sp>
        <p:sp>
          <p:nvSpPr>
            <p:cNvPr id="19" name="Прямоугольник 84"/>
            <p:cNvSpPr/>
            <p:nvPr/>
          </p:nvSpPr>
          <p:spPr>
            <a:xfrm>
              <a:off x="5136568" y="3614847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A</a:t>
              </a:r>
              <a:endParaRPr lang="ru-RU" dirty="0"/>
            </a:p>
          </p:txBody>
        </p:sp>
        <p:sp>
          <p:nvSpPr>
            <p:cNvPr id="20" name="Прямоугольник 85"/>
            <p:cNvSpPr/>
            <p:nvPr/>
          </p:nvSpPr>
          <p:spPr>
            <a:xfrm>
              <a:off x="5511250" y="3616172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B</a:t>
              </a:r>
              <a:endParaRPr lang="ru-RU" dirty="0"/>
            </a:p>
          </p:txBody>
        </p:sp>
        <p:sp>
          <p:nvSpPr>
            <p:cNvPr id="21" name="Прямоугольник 86"/>
            <p:cNvSpPr/>
            <p:nvPr/>
          </p:nvSpPr>
          <p:spPr>
            <a:xfrm>
              <a:off x="5898213" y="3616172"/>
              <a:ext cx="302150" cy="3021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C</a:t>
              </a:r>
              <a:endParaRPr lang="ru-RU" dirty="0"/>
            </a:p>
          </p:txBody>
        </p:sp>
        <p:sp>
          <p:nvSpPr>
            <p:cNvPr id="22" name="Прямоугольник 87"/>
            <p:cNvSpPr/>
            <p:nvPr/>
          </p:nvSpPr>
          <p:spPr>
            <a:xfrm>
              <a:off x="6282527" y="3616172"/>
              <a:ext cx="302150" cy="3021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smtClean="0"/>
                <a:t>D</a:t>
              </a:r>
              <a:endParaRPr lang="ru-RU" dirty="0"/>
            </a:p>
          </p:txBody>
        </p:sp>
        <p:cxnSp>
          <p:nvCxnSpPr>
            <p:cNvPr id="23" name="Прямая со стрелкой 88"/>
            <p:cNvCxnSpPr>
              <a:stCxn id="16" idx="3"/>
              <a:endCxn id="17" idx="7"/>
            </p:cNvCxnSpPr>
            <p:nvPr/>
          </p:nvCxnSpPr>
          <p:spPr>
            <a:xfrm flipH="1">
              <a:off x="5594205" y="2792501"/>
              <a:ext cx="167510" cy="3033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Прямая со стрелкой 89"/>
            <p:cNvCxnSpPr>
              <a:stCxn id="16" idx="5"/>
              <a:endCxn id="18" idx="1"/>
            </p:cNvCxnSpPr>
            <p:nvPr/>
          </p:nvCxnSpPr>
          <p:spPr>
            <a:xfrm>
              <a:off x="5980990" y="2792501"/>
              <a:ext cx="149137" cy="277423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Прямая со стрелкой 90"/>
            <p:cNvCxnSpPr>
              <a:stCxn id="18" idx="3"/>
              <a:endCxn id="21" idx="0"/>
            </p:cNvCxnSpPr>
            <p:nvPr/>
          </p:nvCxnSpPr>
          <p:spPr>
            <a:xfrm flipH="1">
              <a:off x="6049288" y="3289199"/>
              <a:ext cx="80839" cy="326973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Прямая со стрелкой 91"/>
            <p:cNvCxnSpPr>
              <a:stCxn id="18" idx="5"/>
              <a:endCxn id="22" idx="0"/>
            </p:cNvCxnSpPr>
            <p:nvPr/>
          </p:nvCxnSpPr>
          <p:spPr>
            <a:xfrm>
              <a:off x="6349402" y="3289199"/>
              <a:ext cx="84200" cy="32697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Прямая со стрелкой 92"/>
            <p:cNvCxnSpPr>
              <a:stCxn id="17" idx="5"/>
              <a:endCxn id="20" idx="0"/>
            </p:cNvCxnSpPr>
            <p:nvPr/>
          </p:nvCxnSpPr>
          <p:spPr>
            <a:xfrm>
              <a:off x="5594205" y="3315088"/>
              <a:ext cx="68120" cy="3010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8" name="Прямая со стрелкой 93"/>
            <p:cNvCxnSpPr>
              <a:stCxn id="17" idx="3"/>
              <a:endCxn id="19" idx="0"/>
            </p:cNvCxnSpPr>
            <p:nvPr/>
          </p:nvCxnSpPr>
          <p:spPr>
            <a:xfrm flipH="1">
              <a:off x="5287643" y="3315088"/>
              <a:ext cx="87287" cy="2997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911229" y="3147947"/>
            <a:ext cx="1347548" cy="801592"/>
            <a:chOff x="4170501" y="2096556"/>
            <a:chExt cx="1347548" cy="801592"/>
          </a:xfrm>
        </p:grpSpPr>
        <p:sp>
          <p:nvSpPr>
            <p:cNvPr id="14" name="Стрелка вправо 95"/>
            <p:cNvSpPr/>
            <p:nvPr/>
          </p:nvSpPr>
          <p:spPr>
            <a:xfrm>
              <a:off x="4455295" y="2456390"/>
              <a:ext cx="724917" cy="4417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 dirty="0"/>
            </a:p>
          </p:txBody>
        </p:sp>
        <p:sp>
          <p:nvSpPr>
            <p:cNvPr id="15" name="TextBox 96"/>
            <p:cNvSpPr txBox="1"/>
            <p:nvPr/>
          </p:nvSpPr>
          <p:spPr>
            <a:xfrm>
              <a:off x="4170501" y="2096556"/>
              <a:ext cx="1347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dirty="0" smtClean="0">
                  <a:latin typeface="+mj-lt"/>
                </a:rPr>
                <a:t>Request</a:t>
              </a:r>
              <a:r>
                <a:rPr lang="ru-RU" dirty="0" smtClean="0">
                  <a:latin typeface="+mj-lt"/>
                </a:rPr>
                <a:t> «</a:t>
              </a:r>
              <a:r>
                <a:rPr lang="en-US" dirty="0" smtClean="0">
                  <a:latin typeface="+mj-lt"/>
                </a:rPr>
                <a:t>A»</a:t>
              </a:r>
              <a:endParaRPr lang="ru-RU" dirty="0">
                <a:latin typeface="+mj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11138" y="3138449"/>
            <a:ext cx="1329916" cy="806940"/>
            <a:chOff x="6470410" y="2087058"/>
            <a:chExt cx="1329916" cy="806940"/>
          </a:xfrm>
        </p:grpSpPr>
        <p:sp>
          <p:nvSpPr>
            <p:cNvPr id="12" name="Стрелка вправо 97"/>
            <p:cNvSpPr/>
            <p:nvPr/>
          </p:nvSpPr>
          <p:spPr>
            <a:xfrm>
              <a:off x="6710814" y="2452240"/>
              <a:ext cx="724917" cy="4417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 dirty="0"/>
            </a:p>
          </p:txBody>
        </p:sp>
        <p:sp>
          <p:nvSpPr>
            <p:cNvPr id="13" name="TextBox 98"/>
            <p:cNvSpPr txBox="1"/>
            <p:nvPr/>
          </p:nvSpPr>
          <p:spPr>
            <a:xfrm>
              <a:off x="6470410" y="2087058"/>
              <a:ext cx="1329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dirty="0" smtClean="0">
                  <a:latin typeface="+mj-lt"/>
                </a:rPr>
                <a:t>Request</a:t>
              </a:r>
              <a:r>
                <a:rPr lang="ru-RU" dirty="0" smtClean="0">
                  <a:latin typeface="+mj-lt"/>
                </a:rPr>
                <a:t> «</a:t>
              </a:r>
              <a:r>
                <a:rPr lang="en-US" dirty="0" smtClean="0">
                  <a:latin typeface="+mj-lt"/>
                </a:rPr>
                <a:t>E»</a:t>
              </a:r>
              <a:endParaRPr lang="ru-RU" dirty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661093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Counterexample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993256"/>
            <a:ext cx="8468579" cy="5101172"/>
          </a:xfrm>
        </p:spPr>
        <p:txBody>
          <a:bodyPr/>
          <a:lstStyle/>
          <a:p>
            <a:pPr marL="342900" lvl="0" indent="-342900">
              <a:spcBef>
                <a:spcPts val="1800"/>
              </a:spcBef>
              <a:buFont typeface="Arial" charset="0"/>
              <a:buChar char="•"/>
            </a:pPr>
            <a:r>
              <a:rPr lang="en-US" kern="1200" dirty="0" smtClean="0">
                <a:solidFill>
                  <a:prstClr val="black"/>
                </a:solidFill>
              </a:rPr>
              <a:t>Sometimes there is no temporal locality</a:t>
            </a:r>
            <a:endParaRPr lang="en-US" kern="1200" dirty="0">
              <a:solidFill>
                <a:prstClr val="black"/>
              </a:solidFill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</a:rPr>
              <a:t>Example: read of large data array (data size &gt;&gt; cache size)</a:t>
            </a:r>
            <a:endParaRPr lang="en-US" kern="1200" dirty="0" smtClean="0">
              <a:solidFill>
                <a:prstClr val="black"/>
              </a:solidFill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1200" dirty="0" smtClean="0">
                <a:solidFill>
                  <a:prstClr val="black"/>
                </a:solidFill>
                <a:cs typeface="+mn-cs"/>
              </a:rPr>
              <a:t>In case of LRU the second loop will always ‘miss’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1200" dirty="0" smtClean="0">
                <a:solidFill>
                  <a:prstClr val="black"/>
                </a:solidFill>
                <a:cs typeface="+mn-cs"/>
              </a:rPr>
              <a:t>If data eviction follows MRU policy (most-recently used) the second loop will start with ‘hit’</a:t>
            </a:r>
            <a:endParaRPr lang="ru-RU" kern="1200" dirty="0" smtClean="0">
              <a:solidFill>
                <a:prstClr val="black"/>
              </a:solidFill>
              <a:cs typeface="+mn-cs"/>
            </a:endParaRPr>
          </a:p>
          <a:p>
            <a:pPr>
              <a:spcBef>
                <a:spcPts val="1200"/>
              </a:spcBef>
            </a:pPr>
            <a:endParaRPr lang="ru-RU" dirty="0">
              <a:latin typeface="+mj-lt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104048" y="4012555"/>
            <a:ext cx="4103077" cy="269304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741363" lvl="1">
              <a:spcBef>
                <a:spcPts val="600"/>
              </a:spcBef>
              <a:defRPr/>
            </a:pPr>
            <a:r>
              <a:rPr lang="en-US" sz="1600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F37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en-US" sz="1600" dirty="0">
                <a:solidFill>
                  <a:sysClr val="windowText" lastClr="000000">
                    <a:lumMod val="50000"/>
                    <a:lumOff val="50000"/>
                  </a:sys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-US" sz="1600" dirty="0">
                <a:solidFill>
                  <a:sysClr val="windowText" lastClr="000000">
                    <a:lumMod val="50000"/>
                    <a:lumOff val="50000"/>
                  </a:sys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++i)</a:t>
            </a:r>
          </a:p>
          <a:p>
            <a:pPr marL="741363" lvl="1">
              <a:spcBef>
                <a:spcPts val="6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 += a[i];</a:t>
            </a:r>
            <a:endParaRPr lang="en-US" sz="1600" dirty="0" smtClean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1363" lvl="1">
              <a:spcBef>
                <a:spcPts val="600"/>
              </a:spcBef>
              <a:defRPr/>
            </a:pPr>
            <a: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smtClean="0">
                <a:solidFill>
                  <a:srgbClr val="F37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average = sum / N;</a:t>
            </a:r>
            <a:b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600" dirty="0" err="1" smtClean="0">
                <a:solidFill>
                  <a:srgbClr val="F37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sz="1600" dirty="0" smtClean="0">
                <a:solidFill>
                  <a:srgbClr val="F37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-US" sz="1600" dirty="0">
                <a:solidFill>
                  <a:sysClr val="windowText" lastClr="000000">
                    <a:lumMod val="50000"/>
                    <a:lumOff val="50000"/>
                  </a:sys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 </a:t>
            </a:r>
            <a:r>
              <a:rPr lang="en-US" sz="1600" dirty="0">
                <a:solidFill>
                  <a:sysClr val="windowText" lastClr="000000">
                    <a:lumMod val="50000"/>
                    <a:lumOff val="50000"/>
                  </a:sys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++i)</a:t>
            </a:r>
          </a:p>
          <a:p>
            <a:pPr marL="741363" lvl="1">
              <a:spcBef>
                <a:spcPts val="6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a[i] -= average;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1363" lvl="1">
              <a:spcBef>
                <a:spcPts val="600"/>
              </a:spcBef>
              <a:defRPr/>
            </a:pP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1363" lvl="1">
              <a:spcBef>
                <a:spcPts val="600"/>
              </a:spcBef>
              <a:defRPr/>
            </a:pPr>
            <a:endParaRPr lang="en-US" sz="1600" dirty="0" smtClean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95079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Handling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880861"/>
            <a:ext cx="8228012" cy="2289059"/>
          </a:xfrm>
          <a:solidFill>
            <a:schemeClr val="bg1"/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Memory writes (store instructions) also need to update a cache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If update only memory, the old data can be read from the cache later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There </a:t>
            </a:r>
            <a:r>
              <a:rPr lang="en-US" dirty="0">
                <a:latin typeface="+mj-lt"/>
              </a:rPr>
              <a:t>two main approached of write </a:t>
            </a:r>
            <a:r>
              <a:rPr lang="en-US" dirty="0" smtClean="0">
                <a:latin typeface="+mj-lt"/>
              </a:rPr>
              <a:t>handling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b="1" kern="1200" dirty="0" err="1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WriteThrough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: always update both memory and cache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b="1" kern="1200" dirty="0" err="1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WriteBack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: update only cache, update memory at line eviction</a:t>
            </a:r>
            <a:endParaRPr lang="en-US" sz="2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with text"/>
          <p:cNvGraphicFramePr>
            <a:graphicFrameLocks noGrp="1"/>
          </p:cNvGraphicFramePr>
          <p:nvPr>
            <p:extLst/>
          </p:nvPr>
        </p:nvGraphicFramePr>
        <p:xfrm>
          <a:off x="640079" y="3222831"/>
          <a:ext cx="8043546" cy="3005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1"/>
                <a:gridCol w="3657600"/>
                <a:gridCol w="3105785"/>
              </a:tblGrid>
              <a:tr h="40811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Event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WriteThrough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WriteBack</a:t>
                      </a:r>
                      <a:endParaRPr lang="ru-RU" sz="2000" dirty="0"/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lang="en-US" dirty="0" smtClean="0"/>
                        <a:t>Write</a:t>
                      </a:r>
                      <a:r>
                        <a:rPr lang="en-US" baseline="0" dirty="0" smtClean="0"/>
                        <a:t> hits cache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Update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memory and cache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Update only cache (make line “dirty”)</a:t>
                      </a:r>
                    </a:p>
                  </a:txBody>
                  <a:tcPr/>
                </a:tc>
              </a:tr>
              <a:tr h="1100643">
                <a:tc>
                  <a:txBody>
                    <a:bodyPr/>
                    <a:lstStyle/>
                    <a:p>
                      <a:r>
                        <a:rPr lang="en-US" dirty="0" smtClean="0"/>
                        <a:t>Write misses cache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prstClr val="black"/>
                          </a:solidFill>
                          <a:latin typeface="+mn-lt"/>
                          <a:cs typeface="+mn-cs"/>
                        </a:rPr>
                        <a:t>Option 1: Upload missing line into cache, update</a:t>
                      </a:r>
                      <a:r>
                        <a:rPr lang="en-US" sz="1800" baseline="0" dirty="0" smtClean="0">
                          <a:solidFill>
                            <a:prstClr val="black"/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dirty="0" smtClean="0"/>
                        <a:t>memory and cache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dirty="0" smtClean="0">
                          <a:solidFill>
                            <a:schemeClr val="bg2"/>
                          </a:solidFill>
                        </a:rPr>
                        <a:t>Option</a:t>
                      </a:r>
                      <a:r>
                        <a:rPr lang="en-US" baseline="0" dirty="0" smtClean="0">
                          <a:solidFill>
                            <a:schemeClr val="bg2"/>
                          </a:solidFill>
                        </a:rPr>
                        <a:t> 2: Update only memory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Upload missing line into cache, update only cache (make the line “dirty”)</a:t>
                      </a:r>
                    </a:p>
                  </a:txBody>
                  <a:tcPr/>
                </a:tc>
              </a:tr>
              <a:tr h="719249">
                <a:tc>
                  <a:txBody>
                    <a:bodyPr/>
                    <a:lstStyle/>
                    <a:p>
                      <a:r>
                        <a:rPr lang="en-US" dirty="0" smtClean="0"/>
                        <a:t>A line is evicted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 nothing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the line is “dirty”</a:t>
                      </a:r>
                      <a:r>
                        <a:rPr lang="en-US" baseline="0" dirty="0" smtClean="0"/>
                        <a:t> write it back into memory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 bwMode="auto">
          <a:xfrm>
            <a:off x="690880" y="3718560"/>
            <a:ext cx="1137920" cy="650240"/>
          </a:xfrm>
          <a:prstGeom prst="rect">
            <a:avLst/>
          </a:prstGeom>
          <a:solidFill>
            <a:srgbClr val="CBD5E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011680" y="3718560"/>
            <a:ext cx="3352800" cy="650240"/>
          </a:xfrm>
          <a:prstGeom prst="rect">
            <a:avLst/>
          </a:prstGeom>
          <a:solidFill>
            <a:srgbClr val="CBD5E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648960" y="3718560"/>
            <a:ext cx="2834640" cy="650240"/>
          </a:xfrm>
          <a:prstGeom prst="rect">
            <a:avLst/>
          </a:prstGeom>
          <a:solidFill>
            <a:srgbClr val="CBD5E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648960" y="5618480"/>
            <a:ext cx="2834640" cy="528320"/>
          </a:xfrm>
          <a:prstGeom prst="rect">
            <a:avLst/>
          </a:prstGeom>
          <a:solidFill>
            <a:srgbClr val="CBD5E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11680" y="5577840"/>
            <a:ext cx="1666240" cy="325120"/>
          </a:xfrm>
          <a:prstGeom prst="rect">
            <a:avLst/>
          </a:prstGeom>
          <a:solidFill>
            <a:srgbClr val="CBD5E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690880" y="5577840"/>
            <a:ext cx="1137920" cy="650240"/>
          </a:xfrm>
          <a:prstGeom prst="rect">
            <a:avLst/>
          </a:prstGeom>
          <a:solidFill>
            <a:srgbClr val="CBD5E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90880" y="4460240"/>
            <a:ext cx="1137920" cy="873760"/>
          </a:xfrm>
          <a:prstGeom prst="rect">
            <a:avLst/>
          </a:prstGeom>
          <a:solidFill>
            <a:srgbClr val="E7EBF5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011680" y="4480560"/>
            <a:ext cx="3413760" cy="944880"/>
          </a:xfrm>
          <a:prstGeom prst="rect">
            <a:avLst/>
          </a:prstGeom>
          <a:solidFill>
            <a:srgbClr val="E7EBF5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628640" y="4500880"/>
            <a:ext cx="2926080" cy="944880"/>
          </a:xfrm>
          <a:prstGeom prst="rect">
            <a:avLst/>
          </a:prstGeom>
          <a:solidFill>
            <a:srgbClr val="E7EBF5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43359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Write Back example</a:t>
            </a:r>
            <a:endParaRPr lang="ru-RU" dirty="0"/>
          </a:p>
        </p:txBody>
      </p:sp>
      <p:sp>
        <p:nvSpPr>
          <p:cNvPr id="12" name="Evicted way"/>
          <p:cNvSpPr/>
          <p:nvPr/>
        </p:nvSpPr>
        <p:spPr bwMode="auto">
          <a:xfrm>
            <a:off x="3490836" y="3677502"/>
            <a:ext cx="661711" cy="25918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1168488" y="405388"/>
            <a:ext cx="8024705" cy="5960578"/>
            <a:chOff x="1168488" y="405388"/>
            <a:chExt cx="8024705" cy="5960578"/>
          </a:xfrm>
        </p:grpSpPr>
        <p:grpSp>
          <p:nvGrpSpPr>
            <p:cNvPr id="25" name="Cache"/>
            <p:cNvGrpSpPr/>
            <p:nvPr/>
          </p:nvGrpSpPr>
          <p:grpSpPr>
            <a:xfrm>
              <a:off x="3490836" y="1871623"/>
              <a:ext cx="661715" cy="3103540"/>
              <a:chOff x="3490836" y="1871623"/>
              <a:chExt cx="661715" cy="3103540"/>
            </a:xfrm>
          </p:grpSpPr>
          <p:sp>
            <p:nvSpPr>
              <p:cNvPr id="4" name="Rectangle 3"/>
              <p:cNvSpPr/>
              <p:nvPr/>
            </p:nvSpPr>
            <p:spPr bwMode="auto">
              <a:xfrm>
                <a:off x="3490840" y="1871623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 bwMode="auto">
              <a:xfrm>
                <a:off x="3490836" y="2130804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 bwMode="auto">
              <a:xfrm>
                <a:off x="3490837" y="2389985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3490840" y="2650922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3490836" y="2910103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3490837" y="3169284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 bwMode="auto">
              <a:xfrm>
                <a:off x="3490840" y="3418321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 bwMode="auto">
              <a:xfrm>
                <a:off x="3490837" y="3936683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 bwMode="auto">
              <a:xfrm>
                <a:off x="3490840" y="4197620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 bwMode="auto">
              <a:xfrm>
                <a:off x="3490836" y="4456801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 bwMode="auto">
              <a:xfrm>
                <a:off x="3490837" y="4715982"/>
                <a:ext cx="661711" cy="25918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28" name="Down Arrow 27"/>
            <p:cNvSpPr/>
            <p:nvPr/>
          </p:nvSpPr>
          <p:spPr bwMode="auto">
            <a:xfrm>
              <a:off x="1168488" y="5730240"/>
              <a:ext cx="661851" cy="635726"/>
            </a:xfrm>
            <a:prstGeom prst="downArrow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051595" y="5762177"/>
              <a:ext cx="1970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to memory</a:t>
              </a:r>
              <a:endParaRPr lang="ru-RU" dirty="0" smtClean="0">
                <a:latin typeface="+mn-lt"/>
              </a:endParaRPr>
            </a:p>
          </p:txBody>
        </p:sp>
        <p:sp>
          <p:nvSpPr>
            <p:cNvPr id="30" name="Down Arrow 29"/>
            <p:cNvSpPr/>
            <p:nvPr/>
          </p:nvSpPr>
          <p:spPr bwMode="auto">
            <a:xfrm>
              <a:off x="6560949" y="459409"/>
              <a:ext cx="661851" cy="635726"/>
            </a:xfrm>
            <a:prstGeom prst="downArrow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22800" y="405388"/>
              <a:ext cx="1970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from execution</a:t>
              </a:r>
              <a:endParaRPr lang="ru-RU" dirty="0" smtClean="0">
                <a:latin typeface="+mn-lt"/>
              </a:endParaRPr>
            </a:p>
          </p:txBody>
        </p:sp>
      </p:grpSp>
      <p:sp>
        <p:nvSpPr>
          <p:cNvPr id="18" name="Cache caption"/>
          <p:cNvSpPr txBox="1"/>
          <p:nvPr/>
        </p:nvSpPr>
        <p:spPr>
          <a:xfrm>
            <a:off x="2970722" y="1430438"/>
            <a:ext cx="201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cache set (16 ways)</a:t>
            </a:r>
            <a:endParaRPr lang="ru-RU" dirty="0" smtClean="0">
              <a:latin typeface="+mn-lt"/>
            </a:endParaRPr>
          </a:p>
        </p:txBody>
      </p:sp>
      <p:sp>
        <p:nvSpPr>
          <p:cNvPr id="20" name="Store"/>
          <p:cNvSpPr/>
          <p:nvPr/>
        </p:nvSpPr>
        <p:spPr bwMode="auto">
          <a:xfrm>
            <a:off x="5368955" y="2130803"/>
            <a:ext cx="394282" cy="25918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1" name="Store caption"/>
          <p:cNvSpPr txBox="1"/>
          <p:nvPr/>
        </p:nvSpPr>
        <p:spPr>
          <a:xfrm>
            <a:off x="4985679" y="1686957"/>
            <a:ext cx="119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data write</a:t>
            </a:r>
            <a:endParaRPr lang="ru-RU" dirty="0" smtClean="0">
              <a:latin typeface="+mn-lt"/>
            </a:endParaRPr>
          </a:p>
        </p:txBody>
      </p:sp>
      <p:sp>
        <p:nvSpPr>
          <p:cNvPr id="23" name="Load caption"/>
          <p:cNvSpPr txBox="1"/>
          <p:nvPr/>
        </p:nvSpPr>
        <p:spPr>
          <a:xfrm>
            <a:off x="6098736" y="1686957"/>
            <a:ext cx="119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data read</a:t>
            </a:r>
            <a:endParaRPr lang="ru-RU" dirty="0" smtClean="0">
              <a:latin typeface="+mn-lt"/>
            </a:endParaRPr>
          </a:p>
        </p:txBody>
      </p:sp>
      <p:sp>
        <p:nvSpPr>
          <p:cNvPr id="24" name="Fetch"/>
          <p:cNvSpPr/>
          <p:nvPr/>
        </p:nvSpPr>
        <p:spPr bwMode="auto">
          <a:xfrm>
            <a:off x="1168488" y="4845572"/>
            <a:ext cx="661711" cy="25918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7" name="Fetch caption"/>
          <p:cNvSpPr txBox="1"/>
          <p:nvPr/>
        </p:nvSpPr>
        <p:spPr>
          <a:xfrm>
            <a:off x="845002" y="5188186"/>
            <a:ext cx="197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fetched data</a:t>
            </a:r>
            <a:endParaRPr lang="ru-RU" dirty="0" smtClean="0">
              <a:latin typeface="+mn-lt"/>
            </a:endParaRPr>
          </a:p>
        </p:txBody>
      </p:sp>
      <p:sp>
        <p:nvSpPr>
          <p:cNvPr id="22" name="Load"/>
          <p:cNvSpPr/>
          <p:nvPr/>
        </p:nvSpPr>
        <p:spPr bwMode="auto">
          <a:xfrm>
            <a:off x="6497592" y="2130803"/>
            <a:ext cx="394282" cy="25918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2" name="Miss"/>
          <p:cNvSpPr/>
          <p:nvPr/>
        </p:nvSpPr>
        <p:spPr bwMode="auto">
          <a:xfrm>
            <a:off x="4389121" y="3516595"/>
            <a:ext cx="891010" cy="655712"/>
          </a:xfrm>
          <a:prstGeom prst="star12">
            <a:avLst/>
          </a:prstGeom>
          <a:solidFill>
            <a:schemeClr val="bg1"/>
          </a:solidFill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miss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3" name="Load Done"/>
          <p:cNvSpPr/>
          <p:nvPr/>
        </p:nvSpPr>
        <p:spPr bwMode="auto">
          <a:xfrm>
            <a:off x="3679411" y="3683471"/>
            <a:ext cx="394282" cy="25918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02155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139 L -0.00017 0.1125 C -0.00017 0.16343 -0.04844 0.22662 -0.08819 0.22662 L -0.17639 0.22662 " pathEditMode="relative" rAng="5400000" ptsTypes="AAAA">
                                      <p:cBhvr>
                                        <p:cTn id="2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02" y="1138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1.85185E-6 L -4.44444E-6 0.11459 C -4.44444E-6 0.16597 -0.04357 0.2294 -0.07934 0.2294 L -0.15885 0.2294 " pathEditMode="relative" rAng="5400000" ptsTypes="AAAA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34" y="1145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639 0.22662 L -0.42639 0.22662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59259E-6 L -0.25 -2.59259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69 L -0.00052 -0.08541 C -0.00052 -0.12315 0.06962 -0.17014 0.12691 -0.17014 L 0.25434 -0.17014 " pathEditMode="relative" rAng="16200000" ptsTypes="AAAA">
                                      <p:cBhvr>
                                        <p:cTn id="6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43" y="-8472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903 0.22917 L -0.31424 0.22546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8387E-17 L 0.20834 -3.78387E-17 C 0.30156 -3.78387E-17 0.41719 -0.08032 0.41719 -0.14537 L 0.41719 -0.29074 " pathEditMode="relative" rAng="0" ptsTypes="AAAA">
                                      <p:cBhvr>
                                        <p:cTn id="8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51" y="-1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559 0.00116 L -0.23559 0.25116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39 0.22662 L -0.42639 0.47662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  <p:bldP spid="18" grpId="0"/>
      <p:bldP spid="20" grpId="0" animBg="1"/>
      <p:bldP spid="20" grpId="1" animBg="1"/>
      <p:bldP spid="20" grpId="2" animBg="1"/>
      <p:bldP spid="20" grpId="3" animBg="1"/>
      <p:bldP spid="21" grpId="0"/>
      <p:bldP spid="21" grpId="1"/>
      <p:bldP spid="23" grpId="0"/>
      <p:bldP spid="23" grpId="1"/>
      <p:bldP spid="24" grpId="0" animBg="1"/>
      <p:bldP spid="24" grpId="1" animBg="1"/>
      <p:bldP spid="27" grpId="0"/>
      <p:bldP spid="27" grpId="1"/>
      <p:bldP spid="22" grpId="0" animBg="1"/>
      <p:bldP spid="22" grpId="1" animBg="1"/>
      <p:bldP spid="22" grpId="2" animBg="1"/>
      <p:bldP spid="22" grpId="3" animBg="1"/>
      <p:bldP spid="32" grpId="0" animBg="1"/>
      <p:bldP spid="32" grpId="1" animBg="1"/>
      <p:bldP spid="33" grpId="0" animBg="1"/>
      <p:bldP spid="33" grpId="1" animBg="1"/>
    </p:bld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Small Summary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64989"/>
            <a:ext cx="8228012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61922"/>
                </a:solidFill>
                <a:latin typeface="Calibri"/>
                <a:cs typeface="Arial" charset="0"/>
              </a:rPr>
              <a:t>Where can a block placed?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One place → direct mapped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 few places → set associative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Any place → full associative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61922"/>
                </a:solidFill>
                <a:latin typeface="Calibri"/>
                <a:cs typeface="Arial" charset="0"/>
              </a:rPr>
              <a:t>What line is replaced on a miss?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</a:rPr>
              <a:t>FIFO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</a:rPr>
              <a:t>LRU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</a:rPr>
              <a:t>Pseudo-LRU</a:t>
            </a:r>
            <a:endParaRPr lang="en-US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61922"/>
                </a:solidFill>
                <a:latin typeface="Calibri"/>
                <a:cs typeface="Arial" charset="0"/>
              </a:rPr>
              <a:t>How are writes handled?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err="1">
                <a:solidFill>
                  <a:prstClr val="black"/>
                </a:solidFill>
                <a:latin typeface="Calibri"/>
              </a:rPr>
              <a:t>WriteThrough</a:t>
            </a:r>
            <a:endParaRPr lang="en-US" sz="2000" kern="12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err="1">
                <a:solidFill>
                  <a:prstClr val="black"/>
                </a:solidFill>
                <a:latin typeface="Calibri"/>
              </a:rPr>
              <a:t>WriteBack</a:t>
            </a:r>
            <a:endParaRPr lang="ru-RU" sz="2000" kern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47938" y="1014189"/>
            <a:ext cx="4572000" cy="161582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61922"/>
                </a:solidFill>
                <a:latin typeface="Calibri"/>
              </a:rPr>
              <a:t>How is a block found?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Indexing → direct mapped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Limited search → set associative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Full search → full associative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4925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75581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5916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12.5|9.4|9.5|12.7|2.8|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4.6|7.2|11.4|18|8|46.4|9.6|18.2|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1|1|12.4|7.7|2.4|2.7|19.3|19.9|12.8|16.2|5.2|3.7|40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25.4|15|9.9|22.1|10.9|7|16.5|8.5|1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5.2|17.9|2.1|12.8|8.6|41.8|49.4|36.1|16|25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5.2|17.9|2.1|12.8|8.6|41.8|49.4|36.1|16|25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5.2|17.9|2.1|12.8|8.6|41.8|49.4|36.1|16|25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5.2|17.9|2.1|12.8|8.6|41.8|49.4|36.1|16|25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5.2|17.9|2.1|12.8|8.6|41.8|49.4|36.1|16|25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5.2|17.9|2.1|12.8|8.6|41.8|49.4|36.1|16|25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1.6|14|3.8|7.6|11.1|12.3|13.5|21.7|12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1.6|14|3.8|7.6|11.1|12.3|13.5|21.7|12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1.6|14|3.8|7.6|11.1|12.3|13.5|21.7|12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7|11.6|9.9|4.5|24.5|12.2|6|7.8|2.4|2.6|20|2.1|8.4|15.3|11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12.1|3.3|8|9|3.8|9.1|5.2|3.4|3.4|5.4|5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5.6|2.9|2.9|2.3|3.4|7.2|5|2.3|1.6|7.6|1.1|7.5|5.4|3.6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4241</TotalTime>
  <Words>1148</Words>
  <Application>Microsoft Office PowerPoint</Application>
  <PresentationFormat>On-screen Show (4:3)</PresentationFormat>
  <Paragraphs>280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MS PGothic</vt:lpstr>
      <vt:lpstr>MS PGothic</vt:lpstr>
      <vt:lpstr>Arial</vt:lpstr>
      <vt:lpstr>Calibri</vt:lpstr>
      <vt:lpstr>Consolas</vt:lpstr>
      <vt:lpstr>Courier New</vt:lpstr>
      <vt:lpstr>Neo Sans Intel</vt:lpstr>
      <vt:lpstr>Neo Sans Intel Light</vt:lpstr>
      <vt:lpstr>Neo Sans Intel Medium</vt:lpstr>
      <vt:lpstr>Times</vt:lpstr>
      <vt:lpstr>Verdana</vt:lpstr>
      <vt:lpstr>Wingdings</vt:lpstr>
      <vt:lpstr>mdsp_2011</vt:lpstr>
      <vt:lpstr> Caches, part II</vt:lpstr>
      <vt:lpstr>Improving Cache Performance</vt:lpstr>
      <vt:lpstr>Refresher: Memory Hierarchy</vt:lpstr>
      <vt:lpstr>Refresher: Caches</vt:lpstr>
      <vt:lpstr>Refresher: Three Types of Cache Misses (3-C)</vt:lpstr>
      <vt:lpstr>Multi-Level Caches</vt:lpstr>
      <vt:lpstr>Prefetching</vt:lpstr>
      <vt:lpstr>Metrics</vt:lpstr>
      <vt:lpstr>Next sequantial</vt:lpstr>
      <vt:lpstr>Stride detection</vt:lpstr>
      <vt:lpstr>Stream detection (1)</vt:lpstr>
      <vt:lpstr>Stream detection (2)</vt:lpstr>
      <vt:lpstr>Writing and Replacement Policies</vt:lpstr>
      <vt:lpstr>Cache Line Replacement</vt:lpstr>
      <vt:lpstr>Pseudo-LRU</vt:lpstr>
      <vt:lpstr>Counterexample</vt:lpstr>
      <vt:lpstr>Write Handling</vt:lpstr>
      <vt:lpstr>Write Back example</vt:lpstr>
      <vt:lpstr>Small Summary</vt:lpstr>
      <vt:lpstr>The End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Smirnov, Igor</cp:lastModifiedBy>
  <cp:revision>276</cp:revision>
  <dcterms:created xsi:type="dcterms:W3CDTF">2011-10-24T08:13:52Z</dcterms:created>
  <dcterms:modified xsi:type="dcterms:W3CDTF">2018-02-20T22:28:38Z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2018-02-20 22:28:38Z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