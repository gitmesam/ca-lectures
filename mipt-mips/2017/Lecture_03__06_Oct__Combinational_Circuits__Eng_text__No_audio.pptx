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0"/>
  </p:notesMasterIdLst>
  <p:handoutMasterIdLst>
    <p:handoutMasterId r:id="rId41"/>
  </p:handoutMasterIdLst>
  <p:sldIdLst>
    <p:sldId id="349" r:id="rId5"/>
    <p:sldId id="385" r:id="rId6"/>
    <p:sldId id="350" r:id="rId7"/>
    <p:sldId id="351" r:id="rId8"/>
    <p:sldId id="352" r:id="rId9"/>
    <p:sldId id="353" r:id="rId10"/>
    <p:sldId id="354" r:id="rId11"/>
    <p:sldId id="374" r:id="rId12"/>
    <p:sldId id="355" r:id="rId13"/>
    <p:sldId id="356" r:id="rId14"/>
    <p:sldId id="357" r:id="rId15"/>
    <p:sldId id="358" r:id="rId16"/>
    <p:sldId id="359" r:id="rId17"/>
    <p:sldId id="360" r:id="rId18"/>
    <p:sldId id="361" r:id="rId19"/>
    <p:sldId id="362" r:id="rId20"/>
    <p:sldId id="363" r:id="rId21"/>
    <p:sldId id="364" r:id="rId22"/>
    <p:sldId id="365" r:id="rId23"/>
    <p:sldId id="366" r:id="rId24"/>
    <p:sldId id="367" r:id="rId25"/>
    <p:sldId id="368" r:id="rId26"/>
    <p:sldId id="369" r:id="rId27"/>
    <p:sldId id="370" r:id="rId28"/>
    <p:sldId id="371" r:id="rId29"/>
    <p:sldId id="375" r:id="rId30"/>
    <p:sldId id="376" r:id="rId31"/>
    <p:sldId id="377" r:id="rId32"/>
    <p:sldId id="378" r:id="rId33"/>
    <p:sldId id="379" r:id="rId34"/>
    <p:sldId id="380" r:id="rId35"/>
    <p:sldId id="381" r:id="rId36"/>
    <p:sldId id="384" r:id="rId37"/>
    <p:sldId id="372" r:id="rId38"/>
    <p:sldId id="373" r:id="rId3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880">
          <p15:clr>
            <a:srgbClr val="A4A3A4"/>
          </p15:clr>
        </p15:guide>
        <p15:guide id="2" pos="288">
          <p15:clr>
            <a:srgbClr val="A4A3A4"/>
          </p15:clr>
        </p15:guide>
        <p15:guide id="3" pos="54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wdeaner" initials="" lastIdx="9" clrIdx="0"/>
  <p:cmAuthor id="1" name="Kister, Merlin D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4008"/>
    <a:srgbClr val="F37021"/>
    <a:srgbClr val="FFC000"/>
    <a:srgbClr val="061922"/>
    <a:srgbClr val="B4BABD"/>
    <a:srgbClr val="D7DF23"/>
    <a:srgbClr val="8DC63F"/>
    <a:srgbClr val="0071C5"/>
    <a:srgbClr val="DDDDDD"/>
    <a:srgbClr val="F1F6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preferSingleView="1">
    <p:restoredLeft sz="9207" autoAdjust="0"/>
    <p:restoredTop sz="99700" autoAdjust="0"/>
  </p:normalViewPr>
  <p:slideViewPr>
    <p:cSldViewPr snapToGrid="0">
      <p:cViewPr varScale="1">
        <p:scale>
          <a:sx n="57" d="100"/>
          <a:sy n="57" d="100"/>
        </p:scale>
        <p:origin x="450" y="72"/>
      </p:cViewPr>
      <p:guideLst>
        <p:guide orient="horz" pos="880"/>
        <p:guide pos="288"/>
        <p:guide pos="547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5" d="100"/>
        <a:sy n="105" d="100"/>
      </p:scale>
      <p:origin x="0" y="0"/>
    </p:cViewPr>
  </p:sorterViewPr>
  <p:notesViewPr>
    <p:cSldViewPr>
      <p:cViewPr>
        <p:scale>
          <a:sx n="100" d="100"/>
          <a:sy n="100" d="100"/>
        </p:scale>
        <p:origin x="3552" y="22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335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914B7C32-9169-49F6-BD7A-5067B8DB0A44}" type="datetimeFigureOut">
              <a:rPr lang="en-US"/>
              <a:pPr>
                <a:defRPr/>
              </a:pPr>
              <a:t>10/6/2017</a:t>
            </a:fld>
            <a:endParaRPr lang="en-US" dirty="0"/>
          </a:p>
        </p:txBody>
      </p:sp>
      <p:sp>
        <p:nvSpPr>
          <p:cNvPr id="8335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335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8375B05B-E607-4D82-B97C-98BFBC66126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5467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fld id="{991E29C4-32EF-49E6-A487-83605AD0B038}" type="datetimeFigureOut">
              <a:rPr lang="en-US"/>
              <a:pPr>
                <a:defRPr/>
              </a:pPr>
              <a:t>10/6/2017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fld id="{C6B57032-B76D-4852-ACCF-DA5A3151FA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7906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6904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288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9520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3164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915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6761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0150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8389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2636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6385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18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1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8707"/>
            <a:ext cx="8269500" cy="3822320"/>
          </a:xfrm>
          <a:prstGeom prst="rect">
            <a:avLst/>
          </a:prstGeom>
        </p:spPr>
      </p:pic>
      <p:sp>
        <p:nvSpPr>
          <p:cNvPr id="4813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624998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2378240" y="4353385"/>
            <a:ext cx="4466738" cy="933589"/>
          </a:xfrm>
        </p:spPr>
        <p:txBody>
          <a:bodyPr wrap="square">
            <a:spAutoFit/>
          </a:bodyPr>
          <a:lstStyle>
            <a:lvl1pPr marL="0" indent="0" algn="l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defRPr sz="2000" b="0" i="0">
                <a:solidFill>
                  <a:schemeClr val="bg1"/>
                </a:solidFill>
                <a:latin typeface="Neo Sans Intel Medium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>
                <a:latin typeface="Verdana" charset="0"/>
              </a:rPr>
              <a:t>Subtitle</a:t>
            </a: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dirty="0" smtClean="0">
                <a:latin typeface="Verdana" charset="0"/>
              </a:rPr>
              <a:t>Additional Info</a:t>
            </a:r>
            <a:endParaRPr lang="en-US" dirty="0" smtClean="0">
              <a:latin typeface="Verdana" charset="0"/>
            </a:endParaRPr>
          </a:p>
          <a:p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PTCovers-02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5600"/>
            <a:ext cx="8257308" cy="4102745"/>
          </a:xfrm>
          <a:prstGeom prst="rect">
            <a:avLst/>
          </a:prstGeom>
        </p:spPr>
      </p:pic>
      <p:sp>
        <p:nvSpPr>
          <p:cNvPr id="8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363972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60188" y="3264183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63880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PTCovers-03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9534"/>
            <a:ext cx="8342654" cy="2904841"/>
          </a:xfrm>
          <a:prstGeom prst="rect">
            <a:avLst/>
          </a:prstGeom>
        </p:spPr>
      </p:pic>
      <p:sp>
        <p:nvSpPr>
          <p:cNvPr id="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782553"/>
            <a:ext cx="6754008" cy="584775"/>
          </a:xfrm>
        </p:spPr>
        <p:txBody>
          <a:bodyPr wrap="squar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+mj-lt"/>
                <a:cs typeface="Neo Sans Intel"/>
              </a:defRPr>
            </a:lvl1pPr>
          </a:lstStyle>
          <a:p>
            <a:r>
              <a:rPr lang="en-US" altLang="ja-JP" dirty="0" smtClean="0"/>
              <a:t>Click to edit Master title style</a:t>
            </a:r>
            <a:endParaRPr lang="en-US" altLang="ja-JP" dirty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59957" y="3750107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2585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4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2543"/>
            <a:ext cx="8495059" cy="3724780"/>
          </a:xfrm>
          <a:prstGeom prst="rect">
            <a:avLst/>
          </a:prstGeom>
        </p:spPr>
      </p:pic>
      <p:sp>
        <p:nvSpPr>
          <p:cNvPr id="10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93531" y="2727579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11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92333" y="3649814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 b="0" i="0">
                <a:solidFill>
                  <a:schemeClr val="bg1"/>
                </a:solidFill>
                <a:latin typeface="Neo Sans Intel Medium"/>
                <a:cs typeface="Neo Sans Intel Medium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5986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6477000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800" b="0" i="0" cap="none">
                <a:solidFill>
                  <a:srgbClr val="FFFFFF"/>
                </a:solidFill>
                <a:latin typeface="+mj-lt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-option 2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4627756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8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5353050" y="0"/>
            <a:ext cx="3790950" cy="6858000"/>
          </a:xfrm>
        </p:spPr>
        <p:txBody>
          <a:bodyPr/>
          <a:lstStyle/>
          <a:p>
            <a:r>
              <a:rPr lang="en-US" dirty="0" smtClean="0"/>
              <a:t>Click icon to add picture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-option 3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-7684"/>
            <a:ext cx="9144000" cy="6858000"/>
          </a:xfrm>
        </p:spPr>
        <p:txBody>
          <a:bodyPr/>
          <a:lstStyle/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62466" y="584201"/>
            <a:ext cx="4627756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6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379539"/>
            <a:ext cx="4037012" cy="4537075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025" y="1379539"/>
            <a:ext cx="4038600" cy="4537075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6477000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40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94009940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White Logo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Blu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https://mipt.ru/upload/medialibrary/d39/eng_text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12" y="0"/>
            <a:ext cx="7988965" cy="4337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ntel_rgb_3000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070" y="4190460"/>
            <a:ext cx="2898648" cy="19111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4025" y="75690"/>
            <a:ext cx="82296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995929"/>
            <a:ext cx="8228012" cy="4920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smtClean="0"/>
              <a:t>Click to edit Master text styles</a:t>
            </a:r>
          </a:p>
          <a:p>
            <a:pPr lvl="1"/>
            <a:r>
              <a:rPr lang="en-US" altLang="ja-JP" dirty="0" smtClean="0"/>
              <a:t>Second level</a:t>
            </a:r>
          </a:p>
          <a:p>
            <a:pPr lvl="2"/>
            <a:r>
              <a:rPr lang="en-US" altLang="ja-JP" dirty="0" smtClean="0"/>
              <a:t>Third level</a:t>
            </a:r>
          </a:p>
          <a:p>
            <a:pPr lvl="3"/>
            <a:r>
              <a:rPr lang="en-US" altLang="ja-JP" dirty="0" smtClean="0"/>
              <a:t>Fourth level</a:t>
            </a:r>
          </a:p>
          <a:p>
            <a:pPr lvl="4"/>
            <a:r>
              <a:rPr lang="en-US" altLang="ja-JP" dirty="0" smtClean="0"/>
              <a:t>Fifth level</a:t>
            </a:r>
          </a:p>
        </p:txBody>
      </p:sp>
      <p:pic>
        <p:nvPicPr>
          <p:cNvPr id="5" name="Picture 4" descr="Intel_footer_121410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0" y="6362701"/>
            <a:ext cx="9144000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6596390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1050" b="1" i="0" smtClean="0">
                <a:solidFill>
                  <a:schemeClr val="bg1"/>
                </a:solidFill>
                <a:latin typeface="+mj-lt"/>
                <a:ea typeface="Verdana" pitchFamily="34" charset="0"/>
                <a:cs typeface="Neo Sans Intel"/>
              </a:rPr>
              <a:pPr/>
              <a:t>‹#›</a:t>
            </a:fld>
            <a:endParaRPr lang="en-US" sz="1050" b="1" i="0" dirty="0">
              <a:solidFill>
                <a:schemeClr val="bg1"/>
              </a:solidFill>
              <a:latin typeface="+mj-lt"/>
              <a:ea typeface="Verdana" pitchFamily="34" charset="0"/>
              <a:cs typeface="Neo Sans Intel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360996" y="6488794"/>
            <a:ext cx="45710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b="1" kern="900" spc="120" dirty="0" smtClean="0">
                <a:solidFill>
                  <a:schemeClr val="bg1"/>
                </a:solidFill>
                <a:latin typeface="+mj-lt"/>
              </a:rPr>
              <a:t>MIPT-MIPS</a:t>
            </a:r>
            <a:r>
              <a:rPr lang="en-US" sz="1000" b="1" kern="900" spc="120" baseline="0" dirty="0" smtClean="0">
                <a:solidFill>
                  <a:schemeClr val="bg1"/>
                </a:solidFill>
                <a:latin typeface="+mj-lt"/>
              </a:rPr>
              <a:t> 2017</a:t>
            </a:r>
            <a:endParaRPr lang="ru-RU" sz="1000" b="1" kern="900" spc="120" dirty="0" smtClean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28" name="Picture 4" descr="https://mipt.ru/upload/medialibrary/056/eng_inversion.jpg"/>
          <p:cNvPicPr>
            <a:picLocks noChangeAspect="1" noChangeArrowheads="1"/>
          </p:cNvPicPr>
          <p:nvPr userDrawn="1"/>
        </p:nvPicPr>
        <p:blipFill>
          <a:blip r:embed="rId17" cstate="print">
            <a:clrChange>
              <a:clrFrom>
                <a:srgbClr val="4C79BC"/>
              </a:clrFrom>
              <a:clrTo>
                <a:srgbClr val="4C79B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1143" y="6331463"/>
            <a:ext cx="1077432" cy="550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956" r:id="rId1"/>
    <p:sldLayoutId id="2147485972" r:id="rId2"/>
    <p:sldLayoutId id="2147485973" r:id="rId3"/>
    <p:sldLayoutId id="2147485974" r:id="rId4"/>
    <p:sldLayoutId id="2147485963" r:id="rId5"/>
    <p:sldLayoutId id="2147485976" r:id="rId6"/>
    <p:sldLayoutId id="2147485977" r:id="rId7"/>
    <p:sldLayoutId id="2147485957" r:id="rId8"/>
    <p:sldLayoutId id="2147485959" r:id="rId9"/>
    <p:sldLayoutId id="2147485961" r:id="rId10"/>
    <p:sldLayoutId id="2147485962" r:id="rId11"/>
    <p:sldLayoutId id="2147485975" r:id="rId12"/>
    <p:sldLayoutId id="2147485964" r:id="rId13"/>
    <p:sldLayoutId id="2147485971" r:id="rId14"/>
  </p:sldLayoutIdLst>
  <p:transition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ctr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3000" b="0" i="0">
          <a:solidFill>
            <a:schemeClr val="accent1"/>
          </a:solidFill>
          <a:latin typeface="+mj-lt"/>
          <a:ea typeface="+mj-ea"/>
          <a:cs typeface="Neo Sans Intel"/>
        </a:defRPr>
      </a:lvl1pPr>
      <a:lvl2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2pPr>
      <a:lvl3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3pPr>
      <a:lvl4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4pPr>
      <a:lvl5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5pPr>
      <a:lvl6pPr marL="4572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6pPr>
      <a:lvl7pPr marL="9144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7pPr>
      <a:lvl8pPr marL="1371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8pPr>
      <a:lvl9pPr marL="18288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9pPr>
    </p:titleStyle>
    <p:bodyStyle>
      <a:lvl1pPr marL="0" indent="0" algn="l" rtl="0" eaLnBrk="1" fontAlgn="base" hangingPunct="1">
        <a:spcBef>
          <a:spcPct val="75000"/>
        </a:spcBef>
        <a:spcAft>
          <a:spcPct val="0"/>
        </a:spcAft>
        <a:defRPr sz="2400" b="0" i="0">
          <a:solidFill>
            <a:schemeClr val="tx1"/>
          </a:solidFill>
          <a:latin typeface="+mj-lt"/>
          <a:ea typeface="+mn-ea"/>
          <a:cs typeface="Neo Sans Intel"/>
        </a:defRPr>
      </a:lvl1pPr>
      <a:lvl2pPr marL="185738" indent="-184150" algn="l" rtl="0" eaLnBrk="1" fontAlgn="base" hangingPunct="1">
        <a:spcBef>
          <a:spcPct val="40000"/>
        </a:spcBef>
        <a:spcAft>
          <a:spcPct val="0"/>
        </a:spcAft>
        <a:buClr>
          <a:schemeClr val="tx1"/>
        </a:buClr>
        <a:buFont typeface="Times" pitchFamily="18" charset="0"/>
        <a:buChar char="•"/>
        <a:defRPr sz="2200" b="0" i="0">
          <a:solidFill>
            <a:schemeClr val="tx1"/>
          </a:solidFill>
          <a:latin typeface="+mj-lt"/>
          <a:cs typeface="Neo Sans Intel"/>
        </a:defRPr>
      </a:lvl2pPr>
      <a:lvl3pPr marL="414338" indent="-227013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2000" b="0" i="0">
          <a:solidFill>
            <a:schemeClr val="tx1"/>
          </a:solidFill>
          <a:latin typeface="+mj-lt"/>
          <a:cs typeface="Neo Sans Intel"/>
        </a:defRPr>
      </a:lvl3pPr>
      <a:lvl4pPr marL="568325" indent="-1524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1800" b="0" i="0">
          <a:solidFill>
            <a:schemeClr val="tx1"/>
          </a:solidFill>
          <a:latin typeface="+mj-lt"/>
          <a:cs typeface="Neo Sans Intel"/>
        </a:defRPr>
      </a:lvl4pPr>
      <a:lvl5pPr marL="7620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800" b="0" i="0">
          <a:solidFill>
            <a:schemeClr val="tx1"/>
          </a:solidFill>
          <a:latin typeface="+mj-lt"/>
          <a:cs typeface="Neo Sans Intel"/>
        </a:defRPr>
      </a:lvl5pPr>
      <a:lvl6pPr marL="12192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6pPr>
      <a:lvl7pPr marL="16764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7pPr>
      <a:lvl8pPr marL="21336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8pPr>
      <a:lvl9pPr marL="25908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Combinational Circuits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59957" y="3750107"/>
            <a:ext cx="4343400" cy="492443"/>
          </a:xfrm>
        </p:spPr>
        <p:txBody>
          <a:bodyPr/>
          <a:lstStyle/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/>
              <a:t>Pavel Kryukov</a:t>
            </a:r>
            <a:br>
              <a:rPr lang="en-US" dirty="0" smtClean="0"/>
            </a:br>
            <a:r>
              <a:rPr lang="en-US" dirty="0" smtClean="0"/>
              <a:t>06/10/2017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61190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slides contain material developed </a:t>
            </a:r>
            <a:r>
              <a:rPr lang="en-US" dirty="0" smtClean="0"/>
              <a:t>and copyright </a:t>
            </a:r>
            <a:r>
              <a:rPr lang="en-US" dirty="0"/>
              <a:t>by</a:t>
            </a:r>
            <a:r>
              <a:rPr lang="en-US" dirty="0" smtClean="0"/>
              <a:t>:</a:t>
            </a:r>
          </a:p>
          <a:p>
            <a:pPr marL="574675" indent="-342900">
              <a:buFont typeface="Arial" pitchFamily="34" charset="0"/>
              <a:buChar char="•"/>
            </a:pPr>
            <a:r>
              <a:rPr lang="en-US" dirty="0" smtClean="0"/>
              <a:t>Alexandr Titov (MIPT), Digital Circuit Design</a:t>
            </a:r>
          </a:p>
        </p:txBody>
      </p:sp>
    </p:spTree>
    <p:extLst>
      <p:ext uri="{BB962C8B-B14F-4D97-AF65-F5344CB8AC3E}">
        <p14:creationId xmlns:p14="http://schemas.microsoft.com/office/powerpoint/2010/main" val="81229472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Layers of Abstraction in Computes Science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2085375" y="1039903"/>
            <a:ext cx="4632576" cy="3257794"/>
            <a:chOff x="2300535" y="1039903"/>
            <a:chExt cx="4632576" cy="3257794"/>
          </a:xfrm>
        </p:grpSpPr>
        <p:sp>
          <p:nvSpPr>
            <p:cNvPr id="4" name="Rounded Rectangle 3"/>
            <p:cNvSpPr/>
            <p:nvPr/>
          </p:nvSpPr>
          <p:spPr bwMode="auto">
            <a:xfrm>
              <a:off x="2300535" y="1039903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dirty="0" smtClean="0">
                  <a:latin typeface="+mj-lt"/>
                  <a:cs typeface="Arial" pitchFamily="34" charset="0"/>
                </a:rPr>
                <a:t>Application</a:t>
              </a:r>
            </a:p>
          </p:txBody>
        </p:sp>
        <p:sp>
          <p:nvSpPr>
            <p:cNvPr id="5" name="Rounded Rectangle 4"/>
            <p:cNvSpPr/>
            <p:nvPr/>
          </p:nvSpPr>
          <p:spPr bwMode="auto">
            <a:xfrm>
              <a:off x="2300535" y="1586689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dirty="0" smtClean="0">
                  <a:latin typeface="+mj-lt"/>
                  <a:cs typeface="Arial" pitchFamily="34" charset="0"/>
                </a:rPr>
                <a:t>Algorithms</a:t>
              </a:r>
            </a:p>
          </p:txBody>
        </p:sp>
        <p:sp>
          <p:nvSpPr>
            <p:cNvPr id="6" name="Rounded Rectangle 5"/>
            <p:cNvSpPr/>
            <p:nvPr/>
          </p:nvSpPr>
          <p:spPr bwMode="auto">
            <a:xfrm>
              <a:off x="2300535" y="2133475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dirty="0" smtClean="0">
                  <a:latin typeface="+mj-lt"/>
                  <a:cs typeface="Arial" pitchFamily="34" charset="0"/>
                </a:rPr>
                <a:t>Programming Language</a:t>
              </a:r>
            </a:p>
          </p:txBody>
        </p:sp>
        <p:sp>
          <p:nvSpPr>
            <p:cNvPr id="7" name="Rounded Rectangle 6"/>
            <p:cNvSpPr/>
            <p:nvPr/>
          </p:nvSpPr>
          <p:spPr bwMode="auto">
            <a:xfrm>
              <a:off x="2300535" y="2680261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dirty="0" smtClean="0">
                  <a:latin typeface="+mj-lt"/>
                  <a:cs typeface="Arial" pitchFamily="34" charset="0"/>
                </a:rPr>
                <a:t>Operating System</a:t>
              </a:r>
            </a:p>
          </p:txBody>
        </p:sp>
        <p:sp>
          <p:nvSpPr>
            <p:cNvPr id="8" name="Rounded Rectangle 7"/>
            <p:cNvSpPr/>
            <p:nvPr/>
          </p:nvSpPr>
          <p:spPr bwMode="auto">
            <a:xfrm>
              <a:off x="2300535" y="3227047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dirty="0" smtClean="0">
                  <a:latin typeface="+mj-lt"/>
                  <a:cs typeface="Arial" pitchFamily="34" charset="0"/>
                </a:rPr>
                <a:t>Instruction Set Architecture</a:t>
              </a:r>
            </a:p>
          </p:txBody>
        </p:sp>
        <p:sp>
          <p:nvSpPr>
            <p:cNvPr id="12" name="Rounded Rectangle 11"/>
            <p:cNvSpPr/>
            <p:nvPr/>
          </p:nvSpPr>
          <p:spPr bwMode="auto">
            <a:xfrm>
              <a:off x="2300535" y="3773833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dirty="0" smtClean="0">
                  <a:latin typeface="+mj-lt"/>
                  <a:cs typeface="Arial" pitchFamily="34" charset="0"/>
                </a:rPr>
                <a:t>Microarchitecture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085375" y="4320619"/>
            <a:ext cx="4632576" cy="1617435"/>
            <a:chOff x="2300535" y="4320619"/>
            <a:chExt cx="4632576" cy="1617435"/>
          </a:xfrm>
        </p:grpSpPr>
        <p:sp>
          <p:nvSpPr>
            <p:cNvPr id="9" name="Rounded Rectangle 8"/>
            <p:cNvSpPr/>
            <p:nvPr/>
          </p:nvSpPr>
          <p:spPr bwMode="auto">
            <a:xfrm>
              <a:off x="2300535" y="4320619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dirty="0" smtClean="0">
                  <a:latin typeface="+mj-lt"/>
                  <a:cs typeface="Arial" pitchFamily="34" charset="0"/>
                </a:rPr>
                <a:t>Gates/Register-Transfer Level (RTL)</a:t>
              </a:r>
            </a:p>
          </p:txBody>
        </p:sp>
        <p:sp>
          <p:nvSpPr>
            <p:cNvPr id="10" name="Rounded Rectangle 9"/>
            <p:cNvSpPr/>
            <p:nvPr/>
          </p:nvSpPr>
          <p:spPr bwMode="auto">
            <a:xfrm>
              <a:off x="2300535" y="4867405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dirty="0" smtClean="0">
                  <a:latin typeface="+mj-lt"/>
                  <a:cs typeface="Arial" pitchFamily="34" charset="0"/>
                </a:rPr>
                <a:t>Circuits</a:t>
              </a:r>
            </a:p>
          </p:txBody>
        </p:sp>
        <p:sp>
          <p:nvSpPr>
            <p:cNvPr id="11" name="Rounded Rectangle 10"/>
            <p:cNvSpPr/>
            <p:nvPr/>
          </p:nvSpPr>
          <p:spPr bwMode="auto">
            <a:xfrm>
              <a:off x="2300535" y="5414190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dirty="0" smtClean="0">
                  <a:latin typeface="+mj-lt"/>
                  <a:cs typeface="Arial" pitchFamily="34" charset="0"/>
                </a:rPr>
                <a:t>Physics</a:t>
              </a:r>
            </a:p>
          </p:txBody>
        </p:sp>
      </p:grpSp>
      <p:sp>
        <p:nvSpPr>
          <p:cNvPr id="15" name="Rectangle 14"/>
          <p:cNvSpPr/>
          <p:nvPr/>
        </p:nvSpPr>
        <p:spPr bwMode="auto">
          <a:xfrm>
            <a:off x="2040550" y="941294"/>
            <a:ext cx="4736759" cy="3365368"/>
          </a:xfrm>
          <a:prstGeom prst="rect">
            <a:avLst/>
          </a:prstGeom>
          <a:solidFill>
            <a:schemeClr val="bg1">
              <a:alpha val="90000"/>
            </a:schemeClr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smtClean="0">
              <a:latin typeface="+mj-lt"/>
              <a:cs typeface="Arial" pitchFamily="34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2033283" y="4867405"/>
            <a:ext cx="4736759" cy="13482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5000"/>
                </a:schemeClr>
              </a:gs>
              <a:gs pos="100000">
                <a:schemeClr val="bg1">
                  <a:alpha val="29000"/>
                </a:schemeClr>
              </a:gs>
            </a:gsLst>
            <a:lin ang="16200000" scaled="0"/>
            <a:tileRect/>
          </a:gra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smtClean="0">
              <a:latin typeface="+mj-lt"/>
              <a:cs typeface="Arial" pitchFamily="34" charset="0"/>
            </a:endParaRPr>
          </a:p>
        </p:txBody>
      </p:sp>
      <p:sp>
        <p:nvSpPr>
          <p:cNvPr id="16" name="Left Brace 15"/>
          <p:cNvSpPr/>
          <p:nvPr/>
        </p:nvSpPr>
        <p:spPr bwMode="auto">
          <a:xfrm>
            <a:off x="1833559" y="4320619"/>
            <a:ext cx="162046" cy="1617435"/>
          </a:xfrm>
          <a:prstGeom prst="leftBrace">
            <a:avLst>
              <a:gd name="adj1" fmla="val 38114"/>
              <a:gd name="adj2" fmla="val 50000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-26901" y="4791193"/>
            <a:ext cx="17660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 smtClean="0">
                <a:latin typeface="+mj-lt"/>
              </a:rPr>
              <a:t>Topics of </a:t>
            </a:r>
          </a:p>
          <a:p>
            <a:pPr algn="r"/>
            <a:r>
              <a:rPr lang="en-US" sz="2000" dirty="0" smtClean="0">
                <a:latin typeface="+mj-lt"/>
              </a:rPr>
              <a:t>this lecture</a:t>
            </a:r>
          </a:p>
        </p:txBody>
      </p:sp>
      <p:sp>
        <p:nvSpPr>
          <p:cNvPr id="45" name="Right Arrow 44"/>
          <p:cNvSpPr/>
          <p:nvPr/>
        </p:nvSpPr>
        <p:spPr bwMode="auto">
          <a:xfrm rot="16200000">
            <a:off x="6252216" y="4933808"/>
            <a:ext cx="1613647" cy="512305"/>
          </a:xfrm>
          <a:prstGeom prst="rightArrow">
            <a:avLst/>
          </a:prstGeom>
          <a:gradFill flip="none" rotWithShape="1">
            <a:gsLst>
              <a:gs pos="5000">
                <a:schemeClr val="bg1"/>
              </a:gs>
              <a:gs pos="95000">
                <a:schemeClr val="accent1"/>
              </a:gs>
            </a:gsLst>
            <a:lin ang="0" scaled="0"/>
            <a:tileRect/>
          </a:gra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smtClean="0">
              <a:latin typeface="+mj-lt"/>
              <a:cs typeface="Arial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315192" y="4957678"/>
            <a:ext cx="1766045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 smtClean="0">
                <a:solidFill>
                  <a:schemeClr val="accent1"/>
                </a:solidFill>
                <a:latin typeface="+mj-lt"/>
              </a:rPr>
              <a:t>Less</a:t>
            </a:r>
            <a:r>
              <a:rPr lang="en-US" sz="1700" dirty="0" smtClean="0">
                <a:latin typeface="+mj-lt"/>
              </a:rPr>
              <a:t> about physics, wires and  transistors…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192" y="4345789"/>
            <a:ext cx="176604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chemeClr val="accent1"/>
                </a:solidFill>
                <a:latin typeface="+mj-lt"/>
              </a:rPr>
              <a:t>More </a:t>
            </a:r>
            <a:r>
              <a:rPr lang="en-US" sz="1700" dirty="0">
                <a:latin typeface="+mj-lt"/>
              </a:rPr>
              <a:t>about logical circuits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72454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8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2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42" grpId="0" animBg="1"/>
      <p:bldP spid="16" grpId="0" animBg="1"/>
      <p:bldP spid="17" grpId="0"/>
      <p:bldP spid="45" grpId="0" animBg="1"/>
      <p:bldP spid="46" grpId="0"/>
      <p:bldP spid="47" grpId="0"/>
    </p:bldLst>
  </p:timing>
  <p:extLst mod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 bwMode="auto">
          <a:xfrm>
            <a:off x="3258589" y="4113440"/>
            <a:ext cx="1847088" cy="85953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dirty="0" smtClean="0">
              <a:solidFill>
                <a:srgbClr val="FDB813">
                  <a:lumMod val="50000"/>
                </a:srgbClr>
              </a:solidFill>
              <a:latin typeface="+mj-lt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Abstracting From Physics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1086923"/>
            <a:ext cx="6380956" cy="1732477"/>
          </a:xfrm>
        </p:spPr>
        <p:txBody>
          <a:bodyPr/>
          <a:lstStyle/>
          <a:p>
            <a:pPr marL="342900" indent="-342900">
              <a:spcBef>
                <a:spcPts val="600"/>
              </a:spcBef>
              <a:buFont typeface="Courier New" pitchFamily="49" charset="0"/>
              <a:buChar char="o"/>
            </a:pPr>
            <a:r>
              <a:rPr lang="en-US" sz="2000" dirty="0" smtClean="0"/>
              <a:t>Real physical </a:t>
            </a:r>
            <a:r>
              <a:rPr lang="en-US" sz="2000" dirty="0"/>
              <a:t>circuits deal with physical properties, such as </a:t>
            </a:r>
            <a:r>
              <a:rPr lang="en-US" sz="2000" i="1" dirty="0"/>
              <a:t>voltages</a:t>
            </a:r>
            <a:r>
              <a:rPr lang="en-US" sz="2000" dirty="0"/>
              <a:t> and </a:t>
            </a:r>
            <a:r>
              <a:rPr lang="en-US" sz="2000" i="1" dirty="0" smtClean="0"/>
              <a:t>currents</a:t>
            </a:r>
          </a:p>
          <a:p>
            <a:pPr marL="342900" indent="-342900">
              <a:spcBef>
                <a:spcPts val="600"/>
              </a:spcBef>
              <a:buFont typeface="Courier New" pitchFamily="49" charset="0"/>
              <a:buChar char="o"/>
            </a:pPr>
            <a:r>
              <a:rPr lang="en-US" sz="2000" dirty="0" smtClean="0">
                <a:solidFill>
                  <a:schemeClr val="accent1"/>
                </a:solidFill>
              </a:rPr>
              <a:t>Digital circuits </a:t>
            </a:r>
            <a:r>
              <a:rPr lang="en-US" sz="2000" dirty="0" smtClean="0"/>
              <a:t>use the abstractions of 0 and 1 to represent the presence or absence of these physical properties (signals) rather than a continuous range</a:t>
            </a:r>
            <a:endParaRPr lang="en-US" sz="2000" dirty="0"/>
          </a:p>
        </p:txBody>
      </p:sp>
      <p:sp>
        <p:nvSpPr>
          <p:cNvPr id="4" name="Rectangle 3"/>
          <p:cNvSpPr/>
          <p:nvPr/>
        </p:nvSpPr>
        <p:spPr bwMode="auto">
          <a:xfrm>
            <a:off x="3258589" y="3352424"/>
            <a:ext cx="1844040" cy="75438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b="1" dirty="0" smtClean="0">
                <a:solidFill>
                  <a:srgbClr val="061922"/>
                </a:solidFill>
                <a:latin typeface="+mj-lt"/>
                <a:cs typeface="Arial" pitchFamily="34" charset="0"/>
              </a:rPr>
              <a:t>Logic </a:t>
            </a:r>
            <a:r>
              <a:rPr lang="en-US" sz="2800" b="1" dirty="0" smtClean="0">
                <a:solidFill>
                  <a:srgbClr val="061922"/>
                </a:solidFill>
                <a:latin typeface="+mj-lt"/>
                <a:cs typeface="Consolas" pitchFamily="49" charset="0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3258589" y="4961768"/>
            <a:ext cx="1844040" cy="75438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b="1" dirty="0">
                <a:solidFill>
                  <a:srgbClr val="061922"/>
                </a:solidFill>
                <a:latin typeface="+mj-lt"/>
                <a:cs typeface="Arial" pitchFamily="34" charset="0"/>
              </a:rPr>
              <a:t>Logic </a:t>
            </a:r>
            <a:r>
              <a:rPr lang="en-US" sz="2800" b="1" dirty="0">
                <a:solidFill>
                  <a:srgbClr val="061922"/>
                </a:solidFill>
                <a:latin typeface="+mj-lt"/>
                <a:cs typeface="Consolas" pitchFamily="49" charset="0"/>
              </a:rPr>
              <a:t>0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3258589" y="4106804"/>
            <a:ext cx="1844040" cy="431292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b="1" dirty="0" smtClean="0">
                <a:solidFill>
                  <a:srgbClr val="FDB813">
                    <a:lumMod val="50000"/>
                  </a:srgbClr>
                </a:solidFill>
                <a:latin typeface="+mj-lt"/>
                <a:cs typeface="Arial" pitchFamily="34" charset="0"/>
              </a:rPr>
              <a:t>Weak 1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3258589" y="4538096"/>
            <a:ext cx="1844040" cy="42976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b="1" dirty="0" smtClean="0">
                <a:solidFill>
                  <a:srgbClr val="FDB813">
                    <a:lumMod val="50000"/>
                  </a:srgbClr>
                </a:solidFill>
                <a:latin typeface="+mj-lt"/>
                <a:cs typeface="Arial" pitchFamily="34" charset="0"/>
              </a:rPr>
              <a:t>Weak </a:t>
            </a:r>
            <a:r>
              <a:rPr lang="en-US" sz="2400" b="1" dirty="0" smtClean="0">
                <a:solidFill>
                  <a:srgbClr val="FDB813">
                    <a:lumMod val="50000"/>
                  </a:srgbClr>
                </a:solidFill>
                <a:latin typeface="+mj-lt"/>
                <a:cs typeface="Consolas" pitchFamily="49" charset="0"/>
              </a:rPr>
              <a:t>0</a:t>
            </a:r>
            <a:endParaRPr lang="en-US" sz="2000" b="1" dirty="0" smtClean="0">
              <a:solidFill>
                <a:srgbClr val="FDB813">
                  <a:lumMod val="50000"/>
                </a:srgbClr>
              </a:solidFill>
              <a:latin typeface="+mj-lt"/>
              <a:cs typeface="Consolas" pitchFamily="49" charset="0"/>
            </a:endParaRPr>
          </a:p>
        </p:txBody>
      </p:sp>
      <p:sp>
        <p:nvSpPr>
          <p:cNvPr id="10" name="Right Brace 9"/>
          <p:cNvSpPr/>
          <p:nvPr/>
        </p:nvSpPr>
        <p:spPr bwMode="auto">
          <a:xfrm>
            <a:off x="5222756" y="4106804"/>
            <a:ext cx="206188" cy="854964"/>
          </a:xfrm>
          <a:prstGeom prst="rightBrace">
            <a:avLst>
              <a:gd name="adj1" fmla="val 40362"/>
              <a:gd name="adj2" fmla="val 50000"/>
            </a:avLst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 sz="2000" b="1" smtClean="0">
              <a:solidFill>
                <a:srgbClr val="061922"/>
              </a:solidFill>
              <a:latin typeface="+mj-lt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28944" y="4310258"/>
            <a:ext cx="12500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+mj-lt"/>
              </a:rPr>
              <a:t>undefined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4606" y="3041774"/>
            <a:ext cx="5180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 smtClean="0">
                <a:solidFill>
                  <a:srgbClr val="061922"/>
                </a:solidFill>
                <a:latin typeface="+mj-lt"/>
              </a:rPr>
              <a:t>5 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0827" y="3800234"/>
            <a:ext cx="7120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 smtClean="0">
                <a:solidFill>
                  <a:srgbClr val="061922"/>
                </a:solidFill>
                <a:latin typeface="+mj-lt"/>
              </a:rPr>
              <a:t>3.5 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3713" y="4659492"/>
            <a:ext cx="7120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 smtClean="0">
                <a:solidFill>
                  <a:srgbClr val="061922"/>
                </a:solidFill>
                <a:latin typeface="+mj-lt"/>
              </a:rPr>
              <a:t>1.5 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4469" y="5407776"/>
            <a:ext cx="5180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 smtClean="0">
                <a:solidFill>
                  <a:srgbClr val="061922"/>
                </a:solidFill>
                <a:latin typeface="+mj-lt"/>
              </a:rPr>
              <a:t>0 V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1697003" y="2585535"/>
            <a:ext cx="1182491" cy="3130614"/>
            <a:chOff x="648214" y="2936431"/>
            <a:chExt cx="1182491" cy="3130614"/>
          </a:xfrm>
        </p:grpSpPr>
        <p:cxnSp>
          <p:nvCxnSpPr>
            <p:cNvPr id="17" name="Straight Arrow Connector 16"/>
            <p:cNvCxnSpPr/>
            <p:nvPr/>
          </p:nvCxnSpPr>
          <p:spPr bwMode="auto">
            <a:xfrm flipV="1">
              <a:off x="1828800" y="3068320"/>
              <a:ext cx="1905" cy="2998725"/>
            </a:xfrm>
            <a:prstGeom prst="straightConnector1">
              <a:avLst/>
            </a:prstGeom>
            <a:ln>
              <a:headEnd type="none" w="sm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648214" y="2936431"/>
              <a:ext cx="1095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 smtClean="0">
                  <a:solidFill>
                    <a:srgbClr val="061922"/>
                  </a:solidFill>
                  <a:latin typeface="+mj-lt"/>
                </a:rPr>
                <a:t>voltage</a:t>
              </a:r>
            </a:p>
          </p:txBody>
        </p:sp>
      </p:grpSp>
      <p:cxnSp>
        <p:nvCxnSpPr>
          <p:cNvPr id="23" name="Straight Connector 22"/>
          <p:cNvCxnSpPr/>
          <p:nvPr/>
        </p:nvCxnSpPr>
        <p:spPr bwMode="auto">
          <a:xfrm>
            <a:off x="2725189" y="5716148"/>
            <a:ext cx="308610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Line Callout 2 (No Border) 24"/>
          <p:cNvSpPr/>
          <p:nvPr/>
        </p:nvSpPr>
        <p:spPr>
          <a:xfrm>
            <a:off x="5913038" y="2816368"/>
            <a:ext cx="3047999" cy="1360759"/>
          </a:xfrm>
          <a:prstGeom prst="callout2">
            <a:avLst>
              <a:gd name="adj1" fmla="val 78870"/>
              <a:gd name="adj2" fmla="val 3651"/>
              <a:gd name="adj3" fmla="val 102446"/>
              <a:gd name="adj4" fmla="val 1229"/>
              <a:gd name="adj5" fmla="val 114050"/>
              <a:gd name="adj6" fmla="val -7586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  <a:tailEnd type="stealth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15888" indent="-115888"/>
            <a:r>
              <a:rPr lang="en-US" sz="1600" dirty="0" smtClean="0">
                <a:solidFill>
                  <a:srgbClr val="061922"/>
                </a:solidFill>
                <a:latin typeface="+mj-lt"/>
              </a:rPr>
              <a:t>It could not be a stable state: </a:t>
            </a:r>
            <a:r>
              <a:rPr lang="en-US" sz="1600" dirty="0">
                <a:solidFill>
                  <a:srgbClr val="939598">
                    <a:lumMod val="75000"/>
                  </a:srgbClr>
                </a:solidFill>
                <a:latin typeface="+mj-lt"/>
              </a:rPr>
              <a:t>should not occur in the circuit except during transitions from one state </a:t>
            </a:r>
            <a:r>
              <a:rPr lang="en-US" sz="1600" dirty="0" smtClean="0">
                <a:solidFill>
                  <a:srgbClr val="939598">
                    <a:lumMod val="75000"/>
                  </a:srgbClr>
                </a:solidFill>
                <a:latin typeface="+mj-lt"/>
              </a:rPr>
              <a:t>to he other</a:t>
            </a:r>
            <a:endParaRPr lang="en-US" sz="1600" dirty="0">
              <a:solidFill>
                <a:srgbClr val="939598">
                  <a:lumMod val="75000"/>
                </a:srgbClr>
              </a:solidFill>
              <a:latin typeface="+mj-lt"/>
            </a:endParaRPr>
          </a:p>
        </p:txBody>
      </p:sp>
      <p:cxnSp>
        <p:nvCxnSpPr>
          <p:cNvPr id="28" name="Straight Connector 27"/>
          <p:cNvCxnSpPr/>
          <p:nvPr/>
        </p:nvCxnSpPr>
        <p:spPr bwMode="auto">
          <a:xfrm>
            <a:off x="2725189" y="4961768"/>
            <a:ext cx="308610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 bwMode="auto">
          <a:xfrm>
            <a:off x="2725189" y="4113440"/>
            <a:ext cx="308610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 bwMode="auto">
          <a:xfrm>
            <a:off x="2723284" y="3352424"/>
            <a:ext cx="308610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4025" y="5825500"/>
            <a:ext cx="812193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Courier New" pitchFamily="49" charset="0"/>
              <a:buChar char="o"/>
            </a:pPr>
            <a:r>
              <a:rPr lang="en-US" sz="2000" dirty="0" smtClean="0">
                <a:solidFill>
                  <a:schemeClr val="accent1"/>
                </a:solidFill>
                <a:latin typeface="+mj-lt"/>
              </a:rPr>
              <a:t>Boolean algebra </a:t>
            </a:r>
            <a:r>
              <a:rPr lang="en-US" sz="2000" dirty="0" smtClean="0">
                <a:latin typeface="+mj-lt"/>
              </a:rPr>
              <a:t>describes two-stated systems</a:t>
            </a:r>
            <a:endParaRPr lang="en-US" sz="20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6950321" y="145574"/>
                <a:ext cx="1937771" cy="2186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𝛻</m:t>
                      </m:r>
                      <m:r>
                        <a:rPr lang="en-US" sz="20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000" b="1" i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𝐃</m:t>
                      </m:r>
                      <m:r>
                        <a:rPr lang="en-US" sz="20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0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𝛻</m:t>
                      </m:r>
                      <m:r>
                        <a:rPr lang="en-US" sz="20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000" b="1" i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𝐁</m:t>
                      </m:r>
                      <m:r>
                        <a:rPr lang="en-US" sz="20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𝛻</m:t>
                      </m:r>
                      <m:r>
                        <a:rPr lang="en-US" sz="20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000" b="1" i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𝐄</m:t>
                      </m:r>
                      <m:r>
                        <a:rPr lang="en-US" sz="20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0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1" i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𝐁</m:t>
                          </m:r>
                        </m:num>
                        <m:den>
                          <m:r>
                            <a:rPr lang="en-US" sz="20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𝛻</m:t>
                      </m:r>
                      <m:r>
                        <a:rPr lang="en-US" sz="20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000" b="1" i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𝐇</m:t>
                      </m:r>
                      <m:r>
                        <a:rPr lang="en-US" sz="20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𝐣</m:t>
                      </m:r>
                      <m:r>
                        <a:rPr lang="en-US" sz="2000" b="1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1" i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𝐃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ru-RU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endParaRPr lang="ru-RU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0321" y="145574"/>
                <a:ext cx="1937771" cy="218611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7344041" y="-196812"/>
            <a:ext cx="1289135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600" dirty="0">
                <a:solidFill>
                  <a:srgbClr val="FF0000"/>
                </a:solidFill>
                <a:latin typeface="+mj-lt"/>
              </a:rPr>
              <a:t>X</a:t>
            </a:r>
            <a:endParaRPr lang="ru-RU" sz="16600" dirty="0">
              <a:solidFill>
                <a:srgbClr val="FF0000"/>
              </a:solidFill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19595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/>
      <p:bldP spid="12" grpId="0"/>
      <p:bldP spid="13" grpId="0"/>
      <p:bldP spid="14" grpId="0"/>
      <p:bldP spid="15" grpId="0"/>
      <p:bldP spid="25" grpId="0" animBg="1"/>
      <p:bldP spid="6" grpId="0"/>
      <p:bldP spid="27" grpId="0"/>
      <p:bldP spid="32" grpId="0"/>
    </p:bldLst>
  </p:timing>
  <p:extLst mod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Refresher: Boolean Algebra</a:t>
            </a:r>
            <a:endParaRPr lang="ru-RU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44C7BE5-B578-44C2-B697-AD60B2F34A37}" type="slidenum">
              <a:rPr lang="ja-JP" altLang="en-US" smtClean="0">
                <a:solidFill>
                  <a:srgbClr val="FFFFFF"/>
                </a:solidFill>
              </a:rPr>
              <a:pPr>
                <a:defRPr/>
              </a:pPr>
              <a:t>5</a:t>
            </a:fld>
            <a:endParaRPr lang="en-US" altLang="ja-JP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63442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Boolean Algebra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995929"/>
            <a:ext cx="7116377" cy="4920686"/>
          </a:xfrm>
        </p:spPr>
        <p:txBody>
          <a:bodyPr/>
          <a:lstStyle/>
          <a:p>
            <a:pPr marL="342900" indent="-342900">
              <a:buFont typeface="Arial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Boolean </a:t>
            </a:r>
            <a:r>
              <a:rPr lang="en-US" dirty="0" smtClean="0">
                <a:solidFill>
                  <a:schemeClr val="accent1"/>
                </a:solidFill>
              </a:rPr>
              <a:t>Algebra </a:t>
            </a:r>
            <a:r>
              <a:rPr lang="en-US" dirty="0" smtClean="0"/>
              <a:t>works with objects that can take only two values (true and false, or 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1</a:t>
            </a:r>
            <a:r>
              <a:rPr lang="en-US" dirty="0" smtClean="0"/>
              <a:t> and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0</a:t>
            </a:r>
            <a:r>
              <a:rPr lang="en-US" dirty="0" smtClean="0"/>
              <a:t>)</a:t>
            </a:r>
          </a:p>
          <a:p>
            <a:pPr marL="757238" lvl="2" indent="-342900">
              <a:spcBef>
                <a:spcPts val="1200"/>
              </a:spcBef>
              <a:buFont typeface="Arial" pitchFamily="34" charset="0"/>
              <a:buChar char="•"/>
            </a:pPr>
            <a:r>
              <a:rPr lang="en-US" dirty="0" smtClean="0"/>
              <a:t>Such object is called a Boolean object (term </a:t>
            </a:r>
            <a:r>
              <a:rPr lang="en-US" dirty="0" smtClean="0">
                <a:solidFill>
                  <a:schemeClr val="accent1"/>
                </a:solidFill>
              </a:rPr>
              <a:t>bit</a:t>
            </a:r>
            <a:r>
              <a:rPr lang="en-US" dirty="0" smtClean="0"/>
              <a:t> of information is used in CS)</a:t>
            </a:r>
          </a:p>
          <a:p>
            <a:pPr marL="757238" lvl="2" indent="-342900">
              <a:spcBef>
                <a:spcPts val="1200"/>
              </a:spcBef>
              <a:buFont typeface="Arial" pitchFamily="34" charset="0"/>
              <a:buChar char="•"/>
            </a:pPr>
            <a:r>
              <a:rPr lang="en-US" dirty="0" smtClean="0"/>
              <a:t>Boolean algebra defines operations on Boolean objects </a:t>
            </a:r>
            <a:r>
              <a:rPr lang="en-US" dirty="0" smtClean="0">
                <a:latin typeface="Calibri"/>
                <a:cs typeface="Calibri"/>
              </a:rPr>
              <a:t>→ </a:t>
            </a:r>
            <a:r>
              <a:rPr lang="en-US" dirty="0"/>
              <a:t>Boolean operations and </a:t>
            </a:r>
            <a:r>
              <a:rPr lang="en-US" dirty="0" smtClean="0"/>
              <a:t>functions</a:t>
            </a:r>
          </a:p>
          <a:p>
            <a:pPr marL="757238" lvl="2" indent="-342900">
              <a:spcBef>
                <a:spcPts val="1200"/>
              </a:spcBef>
              <a:buFont typeface="Arial" pitchFamily="34" charset="0"/>
              <a:buChar char="•"/>
            </a:pPr>
            <a:r>
              <a:rPr lang="en-US" dirty="0" smtClean="0"/>
              <a:t>It is convenient to represent these operations and functions via </a:t>
            </a:r>
            <a:r>
              <a:rPr lang="en-US" dirty="0" smtClean="0">
                <a:solidFill>
                  <a:schemeClr val="accent1"/>
                </a:solidFill>
              </a:rPr>
              <a:t>truth tables</a:t>
            </a:r>
            <a:r>
              <a:rPr lang="en-US" dirty="0" smtClean="0"/>
              <a:t>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5523931" y="3931477"/>
          <a:ext cx="227255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518"/>
                <a:gridCol w="757518"/>
                <a:gridCol w="75751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15" name="Group 14"/>
          <p:cNvGrpSpPr/>
          <p:nvPr/>
        </p:nvGrpSpPr>
        <p:grpSpPr>
          <a:xfrm>
            <a:off x="1591121" y="4393287"/>
            <a:ext cx="2687900" cy="1093694"/>
            <a:chOff x="1245030" y="4455457"/>
            <a:chExt cx="2687900" cy="1093694"/>
          </a:xfrm>
        </p:grpSpPr>
        <p:sp>
          <p:nvSpPr>
            <p:cNvPr id="5" name="Rectangle 4"/>
            <p:cNvSpPr/>
            <p:nvPr/>
          </p:nvSpPr>
          <p:spPr bwMode="auto">
            <a:xfrm>
              <a:off x="1999129" y="4455457"/>
              <a:ext cx="1290918" cy="1093694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>
                  <a:latin typeface="+mj-lt"/>
                  <a:cs typeface="Arial" pitchFamily="34" charset="0"/>
                </a:rPr>
                <a:t>c</a:t>
              </a:r>
              <a:r>
                <a:rPr lang="en-US" sz="2000" b="1" dirty="0" smtClean="0">
                  <a:latin typeface="+mj-lt"/>
                  <a:cs typeface="Arial" pitchFamily="34" charset="0"/>
                </a:rPr>
                <a:t> = F(</a:t>
              </a:r>
              <a:r>
                <a:rPr lang="en-US" sz="2000" b="1" dirty="0" err="1" smtClean="0">
                  <a:latin typeface="+mj-lt"/>
                  <a:cs typeface="Arial" pitchFamily="34" charset="0"/>
                </a:rPr>
                <a:t>a,b</a:t>
              </a:r>
              <a:r>
                <a:rPr lang="en-US" sz="2000" b="1" dirty="0">
                  <a:latin typeface="+mj-lt"/>
                  <a:cs typeface="Arial" pitchFamily="34" charset="0"/>
                </a:rPr>
                <a:t>)</a:t>
              </a:r>
              <a:endParaRPr lang="en-US" sz="20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245030" y="5056094"/>
              <a:ext cx="341760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200" dirty="0" smtClean="0">
                  <a:latin typeface="+mj-lt"/>
                </a:rPr>
                <a:t>b</a:t>
              </a:r>
              <a:endParaRPr lang="en-US" sz="2200" dirty="0">
                <a:latin typeface="+mj-lt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245030" y="4518212"/>
              <a:ext cx="319318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200" dirty="0">
                  <a:latin typeface="+mj-lt"/>
                </a:rPr>
                <a:t>a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629642" y="4786860"/>
              <a:ext cx="303288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200" dirty="0" smtClean="0">
                  <a:latin typeface="+mj-lt"/>
                </a:rPr>
                <a:t>c</a:t>
              </a:r>
              <a:endParaRPr lang="en-US" sz="2200" dirty="0">
                <a:latin typeface="+mj-lt"/>
              </a:endParaRPr>
            </a:p>
          </p:txBody>
        </p:sp>
        <p:cxnSp>
          <p:nvCxnSpPr>
            <p:cNvPr id="10" name="Straight Connector 9"/>
            <p:cNvCxnSpPr>
              <a:stCxn id="7" idx="3"/>
            </p:cNvCxnSpPr>
            <p:nvPr/>
          </p:nvCxnSpPr>
          <p:spPr bwMode="auto">
            <a:xfrm>
              <a:off x="1564348" y="4733656"/>
              <a:ext cx="434781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11" name="Straight Connector 10"/>
            <p:cNvCxnSpPr>
              <a:stCxn id="6" idx="3"/>
            </p:cNvCxnSpPr>
            <p:nvPr/>
          </p:nvCxnSpPr>
          <p:spPr bwMode="auto">
            <a:xfrm flipV="1">
              <a:off x="1586790" y="5271537"/>
              <a:ext cx="412339" cy="1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14" name="Straight Connector 13"/>
            <p:cNvCxnSpPr>
              <a:stCxn id="8" idx="1"/>
              <a:endCxn id="5" idx="3"/>
            </p:cNvCxnSpPr>
            <p:nvPr/>
          </p:nvCxnSpPr>
          <p:spPr bwMode="auto">
            <a:xfrm flipH="1">
              <a:off x="3290047" y="5002304"/>
              <a:ext cx="339595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lg" len="lg"/>
              <a:tailEnd type="oval" w="med" len="med"/>
            </a:ln>
            <a:effectLst/>
          </p:spPr>
        </p:cxnSp>
      </p:grpSp>
      <p:sp>
        <p:nvSpPr>
          <p:cNvPr id="16" name="TextBox 15"/>
          <p:cNvSpPr txBox="1"/>
          <p:nvPr/>
        </p:nvSpPr>
        <p:spPr>
          <a:xfrm>
            <a:off x="1621283" y="5650802"/>
            <a:ext cx="2668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Boolean function</a:t>
            </a:r>
          </a:p>
          <a:p>
            <a:pPr algn="ctr"/>
            <a:r>
              <a:rPr lang="en-US" dirty="0" smtClean="0">
                <a:latin typeface="+mn-lt"/>
              </a:rPr>
              <a:t>(logical gate)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0768" y="5853952"/>
            <a:ext cx="22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Truth table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/>
          </p:nvPr>
        </p:nvGraphicFramePr>
        <p:xfrm>
          <a:off x="5522976" y="3929806"/>
          <a:ext cx="227255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518"/>
                <a:gridCol w="757518"/>
                <a:gridCol w="75751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Neo Sans Intel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/>
          </p:nvPr>
        </p:nvGraphicFramePr>
        <p:xfrm>
          <a:off x="5523931" y="3934908"/>
          <a:ext cx="227255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518"/>
                <a:gridCol w="757518"/>
                <a:gridCol w="75751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</a:t>
                      </a:r>
                      <a:r>
                        <a:rPr lang="en-US" baseline="-25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  <a:endParaRPr lang="en-US" baseline="-25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5522976" y="3939498"/>
          <a:ext cx="227255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518"/>
                <a:gridCol w="757518"/>
                <a:gridCol w="75751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</a:t>
                      </a:r>
                      <a:r>
                        <a:rPr lang="en-US" baseline="-25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  <a:endParaRPr lang="en-US" baseline="-25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</a:t>
                      </a:r>
                      <a:r>
                        <a:rPr lang="en-US" baseline="-25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</a:t>
                      </a:r>
                      <a:endParaRPr lang="en-US" baseline="-25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</a:t>
                      </a:r>
                      <a:r>
                        <a:rPr lang="en-US" baseline="-25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  <a:endParaRPr lang="en-US" baseline="-25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</a:t>
                      </a:r>
                      <a:r>
                        <a:rPr lang="en-US" baseline="-25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</a:t>
                      </a:r>
                      <a:endParaRPr lang="en-US" baseline="-25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7571990" y="113703"/>
            <a:ext cx="1653180" cy="2329312"/>
            <a:chOff x="7614520" y="120990"/>
            <a:chExt cx="1653180" cy="2329312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7924917" y="120990"/>
              <a:ext cx="1032387" cy="1255814"/>
            </a:xfrm>
            <a:prstGeom prst="rect">
              <a:avLst/>
            </a:prstGeom>
          </p:spPr>
        </p:pic>
        <p:sp>
          <p:nvSpPr>
            <p:cNvPr id="12" name="Rectangle 11"/>
            <p:cNvSpPr/>
            <p:nvPr/>
          </p:nvSpPr>
          <p:spPr>
            <a:xfrm>
              <a:off x="7614520" y="1403862"/>
              <a:ext cx="1653180" cy="10464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latin typeface="Baskerville Old Face" panose="02020602080505020303" pitchFamily="18" charset="0"/>
                </a:rPr>
                <a:t>George </a:t>
              </a:r>
              <a:r>
                <a:rPr lang="en-US" sz="1400" dirty="0" smtClean="0">
                  <a:latin typeface="Baskerville Old Face" panose="02020602080505020303" pitchFamily="18" charset="0"/>
                </a:rPr>
                <a:t>Boole</a:t>
              </a:r>
            </a:p>
            <a:p>
              <a:pPr algn="ctr"/>
              <a:r>
                <a:rPr lang="en-US" sz="1200" dirty="0" smtClean="0">
                  <a:latin typeface="Baskerville Old Face" panose="02020602080505020303" pitchFamily="18" charset="0"/>
                </a:rPr>
                <a:t>(1815 – 1864)</a:t>
              </a:r>
            </a:p>
            <a:p>
              <a:pPr algn="ctr"/>
              <a:r>
                <a:rPr lang="en-US" sz="1200" dirty="0" smtClean="0">
                  <a:latin typeface="Baskerville Old Face" panose="02020602080505020303" pitchFamily="18" charset="0"/>
                </a:rPr>
                <a:t>English mathematician, philosopher and logician</a:t>
              </a:r>
              <a:endParaRPr lang="ru-RU" sz="1200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647837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6" grpId="0"/>
      <p:bldP spid="17" grpId="0"/>
    </p:bldLst>
  </p:timing>
  <p:extLst mod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Boolean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dirty="0" smtClean="0"/>
              <a:t>The simplest Boolean operation is …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200" dirty="0"/>
          </a:p>
          <a:p>
            <a:pPr marL="342900" indent="-342900">
              <a:buFont typeface="Arial" pitchFamily="34" charset="0"/>
              <a:buChar char="•"/>
            </a:pPr>
            <a:endParaRPr lang="en-US" sz="28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sz="2200" dirty="0"/>
              <a:t>The </a:t>
            </a:r>
            <a:r>
              <a:rPr lang="en-US" sz="2200" dirty="0" smtClean="0"/>
              <a:t>second simplest </a:t>
            </a:r>
            <a:r>
              <a:rPr lang="en-US" sz="2200" dirty="0"/>
              <a:t>Boolean operation </a:t>
            </a:r>
            <a:r>
              <a:rPr lang="en-US" sz="2200" dirty="0" smtClean="0"/>
              <a:t>is inversion</a:t>
            </a:r>
            <a:endParaRPr lang="ru-RU" sz="2200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4663861" y="964690"/>
            <a:ext cx="2343376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200" dirty="0" smtClean="0">
                <a:latin typeface="+mj-lt"/>
              </a:rPr>
              <a:t>identity</a:t>
            </a:r>
          </a:p>
        </p:txBody>
      </p:sp>
      <p:sp>
        <p:nvSpPr>
          <p:cNvPr id="5" name="Isosceles Triangle 4"/>
          <p:cNvSpPr/>
          <p:nvPr/>
        </p:nvSpPr>
        <p:spPr bwMode="auto">
          <a:xfrm rot="5400000">
            <a:off x="1559859" y="1635768"/>
            <a:ext cx="690282" cy="595071"/>
          </a:xfrm>
          <a:prstGeom prst="triangle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bg2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>
              <a:solidFill>
                <a:schemeClr val="dk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37022" y="1717860"/>
            <a:ext cx="34015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en-US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1" name="Straight Connector 10"/>
          <p:cNvCxnSpPr>
            <a:stCxn id="9" idx="3"/>
          </p:cNvCxnSpPr>
          <p:nvPr/>
        </p:nvCxnSpPr>
        <p:spPr bwMode="auto">
          <a:xfrm>
            <a:off x="1177180" y="1933304"/>
            <a:ext cx="413941" cy="0"/>
          </a:xfrm>
          <a:prstGeom prst="line">
            <a:avLst/>
          </a:prstGeom>
          <a:solidFill>
            <a:schemeClr val="bg1"/>
          </a:solidFill>
          <a:ln w="28575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med" len="med"/>
            <a:tailEnd type="oval" w="med" len="med"/>
          </a:ln>
          <a:effectLst/>
        </p:spPr>
      </p:cxnSp>
      <p:cxnSp>
        <p:nvCxnSpPr>
          <p:cNvPr id="12" name="Straight Connector 11"/>
          <p:cNvCxnSpPr>
            <a:stCxn id="10" idx="1"/>
          </p:cNvCxnSpPr>
          <p:nvPr/>
        </p:nvCxnSpPr>
        <p:spPr bwMode="auto">
          <a:xfrm flipH="1">
            <a:off x="2202536" y="1933304"/>
            <a:ext cx="482582" cy="0"/>
          </a:xfrm>
          <a:prstGeom prst="line">
            <a:avLst/>
          </a:prstGeom>
          <a:solidFill>
            <a:schemeClr val="bg1"/>
          </a:solidFill>
          <a:ln w="28575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lg" len="lg"/>
            <a:tailEnd type="none" w="med" len="med"/>
          </a:ln>
          <a:effectLst/>
        </p:spPr>
      </p:cxnSp>
      <p:sp>
        <p:nvSpPr>
          <p:cNvPr id="10" name="Rectangle 9"/>
          <p:cNvSpPr/>
          <p:nvPr/>
        </p:nvSpPr>
        <p:spPr>
          <a:xfrm>
            <a:off x="2685118" y="1717860"/>
            <a:ext cx="34015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en-US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286789"/>
              </p:ext>
            </p:extLst>
          </p:nvPr>
        </p:nvGraphicFramePr>
        <p:xfrm>
          <a:off x="5962600" y="1567932"/>
          <a:ext cx="1916656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328"/>
                <a:gridCol w="958328"/>
              </a:tblGrid>
              <a:tr h="35007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id</a:t>
                      </a:r>
                      <a:r>
                        <a:rPr lang="en-US" baseline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5007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5007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27" name="Group 26"/>
          <p:cNvGrpSpPr/>
          <p:nvPr/>
        </p:nvGrpSpPr>
        <p:grpSpPr>
          <a:xfrm>
            <a:off x="1607464" y="3430167"/>
            <a:ext cx="720577" cy="690282"/>
            <a:chOff x="1607464" y="2009795"/>
            <a:chExt cx="720577" cy="690282"/>
          </a:xfrm>
        </p:grpSpPr>
        <p:sp>
          <p:nvSpPr>
            <p:cNvPr id="29" name="Isosceles Triangle 28"/>
            <p:cNvSpPr/>
            <p:nvPr/>
          </p:nvSpPr>
          <p:spPr bwMode="auto">
            <a:xfrm rot="5400000">
              <a:off x="1559859" y="2057400"/>
              <a:ext cx="690282" cy="595071"/>
            </a:xfrm>
            <a:prstGeom prst="triangl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>
                <a:solidFill>
                  <a:schemeClr val="dk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3" name="Oval 32"/>
            <p:cNvSpPr/>
            <p:nvPr/>
          </p:nvSpPr>
          <p:spPr bwMode="auto">
            <a:xfrm>
              <a:off x="2193570" y="2287699"/>
              <a:ext cx="134471" cy="134471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>
                <a:solidFill>
                  <a:schemeClr val="dk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34" name="Rectangle 33"/>
          <p:cNvSpPr/>
          <p:nvPr/>
        </p:nvSpPr>
        <p:spPr>
          <a:xfrm>
            <a:off x="837022" y="3559864"/>
            <a:ext cx="34015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en-US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35" name="Straight Connector 34"/>
          <p:cNvCxnSpPr>
            <a:stCxn id="34" idx="3"/>
          </p:cNvCxnSpPr>
          <p:nvPr/>
        </p:nvCxnSpPr>
        <p:spPr bwMode="auto">
          <a:xfrm>
            <a:off x="1177180" y="3775308"/>
            <a:ext cx="413941" cy="0"/>
          </a:xfrm>
          <a:prstGeom prst="line">
            <a:avLst/>
          </a:prstGeom>
          <a:solidFill>
            <a:schemeClr val="bg1"/>
          </a:solidFill>
          <a:ln w="28575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med" len="med"/>
            <a:tailEnd type="oval" w="med" len="med"/>
          </a:ln>
          <a:effectLst/>
        </p:spPr>
      </p:cxnSp>
      <p:cxnSp>
        <p:nvCxnSpPr>
          <p:cNvPr id="36" name="Straight Connector 35"/>
          <p:cNvCxnSpPr>
            <a:stCxn id="37" idx="1"/>
          </p:cNvCxnSpPr>
          <p:nvPr/>
        </p:nvCxnSpPr>
        <p:spPr bwMode="auto">
          <a:xfrm flipH="1">
            <a:off x="2345524" y="3775308"/>
            <a:ext cx="339594" cy="0"/>
          </a:xfrm>
          <a:prstGeom prst="line">
            <a:avLst/>
          </a:prstGeom>
          <a:solidFill>
            <a:schemeClr val="bg1"/>
          </a:solidFill>
          <a:ln w="28575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lg" len="lg"/>
            <a:tailEnd type="none" w="med" len="med"/>
          </a:ln>
          <a:effectLst/>
        </p:spPr>
      </p:cxnSp>
      <p:sp>
        <p:nvSpPr>
          <p:cNvPr id="37" name="Rectangle 36"/>
          <p:cNvSpPr/>
          <p:nvPr/>
        </p:nvSpPr>
        <p:spPr>
          <a:xfrm>
            <a:off x="2685118" y="3559864"/>
            <a:ext cx="4956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!x</a:t>
            </a:r>
            <a:endParaRPr lang="en-US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73286"/>
              </p:ext>
            </p:extLst>
          </p:nvPr>
        </p:nvGraphicFramePr>
        <p:xfrm>
          <a:off x="5962600" y="3409936"/>
          <a:ext cx="1916656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328"/>
                <a:gridCol w="958328"/>
              </a:tblGrid>
              <a:tr h="35007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!</a:t>
                      </a:r>
                      <a:r>
                        <a:rPr lang="en-US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5007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5007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6116614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9" grpId="0"/>
      <p:bldP spid="10" grpId="0"/>
      <p:bldP spid="34" grpId="0"/>
      <p:bldP spid="37" grpId="0"/>
    </p:bldLst>
  </p:timing>
  <p:extLst mod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Boolean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dirty="0" smtClean="0"/>
              <a:t>AND (or Boolean multiplication)</a:t>
            </a:r>
            <a:endParaRPr lang="ru-RU" sz="2200" dirty="0" smtClean="0"/>
          </a:p>
          <a:p>
            <a:pPr marL="342900" indent="-342900">
              <a:buFont typeface="Arial" pitchFamily="34" charset="0"/>
              <a:buChar char="•"/>
            </a:pPr>
            <a:endParaRPr lang="ru-RU" sz="2200" dirty="0"/>
          </a:p>
          <a:p>
            <a:pPr marL="342900" indent="-342900">
              <a:buFont typeface="Arial" pitchFamily="34" charset="0"/>
              <a:buChar char="•"/>
            </a:pPr>
            <a:endParaRPr lang="ru-RU" sz="2800" dirty="0" smtClean="0"/>
          </a:p>
          <a:p>
            <a:pPr marL="688975" lvl="1" indent="-342900">
              <a:buFont typeface="Arial" pitchFamily="34" charset="0"/>
              <a:buChar char="•"/>
            </a:pPr>
            <a:r>
              <a:rPr lang="en-US" sz="2000" dirty="0" smtClean="0"/>
              <a:t>AND is often used as a logical key:</a:t>
            </a:r>
          </a:p>
          <a:p>
            <a:pPr marL="688975" lvl="1" indent="-342900">
              <a:buFont typeface="Arial" pitchFamily="34" charset="0"/>
              <a:buChar char="•"/>
            </a:pPr>
            <a:endParaRPr lang="en-US" sz="2000" dirty="0"/>
          </a:p>
          <a:p>
            <a:pPr marL="688975" lvl="1" indent="-342900">
              <a:buFont typeface="Arial" pitchFamily="34" charset="0"/>
              <a:buChar char="•"/>
            </a:pPr>
            <a:endParaRPr lang="en-US" sz="2000" dirty="0" smtClean="0"/>
          </a:p>
          <a:p>
            <a:pPr marL="688975" lvl="1" indent="-342900">
              <a:buFont typeface="Arial" pitchFamily="34" charset="0"/>
              <a:buChar char="•"/>
            </a:pPr>
            <a:endParaRPr lang="en-US" sz="20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200" dirty="0" smtClean="0"/>
              <a:t>NAND</a:t>
            </a:r>
            <a:endParaRPr lang="ru-RU" sz="2200" dirty="0"/>
          </a:p>
          <a:p>
            <a:pPr marL="688975" lvl="1" indent="-342900">
              <a:buFont typeface="Arial" pitchFamily="34" charset="0"/>
              <a:buChar char="•"/>
            </a:pPr>
            <a:endParaRPr lang="en-US" sz="2000" dirty="0" smtClean="0"/>
          </a:p>
        </p:txBody>
      </p:sp>
      <p:sp>
        <p:nvSpPr>
          <p:cNvPr id="24" name="Rectangle 23"/>
          <p:cNvSpPr/>
          <p:nvPr/>
        </p:nvSpPr>
        <p:spPr>
          <a:xfrm>
            <a:off x="2590274" y="1816682"/>
            <a:ext cx="65114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*y</a:t>
            </a:r>
            <a:endParaRPr lang="en-US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801285" y="1615383"/>
            <a:ext cx="1788989" cy="865683"/>
            <a:chOff x="822885" y="4045688"/>
            <a:chExt cx="1788989" cy="865683"/>
          </a:xfrm>
        </p:grpSpPr>
        <p:sp>
          <p:nvSpPr>
            <p:cNvPr id="19" name="Flowchart: Delay 18"/>
            <p:cNvSpPr/>
            <p:nvPr/>
          </p:nvSpPr>
          <p:spPr bwMode="auto">
            <a:xfrm>
              <a:off x="1595120" y="4074160"/>
              <a:ext cx="658964" cy="812800"/>
            </a:xfrm>
            <a:prstGeom prst="flowChartDelay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>
                <a:solidFill>
                  <a:schemeClr val="dk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822885" y="4045688"/>
              <a:ext cx="340158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2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x</a:t>
              </a:r>
              <a:endParaRPr lang="en-US" sz="22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21" name="Straight Connector 20"/>
            <p:cNvCxnSpPr>
              <a:stCxn id="20" idx="3"/>
            </p:cNvCxnSpPr>
            <p:nvPr/>
          </p:nvCxnSpPr>
          <p:spPr bwMode="auto">
            <a:xfrm>
              <a:off x="1163043" y="4261132"/>
              <a:ext cx="413941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sp>
          <p:nvSpPr>
            <p:cNvPr id="22" name="Rectangle 21"/>
            <p:cNvSpPr/>
            <p:nvPr/>
          </p:nvSpPr>
          <p:spPr>
            <a:xfrm>
              <a:off x="822885" y="4480484"/>
              <a:ext cx="340158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200" dirty="0">
                  <a:latin typeface="Consolas" panose="020B0609020204030204" pitchFamily="49" charset="0"/>
                  <a:cs typeface="Consolas" panose="020B0609020204030204" pitchFamily="49" charset="0"/>
                </a:rPr>
                <a:t>y</a:t>
              </a:r>
            </a:p>
          </p:txBody>
        </p:sp>
        <p:cxnSp>
          <p:nvCxnSpPr>
            <p:cNvPr id="23" name="Straight Connector 22"/>
            <p:cNvCxnSpPr>
              <a:stCxn id="22" idx="3"/>
            </p:cNvCxnSpPr>
            <p:nvPr/>
          </p:nvCxnSpPr>
          <p:spPr bwMode="auto">
            <a:xfrm>
              <a:off x="1163043" y="4695928"/>
              <a:ext cx="413941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25" name="Straight Connector 24"/>
            <p:cNvCxnSpPr/>
            <p:nvPr/>
          </p:nvCxnSpPr>
          <p:spPr bwMode="auto">
            <a:xfrm flipH="1">
              <a:off x="2272280" y="4472495"/>
              <a:ext cx="339594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lg" len="lg"/>
              <a:tailEnd type="oval" w="med" len="med"/>
            </a:ln>
            <a:effectLst/>
          </p:spPr>
        </p:cxnSp>
      </p:grp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929372"/>
              </p:ext>
            </p:extLst>
          </p:nvPr>
        </p:nvGraphicFramePr>
        <p:xfrm>
          <a:off x="5229419" y="1123079"/>
          <a:ext cx="227255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518"/>
                <a:gridCol w="757518"/>
                <a:gridCol w="75751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x*y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67915" y="1489707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915" y="1858434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7915" y="2227161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67915" y="2595889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itchFamily="49" charset="0"/>
                <a:cs typeface="Consolas" pitchFamily="49" charset="0"/>
              </a:rPr>
              <a:t>1</a:t>
            </a:r>
            <a:endParaRPr lang="en-US" dirty="0" smtClean="0">
              <a:latin typeface="Consolas" pitchFamily="49" charset="0"/>
              <a:cs typeface="Consolas" pitchFamily="49" charset="0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820991"/>
              </p:ext>
            </p:extLst>
          </p:nvPr>
        </p:nvGraphicFramePr>
        <p:xfrm>
          <a:off x="1413910" y="3260553"/>
          <a:ext cx="3016353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5677"/>
                <a:gridCol w="786581"/>
                <a:gridCol w="804095"/>
              </a:tblGrid>
              <a:tr h="30780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sz="16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  <a:endParaRPr lang="en-US" sz="16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x*y</a:t>
                      </a:r>
                      <a:endParaRPr lang="en-US" sz="16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0780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onsolas" pitchFamily="49" charset="0"/>
                          <a:cs typeface="Consolas" pitchFamily="49" charset="0"/>
                        </a:rPr>
                        <a:t>0 </a:t>
                      </a:r>
                      <a:r>
                        <a:rPr lang="en-US" sz="1600" dirty="0" smtClean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(closed)</a:t>
                      </a:r>
                      <a:endParaRPr lang="en-US" sz="1600" dirty="0">
                        <a:solidFill>
                          <a:schemeClr val="tx2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onsolas" pitchFamily="49" charset="0"/>
                          <a:cs typeface="Consolas" pitchFamily="49" charset="0"/>
                        </a:rPr>
                        <a:t>y</a:t>
                      </a:r>
                      <a:endParaRPr lang="en-US" sz="16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0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0780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</a:t>
                      </a:r>
                      <a:r>
                        <a:rPr lang="en-US" sz="1600" dirty="0" smtClean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(open)</a:t>
                      </a:r>
                      <a:endParaRPr lang="ru-RU" sz="1600" dirty="0">
                        <a:solidFill>
                          <a:schemeClr val="tx2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  <a:endParaRPr lang="ru-RU" sz="16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y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1141443" y="5124582"/>
            <a:ext cx="3054840" cy="865683"/>
            <a:chOff x="1141443" y="5124582"/>
            <a:chExt cx="3054840" cy="865683"/>
          </a:xfrm>
        </p:grpSpPr>
        <p:sp>
          <p:nvSpPr>
            <p:cNvPr id="18" name="Rectangle 17"/>
            <p:cNvSpPr/>
            <p:nvPr/>
          </p:nvSpPr>
          <p:spPr>
            <a:xfrm>
              <a:off x="3078669" y="5330856"/>
              <a:ext cx="1117614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2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!(x*y)</a:t>
              </a:r>
              <a:endParaRPr lang="en-US" sz="22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9" name="Flowchart: Delay 28"/>
            <p:cNvSpPr/>
            <p:nvPr/>
          </p:nvSpPr>
          <p:spPr bwMode="auto">
            <a:xfrm>
              <a:off x="1913678" y="5153054"/>
              <a:ext cx="658964" cy="812800"/>
            </a:xfrm>
            <a:prstGeom prst="flowChartDelay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>
                <a:solidFill>
                  <a:schemeClr val="dk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141443" y="5124582"/>
              <a:ext cx="340158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2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x</a:t>
              </a:r>
              <a:endParaRPr lang="en-US" sz="22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34" name="Straight Connector 33"/>
            <p:cNvCxnSpPr>
              <a:stCxn id="33" idx="3"/>
            </p:cNvCxnSpPr>
            <p:nvPr/>
          </p:nvCxnSpPr>
          <p:spPr bwMode="auto">
            <a:xfrm>
              <a:off x="1481601" y="5340026"/>
              <a:ext cx="413941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sp>
          <p:nvSpPr>
            <p:cNvPr id="35" name="Rectangle 34"/>
            <p:cNvSpPr/>
            <p:nvPr/>
          </p:nvSpPr>
          <p:spPr>
            <a:xfrm>
              <a:off x="1141443" y="5559378"/>
              <a:ext cx="340158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200" dirty="0">
                  <a:latin typeface="Consolas" panose="020B0609020204030204" pitchFamily="49" charset="0"/>
                  <a:cs typeface="Consolas" panose="020B0609020204030204" pitchFamily="49" charset="0"/>
                </a:rPr>
                <a:t>y</a:t>
              </a:r>
            </a:p>
          </p:txBody>
        </p:sp>
        <p:cxnSp>
          <p:nvCxnSpPr>
            <p:cNvPr id="36" name="Straight Connector 35"/>
            <p:cNvCxnSpPr>
              <a:stCxn id="35" idx="3"/>
            </p:cNvCxnSpPr>
            <p:nvPr/>
          </p:nvCxnSpPr>
          <p:spPr bwMode="auto">
            <a:xfrm>
              <a:off x="1481601" y="5774822"/>
              <a:ext cx="413941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37" name="Straight Connector 36"/>
            <p:cNvCxnSpPr/>
            <p:nvPr/>
          </p:nvCxnSpPr>
          <p:spPr bwMode="auto">
            <a:xfrm flipH="1">
              <a:off x="2761902" y="5555469"/>
              <a:ext cx="284878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lg" len="lg"/>
              <a:tailEnd type="oval" w="med" len="med"/>
            </a:ln>
            <a:effectLst/>
          </p:spPr>
        </p:cxnSp>
        <p:sp>
          <p:nvSpPr>
            <p:cNvPr id="38" name="Oval 37"/>
            <p:cNvSpPr/>
            <p:nvPr/>
          </p:nvSpPr>
          <p:spPr bwMode="auto">
            <a:xfrm>
              <a:off x="2595542" y="5488233"/>
              <a:ext cx="134471" cy="134471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>
                <a:solidFill>
                  <a:schemeClr val="dk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37679"/>
              </p:ext>
            </p:extLst>
          </p:nvPr>
        </p:nvGraphicFramePr>
        <p:xfrm>
          <a:off x="5229419" y="4316390"/>
          <a:ext cx="262449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832"/>
                <a:gridCol w="672233"/>
                <a:gridCol w="107743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!(x*y)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7123003" y="4695076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23003" y="5063803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23003" y="5432530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23003" y="5801258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392609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6" grpId="0"/>
      <p:bldP spid="30" grpId="0"/>
      <p:bldP spid="31" grpId="0"/>
      <p:bldP spid="32" grpId="0"/>
      <p:bldP spid="40" grpId="0"/>
      <p:bldP spid="41" grpId="0"/>
      <p:bldP spid="42" grpId="0"/>
      <p:bldP spid="43" grpId="0"/>
    </p:bldLst>
  </p:timing>
  <p:extLst mod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Boolean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dirty="0" smtClean="0"/>
              <a:t>OR (or Boolean addition)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76894" y="2137476"/>
            <a:ext cx="57579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 err="1" smtClean="0">
                <a:latin typeface="+mj-lt"/>
              </a:rPr>
              <a:t>x+y</a:t>
            </a:r>
            <a:endParaRPr lang="en-US" sz="2200" dirty="0">
              <a:latin typeface="+mj-lt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454025" y="1954307"/>
            <a:ext cx="1626546" cy="865683"/>
            <a:chOff x="822885" y="1708888"/>
            <a:chExt cx="1626546" cy="865683"/>
          </a:xfrm>
        </p:grpSpPr>
        <p:sp>
          <p:nvSpPr>
            <p:cNvPr id="19" name="Flowchart: Delay 18"/>
            <p:cNvSpPr/>
            <p:nvPr/>
          </p:nvSpPr>
          <p:spPr bwMode="auto">
            <a:xfrm flipH="1">
              <a:off x="1451254" y="1719213"/>
              <a:ext cx="632999" cy="820453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3276 w 10041"/>
                <a:gd name="connsiteY0" fmla="*/ 0 h 10023"/>
                <a:gd name="connsiteX1" fmla="*/ 10041 w 10041"/>
                <a:gd name="connsiteY1" fmla="*/ 23 h 10023"/>
                <a:gd name="connsiteX2" fmla="*/ 8374 w 10041"/>
                <a:gd name="connsiteY2" fmla="*/ 5023 h 10023"/>
                <a:gd name="connsiteX3" fmla="*/ 10041 w 10041"/>
                <a:gd name="connsiteY3" fmla="*/ 10023 h 10023"/>
                <a:gd name="connsiteX4" fmla="*/ 1708 w 10041"/>
                <a:gd name="connsiteY4" fmla="*/ 10023 h 10023"/>
                <a:gd name="connsiteX5" fmla="*/ 41 w 10041"/>
                <a:gd name="connsiteY5" fmla="*/ 5023 h 10023"/>
                <a:gd name="connsiteX6" fmla="*/ 3276 w 10041"/>
                <a:gd name="connsiteY6" fmla="*/ 0 h 10023"/>
                <a:gd name="connsiteX0" fmla="*/ 3237 w 10002"/>
                <a:gd name="connsiteY0" fmla="*/ 0 h 10070"/>
                <a:gd name="connsiteX1" fmla="*/ 10002 w 10002"/>
                <a:gd name="connsiteY1" fmla="*/ 23 h 10070"/>
                <a:gd name="connsiteX2" fmla="*/ 8335 w 10002"/>
                <a:gd name="connsiteY2" fmla="*/ 5023 h 10070"/>
                <a:gd name="connsiteX3" fmla="*/ 10002 w 10002"/>
                <a:gd name="connsiteY3" fmla="*/ 10023 h 10070"/>
                <a:gd name="connsiteX4" fmla="*/ 3656 w 10002"/>
                <a:gd name="connsiteY4" fmla="*/ 10070 h 10070"/>
                <a:gd name="connsiteX5" fmla="*/ 2 w 10002"/>
                <a:gd name="connsiteY5" fmla="*/ 5023 h 10070"/>
                <a:gd name="connsiteX6" fmla="*/ 3237 w 10002"/>
                <a:gd name="connsiteY6" fmla="*/ 0 h 10070"/>
                <a:gd name="connsiteX0" fmla="*/ 3237 w 10002"/>
                <a:gd name="connsiteY0" fmla="*/ 0 h 10070"/>
                <a:gd name="connsiteX1" fmla="*/ 10002 w 10002"/>
                <a:gd name="connsiteY1" fmla="*/ 23 h 10070"/>
                <a:gd name="connsiteX2" fmla="*/ 7439 w 10002"/>
                <a:gd name="connsiteY2" fmla="*/ 5023 h 10070"/>
                <a:gd name="connsiteX3" fmla="*/ 10002 w 10002"/>
                <a:gd name="connsiteY3" fmla="*/ 10023 h 10070"/>
                <a:gd name="connsiteX4" fmla="*/ 3656 w 10002"/>
                <a:gd name="connsiteY4" fmla="*/ 10070 h 10070"/>
                <a:gd name="connsiteX5" fmla="*/ 2 w 10002"/>
                <a:gd name="connsiteY5" fmla="*/ 5023 h 10070"/>
                <a:gd name="connsiteX6" fmla="*/ 3237 w 10002"/>
                <a:gd name="connsiteY6" fmla="*/ 0 h 10070"/>
                <a:gd name="connsiteX0" fmla="*/ 2761 w 9526"/>
                <a:gd name="connsiteY0" fmla="*/ 0 h 10070"/>
                <a:gd name="connsiteX1" fmla="*/ 9526 w 9526"/>
                <a:gd name="connsiteY1" fmla="*/ 23 h 10070"/>
                <a:gd name="connsiteX2" fmla="*/ 6963 w 9526"/>
                <a:gd name="connsiteY2" fmla="*/ 5023 h 10070"/>
                <a:gd name="connsiteX3" fmla="*/ 9526 w 9526"/>
                <a:gd name="connsiteY3" fmla="*/ 10023 h 10070"/>
                <a:gd name="connsiteX4" fmla="*/ 3180 w 9526"/>
                <a:gd name="connsiteY4" fmla="*/ 10070 h 10070"/>
                <a:gd name="connsiteX5" fmla="*/ 2 w 9526"/>
                <a:gd name="connsiteY5" fmla="*/ 5023 h 10070"/>
                <a:gd name="connsiteX6" fmla="*/ 2761 w 9526"/>
                <a:gd name="connsiteY6" fmla="*/ 0 h 10070"/>
                <a:gd name="connsiteX0" fmla="*/ 2898 w 10000"/>
                <a:gd name="connsiteY0" fmla="*/ 0 h 10000"/>
                <a:gd name="connsiteX1" fmla="*/ 10000 w 10000"/>
                <a:gd name="connsiteY1" fmla="*/ 23 h 10000"/>
                <a:gd name="connsiteX2" fmla="*/ 7309 w 10000"/>
                <a:gd name="connsiteY2" fmla="*/ 4988 h 10000"/>
                <a:gd name="connsiteX3" fmla="*/ 10000 w 10000"/>
                <a:gd name="connsiteY3" fmla="*/ 9953 h 10000"/>
                <a:gd name="connsiteX4" fmla="*/ 3338 w 10000"/>
                <a:gd name="connsiteY4" fmla="*/ 10000 h 10000"/>
                <a:gd name="connsiteX5" fmla="*/ 2 w 10000"/>
                <a:gd name="connsiteY5" fmla="*/ 4988 h 10000"/>
                <a:gd name="connsiteX6" fmla="*/ 2898 w 10000"/>
                <a:gd name="connsiteY6" fmla="*/ 0 h 10000"/>
                <a:gd name="connsiteX0" fmla="*/ 4522 w 10008"/>
                <a:gd name="connsiteY0" fmla="*/ 0 h 10000"/>
                <a:gd name="connsiteX1" fmla="*/ 10008 w 10008"/>
                <a:gd name="connsiteY1" fmla="*/ 23 h 10000"/>
                <a:gd name="connsiteX2" fmla="*/ 7317 w 10008"/>
                <a:gd name="connsiteY2" fmla="*/ 4988 h 10000"/>
                <a:gd name="connsiteX3" fmla="*/ 10008 w 10008"/>
                <a:gd name="connsiteY3" fmla="*/ 9953 h 10000"/>
                <a:gd name="connsiteX4" fmla="*/ 3346 w 10008"/>
                <a:gd name="connsiteY4" fmla="*/ 10000 h 10000"/>
                <a:gd name="connsiteX5" fmla="*/ 10 w 10008"/>
                <a:gd name="connsiteY5" fmla="*/ 4988 h 10000"/>
                <a:gd name="connsiteX6" fmla="*/ 4522 w 10008"/>
                <a:gd name="connsiteY6" fmla="*/ 0 h 10000"/>
                <a:gd name="connsiteX0" fmla="*/ 4518 w 10004"/>
                <a:gd name="connsiteY0" fmla="*/ 0 h 10000"/>
                <a:gd name="connsiteX1" fmla="*/ 10004 w 10004"/>
                <a:gd name="connsiteY1" fmla="*/ 23 h 10000"/>
                <a:gd name="connsiteX2" fmla="*/ 7313 w 10004"/>
                <a:gd name="connsiteY2" fmla="*/ 4988 h 10000"/>
                <a:gd name="connsiteX3" fmla="*/ 10004 w 10004"/>
                <a:gd name="connsiteY3" fmla="*/ 9953 h 10000"/>
                <a:gd name="connsiteX4" fmla="*/ 5516 w 10004"/>
                <a:gd name="connsiteY4" fmla="*/ 10000 h 10000"/>
                <a:gd name="connsiteX5" fmla="*/ 6 w 10004"/>
                <a:gd name="connsiteY5" fmla="*/ 4988 h 10000"/>
                <a:gd name="connsiteX6" fmla="*/ 4518 w 10004"/>
                <a:gd name="connsiteY6" fmla="*/ 0 h 10000"/>
                <a:gd name="connsiteX0" fmla="*/ 4530 w 10016"/>
                <a:gd name="connsiteY0" fmla="*/ 0 h 10047"/>
                <a:gd name="connsiteX1" fmla="*/ 10016 w 10016"/>
                <a:gd name="connsiteY1" fmla="*/ 23 h 10047"/>
                <a:gd name="connsiteX2" fmla="*/ 7325 w 10016"/>
                <a:gd name="connsiteY2" fmla="*/ 4988 h 10047"/>
                <a:gd name="connsiteX3" fmla="*/ 10016 w 10016"/>
                <a:gd name="connsiteY3" fmla="*/ 9953 h 10047"/>
                <a:gd name="connsiteX4" fmla="*/ 6439 w 10016"/>
                <a:gd name="connsiteY4" fmla="*/ 10047 h 10047"/>
                <a:gd name="connsiteX5" fmla="*/ 18 w 10016"/>
                <a:gd name="connsiteY5" fmla="*/ 4988 h 10047"/>
                <a:gd name="connsiteX6" fmla="*/ 4530 w 10016"/>
                <a:gd name="connsiteY6" fmla="*/ 0 h 10047"/>
                <a:gd name="connsiteX0" fmla="*/ 5602 w 10001"/>
                <a:gd name="connsiteY0" fmla="*/ 0 h 10024"/>
                <a:gd name="connsiteX1" fmla="*/ 10001 w 10001"/>
                <a:gd name="connsiteY1" fmla="*/ 0 h 10024"/>
                <a:gd name="connsiteX2" fmla="*/ 7310 w 10001"/>
                <a:gd name="connsiteY2" fmla="*/ 4965 h 10024"/>
                <a:gd name="connsiteX3" fmla="*/ 10001 w 10001"/>
                <a:gd name="connsiteY3" fmla="*/ 9930 h 10024"/>
                <a:gd name="connsiteX4" fmla="*/ 6424 w 10001"/>
                <a:gd name="connsiteY4" fmla="*/ 10024 h 10024"/>
                <a:gd name="connsiteX5" fmla="*/ 3 w 10001"/>
                <a:gd name="connsiteY5" fmla="*/ 4965 h 10024"/>
                <a:gd name="connsiteX6" fmla="*/ 5602 w 10001"/>
                <a:gd name="connsiteY6" fmla="*/ 0 h 10024"/>
                <a:gd name="connsiteX0" fmla="*/ 6158 w 9999"/>
                <a:gd name="connsiteY0" fmla="*/ 0 h 10024"/>
                <a:gd name="connsiteX1" fmla="*/ 9999 w 9999"/>
                <a:gd name="connsiteY1" fmla="*/ 0 h 10024"/>
                <a:gd name="connsiteX2" fmla="*/ 7308 w 9999"/>
                <a:gd name="connsiteY2" fmla="*/ 4965 h 10024"/>
                <a:gd name="connsiteX3" fmla="*/ 9999 w 9999"/>
                <a:gd name="connsiteY3" fmla="*/ 9930 h 10024"/>
                <a:gd name="connsiteX4" fmla="*/ 6422 w 9999"/>
                <a:gd name="connsiteY4" fmla="*/ 10024 h 10024"/>
                <a:gd name="connsiteX5" fmla="*/ 1 w 9999"/>
                <a:gd name="connsiteY5" fmla="*/ 4965 h 10024"/>
                <a:gd name="connsiteX6" fmla="*/ 6158 w 9999"/>
                <a:gd name="connsiteY6" fmla="*/ 0 h 10024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5924 w 9765"/>
                <a:gd name="connsiteY0" fmla="*/ 0 h 10000"/>
                <a:gd name="connsiteX1" fmla="*/ 9765 w 9765"/>
                <a:gd name="connsiteY1" fmla="*/ 0 h 10000"/>
                <a:gd name="connsiteX2" fmla="*/ 7074 w 9765"/>
                <a:gd name="connsiteY2" fmla="*/ 4953 h 10000"/>
                <a:gd name="connsiteX3" fmla="*/ 9765 w 9765"/>
                <a:gd name="connsiteY3" fmla="*/ 9906 h 10000"/>
                <a:gd name="connsiteX4" fmla="*/ 6188 w 9765"/>
                <a:gd name="connsiteY4" fmla="*/ 10000 h 10000"/>
                <a:gd name="connsiteX5" fmla="*/ 1 w 9765"/>
                <a:gd name="connsiteY5" fmla="*/ 4953 h 10000"/>
                <a:gd name="connsiteX6" fmla="*/ 5924 w 9765"/>
                <a:gd name="connsiteY6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65" h="10000">
                  <a:moveTo>
                    <a:pt x="5924" y="0"/>
                  </a:moveTo>
                  <a:lnTo>
                    <a:pt x="9765" y="0"/>
                  </a:lnTo>
                  <a:cubicBezTo>
                    <a:pt x="8827" y="232"/>
                    <a:pt x="7074" y="2218"/>
                    <a:pt x="7074" y="4953"/>
                  </a:cubicBezTo>
                  <a:cubicBezTo>
                    <a:pt x="7074" y="7689"/>
                    <a:pt x="8769" y="9558"/>
                    <a:pt x="9765" y="9906"/>
                  </a:cubicBezTo>
                  <a:lnTo>
                    <a:pt x="6188" y="10000"/>
                  </a:lnTo>
                  <a:cubicBezTo>
                    <a:pt x="2576" y="10046"/>
                    <a:pt x="45" y="6620"/>
                    <a:pt x="1" y="4953"/>
                  </a:cubicBezTo>
                  <a:cubicBezTo>
                    <a:pt x="-43" y="3286"/>
                    <a:pt x="1755" y="0"/>
                    <a:pt x="5924" y="0"/>
                  </a:cubicBez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>
                <a:solidFill>
                  <a:schemeClr val="dk1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822885" y="1708888"/>
              <a:ext cx="306494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200" dirty="0" smtClean="0">
                  <a:latin typeface="+mj-lt"/>
                </a:rPr>
                <a:t>x</a:t>
              </a:r>
              <a:endParaRPr lang="en-US" sz="2200" dirty="0">
                <a:latin typeface="+mj-lt"/>
              </a:endParaRPr>
            </a:p>
          </p:txBody>
        </p:sp>
        <p:cxnSp>
          <p:nvCxnSpPr>
            <p:cNvPr id="21" name="Straight Connector 20"/>
            <p:cNvCxnSpPr>
              <a:stCxn id="20" idx="3"/>
            </p:cNvCxnSpPr>
            <p:nvPr/>
          </p:nvCxnSpPr>
          <p:spPr bwMode="auto">
            <a:xfrm>
              <a:off x="1129379" y="1924332"/>
              <a:ext cx="447605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sp>
          <p:nvSpPr>
            <p:cNvPr id="22" name="Rectangle 21"/>
            <p:cNvSpPr/>
            <p:nvPr/>
          </p:nvSpPr>
          <p:spPr>
            <a:xfrm>
              <a:off x="822885" y="2143684"/>
              <a:ext cx="312906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200" dirty="0">
                  <a:latin typeface="+mj-lt"/>
                </a:rPr>
                <a:t>y</a:t>
              </a:r>
            </a:p>
          </p:txBody>
        </p:sp>
        <p:cxnSp>
          <p:nvCxnSpPr>
            <p:cNvPr id="23" name="Straight Connector 22"/>
            <p:cNvCxnSpPr>
              <a:stCxn id="22" idx="3"/>
            </p:cNvCxnSpPr>
            <p:nvPr/>
          </p:nvCxnSpPr>
          <p:spPr bwMode="auto">
            <a:xfrm>
              <a:off x="1135791" y="2359128"/>
              <a:ext cx="441193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25" name="Straight Connector 24"/>
            <p:cNvCxnSpPr/>
            <p:nvPr/>
          </p:nvCxnSpPr>
          <p:spPr bwMode="auto">
            <a:xfrm flipH="1">
              <a:off x="2109837" y="2125630"/>
              <a:ext cx="339594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lg" len="lg"/>
              <a:tailEnd type="oval" w="med" len="med"/>
            </a:ln>
            <a:effectLst/>
          </p:spPr>
        </p:cxnSp>
      </p:grpSp>
      <p:graphicFrame>
        <p:nvGraphicFramePr>
          <p:cNvPr id="30" name="Table 29"/>
          <p:cNvGraphicFramePr>
            <a:graphicFrameLocks noGrp="1"/>
          </p:cNvGraphicFramePr>
          <p:nvPr>
            <p:extLst/>
          </p:nvPr>
        </p:nvGraphicFramePr>
        <p:xfrm>
          <a:off x="5728417" y="1432028"/>
          <a:ext cx="227255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518"/>
                <a:gridCol w="757518"/>
                <a:gridCol w="75751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x+y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7471365" y="1801812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1365" y="2170539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1365" y="2539266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1365" y="2907994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itchFamily="49" charset="0"/>
                <a:cs typeface="Consolas" pitchFamily="49" charset="0"/>
              </a:rPr>
              <a:t>1</a:t>
            </a:r>
            <a:endParaRPr lang="en-US" dirty="0" smtClean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5" name="Content Placeholder 2"/>
          <p:cNvSpPr txBox="1">
            <a:spLocks/>
          </p:cNvSpPr>
          <p:nvPr/>
        </p:nvSpPr>
        <p:spPr bwMode="auto">
          <a:xfrm>
            <a:off x="457200" y="3254785"/>
            <a:ext cx="8228012" cy="877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75000"/>
              </a:spcBef>
              <a:spcAft>
                <a:spcPct val="0"/>
              </a:spcAft>
              <a:defRPr sz="2400" b="0" i="0">
                <a:solidFill>
                  <a:schemeClr val="tx1"/>
                </a:solidFill>
                <a:latin typeface="Neo Sans Intel"/>
                <a:ea typeface="+mn-ea"/>
                <a:cs typeface="Neo Sans Intel"/>
              </a:defRPr>
            </a:lvl1pPr>
            <a:lvl2pPr marL="185738" indent="-184150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Font typeface="Times" pitchFamily="18" charset="0"/>
              <a:buChar char="•"/>
              <a:defRPr sz="2200" b="0" i="0">
                <a:solidFill>
                  <a:schemeClr val="tx1"/>
                </a:solidFill>
                <a:latin typeface="Neo Sans Intel"/>
                <a:cs typeface="Neo Sans Intel"/>
              </a:defRPr>
            </a:lvl2pPr>
            <a:lvl3pPr marL="414338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Neo Sans Intel" pitchFamily="34" charset="0"/>
              <a:buChar char="–"/>
              <a:defRPr sz="2000" b="0" i="0">
                <a:solidFill>
                  <a:schemeClr val="tx1"/>
                </a:solidFill>
                <a:latin typeface="Neo Sans Intel"/>
                <a:cs typeface="Neo Sans Intel"/>
              </a:defRPr>
            </a:lvl3pPr>
            <a:lvl4pPr marL="568325" indent="-1524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Neo Sans Intel" pitchFamily="34" charset="0"/>
              <a:buChar char="–"/>
              <a:defRPr sz="1800" b="0" i="0">
                <a:solidFill>
                  <a:schemeClr val="tx1"/>
                </a:solidFill>
                <a:latin typeface="Neo Sans Intel"/>
                <a:cs typeface="Neo Sans Intel"/>
              </a:defRPr>
            </a:lvl4pPr>
            <a:lvl5pPr marL="7620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800" b="0" i="0">
                <a:solidFill>
                  <a:schemeClr val="tx1"/>
                </a:solidFill>
                <a:latin typeface="Neo Sans Intel"/>
                <a:cs typeface="Neo Sans Intel"/>
              </a:defRPr>
            </a:lvl5pPr>
            <a:lvl6pPr marL="12192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16764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21336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25908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342900" indent="-342900">
              <a:buFont typeface="Arial" pitchFamily="34" charset="0"/>
              <a:buChar char="•"/>
            </a:pPr>
            <a:r>
              <a:rPr lang="en-US" sz="2200" dirty="0" smtClean="0">
                <a:latin typeface="+mj-lt"/>
              </a:rPr>
              <a:t>NOR !(</a:t>
            </a:r>
            <a:r>
              <a:rPr lang="en-US" sz="2200" dirty="0" err="1" smtClean="0">
                <a:latin typeface="+mj-lt"/>
              </a:rPr>
              <a:t>x+y</a:t>
            </a:r>
            <a:r>
              <a:rPr lang="en-US" sz="2200" dirty="0">
                <a:latin typeface="+mj-lt"/>
              </a:rPr>
              <a:t>)</a:t>
            </a:r>
            <a:endParaRPr lang="en-US" sz="2200" dirty="0" smtClean="0">
              <a:latin typeface="+mj-lt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200" dirty="0" smtClean="0">
                <a:latin typeface="+mj-lt"/>
              </a:rPr>
              <a:t>XOR (or exclusive OR, or addition by module 2)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>
            <p:extLst/>
          </p:nvPr>
        </p:nvGraphicFramePr>
        <p:xfrm>
          <a:off x="5736783" y="4246953"/>
          <a:ext cx="239358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989"/>
                <a:gridCol w="779721"/>
                <a:gridCol w="87187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 </a:t>
                      </a:r>
                      <a:r>
                        <a:rPr lang="en-US" dirty="0" smtClean="0"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</a:t>
                      </a:r>
                      <a:r>
                        <a:rPr lang="en-US" sz="16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3" name="TextBox 52"/>
          <p:cNvSpPr txBox="1"/>
          <p:nvPr/>
        </p:nvSpPr>
        <p:spPr>
          <a:xfrm>
            <a:off x="7479731" y="4616737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79731" y="4985464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79731" y="5354191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79731" y="5722919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95629" y="4993985"/>
            <a:ext cx="98937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x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</a:t>
            </a:r>
            <a:r>
              <a:rPr lang="en-US" sz="2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endParaRPr lang="en-US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62" name="Group 61"/>
          <p:cNvGrpSpPr/>
          <p:nvPr/>
        </p:nvGrpSpPr>
        <p:grpSpPr>
          <a:xfrm>
            <a:off x="454025" y="4810816"/>
            <a:ext cx="1745281" cy="865683"/>
            <a:chOff x="1393856" y="4792763"/>
            <a:chExt cx="1745281" cy="865683"/>
          </a:xfrm>
        </p:grpSpPr>
        <p:sp>
          <p:nvSpPr>
            <p:cNvPr id="47" name="Rectangle 46"/>
            <p:cNvSpPr/>
            <p:nvPr/>
          </p:nvSpPr>
          <p:spPr>
            <a:xfrm>
              <a:off x="1393856" y="4792763"/>
              <a:ext cx="306494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200" dirty="0" smtClean="0">
                  <a:latin typeface="+mj-lt"/>
                </a:rPr>
                <a:t>x</a:t>
              </a:r>
              <a:endParaRPr lang="en-US" sz="2200" dirty="0">
                <a:latin typeface="+mj-lt"/>
              </a:endParaRPr>
            </a:p>
          </p:txBody>
        </p:sp>
        <p:grpSp>
          <p:nvGrpSpPr>
            <p:cNvPr id="61" name="Group 60"/>
            <p:cNvGrpSpPr/>
            <p:nvPr/>
          </p:nvGrpSpPr>
          <p:grpSpPr>
            <a:xfrm>
              <a:off x="1694506" y="4803088"/>
              <a:ext cx="1079453" cy="820453"/>
              <a:chOff x="1694506" y="4803088"/>
              <a:chExt cx="1079453" cy="820453"/>
            </a:xfrm>
          </p:grpSpPr>
          <p:sp>
            <p:nvSpPr>
              <p:cNvPr id="46" name="Flowchart: Delay 18"/>
              <p:cNvSpPr/>
              <p:nvPr/>
            </p:nvSpPr>
            <p:spPr bwMode="auto">
              <a:xfrm flipH="1">
                <a:off x="2140960" y="4803088"/>
                <a:ext cx="632999" cy="820453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3276 w 10041"/>
                  <a:gd name="connsiteY0" fmla="*/ 0 h 10023"/>
                  <a:gd name="connsiteX1" fmla="*/ 10041 w 10041"/>
                  <a:gd name="connsiteY1" fmla="*/ 23 h 10023"/>
                  <a:gd name="connsiteX2" fmla="*/ 8374 w 10041"/>
                  <a:gd name="connsiteY2" fmla="*/ 5023 h 10023"/>
                  <a:gd name="connsiteX3" fmla="*/ 10041 w 10041"/>
                  <a:gd name="connsiteY3" fmla="*/ 10023 h 10023"/>
                  <a:gd name="connsiteX4" fmla="*/ 1708 w 10041"/>
                  <a:gd name="connsiteY4" fmla="*/ 10023 h 10023"/>
                  <a:gd name="connsiteX5" fmla="*/ 41 w 10041"/>
                  <a:gd name="connsiteY5" fmla="*/ 5023 h 10023"/>
                  <a:gd name="connsiteX6" fmla="*/ 3276 w 10041"/>
                  <a:gd name="connsiteY6" fmla="*/ 0 h 10023"/>
                  <a:gd name="connsiteX0" fmla="*/ 3237 w 10002"/>
                  <a:gd name="connsiteY0" fmla="*/ 0 h 10070"/>
                  <a:gd name="connsiteX1" fmla="*/ 10002 w 10002"/>
                  <a:gd name="connsiteY1" fmla="*/ 23 h 10070"/>
                  <a:gd name="connsiteX2" fmla="*/ 8335 w 10002"/>
                  <a:gd name="connsiteY2" fmla="*/ 5023 h 10070"/>
                  <a:gd name="connsiteX3" fmla="*/ 10002 w 10002"/>
                  <a:gd name="connsiteY3" fmla="*/ 10023 h 10070"/>
                  <a:gd name="connsiteX4" fmla="*/ 3656 w 10002"/>
                  <a:gd name="connsiteY4" fmla="*/ 10070 h 10070"/>
                  <a:gd name="connsiteX5" fmla="*/ 2 w 10002"/>
                  <a:gd name="connsiteY5" fmla="*/ 5023 h 10070"/>
                  <a:gd name="connsiteX6" fmla="*/ 3237 w 10002"/>
                  <a:gd name="connsiteY6" fmla="*/ 0 h 10070"/>
                  <a:gd name="connsiteX0" fmla="*/ 3237 w 10002"/>
                  <a:gd name="connsiteY0" fmla="*/ 0 h 10070"/>
                  <a:gd name="connsiteX1" fmla="*/ 10002 w 10002"/>
                  <a:gd name="connsiteY1" fmla="*/ 23 h 10070"/>
                  <a:gd name="connsiteX2" fmla="*/ 7439 w 10002"/>
                  <a:gd name="connsiteY2" fmla="*/ 5023 h 10070"/>
                  <a:gd name="connsiteX3" fmla="*/ 10002 w 10002"/>
                  <a:gd name="connsiteY3" fmla="*/ 10023 h 10070"/>
                  <a:gd name="connsiteX4" fmla="*/ 3656 w 10002"/>
                  <a:gd name="connsiteY4" fmla="*/ 10070 h 10070"/>
                  <a:gd name="connsiteX5" fmla="*/ 2 w 10002"/>
                  <a:gd name="connsiteY5" fmla="*/ 5023 h 10070"/>
                  <a:gd name="connsiteX6" fmla="*/ 3237 w 10002"/>
                  <a:gd name="connsiteY6" fmla="*/ 0 h 10070"/>
                  <a:gd name="connsiteX0" fmla="*/ 2761 w 9526"/>
                  <a:gd name="connsiteY0" fmla="*/ 0 h 10070"/>
                  <a:gd name="connsiteX1" fmla="*/ 9526 w 9526"/>
                  <a:gd name="connsiteY1" fmla="*/ 23 h 10070"/>
                  <a:gd name="connsiteX2" fmla="*/ 6963 w 9526"/>
                  <a:gd name="connsiteY2" fmla="*/ 5023 h 10070"/>
                  <a:gd name="connsiteX3" fmla="*/ 9526 w 9526"/>
                  <a:gd name="connsiteY3" fmla="*/ 10023 h 10070"/>
                  <a:gd name="connsiteX4" fmla="*/ 3180 w 9526"/>
                  <a:gd name="connsiteY4" fmla="*/ 10070 h 10070"/>
                  <a:gd name="connsiteX5" fmla="*/ 2 w 9526"/>
                  <a:gd name="connsiteY5" fmla="*/ 5023 h 10070"/>
                  <a:gd name="connsiteX6" fmla="*/ 2761 w 9526"/>
                  <a:gd name="connsiteY6" fmla="*/ 0 h 10070"/>
                  <a:gd name="connsiteX0" fmla="*/ 2898 w 10000"/>
                  <a:gd name="connsiteY0" fmla="*/ 0 h 10000"/>
                  <a:gd name="connsiteX1" fmla="*/ 10000 w 10000"/>
                  <a:gd name="connsiteY1" fmla="*/ 23 h 10000"/>
                  <a:gd name="connsiteX2" fmla="*/ 7309 w 10000"/>
                  <a:gd name="connsiteY2" fmla="*/ 4988 h 10000"/>
                  <a:gd name="connsiteX3" fmla="*/ 10000 w 10000"/>
                  <a:gd name="connsiteY3" fmla="*/ 9953 h 10000"/>
                  <a:gd name="connsiteX4" fmla="*/ 3338 w 10000"/>
                  <a:gd name="connsiteY4" fmla="*/ 10000 h 10000"/>
                  <a:gd name="connsiteX5" fmla="*/ 2 w 10000"/>
                  <a:gd name="connsiteY5" fmla="*/ 4988 h 10000"/>
                  <a:gd name="connsiteX6" fmla="*/ 2898 w 10000"/>
                  <a:gd name="connsiteY6" fmla="*/ 0 h 10000"/>
                  <a:gd name="connsiteX0" fmla="*/ 4522 w 10008"/>
                  <a:gd name="connsiteY0" fmla="*/ 0 h 10000"/>
                  <a:gd name="connsiteX1" fmla="*/ 10008 w 10008"/>
                  <a:gd name="connsiteY1" fmla="*/ 23 h 10000"/>
                  <a:gd name="connsiteX2" fmla="*/ 7317 w 10008"/>
                  <a:gd name="connsiteY2" fmla="*/ 4988 h 10000"/>
                  <a:gd name="connsiteX3" fmla="*/ 10008 w 10008"/>
                  <a:gd name="connsiteY3" fmla="*/ 9953 h 10000"/>
                  <a:gd name="connsiteX4" fmla="*/ 3346 w 10008"/>
                  <a:gd name="connsiteY4" fmla="*/ 10000 h 10000"/>
                  <a:gd name="connsiteX5" fmla="*/ 10 w 10008"/>
                  <a:gd name="connsiteY5" fmla="*/ 4988 h 10000"/>
                  <a:gd name="connsiteX6" fmla="*/ 4522 w 10008"/>
                  <a:gd name="connsiteY6" fmla="*/ 0 h 10000"/>
                  <a:gd name="connsiteX0" fmla="*/ 4518 w 10004"/>
                  <a:gd name="connsiteY0" fmla="*/ 0 h 10000"/>
                  <a:gd name="connsiteX1" fmla="*/ 10004 w 10004"/>
                  <a:gd name="connsiteY1" fmla="*/ 23 h 10000"/>
                  <a:gd name="connsiteX2" fmla="*/ 7313 w 10004"/>
                  <a:gd name="connsiteY2" fmla="*/ 4988 h 10000"/>
                  <a:gd name="connsiteX3" fmla="*/ 10004 w 10004"/>
                  <a:gd name="connsiteY3" fmla="*/ 9953 h 10000"/>
                  <a:gd name="connsiteX4" fmla="*/ 5516 w 10004"/>
                  <a:gd name="connsiteY4" fmla="*/ 10000 h 10000"/>
                  <a:gd name="connsiteX5" fmla="*/ 6 w 10004"/>
                  <a:gd name="connsiteY5" fmla="*/ 4988 h 10000"/>
                  <a:gd name="connsiteX6" fmla="*/ 4518 w 10004"/>
                  <a:gd name="connsiteY6" fmla="*/ 0 h 10000"/>
                  <a:gd name="connsiteX0" fmla="*/ 4530 w 10016"/>
                  <a:gd name="connsiteY0" fmla="*/ 0 h 10047"/>
                  <a:gd name="connsiteX1" fmla="*/ 10016 w 10016"/>
                  <a:gd name="connsiteY1" fmla="*/ 23 h 10047"/>
                  <a:gd name="connsiteX2" fmla="*/ 7325 w 10016"/>
                  <a:gd name="connsiteY2" fmla="*/ 4988 h 10047"/>
                  <a:gd name="connsiteX3" fmla="*/ 10016 w 10016"/>
                  <a:gd name="connsiteY3" fmla="*/ 9953 h 10047"/>
                  <a:gd name="connsiteX4" fmla="*/ 6439 w 10016"/>
                  <a:gd name="connsiteY4" fmla="*/ 10047 h 10047"/>
                  <a:gd name="connsiteX5" fmla="*/ 18 w 10016"/>
                  <a:gd name="connsiteY5" fmla="*/ 4988 h 10047"/>
                  <a:gd name="connsiteX6" fmla="*/ 4530 w 10016"/>
                  <a:gd name="connsiteY6" fmla="*/ 0 h 10047"/>
                  <a:gd name="connsiteX0" fmla="*/ 5602 w 10001"/>
                  <a:gd name="connsiteY0" fmla="*/ 0 h 10024"/>
                  <a:gd name="connsiteX1" fmla="*/ 10001 w 10001"/>
                  <a:gd name="connsiteY1" fmla="*/ 0 h 10024"/>
                  <a:gd name="connsiteX2" fmla="*/ 7310 w 10001"/>
                  <a:gd name="connsiteY2" fmla="*/ 4965 h 10024"/>
                  <a:gd name="connsiteX3" fmla="*/ 10001 w 10001"/>
                  <a:gd name="connsiteY3" fmla="*/ 9930 h 10024"/>
                  <a:gd name="connsiteX4" fmla="*/ 6424 w 10001"/>
                  <a:gd name="connsiteY4" fmla="*/ 10024 h 10024"/>
                  <a:gd name="connsiteX5" fmla="*/ 3 w 10001"/>
                  <a:gd name="connsiteY5" fmla="*/ 4965 h 10024"/>
                  <a:gd name="connsiteX6" fmla="*/ 5602 w 10001"/>
                  <a:gd name="connsiteY6" fmla="*/ 0 h 10024"/>
                  <a:gd name="connsiteX0" fmla="*/ 6158 w 9999"/>
                  <a:gd name="connsiteY0" fmla="*/ 0 h 10024"/>
                  <a:gd name="connsiteX1" fmla="*/ 9999 w 9999"/>
                  <a:gd name="connsiteY1" fmla="*/ 0 h 10024"/>
                  <a:gd name="connsiteX2" fmla="*/ 7308 w 9999"/>
                  <a:gd name="connsiteY2" fmla="*/ 4965 h 10024"/>
                  <a:gd name="connsiteX3" fmla="*/ 9999 w 9999"/>
                  <a:gd name="connsiteY3" fmla="*/ 9930 h 10024"/>
                  <a:gd name="connsiteX4" fmla="*/ 6422 w 9999"/>
                  <a:gd name="connsiteY4" fmla="*/ 10024 h 10024"/>
                  <a:gd name="connsiteX5" fmla="*/ 1 w 9999"/>
                  <a:gd name="connsiteY5" fmla="*/ 4965 h 10024"/>
                  <a:gd name="connsiteX6" fmla="*/ 6158 w 9999"/>
                  <a:gd name="connsiteY6" fmla="*/ 0 h 10024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5924 w 9765"/>
                  <a:gd name="connsiteY0" fmla="*/ 0 h 10000"/>
                  <a:gd name="connsiteX1" fmla="*/ 9765 w 9765"/>
                  <a:gd name="connsiteY1" fmla="*/ 0 h 10000"/>
                  <a:gd name="connsiteX2" fmla="*/ 7074 w 9765"/>
                  <a:gd name="connsiteY2" fmla="*/ 4953 h 10000"/>
                  <a:gd name="connsiteX3" fmla="*/ 9765 w 9765"/>
                  <a:gd name="connsiteY3" fmla="*/ 9906 h 10000"/>
                  <a:gd name="connsiteX4" fmla="*/ 6188 w 9765"/>
                  <a:gd name="connsiteY4" fmla="*/ 10000 h 10000"/>
                  <a:gd name="connsiteX5" fmla="*/ 1 w 9765"/>
                  <a:gd name="connsiteY5" fmla="*/ 4953 h 10000"/>
                  <a:gd name="connsiteX6" fmla="*/ 5924 w 9765"/>
                  <a:gd name="connsiteY6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765" h="10000">
                    <a:moveTo>
                      <a:pt x="5924" y="0"/>
                    </a:moveTo>
                    <a:lnTo>
                      <a:pt x="9765" y="0"/>
                    </a:lnTo>
                    <a:cubicBezTo>
                      <a:pt x="8827" y="232"/>
                      <a:pt x="7074" y="2218"/>
                      <a:pt x="7074" y="4953"/>
                    </a:cubicBezTo>
                    <a:cubicBezTo>
                      <a:pt x="7074" y="7689"/>
                      <a:pt x="8769" y="9558"/>
                      <a:pt x="9765" y="9906"/>
                    </a:cubicBezTo>
                    <a:lnTo>
                      <a:pt x="6188" y="10000"/>
                    </a:lnTo>
                    <a:cubicBezTo>
                      <a:pt x="2576" y="10046"/>
                      <a:pt x="45" y="6620"/>
                      <a:pt x="1" y="4953"/>
                    </a:cubicBezTo>
                    <a:cubicBezTo>
                      <a:pt x="-43" y="3286"/>
                      <a:pt x="1755" y="0"/>
                      <a:pt x="5924" y="0"/>
                    </a:cubicBezTo>
                    <a:close/>
                  </a:path>
                </a:pathLst>
              </a:custGeom>
              <a:solidFill>
                <a:schemeClr val="bg2">
                  <a:lumMod val="40000"/>
                  <a:lumOff val="60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>
                  <a:solidFill>
                    <a:schemeClr val="dk1"/>
                  </a:solidFill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59" name="Arc 58"/>
              <p:cNvSpPr/>
              <p:nvPr/>
            </p:nvSpPr>
            <p:spPr bwMode="auto">
              <a:xfrm>
                <a:off x="1694506" y="4831080"/>
                <a:ext cx="519245" cy="766030"/>
              </a:xfrm>
              <a:prstGeom prst="arc">
                <a:avLst>
                  <a:gd name="adj1" fmla="val 16409082"/>
                  <a:gd name="adj2" fmla="val 5221329"/>
                </a:avLst>
              </a:prstGeom>
              <a:noFill/>
              <a:ln w="28575" cap="flat" cmpd="sng" algn="ctr">
                <a:solidFill>
                  <a:schemeClr val="bg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j-lt"/>
                  <a:cs typeface="Arial" pitchFamily="34" charset="0"/>
                </a:endParaRPr>
              </a:p>
            </p:txBody>
          </p:sp>
        </p:grpSp>
        <p:sp>
          <p:nvSpPr>
            <p:cNvPr id="49" name="Rectangle 48"/>
            <p:cNvSpPr/>
            <p:nvPr/>
          </p:nvSpPr>
          <p:spPr>
            <a:xfrm>
              <a:off x="1393856" y="5227559"/>
              <a:ext cx="312906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200" dirty="0">
                  <a:latin typeface="+mj-lt"/>
                </a:rPr>
                <a:t>y</a:t>
              </a:r>
            </a:p>
          </p:txBody>
        </p:sp>
        <p:cxnSp>
          <p:nvCxnSpPr>
            <p:cNvPr id="50" name="Straight Connector 49"/>
            <p:cNvCxnSpPr>
              <a:stCxn id="49" idx="3"/>
            </p:cNvCxnSpPr>
            <p:nvPr/>
          </p:nvCxnSpPr>
          <p:spPr bwMode="auto">
            <a:xfrm>
              <a:off x="1706762" y="5443003"/>
              <a:ext cx="441193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60" name="Straight Connector 59"/>
            <p:cNvCxnSpPr/>
            <p:nvPr/>
          </p:nvCxnSpPr>
          <p:spPr bwMode="auto">
            <a:xfrm>
              <a:off x="1724666" y="5025769"/>
              <a:ext cx="428369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51" name="Straight Connector 50"/>
            <p:cNvCxnSpPr/>
            <p:nvPr/>
          </p:nvCxnSpPr>
          <p:spPr bwMode="auto">
            <a:xfrm flipH="1">
              <a:off x="2799543" y="5209505"/>
              <a:ext cx="339594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lg" len="lg"/>
              <a:tailEnd type="oval" w="med" len="med"/>
            </a:ln>
            <a:effectLst/>
          </p:spPr>
        </p:cxnSp>
      </p:grpSp>
      <p:sp>
        <p:nvSpPr>
          <p:cNvPr id="4" name="Rectangle 3"/>
          <p:cNvSpPr/>
          <p:nvPr/>
        </p:nvSpPr>
        <p:spPr>
          <a:xfrm>
            <a:off x="3103276" y="4993209"/>
            <a:ext cx="220605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= x*!y + !x*y</a:t>
            </a:r>
            <a:endParaRPr lang="en-US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6237467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1" grpId="0"/>
      <p:bldP spid="32" grpId="0"/>
      <p:bldP spid="33" grpId="0"/>
      <p:bldP spid="34" grpId="0"/>
      <p:bldP spid="53" grpId="0"/>
      <p:bldP spid="54" grpId="0"/>
      <p:bldP spid="55" grpId="0"/>
      <p:bldP spid="56" grpId="0"/>
      <p:bldP spid="44" grpId="0"/>
      <p:bldP spid="4" grpId="0"/>
    </p:bldLst>
  </p:timing>
  <p:extLst mod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axioms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dirty="0" smtClean="0"/>
              <a:t>There about ten axioms and theorems that can be used to create new or to simplify existed functions</a:t>
            </a:r>
          </a:p>
        </p:txBody>
      </p:sp>
      <p:graphicFrame>
        <p:nvGraphicFramePr>
          <p:cNvPr id="15" name="Table 7"/>
          <p:cNvGraphicFramePr>
            <a:graphicFrameLocks noGrp="1"/>
          </p:cNvGraphicFramePr>
          <p:nvPr>
            <p:extLst/>
          </p:nvPr>
        </p:nvGraphicFramePr>
        <p:xfrm>
          <a:off x="778342" y="1796530"/>
          <a:ext cx="7978590" cy="3439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9295"/>
                <a:gridCol w="3118884"/>
                <a:gridCol w="3100411"/>
              </a:tblGrid>
              <a:tr h="307573">
                <a:tc>
                  <a:txBody>
                    <a:bodyPr/>
                    <a:lstStyle/>
                    <a:p>
                      <a:pPr algn="l"/>
                      <a:r>
                        <a:rPr lang="en-US" b="0" dirty="0" smtClean="0">
                          <a:latin typeface="+mj-lt"/>
                        </a:rPr>
                        <a:t>Axiom</a:t>
                      </a:r>
                      <a:endParaRPr lang="en-US" b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 smtClean="0">
                          <a:latin typeface="+mj-lt"/>
                        </a:rPr>
                        <a:t>AND form</a:t>
                      </a:r>
                      <a:endParaRPr lang="en-US" b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 smtClean="0">
                          <a:latin typeface="+mj-lt"/>
                        </a:rPr>
                        <a:t>OR form</a:t>
                      </a:r>
                      <a:endParaRPr lang="en-US" b="0" dirty="0">
                        <a:latin typeface="+mj-lt"/>
                      </a:endParaRPr>
                    </a:p>
                  </a:txBody>
                  <a:tcPr anchor="ctr"/>
                </a:tc>
              </a:tr>
              <a:tr h="46493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+mj-lt"/>
                        </a:rPr>
                        <a:t>Identity law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1*x</a:t>
                      </a:r>
                      <a:r>
                        <a:rPr lang="en-US" sz="1600" baseline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x</a:t>
                      </a:r>
                      <a:endParaRPr lang="en-US" sz="16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+ x = x</a:t>
                      </a:r>
                      <a:endParaRPr lang="en-US" sz="16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46493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+mj-lt"/>
                        </a:rPr>
                        <a:t>Idempotent law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x*x = x</a:t>
                      </a:r>
                      <a:endParaRPr lang="en-US" sz="16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 + x = x</a:t>
                      </a:r>
                      <a:endParaRPr lang="en-US" sz="16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46493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+mj-lt"/>
                        </a:rPr>
                        <a:t>Inverse law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!x*x</a:t>
                      </a:r>
                      <a:r>
                        <a:rPr lang="en-US" sz="1600" baseline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0</a:t>
                      </a:r>
                      <a:endParaRPr lang="en-US" sz="16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!x + x = 1</a:t>
                      </a:r>
                    </a:p>
                  </a:txBody>
                  <a:tcPr anchor="ctr"/>
                </a:tc>
              </a:tr>
              <a:tr h="46493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Commutative law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xy</a:t>
                      </a:r>
                      <a:r>
                        <a:rPr lang="en-US" sz="16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en-US" sz="1600" dirty="0" err="1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yx</a:t>
                      </a:r>
                      <a:endParaRPr lang="en-US" sz="16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r>
                        <a:rPr lang="en-US" sz="1600" baseline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y = y + x</a:t>
                      </a:r>
                      <a:endParaRPr lang="en-US" sz="1600" dirty="0" smtClean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425626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Associative law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en-US" sz="1600" dirty="0" err="1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xy</a:t>
                      </a:r>
                      <a:r>
                        <a:rPr lang="en-US" sz="16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)z</a:t>
                      </a:r>
                      <a:r>
                        <a:rPr lang="en-US" sz="1600" baseline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x(</a:t>
                      </a:r>
                      <a:r>
                        <a:rPr lang="en-US" sz="1600" baseline="0" dirty="0" err="1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yz</a:t>
                      </a:r>
                      <a:r>
                        <a:rPr lang="en-US" sz="1600" baseline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</a:t>
                      </a:r>
                      <a:endParaRPr lang="en-US" sz="1600" dirty="0" smtClean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(x + y) +</a:t>
                      </a:r>
                      <a:r>
                        <a:rPr lang="en-US" sz="1600" baseline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z = x + (y + z)</a:t>
                      </a:r>
                    </a:p>
                  </a:txBody>
                  <a:tcPr anchor="ctr"/>
                </a:tc>
              </a:tr>
              <a:tr h="425626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Distributive law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xy</a:t>
                      </a:r>
                      <a:r>
                        <a:rPr lang="en-US" sz="16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z</a:t>
                      </a:r>
                      <a:r>
                        <a:rPr lang="en-US" sz="1600" baseline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(x + z)(y + z)</a:t>
                      </a:r>
                      <a:endParaRPr lang="en-US" sz="1600" dirty="0" smtClean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aseline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(x + y)z = </a:t>
                      </a:r>
                      <a:r>
                        <a:rPr lang="en-US" sz="1600" baseline="0" dirty="0" err="1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xz</a:t>
                      </a:r>
                      <a:r>
                        <a:rPr lang="en-US" sz="1600" baseline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sz="1600" baseline="0" dirty="0" err="1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yz</a:t>
                      </a:r>
                      <a:endParaRPr lang="en-US" sz="1600" baseline="0" dirty="0" smtClean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62978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De Morgan's laws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!(</a:t>
                      </a:r>
                      <a:r>
                        <a:rPr lang="en-US" sz="1600" kern="1200" dirty="0" err="1" smtClean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xy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)</a:t>
                      </a:r>
                      <a:r>
                        <a:rPr lang="en-US" sz="1600" kern="1200" baseline="0" dirty="0" smtClean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= !x + !y</a:t>
                      </a:r>
                      <a:endParaRPr lang="en-US" sz="1600" kern="1200" dirty="0" smtClean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!(x</a:t>
                      </a:r>
                      <a:r>
                        <a:rPr lang="en-US" sz="1600" kern="1200" baseline="0" dirty="0" smtClean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+ y) = !</a:t>
                      </a:r>
                      <a:r>
                        <a:rPr lang="en-US" sz="1600" kern="1200" baseline="0" dirty="0" err="1" smtClean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x!y</a:t>
                      </a:r>
                      <a:endParaRPr lang="en-US" sz="1600" kern="1200" dirty="0" smtClean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404206" y="5523379"/>
            <a:ext cx="8228012" cy="404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75000"/>
              </a:spcBef>
              <a:spcAft>
                <a:spcPct val="0"/>
              </a:spcAft>
              <a:defRPr sz="2400" b="0" i="0">
                <a:solidFill>
                  <a:schemeClr val="tx1"/>
                </a:solidFill>
                <a:latin typeface="Neo Sans Intel"/>
                <a:ea typeface="+mn-ea"/>
                <a:cs typeface="Neo Sans Intel"/>
              </a:defRPr>
            </a:lvl1pPr>
            <a:lvl2pPr marL="185738" indent="-184150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Font typeface="Times" pitchFamily="18" charset="0"/>
              <a:buChar char="•"/>
              <a:defRPr sz="2200" b="0" i="0">
                <a:solidFill>
                  <a:schemeClr val="tx1"/>
                </a:solidFill>
                <a:latin typeface="Neo Sans Intel"/>
                <a:cs typeface="Neo Sans Intel"/>
              </a:defRPr>
            </a:lvl2pPr>
            <a:lvl3pPr marL="414338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Neo Sans Intel" pitchFamily="34" charset="0"/>
              <a:buChar char="–"/>
              <a:defRPr sz="2000" b="0" i="0">
                <a:solidFill>
                  <a:schemeClr val="tx1"/>
                </a:solidFill>
                <a:latin typeface="Neo Sans Intel"/>
                <a:cs typeface="Neo Sans Intel"/>
              </a:defRPr>
            </a:lvl3pPr>
            <a:lvl4pPr marL="568325" indent="-1524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Neo Sans Intel" pitchFamily="34" charset="0"/>
              <a:buChar char="–"/>
              <a:defRPr sz="1800" b="0" i="0">
                <a:solidFill>
                  <a:schemeClr val="tx1"/>
                </a:solidFill>
                <a:latin typeface="Neo Sans Intel"/>
                <a:cs typeface="Neo Sans Intel"/>
              </a:defRPr>
            </a:lvl4pPr>
            <a:lvl5pPr marL="7620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800" b="0" i="0">
                <a:solidFill>
                  <a:schemeClr val="tx1"/>
                </a:solidFill>
                <a:latin typeface="Neo Sans Intel"/>
                <a:cs typeface="Neo Sans Intel"/>
              </a:defRPr>
            </a:lvl5pPr>
            <a:lvl6pPr marL="12192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16764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21336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25908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342900" indent="-342900">
              <a:buFont typeface="Arial" pitchFamily="34" charset="0"/>
              <a:buChar char="•"/>
            </a:pPr>
            <a:r>
              <a:rPr lang="en-US" sz="2200" dirty="0" smtClean="0">
                <a:latin typeface="+mj-lt"/>
              </a:rPr>
              <a:t>… and a lot of other useful equations: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5810" y="5523379"/>
            <a:ext cx="36311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!x  y = x  !y = !(x  y)</a:t>
            </a:r>
            <a:endParaRPr lang="en-US" dirty="0">
              <a:latin typeface="Neo Sans Intel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940403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  <p:extLst mod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Boolean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Boolean operations can be combined into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4071" y="1703296"/>
            <a:ext cx="2653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+mn-lt"/>
              </a:rPr>
              <a:t>F(x, y, z) = x + !y*z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4334703" y="2417107"/>
            <a:ext cx="424236" cy="406400"/>
            <a:chOff x="1607464" y="2009795"/>
            <a:chExt cx="720577" cy="690282"/>
          </a:xfrm>
        </p:grpSpPr>
        <p:sp>
          <p:nvSpPr>
            <p:cNvPr id="9" name="Isosceles Triangle 8"/>
            <p:cNvSpPr/>
            <p:nvPr/>
          </p:nvSpPr>
          <p:spPr bwMode="auto">
            <a:xfrm rot="5400000">
              <a:off x="1559859" y="2057400"/>
              <a:ext cx="690282" cy="595071"/>
            </a:xfrm>
            <a:prstGeom prst="triangl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>
                <a:solidFill>
                  <a:schemeClr val="dk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" name="Oval 9"/>
            <p:cNvSpPr/>
            <p:nvPr/>
          </p:nvSpPr>
          <p:spPr bwMode="auto">
            <a:xfrm>
              <a:off x="2193570" y="2287699"/>
              <a:ext cx="134471" cy="134471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>
                <a:solidFill>
                  <a:schemeClr val="dk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1" name="Flowchart: Delay 10"/>
          <p:cNvSpPr/>
          <p:nvPr/>
        </p:nvSpPr>
        <p:spPr bwMode="auto">
          <a:xfrm>
            <a:off x="5113297" y="2420917"/>
            <a:ext cx="663742" cy="812800"/>
          </a:xfrm>
          <a:custGeom>
            <a:avLst/>
            <a:gdLst>
              <a:gd name="connsiteX0" fmla="*/ 0 w 658964"/>
              <a:gd name="connsiteY0" fmla="*/ 0 h 812800"/>
              <a:gd name="connsiteX1" fmla="*/ 329482 w 658964"/>
              <a:gd name="connsiteY1" fmla="*/ 0 h 812800"/>
              <a:gd name="connsiteX2" fmla="*/ 658964 w 658964"/>
              <a:gd name="connsiteY2" fmla="*/ 406400 h 812800"/>
              <a:gd name="connsiteX3" fmla="*/ 329482 w 658964"/>
              <a:gd name="connsiteY3" fmla="*/ 812800 h 812800"/>
              <a:gd name="connsiteX4" fmla="*/ 0 w 658964"/>
              <a:gd name="connsiteY4" fmla="*/ 812800 h 812800"/>
              <a:gd name="connsiteX5" fmla="*/ 0 w 658964"/>
              <a:gd name="connsiteY5" fmla="*/ 0 h 812800"/>
              <a:gd name="connsiteX0" fmla="*/ 969 w 659933"/>
              <a:gd name="connsiteY0" fmla="*/ 0 h 812800"/>
              <a:gd name="connsiteX1" fmla="*/ 330451 w 659933"/>
              <a:gd name="connsiteY1" fmla="*/ 0 h 812800"/>
              <a:gd name="connsiteX2" fmla="*/ 659933 w 659933"/>
              <a:gd name="connsiteY2" fmla="*/ 406400 h 812800"/>
              <a:gd name="connsiteX3" fmla="*/ 330451 w 659933"/>
              <a:gd name="connsiteY3" fmla="*/ 812800 h 812800"/>
              <a:gd name="connsiteX4" fmla="*/ 969 w 659933"/>
              <a:gd name="connsiteY4" fmla="*/ 812800 h 812800"/>
              <a:gd name="connsiteX5" fmla="*/ 0 w 659933"/>
              <a:gd name="connsiteY5" fmla="*/ 199987 h 812800"/>
              <a:gd name="connsiteX6" fmla="*/ 969 w 659933"/>
              <a:gd name="connsiteY6" fmla="*/ 0 h 812800"/>
              <a:gd name="connsiteX0" fmla="*/ 4778 w 663742"/>
              <a:gd name="connsiteY0" fmla="*/ 0 h 812800"/>
              <a:gd name="connsiteX1" fmla="*/ 334260 w 663742"/>
              <a:gd name="connsiteY1" fmla="*/ 0 h 812800"/>
              <a:gd name="connsiteX2" fmla="*/ 663742 w 663742"/>
              <a:gd name="connsiteY2" fmla="*/ 406400 h 812800"/>
              <a:gd name="connsiteX3" fmla="*/ 334260 w 663742"/>
              <a:gd name="connsiteY3" fmla="*/ 812800 h 812800"/>
              <a:gd name="connsiteX4" fmla="*/ 4778 w 663742"/>
              <a:gd name="connsiteY4" fmla="*/ 812800 h 812800"/>
              <a:gd name="connsiteX5" fmla="*/ 0 w 663742"/>
              <a:gd name="connsiteY5" fmla="*/ 653377 h 812800"/>
              <a:gd name="connsiteX6" fmla="*/ 3809 w 663742"/>
              <a:gd name="connsiteY6" fmla="*/ 199987 h 812800"/>
              <a:gd name="connsiteX7" fmla="*/ 4778 w 663742"/>
              <a:gd name="connsiteY7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3742" h="812800">
                <a:moveTo>
                  <a:pt x="4778" y="0"/>
                </a:moveTo>
                <a:lnTo>
                  <a:pt x="334260" y="0"/>
                </a:lnTo>
                <a:cubicBezTo>
                  <a:pt x="516228" y="0"/>
                  <a:pt x="663742" y="181951"/>
                  <a:pt x="663742" y="406400"/>
                </a:cubicBezTo>
                <a:cubicBezTo>
                  <a:pt x="663742" y="630849"/>
                  <a:pt x="516228" y="812800"/>
                  <a:pt x="334260" y="812800"/>
                </a:cubicBezTo>
                <a:lnTo>
                  <a:pt x="4778" y="812800"/>
                </a:lnTo>
                <a:lnTo>
                  <a:pt x="0" y="653377"/>
                </a:lnTo>
                <a:cubicBezTo>
                  <a:pt x="1270" y="502247"/>
                  <a:pt x="2539" y="351117"/>
                  <a:pt x="3809" y="199987"/>
                </a:cubicBezTo>
                <a:lnTo>
                  <a:pt x="4778" y="0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solidFill>
              <a:schemeClr val="bg2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>
              <a:solidFill>
                <a:schemeClr val="dk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Flowchart: Delay 18"/>
          <p:cNvSpPr/>
          <p:nvPr/>
        </p:nvSpPr>
        <p:spPr bwMode="auto">
          <a:xfrm flipH="1">
            <a:off x="6365557" y="1802649"/>
            <a:ext cx="632999" cy="820453"/>
          </a:xfrm>
          <a:custGeom>
            <a:avLst/>
            <a:gdLst>
              <a:gd name="connsiteX0" fmla="*/ 1667 w 10000"/>
              <a:gd name="connsiteY0" fmla="*/ 0 h 10000"/>
              <a:gd name="connsiteX1" fmla="*/ 10000 w 10000"/>
              <a:gd name="connsiteY1" fmla="*/ 0 h 10000"/>
              <a:gd name="connsiteX2" fmla="*/ 8333 w 10000"/>
              <a:gd name="connsiteY2" fmla="*/ 5000 h 10000"/>
              <a:gd name="connsiteX3" fmla="*/ 10000 w 10000"/>
              <a:gd name="connsiteY3" fmla="*/ 10000 h 10000"/>
              <a:gd name="connsiteX4" fmla="*/ 1667 w 10000"/>
              <a:gd name="connsiteY4" fmla="*/ 10000 h 10000"/>
              <a:gd name="connsiteX5" fmla="*/ 0 w 10000"/>
              <a:gd name="connsiteY5" fmla="*/ 5000 h 10000"/>
              <a:gd name="connsiteX6" fmla="*/ 1667 w 10000"/>
              <a:gd name="connsiteY6" fmla="*/ 0 h 10000"/>
              <a:gd name="connsiteX0" fmla="*/ 3276 w 10041"/>
              <a:gd name="connsiteY0" fmla="*/ 0 h 10023"/>
              <a:gd name="connsiteX1" fmla="*/ 10041 w 10041"/>
              <a:gd name="connsiteY1" fmla="*/ 23 h 10023"/>
              <a:gd name="connsiteX2" fmla="*/ 8374 w 10041"/>
              <a:gd name="connsiteY2" fmla="*/ 5023 h 10023"/>
              <a:gd name="connsiteX3" fmla="*/ 10041 w 10041"/>
              <a:gd name="connsiteY3" fmla="*/ 10023 h 10023"/>
              <a:gd name="connsiteX4" fmla="*/ 1708 w 10041"/>
              <a:gd name="connsiteY4" fmla="*/ 10023 h 10023"/>
              <a:gd name="connsiteX5" fmla="*/ 41 w 10041"/>
              <a:gd name="connsiteY5" fmla="*/ 5023 h 10023"/>
              <a:gd name="connsiteX6" fmla="*/ 3276 w 10041"/>
              <a:gd name="connsiteY6" fmla="*/ 0 h 10023"/>
              <a:gd name="connsiteX0" fmla="*/ 3237 w 10002"/>
              <a:gd name="connsiteY0" fmla="*/ 0 h 10070"/>
              <a:gd name="connsiteX1" fmla="*/ 10002 w 10002"/>
              <a:gd name="connsiteY1" fmla="*/ 23 h 10070"/>
              <a:gd name="connsiteX2" fmla="*/ 8335 w 10002"/>
              <a:gd name="connsiteY2" fmla="*/ 5023 h 10070"/>
              <a:gd name="connsiteX3" fmla="*/ 10002 w 10002"/>
              <a:gd name="connsiteY3" fmla="*/ 10023 h 10070"/>
              <a:gd name="connsiteX4" fmla="*/ 3656 w 10002"/>
              <a:gd name="connsiteY4" fmla="*/ 10070 h 10070"/>
              <a:gd name="connsiteX5" fmla="*/ 2 w 10002"/>
              <a:gd name="connsiteY5" fmla="*/ 5023 h 10070"/>
              <a:gd name="connsiteX6" fmla="*/ 3237 w 10002"/>
              <a:gd name="connsiteY6" fmla="*/ 0 h 10070"/>
              <a:gd name="connsiteX0" fmla="*/ 3237 w 10002"/>
              <a:gd name="connsiteY0" fmla="*/ 0 h 10070"/>
              <a:gd name="connsiteX1" fmla="*/ 10002 w 10002"/>
              <a:gd name="connsiteY1" fmla="*/ 23 h 10070"/>
              <a:gd name="connsiteX2" fmla="*/ 7439 w 10002"/>
              <a:gd name="connsiteY2" fmla="*/ 5023 h 10070"/>
              <a:gd name="connsiteX3" fmla="*/ 10002 w 10002"/>
              <a:gd name="connsiteY3" fmla="*/ 10023 h 10070"/>
              <a:gd name="connsiteX4" fmla="*/ 3656 w 10002"/>
              <a:gd name="connsiteY4" fmla="*/ 10070 h 10070"/>
              <a:gd name="connsiteX5" fmla="*/ 2 w 10002"/>
              <a:gd name="connsiteY5" fmla="*/ 5023 h 10070"/>
              <a:gd name="connsiteX6" fmla="*/ 3237 w 10002"/>
              <a:gd name="connsiteY6" fmla="*/ 0 h 10070"/>
              <a:gd name="connsiteX0" fmla="*/ 2761 w 9526"/>
              <a:gd name="connsiteY0" fmla="*/ 0 h 10070"/>
              <a:gd name="connsiteX1" fmla="*/ 9526 w 9526"/>
              <a:gd name="connsiteY1" fmla="*/ 23 h 10070"/>
              <a:gd name="connsiteX2" fmla="*/ 6963 w 9526"/>
              <a:gd name="connsiteY2" fmla="*/ 5023 h 10070"/>
              <a:gd name="connsiteX3" fmla="*/ 9526 w 9526"/>
              <a:gd name="connsiteY3" fmla="*/ 10023 h 10070"/>
              <a:gd name="connsiteX4" fmla="*/ 3180 w 9526"/>
              <a:gd name="connsiteY4" fmla="*/ 10070 h 10070"/>
              <a:gd name="connsiteX5" fmla="*/ 2 w 9526"/>
              <a:gd name="connsiteY5" fmla="*/ 5023 h 10070"/>
              <a:gd name="connsiteX6" fmla="*/ 2761 w 9526"/>
              <a:gd name="connsiteY6" fmla="*/ 0 h 10070"/>
              <a:gd name="connsiteX0" fmla="*/ 2898 w 10000"/>
              <a:gd name="connsiteY0" fmla="*/ 0 h 10000"/>
              <a:gd name="connsiteX1" fmla="*/ 10000 w 10000"/>
              <a:gd name="connsiteY1" fmla="*/ 23 h 10000"/>
              <a:gd name="connsiteX2" fmla="*/ 7309 w 10000"/>
              <a:gd name="connsiteY2" fmla="*/ 4988 h 10000"/>
              <a:gd name="connsiteX3" fmla="*/ 10000 w 10000"/>
              <a:gd name="connsiteY3" fmla="*/ 9953 h 10000"/>
              <a:gd name="connsiteX4" fmla="*/ 3338 w 10000"/>
              <a:gd name="connsiteY4" fmla="*/ 10000 h 10000"/>
              <a:gd name="connsiteX5" fmla="*/ 2 w 10000"/>
              <a:gd name="connsiteY5" fmla="*/ 4988 h 10000"/>
              <a:gd name="connsiteX6" fmla="*/ 2898 w 10000"/>
              <a:gd name="connsiteY6" fmla="*/ 0 h 10000"/>
              <a:gd name="connsiteX0" fmla="*/ 4522 w 10008"/>
              <a:gd name="connsiteY0" fmla="*/ 0 h 10000"/>
              <a:gd name="connsiteX1" fmla="*/ 10008 w 10008"/>
              <a:gd name="connsiteY1" fmla="*/ 23 h 10000"/>
              <a:gd name="connsiteX2" fmla="*/ 7317 w 10008"/>
              <a:gd name="connsiteY2" fmla="*/ 4988 h 10000"/>
              <a:gd name="connsiteX3" fmla="*/ 10008 w 10008"/>
              <a:gd name="connsiteY3" fmla="*/ 9953 h 10000"/>
              <a:gd name="connsiteX4" fmla="*/ 3346 w 10008"/>
              <a:gd name="connsiteY4" fmla="*/ 10000 h 10000"/>
              <a:gd name="connsiteX5" fmla="*/ 10 w 10008"/>
              <a:gd name="connsiteY5" fmla="*/ 4988 h 10000"/>
              <a:gd name="connsiteX6" fmla="*/ 4522 w 10008"/>
              <a:gd name="connsiteY6" fmla="*/ 0 h 10000"/>
              <a:gd name="connsiteX0" fmla="*/ 4518 w 10004"/>
              <a:gd name="connsiteY0" fmla="*/ 0 h 10000"/>
              <a:gd name="connsiteX1" fmla="*/ 10004 w 10004"/>
              <a:gd name="connsiteY1" fmla="*/ 23 h 10000"/>
              <a:gd name="connsiteX2" fmla="*/ 7313 w 10004"/>
              <a:gd name="connsiteY2" fmla="*/ 4988 h 10000"/>
              <a:gd name="connsiteX3" fmla="*/ 10004 w 10004"/>
              <a:gd name="connsiteY3" fmla="*/ 9953 h 10000"/>
              <a:gd name="connsiteX4" fmla="*/ 5516 w 10004"/>
              <a:gd name="connsiteY4" fmla="*/ 10000 h 10000"/>
              <a:gd name="connsiteX5" fmla="*/ 6 w 10004"/>
              <a:gd name="connsiteY5" fmla="*/ 4988 h 10000"/>
              <a:gd name="connsiteX6" fmla="*/ 4518 w 10004"/>
              <a:gd name="connsiteY6" fmla="*/ 0 h 10000"/>
              <a:gd name="connsiteX0" fmla="*/ 4530 w 10016"/>
              <a:gd name="connsiteY0" fmla="*/ 0 h 10047"/>
              <a:gd name="connsiteX1" fmla="*/ 10016 w 10016"/>
              <a:gd name="connsiteY1" fmla="*/ 23 h 10047"/>
              <a:gd name="connsiteX2" fmla="*/ 7325 w 10016"/>
              <a:gd name="connsiteY2" fmla="*/ 4988 h 10047"/>
              <a:gd name="connsiteX3" fmla="*/ 10016 w 10016"/>
              <a:gd name="connsiteY3" fmla="*/ 9953 h 10047"/>
              <a:gd name="connsiteX4" fmla="*/ 6439 w 10016"/>
              <a:gd name="connsiteY4" fmla="*/ 10047 h 10047"/>
              <a:gd name="connsiteX5" fmla="*/ 18 w 10016"/>
              <a:gd name="connsiteY5" fmla="*/ 4988 h 10047"/>
              <a:gd name="connsiteX6" fmla="*/ 4530 w 10016"/>
              <a:gd name="connsiteY6" fmla="*/ 0 h 10047"/>
              <a:gd name="connsiteX0" fmla="*/ 5602 w 10001"/>
              <a:gd name="connsiteY0" fmla="*/ 0 h 10024"/>
              <a:gd name="connsiteX1" fmla="*/ 10001 w 10001"/>
              <a:gd name="connsiteY1" fmla="*/ 0 h 10024"/>
              <a:gd name="connsiteX2" fmla="*/ 7310 w 10001"/>
              <a:gd name="connsiteY2" fmla="*/ 4965 h 10024"/>
              <a:gd name="connsiteX3" fmla="*/ 10001 w 10001"/>
              <a:gd name="connsiteY3" fmla="*/ 9930 h 10024"/>
              <a:gd name="connsiteX4" fmla="*/ 6424 w 10001"/>
              <a:gd name="connsiteY4" fmla="*/ 10024 h 10024"/>
              <a:gd name="connsiteX5" fmla="*/ 3 w 10001"/>
              <a:gd name="connsiteY5" fmla="*/ 4965 h 10024"/>
              <a:gd name="connsiteX6" fmla="*/ 5602 w 10001"/>
              <a:gd name="connsiteY6" fmla="*/ 0 h 10024"/>
              <a:gd name="connsiteX0" fmla="*/ 6158 w 9999"/>
              <a:gd name="connsiteY0" fmla="*/ 0 h 10024"/>
              <a:gd name="connsiteX1" fmla="*/ 9999 w 9999"/>
              <a:gd name="connsiteY1" fmla="*/ 0 h 10024"/>
              <a:gd name="connsiteX2" fmla="*/ 7308 w 9999"/>
              <a:gd name="connsiteY2" fmla="*/ 4965 h 10024"/>
              <a:gd name="connsiteX3" fmla="*/ 9999 w 9999"/>
              <a:gd name="connsiteY3" fmla="*/ 9930 h 10024"/>
              <a:gd name="connsiteX4" fmla="*/ 6422 w 9999"/>
              <a:gd name="connsiteY4" fmla="*/ 10024 h 10024"/>
              <a:gd name="connsiteX5" fmla="*/ 1 w 9999"/>
              <a:gd name="connsiteY5" fmla="*/ 4965 h 10024"/>
              <a:gd name="connsiteX6" fmla="*/ 6158 w 9999"/>
              <a:gd name="connsiteY6" fmla="*/ 0 h 10024"/>
              <a:gd name="connsiteX0" fmla="*/ 6159 w 10000"/>
              <a:gd name="connsiteY0" fmla="*/ 0 h 10000"/>
              <a:gd name="connsiteX1" fmla="*/ 10000 w 10000"/>
              <a:gd name="connsiteY1" fmla="*/ 0 h 10000"/>
              <a:gd name="connsiteX2" fmla="*/ 7309 w 10000"/>
              <a:gd name="connsiteY2" fmla="*/ 4953 h 10000"/>
              <a:gd name="connsiteX3" fmla="*/ 10000 w 10000"/>
              <a:gd name="connsiteY3" fmla="*/ 9906 h 10000"/>
              <a:gd name="connsiteX4" fmla="*/ 6423 w 10000"/>
              <a:gd name="connsiteY4" fmla="*/ 10000 h 10000"/>
              <a:gd name="connsiteX5" fmla="*/ 1 w 10000"/>
              <a:gd name="connsiteY5" fmla="*/ 4953 h 10000"/>
              <a:gd name="connsiteX6" fmla="*/ 6159 w 10000"/>
              <a:gd name="connsiteY6" fmla="*/ 0 h 10000"/>
              <a:gd name="connsiteX0" fmla="*/ 6159 w 10000"/>
              <a:gd name="connsiteY0" fmla="*/ 0 h 10000"/>
              <a:gd name="connsiteX1" fmla="*/ 10000 w 10000"/>
              <a:gd name="connsiteY1" fmla="*/ 0 h 10000"/>
              <a:gd name="connsiteX2" fmla="*/ 7309 w 10000"/>
              <a:gd name="connsiteY2" fmla="*/ 4953 h 10000"/>
              <a:gd name="connsiteX3" fmla="*/ 10000 w 10000"/>
              <a:gd name="connsiteY3" fmla="*/ 9906 h 10000"/>
              <a:gd name="connsiteX4" fmla="*/ 6423 w 10000"/>
              <a:gd name="connsiteY4" fmla="*/ 10000 h 10000"/>
              <a:gd name="connsiteX5" fmla="*/ 1 w 10000"/>
              <a:gd name="connsiteY5" fmla="*/ 4953 h 10000"/>
              <a:gd name="connsiteX6" fmla="*/ 6159 w 10000"/>
              <a:gd name="connsiteY6" fmla="*/ 0 h 10000"/>
              <a:gd name="connsiteX0" fmla="*/ 6159 w 10000"/>
              <a:gd name="connsiteY0" fmla="*/ 0 h 10000"/>
              <a:gd name="connsiteX1" fmla="*/ 10000 w 10000"/>
              <a:gd name="connsiteY1" fmla="*/ 0 h 10000"/>
              <a:gd name="connsiteX2" fmla="*/ 7309 w 10000"/>
              <a:gd name="connsiteY2" fmla="*/ 4953 h 10000"/>
              <a:gd name="connsiteX3" fmla="*/ 10000 w 10000"/>
              <a:gd name="connsiteY3" fmla="*/ 9906 h 10000"/>
              <a:gd name="connsiteX4" fmla="*/ 6423 w 10000"/>
              <a:gd name="connsiteY4" fmla="*/ 10000 h 10000"/>
              <a:gd name="connsiteX5" fmla="*/ 1 w 10000"/>
              <a:gd name="connsiteY5" fmla="*/ 4953 h 10000"/>
              <a:gd name="connsiteX6" fmla="*/ 6159 w 10000"/>
              <a:gd name="connsiteY6" fmla="*/ 0 h 10000"/>
              <a:gd name="connsiteX0" fmla="*/ 6159 w 10000"/>
              <a:gd name="connsiteY0" fmla="*/ 0 h 10000"/>
              <a:gd name="connsiteX1" fmla="*/ 10000 w 10000"/>
              <a:gd name="connsiteY1" fmla="*/ 0 h 10000"/>
              <a:gd name="connsiteX2" fmla="*/ 7309 w 10000"/>
              <a:gd name="connsiteY2" fmla="*/ 4953 h 10000"/>
              <a:gd name="connsiteX3" fmla="*/ 10000 w 10000"/>
              <a:gd name="connsiteY3" fmla="*/ 9906 h 10000"/>
              <a:gd name="connsiteX4" fmla="*/ 6423 w 10000"/>
              <a:gd name="connsiteY4" fmla="*/ 10000 h 10000"/>
              <a:gd name="connsiteX5" fmla="*/ 1 w 10000"/>
              <a:gd name="connsiteY5" fmla="*/ 4953 h 10000"/>
              <a:gd name="connsiteX6" fmla="*/ 6159 w 10000"/>
              <a:gd name="connsiteY6" fmla="*/ 0 h 10000"/>
              <a:gd name="connsiteX0" fmla="*/ 6159 w 10000"/>
              <a:gd name="connsiteY0" fmla="*/ 0 h 10000"/>
              <a:gd name="connsiteX1" fmla="*/ 10000 w 10000"/>
              <a:gd name="connsiteY1" fmla="*/ 0 h 10000"/>
              <a:gd name="connsiteX2" fmla="*/ 7309 w 10000"/>
              <a:gd name="connsiteY2" fmla="*/ 4953 h 10000"/>
              <a:gd name="connsiteX3" fmla="*/ 10000 w 10000"/>
              <a:gd name="connsiteY3" fmla="*/ 9906 h 10000"/>
              <a:gd name="connsiteX4" fmla="*/ 6423 w 10000"/>
              <a:gd name="connsiteY4" fmla="*/ 10000 h 10000"/>
              <a:gd name="connsiteX5" fmla="*/ 1 w 10000"/>
              <a:gd name="connsiteY5" fmla="*/ 4953 h 10000"/>
              <a:gd name="connsiteX6" fmla="*/ 6159 w 10000"/>
              <a:gd name="connsiteY6" fmla="*/ 0 h 10000"/>
              <a:gd name="connsiteX0" fmla="*/ 6159 w 10000"/>
              <a:gd name="connsiteY0" fmla="*/ 0 h 10000"/>
              <a:gd name="connsiteX1" fmla="*/ 10000 w 10000"/>
              <a:gd name="connsiteY1" fmla="*/ 0 h 10000"/>
              <a:gd name="connsiteX2" fmla="*/ 7309 w 10000"/>
              <a:gd name="connsiteY2" fmla="*/ 4953 h 10000"/>
              <a:gd name="connsiteX3" fmla="*/ 10000 w 10000"/>
              <a:gd name="connsiteY3" fmla="*/ 9906 h 10000"/>
              <a:gd name="connsiteX4" fmla="*/ 6423 w 10000"/>
              <a:gd name="connsiteY4" fmla="*/ 10000 h 10000"/>
              <a:gd name="connsiteX5" fmla="*/ 1 w 10000"/>
              <a:gd name="connsiteY5" fmla="*/ 4953 h 10000"/>
              <a:gd name="connsiteX6" fmla="*/ 6159 w 10000"/>
              <a:gd name="connsiteY6" fmla="*/ 0 h 10000"/>
              <a:gd name="connsiteX0" fmla="*/ 5924 w 9765"/>
              <a:gd name="connsiteY0" fmla="*/ 0 h 10000"/>
              <a:gd name="connsiteX1" fmla="*/ 9765 w 9765"/>
              <a:gd name="connsiteY1" fmla="*/ 0 h 10000"/>
              <a:gd name="connsiteX2" fmla="*/ 7074 w 9765"/>
              <a:gd name="connsiteY2" fmla="*/ 4953 h 10000"/>
              <a:gd name="connsiteX3" fmla="*/ 9765 w 9765"/>
              <a:gd name="connsiteY3" fmla="*/ 9906 h 10000"/>
              <a:gd name="connsiteX4" fmla="*/ 6188 w 9765"/>
              <a:gd name="connsiteY4" fmla="*/ 10000 h 10000"/>
              <a:gd name="connsiteX5" fmla="*/ 1 w 9765"/>
              <a:gd name="connsiteY5" fmla="*/ 4953 h 10000"/>
              <a:gd name="connsiteX6" fmla="*/ 5924 w 9765"/>
              <a:gd name="connsiteY6" fmla="*/ 0 h 10000"/>
              <a:gd name="connsiteX0" fmla="*/ 6067 w 10039"/>
              <a:gd name="connsiteY0" fmla="*/ 0 h 10000"/>
              <a:gd name="connsiteX1" fmla="*/ 10000 w 10039"/>
              <a:gd name="connsiteY1" fmla="*/ 0 h 10000"/>
              <a:gd name="connsiteX2" fmla="*/ 8034 w 10039"/>
              <a:gd name="connsiteY2" fmla="*/ 1970 h 10000"/>
              <a:gd name="connsiteX3" fmla="*/ 7244 w 10039"/>
              <a:gd name="connsiteY3" fmla="*/ 4953 h 10000"/>
              <a:gd name="connsiteX4" fmla="*/ 10000 w 10039"/>
              <a:gd name="connsiteY4" fmla="*/ 9906 h 10000"/>
              <a:gd name="connsiteX5" fmla="*/ 6337 w 10039"/>
              <a:gd name="connsiteY5" fmla="*/ 10000 h 10000"/>
              <a:gd name="connsiteX6" fmla="*/ 1 w 10039"/>
              <a:gd name="connsiteY6" fmla="*/ 4953 h 10000"/>
              <a:gd name="connsiteX7" fmla="*/ 6067 w 10039"/>
              <a:gd name="connsiteY7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8034 w 10000"/>
              <a:gd name="connsiteY2" fmla="*/ 1970 h 10000"/>
              <a:gd name="connsiteX3" fmla="*/ 7244 w 10000"/>
              <a:gd name="connsiteY3" fmla="*/ 4953 h 10000"/>
              <a:gd name="connsiteX4" fmla="*/ 10000 w 10000"/>
              <a:gd name="connsiteY4" fmla="*/ 9906 h 10000"/>
              <a:gd name="connsiteX5" fmla="*/ 6337 w 10000"/>
              <a:gd name="connsiteY5" fmla="*/ 10000 h 10000"/>
              <a:gd name="connsiteX6" fmla="*/ 1 w 10000"/>
              <a:gd name="connsiteY6" fmla="*/ 4953 h 10000"/>
              <a:gd name="connsiteX7" fmla="*/ 6067 w 10000"/>
              <a:gd name="connsiteY7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8034 w 10000"/>
              <a:gd name="connsiteY2" fmla="*/ 1970 h 10000"/>
              <a:gd name="connsiteX3" fmla="*/ 7244 w 10000"/>
              <a:gd name="connsiteY3" fmla="*/ 4953 h 10000"/>
              <a:gd name="connsiteX4" fmla="*/ 10000 w 10000"/>
              <a:gd name="connsiteY4" fmla="*/ 9906 h 10000"/>
              <a:gd name="connsiteX5" fmla="*/ 6337 w 10000"/>
              <a:gd name="connsiteY5" fmla="*/ 10000 h 10000"/>
              <a:gd name="connsiteX6" fmla="*/ 1 w 10000"/>
              <a:gd name="connsiteY6" fmla="*/ 4953 h 10000"/>
              <a:gd name="connsiteX7" fmla="*/ 6067 w 10000"/>
              <a:gd name="connsiteY7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8034 w 10000"/>
              <a:gd name="connsiteY2" fmla="*/ 1970 h 10000"/>
              <a:gd name="connsiteX3" fmla="*/ 7244 w 10000"/>
              <a:gd name="connsiteY3" fmla="*/ 4953 h 10000"/>
              <a:gd name="connsiteX4" fmla="*/ 10000 w 10000"/>
              <a:gd name="connsiteY4" fmla="*/ 9906 h 10000"/>
              <a:gd name="connsiteX5" fmla="*/ 6337 w 10000"/>
              <a:gd name="connsiteY5" fmla="*/ 10000 h 10000"/>
              <a:gd name="connsiteX6" fmla="*/ 1 w 10000"/>
              <a:gd name="connsiteY6" fmla="*/ 4953 h 10000"/>
              <a:gd name="connsiteX7" fmla="*/ 6067 w 10000"/>
              <a:gd name="connsiteY7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8034 w 10000"/>
              <a:gd name="connsiteY2" fmla="*/ 1970 h 10000"/>
              <a:gd name="connsiteX3" fmla="*/ 7244 w 10000"/>
              <a:gd name="connsiteY3" fmla="*/ 4953 h 10000"/>
              <a:gd name="connsiteX4" fmla="*/ 10000 w 10000"/>
              <a:gd name="connsiteY4" fmla="*/ 9906 h 10000"/>
              <a:gd name="connsiteX5" fmla="*/ 6337 w 10000"/>
              <a:gd name="connsiteY5" fmla="*/ 10000 h 10000"/>
              <a:gd name="connsiteX6" fmla="*/ 1 w 10000"/>
              <a:gd name="connsiteY6" fmla="*/ 4953 h 10000"/>
              <a:gd name="connsiteX7" fmla="*/ 6067 w 10000"/>
              <a:gd name="connsiteY7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8034 w 10000"/>
              <a:gd name="connsiteY2" fmla="*/ 1970 h 10000"/>
              <a:gd name="connsiteX3" fmla="*/ 7244 w 10000"/>
              <a:gd name="connsiteY3" fmla="*/ 4953 h 10000"/>
              <a:gd name="connsiteX4" fmla="*/ 10000 w 10000"/>
              <a:gd name="connsiteY4" fmla="*/ 9906 h 10000"/>
              <a:gd name="connsiteX5" fmla="*/ 6337 w 10000"/>
              <a:gd name="connsiteY5" fmla="*/ 10000 h 10000"/>
              <a:gd name="connsiteX6" fmla="*/ 1 w 10000"/>
              <a:gd name="connsiteY6" fmla="*/ 4953 h 10000"/>
              <a:gd name="connsiteX7" fmla="*/ 6067 w 10000"/>
              <a:gd name="connsiteY7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8034 w 10000"/>
              <a:gd name="connsiteY2" fmla="*/ 1970 h 10000"/>
              <a:gd name="connsiteX3" fmla="*/ 7244 w 10000"/>
              <a:gd name="connsiteY3" fmla="*/ 4953 h 10000"/>
              <a:gd name="connsiteX4" fmla="*/ 10000 w 10000"/>
              <a:gd name="connsiteY4" fmla="*/ 9906 h 10000"/>
              <a:gd name="connsiteX5" fmla="*/ 6337 w 10000"/>
              <a:gd name="connsiteY5" fmla="*/ 10000 h 10000"/>
              <a:gd name="connsiteX6" fmla="*/ 1 w 10000"/>
              <a:gd name="connsiteY6" fmla="*/ 4953 h 10000"/>
              <a:gd name="connsiteX7" fmla="*/ 6067 w 10000"/>
              <a:gd name="connsiteY7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8034 w 10000"/>
              <a:gd name="connsiteY2" fmla="*/ 1970 h 10000"/>
              <a:gd name="connsiteX3" fmla="*/ 7244 w 10000"/>
              <a:gd name="connsiteY3" fmla="*/ 4953 h 10000"/>
              <a:gd name="connsiteX4" fmla="*/ 10000 w 10000"/>
              <a:gd name="connsiteY4" fmla="*/ 9906 h 10000"/>
              <a:gd name="connsiteX5" fmla="*/ 6337 w 10000"/>
              <a:gd name="connsiteY5" fmla="*/ 10000 h 10000"/>
              <a:gd name="connsiteX6" fmla="*/ 1 w 10000"/>
              <a:gd name="connsiteY6" fmla="*/ 4953 h 10000"/>
              <a:gd name="connsiteX7" fmla="*/ 6067 w 10000"/>
              <a:gd name="connsiteY7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7914 w 10000"/>
              <a:gd name="connsiteY2" fmla="*/ 2179 h 10000"/>
              <a:gd name="connsiteX3" fmla="*/ 7244 w 10000"/>
              <a:gd name="connsiteY3" fmla="*/ 4953 h 10000"/>
              <a:gd name="connsiteX4" fmla="*/ 10000 w 10000"/>
              <a:gd name="connsiteY4" fmla="*/ 9906 h 10000"/>
              <a:gd name="connsiteX5" fmla="*/ 6337 w 10000"/>
              <a:gd name="connsiteY5" fmla="*/ 10000 h 10000"/>
              <a:gd name="connsiteX6" fmla="*/ 1 w 10000"/>
              <a:gd name="connsiteY6" fmla="*/ 4953 h 10000"/>
              <a:gd name="connsiteX7" fmla="*/ 6067 w 10000"/>
              <a:gd name="connsiteY7" fmla="*/ 0 h 10000"/>
              <a:gd name="connsiteX0" fmla="*/ 6067 w 10064"/>
              <a:gd name="connsiteY0" fmla="*/ 0 h 10000"/>
              <a:gd name="connsiteX1" fmla="*/ 10000 w 10064"/>
              <a:gd name="connsiteY1" fmla="*/ 0 h 10000"/>
              <a:gd name="connsiteX2" fmla="*/ 7914 w 10064"/>
              <a:gd name="connsiteY2" fmla="*/ 2179 h 10000"/>
              <a:gd name="connsiteX3" fmla="*/ 7244 w 10064"/>
              <a:gd name="connsiteY3" fmla="*/ 4953 h 10000"/>
              <a:gd name="connsiteX4" fmla="*/ 8566 w 10064"/>
              <a:gd name="connsiteY4" fmla="*/ 8000 h 10000"/>
              <a:gd name="connsiteX5" fmla="*/ 10000 w 10064"/>
              <a:gd name="connsiteY5" fmla="*/ 9906 h 10000"/>
              <a:gd name="connsiteX6" fmla="*/ 6337 w 10064"/>
              <a:gd name="connsiteY6" fmla="*/ 10000 h 10000"/>
              <a:gd name="connsiteX7" fmla="*/ 1 w 10064"/>
              <a:gd name="connsiteY7" fmla="*/ 4953 h 10000"/>
              <a:gd name="connsiteX8" fmla="*/ 6067 w 10064"/>
              <a:gd name="connsiteY8" fmla="*/ 0 h 10000"/>
              <a:gd name="connsiteX0" fmla="*/ 6067 w 10055"/>
              <a:gd name="connsiteY0" fmla="*/ 0 h 10000"/>
              <a:gd name="connsiteX1" fmla="*/ 10000 w 10055"/>
              <a:gd name="connsiteY1" fmla="*/ 0 h 10000"/>
              <a:gd name="connsiteX2" fmla="*/ 7914 w 10055"/>
              <a:gd name="connsiteY2" fmla="*/ 2179 h 10000"/>
              <a:gd name="connsiteX3" fmla="*/ 7244 w 10055"/>
              <a:gd name="connsiteY3" fmla="*/ 4953 h 10000"/>
              <a:gd name="connsiteX4" fmla="*/ 8566 w 10055"/>
              <a:gd name="connsiteY4" fmla="*/ 8000 h 10000"/>
              <a:gd name="connsiteX5" fmla="*/ 10000 w 10055"/>
              <a:gd name="connsiteY5" fmla="*/ 9906 h 10000"/>
              <a:gd name="connsiteX6" fmla="*/ 6337 w 10055"/>
              <a:gd name="connsiteY6" fmla="*/ 10000 h 10000"/>
              <a:gd name="connsiteX7" fmla="*/ 1 w 10055"/>
              <a:gd name="connsiteY7" fmla="*/ 4953 h 10000"/>
              <a:gd name="connsiteX8" fmla="*/ 6067 w 10055"/>
              <a:gd name="connsiteY8" fmla="*/ 0 h 10000"/>
              <a:gd name="connsiteX0" fmla="*/ 6067 w 10055"/>
              <a:gd name="connsiteY0" fmla="*/ 0 h 10000"/>
              <a:gd name="connsiteX1" fmla="*/ 10000 w 10055"/>
              <a:gd name="connsiteY1" fmla="*/ 0 h 10000"/>
              <a:gd name="connsiteX2" fmla="*/ 7914 w 10055"/>
              <a:gd name="connsiteY2" fmla="*/ 2179 h 10000"/>
              <a:gd name="connsiteX3" fmla="*/ 7244 w 10055"/>
              <a:gd name="connsiteY3" fmla="*/ 4953 h 10000"/>
              <a:gd name="connsiteX4" fmla="*/ 8566 w 10055"/>
              <a:gd name="connsiteY4" fmla="*/ 8000 h 10000"/>
              <a:gd name="connsiteX5" fmla="*/ 10000 w 10055"/>
              <a:gd name="connsiteY5" fmla="*/ 9906 h 10000"/>
              <a:gd name="connsiteX6" fmla="*/ 6337 w 10055"/>
              <a:gd name="connsiteY6" fmla="*/ 10000 h 10000"/>
              <a:gd name="connsiteX7" fmla="*/ 1 w 10055"/>
              <a:gd name="connsiteY7" fmla="*/ 4953 h 10000"/>
              <a:gd name="connsiteX8" fmla="*/ 6067 w 10055"/>
              <a:gd name="connsiteY8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7914 w 10000"/>
              <a:gd name="connsiteY2" fmla="*/ 2179 h 10000"/>
              <a:gd name="connsiteX3" fmla="*/ 7244 w 10000"/>
              <a:gd name="connsiteY3" fmla="*/ 4953 h 10000"/>
              <a:gd name="connsiteX4" fmla="*/ 8566 w 10000"/>
              <a:gd name="connsiteY4" fmla="*/ 8000 h 10000"/>
              <a:gd name="connsiteX5" fmla="*/ 10000 w 10000"/>
              <a:gd name="connsiteY5" fmla="*/ 9906 h 10000"/>
              <a:gd name="connsiteX6" fmla="*/ 6337 w 10000"/>
              <a:gd name="connsiteY6" fmla="*/ 10000 h 10000"/>
              <a:gd name="connsiteX7" fmla="*/ 1 w 10000"/>
              <a:gd name="connsiteY7" fmla="*/ 4953 h 10000"/>
              <a:gd name="connsiteX8" fmla="*/ 6067 w 10000"/>
              <a:gd name="connsiteY8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7914 w 10000"/>
              <a:gd name="connsiteY2" fmla="*/ 2179 h 10000"/>
              <a:gd name="connsiteX3" fmla="*/ 7244 w 10000"/>
              <a:gd name="connsiteY3" fmla="*/ 4953 h 10000"/>
              <a:gd name="connsiteX4" fmla="*/ 8566 w 10000"/>
              <a:gd name="connsiteY4" fmla="*/ 8000 h 10000"/>
              <a:gd name="connsiteX5" fmla="*/ 10000 w 10000"/>
              <a:gd name="connsiteY5" fmla="*/ 9906 h 10000"/>
              <a:gd name="connsiteX6" fmla="*/ 6337 w 10000"/>
              <a:gd name="connsiteY6" fmla="*/ 10000 h 10000"/>
              <a:gd name="connsiteX7" fmla="*/ 1 w 10000"/>
              <a:gd name="connsiteY7" fmla="*/ 4953 h 10000"/>
              <a:gd name="connsiteX8" fmla="*/ 6067 w 10000"/>
              <a:gd name="connsiteY8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7914 w 10000"/>
              <a:gd name="connsiteY2" fmla="*/ 2179 h 10000"/>
              <a:gd name="connsiteX3" fmla="*/ 7244 w 10000"/>
              <a:gd name="connsiteY3" fmla="*/ 4953 h 10000"/>
              <a:gd name="connsiteX4" fmla="*/ 8566 w 10000"/>
              <a:gd name="connsiteY4" fmla="*/ 8000 h 10000"/>
              <a:gd name="connsiteX5" fmla="*/ 10000 w 10000"/>
              <a:gd name="connsiteY5" fmla="*/ 9906 h 10000"/>
              <a:gd name="connsiteX6" fmla="*/ 6337 w 10000"/>
              <a:gd name="connsiteY6" fmla="*/ 10000 h 10000"/>
              <a:gd name="connsiteX7" fmla="*/ 1 w 10000"/>
              <a:gd name="connsiteY7" fmla="*/ 4953 h 10000"/>
              <a:gd name="connsiteX8" fmla="*/ 6067 w 10000"/>
              <a:gd name="connsiteY8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7914 w 10000"/>
              <a:gd name="connsiteY2" fmla="*/ 2179 h 10000"/>
              <a:gd name="connsiteX3" fmla="*/ 7244 w 10000"/>
              <a:gd name="connsiteY3" fmla="*/ 4953 h 10000"/>
              <a:gd name="connsiteX4" fmla="*/ 8566 w 10000"/>
              <a:gd name="connsiteY4" fmla="*/ 8000 h 10000"/>
              <a:gd name="connsiteX5" fmla="*/ 10000 w 10000"/>
              <a:gd name="connsiteY5" fmla="*/ 9906 h 10000"/>
              <a:gd name="connsiteX6" fmla="*/ 6337 w 10000"/>
              <a:gd name="connsiteY6" fmla="*/ 10000 h 10000"/>
              <a:gd name="connsiteX7" fmla="*/ 1 w 10000"/>
              <a:gd name="connsiteY7" fmla="*/ 4953 h 10000"/>
              <a:gd name="connsiteX8" fmla="*/ 6067 w 10000"/>
              <a:gd name="connsiteY8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7914 w 10000"/>
              <a:gd name="connsiteY2" fmla="*/ 2179 h 10000"/>
              <a:gd name="connsiteX3" fmla="*/ 7244 w 10000"/>
              <a:gd name="connsiteY3" fmla="*/ 4953 h 10000"/>
              <a:gd name="connsiteX4" fmla="*/ 8566 w 10000"/>
              <a:gd name="connsiteY4" fmla="*/ 8000 h 10000"/>
              <a:gd name="connsiteX5" fmla="*/ 10000 w 10000"/>
              <a:gd name="connsiteY5" fmla="*/ 9906 h 10000"/>
              <a:gd name="connsiteX6" fmla="*/ 6337 w 10000"/>
              <a:gd name="connsiteY6" fmla="*/ 10000 h 10000"/>
              <a:gd name="connsiteX7" fmla="*/ 1 w 10000"/>
              <a:gd name="connsiteY7" fmla="*/ 4953 h 10000"/>
              <a:gd name="connsiteX8" fmla="*/ 6067 w 10000"/>
              <a:gd name="connsiteY8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7914 w 10000"/>
              <a:gd name="connsiteY2" fmla="*/ 2179 h 10000"/>
              <a:gd name="connsiteX3" fmla="*/ 7244 w 10000"/>
              <a:gd name="connsiteY3" fmla="*/ 4953 h 10000"/>
              <a:gd name="connsiteX4" fmla="*/ 8566 w 10000"/>
              <a:gd name="connsiteY4" fmla="*/ 8000 h 10000"/>
              <a:gd name="connsiteX5" fmla="*/ 10000 w 10000"/>
              <a:gd name="connsiteY5" fmla="*/ 9906 h 10000"/>
              <a:gd name="connsiteX6" fmla="*/ 6337 w 10000"/>
              <a:gd name="connsiteY6" fmla="*/ 10000 h 10000"/>
              <a:gd name="connsiteX7" fmla="*/ 1 w 10000"/>
              <a:gd name="connsiteY7" fmla="*/ 4953 h 10000"/>
              <a:gd name="connsiteX8" fmla="*/ 6067 w 10000"/>
              <a:gd name="connsiteY8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7914 w 10000"/>
              <a:gd name="connsiteY2" fmla="*/ 2179 h 10000"/>
              <a:gd name="connsiteX3" fmla="*/ 7244 w 10000"/>
              <a:gd name="connsiteY3" fmla="*/ 4953 h 10000"/>
              <a:gd name="connsiteX4" fmla="*/ 8566 w 10000"/>
              <a:gd name="connsiteY4" fmla="*/ 8000 h 10000"/>
              <a:gd name="connsiteX5" fmla="*/ 10000 w 10000"/>
              <a:gd name="connsiteY5" fmla="*/ 9906 h 10000"/>
              <a:gd name="connsiteX6" fmla="*/ 6337 w 10000"/>
              <a:gd name="connsiteY6" fmla="*/ 10000 h 10000"/>
              <a:gd name="connsiteX7" fmla="*/ 1 w 10000"/>
              <a:gd name="connsiteY7" fmla="*/ 4953 h 10000"/>
              <a:gd name="connsiteX8" fmla="*/ 6067 w 10000"/>
              <a:gd name="connsiteY8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7914 w 10000"/>
              <a:gd name="connsiteY2" fmla="*/ 2179 h 10000"/>
              <a:gd name="connsiteX3" fmla="*/ 7244 w 10000"/>
              <a:gd name="connsiteY3" fmla="*/ 4953 h 10000"/>
              <a:gd name="connsiteX4" fmla="*/ 8566 w 10000"/>
              <a:gd name="connsiteY4" fmla="*/ 8000 h 10000"/>
              <a:gd name="connsiteX5" fmla="*/ 10000 w 10000"/>
              <a:gd name="connsiteY5" fmla="*/ 9906 h 10000"/>
              <a:gd name="connsiteX6" fmla="*/ 6337 w 10000"/>
              <a:gd name="connsiteY6" fmla="*/ 10000 h 10000"/>
              <a:gd name="connsiteX7" fmla="*/ 1 w 10000"/>
              <a:gd name="connsiteY7" fmla="*/ 4953 h 10000"/>
              <a:gd name="connsiteX8" fmla="*/ 6067 w 10000"/>
              <a:gd name="connsiteY8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7914 w 10000"/>
              <a:gd name="connsiteY2" fmla="*/ 2179 h 10000"/>
              <a:gd name="connsiteX3" fmla="*/ 7244 w 10000"/>
              <a:gd name="connsiteY3" fmla="*/ 4953 h 10000"/>
              <a:gd name="connsiteX4" fmla="*/ 8566 w 10000"/>
              <a:gd name="connsiteY4" fmla="*/ 8000 h 10000"/>
              <a:gd name="connsiteX5" fmla="*/ 10000 w 10000"/>
              <a:gd name="connsiteY5" fmla="*/ 9906 h 10000"/>
              <a:gd name="connsiteX6" fmla="*/ 6337 w 10000"/>
              <a:gd name="connsiteY6" fmla="*/ 10000 h 10000"/>
              <a:gd name="connsiteX7" fmla="*/ 1 w 10000"/>
              <a:gd name="connsiteY7" fmla="*/ 4953 h 10000"/>
              <a:gd name="connsiteX8" fmla="*/ 6067 w 10000"/>
              <a:gd name="connsiteY8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7914 w 10000"/>
              <a:gd name="connsiteY2" fmla="*/ 2179 h 10000"/>
              <a:gd name="connsiteX3" fmla="*/ 7244 w 10000"/>
              <a:gd name="connsiteY3" fmla="*/ 4953 h 10000"/>
              <a:gd name="connsiteX4" fmla="*/ 8566 w 10000"/>
              <a:gd name="connsiteY4" fmla="*/ 8000 h 10000"/>
              <a:gd name="connsiteX5" fmla="*/ 10000 w 10000"/>
              <a:gd name="connsiteY5" fmla="*/ 9906 h 10000"/>
              <a:gd name="connsiteX6" fmla="*/ 6337 w 10000"/>
              <a:gd name="connsiteY6" fmla="*/ 10000 h 10000"/>
              <a:gd name="connsiteX7" fmla="*/ 1 w 10000"/>
              <a:gd name="connsiteY7" fmla="*/ 4953 h 10000"/>
              <a:gd name="connsiteX8" fmla="*/ 6067 w 10000"/>
              <a:gd name="connsiteY8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7914 w 10000"/>
              <a:gd name="connsiteY2" fmla="*/ 2179 h 10000"/>
              <a:gd name="connsiteX3" fmla="*/ 7244 w 10000"/>
              <a:gd name="connsiteY3" fmla="*/ 4953 h 10000"/>
              <a:gd name="connsiteX4" fmla="*/ 8566 w 10000"/>
              <a:gd name="connsiteY4" fmla="*/ 8000 h 10000"/>
              <a:gd name="connsiteX5" fmla="*/ 10000 w 10000"/>
              <a:gd name="connsiteY5" fmla="*/ 9906 h 10000"/>
              <a:gd name="connsiteX6" fmla="*/ 6337 w 10000"/>
              <a:gd name="connsiteY6" fmla="*/ 10000 h 10000"/>
              <a:gd name="connsiteX7" fmla="*/ 1 w 10000"/>
              <a:gd name="connsiteY7" fmla="*/ 4953 h 10000"/>
              <a:gd name="connsiteX8" fmla="*/ 6067 w 10000"/>
              <a:gd name="connsiteY8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7914 w 10000"/>
              <a:gd name="connsiteY2" fmla="*/ 2179 h 10000"/>
              <a:gd name="connsiteX3" fmla="*/ 7214 w 10000"/>
              <a:gd name="connsiteY3" fmla="*/ 4837 h 10000"/>
              <a:gd name="connsiteX4" fmla="*/ 8566 w 10000"/>
              <a:gd name="connsiteY4" fmla="*/ 8000 h 10000"/>
              <a:gd name="connsiteX5" fmla="*/ 10000 w 10000"/>
              <a:gd name="connsiteY5" fmla="*/ 9906 h 10000"/>
              <a:gd name="connsiteX6" fmla="*/ 6337 w 10000"/>
              <a:gd name="connsiteY6" fmla="*/ 10000 h 10000"/>
              <a:gd name="connsiteX7" fmla="*/ 1 w 10000"/>
              <a:gd name="connsiteY7" fmla="*/ 4953 h 10000"/>
              <a:gd name="connsiteX8" fmla="*/ 6067 w 10000"/>
              <a:gd name="connsiteY8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8125 w 10000"/>
              <a:gd name="connsiteY2" fmla="*/ 2063 h 10000"/>
              <a:gd name="connsiteX3" fmla="*/ 7214 w 10000"/>
              <a:gd name="connsiteY3" fmla="*/ 4837 h 10000"/>
              <a:gd name="connsiteX4" fmla="*/ 8566 w 10000"/>
              <a:gd name="connsiteY4" fmla="*/ 8000 h 10000"/>
              <a:gd name="connsiteX5" fmla="*/ 10000 w 10000"/>
              <a:gd name="connsiteY5" fmla="*/ 9906 h 10000"/>
              <a:gd name="connsiteX6" fmla="*/ 6337 w 10000"/>
              <a:gd name="connsiteY6" fmla="*/ 10000 h 10000"/>
              <a:gd name="connsiteX7" fmla="*/ 1 w 10000"/>
              <a:gd name="connsiteY7" fmla="*/ 4953 h 10000"/>
              <a:gd name="connsiteX8" fmla="*/ 6067 w 10000"/>
              <a:gd name="connsiteY8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8125 w 10000"/>
              <a:gd name="connsiteY2" fmla="*/ 2063 h 10000"/>
              <a:gd name="connsiteX3" fmla="*/ 7214 w 10000"/>
              <a:gd name="connsiteY3" fmla="*/ 4837 h 10000"/>
              <a:gd name="connsiteX4" fmla="*/ 8566 w 10000"/>
              <a:gd name="connsiteY4" fmla="*/ 8000 h 10000"/>
              <a:gd name="connsiteX5" fmla="*/ 10000 w 10000"/>
              <a:gd name="connsiteY5" fmla="*/ 9906 h 10000"/>
              <a:gd name="connsiteX6" fmla="*/ 6337 w 10000"/>
              <a:gd name="connsiteY6" fmla="*/ 10000 h 10000"/>
              <a:gd name="connsiteX7" fmla="*/ 1 w 10000"/>
              <a:gd name="connsiteY7" fmla="*/ 4953 h 10000"/>
              <a:gd name="connsiteX8" fmla="*/ 6067 w 10000"/>
              <a:gd name="connsiteY8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000" h="10000">
                <a:moveTo>
                  <a:pt x="6067" y="0"/>
                </a:moveTo>
                <a:lnTo>
                  <a:pt x="10000" y="0"/>
                </a:lnTo>
                <a:cubicBezTo>
                  <a:pt x="9586" y="448"/>
                  <a:pt x="8389" y="1731"/>
                  <a:pt x="8125" y="2063"/>
                </a:cubicBezTo>
                <a:cubicBezTo>
                  <a:pt x="7877" y="2448"/>
                  <a:pt x="7141" y="3848"/>
                  <a:pt x="7214" y="4837"/>
                </a:cubicBezTo>
                <a:cubicBezTo>
                  <a:pt x="7287" y="5826"/>
                  <a:pt x="8348" y="7639"/>
                  <a:pt x="8566" y="8000"/>
                </a:cubicBezTo>
                <a:cubicBezTo>
                  <a:pt x="8754" y="8315"/>
                  <a:pt x="9710" y="9480"/>
                  <a:pt x="10000" y="9906"/>
                </a:cubicBezTo>
                <a:lnTo>
                  <a:pt x="6337" y="10000"/>
                </a:lnTo>
                <a:cubicBezTo>
                  <a:pt x="2638" y="10046"/>
                  <a:pt x="46" y="6620"/>
                  <a:pt x="1" y="4953"/>
                </a:cubicBezTo>
                <a:cubicBezTo>
                  <a:pt x="-44" y="3286"/>
                  <a:pt x="1797" y="0"/>
                  <a:pt x="6067" y="0"/>
                </a:cubicBez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solidFill>
              <a:schemeClr val="bg2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>
              <a:solidFill>
                <a:schemeClr val="dk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9" name="Elbow Connector 18"/>
          <p:cNvCxnSpPr>
            <a:stCxn id="10" idx="6"/>
            <a:endCxn id="11" idx="6"/>
          </p:cNvCxnSpPr>
          <p:nvPr/>
        </p:nvCxnSpPr>
        <p:spPr bwMode="auto">
          <a:xfrm>
            <a:off x="4758939" y="2620307"/>
            <a:ext cx="358167" cy="597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oval" w="sm" len="sm"/>
            <a:tailEnd type="oval" w="sm" len="sm"/>
          </a:ln>
          <a:effectLst/>
        </p:spPr>
      </p:cxnSp>
      <p:cxnSp>
        <p:nvCxnSpPr>
          <p:cNvPr id="23" name="Elbow Connector 22"/>
          <p:cNvCxnSpPr>
            <a:stCxn id="11" idx="2"/>
            <a:endCxn id="15" idx="4"/>
          </p:cNvCxnSpPr>
          <p:nvPr/>
        </p:nvCxnSpPr>
        <p:spPr bwMode="auto">
          <a:xfrm flipV="1">
            <a:off x="5777039" y="2459011"/>
            <a:ext cx="679290" cy="368306"/>
          </a:xfrm>
          <a:prstGeom prst="bentConnector3">
            <a:avLst/>
          </a:prstGeom>
          <a:solidFill>
            <a:schemeClr val="bg1"/>
          </a:solidFill>
          <a:ln w="19050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oval" w="sm" len="sm"/>
            <a:tailEnd type="oval" w="sm" len="sm"/>
          </a:ln>
          <a:effectLst/>
        </p:spPr>
      </p:cxnSp>
      <p:sp>
        <p:nvSpPr>
          <p:cNvPr id="24" name="Rectangle 23"/>
          <p:cNvSpPr/>
          <p:nvPr/>
        </p:nvSpPr>
        <p:spPr>
          <a:xfrm>
            <a:off x="3654447" y="1769533"/>
            <a:ext cx="3257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6" name="Elbow Connector 25"/>
          <p:cNvCxnSpPr>
            <a:stCxn id="15" idx="2"/>
            <a:endCxn id="24" idx="3"/>
          </p:cNvCxnSpPr>
          <p:nvPr/>
        </p:nvCxnSpPr>
        <p:spPr bwMode="auto">
          <a:xfrm flipH="1" flipV="1">
            <a:off x="3980177" y="1969588"/>
            <a:ext cx="2504067" cy="232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oval" w="sm" len="sm"/>
            <a:tailEnd type="oval" w="sm" len="sm"/>
          </a:ln>
          <a:effectLst/>
        </p:spPr>
      </p:cxnSp>
      <p:sp>
        <p:nvSpPr>
          <p:cNvPr id="28" name="Rectangle 27"/>
          <p:cNvSpPr/>
          <p:nvPr/>
        </p:nvSpPr>
        <p:spPr>
          <a:xfrm>
            <a:off x="3654447" y="2423698"/>
            <a:ext cx="3257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30" name="Straight Connector 29"/>
          <p:cNvCxnSpPr>
            <a:stCxn id="9" idx="3"/>
            <a:endCxn id="28" idx="3"/>
          </p:cNvCxnSpPr>
          <p:nvPr/>
        </p:nvCxnSpPr>
        <p:spPr bwMode="auto">
          <a:xfrm flipH="1">
            <a:off x="3980177" y="2620307"/>
            <a:ext cx="354527" cy="3446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oval" w="sm" len="sm"/>
            <a:tailEnd type="oval" w="sm" len="sm"/>
          </a:ln>
          <a:effectLst/>
        </p:spPr>
      </p:cxnSp>
      <p:sp>
        <p:nvSpPr>
          <p:cNvPr id="32" name="Rectangle 31"/>
          <p:cNvSpPr/>
          <p:nvPr/>
        </p:nvSpPr>
        <p:spPr>
          <a:xfrm>
            <a:off x="3654447" y="2872009"/>
            <a:ext cx="3257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34" name="Straight Connector 33"/>
          <p:cNvCxnSpPr>
            <a:stCxn id="11" idx="5"/>
            <a:endCxn id="32" idx="3"/>
          </p:cNvCxnSpPr>
          <p:nvPr/>
        </p:nvCxnSpPr>
        <p:spPr bwMode="auto">
          <a:xfrm flipH="1" flipV="1">
            <a:off x="3980177" y="3072064"/>
            <a:ext cx="1133120" cy="2230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oval" w="sm" len="sm"/>
            <a:tailEnd type="oval" w="sm" len="sm"/>
          </a:ln>
          <a:effectLst/>
        </p:spPr>
      </p:cxnSp>
      <p:cxnSp>
        <p:nvCxnSpPr>
          <p:cNvPr id="37" name="Straight Connector 36"/>
          <p:cNvCxnSpPr>
            <a:stCxn id="15" idx="7"/>
            <a:endCxn id="35" idx="1"/>
          </p:cNvCxnSpPr>
          <p:nvPr/>
        </p:nvCxnSpPr>
        <p:spPr bwMode="auto">
          <a:xfrm>
            <a:off x="6998493" y="2209019"/>
            <a:ext cx="339180" cy="3856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oval" w="sm" len="sm"/>
            <a:tailEnd type="oval" w="sm" len="sm"/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7337673" y="2012820"/>
            <a:ext cx="13131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x + </a:t>
            </a:r>
            <a:r>
              <a:rPr lang="en-US" sz="2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!y*z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42" name="Table 41"/>
          <p:cNvGraphicFramePr>
            <a:graphicFrameLocks noGrp="1"/>
          </p:cNvGraphicFramePr>
          <p:nvPr>
            <p:extLst/>
          </p:nvPr>
        </p:nvGraphicFramePr>
        <p:xfrm>
          <a:off x="856557" y="2515354"/>
          <a:ext cx="227255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139"/>
                <a:gridCol w="568139"/>
                <a:gridCol w="568139"/>
                <a:gridCol w="56813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…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…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1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2690500" y="2885138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00025" y="3256464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90500" y="3622592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90500" y="3991320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072472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 animBg="1"/>
      <p:bldP spid="15" grpId="0" animBg="1"/>
      <p:bldP spid="24" grpId="0"/>
      <p:bldP spid="28" grpId="0"/>
      <p:bldP spid="32" grpId="0"/>
      <p:bldP spid="35" grpId="0"/>
      <p:bldP spid="43" grpId="0"/>
      <p:bldP spid="44" grpId="0"/>
      <p:bldP spid="45" grpId="0"/>
      <p:bldP spid="46" grpId="0"/>
    </p:bldLst>
  </p:timing>
  <p:extLst mod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 of reduction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grpSp>
        <p:nvGrpSpPr>
          <p:cNvPr id="14" name="Group 13"/>
          <p:cNvGrpSpPr/>
          <p:nvPr/>
        </p:nvGrpSpPr>
        <p:grpSpPr>
          <a:xfrm>
            <a:off x="485774" y="1049927"/>
            <a:ext cx="5915025" cy="766209"/>
            <a:chOff x="3495673" y="3392805"/>
            <a:chExt cx="5915025" cy="766209"/>
          </a:xfrm>
        </p:grpSpPr>
        <p:sp>
          <p:nvSpPr>
            <p:cNvPr id="13" name="Rectangle 12"/>
            <p:cNvSpPr/>
            <p:nvPr/>
          </p:nvSpPr>
          <p:spPr bwMode="auto">
            <a:xfrm>
              <a:off x="3495673" y="3392805"/>
              <a:ext cx="5915025" cy="586736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495675" y="3512683"/>
              <a:ext cx="55911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F = (!</a:t>
              </a:r>
              <a:r>
                <a:rPr lang="en-US" dirty="0" err="1" smtClean="0">
                  <a:latin typeface="+mj-lt"/>
                </a:rPr>
                <a:t>x!y!z</a:t>
              </a:r>
              <a:r>
                <a:rPr lang="en-US" dirty="0" smtClean="0">
                  <a:latin typeface="+mj-lt"/>
                </a:rPr>
                <a:t>) + (</a:t>
              </a:r>
              <a:r>
                <a:rPr lang="en-US" dirty="0">
                  <a:latin typeface="+mj-lt"/>
                </a:rPr>
                <a:t>!</a:t>
              </a:r>
              <a:r>
                <a:rPr lang="en-US" dirty="0" smtClean="0">
                  <a:latin typeface="+mj-lt"/>
                </a:rPr>
                <a:t>x y z) + (</a:t>
              </a:r>
              <a:r>
                <a:rPr lang="en-US" dirty="0">
                  <a:latin typeface="+mj-lt"/>
                </a:rPr>
                <a:t>x </a:t>
              </a:r>
              <a:r>
                <a:rPr lang="en-US" dirty="0" smtClean="0">
                  <a:latin typeface="+mj-lt"/>
                </a:rPr>
                <a:t>!</a:t>
              </a:r>
              <a:r>
                <a:rPr lang="en-US" dirty="0">
                  <a:latin typeface="+mj-lt"/>
                </a:rPr>
                <a:t>y </a:t>
              </a:r>
              <a:r>
                <a:rPr lang="en-US" dirty="0" smtClean="0">
                  <a:latin typeface="+mj-lt"/>
                </a:rPr>
                <a:t>!z) + (</a:t>
              </a:r>
              <a:r>
                <a:rPr lang="en-US" dirty="0">
                  <a:latin typeface="+mj-lt"/>
                </a:rPr>
                <a:t>x </a:t>
              </a:r>
              <a:r>
                <a:rPr lang="en-US" dirty="0" smtClean="0">
                  <a:latin typeface="+mj-lt"/>
                </a:rPr>
                <a:t>y !z) =</a:t>
              </a:r>
              <a:endParaRPr lang="ru-RU" dirty="0">
                <a:latin typeface="+mj-lt"/>
              </a:endParaRPr>
            </a:p>
            <a:p>
              <a:r>
                <a:rPr lang="en-US" dirty="0" smtClean="0">
                  <a:latin typeface="+mj-lt"/>
                </a:rPr>
                <a:t>  </a:t>
              </a:r>
              <a:endParaRPr lang="ru-RU" dirty="0" err="1" smtClean="0">
                <a:latin typeface="+mj-lt"/>
              </a:endParaRP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485776" y="1804841"/>
            <a:ext cx="55911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j-lt"/>
              </a:rPr>
              <a:t>= (!x !y !z) + (</a:t>
            </a:r>
            <a:r>
              <a:rPr lang="en-US" dirty="0">
                <a:latin typeface="+mj-lt"/>
              </a:rPr>
              <a:t>!</a:t>
            </a:r>
            <a:r>
              <a:rPr lang="en-US" dirty="0" smtClean="0">
                <a:latin typeface="+mj-lt"/>
              </a:rPr>
              <a:t>x y z) + (x </a:t>
            </a:r>
            <a:r>
              <a:rPr lang="en-US" dirty="0">
                <a:latin typeface="+mj-lt"/>
              </a:rPr>
              <a:t>!</a:t>
            </a:r>
            <a:r>
              <a:rPr lang="en-US" dirty="0" smtClean="0">
                <a:latin typeface="+mj-lt"/>
              </a:rPr>
              <a:t>z)(!y + y) =</a:t>
            </a:r>
          </a:p>
          <a:p>
            <a:r>
              <a:rPr lang="en-US" dirty="0" smtClean="0">
                <a:latin typeface="+mj-lt"/>
              </a:rPr>
              <a:t>= (!x !y !z) + (!x y z) + (x !z) =</a:t>
            </a:r>
          </a:p>
          <a:p>
            <a:r>
              <a:rPr lang="en-US" dirty="0" smtClean="0">
                <a:latin typeface="+mj-lt"/>
              </a:rPr>
              <a:t>= !x (!y !z + y z) + (x !z) =</a:t>
            </a:r>
          </a:p>
          <a:p>
            <a:r>
              <a:rPr lang="en-US" dirty="0" smtClean="0">
                <a:latin typeface="+mj-lt"/>
              </a:rPr>
              <a:t>= !x (!y</a:t>
            </a:r>
            <a:r>
              <a:rPr lang="en-US" dirty="0" smtClean="0">
                <a:latin typeface="+mj-lt"/>
                <a:sym typeface="Symbol"/>
              </a:rPr>
              <a:t>  z) + (x !z).</a:t>
            </a:r>
            <a:endParaRPr lang="ru-RU" dirty="0">
              <a:latin typeface="+mj-lt"/>
            </a:endParaRPr>
          </a:p>
          <a:p>
            <a:r>
              <a:rPr lang="en-US" dirty="0" smtClean="0">
                <a:latin typeface="+mj-lt"/>
              </a:rPr>
              <a:t>  </a:t>
            </a:r>
            <a:endParaRPr lang="ru-RU" dirty="0" err="1" smtClean="0"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85774" y="3157391"/>
            <a:ext cx="55911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j-lt"/>
              </a:rPr>
              <a:t>= (!x + x)(!y !z) + (!x y z) + </a:t>
            </a:r>
            <a:r>
              <a:rPr lang="en-US" dirty="0">
                <a:latin typeface="+mj-lt"/>
              </a:rPr>
              <a:t>(x </a:t>
            </a:r>
            <a:r>
              <a:rPr lang="en-US" dirty="0" smtClean="0">
                <a:latin typeface="+mj-lt"/>
              </a:rPr>
              <a:t>y !z) = </a:t>
            </a:r>
          </a:p>
          <a:p>
            <a:r>
              <a:rPr lang="en-US" dirty="0" smtClean="0">
                <a:latin typeface="+mj-lt"/>
              </a:rPr>
              <a:t>= (!</a:t>
            </a:r>
            <a:r>
              <a:rPr lang="en-US" dirty="0" err="1" smtClean="0">
                <a:latin typeface="+mj-lt"/>
              </a:rPr>
              <a:t>y!z</a:t>
            </a:r>
            <a:r>
              <a:rPr lang="en-US" dirty="0" smtClean="0">
                <a:latin typeface="+mj-lt"/>
              </a:rPr>
              <a:t>) + y(!x z + x !</a:t>
            </a:r>
            <a:r>
              <a:rPr lang="en-US" dirty="0">
                <a:latin typeface="+mj-lt"/>
              </a:rPr>
              <a:t>z</a:t>
            </a:r>
            <a:r>
              <a:rPr lang="en-US" dirty="0" smtClean="0">
                <a:latin typeface="+mj-lt"/>
              </a:rPr>
              <a:t>) =</a:t>
            </a:r>
          </a:p>
          <a:p>
            <a:r>
              <a:rPr lang="en-US" dirty="0" smtClean="0">
                <a:latin typeface="+mj-lt"/>
              </a:rPr>
              <a:t>= </a:t>
            </a:r>
            <a:r>
              <a:rPr lang="en-US" dirty="0">
                <a:latin typeface="+mj-lt"/>
              </a:rPr>
              <a:t>(!</a:t>
            </a:r>
            <a:r>
              <a:rPr lang="en-US" dirty="0" err="1" smtClean="0">
                <a:latin typeface="+mj-lt"/>
              </a:rPr>
              <a:t>y!z</a:t>
            </a:r>
            <a:r>
              <a:rPr lang="en-US" dirty="0">
                <a:latin typeface="+mj-lt"/>
              </a:rPr>
              <a:t>) + </a:t>
            </a:r>
            <a:r>
              <a:rPr lang="en-US" dirty="0" smtClean="0">
                <a:latin typeface="+mj-lt"/>
              </a:rPr>
              <a:t>y(x </a:t>
            </a:r>
            <a:r>
              <a:rPr lang="en-US" dirty="0">
                <a:latin typeface="+mj-lt"/>
                <a:sym typeface="Symbol"/>
              </a:rPr>
              <a:t></a:t>
            </a:r>
            <a:r>
              <a:rPr lang="en-US" dirty="0" smtClean="0">
                <a:latin typeface="+mj-lt"/>
              </a:rPr>
              <a:t> z) =</a:t>
            </a:r>
          </a:p>
          <a:p>
            <a:r>
              <a:rPr lang="en-US" dirty="0" smtClean="0">
                <a:latin typeface="+mj-lt"/>
              </a:rPr>
              <a:t>= !(y + z) </a:t>
            </a:r>
            <a:r>
              <a:rPr lang="en-US" dirty="0">
                <a:latin typeface="+mj-lt"/>
              </a:rPr>
              <a:t>+ </a:t>
            </a:r>
            <a:r>
              <a:rPr lang="en-US" dirty="0" smtClean="0">
                <a:latin typeface="+mj-lt"/>
              </a:rPr>
              <a:t>y(x </a:t>
            </a:r>
            <a:r>
              <a:rPr lang="en-US" dirty="0">
                <a:latin typeface="+mj-lt"/>
                <a:sym typeface="Symbol"/>
              </a:rPr>
              <a:t></a:t>
            </a:r>
            <a:r>
              <a:rPr lang="en-US" dirty="0" smtClean="0">
                <a:latin typeface="+mj-lt"/>
              </a:rPr>
              <a:t> </a:t>
            </a:r>
            <a:r>
              <a:rPr lang="en-US" dirty="0">
                <a:latin typeface="+mj-lt"/>
              </a:rPr>
              <a:t>z</a:t>
            </a:r>
            <a:r>
              <a:rPr lang="en-US" dirty="0" smtClean="0">
                <a:latin typeface="+mj-lt"/>
              </a:rPr>
              <a:t>).</a:t>
            </a:r>
            <a:endParaRPr lang="ru-RU" dirty="0">
              <a:latin typeface="+mj-lt"/>
            </a:endParaRPr>
          </a:p>
          <a:p>
            <a:r>
              <a:rPr lang="en-US" dirty="0" smtClean="0">
                <a:latin typeface="+mj-lt"/>
              </a:rPr>
              <a:t>  </a:t>
            </a:r>
            <a:endParaRPr lang="ru-RU" dirty="0" err="1" smtClean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061912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Canonical disjunctive normal form (CDNF)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en-US" dirty="0" smtClean="0"/>
              <a:t>CDNF is an algorithm of reconstructing a Boolean function from its truth table</a:t>
            </a:r>
          </a:p>
          <a:p>
            <a:pPr marL="757238" lvl="2" indent="-342900">
              <a:spcBef>
                <a:spcPts val="400"/>
              </a:spcBef>
              <a:buFont typeface="Arial" pitchFamily="34" charset="0"/>
              <a:buChar char="•"/>
            </a:pPr>
            <a:r>
              <a:rPr lang="en-US" dirty="0" smtClean="0"/>
              <a:t>Take lines with ‘1’ only</a:t>
            </a:r>
          </a:p>
          <a:p>
            <a:pPr marL="757238" lvl="2" indent="-342900">
              <a:spcBef>
                <a:spcPts val="400"/>
              </a:spcBef>
              <a:buFont typeface="Arial" pitchFamily="34" charset="0"/>
              <a:buChar char="•"/>
            </a:pPr>
            <a:r>
              <a:rPr lang="en-US" dirty="0" smtClean="0"/>
              <a:t>Conjunct all variables in line with correct sign</a:t>
            </a:r>
          </a:p>
          <a:p>
            <a:pPr marL="757238" lvl="2" indent="-342900">
              <a:spcBef>
                <a:spcPts val="400"/>
              </a:spcBef>
              <a:buFont typeface="Arial" pitchFamily="34" charset="0"/>
              <a:buChar char="•"/>
            </a:pPr>
            <a:r>
              <a:rPr lang="en-US" dirty="0" smtClean="0"/>
              <a:t>Make disjunction on expressions</a:t>
            </a:r>
          </a:p>
          <a:p>
            <a:pPr marL="342900" indent="-342900">
              <a:buFont typeface="Arial" pitchFamily="34" charset="0"/>
              <a:buChar char="•"/>
            </a:pPr>
            <a:endParaRPr lang="en-US" dirty="0" smtClean="0"/>
          </a:p>
        </p:txBody>
      </p:sp>
      <p:graphicFrame>
        <p:nvGraphicFramePr>
          <p:cNvPr id="42" name="Table 41"/>
          <p:cNvGraphicFramePr>
            <a:graphicFrameLocks noGrp="1"/>
          </p:cNvGraphicFramePr>
          <p:nvPr>
            <p:extLst/>
          </p:nvPr>
        </p:nvGraphicFramePr>
        <p:xfrm>
          <a:off x="462140" y="2911317"/>
          <a:ext cx="2272556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139"/>
                <a:gridCol w="568139"/>
                <a:gridCol w="568139"/>
                <a:gridCol w="56813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1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0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0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1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1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0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1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ight Arrow 6"/>
          <p:cNvSpPr/>
          <p:nvPr/>
        </p:nvSpPr>
        <p:spPr bwMode="auto">
          <a:xfrm flipH="1">
            <a:off x="2743200" y="3242782"/>
            <a:ext cx="548640" cy="365760"/>
          </a:xfrm>
          <a:prstGeom prst="rightArrow">
            <a:avLst/>
          </a:prstGeom>
          <a:solidFill>
            <a:schemeClr val="accent1"/>
          </a:solidFill>
          <a:ln>
            <a:noFill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b="1" smtClean="0">
              <a:latin typeface="Neo Sans Intel" pitchFamily="34" charset="0"/>
              <a:cs typeface="Arial" pitchFamily="34" charset="0"/>
            </a:endParaRPr>
          </a:p>
        </p:txBody>
      </p:sp>
      <p:sp>
        <p:nvSpPr>
          <p:cNvPr id="31" name="Right Arrow 30"/>
          <p:cNvSpPr/>
          <p:nvPr/>
        </p:nvSpPr>
        <p:spPr bwMode="auto">
          <a:xfrm flipH="1">
            <a:off x="2733675" y="4383401"/>
            <a:ext cx="548640" cy="365760"/>
          </a:xfrm>
          <a:prstGeom prst="rightArrow">
            <a:avLst/>
          </a:prstGeom>
          <a:solidFill>
            <a:schemeClr val="accent1"/>
          </a:solidFill>
          <a:ln>
            <a:noFill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b="1" smtClean="0">
              <a:latin typeface="Neo Sans Intel" pitchFamily="34" charset="0"/>
              <a:cs typeface="Arial" pitchFamily="34" charset="0"/>
            </a:endParaRPr>
          </a:p>
        </p:txBody>
      </p:sp>
      <p:sp>
        <p:nvSpPr>
          <p:cNvPr id="33" name="Right Arrow 32"/>
          <p:cNvSpPr/>
          <p:nvPr/>
        </p:nvSpPr>
        <p:spPr bwMode="auto">
          <a:xfrm flipH="1">
            <a:off x="2733675" y="4766782"/>
            <a:ext cx="548640" cy="365760"/>
          </a:xfrm>
          <a:prstGeom prst="rightArrow">
            <a:avLst/>
          </a:prstGeom>
          <a:solidFill>
            <a:schemeClr val="accent1"/>
          </a:solidFill>
          <a:ln>
            <a:noFill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b="1" smtClean="0">
              <a:latin typeface="Neo Sans Intel" pitchFamily="34" charset="0"/>
              <a:cs typeface="Arial" pitchFamily="34" charset="0"/>
            </a:endParaRPr>
          </a:p>
        </p:txBody>
      </p:sp>
      <p:sp>
        <p:nvSpPr>
          <p:cNvPr id="36" name="Right Arrow 35"/>
          <p:cNvSpPr/>
          <p:nvPr/>
        </p:nvSpPr>
        <p:spPr bwMode="auto">
          <a:xfrm flipH="1">
            <a:off x="2743200" y="5462107"/>
            <a:ext cx="548640" cy="365760"/>
          </a:xfrm>
          <a:prstGeom prst="rightArrow">
            <a:avLst/>
          </a:prstGeom>
          <a:solidFill>
            <a:schemeClr val="accent1"/>
          </a:solidFill>
          <a:ln>
            <a:noFill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b="1" smtClean="0">
              <a:latin typeface="Neo Sans Inte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60420" y="3249450"/>
            <a:ext cx="159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j-lt"/>
              </a:rPr>
              <a:t>!x * !y * !z</a:t>
            </a:r>
            <a:endParaRPr lang="ru-RU" dirty="0" err="1" smtClean="0">
              <a:latin typeface="+mj-lt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360420" y="4372566"/>
            <a:ext cx="159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j-lt"/>
              </a:rPr>
              <a:t>!x * y * z</a:t>
            </a:r>
            <a:endParaRPr lang="ru-RU" dirty="0" err="1" smtClean="0">
              <a:latin typeface="+mj-lt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360420" y="4755947"/>
            <a:ext cx="159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j-lt"/>
              </a:rPr>
              <a:t>x * !y * !z</a:t>
            </a:r>
            <a:endParaRPr lang="ru-RU" dirty="0" err="1" smtClean="0">
              <a:latin typeface="+mj-lt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360420" y="5458892"/>
            <a:ext cx="159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j-lt"/>
              </a:rPr>
              <a:t>x * y * !z</a:t>
            </a:r>
            <a:endParaRPr lang="ru-RU" dirty="0" err="1" smtClean="0">
              <a:latin typeface="+mj-lt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3417570" y="3781617"/>
            <a:ext cx="5743575" cy="500823"/>
            <a:chOff x="3495674" y="3438525"/>
            <a:chExt cx="5743575" cy="500823"/>
          </a:xfrm>
        </p:grpSpPr>
        <p:sp>
          <p:nvSpPr>
            <p:cNvPr id="13" name="Rectangle 12"/>
            <p:cNvSpPr/>
            <p:nvPr/>
          </p:nvSpPr>
          <p:spPr bwMode="auto">
            <a:xfrm>
              <a:off x="3495674" y="3438525"/>
              <a:ext cx="5322570" cy="500823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495674" y="3512683"/>
              <a:ext cx="57435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F = </a:t>
              </a:r>
              <a:r>
                <a:rPr lang="en-US" dirty="0">
                  <a:latin typeface="+mj-lt"/>
                </a:rPr>
                <a:t>(!</a:t>
              </a:r>
              <a:r>
                <a:rPr lang="en-US" dirty="0" err="1">
                  <a:latin typeface="+mj-lt"/>
                </a:rPr>
                <a:t>x!y!z</a:t>
              </a:r>
              <a:r>
                <a:rPr lang="en-US" dirty="0">
                  <a:latin typeface="+mj-lt"/>
                </a:rPr>
                <a:t>) + (!x y z) + (x !y !z) + (x y !z)   </a:t>
              </a:r>
              <a:endParaRPr lang="ru-RU" dirty="0" err="1" smtClean="0">
                <a:latin typeface="+mj-lt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BCC5F68B-A657-49DB-B0E5-FCF3DDEEBB8D}"/>
              </a:ext>
            </a:extLst>
          </p:cNvPr>
          <p:cNvSpPr/>
          <p:nvPr/>
        </p:nvSpPr>
        <p:spPr>
          <a:xfrm>
            <a:off x="3566668" y="1747332"/>
            <a:ext cx="48468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Calibri Light" panose="020F0302020204030204"/>
              </a:rPr>
              <a:t>→ Hint: use </a:t>
            </a:r>
            <a:r>
              <a:rPr lang="en-US" sz="2000" dirty="0" smtClean="0">
                <a:solidFill>
                  <a:prstClr val="black"/>
                </a:solidFill>
                <a:latin typeface="Calibri Light" panose="020F0302020204030204"/>
              </a:rPr>
              <a:t>CDNF </a:t>
            </a:r>
            <a:r>
              <a:rPr lang="en-US" sz="2000" dirty="0">
                <a:solidFill>
                  <a:prstClr val="black"/>
                </a:solidFill>
                <a:latin typeface="Calibri Light" panose="020F0302020204030204"/>
              </a:rPr>
              <a:t>if there are less </a:t>
            </a:r>
            <a:r>
              <a:rPr lang="en-US" sz="2000" b="1" dirty="0">
                <a:solidFill>
                  <a:prstClr val="black"/>
                </a:solidFill>
                <a:latin typeface="Calibri Light" panose="020F0302020204030204"/>
              </a:rPr>
              <a:t>1</a:t>
            </a:r>
            <a:r>
              <a:rPr lang="en-US" sz="2000" dirty="0">
                <a:solidFill>
                  <a:prstClr val="black"/>
                </a:solidFill>
                <a:latin typeface="Calibri Light" panose="020F0302020204030204"/>
              </a:rPr>
              <a:t>’s than </a:t>
            </a:r>
            <a:r>
              <a:rPr lang="en-US" sz="2000" b="1" dirty="0">
                <a:solidFill>
                  <a:prstClr val="black"/>
                </a:solidFill>
                <a:latin typeface="Calibri Light" panose="020F0302020204030204"/>
              </a:rPr>
              <a:t>0</a:t>
            </a:r>
            <a:r>
              <a:rPr lang="en-US" sz="2000" dirty="0">
                <a:solidFill>
                  <a:prstClr val="black"/>
                </a:solidFill>
                <a:latin typeface="Calibri Light" panose="020F0302020204030204"/>
              </a:rPr>
              <a:t>’s</a:t>
            </a:r>
            <a:endParaRPr lang="ru-RU" sz="1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8777807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31" grpId="0" animBg="1"/>
      <p:bldP spid="31" grpId="1" animBg="1"/>
      <p:bldP spid="33" grpId="0" animBg="1"/>
      <p:bldP spid="33" grpId="1" animBg="1"/>
      <p:bldP spid="36" grpId="0" animBg="1"/>
      <p:bldP spid="36" grpId="1" animBg="1"/>
      <p:bldP spid="12" grpId="0"/>
      <p:bldP spid="12" grpId="1"/>
      <p:bldP spid="38" grpId="0"/>
      <p:bldP spid="38" grpId="1"/>
      <p:bldP spid="39" grpId="0"/>
      <p:bldP spid="39" grpId="1"/>
      <p:bldP spid="40" grpId="0"/>
      <p:bldP spid="40" grpId="1"/>
      <p:bldP spid="16" grpId="0"/>
    </p:bldLst>
  </p:timing>
  <p:extLst mod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Canonical conjunctive normal form (CCNF)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342900" indent="-34290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en-US" dirty="0" smtClean="0"/>
              <a:t>CCNF </a:t>
            </a:r>
            <a:r>
              <a:rPr lang="en-US" dirty="0"/>
              <a:t>is an algorithm of reconstructing a Boolean function from its truth table</a:t>
            </a:r>
          </a:p>
          <a:p>
            <a:pPr marL="757238" lvl="2" indent="-342900">
              <a:spcBef>
                <a:spcPts val="400"/>
              </a:spcBef>
              <a:buFont typeface="Arial" pitchFamily="34" charset="0"/>
              <a:buChar char="•"/>
            </a:pPr>
            <a:r>
              <a:rPr lang="en-US" dirty="0" smtClean="0"/>
              <a:t>Take </a:t>
            </a:r>
            <a:r>
              <a:rPr lang="en-US" dirty="0"/>
              <a:t>lines with ‘0’ only</a:t>
            </a:r>
          </a:p>
          <a:p>
            <a:pPr marL="757238" lvl="2" indent="-342900">
              <a:spcBef>
                <a:spcPts val="400"/>
              </a:spcBef>
              <a:buFont typeface="Arial" pitchFamily="34" charset="0"/>
              <a:buChar char="•"/>
            </a:pPr>
            <a:r>
              <a:rPr lang="en-US" dirty="0"/>
              <a:t>Make disjunction on all variables in line with correct sign</a:t>
            </a:r>
          </a:p>
          <a:p>
            <a:pPr marL="757238" lvl="2" indent="-342900">
              <a:spcBef>
                <a:spcPts val="400"/>
              </a:spcBef>
              <a:buFont typeface="Arial" pitchFamily="34" charset="0"/>
              <a:buChar char="•"/>
            </a:pPr>
            <a:r>
              <a:rPr lang="en-US" dirty="0"/>
              <a:t>Conjunct expressions</a:t>
            </a:r>
          </a:p>
          <a:p>
            <a:pPr marL="342900" indent="-342900">
              <a:spcBef>
                <a:spcPts val="1200"/>
              </a:spcBef>
              <a:buFont typeface="Arial" pitchFamily="34" charset="0"/>
              <a:buChar char="•"/>
            </a:pPr>
            <a:endParaRPr lang="en-US" dirty="0"/>
          </a:p>
        </p:txBody>
      </p:sp>
      <p:graphicFrame>
        <p:nvGraphicFramePr>
          <p:cNvPr id="42" name="Table 41"/>
          <p:cNvGraphicFramePr>
            <a:graphicFrameLocks noGrp="1"/>
          </p:cNvGraphicFramePr>
          <p:nvPr>
            <p:extLst/>
          </p:nvPr>
        </p:nvGraphicFramePr>
        <p:xfrm>
          <a:off x="462140" y="2873217"/>
          <a:ext cx="2272556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139"/>
                <a:gridCol w="568139"/>
                <a:gridCol w="568139"/>
                <a:gridCol w="56813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1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0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0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1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1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0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1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ight Arrow 6"/>
          <p:cNvSpPr/>
          <p:nvPr/>
        </p:nvSpPr>
        <p:spPr bwMode="auto">
          <a:xfrm flipH="1">
            <a:off x="2743200" y="3576157"/>
            <a:ext cx="548640" cy="365760"/>
          </a:xfrm>
          <a:prstGeom prst="rightArrow">
            <a:avLst/>
          </a:prstGeom>
          <a:solidFill>
            <a:schemeClr val="accent1"/>
          </a:solidFill>
          <a:ln>
            <a:noFill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b="1">
              <a:solidFill>
                <a:schemeClr val="dk1"/>
              </a:solidFill>
              <a:latin typeface="Neo Sans Intel" pitchFamily="34" charset="0"/>
              <a:cs typeface="Arial" pitchFamily="34" charset="0"/>
            </a:endParaRPr>
          </a:p>
        </p:txBody>
      </p:sp>
      <p:sp>
        <p:nvSpPr>
          <p:cNvPr id="31" name="Right Arrow 30"/>
          <p:cNvSpPr/>
          <p:nvPr/>
        </p:nvSpPr>
        <p:spPr bwMode="auto">
          <a:xfrm flipH="1">
            <a:off x="2733675" y="4013946"/>
            <a:ext cx="548640" cy="365760"/>
          </a:xfrm>
          <a:prstGeom prst="rightArrow">
            <a:avLst/>
          </a:prstGeom>
          <a:solidFill>
            <a:schemeClr val="accent1"/>
          </a:solidFill>
          <a:ln>
            <a:noFill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b="1">
              <a:solidFill>
                <a:schemeClr val="dk1"/>
              </a:solidFill>
              <a:latin typeface="Neo Sans Intel" pitchFamily="34" charset="0"/>
              <a:cs typeface="Arial" pitchFamily="34" charset="0"/>
            </a:endParaRPr>
          </a:p>
        </p:txBody>
      </p:sp>
      <p:sp>
        <p:nvSpPr>
          <p:cNvPr id="33" name="Right Arrow 32"/>
          <p:cNvSpPr/>
          <p:nvPr/>
        </p:nvSpPr>
        <p:spPr bwMode="auto">
          <a:xfrm flipH="1">
            <a:off x="2733675" y="5083603"/>
            <a:ext cx="548640" cy="365760"/>
          </a:xfrm>
          <a:prstGeom prst="rightArrow">
            <a:avLst/>
          </a:prstGeom>
          <a:solidFill>
            <a:schemeClr val="accent1"/>
          </a:solidFill>
          <a:ln>
            <a:noFill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b="1">
              <a:solidFill>
                <a:schemeClr val="dk1"/>
              </a:solidFill>
              <a:latin typeface="Neo Sans Intel" pitchFamily="34" charset="0"/>
              <a:cs typeface="Arial" pitchFamily="34" charset="0"/>
            </a:endParaRPr>
          </a:p>
        </p:txBody>
      </p:sp>
      <p:sp>
        <p:nvSpPr>
          <p:cNvPr id="36" name="Right Arrow 35"/>
          <p:cNvSpPr/>
          <p:nvPr/>
        </p:nvSpPr>
        <p:spPr bwMode="auto">
          <a:xfrm flipH="1">
            <a:off x="2743200" y="5820604"/>
            <a:ext cx="548640" cy="365760"/>
          </a:xfrm>
          <a:prstGeom prst="rightArrow">
            <a:avLst/>
          </a:prstGeom>
          <a:solidFill>
            <a:schemeClr val="accent1"/>
          </a:solidFill>
          <a:ln>
            <a:noFill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b="1">
              <a:solidFill>
                <a:schemeClr val="dk1"/>
              </a:solidFill>
              <a:latin typeface="Neo Sans Inte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90900" y="3583777"/>
            <a:ext cx="159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x</a:t>
            </a:r>
            <a:r>
              <a:rPr lang="en-US" dirty="0" smtClean="0">
                <a:latin typeface="+mj-lt"/>
              </a:rPr>
              <a:t> </a:t>
            </a:r>
            <a:r>
              <a:rPr lang="en-US" dirty="0">
                <a:latin typeface="+mj-lt"/>
              </a:rPr>
              <a:t>+</a:t>
            </a:r>
            <a:r>
              <a:rPr lang="en-US" dirty="0" smtClean="0">
                <a:latin typeface="+mj-lt"/>
              </a:rPr>
              <a:t> y + </a:t>
            </a:r>
            <a:r>
              <a:rPr lang="en-US" dirty="0">
                <a:latin typeface="+mj-lt"/>
              </a:rPr>
              <a:t>!</a:t>
            </a:r>
            <a:r>
              <a:rPr lang="en-US" dirty="0" smtClean="0">
                <a:latin typeface="+mj-lt"/>
              </a:rPr>
              <a:t>z</a:t>
            </a:r>
            <a:endParaRPr lang="ru-RU" dirty="0" err="1" smtClean="0">
              <a:latin typeface="+mj-lt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375660" y="4025375"/>
            <a:ext cx="159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j-lt"/>
              </a:rPr>
              <a:t>x </a:t>
            </a:r>
            <a:r>
              <a:rPr lang="en-US" dirty="0">
                <a:latin typeface="+mj-lt"/>
              </a:rPr>
              <a:t>+</a:t>
            </a:r>
            <a:r>
              <a:rPr lang="en-US" dirty="0" smtClean="0">
                <a:latin typeface="+mj-lt"/>
              </a:rPr>
              <a:t> !y + z</a:t>
            </a:r>
            <a:endParaRPr lang="ru-RU" dirty="0" err="1" smtClean="0">
              <a:latin typeface="+mj-lt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381373" y="5110868"/>
            <a:ext cx="159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j-lt"/>
              </a:rPr>
              <a:t>!x </a:t>
            </a:r>
            <a:r>
              <a:rPr lang="en-US" dirty="0">
                <a:latin typeface="+mj-lt"/>
              </a:rPr>
              <a:t>+</a:t>
            </a:r>
            <a:r>
              <a:rPr lang="en-US" dirty="0" smtClean="0">
                <a:latin typeface="+mj-lt"/>
              </a:rPr>
              <a:t> y + !z</a:t>
            </a:r>
            <a:endParaRPr lang="ru-RU" dirty="0" err="1" smtClean="0">
              <a:latin typeface="+mj-lt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390900" y="5832148"/>
            <a:ext cx="159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j-lt"/>
              </a:rPr>
              <a:t>!x </a:t>
            </a:r>
            <a:r>
              <a:rPr lang="en-US" dirty="0">
                <a:latin typeface="+mj-lt"/>
              </a:rPr>
              <a:t> </a:t>
            </a:r>
            <a:r>
              <a:rPr lang="en-US" dirty="0" smtClean="0">
                <a:latin typeface="+mj-lt"/>
              </a:rPr>
              <a:t>+ !y </a:t>
            </a:r>
            <a:r>
              <a:rPr lang="en-US" dirty="0">
                <a:latin typeface="+mj-lt"/>
              </a:rPr>
              <a:t> </a:t>
            </a:r>
            <a:r>
              <a:rPr lang="en-US" dirty="0" smtClean="0">
                <a:latin typeface="+mj-lt"/>
              </a:rPr>
              <a:t>+ !z</a:t>
            </a:r>
            <a:endParaRPr lang="ru-RU" dirty="0" err="1" smtClean="0">
              <a:latin typeface="+mj-lt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3438525" y="4493652"/>
            <a:ext cx="5743575" cy="505068"/>
            <a:chOff x="3495674" y="3438525"/>
            <a:chExt cx="5743575" cy="505068"/>
          </a:xfrm>
        </p:grpSpPr>
        <p:sp>
          <p:nvSpPr>
            <p:cNvPr id="13" name="Rectangle 12"/>
            <p:cNvSpPr/>
            <p:nvPr/>
          </p:nvSpPr>
          <p:spPr bwMode="auto">
            <a:xfrm>
              <a:off x="3495674" y="3438525"/>
              <a:ext cx="4912995" cy="505068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anose="020B0504020202020204" pitchFamily="34" charset="0"/>
                <a:cs typeface="Arial" pitchFamily="34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495674" y="3512683"/>
              <a:ext cx="57435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F = (</a:t>
              </a:r>
              <a:r>
                <a:rPr lang="en-US" dirty="0">
                  <a:latin typeface="+mj-lt"/>
                </a:rPr>
                <a:t>x + y + !</a:t>
              </a:r>
              <a:r>
                <a:rPr lang="en-US" dirty="0" smtClean="0">
                  <a:latin typeface="+mj-lt"/>
                </a:rPr>
                <a:t>z)(</a:t>
              </a:r>
              <a:r>
                <a:rPr lang="en-US" dirty="0">
                  <a:latin typeface="+mj-lt"/>
                </a:rPr>
                <a:t>x + !y + </a:t>
              </a:r>
              <a:r>
                <a:rPr lang="en-US" dirty="0" smtClean="0">
                  <a:latin typeface="+mj-lt"/>
                </a:rPr>
                <a:t>z)(</a:t>
              </a:r>
              <a:r>
                <a:rPr lang="en-US" dirty="0">
                  <a:latin typeface="+mj-lt"/>
                </a:rPr>
                <a:t>!x + y + !</a:t>
              </a:r>
              <a:r>
                <a:rPr lang="en-US" dirty="0" smtClean="0">
                  <a:latin typeface="+mj-lt"/>
                </a:rPr>
                <a:t>z)(</a:t>
              </a:r>
              <a:r>
                <a:rPr lang="en-US" dirty="0">
                  <a:latin typeface="+mj-lt"/>
                </a:rPr>
                <a:t>!x  + !y  + !</a:t>
              </a:r>
              <a:r>
                <a:rPr lang="en-US" dirty="0" smtClean="0">
                  <a:latin typeface="+mj-lt"/>
                </a:rPr>
                <a:t>z)</a:t>
              </a:r>
              <a:endParaRPr lang="ru-RU" dirty="0" err="1" smtClean="0">
                <a:latin typeface="+mj-lt"/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BCC5F68B-A657-49DB-B0E5-FCF3DDEEBB8D}"/>
              </a:ext>
            </a:extLst>
          </p:cNvPr>
          <p:cNvSpPr/>
          <p:nvPr/>
        </p:nvSpPr>
        <p:spPr>
          <a:xfrm>
            <a:off x="3559411" y="1731577"/>
            <a:ext cx="483241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Calibri Light" panose="020F0302020204030204"/>
              </a:rPr>
              <a:t>→ Hint: use </a:t>
            </a:r>
            <a:r>
              <a:rPr lang="en-US" sz="2000" dirty="0" smtClean="0">
                <a:solidFill>
                  <a:prstClr val="black"/>
                </a:solidFill>
                <a:latin typeface="Calibri Light" panose="020F0302020204030204"/>
              </a:rPr>
              <a:t>CCNF </a:t>
            </a:r>
            <a:r>
              <a:rPr lang="en-US" sz="2000" dirty="0">
                <a:solidFill>
                  <a:prstClr val="black"/>
                </a:solidFill>
                <a:latin typeface="Calibri Light" panose="020F0302020204030204"/>
              </a:rPr>
              <a:t>if there are less 0’s than 1’s</a:t>
            </a:r>
            <a:endParaRPr lang="ru-RU" sz="1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32932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31" grpId="0" animBg="1"/>
      <p:bldP spid="31" grpId="1" animBg="1"/>
      <p:bldP spid="33" grpId="0" animBg="1"/>
      <p:bldP spid="33" grpId="1" animBg="1"/>
      <p:bldP spid="36" grpId="0" animBg="1"/>
      <p:bldP spid="36" grpId="1" animBg="1"/>
      <p:bldP spid="12" grpId="0"/>
      <p:bldP spid="12" grpId="1"/>
      <p:bldP spid="38" grpId="0"/>
      <p:bldP spid="38" grpId="1"/>
      <p:bldP spid="39" grpId="0"/>
      <p:bldP spid="39" grpId="1"/>
      <p:bldP spid="40" grpId="0"/>
      <p:bldP spid="40" grpId="1"/>
      <p:bldP spid="17" grpId="0"/>
    </p:bldLst>
  </p:timing>
  <p:extLst mod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Combinational Circuits</a:t>
            </a:r>
            <a:endParaRPr lang="ru-RU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44C7BE5-B578-44C2-B697-AD60B2F34A37}" type="slidenum">
              <a:rPr lang="ja-JP" altLang="en-US" smtClean="0">
                <a:solidFill>
                  <a:srgbClr val="FFFFFF"/>
                </a:solidFill>
              </a:rPr>
              <a:pPr>
                <a:defRPr/>
              </a:pPr>
              <a:t>15</a:t>
            </a:fld>
            <a:endParaRPr lang="en-US" altLang="ja-JP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452488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Combinational Circuits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1140263"/>
            <a:ext cx="8228012" cy="795803"/>
          </a:xfrm>
        </p:spPr>
        <p:txBody>
          <a:bodyPr/>
          <a:lstStyle/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If the output of a function is completely defined by the current input then the function is called </a:t>
            </a:r>
            <a:r>
              <a:rPr lang="en-US" i="1" dirty="0" smtClean="0">
                <a:solidFill>
                  <a:schemeClr val="accent1"/>
                </a:solidFill>
              </a:rPr>
              <a:t>combinational </a:t>
            </a:r>
            <a:r>
              <a:rPr lang="en-US" dirty="0" smtClean="0"/>
              <a:t>:</a:t>
            </a:r>
          </a:p>
          <a:p>
            <a:pPr marL="342900" indent="-342900"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990839" y="1914103"/>
            <a:ext cx="3157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+mj-lt"/>
              </a:rPr>
              <a:t>Q</a:t>
            </a:r>
            <a:r>
              <a:rPr lang="en-US" sz="2000" dirty="0" err="1" smtClean="0">
                <a:latin typeface="+mj-lt"/>
              </a:rPr>
              <a:t>t</a:t>
            </a:r>
            <a:r>
              <a:rPr lang="en-US" sz="2800" dirty="0" smtClean="0">
                <a:latin typeface="+mj-lt"/>
              </a:rPr>
              <a:t> = </a:t>
            </a:r>
            <a:r>
              <a:rPr lang="en-US" sz="2800" dirty="0">
                <a:latin typeface="+mj-lt"/>
              </a:rPr>
              <a:t>F</a:t>
            </a:r>
            <a:r>
              <a:rPr lang="en-US" sz="2800" dirty="0" smtClean="0">
                <a:latin typeface="+mj-lt"/>
              </a:rPr>
              <a:t>(</a:t>
            </a:r>
            <a:r>
              <a:rPr lang="en-US" sz="2800" dirty="0" err="1" smtClean="0">
                <a:latin typeface="+mj-lt"/>
              </a:rPr>
              <a:t>x</a:t>
            </a:r>
            <a:r>
              <a:rPr lang="en-US" dirty="0" err="1" smtClean="0">
                <a:latin typeface="+mj-lt"/>
              </a:rPr>
              <a:t>t</a:t>
            </a:r>
            <a:r>
              <a:rPr lang="en-US" sz="2800" dirty="0" smtClean="0">
                <a:latin typeface="+mj-lt"/>
              </a:rPr>
              <a:t>, </a:t>
            </a:r>
            <a:r>
              <a:rPr lang="en-US" sz="2800" dirty="0" err="1" smtClean="0">
                <a:latin typeface="+mj-lt"/>
              </a:rPr>
              <a:t>y</a:t>
            </a:r>
            <a:r>
              <a:rPr lang="en-US" dirty="0" err="1">
                <a:latin typeface="+mj-lt"/>
              </a:rPr>
              <a:t>t</a:t>
            </a:r>
            <a:r>
              <a:rPr lang="en-US" sz="2800" dirty="0" smtClean="0">
                <a:latin typeface="+mj-lt"/>
              </a:rPr>
              <a:t>, </a:t>
            </a:r>
            <a:r>
              <a:rPr lang="en-US" sz="2800" dirty="0" err="1" smtClean="0">
                <a:latin typeface="+mj-lt"/>
              </a:rPr>
              <a:t>z</a:t>
            </a:r>
            <a:r>
              <a:rPr lang="en-US" dirty="0" err="1" smtClean="0">
                <a:latin typeface="+mj-lt"/>
              </a:rPr>
              <a:t>t</a:t>
            </a:r>
            <a:r>
              <a:rPr lang="en-US" sz="2800" dirty="0">
                <a:latin typeface="+mj-lt"/>
              </a:rPr>
              <a:t>, …</a:t>
            </a:r>
            <a:r>
              <a:rPr lang="en-US" sz="2800" dirty="0" smtClean="0">
                <a:latin typeface="+mj-lt"/>
              </a:rPr>
              <a:t>)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455694" y="2600176"/>
            <a:ext cx="8228012" cy="3163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75000"/>
              </a:spcBef>
              <a:spcAft>
                <a:spcPct val="0"/>
              </a:spcAft>
              <a:defRPr sz="2400" b="0" i="0">
                <a:solidFill>
                  <a:schemeClr val="tx1"/>
                </a:solidFill>
                <a:latin typeface="Neo Sans Intel"/>
                <a:ea typeface="+mn-ea"/>
                <a:cs typeface="Neo Sans Intel"/>
              </a:defRPr>
            </a:lvl1pPr>
            <a:lvl2pPr marL="185738" indent="-184150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Font typeface="Times" pitchFamily="18" charset="0"/>
              <a:buChar char="•"/>
              <a:defRPr sz="2200" b="0" i="0">
                <a:solidFill>
                  <a:schemeClr val="tx1"/>
                </a:solidFill>
                <a:latin typeface="Neo Sans Intel"/>
                <a:cs typeface="Neo Sans Intel"/>
              </a:defRPr>
            </a:lvl2pPr>
            <a:lvl3pPr marL="414338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Neo Sans Intel" pitchFamily="34" charset="0"/>
              <a:buChar char="–"/>
              <a:defRPr sz="2000" b="0" i="0">
                <a:solidFill>
                  <a:schemeClr val="tx1"/>
                </a:solidFill>
                <a:latin typeface="Neo Sans Intel"/>
                <a:cs typeface="Neo Sans Intel"/>
              </a:defRPr>
            </a:lvl3pPr>
            <a:lvl4pPr marL="568325" indent="-1524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Neo Sans Intel" pitchFamily="34" charset="0"/>
              <a:buChar char="–"/>
              <a:defRPr sz="1800" b="0" i="0">
                <a:solidFill>
                  <a:schemeClr val="tx1"/>
                </a:solidFill>
                <a:latin typeface="Neo Sans Intel"/>
                <a:cs typeface="Neo Sans Intel"/>
              </a:defRPr>
            </a:lvl4pPr>
            <a:lvl5pPr marL="7620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800" b="0" i="0">
                <a:solidFill>
                  <a:schemeClr val="tx1"/>
                </a:solidFill>
                <a:latin typeface="Neo Sans Intel"/>
                <a:cs typeface="Neo Sans Intel"/>
              </a:defRPr>
            </a:lvl5pPr>
            <a:lvl6pPr marL="12192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16764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21336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25908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342900" indent="-342900">
              <a:buFont typeface="Arial" pitchFamily="34" charset="0"/>
              <a:buChar char="•"/>
            </a:pPr>
            <a:r>
              <a:rPr lang="en-US" dirty="0" smtClean="0">
                <a:latin typeface="+mj-lt"/>
              </a:rPr>
              <a:t>Combinational circuit (scheme) is an implementation of a combinational function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>
                <a:latin typeface="+mj-lt"/>
              </a:rPr>
              <a:t>A lot of things can be implemented using combinational circuits</a:t>
            </a:r>
          </a:p>
          <a:p>
            <a:pPr marL="757238" lvl="2" indent="-342900">
              <a:buFont typeface="Arial" pitchFamily="34" charset="0"/>
              <a:buChar char="•"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+mj-lt"/>
              </a:rPr>
              <a:t>Just a few examples that will be presented soon: adder, decoder, multiplexer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86512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  <p:extLst mod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Many-input devices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838201"/>
            <a:ext cx="8228012" cy="73089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Primitives like OR, AND may be composed to support several inputs</a:t>
            </a:r>
            <a:endParaRPr lang="ru-RU" dirty="0"/>
          </a:p>
        </p:txBody>
      </p:sp>
      <p:grpSp>
        <p:nvGrpSpPr>
          <p:cNvPr id="48" name="Group 47"/>
          <p:cNvGrpSpPr/>
          <p:nvPr/>
        </p:nvGrpSpPr>
        <p:grpSpPr>
          <a:xfrm>
            <a:off x="704817" y="1797438"/>
            <a:ext cx="4266812" cy="2066694"/>
            <a:chOff x="1120453" y="1984474"/>
            <a:chExt cx="4266812" cy="2066694"/>
          </a:xfrm>
        </p:grpSpPr>
        <p:sp>
          <p:nvSpPr>
            <p:cNvPr id="4" name="Rectangle 3"/>
            <p:cNvSpPr/>
            <p:nvPr/>
          </p:nvSpPr>
          <p:spPr>
            <a:xfrm>
              <a:off x="2381821" y="1984474"/>
              <a:ext cx="651140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200" dirty="0" err="1" smtClean="0">
                  <a:latin typeface="Consolas" panose="020B0609020204030204" pitchFamily="49" charset="0"/>
                  <a:cs typeface="Consolas" panose="020B0609020204030204" pitchFamily="49" charset="0"/>
                </a:rPr>
                <a:t>x+y</a:t>
              </a:r>
              <a:endParaRPr lang="en-US" sz="22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" name="Flowchart: Delay 18"/>
            <p:cNvSpPr/>
            <p:nvPr/>
          </p:nvSpPr>
          <p:spPr bwMode="auto">
            <a:xfrm flipH="1">
              <a:off x="1748822" y="2008944"/>
              <a:ext cx="632999" cy="820453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3276 w 10041"/>
                <a:gd name="connsiteY0" fmla="*/ 0 h 10023"/>
                <a:gd name="connsiteX1" fmla="*/ 10041 w 10041"/>
                <a:gd name="connsiteY1" fmla="*/ 23 h 10023"/>
                <a:gd name="connsiteX2" fmla="*/ 8374 w 10041"/>
                <a:gd name="connsiteY2" fmla="*/ 5023 h 10023"/>
                <a:gd name="connsiteX3" fmla="*/ 10041 w 10041"/>
                <a:gd name="connsiteY3" fmla="*/ 10023 h 10023"/>
                <a:gd name="connsiteX4" fmla="*/ 1708 w 10041"/>
                <a:gd name="connsiteY4" fmla="*/ 10023 h 10023"/>
                <a:gd name="connsiteX5" fmla="*/ 41 w 10041"/>
                <a:gd name="connsiteY5" fmla="*/ 5023 h 10023"/>
                <a:gd name="connsiteX6" fmla="*/ 3276 w 10041"/>
                <a:gd name="connsiteY6" fmla="*/ 0 h 10023"/>
                <a:gd name="connsiteX0" fmla="*/ 3237 w 10002"/>
                <a:gd name="connsiteY0" fmla="*/ 0 h 10070"/>
                <a:gd name="connsiteX1" fmla="*/ 10002 w 10002"/>
                <a:gd name="connsiteY1" fmla="*/ 23 h 10070"/>
                <a:gd name="connsiteX2" fmla="*/ 8335 w 10002"/>
                <a:gd name="connsiteY2" fmla="*/ 5023 h 10070"/>
                <a:gd name="connsiteX3" fmla="*/ 10002 w 10002"/>
                <a:gd name="connsiteY3" fmla="*/ 10023 h 10070"/>
                <a:gd name="connsiteX4" fmla="*/ 3656 w 10002"/>
                <a:gd name="connsiteY4" fmla="*/ 10070 h 10070"/>
                <a:gd name="connsiteX5" fmla="*/ 2 w 10002"/>
                <a:gd name="connsiteY5" fmla="*/ 5023 h 10070"/>
                <a:gd name="connsiteX6" fmla="*/ 3237 w 10002"/>
                <a:gd name="connsiteY6" fmla="*/ 0 h 10070"/>
                <a:gd name="connsiteX0" fmla="*/ 3237 w 10002"/>
                <a:gd name="connsiteY0" fmla="*/ 0 h 10070"/>
                <a:gd name="connsiteX1" fmla="*/ 10002 w 10002"/>
                <a:gd name="connsiteY1" fmla="*/ 23 h 10070"/>
                <a:gd name="connsiteX2" fmla="*/ 7439 w 10002"/>
                <a:gd name="connsiteY2" fmla="*/ 5023 h 10070"/>
                <a:gd name="connsiteX3" fmla="*/ 10002 w 10002"/>
                <a:gd name="connsiteY3" fmla="*/ 10023 h 10070"/>
                <a:gd name="connsiteX4" fmla="*/ 3656 w 10002"/>
                <a:gd name="connsiteY4" fmla="*/ 10070 h 10070"/>
                <a:gd name="connsiteX5" fmla="*/ 2 w 10002"/>
                <a:gd name="connsiteY5" fmla="*/ 5023 h 10070"/>
                <a:gd name="connsiteX6" fmla="*/ 3237 w 10002"/>
                <a:gd name="connsiteY6" fmla="*/ 0 h 10070"/>
                <a:gd name="connsiteX0" fmla="*/ 2761 w 9526"/>
                <a:gd name="connsiteY0" fmla="*/ 0 h 10070"/>
                <a:gd name="connsiteX1" fmla="*/ 9526 w 9526"/>
                <a:gd name="connsiteY1" fmla="*/ 23 h 10070"/>
                <a:gd name="connsiteX2" fmla="*/ 6963 w 9526"/>
                <a:gd name="connsiteY2" fmla="*/ 5023 h 10070"/>
                <a:gd name="connsiteX3" fmla="*/ 9526 w 9526"/>
                <a:gd name="connsiteY3" fmla="*/ 10023 h 10070"/>
                <a:gd name="connsiteX4" fmla="*/ 3180 w 9526"/>
                <a:gd name="connsiteY4" fmla="*/ 10070 h 10070"/>
                <a:gd name="connsiteX5" fmla="*/ 2 w 9526"/>
                <a:gd name="connsiteY5" fmla="*/ 5023 h 10070"/>
                <a:gd name="connsiteX6" fmla="*/ 2761 w 9526"/>
                <a:gd name="connsiteY6" fmla="*/ 0 h 10070"/>
                <a:gd name="connsiteX0" fmla="*/ 2898 w 10000"/>
                <a:gd name="connsiteY0" fmla="*/ 0 h 10000"/>
                <a:gd name="connsiteX1" fmla="*/ 10000 w 10000"/>
                <a:gd name="connsiteY1" fmla="*/ 23 h 10000"/>
                <a:gd name="connsiteX2" fmla="*/ 7309 w 10000"/>
                <a:gd name="connsiteY2" fmla="*/ 4988 h 10000"/>
                <a:gd name="connsiteX3" fmla="*/ 10000 w 10000"/>
                <a:gd name="connsiteY3" fmla="*/ 9953 h 10000"/>
                <a:gd name="connsiteX4" fmla="*/ 3338 w 10000"/>
                <a:gd name="connsiteY4" fmla="*/ 10000 h 10000"/>
                <a:gd name="connsiteX5" fmla="*/ 2 w 10000"/>
                <a:gd name="connsiteY5" fmla="*/ 4988 h 10000"/>
                <a:gd name="connsiteX6" fmla="*/ 2898 w 10000"/>
                <a:gd name="connsiteY6" fmla="*/ 0 h 10000"/>
                <a:gd name="connsiteX0" fmla="*/ 4522 w 10008"/>
                <a:gd name="connsiteY0" fmla="*/ 0 h 10000"/>
                <a:gd name="connsiteX1" fmla="*/ 10008 w 10008"/>
                <a:gd name="connsiteY1" fmla="*/ 23 h 10000"/>
                <a:gd name="connsiteX2" fmla="*/ 7317 w 10008"/>
                <a:gd name="connsiteY2" fmla="*/ 4988 h 10000"/>
                <a:gd name="connsiteX3" fmla="*/ 10008 w 10008"/>
                <a:gd name="connsiteY3" fmla="*/ 9953 h 10000"/>
                <a:gd name="connsiteX4" fmla="*/ 3346 w 10008"/>
                <a:gd name="connsiteY4" fmla="*/ 10000 h 10000"/>
                <a:gd name="connsiteX5" fmla="*/ 10 w 10008"/>
                <a:gd name="connsiteY5" fmla="*/ 4988 h 10000"/>
                <a:gd name="connsiteX6" fmla="*/ 4522 w 10008"/>
                <a:gd name="connsiteY6" fmla="*/ 0 h 10000"/>
                <a:gd name="connsiteX0" fmla="*/ 4518 w 10004"/>
                <a:gd name="connsiteY0" fmla="*/ 0 h 10000"/>
                <a:gd name="connsiteX1" fmla="*/ 10004 w 10004"/>
                <a:gd name="connsiteY1" fmla="*/ 23 h 10000"/>
                <a:gd name="connsiteX2" fmla="*/ 7313 w 10004"/>
                <a:gd name="connsiteY2" fmla="*/ 4988 h 10000"/>
                <a:gd name="connsiteX3" fmla="*/ 10004 w 10004"/>
                <a:gd name="connsiteY3" fmla="*/ 9953 h 10000"/>
                <a:gd name="connsiteX4" fmla="*/ 5516 w 10004"/>
                <a:gd name="connsiteY4" fmla="*/ 10000 h 10000"/>
                <a:gd name="connsiteX5" fmla="*/ 6 w 10004"/>
                <a:gd name="connsiteY5" fmla="*/ 4988 h 10000"/>
                <a:gd name="connsiteX6" fmla="*/ 4518 w 10004"/>
                <a:gd name="connsiteY6" fmla="*/ 0 h 10000"/>
                <a:gd name="connsiteX0" fmla="*/ 4530 w 10016"/>
                <a:gd name="connsiteY0" fmla="*/ 0 h 10047"/>
                <a:gd name="connsiteX1" fmla="*/ 10016 w 10016"/>
                <a:gd name="connsiteY1" fmla="*/ 23 h 10047"/>
                <a:gd name="connsiteX2" fmla="*/ 7325 w 10016"/>
                <a:gd name="connsiteY2" fmla="*/ 4988 h 10047"/>
                <a:gd name="connsiteX3" fmla="*/ 10016 w 10016"/>
                <a:gd name="connsiteY3" fmla="*/ 9953 h 10047"/>
                <a:gd name="connsiteX4" fmla="*/ 6439 w 10016"/>
                <a:gd name="connsiteY4" fmla="*/ 10047 h 10047"/>
                <a:gd name="connsiteX5" fmla="*/ 18 w 10016"/>
                <a:gd name="connsiteY5" fmla="*/ 4988 h 10047"/>
                <a:gd name="connsiteX6" fmla="*/ 4530 w 10016"/>
                <a:gd name="connsiteY6" fmla="*/ 0 h 10047"/>
                <a:gd name="connsiteX0" fmla="*/ 5602 w 10001"/>
                <a:gd name="connsiteY0" fmla="*/ 0 h 10024"/>
                <a:gd name="connsiteX1" fmla="*/ 10001 w 10001"/>
                <a:gd name="connsiteY1" fmla="*/ 0 h 10024"/>
                <a:gd name="connsiteX2" fmla="*/ 7310 w 10001"/>
                <a:gd name="connsiteY2" fmla="*/ 4965 h 10024"/>
                <a:gd name="connsiteX3" fmla="*/ 10001 w 10001"/>
                <a:gd name="connsiteY3" fmla="*/ 9930 h 10024"/>
                <a:gd name="connsiteX4" fmla="*/ 6424 w 10001"/>
                <a:gd name="connsiteY4" fmla="*/ 10024 h 10024"/>
                <a:gd name="connsiteX5" fmla="*/ 3 w 10001"/>
                <a:gd name="connsiteY5" fmla="*/ 4965 h 10024"/>
                <a:gd name="connsiteX6" fmla="*/ 5602 w 10001"/>
                <a:gd name="connsiteY6" fmla="*/ 0 h 10024"/>
                <a:gd name="connsiteX0" fmla="*/ 6158 w 9999"/>
                <a:gd name="connsiteY0" fmla="*/ 0 h 10024"/>
                <a:gd name="connsiteX1" fmla="*/ 9999 w 9999"/>
                <a:gd name="connsiteY1" fmla="*/ 0 h 10024"/>
                <a:gd name="connsiteX2" fmla="*/ 7308 w 9999"/>
                <a:gd name="connsiteY2" fmla="*/ 4965 h 10024"/>
                <a:gd name="connsiteX3" fmla="*/ 9999 w 9999"/>
                <a:gd name="connsiteY3" fmla="*/ 9930 h 10024"/>
                <a:gd name="connsiteX4" fmla="*/ 6422 w 9999"/>
                <a:gd name="connsiteY4" fmla="*/ 10024 h 10024"/>
                <a:gd name="connsiteX5" fmla="*/ 1 w 9999"/>
                <a:gd name="connsiteY5" fmla="*/ 4965 h 10024"/>
                <a:gd name="connsiteX6" fmla="*/ 6158 w 9999"/>
                <a:gd name="connsiteY6" fmla="*/ 0 h 10024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5924 w 9765"/>
                <a:gd name="connsiteY0" fmla="*/ 0 h 10000"/>
                <a:gd name="connsiteX1" fmla="*/ 9765 w 9765"/>
                <a:gd name="connsiteY1" fmla="*/ 0 h 10000"/>
                <a:gd name="connsiteX2" fmla="*/ 7074 w 9765"/>
                <a:gd name="connsiteY2" fmla="*/ 4953 h 10000"/>
                <a:gd name="connsiteX3" fmla="*/ 9765 w 9765"/>
                <a:gd name="connsiteY3" fmla="*/ 9906 h 10000"/>
                <a:gd name="connsiteX4" fmla="*/ 6188 w 9765"/>
                <a:gd name="connsiteY4" fmla="*/ 10000 h 10000"/>
                <a:gd name="connsiteX5" fmla="*/ 1 w 9765"/>
                <a:gd name="connsiteY5" fmla="*/ 4953 h 10000"/>
                <a:gd name="connsiteX6" fmla="*/ 5924 w 9765"/>
                <a:gd name="connsiteY6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65" h="10000">
                  <a:moveTo>
                    <a:pt x="5924" y="0"/>
                  </a:moveTo>
                  <a:lnTo>
                    <a:pt x="9765" y="0"/>
                  </a:lnTo>
                  <a:cubicBezTo>
                    <a:pt x="8827" y="232"/>
                    <a:pt x="7074" y="2218"/>
                    <a:pt x="7074" y="4953"/>
                  </a:cubicBezTo>
                  <a:cubicBezTo>
                    <a:pt x="7074" y="7689"/>
                    <a:pt x="8769" y="9558"/>
                    <a:pt x="9765" y="9906"/>
                  </a:cubicBezTo>
                  <a:lnTo>
                    <a:pt x="6188" y="10000"/>
                  </a:lnTo>
                  <a:cubicBezTo>
                    <a:pt x="2576" y="10046"/>
                    <a:pt x="45" y="6620"/>
                    <a:pt x="1" y="4953"/>
                  </a:cubicBezTo>
                  <a:cubicBezTo>
                    <a:pt x="-43" y="3286"/>
                    <a:pt x="1755" y="0"/>
                    <a:pt x="5924" y="0"/>
                  </a:cubicBez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>
                <a:solidFill>
                  <a:schemeClr val="dk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120453" y="1998619"/>
              <a:ext cx="340158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2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x</a:t>
              </a:r>
              <a:endParaRPr lang="en-US" sz="22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8" name="Straight Connector 7"/>
            <p:cNvCxnSpPr>
              <a:stCxn id="7" idx="3"/>
            </p:cNvCxnSpPr>
            <p:nvPr/>
          </p:nvCxnSpPr>
          <p:spPr bwMode="auto">
            <a:xfrm>
              <a:off x="1460611" y="2214063"/>
              <a:ext cx="413941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sp>
          <p:nvSpPr>
            <p:cNvPr id="9" name="Rectangle 8"/>
            <p:cNvSpPr/>
            <p:nvPr/>
          </p:nvSpPr>
          <p:spPr>
            <a:xfrm>
              <a:off x="1120453" y="2433415"/>
              <a:ext cx="340158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200" dirty="0">
                  <a:latin typeface="Consolas" panose="020B0609020204030204" pitchFamily="49" charset="0"/>
                  <a:cs typeface="Consolas" panose="020B0609020204030204" pitchFamily="49" charset="0"/>
                </a:rPr>
                <a:t>y</a:t>
              </a:r>
            </a:p>
          </p:txBody>
        </p:sp>
        <p:cxnSp>
          <p:nvCxnSpPr>
            <p:cNvPr id="10" name="Straight Connector 9"/>
            <p:cNvCxnSpPr>
              <a:stCxn id="9" idx="3"/>
            </p:cNvCxnSpPr>
            <p:nvPr/>
          </p:nvCxnSpPr>
          <p:spPr bwMode="auto">
            <a:xfrm>
              <a:off x="1460611" y="2648859"/>
              <a:ext cx="413941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sp>
          <p:nvSpPr>
            <p:cNvPr id="13" name="Flowchart: Delay 18"/>
            <p:cNvSpPr/>
            <p:nvPr/>
          </p:nvSpPr>
          <p:spPr bwMode="auto">
            <a:xfrm flipH="1">
              <a:off x="1748822" y="3195810"/>
              <a:ext cx="632999" cy="820453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3276 w 10041"/>
                <a:gd name="connsiteY0" fmla="*/ 0 h 10023"/>
                <a:gd name="connsiteX1" fmla="*/ 10041 w 10041"/>
                <a:gd name="connsiteY1" fmla="*/ 23 h 10023"/>
                <a:gd name="connsiteX2" fmla="*/ 8374 w 10041"/>
                <a:gd name="connsiteY2" fmla="*/ 5023 h 10023"/>
                <a:gd name="connsiteX3" fmla="*/ 10041 w 10041"/>
                <a:gd name="connsiteY3" fmla="*/ 10023 h 10023"/>
                <a:gd name="connsiteX4" fmla="*/ 1708 w 10041"/>
                <a:gd name="connsiteY4" fmla="*/ 10023 h 10023"/>
                <a:gd name="connsiteX5" fmla="*/ 41 w 10041"/>
                <a:gd name="connsiteY5" fmla="*/ 5023 h 10023"/>
                <a:gd name="connsiteX6" fmla="*/ 3276 w 10041"/>
                <a:gd name="connsiteY6" fmla="*/ 0 h 10023"/>
                <a:gd name="connsiteX0" fmla="*/ 3237 w 10002"/>
                <a:gd name="connsiteY0" fmla="*/ 0 h 10070"/>
                <a:gd name="connsiteX1" fmla="*/ 10002 w 10002"/>
                <a:gd name="connsiteY1" fmla="*/ 23 h 10070"/>
                <a:gd name="connsiteX2" fmla="*/ 8335 w 10002"/>
                <a:gd name="connsiteY2" fmla="*/ 5023 h 10070"/>
                <a:gd name="connsiteX3" fmla="*/ 10002 w 10002"/>
                <a:gd name="connsiteY3" fmla="*/ 10023 h 10070"/>
                <a:gd name="connsiteX4" fmla="*/ 3656 w 10002"/>
                <a:gd name="connsiteY4" fmla="*/ 10070 h 10070"/>
                <a:gd name="connsiteX5" fmla="*/ 2 w 10002"/>
                <a:gd name="connsiteY5" fmla="*/ 5023 h 10070"/>
                <a:gd name="connsiteX6" fmla="*/ 3237 w 10002"/>
                <a:gd name="connsiteY6" fmla="*/ 0 h 10070"/>
                <a:gd name="connsiteX0" fmla="*/ 3237 w 10002"/>
                <a:gd name="connsiteY0" fmla="*/ 0 h 10070"/>
                <a:gd name="connsiteX1" fmla="*/ 10002 w 10002"/>
                <a:gd name="connsiteY1" fmla="*/ 23 h 10070"/>
                <a:gd name="connsiteX2" fmla="*/ 7439 w 10002"/>
                <a:gd name="connsiteY2" fmla="*/ 5023 h 10070"/>
                <a:gd name="connsiteX3" fmla="*/ 10002 w 10002"/>
                <a:gd name="connsiteY3" fmla="*/ 10023 h 10070"/>
                <a:gd name="connsiteX4" fmla="*/ 3656 w 10002"/>
                <a:gd name="connsiteY4" fmla="*/ 10070 h 10070"/>
                <a:gd name="connsiteX5" fmla="*/ 2 w 10002"/>
                <a:gd name="connsiteY5" fmla="*/ 5023 h 10070"/>
                <a:gd name="connsiteX6" fmla="*/ 3237 w 10002"/>
                <a:gd name="connsiteY6" fmla="*/ 0 h 10070"/>
                <a:gd name="connsiteX0" fmla="*/ 2761 w 9526"/>
                <a:gd name="connsiteY0" fmla="*/ 0 h 10070"/>
                <a:gd name="connsiteX1" fmla="*/ 9526 w 9526"/>
                <a:gd name="connsiteY1" fmla="*/ 23 h 10070"/>
                <a:gd name="connsiteX2" fmla="*/ 6963 w 9526"/>
                <a:gd name="connsiteY2" fmla="*/ 5023 h 10070"/>
                <a:gd name="connsiteX3" fmla="*/ 9526 w 9526"/>
                <a:gd name="connsiteY3" fmla="*/ 10023 h 10070"/>
                <a:gd name="connsiteX4" fmla="*/ 3180 w 9526"/>
                <a:gd name="connsiteY4" fmla="*/ 10070 h 10070"/>
                <a:gd name="connsiteX5" fmla="*/ 2 w 9526"/>
                <a:gd name="connsiteY5" fmla="*/ 5023 h 10070"/>
                <a:gd name="connsiteX6" fmla="*/ 2761 w 9526"/>
                <a:gd name="connsiteY6" fmla="*/ 0 h 10070"/>
                <a:gd name="connsiteX0" fmla="*/ 2898 w 10000"/>
                <a:gd name="connsiteY0" fmla="*/ 0 h 10000"/>
                <a:gd name="connsiteX1" fmla="*/ 10000 w 10000"/>
                <a:gd name="connsiteY1" fmla="*/ 23 h 10000"/>
                <a:gd name="connsiteX2" fmla="*/ 7309 w 10000"/>
                <a:gd name="connsiteY2" fmla="*/ 4988 h 10000"/>
                <a:gd name="connsiteX3" fmla="*/ 10000 w 10000"/>
                <a:gd name="connsiteY3" fmla="*/ 9953 h 10000"/>
                <a:gd name="connsiteX4" fmla="*/ 3338 w 10000"/>
                <a:gd name="connsiteY4" fmla="*/ 10000 h 10000"/>
                <a:gd name="connsiteX5" fmla="*/ 2 w 10000"/>
                <a:gd name="connsiteY5" fmla="*/ 4988 h 10000"/>
                <a:gd name="connsiteX6" fmla="*/ 2898 w 10000"/>
                <a:gd name="connsiteY6" fmla="*/ 0 h 10000"/>
                <a:gd name="connsiteX0" fmla="*/ 4522 w 10008"/>
                <a:gd name="connsiteY0" fmla="*/ 0 h 10000"/>
                <a:gd name="connsiteX1" fmla="*/ 10008 w 10008"/>
                <a:gd name="connsiteY1" fmla="*/ 23 h 10000"/>
                <a:gd name="connsiteX2" fmla="*/ 7317 w 10008"/>
                <a:gd name="connsiteY2" fmla="*/ 4988 h 10000"/>
                <a:gd name="connsiteX3" fmla="*/ 10008 w 10008"/>
                <a:gd name="connsiteY3" fmla="*/ 9953 h 10000"/>
                <a:gd name="connsiteX4" fmla="*/ 3346 w 10008"/>
                <a:gd name="connsiteY4" fmla="*/ 10000 h 10000"/>
                <a:gd name="connsiteX5" fmla="*/ 10 w 10008"/>
                <a:gd name="connsiteY5" fmla="*/ 4988 h 10000"/>
                <a:gd name="connsiteX6" fmla="*/ 4522 w 10008"/>
                <a:gd name="connsiteY6" fmla="*/ 0 h 10000"/>
                <a:gd name="connsiteX0" fmla="*/ 4518 w 10004"/>
                <a:gd name="connsiteY0" fmla="*/ 0 h 10000"/>
                <a:gd name="connsiteX1" fmla="*/ 10004 w 10004"/>
                <a:gd name="connsiteY1" fmla="*/ 23 h 10000"/>
                <a:gd name="connsiteX2" fmla="*/ 7313 w 10004"/>
                <a:gd name="connsiteY2" fmla="*/ 4988 h 10000"/>
                <a:gd name="connsiteX3" fmla="*/ 10004 w 10004"/>
                <a:gd name="connsiteY3" fmla="*/ 9953 h 10000"/>
                <a:gd name="connsiteX4" fmla="*/ 5516 w 10004"/>
                <a:gd name="connsiteY4" fmla="*/ 10000 h 10000"/>
                <a:gd name="connsiteX5" fmla="*/ 6 w 10004"/>
                <a:gd name="connsiteY5" fmla="*/ 4988 h 10000"/>
                <a:gd name="connsiteX6" fmla="*/ 4518 w 10004"/>
                <a:gd name="connsiteY6" fmla="*/ 0 h 10000"/>
                <a:gd name="connsiteX0" fmla="*/ 4530 w 10016"/>
                <a:gd name="connsiteY0" fmla="*/ 0 h 10047"/>
                <a:gd name="connsiteX1" fmla="*/ 10016 w 10016"/>
                <a:gd name="connsiteY1" fmla="*/ 23 h 10047"/>
                <a:gd name="connsiteX2" fmla="*/ 7325 w 10016"/>
                <a:gd name="connsiteY2" fmla="*/ 4988 h 10047"/>
                <a:gd name="connsiteX3" fmla="*/ 10016 w 10016"/>
                <a:gd name="connsiteY3" fmla="*/ 9953 h 10047"/>
                <a:gd name="connsiteX4" fmla="*/ 6439 w 10016"/>
                <a:gd name="connsiteY4" fmla="*/ 10047 h 10047"/>
                <a:gd name="connsiteX5" fmla="*/ 18 w 10016"/>
                <a:gd name="connsiteY5" fmla="*/ 4988 h 10047"/>
                <a:gd name="connsiteX6" fmla="*/ 4530 w 10016"/>
                <a:gd name="connsiteY6" fmla="*/ 0 h 10047"/>
                <a:gd name="connsiteX0" fmla="*/ 5602 w 10001"/>
                <a:gd name="connsiteY0" fmla="*/ 0 h 10024"/>
                <a:gd name="connsiteX1" fmla="*/ 10001 w 10001"/>
                <a:gd name="connsiteY1" fmla="*/ 0 h 10024"/>
                <a:gd name="connsiteX2" fmla="*/ 7310 w 10001"/>
                <a:gd name="connsiteY2" fmla="*/ 4965 h 10024"/>
                <a:gd name="connsiteX3" fmla="*/ 10001 w 10001"/>
                <a:gd name="connsiteY3" fmla="*/ 9930 h 10024"/>
                <a:gd name="connsiteX4" fmla="*/ 6424 w 10001"/>
                <a:gd name="connsiteY4" fmla="*/ 10024 h 10024"/>
                <a:gd name="connsiteX5" fmla="*/ 3 w 10001"/>
                <a:gd name="connsiteY5" fmla="*/ 4965 h 10024"/>
                <a:gd name="connsiteX6" fmla="*/ 5602 w 10001"/>
                <a:gd name="connsiteY6" fmla="*/ 0 h 10024"/>
                <a:gd name="connsiteX0" fmla="*/ 6158 w 9999"/>
                <a:gd name="connsiteY0" fmla="*/ 0 h 10024"/>
                <a:gd name="connsiteX1" fmla="*/ 9999 w 9999"/>
                <a:gd name="connsiteY1" fmla="*/ 0 h 10024"/>
                <a:gd name="connsiteX2" fmla="*/ 7308 w 9999"/>
                <a:gd name="connsiteY2" fmla="*/ 4965 h 10024"/>
                <a:gd name="connsiteX3" fmla="*/ 9999 w 9999"/>
                <a:gd name="connsiteY3" fmla="*/ 9930 h 10024"/>
                <a:gd name="connsiteX4" fmla="*/ 6422 w 9999"/>
                <a:gd name="connsiteY4" fmla="*/ 10024 h 10024"/>
                <a:gd name="connsiteX5" fmla="*/ 1 w 9999"/>
                <a:gd name="connsiteY5" fmla="*/ 4965 h 10024"/>
                <a:gd name="connsiteX6" fmla="*/ 6158 w 9999"/>
                <a:gd name="connsiteY6" fmla="*/ 0 h 10024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5924 w 9765"/>
                <a:gd name="connsiteY0" fmla="*/ 0 h 10000"/>
                <a:gd name="connsiteX1" fmla="*/ 9765 w 9765"/>
                <a:gd name="connsiteY1" fmla="*/ 0 h 10000"/>
                <a:gd name="connsiteX2" fmla="*/ 7074 w 9765"/>
                <a:gd name="connsiteY2" fmla="*/ 4953 h 10000"/>
                <a:gd name="connsiteX3" fmla="*/ 9765 w 9765"/>
                <a:gd name="connsiteY3" fmla="*/ 9906 h 10000"/>
                <a:gd name="connsiteX4" fmla="*/ 6188 w 9765"/>
                <a:gd name="connsiteY4" fmla="*/ 10000 h 10000"/>
                <a:gd name="connsiteX5" fmla="*/ 1 w 9765"/>
                <a:gd name="connsiteY5" fmla="*/ 4953 h 10000"/>
                <a:gd name="connsiteX6" fmla="*/ 5924 w 9765"/>
                <a:gd name="connsiteY6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65" h="10000">
                  <a:moveTo>
                    <a:pt x="5924" y="0"/>
                  </a:moveTo>
                  <a:lnTo>
                    <a:pt x="9765" y="0"/>
                  </a:lnTo>
                  <a:cubicBezTo>
                    <a:pt x="8827" y="232"/>
                    <a:pt x="7074" y="2218"/>
                    <a:pt x="7074" y="4953"/>
                  </a:cubicBezTo>
                  <a:cubicBezTo>
                    <a:pt x="7074" y="7689"/>
                    <a:pt x="8769" y="9558"/>
                    <a:pt x="9765" y="9906"/>
                  </a:cubicBezTo>
                  <a:lnTo>
                    <a:pt x="6188" y="10000"/>
                  </a:lnTo>
                  <a:cubicBezTo>
                    <a:pt x="2576" y="10046"/>
                    <a:pt x="45" y="6620"/>
                    <a:pt x="1" y="4953"/>
                  </a:cubicBezTo>
                  <a:cubicBezTo>
                    <a:pt x="-43" y="3286"/>
                    <a:pt x="1755" y="0"/>
                    <a:pt x="5924" y="0"/>
                  </a:cubicBez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>
                <a:solidFill>
                  <a:schemeClr val="dk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120453" y="3185485"/>
              <a:ext cx="340158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2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z</a:t>
              </a:r>
              <a:endParaRPr lang="en-US" sz="22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5" name="Straight Connector 14"/>
            <p:cNvCxnSpPr>
              <a:stCxn id="14" idx="3"/>
            </p:cNvCxnSpPr>
            <p:nvPr/>
          </p:nvCxnSpPr>
          <p:spPr bwMode="auto">
            <a:xfrm>
              <a:off x="1460611" y="3400929"/>
              <a:ext cx="413941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sp>
          <p:nvSpPr>
            <p:cNvPr id="16" name="Rectangle 15"/>
            <p:cNvSpPr/>
            <p:nvPr/>
          </p:nvSpPr>
          <p:spPr>
            <a:xfrm>
              <a:off x="1120453" y="3620281"/>
              <a:ext cx="340158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2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w</a:t>
              </a:r>
              <a:endParaRPr lang="en-US" sz="22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7" name="Straight Connector 16"/>
            <p:cNvCxnSpPr>
              <a:stCxn id="16" idx="3"/>
            </p:cNvCxnSpPr>
            <p:nvPr/>
          </p:nvCxnSpPr>
          <p:spPr bwMode="auto">
            <a:xfrm>
              <a:off x="1460611" y="3835725"/>
              <a:ext cx="413941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sp>
          <p:nvSpPr>
            <p:cNvPr id="19" name="Rectangle 18"/>
            <p:cNvSpPr/>
            <p:nvPr/>
          </p:nvSpPr>
          <p:spPr>
            <a:xfrm>
              <a:off x="2349760" y="3194750"/>
              <a:ext cx="651140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2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z</a:t>
              </a:r>
              <a:r>
                <a:rPr lang="en-US" sz="2200" dirty="0" err="1" smtClean="0">
                  <a:latin typeface="Consolas" panose="020B0609020204030204" pitchFamily="49" charset="0"/>
                  <a:cs typeface="Consolas" panose="020B0609020204030204" pitchFamily="49" charset="0"/>
                </a:rPr>
                <a:t>+w</a:t>
              </a:r>
              <a:endParaRPr lang="en-US" sz="22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1" name="Flowchart: Delay 18"/>
            <p:cNvSpPr/>
            <p:nvPr/>
          </p:nvSpPr>
          <p:spPr bwMode="auto">
            <a:xfrm flipH="1">
              <a:off x="3434220" y="2610634"/>
              <a:ext cx="632999" cy="820453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3276 w 10041"/>
                <a:gd name="connsiteY0" fmla="*/ 0 h 10023"/>
                <a:gd name="connsiteX1" fmla="*/ 10041 w 10041"/>
                <a:gd name="connsiteY1" fmla="*/ 23 h 10023"/>
                <a:gd name="connsiteX2" fmla="*/ 8374 w 10041"/>
                <a:gd name="connsiteY2" fmla="*/ 5023 h 10023"/>
                <a:gd name="connsiteX3" fmla="*/ 10041 w 10041"/>
                <a:gd name="connsiteY3" fmla="*/ 10023 h 10023"/>
                <a:gd name="connsiteX4" fmla="*/ 1708 w 10041"/>
                <a:gd name="connsiteY4" fmla="*/ 10023 h 10023"/>
                <a:gd name="connsiteX5" fmla="*/ 41 w 10041"/>
                <a:gd name="connsiteY5" fmla="*/ 5023 h 10023"/>
                <a:gd name="connsiteX6" fmla="*/ 3276 w 10041"/>
                <a:gd name="connsiteY6" fmla="*/ 0 h 10023"/>
                <a:gd name="connsiteX0" fmla="*/ 3237 w 10002"/>
                <a:gd name="connsiteY0" fmla="*/ 0 h 10070"/>
                <a:gd name="connsiteX1" fmla="*/ 10002 w 10002"/>
                <a:gd name="connsiteY1" fmla="*/ 23 h 10070"/>
                <a:gd name="connsiteX2" fmla="*/ 8335 w 10002"/>
                <a:gd name="connsiteY2" fmla="*/ 5023 h 10070"/>
                <a:gd name="connsiteX3" fmla="*/ 10002 w 10002"/>
                <a:gd name="connsiteY3" fmla="*/ 10023 h 10070"/>
                <a:gd name="connsiteX4" fmla="*/ 3656 w 10002"/>
                <a:gd name="connsiteY4" fmla="*/ 10070 h 10070"/>
                <a:gd name="connsiteX5" fmla="*/ 2 w 10002"/>
                <a:gd name="connsiteY5" fmla="*/ 5023 h 10070"/>
                <a:gd name="connsiteX6" fmla="*/ 3237 w 10002"/>
                <a:gd name="connsiteY6" fmla="*/ 0 h 10070"/>
                <a:gd name="connsiteX0" fmla="*/ 3237 w 10002"/>
                <a:gd name="connsiteY0" fmla="*/ 0 h 10070"/>
                <a:gd name="connsiteX1" fmla="*/ 10002 w 10002"/>
                <a:gd name="connsiteY1" fmla="*/ 23 h 10070"/>
                <a:gd name="connsiteX2" fmla="*/ 7439 w 10002"/>
                <a:gd name="connsiteY2" fmla="*/ 5023 h 10070"/>
                <a:gd name="connsiteX3" fmla="*/ 10002 w 10002"/>
                <a:gd name="connsiteY3" fmla="*/ 10023 h 10070"/>
                <a:gd name="connsiteX4" fmla="*/ 3656 w 10002"/>
                <a:gd name="connsiteY4" fmla="*/ 10070 h 10070"/>
                <a:gd name="connsiteX5" fmla="*/ 2 w 10002"/>
                <a:gd name="connsiteY5" fmla="*/ 5023 h 10070"/>
                <a:gd name="connsiteX6" fmla="*/ 3237 w 10002"/>
                <a:gd name="connsiteY6" fmla="*/ 0 h 10070"/>
                <a:gd name="connsiteX0" fmla="*/ 2761 w 9526"/>
                <a:gd name="connsiteY0" fmla="*/ 0 h 10070"/>
                <a:gd name="connsiteX1" fmla="*/ 9526 w 9526"/>
                <a:gd name="connsiteY1" fmla="*/ 23 h 10070"/>
                <a:gd name="connsiteX2" fmla="*/ 6963 w 9526"/>
                <a:gd name="connsiteY2" fmla="*/ 5023 h 10070"/>
                <a:gd name="connsiteX3" fmla="*/ 9526 w 9526"/>
                <a:gd name="connsiteY3" fmla="*/ 10023 h 10070"/>
                <a:gd name="connsiteX4" fmla="*/ 3180 w 9526"/>
                <a:gd name="connsiteY4" fmla="*/ 10070 h 10070"/>
                <a:gd name="connsiteX5" fmla="*/ 2 w 9526"/>
                <a:gd name="connsiteY5" fmla="*/ 5023 h 10070"/>
                <a:gd name="connsiteX6" fmla="*/ 2761 w 9526"/>
                <a:gd name="connsiteY6" fmla="*/ 0 h 10070"/>
                <a:gd name="connsiteX0" fmla="*/ 2898 w 10000"/>
                <a:gd name="connsiteY0" fmla="*/ 0 h 10000"/>
                <a:gd name="connsiteX1" fmla="*/ 10000 w 10000"/>
                <a:gd name="connsiteY1" fmla="*/ 23 h 10000"/>
                <a:gd name="connsiteX2" fmla="*/ 7309 w 10000"/>
                <a:gd name="connsiteY2" fmla="*/ 4988 h 10000"/>
                <a:gd name="connsiteX3" fmla="*/ 10000 w 10000"/>
                <a:gd name="connsiteY3" fmla="*/ 9953 h 10000"/>
                <a:gd name="connsiteX4" fmla="*/ 3338 w 10000"/>
                <a:gd name="connsiteY4" fmla="*/ 10000 h 10000"/>
                <a:gd name="connsiteX5" fmla="*/ 2 w 10000"/>
                <a:gd name="connsiteY5" fmla="*/ 4988 h 10000"/>
                <a:gd name="connsiteX6" fmla="*/ 2898 w 10000"/>
                <a:gd name="connsiteY6" fmla="*/ 0 h 10000"/>
                <a:gd name="connsiteX0" fmla="*/ 4522 w 10008"/>
                <a:gd name="connsiteY0" fmla="*/ 0 h 10000"/>
                <a:gd name="connsiteX1" fmla="*/ 10008 w 10008"/>
                <a:gd name="connsiteY1" fmla="*/ 23 h 10000"/>
                <a:gd name="connsiteX2" fmla="*/ 7317 w 10008"/>
                <a:gd name="connsiteY2" fmla="*/ 4988 h 10000"/>
                <a:gd name="connsiteX3" fmla="*/ 10008 w 10008"/>
                <a:gd name="connsiteY3" fmla="*/ 9953 h 10000"/>
                <a:gd name="connsiteX4" fmla="*/ 3346 w 10008"/>
                <a:gd name="connsiteY4" fmla="*/ 10000 h 10000"/>
                <a:gd name="connsiteX5" fmla="*/ 10 w 10008"/>
                <a:gd name="connsiteY5" fmla="*/ 4988 h 10000"/>
                <a:gd name="connsiteX6" fmla="*/ 4522 w 10008"/>
                <a:gd name="connsiteY6" fmla="*/ 0 h 10000"/>
                <a:gd name="connsiteX0" fmla="*/ 4518 w 10004"/>
                <a:gd name="connsiteY0" fmla="*/ 0 h 10000"/>
                <a:gd name="connsiteX1" fmla="*/ 10004 w 10004"/>
                <a:gd name="connsiteY1" fmla="*/ 23 h 10000"/>
                <a:gd name="connsiteX2" fmla="*/ 7313 w 10004"/>
                <a:gd name="connsiteY2" fmla="*/ 4988 h 10000"/>
                <a:gd name="connsiteX3" fmla="*/ 10004 w 10004"/>
                <a:gd name="connsiteY3" fmla="*/ 9953 h 10000"/>
                <a:gd name="connsiteX4" fmla="*/ 5516 w 10004"/>
                <a:gd name="connsiteY4" fmla="*/ 10000 h 10000"/>
                <a:gd name="connsiteX5" fmla="*/ 6 w 10004"/>
                <a:gd name="connsiteY5" fmla="*/ 4988 h 10000"/>
                <a:gd name="connsiteX6" fmla="*/ 4518 w 10004"/>
                <a:gd name="connsiteY6" fmla="*/ 0 h 10000"/>
                <a:gd name="connsiteX0" fmla="*/ 4530 w 10016"/>
                <a:gd name="connsiteY0" fmla="*/ 0 h 10047"/>
                <a:gd name="connsiteX1" fmla="*/ 10016 w 10016"/>
                <a:gd name="connsiteY1" fmla="*/ 23 h 10047"/>
                <a:gd name="connsiteX2" fmla="*/ 7325 w 10016"/>
                <a:gd name="connsiteY2" fmla="*/ 4988 h 10047"/>
                <a:gd name="connsiteX3" fmla="*/ 10016 w 10016"/>
                <a:gd name="connsiteY3" fmla="*/ 9953 h 10047"/>
                <a:gd name="connsiteX4" fmla="*/ 6439 w 10016"/>
                <a:gd name="connsiteY4" fmla="*/ 10047 h 10047"/>
                <a:gd name="connsiteX5" fmla="*/ 18 w 10016"/>
                <a:gd name="connsiteY5" fmla="*/ 4988 h 10047"/>
                <a:gd name="connsiteX6" fmla="*/ 4530 w 10016"/>
                <a:gd name="connsiteY6" fmla="*/ 0 h 10047"/>
                <a:gd name="connsiteX0" fmla="*/ 5602 w 10001"/>
                <a:gd name="connsiteY0" fmla="*/ 0 h 10024"/>
                <a:gd name="connsiteX1" fmla="*/ 10001 w 10001"/>
                <a:gd name="connsiteY1" fmla="*/ 0 h 10024"/>
                <a:gd name="connsiteX2" fmla="*/ 7310 w 10001"/>
                <a:gd name="connsiteY2" fmla="*/ 4965 h 10024"/>
                <a:gd name="connsiteX3" fmla="*/ 10001 w 10001"/>
                <a:gd name="connsiteY3" fmla="*/ 9930 h 10024"/>
                <a:gd name="connsiteX4" fmla="*/ 6424 w 10001"/>
                <a:gd name="connsiteY4" fmla="*/ 10024 h 10024"/>
                <a:gd name="connsiteX5" fmla="*/ 3 w 10001"/>
                <a:gd name="connsiteY5" fmla="*/ 4965 h 10024"/>
                <a:gd name="connsiteX6" fmla="*/ 5602 w 10001"/>
                <a:gd name="connsiteY6" fmla="*/ 0 h 10024"/>
                <a:gd name="connsiteX0" fmla="*/ 6158 w 9999"/>
                <a:gd name="connsiteY0" fmla="*/ 0 h 10024"/>
                <a:gd name="connsiteX1" fmla="*/ 9999 w 9999"/>
                <a:gd name="connsiteY1" fmla="*/ 0 h 10024"/>
                <a:gd name="connsiteX2" fmla="*/ 7308 w 9999"/>
                <a:gd name="connsiteY2" fmla="*/ 4965 h 10024"/>
                <a:gd name="connsiteX3" fmla="*/ 9999 w 9999"/>
                <a:gd name="connsiteY3" fmla="*/ 9930 h 10024"/>
                <a:gd name="connsiteX4" fmla="*/ 6422 w 9999"/>
                <a:gd name="connsiteY4" fmla="*/ 10024 h 10024"/>
                <a:gd name="connsiteX5" fmla="*/ 1 w 9999"/>
                <a:gd name="connsiteY5" fmla="*/ 4965 h 10024"/>
                <a:gd name="connsiteX6" fmla="*/ 6158 w 9999"/>
                <a:gd name="connsiteY6" fmla="*/ 0 h 10024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5924 w 9765"/>
                <a:gd name="connsiteY0" fmla="*/ 0 h 10000"/>
                <a:gd name="connsiteX1" fmla="*/ 9765 w 9765"/>
                <a:gd name="connsiteY1" fmla="*/ 0 h 10000"/>
                <a:gd name="connsiteX2" fmla="*/ 7074 w 9765"/>
                <a:gd name="connsiteY2" fmla="*/ 4953 h 10000"/>
                <a:gd name="connsiteX3" fmla="*/ 9765 w 9765"/>
                <a:gd name="connsiteY3" fmla="*/ 9906 h 10000"/>
                <a:gd name="connsiteX4" fmla="*/ 6188 w 9765"/>
                <a:gd name="connsiteY4" fmla="*/ 10000 h 10000"/>
                <a:gd name="connsiteX5" fmla="*/ 1 w 9765"/>
                <a:gd name="connsiteY5" fmla="*/ 4953 h 10000"/>
                <a:gd name="connsiteX6" fmla="*/ 5924 w 9765"/>
                <a:gd name="connsiteY6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65" h="10000">
                  <a:moveTo>
                    <a:pt x="5924" y="0"/>
                  </a:moveTo>
                  <a:lnTo>
                    <a:pt x="9765" y="0"/>
                  </a:lnTo>
                  <a:cubicBezTo>
                    <a:pt x="8827" y="232"/>
                    <a:pt x="7074" y="2218"/>
                    <a:pt x="7074" y="4953"/>
                  </a:cubicBezTo>
                  <a:cubicBezTo>
                    <a:pt x="7074" y="7689"/>
                    <a:pt x="8769" y="9558"/>
                    <a:pt x="9765" y="9906"/>
                  </a:cubicBezTo>
                  <a:lnTo>
                    <a:pt x="6188" y="10000"/>
                  </a:lnTo>
                  <a:cubicBezTo>
                    <a:pt x="2576" y="10046"/>
                    <a:pt x="45" y="6620"/>
                    <a:pt x="1" y="4953"/>
                  </a:cubicBezTo>
                  <a:cubicBezTo>
                    <a:pt x="-43" y="3286"/>
                    <a:pt x="1755" y="0"/>
                    <a:pt x="5924" y="0"/>
                  </a:cubicBez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>
                <a:solidFill>
                  <a:schemeClr val="dk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26" name="Straight Connector 25"/>
            <p:cNvCxnSpPr/>
            <p:nvPr/>
          </p:nvCxnSpPr>
          <p:spPr bwMode="auto">
            <a:xfrm flipH="1">
              <a:off x="4092803" y="3017051"/>
              <a:ext cx="1220415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lg" len="lg"/>
              <a:tailEnd type="oval" w="med" len="med"/>
            </a:ln>
            <a:effectLst/>
          </p:spPr>
        </p:cxnSp>
        <p:cxnSp>
          <p:nvCxnSpPr>
            <p:cNvPr id="28" name="Elbow Connector 27"/>
            <p:cNvCxnSpPr/>
            <p:nvPr/>
          </p:nvCxnSpPr>
          <p:spPr bwMode="auto">
            <a:xfrm>
              <a:off x="2403640" y="2398389"/>
              <a:ext cx="1159271" cy="445132"/>
            </a:xfrm>
            <a:prstGeom prst="bentConnector3">
              <a:avLst>
                <a:gd name="adj1" fmla="val 50000"/>
              </a:avLst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oval" w="med" len="med"/>
              <a:tailEnd type="oval" w="med" len="med"/>
            </a:ln>
            <a:effectLst/>
          </p:spPr>
        </p:cxnSp>
        <p:cxnSp>
          <p:nvCxnSpPr>
            <p:cNvPr id="44" name="Elbow Connector 43"/>
            <p:cNvCxnSpPr/>
            <p:nvPr/>
          </p:nvCxnSpPr>
          <p:spPr bwMode="auto">
            <a:xfrm flipV="1">
              <a:off x="2403640" y="3154842"/>
              <a:ext cx="1159271" cy="445132"/>
            </a:xfrm>
            <a:prstGeom prst="bentConnector3">
              <a:avLst>
                <a:gd name="adj1" fmla="val 50000"/>
              </a:avLst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oval" w="med" len="med"/>
              <a:tailEnd type="oval" w="med" len="med"/>
            </a:ln>
            <a:effectLst/>
          </p:spPr>
        </p:cxnSp>
        <p:sp>
          <p:nvSpPr>
            <p:cNvPr id="46" name="Rectangle 45"/>
            <p:cNvSpPr/>
            <p:nvPr/>
          </p:nvSpPr>
          <p:spPr>
            <a:xfrm>
              <a:off x="4114160" y="2620955"/>
              <a:ext cx="1273105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200" dirty="0" err="1" smtClean="0">
                  <a:latin typeface="Consolas" panose="020B0609020204030204" pitchFamily="49" charset="0"/>
                  <a:cs typeface="Consolas" panose="020B0609020204030204" pitchFamily="49" charset="0"/>
                </a:rPr>
                <a:t>x+y+z+w</a:t>
              </a:r>
              <a:endParaRPr lang="en-US" sz="22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5710246" y="1943511"/>
            <a:ext cx="3047799" cy="1773008"/>
            <a:chOff x="5863548" y="1856960"/>
            <a:chExt cx="3047799" cy="1773008"/>
          </a:xfrm>
        </p:grpSpPr>
        <p:sp>
          <p:nvSpPr>
            <p:cNvPr id="51" name="Flowchart: Delay 18"/>
            <p:cNvSpPr/>
            <p:nvPr/>
          </p:nvSpPr>
          <p:spPr bwMode="auto">
            <a:xfrm flipH="1">
              <a:off x="6491914" y="1867286"/>
              <a:ext cx="1137307" cy="1762682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3276 w 10041"/>
                <a:gd name="connsiteY0" fmla="*/ 0 h 10023"/>
                <a:gd name="connsiteX1" fmla="*/ 10041 w 10041"/>
                <a:gd name="connsiteY1" fmla="*/ 23 h 10023"/>
                <a:gd name="connsiteX2" fmla="*/ 8374 w 10041"/>
                <a:gd name="connsiteY2" fmla="*/ 5023 h 10023"/>
                <a:gd name="connsiteX3" fmla="*/ 10041 w 10041"/>
                <a:gd name="connsiteY3" fmla="*/ 10023 h 10023"/>
                <a:gd name="connsiteX4" fmla="*/ 1708 w 10041"/>
                <a:gd name="connsiteY4" fmla="*/ 10023 h 10023"/>
                <a:gd name="connsiteX5" fmla="*/ 41 w 10041"/>
                <a:gd name="connsiteY5" fmla="*/ 5023 h 10023"/>
                <a:gd name="connsiteX6" fmla="*/ 3276 w 10041"/>
                <a:gd name="connsiteY6" fmla="*/ 0 h 10023"/>
                <a:gd name="connsiteX0" fmla="*/ 3237 w 10002"/>
                <a:gd name="connsiteY0" fmla="*/ 0 h 10070"/>
                <a:gd name="connsiteX1" fmla="*/ 10002 w 10002"/>
                <a:gd name="connsiteY1" fmla="*/ 23 h 10070"/>
                <a:gd name="connsiteX2" fmla="*/ 8335 w 10002"/>
                <a:gd name="connsiteY2" fmla="*/ 5023 h 10070"/>
                <a:gd name="connsiteX3" fmla="*/ 10002 w 10002"/>
                <a:gd name="connsiteY3" fmla="*/ 10023 h 10070"/>
                <a:gd name="connsiteX4" fmla="*/ 3656 w 10002"/>
                <a:gd name="connsiteY4" fmla="*/ 10070 h 10070"/>
                <a:gd name="connsiteX5" fmla="*/ 2 w 10002"/>
                <a:gd name="connsiteY5" fmla="*/ 5023 h 10070"/>
                <a:gd name="connsiteX6" fmla="*/ 3237 w 10002"/>
                <a:gd name="connsiteY6" fmla="*/ 0 h 10070"/>
                <a:gd name="connsiteX0" fmla="*/ 3237 w 10002"/>
                <a:gd name="connsiteY0" fmla="*/ 0 h 10070"/>
                <a:gd name="connsiteX1" fmla="*/ 10002 w 10002"/>
                <a:gd name="connsiteY1" fmla="*/ 23 h 10070"/>
                <a:gd name="connsiteX2" fmla="*/ 7439 w 10002"/>
                <a:gd name="connsiteY2" fmla="*/ 5023 h 10070"/>
                <a:gd name="connsiteX3" fmla="*/ 10002 w 10002"/>
                <a:gd name="connsiteY3" fmla="*/ 10023 h 10070"/>
                <a:gd name="connsiteX4" fmla="*/ 3656 w 10002"/>
                <a:gd name="connsiteY4" fmla="*/ 10070 h 10070"/>
                <a:gd name="connsiteX5" fmla="*/ 2 w 10002"/>
                <a:gd name="connsiteY5" fmla="*/ 5023 h 10070"/>
                <a:gd name="connsiteX6" fmla="*/ 3237 w 10002"/>
                <a:gd name="connsiteY6" fmla="*/ 0 h 10070"/>
                <a:gd name="connsiteX0" fmla="*/ 2761 w 9526"/>
                <a:gd name="connsiteY0" fmla="*/ 0 h 10070"/>
                <a:gd name="connsiteX1" fmla="*/ 9526 w 9526"/>
                <a:gd name="connsiteY1" fmla="*/ 23 h 10070"/>
                <a:gd name="connsiteX2" fmla="*/ 6963 w 9526"/>
                <a:gd name="connsiteY2" fmla="*/ 5023 h 10070"/>
                <a:gd name="connsiteX3" fmla="*/ 9526 w 9526"/>
                <a:gd name="connsiteY3" fmla="*/ 10023 h 10070"/>
                <a:gd name="connsiteX4" fmla="*/ 3180 w 9526"/>
                <a:gd name="connsiteY4" fmla="*/ 10070 h 10070"/>
                <a:gd name="connsiteX5" fmla="*/ 2 w 9526"/>
                <a:gd name="connsiteY5" fmla="*/ 5023 h 10070"/>
                <a:gd name="connsiteX6" fmla="*/ 2761 w 9526"/>
                <a:gd name="connsiteY6" fmla="*/ 0 h 10070"/>
                <a:gd name="connsiteX0" fmla="*/ 2898 w 10000"/>
                <a:gd name="connsiteY0" fmla="*/ 0 h 10000"/>
                <a:gd name="connsiteX1" fmla="*/ 10000 w 10000"/>
                <a:gd name="connsiteY1" fmla="*/ 23 h 10000"/>
                <a:gd name="connsiteX2" fmla="*/ 7309 w 10000"/>
                <a:gd name="connsiteY2" fmla="*/ 4988 h 10000"/>
                <a:gd name="connsiteX3" fmla="*/ 10000 w 10000"/>
                <a:gd name="connsiteY3" fmla="*/ 9953 h 10000"/>
                <a:gd name="connsiteX4" fmla="*/ 3338 w 10000"/>
                <a:gd name="connsiteY4" fmla="*/ 10000 h 10000"/>
                <a:gd name="connsiteX5" fmla="*/ 2 w 10000"/>
                <a:gd name="connsiteY5" fmla="*/ 4988 h 10000"/>
                <a:gd name="connsiteX6" fmla="*/ 2898 w 10000"/>
                <a:gd name="connsiteY6" fmla="*/ 0 h 10000"/>
                <a:gd name="connsiteX0" fmla="*/ 4522 w 10008"/>
                <a:gd name="connsiteY0" fmla="*/ 0 h 10000"/>
                <a:gd name="connsiteX1" fmla="*/ 10008 w 10008"/>
                <a:gd name="connsiteY1" fmla="*/ 23 h 10000"/>
                <a:gd name="connsiteX2" fmla="*/ 7317 w 10008"/>
                <a:gd name="connsiteY2" fmla="*/ 4988 h 10000"/>
                <a:gd name="connsiteX3" fmla="*/ 10008 w 10008"/>
                <a:gd name="connsiteY3" fmla="*/ 9953 h 10000"/>
                <a:gd name="connsiteX4" fmla="*/ 3346 w 10008"/>
                <a:gd name="connsiteY4" fmla="*/ 10000 h 10000"/>
                <a:gd name="connsiteX5" fmla="*/ 10 w 10008"/>
                <a:gd name="connsiteY5" fmla="*/ 4988 h 10000"/>
                <a:gd name="connsiteX6" fmla="*/ 4522 w 10008"/>
                <a:gd name="connsiteY6" fmla="*/ 0 h 10000"/>
                <a:gd name="connsiteX0" fmla="*/ 4518 w 10004"/>
                <a:gd name="connsiteY0" fmla="*/ 0 h 10000"/>
                <a:gd name="connsiteX1" fmla="*/ 10004 w 10004"/>
                <a:gd name="connsiteY1" fmla="*/ 23 h 10000"/>
                <a:gd name="connsiteX2" fmla="*/ 7313 w 10004"/>
                <a:gd name="connsiteY2" fmla="*/ 4988 h 10000"/>
                <a:gd name="connsiteX3" fmla="*/ 10004 w 10004"/>
                <a:gd name="connsiteY3" fmla="*/ 9953 h 10000"/>
                <a:gd name="connsiteX4" fmla="*/ 5516 w 10004"/>
                <a:gd name="connsiteY4" fmla="*/ 10000 h 10000"/>
                <a:gd name="connsiteX5" fmla="*/ 6 w 10004"/>
                <a:gd name="connsiteY5" fmla="*/ 4988 h 10000"/>
                <a:gd name="connsiteX6" fmla="*/ 4518 w 10004"/>
                <a:gd name="connsiteY6" fmla="*/ 0 h 10000"/>
                <a:gd name="connsiteX0" fmla="*/ 4530 w 10016"/>
                <a:gd name="connsiteY0" fmla="*/ 0 h 10047"/>
                <a:gd name="connsiteX1" fmla="*/ 10016 w 10016"/>
                <a:gd name="connsiteY1" fmla="*/ 23 h 10047"/>
                <a:gd name="connsiteX2" fmla="*/ 7325 w 10016"/>
                <a:gd name="connsiteY2" fmla="*/ 4988 h 10047"/>
                <a:gd name="connsiteX3" fmla="*/ 10016 w 10016"/>
                <a:gd name="connsiteY3" fmla="*/ 9953 h 10047"/>
                <a:gd name="connsiteX4" fmla="*/ 6439 w 10016"/>
                <a:gd name="connsiteY4" fmla="*/ 10047 h 10047"/>
                <a:gd name="connsiteX5" fmla="*/ 18 w 10016"/>
                <a:gd name="connsiteY5" fmla="*/ 4988 h 10047"/>
                <a:gd name="connsiteX6" fmla="*/ 4530 w 10016"/>
                <a:gd name="connsiteY6" fmla="*/ 0 h 10047"/>
                <a:gd name="connsiteX0" fmla="*/ 5602 w 10001"/>
                <a:gd name="connsiteY0" fmla="*/ 0 h 10024"/>
                <a:gd name="connsiteX1" fmla="*/ 10001 w 10001"/>
                <a:gd name="connsiteY1" fmla="*/ 0 h 10024"/>
                <a:gd name="connsiteX2" fmla="*/ 7310 w 10001"/>
                <a:gd name="connsiteY2" fmla="*/ 4965 h 10024"/>
                <a:gd name="connsiteX3" fmla="*/ 10001 w 10001"/>
                <a:gd name="connsiteY3" fmla="*/ 9930 h 10024"/>
                <a:gd name="connsiteX4" fmla="*/ 6424 w 10001"/>
                <a:gd name="connsiteY4" fmla="*/ 10024 h 10024"/>
                <a:gd name="connsiteX5" fmla="*/ 3 w 10001"/>
                <a:gd name="connsiteY5" fmla="*/ 4965 h 10024"/>
                <a:gd name="connsiteX6" fmla="*/ 5602 w 10001"/>
                <a:gd name="connsiteY6" fmla="*/ 0 h 10024"/>
                <a:gd name="connsiteX0" fmla="*/ 6158 w 9999"/>
                <a:gd name="connsiteY0" fmla="*/ 0 h 10024"/>
                <a:gd name="connsiteX1" fmla="*/ 9999 w 9999"/>
                <a:gd name="connsiteY1" fmla="*/ 0 h 10024"/>
                <a:gd name="connsiteX2" fmla="*/ 7308 w 9999"/>
                <a:gd name="connsiteY2" fmla="*/ 4965 h 10024"/>
                <a:gd name="connsiteX3" fmla="*/ 9999 w 9999"/>
                <a:gd name="connsiteY3" fmla="*/ 9930 h 10024"/>
                <a:gd name="connsiteX4" fmla="*/ 6422 w 9999"/>
                <a:gd name="connsiteY4" fmla="*/ 10024 h 10024"/>
                <a:gd name="connsiteX5" fmla="*/ 1 w 9999"/>
                <a:gd name="connsiteY5" fmla="*/ 4965 h 10024"/>
                <a:gd name="connsiteX6" fmla="*/ 6158 w 9999"/>
                <a:gd name="connsiteY6" fmla="*/ 0 h 10024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5924 w 9765"/>
                <a:gd name="connsiteY0" fmla="*/ 0 h 10000"/>
                <a:gd name="connsiteX1" fmla="*/ 9765 w 9765"/>
                <a:gd name="connsiteY1" fmla="*/ 0 h 10000"/>
                <a:gd name="connsiteX2" fmla="*/ 7074 w 9765"/>
                <a:gd name="connsiteY2" fmla="*/ 4953 h 10000"/>
                <a:gd name="connsiteX3" fmla="*/ 9765 w 9765"/>
                <a:gd name="connsiteY3" fmla="*/ 9906 h 10000"/>
                <a:gd name="connsiteX4" fmla="*/ 6188 w 9765"/>
                <a:gd name="connsiteY4" fmla="*/ 10000 h 10000"/>
                <a:gd name="connsiteX5" fmla="*/ 1 w 9765"/>
                <a:gd name="connsiteY5" fmla="*/ 4953 h 10000"/>
                <a:gd name="connsiteX6" fmla="*/ 5924 w 9765"/>
                <a:gd name="connsiteY6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65" h="10000">
                  <a:moveTo>
                    <a:pt x="5924" y="0"/>
                  </a:moveTo>
                  <a:lnTo>
                    <a:pt x="9765" y="0"/>
                  </a:lnTo>
                  <a:cubicBezTo>
                    <a:pt x="8827" y="232"/>
                    <a:pt x="7074" y="2218"/>
                    <a:pt x="7074" y="4953"/>
                  </a:cubicBezTo>
                  <a:cubicBezTo>
                    <a:pt x="7074" y="7689"/>
                    <a:pt x="8769" y="9558"/>
                    <a:pt x="9765" y="9906"/>
                  </a:cubicBezTo>
                  <a:lnTo>
                    <a:pt x="6188" y="10000"/>
                  </a:lnTo>
                  <a:cubicBezTo>
                    <a:pt x="2576" y="10046"/>
                    <a:pt x="45" y="6620"/>
                    <a:pt x="1" y="4953"/>
                  </a:cubicBezTo>
                  <a:cubicBezTo>
                    <a:pt x="-43" y="3286"/>
                    <a:pt x="1755" y="0"/>
                    <a:pt x="5924" y="0"/>
                  </a:cubicBez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>
                <a:solidFill>
                  <a:schemeClr val="dk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863548" y="1856960"/>
              <a:ext cx="340158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2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x</a:t>
              </a:r>
              <a:endParaRPr lang="en-US" sz="22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53" name="Straight Connector 52"/>
            <p:cNvCxnSpPr/>
            <p:nvPr/>
          </p:nvCxnSpPr>
          <p:spPr bwMode="auto">
            <a:xfrm>
              <a:off x="6226033" y="2121859"/>
              <a:ext cx="447605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sp>
          <p:nvSpPr>
            <p:cNvPr id="54" name="Rectangle 53"/>
            <p:cNvSpPr/>
            <p:nvPr/>
          </p:nvSpPr>
          <p:spPr>
            <a:xfrm>
              <a:off x="5863548" y="2291756"/>
              <a:ext cx="340158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200" dirty="0">
                  <a:latin typeface="Consolas" panose="020B0609020204030204" pitchFamily="49" charset="0"/>
                  <a:cs typeface="Consolas" panose="020B0609020204030204" pitchFamily="49" charset="0"/>
                </a:rPr>
                <a:t>y</a:t>
              </a:r>
            </a:p>
          </p:txBody>
        </p:sp>
        <p:cxnSp>
          <p:nvCxnSpPr>
            <p:cNvPr id="55" name="Straight Connector 54"/>
            <p:cNvCxnSpPr/>
            <p:nvPr/>
          </p:nvCxnSpPr>
          <p:spPr bwMode="auto">
            <a:xfrm>
              <a:off x="6328837" y="2506605"/>
              <a:ext cx="441193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sp>
          <p:nvSpPr>
            <p:cNvPr id="57" name="Rectangle 56"/>
            <p:cNvSpPr/>
            <p:nvPr/>
          </p:nvSpPr>
          <p:spPr>
            <a:xfrm>
              <a:off x="5885128" y="2668068"/>
              <a:ext cx="340158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2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z</a:t>
              </a:r>
              <a:endParaRPr lang="en-US" sz="22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58" name="Straight Connector 57"/>
            <p:cNvCxnSpPr/>
            <p:nvPr/>
          </p:nvCxnSpPr>
          <p:spPr bwMode="auto">
            <a:xfrm>
              <a:off x="6320821" y="2911898"/>
              <a:ext cx="457223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sp>
          <p:nvSpPr>
            <p:cNvPr id="59" name="Rectangle 58"/>
            <p:cNvSpPr/>
            <p:nvPr/>
          </p:nvSpPr>
          <p:spPr>
            <a:xfrm>
              <a:off x="5863548" y="3040985"/>
              <a:ext cx="340158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2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w</a:t>
              </a:r>
              <a:endParaRPr lang="en-US" sz="22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60" name="Straight Connector 59"/>
            <p:cNvCxnSpPr/>
            <p:nvPr/>
          </p:nvCxnSpPr>
          <p:spPr bwMode="auto">
            <a:xfrm>
              <a:off x="6328837" y="3290874"/>
              <a:ext cx="367455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63" name="Straight Connector 62"/>
            <p:cNvCxnSpPr/>
            <p:nvPr/>
          </p:nvCxnSpPr>
          <p:spPr bwMode="auto">
            <a:xfrm flipH="1">
              <a:off x="7629221" y="2722643"/>
              <a:ext cx="1220415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lg" len="lg"/>
              <a:tailEnd type="oval" w="med" len="med"/>
            </a:ln>
            <a:effectLst/>
          </p:spPr>
        </p:cxnSp>
        <p:sp>
          <p:nvSpPr>
            <p:cNvPr id="66" name="Rectangle 65"/>
            <p:cNvSpPr/>
            <p:nvPr/>
          </p:nvSpPr>
          <p:spPr>
            <a:xfrm>
              <a:off x="7638242" y="2291161"/>
              <a:ext cx="1273105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200" dirty="0" err="1" smtClean="0">
                  <a:latin typeface="Consolas" panose="020B0609020204030204" pitchFamily="49" charset="0"/>
                  <a:cs typeface="Consolas" panose="020B0609020204030204" pitchFamily="49" charset="0"/>
                </a:rPr>
                <a:t>x+y+z+w</a:t>
              </a:r>
              <a:endParaRPr lang="en-US" sz="22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23134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838353" y="2254968"/>
          <a:ext cx="261674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124"/>
                <a:gridCol w="436124"/>
                <a:gridCol w="436124"/>
                <a:gridCol w="436124"/>
                <a:gridCol w="436124"/>
                <a:gridCol w="43612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r>
                        <a:rPr lang="en-US" baseline="-25000" dirty="0" smtClean="0"/>
                        <a:t>0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r>
                        <a:rPr lang="en-US" baseline="-25000" dirty="0" smtClean="0"/>
                        <a:t>1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</a:t>
                      </a:r>
                      <a:r>
                        <a:rPr lang="en-US" baseline="-25000" dirty="0" smtClean="0"/>
                        <a:t>0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</a:t>
                      </a:r>
                      <a:r>
                        <a:rPr lang="en-US" baseline="-25000" dirty="0" smtClean="0"/>
                        <a:t>1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D</a:t>
                      </a:r>
                      <a:r>
                        <a:rPr lang="en-US" baseline="-25000" dirty="0" smtClean="0"/>
                        <a:t>2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D</a:t>
                      </a:r>
                      <a:r>
                        <a:rPr lang="en-US" baseline="-25000" dirty="0" smtClean="0"/>
                        <a:t>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0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0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0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1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0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0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0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1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0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0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0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1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Decoder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988143"/>
            <a:ext cx="8228012" cy="98613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A </a:t>
            </a:r>
            <a:r>
              <a:rPr lang="en-US" i="1" dirty="0" smtClean="0">
                <a:solidFill>
                  <a:schemeClr val="accent1"/>
                </a:solidFill>
              </a:rPr>
              <a:t>binary decoder</a:t>
            </a:r>
            <a:r>
              <a:rPr lang="en-US" dirty="0" smtClean="0"/>
              <a:t> is </a:t>
            </a:r>
            <a:r>
              <a:rPr lang="en-US" dirty="0"/>
              <a:t>a </a:t>
            </a:r>
            <a:r>
              <a:rPr lang="en-US" dirty="0" smtClean="0"/>
              <a:t>logic </a:t>
            </a:r>
            <a:r>
              <a:rPr lang="en-US" dirty="0"/>
              <a:t>circuit that converts a binary integer value to an associated pattern of output bits.</a:t>
            </a:r>
            <a:endParaRPr lang="ru-R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7059" y="2254968"/>
            <a:ext cx="4401693" cy="312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37931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Multiplexer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454025" y="953639"/>
            <a:ext cx="45365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</a:rPr>
              <a:t>A </a:t>
            </a:r>
            <a:r>
              <a:rPr lang="en-US" sz="2000" i="1" dirty="0">
                <a:solidFill>
                  <a:schemeClr val="accent1"/>
                </a:solidFill>
                <a:latin typeface="+mn-lt"/>
              </a:rPr>
              <a:t>multiplexer</a:t>
            </a:r>
            <a:r>
              <a:rPr lang="en-US" sz="2000" dirty="0">
                <a:solidFill>
                  <a:schemeClr val="accent3"/>
                </a:solidFill>
                <a:latin typeface="+mn-lt"/>
              </a:rPr>
              <a:t> </a:t>
            </a:r>
            <a:r>
              <a:rPr lang="en-US" sz="2000" dirty="0">
                <a:latin typeface="+mn-lt"/>
              </a:rPr>
              <a:t>(or </a:t>
            </a:r>
            <a:r>
              <a:rPr lang="en-US" sz="2000" i="1" dirty="0">
                <a:solidFill>
                  <a:schemeClr val="accent1"/>
                </a:solidFill>
                <a:latin typeface="+mn-lt"/>
              </a:rPr>
              <a:t>mux</a:t>
            </a:r>
            <a:r>
              <a:rPr lang="en-US" sz="2000" dirty="0">
                <a:latin typeface="+mn-lt"/>
              </a:rPr>
              <a:t>) is a device that selects one </a:t>
            </a:r>
            <a:r>
              <a:rPr lang="en-US" sz="2000" dirty="0" smtClean="0">
                <a:latin typeface="+mn-lt"/>
              </a:rPr>
              <a:t>signals </a:t>
            </a:r>
            <a:r>
              <a:rPr lang="en-US" sz="2000" dirty="0">
                <a:latin typeface="+mn-lt"/>
              </a:rPr>
              <a:t>and forwards the selected input into a single line</a:t>
            </a:r>
            <a:r>
              <a:rPr lang="en-US" sz="2000" dirty="0" smtClean="0">
                <a:latin typeface="+mn-lt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</a:rPr>
              <a:t>The entry wires are </a:t>
            </a:r>
            <a:r>
              <a:rPr lang="en-US" sz="2000" i="1" dirty="0" smtClean="0">
                <a:solidFill>
                  <a:schemeClr val="accent1"/>
                </a:solidFill>
                <a:latin typeface="+mn-lt"/>
              </a:rPr>
              <a:t>address bus </a:t>
            </a:r>
            <a:r>
              <a:rPr lang="en-US" sz="2000" dirty="0" smtClean="0">
                <a:latin typeface="+mn-lt"/>
              </a:rPr>
              <a:t>and </a:t>
            </a:r>
            <a:r>
              <a:rPr lang="en-US" sz="2000" i="1" dirty="0" smtClean="0">
                <a:solidFill>
                  <a:schemeClr val="accent1"/>
                </a:solidFill>
                <a:latin typeface="+mn-lt"/>
              </a:rPr>
              <a:t>data buses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</a:rPr>
              <a:t>Address bus is connected via decoder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400" dirty="0" err="1" smtClean="0">
              <a:latin typeface="+mn-lt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4967498" y="842370"/>
            <a:ext cx="3778472" cy="5498960"/>
            <a:chOff x="4905153" y="710454"/>
            <a:chExt cx="3778472" cy="5498960"/>
          </a:xfrm>
        </p:grpSpPr>
        <p:pic>
          <p:nvPicPr>
            <p:cNvPr id="1027" name="Picture 3" descr="C:\Users\pikryuko\AppData\Local\Temp\1bit_multiplexer_4_in_1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531"/>
            <a:stretch/>
          </p:blipFill>
          <p:spPr bwMode="auto">
            <a:xfrm>
              <a:off x="4956587" y="710454"/>
              <a:ext cx="3727038" cy="54377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3"/>
            <p:cNvSpPr/>
            <p:nvPr/>
          </p:nvSpPr>
          <p:spPr bwMode="auto">
            <a:xfrm>
              <a:off x="4905153" y="4508205"/>
              <a:ext cx="2055628" cy="1701209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</p:grp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2768761" y="3591850"/>
          <a:ext cx="176630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67"/>
                <a:gridCol w="588767"/>
                <a:gridCol w="58876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r>
                        <a:rPr lang="en-US" baseline="-25000" dirty="0" smtClean="0"/>
                        <a:t>0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r>
                        <a:rPr lang="en-US" baseline="-25000" dirty="0" smtClean="0"/>
                        <a:t>1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Out</a:t>
                      </a:r>
                      <a:endParaRPr lang="en-US" baseline="-25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M</a:t>
                      </a:r>
                      <a:r>
                        <a:rPr lang="en-US" baseline="-25000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baseline="-250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M</a:t>
                      </a:r>
                      <a:r>
                        <a:rPr lang="en-US" baseline="-25000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M</a:t>
                      </a:r>
                      <a:r>
                        <a:rPr lang="en-US" baseline="-25000" dirty="0" smtClean="0">
                          <a:latin typeface="Consolas" pitchFamily="49" charset="0"/>
                          <a:cs typeface="Consolas" pitchFamily="49" charset="0"/>
                        </a:rPr>
                        <a:t>2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M</a:t>
                      </a:r>
                      <a:r>
                        <a:rPr lang="en-US" baseline="-25000" dirty="0" smtClean="0">
                          <a:latin typeface="Consolas" pitchFamily="49" charset="0"/>
                          <a:cs typeface="Consolas" pitchFamily="49" charset="0"/>
                        </a:rPr>
                        <a:t>3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26" name="Group 25"/>
          <p:cNvGrpSpPr/>
          <p:nvPr/>
        </p:nvGrpSpPr>
        <p:grpSpPr>
          <a:xfrm>
            <a:off x="802300" y="3231367"/>
            <a:ext cx="1622639" cy="2293700"/>
            <a:chOff x="5178158" y="3561763"/>
            <a:chExt cx="1622639" cy="2293700"/>
          </a:xfrm>
        </p:grpSpPr>
        <p:sp>
          <p:nvSpPr>
            <p:cNvPr id="6" name="Trapezoid 5"/>
            <p:cNvSpPr/>
            <p:nvPr/>
          </p:nvSpPr>
          <p:spPr bwMode="auto">
            <a:xfrm rot="5400000">
              <a:off x="5095633" y="4250510"/>
              <a:ext cx="1720176" cy="432958"/>
            </a:xfrm>
            <a:prstGeom prst="trapezoid">
              <a:avLst>
                <a:gd name="adj" fmla="val 77747"/>
              </a:avLst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>
                <a:solidFill>
                  <a:schemeClr val="dk1"/>
                </a:solidFill>
                <a:latin typeface="+mj-lt"/>
                <a:cs typeface="Arial" pitchFamily="34" charset="0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 bwMode="auto">
            <a:xfrm>
              <a:off x="5286122" y="3883162"/>
              <a:ext cx="447605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11" name="Straight Connector 10"/>
            <p:cNvCxnSpPr/>
            <p:nvPr/>
          </p:nvCxnSpPr>
          <p:spPr bwMode="auto">
            <a:xfrm>
              <a:off x="5292534" y="4254751"/>
              <a:ext cx="441193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12" name="Straight Connector 11"/>
            <p:cNvCxnSpPr/>
            <p:nvPr/>
          </p:nvCxnSpPr>
          <p:spPr bwMode="auto">
            <a:xfrm>
              <a:off x="5286122" y="4638235"/>
              <a:ext cx="447605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13" name="Straight Connector 12"/>
            <p:cNvCxnSpPr/>
            <p:nvPr/>
          </p:nvCxnSpPr>
          <p:spPr bwMode="auto">
            <a:xfrm>
              <a:off x="5292534" y="5009824"/>
              <a:ext cx="441193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14" name="Straight Connector 13"/>
            <p:cNvCxnSpPr/>
            <p:nvPr/>
          </p:nvCxnSpPr>
          <p:spPr bwMode="auto">
            <a:xfrm flipV="1">
              <a:off x="5867400" y="5237019"/>
              <a:ext cx="0" cy="360217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17" name="Straight Connector 16"/>
            <p:cNvCxnSpPr/>
            <p:nvPr/>
          </p:nvCxnSpPr>
          <p:spPr bwMode="auto">
            <a:xfrm flipV="1">
              <a:off x="6047509" y="5096326"/>
              <a:ext cx="0" cy="360217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sp>
          <p:nvSpPr>
            <p:cNvPr id="18" name="Rectangle 17"/>
            <p:cNvSpPr/>
            <p:nvPr/>
          </p:nvSpPr>
          <p:spPr>
            <a:xfrm>
              <a:off x="5178158" y="3561763"/>
              <a:ext cx="37221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  <a:r>
                <a:rPr lang="en-US" sz="1600" baseline="-250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en-US" sz="1600" baseline="-25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186716" y="3928092"/>
              <a:ext cx="37221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  <a:r>
                <a:rPr lang="en-US" sz="1600" baseline="-25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178158" y="4324090"/>
              <a:ext cx="37221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  <a:r>
                <a:rPr lang="en-US" sz="1600" baseline="-250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186716" y="4707573"/>
              <a:ext cx="37221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  <a:r>
                <a:rPr lang="en-US" sz="1600" baseline="-250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en-US" sz="1600" baseline="-25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603043" y="5516909"/>
              <a:ext cx="37221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en-US" sz="1600" baseline="-250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en-US" sz="1600" baseline="-25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867400" y="5387796"/>
              <a:ext cx="37221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en-US" sz="1600" baseline="-250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en-US" sz="1600" baseline="-25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24" name="Straight Connector 23"/>
            <p:cNvCxnSpPr/>
            <p:nvPr/>
          </p:nvCxnSpPr>
          <p:spPr bwMode="auto">
            <a:xfrm flipH="1">
              <a:off x="6172201" y="4456760"/>
              <a:ext cx="325581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sp>
          <p:nvSpPr>
            <p:cNvPr id="27" name="Rectangle 26"/>
            <p:cNvSpPr/>
            <p:nvPr/>
          </p:nvSpPr>
          <p:spPr>
            <a:xfrm>
              <a:off x="6279500" y="4120665"/>
              <a:ext cx="52129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Out</a:t>
              </a:r>
              <a:endParaRPr lang="en-US" sz="1600" baseline="-25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8130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  <p:extLst mod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Comparator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907473"/>
            <a:ext cx="8228012" cy="126769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A </a:t>
            </a:r>
            <a:r>
              <a:rPr lang="en-US" i="1" dirty="0" smtClean="0">
                <a:solidFill>
                  <a:schemeClr val="accent1"/>
                </a:solidFill>
              </a:rPr>
              <a:t>comparator</a:t>
            </a:r>
            <a:r>
              <a:rPr lang="en-US" dirty="0" smtClean="0"/>
              <a:t> is </a:t>
            </a:r>
            <a:r>
              <a:rPr lang="en-US" dirty="0"/>
              <a:t>a </a:t>
            </a:r>
            <a:r>
              <a:rPr lang="en-US" dirty="0" smtClean="0"/>
              <a:t>device </a:t>
            </a:r>
            <a:r>
              <a:rPr lang="en-US" dirty="0"/>
              <a:t>that takes two numbers as input in binary form and determines whether one number is greater than, less than or equal to the other number</a:t>
            </a:r>
            <a:endParaRPr lang="ru-RU" dirty="0"/>
          </a:p>
        </p:txBody>
      </p:sp>
      <p:grpSp>
        <p:nvGrpSpPr>
          <p:cNvPr id="7" name="Group 6"/>
          <p:cNvGrpSpPr/>
          <p:nvPr/>
        </p:nvGrpSpPr>
        <p:grpSpPr>
          <a:xfrm>
            <a:off x="3464954" y="2380878"/>
            <a:ext cx="4848114" cy="3538715"/>
            <a:chOff x="771637" y="2377900"/>
            <a:chExt cx="4848114" cy="3538715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1637" y="2377900"/>
              <a:ext cx="4848114" cy="3538715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3886199" y="2909454"/>
              <a:ext cx="4710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+mn-lt"/>
                </a:rPr>
                <a:t>EQ</a:t>
              </a:r>
              <a:endParaRPr lang="ru-RU" dirty="0" err="1" smtClean="0">
                <a:latin typeface="+mn-lt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925290" y="4578927"/>
              <a:ext cx="5680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+mn-lt"/>
                </a:rPr>
                <a:t>LEQ</a:t>
              </a:r>
              <a:endParaRPr lang="ru-RU" dirty="0" err="1" smtClean="0">
                <a:latin typeface="+mn-lt"/>
              </a:endParaRPr>
            </a:p>
          </p:txBody>
        </p:sp>
      </p:grp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483635"/>
              </p:ext>
            </p:extLst>
          </p:nvPr>
        </p:nvGraphicFramePr>
        <p:xfrm>
          <a:off x="870279" y="2590484"/>
          <a:ext cx="176630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67"/>
                <a:gridCol w="588767"/>
                <a:gridCol w="588767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EQ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 smtClean="0"/>
                        <a:t>LEQ</a:t>
                      </a:r>
                      <a:endParaRPr lang="en-US" baseline="-25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B&lt;A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baseline="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 smtClean="0">
                          <a:latin typeface="Consolas" pitchFamily="49" charset="0"/>
                          <a:cs typeface="Consolas" pitchFamily="49" charset="0"/>
                        </a:rPr>
                        <a:t>B=A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B&gt;A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81009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Adder and ALU</a:t>
            </a:r>
            <a:endParaRPr lang="ru-RU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44C7BE5-B578-44C2-B697-AD60B2F34A37}" type="slidenum">
              <a:rPr lang="ja-JP" altLang="en-US" smtClean="0">
                <a:solidFill>
                  <a:srgbClr val="FFFFFF"/>
                </a:solidFill>
              </a:rPr>
              <a:pPr>
                <a:defRPr/>
              </a:pPr>
              <a:t>21</a:t>
            </a:fld>
            <a:endParaRPr lang="en-US" altLang="ja-JP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7299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>
            <a:off x="934776" y="2443794"/>
            <a:ext cx="3145333" cy="1093694"/>
            <a:chOff x="1245030" y="4455457"/>
            <a:chExt cx="3145333" cy="1093694"/>
          </a:xfrm>
        </p:grpSpPr>
        <p:sp>
          <p:nvSpPr>
            <p:cNvPr id="52" name="Rectangle 51"/>
            <p:cNvSpPr/>
            <p:nvPr/>
          </p:nvSpPr>
          <p:spPr bwMode="auto">
            <a:xfrm>
              <a:off x="1999129" y="4455457"/>
              <a:ext cx="1290918" cy="1093694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 smtClean="0">
                  <a:latin typeface="+mj-lt"/>
                  <a:cs typeface="Arial" pitchFamily="34" charset="0"/>
                </a:rPr>
                <a:t>half </a:t>
              </a:r>
              <a:r>
                <a:rPr lang="en-US" sz="3600" b="1" dirty="0" smtClean="0">
                  <a:latin typeface="+mj-lt"/>
                  <a:cs typeface="Arial" pitchFamily="34" charset="0"/>
                </a:rPr>
                <a:t>+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245030" y="5056094"/>
              <a:ext cx="312906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200" dirty="0">
                  <a:latin typeface="+mj-lt"/>
                </a:rPr>
                <a:t>y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1245030" y="4518212"/>
              <a:ext cx="306494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200" dirty="0">
                  <a:latin typeface="+mj-lt"/>
                </a:rPr>
                <a:t>x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3629642" y="4496395"/>
              <a:ext cx="668773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200" dirty="0" smtClean="0">
                  <a:latin typeface="+mj-lt"/>
                </a:rPr>
                <a:t>sum</a:t>
              </a:r>
              <a:endParaRPr lang="en-US" sz="2200" dirty="0">
                <a:latin typeface="+mj-lt"/>
              </a:endParaRPr>
            </a:p>
          </p:txBody>
        </p:sp>
        <p:cxnSp>
          <p:nvCxnSpPr>
            <p:cNvPr id="56" name="Straight Connector 55"/>
            <p:cNvCxnSpPr>
              <a:stCxn id="54" idx="3"/>
            </p:cNvCxnSpPr>
            <p:nvPr/>
          </p:nvCxnSpPr>
          <p:spPr bwMode="auto">
            <a:xfrm>
              <a:off x="1551524" y="4733656"/>
              <a:ext cx="447605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57" name="Straight Connector 56"/>
            <p:cNvCxnSpPr>
              <a:stCxn id="53" idx="3"/>
            </p:cNvCxnSpPr>
            <p:nvPr/>
          </p:nvCxnSpPr>
          <p:spPr bwMode="auto">
            <a:xfrm>
              <a:off x="1557936" y="5271538"/>
              <a:ext cx="441193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58" name="Straight Connector 57"/>
            <p:cNvCxnSpPr/>
            <p:nvPr/>
          </p:nvCxnSpPr>
          <p:spPr bwMode="auto">
            <a:xfrm flipH="1">
              <a:off x="3291512" y="4733655"/>
              <a:ext cx="339595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lg" len="lg"/>
              <a:tailEnd type="oval" w="med" len="med"/>
            </a:ln>
            <a:effectLst/>
          </p:spPr>
        </p:cxnSp>
        <p:sp>
          <p:nvSpPr>
            <p:cNvPr id="59" name="Rectangle 58"/>
            <p:cNvSpPr/>
            <p:nvPr/>
          </p:nvSpPr>
          <p:spPr>
            <a:xfrm>
              <a:off x="3629642" y="5034277"/>
              <a:ext cx="760721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200" dirty="0" smtClean="0">
                  <a:latin typeface="+mj-lt"/>
                </a:rPr>
                <a:t>carry</a:t>
              </a:r>
              <a:endParaRPr lang="en-US" sz="2200" dirty="0">
                <a:latin typeface="+mj-lt"/>
              </a:endParaRPr>
            </a:p>
          </p:txBody>
        </p:sp>
        <p:cxnSp>
          <p:nvCxnSpPr>
            <p:cNvPr id="60" name="Straight Connector 59"/>
            <p:cNvCxnSpPr/>
            <p:nvPr/>
          </p:nvCxnSpPr>
          <p:spPr bwMode="auto">
            <a:xfrm flipH="1">
              <a:off x="3291512" y="5271537"/>
              <a:ext cx="339595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lg" len="lg"/>
              <a:tailEnd type="oval" w="med" len="med"/>
            </a:ln>
            <a:effectLst/>
          </p:spPr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Half adder scheme</a:t>
            </a:r>
            <a:endParaRPr lang="en-US" dirty="0"/>
          </a:p>
        </p:txBody>
      </p:sp>
      <p:sp>
        <p:nvSpPr>
          <p:cNvPr id="49" name="Content Placeholder 2"/>
          <p:cNvSpPr>
            <a:spLocks noGrp="1"/>
          </p:cNvSpPr>
          <p:nvPr>
            <p:ph idx="1"/>
          </p:nvPr>
        </p:nvSpPr>
        <p:spPr>
          <a:xfrm>
            <a:off x="455613" y="1056443"/>
            <a:ext cx="8228012" cy="795803"/>
          </a:xfrm>
        </p:spPr>
        <p:txBody>
          <a:bodyPr/>
          <a:lstStyle/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It is an adder</a:t>
            </a:r>
            <a:r>
              <a:rPr lang="en-US" dirty="0" smtClean="0">
                <a:solidFill>
                  <a:schemeClr val="bg1"/>
                </a:solidFill>
              </a:rPr>
              <a:t>, but it is not a full adder, because it does not have input carry</a:t>
            </a:r>
          </a:p>
          <a:p>
            <a:pPr marL="342900" indent="-342900">
              <a:buFont typeface="Arial" pitchFamily="34" charset="0"/>
              <a:buChar char="•"/>
            </a:pPr>
            <a:endParaRPr lang="en-US" dirty="0"/>
          </a:p>
        </p:txBody>
      </p:sp>
      <p:graphicFrame>
        <p:nvGraphicFramePr>
          <p:cNvPr id="40" name="Table 39"/>
          <p:cNvGraphicFramePr>
            <a:graphicFrameLocks noGrp="1"/>
          </p:cNvGraphicFramePr>
          <p:nvPr>
            <p:extLst/>
          </p:nvPr>
        </p:nvGraphicFramePr>
        <p:xfrm>
          <a:off x="5861471" y="2077446"/>
          <a:ext cx="227255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139"/>
                <a:gridCol w="568139"/>
                <a:gridCol w="568139"/>
                <a:gridCol w="56813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7139830" y="2428628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9830" y="2797355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9830" y="3166082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9830" y="3534810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60691" y="2428628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60691" y="2797355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itchFamily="49" charset="0"/>
                <a:cs typeface="Consolas" pitchFamily="49" charset="0"/>
              </a:rPr>
              <a:t>0</a:t>
            </a:r>
            <a:endParaRPr lang="en-US" dirty="0" smtClean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660691" y="3166082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itchFamily="49" charset="0"/>
                <a:cs typeface="Consolas" pitchFamily="49" charset="0"/>
              </a:rPr>
              <a:t>0</a:t>
            </a:r>
            <a:endParaRPr lang="en-US" dirty="0" smtClean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660691" y="3534810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itchFamily="49" charset="0"/>
                <a:cs typeface="Consolas" pitchFamily="49" charset="0"/>
              </a:rPr>
              <a:t>1</a:t>
            </a:r>
            <a:endParaRPr lang="en-US" dirty="0" smtClean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0" name="Content Placeholder 2"/>
          <p:cNvSpPr txBox="1">
            <a:spLocks/>
          </p:cNvSpPr>
          <p:nvPr/>
        </p:nvSpPr>
        <p:spPr bwMode="auto">
          <a:xfrm>
            <a:off x="475518" y="3992001"/>
            <a:ext cx="8228012" cy="7958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75000"/>
              </a:spcBef>
              <a:spcAft>
                <a:spcPct val="0"/>
              </a:spcAft>
              <a:defRPr sz="2400" b="0" i="0">
                <a:solidFill>
                  <a:schemeClr val="tx1"/>
                </a:solidFill>
                <a:latin typeface="Neo Sans Intel"/>
                <a:ea typeface="+mn-ea"/>
                <a:cs typeface="Neo Sans Intel"/>
              </a:defRPr>
            </a:lvl1pPr>
            <a:lvl2pPr marL="185738" indent="-184150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Font typeface="Times" pitchFamily="18" charset="0"/>
              <a:buChar char="•"/>
              <a:defRPr sz="2200" b="0" i="0">
                <a:solidFill>
                  <a:schemeClr val="tx1"/>
                </a:solidFill>
                <a:latin typeface="Neo Sans Intel"/>
                <a:cs typeface="Neo Sans Intel"/>
              </a:defRPr>
            </a:lvl2pPr>
            <a:lvl3pPr marL="414338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Neo Sans Intel" pitchFamily="34" charset="0"/>
              <a:buChar char="–"/>
              <a:defRPr sz="2000" b="0" i="0">
                <a:solidFill>
                  <a:schemeClr val="tx1"/>
                </a:solidFill>
                <a:latin typeface="Neo Sans Intel"/>
                <a:cs typeface="Neo Sans Intel"/>
              </a:defRPr>
            </a:lvl3pPr>
            <a:lvl4pPr marL="568325" indent="-1524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Neo Sans Intel" pitchFamily="34" charset="0"/>
              <a:buChar char="–"/>
              <a:defRPr sz="1800" b="0" i="0">
                <a:solidFill>
                  <a:schemeClr val="tx1"/>
                </a:solidFill>
                <a:latin typeface="Neo Sans Intel"/>
                <a:cs typeface="Neo Sans Intel"/>
              </a:defRPr>
            </a:lvl4pPr>
            <a:lvl5pPr marL="7620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800" b="0" i="0">
                <a:solidFill>
                  <a:schemeClr val="tx1"/>
                </a:solidFill>
                <a:latin typeface="Neo Sans Intel"/>
                <a:cs typeface="Neo Sans Intel"/>
              </a:defRPr>
            </a:lvl5pPr>
            <a:lvl6pPr marL="12192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16764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21336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25908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342900" indent="-342900">
              <a:buFont typeface="Arial" pitchFamily="34" charset="0"/>
              <a:buChar char="•"/>
            </a:pPr>
            <a:endParaRPr lang="en-US" sz="400" dirty="0" smtClean="0">
              <a:latin typeface="+mj-lt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>
                <a:latin typeface="+mj-lt"/>
              </a:rPr>
              <a:t>Calculations:</a:t>
            </a:r>
            <a:endParaRPr lang="en-US" dirty="0">
              <a:latin typeface="+mj-lt"/>
            </a:endParaRPr>
          </a:p>
        </p:txBody>
      </p:sp>
      <p:sp>
        <p:nvSpPr>
          <p:cNvPr id="63" name="Content Placeholder 2"/>
          <p:cNvSpPr txBox="1">
            <a:spLocks/>
          </p:cNvSpPr>
          <p:nvPr/>
        </p:nvSpPr>
        <p:spPr bwMode="auto">
          <a:xfrm>
            <a:off x="453558" y="989435"/>
            <a:ext cx="8228012" cy="79580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75000"/>
              </a:spcBef>
              <a:spcAft>
                <a:spcPct val="0"/>
              </a:spcAft>
              <a:defRPr sz="2400" b="0" i="0">
                <a:solidFill>
                  <a:schemeClr val="tx1"/>
                </a:solidFill>
                <a:latin typeface="Neo Sans Intel"/>
                <a:ea typeface="+mn-ea"/>
                <a:cs typeface="Neo Sans Intel"/>
              </a:defRPr>
            </a:lvl1pPr>
            <a:lvl2pPr marL="185738" indent="-184150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Font typeface="Times" pitchFamily="18" charset="0"/>
              <a:buChar char="•"/>
              <a:defRPr sz="2200" b="0" i="0">
                <a:solidFill>
                  <a:schemeClr val="tx1"/>
                </a:solidFill>
                <a:latin typeface="Neo Sans Intel"/>
                <a:cs typeface="Neo Sans Intel"/>
              </a:defRPr>
            </a:lvl2pPr>
            <a:lvl3pPr marL="414338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Neo Sans Intel" pitchFamily="34" charset="0"/>
              <a:buChar char="–"/>
              <a:defRPr sz="2000" b="0" i="0">
                <a:solidFill>
                  <a:schemeClr val="tx1"/>
                </a:solidFill>
                <a:latin typeface="Neo Sans Intel"/>
                <a:cs typeface="Neo Sans Intel"/>
              </a:defRPr>
            </a:lvl3pPr>
            <a:lvl4pPr marL="568325" indent="-1524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Neo Sans Intel" pitchFamily="34" charset="0"/>
              <a:buChar char="–"/>
              <a:defRPr sz="1800" b="0" i="0">
                <a:solidFill>
                  <a:schemeClr val="tx1"/>
                </a:solidFill>
                <a:latin typeface="Neo Sans Intel"/>
                <a:cs typeface="Neo Sans Intel"/>
              </a:defRPr>
            </a:lvl4pPr>
            <a:lvl5pPr marL="7620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800" b="0" i="0">
                <a:solidFill>
                  <a:schemeClr val="tx1"/>
                </a:solidFill>
                <a:latin typeface="Neo Sans Intel"/>
                <a:cs typeface="Neo Sans Intel"/>
              </a:defRPr>
            </a:lvl5pPr>
            <a:lvl6pPr marL="12192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16764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21336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25908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342900" indent="-342900">
              <a:buFont typeface="Arial" pitchFamily="34" charset="0"/>
              <a:buChar char="•"/>
            </a:pPr>
            <a:r>
              <a:rPr lang="en-US" dirty="0" smtClean="0">
                <a:latin typeface="+mj-lt"/>
              </a:rPr>
              <a:t>It is an adder, but it is not a full adder, because it does not have input carry</a:t>
            </a:r>
          </a:p>
          <a:p>
            <a:pPr marL="342900" indent="-342900">
              <a:buFont typeface="Arial" pitchFamily="34" charset="0"/>
              <a:buChar char="•"/>
            </a:pPr>
            <a:endParaRPr lang="en-US" dirty="0">
              <a:latin typeface="+mj-lt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235243" y="4681062"/>
            <a:ext cx="559117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+mj-lt"/>
              </a:rPr>
              <a:t>Sum = </a:t>
            </a:r>
          </a:p>
          <a:p>
            <a:r>
              <a:rPr lang="en-US" sz="2000" dirty="0" smtClean="0">
                <a:latin typeface="+mj-lt"/>
              </a:rPr>
              <a:t>         = !x * y + x </a:t>
            </a:r>
            <a:r>
              <a:rPr lang="en-US" sz="2000" dirty="0">
                <a:latin typeface="+mj-lt"/>
              </a:rPr>
              <a:t>* </a:t>
            </a:r>
            <a:r>
              <a:rPr lang="en-US" sz="2000" dirty="0" smtClean="0">
                <a:latin typeface="+mj-lt"/>
              </a:rPr>
              <a:t>!y =</a:t>
            </a:r>
          </a:p>
          <a:p>
            <a:r>
              <a:rPr lang="en-US" sz="2000" dirty="0" smtClean="0">
                <a:latin typeface="+mj-lt"/>
              </a:rPr>
              <a:t>         = x </a:t>
            </a:r>
            <a:r>
              <a:rPr lang="en-US" sz="2000" dirty="0" smtClean="0">
                <a:latin typeface="+mj-lt"/>
                <a:sym typeface="Symbol"/>
              </a:rPr>
              <a:t> y</a:t>
            </a:r>
            <a:endParaRPr lang="en-US" sz="2000" dirty="0" smtClean="0">
              <a:latin typeface="+mj-lt"/>
            </a:endParaRPr>
          </a:p>
          <a:p>
            <a:endParaRPr lang="en-US" sz="2000" dirty="0" smtClean="0">
              <a:latin typeface="+mj-lt"/>
            </a:endParaRPr>
          </a:p>
          <a:p>
            <a:r>
              <a:rPr lang="en-US" sz="2000" dirty="0" smtClean="0">
                <a:latin typeface="+mj-lt"/>
              </a:rPr>
              <a:t>Carry = x * y  </a:t>
            </a:r>
            <a:endParaRPr lang="ru-RU" sz="2000" dirty="0" err="1" smtClean="0"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397848" y="1870130"/>
            <a:ext cx="4649165" cy="229811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712744" y="1931948"/>
            <a:ext cx="2972048" cy="2326720"/>
            <a:chOff x="1715793" y="2662878"/>
            <a:chExt cx="3574888" cy="2798665"/>
          </a:xfrm>
        </p:grpSpPr>
        <p:sp>
          <p:nvSpPr>
            <p:cNvPr id="7" name="Flowchart: Delay 10"/>
            <p:cNvSpPr/>
            <p:nvPr/>
          </p:nvSpPr>
          <p:spPr bwMode="auto">
            <a:xfrm rot="5400000">
              <a:off x="2794445" y="3949034"/>
              <a:ext cx="663742" cy="812800"/>
            </a:xfrm>
            <a:custGeom>
              <a:avLst/>
              <a:gdLst>
                <a:gd name="connsiteX0" fmla="*/ 0 w 658964"/>
                <a:gd name="connsiteY0" fmla="*/ 0 h 812800"/>
                <a:gd name="connsiteX1" fmla="*/ 329482 w 658964"/>
                <a:gd name="connsiteY1" fmla="*/ 0 h 812800"/>
                <a:gd name="connsiteX2" fmla="*/ 658964 w 658964"/>
                <a:gd name="connsiteY2" fmla="*/ 406400 h 812800"/>
                <a:gd name="connsiteX3" fmla="*/ 329482 w 658964"/>
                <a:gd name="connsiteY3" fmla="*/ 812800 h 812800"/>
                <a:gd name="connsiteX4" fmla="*/ 0 w 658964"/>
                <a:gd name="connsiteY4" fmla="*/ 812800 h 812800"/>
                <a:gd name="connsiteX5" fmla="*/ 0 w 658964"/>
                <a:gd name="connsiteY5" fmla="*/ 0 h 812800"/>
                <a:gd name="connsiteX0" fmla="*/ 969 w 659933"/>
                <a:gd name="connsiteY0" fmla="*/ 0 h 812800"/>
                <a:gd name="connsiteX1" fmla="*/ 330451 w 659933"/>
                <a:gd name="connsiteY1" fmla="*/ 0 h 812800"/>
                <a:gd name="connsiteX2" fmla="*/ 659933 w 659933"/>
                <a:gd name="connsiteY2" fmla="*/ 406400 h 812800"/>
                <a:gd name="connsiteX3" fmla="*/ 330451 w 659933"/>
                <a:gd name="connsiteY3" fmla="*/ 812800 h 812800"/>
                <a:gd name="connsiteX4" fmla="*/ 969 w 659933"/>
                <a:gd name="connsiteY4" fmla="*/ 812800 h 812800"/>
                <a:gd name="connsiteX5" fmla="*/ 0 w 659933"/>
                <a:gd name="connsiteY5" fmla="*/ 199987 h 812800"/>
                <a:gd name="connsiteX6" fmla="*/ 969 w 659933"/>
                <a:gd name="connsiteY6" fmla="*/ 0 h 812800"/>
                <a:gd name="connsiteX0" fmla="*/ 4778 w 663742"/>
                <a:gd name="connsiteY0" fmla="*/ 0 h 812800"/>
                <a:gd name="connsiteX1" fmla="*/ 334260 w 663742"/>
                <a:gd name="connsiteY1" fmla="*/ 0 h 812800"/>
                <a:gd name="connsiteX2" fmla="*/ 663742 w 663742"/>
                <a:gd name="connsiteY2" fmla="*/ 406400 h 812800"/>
                <a:gd name="connsiteX3" fmla="*/ 334260 w 663742"/>
                <a:gd name="connsiteY3" fmla="*/ 812800 h 812800"/>
                <a:gd name="connsiteX4" fmla="*/ 4778 w 663742"/>
                <a:gd name="connsiteY4" fmla="*/ 812800 h 812800"/>
                <a:gd name="connsiteX5" fmla="*/ 0 w 663742"/>
                <a:gd name="connsiteY5" fmla="*/ 653377 h 812800"/>
                <a:gd name="connsiteX6" fmla="*/ 3809 w 663742"/>
                <a:gd name="connsiteY6" fmla="*/ 199987 h 812800"/>
                <a:gd name="connsiteX7" fmla="*/ 4778 w 663742"/>
                <a:gd name="connsiteY7" fmla="*/ 0 h 81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3742" h="812800">
                  <a:moveTo>
                    <a:pt x="4778" y="0"/>
                  </a:moveTo>
                  <a:lnTo>
                    <a:pt x="334260" y="0"/>
                  </a:lnTo>
                  <a:cubicBezTo>
                    <a:pt x="516228" y="0"/>
                    <a:pt x="663742" y="181951"/>
                    <a:pt x="663742" y="406400"/>
                  </a:cubicBezTo>
                  <a:cubicBezTo>
                    <a:pt x="663742" y="630849"/>
                    <a:pt x="516228" y="812800"/>
                    <a:pt x="334260" y="812800"/>
                  </a:cubicBezTo>
                  <a:lnTo>
                    <a:pt x="4778" y="812800"/>
                  </a:lnTo>
                  <a:lnTo>
                    <a:pt x="0" y="653377"/>
                  </a:lnTo>
                  <a:cubicBezTo>
                    <a:pt x="1270" y="502247"/>
                    <a:pt x="2539" y="351117"/>
                    <a:pt x="3809" y="199987"/>
                  </a:cubicBezTo>
                  <a:lnTo>
                    <a:pt x="4778" y="0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>
                <a:solidFill>
                  <a:schemeClr val="dk1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715793" y="2672995"/>
              <a:ext cx="355166" cy="4812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latin typeface="+mj-lt"/>
                </a:rPr>
                <a:t>x</a:t>
              </a:r>
              <a:endParaRPr lang="en-US" sz="2000" dirty="0">
                <a:latin typeface="+mj-lt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734238" y="3077211"/>
              <a:ext cx="360950" cy="4812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latin typeface="+mj-lt"/>
                </a:rPr>
                <a:t>y</a:t>
              </a:r>
              <a:endParaRPr lang="en-US" sz="2000" dirty="0">
                <a:latin typeface="+mj-lt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947084" y="2869536"/>
              <a:ext cx="343597" cy="4812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latin typeface="+mj-lt"/>
                </a:rPr>
                <a:t>s</a:t>
              </a:r>
              <a:endParaRPr lang="en-US" sz="2000" dirty="0">
                <a:latin typeface="+mj-lt"/>
              </a:endParaRPr>
            </a:p>
          </p:txBody>
        </p:sp>
        <p:grpSp>
          <p:nvGrpSpPr>
            <p:cNvPr id="23" name="Group 22"/>
            <p:cNvGrpSpPr/>
            <p:nvPr/>
          </p:nvGrpSpPr>
          <p:grpSpPr>
            <a:xfrm>
              <a:off x="3783510" y="2662878"/>
              <a:ext cx="799964" cy="820453"/>
              <a:chOff x="1973995" y="4803088"/>
              <a:chExt cx="799964" cy="820453"/>
            </a:xfrm>
          </p:grpSpPr>
          <p:sp>
            <p:nvSpPr>
              <p:cNvPr id="21" name="Flowchart: Delay 18"/>
              <p:cNvSpPr/>
              <p:nvPr/>
            </p:nvSpPr>
            <p:spPr bwMode="auto">
              <a:xfrm flipH="1">
                <a:off x="2140960" y="4803088"/>
                <a:ext cx="632999" cy="820453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3276 w 10041"/>
                  <a:gd name="connsiteY0" fmla="*/ 0 h 10023"/>
                  <a:gd name="connsiteX1" fmla="*/ 10041 w 10041"/>
                  <a:gd name="connsiteY1" fmla="*/ 23 h 10023"/>
                  <a:gd name="connsiteX2" fmla="*/ 8374 w 10041"/>
                  <a:gd name="connsiteY2" fmla="*/ 5023 h 10023"/>
                  <a:gd name="connsiteX3" fmla="*/ 10041 w 10041"/>
                  <a:gd name="connsiteY3" fmla="*/ 10023 h 10023"/>
                  <a:gd name="connsiteX4" fmla="*/ 1708 w 10041"/>
                  <a:gd name="connsiteY4" fmla="*/ 10023 h 10023"/>
                  <a:gd name="connsiteX5" fmla="*/ 41 w 10041"/>
                  <a:gd name="connsiteY5" fmla="*/ 5023 h 10023"/>
                  <a:gd name="connsiteX6" fmla="*/ 3276 w 10041"/>
                  <a:gd name="connsiteY6" fmla="*/ 0 h 10023"/>
                  <a:gd name="connsiteX0" fmla="*/ 3237 w 10002"/>
                  <a:gd name="connsiteY0" fmla="*/ 0 h 10070"/>
                  <a:gd name="connsiteX1" fmla="*/ 10002 w 10002"/>
                  <a:gd name="connsiteY1" fmla="*/ 23 h 10070"/>
                  <a:gd name="connsiteX2" fmla="*/ 8335 w 10002"/>
                  <a:gd name="connsiteY2" fmla="*/ 5023 h 10070"/>
                  <a:gd name="connsiteX3" fmla="*/ 10002 w 10002"/>
                  <a:gd name="connsiteY3" fmla="*/ 10023 h 10070"/>
                  <a:gd name="connsiteX4" fmla="*/ 3656 w 10002"/>
                  <a:gd name="connsiteY4" fmla="*/ 10070 h 10070"/>
                  <a:gd name="connsiteX5" fmla="*/ 2 w 10002"/>
                  <a:gd name="connsiteY5" fmla="*/ 5023 h 10070"/>
                  <a:gd name="connsiteX6" fmla="*/ 3237 w 10002"/>
                  <a:gd name="connsiteY6" fmla="*/ 0 h 10070"/>
                  <a:gd name="connsiteX0" fmla="*/ 3237 w 10002"/>
                  <a:gd name="connsiteY0" fmla="*/ 0 h 10070"/>
                  <a:gd name="connsiteX1" fmla="*/ 10002 w 10002"/>
                  <a:gd name="connsiteY1" fmla="*/ 23 h 10070"/>
                  <a:gd name="connsiteX2" fmla="*/ 7439 w 10002"/>
                  <a:gd name="connsiteY2" fmla="*/ 5023 h 10070"/>
                  <a:gd name="connsiteX3" fmla="*/ 10002 w 10002"/>
                  <a:gd name="connsiteY3" fmla="*/ 10023 h 10070"/>
                  <a:gd name="connsiteX4" fmla="*/ 3656 w 10002"/>
                  <a:gd name="connsiteY4" fmla="*/ 10070 h 10070"/>
                  <a:gd name="connsiteX5" fmla="*/ 2 w 10002"/>
                  <a:gd name="connsiteY5" fmla="*/ 5023 h 10070"/>
                  <a:gd name="connsiteX6" fmla="*/ 3237 w 10002"/>
                  <a:gd name="connsiteY6" fmla="*/ 0 h 10070"/>
                  <a:gd name="connsiteX0" fmla="*/ 2761 w 9526"/>
                  <a:gd name="connsiteY0" fmla="*/ 0 h 10070"/>
                  <a:gd name="connsiteX1" fmla="*/ 9526 w 9526"/>
                  <a:gd name="connsiteY1" fmla="*/ 23 h 10070"/>
                  <a:gd name="connsiteX2" fmla="*/ 6963 w 9526"/>
                  <a:gd name="connsiteY2" fmla="*/ 5023 h 10070"/>
                  <a:gd name="connsiteX3" fmla="*/ 9526 w 9526"/>
                  <a:gd name="connsiteY3" fmla="*/ 10023 h 10070"/>
                  <a:gd name="connsiteX4" fmla="*/ 3180 w 9526"/>
                  <a:gd name="connsiteY4" fmla="*/ 10070 h 10070"/>
                  <a:gd name="connsiteX5" fmla="*/ 2 w 9526"/>
                  <a:gd name="connsiteY5" fmla="*/ 5023 h 10070"/>
                  <a:gd name="connsiteX6" fmla="*/ 2761 w 9526"/>
                  <a:gd name="connsiteY6" fmla="*/ 0 h 10070"/>
                  <a:gd name="connsiteX0" fmla="*/ 2898 w 10000"/>
                  <a:gd name="connsiteY0" fmla="*/ 0 h 10000"/>
                  <a:gd name="connsiteX1" fmla="*/ 10000 w 10000"/>
                  <a:gd name="connsiteY1" fmla="*/ 23 h 10000"/>
                  <a:gd name="connsiteX2" fmla="*/ 7309 w 10000"/>
                  <a:gd name="connsiteY2" fmla="*/ 4988 h 10000"/>
                  <a:gd name="connsiteX3" fmla="*/ 10000 w 10000"/>
                  <a:gd name="connsiteY3" fmla="*/ 9953 h 10000"/>
                  <a:gd name="connsiteX4" fmla="*/ 3338 w 10000"/>
                  <a:gd name="connsiteY4" fmla="*/ 10000 h 10000"/>
                  <a:gd name="connsiteX5" fmla="*/ 2 w 10000"/>
                  <a:gd name="connsiteY5" fmla="*/ 4988 h 10000"/>
                  <a:gd name="connsiteX6" fmla="*/ 2898 w 10000"/>
                  <a:gd name="connsiteY6" fmla="*/ 0 h 10000"/>
                  <a:gd name="connsiteX0" fmla="*/ 4522 w 10008"/>
                  <a:gd name="connsiteY0" fmla="*/ 0 h 10000"/>
                  <a:gd name="connsiteX1" fmla="*/ 10008 w 10008"/>
                  <a:gd name="connsiteY1" fmla="*/ 23 h 10000"/>
                  <a:gd name="connsiteX2" fmla="*/ 7317 w 10008"/>
                  <a:gd name="connsiteY2" fmla="*/ 4988 h 10000"/>
                  <a:gd name="connsiteX3" fmla="*/ 10008 w 10008"/>
                  <a:gd name="connsiteY3" fmla="*/ 9953 h 10000"/>
                  <a:gd name="connsiteX4" fmla="*/ 3346 w 10008"/>
                  <a:gd name="connsiteY4" fmla="*/ 10000 h 10000"/>
                  <a:gd name="connsiteX5" fmla="*/ 10 w 10008"/>
                  <a:gd name="connsiteY5" fmla="*/ 4988 h 10000"/>
                  <a:gd name="connsiteX6" fmla="*/ 4522 w 10008"/>
                  <a:gd name="connsiteY6" fmla="*/ 0 h 10000"/>
                  <a:gd name="connsiteX0" fmla="*/ 4518 w 10004"/>
                  <a:gd name="connsiteY0" fmla="*/ 0 h 10000"/>
                  <a:gd name="connsiteX1" fmla="*/ 10004 w 10004"/>
                  <a:gd name="connsiteY1" fmla="*/ 23 h 10000"/>
                  <a:gd name="connsiteX2" fmla="*/ 7313 w 10004"/>
                  <a:gd name="connsiteY2" fmla="*/ 4988 h 10000"/>
                  <a:gd name="connsiteX3" fmla="*/ 10004 w 10004"/>
                  <a:gd name="connsiteY3" fmla="*/ 9953 h 10000"/>
                  <a:gd name="connsiteX4" fmla="*/ 5516 w 10004"/>
                  <a:gd name="connsiteY4" fmla="*/ 10000 h 10000"/>
                  <a:gd name="connsiteX5" fmla="*/ 6 w 10004"/>
                  <a:gd name="connsiteY5" fmla="*/ 4988 h 10000"/>
                  <a:gd name="connsiteX6" fmla="*/ 4518 w 10004"/>
                  <a:gd name="connsiteY6" fmla="*/ 0 h 10000"/>
                  <a:gd name="connsiteX0" fmla="*/ 4530 w 10016"/>
                  <a:gd name="connsiteY0" fmla="*/ 0 h 10047"/>
                  <a:gd name="connsiteX1" fmla="*/ 10016 w 10016"/>
                  <a:gd name="connsiteY1" fmla="*/ 23 h 10047"/>
                  <a:gd name="connsiteX2" fmla="*/ 7325 w 10016"/>
                  <a:gd name="connsiteY2" fmla="*/ 4988 h 10047"/>
                  <a:gd name="connsiteX3" fmla="*/ 10016 w 10016"/>
                  <a:gd name="connsiteY3" fmla="*/ 9953 h 10047"/>
                  <a:gd name="connsiteX4" fmla="*/ 6439 w 10016"/>
                  <a:gd name="connsiteY4" fmla="*/ 10047 h 10047"/>
                  <a:gd name="connsiteX5" fmla="*/ 18 w 10016"/>
                  <a:gd name="connsiteY5" fmla="*/ 4988 h 10047"/>
                  <a:gd name="connsiteX6" fmla="*/ 4530 w 10016"/>
                  <a:gd name="connsiteY6" fmla="*/ 0 h 10047"/>
                  <a:gd name="connsiteX0" fmla="*/ 5602 w 10001"/>
                  <a:gd name="connsiteY0" fmla="*/ 0 h 10024"/>
                  <a:gd name="connsiteX1" fmla="*/ 10001 w 10001"/>
                  <a:gd name="connsiteY1" fmla="*/ 0 h 10024"/>
                  <a:gd name="connsiteX2" fmla="*/ 7310 w 10001"/>
                  <a:gd name="connsiteY2" fmla="*/ 4965 h 10024"/>
                  <a:gd name="connsiteX3" fmla="*/ 10001 w 10001"/>
                  <a:gd name="connsiteY3" fmla="*/ 9930 h 10024"/>
                  <a:gd name="connsiteX4" fmla="*/ 6424 w 10001"/>
                  <a:gd name="connsiteY4" fmla="*/ 10024 h 10024"/>
                  <a:gd name="connsiteX5" fmla="*/ 3 w 10001"/>
                  <a:gd name="connsiteY5" fmla="*/ 4965 h 10024"/>
                  <a:gd name="connsiteX6" fmla="*/ 5602 w 10001"/>
                  <a:gd name="connsiteY6" fmla="*/ 0 h 10024"/>
                  <a:gd name="connsiteX0" fmla="*/ 6158 w 9999"/>
                  <a:gd name="connsiteY0" fmla="*/ 0 h 10024"/>
                  <a:gd name="connsiteX1" fmla="*/ 9999 w 9999"/>
                  <a:gd name="connsiteY1" fmla="*/ 0 h 10024"/>
                  <a:gd name="connsiteX2" fmla="*/ 7308 w 9999"/>
                  <a:gd name="connsiteY2" fmla="*/ 4965 h 10024"/>
                  <a:gd name="connsiteX3" fmla="*/ 9999 w 9999"/>
                  <a:gd name="connsiteY3" fmla="*/ 9930 h 10024"/>
                  <a:gd name="connsiteX4" fmla="*/ 6422 w 9999"/>
                  <a:gd name="connsiteY4" fmla="*/ 10024 h 10024"/>
                  <a:gd name="connsiteX5" fmla="*/ 1 w 9999"/>
                  <a:gd name="connsiteY5" fmla="*/ 4965 h 10024"/>
                  <a:gd name="connsiteX6" fmla="*/ 6158 w 9999"/>
                  <a:gd name="connsiteY6" fmla="*/ 0 h 10024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5924 w 9765"/>
                  <a:gd name="connsiteY0" fmla="*/ 0 h 10000"/>
                  <a:gd name="connsiteX1" fmla="*/ 9765 w 9765"/>
                  <a:gd name="connsiteY1" fmla="*/ 0 h 10000"/>
                  <a:gd name="connsiteX2" fmla="*/ 7074 w 9765"/>
                  <a:gd name="connsiteY2" fmla="*/ 4953 h 10000"/>
                  <a:gd name="connsiteX3" fmla="*/ 9765 w 9765"/>
                  <a:gd name="connsiteY3" fmla="*/ 9906 h 10000"/>
                  <a:gd name="connsiteX4" fmla="*/ 6188 w 9765"/>
                  <a:gd name="connsiteY4" fmla="*/ 10000 h 10000"/>
                  <a:gd name="connsiteX5" fmla="*/ 1 w 9765"/>
                  <a:gd name="connsiteY5" fmla="*/ 4953 h 10000"/>
                  <a:gd name="connsiteX6" fmla="*/ 5924 w 9765"/>
                  <a:gd name="connsiteY6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765" h="10000">
                    <a:moveTo>
                      <a:pt x="5924" y="0"/>
                    </a:moveTo>
                    <a:lnTo>
                      <a:pt x="9765" y="0"/>
                    </a:lnTo>
                    <a:cubicBezTo>
                      <a:pt x="8827" y="232"/>
                      <a:pt x="7074" y="2218"/>
                      <a:pt x="7074" y="4953"/>
                    </a:cubicBezTo>
                    <a:cubicBezTo>
                      <a:pt x="7074" y="7689"/>
                      <a:pt x="8769" y="9558"/>
                      <a:pt x="9765" y="9906"/>
                    </a:cubicBezTo>
                    <a:lnTo>
                      <a:pt x="6188" y="10000"/>
                    </a:lnTo>
                    <a:cubicBezTo>
                      <a:pt x="2576" y="10046"/>
                      <a:pt x="45" y="6620"/>
                      <a:pt x="1" y="4953"/>
                    </a:cubicBezTo>
                    <a:cubicBezTo>
                      <a:pt x="-43" y="3286"/>
                      <a:pt x="1755" y="0"/>
                      <a:pt x="5924" y="0"/>
                    </a:cubicBezTo>
                    <a:close/>
                  </a:path>
                </a:pathLst>
              </a:custGeom>
              <a:solidFill>
                <a:schemeClr val="bg2">
                  <a:lumMod val="40000"/>
                  <a:lumOff val="60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>
                  <a:solidFill>
                    <a:schemeClr val="dk1"/>
                  </a:solidFill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2" name="Arc 21"/>
              <p:cNvSpPr/>
              <p:nvPr/>
            </p:nvSpPr>
            <p:spPr bwMode="auto">
              <a:xfrm>
                <a:off x="1973995" y="4832615"/>
                <a:ext cx="239757" cy="763371"/>
              </a:xfrm>
              <a:custGeom>
                <a:avLst/>
                <a:gdLst>
                  <a:gd name="connsiteX0" fmla="*/ 282852 w 519245"/>
                  <a:gd name="connsiteY0" fmla="*/ 1536 h 766030"/>
                  <a:gd name="connsiteX1" fmla="*/ 519244 w 519245"/>
                  <a:gd name="connsiteY1" fmla="*/ 384163 h 766030"/>
                  <a:gd name="connsiteX2" fmla="*/ 279488 w 519245"/>
                  <a:gd name="connsiteY2" fmla="*/ 764907 h 766030"/>
                  <a:gd name="connsiteX3" fmla="*/ 259623 w 519245"/>
                  <a:gd name="connsiteY3" fmla="*/ 383015 h 766030"/>
                  <a:gd name="connsiteX4" fmla="*/ 282852 w 519245"/>
                  <a:gd name="connsiteY4" fmla="*/ 1536 h 766030"/>
                  <a:gd name="connsiteX0" fmla="*/ 282852 w 519245"/>
                  <a:gd name="connsiteY0" fmla="*/ 1536 h 766030"/>
                  <a:gd name="connsiteX1" fmla="*/ 519244 w 519245"/>
                  <a:gd name="connsiteY1" fmla="*/ 384163 h 766030"/>
                  <a:gd name="connsiteX2" fmla="*/ 279488 w 519245"/>
                  <a:gd name="connsiteY2" fmla="*/ 764907 h 766030"/>
                  <a:gd name="connsiteX0" fmla="*/ 23229 w 259622"/>
                  <a:gd name="connsiteY0" fmla="*/ 0 h 763371"/>
                  <a:gd name="connsiteX1" fmla="*/ 259621 w 259622"/>
                  <a:gd name="connsiteY1" fmla="*/ 382627 h 763371"/>
                  <a:gd name="connsiteX2" fmla="*/ 19865 w 259622"/>
                  <a:gd name="connsiteY2" fmla="*/ 763371 h 763371"/>
                  <a:gd name="connsiteX3" fmla="*/ 0 w 259622"/>
                  <a:gd name="connsiteY3" fmla="*/ 381479 h 763371"/>
                  <a:gd name="connsiteX4" fmla="*/ 4211 w 259622"/>
                  <a:gd name="connsiteY4" fmla="*/ 284214 h 763371"/>
                  <a:gd name="connsiteX5" fmla="*/ 23229 w 259622"/>
                  <a:gd name="connsiteY5" fmla="*/ 0 h 763371"/>
                  <a:gd name="connsiteX0" fmla="*/ 23229 w 259622"/>
                  <a:gd name="connsiteY0" fmla="*/ 0 h 763371"/>
                  <a:gd name="connsiteX1" fmla="*/ 259621 w 259622"/>
                  <a:gd name="connsiteY1" fmla="*/ 382627 h 763371"/>
                  <a:gd name="connsiteX2" fmla="*/ 19865 w 259622"/>
                  <a:gd name="connsiteY2" fmla="*/ 763371 h 763371"/>
                  <a:gd name="connsiteX0" fmla="*/ 23229 w 259622"/>
                  <a:gd name="connsiteY0" fmla="*/ 0 h 763371"/>
                  <a:gd name="connsiteX1" fmla="*/ 259621 w 259622"/>
                  <a:gd name="connsiteY1" fmla="*/ 382627 h 763371"/>
                  <a:gd name="connsiteX2" fmla="*/ 19865 w 259622"/>
                  <a:gd name="connsiteY2" fmla="*/ 763371 h 763371"/>
                  <a:gd name="connsiteX3" fmla="*/ 0 w 259622"/>
                  <a:gd name="connsiteY3" fmla="*/ 381479 h 763371"/>
                  <a:gd name="connsiteX4" fmla="*/ 211856 w 259622"/>
                  <a:gd name="connsiteY4" fmla="*/ 175629 h 763371"/>
                  <a:gd name="connsiteX5" fmla="*/ 23229 w 259622"/>
                  <a:gd name="connsiteY5" fmla="*/ 0 h 763371"/>
                  <a:gd name="connsiteX0" fmla="*/ 23229 w 259622"/>
                  <a:gd name="connsiteY0" fmla="*/ 0 h 763371"/>
                  <a:gd name="connsiteX1" fmla="*/ 259621 w 259622"/>
                  <a:gd name="connsiteY1" fmla="*/ 382627 h 763371"/>
                  <a:gd name="connsiteX2" fmla="*/ 19865 w 259622"/>
                  <a:gd name="connsiteY2" fmla="*/ 763371 h 763371"/>
                  <a:gd name="connsiteX0" fmla="*/ 3364 w 239757"/>
                  <a:gd name="connsiteY0" fmla="*/ 0 h 763371"/>
                  <a:gd name="connsiteX1" fmla="*/ 239756 w 239757"/>
                  <a:gd name="connsiteY1" fmla="*/ 382627 h 763371"/>
                  <a:gd name="connsiteX2" fmla="*/ 0 w 239757"/>
                  <a:gd name="connsiteY2" fmla="*/ 763371 h 763371"/>
                  <a:gd name="connsiteX3" fmla="*/ 185875 w 239757"/>
                  <a:gd name="connsiteY3" fmla="*/ 627224 h 763371"/>
                  <a:gd name="connsiteX4" fmla="*/ 191991 w 239757"/>
                  <a:gd name="connsiteY4" fmla="*/ 175629 h 763371"/>
                  <a:gd name="connsiteX5" fmla="*/ 3364 w 239757"/>
                  <a:gd name="connsiteY5" fmla="*/ 0 h 763371"/>
                  <a:gd name="connsiteX0" fmla="*/ 3364 w 239757"/>
                  <a:gd name="connsiteY0" fmla="*/ 0 h 763371"/>
                  <a:gd name="connsiteX1" fmla="*/ 239756 w 239757"/>
                  <a:gd name="connsiteY1" fmla="*/ 382627 h 763371"/>
                  <a:gd name="connsiteX2" fmla="*/ 0 w 239757"/>
                  <a:gd name="connsiteY2" fmla="*/ 763371 h 763371"/>
                  <a:gd name="connsiteX0" fmla="*/ 3364 w 239757"/>
                  <a:gd name="connsiteY0" fmla="*/ 0 h 763371"/>
                  <a:gd name="connsiteX1" fmla="*/ 239756 w 239757"/>
                  <a:gd name="connsiteY1" fmla="*/ 382627 h 763371"/>
                  <a:gd name="connsiteX2" fmla="*/ 0 w 239757"/>
                  <a:gd name="connsiteY2" fmla="*/ 763371 h 763371"/>
                  <a:gd name="connsiteX3" fmla="*/ 185875 w 239757"/>
                  <a:gd name="connsiteY3" fmla="*/ 627224 h 763371"/>
                  <a:gd name="connsiteX4" fmla="*/ 199611 w 239757"/>
                  <a:gd name="connsiteY4" fmla="*/ 175629 h 763371"/>
                  <a:gd name="connsiteX5" fmla="*/ 3364 w 239757"/>
                  <a:gd name="connsiteY5" fmla="*/ 0 h 763371"/>
                  <a:gd name="connsiteX0" fmla="*/ 3364 w 239757"/>
                  <a:gd name="connsiteY0" fmla="*/ 0 h 763371"/>
                  <a:gd name="connsiteX1" fmla="*/ 239756 w 239757"/>
                  <a:gd name="connsiteY1" fmla="*/ 382627 h 763371"/>
                  <a:gd name="connsiteX2" fmla="*/ 0 w 239757"/>
                  <a:gd name="connsiteY2" fmla="*/ 763371 h 763371"/>
                  <a:gd name="connsiteX0" fmla="*/ 3364 w 239757"/>
                  <a:gd name="connsiteY0" fmla="*/ 0 h 763371"/>
                  <a:gd name="connsiteX1" fmla="*/ 239756 w 239757"/>
                  <a:gd name="connsiteY1" fmla="*/ 382627 h 763371"/>
                  <a:gd name="connsiteX2" fmla="*/ 0 w 239757"/>
                  <a:gd name="connsiteY2" fmla="*/ 763371 h 763371"/>
                  <a:gd name="connsiteX3" fmla="*/ 185875 w 239757"/>
                  <a:gd name="connsiteY3" fmla="*/ 627224 h 763371"/>
                  <a:gd name="connsiteX4" fmla="*/ 119601 w 239757"/>
                  <a:gd name="connsiteY4" fmla="*/ 181344 h 763371"/>
                  <a:gd name="connsiteX5" fmla="*/ 3364 w 239757"/>
                  <a:gd name="connsiteY5" fmla="*/ 0 h 763371"/>
                  <a:gd name="connsiteX0" fmla="*/ 3364 w 239757"/>
                  <a:gd name="connsiteY0" fmla="*/ 0 h 763371"/>
                  <a:gd name="connsiteX1" fmla="*/ 239756 w 239757"/>
                  <a:gd name="connsiteY1" fmla="*/ 382627 h 763371"/>
                  <a:gd name="connsiteX2" fmla="*/ 0 w 239757"/>
                  <a:gd name="connsiteY2" fmla="*/ 763371 h 763371"/>
                  <a:gd name="connsiteX0" fmla="*/ 3364 w 239757"/>
                  <a:gd name="connsiteY0" fmla="*/ 0 h 763371"/>
                  <a:gd name="connsiteX1" fmla="*/ 239756 w 239757"/>
                  <a:gd name="connsiteY1" fmla="*/ 382627 h 763371"/>
                  <a:gd name="connsiteX2" fmla="*/ 0 w 239757"/>
                  <a:gd name="connsiteY2" fmla="*/ 763371 h 763371"/>
                  <a:gd name="connsiteX3" fmla="*/ 185875 w 239757"/>
                  <a:gd name="connsiteY3" fmla="*/ 627224 h 763371"/>
                  <a:gd name="connsiteX4" fmla="*/ 193896 w 239757"/>
                  <a:gd name="connsiteY4" fmla="*/ 169914 h 763371"/>
                  <a:gd name="connsiteX5" fmla="*/ 3364 w 239757"/>
                  <a:gd name="connsiteY5" fmla="*/ 0 h 763371"/>
                  <a:gd name="connsiteX0" fmla="*/ 3364 w 239757"/>
                  <a:gd name="connsiteY0" fmla="*/ 0 h 763371"/>
                  <a:gd name="connsiteX1" fmla="*/ 239756 w 239757"/>
                  <a:gd name="connsiteY1" fmla="*/ 382627 h 763371"/>
                  <a:gd name="connsiteX2" fmla="*/ 0 w 239757"/>
                  <a:gd name="connsiteY2" fmla="*/ 763371 h 7633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9757" h="763371" stroke="0" extrusionOk="0">
                    <a:moveTo>
                      <a:pt x="3364" y="0"/>
                    </a:moveTo>
                    <a:cubicBezTo>
                      <a:pt x="137506" y="17778"/>
                      <a:pt x="240160" y="183934"/>
                      <a:pt x="239756" y="382627"/>
                    </a:cubicBezTo>
                    <a:cubicBezTo>
                      <a:pt x="239350" y="582350"/>
                      <a:pt x="134984" y="748088"/>
                      <a:pt x="0" y="763371"/>
                    </a:cubicBezTo>
                    <a:lnTo>
                      <a:pt x="185875" y="627224"/>
                    </a:lnTo>
                    <a:cubicBezTo>
                      <a:pt x="187914" y="476692"/>
                      <a:pt x="191857" y="320446"/>
                      <a:pt x="193896" y="169914"/>
                    </a:cubicBezTo>
                    <a:lnTo>
                      <a:pt x="3364" y="0"/>
                    </a:lnTo>
                    <a:close/>
                  </a:path>
                  <a:path w="239757" h="763371" fill="none">
                    <a:moveTo>
                      <a:pt x="3364" y="0"/>
                    </a:moveTo>
                    <a:cubicBezTo>
                      <a:pt x="137506" y="17778"/>
                      <a:pt x="240160" y="183934"/>
                      <a:pt x="239756" y="382627"/>
                    </a:cubicBezTo>
                    <a:cubicBezTo>
                      <a:pt x="239350" y="582350"/>
                      <a:pt x="134984" y="748088"/>
                      <a:pt x="0" y="763371"/>
                    </a:cubicBezTo>
                  </a:path>
                </a:pathLst>
              </a:custGeom>
              <a:noFill/>
              <a:ln w="28575" cap="flat" cmpd="sng" algn="ctr">
                <a:solidFill>
                  <a:schemeClr val="bg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j-lt"/>
                  <a:cs typeface="Arial" pitchFamily="34" charset="0"/>
                </a:endParaRPr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2070960" y="2873050"/>
              <a:ext cx="1909997" cy="444795"/>
              <a:chOff x="2041769" y="2873050"/>
              <a:chExt cx="2564028" cy="444795"/>
            </a:xfrm>
          </p:grpSpPr>
          <p:cxnSp>
            <p:nvCxnSpPr>
              <p:cNvPr id="12" name="Elbow Connector 25"/>
              <p:cNvCxnSpPr>
                <a:endCxn id="11" idx="3"/>
              </p:cNvCxnSpPr>
              <p:nvPr/>
            </p:nvCxnSpPr>
            <p:spPr bwMode="auto">
              <a:xfrm flipH="1">
                <a:off x="2041769" y="2873050"/>
                <a:ext cx="2564028" cy="40579"/>
              </a:xfrm>
              <a:prstGeom prst="straightConnector1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oval" w="med" len="med"/>
                <a:tailEnd type="oval" w="med" len="med"/>
              </a:ln>
              <a:effectLst/>
            </p:spPr>
          </p:cxnSp>
          <p:cxnSp>
            <p:nvCxnSpPr>
              <p:cNvPr id="14" name="Straight Connector 13"/>
              <p:cNvCxnSpPr>
                <a:endCxn id="13" idx="3"/>
              </p:cNvCxnSpPr>
              <p:nvPr/>
            </p:nvCxnSpPr>
            <p:spPr bwMode="auto">
              <a:xfrm flipH="1">
                <a:off x="2074293" y="3273820"/>
                <a:ext cx="2531503" cy="44025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oval" w="med" len="med"/>
                <a:tailEnd type="oval" w="med" len="med"/>
              </a:ln>
              <a:effectLst/>
            </p:spPr>
          </p:cxnSp>
        </p:grpSp>
        <p:grpSp>
          <p:nvGrpSpPr>
            <p:cNvPr id="31" name="Group 30"/>
            <p:cNvGrpSpPr/>
            <p:nvPr/>
          </p:nvGrpSpPr>
          <p:grpSpPr>
            <a:xfrm rot="5400000">
              <a:off x="2547338" y="3246199"/>
              <a:ext cx="1150512" cy="404214"/>
              <a:chOff x="2036715" y="2873050"/>
              <a:chExt cx="2569080" cy="404214"/>
            </a:xfrm>
          </p:grpSpPr>
          <p:cxnSp>
            <p:nvCxnSpPr>
              <p:cNvPr id="32" name="Elbow Connector 25"/>
              <p:cNvCxnSpPr/>
              <p:nvPr/>
            </p:nvCxnSpPr>
            <p:spPr bwMode="auto">
              <a:xfrm flipH="1">
                <a:off x="2036715" y="2873050"/>
                <a:ext cx="2569080" cy="0"/>
              </a:xfrm>
              <a:prstGeom prst="straightConnector1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oval" w="med" len="med"/>
                <a:tailEnd type="oval" w="med" len="med"/>
              </a:ln>
              <a:effectLst/>
            </p:spPr>
          </p:cxnSp>
          <p:cxnSp>
            <p:nvCxnSpPr>
              <p:cNvPr id="33" name="Straight Connector 32"/>
              <p:cNvCxnSpPr/>
              <p:nvPr/>
            </p:nvCxnSpPr>
            <p:spPr bwMode="auto">
              <a:xfrm rot="16200000" flipH="1" flipV="1">
                <a:off x="3770837" y="2442307"/>
                <a:ext cx="3445" cy="166647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oval" w="med" len="med"/>
                <a:tailEnd type="oval" w="med" len="med"/>
              </a:ln>
              <a:effectLst/>
            </p:spPr>
          </p:cxnSp>
        </p:grpSp>
        <p:cxnSp>
          <p:nvCxnSpPr>
            <p:cNvPr id="17" name="Straight Connector 16"/>
            <p:cNvCxnSpPr/>
            <p:nvPr/>
          </p:nvCxnSpPr>
          <p:spPr bwMode="auto">
            <a:xfrm>
              <a:off x="4589349" y="3069248"/>
              <a:ext cx="339180" cy="3856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sp>
          <p:nvSpPr>
            <p:cNvPr id="35" name="Rectangle 34"/>
            <p:cNvSpPr/>
            <p:nvPr/>
          </p:nvSpPr>
          <p:spPr>
            <a:xfrm>
              <a:off x="2943828" y="4980276"/>
              <a:ext cx="355166" cy="4812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latin typeface="+mj-lt"/>
                </a:rPr>
                <a:t>c</a:t>
              </a:r>
              <a:endParaRPr lang="en-US" sz="1200" dirty="0">
                <a:latin typeface="+mj-lt"/>
              </a:endParaRPr>
            </a:p>
          </p:txBody>
        </p:sp>
        <p:cxnSp>
          <p:nvCxnSpPr>
            <p:cNvPr id="36" name="Straight Connector 35"/>
            <p:cNvCxnSpPr>
              <a:endCxn id="7" idx="2"/>
            </p:cNvCxnSpPr>
            <p:nvPr/>
          </p:nvCxnSpPr>
          <p:spPr bwMode="auto">
            <a:xfrm flipV="1">
              <a:off x="3126316" y="4687305"/>
              <a:ext cx="0" cy="310146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80292445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build="p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50" grpId="0"/>
      <p:bldP spid="63" grpId="0" animBg="1"/>
      <p:bldP spid="3" grpId="0" animBg="1"/>
    </p:bldLst>
  </p:timing>
  <p:extLst mod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Full adder scheme</a:t>
            </a:r>
            <a:endParaRPr lang="en-US" dirty="0"/>
          </a:p>
        </p:txBody>
      </p:sp>
      <p:grpSp>
        <p:nvGrpSpPr>
          <p:cNvPr id="80" name="Group 79"/>
          <p:cNvGrpSpPr/>
          <p:nvPr/>
        </p:nvGrpSpPr>
        <p:grpSpPr>
          <a:xfrm>
            <a:off x="398726" y="1264761"/>
            <a:ext cx="5222570" cy="4032248"/>
            <a:chOff x="1059616" y="1011218"/>
            <a:chExt cx="5729808" cy="4248616"/>
          </a:xfrm>
        </p:grpSpPr>
        <p:sp>
          <p:nvSpPr>
            <p:cNvPr id="5" name="Rectangle 4"/>
            <p:cNvSpPr/>
            <p:nvPr/>
          </p:nvSpPr>
          <p:spPr bwMode="auto">
            <a:xfrm>
              <a:off x="1813715" y="2057400"/>
              <a:ext cx="1290918" cy="1097280"/>
            </a:xfrm>
            <a:custGeom>
              <a:avLst/>
              <a:gdLst>
                <a:gd name="connsiteX0" fmla="*/ 0 w 1290918"/>
                <a:gd name="connsiteY0" fmla="*/ 0 h 1093694"/>
                <a:gd name="connsiteX1" fmla="*/ 1290918 w 1290918"/>
                <a:gd name="connsiteY1" fmla="*/ 0 h 1093694"/>
                <a:gd name="connsiteX2" fmla="*/ 1290918 w 1290918"/>
                <a:gd name="connsiteY2" fmla="*/ 1093694 h 1093694"/>
                <a:gd name="connsiteX3" fmla="*/ 0 w 1290918"/>
                <a:gd name="connsiteY3" fmla="*/ 1093694 h 1093694"/>
                <a:gd name="connsiteX4" fmla="*/ 0 w 1290918"/>
                <a:gd name="connsiteY4" fmla="*/ 0 h 1093694"/>
                <a:gd name="connsiteX0" fmla="*/ 0 w 1290918"/>
                <a:gd name="connsiteY0" fmla="*/ 0 h 1097280"/>
                <a:gd name="connsiteX1" fmla="*/ 1290918 w 1290918"/>
                <a:gd name="connsiteY1" fmla="*/ 0 h 1097280"/>
                <a:gd name="connsiteX2" fmla="*/ 1290918 w 1290918"/>
                <a:gd name="connsiteY2" fmla="*/ 1093694 h 1097280"/>
                <a:gd name="connsiteX3" fmla="*/ 662785 w 1290918"/>
                <a:gd name="connsiteY3" fmla="*/ 1097280 h 1097280"/>
                <a:gd name="connsiteX4" fmla="*/ 0 w 1290918"/>
                <a:gd name="connsiteY4" fmla="*/ 1093694 h 1097280"/>
                <a:gd name="connsiteX5" fmla="*/ 0 w 1290918"/>
                <a:gd name="connsiteY5" fmla="*/ 0 h 1097280"/>
                <a:gd name="connsiteX0" fmla="*/ 0 w 1290918"/>
                <a:gd name="connsiteY0" fmla="*/ 0 h 1097280"/>
                <a:gd name="connsiteX1" fmla="*/ 1290918 w 1290918"/>
                <a:gd name="connsiteY1" fmla="*/ 0 h 1097280"/>
                <a:gd name="connsiteX2" fmla="*/ 1283053 w 1290918"/>
                <a:gd name="connsiteY2" fmla="*/ 551688 h 1097280"/>
                <a:gd name="connsiteX3" fmla="*/ 1290918 w 1290918"/>
                <a:gd name="connsiteY3" fmla="*/ 1093694 h 1097280"/>
                <a:gd name="connsiteX4" fmla="*/ 662785 w 1290918"/>
                <a:gd name="connsiteY4" fmla="*/ 1097280 h 1097280"/>
                <a:gd name="connsiteX5" fmla="*/ 0 w 1290918"/>
                <a:gd name="connsiteY5" fmla="*/ 1093694 h 1097280"/>
                <a:gd name="connsiteX6" fmla="*/ 0 w 1290918"/>
                <a:gd name="connsiteY6" fmla="*/ 0 h 109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90918" h="1097280">
                  <a:moveTo>
                    <a:pt x="0" y="0"/>
                  </a:moveTo>
                  <a:lnTo>
                    <a:pt x="1290918" y="0"/>
                  </a:lnTo>
                  <a:lnTo>
                    <a:pt x="1283053" y="551688"/>
                  </a:lnTo>
                  <a:lnTo>
                    <a:pt x="1290918" y="1093694"/>
                  </a:lnTo>
                  <a:lnTo>
                    <a:pt x="662785" y="1097280"/>
                  </a:lnTo>
                  <a:lnTo>
                    <a:pt x="0" y="10936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 smtClean="0">
                  <a:latin typeface="+mj-lt"/>
                  <a:cs typeface="Arial" pitchFamily="34" charset="0"/>
                </a:rPr>
                <a:t>half </a:t>
              </a:r>
              <a:r>
                <a:rPr lang="en-US" sz="3600" b="1" dirty="0" smtClean="0">
                  <a:latin typeface="+mj-lt"/>
                  <a:cs typeface="Arial" pitchFamily="34" charset="0"/>
                </a:rPr>
                <a:t>+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059616" y="2658037"/>
              <a:ext cx="461130" cy="4540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200" dirty="0" err="1" smtClean="0">
                  <a:latin typeface="+mj-lt"/>
                </a:rPr>
                <a:t>y</a:t>
              </a:r>
              <a:r>
                <a:rPr lang="en-US" sz="1600" dirty="0" err="1" smtClean="0">
                  <a:latin typeface="+mj-lt"/>
                </a:rPr>
                <a:t>n</a:t>
              </a:r>
              <a:endParaRPr lang="en-US" sz="1600" dirty="0">
                <a:latin typeface="+mj-lt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059616" y="2120155"/>
              <a:ext cx="454095" cy="4540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200" dirty="0" err="1" smtClean="0">
                  <a:latin typeface="+mj-lt"/>
                </a:rPr>
                <a:t>x</a:t>
              </a:r>
              <a:r>
                <a:rPr lang="en-US" sz="1600" dirty="0" err="1" smtClean="0">
                  <a:latin typeface="+mj-lt"/>
                </a:rPr>
                <a:t>n</a:t>
              </a:r>
              <a:endParaRPr lang="en-US" sz="1600" dirty="0">
                <a:latin typeface="+mj-lt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3907535" y="1011218"/>
              <a:ext cx="596549" cy="4540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200" dirty="0" smtClean="0">
                  <a:latin typeface="+mj-lt"/>
                </a:rPr>
                <a:t>c</a:t>
              </a:r>
              <a:r>
                <a:rPr lang="en-US" sz="1400" dirty="0" smtClean="0">
                  <a:latin typeface="+mj-lt"/>
                </a:rPr>
                <a:t>n-1</a:t>
              </a:r>
              <a:endParaRPr lang="en-US" sz="1400" dirty="0">
                <a:latin typeface="+mj-lt"/>
              </a:endParaRPr>
            </a:p>
          </p:txBody>
        </p:sp>
        <p:cxnSp>
          <p:nvCxnSpPr>
            <p:cNvPr id="9" name="Straight Connector 8"/>
            <p:cNvCxnSpPr>
              <a:stCxn id="7" idx="3"/>
            </p:cNvCxnSpPr>
            <p:nvPr/>
          </p:nvCxnSpPr>
          <p:spPr bwMode="auto">
            <a:xfrm flipV="1">
              <a:off x="1513711" y="2335599"/>
              <a:ext cx="300004" cy="1156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10" name="Straight Connector 9"/>
            <p:cNvCxnSpPr>
              <a:stCxn id="6" idx="3"/>
            </p:cNvCxnSpPr>
            <p:nvPr/>
          </p:nvCxnSpPr>
          <p:spPr bwMode="auto">
            <a:xfrm flipV="1">
              <a:off x="1520746" y="2873481"/>
              <a:ext cx="292969" cy="11561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sp>
          <p:nvSpPr>
            <p:cNvPr id="19" name="Rectangle 4"/>
            <p:cNvSpPr/>
            <p:nvPr/>
          </p:nvSpPr>
          <p:spPr bwMode="auto">
            <a:xfrm>
              <a:off x="4718302" y="1807279"/>
              <a:ext cx="1296153" cy="1097280"/>
            </a:xfrm>
            <a:custGeom>
              <a:avLst/>
              <a:gdLst>
                <a:gd name="connsiteX0" fmla="*/ 0 w 1290918"/>
                <a:gd name="connsiteY0" fmla="*/ 0 h 1093694"/>
                <a:gd name="connsiteX1" fmla="*/ 1290918 w 1290918"/>
                <a:gd name="connsiteY1" fmla="*/ 0 h 1093694"/>
                <a:gd name="connsiteX2" fmla="*/ 1290918 w 1290918"/>
                <a:gd name="connsiteY2" fmla="*/ 1093694 h 1093694"/>
                <a:gd name="connsiteX3" fmla="*/ 0 w 1290918"/>
                <a:gd name="connsiteY3" fmla="*/ 1093694 h 1093694"/>
                <a:gd name="connsiteX4" fmla="*/ 0 w 1290918"/>
                <a:gd name="connsiteY4" fmla="*/ 0 h 1093694"/>
                <a:gd name="connsiteX0" fmla="*/ 0 w 1290918"/>
                <a:gd name="connsiteY0" fmla="*/ 0 h 1097280"/>
                <a:gd name="connsiteX1" fmla="*/ 1290918 w 1290918"/>
                <a:gd name="connsiteY1" fmla="*/ 0 h 1097280"/>
                <a:gd name="connsiteX2" fmla="*/ 1290918 w 1290918"/>
                <a:gd name="connsiteY2" fmla="*/ 1093694 h 1097280"/>
                <a:gd name="connsiteX3" fmla="*/ 662785 w 1290918"/>
                <a:gd name="connsiteY3" fmla="*/ 1097280 h 1097280"/>
                <a:gd name="connsiteX4" fmla="*/ 0 w 1290918"/>
                <a:gd name="connsiteY4" fmla="*/ 1093694 h 1097280"/>
                <a:gd name="connsiteX5" fmla="*/ 0 w 1290918"/>
                <a:gd name="connsiteY5" fmla="*/ 0 h 1097280"/>
                <a:gd name="connsiteX0" fmla="*/ 5235 w 1296153"/>
                <a:gd name="connsiteY0" fmla="*/ 0 h 1097280"/>
                <a:gd name="connsiteX1" fmla="*/ 1296153 w 1296153"/>
                <a:gd name="connsiteY1" fmla="*/ 0 h 1097280"/>
                <a:gd name="connsiteX2" fmla="*/ 1296153 w 1296153"/>
                <a:gd name="connsiteY2" fmla="*/ 1093694 h 1097280"/>
                <a:gd name="connsiteX3" fmla="*/ 668020 w 1296153"/>
                <a:gd name="connsiteY3" fmla="*/ 1097280 h 1097280"/>
                <a:gd name="connsiteX4" fmla="*/ 5235 w 1296153"/>
                <a:gd name="connsiteY4" fmla="*/ 1093694 h 1097280"/>
                <a:gd name="connsiteX5" fmla="*/ 0 w 1296153"/>
                <a:gd name="connsiteY5" fmla="*/ 801340 h 1097280"/>
                <a:gd name="connsiteX6" fmla="*/ 5235 w 1296153"/>
                <a:gd name="connsiteY6" fmla="*/ 0 h 1097280"/>
                <a:gd name="connsiteX0" fmla="*/ 5235 w 1296153"/>
                <a:gd name="connsiteY0" fmla="*/ 0 h 1097280"/>
                <a:gd name="connsiteX1" fmla="*/ 1296153 w 1296153"/>
                <a:gd name="connsiteY1" fmla="*/ 0 h 1097280"/>
                <a:gd name="connsiteX2" fmla="*/ 1296153 w 1296153"/>
                <a:gd name="connsiteY2" fmla="*/ 1093694 h 1097280"/>
                <a:gd name="connsiteX3" fmla="*/ 668020 w 1296153"/>
                <a:gd name="connsiteY3" fmla="*/ 1097280 h 1097280"/>
                <a:gd name="connsiteX4" fmla="*/ 5235 w 1296153"/>
                <a:gd name="connsiteY4" fmla="*/ 1093694 h 1097280"/>
                <a:gd name="connsiteX5" fmla="*/ 0 w 1296153"/>
                <a:gd name="connsiteY5" fmla="*/ 801340 h 1097280"/>
                <a:gd name="connsiteX6" fmla="*/ 1 w 1296153"/>
                <a:gd name="connsiteY6" fmla="*/ 289276 h 1097280"/>
                <a:gd name="connsiteX7" fmla="*/ 5235 w 1296153"/>
                <a:gd name="connsiteY7" fmla="*/ 0 h 109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6153" h="1097280">
                  <a:moveTo>
                    <a:pt x="5235" y="0"/>
                  </a:moveTo>
                  <a:lnTo>
                    <a:pt x="1296153" y="0"/>
                  </a:lnTo>
                  <a:lnTo>
                    <a:pt x="1296153" y="1093694"/>
                  </a:lnTo>
                  <a:lnTo>
                    <a:pt x="668020" y="1097280"/>
                  </a:lnTo>
                  <a:lnTo>
                    <a:pt x="5235" y="1093694"/>
                  </a:lnTo>
                  <a:lnTo>
                    <a:pt x="0" y="801340"/>
                  </a:lnTo>
                  <a:cubicBezTo>
                    <a:pt x="0" y="630652"/>
                    <a:pt x="1" y="459964"/>
                    <a:pt x="1" y="289276"/>
                  </a:cubicBezTo>
                  <a:cubicBezTo>
                    <a:pt x="1746" y="192851"/>
                    <a:pt x="3490" y="96425"/>
                    <a:pt x="5235" y="0"/>
                  </a:cubicBez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 smtClean="0">
                  <a:latin typeface="+mj-lt"/>
                  <a:cs typeface="Arial" pitchFamily="34" charset="0"/>
                </a:rPr>
                <a:t>half </a:t>
              </a:r>
              <a:r>
                <a:rPr lang="en-US" sz="3600" b="1" dirty="0" smtClean="0">
                  <a:latin typeface="+mj-lt"/>
                  <a:cs typeface="Arial" pitchFamily="34" charset="0"/>
                </a:rPr>
                <a:t>+</a:t>
              </a:r>
            </a:p>
          </p:txBody>
        </p:sp>
        <p:cxnSp>
          <p:nvCxnSpPr>
            <p:cNvPr id="31" name="Straight Connector 30"/>
            <p:cNvCxnSpPr>
              <a:stCxn id="5" idx="2"/>
              <a:endCxn id="19" idx="5"/>
            </p:cNvCxnSpPr>
            <p:nvPr/>
          </p:nvCxnSpPr>
          <p:spPr bwMode="auto">
            <a:xfrm flipV="1">
              <a:off x="3096768" y="2608619"/>
              <a:ext cx="1621534" cy="469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oval" w="med" len="med"/>
              <a:tailEnd type="oval" w="med" len="med"/>
            </a:ln>
            <a:effectLst/>
          </p:spPr>
        </p:cxnSp>
        <p:cxnSp>
          <p:nvCxnSpPr>
            <p:cNvPr id="38" name="Elbow Connector 37"/>
            <p:cNvCxnSpPr>
              <a:stCxn id="8" idx="2"/>
              <a:endCxn id="19" idx="6"/>
            </p:cNvCxnSpPr>
            <p:nvPr/>
          </p:nvCxnSpPr>
          <p:spPr bwMode="auto">
            <a:xfrm rot="16200000" flipH="1">
              <a:off x="4146392" y="1524643"/>
              <a:ext cx="631329" cy="512492"/>
            </a:xfrm>
            <a:prstGeom prst="bentConnector4">
              <a:avLst>
                <a:gd name="adj1" fmla="val 27090"/>
                <a:gd name="adj2" fmla="val -34"/>
              </a:avLst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grpSp>
          <p:nvGrpSpPr>
            <p:cNvPr id="65" name="Group 64"/>
            <p:cNvGrpSpPr/>
            <p:nvPr/>
          </p:nvGrpSpPr>
          <p:grpSpPr>
            <a:xfrm>
              <a:off x="2459174" y="3154680"/>
              <a:ext cx="1146784" cy="942539"/>
              <a:chOff x="2459174" y="3154680"/>
              <a:chExt cx="1146784" cy="942539"/>
            </a:xfrm>
          </p:grpSpPr>
          <p:cxnSp>
            <p:nvCxnSpPr>
              <p:cNvPr id="59" name="Straight Connector 58"/>
              <p:cNvCxnSpPr>
                <a:stCxn id="5" idx="4"/>
              </p:cNvCxnSpPr>
              <p:nvPr/>
            </p:nvCxnSpPr>
            <p:spPr bwMode="auto">
              <a:xfrm flipH="1">
                <a:off x="2459174" y="3154680"/>
                <a:ext cx="17326" cy="480060"/>
              </a:xfrm>
              <a:prstGeom prst="lin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oval" w="med" len="med"/>
                <a:tailEnd type="none" w="med" len="med"/>
              </a:ln>
              <a:effectLst/>
            </p:spPr>
          </p:cxnSp>
          <p:cxnSp>
            <p:nvCxnSpPr>
              <p:cNvPr id="61" name="Straight Connector 60"/>
              <p:cNvCxnSpPr/>
              <p:nvPr/>
            </p:nvCxnSpPr>
            <p:spPr bwMode="auto">
              <a:xfrm>
                <a:off x="2459174" y="3634740"/>
                <a:ext cx="1146784" cy="0"/>
              </a:xfrm>
              <a:prstGeom prst="lin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63" name="Straight Connector 62"/>
              <p:cNvCxnSpPr>
                <a:stCxn id="41" idx="4"/>
              </p:cNvCxnSpPr>
              <p:nvPr/>
            </p:nvCxnSpPr>
            <p:spPr bwMode="auto">
              <a:xfrm flipV="1">
                <a:off x="3584837" y="3634740"/>
                <a:ext cx="0" cy="462479"/>
              </a:xfrm>
              <a:prstGeom prst="lin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66" name="Group 65"/>
            <p:cNvGrpSpPr/>
            <p:nvPr/>
          </p:nvGrpSpPr>
          <p:grpSpPr>
            <a:xfrm flipH="1">
              <a:off x="4081176" y="2911579"/>
              <a:ext cx="1298541" cy="1232530"/>
              <a:chOff x="2459174" y="3154680"/>
              <a:chExt cx="1148523" cy="942540"/>
            </a:xfrm>
          </p:grpSpPr>
          <p:cxnSp>
            <p:nvCxnSpPr>
              <p:cNvPr id="67" name="Straight Connector 66"/>
              <p:cNvCxnSpPr/>
              <p:nvPr/>
            </p:nvCxnSpPr>
            <p:spPr bwMode="auto">
              <a:xfrm flipH="1">
                <a:off x="2459174" y="3154680"/>
                <a:ext cx="0" cy="555811"/>
              </a:xfrm>
              <a:prstGeom prst="lin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oval" w="med" len="med"/>
                <a:tailEnd type="none" w="med" len="med"/>
              </a:ln>
              <a:effectLst/>
            </p:spPr>
          </p:cxnSp>
          <p:cxnSp>
            <p:nvCxnSpPr>
              <p:cNvPr id="68" name="Straight Connector 67"/>
              <p:cNvCxnSpPr/>
              <p:nvPr/>
            </p:nvCxnSpPr>
            <p:spPr bwMode="auto">
              <a:xfrm>
                <a:off x="2459174" y="3710491"/>
                <a:ext cx="1146784" cy="0"/>
              </a:xfrm>
              <a:prstGeom prst="lin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69" name="Straight Connector 68"/>
              <p:cNvCxnSpPr/>
              <p:nvPr/>
            </p:nvCxnSpPr>
            <p:spPr bwMode="auto">
              <a:xfrm flipH="1" flipV="1">
                <a:off x="3605958" y="3710491"/>
                <a:ext cx="1739" cy="386729"/>
              </a:xfrm>
              <a:prstGeom prst="lin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41" name="Flowchart: Delay 18"/>
            <p:cNvSpPr/>
            <p:nvPr/>
          </p:nvSpPr>
          <p:spPr bwMode="auto">
            <a:xfrm rot="5400000" flipH="1">
              <a:off x="3514473" y="3912720"/>
              <a:ext cx="632999" cy="820453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3276 w 10041"/>
                <a:gd name="connsiteY0" fmla="*/ 0 h 10023"/>
                <a:gd name="connsiteX1" fmla="*/ 10041 w 10041"/>
                <a:gd name="connsiteY1" fmla="*/ 23 h 10023"/>
                <a:gd name="connsiteX2" fmla="*/ 8374 w 10041"/>
                <a:gd name="connsiteY2" fmla="*/ 5023 h 10023"/>
                <a:gd name="connsiteX3" fmla="*/ 10041 w 10041"/>
                <a:gd name="connsiteY3" fmla="*/ 10023 h 10023"/>
                <a:gd name="connsiteX4" fmla="*/ 1708 w 10041"/>
                <a:gd name="connsiteY4" fmla="*/ 10023 h 10023"/>
                <a:gd name="connsiteX5" fmla="*/ 41 w 10041"/>
                <a:gd name="connsiteY5" fmla="*/ 5023 h 10023"/>
                <a:gd name="connsiteX6" fmla="*/ 3276 w 10041"/>
                <a:gd name="connsiteY6" fmla="*/ 0 h 10023"/>
                <a:gd name="connsiteX0" fmla="*/ 3237 w 10002"/>
                <a:gd name="connsiteY0" fmla="*/ 0 h 10070"/>
                <a:gd name="connsiteX1" fmla="*/ 10002 w 10002"/>
                <a:gd name="connsiteY1" fmla="*/ 23 h 10070"/>
                <a:gd name="connsiteX2" fmla="*/ 8335 w 10002"/>
                <a:gd name="connsiteY2" fmla="*/ 5023 h 10070"/>
                <a:gd name="connsiteX3" fmla="*/ 10002 w 10002"/>
                <a:gd name="connsiteY3" fmla="*/ 10023 h 10070"/>
                <a:gd name="connsiteX4" fmla="*/ 3656 w 10002"/>
                <a:gd name="connsiteY4" fmla="*/ 10070 h 10070"/>
                <a:gd name="connsiteX5" fmla="*/ 2 w 10002"/>
                <a:gd name="connsiteY5" fmla="*/ 5023 h 10070"/>
                <a:gd name="connsiteX6" fmla="*/ 3237 w 10002"/>
                <a:gd name="connsiteY6" fmla="*/ 0 h 10070"/>
                <a:gd name="connsiteX0" fmla="*/ 3237 w 10002"/>
                <a:gd name="connsiteY0" fmla="*/ 0 h 10070"/>
                <a:gd name="connsiteX1" fmla="*/ 10002 w 10002"/>
                <a:gd name="connsiteY1" fmla="*/ 23 h 10070"/>
                <a:gd name="connsiteX2" fmla="*/ 7439 w 10002"/>
                <a:gd name="connsiteY2" fmla="*/ 5023 h 10070"/>
                <a:gd name="connsiteX3" fmla="*/ 10002 w 10002"/>
                <a:gd name="connsiteY3" fmla="*/ 10023 h 10070"/>
                <a:gd name="connsiteX4" fmla="*/ 3656 w 10002"/>
                <a:gd name="connsiteY4" fmla="*/ 10070 h 10070"/>
                <a:gd name="connsiteX5" fmla="*/ 2 w 10002"/>
                <a:gd name="connsiteY5" fmla="*/ 5023 h 10070"/>
                <a:gd name="connsiteX6" fmla="*/ 3237 w 10002"/>
                <a:gd name="connsiteY6" fmla="*/ 0 h 10070"/>
                <a:gd name="connsiteX0" fmla="*/ 2761 w 9526"/>
                <a:gd name="connsiteY0" fmla="*/ 0 h 10070"/>
                <a:gd name="connsiteX1" fmla="*/ 9526 w 9526"/>
                <a:gd name="connsiteY1" fmla="*/ 23 h 10070"/>
                <a:gd name="connsiteX2" fmla="*/ 6963 w 9526"/>
                <a:gd name="connsiteY2" fmla="*/ 5023 h 10070"/>
                <a:gd name="connsiteX3" fmla="*/ 9526 w 9526"/>
                <a:gd name="connsiteY3" fmla="*/ 10023 h 10070"/>
                <a:gd name="connsiteX4" fmla="*/ 3180 w 9526"/>
                <a:gd name="connsiteY4" fmla="*/ 10070 h 10070"/>
                <a:gd name="connsiteX5" fmla="*/ 2 w 9526"/>
                <a:gd name="connsiteY5" fmla="*/ 5023 h 10070"/>
                <a:gd name="connsiteX6" fmla="*/ 2761 w 9526"/>
                <a:gd name="connsiteY6" fmla="*/ 0 h 10070"/>
                <a:gd name="connsiteX0" fmla="*/ 2898 w 10000"/>
                <a:gd name="connsiteY0" fmla="*/ 0 h 10000"/>
                <a:gd name="connsiteX1" fmla="*/ 10000 w 10000"/>
                <a:gd name="connsiteY1" fmla="*/ 23 h 10000"/>
                <a:gd name="connsiteX2" fmla="*/ 7309 w 10000"/>
                <a:gd name="connsiteY2" fmla="*/ 4988 h 10000"/>
                <a:gd name="connsiteX3" fmla="*/ 10000 w 10000"/>
                <a:gd name="connsiteY3" fmla="*/ 9953 h 10000"/>
                <a:gd name="connsiteX4" fmla="*/ 3338 w 10000"/>
                <a:gd name="connsiteY4" fmla="*/ 10000 h 10000"/>
                <a:gd name="connsiteX5" fmla="*/ 2 w 10000"/>
                <a:gd name="connsiteY5" fmla="*/ 4988 h 10000"/>
                <a:gd name="connsiteX6" fmla="*/ 2898 w 10000"/>
                <a:gd name="connsiteY6" fmla="*/ 0 h 10000"/>
                <a:gd name="connsiteX0" fmla="*/ 4522 w 10008"/>
                <a:gd name="connsiteY0" fmla="*/ 0 h 10000"/>
                <a:gd name="connsiteX1" fmla="*/ 10008 w 10008"/>
                <a:gd name="connsiteY1" fmla="*/ 23 h 10000"/>
                <a:gd name="connsiteX2" fmla="*/ 7317 w 10008"/>
                <a:gd name="connsiteY2" fmla="*/ 4988 h 10000"/>
                <a:gd name="connsiteX3" fmla="*/ 10008 w 10008"/>
                <a:gd name="connsiteY3" fmla="*/ 9953 h 10000"/>
                <a:gd name="connsiteX4" fmla="*/ 3346 w 10008"/>
                <a:gd name="connsiteY4" fmla="*/ 10000 h 10000"/>
                <a:gd name="connsiteX5" fmla="*/ 10 w 10008"/>
                <a:gd name="connsiteY5" fmla="*/ 4988 h 10000"/>
                <a:gd name="connsiteX6" fmla="*/ 4522 w 10008"/>
                <a:gd name="connsiteY6" fmla="*/ 0 h 10000"/>
                <a:gd name="connsiteX0" fmla="*/ 4518 w 10004"/>
                <a:gd name="connsiteY0" fmla="*/ 0 h 10000"/>
                <a:gd name="connsiteX1" fmla="*/ 10004 w 10004"/>
                <a:gd name="connsiteY1" fmla="*/ 23 h 10000"/>
                <a:gd name="connsiteX2" fmla="*/ 7313 w 10004"/>
                <a:gd name="connsiteY2" fmla="*/ 4988 h 10000"/>
                <a:gd name="connsiteX3" fmla="*/ 10004 w 10004"/>
                <a:gd name="connsiteY3" fmla="*/ 9953 h 10000"/>
                <a:gd name="connsiteX4" fmla="*/ 5516 w 10004"/>
                <a:gd name="connsiteY4" fmla="*/ 10000 h 10000"/>
                <a:gd name="connsiteX5" fmla="*/ 6 w 10004"/>
                <a:gd name="connsiteY5" fmla="*/ 4988 h 10000"/>
                <a:gd name="connsiteX6" fmla="*/ 4518 w 10004"/>
                <a:gd name="connsiteY6" fmla="*/ 0 h 10000"/>
                <a:gd name="connsiteX0" fmla="*/ 4530 w 10016"/>
                <a:gd name="connsiteY0" fmla="*/ 0 h 10047"/>
                <a:gd name="connsiteX1" fmla="*/ 10016 w 10016"/>
                <a:gd name="connsiteY1" fmla="*/ 23 h 10047"/>
                <a:gd name="connsiteX2" fmla="*/ 7325 w 10016"/>
                <a:gd name="connsiteY2" fmla="*/ 4988 h 10047"/>
                <a:gd name="connsiteX3" fmla="*/ 10016 w 10016"/>
                <a:gd name="connsiteY3" fmla="*/ 9953 h 10047"/>
                <a:gd name="connsiteX4" fmla="*/ 6439 w 10016"/>
                <a:gd name="connsiteY4" fmla="*/ 10047 h 10047"/>
                <a:gd name="connsiteX5" fmla="*/ 18 w 10016"/>
                <a:gd name="connsiteY5" fmla="*/ 4988 h 10047"/>
                <a:gd name="connsiteX6" fmla="*/ 4530 w 10016"/>
                <a:gd name="connsiteY6" fmla="*/ 0 h 10047"/>
                <a:gd name="connsiteX0" fmla="*/ 5602 w 10001"/>
                <a:gd name="connsiteY0" fmla="*/ 0 h 10024"/>
                <a:gd name="connsiteX1" fmla="*/ 10001 w 10001"/>
                <a:gd name="connsiteY1" fmla="*/ 0 h 10024"/>
                <a:gd name="connsiteX2" fmla="*/ 7310 w 10001"/>
                <a:gd name="connsiteY2" fmla="*/ 4965 h 10024"/>
                <a:gd name="connsiteX3" fmla="*/ 10001 w 10001"/>
                <a:gd name="connsiteY3" fmla="*/ 9930 h 10024"/>
                <a:gd name="connsiteX4" fmla="*/ 6424 w 10001"/>
                <a:gd name="connsiteY4" fmla="*/ 10024 h 10024"/>
                <a:gd name="connsiteX5" fmla="*/ 3 w 10001"/>
                <a:gd name="connsiteY5" fmla="*/ 4965 h 10024"/>
                <a:gd name="connsiteX6" fmla="*/ 5602 w 10001"/>
                <a:gd name="connsiteY6" fmla="*/ 0 h 10024"/>
                <a:gd name="connsiteX0" fmla="*/ 6158 w 9999"/>
                <a:gd name="connsiteY0" fmla="*/ 0 h 10024"/>
                <a:gd name="connsiteX1" fmla="*/ 9999 w 9999"/>
                <a:gd name="connsiteY1" fmla="*/ 0 h 10024"/>
                <a:gd name="connsiteX2" fmla="*/ 7308 w 9999"/>
                <a:gd name="connsiteY2" fmla="*/ 4965 h 10024"/>
                <a:gd name="connsiteX3" fmla="*/ 9999 w 9999"/>
                <a:gd name="connsiteY3" fmla="*/ 9930 h 10024"/>
                <a:gd name="connsiteX4" fmla="*/ 6422 w 9999"/>
                <a:gd name="connsiteY4" fmla="*/ 10024 h 10024"/>
                <a:gd name="connsiteX5" fmla="*/ 1 w 9999"/>
                <a:gd name="connsiteY5" fmla="*/ 4965 h 10024"/>
                <a:gd name="connsiteX6" fmla="*/ 6158 w 9999"/>
                <a:gd name="connsiteY6" fmla="*/ 0 h 10024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5924 w 9765"/>
                <a:gd name="connsiteY0" fmla="*/ 0 h 10000"/>
                <a:gd name="connsiteX1" fmla="*/ 9765 w 9765"/>
                <a:gd name="connsiteY1" fmla="*/ 0 h 10000"/>
                <a:gd name="connsiteX2" fmla="*/ 7074 w 9765"/>
                <a:gd name="connsiteY2" fmla="*/ 4953 h 10000"/>
                <a:gd name="connsiteX3" fmla="*/ 9765 w 9765"/>
                <a:gd name="connsiteY3" fmla="*/ 9906 h 10000"/>
                <a:gd name="connsiteX4" fmla="*/ 6188 w 9765"/>
                <a:gd name="connsiteY4" fmla="*/ 10000 h 10000"/>
                <a:gd name="connsiteX5" fmla="*/ 1 w 9765"/>
                <a:gd name="connsiteY5" fmla="*/ 4953 h 10000"/>
                <a:gd name="connsiteX6" fmla="*/ 5924 w 9765"/>
                <a:gd name="connsiteY6" fmla="*/ 0 h 10000"/>
                <a:gd name="connsiteX0" fmla="*/ 6067 w 10039"/>
                <a:gd name="connsiteY0" fmla="*/ 0 h 10000"/>
                <a:gd name="connsiteX1" fmla="*/ 10000 w 10039"/>
                <a:gd name="connsiteY1" fmla="*/ 0 h 10000"/>
                <a:gd name="connsiteX2" fmla="*/ 8034 w 10039"/>
                <a:gd name="connsiteY2" fmla="*/ 1970 h 10000"/>
                <a:gd name="connsiteX3" fmla="*/ 7244 w 10039"/>
                <a:gd name="connsiteY3" fmla="*/ 4953 h 10000"/>
                <a:gd name="connsiteX4" fmla="*/ 10000 w 10039"/>
                <a:gd name="connsiteY4" fmla="*/ 9906 h 10000"/>
                <a:gd name="connsiteX5" fmla="*/ 6337 w 10039"/>
                <a:gd name="connsiteY5" fmla="*/ 10000 h 10000"/>
                <a:gd name="connsiteX6" fmla="*/ 1 w 10039"/>
                <a:gd name="connsiteY6" fmla="*/ 4953 h 10000"/>
                <a:gd name="connsiteX7" fmla="*/ 6067 w 10039"/>
                <a:gd name="connsiteY7" fmla="*/ 0 h 10000"/>
                <a:gd name="connsiteX0" fmla="*/ 6067 w 10000"/>
                <a:gd name="connsiteY0" fmla="*/ 0 h 10000"/>
                <a:gd name="connsiteX1" fmla="*/ 10000 w 10000"/>
                <a:gd name="connsiteY1" fmla="*/ 0 h 10000"/>
                <a:gd name="connsiteX2" fmla="*/ 8034 w 10000"/>
                <a:gd name="connsiteY2" fmla="*/ 1970 h 10000"/>
                <a:gd name="connsiteX3" fmla="*/ 7244 w 10000"/>
                <a:gd name="connsiteY3" fmla="*/ 4953 h 10000"/>
                <a:gd name="connsiteX4" fmla="*/ 10000 w 10000"/>
                <a:gd name="connsiteY4" fmla="*/ 9906 h 10000"/>
                <a:gd name="connsiteX5" fmla="*/ 6337 w 10000"/>
                <a:gd name="connsiteY5" fmla="*/ 10000 h 10000"/>
                <a:gd name="connsiteX6" fmla="*/ 1 w 10000"/>
                <a:gd name="connsiteY6" fmla="*/ 4953 h 10000"/>
                <a:gd name="connsiteX7" fmla="*/ 6067 w 10000"/>
                <a:gd name="connsiteY7" fmla="*/ 0 h 10000"/>
                <a:gd name="connsiteX0" fmla="*/ 6067 w 10000"/>
                <a:gd name="connsiteY0" fmla="*/ 0 h 10000"/>
                <a:gd name="connsiteX1" fmla="*/ 10000 w 10000"/>
                <a:gd name="connsiteY1" fmla="*/ 0 h 10000"/>
                <a:gd name="connsiteX2" fmla="*/ 8034 w 10000"/>
                <a:gd name="connsiteY2" fmla="*/ 1970 h 10000"/>
                <a:gd name="connsiteX3" fmla="*/ 7244 w 10000"/>
                <a:gd name="connsiteY3" fmla="*/ 4953 h 10000"/>
                <a:gd name="connsiteX4" fmla="*/ 10000 w 10000"/>
                <a:gd name="connsiteY4" fmla="*/ 9906 h 10000"/>
                <a:gd name="connsiteX5" fmla="*/ 6337 w 10000"/>
                <a:gd name="connsiteY5" fmla="*/ 10000 h 10000"/>
                <a:gd name="connsiteX6" fmla="*/ 1 w 10000"/>
                <a:gd name="connsiteY6" fmla="*/ 4953 h 10000"/>
                <a:gd name="connsiteX7" fmla="*/ 6067 w 10000"/>
                <a:gd name="connsiteY7" fmla="*/ 0 h 10000"/>
                <a:gd name="connsiteX0" fmla="*/ 6067 w 10000"/>
                <a:gd name="connsiteY0" fmla="*/ 0 h 10000"/>
                <a:gd name="connsiteX1" fmla="*/ 10000 w 10000"/>
                <a:gd name="connsiteY1" fmla="*/ 0 h 10000"/>
                <a:gd name="connsiteX2" fmla="*/ 8034 w 10000"/>
                <a:gd name="connsiteY2" fmla="*/ 1970 h 10000"/>
                <a:gd name="connsiteX3" fmla="*/ 7244 w 10000"/>
                <a:gd name="connsiteY3" fmla="*/ 4953 h 10000"/>
                <a:gd name="connsiteX4" fmla="*/ 10000 w 10000"/>
                <a:gd name="connsiteY4" fmla="*/ 9906 h 10000"/>
                <a:gd name="connsiteX5" fmla="*/ 6337 w 10000"/>
                <a:gd name="connsiteY5" fmla="*/ 10000 h 10000"/>
                <a:gd name="connsiteX6" fmla="*/ 1 w 10000"/>
                <a:gd name="connsiteY6" fmla="*/ 4953 h 10000"/>
                <a:gd name="connsiteX7" fmla="*/ 6067 w 10000"/>
                <a:gd name="connsiteY7" fmla="*/ 0 h 10000"/>
                <a:gd name="connsiteX0" fmla="*/ 6067 w 10000"/>
                <a:gd name="connsiteY0" fmla="*/ 0 h 10000"/>
                <a:gd name="connsiteX1" fmla="*/ 10000 w 10000"/>
                <a:gd name="connsiteY1" fmla="*/ 0 h 10000"/>
                <a:gd name="connsiteX2" fmla="*/ 8034 w 10000"/>
                <a:gd name="connsiteY2" fmla="*/ 1970 h 10000"/>
                <a:gd name="connsiteX3" fmla="*/ 7244 w 10000"/>
                <a:gd name="connsiteY3" fmla="*/ 4953 h 10000"/>
                <a:gd name="connsiteX4" fmla="*/ 10000 w 10000"/>
                <a:gd name="connsiteY4" fmla="*/ 9906 h 10000"/>
                <a:gd name="connsiteX5" fmla="*/ 6337 w 10000"/>
                <a:gd name="connsiteY5" fmla="*/ 10000 h 10000"/>
                <a:gd name="connsiteX6" fmla="*/ 1 w 10000"/>
                <a:gd name="connsiteY6" fmla="*/ 4953 h 10000"/>
                <a:gd name="connsiteX7" fmla="*/ 6067 w 10000"/>
                <a:gd name="connsiteY7" fmla="*/ 0 h 10000"/>
                <a:gd name="connsiteX0" fmla="*/ 6067 w 10000"/>
                <a:gd name="connsiteY0" fmla="*/ 0 h 10000"/>
                <a:gd name="connsiteX1" fmla="*/ 10000 w 10000"/>
                <a:gd name="connsiteY1" fmla="*/ 0 h 10000"/>
                <a:gd name="connsiteX2" fmla="*/ 8034 w 10000"/>
                <a:gd name="connsiteY2" fmla="*/ 1970 h 10000"/>
                <a:gd name="connsiteX3" fmla="*/ 7244 w 10000"/>
                <a:gd name="connsiteY3" fmla="*/ 4953 h 10000"/>
                <a:gd name="connsiteX4" fmla="*/ 10000 w 10000"/>
                <a:gd name="connsiteY4" fmla="*/ 9906 h 10000"/>
                <a:gd name="connsiteX5" fmla="*/ 6337 w 10000"/>
                <a:gd name="connsiteY5" fmla="*/ 10000 h 10000"/>
                <a:gd name="connsiteX6" fmla="*/ 1 w 10000"/>
                <a:gd name="connsiteY6" fmla="*/ 4953 h 10000"/>
                <a:gd name="connsiteX7" fmla="*/ 6067 w 10000"/>
                <a:gd name="connsiteY7" fmla="*/ 0 h 10000"/>
                <a:gd name="connsiteX0" fmla="*/ 6067 w 10000"/>
                <a:gd name="connsiteY0" fmla="*/ 0 h 10000"/>
                <a:gd name="connsiteX1" fmla="*/ 10000 w 10000"/>
                <a:gd name="connsiteY1" fmla="*/ 0 h 10000"/>
                <a:gd name="connsiteX2" fmla="*/ 8034 w 10000"/>
                <a:gd name="connsiteY2" fmla="*/ 1970 h 10000"/>
                <a:gd name="connsiteX3" fmla="*/ 7244 w 10000"/>
                <a:gd name="connsiteY3" fmla="*/ 4953 h 10000"/>
                <a:gd name="connsiteX4" fmla="*/ 10000 w 10000"/>
                <a:gd name="connsiteY4" fmla="*/ 9906 h 10000"/>
                <a:gd name="connsiteX5" fmla="*/ 6337 w 10000"/>
                <a:gd name="connsiteY5" fmla="*/ 10000 h 10000"/>
                <a:gd name="connsiteX6" fmla="*/ 1 w 10000"/>
                <a:gd name="connsiteY6" fmla="*/ 4953 h 10000"/>
                <a:gd name="connsiteX7" fmla="*/ 6067 w 10000"/>
                <a:gd name="connsiteY7" fmla="*/ 0 h 10000"/>
                <a:gd name="connsiteX0" fmla="*/ 6067 w 10000"/>
                <a:gd name="connsiteY0" fmla="*/ 0 h 10000"/>
                <a:gd name="connsiteX1" fmla="*/ 10000 w 10000"/>
                <a:gd name="connsiteY1" fmla="*/ 0 h 10000"/>
                <a:gd name="connsiteX2" fmla="*/ 8034 w 10000"/>
                <a:gd name="connsiteY2" fmla="*/ 1970 h 10000"/>
                <a:gd name="connsiteX3" fmla="*/ 7244 w 10000"/>
                <a:gd name="connsiteY3" fmla="*/ 4953 h 10000"/>
                <a:gd name="connsiteX4" fmla="*/ 10000 w 10000"/>
                <a:gd name="connsiteY4" fmla="*/ 9906 h 10000"/>
                <a:gd name="connsiteX5" fmla="*/ 6337 w 10000"/>
                <a:gd name="connsiteY5" fmla="*/ 10000 h 10000"/>
                <a:gd name="connsiteX6" fmla="*/ 1 w 10000"/>
                <a:gd name="connsiteY6" fmla="*/ 4953 h 10000"/>
                <a:gd name="connsiteX7" fmla="*/ 6067 w 10000"/>
                <a:gd name="connsiteY7" fmla="*/ 0 h 10000"/>
                <a:gd name="connsiteX0" fmla="*/ 6067 w 10000"/>
                <a:gd name="connsiteY0" fmla="*/ 0 h 10000"/>
                <a:gd name="connsiteX1" fmla="*/ 10000 w 10000"/>
                <a:gd name="connsiteY1" fmla="*/ 0 h 10000"/>
                <a:gd name="connsiteX2" fmla="*/ 7914 w 10000"/>
                <a:gd name="connsiteY2" fmla="*/ 2179 h 10000"/>
                <a:gd name="connsiteX3" fmla="*/ 7244 w 10000"/>
                <a:gd name="connsiteY3" fmla="*/ 4953 h 10000"/>
                <a:gd name="connsiteX4" fmla="*/ 10000 w 10000"/>
                <a:gd name="connsiteY4" fmla="*/ 9906 h 10000"/>
                <a:gd name="connsiteX5" fmla="*/ 6337 w 10000"/>
                <a:gd name="connsiteY5" fmla="*/ 10000 h 10000"/>
                <a:gd name="connsiteX6" fmla="*/ 1 w 10000"/>
                <a:gd name="connsiteY6" fmla="*/ 4953 h 10000"/>
                <a:gd name="connsiteX7" fmla="*/ 6067 w 10000"/>
                <a:gd name="connsiteY7" fmla="*/ 0 h 10000"/>
                <a:gd name="connsiteX0" fmla="*/ 6067 w 10064"/>
                <a:gd name="connsiteY0" fmla="*/ 0 h 10000"/>
                <a:gd name="connsiteX1" fmla="*/ 10000 w 10064"/>
                <a:gd name="connsiteY1" fmla="*/ 0 h 10000"/>
                <a:gd name="connsiteX2" fmla="*/ 7914 w 10064"/>
                <a:gd name="connsiteY2" fmla="*/ 2179 h 10000"/>
                <a:gd name="connsiteX3" fmla="*/ 7244 w 10064"/>
                <a:gd name="connsiteY3" fmla="*/ 4953 h 10000"/>
                <a:gd name="connsiteX4" fmla="*/ 8566 w 10064"/>
                <a:gd name="connsiteY4" fmla="*/ 8000 h 10000"/>
                <a:gd name="connsiteX5" fmla="*/ 10000 w 10064"/>
                <a:gd name="connsiteY5" fmla="*/ 9906 h 10000"/>
                <a:gd name="connsiteX6" fmla="*/ 6337 w 10064"/>
                <a:gd name="connsiteY6" fmla="*/ 10000 h 10000"/>
                <a:gd name="connsiteX7" fmla="*/ 1 w 10064"/>
                <a:gd name="connsiteY7" fmla="*/ 4953 h 10000"/>
                <a:gd name="connsiteX8" fmla="*/ 6067 w 10064"/>
                <a:gd name="connsiteY8" fmla="*/ 0 h 10000"/>
                <a:gd name="connsiteX0" fmla="*/ 6067 w 10055"/>
                <a:gd name="connsiteY0" fmla="*/ 0 h 10000"/>
                <a:gd name="connsiteX1" fmla="*/ 10000 w 10055"/>
                <a:gd name="connsiteY1" fmla="*/ 0 h 10000"/>
                <a:gd name="connsiteX2" fmla="*/ 7914 w 10055"/>
                <a:gd name="connsiteY2" fmla="*/ 2179 h 10000"/>
                <a:gd name="connsiteX3" fmla="*/ 7244 w 10055"/>
                <a:gd name="connsiteY3" fmla="*/ 4953 h 10000"/>
                <a:gd name="connsiteX4" fmla="*/ 8566 w 10055"/>
                <a:gd name="connsiteY4" fmla="*/ 8000 h 10000"/>
                <a:gd name="connsiteX5" fmla="*/ 10000 w 10055"/>
                <a:gd name="connsiteY5" fmla="*/ 9906 h 10000"/>
                <a:gd name="connsiteX6" fmla="*/ 6337 w 10055"/>
                <a:gd name="connsiteY6" fmla="*/ 10000 h 10000"/>
                <a:gd name="connsiteX7" fmla="*/ 1 w 10055"/>
                <a:gd name="connsiteY7" fmla="*/ 4953 h 10000"/>
                <a:gd name="connsiteX8" fmla="*/ 6067 w 10055"/>
                <a:gd name="connsiteY8" fmla="*/ 0 h 10000"/>
                <a:gd name="connsiteX0" fmla="*/ 6067 w 10055"/>
                <a:gd name="connsiteY0" fmla="*/ 0 h 10000"/>
                <a:gd name="connsiteX1" fmla="*/ 10000 w 10055"/>
                <a:gd name="connsiteY1" fmla="*/ 0 h 10000"/>
                <a:gd name="connsiteX2" fmla="*/ 7914 w 10055"/>
                <a:gd name="connsiteY2" fmla="*/ 2179 h 10000"/>
                <a:gd name="connsiteX3" fmla="*/ 7244 w 10055"/>
                <a:gd name="connsiteY3" fmla="*/ 4953 h 10000"/>
                <a:gd name="connsiteX4" fmla="*/ 8566 w 10055"/>
                <a:gd name="connsiteY4" fmla="*/ 8000 h 10000"/>
                <a:gd name="connsiteX5" fmla="*/ 10000 w 10055"/>
                <a:gd name="connsiteY5" fmla="*/ 9906 h 10000"/>
                <a:gd name="connsiteX6" fmla="*/ 6337 w 10055"/>
                <a:gd name="connsiteY6" fmla="*/ 10000 h 10000"/>
                <a:gd name="connsiteX7" fmla="*/ 1 w 10055"/>
                <a:gd name="connsiteY7" fmla="*/ 4953 h 10000"/>
                <a:gd name="connsiteX8" fmla="*/ 6067 w 10055"/>
                <a:gd name="connsiteY8" fmla="*/ 0 h 10000"/>
                <a:gd name="connsiteX0" fmla="*/ 6067 w 10000"/>
                <a:gd name="connsiteY0" fmla="*/ 0 h 10000"/>
                <a:gd name="connsiteX1" fmla="*/ 10000 w 10000"/>
                <a:gd name="connsiteY1" fmla="*/ 0 h 10000"/>
                <a:gd name="connsiteX2" fmla="*/ 7914 w 10000"/>
                <a:gd name="connsiteY2" fmla="*/ 2179 h 10000"/>
                <a:gd name="connsiteX3" fmla="*/ 7244 w 10000"/>
                <a:gd name="connsiteY3" fmla="*/ 4953 h 10000"/>
                <a:gd name="connsiteX4" fmla="*/ 8566 w 10000"/>
                <a:gd name="connsiteY4" fmla="*/ 8000 h 10000"/>
                <a:gd name="connsiteX5" fmla="*/ 10000 w 10000"/>
                <a:gd name="connsiteY5" fmla="*/ 9906 h 10000"/>
                <a:gd name="connsiteX6" fmla="*/ 6337 w 10000"/>
                <a:gd name="connsiteY6" fmla="*/ 10000 h 10000"/>
                <a:gd name="connsiteX7" fmla="*/ 1 w 10000"/>
                <a:gd name="connsiteY7" fmla="*/ 4953 h 10000"/>
                <a:gd name="connsiteX8" fmla="*/ 6067 w 10000"/>
                <a:gd name="connsiteY8" fmla="*/ 0 h 10000"/>
                <a:gd name="connsiteX0" fmla="*/ 6067 w 10000"/>
                <a:gd name="connsiteY0" fmla="*/ 0 h 10000"/>
                <a:gd name="connsiteX1" fmla="*/ 10000 w 10000"/>
                <a:gd name="connsiteY1" fmla="*/ 0 h 10000"/>
                <a:gd name="connsiteX2" fmla="*/ 7914 w 10000"/>
                <a:gd name="connsiteY2" fmla="*/ 2179 h 10000"/>
                <a:gd name="connsiteX3" fmla="*/ 7244 w 10000"/>
                <a:gd name="connsiteY3" fmla="*/ 4953 h 10000"/>
                <a:gd name="connsiteX4" fmla="*/ 8566 w 10000"/>
                <a:gd name="connsiteY4" fmla="*/ 8000 h 10000"/>
                <a:gd name="connsiteX5" fmla="*/ 10000 w 10000"/>
                <a:gd name="connsiteY5" fmla="*/ 9906 h 10000"/>
                <a:gd name="connsiteX6" fmla="*/ 6337 w 10000"/>
                <a:gd name="connsiteY6" fmla="*/ 10000 h 10000"/>
                <a:gd name="connsiteX7" fmla="*/ 1 w 10000"/>
                <a:gd name="connsiteY7" fmla="*/ 4953 h 10000"/>
                <a:gd name="connsiteX8" fmla="*/ 6067 w 10000"/>
                <a:gd name="connsiteY8" fmla="*/ 0 h 10000"/>
                <a:gd name="connsiteX0" fmla="*/ 6067 w 10000"/>
                <a:gd name="connsiteY0" fmla="*/ 0 h 10000"/>
                <a:gd name="connsiteX1" fmla="*/ 10000 w 10000"/>
                <a:gd name="connsiteY1" fmla="*/ 0 h 10000"/>
                <a:gd name="connsiteX2" fmla="*/ 7914 w 10000"/>
                <a:gd name="connsiteY2" fmla="*/ 2179 h 10000"/>
                <a:gd name="connsiteX3" fmla="*/ 7244 w 10000"/>
                <a:gd name="connsiteY3" fmla="*/ 4953 h 10000"/>
                <a:gd name="connsiteX4" fmla="*/ 8566 w 10000"/>
                <a:gd name="connsiteY4" fmla="*/ 8000 h 10000"/>
                <a:gd name="connsiteX5" fmla="*/ 10000 w 10000"/>
                <a:gd name="connsiteY5" fmla="*/ 9906 h 10000"/>
                <a:gd name="connsiteX6" fmla="*/ 6337 w 10000"/>
                <a:gd name="connsiteY6" fmla="*/ 10000 h 10000"/>
                <a:gd name="connsiteX7" fmla="*/ 1 w 10000"/>
                <a:gd name="connsiteY7" fmla="*/ 4953 h 10000"/>
                <a:gd name="connsiteX8" fmla="*/ 6067 w 10000"/>
                <a:gd name="connsiteY8" fmla="*/ 0 h 10000"/>
                <a:gd name="connsiteX0" fmla="*/ 6067 w 10000"/>
                <a:gd name="connsiteY0" fmla="*/ 0 h 10000"/>
                <a:gd name="connsiteX1" fmla="*/ 10000 w 10000"/>
                <a:gd name="connsiteY1" fmla="*/ 0 h 10000"/>
                <a:gd name="connsiteX2" fmla="*/ 7914 w 10000"/>
                <a:gd name="connsiteY2" fmla="*/ 2179 h 10000"/>
                <a:gd name="connsiteX3" fmla="*/ 7244 w 10000"/>
                <a:gd name="connsiteY3" fmla="*/ 4953 h 10000"/>
                <a:gd name="connsiteX4" fmla="*/ 8566 w 10000"/>
                <a:gd name="connsiteY4" fmla="*/ 8000 h 10000"/>
                <a:gd name="connsiteX5" fmla="*/ 10000 w 10000"/>
                <a:gd name="connsiteY5" fmla="*/ 9906 h 10000"/>
                <a:gd name="connsiteX6" fmla="*/ 6337 w 10000"/>
                <a:gd name="connsiteY6" fmla="*/ 10000 h 10000"/>
                <a:gd name="connsiteX7" fmla="*/ 1 w 10000"/>
                <a:gd name="connsiteY7" fmla="*/ 4953 h 10000"/>
                <a:gd name="connsiteX8" fmla="*/ 6067 w 10000"/>
                <a:gd name="connsiteY8" fmla="*/ 0 h 10000"/>
                <a:gd name="connsiteX0" fmla="*/ 6067 w 10000"/>
                <a:gd name="connsiteY0" fmla="*/ 0 h 10000"/>
                <a:gd name="connsiteX1" fmla="*/ 10000 w 10000"/>
                <a:gd name="connsiteY1" fmla="*/ 0 h 10000"/>
                <a:gd name="connsiteX2" fmla="*/ 7914 w 10000"/>
                <a:gd name="connsiteY2" fmla="*/ 2179 h 10000"/>
                <a:gd name="connsiteX3" fmla="*/ 7244 w 10000"/>
                <a:gd name="connsiteY3" fmla="*/ 4953 h 10000"/>
                <a:gd name="connsiteX4" fmla="*/ 8566 w 10000"/>
                <a:gd name="connsiteY4" fmla="*/ 8000 h 10000"/>
                <a:gd name="connsiteX5" fmla="*/ 10000 w 10000"/>
                <a:gd name="connsiteY5" fmla="*/ 9906 h 10000"/>
                <a:gd name="connsiteX6" fmla="*/ 6337 w 10000"/>
                <a:gd name="connsiteY6" fmla="*/ 10000 h 10000"/>
                <a:gd name="connsiteX7" fmla="*/ 1 w 10000"/>
                <a:gd name="connsiteY7" fmla="*/ 4953 h 10000"/>
                <a:gd name="connsiteX8" fmla="*/ 6067 w 10000"/>
                <a:gd name="connsiteY8" fmla="*/ 0 h 10000"/>
                <a:gd name="connsiteX0" fmla="*/ 6067 w 10000"/>
                <a:gd name="connsiteY0" fmla="*/ 0 h 10000"/>
                <a:gd name="connsiteX1" fmla="*/ 10000 w 10000"/>
                <a:gd name="connsiteY1" fmla="*/ 0 h 10000"/>
                <a:gd name="connsiteX2" fmla="*/ 7914 w 10000"/>
                <a:gd name="connsiteY2" fmla="*/ 2179 h 10000"/>
                <a:gd name="connsiteX3" fmla="*/ 7244 w 10000"/>
                <a:gd name="connsiteY3" fmla="*/ 4953 h 10000"/>
                <a:gd name="connsiteX4" fmla="*/ 8566 w 10000"/>
                <a:gd name="connsiteY4" fmla="*/ 8000 h 10000"/>
                <a:gd name="connsiteX5" fmla="*/ 10000 w 10000"/>
                <a:gd name="connsiteY5" fmla="*/ 9906 h 10000"/>
                <a:gd name="connsiteX6" fmla="*/ 6337 w 10000"/>
                <a:gd name="connsiteY6" fmla="*/ 10000 h 10000"/>
                <a:gd name="connsiteX7" fmla="*/ 1 w 10000"/>
                <a:gd name="connsiteY7" fmla="*/ 4953 h 10000"/>
                <a:gd name="connsiteX8" fmla="*/ 6067 w 10000"/>
                <a:gd name="connsiteY8" fmla="*/ 0 h 10000"/>
                <a:gd name="connsiteX0" fmla="*/ 6067 w 10000"/>
                <a:gd name="connsiteY0" fmla="*/ 0 h 10000"/>
                <a:gd name="connsiteX1" fmla="*/ 10000 w 10000"/>
                <a:gd name="connsiteY1" fmla="*/ 0 h 10000"/>
                <a:gd name="connsiteX2" fmla="*/ 7914 w 10000"/>
                <a:gd name="connsiteY2" fmla="*/ 2179 h 10000"/>
                <a:gd name="connsiteX3" fmla="*/ 7244 w 10000"/>
                <a:gd name="connsiteY3" fmla="*/ 4953 h 10000"/>
                <a:gd name="connsiteX4" fmla="*/ 8566 w 10000"/>
                <a:gd name="connsiteY4" fmla="*/ 8000 h 10000"/>
                <a:gd name="connsiteX5" fmla="*/ 10000 w 10000"/>
                <a:gd name="connsiteY5" fmla="*/ 9906 h 10000"/>
                <a:gd name="connsiteX6" fmla="*/ 6337 w 10000"/>
                <a:gd name="connsiteY6" fmla="*/ 10000 h 10000"/>
                <a:gd name="connsiteX7" fmla="*/ 1 w 10000"/>
                <a:gd name="connsiteY7" fmla="*/ 4953 h 10000"/>
                <a:gd name="connsiteX8" fmla="*/ 6067 w 10000"/>
                <a:gd name="connsiteY8" fmla="*/ 0 h 10000"/>
                <a:gd name="connsiteX0" fmla="*/ 6067 w 10000"/>
                <a:gd name="connsiteY0" fmla="*/ 0 h 10000"/>
                <a:gd name="connsiteX1" fmla="*/ 10000 w 10000"/>
                <a:gd name="connsiteY1" fmla="*/ 0 h 10000"/>
                <a:gd name="connsiteX2" fmla="*/ 7914 w 10000"/>
                <a:gd name="connsiteY2" fmla="*/ 2179 h 10000"/>
                <a:gd name="connsiteX3" fmla="*/ 7244 w 10000"/>
                <a:gd name="connsiteY3" fmla="*/ 4953 h 10000"/>
                <a:gd name="connsiteX4" fmla="*/ 8566 w 10000"/>
                <a:gd name="connsiteY4" fmla="*/ 8000 h 10000"/>
                <a:gd name="connsiteX5" fmla="*/ 10000 w 10000"/>
                <a:gd name="connsiteY5" fmla="*/ 9906 h 10000"/>
                <a:gd name="connsiteX6" fmla="*/ 6337 w 10000"/>
                <a:gd name="connsiteY6" fmla="*/ 10000 h 10000"/>
                <a:gd name="connsiteX7" fmla="*/ 1 w 10000"/>
                <a:gd name="connsiteY7" fmla="*/ 4953 h 10000"/>
                <a:gd name="connsiteX8" fmla="*/ 6067 w 10000"/>
                <a:gd name="connsiteY8" fmla="*/ 0 h 10000"/>
                <a:gd name="connsiteX0" fmla="*/ 6067 w 10000"/>
                <a:gd name="connsiteY0" fmla="*/ 0 h 10000"/>
                <a:gd name="connsiteX1" fmla="*/ 10000 w 10000"/>
                <a:gd name="connsiteY1" fmla="*/ 0 h 10000"/>
                <a:gd name="connsiteX2" fmla="*/ 7914 w 10000"/>
                <a:gd name="connsiteY2" fmla="*/ 2179 h 10000"/>
                <a:gd name="connsiteX3" fmla="*/ 7244 w 10000"/>
                <a:gd name="connsiteY3" fmla="*/ 4953 h 10000"/>
                <a:gd name="connsiteX4" fmla="*/ 8566 w 10000"/>
                <a:gd name="connsiteY4" fmla="*/ 8000 h 10000"/>
                <a:gd name="connsiteX5" fmla="*/ 10000 w 10000"/>
                <a:gd name="connsiteY5" fmla="*/ 9906 h 10000"/>
                <a:gd name="connsiteX6" fmla="*/ 6337 w 10000"/>
                <a:gd name="connsiteY6" fmla="*/ 10000 h 10000"/>
                <a:gd name="connsiteX7" fmla="*/ 1 w 10000"/>
                <a:gd name="connsiteY7" fmla="*/ 4953 h 10000"/>
                <a:gd name="connsiteX8" fmla="*/ 6067 w 10000"/>
                <a:gd name="connsiteY8" fmla="*/ 0 h 10000"/>
                <a:gd name="connsiteX0" fmla="*/ 6067 w 10000"/>
                <a:gd name="connsiteY0" fmla="*/ 0 h 10000"/>
                <a:gd name="connsiteX1" fmla="*/ 10000 w 10000"/>
                <a:gd name="connsiteY1" fmla="*/ 0 h 10000"/>
                <a:gd name="connsiteX2" fmla="*/ 7914 w 10000"/>
                <a:gd name="connsiteY2" fmla="*/ 2179 h 10000"/>
                <a:gd name="connsiteX3" fmla="*/ 7244 w 10000"/>
                <a:gd name="connsiteY3" fmla="*/ 4953 h 10000"/>
                <a:gd name="connsiteX4" fmla="*/ 8566 w 10000"/>
                <a:gd name="connsiteY4" fmla="*/ 8000 h 10000"/>
                <a:gd name="connsiteX5" fmla="*/ 10000 w 10000"/>
                <a:gd name="connsiteY5" fmla="*/ 9906 h 10000"/>
                <a:gd name="connsiteX6" fmla="*/ 6337 w 10000"/>
                <a:gd name="connsiteY6" fmla="*/ 10000 h 10000"/>
                <a:gd name="connsiteX7" fmla="*/ 1 w 10000"/>
                <a:gd name="connsiteY7" fmla="*/ 4953 h 10000"/>
                <a:gd name="connsiteX8" fmla="*/ 6067 w 10000"/>
                <a:gd name="connsiteY8" fmla="*/ 0 h 10000"/>
                <a:gd name="connsiteX0" fmla="*/ 6067 w 10000"/>
                <a:gd name="connsiteY0" fmla="*/ 0 h 10000"/>
                <a:gd name="connsiteX1" fmla="*/ 10000 w 10000"/>
                <a:gd name="connsiteY1" fmla="*/ 0 h 10000"/>
                <a:gd name="connsiteX2" fmla="*/ 7914 w 10000"/>
                <a:gd name="connsiteY2" fmla="*/ 2179 h 10000"/>
                <a:gd name="connsiteX3" fmla="*/ 7244 w 10000"/>
                <a:gd name="connsiteY3" fmla="*/ 4953 h 10000"/>
                <a:gd name="connsiteX4" fmla="*/ 8566 w 10000"/>
                <a:gd name="connsiteY4" fmla="*/ 8000 h 10000"/>
                <a:gd name="connsiteX5" fmla="*/ 10000 w 10000"/>
                <a:gd name="connsiteY5" fmla="*/ 9906 h 10000"/>
                <a:gd name="connsiteX6" fmla="*/ 6337 w 10000"/>
                <a:gd name="connsiteY6" fmla="*/ 10000 h 10000"/>
                <a:gd name="connsiteX7" fmla="*/ 1 w 10000"/>
                <a:gd name="connsiteY7" fmla="*/ 4953 h 10000"/>
                <a:gd name="connsiteX8" fmla="*/ 6067 w 10000"/>
                <a:gd name="connsiteY8" fmla="*/ 0 h 10000"/>
                <a:gd name="connsiteX0" fmla="*/ 6067 w 10000"/>
                <a:gd name="connsiteY0" fmla="*/ 0 h 10000"/>
                <a:gd name="connsiteX1" fmla="*/ 10000 w 10000"/>
                <a:gd name="connsiteY1" fmla="*/ 0 h 10000"/>
                <a:gd name="connsiteX2" fmla="*/ 7914 w 10000"/>
                <a:gd name="connsiteY2" fmla="*/ 2179 h 10000"/>
                <a:gd name="connsiteX3" fmla="*/ 7214 w 10000"/>
                <a:gd name="connsiteY3" fmla="*/ 4837 h 10000"/>
                <a:gd name="connsiteX4" fmla="*/ 8566 w 10000"/>
                <a:gd name="connsiteY4" fmla="*/ 8000 h 10000"/>
                <a:gd name="connsiteX5" fmla="*/ 10000 w 10000"/>
                <a:gd name="connsiteY5" fmla="*/ 9906 h 10000"/>
                <a:gd name="connsiteX6" fmla="*/ 6337 w 10000"/>
                <a:gd name="connsiteY6" fmla="*/ 10000 h 10000"/>
                <a:gd name="connsiteX7" fmla="*/ 1 w 10000"/>
                <a:gd name="connsiteY7" fmla="*/ 4953 h 10000"/>
                <a:gd name="connsiteX8" fmla="*/ 6067 w 10000"/>
                <a:gd name="connsiteY8" fmla="*/ 0 h 10000"/>
                <a:gd name="connsiteX0" fmla="*/ 6067 w 10000"/>
                <a:gd name="connsiteY0" fmla="*/ 0 h 10000"/>
                <a:gd name="connsiteX1" fmla="*/ 10000 w 10000"/>
                <a:gd name="connsiteY1" fmla="*/ 0 h 10000"/>
                <a:gd name="connsiteX2" fmla="*/ 8125 w 10000"/>
                <a:gd name="connsiteY2" fmla="*/ 2063 h 10000"/>
                <a:gd name="connsiteX3" fmla="*/ 7214 w 10000"/>
                <a:gd name="connsiteY3" fmla="*/ 4837 h 10000"/>
                <a:gd name="connsiteX4" fmla="*/ 8566 w 10000"/>
                <a:gd name="connsiteY4" fmla="*/ 8000 h 10000"/>
                <a:gd name="connsiteX5" fmla="*/ 10000 w 10000"/>
                <a:gd name="connsiteY5" fmla="*/ 9906 h 10000"/>
                <a:gd name="connsiteX6" fmla="*/ 6337 w 10000"/>
                <a:gd name="connsiteY6" fmla="*/ 10000 h 10000"/>
                <a:gd name="connsiteX7" fmla="*/ 1 w 10000"/>
                <a:gd name="connsiteY7" fmla="*/ 4953 h 10000"/>
                <a:gd name="connsiteX8" fmla="*/ 6067 w 10000"/>
                <a:gd name="connsiteY8" fmla="*/ 0 h 10000"/>
                <a:gd name="connsiteX0" fmla="*/ 6067 w 10000"/>
                <a:gd name="connsiteY0" fmla="*/ 0 h 10000"/>
                <a:gd name="connsiteX1" fmla="*/ 10000 w 10000"/>
                <a:gd name="connsiteY1" fmla="*/ 0 h 10000"/>
                <a:gd name="connsiteX2" fmla="*/ 8125 w 10000"/>
                <a:gd name="connsiteY2" fmla="*/ 2063 h 10000"/>
                <a:gd name="connsiteX3" fmla="*/ 7214 w 10000"/>
                <a:gd name="connsiteY3" fmla="*/ 4837 h 10000"/>
                <a:gd name="connsiteX4" fmla="*/ 8566 w 10000"/>
                <a:gd name="connsiteY4" fmla="*/ 8000 h 10000"/>
                <a:gd name="connsiteX5" fmla="*/ 10000 w 10000"/>
                <a:gd name="connsiteY5" fmla="*/ 9906 h 10000"/>
                <a:gd name="connsiteX6" fmla="*/ 6337 w 10000"/>
                <a:gd name="connsiteY6" fmla="*/ 10000 h 10000"/>
                <a:gd name="connsiteX7" fmla="*/ 1 w 10000"/>
                <a:gd name="connsiteY7" fmla="*/ 4953 h 10000"/>
                <a:gd name="connsiteX8" fmla="*/ 6067 w 10000"/>
                <a:gd name="connsiteY8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00" h="10000">
                  <a:moveTo>
                    <a:pt x="6067" y="0"/>
                  </a:moveTo>
                  <a:lnTo>
                    <a:pt x="10000" y="0"/>
                  </a:lnTo>
                  <a:cubicBezTo>
                    <a:pt x="9586" y="448"/>
                    <a:pt x="8389" y="1731"/>
                    <a:pt x="8125" y="2063"/>
                  </a:cubicBezTo>
                  <a:cubicBezTo>
                    <a:pt x="7877" y="2448"/>
                    <a:pt x="7141" y="3848"/>
                    <a:pt x="7214" y="4837"/>
                  </a:cubicBezTo>
                  <a:cubicBezTo>
                    <a:pt x="7287" y="5826"/>
                    <a:pt x="8348" y="7639"/>
                    <a:pt x="8566" y="8000"/>
                  </a:cubicBezTo>
                  <a:cubicBezTo>
                    <a:pt x="8754" y="8315"/>
                    <a:pt x="9710" y="9480"/>
                    <a:pt x="10000" y="9906"/>
                  </a:cubicBezTo>
                  <a:lnTo>
                    <a:pt x="6337" y="10000"/>
                  </a:lnTo>
                  <a:cubicBezTo>
                    <a:pt x="2638" y="10046"/>
                    <a:pt x="46" y="6620"/>
                    <a:pt x="1" y="4953"/>
                  </a:cubicBezTo>
                  <a:cubicBezTo>
                    <a:pt x="-44" y="3286"/>
                    <a:pt x="1797" y="0"/>
                    <a:pt x="6067" y="0"/>
                  </a:cubicBez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>
                <a:solidFill>
                  <a:schemeClr val="dk1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6347641" y="2114193"/>
              <a:ext cx="441783" cy="4540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200" dirty="0" err="1" smtClean="0">
                  <a:latin typeface="+mj-lt"/>
                </a:rPr>
                <a:t>s</a:t>
              </a:r>
              <a:r>
                <a:rPr lang="en-US" sz="1600" dirty="0" err="1" smtClean="0">
                  <a:latin typeface="+mj-lt"/>
                </a:rPr>
                <a:t>n</a:t>
              </a:r>
              <a:endParaRPr lang="en-US" sz="2200" dirty="0">
                <a:latin typeface="+mj-lt"/>
              </a:endParaRPr>
            </a:p>
          </p:txBody>
        </p:sp>
        <p:cxnSp>
          <p:nvCxnSpPr>
            <p:cNvPr id="75" name="Straight Connector 74"/>
            <p:cNvCxnSpPr/>
            <p:nvPr/>
          </p:nvCxnSpPr>
          <p:spPr bwMode="auto">
            <a:xfrm flipH="1">
              <a:off x="6009511" y="2351453"/>
              <a:ext cx="339595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lg" len="lg"/>
              <a:tailEnd type="oval" w="med" len="med"/>
            </a:ln>
            <a:effectLst/>
          </p:spPr>
        </p:cxnSp>
        <p:sp>
          <p:nvSpPr>
            <p:cNvPr id="77" name="Rectangle 76"/>
            <p:cNvSpPr/>
            <p:nvPr/>
          </p:nvSpPr>
          <p:spPr>
            <a:xfrm>
              <a:off x="3611745" y="4903113"/>
              <a:ext cx="440026" cy="3567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err="1" smtClean="0">
                  <a:latin typeface="+mj-lt"/>
                </a:rPr>
                <a:t>Cn</a:t>
              </a:r>
              <a:endParaRPr lang="en-US" sz="2200" dirty="0">
                <a:latin typeface="+mj-lt"/>
              </a:endParaRPr>
            </a:p>
          </p:txBody>
        </p:sp>
        <p:cxnSp>
          <p:nvCxnSpPr>
            <p:cNvPr id="78" name="Straight Connector 77"/>
            <p:cNvCxnSpPr>
              <a:endCxn id="41" idx="7"/>
            </p:cNvCxnSpPr>
            <p:nvPr/>
          </p:nvCxnSpPr>
          <p:spPr bwMode="auto">
            <a:xfrm flipH="1" flipV="1">
              <a:off x="3834829" y="4639383"/>
              <a:ext cx="692" cy="26373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lg" len="lg"/>
              <a:tailEnd type="oval" w="med" len="med"/>
            </a:ln>
            <a:effectLst/>
          </p:spPr>
        </p:cxnSp>
      </p:grpSp>
      <p:graphicFrame>
        <p:nvGraphicFramePr>
          <p:cNvPr id="81" name="Table 80"/>
          <p:cNvGraphicFramePr>
            <a:graphicFrameLocks noGrp="1"/>
          </p:cNvGraphicFramePr>
          <p:nvPr>
            <p:extLst/>
          </p:nvPr>
        </p:nvGraphicFramePr>
        <p:xfrm>
          <a:off x="5989259" y="2668875"/>
          <a:ext cx="2874705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74941"/>
                <a:gridCol w="574941"/>
                <a:gridCol w="574941"/>
                <a:gridCol w="574941"/>
                <a:gridCol w="57494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2" name="TextBox 81"/>
          <p:cNvSpPr txBox="1"/>
          <p:nvPr/>
        </p:nvSpPr>
        <p:spPr>
          <a:xfrm>
            <a:off x="7853519" y="2682910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itchFamily="49" charset="0"/>
                <a:cs typeface="Consolas" pitchFamily="49" charset="0"/>
              </a:rPr>
              <a:t>1</a:t>
            </a:r>
            <a:endParaRPr lang="en-US" dirty="0" smtClean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7853519" y="3051637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itchFamily="49" charset="0"/>
                <a:cs typeface="Consolas" pitchFamily="49" charset="0"/>
              </a:rPr>
              <a:t>0</a:t>
            </a:r>
            <a:endParaRPr lang="en-US" dirty="0" smtClean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7853519" y="3420364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853519" y="3789092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itchFamily="49" charset="0"/>
                <a:cs typeface="Consolas" pitchFamily="49" charset="0"/>
              </a:rPr>
              <a:t>1</a:t>
            </a:r>
            <a:endParaRPr lang="en-US" dirty="0" smtClean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8397240" y="2675290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397240" y="3044017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397240" y="3412744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397240" y="3781472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itchFamily="49" charset="0"/>
                <a:cs typeface="Consolas" pitchFamily="49" charset="0"/>
              </a:rPr>
              <a:t>1</a:t>
            </a:r>
            <a:endParaRPr lang="en-US" dirty="0" smtClean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5" name="Content Placeholder 2"/>
          <p:cNvSpPr txBox="1">
            <a:spLocks/>
          </p:cNvSpPr>
          <p:nvPr/>
        </p:nvSpPr>
        <p:spPr bwMode="auto">
          <a:xfrm>
            <a:off x="476708" y="5272278"/>
            <a:ext cx="8228012" cy="7958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75000"/>
              </a:spcBef>
              <a:spcAft>
                <a:spcPct val="0"/>
              </a:spcAft>
              <a:defRPr sz="2400" b="0" i="0">
                <a:solidFill>
                  <a:schemeClr val="tx1"/>
                </a:solidFill>
                <a:latin typeface="Neo Sans Intel"/>
                <a:ea typeface="+mn-ea"/>
                <a:cs typeface="Neo Sans Intel"/>
              </a:defRPr>
            </a:lvl1pPr>
            <a:lvl2pPr marL="185738" indent="-184150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Font typeface="Times" pitchFamily="18" charset="0"/>
              <a:buChar char="•"/>
              <a:defRPr sz="2200" b="0" i="0">
                <a:solidFill>
                  <a:schemeClr val="tx1"/>
                </a:solidFill>
                <a:latin typeface="Neo Sans Intel"/>
                <a:cs typeface="Neo Sans Intel"/>
              </a:defRPr>
            </a:lvl2pPr>
            <a:lvl3pPr marL="414338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Neo Sans Intel" pitchFamily="34" charset="0"/>
              <a:buChar char="–"/>
              <a:defRPr sz="2000" b="0" i="0">
                <a:solidFill>
                  <a:schemeClr val="tx1"/>
                </a:solidFill>
                <a:latin typeface="Neo Sans Intel"/>
                <a:cs typeface="Neo Sans Intel"/>
              </a:defRPr>
            </a:lvl3pPr>
            <a:lvl4pPr marL="568325" indent="-1524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Neo Sans Intel" pitchFamily="34" charset="0"/>
              <a:buChar char="–"/>
              <a:defRPr sz="1800" b="0" i="0">
                <a:solidFill>
                  <a:schemeClr val="tx1"/>
                </a:solidFill>
                <a:latin typeface="Neo Sans Intel"/>
                <a:cs typeface="Neo Sans Intel"/>
              </a:defRPr>
            </a:lvl4pPr>
            <a:lvl5pPr marL="7620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800" b="0" i="0">
                <a:solidFill>
                  <a:schemeClr val="tx1"/>
                </a:solidFill>
                <a:latin typeface="Neo Sans Intel"/>
                <a:cs typeface="Neo Sans Intel"/>
              </a:defRPr>
            </a:lvl5pPr>
            <a:lvl6pPr marL="12192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16764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21336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25908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342900" indent="-342900">
              <a:buFont typeface="Arial" pitchFamily="34" charset="0"/>
              <a:buChar char="•"/>
            </a:pPr>
            <a:r>
              <a:rPr lang="en-US" dirty="0" smtClean="0">
                <a:latin typeface="+mj-lt"/>
              </a:rPr>
              <a:t>It is called a full adder</a:t>
            </a:r>
          </a:p>
          <a:p>
            <a:pPr marL="342900" indent="-342900">
              <a:buFont typeface="Arial" pitchFamily="34" charset="0"/>
              <a:buChar char="•"/>
            </a:pPr>
            <a:endParaRPr lang="en-US" dirty="0">
              <a:latin typeface="+mj-lt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646339" y="4070016"/>
            <a:ext cx="3145333" cy="1939229"/>
            <a:chOff x="4646339" y="4070016"/>
            <a:chExt cx="3145333" cy="1939229"/>
          </a:xfrm>
        </p:grpSpPr>
        <p:grpSp>
          <p:nvGrpSpPr>
            <p:cNvPr id="36" name="Group 35"/>
            <p:cNvGrpSpPr/>
            <p:nvPr/>
          </p:nvGrpSpPr>
          <p:grpSpPr>
            <a:xfrm>
              <a:off x="4646339" y="4915551"/>
              <a:ext cx="3145333" cy="1093694"/>
              <a:chOff x="1245030" y="4455457"/>
              <a:chExt cx="3145333" cy="1093694"/>
            </a:xfrm>
          </p:grpSpPr>
          <p:sp>
            <p:nvSpPr>
              <p:cNvPr id="37" name="Rectangle 36"/>
              <p:cNvSpPr/>
              <p:nvPr/>
            </p:nvSpPr>
            <p:spPr bwMode="auto">
              <a:xfrm>
                <a:off x="1999129" y="4455457"/>
                <a:ext cx="1290918" cy="1093694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3600" b="1" dirty="0" smtClean="0">
                    <a:latin typeface="+mj-lt"/>
                    <a:cs typeface="Arial" pitchFamily="34" charset="0"/>
                  </a:rPr>
                  <a:t>+</a:t>
                </a:r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1245030" y="5056094"/>
                <a:ext cx="312906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200" dirty="0">
                    <a:latin typeface="+mj-lt"/>
                  </a:rPr>
                  <a:t>y</a:t>
                </a:r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1245030" y="4518212"/>
                <a:ext cx="306494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200" dirty="0">
                    <a:latin typeface="+mj-lt"/>
                  </a:rPr>
                  <a:t>x</a:t>
                </a:r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3629642" y="4496395"/>
                <a:ext cx="668773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200" dirty="0" smtClean="0">
                    <a:latin typeface="+mj-lt"/>
                  </a:rPr>
                  <a:t>sum</a:t>
                </a:r>
                <a:endParaRPr lang="en-US" sz="2200" dirty="0">
                  <a:latin typeface="+mj-lt"/>
                </a:endParaRPr>
              </a:p>
            </p:txBody>
          </p:sp>
          <p:cxnSp>
            <p:nvCxnSpPr>
              <p:cNvPr id="43" name="Straight Connector 42"/>
              <p:cNvCxnSpPr>
                <a:stCxn id="40" idx="3"/>
              </p:cNvCxnSpPr>
              <p:nvPr/>
            </p:nvCxnSpPr>
            <p:spPr bwMode="auto">
              <a:xfrm>
                <a:off x="1551524" y="4733656"/>
                <a:ext cx="447605" cy="0"/>
              </a:xfrm>
              <a:prstGeom prst="lin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med" len="med"/>
                <a:tailEnd type="oval" w="med" len="med"/>
              </a:ln>
              <a:effectLst/>
            </p:spPr>
          </p:cxnSp>
          <p:cxnSp>
            <p:nvCxnSpPr>
              <p:cNvPr id="44" name="Straight Connector 43"/>
              <p:cNvCxnSpPr>
                <a:stCxn id="39" idx="3"/>
              </p:cNvCxnSpPr>
              <p:nvPr/>
            </p:nvCxnSpPr>
            <p:spPr bwMode="auto">
              <a:xfrm>
                <a:off x="1557936" y="5271538"/>
                <a:ext cx="441193" cy="0"/>
              </a:xfrm>
              <a:prstGeom prst="lin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med" len="med"/>
                <a:tailEnd type="oval" w="med" len="med"/>
              </a:ln>
              <a:effectLst/>
            </p:spPr>
          </p:cxnSp>
          <p:cxnSp>
            <p:nvCxnSpPr>
              <p:cNvPr id="45" name="Straight Connector 44"/>
              <p:cNvCxnSpPr/>
              <p:nvPr/>
            </p:nvCxnSpPr>
            <p:spPr bwMode="auto">
              <a:xfrm flipH="1">
                <a:off x="3291512" y="4733655"/>
                <a:ext cx="339595" cy="0"/>
              </a:xfrm>
              <a:prstGeom prst="lin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lg" len="lg"/>
                <a:tailEnd type="oval" w="med" len="med"/>
              </a:ln>
              <a:effectLst/>
            </p:spPr>
          </p:cxnSp>
          <p:sp>
            <p:nvSpPr>
              <p:cNvPr id="46" name="Rectangle 45"/>
              <p:cNvSpPr/>
              <p:nvPr/>
            </p:nvSpPr>
            <p:spPr>
              <a:xfrm>
                <a:off x="3629642" y="5034277"/>
                <a:ext cx="760721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200" dirty="0" smtClean="0">
                    <a:latin typeface="+mj-lt"/>
                  </a:rPr>
                  <a:t>carry</a:t>
                </a:r>
                <a:endParaRPr lang="en-US" sz="2200" dirty="0">
                  <a:latin typeface="+mj-lt"/>
                </a:endParaRPr>
              </a:p>
            </p:txBody>
          </p:sp>
          <p:cxnSp>
            <p:nvCxnSpPr>
              <p:cNvPr id="47" name="Straight Connector 46"/>
              <p:cNvCxnSpPr/>
              <p:nvPr/>
            </p:nvCxnSpPr>
            <p:spPr bwMode="auto">
              <a:xfrm flipH="1">
                <a:off x="3291512" y="5271537"/>
                <a:ext cx="339595" cy="0"/>
              </a:xfrm>
              <a:prstGeom prst="lin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lg" len="lg"/>
                <a:tailEnd type="oval" w="med" len="med"/>
              </a:ln>
              <a:effectLst/>
            </p:spPr>
          </p:cxnSp>
        </p:grpSp>
        <p:cxnSp>
          <p:nvCxnSpPr>
            <p:cNvPr id="48" name="Straight Connector 47"/>
            <p:cNvCxnSpPr/>
            <p:nvPr/>
          </p:nvCxnSpPr>
          <p:spPr bwMode="auto">
            <a:xfrm>
              <a:off x="6045897" y="4500903"/>
              <a:ext cx="1" cy="414504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lg" len="lg"/>
              <a:tailEnd type="oval" w="med" len="med"/>
            </a:ln>
            <a:effectLst/>
          </p:spPr>
        </p:cxnSp>
        <p:sp>
          <p:nvSpPr>
            <p:cNvPr id="49" name="Rectangle 48"/>
            <p:cNvSpPr/>
            <p:nvPr/>
          </p:nvSpPr>
          <p:spPr>
            <a:xfrm>
              <a:off x="5883032" y="4070016"/>
              <a:ext cx="303288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200" dirty="0" smtClean="0">
                  <a:latin typeface="+mj-lt"/>
                </a:rPr>
                <a:t>c</a:t>
              </a:r>
              <a:endParaRPr lang="en-US" sz="2200" dirty="0">
                <a:latin typeface="+mj-lt"/>
              </a:endParaRPr>
            </a:p>
          </p:txBody>
        </p:sp>
      </p:grpSp>
      <p:graphicFrame>
        <p:nvGraphicFramePr>
          <p:cNvPr id="50" name="Table 49"/>
          <p:cNvGraphicFramePr>
            <a:graphicFrameLocks noGrp="1"/>
          </p:cNvGraphicFramePr>
          <p:nvPr>
            <p:extLst/>
          </p:nvPr>
        </p:nvGraphicFramePr>
        <p:xfrm>
          <a:off x="5988244" y="812661"/>
          <a:ext cx="287470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4941"/>
                <a:gridCol w="574941"/>
                <a:gridCol w="574941"/>
                <a:gridCol w="574941"/>
                <a:gridCol w="57494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x</a:t>
                      </a:r>
                      <a:r>
                        <a:rPr lang="en-US" sz="1400" dirty="0" err="1" smtClean="0"/>
                        <a:t>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 smtClean="0"/>
                        <a:t>y</a:t>
                      </a:r>
                      <a:r>
                        <a:rPr lang="en-US" sz="1400" dirty="0" err="1" smtClean="0"/>
                        <a:t>n</a:t>
                      </a:r>
                      <a:endParaRPr 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c</a:t>
                      </a:r>
                      <a:r>
                        <a:rPr lang="en-US" sz="1400" dirty="0" smtClean="0"/>
                        <a:t>n-1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/>
                        <a:t>s</a:t>
                      </a:r>
                      <a:r>
                        <a:rPr lang="en-US" sz="1400" dirty="0" err="1" smtClean="0"/>
                        <a:t>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c</a:t>
                      </a:r>
                      <a:r>
                        <a:rPr lang="en-US" sz="1400" dirty="0" err="1" smtClean="0"/>
                        <a:t>n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7852504" y="1206696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itchFamily="49" charset="0"/>
                <a:cs typeface="Consolas" pitchFamily="49" charset="0"/>
              </a:rPr>
              <a:t>0</a:t>
            </a:r>
            <a:endParaRPr lang="en-US" dirty="0" smtClean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852504" y="1575423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itchFamily="49" charset="0"/>
                <a:cs typeface="Consolas" pitchFamily="49" charset="0"/>
              </a:rPr>
              <a:t>1</a:t>
            </a:r>
            <a:endParaRPr lang="en-US" dirty="0" smtClean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852504" y="1944150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itchFamily="49" charset="0"/>
                <a:cs typeface="Consolas" pitchFamily="49" charset="0"/>
              </a:rPr>
              <a:t>1</a:t>
            </a:r>
            <a:endParaRPr lang="en-US" dirty="0" smtClean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852504" y="2312878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itchFamily="49" charset="0"/>
                <a:cs typeface="Consolas" pitchFamily="49" charset="0"/>
              </a:rPr>
              <a:t>0</a:t>
            </a:r>
            <a:endParaRPr lang="en-US" dirty="0" smtClean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396225" y="1199076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96225" y="1567803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itchFamily="49" charset="0"/>
                <a:cs typeface="Consolas" pitchFamily="49" charset="0"/>
              </a:rPr>
              <a:t>0</a:t>
            </a:r>
            <a:endParaRPr lang="en-US" dirty="0" smtClean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396225" y="1936530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itchFamily="49" charset="0"/>
                <a:cs typeface="Consolas" pitchFamily="49" charset="0"/>
              </a:rPr>
              <a:t>0</a:t>
            </a:r>
            <a:endParaRPr lang="en-US" dirty="0" smtClean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396225" y="2305258"/>
            <a:ext cx="3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itchFamily="49" charset="0"/>
                <a:cs typeface="Consolas" pitchFamily="49" charset="0"/>
              </a:rPr>
              <a:t>1</a:t>
            </a:r>
            <a:endParaRPr lang="en-US" dirty="0" smtClean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0" name="Content Placeholder 2"/>
          <p:cNvSpPr txBox="1">
            <a:spLocks/>
          </p:cNvSpPr>
          <p:nvPr/>
        </p:nvSpPr>
        <p:spPr bwMode="auto">
          <a:xfrm>
            <a:off x="420889" y="866510"/>
            <a:ext cx="8228012" cy="7958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75000"/>
              </a:spcBef>
              <a:spcAft>
                <a:spcPct val="0"/>
              </a:spcAft>
              <a:defRPr sz="2400" b="0" i="0">
                <a:solidFill>
                  <a:schemeClr val="tx1"/>
                </a:solidFill>
                <a:latin typeface="Neo Sans Intel"/>
                <a:ea typeface="+mn-ea"/>
                <a:cs typeface="Neo Sans Intel"/>
              </a:defRPr>
            </a:lvl1pPr>
            <a:lvl2pPr marL="185738" indent="-184150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Font typeface="Times" pitchFamily="18" charset="0"/>
              <a:buChar char="•"/>
              <a:defRPr sz="2200" b="0" i="0">
                <a:solidFill>
                  <a:schemeClr val="tx1"/>
                </a:solidFill>
                <a:latin typeface="Neo Sans Intel"/>
                <a:cs typeface="Neo Sans Intel"/>
              </a:defRPr>
            </a:lvl2pPr>
            <a:lvl3pPr marL="414338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Neo Sans Intel" pitchFamily="34" charset="0"/>
              <a:buChar char="–"/>
              <a:defRPr sz="2000" b="0" i="0">
                <a:solidFill>
                  <a:schemeClr val="tx1"/>
                </a:solidFill>
                <a:latin typeface="Neo Sans Intel"/>
                <a:cs typeface="Neo Sans Intel"/>
              </a:defRPr>
            </a:lvl3pPr>
            <a:lvl4pPr marL="568325" indent="-1524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Neo Sans Intel" pitchFamily="34" charset="0"/>
              <a:buChar char="–"/>
              <a:defRPr sz="1800" b="0" i="0">
                <a:solidFill>
                  <a:schemeClr val="tx1"/>
                </a:solidFill>
                <a:latin typeface="Neo Sans Intel"/>
                <a:cs typeface="Neo Sans Intel"/>
              </a:defRPr>
            </a:lvl4pPr>
            <a:lvl5pPr marL="7620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800" b="0" i="0">
                <a:solidFill>
                  <a:schemeClr val="tx1"/>
                </a:solidFill>
                <a:latin typeface="Neo Sans Intel"/>
                <a:cs typeface="Neo Sans Intel"/>
              </a:defRPr>
            </a:lvl5pPr>
            <a:lvl6pPr marL="12192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16764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21336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25908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342900" indent="-342900">
              <a:buFont typeface="Arial" pitchFamily="34" charset="0"/>
              <a:buChar char="•"/>
            </a:pPr>
            <a:r>
              <a:rPr lang="en-US" dirty="0" smtClean="0">
                <a:latin typeface="+mj-lt"/>
              </a:rPr>
              <a:t>We add input carry here</a:t>
            </a:r>
          </a:p>
          <a:p>
            <a:pPr marL="342900" indent="-342900">
              <a:buFont typeface="Arial" pitchFamily="34" charset="0"/>
              <a:buChar char="•"/>
            </a:pPr>
            <a:endParaRPr lang="en-US" dirty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04739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35" grpId="0"/>
      <p:bldP spid="60" grpId="0"/>
    </p:bldLst>
  </p:timing>
  <p:extLst mod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Wide adder</a:t>
            </a:r>
            <a:endParaRPr lang="en-US" dirty="0"/>
          </a:p>
        </p:txBody>
      </p:sp>
      <p:sp>
        <p:nvSpPr>
          <p:cNvPr id="4" name="Rectangle 4"/>
          <p:cNvSpPr/>
          <p:nvPr/>
        </p:nvSpPr>
        <p:spPr bwMode="auto">
          <a:xfrm rot="5400000">
            <a:off x="5819769" y="2837349"/>
            <a:ext cx="1176638" cy="1041399"/>
          </a:xfrm>
          <a:custGeom>
            <a:avLst/>
            <a:gdLst>
              <a:gd name="connsiteX0" fmla="*/ 0 w 1290918"/>
              <a:gd name="connsiteY0" fmla="*/ 0 h 1093694"/>
              <a:gd name="connsiteX1" fmla="*/ 1290918 w 1290918"/>
              <a:gd name="connsiteY1" fmla="*/ 0 h 1093694"/>
              <a:gd name="connsiteX2" fmla="*/ 1290918 w 1290918"/>
              <a:gd name="connsiteY2" fmla="*/ 1093694 h 1093694"/>
              <a:gd name="connsiteX3" fmla="*/ 0 w 1290918"/>
              <a:gd name="connsiteY3" fmla="*/ 1093694 h 1093694"/>
              <a:gd name="connsiteX4" fmla="*/ 0 w 1290918"/>
              <a:gd name="connsiteY4" fmla="*/ 0 h 1093694"/>
              <a:gd name="connsiteX0" fmla="*/ 0 w 1290918"/>
              <a:gd name="connsiteY0" fmla="*/ 0 h 1097280"/>
              <a:gd name="connsiteX1" fmla="*/ 1290918 w 1290918"/>
              <a:gd name="connsiteY1" fmla="*/ 0 h 1097280"/>
              <a:gd name="connsiteX2" fmla="*/ 1290918 w 1290918"/>
              <a:gd name="connsiteY2" fmla="*/ 1093694 h 1097280"/>
              <a:gd name="connsiteX3" fmla="*/ 662785 w 1290918"/>
              <a:gd name="connsiteY3" fmla="*/ 1097280 h 1097280"/>
              <a:gd name="connsiteX4" fmla="*/ 0 w 1290918"/>
              <a:gd name="connsiteY4" fmla="*/ 1093694 h 1097280"/>
              <a:gd name="connsiteX5" fmla="*/ 0 w 1290918"/>
              <a:gd name="connsiteY5" fmla="*/ 0 h 1097280"/>
              <a:gd name="connsiteX0" fmla="*/ 0 w 1290918"/>
              <a:gd name="connsiteY0" fmla="*/ 0 h 1097280"/>
              <a:gd name="connsiteX1" fmla="*/ 1290918 w 1290918"/>
              <a:gd name="connsiteY1" fmla="*/ 0 h 1097280"/>
              <a:gd name="connsiteX2" fmla="*/ 1283053 w 1290918"/>
              <a:gd name="connsiteY2" fmla="*/ 551688 h 1097280"/>
              <a:gd name="connsiteX3" fmla="*/ 1290918 w 1290918"/>
              <a:gd name="connsiteY3" fmla="*/ 1093694 h 1097280"/>
              <a:gd name="connsiteX4" fmla="*/ 662785 w 1290918"/>
              <a:gd name="connsiteY4" fmla="*/ 1097280 h 1097280"/>
              <a:gd name="connsiteX5" fmla="*/ 0 w 1290918"/>
              <a:gd name="connsiteY5" fmla="*/ 1093694 h 1097280"/>
              <a:gd name="connsiteX6" fmla="*/ 0 w 1290918"/>
              <a:gd name="connsiteY6" fmla="*/ 0 h 1097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90918" h="1097280">
                <a:moveTo>
                  <a:pt x="0" y="0"/>
                </a:moveTo>
                <a:lnTo>
                  <a:pt x="1290918" y="0"/>
                </a:lnTo>
                <a:lnTo>
                  <a:pt x="1283053" y="551688"/>
                </a:lnTo>
                <a:lnTo>
                  <a:pt x="1290918" y="1093694"/>
                </a:lnTo>
                <a:lnTo>
                  <a:pt x="662785" y="1097280"/>
                </a:lnTo>
                <a:lnTo>
                  <a:pt x="0" y="109369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solidFill>
              <a:schemeClr val="bg2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3600" b="1" dirty="0" smtClean="0">
                <a:latin typeface="+mj-lt"/>
                <a:cs typeface="Arial" pitchFamily="34" charset="0"/>
              </a:rPr>
              <a:t>+</a:t>
            </a:r>
          </a:p>
        </p:txBody>
      </p:sp>
      <p:sp>
        <p:nvSpPr>
          <p:cNvPr id="5" name="Rectangle 4"/>
          <p:cNvSpPr/>
          <p:nvPr/>
        </p:nvSpPr>
        <p:spPr>
          <a:xfrm>
            <a:off x="5933141" y="2077099"/>
            <a:ext cx="42030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 err="1" smtClean="0">
                <a:latin typeface="+mj-lt"/>
              </a:rPr>
              <a:t>y</a:t>
            </a:r>
            <a:r>
              <a:rPr lang="en-US" sz="1600" dirty="0" err="1" smtClean="0">
                <a:latin typeface="+mj-lt"/>
              </a:rPr>
              <a:t>n</a:t>
            </a:r>
            <a:endParaRPr lang="en-US" sz="1600" dirty="0"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46837" y="2073893"/>
            <a:ext cx="41389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 err="1" smtClean="0">
                <a:latin typeface="+mj-lt"/>
              </a:rPr>
              <a:t>x</a:t>
            </a:r>
            <a:r>
              <a:rPr lang="en-US" sz="1600" dirty="0" err="1" smtClean="0">
                <a:latin typeface="+mj-lt"/>
              </a:rPr>
              <a:t>n</a:t>
            </a:r>
            <a:endParaRPr lang="en-US" sz="1600" dirty="0">
              <a:latin typeface="+mj-lt"/>
            </a:endParaRPr>
          </a:p>
        </p:txBody>
      </p:sp>
      <p:cxnSp>
        <p:nvCxnSpPr>
          <p:cNvPr id="7" name="Straight Connector 6"/>
          <p:cNvCxnSpPr>
            <a:stCxn id="6" idx="2"/>
          </p:cNvCxnSpPr>
          <p:nvPr/>
        </p:nvCxnSpPr>
        <p:spPr bwMode="auto">
          <a:xfrm>
            <a:off x="6653785" y="2504780"/>
            <a:ext cx="10970" cy="264951"/>
          </a:xfrm>
          <a:prstGeom prst="line">
            <a:avLst/>
          </a:prstGeom>
          <a:solidFill>
            <a:schemeClr val="bg1"/>
          </a:solidFill>
          <a:ln w="28575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med" len="med"/>
            <a:tailEnd type="oval" w="med" len="med"/>
          </a:ln>
          <a:effectLst/>
        </p:spPr>
      </p:cxnSp>
      <p:cxnSp>
        <p:nvCxnSpPr>
          <p:cNvPr id="8" name="Straight Connector 7"/>
          <p:cNvCxnSpPr>
            <a:stCxn id="5" idx="2"/>
          </p:cNvCxnSpPr>
          <p:nvPr/>
        </p:nvCxnSpPr>
        <p:spPr bwMode="auto">
          <a:xfrm>
            <a:off x="6143295" y="2507986"/>
            <a:ext cx="10972" cy="261745"/>
          </a:xfrm>
          <a:prstGeom prst="line">
            <a:avLst/>
          </a:prstGeom>
          <a:solidFill>
            <a:schemeClr val="bg1"/>
          </a:solidFill>
          <a:ln w="28575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med" len="med"/>
            <a:tailEnd type="oval" w="med" len="med"/>
          </a:ln>
          <a:effectLst/>
        </p:spPr>
      </p:cxnSp>
      <p:sp>
        <p:nvSpPr>
          <p:cNvPr id="9" name="Rectangle 4"/>
          <p:cNvSpPr/>
          <p:nvPr/>
        </p:nvSpPr>
        <p:spPr bwMode="auto">
          <a:xfrm rot="5400000">
            <a:off x="4242429" y="2837350"/>
            <a:ext cx="1176638" cy="1041399"/>
          </a:xfrm>
          <a:custGeom>
            <a:avLst/>
            <a:gdLst>
              <a:gd name="connsiteX0" fmla="*/ 0 w 1290918"/>
              <a:gd name="connsiteY0" fmla="*/ 0 h 1093694"/>
              <a:gd name="connsiteX1" fmla="*/ 1290918 w 1290918"/>
              <a:gd name="connsiteY1" fmla="*/ 0 h 1093694"/>
              <a:gd name="connsiteX2" fmla="*/ 1290918 w 1290918"/>
              <a:gd name="connsiteY2" fmla="*/ 1093694 h 1093694"/>
              <a:gd name="connsiteX3" fmla="*/ 0 w 1290918"/>
              <a:gd name="connsiteY3" fmla="*/ 1093694 h 1093694"/>
              <a:gd name="connsiteX4" fmla="*/ 0 w 1290918"/>
              <a:gd name="connsiteY4" fmla="*/ 0 h 1093694"/>
              <a:gd name="connsiteX0" fmla="*/ 0 w 1290918"/>
              <a:gd name="connsiteY0" fmla="*/ 0 h 1097280"/>
              <a:gd name="connsiteX1" fmla="*/ 1290918 w 1290918"/>
              <a:gd name="connsiteY1" fmla="*/ 0 h 1097280"/>
              <a:gd name="connsiteX2" fmla="*/ 1290918 w 1290918"/>
              <a:gd name="connsiteY2" fmla="*/ 1093694 h 1097280"/>
              <a:gd name="connsiteX3" fmla="*/ 662785 w 1290918"/>
              <a:gd name="connsiteY3" fmla="*/ 1097280 h 1097280"/>
              <a:gd name="connsiteX4" fmla="*/ 0 w 1290918"/>
              <a:gd name="connsiteY4" fmla="*/ 1093694 h 1097280"/>
              <a:gd name="connsiteX5" fmla="*/ 0 w 1290918"/>
              <a:gd name="connsiteY5" fmla="*/ 0 h 1097280"/>
              <a:gd name="connsiteX0" fmla="*/ 0 w 1290918"/>
              <a:gd name="connsiteY0" fmla="*/ 0 h 1097280"/>
              <a:gd name="connsiteX1" fmla="*/ 1290918 w 1290918"/>
              <a:gd name="connsiteY1" fmla="*/ 0 h 1097280"/>
              <a:gd name="connsiteX2" fmla="*/ 1283053 w 1290918"/>
              <a:gd name="connsiteY2" fmla="*/ 551688 h 1097280"/>
              <a:gd name="connsiteX3" fmla="*/ 1290918 w 1290918"/>
              <a:gd name="connsiteY3" fmla="*/ 1093694 h 1097280"/>
              <a:gd name="connsiteX4" fmla="*/ 662785 w 1290918"/>
              <a:gd name="connsiteY4" fmla="*/ 1097280 h 1097280"/>
              <a:gd name="connsiteX5" fmla="*/ 0 w 1290918"/>
              <a:gd name="connsiteY5" fmla="*/ 1093694 h 1097280"/>
              <a:gd name="connsiteX6" fmla="*/ 0 w 1290918"/>
              <a:gd name="connsiteY6" fmla="*/ 0 h 1097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90918" h="1097280">
                <a:moveTo>
                  <a:pt x="0" y="0"/>
                </a:moveTo>
                <a:lnTo>
                  <a:pt x="1290918" y="0"/>
                </a:lnTo>
                <a:lnTo>
                  <a:pt x="1283053" y="551688"/>
                </a:lnTo>
                <a:lnTo>
                  <a:pt x="1290918" y="1093694"/>
                </a:lnTo>
                <a:lnTo>
                  <a:pt x="662785" y="1097280"/>
                </a:lnTo>
                <a:lnTo>
                  <a:pt x="0" y="109369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solidFill>
              <a:schemeClr val="bg2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3600" b="1" dirty="0" smtClean="0">
                <a:latin typeface="+mj-lt"/>
                <a:cs typeface="Arial" pitchFamily="34" charset="0"/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4013" y="1920194"/>
            <a:ext cx="72106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+mj-lt"/>
              </a:rPr>
              <a:t>y</a:t>
            </a:r>
            <a:r>
              <a:rPr lang="en-US" sz="1600" dirty="0" smtClean="0">
                <a:latin typeface="+mj-lt"/>
              </a:rPr>
              <a:t>n+1</a:t>
            </a:r>
            <a:endParaRPr lang="en-US" sz="1600" dirty="0">
              <a:latin typeface="+mj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723531" y="1920194"/>
            <a:ext cx="72106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+mj-lt"/>
              </a:rPr>
              <a:t>x</a:t>
            </a:r>
            <a:r>
              <a:rPr lang="en-US" sz="1600" dirty="0" smtClean="0">
                <a:latin typeface="+mj-lt"/>
              </a:rPr>
              <a:t>n+1</a:t>
            </a:r>
            <a:endParaRPr lang="en-US" sz="1600" dirty="0">
              <a:latin typeface="+mj-lt"/>
            </a:endParaRPr>
          </a:p>
        </p:txBody>
      </p:sp>
      <p:cxnSp>
        <p:nvCxnSpPr>
          <p:cNvPr id="12" name="Straight Connector 11"/>
          <p:cNvCxnSpPr>
            <a:stCxn id="11" idx="2"/>
          </p:cNvCxnSpPr>
          <p:nvPr/>
        </p:nvCxnSpPr>
        <p:spPr bwMode="auto">
          <a:xfrm>
            <a:off x="5084066" y="2351081"/>
            <a:ext cx="0" cy="418651"/>
          </a:xfrm>
          <a:prstGeom prst="line">
            <a:avLst/>
          </a:prstGeom>
          <a:solidFill>
            <a:schemeClr val="bg1"/>
          </a:solidFill>
          <a:ln w="28575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med" len="med"/>
            <a:tailEnd type="oval" w="med" len="med"/>
          </a:ln>
          <a:effectLst/>
        </p:spPr>
      </p:cxnSp>
      <p:cxnSp>
        <p:nvCxnSpPr>
          <p:cNvPr id="13" name="Straight Connector 12"/>
          <p:cNvCxnSpPr>
            <a:stCxn id="10" idx="2"/>
          </p:cNvCxnSpPr>
          <p:nvPr/>
        </p:nvCxnSpPr>
        <p:spPr bwMode="auto">
          <a:xfrm>
            <a:off x="4584548" y="2351081"/>
            <a:ext cx="10972" cy="418651"/>
          </a:xfrm>
          <a:prstGeom prst="line">
            <a:avLst/>
          </a:prstGeom>
          <a:solidFill>
            <a:schemeClr val="bg1"/>
          </a:solidFill>
          <a:ln w="28575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med" len="med"/>
            <a:tailEnd type="oval" w="med" len="med"/>
          </a:ln>
          <a:effectLst/>
        </p:spPr>
      </p:cxnSp>
      <p:sp>
        <p:nvSpPr>
          <p:cNvPr id="21" name="Rectangle 20"/>
          <p:cNvSpPr/>
          <p:nvPr/>
        </p:nvSpPr>
        <p:spPr>
          <a:xfrm>
            <a:off x="6928788" y="3404350"/>
            <a:ext cx="54373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 smtClean="0">
                <a:latin typeface="+mj-lt"/>
              </a:rPr>
              <a:t>c</a:t>
            </a:r>
            <a:r>
              <a:rPr lang="en-US" sz="1400" dirty="0" smtClean="0">
                <a:latin typeface="+mj-lt"/>
              </a:rPr>
              <a:t>n-1</a:t>
            </a:r>
            <a:endParaRPr lang="en-US" sz="1400" dirty="0">
              <a:latin typeface="+mj-lt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419516" y="3410702"/>
            <a:ext cx="40107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 err="1" smtClean="0">
                <a:latin typeface="+mj-lt"/>
              </a:rPr>
              <a:t>c</a:t>
            </a:r>
            <a:r>
              <a:rPr lang="en-US" sz="1400" dirty="0" err="1" smtClean="0">
                <a:latin typeface="+mj-lt"/>
              </a:rPr>
              <a:t>n</a:t>
            </a:r>
            <a:endParaRPr lang="en-US" sz="1400" dirty="0">
              <a:latin typeface="+mj-lt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700006" y="3507291"/>
            <a:ext cx="57900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 smtClean="0">
                <a:latin typeface="+mj-lt"/>
              </a:rPr>
              <a:t>c</a:t>
            </a:r>
            <a:r>
              <a:rPr lang="en-US" sz="1400" dirty="0" smtClean="0">
                <a:latin typeface="+mj-lt"/>
              </a:rPr>
              <a:t>n</a:t>
            </a:r>
            <a:r>
              <a:rPr lang="en-US" sz="1400" dirty="0">
                <a:latin typeface="+mj-lt"/>
              </a:rPr>
              <a:t>+</a:t>
            </a:r>
            <a:r>
              <a:rPr lang="en-US" sz="1400" dirty="0" smtClean="0">
                <a:latin typeface="+mj-lt"/>
              </a:rPr>
              <a:t>1</a:t>
            </a:r>
            <a:endParaRPr lang="en-US" sz="1400" dirty="0">
              <a:latin typeface="+mj-lt"/>
            </a:endParaRPr>
          </a:p>
        </p:txBody>
      </p:sp>
      <p:cxnSp>
        <p:nvCxnSpPr>
          <p:cNvPr id="25" name="Straight Connector 24"/>
          <p:cNvCxnSpPr/>
          <p:nvPr/>
        </p:nvCxnSpPr>
        <p:spPr bwMode="auto">
          <a:xfrm rot="5400000">
            <a:off x="7126908" y="3159930"/>
            <a:ext cx="0" cy="396240"/>
          </a:xfrm>
          <a:prstGeom prst="line">
            <a:avLst/>
          </a:prstGeom>
          <a:solidFill>
            <a:schemeClr val="bg1"/>
          </a:solidFill>
          <a:ln w="28575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med" len="med"/>
            <a:tailEnd type="oval" w="med" len="med"/>
          </a:ln>
          <a:effectLst/>
        </p:spPr>
      </p:cxnSp>
      <p:cxnSp>
        <p:nvCxnSpPr>
          <p:cNvPr id="27" name="Straight Connector 26"/>
          <p:cNvCxnSpPr>
            <a:stCxn id="4" idx="2"/>
          </p:cNvCxnSpPr>
          <p:nvPr/>
        </p:nvCxnSpPr>
        <p:spPr bwMode="auto">
          <a:xfrm rot="5400000" flipV="1">
            <a:off x="6197100" y="4147294"/>
            <a:ext cx="419084" cy="2893"/>
          </a:xfrm>
          <a:prstGeom prst="line">
            <a:avLst/>
          </a:prstGeom>
          <a:solidFill>
            <a:schemeClr val="bg1"/>
          </a:solidFill>
          <a:ln w="28575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cxnSp>
        <p:nvCxnSpPr>
          <p:cNvPr id="28" name="Straight Connector 27"/>
          <p:cNvCxnSpPr/>
          <p:nvPr/>
        </p:nvCxnSpPr>
        <p:spPr bwMode="auto">
          <a:xfrm rot="5400000">
            <a:off x="5619418" y="3090079"/>
            <a:ext cx="0" cy="535941"/>
          </a:xfrm>
          <a:prstGeom prst="line">
            <a:avLst/>
          </a:prstGeom>
          <a:solidFill>
            <a:schemeClr val="bg1"/>
          </a:solidFill>
          <a:ln w="28575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oval" w="med" len="med"/>
            <a:tailEnd type="oval" w="med" len="med"/>
          </a:ln>
          <a:effectLst/>
        </p:spPr>
      </p:cxnSp>
      <p:cxnSp>
        <p:nvCxnSpPr>
          <p:cNvPr id="30" name="Straight Connector 29"/>
          <p:cNvCxnSpPr/>
          <p:nvPr/>
        </p:nvCxnSpPr>
        <p:spPr bwMode="auto">
          <a:xfrm rot="5400000">
            <a:off x="4042035" y="3095686"/>
            <a:ext cx="0" cy="535941"/>
          </a:xfrm>
          <a:prstGeom prst="line">
            <a:avLst/>
          </a:prstGeom>
          <a:solidFill>
            <a:schemeClr val="bg1"/>
          </a:solidFill>
          <a:ln w="28575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cxnSp>
        <p:nvCxnSpPr>
          <p:cNvPr id="31" name="Straight Connector 30"/>
          <p:cNvCxnSpPr/>
          <p:nvPr/>
        </p:nvCxnSpPr>
        <p:spPr bwMode="auto">
          <a:xfrm rot="5400000" flipV="1">
            <a:off x="4609601" y="4154464"/>
            <a:ext cx="419084" cy="2893"/>
          </a:xfrm>
          <a:prstGeom prst="line">
            <a:avLst/>
          </a:prstGeom>
          <a:solidFill>
            <a:schemeClr val="bg1"/>
          </a:solidFill>
          <a:ln w="28575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32" name="Rectangle 31"/>
          <p:cNvSpPr/>
          <p:nvPr/>
        </p:nvSpPr>
        <p:spPr>
          <a:xfrm>
            <a:off x="6192887" y="4351346"/>
            <a:ext cx="40267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 err="1" smtClean="0">
                <a:latin typeface="+mj-lt"/>
              </a:rPr>
              <a:t>s</a:t>
            </a:r>
            <a:r>
              <a:rPr lang="en-US" sz="1600" dirty="0" err="1" smtClean="0">
                <a:latin typeface="+mj-lt"/>
              </a:rPr>
              <a:t>n</a:t>
            </a:r>
            <a:endParaRPr lang="en-US" sz="2200" dirty="0">
              <a:latin typeface="+mj-lt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501994" y="4447570"/>
            <a:ext cx="60946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 smtClean="0">
                <a:latin typeface="+mj-lt"/>
              </a:rPr>
              <a:t>s</a:t>
            </a:r>
            <a:r>
              <a:rPr lang="en-US" sz="1600" dirty="0" smtClean="0">
                <a:latin typeface="+mj-lt"/>
              </a:rPr>
              <a:t>n+1</a:t>
            </a:r>
            <a:endParaRPr lang="en-US" sz="2200" dirty="0">
              <a:latin typeface="+mj-lt"/>
            </a:endParaRPr>
          </a:p>
        </p:txBody>
      </p:sp>
      <p:grpSp>
        <p:nvGrpSpPr>
          <p:cNvPr id="74" name="Group 73"/>
          <p:cNvGrpSpPr/>
          <p:nvPr/>
        </p:nvGrpSpPr>
        <p:grpSpPr>
          <a:xfrm>
            <a:off x="-164195" y="2358008"/>
            <a:ext cx="4092089" cy="2014372"/>
            <a:chOff x="-157267" y="2025498"/>
            <a:chExt cx="4092089" cy="2014372"/>
          </a:xfrm>
        </p:grpSpPr>
        <p:sp>
          <p:nvSpPr>
            <p:cNvPr id="61" name="Rectangle 4"/>
            <p:cNvSpPr/>
            <p:nvPr/>
          </p:nvSpPr>
          <p:spPr bwMode="auto">
            <a:xfrm rot="5400000">
              <a:off x="2429563" y="2511766"/>
              <a:ext cx="1176638" cy="1041399"/>
            </a:xfrm>
            <a:custGeom>
              <a:avLst/>
              <a:gdLst>
                <a:gd name="connsiteX0" fmla="*/ 0 w 1290918"/>
                <a:gd name="connsiteY0" fmla="*/ 0 h 1093694"/>
                <a:gd name="connsiteX1" fmla="*/ 1290918 w 1290918"/>
                <a:gd name="connsiteY1" fmla="*/ 0 h 1093694"/>
                <a:gd name="connsiteX2" fmla="*/ 1290918 w 1290918"/>
                <a:gd name="connsiteY2" fmla="*/ 1093694 h 1093694"/>
                <a:gd name="connsiteX3" fmla="*/ 0 w 1290918"/>
                <a:gd name="connsiteY3" fmla="*/ 1093694 h 1093694"/>
                <a:gd name="connsiteX4" fmla="*/ 0 w 1290918"/>
                <a:gd name="connsiteY4" fmla="*/ 0 h 1093694"/>
                <a:gd name="connsiteX0" fmla="*/ 0 w 1290918"/>
                <a:gd name="connsiteY0" fmla="*/ 0 h 1097280"/>
                <a:gd name="connsiteX1" fmla="*/ 1290918 w 1290918"/>
                <a:gd name="connsiteY1" fmla="*/ 0 h 1097280"/>
                <a:gd name="connsiteX2" fmla="*/ 1290918 w 1290918"/>
                <a:gd name="connsiteY2" fmla="*/ 1093694 h 1097280"/>
                <a:gd name="connsiteX3" fmla="*/ 662785 w 1290918"/>
                <a:gd name="connsiteY3" fmla="*/ 1097280 h 1097280"/>
                <a:gd name="connsiteX4" fmla="*/ 0 w 1290918"/>
                <a:gd name="connsiteY4" fmla="*/ 1093694 h 1097280"/>
                <a:gd name="connsiteX5" fmla="*/ 0 w 1290918"/>
                <a:gd name="connsiteY5" fmla="*/ 0 h 1097280"/>
                <a:gd name="connsiteX0" fmla="*/ 0 w 1290918"/>
                <a:gd name="connsiteY0" fmla="*/ 0 h 1097280"/>
                <a:gd name="connsiteX1" fmla="*/ 1290918 w 1290918"/>
                <a:gd name="connsiteY1" fmla="*/ 0 h 1097280"/>
                <a:gd name="connsiteX2" fmla="*/ 1283053 w 1290918"/>
                <a:gd name="connsiteY2" fmla="*/ 551688 h 1097280"/>
                <a:gd name="connsiteX3" fmla="*/ 1290918 w 1290918"/>
                <a:gd name="connsiteY3" fmla="*/ 1093694 h 1097280"/>
                <a:gd name="connsiteX4" fmla="*/ 662785 w 1290918"/>
                <a:gd name="connsiteY4" fmla="*/ 1097280 h 1097280"/>
                <a:gd name="connsiteX5" fmla="*/ 0 w 1290918"/>
                <a:gd name="connsiteY5" fmla="*/ 1093694 h 1097280"/>
                <a:gd name="connsiteX6" fmla="*/ 0 w 1290918"/>
                <a:gd name="connsiteY6" fmla="*/ 0 h 109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90918" h="1097280">
                  <a:moveTo>
                    <a:pt x="0" y="0"/>
                  </a:moveTo>
                  <a:lnTo>
                    <a:pt x="1290918" y="0"/>
                  </a:lnTo>
                  <a:lnTo>
                    <a:pt x="1283053" y="551688"/>
                  </a:lnTo>
                  <a:lnTo>
                    <a:pt x="1290918" y="1093694"/>
                  </a:lnTo>
                  <a:lnTo>
                    <a:pt x="662785" y="1097280"/>
                  </a:lnTo>
                  <a:lnTo>
                    <a:pt x="0" y="10936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3600" b="1" dirty="0" smtClean="0">
                  <a:latin typeface="+mj-lt"/>
                  <a:cs typeface="Arial" pitchFamily="34" charset="0"/>
                </a:rPr>
                <a:t>+</a:t>
              </a:r>
            </a:p>
          </p:txBody>
        </p:sp>
        <p:cxnSp>
          <p:nvCxnSpPr>
            <p:cNvPr id="62" name="Straight Connector 61"/>
            <p:cNvCxnSpPr/>
            <p:nvPr/>
          </p:nvCxnSpPr>
          <p:spPr bwMode="auto">
            <a:xfrm>
              <a:off x="3263579" y="2179197"/>
              <a:ext cx="10970" cy="264951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63" name="Straight Connector 62"/>
            <p:cNvCxnSpPr/>
            <p:nvPr/>
          </p:nvCxnSpPr>
          <p:spPr bwMode="auto">
            <a:xfrm>
              <a:off x="2753089" y="2182403"/>
              <a:ext cx="10972" cy="261745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sp>
          <p:nvSpPr>
            <p:cNvPr id="64" name="Rectangle 4"/>
            <p:cNvSpPr/>
            <p:nvPr/>
          </p:nvSpPr>
          <p:spPr bwMode="auto">
            <a:xfrm rot="5400000">
              <a:off x="852223" y="2511767"/>
              <a:ext cx="1176638" cy="1041399"/>
            </a:xfrm>
            <a:custGeom>
              <a:avLst/>
              <a:gdLst>
                <a:gd name="connsiteX0" fmla="*/ 0 w 1290918"/>
                <a:gd name="connsiteY0" fmla="*/ 0 h 1093694"/>
                <a:gd name="connsiteX1" fmla="*/ 1290918 w 1290918"/>
                <a:gd name="connsiteY1" fmla="*/ 0 h 1093694"/>
                <a:gd name="connsiteX2" fmla="*/ 1290918 w 1290918"/>
                <a:gd name="connsiteY2" fmla="*/ 1093694 h 1093694"/>
                <a:gd name="connsiteX3" fmla="*/ 0 w 1290918"/>
                <a:gd name="connsiteY3" fmla="*/ 1093694 h 1093694"/>
                <a:gd name="connsiteX4" fmla="*/ 0 w 1290918"/>
                <a:gd name="connsiteY4" fmla="*/ 0 h 1093694"/>
                <a:gd name="connsiteX0" fmla="*/ 0 w 1290918"/>
                <a:gd name="connsiteY0" fmla="*/ 0 h 1097280"/>
                <a:gd name="connsiteX1" fmla="*/ 1290918 w 1290918"/>
                <a:gd name="connsiteY1" fmla="*/ 0 h 1097280"/>
                <a:gd name="connsiteX2" fmla="*/ 1290918 w 1290918"/>
                <a:gd name="connsiteY2" fmla="*/ 1093694 h 1097280"/>
                <a:gd name="connsiteX3" fmla="*/ 662785 w 1290918"/>
                <a:gd name="connsiteY3" fmla="*/ 1097280 h 1097280"/>
                <a:gd name="connsiteX4" fmla="*/ 0 w 1290918"/>
                <a:gd name="connsiteY4" fmla="*/ 1093694 h 1097280"/>
                <a:gd name="connsiteX5" fmla="*/ 0 w 1290918"/>
                <a:gd name="connsiteY5" fmla="*/ 0 h 1097280"/>
                <a:gd name="connsiteX0" fmla="*/ 0 w 1290918"/>
                <a:gd name="connsiteY0" fmla="*/ 0 h 1097280"/>
                <a:gd name="connsiteX1" fmla="*/ 1290918 w 1290918"/>
                <a:gd name="connsiteY1" fmla="*/ 0 h 1097280"/>
                <a:gd name="connsiteX2" fmla="*/ 1283053 w 1290918"/>
                <a:gd name="connsiteY2" fmla="*/ 551688 h 1097280"/>
                <a:gd name="connsiteX3" fmla="*/ 1290918 w 1290918"/>
                <a:gd name="connsiteY3" fmla="*/ 1093694 h 1097280"/>
                <a:gd name="connsiteX4" fmla="*/ 662785 w 1290918"/>
                <a:gd name="connsiteY4" fmla="*/ 1097280 h 1097280"/>
                <a:gd name="connsiteX5" fmla="*/ 0 w 1290918"/>
                <a:gd name="connsiteY5" fmla="*/ 1093694 h 1097280"/>
                <a:gd name="connsiteX6" fmla="*/ 0 w 1290918"/>
                <a:gd name="connsiteY6" fmla="*/ 0 h 109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90918" h="1097280">
                  <a:moveTo>
                    <a:pt x="0" y="0"/>
                  </a:moveTo>
                  <a:lnTo>
                    <a:pt x="1290918" y="0"/>
                  </a:lnTo>
                  <a:lnTo>
                    <a:pt x="1283053" y="551688"/>
                  </a:lnTo>
                  <a:lnTo>
                    <a:pt x="1290918" y="1093694"/>
                  </a:lnTo>
                  <a:lnTo>
                    <a:pt x="662785" y="1097280"/>
                  </a:lnTo>
                  <a:lnTo>
                    <a:pt x="0" y="10936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3600" b="1" dirty="0" smtClean="0">
                  <a:latin typeface="+mj-lt"/>
                  <a:cs typeface="Arial" pitchFamily="34" charset="0"/>
                </a:rPr>
                <a:t>+</a:t>
              </a:r>
            </a:p>
          </p:txBody>
        </p:sp>
        <p:cxnSp>
          <p:nvCxnSpPr>
            <p:cNvPr id="65" name="Straight Connector 64"/>
            <p:cNvCxnSpPr/>
            <p:nvPr/>
          </p:nvCxnSpPr>
          <p:spPr bwMode="auto">
            <a:xfrm>
              <a:off x="1693860" y="2025498"/>
              <a:ext cx="0" cy="418651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66" name="Straight Connector 65"/>
            <p:cNvCxnSpPr/>
            <p:nvPr/>
          </p:nvCxnSpPr>
          <p:spPr bwMode="auto">
            <a:xfrm>
              <a:off x="1194342" y="2025498"/>
              <a:ext cx="10972" cy="418651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67" name="Straight Connector 66"/>
            <p:cNvCxnSpPr/>
            <p:nvPr/>
          </p:nvCxnSpPr>
          <p:spPr bwMode="auto">
            <a:xfrm rot="5400000">
              <a:off x="3736702" y="2834347"/>
              <a:ext cx="0" cy="39624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68" name="Straight Connector 67"/>
            <p:cNvCxnSpPr>
              <a:stCxn id="61" idx="2"/>
            </p:cNvCxnSpPr>
            <p:nvPr/>
          </p:nvCxnSpPr>
          <p:spPr bwMode="auto">
            <a:xfrm rot="5400000" flipV="1">
              <a:off x="2806894" y="3821711"/>
              <a:ext cx="419084" cy="2893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69" name="Straight Connector 68"/>
            <p:cNvCxnSpPr/>
            <p:nvPr/>
          </p:nvCxnSpPr>
          <p:spPr bwMode="auto">
            <a:xfrm flipH="1">
              <a:off x="-157267" y="3038074"/>
              <a:ext cx="1077067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70" name="Straight Connector 69"/>
            <p:cNvCxnSpPr/>
            <p:nvPr/>
          </p:nvCxnSpPr>
          <p:spPr bwMode="auto">
            <a:xfrm rot="5400000" flipV="1">
              <a:off x="1219395" y="3828881"/>
              <a:ext cx="419084" cy="2893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72" name="Straight Connector 71"/>
            <p:cNvCxnSpPr/>
            <p:nvPr/>
          </p:nvCxnSpPr>
          <p:spPr bwMode="auto">
            <a:xfrm rot="5400000">
              <a:off x="2230591" y="2757568"/>
              <a:ext cx="0" cy="535941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oval" w="med" len="med"/>
              <a:tailEnd type="oval" w="med" len="med"/>
            </a:ln>
            <a:effectLst/>
          </p:spPr>
        </p:cxnSp>
      </p:grpSp>
      <p:sp>
        <p:nvSpPr>
          <p:cNvPr id="75" name="Rectangle 74"/>
          <p:cNvSpPr/>
          <p:nvPr/>
        </p:nvSpPr>
        <p:spPr bwMode="auto">
          <a:xfrm>
            <a:off x="-195672" y="1704814"/>
            <a:ext cx="3995518" cy="3365368"/>
          </a:xfrm>
          <a:prstGeom prst="rect">
            <a:avLst/>
          </a:prstGeom>
          <a:solidFill>
            <a:schemeClr val="bg1">
              <a:alpha val="90000"/>
            </a:schemeClr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smtClean="0">
              <a:latin typeface="+mj-lt"/>
              <a:cs typeface="Arial" pitchFamily="34" charset="0"/>
            </a:endParaRPr>
          </a:p>
        </p:txBody>
      </p:sp>
      <p:grpSp>
        <p:nvGrpSpPr>
          <p:cNvPr id="76" name="Group 75"/>
          <p:cNvGrpSpPr/>
          <p:nvPr/>
        </p:nvGrpSpPr>
        <p:grpSpPr>
          <a:xfrm>
            <a:off x="7031131" y="2343911"/>
            <a:ext cx="2299905" cy="2014372"/>
            <a:chOff x="383858" y="2025498"/>
            <a:chExt cx="2299905" cy="2014372"/>
          </a:xfrm>
        </p:grpSpPr>
        <p:sp>
          <p:nvSpPr>
            <p:cNvPr id="80" name="Rectangle 4"/>
            <p:cNvSpPr/>
            <p:nvPr/>
          </p:nvSpPr>
          <p:spPr bwMode="auto">
            <a:xfrm rot="5400000">
              <a:off x="852223" y="2511767"/>
              <a:ext cx="1176638" cy="1041399"/>
            </a:xfrm>
            <a:custGeom>
              <a:avLst/>
              <a:gdLst>
                <a:gd name="connsiteX0" fmla="*/ 0 w 1290918"/>
                <a:gd name="connsiteY0" fmla="*/ 0 h 1093694"/>
                <a:gd name="connsiteX1" fmla="*/ 1290918 w 1290918"/>
                <a:gd name="connsiteY1" fmla="*/ 0 h 1093694"/>
                <a:gd name="connsiteX2" fmla="*/ 1290918 w 1290918"/>
                <a:gd name="connsiteY2" fmla="*/ 1093694 h 1093694"/>
                <a:gd name="connsiteX3" fmla="*/ 0 w 1290918"/>
                <a:gd name="connsiteY3" fmla="*/ 1093694 h 1093694"/>
                <a:gd name="connsiteX4" fmla="*/ 0 w 1290918"/>
                <a:gd name="connsiteY4" fmla="*/ 0 h 1093694"/>
                <a:gd name="connsiteX0" fmla="*/ 0 w 1290918"/>
                <a:gd name="connsiteY0" fmla="*/ 0 h 1097280"/>
                <a:gd name="connsiteX1" fmla="*/ 1290918 w 1290918"/>
                <a:gd name="connsiteY1" fmla="*/ 0 h 1097280"/>
                <a:gd name="connsiteX2" fmla="*/ 1290918 w 1290918"/>
                <a:gd name="connsiteY2" fmla="*/ 1093694 h 1097280"/>
                <a:gd name="connsiteX3" fmla="*/ 662785 w 1290918"/>
                <a:gd name="connsiteY3" fmla="*/ 1097280 h 1097280"/>
                <a:gd name="connsiteX4" fmla="*/ 0 w 1290918"/>
                <a:gd name="connsiteY4" fmla="*/ 1093694 h 1097280"/>
                <a:gd name="connsiteX5" fmla="*/ 0 w 1290918"/>
                <a:gd name="connsiteY5" fmla="*/ 0 h 1097280"/>
                <a:gd name="connsiteX0" fmla="*/ 0 w 1290918"/>
                <a:gd name="connsiteY0" fmla="*/ 0 h 1097280"/>
                <a:gd name="connsiteX1" fmla="*/ 1290918 w 1290918"/>
                <a:gd name="connsiteY1" fmla="*/ 0 h 1097280"/>
                <a:gd name="connsiteX2" fmla="*/ 1283053 w 1290918"/>
                <a:gd name="connsiteY2" fmla="*/ 551688 h 1097280"/>
                <a:gd name="connsiteX3" fmla="*/ 1290918 w 1290918"/>
                <a:gd name="connsiteY3" fmla="*/ 1093694 h 1097280"/>
                <a:gd name="connsiteX4" fmla="*/ 662785 w 1290918"/>
                <a:gd name="connsiteY4" fmla="*/ 1097280 h 1097280"/>
                <a:gd name="connsiteX5" fmla="*/ 0 w 1290918"/>
                <a:gd name="connsiteY5" fmla="*/ 1093694 h 1097280"/>
                <a:gd name="connsiteX6" fmla="*/ 0 w 1290918"/>
                <a:gd name="connsiteY6" fmla="*/ 0 h 109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90918" h="1097280">
                  <a:moveTo>
                    <a:pt x="0" y="0"/>
                  </a:moveTo>
                  <a:lnTo>
                    <a:pt x="1290918" y="0"/>
                  </a:lnTo>
                  <a:lnTo>
                    <a:pt x="1283053" y="551688"/>
                  </a:lnTo>
                  <a:lnTo>
                    <a:pt x="1290918" y="1093694"/>
                  </a:lnTo>
                  <a:lnTo>
                    <a:pt x="662785" y="1097280"/>
                  </a:lnTo>
                  <a:lnTo>
                    <a:pt x="0" y="10936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3600" b="1" dirty="0" smtClean="0">
                  <a:latin typeface="+mj-lt"/>
                  <a:cs typeface="Arial" pitchFamily="34" charset="0"/>
                </a:rPr>
                <a:t>+</a:t>
              </a:r>
            </a:p>
          </p:txBody>
        </p:sp>
        <p:cxnSp>
          <p:nvCxnSpPr>
            <p:cNvPr id="81" name="Straight Connector 80"/>
            <p:cNvCxnSpPr/>
            <p:nvPr/>
          </p:nvCxnSpPr>
          <p:spPr bwMode="auto">
            <a:xfrm>
              <a:off x="1693860" y="2025498"/>
              <a:ext cx="0" cy="418651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82" name="Straight Connector 81"/>
            <p:cNvCxnSpPr/>
            <p:nvPr/>
          </p:nvCxnSpPr>
          <p:spPr bwMode="auto">
            <a:xfrm>
              <a:off x="1194342" y="2025498"/>
              <a:ext cx="10972" cy="418651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85" name="Straight Connector 84"/>
            <p:cNvCxnSpPr/>
            <p:nvPr/>
          </p:nvCxnSpPr>
          <p:spPr bwMode="auto">
            <a:xfrm rot="5400000">
              <a:off x="651829" y="2770103"/>
              <a:ext cx="0" cy="535941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86" name="Straight Connector 85"/>
            <p:cNvCxnSpPr/>
            <p:nvPr/>
          </p:nvCxnSpPr>
          <p:spPr bwMode="auto">
            <a:xfrm rot="5400000" flipV="1">
              <a:off x="1219395" y="3828881"/>
              <a:ext cx="419084" cy="2893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87" name="Straight Connector 86"/>
            <p:cNvCxnSpPr/>
            <p:nvPr/>
          </p:nvCxnSpPr>
          <p:spPr bwMode="auto">
            <a:xfrm flipH="1">
              <a:off x="1962623" y="3025540"/>
              <a:ext cx="721140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oval" w="med" len="med"/>
              <a:tailEnd type="oval" w="med" len="med"/>
            </a:ln>
            <a:effectLst/>
          </p:spPr>
        </p:cxnSp>
      </p:grpSp>
      <p:sp>
        <p:nvSpPr>
          <p:cNvPr id="90" name="Rectangle 89"/>
          <p:cNvSpPr/>
          <p:nvPr/>
        </p:nvSpPr>
        <p:spPr bwMode="auto">
          <a:xfrm>
            <a:off x="7461836" y="1728018"/>
            <a:ext cx="2007474" cy="3365368"/>
          </a:xfrm>
          <a:prstGeom prst="rect">
            <a:avLst/>
          </a:prstGeom>
          <a:solidFill>
            <a:schemeClr val="bg1">
              <a:alpha val="90000"/>
            </a:schemeClr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smtClean="0">
              <a:latin typeface="+mj-lt"/>
              <a:cs typeface="Arial" pitchFamily="34" charset="0"/>
            </a:endParaRPr>
          </a:p>
        </p:txBody>
      </p:sp>
      <p:sp>
        <p:nvSpPr>
          <p:cNvPr id="93" name="Content Placeholder 2"/>
          <p:cNvSpPr txBox="1">
            <a:spLocks/>
          </p:cNvSpPr>
          <p:nvPr/>
        </p:nvSpPr>
        <p:spPr bwMode="auto">
          <a:xfrm>
            <a:off x="420889" y="866510"/>
            <a:ext cx="8228012" cy="7958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75000"/>
              </a:spcBef>
              <a:spcAft>
                <a:spcPct val="0"/>
              </a:spcAft>
              <a:defRPr sz="2400" b="0" i="0">
                <a:solidFill>
                  <a:schemeClr val="tx1"/>
                </a:solidFill>
                <a:latin typeface="Neo Sans Intel"/>
                <a:ea typeface="+mn-ea"/>
                <a:cs typeface="Neo Sans Intel"/>
              </a:defRPr>
            </a:lvl1pPr>
            <a:lvl2pPr marL="185738" indent="-184150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Font typeface="Times" pitchFamily="18" charset="0"/>
              <a:buChar char="•"/>
              <a:defRPr sz="2200" b="0" i="0">
                <a:solidFill>
                  <a:schemeClr val="tx1"/>
                </a:solidFill>
                <a:latin typeface="Neo Sans Intel"/>
                <a:cs typeface="Neo Sans Intel"/>
              </a:defRPr>
            </a:lvl2pPr>
            <a:lvl3pPr marL="414338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Neo Sans Intel" pitchFamily="34" charset="0"/>
              <a:buChar char="–"/>
              <a:defRPr sz="2000" b="0" i="0">
                <a:solidFill>
                  <a:schemeClr val="tx1"/>
                </a:solidFill>
                <a:latin typeface="Neo Sans Intel"/>
                <a:cs typeface="Neo Sans Intel"/>
              </a:defRPr>
            </a:lvl3pPr>
            <a:lvl4pPr marL="568325" indent="-1524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Neo Sans Intel" pitchFamily="34" charset="0"/>
              <a:buChar char="–"/>
              <a:defRPr sz="1800" b="0" i="0">
                <a:solidFill>
                  <a:schemeClr val="tx1"/>
                </a:solidFill>
                <a:latin typeface="Neo Sans Intel"/>
                <a:cs typeface="Neo Sans Intel"/>
              </a:defRPr>
            </a:lvl4pPr>
            <a:lvl5pPr marL="7620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800" b="0" i="0">
                <a:solidFill>
                  <a:schemeClr val="tx1"/>
                </a:solidFill>
                <a:latin typeface="Neo Sans Intel"/>
                <a:cs typeface="Neo Sans Intel"/>
              </a:defRPr>
            </a:lvl5pPr>
            <a:lvl6pPr marL="12192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16764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21336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25908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342900" indent="-342900">
              <a:buFont typeface="Arial" pitchFamily="34" charset="0"/>
              <a:buChar char="•"/>
            </a:pPr>
            <a:r>
              <a:rPr lang="en-US" dirty="0" smtClean="0">
                <a:latin typeface="+mj-lt"/>
              </a:rPr>
              <a:t>We may add more adders to sum numbers wider than 1 bit</a:t>
            </a:r>
          </a:p>
        </p:txBody>
      </p:sp>
      <p:sp>
        <p:nvSpPr>
          <p:cNvPr id="94" name="Content Placeholder 2"/>
          <p:cNvSpPr txBox="1">
            <a:spLocks/>
          </p:cNvSpPr>
          <p:nvPr/>
        </p:nvSpPr>
        <p:spPr bwMode="auto">
          <a:xfrm>
            <a:off x="454025" y="5433920"/>
            <a:ext cx="8228012" cy="7958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75000"/>
              </a:spcBef>
              <a:spcAft>
                <a:spcPct val="0"/>
              </a:spcAft>
              <a:defRPr sz="2400" b="0" i="0">
                <a:solidFill>
                  <a:schemeClr val="tx1"/>
                </a:solidFill>
                <a:latin typeface="Neo Sans Intel"/>
                <a:ea typeface="+mn-ea"/>
                <a:cs typeface="Neo Sans Intel"/>
              </a:defRPr>
            </a:lvl1pPr>
            <a:lvl2pPr marL="185738" indent="-184150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Font typeface="Times" pitchFamily="18" charset="0"/>
              <a:buChar char="•"/>
              <a:defRPr sz="2200" b="0" i="0">
                <a:solidFill>
                  <a:schemeClr val="tx1"/>
                </a:solidFill>
                <a:latin typeface="Neo Sans Intel"/>
                <a:cs typeface="Neo Sans Intel"/>
              </a:defRPr>
            </a:lvl2pPr>
            <a:lvl3pPr marL="414338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Neo Sans Intel" pitchFamily="34" charset="0"/>
              <a:buChar char="–"/>
              <a:defRPr sz="2000" b="0" i="0">
                <a:solidFill>
                  <a:schemeClr val="tx1"/>
                </a:solidFill>
                <a:latin typeface="Neo Sans Intel"/>
                <a:cs typeface="Neo Sans Intel"/>
              </a:defRPr>
            </a:lvl3pPr>
            <a:lvl4pPr marL="568325" indent="-1524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Neo Sans Intel" pitchFamily="34" charset="0"/>
              <a:buChar char="–"/>
              <a:defRPr sz="1800" b="0" i="0">
                <a:solidFill>
                  <a:schemeClr val="tx1"/>
                </a:solidFill>
                <a:latin typeface="Neo Sans Intel"/>
                <a:cs typeface="Neo Sans Intel"/>
              </a:defRPr>
            </a:lvl4pPr>
            <a:lvl5pPr marL="7620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800" b="0" i="0">
                <a:solidFill>
                  <a:schemeClr val="tx1"/>
                </a:solidFill>
                <a:latin typeface="Neo Sans Intel"/>
                <a:cs typeface="Neo Sans Intel"/>
              </a:defRPr>
            </a:lvl5pPr>
            <a:lvl6pPr marL="12192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16764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21336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25908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342900" indent="-342900">
              <a:buFont typeface="Arial" pitchFamily="34" charset="0"/>
              <a:buChar char="•"/>
            </a:pP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j-lt"/>
              </a:rPr>
              <a:t>In real HW, wide adders have more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+mj-lt"/>
              </a:rPr>
              <a:t>com`plicated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j-lt"/>
              </a:rPr>
              <a:t> schemes to avoid long “carry chains”</a:t>
            </a:r>
          </a:p>
          <a:p>
            <a:pPr marL="342900" indent="-342900">
              <a:buFont typeface="Arial" pitchFamily="34" charset="0"/>
              <a:buChar char="•"/>
            </a:pP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415278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  <p:bldP spid="94" grpId="0"/>
    </p:bldLst>
  </p:timing>
  <p:extLst mod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 smtClean="0"/>
              <a:t>Arithmetic </a:t>
            </a:r>
            <a:r>
              <a:rPr lang="en-US" dirty="0"/>
              <a:t>L</a:t>
            </a:r>
            <a:r>
              <a:rPr lang="en-US" dirty="0" smtClean="0"/>
              <a:t>ogic Unit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025" y="928255"/>
            <a:ext cx="4374284" cy="446289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i="1" dirty="0" smtClean="0">
                <a:solidFill>
                  <a:schemeClr val="accent1"/>
                </a:solidFill>
              </a:rPr>
              <a:t>ALU</a:t>
            </a:r>
            <a:r>
              <a:rPr lang="en-US" sz="1800" dirty="0" smtClean="0"/>
              <a:t> is </a:t>
            </a:r>
            <a:r>
              <a:rPr lang="en-US" sz="1800" dirty="0"/>
              <a:t>a </a:t>
            </a:r>
            <a:r>
              <a:rPr lang="en-US" sz="1800" dirty="0" smtClean="0"/>
              <a:t>circuit </a:t>
            </a:r>
            <a:r>
              <a:rPr lang="en-US" sz="1800" dirty="0"/>
              <a:t>that </a:t>
            </a:r>
            <a:r>
              <a:rPr lang="en-US" sz="1800" dirty="0" smtClean="0"/>
              <a:t>is able to perform different </a:t>
            </a:r>
            <a:r>
              <a:rPr lang="en-US" sz="1800" dirty="0"/>
              <a:t>arithmetic and bitwise logical operations on integer binary numbers</a:t>
            </a:r>
            <a:endParaRPr lang="ru-RU" sz="1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833" y="879719"/>
            <a:ext cx="3938269" cy="52996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7" name="Group 26"/>
          <p:cNvGrpSpPr/>
          <p:nvPr/>
        </p:nvGrpSpPr>
        <p:grpSpPr>
          <a:xfrm>
            <a:off x="183860" y="2147222"/>
            <a:ext cx="4692942" cy="4201473"/>
            <a:chOff x="5038225" y="1573422"/>
            <a:chExt cx="4692942" cy="4201473"/>
          </a:xfrm>
        </p:grpSpPr>
        <p:sp>
          <p:nvSpPr>
            <p:cNvPr id="4" name="Freeform 127"/>
            <p:cNvSpPr>
              <a:spLocks/>
            </p:cNvSpPr>
            <p:nvPr/>
          </p:nvSpPr>
          <p:spPr bwMode="auto">
            <a:xfrm>
              <a:off x="6354612" y="1573422"/>
              <a:ext cx="1700991" cy="3366273"/>
            </a:xfrm>
            <a:custGeom>
              <a:avLst/>
              <a:gdLst>
                <a:gd name="T0" fmla="*/ 0 w 210"/>
                <a:gd name="T1" fmla="*/ 0 h 413"/>
                <a:gd name="T2" fmla="*/ 0 w 210"/>
                <a:gd name="T3" fmla="*/ 167 h 413"/>
                <a:gd name="T4" fmla="*/ 91 w 210"/>
                <a:gd name="T5" fmla="*/ 207 h 413"/>
                <a:gd name="T6" fmla="*/ 0 w 210"/>
                <a:gd name="T7" fmla="*/ 245 h 413"/>
                <a:gd name="T8" fmla="*/ 0 w 210"/>
                <a:gd name="T9" fmla="*/ 412 h 413"/>
                <a:gd name="T10" fmla="*/ 284 w 210"/>
                <a:gd name="T11" fmla="*/ 286 h 413"/>
                <a:gd name="T12" fmla="*/ 284 w 210"/>
                <a:gd name="T13" fmla="*/ 127 h 413"/>
                <a:gd name="T14" fmla="*/ 0 w 210"/>
                <a:gd name="T15" fmla="*/ 0 h 413"/>
                <a:gd name="T16" fmla="*/ 0 w 210"/>
                <a:gd name="T17" fmla="*/ 0 h 4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10"/>
                <a:gd name="T28" fmla="*/ 0 h 413"/>
                <a:gd name="T29" fmla="*/ 210 w 210"/>
                <a:gd name="T30" fmla="*/ 413 h 41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10" h="413">
                  <a:moveTo>
                    <a:pt x="0" y="0"/>
                  </a:moveTo>
                  <a:lnTo>
                    <a:pt x="0" y="167"/>
                  </a:lnTo>
                  <a:lnTo>
                    <a:pt x="67" y="207"/>
                  </a:lnTo>
                  <a:lnTo>
                    <a:pt x="0" y="245"/>
                  </a:lnTo>
                  <a:lnTo>
                    <a:pt x="0" y="412"/>
                  </a:lnTo>
                  <a:lnTo>
                    <a:pt x="209" y="286"/>
                  </a:lnTo>
                  <a:lnTo>
                    <a:pt x="209" y="127"/>
                  </a:lnTo>
                  <a:lnTo>
                    <a:pt x="0" y="0"/>
                  </a:lnTo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eaLnBrk="0" hangingPunct="0"/>
              <a:r>
                <a:rPr lang="en-US" sz="2000" b="1" dirty="0" smtClean="0">
                  <a:latin typeface="Neo Sans Intel" pitchFamily="34" charset="0"/>
                  <a:cs typeface="Arial" pitchFamily="34" charset="0"/>
                </a:rPr>
                <a:t>    ALU</a:t>
              </a:r>
              <a:endParaRPr lang="en-US" sz="2000" b="1" dirty="0">
                <a:latin typeface="Neo Sans Intel" pitchFamily="34" charset="0"/>
                <a:cs typeface="Arial" pitchFamily="34" charset="0"/>
              </a:endParaRPr>
            </a:p>
          </p:txBody>
        </p:sp>
        <p:cxnSp>
          <p:nvCxnSpPr>
            <p:cNvPr id="5" name="Straight Connector 4"/>
            <p:cNvCxnSpPr/>
            <p:nvPr/>
          </p:nvCxnSpPr>
          <p:spPr bwMode="auto">
            <a:xfrm>
              <a:off x="5734494" y="2300021"/>
              <a:ext cx="620117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7" name="Straight Connector 6"/>
            <p:cNvCxnSpPr/>
            <p:nvPr/>
          </p:nvCxnSpPr>
          <p:spPr bwMode="auto">
            <a:xfrm>
              <a:off x="5729368" y="4300838"/>
              <a:ext cx="625243" cy="8092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8" name="Straight Connector 7"/>
            <p:cNvCxnSpPr/>
            <p:nvPr/>
          </p:nvCxnSpPr>
          <p:spPr bwMode="auto">
            <a:xfrm flipH="1" flipV="1">
              <a:off x="7218960" y="4412513"/>
              <a:ext cx="4091" cy="901483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11" name="Straight Connector 10"/>
            <p:cNvCxnSpPr/>
            <p:nvPr/>
          </p:nvCxnSpPr>
          <p:spPr bwMode="auto">
            <a:xfrm flipH="1">
              <a:off x="8055603" y="3267033"/>
              <a:ext cx="886691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sp>
          <p:nvSpPr>
            <p:cNvPr id="14" name="Rectangle 13"/>
            <p:cNvSpPr/>
            <p:nvPr/>
          </p:nvSpPr>
          <p:spPr>
            <a:xfrm>
              <a:off x="5038225" y="1961467"/>
              <a:ext cx="2954196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 smtClean="0">
                  <a:latin typeface="+mj-lt"/>
                </a:rPr>
                <a:t>Operand 1 (X)</a:t>
              </a:r>
              <a:endParaRPr lang="en-US" sz="1100" dirty="0">
                <a:latin typeface="+mj-lt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038225" y="3936820"/>
              <a:ext cx="2954196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 smtClean="0">
                  <a:latin typeface="+mj-lt"/>
                </a:rPr>
                <a:t>Operand 2 (Y)</a:t>
              </a:r>
              <a:endParaRPr lang="en-US" sz="1100" dirty="0">
                <a:latin typeface="+mj-lt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776971" y="5436341"/>
              <a:ext cx="2954196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 smtClean="0">
                  <a:latin typeface="+mj-lt"/>
                </a:rPr>
                <a:t>Opcode (</a:t>
              </a:r>
              <a:r>
                <a:rPr lang="en-US" sz="1600" dirty="0">
                  <a:latin typeface="+mj-lt"/>
                </a:rPr>
                <a:t>I</a:t>
              </a:r>
              <a:r>
                <a:rPr lang="en-US" sz="1600" dirty="0" smtClean="0">
                  <a:latin typeface="+mj-lt"/>
                </a:rPr>
                <a:t>)</a:t>
              </a:r>
              <a:endParaRPr lang="en-US" sz="1100" dirty="0">
                <a:latin typeface="+mj-lt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039818" y="2928479"/>
              <a:ext cx="169134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 smtClean="0">
                  <a:latin typeface="+mj-lt"/>
                </a:rPr>
                <a:t>Result (out)</a:t>
              </a:r>
              <a:endParaRPr lang="en-US" sz="1100" dirty="0">
                <a:latin typeface="+mj-lt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9847439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Subtraction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6526269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Negative Numbers 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100" dirty="0"/>
                  <a:t>How to do subtraction</a:t>
                </a:r>
                <a:r>
                  <a:rPr lang="en-US" sz="2100" dirty="0" smtClean="0"/>
                  <a:t>? </a:t>
                </a:r>
                <a:r>
                  <a:rPr lang="en-US" sz="2100" dirty="0">
                    <a:solidFill>
                      <a:prstClr val="black"/>
                    </a:solidFill>
                    <a:latin typeface="Calibri Light" panose="020F0302020204030204"/>
                  </a:rPr>
                  <a:t>→ How to represent negative </a:t>
                </a:r>
                <a:r>
                  <a:rPr lang="en-US" sz="2100" dirty="0" smtClean="0">
                    <a:solidFill>
                      <a:prstClr val="black"/>
                    </a:solidFill>
                    <a:latin typeface="Calibri Light" panose="020F0302020204030204"/>
                  </a:rPr>
                  <a:t>numbers</a:t>
                </a:r>
                <a:r>
                  <a:rPr lang="en-US" sz="2100" dirty="0">
                    <a:solidFill>
                      <a:prstClr val="black"/>
                    </a:solidFill>
                    <a:latin typeface="Calibri Light" panose="020F0302020204030204"/>
                  </a:rPr>
                  <a:t>?</a:t>
                </a:r>
                <a:endParaRPr lang="en-US" sz="21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100" b="1" dirty="0"/>
                  <a:t>Sign-magnitude: </a:t>
                </a:r>
                <a:r>
                  <a:rPr lang="en-US" sz="2100" dirty="0" smtClean="0"/>
                  <a:t>bit[n-1</a:t>
                </a:r>
                <a:r>
                  <a:rPr lang="en-US" sz="2100" dirty="0"/>
                  <a:t>] is 0 for positive and 1 for negative</a:t>
                </a:r>
              </a:p>
              <a:p>
                <a:pPr lvl="2"/>
                <a:r>
                  <a:rPr lang="en-US" sz="1600" dirty="0"/>
                  <a:t>Range for n-bit digit: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−(2</m:t>
                        </m:r>
                      </m:e>
                      <m:sup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160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sz="1600" dirty="0"/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(2</m:t>
                        </m:r>
                      </m:e>
                      <m:sup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160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sz="1600" dirty="0"/>
              </a:p>
              <a:p>
                <a:pPr lvl="2"/>
                <a:r>
                  <a:rPr lang="en-US" sz="1600" dirty="0"/>
                  <a:t>Problem 1: two representation for zero: </a:t>
                </a:r>
                <a:r>
                  <a:rPr lang="en-US" sz="1600" b="1" dirty="0"/>
                  <a:t>0</a:t>
                </a:r>
                <a:r>
                  <a:rPr lang="en-US" sz="1600" dirty="0"/>
                  <a:t>000… and </a:t>
                </a:r>
                <a:r>
                  <a:rPr lang="en-US" sz="1600" b="1" dirty="0"/>
                  <a:t>1</a:t>
                </a:r>
                <a:r>
                  <a:rPr lang="en-US" sz="1600" dirty="0"/>
                  <a:t>000…</a:t>
                </a:r>
              </a:p>
              <a:p>
                <a:pPr lvl="2"/>
                <a:r>
                  <a:rPr lang="en-US" sz="1600" dirty="0"/>
                  <a:t>Problem 2 (more important): need a </a:t>
                </a:r>
                <a:r>
                  <a:rPr lang="en-US" sz="1600" dirty="0" smtClean="0"/>
                  <a:t>subtraction </a:t>
                </a:r>
                <a:r>
                  <a:rPr lang="en-US" sz="1600" dirty="0"/>
                  <a:t>scheme different from adder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100" b="1" dirty="0"/>
                  <a:t>Twos complement</a:t>
                </a:r>
                <a:r>
                  <a:rPr lang="en-US" sz="2100" dirty="0"/>
                  <a:t> representation allows using the adder logic for both addition and subtraction</a:t>
                </a:r>
              </a:p>
              <a:p>
                <a:pPr lvl="2"/>
                <a:r>
                  <a:rPr lang="en-US" sz="1600" dirty="0"/>
                  <a:t>Negative of A is (!A + 1)</a:t>
                </a:r>
              </a:p>
              <a:p>
                <a:pPr lvl="2"/>
                <a:r>
                  <a:rPr lang="en-US" sz="1600" dirty="0"/>
                  <a:t>Let’s elaborate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853" t="-1609" r="-8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06520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Twos Compliment Representation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100" dirty="0"/>
                  <a:t>Asymmetric range: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  <m:sup>
                        <m:r>
                          <a:rPr lang="en-US" sz="18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prstClr val="black"/>
                    </a:solidFill>
                  </a:rPr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(2</m:t>
                        </m:r>
                      </m:e>
                      <m:sup>
                        <m:r>
                          <a:rPr lang="en-US" sz="18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18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sz="2100" dirty="0">
                  <a:solidFill>
                    <a:prstClr val="black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100" dirty="0"/>
                  <a:t>One representation for zero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100" dirty="0"/>
                  <a:t>Representation on n-digit number:</a:t>
                </a:r>
              </a:p>
              <a:p>
                <a:pPr lvl="2"/>
                <a:r>
                  <a:rPr lang="en-US" sz="1600" dirty="0"/>
                  <a:t>A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  <m:sup>
                        <m:r>
                          <a:rPr lang="en-US" sz="1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−1 </m:t>
                        </m:r>
                      </m:sub>
                    </m:sSub>
                    <m:r>
                      <a:rPr lang="en-US" sz="1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…</m:t>
                    </m:r>
                    <m:r>
                      <a:rPr lang="en-US" sz="1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1900" dirty="0"/>
              </a:p>
              <a:p>
                <a:pPr lvl="2"/>
                <a:r>
                  <a:rPr lang="en-US" sz="1600" dirty="0"/>
                  <a:t>Example: 101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  <m:sup>
                        <m:r>
                          <a:rPr lang="en-US" sz="1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 </m:t>
                    </m:r>
                  </m:oMath>
                </a14:m>
                <a:r>
                  <a:rPr lang="en-US" sz="1600" dirty="0"/>
                  <a:t>1 = -3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100" dirty="0"/>
                  <a:t>How to convert to negative?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100" dirty="0"/>
                  <a:t>How to do subtraction via addition?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ru-RU" sz="21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853" t="-160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/>
          <p:cNvGrpSpPr/>
          <p:nvPr/>
        </p:nvGrpSpPr>
        <p:grpSpPr>
          <a:xfrm>
            <a:off x="5414798" y="1063739"/>
            <a:ext cx="3268827" cy="3351760"/>
            <a:chOff x="5693722" y="1913339"/>
            <a:chExt cx="3268827" cy="3351760"/>
          </a:xfrm>
        </p:grpSpPr>
        <p:sp>
          <p:nvSpPr>
            <p:cNvPr id="41" name="Pie 40"/>
            <p:cNvSpPr/>
            <p:nvPr/>
          </p:nvSpPr>
          <p:spPr>
            <a:xfrm>
              <a:off x="6436478" y="2847708"/>
              <a:ext cx="1705943" cy="1711868"/>
            </a:xfrm>
            <a:prstGeom prst="pie">
              <a:avLst>
                <a:gd name="adj1" fmla="val 4158782"/>
                <a:gd name="adj2" fmla="val 14982191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 smtClean="0">
                <a:solidFill>
                  <a:schemeClr val="tx1"/>
                </a:solidFill>
              </a:endParaRPr>
            </a:p>
          </p:txBody>
        </p:sp>
        <p:sp>
          <p:nvSpPr>
            <p:cNvPr id="42" name="Pie 41"/>
            <p:cNvSpPr/>
            <p:nvPr/>
          </p:nvSpPr>
          <p:spPr>
            <a:xfrm>
              <a:off x="6434303" y="2857154"/>
              <a:ext cx="1705943" cy="1711868"/>
            </a:xfrm>
            <a:prstGeom prst="pie">
              <a:avLst>
                <a:gd name="adj1" fmla="val 17556067"/>
                <a:gd name="adj2" fmla="val 4177146"/>
              </a:avLst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 smtClean="0">
                <a:solidFill>
                  <a:schemeClr val="tx1"/>
                </a:solidFill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6439348" y="2856565"/>
              <a:ext cx="1694330" cy="1694330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 smtClean="0">
                <a:solidFill>
                  <a:schemeClr val="tx1"/>
                </a:solidFill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7259619" y="2816224"/>
              <a:ext cx="80682" cy="80682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 smtClean="0">
                <a:solidFill>
                  <a:schemeClr val="tx1"/>
                </a:solidFill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6399008" y="3651623"/>
              <a:ext cx="80682" cy="80682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 smtClean="0">
                <a:solidFill>
                  <a:schemeClr val="tx1"/>
                </a:solidFill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8093337" y="3651623"/>
              <a:ext cx="80682" cy="80682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 smtClean="0">
                <a:solidFill>
                  <a:schemeClr val="tx1"/>
                </a:solidFill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7259619" y="4504838"/>
              <a:ext cx="80682" cy="80682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 smtClean="0">
                <a:solidFill>
                  <a:schemeClr val="tx1"/>
                </a:solidFill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6642399" y="3068693"/>
              <a:ext cx="80682" cy="80682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 smtClean="0">
                <a:solidFill>
                  <a:schemeClr val="tx1"/>
                </a:solidFill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6642399" y="4268843"/>
              <a:ext cx="80682" cy="80682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 smtClean="0">
                <a:solidFill>
                  <a:schemeClr val="tx1"/>
                </a:solidFill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7842549" y="3068356"/>
              <a:ext cx="80682" cy="80682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 smtClean="0">
                <a:solidFill>
                  <a:schemeClr val="tx1"/>
                </a:solidFill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7842549" y="4274558"/>
              <a:ext cx="80682" cy="80682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 smtClean="0">
                <a:solidFill>
                  <a:schemeClr val="tx1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099064" y="2889577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000</a:t>
              </a:r>
              <a:endParaRPr lang="ru-RU" dirty="0">
                <a:latin typeface="+mj-lt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504076" y="3061088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001</a:t>
              </a:r>
              <a:endParaRPr lang="ru-RU" dirty="0">
                <a:latin typeface="+mj-lt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679908" y="3067776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111</a:t>
              </a:r>
              <a:endParaRPr lang="ru-RU" dirty="0">
                <a:latin typeface="+mj-lt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716719" y="3573298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010</a:t>
              </a:r>
              <a:endParaRPr lang="ru-RU" dirty="0">
                <a:latin typeface="+mj-lt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489778" y="4069765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011</a:t>
              </a:r>
              <a:endParaRPr lang="ru-RU" dirty="0">
                <a:latin typeface="+mj-lt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688302" y="4069765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j-lt"/>
                </a:rPr>
                <a:t>1</a:t>
              </a:r>
              <a:r>
                <a:rPr lang="en-US" dirty="0" smtClean="0">
                  <a:latin typeface="+mj-lt"/>
                </a:rPr>
                <a:t>01</a:t>
              </a:r>
              <a:endParaRPr lang="ru-RU" dirty="0">
                <a:latin typeface="+mj-lt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095953" y="4265959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100</a:t>
              </a:r>
              <a:endParaRPr lang="ru-RU" dirty="0">
                <a:latin typeface="+mj-lt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473156" y="3554728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1</a:t>
              </a:r>
              <a:r>
                <a:rPr lang="en-US" dirty="0">
                  <a:latin typeface="+mj-lt"/>
                </a:rPr>
                <a:t>1</a:t>
              </a:r>
              <a:r>
                <a:rPr lang="en-US" dirty="0" smtClean="0">
                  <a:latin typeface="+mj-lt"/>
                </a:rPr>
                <a:t>0</a:t>
              </a:r>
              <a:endParaRPr lang="ru-RU" dirty="0">
                <a:latin typeface="+mj-lt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884709" y="2814835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+1</a:t>
              </a:r>
              <a:endParaRPr lang="ru-RU" dirty="0">
                <a:latin typeface="+mj-lt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194066" y="253783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0</a:t>
              </a:r>
              <a:endParaRPr lang="ru-RU" dirty="0">
                <a:latin typeface="+mj-lt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174019" y="3553464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+2</a:t>
              </a:r>
              <a:endParaRPr lang="ru-RU" dirty="0">
                <a:latin typeface="+mj-lt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926075" y="4170684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+3</a:t>
              </a:r>
              <a:endParaRPr lang="ru-RU" dirty="0">
                <a:latin typeface="+mj-lt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154762" y="4613192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-4</a:t>
              </a:r>
              <a:endParaRPr lang="ru-RU" dirty="0">
                <a:latin typeface="+mj-lt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400744" y="4295206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-3</a:t>
              </a:r>
              <a:endParaRPr lang="ru-RU" dirty="0">
                <a:latin typeface="+mj-lt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095616" y="3558638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-2</a:t>
              </a:r>
              <a:endParaRPr lang="ru-RU" dirty="0">
                <a:latin typeface="+mj-lt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403825" y="2811722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-1</a:t>
              </a:r>
              <a:endParaRPr lang="ru-RU" dirty="0">
                <a:latin typeface="+mj-lt"/>
              </a:endParaRPr>
            </a:p>
          </p:txBody>
        </p:sp>
        <p:sp>
          <p:nvSpPr>
            <p:cNvPr id="36" name="Arc 35"/>
            <p:cNvSpPr/>
            <p:nvPr/>
          </p:nvSpPr>
          <p:spPr>
            <a:xfrm>
              <a:off x="5879339" y="2294321"/>
              <a:ext cx="2795286" cy="2795286"/>
            </a:xfrm>
            <a:prstGeom prst="arc">
              <a:avLst>
                <a:gd name="adj1" fmla="val 13804142"/>
                <a:gd name="adj2" fmla="val 0"/>
              </a:avLst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Arc 36"/>
            <p:cNvSpPr/>
            <p:nvPr/>
          </p:nvSpPr>
          <p:spPr>
            <a:xfrm>
              <a:off x="5693722" y="2038146"/>
              <a:ext cx="3226953" cy="3226953"/>
            </a:xfrm>
            <a:prstGeom prst="arc">
              <a:avLst>
                <a:gd name="adj1" fmla="val 11260131"/>
                <a:gd name="adj2" fmla="val 17666338"/>
              </a:avLst>
            </a:prstGeom>
            <a:ln w="127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TextBox 37"/>
            <p:cNvSpPr txBox="1"/>
            <p:nvPr/>
          </p:nvSpPr>
          <p:spPr>
            <a:xfrm rot="3130319">
              <a:off x="8063032" y="2511453"/>
              <a:ext cx="9653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addition</a:t>
              </a:r>
              <a:endParaRPr lang="ru-RU" dirty="0">
                <a:latin typeface="+mj-lt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 rot="18544216">
              <a:off x="5265535" y="2354326"/>
              <a:ext cx="12513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subtraction</a:t>
              </a:r>
              <a:endParaRPr lang="ru-RU" dirty="0">
                <a:latin typeface="+mj-lt"/>
              </a:endParaRPr>
            </a:p>
          </p:txBody>
        </p:sp>
        <p:sp>
          <p:nvSpPr>
            <p:cNvPr id="43" name="Arc 42"/>
            <p:cNvSpPr/>
            <p:nvPr/>
          </p:nvSpPr>
          <p:spPr>
            <a:xfrm rot="2942799">
              <a:off x="7175668" y="4008450"/>
              <a:ext cx="884596" cy="819264"/>
            </a:xfrm>
            <a:prstGeom prst="arc">
              <a:avLst>
                <a:gd name="adj1" fmla="val 19577255"/>
                <a:gd name="adj2" fmla="val 2946362"/>
              </a:avLst>
            </a:prstGeom>
            <a:ln w="1270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4" name="&quot;No&quot; Symbol 43"/>
            <p:cNvSpPr/>
            <p:nvPr/>
          </p:nvSpPr>
          <p:spPr>
            <a:xfrm>
              <a:off x="7737904" y="4636990"/>
              <a:ext cx="265397" cy="265397"/>
            </a:xfrm>
            <a:prstGeom prst="noSmoking">
              <a:avLst/>
            </a:prstGeom>
            <a:solidFill>
              <a:srgbClr val="FF0000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 smtClean="0">
                <a:solidFill>
                  <a:schemeClr val="tx1"/>
                </a:solidFill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950092" y="4807097"/>
              <a:ext cx="10124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overflow</a:t>
              </a:r>
              <a:endParaRPr lang="ru-RU" dirty="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60650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of subtraction (1)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933883"/>
            <a:ext cx="4423449" cy="3556090"/>
          </a:xfrm>
        </p:spPr>
        <p:txBody>
          <a:bodyPr/>
          <a:lstStyle/>
          <a:p>
            <a:r>
              <a:rPr lang="en-US" sz="2100" dirty="0"/>
              <a:t>Example: 2 – 3 = ?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sz="1800" dirty="0"/>
              <a:t>2 – 3 = 2 + </a:t>
            </a:r>
            <a:r>
              <a:rPr lang="en-US" sz="1800" dirty="0" smtClean="0"/>
              <a:t>(−3</a:t>
            </a:r>
            <a:r>
              <a:rPr lang="en-US" sz="1800" dirty="0"/>
              <a:t>)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sz="1800" dirty="0"/>
              <a:t>2 + </a:t>
            </a:r>
            <a:r>
              <a:rPr lang="en-US" sz="1800" dirty="0" smtClean="0"/>
              <a:t>(−3</a:t>
            </a:r>
            <a:r>
              <a:rPr lang="en-US" sz="1800" dirty="0"/>
              <a:t>) = 010 + 101 = 111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sz="1800" dirty="0"/>
              <a:t>111 = </a:t>
            </a:r>
            <a:r>
              <a:rPr lang="en-US" sz="1800" dirty="0" smtClean="0"/>
              <a:t>−1 </a:t>
            </a:r>
            <a:endParaRPr lang="en-US" sz="1800" dirty="0"/>
          </a:p>
          <a:p>
            <a:endParaRPr lang="ru-RU" sz="21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4268624" y="1747656"/>
            <a:ext cx="1980456" cy="1898023"/>
            <a:chOff x="4268624" y="1747656"/>
            <a:chExt cx="1980456" cy="1898023"/>
          </a:xfrm>
        </p:grpSpPr>
        <p:sp>
          <p:nvSpPr>
            <p:cNvPr id="42" name="Pie 41"/>
            <p:cNvSpPr/>
            <p:nvPr/>
          </p:nvSpPr>
          <p:spPr>
            <a:xfrm>
              <a:off x="4533167" y="1997070"/>
              <a:ext cx="1332482" cy="1337110"/>
            </a:xfrm>
            <a:prstGeom prst="pie">
              <a:avLst>
                <a:gd name="adj1" fmla="val 16229770"/>
                <a:gd name="adj2" fmla="val 21588792"/>
              </a:avLst>
            </a:prstGeom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4537108" y="1996609"/>
              <a:ext cx="1323411" cy="1323411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5177806" y="1965099"/>
              <a:ext cx="63020" cy="6302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505598" y="2617615"/>
              <a:ext cx="63020" cy="6302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5829009" y="2617615"/>
              <a:ext cx="63020" cy="6302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5177806" y="3284047"/>
              <a:ext cx="63020" cy="6302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4695706" y="2162298"/>
              <a:ext cx="63020" cy="6302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4695706" y="3099714"/>
              <a:ext cx="63020" cy="6302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5633122" y="2162035"/>
              <a:ext cx="63020" cy="6302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5633122" y="3104178"/>
              <a:ext cx="63020" cy="6302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052399" y="2022394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000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368747" y="2156359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001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725005" y="2161583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111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534839" y="2556437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010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357580" y="2944219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011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731561" y="2944219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101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049970" y="3097462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100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563515" y="2541932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110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666053" y="1964015"/>
              <a:ext cx="3401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+1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126603" y="1747656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0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892028" y="2540945"/>
              <a:ext cx="3401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+2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698363" y="3023045"/>
              <a:ext cx="3401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+3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095905" y="3368680"/>
              <a:ext cx="3097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-4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06955" y="3120307"/>
              <a:ext cx="3097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-3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68624" y="2544986"/>
              <a:ext cx="3097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-2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509361" y="1961584"/>
              <a:ext cx="3097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-1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30" name="Down Arrow 129"/>
            <p:cNvSpPr/>
            <p:nvPr/>
          </p:nvSpPr>
          <p:spPr>
            <a:xfrm rot="3451688">
              <a:off x="5976072" y="2300150"/>
              <a:ext cx="225976" cy="320040"/>
            </a:xfrm>
            <a:prstGeom prst="downArrow">
              <a:avLst/>
            </a:prstGeom>
            <a:solidFill>
              <a:schemeClr val="accent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 smtClean="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289906" y="3682303"/>
            <a:ext cx="1965140" cy="1898024"/>
            <a:chOff x="4289906" y="3682303"/>
            <a:chExt cx="1965140" cy="1898024"/>
          </a:xfrm>
        </p:grpSpPr>
        <p:grpSp>
          <p:nvGrpSpPr>
            <p:cNvPr id="74" name="Group 73"/>
            <p:cNvGrpSpPr/>
            <p:nvPr/>
          </p:nvGrpSpPr>
          <p:grpSpPr>
            <a:xfrm>
              <a:off x="4291484" y="3682303"/>
              <a:ext cx="1963562" cy="1898024"/>
              <a:chOff x="7812528" y="2240781"/>
              <a:chExt cx="3351865" cy="3239989"/>
            </a:xfrm>
          </p:grpSpPr>
          <p:sp>
            <p:nvSpPr>
              <p:cNvPr id="75" name="Pie 74"/>
              <p:cNvSpPr/>
              <p:nvPr/>
            </p:nvSpPr>
            <p:spPr>
              <a:xfrm>
                <a:off x="8267011" y="2653944"/>
                <a:ext cx="2274590" cy="2282490"/>
              </a:xfrm>
              <a:prstGeom prst="pie">
                <a:avLst>
                  <a:gd name="adj1" fmla="val 16247507"/>
                  <a:gd name="adj2" fmla="val 8177722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7" name="Oval 76"/>
              <p:cNvSpPr/>
              <p:nvPr/>
            </p:nvSpPr>
            <p:spPr>
              <a:xfrm>
                <a:off x="8270838" y="2665753"/>
                <a:ext cx="2259106" cy="225910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8" name="Oval 77"/>
              <p:cNvSpPr/>
              <p:nvPr/>
            </p:nvSpPr>
            <p:spPr>
              <a:xfrm>
                <a:off x="9364532" y="2611965"/>
                <a:ext cx="107576" cy="10757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9" name="Oval 78"/>
              <p:cNvSpPr/>
              <p:nvPr/>
            </p:nvSpPr>
            <p:spPr>
              <a:xfrm>
                <a:off x="8217050" y="3725830"/>
                <a:ext cx="107576" cy="10757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0" name="Oval 79"/>
              <p:cNvSpPr/>
              <p:nvPr/>
            </p:nvSpPr>
            <p:spPr>
              <a:xfrm>
                <a:off x="10476156" y="3725830"/>
                <a:ext cx="107576" cy="10757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1" name="Oval 80"/>
              <p:cNvSpPr/>
              <p:nvPr/>
            </p:nvSpPr>
            <p:spPr>
              <a:xfrm>
                <a:off x="9364532" y="4863451"/>
                <a:ext cx="107576" cy="10757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2" name="Oval 81"/>
              <p:cNvSpPr/>
              <p:nvPr/>
            </p:nvSpPr>
            <p:spPr>
              <a:xfrm>
                <a:off x="8541572" y="2948590"/>
                <a:ext cx="107576" cy="10757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3" name="Oval 82"/>
              <p:cNvSpPr/>
              <p:nvPr/>
            </p:nvSpPr>
            <p:spPr>
              <a:xfrm>
                <a:off x="8541572" y="4548790"/>
                <a:ext cx="107576" cy="10757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4" name="Oval 83"/>
              <p:cNvSpPr/>
              <p:nvPr/>
            </p:nvSpPr>
            <p:spPr>
              <a:xfrm>
                <a:off x="10141772" y="2948141"/>
                <a:ext cx="107576" cy="10757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5" name="Oval 84"/>
              <p:cNvSpPr/>
              <p:nvPr/>
            </p:nvSpPr>
            <p:spPr>
              <a:xfrm>
                <a:off x="10141772" y="4556410"/>
                <a:ext cx="107576" cy="10757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9150459" y="2709769"/>
                <a:ext cx="717479" cy="4728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000</a:t>
                </a:r>
                <a:endParaRPr lang="ru-RU" sz="1200" dirty="0">
                  <a:latin typeface="+mj-lt"/>
                </a:endParaRPr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9690476" y="2938450"/>
                <a:ext cx="717479" cy="4728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001</a:t>
                </a:r>
                <a:endParaRPr lang="ru-RU" sz="1200" dirty="0">
                  <a:latin typeface="+mj-lt"/>
                </a:endParaRPr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8591584" y="2947368"/>
                <a:ext cx="717479" cy="4728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111</a:t>
                </a:r>
                <a:endParaRPr lang="ru-RU" sz="1200" dirty="0">
                  <a:latin typeface="+mj-lt"/>
                </a:endParaRPr>
              </a:p>
            </p:txBody>
          </p:sp>
          <p:sp>
            <p:nvSpPr>
              <p:cNvPr id="89" name="TextBox 88"/>
              <p:cNvSpPr txBox="1"/>
              <p:nvPr/>
            </p:nvSpPr>
            <p:spPr>
              <a:xfrm>
                <a:off x="9973998" y="3621397"/>
                <a:ext cx="717479" cy="4728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010</a:t>
                </a:r>
                <a:endParaRPr lang="ru-RU" sz="1200" dirty="0">
                  <a:latin typeface="+mj-lt"/>
                </a:endParaRPr>
              </a:p>
            </p:txBody>
          </p:sp>
          <p:sp>
            <p:nvSpPr>
              <p:cNvPr id="90" name="TextBox 89"/>
              <p:cNvSpPr txBox="1"/>
              <p:nvPr/>
            </p:nvSpPr>
            <p:spPr>
              <a:xfrm>
                <a:off x="9671411" y="4283353"/>
                <a:ext cx="717479" cy="4728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011</a:t>
                </a:r>
                <a:endParaRPr lang="ru-RU" sz="1200" dirty="0">
                  <a:latin typeface="+mj-lt"/>
                </a:endParaRPr>
              </a:p>
            </p:txBody>
          </p:sp>
          <p:sp>
            <p:nvSpPr>
              <p:cNvPr id="91" name="TextBox 90"/>
              <p:cNvSpPr txBox="1"/>
              <p:nvPr/>
            </p:nvSpPr>
            <p:spPr>
              <a:xfrm>
                <a:off x="8602777" y="4283353"/>
                <a:ext cx="717479" cy="4728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101</a:t>
                </a:r>
                <a:endParaRPr lang="ru-RU" sz="1200" dirty="0">
                  <a:latin typeface="+mj-lt"/>
                </a:endParaRPr>
              </a:p>
            </p:txBody>
          </p:sp>
          <p:sp>
            <p:nvSpPr>
              <p:cNvPr id="92" name="TextBox 91"/>
              <p:cNvSpPr txBox="1"/>
              <p:nvPr/>
            </p:nvSpPr>
            <p:spPr>
              <a:xfrm>
                <a:off x="9146309" y="4544946"/>
                <a:ext cx="717479" cy="4728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100</a:t>
                </a:r>
                <a:endParaRPr lang="ru-RU" sz="1200" dirty="0">
                  <a:latin typeface="+mj-lt"/>
                </a:endParaRPr>
              </a:p>
            </p:txBody>
          </p:sp>
          <p:sp>
            <p:nvSpPr>
              <p:cNvPr id="93" name="TextBox 92"/>
              <p:cNvSpPr txBox="1"/>
              <p:nvPr/>
            </p:nvSpPr>
            <p:spPr>
              <a:xfrm>
                <a:off x="8315915" y="3596638"/>
                <a:ext cx="717479" cy="4728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110</a:t>
                </a:r>
                <a:endParaRPr lang="ru-RU" sz="1200" dirty="0">
                  <a:latin typeface="+mj-lt"/>
                </a:endParaRPr>
              </a:p>
            </p:txBody>
          </p:sp>
          <p:sp>
            <p:nvSpPr>
              <p:cNvPr id="94" name="TextBox 93"/>
              <p:cNvSpPr txBox="1"/>
              <p:nvPr/>
            </p:nvSpPr>
            <p:spPr>
              <a:xfrm>
                <a:off x="10197987" y="2610113"/>
                <a:ext cx="580661" cy="4728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+1</a:t>
                </a:r>
                <a:endParaRPr lang="ru-RU" sz="1200" dirty="0">
                  <a:latin typeface="+mj-lt"/>
                </a:endParaRPr>
              </a:p>
            </p:txBody>
          </p:sp>
          <p:sp>
            <p:nvSpPr>
              <p:cNvPr id="95" name="TextBox 94"/>
              <p:cNvSpPr txBox="1"/>
              <p:nvPr/>
            </p:nvSpPr>
            <p:spPr>
              <a:xfrm>
                <a:off x="9277128" y="2240781"/>
                <a:ext cx="449315" cy="4728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0</a:t>
                </a:r>
                <a:endParaRPr lang="ru-RU" sz="1200" dirty="0">
                  <a:latin typeface="+mj-lt"/>
                </a:endParaRPr>
              </a:p>
            </p:txBody>
          </p:sp>
          <p:sp>
            <p:nvSpPr>
              <p:cNvPr id="96" name="TextBox 95"/>
              <p:cNvSpPr txBox="1"/>
              <p:nvPr/>
            </p:nvSpPr>
            <p:spPr>
              <a:xfrm>
                <a:off x="10583732" y="3594951"/>
                <a:ext cx="580661" cy="4728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+2</a:t>
                </a:r>
                <a:endParaRPr lang="ru-RU" sz="1200" dirty="0">
                  <a:latin typeface="+mj-lt"/>
                </a:endParaRPr>
              </a:p>
            </p:txBody>
          </p:sp>
          <p:sp>
            <p:nvSpPr>
              <p:cNvPr id="97" name="TextBox 96"/>
              <p:cNvSpPr txBox="1"/>
              <p:nvPr/>
            </p:nvSpPr>
            <p:spPr>
              <a:xfrm>
                <a:off x="10253140" y="4417912"/>
                <a:ext cx="580661" cy="4728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+3</a:t>
                </a:r>
                <a:endParaRPr lang="ru-RU" sz="1200" dirty="0">
                  <a:latin typeface="+mj-lt"/>
                </a:endParaRPr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9224722" y="5007924"/>
                <a:ext cx="528668" cy="4728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-4</a:t>
                </a:r>
                <a:endParaRPr lang="ru-RU" sz="1200" dirty="0">
                  <a:latin typeface="+mj-lt"/>
                </a:endParaRPr>
              </a:p>
            </p:txBody>
          </p:sp>
          <p:sp>
            <p:nvSpPr>
              <p:cNvPr id="99" name="TextBox 98"/>
              <p:cNvSpPr txBox="1"/>
              <p:nvPr/>
            </p:nvSpPr>
            <p:spPr>
              <a:xfrm>
                <a:off x="8219365" y="4583941"/>
                <a:ext cx="528668" cy="4728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-3</a:t>
                </a:r>
                <a:endParaRPr lang="ru-RU" sz="1200" dirty="0">
                  <a:latin typeface="+mj-lt"/>
                </a:endParaRPr>
              </a:p>
            </p:txBody>
          </p:sp>
          <p:sp>
            <p:nvSpPr>
              <p:cNvPr id="100" name="TextBox 99"/>
              <p:cNvSpPr txBox="1"/>
              <p:nvPr/>
            </p:nvSpPr>
            <p:spPr>
              <a:xfrm>
                <a:off x="7812528" y="3601849"/>
                <a:ext cx="528668" cy="4728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-2</a:t>
                </a:r>
                <a:endParaRPr lang="ru-RU" sz="1200" dirty="0">
                  <a:latin typeface="+mj-lt"/>
                </a:endParaRPr>
              </a:p>
            </p:txBody>
          </p:sp>
          <p:sp>
            <p:nvSpPr>
              <p:cNvPr id="101" name="TextBox 100"/>
              <p:cNvSpPr txBox="1"/>
              <p:nvPr/>
            </p:nvSpPr>
            <p:spPr>
              <a:xfrm>
                <a:off x="8223472" y="2605963"/>
                <a:ext cx="528668" cy="4728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-1</a:t>
                </a:r>
                <a:endParaRPr lang="ru-RU" sz="1200" dirty="0">
                  <a:latin typeface="+mj-lt"/>
                </a:endParaRPr>
              </a:p>
            </p:txBody>
          </p:sp>
        </p:grpSp>
        <p:sp>
          <p:nvSpPr>
            <p:cNvPr id="131" name="Down Arrow 130"/>
            <p:cNvSpPr/>
            <p:nvPr/>
          </p:nvSpPr>
          <p:spPr>
            <a:xfrm rot="14840054">
              <a:off x="4336938" y="4972377"/>
              <a:ext cx="225976" cy="320040"/>
            </a:xfrm>
            <a:prstGeom prst="downArrow">
              <a:avLst/>
            </a:prstGeom>
            <a:solidFill>
              <a:schemeClr val="accent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 smtClean="0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726779" y="2520105"/>
            <a:ext cx="1963562" cy="1898024"/>
            <a:chOff x="6726779" y="2520105"/>
            <a:chExt cx="1963562" cy="1898024"/>
          </a:xfrm>
        </p:grpSpPr>
        <p:sp>
          <p:nvSpPr>
            <p:cNvPr id="129" name="Pie 128"/>
            <p:cNvSpPr/>
            <p:nvPr/>
          </p:nvSpPr>
          <p:spPr>
            <a:xfrm>
              <a:off x="7013173" y="2764296"/>
              <a:ext cx="1332482" cy="1337110"/>
            </a:xfrm>
            <a:prstGeom prst="pie">
              <a:avLst>
                <a:gd name="adj1" fmla="val 16229770"/>
                <a:gd name="adj2" fmla="val 21588792"/>
              </a:avLst>
            </a:prstGeom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grpSp>
          <p:nvGrpSpPr>
            <p:cNvPr id="102" name="Group 101"/>
            <p:cNvGrpSpPr/>
            <p:nvPr/>
          </p:nvGrpSpPr>
          <p:grpSpPr>
            <a:xfrm>
              <a:off x="6726779" y="2520105"/>
              <a:ext cx="1963562" cy="1898024"/>
              <a:chOff x="7812528" y="2240781"/>
              <a:chExt cx="3351865" cy="3239989"/>
            </a:xfrm>
          </p:grpSpPr>
          <p:sp>
            <p:nvSpPr>
              <p:cNvPr id="103" name="Pie 102"/>
              <p:cNvSpPr/>
              <p:nvPr/>
            </p:nvSpPr>
            <p:spPr>
              <a:xfrm rot="5400000">
                <a:off x="8267011" y="2653943"/>
                <a:ext cx="2274590" cy="2282490"/>
              </a:xfrm>
              <a:prstGeom prst="pie">
                <a:avLst>
                  <a:gd name="adj1" fmla="val 16247507"/>
                  <a:gd name="adj2" fmla="val 8177722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Oval 103"/>
              <p:cNvSpPr/>
              <p:nvPr/>
            </p:nvSpPr>
            <p:spPr>
              <a:xfrm>
                <a:off x="8270838" y="2665753"/>
                <a:ext cx="2259106" cy="225910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5" name="Oval 104"/>
              <p:cNvSpPr/>
              <p:nvPr/>
            </p:nvSpPr>
            <p:spPr>
              <a:xfrm>
                <a:off x="9364532" y="2611965"/>
                <a:ext cx="107576" cy="10757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6" name="Oval 105"/>
              <p:cNvSpPr/>
              <p:nvPr/>
            </p:nvSpPr>
            <p:spPr>
              <a:xfrm>
                <a:off x="8217050" y="3725830"/>
                <a:ext cx="107576" cy="10757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Oval 106"/>
              <p:cNvSpPr/>
              <p:nvPr/>
            </p:nvSpPr>
            <p:spPr>
              <a:xfrm>
                <a:off x="10476156" y="3725830"/>
                <a:ext cx="107576" cy="10757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8" name="Oval 107"/>
              <p:cNvSpPr/>
              <p:nvPr/>
            </p:nvSpPr>
            <p:spPr>
              <a:xfrm>
                <a:off x="9364532" y="4863451"/>
                <a:ext cx="107576" cy="10757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9" name="Oval 108"/>
              <p:cNvSpPr/>
              <p:nvPr/>
            </p:nvSpPr>
            <p:spPr>
              <a:xfrm>
                <a:off x="8541572" y="2948590"/>
                <a:ext cx="107576" cy="10757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0" name="Oval 109"/>
              <p:cNvSpPr/>
              <p:nvPr/>
            </p:nvSpPr>
            <p:spPr>
              <a:xfrm>
                <a:off x="8541572" y="4548790"/>
                <a:ext cx="107576" cy="10757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1" name="Oval 110"/>
              <p:cNvSpPr/>
              <p:nvPr/>
            </p:nvSpPr>
            <p:spPr>
              <a:xfrm>
                <a:off x="10141772" y="2948141"/>
                <a:ext cx="107576" cy="10757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2" name="Oval 111"/>
              <p:cNvSpPr/>
              <p:nvPr/>
            </p:nvSpPr>
            <p:spPr>
              <a:xfrm>
                <a:off x="10141772" y="4556410"/>
                <a:ext cx="107576" cy="10757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3" name="TextBox 112"/>
              <p:cNvSpPr txBox="1"/>
              <p:nvPr/>
            </p:nvSpPr>
            <p:spPr>
              <a:xfrm>
                <a:off x="9150459" y="2709769"/>
                <a:ext cx="717479" cy="4728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000</a:t>
                </a:r>
                <a:endParaRPr lang="ru-RU" sz="1200" dirty="0">
                  <a:latin typeface="+mj-lt"/>
                </a:endParaRPr>
              </a:p>
            </p:txBody>
          </p:sp>
          <p:sp>
            <p:nvSpPr>
              <p:cNvPr id="114" name="TextBox 113"/>
              <p:cNvSpPr txBox="1"/>
              <p:nvPr/>
            </p:nvSpPr>
            <p:spPr>
              <a:xfrm>
                <a:off x="9690476" y="2938450"/>
                <a:ext cx="717479" cy="4728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001</a:t>
                </a:r>
                <a:endParaRPr lang="ru-RU" sz="1200" dirty="0">
                  <a:latin typeface="+mj-lt"/>
                </a:endParaRPr>
              </a:p>
            </p:txBody>
          </p:sp>
          <p:sp>
            <p:nvSpPr>
              <p:cNvPr id="115" name="TextBox 114"/>
              <p:cNvSpPr txBox="1"/>
              <p:nvPr/>
            </p:nvSpPr>
            <p:spPr>
              <a:xfrm>
                <a:off x="8591584" y="2947368"/>
                <a:ext cx="717479" cy="4728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111</a:t>
                </a:r>
                <a:endParaRPr lang="ru-RU" sz="1200" dirty="0">
                  <a:latin typeface="+mj-lt"/>
                </a:endParaRPr>
              </a:p>
            </p:txBody>
          </p:sp>
          <p:sp>
            <p:nvSpPr>
              <p:cNvPr id="116" name="TextBox 115"/>
              <p:cNvSpPr txBox="1"/>
              <p:nvPr/>
            </p:nvSpPr>
            <p:spPr>
              <a:xfrm>
                <a:off x="9973998" y="3621397"/>
                <a:ext cx="717479" cy="4728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010</a:t>
                </a:r>
                <a:endParaRPr lang="ru-RU" sz="1200" dirty="0">
                  <a:latin typeface="+mj-lt"/>
                </a:endParaRPr>
              </a:p>
            </p:txBody>
          </p:sp>
          <p:sp>
            <p:nvSpPr>
              <p:cNvPr id="117" name="TextBox 116"/>
              <p:cNvSpPr txBox="1"/>
              <p:nvPr/>
            </p:nvSpPr>
            <p:spPr>
              <a:xfrm>
                <a:off x="9671411" y="4283353"/>
                <a:ext cx="717479" cy="4728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011</a:t>
                </a:r>
                <a:endParaRPr lang="ru-RU" sz="1200" dirty="0">
                  <a:latin typeface="+mj-lt"/>
                </a:endParaRPr>
              </a:p>
            </p:txBody>
          </p:sp>
          <p:sp>
            <p:nvSpPr>
              <p:cNvPr id="118" name="TextBox 117"/>
              <p:cNvSpPr txBox="1"/>
              <p:nvPr/>
            </p:nvSpPr>
            <p:spPr>
              <a:xfrm>
                <a:off x="8602777" y="4283353"/>
                <a:ext cx="717479" cy="4728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101</a:t>
                </a:r>
                <a:endParaRPr lang="ru-RU" sz="1200" dirty="0">
                  <a:latin typeface="+mj-lt"/>
                </a:endParaRPr>
              </a:p>
            </p:txBody>
          </p:sp>
          <p:sp>
            <p:nvSpPr>
              <p:cNvPr id="119" name="TextBox 118"/>
              <p:cNvSpPr txBox="1"/>
              <p:nvPr/>
            </p:nvSpPr>
            <p:spPr>
              <a:xfrm>
                <a:off x="9146309" y="4544946"/>
                <a:ext cx="717479" cy="4728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100</a:t>
                </a:r>
                <a:endParaRPr lang="ru-RU" sz="1200" dirty="0">
                  <a:latin typeface="+mj-lt"/>
                </a:endParaRPr>
              </a:p>
            </p:txBody>
          </p:sp>
          <p:sp>
            <p:nvSpPr>
              <p:cNvPr id="120" name="TextBox 119"/>
              <p:cNvSpPr txBox="1"/>
              <p:nvPr/>
            </p:nvSpPr>
            <p:spPr>
              <a:xfrm>
                <a:off x="8315915" y="3596638"/>
                <a:ext cx="717479" cy="4728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110</a:t>
                </a:r>
                <a:endParaRPr lang="ru-RU" sz="1200" dirty="0">
                  <a:latin typeface="+mj-lt"/>
                </a:endParaRPr>
              </a:p>
            </p:txBody>
          </p:sp>
          <p:sp>
            <p:nvSpPr>
              <p:cNvPr id="121" name="TextBox 120"/>
              <p:cNvSpPr txBox="1"/>
              <p:nvPr/>
            </p:nvSpPr>
            <p:spPr>
              <a:xfrm>
                <a:off x="10197987" y="2610113"/>
                <a:ext cx="580661" cy="4728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+1</a:t>
                </a:r>
                <a:endParaRPr lang="ru-RU" sz="1200" dirty="0">
                  <a:latin typeface="+mj-lt"/>
                </a:endParaRPr>
              </a:p>
            </p:txBody>
          </p:sp>
          <p:sp>
            <p:nvSpPr>
              <p:cNvPr id="122" name="TextBox 121"/>
              <p:cNvSpPr txBox="1"/>
              <p:nvPr/>
            </p:nvSpPr>
            <p:spPr>
              <a:xfrm>
                <a:off x="9277128" y="2240781"/>
                <a:ext cx="449315" cy="4728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0</a:t>
                </a:r>
                <a:endParaRPr lang="ru-RU" sz="1200" dirty="0">
                  <a:latin typeface="+mj-lt"/>
                </a:endParaRPr>
              </a:p>
            </p:txBody>
          </p:sp>
          <p:sp>
            <p:nvSpPr>
              <p:cNvPr id="123" name="TextBox 122"/>
              <p:cNvSpPr txBox="1"/>
              <p:nvPr/>
            </p:nvSpPr>
            <p:spPr>
              <a:xfrm>
                <a:off x="10583732" y="3594951"/>
                <a:ext cx="580661" cy="4728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+2</a:t>
                </a:r>
                <a:endParaRPr lang="ru-RU" sz="1200" dirty="0">
                  <a:latin typeface="+mj-lt"/>
                </a:endParaRPr>
              </a:p>
            </p:txBody>
          </p:sp>
          <p:sp>
            <p:nvSpPr>
              <p:cNvPr id="124" name="TextBox 123"/>
              <p:cNvSpPr txBox="1"/>
              <p:nvPr/>
            </p:nvSpPr>
            <p:spPr>
              <a:xfrm>
                <a:off x="10253140" y="4417912"/>
                <a:ext cx="580661" cy="4728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+3</a:t>
                </a:r>
                <a:endParaRPr lang="ru-RU" sz="1200" dirty="0">
                  <a:latin typeface="+mj-lt"/>
                </a:endParaRPr>
              </a:p>
            </p:txBody>
          </p:sp>
          <p:sp>
            <p:nvSpPr>
              <p:cNvPr id="125" name="TextBox 124"/>
              <p:cNvSpPr txBox="1"/>
              <p:nvPr/>
            </p:nvSpPr>
            <p:spPr>
              <a:xfrm>
                <a:off x="9224722" y="5007924"/>
                <a:ext cx="528668" cy="4728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-4</a:t>
                </a:r>
                <a:endParaRPr lang="ru-RU" sz="1200" dirty="0">
                  <a:latin typeface="+mj-lt"/>
                </a:endParaRPr>
              </a:p>
            </p:txBody>
          </p:sp>
          <p:sp>
            <p:nvSpPr>
              <p:cNvPr id="126" name="TextBox 125"/>
              <p:cNvSpPr txBox="1"/>
              <p:nvPr/>
            </p:nvSpPr>
            <p:spPr>
              <a:xfrm>
                <a:off x="8219365" y="4583941"/>
                <a:ext cx="528668" cy="4728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-3</a:t>
                </a:r>
                <a:endParaRPr lang="ru-RU" sz="1200" dirty="0">
                  <a:latin typeface="+mj-lt"/>
                </a:endParaRPr>
              </a:p>
            </p:txBody>
          </p:sp>
          <p:sp>
            <p:nvSpPr>
              <p:cNvPr id="127" name="TextBox 126"/>
              <p:cNvSpPr txBox="1"/>
              <p:nvPr/>
            </p:nvSpPr>
            <p:spPr>
              <a:xfrm>
                <a:off x="7812528" y="3601849"/>
                <a:ext cx="528668" cy="4728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-2</a:t>
                </a:r>
                <a:endParaRPr lang="ru-RU" sz="1200" dirty="0">
                  <a:latin typeface="+mj-lt"/>
                </a:endParaRPr>
              </a:p>
            </p:txBody>
          </p:sp>
          <p:sp>
            <p:nvSpPr>
              <p:cNvPr id="128" name="TextBox 127"/>
              <p:cNvSpPr txBox="1"/>
              <p:nvPr/>
            </p:nvSpPr>
            <p:spPr>
              <a:xfrm>
                <a:off x="8223472" y="2605963"/>
                <a:ext cx="528668" cy="4728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-1</a:t>
                </a:r>
                <a:endParaRPr lang="ru-RU" sz="1200" dirty="0">
                  <a:latin typeface="+mj-lt"/>
                </a:endParaRPr>
              </a:p>
            </p:txBody>
          </p:sp>
        </p:grpSp>
        <p:sp>
          <p:nvSpPr>
            <p:cNvPr id="132" name="Down Arrow 131"/>
            <p:cNvSpPr/>
            <p:nvPr/>
          </p:nvSpPr>
          <p:spPr>
            <a:xfrm rot="18747595">
              <a:off x="6850766" y="2511923"/>
              <a:ext cx="225976" cy="320040"/>
            </a:xfrm>
            <a:prstGeom prst="downArrow">
              <a:avLst/>
            </a:prstGeom>
            <a:solidFill>
              <a:schemeClr val="accent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 smtClean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639705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subtraction </a:t>
            </a:r>
            <a:r>
              <a:rPr lang="en-US" dirty="0" smtClean="0"/>
              <a:t>(2)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933883"/>
            <a:ext cx="4423449" cy="3556090"/>
          </a:xfrm>
        </p:spPr>
        <p:txBody>
          <a:bodyPr/>
          <a:lstStyle/>
          <a:p>
            <a:r>
              <a:rPr lang="en-US" sz="2100" dirty="0"/>
              <a:t>Example: </a:t>
            </a:r>
            <a:r>
              <a:rPr lang="en-US" sz="2100" dirty="0" smtClean="0"/>
              <a:t>−1 </a:t>
            </a:r>
            <a:r>
              <a:rPr lang="en-US" sz="2100" dirty="0"/>
              <a:t>– 3 = ?</a:t>
            </a:r>
          </a:p>
          <a:p>
            <a:pPr marL="685800" lvl="1" indent="-342900"/>
            <a:r>
              <a:rPr lang="en-US" sz="1800" dirty="0" smtClean="0"/>
              <a:t>−1 </a:t>
            </a:r>
            <a:r>
              <a:rPr lang="en-US" sz="1800" dirty="0"/>
              <a:t>– 3 = </a:t>
            </a:r>
            <a:r>
              <a:rPr lang="en-US" sz="1800" dirty="0" smtClean="0"/>
              <a:t>−1 </a:t>
            </a:r>
            <a:r>
              <a:rPr lang="en-US" sz="1800" dirty="0"/>
              <a:t>+ </a:t>
            </a:r>
            <a:r>
              <a:rPr lang="en-US" sz="1800" dirty="0" smtClean="0"/>
              <a:t>(−3</a:t>
            </a:r>
            <a:r>
              <a:rPr lang="en-US" sz="1800" dirty="0"/>
              <a:t>)</a:t>
            </a:r>
          </a:p>
          <a:p>
            <a:pPr marL="685800" lvl="1" indent="-342900"/>
            <a:r>
              <a:rPr lang="en-US" sz="1800" dirty="0" smtClean="0"/>
              <a:t>−1 </a:t>
            </a:r>
            <a:r>
              <a:rPr lang="en-US" sz="1800" dirty="0"/>
              <a:t>+ </a:t>
            </a:r>
            <a:r>
              <a:rPr lang="en-US" sz="1800" dirty="0" smtClean="0"/>
              <a:t>(−3</a:t>
            </a:r>
            <a:r>
              <a:rPr lang="en-US" sz="1800" dirty="0"/>
              <a:t>) = 111 + 101 = </a:t>
            </a:r>
            <a:r>
              <a:rPr lang="en-US" sz="1800" i="1" dirty="0">
                <a:solidFill>
                  <a:schemeClr val="bg1">
                    <a:lumMod val="65000"/>
                  </a:schemeClr>
                </a:solidFill>
              </a:rPr>
              <a:t>1</a:t>
            </a:r>
            <a:r>
              <a:rPr lang="en-US" sz="1800" dirty="0"/>
              <a:t>100</a:t>
            </a:r>
          </a:p>
          <a:p>
            <a:pPr marL="685800" lvl="1" indent="-342900"/>
            <a:r>
              <a:rPr lang="en-US" sz="1800" dirty="0"/>
              <a:t>100 = </a:t>
            </a:r>
            <a:r>
              <a:rPr lang="en-US" sz="1800" dirty="0" smtClean="0"/>
              <a:t>−4</a:t>
            </a:r>
            <a:endParaRPr lang="en-US" sz="1800" dirty="0"/>
          </a:p>
          <a:p>
            <a:endParaRPr lang="ru-RU" sz="2100" dirty="0"/>
          </a:p>
        </p:txBody>
      </p:sp>
      <p:grpSp>
        <p:nvGrpSpPr>
          <p:cNvPr id="16" name="Group 15"/>
          <p:cNvGrpSpPr/>
          <p:nvPr/>
        </p:nvGrpSpPr>
        <p:grpSpPr>
          <a:xfrm>
            <a:off x="4268625" y="1747656"/>
            <a:ext cx="1963562" cy="1898023"/>
            <a:chOff x="4268625" y="1747656"/>
            <a:chExt cx="1963562" cy="1898023"/>
          </a:xfrm>
        </p:grpSpPr>
        <p:sp>
          <p:nvSpPr>
            <p:cNvPr id="42" name="Pie 41"/>
            <p:cNvSpPr/>
            <p:nvPr/>
          </p:nvSpPr>
          <p:spPr>
            <a:xfrm>
              <a:off x="4533168" y="1997070"/>
              <a:ext cx="1332482" cy="1337110"/>
            </a:xfrm>
            <a:prstGeom prst="pie">
              <a:avLst>
                <a:gd name="adj1" fmla="val 16229770"/>
                <a:gd name="adj2" fmla="val 13473204"/>
              </a:avLst>
            </a:prstGeom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4537109" y="1996609"/>
              <a:ext cx="1323411" cy="1323411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5177807" y="1965099"/>
              <a:ext cx="63020" cy="6302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505599" y="2617615"/>
              <a:ext cx="63020" cy="6302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5829010" y="2617615"/>
              <a:ext cx="63020" cy="6302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5177807" y="3284047"/>
              <a:ext cx="63020" cy="6302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4695707" y="2162298"/>
              <a:ext cx="63020" cy="6302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4695707" y="3099714"/>
              <a:ext cx="63020" cy="6302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5633123" y="2162035"/>
              <a:ext cx="63020" cy="6302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5633123" y="3104178"/>
              <a:ext cx="63020" cy="6302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052401" y="2022394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000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368748" y="2156359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001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725005" y="2161583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111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534840" y="2556437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010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357581" y="2944219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011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731562" y="2944219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101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049971" y="3097462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100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563515" y="2541932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110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666053" y="1964015"/>
              <a:ext cx="3401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+1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126604" y="1747656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0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892029" y="2540945"/>
              <a:ext cx="3401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+2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698364" y="3023045"/>
              <a:ext cx="3401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+3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095906" y="3368680"/>
              <a:ext cx="3097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-4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06956" y="3120307"/>
              <a:ext cx="3097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-3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68625" y="2544986"/>
              <a:ext cx="3097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-2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509362" y="1961584"/>
              <a:ext cx="3097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-1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33" name="Down Arrow 132"/>
            <p:cNvSpPr/>
            <p:nvPr/>
          </p:nvSpPr>
          <p:spPr>
            <a:xfrm rot="18747595">
              <a:off x="4359121" y="1755896"/>
              <a:ext cx="225976" cy="320040"/>
            </a:xfrm>
            <a:prstGeom prst="downArrow">
              <a:avLst/>
            </a:prstGeom>
            <a:solidFill>
              <a:schemeClr val="accent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 smtClean="0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4284110" y="3682303"/>
            <a:ext cx="1970936" cy="1898024"/>
            <a:chOff x="4284110" y="3682303"/>
            <a:chExt cx="1970936" cy="1898024"/>
          </a:xfrm>
        </p:grpSpPr>
        <p:sp>
          <p:nvSpPr>
            <p:cNvPr id="75" name="Pie 74"/>
            <p:cNvSpPr/>
            <p:nvPr/>
          </p:nvSpPr>
          <p:spPr>
            <a:xfrm>
              <a:off x="4557725" y="3924339"/>
              <a:ext cx="1332482" cy="1337110"/>
            </a:xfrm>
            <a:prstGeom prst="pie">
              <a:avLst>
                <a:gd name="adj1" fmla="val 16247507"/>
                <a:gd name="adj2" fmla="val 8177722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77" name="Oval 76"/>
            <p:cNvSpPr/>
            <p:nvPr/>
          </p:nvSpPr>
          <p:spPr>
            <a:xfrm>
              <a:off x="4559967" y="3931257"/>
              <a:ext cx="1323411" cy="1323411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78" name="Oval 77"/>
            <p:cNvSpPr/>
            <p:nvPr/>
          </p:nvSpPr>
          <p:spPr>
            <a:xfrm>
              <a:off x="5200666" y="3899747"/>
              <a:ext cx="63019" cy="63019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79" name="Oval 78"/>
            <p:cNvSpPr/>
            <p:nvPr/>
          </p:nvSpPr>
          <p:spPr>
            <a:xfrm>
              <a:off x="4528458" y="4552262"/>
              <a:ext cx="63019" cy="63019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80" name="Oval 79"/>
            <p:cNvSpPr/>
            <p:nvPr/>
          </p:nvSpPr>
          <p:spPr>
            <a:xfrm>
              <a:off x="5851869" y="4552262"/>
              <a:ext cx="63019" cy="63019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81" name="Oval 80"/>
            <p:cNvSpPr/>
            <p:nvPr/>
          </p:nvSpPr>
          <p:spPr>
            <a:xfrm>
              <a:off x="5200666" y="5218694"/>
              <a:ext cx="63019" cy="63019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82" name="Oval 81"/>
            <p:cNvSpPr/>
            <p:nvPr/>
          </p:nvSpPr>
          <p:spPr>
            <a:xfrm>
              <a:off x="4718567" y="4096946"/>
              <a:ext cx="63019" cy="63019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83" name="Oval 82"/>
            <p:cNvSpPr/>
            <p:nvPr/>
          </p:nvSpPr>
          <p:spPr>
            <a:xfrm>
              <a:off x="4718567" y="5034362"/>
              <a:ext cx="63019" cy="63019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84" name="Oval 83"/>
            <p:cNvSpPr/>
            <p:nvPr/>
          </p:nvSpPr>
          <p:spPr>
            <a:xfrm>
              <a:off x="5655983" y="4096683"/>
              <a:ext cx="63019" cy="63019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85" name="Oval 84"/>
            <p:cNvSpPr/>
            <p:nvPr/>
          </p:nvSpPr>
          <p:spPr>
            <a:xfrm>
              <a:off x="5655983" y="5038826"/>
              <a:ext cx="63019" cy="63019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5075260" y="3957042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000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5391608" y="4091006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001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4747864" y="4096230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111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5557699" y="4491084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010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5380440" y="4878866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011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4754421" y="4878866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101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5072829" y="5032110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100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4586374" y="4476580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110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5688914" y="3898662"/>
              <a:ext cx="3401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+1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5149464" y="3682303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0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5914888" y="4475592"/>
              <a:ext cx="3401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+2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5721223" y="4957692"/>
              <a:ext cx="3401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+3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5118764" y="5303328"/>
              <a:ext cx="3097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-4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4529814" y="5054954"/>
              <a:ext cx="3097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-3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4291484" y="4479633"/>
              <a:ext cx="3097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-2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4532220" y="3896231"/>
              <a:ext cx="3097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-1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34" name="Down Arrow 133"/>
            <p:cNvSpPr/>
            <p:nvPr/>
          </p:nvSpPr>
          <p:spPr>
            <a:xfrm rot="13511513">
              <a:off x="4331142" y="5175614"/>
              <a:ext cx="225976" cy="320040"/>
            </a:xfrm>
            <a:prstGeom prst="downArrow">
              <a:avLst/>
            </a:prstGeom>
            <a:solidFill>
              <a:schemeClr val="accent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 smtClean="0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726780" y="2520106"/>
            <a:ext cx="1963562" cy="2199126"/>
            <a:chOff x="6726780" y="2520106"/>
            <a:chExt cx="1963562" cy="2199126"/>
          </a:xfrm>
        </p:grpSpPr>
        <p:sp>
          <p:nvSpPr>
            <p:cNvPr id="130" name="Pie 129"/>
            <p:cNvSpPr/>
            <p:nvPr/>
          </p:nvSpPr>
          <p:spPr>
            <a:xfrm>
              <a:off x="6990961" y="2751756"/>
              <a:ext cx="1332482" cy="1337110"/>
            </a:xfrm>
            <a:prstGeom prst="pie">
              <a:avLst>
                <a:gd name="adj1" fmla="val 16229770"/>
                <a:gd name="adj2" fmla="val 13473204"/>
              </a:avLst>
            </a:prstGeom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32" name="Pie 131"/>
            <p:cNvSpPr/>
            <p:nvPr/>
          </p:nvSpPr>
          <p:spPr>
            <a:xfrm rot="18699122">
              <a:off x="7001845" y="2758968"/>
              <a:ext cx="1332482" cy="1337110"/>
            </a:xfrm>
            <a:prstGeom prst="pie">
              <a:avLst>
                <a:gd name="adj1" fmla="val 16247507"/>
                <a:gd name="adj2" fmla="val 8177722"/>
              </a:avLst>
            </a:prstGeom>
            <a:solidFill>
              <a:schemeClr val="accent1">
                <a:lumMod val="20000"/>
                <a:lumOff val="80000"/>
                <a:alpha val="65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04" name="Oval 103"/>
            <p:cNvSpPr/>
            <p:nvPr/>
          </p:nvSpPr>
          <p:spPr>
            <a:xfrm>
              <a:off x="6995264" y="2769059"/>
              <a:ext cx="1323411" cy="1323411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05" name="Oval 104"/>
            <p:cNvSpPr/>
            <p:nvPr/>
          </p:nvSpPr>
          <p:spPr>
            <a:xfrm>
              <a:off x="7635962" y="2737549"/>
              <a:ext cx="63020" cy="6302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06" name="Oval 105"/>
            <p:cNvSpPr/>
            <p:nvPr/>
          </p:nvSpPr>
          <p:spPr>
            <a:xfrm>
              <a:off x="6963754" y="3390064"/>
              <a:ext cx="63020" cy="6302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07" name="Oval 106"/>
            <p:cNvSpPr/>
            <p:nvPr/>
          </p:nvSpPr>
          <p:spPr>
            <a:xfrm>
              <a:off x="8287165" y="3390064"/>
              <a:ext cx="63020" cy="6302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08" name="Oval 107"/>
            <p:cNvSpPr/>
            <p:nvPr/>
          </p:nvSpPr>
          <p:spPr>
            <a:xfrm>
              <a:off x="7635962" y="4056496"/>
              <a:ext cx="63020" cy="6302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09" name="Oval 108"/>
            <p:cNvSpPr/>
            <p:nvPr/>
          </p:nvSpPr>
          <p:spPr>
            <a:xfrm>
              <a:off x="7153862" y="2934748"/>
              <a:ext cx="63020" cy="6302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10" name="Oval 109"/>
            <p:cNvSpPr/>
            <p:nvPr/>
          </p:nvSpPr>
          <p:spPr>
            <a:xfrm>
              <a:off x="7153862" y="3872164"/>
              <a:ext cx="63020" cy="6302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11" name="Oval 110"/>
            <p:cNvSpPr/>
            <p:nvPr/>
          </p:nvSpPr>
          <p:spPr>
            <a:xfrm>
              <a:off x="8091279" y="2934484"/>
              <a:ext cx="63020" cy="6302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12" name="Oval 111"/>
            <p:cNvSpPr/>
            <p:nvPr/>
          </p:nvSpPr>
          <p:spPr>
            <a:xfrm>
              <a:off x="8091279" y="3876628"/>
              <a:ext cx="63020" cy="6302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7510556" y="2794844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000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7826903" y="2928809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001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7183160" y="2934033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111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7992995" y="3328887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010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7815736" y="3716668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011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7189717" y="3716668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101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7508126" y="3869912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100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7021670" y="3314382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110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8124209" y="2736465"/>
              <a:ext cx="3401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+1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7584760" y="2520106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0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8350184" y="3313395"/>
              <a:ext cx="3401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+2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8156519" y="3795495"/>
              <a:ext cx="3401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+3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7554061" y="4141130"/>
              <a:ext cx="3097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-4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6965111" y="3892756"/>
              <a:ext cx="3097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-3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6726780" y="3317436"/>
              <a:ext cx="3097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-2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6967517" y="2734033"/>
              <a:ext cx="3097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-1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35" name="Down Arrow 134"/>
            <p:cNvSpPr/>
            <p:nvPr/>
          </p:nvSpPr>
          <p:spPr>
            <a:xfrm rot="10800000">
              <a:off x="7573065" y="4399192"/>
              <a:ext cx="225976" cy="320040"/>
            </a:xfrm>
            <a:prstGeom prst="downArrow">
              <a:avLst/>
            </a:prstGeom>
            <a:solidFill>
              <a:schemeClr val="accent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 smtClean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449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Overflow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0264" y="1772142"/>
            <a:ext cx="3666866" cy="3852371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Example: </a:t>
            </a:r>
            <a:r>
              <a:rPr lang="en-US" sz="2100" dirty="0" smtClean="0"/>
              <a:t>−2 </a:t>
            </a:r>
            <a:r>
              <a:rPr lang="en-US" sz="2100" dirty="0"/>
              <a:t>– 3 = ?</a:t>
            </a:r>
          </a:p>
          <a:p>
            <a:pPr marL="685800" lvl="1" indent="-342900"/>
            <a:r>
              <a:rPr lang="en-US" sz="1800" dirty="0" smtClean="0"/>
              <a:t>−2 </a:t>
            </a:r>
            <a:r>
              <a:rPr lang="en-US" sz="1800" dirty="0"/>
              <a:t>– 3 = </a:t>
            </a:r>
            <a:r>
              <a:rPr lang="en-US" sz="1800" dirty="0" smtClean="0"/>
              <a:t>−2 </a:t>
            </a:r>
            <a:r>
              <a:rPr lang="en-US" sz="1800" dirty="0"/>
              <a:t>+ </a:t>
            </a:r>
            <a:r>
              <a:rPr lang="en-US" sz="1800" dirty="0" smtClean="0"/>
              <a:t>(−3</a:t>
            </a:r>
            <a:r>
              <a:rPr lang="en-US" sz="1800" dirty="0"/>
              <a:t>)</a:t>
            </a:r>
          </a:p>
          <a:p>
            <a:pPr marL="685800" lvl="1" indent="-342900"/>
            <a:r>
              <a:rPr lang="en-US" sz="1800" dirty="0"/>
              <a:t>−</a:t>
            </a:r>
            <a:r>
              <a:rPr lang="en-US" sz="1800" dirty="0" smtClean="0"/>
              <a:t>2 </a:t>
            </a:r>
            <a:r>
              <a:rPr lang="en-US" sz="1800" dirty="0"/>
              <a:t>+ </a:t>
            </a:r>
            <a:r>
              <a:rPr lang="en-US" sz="1800" dirty="0" smtClean="0"/>
              <a:t>(−3</a:t>
            </a:r>
            <a:r>
              <a:rPr lang="en-US" sz="1800" dirty="0"/>
              <a:t>) = 110 + 101 = </a:t>
            </a:r>
            <a:r>
              <a:rPr lang="en-US" sz="1800" i="1" dirty="0" smtClean="0">
                <a:solidFill>
                  <a:schemeClr val="bg1">
                    <a:lumMod val="65000"/>
                  </a:schemeClr>
                </a:solidFill>
              </a:rPr>
              <a:t>1</a:t>
            </a:r>
            <a:r>
              <a:rPr lang="en-US" sz="1800" dirty="0" smtClean="0"/>
              <a:t>011</a:t>
            </a:r>
            <a:endParaRPr lang="en-US" sz="1800" dirty="0"/>
          </a:p>
          <a:p>
            <a:pPr marL="685800" lvl="1" indent="-342900"/>
            <a:r>
              <a:rPr lang="en-US" sz="1800" dirty="0"/>
              <a:t>011 = 3 </a:t>
            </a:r>
            <a:r>
              <a:rPr lang="en-US" sz="1800" dirty="0">
                <a:latin typeface="Calibri" panose="020F0502020204030204" pitchFamily="34" charset="0"/>
                <a:sym typeface="Wingdings" panose="05000000000000000000" pitchFamily="2" charset="2"/>
              </a:rPr>
              <a:t>→ </a:t>
            </a:r>
            <a:r>
              <a:rPr lang="en-US" sz="1800" dirty="0">
                <a:sym typeface="Wingdings" panose="05000000000000000000" pitchFamily="2" charset="2"/>
              </a:rPr>
              <a:t>Overflow 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ym typeface="Wingdings" panose="05000000000000000000" pitchFamily="2" charset="2"/>
              </a:rPr>
              <a:t>Overflow conditions</a:t>
            </a:r>
          </a:p>
          <a:p>
            <a:pPr marL="685800" lvl="1" indent="-342900">
              <a:buFont typeface="+mj-lt"/>
              <a:buAutoNum type="alphaLcPeriod"/>
            </a:pPr>
            <a:r>
              <a:rPr lang="en-US" sz="1800" dirty="0"/>
              <a:t>negative + negative = positive</a:t>
            </a:r>
          </a:p>
          <a:p>
            <a:pPr marL="685800" lvl="1" indent="-342900">
              <a:buFont typeface="+mj-lt"/>
              <a:buAutoNum type="alphaLcPeriod"/>
            </a:pPr>
            <a:r>
              <a:rPr lang="en-US" sz="1800" dirty="0"/>
              <a:t>positive + positive = negative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How to check in HW?</a:t>
            </a:r>
          </a:p>
          <a:p>
            <a:pPr marL="685800" lvl="1" indent="-342900"/>
            <a:r>
              <a:rPr lang="en-US" sz="1800" dirty="0"/>
              <a:t>If C</a:t>
            </a:r>
            <a:r>
              <a:rPr lang="en-US" sz="1800" baseline="-25000" dirty="0"/>
              <a:t>n-</a:t>
            </a:r>
            <a:r>
              <a:rPr lang="en-US" sz="1500" baseline="-25000" dirty="0"/>
              <a:t>1</a:t>
            </a:r>
            <a:r>
              <a:rPr lang="en-US" sz="1800" dirty="0"/>
              <a:t> != C</a:t>
            </a:r>
            <a:r>
              <a:rPr lang="en-US" sz="1800" baseline="-25000" dirty="0"/>
              <a:t>n-</a:t>
            </a:r>
            <a:r>
              <a:rPr lang="en-US" sz="1500" baseline="-25000" dirty="0"/>
              <a:t>2</a:t>
            </a:r>
            <a:r>
              <a:rPr lang="en-US" sz="1800" dirty="0"/>
              <a:t> then </a:t>
            </a:r>
            <a:r>
              <a:rPr lang="en-US" sz="1800" b="1" dirty="0"/>
              <a:t>overflow</a:t>
            </a:r>
          </a:p>
          <a:p>
            <a:endParaRPr lang="ru-RU" sz="21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4268625" y="1747656"/>
            <a:ext cx="1963562" cy="1898023"/>
            <a:chOff x="4268625" y="1747656"/>
            <a:chExt cx="1963562" cy="1898023"/>
          </a:xfrm>
        </p:grpSpPr>
        <p:sp>
          <p:nvSpPr>
            <p:cNvPr id="42" name="Pie 41"/>
            <p:cNvSpPr/>
            <p:nvPr/>
          </p:nvSpPr>
          <p:spPr>
            <a:xfrm>
              <a:off x="4533168" y="1997070"/>
              <a:ext cx="1332482" cy="1337110"/>
            </a:xfrm>
            <a:prstGeom prst="pie">
              <a:avLst>
                <a:gd name="adj1" fmla="val 16229770"/>
                <a:gd name="adj2" fmla="val 10880208"/>
              </a:avLst>
            </a:prstGeom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4537109" y="1996609"/>
              <a:ext cx="1323411" cy="1323411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5177807" y="1965099"/>
              <a:ext cx="63020" cy="6302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505599" y="2617615"/>
              <a:ext cx="63020" cy="6302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5829010" y="2617615"/>
              <a:ext cx="63020" cy="6302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5177807" y="3284047"/>
              <a:ext cx="63020" cy="6302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4695707" y="2162298"/>
              <a:ext cx="63020" cy="6302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4695707" y="3099714"/>
              <a:ext cx="63020" cy="6302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5633123" y="2162035"/>
              <a:ext cx="63020" cy="6302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5633123" y="3104178"/>
              <a:ext cx="63020" cy="6302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052401" y="2022394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000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368748" y="2156359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001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725005" y="2161583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111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534840" y="2556437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010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357581" y="2944219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011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731562" y="2944219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101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049971" y="3097462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100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563515" y="2541932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110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666053" y="1964015"/>
              <a:ext cx="3401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+1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126604" y="1747656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0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892029" y="2540945"/>
              <a:ext cx="3401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+2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698364" y="3023045"/>
              <a:ext cx="3401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+3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095906" y="3368680"/>
              <a:ext cx="3097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-4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06956" y="3120307"/>
              <a:ext cx="3097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-3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68625" y="2544986"/>
              <a:ext cx="3097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-2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509362" y="1961584"/>
              <a:ext cx="3097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-1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33" name="Down Arrow 132"/>
            <p:cNvSpPr/>
            <p:nvPr/>
          </p:nvSpPr>
          <p:spPr>
            <a:xfrm rot="18747595">
              <a:off x="4359121" y="1755896"/>
              <a:ext cx="225976" cy="320040"/>
            </a:xfrm>
            <a:prstGeom prst="downArrow">
              <a:avLst/>
            </a:prstGeom>
            <a:solidFill>
              <a:schemeClr val="accent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 smtClean="0">
                <a:solidFill>
                  <a:schemeClr val="tx1"/>
                </a:solidFill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4284110" y="3682303"/>
            <a:ext cx="1970936" cy="1898024"/>
            <a:chOff x="4284110" y="3682303"/>
            <a:chExt cx="1970936" cy="1898024"/>
          </a:xfrm>
        </p:grpSpPr>
        <p:sp>
          <p:nvSpPr>
            <p:cNvPr id="75" name="Pie 74"/>
            <p:cNvSpPr/>
            <p:nvPr/>
          </p:nvSpPr>
          <p:spPr>
            <a:xfrm>
              <a:off x="4557725" y="3924339"/>
              <a:ext cx="1332482" cy="1337110"/>
            </a:xfrm>
            <a:prstGeom prst="pie">
              <a:avLst>
                <a:gd name="adj1" fmla="val 16247507"/>
                <a:gd name="adj2" fmla="val 8177722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77" name="Oval 76"/>
            <p:cNvSpPr/>
            <p:nvPr/>
          </p:nvSpPr>
          <p:spPr>
            <a:xfrm>
              <a:off x="4559967" y="3931257"/>
              <a:ext cx="1323411" cy="1323411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78" name="Oval 77"/>
            <p:cNvSpPr/>
            <p:nvPr/>
          </p:nvSpPr>
          <p:spPr>
            <a:xfrm>
              <a:off x="5200666" y="3899747"/>
              <a:ext cx="63019" cy="63019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79" name="Oval 78"/>
            <p:cNvSpPr/>
            <p:nvPr/>
          </p:nvSpPr>
          <p:spPr>
            <a:xfrm>
              <a:off x="4528458" y="4552262"/>
              <a:ext cx="63019" cy="63019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80" name="Oval 79"/>
            <p:cNvSpPr/>
            <p:nvPr/>
          </p:nvSpPr>
          <p:spPr>
            <a:xfrm>
              <a:off x="5851869" y="4552262"/>
              <a:ext cx="63019" cy="63019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81" name="Oval 80"/>
            <p:cNvSpPr/>
            <p:nvPr/>
          </p:nvSpPr>
          <p:spPr>
            <a:xfrm>
              <a:off x="5200666" y="5218694"/>
              <a:ext cx="63019" cy="63019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82" name="Oval 81"/>
            <p:cNvSpPr/>
            <p:nvPr/>
          </p:nvSpPr>
          <p:spPr>
            <a:xfrm>
              <a:off x="4718567" y="4096946"/>
              <a:ext cx="63019" cy="63019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83" name="Oval 82"/>
            <p:cNvSpPr/>
            <p:nvPr/>
          </p:nvSpPr>
          <p:spPr>
            <a:xfrm>
              <a:off x="4718567" y="5034362"/>
              <a:ext cx="63019" cy="63019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84" name="Oval 83"/>
            <p:cNvSpPr/>
            <p:nvPr/>
          </p:nvSpPr>
          <p:spPr>
            <a:xfrm>
              <a:off x="5655983" y="4096683"/>
              <a:ext cx="63019" cy="63019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85" name="Oval 84"/>
            <p:cNvSpPr/>
            <p:nvPr/>
          </p:nvSpPr>
          <p:spPr>
            <a:xfrm>
              <a:off x="5655983" y="5038826"/>
              <a:ext cx="63019" cy="63019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5075260" y="3957042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000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5391608" y="4091006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001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4747864" y="4096230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111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5557699" y="4491084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010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5380440" y="4878866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011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4754421" y="4878866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101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5072829" y="5032110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100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4586374" y="4476580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110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5688914" y="3898662"/>
              <a:ext cx="3401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+1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5149464" y="3682303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0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5914888" y="4475592"/>
              <a:ext cx="3401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+2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5721223" y="4957692"/>
              <a:ext cx="3401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+3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5118764" y="5303328"/>
              <a:ext cx="3097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-4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4529814" y="5054954"/>
              <a:ext cx="3097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-3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4291484" y="4479633"/>
              <a:ext cx="3097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-2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4532220" y="3896231"/>
              <a:ext cx="3097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-1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34" name="Down Arrow 133"/>
            <p:cNvSpPr/>
            <p:nvPr/>
          </p:nvSpPr>
          <p:spPr>
            <a:xfrm rot="13511513">
              <a:off x="4331142" y="5175614"/>
              <a:ext cx="225976" cy="320040"/>
            </a:xfrm>
            <a:prstGeom prst="downArrow">
              <a:avLst/>
            </a:prstGeom>
            <a:solidFill>
              <a:schemeClr val="accent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 smtClean="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726780" y="2520106"/>
            <a:ext cx="1963562" cy="1898023"/>
            <a:chOff x="6726780" y="2520106"/>
            <a:chExt cx="1963562" cy="1898023"/>
          </a:xfrm>
        </p:grpSpPr>
        <p:sp>
          <p:nvSpPr>
            <p:cNvPr id="130" name="Pie 129"/>
            <p:cNvSpPr/>
            <p:nvPr/>
          </p:nvSpPr>
          <p:spPr>
            <a:xfrm>
              <a:off x="6990961" y="2751756"/>
              <a:ext cx="1332482" cy="1337110"/>
            </a:xfrm>
            <a:prstGeom prst="pie">
              <a:avLst>
                <a:gd name="adj1" fmla="val 16229770"/>
                <a:gd name="adj2" fmla="val 10846583"/>
              </a:avLst>
            </a:prstGeom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32" name="Pie 131"/>
            <p:cNvSpPr/>
            <p:nvPr/>
          </p:nvSpPr>
          <p:spPr>
            <a:xfrm rot="16200000">
              <a:off x="7001845" y="2758968"/>
              <a:ext cx="1332482" cy="1337110"/>
            </a:xfrm>
            <a:prstGeom prst="pie">
              <a:avLst>
                <a:gd name="adj1" fmla="val 16247507"/>
                <a:gd name="adj2" fmla="val 8177722"/>
              </a:avLst>
            </a:prstGeom>
            <a:solidFill>
              <a:schemeClr val="accent1">
                <a:lumMod val="20000"/>
                <a:lumOff val="80000"/>
                <a:alpha val="65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04" name="Oval 103"/>
            <p:cNvSpPr/>
            <p:nvPr/>
          </p:nvSpPr>
          <p:spPr>
            <a:xfrm>
              <a:off x="6995264" y="2769059"/>
              <a:ext cx="1323411" cy="1323411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05" name="Oval 104"/>
            <p:cNvSpPr/>
            <p:nvPr/>
          </p:nvSpPr>
          <p:spPr>
            <a:xfrm>
              <a:off x="7635962" y="2737549"/>
              <a:ext cx="63020" cy="6302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06" name="Oval 105"/>
            <p:cNvSpPr/>
            <p:nvPr/>
          </p:nvSpPr>
          <p:spPr>
            <a:xfrm>
              <a:off x="6963754" y="3390064"/>
              <a:ext cx="63020" cy="6302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07" name="Oval 106"/>
            <p:cNvSpPr/>
            <p:nvPr/>
          </p:nvSpPr>
          <p:spPr>
            <a:xfrm>
              <a:off x="8287165" y="3390064"/>
              <a:ext cx="63020" cy="6302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08" name="Oval 107"/>
            <p:cNvSpPr/>
            <p:nvPr/>
          </p:nvSpPr>
          <p:spPr>
            <a:xfrm>
              <a:off x="7635962" y="4056496"/>
              <a:ext cx="63020" cy="6302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09" name="Oval 108"/>
            <p:cNvSpPr/>
            <p:nvPr/>
          </p:nvSpPr>
          <p:spPr>
            <a:xfrm>
              <a:off x="7153862" y="2934748"/>
              <a:ext cx="63020" cy="6302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10" name="Oval 109"/>
            <p:cNvSpPr/>
            <p:nvPr/>
          </p:nvSpPr>
          <p:spPr>
            <a:xfrm>
              <a:off x="7153862" y="3872164"/>
              <a:ext cx="63020" cy="6302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11" name="Oval 110"/>
            <p:cNvSpPr/>
            <p:nvPr/>
          </p:nvSpPr>
          <p:spPr>
            <a:xfrm>
              <a:off x="8091279" y="2934484"/>
              <a:ext cx="63020" cy="6302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12" name="Oval 111"/>
            <p:cNvSpPr/>
            <p:nvPr/>
          </p:nvSpPr>
          <p:spPr>
            <a:xfrm>
              <a:off x="8091279" y="3876628"/>
              <a:ext cx="63020" cy="6302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7510556" y="2794844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000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7826903" y="2928809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001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7183160" y="2934033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111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7992995" y="3328887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010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7815736" y="3716668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011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7189717" y="3716668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101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7508126" y="3869912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100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7021670" y="3314382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110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8124209" y="2736465"/>
              <a:ext cx="3401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+1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7584760" y="2520106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0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8350184" y="3313395"/>
              <a:ext cx="3401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+2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8156519" y="3795495"/>
              <a:ext cx="3401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+3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7554061" y="4141130"/>
              <a:ext cx="3097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-4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6965111" y="3892756"/>
              <a:ext cx="3097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-3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6726780" y="3317436"/>
              <a:ext cx="3097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-2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6967517" y="2734033"/>
              <a:ext cx="3097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-1</a:t>
              </a:r>
              <a:endParaRPr lang="ru-RU" sz="1200" dirty="0">
                <a:latin typeface="+mj-lt"/>
              </a:endParaRPr>
            </a:p>
          </p:txBody>
        </p:sp>
        <p:sp>
          <p:nvSpPr>
            <p:cNvPr id="135" name="Down Arrow 134"/>
            <p:cNvSpPr/>
            <p:nvPr/>
          </p:nvSpPr>
          <p:spPr>
            <a:xfrm rot="8325296">
              <a:off x="8190326" y="4014877"/>
              <a:ext cx="225976" cy="320040"/>
            </a:xfrm>
            <a:prstGeom prst="downArrow">
              <a:avLst/>
            </a:prstGeom>
            <a:solidFill>
              <a:schemeClr val="accent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 smtClean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50356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Negation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049" y="1206683"/>
            <a:ext cx="4423449" cy="3754117"/>
          </a:xfrm>
        </p:spPr>
        <p:txBody>
          <a:bodyPr/>
          <a:lstStyle/>
          <a:p>
            <a:r>
              <a:rPr lang="en-US" sz="2800" dirty="0"/>
              <a:t>How to convert to negative?</a:t>
            </a:r>
          </a:p>
          <a:p>
            <a:pPr lvl="1"/>
            <a:r>
              <a:rPr lang="en-US" sz="2400" dirty="0"/>
              <a:t>School math:  </a:t>
            </a:r>
            <a:r>
              <a:rPr lang="en-US" sz="2400" dirty="0" smtClean="0"/>
              <a:t>−B </a:t>
            </a:r>
            <a:r>
              <a:rPr lang="en-US" sz="2400" dirty="0"/>
              <a:t>= </a:t>
            </a:r>
            <a:r>
              <a:rPr lang="en-US" sz="2400" dirty="0" smtClean="0"/>
              <a:t>(−1 − </a:t>
            </a:r>
            <a:r>
              <a:rPr lang="en-US" sz="2400" dirty="0"/>
              <a:t>B) + 1</a:t>
            </a:r>
          </a:p>
          <a:p>
            <a:pPr lvl="1"/>
            <a:r>
              <a:rPr lang="en-US" sz="2400" dirty="0"/>
              <a:t>What is </a:t>
            </a:r>
            <a:r>
              <a:rPr lang="en-US" sz="2400" dirty="0" smtClean="0"/>
              <a:t>(−1 − </a:t>
            </a:r>
            <a:r>
              <a:rPr lang="en-US" sz="2400" dirty="0"/>
              <a:t>B)?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r>
              <a:rPr lang="en-US" sz="2400" dirty="0" smtClean="0"/>
              <a:t>Thus</a:t>
            </a:r>
            <a:r>
              <a:rPr lang="en-US" sz="2400" dirty="0"/>
              <a:t>, </a:t>
            </a:r>
            <a:r>
              <a:rPr lang="en-US" sz="2400" dirty="0" smtClean="0"/>
              <a:t>−B </a:t>
            </a:r>
            <a:r>
              <a:rPr lang="en-US" sz="2400" dirty="0"/>
              <a:t>= !B + </a:t>
            </a:r>
            <a:r>
              <a:rPr lang="en-US" sz="2400" dirty="0" smtClean="0"/>
              <a:t>1</a:t>
            </a:r>
          </a:p>
          <a:p>
            <a:pPr lvl="1"/>
            <a:r>
              <a:rPr lang="en-US" sz="2400" dirty="0" smtClean="0"/>
              <a:t>Finally:</a:t>
            </a:r>
          </a:p>
          <a:p>
            <a:pPr marL="187325" lvl="2" indent="0">
              <a:buNone/>
            </a:pPr>
            <a:r>
              <a:rPr lang="en-US" dirty="0" smtClean="0"/>
              <a:t>	A − B = A + (−B) = A + !B + 1</a:t>
            </a:r>
            <a:endParaRPr lang="en-US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1911343"/>
              </p:ext>
            </p:extLst>
          </p:nvPr>
        </p:nvGraphicFramePr>
        <p:xfrm>
          <a:off x="1948663" y="3045798"/>
          <a:ext cx="2326511" cy="891540"/>
        </p:xfrm>
        <a:graphic>
          <a:graphicData uri="http://schemas.openxmlformats.org/drawingml/2006/table">
            <a:tbl>
              <a:tblPr lastRow="1">
                <a:tableStyleId>{5C22544A-7EE6-4342-B048-85BDC9FD1C3A}</a:tableStyleId>
              </a:tblPr>
              <a:tblGrid>
                <a:gridCol w="577720"/>
                <a:gridCol w="352885"/>
                <a:gridCol w="465302"/>
                <a:gridCol w="465302"/>
                <a:gridCol w="465302"/>
              </a:tblGrid>
              <a:tr h="297180">
                <a:tc>
                  <a:txBody>
                    <a:bodyPr/>
                    <a:lstStyle/>
                    <a:p>
                      <a:r>
                        <a:rPr lang="en-US" sz="1500" dirty="0" smtClean="0"/>
                        <a:t>1</a:t>
                      </a:r>
                      <a:endParaRPr lang="ru-RU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500" dirty="0" smtClean="0"/>
                        <a:t>…</a:t>
                      </a:r>
                      <a:endParaRPr lang="ru-RU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500" dirty="0" smtClean="0"/>
                        <a:t>1</a:t>
                      </a:r>
                      <a:endParaRPr lang="ru-RU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500" dirty="0" smtClean="0"/>
                        <a:t>1</a:t>
                      </a:r>
                      <a:endParaRPr lang="ru-RU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500" dirty="0" smtClean="0"/>
                        <a:t>1</a:t>
                      </a:r>
                      <a:endParaRPr lang="ru-RU" sz="1500" dirty="0"/>
                    </a:p>
                  </a:txBody>
                  <a:tcPr marL="68580" marR="68580" marT="34290" marB="34290"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lang="en-US" sz="1500" dirty="0" smtClean="0"/>
                        <a:t>B</a:t>
                      </a:r>
                      <a:r>
                        <a:rPr lang="en-US" sz="1200" dirty="0" smtClean="0"/>
                        <a:t>n-</a:t>
                      </a:r>
                      <a:r>
                        <a:rPr lang="en-US" sz="1100" dirty="0" smtClean="0"/>
                        <a:t>1</a:t>
                      </a:r>
                      <a:endParaRPr lang="ru-RU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500" dirty="0" smtClean="0"/>
                        <a:t>B</a:t>
                      </a:r>
                      <a:r>
                        <a:rPr lang="en-US" sz="1200" dirty="0" smtClean="0"/>
                        <a:t>2</a:t>
                      </a:r>
                      <a:endParaRPr lang="ru-RU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500" dirty="0" smtClean="0"/>
                        <a:t>B</a:t>
                      </a:r>
                      <a:r>
                        <a:rPr lang="en-US" sz="1200" dirty="0" smtClean="0"/>
                        <a:t>1</a:t>
                      </a:r>
                      <a:endParaRPr lang="ru-RU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500" dirty="0" smtClean="0"/>
                        <a:t>B</a:t>
                      </a:r>
                      <a:r>
                        <a:rPr lang="en-US" sz="1200" dirty="0" smtClean="0"/>
                        <a:t>0</a:t>
                      </a:r>
                      <a:endParaRPr lang="ru-RU" sz="1500" dirty="0"/>
                    </a:p>
                  </a:txBody>
                  <a:tcPr marL="68580" marR="68580" marT="34290" marB="34290"/>
                </a:tc>
              </a:tr>
              <a:tr h="297180">
                <a:tc>
                  <a:txBody>
                    <a:bodyPr/>
                    <a:lstStyle/>
                    <a:p>
                      <a:endParaRPr lang="ru-RU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500" dirty="0"/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grpSp>
        <p:nvGrpSpPr>
          <p:cNvPr id="64" name="Group 63"/>
          <p:cNvGrpSpPr/>
          <p:nvPr/>
        </p:nvGrpSpPr>
        <p:grpSpPr>
          <a:xfrm>
            <a:off x="673669" y="2986252"/>
            <a:ext cx="794918" cy="1042026"/>
            <a:chOff x="673669" y="2986252"/>
            <a:chExt cx="794918" cy="1042026"/>
          </a:xfrm>
        </p:grpSpPr>
        <p:sp>
          <p:nvSpPr>
            <p:cNvPr id="16" name="TextBox 15"/>
            <p:cNvSpPr txBox="1"/>
            <p:nvPr/>
          </p:nvSpPr>
          <p:spPr>
            <a:xfrm>
              <a:off x="926021" y="2986252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j-lt"/>
                </a:rPr>
                <a:t>-1</a:t>
              </a:r>
              <a:endParaRPr lang="ru-RU" dirty="0">
                <a:latin typeface="+mj-lt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021934" y="3297214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j-lt"/>
                </a:rPr>
                <a:t>B</a:t>
              </a:r>
              <a:endParaRPr lang="ru-RU" dirty="0">
                <a:latin typeface="+mj-lt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73669" y="3162433"/>
              <a:ext cx="40588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j-lt"/>
                </a:rPr>
                <a:t> – </a:t>
              </a:r>
            </a:p>
            <a:p>
              <a:endParaRPr lang="ru-RU" dirty="0">
                <a:latin typeface="+mj-lt"/>
              </a:endParaRPr>
            </a:p>
          </p:txBody>
        </p:sp>
        <p:cxnSp>
          <p:nvCxnSpPr>
            <p:cNvPr id="27" name="Straight Connector 26"/>
            <p:cNvCxnSpPr/>
            <p:nvPr/>
          </p:nvCxnSpPr>
          <p:spPr>
            <a:xfrm>
              <a:off x="871560" y="3655339"/>
              <a:ext cx="597027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978051" y="3658946"/>
              <a:ext cx="3850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j-lt"/>
                </a:rPr>
                <a:t>!B</a:t>
              </a:r>
              <a:endParaRPr lang="ru-RU" dirty="0">
                <a:latin typeface="+mj-lt"/>
              </a:endParaRPr>
            </a:p>
          </p:txBody>
        </p:sp>
      </p:grpSp>
      <p:graphicFrame>
        <p:nvGraphicFramePr>
          <p:cNvPr id="49" name="Table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939465"/>
              </p:ext>
            </p:extLst>
          </p:nvPr>
        </p:nvGraphicFramePr>
        <p:xfrm>
          <a:off x="1948663" y="3045798"/>
          <a:ext cx="2326511" cy="891540"/>
        </p:xfrm>
        <a:graphic>
          <a:graphicData uri="http://schemas.openxmlformats.org/drawingml/2006/table">
            <a:tbl>
              <a:tblPr lastRow="1">
                <a:tableStyleId>{5C22544A-7EE6-4342-B048-85BDC9FD1C3A}</a:tableStyleId>
              </a:tblPr>
              <a:tblGrid>
                <a:gridCol w="577720"/>
                <a:gridCol w="352885"/>
                <a:gridCol w="465302"/>
                <a:gridCol w="465302"/>
                <a:gridCol w="465302"/>
              </a:tblGrid>
              <a:tr h="297180">
                <a:tc>
                  <a:txBody>
                    <a:bodyPr/>
                    <a:lstStyle/>
                    <a:p>
                      <a:r>
                        <a:rPr lang="en-US" sz="1500" dirty="0" smtClean="0"/>
                        <a:t>1</a:t>
                      </a:r>
                      <a:endParaRPr lang="ru-RU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500" dirty="0" smtClean="0"/>
                        <a:t>…</a:t>
                      </a:r>
                      <a:endParaRPr lang="ru-RU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500" dirty="0" smtClean="0"/>
                        <a:t>1</a:t>
                      </a:r>
                      <a:endParaRPr lang="ru-RU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500" dirty="0" smtClean="0"/>
                        <a:t>1</a:t>
                      </a:r>
                      <a:endParaRPr lang="ru-RU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500" dirty="0" smtClean="0"/>
                        <a:t>1</a:t>
                      </a:r>
                      <a:endParaRPr lang="ru-RU" sz="1500" dirty="0"/>
                    </a:p>
                  </a:txBody>
                  <a:tcPr marL="68580" marR="68580" marT="34290" marB="34290"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lang="en-US" sz="1500" dirty="0" smtClean="0"/>
                        <a:t>B</a:t>
                      </a:r>
                      <a:r>
                        <a:rPr lang="en-US" sz="1200" dirty="0" smtClean="0"/>
                        <a:t>n-</a:t>
                      </a:r>
                      <a:r>
                        <a:rPr lang="en-US" sz="1100" dirty="0" smtClean="0"/>
                        <a:t>1</a:t>
                      </a:r>
                      <a:endParaRPr lang="ru-RU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500" dirty="0" smtClean="0"/>
                        <a:t>B</a:t>
                      </a:r>
                      <a:r>
                        <a:rPr lang="en-US" sz="1200" dirty="0" smtClean="0"/>
                        <a:t>2</a:t>
                      </a:r>
                      <a:endParaRPr lang="ru-RU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500" dirty="0" smtClean="0"/>
                        <a:t>B</a:t>
                      </a:r>
                      <a:r>
                        <a:rPr lang="en-US" sz="1200" dirty="0" smtClean="0"/>
                        <a:t>1</a:t>
                      </a:r>
                      <a:endParaRPr lang="ru-RU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500" dirty="0" smtClean="0"/>
                        <a:t>B</a:t>
                      </a:r>
                      <a:r>
                        <a:rPr lang="en-US" sz="1200" dirty="0" smtClean="0"/>
                        <a:t>0</a:t>
                      </a:r>
                      <a:endParaRPr lang="ru-RU" sz="1500" dirty="0"/>
                    </a:p>
                  </a:txBody>
                  <a:tcPr marL="68580" marR="68580" marT="34290" marB="34290"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lang="en-US" sz="1500" dirty="0" smtClean="0"/>
                        <a:t>!B</a:t>
                      </a:r>
                      <a:r>
                        <a:rPr lang="en-US" sz="1200" dirty="0" smtClean="0"/>
                        <a:t>n-</a:t>
                      </a:r>
                      <a:r>
                        <a:rPr lang="en-US" sz="1100" dirty="0" smtClean="0"/>
                        <a:t>1</a:t>
                      </a:r>
                      <a:endParaRPr lang="ru-RU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500" dirty="0" smtClean="0"/>
                        <a:t>!B</a:t>
                      </a:r>
                      <a:r>
                        <a:rPr lang="en-US" sz="1200" dirty="0" smtClean="0"/>
                        <a:t>2</a:t>
                      </a:r>
                      <a:endParaRPr lang="ru-RU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500" dirty="0" smtClean="0"/>
                        <a:t>!B</a:t>
                      </a:r>
                      <a:r>
                        <a:rPr lang="en-US" sz="1200" dirty="0" smtClean="0"/>
                        <a:t>1</a:t>
                      </a:r>
                      <a:endParaRPr lang="ru-RU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500" dirty="0" smtClean="0"/>
                        <a:t>!B</a:t>
                      </a:r>
                      <a:r>
                        <a:rPr lang="en-US" sz="1200" dirty="0" smtClean="0"/>
                        <a:t>0</a:t>
                      </a:r>
                      <a:endParaRPr lang="ru-RU" sz="1500" dirty="0"/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2849284" y="2295941"/>
            <a:ext cx="1301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→ Inversion</a:t>
            </a:r>
            <a:endParaRPr lang="ru-RU" dirty="0">
              <a:latin typeface="+mj-lt"/>
            </a:endParaRPr>
          </a:p>
        </p:txBody>
      </p:sp>
      <p:grpSp>
        <p:nvGrpSpPr>
          <p:cNvPr id="63" name="Group 62"/>
          <p:cNvGrpSpPr/>
          <p:nvPr/>
        </p:nvGrpSpPr>
        <p:grpSpPr>
          <a:xfrm>
            <a:off x="5187240" y="1405719"/>
            <a:ext cx="3623067" cy="3126605"/>
            <a:chOff x="5187240" y="1405719"/>
            <a:chExt cx="3623067" cy="3126605"/>
          </a:xfrm>
        </p:grpSpPr>
        <p:sp>
          <p:nvSpPr>
            <p:cNvPr id="26" name="TextBox 25"/>
            <p:cNvSpPr txBox="1"/>
            <p:nvPr/>
          </p:nvSpPr>
          <p:spPr>
            <a:xfrm>
              <a:off x="5187240" y="2780098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1</a:t>
              </a:r>
              <a:r>
                <a:rPr lang="en-US" dirty="0">
                  <a:latin typeface="+mj-lt"/>
                </a:rPr>
                <a:t>1</a:t>
              </a:r>
              <a:r>
                <a:rPr lang="en-US" dirty="0" smtClean="0">
                  <a:latin typeface="+mj-lt"/>
                </a:rPr>
                <a:t>0</a:t>
              </a:r>
              <a:endParaRPr lang="ru-RU" dirty="0">
                <a:latin typeface="+mj-lt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6145528" y="2129365"/>
              <a:ext cx="1694330" cy="1694330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 smtClean="0">
                <a:solidFill>
                  <a:schemeClr val="tx1"/>
                </a:solidFill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6965799" y="2089024"/>
              <a:ext cx="80682" cy="80682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 smtClean="0">
                <a:solidFill>
                  <a:schemeClr val="tx1"/>
                </a:solidFill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6105188" y="2924423"/>
              <a:ext cx="80682" cy="80682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 smtClean="0">
                <a:solidFill>
                  <a:schemeClr val="tx1"/>
                </a:solidFill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7799517" y="2924423"/>
              <a:ext cx="80682" cy="80682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 smtClean="0">
                <a:solidFill>
                  <a:schemeClr val="tx1"/>
                </a:solidFill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6965799" y="3777638"/>
              <a:ext cx="80682" cy="80682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 smtClean="0">
                <a:solidFill>
                  <a:schemeClr val="tx1"/>
                </a:solidFill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6348579" y="2341493"/>
              <a:ext cx="80682" cy="80682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 smtClean="0">
                <a:solidFill>
                  <a:schemeClr val="tx1"/>
                </a:solidFill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6348579" y="3541643"/>
              <a:ext cx="80682" cy="80682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 smtClean="0">
                <a:solidFill>
                  <a:schemeClr val="tx1"/>
                </a:solidFill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7548729" y="2341156"/>
              <a:ext cx="80682" cy="80682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 smtClean="0">
                <a:solidFill>
                  <a:schemeClr val="tx1"/>
                </a:solidFill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7548729" y="3547358"/>
              <a:ext cx="80682" cy="80682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 smtClean="0">
                <a:solidFill>
                  <a:schemeClr val="tx1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860942" y="1405719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000</a:t>
              </a:r>
              <a:endParaRPr lang="ru-RU" dirty="0">
                <a:latin typeface="+mj-lt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887285" y="1800374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001</a:t>
              </a:r>
              <a:endParaRPr lang="ru-RU" dirty="0">
                <a:latin typeface="+mj-lt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650146" y="1705856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111</a:t>
              </a:r>
              <a:endParaRPr lang="ru-RU" dirty="0">
                <a:latin typeface="+mj-lt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274583" y="2829401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010</a:t>
              </a:r>
              <a:endParaRPr lang="ru-RU" dirty="0">
                <a:latin typeface="+mj-lt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979647" y="3650519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011</a:t>
              </a:r>
              <a:endParaRPr lang="ru-RU" dirty="0">
                <a:latin typeface="+mj-lt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616081" y="3763671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j-lt"/>
                </a:rPr>
                <a:t>1</a:t>
              </a:r>
              <a:r>
                <a:rPr lang="en-US" dirty="0" smtClean="0">
                  <a:latin typeface="+mj-lt"/>
                </a:rPr>
                <a:t>01</a:t>
              </a:r>
              <a:endParaRPr lang="ru-RU" dirty="0">
                <a:latin typeface="+mj-lt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802133" y="4162992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100</a:t>
              </a:r>
              <a:endParaRPr lang="ru-RU" dirty="0">
                <a:latin typeface="+mj-lt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651478" y="2079390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+1</a:t>
              </a:r>
              <a:endParaRPr lang="ru-RU" dirty="0">
                <a:latin typeface="+mj-lt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965300" y="170585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0</a:t>
              </a:r>
              <a:endParaRPr lang="ru-RU" dirty="0">
                <a:latin typeface="+mj-lt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880199" y="2826264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+2</a:t>
              </a:r>
              <a:endParaRPr lang="ru-RU" dirty="0">
                <a:latin typeface="+mj-lt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632255" y="3443484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+3</a:t>
              </a:r>
              <a:endParaRPr lang="ru-RU" dirty="0">
                <a:latin typeface="+mj-lt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860942" y="3885992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−4</a:t>
              </a:r>
              <a:endParaRPr lang="ru-RU" dirty="0">
                <a:latin typeface="+mj-lt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106924" y="3568006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−3</a:t>
              </a:r>
              <a:endParaRPr lang="ru-RU" dirty="0">
                <a:latin typeface="+mj-lt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633270" y="2816912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−2</a:t>
              </a:r>
              <a:endParaRPr lang="ru-RU" dirty="0">
                <a:latin typeface="+mj-lt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959283" y="1991620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−1</a:t>
              </a:r>
              <a:endParaRPr lang="ru-RU" dirty="0">
                <a:latin typeface="+mj-lt"/>
              </a:endParaRPr>
            </a:p>
          </p:txBody>
        </p:sp>
        <p:cxnSp>
          <p:nvCxnSpPr>
            <p:cNvPr id="36" name="Elbow Connector 35"/>
            <p:cNvCxnSpPr>
              <a:stCxn id="13" idx="4"/>
              <a:endCxn id="8" idx="4"/>
            </p:cNvCxnSpPr>
            <p:nvPr/>
          </p:nvCxnSpPr>
          <p:spPr bwMode="auto">
            <a:xfrm rot="5400000" flipH="1" flipV="1">
              <a:off x="6571295" y="1987331"/>
              <a:ext cx="252469" cy="617220"/>
            </a:xfrm>
            <a:prstGeom prst="curvedConnector3">
              <a:avLst>
                <a:gd name="adj1" fmla="val -2139"/>
              </a:avLst>
            </a:prstGeom>
            <a:solidFill>
              <a:schemeClr val="bg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triangle" w="lg" len="lg"/>
              <a:tailEnd type="triangle" w="lg" len="lg"/>
            </a:ln>
            <a:effectLst/>
          </p:spPr>
        </p:cxnSp>
        <p:cxnSp>
          <p:nvCxnSpPr>
            <p:cNvPr id="45" name="Elbow Connector 35"/>
            <p:cNvCxnSpPr>
              <a:stCxn id="9" idx="6"/>
              <a:endCxn id="15" idx="4"/>
            </p:cNvCxnSpPr>
            <p:nvPr/>
          </p:nvCxnSpPr>
          <p:spPr bwMode="auto">
            <a:xfrm flipV="1">
              <a:off x="6185870" y="2421838"/>
              <a:ext cx="1403200" cy="542926"/>
            </a:xfrm>
            <a:prstGeom prst="curvedConnector2">
              <a:avLst/>
            </a:prstGeom>
            <a:solidFill>
              <a:schemeClr val="bg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triangle" w="lg" len="lg"/>
              <a:tailEnd type="triangle" w="lg" len="lg"/>
            </a:ln>
            <a:effectLst/>
          </p:spPr>
        </p:cxnSp>
        <p:cxnSp>
          <p:nvCxnSpPr>
            <p:cNvPr id="54" name="Elbow Connector 35"/>
            <p:cNvCxnSpPr>
              <a:stCxn id="14" idx="0"/>
              <a:endCxn id="10" idx="2"/>
            </p:cNvCxnSpPr>
            <p:nvPr/>
          </p:nvCxnSpPr>
          <p:spPr bwMode="auto">
            <a:xfrm rot="5400000" flipH="1" flipV="1">
              <a:off x="6805779" y="2547906"/>
              <a:ext cx="576879" cy="1410597"/>
            </a:xfrm>
            <a:prstGeom prst="curvedConnector2">
              <a:avLst/>
            </a:prstGeom>
            <a:solidFill>
              <a:schemeClr val="bg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triangle" w="lg" len="lg"/>
              <a:tailEnd type="triangle" w="lg" len="lg"/>
            </a:ln>
            <a:effectLst/>
          </p:spPr>
        </p:cxnSp>
        <p:cxnSp>
          <p:nvCxnSpPr>
            <p:cNvPr id="58" name="Elbow Connector 35"/>
            <p:cNvCxnSpPr>
              <a:stCxn id="11" idx="1"/>
              <a:endCxn id="17" idx="2"/>
            </p:cNvCxnSpPr>
            <p:nvPr/>
          </p:nvCxnSpPr>
          <p:spPr bwMode="auto">
            <a:xfrm rot="5400000" flipH="1" flipV="1">
              <a:off x="7162295" y="3403020"/>
              <a:ext cx="201755" cy="571114"/>
            </a:xfrm>
            <a:prstGeom prst="curvedConnector2">
              <a:avLst/>
            </a:prstGeom>
            <a:solidFill>
              <a:schemeClr val="bg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triangle" w="lg" len="lg"/>
              <a:tailEnd type="triangle" w="lg" len="lg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5391361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Add/Subtract Schematic</a:t>
            </a:r>
            <a:endParaRPr lang="ru-RU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55613" y="995929"/>
            <a:ext cx="8228012" cy="1011579"/>
          </a:xfrm>
        </p:spPr>
        <p:txBody>
          <a:bodyPr/>
          <a:lstStyle/>
          <a:p>
            <a:pPr marL="473075" lvl="2" indent="-285750">
              <a:buFont typeface="Arial" panose="020B0604020202020204" pitchFamily="34" charset="0"/>
              <a:buChar char="•"/>
            </a:pPr>
            <a:r>
              <a:rPr lang="en-US" sz="2400" b="1" dirty="0" smtClean="0"/>
              <a:t>A </a:t>
            </a:r>
            <a:r>
              <a:rPr lang="en-US" sz="2400" b="1" dirty="0"/>
              <a:t>− B = A + (−B) = A + !B + 1</a:t>
            </a:r>
          </a:p>
          <a:p>
            <a:pPr marL="473075" lvl="2" indent="-285750">
              <a:buFont typeface="Arial" panose="020B0604020202020204" pitchFamily="34" charset="0"/>
              <a:buChar char="•"/>
            </a:pPr>
            <a:r>
              <a:rPr lang="en-US" sz="2400" b="1" dirty="0" smtClean="0"/>
              <a:t>of = C</a:t>
            </a:r>
            <a:r>
              <a:rPr lang="en-US" sz="2400" b="1" baseline="-25000" dirty="0" smtClean="0"/>
              <a:t>n-</a:t>
            </a:r>
            <a:r>
              <a:rPr lang="en-US" b="1" baseline="-25000" dirty="0" smtClean="0"/>
              <a:t>1</a:t>
            </a:r>
            <a:r>
              <a:rPr lang="en-US" sz="2400" b="1" dirty="0" smtClean="0"/>
              <a:t>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</a:t>
            </a:r>
            <a:r>
              <a:rPr lang="en-US" sz="2400" b="1" dirty="0" smtClean="0"/>
              <a:t> C</a:t>
            </a:r>
            <a:r>
              <a:rPr lang="en-US" sz="2400" b="1" baseline="-25000" dirty="0" smtClean="0"/>
              <a:t>n-</a:t>
            </a:r>
            <a:r>
              <a:rPr lang="en-US" b="1" baseline="-25000" dirty="0" smtClean="0"/>
              <a:t>2</a:t>
            </a:r>
            <a:endParaRPr lang="ru-RU" b="1" dirty="0"/>
          </a:p>
        </p:txBody>
      </p:sp>
      <p:grpSp>
        <p:nvGrpSpPr>
          <p:cNvPr id="43" name="Group 42"/>
          <p:cNvGrpSpPr/>
          <p:nvPr/>
        </p:nvGrpSpPr>
        <p:grpSpPr>
          <a:xfrm>
            <a:off x="1757122" y="2139268"/>
            <a:ext cx="6420691" cy="3607772"/>
            <a:chOff x="1757122" y="2139268"/>
            <a:chExt cx="6420691" cy="3607772"/>
          </a:xfrm>
        </p:grpSpPr>
        <p:grpSp>
          <p:nvGrpSpPr>
            <p:cNvPr id="8" name="Group 7"/>
            <p:cNvGrpSpPr/>
            <p:nvPr/>
          </p:nvGrpSpPr>
          <p:grpSpPr>
            <a:xfrm>
              <a:off x="5437122" y="3316376"/>
              <a:ext cx="1076033" cy="1402458"/>
              <a:chOff x="7554296" y="2149137"/>
              <a:chExt cx="1434710" cy="1869944"/>
            </a:xfrm>
          </p:grpSpPr>
          <p:sp>
            <p:nvSpPr>
              <p:cNvPr id="9" name="Rectangle 8"/>
              <p:cNvSpPr/>
              <p:nvPr/>
            </p:nvSpPr>
            <p:spPr>
              <a:xfrm flipH="1">
                <a:off x="8244777" y="2149137"/>
                <a:ext cx="4043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defTabSz="685800">
                  <a:defRPr/>
                </a:pPr>
                <a:r>
                  <a:rPr lang="en-US" sz="1200" kern="0" dirty="0">
                    <a:solidFill>
                      <a:srgbClr val="061922"/>
                    </a:solidFill>
                    <a:latin typeface="+mn-lt"/>
                  </a:rPr>
                  <a:t>x</a:t>
                </a:r>
                <a:r>
                  <a:rPr lang="en-US" sz="1200" kern="0" baseline="-25000" dirty="0">
                    <a:solidFill>
                      <a:srgbClr val="061922"/>
                    </a:solidFill>
                    <a:latin typeface="+mn-lt"/>
                  </a:rPr>
                  <a:t>0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 flipH="1">
                <a:off x="8443878" y="3649749"/>
                <a:ext cx="395834" cy="369332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algn="ctr" defTabSz="685800">
                  <a:defRPr/>
                </a:pPr>
                <a:r>
                  <a:rPr lang="en-US" sz="1200" kern="0" dirty="0">
                    <a:solidFill>
                      <a:srgbClr val="061922"/>
                    </a:solidFill>
                    <a:latin typeface="+mn-lt"/>
                  </a:rPr>
                  <a:t>s</a:t>
                </a:r>
                <a:r>
                  <a:rPr lang="en-US" sz="1200" kern="0" baseline="-25000" dirty="0">
                    <a:solidFill>
                      <a:srgbClr val="061922"/>
                    </a:solidFill>
                    <a:latin typeface="+mn-lt"/>
                  </a:rPr>
                  <a:t>0</a:t>
                </a:r>
              </a:p>
            </p:txBody>
          </p:sp>
          <p:grpSp>
            <p:nvGrpSpPr>
              <p:cNvPr id="12" name="Group 11"/>
              <p:cNvGrpSpPr/>
              <p:nvPr/>
            </p:nvGrpSpPr>
            <p:grpSpPr>
              <a:xfrm rot="16200000" flipH="1">
                <a:off x="7748715" y="2396677"/>
                <a:ext cx="1045871" cy="1434710"/>
                <a:chOff x="1426066" y="3878728"/>
                <a:chExt cx="1045871" cy="1434710"/>
              </a:xfrm>
            </p:grpSpPr>
            <p:sp>
              <p:nvSpPr>
                <p:cNvPr id="14" name="Rectangle 13"/>
                <p:cNvSpPr/>
                <p:nvPr/>
              </p:nvSpPr>
              <p:spPr>
                <a:xfrm rot="16200000">
                  <a:off x="1613532" y="4627638"/>
                  <a:ext cx="685800" cy="685800"/>
                </a:xfrm>
                <a:prstGeom prst="rect">
                  <a:avLst/>
                </a:prstGeom>
                <a:solidFill>
                  <a:srgbClr val="B4BABD">
                    <a:lumMod val="40000"/>
                    <a:lumOff val="60000"/>
                  </a:srgbClr>
                </a:solidFill>
                <a:ln w="19050" cap="flat" cmpd="sng" algn="ctr">
                  <a:solidFill>
                    <a:srgbClr val="B4BABD">
                      <a:lumMod val="75000"/>
                    </a:srgbClr>
                  </a:solidFill>
                  <a:prstDash val="solid"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68580" tIns="34290" rIns="68580" bIns="3429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kern="0" dirty="0" smtClean="0">
                      <a:solidFill>
                        <a:srgbClr val="061922"/>
                      </a:solidFill>
                      <a:latin typeface="+mn-lt"/>
                      <a:cs typeface="Arial" pitchFamily="34" charset="0"/>
                    </a:rPr>
                    <a:t>+</a:t>
                  </a:r>
                  <a:endParaRPr lang="ru-RU" sz="1200" kern="0" dirty="0">
                    <a:solidFill>
                      <a:srgbClr val="061922"/>
                    </a:solidFill>
                    <a:latin typeface="+mn-lt"/>
                    <a:cs typeface="Arial" pitchFamily="34" charset="0"/>
                  </a:endParaRPr>
                </a:p>
              </p:txBody>
            </p:sp>
            <p:cxnSp>
              <p:nvCxnSpPr>
                <p:cNvPr id="15" name="Straight Connector 14"/>
                <p:cNvCxnSpPr/>
                <p:nvPr/>
              </p:nvCxnSpPr>
              <p:spPr>
                <a:xfrm flipH="1">
                  <a:off x="1426066" y="4792153"/>
                  <a:ext cx="182880" cy="0"/>
                </a:xfrm>
                <a:prstGeom prst="line">
                  <a:avLst/>
                </a:prstGeom>
                <a:solidFill>
                  <a:srgbClr val="FFFFFF"/>
                </a:solidFill>
                <a:ln w="19050" cap="flat" cmpd="sng" algn="ctr">
                  <a:solidFill>
                    <a:srgbClr val="939598">
                      <a:lumMod val="5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7" name="Straight Connector 16"/>
                <p:cNvCxnSpPr/>
                <p:nvPr/>
              </p:nvCxnSpPr>
              <p:spPr>
                <a:xfrm flipH="1">
                  <a:off x="2289057" y="4966230"/>
                  <a:ext cx="182880" cy="0"/>
                </a:xfrm>
                <a:prstGeom prst="line">
                  <a:avLst/>
                </a:prstGeom>
                <a:solidFill>
                  <a:srgbClr val="FFFFFF"/>
                </a:solidFill>
                <a:ln w="19050" cap="flat" cmpd="sng" algn="ctr">
                  <a:solidFill>
                    <a:srgbClr val="939598">
                      <a:lumMod val="5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8" name="Straight Connector 17"/>
                <p:cNvCxnSpPr/>
                <p:nvPr/>
              </p:nvCxnSpPr>
              <p:spPr>
                <a:xfrm rot="16200000" flipH="1">
                  <a:off x="1581742" y="4244488"/>
                  <a:ext cx="731520" cy="0"/>
                </a:xfrm>
                <a:prstGeom prst="line">
                  <a:avLst/>
                </a:prstGeom>
                <a:solidFill>
                  <a:srgbClr val="FFFFFF"/>
                </a:solidFill>
                <a:ln w="19050" cap="flat" cmpd="sng" algn="ctr">
                  <a:solidFill>
                    <a:srgbClr val="939598">
                      <a:lumMod val="5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3" name="Rectangle 12"/>
              <p:cNvSpPr/>
              <p:nvPr/>
            </p:nvSpPr>
            <p:spPr>
              <a:xfrm flipH="1">
                <a:off x="7756076" y="2715198"/>
                <a:ext cx="402248" cy="369332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algn="ctr" defTabSz="685800">
                  <a:defRPr/>
                </a:pPr>
                <a:r>
                  <a:rPr lang="en-US" sz="1200" kern="0" dirty="0">
                    <a:solidFill>
                      <a:srgbClr val="061922"/>
                    </a:solidFill>
                    <a:latin typeface="+mn-lt"/>
                  </a:rPr>
                  <a:t>c</a:t>
                </a:r>
                <a:r>
                  <a:rPr lang="en-US" sz="1200" kern="0" baseline="-25000" dirty="0">
                    <a:solidFill>
                      <a:srgbClr val="061922"/>
                    </a:solidFill>
                    <a:latin typeface="+mn-lt"/>
                  </a:rPr>
                  <a:t>0</a:t>
                </a:r>
              </a:p>
            </p:txBody>
          </p:sp>
        </p:grpSp>
        <p:grpSp>
          <p:nvGrpSpPr>
            <p:cNvPr id="19" name="Group 18"/>
            <p:cNvGrpSpPr/>
            <p:nvPr/>
          </p:nvGrpSpPr>
          <p:grpSpPr>
            <a:xfrm>
              <a:off x="4381501" y="3316376"/>
              <a:ext cx="1055620" cy="1402458"/>
              <a:chOff x="7581512" y="2149137"/>
              <a:chExt cx="1407493" cy="1869944"/>
            </a:xfrm>
          </p:grpSpPr>
          <p:sp>
            <p:nvSpPr>
              <p:cNvPr id="20" name="Rectangle 19"/>
              <p:cNvSpPr/>
              <p:nvPr/>
            </p:nvSpPr>
            <p:spPr>
              <a:xfrm flipH="1">
                <a:off x="8244777" y="2149137"/>
                <a:ext cx="4043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defTabSz="685800">
                  <a:defRPr/>
                </a:pPr>
                <a:r>
                  <a:rPr lang="en-US" sz="1200" kern="0" dirty="0">
                    <a:solidFill>
                      <a:srgbClr val="061922"/>
                    </a:solidFill>
                    <a:latin typeface="+mn-lt"/>
                  </a:rPr>
                  <a:t>x</a:t>
                </a:r>
                <a:r>
                  <a:rPr lang="en-US" sz="1200" kern="0" baseline="-25000" dirty="0">
                    <a:solidFill>
                      <a:srgbClr val="061922"/>
                    </a:solidFill>
                    <a:latin typeface="+mn-lt"/>
                  </a:rPr>
                  <a:t>1</a:t>
                </a:r>
              </a:p>
            </p:txBody>
          </p:sp>
          <p:sp>
            <p:nvSpPr>
              <p:cNvPr id="22" name="Rectangle 21"/>
              <p:cNvSpPr/>
              <p:nvPr/>
            </p:nvSpPr>
            <p:spPr>
              <a:xfrm flipH="1">
                <a:off x="8443877" y="3649749"/>
                <a:ext cx="395835" cy="369332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algn="ctr" defTabSz="685800">
                  <a:defRPr/>
                </a:pPr>
                <a:r>
                  <a:rPr lang="en-US" sz="1200" kern="0" dirty="0">
                    <a:solidFill>
                      <a:srgbClr val="061922"/>
                    </a:solidFill>
                    <a:latin typeface="+mn-lt"/>
                  </a:rPr>
                  <a:t>s</a:t>
                </a:r>
                <a:r>
                  <a:rPr lang="en-US" sz="1200" kern="0" baseline="-25000" dirty="0">
                    <a:solidFill>
                      <a:srgbClr val="061922"/>
                    </a:solidFill>
                    <a:latin typeface="+mn-lt"/>
                  </a:rPr>
                  <a:t>1</a:t>
                </a:r>
              </a:p>
            </p:txBody>
          </p:sp>
          <p:grpSp>
            <p:nvGrpSpPr>
              <p:cNvPr id="23" name="Group 22"/>
              <p:cNvGrpSpPr/>
              <p:nvPr/>
            </p:nvGrpSpPr>
            <p:grpSpPr>
              <a:xfrm rot="16200000" flipH="1">
                <a:off x="7762323" y="2410285"/>
                <a:ext cx="1045871" cy="1407493"/>
                <a:chOff x="1426066" y="3905945"/>
                <a:chExt cx="1045871" cy="1407493"/>
              </a:xfrm>
            </p:grpSpPr>
            <p:sp>
              <p:nvSpPr>
                <p:cNvPr id="25" name="Rectangle 24"/>
                <p:cNvSpPr/>
                <p:nvPr/>
              </p:nvSpPr>
              <p:spPr>
                <a:xfrm rot="16200000">
                  <a:off x="1613532" y="4627638"/>
                  <a:ext cx="685800" cy="685800"/>
                </a:xfrm>
                <a:prstGeom prst="rect">
                  <a:avLst/>
                </a:prstGeom>
                <a:solidFill>
                  <a:srgbClr val="B4BABD">
                    <a:lumMod val="40000"/>
                    <a:lumOff val="60000"/>
                  </a:srgbClr>
                </a:solidFill>
                <a:ln w="19050" cap="flat" cmpd="sng" algn="ctr">
                  <a:solidFill>
                    <a:srgbClr val="B4BABD">
                      <a:lumMod val="75000"/>
                    </a:srgbClr>
                  </a:solidFill>
                  <a:prstDash val="solid"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68580" tIns="34290" rIns="68580" bIns="3429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kern="0" dirty="0" smtClean="0">
                      <a:solidFill>
                        <a:srgbClr val="061922"/>
                      </a:solidFill>
                      <a:latin typeface="+mn-lt"/>
                      <a:cs typeface="Arial" pitchFamily="34" charset="0"/>
                    </a:rPr>
                    <a:t>+</a:t>
                  </a:r>
                  <a:endParaRPr lang="ru-RU" sz="1200" kern="0" dirty="0">
                    <a:solidFill>
                      <a:srgbClr val="061922"/>
                    </a:solidFill>
                    <a:latin typeface="+mn-lt"/>
                    <a:cs typeface="Arial" pitchFamily="34" charset="0"/>
                  </a:endParaRPr>
                </a:p>
              </p:txBody>
            </p:sp>
            <p:cxnSp>
              <p:nvCxnSpPr>
                <p:cNvPr id="26" name="Straight Connector 25"/>
                <p:cNvCxnSpPr/>
                <p:nvPr/>
              </p:nvCxnSpPr>
              <p:spPr>
                <a:xfrm flipH="1">
                  <a:off x="1426066" y="4792153"/>
                  <a:ext cx="182880" cy="0"/>
                </a:xfrm>
                <a:prstGeom prst="line">
                  <a:avLst/>
                </a:prstGeom>
                <a:solidFill>
                  <a:srgbClr val="FFFFFF"/>
                </a:solidFill>
                <a:ln w="19050" cap="flat" cmpd="sng" algn="ctr">
                  <a:solidFill>
                    <a:srgbClr val="939598">
                      <a:lumMod val="5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8" name="Straight Connector 27"/>
                <p:cNvCxnSpPr/>
                <p:nvPr/>
              </p:nvCxnSpPr>
              <p:spPr>
                <a:xfrm flipH="1">
                  <a:off x="2289057" y="4966230"/>
                  <a:ext cx="182880" cy="0"/>
                </a:xfrm>
                <a:prstGeom prst="line">
                  <a:avLst/>
                </a:prstGeom>
                <a:solidFill>
                  <a:srgbClr val="FFFFFF"/>
                </a:solidFill>
                <a:ln w="19050" cap="flat" cmpd="sng" algn="ctr">
                  <a:solidFill>
                    <a:srgbClr val="939598">
                      <a:lumMod val="5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9" name="Straight Connector 28"/>
                <p:cNvCxnSpPr/>
                <p:nvPr/>
              </p:nvCxnSpPr>
              <p:spPr>
                <a:xfrm rot="16200000" flipH="1">
                  <a:off x="1581742" y="4271705"/>
                  <a:ext cx="731520" cy="0"/>
                </a:xfrm>
                <a:prstGeom prst="line">
                  <a:avLst/>
                </a:prstGeom>
                <a:solidFill>
                  <a:srgbClr val="FFFFFF"/>
                </a:solidFill>
                <a:ln w="19050" cap="flat" cmpd="sng" algn="ctr">
                  <a:solidFill>
                    <a:srgbClr val="939598">
                      <a:lumMod val="5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4" name="Rectangle 23"/>
              <p:cNvSpPr/>
              <p:nvPr/>
            </p:nvSpPr>
            <p:spPr>
              <a:xfrm flipH="1">
                <a:off x="7783205" y="2721561"/>
                <a:ext cx="402248" cy="369332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algn="ctr" defTabSz="685800">
                  <a:defRPr/>
                </a:pPr>
                <a:r>
                  <a:rPr lang="en-US" sz="1200" kern="0" dirty="0">
                    <a:solidFill>
                      <a:srgbClr val="061922"/>
                    </a:solidFill>
                    <a:latin typeface="+mn-lt"/>
                  </a:rPr>
                  <a:t>c</a:t>
                </a:r>
                <a:r>
                  <a:rPr lang="en-US" sz="1200" kern="0" baseline="-25000" dirty="0">
                    <a:solidFill>
                      <a:srgbClr val="061922"/>
                    </a:solidFill>
                    <a:latin typeface="+mn-lt"/>
                  </a:rPr>
                  <a:t>1</a:t>
                </a:r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3465980" y="3316376"/>
              <a:ext cx="904350" cy="1402458"/>
              <a:chOff x="7783207" y="2149137"/>
              <a:chExt cx="1205799" cy="1869944"/>
            </a:xfrm>
          </p:grpSpPr>
          <p:sp>
            <p:nvSpPr>
              <p:cNvPr id="31" name="Rectangle 30"/>
              <p:cNvSpPr/>
              <p:nvPr/>
            </p:nvSpPr>
            <p:spPr>
              <a:xfrm flipH="1">
                <a:off x="8244777" y="2149137"/>
                <a:ext cx="4043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defTabSz="685800">
                  <a:defRPr/>
                </a:pPr>
                <a:r>
                  <a:rPr lang="en-US" sz="1200" kern="0" dirty="0">
                    <a:solidFill>
                      <a:srgbClr val="061922"/>
                    </a:solidFill>
                    <a:latin typeface="+mn-lt"/>
                  </a:rPr>
                  <a:t>x</a:t>
                </a:r>
                <a:r>
                  <a:rPr lang="en-US" sz="1200" kern="0" baseline="-25000" dirty="0">
                    <a:solidFill>
                      <a:srgbClr val="061922"/>
                    </a:solidFill>
                    <a:latin typeface="+mn-lt"/>
                  </a:rPr>
                  <a:t>2</a:t>
                </a:r>
              </a:p>
            </p:txBody>
          </p:sp>
          <p:sp>
            <p:nvSpPr>
              <p:cNvPr id="33" name="Rectangle 32"/>
              <p:cNvSpPr/>
              <p:nvPr/>
            </p:nvSpPr>
            <p:spPr>
              <a:xfrm flipH="1">
                <a:off x="8443878" y="3649749"/>
                <a:ext cx="395834" cy="369332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algn="ctr" defTabSz="685800">
                  <a:defRPr/>
                </a:pPr>
                <a:r>
                  <a:rPr lang="en-US" sz="1200" kern="0" dirty="0">
                    <a:solidFill>
                      <a:srgbClr val="061922"/>
                    </a:solidFill>
                    <a:latin typeface="+mn-lt"/>
                  </a:rPr>
                  <a:t>s</a:t>
                </a:r>
                <a:r>
                  <a:rPr lang="en-US" sz="1200" kern="0" baseline="-25000" dirty="0">
                    <a:solidFill>
                      <a:srgbClr val="061922"/>
                    </a:solidFill>
                    <a:latin typeface="+mn-lt"/>
                  </a:rPr>
                  <a:t>2</a:t>
                </a:r>
              </a:p>
            </p:txBody>
          </p:sp>
          <p:grpSp>
            <p:nvGrpSpPr>
              <p:cNvPr id="34" name="Group 33"/>
              <p:cNvGrpSpPr/>
              <p:nvPr/>
            </p:nvGrpSpPr>
            <p:grpSpPr>
              <a:xfrm rot="16200000" flipH="1">
                <a:off x="7963733" y="2611695"/>
                <a:ext cx="1045871" cy="1004674"/>
                <a:chOff x="1426066" y="4308764"/>
                <a:chExt cx="1045871" cy="1004674"/>
              </a:xfrm>
            </p:grpSpPr>
            <p:sp>
              <p:nvSpPr>
                <p:cNvPr id="36" name="Rectangle 35"/>
                <p:cNvSpPr/>
                <p:nvPr/>
              </p:nvSpPr>
              <p:spPr>
                <a:xfrm rot="16200000">
                  <a:off x="1613532" y="4627638"/>
                  <a:ext cx="685800" cy="685800"/>
                </a:xfrm>
                <a:prstGeom prst="rect">
                  <a:avLst/>
                </a:prstGeom>
                <a:solidFill>
                  <a:srgbClr val="B4BABD">
                    <a:lumMod val="40000"/>
                    <a:lumOff val="60000"/>
                  </a:srgbClr>
                </a:solidFill>
                <a:ln w="19050" cap="flat" cmpd="sng" algn="ctr">
                  <a:solidFill>
                    <a:srgbClr val="B4BABD">
                      <a:lumMod val="75000"/>
                    </a:srgbClr>
                  </a:solidFill>
                  <a:prstDash val="solid"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68580" tIns="34290" rIns="68580" bIns="3429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kern="0" dirty="0" smtClean="0">
                      <a:solidFill>
                        <a:srgbClr val="061922"/>
                      </a:solidFill>
                      <a:latin typeface="+mn-lt"/>
                      <a:cs typeface="Arial" pitchFamily="34" charset="0"/>
                    </a:rPr>
                    <a:t>+</a:t>
                  </a:r>
                  <a:endParaRPr lang="ru-RU" sz="1200" kern="0" dirty="0">
                    <a:solidFill>
                      <a:srgbClr val="061922"/>
                    </a:solidFill>
                    <a:latin typeface="+mn-lt"/>
                    <a:cs typeface="Arial" pitchFamily="34" charset="0"/>
                  </a:endParaRPr>
                </a:p>
              </p:txBody>
            </p:sp>
            <p:cxnSp>
              <p:nvCxnSpPr>
                <p:cNvPr id="37" name="Straight Connector 36"/>
                <p:cNvCxnSpPr/>
                <p:nvPr/>
              </p:nvCxnSpPr>
              <p:spPr>
                <a:xfrm flipH="1">
                  <a:off x="1426066" y="4792153"/>
                  <a:ext cx="182880" cy="0"/>
                </a:xfrm>
                <a:prstGeom prst="line">
                  <a:avLst/>
                </a:prstGeom>
                <a:solidFill>
                  <a:srgbClr val="FFFFFF"/>
                </a:solidFill>
                <a:ln w="19050" cap="flat" cmpd="sng" algn="ctr">
                  <a:solidFill>
                    <a:srgbClr val="939598">
                      <a:lumMod val="5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9" name="Straight Connector 38"/>
                <p:cNvCxnSpPr/>
                <p:nvPr/>
              </p:nvCxnSpPr>
              <p:spPr>
                <a:xfrm flipH="1">
                  <a:off x="2289057" y="4966230"/>
                  <a:ext cx="182880" cy="0"/>
                </a:xfrm>
                <a:prstGeom prst="line">
                  <a:avLst/>
                </a:prstGeom>
                <a:solidFill>
                  <a:srgbClr val="FFFFFF"/>
                </a:solidFill>
                <a:ln w="19050" cap="flat" cmpd="sng" algn="ctr">
                  <a:solidFill>
                    <a:srgbClr val="939598">
                      <a:lumMod val="5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40" name="Straight Connector 39"/>
                <p:cNvCxnSpPr>
                  <a:stCxn id="35" idx="2"/>
                </p:cNvCxnSpPr>
                <p:nvPr/>
              </p:nvCxnSpPr>
              <p:spPr>
                <a:xfrm rot="16200000" flipH="1">
                  <a:off x="1772332" y="4462294"/>
                  <a:ext cx="328702" cy="21641"/>
                </a:xfrm>
                <a:prstGeom prst="line">
                  <a:avLst/>
                </a:prstGeom>
                <a:solidFill>
                  <a:srgbClr val="FFFFFF"/>
                </a:solidFill>
                <a:ln w="19050" cap="flat" cmpd="sng" algn="ctr">
                  <a:solidFill>
                    <a:srgbClr val="939598">
                      <a:lumMod val="5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35" name="Rectangle 34"/>
              <p:cNvSpPr/>
              <p:nvPr/>
            </p:nvSpPr>
            <p:spPr>
              <a:xfrm flipH="1">
                <a:off x="7783207" y="2721561"/>
                <a:ext cx="402248" cy="369332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algn="ctr" defTabSz="685800">
                  <a:defRPr/>
                </a:pPr>
                <a:r>
                  <a:rPr lang="en-US" sz="1200" kern="0" dirty="0" smtClean="0">
                    <a:solidFill>
                      <a:srgbClr val="061922"/>
                    </a:solidFill>
                    <a:latin typeface="+mn-lt"/>
                  </a:rPr>
                  <a:t>c</a:t>
                </a:r>
                <a:r>
                  <a:rPr lang="en-US" sz="1200" kern="0" baseline="-25000" dirty="0" smtClean="0">
                    <a:solidFill>
                      <a:srgbClr val="061922"/>
                    </a:solidFill>
                    <a:latin typeface="+mn-lt"/>
                  </a:rPr>
                  <a:t>2</a:t>
                </a:r>
                <a:endParaRPr lang="en-US" sz="1200" kern="0" baseline="-25000" dirty="0">
                  <a:solidFill>
                    <a:srgbClr val="061922"/>
                  </a:solidFill>
                  <a:latin typeface="+mn-lt"/>
                </a:endParaRPr>
              </a:p>
            </p:txBody>
          </p:sp>
        </p:grpSp>
        <p:sp>
          <p:nvSpPr>
            <p:cNvPr id="42" name="Rectangle 41"/>
            <p:cNvSpPr/>
            <p:nvPr/>
          </p:nvSpPr>
          <p:spPr>
            <a:xfrm flipH="1">
              <a:off x="2211054" y="3321489"/>
              <a:ext cx="38985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85800">
                <a:defRPr/>
              </a:pPr>
              <a:r>
                <a:rPr lang="en-US" sz="1200" kern="0" dirty="0">
                  <a:solidFill>
                    <a:srgbClr val="061922"/>
                  </a:solidFill>
                  <a:latin typeface="+mn-lt"/>
                </a:rPr>
                <a:t>x</a:t>
              </a:r>
              <a:r>
                <a:rPr lang="en-US" sz="1200" kern="0" baseline="-25000" dirty="0">
                  <a:solidFill>
                    <a:srgbClr val="061922"/>
                  </a:solidFill>
                  <a:latin typeface="+mn-lt"/>
                </a:rPr>
                <a:t>n-1</a:t>
              </a:r>
            </a:p>
          </p:txBody>
        </p:sp>
        <p:sp>
          <p:nvSpPr>
            <p:cNvPr id="44" name="Rectangle 43"/>
            <p:cNvSpPr/>
            <p:nvPr/>
          </p:nvSpPr>
          <p:spPr>
            <a:xfrm flipH="1">
              <a:off x="2396225" y="4441836"/>
              <a:ext cx="383438" cy="276999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 defTabSz="685800">
                <a:defRPr/>
              </a:pPr>
              <a:r>
                <a:rPr lang="en-US" sz="1200" kern="0" dirty="0">
                  <a:solidFill>
                    <a:srgbClr val="061922"/>
                  </a:solidFill>
                  <a:latin typeface="+mn-lt"/>
                </a:rPr>
                <a:t>s</a:t>
              </a:r>
              <a:r>
                <a:rPr lang="en-US" sz="1200" kern="0" baseline="-25000" dirty="0">
                  <a:solidFill>
                    <a:srgbClr val="061922"/>
                  </a:solidFill>
                  <a:latin typeface="+mn-lt"/>
                </a:rPr>
                <a:t>n-1</a:t>
              </a:r>
            </a:p>
          </p:txBody>
        </p:sp>
        <p:sp>
          <p:nvSpPr>
            <p:cNvPr id="47" name="Rectangle 46"/>
            <p:cNvSpPr/>
            <p:nvPr/>
          </p:nvSpPr>
          <p:spPr>
            <a:xfrm flipH="1">
              <a:off x="2334000" y="3788446"/>
              <a:ext cx="514350" cy="514350"/>
            </a:xfrm>
            <a:prstGeom prst="rect">
              <a:avLst/>
            </a:prstGeom>
            <a:solidFill>
              <a:srgbClr val="B4BABD">
                <a:lumMod val="40000"/>
                <a:lumOff val="60000"/>
              </a:srgbClr>
            </a:solidFill>
            <a:ln w="19050" cap="flat" cmpd="sng" algn="ctr">
              <a:solidFill>
                <a:srgbClr val="B4BABD">
                  <a:lumMod val="75000"/>
                </a:srgbClr>
              </a:solidFill>
              <a:prstDash val="solid"/>
              <a:headEnd type="none" w="sm" len="sm"/>
              <a:tailEnd type="none" w="sm" len="sm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 kern="0" dirty="0" smtClean="0">
                  <a:solidFill>
                    <a:srgbClr val="061922"/>
                  </a:solidFill>
                  <a:latin typeface="+mn-lt"/>
                  <a:cs typeface="Arial" pitchFamily="34" charset="0"/>
                </a:rPr>
                <a:t>+</a:t>
              </a:r>
              <a:endParaRPr lang="ru-RU" sz="1200" kern="0" dirty="0">
                <a:solidFill>
                  <a:srgbClr val="061922"/>
                </a:solidFill>
                <a:latin typeface="+mn-lt"/>
                <a:cs typeface="Arial" pitchFamily="34" charset="0"/>
              </a:endParaRPr>
            </a:p>
          </p:txBody>
        </p:sp>
        <p:cxnSp>
          <p:nvCxnSpPr>
            <p:cNvPr id="48" name="Straight Connector 47"/>
            <p:cNvCxnSpPr/>
            <p:nvPr/>
          </p:nvCxnSpPr>
          <p:spPr>
            <a:xfrm rot="16200000">
              <a:off x="2388806" y="3716426"/>
              <a:ext cx="137160" cy="0"/>
            </a:xfrm>
            <a:prstGeom prst="line">
              <a:avLst/>
            </a:prstGeom>
            <a:solidFill>
              <a:srgbClr val="FFFFFF"/>
            </a:solidFill>
            <a:ln w="19050" cap="flat" cmpd="sng" algn="ctr">
              <a:solidFill>
                <a:srgbClr val="939598">
                  <a:lumMod val="5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0" name="Straight Connector 49"/>
            <p:cNvCxnSpPr/>
            <p:nvPr/>
          </p:nvCxnSpPr>
          <p:spPr>
            <a:xfrm rot="16200000">
              <a:off x="2519364" y="4363670"/>
              <a:ext cx="137160" cy="0"/>
            </a:xfrm>
            <a:prstGeom prst="line">
              <a:avLst/>
            </a:prstGeom>
            <a:solidFill>
              <a:srgbClr val="FFFFFF"/>
            </a:solidFill>
            <a:ln w="19050" cap="flat" cmpd="sng" algn="ctr">
              <a:solidFill>
                <a:srgbClr val="939598">
                  <a:lumMod val="5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" name="Straight Connector 50"/>
            <p:cNvCxnSpPr/>
            <p:nvPr/>
          </p:nvCxnSpPr>
          <p:spPr>
            <a:xfrm>
              <a:off x="1886734" y="4038923"/>
              <a:ext cx="454637" cy="0"/>
            </a:xfrm>
            <a:prstGeom prst="line">
              <a:avLst/>
            </a:prstGeom>
            <a:solidFill>
              <a:srgbClr val="FFFFFF"/>
            </a:solidFill>
            <a:ln w="19050" cap="flat" cmpd="sng" algn="ctr">
              <a:solidFill>
                <a:srgbClr val="939598">
                  <a:lumMod val="5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6" name="Rectangle 45"/>
            <p:cNvSpPr/>
            <p:nvPr/>
          </p:nvSpPr>
          <p:spPr>
            <a:xfrm flipH="1">
              <a:off x="1900721" y="3745695"/>
              <a:ext cx="388248" cy="276999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 defTabSz="685800">
                <a:defRPr/>
              </a:pPr>
              <a:r>
                <a:rPr lang="en-US" sz="1200" kern="0" dirty="0" err="1">
                  <a:solidFill>
                    <a:srgbClr val="061922"/>
                  </a:solidFill>
                  <a:latin typeface="+mn-lt"/>
                </a:rPr>
                <a:t>c</a:t>
              </a:r>
              <a:r>
                <a:rPr lang="en-US" sz="1200" kern="0" baseline="-25000" dirty="0" err="1">
                  <a:solidFill>
                    <a:srgbClr val="061922"/>
                  </a:solidFill>
                  <a:latin typeface="+mn-lt"/>
                </a:rPr>
                <a:t>n</a:t>
              </a:r>
              <a:r>
                <a:rPr lang="en-US" sz="1200" kern="0" baseline="-25000" dirty="0">
                  <a:solidFill>
                    <a:srgbClr val="061922"/>
                  </a:solidFill>
                  <a:latin typeface="+mn-lt"/>
                </a:rPr>
                <a:t>-1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302551" y="3852968"/>
              <a:ext cx="29046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n-lt"/>
                </a:rPr>
                <a:t>…</a:t>
              </a:r>
              <a:endParaRPr lang="ru-RU" sz="1200" dirty="0">
                <a:latin typeface="+mn-lt"/>
              </a:endParaRPr>
            </a:p>
          </p:txBody>
        </p:sp>
        <p:cxnSp>
          <p:nvCxnSpPr>
            <p:cNvPr id="115" name="Straight Connector 114"/>
            <p:cNvCxnSpPr/>
            <p:nvPr/>
          </p:nvCxnSpPr>
          <p:spPr>
            <a:xfrm flipV="1">
              <a:off x="3714191" y="2273367"/>
              <a:ext cx="3135494" cy="178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TextBox 130"/>
            <p:cNvSpPr txBox="1"/>
            <p:nvPr/>
          </p:nvSpPr>
          <p:spPr>
            <a:xfrm>
              <a:off x="3299894" y="2719119"/>
              <a:ext cx="29046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n-lt"/>
                </a:rPr>
                <a:t>…</a:t>
              </a:r>
              <a:endParaRPr lang="ru-RU" sz="1200" dirty="0">
                <a:latin typeface="+mn-lt"/>
              </a:endParaRPr>
            </a:p>
          </p:txBody>
        </p:sp>
        <p:cxnSp>
          <p:nvCxnSpPr>
            <p:cNvPr id="139" name="Straight Connector 138"/>
            <p:cNvCxnSpPr/>
            <p:nvPr/>
          </p:nvCxnSpPr>
          <p:spPr>
            <a:xfrm flipH="1">
              <a:off x="6503179" y="4029463"/>
              <a:ext cx="914786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Oval 142"/>
            <p:cNvSpPr/>
            <p:nvPr/>
          </p:nvSpPr>
          <p:spPr>
            <a:xfrm>
              <a:off x="6817868" y="3991468"/>
              <a:ext cx="68580" cy="6858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7410295" y="3824854"/>
              <a:ext cx="7675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n-lt"/>
                </a:rPr>
                <a:t>s</a:t>
              </a:r>
              <a:r>
                <a:rPr lang="en-US" sz="1200" dirty="0" smtClean="0">
                  <a:latin typeface="+mn-lt"/>
                </a:rPr>
                <a:t>ubtract?</a:t>
              </a:r>
              <a:endParaRPr lang="ru-RU" sz="1200" dirty="0">
                <a:latin typeface="+mn-lt"/>
              </a:endParaRPr>
            </a:p>
          </p:txBody>
        </p:sp>
        <p:sp>
          <p:nvSpPr>
            <p:cNvPr id="146" name="Rectangle 145"/>
            <p:cNvSpPr/>
            <p:nvPr/>
          </p:nvSpPr>
          <p:spPr>
            <a:xfrm flipH="1">
              <a:off x="2864524" y="3732067"/>
              <a:ext cx="388248" cy="276999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 defTabSz="685800">
                <a:defRPr/>
              </a:pPr>
              <a:r>
                <a:rPr lang="en-US" sz="1200" kern="0" dirty="0" err="1">
                  <a:solidFill>
                    <a:srgbClr val="061922"/>
                  </a:solidFill>
                  <a:latin typeface="+mn-lt"/>
                </a:rPr>
                <a:t>c</a:t>
              </a:r>
              <a:r>
                <a:rPr lang="en-US" sz="1200" kern="0" baseline="-25000" dirty="0" err="1">
                  <a:solidFill>
                    <a:srgbClr val="061922"/>
                  </a:solidFill>
                  <a:latin typeface="+mn-lt"/>
                </a:rPr>
                <a:t>n</a:t>
              </a:r>
              <a:r>
                <a:rPr lang="en-US" sz="1200" kern="0" baseline="-25000" dirty="0">
                  <a:solidFill>
                    <a:srgbClr val="061922"/>
                  </a:solidFill>
                  <a:latin typeface="+mn-lt"/>
                </a:rPr>
                <a:t>-2</a:t>
              </a:r>
            </a:p>
          </p:txBody>
        </p:sp>
        <p:cxnSp>
          <p:nvCxnSpPr>
            <p:cNvPr id="147" name="Straight Connector 146"/>
            <p:cNvCxnSpPr/>
            <p:nvPr/>
          </p:nvCxnSpPr>
          <p:spPr>
            <a:xfrm flipV="1">
              <a:off x="2848350" y="4029463"/>
              <a:ext cx="404422" cy="3667"/>
            </a:xfrm>
            <a:prstGeom prst="line">
              <a:avLst/>
            </a:prstGeom>
            <a:solidFill>
              <a:srgbClr val="FFFFFF"/>
            </a:solidFill>
            <a:ln w="19050" cap="flat" cmpd="sng" algn="ctr">
              <a:solidFill>
                <a:srgbClr val="939598">
                  <a:lumMod val="5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153" name="Group 152"/>
            <p:cNvGrpSpPr/>
            <p:nvPr/>
          </p:nvGrpSpPr>
          <p:grpSpPr>
            <a:xfrm rot="5400000">
              <a:off x="1677237" y="4971928"/>
              <a:ext cx="563648" cy="403877"/>
              <a:chOff x="2373673" y="1845458"/>
              <a:chExt cx="751530" cy="538502"/>
            </a:xfrm>
          </p:grpSpPr>
          <p:sp>
            <p:nvSpPr>
              <p:cNvPr id="150" name="Flowchart: Delay 18"/>
              <p:cNvSpPr/>
              <p:nvPr/>
            </p:nvSpPr>
            <p:spPr bwMode="auto">
              <a:xfrm flipH="1">
                <a:off x="2483260" y="1845458"/>
                <a:ext cx="415468" cy="538502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3276 w 10041"/>
                  <a:gd name="connsiteY0" fmla="*/ 0 h 10023"/>
                  <a:gd name="connsiteX1" fmla="*/ 10041 w 10041"/>
                  <a:gd name="connsiteY1" fmla="*/ 23 h 10023"/>
                  <a:gd name="connsiteX2" fmla="*/ 8374 w 10041"/>
                  <a:gd name="connsiteY2" fmla="*/ 5023 h 10023"/>
                  <a:gd name="connsiteX3" fmla="*/ 10041 w 10041"/>
                  <a:gd name="connsiteY3" fmla="*/ 10023 h 10023"/>
                  <a:gd name="connsiteX4" fmla="*/ 1708 w 10041"/>
                  <a:gd name="connsiteY4" fmla="*/ 10023 h 10023"/>
                  <a:gd name="connsiteX5" fmla="*/ 41 w 10041"/>
                  <a:gd name="connsiteY5" fmla="*/ 5023 h 10023"/>
                  <a:gd name="connsiteX6" fmla="*/ 3276 w 10041"/>
                  <a:gd name="connsiteY6" fmla="*/ 0 h 10023"/>
                  <a:gd name="connsiteX0" fmla="*/ 3237 w 10002"/>
                  <a:gd name="connsiteY0" fmla="*/ 0 h 10070"/>
                  <a:gd name="connsiteX1" fmla="*/ 10002 w 10002"/>
                  <a:gd name="connsiteY1" fmla="*/ 23 h 10070"/>
                  <a:gd name="connsiteX2" fmla="*/ 8335 w 10002"/>
                  <a:gd name="connsiteY2" fmla="*/ 5023 h 10070"/>
                  <a:gd name="connsiteX3" fmla="*/ 10002 w 10002"/>
                  <a:gd name="connsiteY3" fmla="*/ 10023 h 10070"/>
                  <a:gd name="connsiteX4" fmla="*/ 3656 w 10002"/>
                  <a:gd name="connsiteY4" fmla="*/ 10070 h 10070"/>
                  <a:gd name="connsiteX5" fmla="*/ 2 w 10002"/>
                  <a:gd name="connsiteY5" fmla="*/ 5023 h 10070"/>
                  <a:gd name="connsiteX6" fmla="*/ 3237 w 10002"/>
                  <a:gd name="connsiteY6" fmla="*/ 0 h 10070"/>
                  <a:gd name="connsiteX0" fmla="*/ 3237 w 10002"/>
                  <a:gd name="connsiteY0" fmla="*/ 0 h 10070"/>
                  <a:gd name="connsiteX1" fmla="*/ 10002 w 10002"/>
                  <a:gd name="connsiteY1" fmla="*/ 23 h 10070"/>
                  <a:gd name="connsiteX2" fmla="*/ 7439 w 10002"/>
                  <a:gd name="connsiteY2" fmla="*/ 5023 h 10070"/>
                  <a:gd name="connsiteX3" fmla="*/ 10002 w 10002"/>
                  <a:gd name="connsiteY3" fmla="*/ 10023 h 10070"/>
                  <a:gd name="connsiteX4" fmla="*/ 3656 w 10002"/>
                  <a:gd name="connsiteY4" fmla="*/ 10070 h 10070"/>
                  <a:gd name="connsiteX5" fmla="*/ 2 w 10002"/>
                  <a:gd name="connsiteY5" fmla="*/ 5023 h 10070"/>
                  <a:gd name="connsiteX6" fmla="*/ 3237 w 10002"/>
                  <a:gd name="connsiteY6" fmla="*/ 0 h 10070"/>
                  <a:gd name="connsiteX0" fmla="*/ 2761 w 9526"/>
                  <a:gd name="connsiteY0" fmla="*/ 0 h 10070"/>
                  <a:gd name="connsiteX1" fmla="*/ 9526 w 9526"/>
                  <a:gd name="connsiteY1" fmla="*/ 23 h 10070"/>
                  <a:gd name="connsiteX2" fmla="*/ 6963 w 9526"/>
                  <a:gd name="connsiteY2" fmla="*/ 5023 h 10070"/>
                  <a:gd name="connsiteX3" fmla="*/ 9526 w 9526"/>
                  <a:gd name="connsiteY3" fmla="*/ 10023 h 10070"/>
                  <a:gd name="connsiteX4" fmla="*/ 3180 w 9526"/>
                  <a:gd name="connsiteY4" fmla="*/ 10070 h 10070"/>
                  <a:gd name="connsiteX5" fmla="*/ 2 w 9526"/>
                  <a:gd name="connsiteY5" fmla="*/ 5023 h 10070"/>
                  <a:gd name="connsiteX6" fmla="*/ 2761 w 9526"/>
                  <a:gd name="connsiteY6" fmla="*/ 0 h 10070"/>
                  <a:gd name="connsiteX0" fmla="*/ 2898 w 10000"/>
                  <a:gd name="connsiteY0" fmla="*/ 0 h 10000"/>
                  <a:gd name="connsiteX1" fmla="*/ 10000 w 10000"/>
                  <a:gd name="connsiteY1" fmla="*/ 23 h 10000"/>
                  <a:gd name="connsiteX2" fmla="*/ 7309 w 10000"/>
                  <a:gd name="connsiteY2" fmla="*/ 4988 h 10000"/>
                  <a:gd name="connsiteX3" fmla="*/ 10000 w 10000"/>
                  <a:gd name="connsiteY3" fmla="*/ 9953 h 10000"/>
                  <a:gd name="connsiteX4" fmla="*/ 3338 w 10000"/>
                  <a:gd name="connsiteY4" fmla="*/ 10000 h 10000"/>
                  <a:gd name="connsiteX5" fmla="*/ 2 w 10000"/>
                  <a:gd name="connsiteY5" fmla="*/ 4988 h 10000"/>
                  <a:gd name="connsiteX6" fmla="*/ 2898 w 10000"/>
                  <a:gd name="connsiteY6" fmla="*/ 0 h 10000"/>
                  <a:gd name="connsiteX0" fmla="*/ 4522 w 10008"/>
                  <a:gd name="connsiteY0" fmla="*/ 0 h 10000"/>
                  <a:gd name="connsiteX1" fmla="*/ 10008 w 10008"/>
                  <a:gd name="connsiteY1" fmla="*/ 23 h 10000"/>
                  <a:gd name="connsiteX2" fmla="*/ 7317 w 10008"/>
                  <a:gd name="connsiteY2" fmla="*/ 4988 h 10000"/>
                  <a:gd name="connsiteX3" fmla="*/ 10008 w 10008"/>
                  <a:gd name="connsiteY3" fmla="*/ 9953 h 10000"/>
                  <a:gd name="connsiteX4" fmla="*/ 3346 w 10008"/>
                  <a:gd name="connsiteY4" fmla="*/ 10000 h 10000"/>
                  <a:gd name="connsiteX5" fmla="*/ 10 w 10008"/>
                  <a:gd name="connsiteY5" fmla="*/ 4988 h 10000"/>
                  <a:gd name="connsiteX6" fmla="*/ 4522 w 10008"/>
                  <a:gd name="connsiteY6" fmla="*/ 0 h 10000"/>
                  <a:gd name="connsiteX0" fmla="*/ 4518 w 10004"/>
                  <a:gd name="connsiteY0" fmla="*/ 0 h 10000"/>
                  <a:gd name="connsiteX1" fmla="*/ 10004 w 10004"/>
                  <a:gd name="connsiteY1" fmla="*/ 23 h 10000"/>
                  <a:gd name="connsiteX2" fmla="*/ 7313 w 10004"/>
                  <a:gd name="connsiteY2" fmla="*/ 4988 h 10000"/>
                  <a:gd name="connsiteX3" fmla="*/ 10004 w 10004"/>
                  <a:gd name="connsiteY3" fmla="*/ 9953 h 10000"/>
                  <a:gd name="connsiteX4" fmla="*/ 5516 w 10004"/>
                  <a:gd name="connsiteY4" fmla="*/ 10000 h 10000"/>
                  <a:gd name="connsiteX5" fmla="*/ 6 w 10004"/>
                  <a:gd name="connsiteY5" fmla="*/ 4988 h 10000"/>
                  <a:gd name="connsiteX6" fmla="*/ 4518 w 10004"/>
                  <a:gd name="connsiteY6" fmla="*/ 0 h 10000"/>
                  <a:gd name="connsiteX0" fmla="*/ 4530 w 10016"/>
                  <a:gd name="connsiteY0" fmla="*/ 0 h 10047"/>
                  <a:gd name="connsiteX1" fmla="*/ 10016 w 10016"/>
                  <a:gd name="connsiteY1" fmla="*/ 23 h 10047"/>
                  <a:gd name="connsiteX2" fmla="*/ 7325 w 10016"/>
                  <a:gd name="connsiteY2" fmla="*/ 4988 h 10047"/>
                  <a:gd name="connsiteX3" fmla="*/ 10016 w 10016"/>
                  <a:gd name="connsiteY3" fmla="*/ 9953 h 10047"/>
                  <a:gd name="connsiteX4" fmla="*/ 6439 w 10016"/>
                  <a:gd name="connsiteY4" fmla="*/ 10047 h 10047"/>
                  <a:gd name="connsiteX5" fmla="*/ 18 w 10016"/>
                  <a:gd name="connsiteY5" fmla="*/ 4988 h 10047"/>
                  <a:gd name="connsiteX6" fmla="*/ 4530 w 10016"/>
                  <a:gd name="connsiteY6" fmla="*/ 0 h 10047"/>
                  <a:gd name="connsiteX0" fmla="*/ 5602 w 10001"/>
                  <a:gd name="connsiteY0" fmla="*/ 0 h 10024"/>
                  <a:gd name="connsiteX1" fmla="*/ 10001 w 10001"/>
                  <a:gd name="connsiteY1" fmla="*/ 0 h 10024"/>
                  <a:gd name="connsiteX2" fmla="*/ 7310 w 10001"/>
                  <a:gd name="connsiteY2" fmla="*/ 4965 h 10024"/>
                  <a:gd name="connsiteX3" fmla="*/ 10001 w 10001"/>
                  <a:gd name="connsiteY3" fmla="*/ 9930 h 10024"/>
                  <a:gd name="connsiteX4" fmla="*/ 6424 w 10001"/>
                  <a:gd name="connsiteY4" fmla="*/ 10024 h 10024"/>
                  <a:gd name="connsiteX5" fmla="*/ 3 w 10001"/>
                  <a:gd name="connsiteY5" fmla="*/ 4965 h 10024"/>
                  <a:gd name="connsiteX6" fmla="*/ 5602 w 10001"/>
                  <a:gd name="connsiteY6" fmla="*/ 0 h 10024"/>
                  <a:gd name="connsiteX0" fmla="*/ 6158 w 9999"/>
                  <a:gd name="connsiteY0" fmla="*/ 0 h 10024"/>
                  <a:gd name="connsiteX1" fmla="*/ 9999 w 9999"/>
                  <a:gd name="connsiteY1" fmla="*/ 0 h 10024"/>
                  <a:gd name="connsiteX2" fmla="*/ 7308 w 9999"/>
                  <a:gd name="connsiteY2" fmla="*/ 4965 h 10024"/>
                  <a:gd name="connsiteX3" fmla="*/ 9999 w 9999"/>
                  <a:gd name="connsiteY3" fmla="*/ 9930 h 10024"/>
                  <a:gd name="connsiteX4" fmla="*/ 6422 w 9999"/>
                  <a:gd name="connsiteY4" fmla="*/ 10024 h 10024"/>
                  <a:gd name="connsiteX5" fmla="*/ 1 w 9999"/>
                  <a:gd name="connsiteY5" fmla="*/ 4965 h 10024"/>
                  <a:gd name="connsiteX6" fmla="*/ 6158 w 9999"/>
                  <a:gd name="connsiteY6" fmla="*/ 0 h 10024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5924 w 9765"/>
                  <a:gd name="connsiteY0" fmla="*/ 0 h 10000"/>
                  <a:gd name="connsiteX1" fmla="*/ 9765 w 9765"/>
                  <a:gd name="connsiteY1" fmla="*/ 0 h 10000"/>
                  <a:gd name="connsiteX2" fmla="*/ 7074 w 9765"/>
                  <a:gd name="connsiteY2" fmla="*/ 4953 h 10000"/>
                  <a:gd name="connsiteX3" fmla="*/ 9765 w 9765"/>
                  <a:gd name="connsiteY3" fmla="*/ 9906 h 10000"/>
                  <a:gd name="connsiteX4" fmla="*/ 6188 w 9765"/>
                  <a:gd name="connsiteY4" fmla="*/ 10000 h 10000"/>
                  <a:gd name="connsiteX5" fmla="*/ 1 w 9765"/>
                  <a:gd name="connsiteY5" fmla="*/ 4953 h 10000"/>
                  <a:gd name="connsiteX6" fmla="*/ 5924 w 9765"/>
                  <a:gd name="connsiteY6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765" h="10000">
                    <a:moveTo>
                      <a:pt x="5924" y="0"/>
                    </a:moveTo>
                    <a:lnTo>
                      <a:pt x="9765" y="0"/>
                    </a:lnTo>
                    <a:cubicBezTo>
                      <a:pt x="8827" y="232"/>
                      <a:pt x="7074" y="2218"/>
                      <a:pt x="7074" y="4953"/>
                    </a:cubicBezTo>
                    <a:cubicBezTo>
                      <a:pt x="7074" y="7689"/>
                      <a:pt x="8769" y="9558"/>
                      <a:pt x="9765" y="9906"/>
                    </a:cubicBezTo>
                    <a:lnTo>
                      <a:pt x="6188" y="10000"/>
                    </a:lnTo>
                    <a:cubicBezTo>
                      <a:pt x="2576" y="10046"/>
                      <a:pt x="45" y="6620"/>
                      <a:pt x="1" y="4953"/>
                    </a:cubicBezTo>
                    <a:cubicBezTo>
                      <a:pt x="-43" y="3286"/>
                      <a:pt x="1755" y="0"/>
                      <a:pt x="5924" y="0"/>
                    </a:cubicBezTo>
                    <a:close/>
                  </a:path>
                </a:pathLst>
              </a:custGeom>
              <a:solidFill>
                <a:srgbClr val="B4BABD">
                  <a:lumMod val="40000"/>
                  <a:lumOff val="60000"/>
                </a:srgbClr>
              </a:solidFill>
              <a:ln w="19050" cap="flat" cmpd="sng" algn="ctr">
                <a:solidFill>
                  <a:srgbClr val="B4BABD">
                    <a:lumMod val="75000"/>
                  </a:srgbClr>
                </a:solidFill>
                <a:prstDash val="solid"/>
                <a:headEnd type="none" w="sm" len="sm"/>
                <a:tailEnd type="none" w="sm" len="sm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685800" eaLnBrk="0" hangingPunct="0">
                  <a:defRPr/>
                </a:pPr>
                <a:endParaRPr lang="en-US" sz="1200" b="1" kern="0">
                  <a:solidFill>
                    <a:srgbClr val="061922"/>
                  </a:solidFill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151" name="Arc 21"/>
              <p:cNvSpPr/>
              <p:nvPr/>
            </p:nvSpPr>
            <p:spPr bwMode="auto">
              <a:xfrm>
                <a:off x="2373673" y="1864838"/>
                <a:ext cx="157364" cy="501036"/>
              </a:xfrm>
              <a:custGeom>
                <a:avLst/>
                <a:gdLst>
                  <a:gd name="connsiteX0" fmla="*/ 282852 w 519245"/>
                  <a:gd name="connsiteY0" fmla="*/ 1536 h 766030"/>
                  <a:gd name="connsiteX1" fmla="*/ 519244 w 519245"/>
                  <a:gd name="connsiteY1" fmla="*/ 384163 h 766030"/>
                  <a:gd name="connsiteX2" fmla="*/ 279488 w 519245"/>
                  <a:gd name="connsiteY2" fmla="*/ 764907 h 766030"/>
                  <a:gd name="connsiteX3" fmla="*/ 259623 w 519245"/>
                  <a:gd name="connsiteY3" fmla="*/ 383015 h 766030"/>
                  <a:gd name="connsiteX4" fmla="*/ 282852 w 519245"/>
                  <a:gd name="connsiteY4" fmla="*/ 1536 h 766030"/>
                  <a:gd name="connsiteX0" fmla="*/ 282852 w 519245"/>
                  <a:gd name="connsiteY0" fmla="*/ 1536 h 766030"/>
                  <a:gd name="connsiteX1" fmla="*/ 519244 w 519245"/>
                  <a:gd name="connsiteY1" fmla="*/ 384163 h 766030"/>
                  <a:gd name="connsiteX2" fmla="*/ 279488 w 519245"/>
                  <a:gd name="connsiteY2" fmla="*/ 764907 h 766030"/>
                  <a:gd name="connsiteX0" fmla="*/ 23229 w 259622"/>
                  <a:gd name="connsiteY0" fmla="*/ 0 h 763371"/>
                  <a:gd name="connsiteX1" fmla="*/ 259621 w 259622"/>
                  <a:gd name="connsiteY1" fmla="*/ 382627 h 763371"/>
                  <a:gd name="connsiteX2" fmla="*/ 19865 w 259622"/>
                  <a:gd name="connsiteY2" fmla="*/ 763371 h 763371"/>
                  <a:gd name="connsiteX3" fmla="*/ 0 w 259622"/>
                  <a:gd name="connsiteY3" fmla="*/ 381479 h 763371"/>
                  <a:gd name="connsiteX4" fmla="*/ 4211 w 259622"/>
                  <a:gd name="connsiteY4" fmla="*/ 284214 h 763371"/>
                  <a:gd name="connsiteX5" fmla="*/ 23229 w 259622"/>
                  <a:gd name="connsiteY5" fmla="*/ 0 h 763371"/>
                  <a:gd name="connsiteX0" fmla="*/ 23229 w 259622"/>
                  <a:gd name="connsiteY0" fmla="*/ 0 h 763371"/>
                  <a:gd name="connsiteX1" fmla="*/ 259621 w 259622"/>
                  <a:gd name="connsiteY1" fmla="*/ 382627 h 763371"/>
                  <a:gd name="connsiteX2" fmla="*/ 19865 w 259622"/>
                  <a:gd name="connsiteY2" fmla="*/ 763371 h 763371"/>
                  <a:gd name="connsiteX0" fmla="*/ 23229 w 259622"/>
                  <a:gd name="connsiteY0" fmla="*/ 0 h 763371"/>
                  <a:gd name="connsiteX1" fmla="*/ 259621 w 259622"/>
                  <a:gd name="connsiteY1" fmla="*/ 382627 h 763371"/>
                  <a:gd name="connsiteX2" fmla="*/ 19865 w 259622"/>
                  <a:gd name="connsiteY2" fmla="*/ 763371 h 763371"/>
                  <a:gd name="connsiteX3" fmla="*/ 0 w 259622"/>
                  <a:gd name="connsiteY3" fmla="*/ 381479 h 763371"/>
                  <a:gd name="connsiteX4" fmla="*/ 211856 w 259622"/>
                  <a:gd name="connsiteY4" fmla="*/ 175629 h 763371"/>
                  <a:gd name="connsiteX5" fmla="*/ 23229 w 259622"/>
                  <a:gd name="connsiteY5" fmla="*/ 0 h 763371"/>
                  <a:gd name="connsiteX0" fmla="*/ 23229 w 259622"/>
                  <a:gd name="connsiteY0" fmla="*/ 0 h 763371"/>
                  <a:gd name="connsiteX1" fmla="*/ 259621 w 259622"/>
                  <a:gd name="connsiteY1" fmla="*/ 382627 h 763371"/>
                  <a:gd name="connsiteX2" fmla="*/ 19865 w 259622"/>
                  <a:gd name="connsiteY2" fmla="*/ 763371 h 763371"/>
                  <a:gd name="connsiteX0" fmla="*/ 3364 w 239757"/>
                  <a:gd name="connsiteY0" fmla="*/ 0 h 763371"/>
                  <a:gd name="connsiteX1" fmla="*/ 239756 w 239757"/>
                  <a:gd name="connsiteY1" fmla="*/ 382627 h 763371"/>
                  <a:gd name="connsiteX2" fmla="*/ 0 w 239757"/>
                  <a:gd name="connsiteY2" fmla="*/ 763371 h 763371"/>
                  <a:gd name="connsiteX3" fmla="*/ 185875 w 239757"/>
                  <a:gd name="connsiteY3" fmla="*/ 627224 h 763371"/>
                  <a:gd name="connsiteX4" fmla="*/ 191991 w 239757"/>
                  <a:gd name="connsiteY4" fmla="*/ 175629 h 763371"/>
                  <a:gd name="connsiteX5" fmla="*/ 3364 w 239757"/>
                  <a:gd name="connsiteY5" fmla="*/ 0 h 763371"/>
                  <a:gd name="connsiteX0" fmla="*/ 3364 w 239757"/>
                  <a:gd name="connsiteY0" fmla="*/ 0 h 763371"/>
                  <a:gd name="connsiteX1" fmla="*/ 239756 w 239757"/>
                  <a:gd name="connsiteY1" fmla="*/ 382627 h 763371"/>
                  <a:gd name="connsiteX2" fmla="*/ 0 w 239757"/>
                  <a:gd name="connsiteY2" fmla="*/ 763371 h 763371"/>
                  <a:gd name="connsiteX0" fmla="*/ 3364 w 239757"/>
                  <a:gd name="connsiteY0" fmla="*/ 0 h 763371"/>
                  <a:gd name="connsiteX1" fmla="*/ 239756 w 239757"/>
                  <a:gd name="connsiteY1" fmla="*/ 382627 h 763371"/>
                  <a:gd name="connsiteX2" fmla="*/ 0 w 239757"/>
                  <a:gd name="connsiteY2" fmla="*/ 763371 h 763371"/>
                  <a:gd name="connsiteX3" fmla="*/ 185875 w 239757"/>
                  <a:gd name="connsiteY3" fmla="*/ 627224 h 763371"/>
                  <a:gd name="connsiteX4" fmla="*/ 199611 w 239757"/>
                  <a:gd name="connsiteY4" fmla="*/ 175629 h 763371"/>
                  <a:gd name="connsiteX5" fmla="*/ 3364 w 239757"/>
                  <a:gd name="connsiteY5" fmla="*/ 0 h 763371"/>
                  <a:gd name="connsiteX0" fmla="*/ 3364 w 239757"/>
                  <a:gd name="connsiteY0" fmla="*/ 0 h 763371"/>
                  <a:gd name="connsiteX1" fmla="*/ 239756 w 239757"/>
                  <a:gd name="connsiteY1" fmla="*/ 382627 h 763371"/>
                  <a:gd name="connsiteX2" fmla="*/ 0 w 239757"/>
                  <a:gd name="connsiteY2" fmla="*/ 763371 h 763371"/>
                  <a:gd name="connsiteX0" fmla="*/ 3364 w 239757"/>
                  <a:gd name="connsiteY0" fmla="*/ 0 h 763371"/>
                  <a:gd name="connsiteX1" fmla="*/ 239756 w 239757"/>
                  <a:gd name="connsiteY1" fmla="*/ 382627 h 763371"/>
                  <a:gd name="connsiteX2" fmla="*/ 0 w 239757"/>
                  <a:gd name="connsiteY2" fmla="*/ 763371 h 763371"/>
                  <a:gd name="connsiteX3" fmla="*/ 185875 w 239757"/>
                  <a:gd name="connsiteY3" fmla="*/ 627224 h 763371"/>
                  <a:gd name="connsiteX4" fmla="*/ 119601 w 239757"/>
                  <a:gd name="connsiteY4" fmla="*/ 181344 h 763371"/>
                  <a:gd name="connsiteX5" fmla="*/ 3364 w 239757"/>
                  <a:gd name="connsiteY5" fmla="*/ 0 h 763371"/>
                  <a:gd name="connsiteX0" fmla="*/ 3364 w 239757"/>
                  <a:gd name="connsiteY0" fmla="*/ 0 h 763371"/>
                  <a:gd name="connsiteX1" fmla="*/ 239756 w 239757"/>
                  <a:gd name="connsiteY1" fmla="*/ 382627 h 763371"/>
                  <a:gd name="connsiteX2" fmla="*/ 0 w 239757"/>
                  <a:gd name="connsiteY2" fmla="*/ 763371 h 763371"/>
                  <a:gd name="connsiteX0" fmla="*/ 3364 w 239757"/>
                  <a:gd name="connsiteY0" fmla="*/ 0 h 763371"/>
                  <a:gd name="connsiteX1" fmla="*/ 239756 w 239757"/>
                  <a:gd name="connsiteY1" fmla="*/ 382627 h 763371"/>
                  <a:gd name="connsiteX2" fmla="*/ 0 w 239757"/>
                  <a:gd name="connsiteY2" fmla="*/ 763371 h 763371"/>
                  <a:gd name="connsiteX3" fmla="*/ 185875 w 239757"/>
                  <a:gd name="connsiteY3" fmla="*/ 627224 h 763371"/>
                  <a:gd name="connsiteX4" fmla="*/ 193896 w 239757"/>
                  <a:gd name="connsiteY4" fmla="*/ 169914 h 763371"/>
                  <a:gd name="connsiteX5" fmla="*/ 3364 w 239757"/>
                  <a:gd name="connsiteY5" fmla="*/ 0 h 763371"/>
                  <a:gd name="connsiteX0" fmla="*/ 3364 w 239757"/>
                  <a:gd name="connsiteY0" fmla="*/ 0 h 763371"/>
                  <a:gd name="connsiteX1" fmla="*/ 239756 w 239757"/>
                  <a:gd name="connsiteY1" fmla="*/ 382627 h 763371"/>
                  <a:gd name="connsiteX2" fmla="*/ 0 w 239757"/>
                  <a:gd name="connsiteY2" fmla="*/ 763371 h 7633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9757" h="763371" stroke="0" extrusionOk="0">
                    <a:moveTo>
                      <a:pt x="3364" y="0"/>
                    </a:moveTo>
                    <a:cubicBezTo>
                      <a:pt x="137506" y="17778"/>
                      <a:pt x="240160" y="183934"/>
                      <a:pt x="239756" y="382627"/>
                    </a:cubicBezTo>
                    <a:cubicBezTo>
                      <a:pt x="239350" y="582350"/>
                      <a:pt x="134984" y="748088"/>
                      <a:pt x="0" y="763371"/>
                    </a:cubicBezTo>
                    <a:lnTo>
                      <a:pt x="185875" y="627224"/>
                    </a:lnTo>
                    <a:cubicBezTo>
                      <a:pt x="187914" y="476692"/>
                      <a:pt x="191857" y="320446"/>
                      <a:pt x="193896" y="169914"/>
                    </a:cubicBezTo>
                    <a:lnTo>
                      <a:pt x="3364" y="0"/>
                    </a:lnTo>
                    <a:close/>
                  </a:path>
                  <a:path w="239757" h="763371" fill="none">
                    <a:moveTo>
                      <a:pt x="3364" y="0"/>
                    </a:moveTo>
                    <a:cubicBezTo>
                      <a:pt x="137506" y="17778"/>
                      <a:pt x="240160" y="183934"/>
                      <a:pt x="239756" y="382627"/>
                    </a:cubicBezTo>
                    <a:cubicBezTo>
                      <a:pt x="239350" y="582350"/>
                      <a:pt x="134984" y="748088"/>
                      <a:pt x="0" y="763371"/>
                    </a:cubicBezTo>
                  </a:path>
                </a:pathLst>
              </a:custGeom>
              <a:noFill/>
              <a:ln w="19050" cap="flat" cmpd="sng" algn="ctr">
                <a:solidFill>
                  <a:srgbClr val="B4BABD">
                    <a:lumMod val="75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defTabSz="685800" eaLnBrk="0" hangingPunct="0">
                  <a:defRPr/>
                </a:pPr>
                <a:endParaRPr lang="en-US" sz="1200" b="1" kern="0">
                  <a:solidFill>
                    <a:srgbClr val="061922"/>
                  </a:solidFill>
                  <a:latin typeface="+mn-lt"/>
                  <a:cs typeface="Arial" pitchFamily="34" charset="0"/>
                </a:endParaRPr>
              </a:p>
            </p:txBody>
          </p:sp>
          <p:cxnSp>
            <p:nvCxnSpPr>
              <p:cNvPr id="152" name="Straight Connector 151"/>
              <p:cNvCxnSpPr/>
              <p:nvPr/>
            </p:nvCxnSpPr>
            <p:spPr bwMode="auto">
              <a:xfrm>
                <a:off x="2902583" y="2112178"/>
                <a:ext cx="222620" cy="2531"/>
              </a:xfrm>
              <a:prstGeom prst="line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939598">
                    <a:lumMod val="5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155" name="Straight Connector 154"/>
            <p:cNvCxnSpPr/>
            <p:nvPr/>
          </p:nvCxnSpPr>
          <p:spPr>
            <a:xfrm>
              <a:off x="1886734" y="4045620"/>
              <a:ext cx="0" cy="947488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>
              <a:stCxn id="146" idx="2"/>
            </p:cNvCxnSpPr>
            <p:nvPr/>
          </p:nvCxnSpPr>
          <p:spPr>
            <a:xfrm>
              <a:off x="3058648" y="4009066"/>
              <a:ext cx="0" cy="80098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/>
            <p:cNvCxnSpPr/>
            <p:nvPr/>
          </p:nvCxnSpPr>
          <p:spPr>
            <a:xfrm flipH="1">
              <a:off x="2038525" y="4816338"/>
              <a:ext cx="1020122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/>
            <p:cNvCxnSpPr/>
            <p:nvPr/>
          </p:nvCxnSpPr>
          <p:spPr>
            <a:xfrm>
              <a:off x="2032233" y="4810046"/>
              <a:ext cx="0" cy="183062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Oval 162"/>
            <p:cNvSpPr/>
            <p:nvPr/>
          </p:nvSpPr>
          <p:spPr>
            <a:xfrm>
              <a:off x="3023640" y="4004633"/>
              <a:ext cx="68580" cy="68580"/>
            </a:xfrm>
            <a:prstGeom prst="ellipse">
              <a:avLst/>
            </a:prstGeom>
            <a:solidFill>
              <a:schemeClr val="tx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1757122" y="5470041"/>
              <a:ext cx="3129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>
                  <a:latin typeface="+mn-lt"/>
                </a:rPr>
                <a:t>of</a:t>
              </a:r>
              <a:endParaRPr lang="ru-RU" sz="1200" dirty="0">
                <a:latin typeface="+mn-lt"/>
              </a:endParaRPr>
            </a:p>
          </p:txBody>
        </p:sp>
        <p:grpSp>
          <p:nvGrpSpPr>
            <p:cNvPr id="41" name="Group 40"/>
            <p:cNvGrpSpPr/>
            <p:nvPr/>
          </p:nvGrpSpPr>
          <p:grpSpPr>
            <a:xfrm>
              <a:off x="6089637" y="2266170"/>
              <a:ext cx="762521" cy="1725298"/>
              <a:chOff x="6089637" y="2028045"/>
              <a:chExt cx="762521" cy="1725298"/>
            </a:xfrm>
          </p:grpSpPr>
          <p:cxnSp>
            <p:nvCxnSpPr>
              <p:cNvPr id="91" name="Straight Connector 90"/>
              <p:cNvCxnSpPr/>
              <p:nvPr/>
            </p:nvCxnSpPr>
            <p:spPr>
              <a:xfrm flipV="1">
                <a:off x="6369332" y="2845440"/>
                <a:ext cx="0" cy="694830"/>
              </a:xfrm>
              <a:prstGeom prst="line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939598">
                    <a:lumMod val="5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04" name="Rectangle 103"/>
              <p:cNvSpPr/>
              <p:nvPr/>
            </p:nvSpPr>
            <p:spPr>
              <a:xfrm flipH="1">
                <a:off x="6089637" y="2095689"/>
                <a:ext cx="304891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defTabSz="685800">
                  <a:defRPr/>
                </a:pPr>
                <a:r>
                  <a:rPr lang="en-US" sz="1200" kern="0" dirty="0">
                    <a:solidFill>
                      <a:srgbClr val="061922"/>
                    </a:solidFill>
                    <a:latin typeface="+mn-lt"/>
                  </a:rPr>
                  <a:t>y</a:t>
                </a:r>
                <a:r>
                  <a:rPr lang="en-US" sz="1200" kern="0" baseline="-25000" dirty="0">
                    <a:solidFill>
                      <a:srgbClr val="061922"/>
                    </a:solidFill>
                    <a:latin typeface="+mn-lt"/>
                  </a:rPr>
                  <a:t>0</a:t>
                </a:r>
              </a:p>
            </p:txBody>
          </p:sp>
          <p:cxnSp>
            <p:nvCxnSpPr>
              <p:cNvPr id="128" name="Straight Connector 127"/>
              <p:cNvCxnSpPr>
                <a:endCxn id="143" idx="0"/>
              </p:cNvCxnSpPr>
              <p:nvPr/>
            </p:nvCxnSpPr>
            <p:spPr>
              <a:xfrm>
                <a:off x="6849685" y="2028045"/>
                <a:ext cx="2473" cy="1725298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" name="Group 15"/>
              <p:cNvGrpSpPr/>
              <p:nvPr/>
            </p:nvGrpSpPr>
            <p:grpSpPr>
              <a:xfrm>
                <a:off x="6160835" y="2458261"/>
                <a:ext cx="403877" cy="393792"/>
                <a:chOff x="7455820" y="2242929"/>
                <a:chExt cx="403877" cy="393792"/>
              </a:xfrm>
            </p:grpSpPr>
            <p:sp>
              <p:nvSpPr>
                <p:cNvPr id="118" name="Flowchart: Delay 18"/>
                <p:cNvSpPr/>
                <p:nvPr/>
              </p:nvSpPr>
              <p:spPr bwMode="auto">
                <a:xfrm rot="5400000" flipH="1">
                  <a:off x="7501958" y="2278982"/>
                  <a:ext cx="311601" cy="403877"/>
                </a:xfrm>
                <a:custGeom>
                  <a:avLst/>
                  <a:gdLst>
                    <a:gd name="connsiteX0" fmla="*/ 1667 w 10000"/>
                    <a:gd name="connsiteY0" fmla="*/ 0 h 10000"/>
                    <a:gd name="connsiteX1" fmla="*/ 10000 w 10000"/>
                    <a:gd name="connsiteY1" fmla="*/ 0 h 10000"/>
                    <a:gd name="connsiteX2" fmla="*/ 8333 w 10000"/>
                    <a:gd name="connsiteY2" fmla="*/ 5000 h 10000"/>
                    <a:gd name="connsiteX3" fmla="*/ 10000 w 10000"/>
                    <a:gd name="connsiteY3" fmla="*/ 10000 h 10000"/>
                    <a:gd name="connsiteX4" fmla="*/ 1667 w 10000"/>
                    <a:gd name="connsiteY4" fmla="*/ 10000 h 10000"/>
                    <a:gd name="connsiteX5" fmla="*/ 0 w 10000"/>
                    <a:gd name="connsiteY5" fmla="*/ 5000 h 10000"/>
                    <a:gd name="connsiteX6" fmla="*/ 1667 w 10000"/>
                    <a:gd name="connsiteY6" fmla="*/ 0 h 10000"/>
                    <a:gd name="connsiteX0" fmla="*/ 3276 w 10041"/>
                    <a:gd name="connsiteY0" fmla="*/ 0 h 10023"/>
                    <a:gd name="connsiteX1" fmla="*/ 10041 w 10041"/>
                    <a:gd name="connsiteY1" fmla="*/ 23 h 10023"/>
                    <a:gd name="connsiteX2" fmla="*/ 8374 w 10041"/>
                    <a:gd name="connsiteY2" fmla="*/ 5023 h 10023"/>
                    <a:gd name="connsiteX3" fmla="*/ 10041 w 10041"/>
                    <a:gd name="connsiteY3" fmla="*/ 10023 h 10023"/>
                    <a:gd name="connsiteX4" fmla="*/ 1708 w 10041"/>
                    <a:gd name="connsiteY4" fmla="*/ 10023 h 10023"/>
                    <a:gd name="connsiteX5" fmla="*/ 41 w 10041"/>
                    <a:gd name="connsiteY5" fmla="*/ 5023 h 10023"/>
                    <a:gd name="connsiteX6" fmla="*/ 3276 w 10041"/>
                    <a:gd name="connsiteY6" fmla="*/ 0 h 10023"/>
                    <a:gd name="connsiteX0" fmla="*/ 3237 w 10002"/>
                    <a:gd name="connsiteY0" fmla="*/ 0 h 10070"/>
                    <a:gd name="connsiteX1" fmla="*/ 10002 w 10002"/>
                    <a:gd name="connsiteY1" fmla="*/ 23 h 10070"/>
                    <a:gd name="connsiteX2" fmla="*/ 8335 w 10002"/>
                    <a:gd name="connsiteY2" fmla="*/ 5023 h 10070"/>
                    <a:gd name="connsiteX3" fmla="*/ 10002 w 10002"/>
                    <a:gd name="connsiteY3" fmla="*/ 10023 h 10070"/>
                    <a:gd name="connsiteX4" fmla="*/ 3656 w 10002"/>
                    <a:gd name="connsiteY4" fmla="*/ 10070 h 10070"/>
                    <a:gd name="connsiteX5" fmla="*/ 2 w 10002"/>
                    <a:gd name="connsiteY5" fmla="*/ 5023 h 10070"/>
                    <a:gd name="connsiteX6" fmla="*/ 3237 w 10002"/>
                    <a:gd name="connsiteY6" fmla="*/ 0 h 10070"/>
                    <a:gd name="connsiteX0" fmla="*/ 3237 w 10002"/>
                    <a:gd name="connsiteY0" fmla="*/ 0 h 10070"/>
                    <a:gd name="connsiteX1" fmla="*/ 10002 w 10002"/>
                    <a:gd name="connsiteY1" fmla="*/ 23 h 10070"/>
                    <a:gd name="connsiteX2" fmla="*/ 7439 w 10002"/>
                    <a:gd name="connsiteY2" fmla="*/ 5023 h 10070"/>
                    <a:gd name="connsiteX3" fmla="*/ 10002 w 10002"/>
                    <a:gd name="connsiteY3" fmla="*/ 10023 h 10070"/>
                    <a:gd name="connsiteX4" fmla="*/ 3656 w 10002"/>
                    <a:gd name="connsiteY4" fmla="*/ 10070 h 10070"/>
                    <a:gd name="connsiteX5" fmla="*/ 2 w 10002"/>
                    <a:gd name="connsiteY5" fmla="*/ 5023 h 10070"/>
                    <a:gd name="connsiteX6" fmla="*/ 3237 w 10002"/>
                    <a:gd name="connsiteY6" fmla="*/ 0 h 10070"/>
                    <a:gd name="connsiteX0" fmla="*/ 2761 w 9526"/>
                    <a:gd name="connsiteY0" fmla="*/ 0 h 10070"/>
                    <a:gd name="connsiteX1" fmla="*/ 9526 w 9526"/>
                    <a:gd name="connsiteY1" fmla="*/ 23 h 10070"/>
                    <a:gd name="connsiteX2" fmla="*/ 6963 w 9526"/>
                    <a:gd name="connsiteY2" fmla="*/ 5023 h 10070"/>
                    <a:gd name="connsiteX3" fmla="*/ 9526 w 9526"/>
                    <a:gd name="connsiteY3" fmla="*/ 10023 h 10070"/>
                    <a:gd name="connsiteX4" fmla="*/ 3180 w 9526"/>
                    <a:gd name="connsiteY4" fmla="*/ 10070 h 10070"/>
                    <a:gd name="connsiteX5" fmla="*/ 2 w 9526"/>
                    <a:gd name="connsiteY5" fmla="*/ 5023 h 10070"/>
                    <a:gd name="connsiteX6" fmla="*/ 2761 w 9526"/>
                    <a:gd name="connsiteY6" fmla="*/ 0 h 10070"/>
                    <a:gd name="connsiteX0" fmla="*/ 2898 w 10000"/>
                    <a:gd name="connsiteY0" fmla="*/ 0 h 10000"/>
                    <a:gd name="connsiteX1" fmla="*/ 10000 w 10000"/>
                    <a:gd name="connsiteY1" fmla="*/ 23 h 10000"/>
                    <a:gd name="connsiteX2" fmla="*/ 7309 w 10000"/>
                    <a:gd name="connsiteY2" fmla="*/ 4988 h 10000"/>
                    <a:gd name="connsiteX3" fmla="*/ 10000 w 10000"/>
                    <a:gd name="connsiteY3" fmla="*/ 9953 h 10000"/>
                    <a:gd name="connsiteX4" fmla="*/ 3338 w 10000"/>
                    <a:gd name="connsiteY4" fmla="*/ 10000 h 10000"/>
                    <a:gd name="connsiteX5" fmla="*/ 2 w 10000"/>
                    <a:gd name="connsiteY5" fmla="*/ 4988 h 10000"/>
                    <a:gd name="connsiteX6" fmla="*/ 2898 w 10000"/>
                    <a:gd name="connsiteY6" fmla="*/ 0 h 10000"/>
                    <a:gd name="connsiteX0" fmla="*/ 4522 w 10008"/>
                    <a:gd name="connsiteY0" fmla="*/ 0 h 10000"/>
                    <a:gd name="connsiteX1" fmla="*/ 10008 w 10008"/>
                    <a:gd name="connsiteY1" fmla="*/ 23 h 10000"/>
                    <a:gd name="connsiteX2" fmla="*/ 7317 w 10008"/>
                    <a:gd name="connsiteY2" fmla="*/ 4988 h 10000"/>
                    <a:gd name="connsiteX3" fmla="*/ 10008 w 10008"/>
                    <a:gd name="connsiteY3" fmla="*/ 9953 h 10000"/>
                    <a:gd name="connsiteX4" fmla="*/ 3346 w 10008"/>
                    <a:gd name="connsiteY4" fmla="*/ 10000 h 10000"/>
                    <a:gd name="connsiteX5" fmla="*/ 10 w 10008"/>
                    <a:gd name="connsiteY5" fmla="*/ 4988 h 10000"/>
                    <a:gd name="connsiteX6" fmla="*/ 4522 w 10008"/>
                    <a:gd name="connsiteY6" fmla="*/ 0 h 10000"/>
                    <a:gd name="connsiteX0" fmla="*/ 4518 w 10004"/>
                    <a:gd name="connsiteY0" fmla="*/ 0 h 10000"/>
                    <a:gd name="connsiteX1" fmla="*/ 10004 w 10004"/>
                    <a:gd name="connsiteY1" fmla="*/ 23 h 10000"/>
                    <a:gd name="connsiteX2" fmla="*/ 7313 w 10004"/>
                    <a:gd name="connsiteY2" fmla="*/ 4988 h 10000"/>
                    <a:gd name="connsiteX3" fmla="*/ 10004 w 10004"/>
                    <a:gd name="connsiteY3" fmla="*/ 9953 h 10000"/>
                    <a:gd name="connsiteX4" fmla="*/ 5516 w 10004"/>
                    <a:gd name="connsiteY4" fmla="*/ 10000 h 10000"/>
                    <a:gd name="connsiteX5" fmla="*/ 6 w 10004"/>
                    <a:gd name="connsiteY5" fmla="*/ 4988 h 10000"/>
                    <a:gd name="connsiteX6" fmla="*/ 4518 w 10004"/>
                    <a:gd name="connsiteY6" fmla="*/ 0 h 10000"/>
                    <a:gd name="connsiteX0" fmla="*/ 4530 w 10016"/>
                    <a:gd name="connsiteY0" fmla="*/ 0 h 10047"/>
                    <a:gd name="connsiteX1" fmla="*/ 10016 w 10016"/>
                    <a:gd name="connsiteY1" fmla="*/ 23 h 10047"/>
                    <a:gd name="connsiteX2" fmla="*/ 7325 w 10016"/>
                    <a:gd name="connsiteY2" fmla="*/ 4988 h 10047"/>
                    <a:gd name="connsiteX3" fmla="*/ 10016 w 10016"/>
                    <a:gd name="connsiteY3" fmla="*/ 9953 h 10047"/>
                    <a:gd name="connsiteX4" fmla="*/ 6439 w 10016"/>
                    <a:gd name="connsiteY4" fmla="*/ 10047 h 10047"/>
                    <a:gd name="connsiteX5" fmla="*/ 18 w 10016"/>
                    <a:gd name="connsiteY5" fmla="*/ 4988 h 10047"/>
                    <a:gd name="connsiteX6" fmla="*/ 4530 w 10016"/>
                    <a:gd name="connsiteY6" fmla="*/ 0 h 10047"/>
                    <a:gd name="connsiteX0" fmla="*/ 5602 w 10001"/>
                    <a:gd name="connsiteY0" fmla="*/ 0 h 10024"/>
                    <a:gd name="connsiteX1" fmla="*/ 10001 w 10001"/>
                    <a:gd name="connsiteY1" fmla="*/ 0 h 10024"/>
                    <a:gd name="connsiteX2" fmla="*/ 7310 w 10001"/>
                    <a:gd name="connsiteY2" fmla="*/ 4965 h 10024"/>
                    <a:gd name="connsiteX3" fmla="*/ 10001 w 10001"/>
                    <a:gd name="connsiteY3" fmla="*/ 9930 h 10024"/>
                    <a:gd name="connsiteX4" fmla="*/ 6424 w 10001"/>
                    <a:gd name="connsiteY4" fmla="*/ 10024 h 10024"/>
                    <a:gd name="connsiteX5" fmla="*/ 3 w 10001"/>
                    <a:gd name="connsiteY5" fmla="*/ 4965 h 10024"/>
                    <a:gd name="connsiteX6" fmla="*/ 5602 w 10001"/>
                    <a:gd name="connsiteY6" fmla="*/ 0 h 10024"/>
                    <a:gd name="connsiteX0" fmla="*/ 6158 w 9999"/>
                    <a:gd name="connsiteY0" fmla="*/ 0 h 10024"/>
                    <a:gd name="connsiteX1" fmla="*/ 9999 w 9999"/>
                    <a:gd name="connsiteY1" fmla="*/ 0 h 10024"/>
                    <a:gd name="connsiteX2" fmla="*/ 7308 w 9999"/>
                    <a:gd name="connsiteY2" fmla="*/ 4965 h 10024"/>
                    <a:gd name="connsiteX3" fmla="*/ 9999 w 9999"/>
                    <a:gd name="connsiteY3" fmla="*/ 9930 h 10024"/>
                    <a:gd name="connsiteX4" fmla="*/ 6422 w 9999"/>
                    <a:gd name="connsiteY4" fmla="*/ 10024 h 10024"/>
                    <a:gd name="connsiteX5" fmla="*/ 1 w 9999"/>
                    <a:gd name="connsiteY5" fmla="*/ 4965 h 10024"/>
                    <a:gd name="connsiteX6" fmla="*/ 6158 w 9999"/>
                    <a:gd name="connsiteY6" fmla="*/ 0 h 10024"/>
                    <a:gd name="connsiteX0" fmla="*/ 6159 w 10000"/>
                    <a:gd name="connsiteY0" fmla="*/ 0 h 10000"/>
                    <a:gd name="connsiteX1" fmla="*/ 10000 w 10000"/>
                    <a:gd name="connsiteY1" fmla="*/ 0 h 10000"/>
                    <a:gd name="connsiteX2" fmla="*/ 7309 w 10000"/>
                    <a:gd name="connsiteY2" fmla="*/ 4953 h 10000"/>
                    <a:gd name="connsiteX3" fmla="*/ 10000 w 10000"/>
                    <a:gd name="connsiteY3" fmla="*/ 9906 h 10000"/>
                    <a:gd name="connsiteX4" fmla="*/ 6423 w 10000"/>
                    <a:gd name="connsiteY4" fmla="*/ 10000 h 10000"/>
                    <a:gd name="connsiteX5" fmla="*/ 1 w 10000"/>
                    <a:gd name="connsiteY5" fmla="*/ 4953 h 10000"/>
                    <a:gd name="connsiteX6" fmla="*/ 6159 w 10000"/>
                    <a:gd name="connsiteY6" fmla="*/ 0 h 10000"/>
                    <a:gd name="connsiteX0" fmla="*/ 6159 w 10000"/>
                    <a:gd name="connsiteY0" fmla="*/ 0 h 10000"/>
                    <a:gd name="connsiteX1" fmla="*/ 10000 w 10000"/>
                    <a:gd name="connsiteY1" fmla="*/ 0 h 10000"/>
                    <a:gd name="connsiteX2" fmla="*/ 7309 w 10000"/>
                    <a:gd name="connsiteY2" fmla="*/ 4953 h 10000"/>
                    <a:gd name="connsiteX3" fmla="*/ 10000 w 10000"/>
                    <a:gd name="connsiteY3" fmla="*/ 9906 h 10000"/>
                    <a:gd name="connsiteX4" fmla="*/ 6423 w 10000"/>
                    <a:gd name="connsiteY4" fmla="*/ 10000 h 10000"/>
                    <a:gd name="connsiteX5" fmla="*/ 1 w 10000"/>
                    <a:gd name="connsiteY5" fmla="*/ 4953 h 10000"/>
                    <a:gd name="connsiteX6" fmla="*/ 6159 w 10000"/>
                    <a:gd name="connsiteY6" fmla="*/ 0 h 10000"/>
                    <a:gd name="connsiteX0" fmla="*/ 6159 w 10000"/>
                    <a:gd name="connsiteY0" fmla="*/ 0 h 10000"/>
                    <a:gd name="connsiteX1" fmla="*/ 10000 w 10000"/>
                    <a:gd name="connsiteY1" fmla="*/ 0 h 10000"/>
                    <a:gd name="connsiteX2" fmla="*/ 7309 w 10000"/>
                    <a:gd name="connsiteY2" fmla="*/ 4953 h 10000"/>
                    <a:gd name="connsiteX3" fmla="*/ 10000 w 10000"/>
                    <a:gd name="connsiteY3" fmla="*/ 9906 h 10000"/>
                    <a:gd name="connsiteX4" fmla="*/ 6423 w 10000"/>
                    <a:gd name="connsiteY4" fmla="*/ 10000 h 10000"/>
                    <a:gd name="connsiteX5" fmla="*/ 1 w 10000"/>
                    <a:gd name="connsiteY5" fmla="*/ 4953 h 10000"/>
                    <a:gd name="connsiteX6" fmla="*/ 6159 w 10000"/>
                    <a:gd name="connsiteY6" fmla="*/ 0 h 10000"/>
                    <a:gd name="connsiteX0" fmla="*/ 6159 w 10000"/>
                    <a:gd name="connsiteY0" fmla="*/ 0 h 10000"/>
                    <a:gd name="connsiteX1" fmla="*/ 10000 w 10000"/>
                    <a:gd name="connsiteY1" fmla="*/ 0 h 10000"/>
                    <a:gd name="connsiteX2" fmla="*/ 7309 w 10000"/>
                    <a:gd name="connsiteY2" fmla="*/ 4953 h 10000"/>
                    <a:gd name="connsiteX3" fmla="*/ 10000 w 10000"/>
                    <a:gd name="connsiteY3" fmla="*/ 9906 h 10000"/>
                    <a:gd name="connsiteX4" fmla="*/ 6423 w 10000"/>
                    <a:gd name="connsiteY4" fmla="*/ 10000 h 10000"/>
                    <a:gd name="connsiteX5" fmla="*/ 1 w 10000"/>
                    <a:gd name="connsiteY5" fmla="*/ 4953 h 10000"/>
                    <a:gd name="connsiteX6" fmla="*/ 6159 w 10000"/>
                    <a:gd name="connsiteY6" fmla="*/ 0 h 10000"/>
                    <a:gd name="connsiteX0" fmla="*/ 6159 w 10000"/>
                    <a:gd name="connsiteY0" fmla="*/ 0 h 10000"/>
                    <a:gd name="connsiteX1" fmla="*/ 10000 w 10000"/>
                    <a:gd name="connsiteY1" fmla="*/ 0 h 10000"/>
                    <a:gd name="connsiteX2" fmla="*/ 7309 w 10000"/>
                    <a:gd name="connsiteY2" fmla="*/ 4953 h 10000"/>
                    <a:gd name="connsiteX3" fmla="*/ 10000 w 10000"/>
                    <a:gd name="connsiteY3" fmla="*/ 9906 h 10000"/>
                    <a:gd name="connsiteX4" fmla="*/ 6423 w 10000"/>
                    <a:gd name="connsiteY4" fmla="*/ 10000 h 10000"/>
                    <a:gd name="connsiteX5" fmla="*/ 1 w 10000"/>
                    <a:gd name="connsiteY5" fmla="*/ 4953 h 10000"/>
                    <a:gd name="connsiteX6" fmla="*/ 6159 w 10000"/>
                    <a:gd name="connsiteY6" fmla="*/ 0 h 10000"/>
                    <a:gd name="connsiteX0" fmla="*/ 6159 w 10000"/>
                    <a:gd name="connsiteY0" fmla="*/ 0 h 10000"/>
                    <a:gd name="connsiteX1" fmla="*/ 10000 w 10000"/>
                    <a:gd name="connsiteY1" fmla="*/ 0 h 10000"/>
                    <a:gd name="connsiteX2" fmla="*/ 7309 w 10000"/>
                    <a:gd name="connsiteY2" fmla="*/ 4953 h 10000"/>
                    <a:gd name="connsiteX3" fmla="*/ 10000 w 10000"/>
                    <a:gd name="connsiteY3" fmla="*/ 9906 h 10000"/>
                    <a:gd name="connsiteX4" fmla="*/ 6423 w 10000"/>
                    <a:gd name="connsiteY4" fmla="*/ 10000 h 10000"/>
                    <a:gd name="connsiteX5" fmla="*/ 1 w 10000"/>
                    <a:gd name="connsiteY5" fmla="*/ 4953 h 10000"/>
                    <a:gd name="connsiteX6" fmla="*/ 6159 w 10000"/>
                    <a:gd name="connsiteY6" fmla="*/ 0 h 10000"/>
                    <a:gd name="connsiteX0" fmla="*/ 5924 w 9765"/>
                    <a:gd name="connsiteY0" fmla="*/ 0 h 10000"/>
                    <a:gd name="connsiteX1" fmla="*/ 9765 w 9765"/>
                    <a:gd name="connsiteY1" fmla="*/ 0 h 10000"/>
                    <a:gd name="connsiteX2" fmla="*/ 7074 w 9765"/>
                    <a:gd name="connsiteY2" fmla="*/ 4953 h 10000"/>
                    <a:gd name="connsiteX3" fmla="*/ 9765 w 9765"/>
                    <a:gd name="connsiteY3" fmla="*/ 9906 h 10000"/>
                    <a:gd name="connsiteX4" fmla="*/ 6188 w 9765"/>
                    <a:gd name="connsiteY4" fmla="*/ 10000 h 10000"/>
                    <a:gd name="connsiteX5" fmla="*/ 1 w 9765"/>
                    <a:gd name="connsiteY5" fmla="*/ 4953 h 10000"/>
                    <a:gd name="connsiteX6" fmla="*/ 5924 w 9765"/>
                    <a:gd name="connsiteY6" fmla="*/ 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765" h="10000">
                      <a:moveTo>
                        <a:pt x="5924" y="0"/>
                      </a:moveTo>
                      <a:lnTo>
                        <a:pt x="9765" y="0"/>
                      </a:lnTo>
                      <a:cubicBezTo>
                        <a:pt x="8827" y="232"/>
                        <a:pt x="7074" y="2218"/>
                        <a:pt x="7074" y="4953"/>
                      </a:cubicBezTo>
                      <a:cubicBezTo>
                        <a:pt x="7074" y="7689"/>
                        <a:pt x="8769" y="9558"/>
                        <a:pt x="9765" y="9906"/>
                      </a:cubicBezTo>
                      <a:lnTo>
                        <a:pt x="6188" y="10000"/>
                      </a:lnTo>
                      <a:cubicBezTo>
                        <a:pt x="2576" y="10046"/>
                        <a:pt x="45" y="6620"/>
                        <a:pt x="1" y="4953"/>
                      </a:cubicBezTo>
                      <a:cubicBezTo>
                        <a:pt x="-43" y="3286"/>
                        <a:pt x="1755" y="0"/>
                        <a:pt x="5924" y="0"/>
                      </a:cubicBezTo>
                      <a:close/>
                    </a:path>
                  </a:pathLst>
                </a:custGeom>
                <a:solidFill>
                  <a:srgbClr val="B4BABD">
                    <a:lumMod val="40000"/>
                    <a:lumOff val="60000"/>
                  </a:srgbClr>
                </a:solidFill>
                <a:ln w="19050" cap="flat" cmpd="sng" algn="ctr">
                  <a:solidFill>
                    <a:srgbClr val="B4BABD">
                      <a:lumMod val="75000"/>
                    </a:srgbClr>
                  </a:solidFill>
                  <a:prstDash val="solid"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68580" tIns="34290" rIns="68580" bIns="3429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5800" eaLnBrk="0" hangingPunct="0">
                    <a:defRPr/>
                  </a:pPr>
                  <a:endParaRPr lang="en-US" sz="1200" b="1" kern="0">
                    <a:solidFill>
                      <a:srgbClr val="061922"/>
                    </a:solidFill>
                    <a:latin typeface="+mn-lt"/>
                    <a:cs typeface="Arial" pitchFamily="34" charset="0"/>
                  </a:endParaRPr>
                </a:p>
              </p:txBody>
            </p:sp>
            <p:sp>
              <p:nvSpPr>
                <p:cNvPr id="119" name="Arc 21"/>
                <p:cNvSpPr/>
                <p:nvPr/>
              </p:nvSpPr>
              <p:spPr bwMode="auto">
                <a:xfrm rot="5400000">
                  <a:off x="7598262" y="2114052"/>
                  <a:ext cx="118023" cy="375777"/>
                </a:xfrm>
                <a:custGeom>
                  <a:avLst/>
                  <a:gdLst>
                    <a:gd name="connsiteX0" fmla="*/ 282852 w 519245"/>
                    <a:gd name="connsiteY0" fmla="*/ 1536 h 766030"/>
                    <a:gd name="connsiteX1" fmla="*/ 519244 w 519245"/>
                    <a:gd name="connsiteY1" fmla="*/ 384163 h 766030"/>
                    <a:gd name="connsiteX2" fmla="*/ 279488 w 519245"/>
                    <a:gd name="connsiteY2" fmla="*/ 764907 h 766030"/>
                    <a:gd name="connsiteX3" fmla="*/ 259623 w 519245"/>
                    <a:gd name="connsiteY3" fmla="*/ 383015 h 766030"/>
                    <a:gd name="connsiteX4" fmla="*/ 282852 w 519245"/>
                    <a:gd name="connsiteY4" fmla="*/ 1536 h 766030"/>
                    <a:gd name="connsiteX0" fmla="*/ 282852 w 519245"/>
                    <a:gd name="connsiteY0" fmla="*/ 1536 h 766030"/>
                    <a:gd name="connsiteX1" fmla="*/ 519244 w 519245"/>
                    <a:gd name="connsiteY1" fmla="*/ 384163 h 766030"/>
                    <a:gd name="connsiteX2" fmla="*/ 279488 w 519245"/>
                    <a:gd name="connsiteY2" fmla="*/ 764907 h 766030"/>
                    <a:gd name="connsiteX0" fmla="*/ 23229 w 259622"/>
                    <a:gd name="connsiteY0" fmla="*/ 0 h 763371"/>
                    <a:gd name="connsiteX1" fmla="*/ 259621 w 259622"/>
                    <a:gd name="connsiteY1" fmla="*/ 382627 h 763371"/>
                    <a:gd name="connsiteX2" fmla="*/ 19865 w 259622"/>
                    <a:gd name="connsiteY2" fmla="*/ 763371 h 763371"/>
                    <a:gd name="connsiteX3" fmla="*/ 0 w 259622"/>
                    <a:gd name="connsiteY3" fmla="*/ 381479 h 763371"/>
                    <a:gd name="connsiteX4" fmla="*/ 4211 w 259622"/>
                    <a:gd name="connsiteY4" fmla="*/ 284214 h 763371"/>
                    <a:gd name="connsiteX5" fmla="*/ 23229 w 259622"/>
                    <a:gd name="connsiteY5" fmla="*/ 0 h 763371"/>
                    <a:gd name="connsiteX0" fmla="*/ 23229 w 259622"/>
                    <a:gd name="connsiteY0" fmla="*/ 0 h 763371"/>
                    <a:gd name="connsiteX1" fmla="*/ 259621 w 259622"/>
                    <a:gd name="connsiteY1" fmla="*/ 382627 h 763371"/>
                    <a:gd name="connsiteX2" fmla="*/ 19865 w 259622"/>
                    <a:gd name="connsiteY2" fmla="*/ 763371 h 763371"/>
                    <a:gd name="connsiteX0" fmla="*/ 23229 w 259622"/>
                    <a:gd name="connsiteY0" fmla="*/ 0 h 763371"/>
                    <a:gd name="connsiteX1" fmla="*/ 259621 w 259622"/>
                    <a:gd name="connsiteY1" fmla="*/ 382627 h 763371"/>
                    <a:gd name="connsiteX2" fmla="*/ 19865 w 259622"/>
                    <a:gd name="connsiteY2" fmla="*/ 763371 h 763371"/>
                    <a:gd name="connsiteX3" fmla="*/ 0 w 259622"/>
                    <a:gd name="connsiteY3" fmla="*/ 381479 h 763371"/>
                    <a:gd name="connsiteX4" fmla="*/ 211856 w 259622"/>
                    <a:gd name="connsiteY4" fmla="*/ 175629 h 763371"/>
                    <a:gd name="connsiteX5" fmla="*/ 23229 w 259622"/>
                    <a:gd name="connsiteY5" fmla="*/ 0 h 763371"/>
                    <a:gd name="connsiteX0" fmla="*/ 23229 w 259622"/>
                    <a:gd name="connsiteY0" fmla="*/ 0 h 763371"/>
                    <a:gd name="connsiteX1" fmla="*/ 259621 w 259622"/>
                    <a:gd name="connsiteY1" fmla="*/ 382627 h 763371"/>
                    <a:gd name="connsiteX2" fmla="*/ 19865 w 259622"/>
                    <a:gd name="connsiteY2" fmla="*/ 763371 h 763371"/>
                    <a:gd name="connsiteX0" fmla="*/ 3364 w 239757"/>
                    <a:gd name="connsiteY0" fmla="*/ 0 h 763371"/>
                    <a:gd name="connsiteX1" fmla="*/ 239756 w 239757"/>
                    <a:gd name="connsiteY1" fmla="*/ 382627 h 763371"/>
                    <a:gd name="connsiteX2" fmla="*/ 0 w 239757"/>
                    <a:gd name="connsiteY2" fmla="*/ 763371 h 763371"/>
                    <a:gd name="connsiteX3" fmla="*/ 185875 w 239757"/>
                    <a:gd name="connsiteY3" fmla="*/ 627224 h 763371"/>
                    <a:gd name="connsiteX4" fmla="*/ 191991 w 239757"/>
                    <a:gd name="connsiteY4" fmla="*/ 175629 h 763371"/>
                    <a:gd name="connsiteX5" fmla="*/ 3364 w 239757"/>
                    <a:gd name="connsiteY5" fmla="*/ 0 h 763371"/>
                    <a:gd name="connsiteX0" fmla="*/ 3364 w 239757"/>
                    <a:gd name="connsiteY0" fmla="*/ 0 h 763371"/>
                    <a:gd name="connsiteX1" fmla="*/ 239756 w 239757"/>
                    <a:gd name="connsiteY1" fmla="*/ 382627 h 763371"/>
                    <a:gd name="connsiteX2" fmla="*/ 0 w 239757"/>
                    <a:gd name="connsiteY2" fmla="*/ 763371 h 763371"/>
                    <a:gd name="connsiteX0" fmla="*/ 3364 w 239757"/>
                    <a:gd name="connsiteY0" fmla="*/ 0 h 763371"/>
                    <a:gd name="connsiteX1" fmla="*/ 239756 w 239757"/>
                    <a:gd name="connsiteY1" fmla="*/ 382627 h 763371"/>
                    <a:gd name="connsiteX2" fmla="*/ 0 w 239757"/>
                    <a:gd name="connsiteY2" fmla="*/ 763371 h 763371"/>
                    <a:gd name="connsiteX3" fmla="*/ 185875 w 239757"/>
                    <a:gd name="connsiteY3" fmla="*/ 627224 h 763371"/>
                    <a:gd name="connsiteX4" fmla="*/ 199611 w 239757"/>
                    <a:gd name="connsiteY4" fmla="*/ 175629 h 763371"/>
                    <a:gd name="connsiteX5" fmla="*/ 3364 w 239757"/>
                    <a:gd name="connsiteY5" fmla="*/ 0 h 763371"/>
                    <a:gd name="connsiteX0" fmla="*/ 3364 w 239757"/>
                    <a:gd name="connsiteY0" fmla="*/ 0 h 763371"/>
                    <a:gd name="connsiteX1" fmla="*/ 239756 w 239757"/>
                    <a:gd name="connsiteY1" fmla="*/ 382627 h 763371"/>
                    <a:gd name="connsiteX2" fmla="*/ 0 w 239757"/>
                    <a:gd name="connsiteY2" fmla="*/ 763371 h 763371"/>
                    <a:gd name="connsiteX0" fmla="*/ 3364 w 239757"/>
                    <a:gd name="connsiteY0" fmla="*/ 0 h 763371"/>
                    <a:gd name="connsiteX1" fmla="*/ 239756 w 239757"/>
                    <a:gd name="connsiteY1" fmla="*/ 382627 h 763371"/>
                    <a:gd name="connsiteX2" fmla="*/ 0 w 239757"/>
                    <a:gd name="connsiteY2" fmla="*/ 763371 h 763371"/>
                    <a:gd name="connsiteX3" fmla="*/ 185875 w 239757"/>
                    <a:gd name="connsiteY3" fmla="*/ 627224 h 763371"/>
                    <a:gd name="connsiteX4" fmla="*/ 119601 w 239757"/>
                    <a:gd name="connsiteY4" fmla="*/ 181344 h 763371"/>
                    <a:gd name="connsiteX5" fmla="*/ 3364 w 239757"/>
                    <a:gd name="connsiteY5" fmla="*/ 0 h 763371"/>
                    <a:gd name="connsiteX0" fmla="*/ 3364 w 239757"/>
                    <a:gd name="connsiteY0" fmla="*/ 0 h 763371"/>
                    <a:gd name="connsiteX1" fmla="*/ 239756 w 239757"/>
                    <a:gd name="connsiteY1" fmla="*/ 382627 h 763371"/>
                    <a:gd name="connsiteX2" fmla="*/ 0 w 239757"/>
                    <a:gd name="connsiteY2" fmla="*/ 763371 h 763371"/>
                    <a:gd name="connsiteX0" fmla="*/ 3364 w 239757"/>
                    <a:gd name="connsiteY0" fmla="*/ 0 h 763371"/>
                    <a:gd name="connsiteX1" fmla="*/ 239756 w 239757"/>
                    <a:gd name="connsiteY1" fmla="*/ 382627 h 763371"/>
                    <a:gd name="connsiteX2" fmla="*/ 0 w 239757"/>
                    <a:gd name="connsiteY2" fmla="*/ 763371 h 763371"/>
                    <a:gd name="connsiteX3" fmla="*/ 185875 w 239757"/>
                    <a:gd name="connsiteY3" fmla="*/ 627224 h 763371"/>
                    <a:gd name="connsiteX4" fmla="*/ 193896 w 239757"/>
                    <a:gd name="connsiteY4" fmla="*/ 169914 h 763371"/>
                    <a:gd name="connsiteX5" fmla="*/ 3364 w 239757"/>
                    <a:gd name="connsiteY5" fmla="*/ 0 h 763371"/>
                    <a:gd name="connsiteX0" fmla="*/ 3364 w 239757"/>
                    <a:gd name="connsiteY0" fmla="*/ 0 h 763371"/>
                    <a:gd name="connsiteX1" fmla="*/ 239756 w 239757"/>
                    <a:gd name="connsiteY1" fmla="*/ 382627 h 763371"/>
                    <a:gd name="connsiteX2" fmla="*/ 0 w 239757"/>
                    <a:gd name="connsiteY2" fmla="*/ 763371 h 7633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39757" h="763371" stroke="0" extrusionOk="0">
                      <a:moveTo>
                        <a:pt x="3364" y="0"/>
                      </a:moveTo>
                      <a:cubicBezTo>
                        <a:pt x="137506" y="17778"/>
                        <a:pt x="240160" y="183934"/>
                        <a:pt x="239756" y="382627"/>
                      </a:cubicBezTo>
                      <a:cubicBezTo>
                        <a:pt x="239350" y="582350"/>
                        <a:pt x="134984" y="748088"/>
                        <a:pt x="0" y="763371"/>
                      </a:cubicBezTo>
                      <a:lnTo>
                        <a:pt x="185875" y="627224"/>
                      </a:lnTo>
                      <a:cubicBezTo>
                        <a:pt x="187914" y="476692"/>
                        <a:pt x="191857" y="320446"/>
                        <a:pt x="193896" y="169914"/>
                      </a:cubicBezTo>
                      <a:lnTo>
                        <a:pt x="3364" y="0"/>
                      </a:lnTo>
                      <a:close/>
                    </a:path>
                    <a:path w="239757" h="763371" fill="none">
                      <a:moveTo>
                        <a:pt x="3364" y="0"/>
                      </a:moveTo>
                      <a:cubicBezTo>
                        <a:pt x="137506" y="17778"/>
                        <a:pt x="240160" y="183934"/>
                        <a:pt x="239756" y="382627"/>
                      </a:cubicBezTo>
                      <a:cubicBezTo>
                        <a:pt x="239350" y="582350"/>
                        <a:pt x="134984" y="748088"/>
                        <a:pt x="0" y="763371"/>
                      </a:cubicBezTo>
                    </a:path>
                  </a:pathLst>
                </a:custGeom>
                <a:noFill/>
                <a:ln w="19050" cap="flat" cmpd="sng" algn="ctr">
                  <a:solidFill>
                    <a:srgbClr val="B4BABD">
                      <a:lumMod val="75000"/>
                    </a:srgbClr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68580" tIns="34290" rIns="68580" bIns="3429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defTabSz="685800" eaLnBrk="0" hangingPunct="0">
                    <a:defRPr/>
                  </a:pPr>
                  <a:endParaRPr lang="en-US" sz="1200" b="1" kern="0">
                    <a:solidFill>
                      <a:srgbClr val="061922"/>
                    </a:solidFill>
                    <a:latin typeface="+mn-lt"/>
                    <a:cs typeface="Arial" pitchFamily="34" charset="0"/>
                  </a:endParaRPr>
                </a:p>
              </p:txBody>
            </p:sp>
          </p:grpSp>
          <p:cxnSp>
            <p:nvCxnSpPr>
              <p:cNvPr id="120" name="Straight Connector 119"/>
              <p:cNvCxnSpPr/>
              <p:nvPr/>
            </p:nvCxnSpPr>
            <p:spPr bwMode="auto">
              <a:xfrm rot="5400000">
                <a:off x="6204885" y="2476590"/>
                <a:ext cx="159671" cy="0"/>
              </a:xfrm>
              <a:prstGeom prst="line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939598">
                    <a:lumMod val="5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4" name="Straight Connector 123"/>
              <p:cNvCxnSpPr/>
              <p:nvPr/>
            </p:nvCxnSpPr>
            <p:spPr bwMode="auto">
              <a:xfrm>
                <a:off x="6461054" y="2038682"/>
                <a:ext cx="0" cy="510720"/>
              </a:xfrm>
              <a:prstGeom prst="line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939598">
                    <a:lumMod val="5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30" name="Group 129"/>
            <p:cNvGrpSpPr/>
            <p:nvPr/>
          </p:nvGrpSpPr>
          <p:grpSpPr>
            <a:xfrm>
              <a:off x="5030042" y="2276807"/>
              <a:ext cx="403877" cy="1501588"/>
              <a:chOff x="6160835" y="2038682"/>
              <a:chExt cx="403877" cy="1501588"/>
            </a:xfrm>
          </p:grpSpPr>
          <p:cxnSp>
            <p:nvCxnSpPr>
              <p:cNvPr id="132" name="Straight Connector 131"/>
              <p:cNvCxnSpPr/>
              <p:nvPr/>
            </p:nvCxnSpPr>
            <p:spPr>
              <a:xfrm flipV="1">
                <a:off x="6369332" y="2845440"/>
                <a:ext cx="0" cy="694830"/>
              </a:xfrm>
              <a:prstGeom prst="line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939598">
                    <a:lumMod val="5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36" name="Rectangle 135"/>
              <p:cNvSpPr/>
              <p:nvPr/>
            </p:nvSpPr>
            <p:spPr>
              <a:xfrm flipH="1">
                <a:off x="6172639" y="2095689"/>
                <a:ext cx="304891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defTabSz="685800">
                  <a:defRPr/>
                </a:pPr>
                <a:r>
                  <a:rPr lang="en-US" sz="1200" kern="0" dirty="0" smtClean="0">
                    <a:solidFill>
                      <a:srgbClr val="061922"/>
                    </a:solidFill>
                    <a:latin typeface="+mn-lt"/>
                  </a:rPr>
                  <a:t>y</a:t>
                </a:r>
                <a:r>
                  <a:rPr lang="en-US" sz="1200" kern="0" baseline="-25000" dirty="0" smtClean="0">
                    <a:solidFill>
                      <a:srgbClr val="061922"/>
                    </a:solidFill>
                    <a:latin typeface="+mn-lt"/>
                  </a:rPr>
                  <a:t>1</a:t>
                </a:r>
                <a:endParaRPr lang="en-US" sz="1200" kern="0" baseline="-25000" dirty="0">
                  <a:solidFill>
                    <a:srgbClr val="061922"/>
                  </a:solidFill>
                  <a:latin typeface="+mn-lt"/>
                </a:endParaRPr>
              </a:p>
            </p:txBody>
          </p:sp>
          <p:grpSp>
            <p:nvGrpSpPr>
              <p:cNvPr id="140" name="Group 139"/>
              <p:cNvGrpSpPr/>
              <p:nvPr/>
            </p:nvGrpSpPr>
            <p:grpSpPr>
              <a:xfrm>
                <a:off x="6160835" y="2458261"/>
                <a:ext cx="403877" cy="393792"/>
                <a:chOff x="7455820" y="2242929"/>
                <a:chExt cx="403877" cy="393792"/>
              </a:xfrm>
            </p:grpSpPr>
            <p:sp>
              <p:nvSpPr>
                <p:cNvPr id="149" name="Flowchart: Delay 18"/>
                <p:cNvSpPr/>
                <p:nvPr/>
              </p:nvSpPr>
              <p:spPr bwMode="auto">
                <a:xfrm rot="5400000" flipH="1">
                  <a:off x="7501958" y="2278982"/>
                  <a:ext cx="311601" cy="403877"/>
                </a:xfrm>
                <a:custGeom>
                  <a:avLst/>
                  <a:gdLst>
                    <a:gd name="connsiteX0" fmla="*/ 1667 w 10000"/>
                    <a:gd name="connsiteY0" fmla="*/ 0 h 10000"/>
                    <a:gd name="connsiteX1" fmla="*/ 10000 w 10000"/>
                    <a:gd name="connsiteY1" fmla="*/ 0 h 10000"/>
                    <a:gd name="connsiteX2" fmla="*/ 8333 w 10000"/>
                    <a:gd name="connsiteY2" fmla="*/ 5000 h 10000"/>
                    <a:gd name="connsiteX3" fmla="*/ 10000 w 10000"/>
                    <a:gd name="connsiteY3" fmla="*/ 10000 h 10000"/>
                    <a:gd name="connsiteX4" fmla="*/ 1667 w 10000"/>
                    <a:gd name="connsiteY4" fmla="*/ 10000 h 10000"/>
                    <a:gd name="connsiteX5" fmla="*/ 0 w 10000"/>
                    <a:gd name="connsiteY5" fmla="*/ 5000 h 10000"/>
                    <a:gd name="connsiteX6" fmla="*/ 1667 w 10000"/>
                    <a:gd name="connsiteY6" fmla="*/ 0 h 10000"/>
                    <a:gd name="connsiteX0" fmla="*/ 3276 w 10041"/>
                    <a:gd name="connsiteY0" fmla="*/ 0 h 10023"/>
                    <a:gd name="connsiteX1" fmla="*/ 10041 w 10041"/>
                    <a:gd name="connsiteY1" fmla="*/ 23 h 10023"/>
                    <a:gd name="connsiteX2" fmla="*/ 8374 w 10041"/>
                    <a:gd name="connsiteY2" fmla="*/ 5023 h 10023"/>
                    <a:gd name="connsiteX3" fmla="*/ 10041 w 10041"/>
                    <a:gd name="connsiteY3" fmla="*/ 10023 h 10023"/>
                    <a:gd name="connsiteX4" fmla="*/ 1708 w 10041"/>
                    <a:gd name="connsiteY4" fmla="*/ 10023 h 10023"/>
                    <a:gd name="connsiteX5" fmla="*/ 41 w 10041"/>
                    <a:gd name="connsiteY5" fmla="*/ 5023 h 10023"/>
                    <a:gd name="connsiteX6" fmla="*/ 3276 w 10041"/>
                    <a:gd name="connsiteY6" fmla="*/ 0 h 10023"/>
                    <a:gd name="connsiteX0" fmla="*/ 3237 w 10002"/>
                    <a:gd name="connsiteY0" fmla="*/ 0 h 10070"/>
                    <a:gd name="connsiteX1" fmla="*/ 10002 w 10002"/>
                    <a:gd name="connsiteY1" fmla="*/ 23 h 10070"/>
                    <a:gd name="connsiteX2" fmla="*/ 8335 w 10002"/>
                    <a:gd name="connsiteY2" fmla="*/ 5023 h 10070"/>
                    <a:gd name="connsiteX3" fmla="*/ 10002 w 10002"/>
                    <a:gd name="connsiteY3" fmla="*/ 10023 h 10070"/>
                    <a:gd name="connsiteX4" fmla="*/ 3656 w 10002"/>
                    <a:gd name="connsiteY4" fmla="*/ 10070 h 10070"/>
                    <a:gd name="connsiteX5" fmla="*/ 2 w 10002"/>
                    <a:gd name="connsiteY5" fmla="*/ 5023 h 10070"/>
                    <a:gd name="connsiteX6" fmla="*/ 3237 w 10002"/>
                    <a:gd name="connsiteY6" fmla="*/ 0 h 10070"/>
                    <a:gd name="connsiteX0" fmla="*/ 3237 w 10002"/>
                    <a:gd name="connsiteY0" fmla="*/ 0 h 10070"/>
                    <a:gd name="connsiteX1" fmla="*/ 10002 w 10002"/>
                    <a:gd name="connsiteY1" fmla="*/ 23 h 10070"/>
                    <a:gd name="connsiteX2" fmla="*/ 7439 w 10002"/>
                    <a:gd name="connsiteY2" fmla="*/ 5023 h 10070"/>
                    <a:gd name="connsiteX3" fmla="*/ 10002 w 10002"/>
                    <a:gd name="connsiteY3" fmla="*/ 10023 h 10070"/>
                    <a:gd name="connsiteX4" fmla="*/ 3656 w 10002"/>
                    <a:gd name="connsiteY4" fmla="*/ 10070 h 10070"/>
                    <a:gd name="connsiteX5" fmla="*/ 2 w 10002"/>
                    <a:gd name="connsiteY5" fmla="*/ 5023 h 10070"/>
                    <a:gd name="connsiteX6" fmla="*/ 3237 w 10002"/>
                    <a:gd name="connsiteY6" fmla="*/ 0 h 10070"/>
                    <a:gd name="connsiteX0" fmla="*/ 2761 w 9526"/>
                    <a:gd name="connsiteY0" fmla="*/ 0 h 10070"/>
                    <a:gd name="connsiteX1" fmla="*/ 9526 w 9526"/>
                    <a:gd name="connsiteY1" fmla="*/ 23 h 10070"/>
                    <a:gd name="connsiteX2" fmla="*/ 6963 w 9526"/>
                    <a:gd name="connsiteY2" fmla="*/ 5023 h 10070"/>
                    <a:gd name="connsiteX3" fmla="*/ 9526 w 9526"/>
                    <a:gd name="connsiteY3" fmla="*/ 10023 h 10070"/>
                    <a:gd name="connsiteX4" fmla="*/ 3180 w 9526"/>
                    <a:gd name="connsiteY4" fmla="*/ 10070 h 10070"/>
                    <a:gd name="connsiteX5" fmla="*/ 2 w 9526"/>
                    <a:gd name="connsiteY5" fmla="*/ 5023 h 10070"/>
                    <a:gd name="connsiteX6" fmla="*/ 2761 w 9526"/>
                    <a:gd name="connsiteY6" fmla="*/ 0 h 10070"/>
                    <a:gd name="connsiteX0" fmla="*/ 2898 w 10000"/>
                    <a:gd name="connsiteY0" fmla="*/ 0 h 10000"/>
                    <a:gd name="connsiteX1" fmla="*/ 10000 w 10000"/>
                    <a:gd name="connsiteY1" fmla="*/ 23 h 10000"/>
                    <a:gd name="connsiteX2" fmla="*/ 7309 w 10000"/>
                    <a:gd name="connsiteY2" fmla="*/ 4988 h 10000"/>
                    <a:gd name="connsiteX3" fmla="*/ 10000 w 10000"/>
                    <a:gd name="connsiteY3" fmla="*/ 9953 h 10000"/>
                    <a:gd name="connsiteX4" fmla="*/ 3338 w 10000"/>
                    <a:gd name="connsiteY4" fmla="*/ 10000 h 10000"/>
                    <a:gd name="connsiteX5" fmla="*/ 2 w 10000"/>
                    <a:gd name="connsiteY5" fmla="*/ 4988 h 10000"/>
                    <a:gd name="connsiteX6" fmla="*/ 2898 w 10000"/>
                    <a:gd name="connsiteY6" fmla="*/ 0 h 10000"/>
                    <a:gd name="connsiteX0" fmla="*/ 4522 w 10008"/>
                    <a:gd name="connsiteY0" fmla="*/ 0 h 10000"/>
                    <a:gd name="connsiteX1" fmla="*/ 10008 w 10008"/>
                    <a:gd name="connsiteY1" fmla="*/ 23 h 10000"/>
                    <a:gd name="connsiteX2" fmla="*/ 7317 w 10008"/>
                    <a:gd name="connsiteY2" fmla="*/ 4988 h 10000"/>
                    <a:gd name="connsiteX3" fmla="*/ 10008 w 10008"/>
                    <a:gd name="connsiteY3" fmla="*/ 9953 h 10000"/>
                    <a:gd name="connsiteX4" fmla="*/ 3346 w 10008"/>
                    <a:gd name="connsiteY4" fmla="*/ 10000 h 10000"/>
                    <a:gd name="connsiteX5" fmla="*/ 10 w 10008"/>
                    <a:gd name="connsiteY5" fmla="*/ 4988 h 10000"/>
                    <a:gd name="connsiteX6" fmla="*/ 4522 w 10008"/>
                    <a:gd name="connsiteY6" fmla="*/ 0 h 10000"/>
                    <a:gd name="connsiteX0" fmla="*/ 4518 w 10004"/>
                    <a:gd name="connsiteY0" fmla="*/ 0 h 10000"/>
                    <a:gd name="connsiteX1" fmla="*/ 10004 w 10004"/>
                    <a:gd name="connsiteY1" fmla="*/ 23 h 10000"/>
                    <a:gd name="connsiteX2" fmla="*/ 7313 w 10004"/>
                    <a:gd name="connsiteY2" fmla="*/ 4988 h 10000"/>
                    <a:gd name="connsiteX3" fmla="*/ 10004 w 10004"/>
                    <a:gd name="connsiteY3" fmla="*/ 9953 h 10000"/>
                    <a:gd name="connsiteX4" fmla="*/ 5516 w 10004"/>
                    <a:gd name="connsiteY4" fmla="*/ 10000 h 10000"/>
                    <a:gd name="connsiteX5" fmla="*/ 6 w 10004"/>
                    <a:gd name="connsiteY5" fmla="*/ 4988 h 10000"/>
                    <a:gd name="connsiteX6" fmla="*/ 4518 w 10004"/>
                    <a:gd name="connsiteY6" fmla="*/ 0 h 10000"/>
                    <a:gd name="connsiteX0" fmla="*/ 4530 w 10016"/>
                    <a:gd name="connsiteY0" fmla="*/ 0 h 10047"/>
                    <a:gd name="connsiteX1" fmla="*/ 10016 w 10016"/>
                    <a:gd name="connsiteY1" fmla="*/ 23 h 10047"/>
                    <a:gd name="connsiteX2" fmla="*/ 7325 w 10016"/>
                    <a:gd name="connsiteY2" fmla="*/ 4988 h 10047"/>
                    <a:gd name="connsiteX3" fmla="*/ 10016 w 10016"/>
                    <a:gd name="connsiteY3" fmla="*/ 9953 h 10047"/>
                    <a:gd name="connsiteX4" fmla="*/ 6439 w 10016"/>
                    <a:gd name="connsiteY4" fmla="*/ 10047 h 10047"/>
                    <a:gd name="connsiteX5" fmla="*/ 18 w 10016"/>
                    <a:gd name="connsiteY5" fmla="*/ 4988 h 10047"/>
                    <a:gd name="connsiteX6" fmla="*/ 4530 w 10016"/>
                    <a:gd name="connsiteY6" fmla="*/ 0 h 10047"/>
                    <a:gd name="connsiteX0" fmla="*/ 5602 w 10001"/>
                    <a:gd name="connsiteY0" fmla="*/ 0 h 10024"/>
                    <a:gd name="connsiteX1" fmla="*/ 10001 w 10001"/>
                    <a:gd name="connsiteY1" fmla="*/ 0 h 10024"/>
                    <a:gd name="connsiteX2" fmla="*/ 7310 w 10001"/>
                    <a:gd name="connsiteY2" fmla="*/ 4965 h 10024"/>
                    <a:gd name="connsiteX3" fmla="*/ 10001 w 10001"/>
                    <a:gd name="connsiteY3" fmla="*/ 9930 h 10024"/>
                    <a:gd name="connsiteX4" fmla="*/ 6424 w 10001"/>
                    <a:gd name="connsiteY4" fmla="*/ 10024 h 10024"/>
                    <a:gd name="connsiteX5" fmla="*/ 3 w 10001"/>
                    <a:gd name="connsiteY5" fmla="*/ 4965 h 10024"/>
                    <a:gd name="connsiteX6" fmla="*/ 5602 w 10001"/>
                    <a:gd name="connsiteY6" fmla="*/ 0 h 10024"/>
                    <a:gd name="connsiteX0" fmla="*/ 6158 w 9999"/>
                    <a:gd name="connsiteY0" fmla="*/ 0 h 10024"/>
                    <a:gd name="connsiteX1" fmla="*/ 9999 w 9999"/>
                    <a:gd name="connsiteY1" fmla="*/ 0 h 10024"/>
                    <a:gd name="connsiteX2" fmla="*/ 7308 w 9999"/>
                    <a:gd name="connsiteY2" fmla="*/ 4965 h 10024"/>
                    <a:gd name="connsiteX3" fmla="*/ 9999 w 9999"/>
                    <a:gd name="connsiteY3" fmla="*/ 9930 h 10024"/>
                    <a:gd name="connsiteX4" fmla="*/ 6422 w 9999"/>
                    <a:gd name="connsiteY4" fmla="*/ 10024 h 10024"/>
                    <a:gd name="connsiteX5" fmla="*/ 1 w 9999"/>
                    <a:gd name="connsiteY5" fmla="*/ 4965 h 10024"/>
                    <a:gd name="connsiteX6" fmla="*/ 6158 w 9999"/>
                    <a:gd name="connsiteY6" fmla="*/ 0 h 10024"/>
                    <a:gd name="connsiteX0" fmla="*/ 6159 w 10000"/>
                    <a:gd name="connsiteY0" fmla="*/ 0 h 10000"/>
                    <a:gd name="connsiteX1" fmla="*/ 10000 w 10000"/>
                    <a:gd name="connsiteY1" fmla="*/ 0 h 10000"/>
                    <a:gd name="connsiteX2" fmla="*/ 7309 w 10000"/>
                    <a:gd name="connsiteY2" fmla="*/ 4953 h 10000"/>
                    <a:gd name="connsiteX3" fmla="*/ 10000 w 10000"/>
                    <a:gd name="connsiteY3" fmla="*/ 9906 h 10000"/>
                    <a:gd name="connsiteX4" fmla="*/ 6423 w 10000"/>
                    <a:gd name="connsiteY4" fmla="*/ 10000 h 10000"/>
                    <a:gd name="connsiteX5" fmla="*/ 1 w 10000"/>
                    <a:gd name="connsiteY5" fmla="*/ 4953 h 10000"/>
                    <a:gd name="connsiteX6" fmla="*/ 6159 w 10000"/>
                    <a:gd name="connsiteY6" fmla="*/ 0 h 10000"/>
                    <a:gd name="connsiteX0" fmla="*/ 6159 w 10000"/>
                    <a:gd name="connsiteY0" fmla="*/ 0 h 10000"/>
                    <a:gd name="connsiteX1" fmla="*/ 10000 w 10000"/>
                    <a:gd name="connsiteY1" fmla="*/ 0 h 10000"/>
                    <a:gd name="connsiteX2" fmla="*/ 7309 w 10000"/>
                    <a:gd name="connsiteY2" fmla="*/ 4953 h 10000"/>
                    <a:gd name="connsiteX3" fmla="*/ 10000 w 10000"/>
                    <a:gd name="connsiteY3" fmla="*/ 9906 h 10000"/>
                    <a:gd name="connsiteX4" fmla="*/ 6423 w 10000"/>
                    <a:gd name="connsiteY4" fmla="*/ 10000 h 10000"/>
                    <a:gd name="connsiteX5" fmla="*/ 1 w 10000"/>
                    <a:gd name="connsiteY5" fmla="*/ 4953 h 10000"/>
                    <a:gd name="connsiteX6" fmla="*/ 6159 w 10000"/>
                    <a:gd name="connsiteY6" fmla="*/ 0 h 10000"/>
                    <a:gd name="connsiteX0" fmla="*/ 6159 w 10000"/>
                    <a:gd name="connsiteY0" fmla="*/ 0 h 10000"/>
                    <a:gd name="connsiteX1" fmla="*/ 10000 w 10000"/>
                    <a:gd name="connsiteY1" fmla="*/ 0 h 10000"/>
                    <a:gd name="connsiteX2" fmla="*/ 7309 w 10000"/>
                    <a:gd name="connsiteY2" fmla="*/ 4953 h 10000"/>
                    <a:gd name="connsiteX3" fmla="*/ 10000 w 10000"/>
                    <a:gd name="connsiteY3" fmla="*/ 9906 h 10000"/>
                    <a:gd name="connsiteX4" fmla="*/ 6423 w 10000"/>
                    <a:gd name="connsiteY4" fmla="*/ 10000 h 10000"/>
                    <a:gd name="connsiteX5" fmla="*/ 1 w 10000"/>
                    <a:gd name="connsiteY5" fmla="*/ 4953 h 10000"/>
                    <a:gd name="connsiteX6" fmla="*/ 6159 w 10000"/>
                    <a:gd name="connsiteY6" fmla="*/ 0 h 10000"/>
                    <a:gd name="connsiteX0" fmla="*/ 6159 w 10000"/>
                    <a:gd name="connsiteY0" fmla="*/ 0 h 10000"/>
                    <a:gd name="connsiteX1" fmla="*/ 10000 w 10000"/>
                    <a:gd name="connsiteY1" fmla="*/ 0 h 10000"/>
                    <a:gd name="connsiteX2" fmla="*/ 7309 w 10000"/>
                    <a:gd name="connsiteY2" fmla="*/ 4953 h 10000"/>
                    <a:gd name="connsiteX3" fmla="*/ 10000 w 10000"/>
                    <a:gd name="connsiteY3" fmla="*/ 9906 h 10000"/>
                    <a:gd name="connsiteX4" fmla="*/ 6423 w 10000"/>
                    <a:gd name="connsiteY4" fmla="*/ 10000 h 10000"/>
                    <a:gd name="connsiteX5" fmla="*/ 1 w 10000"/>
                    <a:gd name="connsiteY5" fmla="*/ 4953 h 10000"/>
                    <a:gd name="connsiteX6" fmla="*/ 6159 w 10000"/>
                    <a:gd name="connsiteY6" fmla="*/ 0 h 10000"/>
                    <a:gd name="connsiteX0" fmla="*/ 6159 w 10000"/>
                    <a:gd name="connsiteY0" fmla="*/ 0 h 10000"/>
                    <a:gd name="connsiteX1" fmla="*/ 10000 w 10000"/>
                    <a:gd name="connsiteY1" fmla="*/ 0 h 10000"/>
                    <a:gd name="connsiteX2" fmla="*/ 7309 w 10000"/>
                    <a:gd name="connsiteY2" fmla="*/ 4953 h 10000"/>
                    <a:gd name="connsiteX3" fmla="*/ 10000 w 10000"/>
                    <a:gd name="connsiteY3" fmla="*/ 9906 h 10000"/>
                    <a:gd name="connsiteX4" fmla="*/ 6423 w 10000"/>
                    <a:gd name="connsiteY4" fmla="*/ 10000 h 10000"/>
                    <a:gd name="connsiteX5" fmla="*/ 1 w 10000"/>
                    <a:gd name="connsiteY5" fmla="*/ 4953 h 10000"/>
                    <a:gd name="connsiteX6" fmla="*/ 6159 w 10000"/>
                    <a:gd name="connsiteY6" fmla="*/ 0 h 10000"/>
                    <a:gd name="connsiteX0" fmla="*/ 6159 w 10000"/>
                    <a:gd name="connsiteY0" fmla="*/ 0 h 10000"/>
                    <a:gd name="connsiteX1" fmla="*/ 10000 w 10000"/>
                    <a:gd name="connsiteY1" fmla="*/ 0 h 10000"/>
                    <a:gd name="connsiteX2" fmla="*/ 7309 w 10000"/>
                    <a:gd name="connsiteY2" fmla="*/ 4953 h 10000"/>
                    <a:gd name="connsiteX3" fmla="*/ 10000 w 10000"/>
                    <a:gd name="connsiteY3" fmla="*/ 9906 h 10000"/>
                    <a:gd name="connsiteX4" fmla="*/ 6423 w 10000"/>
                    <a:gd name="connsiteY4" fmla="*/ 10000 h 10000"/>
                    <a:gd name="connsiteX5" fmla="*/ 1 w 10000"/>
                    <a:gd name="connsiteY5" fmla="*/ 4953 h 10000"/>
                    <a:gd name="connsiteX6" fmla="*/ 6159 w 10000"/>
                    <a:gd name="connsiteY6" fmla="*/ 0 h 10000"/>
                    <a:gd name="connsiteX0" fmla="*/ 5924 w 9765"/>
                    <a:gd name="connsiteY0" fmla="*/ 0 h 10000"/>
                    <a:gd name="connsiteX1" fmla="*/ 9765 w 9765"/>
                    <a:gd name="connsiteY1" fmla="*/ 0 h 10000"/>
                    <a:gd name="connsiteX2" fmla="*/ 7074 w 9765"/>
                    <a:gd name="connsiteY2" fmla="*/ 4953 h 10000"/>
                    <a:gd name="connsiteX3" fmla="*/ 9765 w 9765"/>
                    <a:gd name="connsiteY3" fmla="*/ 9906 h 10000"/>
                    <a:gd name="connsiteX4" fmla="*/ 6188 w 9765"/>
                    <a:gd name="connsiteY4" fmla="*/ 10000 h 10000"/>
                    <a:gd name="connsiteX5" fmla="*/ 1 w 9765"/>
                    <a:gd name="connsiteY5" fmla="*/ 4953 h 10000"/>
                    <a:gd name="connsiteX6" fmla="*/ 5924 w 9765"/>
                    <a:gd name="connsiteY6" fmla="*/ 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765" h="10000">
                      <a:moveTo>
                        <a:pt x="5924" y="0"/>
                      </a:moveTo>
                      <a:lnTo>
                        <a:pt x="9765" y="0"/>
                      </a:lnTo>
                      <a:cubicBezTo>
                        <a:pt x="8827" y="232"/>
                        <a:pt x="7074" y="2218"/>
                        <a:pt x="7074" y="4953"/>
                      </a:cubicBezTo>
                      <a:cubicBezTo>
                        <a:pt x="7074" y="7689"/>
                        <a:pt x="8769" y="9558"/>
                        <a:pt x="9765" y="9906"/>
                      </a:cubicBezTo>
                      <a:lnTo>
                        <a:pt x="6188" y="10000"/>
                      </a:lnTo>
                      <a:cubicBezTo>
                        <a:pt x="2576" y="10046"/>
                        <a:pt x="45" y="6620"/>
                        <a:pt x="1" y="4953"/>
                      </a:cubicBezTo>
                      <a:cubicBezTo>
                        <a:pt x="-43" y="3286"/>
                        <a:pt x="1755" y="0"/>
                        <a:pt x="5924" y="0"/>
                      </a:cubicBezTo>
                      <a:close/>
                    </a:path>
                  </a:pathLst>
                </a:custGeom>
                <a:solidFill>
                  <a:srgbClr val="B4BABD">
                    <a:lumMod val="40000"/>
                    <a:lumOff val="60000"/>
                  </a:srgbClr>
                </a:solidFill>
                <a:ln w="19050" cap="flat" cmpd="sng" algn="ctr">
                  <a:solidFill>
                    <a:srgbClr val="B4BABD">
                      <a:lumMod val="75000"/>
                    </a:srgbClr>
                  </a:solidFill>
                  <a:prstDash val="solid"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68580" tIns="34290" rIns="68580" bIns="3429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5800" eaLnBrk="0" hangingPunct="0">
                    <a:defRPr/>
                  </a:pPr>
                  <a:endParaRPr lang="en-US" sz="1200" b="1" kern="0">
                    <a:solidFill>
                      <a:srgbClr val="061922"/>
                    </a:solidFill>
                    <a:latin typeface="+mn-lt"/>
                    <a:cs typeface="Arial" pitchFamily="34" charset="0"/>
                  </a:endParaRPr>
                </a:p>
              </p:txBody>
            </p:sp>
            <p:sp>
              <p:nvSpPr>
                <p:cNvPr id="154" name="Arc 21"/>
                <p:cNvSpPr/>
                <p:nvPr/>
              </p:nvSpPr>
              <p:spPr bwMode="auto">
                <a:xfrm rot="5400000">
                  <a:off x="7598262" y="2114052"/>
                  <a:ext cx="118023" cy="375777"/>
                </a:xfrm>
                <a:custGeom>
                  <a:avLst/>
                  <a:gdLst>
                    <a:gd name="connsiteX0" fmla="*/ 282852 w 519245"/>
                    <a:gd name="connsiteY0" fmla="*/ 1536 h 766030"/>
                    <a:gd name="connsiteX1" fmla="*/ 519244 w 519245"/>
                    <a:gd name="connsiteY1" fmla="*/ 384163 h 766030"/>
                    <a:gd name="connsiteX2" fmla="*/ 279488 w 519245"/>
                    <a:gd name="connsiteY2" fmla="*/ 764907 h 766030"/>
                    <a:gd name="connsiteX3" fmla="*/ 259623 w 519245"/>
                    <a:gd name="connsiteY3" fmla="*/ 383015 h 766030"/>
                    <a:gd name="connsiteX4" fmla="*/ 282852 w 519245"/>
                    <a:gd name="connsiteY4" fmla="*/ 1536 h 766030"/>
                    <a:gd name="connsiteX0" fmla="*/ 282852 w 519245"/>
                    <a:gd name="connsiteY0" fmla="*/ 1536 h 766030"/>
                    <a:gd name="connsiteX1" fmla="*/ 519244 w 519245"/>
                    <a:gd name="connsiteY1" fmla="*/ 384163 h 766030"/>
                    <a:gd name="connsiteX2" fmla="*/ 279488 w 519245"/>
                    <a:gd name="connsiteY2" fmla="*/ 764907 h 766030"/>
                    <a:gd name="connsiteX0" fmla="*/ 23229 w 259622"/>
                    <a:gd name="connsiteY0" fmla="*/ 0 h 763371"/>
                    <a:gd name="connsiteX1" fmla="*/ 259621 w 259622"/>
                    <a:gd name="connsiteY1" fmla="*/ 382627 h 763371"/>
                    <a:gd name="connsiteX2" fmla="*/ 19865 w 259622"/>
                    <a:gd name="connsiteY2" fmla="*/ 763371 h 763371"/>
                    <a:gd name="connsiteX3" fmla="*/ 0 w 259622"/>
                    <a:gd name="connsiteY3" fmla="*/ 381479 h 763371"/>
                    <a:gd name="connsiteX4" fmla="*/ 4211 w 259622"/>
                    <a:gd name="connsiteY4" fmla="*/ 284214 h 763371"/>
                    <a:gd name="connsiteX5" fmla="*/ 23229 w 259622"/>
                    <a:gd name="connsiteY5" fmla="*/ 0 h 763371"/>
                    <a:gd name="connsiteX0" fmla="*/ 23229 w 259622"/>
                    <a:gd name="connsiteY0" fmla="*/ 0 h 763371"/>
                    <a:gd name="connsiteX1" fmla="*/ 259621 w 259622"/>
                    <a:gd name="connsiteY1" fmla="*/ 382627 h 763371"/>
                    <a:gd name="connsiteX2" fmla="*/ 19865 w 259622"/>
                    <a:gd name="connsiteY2" fmla="*/ 763371 h 763371"/>
                    <a:gd name="connsiteX0" fmla="*/ 23229 w 259622"/>
                    <a:gd name="connsiteY0" fmla="*/ 0 h 763371"/>
                    <a:gd name="connsiteX1" fmla="*/ 259621 w 259622"/>
                    <a:gd name="connsiteY1" fmla="*/ 382627 h 763371"/>
                    <a:gd name="connsiteX2" fmla="*/ 19865 w 259622"/>
                    <a:gd name="connsiteY2" fmla="*/ 763371 h 763371"/>
                    <a:gd name="connsiteX3" fmla="*/ 0 w 259622"/>
                    <a:gd name="connsiteY3" fmla="*/ 381479 h 763371"/>
                    <a:gd name="connsiteX4" fmla="*/ 211856 w 259622"/>
                    <a:gd name="connsiteY4" fmla="*/ 175629 h 763371"/>
                    <a:gd name="connsiteX5" fmla="*/ 23229 w 259622"/>
                    <a:gd name="connsiteY5" fmla="*/ 0 h 763371"/>
                    <a:gd name="connsiteX0" fmla="*/ 23229 w 259622"/>
                    <a:gd name="connsiteY0" fmla="*/ 0 h 763371"/>
                    <a:gd name="connsiteX1" fmla="*/ 259621 w 259622"/>
                    <a:gd name="connsiteY1" fmla="*/ 382627 h 763371"/>
                    <a:gd name="connsiteX2" fmla="*/ 19865 w 259622"/>
                    <a:gd name="connsiteY2" fmla="*/ 763371 h 763371"/>
                    <a:gd name="connsiteX0" fmla="*/ 3364 w 239757"/>
                    <a:gd name="connsiteY0" fmla="*/ 0 h 763371"/>
                    <a:gd name="connsiteX1" fmla="*/ 239756 w 239757"/>
                    <a:gd name="connsiteY1" fmla="*/ 382627 h 763371"/>
                    <a:gd name="connsiteX2" fmla="*/ 0 w 239757"/>
                    <a:gd name="connsiteY2" fmla="*/ 763371 h 763371"/>
                    <a:gd name="connsiteX3" fmla="*/ 185875 w 239757"/>
                    <a:gd name="connsiteY3" fmla="*/ 627224 h 763371"/>
                    <a:gd name="connsiteX4" fmla="*/ 191991 w 239757"/>
                    <a:gd name="connsiteY4" fmla="*/ 175629 h 763371"/>
                    <a:gd name="connsiteX5" fmla="*/ 3364 w 239757"/>
                    <a:gd name="connsiteY5" fmla="*/ 0 h 763371"/>
                    <a:gd name="connsiteX0" fmla="*/ 3364 w 239757"/>
                    <a:gd name="connsiteY0" fmla="*/ 0 h 763371"/>
                    <a:gd name="connsiteX1" fmla="*/ 239756 w 239757"/>
                    <a:gd name="connsiteY1" fmla="*/ 382627 h 763371"/>
                    <a:gd name="connsiteX2" fmla="*/ 0 w 239757"/>
                    <a:gd name="connsiteY2" fmla="*/ 763371 h 763371"/>
                    <a:gd name="connsiteX0" fmla="*/ 3364 w 239757"/>
                    <a:gd name="connsiteY0" fmla="*/ 0 h 763371"/>
                    <a:gd name="connsiteX1" fmla="*/ 239756 w 239757"/>
                    <a:gd name="connsiteY1" fmla="*/ 382627 h 763371"/>
                    <a:gd name="connsiteX2" fmla="*/ 0 w 239757"/>
                    <a:gd name="connsiteY2" fmla="*/ 763371 h 763371"/>
                    <a:gd name="connsiteX3" fmla="*/ 185875 w 239757"/>
                    <a:gd name="connsiteY3" fmla="*/ 627224 h 763371"/>
                    <a:gd name="connsiteX4" fmla="*/ 199611 w 239757"/>
                    <a:gd name="connsiteY4" fmla="*/ 175629 h 763371"/>
                    <a:gd name="connsiteX5" fmla="*/ 3364 w 239757"/>
                    <a:gd name="connsiteY5" fmla="*/ 0 h 763371"/>
                    <a:gd name="connsiteX0" fmla="*/ 3364 w 239757"/>
                    <a:gd name="connsiteY0" fmla="*/ 0 h 763371"/>
                    <a:gd name="connsiteX1" fmla="*/ 239756 w 239757"/>
                    <a:gd name="connsiteY1" fmla="*/ 382627 h 763371"/>
                    <a:gd name="connsiteX2" fmla="*/ 0 w 239757"/>
                    <a:gd name="connsiteY2" fmla="*/ 763371 h 763371"/>
                    <a:gd name="connsiteX0" fmla="*/ 3364 w 239757"/>
                    <a:gd name="connsiteY0" fmla="*/ 0 h 763371"/>
                    <a:gd name="connsiteX1" fmla="*/ 239756 w 239757"/>
                    <a:gd name="connsiteY1" fmla="*/ 382627 h 763371"/>
                    <a:gd name="connsiteX2" fmla="*/ 0 w 239757"/>
                    <a:gd name="connsiteY2" fmla="*/ 763371 h 763371"/>
                    <a:gd name="connsiteX3" fmla="*/ 185875 w 239757"/>
                    <a:gd name="connsiteY3" fmla="*/ 627224 h 763371"/>
                    <a:gd name="connsiteX4" fmla="*/ 119601 w 239757"/>
                    <a:gd name="connsiteY4" fmla="*/ 181344 h 763371"/>
                    <a:gd name="connsiteX5" fmla="*/ 3364 w 239757"/>
                    <a:gd name="connsiteY5" fmla="*/ 0 h 763371"/>
                    <a:gd name="connsiteX0" fmla="*/ 3364 w 239757"/>
                    <a:gd name="connsiteY0" fmla="*/ 0 h 763371"/>
                    <a:gd name="connsiteX1" fmla="*/ 239756 w 239757"/>
                    <a:gd name="connsiteY1" fmla="*/ 382627 h 763371"/>
                    <a:gd name="connsiteX2" fmla="*/ 0 w 239757"/>
                    <a:gd name="connsiteY2" fmla="*/ 763371 h 763371"/>
                    <a:gd name="connsiteX0" fmla="*/ 3364 w 239757"/>
                    <a:gd name="connsiteY0" fmla="*/ 0 h 763371"/>
                    <a:gd name="connsiteX1" fmla="*/ 239756 w 239757"/>
                    <a:gd name="connsiteY1" fmla="*/ 382627 h 763371"/>
                    <a:gd name="connsiteX2" fmla="*/ 0 w 239757"/>
                    <a:gd name="connsiteY2" fmla="*/ 763371 h 763371"/>
                    <a:gd name="connsiteX3" fmla="*/ 185875 w 239757"/>
                    <a:gd name="connsiteY3" fmla="*/ 627224 h 763371"/>
                    <a:gd name="connsiteX4" fmla="*/ 193896 w 239757"/>
                    <a:gd name="connsiteY4" fmla="*/ 169914 h 763371"/>
                    <a:gd name="connsiteX5" fmla="*/ 3364 w 239757"/>
                    <a:gd name="connsiteY5" fmla="*/ 0 h 763371"/>
                    <a:gd name="connsiteX0" fmla="*/ 3364 w 239757"/>
                    <a:gd name="connsiteY0" fmla="*/ 0 h 763371"/>
                    <a:gd name="connsiteX1" fmla="*/ 239756 w 239757"/>
                    <a:gd name="connsiteY1" fmla="*/ 382627 h 763371"/>
                    <a:gd name="connsiteX2" fmla="*/ 0 w 239757"/>
                    <a:gd name="connsiteY2" fmla="*/ 763371 h 7633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39757" h="763371" stroke="0" extrusionOk="0">
                      <a:moveTo>
                        <a:pt x="3364" y="0"/>
                      </a:moveTo>
                      <a:cubicBezTo>
                        <a:pt x="137506" y="17778"/>
                        <a:pt x="240160" y="183934"/>
                        <a:pt x="239756" y="382627"/>
                      </a:cubicBezTo>
                      <a:cubicBezTo>
                        <a:pt x="239350" y="582350"/>
                        <a:pt x="134984" y="748088"/>
                        <a:pt x="0" y="763371"/>
                      </a:cubicBezTo>
                      <a:lnTo>
                        <a:pt x="185875" y="627224"/>
                      </a:lnTo>
                      <a:cubicBezTo>
                        <a:pt x="187914" y="476692"/>
                        <a:pt x="191857" y="320446"/>
                        <a:pt x="193896" y="169914"/>
                      </a:cubicBezTo>
                      <a:lnTo>
                        <a:pt x="3364" y="0"/>
                      </a:lnTo>
                      <a:close/>
                    </a:path>
                    <a:path w="239757" h="763371" fill="none">
                      <a:moveTo>
                        <a:pt x="3364" y="0"/>
                      </a:moveTo>
                      <a:cubicBezTo>
                        <a:pt x="137506" y="17778"/>
                        <a:pt x="240160" y="183934"/>
                        <a:pt x="239756" y="382627"/>
                      </a:cubicBezTo>
                      <a:cubicBezTo>
                        <a:pt x="239350" y="582350"/>
                        <a:pt x="134984" y="748088"/>
                        <a:pt x="0" y="763371"/>
                      </a:cubicBezTo>
                    </a:path>
                  </a:pathLst>
                </a:custGeom>
                <a:noFill/>
                <a:ln w="19050" cap="flat" cmpd="sng" algn="ctr">
                  <a:solidFill>
                    <a:srgbClr val="B4BABD">
                      <a:lumMod val="75000"/>
                    </a:srgbClr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68580" tIns="34290" rIns="68580" bIns="3429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defTabSz="685800" eaLnBrk="0" hangingPunct="0">
                    <a:defRPr/>
                  </a:pPr>
                  <a:endParaRPr lang="en-US" sz="1200" b="1" kern="0">
                    <a:solidFill>
                      <a:srgbClr val="061922"/>
                    </a:solidFill>
                    <a:latin typeface="+mn-lt"/>
                    <a:cs typeface="Arial" pitchFamily="34" charset="0"/>
                  </a:endParaRPr>
                </a:p>
              </p:txBody>
            </p:sp>
          </p:grpSp>
          <p:cxnSp>
            <p:nvCxnSpPr>
              <p:cNvPr id="141" name="Straight Connector 140"/>
              <p:cNvCxnSpPr/>
              <p:nvPr/>
            </p:nvCxnSpPr>
            <p:spPr bwMode="auto">
              <a:xfrm rot="5400000">
                <a:off x="6204885" y="2476590"/>
                <a:ext cx="159671" cy="0"/>
              </a:xfrm>
              <a:prstGeom prst="line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939598">
                    <a:lumMod val="5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45" name="Straight Connector 144"/>
              <p:cNvCxnSpPr/>
              <p:nvPr/>
            </p:nvCxnSpPr>
            <p:spPr bwMode="auto">
              <a:xfrm>
                <a:off x="6461054" y="2038682"/>
                <a:ext cx="0" cy="510720"/>
              </a:xfrm>
              <a:prstGeom prst="line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939598">
                    <a:lumMod val="5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56" name="Group 155"/>
            <p:cNvGrpSpPr/>
            <p:nvPr/>
          </p:nvGrpSpPr>
          <p:grpSpPr>
            <a:xfrm>
              <a:off x="3982251" y="2276807"/>
              <a:ext cx="403877" cy="1501588"/>
              <a:chOff x="6160835" y="2038682"/>
              <a:chExt cx="403877" cy="1501588"/>
            </a:xfrm>
          </p:grpSpPr>
          <p:cxnSp>
            <p:nvCxnSpPr>
              <p:cNvPr id="157" name="Straight Connector 156"/>
              <p:cNvCxnSpPr/>
              <p:nvPr/>
            </p:nvCxnSpPr>
            <p:spPr>
              <a:xfrm flipV="1">
                <a:off x="6369332" y="2845440"/>
                <a:ext cx="0" cy="694830"/>
              </a:xfrm>
              <a:prstGeom prst="line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939598">
                    <a:lumMod val="5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59" name="Rectangle 158"/>
              <p:cNvSpPr/>
              <p:nvPr/>
            </p:nvSpPr>
            <p:spPr>
              <a:xfrm flipH="1">
                <a:off x="6172639" y="2095689"/>
                <a:ext cx="304891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defTabSz="685800">
                  <a:defRPr/>
                </a:pPr>
                <a:r>
                  <a:rPr lang="en-US" sz="1200" kern="0" dirty="0" smtClean="0">
                    <a:solidFill>
                      <a:srgbClr val="061922"/>
                    </a:solidFill>
                    <a:latin typeface="+mn-lt"/>
                  </a:rPr>
                  <a:t>y</a:t>
                </a:r>
                <a:r>
                  <a:rPr lang="en-US" sz="1200" kern="0" baseline="-25000" dirty="0" smtClean="0">
                    <a:solidFill>
                      <a:srgbClr val="061922"/>
                    </a:solidFill>
                    <a:latin typeface="+mn-lt"/>
                  </a:rPr>
                  <a:t>2</a:t>
                </a:r>
                <a:endParaRPr lang="en-US" sz="1200" kern="0" baseline="-25000" dirty="0">
                  <a:solidFill>
                    <a:srgbClr val="061922"/>
                  </a:solidFill>
                  <a:latin typeface="+mn-lt"/>
                </a:endParaRPr>
              </a:p>
            </p:txBody>
          </p:sp>
          <p:grpSp>
            <p:nvGrpSpPr>
              <p:cNvPr id="167" name="Group 166"/>
              <p:cNvGrpSpPr/>
              <p:nvPr/>
            </p:nvGrpSpPr>
            <p:grpSpPr>
              <a:xfrm>
                <a:off x="6160835" y="2458261"/>
                <a:ext cx="403877" cy="393792"/>
                <a:chOff x="7455820" y="2242929"/>
                <a:chExt cx="403877" cy="393792"/>
              </a:xfrm>
            </p:grpSpPr>
            <p:sp>
              <p:nvSpPr>
                <p:cNvPr id="171" name="Flowchart: Delay 18"/>
                <p:cNvSpPr/>
                <p:nvPr/>
              </p:nvSpPr>
              <p:spPr bwMode="auto">
                <a:xfrm rot="5400000" flipH="1">
                  <a:off x="7501958" y="2278982"/>
                  <a:ext cx="311601" cy="403877"/>
                </a:xfrm>
                <a:custGeom>
                  <a:avLst/>
                  <a:gdLst>
                    <a:gd name="connsiteX0" fmla="*/ 1667 w 10000"/>
                    <a:gd name="connsiteY0" fmla="*/ 0 h 10000"/>
                    <a:gd name="connsiteX1" fmla="*/ 10000 w 10000"/>
                    <a:gd name="connsiteY1" fmla="*/ 0 h 10000"/>
                    <a:gd name="connsiteX2" fmla="*/ 8333 w 10000"/>
                    <a:gd name="connsiteY2" fmla="*/ 5000 h 10000"/>
                    <a:gd name="connsiteX3" fmla="*/ 10000 w 10000"/>
                    <a:gd name="connsiteY3" fmla="*/ 10000 h 10000"/>
                    <a:gd name="connsiteX4" fmla="*/ 1667 w 10000"/>
                    <a:gd name="connsiteY4" fmla="*/ 10000 h 10000"/>
                    <a:gd name="connsiteX5" fmla="*/ 0 w 10000"/>
                    <a:gd name="connsiteY5" fmla="*/ 5000 h 10000"/>
                    <a:gd name="connsiteX6" fmla="*/ 1667 w 10000"/>
                    <a:gd name="connsiteY6" fmla="*/ 0 h 10000"/>
                    <a:gd name="connsiteX0" fmla="*/ 3276 w 10041"/>
                    <a:gd name="connsiteY0" fmla="*/ 0 h 10023"/>
                    <a:gd name="connsiteX1" fmla="*/ 10041 w 10041"/>
                    <a:gd name="connsiteY1" fmla="*/ 23 h 10023"/>
                    <a:gd name="connsiteX2" fmla="*/ 8374 w 10041"/>
                    <a:gd name="connsiteY2" fmla="*/ 5023 h 10023"/>
                    <a:gd name="connsiteX3" fmla="*/ 10041 w 10041"/>
                    <a:gd name="connsiteY3" fmla="*/ 10023 h 10023"/>
                    <a:gd name="connsiteX4" fmla="*/ 1708 w 10041"/>
                    <a:gd name="connsiteY4" fmla="*/ 10023 h 10023"/>
                    <a:gd name="connsiteX5" fmla="*/ 41 w 10041"/>
                    <a:gd name="connsiteY5" fmla="*/ 5023 h 10023"/>
                    <a:gd name="connsiteX6" fmla="*/ 3276 w 10041"/>
                    <a:gd name="connsiteY6" fmla="*/ 0 h 10023"/>
                    <a:gd name="connsiteX0" fmla="*/ 3237 w 10002"/>
                    <a:gd name="connsiteY0" fmla="*/ 0 h 10070"/>
                    <a:gd name="connsiteX1" fmla="*/ 10002 w 10002"/>
                    <a:gd name="connsiteY1" fmla="*/ 23 h 10070"/>
                    <a:gd name="connsiteX2" fmla="*/ 8335 w 10002"/>
                    <a:gd name="connsiteY2" fmla="*/ 5023 h 10070"/>
                    <a:gd name="connsiteX3" fmla="*/ 10002 w 10002"/>
                    <a:gd name="connsiteY3" fmla="*/ 10023 h 10070"/>
                    <a:gd name="connsiteX4" fmla="*/ 3656 w 10002"/>
                    <a:gd name="connsiteY4" fmla="*/ 10070 h 10070"/>
                    <a:gd name="connsiteX5" fmla="*/ 2 w 10002"/>
                    <a:gd name="connsiteY5" fmla="*/ 5023 h 10070"/>
                    <a:gd name="connsiteX6" fmla="*/ 3237 w 10002"/>
                    <a:gd name="connsiteY6" fmla="*/ 0 h 10070"/>
                    <a:gd name="connsiteX0" fmla="*/ 3237 w 10002"/>
                    <a:gd name="connsiteY0" fmla="*/ 0 h 10070"/>
                    <a:gd name="connsiteX1" fmla="*/ 10002 w 10002"/>
                    <a:gd name="connsiteY1" fmla="*/ 23 h 10070"/>
                    <a:gd name="connsiteX2" fmla="*/ 7439 w 10002"/>
                    <a:gd name="connsiteY2" fmla="*/ 5023 h 10070"/>
                    <a:gd name="connsiteX3" fmla="*/ 10002 w 10002"/>
                    <a:gd name="connsiteY3" fmla="*/ 10023 h 10070"/>
                    <a:gd name="connsiteX4" fmla="*/ 3656 w 10002"/>
                    <a:gd name="connsiteY4" fmla="*/ 10070 h 10070"/>
                    <a:gd name="connsiteX5" fmla="*/ 2 w 10002"/>
                    <a:gd name="connsiteY5" fmla="*/ 5023 h 10070"/>
                    <a:gd name="connsiteX6" fmla="*/ 3237 w 10002"/>
                    <a:gd name="connsiteY6" fmla="*/ 0 h 10070"/>
                    <a:gd name="connsiteX0" fmla="*/ 2761 w 9526"/>
                    <a:gd name="connsiteY0" fmla="*/ 0 h 10070"/>
                    <a:gd name="connsiteX1" fmla="*/ 9526 w 9526"/>
                    <a:gd name="connsiteY1" fmla="*/ 23 h 10070"/>
                    <a:gd name="connsiteX2" fmla="*/ 6963 w 9526"/>
                    <a:gd name="connsiteY2" fmla="*/ 5023 h 10070"/>
                    <a:gd name="connsiteX3" fmla="*/ 9526 w 9526"/>
                    <a:gd name="connsiteY3" fmla="*/ 10023 h 10070"/>
                    <a:gd name="connsiteX4" fmla="*/ 3180 w 9526"/>
                    <a:gd name="connsiteY4" fmla="*/ 10070 h 10070"/>
                    <a:gd name="connsiteX5" fmla="*/ 2 w 9526"/>
                    <a:gd name="connsiteY5" fmla="*/ 5023 h 10070"/>
                    <a:gd name="connsiteX6" fmla="*/ 2761 w 9526"/>
                    <a:gd name="connsiteY6" fmla="*/ 0 h 10070"/>
                    <a:gd name="connsiteX0" fmla="*/ 2898 w 10000"/>
                    <a:gd name="connsiteY0" fmla="*/ 0 h 10000"/>
                    <a:gd name="connsiteX1" fmla="*/ 10000 w 10000"/>
                    <a:gd name="connsiteY1" fmla="*/ 23 h 10000"/>
                    <a:gd name="connsiteX2" fmla="*/ 7309 w 10000"/>
                    <a:gd name="connsiteY2" fmla="*/ 4988 h 10000"/>
                    <a:gd name="connsiteX3" fmla="*/ 10000 w 10000"/>
                    <a:gd name="connsiteY3" fmla="*/ 9953 h 10000"/>
                    <a:gd name="connsiteX4" fmla="*/ 3338 w 10000"/>
                    <a:gd name="connsiteY4" fmla="*/ 10000 h 10000"/>
                    <a:gd name="connsiteX5" fmla="*/ 2 w 10000"/>
                    <a:gd name="connsiteY5" fmla="*/ 4988 h 10000"/>
                    <a:gd name="connsiteX6" fmla="*/ 2898 w 10000"/>
                    <a:gd name="connsiteY6" fmla="*/ 0 h 10000"/>
                    <a:gd name="connsiteX0" fmla="*/ 4522 w 10008"/>
                    <a:gd name="connsiteY0" fmla="*/ 0 h 10000"/>
                    <a:gd name="connsiteX1" fmla="*/ 10008 w 10008"/>
                    <a:gd name="connsiteY1" fmla="*/ 23 h 10000"/>
                    <a:gd name="connsiteX2" fmla="*/ 7317 w 10008"/>
                    <a:gd name="connsiteY2" fmla="*/ 4988 h 10000"/>
                    <a:gd name="connsiteX3" fmla="*/ 10008 w 10008"/>
                    <a:gd name="connsiteY3" fmla="*/ 9953 h 10000"/>
                    <a:gd name="connsiteX4" fmla="*/ 3346 w 10008"/>
                    <a:gd name="connsiteY4" fmla="*/ 10000 h 10000"/>
                    <a:gd name="connsiteX5" fmla="*/ 10 w 10008"/>
                    <a:gd name="connsiteY5" fmla="*/ 4988 h 10000"/>
                    <a:gd name="connsiteX6" fmla="*/ 4522 w 10008"/>
                    <a:gd name="connsiteY6" fmla="*/ 0 h 10000"/>
                    <a:gd name="connsiteX0" fmla="*/ 4518 w 10004"/>
                    <a:gd name="connsiteY0" fmla="*/ 0 h 10000"/>
                    <a:gd name="connsiteX1" fmla="*/ 10004 w 10004"/>
                    <a:gd name="connsiteY1" fmla="*/ 23 h 10000"/>
                    <a:gd name="connsiteX2" fmla="*/ 7313 w 10004"/>
                    <a:gd name="connsiteY2" fmla="*/ 4988 h 10000"/>
                    <a:gd name="connsiteX3" fmla="*/ 10004 w 10004"/>
                    <a:gd name="connsiteY3" fmla="*/ 9953 h 10000"/>
                    <a:gd name="connsiteX4" fmla="*/ 5516 w 10004"/>
                    <a:gd name="connsiteY4" fmla="*/ 10000 h 10000"/>
                    <a:gd name="connsiteX5" fmla="*/ 6 w 10004"/>
                    <a:gd name="connsiteY5" fmla="*/ 4988 h 10000"/>
                    <a:gd name="connsiteX6" fmla="*/ 4518 w 10004"/>
                    <a:gd name="connsiteY6" fmla="*/ 0 h 10000"/>
                    <a:gd name="connsiteX0" fmla="*/ 4530 w 10016"/>
                    <a:gd name="connsiteY0" fmla="*/ 0 h 10047"/>
                    <a:gd name="connsiteX1" fmla="*/ 10016 w 10016"/>
                    <a:gd name="connsiteY1" fmla="*/ 23 h 10047"/>
                    <a:gd name="connsiteX2" fmla="*/ 7325 w 10016"/>
                    <a:gd name="connsiteY2" fmla="*/ 4988 h 10047"/>
                    <a:gd name="connsiteX3" fmla="*/ 10016 w 10016"/>
                    <a:gd name="connsiteY3" fmla="*/ 9953 h 10047"/>
                    <a:gd name="connsiteX4" fmla="*/ 6439 w 10016"/>
                    <a:gd name="connsiteY4" fmla="*/ 10047 h 10047"/>
                    <a:gd name="connsiteX5" fmla="*/ 18 w 10016"/>
                    <a:gd name="connsiteY5" fmla="*/ 4988 h 10047"/>
                    <a:gd name="connsiteX6" fmla="*/ 4530 w 10016"/>
                    <a:gd name="connsiteY6" fmla="*/ 0 h 10047"/>
                    <a:gd name="connsiteX0" fmla="*/ 5602 w 10001"/>
                    <a:gd name="connsiteY0" fmla="*/ 0 h 10024"/>
                    <a:gd name="connsiteX1" fmla="*/ 10001 w 10001"/>
                    <a:gd name="connsiteY1" fmla="*/ 0 h 10024"/>
                    <a:gd name="connsiteX2" fmla="*/ 7310 w 10001"/>
                    <a:gd name="connsiteY2" fmla="*/ 4965 h 10024"/>
                    <a:gd name="connsiteX3" fmla="*/ 10001 w 10001"/>
                    <a:gd name="connsiteY3" fmla="*/ 9930 h 10024"/>
                    <a:gd name="connsiteX4" fmla="*/ 6424 w 10001"/>
                    <a:gd name="connsiteY4" fmla="*/ 10024 h 10024"/>
                    <a:gd name="connsiteX5" fmla="*/ 3 w 10001"/>
                    <a:gd name="connsiteY5" fmla="*/ 4965 h 10024"/>
                    <a:gd name="connsiteX6" fmla="*/ 5602 w 10001"/>
                    <a:gd name="connsiteY6" fmla="*/ 0 h 10024"/>
                    <a:gd name="connsiteX0" fmla="*/ 6158 w 9999"/>
                    <a:gd name="connsiteY0" fmla="*/ 0 h 10024"/>
                    <a:gd name="connsiteX1" fmla="*/ 9999 w 9999"/>
                    <a:gd name="connsiteY1" fmla="*/ 0 h 10024"/>
                    <a:gd name="connsiteX2" fmla="*/ 7308 w 9999"/>
                    <a:gd name="connsiteY2" fmla="*/ 4965 h 10024"/>
                    <a:gd name="connsiteX3" fmla="*/ 9999 w 9999"/>
                    <a:gd name="connsiteY3" fmla="*/ 9930 h 10024"/>
                    <a:gd name="connsiteX4" fmla="*/ 6422 w 9999"/>
                    <a:gd name="connsiteY4" fmla="*/ 10024 h 10024"/>
                    <a:gd name="connsiteX5" fmla="*/ 1 w 9999"/>
                    <a:gd name="connsiteY5" fmla="*/ 4965 h 10024"/>
                    <a:gd name="connsiteX6" fmla="*/ 6158 w 9999"/>
                    <a:gd name="connsiteY6" fmla="*/ 0 h 10024"/>
                    <a:gd name="connsiteX0" fmla="*/ 6159 w 10000"/>
                    <a:gd name="connsiteY0" fmla="*/ 0 h 10000"/>
                    <a:gd name="connsiteX1" fmla="*/ 10000 w 10000"/>
                    <a:gd name="connsiteY1" fmla="*/ 0 h 10000"/>
                    <a:gd name="connsiteX2" fmla="*/ 7309 w 10000"/>
                    <a:gd name="connsiteY2" fmla="*/ 4953 h 10000"/>
                    <a:gd name="connsiteX3" fmla="*/ 10000 w 10000"/>
                    <a:gd name="connsiteY3" fmla="*/ 9906 h 10000"/>
                    <a:gd name="connsiteX4" fmla="*/ 6423 w 10000"/>
                    <a:gd name="connsiteY4" fmla="*/ 10000 h 10000"/>
                    <a:gd name="connsiteX5" fmla="*/ 1 w 10000"/>
                    <a:gd name="connsiteY5" fmla="*/ 4953 h 10000"/>
                    <a:gd name="connsiteX6" fmla="*/ 6159 w 10000"/>
                    <a:gd name="connsiteY6" fmla="*/ 0 h 10000"/>
                    <a:gd name="connsiteX0" fmla="*/ 6159 w 10000"/>
                    <a:gd name="connsiteY0" fmla="*/ 0 h 10000"/>
                    <a:gd name="connsiteX1" fmla="*/ 10000 w 10000"/>
                    <a:gd name="connsiteY1" fmla="*/ 0 h 10000"/>
                    <a:gd name="connsiteX2" fmla="*/ 7309 w 10000"/>
                    <a:gd name="connsiteY2" fmla="*/ 4953 h 10000"/>
                    <a:gd name="connsiteX3" fmla="*/ 10000 w 10000"/>
                    <a:gd name="connsiteY3" fmla="*/ 9906 h 10000"/>
                    <a:gd name="connsiteX4" fmla="*/ 6423 w 10000"/>
                    <a:gd name="connsiteY4" fmla="*/ 10000 h 10000"/>
                    <a:gd name="connsiteX5" fmla="*/ 1 w 10000"/>
                    <a:gd name="connsiteY5" fmla="*/ 4953 h 10000"/>
                    <a:gd name="connsiteX6" fmla="*/ 6159 w 10000"/>
                    <a:gd name="connsiteY6" fmla="*/ 0 h 10000"/>
                    <a:gd name="connsiteX0" fmla="*/ 6159 w 10000"/>
                    <a:gd name="connsiteY0" fmla="*/ 0 h 10000"/>
                    <a:gd name="connsiteX1" fmla="*/ 10000 w 10000"/>
                    <a:gd name="connsiteY1" fmla="*/ 0 h 10000"/>
                    <a:gd name="connsiteX2" fmla="*/ 7309 w 10000"/>
                    <a:gd name="connsiteY2" fmla="*/ 4953 h 10000"/>
                    <a:gd name="connsiteX3" fmla="*/ 10000 w 10000"/>
                    <a:gd name="connsiteY3" fmla="*/ 9906 h 10000"/>
                    <a:gd name="connsiteX4" fmla="*/ 6423 w 10000"/>
                    <a:gd name="connsiteY4" fmla="*/ 10000 h 10000"/>
                    <a:gd name="connsiteX5" fmla="*/ 1 w 10000"/>
                    <a:gd name="connsiteY5" fmla="*/ 4953 h 10000"/>
                    <a:gd name="connsiteX6" fmla="*/ 6159 w 10000"/>
                    <a:gd name="connsiteY6" fmla="*/ 0 h 10000"/>
                    <a:gd name="connsiteX0" fmla="*/ 6159 w 10000"/>
                    <a:gd name="connsiteY0" fmla="*/ 0 h 10000"/>
                    <a:gd name="connsiteX1" fmla="*/ 10000 w 10000"/>
                    <a:gd name="connsiteY1" fmla="*/ 0 h 10000"/>
                    <a:gd name="connsiteX2" fmla="*/ 7309 w 10000"/>
                    <a:gd name="connsiteY2" fmla="*/ 4953 h 10000"/>
                    <a:gd name="connsiteX3" fmla="*/ 10000 w 10000"/>
                    <a:gd name="connsiteY3" fmla="*/ 9906 h 10000"/>
                    <a:gd name="connsiteX4" fmla="*/ 6423 w 10000"/>
                    <a:gd name="connsiteY4" fmla="*/ 10000 h 10000"/>
                    <a:gd name="connsiteX5" fmla="*/ 1 w 10000"/>
                    <a:gd name="connsiteY5" fmla="*/ 4953 h 10000"/>
                    <a:gd name="connsiteX6" fmla="*/ 6159 w 10000"/>
                    <a:gd name="connsiteY6" fmla="*/ 0 h 10000"/>
                    <a:gd name="connsiteX0" fmla="*/ 6159 w 10000"/>
                    <a:gd name="connsiteY0" fmla="*/ 0 h 10000"/>
                    <a:gd name="connsiteX1" fmla="*/ 10000 w 10000"/>
                    <a:gd name="connsiteY1" fmla="*/ 0 h 10000"/>
                    <a:gd name="connsiteX2" fmla="*/ 7309 w 10000"/>
                    <a:gd name="connsiteY2" fmla="*/ 4953 h 10000"/>
                    <a:gd name="connsiteX3" fmla="*/ 10000 w 10000"/>
                    <a:gd name="connsiteY3" fmla="*/ 9906 h 10000"/>
                    <a:gd name="connsiteX4" fmla="*/ 6423 w 10000"/>
                    <a:gd name="connsiteY4" fmla="*/ 10000 h 10000"/>
                    <a:gd name="connsiteX5" fmla="*/ 1 w 10000"/>
                    <a:gd name="connsiteY5" fmla="*/ 4953 h 10000"/>
                    <a:gd name="connsiteX6" fmla="*/ 6159 w 10000"/>
                    <a:gd name="connsiteY6" fmla="*/ 0 h 10000"/>
                    <a:gd name="connsiteX0" fmla="*/ 6159 w 10000"/>
                    <a:gd name="connsiteY0" fmla="*/ 0 h 10000"/>
                    <a:gd name="connsiteX1" fmla="*/ 10000 w 10000"/>
                    <a:gd name="connsiteY1" fmla="*/ 0 h 10000"/>
                    <a:gd name="connsiteX2" fmla="*/ 7309 w 10000"/>
                    <a:gd name="connsiteY2" fmla="*/ 4953 h 10000"/>
                    <a:gd name="connsiteX3" fmla="*/ 10000 w 10000"/>
                    <a:gd name="connsiteY3" fmla="*/ 9906 h 10000"/>
                    <a:gd name="connsiteX4" fmla="*/ 6423 w 10000"/>
                    <a:gd name="connsiteY4" fmla="*/ 10000 h 10000"/>
                    <a:gd name="connsiteX5" fmla="*/ 1 w 10000"/>
                    <a:gd name="connsiteY5" fmla="*/ 4953 h 10000"/>
                    <a:gd name="connsiteX6" fmla="*/ 6159 w 10000"/>
                    <a:gd name="connsiteY6" fmla="*/ 0 h 10000"/>
                    <a:gd name="connsiteX0" fmla="*/ 5924 w 9765"/>
                    <a:gd name="connsiteY0" fmla="*/ 0 h 10000"/>
                    <a:gd name="connsiteX1" fmla="*/ 9765 w 9765"/>
                    <a:gd name="connsiteY1" fmla="*/ 0 h 10000"/>
                    <a:gd name="connsiteX2" fmla="*/ 7074 w 9765"/>
                    <a:gd name="connsiteY2" fmla="*/ 4953 h 10000"/>
                    <a:gd name="connsiteX3" fmla="*/ 9765 w 9765"/>
                    <a:gd name="connsiteY3" fmla="*/ 9906 h 10000"/>
                    <a:gd name="connsiteX4" fmla="*/ 6188 w 9765"/>
                    <a:gd name="connsiteY4" fmla="*/ 10000 h 10000"/>
                    <a:gd name="connsiteX5" fmla="*/ 1 w 9765"/>
                    <a:gd name="connsiteY5" fmla="*/ 4953 h 10000"/>
                    <a:gd name="connsiteX6" fmla="*/ 5924 w 9765"/>
                    <a:gd name="connsiteY6" fmla="*/ 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765" h="10000">
                      <a:moveTo>
                        <a:pt x="5924" y="0"/>
                      </a:moveTo>
                      <a:lnTo>
                        <a:pt x="9765" y="0"/>
                      </a:lnTo>
                      <a:cubicBezTo>
                        <a:pt x="8827" y="232"/>
                        <a:pt x="7074" y="2218"/>
                        <a:pt x="7074" y="4953"/>
                      </a:cubicBezTo>
                      <a:cubicBezTo>
                        <a:pt x="7074" y="7689"/>
                        <a:pt x="8769" y="9558"/>
                        <a:pt x="9765" y="9906"/>
                      </a:cubicBezTo>
                      <a:lnTo>
                        <a:pt x="6188" y="10000"/>
                      </a:lnTo>
                      <a:cubicBezTo>
                        <a:pt x="2576" y="10046"/>
                        <a:pt x="45" y="6620"/>
                        <a:pt x="1" y="4953"/>
                      </a:cubicBezTo>
                      <a:cubicBezTo>
                        <a:pt x="-43" y="3286"/>
                        <a:pt x="1755" y="0"/>
                        <a:pt x="5924" y="0"/>
                      </a:cubicBezTo>
                      <a:close/>
                    </a:path>
                  </a:pathLst>
                </a:custGeom>
                <a:solidFill>
                  <a:srgbClr val="B4BABD">
                    <a:lumMod val="40000"/>
                    <a:lumOff val="60000"/>
                  </a:srgbClr>
                </a:solidFill>
                <a:ln w="19050" cap="flat" cmpd="sng" algn="ctr">
                  <a:solidFill>
                    <a:srgbClr val="B4BABD">
                      <a:lumMod val="75000"/>
                    </a:srgbClr>
                  </a:solidFill>
                  <a:prstDash val="solid"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68580" tIns="34290" rIns="68580" bIns="3429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5800" eaLnBrk="0" hangingPunct="0">
                    <a:defRPr/>
                  </a:pPr>
                  <a:endParaRPr lang="en-US" sz="1200" b="1" kern="0">
                    <a:solidFill>
                      <a:srgbClr val="061922"/>
                    </a:solidFill>
                    <a:latin typeface="+mn-lt"/>
                    <a:cs typeface="Arial" pitchFamily="34" charset="0"/>
                  </a:endParaRPr>
                </a:p>
              </p:txBody>
            </p:sp>
            <p:sp>
              <p:nvSpPr>
                <p:cNvPr id="172" name="Arc 21"/>
                <p:cNvSpPr/>
                <p:nvPr/>
              </p:nvSpPr>
              <p:spPr bwMode="auto">
                <a:xfrm rot="5400000">
                  <a:off x="7598262" y="2114052"/>
                  <a:ext cx="118023" cy="375777"/>
                </a:xfrm>
                <a:custGeom>
                  <a:avLst/>
                  <a:gdLst>
                    <a:gd name="connsiteX0" fmla="*/ 282852 w 519245"/>
                    <a:gd name="connsiteY0" fmla="*/ 1536 h 766030"/>
                    <a:gd name="connsiteX1" fmla="*/ 519244 w 519245"/>
                    <a:gd name="connsiteY1" fmla="*/ 384163 h 766030"/>
                    <a:gd name="connsiteX2" fmla="*/ 279488 w 519245"/>
                    <a:gd name="connsiteY2" fmla="*/ 764907 h 766030"/>
                    <a:gd name="connsiteX3" fmla="*/ 259623 w 519245"/>
                    <a:gd name="connsiteY3" fmla="*/ 383015 h 766030"/>
                    <a:gd name="connsiteX4" fmla="*/ 282852 w 519245"/>
                    <a:gd name="connsiteY4" fmla="*/ 1536 h 766030"/>
                    <a:gd name="connsiteX0" fmla="*/ 282852 w 519245"/>
                    <a:gd name="connsiteY0" fmla="*/ 1536 h 766030"/>
                    <a:gd name="connsiteX1" fmla="*/ 519244 w 519245"/>
                    <a:gd name="connsiteY1" fmla="*/ 384163 h 766030"/>
                    <a:gd name="connsiteX2" fmla="*/ 279488 w 519245"/>
                    <a:gd name="connsiteY2" fmla="*/ 764907 h 766030"/>
                    <a:gd name="connsiteX0" fmla="*/ 23229 w 259622"/>
                    <a:gd name="connsiteY0" fmla="*/ 0 h 763371"/>
                    <a:gd name="connsiteX1" fmla="*/ 259621 w 259622"/>
                    <a:gd name="connsiteY1" fmla="*/ 382627 h 763371"/>
                    <a:gd name="connsiteX2" fmla="*/ 19865 w 259622"/>
                    <a:gd name="connsiteY2" fmla="*/ 763371 h 763371"/>
                    <a:gd name="connsiteX3" fmla="*/ 0 w 259622"/>
                    <a:gd name="connsiteY3" fmla="*/ 381479 h 763371"/>
                    <a:gd name="connsiteX4" fmla="*/ 4211 w 259622"/>
                    <a:gd name="connsiteY4" fmla="*/ 284214 h 763371"/>
                    <a:gd name="connsiteX5" fmla="*/ 23229 w 259622"/>
                    <a:gd name="connsiteY5" fmla="*/ 0 h 763371"/>
                    <a:gd name="connsiteX0" fmla="*/ 23229 w 259622"/>
                    <a:gd name="connsiteY0" fmla="*/ 0 h 763371"/>
                    <a:gd name="connsiteX1" fmla="*/ 259621 w 259622"/>
                    <a:gd name="connsiteY1" fmla="*/ 382627 h 763371"/>
                    <a:gd name="connsiteX2" fmla="*/ 19865 w 259622"/>
                    <a:gd name="connsiteY2" fmla="*/ 763371 h 763371"/>
                    <a:gd name="connsiteX0" fmla="*/ 23229 w 259622"/>
                    <a:gd name="connsiteY0" fmla="*/ 0 h 763371"/>
                    <a:gd name="connsiteX1" fmla="*/ 259621 w 259622"/>
                    <a:gd name="connsiteY1" fmla="*/ 382627 h 763371"/>
                    <a:gd name="connsiteX2" fmla="*/ 19865 w 259622"/>
                    <a:gd name="connsiteY2" fmla="*/ 763371 h 763371"/>
                    <a:gd name="connsiteX3" fmla="*/ 0 w 259622"/>
                    <a:gd name="connsiteY3" fmla="*/ 381479 h 763371"/>
                    <a:gd name="connsiteX4" fmla="*/ 211856 w 259622"/>
                    <a:gd name="connsiteY4" fmla="*/ 175629 h 763371"/>
                    <a:gd name="connsiteX5" fmla="*/ 23229 w 259622"/>
                    <a:gd name="connsiteY5" fmla="*/ 0 h 763371"/>
                    <a:gd name="connsiteX0" fmla="*/ 23229 w 259622"/>
                    <a:gd name="connsiteY0" fmla="*/ 0 h 763371"/>
                    <a:gd name="connsiteX1" fmla="*/ 259621 w 259622"/>
                    <a:gd name="connsiteY1" fmla="*/ 382627 h 763371"/>
                    <a:gd name="connsiteX2" fmla="*/ 19865 w 259622"/>
                    <a:gd name="connsiteY2" fmla="*/ 763371 h 763371"/>
                    <a:gd name="connsiteX0" fmla="*/ 3364 w 239757"/>
                    <a:gd name="connsiteY0" fmla="*/ 0 h 763371"/>
                    <a:gd name="connsiteX1" fmla="*/ 239756 w 239757"/>
                    <a:gd name="connsiteY1" fmla="*/ 382627 h 763371"/>
                    <a:gd name="connsiteX2" fmla="*/ 0 w 239757"/>
                    <a:gd name="connsiteY2" fmla="*/ 763371 h 763371"/>
                    <a:gd name="connsiteX3" fmla="*/ 185875 w 239757"/>
                    <a:gd name="connsiteY3" fmla="*/ 627224 h 763371"/>
                    <a:gd name="connsiteX4" fmla="*/ 191991 w 239757"/>
                    <a:gd name="connsiteY4" fmla="*/ 175629 h 763371"/>
                    <a:gd name="connsiteX5" fmla="*/ 3364 w 239757"/>
                    <a:gd name="connsiteY5" fmla="*/ 0 h 763371"/>
                    <a:gd name="connsiteX0" fmla="*/ 3364 w 239757"/>
                    <a:gd name="connsiteY0" fmla="*/ 0 h 763371"/>
                    <a:gd name="connsiteX1" fmla="*/ 239756 w 239757"/>
                    <a:gd name="connsiteY1" fmla="*/ 382627 h 763371"/>
                    <a:gd name="connsiteX2" fmla="*/ 0 w 239757"/>
                    <a:gd name="connsiteY2" fmla="*/ 763371 h 763371"/>
                    <a:gd name="connsiteX0" fmla="*/ 3364 w 239757"/>
                    <a:gd name="connsiteY0" fmla="*/ 0 h 763371"/>
                    <a:gd name="connsiteX1" fmla="*/ 239756 w 239757"/>
                    <a:gd name="connsiteY1" fmla="*/ 382627 h 763371"/>
                    <a:gd name="connsiteX2" fmla="*/ 0 w 239757"/>
                    <a:gd name="connsiteY2" fmla="*/ 763371 h 763371"/>
                    <a:gd name="connsiteX3" fmla="*/ 185875 w 239757"/>
                    <a:gd name="connsiteY3" fmla="*/ 627224 h 763371"/>
                    <a:gd name="connsiteX4" fmla="*/ 199611 w 239757"/>
                    <a:gd name="connsiteY4" fmla="*/ 175629 h 763371"/>
                    <a:gd name="connsiteX5" fmla="*/ 3364 w 239757"/>
                    <a:gd name="connsiteY5" fmla="*/ 0 h 763371"/>
                    <a:gd name="connsiteX0" fmla="*/ 3364 w 239757"/>
                    <a:gd name="connsiteY0" fmla="*/ 0 h 763371"/>
                    <a:gd name="connsiteX1" fmla="*/ 239756 w 239757"/>
                    <a:gd name="connsiteY1" fmla="*/ 382627 h 763371"/>
                    <a:gd name="connsiteX2" fmla="*/ 0 w 239757"/>
                    <a:gd name="connsiteY2" fmla="*/ 763371 h 763371"/>
                    <a:gd name="connsiteX0" fmla="*/ 3364 w 239757"/>
                    <a:gd name="connsiteY0" fmla="*/ 0 h 763371"/>
                    <a:gd name="connsiteX1" fmla="*/ 239756 w 239757"/>
                    <a:gd name="connsiteY1" fmla="*/ 382627 h 763371"/>
                    <a:gd name="connsiteX2" fmla="*/ 0 w 239757"/>
                    <a:gd name="connsiteY2" fmla="*/ 763371 h 763371"/>
                    <a:gd name="connsiteX3" fmla="*/ 185875 w 239757"/>
                    <a:gd name="connsiteY3" fmla="*/ 627224 h 763371"/>
                    <a:gd name="connsiteX4" fmla="*/ 119601 w 239757"/>
                    <a:gd name="connsiteY4" fmla="*/ 181344 h 763371"/>
                    <a:gd name="connsiteX5" fmla="*/ 3364 w 239757"/>
                    <a:gd name="connsiteY5" fmla="*/ 0 h 763371"/>
                    <a:gd name="connsiteX0" fmla="*/ 3364 w 239757"/>
                    <a:gd name="connsiteY0" fmla="*/ 0 h 763371"/>
                    <a:gd name="connsiteX1" fmla="*/ 239756 w 239757"/>
                    <a:gd name="connsiteY1" fmla="*/ 382627 h 763371"/>
                    <a:gd name="connsiteX2" fmla="*/ 0 w 239757"/>
                    <a:gd name="connsiteY2" fmla="*/ 763371 h 763371"/>
                    <a:gd name="connsiteX0" fmla="*/ 3364 w 239757"/>
                    <a:gd name="connsiteY0" fmla="*/ 0 h 763371"/>
                    <a:gd name="connsiteX1" fmla="*/ 239756 w 239757"/>
                    <a:gd name="connsiteY1" fmla="*/ 382627 h 763371"/>
                    <a:gd name="connsiteX2" fmla="*/ 0 w 239757"/>
                    <a:gd name="connsiteY2" fmla="*/ 763371 h 763371"/>
                    <a:gd name="connsiteX3" fmla="*/ 185875 w 239757"/>
                    <a:gd name="connsiteY3" fmla="*/ 627224 h 763371"/>
                    <a:gd name="connsiteX4" fmla="*/ 193896 w 239757"/>
                    <a:gd name="connsiteY4" fmla="*/ 169914 h 763371"/>
                    <a:gd name="connsiteX5" fmla="*/ 3364 w 239757"/>
                    <a:gd name="connsiteY5" fmla="*/ 0 h 763371"/>
                    <a:gd name="connsiteX0" fmla="*/ 3364 w 239757"/>
                    <a:gd name="connsiteY0" fmla="*/ 0 h 763371"/>
                    <a:gd name="connsiteX1" fmla="*/ 239756 w 239757"/>
                    <a:gd name="connsiteY1" fmla="*/ 382627 h 763371"/>
                    <a:gd name="connsiteX2" fmla="*/ 0 w 239757"/>
                    <a:gd name="connsiteY2" fmla="*/ 763371 h 7633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39757" h="763371" stroke="0" extrusionOk="0">
                      <a:moveTo>
                        <a:pt x="3364" y="0"/>
                      </a:moveTo>
                      <a:cubicBezTo>
                        <a:pt x="137506" y="17778"/>
                        <a:pt x="240160" y="183934"/>
                        <a:pt x="239756" y="382627"/>
                      </a:cubicBezTo>
                      <a:cubicBezTo>
                        <a:pt x="239350" y="582350"/>
                        <a:pt x="134984" y="748088"/>
                        <a:pt x="0" y="763371"/>
                      </a:cubicBezTo>
                      <a:lnTo>
                        <a:pt x="185875" y="627224"/>
                      </a:lnTo>
                      <a:cubicBezTo>
                        <a:pt x="187914" y="476692"/>
                        <a:pt x="191857" y="320446"/>
                        <a:pt x="193896" y="169914"/>
                      </a:cubicBezTo>
                      <a:lnTo>
                        <a:pt x="3364" y="0"/>
                      </a:lnTo>
                      <a:close/>
                    </a:path>
                    <a:path w="239757" h="763371" fill="none">
                      <a:moveTo>
                        <a:pt x="3364" y="0"/>
                      </a:moveTo>
                      <a:cubicBezTo>
                        <a:pt x="137506" y="17778"/>
                        <a:pt x="240160" y="183934"/>
                        <a:pt x="239756" y="382627"/>
                      </a:cubicBezTo>
                      <a:cubicBezTo>
                        <a:pt x="239350" y="582350"/>
                        <a:pt x="134984" y="748088"/>
                        <a:pt x="0" y="763371"/>
                      </a:cubicBezTo>
                    </a:path>
                  </a:pathLst>
                </a:custGeom>
                <a:noFill/>
                <a:ln w="19050" cap="flat" cmpd="sng" algn="ctr">
                  <a:solidFill>
                    <a:srgbClr val="B4BABD">
                      <a:lumMod val="75000"/>
                    </a:srgbClr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68580" tIns="34290" rIns="68580" bIns="3429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defTabSz="685800" eaLnBrk="0" hangingPunct="0">
                    <a:defRPr/>
                  </a:pPr>
                  <a:endParaRPr lang="en-US" sz="1200" b="1" kern="0">
                    <a:solidFill>
                      <a:srgbClr val="061922"/>
                    </a:solidFill>
                    <a:latin typeface="+mn-lt"/>
                    <a:cs typeface="Arial" pitchFamily="34" charset="0"/>
                  </a:endParaRPr>
                </a:p>
              </p:txBody>
            </p:sp>
          </p:grpSp>
          <p:cxnSp>
            <p:nvCxnSpPr>
              <p:cNvPr id="168" name="Straight Connector 167"/>
              <p:cNvCxnSpPr/>
              <p:nvPr/>
            </p:nvCxnSpPr>
            <p:spPr bwMode="auto">
              <a:xfrm rot="5400000">
                <a:off x="6204885" y="2476590"/>
                <a:ext cx="159671" cy="0"/>
              </a:xfrm>
              <a:prstGeom prst="line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939598">
                    <a:lumMod val="5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69" name="Straight Connector 168"/>
              <p:cNvCxnSpPr/>
              <p:nvPr/>
            </p:nvCxnSpPr>
            <p:spPr bwMode="auto">
              <a:xfrm>
                <a:off x="6461054" y="2038682"/>
                <a:ext cx="0" cy="510720"/>
              </a:xfrm>
              <a:prstGeom prst="line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939598">
                    <a:lumMod val="5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73" name="Group 172"/>
            <p:cNvGrpSpPr/>
            <p:nvPr/>
          </p:nvGrpSpPr>
          <p:grpSpPr>
            <a:xfrm>
              <a:off x="2407901" y="2259165"/>
              <a:ext cx="435355" cy="1526135"/>
              <a:chOff x="6129357" y="2014135"/>
              <a:chExt cx="435355" cy="1526135"/>
            </a:xfrm>
          </p:grpSpPr>
          <p:cxnSp>
            <p:nvCxnSpPr>
              <p:cNvPr id="174" name="Straight Connector 173"/>
              <p:cNvCxnSpPr/>
              <p:nvPr/>
            </p:nvCxnSpPr>
            <p:spPr>
              <a:xfrm flipV="1">
                <a:off x="6369332" y="2845440"/>
                <a:ext cx="0" cy="694830"/>
              </a:xfrm>
              <a:prstGeom prst="line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939598">
                    <a:lumMod val="5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75" name="Rectangle 174"/>
              <p:cNvSpPr/>
              <p:nvPr/>
            </p:nvSpPr>
            <p:spPr>
              <a:xfrm flipH="1">
                <a:off x="6129357" y="2095689"/>
                <a:ext cx="391453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defTabSz="685800">
                  <a:defRPr/>
                </a:pPr>
                <a:r>
                  <a:rPr lang="en-US" sz="1200" kern="0" dirty="0" smtClean="0">
                    <a:solidFill>
                      <a:srgbClr val="061922"/>
                    </a:solidFill>
                    <a:latin typeface="+mn-lt"/>
                  </a:rPr>
                  <a:t>y</a:t>
                </a:r>
                <a:r>
                  <a:rPr lang="en-US" sz="1200" kern="0" baseline="-25000" dirty="0" smtClean="0">
                    <a:solidFill>
                      <a:srgbClr val="061922"/>
                    </a:solidFill>
                    <a:latin typeface="+mn-lt"/>
                  </a:rPr>
                  <a:t>n-1</a:t>
                </a:r>
                <a:endParaRPr lang="en-US" sz="1200" kern="0" baseline="-25000" dirty="0">
                  <a:solidFill>
                    <a:srgbClr val="061922"/>
                  </a:solidFill>
                  <a:latin typeface="+mn-lt"/>
                </a:endParaRPr>
              </a:p>
            </p:txBody>
          </p:sp>
          <p:grpSp>
            <p:nvGrpSpPr>
              <p:cNvPr id="178" name="Group 177"/>
              <p:cNvGrpSpPr/>
              <p:nvPr/>
            </p:nvGrpSpPr>
            <p:grpSpPr>
              <a:xfrm>
                <a:off x="6160835" y="2458261"/>
                <a:ext cx="403877" cy="393792"/>
                <a:chOff x="7455820" y="2242929"/>
                <a:chExt cx="403877" cy="393792"/>
              </a:xfrm>
            </p:grpSpPr>
            <p:sp>
              <p:nvSpPr>
                <p:cNvPr id="182" name="Flowchart: Delay 18"/>
                <p:cNvSpPr/>
                <p:nvPr/>
              </p:nvSpPr>
              <p:spPr bwMode="auto">
                <a:xfrm rot="5400000" flipH="1">
                  <a:off x="7501958" y="2278982"/>
                  <a:ext cx="311601" cy="403877"/>
                </a:xfrm>
                <a:custGeom>
                  <a:avLst/>
                  <a:gdLst>
                    <a:gd name="connsiteX0" fmla="*/ 1667 w 10000"/>
                    <a:gd name="connsiteY0" fmla="*/ 0 h 10000"/>
                    <a:gd name="connsiteX1" fmla="*/ 10000 w 10000"/>
                    <a:gd name="connsiteY1" fmla="*/ 0 h 10000"/>
                    <a:gd name="connsiteX2" fmla="*/ 8333 w 10000"/>
                    <a:gd name="connsiteY2" fmla="*/ 5000 h 10000"/>
                    <a:gd name="connsiteX3" fmla="*/ 10000 w 10000"/>
                    <a:gd name="connsiteY3" fmla="*/ 10000 h 10000"/>
                    <a:gd name="connsiteX4" fmla="*/ 1667 w 10000"/>
                    <a:gd name="connsiteY4" fmla="*/ 10000 h 10000"/>
                    <a:gd name="connsiteX5" fmla="*/ 0 w 10000"/>
                    <a:gd name="connsiteY5" fmla="*/ 5000 h 10000"/>
                    <a:gd name="connsiteX6" fmla="*/ 1667 w 10000"/>
                    <a:gd name="connsiteY6" fmla="*/ 0 h 10000"/>
                    <a:gd name="connsiteX0" fmla="*/ 3276 w 10041"/>
                    <a:gd name="connsiteY0" fmla="*/ 0 h 10023"/>
                    <a:gd name="connsiteX1" fmla="*/ 10041 w 10041"/>
                    <a:gd name="connsiteY1" fmla="*/ 23 h 10023"/>
                    <a:gd name="connsiteX2" fmla="*/ 8374 w 10041"/>
                    <a:gd name="connsiteY2" fmla="*/ 5023 h 10023"/>
                    <a:gd name="connsiteX3" fmla="*/ 10041 w 10041"/>
                    <a:gd name="connsiteY3" fmla="*/ 10023 h 10023"/>
                    <a:gd name="connsiteX4" fmla="*/ 1708 w 10041"/>
                    <a:gd name="connsiteY4" fmla="*/ 10023 h 10023"/>
                    <a:gd name="connsiteX5" fmla="*/ 41 w 10041"/>
                    <a:gd name="connsiteY5" fmla="*/ 5023 h 10023"/>
                    <a:gd name="connsiteX6" fmla="*/ 3276 w 10041"/>
                    <a:gd name="connsiteY6" fmla="*/ 0 h 10023"/>
                    <a:gd name="connsiteX0" fmla="*/ 3237 w 10002"/>
                    <a:gd name="connsiteY0" fmla="*/ 0 h 10070"/>
                    <a:gd name="connsiteX1" fmla="*/ 10002 w 10002"/>
                    <a:gd name="connsiteY1" fmla="*/ 23 h 10070"/>
                    <a:gd name="connsiteX2" fmla="*/ 8335 w 10002"/>
                    <a:gd name="connsiteY2" fmla="*/ 5023 h 10070"/>
                    <a:gd name="connsiteX3" fmla="*/ 10002 w 10002"/>
                    <a:gd name="connsiteY3" fmla="*/ 10023 h 10070"/>
                    <a:gd name="connsiteX4" fmla="*/ 3656 w 10002"/>
                    <a:gd name="connsiteY4" fmla="*/ 10070 h 10070"/>
                    <a:gd name="connsiteX5" fmla="*/ 2 w 10002"/>
                    <a:gd name="connsiteY5" fmla="*/ 5023 h 10070"/>
                    <a:gd name="connsiteX6" fmla="*/ 3237 w 10002"/>
                    <a:gd name="connsiteY6" fmla="*/ 0 h 10070"/>
                    <a:gd name="connsiteX0" fmla="*/ 3237 w 10002"/>
                    <a:gd name="connsiteY0" fmla="*/ 0 h 10070"/>
                    <a:gd name="connsiteX1" fmla="*/ 10002 w 10002"/>
                    <a:gd name="connsiteY1" fmla="*/ 23 h 10070"/>
                    <a:gd name="connsiteX2" fmla="*/ 7439 w 10002"/>
                    <a:gd name="connsiteY2" fmla="*/ 5023 h 10070"/>
                    <a:gd name="connsiteX3" fmla="*/ 10002 w 10002"/>
                    <a:gd name="connsiteY3" fmla="*/ 10023 h 10070"/>
                    <a:gd name="connsiteX4" fmla="*/ 3656 w 10002"/>
                    <a:gd name="connsiteY4" fmla="*/ 10070 h 10070"/>
                    <a:gd name="connsiteX5" fmla="*/ 2 w 10002"/>
                    <a:gd name="connsiteY5" fmla="*/ 5023 h 10070"/>
                    <a:gd name="connsiteX6" fmla="*/ 3237 w 10002"/>
                    <a:gd name="connsiteY6" fmla="*/ 0 h 10070"/>
                    <a:gd name="connsiteX0" fmla="*/ 2761 w 9526"/>
                    <a:gd name="connsiteY0" fmla="*/ 0 h 10070"/>
                    <a:gd name="connsiteX1" fmla="*/ 9526 w 9526"/>
                    <a:gd name="connsiteY1" fmla="*/ 23 h 10070"/>
                    <a:gd name="connsiteX2" fmla="*/ 6963 w 9526"/>
                    <a:gd name="connsiteY2" fmla="*/ 5023 h 10070"/>
                    <a:gd name="connsiteX3" fmla="*/ 9526 w 9526"/>
                    <a:gd name="connsiteY3" fmla="*/ 10023 h 10070"/>
                    <a:gd name="connsiteX4" fmla="*/ 3180 w 9526"/>
                    <a:gd name="connsiteY4" fmla="*/ 10070 h 10070"/>
                    <a:gd name="connsiteX5" fmla="*/ 2 w 9526"/>
                    <a:gd name="connsiteY5" fmla="*/ 5023 h 10070"/>
                    <a:gd name="connsiteX6" fmla="*/ 2761 w 9526"/>
                    <a:gd name="connsiteY6" fmla="*/ 0 h 10070"/>
                    <a:gd name="connsiteX0" fmla="*/ 2898 w 10000"/>
                    <a:gd name="connsiteY0" fmla="*/ 0 h 10000"/>
                    <a:gd name="connsiteX1" fmla="*/ 10000 w 10000"/>
                    <a:gd name="connsiteY1" fmla="*/ 23 h 10000"/>
                    <a:gd name="connsiteX2" fmla="*/ 7309 w 10000"/>
                    <a:gd name="connsiteY2" fmla="*/ 4988 h 10000"/>
                    <a:gd name="connsiteX3" fmla="*/ 10000 w 10000"/>
                    <a:gd name="connsiteY3" fmla="*/ 9953 h 10000"/>
                    <a:gd name="connsiteX4" fmla="*/ 3338 w 10000"/>
                    <a:gd name="connsiteY4" fmla="*/ 10000 h 10000"/>
                    <a:gd name="connsiteX5" fmla="*/ 2 w 10000"/>
                    <a:gd name="connsiteY5" fmla="*/ 4988 h 10000"/>
                    <a:gd name="connsiteX6" fmla="*/ 2898 w 10000"/>
                    <a:gd name="connsiteY6" fmla="*/ 0 h 10000"/>
                    <a:gd name="connsiteX0" fmla="*/ 4522 w 10008"/>
                    <a:gd name="connsiteY0" fmla="*/ 0 h 10000"/>
                    <a:gd name="connsiteX1" fmla="*/ 10008 w 10008"/>
                    <a:gd name="connsiteY1" fmla="*/ 23 h 10000"/>
                    <a:gd name="connsiteX2" fmla="*/ 7317 w 10008"/>
                    <a:gd name="connsiteY2" fmla="*/ 4988 h 10000"/>
                    <a:gd name="connsiteX3" fmla="*/ 10008 w 10008"/>
                    <a:gd name="connsiteY3" fmla="*/ 9953 h 10000"/>
                    <a:gd name="connsiteX4" fmla="*/ 3346 w 10008"/>
                    <a:gd name="connsiteY4" fmla="*/ 10000 h 10000"/>
                    <a:gd name="connsiteX5" fmla="*/ 10 w 10008"/>
                    <a:gd name="connsiteY5" fmla="*/ 4988 h 10000"/>
                    <a:gd name="connsiteX6" fmla="*/ 4522 w 10008"/>
                    <a:gd name="connsiteY6" fmla="*/ 0 h 10000"/>
                    <a:gd name="connsiteX0" fmla="*/ 4518 w 10004"/>
                    <a:gd name="connsiteY0" fmla="*/ 0 h 10000"/>
                    <a:gd name="connsiteX1" fmla="*/ 10004 w 10004"/>
                    <a:gd name="connsiteY1" fmla="*/ 23 h 10000"/>
                    <a:gd name="connsiteX2" fmla="*/ 7313 w 10004"/>
                    <a:gd name="connsiteY2" fmla="*/ 4988 h 10000"/>
                    <a:gd name="connsiteX3" fmla="*/ 10004 w 10004"/>
                    <a:gd name="connsiteY3" fmla="*/ 9953 h 10000"/>
                    <a:gd name="connsiteX4" fmla="*/ 5516 w 10004"/>
                    <a:gd name="connsiteY4" fmla="*/ 10000 h 10000"/>
                    <a:gd name="connsiteX5" fmla="*/ 6 w 10004"/>
                    <a:gd name="connsiteY5" fmla="*/ 4988 h 10000"/>
                    <a:gd name="connsiteX6" fmla="*/ 4518 w 10004"/>
                    <a:gd name="connsiteY6" fmla="*/ 0 h 10000"/>
                    <a:gd name="connsiteX0" fmla="*/ 4530 w 10016"/>
                    <a:gd name="connsiteY0" fmla="*/ 0 h 10047"/>
                    <a:gd name="connsiteX1" fmla="*/ 10016 w 10016"/>
                    <a:gd name="connsiteY1" fmla="*/ 23 h 10047"/>
                    <a:gd name="connsiteX2" fmla="*/ 7325 w 10016"/>
                    <a:gd name="connsiteY2" fmla="*/ 4988 h 10047"/>
                    <a:gd name="connsiteX3" fmla="*/ 10016 w 10016"/>
                    <a:gd name="connsiteY3" fmla="*/ 9953 h 10047"/>
                    <a:gd name="connsiteX4" fmla="*/ 6439 w 10016"/>
                    <a:gd name="connsiteY4" fmla="*/ 10047 h 10047"/>
                    <a:gd name="connsiteX5" fmla="*/ 18 w 10016"/>
                    <a:gd name="connsiteY5" fmla="*/ 4988 h 10047"/>
                    <a:gd name="connsiteX6" fmla="*/ 4530 w 10016"/>
                    <a:gd name="connsiteY6" fmla="*/ 0 h 10047"/>
                    <a:gd name="connsiteX0" fmla="*/ 5602 w 10001"/>
                    <a:gd name="connsiteY0" fmla="*/ 0 h 10024"/>
                    <a:gd name="connsiteX1" fmla="*/ 10001 w 10001"/>
                    <a:gd name="connsiteY1" fmla="*/ 0 h 10024"/>
                    <a:gd name="connsiteX2" fmla="*/ 7310 w 10001"/>
                    <a:gd name="connsiteY2" fmla="*/ 4965 h 10024"/>
                    <a:gd name="connsiteX3" fmla="*/ 10001 w 10001"/>
                    <a:gd name="connsiteY3" fmla="*/ 9930 h 10024"/>
                    <a:gd name="connsiteX4" fmla="*/ 6424 w 10001"/>
                    <a:gd name="connsiteY4" fmla="*/ 10024 h 10024"/>
                    <a:gd name="connsiteX5" fmla="*/ 3 w 10001"/>
                    <a:gd name="connsiteY5" fmla="*/ 4965 h 10024"/>
                    <a:gd name="connsiteX6" fmla="*/ 5602 w 10001"/>
                    <a:gd name="connsiteY6" fmla="*/ 0 h 10024"/>
                    <a:gd name="connsiteX0" fmla="*/ 6158 w 9999"/>
                    <a:gd name="connsiteY0" fmla="*/ 0 h 10024"/>
                    <a:gd name="connsiteX1" fmla="*/ 9999 w 9999"/>
                    <a:gd name="connsiteY1" fmla="*/ 0 h 10024"/>
                    <a:gd name="connsiteX2" fmla="*/ 7308 w 9999"/>
                    <a:gd name="connsiteY2" fmla="*/ 4965 h 10024"/>
                    <a:gd name="connsiteX3" fmla="*/ 9999 w 9999"/>
                    <a:gd name="connsiteY3" fmla="*/ 9930 h 10024"/>
                    <a:gd name="connsiteX4" fmla="*/ 6422 w 9999"/>
                    <a:gd name="connsiteY4" fmla="*/ 10024 h 10024"/>
                    <a:gd name="connsiteX5" fmla="*/ 1 w 9999"/>
                    <a:gd name="connsiteY5" fmla="*/ 4965 h 10024"/>
                    <a:gd name="connsiteX6" fmla="*/ 6158 w 9999"/>
                    <a:gd name="connsiteY6" fmla="*/ 0 h 10024"/>
                    <a:gd name="connsiteX0" fmla="*/ 6159 w 10000"/>
                    <a:gd name="connsiteY0" fmla="*/ 0 h 10000"/>
                    <a:gd name="connsiteX1" fmla="*/ 10000 w 10000"/>
                    <a:gd name="connsiteY1" fmla="*/ 0 h 10000"/>
                    <a:gd name="connsiteX2" fmla="*/ 7309 w 10000"/>
                    <a:gd name="connsiteY2" fmla="*/ 4953 h 10000"/>
                    <a:gd name="connsiteX3" fmla="*/ 10000 w 10000"/>
                    <a:gd name="connsiteY3" fmla="*/ 9906 h 10000"/>
                    <a:gd name="connsiteX4" fmla="*/ 6423 w 10000"/>
                    <a:gd name="connsiteY4" fmla="*/ 10000 h 10000"/>
                    <a:gd name="connsiteX5" fmla="*/ 1 w 10000"/>
                    <a:gd name="connsiteY5" fmla="*/ 4953 h 10000"/>
                    <a:gd name="connsiteX6" fmla="*/ 6159 w 10000"/>
                    <a:gd name="connsiteY6" fmla="*/ 0 h 10000"/>
                    <a:gd name="connsiteX0" fmla="*/ 6159 w 10000"/>
                    <a:gd name="connsiteY0" fmla="*/ 0 h 10000"/>
                    <a:gd name="connsiteX1" fmla="*/ 10000 w 10000"/>
                    <a:gd name="connsiteY1" fmla="*/ 0 h 10000"/>
                    <a:gd name="connsiteX2" fmla="*/ 7309 w 10000"/>
                    <a:gd name="connsiteY2" fmla="*/ 4953 h 10000"/>
                    <a:gd name="connsiteX3" fmla="*/ 10000 w 10000"/>
                    <a:gd name="connsiteY3" fmla="*/ 9906 h 10000"/>
                    <a:gd name="connsiteX4" fmla="*/ 6423 w 10000"/>
                    <a:gd name="connsiteY4" fmla="*/ 10000 h 10000"/>
                    <a:gd name="connsiteX5" fmla="*/ 1 w 10000"/>
                    <a:gd name="connsiteY5" fmla="*/ 4953 h 10000"/>
                    <a:gd name="connsiteX6" fmla="*/ 6159 w 10000"/>
                    <a:gd name="connsiteY6" fmla="*/ 0 h 10000"/>
                    <a:gd name="connsiteX0" fmla="*/ 6159 w 10000"/>
                    <a:gd name="connsiteY0" fmla="*/ 0 h 10000"/>
                    <a:gd name="connsiteX1" fmla="*/ 10000 w 10000"/>
                    <a:gd name="connsiteY1" fmla="*/ 0 h 10000"/>
                    <a:gd name="connsiteX2" fmla="*/ 7309 w 10000"/>
                    <a:gd name="connsiteY2" fmla="*/ 4953 h 10000"/>
                    <a:gd name="connsiteX3" fmla="*/ 10000 w 10000"/>
                    <a:gd name="connsiteY3" fmla="*/ 9906 h 10000"/>
                    <a:gd name="connsiteX4" fmla="*/ 6423 w 10000"/>
                    <a:gd name="connsiteY4" fmla="*/ 10000 h 10000"/>
                    <a:gd name="connsiteX5" fmla="*/ 1 w 10000"/>
                    <a:gd name="connsiteY5" fmla="*/ 4953 h 10000"/>
                    <a:gd name="connsiteX6" fmla="*/ 6159 w 10000"/>
                    <a:gd name="connsiteY6" fmla="*/ 0 h 10000"/>
                    <a:gd name="connsiteX0" fmla="*/ 6159 w 10000"/>
                    <a:gd name="connsiteY0" fmla="*/ 0 h 10000"/>
                    <a:gd name="connsiteX1" fmla="*/ 10000 w 10000"/>
                    <a:gd name="connsiteY1" fmla="*/ 0 h 10000"/>
                    <a:gd name="connsiteX2" fmla="*/ 7309 w 10000"/>
                    <a:gd name="connsiteY2" fmla="*/ 4953 h 10000"/>
                    <a:gd name="connsiteX3" fmla="*/ 10000 w 10000"/>
                    <a:gd name="connsiteY3" fmla="*/ 9906 h 10000"/>
                    <a:gd name="connsiteX4" fmla="*/ 6423 w 10000"/>
                    <a:gd name="connsiteY4" fmla="*/ 10000 h 10000"/>
                    <a:gd name="connsiteX5" fmla="*/ 1 w 10000"/>
                    <a:gd name="connsiteY5" fmla="*/ 4953 h 10000"/>
                    <a:gd name="connsiteX6" fmla="*/ 6159 w 10000"/>
                    <a:gd name="connsiteY6" fmla="*/ 0 h 10000"/>
                    <a:gd name="connsiteX0" fmla="*/ 6159 w 10000"/>
                    <a:gd name="connsiteY0" fmla="*/ 0 h 10000"/>
                    <a:gd name="connsiteX1" fmla="*/ 10000 w 10000"/>
                    <a:gd name="connsiteY1" fmla="*/ 0 h 10000"/>
                    <a:gd name="connsiteX2" fmla="*/ 7309 w 10000"/>
                    <a:gd name="connsiteY2" fmla="*/ 4953 h 10000"/>
                    <a:gd name="connsiteX3" fmla="*/ 10000 w 10000"/>
                    <a:gd name="connsiteY3" fmla="*/ 9906 h 10000"/>
                    <a:gd name="connsiteX4" fmla="*/ 6423 w 10000"/>
                    <a:gd name="connsiteY4" fmla="*/ 10000 h 10000"/>
                    <a:gd name="connsiteX5" fmla="*/ 1 w 10000"/>
                    <a:gd name="connsiteY5" fmla="*/ 4953 h 10000"/>
                    <a:gd name="connsiteX6" fmla="*/ 6159 w 10000"/>
                    <a:gd name="connsiteY6" fmla="*/ 0 h 10000"/>
                    <a:gd name="connsiteX0" fmla="*/ 6159 w 10000"/>
                    <a:gd name="connsiteY0" fmla="*/ 0 h 10000"/>
                    <a:gd name="connsiteX1" fmla="*/ 10000 w 10000"/>
                    <a:gd name="connsiteY1" fmla="*/ 0 h 10000"/>
                    <a:gd name="connsiteX2" fmla="*/ 7309 w 10000"/>
                    <a:gd name="connsiteY2" fmla="*/ 4953 h 10000"/>
                    <a:gd name="connsiteX3" fmla="*/ 10000 w 10000"/>
                    <a:gd name="connsiteY3" fmla="*/ 9906 h 10000"/>
                    <a:gd name="connsiteX4" fmla="*/ 6423 w 10000"/>
                    <a:gd name="connsiteY4" fmla="*/ 10000 h 10000"/>
                    <a:gd name="connsiteX5" fmla="*/ 1 w 10000"/>
                    <a:gd name="connsiteY5" fmla="*/ 4953 h 10000"/>
                    <a:gd name="connsiteX6" fmla="*/ 6159 w 10000"/>
                    <a:gd name="connsiteY6" fmla="*/ 0 h 10000"/>
                    <a:gd name="connsiteX0" fmla="*/ 5924 w 9765"/>
                    <a:gd name="connsiteY0" fmla="*/ 0 h 10000"/>
                    <a:gd name="connsiteX1" fmla="*/ 9765 w 9765"/>
                    <a:gd name="connsiteY1" fmla="*/ 0 h 10000"/>
                    <a:gd name="connsiteX2" fmla="*/ 7074 w 9765"/>
                    <a:gd name="connsiteY2" fmla="*/ 4953 h 10000"/>
                    <a:gd name="connsiteX3" fmla="*/ 9765 w 9765"/>
                    <a:gd name="connsiteY3" fmla="*/ 9906 h 10000"/>
                    <a:gd name="connsiteX4" fmla="*/ 6188 w 9765"/>
                    <a:gd name="connsiteY4" fmla="*/ 10000 h 10000"/>
                    <a:gd name="connsiteX5" fmla="*/ 1 w 9765"/>
                    <a:gd name="connsiteY5" fmla="*/ 4953 h 10000"/>
                    <a:gd name="connsiteX6" fmla="*/ 5924 w 9765"/>
                    <a:gd name="connsiteY6" fmla="*/ 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765" h="10000">
                      <a:moveTo>
                        <a:pt x="5924" y="0"/>
                      </a:moveTo>
                      <a:lnTo>
                        <a:pt x="9765" y="0"/>
                      </a:lnTo>
                      <a:cubicBezTo>
                        <a:pt x="8827" y="232"/>
                        <a:pt x="7074" y="2218"/>
                        <a:pt x="7074" y="4953"/>
                      </a:cubicBezTo>
                      <a:cubicBezTo>
                        <a:pt x="7074" y="7689"/>
                        <a:pt x="8769" y="9558"/>
                        <a:pt x="9765" y="9906"/>
                      </a:cubicBezTo>
                      <a:lnTo>
                        <a:pt x="6188" y="10000"/>
                      </a:lnTo>
                      <a:cubicBezTo>
                        <a:pt x="2576" y="10046"/>
                        <a:pt x="45" y="6620"/>
                        <a:pt x="1" y="4953"/>
                      </a:cubicBezTo>
                      <a:cubicBezTo>
                        <a:pt x="-43" y="3286"/>
                        <a:pt x="1755" y="0"/>
                        <a:pt x="5924" y="0"/>
                      </a:cubicBezTo>
                      <a:close/>
                    </a:path>
                  </a:pathLst>
                </a:custGeom>
                <a:solidFill>
                  <a:srgbClr val="B4BABD">
                    <a:lumMod val="40000"/>
                    <a:lumOff val="60000"/>
                  </a:srgbClr>
                </a:solidFill>
                <a:ln w="19050" cap="flat" cmpd="sng" algn="ctr">
                  <a:solidFill>
                    <a:srgbClr val="B4BABD">
                      <a:lumMod val="75000"/>
                    </a:srgbClr>
                  </a:solidFill>
                  <a:prstDash val="solid"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68580" tIns="34290" rIns="68580" bIns="3429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5800" eaLnBrk="0" hangingPunct="0">
                    <a:defRPr/>
                  </a:pPr>
                  <a:endParaRPr lang="en-US" sz="1200" b="1" kern="0">
                    <a:solidFill>
                      <a:srgbClr val="061922"/>
                    </a:solidFill>
                    <a:latin typeface="+mn-lt"/>
                    <a:cs typeface="Arial" pitchFamily="34" charset="0"/>
                  </a:endParaRPr>
                </a:p>
              </p:txBody>
            </p:sp>
            <p:sp>
              <p:nvSpPr>
                <p:cNvPr id="183" name="Arc 21"/>
                <p:cNvSpPr/>
                <p:nvPr/>
              </p:nvSpPr>
              <p:spPr bwMode="auto">
                <a:xfrm rot="5400000">
                  <a:off x="7598262" y="2114052"/>
                  <a:ext cx="118023" cy="375777"/>
                </a:xfrm>
                <a:custGeom>
                  <a:avLst/>
                  <a:gdLst>
                    <a:gd name="connsiteX0" fmla="*/ 282852 w 519245"/>
                    <a:gd name="connsiteY0" fmla="*/ 1536 h 766030"/>
                    <a:gd name="connsiteX1" fmla="*/ 519244 w 519245"/>
                    <a:gd name="connsiteY1" fmla="*/ 384163 h 766030"/>
                    <a:gd name="connsiteX2" fmla="*/ 279488 w 519245"/>
                    <a:gd name="connsiteY2" fmla="*/ 764907 h 766030"/>
                    <a:gd name="connsiteX3" fmla="*/ 259623 w 519245"/>
                    <a:gd name="connsiteY3" fmla="*/ 383015 h 766030"/>
                    <a:gd name="connsiteX4" fmla="*/ 282852 w 519245"/>
                    <a:gd name="connsiteY4" fmla="*/ 1536 h 766030"/>
                    <a:gd name="connsiteX0" fmla="*/ 282852 w 519245"/>
                    <a:gd name="connsiteY0" fmla="*/ 1536 h 766030"/>
                    <a:gd name="connsiteX1" fmla="*/ 519244 w 519245"/>
                    <a:gd name="connsiteY1" fmla="*/ 384163 h 766030"/>
                    <a:gd name="connsiteX2" fmla="*/ 279488 w 519245"/>
                    <a:gd name="connsiteY2" fmla="*/ 764907 h 766030"/>
                    <a:gd name="connsiteX0" fmla="*/ 23229 w 259622"/>
                    <a:gd name="connsiteY0" fmla="*/ 0 h 763371"/>
                    <a:gd name="connsiteX1" fmla="*/ 259621 w 259622"/>
                    <a:gd name="connsiteY1" fmla="*/ 382627 h 763371"/>
                    <a:gd name="connsiteX2" fmla="*/ 19865 w 259622"/>
                    <a:gd name="connsiteY2" fmla="*/ 763371 h 763371"/>
                    <a:gd name="connsiteX3" fmla="*/ 0 w 259622"/>
                    <a:gd name="connsiteY3" fmla="*/ 381479 h 763371"/>
                    <a:gd name="connsiteX4" fmla="*/ 4211 w 259622"/>
                    <a:gd name="connsiteY4" fmla="*/ 284214 h 763371"/>
                    <a:gd name="connsiteX5" fmla="*/ 23229 w 259622"/>
                    <a:gd name="connsiteY5" fmla="*/ 0 h 763371"/>
                    <a:gd name="connsiteX0" fmla="*/ 23229 w 259622"/>
                    <a:gd name="connsiteY0" fmla="*/ 0 h 763371"/>
                    <a:gd name="connsiteX1" fmla="*/ 259621 w 259622"/>
                    <a:gd name="connsiteY1" fmla="*/ 382627 h 763371"/>
                    <a:gd name="connsiteX2" fmla="*/ 19865 w 259622"/>
                    <a:gd name="connsiteY2" fmla="*/ 763371 h 763371"/>
                    <a:gd name="connsiteX0" fmla="*/ 23229 w 259622"/>
                    <a:gd name="connsiteY0" fmla="*/ 0 h 763371"/>
                    <a:gd name="connsiteX1" fmla="*/ 259621 w 259622"/>
                    <a:gd name="connsiteY1" fmla="*/ 382627 h 763371"/>
                    <a:gd name="connsiteX2" fmla="*/ 19865 w 259622"/>
                    <a:gd name="connsiteY2" fmla="*/ 763371 h 763371"/>
                    <a:gd name="connsiteX3" fmla="*/ 0 w 259622"/>
                    <a:gd name="connsiteY3" fmla="*/ 381479 h 763371"/>
                    <a:gd name="connsiteX4" fmla="*/ 211856 w 259622"/>
                    <a:gd name="connsiteY4" fmla="*/ 175629 h 763371"/>
                    <a:gd name="connsiteX5" fmla="*/ 23229 w 259622"/>
                    <a:gd name="connsiteY5" fmla="*/ 0 h 763371"/>
                    <a:gd name="connsiteX0" fmla="*/ 23229 w 259622"/>
                    <a:gd name="connsiteY0" fmla="*/ 0 h 763371"/>
                    <a:gd name="connsiteX1" fmla="*/ 259621 w 259622"/>
                    <a:gd name="connsiteY1" fmla="*/ 382627 h 763371"/>
                    <a:gd name="connsiteX2" fmla="*/ 19865 w 259622"/>
                    <a:gd name="connsiteY2" fmla="*/ 763371 h 763371"/>
                    <a:gd name="connsiteX0" fmla="*/ 3364 w 239757"/>
                    <a:gd name="connsiteY0" fmla="*/ 0 h 763371"/>
                    <a:gd name="connsiteX1" fmla="*/ 239756 w 239757"/>
                    <a:gd name="connsiteY1" fmla="*/ 382627 h 763371"/>
                    <a:gd name="connsiteX2" fmla="*/ 0 w 239757"/>
                    <a:gd name="connsiteY2" fmla="*/ 763371 h 763371"/>
                    <a:gd name="connsiteX3" fmla="*/ 185875 w 239757"/>
                    <a:gd name="connsiteY3" fmla="*/ 627224 h 763371"/>
                    <a:gd name="connsiteX4" fmla="*/ 191991 w 239757"/>
                    <a:gd name="connsiteY4" fmla="*/ 175629 h 763371"/>
                    <a:gd name="connsiteX5" fmla="*/ 3364 w 239757"/>
                    <a:gd name="connsiteY5" fmla="*/ 0 h 763371"/>
                    <a:gd name="connsiteX0" fmla="*/ 3364 w 239757"/>
                    <a:gd name="connsiteY0" fmla="*/ 0 h 763371"/>
                    <a:gd name="connsiteX1" fmla="*/ 239756 w 239757"/>
                    <a:gd name="connsiteY1" fmla="*/ 382627 h 763371"/>
                    <a:gd name="connsiteX2" fmla="*/ 0 w 239757"/>
                    <a:gd name="connsiteY2" fmla="*/ 763371 h 763371"/>
                    <a:gd name="connsiteX0" fmla="*/ 3364 w 239757"/>
                    <a:gd name="connsiteY0" fmla="*/ 0 h 763371"/>
                    <a:gd name="connsiteX1" fmla="*/ 239756 w 239757"/>
                    <a:gd name="connsiteY1" fmla="*/ 382627 h 763371"/>
                    <a:gd name="connsiteX2" fmla="*/ 0 w 239757"/>
                    <a:gd name="connsiteY2" fmla="*/ 763371 h 763371"/>
                    <a:gd name="connsiteX3" fmla="*/ 185875 w 239757"/>
                    <a:gd name="connsiteY3" fmla="*/ 627224 h 763371"/>
                    <a:gd name="connsiteX4" fmla="*/ 199611 w 239757"/>
                    <a:gd name="connsiteY4" fmla="*/ 175629 h 763371"/>
                    <a:gd name="connsiteX5" fmla="*/ 3364 w 239757"/>
                    <a:gd name="connsiteY5" fmla="*/ 0 h 763371"/>
                    <a:gd name="connsiteX0" fmla="*/ 3364 w 239757"/>
                    <a:gd name="connsiteY0" fmla="*/ 0 h 763371"/>
                    <a:gd name="connsiteX1" fmla="*/ 239756 w 239757"/>
                    <a:gd name="connsiteY1" fmla="*/ 382627 h 763371"/>
                    <a:gd name="connsiteX2" fmla="*/ 0 w 239757"/>
                    <a:gd name="connsiteY2" fmla="*/ 763371 h 763371"/>
                    <a:gd name="connsiteX0" fmla="*/ 3364 w 239757"/>
                    <a:gd name="connsiteY0" fmla="*/ 0 h 763371"/>
                    <a:gd name="connsiteX1" fmla="*/ 239756 w 239757"/>
                    <a:gd name="connsiteY1" fmla="*/ 382627 h 763371"/>
                    <a:gd name="connsiteX2" fmla="*/ 0 w 239757"/>
                    <a:gd name="connsiteY2" fmla="*/ 763371 h 763371"/>
                    <a:gd name="connsiteX3" fmla="*/ 185875 w 239757"/>
                    <a:gd name="connsiteY3" fmla="*/ 627224 h 763371"/>
                    <a:gd name="connsiteX4" fmla="*/ 119601 w 239757"/>
                    <a:gd name="connsiteY4" fmla="*/ 181344 h 763371"/>
                    <a:gd name="connsiteX5" fmla="*/ 3364 w 239757"/>
                    <a:gd name="connsiteY5" fmla="*/ 0 h 763371"/>
                    <a:gd name="connsiteX0" fmla="*/ 3364 w 239757"/>
                    <a:gd name="connsiteY0" fmla="*/ 0 h 763371"/>
                    <a:gd name="connsiteX1" fmla="*/ 239756 w 239757"/>
                    <a:gd name="connsiteY1" fmla="*/ 382627 h 763371"/>
                    <a:gd name="connsiteX2" fmla="*/ 0 w 239757"/>
                    <a:gd name="connsiteY2" fmla="*/ 763371 h 763371"/>
                    <a:gd name="connsiteX0" fmla="*/ 3364 w 239757"/>
                    <a:gd name="connsiteY0" fmla="*/ 0 h 763371"/>
                    <a:gd name="connsiteX1" fmla="*/ 239756 w 239757"/>
                    <a:gd name="connsiteY1" fmla="*/ 382627 h 763371"/>
                    <a:gd name="connsiteX2" fmla="*/ 0 w 239757"/>
                    <a:gd name="connsiteY2" fmla="*/ 763371 h 763371"/>
                    <a:gd name="connsiteX3" fmla="*/ 185875 w 239757"/>
                    <a:gd name="connsiteY3" fmla="*/ 627224 h 763371"/>
                    <a:gd name="connsiteX4" fmla="*/ 193896 w 239757"/>
                    <a:gd name="connsiteY4" fmla="*/ 169914 h 763371"/>
                    <a:gd name="connsiteX5" fmla="*/ 3364 w 239757"/>
                    <a:gd name="connsiteY5" fmla="*/ 0 h 763371"/>
                    <a:gd name="connsiteX0" fmla="*/ 3364 w 239757"/>
                    <a:gd name="connsiteY0" fmla="*/ 0 h 763371"/>
                    <a:gd name="connsiteX1" fmla="*/ 239756 w 239757"/>
                    <a:gd name="connsiteY1" fmla="*/ 382627 h 763371"/>
                    <a:gd name="connsiteX2" fmla="*/ 0 w 239757"/>
                    <a:gd name="connsiteY2" fmla="*/ 763371 h 7633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39757" h="763371" stroke="0" extrusionOk="0">
                      <a:moveTo>
                        <a:pt x="3364" y="0"/>
                      </a:moveTo>
                      <a:cubicBezTo>
                        <a:pt x="137506" y="17778"/>
                        <a:pt x="240160" y="183934"/>
                        <a:pt x="239756" y="382627"/>
                      </a:cubicBezTo>
                      <a:cubicBezTo>
                        <a:pt x="239350" y="582350"/>
                        <a:pt x="134984" y="748088"/>
                        <a:pt x="0" y="763371"/>
                      </a:cubicBezTo>
                      <a:lnTo>
                        <a:pt x="185875" y="627224"/>
                      </a:lnTo>
                      <a:cubicBezTo>
                        <a:pt x="187914" y="476692"/>
                        <a:pt x="191857" y="320446"/>
                        <a:pt x="193896" y="169914"/>
                      </a:cubicBezTo>
                      <a:lnTo>
                        <a:pt x="3364" y="0"/>
                      </a:lnTo>
                      <a:close/>
                    </a:path>
                    <a:path w="239757" h="763371" fill="none">
                      <a:moveTo>
                        <a:pt x="3364" y="0"/>
                      </a:moveTo>
                      <a:cubicBezTo>
                        <a:pt x="137506" y="17778"/>
                        <a:pt x="240160" y="183934"/>
                        <a:pt x="239756" y="382627"/>
                      </a:cubicBezTo>
                      <a:cubicBezTo>
                        <a:pt x="239350" y="582350"/>
                        <a:pt x="134984" y="748088"/>
                        <a:pt x="0" y="763371"/>
                      </a:cubicBezTo>
                    </a:path>
                  </a:pathLst>
                </a:custGeom>
                <a:noFill/>
                <a:ln w="19050" cap="flat" cmpd="sng" algn="ctr">
                  <a:solidFill>
                    <a:srgbClr val="B4BABD">
                      <a:lumMod val="75000"/>
                    </a:srgbClr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68580" tIns="34290" rIns="68580" bIns="3429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defTabSz="685800" eaLnBrk="0" hangingPunct="0">
                    <a:defRPr/>
                  </a:pPr>
                  <a:endParaRPr lang="en-US" sz="1200" b="1" kern="0">
                    <a:solidFill>
                      <a:srgbClr val="061922"/>
                    </a:solidFill>
                    <a:latin typeface="+mn-lt"/>
                    <a:cs typeface="Arial" pitchFamily="34" charset="0"/>
                  </a:endParaRPr>
                </a:p>
              </p:txBody>
            </p:sp>
          </p:grpSp>
          <p:cxnSp>
            <p:nvCxnSpPr>
              <p:cNvPr id="179" name="Straight Connector 178"/>
              <p:cNvCxnSpPr/>
              <p:nvPr/>
            </p:nvCxnSpPr>
            <p:spPr bwMode="auto">
              <a:xfrm rot="5400000">
                <a:off x="6204885" y="2476590"/>
                <a:ext cx="159671" cy="0"/>
              </a:xfrm>
              <a:prstGeom prst="line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939598">
                    <a:lumMod val="5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80" name="Straight Connector 179"/>
              <p:cNvCxnSpPr/>
              <p:nvPr/>
            </p:nvCxnSpPr>
            <p:spPr bwMode="auto">
              <a:xfrm>
                <a:off x="6461054" y="2014135"/>
                <a:ext cx="0" cy="535267"/>
              </a:xfrm>
              <a:prstGeom prst="line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939598">
                    <a:lumMod val="5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05" name="TextBox 104"/>
            <p:cNvSpPr txBox="1"/>
            <p:nvPr/>
          </p:nvSpPr>
          <p:spPr>
            <a:xfrm>
              <a:off x="3302995" y="2139268"/>
              <a:ext cx="29046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n-lt"/>
                </a:rPr>
                <a:t>…</a:t>
              </a:r>
              <a:endParaRPr lang="ru-RU" sz="1200" dirty="0">
                <a:latin typeface="+mn-lt"/>
              </a:endParaRPr>
            </a:p>
          </p:txBody>
        </p:sp>
        <p:cxnSp>
          <p:nvCxnSpPr>
            <p:cNvPr id="106" name="Straight Connector 105"/>
            <p:cNvCxnSpPr/>
            <p:nvPr/>
          </p:nvCxnSpPr>
          <p:spPr>
            <a:xfrm flipV="1">
              <a:off x="2742258" y="2270685"/>
              <a:ext cx="429566" cy="514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832988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4601"/>
            <a:ext cx="8229600" cy="1362075"/>
          </a:xfrm>
        </p:spPr>
        <p:txBody>
          <a:bodyPr/>
          <a:lstStyle/>
          <a:p>
            <a:pPr algn="ctr"/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34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1413598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57328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2.6|1|1.7|130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5|15.8|71.5|14.7|2.8|82.9|5.2|5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2.8|25.3|31.7|20.8|20.8|21.2|2.7|1.2|14.7|75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1.6|5|2.9|0.5|3.5|6.8|26.6|0.8|4.7|0.5|0.5|0.5|8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1.6|5|2.9|0.5|3.5|6.8|26.6|0.8|4.7|0.5|0.5|0.5|8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5.9|12.8|9.6|4.2|1.9|1.1|4.3|41.3|11|2.1|3.3|2.2|8.8|0.4|0.5|3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7.2|138.9|7.7|8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1.3|38|6.2|1.1|1.6|5.8|4.6|0.5|0.4|0.3|0.4|0.5|16.3|3.4|0.7|0.5|0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50.9|29.6|4.2|4.9|22.4|1|0.4|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4.4|9.4|22.2|24|3.2|8.6|19.8|1.4|1|8.7|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6|1|5.2|0.7|0.8|2.6|37.9|0.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1|4|126|5.3|17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|23.3|46.2|2|14.5|0.4|7.8|0.3|0.3|1.5|35|1.5|0.9|3.4|37.2|44.1|71.6|1.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6.1|3.6|1.6|0.9|0.5|1.9|1.1|0.7|1.1|4.8|182.2|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3"/>
</p:tagLst>
</file>

<file path=ppt/theme/theme1.xml><?xml version="1.0" encoding="utf-8"?>
<a:theme xmlns:a="http://schemas.openxmlformats.org/drawingml/2006/main" name="mdsp_2011">
  <a:themeElements>
    <a:clrScheme name="intel2011">
      <a:dk1>
        <a:srgbClr val="061922"/>
      </a:dk1>
      <a:lt1>
        <a:srgbClr val="FFFFFF"/>
      </a:lt1>
      <a:dk2>
        <a:srgbClr val="939598"/>
      </a:dk2>
      <a:lt2>
        <a:srgbClr val="B4BABD"/>
      </a:lt2>
      <a:accent1>
        <a:srgbClr val="0071C5"/>
      </a:accent1>
      <a:accent2>
        <a:srgbClr val="00AEEF"/>
      </a:accent2>
      <a:accent3>
        <a:srgbClr val="004280"/>
      </a:accent3>
      <a:accent4>
        <a:srgbClr val="FFDA00"/>
      </a:accent4>
      <a:accent5>
        <a:srgbClr val="A6CE39"/>
      </a:accent5>
      <a:accent6>
        <a:srgbClr val="FDB813"/>
      </a:accent6>
      <a:hlink>
        <a:srgbClr val="0071C5"/>
      </a:hlink>
      <a:folHlink>
        <a:srgbClr val="00AEE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ln w="317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eaLnBrk="0" hangingPunct="0">
          <a:defRPr sz="2000" b="1" smtClean="0">
            <a:latin typeface="Neo Sans Inte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Neo Sans Intel" pitchFamily="34" charset="0"/>
            <a:cs typeface="Arial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>
    <a:extraClrScheme>
      <a:clrScheme name="2_intel_template_1_111605_BLUE 1">
        <a:dk1>
          <a:srgbClr val="FF5C00"/>
        </a:dk1>
        <a:lt1>
          <a:srgbClr val="FFFFFF"/>
        </a:lt1>
        <a:dk2>
          <a:srgbClr val="0C2E86"/>
        </a:dk2>
        <a:lt2>
          <a:srgbClr val="F5E647"/>
        </a:lt2>
        <a:accent1>
          <a:srgbClr val="A6CAE1"/>
        </a:accent1>
        <a:accent2>
          <a:srgbClr val="567EB9"/>
        </a:accent2>
        <a:accent3>
          <a:srgbClr val="AAADC3"/>
        </a:accent3>
        <a:accent4>
          <a:srgbClr val="DADADA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intel_template_1_111605_BLUE 2">
        <a:dk1>
          <a:srgbClr val="0860A8"/>
        </a:dk1>
        <a:lt1>
          <a:srgbClr val="FFFFFF"/>
        </a:lt1>
        <a:dk2>
          <a:srgbClr val="F5E647"/>
        </a:dk2>
        <a:lt2>
          <a:srgbClr val="FF5C47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6518F"/>
        </a:accent4>
        <a:accent5>
          <a:srgbClr val="D0E1EE"/>
        </a:accent5>
        <a:accent6>
          <a:srgbClr val="4D72A7"/>
        </a:accent6>
        <a:hlink>
          <a:srgbClr val="0C2E86"/>
        </a:hlink>
        <a:folHlink>
          <a:srgbClr val="AA014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intel_template_1_111605_BLUE 3">
        <a:dk1>
          <a:srgbClr val="000000"/>
        </a:dk1>
        <a:lt1>
          <a:srgbClr val="FFFFFF"/>
        </a:lt1>
        <a:dk2>
          <a:srgbClr val="DDDDDD"/>
        </a:dk2>
        <a:lt2>
          <a:srgbClr val="5F5F5F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00000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0C2E8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401C71F511A342A8CE5D878AC6A5A2" ma:contentTypeVersion="1" ma:contentTypeDescription="Create a new document." ma:contentTypeScope="" ma:versionID="7780538ac0ddf0014d7399d2d91bbce0">
  <xsd:schema xmlns:xsd="http://www.w3.org/2001/XMLSchema" xmlns:p="http://schemas.microsoft.com/office/2006/metadata/properties" xmlns:ns1="http://schemas.microsoft.com/sharepoint/v3" targetNamespace="http://schemas.microsoft.com/office/2006/metadata/properties" ma:root="true" ma:fieldsID="ddb0c952b897a810c8a4e377cff6bff8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http://schemas.microsoft.com/sharepoint/v3" elementFormDefault="qualified">
    <xsd:import namespace="http://schemas.microsoft.com/office/2006/documentManagement/types"/>
    <xsd:element name="PublishingStartDate" ma:index="8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Props1.xml><?xml version="1.0" encoding="utf-8"?>
<ds:datastoreItem xmlns:ds="http://schemas.openxmlformats.org/officeDocument/2006/customXml" ds:itemID="{14A94C8E-3E2B-4AD9-8D67-7815198BE085}">
  <ds:schemaRefs>
    <ds:schemaRef ds:uri="http://schemas.microsoft.com/office/2006/metadata/properties"/>
    <ds:schemaRef ds:uri="http://schemas.microsoft.com/sharepoint/v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5CC5FB6-44E0-47C0-972B-EBB94824D4B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2E76FF6-93BD-4804-AFC1-4178155785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mdsp_2011</Template>
  <TotalTime>2277</TotalTime>
  <Words>2241</Words>
  <Application>Microsoft Office PowerPoint</Application>
  <PresentationFormat>On-screen Show (4:3)</PresentationFormat>
  <Paragraphs>885</Paragraphs>
  <Slides>35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52" baseType="lpstr">
      <vt:lpstr>MS PGothic</vt:lpstr>
      <vt:lpstr>MS PGothic</vt:lpstr>
      <vt:lpstr>Arial</vt:lpstr>
      <vt:lpstr>Baskerville Old Face</vt:lpstr>
      <vt:lpstr>Calibri</vt:lpstr>
      <vt:lpstr>Calibri Light</vt:lpstr>
      <vt:lpstr>Cambria Math</vt:lpstr>
      <vt:lpstr>Consolas</vt:lpstr>
      <vt:lpstr>Courier New</vt:lpstr>
      <vt:lpstr>Neo Sans Intel</vt:lpstr>
      <vt:lpstr>Neo Sans Intel Light</vt:lpstr>
      <vt:lpstr>Neo Sans Intel Medium</vt:lpstr>
      <vt:lpstr>Symbol</vt:lpstr>
      <vt:lpstr>Times</vt:lpstr>
      <vt:lpstr>Verdana</vt:lpstr>
      <vt:lpstr>Wingdings</vt:lpstr>
      <vt:lpstr>mdsp_2011</vt:lpstr>
      <vt:lpstr>Combinational Circuits</vt:lpstr>
      <vt:lpstr>Acknowledgements</vt:lpstr>
      <vt:lpstr>Layers of Abstraction in Computes Science</vt:lpstr>
      <vt:lpstr>Abstracting From Physics</vt:lpstr>
      <vt:lpstr>Refresher: Boolean Algebra</vt:lpstr>
      <vt:lpstr>Boolean Algebra</vt:lpstr>
      <vt:lpstr>Main Boolean operations</vt:lpstr>
      <vt:lpstr>Main Boolean operations</vt:lpstr>
      <vt:lpstr>Main Boolean operations</vt:lpstr>
      <vt:lpstr>Main axioms</vt:lpstr>
      <vt:lpstr>Boolean functions</vt:lpstr>
      <vt:lpstr>Examples of reduction</vt:lpstr>
      <vt:lpstr>Canonical disjunctive normal form (CDNF)</vt:lpstr>
      <vt:lpstr>Canonical conjunctive normal form (CCNF)</vt:lpstr>
      <vt:lpstr>Combinational Circuits</vt:lpstr>
      <vt:lpstr>Combinational Circuits</vt:lpstr>
      <vt:lpstr>Many-input devices</vt:lpstr>
      <vt:lpstr>Binary Decoder</vt:lpstr>
      <vt:lpstr>Multiplexer</vt:lpstr>
      <vt:lpstr>Comparator</vt:lpstr>
      <vt:lpstr>Adder and ALU</vt:lpstr>
      <vt:lpstr>Half adder scheme</vt:lpstr>
      <vt:lpstr>Full adder scheme</vt:lpstr>
      <vt:lpstr>Wide adder</vt:lpstr>
      <vt:lpstr>Arithmetic Logic Unit</vt:lpstr>
      <vt:lpstr>Subtraction</vt:lpstr>
      <vt:lpstr>Negative Numbers </vt:lpstr>
      <vt:lpstr>Twos Compliment Representation</vt:lpstr>
      <vt:lpstr>Example of subtraction (1)</vt:lpstr>
      <vt:lpstr>Example of subtraction (2)</vt:lpstr>
      <vt:lpstr>Overflow</vt:lpstr>
      <vt:lpstr>Negation</vt:lpstr>
      <vt:lpstr>Add/Subtract Schematic</vt:lpstr>
      <vt:lpstr>Thank You</vt:lpstr>
      <vt:lpstr>PowerPoint Presentation</vt:lpstr>
    </vt:vector>
  </TitlesOfParts>
  <Company>Intel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MDSP 2011 Intro</dc:title>
  <dc:creator>atitov</dc:creator>
  <cp:keywords>CTPClassification=CTP_NWR:VisualMarkings=</cp:keywords>
  <cp:lastModifiedBy>Kryukov, Pavel I</cp:lastModifiedBy>
  <cp:revision>178</cp:revision>
  <dcterms:created xsi:type="dcterms:W3CDTF">2011-10-24T08:13:52Z</dcterms:created>
  <dcterms:modified xsi:type="dcterms:W3CDTF">2017-10-06T11:42:28Z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0x0101006F401C71F511A342A8CE5D878AC6A5A2</vt:lpwstr>
  </property>
  <property fmtid="{D5CDD505-2E9C-101B-9397-08002B2CF9AE}" pid="3" name="TitusGUID">
    <vt:lpwstr>5674424d-5764-4ee2-b4be-dc6512ec3448</vt:lpwstr>
  </property>
  <property fmtid="{D5CDD505-2E9C-101B-9397-08002B2CF9AE}" pid="4" name="CTP_TimeStamp">
    <vt:lpwstr>2017-10-06 11:42:23Z</vt:lpwstr>
  </property>
  <property fmtid="{D5CDD505-2E9C-101B-9397-08002B2CF9AE}" pid="5" name="CTP_BU">
    <vt:lpwstr>NA</vt:lpwstr>
  </property>
  <property fmtid="{D5CDD505-2E9C-101B-9397-08002B2CF9AE}" pid="6" name="CTP_IDSID">
    <vt:lpwstr>NA</vt:lpwstr>
  </property>
  <property fmtid="{D5CDD505-2E9C-101B-9397-08002B2CF9AE}" pid="7" name="CTP_WWID">
    <vt:lpwstr>NA</vt:lpwstr>
  </property>
  <property fmtid="{D5CDD505-2E9C-101B-9397-08002B2CF9AE}" pid="8" name="CTPClassification">
    <vt:lpwstr>CTP_NWR</vt:lpwstr>
  </property>
</Properties>
</file>