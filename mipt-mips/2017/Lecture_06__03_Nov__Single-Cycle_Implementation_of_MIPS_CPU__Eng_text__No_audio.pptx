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6"/>
  </p:notesMasterIdLst>
  <p:handoutMasterIdLst>
    <p:handoutMasterId r:id="rId37"/>
  </p:handoutMasterIdLst>
  <p:sldIdLst>
    <p:sldId id="256" r:id="rId5"/>
    <p:sldId id="294" r:id="rId6"/>
    <p:sldId id="257" r:id="rId7"/>
    <p:sldId id="258" r:id="rId8"/>
    <p:sldId id="29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9" r:id="rId20"/>
    <p:sldId id="280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5" r:id="rId34"/>
    <p:sldId id="296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07" autoAdjust="0"/>
    <p:restoredTop sz="99700" autoAdjust="0"/>
  </p:normalViewPr>
  <p:slideViewPr>
    <p:cSldViewPr snapToGrid="0">
      <p:cViewPr varScale="1">
        <p:scale>
          <a:sx n="134" d="100"/>
          <a:sy n="134" d="100"/>
        </p:scale>
        <p:origin x="642" y="126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11/9/2017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11/9/2017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489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547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ourses.cs.washington.edu/courses/cse378/09wi/lectures.html" TargetMode="External"/><Relationship Id="rId7" Type="http://schemas.openxmlformats.org/officeDocument/2006/relationships/hyperlink" Target="http://www.eecs.berkeley.edu/~krste" TargetMode="External"/><Relationship Id="rId2" Type="http://schemas.openxmlformats.org/officeDocument/2006/relationships/hyperlink" Target="http://www.cs.washington.edu/people/faculty/luisceze/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courses.cs.washington.edu/courses/cse378/10sp/lectures/lec08-singlecyc.pdf" TargetMode="External"/><Relationship Id="rId5" Type="http://schemas.openxmlformats.org/officeDocument/2006/relationships/hyperlink" Target="http://courses.cs.washington.edu/courses/cse378/10sp/lectures/lec06.pdf" TargetMode="External"/><Relationship Id="rId4" Type="http://schemas.openxmlformats.org/officeDocument/2006/relationships/hyperlink" Target="http://courses.cs.washington.edu/courses/cse378/10sp/lectures/lec01.pdf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ms253512(v=vs.80).aspx" TargetMode="Externa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 flipH="1">
            <a:off x="457263" y="2697710"/>
            <a:ext cx="5612114" cy="1169551"/>
          </a:xfrm>
        </p:spPr>
        <p:txBody>
          <a:bodyPr/>
          <a:lstStyle/>
          <a:p>
            <a:r>
              <a:rPr lang="en-US" smtClean="0">
                <a:latin typeface="+mj-lt"/>
              </a:rPr>
              <a:t>Single-cycle implementation</a:t>
            </a:r>
            <a:br>
              <a:rPr lang="en-US" smtClean="0">
                <a:latin typeface="+mj-lt"/>
              </a:rPr>
            </a:br>
            <a:r>
              <a:rPr lang="en-US" smtClean="0">
                <a:latin typeface="+mj-lt"/>
              </a:rPr>
              <a:t>of MIPS CPU</a:t>
            </a:r>
            <a:endParaRPr lang="en-US" dirty="0">
              <a:latin typeface="+mj-lt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378030" y="4528360"/>
            <a:ext cx="4466738" cy="601190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Pavel Kryukov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03/11/2017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40529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slides contain material developed </a:t>
            </a:r>
            <a:r>
              <a:rPr lang="en-US" dirty="0" smtClean="0"/>
              <a:t>and copyright </a:t>
            </a:r>
            <a:r>
              <a:rPr lang="en-US" dirty="0"/>
              <a:t>by</a:t>
            </a:r>
            <a:r>
              <a:rPr lang="en-US" dirty="0" smtClean="0"/>
              <a:t>:</a:t>
            </a:r>
          </a:p>
          <a:p>
            <a:pPr marL="574675" indent="-342900">
              <a:buFont typeface="Arial" pitchFamily="34" charset="0"/>
              <a:buChar char="•"/>
            </a:pPr>
            <a:r>
              <a:rPr lang="en-US" dirty="0" smtClean="0">
                <a:hlinkClick r:id="rId2"/>
              </a:rPr>
              <a:t>Luis </a:t>
            </a:r>
            <a:r>
              <a:rPr lang="en-US" dirty="0" err="1" smtClean="0">
                <a:hlinkClick r:id="rId2"/>
              </a:rPr>
              <a:t>Ceze</a:t>
            </a:r>
            <a:r>
              <a:rPr lang="en-US" dirty="0" smtClean="0"/>
              <a:t> (UW), </a:t>
            </a:r>
            <a:r>
              <a:rPr lang="en-US" dirty="0" smtClean="0">
                <a:hlinkClick r:id="rId3"/>
              </a:rPr>
              <a:t>CS378</a:t>
            </a:r>
            <a:r>
              <a:rPr lang="en-US" dirty="0" smtClean="0"/>
              <a:t>, </a:t>
            </a:r>
            <a:r>
              <a:rPr lang="en-US" dirty="0" smtClean="0">
                <a:hlinkClick r:id="rId4"/>
              </a:rPr>
              <a:t>L1</a:t>
            </a:r>
            <a:r>
              <a:rPr lang="en-US" dirty="0" smtClean="0"/>
              <a:t>, </a:t>
            </a:r>
            <a:r>
              <a:rPr lang="en-US" dirty="0" smtClean="0">
                <a:hlinkClick r:id="rId5"/>
              </a:rPr>
              <a:t>L6</a:t>
            </a:r>
            <a:r>
              <a:rPr lang="en-US" dirty="0" smtClean="0"/>
              <a:t> and </a:t>
            </a:r>
            <a:r>
              <a:rPr lang="en-US" dirty="0" smtClean="0">
                <a:hlinkClick r:id="rId6"/>
              </a:rPr>
              <a:t>L8</a:t>
            </a:r>
            <a:r>
              <a:rPr lang="en-US" dirty="0" smtClean="0"/>
              <a:t> </a:t>
            </a:r>
            <a:endParaRPr lang="en-US" dirty="0" smtClean="0">
              <a:hlinkClick r:id="rId7"/>
            </a:endParaRPr>
          </a:p>
        </p:txBody>
      </p:sp>
    </p:spTree>
    <p:extLst>
      <p:ext uri="{BB962C8B-B14F-4D97-AF65-F5344CB8AC3E}">
        <p14:creationId xmlns:p14="http://schemas.microsoft.com/office/powerpoint/2010/main" val="2304879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3141"/>
            <a:ext cx="8229600" cy="384718"/>
          </a:xfrm>
        </p:spPr>
        <p:txBody>
          <a:bodyPr/>
          <a:lstStyle/>
          <a:p>
            <a:r>
              <a:rPr lang="en-US" dirty="0" smtClean="0"/>
              <a:t>Layers of Abstraction in Computes Science (CS)</a:t>
            </a:r>
            <a:endParaRPr lang="en-US" dirty="0"/>
          </a:p>
        </p:txBody>
      </p:sp>
      <p:sp>
        <p:nvSpPr>
          <p:cNvPr id="16" name="Left Brace 15"/>
          <p:cNvSpPr/>
          <p:nvPr/>
        </p:nvSpPr>
        <p:spPr bwMode="auto">
          <a:xfrm>
            <a:off x="2116286" y="3351797"/>
            <a:ext cx="162046" cy="1070649"/>
          </a:xfrm>
          <a:prstGeom prst="leftBrace">
            <a:avLst>
              <a:gd name="adj1" fmla="val 38114"/>
              <a:gd name="adj2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2337345" y="1153192"/>
            <a:ext cx="4632576" cy="3257794"/>
            <a:chOff x="2300535" y="1039903"/>
            <a:chExt cx="4632576" cy="3257794"/>
          </a:xfrm>
        </p:grpSpPr>
        <p:sp>
          <p:nvSpPr>
            <p:cNvPr id="22" name="Rounded Rectangle 21"/>
            <p:cNvSpPr/>
            <p:nvPr/>
          </p:nvSpPr>
          <p:spPr bwMode="auto">
            <a:xfrm>
              <a:off x="2300535" y="1039903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Application</a:t>
              </a:r>
            </a:p>
          </p:txBody>
        </p:sp>
        <p:sp>
          <p:nvSpPr>
            <p:cNvPr id="23" name="Rounded Rectangle 22"/>
            <p:cNvSpPr/>
            <p:nvPr/>
          </p:nvSpPr>
          <p:spPr bwMode="auto">
            <a:xfrm>
              <a:off x="2300535" y="1586689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Algorithms</a:t>
              </a:r>
            </a:p>
          </p:txBody>
        </p:sp>
        <p:sp>
          <p:nvSpPr>
            <p:cNvPr id="24" name="Rounded Rectangle 23"/>
            <p:cNvSpPr/>
            <p:nvPr/>
          </p:nvSpPr>
          <p:spPr bwMode="auto">
            <a:xfrm>
              <a:off x="2300535" y="2133475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Programming Language</a:t>
              </a:r>
            </a:p>
          </p:txBody>
        </p:sp>
        <p:sp>
          <p:nvSpPr>
            <p:cNvPr id="25" name="Rounded Rectangle 24"/>
            <p:cNvSpPr/>
            <p:nvPr/>
          </p:nvSpPr>
          <p:spPr bwMode="auto">
            <a:xfrm>
              <a:off x="2300535" y="2680261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Operating System</a:t>
              </a:r>
            </a:p>
          </p:txBody>
        </p:sp>
        <p:sp>
          <p:nvSpPr>
            <p:cNvPr id="26" name="Rounded Rectangle 25"/>
            <p:cNvSpPr/>
            <p:nvPr/>
          </p:nvSpPr>
          <p:spPr bwMode="auto">
            <a:xfrm>
              <a:off x="2300535" y="3227047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Instruction Set Architecture</a:t>
              </a:r>
            </a:p>
          </p:txBody>
        </p:sp>
        <p:sp>
          <p:nvSpPr>
            <p:cNvPr id="27" name="Rounded Rectangle 26"/>
            <p:cNvSpPr/>
            <p:nvPr/>
          </p:nvSpPr>
          <p:spPr bwMode="auto">
            <a:xfrm>
              <a:off x="2300535" y="3773833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Microarchitecture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337345" y="4433908"/>
            <a:ext cx="4632576" cy="1617435"/>
            <a:chOff x="2300535" y="4320619"/>
            <a:chExt cx="4632576" cy="1617435"/>
          </a:xfrm>
        </p:grpSpPr>
        <p:sp>
          <p:nvSpPr>
            <p:cNvPr id="29" name="Rounded Rectangle 28"/>
            <p:cNvSpPr/>
            <p:nvPr/>
          </p:nvSpPr>
          <p:spPr bwMode="auto">
            <a:xfrm>
              <a:off x="2300535" y="4320619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Gates/Register-Transfer Level (RTL)</a:t>
              </a:r>
            </a:p>
          </p:txBody>
        </p:sp>
        <p:sp>
          <p:nvSpPr>
            <p:cNvPr id="30" name="Rounded Rectangle 29"/>
            <p:cNvSpPr/>
            <p:nvPr/>
          </p:nvSpPr>
          <p:spPr bwMode="auto">
            <a:xfrm>
              <a:off x="2300535" y="4867405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Circuits</a:t>
              </a:r>
            </a:p>
          </p:txBody>
        </p:sp>
        <p:sp>
          <p:nvSpPr>
            <p:cNvPr id="31" name="Rounded Rectangle 30"/>
            <p:cNvSpPr/>
            <p:nvPr/>
          </p:nvSpPr>
          <p:spPr bwMode="auto">
            <a:xfrm>
              <a:off x="2300535" y="5414190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Physics</a:t>
              </a:r>
            </a:p>
          </p:txBody>
        </p:sp>
      </p:grpSp>
      <p:sp>
        <p:nvSpPr>
          <p:cNvPr id="32" name="Rectangle 31"/>
          <p:cNvSpPr/>
          <p:nvPr/>
        </p:nvSpPr>
        <p:spPr bwMode="auto">
          <a:xfrm>
            <a:off x="2292520" y="1153192"/>
            <a:ext cx="4736759" cy="2187144"/>
          </a:xfrm>
          <a:prstGeom prst="rect">
            <a:avLst/>
          </a:prstGeom>
          <a:solidFill>
            <a:schemeClr val="bg1">
              <a:alpha val="9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1264" y="3530355"/>
            <a:ext cx="1766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Topic of </a:t>
            </a:r>
          </a:p>
          <a:p>
            <a:pPr algn="r"/>
            <a:r>
              <a:rPr lang="en-US" sz="2000" dirty="0" smtClean="0">
                <a:latin typeface="+mj-lt"/>
              </a:rPr>
              <a:t>this lecture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2292520" y="4423258"/>
            <a:ext cx="4736759" cy="1875678"/>
          </a:xfrm>
          <a:prstGeom prst="rect">
            <a:avLst/>
          </a:prstGeom>
          <a:solidFill>
            <a:schemeClr val="bg1">
              <a:alpha val="9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dirty="0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73875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2" grpId="0" animBg="1"/>
      <p:bldP spid="33" grpId="0"/>
      <p:bldP spid="34" grpId="0" animBg="1"/>
    </p:bld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44410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ISA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763" y="995928"/>
            <a:ext cx="8297862" cy="5226277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1"/>
                </a:solidFill>
              </a:rPr>
              <a:t>Instruction Set Architecture (ISA)</a:t>
            </a:r>
            <a:r>
              <a:rPr lang="en-US" dirty="0" smtClean="0"/>
              <a:t> is a precise </a:t>
            </a:r>
            <a:r>
              <a:rPr lang="en-US" dirty="0"/>
              <a:t>definition of </a:t>
            </a:r>
            <a:r>
              <a:rPr lang="en-US" dirty="0" smtClean="0"/>
              <a:t>computer instructions, features and mechanism </a:t>
            </a:r>
            <a:r>
              <a:rPr lang="en-US" dirty="0" smtClean="0">
                <a:solidFill>
                  <a:schemeClr val="bg2"/>
                </a:solidFill>
              </a:rPr>
              <a:t>(procedures, interrupt/exception handler, etc.) </a:t>
            </a:r>
            <a:r>
              <a:rPr lang="en-US" dirty="0"/>
              <a:t>and also some structures </a:t>
            </a:r>
            <a:r>
              <a:rPr lang="en-US" dirty="0">
                <a:solidFill>
                  <a:schemeClr val="bg2"/>
                </a:solidFill>
              </a:rPr>
              <a:t>(registers, memory, etc.) </a:t>
            </a:r>
            <a:endParaRPr lang="en-US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It can be thought as an agreement between a programmer and an engineer: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What </a:t>
            </a:r>
            <a:r>
              <a:rPr lang="en-US" dirty="0"/>
              <a:t>a typical </a:t>
            </a:r>
            <a:r>
              <a:rPr lang="en-US" dirty="0">
                <a:solidFill>
                  <a:schemeClr val="accent1"/>
                </a:solidFill>
              </a:rPr>
              <a:t>ISA</a:t>
            </a:r>
            <a:r>
              <a:rPr lang="en-US" dirty="0"/>
              <a:t> defines</a:t>
            </a:r>
          </a:p>
          <a:p>
            <a:pPr marL="757238" lvl="2" indent="-34290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800" dirty="0"/>
              <a:t>Data Formats.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(Integer, Floating Point, Vector/Packed)</a:t>
            </a:r>
            <a:endParaRPr lang="en-US" sz="1800" dirty="0"/>
          </a:p>
          <a:p>
            <a:pPr marL="757238" lvl="2" indent="-34290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800" dirty="0"/>
              <a:t>Instructions.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(Operations, encoding, etc.)</a:t>
            </a:r>
          </a:p>
          <a:p>
            <a:pPr marL="757238" lvl="2" indent="-34290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800" dirty="0"/>
              <a:t>Registers and Memory Organization.</a:t>
            </a:r>
          </a:p>
          <a:p>
            <a:pPr marL="757238" lvl="2" indent="-34290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800" dirty="0"/>
              <a:t>Interrupts, exceptions, and traps.</a:t>
            </a:r>
          </a:p>
          <a:p>
            <a:pPr marL="757238" lvl="2" indent="-34290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800" dirty="0"/>
              <a:t>Implementation-Dependent Features.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(Memory control, custom features.)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50769" y="5290642"/>
            <a:ext cx="3164543" cy="369332"/>
          </a:xfrm>
          <a:prstGeom prst="callout2">
            <a:avLst>
              <a:gd name="adj1" fmla="val 47878"/>
              <a:gd name="adj2" fmla="val -2951"/>
              <a:gd name="adj3" fmla="val 47878"/>
              <a:gd name="adj4" fmla="val -9868"/>
              <a:gd name="adj5" fmla="val -16146"/>
              <a:gd name="adj6" fmla="val -22304"/>
            </a:avLst>
          </a:prstGeom>
          <a:noFill/>
          <a:ln w="19050">
            <a:solidFill>
              <a:srgbClr val="FF3300"/>
            </a:solidFill>
            <a:prstDash val="sysDot"/>
            <a:headEnd type="none" w="med" len="med"/>
            <a:tailEnd type="arrow" w="med" len="med"/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  <a:latin typeface="+mj-lt"/>
              </a:rPr>
              <a:t>the </a:t>
            </a:r>
            <a:r>
              <a:rPr lang="en-US" i="1" dirty="0" smtClean="0">
                <a:solidFill>
                  <a:schemeClr val="accent1"/>
                </a:solidFill>
                <a:latin typeface="+mj-lt"/>
              </a:rPr>
              <a:t>programmer-visible</a:t>
            </a:r>
            <a:r>
              <a:rPr lang="en-US" i="1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i="1" dirty="0" smtClean="0">
                <a:solidFill>
                  <a:schemeClr val="accent1"/>
                </a:solidFill>
                <a:latin typeface="+mj-lt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7969" y="4690007"/>
            <a:ext cx="2556191" cy="369332"/>
          </a:xfrm>
          <a:prstGeom prst="callout2">
            <a:avLst>
              <a:gd name="adj1" fmla="val 47878"/>
              <a:gd name="adj2" fmla="val -2951"/>
              <a:gd name="adj3" fmla="val 47878"/>
              <a:gd name="adj4" fmla="val -11027"/>
              <a:gd name="adj5" fmla="val 7113"/>
              <a:gd name="adj6" fmla="val -26087"/>
            </a:avLst>
          </a:prstGeom>
          <a:noFill/>
          <a:ln w="19050">
            <a:solidFill>
              <a:srgbClr val="FF3300"/>
            </a:solidFill>
            <a:prstDash val="sysDot"/>
            <a:headEnd type="none" w="med" len="med"/>
            <a:tailEnd type="arrow" w="med" len="med"/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  <a:latin typeface="+mj-lt"/>
              </a:rPr>
              <a:t>t</a:t>
            </a:r>
            <a:r>
              <a:rPr lang="en-US" i="1" dirty="0" smtClean="0">
                <a:solidFill>
                  <a:schemeClr val="accent1"/>
                </a:solidFill>
                <a:latin typeface="+mj-lt"/>
              </a:rPr>
              <a:t>hey change the state</a:t>
            </a:r>
          </a:p>
        </p:txBody>
      </p:sp>
      <p:sp>
        <p:nvSpPr>
          <p:cNvPr id="6" name="Down Arrow 6"/>
          <p:cNvSpPr/>
          <p:nvPr/>
        </p:nvSpPr>
        <p:spPr bwMode="auto">
          <a:xfrm>
            <a:off x="6764097" y="5059339"/>
            <a:ext cx="268943" cy="263134"/>
          </a:xfrm>
          <a:prstGeom prst="downArrow">
            <a:avLst>
              <a:gd name="adj1" fmla="val 46388"/>
              <a:gd name="adj2" fmla="val 46124"/>
            </a:avLst>
          </a:prstGeom>
          <a:solidFill>
            <a:schemeClr val="tx2">
              <a:lumMod val="60000"/>
              <a:lumOff val="4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80176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</p:bld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MIPS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997991"/>
            <a:ext cx="8228012" cy="5098009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An example of a </a:t>
            </a:r>
            <a:r>
              <a:rPr lang="en-US" sz="2000" i="1" dirty="0" smtClean="0">
                <a:latin typeface="+mn-lt"/>
              </a:rPr>
              <a:t>RISC</a:t>
            </a:r>
            <a:r>
              <a:rPr lang="en-US" sz="2000" dirty="0" smtClean="0">
                <a:latin typeface="+mn-lt"/>
              </a:rPr>
              <a:t> processor.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sz="1800" dirty="0" smtClean="0">
                <a:latin typeface="+mn-lt"/>
              </a:rPr>
              <a:t>Designed for easy programming and implementation.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sz="1800" dirty="0" smtClean="0">
                <a:latin typeface="+mn-lt"/>
              </a:rPr>
              <a:t>Short and simple, but fast instructions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→ programs are larger than others, but run faster.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The main aim was to take advantages of pipelined execution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sz="1800" dirty="0" smtClean="0">
                <a:latin typeface="+mn-lt"/>
              </a:rPr>
              <a:t>Pipeline was not specified in ISA, but ISA developers tried to simplify its implementation in uArch.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Implementations: 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sz="1600" dirty="0" smtClean="0">
                <a:latin typeface="+mn-lt"/>
              </a:rPr>
              <a:t>The first one is R2000</a:t>
            </a:r>
            <a:r>
              <a:rPr lang="en-US" sz="1600" dirty="0">
                <a:latin typeface="+mn-lt"/>
              </a:rPr>
              <a:t> (</a:t>
            </a:r>
            <a:r>
              <a:rPr lang="en-US" sz="1600" dirty="0" smtClean="0">
                <a:latin typeface="+mn-lt"/>
              </a:rPr>
              <a:t>1986)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sz="1600" dirty="0" smtClean="0">
                <a:latin typeface="+mn-lt"/>
              </a:rPr>
              <a:t>Later</a:t>
            </a:r>
            <a:r>
              <a:rPr lang="en-US" sz="1600" dirty="0">
                <a:latin typeface="+mn-lt"/>
              </a:rPr>
              <a:t>: </a:t>
            </a:r>
            <a:r>
              <a:rPr lang="en-US" sz="1600" dirty="0" smtClean="0">
                <a:latin typeface="+mn-lt"/>
              </a:rPr>
              <a:t>R3000A (PlayStation), R4000 (PSP), R5900 </a:t>
            </a:r>
            <a:r>
              <a:rPr lang="en-US" sz="1600" dirty="0">
                <a:latin typeface="+mn-lt"/>
              </a:rPr>
              <a:t>(PlayStation 2</a:t>
            </a:r>
            <a:r>
              <a:rPr lang="en-US" sz="1600" dirty="0" smtClean="0">
                <a:latin typeface="+mn-lt"/>
              </a:rPr>
              <a:t>), etc.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sz="1600" dirty="0" smtClean="0">
                <a:latin typeface="+mn-lt"/>
              </a:rPr>
              <a:t>Currently it is widely used in embedded systems.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One moment MIPS seemed to be overcome Intel IA-32</a:t>
            </a:r>
            <a:r>
              <a:rPr lang="en-US" sz="2000" dirty="0">
                <a:latin typeface="+mn-lt"/>
              </a:rPr>
              <a:t>, </a:t>
            </a:r>
            <a:r>
              <a:rPr lang="en-US" sz="2000" dirty="0">
                <a:noFill/>
                <a:latin typeface="+mn-lt"/>
              </a:rPr>
              <a:t>but it didn’t happen because Intel’s uArch was significantly better and could compensate the drawback of IA-32.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+mn-lt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68775" y="5008621"/>
            <a:ext cx="8228012" cy="873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noFill/>
                <a:latin typeface="+mn-lt"/>
              </a:rPr>
              <a:t>One moment MIPS seemed to be overcome Intel IA-32,,</a:t>
            </a:r>
            <a:r>
              <a:rPr lang="en-US" sz="2000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smtClean="0">
                <a:latin typeface="+mn-lt"/>
              </a:rPr>
              <a:t>but it didn’t happen because Intel’s uArch was significantly better and could compensate the drawback of IA-32.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00039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MIPS: </a:t>
            </a:r>
            <a:r>
              <a:rPr lang="en-US" dirty="0" smtClean="0"/>
              <a:t>Register-To-Register</a:t>
            </a:r>
            <a:r>
              <a:rPr lang="en-US" dirty="0"/>
              <a:t>, </a:t>
            </a:r>
            <a:r>
              <a:rPr lang="en-US" dirty="0" smtClean="0"/>
              <a:t>Three Addresses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9931"/>
            <a:ext cx="8228012" cy="31355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MIPS is a </a:t>
            </a:r>
            <a:r>
              <a:rPr lang="en-US" dirty="0">
                <a:solidFill>
                  <a:schemeClr val="accent1"/>
                </a:solidFill>
                <a:latin typeface="+mn-lt"/>
              </a:rPr>
              <a:t>register-to-register</a:t>
            </a:r>
            <a:r>
              <a:rPr lang="en-US" dirty="0">
                <a:latin typeface="+mn-lt"/>
              </a:rPr>
              <a:t>, or </a:t>
            </a:r>
            <a:r>
              <a:rPr lang="en-US" dirty="0">
                <a:solidFill>
                  <a:schemeClr val="accent1"/>
                </a:solidFill>
                <a:latin typeface="+mn-lt"/>
              </a:rPr>
              <a:t>load/store</a:t>
            </a:r>
            <a:r>
              <a:rPr lang="en-US" dirty="0">
                <a:latin typeface="+mn-lt"/>
              </a:rPr>
              <a:t>, </a:t>
            </a:r>
            <a:r>
              <a:rPr lang="en-US" dirty="0" smtClean="0">
                <a:latin typeface="+mn-lt"/>
              </a:rPr>
              <a:t>architecture</a:t>
            </a:r>
            <a:endParaRPr lang="en-US" dirty="0">
              <a:latin typeface="+mn-lt"/>
            </a:endParaRP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The </a:t>
            </a:r>
            <a:r>
              <a:rPr lang="en-US" sz="2000" dirty="0">
                <a:latin typeface="+mn-lt"/>
              </a:rPr>
              <a:t>destination and sources must all be </a:t>
            </a:r>
            <a:r>
              <a:rPr lang="en-US" sz="2000" dirty="0" smtClean="0">
                <a:latin typeface="+mn-lt"/>
              </a:rPr>
              <a:t>registers</a:t>
            </a:r>
            <a:endParaRPr lang="en-US" sz="2000" dirty="0">
              <a:latin typeface="+mn-lt"/>
            </a:endParaRP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Special </a:t>
            </a:r>
            <a:r>
              <a:rPr lang="en-US" sz="2000" dirty="0">
                <a:latin typeface="+mn-lt"/>
              </a:rPr>
              <a:t>instructions, which we’ll see soon, are needed to access main </a:t>
            </a:r>
            <a:r>
              <a:rPr lang="en-US" sz="2000" dirty="0" smtClean="0">
                <a:latin typeface="+mn-lt"/>
              </a:rPr>
              <a:t>memory</a:t>
            </a:r>
            <a:endParaRPr lang="en-US" sz="20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MIPS </a:t>
            </a:r>
            <a:r>
              <a:rPr lang="en-US" dirty="0">
                <a:latin typeface="+mn-lt"/>
              </a:rPr>
              <a:t>uses </a:t>
            </a:r>
            <a:r>
              <a:rPr lang="en-US" dirty="0" smtClean="0">
                <a:latin typeface="+mn-lt"/>
              </a:rPr>
              <a:t>three-addresses </a:t>
            </a:r>
            <a:r>
              <a:rPr lang="en-US" dirty="0">
                <a:latin typeface="+mn-lt"/>
              </a:rPr>
              <a:t>instructions for data </a:t>
            </a:r>
            <a:r>
              <a:rPr lang="en-US" dirty="0" smtClean="0">
                <a:latin typeface="+mn-lt"/>
              </a:rPr>
              <a:t>manipulation</a:t>
            </a:r>
            <a:endParaRPr lang="en-US" dirty="0">
              <a:latin typeface="+mn-lt"/>
            </a:endParaRP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Each </a:t>
            </a:r>
            <a:r>
              <a:rPr lang="en-US" sz="2000" dirty="0">
                <a:latin typeface="+mn-lt"/>
              </a:rPr>
              <a:t>ALU instruction contains a destination and two </a:t>
            </a:r>
            <a:r>
              <a:rPr lang="en-US" sz="2000" dirty="0" smtClean="0">
                <a:latin typeface="+mn-lt"/>
              </a:rPr>
              <a:t>sources</a:t>
            </a:r>
            <a:endParaRPr lang="en-US" sz="2000" dirty="0">
              <a:latin typeface="+mn-lt"/>
            </a:endParaRP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For </a:t>
            </a:r>
            <a:r>
              <a:rPr lang="en-US" sz="2000" dirty="0">
                <a:latin typeface="+mn-lt"/>
              </a:rPr>
              <a:t>example, an addition instruction (a = b + c) has the form: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28047" y="4989600"/>
            <a:ext cx="35642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add a, b, 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3991091" y="4487062"/>
            <a:ext cx="1385936" cy="557591"/>
            <a:chOff x="3991091" y="4487062"/>
            <a:chExt cx="1385936" cy="557591"/>
          </a:xfrm>
        </p:grpSpPr>
        <p:sp>
          <p:nvSpPr>
            <p:cNvPr id="7" name="TextBox 6"/>
            <p:cNvSpPr txBox="1"/>
            <p:nvPr/>
          </p:nvSpPr>
          <p:spPr>
            <a:xfrm>
              <a:off x="4141409" y="4487062"/>
              <a:ext cx="1085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operands</a:t>
              </a:r>
            </a:p>
          </p:txBody>
        </p:sp>
        <p:sp>
          <p:nvSpPr>
            <p:cNvPr id="11" name="Left Brace 10"/>
            <p:cNvSpPr/>
            <p:nvPr/>
          </p:nvSpPr>
          <p:spPr bwMode="auto">
            <a:xfrm rot="5400000">
              <a:off x="4589929" y="4257556"/>
              <a:ext cx="188259" cy="1385936"/>
            </a:xfrm>
            <a:prstGeom prst="leftBrace">
              <a:avLst>
                <a:gd name="adj1" fmla="val 30595"/>
                <a:gd name="adj2" fmla="val 50000"/>
              </a:avLst>
            </a:prstGeom>
            <a:solidFill>
              <a:schemeClr val="bg1"/>
            </a:solidFill>
            <a:ln w="1270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698376" y="4487062"/>
            <a:ext cx="1115947" cy="557592"/>
            <a:chOff x="2698376" y="4487062"/>
            <a:chExt cx="1115947" cy="557592"/>
          </a:xfrm>
        </p:grpSpPr>
        <p:sp>
          <p:nvSpPr>
            <p:cNvPr id="6" name="TextBox 5"/>
            <p:cNvSpPr txBox="1"/>
            <p:nvPr/>
          </p:nvSpPr>
          <p:spPr>
            <a:xfrm>
              <a:off x="2698376" y="4487062"/>
              <a:ext cx="1115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operation</a:t>
              </a:r>
            </a:p>
          </p:txBody>
        </p:sp>
        <p:cxnSp>
          <p:nvCxnSpPr>
            <p:cNvPr id="13" name="Straight Arrow Connector 12"/>
            <p:cNvCxnSpPr>
              <a:stCxn id="6" idx="2"/>
            </p:cNvCxnSpPr>
            <p:nvPr/>
          </p:nvCxnSpPr>
          <p:spPr bwMode="auto">
            <a:xfrm>
              <a:off x="3256350" y="4856394"/>
              <a:ext cx="151314" cy="188260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grpSp>
        <p:nvGrpSpPr>
          <p:cNvPr id="24" name="Group 23"/>
          <p:cNvGrpSpPr/>
          <p:nvPr/>
        </p:nvGrpSpPr>
        <p:grpSpPr>
          <a:xfrm>
            <a:off x="3036218" y="5512820"/>
            <a:ext cx="1273938" cy="536534"/>
            <a:chOff x="3036218" y="5512820"/>
            <a:chExt cx="1273938" cy="536534"/>
          </a:xfrm>
        </p:grpSpPr>
        <p:sp>
          <p:nvSpPr>
            <p:cNvPr id="8" name="TextBox 7"/>
            <p:cNvSpPr txBox="1"/>
            <p:nvPr/>
          </p:nvSpPr>
          <p:spPr>
            <a:xfrm>
              <a:off x="3036218" y="5680022"/>
              <a:ext cx="1273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destination</a:t>
              </a:r>
            </a:p>
          </p:txBody>
        </p:sp>
        <p:cxnSp>
          <p:nvCxnSpPr>
            <p:cNvPr id="15" name="Straight Arrow Connector 14"/>
            <p:cNvCxnSpPr>
              <a:stCxn id="8" idx="0"/>
            </p:cNvCxnSpPr>
            <p:nvPr/>
          </p:nvCxnSpPr>
          <p:spPr bwMode="auto">
            <a:xfrm flipV="1">
              <a:off x="3673187" y="5512820"/>
              <a:ext cx="228253" cy="167202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4421752" y="5512821"/>
            <a:ext cx="977960" cy="542172"/>
            <a:chOff x="4421752" y="5512821"/>
            <a:chExt cx="977960" cy="542172"/>
          </a:xfrm>
        </p:grpSpPr>
        <p:sp>
          <p:nvSpPr>
            <p:cNvPr id="9" name="TextBox 8"/>
            <p:cNvSpPr txBox="1"/>
            <p:nvPr/>
          </p:nvSpPr>
          <p:spPr>
            <a:xfrm>
              <a:off x="4421752" y="5685661"/>
              <a:ext cx="977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source 1</a:t>
              </a:r>
            </a:p>
          </p:txBody>
        </p:sp>
        <p:cxnSp>
          <p:nvCxnSpPr>
            <p:cNvPr id="17" name="Straight Arrow Connector 16"/>
            <p:cNvCxnSpPr>
              <a:stCxn id="9" idx="0"/>
            </p:cNvCxnSpPr>
            <p:nvPr/>
          </p:nvCxnSpPr>
          <p:spPr bwMode="auto">
            <a:xfrm flipH="1" flipV="1">
              <a:off x="4809745" y="5512821"/>
              <a:ext cx="100987" cy="172840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grpSp>
        <p:nvGrpSpPr>
          <p:cNvPr id="26" name="Group 25"/>
          <p:cNvGrpSpPr/>
          <p:nvPr/>
        </p:nvGrpSpPr>
        <p:grpSpPr>
          <a:xfrm>
            <a:off x="5444981" y="5463095"/>
            <a:ext cx="1138208" cy="369332"/>
            <a:chOff x="5444981" y="5463095"/>
            <a:chExt cx="1138208" cy="369332"/>
          </a:xfrm>
        </p:grpSpPr>
        <p:sp>
          <p:nvSpPr>
            <p:cNvPr id="10" name="TextBox 9"/>
            <p:cNvSpPr txBox="1"/>
            <p:nvPr/>
          </p:nvSpPr>
          <p:spPr>
            <a:xfrm>
              <a:off x="5605229" y="5463095"/>
              <a:ext cx="977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source 2</a:t>
              </a:r>
            </a:p>
          </p:txBody>
        </p:sp>
        <p:cxnSp>
          <p:nvCxnSpPr>
            <p:cNvPr id="19" name="Straight Arrow Connector 18"/>
            <p:cNvCxnSpPr>
              <a:stCxn id="10" idx="1"/>
            </p:cNvCxnSpPr>
            <p:nvPr/>
          </p:nvCxnSpPr>
          <p:spPr bwMode="auto">
            <a:xfrm flipH="1" flipV="1">
              <a:off x="5444981" y="5463095"/>
              <a:ext cx="160248" cy="184666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1893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</a:t>
            </a:r>
            <a:r>
              <a:rPr lang="en-US" dirty="0" smtClean="0"/>
              <a:t>Register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9031"/>
            <a:ext cx="5773249" cy="2781449"/>
          </a:xfrm>
        </p:spPr>
        <p:txBody>
          <a:bodyPr/>
          <a:lstStyle/>
          <a:p>
            <a:pPr marL="503237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More </a:t>
            </a:r>
            <a:r>
              <a:rPr lang="en-US" dirty="0"/>
              <a:t>registers might seem better, but there is a limit to the </a:t>
            </a:r>
            <a:r>
              <a:rPr lang="en-US" dirty="0" smtClean="0"/>
              <a:t>goodness</a:t>
            </a: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/>
              <a:t>more register the larger decoders, multiplexers, etc. → larger circuits delays</a:t>
            </a: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Instruction length is affected, as need more space to encode register </a:t>
            </a:r>
            <a:r>
              <a:rPr lang="en-US" sz="2000" dirty="0" smtClean="0"/>
              <a:t>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MIPS CPU has 32 registers, each of which holds a 32-bit value</a:t>
            </a: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Register addresses are 5 bits long</a:t>
            </a: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data inputs and outputs are 32-bits wide</a:t>
            </a: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4" name="Group 3"/>
          <p:cNvGrpSpPr/>
          <p:nvPr/>
        </p:nvGrpSpPr>
        <p:grpSpPr>
          <a:xfrm>
            <a:off x="6308928" y="1030946"/>
            <a:ext cx="2302889" cy="2247582"/>
            <a:chOff x="6308928" y="1030946"/>
            <a:chExt cx="2302889" cy="2247582"/>
          </a:xfrm>
        </p:grpSpPr>
        <p:grpSp>
          <p:nvGrpSpPr>
            <p:cNvPr id="6" name="Group 74"/>
            <p:cNvGrpSpPr/>
            <p:nvPr/>
          </p:nvGrpSpPr>
          <p:grpSpPr>
            <a:xfrm>
              <a:off x="6656645" y="1405277"/>
              <a:ext cx="1552498" cy="1873251"/>
              <a:chOff x="4488424" y="3657632"/>
              <a:chExt cx="1552498" cy="1873251"/>
            </a:xfrm>
          </p:grpSpPr>
          <p:sp>
            <p:nvSpPr>
              <p:cNvPr id="7" name="Rectangle 76"/>
              <p:cNvSpPr/>
              <p:nvPr/>
            </p:nvSpPr>
            <p:spPr bwMode="auto">
              <a:xfrm>
                <a:off x="4490028" y="3657632"/>
                <a:ext cx="1550894" cy="18706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490028" y="3657633"/>
                <a:ext cx="72808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>
                    <a:latin typeface="+mj-lt"/>
                  </a:rPr>
                  <a:t>r</a:t>
                </a:r>
                <a:r>
                  <a:rPr lang="en-US" sz="1100" dirty="0" smtClean="0">
                    <a:latin typeface="+mj-lt"/>
                  </a:rPr>
                  <a:t>egister </a:t>
                </a:r>
                <a:r>
                  <a:rPr lang="en-US" sz="1100" b="1" dirty="0" smtClean="0">
                    <a:latin typeface="+mj-lt"/>
                  </a:rPr>
                  <a:t>1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142771" y="3660836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pPr algn="r"/>
                <a:r>
                  <a:rPr lang="en-US" sz="1100" dirty="0">
                    <a:latin typeface="+mj-lt"/>
                  </a:rPr>
                  <a:t>d</a:t>
                </a:r>
                <a:r>
                  <a:rPr lang="en-US" sz="1100" dirty="0" smtClean="0">
                    <a:latin typeface="+mj-lt"/>
                  </a:rPr>
                  <a:t>ata </a:t>
                </a:r>
                <a:r>
                  <a:rPr lang="en-US" sz="1100" b="1" dirty="0" smtClean="0">
                    <a:latin typeface="+mj-lt"/>
                  </a:rPr>
                  <a:t>1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141166" y="5220532"/>
                <a:ext cx="8429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+mj-lt"/>
                  </a:rPr>
                  <a:t>Registers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490028" y="4132149"/>
                <a:ext cx="72808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>
                    <a:latin typeface="+mj-lt"/>
                  </a:rPr>
                  <a:t>r</a:t>
                </a:r>
                <a:r>
                  <a:rPr lang="en-US" sz="1100" dirty="0" smtClean="0">
                    <a:latin typeface="+mj-lt"/>
                  </a:rPr>
                  <a:t>egister </a:t>
                </a:r>
                <a:r>
                  <a:rPr lang="en-US" sz="1100" b="1" dirty="0" smtClean="0">
                    <a:latin typeface="+mj-lt"/>
                  </a:rPr>
                  <a:t>2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142771" y="4285847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pPr algn="r"/>
                <a:r>
                  <a:rPr lang="en-US" sz="1100" dirty="0">
                    <a:latin typeface="+mj-lt"/>
                  </a:rPr>
                  <a:t>d</a:t>
                </a:r>
                <a:r>
                  <a:rPr lang="en-US" sz="1100" dirty="0" smtClean="0">
                    <a:latin typeface="+mj-lt"/>
                  </a:rPr>
                  <a:t>ata </a:t>
                </a:r>
                <a:r>
                  <a:rPr lang="en-US" sz="1100" b="1" dirty="0">
                    <a:latin typeface="+mj-lt"/>
                  </a:rPr>
                  <a:t>2</a:t>
                </a:r>
                <a:endParaRPr lang="en-US" sz="1100" b="1" dirty="0" smtClean="0">
                  <a:latin typeface="+mj-lt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488424" y="4669109"/>
                <a:ext cx="62388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Write</a:t>
                </a:r>
              </a:p>
              <a:p>
                <a:r>
                  <a:rPr lang="en-US" sz="1100" dirty="0" smtClean="0">
                    <a:latin typeface="+mj-lt"/>
                  </a:rPr>
                  <a:t>register</a:t>
                </a:r>
                <a:endParaRPr lang="en-US" sz="1100" b="1" dirty="0" smtClean="0">
                  <a:latin typeface="+mj-lt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490028" y="5099996"/>
                <a:ext cx="50687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Write</a:t>
                </a:r>
              </a:p>
              <a:p>
                <a:r>
                  <a:rPr lang="en-US" sz="1100" dirty="0" smtClean="0">
                    <a:latin typeface="+mj-lt"/>
                  </a:rPr>
                  <a:t>data</a:t>
                </a:r>
                <a:endParaRPr lang="en-US" sz="1100" b="1" dirty="0" smtClean="0">
                  <a:latin typeface="+mj-lt"/>
                </a:endParaRPr>
              </a:p>
            </p:txBody>
          </p:sp>
          <p:sp>
            <p:nvSpPr>
              <p:cNvPr id="15" name="Rectangle 93"/>
              <p:cNvSpPr/>
              <p:nvPr/>
            </p:nvSpPr>
            <p:spPr bwMode="auto">
              <a:xfrm>
                <a:off x="5194990" y="3666551"/>
                <a:ext cx="133350" cy="1333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</p:grpSp>
        <p:grpSp>
          <p:nvGrpSpPr>
            <p:cNvPr id="16" name="Group 94"/>
            <p:cNvGrpSpPr/>
            <p:nvPr/>
          </p:nvGrpSpPr>
          <p:grpSpPr>
            <a:xfrm>
              <a:off x="7062095" y="1030946"/>
              <a:ext cx="739305" cy="383250"/>
              <a:chOff x="4262754" y="2858356"/>
              <a:chExt cx="739305" cy="383250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4262754" y="2858356"/>
                <a:ext cx="739305" cy="26161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100" dirty="0" err="1" smtClean="0">
                    <a:solidFill>
                      <a:schemeClr val="accent1"/>
                    </a:solidFill>
                    <a:latin typeface="+mj-lt"/>
                  </a:rPr>
                  <a:t>RegWrite</a:t>
                </a:r>
                <a:endParaRPr lang="en-US" sz="1100" dirty="0" smtClean="0">
                  <a:solidFill>
                    <a:schemeClr val="accent1"/>
                  </a:solidFill>
                  <a:latin typeface="+mj-lt"/>
                </a:endParaRPr>
              </a:p>
            </p:txBody>
          </p:sp>
          <p:cxnSp>
            <p:nvCxnSpPr>
              <p:cNvPr id="18" name="Straight Connector 96"/>
              <p:cNvCxnSpPr>
                <a:stCxn id="17" idx="2"/>
                <a:endCxn id="15" idx="0"/>
              </p:cNvCxnSpPr>
              <p:nvPr/>
            </p:nvCxnSpPr>
            <p:spPr bwMode="auto">
              <a:xfrm flipH="1">
                <a:off x="4630545" y="3119966"/>
                <a:ext cx="1862" cy="12164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0" name="Прямая соединительная линия 19"/>
            <p:cNvCxnSpPr/>
            <p:nvPr/>
          </p:nvCxnSpPr>
          <p:spPr bwMode="auto">
            <a:xfrm flipH="1">
              <a:off x="6362281" y="1623924"/>
              <a:ext cx="294364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2" name="Прямая соединительная линия 21"/>
            <p:cNvCxnSpPr>
              <a:stCxn id="11" idx="1"/>
            </p:cNvCxnSpPr>
            <p:nvPr/>
          </p:nvCxnSpPr>
          <p:spPr bwMode="auto">
            <a:xfrm flipH="1" flipV="1">
              <a:off x="6362281" y="2095237"/>
              <a:ext cx="295968" cy="1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" name="Прямая соединительная линия 25"/>
            <p:cNvCxnSpPr>
              <a:stCxn id="13" idx="1"/>
            </p:cNvCxnSpPr>
            <p:nvPr/>
          </p:nvCxnSpPr>
          <p:spPr bwMode="auto">
            <a:xfrm flipH="1">
              <a:off x="6362281" y="2632198"/>
              <a:ext cx="294364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9" name="Прямая соединительная линия 28"/>
            <p:cNvCxnSpPr>
              <a:stCxn id="14" idx="1"/>
            </p:cNvCxnSpPr>
            <p:nvPr/>
          </p:nvCxnSpPr>
          <p:spPr bwMode="auto">
            <a:xfrm flipH="1" flipV="1">
              <a:off x="6362281" y="3063084"/>
              <a:ext cx="295968" cy="1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6340747" y="1361435"/>
              <a:ext cx="33054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5b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344995" y="1839368"/>
              <a:ext cx="33054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5b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344193" y="2370588"/>
              <a:ext cx="33054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5b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308928" y="2801475"/>
              <a:ext cx="4026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32b</a:t>
              </a:r>
              <a:endParaRPr lang="en-US" sz="1100" b="1" dirty="0" smtClean="0">
                <a:latin typeface="+mj-lt"/>
              </a:endParaRPr>
            </a:p>
          </p:txBody>
        </p:sp>
        <p:cxnSp>
          <p:nvCxnSpPr>
            <p:cNvPr id="39" name="Прямая соединительная линия 38"/>
            <p:cNvCxnSpPr>
              <a:endCxn id="9" idx="3"/>
            </p:cNvCxnSpPr>
            <p:nvPr/>
          </p:nvCxnSpPr>
          <p:spPr bwMode="auto">
            <a:xfrm flipH="1">
              <a:off x="8209143" y="1623925"/>
              <a:ext cx="330540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0" name="TextBox 39"/>
            <p:cNvSpPr txBox="1"/>
            <p:nvPr/>
          </p:nvSpPr>
          <p:spPr>
            <a:xfrm>
              <a:off x="8209143" y="1362315"/>
              <a:ext cx="4026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32b</a:t>
              </a:r>
              <a:endParaRPr lang="en-US" sz="1100" b="1" dirty="0" smtClean="0">
                <a:latin typeface="+mj-lt"/>
              </a:endParaRPr>
            </a:p>
          </p:txBody>
        </p:sp>
        <p:cxnSp>
          <p:nvCxnSpPr>
            <p:cNvPr id="44" name="Прямая соединительная линия 43"/>
            <p:cNvCxnSpPr>
              <a:endCxn id="7" idx="3"/>
            </p:cNvCxnSpPr>
            <p:nvPr/>
          </p:nvCxnSpPr>
          <p:spPr bwMode="auto">
            <a:xfrm flipH="1">
              <a:off x="8209143" y="2340616"/>
              <a:ext cx="330540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8209143" y="2079005"/>
              <a:ext cx="4026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32b</a:t>
              </a:r>
              <a:endParaRPr lang="en-US" sz="1100" b="1" dirty="0" smtClean="0"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65122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</a:t>
            </a:r>
            <a:r>
              <a:rPr lang="en-US" dirty="0" smtClean="0"/>
              <a:t>Register Names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823" y="1059931"/>
            <a:ext cx="8114646" cy="23735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MIPS register names begin with a </a:t>
            </a:r>
            <a:r>
              <a:rPr lang="en-US" dirty="0">
                <a:solidFill>
                  <a:schemeClr val="accent1"/>
                </a:solidFill>
              </a:rPr>
              <a:t>$</a:t>
            </a:r>
            <a:r>
              <a:rPr lang="en-US" dirty="0"/>
              <a:t>. There are two naming conventions:</a:t>
            </a:r>
          </a:p>
          <a:p>
            <a:pPr marL="357188" lvl="1" indent="265113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By number:</a:t>
            </a:r>
          </a:p>
          <a:p>
            <a:pPr marL="357188" lvl="3" indent="265113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$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$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… $</a:t>
            </a:r>
            <a:r>
              <a:rPr lang="en-US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31</a:t>
            </a:r>
          </a:p>
          <a:p>
            <a:pPr marL="357188" lvl="2" indent="265113">
              <a:buFont typeface="Arial" panose="020B0604020202020204" pitchFamily="34" charset="0"/>
              <a:buChar char="•"/>
            </a:pPr>
            <a:r>
              <a:rPr lang="en-US" sz="2000" dirty="0" smtClean="0"/>
              <a:t>By </a:t>
            </a:r>
            <a:r>
              <a:rPr lang="en-US" sz="2000" dirty="0"/>
              <a:t>(mostly) two-character names, such as:</a:t>
            </a:r>
          </a:p>
          <a:p>
            <a:pPr marL="357188" lvl="3" indent="265113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-$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$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-$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s7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$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-$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t9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$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$</a:t>
            </a:r>
            <a:r>
              <a:rPr lang="en-US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ra</a:t>
            </a:r>
            <a:endParaRPr lang="en-US" b="1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822597" y="1720421"/>
            <a:ext cx="2089231" cy="4220921"/>
            <a:chOff x="6822597" y="1720421"/>
            <a:chExt cx="2089231" cy="4220921"/>
          </a:xfrm>
        </p:grpSpPr>
        <p:graphicFrame>
          <p:nvGraphicFramePr>
            <p:cNvPr id="4" name="Content Placeholder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55524661"/>
                </p:ext>
              </p:extLst>
            </p:nvPr>
          </p:nvGraphicFramePr>
          <p:xfrm>
            <a:off x="6895307" y="1720421"/>
            <a:ext cx="1952863" cy="3712878"/>
          </p:xfrm>
          <a:graphic>
            <a:graphicData uri="http://schemas.openxmlformats.org/drawingml/2006/table">
              <a:tbl>
                <a:tblPr firstRow="1">
                  <a:tableStyleId>{B301B821-A1FF-4177-AEE7-76D212191A09}</a:tableStyleId>
                </a:tblPr>
                <a:tblGrid>
                  <a:gridCol w="939852"/>
                  <a:gridCol w="1013011"/>
                </a:tblGrid>
                <a:tr h="167880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Number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Name</a:t>
                        </a: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167880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$0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>
                            <a:effectLst/>
                          </a:rPr>
                          <a:t>$zero</a:t>
                        </a: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167880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$1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$at</a:t>
                        </a: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273875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$2</a:t>
                        </a:r>
                        <a:r>
                          <a:rPr lang="en-US" sz="1400" dirty="0">
                            <a:effectLst/>
                          </a:rPr>
                          <a:t>, </a:t>
                        </a:r>
                        <a:r>
                          <a:rPr lang="en-US" sz="1400" dirty="0" smtClean="0">
                            <a:effectLst/>
                          </a:rPr>
                          <a:t>$3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$v0, $v1</a:t>
                        </a: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273875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$4 </a:t>
                        </a:r>
                        <a:r>
                          <a:rPr lang="en-US" sz="1400" dirty="0">
                            <a:effectLst/>
                          </a:rPr>
                          <a:t>- </a:t>
                        </a:r>
                        <a:r>
                          <a:rPr lang="en-US" sz="1400" dirty="0" smtClean="0">
                            <a:effectLst/>
                          </a:rPr>
                          <a:t>$7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$a0 - $a3</a:t>
                        </a: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273875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$8 </a:t>
                        </a:r>
                        <a:r>
                          <a:rPr lang="en-US" sz="1400" dirty="0">
                            <a:effectLst/>
                          </a:rPr>
                          <a:t>- </a:t>
                        </a:r>
                        <a:r>
                          <a:rPr lang="en-US" sz="1400" dirty="0" smtClean="0">
                            <a:effectLst/>
                          </a:rPr>
                          <a:t>$15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$t0 - $t7</a:t>
                        </a: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273875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$16 </a:t>
                        </a:r>
                        <a:r>
                          <a:rPr lang="en-US" sz="1400" dirty="0">
                            <a:effectLst/>
                          </a:rPr>
                          <a:t>- </a:t>
                        </a:r>
                        <a:r>
                          <a:rPr lang="en-US" sz="1400" dirty="0" smtClean="0">
                            <a:effectLst/>
                          </a:rPr>
                          <a:t>$23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$s0 - $s7</a:t>
                        </a: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273875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$24</a:t>
                        </a:r>
                        <a:r>
                          <a:rPr lang="en-US" sz="1400" dirty="0">
                            <a:effectLst/>
                          </a:rPr>
                          <a:t>, </a:t>
                        </a:r>
                        <a:r>
                          <a:rPr lang="en-US" sz="1400" dirty="0" smtClean="0">
                            <a:effectLst/>
                          </a:rPr>
                          <a:t>$25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$t8, $t9</a:t>
                        </a: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273875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$26</a:t>
                        </a:r>
                        <a:r>
                          <a:rPr lang="en-US" sz="1400" dirty="0">
                            <a:effectLst/>
                          </a:rPr>
                          <a:t>, </a:t>
                        </a:r>
                        <a:r>
                          <a:rPr lang="en-US" sz="1400" dirty="0" smtClean="0">
                            <a:effectLst/>
                          </a:rPr>
                          <a:t>$27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$k0, $k1</a:t>
                        </a: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167880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$28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$</a:t>
                        </a:r>
                        <a:r>
                          <a:rPr lang="en-US" sz="1400" dirty="0" err="1">
                            <a:effectLst/>
                          </a:rPr>
                          <a:t>gp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167880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$29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$</a:t>
                        </a:r>
                        <a:r>
                          <a:rPr lang="en-US" sz="1400" dirty="0" err="1">
                            <a:effectLst/>
                          </a:rPr>
                          <a:t>sp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167880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$30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$fp</a:t>
                        </a: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  <a:tr h="167880">
                  <a:tc>
                    <a:txBody>
                      <a:bodyPr/>
                      <a:lstStyle/>
                      <a:p>
                        <a:r>
                          <a:rPr lang="en-US" sz="1400" dirty="0" smtClean="0">
                            <a:effectLst/>
                          </a:rPr>
                          <a:t>$31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R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400" dirty="0">
                            <a:effectLst/>
                          </a:rPr>
                          <a:t>$</a:t>
                        </a:r>
                        <a:r>
                          <a:rPr lang="en-US" sz="1400" dirty="0" err="1">
                            <a:effectLst/>
                          </a:rPr>
                          <a:t>ra</a:t>
                        </a:r>
                        <a:endParaRPr lang="en-US" sz="1400" dirty="0">
                          <a:effectLst/>
                        </a:endParaRPr>
                      </a:p>
                    </a:txBody>
                    <a:tcPr marL="36123" marR="36123" marT="36123" marB="36123" anchor="ctr">
                      <a:lnL w="12700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</a:tcPr>
                  </a:tc>
                </a:tr>
              </a:tbl>
            </a:graphicData>
          </a:graphic>
        </p:graphicFrame>
        <p:sp>
          <p:nvSpPr>
            <p:cNvPr id="5" name="TextBox 4"/>
            <p:cNvSpPr txBox="1"/>
            <p:nvPr/>
          </p:nvSpPr>
          <p:spPr>
            <a:xfrm>
              <a:off x="6822597" y="5510455"/>
              <a:ext cx="208923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+mn-lt"/>
                </a:rPr>
                <a:t>D</a:t>
              </a:r>
              <a:r>
                <a:rPr lang="en-US" sz="1100" dirty="0" smtClean="0">
                  <a:latin typeface="+mn-lt"/>
                </a:rPr>
                <a:t>etailed description of each register can be seen by </a:t>
              </a:r>
              <a:r>
                <a:rPr lang="en-US" sz="1100" dirty="0" smtClean="0">
                  <a:latin typeface="+mn-lt"/>
                  <a:hlinkClick r:id="rId3"/>
                </a:rPr>
                <a:t>this link</a:t>
              </a:r>
              <a:endParaRPr lang="en-US" sz="1100" dirty="0" smtClean="0">
                <a:latin typeface="+mn-lt"/>
              </a:endParaRPr>
            </a:p>
          </p:txBody>
        </p:sp>
      </p:grp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3893" y="3426613"/>
            <a:ext cx="6223093" cy="2373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346075" indent="-344488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defRPr sz="24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6842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1030288" indent="-2841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1314450" indent="-2301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Why so many different registers</a:t>
            </a:r>
            <a:r>
              <a:rPr lang="en-US" dirty="0" smtClean="0">
                <a:latin typeface="+mn-lt"/>
              </a:rPr>
              <a:t>?</a:t>
            </a: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Not all of them are general purpose registers (GPR)</a:t>
            </a: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There </a:t>
            </a:r>
            <a:r>
              <a:rPr lang="en-US" sz="2000" dirty="0">
                <a:latin typeface="+mn-lt"/>
              </a:rPr>
              <a:t>are a lot of special purposes: 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procedure mechanism, exception/interrupt </a:t>
            </a:r>
            <a:r>
              <a:rPr lang="en-US" sz="2000" dirty="0" smtClean="0">
                <a:solidFill>
                  <a:schemeClr val="tx2"/>
                </a:solidFill>
                <a:latin typeface="+mn-lt"/>
              </a:rPr>
              <a:t>handling,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 our project mostly </a:t>
            </a:r>
            <a:r>
              <a:rPr lang="en-US" dirty="0" smtClean="0">
                <a:latin typeface="+mn-lt"/>
              </a:rPr>
              <a:t>GPRs </a:t>
            </a:r>
            <a:r>
              <a:rPr lang="en-US" dirty="0">
                <a:latin typeface="+mn-lt"/>
              </a:rPr>
              <a:t>are used: </a:t>
            </a:r>
            <a:r>
              <a:rPr lang="en-US" sz="2000" dirty="0" smtClean="0">
                <a:solidFill>
                  <a:schemeClr val="tx2"/>
                </a:solidFill>
                <a:latin typeface="+mn-lt"/>
              </a:rPr>
              <a:t>$t and $s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74060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R-type instructions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889596"/>
            <a:ext cx="8228012" cy="44223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Register-to-register </a:t>
            </a:r>
            <a:r>
              <a:rPr lang="en-US" dirty="0" smtClean="0"/>
              <a:t>(three register operands) arithmetic </a:t>
            </a:r>
            <a:r>
              <a:rPr lang="en-US" dirty="0"/>
              <a:t>instructions use the </a:t>
            </a:r>
            <a:r>
              <a:rPr lang="en-US" dirty="0">
                <a:solidFill>
                  <a:schemeClr val="accent1"/>
                </a:solidFill>
              </a:rPr>
              <a:t>R-type </a:t>
            </a:r>
            <a:r>
              <a:rPr lang="en-US" dirty="0" smtClean="0"/>
              <a:t>format: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1800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9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format includes six different </a:t>
            </a:r>
            <a:r>
              <a:rPr lang="en-US" dirty="0" smtClean="0"/>
              <a:t>fields:</a:t>
            </a:r>
            <a:endParaRPr lang="en-US" dirty="0"/>
          </a:p>
          <a:p>
            <a:pPr marL="688975" lvl="1" indent="-3429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accent1"/>
                </a:solidFill>
              </a:rPr>
              <a:t>op</a:t>
            </a:r>
            <a:r>
              <a:rPr lang="en-US" sz="1800" dirty="0" smtClean="0"/>
              <a:t> </a:t>
            </a:r>
            <a:r>
              <a:rPr lang="en-US" sz="1800" dirty="0"/>
              <a:t>is an operation code </a:t>
            </a:r>
            <a:r>
              <a:rPr lang="en-US" sz="1800" dirty="0" smtClean="0"/>
              <a:t>that </a:t>
            </a:r>
            <a:r>
              <a:rPr lang="en-US" sz="1800" dirty="0"/>
              <a:t>selects a specific </a:t>
            </a:r>
            <a:r>
              <a:rPr lang="en-US" sz="1800" dirty="0" smtClean="0"/>
              <a:t>action </a:t>
            </a:r>
            <a:r>
              <a:rPr lang="en-US" sz="1800" dirty="0" smtClean="0">
                <a:solidFill>
                  <a:schemeClr val="tx2"/>
                </a:solidFill>
              </a:rPr>
              <a:t>(also defines the format)</a:t>
            </a:r>
            <a:endParaRPr lang="en-US" sz="1800" dirty="0">
              <a:solidFill>
                <a:schemeClr val="tx2"/>
              </a:solidFill>
            </a:endParaRPr>
          </a:p>
          <a:p>
            <a:pPr marL="688975" lvl="1" indent="-3429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 err="1" smtClean="0">
                <a:solidFill>
                  <a:schemeClr val="accent1"/>
                </a:solidFill>
              </a:rPr>
              <a:t>rs</a:t>
            </a:r>
            <a:r>
              <a:rPr lang="en-US" sz="1800" dirty="0" smtClean="0"/>
              <a:t> </a:t>
            </a:r>
            <a:r>
              <a:rPr lang="en-US" sz="1800" dirty="0"/>
              <a:t>and </a:t>
            </a:r>
            <a:r>
              <a:rPr lang="en-US" sz="1800" dirty="0" err="1">
                <a:solidFill>
                  <a:schemeClr val="accent1"/>
                </a:solidFill>
              </a:rPr>
              <a:t>rt</a:t>
            </a:r>
            <a:r>
              <a:rPr lang="en-US" sz="1800" dirty="0"/>
              <a:t> are the first and second source </a:t>
            </a:r>
            <a:r>
              <a:rPr lang="en-US" sz="1800" dirty="0" smtClean="0"/>
              <a:t>registers</a:t>
            </a:r>
            <a:endParaRPr lang="en-US" sz="1800" dirty="0"/>
          </a:p>
          <a:p>
            <a:pPr marL="688975" lvl="1" indent="-3429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 err="1" smtClean="0">
                <a:solidFill>
                  <a:schemeClr val="accent1"/>
                </a:solidFill>
              </a:rPr>
              <a:t>rd</a:t>
            </a:r>
            <a:r>
              <a:rPr lang="en-US" sz="1800" dirty="0" smtClean="0"/>
              <a:t> </a:t>
            </a:r>
            <a:r>
              <a:rPr lang="en-US" sz="1800" dirty="0"/>
              <a:t>is the destination </a:t>
            </a:r>
            <a:r>
              <a:rPr lang="en-US" sz="1800" dirty="0" smtClean="0"/>
              <a:t>register</a:t>
            </a:r>
            <a:endParaRPr lang="en-US" sz="1800" dirty="0"/>
          </a:p>
          <a:p>
            <a:pPr marL="688975" lvl="1" indent="-3429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 err="1" smtClean="0">
                <a:solidFill>
                  <a:schemeClr val="accent1"/>
                </a:solidFill>
              </a:rPr>
              <a:t>shamt</a:t>
            </a:r>
            <a:r>
              <a:rPr lang="en-US" sz="1800" dirty="0" smtClean="0"/>
              <a:t> </a:t>
            </a:r>
            <a:r>
              <a:rPr lang="en-US" sz="1800" dirty="0"/>
              <a:t>is only used for shift </a:t>
            </a:r>
            <a:r>
              <a:rPr lang="en-US" sz="1800" dirty="0" smtClean="0"/>
              <a:t>instructions</a:t>
            </a:r>
            <a:endParaRPr lang="en-US" sz="1800" dirty="0"/>
          </a:p>
          <a:p>
            <a:pPr marL="688975" lvl="1" indent="-3429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 err="1" smtClean="0">
                <a:solidFill>
                  <a:schemeClr val="accent1"/>
                </a:solidFill>
              </a:rPr>
              <a:t>func</a:t>
            </a:r>
            <a:r>
              <a:rPr lang="en-US" sz="1800" dirty="0" smtClean="0"/>
              <a:t> </a:t>
            </a:r>
            <a:r>
              <a:rPr lang="en-US" sz="1800" dirty="0"/>
              <a:t>is used together with op to select an arithmetic </a:t>
            </a:r>
            <a:r>
              <a:rPr lang="en-US" sz="1800" dirty="0" smtClean="0"/>
              <a:t>instruction</a:t>
            </a:r>
            <a:endParaRPr lang="en-US" sz="1800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Example: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1422400" y="1762608"/>
            <a:ext cx="6339840" cy="802640"/>
            <a:chOff x="1422400" y="1959838"/>
            <a:chExt cx="6339840" cy="802640"/>
          </a:xfrm>
        </p:grpSpPr>
        <p:sp>
          <p:nvSpPr>
            <p:cNvPr id="4" name="Rectangle 3"/>
            <p:cNvSpPr/>
            <p:nvPr/>
          </p:nvSpPr>
          <p:spPr bwMode="auto">
            <a:xfrm>
              <a:off x="142240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smtClean="0">
                  <a:latin typeface="+mj-lt"/>
                  <a:cs typeface="Consolas" pitchFamily="49" charset="0"/>
                </a:rPr>
                <a:t>op</a:t>
              </a: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247904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+mj-lt"/>
                  <a:cs typeface="Consolas" pitchFamily="49" charset="0"/>
                </a:rPr>
                <a:t>rs</a:t>
              </a:r>
              <a:endParaRPr lang="en-US" sz="2000" dirty="0" smtClean="0">
                <a:latin typeface="+mj-lt"/>
                <a:cs typeface="Consolas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53568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+mj-lt"/>
                  <a:cs typeface="Consolas" pitchFamily="49" charset="0"/>
                </a:rPr>
                <a:t>rt</a:t>
              </a:r>
              <a:endParaRPr lang="en-US" sz="2000" dirty="0" smtClean="0">
                <a:latin typeface="+mj-lt"/>
                <a:cs typeface="Consolas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459232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+mj-lt"/>
                  <a:cs typeface="Consolas" pitchFamily="49" charset="0"/>
                </a:rPr>
                <a:t>rd</a:t>
              </a:r>
              <a:endParaRPr lang="en-US" sz="2000" dirty="0" smtClean="0">
                <a:latin typeface="+mj-lt"/>
                <a:cs typeface="Consolas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564896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+mj-lt"/>
                  <a:cs typeface="Consolas" pitchFamily="49" charset="0"/>
                </a:rPr>
                <a:t>shamt</a:t>
              </a:r>
              <a:endParaRPr lang="en-US" sz="2000" dirty="0" smtClean="0">
                <a:latin typeface="+mj-lt"/>
                <a:cs typeface="Consolas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670560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+mj-lt"/>
                  <a:cs typeface="Consolas" pitchFamily="49" charset="0"/>
                </a:rPr>
                <a:t>funct</a:t>
              </a:r>
              <a:endParaRPr lang="en-US" sz="2000" dirty="0" smtClean="0">
                <a:latin typeface="+mj-lt"/>
                <a:cs typeface="Consolas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142240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+mj-lt"/>
                  <a:cs typeface="Consolas" pitchFamily="49" charset="0"/>
                </a:rPr>
                <a:t>6 bits</a:t>
              </a: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247904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+mj-lt"/>
                  <a:cs typeface="Consolas" pitchFamily="49" charset="0"/>
                </a:rPr>
                <a:t>5 bits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53568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+mj-lt"/>
                  <a:cs typeface="Consolas" pitchFamily="49" charset="0"/>
                </a:rPr>
                <a:t>5 bits</a:t>
              </a: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459232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+mj-lt"/>
                  <a:cs typeface="Consolas" pitchFamily="49" charset="0"/>
                </a:rPr>
                <a:t>5 bits</a:t>
              </a: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564896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+mj-lt"/>
                  <a:cs typeface="Consolas" pitchFamily="49" charset="0"/>
                </a:rPr>
                <a:t>5 bits</a:t>
              </a: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670560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+mj-lt"/>
                  <a:cs typeface="Consolas" pitchFamily="49" charset="0"/>
                </a:rPr>
                <a:t>6 bits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136871" y="5919733"/>
            <a:ext cx="6786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  <a:cs typeface="Consolas" pitchFamily="49" charset="0"/>
              </a:rPr>
              <a:t> 000000| 10001 | 10010 | 01000 | 00000 | 100000</a:t>
            </a:r>
            <a:endParaRPr lang="en-US" sz="2000" dirty="0">
              <a:latin typeface="+mj-lt"/>
              <a:cs typeface="Consolas" pitchFamily="49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361667" y="5642250"/>
            <a:ext cx="6336657" cy="277482"/>
            <a:chOff x="1361667" y="5642250"/>
            <a:chExt cx="6336657" cy="277482"/>
          </a:xfrm>
        </p:grpSpPr>
        <p:sp>
          <p:nvSpPr>
            <p:cNvPr id="18" name="Rectangle 17"/>
            <p:cNvSpPr/>
            <p:nvPr/>
          </p:nvSpPr>
          <p:spPr bwMode="auto">
            <a:xfrm>
              <a:off x="1361667" y="5642250"/>
              <a:ext cx="744636" cy="277482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smtClean="0">
                  <a:latin typeface="+mj-lt"/>
                  <a:cs typeface="Consolas" pitchFamily="49" charset="0"/>
                </a:rPr>
                <a:t>opcode</a:t>
              </a: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2467449" y="5642250"/>
              <a:ext cx="744636" cy="277482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err="1" smtClean="0">
                  <a:latin typeface="+mj-lt"/>
                  <a:cs typeface="Consolas" pitchFamily="49" charset="0"/>
                </a:rPr>
                <a:t>rs</a:t>
              </a:r>
              <a:endParaRPr lang="en-US" sz="1600" dirty="0" smtClean="0">
                <a:latin typeface="+mj-lt"/>
                <a:cs typeface="Consolas" pitchFamily="49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3539376" y="5642250"/>
              <a:ext cx="744636" cy="277482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err="1" smtClean="0">
                  <a:latin typeface="+mj-lt"/>
                  <a:cs typeface="Consolas" pitchFamily="49" charset="0"/>
                </a:rPr>
                <a:t>rt</a:t>
              </a:r>
              <a:endParaRPr lang="en-US" sz="1600" dirty="0" smtClean="0">
                <a:latin typeface="+mj-lt"/>
                <a:cs typeface="Consolas" pitchFamily="49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4656331" y="5642250"/>
              <a:ext cx="744636" cy="277482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err="1" smtClean="0">
                  <a:latin typeface="+mj-lt"/>
                  <a:cs typeface="Consolas" pitchFamily="49" charset="0"/>
                </a:rPr>
                <a:t>rd</a:t>
              </a:r>
              <a:endParaRPr lang="en-US" sz="1600" dirty="0" smtClean="0">
                <a:latin typeface="+mj-lt"/>
                <a:cs typeface="Consolas" pitchFamily="49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5765181" y="5642250"/>
              <a:ext cx="744636" cy="277482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err="1" smtClean="0">
                  <a:latin typeface="+mj-lt"/>
                  <a:cs typeface="Consolas" pitchFamily="49" charset="0"/>
                </a:rPr>
                <a:t>shamt</a:t>
              </a:r>
              <a:endParaRPr lang="en-US" sz="1600" dirty="0" smtClean="0">
                <a:latin typeface="+mj-lt"/>
                <a:cs typeface="Consolas" pitchFamily="49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6953688" y="5642250"/>
              <a:ext cx="744636" cy="277482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err="1" smtClean="0">
                  <a:latin typeface="+mj-lt"/>
                  <a:cs typeface="Consolas" pitchFamily="49" charset="0"/>
                </a:rPr>
                <a:t>funct</a:t>
              </a:r>
              <a:endParaRPr lang="en-US" sz="1600" dirty="0" smtClean="0">
                <a:latin typeface="+mj-lt"/>
                <a:cs typeface="Consolas" pitchFamily="49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361667" y="5311971"/>
            <a:ext cx="6321418" cy="294538"/>
            <a:chOff x="1361667" y="5311971"/>
            <a:chExt cx="6321418" cy="294538"/>
          </a:xfrm>
        </p:grpSpPr>
        <p:sp>
          <p:nvSpPr>
            <p:cNvPr id="24" name="Rectangle 23"/>
            <p:cNvSpPr/>
            <p:nvPr/>
          </p:nvSpPr>
          <p:spPr bwMode="auto">
            <a:xfrm>
              <a:off x="1361667" y="5329027"/>
              <a:ext cx="744636" cy="277482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Consolas" pitchFamily="49" charset="0"/>
                </a:rPr>
                <a:t>add</a:t>
              </a: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2467449" y="5329027"/>
              <a:ext cx="744636" cy="277482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Consolas" pitchFamily="49" charset="0"/>
                </a:rPr>
                <a:t>$s1</a:t>
              </a: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3539376" y="5329027"/>
              <a:ext cx="744636" cy="277482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Consolas" pitchFamily="49" charset="0"/>
                </a:rPr>
                <a:t>$s2</a:t>
              </a: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4656331" y="5311971"/>
              <a:ext cx="744636" cy="277482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Consolas" pitchFamily="49" charset="0"/>
                </a:rPr>
                <a:t>$t0</a:t>
              </a: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6938449" y="5329027"/>
              <a:ext cx="744636" cy="277482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Consolas" pitchFamily="49" charset="0"/>
                </a:rPr>
                <a:t>signed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496511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Immediate Operands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70281"/>
            <a:ext cx="8228012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R-type instructions take data from registers. How does it occur there?</a:t>
            </a: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From the memory (on the next foils)</a:t>
            </a: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From </a:t>
            </a:r>
            <a:r>
              <a:rPr lang="en-US" sz="2000" dirty="0" smtClean="0">
                <a:solidFill>
                  <a:schemeClr val="accent1"/>
                </a:solidFill>
              </a:rPr>
              <a:t>immediate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MIPS allows to </a:t>
            </a:r>
            <a:r>
              <a:rPr lang="en-US" dirty="0"/>
              <a:t>specify a immediate value (signed constant), for the second source instead of a </a:t>
            </a:r>
            <a:r>
              <a:rPr lang="en-US" dirty="0" smtClean="0"/>
              <a:t>register, i.e. instead of </a:t>
            </a:r>
            <a:r>
              <a:rPr lang="en-US" dirty="0" err="1" smtClean="0">
                <a:solidFill>
                  <a:schemeClr val="accent1"/>
                </a:solidFill>
              </a:rPr>
              <a:t>rt</a:t>
            </a:r>
            <a:endParaRPr lang="en-US" dirty="0"/>
          </a:p>
          <a:p>
            <a:pPr marL="690563" lvl="1" indent="-334963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For </a:t>
            </a:r>
            <a:r>
              <a:rPr lang="en-US" sz="2000" dirty="0" smtClean="0"/>
              <a:t>example</a:t>
            </a:r>
            <a:r>
              <a:rPr lang="en-US" sz="2000" dirty="0"/>
              <a:t>: </a:t>
            </a:r>
            <a:r>
              <a:rPr lang="en-US" sz="2000" dirty="0" smtClean="0"/>
              <a:t>   </a:t>
            </a:r>
            <a:r>
              <a:rPr lang="en-US" sz="2000" dirty="0" err="1" smtClean="0">
                <a:cs typeface="Consolas" panose="020B0609020204030204" pitchFamily="49" charset="0"/>
              </a:rPr>
              <a:t>addi</a:t>
            </a:r>
            <a:r>
              <a:rPr lang="en-US" sz="2000" dirty="0" smtClean="0">
                <a:cs typeface="Consolas" panose="020B0609020204030204" pitchFamily="49" charset="0"/>
              </a:rPr>
              <a:t> </a:t>
            </a:r>
            <a:r>
              <a:rPr lang="en-US" sz="2000" dirty="0">
                <a:cs typeface="Consolas" panose="020B0609020204030204" pitchFamily="49" charset="0"/>
              </a:rPr>
              <a:t>$t0, $t1, 4 </a:t>
            </a:r>
            <a:r>
              <a:rPr lang="en-US" sz="2000" dirty="0" smtClean="0">
                <a:cs typeface="Consolas" panose="020B0609020204030204" pitchFamily="49" charset="0"/>
              </a:rPr>
              <a:t> 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#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$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t0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= $t1 +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accent1"/>
                </a:solidFill>
              </a:rPr>
              <a:t>rt</a:t>
            </a:r>
            <a:r>
              <a:rPr lang="en-US" dirty="0" smtClean="0"/>
              <a:t> field is too small to preset real constants</a:t>
            </a:r>
          </a:p>
          <a:p>
            <a:pPr marL="688975" lvl="1" indent="-3429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5 bits </a:t>
            </a:r>
            <a:r>
              <a:rPr lang="en-US" sz="2000" dirty="0">
                <a:cs typeface="Calibri"/>
              </a:rPr>
              <a:t>→</a:t>
            </a:r>
            <a:r>
              <a:rPr lang="en-US" sz="2000" dirty="0" smtClean="0">
                <a:cs typeface="Calibri"/>
              </a:rPr>
              <a:t> values from [-16; 15]</a:t>
            </a:r>
            <a:endParaRPr lang="en-US" sz="20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Cannot use R-type format to encode such instructions </a:t>
            </a:r>
            <a:r>
              <a:rPr lang="en-US" dirty="0" smtClean="0">
                <a:cs typeface="Calibri"/>
              </a:rPr>
              <a:t>→</a:t>
            </a:r>
            <a:r>
              <a:rPr lang="en-US" dirty="0" smtClean="0"/>
              <a:t> need a new format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62241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I-type Format for ALU Instructions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58331"/>
            <a:ext cx="8228012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ALU instructions with immediate (two </a:t>
            </a:r>
            <a:r>
              <a:rPr lang="en-US" dirty="0"/>
              <a:t>register operands) </a:t>
            </a:r>
            <a:r>
              <a:rPr lang="en-US" dirty="0" smtClean="0"/>
              <a:t>use </a:t>
            </a:r>
            <a:r>
              <a:rPr lang="en-US" dirty="0"/>
              <a:t>the </a:t>
            </a:r>
            <a:r>
              <a:rPr lang="en-US" dirty="0" smtClean="0">
                <a:solidFill>
                  <a:schemeClr val="accent1"/>
                </a:solidFill>
              </a:rPr>
              <a:t>I-type </a:t>
            </a:r>
            <a:r>
              <a:rPr lang="en-US" dirty="0"/>
              <a:t>format</a:t>
            </a:r>
            <a:r>
              <a:rPr lang="en-US" dirty="0" smtClean="0"/>
              <a:t>:</a:t>
            </a:r>
          </a:p>
          <a:p>
            <a:endParaRPr lang="en-US" sz="1800" dirty="0" smtClean="0"/>
          </a:p>
          <a:p>
            <a:endParaRPr lang="en-US" sz="9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uniformity, </a:t>
            </a:r>
            <a:r>
              <a:rPr lang="en-US" dirty="0">
                <a:solidFill>
                  <a:schemeClr val="accent1"/>
                </a:solidFill>
              </a:rPr>
              <a:t>op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1"/>
                </a:solidFill>
              </a:rPr>
              <a:t>rs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</a:t>
            </a:r>
            <a:r>
              <a:rPr lang="en-US" dirty="0" err="1">
                <a:solidFill>
                  <a:schemeClr val="accent1"/>
                </a:solidFill>
              </a:rPr>
              <a:t>rt</a:t>
            </a:r>
            <a:r>
              <a:rPr lang="en-US" dirty="0"/>
              <a:t> are in the same positions as in the </a:t>
            </a:r>
            <a:r>
              <a:rPr lang="en-US" dirty="0" smtClean="0"/>
              <a:t>R-type format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This format includes </a:t>
            </a:r>
            <a:r>
              <a:rPr lang="en-US" dirty="0" smtClean="0"/>
              <a:t>four </a:t>
            </a:r>
            <a:r>
              <a:rPr lang="en-US" dirty="0"/>
              <a:t>different fields:</a:t>
            </a: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accent1"/>
                </a:solidFill>
              </a:rPr>
              <a:t>rs</a:t>
            </a:r>
            <a:r>
              <a:rPr lang="en-US" sz="2000" dirty="0" smtClean="0"/>
              <a:t> </a:t>
            </a:r>
            <a:r>
              <a:rPr lang="en-US" sz="2000" dirty="0"/>
              <a:t>is a source </a:t>
            </a:r>
            <a:r>
              <a:rPr lang="en-US" sz="2000" dirty="0" smtClean="0"/>
              <a:t>register (first operand)</a:t>
            </a: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accent1"/>
                </a:solidFill>
              </a:rPr>
              <a:t>rt</a:t>
            </a:r>
            <a:r>
              <a:rPr lang="en-US" sz="2000" dirty="0" smtClean="0"/>
              <a:t> </a:t>
            </a:r>
            <a:r>
              <a:rPr lang="en-US" sz="2000" dirty="0"/>
              <a:t>is </a:t>
            </a:r>
            <a:r>
              <a:rPr lang="en-US" sz="2000" dirty="0" smtClean="0"/>
              <a:t>a </a:t>
            </a:r>
            <a:r>
              <a:rPr lang="en-US" sz="2000" dirty="0"/>
              <a:t>destination </a:t>
            </a:r>
            <a:r>
              <a:rPr lang="en-US" sz="2000" dirty="0" smtClean="0"/>
              <a:t>register </a:t>
            </a: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/>
                </a:solidFill>
              </a:rPr>
              <a:t>i</a:t>
            </a:r>
            <a:r>
              <a:rPr lang="en-US" sz="2000" dirty="0" err="1" smtClean="0">
                <a:solidFill>
                  <a:schemeClr val="accent1"/>
                </a:solidFill>
              </a:rPr>
              <a:t>mm</a:t>
            </a:r>
            <a:r>
              <a:rPr lang="en-US" sz="2000" dirty="0" smtClean="0"/>
              <a:t> is a </a:t>
            </a:r>
            <a:r>
              <a:rPr lang="en-US" sz="2000" i="1" dirty="0" smtClean="0"/>
              <a:t>signed</a:t>
            </a:r>
            <a:r>
              <a:rPr lang="en-US" sz="2000" dirty="0" smtClean="0"/>
              <a:t> value of the second operand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dirty="0" smtClean="0"/>
              <a:t>he immediate can </a:t>
            </a:r>
            <a:r>
              <a:rPr lang="en-US" dirty="0"/>
              <a:t>range from -32,768 to +</a:t>
            </a:r>
            <a:r>
              <a:rPr lang="en-US" dirty="0" smtClean="0"/>
              <a:t>32,767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But </a:t>
            </a:r>
            <a:r>
              <a:rPr lang="en-US" sz="2000" dirty="0"/>
              <a:t>that’s not always </a:t>
            </a:r>
            <a:r>
              <a:rPr lang="en-US" sz="2000" dirty="0" smtClean="0"/>
              <a:t>enough </a:t>
            </a:r>
            <a:r>
              <a:rPr lang="en-US" sz="2000" dirty="0" smtClean="0">
                <a:latin typeface="Calibri"/>
                <a:cs typeface="Calibri"/>
              </a:rPr>
              <a:t>→ </a:t>
            </a:r>
            <a:r>
              <a:rPr lang="en-US" sz="2000" dirty="0"/>
              <a:t>need to </a:t>
            </a:r>
            <a:r>
              <a:rPr lang="en-US" sz="2000" dirty="0" smtClean="0"/>
              <a:t>write to a register </a:t>
            </a:r>
            <a:r>
              <a:rPr lang="en-US" sz="2000" dirty="0"/>
              <a:t>by </a:t>
            </a:r>
            <a:r>
              <a:rPr lang="en-US" sz="2000" dirty="0" smtClean="0"/>
              <a:t>halves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422400" y="1903063"/>
            <a:ext cx="6339840" cy="802640"/>
            <a:chOff x="1422400" y="1959838"/>
            <a:chExt cx="6339840" cy="802640"/>
          </a:xfrm>
        </p:grpSpPr>
        <p:sp>
          <p:nvSpPr>
            <p:cNvPr id="6" name="Rectangle 5"/>
            <p:cNvSpPr/>
            <p:nvPr/>
          </p:nvSpPr>
          <p:spPr bwMode="auto">
            <a:xfrm>
              <a:off x="142240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smtClean="0">
                  <a:latin typeface="Consolas" pitchFamily="49" charset="0"/>
                  <a:cs typeface="Consolas" pitchFamily="49" charset="0"/>
                </a:rPr>
                <a:t>op</a:t>
              </a: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247904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Consolas" pitchFamily="49" charset="0"/>
                  <a:cs typeface="Consolas" pitchFamily="49" charset="0"/>
                </a:rPr>
                <a:t>rs</a:t>
              </a:r>
              <a:endParaRPr lang="en-US" sz="2000" dirty="0" smtClean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53568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Consolas" pitchFamily="49" charset="0"/>
                  <a:cs typeface="Consolas" pitchFamily="49" charset="0"/>
                </a:rPr>
                <a:t>rt</a:t>
              </a:r>
              <a:endParaRPr lang="en-US" sz="2000" dirty="0" smtClean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4592320" y="1959838"/>
              <a:ext cx="316992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Consolas" pitchFamily="49" charset="0"/>
                  <a:cs typeface="Consolas" pitchFamily="49" charset="0"/>
                </a:rPr>
                <a:t>imm</a:t>
              </a:r>
              <a:endParaRPr lang="en-US" sz="2000" dirty="0" smtClean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142240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6 bits</a:t>
              </a: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247904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5 bits</a:t>
              </a: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353568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5 bits</a:t>
              </a: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564896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16 bits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432532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I-type Format for Loads/Stores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49560" y="2072640"/>
            <a:ext cx="266932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for( int i=0; i &lt; L; i++)</a:t>
            </a:r>
          </a:p>
          <a:p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int v1 = array[i].v1;</a:t>
            </a:r>
          </a:p>
          <a:p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int v2 = array[i].v2;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…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4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075680" y="1920240"/>
            <a:ext cx="2743200" cy="16256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290320" y="2258663"/>
            <a:ext cx="6339840" cy="802640"/>
            <a:chOff x="1422400" y="1959838"/>
            <a:chExt cx="6339840" cy="802640"/>
          </a:xfrm>
        </p:grpSpPr>
        <p:sp>
          <p:nvSpPr>
            <p:cNvPr id="8" name="Rectangle 7"/>
            <p:cNvSpPr/>
            <p:nvPr/>
          </p:nvSpPr>
          <p:spPr bwMode="auto">
            <a:xfrm>
              <a:off x="142240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smtClean="0">
                  <a:latin typeface="Consolas" pitchFamily="49" charset="0"/>
                  <a:cs typeface="Consolas" pitchFamily="49" charset="0"/>
                </a:rPr>
                <a:t>op</a:t>
              </a: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247904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Consolas" pitchFamily="49" charset="0"/>
                  <a:cs typeface="Consolas" pitchFamily="49" charset="0"/>
                </a:rPr>
                <a:t>rs</a:t>
              </a:r>
              <a:endParaRPr lang="en-US" sz="2000" dirty="0" smtClean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353568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Consolas" pitchFamily="49" charset="0"/>
                  <a:cs typeface="Consolas" pitchFamily="49" charset="0"/>
                </a:rPr>
                <a:t>rt</a:t>
              </a:r>
              <a:endParaRPr lang="en-US" sz="2000" dirty="0" smtClean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4592320" y="1959838"/>
              <a:ext cx="316992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smtClean="0">
                  <a:latin typeface="Consolas" pitchFamily="49" charset="0"/>
                  <a:cs typeface="Consolas" pitchFamily="49" charset="0"/>
                </a:rPr>
                <a:t>offset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142240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6 bits</a:t>
              </a: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247904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5 bits</a:t>
              </a: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353568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5 bits</a:t>
              </a: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564896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16 bits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33" y="1059931"/>
            <a:ext cx="8228012" cy="413182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/>
                </a:solidFill>
              </a:rPr>
              <a:t>I-type</a:t>
            </a:r>
            <a:r>
              <a:rPr lang="en-US" dirty="0" smtClean="0"/>
              <a:t> format is also used for memory operations (load/store) as they are usually have constant memory displacement: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format includes four different fields</a:t>
            </a:r>
            <a:r>
              <a:rPr lang="en-US" dirty="0" smtClean="0"/>
              <a:t>:</a:t>
            </a:r>
          </a:p>
          <a:p>
            <a:pPr marL="688975" lvl="1" indent="-3429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accent1"/>
                </a:solidFill>
              </a:rPr>
              <a:t>rs</a:t>
            </a:r>
            <a:r>
              <a:rPr lang="en-US" sz="2000" dirty="0" smtClean="0"/>
              <a:t> </a:t>
            </a:r>
            <a:r>
              <a:rPr lang="en-US" sz="2000" dirty="0"/>
              <a:t>is a source </a:t>
            </a:r>
            <a:r>
              <a:rPr lang="en-US" sz="2000" dirty="0" smtClean="0"/>
              <a:t>register, the base of an </a:t>
            </a:r>
            <a:r>
              <a:rPr lang="en-US" sz="2000" dirty="0"/>
              <a:t>address for loads and </a:t>
            </a:r>
            <a:r>
              <a:rPr lang="en-US" sz="2000" dirty="0" smtClean="0"/>
              <a:t>stores</a:t>
            </a:r>
          </a:p>
          <a:p>
            <a:pPr marL="688975" lvl="1" indent="-3429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accent1"/>
                </a:solidFill>
              </a:rPr>
              <a:t>rt</a:t>
            </a:r>
            <a:r>
              <a:rPr lang="en-US" sz="2000" dirty="0" smtClean="0"/>
              <a:t> </a:t>
            </a:r>
            <a:r>
              <a:rPr lang="en-US" sz="2000" dirty="0"/>
              <a:t>is a source register for </a:t>
            </a:r>
            <a:r>
              <a:rPr lang="en-US" sz="2000" dirty="0" smtClean="0"/>
              <a:t>stores</a:t>
            </a:r>
            <a:r>
              <a:rPr lang="en-US" sz="2000" dirty="0"/>
              <a:t>, but a destination </a:t>
            </a:r>
            <a:r>
              <a:rPr lang="en-US" sz="2000" dirty="0" smtClean="0"/>
              <a:t>register for loads</a:t>
            </a:r>
            <a:endParaRPr lang="en-US" sz="2000" dirty="0"/>
          </a:p>
          <a:p>
            <a:pPr marL="688975" lvl="1" indent="-3429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/>
                </a:solidFill>
              </a:rPr>
              <a:t>offset </a:t>
            </a:r>
            <a:r>
              <a:rPr lang="en-US" sz="2000" dirty="0" smtClean="0"/>
              <a:t>is used as an increment to the base to get the address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Examples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28320" y="5212080"/>
            <a:ext cx="8656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$t1, 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0x0004($t2)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 4B into $t1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$t2] + 0004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5595144"/>
            <a:ext cx="8656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$t1, 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0x0004($t2)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 4B from $t1 into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$t2] + 0004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62288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4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33" y="826841"/>
            <a:ext cx="8228012" cy="413182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/>
                </a:solidFill>
              </a:rPr>
              <a:t>I-type</a:t>
            </a:r>
            <a:r>
              <a:rPr lang="en-US" dirty="0" smtClean="0"/>
              <a:t> format is also used for branches.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The target address is calculated as the end address of the branch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(PC+4) </a:t>
            </a:r>
            <a:r>
              <a:rPr lang="en-US" dirty="0" smtClean="0"/>
              <a:t>plus the displacement encoded in the instruction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format includes four different fields</a:t>
            </a:r>
            <a:r>
              <a:rPr lang="en-US" dirty="0" smtClean="0"/>
              <a:t>:</a:t>
            </a:r>
          </a:p>
          <a:p>
            <a:pPr marL="688975" lvl="1" indent="-3429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chemeClr val="accent1"/>
                </a:solidFill>
              </a:rPr>
              <a:t>rs</a:t>
            </a:r>
            <a:r>
              <a:rPr lang="en-US" sz="1900" dirty="0"/>
              <a:t> and </a:t>
            </a:r>
            <a:r>
              <a:rPr lang="en-US" sz="1900" dirty="0" err="1">
                <a:solidFill>
                  <a:schemeClr val="accent1"/>
                </a:solidFill>
              </a:rPr>
              <a:t>rt</a:t>
            </a:r>
            <a:r>
              <a:rPr lang="en-US" sz="1900" dirty="0"/>
              <a:t> are the first and second source registers</a:t>
            </a:r>
          </a:p>
          <a:p>
            <a:pPr marL="688975" lvl="1" indent="-34290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900" dirty="0" smtClean="0">
                <a:solidFill>
                  <a:schemeClr val="accent1"/>
                </a:solidFill>
              </a:rPr>
              <a:t>offset </a:t>
            </a:r>
            <a:r>
              <a:rPr lang="en-US" sz="1900" dirty="0" smtClean="0"/>
              <a:t>is specified in terms of words instead of bytes:</a:t>
            </a:r>
          </a:p>
          <a:p>
            <a:pPr lvl="1" indent="0">
              <a:spcBef>
                <a:spcPts val="600"/>
              </a:spcBef>
              <a:buNone/>
            </a:pPr>
            <a:r>
              <a:rPr lang="en-US" sz="1900" dirty="0"/>
              <a:t>	</a:t>
            </a:r>
            <a:r>
              <a:rPr lang="en-US" sz="1900" dirty="0" smtClean="0">
                <a:latin typeface="Consolas" panose="020B0609020204030204" pitchFamily="49" charset="0"/>
                <a:cs typeface="Consolas" panose="020B0609020204030204" pitchFamily="49" charset="0"/>
              </a:rPr>
              <a:t>target PC = ( PC + 4) + offset &lt;&lt; 2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branch condition is calculated depending on </a:t>
            </a:r>
            <a:r>
              <a:rPr lang="en-US" dirty="0" err="1" smtClean="0"/>
              <a:t>opcode</a:t>
            </a:r>
            <a:r>
              <a:rPr lang="en-US" dirty="0" smtClean="0"/>
              <a:t> and source values:</a:t>
            </a: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dirty="0" smtClean="0"/>
              <a:t>For example, </a:t>
            </a:r>
            <a:r>
              <a:rPr lang="en-US" sz="1900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sz="1900" dirty="0" smtClean="0"/>
              <a:t> write the target address into PC only if its source operands are equal</a:t>
            </a:r>
            <a:endParaRPr lang="en-US" sz="19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I-type Format for Branches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49560" y="2242975"/>
            <a:ext cx="20922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$t1, $t2,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$s1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$s0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$0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$t3, $t1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$t1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L:</a:t>
            </a:r>
          </a:p>
          <a:p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add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$v1, $v0, $v0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6075680" y="2090575"/>
            <a:ext cx="2743200" cy="16256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290320" y="2572438"/>
            <a:ext cx="6339840" cy="802640"/>
            <a:chOff x="1422400" y="1959838"/>
            <a:chExt cx="6339840" cy="802640"/>
          </a:xfrm>
        </p:grpSpPr>
        <p:sp>
          <p:nvSpPr>
            <p:cNvPr id="8" name="Rectangle 7"/>
            <p:cNvSpPr/>
            <p:nvPr/>
          </p:nvSpPr>
          <p:spPr bwMode="auto">
            <a:xfrm>
              <a:off x="142240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smtClean="0">
                  <a:latin typeface="Consolas" pitchFamily="49" charset="0"/>
                  <a:cs typeface="Consolas" pitchFamily="49" charset="0"/>
                </a:rPr>
                <a:t>op</a:t>
              </a: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247904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Consolas" pitchFamily="49" charset="0"/>
                  <a:cs typeface="Consolas" pitchFamily="49" charset="0"/>
                </a:rPr>
                <a:t>rs</a:t>
              </a:r>
              <a:endParaRPr lang="en-US" sz="2000" dirty="0" smtClean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353568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 smtClean="0">
                  <a:latin typeface="Consolas" pitchFamily="49" charset="0"/>
                  <a:cs typeface="Consolas" pitchFamily="49" charset="0"/>
                </a:rPr>
                <a:t>rt</a:t>
              </a:r>
              <a:endParaRPr lang="en-US" sz="2000" dirty="0" smtClean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4592320" y="1959838"/>
              <a:ext cx="316992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Consolas" pitchFamily="49" charset="0"/>
                  <a:cs typeface="Consolas" pitchFamily="49" charset="0"/>
                </a:rPr>
                <a:t>o</a:t>
              </a:r>
              <a:r>
                <a:rPr lang="en-US" sz="2000" dirty="0" smtClean="0">
                  <a:latin typeface="Consolas" pitchFamily="49" charset="0"/>
                  <a:cs typeface="Consolas" pitchFamily="49" charset="0"/>
                </a:rPr>
                <a:t>ffset in words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142240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6 bits</a:t>
              </a: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247904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5 bits</a:t>
              </a: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353568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5 bits</a:t>
              </a: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564896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16 bits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214900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J-type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J-type format is used for instructions that do not access any specified register. They are usually unconditional branches (jumps)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Unlike I-type branches, the offset is not added, but change the least bits of PC:</a:t>
            </a:r>
          </a:p>
          <a:p>
            <a:pPr marL="0" lvl="1" indent="0">
              <a:spcBef>
                <a:spcPct val="75000"/>
              </a:spcBef>
              <a:buClrTx/>
              <a:buNone/>
            </a:pPr>
            <a:r>
              <a:rPr lang="en-US" sz="19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target 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PC = ( PC </a:t>
            </a:r>
            <a:r>
              <a:rPr lang="en-US" sz="19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0xf0000000 ) | offset &lt;&lt; 2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19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90320" y="2330383"/>
            <a:ext cx="6339840" cy="802640"/>
            <a:chOff x="1422400" y="1959838"/>
            <a:chExt cx="6339840" cy="802640"/>
          </a:xfrm>
        </p:grpSpPr>
        <p:sp>
          <p:nvSpPr>
            <p:cNvPr id="5" name="Rectangle 4"/>
            <p:cNvSpPr/>
            <p:nvPr/>
          </p:nvSpPr>
          <p:spPr bwMode="auto">
            <a:xfrm>
              <a:off x="1422400" y="1959838"/>
              <a:ext cx="105664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smtClean="0">
                  <a:latin typeface="Consolas" pitchFamily="49" charset="0"/>
                  <a:cs typeface="Consolas" pitchFamily="49" charset="0"/>
                </a:rPr>
                <a:t>op</a:t>
              </a: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2479040" y="1959838"/>
              <a:ext cx="5283200" cy="4013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smtClean="0">
                  <a:latin typeface="Consolas" pitchFamily="49" charset="0"/>
                  <a:cs typeface="Consolas" pitchFamily="49" charset="0"/>
                </a:rPr>
                <a:t>offset in words</a:t>
              </a: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1422400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6 bits</a:t>
              </a: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4548725" y="2361158"/>
              <a:ext cx="1056640" cy="4013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400" dirty="0" smtClean="0">
                  <a:latin typeface="Neo Sans Intel" pitchFamily="34" charset="0"/>
                  <a:cs typeface="Consolas" pitchFamily="49" charset="0"/>
                </a:rPr>
                <a:t>26 bits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225835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Single-Cycle implementation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4055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Single-Cycle Implementation of MIPS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Any </a:t>
            </a:r>
            <a:r>
              <a:rPr lang="en-US" dirty="0" smtClean="0"/>
              <a:t>ISA can </a:t>
            </a:r>
            <a:r>
              <a:rPr lang="en-US" dirty="0"/>
              <a:t>be implemented in many different </a:t>
            </a:r>
            <a:r>
              <a:rPr lang="en-US" dirty="0" smtClean="0"/>
              <a:t>ways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 smtClean="0"/>
              <a:t>The simplest one is </a:t>
            </a:r>
            <a:r>
              <a:rPr lang="en-US" dirty="0" smtClean="0">
                <a:solidFill>
                  <a:schemeClr val="accent1"/>
                </a:solidFill>
              </a:rPr>
              <a:t>single-cycle implementation</a:t>
            </a:r>
            <a:r>
              <a:rPr lang="en-US" dirty="0" smtClean="0"/>
              <a:t>: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All operations are executed strongly sequentially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Execution of an instruction is not started until the previous one is completely executed (no overlapping)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All instructions take the same amount of time – a single cycle</a:t>
            </a:r>
          </a:p>
          <a:p>
            <a:pPr marL="341313" indent="-341313">
              <a:buFont typeface="Courier New" panose="02070309020205020404" pitchFamily="49" charset="0"/>
              <a:buChar char="o"/>
            </a:pPr>
            <a:r>
              <a:rPr lang="en-US" dirty="0" smtClean="0"/>
              <a:t>For simplicity, only the following instructions will be considered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640539" y="4884270"/>
          <a:ext cx="6216081" cy="11125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176188"/>
                <a:gridCol w="40398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Arithmetic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add,</a:t>
                      </a:r>
                      <a:r>
                        <a:rPr lang="en-US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sub, or, and, </a:t>
                      </a:r>
                      <a:r>
                        <a:rPr lang="en-US" baseline="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addi</a:t>
                      </a:r>
                      <a:r>
                        <a:rPr lang="en-US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baseline="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subi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transfer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lw</a:t>
                      </a:r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sw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Control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beq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2119736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Execution Cycle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599440" y="1021052"/>
            <a:ext cx="2316480" cy="853496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Fetch Instruction by PC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599440" y="1879290"/>
            <a:ext cx="2316480" cy="853496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>
                <a:latin typeface="+mj-lt"/>
                <a:cs typeface="Arial" pitchFamily="34" charset="0"/>
              </a:rPr>
              <a:t>Read registers</a:t>
            </a:r>
          </a:p>
        </p:txBody>
      </p:sp>
      <p:sp>
        <p:nvSpPr>
          <p:cNvPr id="6" name="Rounded Rectangle 5"/>
          <p:cNvSpPr/>
          <p:nvPr/>
        </p:nvSpPr>
        <p:spPr bwMode="auto">
          <a:xfrm>
            <a:off x="599440" y="2732786"/>
            <a:ext cx="2316480" cy="853496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Process Calculations</a:t>
            </a:r>
          </a:p>
        </p:txBody>
      </p:sp>
      <p:sp>
        <p:nvSpPr>
          <p:cNvPr id="7" name="Rounded Rectangle 6"/>
          <p:cNvSpPr/>
          <p:nvPr/>
        </p:nvSpPr>
        <p:spPr bwMode="auto">
          <a:xfrm>
            <a:off x="599440" y="3586283"/>
            <a:ext cx="2316480" cy="853496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Read</a:t>
            </a:r>
            <a:r>
              <a:rPr lang="ru-RU" sz="2000" b="1" dirty="0" smtClean="0">
                <a:latin typeface="+mj-lt"/>
                <a:cs typeface="Arial" pitchFamily="34" charset="0"/>
              </a:rPr>
              <a:t>/</a:t>
            </a:r>
            <a:r>
              <a:rPr lang="en-US" sz="2000" b="1" dirty="0" smtClean="0">
                <a:latin typeface="+mj-lt"/>
                <a:cs typeface="Arial" pitchFamily="34" charset="0"/>
              </a:rPr>
              <a:t>Write</a:t>
            </a:r>
          </a:p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Memory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599440" y="4439779"/>
            <a:ext cx="2316480" cy="853496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Write registers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599440" y="5293276"/>
            <a:ext cx="2316480" cy="853496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Update 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9600" y="1031212"/>
            <a:ext cx="553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Download instruction from the memory using value stored in the program counter (PC) register as an address.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9600" y="1879290"/>
            <a:ext cx="553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Read values of registers which are pointed by the instruction as their source operands.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9600" y="2732786"/>
            <a:ext cx="553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Execute an action encoded in the instruction (e.g. addition, subtraction, address calculation, etc.).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9600" y="3586283"/>
            <a:ext cx="590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Write the result of the calculation into the memory or read the value using the address calculated on the previous step.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9600" y="4439779"/>
            <a:ext cx="553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Write the result of the calculation or the value read on the previous step into the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9600" y="5211995"/>
            <a:ext cx="5537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Update the program counter to the next instruction:</a:t>
            </a:r>
          </a:p>
          <a:p>
            <a:r>
              <a:rPr lang="en-US" sz="1600" dirty="0" smtClean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PC = PC + </a:t>
            </a:r>
            <a:r>
              <a:rPr lang="en-US" sz="1600" dirty="0" err="1" smtClean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InstructionLength</a:t>
            </a:r>
            <a:r>
              <a:rPr lang="en-US" sz="1600" dirty="0" smtClean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r>
              <a:rPr lang="en-US" dirty="0" smtClean="0">
                <a:latin typeface="+mn-lt"/>
              </a:rPr>
              <a:t>Or it is a taken branch then:</a:t>
            </a:r>
          </a:p>
          <a:p>
            <a:r>
              <a:rPr lang="en-US" sz="1600" dirty="0" smtClean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PC = PC </a:t>
            </a:r>
            <a:r>
              <a:rPr lang="en-US" sz="1600" dirty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+ </a:t>
            </a:r>
            <a:r>
              <a:rPr lang="en-US" sz="1600" dirty="0" err="1" smtClean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InstructionLength</a:t>
            </a:r>
            <a:r>
              <a:rPr lang="en-US" sz="1600" dirty="0" smtClean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 + </a:t>
            </a:r>
            <a:r>
              <a:rPr lang="en-US" sz="1600" dirty="0" err="1" smtClean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BranchOffset</a:t>
            </a:r>
            <a:endParaRPr lang="en-US" sz="1600" dirty="0" smtClean="0">
              <a:solidFill>
                <a:schemeClr val="accent1"/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18" name="Elbow Connector 17"/>
          <p:cNvCxnSpPr>
            <a:stCxn id="9" idx="2"/>
            <a:endCxn id="4" idx="0"/>
          </p:cNvCxnSpPr>
          <p:nvPr/>
        </p:nvCxnSpPr>
        <p:spPr bwMode="auto">
          <a:xfrm rot="5400000" flipH="1">
            <a:off x="-805180" y="3583912"/>
            <a:ext cx="5125720" cy="12700"/>
          </a:xfrm>
          <a:prstGeom prst="bentConnector5">
            <a:avLst>
              <a:gd name="adj1" fmla="val -2676"/>
              <a:gd name="adj2" fmla="val 10920000"/>
              <a:gd name="adj3" fmla="val 105253"/>
            </a:avLst>
          </a:prstGeom>
          <a:solidFill>
            <a:schemeClr val="bg1"/>
          </a:solidFill>
          <a:ln w="28575" cap="rnd" cmpd="sng" algn="ctr">
            <a:solidFill>
              <a:srgbClr val="C00000"/>
            </a:solidFill>
            <a:prstDash val="solid"/>
            <a:round/>
            <a:headEnd type="oval" w="lg" len="lg"/>
            <a:tailEnd type="arrow" w="lg" len="lg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9810654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/>
      <p:bldP spid="12" grpId="0"/>
      <p:bldP spid="13" grpId="0"/>
      <p:bldP spid="14" grpId="0"/>
      <p:bldP spid="15" grpId="0"/>
      <p:bldP spid="16" grpId="0"/>
    </p:bldLst>
  </p:timing>
  <p:extLst mod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Fetch</a:t>
            </a:r>
            <a:endParaRPr lang="en-US" dirty="0"/>
          </a:p>
        </p:txBody>
      </p:sp>
      <p:sp>
        <p:nvSpPr>
          <p:cNvPr id="45" name="Content Placeholder 44"/>
          <p:cNvSpPr>
            <a:spLocks noGrp="1"/>
          </p:cNvSpPr>
          <p:nvPr>
            <p:ph idx="1"/>
          </p:nvPr>
        </p:nvSpPr>
        <p:spPr>
          <a:xfrm>
            <a:off x="455613" y="1059931"/>
            <a:ext cx="5587047" cy="5101172"/>
          </a:xfrm>
        </p:spPr>
        <p:txBody>
          <a:bodyPr/>
          <a:lstStyle/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The CPU is always in an infinite loop, fetching </a:t>
            </a:r>
            <a:r>
              <a:rPr lang="en-US" sz="2000" dirty="0" smtClean="0"/>
              <a:t>instructions </a:t>
            </a:r>
            <a:r>
              <a:rPr lang="en-US" sz="2000" dirty="0"/>
              <a:t>from memory and executing </a:t>
            </a:r>
            <a:r>
              <a:rPr lang="en-US" sz="2000" dirty="0" smtClean="0"/>
              <a:t>them</a:t>
            </a:r>
            <a:endParaRPr lang="en-US" sz="2000" dirty="0"/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/>
              <a:t>The </a:t>
            </a:r>
            <a:r>
              <a:rPr lang="en-US" sz="2000" dirty="0">
                <a:solidFill>
                  <a:schemeClr val="accent1"/>
                </a:solidFill>
              </a:rPr>
              <a:t>program counter </a:t>
            </a:r>
            <a:r>
              <a:rPr lang="en-US" sz="2000" dirty="0"/>
              <a:t>or </a:t>
            </a:r>
            <a:r>
              <a:rPr lang="en-US" sz="2000" dirty="0">
                <a:solidFill>
                  <a:schemeClr val="accent1"/>
                </a:solidFill>
              </a:rPr>
              <a:t>PC</a:t>
            </a:r>
            <a:r>
              <a:rPr lang="en-US" sz="2000" dirty="0"/>
              <a:t> register holds the </a:t>
            </a:r>
            <a:r>
              <a:rPr lang="en-US" sz="2000" dirty="0" smtClean="0"/>
              <a:t>address </a:t>
            </a:r>
            <a:r>
              <a:rPr lang="en-US" sz="2000" dirty="0"/>
              <a:t>of the current </a:t>
            </a:r>
            <a:r>
              <a:rPr lang="en-US" sz="2000" dirty="0" smtClean="0"/>
              <a:t>instruction</a:t>
            </a:r>
            <a:endParaRPr lang="en-US" sz="2000" dirty="0"/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/>
              <a:t>MIPS </a:t>
            </a:r>
            <a:r>
              <a:rPr lang="en-US" sz="2000" dirty="0"/>
              <a:t>instructions are each four bytes long, so </a:t>
            </a:r>
            <a:r>
              <a:rPr lang="en-US" sz="2000" dirty="0" smtClean="0"/>
              <a:t>the </a:t>
            </a:r>
            <a:r>
              <a:rPr lang="en-US" sz="2000" dirty="0"/>
              <a:t>PC should be incremented by four to read </a:t>
            </a:r>
            <a:r>
              <a:rPr lang="en-US" sz="2000" dirty="0" smtClean="0"/>
              <a:t>the </a:t>
            </a:r>
            <a:r>
              <a:rPr lang="en-US" sz="2000" dirty="0"/>
              <a:t>next instruction in </a:t>
            </a:r>
            <a:r>
              <a:rPr lang="en-US" sz="2000" dirty="0" smtClean="0"/>
              <a:t>sequence</a:t>
            </a:r>
            <a:endParaRPr lang="en-US" sz="2000" dirty="0"/>
          </a:p>
          <a:p>
            <a:endParaRPr lang="en-US" dirty="0"/>
          </a:p>
        </p:txBody>
      </p:sp>
      <p:grpSp>
        <p:nvGrpSpPr>
          <p:cNvPr id="39" name="Group 38"/>
          <p:cNvGrpSpPr/>
          <p:nvPr/>
        </p:nvGrpSpPr>
        <p:grpSpPr>
          <a:xfrm>
            <a:off x="6695101" y="1397086"/>
            <a:ext cx="1923305" cy="1574605"/>
            <a:chOff x="6695101" y="1397086"/>
            <a:chExt cx="1923305" cy="1574605"/>
          </a:xfrm>
        </p:grpSpPr>
        <p:cxnSp>
          <p:nvCxnSpPr>
            <p:cNvPr id="19" name="Elbow Connector 18"/>
            <p:cNvCxnSpPr>
              <a:stCxn id="12" idx="3"/>
              <a:endCxn id="34" idx="0"/>
            </p:cNvCxnSpPr>
            <p:nvPr/>
          </p:nvCxnSpPr>
          <p:spPr bwMode="auto">
            <a:xfrm flipH="1">
              <a:off x="6731675" y="1916860"/>
              <a:ext cx="1881453" cy="218017"/>
            </a:xfrm>
            <a:prstGeom prst="bentConnector4">
              <a:avLst>
                <a:gd name="adj1" fmla="val -12150"/>
                <a:gd name="adj2" fmla="val -341617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6" name="Oval 25"/>
            <p:cNvSpPr/>
            <p:nvPr/>
          </p:nvSpPr>
          <p:spPr bwMode="auto">
            <a:xfrm>
              <a:off x="6695101" y="2899219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28" name="Elbow Connector 27"/>
            <p:cNvCxnSpPr>
              <a:stCxn id="26" idx="6"/>
              <a:endCxn id="29" idx="1"/>
            </p:cNvCxnSpPr>
            <p:nvPr/>
          </p:nvCxnSpPr>
          <p:spPr bwMode="auto">
            <a:xfrm flipV="1">
              <a:off x="6767573" y="1626206"/>
              <a:ext cx="1319960" cy="1309249"/>
            </a:xfrm>
            <a:prstGeom prst="bentConnector3">
              <a:avLst>
                <a:gd name="adj1" fmla="val 38839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30" name="Group 29"/>
            <p:cNvGrpSpPr/>
            <p:nvPr/>
          </p:nvGrpSpPr>
          <p:grpSpPr>
            <a:xfrm>
              <a:off x="8087533" y="1397086"/>
              <a:ext cx="530873" cy="1050601"/>
              <a:chOff x="5030045" y="2169459"/>
              <a:chExt cx="530873" cy="1050601"/>
            </a:xfrm>
          </p:grpSpPr>
          <p:sp>
            <p:nvSpPr>
              <p:cNvPr id="11" name="Freeform 127"/>
              <p:cNvSpPr>
                <a:spLocks/>
              </p:cNvSpPr>
              <p:nvPr/>
            </p:nvSpPr>
            <p:spPr bwMode="auto">
              <a:xfrm>
                <a:off x="5030045" y="2169459"/>
                <a:ext cx="530873" cy="1050601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189220" y="2604594"/>
                <a:ext cx="366420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+mj-lt"/>
                  </a:rPr>
                  <a:t>Add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030045" y="2313940"/>
                <a:ext cx="11345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030045" y="2921239"/>
                <a:ext cx="11345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7546420" y="2064078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latin typeface="+mj-lt"/>
                </a:rPr>
                <a:t>4</a:t>
              </a:r>
            </a:p>
          </p:txBody>
        </p:sp>
        <p:cxnSp>
          <p:nvCxnSpPr>
            <p:cNvPr id="35" name="Straight Arrow Connector 34"/>
            <p:cNvCxnSpPr>
              <a:stCxn id="33" idx="3"/>
              <a:endCxn id="32" idx="1"/>
            </p:cNvCxnSpPr>
            <p:nvPr/>
          </p:nvCxnSpPr>
          <p:spPr bwMode="auto">
            <a:xfrm>
              <a:off x="7835282" y="2233355"/>
              <a:ext cx="252251" cy="15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grpSp>
        <p:nvGrpSpPr>
          <p:cNvPr id="38" name="Group 37"/>
          <p:cNvGrpSpPr/>
          <p:nvPr/>
        </p:nvGrpSpPr>
        <p:grpSpPr>
          <a:xfrm>
            <a:off x="6404965" y="3417338"/>
            <a:ext cx="2024953" cy="1386326"/>
            <a:chOff x="6404965" y="3417338"/>
            <a:chExt cx="2024953" cy="1386326"/>
          </a:xfrm>
        </p:grpSpPr>
        <p:grpSp>
          <p:nvGrpSpPr>
            <p:cNvPr id="6" name="Group 5"/>
            <p:cNvGrpSpPr/>
            <p:nvPr/>
          </p:nvGrpSpPr>
          <p:grpSpPr>
            <a:xfrm>
              <a:off x="6404965" y="3417338"/>
              <a:ext cx="1550894" cy="1386326"/>
              <a:chOff x="3021106" y="3598050"/>
              <a:chExt cx="1550894" cy="1386326"/>
            </a:xfrm>
          </p:grpSpPr>
          <p:sp>
            <p:nvSpPr>
              <p:cNvPr id="4" name="Rectangle 3"/>
              <p:cNvSpPr/>
              <p:nvPr/>
            </p:nvSpPr>
            <p:spPr bwMode="auto">
              <a:xfrm>
                <a:off x="3021106" y="3598050"/>
                <a:ext cx="1550894" cy="1386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3021106" y="3598050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 smtClean="0">
                    <a:latin typeface="+mj-lt"/>
                  </a:rPr>
                  <a:t>address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673849" y="3601253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Instruction [31-0]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377209" y="4147773"/>
                <a:ext cx="8386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+mj-lt"/>
                  </a:rPr>
                  <a:t>Memory</a:t>
                </a:r>
              </a:p>
            </p:txBody>
          </p:sp>
        </p:grpSp>
        <p:cxnSp>
          <p:nvCxnSpPr>
            <p:cNvPr id="40" name="Straight Arrow Connector 39"/>
            <p:cNvCxnSpPr>
              <a:stCxn id="7" idx="3"/>
            </p:cNvCxnSpPr>
            <p:nvPr/>
          </p:nvCxnSpPr>
          <p:spPr bwMode="auto">
            <a:xfrm>
              <a:off x="7955859" y="3635985"/>
              <a:ext cx="474059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grpSp>
        <p:nvGrpSpPr>
          <p:cNvPr id="37" name="Group 36"/>
          <p:cNvGrpSpPr/>
          <p:nvPr/>
        </p:nvGrpSpPr>
        <p:grpSpPr>
          <a:xfrm>
            <a:off x="6530087" y="2134877"/>
            <a:ext cx="388497" cy="1282461"/>
            <a:chOff x="6530087" y="2134877"/>
            <a:chExt cx="388497" cy="1282461"/>
          </a:xfrm>
        </p:grpSpPr>
        <p:cxnSp>
          <p:nvCxnSpPr>
            <p:cNvPr id="17" name="Straight Arrow Connector 16"/>
            <p:cNvCxnSpPr>
              <a:stCxn id="34" idx="2"/>
              <a:endCxn id="26" idx="4"/>
            </p:cNvCxnSpPr>
            <p:nvPr/>
          </p:nvCxnSpPr>
          <p:spPr bwMode="auto">
            <a:xfrm flipH="1">
              <a:off x="6731337" y="2760497"/>
              <a:ext cx="338" cy="211194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5" name="Group 24"/>
            <p:cNvGrpSpPr/>
            <p:nvPr/>
          </p:nvGrpSpPr>
          <p:grpSpPr>
            <a:xfrm>
              <a:off x="6530087" y="2134877"/>
              <a:ext cx="388497" cy="625620"/>
              <a:chOff x="155044" y="1514471"/>
              <a:chExt cx="388497" cy="625620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169720" y="1514471"/>
                <a:ext cx="373821" cy="625620"/>
                <a:chOff x="2979708" y="2694759"/>
                <a:chExt cx="492339" cy="823968"/>
              </a:xfrm>
            </p:grpSpPr>
            <p:sp>
              <p:nvSpPr>
                <p:cNvPr id="34" name="Rectangle 33"/>
                <p:cNvSpPr/>
                <p:nvPr/>
              </p:nvSpPr>
              <p:spPr bwMode="auto">
                <a:xfrm>
                  <a:off x="2991378" y="2694759"/>
                  <a:ext cx="468998" cy="82396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36" name="TextBox 35"/>
                <p:cNvSpPr txBox="1"/>
                <p:nvPr/>
              </p:nvSpPr>
              <p:spPr>
                <a:xfrm>
                  <a:off x="2979708" y="2872568"/>
                  <a:ext cx="492339" cy="4053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PC</a:t>
                  </a:r>
                </a:p>
              </p:txBody>
            </p:sp>
          </p:grpSp>
          <p:sp>
            <p:nvSpPr>
              <p:cNvPr id="31" name="Isosceles Triangle 30"/>
              <p:cNvSpPr/>
              <p:nvPr/>
            </p:nvSpPr>
            <p:spPr bwMode="auto">
              <a:xfrm rot="19800000">
                <a:off x="155044" y="1973506"/>
                <a:ext cx="89552" cy="77200"/>
              </a:xfrm>
              <a:prstGeom prst="triangl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</p:grpSp>
        <p:cxnSp>
          <p:nvCxnSpPr>
            <p:cNvPr id="20" name="Straight Arrow Connector 19"/>
            <p:cNvCxnSpPr>
              <a:stCxn id="26" idx="4"/>
              <a:endCxn id="5" idx="0"/>
            </p:cNvCxnSpPr>
            <p:nvPr/>
          </p:nvCxnSpPr>
          <p:spPr bwMode="auto">
            <a:xfrm>
              <a:off x="6731337" y="2971691"/>
              <a:ext cx="0" cy="445647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92762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1602205" y="5907024"/>
            <a:ext cx="904721" cy="484516"/>
            <a:chOff x="1602205" y="5907024"/>
            <a:chExt cx="904721" cy="484516"/>
          </a:xfrm>
        </p:grpSpPr>
        <p:sp>
          <p:nvSpPr>
            <p:cNvPr id="31" name="Rectangle 30"/>
            <p:cNvSpPr/>
            <p:nvPr/>
          </p:nvSpPr>
          <p:spPr bwMode="auto">
            <a:xfrm>
              <a:off x="1602205" y="5907024"/>
              <a:ext cx="904721" cy="220144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9050"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 smtClean="0">
                  <a:latin typeface="Lucida Console" panose="020B0609040504020204" pitchFamily="49" charset="0"/>
                  <a:cs typeface="Consolas" pitchFamily="49" charset="0"/>
                </a:rPr>
                <a:t>op</a:t>
              </a: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2243755" y="604792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26</a:t>
              </a: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1606350" y="604792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31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Executing R-Type Arithmetic Instructions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907531"/>
            <a:ext cx="8228012" cy="1858131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Read </a:t>
            </a:r>
            <a:r>
              <a:rPr lang="en-US" sz="1600" dirty="0"/>
              <a:t>an instruction from the instruction </a:t>
            </a:r>
            <a:r>
              <a:rPr lang="en-US" sz="1600" dirty="0" smtClean="0"/>
              <a:t>memory by the address in PC</a:t>
            </a:r>
            <a:endParaRPr lang="en-US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The </a:t>
            </a:r>
            <a:r>
              <a:rPr lang="en-US" sz="1600" dirty="0"/>
              <a:t>source registers, specified by instruction fields </a:t>
            </a:r>
            <a:r>
              <a:rPr lang="en-US" sz="1600" b="1" dirty="0" err="1" smtClean="0">
                <a:solidFill>
                  <a:schemeClr val="accent1"/>
                </a:solidFill>
              </a:rPr>
              <a:t>rs</a:t>
            </a:r>
            <a:r>
              <a:rPr lang="en-US" sz="1600" dirty="0" smtClean="0">
                <a:solidFill>
                  <a:schemeClr val="accent1"/>
                </a:solidFill>
              </a:rPr>
              <a:t> </a:t>
            </a:r>
            <a:r>
              <a:rPr lang="en-US" sz="1600" dirty="0" smtClean="0"/>
              <a:t>and </a:t>
            </a:r>
            <a:r>
              <a:rPr lang="en-US" sz="1600" b="1" dirty="0" err="1">
                <a:solidFill>
                  <a:schemeClr val="accent1"/>
                </a:solidFill>
              </a:rPr>
              <a:t>rt</a:t>
            </a:r>
            <a:r>
              <a:rPr lang="en-US" sz="1600" dirty="0"/>
              <a:t>, should be read from the register </a:t>
            </a:r>
            <a:r>
              <a:rPr lang="en-US" sz="1600" dirty="0" smtClean="0"/>
              <a:t>file</a:t>
            </a:r>
            <a:endParaRPr lang="en-US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The </a:t>
            </a:r>
            <a:r>
              <a:rPr lang="en-US" sz="1600" dirty="0"/>
              <a:t>ALU performs the desired </a:t>
            </a:r>
            <a:r>
              <a:rPr lang="en-US" sz="1600" dirty="0" smtClean="0"/>
              <a:t>operation</a:t>
            </a:r>
            <a:endParaRPr lang="en-US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Its </a:t>
            </a:r>
            <a:r>
              <a:rPr lang="en-US" sz="1600" dirty="0"/>
              <a:t>result is stored in the destination register, which is specified by field </a:t>
            </a:r>
            <a:r>
              <a:rPr lang="en-US" sz="1600" b="1" dirty="0" err="1">
                <a:solidFill>
                  <a:schemeClr val="accent1"/>
                </a:solidFill>
              </a:rPr>
              <a:t>rd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of the instruction </a:t>
            </a:r>
            <a:r>
              <a:rPr lang="en-US" sz="1600" dirty="0" smtClean="0"/>
              <a:t>word</a:t>
            </a:r>
            <a:endParaRPr lang="en-US" sz="16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6125808" y="5907024"/>
            <a:ext cx="904721" cy="484516"/>
            <a:chOff x="6125808" y="5907024"/>
            <a:chExt cx="904721" cy="484516"/>
          </a:xfrm>
        </p:grpSpPr>
        <p:sp>
          <p:nvSpPr>
            <p:cNvPr id="36" name="Rectangle 35"/>
            <p:cNvSpPr/>
            <p:nvPr/>
          </p:nvSpPr>
          <p:spPr bwMode="auto">
            <a:xfrm>
              <a:off x="6125808" y="5907024"/>
              <a:ext cx="904721" cy="220144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9050"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 err="1" smtClean="0">
                  <a:latin typeface="Lucida Console" panose="020B0609040504020204" pitchFamily="49" charset="0"/>
                  <a:cs typeface="Consolas" pitchFamily="49" charset="0"/>
                </a:rPr>
                <a:t>funct</a:t>
              </a:r>
              <a:endParaRPr lang="en-US" sz="1200" dirty="0" smtClean="0">
                <a:latin typeface="Lucida Console" panose="020B0609040504020204" pitchFamily="49" charset="0"/>
                <a:cs typeface="Consolas" pitchFamily="49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6832600" y="6047920"/>
              <a:ext cx="1979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>
                  <a:latin typeface="Lucida Console" panose="020B0609040504020204" pitchFamily="49" charset="0"/>
                  <a:cs typeface="Consolas" pitchFamily="49" charset="0"/>
                </a:rPr>
                <a:t>0</a:t>
              </a:r>
              <a:endParaRPr lang="en-US" sz="1000" dirty="0" smtClean="0">
                <a:latin typeface="Lucida Console" panose="020B0609040504020204" pitchFamily="49" charset="0"/>
                <a:cs typeface="Consolas" pitchFamily="49" charset="0"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6133428" y="6047920"/>
              <a:ext cx="1979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5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221088" y="5907024"/>
            <a:ext cx="904721" cy="484516"/>
            <a:chOff x="5221088" y="5907024"/>
            <a:chExt cx="904721" cy="484516"/>
          </a:xfrm>
        </p:grpSpPr>
        <p:sp>
          <p:nvSpPr>
            <p:cNvPr id="35" name="Rectangle 34"/>
            <p:cNvSpPr/>
            <p:nvPr/>
          </p:nvSpPr>
          <p:spPr bwMode="auto">
            <a:xfrm>
              <a:off x="5221088" y="5907024"/>
              <a:ext cx="904721" cy="220144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9050"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 err="1" smtClean="0">
                  <a:latin typeface="Lucida Console" panose="020B0609040504020204" pitchFamily="49" charset="0"/>
                  <a:cs typeface="Consolas" pitchFamily="49" charset="0"/>
                </a:rPr>
                <a:t>shamt</a:t>
              </a:r>
              <a:endParaRPr lang="en-US" sz="1200" dirty="0" smtClean="0">
                <a:latin typeface="Lucida Console" panose="020B0609040504020204" pitchFamily="49" charset="0"/>
                <a:cs typeface="Consolas" pitchFamily="49" charset="0"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5935980" y="6047920"/>
              <a:ext cx="1898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5248665" y="6047920"/>
              <a:ext cx="1898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10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316367" y="5907024"/>
            <a:ext cx="904721" cy="484516"/>
            <a:chOff x="4316367" y="5907024"/>
            <a:chExt cx="904721" cy="484516"/>
          </a:xfrm>
        </p:grpSpPr>
        <p:sp>
          <p:nvSpPr>
            <p:cNvPr id="34" name="Rectangle 33"/>
            <p:cNvSpPr/>
            <p:nvPr/>
          </p:nvSpPr>
          <p:spPr bwMode="auto">
            <a:xfrm>
              <a:off x="4316367" y="5907024"/>
              <a:ext cx="904721" cy="220144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9050"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 err="1" smtClean="0">
                  <a:latin typeface="Lucida Console" panose="020B0609040504020204" pitchFamily="49" charset="0"/>
                  <a:cs typeface="Consolas" pitchFamily="49" charset="0"/>
                </a:rPr>
                <a:t>rd</a:t>
              </a:r>
              <a:endParaRPr lang="en-US" sz="1200" dirty="0" smtClean="0">
                <a:latin typeface="Lucida Console" panose="020B0609040504020204" pitchFamily="49" charset="0"/>
                <a:cs typeface="Consolas" pitchFamily="49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4979118" y="604792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4344118" y="604792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15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154671" y="2994625"/>
            <a:ext cx="1622694" cy="1386326"/>
            <a:chOff x="1738845" y="3229513"/>
            <a:chExt cx="1622694" cy="1386326"/>
          </a:xfrm>
        </p:grpSpPr>
        <p:grpSp>
          <p:nvGrpSpPr>
            <p:cNvPr id="66" name="Group 65"/>
            <p:cNvGrpSpPr/>
            <p:nvPr/>
          </p:nvGrpSpPr>
          <p:grpSpPr>
            <a:xfrm>
              <a:off x="1738845" y="3229513"/>
              <a:ext cx="1447262" cy="1386326"/>
              <a:chOff x="3124738" y="3598050"/>
              <a:chExt cx="1447262" cy="1386326"/>
            </a:xfrm>
          </p:grpSpPr>
          <p:sp>
            <p:nvSpPr>
              <p:cNvPr id="69" name="Rectangle 68"/>
              <p:cNvSpPr/>
              <p:nvPr/>
            </p:nvSpPr>
            <p:spPr bwMode="auto">
              <a:xfrm>
                <a:off x="3126744" y="3598050"/>
                <a:ext cx="1445256" cy="1386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3124738" y="3598050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 smtClean="0">
                    <a:latin typeface="+mj-lt"/>
                  </a:rPr>
                  <a:t>address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3673849" y="3601253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Instruction [31-0]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3430026" y="4147773"/>
                <a:ext cx="8386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+mj-lt"/>
                  </a:rPr>
                  <a:t>Memory</a:t>
                </a:r>
              </a:p>
            </p:txBody>
          </p:sp>
        </p:grpSp>
        <p:cxnSp>
          <p:nvCxnSpPr>
            <p:cNvPr id="68" name="Straight Arrow Connector 67"/>
            <p:cNvCxnSpPr>
              <a:stCxn id="72" idx="3"/>
            </p:cNvCxnSpPr>
            <p:nvPr/>
          </p:nvCxnSpPr>
          <p:spPr bwMode="auto">
            <a:xfrm>
              <a:off x="3186107" y="3448160"/>
              <a:ext cx="175432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grpSp>
        <p:nvGrpSpPr>
          <p:cNvPr id="75" name="Group 74"/>
          <p:cNvGrpSpPr/>
          <p:nvPr/>
        </p:nvGrpSpPr>
        <p:grpSpPr>
          <a:xfrm>
            <a:off x="3107902" y="3005501"/>
            <a:ext cx="1552498" cy="1873251"/>
            <a:chOff x="4488424" y="3657632"/>
            <a:chExt cx="1552498" cy="187325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4490028" y="3657632"/>
              <a:ext cx="1550894" cy="18706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490028" y="3657633"/>
              <a:ext cx="728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Read</a:t>
              </a:r>
            </a:p>
            <a:p>
              <a:r>
                <a:rPr lang="en-US" sz="1100" dirty="0">
                  <a:latin typeface="+mj-lt"/>
                </a:rPr>
                <a:t>r</a:t>
              </a:r>
              <a:r>
                <a:rPr lang="en-US" sz="1100" dirty="0" smtClean="0">
                  <a:latin typeface="+mj-lt"/>
                </a:rPr>
                <a:t>egister </a:t>
              </a:r>
              <a:r>
                <a:rPr lang="en-US" sz="1100" b="1" dirty="0" smtClean="0">
                  <a:latin typeface="+mj-lt"/>
                </a:rPr>
                <a:t>1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142771" y="3660836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+mj-lt"/>
                </a:rPr>
                <a:t>Read</a:t>
              </a:r>
            </a:p>
            <a:p>
              <a:pPr algn="r"/>
              <a:r>
                <a:rPr lang="en-US" sz="1100" dirty="0">
                  <a:latin typeface="+mj-lt"/>
                </a:rPr>
                <a:t>d</a:t>
              </a:r>
              <a:r>
                <a:rPr lang="en-US" sz="1100" dirty="0" smtClean="0">
                  <a:latin typeface="+mj-lt"/>
                </a:rPr>
                <a:t>ata </a:t>
              </a:r>
              <a:r>
                <a:rPr lang="en-US" sz="1100" b="1" dirty="0" smtClean="0">
                  <a:latin typeface="+mj-lt"/>
                </a:rPr>
                <a:t>1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141166" y="5220532"/>
              <a:ext cx="8429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+mj-lt"/>
                </a:rPr>
                <a:t>Registers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490028" y="4132149"/>
              <a:ext cx="728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Read</a:t>
              </a:r>
            </a:p>
            <a:p>
              <a:r>
                <a:rPr lang="en-US" sz="1100" dirty="0">
                  <a:latin typeface="+mj-lt"/>
                </a:rPr>
                <a:t>r</a:t>
              </a:r>
              <a:r>
                <a:rPr lang="en-US" sz="1100" dirty="0" smtClean="0">
                  <a:latin typeface="+mj-lt"/>
                </a:rPr>
                <a:t>egister </a:t>
              </a:r>
              <a:r>
                <a:rPr lang="en-US" sz="1100" b="1" dirty="0" smtClean="0">
                  <a:latin typeface="+mj-lt"/>
                </a:rPr>
                <a:t>2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142771" y="4285847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+mj-lt"/>
                </a:rPr>
                <a:t>Read</a:t>
              </a:r>
            </a:p>
            <a:p>
              <a:pPr algn="r"/>
              <a:r>
                <a:rPr lang="en-US" sz="1100" dirty="0">
                  <a:latin typeface="+mj-lt"/>
                </a:rPr>
                <a:t>d</a:t>
              </a:r>
              <a:r>
                <a:rPr lang="en-US" sz="1100" dirty="0" smtClean="0">
                  <a:latin typeface="+mj-lt"/>
                </a:rPr>
                <a:t>ata </a:t>
              </a:r>
              <a:r>
                <a:rPr lang="en-US" sz="1100" b="1" dirty="0">
                  <a:latin typeface="+mj-lt"/>
                </a:rPr>
                <a:t>2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488424" y="4669109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register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4490028" y="5099996"/>
              <a:ext cx="5068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data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94" name="Rectangle 93"/>
            <p:cNvSpPr/>
            <p:nvPr/>
          </p:nvSpPr>
          <p:spPr bwMode="auto">
            <a:xfrm>
              <a:off x="5194990" y="3666551"/>
              <a:ext cx="133350" cy="1333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3513352" y="2631170"/>
            <a:ext cx="739305" cy="393410"/>
            <a:chOff x="4262754" y="2858356"/>
            <a:chExt cx="739305" cy="393410"/>
          </a:xfrm>
        </p:grpSpPr>
        <p:sp>
          <p:nvSpPr>
            <p:cNvPr id="96" name="TextBox 95"/>
            <p:cNvSpPr txBox="1"/>
            <p:nvPr/>
          </p:nvSpPr>
          <p:spPr>
            <a:xfrm>
              <a:off x="4262754" y="2858356"/>
              <a:ext cx="739305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RegWrite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97" name="Straight Connector 96"/>
            <p:cNvCxnSpPr>
              <a:stCxn id="96" idx="2"/>
              <a:endCxn id="94" idx="0"/>
            </p:cNvCxnSpPr>
            <p:nvPr/>
          </p:nvCxnSpPr>
          <p:spPr bwMode="auto">
            <a:xfrm flipH="1">
              <a:off x="4630545" y="3119966"/>
              <a:ext cx="1862" cy="13180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98" name="Straight Arrow Connector 97"/>
          <p:cNvCxnSpPr>
            <a:stCxn id="85" idx="3"/>
            <a:endCxn id="102" idx="1"/>
          </p:cNvCxnSpPr>
          <p:nvPr/>
        </p:nvCxnSpPr>
        <p:spPr bwMode="auto">
          <a:xfrm>
            <a:off x="4660400" y="3224149"/>
            <a:ext cx="794482" cy="292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99" name="Group 98"/>
          <p:cNvGrpSpPr/>
          <p:nvPr/>
        </p:nvGrpSpPr>
        <p:grpSpPr>
          <a:xfrm>
            <a:off x="5454882" y="2944427"/>
            <a:ext cx="727535" cy="1439797"/>
            <a:chOff x="6728724" y="3121968"/>
            <a:chExt cx="727535" cy="1439797"/>
          </a:xfrm>
        </p:grpSpPr>
        <p:sp>
          <p:nvSpPr>
            <p:cNvPr id="100" name="Freeform 127"/>
            <p:cNvSpPr>
              <a:spLocks/>
            </p:cNvSpPr>
            <p:nvPr/>
          </p:nvSpPr>
          <p:spPr bwMode="auto">
            <a:xfrm>
              <a:off x="6728724" y="3121968"/>
              <a:ext cx="727535" cy="1439797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728724" y="3392722"/>
              <a:ext cx="363767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 smtClean="0">
                  <a:latin typeface="+mj-lt"/>
                </a:rPr>
                <a:t>ALU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6728724" y="3319972"/>
              <a:ext cx="15548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+mj-lt"/>
                </a:rPr>
                <a:t> 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6728724" y="4152246"/>
              <a:ext cx="15548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+mj-lt"/>
                </a:rPr>
                <a:t> 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6969760" y="3801019"/>
              <a:ext cx="481419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Result</a:t>
              </a:r>
              <a:endParaRPr lang="en-US" sz="1100" b="1" dirty="0" smtClean="0">
                <a:latin typeface="+mj-lt"/>
              </a:endParaRPr>
            </a:p>
          </p:txBody>
        </p:sp>
      </p:grpSp>
      <p:cxnSp>
        <p:nvCxnSpPr>
          <p:cNvPr id="105" name="Elbow Connector 104"/>
          <p:cNvCxnSpPr>
            <a:stCxn id="104" idx="3"/>
            <a:endCxn id="93" idx="1"/>
          </p:cNvCxnSpPr>
          <p:nvPr/>
        </p:nvCxnSpPr>
        <p:spPr bwMode="auto">
          <a:xfrm flipH="1">
            <a:off x="3109506" y="3754283"/>
            <a:ext cx="3067831" cy="909026"/>
          </a:xfrm>
          <a:prstGeom prst="bentConnector5">
            <a:avLst>
              <a:gd name="adj1" fmla="val -7452"/>
              <a:gd name="adj2" fmla="val 207181"/>
              <a:gd name="adj3" fmla="val 107452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06" name="Oval 105"/>
          <p:cNvSpPr/>
          <p:nvPr/>
        </p:nvSpPr>
        <p:spPr bwMode="auto">
          <a:xfrm>
            <a:off x="1743407" y="3183822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107" name="Straight Arrow Connector 106"/>
          <p:cNvCxnSpPr>
            <a:stCxn id="106" idx="6"/>
            <a:endCxn id="82" idx="1"/>
          </p:cNvCxnSpPr>
          <p:nvPr/>
        </p:nvCxnSpPr>
        <p:spPr bwMode="auto">
          <a:xfrm>
            <a:off x="1815879" y="3220058"/>
            <a:ext cx="1293627" cy="88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08" name="Elbow Connector 107"/>
          <p:cNvCxnSpPr>
            <a:stCxn id="106" idx="4"/>
            <a:endCxn id="90" idx="1"/>
          </p:cNvCxnSpPr>
          <p:nvPr/>
        </p:nvCxnSpPr>
        <p:spPr bwMode="auto">
          <a:xfrm rot="16200000" flipH="1">
            <a:off x="2224990" y="2810946"/>
            <a:ext cx="439168" cy="132986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09" name="Elbow Connector 108"/>
          <p:cNvCxnSpPr>
            <a:stCxn id="106" idx="4"/>
            <a:endCxn id="92" idx="1"/>
          </p:cNvCxnSpPr>
          <p:nvPr/>
        </p:nvCxnSpPr>
        <p:spPr bwMode="auto">
          <a:xfrm rot="16200000" flipH="1">
            <a:off x="1955708" y="3080228"/>
            <a:ext cx="976128" cy="1328259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10" name="TextBox 109"/>
          <p:cNvSpPr txBox="1"/>
          <p:nvPr/>
        </p:nvSpPr>
        <p:spPr>
          <a:xfrm>
            <a:off x="1790302" y="2940272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[25-21]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782438" y="3413550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[20-16]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759821" y="3944123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[15-11]</a:t>
            </a:r>
          </a:p>
        </p:txBody>
      </p:sp>
      <p:grpSp>
        <p:nvGrpSpPr>
          <p:cNvPr id="113" name="Group 112"/>
          <p:cNvGrpSpPr/>
          <p:nvPr/>
        </p:nvGrpSpPr>
        <p:grpSpPr>
          <a:xfrm>
            <a:off x="5542593" y="4068255"/>
            <a:ext cx="580608" cy="532039"/>
            <a:chOff x="6598319" y="4283249"/>
            <a:chExt cx="580608" cy="532039"/>
          </a:xfrm>
        </p:grpSpPr>
        <p:sp>
          <p:nvSpPr>
            <p:cNvPr id="114" name="TextBox 113"/>
            <p:cNvSpPr txBox="1"/>
            <p:nvPr/>
          </p:nvSpPr>
          <p:spPr>
            <a:xfrm>
              <a:off x="6598319" y="4553678"/>
              <a:ext cx="5806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ALUop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15" name="Straight Connector 114"/>
            <p:cNvCxnSpPr/>
            <p:nvPr/>
          </p:nvCxnSpPr>
          <p:spPr bwMode="auto">
            <a:xfrm flipH="1">
              <a:off x="6967969" y="4283249"/>
              <a:ext cx="32" cy="272672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6" name="TextBox 115"/>
          <p:cNvSpPr txBox="1"/>
          <p:nvPr/>
        </p:nvSpPr>
        <p:spPr>
          <a:xfrm>
            <a:off x="5893636" y="4885769"/>
            <a:ext cx="95539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" dirty="0" smtClean="0">
                <a:latin typeface="+mj-lt"/>
              </a:rPr>
              <a:t> </a:t>
            </a:r>
          </a:p>
        </p:txBody>
      </p:sp>
      <p:cxnSp>
        <p:nvCxnSpPr>
          <p:cNvPr id="117" name="Elbow Connector 116"/>
          <p:cNvCxnSpPr>
            <a:stCxn id="91" idx="3"/>
            <a:endCxn id="103" idx="1"/>
          </p:cNvCxnSpPr>
          <p:nvPr/>
        </p:nvCxnSpPr>
        <p:spPr bwMode="auto">
          <a:xfrm>
            <a:off x="4660400" y="3849160"/>
            <a:ext cx="794482" cy="210184"/>
          </a:xfrm>
          <a:prstGeom prst="bentConnector3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28" name="Group 27"/>
          <p:cNvGrpSpPr/>
          <p:nvPr/>
        </p:nvGrpSpPr>
        <p:grpSpPr>
          <a:xfrm>
            <a:off x="2506926" y="5907024"/>
            <a:ext cx="1809441" cy="484516"/>
            <a:chOff x="2506926" y="5907024"/>
            <a:chExt cx="1809441" cy="484516"/>
          </a:xfrm>
        </p:grpSpPr>
        <p:grpSp>
          <p:nvGrpSpPr>
            <p:cNvPr id="20" name="Group 19"/>
            <p:cNvGrpSpPr/>
            <p:nvPr/>
          </p:nvGrpSpPr>
          <p:grpSpPr>
            <a:xfrm>
              <a:off x="3411646" y="5907024"/>
              <a:ext cx="904721" cy="484516"/>
              <a:chOff x="3411646" y="5907024"/>
              <a:chExt cx="904721" cy="484516"/>
            </a:xfrm>
          </p:grpSpPr>
          <p:sp>
            <p:nvSpPr>
              <p:cNvPr id="46" name="Rectangle 45"/>
              <p:cNvSpPr/>
              <p:nvPr/>
            </p:nvSpPr>
            <p:spPr bwMode="auto">
              <a:xfrm>
                <a:off x="4049478" y="6047920"/>
                <a:ext cx="224190" cy="343620"/>
              </a:xfrm>
              <a:prstGeom prst="rect">
                <a:avLst/>
              </a:prstGeom>
              <a:noFill/>
              <a:ln>
                <a:noFill/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000" dirty="0" smtClean="0">
                    <a:latin typeface="Lucida Console" panose="020B0609040504020204" pitchFamily="49" charset="0"/>
                    <a:cs typeface="Consolas" pitchFamily="49" charset="0"/>
                  </a:rPr>
                  <a:t>16</a:t>
                </a:r>
              </a:p>
            </p:txBody>
          </p:sp>
          <p:sp>
            <p:nvSpPr>
              <p:cNvPr id="47" name="Rectangle 46"/>
              <p:cNvSpPr/>
              <p:nvPr/>
            </p:nvSpPr>
            <p:spPr bwMode="auto">
              <a:xfrm>
                <a:off x="3459087" y="6047920"/>
                <a:ext cx="224190" cy="343620"/>
              </a:xfrm>
              <a:prstGeom prst="rect">
                <a:avLst/>
              </a:prstGeom>
              <a:noFill/>
              <a:ln>
                <a:noFill/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000" dirty="0" smtClean="0">
                    <a:latin typeface="Lucida Console" panose="020B0609040504020204" pitchFamily="49" charset="0"/>
                    <a:cs typeface="Consolas" pitchFamily="49" charset="0"/>
                  </a:rPr>
                  <a:t>20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 bwMode="auto">
              <a:xfrm>
                <a:off x="3411646" y="590702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2506926" y="5907024"/>
              <a:ext cx="904721" cy="484516"/>
              <a:chOff x="2506926" y="5907024"/>
              <a:chExt cx="904721" cy="484516"/>
            </a:xfrm>
          </p:grpSpPr>
          <p:sp>
            <p:nvSpPr>
              <p:cNvPr id="32" name="Rectangle 31"/>
              <p:cNvSpPr/>
              <p:nvPr/>
            </p:nvSpPr>
            <p:spPr bwMode="auto">
              <a:xfrm>
                <a:off x="2506926" y="590702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rs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 bwMode="auto">
              <a:xfrm>
                <a:off x="3141587" y="6047920"/>
                <a:ext cx="224190" cy="343620"/>
              </a:xfrm>
              <a:prstGeom prst="rect">
                <a:avLst/>
              </a:prstGeom>
              <a:noFill/>
              <a:ln>
                <a:noFill/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000" dirty="0" smtClean="0">
                    <a:latin typeface="Lucida Console" panose="020B0609040504020204" pitchFamily="49" charset="0"/>
                    <a:cs typeface="Consolas" pitchFamily="49" charset="0"/>
                  </a:rPr>
                  <a:t>21</a:t>
                </a:r>
              </a:p>
            </p:txBody>
          </p:sp>
          <p:sp>
            <p:nvSpPr>
              <p:cNvPr id="49" name="Rectangle 48"/>
              <p:cNvSpPr/>
              <p:nvPr/>
            </p:nvSpPr>
            <p:spPr bwMode="auto">
              <a:xfrm>
                <a:off x="2529447" y="6047920"/>
                <a:ext cx="224190" cy="343620"/>
              </a:xfrm>
              <a:prstGeom prst="rect">
                <a:avLst/>
              </a:prstGeom>
              <a:noFill/>
              <a:ln>
                <a:noFill/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000" dirty="0" smtClean="0">
                    <a:latin typeface="Lucida Console" panose="020B0609040504020204" pitchFamily="49" charset="0"/>
                    <a:cs typeface="Consolas" pitchFamily="49" charset="0"/>
                  </a:rPr>
                  <a:t>25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749986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3" dur="3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10" grpId="0"/>
      <p:bldP spid="111" grpId="0"/>
      <p:bldP spid="112" grpId="0"/>
    </p:bldLst>
  </p:timing>
  <p:extLst mod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/>
          <p:cNvGrpSpPr/>
          <p:nvPr/>
        </p:nvGrpSpPr>
        <p:grpSpPr>
          <a:xfrm>
            <a:off x="1759821" y="3256294"/>
            <a:ext cx="1348080" cy="976128"/>
            <a:chOff x="1759821" y="3256294"/>
            <a:chExt cx="1348080" cy="976128"/>
          </a:xfrm>
        </p:grpSpPr>
        <p:cxnSp>
          <p:nvCxnSpPr>
            <p:cNvPr id="16" name="Elbow Connector 15"/>
            <p:cNvCxnSpPr>
              <a:stCxn id="13" idx="4"/>
              <a:endCxn id="123" idx="1"/>
            </p:cNvCxnSpPr>
            <p:nvPr/>
          </p:nvCxnSpPr>
          <p:spPr bwMode="auto">
            <a:xfrm rot="16200000" flipH="1">
              <a:off x="1955708" y="3080228"/>
              <a:ext cx="976128" cy="1328259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8" name="TextBox 17"/>
            <p:cNvSpPr txBox="1"/>
            <p:nvPr/>
          </p:nvSpPr>
          <p:spPr>
            <a:xfrm>
              <a:off x="1782438" y="3413550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[20-16]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59821" y="3944123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[15-11]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Executing I-type Arithmetic Instructions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54671" y="2994625"/>
            <a:ext cx="1622694" cy="1386326"/>
            <a:chOff x="1738845" y="3229513"/>
            <a:chExt cx="1622694" cy="1386326"/>
          </a:xfrm>
        </p:grpSpPr>
        <p:grpSp>
          <p:nvGrpSpPr>
            <p:cNvPr id="130" name="Group 129"/>
            <p:cNvGrpSpPr/>
            <p:nvPr/>
          </p:nvGrpSpPr>
          <p:grpSpPr>
            <a:xfrm>
              <a:off x="1738845" y="3229513"/>
              <a:ext cx="1447262" cy="1386326"/>
              <a:chOff x="3124738" y="3598050"/>
              <a:chExt cx="1447262" cy="1386326"/>
            </a:xfrm>
          </p:grpSpPr>
          <p:sp>
            <p:nvSpPr>
              <p:cNvPr id="132" name="Rectangle 131"/>
              <p:cNvSpPr/>
              <p:nvPr/>
            </p:nvSpPr>
            <p:spPr bwMode="auto">
              <a:xfrm>
                <a:off x="3126744" y="3598050"/>
                <a:ext cx="1445256" cy="1386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3124738" y="3598050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 smtClean="0">
                    <a:latin typeface="+mj-lt"/>
                  </a:rPr>
                  <a:t>address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3673849" y="3601253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Instruction [31-0]</a:t>
                </a: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3430026" y="4147773"/>
                <a:ext cx="8386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+mj-lt"/>
                  </a:rPr>
                  <a:t>Memory</a:t>
                </a:r>
              </a:p>
            </p:txBody>
          </p:sp>
        </p:grpSp>
        <p:cxnSp>
          <p:nvCxnSpPr>
            <p:cNvPr id="131" name="Straight Arrow Connector 130"/>
            <p:cNvCxnSpPr>
              <a:stCxn id="134" idx="3"/>
            </p:cNvCxnSpPr>
            <p:nvPr/>
          </p:nvCxnSpPr>
          <p:spPr bwMode="auto">
            <a:xfrm>
              <a:off x="3186107" y="3448160"/>
              <a:ext cx="175432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grpSp>
        <p:nvGrpSpPr>
          <p:cNvPr id="7" name="Group 6"/>
          <p:cNvGrpSpPr/>
          <p:nvPr/>
        </p:nvGrpSpPr>
        <p:grpSpPr>
          <a:xfrm>
            <a:off x="3107902" y="3005501"/>
            <a:ext cx="1552498" cy="1873251"/>
            <a:chOff x="4488424" y="3657632"/>
            <a:chExt cx="1552498" cy="1873251"/>
          </a:xfrm>
        </p:grpSpPr>
        <p:sp>
          <p:nvSpPr>
            <p:cNvPr id="117" name="Rectangle 116"/>
            <p:cNvSpPr/>
            <p:nvPr/>
          </p:nvSpPr>
          <p:spPr bwMode="auto">
            <a:xfrm>
              <a:off x="4490028" y="3657632"/>
              <a:ext cx="1550894" cy="18706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490028" y="3657633"/>
              <a:ext cx="728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Read</a:t>
              </a:r>
            </a:p>
            <a:p>
              <a:r>
                <a:rPr lang="en-US" sz="1100" dirty="0">
                  <a:latin typeface="+mj-lt"/>
                </a:rPr>
                <a:t>r</a:t>
              </a:r>
              <a:r>
                <a:rPr lang="en-US" sz="1100" dirty="0" smtClean="0">
                  <a:latin typeface="+mj-lt"/>
                </a:rPr>
                <a:t>egister </a:t>
              </a:r>
              <a:r>
                <a:rPr lang="en-US" sz="1100" b="1" dirty="0" smtClean="0">
                  <a:latin typeface="+mj-lt"/>
                </a:rPr>
                <a:t>1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142771" y="3660836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+mj-lt"/>
                </a:rPr>
                <a:t>Read</a:t>
              </a:r>
            </a:p>
            <a:p>
              <a:pPr algn="r"/>
              <a:r>
                <a:rPr lang="en-US" sz="1100" dirty="0">
                  <a:latin typeface="+mj-lt"/>
                </a:rPr>
                <a:t>d</a:t>
              </a:r>
              <a:r>
                <a:rPr lang="en-US" sz="1100" dirty="0" smtClean="0">
                  <a:latin typeface="+mj-lt"/>
                </a:rPr>
                <a:t>ata </a:t>
              </a:r>
              <a:r>
                <a:rPr lang="en-US" sz="1100" b="1" dirty="0" smtClean="0">
                  <a:latin typeface="+mj-lt"/>
                </a:rPr>
                <a:t>1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141166" y="5220532"/>
              <a:ext cx="8429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+mj-lt"/>
                </a:rPr>
                <a:t>Registers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490028" y="4132149"/>
              <a:ext cx="728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Read</a:t>
              </a:r>
            </a:p>
            <a:p>
              <a:r>
                <a:rPr lang="en-US" sz="1100" dirty="0">
                  <a:latin typeface="+mj-lt"/>
                </a:rPr>
                <a:t>r</a:t>
              </a:r>
              <a:r>
                <a:rPr lang="en-US" sz="1100" dirty="0" smtClean="0">
                  <a:latin typeface="+mj-lt"/>
                </a:rPr>
                <a:t>egister </a:t>
              </a:r>
              <a:r>
                <a:rPr lang="en-US" sz="1100" b="1" dirty="0" smtClean="0">
                  <a:latin typeface="+mj-lt"/>
                </a:rPr>
                <a:t>2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5142771" y="4285847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+mj-lt"/>
                </a:rPr>
                <a:t>Read</a:t>
              </a:r>
            </a:p>
            <a:p>
              <a:pPr algn="r"/>
              <a:r>
                <a:rPr lang="en-US" sz="1100" dirty="0">
                  <a:latin typeface="+mj-lt"/>
                </a:rPr>
                <a:t>d</a:t>
              </a:r>
              <a:r>
                <a:rPr lang="en-US" sz="1100" dirty="0" smtClean="0">
                  <a:latin typeface="+mj-lt"/>
                </a:rPr>
                <a:t>ata </a:t>
              </a:r>
              <a:r>
                <a:rPr lang="en-US" sz="1100" b="1" dirty="0">
                  <a:latin typeface="+mj-lt"/>
                </a:rPr>
                <a:t>2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4488424" y="4669109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register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490028" y="5099996"/>
              <a:ext cx="5068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data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5194990" y="3666551"/>
              <a:ext cx="133350" cy="1333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513352" y="2631170"/>
            <a:ext cx="739305" cy="393410"/>
            <a:chOff x="4262754" y="2858356"/>
            <a:chExt cx="739305" cy="393410"/>
          </a:xfrm>
        </p:grpSpPr>
        <p:sp>
          <p:nvSpPr>
            <p:cNvPr id="115" name="TextBox 114"/>
            <p:cNvSpPr txBox="1"/>
            <p:nvPr/>
          </p:nvSpPr>
          <p:spPr>
            <a:xfrm>
              <a:off x="4262754" y="2858356"/>
              <a:ext cx="739305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RegWrite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16" name="Straight Connector 115"/>
            <p:cNvCxnSpPr>
              <a:stCxn id="115" idx="2"/>
              <a:endCxn id="125" idx="0"/>
            </p:cNvCxnSpPr>
            <p:nvPr/>
          </p:nvCxnSpPr>
          <p:spPr bwMode="auto">
            <a:xfrm flipH="1">
              <a:off x="4630545" y="3119966"/>
              <a:ext cx="1862" cy="13180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9" name="Straight Arrow Connector 8"/>
          <p:cNvCxnSpPr>
            <a:stCxn id="119" idx="3"/>
            <a:endCxn id="111" idx="1"/>
          </p:cNvCxnSpPr>
          <p:nvPr/>
        </p:nvCxnSpPr>
        <p:spPr bwMode="auto">
          <a:xfrm>
            <a:off x="4660400" y="3224149"/>
            <a:ext cx="804451" cy="329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0" name="Group 9"/>
          <p:cNvGrpSpPr/>
          <p:nvPr/>
        </p:nvGrpSpPr>
        <p:grpSpPr>
          <a:xfrm>
            <a:off x="5454882" y="2909792"/>
            <a:ext cx="727535" cy="1439797"/>
            <a:chOff x="6728724" y="3121968"/>
            <a:chExt cx="727535" cy="1439797"/>
          </a:xfrm>
        </p:grpSpPr>
        <p:sp>
          <p:nvSpPr>
            <p:cNvPr id="109" name="Freeform 127"/>
            <p:cNvSpPr>
              <a:spLocks/>
            </p:cNvSpPr>
            <p:nvPr/>
          </p:nvSpPr>
          <p:spPr bwMode="auto">
            <a:xfrm>
              <a:off x="6728724" y="3121968"/>
              <a:ext cx="727535" cy="1439797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6728724" y="3392722"/>
              <a:ext cx="363767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 smtClean="0">
                  <a:latin typeface="+mj-lt"/>
                </a:rPr>
                <a:t>ALU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738693" y="3354980"/>
              <a:ext cx="15548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+mj-lt"/>
                </a:rPr>
                <a:t> 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728724" y="4152246"/>
              <a:ext cx="15548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+mj-lt"/>
                </a:rPr>
                <a:t> 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969760" y="3801019"/>
              <a:ext cx="481419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Result</a:t>
              </a:r>
              <a:endParaRPr lang="en-US" sz="1100" b="1" dirty="0" smtClean="0">
                <a:latin typeface="+mj-lt"/>
              </a:endParaRPr>
            </a:p>
          </p:txBody>
        </p:sp>
      </p:grpSp>
      <p:sp>
        <p:nvSpPr>
          <p:cNvPr id="13" name="Oval 12"/>
          <p:cNvSpPr/>
          <p:nvPr/>
        </p:nvSpPr>
        <p:spPr bwMode="auto">
          <a:xfrm>
            <a:off x="1743407" y="3183822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15" name="Elbow Connector 14"/>
          <p:cNvCxnSpPr>
            <a:stCxn id="13" idx="4"/>
            <a:endCxn id="121" idx="1"/>
          </p:cNvCxnSpPr>
          <p:nvPr/>
        </p:nvCxnSpPr>
        <p:spPr bwMode="auto">
          <a:xfrm rot="16200000" flipH="1">
            <a:off x="2224990" y="2810946"/>
            <a:ext cx="439168" cy="132986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1790302" y="2940272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[25-21]</a:t>
            </a:r>
          </a:p>
        </p:txBody>
      </p:sp>
      <p:cxnSp>
        <p:nvCxnSpPr>
          <p:cNvPr id="14" name="Straight Arrow Connector 13"/>
          <p:cNvCxnSpPr>
            <a:stCxn id="13" idx="6"/>
            <a:endCxn id="118" idx="1"/>
          </p:cNvCxnSpPr>
          <p:nvPr/>
        </p:nvCxnSpPr>
        <p:spPr bwMode="auto">
          <a:xfrm>
            <a:off x="1815879" y="3220058"/>
            <a:ext cx="1293627" cy="88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20" name="Group 19"/>
          <p:cNvGrpSpPr/>
          <p:nvPr/>
        </p:nvGrpSpPr>
        <p:grpSpPr>
          <a:xfrm>
            <a:off x="5542593" y="4068255"/>
            <a:ext cx="580608" cy="532039"/>
            <a:chOff x="6598319" y="4283249"/>
            <a:chExt cx="580608" cy="532039"/>
          </a:xfrm>
        </p:grpSpPr>
        <p:sp>
          <p:nvSpPr>
            <p:cNvPr id="107" name="TextBox 106"/>
            <p:cNvSpPr txBox="1"/>
            <p:nvPr/>
          </p:nvSpPr>
          <p:spPr>
            <a:xfrm>
              <a:off x="6598319" y="4553678"/>
              <a:ext cx="5806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ALUop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08" name="Straight Connector 107"/>
            <p:cNvCxnSpPr/>
            <p:nvPr/>
          </p:nvCxnSpPr>
          <p:spPr bwMode="auto">
            <a:xfrm flipH="1">
              <a:off x="6967969" y="4283249"/>
              <a:ext cx="32" cy="272672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5" name="TextBox 34"/>
          <p:cNvSpPr txBox="1"/>
          <p:nvPr/>
        </p:nvSpPr>
        <p:spPr>
          <a:xfrm>
            <a:off x="5893636" y="4885769"/>
            <a:ext cx="95539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" dirty="0" smtClean="0">
                <a:latin typeface="+mj-lt"/>
              </a:rPr>
              <a:t> </a:t>
            </a:r>
          </a:p>
        </p:txBody>
      </p:sp>
      <p:cxnSp>
        <p:nvCxnSpPr>
          <p:cNvPr id="32" name="sr2 -&gt; ALU"/>
          <p:cNvCxnSpPr>
            <a:stCxn id="122" idx="3"/>
            <a:endCxn id="112" idx="1"/>
          </p:cNvCxnSpPr>
          <p:nvPr/>
        </p:nvCxnSpPr>
        <p:spPr bwMode="auto">
          <a:xfrm>
            <a:off x="4660400" y="3849160"/>
            <a:ext cx="794482" cy="175549"/>
          </a:xfrm>
          <a:prstGeom prst="bentConnector3">
            <a:avLst>
              <a:gd name="adj1" fmla="val 68690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36" name="Rectangle 35" hidden="1"/>
          <p:cNvSpPr/>
          <p:nvPr/>
        </p:nvSpPr>
        <p:spPr bwMode="auto">
          <a:xfrm>
            <a:off x="71718" y="2631170"/>
            <a:ext cx="6553200" cy="3168995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dirty="0" smtClean="0">
              <a:latin typeface="+mj-lt"/>
              <a:cs typeface="Arial" pitchFamily="34" charset="0"/>
            </a:endParaRPr>
          </a:p>
        </p:txBody>
      </p:sp>
      <p:grpSp>
        <p:nvGrpSpPr>
          <p:cNvPr id="77" name="Group 76"/>
          <p:cNvGrpSpPr/>
          <p:nvPr/>
        </p:nvGrpSpPr>
        <p:grpSpPr>
          <a:xfrm>
            <a:off x="154671" y="2994625"/>
            <a:ext cx="1622694" cy="1386326"/>
            <a:chOff x="1738845" y="3229513"/>
            <a:chExt cx="1622694" cy="1386326"/>
          </a:xfrm>
        </p:grpSpPr>
        <p:grpSp>
          <p:nvGrpSpPr>
            <p:cNvPr id="78" name="Group 77"/>
            <p:cNvGrpSpPr/>
            <p:nvPr/>
          </p:nvGrpSpPr>
          <p:grpSpPr>
            <a:xfrm>
              <a:off x="1738845" y="3229513"/>
              <a:ext cx="1447262" cy="1386326"/>
              <a:chOff x="3124738" y="3598050"/>
              <a:chExt cx="1447262" cy="1386326"/>
            </a:xfrm>
          </p:grpSpPr>
          <p:sp>
            <p:nvSpPr>
              <p:cNvPr id="80" name="Rectangle 79"/>
              <p:cNvSpPr/>
              <p:nvPr/>
            </p:nvSpPr>
            <p:spPr bwMode="auto">
              <a:xfrm>
                <a:off x="3126744" y="3598050"/>
                <a:ext cx="1445256" cy="1386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3124738" y="3598050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 smtClean="0">
                    <a:latin typeface="+mj-lt"/>
                  </a:rPr>
                  <a:t>address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3673849" y="3601253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Instruction [31-0]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3430026" y="4147773"/>
                <a:ext cx="8386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+mj-lt"/>
                  </a:rPr>
                  <a:t>Memory</a:t>
                </a:r>
              </a:p>
            </p:txBody>
          </p:sp>
        </p:grpSp>
        <p:cxnSp>
          <p:nvCxnSpPr>
            <p:cNvPr id="79" name="Straight Arrow Connector 78"/>
            <p:cNvCxnSpPr>
              <a:stCxn id="82" idx="3"/>
            </p:cNvCxnSpPr>
            <p:nvPr/>
          </p:nvCxnSpPr>
          <p:spPr bwMode="auto">
            <a:xfrm>
              <a:off x="3186107" y="3448160"/>
              <a:ext cx="175432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sp>
        <p:nvSpPr>
          <p:cNvPr id="90" name="Rectangle 89"/>
          <p:cNvSpPr/>
          <p:nvPr/>
        </p:nvSpPr>
        <p:spPr bwMode="auto">
          <a:xfrm>
            <a:off x="3109506" y="3005501"/>
            <a:ext cx="1550894" cy="18706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109506" y="3005502"/>
            <a:ext cx="7280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+mj-lt"/>
              </a:rPr>
              <a:t>Read</a:t>
            </a:r>
          </a:p>
          <a:p>
            <a:r>
              <a:rPr lang="en-US" sz="1100" dirty="0">
                <a:latin typeface="+mj-lt"/>
              </a:rPr>
              <a:t>r</a:t>
            </a:r>
            <a:r>
              <a:rPr lang="en-US" sz="1100" dirty="0" smtClean="0">
                <a:latin typeface="+mj-lt"/>
              </a:rPr>
              <a:t>egister </a:t>
            </a:r>
            <a:r>
              <a:rPr lang="en-US" sz="1100" b="1" dirty="0" smtClean="0">
                <a:latin typeface="+mj-lt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62249" y="3008705"/>
            <a:ext cx="8981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 smtClean="0">
                <a:latin typeface="+mj-lt"/>
              </a:rPr>
              <a:t>Read</a:t>
            </a:r>
          </a:p>
          <a:p>
            <a:pPr algn="r"/>
            <a:r>
              <a:rPr lang="en-US" sz="1100" dirty="0">
                <a:latin typeface="+mj-lt"/>
              </a:rPr>
              <a:t>d</a:t>
            </a:r>
            <a:r>
              <a:rPr lang="en-US" sz="1100" dirty="0" smtClean="0">
                <a:latin typeface="+mj-lt"/>
              </a:rPr>
              <a:t>ata </a:t>
            </a:r>
            <a:r>
              <a:rPr lang="en-US" sz="1100" b="1" dirty="0" smtClean="0">
                <a:latin typeface="+mj-lt"/>
              </a:rP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60644" y="4568401"/>
            <a:ext cx="842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Registers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09506" y="3480018"/>
            <a:ext cx="7280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+mj-lt"/>
              </a:rPr>
              <a:t>Read</a:t>
            </a:r>
          </a:p>
          <a:p>
            <a:r>
              <a:rPr lang="en-US" sz="1100" dirty="0">
                <a:latin typeface="+mj-lt"/>
              </a:rPr>
              <a:t>r</a:t>
            </a:r>
            <a:r>
              <a:rPr lang="en-US" sz="1100" dirty="0" smtClean="0">
                <a:latin typeface="+mj-lt"/>
              </a:rPr>
              <a:t>egister </a:t>
            </a:r>
            <a:r>
              <a:rPr lang="en-US" sz="1100" b="1" dirty="0" smtClean="0">
                <a:latin typeface="+mj-lt"/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62249" y="3633716"/>
            <a:ext cx="8981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 smtClean="0">
                <a:latin typeface="+mj-lt"/>
              </a:rPr>
              <a:t>Read</a:t>
            </a:r>
          </a:p>
          <a:p>
            <a:pPr algn="r"/>
            <a:r>
              <a:rPr lang="en-US" sz="1100" dirty="0">
                <a:latin typeface="+mj-lt"/>
              </a:rPr>
              <a:t>d</a:t>
            </a:r>
            <a:r>
              <a:rPr lang="en-US" sz="1100" dirty="0" smtClean="0">
                <a:latin typeface="+mj-lt"/>
              </a:rPr>
              <a:t>ata </a:t>
            </a:r>
            <a:r>
              <a:rPr lang="en-US" sz="1100" b="1" dirty="0">
                <a:latin typeface="+mj-lt"/>
              </a:rPr>
              <a:t>2</a:t>
            </a:r>
            <a:endParaRPr lang="en-US" sz="1100" b="1" dirty="0" smtClean="0">
              <a:latin typeface="+mj-lt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107902" y="4016978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+mj-lt"/>
              </a:rPr>
              <a:t>Write</a:t>
            </a:r>
          </a:p>
          <a:p>
            <a:r>
              <a:rPr lang="en-US" sz="1100" dirty="0" smtClean="0">
                <a:latin typeface="+mj-lt"/>
              </a:rPr>
              <a:t>register</a:t>
            </a:r>
            <a:endParaRPr lang="en-US" sz="1100" b="1" dirty="0" smtClean="0">
              <a:latin typeface="+mj-lt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109506" y="4447865"/>
            <a:ext cx="5068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+mj-lt"/>
              </a:rPr>
              <a:t>Write</a:t>
            </a:r>
          </a:p>
          <a:p>
            <a:r>
              <a:rPr lang="en-US" sz="1100" dirty="0" smtClean="0">
                <a:latin typeface="+mj-lt"/>
              </a:rPr>
              <a:t>data</a:t>
            </a:r>
            <a:endParaRPr lang="en-US" sz="1100" b="1" dirty="0" smtClean="0">
              <a:latin typeface="+mj-lt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3814468" y="3014420"/>
            <a:ext cx="133350" cy="133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grpSp>
        <p:nvGrpSpPr>
          <p:cNvPr id="99" name="Group 98"/>
          <p:cNvGrpSpPr/>
          <p:nvPr/>
        </p:nvGrpSpPr>
        <p:grpSpPr>
          <a:xfrm>
            <a:off x="3513352" y="2631170"/>
            <a:ext cx="739305" cy="393410"/>
            <a:chOff x="4262754" y="2858356"/>
            <a:chExt cx="739305" cy="393410"/>
          </a:xfrm>
        </p:grpSpPr>
        <p:sp>
          <p:nvSpPr>
            <p:cNvPr id="100" name="TextBox 99"/>
            <p:cNvSpPr txBox="1"/>
            <p:nvPr/>
          </p:nvSpPr>
          <p:spPr>
            <a:xfrm>
              <a:off x="4262754" y="2858356"/>
              <a:ext cx="739305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RegWrite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01" name="Straight Connector 100"/>
            <p:cNvCxnSpPr>
              <a:stCxn id="100" idx="2"/>
              <a:endCxn id="98" idx="0"/>
            </p:cNvCxnSpPr>
            <p:nvPr/>
          </p:nvCxnSpPr>
          <p:spPr bwMode="auto">
            <a:xfrm flipH="1">
              <a:off x="4630545" y="3119966"/>
              <a:ext cx="1862" cy="13180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43" name="Elbow Connector 142"/>
          <p:cNvCxnSpPr>
            <a:endCxn id="97" idx="1"/>
          </p:cNvCxnSpPr>
          <p:nvPr/>
        </p:nvCxnSpPr>
        <p:spPr bwMode="auto">
          <a:xfrm flipH="1">
            <a:off x="3109506" y="3735094"/>
            <a:ext cx="3069421" cy="928215"/>
          </a:xfrm>
          <a:prstGeom prst="bentConnector5">
            <a:avLst>
              <a:gd name="adj1" fmla="val -7448"/>
              <a:gd name="adj2" fmla="val 210059"/>
              <a:gd name="adj3" fmla="val 107448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44" name="Oval 143"/>
          <p:cNvSpPr/>
          <p:nvPr/>
        </p:nvSpPr>
        <p:spPr bwMode="auto">
          <a:xfrm>
            <a:off x="1743407" y="3183822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145" name="Straight Arrow Connector 144"/>
          <p:cNvCxnSpPr>
            <a:stCxn id="144" idx="6"/>
            <a:endCxn id="91" idx="1"/>
          </p:cNvCxnSpPr>
          <p:nvPr/>
        </p:nvCxnSpPr>
        <p:spPr bwMode="auto">
          <a:xfrm>
            <a:off x="1815879" y="3220058"/>
            <a:ext cx="1293627" cy="88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46" name="Elbow Connector 145"/>
          <p:cNvCxnSpPr>
            <a:stCxn id="144" idx="4"/>
            <a:endCxn id="94" idx="1"/>
          </p:cNvCxnSpPr>
          <p:nvPr/>
        </p:nvCxnSpPr>
        <p:spPr bwMode="auto">
          <a:xfrm rot="16200000" flipH="1">
            <a:off x="2224990" y="2810946"/>
            <a:ext cx="439168" cy="132986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48" name="TextBox 147"/>
          <p:cNvSpPr txBox="1"/>
          <p:nvPr/>
        </p:nvSpPr>
        <p:spPr>
          <a:xfrm>
            <a:off x="1790302" y="2940272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[25-21]</a:t>
            </a:r>
          </a:p>
        </p:txBody>
      </p:sp>
      <p:grpSp>
        <p:nvGrpSpPr>
          <p:cNvPr id="151" name="Group 150"/>
          <p:cNvGrpSpPr/>
          <p:nvPr/>
        </p:nvGrpSpPr>
        <p:grpSpPr>
          <a:xfrm>
            <a:off x="5542593" y="4068255"/>
            <a:ext cx="580608" cy="532039"/>
            <a:chOff x="6598319" y="4283249"/>
            <a:chExt cx="580608" cy="532039"/>
          </a:xfrm>
        </p:grpSpPr>
        <p:sp>
          <p:nvSpPr>
            <p:cNvPr id="152" name="TextBox 151"/>
            <p:cNvSpPr txBox="1"/>
            <p:nvPr/>
          </p:nvSpPr>
          <p:spPr>
            <a:xfrm>
              <a:off x="6598319" y="4553678"/>
              <a:ext cx="5806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ALUop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53" name="Straight Connector 152"/>
            <p:cNvCxnSpPr/>
            <p:nvPr/>
          </p:nvCxnSpPr>
          <p:spPr bwMode="auto">
            <a:xfrm flipH="1">
              <a:off x="6967969" y="4283249"/>
              <a:ext cx="32" cy="272672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7" name="TextBox 166"/>
          <p:cNvSpPr txBox="1"/>
          <p:nvPr/>
        </p:nvSpPr>
        <p:spPr>
          <a:xfrm>
            <a:off x="5893636" y="4885769"/>
            <a:ext cx="95539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" dirty="0" smtClean="0">
                <a:latin typeface="+mj-lt"/>
              </a:rPr>
              <a:t> 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1779644" y="3256293"/>
            <a:ext cx="3790725" cy="2095712"/>
            <a:chOff x="1779644" y="3256293"/>
            <a:chExt cx="3790725" cy="2095712"/>
          </a:xfrm>
        </p:grpSpPr>
        <p:cxnSp>
          <p:nvCxnSpPr>
            <p:cNvPr id="142" name="Elbow Connector 141"/>
            <p:cNvCxnSpPr>
              <a:stCxn id="95" idx="3"/>
              <a:endCxn id="162" idx="3"/>
            </p:cNvCxnSpPr>
            <p:nvPr/>
          </p:nvCxnSpPr>
          <p:spPr bwMode="auto">
            <a:xfrm flipV="1">
              <a:off x="4660400" y="3848031"/>
              <a:ext cx="454431" cy="1129"/>
            </a:xfrm>
            <a:prstGeom prst="bentConnector3">
              <a:avLst>
                <a:gd name="adj1" fmla="val 53440"/>
              </a:avLst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57" name="Rounded Rectangle 156"/>
            <p:cNvSpPr/>
            <p:nvPr/>
          </p:nvSpPr>
          <p:spPr bwMode="auto">
            <a:xfrm>
              <a:off x="3435075" y="5078121"/>
              <a:ext cx="953678" cy="27388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100" dirty="0" smtClean="0">
                  <a:solidFill>
                    <a:srgbClr val="FF0000"/>
                  </a:solidFill>
                  <a:latin typeface="+mj-lt"/>
                  <a:cs typeface="Arial" pitchFamily="34" charset="0"/>
                </a:rPr>
                <a:t>Sign extend</a:t>
              </a:r>
              <a:endParaRPr lang="en-US" sz="1100" dirty="0">
                <a:solidFill>
                  <a:srgbClr val="FF0000"/>
                </a:solidFill>
                <a:latin typeface="+mj-lt"/>
                <a:cs typeface="Arial" pitchFamily="34" charset="0"/>
              </a:endParaRPr>
            </a:p>
          </p:txBody>
        </p:sp>
        <p:cxnSp>
          <p:nvCxnSpPr>
            <p:cNvPr id="158" name="Elbow Connector 157"/>
            <p:cNvCxnSpPr>
              <a:stCxn id="144" idx="4"/>
              <a:endCxn id="157" idx="1"/>
            </p:cNvCxnSpPr>
            <p:nvPr/>
          </p:nvCxnSpPr>
          <p:spPr bwMode="auto">
            <a:xfrm rot="16200000" flipH="1">
              <a:off x="1627975" y="3407962"/>
              <a:ext cx="1958769" cy="1655432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59" name="TextBox 158"/>
            <p:cNvSpPr txBox="1"/>
            <p:nvPr/>
          </p:nvSpPr>
          <p:spPr>
            <a:xfrm>
              <a:off x="1782438" y="4940107"/>
              <a:ext cx="6335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rgbClr val="FF0000"/>
                  </a:solidFill>
                  <a:latin typeface="+mj-lt"/>
                </a:rPr>
                <a:t>I [15-0]</a:t>
              </a:r>
            </a:p>
          </p:txBody>
        </p:sp>
        <p:grpSp>
          <p:nvGrpSpPr>
            <p:cNvPr id="160" name="Group 159"/>
            <p:cNvGrpSpPr/>
            <p:nvPr/>
          </p:nvGrpSpPr>
          <p:grpSpPr>
            <a:xfrm>
              <a:off x="5109743" y="3701948"/>
              <a:ext cx="180391" cy="643543"/>
              <a:chOff x="3390790" y="3586079"/>
              <a:chExt cx="180391" cy="643543"/>
            </a:xfrm>
          </p:grpSpPr>
          <p:sp>
            <p:nvSpPr>
              <p:cNvPr id="161" name="Trapezoid 160"/>
              <p:cNvSpPr/>
              <p:nvPr/>
            </p:nvSpPr>
            <p:spPr bwMode="auto">
              <a:xfrm rot="5400000">
                <a:off x="3159214" y="3817655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  <p:sp>
            <p:nvSpPr>
              <p:cNvPr id="162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FF0000"/>
                    </a:solidFill>
                    <a:latin typeface="+mj-lt"/>
                  </a:rPr>
                  <a:t>0</a:t>
                </a:r>
                <a:endParaRPr lang="en-US" sz="700" dirty="0">
                  <a:solidFill>
                    <a:srgbClr val="FF0000"/>
                  </a:solidFill>
                  <a:latin typeface="+mj-lt"/>
                </a:endParaRPr>
              </a:p>
            </p:txBody>
          </p:sp>
          <p:sp>
            <p:nvSpPr>
              <p:cNvPr id="163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FF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164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585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FF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FF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FF0000"/>
                    </a:solidFill>
                    <a:latin typeface="+mj-lt"/>
                  </a:rPr>
                  <a:t>x</a:t>
                </a:r>
                <a:endParaRPr lang="en-US" sz="500" dirty="0">
                  <a:solidFill>
                    <a:srgbClr val="FF0000"/>
                  </a:solidFill>
                  <a:latin typeface="+mj-lt"/>
                </a:endParaRPr>
              </a:p>
            </p:txBody>
          </p:sp>
        </p:grpSp>
        <p:cxnSp>
          <p:nvCxnSpPr>
            <p:cNvPr id="165" name="Straight Arrow Connector 164"/>
            <p:cNvCxnSpPr>
              <a:stCxn id="161" idx="0"/>
              <a:endCxn id="112" idx="1"/>
            </p:cNvCxnSpPr>
            <p:nvPr/>
          </p:nvCxnSpPr>
          <p:spPr bwMode="auto">
            <a:xfrm>
              <a:off x="5290134" y="4023720"/>
              <a:ext cx="164748" cy="989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66" name="Elbow Connector 165"/>
            <p:cNvCxnSpPr>
              <a:stCxn id="157" idx="3"/>
              <a:endCxn id="163" idx="3"/>
            </p:cNvCxnSpPr>
            <p:nvPr/>
          </p:nvCxnSpPr>
          <p:spPr bwMode="auto">
            <a:xfrm flipV="1">
              <a:off x="4388753" y="4265409"/>
              <a:ext cx="726079" cy="949654"/>
            </a:xfrm>
            <a:prstGeom prst="bentConnector3">
              <a:avLst>
                <a:gd name="adj1" fmla="val 77706"/>
              </a:avLst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68" name="TextBox 167"/>
            <p:cNvSpPr txBox="1"/>
            <p:nvPr/>
          </p:nvSpPr>
          <p:spPr>
            <a:xfrm>
              <a:off x="4981746" y="4578269"/>
              <a:ext cx="5886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ALUSrc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69" name="Straight Connector 168"/>
            <p:cNvCxnSpPr>
              <a:stCxn id="161" idx="3"/>
            </p:cNvCxnSpPr>
            <p:nvPr/>
          </p:nvCxnSpPr>
          <p:spPr bwMode="auto">
            <a:xfrm>
              <a:off x="5199938" y="4297225"/>
              <a:ext cx="0" cy="227189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1" name="Group 50"/>
          <p:cNvGrpSpPr/>
          <p:nvPr/>
        </p:nvGrpSpPr>
        <p:grpSpPr>
          <a:xfrm>
            <a:off x="904306" y="6050197"/>
            <a:ext cx="6283894" cy="532893"/>
            <a:chOff x="904306" y="6050197"/>
            <a:chExt cx="6283894" cy="532893"/>
          </a:xfrm>
        </p:grpSpPr>
        <p:sp>
          <p:nvSpPr>
            <p:cNvPr id="37" name="Rounded Rectangle 36"/>
            <p:cNvSpPr/>
            <p:nvPr/>
          </p:nvSpPr>
          <p:spPr bwMode="auto">
            <a:xfrm>
              <a:off x="1356360" y="6237438"/>
              <a:ext cx="5831840" cy="264372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dirty="0" smtClean="0">
                <a:latin typeface="Lucida Console" panose="020B0609040504020204" pitchFamily="49" charset="0"/>
                <a:cs typeface="Arial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04306" y="6050197"/>
              <a:ext cx="8290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Lucida Console" panose="020B0609040504020204" pitchFamily="49" charset="0"/>
                </a:rPr>
                <a:t>R-type</a:t>
              </a:r>
            </a:p>
          </p:txBody>
        </p:sp>
        <p:sp>
          <p:nvSpPr>
            <p:cNvPr id="174" name="Rectangle 173"/>
            <p:cNvSpPr/>
            <p:nvPr/>
          </p:nvSpPr>
          <p:spPr bwMode="auto">
            <a:xfrm>
              <a:off x="2243755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26</a:t>
              </a:r>
            </a:p>
          </p:txBody>
        </p:sp>
        <p:sp>
          <p:nvSpPr>
            <p:cNvPr id="175" name="Rectangle 174"/>
            <p:cNvSpPr/>
            <p:nvPr/>
          </p:nvSpPr>
          <p:spPr bwMode="auto">
            <a:xfrm>
              <a:off x="1606350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31</a:t>
              </a:r>
            </a:p>
          </p:txBody>
        </p:sp>
        <p:sp>
          <p:nvSpPr>
            <p:cNvPr id="178" name="Rectangle 177"/>
            <p:cNvSpPr/>
            <p:nvPr/>
          </p:nvSpPr>
          <p:spPr bwMode="auto">
            <a:xfrm>
              <a:off x="6832600" y="6239470"/>
              <a:ext cx="1979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>
                  <a:latin typeface="Lucida Console" panose="020B0609040504020204" pitchFamily="49" charset="0"/>
                  <a:cs typeface="Consolas" pitchFamily="49" charset="0"/>
                </a:rPr>
                <a:t>0</a:t>
              </a:r>
              <a:endParaRPr lang="en-US" sz="1000" dirty="0" smtClean="0">
                <a:latin typeface="Lucida Console" panose="020B0609040504020204" pitchFamily="49" charset="0"/>
                <a:cs typeface="Consolas" pitchFamily="49" charset="0"/>
              </a:endParaRPr>
            </a:p>
          </p:txBody>
        </p:sp>
        <p:sp>
          <p:nvSpPr>
            <p:cNvPr id="179" name="Rectangle 178"/>
            <p:cNvSpPr/>
            <p:nvPr/>
          </p:nvSpPr>
          <p:spPr bwMode="auto">
            <a:xfrm>
              <a:off x="6133428" y="6239470"/>
              <a:ext cx="1979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182" name="Rectangle 181"/>
            <p:cNvSpPr/>
            <p:nvPr/>
          </p:nvSpPr>
          <p:spPr bwMode="auto">
            <a:xfrm>
              <a:off x="5935980" y="6239470"/>
              <a:ext cx="1898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183" name="Rectangle 182"/>
            <p:cNvSpPr/>
            <p:nvPr/>
          </p:nvSpPr>
          <p:spPr bwMode="auto">
            <a:xfrm>
              <a:off x="5248665" y="6239470"/>
              <a:ext cx="1898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10</a:t>
              </a:r>
            </a:p>
          </p:txBody>
        </p:sp>
        <p:sp>
          <p:nvSpPr>
            <p:cNvPr id="186" name="Rectangle 185"/>
            <p:cNvSpPr/>
            <p:nvPr/>
          </p:nvSpPr>
          <p:spPr bwMode="auto">
            <a:xfrm>
              <a:off x="497911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187" name="Rectangle 186"/>
            <p:cNvSpPr/>
            <p:nvPr/>
          </p:nvSpPr>
          <p:spPr bwMode="auto">
            <a:xfrm>
              <a:off x="434411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194" name="Rectangle 193"/>
            <p:cNvSpPr/>
            <p:nvPr/>
          </p:nvSpPr>
          <p:spPr bwMode="auto">
            <a:xfrm>
              <a:off x="404947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195" name="Rectangle 194"/>
            <p:cNvSpPr/>
            <p:nvPr/>
          </p:nvSpPr>
          <p:spPr bwMode="auto">
            <a:xfrm>
              <a:off x="345908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20</a:t>
              </a: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1602205" y="6098574"/>
              <a:ext cx="5428324" cy="220144"/>
              <a:chOff x="1602205" y="6098574"/>
              <a:chExt cx="5428324" cy="220144"/>
            </a:xfrm>
          </p:grpSpPr>
          <p:sp>
            <p:nvSpPr>
              <p:cNvPr id="173" name="Rectangle 172"/>
              <p:cNvSpPr/>
              <p:nvPr/>
            </p:nvSpPr>
            <p:spPr bwMode="auto">
              <a:xfrm>
                <a:off x="1602205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smtClean="0">
                    <a:latin typeface="Lucida Console" panose="020B0609040504020204" pitchFamily="49" charset="0"/>
                    <a:cs typeface="Consolas" pitchFamily="49" charset="0"/>
                  </a:rPr>
                  <a:t>op</a:t>
                </a:r>
              </a:p>
            </p:txBody>
          </p:sp>
          <p:sp>
            <p:nvSpPr>
              <p:cNvPr id="177" name="Rectangle 176"/>
              <p:cNvSpPr/>
              <p:nvPr/>
            </p:nvSpPr>
            <p:spPr bwMode="auto">
              <a:xfrm>
                <a:off x="6125808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funct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181" name="Rectangle 180"/>
              <p:cNvSpPr/>
              <p:nvPr/>
            </p:nvSpPr>
            <p:spPr bwMode="auto">
              <a:xfrm>
                <a:off x="5221088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shamt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185" name="Rectangle 184"/>
              <p:cNvSpPr/>
              <p:nvPr/>
            </p:nvSpPr>
            <p:spPr bwMode="auto">
              <a:xfrm>
                <a:off x="4316367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rd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196" name="Rectangle 195"/>
              <p:cNvSpPr/>
              <p:nvPr/>
            </p:nvSpPr>
            <p:spPr bwMode="auto">
              <a:xfrm>
                <a:off x="341164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191" name="Rectangle 190"/>
              <p:cNvSpPr/>
              <p:nvPr/>
            </p:nvSpPr>
            <p:spPr bwMode="auto">
              <a:xfrm>
                <a:off x="250692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rs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192" name="Rectangle 191"/>
            <p:cNvSpPr/>
            <p:nvPr/>
          </p:nvSpPr>
          <p:spPr bwMode="auto">
            <a:xfrm>
              <a:off x="314158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193" name="Rectangle 192"/>
            <p:cNvSpPr/>
            <p:nvPr/>
          </p:nvSpPr>
          <p:spPr bwMode="auto">
            <a:xfrm>
              <a:off x="252944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25</a:t>
              </a: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960120" y="6088414"/>
              <a:ext cx="6116320" cy="241266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Lucida Console" panose="020B0609040504020204" pitchFamily="49" charset="0"/>
                <a:cs typeface="Arial" pitchFamily="34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821145" y="5821762"/>
            <a:ext cx="6209385" cy="307777"/>
            <a:chOff x="821145" y="5821762"/>
            <a:chExt cx="6209385" cy="307777"/>
          </a:xfrm>
        </p:grpSpPr>
        <p:grpSp>
          <p:nvGrpSpPr>
            <p:cNvPr id="197" name="Group 196"/>
            <p:cNvGrpSpPr/>
            <p:nvPr/>
          </p:nvGrpSpPr>
          <p:grpSpPr>
            <a:xfrm>
              <a:off x="1602205" y="5874711"/>
              <a:ext cx="5428325" cy="220144"/>
              <a:chOff x="1602205" y="6098574"/>
              <a:chExt cx="5428325" cy="220144"/>
            </a:xfrm>
          </p:grpSpPr>
          <p:sp>
            <p:nvSpPr>
              <p:cNvPr id="198" name="Rectangle 197"/>
              <p:cNvSpPr/>
              <p:nvPr/>
            </p:nvSpPr>
            <p:spPr bwMode="auto">
              <a:xfrm>
                <a:off x="1602205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smtClean="0">
                    <a:latin typeface="Consolas" pitchFamily="49" charset="0"/>
                    <a:cs typeface="Consolas" pitchFamily="49" charset="0"/>
                  </a:rPr>
                  <a:t>op</a:t>
                </a:r>
              </a:p>
            </p:txBody>
          </p:sp>
          <p:sp>
            <p:nvSpPr>
              <p:cNvPr id="199" name="Rectangle 198"/>
              <p:cNvSpPr/>
              <p:nvPr/>
            </p:nvSpPr>
            <p:spPr bwMode="auto">
              <a:xfrm>
                <a:off x="4316368" y="6098574"/>
                <a:ext cx="2714162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Consolas" pitchFamily="49" charset="0"/>
                    <a:cs typeface="Consolas" pitchFamily="49" charset="0"/>
                  </a:rPr>
                  <a:t>imm</a:t>
                </a:r>
                <a:endParaRPr lang="en-US" sz="1200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202" name="Rectangle 201"/>
              <p:cNvSpPr/>
              <p:nvPr/>
            </p:nvSpPr>
            <p:spPr bwMode="auto">
              <a:xfrm>
                <a:off x="341164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Consolas" pitchFamily="49" charset="0"/>
                    <a:cs typeface="Consolas" pitchFamily="49" charset="0"/>
                  </a:rPr>
                  <a:t>rt</a:t>
                </a:r>
                <a:endParaRPr lang="en-US" sz="1200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203" name="Rectangle 202"/>
              <p:cNvSpPr/>
              <p:nvPr/>
            </p:nvSpPr>
            <p:spPr bwMode="auto">
              <a:xfrm>
                <a:off x="250692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Consolas" pitchFamily="49" charset="0"/>
                    <a:cs typeface="Consolas" pitchFamily="49" charset="0"/>
                  </a:rPr>
                  <a:t>rs</a:t>
                </a:r>
                <a:endParaRPr lang="en-US" sz="1200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204" name="TextBox 203"/>
            <p:cNvSpPr txBox="1"/>
            <p:nvPr/>
          </p:nvSpPr>
          <p:spPr>
            <a:xfrm>
              <a:off x="821145" y="5821762"/>
              <a:ext cx="8290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Lucida Console" panose="020B0609040504020204" pitchFamily="49" charset="0"/>
                </a:rPr>
                <a:t>I</a:t>
              </a:r>
              <a:r>
                <a:rPr lang="en-US" sz="1400" dirty="0" smtClean="0">
                  <a:latin typeface="Lucida Console" panose="020B0609040504020204" pitchFamily="49" charset="0"/>
                </a:rPr>
                <a:t>-type</a:t>
              </a:r>
            </a:p>
          </p:txBody>
        </p:sp>
      </p:grpSp>
      <p:sp>
        <p:nvSpPr>
          <p:cNvPr id="205" name="Content Placeholder 2"/>
          <p:cNvSpPr>
            <a:spLocks noGrp="1"/>
          </p:cNvSpPr>
          <p:nvPr>
            <p:ph idx="1"/>
          </p:nvPr>
        </p:nvSpPr>
        <p:spPr>
          <a:xfrm>
            <a:off x="458788" y="907531"/>
            <a:ext cx="8502650" cy="1858131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Read </a:t>
            </a:r>
            <a:r>
              <a:rPr lang="en-US" sz="1600" dirty="0"/>
              <a:t>an instruction from the instruction </a:t>
            </a:r>
            <a:r>
              <a:rPr lang="en-US" sz="1600" dirty="0" smtClean="0"/>
              <a:t>memory by the address in PC</a:t>
            </a:r>
            <a:endParaRPr lang="en-US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source register, </a:t>
            </a:r>
            <a:r>
              <a:rPr lang="en-US" sz="1600" dirty="0"/>
              <a:t>specified by instruction </a:t>
            </a:r>
            <a:r>
              <a:rPr lang="en-US" sz="1600" dirty="0" smtClean="0"/>
              <a:t>field </a:t>
            </a:r>
            <a:r>
              <a:rPr lang="en-US" sz="1600" b="1" dirty="0" err="1" smtClean="0">
                <a:solidFill>
                  <a:schemeClr val="accent1"/>
                </a:solidFill>
              </a:rPr>
              <a:t>rs</a:t>
            </a:r>
            <a:r>
              <a:rPr lang="en-US" sz="1600" dirty="0" smtClean="0"/>
              <a:t>, </a:t>
            </a:r>
            <a:r>
              <a:rPr lang="en-US" sz="1600" dirty="0"/>
              <a:t>should be read from the register </a:t>
            </a:r>
            <a:r>
              <a:rPr lang="en-US" sz="1600" dirty="0" smtClean="0"/>
              <a:t>file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The signed immediate is extended (from 16 to 32 bits) and directly transferred to ALU</a:t>
            </a:r>
            <a:endParaRPr lang="en-US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The </a:t>
            </a:r>
            <a:r>
              <a:rPr lang="en-US" sz="1600" dirty="0"/>
              <a:t>ALU performs the desired </a:t>
            </a:r>
            <a:r>
              <a:rPr lang="en-US" sz="1600" dirty="0" smtClean="0"/>
              <a:t>operation</a:t>
            </a:r>
            <a:endParaRPr lang="en-US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Its </a:t>
            </a:r>
            <a:r>
              <a:rPr lang="en-US" sz="1600" dirty="0"/>
              <a:t>result is stored in the destination register, which is specified by field </a:t>
            </a:r>
            <a:r>
              <a:rPr lang="en-US" sz="1600" b="1" dirty="0" err="1" smtClean="0">
                <a:solidFill>
                  <a:schemeClr val="accent1"/>
                </a:solidFill>
              </a:rPr>
              <a:t>rt</a:t>
            </a:r>
            <a:r>
              <a:rPr lang="en-US" sz="1600" dirty="0" smtClean="0">
                <a:solidFill>
                  <a:schemeClr val="accent1"/>
                </a:solidFill>
              </a:rPr>
              <a:t>  </a:t>
            </a:r>
            <a:r>
              <a:rPr lang="en-US" sz="1600" dirty="0" smtClean="0"/>
              <a:t>of </a:t>
            </a:r>
            <a:r>
              <a:rPr lang="en-US" sz="1600" dirty="0"/>
              <a:t>the instruction </a:t>
            </a:r>
            <a:r>
              <a:rPr lang="en-US" sz="1600" dirty="0" smtClean="0"/>
              <a:t>word</a:t>
            </a:r>
            <a:endParaRPr lang="en-US" sz="1600" dirty="0"/>
          </a:p>
        </p:txBody>
      </p:sp>
      <p:grpSp>
        <p:nvGrpSpPr>
          <p:cNvPr id="46" name="Group 45"/>
          <p:cNvGrpSpPr/>
          <p:nvPr/>
        </p:nvGrpSpPr>
        <p:grpSpPr>
          <a:xfrm>
            <a:off x="1757620" y="3269041"/>
            <a:ext cx="1973028" cy="1675544"/>
            <a:chOff x="1759821" y="3256294"/>
            <a:chExt cx="1973028" cy="1675544"/>
          </a:xfrm>
        </p:grpSpPr>
        <p:grpSp>
          <p:nvGrpSpPr>
            <p:cNvPr id="84" name="Group 83"/>
            <p:cNvGrpSpPr/>
            <p:nvPr/>
          </p:nvGrpSpPr>
          <p:grpSpPr>
            <a:xfrm>
              <a:off x="2546317" y="3911755"/>
              <a:ext cx="180391" cy="643543"/>
              <a:chOff x="3390790" y="3616963"/>
              <a:chExt cx="180391" cy="643543"/>
            </a:xfrm>
          </p:grpSpPr>
          <p:sp>
            <p:nvSpPr>
              <p:cNvPr id="85" name="Trapezoid 84"/>
              <p:cNvSpPr/>
              <p:nvPr/>
            </p:nvSpPr>
            <p:spPr bwMode="auto">
              <a:xfrm rot="5400000">
                <a:off x="3159214" y="3848539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  <p:sp>
            <p:nvSpPr>
              <p:cNvPr id="86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FF0000"/>
                    </a:solidFill>
                    <a:latin typeface="+mj-lt"/>
                  </a:rPr>
                  <a:t>0</a:t>
                </a:r>
                <a:endParaRPr lang="en-US" sz="700" dirty="0">
                  <a:solidFill>
                    <a:srgbClr val="FF0000"/>
                  </a:solidFill>
                  <a:latin typeface="+mj-lt"/>
                </a:endParaRPr>
              </a:p>
            </p:txBody>
          </p:sp>
          <p:sp>
            <p:nvSpPr>
              <p:cNvPr id="87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FF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88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585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FF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FF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FF0000"/>
                    </a:solidFill>
                    <a:latin typeface="+mj-lt"/>
                  </a:rPr>
                  <a:t>x</a:t>
                </a:r>
                <a:endParaRPr lang="en-US" sz="500" dirty="0">
                  <a:solidFill>
                    <a:srgbClr val="FF0000"/>
                  </a:solidFill>
                  <a:latin typeface="+mj-lt"/>
                </a:endParaRPr>
              </a:p>
            </p:txBody>
          </p:sp>
        </p:grpSp>
        <p:cxnSp>
          <p:nvCxnSpPr>
            <p:cNvPr id="147" name="Elbow Connector 146"/>
            <p:cNvCxnSpPr>
              <a:stCxn id="144" idx="4"/>
              <a:endCxn id="87" idx="3"/>
            </p:cNvCxnSpPr>
            <p:nvPr/>
          </p:nvCxnSpPr>
          <p:spPr bwMode="auto">
            <a:xfrm rot="16200000" flipH="1">
              <a:off x="1571505" y="3464431"/>
              <a:ext cx="1188038" cy="771763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49" name="TextBox 148"/>
            <p:cNvSpPr txBox="1"/>
            <p:nvPr/>
          </p:nvSpPr>
          <p:spPr>
            <a:xfrm>
              <a:off x="1782438" y="3413550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rgbClr val="FF0000"/>
                  </a:solidFill>
                  <a:latin typeface="+mj-lt"/>
                </a:rPr>
                <a:t>I [20-16]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759821" y="4157483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rgbClr val="FF0000"/>
                  </a:solidFill>
                  <a:latin typeface="+mj-lt"/>
                </a:rPr>
                <a:t>I [15-11]</a:t>
              </a:r>
            </a:p>
          </p:txBody>
        </p:sp>
        <p:sp>
          <p:nvSpPr>
            <p:cNvPr id="154" name="Oval 153"/>
            <p:cNvSpPr/>
            <p:nvPr/>
          </p:nvSpPr>
          <p:spPr bwMode="auto">
            <a:xfrm>
              <a:off x="2289085" y="3662429"/>
              <a:ext cx="72472" cy="72472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155" name="Elbow Connector 154"/>
            <p:cNvCxnSpPr>
              <a:stCxn id="154" idx="4"/>
              <a:endCxn id="86" idx="3"/>
            </p:cNvCxnSpPr>
            <p:nvPr/>
          </p:nvCxnSpPr>
          <p:spPr bwMode="auto">
            <a:xfrm rot="16200000" flipH="1">
              <a:off x="2292337" y="3767885"/>
              <a:ext cx="292053" cy="226084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56" name="Straight Arrow Connector 155"/>
            <p:cNvCxnSpPr>
              <a:stCxn id="85" idx="0"/>
              <a:endCxn id="96" idx="1"/>
            </p:cNvCxnSpPr>
            <p:nvPr/>
          </p:nvCxnSpPr>
          <p:spPr bwMode="auto">
            <a:xfrm flipV="1">
              <a:off x="2726708" y="4232422"/>
              <a:ext cx="381194" cy="110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70" name="TextBox 169"/>
            <p:cNvSpPr txBox="1"/>
            <p:nvPr/>
          </p:nvSpPr>
          <p:spPr>
            <a:xfrm>
              <a:off x="2230176" y="4670228"/>
              <a:ext cx="5854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RegDst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71" name="Straight Connector 170"/>
            <p:cNvCxnSpPr>
              <a:stCxn id="85" idx="3"/>
            </p:cNvCxnSpPr>
            <p:nvPr/>
          </p:nvCxnSpPr>
          <p:spPr bwMode="auto">
            <a:xfrm flipH="1">
              <a:off x="2636402" y="4507032"/>
              <a:ext cx="110" cy="174717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6" name="TextBox 205"/>
            <p:cNvSpPr txBox="1"/>
            <p:nvPr/>
          </p:nvSpPr>
          <p:spPr>
            <a:xfrm>
              <a:off x="3108960" y="4014216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solidFill>
                    <a:srgbClr val="FF0000"/>
                  </a:solidFill>
                  <a:latin typeface="+mj-lt"/>
                </a:rPr>
                <a:t>Write</a:t>
              </a:r>
            </a:p>
            <a:p>
              <a:r>
                <a:rPr lang="en-US" sz="1100" dirty="0" smtClean="0">
                  <a:solidFill>
                    <a:srgbClr val="FF0000"/>
                  </a:solidFill>
                  <a:latin typeface="+mj-lt"/>
                </a:rPr>
                <a:t>register</a:t>
              </a:r>
              <a:endParaRPr lang="en-US" sz="1100" b="1" dirty="0" smtClean="0">
                <a:solidFill>
                  <a:srgbClr val="FF0000"/>
                </a:solidFill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399575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  <p:extLst mod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I-type </a:t>
            </a:r>
            <a:r>
              <a:rPr lang="en-US" dirty="0" smtClean="0"/>
              <a:t>Store </a:t>
            </a:r>
            <a:r>
              <a:rPr lang="en-US" dirty="0"/>
              <a:t>Instructions</a:t>
            </a:r>
          </a:p>
        </p:txBody>
      </p:sp>
      <p:grpSp>
        <p:nvGrpSpPr>
          <p:cNvPr id="224" name="Group 223"/>
          <p:cNvGrpSpPr/>
          <p:nvPr/>
        </p:nvGrpSpPr>
        <p:grpSpPr>
          <a:xfrm>
            <a:off x="154671" y="2631170"/>
            <a:ext cx="6027754" cy="2720835"/>
            <a:chOff x="154671" y="2631170"/>
            <a:chExt cx="6027754" cy="2720835"/>
          </a:xfrm>
        </p:grpSpPr>
        <p:grpSp>
          <p:nvGrpSpPr>
            <p:cNvPr id="5" name="Group 4"/>
            <p:cNvGrpSpPr/>
            <p:nvPr/>
          </p:nvGrpSpPr>
          <p:grpSpPr>
            <a:xfrm>
              <a:off x="154671" y="2994625"/>
              <a:ext cx="1622694" cy="1386326"/>
              <a:chOff x="1738845" y="3229513"/>
              <a:chExt cx="1622694" cy="1386326"/>
            </a:xfrm>
          </p:grpSpPr>
          <p:grpSp>
            <p:nvGrpSpPr>
              <p:cNvPr id="130" name="Group 129"/>
              <p:cNvGrpSpPr/>
              <p:nvPr/>
            </p:nvGrpSpPr>
            <p:grpSpPr>
              <a:xfrm>
                <a:off x="1738845" y="3229513"/>
                <a:ext cx="1447262" cy="1386326"/>
                <a:chOff x="3124738" y="3598050"/>
                <a:chExt cx="1447262" cy="1386326"/>
              </a:xfrm>
            </p:grpSpPr>
            <p:sp>
              <p:nvSpPr>
                <p:cNvPr id="132" name="Rectangle 131"/>
                <p:cNvSpPr/>
                <p:nvPr/>
              </p:nvSpPr>
              <p:spPr bwMode="auto">
                <a:xfrm>
                  <a:off x="3126744" y="3598050"/>
                  <a:ext cx="1445256" cy="13863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33" name="TextBox 132"/>
                <p:cNvSpPr txBox="1"/>
                <p:nvPr/>
              </p:nvSpPr>
              <p:spPr>
                <a:xfrm>
                  <a:off x="3124738" y="3598050"/>
                  <a:ext cx="652743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+mj-lt"/>
                    </a:rPr>
                    <a:t>Read</a:t>
                  </a:r>
                </a:p>
                <a:p>
                  <a:r>
                    <a:rPr lang="en-US" sz="1100" dirty="0" smtClean="0">
                      <a:latin typeface="+mj-lt"/>
                    </a:rPr>
                    <a:t>address</a:t>
                  </a:r>
                </a:p>
              </p:txBody>
            </p:sp>
            <p:sp>
              <p:nvSpPr>
                <p:cNvPr id="134" name="TextBox 133"/>
                <p:cNvSpPr txBox="1"/>
                <p:nvPr/>
              </p:nvSpPr>
              <p:spPr>
                <a:xfrm>
                  <a:off x="3673849" y="3601253"/>
                  <a:ext cx="89815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100" dirty="0" smtClean="0">
                      <a:latin typeface="+mj-lt"/>
                    </a:rPr>
                    <a:t>Instruction [31-0]</a:t>
                  </a:r>
                </a:p>
              </p:txBody>
            </p:sp>
            <p:sp>
              <p:nvSpPr>
                <p:cNvPr id="135" name="TextBox 134"/>
                <p:cNvSpPr txBox="1"/>
                <p:nvPr/>
              </p:nvSpPr>
              <p:spPr>
                <a:xfrm>
                  <a:off x="3430026" y="4147773"/>
                  <a:ext cx="8386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Memory</a:t>
                  </a:r>
                </a:p>
              </p:txBody>
            </p:sp>
          </p:grpSp>
          <p:cxnSp>
            <p:nvCxnSpPr>
              <p:cNvPr id="131" name="Straight Arrow Connector 130"/>
              <p:cNvCxnSpPr>
                <a:stCxn id="134" idx="3"/>
              </p:cNvCxnSpPr>
              <p:nvPr/>
            </p:nvCxnSpPr>
            <p:spPr bwMode="auto">
              <a:xfrm>
                <a:off x="3186107" y="3448160"/>
                <a:ext cx="175432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</p:grpSp>
        <p:grpSp>
          <p:nvGrpSpPr>
            <p:cNvPr id="6" name="Group 5"/>
            <p:cNvGrpSpPr/>
            <p:nvPr/>
          </p:nvGrpSpPr>
          <p:grpSpPr>
            <a:xfrm>
              <a:off x="2546317" y="3911755"/>
              <a:ext cx="180391" cy="643543"/>
              <a:chOff x="3390790" y="3616963"/>
              <a:chExt cx="180391" cy="643543"/>
            </a:xfrm>
          </p:grpSpPr>
          <p:sp>
            <p:nvSpPr>
              <p:cNvPr id="126" name="Trapezoid 125"/>
              <p:cNvSpPr/>
              <p:nvPr/>
            </p:nvSpPr>
            <p:spPr bwMode="auto">
              <a:xfrm rot="5400000">
                <a:off x="3159214" y="3848539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7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7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28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129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585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107902" y="3005501"/>
              <a:ext cx="1552498" cy="1873251"/>
              <a:chOff x="4488424" y="3657632"/>
              <a:chExt cx="1552498" cy="1873251"/>
            </a:xfrm>
          </p:grpSpPr>
          <p:sp>
            <p:nvSpPr>
              <p:cNvPr id="117" name="Rectangle 116"/>
              <p:cNvSpPr/>
              <p:nvPr/>
            </p:nvSpPr>
            <p:spPr bwMode="auto">
              <a:xfrm>
                <a:off x="4490028" y="3657632"/>
                <a:ext cx="1550894" cy="18706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4490028" y="3657633"/>
                <a:ext cx="72808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>
                    <a:latin typeface="+mj-lt"/>
                  </a:rPr>
                  <a:t>r</a:t>
                </a:r>
                <a:r>
                  <a:rPr lang="en-US" sz="1100" dirty="0" smtClean="0">
                    <a:latin typeface="+mj-lt"/>
                  </a:rPr>
                  <a:t>egister </a:t>
                </a:r>
                <a:r>
                  <a:rPr lang="en-US" sz="1100" b="1" dirty="0" smtClean="0">
                    <a:latin typeface="+mj-lt"/>
                  </a:rPr>
                  <a:t>1</a:t>
                </a: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5142771" y="3660836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pPr algn="r"/>
                <a:r>
                  <a:rPr lang="en-US" sz="1100" dirty="0">
                    <a:latin typeface="+mj-lt"/>
                  </a:rPr>
                  <a:t>d</a:t>
                </a:r>
                <a:r>
                  <a:rPr lang="en-US" sz="1100" dirty="0" smtClean="0">
                    <a:latin typeface="+mj-lt"/>
                  </a:rPr>
                  <a:t>ata </a:t>
                </a:r>
                <a:r>
                  <a:rPr lang="en-US" sz="1100" b="1" dirty="0" smtClean="0">
                    <a:latin typeface="+mj-lt"/>
                  </a:rPr>
                  <a:t>1</a:t>
                </a: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5141166" y="5220532"/>
                <a:ext cx="8429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+mj-lt"/>
                  </a:rPr>
                  <a:t>Registers</a:t>
                </a: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4490028" y="4132149"/>
                <a:ext cx="72808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>
                    <a:latin typeface="+mj-lt"/>
                  </a:rPr>
                  <a:t>r</a:t>
                </a:r>
                <a:r>
                  <a:rPr lang="en-US" sz="1100" dirty="0" smtClean="0">
                    <a:latin typeface="+mj-lt"/>
                  </a:rPr>
                  <a:t>egister </a:t>
                </a:r>
                <a:r>
                  <a:rPr lang="en-US" sz="1100" b="1" dirty="0" smtClean="0">
                    <a:latin typeface="+mj-lt"/>
                  </a:rPr>
                  <a:t>2</a:t>
                </a: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5142771" y="4285847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pPr algn="r"/>
                <a:r>
                  <a:rPr lang="en-US" sz="1100" dirty="0">
                    <a:latin typeface="+mj-lt"/>
                  </a:rPr>
                  <a:t>d</a:t>
                </a:r>
                <a:r>
                  <a:rPr lang="en-US" sz="1100" dirty="0" smtClean="0">
                    <a:latin typeface="+mj-lt"/>
                  </a:rPr>
                  <a:t>ata </a:t>
                </a:r>
                <a:r>
                  <a:rPr lang="en-US" sz="1100" b="1" dirty="0">
                    <a:latin typeface="+mj-lt"/>
                  </a:rPr>
                  <a:t>2</a:t>
                </a:r>
                <a:endParaRPr lang="en-US" sz="1100" b="1" dirty="0" smtClean="0">
                  <a:latin typeface="+mj-lt"/>
                </a:endParaRP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4488424" y="4669109"/>
                <a:ext cx="62388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Write</a:t>
                </a:r>
              </a:p>
              <a:p>
                <a:r>
                  <a:rPr lang="en-US" sz="1100" dirty="0" smtClean="0">
                    <a:latin typeface="+mj-lt"/>
                  </a:rPr>
                  <a:t>register</a:t>
                </a:r>
                <a:endParaRPr lang="en-US" sz="1100" b="1" dirty="0" smtClean="0">
                  <a:latin typeface="+mj-lt"/>
                </a:endParaRP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4490028" y="5099996"/>
                <a:ext cx="50687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Write</a:t>
                </a:r>
              </a:p>
              <a:p>
                <a:r>
                  <a:rPr lang="en-US" sz="1100" dirty="0" smtClean="0">
                    <a:latin typeface="+mj-lt"/>
                  </a:rPr>
                  <a:t>data</a:t>
                </a:r>
                <a:endParaRPr lang="en-US" sz="1100" b="1" dirty="0" smtClean="0">
                  <a:latin typeface="+mj-lt"/>
                </a:endParaRPr>
              </a:p>
            </p:txBody>
          </p:sp>
          <p:sp>
            <p:nvSpPr>
              <p:cNvPr id="125" name="Rectangle 124"/>
              <p:cNvSpPr/>
              <p:nvPr/>
            </p:nvSpPr>
            <p:spPr bwMode="auto">
              <a:xfrm>
                <a:off x="5194990" y="3666551"/>
                <a:ext cx="133350" cy="1333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3513352" y="2631170"/>
              <a:ext cx="739305" cy="393410"/>
              <a:chOff x="4262754" y="2858356"/>
              <a:chExt cx="739305" cy="393410"/>
            </a:xfrm>
          </p:grpSpPr>
          <p:sp>
            <p:nvSpPr>
              <p:cNvPr id="115" name="TextBox 114"/>
              <p:cNvSpPr txBox="1"/>
              <p:nvPr/>
            </p:nvSpPr>
            <p:spPr>
              <a:xfrm>
                <a:off x="4262754" y="2858356"/>
                <a:ext cx="739305" cy="26161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100" dirty="0" err="1" smtClean="0">
                    <a:solidFill>
                      <a:schemeClr val="accent1"/>
                    </a:solidFill>
                    <a:latin typeface="+mj-lt"/>
                  </a:rPr>
                  <a:t>RegWrite</a:t>
                </a:r>
                <a:endParaRPr lang="en-US" sz="1100" dirty="0" smtClean="0">
                  <a:solidFill>
                    <a:schemeClr val="accent1"/>
                  </a:solidFill>
                  <a:latin typeface="+mj-lt"/>
                </a:endParaRPr>
              </a:p>
            </p:txBody>
          </p:sp>
          <p:cxnSp>
            <p:nvCxnSpPr>
              <p:cNvPr id="116" name="Straight Connector 115"/>
              <p:cNvCxnSpPr>
                <a:stCxn id="115" idx="2"/>
                <a:endCxn id="125" idx="0"/>
              </p:cNvCxnSpPr>
              <p:nvPr/>
            </p:nvCxnSpPr>
            <p:spPr bwMode="auto">
              <a:xfrm flipH="1">
                <a:off x="4630545" y="3119966"/>
                <a:ext cx="1862" cy="1318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9" name="Straight Arrow Connector 8"/>
            <p:cNvCxnSpPr>
              <a:stCxn id="119" idx="3"/>
              <a:endCxn id="111" idx="1"/>
            </p:cNvCxnSpPr>
            <p:nvPr/>
          </p:nvCxnSpPr>
          <p:spPr bwMode="auto">
            <a:xfrm flipV="1">
              <a:off x="4660400" y="3220431"/>
              <a:ext cx="794482" cy="3718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10" name="Group 9"/>
            <p:cNvGrpSpPr/>
            <p:nvPr/>
          </p:nvGrpSpPr>
          <p:grpSpPr>
            <a:xfrm>
              <a:off x="5454882" y="2938194"/>
              <a:ext cx="727543" cy="1439797"/>
              <a:chOff x="6728724" y="3150370"/>
              <a:chExt cx="727543" cy="1439797"/>
            </a:xfrm>
          </p:grpSpPr>
          <p:sp>
            <p:nvSpPr>
              <p:cNvPr id="109" name="Freeform 127"/>
              <p:cNvSpPr>
                <a:spLocks/>
              </p:cNvSpPr>
              <p:nvPr/>
            </p:nvSpPr>
            <p:spPr bwMode="auto">
              <a:xfrm>
                <a:off x="6728732" y="3150370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6728724" y="3392722"/>
                <a:ext cx="3637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200" dirty="0" smtClean="0">
                    <a:latin typeface="+mj-lt"/>
                  </a:rPr>
                  <a:t>ALU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6728724" y="3347968"/>
                <a:ext cx="15548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6728724" y="4185803"/>
                <a:ext cx="15548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6969760" y="3801019"/>
                <a:ext cx="481419" cy="26161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+mj-lt"/>
                  </a:rPr>
                  <a:t>Result</a:t>
                </a:r>
                <a:endParaRPr lang="en-US" sz="1100" b="1" dirty="0" smtClean="0">
                  <a:latin typeface="+mj-lt"/>
                </a:endParaRPr>
              </a:p>
            </p:txBody>
          </p:sp>
        </p:grpSp>
        <p:cxnSp>
          <p:nvCxnSpPr>
            <p:cNvPr id="11" name="Elbow Connector 10"/>
            <p:cNvCxnSpPr>
              <a:stCxn id="122" idx="3"/>
              <a:endCxn id="104" idx="3"/>
            </p:cNvCxnSpPr>
            <p:nvPr/>
          </p:nvCxnSpPr>
          <p:spPr bwMode="auto">
            <a:xfrm flipV="1">
              <a:off x="4660400" y="3848031"/>
              <a:ext cx="454431" cy="1129"/>
            </a:xfrm>
            <a:prstGeom prst="bentConnector3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2" name="Elbow Connector 11"/>
            <p:cNvCxnSpPr>
              <a:stCxn id="113" idx="3"/>
              <a:endCxn id="124" idx="1"/>
            </p:cNvCxnSpPr>
            <p:nvPr/>
          </p:nvCxnSpPr>
          <p:spPr bwMode="auto">
            <a:xfrm flipH="1">
              <a:off x="3109506" y="3719648"/>
              <a:ext cx="3067831" cy="943661"/>
            </a:xfrm>
            <a:prstGeom prst="bentConnector5">
              <a:avLst>
                <a:gd name="adj1" fmla="val -7976"/>
                <a:gd name="adj2" fmla="val 205127"/>
                <a:gd name="adj3" fmla="val 107452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3" name="Oval 12"/>
            <p:cNvSpPr/>
            <p:nvPr/>
          </p:nvSpPr>
          <p:spPr bwMode="auto">
            <a:xfrm>
              <a:off x="1743407" y="3183822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14" name="Straight Arrow Connector 13"/>
            <p:cNvCxnSpPr>
              <a:stCxn id="13" idx="6"/>
              <a:endCxn id="118" idx="1"/>
            </p:cNvCxnSpPr>
            <p:nvPr/>
          </p:nvCxnSpPr>
          <p:spPr bwMode="auto">
            <a:xfrm>
              <a:off x="1815879" y="3220058"/>
              <a:ext cx="1293627" cy="888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5" name="Elbow Connector 14"/>
            <p:cNvCxnSpPr>
              <a:stCxn id="13" idx="4"/>
              <a:endCxn id="121" idx="1"/>
            </p:cNvCxnSpPr>
            <p:nvPr/>
          </p:nvCxnSpPr>
          <p:spPr bwMode="auto">
            <a:xfrm rot="16200000" flipH="1">
              <a:off x="2224990" y="2810946"/>
              <a:ext cx="439168" cy="1329863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6" name="Elbow Connector 15"/>
            <p:cNvCxnSpPr>
              <a:stCxn id="13" idx="4"/>
              <a:endCxn id="128" idx="3"/>
            </p:cNvCxnSpPr>
            <p:nvPr/>
          </p:nvCxnSpPr>
          <p:spPr bwMode="auto">
            <a:xfrm rot="16200000" flipH="1">
              <a:off x="1571505" y="3464431"/>
              <a:ext cx="1188038" cy="771763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7" name="TextBox 16"/>
            <p:cNvSpPr txBox="1"/>
            <p:nvPr/>
          </p:nvSpPr>
          <p:spPr>
            <a:xfrm>
              <a:off x="1790302" y="2940272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[25-21]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82438" y="3413550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[20-16]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59821" y="4157483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[15-11]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5542593" y="4068255"/>
              <a:ext cx="580608" cy="532039"/>
              <a:chOff x="6598319" y="4283249"/>
              <a:chExt cx="580608" cy="532039"/>
            </a:xfrm>
          </p:grpSpPr>
          <p:sp>
            <p:nvSpPr>
              <p:cNvPr id="107" name="TextBox 106"/>
              <p:cNvSpPr txBox="1"/>
              <p:nvPr/>
            </p:nvSpPr>
            <p:spPr>
              <a:xfrm>
                <a:off x="6598319" y="4553678"/>
                <a:ext cx="5806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err="1" smtClean="0">
                    <a:solidFill>
                      <a:schemeClr val="accent1"/>
                    </a:solidFill>
                    <a:latin typeface="+mj-lt"/>
                  </a:rPr>
                  <a:t>ALUop</a:t>
                </a:r>
                <a:endParaRPr lang="en-US" sz="1100" dirty="0" smtClean="0">
                  <a:solidFill>
                    <a:schemeClr val="accent1"/>
                  </a:solidFill>
                  <a:latin typeface="+mj-lt"/>
                </a:endParaRPr>
              </a:p>
            </p:txBody>
          </p:sp>
          <p:cxnSp>
            <p:nvCxnSpPr>
              <p:cNvPr id="108" name="Straight Connector 107"/>
              <p:cNvCxnSpPr/>
              <p:nvPr/>
            </p:nvCxnSpPr>
            <p:spPr bwMode="auto">
              <a:xfrm flipH="1">
                <a:off x="6967969" y="4283249"/>
                <a:ext cx="32" cy="272672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1" name="Oval 20"/>
            <p:cNvSpPr/>
            <p:nvPr/>
          </p:nvSpPr>
          <p:spPr bwMode="auto">
            <a:xfrm>
              <a:off x="2289085" y="3662429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22" name="Elbow Connector 21"/>
            <p:cNvCxnSpPr>
              <a:stCxn id="21" idx="4"/>
              <a:endCxn id="127" idx="3"/>
            </p:cNvCxnSpPr>
            <p:nvPr/>
          </p:nvCxnSpPr>
          <p:spPr bwMode="auto">
            <a:xfrm rot="16200000" flipH="1">
              <a:off x="2292337" y="3767885"/>
              <a:ext cx="292053" cy="226084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3" name="Straight Arrow Connector 22"/>
            <p:cNvCxnSpPr>
              <a:stCxn id="126" idx="0"/>
              <a:endCxn id="123" idx="1"/>
            </p:cNvCxnSpPr>
            <p:nvPr/>
          </p:nvCxnSpPr>
          <p:spPr bwMode="auto">
            <a:xfrm flipV="1">
              <a:off x="2726708" y="4232422"/>
              <a:ext cx="381194" cy="110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4" name="Rounded Rectangle 23"/>
            <p:cNvSpPr/>
            <p:nvPr/>
          </p:nvSpPr>
          <p:spPr bwMode="auto">
            <a:xfrm>
              <a:off x="3435075" y="5078121"/>
              <a:ext cx="953678" cy="27388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100" dirty="0" smtClean="0">
                  <a:latin typeface="+mj-lt"/>
                  <a:cs typeface="Arial" pitchFamily="34" charset="0"/>
                </a:rPr>
                <a:t>Sign extend</a:t>
              </a:r>
              <a:endParaRPr lang="en-US" sz="1100" dirty="0">
                <a:latin typeface="+mj-lt"/>
                <a:cs typeface="Arial" pitchFamily="34" charset="0"/>
              </a:endParaRPr>
            </a:p>
          </p:txBody>
        </p:sp>
        <p:cxnSp>
          <p:nvCxnSpPr>
            <p:cNvPr id="25" name="Elbow Connector 24"/>
            <p:cNvCxnSpPr>
              <a:stCxn id="13" idx="4"/>
              <a:endCxn id="24" idx="1"/>
            </p:cNvCxnSpPr>
            <p:nvPr/>
          </p:nvCxnSpPr>
          <p:spPr bwMode="auto">
            <a:xfrm rot="16200000" flipH="1">
              <a:off x="1627975" y="3407962"/>
              <a:ext cx="1958769" cy="1655432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6" name="TextBox 25"/>
            <p:cNvSpPr txBox="1"/>
            <p:nvPr/>
          </p:nvSpPr>
          <p:spPr>
            <a:xfrm>
              <a:off x="1782438" y="4940107"/>
              <a:ext cx="6335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[15-0]</a:t>
              </a: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5109743" y="3732832"/>
              <a:ext cx="180391" cy="643543"/>
              <a:chOff x="3390790" y="3616963"/>
              <a:chExt cx="180391" cy="643543"/>
            </a:xfrm>
          </p:grpSpPr>
          <p:sp>
            <p:nvSpPr>
              <p:cNvPr id="103" name="Trapezoid 102"/>
              <p:cNvSpPr/>
              <p:nvPr/>
            </p:nvSpPr>
            <p:spPr bwMode="auto">
              <a:xfrm rot="5400000">
                <a:off x="3159214" y="3848539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4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7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05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106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585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cxnSp>
          <p:nvCxnSpPr>
            <p:cNvPr id="28" name="Straight Arrow Connector 27"/>
            <p:cNvCxnSpPr>
              <a:stCxn id="103" idx="0"/>
              <a:endCxn id="112" idx="1"/>
            </p:cNvCxnSpPr>
            <p:nvPr/>
          </p:nvCxnSpPr>
          <p:spPr bwMode="auto">
            <a:xfrm>
              <a:off x="5290134" y="4054604"/>
              <a:ext cx="164748" cy="3662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9" name="Elbow Connector 28"/>
            <p:cNvCxnSpPr>
              <a:stCxn id="24" idx="3"/>
              <a:endCxn id="105" idx="3"/>
            </p:cNvCxnSpPr>
            <p:nvPr/>
          </p:nvCxnSpPr>
          <p:spPr bwMode="auto">
            <a:xfrm flipV="1">
              <a:off x="4388753" y="4265409"/>
              <a:ext cx="726079" cy="949654"/>
            </a:xfrm>
            <a:prstGeom prst="bentConnector3">
              <a:avLst>
                <a:gd name="adj1" fmla="val 77706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35" name="TextBox 34"/>
            <p:cNvSpPr txBox="1"/>
            <p:nvPr/>
          </p:nvSpPr>
          <p:spPr>
            <a:xfrm>
              <a:off x="5893636" y="4885769"/>
              <a:ext cx="95539" cy="1231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" dirty="0" smtClean="0">
                  <a:latin typeface="+mj-lt"/>
                </a:rPr>
                <a:t> 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981746" y="4578269"/>
              <a:ext cx="5886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ALUSrc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76" name="Straight Connector 75"/>
            <p:cNvCxnSpPr>
              <a:stCxn id="103" idx="3"/>
            </p:cNvCxnSpPr>
            <p:nvPr/>
          </p:nvCxnSpPr>
          <p:spPr bwMode="auto">
            <a:xfrm>
              <a:off x="5199938" y="4328109"/>
              <a:ext cx="0" cy="227189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9" name="TextBox 68"/>
            <p:cNvSpPr txBox="1"/>
            <p:nvPr/>
          </p:nvSpPr>
          <p:spPr>
            <a:xfrm>
              <a:off x="2230176" y="4670228"/>
              <a:ext cx="5854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RegDst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70" name="Straight Connector 69"/>
            <p:cNvCxnSpPr>
              <a:stCxn id="126" idx="3"/>
            </p:cNvCxnSpPr>
            <p:nvPr/>
          </p:nvCxnSpPr>
          <p:spPr bwMode="auto">
            <a:xfrm flipH="1">
              <a:off x="2636402" y="4507032"/>
              <a:ext cx="110" cy="174717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90" name="Content Placeholder 2"/>
          <p:cNvSpPr>
            <a:spLocks noGrp="1"/>
          </p:cNvSpPr>
          <p:nvPr>
            <p:ph idx="1"/>
          </p:nvPr>
        </p:nvSpPr>
        <p:spPr>
          <a:xfrm>
            <a:off x="458788" y="808916"/>
            <a:ext cx="8502650" cy="1858131"/>
          </a:xfrm>
        </p:spPr>
        <p:txBody>
          <a:bodyPr/>
          <a:lstStyle/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Read </a:t>
            </a:r>
            <a:r>
              <a:rPr lang="en-US" sz="1600" dirty="0"/>
              <a:t>an instruction from the instruction </a:t>
            </a:r>
            <a:r>
              <a:rPr lang="en-US" sz="1600" dirty="0" smtClean="0"/>
              <a:t>memory by the address in PC</a:t>
            </a:r>
            <a:endParaRPr lang="en-US" sz="1600" dirty="0"/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source register (base address), instruction field </a:t>
            </a:r>
            <a:r>
              <a:rPr lang="en-US" sz="1600" b="1" dirty="0" err="1" smtClean="0">
                <a:solidFill>
                  <a:schemeClr val="accent1"/>
                </a:solidFill>
              </a:rPr>
              <a:t>rs</a:t>
            </a:r>
            <a:r>
              <a:rPr lang="en-US" sz="1600" dirty="0" smtClean="0"/>
              <a:t>, is read </a:t>
            </a:r>
            <a:r>
              <a:rPr lang="en-US" sz="1600" dirty="0"/>
              <a:t>from the register </a:t>
            </a:r>
            <a:r>
              <a:rPr lang="en-US" sz="1600" dirty="0" smtClean="0"/>
              <a:t>file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The 2</a:t>
            </a:r>
            <a:r>
              <a:rPr lang="en-US" sz="1600" baseline="30000" dirty="0" smtClean="0"/>
              <a:t>nd</a:t>
            </a:r>
            <a:r>
              <a:rPr lang="en-US" sz="1600" dirty="0" smtClean="0"/>
              <a:t> source register (written value), instruction filed </a:t>
            </a:r>
            <a:r>
              <a:rPr lang="en-US" sz="1600" b="1" dirty="0" err="1" smtClean="0">
                <a:solidFill>
                  <a:schemeClr val="accent1"/>
                </a:solidFill>
              </a:rPr>
              <a:t>rt</a:t>
            </a:r>
            <a:r>
              <a:rPr lang="en-US" sz="1600" dirty="0"/>
              <a:t>, is read from the register file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The signed displacement is extended (from 16 to 32 bits) and directly transferred to ALU</a:t>
            </a:r>
            <a:endParaRPr lang="en-US" sz="1600" dirty="0"/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The </a:t>
            </a:r>
            <a:r>
              <a:rPr lang="en-US" sz="1600" dirty="0"/>
              <a:t>ALU </a:t>
            </a:r>
            <a:r>
              <a:rPr lang="en-US" sz="1600" dirty="0" smtClean="0"/>
              <a:t>calculates the effective address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The value is written into the memory by the effective address</a:t>
            </a:r>
            <a:endParaRPr lang="en-US" sz="1600" dirty="0"/>
          </a:p>
        </p:txBody>
      </p:sp>
      <p:grpSp>
        <p:nvGrpSpPr>
          <p:cNvPr id="194" name="Group 193"/>
          <p:cNvGrpSpPr/>
          <p:nvPr/>
        </p:nvGrpSpPr>
        <p:grpSpPr>
          <a:xfrm>
            <a:off x="904306" y="6050197"/>
            <a:ext cx="6283894" cy="532893"/>
            <a:chOff x="904306" y="6050197"/>
            <a:chExt cx="6283894" cy="532893"/>
          </a:xfrm>
        </p:grpSpPr>
        <p:sp>
          <p:nvSpPr>
            <p:cNvPr id="195" name="Rounded Rectangle 194"/>
            <p:cNvSpPr/>
            <p:nvPr/>
          </p:nvSpPr>
          <p:spPr bwMode="auto">
            <a:xfrm>
              <a:off x="1356360" y="6237438"/>
              <a:ext cx="5831840" cy="264372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dirty="0" smtClean="0">
                <a:latin typeface="Lucida Console" panose="020B0609040504020204" pitchFamily="49" charset="0"/>
                <a:cs typeface="Arial" pitchFamily="34" charset="0"/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904306" y="6050197"/>
              <a:ext cx="8290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Lucida Console" panose="020B0609040504020204" pitchFamily="49" charset="0"/>
                </a:rPr>
                <a:t>R-type</a:t>
              </a:r>
            </a:p>
          </p:txBody>
        </p:sp>
        <p:sp>
          <p:nvSpPr>
            <p:cNvPr id="197" name="Rectangle 196"/>
            <p:cNvSpPr/>
            <p:nvPr/>
          </p:nvSpPr>
          <p:spPr bwMode="auto">
            <a:xfrm>
              <a:off x="2243755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26</a:t>
              </a:r>
            </a:p>
          </p:txBody>
        </p:sp>
        <p:sp>
          <p:nvSpPr>
            <p:cNvPr id="198" name="Rectangle 197"/>
            <p:cNvSpPr/>
            <p:nvPr/>
          </p:nvSpPr>
          <p:spPr bwMode="auto">
            <a:xfrm>
              <a:off x="1606350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31</a:t>
              </a:r>
            </a:p>
          </p:txBody>
        </p:sp>
        <p:sp>
          <p:nvSpPr>
            <p:cNvPr id="199" name="Rectangle 198"/>
            <p:cNvSpPr/>
            <p:nvPr/>
          </p:nvSpPr>
          <p:spPr bwMode="auto">
            <a:xfrm>
              <a:off x="6832600" y="6239470"/>
              <a:ext cx="1979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>
                  <a:latin typeface="Lucida Console" panose="020B0609040504020204" pitchFamily="49" charset="0"/>
                  <a:cs typeface="Consolas" pitchFamily="49" charset="0"/>
                </a:rPr>
                <a:t>0</a:t>
              </a:r>
              <a:endParaRPr lang="en-US" sz="1000" dirty="0" smtClean="0">
                <a:latin typeface="Lucida Console" panose="020B0609040504020204" pitchFamily="49" charset="0"/>
                <a:cs typeface="Consolas" pitchFamily="49" charset="0"/>
              </a:endParaRPr>
            </a:p>
          </p:txBody>
        </p:sp>
        <p:sp>
          <p:nvSpPr>
            <p:cNvPr id="200" name="Rectangle 199"/>
            <p:cNvSpPr/>
            <p:nvPr/>
          </p:nvSpPr>
          <p:spPr bwMode="auto">
            <a:xfrm>
              <a:off x="6133428" y="6239470"/>
              <a:ext cx="1979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201" name="Rectangle 200"/>
            <p:cNvSpPr/>
            <p:nvPr/>
          </p:nvSpPr>
          <p:spPr bwMode="auto">
            <a:xfrm>
              <a:off x="5935980" y="6239470"/>
              <a:ext cx="1898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202" name="Rectangle 201"/>
            <p:cNvSpPr/>
            <p:nvPr/>
          </p:nvSpPr>
          <p:spPr bwMode="auto">
            <a:xfrm>
              <a:off x="5248665" y="6239470"/>
              <a:ext cx="1898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10</a:t>
              </a:r>
            </a:p>
          </p:txBody>
        </p:sp>
        <p:sp>
          <p:nvSpPr>
            <p:cNvPr id="203" name="Rectangle 202"/>
            <p:cNvSpPr/>
            <p:nvPr/>
          </p:nvSpPr>
          <p:spPr bwMode="auto">
            <a:xfrm>
              <a:off x="497911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204" name="Rectangle 203"/>
            <p:cNvSpPr/>
            <p:nvPr/>
          </p:nvSpPr>
          <p:spPr bwMode="auto">
            <a:xfrm>
              <a:off x="434411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205" name="Rectangle 204"/>
            <p:cNvSpPr/>
            <p:nvPr/>
          </p:nvSpPr>
          <p:spPr bwMode="auto">
            <a:xfrm>
              <a:off x="404947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206" name="Rectangle 205"/>
            <p:cNvSpPr/>
            <p:nvPr/>
          </p:nvSpPr>
          <p:spPr bwMode="auto">
            <a:xfrm>
              <a:off x="345908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20</a:t>
              </a:r>
            </a:p>
          </p:txBody>
        </p:sp>
        <p:grpSp>
          <p:nvGrpSpPr>
            <p:cNvPr id="207" name="Group 206"/>
            <p:cNvGrpSpPr/>
            <p:nvPr/>
          </p:nvGrpSpPr>
          <p:grpSpPr>
            <a:xfrm>
              <a:off x="1602205" y="6098574"/>
              <a:ext cx="5428324" cy="220144"/>
              <a:chOff x="1602205" y="6098574"/>
              <a:chExt cx="5428324" cy="220144"/>
            </a:xfrm>
          </p:grpSpPr>
          <p:sp>
            <p:nvSpPr>
              <p:cNvPr id="211" name="Rectangle 210"/>
              <p:cNvSpPr/>
              <p:nvPr/>
            </p:nvSpPr>
            <p:spPr bwMode="auto">
              <a:xfrm>
                <a:off x="1602205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smtClean="0">
                    <a:latin typeface="Lucida Console" panose="020B0609040504020204" pitchFamily="49" charset="0"/>
                    <a:cs typeface="Consolas" pitchFamily="49" charset="0"/>
                  </a:rPr>
                  <a:t>op</a:t>
                </a:r>
              </a:p>
            </p:txBody>
          </p:sp>
          <p:sp>
            <p:nvSpPr>
              <p:cNvPr id="212" name="Rectangle 211"/>
              <p:cNvSpPr/>
              <p:nvPr/>
            </p:nvSpPr>
            <p:spPr bwMode="auto">
              <a:xfrm>
                <a:off x="6125808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funct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213" name="Rectangle 212"/>
              <p:cNvSpPr/>
              <p:nvPr/>
            </p:nvSpPr>
            <p:spPr bwMode="auto">
              <a:xfrm>
                <a:off x="5221088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shamt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214" name="Rectangle 213"/>
              <p:cNvSpPr/>
              <p:nvPr/>
            </p:nvSpPr>
            <p:spPr bwMode="auto">
              <a:xfrm>
                <a:off x="4316367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rd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215" name="Rectangle 214"/>
              <p:cNvSpPr/>
              <p:nvPr/>
            </p:nvSpPr>
            <p:spPr bwMode="auto">
              <a:xfrm>
                <a:off x="341164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216" name="Rectangle 215"/>
              <p:cNvSpPr/>
              <p:nvPr/>
            </p:nvSpPr>
            <p:spPr bwMode="auto">
              <a:xfrm>
                <a:off x="250692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rs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208" name="Rectangle 207"/>
            <p:cNvSpPr/>
            <p:nvPr/>
          </p:nvSpPr>
          <p:spPr bwMode="auto">
            <a:xfrm>
              <a:off x="314158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209" name="Rectangle 208"/>
            <p:cNvSpPr/>
            <p:nvPr/>
          </p:nvSpPr>
          <p:spPr bwMode="auto">
            <a:xfrm>
              <a:off x="252944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25</a:t>
              </a:r>
            </a:p>
          </p:txBody>
        </p:sp>
        <p:sp>
          <p:nvSpPr>
            <p:cNvPr id="210" name="Rectangle 209"/>
            <p:cNvSpPr/>
            <p:nvPr/>
          </p:nvSpPr>
          <p:spPr bwMode="auto">
            <a:xfrm>
              <a:off x="960120" y="6088414"/>
              <a:ext cx="6116320" cy="241266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Lucida Console" panose="020B0609040504020204" pitchFamily="49" charset="0"/>
                <a:cs typeface="Arial" pitchFamily="34" charset="0"/>
              </a:endParaRPr>
            </a:p>
          </p:txBody>
        </p:sp>
      </p:grpSp>
      <p:grpSp>
        <p:nvGrpSpPr>
          <p:cNvPr id="217" name="Group 216"/>
          <p:cNvGrpSpPr/>
          <p:nvPr/>
        </p:nvGrpSpPr>
        <p:grpSpPr>
          <a:xfrm>
            <a:off x="843165" y="5817929"/>
            <a:ext cx="6187365" cy="307777"/>
            <a:chOff x="843165" y="5817929"/>
            <a:chExt cx="6187365" cy="307777"/>
          </a:xfrm>
        </p:grpSpPr>
        <p:grpSp>
          <p:nvGrpSpPr>
            <p:cNvPr id="218" name="Group 217"/>
            <p:cNvGrpSpPr/>
            <p:nvPr/>
          </p:nvGrpSpPr>
          <p:grpSpPr>
            <a:xfrm>
              <a:off x="1602205" y="5874711"/>
              <a:ext cx="5428325" cy="220144"/>
              <a:chOff x="1602205" y="6098574"/>
              <a:chExt cx="5428325" cy="220144"/>
            </a:xfrm>
          </p:grpSpPr>
          <p:sp>
            <p:nvSpPr>
              <p:cNvPr id="220" name="Rectangle 219"/>
              <p:cNvSpPr/>
              <p:nvPr/>
            </p:nvSpPr>
            <p:spPr bwMode="auto">
              <a:xfrm>
                <a:off x="1602205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smtClean="0">
                    <a:latin typeface="Lucida Console" panose="020B0609040504020204" pitchFamily="49" charset="0"/>
                    <a:cs typeface="Consolas" pitchFamily="49" charset="0"/>
                  </a:rPr>
                  <a:t>op</a:t>
                </a:r>
              </a:p>
            </p:txBody>
          </p:sp>
          <p:sp>
            <p:nvSpPr>
              <p:cNvPr id="221" name="Rectangle 220"/>
              <p:cNvSpPr/>
              <p:nvPr/>
            </p:nvSpPr>
            <p:spPr bwMode="auto">
              <a:xfrm>
                <a:off x="4316368" y="6098574"/>
                <a:ext cx="2714162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displ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222" name="Rectangle 221"/>
              <p:cNvSpPr/>
              <p:nvPr/>
            </p:nvSpPr>
            <p:spPr bwMode="auto">
              <a:xfrm>
                <a:off x="341164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223" name="Rectangle 222"/>
              <p:cNvSpPr/>
              <p:nvPr/>
            </p:nvSpPr>
            <p:spPr bwMode="auto">
              <a:xfrm>
                <a:off x="250692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rs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219" name="TextBox 218"/>
            <p:cNvSpPr txBox="1"/>
            <p:nvPr/>
          </p:nvSpPr>
          <p:spPr>
            <a:xfrm>
              <a:off x="843165" y="5817929"/>
              <a:ext cx="8290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Lucida Console" panose="020B0609040504020204" pitchFamily="49" charset="0"/>
                </a:rPr>
                <a:t>I</a:t>
              </a:r>
              <a:r>
                <a:rPr lang="en-US" sz="1400" dirty="0" smtClean="0">
                  <a:latin typeface="Lucida Console" panose="020B0609040504020204" pitchFamily="49" charset="0"/>
                </a:rPr>
                <a:t>-type</a:t>
              </a:r>
            </a:p>
          </p:txBody>
        </p:sp>
      </p:grpSp>
      <p:grpSp>
        <p:nvGrpSpPr>
          <p:cNvPr id="319" name="Group 318"/>
          <p:cNvGrpSpPr/>
          <p:nvPr/>
        </p:nvGrpSpPr>
        <p:grpSpPr>
          <a:xfrm>
            <a:off x="6385117" y="3028047"/>
            <a:ext cx="1816009" cy="1386326"/>
            <a:chOff x="6385117" y="3028047"/>
            <a:chExt cx="1816009" cy="1386326"/>
          </a:xfrm>
        </p:grpSpPr>
        <p:sp>
          <p:nvSpPr>
            <p:cNvPr id="305" name="Rectangle 304"/>
            <p:cNvSpPr/>
            <p:nvPr/>
          </p:nvSpPr>
          <p:spPr bwMode="auto">
            <a:xfrm>
              <a:off x="6755870" y="3028047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solidFill>
                  <a:srgbClr val="FF0000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7362434" y="4104172"/>
              <a:ext cx="8386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rgbClr val="FF0000"/>
                  </a:solidFill>
                  <a:latin typeface="+mj-lt"/>
                </a:rPr>
                <a:t>Memory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6755870" y="3505305"/>
              <a:ext cx="6527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solidFill>
                    <a:srgbClr val="FF0000"/>
                  </a:solidFill>
                  <a:latin typeface="+mj-lt"/>
                </a:rPr>
                <a:t>Write</a:t>
              </a:r>
            </a:p>
            <a:p>
              <a:r>
                <a:rPr lang="en-US" sz="1100" dirty="0" smtClean="0">
                  <a:solidFill>
                    <a:srgbClr val="FF0000"/>
                  </a:solidFill>
                  <a:latin typeface="+mj-lt"/>
                </a:rPr>
                <a:t>address</a:t>
              </a:r>
            </a:p>
          </p:txBody>
        </p:sp>
        <p:cxnSp>
          <p:nvCxnSpPr>
            <p:cNvPr id="309" name="Straight Arrow Connector 308"/>
            <p:cNvCxnSpPr>
              <a:stCxn id="313" idx="6"/>
              <a:endCxn id="307" idx="1"/>
            </p:cNvCxnSpPr>
            <p:nvPr/>
          </p:nvCxnSpPr>
          <p:spPr bwMode="auto">
            <a:xfrm flipV="1">
              <a:off x="6457589" y="3720749"/>
              <a:ext cx="298281" cy="1646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313" name="Oval 312"/>
            <p:cNvSpPr/>
            <p:nvPr/>
          </p:nvSpPr>
          <p:spPr bwMode="auto">
            <a:xfrm>
              <a:off x="6385117" y="3686159"/>
              <a:ext cx="72472" cy="72472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314" name="Group 313"/>
          <p:cNvGrpSpPr/>
          <p:nvPr/>
        </p:nvGrpSpPr>
        <p:grpSpPr>
          <a:xfrm>
            <a:off x="7073684" y="2631170"/>
            <a:ext cx="811441" cy="396877"/>
            <a:chOff x="4224400" y="2858356"/>
            <a:chExt cx="811441" cy="396877"/>
          </a:xfrm>
        </p:grpSpPr>
        <p:sp>
          <p:nvSpPr>
            <p:cNvPr id="315" name="TextBox 314"/>
            <p:cNvSpPr txBox="1"/>
            <p:nvPr/>
          </p:nvSpPr>
          <p:spPr>
            <a:xfrm>
              <a:off x="4224400" y="2858356"/>
              <a:ext cx="811441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MemWrite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316" name="Straight Connector 315"/>
            <p:cNvCxnSpPr>
              <a:stCxn id="315" idx="2"/>
              <a:endCxn id="305" idx="0"/>
            </p:cNvCxnSpPr>
            <p:nvPr/>
          </p:nvCxnSpPr>
          <p:spPr bwMode="auto">
            <a:xfrm flipH="1">
              <a:off x="4629214" y="3119966"/>
              <a:ext cx="907" cy="135267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0" name="Group 319"/>
          <p:cNvGrpSpPr/>
          <p:nvPr/>
        </p:nvGrpSpPr>
        <p:grpSpPr>
          <a:xfrm>
            <a:off x="4762970" y="3815889"/>
            <a:ext cx="2497763" cy="1131436"/>
            <a:chOff x="4762970" y="3815889"/>
            <a:chExt cx="2497763" cy="1131436"/>
          </a:xfrm>
        </p:grpSpPr>
        <p:sp>
          <p:nvSpPr>
            <p:cNvPr id="310" name="Oval 309"/>
            <p:cNvSpPr/>
            <p:nvPr/>
          </p:nvSpPr>
          <p:spPr bwMode="auto">
            <a:xfrm>
              <a:off x="4762970" y="3815889"/>
              <a:ext cx="72472" cy="72472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311" name="Elbow Connector 310"/>
            <p:cNvCxnSpPr>
              <a:stCxn id="310" idx="4"/>
            </p:cNvCxnSpPr>
            <p:nvPr/>
          </p:nvCxnSpPr>
          <p:spPr bwMode="auto">
            <a:xfrm rot="16200000" flipH="1">
              <a:off x="4816939" y="3870628"/>
              <a:ext cx="1058964" cy="1094430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12" name="Elbow Connector 311"/>
            <p:cNvCxnSpPr>
              <a:endCxn id="308" idx="1"/>
            </p:cNvCxnSpPr>
            <p:nvPr/>
          </p:nvCxnSpPr>
          <p:spPr bwMode="auto">
            <a:xfrm rot="10800000" flipH="1">
              <a:off x="5893635" y="4199047"/>
              <a:ext cx="860227" cy="748278"/>
            </a:xfrm>
            <a:prstGeom prst="bentConnector3">
              <a:avLst>
                <a:gd name="adj1" fmla="val 33661"/>
              </a:avLst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308" name="TextBox 307"/>
            <p:cNvSpPr txBox="1"/>
            <p:nvPr/>
          </p:nvSpPr>
          <p:spPr>
            <a:xfrm>
              <a:off x="6753863" y="3983603"/>
              <a:ext cx="5068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solidFill>
                    <a:srgbClr val="FF0000"/>
                  </a:solidFill>
                  <a:latin typeface="+mj-lt"/>
                </a:rPr>
                <a:t>Write</a:t>
              </a:r>
            </a:p>
            <a:p>
              <a:r>
                <a:rPr lang="en-US" sz="1100" dirty="0" smtClean="0">
                  <a:solidFill>
                    <a:srgbClr val="FF0000"/>
                  </a:solidFill>
                  <a:latin typeface="+mj-lt"/>
                </a:rPr>
                <a:t>data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360348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Executing I-type Load Instructions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54671" y="2994625"/>
            <a:ext cx="1622694" cy="1386326"/>
            <a:chOff x="1738845" y="3229513"/>
            <a:chExt cx="1622694" cy="1386326"/>
          </a:xfrm>
        </p:grpSpPr>
        <p:grpSp>
          <p:nvGrpSpPr>
            <p:cNvPr id="130" name="Group 129"/>
            <p:cNvGrpSpPr/>
            <p:nvPr/>
          </p:nvGrpSpPr>
          <p:grpSpPr>
            <a:xfrm>
              <a:off x="1738845" y="3229513"/>
              <a:ext cx="1447262" cy="1386326"/>
              <a:chOff x="3124738" y="3598050"/>
              <a:chExt cx="1447262" cy="1386326"/>
            </a:xfrm>
          </p:grpSpPr>
          <p:sp>
            <p:nvSpPr>
              <p:cNvPr id="132" name="Rectangle 131"/>
              <p:cNvSpPr/>
              <p:nvPr/>
            </p:nvSpPr>
            <p:spPr bwMode="auto">
              <a:xfrm>
                <a:off x="3126744" y="3598050"/>
                <a:ext cx="1445256" cy="1386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3124738" y="3598050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 smtClean="0">
                    <a:latin typeface="+mj-lt"/>
                  </a:rPr>
                  <a:t>address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3673849" y="3601253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Instruction [31-0]</a:t>
                </a: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3430026" y="4147773"/>
                <a:ext cx="8386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+mj-lt"/>
                  </a:rPr>
                  <a:t>Memory</a:t>
                </a:r>
              </a:p>
            </p:txBody>
          </p:sp>
        </p:grpSp>
        <p:cxnSp>
          <p:nvCxnSpPr>
            <p:cNvPr id="131" name="Straight Arrow Connector 130"/>
            <p:cNvCxnSpPr>
              <a:stCxn id="134" idx="3"/>
            </p:cNvCxnSpPr>
            <p:nvPr/>
          </p:nvCxnSpPr>
          <p:spPr bwMode="auto">
            <a:xfrm>
              <a:off x="3186107" y="3448160"/>
              <a:ext cx="175432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grpSp>
        <p:nvGrpSpPr>
          <p:cNvPr id="6" name="Group 5"/>
          <p:cNvGrpSpPr/>
          <p:nvPr/>
        </p:nvGrpSpPr>
        <p:grpSpPr>
          <a:xfrm>
            <a:off x="2546317" y="3911755"/>
            <a:ext cx="180391" cy="643543"/>
            <a:chOff x="3390790" y="3616963"/>
            <a:chExt cx="180391" cy="643543"/>
          </a:xfrm>
        </p:grpSpPr>
        <p:sp>
          <p:nvSpPr>
            <p:cNvPr id="126" name="Trapezoid 125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7" name="Rectangle 158"/>
            <p:cNvSpPr>
              <a:spLocks noChangeArrowheads="1"/>
            </p:cNvSpPr>
            <p:nvPr/>
          </p:nvSpPr>
          <p:spPr bwMode="auto">
            <a:xfrm flipH="1">
              <a:off x="3395878" y="3678301"/>
              <a:ext cx="85107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28" name="Rectangle 159"/>
            <p:cNvSpPr>
              <a:spLocks noChangeArrowheads="1"/>
            </p:cNvSpPr>
            <p:nvPr/>
          </p:nvSpPr>
          <p:spPr bwMode="auto">
            <a:xfrm flipH="1">
              <a:off x="3395879" y="4095679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29" name="Rectangle 160"/>
            <p:cNvSpPr>
              <a:spLocks noChangeArrowheads="1"/>
            </p:cNvSpPr>
            <p:nvPr/>
          </p:nvSpPr>
          <p:spPr bwMode="auto">
            <a:xfrm flipH="1">
              <a:off x="3450365" y="3821794"/>
              <a:ext cx="84960" cy="2585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x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107902" y="3005501"/>
            <a:ext cx="1552498" cy="1873251"/>
            <a:chOff x="4488424" y="3657632"/>
            <a:chExt cx="1552498" cy="1873251"/>
          </a:xfrm>
        </p:grpSpPr>
        <p:sp>
          <p:nvSpPr>
            <p:cNvPr id="117" name="Rectangle 116"/>
            <p:cNvSpPr/>
            <p:nvPr/>
          </p:nvSpPr>
          <p:spPr bwMode="auto">
            <a:xfrm>
              <a:off x="4490028" y="3657632"/>
              <a:ext cx="1550894" cy="18706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490028" y="3657633"/>
              <a:ext cx="728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Read</a:t>
              </a:r>
            </a:p>
            <a:p>
              <a:r>
                <a:rPr lang="en-US" sz="1100" dirty="0">
                  <a:latin typeface="+mj-lt"/>
                </a:rPr>
                <a:t>r</a:t>
              </a:r>
              <a:r>
                <a:rPr lang="en-US" sz="1100" dirty="0" smtClean="0">
                  <a:latin typeface="+mj-lt"/>
                </a:rPr>
                <a:t>egister </a:t>
              </a:r>
              <a:r>
                <a:rPr lang="en-US" sz="1100" b="1" dirty="0" smtClean="0">
                  <a:latin typeface="+mj-lt"/>
                </a:rPr>
                <a:t>1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142771" y="3660836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+mj-lt"/>
                </a:rPr>
                <a:t>Read</a:t>
              </a:r>
            </a:p>
            <a:p>
              <a:pPr algn="r"/>
              <a:r>
                <a:rPr lang="en-US" sz="1100" dirty="0">
                  <a:latin typeface="+mj-lt"/>
                </a:rPr>
                <a:t>d</a:t>
              </a:r>
              <a:r>
                <a:rPr lang="en-US" sz="1100" dirty="0" smtClean="0">
                  <a:latin typeface="+mj-lt"/>
                </a:rPr>
                <a:t>ata </a:t>
              </a:r>
              <a:r>
                <a:rPr lang="en-US" sz="1100" b="1" dirty="0" smtClean="0">
                  <a:latin typeface="+mj-lt"/>
                </a:rPr>
                <a:t>1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141166" y="5220532"/>
              <a:ext cx="8429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+mj-lt"/>
                </a:rPr>
                <a:t>Registers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490028" y="4132149"/>
              <a:ext cx="728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Read</a:t>
              </a:r>
            </a:p>
            <a:p>
              <a:r>
                <a:rPr lang="en-US" sz="1100" dirty="0">
                  <a:latin typeface="+mj-lt"/>
                </a:rPr>
                <a:t>r</a:t>
              </a:r>
              <a:r>
                <a:rPr lang="en-US" sz="1100" dirty="0" smtClean="0">
                  <a:latin typeface="+mj-lt"/>
                </a:rPr>
                <a:t>egister </a:t>
              </a:r>
              <a:r>
                <a:rPr lang="en-US" sz="1100" b="1" dirty="0" smtClean="0">
                  <a:latin typeface="+mj-lt"/>
                </a:rPr>
                <a:t>2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5142771" y="4285847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+mj-lt"/>
                </a:rPr>
                <a:t>Read</a:t>
              </a:r>
            </a:p>
            <a:p>
              <a:pPr algn="r"/>
              <a:r>
                <a:rPr lang="en-US" sz="1100" dirty="0">
                  <a:latin typeface="+mj-lt"/>
                </a:rPr>
                <a:t>d</a:t>
              </a:r>
              <a:r>
                <a:rPr lang="en-US" sz="1100" dirty="0" smtClean="0">
                  <a:latin typeface="+mj-lt"/>
                </a:rPr>
                <a:t>ata </a:t>
              </a:r>
              <a:r>
                <a:rPr lang="en-US" sz="1100" b="1" dirty="0">
                  <a:latin typeface="+mj-lt"/>
                </a:rPr>
                <a:t>2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4488424" y="4669109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register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490028" y="5099996"/>
              <a:ext cx="5068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data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5194990" y="3666551"/>
              <a:ext cx="133350" cy="1333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513352" y="2631170"/>
            <a:ext cx="739305" cy="393410"/>
            <a:chOff x="4262754" y="2858356"/>
            <a:chExt cx="739305" cy="393410"/>
          </a:xfrm>
        </p:grpSpPr>
        <p:sp>
          <p:nvSpPr>
            <p:cNvPr id="115" name="TextBox 114"/>
            <p:cNvSpPr txBox="1"/>
            <p:nvPr/>
          </p:nvSpPr>
          <p:spPr>
            <a:xfrm>
              <a:off x="4262754" y="2858356"/>
              <a:ext cx="739305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RegWrite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16" name="Straight Connector 115"/>
            <p:cNvCxnSpPr>
              <a:stCxn id="115" idx="2"/>
              <a:endCxn id="125" idx="0"/>
            </p:cNvCxnSpPr>
            <p:nvPr/>
          </p:nvCxnSpPr>
          <p:spPr bwMode="auto">
            <a:xfrm flipH="1">
              <a:off x="4630545" y="3119966"/>
              <a:ext cx="1862" cy="13180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1" name="Elbow Connector 10"/>
          <p:cNvCxnSpPr>
            <a:stCxn id="122" idx="3"/>
            <a:endCxn id="104" idx="3"/>
          </p:cNvCxnSpPr>
          <p:nvPr/>
        </p:nvCxnSpPr>
        <p:spPr bwMode="auto">
          <a:xfrm flipV="1">
            <a:off x="4660400" y="3848031"/>
            <a:ext cx="454431" cy="1129"/>
          </a:xfrm>
          <a:prstGeom prst="bentConnector3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3" name="Oval 12"/>
          <p:cNvSpPr/>
          <p:nvPr/>
        </p:nvSpPr>
        <p:spPr bwMode="auto">
          <a:xfrm>
            <a:off x="1743407" y="3183822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14" name="Straight Arrow Connector 13"/>
          <p:cNvCxnSpPr>
            <a:stCxn id="13" idx="6"/>
            <a:endCxn id="118" idx="1"/>
          </p:cNvCxnSpPr>
          <p:nvPr/>
        </p:nvCxnSpPr>
        <p:spPr bwMode="auto">
          <a:xfrm>
            <a:off x="1815879" y="3220058"/>
            <a:ext cx="1293627" cy="88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5" name="Elbow Connector 14"/>
          <p:cNvCxnSpPr>
            <a:stCxn id="13" idx="4"/>
            <a:endCxn id="121" idx="1"/>
          </p:cNvCxnSpPr>
          <p:nvPr/>
        </p:nvCxnSpPr>
        <p:spPr bwMode="auto">
          <a:xfrm rot="16200000" flipH="1">
            <a:off x="2224990" y="2810946"/>
            <a:ext cx="439168" cy="132986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6" name="Elbow Connector 15"/>
          <p:cNvCxnSpPr>
            <a:stCxn id="13" idx="4"/>
            <a:endCxn id="128" idx="3"/>
          </p:cNvCxnSpPr>
          <p:nvPr/>
        </p:nvCxnSpPr>
        <p:spPr bwMode="auto">
          <a:xfrm rot="16200000" flipH="1">
            <a:off x="1571505" y="3464431"/>
            <a:ext cx="1188038" cy="77176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1790302" y="2940272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[25-21]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2438" y="3413550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[20-16]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9821" y="4157483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[15-11]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542593" y="4068255"/>
            <a:ext cx="580608" cy="532039"/>
            <a:chOff x="6598319" y="4283249"/>
            <a:chExt cx="580608" cy="532039"/>
          </a:xfrm>
        </p:grpSpPr>
        <p:sp>
          <p:nvSpPr>
            <p:cNvPr id="107" name="TextBox 106"/>
            <p:cNvSpPr txBox="1"/>
            <p:nvPr/>
          </p:nvSpPr>
          <p:spPr>
            <a:xfrm>
              <a:off x="6598319" y="4553678"/>
              <a:ext cx="5806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ALUop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08" name="Straight Connector 107"/>
            <p:cNvCxnSpPr/>
            <p:nvPr/>
          </p:nvCxnSpPr>
          <p:spPr bwMode="auto">
            <a:xfrm flipH="1">
              <a:off x="6967969" y="4283249"/>
              <a:ext cx="32" cy="272672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1" name="Oval 20"/>
          <p:cNvSpPr/>
          <p:nvPr/>
        </p:nvSpPr>
        <p:spPr bwMode="auto">
          <a:xfrm>
            <a:off x="2289085" y="3662429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22" name="Elbow Connector 21"/>
          <p:cNvCxnSpPr>
            <a:stCxn id="21" idx="4"/>
            <a:endCxn id="127" idx="3"/>
          </p:cNvCxnSpPr>
          <p:nvPr/>
        </p:nvCxnSpPr>
        <p:spPr bwMode="auto">
          <a:xfrm rot="16200000" flipH="1">
            <a:off x="2292337" y="3767885"/>
            <a:ext cx="292053" cy="226084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3" name="Straight Arrow Connector 22"/>
          <p:cNvCxnSpPr>
            <a:stCxn id="126" idx="0"/>
            <a:endCxn id="123" idx="1"/>
          </p:cNvCxnSpPr>
          <p:nvPr/>
        </p:nvCxnSpPr>
        <p:spPr bwMode="auto">
          <a:xfrm flipV="1">
            <a:off x="2726708" y="4232422"/>
            <a:ext cx="381194" cy="110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4" name="Rounded Rectangle 23"/>
          <p:cNvSpPr/>
          <p:nvPr/>
        </p:nvSpPr>
        <p:spPr bwMode="auto">
          <a:xfrm>
            <a:off x="3435075" y="5078121"/>
            <a:ext cx="953678" cy="27388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100" dirty="0" smtClean="0">
                <a:latin typeface="+mj-lt"/>
                <a:cs typeface="Arial" pitchFamily="34" charset="0"/>
              </a:rPr>
              <a:t>Sign extend</a:t>
            </a:r>
            <a:endParaRPr lang="en-US" sz="1100" dirty="0">
              <a:latin typeface="+mj-lt"/>
              <a:cs typeface="Arial" pitchFamily="34" charset="0"/>
            </a:endParaRPr>
          </a:p>
        </p:txBody>
      </p:sp>
      <p:cxnSp>
        <p:nvCxnSpPr>
          <p:cNvPr id="25" name="Elbow Connector 24"/>
          <p:cNvCxnSpPr>
            <a:stCxn id="13" idx="4"/>
            <a:endCxn id="24" idx="1"/>
          </p:cNvCxnSpPr>
          <p:nvPr/>
        </p:nvCxnSpPr>
        <p:spPr bwMode="auto">
          <a:xfrm rot="16200000" flipH="1">
            <a:off x="1627975" y="3407962"/>
            <a:ext cx="1958769" cy="1655432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782438" y="4940107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[15-0]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109743" y="3732832"/>
            <a:ext cx="180391" cy="643543"/>
            <a:chOff x="3390790" y="3616963"/>
            <a:chExt cx="180391" cy="643543"/>
          </a:xfrm>
        </p:grpSpPr>
        <p:sp>
          <p:nvSpPr>
            <p:cNvPr id="103" name="Trapezoid 102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4" name="Rectangle 158"/>
            <p:cNvSpPr>
              <a:spLocks noChangeArrowheads="1"/>
            </p:cNvSpPr>
            <p:nvPr/>
          </p:nvSpPr>
          <p:spPr bwMode="auto">
            <a:xfrm flipH="1">
              <a:off x="3395878" y="3678301"/>
              <a:ext cx="85107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05" name="Rectangle 159"/>
            <p:cNvSpPr>
              <a:spLocks noChangeArrowheads="1"/>
            </p:cNvSpPr>
            <p:nvPr/>
          </p:nvSpPr>
          <p:spPr bwMode="auto">
            <a:xfrm flipH="1">
              <a:off x="3395879" y="4095679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06" name="Rectangle 160"/>
            <p:cNvSpPr>
              <a:spLocks noChangeArrowheads="1"/>
            </p:cNvSpPr>
            <p:nvPr/>
          </p:nvSpPr>
          <p:spPr bwMode="auto">
            <a:xfrm flipH="1">
              <a:off x="3450365" y="3821794"/>
              <a:ext cx="84960" cy="2585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x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</p:grpSp>
      <p:cxnSp>
        <p:nvCxnSpPr>
          <p:cNvPr id="28" name="Straight Arrow Connector 27"/>
          <p:cNvCxnSpPr>
            <a:stCxn id="103" idx="0"/>
          </p:cNvCxnSpPr>
          <p:nvPr/>
        </p:nvCxnSpPr>
        <p:spPr bwMode="auto">
          <a:xfrm flipV="1">
            <a:off x="5290134" y="4024709"/>
            <a:ext cx="164748" cy="29895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9" name="Elbow Connector 28"/>
          <p:cNvCxnSpPr>
            <a:stCxn id="24" idx="3"/>
            <a:endCxn id="105" idx="3"/>
          </p:cNvCxnSpPr>
          <p:nvPr/>
        </p:nvCxnSpPr>
        <p:spPr bwMode="auto">
          <a:xfrm flipV="1">
            <a:off x="4388753" y="4265409"/>
            <a:ext cx="726079" cy="949654"/>
          </a:xfrm>
          <a:prstGeom prst="bentConnector3">
            <a:avLst>
              <a:gd name="adj1" fmla="val 77986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30" name="Group 29"/>
          <p:cNvGrpSpPr/>
          <p:nvPr/>
        </p:nvGrpSpPr>
        <p:grpSpPr>
          <a:xfrm>
            <a:off x="6753863" y="3028047"/>
            <a:ext cx="1447263" cy="1386443"/>
            <a:chOff x="3124737" y="3598050"/>
            <a:chExt cx="1447263" cy="1386443"/>
          </a:xfrm>
        </p:grpSpPr>
        <p:sp>
          <p:nvSpPr>
            <p:cNvPr id="97" name="Rectangle 96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733308" y="4674175"/>
              <a:ext cx="8386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+mj-lt"/>
                </a:rPr>
                <a:t>Memory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3126744" y="4073403"/>
              <a:ext cx="6527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address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124737" y="4553606"/>
              <a:ext cx="5068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data</a:t>
              </a:r>
            </a:p>
          </p:txBody>
        </p:sp>
      </p:grpSp>
      <p:cxnSp>
        <p:nvCxnSpPr>
          <p:cNvPr id="33" name="Straight Arrow Connector 32"/>
          <p:cNvCxnSpPr>
            <a:endCxn id="101" idx="1"/>
          </p:cNvCxnSpPr>
          <p:nvPr/>
        </p:nvCxnSpPr>
        <p:spPr bwMode="auto">
          <a:xfrm flipV="1">
            <a:off x="6177337" y="3718844"/>
            <a:ext cx="578533" cy="80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34" name="Oval 33"/>
          <p:cNvSpPr/>
          <p:nvPr/>
        </p:nvSpPr>
        <p:spPr bwMode="auto">
          <a:xfrm>
            <a:off x="4762970" y="3815889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93636" y="4885769"/>
            <a:ext cx="95539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" dirty="0" smtClean="0">
                <a:latin typeface="+mj-lt"/>
              </a:rPr>
              <a:t> </a:t>
            </a:r>
          </a:p>
        </p:txBody>
      </p:sp>
      <p:cxnSp>
        <p:nvCxnSpPr>
          <p:cNvPr id="36" name="Elbow Connector 35"/>
          <p:cNvCxnSpPr>
            <a:stCxn id="34" idx="4"/>
            <a:endCxn id="35" idx="1"/>
          </p:cNvCxnSpPr>
          <p:nvPr/>
        </p:nvCxnSpPr>
        <p:spPr bwMode="auto">
          <a:xfrm rot="16200000" flipH="1">
            <a:off x="4816939" y="3870628"/>
            <a:ext cx="1058964" cy="1094430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37" name="Elbow Connector 36"/>
          <p:cNvCxnSpPr>
            <a:stCxn id="35" idx="1"/>
            <a:endCxn id="102" idx="1"/>
          </p:cNvCxnSpPr>
          <p:nvPr/>
        </p:nvCxnSpPr>
        <p:spPr bwMode="auto">
          <a:xfrm rot="10800000" flipH="1">
            <a:off x="5893635" y="4199047"/>
            <a:ext cx="860227" cy="748278"/>
          </a:xfrm>
          <a:prstGeom prst="bentConnector3">
            <a:avLst>
              <a:gd name="adj1" fmla="val 33661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38" name="Oval 37"/>
          <p:cNvSpPr/>
          <p:nvPr/>
        </p:nvSpPr>
        <p:spPr bwMode="auto">
          <a:xfrm>
            <a:off x="6377497" y="3686159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39" name="Elbow Connector 38"/>
          <p:cNvCxnSpPr>
            <a:stCxn id="38" idx="4"/>
            <a:endCxn id="124" idx="1"/>
          </p:cNvCxnSpPr>
          <p:nvPr/>
        </p:nvCxnSpPr>
        <p:spPr bwMode="auto">
          <a:xfrm rot="5400000">
            <a:off x="4309281" y="2558857"/>
            <a:ext cx="904678" cy="3304227"/>
          </a:xfrm>
          <a:prstGeom prst="bentConnector4">
            <a:avLst>
              <a:gd name="adj1" fmla="val 213289"/>
              <a:gd name="adj2" fmla="val 106918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4981746" y="4589699"/>
            <a:ext cx="5886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accent1"/>
                </a:solidFill>
                <a:latin typeface="+mj-lt"/>
              </a:rPr>
              <a:t>ALUSrc</a:t>
            </a:r>
            <a:endParaRPr lang="en-US" sz="1100" dirty="0" smtClean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76" name="Straight Connector 75"/>
          <p:cNvCxnSpPr>
            <a:stCxn id="103" idx="3"/>
          </p:cNvCxnSpPr>
          <p:nvPr/>
        </p:nvCxnSpPr>
        <p:spPr bwMode="auto">
          <a:xfrm>
            <a:off x="5199938" y="4328109"/>
            <a:ext cx="0" cy="245077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3" name="Group 62"/>
          <p:cNvGrpSpPr/>
          <p:nvPr/>
        </p:nvGrpSpPr>
        <p:grpSpPr>
          <a:xfrm>
            <a:off x="7073684" y="2631170"/>
            <a:ext cx="811441" cy="396877"/>
            <a:chOff x="4224400" y="2858356"/>
            <a:chExt cx="811441" cy="396877"/>
          </a:xfrm>
        </p:grpSpPr>
        <p:sp>
          <p:nvSpPr>
            <p:cNvPr id="73" name="TextBox 72"/>
            <p:cNvSpPr txBox="1"/>
            <p:nvPr/>
          </p:nvSpPr>
          <p:spPr>
            <a:xfrm>
              <a:off x="4224400" y="2858356"/>
              <a:ext cx="811441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MemWrite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74" name="Straight Connector 73"/>
            <p:cNvCxnSpPr>
              <a:stCxn id="73" idx="2"/>
              <a:endCxn id="97" idx="0"/>
            </p:cNvCxnSpPr>
            <p:nvPr/>
          </p:nvCxnSpPr>
          <p:spPr bwMode="auto">
            <a:xfrm flipH="1">
              <a:off x="4629214" y="3119966"/>
              <a:ext cx="907" cy="135267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9" name="TextBox 68"/>
          <p:cNvSpPr txBox="1"/>
          <p:nvPr/>
        </p:nvSpPr>
        <p:spPr>
          <a:xfrm>
            <a:off x="2230176" y="4670228"/>
            <a:ext cx="5854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accent1"/>
                </a:solidFill>
                <a:latin typeface="+mj-lt"/>
              </a:rPr>
              <a:t>RegDst</a:t>
            </a:r>
            <a:endParaRPr lang="en-US" sz="1100" dirty="0" smtClean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70" name="Straight Connector 69"/>
          <p:cNvCxnSpPr>
            <a:stCxn id="126" idx="3"/>
          </p:cNvCxnSpPr>
          <p:nvPr/>
        </p:nvCxnSpPr>
        <p:spPr bwMode="auto">
          <a:xfrm>
            <a:off x="2636512" y="4507032"/>
            <a:ext cx="0" cy="183078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Content Placeholder 2"/>
          <p:cNvSpPr>
            <a:spLocks noGrp="1"/>
          </p:cNvSpPr>
          <p:nvPr>
            <p:ph idx="1"/>
          </p:nvPr>
        </p:nvSpPr>
        <p:spPr>
          <a:xfrm>
            <a:off x="458788" y="808916"/>
            <a:ext cx="8502650" cy="1858131"/>
          </a:xfrm>
        </p:spPr>
        <p:txBody>
          <a:bodyPr/>
          <a:lstStyle/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Read </a:t>
            </a:r>
            <a:r>
              <a:rPr lang="en-US" sz="1600" dirty="0"/>
              <a:t>an instruction from the instruction </a:t>
            </a:r>
            <a:r>
              <a:rPr lang="en-US" sz="1600" dirty="0" smtClean="0"/>
              <a:t>memory by the address in PC</a:t>
            </a:r>
            <a:endParaRPr lang="en-US" sz="1600" dirty="0"/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source register (base address), instruction field </a:t>
            </a:r>
            <a:r>
              <a:rPr lang="en-US" sz="1600" b="1" dirty="0" err="1" smtClean="0">
                <a:solidFill>
                  <a:schemeClr val="accent1"/>
                </a:solidFill>
              </a:rPr>
              <a:t>rs</a:t>
            </a:r>
            <a:r>
              <a:rPr lang="en-US" sz="1600" dirty="0" smtClean="0"/>
              <a:t>, is read </a:t>
            </a:r>
            <a:r>
              <a:rPr lang="en-US" sz="1600" dirty="0"/>
              <a:t>from the register </a:t>
            </a:r>
            <a:r>
              <a:rPr lang="en-US" sz="1600" dirty="0" smtClean="0"/>
              <a:t>file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The signed displacement is extended (from 16 to 32 bits) and directly transferred to ALU</a:t>
            </a:r>
            <a:endParaRPr lang="en-US" sz="1600" dirty="0"/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The </a:t>
            </a:r>
            <a:r>
              <a:rPr lang="en-US" sz="1600" dirty="0"/>
              <a:t>ALU </a:t>
            </a:r>
            <a:r>
              <a:rPr lang="en-US" sz="1600" dirty="0" smtClean="0"/>
              <a:t>calculates the effective address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The value is read from the memory by the effective address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600" dirty="0" smtClean="0"/>
              <a:t>The result is written </a:t>
            </a:r>
            <a:r>
              <a:rPr lang="en-US" sz="1600" dirty="0"/>
              <a:t>in the destination </a:t>
            </a:r>
            <a:r>
              <a:rPr lang="en-US" sz="1600" dirty="0" smtClean="0"/>
              <a:t>register specified </a:t>
            </a:r>
            <a:r>
              <a:rPr lang="en-US" sz="1600" dirty="0"/>
              <a:t>by field </a:t>
            </a:r>
            <a:r>
              <a:rPr lang="en-US" sz="1600" b="1" dirty="0" err="1" smtClean="0">
                <a:solidFill>
                  <a:schemeClr val="accent1"/>
                </a:solidFill>
              </a:rPr>
              <a:t>rt</a:t>
            </a:r>
            <a:endParaRPr lang="en-US" sz="1600" dirty="0"/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endParaRPr lang="en-US" sz="1600" dirty="0"/>
          </a:p>
        </p:txBody>
      </p:sp>
      <p:grpSp>
        <p:nvGrpSpPr>
          <p:cNvPr id="137" name="Group 136"/>
          <p:cNvGrpSpPr/>
          <p:nvPr/>
        </p:nvGrpSpPr>
        <p:grpSpPr>
          <a:xfrm>
            <a:off x="904306" y="6050197"/>
            <a:ext cx="6283894" cy="532893"/>
            <a:chOff x="904306" y="6050197"/>
            <a:chExt cx="6283894" cy="532893"/>
          </a:xfrm>
        </p:grpSpPr>
        <p:sp>
          <p:nvSpPr>
            <p:cNvPr id="138" name="Rounded Rectangle 137"/>
            <p:cNvSpPr/>
            <p:nvPr/>
          </p:nvSpPr>
          <p:spPr bwMode="auto">
            <a:xfrm>
              <a:off x="1356360" y="6237438"/>
              <a:ext cx="5831840" cy="264372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dirty="0" smtClean="0">
                <a:latin typeface="Lucida Console" panose="020B0609040504020204" pitchFamily="49" charset="0"/>
                <a:cs typeface="Arial" pitchFamily="34" charset="0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904306" y="6050197"/>
              <a:ext cx="8290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Lucida Console" panose="020B0609040504020204" pitchFamily="49" charset="0"/>
                </a:rPr>
                <a:t>R-type</a:t>
              </a:r>
            </a:p>
          </p:txBody>
        </p:sp>
        <p:sp>
          <p:nvSpPr>
            <p:cNvPr id="140" name="Rectangle 139"/>
            <p:cNvSpPr/>
            <p:nvPr/>
          </p:nvSpPr>
          <p:spPr bwMode="auto">
            <a:xfrm>
              <a:off x="2243755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26</a:t>
              </a:r>
            </a:p>
          </p:txBody>
        </p:sp>
        <p:sp>
          <p:nvSpPr>
            <p:cNvPr id="141" name="Rectangle 140"/>
            <p:cNvSpPr/>
            <p:nvPr/>
          </p:nvSpPr>
          <p:spPr bwMode="auto">
            <a:xfrm>
              <a:off x="1606350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31</a:t>
              </a:r>
            </a:p>
          </p:txBody>
        </p:sp>
        <p:sp>
          <p:nvSpPr>
            <p:cNvPr id="142" name="Rectangle 141"/>
            <p:cNvSpPr/>
            <p:nvPr/>
          </p:nvSpPr>
          <p:spPr bwMode="auto">
            <a:xfrm>
              <a:off x="6832600" y="6239470"/>
              <a:ext cx="1979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>
                  <a:latin typeface="Lucida Console" panose="020B0609040504020204" pitchFamily="49" charset="0"/>
                  <a:cs typeface="Consolas" pitchFamily="49" charset="0"/>
                </a:rPr>
                <a:t>0</a:t>
              </a:r>
              <a:endParaRPr lang="en-US" sz="1000" dirty="0" smtClean="0">
                <a:latin typeface="Lucida Console" panose="020B0609040504020204" pitchFamily="49" charset="0"/>
                <a:cs typeface="Consolas" pitchFamily="49" charset="0"/>
              </a:endParaRPr>
            </a:p>
          </p:txBody>
        </p:sp>
        <p:sp>
          <p:nvSpPr>
            <p:cNvPr id="143" name="Rectangle 142"/>
            <p:cNvSpPr/>
            <p:nvPr/>
          </p:nvSpPr>
          <p:spPr bwMode="auto">
            <a:xfrm>
              <a:off x="6133428" y="6239470"/>
              <a:ext cx="1979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144" name="Rectangle 143"/>
            <p:cNvSpPr/>
            <p:nvPr/>
          </p:nvSpPr>
          <p:spPr bwMode="auto">
            <a:xfrm>
              <a:off x="5935980" y="6239470"/>
              <a:ext cx="1898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145" name="Rectangle 144"/>
            <p:cNvSpPr/>
            <p:nvPr/>
          </p:nvSpPr>
          <p:spPr bwMode="auto">
            <a:xfrm>
              <a:off x="5248665" y="6239470"/>
              <a:ext cx="1898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10</a:t>
              </a:r>
            </a:p>
          </p:txBody>
        </p:sp>
        <p:sp>
          <p:nvSpPr>
            <p:cNvPr id="146" name="Rectangle 145"/>
            <p:cNvSpPr/>
            <p:nvPr/>
          </p:nvSpPr>
          <p:spPr bwMode="auto">
            <a:xfrm>
              <a:off x="497911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147" name="Rectangle 146"/>
            <p:cNvSpPr/>
            <p:nvPr/>
          </p:nvSpPr>
          <p:spPr bwMode="auto">
            <a:xfrm>
              <a:off x="434411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148" name="Rectangle 147"/>
            <p:cNvSpPr/>
            <p:nvPr/>
          </p:nvSpPr>
          <p:spPr bwMode="auto">
            <a:xfrm>
              <a:off x="404947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149" name="Rectangle 148"/>
            <p:cNvSpPr/>
            <p:nvPr/>
          </p:nvSpPr>
          <p:spPr bwMode="auto">
            <a:xfrm>
              <a:off x="345908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20</a:t>
              </a:r>
            </a:p>
          </p:txBody>
        </p:sp>
        <p:grpSp>
          <p:nvGrpSpPr>
            <p:cNvPr id="150" name="Group 149"/>
            <p:cNvGrpSpPr/>
            <p:nvPr/>
          </p:nvGrpSpPr>
          <p:grpSpPr>
            <a:xfrm>
              <a:off x="1602205" y="6098574"/>
              <a:ext cx="5428324" cy="220144"/>
              <a:chOff x="1602205" y="6098574"/>
              <a:chExt cx="5428324" cy="220144"/>
            </a:xfrm>
          </p:grpSpPr>
          <p:sp>
            <p:nvSpPr>
              <p:cNvPr id="154" name="Rectangle 153"/>
              <p:cNvSpPr/>
              <p:nvPr/>
            </p:nvSpPr>
            <p:spPr bwMode="auto">
              <a:xfrm>
                <a:off x="1602205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smtClean="0">
                    <a:latin typeface="Lucida Console" panose="020B0609040504020204" pitchFamily="49" charset="0"/>
                    <a:cs typeface="Consolas" pitchFamily="49" charset="0"/>
                  </a:rPr>
                  <a:t>op</a:t>
                </a:r>
              </a:p>
            </p:txBody>
          </p:sp>
          <p:sp>
            <p:nvSpPr>
              <p:cNvPr id="155" name="Rectangle 154"/>
              <p:cNvSpPr/>
              <p:nvPr/>
            </p:nvSpPr>
            <p:spPr bwMode="auto">
              <a:xfrm>
                <a:off x="6125808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funct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156" name="Rectangle 155"/>
              <p:cNvSpPr/>
              <p:nvPr/>
            </p:nvSpPr>
            <p:spPr bwMode="auto">
              <a:xfrm>
                <a:off x="5221088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shamt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157" name="Rectangle 156"/>
              <p:cNvSpPr/>
              <p:nvPr/>
            </p:nvSpPr>
            <p:spPr bwMode="auto">
              <a:xfrm>
                <a:off x="4316367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rd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158" name="Rectangle 157"/>
              <p:cNvSpPr/>
              <p:nvPr/>
            </p:nvSpPr>
            <p:spPr bwMode="auto">
              <a:xfrm>
                <a:off x="341164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159" name="Rectangle 158"/>
              <p:cNvSpPr/>
              <p:nvPr/>
            </p:nvSpPr>
            <p:spPr bwMode="auto">
              <a:xfrm>
                <a:off x="250692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rs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151" name="Rectangle 150"/>
            <p:cNvSpPr/>
            <p:nvPr/>
          </p:nvSpPr>
          <p:spPr bwMode="auto">
            <a:xfrm>
              <a:off x="314158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152" name="Rectangle 151"/>
            <p:cNvSpPr/>
            <p:nvPr/>
          </p:nvSpPr>
          <p:spPr bwMode="auto">
            <a:xfrm>
              <a:off x="252944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Lucida Console" panose="020B0609040504020204" pitchFamily="49" charset="0"/>
                  <a:cs typeface="Consolas" pitchFamily="49" charset="0"/>
                </a:rPr>
                <a:t>25</a:t>
              </a:r>
            </a:p>
          </p:txBody>
        </p:sp>
        <p:sp>
          <p:nvSpPr>
            <p:cNvPr id="153" name="Rectangle 152"/>
            <p:cNvSpPr/>
            <p:nvPr/>
          </p:nvSpPr>
          <p:spPr bwMode="auto">
            <a:xfrm>
              <a:off x="960120" y="6088414"/>
              <a:ext cx="6116320" cy="241266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Lucida Console" panose="020B0609040504020204" pitchFamily="49" charset="0"/>
                <a:cs typeface="Arial" pitchFamily="34" charset="0"/>
              </a:endParaRPr>
            </a:p>
          </p:txBody>
        </p:sp>
      </p:grpSp>
      <p:grpSp>
        <p:nvGrpSpPr>
          <p:cNvPr id="160" name="Group 159"/>
          <p:cNvGrpSpPr/>
          <p:nvPr/>
        </p:nvGrpSpPr>
        <p:grpSpPr>
          <a:xfrm>
            <a:off x="843165" y="5822809"/>
            <a:ext cx="6187365" cy="307777"/>
            <a:chOff x="843165" y="5822809"/>
            <a:chExt cx="6187365" cy="307777"/>
          </a:xfrm>
        </p:grpSpPr>
        <p:grpSp>
          <p:nvGrpSpPr>
            <p:cNvPr id="161" name="Group 160"/>
            <p:cNvGrpSpPr/>
            <p:nvPr/>
          </p:nvGrpSpPr>
          <p:grpSpPr>
            <a:xfrm>
              <a:off x="1602205" y="5874711"/>
              <a:ext cx="5428325" cy="220144"/>
              <a:chOff x="1602205" y="6098574"/>
              <a:chExt cx="5428325" cy="220144"/>
            </a:xfrm>
          </p:grpSpPr>
          <p:sp>
            <p:nvSpPr>
              <p:cNvPr id="163" name="Rectangle 162"/>
              <p:cNvSpPr/>
              <p:nvPr/>
            </p:nvSpPr>
            <p:spPr bwMode="auto">
              <a:xfrm>
                <a:off x="1602205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smtClean="0">
                    <a:latin typeface="Lucida Console" panose="020B0609040504020204" pitchFamily="49" charset="0"/>
                    <a:cs typeface="Consolas" pitchFamily="49" charset="0"/>
                  </a:rPr>
                  <a:t>op</a:t>
                </a:r>
              </a:p>
            </p:txBody>
          </p:sp>
          <p:sp>
            <p:nvSpPr>
              <p:cNvPr id="164" name="Rectangle 163"/>
              <p:cNvSpPr/>
              <p:nvPr/>
            </p:nvSpPr>
            <p:spPr bwMode="auto">
              <a:xfrm>
                <a:off x="4316368" y="6098574"/>
                <a:ext cx="2714162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displ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165" name="Rectangle 164"/>
              <p:cNvSpPr/>
              <p:nvPr/>
            </p:nvSpPr>
            <p:spPr bwMode="auto">
              <a:xfrm>
                <a:off x="341164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rt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  <p:sp>
            <p:nvSpPr>
              <p:cNvPr id="166" name="Rectangle 165"/>
              <p:cNvSpPr/>
              <p:nvPr/>
            </p:nvSpPr>
            <p:spPr bwMode="auto">
              <a:xfrm>
                <a:off x="250692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Lucida Console" panose="020B0609040504020204" pitchFamily="49" charset="0"/>
                    <a:cs typeface="Consolas" pitchFamily="49" charset="0"/>
                  </a:rPr>
                  <a:t>rs</a:t>
                </a:r>
                <a:endParaRPr lang="en-US" sz="1200" dirty="0" smtClean="0">
                  <a:latin typeface="Lucida Console" panose="020B0609040504020204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162" name="TextBox 161"/>
            <p:cNvSpPr txBox="1"/>
            <p:nvPr/>
          </p:nvSpPr>
          <p:spPr>
            <a:xfrm>
              <a:off x="843165" y="5822809"/>
              <a:ext cx="8290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Lucida Console" panose="020B0609040504020204" pitchFamily="49" charset="0"/>
                </a:rPr>
                <a:t>I</a:t>
              </a:r>
              <a:r>
                <a:rPr lang="en-US" sz="1400" dirty="0" smtClean="0">
                  <a:latin typeface="Lucida Console" panose="020B0609040504020204" pitchFamily="49" charset="0"/>
                </a:rPr>
                <a:t>-type</a:t>
              </a:r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154671" y="2994625"/>
            <a:ext cx="1622694" cy="1386326"/>
            <a:chOff x="1738845" y="3229513"/>
            <a:chExt cx="1622694" cy="1386326"/>
          </a:xfrm>
        </p:grpSpPr>
        <p:grpSp>
          <p:nvGrpSpPr>
            <p:cNvPr id="168" name="Group 167"/>
            <p:cNvGrpSpPr/>
            <p:nvPr/>
          </p:nvGrpSpPr>
          <p:grpSpPr>
            <a:xfrm>
              <a:off x="1738845" y="3229513"/>
              <a:ext cx="1447262" cy="1386326"/>
              <a:chOff x="3124738" y="3598050"/>
              <a:chExt cx="1447262" cy="1386326"/>
            </a:xfrm>
          </p:grpSpPr>
          <p:sp>
            <p:nvSpPr>
              <p:cNvPr id="170" name="Rectangle 169"/>
              <p:cNvSpPr/>
              <p:nvPr/>
            </p:nvSpPr>
            <p:spPr bwMode="auto">
              <a:xfrm>
                <a:off x="3126744" y="3598050"/>
                <a:ext cx="1445256" cy="1386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1" name="TextBox 170"/>
              <p:cNvSpPr txBox="1"/>
              <p:nvPr/>
            </p:nvSpPr>
            <p:spPr>
              <a:xfrm>
                <a:off x="3124738" y="3598050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 smtClean="0">
                    <a:latin typeface="+mj-lt"/>
                  </a:rPr>
                  <a:t>address</a:t>
                </a:r>
              </a:p>
            </p:txBody>
          </p:sp>
          <p:sp>
            <p:nvSpPr>
              <p:cNvPr id="172" name="TextBox 171"/>
              <p:cNvSpPr txBox="1"/>
              <p:nvPr/>
            </p:nvSpPr>
            <p:spPr>
              <a:xfrm>
                <a:off x="3673849" y="3601253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Instruction [31-0]</a:t>
                </a:r>
              </a:p>
            </p:txBody>
          </p:sp>
          <p:sp>
            <p:nvSpPr>
              <p:cNvPr id="173" name="TextBox 172"/>
              <p:cNvSpPr txBox="1"/>
              <p:nvPr/>
            </p:nvSpPr>
            <p:spPr>
              <a:xfrm>
                <a:off x="3430026" y="4147773"/>
                <a:ext cx="8386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+mj-lt"/>
                  </a:rPr>
                  <a:t>Memory</a:t>
                </a:r>
              </a:p>
            </p:txBody>
          </p:sp>
        </p:grpSp>
        <p:cxnSp>
          <p:nvCxnSpPr>
            <p:cNvPr id="169" name="Straight Arrow Connector 168"/>
            <p:cNvCxnSpPr>
              <a:stCxn id="172" idx="3"/>
            </p:cNvCxnSpPr>
            <p:nvPr/>
          </p:nvCxnSpPr>
          <p:spPr bwMode="auto">
            <a:xfrm>
              <a:off x="3186107" y="3448160"/>
              <a:ext cx="175432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grpSp>
        <p:nvGrpSpPr>
          <p:cNvPr id="174" name="Group 173"/>
          <p:cNvGrpSpPr/>
          <p:nvPr/>
        </p:nvGrpSpPr>
        <p:grpSpPr>
          <a:xfrm>
            <a:off x="2546317" y="3911755"/>
            <a:ext cx="180391" cy="643543"/>
            <a:chOff x="3390790" y="3616963"/>
            <a:chExt cx="180391" cy="643543"/>
          </a:xfrm>
        </p:grpSpPr>
        <p:sp>
          <p:nvSpPr>
            <p:cNvPr id="175" name="Trapezoid 174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6" name="Rectangle 158"/>
            <p:cNvSpPr>
              <a:spLocks noChangeArrowheads="1"/>
            </p:cNvSpPr>
            <p:nvPr/>
          </p:nvSpPr>
          <p:spPr bwMode="auto">
            <a:xfrm flipH="1">
              <a:off x="3395878" y="3678301"/>
              <a:ext cx="85107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77" name="Rectangle 159"/>
            <p:cNvSpPr>
              <a:spLocks noChangeArrowheads="1"/>
            </p:cNvSpPr>
            <p:nvPr/>
          </p:nvSpPr>
          <p:spPr bwMode="auto">
            <a:xfrm flipH="1">
              <a:off x="3395879" y="4095679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78" name="Rectangle 160"/>
            <p:cNvSpPr>
              <a:spLocks noChangeArrowheads="1"/>
            </p:cNvSpPr>
            <p:nvPr/>
          </p:nvSpPr>
          <p:spPr bwMode="auto">
            <a:xfrm flipH="1">
              <a:off x="3450365" y="3821794"/>
              <a:ext cx="84960" cy="2585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x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3107902" y="3005501"/>
            <a:ext cx="1552498" cy="1873251"/>
            <a:chOff x="4488424" y="3657632"/>
            <a:chExt cx="1552498" cy="1873251"/>
          </a:xfrm>
        </p:grpSpPr>
        <p:sp>
          <p:nvSpPr>
            <p:cNvPr id="180" name="Rectangle 179"/>
            <p:cNvSpPr/>
            <p:nvPr/>
          </p:nvSpPr>
          <p:spPr bwMode="auto">
            <a:xfrm>
              <a:off x="4490028" y="3657632"/>
              <a:ext cx="1550894" cy="18706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4490028" y="3657633"/>
              <a:ext cx="728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Read</a:t>
              </a:r>
            </a:p>
            <a:p>
              <a:r>
                <a:rPr lang="en-US" sz="1100" dirty="0">
                  <a:latin typeface="+mj-lt"/>
                </a:rPr>
                <a:t>r</a:t>
              </a:r>
              <a:r>
                <a:rPr lang="en-US" sz="1100" dirty="0" smtClean="0">
                  <a:latin typeface="+mj-lt"/>
                </a:rPr>
                <a:t>egister </a:t>
              </a:r>
              <a:r>
                <a:rPr lang="en-US" sz="1100" b="1" dirty="0" smtClean="0">
                  <a:latin typeface="+mj-lt"/>
                </a:rPr>
                <a:t>1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142771" y="3660836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+mj-lt"/>
                </a:rPr>
                <a:t>Read</a:t>
              </a:r>
            </a:p>
            <a:p>
              <a:pPr algn="r"/>
              <a:r>
                <a:rPr lang="en-US" sz="1100" dirty="0">
                  <a:latin typeface="+mj-lt"/>
                </a:rPr>
                <a:t>d</a:t>
              </a:r>
              <a:r>
                <a:rPr lang="en-US" sz="1100" dirty="0" smtClean="0">
                  <a:latin typeface="+mj-lt"/>
                </a:rPr>
                <a:t>ata </a:t>
              </a:r>
              <a:r>
                <a:rPr lang="en-US" sz="1100" b="1" dirty="0" smtClean="0">
                  <a:latin typeface="+mj-lt"/>
                </a:rPr>
                <a:t>1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141166" y="5220532"/>
              <a:ext cx="8429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+mj-lt"/>
                </a:rPr>
                <a:t>Registers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4490028" y="4132149"/>
              <a:ext cx="728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Read</a:t>
              </a:r>
            </a:p>
            <a:p>
              <a:r>
                <a:rPr lang="en-US" sz="1100" dirty="0">
                  <a:latin typeface="+mj-lt"/>
                </a:rPr>
                <a:t>r</a:t>
              </a:r>
              <a:r>
                <a:rPr lang="en-US" sz="1100" dirty="0" smtClean="0">
                  <a:latin typeface="+mj-lt"/>
                </a:rPr>
                <a:t>egister </a:t>
              </a:r>
              <a:r>
                <a:rPr lang="en-US" sz="1100" b="1" dirty="0" smtClean="0">
                  <a:latin typeface="+mj-lt"/>
                </a:rPr>
                <a:t>2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5142771" y="4285847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+mj-lt"/>
                </a:rPr>
                <a:t>Read</a:t>
              </a:r>
            </a:p>
            <a:p>
              <a:pPr algn="r"/>
              <a:r>
                <a:rPr lang="en-US" sz="1100" dirty="0">
                  <a:latin typeface="+mj-lt"/>
                </a:rPr>
                <a:t>d</a:t>
              </a:r>
              <a:r>
                <a:rPr lang="en-US" sz="1100" dirty="0" smtClean="0">
                  <a:latin typeface="+mj-lt"/>
                </a:rPr>
                <a:t>ata </a:t>
              </a:r>
              <a:r>
                <a:rPr lang="en-US" sz="1100" b="1" dirty="0">
                  <a:latin typeface="+mj-lt"/>
                </a:rPr>
                <a:t>2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4488424" y="4669109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register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4490028" y="5099996"/>
              <a:ext cx="5068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data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88" name="Rectangle 187"/>
            <p:cNvSpPr/>
            <p:nvPr/>
          </p:nvSpPr>
          <p:spPr bwMode="auto">
            <a:xfrm>
              <a:off x="5194990" y="3666551"/>
              <a:ext cx="133350" cy="1333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3513352" y="2631170"/>
            <a:ext cx="739305" cy="393410"/>
            <a:chOff x="4262754" y="2858356"/>
            <a:chExt cx="739305" cy="393410"/>
          </a:xfrm>
        </p:grpSpPr>
        <p:sp>
          <p:nvSpPr>
            <p:cNvPr id="190" name="TextBox 189"/>
            <p:cNvSpPr txBox="1"/>
            <p:nvPr/>
          </p:nvSpPr>
          <p:spPr>
            <a:xfrm>
              <a:off x="4262754" y="2858356"/>
              <a:ext cx="739305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RegWrite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91" name="Straight Connector 190"/>
            <p:cNvCxnSpPr>
              <a:stCxn id="190" idx="2"/>
              <a:endCxn id="188" idx="0"/>
            </p:cNvCxnSpPr>
            <p:nvPr/>
          </p:nvCxnSpPr>
          <p:spPr bwMode="auto">
            <a:xfrm flipH="1">
              <a:off x="4630545" y="3119966"/>
              <a:ext cx="1862" cy="13180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92" name="Straight Arrow Connector 191"/>
          <p:cNvCxnSpPr>
            <a:stCxn id="182" idx="3"/>
            <a:endCxn id="196" idx="1"/>
          </p:cNvCxnSpPr>
          <p:nvPr/>
        </p:nvCxnSpPr>
        <p:spPr bwMode="auto">
          <a:xfrm>
            <a:off x="4660400" y="3224149"/>
            <a:ext cx="794482" cy="4309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93" name="Group 192"/>
          <p:cNvGrpSpPr/>
          <p:nvPr/>
        </p:nvGrpSpPr>
        <p:grpSpPr>
          <a:xfrm>
            <a:off x="5454882" y="2909792"/>
            <a:ext cx="727535" cy="1439797"/>
            <a:chOff x="6728724" y="3121968"/>
            <a:chExt cx="727535" cy="1439797"/>
          </a:xfrm>
        </p:grpSpPr>
        <p:sp>
          <p:nvSpPr>
            <p:cNvPr id="194" name="Freeform 127"/>
            <p:cNvSpPr>
              <a:spLocks/>
            </p:cNvSpPr>
            <p:nvPr/>
          </p:nvSpPr>
          <p:spPr bwMode="auto">
            <a:xfrm>
              <a:off x="6728724" y="3121968"/>
              <a:ext cx="727535" cy="1439797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6728724" y="3392722"/>
              <a:ext cx="363767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 smtClean="0">
                  <a:latin typeface="+mj-lt"/>
                </a:rPr>
                <a:t>ALU</a:t>
              </a: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6728724" y="3355995"/>
              <a:ext cx="15548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+mj-lt"/>
                </a:rPr>
                <a:t> </a:t>
              </a: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6728724" y="4181436"/>
              <a:ext cx="15548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+mj-lt"/>
                </a:rPr>
                <a:t> </a:t>
              </a: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6969760" y="3801019"/>
              <a:ext cx="481419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Result</a:t>
              </a:r>
              <a:endParaRPr lang="en-US" sz="1100" b="1" dirty="0" smtClean="0">
                <a:latin typeface="+mj-lt"/>
              </a:endParaRPr>
            </a:p>
          </p:txBody>
        </p:sp>
      </p:grpSp>
      <p:cxnSp>
        <p:nvCxnSpPr>
          <p:cNvPr id="199" name="Elbow Connector 198"/>
          <p:cNvCxnSpPr>
            <a:stCxn id="185" idx="3"/>
            <a:endCxn id="219" idx="3"/>
          </p:cNvCxnSpPr>
          <p:nvPr/>
        </p:nvCxnSpPr>
        <p:spPr bwMode="auto">
          <a:xfrm flipV="1">
            <a:off x="4660400" y="3848031"/>
            <a:ext cx="454431" cy="1129"/>
          </a:xfrm>
          <a:prstGeom prst="bentConnector3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01" name="Oval 200"/>
          <p:cNvSpPr/>
          <p:nvPr/>
        </p:nvSpPr>
        <p:spPr bwMode="auto">
          <a:xfrm>
            <a:off x="1743407" y="3183822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202" name="Straight Arrow Connector 201"/>
          <p:cNvCxnSpPr>
            <a:stCxn id="201" idx="6"/>
            <a:endCxn id="181" idx="1"/>
          </p:cNvCxnSpPr>
          <p:nvPr/>
        </p:nvCxnSpPr>
        <p:spPr bwMode="auto">
          <a:xfrm>
            <a:off x="1815879" y="3220058"/>
            <a:ext cx="1293627" cy="88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03" name="Elbow Connector 202"/>
          <p:cNvCxnSpPr>
            <a:stCxn id="201" idx="4"/>
            <a:endCxn id="184" idx="1"/>
          </p:cNvCxnSpPr>
          <p:nvPr/>
        </p:nvCxnSpPr>
        <p:spPr bwMode="auto">
          <a:xfrm rot="16200000" flipH="1">
            <a:off x="2224990" y="2810946"/>
            <a:ext cx="439168" cy="132986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04" name="Elbow Connector 203"/>
          <p:cNvCxnSpPr>
            <a:stCxn id="201" idx="4"/>
            <a:endCxn id="177" idx="3"/>
          </p:cNvCxnSpPr>
          <p:nvPr/>
        </p:nvCxnSpPr>
        <p:spPr bwMode="auto">
          <a:xfrm rot="16200000" flipH="1">
            <a:off x="1571505" y="3464431"/>
            <a:ext cx="1188038" cy="77176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05" name="TextBox 204"/>
          <p:cNvSpPr txBox="1"/>
          <p:nvPr/>
        </p:nvSpPr>
        <p:spPr>
          <a:xfrm>
            <a:off x="1790302" y="2940272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[25-21]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782438" y="3413550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[20-16]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759821" y="4157483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[15-11]</a:t>
            </a:r>
          </a:p>
        </p:txBody>
      </p:sp>
      <p:grpSp>
        <p:nvGrpSpPr>
          <p:cNvPr id="208" name="Group 207"/>
          <p:cNvGrpSpPr/>
          <p:nvPr/>
        </p:nvGrpSpPr>
        <p:grpSpPr>
          <a:xfrm>
            <a:off x="5542593" y="4068255"/>
            <a:ext cx="580608" cy="532039"/>
            <a:chOff x="6598319" y="4283249"/>
            <a:chExt cx="580608" cy="532039"/>
          </a:xfrm>
        </p:grpSpPr>
        <p:sp>
          <p:nvSpPr>
            <p:cNvPr id="209" name="TextBox 208"/>
            <p:cNvSpPr txBox="1"/>
            <p:nvPr/>
          </p:nvSpPr>
          <p:spPr>
            <a:xfrm>
              <a:off x="6598319" y="4553678"/>
              <a:ext cx="5806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ALUop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210" name="Straight Connector 209"/>
            <p:cNvCxnSpPr/>
            <p:nvPr/>
          </p:nvCxnSpPr>
          <p:spPr bwMode="auto">
            <a:xfrm flipH="1">
              <a:off x="6967969" y="4283249"/>
              <a:ext cx="32" cy="272672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11" name="Oval 210"/>
          <p:cNvSpPr/>
          <p:nvPr/>
        </p:nvSpPr>
        <p:spPr bwMode="auto">
          <a:xfrm>
            <a:off x="2289085" y="3662429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212" name="Elbow Connector 211"/>
          <p:cNvCxnSpPr>
            <a:stCxn id="211" idx="4"/>
            <a:endCxn id="176" idx="3"/>
          </p:cNvCxnSpPr>
          <p:nvPr/>
        </p:nvCxnSpPr>
        <p:spPr bwMode="auto">
          <a:xfrm rot="16200000" flipH="1">
            <a:off x="2292337" y="3767885"/>
            <a:ext cx="292053" cy="226084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13" name="Straight Arrow Connector 212"/>
          <p:cNvCxnSpPr>
            <a:stCxn id="175" idx="0"/>
            <a:endCxn id="186" idx="1"/>
          </p:cNvCxnSpPr>
          <p:nvPr/>
        </p:nvCxnSpPr>
        <p:spPr bwMode="auto">
          <a:xfrm flipV="1">
            <a:off x="2726708" y="4232422"/>
            <a:ext cx="381194" cy="110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14" name="Rounded Rectangle 213"/>
          <p:cNvSpPr/>
          <p:nvPr/>
        </p:nvSpPr>
        <p:spPr bwMode="auto">
          <a:xfrm>
            <a:off x="3435075" y="5078121"/>
            <a:ext cx="953678" cy="27388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100" dirty="0" smtClean="0">
                <a:latin typeface="+mj-lt"/>
                <a:cs typeface="Arial" pitchFamily="34" charset="0"/>
              </a:rPr>
              <a:t>Sign extend</a:t>
            </a:r>
            <a:endParaRPr lang="en-US" sz="1100" dirty="0">
              <a:latin typeface="+mj-lt"/>
              <a:cs typeface="Arial" pitchFamily="34" charset="0"/>
            </a:endParaRPr>
          </a:p>
        </p:txBody>
      </p:sp>
      <p:cxnSp>
        <p:nvCxnSpPr>
          <p:cNvPr id="215" name="Elbow Connector 214"/>
          <p:cNvCxnSpPr>
            <a:stCxn id="201" idx="4"/>
            <a:endCxn id="214" idx="1"/>
          </p:cNvCxnSpPr>
          <p:nvPr/>
        </p:nvCxnSpPr>
        <p:spPr bwMode="auto">
          <a:xfrm rot="16200000" flipH="1">
            <a:off x="1627975" y="3407962"/>
            <a:ext cx="1958769" cy="1655432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16" name="TextBox 215"/>
          <p:cNvSpPr txBox="1"/>
          <p:nvPr/>
        </p:nvSpPr>
        <p:spPr>
          <a:xfrm>
            <a:off x="1782438" y="4940107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[15-0]</a:t>
            </a:r>
          </a:p>
        </p:txBody>
      </p:sp>
      <p:grpSp>
        <p:nvGrpSpPr>
          <p:cNvPr id="217" name="Group 216"/>
          <p:cNvGrpSpPr/>
          <p:nvPr/>
        </p:nvGrpSpPr>
        <p:grpSpPr>
          <a:xfrm>
            <a:off x="5109743" y="3732832"/>
            <a:ext cx="180391" cy="643543"/>
            <a:chOff x="3390790" y="3616963"/>
            <a:chExt cx="180391" cy="643543"/>
          </a:xfrm>
        </p:grpSpPr>
        <p:sp>
          <p:nvSpPr>
            <p:cNvPr id="218" name="Trapezoid 217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9" name="Rectangle 158"/>
            <p:cNvSpPr>
              <a:spLocks noChangeArrowheads="1"/>
            </p:cNvSpPr>
            <p:nvPr/>
          </p:nvSpPr>
          <p:spPr bwMode="auto">
            <a:xfrm flipH="1">
              <a:off x="3395878" y="3678301"/>
              <a:ext cx="85107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20" name="Rectangle 159"/>
            <p:cNvSpPr>
              <a:spLocks noChangeArrowheads="1"/>
            </p:cNvSpPr>
            <p:nvPr/>
          </p:nvSpPr>
          <p:spPr bwMode="auto">
            <a:xfrm flipH="1">
              <a:off x="3395879" y="4095679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221" name="Rectangle 160"/>
            <p:cNvSpPr>
              <a:spLocks noChangeArrowheads="1"/>
            </p:cNvSpPr>
            <p:nvPr/>
          </p:nvSpPr>
          <p:spPr bwMode="auto">
            <a:xfrm flipH="1">
              <a:off x="3450365" y="3821794"/>
              <a:ext cx="84960" cy="2585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x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</p:grpSp>
      <p:cxnSp>
        <p:nvCxnSpPr>
          <p:cNvPr id="222" name="Straight Arrow Connector 221"/>
          <p:cNvCxnSpPr>
            <a:stCxn id="218" idx="0"/>
            <a:endCxn id="197" idx="1"/>
          </p:cNvCxnSpPr>
          <p:nvPr/>
        </p:nvCxnSpPr>
        <p:spPr bwMode="auto">
          <a:xfrm flipV="1">
            <a:off x="5290134" y="4053899"/>
            <a:ext cx="164748" cy="705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23" name="Elbow Connector 222"/>
          <p:cNvCxnSpPr>
            <a:stCxn id="214" idx="3"/>
            <a:endCxn id="220" idx="3"/>
          </p:cNvCxnSpPr>
          <p:nvPr/>
        </p:nvCxnSpPr>
        <p:spPr bwMode="auto">
          <a:xfrm flipV="1">
            <a:off x="4388753" y="4265409"/>
            <a:ext cx="726079" cy="949654"/>
          </a:xfrm>
          <a:prstGeom prst="bentConnector3">
            <a:avLst>
              <a:gd name="adj1" fmla="val 77986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25" name="Rectangle 224"/>
          <p:cNvSpPr/>
          <p:nvPr/>
        </p:nvSpPr>
        <p:spPr bwMode="auto">
          <a:xfrm>
            <a:off x="6755870" y="3028047"/>
            <a:ext cx="1445256" cy="1386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7362434" y="4104172"/>
            <a:ext cx="838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Memory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755870" y="3503400"/>
            <a:ext cx="6527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+mj-lt"/>
              </a:rPr>
              <a:t>Write</a:t>
            </a:r>
          </a:p>
          <a:p>
            <a:r>
              <a:rPr lang="en-US" sz="1100" dirty="0" smtClean="0">
                <a:latin typeface="+mj-lt"/>
              </a:rPr>
              <a:t>address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753863" y="3983603"/>
            <a:ext cx="5068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+mj-lt"/>
              </a:rPr>
              <a:t>Write</a:t>
            </a:r>
          </a:p>
          <a:p>
            <a:r>
              <a:rPr lang="en-US" sz="1100" dirty="0" smtClean="0">
                <a:latin typeface="+mj-lt"/>
              </a:rPr>
              <a:t>data</a:t>
            </a:r>
          </a:p>
        </p:txBody>
      </p:sp>
      <p:cxnSp>
        <p:nvCxnSpPr>
          <p:cNvPr id="237" name="Straight Arrow Connector 236"/>
          <p:cNvCxnSpPr>
            <a:stCxn id="198" idx="3"/>
            <a:endCxn id="229" idx="1"/>
          </p:cNvCxnSpPr>
          <p:nvPr/>
        </p:nvCxnSpPr>
        <p:spPr bwMode="auto">
          <a:xfrm flipV="1">
            <a:off x="6177337" y="3718844"/>
            <a:ext cx="578533" cy="80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38" name="Oval 237"/>
          <p:cNvSpPr/>
          <p:nvPr/>
        </p:nvSpPr>
        <p:spPr bwMode="auto">
          <a:xfrm>
            <a:off x="4762970" y="3815889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5893636" y="4885769"/>
            <a:ext cx="95539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" dirty="0" smtClean="0">
                <a:latin typeface="+mj-lt"/>
              </a:rPr>
              <a:t> </a:t>
            </a:r>
          </a:p>
        </p:txBody>
      </p:sp>
      <p:cxnSp>
        <p:nvCxnSpPr>
          <p:cNvPr id="240" name="Elbow Connector 239"/>
          <p:cNvCxnSpPr>
            <a:stCxn id="238" idx="4"/>
            <a:endCxn id="239" idx="1"/>
          </p:cNvCxnSpPr>
          <p:nvPr/>
        </p:nvCxnSpPr>
        <p:spPr bwMode="auto">
          <a:xfrm rot="16200000" flipH="1">
            <a:off x="4816939" y="3870628"/>
            <a:ext cx="1058964" cy="1094430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241" name="Elbow Connector 240"/>
          <p:cNvCxnSpPr>
            <a:stCxn id="239" idx="1"/>
            <a:endCxn id="230" idx="1"/>
          </p:cNvCxnSpPr>
          <p:nvPr/>
        </p:nvCxnSpPr>
        <p:spPr bwMode="auto">
          <a:xfrm rot="10800000" flipH="1">
            <a:off x="5893635" y="4199047"/>
            <a:ext cx="860227" cy="748278"/>
          </a:xfrm>
          <a:prstGeom prst="bentConnector3">
            <a:avLst>
              <a:gd name="adj1" fmla="val 33661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42" name="Group 41"/>
          <p:cNvGrpSpPr/>
          <p:nvPr/>
        </p:nvGrpSpPr>
        <p:grpSpPr>
          <a:xfrm>
            <a:off x="6377497" y="3028047"/>
            <a:ext cx="1029110" cy="730584"/>
            <a:chOff x="6377497" y="3028047"/>
            <a:chExt cx="1029110" cy="730584"/>
          </a:xfrm>
        </p:grpSpPr>
        <p:sp>
          <p:nvSpPr>
            <p:cNvPr id="226" name="TextBox 225"/>
            <p:cNvSpPr txBox="1"/>
            <p:nvPr/>
          </p:nvSpPr>
          <p:spPr>
            <a:xfrm>
              <a:off x="6753864" y="3028047"/>
              <a:ext cx="6527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solidFill>
                    <a:srgbClr val="FF0000"/>
                  </a:solidFill>
                  <a:latin typeface="+mj-lt"/>
                </a:rPr>
                <a:t>Read</a:t>
              </a:r>
            </a:p>
            <a:p>
              <a:r>
                <a:rPr lang="en-US" sz="1100" dirty="0" smtClean="0">
                  <a:solidFill>
                    <a:srgbClr val="FF0000"/>
                  </a:solidFill>
                  <a:latin typeface="+mj-lt"/>
                </a:rPr>
                <a:t>address</a:t>
              </a:r>
            </a:p>
          </p:txBody>
        </p:sp>
        <p:sp>
          <p:nvSpPr>
            <p:cNvPr id="242" name="Oval 241"/>
            <p:cNvSpPr/>
            <p:nvPr/>
          </p:nvSpPr>
          <p:spPr bwMode="auto">
            <a:xfrm>
              <a:off x="6377497" y="3686159"/>
              <a:ext cx="72472" cy="72472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244" name="Elbow Connector 243"/>
            <p:cNvCxnSpPr>
              <a:stCxn id="242" idx="0"/>
              <a:endCxn id="226" idx="1"/>
            </p:cNvCxnSpPr>
            <p:nvPr/>
          </p:nvCxnSpPr>
          <p:spPr bwMode="auto">
            <a:xfrm rot="5400000" flipH="1" flipV="1">
              <a:off x="6362464" y="3294760"/>
              <a:ext cx="442668" cy="340131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sp>
        <p:nvSpPr>
          <p:cNvPr id="245" name="TextBox 244"/>
          <p:cNvSpPr txBox="1"/>
          <p:nvPr/>
        </p:nvSpPr>
        <p:spPr>
          <a:xfrm>
            <a:off x="4981746" y="4589699"/>
            <a:ext cx="5886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accent1"/>
                </a:solidFill>
                <a:latin typeface="+mj-lt"/>
              </a:rPr>
              <a:t>ALUSrc</a:t>
            </a:r>
            <a:endParaRPr lang="en-US" sz="1100" dirty="0" smtClean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246" name="Straight Connector 245"/>
          <p:cNvCxnSpPr>
            <a:stCxn id="218" idx="3"/>
          </p:cNvCxnSpPr>
          <p:nvPr/>
        </p:nvCxnSpPr>
        <p:spPr bwMode="auto">
          <a:xfrm>
            <a:off x="5199938" y="4328109"/>
            <a:ext cx="0" cy="245077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47" name="Group 246"/>
          <p:cNvGrpSpPr/>
          <p:nvPr/>
        </p:nvGrpSpPr>
        <p:grpSpPr>
          <a:xfrm>
            <a:off x="7073684" y="2631170"/>
            <a:ext cx="811441" cy="396877"/>
            <a:chOff x="4224400" y="2858356"/>
            <a:chExt cx="811441" cy="396877"/>
          </a:xfrm>
        </p:grpSpPr>
        <p:sp>
          <p:nvSpPr>
            <p:cNvPr id="248" name="TextBox 247"/>
            <p:cNvSpPr txBox="1"/>
            <p:nvPr/>
          </p:nvSpPr>
          <p:spPr>
            <a:xfrm>
              <a:off x="4224400" y="2858356"/>
              <a:ext cx="811441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MemWrite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249" name="Straight Connector 248"/>
            <p:cNvCxnSpPr>
              <a:stCxn id="248" idx="2"/>
              <a:endCxn id="225" idx="0"/>
            </p:cNvCxnSpPr>
            <p:nvPr/>
          </p:nvCxnSpPr>
          <p:spPr bwMode="auto">
            <a:xfrm flipH="1">
              <a:off x="4629214" y="3119966"/>
              <a:ext cx="907" cy="135267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50" name="TextBox 249"/>
          <p:cNvSpPr txBox="1"/>
          <p:nvPr/>
        </p:nvSpPr>
        <p:spPr>
          <a:xfrm>
            <a:off x="2230176" y="4670228"/>
            <a:ext cx="5854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accent1"/>
                </a:solidFill>
                <a:latin typeface="+mj-lt"/>
              </a:rPr>
              <a:t>RegDst</a:t>
            </a:r>
            <a:endParaRPr lang="en-US" sz="1100" dirty="0" smtClean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251" name="Straight Connector 250"/>
          <p:cNvCxnSpPr>
            <a:stCxn id="175" idx="3"/>
          </p:cNvCxnSpPr>
          <p:nvPr/>
        </p:nvCxnSpPr>
        <p:spPr bwMode="auto">
          <a:xfrm>
            <a:off x="2636512" y="4507032"/>
            <a:ext cx="0" cy="183078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4" name="Group 43"/>
          <p:cNvGrpSpPr/>
          <p:nvPr/>
        </p:nvGrpSpPr>
        <p:grpSpPr>
          <a:xfrm>
            <a:off x="3109506" y="2621744"/>
            <a:ext cx="5956547" cy="2041565"/>
            <a:chOff x="3109506" y="2621744"/>
            <a:chExt cx="5956547" cy="2041565"/>
          </a:xfrm>
        </p:grpSpPr>
        <p:sp>
          <p:nvSpPr>
            <p:cNvPr id="227" name="TextBox 226"/>
            <p:cNvSpPr txBox="1"/>
            <p:nvPr/>
          </p:nvSpPr>
          <p:spPr>
            <a:xfrm>
              <a:off x="7302975" y="3031250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solidFill>
                    <a:srgbClr val="FF0000"/>
                  </a:solidFill>
                  <a:latin typeface="+mj-lt"/>
                </a:rPr>
                <a:t>Read</a:t>
              </a:r>
            </a:p>
            <a:p>
              <a:pPr algn="r"/>
              <a:r>
                <a:rPr lang="en-US" sz="1100" dirty="0" smtClean="0">
                  <a:solidFill>
                    <a:srgbClr val="FF0000"/>
                  </a:solidFill>
                  <a:latin typeface="+mj-lt"/>
                </a:rPr>
                <a:t>data</a:t>
              </a:r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3109506" y="2621744"/>
              <a:ext cx="5956547" cy="2041565"/>
              <a:chOff x="3109506" y="2621744"/>
              <a:chExt cx="5956547" cy="2041565"/>
            </a:xfrm>
          </p:grpSpPr>
          <p:cxnSp>
            <p:nvCxnSpPr>
              <p:cNvPr id="200" name="Elbow Connector 199"/>
              <p:cNvCxnSpPr>
                <a:stCxn id="233" idx="0"/>
                <a:endCxn id="187" idx="1"/>
              </p:cNvCxnSpPr>
              <p:nvPr/>
            </p:nvCxnSpPr>
            <p:spPr bwMode="auto">
              <a:xfrm flipH="1">
                <a:off x="3109506" y="3453128"/>
                <a:ext cx="5615445" cy="1210181"/>
              </a:xfrm>
              <a:prstGeom prst="bentConnector5">
                <a:avLst>
                  <a:gd name="adj1" fmla="val -4071"/>
                  <a:gd name="adj2" fmla="val 184609"/>
                  <a:gd name="adj3" fmla="val 104071"/>
                </a:avLst>
              </a:prstGeom>
              <a:solidFill>
                <a:schemeClr val="bg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231" name="Straight Arrow Connector 230"/>
              <p:cNvCxnSpPr>
                <a:stCxn id="227" idx="3"/>
                <a:endCxn id="234" idx="3"/>
              </p:cNvCxnSpPr>
              <p:nvPr/>
            </p:nvCxnSpPr>
            <p:spPr bwMode="auto">
              <a:xfrm flipV="1">
                <a:off x="8201126" y="3246555"/>
                <a:ext cx="348522" cy="139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232" name="Group 231"/>
              <p:cNvGrpSpPr/>
              <p:nvPr/>
            </p:nvGrpSpPr>
            <p:grpSpPr>
              <a:xfrm>
                <a:off x="8544560" y="3131356"/>
                <a:ext cx="180391" cy="643543"/>
                <a:chOff x="3390790" y="3616963"/>
                <a:chExt cx="180391" cy="643543"/>
              </a:xfrm>
            </p:grpSpPr>
            <p:sp>
              <p:nvSpPr>
                <p:cNvPr id="233" name="Trapezoid 232"/>
                <p:cNvSpPr/>
                <p:nvPr/>
              </p:nvSpPr>
              <p:spPr bwMode="auto">
                <a:xfrm rot="5400000">
                  <a:off x="3159214" y="3848539"/>
                  <a:ext cx="643543" cy="180391"/>
                </a:xfrm>
                <a:prstGeom prst="trapezoid">
                  <a:avLst>
                    <a:gd name="adj" fmla="val 53513"/>
                  </a:avLst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9525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FF0000"/>
                    </a:solidFill>
                    <a:latin typeface="+mj-lt"/>
                  </a:endParaRPr>
                </a:p>
              </p:txBody>
            </p:sp>
            <p:sp>
              <p:nvSpPr>
                <p:cNvPr id="234" name="Rectangle 158"/>
                <p:cNvSpPr>
                  <a:spLocks noChangeArrowheads="1"/>
                </p:cNvSpPr>
                <p:nvPr/>
              </p:nvSpPr>
              <p:spPr bwMode="auto">
                <a:xfrm flipH="1">
                  <a:off x="3395878" y="3678301"/>
                  <a:ext cx="85107" cy="10772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dirty="0" smtClean="0">
                      <a:solidFill>
                        <a:srgbClr val="FF0000"/>
                      </a:solidFill>
                      <a:latin typeface="+mj-lt"/>
                    </a:rPr>
                    <a:t>1</a:t>
                  </a:r>
                  <a:endParaRPr lang="en-US" sz="700" dirty="0">
                    <a:solidFill>
                      <a:srgbClr val="FF0000"/>
                    </a:solidFill>
                    <a:latin typeface="+mj-lt"/>
                  </a:endParaRPr>
                </a:p>
              </p:txBody>
            </p:sp>
            <p:sp>
              <p:nvSpPr>
                <p:cNvPr id="235" name="Rectangle 159"/>
                <p:cNvSpPr>
                  <a:spLocks noChangeArrowheads="1"/>
                </p:cNvSpPr>
                <p:nvPr/>
              </p:nvSpPr>
              <p:spPr bwMode="auto">
                <a:xfrm flipH="1">
                  <a:off x="3395879" y="4095679"/>
                  <a:ext cx="85106" cy="10772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rgbClr val="FF0000"/>
                      </a:solidFill>
                      <a:latin typeface="+mj-lt"/>
                    </a:rPr>
                    <a:t>0</a:t>
                  </a:r>
                </a:p>
              </p:txBody>
            </p:sp>
            <p:sp>
              <p:nvSpPr>
                <p:cNvPr id="236" name="Rectangle 160"/>
                <p:cNvSpPr>
                  <a:spLocks noChangeArrowheads="1"/>
                </p:cNvSpPr>
                <p:nvPr/>
              </p:nvSpPr>
              <p:spPr bwMode="auto">
                <a:xfrm flipH="1">
                  <a:off x="3450365" y="3821794"/>
                  <a:ext cx="84960" cy="25853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FF0000"/>
                      </a:solidFill>
                      <a:latin typeface="+mj-lt"/>
                    </a:rPr>
                    <a:t>m</a:t>
                  </a:r>
                </a:p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FF0000"/>
                      </a:solidFill>
                      <a:latin typeface="+mj-lt"/>
                    </a:rPr>
                    <a:t>u</a:t>
                  </a:r>
                </a:p>
                <a:p>
                  <a:pPr algn="ctr">
                    <a:lnSpc>
                      <a:spcPct val="70000"/>
                    </a:lnSpc>
                  </a:pPr>
                  <a:r>
                    <a:rPr lang="en-US" sz="800" b="1" dirty="0">
                      <a:solidFill>
                        <a:srgbClr val="FF0000"/>
                      </a:solidFill>
                      <a:latin typeface="+mj-lt"/>
                    </a:rPr>
                    <a:t>x</a:t>
                  </a:r>
                  <a:endParaRPr lang="en-US" sz="500" dirty="0">
                    <a:solidFill>
                      <a:srgbClr val="FF0000"/>
                    </a:solidFill>
                    <a:latin typeface="+mj-lt"/>
                  </a:endParaRPr>
                </a:p>
              </p:txBody>
            </p:sp>
          </p:grpSp>
          <p:cxnSp>
            <p:nvCxnSpPr>
              <p:cNvPr id="243" name="Elbow Connector 242"/>
              <p:cNvCxnSpPr>
                <a:stCxn id="242" idx="4"/>
                <a:endCxn id="235" idx="3"/>
              </p:cNvCxnSpPr>
              <p:nvPr/>
            </p:nvCxnSpPr>
            <p:spPr bwMode="auto">
              <a:xfrm rot="5400000" flipH="1" flipV="1">
                <a:off x="7434342" y="2643324"/>
                <a:ext cx="94698" cy="2135916"/>
              </a:xfrm>
              <a:prstGeom prst="bentConnector4">
                <a:avLst>
                  <a:gd name="adj1" fmla="val -1239181"/>
                  <a:gd name="adj2" fmla="val 91518"/>
                </a:avLst>
              </a:prstGeom>
              <a:solidFill>
                <a:schemeClr val="bg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grpSp>
            <p:nvGrpSpPr>
              <p:cNvPr id="252" name="Group 251"/>
              <p:cNvGrpSpPr/>
              <p:nvPr/>
            </p:nvGrpSpPr>
            <p:grpSpPr>
              <a:xfrm>
                <a:off x="8208125" y="2621744"/>
                <a:ext cx="857928" cy="568038"/>
                <a:chOff x="4191631" y="2696431"/>
                <a:chExt cx="857928" cy="568038"/>
              </a:xfrm>
            </p:grpSpPr>
            <p:sp>
              <p:nvSpPr>
                <p:cNvPr id="253" name="TextBox 252"/>
                <p:cNvSpPr txBox="1"/>
                <p:nvPr/>
              </p:nvSpPr>
              <p:spPr>
                <a:xfrm>
                  <a:off x="4191631" y="2696431"/>
                  <a:ext cx="857928" cy="261610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sz="1100" dirty="0" err="1" smtClean="0">
                      <a:solidFill>
                        <a:schemeClr val="accent1"/>
                      </a:solidFill>
                      <a:latin typeface="+mj-lt"/>
                    </a:rPr>
                    <a:t>MemToReg</a:t>
                  </a:r>
                  <a:endParaRPr lang="en-US" sz="1100" dirty="0" smtClean="0">
                    <a:solidFill>
                      <a:schemeClr val="accent1"/>
                    </a:solidFill>
                    <a:latin typeface="+mj-lt"/>
                  </a:endParaRPr>
                </a:p>
              </p:txBody>
            </p:sp>
            <p:cxnSp>
              <p:nvCxnSpPr>
                <p:cNvPr id="254" name="Straight Connector 253"/>
                <p:cNvCxnSpPr>
                  <a:stCxn id="253" idx="2"/>
                  <a:endCxn id="233" idx="1"/>
                </p:cNvCxnSpPr>
                <p:nvPr/>
              </p:nvCxnSpPr>
              <p:spPr bwMode="auto">
                <a:xfrm flipH="1">
                  <a:off x="4618261" y="2958041"/>
                  <a:ext cx="2334" cy="306428"/>
                </a:xfrm>
                <a:prstGeom prst="line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8543249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I-type Branch Instructions </a:t>
            </a:r>
            <a:r>
              <a:rPr lang="en-US" dirty="0" smtClean="0"/>
              <a:t>(1)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8788" y="1024069"/>
            <a:ext cx="8502650" cy="2696284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Read </a:t>
            </a:r>
            <a:r>
              <a:rPr lang="en-US" sz="1600" dirty="0"/>
              <a:t>an instruction from the instruction </a:t>
            </a:r>
            <a:r>
              <a:rPr lang="en-US" sz="1600" dirty="0" smtClean="0"/>
              <a:t>memory by the address in PC</a:t>
            </a:r>
            <a:endParaRPr lang="en-US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The source registers, specified by </a:t>
            </a:r>
            <a:r>
              <a:rPr lang="en-US" sz="1600" dirty="0" smtClean="0"/>
              <a:t>fields </a:t>
            </a:r>
            <a:r>
              <a:rPr lang="en-US" sz="1600" b="1" dirty="0" err="1">
                <a:solidFill>
                  <a:schemeClr val="accent1"/>
                </a:solidFill>
              </a:rPr>
              <a:t>rs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and </a:t>
            </a:r>
            <a:r>
              <a:rPr lang="en-US" sz="1600" b="1" dirty="0" err="1">
                <a:solidFill>
                  <a:schemeClr val="accent1"/>
                </a:solidFill>
              </a:rPr>
              <a:t>rt</a:t>
            </a:r>
            <a:r>
              <a:rPr lang="en-US" sz="1600" dirty="0"/>
              <a:t>, </a:t>
            </a:r>
            <a:r>
              <a:rPr lang="en-US" sz="1600" dirty="0" smtClean="0"/>
              <a:t>are be </a:t>
            </a:r>
            <a:r>
              <a:rPr lang="en-US" sz="1600" dirty="0"/>
              <a:t>read from the register file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The signed offset is extended (from 16 to 32 bits) and shifted left by 2 (converted from words to bytes)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The address of the instruction after the branch is calculated (= PC + 4)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The target address of the branch is calculated as ((PC + 4) + (offset &lt;&lt; 2))</a:t>
            </a:r>
            <a:endParaRPr lang="en-US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The </a:t>
            </a:r>
            <a:r>
              <a:rPr lang="en-US" sz="1600" dirty="0"/>
              <a:t>ALU </a:t>
            </a:r>
            <a:r>
              <a:rPr lang="en-US" sz="1600" dirty="0" smtClean="0"/>
              <a:t>compares the source operands (does subtraction) and generate the condition code (==, &gt;, &lt;, etc.)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The PC is update by the address of the instruction after the branch or by the target address depending on the branch </a:t>
            </a:r>
            <a:r>
              <a:rPr lang="en-US" sz="1600" dirty="0" err="1" smtClean="0"/>
              <a:t>opcode</a:t>
            </a:r>
            <a:r>
              <a:rPr lang="en-US" sz="1600" dirty="0" smtClean="0"/>
              <a:t> and the condition code</a:t>
            </a:r>
            <a:endParaRPr lang="en-US" sz="1600" dirty="0"/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473217" y="4605133"/>
            <a:ext cx="2541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$t1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$t2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-0x0040</a:t>
            </a:r>
          </a:p>
          <a:p>
            <a:endParaRPr lang="en-US" sz="16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PC =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138518" y="5474942"/>
            <a:ext cx="3074894" cy="507122"/>
            <a:chOff x="3991091" y="4363319"/>
            <a:chExt cx="1385936" cy="507122"/>
          </a:xfrm>
        </p:grpSpPr>
        <p:sp>
          <p:nvSpPr>
            <p:cNvPr id="8" name="TextBox 7"/>
            <p:cNvSpPr txBox="1"/>
            <p:nvPr/>
          </p:nvSpPr>
          <p:spPr>
            <a:xfrm>
              <a:off x="4458173" y="4531887"/>
              <a:ext cx="4389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+mj-lt"/>
                </a:rPr>
                <a:t>condition</a:t>
              </a:r>
            </a:p>
          </p:txBody>
        </p:sp>
        <p:sp>
          <p:nvSpPr>
            <p:cNvPr id="9" name="Left Brace 8"/>
            <p:cNvSpPr/>
            <p:nvPr/>
          </p:nvSpPr>
          <p:spPr bwMode="auto">
            <a:xfrm rot="16200000" flipV="1">
              <a:off x="4589929" y="3764481"/>
              <a:ext cx="188259" cy="1385936"/>
            </a:xfrm>
            <a:prstGeom prst="leftBrace">
              <a:avLst>
                <a:gd name="adj1" fmla="val 30595"/>
                <a:gd name="adj2" fmla="val 50000"/>
              </a:avLst>
            </a:prstGeom>
            <a:solidFill>
              <a:schemeClr val="bg1"/>
            </a:solidFill>
            <a:ln w="1270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518212" y="5474942"/>
            <a:ext cx="3074894" cy="507122"/>
            <a:chOff x="3991091" y="4363319"/>
            <a:chExt cx="1385936" cy="507122"/>
          </a:xfrm>
        </p:grpSpPr>
        <p:sp>
          <p:nvSpPr>
            <p:cNvPr id="11" name="TextBox 10"/>
            <p:cNvSpPr txBox="1"/>
            <p:nvPr/>
          </p:nvSpPr>
          <p:spPr>
            <a:xfrm>
              <a:off x="4367888" y="4531887"/>
              <a:ext cx="6195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t</a:t>
              </a:r>
              <a:r>
                <a:rPr lang="en-US" sz="1600" dirty="0" smtClean="0">
                  <a:latin typeface="+mj-lt"/>
                </a:rPr>
                <a:t>arget address</a:t>
              </a:r>
            </a:p>
          </p:txBody>
        </p:sp>
        <p:sp>
          <p:nvSpPr>
            <p:cNvPr id="12" name="Left Brace 11"/>
            <p:cNvSpPr/>
            <p:nvPr/>
          </p:nvSpPr>
          <p:spPr bwMode="auto">
            <a:xfrm rot="16200000" flipV="1">
              <a:off x="4589929" y="3764481"/>
              <a:ext cx="188259" cy="1385936"/>
            </a:xfrm>
            <a:prstGeom prst="leftBrace">
              <a:avLst>
                <a:gd name="adj1" fmla="val 30595"/>
                <a:gd name="adj2" fmla="val 50000"/>
              </a:avLst>
            </a:prstGeom>
            <a:solidFill>
              <a:schemeClr val="bg1"/>
            </a:solidFill>
            <a:ln w="1270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186141" y="4234677"/>
            <a:ext cx="1775297" cy="816436"/>
            <a:chOff x="3793818" y="4228219"/>
            <a:chExt cx="1775297" cy="816436"/>
          </a:xfrm>
        </p:grpSpPr>
        <p:sp>
          <p:nvSpPr>
            <p:cNvPr id="14" name="TextBox 13"/>
            <p:cNvSpPr txBox="1"/>
            <p:nvPr/>
          </p:nvSpPr>
          <p:spPr>
            <a:xfrm>
              <a:off x="3793818" y="4228219"/>
              <a:ext cx="1775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latin typeface="+mj-lt"/>
                </a:rPr>
                <a:t>a</a:t>
              </a:r>
              <a:r>
                <a:rPr lang="en-US" sz="1600" dirty="0" smtClean="0">
                  <a:latin typeface="+mj-lt"/>
                </a:rPr>
                <a:t>ddress of the next instruction</a:t>
              </a:r>
            </a:p>
          </p:txBody>
        </p:sp>
        <p:sp>
          <p:nvSpPr>
            <p:cNvPr id="15" name="Left Brace 14"/>
            <p:cNvSpPr/>
            <p:nvPr/>
          </p:nvSpPr>
          <p:spPr bwMode="auto">
            <a:xfrm rot="5400000">
              <a:off x="4857574" y="4525202"/>
              <a:ext cx="188260" cy="850646"/>
            </a:xfrm>
            <a:prstGeom prst="leftBrace">
              <a:avLst>
                <a:gd name="adj1" fmla="val 30595"/>
                <a:gd name="adj2" fmla="val 72086"/>
              </a:avLst>
            </a:prstGeom>
            <a:solidFill>
              <a:schemeClr val="bg1"/>
            </a:solidFill>
            <a:ln w="1270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4223570" y="5108183"/>
            <a:ext cx="35183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 ((PC + 4) + (-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0x0040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2</a:t>
            </a:r>
            <a:r>
              <a:rPr lang="en-US" sz="1600" dirty="0" smtClean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endParaRPr lang="en-US" sz="1600" dirty="0">
              <a:solidFill>
                <a:srgbClr val="06192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72785" y="5105908"/>
            <a:ext cx="13067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(PC + 4)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2687" y="5106099"/>
            <a:ext cx="33265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071C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$t1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–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$t2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 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 0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3917148" y="4264131"/>
            <a:ext cx="2124281" cy="846129"/>
            <a:chOff x="3274916" y="4384297"/>
            <a:chExt cx="2124281" cy="846129"/>
          </a:xfrm>
        </p:grpSpPr>
        <p:sp>
          <p:nvSpPr>
            <p:cNvPr id="23" name="TextBox 22"/>
            <p:cNvSpPr txBox="1"/>
            <p:nvPr/>
          </p:nvSpPr>
          <p:spPr>
            <a:xfrm>
              <a:off x="3475782" y="4384297"/>
              <a:ext cx="19234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+mj-lt"/>
                </a:rPr>
                <a:t>d</a:t>
              </a:r>
              <a:r>
                <a:rPr lang="en-US" sz="1600" dirty="0" smtClean="0">
                  <a:latin typeface="+mj-lt"/>
                </a:rPr>
                <a:t>epends on the branch </a:t>
              </a:r>
              <a:r>
                <a:rPr lang="en-US" sz="1600" dirty="0" err="1" smtClean="0">
                  <a:latin typeface="+mj-lt"/>
                </a:rPr>
                <a:t>opcode</a:t>
              </a:r>
              <a:endParaRPr lang="en-US" sz="1600" dirty="0" smtClean="0">
                <a:latin typeface="+mj-lt"/>
              </a:endParaRPr>
            </a:p>
          </p:txBody>
        </p:sp>
        <p:cxnSp>
          <p:nvCxnSpPr>
            <p:cNvPr id="24" name="Straight Arrow Connector 23"/>
            <p:cNvCxnSpPr/>
            <p:nvPr/>
          </p:nvCxnSpPr>
          <p:spPr bwMode="auto">
            <a:xfrm flipH="1">
              <a:off x="3274916" y="4923871"/>
              <a:ext cx="237744" cy="306555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067682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</p:bldLst>
  </p:timing>
  <p:extLst mod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Executing I-type Branch Instructions (2)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54671" y="2994625"/>
            <a:ext cx="1622694" cy="1386326"/>
            <a:chOff x="1738845" y="3229513"/>
            <a:chExt cx="1622694" cy="1386326"/>
          </a:xfrm>
        </p:grpSpPr>
        <p:grpSp>
          <p:nvGrpSpPr>
            <p:cNvPr id="130" name="Group 129"/>
            <p:cNvGrpSpPr/>
            <p:nvPr/>
          </p:nvGrpSpPr>
          <p:grpSpPr>
            <a:xfrm>
              <a:off x="1738845" y="3229513"/>
              <a:ext cx="1447262" cy="1386326"/>
              <a:chOff x="3124738" y="3598050"/>
              <a:chExt cx="1447262" cy="1386326"/>
            </a:xfrm>
          </p:grpSpPr>
          <p:sp>
            <p:nvSpPr>
              <p:cNvPr id="132" name="Rectangle 131"/>
              <p:cNvSpPr/>
              <p:nvPr/>
            </p:nvSpPr>
            <p:spPr bwMode="auto">
              <a:xfrm>
                <a:off x="3126744" y="3598050"/>
                <a:ext cx="1445256" cy="1386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3124738" y="3598050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 smtClean="0">
                    <a:latin typeface="+mj-lt"/>
                  </a:rPr>
                  <a:t>address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3673849" y="3601253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Instruction [31-0]</a:t>
                </a: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3430026" y="4147773"/>
                <a:ext cx="8386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+mj-lt"/>
                  </a:rPr>
                  <a:t>Memory</a:t>
                </a:r>
              </a:p>
            </p:txBody>
          </p:sp>
        </p:grpSp>
        <p:cxnSp>
          <p:nvCxnSpPr>
            <p:cNvPr id="131" name="Straight Arrow Connector 130"/>
            <p:cNvCxnSpPr>
              <a:stCxn id="134" idx="3"/>
            </p:cNvCxnSpPr>
            <p:nvPr/>
          </p:nvCxnSpPr>
          <p:spPr bwMode="auto">
            <a:xfrm>
              <a:off x="3186107" y="3448160"/>
              <a:ext cx="175432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grpSp>
        <p:nvGrpSpPr>
          <p:cNvPr id="6" name="Group 5"/>
          <p:cNvGrpSpPr/>
          <p:nvPr/>
        </p:nvGrpSpPr>
        <p:grpSpPr>
          <a:xfrm>
            <a:off x="2546317" y="3911755"/>
            <a:ext cx="180391" cy="643543"/>
            <a:chOff x="3390790" y="3616963"/>
            <a:chExt cx="180391" cy="643543"/>
          </a:xfrm>
        </p:grpSpPr>
        <p:sp>
          <p:nvSpPr>
            <p:cNvPr id="126" name="Trapezoid 125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7" name="Rectangle 158"/>
            <p:cNvSpPr>
              <a:spLocks noChangeArrowheads="1"/>
            </p:cNvSpPr>
            <p:nvPr/>
          </p:nvSpPr>
          <p:spPr bwMode="auto">
            <a:xfrm flipH="1">
              <a:off x="3395878" y="3678301"/>
              <a:ext cx="85107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28" name="Rectangle 159"/>
            <p:cNvSpPr>
              <a:spLocks noChangeArrowheads="1"/>
            </p:cNvSpPr>
            <p:nvPr/>
          </p:nvSpPr>
          <p:spPr bwMode="auto">
            <a:xfrm flipH="1">
              <a:off x="3395879" y="4095679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29" name="Rectangle 160"/>
            <p:cNvSpPr>
              <a:spLocks noChangeArrowheads="1"/>
            </p:cNvSpPr>
            <p:nvPr/>
          </p:nvSpPr>
          <p:spPr bwMode="auto">
            <a:xfrm flipH="1">
              <a:off x="3450365" y="3821794"/>
              <a:ext cx="84960" cy="2585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x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107902" y="3005501"/>
            <a:ext cx="1552498" cy="1873251"/>
            <a:chOff x="4488424" y="3657632"/>
            <a:chExt cx="1552498" cy="1873251"/>
          </a:xfrm>
        </p:grpSpPr>
        <p:sp>
          <p:nvSpPr>
            <p:cNvPr id="117" name="Rectangle 116"/>
            <p:cNvSpPr/>
            <p:nvPr/>
          </p:nvSpPr>
          <p:spPr bwMode="auto">
            <a:xfrm>
              <a:off x="4490028" y="3657632"/>
              <a:ext cx="1550894" cy="18706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490028" y="3657633"/>
              <a:ext cx="728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Read</a:t>
              </a:r>
            </a:p>
            <a:p>
              <a:r>
                <a:rPr lang="en-US" sz="1100" dirty="0">
                  <a:latin typeface="+mj-lt"/>
                </a:rPr>
                <a:t>r</a:t>
              </a:r>
              <a:r>
                <a:rPr lang="en-US" sz="1100" dirty="0" smtClean="0">
                  <a:latin typeface="+mj-lt"/>
                </a:rPr>
                <a:t>egister </a:t>
              </a:r>
              <a:r>
                <a:rPr lang="en-US" sz="1100" b="1" dirty="0" smtClean="0">
                  <a:latin typeface="+mj-lt"/>
                </a:rPr>
                <a:t>1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142771" y="3660836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+mj-lt"/>
                </a:rPr>
                <a:t>Read</a:t>
              </a:r>
            </a:p>
            <a:p>
              <a:pPr algn="r"/>
              <a:r>
                <a:rPr lang="en-US" sz="1100" dirty="0">
                  <a:latin typeface="+mj-lt"/>
                </a:rPr>
                <a:t>d</a:t>
              </a:r>
              <a:r>
                <a:rPr lang="en-US" sz="1100" dirty="0" smtClean="0">
                  <a:latin typeface="+mj-lt"/>
                </a:rPr>
                <a:t>ata </a:t>
              </a:r>
              <a:r>
                <a:rPr lang="en-US" sz="1100" b="1" dirty="0" smtClean="0">
                  <a:latin typeface="+mj-lt"/>
                </a:rPr>
                <a:t>1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141166" y="5220532"/>
              <a:ext cx="8429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+mj-lt"/>
                </a:rPr>
                <a:t>Registers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490028" y="4132149"/>
              <a:ext cx="728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Read</a:t>
              </a:r>
            </a:p>
            <a:p>
              <a:r>
                <a:rPr lang="en-US" sz="1100" dirty="0">
                  <a:latin typeface="+mj-lt"/>
                </a:rPr>
                <a:t>r</a:t>
              </a:r>
              <a:r>
                <a:rPr lang="en-US" sz="1100" dirty="0" smtClean="0">
                  <a:latin typeface="+mj-lt"/>
                </a:rPr>
                <a:t>egister </a:t>
              </a:r>
              <a:r>
                <a:rPr lang="en-US" sz="1100" b="1" dirty="0" smtClean="0">
                  <a:latin typeface="+mj-lt"/>
                </a:rPr>
                <a:t>2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5142771" y="4285847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+mj-lt"/>
                </a:rPr>
                <a:t>Read</a:t>
              </a:r>
            </a:p>
            <a:p>
              <a:pPr algn="r"/>
              <a:r>
                <a:rPr lang="en-US" sz="1100" dirty="0">
                  <a:latin typeface="+mj-lt"/>
                </a:rPr>
                <a:t>d</a:t>
              </a:r>
              <a:r>
                <a:rPr lang="en-US" sz="1100" dirty="0" smtClean="0">
                  <a:latin typeface="+mj-lt"/>
                </a:rPr>
                <a:t>ata </a:t>
              </a:r>
              <a:r>
                <a:rPr lang="en-US" sz="1100" b="1" dirty="0">
                  <a:latin typeface="+mj-lt"/>
                </a:rPr>
                <a:t>2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4488424" y="4669109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register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490028" y="5099996"/>
              <a:ext cx="5068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data</a:t>
              </a:r>
              <a:endParaRPr lang="en-US" sz="1100" b="1" dirty="0" smtClean="0">
                <a:latin typeface="+mj-lt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5194990" y="3666551"/>
              <a:ext cx="133350" cy="1333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513352" y="2631170"/>
            <a:ext cx="739305" cy="393410"/>
            <a:chOff x="4262754" y="2858356"/>
            <a:chExt cx="739305" cy="393410"/>
          </a:xfrm>
        </p:grpSpPr>
        <p:sp>
          <p:nvSpPr>
            <p:cNvPr id="115" name="TextBox 114"/>
            <p:cNvSpPr txBox="1"/>
            <p:nvPr/>
          </p:nvSpPr>
          <p:spPr>
            <a:xfrm>
              <a:off x="4262754" y="2858356"/>
              <a:ext cx="739305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RegWrite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16" name="Straight Connector 115"/>
            <p:cNvCxnSpPr>
              <a:stCxn id="115" idx="2"/>
              <a:endCxn id="125" idx="0"/>
            </p:cNvCxnSpPr>
            <p:nvPr/>
          </p:nvCxnSpPr>
          <p:spPr bwMode="auto">
            <a:xfrm flipH="1">
              <a:off x="4630545" y="3119966"/>
              <a:ext cx="1862" cy="13180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9" name="Straight Arrow Connector 8"/>
          <p:cNvCxnSpPr>
            <a:stCxn id="119" idx="3"/>
            <a:endCxn id="111" idx="1"/>
          </p:cNvCxnSpPr>
          <p:nvPr/>
        </p:nvCxnSpPr>
        <p:spPr bwMode="auto">
          <a:xfrm flipV="1">
            <a:off x="4660400" y="3220415"/>
            <a:ext cx="785405" cy="373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09" name="Freeform 127"/>
          <p:cNvSpPr>
            <a:spLocks/>
          </p:cNvSpPr>
          <p:nvPr/>
        </p:nvSpPr>
        <p:spPr bwMode="auto">
          <a:xfrm>
            <a:off x="5454882" y="2909792"/>
            <a:ext cx="727535" cy="1439797"/>
          </a:xfrm>
          <a:custGeom>
            <a:avLst/>
            <a:gdLst>
              <a:gd name="T0" fmla="*/ 0 w 210"/>
              <a:gd name="T1" fmla="*/ 0 h 413"/>
              <a:gd name="T2" fmla="*/ 0 w 210"/>
              <a:gd name="T3" fmla="*/ 167 h 413"/>
              <a:gd name="T4" fmla="*/ 91 w 210"/>
              <a:gd name="T5" fmla="*/ 207 h 413"/>
              <a:gd name="T6" fmla="*/ 0 w 210"/>
              <a:gd name="T7" fmla="*/ 245 h 413"/>
              <a:gd name="T8" fmla="*/ 0 w 210"/>
              <a:gd name="T9" fmla="*/ 412 h 413"/>
              <a:gd name="T10" fmla="*/ 284 w 210"/>
              <a:gd name="T11" fmla="*/ 286 h 413"/>
              <a:gd name="T12" fmla="*/ 284 w 210"/>
              <a:gd name="T13" fmla="*/ 127 h 413"/>
              <a:gd name="T14" fmla="*/ 0 w 210"/>
              <a:gd name="T15" fmla="*/ 0 h 413"/>
              <a:gd name="T16" fmla="*/ 0 w 210"/>
              <a:gd name="T17" fmla="*/ 0 h 41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10"/>
              <a:gd name="T28" fmla="*/ 0 h 413"/>
              <a:gd name="T29" fmla="*/ 210 w 210"/>
              <a:gd name="T30" fmla="*/ 413 h 41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10" h="413">
                <a:moveTo>
                  <a:pt x="0" y="0"/>
                </a:moveTo>
                <a:lnTo>
                  <a:pt x="0" y="167"/>
                </a:lnTo>
                <a:lnTo>
                  <a:pt x="67" y="207"/>
                </a:lnTo>
                <a:lnTo>
                  <a:pt x="0" y="245"/>
                </a:lnTo>
                <a:lnTo>
                  <a:pt x="0" y="412"/>
                </a:lnTo>
                <a:lnTo>
                  <a:pt x="209" y="286"/>
                </a:lnTo>
                <a:lnTo>
                  <a:pt x="209" y="127"/>
                </a:lnTo>
                <a:lnTo>
                  <a:pt x="0" y="0"/>
                </a:lnTo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454882" y="3180546"/>
            <a:ext cx="36376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 smtClean="0">
                <a:latin typeface="+mj-lt"/>
              </a:rPr>
              <a:t>ALU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45805" y="3135776"/>
            <a:ext cx="15548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 smtClean="0">
                <a:latin typeface="+mj-lt"/>
              </a:rPr>
              <a:t>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54022" y="3960179"/>
            <a:ext cx="15548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 smtClean="0">
                <a:latin typeface="+mj-lt"/>
              </a:rPr>
              <a:t>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95918" y="3588843"/>
            <a:ext cx="481419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Result</a:t>
            </a:r>
            <a:endParaRPr lang="en-US" sz="1100" b="1" dirty="0" smtClean="0">
              <a:latin typeface="+mj-lt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818649" y="3345072"/>
            <a:ext cx="35868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b="1" dirty="0" smtClean="0">
                <a:solidFill>
                  <a:srgbClr val="FF0000"/>
                </a:solidFill>
                <a:latin typeface="+mj-lt"/>
              </a:rPr>
              <a:t>Zero</a:t>
            </a:r>
          </a:p>
        </p:txBody>
      </p:sp>
      <p:cxnSp>
        <p:nvCxnSpPr>
          <p:cNvPr id="11" name="Elbow Connector 10"/>
          <p:cNvCxnSpPr>
            <a:stCxn id="122" idx="3"/>
            <a:endCxn id="104" idx="3"/>
          </p:cNvCxnSpPr>
          <p:nvPr/>
        </p:nvCxnSpPr>
        <p:spPr bwMode="auto">
          <a:xfrm flipV="1">
            <a:off x="4660400" y="3848031"/>
            <a:ext cx="454431" cy="1129"/>
          </a:xfrm>
          <a:prstGeom prst="bentConnector3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2" name="Elbow Connector 11"/>
          <p:cNvCxnSpPr>
            <a:stCxn id="93" idx="0"/>
            <a:endCxn id="124" idx="1"/>
          </p:cNvCxnSpPr>
          <p:nvPr/>
        </p:nvCxnSpPr>
        <p:spPr bwMode="auto">
          <a:xfrm flipH="1">
            <a:off x="3109506" y="3453128"/>
            <a:ext cx="5615445" cy="1210181"/>
          </a:xfrm>
          <a:prstGeom prst="bentConnector5">
            <a:avLst>
              <a:gd name="adj1" fmla="val -4071"/>
              <a:gd name="adj2" fmla="val 184609"/>
              <a:gd name="adj3" fmla="val 104071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3" name="Oval 12"/>
          <p:cNvSpPr/>
          <p:nvPr/>
        </p:nvSpPr>
        <p:spPr bwMode="auto">
          <a:xfrm>
            <a:off x="1743407" y="3183822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14" name="Straight Arrow Connector 13"/>
          <p:cNvCxnSpPr>
            <a:stCxn id="13" idx="6"/>
            <a:endCxn id="118" idx="1"/>
          </p:cNvCxnSpPr>
          <p:nvPr/>
        </p:nvCxnSpPr>
        <p:spPr bwMode="auto">
          <a:xfrm>
            <a:off x="1815879" y="3220058"/>
            <a:ext cx="1293627" cy="88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5" name="Elbow Connector 14"/>
          <p:cNvCxnSpPr>
            <a:stCxn id="13" idx="4"/>
            <a:endCxn id="121" idx="1"/>
          </p:cNvCxnSpPr>
          <p:nvPr/>
        </p:nvCxnSpPr>
        <p:spPr bwMode="auto">
          <a:xfrm rot="16200000" flipH="1">
            <a:off x="2224990" y="2810946"/>
            <a:ext cx="439168" cy="132986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6" name="Elbow Connector 15"/>
          <p:cNvCxnSpPr>
            <a:stCxn id="13" idx="4"/>
            <a:endCxn id="128" idx="3"/>
          </p:cNvCxnSpPr>
          <p:nvPr/>
        </p:nvCxnSpPr>
        <p:spPr bwMode="auto">
          <a:xfrm rot="16200000" flipH="1">
            <a:off x="1571505" y="3464431"/>
            <a:ext cx="1188038" cy="77176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1790302" y="2940272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[25-21]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2438" y="3413550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[20-16]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9821" y="4157483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[15-11]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542593" y="4068255"/>
            <a:ext cx="580608" cy="532039"/>
            <a:chOff x="6598319" y="4283249"/>
            <a:chExt cx="580608" cy="532039"/>
          </a:xfrm>
        </p:grpSpPr>
        <p:sp>
          <p:nvSpPr>
            <p:cNvPr id="107" name="TextBox 106"/>
            <p:cNvSpPr txBox="1"/>
            <p:nvPr/>
          </p:nvSpPr>
          <p:spPr>
            <a:xfrm>
              <a:off x="6598319" y="4553678"/>
              <a:ext cx="5806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ALUop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08" name="Straight Connector 107"/>
            <p:cNvCxnSpPr/>
            <p:nvPr/>
          </p:nvCxnSpPr>
          <p:spPr bwMode="auto">
            <a:xfrm flipH="1">
              <a:off x="6967969" y="4283249"/>
              <a:ext cx="32" cy="272672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1" name="Oval 20"/>
          <p:cNvSpPr/>
          <p:nvPr/>
        </p:nvSpPr>
        <p:spPr bwMode="auto">
          <a:xfrm>
            <a:off x="2289085" y="3662429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22" name="Elbow Connector 21"/>
          <p:cNvCxnSpPr>
            <a:stCxn id="21" idx="4"/>
            <a:endCxn id="127" idx="3"/>
          </p:cNvCxnSpPr>
          <p:nvPr/>
        </p:nvCxnSpPr>
        <p:spPr bwMode="auto">
          <a:xfrm rot="16200000" flipH="1">
            <a:off x="2292337" y="3767885"/>
            <a:ext cx="292053" cy="226084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3" name="Straight Arrow Connector 22"/>
          <p:cNvCxnSpPr>
            <a:stCxn id="126" idx="0"/>
            <a:endCxn id="123" idx="1"/>
          </p:cNvCxnSpPr>
          <p:nvPr/>
        </p:nvCxnSpPr>
        <p:spPr bwMode="auto">
          <a:xfrm flipV="1">
            <a:off x="2726708" y="4232422"/>
            <a:ext cx="381194" cy="110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4" name="Rounded Rectangle 23"/>
          <p:cNvSpPr/>
          <p:nvPr/>
        </p:nvSpPr>
        <p:spPr bwMode="auto">
          <a:xfrm>
            <a:off x="3435075" y="5078121"/>
            <a:ext cx="953678" cy="27388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100" dirty="0" smtClean="0">
                <a:latin typeface="+mj-lt"/>
                <a:cs typeface="Arial" pitchFamily="34" charset="0"/>
              </a:rPr>
              <a:t>Sign extend</a:t>
            </a:r>
            <a:endParaRPr lang="en-US" sz="1100" dirty="0">
              <a:latin typeface="+mj-lt"/>
              <a:cs typeface="Arial" pitchFamily="34" charset="0"/>
            </a:endParaRPr>
          </a:p>
        </p:txBody>
      </p:sp>
      <p:cxnSp>
        <p:nvCxnSpPr>
          <p:cNvPr id="25" name="Elbow Connector 24"/>
          <p:cNvCxnSpPr>
            <a:stCxn id="13" idx="4"/>
            <a:endCxn id="24" idx="1"/>
          </p:cNvCxnSpPr>
          <p:nvPr/>
        </p:nvCxnSpPr>
        <p:spPr bwMode="auto">
          <a:xfrm rot="16200000" flipH="1">
            <a:off x="1627975" y="3407962"/>
            <a:ext cx="1958769" cy="1655432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782438" y="4940107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+mj-lt"/>
              </a:rPr>
              <a:t>I [15-0]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109743" y="3732832"/>
            <a:ext cx="180391" cy="643543"/>
            <a:chOff x="3390790" y="3616963"/>
            <a:chExt cx="180391" cy="643543"/>
          </a:xfrm>
        </p:grpSpPr>
        <p:sp>
          <p:nvSpPr>
            <p:cNvPr id="103" name="Trapezoid 102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4" name="Rectangle 158"/>
            <p:cNvSpPr>
              <a:spLocks noChangeArrowheads="1"/>
            </p:cNvSpPr>
            <p:nvPr/>
          </p:nvSpPr>
          <p:spPr bwMode="auto">
            <a:xfrm flipH="1">
              <a:off x="3395878" y="3678301"/>
              <a:ext cx="85107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05" name="Rectangle 159"/>
            <p:cNvSpPr>
              <a:spLocks noChangeArrowheads="1"/>
            </p:cNvSpPr>
            <p:nvPr/>
          </p:nvSpPr>
          <p:spPr bwMode="auto">
            <a:xfrm flipH="1">
              <a:off x="3395879" y="4095679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06" name="Rectangle 160"/>
            <p:cNvSpPr>
              <a:spLocks noChangeArrowheads="1"/>
            </p:cNvSpPr>
            <p:nvPr/>
          </p:nvSpPr>
          <p:spPr bwMode="auto">
            <a:xfrm flipH="1">
              <a:off x="3450365" y="3821794"/>
              <a:ext cx="84960" cy="2585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x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</p:grpSp>
      <p:cxnSp>
        <p:nvCxnSpPr>
          <p:cNvPr id="28" name="Straight Arrow Connector 27"/>
          <p:cNvCxnSpPr>
            <a:stCxn id="103" idx="0"/>
            <a:endCxn id="112" idx="1"/>
          </p:cNvCxnSpPr>
          <p:nvPr/>
        </p:nvCxnSpPr>
        <p:spPr bwMode="auto">
          <a:xfrm flipV="1">
            <a:off x="5290134" y="4044818"/>
            <a:ext cx="163888" cy="9786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9" name="Elbow Connector 28"/>
          <p:cNvCxnSpPr>
            <a:stCxn id="24" idx="3"/>
            <a:endCxn id="41" idx="4"/>
          </p:cNvCxnSpPr>
          <p:nvPr/>
        </p:nvCxnSpPr>
        <p:spPr bwMode="auto">
          <a:xfrm flipV="1">
            <a:off x="4388753" y="4300834"/>
            <a:ext cx="557649" cy="914229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0" name="Group 29"/>
          <p:cNvGrpSpPr/>
          <p:nvPr/>
        </p:nvGrpSpPr>
        <p:grpSpPr>
          <a:xfrm>
            <a:off x="6753863" y="3028047"/>
            <a:ext cx="1447263" cy="1386443"/>
            <a:chOff x="3124737" y="3598050"/>
            <a:chExt cx="1447263" cy="1386443"/>
          </a:xfrm>
        </p:grpSpPr>
        <p:sp>
          <p:nvSpPr>
            <p:cNvPr id="97" name="Rectangle 96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124738" y="3598050"/>
              <a:ext cx="6527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Read</a:t>
              </a:r>
            </a:p>
            <a:p>
              <a:r>
                <a:rPr lang="en-US" sz="1100" dirty="0" smtClean="0">
                  <a:latin typeface="+mj-lt"/>
                </a:rPr>
                <a:t>address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673849" y="3601253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+mj-lt"/>
                </a:rPr>
                <a:t>Read</a:t>
              </a:r>
            </a:p>
            <a:p>
              <a:pPr algn="r"/>
              <a:r>
                <a:rPr lang="en-US" sz="1100" dirty="0" smtClean="0">
                  <a:latin typeface="+mj-lt"/>
                </a:rPr>
                <a:t>data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733308" y="4674175"/>
              <a:ext cx="8386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+mj-lt"/>
                </a:rPr>
                <a:t>Memory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3126744" y="4073403"/>
              <a:ext cx="6527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address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124737" y="4553606"/>
              <a:ext cx="5068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+mj-lt"/>
                </a:rPr>
                <a:t>Write</a:t>
              </a:r>
            </a:p>
            <a:p>
              <a:r>
                <a:rPr lang="en-US" sz="1100" dirty="0" smtClean="0">
                  <a:latin typeface="+mj-lt"/>
                </a:rPr>
                <a:t>data</a:t>
              </a:r>
            </a:p>
          </p:txBody>
        </p:sp>
      </p:grpSp>
      <p:cxnSp>
        <p:nvCxnSpPr>
          <p:cNvPr id="31" name="Straight Arrow Connector 30"/>
          <p:cNvCxnSpPr>
            <a:stCxn id="99" idx="3"/>
            <a:endCxn id="94" idx="3"/>
          </p:cNvCxnSpPr>
          <p:nvPr/>
        </p:nvCxnSpPr>
        <p:spPr bwMode="auto">
          <a:xfrm flipV="1">
            <a:off x="8201126" y="3246555"/>
            <a:ext cx="348522" cy="139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32" name="Group 31"/>
          <p:cNvGrpSpPr/>
          <p:nvPr/>
        </p:nvGrpSpPr>
        <p:grpSpPr>
          <a:xfrm>
            <a:off x="8544560" y="3131356"/>
            <a:ext cx="180391" cy="643543"/>
            <a:chOff x="3390790" y="3616963"/>
            <a:chExt cx="180391" cy="643543"/>
          </a:xfrm>
        </p:grpSpPr>
        <p:sp>
          <p:nvSpPr>
            <p:cNvPr id="93" name="Trapezoid 92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4" name="Rectangle 158"/>
            <p:cNvSpPr>
              <a:spLocks noChangeArrowheads="1"/>
            </p:cNvSpPr>
            <p:nvPr/>
          </p:nvSpPr>
          <p:spPr bwMode="auto">
            <a:xfrm flipH="1">
              <a:off x="3395878" y="3678301"/>
              <a:ext cx="85107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dirty="0" smtClean="0">
                  <a:solidFill>
                    <a:srgbClr val="000000"/>
                  </a:solidFill>
                  <a:latin typeface="+mj-lt"/>
                </a:rPr>
                <a:t>1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95" name="Rectangle 159"/>
            <p:cNvSpPr>
              <a:spLocks noChangeArrowheads="1"/>
            </p:cNvSpPr>
            <p:nvPr/>
          </p:nvSpPr>
          <p:spPr bwMode="auto">
            <a:xfrm flipH="1">
              <a:off x="3395879" y="4095679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0</a:t>
              </a:r>
            </a:p>
          </p:txBody>
        </p:sp>
        <p:sp>
          <p:nvSpPr>
            <p:cNvPr id="96" name="Rectangle 160"/>
            <p:cNvSpPr>
              <a:spLocks noChangeArrowheads="1"/>
            </p:cNvSpPr>
            <p:nvPr/>
          </p:nvSpPr>
          <p:spPr bwMode="auto">
            <a:xfrm flipH="1">
              <a:off x="3450365" y="3821794"/>
              <a:ext cx="84960" cy="2585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x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</p:grpSp>
      <p:cxnSp>
        <p:nvCxnSpPr>
          <p:cNvPr id="33" name="Straight Arrow Connector 32"/>
          <p:cNvCxnSpPr>
            <a:stCxn id="113" idx="3"/>
            <a:endCxn id="101" idx="1"/>
          </p:cNvCxnSpPr>
          <p:nvPr/>
        </p:nvCxnSpPr>
        <p:spPr bwMode="auto">
          <a:xfrm flipV="1">
            <a:off x="6177337" y="3718844"/>
            <a:ext cx="578533" cy="80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34" name="Oval 33"/>
          <p:cNvSpPr/>
          <p:nvPr/>
        </p:nvSpPr>
        <p:spPr bwMode="auto">
          <a:xfrm>
            <a:off x="4762970" y="3815889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93636" y="4885769"/>
            <a:ext cx="95539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" dirty="0" smtClean="0">
                <a:latin typeface="+mj-lt"/>
              </a:rPr>
              <a:t> </a:t>
            </a:r>
          </a:p>
        </p:txBody>
      </p:sp>
      <p:cxnSp>
        <p:nvCxnSpPr>
          <p:cNvPr id="36" name="Elbow Connector 35"/>
          <p:cNvCxnSpPr>
            <a:stCxn id="34" idx="4"/>
            <a:endCxn id="35" idx="1"/>
          </p:cNvCxnSpPr>
          <p:nvPr/>
        </p:nvCxnSpPr>
        <p:spPr bwMode="auto">
          <a:xfrm rot="16200000" flipH="1">
            <a:off x="4816939" y="3870628"/>
            <a:ext cx="1058964" cy="1094430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37" name="Elbow Connector 36"/>
          <p:cNvCxnSpPr>
            <a:stCxn id="35" idx="1"/>
            <a:endCxn id="102" idx="1"/>
          </p:cNvCxnSpPr>
          <p:nvPr/>
        </p:nvCxnSpPr>
        <p:spPr bwMode="auto">
          <a:xfrm rot="10800000" flipH="1">
            <a:off x="5893635" y="4199047"/>
            <a:ext cx="860227" cy="748278"/>
          </a:xfrm>
          <a:prstGeom prst="bentConnector3">
            <a:avLst>
              <a:gd name="adj1" fmla="val 33661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38" name="Oval 37"/>
          <p:cNvSpPr/>
          <p:nvPr/>
        </p:nvSpPr>
        <p:spPr bwMode="auto">
          <a:xfrm>
            <a:off x="6377497" y="3686159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39" name="Elbow Connector 38"/>
          <p:cNvCxnSpPr>
            <a:stCxn id="38" idx="4"/>
            <a:endCxn id="95" idx="3"/>
          </p:cNvCxnSpPr>
          <p:nvPr/>
        </p:nvCxnSpPr>
        <p:spPr bwMode="auto">
          <a:xfrm rot="5400000" flipH="1" flipV="1">
            <a:off x="7434342" y="2643324"/>
            <a:ext cx="94698" cy="2135916"/>
          </a:xfrm>
          <a:prstGeom prst="bentConnector4">
            <a:avLst>
              <a:gd name="adj1" fmla="val -1239181"/>
              <a:gd name="adj2" fmla="val 91518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42" name="Straight Arrow Connector 41"/>
          <p:cNvCxnSpPr>
            <a:stCxn id="41" idx="6"/>
            <a:endCxn id="105" idx="3"/>
          </p:cNvCxnSpPr>
          <p:nvPr/>
        </p:nvCxnSpPr>
        <p:spPr bwMode="auto">
          <a:xfrm>
            <a:off x="4982638" y="4264598"/>
            <a:ext cx="132194" cy="81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52" name="Group 151"/>
          <p:cNvGrpSpPr/>
          <p:nvPr/>
        </p:nvGrpSpPr>
        <p:grpSpPr>
          <a:xfrm>
            <a:off x="4910166" y="2334921"/>
            <a:ext cx="947115" cy="1965913"/>
            <a:chOff x="4910166" y="2334921"/>
            <a:chExt cx="947115" cy="1965913"/>
          </a:xfrm>
        </p:grpSpPr>
        <p:sp>
          <p:nvSpPr>
            <p:cNvPr id="40" name="Rounded Rectangle 39"/>
            <p:cNvSpPr/>
            <p:nvPr/>
          </p:nvSpPr>
          <p:spPr bwMode="auto">
            <a:xfrm>
              <a:off x="5139129" y="2334921"/>
              <a:ext cx="476839" cy="27388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100" dirty="0" smtClean="0">
                  <a:solidFill>
                    <a:srgbClr val="FF0000"/>
                  </a:solidFill>
                  <a:latin typeface="+mj-lt"/>
                  <a:cs typeface="Arial" pitchFamily="34" charset="0"/>
                </a:rPr>
                <a:t>&lt;&lt; 2</a:t>
              </a:r>
              <a:endParaRPr lang="en-US" sz="1100" dirty="0">
                <a:solidFill>
                  <a:srgbClr val="FF0000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4910166" y="4228362"/>
              <a:ext cx="72472" cy="72472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43" name="Elbow Connector 42"/>
            <p:cNvCxnSpPr>
              <a:stCxn id="41" idx="0"/>
              <a:endCxn id="40" idx="1"/>
            </p:cNvCxnSpPr>
            <p:nvPr/>
          </p:nvCxnSpPr>
          <p:spPr bwMode="auto">
            <a:xfrm rot="5400000" flipH="1" flipV="1">
              <a:off x="4164516" y="3253750"/>
              <a:ext cx="1756499" cy="192727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45" name="Straight Arrow Connector 44"/>
            <p:cNvCxnSpPr>
              <a:stCxn id="40" idx="3"/>
            </p:cNvCxnSpPr>
            <p:nvPr/>
          </p:nvCxnSpPr>
          <p:spPr bwMode="auto">
            <a:xfrm flipV="1">
              <a:off x="5615968" y="2471076"/>
              <a:ext cx="241313" cy="787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cxnSp>
        <p:nvCxnSpPr>
          <p:cNvPr id="143" name="Elbow Connector 142"/>
          <p:cNvCxnSpPr>
            <a:stCxn id="86" idx="3"/>
            <a:endCxn id="83" idx="0"/>
          </p:cNvCxnSpPr>
          <p:nvPr/>
        </p:nvCxnSpPr>
        <p:spPr bwMode="auto">
          <a:xfrm flipH="1" flipV="1">
            <a:off x="483158" y="1892964"/>
            <a:ext cx="2183441" cy="136430"/>
          </a:xfrm>
          <a:prstGeom prst="bentConnector4">
            <a:avLst>
              <a:gd name="adj1" fmla="val -10470"/>
              <a:gd name="adj2" fmla="val 267558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61" name="Elbow Connector 60"/>
          <p:cNvCxnSpPr>
            <a:stCxn id="38" idx="0"/>
            <a:endCxn id="98" idx="1"/>
          </p:cNvCxnSpPr>
          <p:nvPr/>
        </p:nvCxnSpPr>
        <p:spPr bwMode="auto">
          <a:xfrm rot="5400000" flipH="1" flipV="1">
            <a:off x="6362464" y="3294760"/>
            <a:ext cx="442668" cy="340131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4981746" y="4589699"/>
            <a:ext cx="5886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accent1"/>
                </a:solidFill>
                <a:latin typeface="+mj-lt"/>
              </a:rPr>
              <a:t>ALUSrc</a:t>
            </a:r>
            <a:endParaRPr lang="en-US" sz="1100" dirty="0" smtClean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76" name="Straight Connector 75"/>
          <p:cNvCxnSpPr>
            <a:stCxn id="103" idx="3"/>
          </p:cNvCxnSpPr>
          <p:nvPr/>
        </p:nvCxnSpPr>
        <p:spPr bwMode="auto">
          <a:xfrm>
            <a:off x="5199938" y="4328109"/>
            <a:ext cx="0" cy="245077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3" name="Group 62"/>
          <p:cNvGrpSpPr/>
          <p:nvPr/>
        </p:nvGrpSpPr>
        <p:grpSpPr>
          <a:xfrm>
            <a:off x="7073684" y="2631170"/>
            <a:ext cx="811441" cy="396877"/>
            <a:chOff x="4224400" y="2858356"/>
            <a:chExt cx="811441" cy="396877"/>
          </a:xfrm>
        </p:grpSpPr>
        <p:sp>
          <p:nvSpPr>
            <p:cNvPr id="73" name="TextBox 72"/>
            <p:cNvSpPr txBox="1"/>
            <p:nvPr/>
          </p:nvSpPr>
          <p:spPr>
            <a:xfrm>
              <a:off x="4224400" y="2858356"/>
              <a:ext cx="811441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MemWrite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74" name="Straight Connector 73"/>
            <p:cNvCxnSpPr>
              <a:stCxn id="73" idx="2"/>
              <a:endCxn id="97" idx="0"/>
            </p:cNvCxnSpPr>
            <p:nvPr/>
          </p:nvCxnSpPr>
          <p:spPr bwMode="auto">
            <a:xfrm flipH="1">
              <a:off x="4629214" y="3119966"/>
              <a:ext cx="907" cy="135267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9" name="TextBox 68"/>
          <p:cNvSpPr txBox="1"/>
          <p:nvPr/>
        </p:nvSpPr>
        <p:spPr>
          <a:xfrm>
            <a:off x="2230176" y="4670228"/>
            <a:ext cx="5854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accent1"/>
                </a:solidFill>
                <a:latin typeface="+mj-lt"/>
              </a:rPr>
              <a:t>RegDst</a:t>
            </a:r>
            <a:endParaRPr lang="en-US" sz="1100" dirty="0" smtClean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70" name="Straight Connector 69"/>
          <p:cNvCxnSpPr>
            <a:stCxn id="126" idx="3"/>
          </p:cNvCxnSpPr>
          <p:nvPr/>
        </p:nvCxnSpPr>
        <p:spPr bwMode="auto">
          <a:xfrm>
            <a:off x="2636512" y="4507032"/>
            <a:ext cx="0" cy="183078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6" name="Group 65"/>
          <p:cNvGrpSpPr/>
          <p:nvPr/>
        </p:nvGrpSpPr>
        <p:grpSpPr>
          <a:xfrm>
            <a:off x="8208125" y="2621744"/>
            <a:ext cx="857928" cy="568038"/>
            <a:chOff x="4191631" y="2696431"/>
            <a:chExt cx="857928" cy="568038"/>
          </a:xfrm>
        </p:grpSpPr>
        <p:sp>
          <p:nvSpPr>
            <p:cNvPr id="67" name="TextBox 66"/>
            <p:cNvSpPr txBox="1"/>
            <p:nvPr/>
          </p:nvSpPr>
          <p:spPr>
            <a:xfrm>
              <a:off x="4191631" y="2696431"/>
              <a:ext cx="857928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MemToReg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68" name="Straight Connector 67"/>
            <p:cNvCxnSpPr>
              <a:stCxn id="67" idx="2"/>
              <a:endCxn id="93" idx="1"/>
            </p:cNvCxnSpPr>
            <p:nvPr/>
          </p:nvCxnSpPr>
          <p:spPr bwMode="auto">
            <a:xfrm flipH="1">
              <a:off x="4618261" y="2958041"/>
              <a:ext cx="2334" cy="306428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54" name="Group 153"/>
          <p:cNvGrpSpPr/>
          <p:nvPr/>
        </p:nvGrpSpPr>
        <p:grpSpPr>
          <a:xfrm>
            <a:off x="5336272" y="1632897"/>
            <a:ext cx="1589900" cy="1102374"/>
            <a:chOff x="5336272" y="1632897"/>
            <a:chExt cx="1589900" cy="1102374"/>
          </a:xfrm>
        </p:grpSpPr>
        <p:grpSp>
          <p:nvGrpSpPr>
            <p:cNvPr id="55" name="Group 54"/>
            <p:cNvGrpSpPr/>
            <p:nvPr/>
          </p:nvGrpSpPr>
          <p:grpSpPr>
            <a:xfrm>
              <a:off x="6570982" y="1632897"/>
              <a:ext cx="180391" cy="721202"/>
              <a:chOff x="3390790" y="3616963"/>
              <a:chExt cx="180391" cy="643543"/>
            </a:xfrm>
          </p:grpSpPr>
          <p:sp>
            <p:nvSpPr>
              <p:cNvPr id="77" name="Trapezoid 76"/>
              <p:cNvSpPr/>
              <p:nvPr/>
            </p:nvSpPr>
            <p:spPr bwMode="auto">
              <a:xfrm rot="5400000">
                <a:off x="3159214" y="3848539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  <p:sp>
            <p:nvSpPr>
              <p:cNvPr id="78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961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FF0000"/>
                    </a:solidFill>
                    <a:latin typeface="+mj-lt"/>
                  </a:rPr>
                  <a:t>0</a:t>
                </a:r>
                <a:endParaRPr lang="en-US" sz="700" dirty="0">
                  <a:solidFill>
                    <a:srgbClr val="FF0000"/>
                  </a:solidFill>
                  <a:latin typeface="+mj-lt"/>
                </a:endParaRPr>
              </a:p>
            </p:txBody>
          </p:sp>
          <p:sp>
            <p:nvSpPr>
              <p:cNvPr id="79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961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FF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80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3069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FF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FF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FF0000"/>
                    </a:solidFill>
                    <a:latin typeface="+mj-lt"/>
                  </a:rPr>
                  <a:t>x</a:t>
                </a:r>
                <a:endParaRPr lang="en-US" sz="500" dirty="0">
                  <a:solidFill>
                    <a:srgbClr val="FF0000"/>
                  </a:solidFill>
                  <a:latin typeface="+mj-lt"/>
                </a:endParaRPr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6420905" y="2291615"/>
              <a:ext cx="505267" cy="443656"/>
              <a:chOff x="6705081" y="4283249"/>
              <a:chExt cx="505267" cy="443656"/>
            </a:xfrm>
          </p:grpSpPr>
          <p:sp>
            <p:nvSpPr>
              <p:cNvPr id="71" name="TextBox 70"/>
              <p:cNvSpPr txBox="1"/>
              <p:nvPr/>
            </p:nvSpPr>
            <p:spPr>
              <a:xfrm>
                <a:off x="6705081" y="4465295"/>
                <a:ext cx="50526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err="1" smtClean="0">
                    <a:solidFill>
                      <a:schemeClr val="accent1"/>
                    </a:solidFill>
                    <a:latin typeface="+mj-lt"/>
                  </a:rPr>
                  <a:t>PCSrc</a:t>
                </a:r>
                <a:endParaRPr lang="en-US" sz="1100" dirty="0" smtClean="0">
                  <a:solidFill>
                    <a:schemeClr val="accent1"/>
                  </a:solidFill>
                  <a:latin typeface="+mj-lt"/>
                </a:endParaRPr>
              </a:p>
            </p:txBody>
          </p:sp>
          <p:cxnSp>
            <p:nvCxnSpPr>
              <p:cNvPr id="72" name="Straight Connector 71"/>
              <p:cNvCxnSpPr/>
              <p:nvPr/>
            </p:nvCxnSpPr>
            <p:spPr bwMode="auto">
              <a:xfrm>
                <a:off x="6968001" y="4283249"/>
                <a:ext cx="0" cy="179461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57" name="Oval 56"/>
            <p:cNvSpPr/>
            <p:nvPr/>
          </p:nvSpPr>
          <p:spPr bwMode="auto">
            <a:xfrm>
              <a:off x="5336272" y="1975645"/>
              <a:ext cx="72472" cy="72472"/>
            </a:xfrm>
            <a:prstGeom prst="ellipse">
              <a:avLst/>
            </a:prstGeom>
            <a:solidFill>
              <a:srgbClr val="FF0000"/>
            </a:solidFill>
            <a:ln w="31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59" name="Elbow Connector 58"/>
            <p:cNvCxnSpPr>
              <a:stCxn id="57" idx="0"/>
              <a:endCxn id="78" idx="3"/>
            </p:cNvCxnSpPr>
            <p:nvPr/>
          </p:nvCxnSpPr>
          <p:spPr bwMode="auto">
            <a:xfrm rot="5400000" flipH="1" flipV="1">
              <a:off x="5864216" y="1263791"/>
              <a:ext cx="220147" cy="1203562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sp>
        <p:nvSpPr>
          <p:cNvPr id="149" name="Rectangle 148"/>
          <p:cNvSpPr/>
          <p:nvPr/>
        </p:nvSpPr>
        <p:spPr bwMode="auto">
          <a:xfrm>
            <a:off x="407391" y="1374377"/>
            <a:ext cx="2564516" cy="71013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grpSp>
        <p:nvGrpSpPr>
          <p:cNvPr id="156" name="Group 155"/>
          <p:cNvGrpSpPr/>
          <p:nvPr/>
        </p:nvGrpSpPr>
        <p:grpSpPr>
          <a:xfrm>
            <a:off x="281570" y="1620197"/>
            <a:ext cx="2387079" cy="1374428"/>
            <a:chOff x="281570" y="1620197"/>
            <a:chExt cx="2387079" cy="1374428"/>
          </a:xfrm>
        </p:grpSpPr>
        <p:grpSp>
          <p:nvGrpSpPr>
            <p:cNvPr id="46" name="Group 45"/>
            <p:cNvGrpSpPr/>
            <p:nvPr/>
          </p:nvGrpSpPr>
          <p:grpSpPr>
            <a:xfrm>
              <a:off x="2267241" y="1620197"/>
              <a:ext cx="401408" cy="794389"/>
              <a:chOff x="6728724" y="3121968"/>
              <a:chExt cx="727535" cy="1439797"/>
            </a:xfrm>
          </p:grpSpPr>
          <p:sp>
            <p:nvSpPr>
              <p:cNvPr id="85" name="Freeform 127"/>
              <p:cNvSpPr>
                <a:spLocks/>
              </p:cNvSpPr>
              <p:nvPr/>
            </p:nvSpPr>
            <p:spPr bwMode="auto">
              <a:xfrm>
                <a:off x="6728724" y="3121968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6955934" y="3710216"/>
                <a:ext cx="496610" cy="3068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+mj-lt"/>
                  </a:rPr>
                  <a:t>Add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6728724" y="3319972"/>
                <a:ext cx="155483" cy="306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6728724" y="4152245"/>
                <a:ext cx="155483" cy="306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281570" y="1892964"/>
              <a:ext cx="388497" cy="625620"/>
              <a:chOff x="155044" y="1514471"/>
              <a:chExt cx="388497" cy="625620"/>
            </a:xfrm>
          </p:grpSpPr>
          <p:grpSp>
            <p:nvGrpSpPr>
              <p:cNvPr id="81" name="Group 80"/>
              <p:cNvGrpSpPr/>
              <p:nvPr/>
            </p:nvGrpSpPr>
            <p:grpSpPr>
              <a:xfrm>
                <a:off x="169720" y="1514471"/>
                <a:ext cx="373821" cy="625620"/>
                <a:chOff x="2979708" y="2694759"/>
                <a:chExt cx="492339" cy="823968"/>
              </a:xfrm>
            </p:grpSpPr>
            <p:sp>
              <p:nvSpPr>
                <p:cNvPr id="83" name="Rectangle 82"/>
                <p:cNvSpPr/>
                <p:nvPr/>
              </p:nvSpPr>
              <p:spPr bwMode="auto">
                <a:xfrm>
                  <a:off x="2991378" y="2694759"/>
                  <a:ext cx="468998" cy="82396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2979708" y="2872568"/>
                  <a:ext cx="492339" cy="4053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PC</a:t>
                  </a:r>
                </a:p>
              </p:txBody>
            </p:sp>
          </p:grpSp>
          <p:sp>
            <p:nvSpPr>
              <p:cNvPr id="82" name="Isosceles Triangle 81"/>
              <p:cNvSpPr/>
              <p:nvPr/>
            </p:nvSpPr>
            <p:spPr bwMode="auto">
              <a:xfrm rot="19800000">
                <a:off x="155044" y="1973506"/>
                <a:ext cx="89552" cy="77200"/>
              </a:xfrm>
              <a:prstGeom prst="triangl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</p:grpSp>
        <p:cxnSp>
          <p:nvCxnSpPr>
            <p:cNvPr id="48" name="Straight Arrow Connector 47"/>
            <p:cNvCxnSpPr>
              <a:stCxn id="83" idx="2"/>
              <a:endCxn id="49" idx="0"/>
            </p:cNvCxnSpPr>
            <p:nvPr/>
          </p:nvCxnSpPr>
          <p:spPr bwMode="auto">
            <a:xfrm flipH="1">
              <a:off x="482818" y="2518584"/>
              <a:ext cx="340" cy="18045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" name="Oval 48"/>
            <p:cNvSpPr/>
            <p:nvPr/>
          </p:nvSpPr>
          <p:spPr bwMode="auto">
            <a:xfrm>
              <a:off x="446582" y="2699035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50" name="Elbow Connector 49"/>
            <p:cNvCxnSpPr>
              <a:stCxn id="49" idx="6"/>
              <a:endCxn id="88" idx="1"/>
            </p:cNvCxnSpPr>
            <p:nvPr/>
          </p:nvCxnSpPr>
          <p:spPr bwMode="auto">
            <a:xfrm flipV="1">
              <a:off x="519054" y="2273278"/>
              <a:ext cx="1748187" cy="461993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1" name="Straight Arrow Connector 50"/>
            <p:cNvCxnSpPr>
              <a:stCxn id="49" idx="4"/>
              <a:endCxn id="133" idx="0"/>
            </p:cNvCxnSpPr>
            <p:nvPr/>
          </p:nvCxnSpPr>
          <p:spPr bwMode="auto">
            <a:xfrm flipH="1">
              <a:off x="481043" y="2771507"/>
              <a:ext cx="1775" cy="223118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52" name="TextBox 51"/>
            <p:cNvSpPr txBox="1"/>
            <p:nvPr/>
          </p:nvSpPr>
          <p:spPr>
            <a:xfrm>
              <a:off x="1751058" y="1640639"/>
              <a:ext cx="276037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400" b="1" dirty="0" smtClean="0">
                  <a:latin typeface="+mj-lt"/>
                </a:rPr>
                <a:t>4</a:t>
              </a:r>
            </a:p>
          </p:txBody>
        </p:sp>
        <p:cxnSp>
          <p:nvCxnSpPr>
            <p:cNvPr id="53" name="Straight Arrow Connector 52"/>
            <p:cNvCxnSpPr>
              <a:endCxn id="87" idx="1"/>
            </p:cNvCxnSpPr>
            <p:nvPr/>
          </p:nvCxnSpPr>
          <p:spPr bwMode="auto">
            <a:xfrm>
              <a:off x="2027095" y="1809358"/>
              <a:ext cx="240146" cy="4724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grpSp>
        <p:nvGrpSpPr>
          <p:cNvPr id="153" name="Group 152"/>
          <p:cNvGrpSpPr/>
          <p:nvPr/>
        </p:nvGrpSpPr>
        <p:grpSpPr>
          <a:xfrm>
            <a:off x="2666599" y="1838637"/>
            <a:ext cx="3909472" cy="794389"/>
            <a:chOff x="2666599" y="1838637"/>
            <a:chExt cx="3909472" cy="794389"/>
          </a:xfrm>
        </p:grpSpPr>
        <p:grpSp>
          <p:nvGrpSpPr>
            <p:cNvPr id="44" name="Group 43"/>
            <p:cNvGrpSpPr/>
            <p:nvPr/>
          </p:nvGrpSpPr>
          <p:grpSpPr>
            <a:xfrm>
              <a:off x="5857281" y="1838637"/>
              <a:ext cx="401408" cy="794389"/>
              <a:chOff x="6728724" y="3121968"/>
              <a:chExt cx="727535" cy="1439797"/>
            </a:xfrm>
          </p:grpSpPr>
          <p:sp>
            <p:nvSpPr>
              <p:cNvPr id="89" name="Freeform 127"/>
              <p:cNvSpPr>
                <a:spLocks/>
              </p:cNvSpPr>
              <p:nvPr/>
            </p:nvSpPr>
            <p:spPr bwMode="auto">
              <a:xfrm>
                <a:off x="6728724" y="3121968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6955934" y="3665330"/>
                <a:ext cx="496610" cy="3068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100" dirty="0" smtClean="0">
                    <a:solidFill>
                      <a:srgbClr val="FF0000"/>
                    </a:solidFill>
                    <a:latin typeface="+mj-lt"/>
                  </a:rPr>
                  <a:t>Add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6728724" y="3294452"/>
                <a:ext cx="155483" cy="306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6728724" y="4152245"/>
                <a:ext cx="155483" cy="306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</p:grpSp>
        <p:cxnSp>
          <p:nvCxnSpPr>
            <p:cNvPr id="54" name="Straight Arrow Connector 53"/>
            <p:cNvCxnSpPr>
              <a:stCxn id="86" idx="3"/>
              <a:endCxn id="57" idx="2"/>
            </p:cNvCxnSpPr>
            <p:nvPr/>
          </p:nvCxnSpPr>
          <p:spPr bwMode="auto">
            <a:xfrm flipV="1">
              <a:off x="2666599" y="2011881"/>
              <a:ext cx="2669673" cy="17513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Straight Arrow Connector 55"/>
            <p:cNvCxnSpPr>
              <a:stCxn id="90" idx="3"/>
              <a:endCxn id="79" idx="3"/>
            </p:cNvCxnSpPr>
            <p:nvPr/>
          </p:nvCxnSpPr>
          <p:spPr bwMode="auto">
            <a:xfrm>
              <a:off x="6256639" y="2223069"/>
              <a:ext cx="319432" cy="174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8" name="Straight Arrow Connector 57"/>
            <p:cNvCxnSpPr>
              <a:stCxn id="57" idx="2"/>
              <a:endCxn id="91" idx="1"/>
            </p:cNvCxnSpPr>
            <p:nvPr/>
          </p:nvCxnSpPr>
          <p:spPr bwMode="auto">
            <a:xfrm>
              <a:off x="5336272" y="2011881"/>
              <a:ext cx="521009" cy="656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cxnSp>
        <p:nvCxnSpPr>
          <p:cNvPr id="60" name="Elbow Connector 59"/>
          <p:cNvCxnSpPr>
            <a:stCxn id="77" idx="0"/>
            <a:endCxn id="83" idx="0"/>
          </p:cNvCxnSpPr>
          <p:nvPr/>
        </p:nvCxnSpPr>
        <p:spPr bwMode="auto">
          <a:xfrm flipH="1" flipV="1">
            <a:off x="483158" y="1892964"/>
            <a:ext cx="6268216" cy="100535"/>
          </a:xfrm>
          <a:prstGeom prst="bentConnector4">
            <a:avLst>
              <a:gd name="adj1" fmla="val -4395"/>
              <a:gd name="adj2" fmla="val 559819"/>
            </a:avLst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58" name="Group 157"/>
          <p:cNvGrpSpPr/>
          <p:nvPr/>
        </p:nvGrpSpPr>
        <p:grpSpPr>
          <a:xfrm>
            <a:off x="904306" y="6050197"/>
            <a:ext cx="6283894" cy="532893"/>
            <a:chOff x="904306" y="6050197"/>
            <a:chExt cx="6283894" cy="532893"/>
          </a:xfrm>
        </p:grpSpPr>
        <p:sp>
          <p:nvSpPr>
            <p:cNvPr id="159" name="Rounded Rectangle 158"/>
            <p:cNvSpPr/>
            <p:nvPr/>
          </p:nvSpPr>
          <p:spPr bwMode="auto">
            <a:xfrm>
              <a:off x="1356360" y="6237438"/>
              <a:ext cx="5831840" cy="264372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904306" y="6050197"/>
              <a:ext cx="697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Neo Sans Intel" panose="020B0504020202020204" pitchFamily="34" charset="0"/>
                </a:rPr>
                <a:t>R-type</a:t>
              </a:r>
            </a:p>
          </p:txBody>
        </p:sp>
        <p:sp>
          <p:nvSpPr>
            <p:cNvPr id="161" name="Rectangle 160"/>
            <p:cNvSpPr/>
            <p:nvPr/>
          </p:nvSpPr>
          <p:spPr bwMode="auto">
            <a:xfrm>
              <a:off x="2243755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Neo Sans Intel" pitchFamily="34" charset="0"/>
                  <a:cs typeface="Consolas" pitchFamily="49" charset="0"/>
                </a:rPr>
                <a:t>26</a:t>
              </a:r>
            </a:p>
          </p:txBody>
        </p:sp>
        <p:sp>
          <p:nvSpPr>
            <p:cNvPr id="162" name="Rectangle 161"/>
            <p:cNvSpPr/>
            <p:nvPr/>
          </p:nvSpPr>
          <p:spPr bwMode="auto">
            <a:xfrm>
              <a:off x="1606350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Neo Sans Intel" pitchFamily="34" charset="0"/>
                  <a:cs typeface="Consolas" pitchFamily="49" charset="0"/>
                </a:rPr>
                <a:t>31</a:t>
              </a: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6832600" y="6239470"/>
              <a:ext cx="1979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>
                  <a:latin typeface="Neo Sans Intel" pitchFamily="34" charset="0"/>
                  <a:cs typeface="Consolas" pitchFamily="49" charset="0"/>
                </a:rPr>
                <a:t>0</a:t>
              </a:r>
              <a:endParaRPr lang="en-US" sz="1000" dirty="0" smtClean="0">
                <a:latin typeface="Neo Sans Intel" pitchFamily="34" charset="0"/>
                <a:cs typeface="Consolas" pitchFamily="49" charset="0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6133428" y="6239470"/>
              <a:ext cx="1979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Neo Sans Intel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5935980" y="6239470"/>
              <a:ext cx="1898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Neo Sans Intel" pitchFamily="34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166" name="Rectangle 165"/>
            <p:cNvSpPr/>
            <p:nvPr/>
          </p:nvSpPr>
          <p:spPr bwMode="auto">
            <a:xfrm>
              <a:off x="5248665" y="6239470"/>
              <a:ext cx="189829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Neo Sans Intel" pitchFamily="34" charset="0"/>
                  <a:cs typeface="Consolas" pitchFamily="49" charset="0"/>
                </a:rPr>
                <a:t>10</a:t>
              </a:r>
            </a:p>
          </p:txBody>
        </p:sp>
        <p:sp>
          <p:nvSpPr>
            <p:cNvPr id="167" name="Rectangle 166"/>
            <p:cNvSpPr/>
            <p:nvPr/>
          </p:nvSpPr>
          <p:spPr bwMode="auto">
            <a:xfrm>
              <a:off x="497911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Neo Sans Intel" pitchFamily="34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168" name="Rectangle 167"/>
            <p:cNvSpPr/>
            <p:nvPr/>
          </p:nvSpPr>
          <p:spPr bwMode="auto">
            <a:xfrm>
              <a:off x="434411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Neo Sans Intel" pitchFamily="34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169" name="Rectangle 168"/>
            <p:cNvSpPr/>
            <p:nvPr/>
          </p:nvSpPr>
          <p:spPr bwMode="auto">
            <a:xfrm>
              <a:off x="4049478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Neo Sans Intel" pitchFamily="34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170" name="Rectangle 169"/>
            <p:cNvSpPr/>
            <p:nvPr/>
          </p:nvSpPr>
          <p:spPr bwMode="auto">
            <a:xfrm>
              <a:off x="345908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Neo Sans Intel" pitchFamily="34" charset="0"/>
                  <a:cs typeface="Consolas" pitchFamily="49" charset="0"/>
                </a:rPr>
                <a:t>20</a:t>
              </a:r>
            </a:p>
          </p:txBody>
        </p:sp>
        <p:grpSp>
          <p:nvGrpSpPr>
            <p:cNvPr id="171" name="Group 170"/>
            <p:cNvGrpSpPr/>
            <p:nvPr/>
          </p:nvGrpSpPr>
          <p:grpSpPr>
            <a:xfrm>
              <a:off x="1602205" y="6098574"/>
              <a:ext cx="5428324" cy="220144"/>
              <a:chOff x="1602205" y="6098574"/>
              <a:chExt cx="5428324" cy="220144"/>
            </a:xfrm>
          </p:grpSpPr>
          <p:sp>
            <p:nvSpPr>
              <p:cNvPr id="175" name="Rectangle 174"/>
              <p:cNvSpPr/>
              <p:nvPr/>
            </p:nvSpPr>
            <p:spPr bwMode="auto">
              <a:xfrm>
                <a:off x="1602205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smtClean="0">
                    <a:latin typeface="Consolas" pitchFamily="49" charset="0"/>
                    <a:cs typeface="Consolas" pitchFamily="49" charset="0"/>
                  </a:rPr>
                  <a:t>op</a:t>
                </a:r>
              </a:p>
            </p:txBody>
          </p:sp>
          <p:sp>
            <p:nvSpPr>
              <p:cNvPr id="176" name="Rectangle 175"/>
              <p:cNvSpPr/>
              <p:nvPr/>
            </p:nvSpPr>
            <p:spPr bwMode="auto">
              <a:xfrm>
                <a:off x="6125808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Consolas" pitchFamily="49" charset="0"/>
                    <a:cs typeface="Consolas" pitchFamily="49" charset="0"/>
                  </a:rPr>
                  <a:t>funct</a:t>
                </a:r>
                <a:endParaRPr lang="en-US" sz="1200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77" name="Rectangle 176"/>
              <p:cNvSpPr/>
              <p:nvPr/>
            </p:nvSpPr>
            <p:spPr bwMode="auto">
              <a:xfrm>
                <a:off x="5221088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Consolas" pitchFamily="49" charset="0"/>
                    <a:cs typeface="Consolas" pitchFamily="49" charset="0"/>
                  </a:rPr>
                  <a:t>shamt</a:t>
                </a:r>
                <a:endParaRPr lang="en-US" sz="1200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78" name="Rectangle 177"/>
              <p:cNvSpPr/>
              <p:nvPr/>
            </p:nvSpPr>
            <p:spPr bwMode="auto">
              <a:xfrm>
                <a:off x="4316367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Consolas" pitchFamily="49" charset="0"/>
                    <a:cs typeface="Consolas" pitchFamily="49" charset="0"/>
                  </a:rPr>
                  <a:t>rd</a:t>
                </a:r>
                <a:endParaRPr lang="en-US" sz="1200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79" name="Rectangle 178"/>
              <p:cNvSpPr/>
              <p:nvPr/>
            </p:nvSpPr>
            <p:spPr bwMode="auto">
              <a:xfrm>
                <a:off x="341164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Consolas" pitchFamily="49" charset="0"/>
                    <a:cs typeface="Consolas" pitchFamily="49" charset="0"/>
                  </a:rPr>
                  <a:t>rt</a:t>
                </a:r>
                <a:endParaRPr lang="en-US" sz="1200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80" name="Rectangle 179"/>
              <p:cNvSpPr/>
              <p:nvPr/>
            </p:nvSpPr>
            <p:spPr bwMode="auto">
              <a:xfrm>
                <a:off x="250692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Consolas" pitchFamily="49" charset="0"/>
                    <a:cs typeface="Consolas" pitchFamily="49" charset="0"/>
                  </a:rPr>
                  <a:t>rs</a:t>
                </a:r>
                <a:endParaRPr lang="en-US" sz="1200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172" name="Rectangle 171"/>
            <p:cNvSpPr/>
            <p:nvPr/>
          </p:nvSpPr>
          <p:spPr bwMode="auto">
            <a:xfrm>
              <a:off x="314158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Neo Sans Intel" pitchFamily="34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173" name="Rectangle 172"/>
            <p:cNvSpPr/>
            <p:nvPr/>
          </p:nvSpPr>
          <p:spPr bwMode="auto">
            <a:xfrm>
              <a:off x="2529447" y="6239470"/>
              <a:ext cx="224190" cy="343620"/>
            </a:xfrm>
            <a:prstGeom prst="rect">
              <a:avLst/>
            </a:prstGeom>
            <a:no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000" dirty="0" smtClean="0">
                  <a:latin typeface="Neo Sans Intel" pitchFamily="34" charset="0"/>
                  <a:cs typeface="Consolas" pitchFamily="49" charset="0"/>
                </a:rPr>
                <a:t>25</a:t>
              </a:r>
            </a:p>
          </p:txBody>
        </p:sp>
        <p:sp>
          <p:nvSpPr>
            <p:cNvPr id="174" name="Rectangle 173"/>
            <p:cNvSpPr/>
            <p:nvPr/>
          </p:nvSpPr>
          <p:spPr bwMode="auto">
            <a:xfrm>
              <a:off x="960120" y="6088414"/>
              <a:ext cx="6116320" cy="241266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181" name="Group 180"/>
          <p:cNvGrpSpPr/>
          <p:nvPr/>
        </p:nvGrpSpPr>
        <p:grpSpPr>
          <a:xfrm>
            <a:off x="919546" y="5815654"/>
            <a:ext cx="6110984" cy="307777"/>
            <a:chOff x="919546" y="5815654"/>
            <a:chExt cx="6110984" cy="307777"/>
          </a:xfrm>
        </p:grpSpPr>
        <p:grpSp>
          <p:nvGrpSpPr>
            <p:cNvPr id="182" name="Group 181"/>
            <p:cNvGrpSpPr/>
            <p:nvPr/>
          </p:nvGrpSpPr>
          <p:grpSpPr>
            <a:xfrm>
              <a:off x="1602205" y="5874711"/>
              <a:ext cx="5428325" cy="220144"/>
              <a:chOff x="1602205" y="6098574"/>
              <a:chExt cx="5428325" cy="220144"/>
            </a:xfrm>
          </p:grpSpPr>
          <p:sp>
            <p:nvSpPr>
              <p:cNvPr id="184" name="Rectangle 183"/>
              <p:cNvSpPr/>
              <p:nvPr/>
            </p:nvSpPr>
            <p:spPr bwMode="auto">
              <a:xfrm>
                <a:off x="1602205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smtClean="0">
                    <a:latin typeface="Consolas" pitchFamily="49" charset="0"/>
                    <a:cs typeface="Consolas" pitchFamily="49" charset="0"/>
                  </a:rPr>
                  <a:t>op</a:t>
                </a:r>
              </a:p>
            </p:txBody>
          </p:sp>
          <p:sp>
            <p:nvSpPr>
              <p:cNvPr id="185" name="Rectangle 184"/>
              <p:cNvSpPr/>
              <p:nvPr/>
            </p:nvSpPr>
            <p:spPr bwMode="auto">
              <a:xfrm>
                <a:off x="4316368" y="6098574"/>
                <a:ext cx="2714162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smtClean="0">
                    <a:latin typeface="Consolas" pitchFamily="49" charset="0"/>
                    <a:cs typeface="Consolas" pitchFamily="49" charset="0"/>
                  </a:rPr>
                  <a:t>offset</a:t>
                </a:r>
              </a:p>
            </p:txBody>
          </p:sp>
          <p:sp>
            <p:nvSpPr>
              <p:cNvPr id="186" name="Rectangle 185"/>
              <p:cNvSpPr/>
              <p:nvPr/>
            </p:nvSpPr>
            <p:spPr bwMode="auto">
              <a:xfrm>
                <a:off x="341164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Consolas" pitchFamily="49" charset="0"/>
                    <a:cs typeface="Consolas" pitchFamily="49" charset="0"/>
                  </a:rPr>
                  <a:t>rt</a:t>
                </a:r>
                <a:endParaRPr lang="en-US" sz="1200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87" name="Rectangle 186"/>
              <p:cNvSpPr/>
              <p:nvPr/>
            </p:nvSpPr>
            <p:spPr bwMode="auto">
              <a:xfrm>
                <a:off x="2506926" y="6098574"/>
                <a:ext cx="904721" cy="220144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19050"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 err="1" smtClean="0">
                    <a:latin typeface="Consolas" pitchFamily="49" charset="0"/>
                    <a:cs typeface="Consolas" pitchFamily="49" charset="0"/>
                  </a:rPr>
                  <a:t>rs</a:t>
                </a:r>
                <a:endParaRPr lang="en-US" sz="1200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183" name="TextBox 182"/>
            <p:cNvSpPr txBox="1"/>
            <p:nvPr/>
          </p:nvSpPr>
          <p:spPr>
            <a:xfrm>
              <a:off x="919546" y="5815654"/>
              <a:ext cx="6303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Neo Sans Intel" panose="020B0504020202020204" pitchFamily="34" charset="0"/>
                </a:rPr>
                <a:t>I</a:t>
              </a:r>
              <a:r>
                <a:rPr lang="en-US" sz="1400" dirty="0" smtClean="0">
                  <a:latin typeface="Neo Sans Intel" panose="020B0504020202020204" pitchFamily="34" charset="0"/>
                </a:rPr>
                <a:t>-type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6950202" y="1165547"/>
            <a:ext cx="2011236" cy="1246702"/>
            <a:chOff x="3274917" y="3983724"/>
            <a:chExt cx="2011236" cy="1246702"/>
          </a:xfrm>
        </p:grpSpPr>
        <p:sp>
          <p:nvSpPr>
            <p:cNvPr id="189" name="TextBox 188"/>
            <p:cNvSpPr txBox="1"/>
            <p:nvPr/>
          </p:nvSpPr>
          <p:spPr>
            <a:xfrm>
              <a:off x="3512915" y="3983724"/>
              <a:ext cx="17732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The branch may </a:t>
              </a:r>
              <a:r>
                <a:rPr lang="en-US" sz="1200" dirty="0" smtClean="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or </a:t>
              </a:r>
              <a:r>
                <a:rPr lang="en-US" sz="1200" dirty="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may </a:t>
              </a:r>
              <a:r>
                <a:rPr lang="en-US" sz="1200" dirty="0" smtClean="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not be taken</a:t>
              </a:r>
              <a:r>
                <a:rPr lang="en-US" sz="1200" dirty="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, depending </a:t>
              </a:r>
              <a:r>
                <a:rPr lang="en-US" sz="1200" dirty="0" smtClean="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on </a:t>
              </a:r>
              <a:r>
                <a:rPr lang="en-US" sz="1200" dirty="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the ALU’s </a:t>
              </a:r>
              <a:r>
                <a:rPr lang="en-US" sz="1200" dirty="0" smtClean="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Condition Code output (Zero here)</a:t>
              </a:r>
              <a:endParaRPr lang="en-US" sz="1200" dirty="0">
                <a:solidFill>
                  <a:schemeClr val="tx2">
                    <a:lumMod val="75000"/>
                  </a:schemeClr>
                </a:solidFill>
                <a:latin typeface="+mj-lt"/>
              </a:endParaRPr>
            </a:p>
          </p:txBody>
        </p:sp>
        <p:cxnSp>
          <p:nvCxnSpPr>
            <p:cNvPr id="190" name="Straight Arrow Connector 189"/>
            <p:cNvCxnSpPr/>
            <p:nvPr/>
          </p:nvCxnSpPr>
          <p:spPr bwMode="auto">
            <a:xfrm flipH="1">
              <a:off x="3274917" y="4830058"/>
              <a:ext cx="310531" cy="400368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141781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</p:bldLst>
  </p:timing>
  <p:extLst mod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Final Single-Cycle Data Path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54671" y="1620197"/>
            <a:ext cx="8911382" cy="3731808"/>
            <a:chOff x="154671" y="1620197"/>
            <a:chExt cx="8911382" cy="3731808"/>
          </a:xfrm>
        </p:grpSpPr>
        <p:grpSp>
          <p:nvGrpSpPr>
            <p:cNvPr id="5" name="Group 4"/>
            <p:cNvGrpSpPr/>
            <p:nvPr/>
          </p:nvGrpSpPr>
          <p:grpSpPr>
            <a:xfrm>
              <a:off x="154671" y="2994625"/>
              <a:ext cx="1622694" cy="1386326"/>
              <a:chOff x="1738845" y="3229513"/>
              <a:chExt cx="1622694" cy="1386326"/>
            </a:xfrm>
          </p:grpSpPr>
          <p:grpSp>
            <p:nvGrpSpPr>
              <p:cNvPr id="130" name="Group 129"/>
              <p:cNvGrpSpPr/>
              <p:nvPr/>
            </p:nvGrpSpPr>
            <p:grpSpPr>
              <a:xfrm>
                <a:off x="1738845" y="3229513"/>
                <a:ext cx="1447262" cy="1386326"/>
                <a:chOff x="3124738" y="3598050"/>
                <a:chExt cx="1447262" cy="1386326"/>
              </a:xfrm>
            </p:grpSpPr>
            <p:sp>
              <p:nvSpPr>
                <p:cNvPr id="132" name="Rectangle 131"/>
                <p:cNvSpPr/>
                <p:nvPr/>
              </p:nvSpPr>
              <p:spPr bwMode="auto">
                <a:xfrm>
                  <a:off x="3126744" y="3598050"/>
                  <a:ext cx="1445256" cy="13863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33" name="TextBox 132"/>
                <p:cNvSpPr txBox="1"/>
                <p:nvPr/>
              </p:nvSpPr>
              <p:spPr>
                <a:xfrm>
                  <a:off x="3124738" y="3598050"/>
                  <a:ext cx="652743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+mj-lt"/>
                    </a:rPr>
                    <a:t>Read</a:t>
                  </a:r>
                </a:p>
                <a:p>
                  <a:r>
                    <a:rPr lang="en-US" sz="1100" dirty="0" smtClean="0">
                      <a:latin typeface="+mj-lt"/>
                    </a:rPr>
                    <a:t>address</a:t>
                  </a:r>
                </a:p>
              </p:txBody>
            </p:sp>
            <p:sp>
              <p:nvSpPr>
                <p:cNvPr id="134" name="TextBox 133"/>
                <p:cNvSpPr txBox="1"/>
                <p:nvPr/>
              </p:nvSpPr>
              <p:spPr>
                <a:xfrm>
                  <a:off x="3673849" y="3601253"/>
                  <a:ext cx="89815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100" dirty="0" smtClean="0">
                      <a:latin typeface="+mj-lt"/>
                    </a:rPr>
                    <a:t>Instruction [31-0]</a:t>
                  </a:r>
                </a:p>
              </p:txBody>
            </p:sp>
            <p:sp>
              <p:nvSpPr>
                <p:cNvPr id="135" name="TextBox 134"/>
                <p:cNvSpPr txBox="1"/>
                <p:nvPr/>
              </p:nvSpPr>
              <p:spPr>
                <a:xfrm>
                  <a:off x="3430026" y="4147773"/>
                  <a:ext cx="8386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Memory</a:t>
                  </a:r>
                </a:p>
              </p:txBody>
            </p:sp>
          </p:grpSp>
          <p:cxnSp>
            <p:nvCxnSpPr>
              <p:cNvPr id="131" name="Straight Arrow Connector 130"/>
              <p:cNvCxnSpPr>
                <a:stCxn id="134" idx="3"/>
              </p:cNvCxnSpPr>
              <p:nvPr/>
            </p:nvCxnSpPr>
            <p:spPr bwMode="auto">
              <a:xfrm>
                <a:off x="3186107" y="3448160"/>
                <a:ext cx="175432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</p:grpSp>
        <p:grpSp>
          <p:nvGrpSpPr>
            <p:cNvPr id="6" name="Group 5"/>
            <p:cNvGrpSpPr/>
            <p:nvPr/>
          </p:nvGrpSpPr>
          <p:grpSpPr>
            <a:xfrm>
              <a:off x="2546317" y="3911755"/>
              <a:ext cx="180391" cy="643543"/>
              <a:chOff x="3390790" y="3616963"/>
              <a:chExt cx="180391" cy="643543"/>
            </a:xfrm>
          </p:grpSpPr>
          <p:sp>
            <p:nvSpPr>
              <p:cNvPr id="126" name="Trapezoid 125"/>
              <p:cNvSpPr/>
              <p:nvPr/>
            </p:nvSpPr>
            <p:spPr bwMode="auto">
              <a:xfrm rot="5400000">
                <a:off x="3159214" y="3848539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7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7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28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129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585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107902" y="3005501"/>
              <a:ext cx="1552498" cy="1873251"/>
              <a:chOff x="4488424" y="3657632"/>
              <a:chExt cx="1552498" cy="1873251"/>
            </a:xfrm>
          </p:grpSpPr>
          <p:sp>
            <p:nvSpPr>
              <p:cNvPr id="117" name="Rectangle 116"/>
              <p:cNvSpPr/>
              <p:nvPr/>
            </p:nvSpPr>
            <p:spPr bwMode="auto">
              <a:xfrm>
                <a:off x="4490028" y="3657632"/>
                <a:ext cx="1550894" cy="18706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4490028" y="3657633"/>
                <a:ext cx="72808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>
                    <a:latin typeface="+mj-lt"/>
                  </a:rPr>
                  <a:t>r</a:t>
                </a:r>
                <a:r>
                  <a:rPr lang="en-US" sz="1100" dirty="0" smtClean="0">
                    <a:latin typeface="+mj-lt"/>
                  </a:rPr>
                  <a:t>egister </a:t>
                </a:r>
                <a:r>
                  <a:rPr lang="en-US" sz="1100" b="1" dirty="0" smtClean="0">
                    <a:latin typeface="+mj-lt"/>
                  </a:rPr>
                  <a:t>1</a:t>
                </a: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5142771" y="3660836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pPr algn="r"/>
                <a:r>
                  <a:rPr lang="en-US" sz="1100" dirty="0">
                    <a:latin typeface="+mj-lt"/>
                  </a:rPr>
                  <a:t>d</a:t>
                </a:r>
                <a:r>
                  <a:rPr lang="en-US" sz="1100" dirty="0" smtClean="0">
                    <a:latin typeface="+mj-lt"/>
                  </a:rPr>
                  <a:t>ata </a:t>
                </a:r>
                <a:r>
                  <a:rPr lang="en-US" sz="1100" b="1" dirty="0" smtClean="0">
                    <a:latin typeface="+mj-lt"/>
                  </a:rPr>
                  <a:t>1</a:t>
                </a: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5141166" y="5220532"/>
                <a:ext cx="8429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+mj-lt"/>
                  </a:rPr>
                  <a:t>Registers</a:t>
                </a: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4490028" y="4132149"/>
                <a:ext cx="72808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>
                    <a:latin typeface="+mj-lt"/>
                  </a:rPr>
                  <a:t>r</a:t>
                </a:r>
                <a:r>
                  <a:rPr lang="en-US" sz="1100" dirty="0" smtClean="0">
                    <a:latin typeface="+mj-lt"/>
                  </a:rPr>
                  <a:t>egister </a:t>
                </a:r>
                <a:r>
                  <a:rPr lang="en-US" sz="1100" b="1" dirty="0" smtClean="0">
                    <a:latin typeface="+mj-lt"/>
                  </a:rPr>
                  <a:t>2</a:t>
                </a: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5142771" y="4285847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pPr algn="r"/>
                <a:r>
                  <a:rPr lang="en-US" sz="1100" dirty="0">
                    <a:latin typeface="+mj-lt"/>
                  </a:rPr>
                  <a:t>d</a:t>
                </a:r>
                <a:r>
                  <a:rPr lang="en-US" sz="1100" dirty="0" smtClean="0">
                    <a:latin typeface="+mj-lt"/>
                  </a:rPr>
                  <a:t>ata </a:t>
                </a:r>
                <a:r>
                  <a:rPr lang="en-US" sz="1100" b="1" dirty="0">
                    <a:latin typeface="+mj-lt"/>
                  </a:rPr>
                  <a:t>2</a:t>
                </a:r>
                <a:endParaRPr lang="en-US" sz="1100" b="1" dirty="0" smtClean="0">
                  <a:latin typeface="+mj-lt"/>
                </a:endParaRP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4488424" y="4669109"/>
                <a:ext cx="62388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Write</a:t>
                </a:r>
              </a:p>
              <a:p>
                <a:r>
                  <a:rPr lang="en-US" sz="1100" dirty="0" smtClean="0">
                    <a:latin typeface="+mj-lt"/>
                  </a:rPr>
                  <a:t>register</a:t>
                </a:r>
                <a:endParaRPr lang="en-US" sz="1100" b="1" dirty="0" smtClean="0">
                  <a:latin typeface="+mj-lt"/>
                </a:endParaRP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4490028" y="5099996"/>
                <a:ext cx="50687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Write</a:t>
                </a:r>
              </a:p>
              <a:p>
                <a:r>
                  <a:rPr lang="en-US" sz="1100" dirty="0" smtClean="0">
                    <a:latin typeface="+mj-lt"/>
                  </a:rPr>
                  <a:t>data</a:t>
                </a:r>
                <a:endParaRPr lang="en-US" sz="1100" b="1" dirty="0" smtClean="0">
                  <a:latin typeface="+mj-lt"/>
                </a:endParaRPr>
              </a:p>
            </p:txBody>
          </p:sp>
          <p:sp>
            <p:nvSpPr>
              <p:cNvPr id="125" name="Rectangle 124"/>
              <p:cNvSpPr/>
              <p:nvPr/>
            </p:nvSpPr>
            <p:spPr bwMode="auto">
              <a:xfrm>
                <a:off x="5194990" y="3666551"/>
                <a:ext cx="133350" cy="1333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3513352" y="2631170"/>
              <a:ext cx="739305" cy="393410"/>
              <a:chOff x="4262754" y="2858356"/>
              <a:chExt cx="739305" cy="393410"/>
            </a:xfrm>
          </p:grpSpPr>
          <p:sp>
            <p:nvSpPr>
              <p:cNvPr id="115" name="TextBox 114"/>
              <p:cNvSpPr txBox="1"/>
              <p:nvPr/>
            </p:nvSpPr>
            <p:spPr>
              <a:xfrm>
                <a:off x="4262754" y="2858356"/>
                <a:ext cx="739305" cy="26161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100" dirty="0" err="1" smtClean="0">
                    <a:solidFill>
                      <a:schemeClr val="accent1"/>
                    </a:solidFill>
                    <a:latin typeface="+mj-lt"/>
                  </a:rPr>
                  <a:t>RegWrite</a:t>
                </a:r>
                <a:endParaRPr lang="en-US" sz="1100" dirty="0" smtClean="0">
                  <a:solidFill>
                    <a:schemeClr val="accent1"/>
                  </a:solidFill>
                  <a:latin typeface="+mj-lt"/>
                </a:endParaRPr>
              </a:p>
            </p:txBody>
          </p:sp>
          <p:cxnSp>
            <p:nvCxnSpPr>
              <p:cNvPr id="116" name="Straight Connector 115"/>
              <p:cNvCxnSpPr>
                <a:stCxn id="115" idx="2"/>
                <a:endCxn id="125" idx="0"/>
              </p:cNvCxnSpPr>
              <p:nvPr/>
            </p:nvCxnSpPr>
            <p:spPr bwMode="auto">
              <a:xfrm flipH="1">
                <a:off x="4630545" y="3119966"/>
                <a:ext cx="1862" cy="1318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9" name="Straight Arrow Connector 8"/>
            <p:cNvCxnSpPr>
              <a:stCxn id="119" idx="3"/>
              <a:endCxn id="111" idx="1"/>
            </p:cNvCxnSpPr>
            <p:nvPr/>
          </p:nvCxnSpPr>
          <p:spPr bwMode="auto">
            <a:xfrm>
              <a:off x="4660400" y="3224149"/>
              <a:ext cx="794482" cy="1542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10" name="Group 9"/>
            <p:cNvGrpSpPr/>
            <p:nvPr/>
          </p:nvGrpSpPr>
          <p:grpSpPr>
            <a:xfrm>
              <a:off x="5448369" y="2909792"/>
              <a:ext cx="734048" cy="1439797"/>
              <a:chOff x="6722211" y="3121968"/>
              <a:chExt cx="734048" cy="1439797"/>
            </a:xfrm>
          </p:grpSpPr>
          <p:sp>
            <p:nvSpPr>
              <p:cNvPr id="109" name="Freeform 127"/>
              <p:cNvSpPr>
                <a:spLocks/>
              </p:cNvSpPr>
              <p:nvPr/>
            </p:nvSpPr>
            <p:spPr bwMode="auto">
              <a:xfrm>
                <a:off x="6728724" y="3121968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6728724" y="3392722"/>
                <a:ext cx="3637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200" dirty="0" smtClean="0">
                    <a:latin typeface="+mj-lt"/>
                  </a:rPr>
                  <a:t>ALU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6728724" y="3353228"/>
                <a:ext cx="15548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6722211" y="4182140"/>
                <a:ext cx="15548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6969760" y="3801019"/>
                <a:ext cx="481419" cy="26161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+mj-lt"/>
                  </a:rPr>
                  <a:t>Result</a:t>
                </a:r>
                <a:endParaRPr lang="en-US" sz="1100" b="1" dirty="0" smtClean="0">
                  <a:latin typeface="+mj-lt"/>
                </a:endParaRPr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7092491" y="3557248"/>
                <a:ext cx="358688" cy="24622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1000" dirty="0" smtClean="0">
                    <a:latin typeface="+mj-lt"/>
                  </a:rPr>
                  <a:t>Zero</a:t>
                </a:r>
                <a:endParaRPr lang="en-US" sz="1000" b="1" dirty="0" smtClean="0">
                  <a:latin typeface="+mj-lt"/>
                </a:endParaRPr>
              </a:p>
            </p:txBody>
          </p:sp>
        </p:grpSp>
        <p:cxnSp>
          <p:nvCxnSpPr>
            <p:cNvPr id="11" name="Elbow Connector 10"/>
            <p:cNvCxnSpPr>
              <a:stCxn id="122" idx="3"/>
              <a:endCxn id="104" idx="3"/>
            </p:cNvCxnSpPr>
            <p:nvPr/>
          </p:nvCxnSpPr>
          <p:spPr bwMode="auto">
            <a:xfrm flipV="1">
              <a:off x="4660400" y="3848031"/>
              <a:ext cx="454431" cy="1129"/>
            </a:xfrm>
            <a:prstGeom prst="bentConnector3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2" name="Elbow Connector 11"/>
            <p:cNvCxnSpPr>
              <a:stCxn id="93" idx="0"/>
              <a:endCxn id="124" idx="1"/>
            </p:cNvCxnSpPr>
            <p:nvPr/>
          </p:nvCxnSpPr>
          <p:spPr bwMode="auto">
            <a:xfrm flipH="1">
              <a:off x="3109506" y="3453128"/>
              <a:ext cx="5615445" cy="1210181"/>
            </a:xfrm>
            <a:prstGeom prst="bentConnector5">
              <a:avLst>
                <a:gd name="adj1" fmla="val -4071"/>
                <a:gd name="adj2" fmla="val 184609"/>
                <a:gd name="adj3" fmla="val 104071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3" name="Oval 12"/>
            <p:cNvSpPr/>
            <p:nvPr/>
          </p:nvSpPr>
          <p:spPr bwMode="auto">
            <a:xfrm>
              <a:off x="1743407" y="3183822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14" name="Straight Arrow Connector 13"/>
            <p:cNvCxnSpPr>
              <a:stCxn id="13" idx="6"/>
              <a:endCxn id="118" idx="1"/>
            </p:cNvCxnSpPr>
            <p:nvPr/>
          </p:nvCxnSpPr>
          <p:spPr bwMode="auto">
            <a:xfrm>
              <a:off x="1815879" y="3220058"/>
              <a:ext cx="1293627" cy="888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5" name="Elbow Connector 14"/>
            <p:cNvCxnSpPr>
              <a:stCxn id="13" idx="4"/>
              <a:endCxn id="121" idx="1"/>
            </p:cNvCxnSpPr>
            <p:nvPr/>
          </p:nvCxnSpPr>
          <p:spPr bwMode="auto">
            <a:xfrm rot="16200000" flipH="1">
              <a:off x="2224990" y="2810946"/>
              <a:ext cx="439168" cy="1329863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6" name="Elbow Connector 15"/>
            <p:cNvCxnSpPr>
              <a:stCxn id="13" idx="4"/>
              <a:endCxn id="128" idx="3"/>
            </p:cNvCxnSpPr>
            <p:nvPr/>
          </p:nvCxnSpPr>
          <p:spPr bwMode="auto">
            <a:xfrm rot="16200000" flipH="1">
              <a:off x="1571505" y="3464431"/>
              <a:ext cx="1188038" cy="771763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7" name="TextBox 16"/>
            <p:cNvSpPr txBox="1"/>
            <p:nvPr/>
          </p:nvSpPr>
          <p:spPr>
            <a:xfrm>
              <a:off x="1790302" y="2940272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[25-21]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82438" y="3413550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[20-16]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59821" y="4157483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[15-11]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5542593" y="4068255"/>
              <a:ext cx="580608" cy="532039"/>
              <a:chOff x="6598319" y="4283249"/>
              <a:chExt cx="580608" cy="532039"/>
            </a:xfrm>
          </p:grpSpPr>
          <p:sp>
            <p:nvSpPr>
              <p:cNvPr id="107" name="TextBox 106"/>
              <p:cNvSpPr txBox="1"/>
              <p:nvPr/>
            </p:nvSpPr>
            <p:spPr>
              <a:xfrm>
                <a:off x="6598319" y="4553678"/>
                <a:ext cx="5806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err="1" smtClean="0">
                    <a:solidFill>
                      <a:schemeClr val="accent1"/>
                    </a:solidFill>
                    <a:latin typeface="+mj-lt"/>
                  </a:rPr>
                  <a:t>ALUop</a:t>
                </a:r>
                <a:endParaRPr lang="en-US" sz="1100" dirty="0" smtClean="0">
                  <a:solidFill>
                    <a:schemeClr val="accent1"/>
                  </a:solidFill>
                  <a:latin typeface="+mj-lt"/>
                </a:endParaRPr>
              </a:p>
            </p:txBody>
          </p:sp>
          <p:cxnSp>
            <p:nvCxnSpPr>
              <p:cNvPr id="108" name="Straight Connector 107"/>
              <p:cNvCxnSpPr/>
              <p:nvPr/>
            </p:nvCxnSpPr>
            <p:spPr bwMode="auto">
              <a:xfrm flipH="1">
                <a:off x="6967969" y="4283249"/>
                <a:ext cx="32" cy="272672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1" name="Oval 20"/>
            <p:cNvSpPr/>
            <p:nvPr/>
          </p:nvSpPr>
          <p:spPr bwMode="auto">
            <a:xfrm>
              <a:off x="2289085" y="3662429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22" name="Elbow Connector 21"/>
            <p:cNvCxnSpPr>
              <a:stCxn id="21" idx="4"/>
              <a:endCxn id="127" idx="3"/>
            </p:cNvCxnSpPr>
            <p:nvPr/>
          </p:nvCxnSpPr>
          <p:spPr bwMode="auto">
            <a:xfrm rot="16200000" flipH="1">
              <a:off x="2292337" y="3767885"/>
              <a:ext cx="292053" cy="226084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3" name="Straight Arrow Connector 22"/>
            <p:cNvCxnSpPr>
              <a:stCxn id="126" idx="0"/>
              <a:endCxn id="123" idx="1"/>
            </p:cNvCxnSpPr>
            <p:nvPr/>
          </p:nvCxnSpPr>
          <p:spPr bwMode="auto">
            <a:xfrm flipV="1">
              <a:off x="2726708" y="4232422"/>
              <a:ext cx="381194" cy="110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4" name="Rounded Rectangle 23"/>
            <p:cNvSpPr/>
            <p:nvPr/>
          </p:nvSpPr>
          <p:spPr bwMode="auto">
            <a:xfrm>
              <a:off x="3435075" y="5078121"/>
              <a:ext cx="953678" cy="27388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100" dirty="0" smtClean="0">
                  <a:latin typeface="+mj-lt"/>
                  <a:cs typeface="Arial" pitchFamily="34" charset="0"/>
                </a:rPr>
                <a:t>Sign extend</a:t>
              </a:r>
              <a:endParaRPr lang="en-US" sz="1100" dirty="0">
                <a:latin typeface="+mj-lt"/>
                <a:cs typeface="Arial" pitchFamily="34" charset="0"/>
              </a:endParaRPr>
            </a:p>
          </p:txBody>
        </p:sp>
        <p:cxnSp>
          <p:nvCxnSpPr>
            <p:cNvPr id="25" name="Elbow Connector 24"/>
            <p:cNvCxnSpPr>
              <a:stCxn id="13" idx="4"/>
              <a:endCxn id="24" idx="1"/>
            </p:cNvCxnSpPr>
            <p:nvPr/>
          </p:nvCxnSpPr>
          <p:spPr bwMode="auto">
            <a:xfrm rot="16200000" flipH="1">
              <a:off x="1627975" y="3407962"/>
              <a:ext cx="1958769" cy="1655432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6" name="TextBox 25"/>
            <p:cNvSpPr txBox="1"/>
            <p:nvPr/>
          </p:nvSpPr>
          <p:spPr>
            <a:xfrm>
              <a:off x="1782438" y="4940107"/>
              <a:ext cx="6335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[15-0]</a:t>
              </a: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5109743" y="3732832"/>
              <a:ext cx="180391" cy="643543"/>
              <a:chOff x="3390790" y="3616963"/>
              <a:chExt cx="180391" cy="643543"/>
            </a:xfrm>
          </p:grpSpPr>
          <p:sp>
            <p:nvSpPr>
              <p:cNvPr id="103" name="Trapezoid 102"/>
              <p:cNvSpPr/>
              <p:nvPr/>
            </p:nvSpPr>
            <p:spPr bwMode="auto">
              <a:xfrm rot="5400000">
                <a:off x="3159214" y="3848539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4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7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05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106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585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cxnSp>
          <p:nvCxnSpPr>
            <p:cNvPr id="28" name="Straight Arrow Connector 27"/>
            <p:cNvCxnSpPr>
              <a:stCxn id="103" idx="0"/>
              <a:endCxn id="112" idx="1"/>
            </p:cNvCxnSpPr>
            <p:nvPr/>
          </p:nvCxnSpPr>
          <p:spPr bwMode="auto">
            <a:xfrm flipV="1">
              <a:off x="5290134" y="4054603"/>
              <a:ext cx="158235" cy="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9" name="Elbow Connector 28"/>
            <p:cNvCxnSpPr>
              <a:stCxn id="24" idx="3"/>
              <a:endCxn id="41" idx="4"/>
            </p:cNvCxnSpPr>
            <p:nvPr/>
          </p:nvCxnSpPr>
          <p:spPr bwMode="auto">
            <a:xfrm flipV="1">
              <a:off x="4388753" y="4300834"/>
              <a:ext cx="557649" cy="914229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0" name="Group 29"/>
            <p:cNvGrpSpPr/>
            <p:nvPr/>
          </p:nvGrpSpPr>
          <p:grpSpPr>
            <a:xfrm>
              <a:off x="6753863" y="3028047"/>
              <a:ext cx="1447263" cy="1386443"/>
              <a:chOff x="3124737" y="3598050"/>
              <a:chExt cx="1447263" cy="1386443"/>
            </a:xfrm>
          </p:grpSpPr>
          <p:sp>
            <p:nvSpPr>
              <p:cNvPr id="97" name="Rectangle 96"/>
              <p:cNvSpPr/>
              <p:nvPr/>
            </p:nvSpPr>
            <p:spPr bwMode="auto">
              <a:xfrm>
                <a:off x="3126744" y="3598050"/>
                <a:ext cx="1445256" cy="1386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3124738" y="3598050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r>
                  <a:rPr lang="en-US" sz="1100" dirty="0" smtClean="0">
                    <a:latin typeface="+mj-lt"/>
                  </a:rPr>
                  <a:t>address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3673849" y="3601253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+mj-lt"/>
                  </a:rPr>
                  <a:t>Read</a:t>
                </a:r>
              </a:p>
              <a:p>
                <a:pPr algn="r"/>
                <a:r>
                  <a:rPr lang="en-US" sz="1100" dirty="0" smtClean="0">
                    <a:latin typeface="+mj-lt"/>
                  </a:rPr>
                  <a:t>data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3733308" y="4674175"/>
                <a:ext cx="8386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+mj-lt"/>
                  </a:rPr>
                  <a:t>Memory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3126744" y="4073403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Write</a:t>
                </a:r>
              </a:p>
              <a:p>
                <a:r>
                  <a:rPr lang="en-US" sz="1100" dirty="0" smtClean="0">
                    <a:latin typeface="+mj-lt"/>
                  </a:rPr>
                  <a:t>address</a:t>
                </a: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3124737" y="4553606"/>
                <a:ext cx="50687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+mj-lt"/>
                  </a:rPr>
                  <a:t>Write</a:t>
                </a:r>
              </a:p>
              <a:p>
                <a:r>
                  <a:rPr lang="en-US" sz="1100" dirty="0" smtClean="0">
                    <a:latin typeface="+mj-lt"/>
                  </a:rPr>
                  <a:t>data</a:t>
                </a:r>
              </a:p>
            </p:txBody>
          </p:sp>
        </p:grpSp>
        <p:cxnSp>
          <p:nvCxnSpPr>
            <p:cNvPr id="31" name="Straight Arrow Connector 30"/>
            <p:cNvCxnSpPr>
              <a:stCxn id="99" idx="3"/>
              <a:endCxn id="94" idx="3"/>
            </p:cNvCxnSpPr>
            <p:nvPr/>
          </p:nvCxnSpPr>
          <p:spPr bwMode="auto">
            <a:xfrm flipV="1">
              <a:off x="8201126" y="3246555"/>
              <a:ext cx="348522" cy="139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32" name="Group 31"/>
            <p:cNvGrpSpPr/>
            <p:nvPr/>
          </p:nvGrpSpPr>
          <p:grpSpPr>
            <a:xfrm>
              <a:off x="8544560" y="3131356"/>
              <a:ext cx="180391" cy="643543"/>
              <a:chOff x="3390790" y="3616963"/>
              <a:chExt cx="180391" cy="643543"/>
            </a:xfrm>
          </p:grpSpPr>
          <p:sp>
            <p:nvSpPr>
              <p:cNvPr id="93" name="Trapezoid 92"/>
              <p:cNvSpPr/>
              <p:nvPr/>
            </p:nvSpPr>
            <p:spPr bwMode="auto">
              <a:xfrm rot="5400000">
                <a:off x="3159214" y="3848539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4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dirty="0" smtClean="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7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95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96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585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cxnSp>
          <p:nvCxnSpPr>
            <p:cNvPr id="33" name="Straight Arrow Connector 32"/>
            <p:cNvCxnSpPr>
              <a:stCxn id="113" idx="3"/>
              <a:endCxn id="101" idx="1"/>
            </p:cNvCxnSpPr>
            <p:nvPr/>
          </p:nvCxnSpPr>
          <p:spPr bwMode="auto">
            <a:xfrm flipV="1">
              <a:off x="6177337" y="3718844"/>
              <a:ext cx="578533" cy="804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34" name="Oval 33"/>
            <p:cNvSpPr/>
            <p:nvPr/>
          </p:nvSpPr>
          <p:spPr bwMode="auto">
            <a:xfrm>
              <a:off x="4762970" y="3815889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93636" y="4885769"/>
              <a:ext cx="95539" cy="1231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" dirty="0" smtClean="0">
                  <a:latin typeface="+mj-lt"/>
                </a:rPr>
                <a:t> </a:t>
              </a:r>
            </a:p>
          </p:txBody>
        </p:sp>
        <p:cxnSp>
          <p:nvCxnSpPr>
            <p:cNvPr id="36" name="Elbow Connector 35"/>
            <p:cNvCxnSpPr>
              <a:stCxn id="34" idx="4"/>
              <a:endCxn id="35" idx="1"/>
            </p:cNvCxnSpPr>
            <p:nvPr/>
          </p:nvCxnSpPr>
          <p:spPr bwMode="auto">
            <a:xfrm rot="16200000" flipH="1">
              <a:off x="4816939" y="3870628"/>
              <a:ext cx="1058964" cy="1094430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7" name="Elbow Connector 36"/>
            <p:cNvCxnSpPr>
              <a:stCxn id="35" idx="1"/>
              <a:endCxn id="102" idx="1"/>
            </p:cNvCxnSpPr>
            <p:nvPr/>
          </p:nvCxnSpPr>
          <p:spPr bwMode="auto">
            <a:xfrm rot="10800000" flipH="1">
              <a:off x="5893635" y="4199047"/>
              <a:ext cx="860227" cy="748278"/>
            </a:xfrm>
            <a:prstGeom prst="bentConnector3">
              <a:avLst>
                <a:gd name="adj1" fmla="val 33661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38" name="Oval 37"/>
            <p:cNvSpPr/>
            <p:nvPr/>
          </p:nvSpPr>
          <p:spPr bwMode="auto">
            <a:xfrm>
              <a:off x="6377497" y="3686159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39" name="Elbow Connector 38"/>
            <p:cNvCxnSpPr>
              <a:stCxn id="38" idx="4"/>
              <a:endCxn id="95" idx="3"/>
            </p:cNvCxnSpPr>
            <p:nvPr/>
          </p:nvCxnSpPr>
          <p:spPr bwMode="auto">
            <a:xfrm rot="5400000" flipH="1" flipV="1">
              <a:off x="7434342" y="2643324"/>
              <a:ext cx="94698" cy="2135916"/>
            </a:xfrm>
            <a:prstGeom prst="bentConnector4">
              <a:avLst>
                <a:gd name="adj1" fmla="val -1239181"/>
                <a:gd name="adj2" fmla="val 91518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40" name="Rounded Rectangle 39"/>
            <p:cNvSpPr/>
            <p:nvPr/>
          </p:nvSpPr>
          <p:spPr bwMode="auto">
            <a:xfrm>
              <a:off x="5139129" y="2334921"/>
              <a:ext cx="476839" cy="27388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100" dirty="0" smtClean="0">
                  <a:latin typeface="+mj-lt"/>
                  <a:cs typeface="Arial" pitchFamily="34" charset="0"/>
                </a:rPr>
                <a:t>&lt;&lt; 2</a:t>
              </a:r>
              <a:endParaRPr lang="en-US" sz="1100" dirty="0">
                <a:latin typeface="+mj-lt"/>
                <a:cs typeface="Arial" pitchFamily="34" charset="0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4910166" y="4228362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42" name="Straight Arrow Connector 41"/>
            <p:cNvCxnSpPr>
              <a:stCxn id="41" idx="6"/>
              <a:endCxn id="105" idx="3"/>
            </p:cNvCxnSpPr>
            <p:nvPr/>
          </p:nvCxnSpPr>
          <p:spPr bwMode="auto">
            <a:xfrm>
              <a:off x="4982638" y="4264598"/>
              <a:ext cx="132194" cy="81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43" name="Elbow Connector 42"/>
            <p:cNvCxnSpPr>
              <a:stCxn id="41" idx="0"/>
              <a:endCxn id="40" idx="1"/>
            </p:cNvCxnSpPr>
            <p:nvPr/>
          </p:nvCxnSpPr>
          <p:spPr bwMode="auto">
            <a:xfrm rot="5400000" flipH="1" flipV="1">
              <a:off x="4164516" y="3253750"/>
              <a:ext cx="1756499" cy="192727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44" name="Group 43"/>
            <p:cNvGrpSpPr/>
            <p:nvPr/>
          </p:nvGrpSpPr>
          <p:grpSpPr>
            <a:xfrm>
              <a:off x="5857281" y="1838637"/>
              <a:ext cx="401408" cy="794389"/>
              <a:chOff x="6728724" y="3121968"/>
              <a:chExt cx="727535" cy="1439797"/>
            </a:xfrm>
          </p:grpSpPr>
          <p:sp>
            <p:nvSpPr>
              <p:cNvPr id="89" name="Freeform 127"/>
              <p:cNvSpPr>
                <a:spLocks/>
              </p:cNvSpPr>
              <p:nvPr/>
            </p:nvSpPr>
            <p:spPr bwMode="auto">
              <a:xfrm>
                <a:off x="6728724" y="3121968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6955934" y="3710216"/>
                <a:ext cx="496610" cy="3068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+mj-lt"/>
                  </a:rPr>
                  <a:t>Add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6728724" y="3281200"/>
                <a:ext cx="155483" cy="306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6728724" y="4115686"/>
                <a:ext cx="155483" cy="306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</p:grpSp>
        <p:cxnSp>
          <p:nvCxnSpPr>
            <p:cNvPr id="45" name="Straight Arrow Connector 44"/>
            <p:cNvCxnSpPr>
              <a:stCxn id="40" idx="3"/>
              <a:endCxn id="92" idx="1"/>
            </p:cNvCxnSpPr>
            <p:nvPr/>
          </p:nvCxnSpPr>
          <p:spPr bwMode="auto">
            <a:xfrm flipV="1">
              <a:off x="5615968" y="2471547"/>
              <a:ext cx="241313" cy="316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46" name="Group 45"/>
            <p:cNvGrpSpPr/>
            <p:nvPr/>
          </p:nvGrpSpPr>
          <p:grpSpPr>
            <a:xfrm>
              <a:off x="2267241" y="1620197"/>
              <a:ext cx="401408" cy="794389"/>
              <a:chOff x="6728724" y="3121968"/>
              <a:chExt cx="727535" cy="1439797"/>
            </a:xfrm>
          </p:grpSpPr>
          <p:sp>
            <p:nvSpPr>
              <p:cNvPr id="85" name="Freeform 127"/>
              <p:cNvSpPr>
                <a:spLocks/>
              </p:cNvSpPr>
              <p:nvPr/>
            </p:nvSpPr>
            <p:spPr bwMode="auto">
              <a:xfrm>
                <a:off x="6728724" y="3121968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6955934" y="3710216"/>
                <a:ext cx="496610" cy="3068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+mj-lt"/>
                  </a:rPr>
                  <a:t>Add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6728724" y="3319972"/>
                <a:ext cx="155483" cy="306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6728724" y="4152245"/>
                <a:ext cx="155483" cy="306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+mj-lt"/>
                  </a:rPr>
                  <a:t> 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281570" y="1892964"/>
              <a:ext cx="388497" cy="625620"/>
              <a:chOff x="155044" y="1514471"/>
              <a:chExt cx="388497" cy="625620"/>
            </a:xfrm>
          </p:grpSpPr>
          <p:grpSp>
            <p:nvGrpSpPr>
              <p:cNvPr id="81" name="Group 80"/>
              <p:cNvGrpSpPr/>
              <p:nvPr/>
            </p:nvGrpSpPr>
            <p:grpSpPr>
              <a:xfrm>
                <a:off x="169720" y="1514471"/>
                <a:ext cx="373821" cy="625620"/>
                <a:chOff x="2979708" y="2694759"/>
                <a:chExt cx="492339" cy="823968"/>
              </a:xfrm>
            </p:grpSpPr>
            <p:sp>
              <p:nvSpPr>
                <p:cNvPr id="83" name="Rectangle 82"/>
                <p:cNvSpPr/>
                <p:nvPr/>
              </p:nvSpPr>
              <p:spPr bwMode="auto">
                <a:xfrm>
                  <a:off x="2991378" y="2694759"/>
                  <a:ext cx="468998" cy="82396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2979708" y="2872568"/>
                  <a:ext cx="492339" cy="4053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PC</a:t>
                  </a:r>
                </a:p>
              </p:txBody>
            </p:sp>
          </p:grpSp>
          <p:sp>
            <p:nvSpPr>
              <p:cNvPr id="82" name="Isosceles Triangle 81"/>
              <p:cNvSpPr/>
              <p:nvPr/>
            </p:nvSpPr>
            <p:spPr bwMode="auto">
              <a:xfrm rot="19800000">
                <a:off x="155044" y="1973506"/>
                <a:ext cx="89552" cy="77200"/>
              </a:xfrm>
              <a:prstGeom prst="triangl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</p:grpSp>
        <p:cxnSp>
          <p:nvCxnSpPr>
            <p:cNvPr id="48" name="Straight Arrow Connector 47"/>
            <p:cNvCxnSpPr>
              <a:stCxn id="83" idx="2"/>
              <a:endCxn id="49" idx="0"/>
            </p:cNvCxnSpPr>
            <p:nvPr/>
          </p:nvCxnSpPr>
          <p:spPr bwMode="auto">
            <a:xfrm flipH="1">
              <a:off x="482818" y="2518584"/>
              <a:ext cx="340" cy="18045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" name="Oval 48"/>
            <p:cNvSpPr/>
            <p:nvPr/>
          </p:nvSpPr>
          <p:spPr bwMode="auto">
            <a:xfrm>
              <a:off x="446582" y="2699035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50" name="Elbow Connector 49"/>
            <p:cNvCxnSpPr>
              <a:stCxn id="49" idx="6"/>
              <a:endCxn id="88" idx="1"/>
            </p:cNvCxnSpPr>
            <p:nvPr/>
          </p:nvCxnSpPr>
          <p:spPr bwMode="auto">
            <a:xfrm flipV="1">
              <a:off x="519054" y="2273278"/>
              <a:ext cx="1748187" cy="461993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1" name="Straight Arrow Connector 50"/>
            <p:cNvCxnSpPr>
              <a:stCxn id="49" idx="4"/>
              <a:endCxn id="133" idx="0"/>
            </p:cNvCxnSpPr>
            <p:nvPr/>
          </p:nvCxnSpPr>
          <p:spPr bwMode="auto">
            <a:xfrm flipH="1">
              <a:off x="481043" y="2771507"/>
              <a:ext cx="1775" cy="223118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52" name="TextBox 51"/>
            <p:cNvSpPr txBox="1"/>
            <p:nvPr/>
          </p:nvSpPr>
          <p:spPr>
            <a:xfrm>
              <a:off x="1758427" y="1653334"/>
              <a:ext cx="276037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400" b="1" dirty="0" smtClean="0">
                  <a:latin typeface="+mj-lt"/>
                </a:rPr>
                <a:t>4</a:t>
              </a:r>
            </a:p>
          </p:txBody>
        </p:sp>
        <p:cxnSp>
          <p:nvCxnSpPr>
            <p:cNvPr id="53" name="Straight Arrow Connector 52"/>
            <p:cNvCxnSpPr>
              <a:stCxn id="52" idx="3"/>
              <a:endCxn id="87" idx="1"/>
            </p:cNvCxnSpPr>
            <p:nvPr/>
          </p:nvCxnSpPr>
          <p:spPr bwMode="auto">
            <a:xfrm>
              <a:off x="2034464" y="1807223"/>
              <a:ext cx="232777" cy="6859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4" name="Straight Arrow Connector 53"/>
            <p:cNvCxnSpPr>
              <a:stCxn id="86" idx="3"/>
              <a:endCxn id="57" idx="2"/>
            </p:cNvCxnSpPr>
            <p:nvPr/>
          </p:nvCxnSpPr>
          <p:spPr bwMode="auto">
            <a:xfrm flipV="1">
              <a:off x="2666599" y="2011881"/>
              <a:ext cx="2669673" cy="17513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5" name="Group 54"/>
            <p:cNvGrpSpPr/>
            <p:nvPr/>
          </p:nvGrpSpPr>
          <p:grpSpPr>
            <a:xfrm>
              <a:off x="6570983" y="1632898"/>
              <a:ext cx="180391" cy="721202"/>
              <a:chOff x="3390791" y="3616964"/>
              <a:chExt cx="180391" cy="643543"/>
            </a:xfrm>
          </p:grpSpPr>
          <p:sp>
            <p:nvSpPr>
              <p:cNvPr id="77" name="Trapezoid 76"/>
              <p:cNvSpPr/>
              <p:nvPr/>
            </p:nvSpPr>
            <p:spPr bwMode="auto">
              <a:xfrm rot="5400000">
                <a:off x="3159215" y="3848540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8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961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7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79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961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80" name="Rectangle 160"/>
              <p:cNvSpPr>
                <a:spLocks noChangeArrowheads="1"/>
              </p:cNvSpPr>
              <p:nvPr/>
            </p:nvSpPr>
            <p:spPr bwMode="auto">
              <a:xfrm flipH="1">
                <a:off x="3451167" y="3821794"/>
                <a:ext cx="83356" cy="23069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cxnSp>
          <p:nvCxnSpPr>
            <p:cNvPr id="56" name="Straight Arrow Connector 55"/>
            <p:cNvCxnSpPr>
              <a:stCxn id="90" idx="3"/>
            </p:cNvCxnSpPr>
            <p:nvPr/>
          </p:nvCxnSpPr>
          <p:spPr bwMode="auto">
            <a:xfrm flipV="1">
              <a:off x="6256639" y="2235831"/>
              <a:ext cx="314343" cy="12003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57" name="Oval 56"/>
            <p:cNvSpPr/>
            <p:nvPr/>
          </p:nvSpPr>
          <p:spPr bwMode="auto">
            <a:xfrm>
              <a:off x="5336272" y="1975645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58" name="Straight Arrow Connector 57"/>
            <p:cNvCxnSpPr>
              <a:stCxn id="57" idx="6"/>
              <a:endCxn id="91" idx="1"/>
            </p:cNvCxnSpPr>
            <p:nvPr/>
          </p:nvCxnSpPr>
          <p:spPr bwMode="auto">
            <a:xfrm flipV="1">
              <a:off x="5408744" y="2011130"/>
              <a:ext cx="448537" cy="75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9" name="Elbow Connector 58"/>
            <p:cNvCxnSpPr>
              <a:stCxn id="57" idx="0"/>
              <a:endCxn id="78" idx="3"/>
            </p:cNvCxnSpPr>
            <p:nvPr/>
          </p:nvCxnSpPr>
          <p:spPr bwMode="auto">
            <a:xfrm rot="5400000" flipH="1" flipV="1">
              <a:off x="5864216" y="1263791"/>
              <a:ext cx="220147" cy="1203562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60" name="Elbow Connector 59"/>
            <p:cNvCxnSpPr>
              <a:stCxn id="77" idx="0"/>
              <a:endCxn id="83" idx="0"/>
            </p:cNvCxnSpPr>
            <p:nvPr/>
          </p:nvCxnSpPr>
          <p:spPr bwMode="auto">
            <a:xfrm flipH="1" flipV="1">
              <a:off x="483158" y="1892964"/>
              <a:ext cx="6268216" cy="100535"/>
            </a:xfrm>
            <a:prstGeom prst="bentConnector4">
              <a:avLst>
                <a:gd name="adj1" fmla="val -4395"/>
                <a:gd name="adj2" fmla="val 559819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61" name="Elbow Connector 60"/>
            <p:cNvCxnSpPr>
              <a:stCxn id="38" idx="0"/>
              <a:endCxn id="98" idx="1"/>
            </p:cNvCxnSpPr>
            <p:nvPr/>
          </p:nvCxnSpPr>
          <p:spPr bwMode="auto">
            <a:xfrm rot="5400000" flipH="1" flipV="1">
              <a:off x="6362464" y="3294760"/>
              <a:ext cx="442668" cy="340131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62" name="Group 61"/>
            <p:cNvGrpSpPr/>
            <p:nvPr/>
          </p:nvGrpSpPr>
          <p:grpSpPr>
            <a:xfrm>
              <a:off x="4981746" y="4328109"/>
              <a:ext cx="588623" cy="523200"/>
              <a:chOff x="6744623" y="4292088"/>
              <a:chExt cx="588623" cy="523200"/>
            </a:xfrm>
          </p:grpSpPr>
          <p:sp>
            <p:nvSpPr>
              <p:cNvPr id="75" name="TextBox 74"/>
              <p:cNvSpPr txBox="1"/>
              <p:nvPr/>
            </p:nvSpPr>
            <p:spPr>
              <a:xfrm>
                <a:off x="6744623" y="4553678"/>
                <a:ext cx="5886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err="1" smtClean="0">
                    <a:solidFill>
                      <a:schemeClr val="accent1"/>
                    </a:solidFill>
                    <a:latin typeface="+mj-lt"/>
                  </a:rPr>
                  <a:t>ALUSrc</a:t>
                </a:r>
                <a:endParaRPr lang="en-US" sz="1100" dirty="0" smtClean="0">
                  <a:solidFill>
                    <a:schemeClr val="accent1"/>
                  </a:solidFill>
                  <a:latin typeface="+mj-lt"/>
                </a:endParaRPr>
              </a:p>
            </p:txBody>
          </p:sp>
          <p:cxnSp>
            <p:nvCxnSpPr>
              <p:cNvPr id="76" name="Straight Connector 75"/>
              <p:cNvCxnSpPr>
                <a:stCxn id="103" idx="3"/>
              </p:cNvCxnSpPr>
              <p:nvPr/>
            </p:nvCxnSpPr>
            <p:spPr bwMode="auto">
              <a:xfrm>
                <a:off x="6962815" y="4292088"/>
                <a:ext cx="0" cy="26159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3" name="Group 62"/>
            <p:cNvGrpSpPr/>
            <p:nvPr/>
          </p:nvGrpSpPr>
          <p:grpSpPr>
            <a:xfrm>
              <a:off x="7073684" y="2631170"/>
              <a:ext cx="811441" cy="396877"/>
              <a:chOff x="4224400" y="2858356"/>
              <a:chExt cx="811441" cy="396877"/>
            </a:xfrm>
          </p:grpSpPr>
          <p:sp>
            <p:nvSpPr>
              <p:cNvPr id="73" name="TextBox 72"/>
              <p:cNvSpPr txBox="1"/>
              <p:nvPr/>
            </p:nvSpPr>
            <p:spPr>
              <a:xfrm>
                <a:off x="4224400" y="2858356"/>
                <a:ext cx="811441" cy="26161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100" dirty="0" err="1" smtClean="0">
                    <a:solidFill>
                      <a:schemeClr val="accent1"/>
                    </a:solidFill>
                    <a:latin typeface="+mj-lt"/>
                  </a:rPr>
                  <a:t>MemWrite</a:t>
                </a:r>
                <a:endParaRPr lang="en-US" sz="1100" dirty="0" smtClean="0">
                  <a:solidFill>
                    <a:schemeClr val="accent1"/>
                  </a:solidFill>
                  <a:latin typeface="+mj-lt"/>
                </a:endParaRPr>
              </a:p>
            </p:txBody>
          </p:sp>
          <p:cxnSp>
            <p:nvCxnSpPr>
              <p:cNvPr id="74" name="Straight Connector 73"/>
              <p:cNvCxnSpPr>
                <a:stCxn id="73" idx="2"/>
                <a:endCxn id="97" idx="0"/>
              </p:cNvCxnSpPr>
              <p:nvPr/>
            </p:nvCxnSpPr>
            <p:spPr bwMode="auto">
              <a:xfrm flipH="1">
                <a:off x="4629214" y="3119966"/>
                <a:ext cx="907" cy="135267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4" name="Group 63"/>
            <p:cNvGrpSpPr/>
            <p:nvPr/>
          </p:nvGrpSpPr>
          <p:grpSpPr>
            <a:xfrm>
              <a:off x="6420905" y="2291615"/>
              <a:ext cx="505267" cy="443656"/>
              <a:chOff x="6705081" y="4283249"/>
              <a:chExt cx="505267" cy="443656"/>
            </a:xfrm>
          </p:grpSpPr>
          <p:sp>
            <p:nvSpPr>
              <p:cNvPr id="71" name="TextBox 70"/>
              <p:cNvSpPr txBox="1"/>
              <p:nvPr/>
            </p:nvSpPr>
            <p:spPr>
              <a:xfrm>
                <a:off x="6705081" y="4465295"/>
                <a:ext cx="50526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err="1" smtClean="0">
                    <a:solidFill>
                      <a:schemeClr val="accent1"/>
                    </a:solidFill>
                    <a:latin typeface="+mj-lt"/>
                  </a:rPr>
                  <a:t>PCSrc</a:t>
                </a:r>
                <a:endParaRPr lang="en-US" sz="1100" dirty="0" smtClean="0">
                  <a:solidFill>
                    <a:schemeClr val="accent1"/>
                  </a:solidFill>
                  <a:latin typeface="+mj-lt"/>
                </a:endParaRPr>
              </a:p>
            </p:txBody>
          </p:sp>
          <p:cxnSp>
            <p:nvCxnSpPr>
              <p:cNvPr id="72" name="Straight Connector 71"/>
              <p:cNvCxnSpPr/>
              <p:nvPr/>
            </p:nvCxnSpPr>
            <p:spPr bwMode="auto">
              <a:xfrm>
                <a:off x="6968001" y="4283249"/>
                <a:ext cx="0" cy="179461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5" name="Group 64"/>
            <p:cNvGrpSpPr/>
            <p:nvPr/>
          </p:nvGrpSpPr>
          <p:grpSpPr>
            <a:xfrm>
              <a:off x="2230176" y="4507032"/>
              <a:ext cx="585417" cy="424806"/>
              <a:chOff x="6561743" y="4287612"/>
              <a:chExt cx="585417" cy="424806"/>
            </a:xfrm>
          </p:grpSpPr>
          <p:sp>
            <p:nvSpPr>
              <p:cNvPr id="69" name="TextBox 68"/>
              <p:cNvSpPr txBox="1"/>
              <p:nvPr/>
            </p:nvSpPr>
            <p:spPr>
              <a:xfrm>
                <a:off x="6561743" y="4450808"/>
                <a:ext cx="58541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err="1" smtClean="0">
                    <a:solidFill>
                      <a:schemeClr val="accent1"/>
                    </a:solidFill>
                    <a:latin typeface="+mj-lt"/>
                  </a:rPr>
                  <a:t>RegDst</a:t>
                </a:r>
                <a:endParaRPr lang="en-US" sz="1100" dirty="0" smtClean="0">
                  <a:solidFill>
                    <a:schemeClr val="accent1"/>
                  </a:solidFill>
                  <a:latin typeface="+mj-lt"/>
                </a:endParaRPr>
              </a:p>
            </p:txBody>
          </p:sp>
          <p:cxnSp>
            <p:nvCxnSpPr>
              <p:cNvPr id="70" name="Straight Connector 69"/>
              <p:cNvCxnSpPr>
                <a:stCxn id="126" idx="3"/>
              </p:cNvCxnSpPr>
              <p:nvPr/>
            </p:nvCxnSpPr>
            <p:spPr bwMode="auto">
              <a:xfrm>
                <a:off x="6968079" y="4287612"/>
                <a:ext cx="0" cy="215257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6" name="Group 65"/>
            <p:cNvGrpSpPr/>
            <p:nvPr/>
          </p:nvGrpSpPr>
          <p:grpSpPr>
            <a:xfrm>
              <a:off x="8208125" y="2621744"/>
              <a:ext cx="857928" cy="568038"/>
              <a:chOff x="4191631" y="2696431"/>
              <a:chExt cx="857928" cy="568038"/>
            </a:xfrm>
          </p:grpSpPr>
          <p:sp>
            <p:nvSpPr>
              <p:cNvPr id="67" name="TextBox 66"/>
              <p:cNvSpPr txBox="1"/>
              <p:nvPr/>
            </p:nvSpPr>
            <p:spPr>
              <a:xfrm>
                <a:off x="4191631" y="2696431"/>
                <a:ext cx="857928" cy="26161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100" dirty="0" err="1" smtClean="0">
                    <a:solidFill>
                      <a:schemeClr val="accent1"/>
                    </a:solidFill>
                    <a:latin typeface="+mj-lt"/>
                  </a:rPr>
                  <a:t>MemToReg</a:t>
                </a:r>
                <a:endParaRPr lang="en-US" sz="1100" dirty="0" smtClean="0">
                  <a:solidFill>
                    <a:schemeClr val="accent1"/>
                  </a:solidFill>
                  <a:latin typeface="+mj-lt"/>
                </a:endParaRPr>
              </a:p>
            </p:txBody>
          </p:sp>
          <p:cxnSp>
            <p:nvCxnSpPr>
              <p:cNvPr id="68" name="Straight Connector 67"/>
              <p:cNvCxnSpPr>
                <a:stCxn id="67" idx="2"/>
                <a:endCxn id="93" idx="1"/>
              </p:cNvCxnSpPr>
              <p:nvPr/>
            </p:nvCxnSpPr>
            <p:spPr bwMode="auto">
              <a:xfrm flipH="1">
                <a:off x="4618261" y="2958041"/>
                <a:ext cx="2334" cy="306428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32590478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877051"/>
            <a:ext cx="8228012" cy="5101172"/>
          </a:xfrm>
        </p:spPr>
        <p:txBody>
          <a:bodyPr/>
          <a:lstStyle/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The control unit is responsible for setting all the control signals so that </a:t>
            </a:r>
            <a:r>
              <a:rPr lang="en-US" sz="2000" dirty="0" smtClean="0"/>
              <a:t>each </a:t>
            </a:r>
            <a:r>
              <a:rPr lang="en-US" sz="2000" dirty="0"/>
              <a:t>instruction is executed </a:t>
            </a:r>
            <a:r>
              <a:rPr lang="en-US" sz="2000" dirty="0" smtClean="0"/>
              <a:t>properly</a:t>
            </a:r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The control unit needs </a:t>
            </a:r>
            <a:r>
              <a:rPr lang="en-US" sz="2000" dirty="0" smtClean="0"/>
              <a:t>12 </a:t>
            </a:r>
            <a:r>
              <a:rPr lang="en-US" sz="2000" dirty="0"/>
              <a:t>bits </a:t>
            </a:r>
            <a:r>
              <a:rPr lang="en-US" sz="2000" dirty="0" smtClean="0"/>
              <a:t>of an instruction</a:t>
            </a:r>
            <a:endParaRPr lang="en-US" sz="2000" dirty="0"/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Six </a:t>
            </a:r>
            <a:r>
              <a:rPr lang="en-US" sz="1800" dirty="0"/>
              <a:t>bits make up the </a:t>
            </a:r>
            <a:r>
              <a:rPr lang="en-US" sz="1800" dirty="0" smtClean="0"/>
              <a:t>instruction </a:t>
            </a:r>
            <a:r>
              <a:rPr lang="en-US" sz="1800" dirty="0" err="1" smtClean="0">
                <a:solidFill>
                  <a:schemeClr val="accent1"/>
                </a:solidFill>
              </a:rPr>
              <a:t>opcode</a:t>
            </a:r>
            <a:endParaRPr lang="en-US" sz="1800" dirty="0">
              <a:solidFill>
                <a:schemeClr val="accent1"/>
              </a:solidFill>
            </a:endParaRP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Six </a:t>
            </a:r>
            <a:r>
              <a:rPr lang="en-US" sz="1800" dirty="0"/>
              <a:t>bits come from the </a:t>
            </a:r>
            <a:r>
              <a:rPr lang="en-US" sz="1800" dirty="0" smtClean="0"/>
              <a:t>instruction </a:t>
            </a:r>
            <a:r>
              <a:rPr lang="en-US" sz="1800" dirty="0" err="1">
                <a:solidFill>
                  <a:schemeClr val="accent1"/>
                </a:solidFill>
              </a:rPr>
              <a:t>func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 smtClean="0"/>
              <a:t>field</a:t>
            </a:r>
            <a:endParaRPr lang="en-US" sz="1800" dirty="0"/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/>
              <a:t>It </a:t>
            </a:r>
            <a:r>
              <a:rPr lang="en-US" sz="2000" dirty="0"/>
              <a:t>also needs the </a:t>
            </a:r>
            <a:r>
              <a:rPr lang="en-US" sz="2000" dirty="0" smtClean="0"/>
              <a:t>Conditional Code (“Zero”) </a:t>
            </a:r>
            <a:r>
              <a:rPr lang="en-US" sz="2000" dirty="0"/>
              <a:t>output of the </a:t>
            </a:r>
            <a:r>
              <a:rPr lang="en-US" sz="2000" dirty="0" smtClean="0"/>
              <a:t>ALU</a:t>
            </a:r>
            <a:endParaRPr lang="en-US" sz="2000" dirty="0"/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/>
              <a:t>The </a:t>
            </a:r>
            <a:r>
              <a:rPr lang="en-US" sz="2000" dirty="0"/>
              <a:t>control unit generates 7</a:t>
            </a:r>
            <a:r>
              <a:rPr lang="en-US" sz="2000" dirty="0" smtClean="0"/>
              <a:t> </a:t>
            </a:r>
            <a:r>
              <a:rPr lang="en-US" sz="2000" dirty="0"/>
              <a:t>of output, corresponding </a:t>
            </a:r>
            <a:r>
              <a:rPr lang="en-US" sz="2000" dirty="0" smtClean="0"/>
              <a:t>to the </a:t>
            </a:r>
            <a:r>
              <a:rPr lang="en-US" sz="2000" dirty="0"/>
              <a:t>signals </a:t>
            </a:r>
            <a:r>
              <a:rPr lang="en-US" sz="2000" dirty="0" smtClean="0"/>
              <a:t>mentioned </a:t>
            </a:r>
            <a:r>
              <a:rPr lang="en-US" sz="2000" dirty="0"/>
              <a:t>on the </a:t>
            </a:r>
            <a:r>
              <a:rPr lang="en-US" sz="2000" dirty="0" smtClean="0"/>
              <a:t>data path</a:t>
            </a:r>
            <a:endParaRPr lang="en-US" sz="2000" dirty="0"/>
          </a:p>
          <a:p>
            <a:endParaRPr lang="en-US" dirty="0"/>
          </a:p>
        </p:txBody>
      </p:sp>
      <p:grpSp>
        <p:nvGrpSpPr>
          <p:cNvPr id="73" name="Group 72"/>
          <p:cNvGrpSpPr/>
          <p:nvPr/>
        </p:nvGrpSpPr>
        <p:grpSpPr>
          <a:xfrm>
            <a:off x="2254256" y="4161648"/>
            <a:ext cx="4764078" cy="2008766"/>
            <a:chOff x="826676" y="4077074"/>
            <a:chExt cx="4764078" cy="2008766"/>
          </a:xfrm>
        </p:grpSpPr>
        <p:grpSp>
          <p:nvGrpSpPr>
            <p:cNvPr id="6" name="Group 5"/>
            <p:cNvGrpSpPr/>
            <p:nvPr/>
          </p:nvGrpSpPr>
          <p:grpSpPr>
            <a:xfrm>
              <a:off x="826676" y="4161648"/>
              <a:ext cx="1622694" cy="1386326"/>
              <a:chOff x="1738845" y="3229513"/>
              <a:chExt cx="1622694" cy="1386326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1738845" y="3229513"/>
                <a:ext cx="1447262" cy="1386326"/>
                <a:chOff x="3124738" y="3598050"/>
                <a:chExt cx="1447262" cy="1386326"/>
              </a:xfrm>
            </p:grpSpPr>
            <p:sp>
              <p:nvSpPr>
                <p:cNvPr id="9" name="Rectangle 8"/>
                <p:cNvSpPr/>
                <p:nvPr/>
              </p:nvSpPr>
              <p:spPr bwMode="auto">
                <a:xfrm>
                  <a:off x="3126744" y="3598050"/>
                  <a:ext cx="1445256" cy="13863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3124738" y="3598050"/>
                  <a:ext cx="652743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+mj-lt"/>
                    </a:rPr>
                    <a:t>Read</a:t>
                  </a:r>
                </a:p>
                <a:p>
                  <a:r>
                    <a:rPr lang="en-US" sz="1100" dirty="0" smtClean="0">
                      <a:latin typeface="+mj-lt"/>
                    </a:rPr>
                    <a:t>address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3673849" y="3601253"/>
                  <a:ext cx="89815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100" dirty="0" smtClean="0">
                      <a:latin typeface="+mj-lt"/>
                    </a:rPr>
                    <a:t>Instruction [31-0]</a:t>
                  </a:r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3430026" y="4147773"/>
                  <a:ext cx="8386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Memory</a:t>
                  </a:r>
                </a:p>
              </p:txBody>
            </p:sp>
          </p:grpSp>
          <p:cxnSp>
            <p:nvCxnSpPr>
              <p:cNvPr id="8" name="Straight Arrow Connector 7"/>
              <p:cNvCxnSpPr>
                <a:stCxn id="11" idx="3"/>
              </p:cNvCxnSpPr>
              <p:nvPr/>
            </p:nvCxnSpPr>
            <p:spPr bwMode="auto">
              <a:xfrm>
                <a:off x="3186107" y="3448160"/>
                <a:ext cx="175432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</p:grpSp>
        <p:sp>
          <p:nvSpPr>
            <p:cNvPr id="13" name="Oval 12"/>
            <p:cNvSpPr/>
            <p:nvPr/>
          </p:nvSpPr>
          <p:spPr bwMode="auto">
            <a:xfrm>
              <a:off x="2415412" y="4350845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826676" y="4161648"/>
              <a:ext cx="1622694" cy="1386326"/>
              <a:chOff x="1738845" y="3229513"/>
              <a:chExt cx="1622694" cy="1386326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738845" y="3229513"/>
                <a:ext cx="1447262" cy="1386326"/>
                <a:chOff x="3124738" y="3598050"/>
                <a:chExt cx="1447262" cy="1386326"/>
              </a:xfrm>
            </p:grpSpPr>
            <p:sp>
              <p:nvSpPr>
                <p:cNvPr id="17" name="Rectangle 16"/>
                <p:cNvSpPr/>
                <p:nvPr/>
              </p:nvSpPr>
              <p:spPr bwMode="auto">
                <a:xfrm>
                  <a:off x="3126744" y="3598050"/>
                  <a:ext cx="1445256" cy="13863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3124738" y="3598050"/>
                  <a:ext cx="652743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+mj-lt"/>
                    </a:rPr>
                    <a:t>Read</a:t>
                  </a:r>
                </a:p>
                <a:p>
                  <a:r>
                    <a:rPr lang="en-US" sz="1100" dirty="0" smtClean="0">
                      <a:latin typeface="+mj-lt"/>
                    </a:rPr>
                    <a:t>address</a:t>
                  </a: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3673849" y="3601253"/>
                  <a:ext cx="89815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100" dirty="0" smtClean="0">
                      <a:latin typeface="+mj-lt"/>
                    </a:rPr>
                    <a:t>Instruction [31-0]</a:t>
                  </a: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3430026" y="4147773"/>
                  <a:ext cx="8386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+mj-lt"/>
                    </a:rPr>
                    <a:t>Memory</a:t>
                  </a:r>
                </a:p>
              </p:txBody>
            </p:sp>
          </p:grpSp>
          <p:cxnSp>
            <p:nvCxnSpPr>
              <p:cNvPr id="16" name="Straight Arrow Connector 15"/>
              <p:cNvCxnSpPr>
                <a:stCxn id="19" idx="3"/>
              </p:cNvCxnSpPr>
              <p:nvPr/>
            </p:nvCxnSpPr>
            <p:spPr bwMode="auto">
              <a:xfrm>
                <a:off x="3186107" y="3448160"/>
                <a:ext cx="175432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</p:grpSp>
        <p:sp>
          <p:nvSpPr>
            <p:cNvPr id="21" name="Oval 20"/>
            <p:cNvSpPr/>
            <p:nvPr/>
          </p:nvSpPr>
          <p:spPr bwMode="auto">
            <a:xfrm>
              <a:off x="2415412" y="4350845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32826" y="4077074"/>
              <a:ext cx="739305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RegWrite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32826" y="4950653"/>
              <a:ext cx="5806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ALUop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32826" y="4368267"/>
              <a:ext cx="5886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ALUSrc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32826" y="5533039"/>
              <a:ext cx="811441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MemWrite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32826" y="5241846"/>
              <a:ext cx="50526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PCSrc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732826" y="4659460"/>
              <a:ext cx="5854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RegDst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32826" y="5824230"/>
              <a:ext cx="857928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+mj-lt"/>
                </a:rPr>
                <a:t>MemToReg</a:t>
              </a:r>
              <a:endParaRPr lang="en-US" sz="1100" dirty="0" smtClean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flipH="1">
              <a:off x="4259580" y="4207879"/>
              <a:ext cx="473246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Straight Connector 37"/>
            <p:cNvCxnSpPr>
              <a:stCxn id="25" idx="1"/>
            </p:cNvCxnSpPr>
            <p:nvPr/>
          </p:nvCxnSpPr>
          <p:spPr bwMode="auto">
            <a:xfrm flipH="1" flipV="1">
              <a:off x="4259580" y="4498922"/>
              <a:ext cx="473246" cy="15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>
              <a:stCxn id="28" idx="1"/>
            </p:cNvCxnSpPr>
            <p:nvPr/>
          </p:nvCxnSpPr>
          <p:spPr bwMode="auto">
            <a:xfrm flipH="1">
              <a:off x="4259580" y="4790265"/>
              <a:ext cx="473246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/>
            <p:cNvCxnSpPr>
              <a:stCxn id="24" idx="1"/>
            </p:cNvCxnSpPr>
            <p:nvPr/>
          </p:nvCxnSpPr>
          <p:spPr bwMode="auto">
            <a:xfrm flipH="1">
              <a:off x="4259580" y="5081458"/>
              <a:ext cx="473246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>
              <a:stCxn id="27" idx="1"/>
            </p:cNvCxnSpPr>
            <p:nvPr/>
          </p:nvCxnSpPr>
          <p:spPr bwMode="auto">
            <a:xfrm flipH="1">
              <a:off x="4259580" y="5372651"/>
              <a:ext cx="473246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>
              <a:stCxn id="26" idx="1"/>
            </p:cNvCxnSpPr>
            <p:nvPr/>
          </p:nvCxnSpPr>
          <p:spPr bwMode="auto">
            <a:xfrm flipH="1">
              <a:off x="4259580" y="5663844"/>
              <a:ext cx="473246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/>
            <p:cNvCxnSpPr>
              <a:stCxn id="29" idx="1"/>
            </p:cNvCxnSpPr>
            <p:nvPr/>
          </p:nvCxnSpPr>
          <p:spPr bwMode="auto">
            <a:xfrm flipH="1">
              <a:off x="4259580" y="5955035"/>
              <a:ext cx="473246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" name="Oval 21"/>
            <p:cNvSpPr/>
            <p:nvPr/>
          </p:nvSpPr>
          <p:spPr bwMode="auto">
            <a:xfrm>
              <a:off x="3493541" y="4095938"/>
              <a:ext cx="1046480" cy="197104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>
                  <a:latin typeface="+mj-lt"/>
                  <a:cs typeface="Arial" pitchFamily="34" charset="0"/>
                </a:rPr>
                <a:t>Control</a:t>
              </a:r>
            </a:p>
          </p:txBody>
        </p:sp>
        <p:cxnSp>
          <p:nvCxnSpPr>
            <p:cNvPr id="57" name="Elbow Connector 56"/>
            <p:cNvCxnSpPr>
              <a:stCxn id="13" idx="4"/>
              <a:endCxn id="22" idx="2"/>
            </p:cNvCxnSpPr>
            <p:nvPr/>
          </p:nvCxnSpPr>
          <p:spPr bwMode="auto">
            <a:xfrm rot="16200000" flipH="1">
              <a:off x="2643524" y="4231440"/>
              <a:ext cx="658141" cy="1041893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9" name="Straight Arrow Connector 58"/>
            <p:cNvCxnSpPr>
              <a:stCxn id="21" idx="6"/>
              <a:endCxn id="22" idx="1"/>
            </p:cNvCxnSpPr>
            <p:nvPr/>
          </p:nvCxnSpPr>
          <p:spPr bwMode="auto">
            <a:xfrm flipV="1">
              <a:off x="2487884" y="4384590"/>
              <a:ext cx="1158910" cy="2491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62" name="TextBox 61"/>
            <p:cNvSpPr txBox="1"/>
            <p:nvPr/>
          </p:nvSpPr>
          <p:spPr>
            <a:xfrm>
              <a:off x="2472098" y="4111210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[31-26]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451648" y="4800836"/>
              <a:ext cx="5549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I [5-0]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472098" y="5642712"/>
              <a:ext cx="8250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 smtClean="0">
                  <a:latin typeface="+mj-lt"/>
                </a:rPr>
                <a:t>CondCode</a:t>
              </a:r>
              <a:endParaRPr lang="en-US" sz="1200" dirty="0" smtClean="0">
                <a:latin typeface="+mj-lt"/>
              </a:endParaRPr>
            </a:p>
          </p:txBody>
        </p:sp>
        <p:cxnSp>
          <p:nvCxnSpPr>
            <p:cNvPr id="72" name="Straight Arrow Connector 71"/>
            <p:cNvCxnSpPr>
              <a:stCxn id="64" idx="3"/>
              <a:endCxn id="22" idx="3"/>
            </p:cNvCxnSpPr>
            <p:nvPr/>
          </p:nvCxnSpPr>
          <p:spPr bwMode="auto">
            <a:xfrm flipV="1">
              <a:off x="3297132" y="5778326"/>
              <a:ext cx="349662" cy="2886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010010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signal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470" y="4424508"/>
            <a:ext cx="809815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1600" dirty="0" err="1">
                <a:latin typeface="+mj-lt"/>
              </a:rPr>
              <a:t>sw</a:t>
            </a:r>
            <a:r>
              <a:rPr lang="en-US" sz="1600" dirty="0">
                <a:latin typeface="+mj-lt"/>
              </a:rPr>
              <a:t> and </a:t>
            </a:r>
            <a:r>
              <a:rPr lang="en-US" sz="1600" dirty="0" err="1">
                <a:latin typeface="+mj-lt"/>
              </a:rPr>
              <a:t>beq</a:t>
            </a:r>
            <a:r>
              <a:rPr lang="en-US" sz="1600" dirty="0">
                <a:latin typeface="+mj-lt"/>
              </a:rPr>
              <a:t> are the only instructions that do not write any </a:t>
            </a:r>
            <a:r>
              <a:rPr lang="en-US" sz="1600" dirty="0" smtClean="0">
                <a:latin typeface="+mj-lt"/>
              </a:rPr>
              <a:t>registers</a:t>
            </a:r>
            <a:endParaRPr lang="en-US" sz="1600" dirty="0">
              <a:latin typeface="+mj-lt"/>
            </a:endParaRP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1600" dirty="0" err="1" smtClean="0">
                <a:latin typeface="+mj-lt"/>
              </a:rPr>
              <a:t>lw</a:t>
            </a:r>
            <a:r>
              <a:rPr lang="en-US" sz="1600" dirty="0" smtClean="0">
                <a:latin typeface="+mj-lt"/>
              </a:rPr>
              <a:t> </a:t>
            </a:r>
            <a:r>
              <a:rPr lang="en-US" sz="1600" dirty="0">
                <a:latin typeface="+mj-lt"/>
              </a:rPr>
              <a:t>and </a:t>
            </a:r>
            <a:r>
              <a:rPr lang="en-US" sz="1600" dirty="0" err="1">
                <a:latin typeface="+mj-lt"/>
              </a:rPr>
              <a:t>sw</a:t>
            </a:r>
            <a:r>
              <a:rPr lang="en-US" sz="1600" dirty="0">
                <a:latin typeface="+mj-lt"/>
              </a:rPr>
              <a:t> are the only instructions that use the constant field. They </a:t>
            </a:r>
            <a:r>
              <a:rPr lang="en-US" sz="1600" dirty="0" smtClean="0">
                <a:latin typeface="+mj-lt"/>
              </a:rPr>
              <a:t>also depend </a:t>
            </a:r>
            <a:r>
              <a:rPr lang="en-US" sz="1600" dirty="0">
                <a:latin typeface="+mj-lt"/>
              </a:rPr>
              <a:t>on the ALU to compute the effective memory </a:t>
            </a:r>
            <a:r>
              <a:rPr lang="en-US" sz="1600" dirty="0" smtClean="0">
                <a:latin typeface="+mj-lt"/>
              </a:rPr>
              <a:t>address</a:t>
            </a:r>
            <a:endParaRPr lang="en-US" sz="1600" dirty="0">
              <a:latin typeface="+mj-lt"/>
            </a:endParaRP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1600" dirty="0" err="1" smtClean="0">
                <a:latin typeface="+mj-lt"/>
              </a:rPr>
              <a:t>ALUOp</a:t>
            </a:r>
            <a:r>
              <a:rPr lang="en-US" sz="1600" dirty="0" smtClean="0">
                <a:latin typeface="+mj-lt"/>
              </a:rPr>
              <a:t> </a:t>
            </a:r>
            <a:r>
              <a:rPr lang="en-US" sz="1600" dirty="0">
                <a:latin typeface="+mj-lt"/>
              </a:rPr>
              <a:t>d</a:t>
            </a:r>
            <a:r>
              <a:rPr lang="en-US" sz="1600" dirty="0" smtClean="0">
                <a:latin typeface="+mj-lt"/>
              </a:rPr>
              <a:t>epends </a:t>
            </a:r>
            <a:r>
              <a:rPr lang="en-US" sz="1600" dirty="0">
                <a:latin typeface="+mj-lt"/>
              </a:rPr>
              <a:t>on the instructions’ </a:t>
            </a:r>
            <a:r>
              <a:rPr lang="en-US" sz="1600" dirty="0" err="1">
                <a:latin typeface="+mj-lt"/>
              </a:rPr>
              <a:t>func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smtClean="0">
                <a:latin typeface="+mj-lt"/>
              </a:rPr>
              <a:t>field</a:t>
            </a:r>
            <a:endParaRPr lang="en-US" sz="1600" dirty="0">
              <a:latin typeface="+mj-lt"/>
            </a:endParaRP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1600" dirty="0" smtClean="0">
                <a:latin typeface="+mj-lt"/>
              </a:rPr>
              <a:t>The </a:t>
            </a:r>
            <a:r>
              <a:rPr lang="en-US" sz="1600" dirty="0" err="1">
                <a:latin typeface="+mj-lt"/>
              </a:rPr>
              <a:t>PCSrc</a:t>
            </a:r>
            <a:r>
              <a:rPr lang="en-US" sz="1600" dirty="0">
                <a:latin typeface="+mj-lt"/>
              </a:rPr>
              <a:t> control signal </a:t>
            </a:r>
            <a:r>
              <a:rPr lang="en-US" sz="1600" dirty="0" smtClean="0">
                <a:latin typeface="+mj-lt"/>
              </a:rPr>
              <a:t>shows if instruction is branch and it is taken</a:t>
            </a:r>
            <a:endParaRPr lang="en-US" sz="1600" dirty="0">
              <a:latin typeface="+mj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454025" y="830011"/>
          <a:ext cx="8307517" cy="33920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1768"/>
                <a:gridCol w="894525"/>
                <a:gridCol w="1111885"/>
                <a:gridCol w="894779"/>
                <a:gridCol w="890080"/>
                <a:gridCol w="1264476"/>
                <a:gridCol w="1298004"/>
                <a:gridCol w="76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Operation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RegDst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RegWrite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ALUSrc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ALUOp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MemWrite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MemToReg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PCSrc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010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5379">
                <a:tc>
                  <a:txBody>
                    <a:bodyPr/>
                    <a:lstStyle/>
                    <a:p>
                      <a:r>
                        <a:rPr lang="en-US" dirty="0" smtClean="0"/>
                        <a:t>sub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110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addi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010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subi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110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001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lw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010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sw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X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010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X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beq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X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110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X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Lucida Console" panose="020B0609040504020204" pitchFamily="49" charset="0"/>
                        </a:rPr>
                        <a:t>0/1</a:t>
                      </a:r>
                      <a:endParaRPr lang="ru-RU" sz="1600" dirty="0">
                        <a:latin typeface="Lucida Console" panose="020B0609040504020204" pitchFamily="49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532128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 </a:t>
            </a:r>
            <a:r>
              <a:rPr lang="en-US" dirty="0" err="1">
                <a:solidFill>
                  <a:schemeClr val="accent1"/>
                </a:solidFill>
              </a:rPr>
              <a:t>datapath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contains all the functional units and connections necessary to </a:t>
            </a:r>
            <a:r>
              <a:rPr lang="en-US" dirty="0" smtClean="0"/>
              <a:t>implement </a:t>
            </a:r>
            <a:r>
              <a:rPr lang="en-US" dirty="0"/>
              <a:t>an instruction set architecture.</a:t>
            </a:r>
          </a:p>
          <a:p>
            <a:pPr marL="631825" lvl="1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For </a:t>
            </a:r>
            <a:r>
              <a:rPr lang="en-US" sz="1800" dirty="0"/>
              <a:t>our </a:t>
            </a:r>
            <a:r>
              <a:rPr lang="en-US" sz="1800" dirty="0">
                <a:solidFill>
                  <a:schemeClr val="accent1"/>
                </a:solidFill>
              </a:rPr>
              <a:t>single-cycle implementation</a:t>
            </a:r>
            <a:r>
              <a:rPr lang="en-US" sz="1800" dirty="0"/>
              <a:t>, we </a:t>
            </a:r>
            <a:r>
              <a:rPr lang="en-US" sz="1800" dirty="0" smtClean="0"/>
              <a:t>use two-ported memory, register file, an </a:t>
            </a:r>
            <a:r>
              <a:rPr lang="en-US" sz="1800" dirty="0"/>
              <a:t>ALU, some extra adders, and lots of multiplexers.</a:t>
            </a:r>
          </a:p>
          <a:p>
            <a:pPr marL="631825" lvl="1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MIPS </a:t>
            </a:r>
            <a:r>
              <a:rPr lang="en-US" sz="1800" dirty="0"/>
              <a:t>is a 32-bit machine, so most of the buses are 32-bits </a:t>
            </a:r>
            <a:r>
              <a:rPr lang="en-US" sz="1800" dirty="0" smtClean="0"/>
              <a:t>wide</a:t>
            </a:r>
            <a:endParaRPr lang="en-US" sz="1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The </a:t>
            </a:r>
            <a:r>
              <a:rPr lang="en-US" dirty="0">
                <a:solidFill>
                  <a:schemeClr val="accent1"/>
                </a:solidFill>
              </a:rPr>
              <a:t>control unit </a:t>
            </a:r>
            <a:r>
              <a:rPr lang="en-US" dirty="0"/>
              <a:t>tells the </a:t>
            </a:r>
            <a:r>
              <a:rPr lang="en-US" dirty="0" err="1"/>
              <a:t>datapath</a:t>
            </a:r>
            <a:r>
              <a:rPr lang="en-US" dirty="0"/>
              <a:t> what to do, based on the instruction </a:t>
            </a:r>
            <a:r>
              <a:rPr lang="en-US" dirty="0" smtClean="0"/>
              <a:t>that’s </a:t>
            </a:r>
            <a:r>
              <a:rPr lang="en-US" dirty="0"/>
              <a:t>currently being </a:t>
            </a:r>
            <a:r>
              <a:rPr lang="en-US" dirty="0" smtClean="0"/>
              <a:t>executed</a:t>
            </a:r>
            <a:endParaRPr lang="en-US" dirty="0"/>
          </a:p>
          <a:p>
            <a:pPr marL="631825" lvl="1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The discussed </a:t>
            </a:r>
            <a:r>
              <a:rPr lang="en-US" sz="1800" dirty="0"/>
              <a:t>processor has </a:t>
            </a:r>
            <a:r>
              <a:rPr lang="en-US" sz="1800" dirty="0" smtClean="0"/>
              <a:t>seven </a:t>
            </a:r>
            <a:r>
              <a:rPr lang="en-US" sz="1800" dirty="0"/>
              <a:t>control signals that regulate the </a:t>
            </a:r>
            <a:r>
              <a:rPr lang="en-US" sz="1800" dirty="0" err="1" smtClean="0"/>
              <a:t>datapath</a:t>
            </a:r>
            <a:endParaRPr lang="en-US" sz="1800" dirty="0"/>
          </a:p>
          <a:p>
            <a:pPr marL="631825" lvl="1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The </a:t>
            </a:r>
            <a:r>
              <a:rPr lang="en-US" sz="1800" dirty="0"/>
              <a:t>control signals can be generated by a combinational circuit with </a:t>
            </a:r>
            <a:r>
              <a:rPr lang="en-US" sz="1800" dirty="0" smtClean="0"/>
              <a:t>the instruction’s </a:t>
            </a:r>
            <a:r>
              <a:rPr lang="en-US" sz="1800" dirty="0" err="1" smtClean="0"/>
              <a:t>opcode</a:t>
            </a:r>
            <a:r>
              <a:rPr lang="en-US" sz="1800" dirty="0" smtClean="0"/>
              <a:t> and </a:t>
            </a:r>
            <a:r>
              <a:rPr lang="en-US" sz="1800" dirty="0" err="1" smtClean="0"/>
              <a:t>func</a:t>
            </a:r>
            <a:r>
              <a:rPr lang="en-US" sz="1800" dirty="0" smtClean="0"/>
              <a:t> fields as the input</a:t>
            </a: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98634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1"/>
            <a:ext cx="8229600" cy="1362075"/>
          </a:xfrm>
        </p:spPr>
        <p:txBody>
          <a:bodyPr/>
          <a:lstStyle/>
          <a:p>
            <a:pPr algn="ctr"/>
            <a:r>
              <a:rPr lang="en-US" dirty="0" smtClean="0">
                <a:latin typeface="+mj-lt"/>
              </a:rPr>
              <a:t>Thank You</a:t>
            </a:r>
            <a:endParaRPr lang="en-US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30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977037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110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0.8|180.3|1.4|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7|141.2|24.6|29.3|6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|58.6|12.6|96.1|113.8|124.3|15.9|52.2|74.2|61.9|7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69.3|18.9|11|3.6|31|1.9|7|2.7|2.8|6.3|1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83.6|13.8|9.2|119|19.5|52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8.7|4.5|10.1|17.5|3.5|17.2|43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20.9|11|1|56|12.7|35|112.5|52.8|6|21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10.8|4.8|5.7|35.3|23.9|7.2|127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1|28.9|54.8|1.3|10|47.7|7.5|40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24.3|121|1|9|1.3|17.6|57.1|10.1|0.9|59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7|1.1|39.6|53.8|1.3|28.5|8.6|14.4|5|68.8|28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1|3.4|21.9|2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5.3|25.5|15.9|28.9|114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2|47.7|18.3|16.6|1.8|5.2|19|6.4|9.6|23|2.5|8.3|6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89.2|106.2|1.3|22.6|5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8.9|4.8|18.3|3.5|33.6|20.4|4.7|25.8|35.7|80.2|1.8|13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4|5.2|15.3|34.1|6.8|2.1|131.5|11.2|17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5|12.7|271.1|1.3|10.1|11.2|6.1|30.3|1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|4|21.4|10.9|12.6|2|1.1|47.6|1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6|44.2|43.8|42.4|26.2|41.1|20.1|19.1|138|14|12.4|17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1.9|101.1|17.6|69.4|89.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0.9|16.3|2.2|1.4|29.5|15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351.8|1.7|1.1|1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51.2|6.5|4.4|54.7|8.1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14A94C8E-3E2B-4AD9-8D67-7815198BE085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2376</TotalTime>
  <Words>3129</Words>
  <Application>Microsoft Office PowerPoint</Application>
  <PresentationFormat>On-screen Show (4:3)</PresentationFormat>
  <Paragraphs>942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MS PGothic</vt:lpstr>
      <vt:lpstr>MS PGothic</vt:lpstr>
      <vt:lpstr>Arial</vt:lpstr>
      <vt:lpstr>Calibri</vt:lpstr>
      <vt:lpstr>Consolas</vt:lpstr>
      <vt:lpstr>Courier New</vt:lpstr>
      <vt:lpstr>Lucida Console</vt:lpstr>
      <vt:lpstr>Neo Sans Intel</vt:lpstr>
      <vt:lpstr>Neo Sans Intel Light</vt:lpstr>
      <vt:lpstr>Neo Sans Intel Medium</vt:lpstr>
      <vt:lpstr>Times</vt:lpstr>
      <vt:lpstr>Verdana</vt:lpstr>
      <vt:lpstr>mdsp_2011</vt:lpstr>
      <vt:lpstr>Single-cycle implementation of MIPS CPU</vt:lpstr>
      <vt:lpstr>Acknowledgements</vt:lpstr>
      <vt:lpstr>Layers of Abstraction in Computes Science (CS)</vt:lpstr>
      <vt:lpstr>ISA</vt:lpstr>
      <vt:lpstr>Refresher: ISA</vt:lpstr>
      <vt:lpstr>Refresher: MIPS</vt:lpstr>
      <vt:lpstr>MIPS: Register-To-Register, Three Addresses</vt:lpstr>
      <vt:lpstr>MIPS Register File</vt:lpstr>
      <vt:lpstr>MIPS Register Names</vt:lpstr>
      <vt:lpstr>R-type instructions </vt:lpstr>
      <vt:lpstr>Immediate Operands</vt:lpstr>
      <vt:lpstr>I-type Format for ALU Instructions</vt:lpstr>
      <vt:lpstr>I-type Format for Loads/Stores</vt:lpstr>
      <vt:lpstr>I-type Format for Branches</vt:lpstr>
      <vt:lpstr>J-type format</vt:lpstr>
      <vt:lpstr>Single-Cycle implementation</vt:lpstr>
      <vt:lpstr>Single-Cycle Implementation of MIPS</vt:lpstr>
      <vt:lpstr>Instruction Execution Cycle</vt:lpstr>
      <vt:lpstr>Instruction Fetch</vt:lpstr>
      <vt:lpstr>Executing R-Type Arithmetic Instructions</vt:lpstr>
      <vt:lpstr>Executing I-type Arithmetic Instructions</vt:lpstr>
      <vt:lpstr>Executing I-type Store Instructions</vt:lpstr>
      <vt:lpstr>Executing I-type Load Instructions</vt:lpstr>
      <vt:lpstr>Executing I-type Branch Instructions (1)</vt:lpstr>
      <vt:lpstr>Executing I-type Branch Instructions (2)</vt:lpstr>
      <vt:lpstr>The Final Single-Cycle Data Path</vt:lpstr>
      <vt:lpstr>Control Unit</vt:lpstr>
      <vt:lpstr>Control signal table</vt:lpstr>
      <vt:lpstr>Summary</vt:lpstr>
      <vt:lpstr>Thank You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CTPClassification=CTP_NWR:VisualMarkings=, CTPClassification=:VisualMarkings=, CTPClassification=CTP_PUBLIC:VisualMarkings=</cp:keywords>
  <cp:lastModifiedBy>Kryukov, Pavel I</cp:lastModifiedBy>
  <cp:revision>204</cp:revision>
  <dcterms:created xsi:type="dcterms:W3CDTF">2011-10-24T08:13:52Z</dcterms:created>
  <dcterms:modified xsi:type="dcterms:W3CDTF">2017-11-09T16:59:09Z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2017-11-09 16:59:09Z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CTP_PUBLIC</vt:lpwstr>
  </property>
</Properties>
</file>